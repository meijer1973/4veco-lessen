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4.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5.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6.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7.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slides/charts/chart8.xml" ContentType="application/vnd.openxmlformats-officedocument.drawingml.chart+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slides/charts/chart9.xml" ContentType="application/vnd.openxmlformats-officedocument.drawingml.chart+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8c47be8b62c4685" /><Relationship Type="http://schemas.openxmlformats.org/officeDocument/2006/relationships/extended-properties" Target="/docProps/app.xml" Id="R6528f7149ab24b03" /><Relationship Type="http://schemas.openxmlformats.org/officeDocument/2006/relationships/officeDocument" Target="/ppt/presentation.xml" Id="R3af5ceb881474cca" /></Relationships>
</file>

<file path=ppt/presentation.xml><?xml version="1.0" encoding="utf-8"?>
<p:presentation xmlns:p="http://schemas.openxmlformats.org/presentationml/2006/main">
  <p:sldMasterIdLst>
    <p:sldMasterId xmlns:r="http://schemas.openxmlformats.org/officeDocument/2006/relationships" id="2147483648" r:id="R47490c37d01f4ee6"/>
  </p:sldMasterIdLst>
  <p:notesMasterIdLst>
    <p:notesMasterId xmlns:r="http://schemas.openxmlformats.org/officeDocument/2006/relationships" r:id="Rd3346ec58cac487e"/>
  </p:notesMasterIdLst>
  <p:sldIdLst>
    <p:sldId xmlns:r="http://schemas.openxmlformats.org/officeDocument/2006/relationships" id="256" r:id="Rccecc524263347af"/>
    <p:sldId xmlns:r="http://schemas.openxmlformats.org/officeDocument/2006/relationships" id="257" r:id="Reaff8a9fbe254d55"/>
    <p:sldId xmlns:r="http://schemas.openxmlformats.org/officeDocument/2006/relationships" id="258" r:id="R103dc5c3c43d4222"/>
    <p:sldId xmlns:r="http://schemas.openxmlformats.org/officeDocument/2006/relationships" id="259" r:id="R7f56c185d8d648f0"/>
    <p:sldId xmlns:r="http://schemas.openxmlformats.org/officeDocument/2006/relationships" id="260" r:id="R6b1bf701486b4c76"/>
    <p:sldId xmlns:r="http://schemas.openxmlformats.org/officeDocument/2006/relationships" id="261" r:id="R652167933f944e73"/>
    <p:sldId xmlns:r="http://schemas.openxmlformats.org/officeDocument/2006/relationships" id="262" r:id="R77fe5e123cd24a23"/>
    <p:sldId xmlns:r="http://schemas.openxmlformats.org/officeDocument/2006/relationships" id="263" r:id="Rf99fe231d01d48db"/>
    <p:sldId xmlns:r="http://schemas.openxmlformats.org/officeDocument/2006/relationships" id="264" r:id="R8583703a0bf84533"/>
    <p:sldId xmlns:r="http://schemas.openxmlformats.org/officeDocument/2006/relationships" id="265" r:id="Ra06711d097f54c87"/>
    <p:sldId xmlns:r="http://schemas.openxmlformats.org/officeDocument/2006/relationships" id="266" r:id="Rb428a39c83ec4d7c"/>
    <p:sldId xmlns:r="http://schemas.openxmlformats.org/officeDocument/2006/relationships" id="267" r:id="R3dfe267d7fa942fd"/>
    <p:sldId xmlns:r="http://schemas.openxmlformats.org/officeDocument/2006/relationships" id="268" r:id="R0852e0919c124c4c"/>
    <p:sldId xmlns:r="http://schemas.openxmlformats.org/officeDocument/2006/relationships" id="269" r:id="Rf5893df9b4f64cf6"/>
    <p:sldId xmlns:r="http://schemas.openxmlformats.org/officeDocument/2006/relationships" id="270" r:id="R9d7fda58f9fe453c"/>
    <p:sldId xmlns:r="http://schemas.openxmlformats.org/officeDocument/2006/relationships" id="271" r:id="R8d48041ac9dc42ba"/>
    <p:sldId xmlns:r="http://schemas.openxmlformats.org/officeDocument/2006/relationships" id="272" r:id="Ra8ce3cae0c104aee"/>
    <p:sldId xmlns:r="http://schemas.openxmlformats.org/officeDocument/2006/relationships" id="273" r:id="R1549962ff87a48ef"/>
    <p:sldId xmlns:r="http://schemas.openxmlformats.org/officeDocument/2006/relationships" id="274" r:id="R00e987369df74303"/>
    <p:sldId xmlns:r="http://schemas.openxmlformats.org/officeDocument/2006/relationships" id="275" r:id="R400ef86f8428463f"/>
    <p:sldId xmlns:r="http://schemas.openxmlformats.org/officeDocument/2006/relationships" id="276" r:id="R659ed93fccfb4cd2"/>
    <p:sldId xmlns:r="http://schemas.openxmlformats.org/officeDocument/2006/relationships" id="277" r:id="Rd40d3435cb684257"/>
    <p:sldId xmlns:r="http://schemas.openxmlformats.org/officeDocument/2006/relationships" id="278" r:id="R546790822c7a41c0"/>
    <p:sldId xmlns:r="http://schemas.openxmlformats.org/officeDocument/2006/relationships" id="279" r:id="R19c7ed45048a43ff"/>
    <p:sldId xmlns:r="http://schemas.openxmlformats.org/officeDocument/2006/relationships" id="280" r:id="Re7249db991a34d53"/>
    <p:sldId xmlns:r="http://schemas.openxmlformats.org/officeDocument/2006/relationships" id="281" r:id="R0355bda8c6ad42a9"/>
    <p:sldId xmlns:r="http://schemas.openxmlformats.org/officeDocument/2006/relationships" id="282" r:id="R100c4e6216904b0e"/>
    <p:sldId xmlns:r="http://schemas.openxmlformats.org/officeDocument/2006/relationships" id="283" r:id="Ra100245bf78d4adf"/>
    <p:sldId xmlns:r="http://schemas.openxmlformats.org/officeDocument/2006/relationships" id="284" r:id="R6edd295853534266"/>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94dc8369d824af3" /><Relationship Type="http://schemas.openxmlformats.org/officeDocument/2006/relationships/slideMaster" Target="/ppt/slideMasters/slideMaster1.xml" Id="R47490c37d01f4ee6" /><Relationship Type="http://schemas.openxmlformats.org/officeDocument/2006/relationships/notesMaster" Target="/ppt/notesMasters/notesMaster1.xml" Id="Rd3346ec58cac487e" /><Relationship Type="http://schemas.openxmlformats.org/officeDocument/2006/relationships/presProps" Target="/ppt/presProps.xml" Id="Re56ae2861efe42c8" /><Relationship Type="http://schemas.openxmlformats.org/officeDocument/2006/relationships/tableStyles" Target="/ppt/tableStyles.xml" Id="Rf0029d2c9f124b57" /><Relationship Type="http://schemas.openxmlformats.org/officeDocument/2006/relationships/slide" Target="/ppt/slides/slide1.xml" Id="Rccecc524263347af" /><Relationship Type="http://schemas.openxmlformats.org/officeDocument/2006/relationships/slide" Target="/ppt/slides/slide2.xml" Id="Reaff8a9fbe254d55" /><Relationship Type="http://schemas.openxmlformats.org/officeDocument/2006/relationships/slide" Target="/ppt/slides/slide3.xml" Id="R103dc5c3c43d4222" /><Relationship Type="http://schemas.openxmlformats.org/officeDocument/2006/relationships/slide" Target="/ppt/slides/slide4.xml" Id="R7f56c185d8d648f0" /><Relationship Type="http://schemas.openxmlformats.org/officeDocument/2006/relationships/slide" Target="/ppt/slides/slide5.xml" Id="R6b1bf701486b4c76" /><Relationship Type="http://schemas.openxmlformats.org/officeDocument/2006/relationships/slide" Target="/ppt/slides/slide6.xml" Id="R652167933f944e73" /><Relationship Type="http://schemas.openxmlformats.org/officeDocument/2006/relationships/slide" Target="/ppt/slides/slide7.xml" Id="R77fe5e123cd24a23" /><Relationship Type="http://schemas.openxmlformats.org/officeDocument/2006/relationships/slide" Target="/ppt/slides/slide8.xml" Id="Rf99fe231d01d48db" /><Relationship Type="http://schemas.openxmlformats.org/officeDocument/2006/relationships/slide" Target="/ppt/slides/slide9.xml" Id="R8583703a0bf84533" /><Relationship Type="http://schemas.openxmlformats.org/officeDocument/2006/relationships/slide" Target="/ppt/slides/slide10.xml" Id="Ra06711d097f54c87" /><Relationship Type="http://schemas.openxmlformats.org/officeDocument/2006/relationships/slide" Target="/ppt/slides/slide11.xml" Id="Rb428a39c83ec4d7c" /><Relationship Type="http://schemas.openxmlformats.org/officeDocument/2006/relationships/slide" Target="/ppt/slides/slide12.xml" Id="R3dfe267d7fa942fd" /><Relationship Type="http://schemas.openxmlformats.org/officeDocument/2006/relationships/slide" Target="/ppt/slides/slide13.xml" Id="R0852e0919c124c4c" /><Relationship Type="http://schemas.openxmlformats.org/officeDocument/2006/relationships/slide" Target="/ppt/slides/slide14.xml" Id="Rf5893df9b4f64cf6" /><Relationship Type="http://schemas.openxmlformats.org/officeDocument/2006/relationships/slide" Target="/ppt/slides/slide15.xml" Id="R9d7fda58f9fe453c" /><Relationship Type="http://schemas.openxmlformats.org/officeDocument/2006/relationships/slide" Target="/ppt/slides/slide16.xml" Id="R8d48041ac9dc42ba" /><Relationship Type="http://schemas.openxmlformats.org/officeDocument/2006/relationships/slide" Target="/ppt/slides/slide17.xml" Id="Ra8ce3cae0c104aee" /><Relationship Type="http://schemas.openxmlformats.org/officeDocument/2006/relationships/slide" Target="/ppt/slides/slide18.xml" Id="R1549962ff87a48ef" /><Relationship Type="http://schemas.openxmlformats.org/officeDocument/2006/relationships/slide" Target="/ppt/slides/slide19.xml" Id="R00e987369df74303" /><Relationship Type="http://schemas.openxmlformats.org/officeDocument/2006/relationships/slide" Target="/ppt/slides/slide20.xml" Id="R400ef86f8428463f" /><Relationship Type="http://schemas.openxmlformats.org/officeDocument/2006/relationships/slide" Target="/ppt/slides/slide21.xml" Id="R659ed93fccfb4cd2" /><Relationship Type="http://schemas.openxmlformats.org/officeDocument/2006/relationships/slide" Target="/ppt/slides/slide22.xml" Id="Rd40d3435cb684257" /><Relationship Type="http://schemas.openxmlformats.org/officeDocument/2006/relationships/slide" Target="/ppt/slides/slide23.xml" Id="R546790822c7a41c0" /><Relationship Type="http://schemas.openxmlformats.org/officeDocument/2006/relationships/slide" Target="/ppt/slides/slide24.xml" Id="R19c7ed45048a43ff" /><Relationship Type="http://schemas.openxmlformats.org/officeDocument/2006/relationships/slide" Target="/ppt/slides/slide25.xml" Id="Re7249db991a34d53" /><Relationship Type="http://schemas.openxmlformats.org/officeDocument/2006/relationships/slide" Target="/ppt/slides/slide26.xml" Id="R0355bda8c6ad42a9" /><Relationship Type="http://schemas.openxmlformats.org/officeDocument/2006/relationships/slide" Target="/ppt/slides/slide27.xml" Id="R100c4e6216904b0e" /><Relationship Type="http://schemas.openxmlformats.org/officeDocument/2006/relationships/slide" Target="/ppt/slides/slide28.xml" Id="Ra100245bf78d4adf" /><Relationship Type="http://schemas.openxmlformats.org/officeDocument/2006/relationships/slide" Target="/ppt/slides/slide29.xml" Id="R6edd29585353426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019dc743e4c4bf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4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734e984c5604b88" /><Relationship Type="http://schemas.openxmlformats.org/officeDocument/2006/relationships/notesMaster" Target="/ppt/notesMasters/notesMaster1.xml" Id="R6d0b7564996245c4" /></Relationships>
</file>

<file path=ppt/notesSlides/_rels/notesSlide2.xml.rels>&#65279;<?xml version="1.0" encoding="utf-8"?><Relationships xmlns="http://schemas.openxmlformats.org/package/2006/relationships"><Relationship Type="http://schemas.openxmlformats.org/officeDocument/2006/relationships/slide" Target="/ppt/slides/slide2.xml" Id="Rff144a2b889e449b" /><Relationship Type="http://schemas.openxmlformats.org/officeDocument/2006/relationships/notesMaster" Target="/ppt/notesMasters/notesMaster1.xml" Id="R1f5a4077a32f46b1" /></Relationships>
</file>

<file path=ppt/notesSlides/_rels/notesSlide3.xml.rels>&#65279;<?xml version="1.0" encoding="utf-8"?><Relationships xmlns="http://schemas.openxmlformats.org/package/2006/relationships"><Relationship Type="http://schemas.openxmlformats.org/officeDocument/2006/relationships/slide" Target="/ppt/slides/slide3.xml" Id="R76c7ba4a664641ff" /><Relationship Type="http://schemas.openxmlformats.org/officeDocument/2006/relationships/notesMaster" Target="/ppt/notesMasters/notesMaster1.xml" Id="R0546ce70f04d4844" /></Relationships>
</file>

<file path=ppt/notesSlides/_rels/notesSlide4.xml.rels>&#65279;<?xml version="1.0" encoding="utf-8"?><Relationships xmlns="http://schemas.openxmlformats.org/package/2006/relationships"><Relationship Type="http://schemas.openxmlformats.org/officeDocument/2006/relationships/slide" Target="/ppt/slides/slide4.xml" Id="Rb622490def2f471c" /><Relationship Type="http://schemas.openxmlformats.org/officeDocument/2006/relationships/notesMaster" Target="/ppt/notesMasters/notesMaster1.xml" Id="Rf70ac04ed92c4efa" /></Relationships>
</file>

<file path=ppt/notesSlides/_rels/notesSlide5.xml.rels>&#65279;<?xml version="1.0" encoding="utf-8"?><Relationships xmlns="http://schemas.openxmlformats.org/package/2006/relationships"><Relationship Type="http://schemas.openxmlformats.org/officeDocument/2006/relationships/slide" Target="/ppt/slides/slide5.xml" Id="R343065693c91487e" /><Relationship Type="http://schemas.openxmlformats.org/officeDocument/2006/relationships/notesMaster" Target="/ppt/notesMasters/notesMaster1.xml" Id="Rad5d9d4e0d384220" /></Relationships>
</file>

<file path=ppt/notesSlides/_rels/notesSlide6.xml.rels>&#65279;<?xml version="1.0" encoding="utf-8"?><Relationships xmlns="http://schemas.openxmlformats.org/package/2006/relationships"><Relationship Type="http://schemas.openxmlformats.org/officeDocument/2006/relationships/slide" Target="/ppt/slides/slide6.xml" Id="R440114a34bb043bb" /><Relationship Type="http://schemas.openxmlformats.org/officeDocument/2006/relationships/notesMaster" Target="/ppt/notesMasters/notesMaster1.xml" Id="Rf838067b9bc44f8a" /></Relationships>
</file>

<file path=ppt/notesSlides/_rels/notesSlide7.xml.rels>&#65279;<?xml version="1.0" encoding="utf-8"?><Relationships xmlns="http://schemas.openxmlformats.org/package/2006/relationships"><Relationship Type="http://schemas.openxmlformats.org/officeDocument/2006/relationships/slide" Target="/ppt/slides/slide7.xml" Id="R569c9264bd194b71" /><Relationship Type="http://schemas.openxmlformats.org/officeDocument/2006/relationships/notesMaster" Target="/ppt/notesMasters/notesMaster1.xml" Id="Rb52df81649c842d6" /></Relationships>
</file>

<file path=ppt/notesSlides/_rels/notesSlide8.xml.rels>&#65279;<?xml version="1.0" encoding="utf-8"?><Relationships xmlns="http://schemas.openxmlformats.org/package/2006/relationships"><Relationship Type="http://schemas.openxmlformats.org/officeDocument/2006/relationships/slide" Target="/ppt/slides/slide8.xml" Id="R8251309512414f37" /><Relationship Type="http://schemas.openxmlformats.org/officeDocument/2006/relationships/notesMaster" Target="/ppt/notesMasters/notesMaster1.xml" Id="Rcae30ca3035f482f" /></Relationships>
</file>

<file path=ppt/notesSlides/_rels/notesSlide9.xml.rels>&#65279;<?xml version="1.0" encoding="utf-8"?><Relationships xmlns="http://schemas.openxmlformats.org/package/2006/relationships"><Relationship Type="http://schemas.openxmlformats.org/officeDocument/2006/relationships/slide" Target="/ppt/slides/slide9.xml" Id="R7338bb76ef3e4b4a" /><Relationship Type="http://schemas.openxmlformats.org/officeDocument/2006/relationships/notesMaster" Target="/ppt/notesMasters/notesMaster1.xml" Id="Rf7dcacd599e1408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77b69e086a8413a" /><Relationship Type="http://schemas.openxmlformats.org/officeDocument/2006/relationships/notesMaster" Target="/ppt/notesMasters/notesMaster1.xml" Id="Re429d0726220424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793653797e74d19" /><Relationship Type="http://schemas.openxmlformats.org/officeDocument/2006/relationships/notesMaster" Target="/ppt/notesMasters/notesMaster1.xml" Id="R81eb28b501ae49e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2cb9433a52d487c" /><Relationship Type="http://schemas.openxmlformats.org/officeDocument/2006/relationships/notesMaster" Target="/ppt/notesMasters/notesMaster1.xml" Id="Racc7a036f752442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2e8fe1c06ff42ef" /><Relationship Type="http://schemas.openxmlformats.org/officeDocument/2006/relationships/notesMaster" Target="/ppt/notesMasters/notesMaster1.xml" Id="R154beafc942d49f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708027a171a47d3" /><Relationship Type="http://schemas.openxmlformats.org/officeDocument/2006/relationships/notesMaster" Target="/ppt/notesMasters/notesMaster1.xml" Id="Rc41f69f4106a4d6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547e375be8d4218" /><Relationship Type="http://schemas.openxmlformats.org/officeDocument/2006/relationships/notesMaster" Target="/ppt/notesMasters/notesMaster1.xml" Id="R71782bd04ca2419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b63b472fba74183" /><Relationship Type="http://schemas.openxmlformats.org/officeDocument/2006/relationships/notesMaster" Target="/ppt/notesMasters/notesMaster1.xml" Id="R5291440f03464b1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e85bb96c2064770" /><Relationship Type="http://schemas.openxmlformats.org/officeDocument/2006/relationships/notesMaster" Target="/ppt/notesMasters/notesMaster1.xml" Id="R4e0005861610443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23316ec5e6e4171" /><Relationship Type="http://schemas.openxmlformats.org/officeDocument/2006/relationships/notesMaster" Target="/ppt/notesMasters/notesMaster1.xml" Id="R7cfdb8e09ba741a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767eb99fbc14494" /><Relationship Type="http://schemas.openxmlformats.org/officeDocument/2006/relationships/notesMaster" Target="/ppt/notesMasters/notesMaster1.xml" Id="R7418a03a2a194ce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4e29b91923d4ece" /><Relationship Type="http://schemas.openxmlformats.org/officeDocument/2006/relationships/notesMaster" Target="/ppt/notesMasters/notesMaster1.xml" Id="R4c7b0fb36de6474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f1ff9b6a5744a0d" /><Relationship Type="http://schemas.openxmlformats.org/officeDocument/2006/relationships/notesMaster" Target="/ppt/notesMasters/notesMaster1.xml" Id="R6aa32001768540f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b39ce33e7984ab1" /><Relationship Type="http://schemas.openxmlformats.org/officeDocument/2006/relationships/notesMaster" Target="/ppt/notesMasters/notesMaster1.xml" Id="Rb732e76afd60400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33bf0d3ac5e4769" /><Relationship Type="http://schemas.openxmlformats.org/officeDocument/2006/relationships/notesMaster" Target="/ppt/notesMasters/notesMaster1.xml" Id="R8c7c8fbbc72b44d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9367f6c5b404572" /><Relationship Type="http://schemas.openxmlformats.org/officeDocument/2006/relationships/notesMaster" Target="/ppt/notesMasters/notesMaster1.xml" Id="Rbcdfeaf509dc452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aea99187ec6d42d5" /><Relationship Type="http://schemas.openxmlformats.org/officeDocument/2006/relationships/notesMaster" Target="/ppt/notesMasters/notesMaster1.xml" Id="Rd7179a3e8a7d43f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de9afccd0fc74b19" /><Relationship Type="http://schemas.openxmlformats.org/officeDocument/2006/relationships/notesMaster" Target="/ppt/notesMasters/notesMaster1.xml" Id="R6531f3cc1ccf4796"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a644eeeb4cc403d" /><Relationship Type="http://schemas.openxmlformats.org/officeDocument/2006/relationships/notesMaster" Target="/ppt/notesMasters/notesMaster1.xml" Id="Rcfd210663a4b4dbf"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358c5a22472d40d3" /><Relationship Type="http://schemas.openxmlformats.org/officeDocument/2006/relationships/notesMaster" Target="/ppt/notesMasters/notesMaster1.xml" Id="R580c9b2745954788"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3028a5e18dac4138" /><Relationship Type="http://schemas.openxmlformats.org/officeDocument/2006/relationships/notesMaster" Target="/ppt/notesMasters/notesMaster1.xml" Id="R2d8e21122b2749a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stap kun je al, en waar heb je de theorie nodig?</a:t>
            </a:r>
          </a:p>
          <a:p xmlns:a="http://schemas.openxmlformats.org/drawingml/2006/main">
            <a:r>
              <a:rPr sz="1400"/>
              <a:t/>
            </a:r>
          </a:p>
          <a:p xmlns:a="http://schemas.openxmlformats.org/drawingml/2006/main">
            <a:r>
              <a:rPr sz="1400"/>
              <a:t>Uitleg: Laat dit overzicht staan tijdens Startopdracht. Start 19–20 staat op boekpagina 26. Bij 19 is alleen de belastingwig voorkennis (§3.1.1, boek p. 6–9); de subsidiewig is nieuw. Laat de uitleg op p. 23 gebruiken, met Pp als kopersbetaling plus subsidie. Bij 20 is de regel U = s × Qsub nieuw; laat p. 24 lezen en alle gesubsidieerde verkopen aanwijzen. Dit is een ondersteunde verkenning. Keer na de instructie, vóór basiswerk, naar beide items terug en laat leerlingen hun aanpak verbeteren. Startantwoorden voor die nabespreking: 19 belasting Pp = 8, subsidie Pp = 14 euro per product; 20 U = 120 euro per week, omdat ook de 50 eerdere verkopen subsidie krijgen. Basis 21,22 p.27 en 22A p.28, zelfstandig 23–24 p.29, doel 25 p.30. Laat 22A zo nodig vóór 22c maken. Huiswerk is 21,22,22A,23,24,25 maken en nakijken. Bonus 26 en herhaling 27 zijn extra. Docenteninformatie reserveert voorlopig twee lessen van 55 minuten plus mogelijke uitloop; dit is geen bewezen tijdsfit.</a:t>
            </a:r>
          </a:p>
          <a:p xmlns:a="http://schemas.openxmlformats.org/drawingml/2006/main">
            <a:r>
              <a:rPr sz="1400"/>
              <a:t/>
            </a:r>
          </a:p>
          <a:p xmlns:a="http://schemas.openxmlformats.org/drawingml/2006/main">
            <a:r>
              <a:rPr sz="1400"/>
              <a:t>Misvatting: Nieuwe subsidiehandelingen zijn nog geen beheerste voorkennis. Gebruik complete boekpaginanummers; hoofdstukpaginanummers liggen vier lager.</a:t>
            </a:r>
          </a:p>
          <a:p xmlns:a="http://schemas.openxmlformats.org/drawingml/2006/main">
            <a:r>
              <a:rPr sz="1400"/>
              <a:t/>
            </a:r>
          </a:p>
          <a:p xmlns:a="http://schemas.openxmlformats.org/drawingml/2006/main">
            <a:r>
              <a:rPr sz="1400"/>
              <a:t>Overgang: Ga verder zodra de klas klaar is voor de volgende fase.</a:t>
            </a:r>
          </a:p>
          <a:p xmlns:a="http://schemas.openxmlformats.org/drawingml/2006/main">
            <a:r>
              <a:rPr sz="1400"/>
              <a:t/>
            </a:r>
          </a:p>
          <a:p xmlns:a="http://schemas.openxmlformats.org/drawingml/2006/main">
            <a:r>
              <a:rPr sz="1400"/>
              <a:t>Bron: Boek 3, geselecteerde v3-editie book34-lesson-balance-v3-20260915, gedrukte boekpagina 23–30. https://github.com/meijer1973/4veco-lessen/blob/9b8304d5031cafac936a56281e144573a25fbbc9/edities/books34-v3/books/book-3/output/Boek_3_Compleet_v3.pdf</a:t>
            </a:r>
          </a:p>
          <a:p xmlns:a="http://schemas.openxmlformats.org/drawingml/2006/main">
            <a:r>
              <a:rPr sz="1400"/>
              <a:t>Antwoordmodel: https://github.com/meijer1973/4veco-lessen/blob/9b8304d5031cafac936a56281e144573a25fbbc9/edities/books34-v3/books/book-3/chapters/3.1/Antwoorden.md#ans25</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prijs is hoger als de overheid geld bijlegt?</a:t>
            </a:r>
          </a:p>
          <a:p xmlns:a="http://schemas.openxmlformats.org/drawingml/2006/main">
            <a:r>
              <a:rPr sz="1400"/>
              <a:t/>
            </a:r>
          </a:p>
          <a:p xmlns:a="http://schemas.openxmlformats.org/drawingml/2006/main">
            <a:r>
              <a:rPr sz="1400"/>
              <a:t>Uitleg: Haal de betekenis van Pc en Pp op uit §3.1.1. Pp is bij subsidie de kopersbetaling plus de overheidsbetaling. De subsidie keert de richting van de wig om. Laat beide vergelijkingen mondeling in woorden vertalen.</a:t>
            </a:r>
          </a:p>
          <a:p xmlns:a="http://schemas.openxmlformats.org/drawingml/2006/main">
            <a:r>
              <a:rPr sz="1400"/>
              <a:t/>
            </a:r>
          </a:p>
          <a:p xmlns:a="http://schemas.openxmlformats.org/drawingml/2006/main">
            <a:r>
              <a:rPr sz="1400"/>
              <a:t>Misvatting: Pp is geen winst; productiekosten moeten er nog af.</a:t>
            </a:r>
          </a:p>
          <a:p xmlns:a="http://schemas.openxmlformats.org/drawingml/2006/main">
            <a:r>
              <a:rPr sz="1400"/>
              <a:t/>
            </a:r>
          </a:p>
          <a:p xmlns:a="http://schemas.openxmlformats.org/drawingml/2006/main">
            <a:r>
              <a:rPr sz="1400"/>
              <a:t>Overgang: Pas dit toe op een afzonderlijk uitlegvoorbeeld.</a:t>
            </a:r>
          </a:p>
          <a:p xmlns:a="http://schemas.openxmlformats.org/drawingml/2006/main">
            <a:r>
              <a:rPr sz="1400"/>
              <a:t/>
            </a:r>
          </a:p>
          <a:p xmlns:a="http://schemas.openxmlformats.org/drawingml/2006/main">
            <a:r>
              <a:rPr sz="1400"/>
              <a:t>Bron: Boek 3, geselecteerde v3-editie book34-lesson-balance-v3-20260915, gedrukte boekpagina 23. https://github.com/meijer1973/4veco-lessen/blob/9b8304d5031cafac936a56281e144573a25fbbc9/edities/books34-v3/books/book-3/output/Boek_3_Compleet_v3.pdf</a:t>
            </a:r>
          </a:p>
          <a:p xmlns:a="http://schemas.openxmlformats.org/drawingml/2006/main">
            <a:r>
              <a:rPr sz="1400"/>
              <a:t>Antwoordmodel: https://github.com/meijer1973/4veco-lessen/blob/9b8304d5031cafac936a56281e144573a25fbbc9/edities/books34-v3/books/book-3/chapters/3.1/Antwoorden.md#ans25</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Op welke prijs reageert de koper? En de aanbieder?</a:t>
            </a:r>
          </a:p>
          <a:p xmlns:a="http://schemas.openxmlformats.org/drawingml/2006/main">
            <a:r>
              <a:rPr sz="1400"/>
              <a:t/>
            </a:r>
          </a:p>
          <a:p xmlns:a="http://schemas.openxmlformats.org/drawingml/2006/main">
            <a:r>
              <a:rPr sz="1400"/>
              <a:t>Uitleg: Uitlegvoorbeeld — niet uit het boek. Alle data zijn voor deze les gemaakt. Veel kopers en aanbieders, één product en verder onveranderde omstandigheden. De oorspronkelijke aanbodlijn geeft marginale kosten. Veronderstel uitdrukkelijk geen externe baten, ook al kan een echte fietscontrole zulke baten hebben. Bereken alles opnieuw; dit is geen markt uit de opgaven.</a:t>
            </a:r>
          </a:p>
          <a:p xmlns:a="http://schemas.openxmlformats.org/drawingml/2006/main">
            <a:r>
              <a:rPr sz="1400"/>
              <a:t/>
            </a:r>
          </a:p>
          <a:p xmlns:a="http://schemas.openxmlformats.org/drawingml/2006/main">
            <a:r>
              <a:rPr sz="1400"/>
              <a:t>Misvatting: Een plausibel verhaal is geen bewijs voor externe baten in het gegeven model.</a:t>
            </a:r>
          </a:p>
          <a:p xmlns:a="http://schemas.openxmlformats.org/drawingml/2006/main">
            <a:r>
              <a:rPr sz="1400"/>
              <a:t/>
            </a:r>
          </a:p>
          <a:p xmlns:a="http://schemas.openxmlformats.org/drawingml/2006/main">
            <a:r>
              <a:rPr sz="1400"/>
              <a:t>Overgang: Begin met de situatie zonder subsidie.</a:t>
            </a:r>
          </a:p>
          <a:p xmlns:a="http://schemas.openxmlformats.org/drawingml/2006/main">
            <a:r>
              <a:rPr sz="1400"/>
              <a:t/>
            </a:r>
          </a:p>
          <a:p xmlns:a="http://schemas.openxmlformats.org/drawingml/2006/main">
            <a:r>
              <a:rPr sz="1400"/>
              <a:t>Bron: Boek 3, geselecteerde v3-editie book34-lesson-balance-v3-20260915, gedrukte boekpagina 23–26. https://github.com/meijer1973/4veco-lessen/blob/9b8304d5031cafac936a56281e144573a25fbbc9/edities/books34-v3/books/book-3/output/Boek_3_Compleet_v3.pdf</a:t>
            </a:r>
          </a:p>
          <a:p xmlns:a="http://schemas.openxmlformats.org/drawingml/2006/main">
            <a:r>
              <a:rPr sz="1400"/>
              <a:t>Antwoordmodel: https://github.com/meijer1973/4veco-lessen/blob/9b8304d5031cafac936a56281e144573a25fbbc9/edities/books34-v3/books/book-3/chapters/3.1/Antwoorden.md#ans25</a:t>
            </a:r>
          </a:p>
          <a:p xmlns:a="http://schemas.openxmlformats.org/drawingml/2006/main">
            <a:r>
              <a:rPr sz="1400"/>
              <a:t>Uitlegvoorbeeld — niet uit het boek. Fietscontroles en alle bijbehorende data zijn voor deze uitleg gemaakt. De boekverwijzing betreft uitsluitend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Hoe controleer je of de prijs bij beide kanten past?</a:t>
            </a:r>
          </a:p>
          <a:p xmlns:a="http://schemas.openxmlformats.org/drawingml/2006/main">
            <a:r>
              <a:rPr sz="1400"/>
              <a:t/>
            </a:r>
          </a:p>
          <a:p xmlns:a="http://schemas.openxmlformats.org/drawingml/2006/main">
            <a:r>
              <a:rPr sz="1400"/>
              <a:t>Uitleg: Herhaal de eerder onderwezen evenwichtsmethode (§3.1.1, boek p.9). 32−0,20Q = 8+0,10Q geeft Q=80. Invullen in beide functies geeft 16. De hulplijnen horen bij (80;16).</a:t>
            </a:r>
          </a:p>
          <a:p xmlns:a="http://schemas.openxmlformats.org/drawingml/2006/main">
            <a:r>
              <a:rPr sz="1400"/>
              <a:t/>
            </a:r>
          </a:p>
          <a:p xmlns:a="http://schemas.openxmlformats.org/drawingml/2006/main">
            <a:r>
              <a:rPr sz="1400"/>
              <a:t>Misvatting: Het snijpunt is één hoeveelheid en één prijs, niet twee hoeveelheden.</a:t>
            </a:r>
          </a:p>
          <a:p xmlns:a="http://schemas.openxmlformats.org/drawingml/2006/main">
            <a:r>
              <a:rPr sz="1400"/>
              <a:t/>
            </a:r>
          </a:p>
          <a:p xmlns:a="http://schemas.openxmlformats.org/drawingml/2006/main">
            <a:r>
              <a:rPr sz="1400"/>
              <a:t>Overgang: Zet het aanbod om naar de prijs van de koper.</a:t>
            </a:r>
          </a:p>
          <a:p xmlns:a="http://schemas.openxmlformats.org/drawingml/2006/main">
            <a:r>
              <a:rPr sz="1400"/>
              <a:t/>
            </a:r>
          </a:p>
          <a:p xmlns:a="http://schemas.openxmlformats.org/drawingml/2006/main">
            <a:r>
              <a:rPr sz="1400"/>
              <a:t>Bron: Boek 3, geselecteerde v3-editie book34-lesson-balance-v3-20260915, gedrukte boekpagina 23–26. https://github.com/meijer1973/4veco-lessen/blob/9b8304d5031cafac936a56281e144573a25fbbc9/edities/books34-v3/books/book-3/output/Boek_3_Compleet_v3.pdf</a:t>
            </a:r>
          </a:p>
          <a:p xmlns:a="http://schemas.openxmlformats.org/drawingml/2006/main">
            <a:r>
              <a:rPr sz="1400"/>
              <a:t>Antwoordmodel: https://github.com/meijer1973/4veco-lessen/blob/9b8304d5031cafac936a56281e144573a25fbbc9/edities/books34-v3/books/book-3/chapters/3.1/Antwoorden.md#ans25</a:t>
            </a:r>
          </a:p>
          <a:p xmlns:a="http://schemas.openxmlformats.org/drawingml/2006/main">
            <a:r>
              <a:rPr sz="1400"/>
              <a:t>Uitlegvoorbeeld — niet uit het boek. Fietscontroles en alle bijbehorende data zijn voor deze uitleg gemaakt. De boekverwijzing betreft uitsluitend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trekken we de subsidie van Pp af?</a:t>
            </a:r>
          </a:p>
          <a:p xmlns:a="http://schemas.openxmlformats.org/drawingml/2006/main">
            <a:r>
              <a:rPr sz="1400"/>
              <a:t/>
            </a:r>
          </a:p>
          <a:p xmlns:a="http://schemas.openxmlformats.org/drawingml/2006/main">
            <a:r>
              <a:rPr sz="1400"/>
              <a:t>Uitleg: De oorspronkelijke aanbodlijn blijft de benodigde totale ontvangst aangeven. Trek bij elke Q zes euro af om de benodigde kopersprijs te krijgen. Kosten en betalingsbereidheid veranderen niet. Deze verandering van representatie is de kern van de procedure.</a:t>
            </a:r>
          </a:p>
          <a:p xmlns:a="http://schemas.openxmlformats.org/drawingml/2006/main">
            <a:r>
              <a:rPr sz="1400"/>
              <a:t/>
            </a:r>
          </a:p>
          <a:p xmlns:a="http://schemas.openxmlformats.org/drawingml/2006/main">
            <a:r>
              <a:rPr sz="1400"/>
              <a:t>Misvatting: De vraaglijn schuift niet. De oorspronkelijke aanbodlijn als kostenlijn verandert evenmin.</a:t>
            </a:r>
          </a:p>
          <a:p xmlns:a="http://schemas.openxmlformats.org/drawingml/2006/main">
            <a:r>
              <a:rPr sz="1400"/>
              <a:t/>
            </a:r>
          </a:p>
          <a:p xmlns:a="http://schemas.openxmlformats.org/drawingml/2006/main">
            <a:r>
              <a:rPr sz="1400"/>
              <a:t>Overgang: Teken de nieuwe lijn naast het oorspronkelijke aanbod.</a:t>
            </a:r>
          </a:p>
          <a:p xmlns:a="http://schemas.openxmlformats.org/drawingml/2006/main">
            <a:r>
              <a:rPr sz="1400"/>
              <a:t/>
            </a:r>
          </a:p>
          <a:p xmlns:a="http://schemas.openxmlformats.org/drawingml/2006/main">
            <a:r>
              <a:rPr sz="1400"/>
              <a:t>Bron: Boek 3, geselecteerde v3-editie book34-lesson-balance-v3-20260915, gedrukte boekpagina 24. https://github.com/meijer1973/4veco-lessen/blob/9b8304d5031cafac936a56281e144573a25fbbc9/edities/books34-v3/books/book-3/output/Boek_3_Compleet_v3.pdf</a:t>
            </a:r>
          </a:p>
          <a:p xmlns:a="http://schemas.openxmlformats.org/drawingml/2006/main">
            <a:r>
              <a:rPr sz="1400"/>
              <a:t>Antwoordmodel: https://github.com/meijer1973/4veco-lessen/blob/9b8304d5031cafac936a56281e144573a25fbbc9/edities/books34-v3/books/book-3/chapters/3.1/Antwoorden.md#ans25</a:t>
            </a:r>
          </a:p>
          <a:p xmlns:a="http://schemas.openxmlformats.org/drawingml/2006/main">
            <a:r>
              <a:rPr sz="1400"/>
              <a:t>Uitlegvoorbeeld — niet uit het boek. Fietscontroles en alle bijbehorende data zijn voor deze uitleg gemaakt. De boekverwijzing betreft uitsluitend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 begint A − s op de prijsas?</a:t>
            </a:r>
          </a:p>
          <a:p xmlns:a="http://schemas.openxmlformats.org/drawingml/2006/main">
            <a:r>
              <a:rPr sz="1400"/>
              <a:t/>
            </a:r>
          </a:p>
          <a:p xmlns:a="http://schemas.openxmlformats.org/drawingml/2006/main">
            <a:r>
              <a:rPr sz="1400"/>
              <a:t>Uitleg: Construeer twee punten van A−s: bij Q=0 is Pc=2, bij Q=100 is Pc=12. De helling blijft 0,10. Vergelijk bij dezelfde hoeveelheid met A: steeds zes euro lager. Het snijpunt van V met A−s gaat de nieuwe verkoop bepalen.</a:t>
            </a:r>
          </a:p>
          <a:p xmlns:a="http://schemas.openxmlformats.org/drawingml/2006/main">
            <a:r>
              <a:rPr sz="1400"/>
              <a:t/>
            </a:r>
          </a:p>
          <a:p xmlns:a="http://schemas.openxmlformats.org/drawingml/2006/main">
            <a:r>
              <a:rPr sz="1400"/>
              <a:t>Misvatting: Lees Pp straks op de oorspronkelijke A af, niet op A − s.</a:t>
            </a:r>
          </a:p>
          <a:p xmlns:a="http://schemas.openxmlformats.org/drawingml/2006/main">
            <a:r>
              <a:rPr sz="1400"/>
              <a:t/>
            </a:r>
          </a:p>
          <a:p xmlns:a="http://schemas.openxmlformats.org/drawingml/2006/main">
            <a:r>
              <a:rPr sz="1400"/>
              <a:t>Overgang: Bereken eerst de nieuwe hoeveelheid.</a:t>
            </a:r>
          </a:p>
          <a:p xmlns:a="http://schemas.openxmlformats.org/drawingml/2006/main">
            <a:r>
              <a:rPr sz="1400"/>
              <a:t/>
            </a:r>
          </a:p>
          <a:p xmlns:a="http://schemas.openxmlformats.org/drawingml/2006/main">
            <a:r>
              <a:rPr sz="1400"/>
              <a:t>Bron: Boek 3, geselecteerde v3-editie book34-lesson-balance-v3-20260915, gedrukte boekpagina 24. https://github.com/meijer1973/4veco-lessen/blob/9b8304d5031cafac936a56281e144573a25fbbc9/edities/books34-v3/books/book-3/output/Boek_3_Compleet_v3.pdf</a:t>
            </a:r>
          </a:p>
          <a:p xmlns:a="http://schemas.openxmlformats.org/drawingml/2006/main">
            <a:r>
              <a:rPr sz="1400"/>
              <a:t>Antwoordmodel: https://github.com/meijer1973/4veco-lessen/blob/9b8304d5031cafac936a56281e144573a25fbbc9/edities/books34-v3/books/book-3/chapters/3.1/Antwoorden.md#ans25</a:t>
            </a:r>
          </a:p>
          <a:p xmlns:a="http://schemas.openxmlformats.org/drawingml/2006/main">
            <a:r>
              <a:rPr sz="1400"/>
              <a:t>Uitlegvoorbeeld — niet uit het boek. Fietscontroles en alle bijbehorende data zijn voor deze uitleg gemaakt. De boekverwijzing betreft uitsluitend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vullen we in beide functies dezelfde 100 in?</a:t>
            </a:r>
          </a:p>
          <a:p xmlns:a="http://schemas.openxmlformats.org/drawingml/2006/main">
            <a:r>
              <a:rPr sz="1400"/>
              <a:t/>
            </a:r>
          </a:p>
          <a:p xmlns:a="http://schemas.openxmlformats.org/drawingml/2006/main">
            <a:r>
              <a:rPr sz="1400"/>
              <a:t>Uitleg: Vraag gelijkstellen aan aanbod in kopersprijzen. Los de vergelijking op, vul Qsub in de oorspronkelijke vraag- en aanbodfuncties in en controleer de wig. Je kunt Pp ook via Pc+s controleren.</a:t>
            </a:r>
          </a:p>
          <a:p xmlns:a="http://schemas.openxmlformats.org/drawingml/2006/main">
            <a:r>
              <a:rPr sz="1400"/>
              <a:t/>
            </a:r>
          </a:p>
          <a:p xmlns:a="http://schemas.openxmlformats.org/drawingml/2006/main">
            <a:r>
              <a:rPr sz="1400"/>
              <a:t>Misvatting: Trek niet de hele subsidie van de oude evenwichtsprijs af. Vraag en aanbod bepalen samen beide nieuwe prijzen.</a:t>
            </a:r>
          </a:p>
          <a:p xmlns:a="http://schemas.openxmlformats.org/drawingml/2006/main">
            <a:r>
              <a:rPr sz="1400"/>
              <a:t/>
            </a:r>
          </a:p>
          <a:p xmlns:a="http://schemas.openxmlformats.org/drawingml/2006/main">
            <a:r>
              <a:rPr sz="1400"/>
              <a:t>Overgang: Lees de uitkomst in de grafiek.</a:t>
            </a:r>
          </a:p>
          <a:p xmlns:a="http://schemas.openxmlformats.org/drawingml/2006/main">
            <a:r>
              <a:rPr sz="1400"/>
              <a:t/>
            </a:r>
          </a:p>
          <a:p xmlns:a="http://schemas.openxmlformats.org/drawingml/2006/main">
            <a:r>
              <a:rPr sz="1400"/>
              <a:t>Bron: Boek 3, geselecteerde v3-editie book34-lesson-balance-v3-20260915, gedrukte boekpagina 26. https://github.com/meijer1973/4veco-lessen/blob/9b8304d5031cafac936a56281e144573a25fbbc9/edities/books34-v3/books/book-3/output/Boek_3_Compleet_v3.pdf</a:t>
            </a:r>
          </a:p>
          <a:p xmlns:a="http://schemas.openxmlformats.org/drawingml/2006/main">
            <a:r>
              <a:rPr sz="1400"/>
              <a:t>Antwoordmodel: https://github.com/meijer1973/4veco-lessen/blob/9b8304d5031cafac936a56281e144573a25fbbc9/edities/books34-v3/books/book-3/chapters/3.1/Antwoorden.md#ans25</a:t>
            </a:r>
          </a:p>
          <a:p xmlns:a="http://schemas.openxmlformats.org/drawingml/2006/main">
            <a:r>
              <a:rPr sz="1400"/>
              <a:t>Uitlegvoorbeeld — niet uit het boek. Fietscontroles en alle bijbehorende data zijn voor deze uitleg gemaakt. De boekverwijzing betreft uitsluitend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lijn gebruik je voor de totale ontvangst van de aanbieder?</a:t>
            </a:r>
          </a:p>
          <a:p xmlns:a="http://schemas.openxmlformats.org/drawingml/2006/main">
            <a:r>
              <a:rPr sz="1400"/>
              <a:t/>
            </a:r>
          </a:p>
          <a:p xmlns:a="http://schemas.openxmlformats.org/drawingml/2006/main">
            <a:r>
              <a:rPr sz="1400"/>
              <a:t>Uitleg: Wijs het snijpunt van V en A−s aan. Ga bij Q=100 omhoog naar A om Pp=18 af te lezen. De oranje verticale afstand is zes euro. De grijze hulplijnen projecteren dezelfde coördinaten op de assen.</a:t>
            </a:r>
          </a:p>
          <a:p xmlns:a="http://schemas.openxmlformats.org/drawingml/2006/main">
            <a:r>
              <a:rPr sz="1400"/>
              <a:t/>
            </a:r>
          </a:p>
          <a:p xmlns:a="http://schemas.openxmlformats.org/drawingml/2006/main">
            <a:r>
              <a:rPr sz="1400"/>
              <a:t>Misvatting: A−s geeft de kopersprijs weer, niet de ontvangst inclusief subsidie.</a:t>
            </a:r>
          </a:p>
          <a:p xmlns:a="http://schemas.openxmlformats.org/drawingml/2006/main">
            <a:r>
              <a:rPr sz="1400"/>
              <a:t/>
            </a:r>
          </a:p>
          <a:p xmlns:a="http://schemas.openxmlformats.org/drawingml/2006/main">
            <a:r>
              <a:rPr sz="1400"/>
              <a:t>Overgang: Vergelijk beide prijzen met de oude prijs.</a:t>
            </a:r>
          </a:p>
          <a:p xmlns:a="http://schemas.openxmlformats.org/drawingml/2006/main">
            <a:r>
              <a:rPr sz="1400"/>
              <a:t/>
            </a:r>
          </a:p>
          <a:p xmlns:a="http://schemas.openxmlformats.org/drawingml/2006/main">
            <a:r>
              <a:rPr sz="1400"/>
              <a:t>Bron: Boek 3, geselecteerde v3-editie book34-lesson-balance-v3-20260915, gedrukte boekpagina 24, 26. https://github.com/meijer1973/4veco-lessen/blob/9b8304d5031cafac936a56281e144573a25fbbc9/edities/books34-v3/books/book-3/output/Boek_3_Compleet_v3.pdf</a:t>
            </a:r>
          </a:p>
          <a:p xmlns:a="http://schemas.openxmlformats.org/drawingml/2006/main">
            <a:r>
              <a:rPr sz="1400"/>
              <a:t>Antwoordmodel: https://github.com/meijer1973/4veco-lessen/blob/9b8304d5031cafac936a56281e144573a25fbbc9/edities/books34-v3/books/book-3/chapters/3.1/Antwoorden.md#ans25</a:t>
            </a:r>
          </a:p>
          <a:p xmlns:a="http://schemas.openxmlformats.org/drawingml/2006/main">
            <a:r>
              <a:rPr sz="1400"/>
              <a:t>Uitlegvoorbeeld — niet uit het boek. Fietscontroles en alle bijbehorende data zijn voor deze uitleg gemaakt. De boekverwijzing betreft uitsluitend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houdt de aanbieder niet zelf het hele subsidievoordeel?</a:t>
            </a:r>
          </a:p>
          <a:p xmlns:a="http://schemas.openxmlformats.org/drawingml/2006/main">
            <a:r>
              <a:rPr sz="1400"/>
              <a:t/>
            </a:r>
          </a:p>
          <a:p xmlns:a="http://schemas.openxmlformats.org/drawingml/2006/main">
            <a:r>
              <a:rPr sz="1400"/>
              <a:t>Uitleg: De aanbieder krijgt de subsidie uitbetaald, maar verkoopt voor een lagere kopersprijs. Daardoor komt vier euro bij de koper terecht en twee euro bij de aanbieder. Deze bedragen per verkoop zijn niet hetzelfde als de totale veranderingen van CS en PS.</a:t>
            </a:r>
          </a:p>
          <a:p xmlns:a="http://schemas.openxmlformats.org/drawingml/2006/main">
            <a:r>
              <a:rPr sz="1400"/>
              <a:t/>
            </a:r>
          </a:p>
          <a:p xmlns:a="http://schemas.openxmlformats.org/drawingml/2006/main">
            <a:r>
              <a:rPr sz="1400"/>
              <a:t>Misvatting: Uitbetaling en voordeelverdeling zijn verschillende begrippen.</a:t>
            </a:r>
          </a:p>
          <a:p xmlns:a="http://schemas.openxmlformats.org/drawingml/2006/main">
            <a:r>
              <a:rPr sz="1400"/>
              <a:t/>
            </a:r>
          </a:p>
          <a:p xmlns:a="http://schemas.openxmlformats.org/drawingml/2006/main">
            <a:r>
              <a:rPr sz="1400"/>
              <a:t>Overgang: Bereken wat de overheid voor alle verkopen betaalt.</a:t>
            </a:r>
          </a:p>
          <a:p xmlns:a="http://schemas.openxmlformats.org/drawingml/2006/main">
            <a:r>
              <a:rPr sz="1400"/>
              <a:t/>
            </a:r>
          </a:p>
          <a:p xmlns:a="http://schemas.openxmlformats.org/drawingml/2006/main">
            <a:r>
              <a:rPr sz="1400"/>
              <a:t>Bron: Boek 3, geselecteerde v3-editie book34-lesson-balance-v3-20260915, gedrukte boekpagina 26. https://github.com/meijer1973/4veco-lessen/blob/9b8304d5031cafac936a56281e144573a25fbbc9/edities/books34-v3/books/book-3/output/Boek_3_Compleet_v3.pdf</a:t>
            </a:r>
          </a:p>
          <a:p xmlns:a="http://schemas.openxmlformats.org/drawingml/2006/main">
            <a:r>
              <a:rPr sz="1400"/>
              <a:t>Antwoordmodel: https://github.com/meijer1973/4veco-lessen/blob/9b8304d5031cafac936a56281e144573a25fbbc9/edities/books34-v3/books/book-3/chapters/3.1/Antwoorden.md#ans25</a:t>
            </a:r>
          </a:p>
          <a:p xmlns:a="http://schemas.openxmlformats.org/drawingml/2006/main">
            <a:r>
              <a:rPr sz="1400"/>
              <a:t>Uitlegvoorbeeld — niet uit het boek. Fietscontroles en alle bijbehorende data zijn voor deze uitleg gemaakt. De boekverwijzing betreft uitsluitend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is 6 × 20 niet de volledige rekening?</a:t>
            </a:r>
          </a:p>
          <a:p xmlns:a="http://schemas.openxmlformats.org/drawingml/2006/main">
            <a:r>
              <a:rPr sz="1400"/>
              <a:t/>
            </a:r>
          </a:p>
          <a:p xmlns:a="http://schemas.openxmlformats.org/drawingml/2006/main">
            <a:r>
              <a:rPr sz="1400"/>
              <a:t>Uitleg: De gearceerde rechthoek loopt van Q=0 tot Q=100, tussen Pc=12 en Pp=18. Ook de 80 controles die eerder al plaatsvonden krijgen subsidie: 80×6=480. De 20 extra controles kosten 120 subsidie. Samen 600.</a:t>
            </a:r>
          </a:p>
          <a:p xmlns:a="http://schemas.openxmlformats.org/drawingml/2006/main">
            <a:r>
              <a:rPr sz="1400"/>
              <a:t/>
            </a:r>
          </a:p>
          <a:p xmlns:a="http://schemas.openxmlformats.org/drawingml/2006/main">
            <a:r>
              <a:rPr sz="1400"/>
              <a:t>Misvatting: Overheidsuitgaven zijn geen synoniem voor welvaartsverlies.</a:t>
            </a:r>
          </a:p>
          <a:p xmlns:a="http://schemas.openxmlformats.org/drawingml/2006/main">
            <a:r>
              <a:rPr sz="1400"/>
              <a:t/>
            </a:r>
          </a:p>
          <a:p xmlns:a="http://schemas.openxmlformats.org/drawingml/2006/main">
            <a:r>
              <a:rPr sz="1400"/>
              <a:t>Overgang: Bereken eerst het voordeel voor consumenten.</a:t>
            </a:r>
          </a:p>
          <a:p xmlns:a="http://schemas.openxmlformats.org/drawingml/2006/main">
            <a:r>
              <a:rPr sz="1400"/>
              <a:t/>
            </a:r>
          </a:p>
          <a:p xmlns:a="http://schemas.openxmlformats.org/drawingml/2006/main">
            <a:r>
              <a:rPr sz="1400"/>
              <a:t>Bron: Boek 3, geselecteerde v3-editie book34-lesson-balance-v3-20260915, gedrukte boekpagina 24–26. https://github.com/meijer1973/4veco-lessen/blob/9b8304d5031cafac936a56281e144573a25fbbc9/edities/books34-v3/books/book-3/output/Boek_3_Compleet_v3.pdf</a:t>
            </a:r>
          </a:p>
          <a:p xmlns:a="http://schemas.openxmlformats.org/drawingml/2006/main">
            <a:r>
              <a:rPr sz="1400"/>
              <a:t>Antwoordmodel: https://github.com/meijer1973/4veco-lessen/blob/9b8304d5031cafac936a56281e144573a25fbbc9/edities/books34-v3/books/book-3/chapters/3.1/Antwoorden.md#ans25</a:t>
            </a:r>
          </a:p>
          <a:p xmlns:a="http://schemas.openxmlformats.org/drawingml/2006/main">
            <a:r>
              <a:rPr sz="1400"/>
              <a:t>Uitlegvoorbeeld — niet uit het boek. Fietscontroles en alle bijbehorende data zijn voor deze uitleg gemaakt. De boekverwijzing betreft uitsluitend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gebruikt CS de prijs van twaalf euro?</a:t>
            </a:r>
          </a:p>
          <a:p xmlns:a="http://schemas.openxmlformats.org/drawingml/2006/main">
            <a:r>
              <a:rPr sz="1400"/>
              <a:t/>
            </a:r>
          </a:p>
          <a:p xmlns:a="http://schemas.openxmlformats.org/drawingml/2006/main">
            <a:r>
              <a:rPr sz="1400"/>
              <a:t>Uitleg: Herhaal de driehoeksformule uit §3.1.2, boek p.15–18. De basis is de verkochte hoeveelheid 100. De hoogte is het prijsintercept van V minus Pc: 32−12=20 euro. De gekleurde driehoek is dus 1000 euro per week.</a:t>
            </a:r>
          </a:p>
          <a:p xmlns:a="http://schemas.openxmlformats.org/drawingml/2006/main">
            <a:r>
              <a:rPr sz="1400"/>
              <a:t/>
            </a:r>
          </a:p>
          <a:p xmlns:a="http://schemas.openxmlformats.org/drawingml/2006/main">
            <a:r>
              <a:rPr sz="1400"/>
              <a:t>Misvatting: Gebruik voor CS niet de totale ontvangst Pp.</a:t>
            </a:r>
          </a:p>
          <a:p xmlns:a="http://schemas.openxmlformats.org/drawingml/2006/main">
            <a:r>
              <a:rPr sz="1400"/>
              <a:t/>
            </a:r>
          </a:p>
          <a:p xmlns:a="http://schemas.openxmlformats.org/drawingml/2006/main">
            <a:r>
              <a:rPr sz="1400"/>
              <a:t>Overgang: Bereken vervolgens PS met de prijs voor producenten.</a:t>
            </a:r>
          </a:p>
          <a:p xmlns:a="http://schemas.openxmlformats.org/drawingml/2006/main">
            <a:r>
              <a:rPr sz="1400"/>
              <a:t/>
            </a:r>
          </a:p>
          <a:p xmlns:a="http://schemas.openxmlformats.org/drawingml/2006/main">
            <a:r>
              <a:rPr sz="1400"/>
              <a:t>Bron: Boek 3, geselecteerde v3-editie book34-lesson-balance-v3-20260915, gedrukte boekpagina 25–26. https://github.com/meijer1973/4veco-lessen/blob/9b8304d5031cafac936a56281e144573a25fbbc9/edities/books34-v3/books/book-3/output/Boek_3_Compleet_v3.pdf</a:t>
            </a:r>
          </a:p>
          <a:p xmlns:a="http://schemas.openxmlformats.org/drawingml/2006/main">
            <a:r>
              <a:rPr sz="1400"/>
              <a:t>Antwoordmodel: https://github.com/meijer1973/4veco-lessen/blob/9b8304d5031cafac936a56281e144573a25fbbc9/edities/books34-v3/books/book-3/chapters/3.1/Antwoorden.md#ans25</a:t>
            </a:r>
          </a:p>
          <a:p xmlns:a="http://schemas.openxmlformats.org/drawingml/2006/main">
            <a:r>
              <a:rPr sz="1400"/>
              <a:t>Uitlegvoorbeeld — niet uit het boek. Fietscontroles en alle bijbehorende data zijn voor deze uitleg gemaakt. De boekverwijzing betreft uitsluitend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 prijsintercept begrenst de hoogte van PS?</a:t>
            </a:r>
          </a:p>
          <a:p xmlns:a="http://schemas.openxmlformats.org/drawingml/2006/main">
            <a:r>
              <a:rPr sz="1400"/>
              <a:t/>
            </a:r>
          </a:p>
          <a:p xmlns:a="http://schemas.openxmlformats.org/drawingml/2006/main">
            <a:r>
              <a:rPr sz="1400"/>
              <a:t>Uitleg: PS omvat de totale ontvangst inclusief subsidie min de variabele kosten. De basis is 100 en de hoogte is 18−8=10 euro. Gebruik de oorspronkelijke aanbodlijn als marginalekostenlijn. Het gebied kan in dezelfde tekening deels met CS overlappen doordat de overheid bijlegt; tel daarom de overheidsrekening apart mee.</a:t>
            </a:r>
          </a:p>
          <a:p xmlns:a="http://schemas.openxmlformats.org/drawingml/2006/main">
            <a:r>
              <a:rPr sz="1400"/>
              <a:t/>
            </a:r>
          </a:p>
          <a:p xmlns:a="http://schemas.openxmlformats.org/drawingml/2006/main">
            <a:r>
              <a:rPr sz="1400"/>
              <a:t>Misvatting: PS is niet automatisch winst: vaste kosten zijn niet van dit gebied afgetrokken.</a:t>
            </a:r>
          </a:p>
          <a:p xmlns:a="http://schemas.openxmlformats.org/drawingml/2006/main">
            <a:r>
              <a:rPr sz="1400"/>
              <a:t/>
            </a:r>
          </a:p>
          <a:p xmlns:a="http://schemas.openxmlformats.org/drawingml/2006/main">
            <a:r>
              <a:rPr sz="1400"/>
              <a:t>Overgang: Vergelijk nu de hele rekening met de oude situatie.</a:t>
            </a:r>
          </a:p>
          <a:p xmlns:a="http://schemas.openxmlformats.org/drawingml/2006/main">
            <a:r>
              <a:rPr sz="1400"/>
              <a:t/>
            </a:r>
          </a:p>
          <a:p xmlns:a="http://schemas.openxmlformats.org/drawingml/2006/main">
            <a:r>
              <a:rPr sz="1400"/>
              <a:t>Bron: Boek 3, geselecteerde v3-editie book34-lesson-balance-v3-20260915, gedrukte boekpagina 25–26. https://github.com/meijer1973/4veco-lessen/blob/9b8304d5031cafac936a56281e144573a25fbbc9/edities/books34-v3/books/book-3/output/Boek_3_Compleet_v3.pdf</a:t>
            </a:r>
          </a:p>
          <a:p xmlns:a="http://schemas.openxmlformats.org/drawingml/2006/main">
            <a:r>
              <a:rPr sz="1400"/>
              <a:t>Antwoordmodel: https://github.com/meijer1973/4veco-lessen/blob/9b8304d5031cafac936a56281e144573a25fbbc9/edities/books34-v3/books/book-3/chapters/3.1/Antwoorden.md#ans25</a:t>
            </a:r>
          </a:p>
          <a:p xmlns:a="http://schemas.openxmlformats.org/drawingml/2006/main">
            <a:r>
              <a:rPr sz="1400"/>
              <a:t>Uitlegvoorbeeld — niet uit het boek. Fietscontroles en alle bijbehorende data zijn voor deze uitleg gemaakt. De boekverwijzing betreft uitsluitend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fout ontstaat als je alleen CS en PS optelt?</a:t>
            </a:r>
          </a:p>
          <a:p xmlns:a="http://schemas.openxmlformats.org/drawingml/2006/main">
            <a:r>
              <a:rPr sz="1400"/>
              <a:t/>
            </a:r>
          </a:p>
          <a:p xmlns:a="http://schemas.openxmlformats.org/drawingml/2006/main">
            <a:r>
              <a:rPr sz="1400"/>
              <a:t>Uitleg: Bereken oud CS en PS expliciet en vergelijk met nieuw. Nieuw CS+PS is 1500, maar de subsidie-uitgaven van 600 zitten al in die voordelen. Trek U af. De stijging van CS is 360 en die van PS 180, samen 540. De overheid betaalt zestig meer.</a:t>
            </a:r>
          </a:p>
          <a:p xmlns:a="http://schemas.openxmlformats.org/drawingml/2006/main">
            <a:r>
              <a:rPr sz="1400"/>
              <a:t/>
            </a:r>
          </a:p>
          <a:p xmlns:a="http://schemas.openxmlformats.org/drawingml/2006/main">
            <a:r>
              <a:rPr sz="1400"/>
              <a:t>Misvatting: De subsidie-uitgaven zelf zijn geen verloren welvaart. Dubbele telling geeft een onjuiste conclusie.</a:t>
            </a:r>
          </a:p>
          <a:p xmlns:a="http://schemas.openxmlformats.org/drawingml/2006/main">
            <a:r>
              <a:rPr sz="1400"/>
              <a:t/>
            </a:r>
          </a:p>
          <a:p xmlns:a="http://schemas.openxmlformats.org/drawingml/2006/main">
            <a:r>
              <a:rPr sz="1400"/>
              <a:t>Overgang: Leg uit waarom juist de extra transacties verlies veroorzaken.</a:t>
            </a:r>
          </a:p>
          <a:p xmlns:a="http://schemas.openxmlformats.org/drawingml/2006/main">
            <a:r>
              <a:rPr sz="1400"/>
              <a:t/>
            </a:r>
          </a:p>
          <a:p xmlns:a="http://schemas.openxmlformats.org/drawingml/2006/main">
            <a:r>
              <a:rPr sz="1400"/>
              <a:t>Bron: Boek 3, geselecteerde v3-editie book34-lesson-balance-v3-20260915, gedrukte boekpagina 25–26. https://github.com/meijer1973/4veco-lessen/blob/9b8304d5031cafac936a56281e144573a25fbbc9/edities/books34-v3/books/book-3/output/Boek_3_Compleet_v3.pdf</a:t>
            </a:r>
          </a:p>
          <a:p xmlns:a="http://schemas.openxmlformats.org/drawingml/2006/main">
            <a:r>
              <a:rPr sz="1400"/>
              <a:t>Antwoordmodel: https://github.com/meijer1973/4veco-lessen/blob/9b8304d5031cafac936a56281e144573a25fbbc9/edities/books34-v3/books/book-3/chapters/3.1/Antwoorden.md#ans25</a:t>
            </a:r>
          </a:p>
          <a:p xmlns:a="http://schemas.openxmlformats.org/drawingml/2006/main">
            <a:r>
              <a:rPr sz="1400"/>
              <a:t>Uitlegvoorbeeld — niet uit het boek. Fietscontroles en alle bijbehorende data zijn voor deze uitleg gemaakt. De boekverwijzing betreft uitsluitend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is de uitgavenrechthoek groter dan de verliesdriehoek?</a:t>
            </a:r>
          </a:p>
          <a:p xmlns:a="http://schemas.openxmlformats.org/drawingml/2006/main">
            <a:r>
              <a:rPr sz="1400"/>
              <a:t/>
            </a:r>
          </a:p>
          <a:p xmlns:a="http://schemas.openxmlformats.org/drawingml/2006/main">
            <a:r>
              <a:rPr sz="1400"/>
              <a:t>Uitleg: W is de driehoek tussen A en V van Q0=80 tot Qsub=100. De basis is twintig, de hoogte zes. Bij Q=90 is de betalingsbereidheid 32−0,2×90=14, terwijl de marginale kosten 8+0,1×90=17 zijn. Die extra controle kost dus drie euro meer dan de koper eraan toekent. Zonder externe baten wordt dat nadeel niet gecompenseerd.</a:t>
            </a:r>
          </a:p>
          <a:p xmlns:a="http://schemas.openxmlformats.org/drawingml/2006/main">
            <a:r>
              <a:rPr sz="1400"/>
              <a:t/>
            </a:r>
          </a:p>
          <a:p xmlns:a="http://schemas.openxmlformats.org/drawingml/2006/main">
            <a:r>
              <a:rPr sz="1400"/>
              <a:t>Misvatting: Meer productie is binnen deze aannamen geen automatische welvaartswinst. Buiten dit model kunnen extra baten ertoe doen.</a:t>
            </a:r>
          </a:p>
          <a:p xmlns:a="http://schemas.openxmlformats.org/drawingml/2006/main">
            <a:r>
              <a:rPr sz="1400"/>
              <a:t/>
            </a:r>
          </a:p>
          <a:p xmlns:a="http://schemas.openxmlformats.org/drawingml/2006/main">
            <a:r>
              <a:rPr sz="1400"/>
              <a:t>Overgang: Laat leerlingen de rekeningen kort zelf onderscheiden.</a:t>
            </a:r>
          </a:p>
          <a:p xmlns:a="http://schemas.openxmlformats.org/drawingml/2006/main">
            <a:r>
              <a:rPr sz="1400"/>
              <a:t/>
            </a:r>
          </a:p>
          <a:p xmlns:a="http://schemas.openxmlformats.org/drawingml/2006/main">
            <a:r>
              <a:rPr sz="1400"/>
              <a:t>Bron: Boek 3, geselecteerde v3-editie book34-lesson-balance-v3-20260915, gedrukte boekpagina 25–26. https://github.com/meijer1973/4veco-lessen/blob/9b8304d5031cafac936a56281e144573a25fbbc9/edities/books34-v3/books/book-3/output/Boek_3_Compleet_v3.pdf</a:t>
            </a:r>
          </a:p>
          <a:p xmlns:a="http://schemas.openxmlformats.org/drawingml/2006/main">
            <a:r>
              <a:rPr sz="1400"/>
              <a:t>Antwoordmodel: https://github.com/meijer1973/4veco-lessen/blob/9b8304d5031cafac936a56281e144573a25fbbc9/edities/books34-v3/books/book-3/chapters/3.1/Antwoorden.md#ans25</a:t>
            </a:r>
          </a:p>
          <a:p xmlns:a="http://schemas.openxmlformats.org/drawingml/2006/main">
            <a:r>
              <a:rPr sz="1400"/>
              <a:t>Uitlegvoorbeeld — niet uit het boek. Fietscontroles en alle bijbehorende data zijn voor deze uitleg gemaakt. De boekverwijzing betreft uitsluitend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grootheid hoort bij elke rekening?</a:t>
            </a:r>
          </a:p>
          <a:p xmlns:a="http://schemas.openxmlformats.org/drawingml/2006/main">
            <a:r>
              <a:rPr sz="1400"/>
              <a:t/>
            </a:r>
          </a:p>
          <a:p xmlns:a="http://schemas.openxmlformats.org/drawingml/2006/main">
            <a:r>
              <a:rPr sz="1400"/>
              <a:t>Uitleg: Laat leerlingen eerst in stilte een antwoord formuleren. U gebruikt 100, want alle verkochte controles krijgen subsidie. CS gebruikt 12, PS 18. U is een overdracht van 600; de gezamenlijke voordelen stijgen slechts 540, dus het verschil is 60. Herhaal bij twijfel de bijbehorende grafiek voordat je zelfstandig laat oefenen.</a:t>
            </a:r>
          </a:p>
          <a:p xmlns:a="http://schemas.openxmlformats.org/drawingml/2006/main">
            <a:r>
              <a:rPr sz="1400"/>
              <a:t/>
            </a:r>
          </a:p>
          <a:p xmlns:a="http://schemas.openxmlformats.org/drawingml/2006/main">
            <a:r>
              <a:rPr sz="1400"/>
              <a:t>Misvatting: Een juiste formule zonder betekenis van basis en hoogte is nog kwetsbaar.</a:t>
            </a:r>
          </a:p>
          <a:p xmlns:a="http://schemas.openxmlformats.org/drawingml/2006/main">
            <a:r>
              <a:rPr sz="1400"/>
              <a:t/>
            </a:r>
          </a:p>
          <a:p xmlns:a="http://schemas.openxmlformats.org/drawingml/2006/main">
            <a:r>
              <a:rPr sz="1400"/>
              <a:t>Overgang: Keer terug naar start 19–20 en laat leerlingen hun eerdere aanpak verbeteren.</a:t>
            </a:r>
          </a:p>
          <a:p xmlns:a="http://schemas.openxmlformats.org/drawingml/2006/main">
            <a:r>
              <a:rPr sz="1400"/>
              <a:t/>
            </a:r>
          </a:p>
          <a:p xmlns:a="http://schemas.openxmlformats.org/drawingml/2006/main">
            <a:r>
              <a:rPr sz="1400"/>
              <a:t>Bron: Boek 3, geselecteerde v3-editie book34-lesson-balance-v3-20260915, gedrukte boekpagina 24–26. https://github.com/meijer1973/4veco-lessen/blob/9b8304d5031cafac936a56281e144573a25fbbc9/edities/books34-v3/books/book-3/output/Boek_3_Compleet_v3.pdf</a:t>
            </a:r>
          </a:p>
          <a:p xmlns:a="http://schemas.openxmlformats.org/drawingml/2006/main">
            <a:r>
              <a:rPr sz="1400"/>
              <a:t>Antwoordmodel: https://github.com/meijer1973/4veco-lessen/blob/9b8304d5031cafac936a56281e144573a25fbbc9/edities/books34-v3/books/book-3/chapters/3.1/Antwoorden.md#ans25</a:t>
            </a:r>
          </a:p>
          <a:p xmlns:a="http://schemas.openxmlformats.org/drawingml/2006/main">
            <a:r>
              <a:rPr sz="1400"/>
              <a:t>Uitlegvoorbeeld — niet uit het boek. Fietscontroles en alle bijbehorende data zijn voor deze uitleg gemaakt. De boekverwijzing betreft uitsluitend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stap kun je al, en waar heb je de theorie nodig?</a:t>
            </a:r>
          </a:p>
          <a:p xmlns:a="http://schemas.openxmlformats.org/drawingml/2006/main">
            <a:r>
              <a:rPr sz="1400"/>
              <a:t/>
            </a:r>
          </a:p>
          <a:p xmlns:a="http://schemas.openxmlformats.org/drawingml/2006/main">
            <a:r>
              <a:rPr sz="1400"/>
              <a:t>Uitleg: Laat dit overzicht staan tijdens Oefenen. Start 19–20 staat op boekpagina 26. Bij 19 is alleen de belastingwig voorkennis (§3.1.1, boek p. 6–9); de subsidiewig is nieuw. Laat de uitleg op p. 23 gebruiken, met Pp als kopersbetaling plus subsidie. Bij 20 is de regel U = s × Qsub nieuw; laat p. 24 lezen en alle gesubsidieerde verkopen aanwijzen. Dit is een ondersteunde verkenning. Keer na de instructie, vóór basiswerk, naar beide items terug en laat leerlingen hun aanpak verbeteren. Startantwoorden voor die nabespreking: 19 belasting Pp = 8, subsidie Pp = 14 euro per product; 20 U = 120 euro per week, omdat ook de 50 eerdere verkopen subsidie krijgen. Basis 21,22 p.27 en 22A p.28, zelfstandig 23–24 p.29, doel 25 p.30. Laat 22A zo nodig vóór 22c maken. Huiswerk is 21,22,22A,23,24,25 maken en nakijken. Bonus 26 en herhaling 27 zijn extra. Docenteninformatie reserveert voorlopig twee lessen van 55 minuten plus mogelijke uitloop; dit is geen bewezen tijdsfit.</a:t>
            </a:r>
          </a:p>
          <a:p xmlns:a="http://schemas.openxmlformats.org/drawingml/2006/main">
            <a:r>
              <a:rPr sz="1400"/>
              <a:t/>
            </a:r>
          </a:p>
          <a:p xmlns:a="http://schemas.openxmlformats.org/drawingml/2006/main">
            <a:r>
              <a:rPr sz="1400"/>
              <a:t>Misvatting: Nieuwe subsidiehandelingen zijn nog geen beheerste voorkennis. Gebruik complete boekpaginanummers; hoofdstukpaginanummers liggen vier lager.</a:t>
            </a:r>
          </a:p>
          <a:p xmlns:a="http://schemas.openxmlformats.org/drawingml/2006/main">
            <a:r>
              <a:rPr sz="1400"/>
              <a:t/>
            </a:r>
          </a:p>
          <a:p xmlns:a="http://schemas.openxmlformats.org/drawingml/2006/main">
            <a:r>
              <a:rPr sz="1400"/>
              <a:t>Overgang: Ga verder zodra de klas klaar is voor de volgende fase.</a:t>
            </a:r>
          </a:p>
          <a:p xmlns:a="http://schemas.openxmlformats.org/drawingml/2006/main">
            <a:r>
              <a:rPr sz="1400"/>
              <a:t/>
            </a:r>
          </a:p>
          <a:p xmlns:a="http://schemas.openxmlformats.org/drawingml/2006/main">
            <a:r>
              <a:rPr sz="1400"/>
              <a:t>Bron: Boek 3, geselecteerde v3-editie book34-lesson-balance-v3-20260915, gedrukte boekpagina 23–30. https://github.com/meijer1973/4veco-lessen/blob/9b8304d5031cafac936a56281e144573a25fbbc9/edities/books34-v3/books/book-3/output/Boek_3_Compleet_v3.pdf</a:t>
            </a:r>
          </a:p>
          <a:p xmlns:a="http://schemas.openxmlformats.org/drawingml/2006/main">
            <a:r>
              <a:rPr sz="1400"/>
              <a:t>Antwoordmodel: https://github.com/meijer1973/4veco-lessen/blob/9b8304d5031cafac936a56281e144573a25fbbc9/edities/books34-v3/books/book-3/chapters/3.1/Antwoorden.md#ans25</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gegevens zijn anders dan bij de fietscontroles?</a:t>
            </a:r>
          </a:p>
          <a:p xmlns:a="http://schemas.openxmlformats.org/drawingml/2006/main">
            <a:r>
              <a:rPr sz="1400"/>
              <a:t/>
            </a:r>
          </a:p>
          <a:p xmlns:a="http://schemas.openxmlformats.org/drawingml/2006/main">
            <a:r>
              <a:rPr sz="1400"/>
              <a:t>Uitleg: Dit is de volledige context van de werkelijke doeloefening 25. Sluit het fictieve fietsvoorbeeld af: dit is een nieuwe markt met andere functies, eenheden en subsidie. Lees alle brongegevens en aannamen. Toon hierna alle deelvragen en de basisgrafiek vóór de eerste uitwerking.</a:t>
            </a:r>
          </a:p>
          <a:p xmlns:a="http://schemas.openxmlformats.org/drawingml/2006/main">
            <a:r>
              <a:rPr sz="1400"/>
              <a:t/>
            </a:r>
          </a:p>
          <a:p xmlns:a="http://schemas.openxmlformats.org/drawingml/2006/main">
            <a:r>
              <a:rPr sz="1400"/>
              <a:t>Misvatting: Gebruik geen eerder berekende uitkomst zonder opnieuw de bron te lezen.</a:t>
            </a:r>
          </a:p>
          <a:p xmlns:a="http://schemas.openxmlformats.org/drawingml/2006/main">
            <a:r>
              <a:rPr sz="1400"/>
              <a:t/>
            </a:r>
          </a:p>
          <a:p xmlns:a="http://schemas.openxmlformats.org/drawingml/2006/main">
            <a:r>
              <a:rPr sz="1400"/>
              <a:t>Overgang: Lees deelvragen a tot en met c.</a:t>
            </a:r>
          </a:p>
          <a:p xmlns:a="http://schemas.openxmlformats.org/drawingml/2006/main">
            <a:r>
              <a:rPr sz="1400"/>
              <a:t/>
            </a:r>
          </a:p>
          <a:p xmlns:a="http://schemas.openxmlformats.org/drawingml/2006/main">
            <a:r>
              <a:rPr sz="1400"/>
              <a:t>Bron: Boek 3, geselecteerde v3-editie book34-lesson-balance-v3-20260915, gedrukte boekpagina 30. https://github.com/meijer1973/4veco-lessen/blob/9b8304d5031cafac936a56281e144573a25fbbc9/edities/books34-v3/books/book-3/output/Boek_3_Compleet_v3.pdf</a:t>
            </a:r>
          </a:p>
          <a:p xmlns:a="http://schemas.openxmlformats.org/drawingml/2006/main">
            <a:r>
              <a:rPr sz="1400"/>
              <a:t>Antwoordmodel: https://github.com/meijer1973/4veco-lessen/blob/9b8304d5031cafac936a56281e144573a25fbbc9/edities/books34-v3/books/book-3/chapters/3.1/Antwoorden.md#ans25</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berekening heb je nodig voordat je de uitgaven kunt bepalen?</a:t>
            </a:r>
          </a:p>
          <a:p xmlns:a="http://schemas.openxmlformats.org/drawingml/2006/main">
            <a:r>
              <a:rPr sz="1400"/>
              <a:t/>
            </a:r>
          </a:p>
          <a:p xmlns:a="http://schemas.openxmlformats.org/drawingml/2006/main">
            <a:r>
              <a:rPr sz="1400"/>
              <a:t>Uitleg: Dit zijn de onopgeloste deelvragen a–c uit het boek. Laat de leerlingen hun eigen aanpak of ontbrekende stap herkennen zonder de uitwerking al te onthullen. De volledige context staat op de vorige dia.</a:t>
            </a:r>
          </a:p>
          <a:p xmlns:a="http://schemas.openxmlformats.org/drawingml/2006/main">
            <a:r>
              <a:rPr sz="1400"/>
              <a:t/>
            </a:r>
          </a:p>
          <a:p xmlns:a="http://schemas.openxmlformats.org/drawingml/2006/main">
            <a:r>
              <a:rPr sz="1400"/>
              <a:t>Misvatting: Uitbetaling is nog geen voordeelverdeling.</a:t>
            </a:r>
          </a:p>
          <a:p xmlns:a="http://schemas.openxmlformats.org/drawingml/2006/main">
            <a:r>
              <a:rPr sz="1400"/>
              <a:t/>
            </a:r>
          </a:p>
          <a:p xmlns:a="http://schemas.openxmlformats.org/drawingml/2006/main">
            <a:r>
              <a:rPr sz="1400"/>
              <a:t>Overgang: Toon ook d en e vóór de antwoorden.</a:t>
            </a:r>
          </a:p>
          <a:p xmlns:a="http://schemas.openxmlformats.org/drawingml/2006/main">
            <a:r>
              <a:rPr sz="1400"/>
              <a:t/>
            </a:r>
          </a:p>
          <a:p xmlns:a="http://schemas.openxmlformats.org/drawingml/2006/main">
            <a:r>
              <a:rPr sz="1400"/>
              <a:t>Bron: Boek 3, geselecteerde v3-editie book34-lesson-balance-v3-20260915, gedrukte boekpagina 30. https://github.com/meijer1973/4veco-lessen/blob/9b8304d5031cafac936a56281e144573a25fbbc9/edities/books34-v3/books/book-3/output/Boek_3_Compleet_v3.pdf</a:t>
            </a:r>
          </a:p>
          <a:p xmlns:a="http://schemas.openxmlformats.org/drawingml/2006/main">
            <a:r>
              <a:rPr sz="1400"/>
              <a:t>Antwoordmodel: https://github.com/meijer1973/4veco-lessen/blob/9b8304d5031cafac936a56281e144573a25fbbc9/edities/books34-v3/books/book-3/chapters/3.1/Antwoorden.md#ans25</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modelaanname is nodig voor het oordeel?</a:t>
            </a:r>
          </a:p>
          <a:p xmlns:a="http://schemas.openxmlformats.org/drawingml/2006/main">
            <a:r>
              <a:rPr sz="1400"/>
              <a:t/>
            </a:r>
          </a:p>
          <a:p xmlns:a="http://schemas.openxmlformats.org/drawingml/2006/main">
            <a:r>
              <a:rPr sz="1400"/>
              <a:t>Uitleg: Dit zijn de volledige deelvragen d–e. Bij e hoort zowel de getekende markering en arcering als het economische oordeel. Er is nog geen antwoord onthuld.</a:t>
            </a:r>
          </a:p>
          <a:p xmlns:a="http://schemas.openxmlformats.org/drawingml/2006/main">
            <a:r>
              <a:rPr sz="1400"/>
              <a:t/>
            </a:r>
          </a:p>
          <a:p xmlns:a="http://schemas.openxmlformats.org/drawingml/2006/main">
            <a:r>
              <a:rPr sz="1400"/>
              <a:t>Misvatting: Een grafiek alleen beantwoordt de welvaartsclaim nog niet.</a:t>
            </a:r>
          </a:p>
          <a:p xmlns:a="http://schemas.openxmlformats.org/drawingml/2006/main">
            <a:r>
              <a:rPr sz="1400"/>
              <a:t/>
            </a:r>
          </a:p>
          <a:p xmlns:a="http://schemas.openxmlformats.org/drawingml/2006/main">
            <a:r>
              <a:rPr sz="1400"/>
              <a:t>Overgang: Toon de basisgrafiek uit de opgave.</a:t>
            </a:r>
          </a:p>
          <a:p xmlns:a="http://schemas.openxmlformats.org/drawingml/2006/main">
            <a:r>
              <a:rPr sz="1400"/>
              <a:t/>
            </a:r>
          </a:p>
          <a:p xmlns:a="http://schemas.openxmlformats.org/drawingml/2006/main">
            <a:r>
              <a:rPr sz="1400"/>
              <a:t>Bron: Boek 3, geselecteerde v3-editie book34-lesson-balance-v3-20260915, gedrukte boekpagina 30. https://github.com/meijer1973/4veco-lessen/blob/9b8304d5031cafac936a56281e144573a25fbbc9/edities/books34-v3/books/book-3/output/Boek_3_Compleet_v3.pdf</a:t>
            </a:r>
          </a:p>
          <a:p xmlns:a="http://schemas.openxmlformats.org/drawingml/2006/main">
            <a:r>
              <a:rPr sz="1400"/>
              <a:t>Antwoordmodel: https://github.com/meijer1973/4veco-lessen/blob/9b8304d5031cafac936a56281e144573a25fbbc9/edities/books34-v3/books/book-3/chapters/3.1/Antwoorden.md#ans25</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 zou je beginnen met tekenen?</a:t>
            </a:r>
          </a:p>
          <a:p xmlns:a="http://schemas.openxmlformats.org/drawingml/2006/main">
            <a:r>
              <a:rPr sz="1400"/>
              <a:t/>
            </a:r>
          </a:p>
          <a:p xmlns:a="http://schemas.openxmlformats.org/drawingml/2006/main">
            <a:r>
              <a:rPr sz="1400"/>
              <a:t>Uitleg: Bewerkbare reproductie van de basisgrafiek bij de doelopgave: dezelfde V en A, intercepten en eenheden. De hoeveelheid-as loopt iets verder door tot 140 voor labelruimte; V stopt bij 130 waar P=0. Er zijn geen antwoorden of nieuwe subsidielijn toegevoegd. Alle vragen zijn nu beschikbaar.</a:t>
            </a:r>
          </a:p>
          <a:p xmlns:a="http://schemas.openxmlformats.org/drawingml/2006/main">
            <a:r>
              <a:rPr sz="1400"/>
              <a:t/>
            </a:r>
          </a:p>
          <a:p xmlns:a="http://schemas.openxmlformats.org/drawingml/2006/main">
            <a:r>
              <a:rPr sz="1400"/>
              <a:t>Misvatting: Verander de oorspronkelijke vraag- en aanbodfuncties niet.</a:t>
            </a:r>
          </a:p>
          <a:p xmlns:a="http://schemas.openxmlformats.org/drawingml/2006/main">
            <a:r>
              <a:rPr sz="1400"/>
              <a:t/>
            </a:r>
          </a:p>
          <a:p xmlns:a="http://schemas.openxmlformats.org/drawingml/2006/main">
            <a:r>
              <a:rPr sz="1400"/>
              <a:t>Overgang: Bespreek nu stap voor stap de antwoorden.</a:t>
            </a:r>
          </a:p>
          <a:p xmlns:a="http://schemas.openxmlformats.org/drawingml/2006/main">
            <a:r>
              <a:rPr sz="1400"/>
              <a:t/>
            </a:r>
          </a:p>
          <a:p xmlns:a="http://schemas.openxmlformats.org/drawingml/2006/main">
            <a:r>
              <a:rPr sz="1400"/>
              <a:t>Bron: Boek 3, geselecteerde v3-editie book34-lesson-balance-v3-20260915, gedrukte boekpagina 30. https://github.com/meijer1973/4veco-lessen/blob/9b8304d5031cafac936a56281e144573a25fbbc9/edities/books34-v3/books/book-3/output/Boek_3_Compleet_v3.pdf</a:t>
            </a:r>
          </a:p>
          <a:p xmlns:a="http://schemas.openxmlformats.org/drawingml/2006/main">
            <a:r>
              <a:rPr sz="1400"/>
              <a:t>Antwoordmodel: https://github.com/meijer1973/4veco-lessen/blob/9b8304d5031cafac936a56281e144573a25fbbc9/edities/books34-v3/books/book-3/chapters/3.1/Antwoorden.md#ans25</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gebruiken beide zijden van de vergelijking Pc?</a:t>
            </a:r>
          </a:p>
          <a:p xmlns:a="http://schemas.openxmlformats.org/drawingml/2006/main">
            <a:r>
              <a:rPr sz="1400"/>
              <a:t/>
            </a:r>
          </a:p>
          <a:p xmlns:a="http://schemas.openxmlformats.org/drawingml/2006/main">
            <a:r>
              <a:rPr sz="1400"/>
              <a:t>Uitleg: Substitueer Pp=8+0,10Q in Pc=Pp−3. Stel daarna de vraag gelijk aan dit aanbod in kopersprijzen. Breng constanten en Q-termen samen: 21=0,30Q, dus 70.</a:t>
            </a:r>
          </a:p>
          <a:p xmlns:a="http://schemas.openxmlformats.org/drawingml/2006/main">
            <a:r>
              <a:rPr sz="1400"/>
              <a:t/>
            </a:r>
          </a:p>
          <a:p xmlns:a="http://schemas.openxmlformats.org/drawingml/2006/main">
            <a:r>
              <a:rPr sz="1400"/>
              <a:t>Misvatting: Gelijkstellen van de oude V en A levert het oude evenwicht.</a:t>
            </a:r>
          </a:p>
          <a:p xmlns:a="http://schemas.openxmlformats.org/drawingml/2006/main">
            <a:r>
              <a:rPr sz="1400"/>
              <a:t/>
            </a:r>
          </a:p>
          <a:p xmlns:a="http://schemas.openxmlformats.org/drawingml/2006/main">
            <a:r>
              <a:rPr sz="1400"/>
              <a:t>Overgang: Vul 70 in om beide nieuwe prijzen te vinden.</a:t>
            </a:r>
          </a:p>
          <a:p xmlns:a="http://schemas.openxmlformats.org/drawingml/2006/main">
            <a:r>
              <a:rPr sz="1400"/>
              <a:t/>
            </a:r>
          </a:p>
          <a:p xmlns:a="http://schemas.openxmlformats.org/drawingml/2006/main">
            <a:r>
              <a:rPr sz="1400"/>
              <a:t>Bron: Boek 3, geselecteerde v3-editie book34-lesson-balance-v3-20260915, gedrukte boekpagina 30. https://github.com/meijer1973/4veco-lessen/blob/9b8304d5031cafac936a56281e144573a25fbbc9/edities/books34-v3/books/book-3/output/Boek_3_Compleet_v3.pdf</a:t>
            </a:r>
          </a:p>
          <a:p xmlns:a="http://schemas.openxmlformats.org/drawingml/2006/main">
            <a:r>
              <a:rPr sz="1400"/>
              <a:t>Antwoordmodel: https://github.com/meijer1973/4veco-lessen/blob/9b8304d5031cafac936a56281e144573a25fbbc9/edities/books34-v3/books/book-3/chapters/3.1/Antwoorden.md#ans25</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alternatieve berekening controleert Pp?</a:t>
            </a:r>
          </a:p>
          <a:p xmlns:a="http://schemas.openxmlformats.org/drawingml/2006/main">
            <a:r>
              <a:rPr sz="1400"/>
              <a:t/>
            </a:r>
          </a:p>
          <a:p xmlns:a="http://schemas.openxmlformats.org/drawingml/2006/main">
            <a:r>
              <a:rPr sz="1400"/>
              <a:t>Uitleg: Gebruik voor Pc de vraag en voor Pp het oorspronkelijke aanbod. De wig is gelijk aan de subsidie. Het aanbod in kopersprijzen geeft eveneens 5+0,10×70=12.</a:t>
            </a:r>
          </a:p>
          <a:p xmlns:a="http://schemas.openxmlformats.org/drawingml/2006/main">
            <a:r>
              <a:rPr sz="1400"/>
              <a:t/>
            </a:r>
          </a:p>
          <a:p xmlns:a="http://schemas.openxmlformats.org/drawingml/2006/main">
            <a:r>
              <a:rPr sz="1400"/>
              <a:t>Misvatting: Vijftien euro is inclusief de subsidie, geen winst.</a:t>
            </a:r>
          </a:p>
          <a:p xmlns:a="http://schemas.openxmlformats.org/drawingml/2006/main">
            <a:r>
              <a:rPr sz="1400"/>
              <a:t/>
            </a:r>
          </a:p>
          <a:p xmlns:a="http://schemas.openxmlformats.org/drawingml/2006/main">
            <a:r>
              <a:rPr sz="1400"/>
              <a:t>Overgang: Bereken de overheidsuitgaven.</a:t>
            </a:r>
          </a:p>
          <a:p xmlns:a="http://schemas.openxmlformats.org/drawingml/2006/main">
            <a:r>
              <a:rPr sz="1400"/>
              <a:t/>
            </a:r>
          </a:p>
          <a:p xmlns:a="http://schemas.openxmlformats.org/drawingml/2006/main">
            <a:r>
              <a:rPr sz="1400"/>
              <a:t>Bron: Boek 3, geselecteerde v3-editie book34-lesson-balance-v3-20260915, gedrukte boekpagina 30. https://github.com/meijer1973/4veco-lessen/blob/9b8304d5031cafac936a56281e144573a25fbbc9/edities/books34-v3/books/book-3/output/Boek_3_Compleet_v3.pdf</a:t>
            </a:r>
          </a:p>
          <a:p xmlns:a="http://schemas.openxmlformats.org/drawingml/2006/main">
            <a:r>
              <a:rPr sz="1400"/>
              <a:t>Antwoordmodel: https://github.com/meijer1973/4veco-lessen/blob/9b8304d5031cafac936a56281e144573a25fbbc9/edities/books34-v3/books/book-3/chapters/3.1/Antwoorden.md#ans25</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verkopen ontbreken als je alleen 3 × 10 rekent?</a:t>
            </a:r>
          </a:p>
          <a:p xmlns:a="http://schemas.openxmlformats.org/drawingml/2006/main">
            <a:r>
              <a:rPr sz="1400"/>
              <a:t/>
            </a:r>
          </a:p>
          <a:p xmlns:a="http://schemas.openxmlformats.org/drawingml/2006/main">
            <a:r>
              <a:rPr sz="1400"/>
              <a:t>Uitleg: Neem de volledige verkochte hoeveelheid 70. De zestig bestaande verkopen krijgen 180 subsidie en de tien extra verkopen 30. Samen 210 euro per week.</a:t>
            </a:r>
          </a:p>
          <a:p xmlns:a="http://schemas.openxmlformats.org/drawingml/2006/main">
            <a:r>
              <a:rPr sz="1400"/>
              <a:t/>
            </a:r>
          </a:p>
          <a:p xmlns:a="http://schemas.openxmlformats.org/drawingml/2006/main">
            <a:r>
              <a:rPr sz="1400"/>
              <a:t>Misvatting: De tien extra cursusplaatsen zijn niet de breedte van de uitgavenrechthoek.</a:t>
            </a:r>
          </a:p>
          <a:p xmlns:a="http://schemas.openxmlformats.org/drawingml/2006/main">
            <a:r>
              <a:rPr sz="1400"/>
              <a:t/>
            </a:r>
          </a:p>
          <a:p xmlns:a="http://schemas.openxmlformats.org/drawingml/2006/main">
            <a:r>
              <a:rPr sz="1400"/>
              <a:t>Overgang: Vergelijk beide prijzen met de oude prijs van veertien euro.</a:t>
            </a:r>
          </a:p>
          <a:p xmlns:a="http://schemas.openxmlformats.org/drawingml/2006/main">
            <a:r>
              <a:rPr sz="1400"/>
              <a:t/>
            </a:r>
          </a:p>
          <a:p xmlns:a="http://schemas.openxmlformats.org/drawingml/2006/main">
            <a:r>
              <a:rPr sz="1400"/>
              <a:t>Bron: Boek 3, geselecteerde v3-editie book34-lesson-balance-v3-20260915, gedrukte boekpagina 30. https://github.com/meijer1973/4veco-lessen/blob/9b8304d5031cafac936a56281e144573a25fbbc9/edities/books34-v3/books/book-3/output/Boek_3_Compleet_v3.pdf</a:t>
            </a:r>
          </a:p>
          <a:p xmlns:a="http://schemas.openxmlformats.org/drawingml/2006/main">
            <a:r>
              <a:rPr sz="1400"/>
              <a:t>Antwoordmodel: https://github.com/meijer1973/4veco-lessen/blob/9b8304d5031cafac936a56281e144573a25fbbc9/edities/books34-v3/books/book-3/chapters/3.1/Antwoorden.md#ans25</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Hoe kan de koper profiteren zonder geld van de overheid te ontvangen?</a:t>
            </a:r>
          </a:p>
          <a:p xmlns:a="http://schemas.openxmlformats.org/drawingml/2006/main">
            <a:r>
              <a:rPr sz="1400"/>
              <a:t/>
            </a:r>
          </a:p>
          <a:p xmlns:a="http://schemas.openxmlformats.org/drawingml/2006/main">
            <a:r>
              <a:rPr sz="1400"/>
              <a:t>Uitleg: De aanbieder ontvangt de overheidsbetaling van drie euro, maar ontvangt twee euro minder van de koper dan vóór de subsidie. Zijn totale ontvangst stijgt daarom maar één euro. De koper bespaart twee euro. Controle 2+1=3.</a:t>
            </a:r>
          </a:p>
          <a:p xmlns:a="http://schemas.openxmlformats.org/drawingml/2006/main">
            <a:r>
              <a:rPr sz="1400"/>
              <a:t/>
            </a:r>
          </a:p>
          <a:p xmlns:a="http://schemas.openxmlformats.org/drawingml/2006/main">
            <a:r>
              <a:rPr sz="1400"/>
              <a:t>Misvatting: Verwar de betaling van drie euro niet met het voordeel van de aanbieder.</a:t>
            </a:r>
          </a:p>
          <a:p xmlns:a="http://schemas.openxmlformats.org/drawingml/2006/main">
            <a:r>
              <a:rPr sz="1400"/>
              <a:t/>
            </a:r>
          </a:p>
          <a:p xmlns:a="http://schemas.openxmlformats.org/drawingml/2006/main">
            <a:r>
              <a:rPr sz="1400"/>
              <a:t>Overgang: Bereken de surplusgebieden.</a:t>
            </a:r>
          </a:p>
          <a:p xmlns:a="http://schemas.openxmlformats.org/drawingml/2006/main">
            <a:r>
              <a:rPr sz="1400"/>
              <a:t/>
            </a:r>
          </a:p>
          <a:p xmlns:a="http://schemas.openxmlformats.org/drawingml/2006/main">
            <a:r>
              <a:rPr sz="1400"/>
              <a:t>Bron: Boek 3, geselecteerde v3-editie book34-lesson-balance-v3-20260915, gedrukte boekpagina 30. https://github.com/meijer1973/4veco-lessen/blob/9b8304d5031cafac936a56281e144573a25fbbc9/edities/books34-v3/books/book-3/output/Boek_3_Compleet_v3.pdf</a:t>
            </a:r>
          </a:p>
          <a:p xmlns:a="http://schemas.openxmlformats.org/drawingml/2006/main">
            <a:r>
              <a:rPr sz="1400"/>
              <a:t>Antwoordmodel: https://github.com/meijer1973/4veco-lessen/blob/9b8304d5031cafac936a56281e144573a25fbbc9/edities/books34-v3/books/book-3/chapters/3.1/Antwoorden.md#ans25</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zijn de twee driehoeken niet even groot?</a:t>
            </a:r>
          </a:p>
          <a:p xmlns:a="http://schemas.openxmlformats.org/drawingml/2006/main">
            <a:r>
              <a:rPr sz="1400"/>
              <a:t/>
            </a:r>
          </a:p>
          <a:p xmlns:a="http://schemas.openxmlformats.org/drawingml/2006/main">
            <a:r>
              <a:rPr sz="1400"/>
              <a:t>Uitleg: Bij CS is de hoogte 26−12=14, bij PS 15−8=7. Beide hebben basis 70. Laat basis, hoogte, berekening en euro per week in het leerlingantwoord controleren.</a:t>
            </a:r>
          </a:p>
          <a:p xmlns:a="http://schemas.openxmlformats.org/drawingml/2006/main">
            <a:r>
              <a:rPr sz="1400"/>
              <a:t/>
            </a:r>
          </a:p>
          <a:p xmlns:a="http://schemas.openxmlformats.org/drawingml/2006/main">
            <a:r>
              <a:rPr sz="1400"/>
              <a:t>Misvatting: Een hoogte is een prijsverschil, niet alleen de nieuwe prijs.</a:t>
            </a:r>
          </a:p>
          <a:p xmlns:a="http://schemas.openxmlformats.org/drawingml/2006/main">
            <a:r>
              <a:rPr sz="1400"/>
              <a:t/>
            </a:r>
          </a:p>
          <a:p xmlns:a="http://schemas.openxmlformats.org/drawingml/2006/main">
            <a:r>
              <a:rPr sz="1400"/>
              <a:t>Overgang: Neem ook de overheidsuitgaven mee.</a:t>
            </a:r>
          </a:p>
          <a:p xmlns:a="http://schemas.openxmlformats.org/drawingml/2006/main">
            <a:r>
              <a:rPr sz="1400"/>
              <a:t/>
            </a:r>
          </a:p>
          <a:p xmlns:a="http://schemas.openxmlformats.org/drawingml/2006/main">
            <a:r>
              <a:rPr sz="1400"/>
              <a:t>Bron: Boek 3, geselecteerde v3-editie book34-lesson-balance-v3-20260915, gedrukte boekpagina 30. https://github.com/meijer1973/4veco-lessen/blob/9b8304d5031cafac936a56281e144573a25fbbc9/edities/books34-v3/books/book-3/output/Boek_3_Compleet_v3.pdf</a:t>
            </a:r>
          </a:p>
          <a:p xmlns:a="http://schemas.openxmlformats.org/drawingml/2006/main">
            <a:r>
              <a:rPr sz="1400"/>
              <a:t>Antwoordmodel: https://github.com/meijer1973/4veco-lessen/blob/9b8304d5031cafac936a56281e144573a25fbbc9/edities/books34-v3/books/book-3/chapters/3.1/Antwoorden.md#ans25</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Hoe verklaar je dat kopers en aanbieders profiteren terwijl de maat daalt?</a:t>
            </a:r>
          </a:p>
          <a:p xmlns:a="http://schemas.openxmlformats.org/drawingml/2006/main">
            <a:r>
              <a:rPr sz="1400"/>
              <a:t/>
            </a:r>
          </a:p>
          <a:p xmlns:a="http://schemas.openxmlformats.org/drawingml/2006/main">
            <a:r>
              <a:rPr sz="1400"/>
              <a:t>Uitleg: Oude welvaartsmaat 540, nieuwe 525. CS stijgt 130, PS 65, samen 195. De overheid betaalt 210. Het verschil is 15 welvaartsverlies. De driehoekcontrole gebruikt tien extra plaatsen en drie euro hoogte.</a:t>
            </a:r>
          </a:p>
          <a:p xmlns:a="http://schemas.openxmlformats.org/drawingml/2006/main">
            <a:r>
              <a:rPr sz="1400"/>
              <a:t/>
            </a:r>
          </a:p>
          <a:p xmlns:a="http://schemas.openxmlformats.org/drawingml/2006/main">
            <a:r>
              <a:rPr sz="1400"/>
              <a:t>Misvatting: CS+PS=735 is niet de volledige nieuwe welvaartsmaat.</a:t>
            </a:r>
          </a:p>
          <a:p xmlns:a="http://schemas.openxmlformats.org/drawingml/2006/main">
            <a:r>
              <a:rPr sz="1400"/>
              <a:t/>
            </a:r>
          </a:p>
          <a:p xmlns:a="http://schemas.openxmlformats.org/drawingml/2006/main">
            <a:r>
              <a:rPr sz="1400"/>
              <a:t>Overgang: Markeer de uitkomst en de begrotingsrekening in de grafiek.</a:t>
            </a:r>
          </a:p>
          <a:p xmlns:a="http://schemas.openxmlformats.org/drawingml/2006/main">
            <a:r>
              <a:rPr sz="1400"/>
              <a:t/>
            </a:r>
          </a:p>
          <a:p xmlns:a="http://schemas.openxmlformats.org/drawingml/2006/main">
            <a:r>
              <a:rPr sz="1400"/>
              <a:t>Bron: Boek 3, geselecteerde v3-editie book34-lesson-balance-v3-20260915, gedrukte boekpagina 30. https://github.com/meijer1973/4veco-lessen/blob/9b8304d5031cafac936a56281e144573a25fbbc9/edities/books34-v3/books/book-3/output/Boek_3_Compleet_v3.pdf</a:t>
            </a:r>
          </a:p>
          <a:p xmlns:a="http://schemas.openxmlformats.org/drawingml/2006/main">
            <a:r>
              <a:rPr sz="1400"/>
              <a:t>Antwoordmodel: https://github.com/meijer1973/4veco-lessen/blob/9b8304d5031cafac936a56281e144573a25fbbc9/edities/books34-v3/books/book-3/chapters/3.1/Antwoorden.md#ans25</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Liggen beide gemarkeerde prijzen bij dezelfde hoeveelheid?</a:t>
            </a:r>
          </a:p>
          <a:p xmlns:a="http://schemas.openxmlformats.org/drawingml/2006/main">
            <a:r>
              <a:rPr sz="1400"/>
              <a:t/>
            </a:r>
          </a:p>
          <a:p xmlns:a="http://schemas.openxmlformats.org/drawingml/2006/main">
            <a:r>
              <a:rPr sz="1400"/>
              <a:t>Uitleg: De vraag snijdt A−s bij (70;12). Lees bij Q=70 op A de producentenontvangst 15. De gearceerde rechthoek omvat alle 70 verkopen tussen beide prijzen. Laat leerlingen eerst hun eigen figuur vergelijken voordat zij verbeteren.</a:t>
            </a:r>
          </a:p>
          <a:p xmlns:a="http://schemas.openxmlformats.org/drawingml/2006/main">
            <a:r>
              <a:rPr sz="1400"/>
              <a:t/>
            </a:r>
          </a:p>
          <a:p xmlns:a="http://schemas.openxmlformats.org/drawingml/2006/main">
            <a:r>
              <a:rPr sz="1400"/>
              <a:t>Misvatting: Arceer niet alleen de strook van Q=60 tot Q=70 als uitgaven.</a:t>
            </a:r>
          </a:p>
          <a:p xmlns:a="http://schemas.openxmlformats.org/drawingml/2006/main">
            <a:r>
              <a:rPr sz="1400"/>
              <a:t/>
            </a:r>
          </a:p>
          <a:p xmlns:a="http://schemas.openxmlformats.org/drawingml/2006/main">
            <a:r>
              <a:rPr sz="1400"/>
              <a:t>Overgang: Beoordeel de claim met berekening en aanname.</a:t>
            </a:r>
          </a:p>
          <a:p xmlns:a="http://schemas.openxmlformats.org/drawingml/2006/main">
            <a:r>
              <a:rPr sz="1400"/>
              <a:t/>
            </a:r>
          </a:p>
          <a:p xmlns:a="http://schemas.openxmlformats.org/drawingml/2006/main">
            <a:r>
              <a:rPr sz="1400"/>
              <a:t>Bron: Boek 3, geselecteerde v3-editie book34-lesson-balance-v3-20260915, gedrukte boekpagina 30. https://github.com/meijer1973/4veco-lessen/blob/9b8304d5031cafac936a56281e144573a25fbbc9/edities/books34-v3/books/book-3/output/Boek_3_Compleet_v3.pdf</a:t>
            </a:r>
          </a:p>
          <a:p xmlns:a="http://schemas.openxmlformats.org/drawingml/2006/main">
            <a:r>
              <a:rPr sz="1400"/>
              <a:t>Antwoordmodel: https://github.com/meijer1973/4veco-lessen/blob/9b8304d5031cafac936a56281e144573a25fbbc9/edities/books34-v3/books/book-3/chapters/3.1/Antwoorden.md#ans25</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zin in de bron begrenst deze conclusie?</a:t>
            </a:r>
          </a:p>
          <a:p xmlns:a="http://schemas.openxmlformats.org/drawingml/2006/main">
            <a:r>
              <a:rPr sz="1400"/>
              <a:t/>
            </a:r>
          </a:p>
          <a:p xmlns:a="http://schemas.openxmlformats.org/drawingml/2006/main">
            <a:r>
              <a:rPr sz="1400"/>
              <a:t>Uitleg: Beantwoord de claim volledig: oordeel, berekend bewijs en economische reden onder de bronaanname. Het verlies is vijftien per week. Deze conclusie geldt hier zonder externe baten en zonder uitvoeringskosten; zij is geen universeel oordeel over iedere werkelijke subsidie. Laat leerlingen één ontbrekende stap, eenheid of argument aanvullen.</a:t>
            </a:r>
          </a:p>
          <a:p xmlns:a="http://schemas.openxmlformats.org/drawingml/2006/main">
            <a:r>
              <a:rPr sz="1400"/>
              <a:t/>
            </a:r>
          </a:p>
          <a:p xmlns:a="http://schemas.openxmlformats.org/drawingml/2006/main">
            <a:r>
              <a:rPr sz="1400"/>
              <a:t>Misvatting: Een hoger CS en PS bewijzen samen nog geen welvaartswinst.</a:t>
            </a:r>
          </a:p>
          <a:p xmlns:a="http://schemas.openxmlformats.org/drawingml/2006/main">
            <a:r>
              <a:rPr sz="1400"/>
              <a:t/>
            </a:r>
          </a:p>
          <a:p xmlns:a="http://schemas.openxmlformats.org/drawingml/2006/main">
            <a:r>
              <a:rPr sz="1400"/>
              <a:t>Overgang: Sluit af met het gezamenlijke overzicht en het huiswerk.</a:t>
            </a:r>
          </a:p>
          <a:p xmlns:a="http://schemas.openxmlformats.org/drawingml/2006/main">
            <a:r>
              <a:rPr sz="1400"/>
              <a:t/>
            </a:r>
          </a:p>
          <a:p xmlns:a="http://schemas.openxmlformats.org/drawingml/2006/main">
            <a:r>
              <a:rPr sz="1400"/>
              <a:t>Bron: Boek 3, geselecteerde v3-editie book34-lesson-balance-v3-20260915, gedrukte boekpagina 30. https://github.com/meijer1973/4veco-lessen/blob/9b8304d5031cafac936a56281e144573a25fbbc9/edities/books34-v3/books/book-3/output/Boek_3_Compleet_v3.pdf</a:t>
            </a:r>
          </a:p>
          <a:p xmlns:a="http://schemas.openxmlformats.org/drawingml/2006/main">
            <a:r>
              <a:rPr sz="1400"/>
              <a:t>Antwoordmodel: https://github.com/meijer1973/4veco-lessen/blob/9b8304d5031cafac936a56281e144573a25fbbc9/edities/books34-v3/books/book-3/chapters/3.1/Antwoorden.md#ans25</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stap kun je al, en waar heb je de theorie nodig?</a:t>
            </a:r>
          </a:p>
          <a:p xmlns:a="http://schemas.openxmlformats.org/drawingml/2006/main">
            <a:r>
              <a:rPr sz="1400"/>
              <a:t/>
            </a:r>
          </a:p>
          <a:p xmlns:a="http://schemas.openxmlformats.org/drawingml/2006/main">
            <a:r>
              <a:rPr sz="1400"/>
              <a:t>Uitleg: Laat dit overzicht staan tijdens Afsluiting / huiswerk. Start 19–20 staat op boekpagina 26. Bij 19 is alleen de belastingwig voorkennis (§3.1.1, boek p. 6–9); de subsidiewig is nieuw. Laat de uitleg op p. 23 gebruiken, met Pp als kopersbetaling plus subsidie. Bij 20 is de regel U = s × Qsub nieuw; laat p. 24 lezen en alle gesubsidieerde verkopen aanwijzen. Dit is een ondersteunde verkenning. Keer na de instructie, vóór basiswerk, naar beide items terug en laat leerlingen hun aanpak verbeteren. Startantwoorden voor die nabespreking: 19 belasting Pp = 8, subsidie Pp = 14 euro per product; 20 U = 120 euro per week, omdat ook de 50 eerdere verkopen subsidie krijgen. Basis 21,22 p.27 en 22A p.28, zelfstandig 23–24 p.29, doel 25 p.30. Laat 22A zo nodig vóór 22c maken. Huiswerk is 21,22,22A,23,24,25 maken en nakijken. Bonus 26 en herhaling 27 zijn extra. Docenteninformatie reserveert voorlopig twee lessen van 55 minuten plus mogelijke uitloop; dit is geen bewezen tijdsfit.</a:t>
            </a:r>
          </a:p>
          <a:p xmlns:a="http://schemas.openxmlformats.org/drawingml/2006/main">
            <a:r>
              <a:rPr sz="1400"/>
              <a:t/>
            </a:r>
          </a:p>
          <a:p xmlns:a="http://schemas.openxmlformats.org/drawingml/2006/main">
            <a:r>
              <a:rPr sz="1400"/>
              <a:t>Misvatting: Nieuwe subsidiehandelingen zijn nog geen beheerste voorkennis. Gebruik complete boekpaginanummers; hoofdstukpaginanummers liggen vier lager.</a:t>
            </a:r>
          </a:p>
          <a:p xmlns:a="http://schemas.openxmlformats.org/drawingml/2006/main">
            <a:r>
              <a:rPr sz="1400"/>
              <a:t/>
            </a:r>
          </a:p>
          <a:p xmlns:a="http://schemas.openxmlformats.org/drawingml/2006/main">
            <a:r>
              <a:rPr sz="1400"/>
              <a:t>Overgang: Laat het huiswerk in de agenda zetten.</a:t>
            </a:r>
          </a:p>
          <a:p xmlns:a="http://schemas.openxmlformats.org/drawingml/2006/main">
            <a:r>
              <a:rPr sz="1400"/>
              <a:t/>
            </a:r>
          </a:p>
          <a:p xmlns:a="http://schemas.openxmlformats.org/drawingml/2006/main">
            <a:r>
              <a:rPr sz="1400"/>
              <a:t>Bron: Boek 3, geselecteerde v3-editie book34-lesson-balance-v3-20260915, gedrukte boekpagina 23–30. https://github.com/meijer1973/4veco-lessen/blob/9b8304d5031cafac936a56281e144573a25fbbc9/edities/books34-v3/books/book-3/output/Boek_3_Compleet_v3.pdf</a:t>
            </a:r>
          </a:p>
          <a:p xmlns:a="http://schemas.openxmlformats.org/drawingml/2006/main">
            <a:r>
              <a:rPr sz="1400"/>
              <a:t>Antwoordmodel: https://github.com/meijer1973/4veco-lessen/blob/9b8304d5031cafac936a56281e144573a25fbbc9/edities/books34-v3/books/book-3/chapters/3.1/Antwoorden.md#ans25</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aed2e606bf5419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5c70c9374bb44d8" /><Relationship Type="http://schemas.openxmlformats.org/officeDocument/2006/relationships/slideLayout" Target="/ppt/slideLayouts/slideLayout1.xml" Id="Rcc2108a8f32a471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c2108a8f32a471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7006d051aa6424d" /><Relationship Type="http://schemas.openxmlformats.org/officeDocument/2006/relationships/notesSlide" Target="/ppt/notesSlides/notesSlide1.xml" Id="Ra7aa3e6d10fa41f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4d1bfb553274e9e" /><Relationship Type="http://schemas.openxmlformats.org/officeDocument/2006/relationships/notesSlide" Target="/ppt/notesSlides/notesSlide2.xml" Id="Rfa9732a6b689488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0f312c91968436b" /><Relationship Type="http://schemas.openxmlformats.org/officeDocument/2006/relationships/notesSlide" Target="/ppt/notesSlides/notesSlide3.xml" Id="R10b0689e351344c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c154633b4a143af" /><Relationship Type="http://schemas.openxmlformats.org/officeDocument/2006/relationships/chart" Target="/ppt/slides/charts/chart1.xml" Id="R4aa67554d66f4aa7" /><Relationship Type="http://schemas.openxmlformats.org/officeDocument/2006/relationships/notesSlide" Target="/ppt/notesSlides/notesSlide4.xml" Id="R6d2f1c2fdc004c6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981549a04f94cc9" /><Relationship Type="http://schemas.openxmlformats.org/officeDocument/2006/relationships/notesSlide" Target="/ppt/notesSlides/notesSlide5.xml" Id="R8a177d6326624ed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47071b419e54dce" /><Relationship Type="http://schemas.openxmlformats.org/officeDocument/2006/relationships/chart" Target="/ppt/slides/charts/chart2.xml" Id="Rd89014ceb0624a96" /><Relationship Type="http://schemas.openxmlformats.org/officeDocument/2006/relationships/notesSlide" Target="/ppt/notesSlides/notesSlide6.xml" Id="R91daf1c77139497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1ef47b9a577486c" /><Relationship Type="http://schemas.openxmlformats.org/officeDocument/2006/relationships/notesSlide" Target="/ppt/notesSlides/notesSlide7.xml" Id="R9990ca313b1243c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b7fe4825f2f47c0" /><Relationship Type="http://schemas.openxmlformats.org/officeDocument/2006/relationships/chart" Target="/ppt/slides/charts/chart3.xml" Id="R1cdc87ce3d7c4907" /><Relationship Type="http://schemas.openxmlformats.org/officeDocument/2006/relationships/notesSlide" Target="/ppt/notesSlides/notesSlide8.xml" Id="R820d53d23c14422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870e29de04e49c3" /><Relationship Type="http://schemas.openxmlformats.org/officeDocument/2006/relationships/notesSlide" Target="/ppt/notesSlides/notesSlide9.xml" Id="Rf585e5315aed4b5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10c3c19669449c2" /><Relationship Type="http://schemas.openxmlformats.org/officeDocument/2006/relationships/chart" Target="/ppt/slides/charts/chart4.xml" Id="R7c0f1a9776cf4ba3" /><Relationship Type="http://schemas.openxmlformats.org/officeDocument/2006/relationships/notesSlide" Target="/ppt/notesSlides/notesSlide10.xml" Id="R61dc2334025c40a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ce6eddf719d477e" /><Relationship Type="http://schemas.openxmlformats.org/officeDocument/2006/relationships/chart" Target="/ppt/slides/charts/chart5.xml" Id="R76e524c8123144a6" /><Relationship Type="http://schemas.openxmlformats.org/officeDocument/2006/relationships/notesSlide" Target="/ppt/notesSlides/notesSlide11.xml" Id="R2290338d92a4499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38eaa4d1c624ecc" /><Relationship Type="http://schemas.openxmlformats.org/officeDocument/2006/relationships/chart" Target="/ppt/slides/charts/chart6.xml" Id="R87a0ca387ecb48dc" /><Relationship Type="http://schemas.openxmlformats.org/officeDocument/2006/relationships/notesSlide" Target="/ppt/notesSlides/notesSlide12.xml" Id="R048a410cde0f436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085008285294ced" /><Relationship Type="http://schemas.openxmlformats.org/officeDocument/2006/relationships/notesSlide" Target="/ppt/notesSlides/notesSlide13.xml" Id="Ra38a76173b4d49d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ff9279b8d3a410c" /><Relationship Type="http://schemas.openxmlformats.org/officeDocument/2006/relationships/chart" Target="/ppt/slides/charts/chart7.xml" Id="R745fc0cbfabf445d" /><Relationship Type="http://schemas.openxmlformats.org/officeDocument/2006/relationships/notesSlide" Target="/ppt/notesSlides/notesSlide14.xml" Id="R3495883dd8ba442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1eb84306d084d75" /><Relationship Type="http://schemas.openxmlformats.org/officeDocument/2006/relationships/notesSlide" Target="/ppt/notesSlides/notesSlide15.xml" Id="R529a8ba264074ce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330ee1a1cfc4c93" /><Relationship Type="http://schemas.openxmlformats.org/officeDocument/2006/relationships/notesSlide" Target="/ppt/notesSlides/notesSlide16.xml" Id="Rd3e10ba3fdb9478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c26a638ad684b58" /><Relationship Type="http://schemas.openxmlformats.org/officeDocument/2006/relationships/notesSlide" Target="/ppt/notesSlides/notesSlide17.xml" Id="Reeaca880d2254db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af27dce96564812" /><Relationship Type="http://schemas.openxmlformats.org/officeDocument/2006/relationships/notesSlide" Target="/ppt/notesSlides/notesSlide18.xml" Id="R83242ef904c74ed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c7e5cf7e8c244ddd" /><Relationship Type="http://schemas.openxmlformats.org/officeDocument/2006/relationships/notesSlide" Target="/ppt/notesSlides/notesSlide19.xml" Id="R0f50fa3051364df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aa4d0f4619a04242" /><Relationship Type="http://schemas.openxmlformats.org/officeDocument/2006/relationships/chart" Target="/ppt/slides/charts/chart8.xml" Id="R8aaf4c675f29413f" /><Relationship Type="http://schemas.openxmlformats.org/officeDocument/2006/relationships/notesSlide" Target="/ppt/notesSlides/notesSlide20.xml" Id="R55ac29a40bac414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b6621243eed74ad6" /><Relationship Type="http://schemas.openxmlformats.org/officeDocument/2006/relationships/notesSlide" Target="/ppt/notesSlides/notesSlide21.xml" Id="Rb330a1c8fbfa48c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a3e453223f924738" /><Relationship Type="http://schemas.openxmlformats.org/officeDocument/2006/relationships/notesSlide" Target="/ppt/notesSlides/notesSlide22.xml" Id="Rfd5b808b9dc74da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a47d4676ad804789" /><Relationship Type="http://schemas.openxmlformats.org/officeDocument/2006/relationships/notesSlide" Target="/ppt/notesSlides/notesSlide23.xml" Id="Rd68b7a81f24e4ca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84a13b8446c647f1" /><Relationship Type="http://schemas.openxmlformats.org/officeDocument/2006/relationships/notesSlide" Target="/ppt/notesSlides/notesSlide24.xml" Id="R9b67ff37cc08441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309249c815a14dba" /><Relationship Type="http://schemas.openxmlformats.org/officeDocument/2006/relationships/notesSlide" Target="/ppt/notesSlides/notesSlide25.xml" Id="Re91e54b759a1429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fcfd8fbb32c1476b" /><Relationship Type="http://schemas.openxmlformats.org/officeDocument/2006/relationships/notesSlide" Target="/ppt/notesSlides/notesSlide26.xml" Id="Rbcbe3276b4434d7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0b4514791b8d47a8" /><Relationship Type="http://schemas.openxmlformats.org/officeDocument/2006/relationships/chart" Target="/ppt/slides/charts/chart9.xml" Id="Ra44ebc67ba30431d" /><Relationship Type="http://schemas.openxmlformats.org/officeDocument/2006/relationships/notesSlide" Target="/ppt/notesSlides/notesSlide27.xml" Id="Rfee929f7d2fc40c5"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3e408108a1404013" /><Relationship Type="http://schemas.openxmlformats.org/officeDocument/2006/relationships/notesSlide" Target="/ppt/notesSlides/notesSlide28.xml" Id="R49d2a4b2ed934ec8"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c0700b3a4d384c7a" /><Relationship Type="http://schemas.openxmlformats.org/officeDocument/2006/relationships/notesSlide" Target="/ppt/notesSlides/notesSlide29.xml" Id="R9ef6ce1b1486449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_rels/chart9.xml.rels><Relationships xmlns="http://schemas.openxmlformats.org/package/2006/relationships"><Relationship Id="rIdChartSnapshot1" Type="http://schemas.openxmlformats.org/officeDocument/2006/relationships/package" Target="../../embeddings/chart-data-snapshot-009.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Marker"/>
        <c:ser>
          <c:idx val="0"/>
          <c:order val="0"/>
          <c:tx>
            <c:v>V</c:v>
          </c:tx>
          <c:spPr>
            <a:ln xmlns:a="http://schemas.openxmlformats.org/drawingml/2006/main" w="38100">
              <a:solidFill>
                <a:srgbClr val="17658A"/>
              </a:solidFill>
            </a:ln>
          </c:spPr>
          <c:marker>
            <c:symbol val="none"/>
          </c:marker>
          <c:dLbls>
            <c:dLbl>
              <c:idx val="1"/>
              <c:tx>
                <c:rich>
                  <a:bodyPr xmlns:a="http://schemas.openxmlformats.org/drawingml/2006/main"/>
                  <a:lstStyle xmlns:a="http://schemas.openxmlformats.org/drawingml/2006/main"/>
                  <a:p xmlns:a="http://schemas.openxmlformats.org/drawingml/2006/main">
                    <a:r>
                      <a:rPr sz="1950" b="1">
                        <a:solidFill>
                          <a:srgbClr val="17658A"/>
                        </a:solidFill>
                        <a:latin typeface="Arial"/>
                        <a:ea typeface="Arial"/>
                        <a:cs typeface="Arial"/>
                      </a:rPr>
                      <a:t>V</a:t>
                    </a:r>
                  </a:p>
                </c:rich>
              </c:tx>
              <c:txPr>
                <a:bodyPr xmlns:a="http://schemas.openxmlformats.org/drawingml/2006/main" anchorCtr="1"/>
                <a:lstStyle xmlns:a="http://schemas.openxmlformats.org/drawingml/2006/main"/>
                <a:p xmlns:a="http://schemas.openxmlformats.org/drawingml/2006/main">
                  <a:pPr>
                    <a:defRPr sz="1950" b="1">
                      <a:solidFill>
                        <a:srgbClr val="17658A"/>
                      </a:solidFill>
                      <a:latin typeface="Arial"/>
                      <a:ea typeface="Arial"/>
                      <a:cs typeface="Arial"/>
                    </a:defRPr>
                  </a:pPr>
                </a:p>
              </c:txPr>
              <c:dLblPos val="r"/>
              <c:showLegendKey val="0"/>
              <c:showVal val="0"/>
              <c:showCatName val="0"/>
              <c:showSerName val="0"/>
              <c:showPercent val="0"/>
              <c:showBubbleSize val="0"/>
            </c:dLbl>
            <c:showLegendKey val="0"/>
            <c:showVal val="0"/>
            <c:showCatName val="0"/>
            <c:showSerName val="0"/>
            <c:showPercent val="0"/>
            <c:showBubbleSize val="0"/>
            <c:showLeaderLines val="0"/>
          </c:dLbls>
          <c:xVal>
            <c:numRef>
              <c:f>'Chart Data'!$A$2:$A$3</c:f>
              <c:numCache>
                <c:formatCode>General</c:formatCode>
                <c:ptCount val="2"/>
                <c:pt idx="0">
                  <c:v>0</c:v>
                </c:pt>
                <c:pt idx="1">
                  <c:v>160</c:v>
                </c:pt>
              </c:numCache>
            </c:numRef>
          </c:xVal>
          <c:yVal>
            <c:numRef>
              <c:f>'Chart Data'!$B$2:$B$3</c:f>
              <c:numCache>
                <c:formatCode>0</c:formatCode>
                <c:ptCount val="2"/>
                <c:pt idx="0">
                  <c:v>32</c:v>
                </c:pt>
                <c:pt idx="1">
                  <c:v>0</c:v>
                </c:pt>
              </c:numCache>
            </c:numRef>
          </c:yVal>
          <c:smooth val="0"/>
        </c:ser>
        <c:ser>
          <c:idx val="1"/>
          <c:order val="1"/>
          <c:tx>
            <c:v>A</c:v>
          </c:tx>
          <c:spPr>
            <a:ln xmlns:a="http://schemas.openxmlformats.org/drawingml/2006/main" w="38100">
              <a:solidFill>
                <a:srgbClr val="20665B"/>
              </a:solidFill>
            </a:ln>
          </c:spPr>
          <c:marker>
            <c:symbol val="none"/>
          </c:marker>
          <c:dLbls>
            <c:dLbl>
              <c:idx val="1"/>
              <c:tx>
                <c:rich>
                  <a:bodyPr xmlns:a="http://schemas.openxmlformats.org/drawingml/2006/main"/>
                  <a:lstStyle xmlns:a="http://schemas.openxmlformats.org/drawingml/2006/main"/>
                  <a:p xmlns:a="http://schemas.openxmlformats.org/drawingml/2006/main">
                    <a:r>
                      <a:rPr sz="1950" b="1">
                        <a:solidFill>
                          <a:srgbClr val="20665B"/>
                        </a:solidFill>
                        <a:latin typeface="Arial"/>
                        <a:ea typeface="Arial"/>
                        <a:cs typeface="Arial"/>
                      </a:rPr>
                      <a:t>A</a:t>
                    </a:r>
                  </a:p>
                </c:rich>
              </c:tx>
              <c:txPr>
                <a:bodyPr xmlns:a="http://schemas.openxmlformats.org/drawingml/2006/main" anchorCtr="1"/>
                <a:lstStyle xmlns:a="http://schemas.openxmlformats.org/drawingml/2006/main"/>
                <a:p xmlns:a="http://schemas.openxmlformats.org/drawingml/2006/main">
                  <a:pPr>
                    <a:defRPr sz="1950" b="1">
                      <a:solidFill>
                        <a:srgbClr val="20665B"/>
                      </a:solidFill>
                      <a:latin typeface="Arial"/>
                      <a:ea typeface="Arial"/>
                      <a:cs typeface="Arial"/>
                    </a:defRPr>
                  </a:pPr>
                </a:p>
              </c:txPr>
              <c:dLblPos val="r"/>
              <c:showLegendKey val="0"/>
              <c:showVal val="0"/>
              <c:showCatName val="0"/>
              <c:showSerName val="0"/>
              <c:showPercent val="0"/>
              <c:showBubbleSize val="0"/>
            </c:dLbl>
            <c:showLegendKey val="0"/>
            <c:showVal val="0"/>
            <c:showCatName val="0"/>
            <c:showSerName val="0"/>
            <c:showPercent val="0"/>
            <c:showBubbleSize val="0"/>
            <c:showLeaderLines val="0"/>
          </c:dLbls>
          <c:xVal>
            <c:numRef>
              <c:f>'Chart Data'!$C$2:$C$3</c:f>
              <c:numCache>
                <c:formatCode>General</c:formatCode>
                <c:ptCount val="2"/>
                <c:pt idx="0">
                  <c:v>0</c:v>
                </c:pt>
                <c:pt idx="1">
                  <c:v>144</c:v>
                </c:pt>
              </c:numCache>
            </c:numRef>
          </c:xVal>
          <c:yVal>
            <c:numRef>
              <c:f>'Chart Data'!$D$2:$D$3</c:f>
              <c:numCache>
                <c:formatCode>0</c:formatCode>
                <c:ptCount val="2"/>
                <c:pt idx="0">
                  <c:v>8</c:v>
                </c:pt>
                <c:pt idx="1">
                  <c:v>22.4</c:v>
                </c:pt>
              </c:numCache>
            </c:numRef>
          </c:yVal>
          <c:smooth val="0"/>
        </c:ser>
        <c:ser>
          <c:idx val="2"/>
          <c:order val="2"/>
          <c:tx>
            <c:v>Oude hulplijnen</c:v>
          </c:tx>
          <c:spPr>
            <a:ln xmlns:a="http://schemas.openxmlformats.org/drawingml/2006/main" w="12383">
              <a:solidFill>
                <a:srgbClr val="445B6B"/>
              </a:solidFill>
            </a:ln>
          </c:spPr>
          <c:marker>
            <c:symbol val="none"/>
          </c:marker>
          <c:xVal>
            <c:numRef>
              <c:f>'Chart Data'!$E$2:$E$4</c:f>
              <c:numCache>
                <c:formatCode>General</c:formatCode>
                <c:ptCount val="3"/>
                <c:pt idx="0">
                  <c:v>0</c:v>
                </c:pt>
                <c:pt idx="1">
                  <c:v>80</c:v>
                </c:pt>
                <c:pt idx="2">
                  <c:v>80</c:v>
                </c:pt>
              </c:numCache>
            </c:numRef>
          </c:xVal>
          <c:yVal>
            <c:numRef>
              <c:f>'Chart Data'!$F$2:$F$4</c:f>
              <c:numCache>
                <c:formatCode>0</c:formatCode>
                <c:ptCount val="3"/>
                <c:pt idx="0">
                  <c:v>16</c:v>
                </c:pt>
                <c:pt idx="1">
                  <c:v>16</c:v>
                </c:pt>
                <c:pt idx="2">
                  <c:v>0</c:v>
                </c:pt>
              </c:numCache>
            </c:numRef>
          </c:yVal>
          <c:smooth val="0"/>
        </c:ser>
        <c:ser>
          <c:idx val="3"/>
          <c:order val="3"/>
          <c:tx>
            <c:v>Vrij evenwicht</c:v>
          </c:tx>
          <c:spPr>
            <a:ln xmlns:a="http://schemas.openxmlformats.org/drawingml/2006/main" w="0">
              <a:solidFill>
                <a:srgbClr val="183247"/>
              </a:solidFill>
            </a:ln>
          </c:spPr>
          <c:marker>
            <c:symbol val="circle"/>
            <c:size val="9"/>
            <c:spPr>
              <a:solidFill xmlns:a="http://schemas.openxmlformats.org/drawingml/2006/main">
                <a:srgbClr val="183247"/>
              </a:solidFill>
            </c:spPr>
          </c:marker>
          <c:xVal>
            <c:numRef>
              <c:f>'Chart Data'!$G$2:$G$2</c:f>
              <c:numCache>
                <c:formatCode>General</c:formatCode>
                <c:ptCount val="1"/>
                <c:pt idx="0">
                  <c:v>80</c:v>
                </c:pt>
              </c:numCache>
            </c:numRef>
          </c:xVal>
          <c:yVal>
            <c:numRef>
              <c:f>'Chart Data'!$H$2:$H$2</c:f>
              <c:numCache>
                <c:formatCode>0</c:formatCode>
                <c:ptCount val="1"/>
                <c:pt idx="0">
                  <c:v>16</c:v>
                </c:pt>
              </c:numCache>
            </c:numRef>
          </c:yVal>
          <c:smooth val="0"/>
        </c:ser>
        <c:dLbls>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36"/>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P (€ per controle)</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6"/>
      </c:valAx>
      <c:valAx>
        <c:axId val="48650112"/>
        <c:scaling>
          <c:orientation val="minMax"/>
          <c:max val="160"/>
          <c:min val="0"/>
        </c:scaling>
        <c:delete val="0"/>
        <c:axPos val="b"/>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Q (controles per week)</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Marker"/>
        <c:ser>
          <c:idx val="0"/>
          <c:order val="0"/>
          <c:tx>
            <c:v>V</c:v>
          </c:tx>
          <c:spPr>
            <a:ln xmlns:a="http://schemas.openxmlformats.org/drawingml/2006/main" w="38100">
              <a:solidFill>
                <a:srgbClr val="17658A"/>
              </a:solidFill>
            </a:ln>
          </c:spPr>
          <c:marker>
            <c:symbol val="none"/>
          </c:marker>
          <c:dLbls>
            <c:dLbl>
              <c:idx val="1"/>
              <c:tx>
                <c:rich>
                  <a:bodyPr xmlns:a="http://schemas.openxmlformats.org/drawingml/2006/main"/>
                  <a:lstStyle xmlns:a="http://schemas.openxmlformats.org/drawingml/2006/main"/>
                  <a:p xmlns:a="http://schemas.openxmlformats.org/drawingml/2006/main">
                    <a:r>
                      <a:rPr sz="1950" b="1">
                        <a:solidFill>
                          <a:srgbClr val="17658A"/>
                        </a:solidFill>
                        <a:latin typeface="Arial"/>
                        <a:ea typeface="Arial"/>
                        <a:cs typeface="Arial"/>
                      </a:rPr>
                      <a:t>V</a:t>
                    </a:r>
                  </a:p>
                </c:rich>
              </c:tx>
              <c:txPr>
                <a:bodyPr xmlns:a="http://schemas.openxmlformats.org/drawingml/2006/main" anchorCtr="1"/>
                <a:lstStyle xmlns:a="http://schemas.openxmlformats.org/drawingml/2006/main"/>
                <a:p xmlns:a="http://schemas.openxmlformats.org/drawingml/2006/main">
                  <a:pPr>
                    <a:defRPr sz="1950" b="1">
                      <a:solidFill>
                        <a:srgbClr val="17658A"/>
                      </a:solidFill>
                      <a:latin typeface="Arial"/>
                      <a:ea typeface="Arial"/>
                      <a:cs typeface="Arial"/>
                    </a:defRPr>
                  </a:pPr>
                </a:p>
              </c:txPr>
              <c:dLblPos val="r"/>
              <c:showLegendKey val="0"/>
              <c:showVal val="0"/>
              <c:showCatName val="0"/>
              <c:showSerName val="0"/>
              <c:showPercent val="0"/>
              <c:showBubbleSize val="0"/>
            </c:dLbl>
            <c:showLegendKey val="0"/>
            <c:showVal val="0"/>
            <c:showCatName val="0"/>
            <c:showSerName val="0"/>
            <c:showPercent val="0"/>
            <c:showBubbleSize val="0"/>
            <c:showLeaderLines val="0"/>
          </c:dLbls>
          <c:xVal>
            <c:numRef>
              <c:f>'Chart Data'!$A$2:$A$3</c:f>
              <c:numCache>
                <c:formatCode>General</c:formatCode>
                <c:ptCount val="2"/>
                <c:pt idx="0">
                  <c:v>0</c:v>
                </c:pt>
                <c:pt idx="1">
                  <c:v>160</c:v>
                </c:pt>
              </c:numCache>
            </c:numRef>
          </c:xVal>
          <c:yVal>
            <c:numRef>
              <c:f>'Chart Data'!$B$2:$B$3</c:f>
              <c:numCache>
                <c:formatCode>0</c:formatCode>
                <c:ptCount val="2"/>
                <c:pt idx="0">
                  <c:v>32</c:v>
                </c:pt>
                <c:pt idx="1">
                  <c:v>0</c:v>
                </c:pt>
              </c:numCache>
            </c:numRef>
          </c:yVal>
          <c:smooth val="0"/>
        </c:ser>
        <c:ser>
          <c:idx val="1"/>
          <c:order val="1"/>
          <c:tx>
            <c:v>A</c:v>
          </c:tx>
          <c:spPr>
            <a:ln xmlns:a="http://schemas.openxmlformats.org/drawingml/2006/main" w="38100">
              <a:solidFill>
                <a:srgbClr val="20665B"/>
              </a:solidFill>
            </a:ln>
          </c:spPr>
          <c:marker>
            <c:symbol val="none"/>
          </c:marker>
          <c:dLbls>
            <c:dLbl>
              <c:idx val="1"/>
              <c:tx>
                <c:rich>
                  <a:bodyPr xmlns:a="http://schemas.openxmlformats.org/drawingml/2006/main"/>
                  <a:lstStyle xmlns:a="http://schemas.openxmlformats.org/drawingml/2006/main"/>
                  <a:p xmlns:a="http://schemas.openxmlformats.org/drawingml/2006/main">
                    <a:r>
                      <a:rPr sz="1950" b="1">
                        <a:solidFill>
                          <a:srgbClr val="20665B"/>
                        </a:solidFill>
                        <a:latin typeface="Arial"/>
                        <a:ea typeface="Arial"/>
                        <a:cs typeface="Arial"/>
                      </a:rPr>
                      <a:t>A</a:t>
                    </a:r>
                  </a:p>
                </c:rich>
              </c:tx>
              <c:txPr>
                <a:bodyPr xmlns:a="http://schemas.openxmlformats.org/drawingml/2006/main" anchorCtr="1"/>
                <a:lstStyle xmlns:a="http://schemas.openxmlformats.org/drawingml/2006/main"/>
                <a:p xmlns:a="http://schemas.openxmlformats.org/drawingml/2006/main">
                  <a:pPr>
                    <a:defRPr sz="1950" b="1">
                      <a:solidFill>
                        <a:srgbClr val="20665B"/>
                      </a:solidFill>
                      <a:latin typeface="Arial"/>
                      <a:ea typeface="Arial"/>
                      <a:cs typeface="Arial"/>
                    </a:defRPr>
                  </a:pPr>
                </a:p>
              </c:txPr>
              <c:dLblPos val="r"/>
              <c:showLegendKey val="0"/>
              <c:showVal val="0"/>
              <c:showCatName val="0"/>
              <c:showSerName val="0"/>
              <c:showPercent val="0"/>
              <c:showBubbleSize val="0"/>
            </c:dLbl>
            <c:showLegendKey val="0"/>
            <c:showVal val="0"/>
            <c:showCatName val="0"/>
            <c:showSerName val="0"/>
            <c:showPercent val="0"/>
            <c:showBubbleSize val="0"/>
            <c:showLeaderLines val="0"/>
          </c:dLbls>
          <c:xVal>
            <c:numRef>
              <c:f>'Chart Data'!$C$2:$C$3</c:f>
              <c:numCache>
                <c:formatCode>General</c:formatCode>
                <c:ptCount val="2"/>
                <c:pt idx="0">
                  <c:v>0</c:v>
                </c:pt>
                <c:pt idx="1">
                  <c:v>144</c:v>
                </c:pt>
              </c:numCache>
            </c:numRef>
          </c:xVal>
          <c:yVal>
            <c:numRef>
              <c:f>'Chart Data'!$D$2:$D$3</c:f>
              <c:numCache>
                <c:formatCode>0</c:formatCode>
                <c:ptCount val="2"/>
                <c:pt idx="0">
                  <c:v>8</c:v>
                </c:pt>
                <c:pt idx="1">
                  <c:v>22.4</c:v>
                </c:pt>
              </c:numCache>
            </c:numRef>
          </c:yVal>
          <c:smooth val="0"/>
        </c:ser>
        <c:ser>
          <c:idx val="2"/>
          <c:order val="2"/>
          <c:tx>
            <c:v>A − s</c:v>
          </c:tx>
          <c:spPr>
            <a:ln xmlns:a="http://schemas.openxmlformats.org/drawingml/2006/main" w="38100">
              <a:solidFill>
                <a:srgbClr val="A94D16"/>
              </a:solidFill>
            </a:ln>
          </c:spPr>
          <c:marker>
            <c:symbol val="none"/>
          </c:marker>
          <c:dLbls>
            <c:dLbl>
              <c:idx val="1"/>
              <c:tx>
                <c:rich>
                  <a:bodyPr xmlns:a="http://schemas.openxmlformats.org/drawingml/2006/main"/>
                  <a:lstStyle xmlns:a="http://schemas.openxmlformats.org/drawingml/2006/main"/>
                  <a:p xmlns:a="http://schemas.openxmlformats.org/drawingml/2006/main">
                    <a:r>
                      <a:rPr sz="1950" b="1">
                        <a:solidFill>
                          <a:srgbClr val="A94D16"/>
                        </a:solidFill>
                        <a:latin typeface="Arial"/>
                        <a:ea typeface="Arial"/>
                        <a:cs typeface="Arial"/>
                      </a:rPr>
                      <a:t>A − s</a:t>
                    </a:r>
                  </a:p>
                </c:rich>
              </c:tx>
              <c:txPr>
                <a:bodyPr xmlns:a="http://schemas.openxmlformats.org/drawingml/2006/main" anchorCtr="1"/>
                <a:lstStyle xmlns:a="http://schemas.openxmlformats.org/drawingml/2006/main"/>
                <a:p xmlns:a="http://schemas.openxmlformats.org/drawingml/2006/main">
                  <a:pPr>
                    <a:defRPr sz="1950" b="1">
                      <a:solidFill>
                        <a:srgbClr val="A94D16"/>
                      </a:solidFill>
                      <a:latin typeface="Arial"/>
                      <a:ea typeface="Arial"/>
                      <a:cs typeface="Arial"/>
                    </a:defRPr>
                  </a:pPr>
                </a:p>
              </c:txPr>
              <c:dLblPos val="r"/>
              <c:showLegendKey val="0"/>
              <c:showVal val="0"/>
              <c:showCatName val="0"/>
              <c:showSerName val="0"/>
              <c:showPercent val="0"/>
              <c:showBubbleSize val="0"/>
            </c:dLbl>
            <c:showLegendKey val="0"/>
            <c:showVal val="0"/>
            <c:showCatName val="0"/>
            <c:showSerName val="0"/>
            <c:showPercent val="0"/>
            <c:showBubbleSize val="0"/>
            <c:showLeaderLines val="0"/>
          </c:dLbls>
          <c:xVal>
            <c:numRef>
              <c:f>'Chart Data'!$E$2:$E$3</c:f>
              <c:numCache>
                <c:formatCode>General</c:formatCode>
                <c:ptCount val="2"/>
                <c:pt idx="0">
                  <c:v>0</c:v>
                </c:pt>
                <c:pt idx="1">
                  <c:v>144</c:v>
                </c:pt>
              </c:numCache>
            </c:numRef>
          </c:xVal>
          <c:yVal>
            <c:numRef>
              <c:f>'Chart Data'!$F$2:$F$3</c:f>
              <c:numCache>
                <c:formatCode>0</c:formatCode>
                <c:ptCount val="2"/>
                <c:pt idx="0">
                  <c:v>2</c:v>
                </c:pt>
                <c:pt idx="1">
                  <c:v>16.4</c:v>
                </c:pt>
              </c:numCache>
            </c:numRef>
          </c:yVal>
          <c:smooth val="0"/>
        </c:ser>
        <c:dLbls>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36"/>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P (€ per controle)</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6"/>
      </c:valAx>
      <c:valAx>
        <c:axId val="48650112"/>
        <c:scaling>
          <c:orientation val="minMax"/>
          <c:max val="160"/>
          <c:min val="0"/>
        </c:scaling>
        <c:delete val="0"/>
        <c:axPos val="b"/>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Q (controles per week)</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Marker"/>
        <c:ser>
          <c:idx val="0"/>
          <c:order val="0"/>
          <c:tx>
            <c:v>V</c:v>
          </c:tx>
          <c:spPr>
            <a:ln xmlns:a="http://schemas.openxmlformats.org/drawingml/2006/main" w="38100">
              <a:solidFill>
                <a:srgbClr val="17658A"/>
              </a:solidFill>
            </a:ln>
          </c:spPr>
          <c:marker>
            <c:symbol val="none"/>
          </c:marker>
          <c:dLbls>
            <c:dLbl>
              <c:idx val="1"/>
              <c:tx>
                <c:rich>
                  <a:bodyPr xmlns:a="http://schemas.openxmlformats.org/drawingml/2006/main"/>
                  <a:lstStyle xmlns:a="http://schemas.openxmlformats.org/drawingml/2006/main"/>
                  <a:p xmlns:a="http://schemas.openxmlformats.org/drawingml/2006/main">
                    <a:r>
                      <a:rPr sz="1950" b="1">
                        <a:solidFill>
                          <a:srgbClr val="17658A"/>
                        </a:solidFill>
                        <a:latin typeface="Arial"/>
                        <a:ea typeface="Arial"/>
                        <a:cs typeface="Arial"/>
                      </a:rPr>
                      <a:t>V</a:t>
                    </a:r>
                  </a:p>
                </c:rich>
              </c:tx>
              <c:txPr>
                <a:bodyPr xmlns:a="http://schemas.openxmlformats.org/drawingml/2006/main" anchorCtr="1"/>
                <a:lstStyle xmlns:a="http://schemas.openxmlformats.org/drawingml/2006/main"/>
                <a:p xmlns:a="http://schemas.openxmlformats.org/drawingml/2006/main">
                  <a:pPr>
                    <a:defRPr sz="1950" b="1">
                      <a:solidFill>
                        <a:srgbClr val="17658A"/>
                      </a:solidFill>
                      <a:latin typeface="Arial"/>
                      <a:ea typeface="Arial"/>
                      <a:cs typeface="Arial"/>
                    </a:defRPr>
                  </a:pPr>
                </a:p>
              </c:txPr>
              <c:dLblPos val="r"/>
              <c:showLegendKey val="0"/>
              <c:showVal val="0"/>
              <c:showCatName val="0"/>
              <c:showSerName val="0"/>
              <c:showPercent val="0"/>
              <c:showBubbleSize val="0"/>
            </c:dLbl>
            <c:showLegendKey val="0"/>
            <c:showVal val="0"/>
            <c:showCatName val="0"/>
            <c:showSerName val="0"/>
            <c:showPercent val="0"/>
            <c:showBubbleSize val="0"/>
            <c:showLeaderLines val="0"/>
          </c:dLbls>
          <c:xVal>
            <c:numRef>
              <c:f>'Chart Data'!$A$2:$A$3</c:f>
              <c:numCache>
                <c:formatCode>General</c:formatCode>
                <c:ptCount val="2"/>
                <c:pt idx="0">
                  <c:v>0</c:v>
                </c:pt>
                <c:pt idx="1">
                  <c:v>160</c:v>
                </c:pt>
              </c:numCache>
            </c:numRef>
          </c:xVal>
          <c:yVal>
            <c:numRef>
              <c:f>'Chart Data'!$B$2:$B$3</c:f>
              <c:numCache>
                <c:formatCode>0</c:formatCode>
                <c:ptCount val="2"/>
                <c:pt idx="0">
                  <c:v>32</c:v>
                </c:pt>
                <c:pt idx="1">
                  <c:v>0</c:v>
                </c:pt>
              </c:numCache>
            </c:numRef>
          </c:yVal>
          <c:smooth val="0"/>
        </c:ser>
        <c:ser>
          <c:idx val="1"/>
          <c:order val="1"/>
          <c:tx>
            <c:v>A</c:v>
          </c:tx>
          <c:spPr>
            <a:ln xmlns:a="http://schemas.openxmlformats.org/drawingml/2006/main" w="38100">
              <a:solidFill>
                <a:srgbClr val="20665B"/>
              </a:solidFill>
            </a:ln>
          </c:spPr>
          <c:marker>
            <c:symbol val="none"/>
          </c:marker>
          <c:dLbls>
            <c:dLbl>
              <c:idx val="1"/>
              <c:tx>
                <c:rich>
                  <a:bodyPr xmlns:a="http://schemas.openxmlformats.org/drawingml/2006/main"/>
                  <a:lstStyle xmlns:a="http://schemas.openxmlformats.org/drawingml/2006/main"/>
                  <a:p xmlns:a="http://schemas.openxmlformats.org/drawingml/2006/main">
                    <a:r>
                      <a:rPr sz="1950" b="1">
                        <a:solidFill>
                          <a:srgbClr val="20665B"/>
                        </a:solidFill>
                        <a:latin typeface="Arial"/>
                        <a:ea typeface="Arial"/>
                        <a:cs typeface="Arial"/>
                      </a:rPr>
                      <a:t>A</a:t>
                    </a:r>
                  </a:p>
                </c:rich>
              </c:tx>
              <c:txPr>
                <a:bodyPr xmlns:a="http://schemas.openxmlformats.org/drawingml/2006/main" anchorCtr="1"/>
                <a:lstStyle xmlns:a="http://schemas.openxmlformats.org/drawingml/2006/main"/>
                <a:p xmlns:a="http://schemas.openxmlformats.org/drawingml/2006/main">
                  <a:pPr>
                    <a:defRPr sz="1950" b="1">
                      <a:solidFill>
                        <a:srgbClr val="20665B"/>
                      </a:solidFill>
                      <a:latin typeface="Arial"/>
                      <a:ea typeface="Arial"/>
                      <a:cs typeface="Arial"/>
                    </a:defRPr>
                  </a:pPr>
                </a:p>
              </c:txPr>
              <c:dLblPos val="r"/>
              <c:showLegendKey val="0"/>
              <c:showVal val="0"/>
              <c:showCatName val="0"/>
              <c:showSerName val="0"/>
              <c:showPercent val="0"/>
              <c:showBubbleSize val="0"/>
            </c:dLbl>
            <c:showLegendKey val="0"/>
            <c:showVal val="0"/>
            <c:showCatName val="0"/>
            <c:showSerName val="0"/>
            <c:showPercent val="0"/>
            <c:showBubbleSize val="0"/>
            <c:showLeaderLines val="0"/>
          </c:dLbls>
          <c:xVal>
            <c:numRef>
              <c:f>'Chart Data'!$C$2:$C$3</c:f>
              <c:numCache>
                <c:formatCode>General</c:formatCode>
                <c:ptCount val="2"/>
                <c:pt idx="0">
                  <c:v>0</c:v>
                </c:pt>
                <c:pt idx="1">
                  <c:v>144</c:v>
                </c:pt>
              </c:numCache>
            </c:numRef>
          </c:xVal>
          <c:yVal>
            <c:numRef>
              <c:f>'Chart Data'!$D$2:$D$3</c:f>
              <c:numCache>
                <c:formatCode>0</c:formatCode>
                <c:ptCount val="2"/>
                <c:pt idx="0">
                  <c:v>8</c:v>
                </c:pt>
                <c:pt idx="1">
                  <c:v>22.4</c:v>
                </c:pt>
              </c:numCache>
            </c:numRef>
          </c:yVal>
          <c:smooth val="0"/>
        </c:ser>
        <c:ser>
          <c:idx val="2"/>
          <c:order val="2"/>
          <c:tx>
            <c:v>A − s</c:v>
          </c:tx>
          <c:spPr>
            <a:ln xmlns:a="http://schemas.openxmlformats.org/drawingml/2006/main" w="38100">
              <a:solidFill>
                <a:srgbClr val="A94D16"/>
              </a:solidFill>
            </a:ln>
          </c:spPr>
          <c:marker>
            <c:symbol val="none"/>
          </c:marker>
          <c:dLbls>
            <c:dLbl>
              <c:idx val="1"/>
              <c:tx>
                <c:rich>
                  <a:bodyPr xmlns:a="http://schemas.openxmlformats.org/drawingml/2006/main"/>
                  <a:lstStyle xmlns:a="http://schemas.openxmlformats.org/drawingml/2006/main"/>
                  <a:p xmlns:a="http://schemas.openxmlformats.org/drawingml/2006/main">
                    <a:r>
                      <a:rPr sz="1950" b="1">
                        <a:solidFill>
                          <a:srgbClr val="A94D16"/>
                        </a:solidFill>
                        <a:latin typeface="Arial"/>
                        <a:ea typeface="Arial"/>
                        <a:cs typeface="Arial"/>
                      </a:rPr>
                      <a:t>A − s</a:t>
                    </a:r>
                  </a:p>
                </c:rich>
              </c:tx>
              <c:txPr>
                <a:bodyPr xmlns:a="http://schemas.openxmlformats.org/drawingml/2006/main" anchorCtr="1"/>
                <a:lstStyle xmlns:a="http://schemas.openxmlformats.org/drawingml/2006/main"/>
                <a:p xmlns:a="http://schemas.openxmlformats.org/drawingml/2006/main">
                  <a:pPr>
                    <a:defRPr sz="1950" b="1">
                      <a:solidFill>
                        <a:srgbClr val="A94D16"/>
                      </a:solidFill>
                      <a:latin typeface="Arial"/>
                      <a:ea typeface="Arial"/>
                      <a:cs typeface="Arial"/>
                    </a:defRPr>
                  </a:pPr>
                </a:p>
              </c:txPr>
              <c:dLblPos val="r"/>
              <c:showLegendKey val="0"/>
              <c:showVal val="0"/>
              <c:showCatName val="0"/>
              <c:showSerName val="0"/>
              <c:showPercent val="0"/>
              <c:showBubbleSize val="0"/>
            </c:dLbl>
            <c:showLegendKey val="0"/>
            <c:showVal val="0"/>
            <c:showCatName val="0"/>
            <c:showSerName val="0"/>
            <c:showPercent val="0"/>
            <c:showBubbleSize val="0"/>
            <c:showLeaderLines val="0"/>
          </c:dLbls>
          <c:xVal>
            <c:numRef>
              <c:f>'Chart Data'!$E$2:$E$3</c:f>
              <c:numCache>
                <c:formatCode>General</c:formatCode>
                <c:ptCount val="2"/>
                <c:pt idx="0">
                  <c:v>0</c:v>
                </c:pt>
                <c:pt idx="1">
                  <c:v>144</c:v>
                </c:pt>
              </c:numCache>
            </c:numRef>
          </c:xVal>
          <c:yVal>
            <c:numRef>
              <c:f>'Chart Data'!$F$2:$F$3</c:f>
              <c:numCache>
                <c:formatCode>0</c:formatCode>
                <c:ptCount val="2"/>
                <c:pt idx="0">
                  <c:v>2</c:v>
                </c:pt>
                <c:pt idx="1">
                  <c:v>16.4</c:v>
                </c:pt>
              </c:numCache>
            </c:numRef>
          </c:yVal>
          <c:smooth val="0"/>
        </c:ser>
        <c:ser>
          <c:idx val="3"/>
          <c:order val="3"/>
          <c:tx>
            <c:v>Pc hulplijn</c:v>
          </c:tx>
          <c:spPr>
            <a:ln xmlns:a="http://schemas.openxmlformats.org/drawingml/2006/main" w="13335">
              <a:solidFill>
                <a:srgbClr val="445B6B"/>
              </a:solidFill>
            </a:ln>
          </c:spPr>
          <c:marker>
            <c:symbol val="none"/>
          </c:marker>
          <c:xVal>
            <c:numRef>
              <c:f>'Chart Data'!$G$2:$G$4</c:f>
              <c:numCache>
                <c:formatCode>General</c:formatCode>
                <c:ptCount val="3"/>
                <c:pt idx="0">
                  <c:v>0</c:v>
                </c:pt>
                <c:pt idx="1">
                  <c:v>100</c:v>
                </c:pt>
                <c:pt idx="2">
                  <c:v>100</c:v>
                </c:pt>
              </c:numCache>
            </c:numRef>
          </c:xVal>
          <c:yVal>
            <c:numRef>
              <c:f>'Chart Data'!$H$2:$H$4</c:f>
              <c:numCache>
                <c:formatCode>0</c:formatCode>
                <c:ptCount val="3"/>
                <c:pt idx="0">
                  <c:v>12</c:v>
                </c:pt>
                <c:pt idx="1">
                  <c:v>12</c:v>
                </c:pt>
                <c:pt idx="2">
                  <c:v>0</c:v>
                </c:pt>
              </c:numCache>
            </c:numRef>
          </c:yVal>
          <c:smooth val="0"/>
        </c:ser>
        <c:ser>
          <c:idx val="4"/>
          <c:order val="4"/>
          <c:tx>
            <c:v>Pp hulplijn</c:v>
          </c:tx>
          <c:spPr>
            <a:ln xmlns:a="http://schemas.openxmlformats.org/drawingml/2006/main" w="13335">
              <a:solidFill>
                <a:srgbClr val="445B6B"/>
              </a:solidFill>
            </a:ln>
          </c:spPr>
          <c:marker>
            <c:symbol val="none"/>
          </c:marker>
          <c:xVal>
            <c:numRef>
              <c:f>'Chart Data'!$I$2:$I$3</c:f>
              <c:numCache>
                <c:formatCode>General</c:formatCode>
                <c:ptCount val="2"/>
                <c:pt idx="0">
                  <c:v>0</c:v>
                </c:pt>
                <c:pt idx="1">
                  <c:v>100</c:v>
                </c:pt>
              </c:numCache>
            </c:numRef>
          </c:xVal>
          <c:yVal>
            <c:numRef>
              <c:f>'Chart Data'!$J$2:$J$3</c:f>
              <c:numCache>
                <c:formatCode>0</c:formatCode>
                <c:ptCount val="2"/>
                <c:pt idx="0">
                  <c:v>18</c:v>
                </c:pt>
                <c:pt idx="1">
                  <c:v>18</c:v>
                </c:pt>
              </c:numCache>
            </c:numRef>
          </c:yVal>
          <c:smooth val="0"/>
        </c:ser>
        <c:ser>
          <c:idx val="5"/>
          <c:order val="5"/>
          <c:tx>
            <c:v>Subsidiewig</c:v>
          </c:tx>
          <c:spPr>
            <a:ln xmlns:a="http://schemas.openxmlformats.org/drawingml/2006/main" w="47625">
              <a:solidFill>
                <a:srgbClr val="A94D16"/>
              </a:solidFill>
            </a:ln>
          </c:spPr>
          <c:marker>
            <c:symbol val="none"/>
          </c:marker>
          <c:xVal>
            <c:numRef>
              <c:f>'Chart Data'!$K$2:$K$3</c:f>
              <c:numCache>
                <c:formatCode>General</c:formatCode>
                <c:ptCount val="2"/>
                <c:pt idx="0">
                  <c:v>100</c:v>
                </c:pt>
                <c:pt idx="1">
                  <c:v>100</c:v>
                </c:pt>
              </c:numCache>
            </c:numRef>
          </c:xVal>
          <c:yVal>
            <c:numRef>
              <c:f>'Chart Data'!$L$2:$L$3</c:f>
              <c:numCache>
                <c:formatCode>0</c:formatCode>
                <c:ptCount val="2"/>
                <c:pt idx="0">
                  <c:v>12</c:v>
                </c:pt>
                <c:pt idx="1">
                  <c:v>18</c:v>
                </c:pt>
              </c:numCache>
            </c:numRef>
          </c:yVal>
          <c:smooth val="0"/>
        </c:ser>
        <c:ser>
          <c:idx val="6"/>
          <c:order val="6"/>
          <c:tx>
            <c:v>Pc</c:v>
          </c:tx>
          <c:spPr>
            <a:ln xmlns:a="http://schemas.openxmlformats.org/drawingml/2006/main" w="0">
              <a:solidFill>
                <a:srgbClr val="17658A"/>
              </a:solidFill>
            </a:ln>
          </c:spPr>
          <c:marker>
            <c:symbol val="circle"/>
            <c:size val="9"/>
            <c:spPr>
              <a:solidFill xmlns:a="http://schemas.openxmlformats.org/drawingml/2006/main">
                <a:srgbClr val="17658A"/>
              </a:solidFill>
            </c:spPr>
          </c:marker>
          <c:xVal>
            <c:numRef>
              <c:f>'Chart Data'!$M$2:$M$2</c:f>
              <c:numCache>
                <c:formatCode>General</c:formatCode>
                <c:ptCount val="1"/>
                <c:pt idx="0">
                  <c:v>100</c:v>
                </c:pt>
              </c:numCache>
            </c:numRef>
          </c:xVal>
          <c:yVal>
            <c:numRef>
              <c:f>'Chart Data'!$N$2:$N$2</c:f>
              <c:numCache>
                <c:formatCode>0</c:formatCode>
                <c:ptCount val="1"/>
                <c:pt idx="0">
                  <c:v>12</c:v>
                </c:pt>
              </c:numCache>
            </c:numRef>
          </c:yVal>
          <c:smooth val="0"/>
        </c:ser>
        <c:ser>
          <c:idx val="7"/>
          <c:order val="7"/>
          <c:tx>
            <c:v>Pp</c:v>
          </c:tx>
          <c:spPr>
            <a:ln xmlns:a="http://schemas.openxmlformats.org/drawingml/2006/main" w="0">
              <a:solidFill>
                <a:srgbClr val="20665B"/>
              </a:solidFill>
            </a:ln>
          </c:spPr>
          <c:marker>
            <c:symbol val="circle"/>
            <c:size val="9"/>
            <c:spPr>
              <a:solidFill xmlns:a="http://schemas.openxmlformats.org/drawingml/2006/main">
                <a:srgbClr val="20665B"/>
              </a:solidFill>
            </c:spPr>
          </c:marker>
          <c:xVal>
            <c:numRef>
              <c:f>'Chart Data'!$O$2:$O$2</c:f>
              <c:numCache>
                <c:formatCode>General</c:formatCode>
                <c:ptCount val="1"/>
                <c:pt idx="0">
                  <c:v>100</c:v>
                </c:pt>
              </c:numCache>
            </c:numRef>
          </c:xVal>
          <c:yVal>
            <c:numRef>
              <c:f>'Chart Data'!$P$2:$P$2</c:f>
              <c:numCache>
                <c:formatCode>0</c:formatCode>
                <c:ptCount val="1"/>
                <c:pt idx="0">
                  <c:v>18</c:v>
                </c:pt>
              </c:numCache>
            </c:numRef>
          </c:yVal>
          <c:smooth val="0"/>
        </c:ser>
        <c:ser>
          <c:idx val="8"/>
          <c:order val="8"/>
          <c:tx>
            <c:v>Pp annotation</c:v>
          </c:tx>
          <c:spPr>
            <a:ln xmlns:a="http://schemas.openxmlformats.org/drawingml/2006/main" w="0">
              <a:solidFill>
                <a:srgbClr val="20665B"/>
              </a:solid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20665B"/>
                        </a:solidFill>
                        <a:latin typeface="Arial"/>
                        <a:ea typeface="Arial"/>
                        <a:cs typeface="Arial"/>
                      </a:rPr>
                      <a:t>Pp = 18</a:t>
                    </a:r>
                  </a:p>
                </c:rich>
              </c:tx>
              <c:txPr>
                <a:bodyPr xmlns:a="http://schemas.openxmlformats.org/drawingml/2006/main" anchorCtr="1"/>
                <a:lstStyle xmlns:a="http://schemas.openxmlformats.org/drawingml/2006/main"/>
                <a:p xmlns:a="http://schemas.openxmlformats.org/drawingml/2006/main">
                  <a:pPr>
                    <a:defRPr sz="1950" b="1">
                      <a:solidFill>
                        <a:srgbClr val="20665B"/>
                      </a:solidFill>
                      <a:latin typeface="Arial"/>
                      <a:ea typeface="Arial"/>
                      <a:cs typeface="Arial"/>
                    </a:defRPr>
                  </a:pPr>
                </a:p>
              </c:txPr>
              <c:dLblPos val="r"/>
              <c:showLegendKey val="0"/>
              <c:showVal val="0"/>
              <c:showCatName val="0"/>
              <c:showSerName val="0"/>
              <c:showPercent val="0"/>
              <c:showBubbleSize val="0"/>
            </c:dLbl>
            <c:showLegendKey val="0"/>
            <c:showVal val="0"/>
            <c:showCatName val="0"/>
            <c:showSerName val="0"/>
            <c:showPercent val="0"/>
            <c:showBubbleSize val="0"/>
            <c:showLeaderLines val="0"/>
          </c:dLbls>
          <c:xVal>
            <c:numRef>
              <c:f>'Chart Data'!$Q$2:$Q$2</c:f>
              <c:numCache>
                <c:formatCode>General</c:formatCode>
                <c:ptCount val="1"/>
                <c:pt idx="0">
                  <c:v>100</c:v>
                </c:pt>
              </c:numCache>
            </c:numRef>
          </c:xVal>
          <c:yVal>
            <c:numRef>
              <c:f>'Chart Data'!$R$2:$R$2</c:f>
              <c:numCache>
                <c:formatCode>0</c:formatCode>
                <c:ptCount val="1"/>
                <c:pt idx="0">
                  <c:v>21</c:v>
                </c:pt>
              </c:numCache>
            </c:numRef>
          </c:yVal>
          <c:smooth val="0"/>
        </c:ser>
        <c:ser>
          <c:idx val="9"/>
          <c:order val="9"/>
          <c:tx>
            <c:v>Pc annotation</c:v>
          </c:tx>
          <c:spPr>
            <a:ln xmlns:a="http://schemas.openxmlformats.org/drawingml/2006/main" w="0">
              <a:solidFill>
                <a:srgbClr val="17658A"/>
              </a:solid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17658A"/>
                        </a:solidFill>
                        <a:latin typeface="Arial"/>
                        <a:ea typeface="Arial"/>
                        <a:cs typeface="Arial"/>
                      </a:rPr>
                      <a:t>Pc = 12</a:t>
                    </a:r>
                  </a:p>
                </c:rich>
              </c:tx>
              <c:txPr>
                <a:bodyPr xmlns:a="http://schemas.openxmlformats.org/drawingml/2006/main" anchorCtr="1"/>
                <a:lstStyle xmlns:a="http://schemas.openxmlformats.org/drawingml/2006/main"/>
                <a:p xmlns:a="http://schemas.openxmlformats.org/drawingml/2006/main">
                  <a:pPr>
                    <a:defRPr sz="1950" b="1">
                      <a:solidFill>
                        <a:srgbClr val="17658A"/>
                      </a:solidFill>
                      <a:latin typeface="Arial"/>
                      <a:ea typeface="Arial"/>
                      <a:cs typeface="Arial"/>
                    </a:defRPr>
                  </a:pPr>
                </a:p>
              </c:txPr>
              <c:dLblPos val="r"/>
              <c:showLegendKey val="0"/>
              <c:showVal val="0"/>
              <c:showCatName val="0"/>
              <c:showSerName val="0"/>
              <c:showPercent val="0"/>
              <c:showBubbleSize val="0"/>
            </c:dLbl>
            <c:showLegendKey val="0"/>
            <c:showVal val="0"/>
            <c:showCatName val="0"/>
            <c:showSerName val="0"/>
            <c:showPercent val="0"/>
            <c:showBubbleSize val="0"/>
            <c:showLeaderLines val="0"/>
          </c:dLbls>
          <c:xVal>
            <c:numRef>
              <c:f>'Chart Data'!$S$2:$S$2</c:f>
              <c:numCache>
                <c:formatCode>General</c:formatCode>
                <c:ptCount val="1"/>
                <c:pt idx="0">
                  <c:v>120</c:v>
                </c:pt>
              </c:numCache>
            </c:numRef>
          </c:xVal>
          <c:yVal>
            <c:numRef>
              <c:f>'Chart Data'!$T$2:$T$2</c:f>
              <c:numCache>
                <c:formatCode>0</c:formatCode>
                <c:ptCount val="1"/>
                <c:pt idx="0">
                  <c:v>12</c:v>
                </c:pt>
              </c:numCache>
            </c:numRef>
          </c:yVal>
          <c:smooth val="0"/>
        </c:ser>
        <c:dLbls>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36"/>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P (€ per controle)</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6"/>
      </c:valAx>
      <c:valAx>
        <c:axId val="48650112"/>
        <c:scaling>
          <c:orientation val="minMax"/>
          <c:max val="160"/>
          <c:min val="0"/>
        </c:scaling>
        <c:delete val="0"/>
        <c:axPos val="b"/>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Q (controles per week)</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Marker"/>
        <c:ser>
          <c:idx val="0"/>
          <c:order val="0"/>
          <c:tx>
            <c:v>U</c:v>
          </c:tx>
          <c:spPr>
            <a:ln xmlns:a="http://schemas.openxmlformats.org/drawingml/2006/main" w="11430">
              <a:solidFill>
                <a:srgbClr val="DBC8B8"/>
              </a:solidFill>
            </a:ln>
          </c:spPr>
          <c:marker>
            <c:symbol val="none"/>
          </c:marker>
          <c:xVal>
            <c:numRef>
              <c:f>'Chart Data'!$A$2:$A$133</c:f>
              <c:numCache>
                <c:formatCode>General</c:formatCode>
                <c:ptCount val="132"/>
                <c:pt idx="0">
                  <c:v>0</c:v>
                </c:pt>
                <c:pt idx="1">
                  <c:v>0</c:v>
                </c:pt>
                <c:pt idx="2">
                  <c:v>1.538461538</c:v>
                </c:pt>
                <c:pt idx="3">
                  <c:v>1.538461538</c:v>
                </c:pt>
                <c:pt idx="4">
                  <c:v>3.076923077</c:v>
                </c:pt>
                <c:pt idx="5">
                  <c:v>3.076923077</c:v>
                </c:pt>
                <c:pt idx="6">
                  <c:v>4.615384615</c:v>
                </c:pt>
                <c:pt idx="7">
                  <c:v>4.615384615</c:v>
                </c:pt>
                <c:pt idx="8">
                  <c:v>6.153846154</c:v>
                </c:pt>
                <c:pt idx="9">
                  <c:v>6.153846154</c:v>
                </c:pt>
                <c:pt idx="10">
                  <c:v>7.692307692</c:v>
                </c:pt>
                <c:pt idx="11">
                  <c:v>7.692307692</c:v>
                </c:pt>
                <c:pt idx="12">
                  <c:v>9.230769231</c:v>
                </c:pt>
                <c:pt idx="13">
                  <c:v>9.230769231</c:v>
                </c:pt>
                <c:pt idx="14">
                  <c:v>10.769230769</c:v>
                </c:pt>
                <c:pt idx="15">
                  <c:v>10.769230769</c:v>
                </c:pt>
                <c:pt idx="16">
                  <c:v>12.307692308</c:v>
                </c:pt>
                <c:pt idx="17">
                  <c:v>12.307692308</c:v>
                </c:pt>
                <c:pt idx="18">
                  <c:v>13.846153846</c:v>
                </c:pt>
                <c:pt idx="19">
                  <c:v>13.846153846</c:v>
                </c:pt>
                <c:pt idx="20">
                  <c:v>15.384615385</c:v>
                </c:pt>
                <c:pt idx="21">
                  <c:v>15.384615385</c:v>
                </c:pt>
                <c:pt idx="22">
                  <c:v>16.923076923</c:v>
                </c:pt>
                <c:pt idx="23">
                  <c:v>16.923076923</c:v>
                </c:pt>
                <c:pt idx="24">
                  <c:v>18.461538462</c:v>
                </c:pt>
                <c:pt idx="25">
                  <c:v>18.461538462</c:v>
                </c:pt>
                <c:pt idx="26">
                  <c:v>20</c:v>
                </c:pt>
                <c:pt idx="27">
                  <c:v>20</c:v>
                </c:pt>
                <c:pt idx="28">
                  <c:v>21.538461538</c:v>
                </c:pt>
                <c:pt idx="29">
                  <c:v>21.538461538</c:v>
                </c:pt>
                <c:pt idx="30">
                  <c:v>23.076923077</c:v>
                </c:pt>
                <c:pt idx="31">
                  <c:v>23.076923077</c:v>
                </c:pt>
                <c:pt idx="32">
                  <c:v>24.615384615</c:v>
                </c:pt>
                <c:pt idx="33">
                  <c:v>24.615384615</c:v>
                </c:pt>
                <c:pt idx="34">
                  <c:v>26.153846154</c:v>
                </c:pt>
                <c:pt idx="35">
                  <c:v>26.153846154</c:v>
                </c:pt>
                <c:pt idx="36">
                  <c:v>27.692307692</c:v>
                </c:pt>
                <c:pt idx="37">
                  <c:v>27.692307692</c:v>
                </c:pt>
                <c:pt idx="38">
                  <c:v>29.230769231</c:v>
                </c:pt>
                <c:pt idx="39">
                  <c:v>29.230769231</c:v>
                </c:pt>
                <c:pt idx="40">
                  <c:v>30.769230769</c:v>
                </c:pt>
                <c:pt idx="41">
                  <c:v>30.769230769</c:v>
                </c:pt>
                <c:pt idx="42">
                  <c:v>32.307692308</c:v>
                </c:pt>
                <c:pt idx="43">
                  <c:v>32.307692308</c:v>
                </c:pt>
                <c:pt idx="44">
                  <c:v>33.846153846</c:v>
                </c:pt>
                <c:pt idx="45">
                  <c:v>33.846153846</c:v>
                </c:pt>
                <c:pt idx="46">
                  <c:v>35.384615385</c:v>
                </c:pt>
                <c:pt idx="47">
                  <c:v>35.384615385</c:v>
                </c:pt>
                <c:pt idx="48">
                  <c:v>36.923076923</c:v>
                </c:pt>
                <c:pt idx="49">
                  <c:v>36.923076923</c:v>
                </c:pt>
                <c:pt idx="50">
                  <c:v>38.461538462</c:v>
                </c:pt>
                <c:pt idx="51">
                  <c:v>38.461538462</c:v>
                </c:pt>
                <c:pt idx="52">
                  <c:v>40</c:v>
                </c:pt>
                <c:pt idx="53">
                  <c:v>40</c:v>
                </c:pt>
                <c:pt idx="54">
                  <c:v>41.538461538</c:v>
                </c:pt>
                <c:pt idx="55">
                  <c:v>41.538461538</c:v>
                </c:pt>
                <c:pt idx="56">
                  <c:v>43.076923077</c:v>
                </c:pt>
                <c:pt idx="57">
                  <c:v>43.076923077</c:v>
                </c:pt>
                <c:pt idx="58">
                  <c:v>44.615384615</c:v>
                </c:pt>
                <c:pt idx="59">
                  <c:v>44.615384615</c:v>
                </c:pt>
                <c:pt idx="60">
                  <c:v>46.153846154</c:v>
                </c:pt>
                <c:pt idx="61">
                  <c:v>46.153846154</c:v>
                </c:pt>
                <c:pt idx="62">
                  <c:v>47.692307692</c:v>
                </c:pt>
                <c:pt idx="63">
                  <c:v>47.692307692</c:v>
                </c:pt>
                <c:pt idx="64">
                  <c:v>49.230769231</c:v>
                </c:pt>
                <c:pt idx="65">
                  <c:v>49.230769231</c:v>
                </c:pt>
                <c:pt idx="66">
                  <c:v>50.769230769</c:v>
                </c:pt>
                <c:pt idx="67">
                  <c:v>50.769230769</c:v>
                </c:pt>
                <c:pt idx="68">
                  <c:v>52.307692308</c:v>
                </c:pt>
                <c:pt idx="69">
                  <c:v>52.307692308</c:v>
                </c:pt>
                <c:pt idx="70">
                  <c:v>53.846153846</c:v>
                </c:pt>
                <c:pt idx="71">
                  <c:v>53.846153846</c:v>
                </c:pt>
                <c:pt idx="72">
                  <c:v>55.384615385</c:v>
                </c:pt>
                <c:pt idx="73">
                  <c:v>55.384615385</c:v>
                </c:pt>
                <c:pt idx="74">
                  <c:v>56.923076923</c:v>
                </c:pt>
                <c:pt idx="75">
                  <c:v>56.923076923</c:v>
                </c:pt>
                <c:pt idx="76">
                  <c:v>58.461538462</c:v>
                </c:pt>
                <c:pt idx="77">
                  <c:v>58.461538462</c:v>
                </c:pt>
                <c:pt idx="78">
                  <c:v>60</c:v>
                </c:pt>
                <c:pt idx="79">
                  <c:v>60</c:v>
                </c:pt>
                <c:pt idx="80">
                  <c:v>61.538461538</c:v>
                </c:pt>
                <c:pt idx="81">
                  <c:v>61.538461538</c:v>
                </c:pt>
                <c:pt idx="82">
                  <c:v>63.076923077</c:v>
                </c:pt>
                <c:pt idx="83">
                  <c:v>63.076923077</c:v>
                </c:pt>
                <c:pt idx="84">
                  <c:v>64.615384615</c:v>
                </c:pt>
                <c:pt idx="85">
                  <c:v>64.615384615</c:v>
                </c:pt>
                <c:pt idx="86">
                  <c:v>66.153846154</c:v>
                </c:pt>
                <c:pt idx="87">
                  <c:v>66.153846154</c:v>
                </c:pt>
                <c:pt idx="88">
                  <c:v>67.692307692</c:v>
                </c:pt>
                <c:pt idx="89">
                  <c:v>67.692307692</c:v>
                </c:pt>
                <c:pt idx="90">
                  <c:v>69.230769231</c:v>
                </c:pt>
                <c:pt idx="91">
                  <c:v>69.230769231</c:v>
                </c:pt>
                <c:pt idx="92">
                  <c:v>70.769230769</c:v>
                </c:pt>
                <c:pt idx="93">
                  <c:v>70.769230769</c:v>
                </c:pt>
                <c:pt idx="94">
                  <c:v>72.307692308</c:v>
                </c:pt>
                <c:pt idx="95">
                  <c:v>72.307692308</c:v>
                </c:pt>
                <c:pt idx="96">
                  <c:v>73.846153846</c:v>
                </c:pt>
                <c:pt idx="97">
                  <c:v>73.846153846</c:v>
                </c:pt>
                <c:pt idx="98">
                  <c:v>75.384615385</c:v>
                </c:pt>
                <c:pt idx="99">
                  <c:v>75.384615385</c:v>
                </c:pt>
                <c:pt idx="100">
                  <c:v>76.923076923</c:v>
                </c:pt>
                <c:pt idx="101">
                  <c:v>76.923076923</c:v>
                </c:pt>
                <c:pt idx="102">
                  <c:v>78.461538462</c:v>
                </c:pt>
                <c:pt idx="103">
                  <c:v>78.461538462</c:v>
                </c:pt>
                <c:pt idx="104">
                  <c:v>80</c:v>
                </c:pt>
                <c:pt idx="105">
                  <c:v>80</c:v>
                </c:pt>
                <c:pt idx="106">
                  <c:v>81.538461538</c:v>
                </c:pt>
                <c:pt idx="107">
                  <c:v>81.538461538</c:v>
                </c:pt>
                <c:pt idx="108">
                  <c:v>83.076923077</c:v>
                </c:pt>
                <c:pt idx="109">
                  <c:v>83.076923077</c:v>
                </c:pt>
                <c:pt idx="110">
                  <c:v>84.615384615</c:v>
                </c:pt>
                <c:pt idx="111">
                  <c:v>84.615384615</c:v>
                </c:pt>
                <c:pt idx="112">
                  <c:v>86.153846154</c:v>
                </c:pt>
                <c:pt idx="113">
                  <c:v>86.153846154</c:v>
                </c:pt>
                <c:pt idx="114">
                  <c:v>87.692307692</c:v>
                </c:pt>
                <c:pt idx="115">
                  <c:v>87.692307692</c:v>
                </c:pt>
                <c:pt idx="116">
                  <c:v>89.230769231</c:v>
                </c:pt>
                <c:pt idx="117">
                  <c:v>89.230769231</c:v>
                </c:pt>
                <c:pt idx="118">
                  <c:v>90.769230769</c:v>
                </c:pt>
                <c:pt idx="119">
                  <c:v>90.769230769</c:v>
                </c:pt>
                <c:pt idx="120">
                  <c:v>92.307692308</c:v>
                </c:pt>
                <c:pt idx="121">
                  <c:v>92.307692308</c:v>
                </c:pt>
                <c:pt idx="122">
                  <c:v>93.846153846</c:v>
                </c:pt>
                <c:pt idx="123">
                  <c:v>93.846153846</c:v>
                </c:pt>
                <c:pt idx="124">
                  <c:v>95.384615385</c:v>
                </c:pt>
                <c:pt idx="125">
                  <c:v>95.384615385</c:v>
                </c:pt>
                <c:pt idx="126">
                  <c:v>96.923076923</c:v>
                </c:pt>
                <c:pt idx="127">
                  <c:v>96.923076923</c:v>
                </c:pt>
                <c:pt idx="128">
                  <c:v>98.461538462</c:v>
                </c:pt>
                <c:pt idx="129">
                  <c:v>98.461538462</c:v>
                </c:pt>
                <c:pt idx="130">
                  <c:v>100</c:v>
                </c:pt>
                <c:pt idx="131">
                  <c:v>100</c:v>
                </c:pt>
              </c:numCache>
            </c:numRef>
          </c:xVal>
          <c:yVal>
            <c:numRef>
              <c:f>'Chart Data'!$B$2:$B$133</c:f>
              <c:numCache>
                <c:formatCode>0</c:formatCode>
                <c:ptCount val="132"/>
                <c:pt idx="0">
                  <c:v>12</c:v>
                </c:pt>
                <c:pt idx="1">
                  <c:v>18</c:v>
                </c:pt>
                <c:pt idx="2">
                  <c:v>18</c:v>
                </c:pt>
                <c:pt idx="3">
                  <c:v>12</c:v>
                </c:pt>
                <c:pt idx="4">
                  <c:v>12</c:v>
                </c:pt>
                <c:pt idx="5">
                  <c:v>18</c:v>
                </c:pt>
                <c:pt idx="6">
                  <c:v>18</c:v>
                </c:pt>
                <c:pt idx="7">
                  <c:v>12</c:v>
                </c:pt>
                <c:pt idx="8">
                  <c:v>12</c:v>
                </c:pt>
                <c:pt idx="9">
                  <c:v>18</c:v>
                </c:pt>
                <c:pt idx="10">
                  <c:v>18</c:v>
                </c:pt>
                <c:pt idx="11">
                  <c:v>12</c:v>
                </c:pt>
                <c:pt idx="12">
                  <c:v>12</c:v>
                </c:pt>
                <c:pt idx="13">
                  <c:v>18</c:v>
                </c:pt>
                <c:pt idx="14">
                  <c:v>18</c:v>
                </c:pt>
                <c:pt idx="15">
                  <c:v>12</c:v>
                </c:pt>
                <c:pt idx="16">
                  <c:v>12</c:v>
                </c:pt>
                <c:pt idx="17">
                  <c:v>18</c:v>
                </c:pt>
                <c:pt idx="18">
                  <c:v>18</c:v>
                </c:pt>
                <c:pt idx="19">
                  <c:v>12</c:v>
                </c:pt>
                <c:pt idx="20">
                  <c:v>12</c:v>
                </c:pt>
                <c:pt idx="21">
                  <c:v>18</c:v>
                </c:pt>
                <c:pt idx="22">
                  <c:v>18</c:v>
                </c:pt>
                <c:pt idx="23">
                  <c:v>12</c:v>
                </c:pt>
                <c:pt idx="24">
                  <c:v>12</c:v>
                </c:pt>
                <c:pt idx="25">
                  <c:v>18</c:v>
                </c:pt>
                <c:pt idx="26">
                  <c:v>18</c:v>
                </c:pt>
                <c:pt idx="27">
                  <c:v>12</c:v>
                </c:pt>
                <c:pt idx="28">
                  <c:v>12</c:v>
                </c:pt>
                <c:pt idx="29">
                  <c:v>18</c:v>
                </c:pt>
                <c:pt idx="30">
                  <c:v>18</c:v>
                </c:pt>
                <c:pt idx="31">
                  <c:v>12</c:v>
                </c:pt>
                <c:pt idx="32">
                  <c:v>12</c:v>
                </c:pt>
                <c:pt idx="33">
                  <c:v>18</c:v>
                </c:pt>
                <c:pt idx="34">
                  <c:v>18</c:v>
                </c:pt>
                <c:pt idx="35">
                  <c:v>12</c:v>
                </c:pt>
                <c:pt idx="36">
                  <c:v>12</c:v>
                </c:pt>
                <c:pt idx="37">
                  <c:v>18</c:v>
                </c:pt>
                <c:pt idx="38">
                  <c:v>18</c:v>
                </c:pt>
                <c:pt idx="39">
                  <c:v>12</c:v>
                </c:pt>
                <c:pt idx="40">
                  <c:v>12</c:v>
                </c:pt>
                <c:pt idx="41">
                  <c:v>18</c:v>
                </c:pt>
                <c:pt idx="42">
                  <c:v>18</c:v>
                </c:pt>
                <c:pt idx="43">
                  <c:v>12</c:v>
                </c:pt>
                <c:pt idx="44">
                  <c:v>12</c:v>
                </c:pt>
                <c:pt idx="45">
                  <c:v>18</c:v>
                </c:pt>
                <c:pt idx="46">
                  <c:v>18</c:v>
                </c:pt>
                <c:pt idx="47">
                  <c:v>12</c:v>
                </c:pt>
                <c:pt idx="48">
                  <c:v>12</c:v>
                </c:pt>
                <c:pt idx="49">
                  <c:v>18</c:v>
                </c:pt>
                <c:pt idx="50">
                  <c:v>18</c:v>
                </c:pt>
                <c:pt idx="51">
                  <c:v>12</c:v>
                </c:pt>
                <c:pt idx="52">
                  <c:v>12</c:v>
                </c:pt>
                <c:pt idx="53">
                  <c:v>18</c:v>
                </c:pt>
                <c:pt idx="54">
                  <c:v>18</c:v>
                </c:pt>
                <c:pt idx="55">
                  <c:v>12</c:v>
                </c:pt>
                <c:pt idx="56">
                  <c:v>12</c:v>
                </c:pt>
                <c:pt idx="57">
                  <c:v>18</c:v>
                </c:pt>
                <c:pt idx="58">
                  <c:v>18</c:v>
                </c:pt>
                <c:pt idx="59">
                  <c:v>12</c:v>
                </c:pt>
                <c:pt idx="60">
                  <c:v>12</c:v>
                </c:pt>
                <c:pt idx="61">
                  <c:v>18</c:v>
                </c:pt>
                <c:pt idx="62">
                  <c:v>18</c:v>
                </c:pt>
                <c:pt idx="63">
                  <c:v>12</c:v>
                </c:pt>
                <c:pt idx="64">
                  <c:v>12</c:v>
                </c:pt>
                <c:pt idx="65">
                  <c:v>18</c:v>
                </c:pt>
                <c:pt idx="66">
                  <c:v>18</c:v>
                </c:pt>
                <c:pt idx="67">
                  <c:v>12</c:v>
                </c:pt>
                <c:pt idx="68">
                  <c:v>12</c:v>
                </c:pt>
                <c:pt idx="69">
                  <c:v>18</c:v>
                </c:pt>
                <c:pt idx="70">
                  <c:v>18</c:v>
                </c:pt>
                <c:pt idx="71">
                  <c:v>12</c:v>
                </c:pt>
                <c:pt idx="72">
                  <c:v>12</c:v>
                </c:pt>
                <c:pt idx="73">
                  <c:v>18</c:v>
                </c:pt>
                <c:pt idx="74">
                  <c:v>18</c:v>
                </c:pt>
                <c:pt idx="75">
                  <c:v>12</c:v>
                </c:pt>
                <c:pt idx="76">
                  <c:v>12</c:v>
                </c:pt>
                <c:pt idx="77">
                  <c:v>18</c:v>
                </c:pt>
                <c:pt idx="78">
                  <c:v>18</c:v>
                </c:pt>
                <c:pt idx="79">
                  <c:v>12</c:v>
                </c:pt>
                <c:pt idx="80">
                  <c:v>12</c:v>
                </c:pt>
                <c:pt idx="81">
                  <c:v>18</c:v>
                </c:pt>
                <c:pt idx="82">
                  <c:v>18</c:v>
                </c:pt>
                <c:pt idx="83">
                  <c:v>12</c:v>
                </c:pt>
                <c:pt idx="84">
                  <c:v>12</c:v>
                </c:pt>
                <c:pt idx="85">
                  <c:v>18</c:v>
                </c:pt>
                <c:pt idx="86">
                  <c:v>18</c:v>
                </c:pt>
                <c:pt idx="87">
                  <c:v>12</c:v>
                </c:pt>
                <c:pt idx="88">
                  <c:v>12</c:v>
                </c:pt>
                <c:pt idx="89">
                  <c:v>18</c:v>
                </c:pt>
                <c:pt idx="90">
                  <c:v>18</c:v>
                </c:pt>
                <c:pt idx="91">
                  <c:v>12</c:v>
                </c:pt>
                <c:pt idx="92">
                  <c:v>12</c:v>
                </c:pt>
                <c:pt idx="93">
                  <c:v>18</c:v>
                </c:pt>
                <c:pt idx="94">
                  <c:v>18</c:v>
                </c:pt>
                <c:pt idx="95">
                  <c:v>12</c:v>
                </c:pt>
                <c:pt idx="96">
                  <c:v>12</c:v>
                </c:pt>
                <c:pt idx="97">
                  <c:v>18</c:v>
                </c:pt>
                <c:pt idx="98">
                  <c:v>18</c:v>
                </c:pt>
                <c:pt idx="99">
                  <c:v>12</c:v>
                </c:pt>
                <c:pt idx="100">
                  <c:v>12</c:v>
                </c:pt>
                <c:pt idx="101">
                  <c:v>18</c:v>
                </c:pt>
                <c:pt idx="102">
                  <c:v>18</c:v>
                </c:pt>
                <c:pt idx="103">
                  <c:v>12</c:v>
                </c:pt>
                <c:pt idx="104">
                  <c:v>12</c:v>
                </c:pt>
                <c:pt idx="105">
                  <c:v>18</c:v>
                </c:pt>
                <c:pt idx="106">
                  <c:v>18</c:v>
                </c:pt>
                <c:pt idx="107">
                  <c:v>12</c:v>
                </c:pt>
                <c:pt idx="108">
                  <c:v>12</c:v>
                </c:pt>
                <c:pt idx="109">
                  <c:v>18</c:v>
                </c:pt>
                <c:pt idx="110">
                  <c:v>18</c:v>
                </c:pt>
                <c:pt idx="111">
                  <c:v>12</c:v>
                </c:pt>
                <c:pt idx="112">
                  <c:v>12</c:v>
                </c:pt>
                <c:pt idx="113">
                  <c:v>18</c:v>
                </c:pt>
                <c:pt idx="114">
                  <c:v>18</c:v>
                </c:pt>
                <c:pt idx="115">
                  <c:v>12</c:v>
                </c:pt>
                <c:pt idx="116">
                  <c:v>12</c:v>
                </c:pt>
                <c:pt idx="117">
                  <c:v>18</c:v>
                </c:pt>
                <c:pt idx="118">
                  <c:v>18</c:v>
                </c:pt>
                <c:pt idx="119">
                  <c:v>12</c:v>
                </c:pt>
                <c:pt idx="120">
                  <c:v>12</c:v>
                </c:pt>
                <c:pt idx="121">
                  <c:v>18</c:v>
                </c:pt>
                <c:pt idx="122">
                  <c:v>18</c:v>
                </c:pt>
                <c:pt idx="123">
                  <c:v>12</c:v>
                </c:pt>
                <c:pt idx="124">
                  <c:v>12</c:v>
                </c:pt>
                <c:pt idx="125">
                  <c:v>18</c:v>
                </c:pt>
                <c:pt idx="126">
                  <c:v>18</c:v>
                </c:pt>
                <c:pt idx="127">
                  <c:v>12</c:v>
                </c:pt>
                <c:pt idx="128">
                  <c:v>12</c:v>
                </c:pt>
                <c:pt idx="129">
                  <c:v>18</c:v>
                </c:pt>
                <c:pt idx="130">
                  <c:v>18</c:v>
                </c:pt>
                <c:pt idx="131">
                  <c:v>12</c:v>
                </c:pt>
              </c:numCache>
            </c:numRef>
          </c:yVal>
          <c:smooth val="0"/>
        </c:ser>
        <c:ser>
          <c:idx val="1"/>
          <c:order val="1"/>
          <c:tx>
            <c:v>V</c:v>
          </c:tx>
          <c:spPr>
            <a:ln xmlns:a="http://schemas.openxmlformats.org/drawingml/2006/main" w="38100">
              <a:solidFill>
                <a:srgbClr val="17658A"/>
              </a:solidFill>
            </a:ln>
          </c:spPr>
          <c:marker>
            <c:symbol val="none"/>
          </c:marker>
          <c:dLbls>
            <c:dLbl>
              <c:idx val="1"/>
              <c:tx>
                <c:rich>
                  <a:bodyPr xmlns:a="http://schemas.openxmlformats.org/drawingml/2006/main"/>
                  <a:lstStyle xmlns:a="http://schemas.openxmlformats.org/drawingml/2006/main"/>
                  <a:p xmlns:a="http://schemas.openxmlformats.org/drawingml/2006/main">
                    <a:r>
                      <a:rPr sz="1950" b="1">
                        <a:solidFill>
                          <a:srgbClr val="17658A"/>
                        </a:solidFill>
                        <a:latin typeface="Arial"/>
                        <a:ea typeface="Arial"/>
                        <a:cs typeface="Arial"/>
                      </a:rPr>
                      <a:t>V</a:t>
                    </a:r>
                  </a:p>
                </c:rich>
              </c:tx>
              <c:txPr>
                <a:bodyPr xmlns:a="http://schemas.openxmlformats.org/drawingml/2006/main" anchorCtr="1"/>
                <a:lstStyle xmlns:a="http://schemas.openxmlformats.org/drawingml/2006/main"/>
                <a:p xmlns:a="http://schemas.openxmlformats.org/drawingml/2006/main">
                  <a:pPr>
                    <a:defRPr sz="1950" b="1">
                      <a:solidFill>
                        <a:srgbClr val="17658A"/>
                      </a:solidFill>
                      <a:latin typeface="Arial"/>
                      <a:ea typeface="Arial"/>
                      <a:cs typeface="Arial"/>
                    </a:defRPr>
                  </a:pPr>
                </a:p>
              </c:txPr>
              <c:dLblPos val="r"/>
              <c:showLegendKey val="0"/>
              <c:showVal val="0"/>
              <c:showCatName val="0"/>
              <c:showSerName val="0"/>
              <c:showPercent val="0"/>
              <c:showBubbleSize val="0"/>
            </c:dLbl>
            <c:showLegendKey val="0"/>
            <c:showVal val="0"/>
            <c:showCatName val="0"/>
            <c:showSerName val="0"/>
            <c:showPercent val="0"/>
            <c:showBubbleSize val="0"/>
            <c:showLeaderLines val="0"/>
          </c:dLbls>
          <c:xVal>
            <c:numRef>
              <c:f>'Chart Data'!$C$2:$C$3</c:f>
              <c:numCache>
                <c:formatCode>General</c:formatCode>
                <c:ptCount val="2"/>
                <c:pt idx="0">
                  <c:v>0</c:v>
                </c:pt>
                <c:pt idx="1">
                  <c:v>160</c:v>
                </c:pt>
              </c:numCache>
            </c:numRef>
          </c:xVal>
          <c:yVal>
            <c:numRef>
              <c:f>'Chart Data'!$D$2:$D$3</c:f>
              <c:numCache>
                <c:formatCode>0</c:formatCode>
                <c:ptCount val="2"/>
                <c:pt idx="0">
                  <c:v>32</c:v>
                </c:pt>
                <c:pt idx="1">
                  <c:v>0</c:v>
                </c:pt>
              </c:numCache>
            </c:numRef>
          </c:yVal>
          <c:smooth val="0"/>
        </c:ser>
        <c:ser>
          <c:idx val="2"/>
          <c:order val="2"/>
          <c:tx>
            <c:v>A</c:v>
          </c:tx>
          <c:spPr>
            <a:ln xmlns:a="http://schemas.openxmlformats.org/drawingml/2006/main" w="38100">
              <a:solidFill>
                <a:srgbClr val="20665B"/>
              </a:solidFill>
            </a:ln>
          </c:spPr>
          <c:marker>
            <c:symbol val="none"/>
          </c:marker>
          <c:dLbls>
            <c:dLbl>
              <c:idx val="1"/>
              <c:tx>
                <c:rich>
                  <a:bodyPr xmlns:a="http://schemas.openxmlformats.org/drawingml/2006/main"/>
                  <a:lstStyle xmlns:a="http://schemas.openxmlformats.org/drawingml/2006/main"/>
                  <a:p xmlns:a="http://schemas.openxmlformats.org/drawingml/2006/main">
                    <a:r>
                      <a:rPr sz="1950" b="1">
                        <a:solidFill>
                          <a:srgbClr val="20665B"/>
                        </a:solidFill>
                        <a:latin typeface="Arial"/>
                        <a:ea typeface="Arial"/>
                        <a:cs typeface="Arial"/>
                      </a:rPr>
                      <a:t>A</a:t>
                    </a:r>
                  </a:p>
                </c:rich>
              </c:tx>
              <c:txPr>
                <a:bodyPr xmlns:a="http://schemas.openxmlformats.org/drawingml/2006/main" anchorCtr="1"/>
                <a:lstStyle xmlns:a="http://schemas.openxmlformats.org/drawingml/2006/main"/>
                <a:p xmlns:a="http://schemas.openxmlformats.org/drawingml/2006/main">
                  <a:pPr>
                    <a:defRPr sz="1950" b="1">
                      <a:solidFill>
                        <a:srgbClr val="20665B"/>
                      </a:solidFill>
                      <a:latin typeface="Arial"/>
                      <a:ea typeface="Arial"/>
                      <a:cs typeface="Arial"/>
                    </a:defRPr>
                  </a:pPr>
                </a:p>
              </c:txPr>
              <c:dLblPos val="r"/>
              <c:showLegendKey val="0"/>
              <c:showVal val="0"/>
              <c:showCatName val="0"/>
              <c:showSerName val="0"/>
              <c:showPercent val="0"/>
              <c:showBubbleSize val="0"/>
            </c:dLbl>
            <c:showLegendKey val="0"/>
            <c:showVal val="0"/>
            <c:showCatName val="0"/>
            <c:showSerName val="0"/>
            <c:showPercent val="0"/>
            <c:showBubbleSize val="0"/>
            <c:showLeaderLines val="0"/>
          </c:dLbls>
          <c:xVal>
            <c:numRef>
              <c:f>'Chart Data'!$E$2:$E$3</c:f>
              <c:numCache>
                <c:formatCode>General</c:formatCode>
                <c:ptCount val="2"/>
                <c:pt idx="0">
                  <c:v>0</c:v>
                </c:pt>
                <c:pt idx="1">
                  <c:v>144</c:v>
                </c:pt>
              </c:numCache>
            </c:numRef>
          </c:xVal>
          <c:yVal>
            <c:numRef>
              <c:f>'Chart Data'!$F$2:$F$3</c:f>
              <c:numCache>
                <c:formatCode>0</c:formatCode>
                <c:ptCount val="2"/>
                <c:pt idx="0">
                  <c:v>8</c:v>
                </c:pt>
                <c:pt idx="1">
                  <c:v>22.4</c:v>
                </c:pt>
              </c:numCache>
            </c:numRef>
          </c:yVal>
          <c:smooth val="0"/>
        </c:ser>
        <c:ser>
          <c:idx val="3"/>
          <c:order val="3"/>
          <c:tx>
            <c:v>A − s</c:v>
          </c:tx>
          <c:spPr>
            <a:ln xmlns:a="http://schemas.openxmlformats.org/drawingml/2006/main" w="38100">
              <a:solidFill>
                <a:srgbClr val="A94D16"/>
              </a:solidFill>
            </a:ln>
          </c:spPr>
          <c:marker>
            <c:symbol val="none"/>
          </c:marker>
          <c:dLbls>
            <c:dLbl>
              <c:idx val="1"/>
              <c:tx>
                <c:rich>
                  <a:bodyPr xmlns:a="http://schemas.openxmlformats.org/drawingml/2006/main"/>
                  <a:lstStyle xmlns:a="http://schemas.openxmlformats.org/drawingml/2006/main"/>
                  <a:p xmlns:a="http://schemas.openxmlformats.org/drawingml/2006/main">
                    <a:r>
                      <a:rPr sz="1950" b="1">
                        <a:solidFill>
                          <a:srgbClr val="A94D16"/>
                        </a:solidFill>
                        <a:latin typeface="Arial"/>
                        <a:ea typeface="Arial"/>
                        <a:cs typeface="Arial"/>
                      </a:rPr>
                      <a:t>A − s</a:t>
                    </a:r>
                  </a:p>
                </c:rich>
              </c:tx>
              <c:txPr>
                <a:bodyPr xmlns:a="http://schemas.openxmlformats.org/drawingml/2006/main" anchorCtr="1"/>
                <a:lstStyle xmlns:a="http://schemas.openxmlformats.org/drawingml/2006/main"/>
                <a:p xmlns:a="http://schemas.openxmlformats.org/drawingml/2006/main">
                  <a:pPr>
                    <a:defRPr sz="1950" b="1">
                      <a:solidFill>
                        <a:srgbClr val="A94D16"/>
                      </a:solidFill>
                      <a:latin typeface="Arial"/>
                      <a:ea typeface="Arial"/>
                      <a:cs typeface="Arial"/>
                    </a:defRPr>
                  </a:pPr>
                </a:p>
              </c:txPr>
              <c:dLblPos val="r"/>
              <c:showLegendKey val="0"/>
              <c:showVal val="0"/>
              <c:showCatName val="0"/>
              <c:showSerName val="0"/>
              <c:showPercent val="0"/>
              <c:showBubbleSize val="0"/>
            </c:dLbl>
            <c:showLegendKey val="0"/>
            <c:showVal val="0"/>
            <c:showCatName val="0"/>
            <c:showSerName val="0"/>
            <c:showPercent val="0"/>
            <c:showBubbleSize val="0"/>
            <c:showLeaderLines val="0"/>
          </c:dLbls>
          <c:xVal>
            <c:numRef>
              <c:f>'Chart Data'!$G$2:$G$3</c:f>
              <c:numCache>
                <c:formatCode>General</c:formatCode>
                <c:ptCount val="2"/>
                <c:pt idx="0">
                  <c:v>0</c:v>
                </c:pt>
                <c:pt idx="1">
                  <c:v>144</c:v>
                </c:pt>
              </c:numCache>
            </c:numRef>
          </c:xVal>
          <c:yVal>
            <c:numRef>
              <c:f>'Chart Data'!$H$2:$H$3</c:f>
              <c:numCache>
                <c:formatCode>0</c:formatCode>
                <c:ptCount val="2"/>
                <c:pt idx="0">
                  <c:v>2</c:v>
                </c:pt>
                <c:pt idx="1">
                  <c:v>16.4</c:v>
                </c:pt>
              </c:numCache>
            </c:numRef>
          </c:yVal>
          <c:smooth val="0"/>
        </c:ser>
        <c:ser>
          <c:idx val="4"/>
          <c:order val="4"/>
          <c:tx>
            <c:v>Pc hulplijn</c:v>
          </c:tx>
          <c:spPr>
            <a:ln xmlns:a="http://schemas.openxmlformats.org/drawingml/2006/main" w="13335">
              <a:solidFill>
                <a:srgbClr val="445B6B"/>
              </a:solidFill>
            </a:ln>
          </c:spPr>
          <c:marker>
            <c:symbol val="none"/>
          </c:marker>
          <c:xVal>
            <c:numRef>
              <c:f>'Chart Data'!$I$2:$I$4</c:f>
              <c:numCache>
                <c:formatCode>General</c:formatCode>
                <c:ptCount val="3"/>
                <c:pt idx="0">
                  <c:v>0</c:v>
                </c:pt>
                <c:pt idx="1">
                  <c:v>100</c:v>
                </c:pt>
                <c:pt idx="2">
                  <c:v>100</c:v>
                </c:pt>
              </c:numCache>
            </c:numRef>
          </c:xVal>
          <c:yVal>
            <c:numRef>
              <c:f>'Chart Data'!$J$2:$J$4</c:f>
              <c:numCache>
                <c:formatCode>0</c:formatCode>
                <c:ptCount val="3"/>
                <c:pt idx="0">
                  <c:v>12</c:v>
                </c:pt>
                <c:pt idx="1">
                  <c:v>12</c:v>
                </c:pt>
                <c:pt idx="2">
                  <c:v>0</c:v>
                </c:pt>
              </c:numCache>
            </c:numRef>
          </c:yVal>
          <c:smooth val="0"/>
        </c:ser>
        <c:ser>
          <c:idx val="5"/>
          <c:order val="5"/>
          <c:tx>
            <c:v>Pp hulplijn</c:v>
          </c:tx>
          <c:spPr>
            <a:ln xmlns:a="http://schemas.openxmlformats.org/drawingml/2006/main" w="13335">
              <a:solidFill>
                <a:srgbClr val="445B6B"/>
              </a:solidFill>
            </a:ln>
          </c:spPr>
          <c:marker>
            <c:symbol val="none"/>
          </c:marker>
          <c:xVal>
            <c:numRef>
              <c:f>'Chart Data'!$K$2:$K$3</c:f>
              <c:numCache>
                <c:formatCode>General</c:formatCode>
                <c:ptCount val="2"/>
                <c:pt idx="0">
                  <c:v>0</c:v>
                </c:pt>
                <c:pt idx="1">
                  <c:v>100</c:v>
                </c:pt>
              </c:numCache>
            </c:numRef>
          </c:xVal>
          <c:yVal>
            <c:numRef>
              <c:f>'Chart Data'!$L$2:$L$3</c:f>
              <c:numCache>
                <c:formatCode>0</c:formatCode>
                <c:ptCount val="2"/>
                <c:pt idx="0">
                  <c:v>18</c:v>
                </c:pt>
                <c:pt idx="1">
                  <c:v>18</c:v>
                </c:pt>
              </c:numCache>
            </c:numRef>
          </c:yVal>
          <c:smooth val="0"/>
        </c:ser>
        <c:ser>
          <c:idx val="6"/>
          <c:order val="6"/>
          <c:tx>
            <c:v>Subsidiewig</c:v>
          </c:tx>
          <c:spPr>
            <a:ln xmlns:a="http://schemas.openxmlformats.org/drawingml/2006/main" w="47625">
              <a:solidFill>
                <a:srgbClr val="A94D16"/>
              </a:solidFill>
            </a:ln>
          </c:spPr>
          <c:marker>
            <c:symbol val="none"/>
          </c:marker>
          <c:xVal>
            <c:numRef>
              <c:f>'Chart Data'!$M$2:$M$3</c:f>
              <c:numCache>
                <c:formatCode>General</c:formatCode>
                <c:ptCount val="2"/>
                <c:pt idx="0">
                  <c:v>100</c:v>
                </c:pt>
                <c:pt idx="1">
                  <c:v>100</c:v>
                </c:pt>
              </c:numCache>
            </c:numRef>
          </c:xVal>
          <c:yVal>
            <c:numRef>
              <c:f>'Chart Data'!$N$2:$N$3</c:f>
              <c:numCache>
                <c:formatCode>0</c:formatCode>
                <c:ptCount val="2"/>
                <c:pt idx="0">
                  <c:v>12</c:v>
                </c:pt>
                <c:pt idx="1">
                  <c:v>18</c:v>
                </c:pt>
              </c:numCache>
            </c:numRef>
          </c:yVal>
          <c:smooth val="0"/>
        </c:ser>
        <c:ser>
          <c:idx val="7"/>
          <c:order val="7"/>
          <c:tx>
            <c:v>Pc</c:v>
          </c:tx>
          <c:spPr>
            <a:ln xmlns:a="http://schemas.openxmlformats.org/drawingml/2006/main" w="0">
              <a:solidFill>
                <a:srgbClr val="17658A"/>
              </a:solidFill>
            </a:ln>
          </c:spPr>
          <c:marker>
            <c:symbol val="circle"/>
            <c:size val="9"/>
            <c:spPr>
              <a:solidFill xmlns:a="http://schemas.openxmlformats.org/drawingml/2006/main">
                <a:srgbClr val="17658A"/>
              </a:solidFill>
            </c:spPr>
          </c:marker>
          <c:xVal>
            <c:numRef>
              <c:f>'Chart Data'!$O$2:$O$2</c:f>
              <c:numCache>
                <c:formatCode>General</c:formatCode>
                <c:ptCount val="1"/>
                <c:pt idx="0">
                  <c:v>100</c:v>
                </c:pt>
              </c:numCache>
            </c:numRef>
          </c:xVal>
          <c:yVal>
            <c:numRef>
              <c:f>'Chart Data'!$P$2:$P$2</c:f>
              <c:numCache>
                <c:formatCode>0</c:formatCode>
                <c:ptCount val="1"/>
                <c:pt idx="0">
                  <c:v>12</c:v>
                </c:pt>
              </c:numCache>
            </c:numRef>
          </c:yVal>
          <c:smooth val="0"/>
        </c:ser>
        <c:ser>
          <c:idx val="8"/>
          <c:order val="8"/>
          <c:tx>
            <c:v>Pp</c:v>
          </c:tx>
          <c:spPr>
            <a:ln xmlns:a="http://schemas.openxmlformats.org/drawingml/2006/main" w="0">
              <a:solidFill>
                <a:srgbClr val="20665B"/>
              </a:solidFill>
            </a:ln>
          </c:spPr>
          <c:marker>
            <c:symbol val="circle"/>
            <c:size val="9"/>
            <c:spPr>
              <a:solidFill xmlns:a="http://schemas.openxmlformats.org/drawingml/2006/main">
                <a:srgbClr val="20665B"/>
              </a:solidFill>
            </c:spPr>
          </c:marker>
          <c:xVal>
            <c:numRef>
              <c:f>'Chart Data'!$Q$2:$Q$2</c:f>
              <c:numCache>
                <c:formatCode>General</c:formatCode>
                <c:ptCount val="1"/>
                <c:pt idx="0">
                  <c:v>100</c:v>
                </c:pt>
              </c:numCache>
            </c:numRef>
          </c:xVal>
          <c:yVal>
            <c:numRef>
              <c:f>'Chart Data'!$R$2:$R$2</c:f>
              <c:numCache>
                <c:formatCode>0</c:formatCode>
                <c:ptCount val="1"/>
                <c:pt idx="0">
                  <c:v>18</c:v>
                </c:pt>
              </c:numCache>
            </c:numRef>
          </c:yVal>
          <c:smooth val="0"/>
        </c:ser>
        <c:ser>
          <c:idx val="9"/>
          <c:order val="9"/>
          <c:tx>
            <c:v>U grens</c:v>
          </c:tx>
          <c:spPr>
            <a:ln xmlns:a="http://schemas.openxmlformats.org/drawingml/2006/main" w="19050">
              <a:solidFill>
                <a:srgbClr val="A94D16"/>
              </a:solidFill>
            </a:ln>
          </c:spPr>
          <c:marker>
            <c:symbol val="none"/>
          </c:marker>
          <c:xVal>
            <c:numRef>
              <c:f>'Chart Data'!$S$2:$S$6</c:f>
              <c:numCache>
                <c:formatCode>General</c:formatCode>
                <c:ptCount val="5"/>
                <c:pt idx="0">
                  <c:v>0</c:v>
                </c:pt>
                <c:pt idx="1">
                  <c:v>100</c:v>
                </c:pt>
                <c:pt idx="2">
                  <c:v>100</c:v>
                </c:pt>
                <c:pt idx="3">
                  <c:v>0</c:v>
                </c:pt>
                <c:pt idx="4">
                  <c:v>0</c:v>
                </c:pt>
              </c:numCache>
            </c:numRef>
          </c:xVal>
          <c:yVal>
            <c:numRef>
              <c:f>'Chart Data'!$T$2:$T$6</c:f>
              <c:numCache>
                <c:formatCode>0</c:formatCode>
                <c:ptCount val="5"/>
                <c:pt idx="0">
                  <c:v>12</c:v>
                </c:pt>
                <c:pt idx="1">
                  <c:v>12</c:v>
                </c:pt>
                <c:pt idx="2">
                  <c:v>18</c:v>
                </c:pt>
                <c:pt idx="3">
                  <c:v>18</c:v>
                </c:pt>
                <c:pt idx="4">
                  <c:v>12</c:v>
                </c:pt>
              </c:numCache>
            </c:numRef>
          </c:yVal>
          <c:smooth val="0"/>
        </c:ser>
        <c:ser>
          <c:idx val="10"/>
          <c:order val="10"/>
          <c:tx>
            <c:v>U label</c:v>
          </c:tx>
          <c:spPr>
            <a:ln xmlns:a="http://schemas.openxmlformats.org/drawingml/2006/main" w="0">
              <a:solidFill>
                <a:srgbClr val="183247"/>
              </a:solid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183247"/>
                        </a:solidFill>
                        <a:latin typeface="Arial"/>
                        <a:ea typeface="Arial"/>
                        <a:cs typeface="Arial"/>
                      </a:rPr>
                      <a:t>U</a:t>
                    </a:r>
                  </a:p>
                </c:rich>
              </c:tx>
              <c:txPr>
                <a:bodyPr xmlns:a="http://schemas.openxmlformats.org/drawingml/2006/main" anchorCtr="1"/>
                <a:lstStyle xmlns:a="http://schemas.openxmlformats.org/drawingml/2006/main"/>
                <a:p xmlns:a="http://schemas.openxmlformats.org/drawingml/2006/main">
                  <a:pPr>
                    <a:defRPr sz="1950" b="1">
                      <a:solidFill>
                        <a:srgbClr val="183247"/>
                      </a:solidFill>
                      <a:latin typeface="Arial"/>
                      <a:ea typeface="Arial"/>
                      <a:cs typeface="Arial"/>
                    </a:defRPr>
                  </a:pPr>
                </a:p>
              </c:txPr>
              <c:dLblPos val="r"/>
              <c:showLegendKey val="0"/>
              <c:showVal val="0"/>
              <c:showCatName val="0"/>
              <c:showSerName val="0"/>
              <c:showPercent val="0"/>
              <c:showBubbleSize val="0"/>
            </c:dLbl>
            <c:showLegendKey val="0"/>
            <c:showVal val="0"/>
            <c:showCatName val="0"/>
            <c:showSerName val="0"/>
            <c:showPercent val="0"/>
            <c:showBubbleSize val="0"/>
            <c:showLeaderLines val="0"/>
          </c:dLbls>
          <c:xVal>
            <c:numRef>
              <c:f>'Chart Data'!$U$2:$U$2</c:f>
              <c:numCache>
                <c:formatCode>General</c:formatCode>
                <c:ptCount val="1"/>
                <c:pt idx="0">
                  <c:v>22</c:v>
                </c:pt>
              </c:numCache>
            </c:numRef>
          </c:xVal>
          <c:yVal>
            <c:numRef>
              <c:f>'Chart Data'!$V$2:$V$2</c:f>
              <c:numCache>
                <c:formatCode>0</c:formatCode>
                <c:ptCount val="1"/>
                <c:pt idx="0">
                  <c:v>15</c:v>
                </c:pt>
              </c:numCache>
            </c:numRef>
          </c:yVal>
          <c:smooth val="0"/>
        </c:ser>
        <c:ser>
          <c:idx val="11"/>
          <c:order val="11"/>
          <c:tx>
            <c:v>Pp annotation</c:v>
          </c:tx>
          <c:spPr>
            <a:ln xmlns:a="http://schemas.openxmlformats.org/drawingml/2006/main" w="0">
              <a:solidFill>
                <a:srgbClr val="20665B"/>
              </a:solid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20665B"/>
                        </a:solidFill>
                        <a:latin typeface="Arial"/>
                        <a:ea typeface="Arial"/>
                        <a:cs typeface="Arial"/>
                      </a:rPr>
                      <a:t>Pp = 18</a:t>
                    </a:r>
                  </a:p>
                </c:rich>
              </c:tx>
              <c:txPr>
                <a:bodyPr xmlns:a="http://schemas.openxmlformats.org/drawingml/2006/main" anchorCtr="1"/>
                <a:lstStyle xmlns:a="http://schemas.openxmlformats.org/drawingml/2006/main"/>
                <a:p xmlns:a="http://schemas.openxmlformats.org/drawingml/2006/main">
                  <a:pPr>
                    <a:defRPr sz="1950" b="1">
                      <a:solidFill>
                        <a:srgbClr val="20665B"/>
                      </a:solidFill>
                      <a:latin typeface="Arial"/>
                      <a:ea typeface="Arial"/>
                      <a:cs typeface="Arial"/>
                    </a:defRPr>
                  </a:pPr>
                </a:p>
              </c:txPr>
              <c:dLblPos val="r"/>
              <c:showLegendKey val="0"/>
              <c:showVal val="0"/>
              <c:showCatName val="0"/>
              <c:showSerName val="0"/>
              <c:showPercent val="0"/>
              <c:showBubbleSize val="0"/>
            </c:dLbl>
            <c:showLegendKey val="0"/>
            <c:showVal val="0"/>
            <c:showCatName val="0"/>
            <c:showSerName val="0"/>
            <c:showPercent val="0"/>
            <c:showBubbleSize val="0"/>
            <c:showLeaderLines val="0"/>
          </c:dLbls>
          <c:xVal>
            <c:numRef>
              <c:f>'Chart Data'!$W$2:$W$2</c:f>
              <c:numCache>
                <c:formatCode>General</c:formatCode>
                <c:ptCount val="1"/>
                <c:pt idx="0">
                  <c:v>100</c:v>
                </c:pt>
              </c:numCache>
            </c:numRef>
          </c:xVal>
          <c:yVal>
            <c:numRef>
              <c:f>'Chart Data'!$X$2:$X$2</c:f>
              <c:numCache>
                <c:formatCode>0</c:formatCode>
                <c:ptCount val="1"/>
                <c:pt idx="0">
                  <c:v>21</c:v>
                </c:pt>
              </c:numCache>
            </c:numRef>
          </c:yVal>
          <c:smooth val="0"/>
        </c:ser>
        <c:ser>
          <c:idx val="12"/>
          <c:order val="12"/>
          <c:tx>
            <c:v>Pc annotation</c:v>
          </c:tx>
          <c:spPr>
            <a:ln xmlns:a="http://schemas.openxmlformats.org/drawingml/2006/main" w="0">
              <a:solidFill>
                <a:srgbClr val="17658A"/>
              </a:solid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17658A"/>
                        </a:solidFill>
                        <a:latin typeface="Arial"/>
                        <a:ea typeface="Arial"/>
                        <a:cs typeface="Arial"/>
                      </a:rPr>
                      <a:t>Pc = 12</a:t>
                    </a:r>
                  </a:p>
                </c:rich>
              </c:tx>
              <c:txPr>
                <a:bodyPr xmlns:a="http://schemas.openxmlformats.org/drawingml/2006/main" anchorCtr="1"/>
                <a:lstStyle xmlns:a="http://schemas.openxmlformats.org/drawingml/2006/main"/>
                <a:p xmlns:a="http://schemas.openxmlformats.org/drawingml/2006/main">
                  <a:pPr>
                    <a:defRPr sz="1950" b="1">
                      <a:solidFill>
                        <a:srgbClr val="17658A"/>
                      </a:solidFill>
                      <a:latin typeface="Arial"/>
                      <a:ea typeface="Arial"/>
                      <a:cs typeface="Arial"/>
                    </a:defRPr>
                  </a:pPr>
                </a:p>
              </c:txPr>
              <c:dLblPos val="r"/>
              <c:showLegendKey val="0"/>
              <c:showVal val="0"/>
              <c:showCatName val="0"/>
              <c:showSerName val="0"/>
              <c:showPercent val="0"/>
              <c:showBubbleSize val="0"/>
            </c:dLbl>
            <c:showLegendKey val="0"/>
            <c:showVal val="0"/>
            <c:showCatName val="0"/>
            <c:showSerName val="0"/>
            <c:showPercent val="0"/>
            <c:showBubbleSize val="0"/>
            <c:showLeaderLines val="0"/>
          </c:dLbls>
          <c:xVal>
            <c:numRef>
              <c:f>'Chart Data'!$Y$2:$Y$2</c:f>
              <c:numCache>
                <c:formatCode>General</c:formatCode>
                <c:ptCount val="1"/>
                <c:pt idx="0">
                  <c:v>120</c:v>
                </c:pt>
              </c:numCache>
            </c:numRef>
          </c:xVal>
          <c:yVal>
            <c:numRef>
              <c:f>'Chart Data'!$Z$2:$Z$2</c:f>
              <c:numCache>
                <c:formatCode>0</c:formatCode>
                <c:ptCount val="1"/>
                <c:pt idx="0">
                  <c:v>12</c:v>
                </c:pt>
              </c:numCache>
            </c:numRef>
          </c:yVal>
          <c:smooth val="0"/>
        </c:ser>
        <c:dLbls>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36"/>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P (€ per controle)</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6"/>
      </c:valAx>
      <c:valAx>
        <c:axId val="48650112"/>
        <c:scaling>
          <c:orientation val="minMax"/>
          <c:max val="160"/>
          <c:min val="0"/>
        </c:scaling>
        <c:delete val="0"/>
        <c:axPos val="b"/>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Q (controles per week)</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lineMarker"/>
        <c:ser>
          <c:idx val="0"/>
          <c:order val="0"/>
          <c:tx>
            <c:v>CS</c:v>
          </c:tx>
          <c:spPr>
            <a:ln xmlns:a="http://schemas.openxmlformats.org/drawingml/2006/main" w="11430">
              <a:solidFill>
                <a:srgbClr val="B7D5E3"/>
              </a:solidFill>
            </a:ln>
          </c:spPr>
          <c:marker>
            <c:symbol val="none"/>
          </c:marker>
          <c:xVal>
            <c:numRef>
              <c:f>'Chart Data'!$A$2:$A$133</c:f>
              <c:numCache>
                <c:formatCode>General</c:formatCode>
                <c:ptCount val="132"/>
                <c:pt idx="0">
                  <c:v>0</c:v>
                </c:pt>
                <c:pt idx="1">
                  <c:v>0</c:v>
                </c:pt>
                <c:pt idx="2">
                  <c:v>1.538461538</c:v>
                </c:pt>
                <c:pt idx="3">
                  <c:v>1.538461538</c:v>
                </c:pt>
                <c:pt idx="4">
                  <c:v>3.076923077</c:v>
                </c:pt>
                <c:pt idx="5">
                  <c:v>3.076923077</c:v>
                </c:pt>
                <c:pt idx="6">
                  <c:v>4.615384615</c:v>
                </c:pt>
                <c:pt idx="7">
                  <c:v>4.615384615</c:v>
                </c:pt>
                <c:pt idx="8">
                  <c:v>6.153846154</c:v>
                </c:pt>
                <c:pt idx="9">
                  <c:v>6.153846154</c:v>
                </c:pt>
                <c:pt idx="10">
                  <c:v>7.692307692</c:v>
                </c:pt>
                <c:pt idx="11">
                  <c:v>7.692307692</c:v>
                </c:pt>
                <c:pt idx="12">
                  <c:v>9.230769231</c:v>
                </c:pt>
                <c:pt idx="13">
                  <c:v>9.230769231</c:v>
                </c:pt>
                <c:pt idx="14">
                  <c:v>10.769230769</c:v>
                </c:pt>
                <c:pt idx="15">
                  <c:v>10.769230769</c:v>
                </c:pt>
                <c:pt idx="16">
                  <c:v>12.307692308</c:v>
                </c:pt>
                <c:pt idx="17">
                  <c:v>12.307692308</c:v>
                </c:pt>
                <c:pt idx="18">
                  <c:v>13.846153846</c:v>
                </c:pt>
                <c:pt idx="19">
                  <c:v>13.846153846</c:v>
                </c:pt>
                <c:pt idx="20">
                  <c:v>15.384615385</c:v>
                </c:pt>
                <c:pt idx="21">
                  <c:v>15.384615385</c:v>
                </c:pt>
                <c:pt idx="22">
                  <c:v>16.923076923</c:v>
                </c:pt>
                <c:pt idx="23">
                  <c:v>16.923076923</c:v>
                </c:pt>
                <c:pt idx="24">
                  <c:v>18.461538462</c:v>
                </c:pt>
                <c:pt idx="25">
                  <c:v>18.461538462</c:v>
                </c:pt>
                <c:pt idx="26">
                  <c:v>20</c:v>
                </c:pt>
                <c:pt idx="27">
                  <c:v>20</c:v>
                </c:pt>
                <c:pt idx="28">
                  <c:v>21.538461538</c:v>
                </c:pt>
                <c:pt idx="29">
                  <c:v>21.538461538</c:v>
                </c:pt>
                <c:pt idx="30">
                  <c:v>23.076923077</c:v>
                </c:pt>
                <c:pt idx="31">
                  <c:v>23.076923077</c:v>
                </c:pt>
                <c:pt idx="32">
                  <c:v>24.615384615</c:v>
                </c:pt>
                <c:pt idx="33">
                  <c:v>24.615384615</c:v>
                </c:pt>
                <c:pt idx="34">
                  <c:v>26.153846154</c:v>
                </c:pt>
                <c:pt idx="35">
                  <c:v>26.153846154</c:v>
                </c:pt>
                <c:pt idx="36">
                  <c:v>27.692307692</c:v>
                </c:pt>
                <c:pt idx="37">
                  <c:v>27.692307692</c:v>
                </c:pt>
                <c:pt idx="38">
                  <c:v>29.230769231</c:v>
                </c:pt>
                <c:pt idx="39">
                  <c:v>29.230769231</c:v>
                </c:pt>
                <c:pt idx="40">
                  <c:v>30.769230769</c:v>
                </c:pt>
                <c:pt idx="41">
                  <c:v>30.769230769</c:v>
                </c:pt>
                <c:pt idx="42">
                  <c:v>32.307692308</c:v>
                </c:pt>
                <c:pt idx="43">
                  <c:v>32.307692308</c:v>
                </c:pt>
                <c:pt idx="44">
                  <c:v>33.846153846</c:v>
                </c:pt>
                <c:pt idx="45">
                  <c:v>33.846153846</c:v>
                </c:pt>
                <c:pt idx="46">
                  <c:v>35.384615385</c:v>
                </c:pt>
                <c:pt idx="47">
                  <c:v>35.384615385</c:v>
                </c:pt>
                <c:pt idx="48">
                  <c:v>36.923076923</c:v>
                </c:pt>
                <c:pt idx="49">
                  <c:v>36.923076923</c:v>
                </c:pt>
                <c:pt idx="50">
                  <c:v>38.461538462</c:v>
                </c:pt>
                <c:pt idx="51">
                  <c:v>38.461538462</c:v>
                </c:pt>
                <c:pt idx="52">
                  <c:v>40</c:v>
                </c:pt>
                <c:pt idx="53">
                  <c:v>40</c:v>
                </c:pt>
                <c:pt idx="54">
                  <c:v>41.538461538</c:v>
                </c:pt>
                <c:pt idx="55">
                  <c:v>41.538461538</c:v>
                </c:pt>
                <c:pt idx="56">
                  <c:v>43.076923077</c:v>
                </c:pt>
                <c:pt idx="57">
                  <c:v>43.076923077</c:v>
                </c:pt>
                <c:pt idx="58">
                  <c:v>44.615384615</c:v>
                </c:pt>
                <c:pt idx="59">
                  <c:v>44.615384615</c:v>
                </c:pt>
                <c:pt idx="60">
                  <c:v>46.153846154</c:v>
                </c:pt>
                <c:pt idx="61">
                  <c:v>46.153846154</c:v>
                </c:pt>
                <c:pt idx="62">
                  <c:v>47.692307692</c:v>
                </c:pt>
                <c:pt idx="63">
                  <c:v>47.692307692</c:v>
                </c:pt>
                <c:pt idx="64">
                  <c:v>49.230769231</c:v>
                </c:pt>
                <c:pt idx="65">
                  <c:v>49.230769231</c:v>
                </c:pt>
                <c:pt idx="66">
                  <c:v>50.769230769</c:v>
                </c:pt>
                <c:pt idx="67">
                  <c:v>50.769230769</c:v>
                </c:pt>
                <c:pt idx="68">
                  <c:v>52.307692308</c:v>
                </c:pt>
                <c:pt idx="69">
                  <c:v>52.307692308</c:v>
                </c:pt>
                <c:pt idx="70">
                  <c:v>53.846153846</c:v>
                </c:pt>
                <c:pt idx="71">
                  <c:v>53.846153846</c:v>
                </c:pt>
                <c:pt idx="72">
                  <c:v>55.384615385</c:v>
                </c:pt>
                <c:pt idx="73">
                  <c:v>55.384615385</c:v>
                </c:pt>
                <c:pt idx="74">
                  <c:v>56.923076923</c:v>
                </c:pt>
                <c:pt idx="75">
                  <c:v>56.923076923</c:v>
                </c:pt>
                <c:pt idx="76">
                  <c:v>58.461538462</c:v>
                </c:pt>
                <c:pt idx="77">
                  <c:v>58.461538462</c:v>
                </c:pt>
                <c:pt idx="78">
                  <c:v>60</c:v>
                </c:pt>
                <c:pt idx="79">
                  <c:v>60</c:v>
                </c:pt>
                <c:pt idx="80">
                  <c:v>61.538461538</c:v>
                </c:pt>
                <c:pt idx="81">
                  <c:v>61.538461538</c:v>
                </c:pt>
                <c:pt idx="82">
                  <c:v>63.076923077</c:v>
                </c:pt>
                <c:pt idx="83">
                  <c:v>63.076923077</c:v>
                </c:pt>
                <c:pt idx="84">
                  <c:v>64.615384615</c:v>
                </c:pt>
                <c:pt idx="85">
                  <c:v>64.615384615</c:v>
                </c:pt>
                <c:pt idx="86">
                  <c:v>66.153846154</c:v>
                </c:pt>
                <c:pt idx="87">
                  <c:v>66.153846154</c:v>
                </c:pt>
                <c:pt idx="88">
                  <c:v>67.692307692</c:v>
                </c:pt>
                <c:pt idx="89">
                  <c:v>67.692307692</c:v>
                </c:pt>
                <c:pt idx="90">
                  <c:v>69.230769231</c:v>
                </c:pt>
                <c:pt idx="91">
                  <c:v>69.230769231</c:v>
                </c:pt>
                <c:pt idx="92">
                  <c:v>70.769230769</c:v>
                </c:pt>
                <c:pt idx="93">
                  <c:v>70.769230769</c:v>
                </c:pt>
                <c:pt idx="94">
                  <c:v>72.307692308</c:v>
                </c:pt>
                <c:pt idx="95">
                  <c:v>72.307692308</c:v>
                </c:pt>
                <c:pt idx="96">
                  <c:v>73.846153846</c:v>
                </c:pt>
                <c:pt idx="97">
                  <c:v>73.846153846</c:v>
                </c:pt>
                <c:pt idx="98">
                  <c:v>75.384615385</c:v>
                </c:pt>
                <c:pt idx="99">
                  <c:v>75.384615385</c:v>
                </c:pt>
                <c:pt idx="100">
                  <c:v>76.923076923</c:v>
                </c:pt>
                <c:pt idx="101">
                  <c:v>76.923076923</c:v>
                </c:pt>
                <c:pt idx="102">
                  <c:v>78.461538462</c:v>
                </c:pt>
                <c:pt idx="103">
                  <c:v>78.461538462</c:v>
                </c:pt>
                <c:pt idx="104">
                  <c:v>80</c:v>
                </c:pt>
                <c:pt idx="105">
                  <c:v>80</c:v>
                </c:pt>
                <c:pt idx="106">
                  <c:v>81.538461538</c:v>
                </c:pt>
                <c:pt idx="107">
                  <c:v>81.538461538</c:v>
                </c:pt>
                <c:pt idx="108">
                  <c:v>83.076923077</c:v>
                </c:pt>
                <c:pt idx="109">
                  <c:v>83.076923077</c:v>
                </c:pt>
                <c:pt idx="110">
                  <c:v>84.615384615</c:v>
                </c:pt>
                <c:pt idx="111">
                  <c:v>84.615384615</c:v>
                </c:pt>
                <c:pt idx="112">
                  <c:v>86.153846154</c:v>
                </c:pt>
                <c:pt idx="113">
                  <c:v>86.153846154</c:v>
                </c:pt>
                <c:pt idx="114">
                  <c:v>87.692307692</c:v>
                </c:pt>
                <c:pt idx="115">
                  <c:v>87.692307692</c:v>
                </c:pt>
                <c:pt idx="116">
                  <c:v>89.230769231</c:v>
                </c:pt>
                <c:pt idx="117">
                  <c:v>89.230769231</c:v>
                </c:pt>
                <c:pt idx="118">
                  <c:v>90.769230769</c:v>
                </c:pt>
                <c:pt idx="119">
                  <c:v>90.769230769</c:v>
                </c:pt>
                <c:pt idx="120">
                  <c:v>92.307692308</c:v>
                </c:pt>
                <c:pt idx="121">
                  <c:v>92.307692308</c:v>
                </c:pt>
                <c:pt idx="122">
                  <c:v>93.846153846</c:v>
                </c:pt>
                <c:pt idx="123">
                  <c:v>93.846153846</c:v>
                </c:pt>
                <c:pt idx="124">
                  <c:v>95.384615385</c:v>
                </c:pt>
                <c:pt idx="125">
                  <c:v>95.384615385</c:v>
                </c:pt>
                <c:pt idx="126">
                  <c:v>96.923076923</c:v>
                </c:pt>
                <c:pt idx="127">
                  <c:v>96.923076923</c:v>
                </c:pt>
                <c:pt idx="128">
                  <c:v>98.461538462</c:v>
                </c:pt>
                <c:pt idx="129">
                  <c:v>98.461538462</c:v>
                </c:pt>
                <c:pt idx="130">
                  <c:v>100</c:v>
                </c:pt>
                <c:pt idx="131">
                  <c:v>100</c:v>
                </c:pt>
              </c:numCache>
            </c:numRef>
          </c:xVal>
          <c:yVal>
            <c:numRef>
              <c:f>'Chart Data'!$B$2:$B$133</c:f>
              <c:numCache>
                <c:formatCode>0</c:formatCode>
                <c:ptCount val="132"/>
                <c:pt idx="0">
                  <c:v>12</c:v>
                </c:pt>
                <c:pt idx="1">
                  <c:v>32</c:v>
                </c:pt>
                <c:pt idx="2">
                  <c:v>31.692307692</c:v>
                </c:pt>
                <c:pt idx="3">
                  <c:v>12</c:v>
                </c:pt>
                <c:pt idx="4">
                  <c:v>12</c:v>
                </c:pt>
                <c:pt idx="5">
                  <c:v>31.384615385</c:v>
                </c:pt>
                <c:pt idx="6">
                  <c:v>31.076923077</c:v>
                </c:pt>
                <c:pt idx="7">
                  <c:v>12</c:v>
                </c:pt>
                <c:pt idx="8">
                  <c:v>12</c:v>
                </c:pt>
                <c:pt idx="9">
                  <c:v>30.769230769</c:v>
                </c:pt>
                <c:pt idx="10">
                  <c:v>30.461538462</c:v>
                </c:pt>
                <c:pt idx="11">
                  <c:v>12</c:v>
                </c:pt>
                <c:pt idx="12">
                  <c:v>12</c:v>
                </c:pt>
                <c:pt idx="13">
                  <c:v>30.153846154</c:v>
                </c:pt>
                <c:pt idx="14">
                  <c:v>29.846153846</c:v>
                </c:pt>
                <c:pt idx="15">
                  <c:v>12</c:v>
                </c:pt>
                <c:pt idx="16">
                  <c:v>12</c:v>
                </c:pt>
                <c:pt idx="17">
                  <c:v>29.538461538</c:v>
                </c:pt>
                <c:pt idx="18">
                  <c:v>29.230769231</c:v>
                </c:pt>
                <c:pt idx="19">
                  <c:v>12</c:v>
                </c:pt>
                <c:pt idx="20">
                  <c:v>12</c:v>
                </c:pt>
                <c:pt idx="21">
                  <c:v>28.923076923</c:v>
                </c:pt>
                <c:pt idx="22">
                  <c:v>28.615384615</c:v>
                </c:pt>
                <c:pt idx="23">
                  <c:v>12</c:v>
                </c:pt>
                <c:pt idx="24">
                  <c:v>12</c:v>
                </c:pt>
                <c:pt idx="25">
                  <c:v>28.307692308</c:v>
                </c:pt>
                <c:pt idx="26">
                  <c:v>28</c:v>
                </c:pt>
                <c:pt idx="27">
                  <c:v>12</c:v>
                </c:pt>
                <c:pt idx="28">
                  <c:v>12</c:v>
                </c:pt>
                <c:pt idx="29">
                  <c:v>27.692307692</c:v>
                </c:pt>
                <c:pt idx="30">
                  <c:v>27.384615385</c:v>
                </c:pt>
                <c:pt idx="31">
                  <c:v>12</c:v>
                </c:pt>
                <c:pt idx="32">
                  <c:v>12</c:v>
                </c:pt>
                <c:pt idx="33">
                  <c:v>27.076923077</c:v>
                </c:pt>
                <c:pt idx="34">
                  <c:v>26.769230769</c:v>
                </c:pt>
                <c:pt idx="35">
                  <c:v>12</c:v>
                </c:pt>
                <c:pt idx="36">
                  <c:v>12</c:v>
                </c:pt>
                <c:pt idx="37">
                  <c:v>26.461538462</c:v>
                </c:pt>
                <c:pt idx="38">
                  <c:v>26.153846154</c:v>
                </c:pt>
                <c:pt idx="39">
                  <c:v>12</c:v>
                </c:pt>
                <c:pt idx="40">
                  <c:v>12</c:v>
                </c:pt>
                <c:pt idx="41">
                  <c:v>25.846153846</c:v>
                </c:pt>
                <c:pt idx="42">
                  <c:v>25.538461538</c:v>
                </c:pt>
                <c:pt idx="43">
                  <c:v>12</c:v>
                </c:pt>
                <c:pt idx="44">
                  <c:v>12</c:v>
                </c:pt>
                <c:pt idx="45">
                  <c:v>25.230769231</c:v>
                </c:pt>
                <c:pt idx="46">
                  <c:v>24.923076923</c:v>
                </c:pt>
                <c:pt idx="47">
                  <c:v>12</c:v>
                </c:pt>
                <c:pt idx="48">
                  <c:v>12</c:v>
                </c:pt>
                <c:pt idx="49">
                  <c:v>24.615384615</c:v>
                </c:pt>
                <c:pt idx="50">
                  <c:v>24.307692308</c:v>
                </c:pt>
                <c:pt idx="51">
                  <c:v>12</c:v>
                </c:pt>
                <c:pt idx="52">
                  <c:v>12</c:v>
                </c:pt>
                <c:pt idx="53">
                  <c:v>24</c:v>
                </c:pt>
                <c:pt idx="54">
                  <c:v>23.692307692</c:v>
                </c:pt>
                <c:pt idx="55">
                  <c:v>12</c:v>
                </c:pt>
                <c:pt idx="56">
                  <c:v>12</c:v>
                </c:pt>
                <c:pt idx="57">
                  <c:v>23.384615385</c:v>
                </c:pt>
                <c:pt idx="58">
                  <c:v>23.076923077</c:v>
                </c:pt>
                <c:pt idx="59">
                  <c:v>12</c:v>
                </c:pt>
                <c:pt idx="60">
                  <c:v>12</c:v>
                </c:pt>
                <c:pt idx="61">
                  <c:v>22.769230769</c:v>
                </c:pt>
                <c:pt idx="62">
                  <c:v>22.461538462</c:v>
                </c:pt>
                <c:pt idx="63">
                  <c:v>12</c:v>
                </c:pt>
                <c:pt idx="64">
                  <c:v>12</c:v>
                </c:pt>
                <c:pt idx="65">
                  <c:v>22.153846154</c:v>
                </c:pt>
                <c:pt idx="66">
                  <c:v>21.846153846</c:v>
                </c:pt>
                <c:pt idx="67">
                  <c:v>12</c:v>
                </c:pt>
                <c:pt idx="68">
                  <c:v>12</c:v>
                </c:pt>
                <c:pt idx="69">
                  <c:v>21.538461538</c:v>
                </c:pt>
                <c:pt idx="70">
                  <c:v>21.230769231</c:v>
                </c:pt>
                <c:pt idx="71">
                  <c:v>12</c:v>
                </c:pt>
                <c:pt idx="72">
                  <c:v>12</c:v>
                </c:pt>
                <c:pt idx="73">
                  <c:v>20.923076923</c:v>
                </c:pt>
                <c:pt idx="74">
                  <c:v>20.615384615</c:v>
                </c:pt>
                <c:pt idx="75">
                  <c:v>12</c:v>
                </c:pt>
                <c:pt idx="76">
                  <c:v>12</c:v>
                </c:pt>
                <c:pt idx="77">
                  <c:v>20.307692308</c:v>
                </c:pt>
                <c:pt idx="78">
                  <c:v>20</c:v>
                </c:pt>
                <c:pt idx="79">
                  <c:v>12</c:v>
                </c:pt>
                <c:pt idx="80">
                  <c:v>12</c:v>
                </c:pt>
                <c:pt idx="81">
                  <c:v>19.692307692</c:v>
                </c:pt>
                <c:pt idx="82">
                  <c:v>19.384615385</c:v>
                </c:pt>
                <c:pt idx="83">
                  <c:v>12</c:v>
                </c:pt>
                <c:pt idx="84">
                  <c:v>12</c:v>
                </c:pt>
                <c:pt idx="85">
                  <c:v>19.076923077</c:v>
                </c:pt>
                <c:pt idx="86">
                  <c:v>18.769230769</c:v>
                </c:pt>
                <c:pt idx="87">
                  <c:v>12</c:v>
                </c:pt>
                <c:pt idx="88">
                  <c:v>12</c:v>
                </c:pt>
                <c:pt idx="89">
                  <c:v>18.461538462</c:v>
                </c:pt>
                <c:pt idx="90">
                  <c:v>18.153846154</c:v>
                </c:pt>
                <c:pt idx="91">
                  <c:v>12</c:v>
                </c:pt>
                <c:pt idx="92">
                  <c:v>12</c:v>
                </c:pt>
                <c:pt idx="93">
                  <c:v>17.846153846</c:v>
                </c:pt>
                <c:pt idx="94">
                  <c:v>17.538461538</c:v>
                </c:pt>
                <c:pt idx="95">
                  <c:v>12</c:v>
                </c:pt>
                <c:pt idx="96">
                  <c:v>12</c:v>
                </c:pt>
                <c:pt idx="97">
                  <c:v>17.230769231</c:v>
                </c:pt>
                <c:pt idx="98">
                  <c:v>16.923076923</c:v>
                </c:pt>
                <c:pt idx="99">
                  <c:v>12</c:v>
                </c:pt>
                <c:pt idx="100">
                  <c:v>12</c:v>
                </c:pt>
                <c:pt idx="101">
                  <c:v>16.615384615</c:v>
                </c:pt>
                <c:pt idx="102">
                  <c:v>16.307692308</c:v>
                </c:pt>
                <c:pt idx="103">
                  <c:v>12</c:v>
                </c:pt>
                <c:pt idx="104">
                  <c:v>12</c:v>
                </c:pt>
                <c:pt idx="105">
                  <c:v>16</c:v>
                </c:pt>
                <c:pt idx="106">
                  <c:v>15.692307692</c:v>
                </c:pt>
                <c:pt idx="107">
                  <c:v>12</c:v>
                </c:pt>
                <c:pt idx="108">
                  <c:v>12</c:v>
                </c:pt>
                <c:pt idx="109">
                  <c:v>15.384615385</c:v>
                </c:pt>
                <c:pt idx="110">
                  <c:v>15.076923077</c:v>
                </c:pt>
                <c:pt idx="111">
                  <c:v>12</c:v>
                </c:pt>
                <c:pt idx="112">
                  <c:v>12</c:v>
                </c:pt>
                <c:pt idx="113">
                  <c:v>14.769230769</c:v>
                </c:pt>
                <c:pt idx="114">
                  <c:v>14.461538462</c:v>
                </c:pt>
                <c:pt idx="115">
                  <c:v>12</c:v>
                </c:pt>
                <c:pt idx="116">
                  <c:v>12</c:v>
                </c:pt>
                <c:pt idx="117">
                  <c:v>14.153846154</c:v>
                </c:pt>
                <c:pt idx="118">
                  <c:v>13.846153846</c:v>
                </c:pt>
                <c:pt idx="119">
                  <c:v>12</c:v>
                </c:pt>
                <c:pt idx="120">
                  <c:v>12</c:v>
                </c:pt>
                <c:pt idx="121">
                  <c:v>13.538461538</c:v>
                </c:pt>
                <c:pt idx="122">
                  <c:v>13.230769231</c:v>
                </c:pt>
                <c:pt idx="123">
                  <c:v>12</c:v>
                </c:pt>
                <c:pt idx="124">
                  <c:v>12</c:v>
                </c:pt>
                <c:pt idx="125">
                  <c:v>12.923076923</c:v>
                </c:pt>
                <c:pt idx="126">
                  <c:v>12.615384615</c:v>
                </c:pt>
                <c:pt idx="127">
                  <c:v>12</c:v>
                </c:pt>
                <c:pt idx="128">
                  <c:v>12</c:v>
                </c:pt>
                <c:pt idx="129">
                  <c:v>12.307692308</c:v>
                </c:pt>
                <c:pt idx="130">
                  <c:v>12</c:v>
                </c:pt>
                <c:pt idx="131">
                  <c:v>12</c:v>
                </c:pt>
              </c:numCache>
            </c:numRef>
          </c:yVal>
          <c:smooth val="0"/>
        </c:ser>
        <c:ser>
          <c:idx val="1"/>
          <c:order val="1"/>
          <c:tx>
            <c:v>V</c:v>
          </c:tx>
          <c:spPr>
            <a:ln xmlns:a="http://schemas.openxmlformats.org/drawingml/2006/main" w="38100">
              <a:solidFill>
                <a:srgbClr val="17658A"/>
              </a:solidFill>
            </a:ln>
          </c:spPr>
          <c:marker>
            <c:symbol val="none"/>
          </c:marker>
          <c:dLbls>
            <c:dLbl>
              <c:idx val="1"/>
              <c:tx>
                <c:rich>
                  <a:bodyPr xmlns:a="http://schemas.openxmlformats.org/drawingml/2006/main"/>
                  <a:lstStyle xmlns:a="http://schemas.openxmlformats.org/drawingml/2006/main"/>
                  <a:p xmlns:a="http://schemas.openxmlformats.org/drawingml/2006/main">
                    <a:r>
                      <a:rPr sz="1950" b="1">
                        <a:solidFill>
                          <a:srgbClr val="17658A"/>
                        </a:solidFill>
                        <a:latin typeface="Arial"/>
                        <a:ea typeface="Arial"/>
                        <a:cs typeface="Arial"/>
                      </a:rPr>
                      <a:t>V</a:t>
                    </a:r>
                  </a:p>
                </c:rich>
              </c:tx>
              <c:txPr>
                <a:bodyPr xmlns:a="http://schemas.openxmlformats.org/drawingml/2006/main" anchorCtr="1"/>
                <a:lstStyle xmlns:a="http://schemas.openxmlformats.org/drawingml/2006/main"/>
                <a:p xmlns:a="http://schemas.openxmlformats.org/drawingml/2006/main">
                  <a:pPr>
                    <a:defRPr sz="1950" b="1">
                      <a:solidFill>
                        <a:srgbClr val="17658A"/>
                      </a:solidFill>
                      <a:latin typeface="Arial"/>
                      <a:ea typeface="Arial"/>
                      <a:cs typeface="Arial"/>
                    </a:defRPr>
                  </a:pPr>
                </a:p>
              </c:txPr>
              <c:dLblPos val="r"/>
              <c:showLegendKey val="0"/>
              <c:showVal val="0"/>
              <c:showCatName val="0"/>
              <c:showSerName val="0"/>
              <c:showPercent val="0"/>
              <c:showBubbleSize val="0"/>
            </c:dLbl>
            <c:showLegendKey val="0"/>
            <c:showVal val="0"/>
            <c:showCatName val="0"/>
            <c:showSerName val="0"/>
            <c:showPercent val="0"/>
            <c:showBubbleSize val="0"/>
            <c:showLeaderLines val="0"/>
          </c:dLbls>
          <c:xVal>
            <c:numRef>
              <c:f>'Chart Data'!$C$2:$C$3</c:f>
              <c:numCache>
                <c:formatCode>General</c:formatCode>
                <c:ptCount val="2"/>
                <c:pt idx="0">
                  <c:v>0</c:v>
                </c:pt>
                <c:pt idx="1">
                  <c:v>160</c:v>
                </c:pt>
              </c:numCache>
            </c:numRef>
          </c:xVal>
          <c:yVal>
            <c:numRef>
              <c:f>'Chart Data'!$D$2:$D$3</c:f>
              <c:numCache>
                <c:formatCode>0</c:formatCode>
                <c:ptCount val="2"/>
                <c:pt idx="0">
                  <c:v>32</c:v>
                </c:pt>
                <c:pt idx="1">
                  <c:v>0</c:v>
                </c:pt>
              </c:numCache>
            </c:numRef>
          </c:yVal>
          <c:smooth val="0"/>
        </c:ser>
        <c:ser>
          <c:idx val="2"/>
          <c:order val="2"/>
          <c:tx>
            <c:v>A</c:v>
          </c:tx>
          <c:spPr>
            <a:ln xmlns:a="http://schemas.openxmlformats.org/drawingml/2006/main" w="38100">
              <a:solidFill>
                <a:srgbClr val="20665B"/>
              </a:solidFill>
            </a:ln>
          </c:spPr>
          <c:marker>
            <c:symbol val="none"/>
          </c:marker>
          <c:dLbls>
            <c:dLbl>
              <c:idx val="1"/>
              <c:tx>
                <c:rich>
                  <a:bodyPr xmlns:a="http://schemas.openxmlformats.org/drawingml/2006/main"/>
                  <a:lstStyle xmlns:a="http://schemas.openxmlformats.org/drawingml/2006/main"/>
                  <a:p xmlns:a="http://schemas.openxmlformats.org/drawingml/2006/main">
                    <a:r>
                      <a:rPr sz="1950" b="1">
                        <a:solidFill>
                          <a:srgbClr val="20665B"/>
                        </a:solidFill>
                        <a:latin typeface="Arial"/>
                        <a:ea typeface="Arial"/>
                        <a:cs typeface="Arial"/>
                      </a:rPr>
                      <a:t>A</a:t>
                    </a:r>
                  </a:p>
                </c:rich>
              </c:tx>
              <c:txPr>
                <a:bodyPr xmlns:a="http://schemas.openxmlformats.org/drawingml/2006/main" anchorCtr="1"/>
                <a:lstStyle xmlns:a="http://schemas.openxmlformats.org/drawingml/2006/main"/>
                <a:p xmlns:a="http://schemas.openxmlformats.org/drawingml/2006/main">
                  <a:pPr>
                    <a:defRPr sz="1950" b="1">
                      <a:solidFill>
                        <a:srgbClr val="20665B"/>
                      </a:solidFill>
                      <a:latin typeface="Arial"/>
                      <a:ea typeface="Arial"/>
                      <a:cs typeface="Arial"/>
                    </a:defRPr>
                  </a:pPr>
                </a:p>
              </c:txPr>
              <c:dLblPos val="r"/>
              <c:showLegendKey val="0"/>
              <c:showVal val="0"/>
              <c:showCatName val="0"/>
              <c:showSerName val="0"/>
              <c:showPercent val="0"/>
              <c:showBubbleSize val="0"/>
            </c:dLbl>
            <c:showLegendKey val="0"/>
            <c:showVal val="0"/>
            <c:showCatName val="0"/>
            <c:showSerName val="0"/>
            <c:showPercent val="0"/>
            <c:showBubbleSize val="0"/>
            <c:showLeaderLines val="0"/>
          </c:dLbls>
          <c:xVal>
            <c:numRef>
              <c:f>'Chart Data'!$E$2:$E$3</c:f>
              <c:numCache>
                <c:formatCode>General</c:formatCode>
                <c:ptCount val="2"/>
                <c:pt idx="0">
                  <c:v>0</c:v>
                </c:pt>
                <c:pt idx="1">
                  <c:v>144</c:v>
                </c:pt>
              </c:numCache>
            </c:numRef>
          </c:xVal>
          <c:yVal>
            <c:numRef>
              <c:f>'Chart Data'!$F$2:$F$3</c:f>
              <c:numCache>
                <c:formatCode>0</c:formatCode>
                <c:ptCount val="2"/>
                <c:pt idx="0">
                  <c:v>8</c:v>
                </c:pt>
                <c:pt idx="1">
                  <c:v>22.4</c:v>
                </c:pt>
              </c:numCache>
            </c:numRef>
          </c:yVal>
          <c:smooth val="0"/>
        </c:ser>
        <c:ser>
          <c:idx val="3"/>
          <c:order val="3"/>
          <c:tx>
            <c:v>Pc hulplijn</c:v>
          </c:tx>
          <c:spPr>
            <a:ln xmlns:a="http://schemas.openxmlformats.org/drawingml/2006/main" w="13335">
              <a:solidFill>
                <a:srgbClr val="445B6B"/>
              </a:solidFill>
            </a:ln>
          </c:spPr>
          <c:marker>
            <c:symbol val="none"/>
          </c:marker>
          <c:xVal>
            <c:numRef>
              <c:f>'Chart Data'!$G$2:$G$4</c:f>
              <c:numCache>
                <c:formatCode>General</c:formatCode>
                <c:ptCount val="3"/>
                <c:pt idx="0">
                  <c:v>0</c:v>
                </c:pt>
                <c:pt idx="1">
                  <c:v>100</c:v>
                </c:pt>
                <c:pt idx="2">
                  <c:v>100</c:v>
                </c:pt>
              </c:numCache>
            </c:numRef>
          </c:xVal>
          <c:yVal>
            <c:numRef>
              <c:f>'Chart Data'!$H$2:$H$4</c:f>
              <c:numCache>
                <c:formatCode>0</c:formatCode>
                <c:ptCount val="3"/>
                <c:pt idx="0">
                  <c:v>12</c:v>
                </c:pt>
                <c:pt idx="1">
                  <c:v>12</c:v>
                </c:pt>
                <c:pt idx="2">
                  <c:v>0</c:v>
                </c:pt>
              </c:numCache>
            </c:numRef>
          </c:yVal>
          <c:smooth val="0"/>
        </c:ser>
        <c:ser>
          <c:idx val="4"/>
          <c:order val="4"/>
          <c:tx>
            <c:v>Pp hulplijn</c:v>
          </c:tx>
          <c:spPr>
            <a:ln xmlns:a="http://schemas.openxmlformats.org/drawingml/2006/main" w="13335">
              <a:solidFill>
                <a:srgbClr val="445B6B"/>
              </a:solidFill>
            </a:ln>
          </c:spPr>
          <c:marker>
            <c:symbol val="none"/>
          </c:marker>
          <c:xVal>
            <c:numRef>
              <c:f>'Chart Data'!$I$2:$I$3</c:f>
              <c:numCache>
                <c:formatCode>General</c:formatCode>
                <c:ptCount val="2"/>
                <c:pt idx="0">
                  <c:v>0</c:v>
                </c:pt>
                <c:pt idx="1">
                  <c:v>100</c:v>
                </c:pt>
              </c:numCache>
            </c:numRef>
          </c:xVal>
          <c:yVal>
            <c:numRef>
              <c:f>'Chart Data'!$J$2:$J$3</c:f>
              <c:numCache>
                <c:formatCode>0</c:formatCode>
                <c:ptCount val="2"/>
                <c:pt idx="0">
                  <c:v>18</c:v>
                </c:pt>
                <c:pt idx="1">
                  <c:v>18</c:v>
                </c:pt>
              </c:numCache>
            </c:numRef>
          </c:yVal>
          <c:smooth val="0"/>
        </c:ser>
        <c:ser>
          <c:idx val="5"/>
          <c:order val="5"/>
          <c:tx>
            <c:v>Subsidiewig</c:v>
          </c:tx>
          <c:spPr>
            <a:ln xmlns:a="http://schemas.openxmlformats.org/drawingml/2006/main" w="47625">
              <a:solidFill>
                <a:srgbClr val="A94D16"/>
              </a:solidFill>
            </a:ln>
          </c:spPr>
          <c:marker>
            <c:symbol val="none"/>
          </c:marker>
          <c:xVal>
            <c:numRef>
              <c:f>'Chart Data'!$K$2:$K$3</c:f>
              <c:numCache>
                <c:formatCode>General</c:formatCode>
                <c:ptCount val="2"/>
                <c:pt idx="0">
                  <c:v>100</c:v>
                </c:pt>
                <c:pt idx="1">
                  <c:v>100</c:v>
                </c:pt>
              </c:numCache>
            </c:numRef>
          </c:xVal>
          <c:yVal>
            <c:numRef>
              <c:f>'Chart Data'!$L$2:$L$3</c:f>
              <c:numCache>
                <c:formatCode>0</c:formatCode>
                <c:ptCount val="2"/>
                <c:pt idx="0">
                  <c:v>12</c:v>
                </c:pt>
                <c:pt idx="1">
                  <c:v>18</c:v>
                </c:pt>
              </c:numCache>
            </c:numRef>
          </c:yVal>
          <c:smooth val="0"/>
        </c:ser>
        <c:ser>
          <c:idx val="6"/>
          <c:order val="6"/>
          <c:tx>
            <c:v>Pc</c:v>
          </c:tx>
          <c:spPr>
            <a:ln xmlns:a="http://schemas.openxmlformats.org/drawingml/2006/main" w="0">
              <a:solidFill>
                <a:srgbClr val="17658A"/>
              </a:solidFill>
            </a:ln>
          </c:spPr>
          <c:marker>
            <c:symbol val="circle"/>
            <c:size val="9"/>
            <c:spPr>
              <a:solidFill xmlns:a="http://schemas.openxmlformats.org/drawingml/2006/main">
                <a:srgbClr val="17658A"/>
              </a:solidFill>
            </c:spPr>
          </c:marker>
          <c:xVal>
            <c:numRef>
              <c:f>'Chart Data'!$M$2:$M$2</c:f>
              <c:numCache>
                <c:formatCode>General</c:formatCode>
                <c:ptCount val="1"/>
                <c:pt idx="0">
                  <c:v>100</c:v>
                </c:pt>
              </c:numCache>
            </c:numRef>
          </c:xVal>
          <c:yVal>
            <c:numRef>
              <c:f>'Chart Data'!$N$2:$N$2</c:f>
              <c:numCache>
                <c:formatCode>0</c:formatCode>
                <c:ptCount val="1"/>
                <c:pt idx="0">
                  <c:v>12</c:v>
                </c:pt>
              </c:numCache>
            </c:numRef>
          </c:yVal>
          <c:smooth val="0"/>
        </c:ser>
        <c:ser>
          <c:idx val="7"/>
          <c:order val="7"/>
          <c:tx>
            <c:v>Pp</c:v>
          </c:tx>
          <c:spPr>
            <a:ln xmlns:a="http://schemas.openxmlformats.org/drawingml/2006/main" w="0">
              <a:solidFill>
                <a:srgbClr val="20665B"/>
              </a:solidFill>
            </a:ln>
          </c:spPr>
          <c:marker>
            <c:symbol val="circle"/>
            <c:size val="9"/>
            <c:spPr>
              <a:solidFill xmlns:a="http://schemas.openxmlformats.org/drawingml/2006/main">
                <a:srgbClr val="20665B"/>
              </a:solidFill>
            </c:spPr>
          </c:marker>
          <c:xVal>
            <c:numRef>
              <c:f>'Chart Data'!$O$2:$O$2</c:f>
              <c:numCache>
                <c:formatCode>General</c:formatCode>
                <c:ptCount val="1"/>
                <c:pt idx="0">
                  <c:v>100</c:v>
                </c:pt>
              </c:numCache>
            </c:numRef>
          </c:xVal>
          <c:yVal>
            <c:numRef>
              <c:f>'Chart Data'!$P$2:$P$2</c:f>
              <c:numCache>
                <c:formatCode>0</c:formatCode>
                <c:ptCount val="1"/>
                <c:pt idx="0">
                  <c:v>18</c:v>
                </c:pt>
              </c:numCache>
            </c:numRef>
          </c:yVal>
          <c:smooth val="0"/>
        </c:ser>
        <c:ser>
          <c:idx val="8"/>
          <c:order val="8"/>
          <c:tx>
            <c:v>CS label</c:v>
          </c:tx>
          <c:spPr>
            <a:ln xmlns:a="http://schemas.openxmlformats.org/drawingml/2006/main" w="0">
              <a:solidFill>
                <a:srgbClr val="183247"/>
              </a:solid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183247"/>
                        </a:solidFill>
                        <a:latin typeface="Arial"/>
                        <a:ea typeface="Arial"/>
                        <a:cs typeface="Arial"/>
                      </a:rPr>
                      <a:t>CS</a:t>
                    </a:r>
                  </a:p>
                </c:rich>
              </c:tx>
              <c:txPr>
                <a:bodyPr xmlns:a="http://schemas.openxmlformats.org/drawingml/2006/main" anchorCtr="1"/>
                <a:lstStyle xmlns:a="http://schemas.openxmlformats.org/drawingml/2006/main"/>
                <a:p xmlns:a="http://schemas.openxmlformats.org/drawingml/2006/main">
                  <a:pPr>
                    <a:defRPr sz="1950" b="1">
                      <a:solidFill>
                        <a:srgbClr val="183247"/>
                      </a:solidFill>
                      <a:latin typeface="Arial"/>
                      <a:ea typeface="Arial"/>
                      <a:cs typeface="Arial"/>
                    </a:defRPr>
                  </a:pPr>
                </a:p>
              </c:txPr>
              <c:dLblPos val="r"/>
              <c:showLegendKey val="0"/>
              <c:showVal val="0"/>
              <c:showCatName val="0"/>
              <c:showSerName val="0"/>
              <c:showPercent val="0"/>
              <c:showBubbleSize val="0"/>
            </c:dLbl>
            <c:showLegendKey val="0"/>
            <c:showVal val="0"/>
            <c:showCatName val="0"/>
            <c:showSerName val="0"/>
            <c:showPercent val="0"/>
            <c:showBubbleSize val="0"/>
            <c:showLeaderLines val="0"/>
          </c:dLbls>
          <c:xVal>
            <c:numRef>
              <c:f>'Chart Data'!$Q$2:$Q$2</c:f>
              <c:numCache>
                <c:formatCode>General</c:formatCode>
                <c:ptCount val="1"/>
                <c:pt idx="0">
                  <c:v>22</c:v>
                </c:pt>
              </c:numCache>
            </c:numRef>
          </c:xVal>
          <c:yVal>
            <c:numRef>
              <c:f>'Chart Data'!$R$2:$R$2</c:f>
              <c:numCache>
                <c:formatCode>0</c:formatCode>
                <c:ptCount val="1"/>
                <c:pt idx="0">
                  <c:v>19.8</c:v>
                </c:pt>
              </c:numCache>
            </c:numRef>
          </c:yVal>
          <c:smooth val="0"/>
        </c:ser>
        <c:ser>
          <c:idx val="9"/>
          <c:order val="9"/>
          <c:tx>
            <c:v>Pp annotation</c:v>
          </c:tx>
          <c:spPr>
            <a:ln xmlns:a="http://schemas.openxmlformats.org/drawingml/2006/main" w="0">
              <a:solidFill>
                <a:srgbClr val="20665B"/>
              </a:solid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20665B"/>
                        </a:solidFill>
                        <a:latin typeface="Arial"/>
                        <a:ea typeface="Arial"/>
                        <a:cs typeface="Arial"/>
                      </a:rPr>
                      <a:t>Pp = 18</a:t>
                    </a:r>
                  </a:p>
                </c:rich>
              </c:tx>
              <c:txPr>
                <a:bodyPr xmlns:a="http://schemas.openxmlformats.org/drawingml/2006/main" anchorCtr="1"/>
                <a:lstStyle xmlns:a="http://schemas.openxmlformats.org/drawingml/2006/main"/>
                <a:p xmlns:a="http://schemas.openxmlformats.org/drawingml/2006/main">
                  <a:pPr>
                    <a:defRPr sz="1950" b="1">
                      <a:solidFill>
                        <a:srgbClr val="20665B"/>
                      </a:solidFill>
                      <a:latin typeface="Arial"/>
                      <a:ea typeface="Arial"/>
                      <a:cs typeface="Arial"/>
                    </a:defRPr>
                  </a:pPr>
                </a:p>
              </c:txPr>
              <c:dLblPos val="r"/>
              <c:showLegendKey val="0"/>
              <c:showVal val="0"/>
              <c:showCatName val="0"/>
              <c:showSerName val="0"/>
              <c:showPercent val="0"/>
              <c:showBubbleSize val="0"/>
            </c:dLbl>
            <c:showLegendKey val="0"/>
            <c:showVal val="0"/>
            <c:showCatName val="0"/>
            <c:showSerName val="0"/>
            <c:showPercent val="0"/>
            <c:showBubbleSize val="0"/>
            <c:showLeaderLines val="0"/>
          </c:dLbls>
          <c:xVal>
            <c:numRef>
              <c:f>'Chart Data'!$S$2:$S$2</c:f>
              <c:numCache>
                <c:formatCode>General</c:formatCode>
                <c:ptCount val="1"/>
                <c:pt idx="0">
                  <c:v>100</c:v>
                </c:pt>
              </c:numCache>
            </c:numRef>
          </c:xVal>
          <c:yVal>
            <c:numRef>
              <c:f>'Chart Data'!$T$2:$T$2</c:f>
              <c:numCache>
                <c:formatCode>0</c:formatCode>
                <c:ptCount val="1"/>
                <c:pt idx="0">
                  <c:v>21</c:v>
                </c:pt>
              </c:numCache>
            </c:numRef>
          </c:yVal>
          <c:smooth val="0"/>
        </c:ser>
        <c:ser>
          <c:idx val="10"/>
          <c:order val="10"/>
          <c:tx>
            <c:v>Pc annotation</c:v>
          </c:tx>
          <c:spPr>
            <a:ln xmlns:a="http://schemas.openxmlformats.org/drawingml/2006/main" w="0">
              <a:solidFill>
                <a:srgbClr val="17658A"/>
              </a:solid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17658A"/>
                        </a:solidFill>
                        <a:latin typeface="Arial"/>
                        <a:ea typeface="Arial"/>
                        <a:cs typeface="Arial"/>
                      </a:rPr>
                      <a:t>Pc = 12</a:t>
                    </a:r>
                  </a:p>
                </c:rich>
              </c:tx>
              <c:txPr>
                <a:bodyPr xmlns:a="http://schemas.openxmlformats.org/drawingml/2006/main" anchorCtr="1"/>
                <a:lstStyle xmlns:a="http://schemas.openxmlformats.org/drawingml/2006/main"/>
                <a:p xmlns:a="http://schemas.openxmlformats.org/drawingml/2006/main">
                  <a:pPr>
                    <a:defRPr sz="1950" b="1">
                      <a:solidFill>
                        <a:srgbClr val="17658A"/>
                      </a:solidFill>
                      <a:latin typeface="Arial"/>
                      <a:ea typeface="Arial"/>
                      <a:cs typeface="Arial"/>
                    </a:defRPr>
                  </a:pPr>
                </a:p>
              </c:txPr>
              <c:dLblPos val="r"/>
              <c:showLegendKey val="0"/>
              <c:showVal val="0"/>
              <c:showCatName val="0"/>
              <c:showSerName val="0"/>
              <c:showPercent val="0"/>
              <c:showBubbleSize val="0"/>
            </c:dLbl>
            <c:showLegendKey val="0"/>
            <c:showVal val="0"/>
            <c:showCatName val="0"/>
            <c:showSerName val="0"/>
            <c:showPercent val="0"/>
            <c:showBubbleSize val="0"/>
            <c:showLeaderLines val="0"/>
          </c:dLbls>
          <c:xVal>
            <c:numRef>
              <c:f>'Chart Data'!$U$2:$U$2</c:f>
              <c:numCache>
                <c:formatCode>General</c:formatCode>
                <c:ptCount val="1"/>
                <c:pt idx="0">
                  <c:v>120</c:v>
                </c:pt>
              </c:numCache>
            </c:numRef>
          </c:xVal>
          <c:yVal>
            <c:numRef>
              <c:f>'Chart Data'!$V$2:$V$2</c:f>
              <c:numCache>
                <c:formatCode>0</c:formatCode>
                <c:ptCount val="1"/>
                <c:pt idx="0">
                  <c:v>12</c:v>
                </c:pt>
              </c:numCache>
            </c:numRef>
          </c:yVal>
          <c:smooth val="0"/>
        </c:ser>
        <c:dLbls>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36"/>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P (€ per controle)</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6"/>
      </c:valAx>
      <c:valAx>
        <c:axId val="48650112"/>
        <c:scaling>
          <c:orientation val="minMax"/>
          <c:max val="160"/>
          <c:min val="0"/>
        </c:scaling>
        <c:delete val="0"/>
        <c:axPos val="b"/>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Q (controles per week)</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scatterChart>
        <c:scatterStyle val="lineMarker"/>
        <c:ser>
          <c:idx val="0"/>
          <c:order val="0"/>
          <c:tx>
            <c:v>PS</c:v>
          </c:tx>
          <c:spPr>
            <a:ln xmlns:a="http://schemas.openxmlformats.org/drawingml/2006/main" w="11430">
              <a:solidFill>
                <a:srgbClr val="B5D4CA"/>
              </a:solidFill>
            </a:ln>
          </c:spPr>
          <c:marker>
            <c:symbol val="none"/>
          </c:marker>
          <c:xVal>
            <c:numRef>
              <c:f>'Chart Data'!$A$2:$A$133</c:f>
              <c:numCache>
                <c:formatCode>General</c:formatCode>
                <c:ptCount val="132"/>
                <c:pt idx="0">
                  <c:v>0</c:v>
                </c:pt>
                <c:pt idx="1">
                  <c:v>0</c:v>
                </c:pt>
                <c:pt idx="2">
                  <c:v>1.538461538</c:v>
                </c:pt>
                <c:pt idx="3">
                  <c:v>1.538461538</c:v>
                </c:pt>
                <c:pt idx="4">
                  <c:v>3.076923077</c:v>
                </c:pt>
                <c:pt idx="5">
                  <c:v>3.076923077</c:v>
                </c:pt>
                <c:pt idx="6">
                  <c:v>4.615384615</c:v>
                </c:pt>
                <c:pt idx="7">
                  <c:v>4.615384615</c:v>
                </c:pt>
                <c:pt idx="8">
                  <c:v>6.153846154</c:v>
                </c:pt>
                <c:pt idx="9">
                  <c:v>6.153846154</c:v>
                </c:pt>
                <c:pt idx="10">
                  <c:v>7.692307692</c:v>
                </c:pt>
                <c:pt idx="11">
                  <c:v>7.692307692</c:v>
                </c:pt>
                <c:pt idx="12">
                  <c:v>9.230769231</c:v>
                </c:pt>
                <c:pt idx="13">
                  <c:v>9.230769231</c:v>
                </c:pt>
                <c:pt idx="14">
                  <c:v>10.769230769</c:v>
                </c:pt>
                <c:pt idx="15">
                  <c:v>10.769230769</c:v>
                </c:pt>
                <c:pt idx="16">
                  <c:v>12.307692308</c:v>
                </c:pt>
                <c:pt idx="17">
                  <c:v>12.307692308</c:v>
                </c:pt>
                <c:pt idx="18">
                  <c:v>13.846153846</c:v>
                </c:pt>
                <c:pt idx="19">
                  <c:v>13.846153846</c:v>
                </c:pt>
                <c:pt idx="20">
                  <c:v>15.384615385</c:v>
                </c:pt>
                <c:pt idx="21">
                  <c:v>15.384615385</c:v>
                </c:pt>
                <c:pt idx="22">
                  <c:v>16.923076923</c:v>
                </c:pt>
                <c:pt idx="23">
                  <c:v>16.923076923</c:v>
                </c:pt>
                <c:pt idx="24">
                  <c:v>18.461538462</c:v>
                </c:pt>
                <c:pt idx="25">
                  <c:v>18.461538462</c:v>
                </c:pt>
                <c:pt idx="26">
                  <c:v>20</c:v>
                </c:pt>
                <c:pt idx="27">
                  <c:v>20</c:v>
                </c:pt>
                <c:pt idx="28">
                  <c:v>21.538461538</c:v>
                </c:pt>
                <c:pt idx="29">
                  <c:v>21.538461538</c:v>
                </c:pt>
                <c:pt idx="30">
                  <c:v>23.076923077</c:v>
                </c:pt>
                <c:pt idx="31">
                  <c:v>23.076923077</c:v>
                </c:pt>
                <c:pt idx="32">
                  <c:v>24.615384615</c:v>
                </c:pt>
                <c:pt idx="33">
                  <c:v>24.615384615</c:v>
                </c:pt>
                <c:pt idx="34">
                  <c:v>26.153846154</c:v>
                </c:pt>
                <c:pt idx="35">
                  <c:v>26.153846154</c:v>
                </c:pt>
                <c:pt idx="36">
                  <c:v>27.692307692</c:v>
                </c:pt>
                <c:pt idx="37">
                  <c:v>27.692307692</c:v>
                </c:pt>
                <c:pt idx="38">
                  <c:v>29.230769231</c:v>
                </c:pt>
                <c:pt idx="39">
                  <c:v>29.230769231</c:v>
                </c:pt>
                <c:pt idx="40">
                  <c:v>30.769230769</c:v>
                </c:pt>
                <c:pt idx="41">
                  <c:v>30.769230769</c:v>
                </c:pt>
                <c:pt idx="42">
                  <c:v>32.307692308</c:v>
                </c:pt>
                <c:pt idx="43">
                  <c:v>32.307692308</c:v>
                </c:pt>
                <c:pt idx="44">
                  <c:v>33.846153846</c:v>
                </c:pt>
                <c:pt idx="45">
                  <c:v>33.846153846</c:v>
                </c:pt>
                <c:pt idx="46">
                  <c:v>35.384615385</c:v>
                </c:pt>
                <c:pt idx="47">
                  <c:v>35.384615385</c:v>
                </c:pt>
                <c:pt idx="48">
                  <c:v>36.923076923</c:v>
                </c:pt>
                <c:pt idx="49">
                  <c:v>36.923076923</c:v>
                </c:pt>
                <c:pt idx="50">
                  <c:v>38.461538462</c:v>
                </c:pt>
                <c:pt idx="51">
                  <c:v>38.461538462</c:v>
                </c:pt>
                <c:pt idx="52">
                  <c:v>40</c:v>
                </c:pt>
                <c:pt idx="53">
                  <c:v>40</c:v>
                </c:pt>
                <c:pt idx="54">
                  <c:v>41.538461538</c:v>
                </c:pt>
                <c:pt idx="55">
                  <c:v>41.538461538</c:v>
                </c:pt>
                <c:pt idx="56">
                  <c:v>43.076923077</c:v>
                </c:pt>
                <c:pt idx="57">
                  <c:v>43.076923077</c:v>
                </c:pt>
                <c:pt idx="58">
                  <c:v>44.615384615</c:v>
                </c:pt>
                <c:pt idx="59">
                  <c:v>44.615384615</c:v>
                </c:pt>
                <c:pt idx="60">
                  <c:v>46.153846154</c:v>
                </c:pt>
                <c:pt idx="61">
                  <c:v>46.153846154</c:v>
                </c:pt>
                <c:pt idx="62">
                  <c:v>47.692307692</c:v>
                </c:pt>
                <c:pt idx="63">
                  <c:v>47.692307692</c:v>
                </c:pt>
                <c:pt idx="64">
                  <c:v>49.230769231</c:v>
                </c:pt>
                <c:pt idx="65">
                  <c:v>49.230769231</c:v>
                </c:pt>
                <c:pt idx="66">
                  <c:v>50.769230769</c:v>
                </c:pt>
                <c:pt idx="67">
                  <c:v>50.769230769</c:v>
                </c:pt>
                <c:pt idx="68">
                  <c:v>52.307692308</c:v>
                </c:pt>
                <c:pt idx="69">
                  <c:v>52.307692308</c:v>
                </c:pt>
                <c:pt idx="70">
                  <c:v>53.846153846</c:v>
                </c:pt>
                <c:pt idx="71">
                  <c:v>53.846153846</c:v>
                </c:pt>
                <c:pt idx="72">
                  <c:v>55.384615385</c:v>
                </c:pt>
                <c:pt idx="73">
                  <c:v>55.384615385</c:v>
                </c:pt>
                <c:pt idx="74">
                  <c:v>56.923076923</c:v>
                </c:pt>
                <c:pt idx="75">
                  <c:v>56.923076923</c:v>
                </c:pt>
                <c:pt idx="76">
                  <c:v>58.461538462</c:v>
                </c:pt>
                <c:pt idx="77">
                  <c:v>58.461538462</c:v>
                </c:pt>
                <c:pt idx="78">
                  <c:v>60</c:v>
                </c:pt>
                <c:pt idx="79">
                  <c:v>60</c:v>
                </c:pt>
                <c:pt idx="80">
                  <c:v>61.538461538</c:v>
                </c:pt>
                <c:pt idx="81">
                  <c:v>61.538461538</c:v>
                </c:pt>
                <c:pt idx="82">
                  <c:v>63.076923077</c:v>
                </c:pt>
                <c:pt idx="83">
                  <c:v>63.076923077</c:v>
                </c:pt>
                <c:pt idx="84">
                  <c:v>64.615384615</c:v>
                </c:pt>
                <c:pt idx="85">
                  <c:v>64.615384615</c:v>
                </c:pt>
                <c:pt idx="86">
                  <c:v>66.153846154</c:v>
                </c:pt>
                <c:pt idx="87">
                  <c:v>66.153846154</c:v>
                </c:pt>
                <c:pt idx="88">
                  <c:v>67.692307692</c:v>
                </c:pt>
                <c:pt idx="89">
                  <c:v>67.692307692</c:v>
                </c:pt>
                <c:pt idx="90">
                  <c:v>69.230769231</c:v>
                </c:pt>
                <c:pt idx="91">
                  <c:v>69.230769231</c:v>
                </c:pt>
                <c:pt idx="92">
                  <c:v>70.769230769</c:v>
                </c:pt>
                <c:pt idx="93">
                  <c:v>70.769230769</c:v>
                </c:pt>
                <c:pt idx="94">
                  <c:v>72.307692308</c:v>
                </c:pt>
                <c:pt idx="95">
                  <c:v>72.307692308</c:v>
                </c:pt>
                <c:pt idx="96">
                  <c:v>73.846153846</c:v>
                </c:pt>
                <c:pt idx="97">
                  <c:v>73.846153846</c:v>
                </c:pt>
                <c:pt idx="98">
                  <c:v>75.384615385</c:v>
                </c:pt>
                <c:pt idx="99">
                  <c:v>75.384615385</c:v>
                </c:pt>
                <c:pt idx="100">
                  <c:v>76.923076923</c:v>
                </c:pt>
                <c:pt idx="101">
                  <c:v>76.923076923</c:v>
                </c:pt>
                <c:pt idx="102">
                  <c:v>78.461538462</c:v>
                </c:pt>
                <c:pt idx="103">
                  <c:v>78.461538462</c:v>
                </c:pt>
                <c:pt idx="104">
                  <c:v>80</c:v>
                </c:pt>
                <c:pt idx="105">
                  <c:v>80</c:v>
                </c:pt>
                <c:pt idx="106">
                  <c:v>81.538461538</c:v>
                </c:pt>
                <c:pt idx="107">
                  <c:v>81.538461538</c:v>
                </c:pt>
                <c:pt idx="108">
                  <c:v>83.076923077</c:v>
                </c:pt>
                <c:pt idx="109">
                  <c:v>83.076923077</c:v>
                </c:pt>
                <c:pt idx="110">
                  <c:v>84.615384615</c:v>
                </c:pt>
                <c:pt idx="111">
                  <c:v>84.615384615</c:v>
                </c:pt>
                <c:pt idx="112">
                  <c:v>86.153846154</c:v>
                </c:pt>
                <c:pt idx="113">
                  <c:v>86.153846154</c:v>
                </c:pt>
                <c:pt idx="114">
                  <c:v>87.692307692</c:v>
                </c:pt>
                <c:pt idx="115">
                  <c:v>87.692307692</c:v>
                </c:pt>
                <c:pt idx="116">
                  <c:v>89.230769231</c:v>
                </c:pt>
                <c:pt idx="117">
                  <c:v>89.230769231</c:v>
                </c:pt>
                <c:pt idx="118">
                  <c:v>90.769230769</c:v>
                </c:pt>
                <c:pt idx="119">
                  <c:v>90.769230769</c:v>
                </c:pt>
                <c:pt idx="120">
                  <c:v>92.307692308</c:v>
                </c:pt>
                <c:pt idx="121">
                  <c:v>92.307692308</c:v>
                </c:pt>
                <c:pt idx="122">
                  <c:v>93.846153846</c:v>
                </c:pt>
                <c:pt idx="123">
                  <c:v>93.846153846</c:v>
                </c:pt>
                <c:pt idx="124">
                  <c:v>95.384615385</c:v>
                </c:pt>
                <c:pt idx="125">
                  <c:v>95.384615385</c:v>
                </c:pt>
                <c:pt idx="126">
                  <c:v>96.923076923</c:v>
                </c:pt>
                <c:pt idx="127">
                  <c:v>96.923076923</c:v>
                </c:pt>
                <c:pt idx="128">
                  <c:v>98.461538462</c:v>
                </c:pt>
                <c:pt idx="129">
                  <c:v>98.461538462</c:v>
                </c:pt>
                <c:pt idx="130">
                  <c:v>100</c:v>
                </c:pt>
                <c:pt idx="131">
                  <c:v>100</c:v>
                </c:pt>
              </c:numCache>
            </c:numRef>
          </c:xVal>
          <c:yVal>
            <c:numRef>
              <c:f>'Chart Data'!$B$2:$B$133</c:f>
              <c:numCache>
                <c:formatCode>0</c:formatCode>
                <c:ptCount val="132"/>
                <c:pt idx="0">
                  <c:v>8</c:v>
                </c:pt>
                <c:pt idx="1">
                  <c:v>18</c:v>
                </c:pt>
                <c:pt idx="2">
                  <c:v>18</c:v>
                </c:pt>
                <c:pt idx="3">
                  <c:v>8.153846154</c:v>
                </c:pt>
                <c:pt idx="4">
                  <c:v>8.307692308</c:v>
                </c:pt>
                <c:pt idx="5">
                  <c:v>18</c:v>
                </c:pt>
                <c:pt idx="6">
                  <c:v>18</c:v>
                </c:pt>
                <c:pt idx="7">
                  <c:v>8.461538462</c:v>
                </c:pt>
                <c:pt idx="8">
                  <c:v>8.615384615</c:v>
                </c:pt>
                <c:pt idx="9">
                  <c:v>18</c:v>
                </c:pt>
                <c:pt idx="10">
                  <c:v>18</c:v>
                </c:pt>
                <c:pt idx="11">
                  <c:v>8.769230769</c:v>
                </c:pt>
                <c:pt idx="12">
                  <c:v>8.923076923</c:v>
                </c:pt>
                <c:pt idx="13">
                  <c:v>18</c:v>
                </c:pt>
                <c:pt idx="14">
                  <c:v>18</c:v>
                </c:pt>
                <c:pt idx="15">
                  <c:v>9.076923077</c:v>
                </c:pt>
                <c:pt idx="16">
                  <c:v>9.230769231</c:v>
                </c:pt>
                <c:pt idx="17">
                  <c:v>18</c:v>
                </c:pt>
                <c:pt idx="18">
                  <c:v>18</c:v>
                </c:pt>
                <c:pt idx="19">
                  <c:v>9.384615385</c:v>
                </c:pt>
                <c:pt idx="20">
                  <c:v>9.538461538</c:v>
                </c:pt>
                <c:pt idx="21">
                  <c:v>18</c:v>
                </c:pt>
                <c:pt idx="22">
                  <c:v>18</c:v>
                </c:pt>
                <c:pt idx="23">
                  <c:v>9.692307692</c:v>
                </c:pt>
                <c:pt idx="24">
                  <c:v>9.846153846</c:v>
                </c:pt>
                <c:pt idx="25">
                  <c:v>18</c:v>
                </c:pt>
                <c:pt idx="26">
                  <c:v>18</c:v>
                </c:pt>
                <c:pt idx="27">
                  <c:v>10</c:v>
                </c:pt>
                <c:pt idx="28">
                  <c:v>10.153846154</c:v>
                </c:pt>
                <c:pt idx="29">
                  <c:v>18</c:v>
                </c:pt>
                <c:pt idx="30">
                  <c:v>18</c:v>
                </c:pt>
                <c:pt idx="31">
                  <c:v>10.307692308</c:v>
                </c:pt>
                <c:pt idx="32">
                  <c:v>10.461538462</c:v>
                </c:pt>
                <c:pt idx="33">
                  <c:v>18</c:v>
                </c:pt>
                <c:pt idx="34">
                  <c:v>18</c:v>
                </c:pt>
                <c:pt idx="35">
                  <c:v>10.615384615</c:v>
                </c:pt>
                <c:pt idx="36">
                  <c:v>10.769230769</c:v>
                </c:pt>
                <c:pt idx="37">
                  <c:v>18</c:v>
                </c:pt>
                <c:pt idx="38">
                  <c:v>18</c:v>
                </c:pt>
                <c:pt idx="39">
                  <c:v>10.923076923</c:v>
                </c:pt>
                <c:pt idx="40">
                  <c:v>11.076923077</c:v>
                </c:pt>
                <c:pt idx="41">
                  <c:v>18</c:v>
                </c:pt>
                <c:pt idx="42">
                  <c:v>18</c:v>
                </c:pt>
                <c:pt idx="43">
                  <c:v>11.230769231</c:v>
                </c:pt>
                <c:pt idx="44">
                  <c:v>11.384615385</c:v>
                </c:pt>
                <c:pt idx="45">
                  <c:v>18</c:v>
                </c:pt>
                <c:pt idx="46">
                  <c:v>18</c:v>
                </c:pt>
                <c:pt idx="47">
                  <c:v>11.538461538</c:v>
                </c:pt>
                <c:pt idx="48">
                  <c:v>11.692307692</c:v>
                </c:pt>
                <c:pt idx="49">
                  <c:v>18</c:v>
                </c:pt>
                <c:pt idx="50">
                  <c:v>18</c:v>
                </c:pt>
                <c:pt idx="51">
                  <c:v>11.846153846</c:v>
                </c:pt>
                <c:pt idx="52">
                  <c:v>12</c:v>
                </c:pt>
                <c:pt idx="53">
                  <c:v>18</c:v>
                </c:pt>
                <c:pt idx="54">
                  <c:v>18</c:v>
                </c:pt>
                <c:pt idx="55">
                  <c:v>12.153846154</c:v>
                </c:pt>
                <c:pt idx="56">
                  <c:v>12.307692308</c:v>
                </c:pt>
                <c:pt idx="57">
                  <c:v>18</c:v>
                </c:pt>
                <c:pt idx="58">
                  <c:v>18</c:v>
                </c:pt>
                <c:pt idx="59">
                  <c:v>12.461538462</c:v>
                </c:pt>
                <c:pt idx="60">
                  <c:v>12.615384615</c:v>
                </c:pt>
                <c:pt idx="61">
                  <c:v>18</c:v>
                </c:pt>
                <c:pt idx="62">
                  <c:v>18</c:v>
                </c:pt>
                <c:pt idx="63">
                  <c:v>12.769230769</c:v>
                </c:pt>
                <c:pt idx="64">
                  <c:v>12.923076923</c:v>
                </c:pt>
                <c:pt idx="65">
                  <c:v>18</c:v>
                </c:pt>
                <c:pt idx="66">
                  <c:v>18</c:v>
                </c:pt>
                <c:pt idx="67">
                  <c:v>13.076923077</c:v>
                </c:pt>
                <c:pt idx="68">
                  <c:v>13.230769231</c:v>
                </c:pt>
                <c:pt idx="69">
                  <c:v>18</c:v>
                </c:pt>
                <c:pt idx="70">
                  <c:v>18</c:v>
                </c:pt>
                <c:pt idx="71">
                  <c:v>13.384615385</c:v>
                </c:pt>
                <c:pt idx="72">
                  <c:v>13.538461538</c:v>
                </c:pt>
                <c:pt idx="73">
                  <c:v>18</c:v>
                </c:pt>
                <c:pt idx="74">
                  <c:v>18</c:v>
                </c:pt>
                <c:pt idx="75">
                  <c:v>13.692307692</c:v>
                </c:pt>
                <c:pt idx="76">
                  <c:v>13.846153846</c:v>
                </c:pt>
                <c:pt idx="77">
                  <c:v>18</c:v>
                </c:pt>
                <c:pt idx="78">
                  <c:v>18</c:v>
                </c:pt>
                <c:pt idx="79">
                  <c:v>14</c:v>
                </c:pt>
                <c:pt idx="80">
                  <c:v>14.153846154</c:v>
                </c:pt>
                <c:pt idx="81">
                  <c:v>18</c:v>
                </c:pt>
                <c:pt idx="82">
                  <c:v>18</c:v>
                </c:pt>
                <c:pt idx="83">
                  <c:v>14.307692308</c:v>
                </c:pt>
                <c:pt idx="84">
                  <c:v>14.461538462</c:v>
                </c:pt>
                <c:pt idx="85">
                  <c:v>18</c:v>
                </c:pt>
                <c:pt idx="86">
                  <c:v>18</c:v>
                </c:pt>
                <c:pt idx="87">
                  <c:v>14.615384615</c:v>
                </c:pt>
                <c:pt idx="88">
                  <c:v>14.769230769</c:v>
                </c:pt>
                <c:pt idx="89">
                  <c:v>18</c:v>
                </c:pt>
                <c:pt idx="90">
                  <c:v>18</c:v>
                </c:pt>
                <c:pt idx="91">
                  <c:v>14.923076923</c:v>
                </c:pt>
                <c:pt idx="92">
                  <c:v>15.076923077</c:v>
                </c:pt>
                <c:pt idx="93">
                  <c:v>18</c:v>
                </c:pt>
                <c:pt idx="94">
                  <c:v>18</c:v>
                </c:pt>
                <c:pt idx="95">
                  <c:v>15.230769231</c:v>
                </c:pt>
                <c:pt idx="96">
                  <c:v>15.384615385</c:v>
                </c:pt>
                <c:pt idx="97">
                  <c:v>18</c:v>
                </c:pt>
                <c:pt idx="98">
                  <c:v>18</c:v>
                </c:pt>
                <c:pt idx="99">
                  <c:v>15.538461538</c:v>
                </c:pt>
                <c:pt idx="100">
                  <c:v>15.692307692</c:v>
                </c:pt>
                <c:pt idx="101">
                  <c:v>18</c:v>
                </c:pt>
                <c:pt idx="102">
                  <c:v>18</c:v>
                </c:pt>
                <c:pt idx="103">
                  <c:v>15.846153846</c:v>
                </c:pt>
                <c:pt idx="104">
                  <c:v>16</c:v>
                </c:pt>
                <c:pt idx="105">
                  <c:v>18</c:v>
                </c:pt>
                <c:pt idx="106">
                  <c:v>18</c:v>
                </c:pt>
                <c:pt idx="107">
                  <c:v>16.153846154</c:v>
                </c:pt>
                <c:pt idx="108">
                  <c:v>16.307692308</c:v>
                </c:pt>
                <c:pt idx="109">
                  <c:v>18</c:v>
                </c:pt>
                <c:pt idx="110">
                  <c:v>18</c:v>
                </c:pt>
                <c:pt idx="111">
                  <c:v>16.461538462</c:v>
                </c:pt>
                <c:pt idx="112">
                  <c:v>16.615384615</c:v>
                </c:pt>
                <c:pt idx="113">
                  <c:v>18</c:v>
                </c:pt>
                <c:pt idx="114">
                  <c:v>18</c:v>
                </c:pt>
                <c:pt idx="115">
                  <c:v>16.769230769</c:v>
                </c:pt>
                <c:pt idx="116">
                  <c:v>16.923076923</c:v>
                </c:pt>
                <c:pt idx="117">
                  <c:v>18</c:v>
                </c:pt>
                <c:pt idx="118">
                  <c:v>18</c:v>
                </c:pt>
                <c:pt idx="119">
                  <c:v>17.076923077</c:v>
                </c:pt>
                <c:pt idx="120">
                  <c:v>17.230769231</c:v>
                </c:pt>
                <c:pt idx="121">
                  <c:v>18</c:v>
                </c:pt>
                <c:pt idx="122">
                  <c:v>18</c:v>
                </c:pt>
                <c:pt idx="123">
                  <c:v>17.384615385</c:v>
                </c:pt>
                <c:pt idx="124">
                  <c:v>17.538461538</c:v>
                </c:pt>
                <c:pt idx="125">
                  <c:v>18</c:v>
                </c:pt>
                <c:pt idx="126">
                  <c:v>18</c:v>
                </c:pt>
                <c:pt idx="127">
                  <c:v>17.692307692</c:v>
                </c:pt>
                <c:pt idx="128">
                  <c:v>17.846153846</c:v>
                </c:pt>
                <c:pt idx="129">
                  <c:v>18</c:v>
                </c:pt>
                <c:pt idx="130">
                  <c:v>18</c:v>
                </c:pt>
                <c:pt idx="131">
                  <c:v>18</c:v>
                </c:pt>
              </c:numCache>
            </c:numRef>
          </c:yVal>
          <c:smooth val="0"/>
        </c:ser>
        <c:ser>
          <c:idx val="1"/>
          <c:order val="1"/>
          <c:tx>
            <c:v>V</c:v>
          </c:tx>
          <c:spPr>
            <a:ln xmlns:a="http://schemas.openxmlformats.org/drawingml/2006/main" w="38100">
              <a:solidFill>
                <a:srgbClr val="17658A"/>
              </a:solidFill>
            </a:ln>
          </c:spPr>
          <c:marker>
            <c:symbol val="none"/>
          </c:marker>
          <c:dLbls>
            <c:dLbl>
              <c:idx val="1"/>
              <c:tx>
                <c:rich>
                  <a:bodyPr xmlns:a="http://schemas.openxmlformats.org/drawingml/2006/main"/>
                  <a:lstStyle xmlns:a="http://schemas.openxmlformats.org/drawingml/2006/main"/>
                  <a:p xmlns:a="http://schemas.openxmlformats.org/drawingml/2006/main">
                    <a:r>
                      <a:rPr sz="1950" b="1">
                        <a:solidFill>
                          <a:srgbClr val="17658A"/>
                        </a:solidFill>
                        <a:latin typeface="Arial"/>
                        <a:ea typeface="Arial"/>
                        <a:cs typeface="Arial"/>
                      </a:rPr>
                      <a:t>V</a:t>
                    </a:r>
                  </a:p>
                </c:rich>
              </c:tx>
              <c:txPr>
                <a:bodyPr xmlns:a="http://schemas.openxmlformats.org/drawingml/2006/main" anchorCtr="1"/>
                <a:lstStyle xmlns:a="http://schemas.openxmlformats.org/drawingml/2006/main"/>
                <a:p xmlns:a="http://schemas.openxmlformats.org/drawingml/2006/main">
                  <a:pPr>
                    <a:defRPr sz="1950" b="1">
                      <a:solidFill>
                        <a:srgbClr val="17658A"/>
                      </a:solidFill>
                      <a:latin typeface="Arial"/>
                      <a:ea typeface="Arial"/>
                      <a:cs typeface="Arial"/>
                    </a:defRPr>
                  </a:pPr>
                </a:p>
              </c:txPr>
              <c:dLblPos val="r"/>
              <c:showLegendKey val="0"/>
              <c:showVal val="0"/>
              <c:showCatName val="0"/>
              <c:showSerName val="0"/>
              <c:showPercent val="0"/>
              <c:showBubbleSize val="0"/>
            </c:dLbl>
            <c:showLegendKey val="0"/>
            <c:showVal val="0"/>
            <c:showCatName val="0"/>
            <c:showSerName val="0"/>
            <c:showPercent val="0"/>
            <c:showBubbleSize val="0"/>
            <c:showLeaderLines val="0"/>
          </c:dLbls>
          <c:xVal>
            <c:numRef>
              <c:f>'Chart Data'!$C$2:$C$3</c:f>
              <c:numCache>
                <c:formatCode>General</c:formatCode>
                <c:ptCount val="2"/>
                <c:pt idx="0">
                  <c:v>0</c:v>
                </c:pt>
                <c:pt idx="1">
                  <c:v>160</c:v>
                </c:pt>
              </c:numCache>
            </c:numRef>
          </c:xVal>
          <c:yVal>
            <c:numRef>
              <c:f>'Chart Data'!$D$2:$D$3</c:f>
              <c:numCache>
                <c:formatCode>0</c:formatCode>
                <c:ptCount val="2"/>
                <c:pt idx="0">
                  <c:v>32</c:v>
                </c:pt>
                <c:pt idx="1">
                  <c:v>0</c:v>
                </c:pt>
              </c:numCache>
            </c:numRef>
          </c:yVal>
          <c:smooth val="0"/>
        </c:ser>
        <c:ser>
          <c:idx val="2"/>
          <c:order val="2"/>
          <c:tx>
            <c:v>A</c:v>
          </c:tx>
          <c:spPr>
            <a:ln xmlns:a="http://schemas.openxmlformats.org/drawingml/2006/main" w="38100">
              <a:solidFill>
                <a:srgbClr val="20665B"/>
              </a:solidFill>
            </a:ln>
          </c:spPr>
          <c:marker>
            <c:symbol val="none"/>
          </c:marker>
          <c:dLbls>
            <c:dLbl>
              <c:idx val="1"/>
              <c:tx>
                <c:rich>
                  <a:bodyPr xmlns:a="http://schemas.openxmlformats.org/drawingml/2006/main"/>
                  <a:lstStyle xmlns:a="http://schemas.openxmlformats.org/drawingml/2006/main"/>
                  <a:p xmlns:a="http://schemas.openxmlformats.org/drawingml/2006/main">
                    <a:r>
                      <a:rPr sz="1950" b="1">
                        <a:solidFill>
                          <a:srgbClr val="20665B"/>
                        </a:solidFill>
                        <a:latin typeface="Arial"/>
                        <a:ea typeface="Arial"/>
                        <a:cs typeface="Arial"/>
                      </a:rPr>
                      <a:t>A</a:t>
                    </a:r>
                  </a:p>
                </c:rich>
              </c:tx>
              <c:txPr>
                <a:bodyPr xmlns:a="http://schemas.openxmlformats.org/drawingml/2006/main" anchorCtr="1"/>
                <a:lstStyle xmlns:a="http://schemas.openxmlformats.org/drawingml/2006/main"/>
                <a:p xmlns:a="http://schemas.openxmlformats.org/drawingml/2006/main">
                  <a:pPr>
                    <a:defRPr sz="1950" b="1">
                      <a:solidFill>
                        <a:srgbClr val="20665B"/>
                      </a:solidFill>
                      <a:latin typeface="Arial"/>
                      <a:ea typeface="Arial"/>
                      <a:cs typeface="Arial"/>
                    </a:defRPr>
                  </a:pPr>
                </a:p>
              </c:txPr>
              <c:dLblPos val="r"/>
              <c:showLegendKey val="0"/>
              <c:showVal val="0"/>
              <c:showCatName val="0"/>
              <c:showSerName val="0"/>
              <c:showPercent val="0"/>
              <c:showBubbleSize val="0"/>
            </c:dLbl>
            <c:showLegendKey val="0"/>
            <c:showVal val="0"/>
            <c:showCatName val="0"/>
            <c:showSerName val="0"/>
            <c:showPercent val="0"/>
            <c:showBubbleSize val="0"/>
            <c:showLeaderLines val="0"/>
          </c:dLbls>
          <c:xVal>
            <c:numRef>
              <c:f>'Chart Data'!$E$2:$E$3</c:f>
              <c:numCache>
                <c:formatCode>General</c:formatCode>
                <c:ptCount val="2"/>
                <c:pt idx="0">
                  <c:v>0</c:v>
                </c:pt>
                <c:pt idx="1">
                  <c:v>144</c:v>
                </c:pt>
              </c:numCache>
            </c:numRef>
          </c:xVal>
          <c:yVal>
            <c:numRef>
              <c:f>'Chart Data'!$F$2:$F$3</c:f>
              <c:numCache>
                <c:formatCode>0</c:formatCode>
                <c:ptCount val="2"/>
                <c:pt idx="0">
                  <c:v>8</c:v>
                </c:pt>
                <c:pt idx="1">
                  <c:v>22.4</c:v>
                </c:pt>
              </c:numCache>
            </c:numRef>
          </c:yVal>
          <c:smooth val="0"/>
        </c:ser>
        <c:ser>
          <c:idx val="3"/>
          <c:order val="3"/>
          <c:tx>
            <c:v>Pc hulplijn</c:v>
          </c:tx>
          <c:spPr>
            <a:ln xmlns:a="http://schemas.openxmlformats.org/drawingml/2006/main" w="13335">
              <a:solidFill>
                <a:srgbClr val="445B6B"/>
              </a:solidFill>
            </a:ln>
          </c:spPr>
          <c:marker>
            <c:symbol val="none"/>
          </c:marker>
          <c:xVal>
            <c:numRef>
              <c:f>'Chart Data'!$G$2:$G$4</c:f>
              <c:numCache>
                <c:formatCode>General</c:formatCode>
                <c:ptCount val="3"/>
                <c:pt idx="0">
                  <c:v>0</c:v>
                </c:pt>
                <c:pt idx="1">
                  <c:v>100</c:v>
                </c:pt>
                <c:pt idx="2">
                  <c:v>100</c:v>
                </c:pt>
              </c:numCache>
            </c:numRef>
          </c:xVal>
          <c:yVal>
            <c:numRef>
              <c:f>'Chart Data'!$H$2:$H$4</c:f>
              <c:numCache>
                <c:formatCode>0</c:formatCode>
                <c:ptCount val="3"/>
                <c:pt idx="0">
                  <c:v>12</c:v>
                </c:pt>
                <c:pt idx="1">
                  <c:v>12</c:v>
                </c:pt>
                <c:pt idx="2">
                  <c:v>0</c:v>
                </c:pt>
              </c:numCache>
            </c:numRef>
          </c:yVal>
          <c:smooth val="0"/>
        </c:ser>
        <c:ser>
          <c:idx val="4"/>
          <c:order val="4"/>
          <c:tx>
            <c:v>Pp hulplijn</c:v>
          </c:tx>
          <c:spPr>
            <a:ln xmlns:a="http://schemas.openxmlformats.org/drawingml/2006/main" w="13335">
              <a:solidFill>
                <a:srgbClr val="445B6B"/>
              </a:solidFill>
            </a:ln>
          </c:spPr>
          <c:marker>
            <c:symbol val="none"/>
          </c:marker>
          <c:xVal>
            <c:numRef>
              <c:f>'Chart Data'!$I$2:$I$3</c:f>
              <c:numCache>
                <c:formatCode>General</c:formatCode>
                <c:ptCount val="2"/>
                <c:pt idx="0">
                  <c:v>0</c:v>
                </c:pt>
                <c:pt idx="1">
                  <c:v>100</c:v>
                </c:pt>
              </c:numCache>
            </c:numRef>
          </c:xVal>
          <c:yVal>
            <c:numRef>
              <c:f>'Chart Data'!$J$2:$J$3</c:f>
              <c:numCache>
                <c:formatCode>0</c:formatCode>
                <c:ptCount val="2"/>
                <c:pt idx="0">
                  <c:v>18</c:v>
                </c:pt>
                <c:pt idx="1">
                  <c:v>18</c:v>
                </c:pt>
              </c:numCache>
            </c:numRef>
          </c:yVal>
          <c:smooth val="0"/>
        </c:ser>
        <c:ser>
          <c:idx val="5"/>
          <c:order val="5"/>
          <c:tx>
            <c:v>Subsidiewig</c:v>
          </c:tx>
          <c:spPr>
            <a:ln xmlns:a="http://schemas.openxmlformats.org/drawingml/2006/main" w="47625">
              <a:solidFill>
                <a:srgbClr val="A94D16"/>
              </a:solidFill>
            </a:ln>
          </c:spPr>
          <c:marker>
            <c:symbol val="none"/>
          </c:marker>
          <c:xVal>
            <c:numRef>
              <c:f>'Chart Data'!$K$2:$K$3</c:f>
              <c:numCache>
                <c:formatCode>General</c:formatCode>
                <c:ptCount val="2"/>
                <c:pt idx="0">
                  <c:v>100</c:v>
                </c:pt>
                <c:pt idx="1">
                  <c:v>100</c:v>
                </c:pt>
              </c:numCache>
            </c:numRef>
          </c:xVal>
          <c:yVal>
            <c:numRef>
              <c:f>'Chart Data'!$L$2:$L$3</c:f>
              <c:numCache>
                <c:formatCode>0</c:formatCode>
                <c:ptCount val="2"/>
                <c:pt idx="0">
                  <c:v>12</c:v>
                </c:pt>
                <c:pt idx="1">
                  <c:v>18</c:v>
                </c:pt>
              </c:numCache>
            </c:numRef>
          </c:yVal>
          <c:smooth val="0"/>
        </c:ser>
        <c:ser>
          <c:idx val="6"/>
          <c:order val="6"/>
          <c:tx>
            <c:v>Pc</c:v>
          </c:tx>
          <c:spPr>
            <a:ln xmlns:a="http://schemas.openxmlformats.org/drawingml/2006/main" w="0">
              <a:solidFill>
                <a:srgbClr val="17658A"/>
              </a:solidFill>
            </a:ln>
          </c:spPr>
          <c:marker>
            <c:symbol val="circle"/>
            <c:size val="9"/>
            <c:spPr>
              <a:solidFill xmlns:a="http://schemas.openxmlformats.org/drawingml/2006/main">
                <a:srgbClr val="17658A"/>
              </a:solidFill>
            </c:spPr>
          </c:marker>
          <c:xVal>
            <c:numRef>
              <c:f>'Chart Data'!$M$2:$M$2</c:f>
              <c:numCache>
                <c:formatCode>General</c:formatCode>
                <c:ptCount val="1"/>
                <c:pt idx="0">
                  <c:v>100</c:v>
                </c:pt>
              </c:numCache>
            </c:numRef>
          </c:xVal>
          <c:yVal>
            <c:numRef>
              <c:f>'Chart Data'!$N$2:$N$2</c:f>
              <c:numCache>
                <c:formatCode>0</c:formatCode>
                <c:ptCount val="1"/>
                <c:pt idx="0">
                  <c:v>12</c:v>
                </c:pt>
              </c:numCache>
            </c:numRef>
          </c:yVal>
          <c:smooth val="0"/>
        </c:ser>
        <c:ser>
          <c:idx val="7"/>
          <c:order val="7"/>
          <c:tx>
            <c:v>Pp</c:v>
          </c:tx>
          <c:spPr>
            <a:ln xmlns:a="http://schemas.openxmlformats.org/drawingml/2006/main" w="0">
              <a:solidFill>
                <a:srgbClr val="20665B"/>
              </a:solidFill>
            </a:ln>
          </c:spPr>
          <c:marker>
            <c:symbol val="circle"/>
            <c:size val="9"/>
            <c:spPr>
              <a:solidFill xmlns:a="http://schemas.openxmlformats.org/drawingml/2006/main">
                <a:srgbClr val="20665B"/>
              </a:solidFill>
            </c:spPr>
          </c:marker>
          <c:xVal>
            <c:numRef>
              <c:f>'Chart Data'!$O$2:$O$2</c:f>
              <c:numCache>
                <c:formatCode>General</c:formatCode>
                <c:ptCount val="1"/>
                <c:pt idx="0">
                  <c:v>100</c:v>
                </c:pt>
              </c:numCache>
            </c:numRef>
          </c:xVal>
          <c:yVal>
            <c:numRef>
              <c:f>'Chart Data'!$P$2:$P$2</c:f>
              <c:numCache>
                <c:formatCode>0</c:formatCode>
                <c:ptCount val="1"/>
                <c:pt idx="0">
                  <c:v>18</c:v>
                </c:pt>
              </c:numCache>
            </c:numRef>
          </c:yVal>
          <c:smooth val="0"/>
        </c:ser>
        <c:ser>
          <c:idx val="8"/>
          <c:order val="8"/>
          <c:tx>
            <c:v>PS label</c:v>
          </c:tx>
          <c:spPr>
            <a:ln xmlns:a="http://schemas.openxmlformats.org/drawingml/2006/main" w="0">
              <a:solidFill>
                <a:srgbClr val="183247"/>
              </a:solid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183247"/>
                        </a:solidFill>
                        <a:latin typeface="Arial"/>
                        <a:ea typeface="Arial"/>
                        <a:cs typeface="Arial"/>
                      </a:rPr>
                      <a:t>PS</a:t>
                    </a:r>
                  </a:p>
                </c:rich>
              </c:tx>
              <c:txPr>
                <a:bodyPr xmlns:a="http://schemas.openxmlformats.org/drawingml/2006/main" anchorCtr="1"/>
                <a:lstStyle xmlns:a="http://schemas.openxmlformats.org/drawingml/2006/main"/>
                <a:p xmlns:a="http://schemas.openxmlformats.org/drawingml/2006/main">
                  <a:pPr>
                    <a:defRPr sz="1950" b="1">
                      <a:solidFill>
                        <a:srgbClr val="183247"/>
                      </a:solidFill>
                      <a:latin typeface="Arial"/>
                      <a:ea typeface="Arial"/>
                      <a:cs typeface="Arial"/>
                    </a:defRPr>
                  </a:pPr>
                </a:p>
              </c:txPr>
              <c:dLblPos val="r"/>
              <c:showLegendKey val="0"/>
              <c:showVal val="0"/>
              <c:showCatName val="0"/>
              <c:showSerName val="0"/>
              <c:showPercent val="0"/>
              <c:showBubbleSize val="0"/>
            </c:dLbl>
            <c:showLegendKey val="0"/>
            <c:showVal val="0"/>
            <c:showCatName val="0"/>
            <c:showSerName val="0"/>
            <c:showPercent val="0"/>
            <c:showBubbleSize val="0"/>
            <c:showLeaderLines val="0"/>
          </c:dLbls>
          <c:xVal>
            <c:numRef>
              <c:f>'Chart Data'!$Q$2:$Q$2</c:f>
              <c:numCache>
                <c:formatCode>General</c:formatCode>
                <c:ptCount val="1"/>
                <c:pt idx="0">
                  <c:v>22</c:v>
                </c:pt>
              </c:numCache>
            </c:numRef>
          </c:xVal>
          <c:yVal>
            <c:numRef>
              <c:f>'Chart Data'!$R$2:$R$2</c:f>
              <c:numCache>
                <c:formatCode>0</c:formatCode>
                <c:ptCount val="1"/>
                <c:pt idx="0">
                  <c:v>14.1</c:v>
                </c:pt>
              </c:numCache>
            </c:numRef>
          </c:yVal>
          <c:smooth val="0"/>
        </c:ser>
        <c:ser>
          <c:idx val="9"/>
          <c:order val="9"/>
          <c:tx>
            <c:v>Pp annotation</c:v>
          </c:tx>
          <c:spPr>
            <a:ln xmlns:a="http://schemas.openxmlformats.org/drawingml/2006/main" w="0">
              <a:solidFill>
                <a:srgbClr val="20665B"/>
              </a:solid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20665B"/>
                        </a:solidFill>
                        <a:latin typeface="Arial"/>
                        <a:ea typeface="Arial"/>
                        <a:cs typeface="Arial"/>
                      </a:rPr>
                      <a:t>Pp = 18</a:t>
                    </a:r>
                  </a:p>
                </c:rich>
              </c:tx>
              <c:txPr>
                <a:bodyPr xmlns:a="http://schemas.openxmlformats.org/drawingml/2006/main" anchorCtr="1"/>
                <a:lstStyle xmlns:a="http://schemas.openxmlformats.org/drawingml/2006/main"/>
                <a:p xmlns:a="http://schemas.openxmlformats.org/drawingml/2006/main">
                  <a:pPr>
                    <a:defRPr sz="1950" b="1">
                      <a:solidFill>
                        <a:srgbClr val="20665B"/>
                      </a:solidFill>
                      <a:latin typeface="Arial"/>
                      <a:ea typeface="Arial"/>
                      <a:cs typeface="Arial"/>
                    </a:defRPr>
                  </a:pPr>
                </a:p>
              </c:txPr>
              <c:dLblPos val="r"/>
              <c:showLegendKey val="0"/>
              <c:showVal val="0"/>
              <c:showCatName val="0"/>
              <c:showSerName val="0"/>
              <c:showPercent val="0"/>
              <c:showBubbleSize val="0"/>
            </c:dLbl>
            <c:showLegendKey val="0"/>
            <c:showVal val="0"/>
            <c:showCatName val="0"/>
            <c:showSerName val="0"/>
            <c:showPercent val="0"/>
            <c:showBubbleSize val="0"/>
            <c:showLeaderLines val="0"/>
          </c:dLbls>
          <c:xVal>
            <c:numRef>
              <c:f>'Chart Data'!$S$2:$S$2</c:f>
              <c:numCache>
                <c:formatCode>General</c:formatCode>
                <c:ptCount val="1"/>
                <c:pt idx="0">
                  <c:v>100</c:v>
                </c:pt>
              </c:numCache>
            </c:numRef>
          </c:xVal>
          <c:yVal>
            <c:numRef>
              <c:f>'Chart Data'!$T$2:$T$2</c:f>
              <c:numCache>
                <c:formatCode>0</c:formatCode>
                <c:ptCount val="1"/>
                <c:pt idx="0">
                  <c:v>21</c:v>
                </c:pt>
              </c:numCache>
            </c:numRef>
          </c:yVal>
          <c:smooth val="0"/>
        </c:ser>
        <c:ser>
          <c:idx val="10"/>
          <c:order val="10"/>
          <c:tx>
            <c:v>Pc annotation</c:v>
          </c:tx>
          <c:spPr>
            <a:ln xmlns:a="http://schemas.openxmlformats.org/drawingml/2006/main" w="0">
              <a:solidFill>
                <a:srgbClr val="17658A"/>
              </a:solid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17658A"/>
                        </a:solidFill>
                        <a:latin typeface="Arial"/>
                        <a:ea typeface="Arial"/>
                        <a:cs typeface="Arial"/>
                      </a:rPr>
                      <a:t>Pc = 12</a:t>
                    </a:r>
                  </a:p>
                </c:rich>
              </c:tx>
              <c:txPr>
                <a:bodyPr xmlns:a="http://schemas.openxmlformats.org/drawingml/2006/main" anchorCtr="1"/>
                <a:lstStyle xmlns:a="http://schemas.openxmlformats.org/drawingml/2006/main"/>
                <a:p xmlns:a="http://schemas.openxmlformats.org/drawingml/2006/main">
                  <a:pPr>
                    <a:defRPr sz="1950" b="1">
                      <a:solidFill>
                        <a:srgbClr val="17658A"/>
                      </a:solidFill>
                      <a:latin typeface="Arial"/>
                      <a:ea typeface="Arial"/>
                      <a:cs typeface="Arial"/>
                    </a:defRPr>
                  </a:pPr>
                </a:p>
              </c:txPr>
              <c:dLblPos val="r"/>
              <c:showLegendKey val="0"/>
              <c:showVal val="0"/>
              <c:showCatName val="0"/>
              <c:showSerName val="0"/>
              <c:showPercent val="0"/>
              <c:showBubbleSize val="0"/>
            </c:dLbl>
            <c:showLegendKey val="0"/>
            <c:showVal val="0"/>
            <c:showCatName val="0"/>
            <c:showSerName val="0"/>
            <c:showPercent val="0"/>
            <c:showBubbleSize val="0"/>
            <c:showLeaderLines val="0"/>
          </c:dLbls>
          <c:xVal>
            <c:numRef>
              <c:f>'Chart Data'!$U$2:$U$2</c:f>
              <c:numCache>
                <c:formatCode>General</c:formatCode>
                <c:ptCount val="1"/>
                <c:pt idx="0">
                  <c:v>120</c:v>
                </c:pt>
              </c:numCache>
            </c:numRef>
          </c:xVal>
          <c:yVal>
            <c:numRef>
              <c:f>'Chart Data'!$V$2:$V$2</c:f>
              <c:numCache>
                <c:formatCode>0</c:formatCode>
                <c:ptCount val="1"/>
                <c:pt idx="0">
                  <c:v>12</c:v>
                </c:pt>
              </c:numCache>
            </c:numRef>
          </c:yVal>
          <c:smooth val="0"/>
        </c:ser>
        <c:dLbls>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36"/>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P (€ per controle)</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6"/>
      </c:valAx>
      <c:valAx>
        <c:axId val="48650112"/>
        <c:scaling>
          <c:orientation val="minMax"/>
          <c:max val="160"/>
          <c:min val="0"/>
        </c:scaling>
        <c:delete val="0"/>
        <c:axPos val="b"/>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Q (controles per week)</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scatterChart>
        <c:scatterStyle val="lineMarker"/>
        <c:ser>
          <c:idx val="0"/>
          <c:order val="0"/>
          <c:tx>
            <c:v>W</c:v>
          </c:tx>
          <c:spPr>
            <a:ln xmlns:a="http://schemas.openxmlformats.org/drawingml/2006/main" w="11430">
              <a:solidFill>
                <a:srgbClr val="D89870"/>
              </a:solidFill>
            </a:ln>
          </c:spPr>
          <c:marker>
            <c:symbol val="none"/>
          </c:marker>
          <c:xVal>
            <c:numRef>
              <c:f>'Chart Data'!$A$2:$A$133</c:f>
              <c:numCache>
                <c:formatCode>General</c:formatCode>
                <c:ptCount val="132"/>
                <c:pt idx="0">
                  <c:v>80</c:v>
                </c:pt>
                <c:pt idx="1">
                  <c:v>80</c:v>
                </c:pt>
                <c:pt idx="2">
                  <c:v>80.307692308</c:v>
                </c:pt>
                <c:pt idx="3">
                  <c:v>80.307692308</c:v>
                </c:pt>
                <c:pt idx="4">
                  <c:v>80.615384615</c:v>
                </c:pt>
                <c:pt idx="5">
                  <c:v>80.615384615</c:v>
                </c:pt>
                <c:pt idx="6">
                  <c:v>80.923076923</c:v>
                </c:pt>
                <c:pt idx="7">
                  <c:v>80.923076923</c:v>
                </c:pt>
                <c:pt idx="8">
                  <c:v>81.230769231</c:v>
                </c:pt>
                <c:pt idx="9">
                  <c:v>81.230769231</c:v>
                </c:pt>
                <c:pt idx="10">
                  <c:v>81.538461538</c:v>
                </c:pt>
                <c:pt idx="11">
                  <c:v>81.538461538</c:v>
                </c:pt>
                <c:pt idx="12">
                  <c:v>81.846153846</c:v>
                </c:pt>
                <c:pt idx="13">
                  <c:v>81.846153846</c:v>
                </c:pt>
                <c:pt idx="14">
                  <c:v>82.153846154</c:v>
                </c:pt>
                <c:pt idx="15">
                  <c:v>82.153846154</c:v>
                </c:pt>
                <c:pt idx="16">
                  <c:v>82.461538462</c:v>
                </c:pt>
                <c:pt idx="17">
                  <c:v>82.461538462</c:v>
                </c:pt>
                <c:pt idx="18">
                  <c:v>82.769230769</c:v>
                </c:pt>
                <c:pt idx="19">
                  <c:v>82.769230769</c:v>
                </c:pt>
                <c:pt idx="20">
                  <c:v>83.076923077</c:v>
                </c:pt>
                <c:pt idx="21">
                  <c:v>83.076923077</c:v>
                </c:pt>
                <c:pt idx="22">
                  <c:v>83.384615385</c:v>
                </c:pt>
                <c:pt idx="23">
                  <c:v>83.384615385</c:v>
                </c:pt>
                <c:pt idx="24">
                  <c:v>83.692307692</c:v>
                </c:pt>
                <c:pt idx="25">
                  <c:v>83.692307692</c:v>
                </c:pt>
                <c:pt idx="26">
                  <c:v>84</c:v>
                </c:pt>
                <c:pt idx="27">
                  <c:v>84</c:v>
                </c:pt>
                <c:pt idx="28">
                  <c:v>84.307692308</c:v>
                </c:pt>
                <c:pt idx="29">
                  <c:v>84.307692308</c:v>
                </c:pt>
                <c:pt idx="30">
                  <c:v>84.615384615</c:v>
                </c:pt>
                <c:pt idx="31">
                  <c:v>84.615384615</c:v>
                </c:pt>
                <c:pt idx="32">
                  <c:v>84.923076923</c:v>
                </c:pt>
                <c:pt idx="33">
                  <c:v>84.923076923</c:v>
                </c:pt>
                <c:pt idx="34">
                  <c:v>85.230769231</c:v>
                </c:pt>
                <c:pt idx="35">
                  <c:v>85.230769231</c:v>
                </c:pt>
                <c:pt idx="36">
                  <c:v>85.538461538</c:v>
                </c:pt>
                <c:pt idx="37">
                  <c:v>85.538461538</c:v>
                </c:pt>
                <c:pt idx="38">
                  <c:v>85.846153846</c:v>
                </c:pt>
                <c:pt idx="39">
                  <c:v>85.846153846</c:v>
                </c:pt>
                <c:pt idx="40">
                  <c:v>86.153846154</c:v>
                </c:pt>
                <c:pt idx="41">
                  <c:v>86.153846154</c:v>
                </c:pt>
                <c:pt idx="42">
                  <c:v>86.461538462</c:v>
                </c:pt>
                <c:pt idx="43">
                  <c:v>86.461538462</c:v>
                </c:pt>
                <c:pt idx="44">
                  <c:v>86.769230769</c:v>
                </c:pt>
                <c:pt idx="45">
                  <c:v>86.769230769</c:v>
                </c:pt>
                <c:pt idx="46">
                  <c:v>87.076923077</c:v>
                </c:pt>
                <c:pt idx="47">
                  <c:v>87.076923077</c:v>
                </c:pt>
                <c:pt idx="48">
                  <c:v>87.384615385</c:v>
                </c:pt>
                <c:pt idx="49">
                  <c:v>87.384615385</c:v>
                </c:pt>
                <c:pt idx="50">
                  <c:v>87.692307692</c:v>
                </c:pt>
                <c:pt idx="51">
                  <c:v>87.692307692</c:v>
                </c:pt>
                <c:pt idx="52">
                  <c:v>88</c:v>
                </c:pt>
                <c:pt idx="53">
                  <c:v>88</c:v>
                </c:pt>
                <c:pt idx="54">
                  <c:v>88.307692308</c:v>
                </c:pt>
                <c:pt idx="55">
                  <c:v>88.307692308</c:v>
                </c:pt>
                <c:pt idx="56">
                  <c:v>88.615384615</c:v>
                </c:pt>
                <c:pt idx="57">
                  <c:v>88.615384615</c:v>
                </c:pt>
                <c:pt idx="58">
                  <c:v>88.923076923</c:v>
                </c:pt>
                <c:pt idx="59">
                  <c:v>88.923076923</c:v>
                </c:pt>
                <c:pt idx="60">
                  <c:v>89.230769231</c:v>
                </c:pt>
                <c:pt idx="61">
                  <c:v>89.230769231</c:v>
                </c:pt>
                <c:pt idx="62">
                  <c:v>89.538461538</c:v>
                </c:pt>
                <c:pt idx="63">
                  <c:v>89.538461538</c:v>
                </c:pt>
                <c:pt idx="64">
                  <c:v>89.846153846</c:v>
                </c:pt>
                <c:pt idx="65">
                  <c:v>89.846153846</c:v>
                </c:pt>
                <c:pt idx="66">
                  <c:v>90.153846154</c:v>
                </c:pt>
                <c:pt idx="67">
                  <c:v>90.153846154</c:v>
                </c:pt>
                <c:pt idx="68">
                  <c:v>90.461538462</c:v>
                </c:pt>
                <c:pt idx="69">
                  <c:v>90.461538462</c:v>
                </c:pt>
                <c:pt idx="70">
                  <c:v>90.769230769</c:v>
                </c:pt>
                <c:pt idx="71">
                  <c:v>90.769230769</c:v>
                </c:pt>
                <c:pt idx="72">
                  <c:v>91.076923077</c:v>
                </c:pt>
                <c:pt idx="73">
                  <c:v>91.076923077</c:v>
                </c:pt>
                <c:pt idx="74">
                  <c:v>91.384615385</c:v>
                </c:pt>
                <c:pt idx="75">
                  <c:v>91.384615385</c:v>
                </c:pt>
                <c:pt idx="76">
                  <c:v>91.692307692</c:v>
                </c:pt>
                <c:pt idx="77">
                  <c:v>91.692307692</c:v>
                </c:pt>
                <c:pt idx="78">
                  <c:v>92</c:v>
                </c:pt>
                <c:pt idx="79">
                  <c:v>92</c:v>
                </c:pt>
                <c:pt idx="80">
                  <c:v>92.307692308</c:v>
                </c:pt>
                <c:pt idx="81">
                  <c:v>92.307692308</c:v>
                </c:pt>
                <c:pt idx="82">
                  <c:v>92.615384615</c:v>
                </c:pt>
                <c:pt idx="83">
                  <c:v>92.615384615</c:v>
                </c:pt>
                <c:pt idx="84">
                  <c:v>92.923076923</c:v>
                </c:pt>
                <c:pt idx="85">
                  <c:v>92.923076923</c:v>
                </c:pt>
                <c:pt idx="86">
                  <c:v>93.230769231</c:v>
                </c:pt>
                <c:pt idx="87">
                  <c:v>93.230769231</c:v>
                </c:pt>
                <c:pt idx="88">
                  <c:v>93.538461538</c:v>
                </c:pt>
                <c:pt idx="89">
                  <c:v>93.538461538</c:v>
                </c:pt>
                <c:pt idx="90">
                  <c:v>93.846153846</c:v>
                </c:pt>
                <c:pt idx="91">
                  <c:v>93.846153846</c:v>
                </c:pt>
                <c:pt idx="92">
                  <c:v>94.153846154</c:v>
                </c:pt>
                <c:pt idx="93">
                  <c:v>94.153846154</c:v>
                </c:pt>
                <c:pt idx="94">
                  <c:v>94.461538462</c:v>
                </c:pt>
                <c:pt idx="95">
                  <c:v>94.461538462</c:v>
                </c:pt>
                <c:pt idx="96">
                  <c:v>94.769230769</c:v>
                </c:pt>
                <c:pt idx="97">
                  <c:v>94.769230769</c:v>
                </c:pt>
                <c:pt idx="98">
                  <c:v>95.076923077</c:v>
                </c:pt>
                <c:pt idx="99">
                  <c:v>95.076923077</c:v>
                </c:pt>
                <c:pt idx="100">
                  <c:v>95.384615385</c:v>
                </c:pt>
                <c:pt idx="101">
                  <c:v>95.384615385</c:v>
                </c:pt>
                <c:pt idx="102">
                  <c:v>95.692307692</c:v>
                </c:pt>
                <c:pt idx="103">
                  <c:v>95.692307692</c:v>
                </c:pt>
                <c:pt idx="104">
                  <c:v>96</c:v>
                </c:pt>
                <c:pt idx="105">
                  <c:v>96</c:v>
                </c:pt>
                <c:pt idx="106">
                  <c:v>96.307692308</c:v>
                </c:pt>
                <c:pt idx="107">
                  <c:v>96.307692308</c:v>
                </c:pt>
                <c:pt idx="108">
                  <c:v>96.615384615</c:v>
                </c:pt>
                <c:pt idx="109">
                  <c:v>96.615384615</c:v>
                </c:pt>
                <c:pt idx="110">
                  <c:v>96.923076923</c:v>
                </c:pt>
                <c:pt idx="111">
                  <c:v>96.923076923</c:v>
                </c:pt>
                <c:pt idx="112">
                  <c:v>97.230769231</c:v>
                </c:pt>
                <c:pt idx="113">
                  <c:v>97.230769231</c:v>
                </c:pt>
                <c:pt idx="114">
                  <c:v>97.538461538</c:v>
                </c:pt>
                <c:pt idx="115">
                  <c:v>97.538461538</c:v>
                </c:pt>
                <c:pt idx="116">
                  <c:v>97.846153846</c:v>
                </c:pt>
                <c:pt idx="117">
                  <c:v>97.846153846</c:v>
                </c:pt>
                <c:pt idx="118">
                  <c:v>98.153846154</c:v>
                </c:pt>
                <c:pt idx="119">
                  <c:v>98.153846154</c:v>
                </c:pt>
                <c:pt idx="120">
                  <c:v>98.461538462</c:v>
                </c:pt>
                <c:pt idx="121">
                  <c:v>98.461538462</c:v>
                </c:pt>
                <c:pt idx="122">
                  <c:v>98.769230769</c:v>
                </c:pt>
                <c:pt idx="123">
                  <c:v>98.769230769</c:v>
                </c:pt>
                <c:pt idx="124">
                  <c:v>99.076923077</c:v>
                </c:pt>
                <c:pt idx="125">
                  <c:v>99.076923077</c:v>
                </c:pt>
                <c:pt idx="126">
                  <c:v>99.384615385</c:v>
                </c:pt>
                <c:pt idx="127">
                  <c:v>99.384615385</c:v>
                </c:pt>
                <c:pt idx="128">
                  <c:v>99.692307692</c:v>
                </c:pt>
                <c:pt idx="129">
                  <c:v>99.692307692</c:v>
                </c:pt>
                <c:pt idx="130">
                  <c:v>100</c:v>
                </c:pt>
                <c:pt idx="131">
                  <c:v>100</c:v>
                </c:pt>
              </c:numCache>
            </c:numRef>
          </c:xVal>
          <c:yVal>
            <c:numRef>
              <c:f>'Chart Data'!$B$2:$B$133</c:f>
              <c:numCache>
                <c:formatCode>0</c:formatCode>
                <c:ptCount val="132"/>
                <c:pt idx="0">
                  <c:v>16</c:v>
                </c:pt>
                <c:pt idx="1">
                  <c:v>16</c:v>
                </c:pt>
                <c:pt idx="2">
                  <c:v>16.030769231</c:v>
                </c:pt>
                <c:pt idx="3">
                  <c:v>15.938461538</c:v>
                </c:pt>
                <c:pt idx="4">
                  <c:v>15.876923077</c:v>
                </c:pt>
                <c:pt idx="5">
                  <c:v>16.061538462</c:v>
                </c:pt>
                <c:pt idx="6">
                  <c:v>16.092307692</c:v>
                </c:pt>
                <c:pt idx="7">
                  <c:v>15.815384615</c:v>
                </c:pt>
                <c:pt idx="8">
                  <c:v>15.753846154</c:v>
                </c:pt>
                <c:pt idx="9">
                  <c:v>16.123076923</c:v>
                </c:pt>
                <c:pt idx="10">
                  <c:v>16.153846154</c:v>
                </c:pt>
                <c:pt idx="11">
                  <c:v>15.692307692</c:v>
                </c:pt>
                <c:pt idx="12">
                  <c:v>15.630769231</c:v>
                </c:pt>
                <c:pt idx="13">
                  <c:v>16.184615385</c:v>
                </c:pt>
                <c:pt idx="14">
                  <c:v>16.215384615</c:v>
                </c:pt>
                <c:pt idx="15">
                  <c:v>15.569230769</c:v>
                </c:pt>
                <c:pt idx="16">
                  <c:v>15.507692308</c:v>
                </c:pt>
                <c:pt idx="17">
                  <c:v>16.246153846</c:v>
                </c:pt>
                <c:pt idx="18">
                  <c:v>16.276923077</c:v>
                </c:pt>
                <c:pt idx="19">
                  <c:v>15.446153846</c:v>
                </c:pt>
                <c:pt idx="20">
                  <c:v>15.384615385</c:v>
                </c:pt>
                <c:pt idx="21">
                  <c:v>16.307692308</c:v>
                </c:pt>
                <c:pt idx="22">
                  <c:v>16.338461538</c:v>
                </c:pt>
                <c:pt idx="23">
                  <c:v>15.323076923</c:v>
                </c:pt>
                <c:pt idx="24">
                  <c:v>15.261538462</c:v>
                </c:pt>
                <c:pt idx="25">
                  <c:v>16.369230769</c:v>
                </c:pt>
                <c:pt idx="26">
                  <c:v>16.4</c:v>
                </c:pt>
                <c:pt idx="27">
                  <c:v>15.2</c:v>
                </c:pt>
                <c:pt idx="28">
                  <c:v>15.138461538</c:v>
                </c:pt>
                <c:pt idx="29">
                  <c:v>16.430769231</c:v>
                </c:pt>
                <c:pt idx="30">
                  <c:v>16.461538462</c:v>
                </c:pt>
                <c:pt idx="31">
                  <c:v>15.076923077</c:v>
                </c:pt>
                <c:pt idx="32">
                  <c:v>15.015384615</c:v>
                </c:pt>
                <c:pt idx="33">
                  <c:v>16.492307692</c:v>
                </c:pt>
                <c:pt idx="34">
                  <c:v>16.523076923</c:v>
                </c:pt>
                <c:pt idx="35">
                  <c:v>14.953846154</c:v>
                </c:pt>
                <c:pt idx="36">
                  <c:v>14.892307692</c:v>
                </c:pt>
                <c:pt idx="37">
                  <c:v>16.553846154</c:v>
                </c:pt>
                <c:pt idx="38">
                  <c:v>16.584615385</c:v>
                </c:pt>
                <c:pt idx="39">
                  <c:v>14.830769231</c:v>
                </c:pt>
                <c:pt idx="40">
                  <c:v>14.769230769</c:v>
                </c:pt>
                <c:pt idx="41">
                  <c:v>16.615384615</c:v>
                </c:pt>
                <c:pt idx="42">
                  <c:v>16.646153846</c:v>
                </c:pt>
                <c:pt idx="43">
                  <c:v>14.707692308</c:v>
                </c:pt>
                <c:pt idx="44">
                  <c:v>14.646153846</c:v>
                </c:pt>
                <c:pt idx="45">
                  <c:v>16.676923077</c:v>
                </c:pt>
                <c:pt idx="46">
                  <c:v>16.707692308</c:v>
                </c:pt>
                <c:pt idx="47">
                  <c:v>14.584615385</c:v>
                </c:pt>
                <c:pt idx="48">
                  <c:v>14.523076923</c:v>
                </c:pt>
                <c:pt idx="49">
                  <c:v>16.738461538</c:v>
                </c:pt>
                <c:pt idx="50">
                  <c:v>16.769230769</c:v>
                </c:pt>
                <c:pt idx="51">
                  <c:v>14.461538462</c:v>
                </c:pt>
                <c:pt idx="52">
                  <c:v>14.4</c:v>
                </c:pt>
                <c:pt idx="53">
                  <c:v>16.8</c:v>
                </c:pt>
                <c:pt idx="54">
                  <c:v>16.830769231</c:v>
                </c:pt>
                <c:pt idx="55">
                  <c:v>14.338461538</c:v>
                </c:pt>
                <c:pt idx="56">
                  <c:v>14.276923077</c:v>
                </c:pt>
                <c:pt idx="57">
                  <c:v>16.861538462</c:v>
                </c:pt>
                <c:pt idx="58">
                  <c:v>16.892307692</c:v>
                </c:pt>
                <c:pt idx="59">
                  <c:v>14.215384615</c:v>
                </c:pt>
                <c:pt idx="60">
                  <c:v>14.153846154</c:v>
                </c:pt>
                <c:pt idx="61">
                  <c:v>16.923076923</c:v>
                </c:pt>
                <c:pt idx="62">
                  <c:v>16.953846154</c:v>
                </c:pt>
                <c:pt idx="63">
                  <c:v>14.092307692</c:v>
                </c:pt>
                <c:pt idx="64">
                  <c:v>14.030769231</c:v>
                </c:pt>
                <c:pt idx="65">
                  <c:v>16.984615385</c:v>
                </c:pt>
                <c:pt idx="66">
                  <c:v>17.015384615</c:v>
                </c:pt>
                <c:pt idx="67">
                  <c:v>13.969230769</c:v>
                </c:pt>
                <c:pt idx="68">
                  <c:v>13.907692308</c:v>
                </c:pt>
                <c:pt idx="69">
                  <c:v>17.046153846</c:v>
                </c:pt>
                <c:pt idx="70">
                  <c:v>17.076923077</c:v>
                </c:pt>
                <c:pt idx="71">
                  <c:v>13.846153846</c:v>
                </c:pt>
                <c:pt idx="72">
                  <c:v>13.784615385</c:v>
                </c:pt>
                <c:pt idx="73">
                  <c:v>17.107692308</c:v>
                </c:pt>
                <c:pt idx="74">
                  <c:v>17.138461538</c:v>
                </c:pt>
                <c:pt idx="75">
                  <c:v>13.723076923</c:v>
                </c:pt>
                <c:pt idx="76">
                  <c:v>13.661538462</c:v>
                </c:pt>
                <c:pt idx="77">
                  <c:v>17.169230769</c:v>
                </c:pt>
                <c:pt idx="78">
                  <c:v>17.2</c:v>
                </c:pt>
                <c:pt idx="79">
                  <c:v>13.6</c:v>
                </c:pt>
                <c:pt idx="80">
                  <c:v>13.538461538</c:v>
                </c:pt>
                <c:pt idx="81">
                  <c:v>17.230769231</c:v>
                </c:pt>
                <c:pt idx="82">
                  <c:v>17.261538462</c:v>
                </c:pt>
                <c:pt idx="83">
                  <c:v>13.476923077</c:v>
                </c:pt>
                <c:pt idx="84">
                  <c:v>13.415384615</c:v>
                </c:pt>
                <c:pt idx="85">
                  <c:v>17.292307692</c:v>
                </c:pt>
                <c:pt idx="86">
                  <c:v>17.323076923</c:v>
                </c:pt>
                <c:pt idx="87">
                  <c:v>13.353846154</c:v>
                </c:pt>
                <c:pt idx="88">
                  <c:v>13.292307692</c:v>
                </c:pt>
                <c:pt idx="89">
                  <c:v>17.353846154</c:v>
                </c:pt>
                <c:pt idx="90">
                  <c:v>17.384615385</c:v>
                </c:pt>
                <c:pt idx="91">
                  <c:v>13.230769231</c:v>
                </c:pt>
                <c:pt idx="92">
                  <c:v>13.169230769</c:v>
                </c:pt>
                <c:pt idx="93">
                  <c:v>17.415384615</c:v>
                </c:pt>
                <c:pt idx="94">
                  <c:v>17.446153846</c:v>
                </c:pt>
                <c:pt idx="95">
                  <c:v>13.107692308</c:v>
                </c:pt>
                <c:pt idx="96">
                  <c:v>13.046153846</c:v>
                </c:pt>
                <c:pt idx="97">
                  <c:v>17.476923077</c:v>
                </c:pt>
                <c:pt idx="98">
                  <c:v>17.507692308</c:v>
                </c:pt>
                <c:pt idx="99">
                  <c:v>12.984615385</c:v>
                </c:pt>
                <c:pt idx="100">
                  <c:v>12.923076923</c:v>
                </c:pt>
                <c:pt idx="101">
                  <c:v>17.538461538</c:v>
                </c:pt>
                <c:pt idx="102">
                  <c:v>17.569230769</c:v>
                </c:pt>
                <c:pt idx="103">
                  <c:v>12.861538462</c:v>
                </c:pt>
                <c:pt idx="104">
                  <c:v>12.8</c:v>
                </c:pt>
                <c:pt idx="105">
                  <c:v>17.6</c:v>
                </c:pt>
                <c:pt idx="106">
                  <c:v>17.630769231</c:v>
                </c:pt>
                <c:pt idx="107">
                  <c:v>12.738461538</c:v>
                </c:pt>
                <c:pt idx="108">
                  <c:v>12.676923077</c:v>
                </c:pt>
                <c:pt idx="109">
                  <c:v>17.661538462</c:v>
                </c:pt>
                <c:pt idx="110">
                  <c:v>17.692307692</c:v>
                </c:pt>
                <c:pt idx="111">
                  <c:v>12.615384615</c:v>
                </c:pt>
                <c:pt idx="112">
                  <c:v>12.553846154</c:v>
                </c:pt>
                <c:pt idx="113">
                  <c:v>17.723076923</c:v>
                </c:pt>
                <c:pt idx="114">
                  <c:v>17.753846154</c:v>
                </c:pt>
                <c:pt idx="115">
                  <c:v>12.492307692</c:v>
                </c:pt>
                <c:pt idx="116">
                  <c:v>12.430769231</c:v>
                </c:pt>
                <c:pt idx="117">
                  <c:v>17.784615385</c:v>
                </c:pt>
                <c:pt idx="118">
                  <c:v>17.815384615</c:v>
                </c:pt>
                <c:pt idx="119">
                  <c:v>12.369230769</c:v>
                </c:pt>
                <c:pt idx="120">
                  <c:v>12.307692308</c:v>
                </c:pt>
                <c:pt idx="121">
                  <c:v>17.846153846</c:v>
                </c:pt>
                <c:pt idx="122">
                  <c:v>17.876923077</c:v>
                </c:pt>
                <c:pt idx="123">
                  <c:v>12.246153846</c:v>
                </c:pt>
                <c:pt idx="124">
                  <c:v>12.184615385</c:v>
                </c:pt>
                <c:pt idx="125">
                  <c:v>17.907692308</c:v>
                </c:pt>
                <c:pt idx="126">
                  <c:v>17.938461538</c:v>
                </c:pt>
                <c:pt idx="127">
                  <c:v>12.123076923</c:v>
                </c:pt>
                <c:pt idx="128">
                  <c:v>12.061538462</c:v>
                </c:pt>
                <c:pt idx="129">
                  <c:v>17.969230769</c:v>
                </c:pt>
                <c:pt idx="130">
                  <c:v>18</c:v>
                </c:pt>
                <c:pt idx="131">
                  <c:v>12</c:v>
                </c:pt>
              </c:numCache>
            </c:numRef>
          </c:yVal>
          <c:smooth val="0"/>
        </c:ser>
        <c:ser>
          <c:idx val="1"/>
          <c:order val="1"/>
          <c:tx>
            <c:v>V</c:v>
          </c:tx>
          <c:spPr>
            <a:ln xmlns:a="http://schemas.openxmlformats.org/drawingml/2006/main" w="38100">
              <a:solidFill>
                <a:srgbClr val="17658A"/>
              </a:solidFill>
            </a:ln>
          </c:spPr>
          <c:marker>
            <c:symbol val="none"/>
          </c:marker>
          <c:dLbls>
            <c:dLbl>
              <c:idx val="1"/>
              <c:tx>
                <c:rich>
                  <a:bodyPr xmlns:a="http://schemas.openxmlformats.org/drawingml/2006/main"/>
                  <a:lstStyle xmlns:a="http://schemas.openxmlformats.org/drawingml/2006/main"/>
                  <a:p xmlns:a="http://schemas.openxmlformats.org/drawingml/2006/main">
                    <a:r>
                      <a:rPr sz="1950" b="1">
                        <a:solidFill>
                          <a:srgbClr val="17658A"/>
                        </a:solidFill>
                        <a:latin typeface="Arial"/>
                        <a:ea typeface="Arial"/>
                        <a:cs typeface="Arial"/>
                      </a:rPr>
                      <a:t>V</a:t>
                    </a:r>
                  </a:p>
                </c:rich>
              </c:tx>
              <c:txPr>
                <a:bodyPr xmlns:a="http://schemas.openxmlformats.org/drawingml/2006/main" anchorCtr="1"/>
                <a:lstStyle xmlns:a="http://schemas.openxmlformats.org/drawingml/2006/main"/>
                <a:p xmlns:a="http://schemas.openxmlformats.org/drawingml/2006/main">
                  <a:pPr>
                    <a:defRPr sz="1950" b="1">
                      <a:solidFill>
                        <a:srgbClr val="17658A"/>
                      </a:solidFill>
                      <a:latin typeface="Arial"/>
                      <a:ea typeface="Arial"/>
                      <a:cs typeface="Arial"/>
                    </a:defRPr>
                  </a:pPr>
                </a:p>
              </c:txPr>
              <c:dLblPos val="r"/>
              <c:showLegendKey val="0"/>
              <c:showVal val="0"/>
              <c:showCatName val="0"/>
              <c:showSerName val="0"/>
              <c:showPercent val="0"/>
              <c:showBubbleSize val="0"/>
            </c:dLbl>
            <c:showLegendKey val="0"/>
            <c:showVal val="0"/>
            <c:showCatName val="0"/>
            <c:showSerName val="0"/>
            <c:showPercent val="0"/>
            <c:showBubbleSize val="0"/>
            <c:showLeaderLines val="0"/>
          </c:dLbls>
          <c:xVal>
            <c:numRef>
              <c:f>'Chart Data'!$C$2:$C$3</c:f>
              <c:numCache>
                <c:formatCode>General</c:formatCode>
                <c:ptCount val="2"/>
                <c:pt idx="0">
                  <c:v>0</c:v>
                </c:pt>
                <c:pt idx="1">
                  <c:v>160</c:v>
                </c:pt>
              </c:numCache>
            </c:numRef>
          </c:xVal>
          <c:yVal>
            <c:numRef>
              <c:f>'Chart Data'!$D$2:$D$3</c:f>
              <c:numCache>
                <c:formatCode>0</c:formatCode>
                <c:ptCount val="2"/>
                <c:pt idx="0">
                  <c:v>32</c:v>
                </c:pt>
                <c:pt idx="1">
                  <c:v>0</c:v>
                </c:pt>
              </c:numCache>
            </c:numRef>
          </c:yVal>
          <c:smooth val="0"/>
        </c:ser>
        <c:ser>
          <c:idx val="2"/>
          <c:order val="2"/>
          <c:tx>
            <c:v>A</c:v>
          </c:tx>
          <c:spPr>
            <a:ln xmlns:a="http://schemas.openxmlformats.org/drawingml/2006/main" w="38100">
              <a:solidFill>
                <a:srgbClr val="20665B"/>
              </a:solidFill>
            </a:ln>
          </c:spPr>
          <c:marker>
            <c:symbol val="none"/>
          </c:marker>
          <c:dLbls>
            <c:dLbl>
              <c:idx val="1"/>
              <c:tx>
                <c:rich>
                  <a:bodyPr xmlns:a="http://schemas.openxmlformats.org/drawingml/2006/main"/>
                  <a:lstStyle xmlns:a="http://schemas.openxmlformats.org/drawingml/2006/main"/>
                  <a:p xmlns:a="http://schemas.openxmlformats.org/drawingml/2006/main">
                    <a:r>
                      <a:rPr sz="1950" b="1">
                        <a:solidFill>
                          <a:srgbClr val="20665B"/>
                        </a:solidFill>
                        <a:latin typeface="Arial"/>
                        <a:ea typeface="Arial"/>
                        <a:cs typeface="Arial"/>
                      </a:rPr>
                      <a:t>A</a:t>
                    </a:r>
                  </a:p>
                </c:rich>
              </c:tx>
              <c:txPr>
                <a:bodyPr xmlns:a="http://schemas.openxmlformats.org/drawingml/2006/main" anchorCtr="1"/>
                <a:lstStyle xmlns:a="http://schemas.openxmlformats.org/drawingml/2006/main"/>
                <a:p xmlns:a="http://schemas.openxmlformats.org/drawingml/2006/main">
                  <a:pPr>
                    <a:defRPr sz="1950" b="1">
                      <a:solidFill>
                        <a:srgbClr val="20665B"/>
                      </a:solidFill>
                      <a:latin typeface="Arial"/>
                      <a:ea typeface="Arial"/>
                      <a:cs typeface="Arial"/>
                    </a:defRPr>
                  </a:pPr>
                </a:p>
              </c:txPr>
              <c:dLblPos val="r"/>
              <c:showLegendKey val="0"/>
              <c:showVal val="0"/>
              <c:showCatName val="0"/>
              <c:showSerName val="0"/>
              <c:showPercent val="0"/>
              <c:showBubbleSize val="0"/>
            </c:dLbl>
            <c:showLegendKey val="0"/>
            <c:showVal val="0"/>
            <c:showCatName val="0"/>
            <c:showSerName val="0"/>
            <c:showPercent val="0"/>
            <c:showBubbleSize val="0"/>
            <c:showLeaderLines val="0"/>
          </c:dLbls>
          <c:xVal>
            <c:numRef>
              <c:f>'Chart Data'!$E$2:$E$3</c:f>
              <c:numCache>
                <c:formatCode>General</c:formatCode>
                <c:ptCount val="2"/>
                <c:pt idx="0">
                  <c:v>0</c:v>
                </c:pt>
                <c:pt idx="1">
                  <c:v>144</c:v>
                </c:pt>
              </c:numCache>
            </c:numRef>
          </c:xVal>
          <c:yVal>
            <c:numRef>
              <c:f>'Chart Data'!$F$2:$F$3</c:f>
              <c:numCache>
                <c:formatCode>0</c:formatCode>
                <c:ptCount val="2"/>
                <c:pt idx="0">
                  <c:v>8</c:v>
                </c:pt>
                <c:pt idx="1">
                  <c:v>22.4</c:v>
                </c:pt>
              </c:numCache>
            </c:numRef>
          </c:yVal>
          <c:smooth val="0"/>
        </c:ser>
        <c:ser>
          <c:idx val="3"/>
          <c:order val="3"/>
          <c:tx>
            <c:v>Oude hulplijnen</c:v>
          </c:tx>
          <c:spPr>
            <a:ln xmlns:a="http://schemas.openxmlformats.org/drawingml/2006/main" w="12383">
              <a:solidFill>
                <a:srgbClr val="445B6B"/>
              </a:solidFill>
            </a:ln>
          </c:spPr>
          <c:marker>
            <c:symbol val="none"/>
          </c:marker>
          <c:xVal>
            <c:numRef>
              <c:f>'Chart Data'!$G$2:$G$4</c:f>
              <c:numCache>
                <c:formatCode>General</c:formatCode>
                <c:ptCount val="3"/>
                <c:pt idx="0">
                  <c:v>0</c:v>
                </c:pt>
                <c:pt idx="1">
                  <c:v>80</c:v>
                </c:pt>
                <c:pt idx="2">
                  <c:v>80</c:v>
                </c:pt>
              </c:numCache>
            </c:numRef>
          </c:xVal>
          <c:yVal>
            <c:numRef>
              <c:f>'Chart Data'!$H$2:$H$4</c:f>
              <c:numCache>
                <c:formatCode>0</c:formatCode>
                <c:ptCount val="3"/>
                <c:pt idx="0">
                  <c:v>16</c:v>
                </c:pt>
                <c:pt idx="1">
                  <c:v>16</c:v>
                </c:pt>
                <c:pt idx="2">
                  <c:v>0</c:v>
                </c:pt>
              </c:numCache>
            </c:numRef>
          </c:yVal>
          <c:smooth val="0"/>
        </c:ser>
        <c:ser>
          <c:idx val="4"/>
          <c:order val="4"/>
          <c:tx>
            <c:v>Vrij evenwicht</c:v>
          </c:tx>
          <c:spPr>
            <a:ln xmlns:a="http://schemas.openxmlformats.org/drawingml/2006/main" w="0">
              <a:solidFill>
                <a:srgbClr val="183247"/>
              </a:solidFill>
            </a:ln>
          </c:spPr>
          <c:marker>
            <c:symbol val="circle"/>
            <c:size val="9"/>
            <c:spPr>
              <a:solidFill xmlns:a="http://schemas.openxmlformats.org/drawingml/2006/main">
                <a:srgbClr val="183247"/>
              </a:solidFill>
            </c:spPr>
          </c:marker>
          <c:xVal>
            <c:numRef>
              <c:f>'Chart Data'!$I$2:$I$2</c:f>
              <c:numCache>
                <c:formatCode>General</c:formatCode>
                <c:ptCount val="1"/>
                <c:pt idx="0">
                  <c:v>80</c:v>
                </c:pt>
              </c:numCache>
            </c:numRef>
          </c:xVal>
          <c:yVal>
            <c:numRef>
              <c:f>'Chart Data'!$J$2:$J$2</c:f>
              <c:numCache>
                <c:formatCode>0</c:formatCode>
                <c:ptCount val="1"/>
                <c:pt idx="0">
                  <c:v>16</c:v>
                </c:pt>
              </c:numCache>
            </c:numRef>
          </c:yVal>
          <c:smooth val="0"/>
        </c:ser>
        <c:ser>
          <c:idx val="5"/>
          <c:order val="5"/>
          <c:tx>
            <c:v>Pc hulplijn</c:v>
          </c:tx>
          <c:spPr>
            <a:ln xmlns:a="http://schemas.openxmlformats.org/drawingml/2006/main" w="13335">
              <a:solidFill>
                <a:srgbClr val="445B6B"/>
              </a:solidFill>
            </a:ln>
          </c:spPr>
          <c:marker>
            <c:symbol val="none"/>
          </c:marker>
          <c:xVal>
            <c:numRef>
              <c:f>'Chart Data'!$K$2:$K$4</c:f>
              <c:numCache>
                <c:formatCode>General</c:formatCode>
                <c:ptCount val="3"/>
                <c:pt idx="0">
                  <c:v>0</c:v>
                </c:pt>
                <c:pt idx="1">
                  <c:v>100</c:v>
                </c:pt>
                <c:pt idx="2">
                  <c:v>100</c:v>
                </c:pt>
              </c:numCache>
            </c:numRef>
          </c:xVal>
          <c:yVal>
            <c:numRef>
              <c:f>'Chart Data'!$L$2:$L$4</c:f>
              <c:numCache>
                <c:formatCode>0</c:formatCode>
                <c:ptCount val="3"/>
                <c:pt idx="0">
                  <c:v>12</c:v>
                </c:pt>
                <c:pt idx="1">
                  <c:v>12</c:v>
                </c:pt>
                <c:pt idx="2">
                  <c:v>0</c:v>
                </c:pt>
              </c:numCache>
            </c:numRef>
          </c:yVal>
          <c:smooth val="0"/>
        </c:ser>
        <c:ser>
          <c:idx val="6"/>
          <c:order val="6"/>
          <c:tx>
            <c:v>Pp hulplijn</c:v>
          </c:tx>
          <c:spPr>
            <a:ln xmlns:a="http://schemas.openxmlformats.org/drawingml/2006/main" w="13335">
              <a:solidFill>
                <a:srgbClr val="445B6B"/>
              </a:solidFill>
            </a:ln>
          </c:spPr>
          <c:marker>
            <c:symbol val="none"/>
          </c:marker>
          <c:xVal>
            <c:numRef>
              <c:f>'Chart Data'!$M$2:$M$3</c:f>
              <c:numCache>
                <c:formatCode>General</c:formatCode>
                <c:ptCount val="2"/>
                <c:pt idx="0">
                  <c:v>0</c:v>
                </c:pt>
                <c:pt idx="1">
                  <c:v>100</c:v>
                </c:pt>
              </c:numCache>
            </c:numRef>
          </c:xVal>
          <c:yVal>
            <c:numRef>
              <c:f>'Chart Data'!$N$2:$N$3</c:f>
              <c:numCache>
                <c:formatCode>0</c:formatCode>
                <c:ptCount val="2"/>
                <c:pt idx="0">
                  <c:v>18</c:v>
                </c:pt>
                <c:pt idx="1">
                  <c:v>18</c:v>
                </c:pt>
              </c:numCache>
            </c:numRef>
          </c:yVal>
          <c:smooth val="0"/>
        </c:ser>
        <c:ser>
          <c:idx val="7"/>
          <c:order val="7"/>
          <c:tx>
            <c:v>Subsidiewig</c:v>
          </c:tx>
          <c:spPr>
            <a:ln xmlns:a="http://schemas.openxmlformats.org/drawingml/2006/main" w="47625">
              <a:solidFill>
                <a:srgbClr val="A94D16"/>
              </a:solidFill>
            </a:ln>
          </c:spPr>
          <c:marker>
            <c:symbol val="none"/>
          </c:marker>
          <c:xVal>
            <c:numRef>
              <c:f>'Chart Data'!$O$2:$O$3</c:f>
              <c:numCache>
                <c:formatCode>General</c:formatCode>
                <c:ptCount val="2"/>
                <c:pt idx="0">
                  <c:v>100</c:v>
                </c:pt>
                <c:pt idx="1">
                  <c:v>100</c:v>
                </c:pt>
              </c:numCache>
            </c:numRef>
          </c:xVal>
          <c:yVal>
            <c:numRef>
              <c:f>'Chart Data'!$P$2:$P$3</c:f>
              <c:numCache>
                <c:formatCode>0</c:formatCode>
                <c:ptCount val="2"/>
                <c:pt idx="0">
                  <c:v>12</c:v>
                </c:pt>
                <c:pt idx="1">
                  <c:v>18</c:v>
                </c:pt>
              </c:numCache>
            </c:numRef>
          </c:yVal>
          <c:smooth val="0"/>
        </c:ser>
        <c:ser>
          <c:idx val="8"/>
          <c:order val="8"/>
          <c:tx>
            <c:v>Pc</c:v>
          </c:tx>
          <c:spPr>
            <a:ln xmlns:a="http://schemas.openxmlformats.org/drawingml/2006/main" w="0">
              <a:solidFill>
                <a:srgbClr val="17658A"/>
              </a:solidFill>
            </a:ln>
          </c:spPr>
          <c:marker>
            <c:symbol val="circle"/>
            <c:size val="9"/>
            <c:spPr>
              <a:solidFill xmlns:a="http://schemas.openxmlformats.org/drawingml/2006/main">
                <a:srgbClr val="17658A"/>
              </a:solidFill>
            </c:spPr>
          </c:marker>
          <c:xVal>
            <c:numRef>
              <c:f>'Chart Data'!$Q$2:$Q$2</c:f>
              <c:numCache>
                <c:formatCode>General</c:formatCode>
                <c:ptCount val="1"/>
                <c:pt idx="0">
                  <c:v>100</c:v>
                </c:pt>
              </c:numCache>
            </c:numRef>
          </c:xVal>
          <c:yVal>
            <c:numRef>
              <c:f>'Chart Data'!$R$2:$R$2</c:f>
              <c:numCache>
                <c:formatCode>0</c:formatCode>
                <c:ptCount val="1"/>
                <c:pt idx="0">
                  <c:v>12</c:v>
                </c:pt>
              </c:numCache>
            </c:numRef>
          </c:yVal>
          <c:smooth val="0"/>
        </c:ser>
        <c:ser>
          <c:idx val="9"/>
          <c:order val="9"/>
          <c:tx>
            <c:v>Pp</c:v>
          </c:tx>
          <c:spPr>
            <a:ln xmlns:a="http://schemas.openxmlformats.org/drawingml/2006/main" w="0">
              <a:solidFill>
                <a:srgbClr val="20665B"/>
              </a:solidFill>
            </a:ln>
          </c:spPr>
          <c:marker>
            <c:symbol val="circle"/>
            <c:size val="9"/>
            <c:spPr>
              <a:solidFill xmlns:a="http://schemas.openxmlformats.org/drawingml/2006/main">
                <a:srgbClr val="20665B"/>
              </a:solidFill>
            </c:spPr>
          </c:marker>
          <c:xVal>
            <c:numRef>
              <c:f>'Chart Data'!$S$2:$S$2</c:f>
              <c:numCache>
                <c:formatCode>General</c:formatCode>
                <c:ptCount val="1"/>
                <c:pt idx="0">
                  <c:v>100</c:v>
                </c:pt>
              </c:numCache>
            </c:numRef>
          </c:xVal>
          <c:yVal>
            <c:numRef>
              <c:f>'Chart Data'!$T$2:$T$2</c:f>
              <c:numCache>
                <c:formatCode>0</c:formatCode>
                <c:ptCount val="1"/>
                <c:pt idx="0">
                  <c:v>18</c:v>
                </c:pt>
              </c:numCache>
            </c:numRef>
          </c:yVal>
          <c:smooth val="0"/>
        </c:ser>
        <c:ser>
          <c:idx val="10"/>
          <c:order val="10"/>
          <c:tx>
            <c:v>W grens</c:v>
          </c:tx>
          <c:spPr>
            <a:ln xmlns:a="http://schemas.openxmlformats.org/drawingml/2006/main" w="28575">
              <a:solidFill>
                <a:srgbClr val="A94D16"/>
              </a:solidFill>
            </a:ln>
          </c:spPr>
          <c:marker>
            <c:symbol val="none"/>
          </c:marker>
          <c:xVal>
            <c:numRef>
              <c:f>'Chart Data'!$U$2:$U$5</c:f>
              <c:numCache>
                <c:formatCode>General</c:formatCode>
                <c:ptCount val="4"/>
                <c:pt idx="0">
                  <c:v>80</c:v>
                </c:pt>
                <c:pt idx="1">
                  <c:v>100</c:v>
                </c:pt>
                <c:pt idx="2">
                  <c:v>100</c:v>
                </c:pt>
                <c:pt idx="3">
                  <c:v>80</c:v>
                </c:pt>
              </c:numCache>
            </c:numRef>
          </c:xVal>
          <c:yVal>
            <c:numRef>
              <c:f>'Chart Data'!$V$2:$V$5</c:f>
              <c:numCache>
                <c:formatCode>0</c:formatCode>
                <c:ptCount val="4"/>
                <c:pt idx="0">
                  <c:v>16</c:v>
                </c:pt>
                <c:pt idx="1">
                  <c:v>12</c:v>
                </c:pt>
                <c:pt idx="2">
                  <c:v>18</c:v>
                </c:pt>
                <c:pt idx="3">
                  <c:v>16</c:v>
                </c:pt>
              </c:numCache>
            </c:numRef>
          </c:yVal>
          <c:smooth val="0"/>
        </c:ser>
        <c:ser>
          <c:idx val="11"/>
          <c:order val="11"/>
          <c:tx>
            <c:v>Pp annotation</c:v>
          </c:tx>
          <c:spPr>
            <a:ln xmlns:a="http://schemas.openxmlformats.org/drawingml/2006/main" w="0">
              <a:solidFill>
                <a:srgbClr val="20665B"/>
              </a:solid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20665B"/>
                        </a:solidFill>
                        <a:latin typeface="Arial"/>
                        <a:ea typeface="Arial"/>
                        <a:cs typeface="Arial"/>
                      </a:rPr>
                      <a:t>Pp = 18</a:t>
                    </a:r>
                  </a:p>
                </c:rich>
              </c:tx>
              <c:txPr>
                <a:bodyPr xmlns:a="http://schemas.openxmlformats.org/drawingml/2006/main" anchorCtr="1"/>
                <a:lstStyle xmlns:a="http://schemas.openxmlformats.org/drawingml/2006/main"/>
                <a:p xmlns:a="http://schemas.openxmlformats.org/drawingml/2006/main">
                  <a:pPr>
                    <a:defRPr sz="1950" b="1">
                      <a:solidFill>
                        <a:srgbClr val="20665B"/>
                      </a:solidFill>
                      <a:latin typeface="Arial"/>
                      <a:ea typeface="Arial"/>
                      <a:cs typeface="Arial"/>
                    </a:defRPr>
                  </a:pPr>
                </a:p>
              </c:txPr>
              <c:dLblPos val="r"/>
              <c:showLegendKey val="0"/>
              <c:showVal val="0"/>
              <c:showCatName val="0"/>
              <c:showSerName val="0"/>
              <c:showPercent val="0"/>
              <c:showBubbleSize val="0"/>
            </c:dLbl>
            <c:showLegendKey val="0"/>
            <c:showVal val="0"/>
            <c:showCatName val="0"/>
            <c:showSerName val="0"/>
            <c:showPercent val="0"/>
            <c:showBubbleSize val="0"/>
            <c:showLeaderLines val="0"/>
          </c:dLbls>
          <c:xVal>
            <c:numRef>
              <c:f>'Chart Data'!$W$2:$W$2</c:f>
              <c:numCache>
                <c:formatCode>General</c:formatCode>
                <c:ptCount val="1"/>
                <c:pt idx="0">
                  <c:v>100</c:v>
                </c:pt>
              </c:numCache>
            </c:numRef>
          </c:xVal>
          <c:yVal>
            <c:numRef>
              <c:f>'Chart Data'!$X$2:$X$2</c:f>
              <c:numCache>
                <c:formatCode>0</c:formatCode>
                <c:ptCount val="1"/>
                <c:pt idx="0">
                  <c:v>21</c:v>
                </c:pt>
              </c:numCache>
            </c:numRef>
          </c:yVal>
          <c:smooth val="0"/>
        </c:ser>
        <c:ser>
          <c:idx val="12"/>
          <c:order val="12"/>
          <c:tx>
            <c:v>Pc annotation</c:v>
          </c:tx>
          <c:spPr>
            <a:ln xmlns:a="http://schemas.openxmlformats.org/drawingml/2006/main" w="0">
              <a:solidFill>
                <a:srgbClr val="17658A"/>
              </a:solid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17658A"/>
                        </a:solidFill>
                        <a:latin typeface="Arial"/>
                        <a:ea typeface="Arial"/>
                        <a:cs typeface="Arial"/>
                      </a:rPr>
                      <a:t>Pc = 12</a:t>
                    </a:r>
                  </a:p>
                </c:rich>
              </c:tx>
              <c:txPr>
                <a:bodyPr xmlns:a="http://schemas.openxmlformats.org/drawingml/2006/main" anchorCtr="1"/>
                <a:lstStyle xmlns:a="http://schemas.openxmlformats.org/drawingml/2006/main"/>
                <a:p xmlns:a="http://schemas.openxmlformats.org/drawingml/2006/main">
                  <a:pPr>
                    <a:defRPr sz="1950" b="1">
                      <a:solidFill>
                        <a:srgbClr val="17658A"/>
                      </a:solidFill>
                      <a:latin typeface="Arial"/>
                      <a:ea typeface="Arial"/>
                      <a:cs typeface="Arial"/>
                    </a:defRPr>
                  </a:pPr>
                </a:p>
              </c:txPr>
              <c:dLblPos val="r"/>
              <c:showLegendKey val="0"/>
              <c:showVal val="0"/>
              <c:showCatName val="0"/>
              <c:showSerName val="0"/>
              <c:showPercent val="0"/>
              <c:showBubbleSize val="0"/>
            </c:dLbl>
            <c:showLegendKey val="0"/>
            <c:showVal val="0"/>
            <c:showCatName val="0"/>
            <c:showSerName val="0"/>
            <c:showPercent val="0"/>
            <c:showBubbleSize val="0"/>
            <c:showLeaderLines val="0"/>
          </c:dLbls>
          <c:xVal>
            <c:numRef>
              <c:f>'Chart Data'!$Y$2:$Y$2</c:f>
              <c:numCache>
                <c:formatCode>General</c:formatCode>
                <c:ptCount val="1"/>
                <c:pt idx="0">
                  <c:v>120</c:v>
                </c:pt>
              </c:numCache>
            </c:numRef>
          </c:xVal>
          <c:yVal>
            <c:numRef>
              <c:f>'Chart Data'!$Z$2:$Z$2</c:f>
              <c:numCache>
                <c:formatCode>0</c:formatCode>
                <c:ptCount val="1"/>
                <c:pt idx="0">
                  <c:v>12</c:v>
                </c:pt>
              </c:numCache>
            </c:numRef>
          </c:yVal>
          <c:smooth val="0"/>
        </c:ser>
        <c:dLbls>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36"/>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P (€ per controle)</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6"/>
      </c:valAx>
      <c:valAx>
        <c:axId val="48650112"/>
        <c:scaling>
          <c:orientation val="minMax"/>
          <c:max val="160"/>
          <c:min val="0"/>
        </c:scaling>
        <c:delete val="0"/>
        <c:axPos val="b"/>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Q (controles per week)</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plotArea>
      <c:scatterChart>
        <c:scatterStyle val="lineMarker"/>
        <c:ser>
          <c:idx val="0"/>
          <c:order val="0"/>
          <c:tx>
            <c:v>V</c:v>
          </c:tx>
          <c:spPr>
            <a:ln xmlns:a="http://schemas.openxmlformats.org/drawingml/2006/main" w="38100">
              <a:solidFill>
                <a:srgbClr val="17658A"/>
              </a:solidFill>
            </a:ln>
          </c:spPr>
          <c:marker>
            <c:symbol val="none"/>
          </c:marker>
          <c:dLbls>
            <c:dLbl>
              <c:idx val="1"/>
              <c:tx>
                <c:rich>
                  <a:bodyPr xmlns:a="http://schemas.openxmlformats.org/drawingml/2006/main"/>
                  <a:lstStyle xmlns:a="http://schemas.openxmlformats.org/drawingml/2006/main"/>
                  <a:p xmlns:a="http://schemas.openxmlformats.org/drawingml/2006/main">
                    <a:r>
                      <a:rPr sz="1950" b="1">
                        <a:solidFill>
                          <a:srgbClr val="17658A"/>
                        </a:solidFill>
                        <a:latin typeface="Arial"/>
                        <a:ea typeface="Arial"/>
                        <a:cs typeface="Arial"/>
                      </a:rPr>
                      <a:t>V</a:t>
                    </a:r>
                  </a:p>
                </c:rich>
              </c:tx>
              <c:txPr>
                <a:bodyPr xmlns:a="http://schemas.openxmlformats.org/drawingml/2006/main" anchorCtr="1"/>
                <a:lstStyle xmlns:a="http://schemas.openxmlformats.org/drawingml/2006/main"/>
                <a:p xmlns:a="http://schemas.openxmlformats.org/drawingml/2006/main">
                  <a:pPr>
                    <a:defRPr sz="1950" b="1">
                      <a:solidFill>
                        <a:srgbClr val="17658A"/>
                      </a:solidFill>
                      <a:latin typeface="Arial"/>
                      <a:ea typeface="Arial"/>
                      <a:cs typeface="Arial"/>
                    </a:defRPr>
                  </a:pPr>
                </a:p>
              </c:txPr>
              <c:dLblPos val="r"/>
              <c:showLegendKey val="0"/>
              <c:showVal val="0"/>
              <c:showCatName val="0"/>
              <c:showSerName val="0"/>
              <c:showPercent val="0"/>
              <c:showBubbleSize val="0"/>
            </c:dLbl>
            <c:showLegendKey val="0"/>
            <c:showVal val="0"/>
            <c:showCatName val="0"/>
            <c:showSerName val="0"/>
            <c:showPercent val="0"/>
            <c:showBubbleSize val="0"/>
            <c:showLeaderLines val="0"/>
          </c:dLbls>
          <c:xVal>
            <c:numRef>
              <c:f>'Chart Data'!$A$2:$A$3</c:f>
              <c:numCache>
                <c:formatCode>General</c:formatCode>
                <c:ptCount val="2"/>
                <c:pt idx="0">
                  <c:v>0</c:v>
                </c:pt>
                <c:pt idx="1">
                  <c:v>130</c:v>
                </c:pt>
              </c:numCache>
            </c:numRef>
          </c:xVal>
          <c:yVal>
            <c:numRef>
              <c:f>'Chart Data'!$B$2:$B$3</c:f>
              <c:numCache>
                <c:formatCode>0</c:formatCode>
                <c:ptCount val="2"/>
                <c:pt idx="0">
                  <c:v>26</c:v>
                </c:pt>
                <c:pt idx="1">
                  <c:v>0</c:v>
                </c:pt>
              </c:numCache>
            </c:numRef>
          </c:yVal>
          <c:smooth val="0"/>
        </c:ser>
        <c:ser>
          <c:idx val="1"/>
          <c:order val="1"/>
          <c:tx>
            <c:v>A</c:v>
          </c:tx>
          <c:spPr>
            <a:ln xmlns:a="http://schemas.openxmlformats.org/drawingml/2006/main" w="38100">
              <a:solidFill>
                <a:srgbClr val="20665B"/>
              </a:solidFill>
            </a:ln>
          </c:spPr>
          <c:marker>
            <c:symbol val="none"/>
          </c:marker>
          <c:dLbls>
            <c:dLbl>
              <c:idx val="1"/>
              <c:tx>
                <c:rich>
                  <a:bodyPr xmlns:a="http://schemas.openxmlformats.org/drawingml/2006/main"/>
                  <a:lstStyle xmlns:a="http://schemas.openxmlformats.org/drawingml/2006/main"/>
                  <a:p xmlns:a="http://schemas.openxmlformats.org/drawingml/2006/main">
                    <a:r>
                      <a:rPr sz="1950" b="1">
                        <a:solidFill>
                          <a:srgbClr val="20665B"/>
                        </a:solidFill>
                        <a:latin typeface="Arial"/>
                        <a:ea typeface="Arial"/>
                        <a:cs typeface="Arial"/>
                      </a:rPr>
                      <a:t>A</a:t>
                    </a:r>
                  </a:p>
                </c:rich>
              </c:tx>
              <c:txPr>
                <a:bodyPr xmlns:a="http://schemas.openxmlformats.org/drawingml/2006/main" anchorCtr="1"/>
                <a:lstStyle xmlns:a="http://schemas.openxmlformats.org/drawingml/2006/main"/>
                <a:p xmlns:a="http://schemas.openxmlformats.org/drawingml/2006/main">
                  <a:pPr>
                    <a:defRPr sz="1950" b="1">
                      <a:solidFill>
                        <a:srgbClr val="20665B"/>
                      </a:solidFill>
                      <a:latin typeface="Arial"/>
                      <a:ea typeface="Arial"/>
                      <a:cs typeface="Arial"/>
                    </a:defRPr>
                  </a:pPr>
                </a:p>
              </c:txPr>
              <c:dLblPos val="r"/>
              <c:showLegendKey val="0"/>
              <c:showVal val="0"/>
              <c:showCatName val="0"/>
              <c:showSerName val="0"/>
              <c:showPercent val="0"/>
              <c:showBubbleSize val="0"/>
            </c:dLbl>
            <c:showLegendKey val="0"/>
            <c:showVal val="0"/>
            <c:showCatName val="0"/>
            <c:showSerName val="0"/>
            <c:showPercent val="0"/>
            <c:showBubbleSize val="0"/>
            <c:showLeaderLines val="0"/>
          </c:dLbls>
          <c:xVal>
            <c:numRef>
              <c:f>'Chart Data'!$C$2:$C$3</c:f>
              <c:numCache>
                <c:formatCode>General</c:formatCode>
                <c:ptCount val="2"/>
                <c:pt idx="0">
                  <c:v>0</c:v>
                </c:pt>
                <c:pt idx="1">
                  <c:v>126</c:v>
                </c:pt>
              </c:numCache>
            </c:numRef>
          </c:xVal>
          <c:yVal>
            <c:numRef>
              <c:f>'Chart Data'!$D$2:$D$3</c:f>
              <c:numCache>
                <c:formatCode>0</c:formatCode>
                <c:ptCount val="2"/>
                <c:pt idx="0">
                  <c:v>8</c:v>
                </c:pt>
                <c:pt idx="1">
                  <c:v>20.6</c:v>
                </c:pt>
              </c:numCache>
            </c:numRef>
          </c:yVal>
          <c:smooth val="0"/>
        </c:ser>
        <c:dLbls>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3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P (€ per cursusplaats)</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5"/>
      </c:valAx>
      <c:valAx>
        <c:axId val="48650112"/>
        <c:scaling>
          <c:orientation val="minMax"/>
          <c:max val="140"/>
          <c:min val="0"/>
        </c:scaling>
        <c:delete val="0"/>
        <c:axPos val="b"/>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Q (cursusplaatsen per week)</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9.xml><?xml version="1.0" encoding="utf-8"?>
<c:chartSpace xmlns:c="http://schemas.openxmlformats.org/drawingml/2006/chart" xmlns:r="http://schemas.openxmlformats.org/officeDocument/2006/relationships">
  <c:lang val="en-US"/>
  <c:chart>
    <c:plotArea>
      <c:scatterChart>
        <c:scatterStyle val="lineMarker"/>
        <c:ser>
          <c:idx val="0"/>
          <c:order val="0"/>
          <c:tx>
            <c:v>U</c:v>
          </c:tx>
          <c:spPr>
            <a:ln xmlns:a="http://schemas.openxmlformats.org/drawingml/2006/main" w="11430">
              <a:solidFill>
                <a:srgbClr val="DBC8B8"/>
              </a:solidFill>
            </a:ln>
          </c:spPr>
          <c:marker>
            <c:symbol val="none"/>
          </c:marker>
          <c:xVal>
            <c:numRef>
              <c:f>'Chart Data'!$A$2:$A$133</c:f>
              <c:numCache>
                <c:formatCode>General</c:formatCode>
                <c:ptCount val="132"/>
                <c:pt idx="0">
                  <c:v>0</c:v>
                </c:pt>
                <c:pt idx="1">
                  <c:v>0</c:v>
                </c:pt>
                <c:pt idx="2">
                  <c:v>1.076923077</c:v>
                </c:pt>
                <c:pt idx="3">
                  <c:v>1.076923077</c:v>
                </c:pt>
                <c:pt idx="4">
                  <c:v>2.153846154</c:v>
                </c:pt>
                <c:pt idx="5">
                  <c:v>2.153846154</c:v>
                </c:pt>
                <c:pt idx="6">
                  <c:v>3.230769231</c:v>
                </c:pt>
                <c:pt idx="7">
                  <c:v>3.230769231</c:v>
                </c:pt>
                <c:pt idx="8">
                  <c:v>4.307692308</c:v>
                </c:pt>
                <c:pt idx="9">
                  <c:v>4.307692308</c:v>
                </c:pt>
                <c:pt idx="10">
                  <c:v>5.384615385</c:v>
                </c:pt>
                <c:pt idx="11">
                  <c:v>5.384615385</c:v>
                </c:pt>
                <c:pt idx="12">
                  <c:v>6.461538462</c:v>
                </c:pt>
                <c:pt idx="13">
                  <c:v>6.461538462</c:v>
                </c:pt>
                <c:pt idx="14">
                  <c:v>7.538461538</c:v>
                </c:pt>
                <c:pt idx="15">
                  <c:v>7.538461538</c:v>
                </c:pt>
                <c:pt idx="16">
                  <c:v>8.615384615</c:v>
                </c:pt>
                <c:pt idx="17">
                  <c:v>8.615384615</c:v>
                </c:pt>
                <c:pt idx="18">
                  <c:v>9.692307692</c:v>
                </c:pt>
                <c:pt idx="19">
                  <c:v>9.692307692</c:v>
                </c:pt>
                <c:pt idx="20">
                  <c:v>10.769230769</c:v>
                </c:pt>
                <c:pt idx="21">
                  <c:v>10.769230769</c:v>
                </c:pt>
                <c:pt idx="22">
                  <c:v>11.846153846</c:v>
                </c:pt>
                <c:pt idx="23">
                  <c:v>11.846153846</c:v>
                </c:pt>
                <c:pt idx="24">
                  <c:v>12.923076923</c:v>
                </c:pt>
                <c:pt idx="25">
                  <c:v>12.923076923</c:v>
                </c:pt>
                <c:pt idx="26">
                  <c:v>14</c:v>
                </c:pt>
                <c:pt idx="27">
                  <c:v>14</c:v>
                </c:pt>
                <c:pt idx="28">
                  <c:v>15.076923077</c:v>
                </c:pt>
                <c:pt idx="29">
                  <c:v>15.076923077</c:v>
                </c:pt>
                <c:pt idx="30">
                  <c:v>16.153846154</c:v>
                </c:pt>
                <c:pt idx="31">
                  <c:v>16.153846154</c:v>
                </c:pt>
                <c:pt idx="32">
                  <c:v>17.230769231</c:v>
                </c:pt>
                <c:pt idx="33">
                  <c:v>17.230769231</c:v>
                </c:pt>
                <c:pt idx="34">
                  <c:v>18.307692308</c:v>
                </c:pt>
                <c:pt idx="35">
                  <c:v>18.307692308</c:v>
                </c:pt>
                <c:pt idx="36">
                  <c:v>19.384615385</c:v>
                </c:pt>
                <c:pt idx="37">
                  <c:v>19.384615385</c:v>
                </c:pt>
                <c:pt idx="38">
                  <c:v>20.461538462</c:v>
                </c:pt>
                <c:pt idx="39">
                  <c:v>20.461538462</c:v>
                </c:pt>
                <c:pt idx="40">
                  <c:v>21.538461538</c:v>
                </c:pt>
                <c:pt idx="41">
                  <c:v>21.538461538</c:v>
                </c:pt>
                <c:pt idx="42">
                  <c:v>22.615384615</c:v>
                </c:pt>
                <c:pt idx="43">
                  <c:v>22.615384615</c:v>
                </c:pt>
                <c:pt idx="44">
                  <c:v>23.692307692</c:v>
                </c:pt>
                <c:pt idx="45">
                  <c:v>23.692307692</c:v>
                </c:pt>
                <c:pt idx="46">
                  <c:v>24.769230769</c:v>
                </c:pt>
                <c:pt idx="47">
                  <c:v>24.769230769</c:v>
                </c:pt>
                <c:pt idx="48">
                  <c:v>25.846153846</c:v>
                </c:pt>
                <c:pt idx="49">
                  <c:v>25.846153846</c:v>
                </c:pt>
                <c:pt idx="50">
                  <c:v>26.923076923</c:v>
                </c:pt>
                <c:pt idx="51">
                  <c:v>26.923076923</c:v>
                </c:pt>
                <c:pt idx="52">
                  <c:v>28</c:v>
                </c:pt>
                <c:pt idx="53">
                  <c:v>28</c:v>
                </c:pt>
                <c:pt idx="54">
                  <c:v>29.076923077</c:v>
                </c:pt>
                <c:pt idx="55">
                  <c:v>29.076923077</c:v>
                </c:pt>
                <c:pt idx="56">
                  <c:v>30.153846154</c:v>
                </c:pt>
                <c:pt idx="57">
                  <c:v>30.153846154</c:v>
                </c:pt>
                <c:pt idx="58">
                  <c:v>31.230769231</c:v>
                </c:pt>
                <c:pt idx="59">
                  <c:v>31.230769231</c:v>
                </c:pt>
                <c:pt idx="60">
                  <c:v>32.307692308</c:v>
                </c:pt>
                <c:pt idx="61">
                  <c:v>32.307692308</c:v>
                </c:pt>
                <c:pt idx="62">
                  <c:v>33.384615385</c:v>
                </c:pt>
                <c:pt idx="63">
                  <c:v>33.384615385</c:v>
                </c:pt>
                <c:pt idx="64">
                  <c:v>34.461538462</c:v>
                </c:pt>
                <c:pt idx="65">
                  <c:v>34.461538462</c:v>
                </c:pt>
                <c:pt idx="66">
                  <c:v>35.538461538</c:v>
                </c:pt>
                <c:pt idx="67">
                  <c:v>35.538461538</c:v>
                </c:pt>
                <c:pt idx="68">
                  <c:v>36.615384615</c:v>
                </c:pt>
                <c:pt idx="69">
                  <c:v>36.615384615</c:v>
                </c:pt>
                <c:pt idx="70">
                  <c:v>37.692307692</c:v>
                </c:pt>
                <c:pt idx="71">
                  <c:v>37.692307692</c:v>
                </c:pt>
                <c:pt idx="72">
                  <c:v>38.769230769</c:v>
                </c:pt>
                <c:pt idx="73">
                  <c:v>38.769230769</c:v>
                </c:pt>
                <c:pt idx="74">
                  <c:v>39.846153846</c:v>
                </c:pt>
                <c:pt idx="75">
                  <c:v>39.846153846</c:v>
                </c:pt>
                <c:pt idx="76">
                  <c:v>40.923076923</c:v>
                </c:pt>
                <c:pt idx="77">
                  <c:v>40.923076923</c:v>
                </c:pt>
                <c:pt idx="78">
                  <c:v>42</c:v>
                </c:pt>
                <c:pt idx="79">
                  <c:v>42</c:v>
                </c:pt>
                <c:pt idx="80">
                  <c:v>43.076923077</c:v>
                </c:pt>
                <c:pt idx="81">
                  <c:v>43.076923077</c:v>
                </c:pt>
                <c:pt idx="82">
                  <c:v>44.153846154</c:v>
                </c:pt>
                <c:pt idx="83">
                  <c:v>44.153846154</c:v>
                </c:pt>
                <c:pt idx="84">
                  <c:v>45.230769231</c:v>
                </c:pt>
                <c:pt idx="85">
                  <c:v>45.230769231</c:v>
                </c:pt>
                <c:pt idx="86">
                  <c:v>46.307692308</c:v>
                </c:pt>
                <c:pt idx="87">
                  <c:v>46.307692308</c:v>
                </c:pt>
                <c:pt idx="88">
                  <c:v>47.384615385</c:v>
                </c:pt>
                <c:pt idx="89">
                  <c:v>47.384615385</c:v>
                </c:pt>
                <c:pt idx="90">
                  <c:v>48.461538462</c:v>
                </c:pt>
                <c:pt idx="91">
                  <c:v>48.461538462</c:v>
                </c:pt>
                <c:pt idx="92">
                  <c:v>49.538461538</c:v>
                </c:pt>
                <c:pt idx="93">
                  <c:v>49.538461538</c:v>
                </c:pt>
                <c:pt idx="94">
                  <c:v>50.615384615</c:v>
                </c:pt>
                <c:pt idx="95">
                  <c:v>50.615384615</c:v>
                </c:pt>
                <c:pt idx="96">
                  <c:v>51.692307692</c:v>
                </c:pt>
                <c:pt idx="97">
                  <c:v>51.692307692</c:v>
                </c:pt>
                <c:pt idx="98">
                  <c:v>52.769230769</c:v>
                </c:pt>
                <c:pt idx="99">
                  <c:v>52.769230769</c:v>
                </c:pt>
                <c:pt idx="100">
                  <c:v>53.846153846</c:v>
                </c:pt>
                <c:pt idx="101">
                  <c:v>53.846153846</c:v>
                </c:pt>
                <c:pt idx="102">
                  <c:v>54.923076923</c:v>
                </c:pt>
                <c:pt idx="103">
                  <c:v>54.923076923</c:v>
                </c:pt>
                <c:pt idx="104">
                  <c:v>56</c:v>
                </c:pt>
                <c:pt idx="105">
                  <c:v>56</c:v>
                </c:pt>
                <c:pt idx="106">
                  <c:v>57.076923077</c:v>
                </c:pt>
                <c:pt idx="107">
                  <c:v>57.076923077</c:v>
                </c:pt>
                <c:pt idx="108">
                  <c:v>58.153846154</c:v>
                </c:pt>
                <c:pt idx="109">
                  <c:v>58.153846154</c:v>
                </c:pt>
                <c:pt idx="110">
                  <c:v>59.230769231</c:v>
                </c:pt>
                <c:pt idx="111">
                  <c:v>59.230769231</c:v>
                </c:pt>
                <c:pt idx="112">
                  <c:v>60.307692308</c:v>
                </c:pt>
                <c:pt idx="113">
                  <c:v>60.307692308</c:v>
                </c:pt>
                <c:pt idx="114">
                  <c:v>61.384615385</c:v>
                </c:pt>
                <c:pt idx="115">
                  <c:v>61.384615385</c:v>
                </c:pt>
                <c:pt idx="116">
                  <c:v>62.461538462</c:v>
                </c:pt>
                <c:pt idx="117">
                  <c:v>62.461538462</c:v>
                </c:pt>
                <c:pt idx="118">
                  <c:v>63.538461538</c:v>
                </c:pt>
                <c:pt idx="119">
                  <c:v>63.538461538</c:v>
                </c:pt>
                <c:pt idx="120">
                  <c:v>64.615384615</c:v>
                </c:pt>
                <c:pt idx="121">
                  <c:v>64.615384615</c:v>
                </c:pt>
                <c:pt idx="122">
                  <c:v>65.692307692</c:v>
                </c:pt>
                <c:pt idx="123">
                  <c:v>65.692307692</c:v>
                </c:pt>
                <c:pt idx="124">
                  <c:v>66.769230769</c:v>
                </c:pt>
                <c:pt idx="125">
                  <c:v>66.769230769</c:v>
                </c:pt>
                <c:pt idx="126">
                  <c:v>67.846153846</c:v>
                </c:pt>
                <c:pt idx="127">
                  <c:v>67.846153846</c:v>
                </c:pt>
                <c:pt idx="128">
                  <c:v>68.923076923</c:v>
                </c:pt>
                <c:pt idx="129">
                  <c:v>68.923076923</c:v>
                </c:pt>
                <c:pt idx="130">
                  <c:v>70</c:v>
                </c:pt>
                <c:pt idx="131">
                  <c:v>70</c:v>
                </c:pt>
              </c:numCache>
            </c:numRef>
          </c:xVal>
          <c:yVal>
            <c:numRef>
              <c:f>'Chart Data'!$B$2:$B$133</c:f>
              <c:numCache>
                <c:formatCode>0</c:formatCode>
                <c:ptCount val="132"/>
                <c:pt idx="0">
                  <c:v>12</c:v>
                </c:pt>
                <c:pt idx="1">
                  <c:v>15</c:v>
                </c:pt>
                <c:pt idx="2">
                  <c:v>15</c:v>
                </c:pt>
                <c:pt idx="3">
                  <c:v>12</c:v>
                </c:pt>
                <c:pt idx="4">
                  <c:v>12</c:v>
                </c:pt>
                <c:pt idx="5">
                  <c:v>15</c:v>
                </c:pt>
                <c:pt idx="6">
                  <c:v>15</c:v>
                </c:pt>
                <c:pt idx="7">
                  <c:v>12</c:v>
                </c:pt>
                <c:pt idx="8">
                  <c:v>12</c:v>
                </c:pt>
                <c:pt idx="9">
                  <c:v>15</c:v>
                </c:pt>
                <c:pt idx="10">
                  <c:v>15</c:v>
                </c:pt>
                <c:pt idx="11">
                  <c:v>12</c:v>
                </c:pt>
                <c:pt idx="12">
                  <c:v>12</c:v>
                </c:pt>
                <c:pt idx="13">
                  <c:v>15</c:v>
                </c:pt>
                <c:pt idx="14">
                  <c:v>15</c:v>
                </c:pt>
                <c:pt idx="15">
                  <c:v>12</c:v>
                </c:pt>
                <c:pt idx="16">
                  <c:v>12</c:v>
                </c:pt>
                <c:pt idx="17">
                  <c:v>15</c:v>
                </c:pt>
                <c:pt idx="18">
                  <c:v>15</c:v>
                </c:pt>
                <c:pt idx="19">
                  <c:v>12</c:v>
                </c:pt>
                <c:pt idx="20">
                  <c:v>12</c:v>
                </c:pt>
                <c:pt idx="21">
                  <c:v>15</c:v>
                </c:pt>
                <c:pt idx="22">
                  <c:v>15</c:v>
                </c:pt>
                <c:pt idx="23">
                  <c:v>12</c:v>
                </c:pt>
                <c:pt idx="24">
                  <c:v>12</c:v>
                </c:pt>
                <c:pt idx="25">
                  <c:v>15</c:v>
                </c:pt>
                <c:pt idx="26">
                  <c:v>15</c:v>
                </c:pt>
                <c:pt idx="27">
                  <c:v>12</c:v>
                </c:pt>
                <c:pt idx="28">
                  <c:v>12</c:v>
                </c:pt>
                <c:pt idx="29">
                  <c:v>15</c:v>
                </c:pt>
                <c:pt idx="30">
                  <c:v>15</c:v>
                </c:pt>
                <c:pt idx="31">
                  <c:v>12</c:v>
                </c:pt>
                <c:pt idx="32">
                  <c:v>12</c:v>
                </c:pt>
                <c:pt idx="33">
                  <c:v>15</c:v>
                </c:pt>
                <c:pt idx="34">
                  <c:v>15</c:v>
                </c:pt>
                <c:pt idx="35">
                  <c:v>12</c:v>
                </c:pt>
                <c:pt idx="36">
                  <c:v>12</c:v>
                </c:pt>
                <c:pt idx="37">
                  <c:v>15</c:v>
                </c:pt>
                <c:pt idx="38">
                  <c:v>15</c:v>
                </c:pt>
                <c:pt idx="39">
                  <c:v>12</c:v>
                </c:pt>
                <c:pt idx="40">
                  <c:v>12</c:v>
                </c:pt>
                <c:pt idx="41">
                  <c:v>15</c:v>
                </c:pt>
                <c:pt idx="42">
                  <c:v>15</c:v>
                </c:pt>
                <c:pt idx="43">
                  <c:v>12</c:v>
                </c:pt>
                <c:pt idx="44">
                  <c:v>12</c:v>
                </c:pt>
                <c:pt idx="45">
                  <c:v>15</c:v>
                </c:pt>
                <c:pt idx="46">
                  <c:v>15</c:v>
                </c:pt>
                <c:pt idx="47">
                  <c:v>12</c:v>
                </c:pt>
                <c:pt idx="48">
                  <c:v>12</c:v>
                </c:pt>
                <c:pt idx="49">
                  <c:v>15</c:v>
                </c:pt>
                <c:pt idx="50">
                  <c:v>15</c:v>
                </c:pt>
                <c:pt idx="51">
                  <c:v>12</c:v>
                </c:pt>
                <c:pt idx="52">
                  <c:v>12</c:v>
                </c:pt>
                <c:pt idx="53">
                  <c:v>15</c:v>
                </c:pt>
                <c:pt idx="54">
                  <c:v>15</c:v>
                </c:pt>
                <c:pt idx="55">
                  <c:v>12</c:v>
                </c:pt>
                <c:pt idx="56">
                  <c:v>12</c:v>
                </c:pt>
                <c:pt idx="57">
                  <c:v>15</c:v>
                </c:pt>
                <c:pt idx="58">
                  <c:v>15</c:v>
                </c:pt>
                <c:pt idx="59">
                  <c:v>12</c:v>
                </c:pt>
                <c:pt idx="60">
                  <c:v>12</c:v>
                </c:pt>
                <c:pt idx="61">
                  <c:v>15</c:v>
                </c:pt>
                <c:pt idx="62">
                  <c:v>15</c:v>
                </c:pt>
                <c:pt idx="63">
                  <c:v>12</c:v>
                </c:pt>
                <c:pt idx="64">
                  <c:v>12</c:v>
                </c:pt>
                <c:pt idx="65">
                  <c:v>15</c:v>
                </c:pt>
                <c:pt idx="66">
                  <c:v>15</c:v>
                </c:pt>
                <c:pt idx="67">
                  <c:v>12</c:v>
                </c:pt>
                <c:pt idx="68">
                  <c:v>12</c:v>
                </c:pt>
                <c:pt idx="69">
                  <c:v>15</c:v>
                </c:pt>
                <c:pt idx="70">
                  <c:v>15</c:v>
                </c:pt>
                <c:pt idx="71">
                  <c:v>12</c:v>
                </c:pt>
                <c:pt idx="72">
                  <c:v>12</c:v>
                </c:pt>
                <c:pt idx="73">
                  <c:v>15</c:v>
                </c:pt>
                <c:pt idx="74">
                  <c:v>15</c:v>
                </c:pt>
                <c:pt idx="75">
                  <c:v>12</c:v>
                </c:pt>
                <c:pt idx="76">
                  <c:v>12</c:v>
                </c:pt>
                <c:pt idx="77">
                  <c:v>15</c:v>
                </c:pt>
                <c:pt idx="78">
                  <c:v>15</c:v>
                </c:pt>
                <c:pt idx="79">
                  <c:v>12</c:v>
                </c:pt>
                <c:pt idx="80">
                  <c:v>12</c:v>
                </c:pt>
                <c:pt idx="81">
                  <c:v>15</c:v>
                </c:pt>
                <c:pt idx="82">
                  <c:v>15</c:v>
                </c:pt>
                <c:pt idx="83">
                  <c:v>12</c:v>
                </c:pt>
                <c:pt idx="84">
                  <c:v>12</c:v>
                </c:pt>
                <c:pt idx="85">
                  <c:v>15</c:v>
                </c:pt>
                <c:pt idx="86">
                  <c:v>15</c:v>
                </c:pt>
                <c:pt idx="87">
                  <c:v>12</c:v>
                </c:pt>
                <c:pt idx="88">
                  <c:v>12</c:v>
                </c:pt>
                <c:pt idx="89">
                  <c:v>15</c:v>
                </c:pt>
                <c:pt idx="90">
                  <c:v>15</c:v>
                </c:pt>
                <c:pt idx="91">
                  <c:v>12</c:v>
                </c:pt>
                <c:pt idx="92">
                  <c:v>12</c:v>
                </c:pt>
                <c:pt idx="93">
                  <c:v>15</c:v>
                </c:pt>
                <c:pt idx="94">
                  <c:v>15</c:v>
                </c:pt>
                <c:pt idx="95">
                  <c:v>12</c:v>
                </c:pt>
                <c:pt idx="96">
                  <c:v>12</c:v>
                </c:pt>
                <c:pt idx="97">
                  <c:v>15</c:v>
                </c:pt>
                <c:pt idx="98">
                  <c:v>15</c:v>
                </c:pt>
                <c:pt idx="99">
                  <c:v>12</c:v>
                </c:pt>
                <c:pt idx="100">
                  <c:v>12</c:v>
                </c:pt>
                <c:pt idx="101">
                  <c:v>15</c:v>
                </c:pt>
                <c:pt idx="102">
                  <c:v>15</c:v>
                </c:pt>
                <c:pt idx="103">
                  <c:v>12</c:v>
                </c:pt>
                <c:pt idx="104">
                  <c:v>12</c:v>
                </c:pt>
                <c:pt idx="105">
                  <c:v>15</c:v>
                </c:pt>
                <c:pt idx="106">
                  <c:v>15</c:v>
                </c:pt>
                <c:pt idx="107">
                  <c:v>12</c:v>
                </c:pt>
                <c:pt idx="108">
                  <c:v>12</c:v>
                </c:pt>
                <c:pt idx="109">
                  <c:v>15</c:v>
                </c:pt>
                <c:pt idx="110">
                  <c:v>15</c:v>
                </c:pt>
                <c:pt idx="111">
                  <c:v>12</c:v>
                </c:pt>
                <c:pt idx="112">
                  <c:v>12</c:v>
                </c:pt>
                <c:pt idx="113">
                  <c:v>15</c:v>
                </c:pt>
                <c:pt idx="114">
                  <c:v>15</c:v>
                </c:pt>
                <c:pt idx="115">
                  <c:v>12</c:v>
                </c:pt>
                <c:pt idx="116">
                  <c:v>12</c:v>
                </c:pt>
                <c:pt idx="117">
                  <c:v>15</c:v>
                </c:pt>
                <c:pt idx="118">
                  <c:v>15</c:v>
                </c:pt>
                <c:pt idx="119">
                  <c:v>12</c:v>
                </c:pt>
                <c:pt idx="120">
                  <c:v>12</c:v>
                </c:pt>
                <c:pt idx="121">
                  <c:v>15</c:v>
                </c:pt>
                <c:pt idx="122">
                  <c:v>15</c:v>
                </c:pt>
                <c:pt idx="123">
                  <c:v>12</c:v>
                </c:pt>
                <c:pt idx="124">
                  <c:v>12</c:v>
                </c:pt>
                <c:pt idx="125">
                  <c:v>15</c:v>
                </c:pt>
                <c:pt idx="126">
                  <c:v>15</c:v>
                </c:pt>
                <c:pt idx="127">
                  <c:v>12</c:v>
                </c:pt>
                <c:pt idx="128">
                  <c:v>12</c:v>
                </c:pt>
                <c:pt idx="129">
                  <c:v>15</c:v>
                </c:pt>
                <c:pt idx="130">
                  <c:v>15</c:v>
                </c:pt>
                <c:pt idx="131">
                  <c:v>12</c:v>
                </c:pt>
              </c:numCache>
            </c:numRef>
          </c:yVal>
          <c:smooth val="0"/>
        </c:ser>
        <c:ser>
          <c:idx val="1"/>
          <c:order val="1"/>
          <c:tx>
            <c:v>V</c:v>
          </c:tx>
          <c:spPr>
            <a:ln xmlns:a="http://schemas.openxmlformats.org/drawingml/2006/main" w="38100">
              <a:solidFill>
                <a:srgbClr val="17658A"/>
              </a:solidFill>
            </a:ln>
          </c:spPr>
          <c:marker>
            <c:symbol val="none"/>
          </c:marker>
          <c:dLbls>
            <c:dLbl>
              <c:idx val="1"/>
              <c:tx>
                <c:rich>
                  <a:bodyPr xmlns:a="http://schemas.openxmlformats.org/drawingml/2006/main"/>
                  <a:lstStyle xmlns:a="http://schemas.openxmlformats.org/drawingml/2006/main"/>
                  <a:p xmlns:a="http://schemas.openxmlformats.org/drawingml/2006/main">
                    <a:r>
                      <a:rPr sz="1950" b="1">
                        <a:solidFill>
                          <a:srgbClr val="17658A"/>
                        </a:solidFill>
                        <a:latin typeface="Arial"/>
                        <a:ea typeface="Arial"/>
                        <a:cs typeface="Arial"/>
                      </a:rPr>
                      <a:t>V</a:t>
                    </a:r>
                  </a:p>
                </c:rich>
              </c:tx>
              <c:txPr>
                <a:bodyPr xmlns:a="http://schemas.openxmlformats.org/drawingml/2006/main" anchorCtr="1"/>
                <a:lstStyle xmlns:a="http://schemas.openxmlformats.org/drawingml/2006/main"/>
                <a:p xmlns:a="http://schemas.openxmlformats.org/drawingml/2006/main">
                  <a:pPr>
                    <a:defRPr sz="1950" b="1">
                      <a:solidFill>
                        <a:srgbClr val="17658A"/>
                      </a:solidFill>
                      <a:latin typeface="Arial"/>
                      <a:ea typeface="Arial"/>
                      <a:cs typeface="Arial"/>
                    </a:defRPr>
                  </a:pPr>
                </a:p>
              </c:txPr>
              <c:dLblPos val="r"/>
              <c:showLegendKey val="0"/>
              <c:showVal val="0"/>
              <c:showCatName val="0"/>
              <c:showSerName val="0"/>
              <c:showPercent val="0"/>
              <c:showBubbleSize val="0"/>
            </c:dLbl>
            <c:showLegendKey val="0"/>
            <c:showVal val="0"/>
            <c:showCatName val="0"/>
            <c:showSerName val="0"/>
            <c:showPercent val="0"/>
            <c:showBubbleSize val="0"/>
            <c:showLeaderLines val="0"/>
          </c:dLbls>
          <c:xVal>
            <c:numRef>
              <c:f>'Chart Data'!$C$2:$C$3</c:f>
              <c:numCache>
                <c:formatCode>General</c:formatCode>
                <c:ptCount val="2"/>
                <c:pt idx="0">
                  <c:v>0</c:v>
                </c:pt>
                <c:pt idx="1">
                  <c:v>130</c:v>
                </c:pt>
              </c:numCache>
            </c:numRef>
          </c:xVal>
          <c:yVal>
            <c:numRef>
              <c:f>'Chart Data'!$D$2:$D$3</c:f>
              <c:numCache>
                <c:formatCode>0</c:formatCode>
                <c:ptCount val="2"/>
                <c:pt idx="0">
                  <c:v>26</c:v>
                </c:pt>
                <c:pt idx="1">
                  <c:v>0</c:v>
                </c:pt>
              </c:numCache>
            </c:numRef>
          </c:yVal>
          <c:smooth val="0"/>
        </c:ser>
        <c:ser>
          <c:idx val="2"/>
          <c:order val="2"/>
          <c:tx>
            <c:v>A</c:v>
          </c:tx>
          <c:spPr>
            <a:ln xmlns:a="http://schemas.openxmlformats.org/drawingml/2006/main" w="38100">
              <a:solidFill>
                <a:srgbClr val="20665B"/>
              </a:solidFill>
            </a:ln>
          </c:spPr>
          <c:marker>
            <c:symbol val="none"/>
          </c:marker>
          <c:dLbls>
            <c:dLbl>
              <c:idx val="1"/>
              <c:tx>
                <c:rich>
                  <a:bodyPr xmlns:a="http://schemas.openxmlformats.org/drawingml/2006/main"/>
                  <a:lstStyle xmlns:a="http://schemas.openxmlformats.org/drawingml/2006/main"/>
                  <a:p xmlns:a="http://schemas.openxmlformats.org/drawingml/2006/main">
                    <a:r>
                      <a:rPr sz="1950" b="1">
                        <a:solidFill>
                          <a:srgbClr val="20665B"/>
                        </a:solidFill>
                        <a:latin typeface="Arial"/>
                        <a:ea typeface="Arial"/>
                        <a:cs typeface="Arial"/>
                      </a:rPr>
                      <a:t>A</a:t>
                    </a:r>
                  </a:p>
                </c:rich>
              </c:tx>
              <c:txPr>
                <a:bodyPr xmlns:a="http://schemas.openxmlformats.org/drawingml/2006/main" anchorCtr="1"/>
                <a:lstStyle xmlns:a="http://schemas.openxmlformats.org/drawingml/2006/main"/>
                <a:p xmlns:a="http://schemas.openxmlformats.org/drawingml/2006/main">
                  <a:pPr>
                    <a:defRPr sz="1950" b="1">
                      <a:solidFill>
                        <a:srgbClr val="20665B"/>
                      </a:solidFill>
                      <a:latin typeface="Arial"/>
                      <a:ea typeface="Arial"/>
                      <a:cs typeface="Arial"/>
                    </a:defRPr>
                  </a:pPr>
                </a:p>
              </c:txPr>
              <c:dLblPos val="r"/>
              <c:showLegendKey val="0"/>
              <c:showVal val="0"/>
              <c:showCatName val="0"/>
              <c:showSerName val="0"/>
              <c:showPercent val="0"/>
              <c:showBubbleSize val="0"/>
            </c:dLbl>
            <c:showLegendKey val="0"/>
            <c:showVal val="0"/>
            <c:showCatName val="0"/>
            <c:showSerName val="0"/>
            <c:showPercent val="0"/>
            <c:showBubbleSize val="0"/>
            <c:showLeaderLines val="0"/>
          </c:dLbls>
          <c:xVal>
            <c:numRef>
              <c:f>'Chart Data'!$E$2:$E$3</c:f>
              <c:numCache>
                <c:formatCode>General</c:formatCode>
                <c:ptCount val="2"/>
                <c:pt idx="0">
                  <c:v>0</c:v>
                </c:pt>
                <c:pt idx="1">
                  <c:v>126</c:v>
                </c:pt>
              </c:numCache>
            </c:numRef>
          </c:xVal>
          <c:yVal>
            <c:numRef>
              <c:f>'Chart Data'!$F$2:$F$3</c:f>
              <c:numCache>
                <c:formatCode>0</c:formatCode>
                <c:ptCount val="2"/>
                <c:pt idx="0">
                  <c:v>8</c:v>
                </c:pt>
                <c:pt idx="1">
                  <c:v>20.6</c:v>
                </c:pt>
              </c:numCache>
            </c:numRef>
          </c:yVal>
          <c:smooth val="0"/>
        </c:ser>
        <c:ser>
          <c:idx val="3"/>
          <c:order val="3"/>
          <c:tx>
            <c:v>A − s</c:v>
          </c:tx>
          <c:spPr>
            <a:ln xmlns:a="http://schemas.openxmlformats.org/drawingml/2006/main" w="38100">
              <a:solidFill>
                <a:srgbClr val="A94D16"/>
              </a:solidFill>
            </a:ln>
          </c:spPr>
          <c:marker>
            <c:symbol val="none"/>
          </c:marker>
          <c:dLbls>
            <c:dLbl>
              <c:idx val="1"/>
              <c:tx>
                <c:rich>
                  <a:bodyPr xmlns:a="http://schemas.openxmlformats.org/drawingml/2006/main"/>
                  <a:lstStyle xmlns:a="http://schemas.openxmlformats.org/drawingml/2006/main"/>
                  <a:p xmlns:a="http://schemas.openxmlformats.org/drawingml/2006/main">
                    <a:r>
                      <a:rPr sz="1950" b="1">
                        <a:solidFill>
                          <a:srgbClr val="A94D16"/>
                        </a:solidFill>
                        <a:latin typeface="Arial"/>
                        <a:ea typeface="Arial"/>
                        <a:cs typeface="Arial"/>
                      </a:rPr>
                      <a:t>A − s</a:t>
                    </a:r>
                  </a:p>
                </c:rich>
              </c:tx>
              <c:txPr>
                <a:bodyPr xmlns:a="http://schemas.openxmlformats.org/drawingml/2006/main" anchorCtr="1"/>
                <a:lstStyle xmlns:a="http://schemas.openxmlformats.org/drawingml/2006/main"/>
                <a:p xmlns:a="http://schemas.openxmlformats.org/drawingml/2006/main">
                  <a:pPr>
                    <a:defRPr sz="1950" b="1">
                      <a:solidFill>
                        <a:srgbClr val="A94D16"/>
                      </a:solidFill>
                      <a:latin typeface="Arial"/>
                      <a:ea typeface="Arial"/>
                      <a:cs typeface="Arial"/>
                    </a:defRPr>
                  </a:pPr>
                </a:p>
              </c:txPr>
              <c:dLblPos val="r"/>
              <c:showLegendKey val="0"/>
              <c:showVal val="0"/>
              <c:showCatName val="0"/>
              <c:showSerName val="0"/>
              <c:showPercent val="0"/>
              <c:showBubbleSize val="0"/>
            </c:dLbl>
            <c:showLegendKey val="0"/>
            <c:showVal val="0"/>
            <c:showCatName val="0"/>
            <c:showSerName val="0"/>
            <c:showPercent val="0"/>
            <c:showBubbleSize val="0"/>
            <c:showLeaderLines val="0"/>
          </c:dLbls>
          <c:xVal>
            <c:numRef>
              <c:f>'Chart Data'!$G$2:$G$3</c:f>
              <c:numCache>
                <c:formatCode>General</c:formatCode>
                <c:ptCount val="2"/>
                <c:pt idx="0">
                  <c:v>0</c:v>
                </c:pt>
                <c:pt idx="1">
                  <c:v>126</c:v>
                </c:pt>
              </c:numCache>
            </c:numRef>
          </c:xVal>
          <c:yVal>
            <c:numRef>
              <c:f>'Chart Data'!$H$2:$H$3</c:f>
              <c:numCache>
                <c:formatCode>0</c:formatCode>
                <c:ptCount val="2"/>
                <c:pt idx="0">
                  <c:v>5</c:v>
                </c:pt>
                <c:pt idx="1">
                  <c:v>17.6</c:v>
                </c:pt>
              </c:numCache>
            </c:numRef>
          </c:yVal>
          <c:smooth val="0"/>
        </c:ser>
        <c:ser>
          <c:idx val="4"/>
          <c:order val="4"/>
          <c:tx>
            <c:v>Pc hulplijn</c:v>
          </c:tx>
          <c:spPr>
            <a:ln xmlns:a="http://schemas.openxmlformats.org/drawingml/2006/main" w="13335">
              <a:solidFill>
                <a:srgbClr val="445B6B"/>
              </a:solidFill>
            </a:ln>
          </c:spPr>
          <c:marker>
            <c:symbol val="none"/>
          </c:marker>
          <c:xVal>
            <c:numRef>
              <c:f>'Chart Data'!$I$2:$I$4</c:f>
              <c:numCache>
                <c:formatCode>General</c:formatCode>
                <c:ptCount val="3"/>
                <c:pt idx="0">
                  <c:v>0</c:v>
                </c:pt>
                <c:pt idx="1">
                  <c:v>70</c:v>
                </c:pt>
                <c:pt idx="2">
                  <c:v>70</c:v>
                </c:pt>
              </c:numCache>
            </c:numRef>
          </c:xVal>
          <c:yVal>
            <c:numRef>
              <c:f>'Chart Data'!$J$2:$J$4</c:f>
              <c:numCache>
                <c:formatCode>0</c:formatCode>
                <c:ptCount val="3"/>
                <c:pt idx="0">
                  <c:v>12</c:v>
                </c:pt>
                <c:pt idx="1">
                  <c:v>12</c:v>
                </c:pt>
                <c:pt idx="2">
                  <c:v>0</c:v>
                </c:pt>
              </c:numCache>
            </c:numRef>
          </c:yVal>
          <c:smooth val="0"/>
        </c:ser>
        <c:ser>
          <c:idx val="5"/>
          <c:order val="5"/>
          <c:tx>
            <c:v>Pp hulplijn</c:v>
          </c:tx>
          <c:spPr>
            <a:ln xmlns:a="http://schemas.openxmlformats.org/drawingml/2006/main" w="13335">
              <a:solidFill>
                <a:srgbClr val="445B6B"/>
              </a:solidFill>
            </a:ln>
          </c:spPr>
          <c:marker>
            <c:symbol val="none"/>
          </c:marker>
          <c:xVal>
            <c:numRef>
              <c:f>'Chart Data'!$K$2:$K$3</c:f>
              <c:numCache>
                <c:formatCode>General</c:formatCode>
                <c:ptCount val="2"/>
                <c:pt idx="0">
                  <c:v>0</c:v>
                </c:pt>
                <c:pt idx="1">
                  <c:v>70</c:v>
                </c:pt>
              </c:numCache>
            </c:numRef>
          </c:xVal>
          <c:yVal>
            <c:numRef>
              <c:f>'Chart Data'!$L$2:$L$3</c:f>
              <c:numCache>
                <c:formatCode>0</c:formatCode>
                <c:ptCount val="2"/>
                <c:pt idx="0">
                  <c:v>15</c:v>
                </c:pt>
                <c:pt idx="1">
                  <c:v>15</c:v>
                </c:pt>
              </c:numCache>
            </c:numRef>
          </c:yVal>
          <c:smooth val="0"/>
        </c:ser>
        <c:ser>
          <c:idx val="6"/>
          <c:order val="6"/>
          <c:tx>
            <c:v>Subsidiewig</c:v>
          </c:tx>
          <c:spPr>
            <a:ln xmlns:a="http://schemas.openxmlformats.org/drawingml/2006/main" w="47625">
              <a:solidFill>
                <a:srgbClr val="A94D16"/>
              </a:solidFill>
            </a:ln>
          </c:spPr>
          <c:marker>
            <c:symbol val="none"/>
          </c:marker>
          <c:xVal>
            <c:numRef>
              <c:f>'Chart Data'!$M$2:$M$3</c:f>
              <c:numCache>
                <c:formatCode>General</c:formatCode>
                <c:ptCount val="2"/>
                <c:pt idx="0">
                  <c:v>70</c:v>
                </c:pt>
                <c:pt idx="1">
                  <c:v>70</c:v>
                </c:pt>
              </c:numCache>
            </c:numRef>
          </c:xVal>
          <c:yVal>
            <c:numRef>
              <c:f>'Chart Data'!$N$2:$N$3</c:f>
              <c:numCache>
                <c:formatCode>0</c:formatCode>
                <c:ptCount val="2"/>
                <c:pt idx="0">
                  <c:v>12</c:v>
                </c:pt>
                <c:pt idx="1">
                  <c:v>15</c:v>
                </c:pt>
              </c:numCache>
            </c:numRef>
          </c:yVal>
          <c:smooth val="0"/>
        </c:ser>
        <c:ser>
          <c:idx val="7"/>
          <c:order val="7"/>
          <c:tx>
            <c:v>Pc</c:v>
          </c:tx>
          <c:spPr>
            <a:ln xmlns:a="http://schemas.openxmlformats.org/drawingml/2006/main" w="0">
              <a:solidFill>
                <a:srgbClr val="17658A"/>
              </a:solidFill>
            </a:ln>
          </c:spPr>
          <c:marker>
            <c:symbol val="circle"/>
            <c:size val="9"/>
            <c:spPr>
              <a:solidFill xmlns:a="http://schemas.openxmlformats.org/drawingml/2006/main">
                <a:srgbClr val="17658A"/>
              </a:solidFill>
            </c:spPr>
          </c:marker>
          <c:xVal>
            <c:numRef>
              <c:f>'Chart Data'!$O$2:$O$2</c:f>
              <c:numCache>
                <c:formatCode>General</c:formatCode>
                <c:ptCount val="1"/>
                <c:pt idx="0">
                  <c:v>70</c:v>
                </c:pt>
              </c:numCache>
            </c:numRef>
          </c:xVal>
          <c:yVal>
            <c:numRef>
              <c:f>'Chart Data'!$P$2:$P$2</c:f>
              <c:numCache>
                <c:formatCode>0</c:formatCode>
                <c:ptCount val="1"/>
                <c:pt idx="0">
                  <c:v>12</c:v>
                </c:pt>
              </c:numCache>
            </c:numRef>
          </c:yVal>
          <c:smooth val="0"/>
        </c:ser>
        <c:ser>
          <c:idx val="8"/>
          <c:order val="8"/>
          <c:tx>
            <c:v>Pp</c:v>
          </c:tx>
          <c:spPr>
            <a:ln xmlns:a="http://schemas.openxmlformats.org/drawingml/2006/main" w="0">
              <a:solidFill>
                <a:srgbClr val="20665B"/>
              </a:solidFill>
            </a:ln>
          </c:spPr>
          <c:marker>
            <c:symbol val="circle"/>
            <c:size val="9"/>
            <c:spPr>
              <a:solidFill xmlns:a="http://schemas.openxmlformats.org/drawingml/2006/main">
                <a:srgbClr val="20665B"/>
              </a:solidFill>
            </c:spPr>
          </c:marker>
          <c:xVal>
            <c:numRef>
              <c:f>'Chart Data'!$Q$2:$Q$2</c:f>
              <c:numCache>
                <c:formatCode>General</c:formatCode>
                <c:ptCount val="1"/>
                <c:pt idx="0">
                  <c:v>70</c:v>
                </c:pt>
              </c:numCache>
            </c:numRef>
          </c:xVal>
          <c:yVal>
            <c:numRef>
              <c:f>'Chart Data'!$R$2:$R$2</c:f>
              <c:numCache>
                <c:formatCode>0</c:formatCode>
                <c:ptCount val="1"/>
                <c:pt idx="0">
                  <c:v>15</c:v>
                </c:pt>
              </c:numCache>
            </c:numRef>
          </c:yVal>
          <c:smooth val="0"/>
        </c:ser>
        <c:ser>
          <c:idx val="9"/>
          <c:order val="9"/>
          <c:tx>
            <c:v>U grens</c:v>
          </c:tx>
          <c:spPr>
            <a:ln xmlns:a="http://schemas.openxmlformats.org/drawingml/2006/main" w="19050">
              <a:solidFill>
                <a:srgbClr val="A94D16"/>
              </a:solidFill>
            </a:ln>
          </c:spPr>
          <c:marker>
            <c:symbol val="none"/>
          </c:marker>
          <c:xVal>
            <c:numRef>
              <c:f>'Chart Data'!$S$2:$S$6</c:f>
              <c:numCache>
                <c:formatCode>General</c:formatCode>
                <c:ptCount val="5"/>
                <c:pt idx="0">
                  <c:v>0</c:v>
                </c:pt>
                <c:pt idx="1">
                  <c:v>70</c:v>
                </c:pt>
                <c:pt idx="2">
                  <c:v>70</c:v>
                </c:pt>
                <c:pt idx="3">
                  <c:v>0</c:v>
                </c:pt>
                <c:pt idx="4">
                  <c:v>0</c:v>
                </c:pt>
              </c:numCache>
            </c:numRef>
          </c:xVal>
          <c:yVal>
            <c:numRef>
              <c:f>'Chart Data'!$T$2:$T$6</c:f>
              <c:numCache>
                <c:formatCode>0</c:formatCode>
                <c:ptCount val="5"/>
                <c:pt idx="0">
                  <c:v>12</c:v>
                </c:pt>
                <c:pt idx="1">
                  <c:v>12</c:v>
                </c:pt>
                <c:pt idx="2">
                  <c:v>15</c:v>
                </c:pt>
                <c:pt idx="3">
                  <c:v>15</c:v>
                </c:pt>
                <c:pt idx="4">
                  <c:v>12</c:v>
                </c:pt>
              </c:numCache>
            </c:numRef>
          </c:yVal>
          <c:smooth val="0"/>
        </c:ser>
        <c:ser>
          <c:idx val="10"/>
          <c:order val="10"/>
          <c:tx>
            <c:v>U label</c:v>
          </c:tx>
          <c:spPr>
            <a:ln xmlns:a="http://schemas.openxmlformats.org/drawingml/2006/main" w="0">
              <a:solidFill>
                <a:srgbClr val="183247"/>
              </a:solid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183247"/>
                        </a:solidFill>
                        <a:latin typeface="Arial"/>
                        <a:ea typeface="Arial"/>
                        <a:cs typeface="Arial"/>
                      </a:rPr>
                      <a:t>U</a:t>
                    </a:r>
                  </a:p>
                </c:rich>
              </c:tx>
              <c:txPr>
                <a:bodyPr xmlns:a="http://schemas.openxmlformats.org/drawingml/2006/main" anchorCtr="1"/>
                <a:lstStyle xmlns:a="http://schemas.openxmlformats.org/drawingml/2006/main"/>
                <a:p xmlns:a="http://schemas.openxmlformats.org/drawingml/2006/main">
                  <a:pPr>
                    <a:defRPr sz="1950" b="1">
                      <a:solidFill>
                        <a:srgbClr val="183247"/>
                      </a:solidFill>
                      <a:latin typeface="Arial"/>
                      <a:ea typeface="Arial"/>
                      <a:cs typeface="Arial"/>
                    </a:defRPr>
                  </a:pPr>
                </a:p>
              </c:txPr>
              <c:dLblPos val="r"/>
              <c:showLegendKey val="0"/>
              <c:showVal val="0"/>
              <c:showCatName val="0"/>
              <c:showSerName val="0"/>
              <c:showPercent val="0"/>
              <c:showBubbleSize val="0"/>
            </c:dLbl>
            <c:showLegendKey val="0"/>
            <c:showVal val="0"/>
            <c:showCatName val="0"/>
            <c:showSerName val="0"/>
            <c:showPercent val="0"/>
            <c:showBubbleSize val="0"/>
            <c:showLeaderLines val="0"/>
          </c:dLbls>
          <c:xVal>
            <c:numRef>
              <c:f>'Chart Data'!$U$2:$U$2</c:f>
              <c:numCache>
                <c:formatCode>General</c:formatCode>
                <c:ptCount val="1"/>
                <c:pt idx="0">
                  <c:v>15.4</c:v>
                </c:pt>
              </c:numCache>
            </c:numRef>
          </c:xVal>
          <c:yVal>
            <c:numRef>
              <c:f>'Chart Data'!$V$2:$V$2</c:f>
              <c:numCache>
                <c:formatCode>0</c:formatCode>
                <c:ptCount val="1"/>
                <c:pt idx="0">
                  <c:v>13.5</c:v>
                </c:pt>
              </c:numCache>
            </c:numRef>
          </c:yVal>
          <c:smooth val="0"/>
        </c:ser>
        <c:ser>
          <c:idx val="11"/>
          <c:order val="11"/>
          <c:tx>
            <c:v>Pp annotation</c:v>
          </c:tx>
          <c:spPr>
            <a:ln xmlns:a="http://schemas.openxmlformats.org/drawingml/2006/main" w="0">
              <a:solidFill>
                <a:srgbClr val="20665B"/>
              </a:solid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20665B"/>
                        </a:solidFill>
                        <a:latin typeface="Arial"/>
                        <a:ea typeface="Arial"/>
                        <a:cs typeface="Arial"/>
                      </a:rPr>
                      <a:t>Pp = 15</a:t>
                    </a:r>
                  </a:p>
                </c:rich>
              </c:tx>
              <c:txPr>
                <a:bodyPr xmlns:a="http://schemas.openxmlformats.org/drawingml/2006/main" anchorCtr="1"/>
                <a:lstStyle xmlns:a="http://schemas.openxmlformats.org/drawingml/2006/main"/>
                <a:p xmlns:a="http://schemas.openxmlformats.org/drawingml/2006/main">
                  <a:pPr>
                    <a:defRPr sz="1950" b="1">
                      <a:solidFill>
                        <a:srgbClr val="20665B"/>
                      </a:solidFill>
                      <a:latin typeface="Arial"/>
                      <a:ea typeface="Arial"/>
                      <a:cs typeface="Arial"/>
                    </a:defRPr>
                  </a:pPr>
                </a:p>
              </c:txPr>
              <c:dLblPos val="r"/>
              <c:showLegendKey val="0"/>
              <c:showVal val="0"/>
              <c:showCatName val="0"/>
              <c:showSerName val="0"/>
              <c:showPercent val="0"/>
              <c:showBubbleSize val="0"/>
            </c:dLbl>
            <c:showLegendKey val="0"/>
            <c:showVal val="0"/>
            <c:showCatName val="0"/>
            <c:showSerName val="0"/>
            <c:showPercent val="0"/>
            <c:showBubbleSize val="0"/>
            <c:showLeaderLines val="0"/>
          </c:dLbls>
          <c:xVal>
            <c:numRef>
              <c:f>'Chart Data'!$W$2:$W$2</c:f>
              <c:numCache>
                <c:formatCode>General</c:formatCode>
                <c:ptCount val="1"/>
                <c:pt idx="0">
                  <c:v>70</c:v>
                </c:pt>
              </c:numCache>
            </c:numRef>
          </c:xVal>
          <c:yVal>
            <c:numRef>
              <c:f>'Chart Data'!$X$2:$X$2</c:f>
              <c:numCache>
                <c:formatCode>0</c:formatCode>
                <c:ptCount val="1"/>
                <c:pt idx="0">
                  <c:v>18</c:v>
                </c:pt>
              </c:numCache>
            </c:numRef>
          </c:yVal>
          <c:smooth val="0"/>
        </c:ser>
        <c:ser>
          <c:idx val="12"/>
          <c:order val="12"/>
          <c:tx>
            <c:v>Pc annotation</c:v>
          </c:tx>
          <c:spPr>
            <a:ln xmlns:a="http://schemas.openxmlformats.org/drawingml/2006/main" w="0">
              <a:solidFill>
                <a:srgbClr val="17658A"/>
              </a:solid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17658A"/>
                        </a:solidFill>
                        <a:latin typeface="Arial"/>
                        <a:ea typeface="Arial"/>
                        <a:cs typeface="Arial"/>
                      </a:rPr>
                      <a:t>Pc = 12</a:t>
                    </a:r>
                  </a:p>
                </c:rich>
              </c:tx>
              <c:txPr>
                <a:bodyPr xmlns:a="http://schemas.openxmlformats.org/drawingml/2006/main" anchorCtr="1"/>
                <a:lstStyle xmlns:a="http://schemas.openxmlformats.org/drawingml/2006/main"/>
                <a:p xmlns:a="http://schemas.openxmlformats.org/drawingml/2006/main">
                  <a:pPr>
                    <a:defRPr sz="1950" b="1">
                      <a:solidFill>
                        <a:srgbClr val="17658A"/>
                      </a:solidFill>
                      <a:latin typeface="Arial"/>
                      <a:ea typeface="Arial"/>
                      <a:cs typeface="Arial"/>
                    </a:defRPr>
                  </a:pPr>
                </a:p>
              </c:txPr>
              <c:dLblPos val="r"/>
              <c:showLegendKey val="0"/>
              <c:showVal val="0"/>
              <c:showCatName val="0"/>
              <c:showSerName val="0"/>
              <c:showPercent val="0"/>
              <c:showBubbleSize val="0"/>
            </c:dLbl>
            <c:showLegendKey val="0"/>
            <c:showVal val="0"/>
            <c:showCatName val="0"/>
            <c:showSerName val="0"/>
            <c:showPercent val="0"/>
            <c:showBubbleSize val="0"/>
            <c:showLeaderLines val="0"/>
          </c:dLbls>
          <c:xVal>
            <c:numRef>
              <c:f>'Chart Data'!$Y$2:$Y$2</c:f>
              <c:numCache>
                <c:formatCode>General</c:formatCode>
                <c:ptCount val="1"/>
                <c:pt idx="0">
                  <c:v>90</c:v>
                </c:pt>
              </c:numCache>
            </c:numRef>
          </c:xVal>
          <c:yVal>
            <c:numRef>
              <c:f>'Chart Data'!$Z$2:$Z$2</c:f>
              <c:numCache>
                <c:formatCode>0</c:formatCode>
                <c:ptCount val="1"/>
                <c:pt idx="0">
                  <c:v>12</c:v>
                </c:pt>
              </c:numCache>
            </c:numRef>
          </c:yVal>
          <c:smooth val="0"/>
        </c:ser>
        <c:dLbls>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3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P (€ per cursusplaats)</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5"/>
      </c:valAx>
      <c:valAx>
        <c:axId val="48650112"/>
        <c:scaling>
          <c:orientation val="minMax"/>
          <c:max val="140"/>
          <c:min val="0"/>
        </c:scaling>
        <c:delete val="0"/>
        <c:axPos val="b"/>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Q (cursusplaatsen per week)</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3.1.3 Subsidies">
            <a:extLst xmlns:a="http://schemas.openxmlformats.org/drawingml/2006/main">
              <a:ext uri="{FF2B5EF4-FFF2-40B4-BE49-F238E27FC236}">
                <a16:creationId xmlns:a16="http://schemas.microsoft.com/office/drawing/2014/main" id="{F4EA8C30-B0D6-4636-B658-B96C643E12B7}"/>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Deze les: §3.1.3 Subsidies</a:t>
            </a:r>
          </a:p>
        </p:txBody>
      </p:sp>
      <p:sp>
        <p:nvSpPr>
          <p:cNvPr id="2" name="">
            <a:extLst xmlns:a="http://schemas.openxmlformats.org/drawingml/2006/main">
              <a:ext uri="{FF2B5EF4-FFF2-40B4-BE49-F238E27FC236}">
                <a16:creationId xmlns:a16="http://schemas.microsoft.com/office/drawing/2014/main" id="{77C2D171-343E-481F-959F-B5FB7E1ECF25}"/>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1.3 Subsidies">
            <a:extLst xmlns:a="http://schemas.openxmlformats.org/drawingml/2006/main">
              <a:ext uri="{FF2B5EF4-FFF2-40B4-BE49-F238E27FC236}">
                <a16:creationId xmlns:a16="http://schemas.microsoft.com/office/drawing/2014/main" id="{6833331A-AB33-4EC1-AD1A-23EB94734CAD}"/>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§3.1.3 Subsidies</a:t>
            </a:r>
          </a:p>
        </p:txBody>
      </p:sp>
      <p:sp>
        <p:nvSpPr>
          <p:cNvPr id="4" name="1">
            <a:extLst xmlns:a="http://schemas.openxmlformats.org/drawingml/2006/main">
              <a:ext uri="{FF2B5EF4-FFF2-40B4-BE49-F238E27FC236}">
                <a16:creationId xmlns:a16="http://schemas.microsoft.com/office/drawing/2014/main" id="{881D5859-36C2-4788-9DC2-25A2A2DFA6C5}"/>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a:t>
            </a:r>
          </a:p>
        </p:txBody>
      </p:sp>
      <p:sp>
        <p:nvSpPr>
          <p:cNvPr id="5" name="phase">
            <a:extLst xmlns:a="http://schemas.openxmlformats.org/drawingml/2006/main">
              <a:ext uri="{FF2B5EF4-FFF2-40B4-BE49-F238E27FC236}">
                <a16:creationId xmlns:a16="http://schemas.microsoft.com/office/drawing/2014/main" id="{5CC3EB85-7EFB-4785-BC43-257C11C3DDB4}"/>
              </a:ext>
            </a:extLst>
          </p:cNvPr>
          <p:cNvSpPr>
            <a:spLocks xmlns:a="http://schemas.openxmlformats.org/drawingml/2006/main" noGrp="1"/>
          </p:cNvSpPr>
          <p:nvPr/>
        </p:nvSpPr>
        <p:spPr>
          <a:xfrm xmlns:a="http://schemas.openxmlformats.org/drawingml/2006/main">
            <a:off x="571500" y="1066800"/>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Startopdracht</a:t>
            </a:r>
          </a:p>
        </p:txBody>
      </p:sp>
      <p:sp>
        <p:nvSpPr>
          <p:cNvPr id="6" name="Lesroute">
            <a:extLst xmlns:a="http://schemas.openxmlformats.org/drawingml/2006/main">
              <a:ext uri="{FF2B5EF4-FFF2-40B4-BE49-F238E27FC236}">
                <a16:creationId xmlns:a16="http://schemas.microsoft.com/office/drawing/2014/main" id="{9B88A011-432D-4247-A3C1-222D7592B5EF}"/>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0">
            <a:extLst xmlns:a="http://schemas.openxmlformats.org/drawingml/2006/main">
              <a:ext uri="{FF2B5EF4-FFF2-40B4-BE49-F238E27FC236}">
                <a16:creationId xmlns:a16="http://schemas.microsoft.com/office/drawing/2014/main" id="{B1B02EBC-D862-4BDA-8F19-2E42310D2E86}"/>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0">
            <a:extLst xmlns:a="http://schemas.openxmlformats.org/drawingml/2006/main">
              <a:ext uri="{FF2B5EF4-FFF2-40B4-BE49-F238E27FC236}">
                <a16:creationId xmlns:a16="http://schemas.microsoft.com/office/drawing/2014/main" id="{EE37398A-A6E9-471C-8A96-C214EA140DBD}"/>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1">
            <a:extLst xmlns:a="http://schemas.openxmlformats.org/drawingml/2006/main">
              <a:ext uri="{FF2B5EF4-FFF2-40B4-BE49-F238E27FC236}">
                <a16:creationId xmlns:a16="http://schemas.microsoft.com/office/drawing/2014/main" id="{31DC8759-1389-478B-B7D3-DD0D1D274A80}"/>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2.</a:t>
            </a:r>
          </a:p>
        </p:txBody>
      </p:sp>
      <p:sp>
        <p:nvSpPr>
          <p:cNvPr id="10" name="route-1">
            <a:extLst xmlns:a="http://schemas.openxmlformats.org/drawingml/2006/main">
              <a:ext uri="{FF2B5EF4-FFF2-40B4-BE49-F238E27FC236}">
                <a16:creationId xmlns:a16="http://schemas.microsoft.com/office/drawing/2014/main" id="{A74A8757-6983-4FF0-97C5-FFEF29ECCE90}"/>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Maak de startopdracht.</a:t>
            </a:r>
          </a:p>
        </p:txBody>
      </p:sp>
      <p:sp>
        <p:nvSpPr>
          <p:cNvPr id="11" name="route-number-2">
            <a:extLst xmlns:a="http://schemas.openxmlformats.org/drawingml/2006/main">
              <a:ext uri="{FF2B5EF4-FFF2-40B4-BE49-F238E27FC236}">
                <a16:creationId xmlns:a16="http://schemas.microsoft.com/office/drawing/2014/main" id="{7DF12C3D-0DE0-4992-AE47-5B4B27CB0D79}"/>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2">
            <a:extLst xmlns:a="http://schemas.openxmlformats.org/drawingml/2006/main">
              <a:ext uri="{FF2B5EF4-FFF2-40B4-BE49-F238E27FC236}">
                <a16:creationId xmlns:a16="http://schemas.microsoft.com/office/drawing/2014/main" id="{0F0BC7AC-3209-435A-BEDA-B74080368CC2}"/>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3">
            <a:extLst xmlns:a="http://schemas.openxmlformats.org/drawingml/2006/main">
              <a:ext uri="{FF2B5EF4-FFF2-40B4-BE49-F238E27FC236}">
                <a16:creationId xmlns:a16="http://schemas.microsoft.com/office/drawing/2014/main" id="{BB513B9D-2D07-496A-AB27-1F9CA04AD917}"/>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3">
            <a:extLst xmlns:a="http://schemas.openxmlformats.org/drawingml/2006/main">
              <a:ext uri="{FF2B5EF4-FFF2-40B4-BE49-F238E27FC236}">
                <a16:creationId xmlns:a16="http://schemas.microsoft.com/office/drawing/2014/main" id="{C9E416C8-AEFD-4FA0-9B9B-0C2E02735044}"/>
              </a:ext>
            </a:extLst>
          </p:cNvPr>
          <p:cNvSpPr>
            <a:spLocks xmlns:a="http://schemas.openxmlformats.org/drawingml/2006/main" noGrp="1"/>
          </p:cNvSpPr>
          <p:nvPr/>
        </p:nvSpPr>
        <p:spPr>
          <a:xfrm xmlns:a="http://schemas.openxmlformats.org/drawingml/2006/main">
            <a:off x="1104900" y="4248150"/>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4">
            <a:extLst xmlns:a="http://schemas.openxmlformats.org/drawingml/2006/main">
              <a:ext uri="{FF2B5EF4-FFF2-40B4-BE49-F238E27FC236}">
                <a16:creationId xmlns:a16="http://schemas.microsoft.com/office/drawing/2014/main" id="{CA674121-AE41-4A57-A7F0-B5A4703B4154}"/>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4">
            <a:extLst xmlns:a="http://schemas.openxmlformats.org/drawingml/2006/main">
              <a:ext uri="{FF2B5EF4-FFF2-40B4-BE49-F238E27FC236}">
                <a16:creationId xmlns:a16="http://schemas.microsoft.com/office/drawing/2014/main" id="{2DABFC71-1D98-4D57-B2B1-A43E4C686317}"/>
              </a:ext>
            </a:extLst>
          </p:cNvPr>
          <p:cNvSpPr>
            <a:spLocks xmlns:a="http://schemas.openxmlformats.org/drawingml/2006/main" noGrp="1"/>
          </p:cNvSpPr>
          <p:nvPr/>
        </p:nvSpPr>
        <p:spPr>
          <a:xfrm xmlns:a="http://schemas.openxmlformats.org/drawingml/2006/main">
            <a:off x="1104900" y="605790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5">
            <a:extLst xmlns:a="http://schemas.openxmlformats.org/drawingml/2006/main">
              <a:ext uri="{FF2B5EF4-FFF2-40B4-BE49-F238E27FC236}">
                <a16:creationId xmlns:a16="http://schemas.microsoft.com/office/drawing/2014/main" id="{1BEA2BCE-6200-46B5-A193-5F4249DDAE54}"/>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5">
            <a:extLst xmlns:a="http://schemas.openxmlformats.org/drawingml/2006/main">
              <a:ext uri="{FF2B5EF4-FFF2-40B4-BE49-F238E27FC236}">
                <a16:creationId xmlns:a16="http://schemas.microsoft.com/office/drawing/2014/main" id="{7585713C-6058-4230-8338-A98EEEBE97A0}"/>
              </a:ext>
            </a:extLst>
          </p:cNvPr>
          <p:cNvSpPr>
            <a:spLocks xmlns:a="http://schemas.openxmlformats.org/drawingml/2006/main" noGrp="1"/>
          </p:cNvSpPr>
          <p:nvPr/>
        </p:nvSpPr>
        <p:spPr>
          <a:xfrm xmlns:a="http://schemas.openxmlformats.org/drawingml/2006/main">
            <a:off x="1104900" y="681990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25.</a:t>
            </a:r>
          </a:p>
        </p:txBody>
      </p:sp>
      <p:sp>
        <p:nvSpPr>
          <p:cNvPr id="19" name="route-number-6">
            <a:extLst xmlns:a="http://schemas.openxmlformats.org/drawingml/2006/main">
              <a:ext uri="{FF2B5EF4-FFF2-40B4-BE49-F238E27FC236}">
                <a16:creationId xmlns:a16="http://schemas.microsoft.com/office/drawing/2014/main" id="{D1F01D16-3E74-4B2A-8A5A-865DF5722FF2}"/>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6">
            <a:extLst xmlns:a="http://schemas.openxmlformats.org/drawingml/2006/main">
              <a:ext uri="{FF2B5EF4-FFF2-40B4-BE49-F238E27FC236}">
                <a16:creationId xmlns:a16="http://schemas.microsoft.com/office/drawing/2014/main" id="{EEDBB815-6676-48C3-A71C-28B304C37824}"/>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D1B90AB4-68FF-4353-9E74-571F0D09F2AA}"/>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F9878D92-2432-42F0-97E2-2EC4BD7B4BC0}"/>
              </a:ext>
            </a:extLst>
          </p:cNvPr>
          <p:cNvSpPr>
            <a:spLocks xmlns:a="http://schemas.openxmlformats.org/drawingml/2006/main" noGrp="1"/>
          </p:cNvSpPr>
          <p:nvPr/>
        </p:nvSpPr>
        <p:spPr>
          <a:xfrm xmlns:a="http://schemas.openxmlformats.org/drawingml/2006/main">
            <a:off x="9258300" y="22860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Prijzen, hoeveelheid en uitgaven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berekenen. Voordeel verdelen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en welvaart beoordelen.</a:t>
            </a:r>
          </a:p>
        </p:txBody>
      </p:sp>
      <p:sp>
        <p:nvSpPr>
          <p:cNvPr id="23" name="">
            <a:extLst xmlns:a="http://schemas.openxmlformats.org/drawingml/2006/main">
              <a:ext uri="{FF2B5EF4-FFF2-40B4-BE49-F238E27FC236}">
                <a16:creationId xmlns:a16="http://schemas.microsoft.com/office/drawing/2014/main" id="{85C1BD2E-0CAE-4DD4-A953-97ACF4603EF7}"/>
              </a:ext>
            </a:extLst>
          </p:cNvPr>
          <p:cNvSpPr>
            <a:spLocks xmlns:a="http://schemas.openxmlformats.org/drawingml/2006/main" noGrp="1"/>
          </p:cNvSpPr>
          <p:nvPr/>
        </p:nvSpPr>
        <p:spPr>
          <a:xfrm xmlns:a="http://schemas.openxmlformats.org/drawingml/2006/main">
            <a:off x="9258300" y="3533775"/>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01A2275F-AC46-4538-9945-93E3EF28F305}"/>
              </a:ext>
            </a:extLst>
          </p:cNvPr>
          <p:cNvSpPr>
            <a:spLocks xmlns:a="http://schemas.openxmlformats.org/drawingml/2006/main" noGrp="1"/>
          </p:cNvSpPr>
          <p:nvPr/>
        </p:nvSpPr>
        <p:spPr>
          <a:xfrm xmlns:a="http://schemas.openxmlformats.org/drawingml/2006/main">
            <a:off x="9258300" y="37242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9346A650-9133-4499-BD7C-B2901FA472EA}"/>
              </a:ext>
            </a:extLst>
          </p:cNvPr>
          <p:cNvSpPr>
            <a:spLocks xmlns:a="http://schemas.openxmlformats.org/drawingml/2006/main" noGrp="1"/>
          </p:cNvSpPr>
          <p:nvPr/>
        </p:nvSpPr>
        <p:spPr>
          <a:xfrm xmlns:a="http://schemas.openxmlformats.org/drawingml/2006/main">
            <a:off x="9258300" y="4238625"/>
            <a:ext cx="5381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26 · Opgaven 19 en 20</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Verkennen met theorie:</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19: p. 23; 20: p. 24</a:t>
            </a:r>
          </a:p>
        </p:txBody>
      </p:sp>
      <p:sp>
        <p:nvSpPr>
          <p:cNvPr id="26" name="">
            <a:extLst xmlns:a="http://schemas.openxmlformats.org/drawingml/2006/main">
              <a:ext uri="{FF2B5EF4-FFF2-40B4-BE49-F238E27FC236}">
                <a16:creationId xmlns:a16="http://schemas.microsoft.com/office/drawing/2014/main" id="{2542C477-1DAE-43C6-8542-F6E5615AEB1F}"/>
              </a:ext>
            </a:extLst>
          </p:cNvPr>
          <p:cNvSpPr>
            <a:spLocks xmlns:a="http://schemas.openxmlformats.org/drawingml/2006/main" noGrp="1"/>
          </p:cNvSpPr>
          <p:nvPr/>
        </p:nvSpPr>
        <p:spPr>
          <a:xfrm xmlns:a="http://schemas.openxmlformats.org/drawingml/2006/main">
            <a:off x="9258300" y="5476875"/>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50F3C23C-366B-4E8E-B76B-EDC0C658BBF5}"/>
              </a:ext>
            </a:extLst>
          </p:cNvPr>
          <p:cNvSpPr>
            <a:spLocks xmlns:a="http://schemas.openxmlformats.org/drawingml/2006/main" noGrp="1"/>
          </p:cNvSpPr>
          <p:nvPr/>
        </p:nvSpPr>
        <p:spPr>
          <a:xfrm xmlns:a="http://schemas.openxmlformats.org/drawingml/2006/main">
            <a:off x="9258300" y="56959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A9F66CF2-A414-4E36-9A4A-4EDB18B086C4}"/>
              </a:ext>
            </a:extLst>
          </p:cNvPr>
          <p:cNvSpPr>
            <a:spLocks xmlns:a="http://schemas.openxmlformats.org/drawingml/2006/main" noGrp="1"/>
          </p:cNvSpPr>
          <p:nvPr/>
        </p:nvSpPr>
        <p:spPr>
          <a:xfrm xmlns:a="http://schemas.openxmlformats.org/drawingml/2006/main">
            <a:off x="9258300" y="6229350"/>
            <a:ext cx="5381625"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§3.1.3 Subsidies</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21, 22 en 22A</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23 en 24</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Doelopgave: 25</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118576398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De subsidiewig">
            <a:extLst xmlns:a="http://schemas.openxmlformats.org/drawingml/2006/main">
              <a:ext uri="{FF2B5EF4-FFF2-40B4-BE49-F238E27FC236}">
                <a16:creationId xmlns:a16="http://schemas.microsoft.com/office/drawing/2014/main" id="{A06FD2F2-3C15-447D-BFAF-917624FCDAF3}"/>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De subsidiewig</a:t>
            </a:r>
          </a:p>
        </p:txBody>
      </p:sp>
      <p:sp>
        <p:nvSpPr>
          <p:cNvPr id="2" name="">
            <a:extLst xmlns:a="http://schemas.openxmlformats.org/drawingml/2006/main">
              <a:ext uri="{FF2B5EF4-FFF2-40B4-BE49-F238E27FC236}">
                <a16:creationId xmlns:a16="http://schemas.microsoft.com/office/drawing/2014/main" id="{8B7D4E9B-62FB-41AC-995F-F740F340B8A4}"/>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1.3 Subsidies">
            <a:extLst xmlns:a="http://schemas.openxmlformats.org/drawingml/2006/main">
              <a:ext uri="{FF2B5EF4-FFF2-40B4-BE49-F238E27FC236}">
                <a16:creationId xmlns:a16="http://schemas.microsoft.com/office/drawing/2014/main" id="{FECC150C-F5BC-40F8-9319-7FA681F65AF9}"/>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§3.1.3 Subsidies</a:t>
            </a:r>
          </a:p>
        </p:txBody>
      </p:sp>
      <p:sp>
        <p:nvSpPr>
          <p:cNvPr id="4" name="2">
            <a:extLst xmlns:a="http://schemas.openxmlformats.org/drawingml/2006/main">
              <a:ext uri="{FF2B5EF4-FFF2-40B4-BE49-F238E27FC236}">
                <a16:creationId xmlns:a16="http://schemas.microsoft.com/office/drawing/2014/main" id="{FA77732C-48F7-48B5-8599-F5FFA12216F5}"/>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a:t>
            </a:r>
          </a:p>
        </p:txBody>
      </p:sp>
      <p:graphicFrame>
        <p:nvGraphicFramePr>
          <p:cNvPr id="11" name=""/>
          <p:cNvGraphicFramePr/>
          <p:nvPr/>
        </p:nvGraphicFramePr>
        <p:xfrm>
          <a:off xmlns:a="http://schemas.openxmlformats.org/drawingml/2006/main" x="571500" y="2257425"/>
          <a:ext xmlns:a="http://schemas.openxmlformats.org/drawingml/2006/main" cx="14097000" cy="3619500"/>
        </p:xfrm>
        <a:graphic xmlns:a="http://schemas.openxmlformats.org/drawingml/2006/main">
          <a:graphicData uri="http://schemas.openxmlformats.org/drawingml/2006/table">
            <a:tbl>
              <a:tblPr/>
              <a:tblGrid>
                <a:gridCol w="5715000"/>
                <a:gridCol w="4191000"/>
                <a:gridCol w="4191000"/>
              </a:tblGrid>
              <a:tr h="904875">
                <a:tc>
                  <a:txBody>
                    <a:bodyPr lIns="171450" tIns="95250" rIns="152400" bIns="95250"/>
                    <a:lstStyle/>
                    <a:p>
                      <a:r>
                        <a:rPr sz="2550" b="1">
                          <a:solidFill>
                            <a:srgbClr val="FFFFFF"/>
                          </a:solidFill>
                          <a:latin typeface="Arial"/>
                          <a:ea typeface="Arial"/>
                          <a:cs typeface="Arial"/>
                        </a:rPr>
                        <a:t>Per verkocht product</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Belasting</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Subsidie</a:t>
                      </a:r>
                    </a:p>
                  </a:txBody>
                  <a:tcPr marL="91440" marR="91440" marT="45720" marB="45720" anchor="ctr">
                    <a:solidFill>
                      <a:srgbClr val="183247"/>
                    </a:solidFill>
                  </a:tcPr>
                </a:tc>
              </a:tr>
              <a:tr h="904875">
                <a:tc>
                  <a:txBody>
                    <a:bodyPr lIns="171450" tIns="95250" rIns="152400" bIns="95250"/>
                    <a:lstStyle/>
                    <a:p>
                      <a:r>
                        <a:rPr sz="2550" b="0">
                          <a:solidFill>
                            <a:srgbClr val="183247"/>
                          </a:solidFill>
                          <a:latin typeface="Arial"/>
                          <a:ea typeface="Arial"/>
                          <a:cs typeface="Arial"/>
                        </a:rPr>
                        <a:t>Geldstroom</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Verkoper draagt af</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Overheid legt bij</a:t>
                      </a:r>
                    </a:p>
                  </a:txBody>
                  <a:tcPr marL="91440" marR="91440" marT="45720" marB="45720" anchor="ctr">
                    <a:solidFill>
                      <a:srgbClr val="FFFFFF"/>
                    </a:solidFill>
                  </a:tcPr>
                </a:tc>
              </a:tr>
              <a:tr h="904875">
                <a:tc>
                  <a:txBody>
                    <a:bodyPr lIns="171450" tIns="95250" rIns="152400" bIns="95250"/>
                    <a:lstStyle/>
                    <a:p>
                      <a:r>
                        <a:rPr sz="2550" b="0">
                          <a:solidFill>
                            <a:srgbClr val="183247"/>
                          </a:solidFill>
                          <a:latin typeface="Arial"/>
                          <a:ea typeface="Arial"/>
                          <a:cs typeface="Arial"/>
                        </a:rPr>
                        <a:t>Relatie tussen de prijzen</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Pc − Pp = t</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Pp − Pc = s</a:t>
                      </a:r>
                    </a:p>
                  </a:txBody>
                  <a:tcPr marL="91440" marR="91440" marT="45720" marB="45720" anchor="ctr">
                    <a:solidFill>
                      <a:srgbClr val="EFF4F7"/>
                    </a:solidFill>
                  </a:tcPr>
                </a:tc>
              </a:tr>
              <a:tr h="904875">
                <a:tc>
                  <a:txBody>
                    <a:bodyPr lIns="171450" tIns="95250" rIns="152400" bIns="95250"/>
                    <a:lstStyle/>
                    <a:p>
                      <a:r>
                        <a:rPr sz="2550" b="0">
                          <a:solidFill>
                            <a:srgbClr val="183247"/>
                          </a:solidFill>
                          <a:latin typeface="Arial"/>
                          <a:ea typeface="Arial"/>
                          <a:cs typeface="Arial"/>
                        </a:rPr>
                        <a:t>Ontvangst producent</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Pp = Pc − t</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Pp = Pc + s</a:t>
                      </a:r>
                    </a:p>
                  </a:txBody>
                  <a:tcPr marL="91440" marR="91440" marT="45720" marB="45720" anchor="ctr">
                    <a:solidFill>
                      <a:srgbClr val="FFFFFF"/>
                    </a:solidFill>
                  </a:tcPr>
                </a:tc>
              </a:tr>
            </a:tbl>
          </a:graphicData>
        </a:graphic>
      </p:graphicFrame>
      <p:sp>
        <p:nvSpPr>
          <p:cNvPr id="6" name="Pp is de totale ontvangst vóór aftrek van productiekost">
            <a:extLst xmlns:a="http://schemas.openxmlformats.org/drawingml/2006/main">
              <a:ext uri="{FF2B5EF4-FFF2-40B4-BE49-F238E27FC236}">
                <a16:creationId xmlns:a16="http://schemas.microsoft.com/office/drawing/2014/main" id="{0729869A-F38B-469C-949B-C96B6B5070B6}"/>
              </a:ext>
            </a:extLst>
          </p:cNvPr>
          <p:cNvSpPr>
            <a:spLocks xmlns:a="http://schemas.openxmlformats.org/drawingml/2006/main" noGrp="1"/>
          </p:cNvSpPr>
          <p:nvPr/>
        </p:nvSpPr>
        <p:spPr>
          <a:xfrm xmlns:a="http://schemas.openxmlformats.org/drawingml/2006/main">
            <a:off x="571500" y="6696075"/>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Pp is de totale ontvangst vóór aftrek van productiekosten.</a:t>
            </a:r>
          </a:p>
        </p:txBody>
      </p:sp>
    </p:spTree>
    <p:extLst>
      <p:ext uri="{BB962C8B-B14F-4D97-AF65-F5344CB8AC3E}">
        <p14:creationId xmlns:p14="http://schemas.microsoft.com/office/powerpoint/2010/main" val="165615265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ietscontroles">
            <a:extLst xmlns:a="http://schemas.openxmlformats.org/drawingml/2006/main">
              <a:ext uri="{FF2B5EF4-FFF2-40B4-BE49-F238E27FC236}">
                <a16:creationId xmlns:a16="http://schemas.microsoft.com/office/drawing/2014/main" id="{B0973E3D-3B0C-4D16-B3A4-5125AE9BEED9}"/>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Fietscontroles</a:t>
            </a:r>
          </a:p>
        </p:txBody>
      </p:sp>
      <p:sp>
        <p:nvSpPr>
          <p:cNvPr id="2" name="">
            <a:extLst xmlns:a="http://schemas.openxmlformats.org/drawingml/2006/main">
              <a:ext uri="{FF2B5EF4-FFF2-40B4-BE49-F238E27FC236}">
                <a16:creationId xmlns:a16="http://schemas.microsoft.com/office/drawing/2014/main" id="{D5049864-497A-45F6-BFEF-20B96512DEDC}"/>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3EFC2C94-3D5B-4B2B-AE0C-4BA0FEFD8AB7}"/>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3">
            <a:extLst xmlns:a="http://schemas.openxmlformats.org/drawingml/2006/main">
              <a:ext uri="{FF2B5EF4-FFF2-40B4-BE49-F238E27FC236}">
                <a16:creationId xmlns:a16="http://schemas.microsoft.com/office/drawing/2014/main" id="{85B2ADE2-9D29-43FE-BE81-7A99C7C429A1}"/>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3</a:t>
            </a:r>
          </a:p>
        </p:txBody>
      </p:sp>
      <p:sp>
        <p:nvSpPr>
          <p:cNvPr id="5" name="Een fictieve markt voor een eenvoudige fietscontrole">
            <a:extLst xmlns:a="http://schemas.openxmlformats.org/drawingml/2006/main">
              <a:ext uri="{FF2B5EF4-FFF2-40B4-BE49-F238E27FC236}">
                <a16:creationId xmlns:a16="http://schemas.microsoft.com/office/drawing/2014/main" id="{49CA8573-10C4-490A-A16B-C2F4DE082287}"/>
              </a:ext>
            </a:extLst>
          </p:cNvPr>
          <p:cNvSpPr>
            <a:spLocks xmlns:a="http://schemas.openxmlformats.org/drawingml/2006/main" noGrp="1"/>
          </p:cNvSpPr>
          <p:nvPr/>
        </p:nvSpPr>
        <p:spPr>
          <a:xfrm xmlns:a="http://schemas.openxmlformats.org/drawingml/2006/main">
            <a:off x="571500" y="1809750"/>
            <a:ext cx="1409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Een fictieve markt voor een eenvoudige fietscontrole</a:t>
            </a:r>
          </a:p>
        </p:txBody>
      </p:sp>
      <p:graphicFrame>
        <p:nvGraphicFramePr>
          <p:cNvPr id="13" name=""/>
          <p:cNvGraphicFramePr/>
          <p:nvPr/>
        </p:nvGraphicFramePr>
        <p:xfrm>
          <a:off xmlns:a="http://schemas.openxmlformats.org/drawingml/2006/main" x="571500" y="2781300"/>
          <a:ext xmlns:a="http://schemas.openxmlformats.org/drawingml/2006/main" cx="14097000" cy="3333750"/>
        </p:xfrm>
        <a:graphic xmlns:a="http://schemas.openxmlformats.org/drawingml/2006/main">
          <a:graphicData uri="http://schemas.openxmlformats.org/drawingml/2006/table">
            <a:tbl>
              <a:tblPr/>
              <a:tblGrid>
                <a:gridCol w="6477000"/>
                <a:gridCol w="7620000"/>
              </a:tblGrid>
              <a:tr h="833438">
                <a:tc>
                  <a:txBody>
                    <a:bodyPr lIns="171450" tIns="95250" rIns="152400" bIns="95250"/>
                    <a:lstStyle/>
                    <a:p>
                      <a:r>
                        <a:rPr sz="2550" b="1">
                          <a:solidFill>
                            <a:srgbClr val="FFFFFF"/>
                          </a:solidFill>
                          <a:latin typeface="Arial"/>
                          <a:ea typeface="Arial"/>
                          <a:cs typeface="Arial"/>
                        </a:rPr>
                        <a:t>Vraag</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Pc = 32 − 0,20Q</a:t>
                      </a:r>
                    </a:p>
                  </a:txBody>
                  <a:tcPr marL="91440" marR="91440" marT="45720" marB="45720" anchor="ctr">
                    <a:solidFill>
                      <a:srgbClr val="183247"/>
                    </a:solidFill>
                  </a:tcPr>
                </a:tc>
              </a:tr>
              <a:tr h="833438">
                <a:tc>
                  <a:txBody>
                    <a:bodyPr lIns="171450" tIns="95250" rIns="152400" bIns="95250"/>
                    <a:lstStyle/>
                    <a:p>
                      <a:r>
                        <a:rPr sz="2550" b="0">
                          <a:solidFill>
                            <a:srgbClr val="183247"/>
                          </a:solidFill>
                          <a:latin typeface="Arial"/>
                          <a:ea typeface="Arial"/>
                          <a:cs typeface="Arial"/>
                        </a:rPr>
                        <a:t>Oorspronkelijk aanbod</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Pp = 8 + 0,10Q</a:t>
                      </a:r>
                    </a:p>
                  </a:txBody>
                  <a:tcPr marL="91440" marR="91440" marT="45720" marB="45720" anchor="ctr">
                    <a:solidFill>
                      <a:srgbClr val="FFFFFF"/>
                    </a:solidFill>
                  </a:tcPr>
                </a:tc>
              </a:tr>
              <a:tr h="833438">
                <a:tc>
                  <a:txBody>
                    <a:bodyPr lIns="171450" tIns="95250" rIns="152400" bIns="95250"/>
                    <a:lstStyle/>
                    <a:p>
                      <a:r>
                        <a:rPr sz="2550" b="0">
                          <a:solidFill>
                            <a:srgbClr val="183247"/>
                          </a:solidFill>
                          <a:latin typeface="Arial"/>
                          <a:ea typeface="Arial"/>
                          <a:cs typeface="Arial"/>
                        </a:rPr>
                        <a:t>Subsidie per verkochte controle</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s = € 6</a:t>
                      </a:r>
                    </a:p>
                  </a:txBody>
                  <a:tcPr marL="91440" marR="91440" marT="45720" marB="45720" anchor="ctr">
                    <a:solidFill>
                      <a:srgbClr val="EFF4F7"/>
                    </a:solidFill>
                  </a:tcPr>
                </a:tc>
              </a:tr>
              <a:tr h="833438">
                <a:tc>
                  <a:txBody>
                    <a:bodyPr lIns="171450" tIns="95250" rIns="152400" bIns="95250"/>
                    <a:lstStyle/>
                    <a:p>
                      <a:r>
                        <a:rPr sz="2550" b="0">
                          <a:solidFill>
                            <a:srgbClr val="183247"/>
                          </a:solidFill>
                          <a:latin typeface="Arial"/>
                          <a:ea typeface="Arial"/>
                          <a:cs typeface="Arial"/>
                        </a:rPr>
                        <a:t>Eenheden</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Q per week; prijzen in € per controle</a:t>
                      </a:r>
                    </a:p>
                  </a:txBody>
                  <a:tcPr marL="91440" marR="91440" marT="45720" marB="45720" anchor="ctr">
                    <a:solidFill>
                      <a:srgbClr val="FFFFFF"/>
                    </a:solidFill>
                  </a:tcPr>
                </a:tc>
              </a:tr>
            </a:tbl>
          </a:graphicData>
        </a:graphic>
      </p:graphicFrame>
      <p:sp>
        <p:nvSpPr>
          <p:cNvPr id="7" name="Geen baten voor buitenstaanders en geen uitvoeringskost">
            <a:extLst xmlns:a="http://schemas.openxmlformats.org/drawingml/2006/main">
              <a:ext uri="{FF2B5EF4-FFF2-40B4-BE49-F238E27FC236}">
                <a16:creationId xmlns:a16="http://schemas.microsoft.com/office/drawing/2014/main" id="{817705D3-61A8-480B-A9BB-D13F1D23AA0C}"/>
              </a:ext>
            </a:extLst>
          </p:cNvPr>
          <p:cNvSpPr>
            <a:spLocks xmlns:a="http://schemas.openxmlformats.org/drawingml/2006/main" noGrp="1"/>
          </p:cNvSpPr>
          <p:nvPr/>
        </p:nvSpPr>
        <p:spPr>
          <a:xfrm xmlns:a="http://schemas.openxmlformats.org/drawingml/2006/main">
            <a:off x="571500" y="6886575"/>
            <a:ext cx="1409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83247"/>
                </a:solidFill>
                <a:latin typeface="Arial"/>
                <a:ea typeface="Arial"/>
                <a:cs typeface="Arial"/>
              </a:defRPr>
            </a:pPr>
            <a:r>
              <a:rPr sz="2775" b="1">
                <a:solidFill>
                  <a:srgbClr val="183247"/>
                </a:solidFill>
                <a:latin typeface="Arial"/>
                <a:ea typeface="Arial"/>
                <a:cs typeface="Arial"/>
              </a:rPr>
              <a:t>Geen baten voor buitenstaanders en geen uitvoeringskosten.</a:t>
            </a:r>
          </a:p>
        </p:txBody>
      </p:sp>
    </p:spTree>
    <p:extLst>
      <p:ext uri="{BB962C8B-B14F-4D97-AF65-F5344CB8AC3E}">
        <p14:creationId xmlns:p14="http://schemas.microsoft.com/office/powerpoint/2010/main" val="63964186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Zonder subsidie: één evenwichtsprijs">
            <a:extLst xmlns:a="http://schemas.openxmlformats.org/drawingml/2006/main">
              <a:ext uri="{FF2B5EF4-FFF2-40B4-BE49-F238E27FC236}">
                <a16:creationId xmlns:a16="http://schemas.microsoft.com/office/drawing/2014/main" id="{8C145979-A5CF-4E12-A105-024BB6765568}"/>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Zonder subsidie: één evenwichtsprijs</a:t>
            </a:r>
          </a:p>
        </p:txBody>
      </p:sp>
      <p:sp>
        <p:nvSpPr>
          <p:cNvPr id="2" name="">
            <a:extLst xmlns:a="http://schemas.openxmlformats.org/drawingml/2006/main">
              <a:ext uri="{FF2B5EF4-FFF2-40B4-BE49-F238E27FC236}">
                <a16:creationId xmlns:a16="http://schemas.microsoft.com/office/drawing/2014/main" id="{2ABB625F-909F-4729-849D-B23A5DF0D794}"/>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0570A171-B9F7-41ED-9F4A-77984720616E}"/>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4">
            <a:extLst xmlns:a="http://schemas.openxmlformats.org/drawingml/2006/main">
              <a:ext uri="{FF2B5EF4-FFF2-40B4-BE49-F238E27FC236}">
                <a16:creationId xmlns:a16="http://schemas.microsoft.com/office/drawing/2014/main" id="{CFAC73FD-26F3-49FB-9D8D-281C41B30BE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4</a:t>
            </a:r>
          </a:p>
        </p:txBody>
      </p:sp>
      <p:graphicFrame>
        <p:nvGraphicFramePr>
          <p:cNvPr id="13" name="Chart"/>
          <p:cNvGraphicFramePr/>
          <p:nvPr/>
        </p:nvGraphicFramePr>
        <p:xfrm>
          <a:off xmlns:a="http://schemas.openxmlformats.org/drawingml/2006/main" x="476250" y="1952625"/>
          <a:ext xmlns:a="http://schemas.openxmlformats.org/drawingml/2006/main" cx="10191750" cy="5791200"/>
        </p:xfrm>
        <a:graphic xmlns:a="http://schemas.openxmlformats.org/drawingml/2006/main">
          <a:graphicData uri="http://schemas.openxmlformats.org/drawingml/2006/chart">
            <c:chart xmlns:r="http://schemas.openxmlformats.org/officeDocument/2006/relationships" xmlns:c="http://schemas.openxmlformats.org/drawingml/2006/chart" r:id="R4aa67554d66f4aa7"/>
          </a:graphicData>
        </a:graphic>
      </p:graphicFrame>
      <p:sp>
        <p:nvSpPr>
          <p:cNvPr id="6" name="V = A">
            <a:extLst xmlns:a="http://schemas.openxmlformats.org/drawingml/2006/main">
              <a:ext uri="{FF2B5EF4-FFF2-40B4-BE49-F238E27FC236}">
                <a16:creationId xmlns:a16="http://schemas.microsoft.com/office/drawing/2014/main" id="{D14A6146-5047-4F76-A909-142701FA46A5}"/>
              </a:ext>
            </a:extLst>
          </p:cNvPr>
          <p:cNvSpPr>
            <a:spLocks xmlns:a="http://schemas.openxmlformats.org/drawingml/2006/main" noGrp="1"/>
          </p:cNvSpPr>
          <p:nvPr/>
        </p:nvSpPr>
        <p:spPr>
          <a:xfrm xmlns:a="http://schemas.openxmlformats.org/drawingml/2006/main">
            <a:off x="11144250" y="2095500"/>
            <a:ext cx="3476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V = A</a:t>
            </a:r>
          </a:p>
        </p:txBody>
      </p:sp>
      <p:sp>
        <p:nvSpPr>
          <p:cNvPr id="7" name="32 − 0,20Q&#10;= 8 + 0,10Q&#10;&#10;24 = 0,30Q&#10;Q₀ = 80&#10;P₀ = € 16">
            <a:extLst xmlns:a="http://schemas.openxmlformats.org/drawingml/2006/main">
              <a:ext uri="{FF2B5EF4-FFF2-40B4-BE49-F238E27FC236}">
                <a16:creationId xmlns:a16="http://schemas.microsoft.com/office/drawing/2014/main" id="{5BFCC87D-08C2-4F8F-8D57-8D03DE793F23}"/>
              </a:ext>
            </a:extLst>
          </p:cNvPr>
          <p:cNvSpPr>
            <a:spLocks xmlns:a="http://schemas.openxmlformats.org/drawingml/2006/main" noGrp="1"/>
          </p:cNvSpPr>
          <p:nvPr/>
        </p:nvSpPr>
        <p:spPr>
          <a:xfrm xmlns:a="http://schemas.openxmlformats.org/drawingml/2006/main">
            <a:off x="11144250" y="3095625"/>
            <a:ext cx="347662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32 − 0,20Q</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 8 + 0,10Q</a:t>
            </a:r>
          </a:p>
          <a:p xmlns:a="http://schemas.openxmlformats.org/drawingml/2006/main">
            <a:r>
              <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24 = 0,30Q</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Q₀ = 80</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P₀ = € 16</a:t>
            </a:r>
          </a:p>
        </p:txBody>
      </p:sp>
      <p:sp>
        <p:nvSpPr>
          <p:cNvPr id="8" name="80 controles&#10;per week">
            <a:extLst xmlns:a="http://schemas.openxmlformats.org/drawingml/2006/main">
              <a:ext uri="{FF2B5EF4-FFF2-40B4-BE49-F238E27FC236}">
                <a16:creationId xmlns:a16="http://schemas.microsoft.com/office/drawing/2014/main" id="{3C02F9C2-957D-44EF-A532-F68053EAFC8F}"/>
              </a:ext>
            </a:extLst>
          </p:cNvPr>
          <p:cNvSpPr>
            <a:spLocks xmlns:a="http://schemas.openxmlformats.org/drawingml/2006/main" noGrp="1"/>
          </p:cNvSpPr>
          <p:nvPr/>
        </p:nvSpPr>
        <p:spPr>
          <a:xfrm xmlns:a="http://schemas.openxmlformats.org/drawingml/2006/main">
            <a:off x="11144250" y="6267450"/>
            <a:ext cx="34766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A94D16"/>
                </a:solidFill>
                <a:latin typeface="Arial"/>
                <a:ea typeface="Arial"/>
                <a:cs typeface="Arial"/>
              </a:defRPr>
            </a:pPr>
            <a:r>
              <a:rPr sz="2325" b="1">
                <a:solidFill>
                  <a:srgbClr val="A94D16"/>
                </a:solidFill>
                <a:latin typeface="Arial"/>
                <a:ea typeface="Arial"/>
                <a:cs typeface="Arial"/>
              </a:rPr>
              <a:t>80 controles</a:t>
            </a:r>
          </a:p>
          <a:p xmlns:a="http://schemas.openxmlformats.org/drawingml/2006/main">
            <a:pPr algn="l">
              <a:defRPr sz="2325" b="1">
                <a:solidFill>
                  <a:srgbClr val="A94D16"/>
                </a:solidFill>
                <a:latin typeface="Arial"/>
                <a:ea typeface="Arial"/>
                <a:cs typeface="Arial"/>
              </a:defRPr>
            </a:pPr>
            <a:r>
              <a:rPr sz="2325" b="1">
                <a:solidFill>
                  <a:srgbClr val="A94D16"/>
                </a:solidFill>
                <a:latin typeface="Arial"/>
                <a:ea typeface="Arial"/>
                <a:cs typeface="Arial"/>
              </a:rPr>
              <a:t>per week</a:t>
            </a:r>
          </a:p>
        </p:txBody>
      </p:sp>
    </p:spTree>
    <p:extLst>
      <p:ext uri="{BB962C8B-B14F-4D97-AF65-F5344CB8AC3E}">
        <p14:creationId xmlns:p14="http://schemas.microsoft.com/office/powerpoint/2010/main" val="204875942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Het aanbod in kopersprijzen">
            <a:extLst xmlns:a="http://schemas.openxmlformats.org/drawingml/2006/main">
              <a:ext uri="{FF2B5EF4-FFF2-40B4-BE49-F238E27FC236}">
                <a16:creationId xmlns:a16="http://schemas.microsoft.com/office/drawing/2014/main" id="{61968271-FAE0-4597-AD97-837799143857}"/>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Het aanbod in kopersprijzen</a:t>
            </a:r>
          </a:p>
        </p:txBody>
      </p:sp>
      <p:sp>
        <p:nvSpPr>
          <p:cNvPr id="2" name="">
            <a:extLst xmlns:a="http://schemas.openxmlformats.org/drawingml/2006/main">
              <a:ext uri="{FF2B5EF4-FFF2-40B4-BE49-F238E27FC236}">
                <a16:creationId xmlns:a16="http://schemas.microsoft.com/office/drawing/2014/main" id="{5E2D4E0E-91B3-401E-A8D9-C6C8748BF0D0}"/>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4B5D614D-BA56-4D9F-B37A-F9CDBCDFD18D}"/>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5">
            <a:extLst xmlns:a="http://schemas.openxmlformats.org/drawingml/2006/main">
              <a:ext uri="{FF2B5EF4-FFF2-40B4-BE49-F238E27FC236}">
                <a16:creationId xmlns:a16="http://schemas.microsoft.com/office/drawing/2014/main" id="{DA1C32C0-93BD-47D8-BAA2-2DBE2635981F}"/>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5</a:t>
            </a:r>
          </a:p>
        </p:txBody>
      </p:sp>
      <p:sp>
        <p:nvSpPr>
          <p:cNvPr id="5" name="Pp = 8 + 0,10Q">
            <a:extLst xmlns:a="http://schemas.openxmlformats.org/drawingml/2006/main">
              <a:ext uri="{FF2B5EF4-FFF2-40B4-BE49-F238E27FC236}">
                <a16:creationId xmlns:a16="http://schemas.microsoft.com/office/drawing/2014/main" id="{C4C621DC-CE47-4F00-BA21-B9C5D497268F}"/>
              </a:ext>
            </a:extLst>
          </p:cNvPr>
          <p:cNvSpPr>
            <a:spLocks xmlns:a="http://schemas.openxmlformats.org/drawingml/2006/main" noGrp="1"/>
          </p:cNvSpPr>
          <p:nvPr/>
        </p:nvSpPr>
        <p:spPr>
          <a:xfrm xmlns:a="http://schemas.openxmlformats.org/drawingml/2006/main">
            <a:off x="571500" y="2286000"/>
            <a:ext cx="1409700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Pp = 8 + 0,10Q</a:t>
            </a:r>
          </a:p>
        </p:txBody>
      </p:sp>
      <p:sp>
        <p:nvSpPr>
          <p:cNvPr id="6" name="Pc = Pp − s">
            <a:extLst xmlns:a="http://schemas.openxmlformats.org/drawingml/2006/main">
              <a:ext uri="{FF2B5EF4-FFF2-40B4-BE49-F238E27FC236}">
                <a16:creationId xmlns:a16="http://schemas.microsoft.com/office/drawing/2014/main" id="{DC1F55F7-A0FB-4CF7-B3E6-A264DA9AB105}"/>
              </a:ext>
            </a:extLst>
          </p:cNvPr>
          <p:cNvSpPr>
            <a:spLocks xmlns:a="http://schemas.openxmlformats.org/drawingml/2006/main" noGrp="1"/>
          </p:cNvSpPr>
          <p:nvPr/>
        </p:nvSpPr>
        <p:spPr>
          <a:xfrm xmlns:a="http://schemas.openxmlformats.org/drawingml/2006/main">
            <a:off x="571500" y="3667125"/>
            <a:ext cx="1409700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Pc = Pp − s</a:t>
            </a:r>
          </a:p>
        </p:txBody>
      </p:sp>
      <p:sp>
        <p:nvSpPr>
          <p:cNvPr id="7" name="Pc = (8 + 0,10Q) − 6 = 2 + 0,10Q">
            <a:extLst xmlns:a="http://schemas.openxmlformats.org/drawingml/2006/main">
              <a:ext uri="{FF2B5EF4-FFF2-40B4-BE49-F238E27FC236}">
                <a16:creationId xmlns:a16="http://schemas.microsoft.com/office/drawing/2014/main" id="{7EDE61DC-6208-4E06-B29E-531E66517C16}"/>
              </a:ext>
            </a:extLst>
          </p:cNvPr>
          <p:cNvSpPr>
            <a:spLocks xmlns:a="http://schemas.openxmlformats.org/drawingml/2006/main" noGrp="1"/>
          </p:cNvSpPr>
          <p:nvPr/>
        </p:nvSpPr>
        <p:spPr>
          <a:xfrm xmlns:a="http://schemas.openxmlformats.org/drawingml/2006/main">
            <a:off x="571500" y="5048250"/>
            <a:ext cx="1409700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658A"/>
                </a:solidFill>
                <a:latin typeface="Arial"/>
                <a:ea typeface="Arial"/>
                <a:cs typeface="Arial"/>
              </a:defRPr>
            </a:pPr>
            <a:r>
              <a:rPr sz="3225" b="1">
                <a:solidFill>
                  <a:srgbClr val="17658A"/>
                </a:solidFill>
                <a:latin typeface="Arial"/>
                <a:ea typeface="Arial"/>
                <a:cs typeface="Arial"/>
              </a:rPr>
              <a:t>Pc = (8 + 0,10Q) − 6 = 2 + 0,10Q</a:t>
            </a:r>
          </a:p>
        </p:txBody>
      </p:sp>
      <p:sp>
        <p:nvSpPr>
          <p:cNvPr id="8" name="Dezelfde gewenste ontvangst, € 6 minder van de koper.">
            <a:extLst xmlns:a="http://schemas.openxmlformats.org/drawingml/2006/main">
              <a:ext uri="{FF2B5EF4-FFF2-40B4-BE49-F238E27FC236}">
                <a16:creationId xmlns:a16="http://schemas.microsoft.com/office/drawing/2014/main" id="{479CAC93-3BFC-4855-B2D6-46B6195503FC}"/>
              </a:ext>
            </a:extLst>
          </p:cNvPr>
          <p:cNvSpPr>
            <a:spLocks xmlns:a="http://schemas.openxmlformats.org/drawingml/2006/main" noGrp="1"/>
          </p:cNvSpPr>
          <p:nvPr/>
        </p:nvSpPr>
        <p:spPr>
          <a:xfrm xmlns:a="http://schemas.openxmlformats.org/drawingml/2006/main">
            <a:off x="571500" y="7010400"/>
            <a:ext cx="1409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A94D16"/>
                </a:solidFill>
                <a:latin typeface="Arial"/>
                <a:ea typeface="Arial"/>
                <a:cs typeface="Arial"/>
              </a:defRPr>
            </a:pPr>
            <a:r>
              <a:rPr sz="2850" b="1">
                <a:solidFill>
                  <a:srgbClr val="A94D16"/>
                </a:solidFill>
                <a:latin typeface="Arial"/>
                <a:ea typeface="Arial"/>
                <a:cs typeface="Arial"/>
              </a:rPr>
              <a:t>Dezelfde gewenste ontvangst, € 6 minder van de koper.</a:t>
            </a:r>
          </a:p>
        </p:txBody>
      </p:sp>
    </p:spTree>
    <p:extLst>
      <p:ext uri="{BB962C8B-B14F-4D97-AF65-F5344CB8AC3E}">
        <p14:creationId xmlns:p14="http://schemas.microsoft.com/office/powerpoint/2010/main" val="188039407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A − s ligt € 6 onder A">
            <a:extLst xmlns:a="http://schemas.openxmlformats.org/drawingml/2006/main">
              <a:ext uri="{FF2B5EF4-FFF2-40B4-BE49-F238E27FC236}">
                <a16:creationId xmlns:a16="http://schemas.microsoft.com/office/drawing/2014/main" id="{DD6179E0-FC6E-4545-9789-89BE68B556AF}"/>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A − s ligt € 6 onder A</a:t>
            </a:r>
          </a:p>
        </p:txBody>
      </p:sp>
      <p:sp>
        <p:nvSpPr>
          <p:cNvPr id="2" name="">
            <a:extLst xmlns:a="http://schemas.openxmlformats.org/drawingml/2006/main">
              <a:ext uri="{FF2B5EF4-FFF2-40B4-BE49-F238E27FC236}">
                <a16:creationId xmlns:a16="http://schemas.microsoft.com/office/drawing/2014/main" id="{570D4CA3-305B-4F05-8EBC-6082FEFC9B22}"/>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B99B846F-3552-4132-A2AC-39325DF557C0}"/>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6">
            <a:extLst xmlns:a="http://schemas.openxmlformats.org/drawingml/2006/main">
              <a:ext uri="{FF2B5EF4-FFF2-40B4-BE49-F238E27FC236}">
                <a16:creationId xmlns:a16="http://schemas.microsoft.com/office/drawing/2014/main" id="{729EE19A-D823-4EBF-A2C0-CFC8EAB45DD4}"/>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6</a:t>
            </a:r>
          </a:p>
        </p:txBody>
      </p:sp>
      <p:graphicFrame>
        <p:nvGraphicFramePr>
          <p:cNvPr id="13" name="Chart"/>
          <p:cNvGraphicFramePr/>
          <p:nvPr/>
        </p:nvGraphicFramePr>
        <p:xfrm>
          <a:off xmlns:a="http://schemas.openxmlformats.org/drawingml/2006/main" x="476250" y="1952625"/>
          <a:ext xmlns:a="http://schemas.openxmlformats.org/drawingml/2006/main" cx="10191750" cy="5791200"/>
        </p:xfrm>
        <a:graphic xmlns:a="http://schemas.openxmlformats.org/drawingml/2006/main">
          <a:graphicData uri="http://schemas.openxmlformats.org/drawingml/2006/chart">
            <c:chart xmlns:r="http://schemas.openxmlformats.org/officeDocument/2006/relationships" xmlns:c="http://schemas.openxmlformats.org/drawingml/2006/chart" r:id="Rd89014ceb0624a96"/>
          </a:graphicData>
        </a:graphic>
      </p:graphicFrame>
      <p:sp>
        <p:nvSpPr>
          <p:cNvPr id="6" name="Twee aanbodlijnen">
            <a:extLst xmlns:a="http://schemas.openxmlformats.org/drawingml/2006/main">
              <a:ext uri="{FF2B5EF4-FFF2-40B4-BE49-F238E27FC236}">
                <a16:creationId xmlns:a16="http://schemas.microsoft.com/office/drawing/2014/main" id="{B8EA9A7A-912F-4E2C-B515-AD88F24B8FE6}"/>
              </a:ext>
            </a:extLst>
          </p:cNvPr>
          <p:cNvSpPr>
            <a:spLocks xmlns:a="http://schemas.openxmlformats.org/drawingml/2006/main" noGrp="1"/>
          </p:cNvSpPr>
          <p:nvPr/>
        </p:nvSpPr>
        <p:spPr>
          <a:xfrm xmlns:a="http://schemas.openxmlformats.org/drawingml/2006/main">
            <a:off x="11144250" y="2095500"/>
            <a:ext cx="3476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Twee aanbodlijnen</a:t>
            </a:r>
          </a:p>
        </p:txBody>
      </p:sp>
      <p:sp>
        <p:nvSpPr>
          <p:cNvPr id="7" name="A: Pp = 8 + 0,10Q&#10;&#10;A − s:&#10;Pc = 2 + 0,10Q">
            <a:extLst xmlns:a="http://schemas.openxmlformats.org/drawingml/2006/main">
              <a:ext uri="{FF2B5EF4-FFF2-40B4-BE49-F238E27FC236}">
                <a16:creationId xmlns:a16="http://schemas.microsoft.com/office/drawing/2014/main" id="{21AF7241-C5A7-434B-9078-0D8273EB2383}"/>
              </a:ext>
            </a:extLst>
          </p:cNvPr>
          <p:cNvSpPr>
            <a:spLocks xmlns:a="http://schemas.openxmlformats.org/drawingml/2006/main" noGrp="1"/>
          </p:cNvSpPr>
          <p:nvPr/>
        </p:nvSpPr>
        <p:spPr>
          <a:xfrm xmlns:a="http://schemas.openxmlformats.org/drawingml/2006/main">
            <a:off x="11144250" y="3095625"/>
            <a:ext cx="347662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A: Pp = 8 + 0,10Q</a:t>
            </a:r>
          </a:p>
          <a:p xmlns:a="http://schemas.openxmlformats.org/drawingml/2006/main">
            <a:r>
              <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A − s:</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Pc = 2 + 0,10Q</a:t>
            </a:r>
          </a:p>
        </p:txBody>
      </p:sp>
      <p:sp>
        <p:nvSpPr>
          <p:cNvPr id="8" name="V blijft gelijk">
            <a:extLst xmlns:a="http://schemas.openxmlformats.org/drawingml/2006/main">
              <a:ext uri="{FF2B5EF4-FFF2-40B4-BE49-F238E27FC236}">
                <a16:creationId xmlns:a16="http://schemas.microsoft.com/office/drawing/2014/main" id="{7496E1AF-84D3-42AB-9700-A2F0FFE27BBB}"/>
              </a:ext>
            </a:extLst>
          </p:cNvPr>
          <p:cNvSpPr>
            <a:spLocks xmlns:a="http://schemas.openxmlformats.org/drawingml/2006/main" noGrp="1"/>
          </p:cNvSpPr>
          <p:nvPr/>
        </p:nvSpPr>
        <p:spPr>
          <a:xfrm xmlns:a="http://schemas.openxmlformats.org/drawingml/2006/main">
            <a:off x="11144250" y="6267450"/>
            <a:ext cx="34766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A94D16"/>
                </a:solidFill>
                <a:latin typeface="Arial"/>
                <a:ea typeface="Arial"/>
                <a:cs typeface="Arial"/>
              </a:defRPr>
            </a:pPr>
            <a:r>
              <a:rPr sz="2325" b="1">
                <a:solidFill>
                  <a:srgbClr val="A94D16"/>
                </a:solidFill>
                <a:latin typeface="Arial"/>
                <a:ea typeface="Arial"/>
                <a:cs typeface="Arial"/>
              </a:rPr>
              <a:t>V blijft gelijk</a:t>
            </a:r>
          </a:p>
        </p:txBody>
      </p:sp>
    </p:spTree>
    <p:extLst>
      <p:ext uri="{BB962C8B-B14F-4D97-AF65-F5344CB8AC3E}">
        <p14:creationId xmlns:p14="http://schemas.microsoft.com/office/powerpoint/2010/main" val="31706398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De nieuwe hoeveelheid en beide prijzen">
            <a:extLst xmlns:a="http://schemas.openxmlformats.org/drawingml/2006/main">
              <a:ext uri="{FF2B5EF4-FFF2-40B4-BE49-F238E27FC236}">
                <a16:creationId xmlns:a16="http://schemas.microsoft.com/office/drawing/2014/main" id="{1CDF8449-9BA3-495B-B907-6D1C4B3AE215}"/>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De nieuwe hoeveelheid en beide prijzen</a:t>
            </a:r>
          </a:p>
        </p:txBody>
      </p:sp>
      <p:sp>
        <p:nvSpPr>
          <p:cNvPr id="2" name="">
            <a:extLst xmlns:a="http://schemas.openxmlformats.org/drawingml/2006/main">
              <a:ext uri="{FF2B5EF4-FFF2-40B4-BE49-F238E27FC236}">
                <a16:creationId xmlns:a16="http://schemas.microsoft.com/office/drawing/2014/main" id="{529028E3-6A7E-41EE-876A-1778D531A9FC}"/>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E355D9F1-4845-4165-A992-74C06ECCA6EA}"/>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7">
            <a:extLst xmlns:a="http://schemas.openxmlformats.org/drawingml/2006/main">
              <a:ext uri="{FF2B5EF4-FFF2-40B4-BE49-F238E27FC236}">
                <a16:creationId xmlns:a16="http://schemas.microsoft.com/office/drawing/2014/main" id="{7AD1E0D4-88B3-4517-8393-86729A0DEDFC}"/>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7</a:t>
            </a:r>
          </a:p>
        </p:txBody>
      </p:sp>
      <p:sp>
        <p:nvSpPr>
          <p:cNvPr id="5" name="32 − 0,20Q = 2 + 0,10Q">
            <a:extLst xmlns:a="http://schemas.openxmlformats.org/drawingml/2006/main">
              <a:ext uri="{FF2B5EF4-FFF2-40B4-BE49-F238E27FC236}">
                <a16:creationId xmlns:a16="http://schemas.microsoft.com/office/drawing/2014/main" id="{31945D05-77B4-47C0-89BF-F58B8D07C571}"/>
              </a:ext>
            </a:extLst>
          </p:cNvPr>
          <p:cNvSpPr>
            <a:spLocks xmlns:a="http://schemas.openxmlformats.org/drawingml/2006/main" noGrp="1"/>
          </p:cNvSpPr>
          <p:nvPr/>
        </p:nvSpPr>
        <p:spPr>
          <a:xfrm xmlns:a="http://schemas.openxmlformats.org/drawingml/2006/main">
            <a:off x="571500" y="2143125"/>
            <a:ext cx="14097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0">
                <a:solidFill>
                  <a:srgbClr val="183247"/>
                </a:solidFill>
                <a:latin typeface="Arial"/>
                <a:ea typeface="Arial"/>
                <a:cs typeface="Arial"/>
              </a:defRPr>
            </a:pPr>
            <a:r>
              <a:rPr sz="3075" b="0">
                <a:solidFill>
                  <a:srgbClr val="183247"/>
                </a:solidFill>
                <a:latin typeface="Arial"/>
                <a:ea typeface="Arial"/>
                <a:cs typeface="Arial"/>
              </a:rPr>
              <a:t>32 − 0,20Q = 2 + 0,10Q</a:t>
            </a:r>
          </a:p>
        </p:txBody>
      </p:sp>
      <p:sp>
        <p:nvSpPr>
          <p:cNvPr id="6" name="30 = 0,30Q       Qsub = 100 controles per week">
            <a:extLst xmlns:a="http://schemas.openxmlformats.org/drawingml/2006/main">
              <a:ext uri="{FF2B5EF4-FFF2-40B4-BE49-F238E27FC236}">
                <a16:creationId xmlns:a16="http://schemas.microsoft.com/office/drawing/2014/main" id="{F5964D2E-58F8-4C80-A789-58FBAC0E82B3}"/>
              </a:ext>
            </a:extLst>
          </p:cNvPr>
          <p:cNvSpPr>
            <a:spLocks xmlns:a="http://schemas.openxmlformats.org/drawingml/2006/main" noGrp="1"/>
          </p:cNvSpPr>
          <p:nvPr/>
        </p:nvSpPr>
        <p:spPr>
          <a:xfrm xmlns:a="http://schemas.openxmlformats.org/drawingml/2006/main">
            <a:off x="571500" y="3343275"/>
            <a:ext cx="14097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0">
                <a:solidFill>
                  <a:srgbClr val="183247"/>
                </a:solidFill>
                <a:latin typeface="Arial"/>
                <a:ea typeface="Arial"/>
                <a:cs typeface="Arial"/>
              </a:defRPr>
            </a:pPr>
            <a:r>
              <a:rPr sz="3075" b="0">
                <a:solidFill>
                  <a:srgbClr val="183247"/>
                </a:solidFill>
                <a:latin typeface="Arial"/>
                <a:ea typeface="Arial"/>
                <a:cs typeface="Arial"/>
              </a:rPr>
              <a:t>30 = 0,30Q       Qsub = 100 controles per week</a:t>
            </a:r>
          </a:p>
        </p:txBody>
      </p:sp>
      <p:sp>
        <p:nvSpPr>
          <p:cNvPr id="7" name="Pc = 32 − 0,20 × 100 = € 12">
            <a:extLst xmlns:a="http://schemas.openxmlformats.org/drawingml/2006/main">
              <a:ext uri="{FF2B5EF4-FFF2-40B4-BE49-F238E27FC236}">
                <a16:creationId xmlns:a16="http://schemas.microsoft.com/office/drawing/2014/main" id="{A8B4C2B3-7EA0-45AA-90F4-1FEA3C357F09}"/>
              </a:ext>
            </a:extLst>
          </p:cNvPr>
          <p:cNvSpPr>
            <a:spLocks xmlns:a="http://schemas.openxmlformats.org/drawingml/2006/main" noGrp="1"/>
          </p:cNvSpPr>
          <p:nvPr/>
        </p:nvSpPr>
        <p:spPr>
          <a:xfrm xmlns:a="http://schemas.openxmlformats.org/drawingml/2006/main">
            <a:off x="571500" y="4543425"/>
            <a:ext cx="14097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0">
                <a:solidFill>
                  <a:srgbClr val="183247"/>
                </a:solidFill>
                <a:latin typeface="Arial"/>
                <a:ea typeface="Arial"/>
                <a:cs typeface="Arial"/>
              </a:defRPr>
            </a:pPr>
            <a:r>
              <a:rPr sz="3075" b="0">
                <a:solidFill>
                  <a:srgbClr val="183247"/>
                </a:solidFill>
                <a:latin typeface="Arial"/>
                <a:ea typeface="Arial"/>
                <a:cs typeface="Arial"/>
              </a:rPr>
              <a:t>Pc = 32 − 0,20 × 100 = € 12</a:t>
            </a:r>
          </a:p>
        </p:txBody>
      </p:sp>
      <p:sp>
        <p:nvSpPr>
          <p:cNvPr id="8" name="Pp = 8 + 0,10 × 100 = € 18">
            <a:extLst xmlns:a="http://schemas.openxmlformats.org/drawingml/2006/main">
              <a:ext uri="{FF2B5EF4-FFF2-40B4-BE49-F238E27FC236}">
                <a16:creationId xmlns:a16="http://schemas.microsoft.com/office/drawing/2014/main" id="{113629C3-00AC-4733-9A24-C21D9AA000AF}"/>
              </a:ext>
            </a:extLst>
          </p:cNvPr>
          <p:cNvSpPr>
            <a:spLocks xmlns:a="http://schemas.openxmlformats.org/drawingml/2006/main" noGrp="1"/>
          </p:cNvSpPr>
          <p:nvPr/>
        </p:nvSpPr>
        <p:spPr>
          <a:xfrm xmlns:a="http://schemas.openxmlformats.org/drawingml/2006/main">
            <a:off x="571500" y="5743575"/>
            <a:ext cx="14097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7658A"/>
                </a:solidFill>
                <a:latin typeface="Arial"/>
                <a:ea typeface="Arial"/>
                <a:cs typeface="Arial"/>
              </a:defRPr>
            </a:pPr>
            <a:r>
              <a:rPr sz="3075" b="1">
                <a:solidFill>
                  <a:srgbClr val="17658A"/>
                </a:solidFill>
                <a:latin typeface="Arial"/>
                <a:ea typeface="Arial"/>
                <a:cs typeface="Arial"/>
              </a:rPr>
              <a:t>Pp = 8 + 0,10 × 100 = € 18</a:t>
            </a:r>
          </a:p>
        </p:txBody>
      </p:sp>
      <p:sp>
        <p:nvSpPr>
          <p:cNvPr id="9" name="Controle: Pp − Pc = 18 − 12 = € 6 per controle">
            <a:extLst xmlns:a="http://schemas.openxmlformats.org/drawingml/2006/main">
              <a:ext uri="{FF2B5EF4-FFF2-40B4-BE49-F238E27FC236}">
                <a16:creationId xmlns:a16="http://schemas.microsoft.com/office/drawing/2014/main" id="{5A3756BF-44F2-4DDF-9422-735C8100F252}"/>
              </a:ext>
            </a:extLst>
          </p:cNvPr>
          <p:cNvSpPr>
            <a:spLocks xmlns:a="http://schemas.openxmlformats.org/drawingml/2006/main" noGrp="1"/>
          </p:cNvSpPr>
          <p:nvPr/>
        </p:nvSpPr>
        <p:spPr>
          <a:xfrm xmlns:a="http://schemas.openxmlformats.org/drawingml/2006/main">
            <a:off x="571500" y="7267575"/>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A94D16"/>
                </a:solidFill>
                <a:latin typeface="Arial"/>
                <a:ea typeface="Arial"/>
                <a:cs typeface="Arial"/>
              </a:defRPr>
            </a:pPr>
            <a:r>
              <a:rPr sz="2700" b="1">
                <a:solidFill>
                  <a:srgbClr val="A94D16"/>
                </a:solidFill>
                <a:latin typeface="Arial"/>
                <a:ea typeface="Arial"/>
                <a:cs typeface="Arial"/>
              </a:rPr>
              <a:t>Controle: Pp − Pc = 18 − 12 = € 6 per controle</a:t>
            </a:r>
          </a:p>
        </p:txBody>
      </p:sp>
    </p:spTree>
    <p:extLst>
      <p:ext uri="{BB962C8B-B14F-4D97-AF65-F5344CB8AC3E}">
        <p14:creationId xmlns:p14="http://schemas.microsoft.com/office/powerpoint/2010/main" val="108090144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wee prijzen bij dezelfde hoeveelheid">
            <a:extLst xmlns:a="http://schemas.openxmlformats.org/drawingml/2006/main">
              <a:ext uri="{FF2B5EF4-FFF2-40B4-BE49-F238E27FC236}">
                <a16:creationId xmlns:a16="http://schemas.microsoft.com/office/drawing/2014/main" id="{A4D0F42B-3CDF-4EE6-993B-9C2974D5601D}"/>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Twee prijzen bij dezelfde hoeveelheid</a:t>
            </a:r>
          </a:p>
        </p:txBody>
      </p:sp>
      <p:sp>
        <p:nvSpPr>
          <p:cNvPr id="2" name="">
            <a:extLst xmlns:a="http://schemas.openxmlformats.org/drawingml/2006/main">
              <a:ext uri="{FF2B5EF4-FFF2-40B4-BE49-F238E27FC236}">
                <a16:creationId xmlns:a16="http://schemas.microsoft.com/office/drawing/2014/main" id="{260DB82A-1D45-4556-A2BB-877F9AEDFD99}"/>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B3136AEF-E523-49CE-950C-33F39C996162}"/>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8">
            <a:extLst xmlns:a="http://schemas.openxmlformats.org/drawingml/2006/main">
              <a:ext uri="{FF2B5EF4-FFF2-40B4-BE49-F238E27FC236}">
                <a16:creationId xmlns:a16="http://schemas.microsoft.com/office/drawing/2014/main" id="{E7FE48EF-409F-437C-BA17-DD4ECBFC43C3}"/>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8</a:t>
            </a:r>
          </a:p>
        </p:txBody>
      </p:sp>
      <p:graphicFrame>
        <p:nvGraphicFramePr>
          <p:cNvPr id="13" name="Chart"/>
          <p:cNvGraphicFramePr/>
          <p:nvPr/>
        </p:nvGraphicFramePr>
        <p:xfrm>
          <a:off xmlns:a="http://schemas.openxmlformats.org/drawingml/2006/main" x="476250" y="1952625"/>
          <a:ext xmlns:a="http://schemas.openxmlformats.org/drawingml/2006/main" cx="10191750" cy="5791200"/>
        </p:xfrm>
        <a:graphic xmlns:a="http://schemas.openxmlformats.org/drawingml/2006/main">
          <a:graphicData uri="http://schemas.openxmlformats.org/drawingml/2006/chart">
            <c:chart xmlns:r="http://schemas.openxmlformats.org/officeDocument/2006/relationships" xmlns:c="http://schemas.openxmlformats.org/drawingml/2006/chart" r:id="R1cdc87ce3d7c4907"/>
          </a:graphicData>
        </a:graphic>
      </p:graphicFrame>
      <p:sp>
        <p:nvSpPr>
          <p:cNvPr id="6" name="Qsub = 100">
            <a:extLst xmlns:a="http://schemas.openxmlformats.org/drawingml/2006/main">
              <a:ext uri="{FF2B5EF4-FFF2-40B4-BE49-F238E27FC236}">
                <a16:creationId xmlns:a16="http://schemas.microsoft.com/office/drawing/2014/main" id="{FC239666-527A-4A94-AC2D-DA98F1BD8869}"/>
              </a:ext>
            </a:extLst>
          </p:cNvPr>
          <p:cNvSpPr>
            <a:spLocks xmlns:a="http://schemas.openxmlformats.org/drawingml/2006/main" noGrp="1"/>
          </p:cNvSpPr>
          <p:nvPr/>
        </p:nvSpPr>
        <p:spPr>
          <a:xfrm xmlns:a="http://schemas.openxmlformats.org/drawingml/2006/main">
            <a:off x="11144250" y="2095500"/>
            <a:ext cx="3476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Qsub = 100</a:t>
            </a:r>
          </a:p>
        </p:txBody>
      </p:sp>
      <p:sp>
        <p:nvSpPr>
          <p:cNvPr id="7" name="Op V: Pc = € 12&#10;&#10;Op A: Pp = € 18&#10;&#10;Wig: € 6">
            <a:extLst xmlns:a="http://schemas.openxmlformats.org/drawingml/2006/main">
              <a:ext uri="{FF2B5EF4-FFF2-40B4-BE49-F238E27FC236}">
                <a16:creationId xmlns:a16="http://schemas.microsoft.com/office/drawing/2014/main" id="{07C5D244-682D-4CE2-8517-42B3E9C62CAA}"/>
              </a:ext>
            </a:extLst>
          </p:cNvPr>
          <p:cNvSpPr>
            <a:spLocks xmlns:a="http://schemas.openxmlformats.org/drawingml/2006/main" noGrp="1"/>
          </p:cNvSpPr>
          <p:nvPr/>
        </p:nvSpPr>
        <p:spPr>
          <a:xfrm xmlns:a="http://schemas.openxmlformats.org/drawingml/2006/main">
            <a:off x="11144250" y="3095625"/>
            <a:ext cx="347662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Op V: Pc = € 12</a:t>
            </a:r>
          </a:p>
          <a:p xmlns:a="http://schemas.openxmlformats.org/drawingml/2006/main">
            <a:r>
              <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Op A: Pp = € 18</a:t>
            </a:r>
          </a:p>
          <a:p xmlns:a="http://schemas.openxmlformats.org/drawingml/2006/main">
            <a:r>
              <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Wig: € 6</a:t>
            </a:r>
          </a:p>
        </p:txBody>
      </p:sp>
      <p:sp>
        <p:nvSpPr>
          <p:cNvPr id="8" name="Pp is inclusief&#10;de subsidie">
            <a:extLst xmlns:a="http://schemas.openxmlformats.org/drawingml/2006/main">
              <a:ext uri="{FF2B5EF4-FFF2-40B4-BE49-F238E27FC236}">
                <a16:creationId xmlns:a16="http://schemas.microsoft.com/office/drawing/2014/main" id="{9E9C47F3-D9B8-4CA0-B15C-36520C5C2F18}"/>
              </a:ext>
            </a:extLst>
          </p:cNvPr>
          <p:cNvSpPr>
            <a:spLocks xmlns:a="http://schemas.openxmlformats.org/drawingml/2006/main" noGrp="1"/>
          </p:cNvSpPr>
          <p:nvPr/>
        </p:nvSpPr>
        <p:spPr>
          <a:xfrm xmlns:a="http://schemas.openxmlformats.org/drawingml/2006/main">
            <a:off x="11144250" y="6267450"/>
            <a:ext cx="34766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A94D16"/>
                </a:solidFill>
                <a:latin typeface="Arial"/>
                <a:ea typeface="Arial"/>
                <a:cs typeface="Arial"/>
              </a:defRPr>
            </a:pPr>
            <a:r>
              <a:rPr sz="2325" b="1">
                <a:solidFill>
                  <a:srgbClr val="A94D16"/>
                </a:solidFill>
                <a:latin typeface="Arial"/>
                <a:ea typeface="Arial"/>
                <a:cs typeface="Arial"/>
              </a:rPr>
              <a:t>Pp is inclusief</a:t>
            </a:r>
          </a:p>
          <a:p xmlns:a="http://schemas.openxmlformats.org/drawingml/2006/main">
            <a:pPr algn="l">
              <a:defRPr sz="2325" b="1">
                <a:solidFill>
                  <a:srgbClr val="A94D16"/>
                </a:solidFill>
                <a:latin typeface="Arial"/>
                <a:ea typeface="Arial"/>
                <a:cs typeface="Arial"/>
              </a:defRPr>
            </a:pPr>
            <a:r>
              <a:rPr sz="2325" b="1">
                <a:solidFill>
                  <a:srgbClr val="A94D16"/>
                </a:solidFill>
                <a:latin typeface="Arial"/>
                <a:ea typeface="Arial"/>
                <a:cs typeface="Arial"/>
              </a:rPr>
              <a:t>de subsidie</a:t>
            </a:r>
          </a:p>
        </p:txBody>
      </p:sp>
    </p:spTree>
    <p:extLst>
      <p:ext uri="{BB962C8B-B14F-4D97-AF65-F5344CB8AC3E}">
        <p14:creationId xmlns:p14="http://schemas.microsoft.com/office/powerpoint/2010/main" val="92056980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De verdeling van het voordeel">
            <a:extLst xmlns:a="http://schemas.openxmlformats.org/drawingml/2006/main">
              <a:ext uri="{FF2B5EF4-FFF2-40B4-BE49-F238E27FC236}">
                <a16:creationId xmlns:a16="http://schemas.microsoft.com/office/drawing/2014/main" id="{C68FDE7F-E9A4-4145-B97D-91C49C814931}"/>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De verdeling van het voordeel</a:t>
            </a:r>
          </a:p>
        </p:txBody>
      </p:sp>
      <p:sp>
        <p:nvSpPr>
          <p:cNvPr id="2" name="">
            <a:extLst xmlns:a="http://schemas.openxmlformats.org/drawingml/2006/main">
              <a:ext uri="{FF2B5EF4-FFF2-40B4-BE49-F238E27FC236}">
                <a16:creationId xmlns:a16="http://schemas.microsoft.com/office/drawing/2014/main" id="{EE6590C2-AE0E-4884-9C0D-72D5F335F565}"/>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448A97D8-C9FF-4499-A6DD-74A8A97F46A2}"/>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9">
            <a:extLst xmlns:a="http://schemas.openxmlformats.org/drawingml/2006/main">
              <a:ext uri="{FF2B5EF4-FFF2-40B4-BE49-F238E27FC236}">
                <a16:creationId xmlns:a16="http://schemas.microsoft.com/office/drawing/2014/main" id="{DC18B1B6-2BBD-4E27-BB0A-618357988583}"/>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9</a:t>
            </a:r>
          </a:p>
        </p:txBody>
      </p:sp>
      <p:graphicFrame>
        <p:nvGraphicFramePr>
          <p:cNvPr id="11" name=""/>
          <p:cNvGraphicFramePr/>
          <p:nvPr/>
        </p:nvGraphicFramePr>
        <p:xfrm>
          <a:off xmlns:a="http://schemas.openxmlformats.org/drawingml/2006/main" x="571500" y="2362200"/>
          <a:ext xmlns:a="http://schemas.openxmlformats.org/drawingml/2006/main" cx="14097000" cy="3190875"/>
        </p:xfrm>
        <a:graphic xmlns:a="http://schemas.openxmlformats.org/drawingml/2006/main">
          <a:graphicData uri="http://schemas.openxmlformats.org/drawingml/2006/table">
            <a:tbl>
              <a:tblPr/>
              <a:tblGrid>
                <a:gridCol w="4286250"/>
                <a:gridCol w="6000750"/>
                <a:gridCol w="3810000"/>
              </a:tblGrid>
              <a:tr h="1063625">
                <a:tc>
                  <a:txBody>
                    <a:bodyPr lIns="171450" tIns="95250" rIns="152400" bIns="95250"/>
                    <a:lstStyle/>
                    <a:p>
                      <a:r>
                        <a:rPr sz="2625" b="1">
                          <a:solidFill>
                            <a:srgbClr val="FFFFFF"/>
                          </a:solidFill>
                          <a:latin typeface="Arial"/>
                          <a:ea typeface="Arial"/>
                          <a:cs typeface="Arial"/>
                        </a:rPr>
                        <a:t>Per controle</a:t>
                      </a:r>
                    </a:p>
                  </a:txBody>
                  <a:tcPr marL="91440" marR="91440" marT="45720" marB="45720" anchor="ctr">
                    <a:solidFill>
                      <a:srgbClr val="183247"/>
                    </a:solidFill>
                  </a:tcPr>
                </a:tc>
                <a:tc>
                  <a:txBody>
                    <a:bodyPr lIns="171450" tIns="95250" rIns="152400" bIns="95250"/>
                    <a:lstStyle/>
                    <a:p>
                      <a:r>
                        <a:rPr sz="2625" b="1">
                          <a:solidFill>
                            <a:srgbClr val="FFFFFF"/>
                          </a:solidFill>
                          <a:latin typeface="Arial"/>
                          <a:ea typeface="Arial"/>
                          <a:cs typeface="Arial"/>
                        </a:rPr>
                        <a:t>Vergelijking met P₀ = € 16</a:t>
                      </a:r>
                    </a:p>
                  </a:txBody>
                  <a:tcPr marL="91440" marR="91440" marT="45720" marB="45720" anchor="ctr">
                    <a:solidFill>
                      <a:srgbClr val="183247"/>
                    </a:solidFill>
                  </a:tcPr>
                </a:tc>
                <a:tc>
                  <a:txBody>
                    <a:bodyPr lIns="171450" tIns="95250" rIns="152400" bIns="95250"/>
                    <a:lstStyle/>
                    <a:p>
                      <a:r>
                        <a:rPr sz="2625" b="1">
                          <a:solidFill>
                            <a:srgbClr val="FFFFFF"/>
                          </a:solidFill>
                          <a:latin typeface="Arial"/>
                          <a:ea typeface="Arial"/>
                          <a:cs typeface="Arial"/>
                        </a:rPr>
                        <a:t>Voordeel</a:t>
                      </a:r>
                    </a:p>
                  </a:txBody>
                  <a:tcPr marL="91440" marR="91440" marT="45720" marB="45720" anchor="ctr">
                    <a:solidFill>
                      <a:srgbClr val="183247"/>
                    </a:solidFill>
                  </a:tcPr>
                </a:tc>
              </a:tr>
              <a:tr h="1063625">
                <a:tc>
                  <a:txBody>
                    <a:bodyPr lIns="171450" tIns="95250" rIns="152400" bIns="95250"/>
                    <a:lstStyle/>
                    <a:p>
                      <a:r>
                        <a:rPr sz="2625" b="0">
                          <a:solidFill>
                            <a:srgbClr val="183247"/>
                          </a:solidFill>
                          <a:latin typeface="Arial"/>
                          <a:ea typeface="Arial"/>
                          <a:cs typeface="Arial"/>
                        </a:rPr>
                        <a:t>Koper</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€ 16 − € 12</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€ 4</a:t>
                      </a:r>
                    </a:p>
                  </a:txBody>
                  <a:tcPr marL="91440" marR="91440" marT="45720" marB="45720" anchor="ctr">
                    <a:solidFill>
                      <a:srgbClr val="FFFFFF"/>
                    </a:solidFill>
                  </a:tcPr>
                </a:tc>
              </a:tr>
              <a:tr h="1063625">
                <a:tc>
                  <a:txBody>
                    <a:bodyPr lIns="171450" tIns="95250" rIns="152400" bIns="95250"/>
                    <a:lstStyle/>
                    <a:p>
                      <a:r>
                        <a:rPr sz="2625" b="0">
                          <a:solidFill>
                            <a:srgbClr val="183247"/>
                          </a:solidFill>
                          <a:latin typeface="Arial"/>
                          <a:ea typeface="Arial"/>
                          <a:cs typeface="Arial"/>
                        </a:rPr>
                        <a:t>Aanbieder</a:t>
                      </a:r>
                    </a:p>
                  </a:txBody>
                  <a:tcPr marL="91440" marR="91440" marT="45720" marB="45720" anchor="ctr">
                    <a:solidFill>
                      <a:srgbClr val="EFF4F7"/>
                    </a:solidFill>
                  </a:tcPr>
                </a:tc>
                <a:tc>
                  <a:txBody>
                    <a:bodyPr lIns="171450" tIns="95250" rIns="152400" bIns="95250"/>
                    <a:lstStyle/>
                    <a:p>
                      <a:r>
                        <a:rPr sz="2625" b="0">
                          <a:solidFill>
                            <a:srgbClr val="183247"/>
                          </a:solidFill>
                          <a:latin typeface="Arial"/>
                          <a:ea typeface="Arial"/>
                          <a:cs typeface="Arial"/>
                        </a:rPr>
                        <a:t>€ 18 − € 16</a:t>
                      </a:r>
                    </a:p>
                  </a:txBody>
                  <a:tcPr marL="91440" marR="91440" marT="45720" marB="45720" anchor="ctr">
                    <a:solidFill>
                      <a:srgbClr val="EFF4F7"/>
                    </a:solidFill>
                  </a:tcPr>
                </a:tc>
                <a:tc>
                  <a:txBody>
                    <a:bodyPr lIns="171450" tIns="95250" rIns="152400" bIns="95250"/>
                    <a:lstStyle/>
                    <a:p>
                      <a:r>
                        <a:rPr sz="2625" b="0">
                          <a:solidFill>
                            <a:srgbClr val="183247"/>
                          </a:solidFill>
                          <a:latin typeface="Arial"/>
                          <a:ea typeface="Arial"/>
                          <a:cs typeface="Arial"/>
                        </a:rPr>
                        <a:t>€ 2</a:t>
                      </a:r>
                    </a:p>
                  </a:txBody>
                  <a:tcPr marL="91440" marR="91440" marT="45720" marB="45720" anchor="ctr">
                    <a:solidFill>
                      <a:srgbClr val="EFF4F7"/>
                    </a:solidFill>
                  </a:tcPr>
                </a:tc>
              </a:tr>
            </a:tbl>
          </a:graphicData>
        </a:graphic>
      </p:graphicFrame>
      <p:sp>
        <p:nvSpPr>
          <p:cNvPr id="6" name="€ 4 + € 2 = € 6 subsidie per verkochte controle">
            <a:extLst xmlns:a="http://schemas.openxmlformats.org/drawingml/2006/main">
              <a:ext uri="{FF2B5EF4-FFF2-40B4-BE49-F238E27FC236}">
                <a16:creationId xmlns:a16="http://schemas.microsoft.com/office/drawing/2014/main" id="{2109922F-9C9C-423C-B661-92D99758DF54}"/>
              </a:ext>
            </a:extLst>
          </p:cNvPr>
          <p:cNvSpPr>
            <a:spLocks xmlns:a="http://schemas.openxmlformats.org/drawingml/2006/main" noGrp="1"/>
          </p:cNvSpPr>
          <p:nvPr/>
        </p:nvSpPr>
        <p:spPr>
          <a:xfrm xmlns:a="http://schemas.openxmlformats.org/drawingml/2006/main">
            <a:off x="571500" y="6353175"/>
            <a:ext cx="14097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658A"/>
                </a:solidFill>
                <a:latin typeface="Arial"/>
                <a:ea typeface="Arial"/>
                <a:cs typeface="Arial"/>
              </a:defRPr>
            </a:pPr>
            <a:r>
              <a:rPr sz="3225" b="1">
                <a:solidFill>
                  <a:srgbClr val="17658A"/>
                </a:solidFill>
                <a:latin typeface="Arial"/>
                <a:ea typeface="Arial"/>
                <a:cs typeface="Arial"/>
              </a:rPr>
              <a:t>€ 4 + € 2 = € 6 subsidie per verkochte controle</a:t>
            </a:r>
          </a:p>
        </p:txBody>
      </p:sp>
    </p:spTree>
    <p:extLst>
      <p:ext uri="{BB962C8B-B14F-4D97-AF65-F5344CB8AC3E}">
        <p14:creationId xmlns:p14="http://schemas.microsoft.com/office/powerpoint/2010/main" val="4615268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De overheid betaalt voor alle 100 controles">
            <a:extLst xmlns:a="http://schemas.openxmlformats.org/drawingml/2006/main">
              <a:ext uri="{FF2B5EF4-FFF2-40B4-BE49-F238E27FC236}">
                <a16:creationId xmlns:a16="http://schemas.microsoft.com/office/drawing/2014/main" id="{DC5E7195-9D46-4377-B9B2-D571DA6206D4}"/>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De overheid betaalt voor alle 100 controles</a:t>
            </a:r>
          </a:p>
        </p:txBody>
      </p:sp>
      <p:sp>
        <p:nvSpPr>
          <p:cNvPr id="2" name="">
            <a:extLst xmlns:a="http://schemas.openxmlformats.org/drawingml/2006/main">
              <a:ext uri="{FF2B5EF4-FFF2-40B4-BE49-F238E27FC236}">
                <a16:creationId xmlns:a16="http://schemas.microsoft.com/office/drawing/2014/main" id="{762F1A6B-28C8-43B7-8F1C-2168E52B1E4A}"/>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B1787B29-8DDE-45D0-8534-510091C329DA}"/>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10">
            <a:extLst xmlns:a="http://schemas.openxmlformats.org/drawingml/2006/main">
              <a:ext uri="{FF2B5EF4-FFF2-40B4-BE49-F238E27FC236}">
                <a16:creationId xmlns:a16="http://schemas.microsoft.com/office/drawing/2014/main" id="{9915F9D6-2B15-4512-94CE-FF31F93B69B2}"/>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10</a:t>
            </a:r>
          </a:p>
        </p:txBody>
      </p:sp>
      <p:graphicFrame>
        <p:nvGraphicFramePr>
          <p:cNvPr id="13" name="Chart"/>
          <p:cNvGraphicFramePr/>
          <p:nvPr/>
        </p:nvGraphicFramePr>
        <p:xfrm>
          <a:off xmlns:a="http://schemas.openxmlformats.org/drawingml/2006/main" x="476250" y="1952625"/>
          <a:ext xmlns:a="http://schemas.openxmlformats.org/drawingml/2006/main" cx="10191750" cy="5791200"/>
        </p:xfrm>
        <a:graphic xmlns:a="http://schemas.openxmlformats.org/drawingml/2006/main">
          <a:graphicData uri="http://schemas.openxmlformats.org/drawingml/2006/chart">
            <c:chart xmlns:r="http://schemas.openxmlformats.org/officeDocument/2006/relationships" xmlns:c="http://schemas.openxmlformats.org/drawingml/2006/chart" r:id="R7c0f1a9776cf4ba3"/>
          </a:graphicData>
        </a:graphic>
      </p:graphicFrame>
      <p:sp>
        <p:nvSpPr>
          <p:cNvPr id="6" name="Uitgaven U">
            <a:extLst xmlns:a="http://schemas.openxmlformats.org/drawingml/2006/main">
              <a:ext uri="{FF2B5EF4-FFF2-40B4-BE49-F238E27FC236}">
                <a16:creationId xmlns:a16="http://schemas.microsoft.com/office/drawing/2014/main" id="{A189563D-7ECB-4310-B5A1-F1E868494A6A}"/>
              </a:ext>
            </a:extLst>
          </p:cNvPr>
          <p:cNvSpPr>
            <a:spLocks xmlns:a="http://schemas.openxmlformats.org/drawingml/2006/main" noGrp="1"/>
          </p:cNvSpPr>
          <p:nvPr/>
        </p:nvSpPr>
        <p:spPr>
          <a:xfrm xmlns:a="http://schemas.openxmlformats.org/drawingml/2006/main">
            <a:off x="11144250" y="2095500"/>
            <a:ext cx="3476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Uitgaven U</a:t>
            </a:r>
          </a:p>
        </p:txBody>
      </p:sp>
      <p:sp>
        <p:nvSpPr>
          <p:cNvPr id="7" name="U = s × Qsub&#10;&#10;U = 6 × 100&#10;&#10;U = € 600&#10;per week">
            <a:extLst xmlns:a="http://schemas.openxmlformats.org/drawingml/2006/main">
              <a:ext uri="{FF2B5EF4-FFF2-40B4-BE49-F238E27FC236}">
                <a16:creationId xmlns:a16="http://schemas.microsoft.com/office/drawing/2014/main" id="{839CC8DB-D649-4961-AE4F-36B0295AFF59}"/>
              </a:ext>
            </a:extLst>
          </p:cNvPr>
          <p:cNvSpPr>
            <a:spLocks xmlns:a="http://schemas.openxmlformats.org/drawingml/2006/main" noGrp="1"/>
          </p:cNvSpPr>
          <p:nvPr/>
        </p:nvSpPr>
        <p:spPr>
          <a:xfrm xmlns:a="http://schemas.openxmlformats.org/drawingml/2006/main">
            <a:off x="11144250" y="3095625"/>
            <a:ext cx="347662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U = s × Qsub</a:t>
            </a:r>
          </a:p>
          <a:p xmlns:a="http://schemas.openxmlformats.org/drawingml/2006/main">
            <a:r>
              <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U = 6 × 100</a:t>
            </a:r>
          </a:p>
          <a:p xmlns:a="http://schemas.openxmlformats.org/drawingml/2006/main">
            <a:r>
              <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U = € 600</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per week</a:t>
            </a:r>
          </a:p>
        </p:txBody>
      </p:sp>
      <p:sp>
        <p:nvSpPr>
          <p:cNvPr id="8" name="Rechthoek:&#10;breedte 100&#10;hoogte € 6">
            <a:extLst xmlns:a="http://schemas.openxmlformats.org/drawingml/2006/main">
              <a:ext uri="{FF2B5EF4-FFF2-40B4-BE49-F238E27FC236}">
                <a16:creationId xmlns:a16="http://schemas.microsoft.com/office/drawing/2014/main" id="{A2E72836-E4FC-4AD1-ADDC-F5169F5E8F79}"/>
              </a:ext>
            </a:extLst>
          </p:cNvPr>
          <p:cNvSpPr>
            <a:spLocks xmlns:a="http://schemas.openxmlformats.org/drawingml/2006/main" noGrp="1"/>
          </p:cNvSpPr>
          <p:nvPr/>
        </p:nvSpPr>
        <p:spPr>
          <a:xfrm xmlns:a="http://schemas.openxmlformats.org/drawingml/2006/main">
            <a:off x="11144250" y="6267450"/>
            <a:ext cx="34766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A94D16"/>
                </a:solidFill>
                <a:latin typeface="Arial"/>
                <a:ea typeface="Arial"/>
                <a:cs typeface="Arial"/>
              </a:defRPr>
            </a:pPr>
            <a:r>
              <a:rPr sz="2325" b="1">
                <a:solidFill>
                  <a:srgbClr val="A94D16"/>
                </a:solidFill>
                <a:latin typeface="Arial"/>
                <a:ea typeface="Arial"/>
                <a:cs typeface="Arial"/>
              </a:rPr>
              <a:t>Rechthoek:</a:t>
            </a:r>
          </a:p>
          <a:p xmlns:a="http://schemas.openxmlformats.org/drawingml/2006/main">
            <a:pPr algn="l">
              <a:defRPr sz="2325" b="1">
                <a:solidFill>
                  <a:srgbClr val="A94D16"/>
                </a:solidFill>
                <a:latin typeface="Arial"/>
                <a:ea typeface="Arial"/>
                <a:cs typeface="Arial"/>
              </a:defRPr>
            </a:pPr>
            <a:r>
              <a:rPr sz="2325" b="1">
                <a:solidFill>
                  <a:srgbClr val="A94D16"/>
                </a:solidFill>
                <a:latin typeface="Arial"/>
                <a:ea typeface="Arial"/>
                <a:cs typeface="Arial"/>
              </a:rPr>
              <a:t>breedte 100</a:t>
            </a:r>
          </a:p>
          <a:p xmlns:a="http://schemas.openxmlformats.org/drawingml/2006/main">
            <a:pPr algn="l">
              <a:defRPr sz="2325" b="1">
                <a:solidFill>
                  <a:srgbClr val="A94D16"/>
                </a:solidFill>
                <a:latin typeface="Arial"/>
                <a:ea typeface="Arial"/>
                <a:cs typeface="Arial"/>
              </a:defRPr>
            </a:pPr>
            <a:r>
              <a:rPr sz="2325" b="1">
                <a:solidFill>
                  <a:srgbClr val="A94D16"/>
                </a:solidFill>
                <a:latin typeface="Arial"/>
                <a:ea typeface="Arial"/>
                <a:cs typeface="Arial"/>
              </a:rPr>
              <a:t>hoogte € 6</a:t>
            </a:r>
          </a:p>
        </p:txBody>
      </p:sp>
    </p:spTree>
    <p:extLst>
      <p:ext uri="{BB962C8B-B14F-4D97-AF65-F5344CB8AC3E}">
        <p14:creationId xmlns:p14="http://schemas.microsoft.com/office/powerpoint/2010/main" val="1268132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Consumentensurplus na subsidie">
            <a:extLst xmlns:a="http://schemas.openxmlformats.org/drawingml/2006/main">
              <a:ext uri="{FF2B5EF4-FFF2-40B4-BE49-F238E27FC236}">
                <a16:creationId xmlns:a16="http://schemas.microsoft.com/office/drawing/2014/main" id="{B9CE5BEC-60E3-4800-AB19-B74A08E7B353}"/>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Consumentensurplus na subsidie</a:t>
            </a:r>
          </a:p>
        </p:txBody>
      </p:sp>
      <p:sp>
        <p:nvSpPr>
          <p:cNvPr id="2" name="">
            <a:extLst xmlns:a="http://schemas.openxmlformats.org/drawingml/2006/main">
              <a:ext uri="{FF2B5EF4-FFF2-40B4-BE49-F238E27FC236}">
                <a16:creationId xmlns:a16="http://schemas.microsoft.com/office/drawing/2014/main" id="{E43C2A12-D9B0-4138-B635-13AAF83BCA1E}"/>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45700BB7-9C05-4CC1-81ED-A4AA4FCEBB58}"/>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11">
            <a:extLst xmlns:a="http://schemas.openxmlformats.org/drawingml/2006/main">
              <a:ext uri="{FF2B5EF4-FFF2-40B4-BE49-F238E27FC236}">
                <a16:creationId xmlns:a16="http://schemas.microsoft.com/office/drawing/2014/main" id="{7C9FF509-49C2-49B2-A66A-DFA60A2E8D3B}"/>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11</a:t>
            </a:r>
          </a:p>
        </p:txBody>
      </p:sp>
      <p:graphicFrame>
        <p:nvGraphicFramePr>
          <p:cNvPr id="13" name="Chart"/>
          <p:cNvGraphicFramePr/>
          <p:nvPr/>
        </p:nvGraphicFramePr>
        <p:xfrm>
          <a:off xmlns:a="http://schemas.openxmlformats.org/drawingml/2006/main" x="476250" y="1952625"/>
          <a:ext xmlns:a="http://schemas.openxmlformats.org/drawingml/2006/main" cx="10191750" cy="5791200"/>
        </p:xfrm>
        <a:graphic xmlns:a="http://schemas.openxmlformats.org/drawingml/2006/main">
          <a:graphicData uri="http://schemas.openxmlformats.org/drawingml/2006/chart">
            <c:chart xmlns:r="http://schemas.openxmlformats.org/officeDocument/2006/relationships" xmlns:c="http://schemas.openxmlformats.org/drawingml/2006/chart" r:id="R76e524c8123144a6"/>
          </a:graphicData>
        </a:graphic>
      </p:graphicFrame>
      <p:sp>
        <p:nvSpPr>
          <p:cNvPr id="6" name="CS">
            <a:extLst xmlns:a="http://schemas.openxmlformats.org/drawingml/2006/main">
              <a:ext uri="{FF2B5EF4-FFF2-40B4-BE49-F238E27FC236}">
                <a16:creationId xmlns:a16="http://schemas.microsoft.com/office/drawing/2014/main" id="{B10D3B2D-EA36-4BEE-8972-DCB7C7FD6492}"/>
              </a:ext>
            </a:extLst>
          </p:cNvPr>
          <p:cNvSpPr>
            <a:spLocks xmlns:a="http://schemas.openxmlformats.org/drawingml/2006/main" noGrp="1"/>
          </p:cNvSpPr>
          <p:nvPr/>
        </p:nvSpPr>
        <p:spPr>
          <a:xfrm xmlns:a="http://schemas.openxmlformats.org/drawingml/2006/main">
            <a:off x="11144250" y="2095500"/>
            <a:ext cx="3476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CS</a:t>
            </a:r>
          </a:p>
        </p:txBody>
      </p:sp>
      <p:sp>
        <p:nvSpPr>
          <p:cNvPr id="7" name="½ × basis × hoogte&#10;&#10;½ × 100 × (32 − 12)&#10;&#10;= € 1.000 per ">
            <a:extLst xmlns:a="http://schemas.openxmlformats.org/drawingml/2006/main">
              <a:ext uri="{FF2B5EF4-FFF2-40B4-BE49-F238E27FC236}">
                <a16:creationId xmlns:a16="http://schemas.microsoft.com/office/drawing/2014/main" id="{48FAD05D-864B-4B70-8797-109871387793}"/>
              </a:ext>
            </a:extLst>
          </p:cNvPr>
          <p:cNvSpPr>
            <a:spLocks xmlns:a="http://schemas.openxmlformats.org/drawingml/2006/main" noGrp="1"/>
          </p:cNvSpPr>
          <p:nvPr/>
        </p:nvSpPr>
        <p:spPr>
          <a:xfrm xmlns:a="http://schemas.openxmlformats.org/drawingml/2006/main">
            <a:off x="11144250" y="3095625"/>
            <a:ext cx="347662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½ × basis × hoogte</a:t>
            </a:r>
          </a:p>
          <a:p xmlns:a="http://schemas.openxmlformats.org/drawingml/2006/main">
            <a:r>
              <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½ × 100 × (32 − 12)</a:t>
            </a:r>
          </a:p>
          <a:p xmlns:a="http://schemas.openxmlformats.org/drawingml/2006/main">
            <a:r>
              <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 € 1.000 per week</a:t>
            </a:r>
          </a:p>
        </p:txBody>
      </p:sp>
      <p:sp>
        <p:nvSpPr>
          <p:cNvPr id="8" name="Boven Pc,&#10;onder V">
            <a:extLst xmlns:a="http://schemas.openxmlformats.org/drawingml/2006/main">
              <a:ext uri="{FF2B5EF4-FFF2-40B4-BE49-F238E27FC236}">
                <a16:creationId xmlns:a16="http://schemas.microsoft.com/office/drawing/2014/main" id="{293DD5C6-892E-42E4-8D35-812A9026E33A}"/>
              </a:ext>
            </a:extLst>
          </p:cNvPr>
          <p:cNvSpPr>
            <a:spLocks xmlns:a="http://schemas.openxmlformats.org/drawingml/2006/main" noGrp="1"/>
          </p:cNvSpPr>
          <p:nvPr/>
        </p:nvSpPr>
        <p:spPr>
          <a:xfrm xmlns:a="http://schemas.openxmlformats.org/drawingml/2006/main">
            <a:off x="11144250" y="6267450"/>
            <a:ext cx="34766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A94D16"/>
                </a:solidFill>
                <a:latin typeface="Arial"/>
                <a:ea typeface="Arial"/>
                <a:cs typeface="Arial"/>
              </a:defRPr>
            </a:pPr>
            <a:r>
              <a:rPr sz="2325" b="1">
                <a:solidFill>
                  <a:srgbClr val="A94D16"/>
                </a:solidFill>
                <a:latin typeface="Arial"/>
                <a:ea typeface="Arial"/>
                <a:cs typeface="Arial"/>
              </a:rPr>
              <a:t>Boven Pc,</a:t>
            </a:r>
          </a:p>
          <a:p xmlns:a="http://schemas.openxmlformats.org/drawingml/2006/main">
            <a:pPr algn="l">
              <a:defRPr sz="2325" b="1">
                <a:solidFill>
                  <a:srgbClr val="A94D16"/>
                </a:solidFill>
                <a:latin typeface="Arial"/>
                <a:ea typeface="Arial"/>
                <a:cs typeface="Arial"/>
              </a:defRPr>
            </a:pPr>
            <a:r>
              <a:rPr sz="2325" b="1">
                <a:solidFill>
                  <a:srgbClr val="A94D16"/>
                </a:solidFill>
                <a:latin typeface="Arial"/>
                <a:ea typeface="Arial"/>
                <a:cs typeface="Arial"/>
              </a:rPr>
              <a:t>onder V</a:t>
            </a:r>
          </a:p>
        </p:txBody>
      </p:sp>
    </p:spTree>
    <p:extLst>
      <p:ext uri="{BB962C8B-B14F-4D97-AF65-F5344CB8AC3E}">
        <p14:creationId xmlns:p14="http://schemas.microsoft.com/office/powerpoint/2010/main" val="122955893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Producentensurplus na subsidie">
            <a:extLst xmlns:a="http://schemas.openxmlformats.org/drawingml/2006/main">
              <a:ext uri="{FF2B5EF4-FFF2-40B4-BE49-F238E27FC236}">
                <a16:creationId xmlns:a16="http://schemas.microsoft.com/office/drawing/2014/main" id="{33384FE5-A102-454D-BBA0-6627E31A2566}"/>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Producentensurplus na subsidie</a:t>
            </a:r>
          </a:p>
        </p:txBody>
      </p:sp>
      <p:sp>
        <p:nvSpPr>
          <p:cNvPr id="2" name="">
            <a:extLst xmlns:a="http://schemas.openxmlformats.org/drawingml/2006/main">
              <a:ext uri="{FF2B5EF4-FFF2-40B4-BE49-F238E27FC236}">
                <a16:creationId xmlns:a16="http://schemas.microsoft.com/office/drawing/2014/main" id="{3037875A-2368-49B9-BC49-4888BD34EAF7}"/>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F8AB72AD-3810-427B-BE06-32B1BB06C2AF}"/>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12">
            <a:extLst xmlns:a="http://schemas.openxmlformats.org/drawingml/2006/main">
              <a:ext uri="{FF2B5EF4-FFF2-40B4-BE49-F238E27FC236}">
                <a16:creationId xmlns:a16="http://schemas.microsoft.com/office/drawing/2014/main" id="{AAA828BA-6FB6-4CB3-B5A8-E458C30033C5}"/>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12</a:t>
            </a:r>
          </a:p>
        </p:txBody>
      </p:sp>
      <p:graphicFrame>
        <p:nvGraphicFramePr>
          <p:cNvPr id="13" name="Chart"/>
          <p:cNvGraphicFramePr/>
          <p:nvPr/>
        </p:nvGraphicFramePr>
        <p:xfrm>
          <a:off xmlns:a="http://schemas.openxmlformats.org/drawingml/2006/main" x="476250" y="1952625"/>
          <a:ext xmlns:a="http://schemas.openxmlformats.org/drawingml/2006/main" cx="10191750" cy="5791200"/>
        </p:xfrm>
        <a:graphic xmlns:a="http://schemas.openxmlformats.org/drawingml/2006/main">
          <a:graphicData uri="http://schemas.openxmlformats.org/drawingml/2006/chart">
            <c:chart xmlns:r="http://schemas.openxmlformats.org/officeDocument/2006/relationships" xmlns:c="http://schemas.openxmlformats.org/drawingml/2006/chart" r:id="R87a0ca387ecb48dc"/>
          </a:graphicData>
        </a:graphic>
      </p:graphicFrame>
      <p:sp>
        <p:nvSpPr>
          <p:cNvPr id="6" name="PS">
            <a:extLst xmlns:a="http://schemas.openxmlformats.org/drawingml/2006/main">
              <a:ext uri="{FF2B5EF4-FFF2-40B4-BE49-F238E27FC236}">
                <a16:creationId xmlns:a16="http://schemas.microsoft.com/office/drawing/2014/main" id="{68D633C0-F1CA-4C04-90E0-2408183D3B30}"/>
              </a:ext>
            </a:extLst>
          </p:cNvPr>
          <p:cNvSpPr>
            <a:spLocks xmlns:a="http://schemas.openxmlformats.org/drawingml/2006/main" noGrp="1"/>
          </p:cNvSpPr>
          <p:nvPr/>
        </p:nvSpPr>
        <p:spPr>
          <a:xfrm xmlns:a="http://schemas.openxmlformats.org/drawingml/2006/main">
            <a:off x="11144250" y="2095500"/>
            <a:ext cx="3476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PS</a:t>
            </a:r>
          </a:p>
        </p:txBody>
      </p:sp>
      <p:sp>
        <p:nvSpPr>
          <p:cNvPr id="7" name="½ × basis × hoogte&#10;&#10;½ × 100 × (18 − 8)&#10;&#10;= € 500 per wee">
            <a:extLst xmlns:a="http://schemas.openxmlformats.org/drawingml/2006/main">
              <a:ext uri="{FF2B5EF4-FFF2-40B4-BE49-F238E27FC236}">
                <a16:creationId xmlns:a16="http://schemas.microsoft.com/office/drawing/2014/main" id="{0A3CFE4E-C687-4C7C-B16C-70317F8E09FF}"/>
              </a:ext>
            </a:extLst>
          </p:cNvPr>
          <p:cNvSpPr>
            <a:spLocks xmlns:a="http://schemas.openxmlformats.org/drawingml/2006/main" noGrp="1"/>
          </p:cNvSpPr>
          <p:nvPr/>
        </p:nvSpPr>
        <p:spPr>
          <a:xfrm xmlns:a="http://schemas.openxmlformats.org/drawingml/2006/main">
            <a:off x="11144250" y="3095625"/>
            <a:ext cx="347662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½ × basis × hoogte</a:t>
            </a:r>
          </a:p>
          <a:p xmlns:a="http://schemas.openxmlformats.org/drawingml/2006/main">
            <a:r>
              <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½ × 100 × (18 − 8)</a:t>
            </a:r>
          </a:p>
          <a:p xmlns:a="http://schemas.openxmlformats.org/drawingml/2006/main">
            <a:r>
              <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 € 500 per week</a:t>
            </a:r>
          </a:p>
        </p:txBody>
      </p:sp>
      <p:sp>
        <p:nvSpPr>
          <p:cNvPr id="8" name="Onder Pp,&#10;boven A">
            <a:extLst xmlns:a="http://schemas.openxmlformats.org/drawingml/2006/main">
              <a:ext uri="{FF2B5EF4-FFF2-40B4-BE49-F238E27FC236}">
                <a16:creationId xmlns:a16="http://schemas.microsoft.com/office/drawing/2014/main" id="{777AD0FE-1595-45C0-A1C1-C8A9738EDBD5}"/>
              </a:ext>
            </a:extLst>
          </p:cNvPr>
          <p:cNvSpPr>
            <a:spLocks xmlns:a="http://schemas.openxmlformats.org/drawingml/2006/main" noGrp="1"/>
          </p:cNvSpPr>
          <p:nvPr/>
        </p:nvSpPr>
        <p:spPr>
          <a:xfrm xmlns:a="http://schemas.openxmlformats.org/drawingml/2006/main">
            <a:off x="11144250" y="6267450"/>
            <a:ext cx="34766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A94D16"/>
                </a:solidFill>
                <a:latin typeface="Arial"/>
                <a:ea typeface="Arial"/>
                <a:cs typeface="Arial"/>
              </a:defRPr>
            </a:pPr>
            <a:r>
              <a:rPr sz="2325" b="1">
                <a:solidFill>
                  <a:srgbClr val="A94D16"/>
                </a:solidFill>
                <a:latin typeface="Arial"/>
                <a:ea typeface="Arial"/>
                <a:cs typeface="Arial"/>
              </a:rPr>
              <a:t>Onder Pp,</a:t>
            </a:r>
          </a:p>
          <a:p xmlns:a="http://schemas.openxmlformats.org/drawingml/2006/main">
            <a:pPr algn="l">
              <a:defRPr sz="2325" b="1">
                <a:solidFill>
                  <a:srgbClr val="A94D16"/>
                </a:solidFill>
                <a:latin typeface="Arial"/>
                <a:ea typeface="Arial"/>
                <a:cs typeface="Arial"/>
              </a:defRPr>
            </a:pPr>
            <a:r>
              <a:rPr sz="2325" b="1">
                <a:solidFill>
                  <a:srgbClr val="A94D16"/>
                </a:solidFill>
                <a:latin typeface="Arial"/>
                <a:ea typeface="Arial"/>
                <a:cs typeface="Arial"/>
              </a:rPr>
              <a:t>boven A</a:t>
            </a:r>
          </a:p>
        </p:txBody>
      </p:sp>
    </p:spTree>
    <p:extLst>
      <p:ext uri="{BB962C8B-B14F-4D97-AF65-F5344CB8AC3E}">
        <p14:creationId xmlns:p14="http://schemas.microsoft.com/office/powerpoint/2010/main" val="27299038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De volledige welvaartsrekening">
            <a:extLst xmlns:a="http://schemas.openxmlformats.org/drawingml/2006/main">
              <a:ext uri="{FF2B5EF4-FFF2-40B4-BE49-F238E27FC236}">
                <a16:creationId xmlns:a16="http://schemas.microsoft.com/office/drawing/2014/main" id="{2FC4CAE7-56CA-4B4E-B512-EC5A22239B56}"/>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De volledige welvaartsrekening</a:t>
            </a:r>
          </a:p>
        </p:txBody>
      </p:sp>
      <p:sp>
        <p:nvSpPr>
          <p:cNvPr id="2" name="">
            <a:extLst xmlns:a="http://schemas.openxmlformats.org/drawingml/2006/main">
              <a:ext uri="{FF2B5EF4-FFF2-40B4-BE49-F238E27FC236}">
                <a16:creationId xmlns:a16="http://schemas.microsoft.com/office/drawing/2014/main" id="{A5949265-0B38-44ED-B520-EE4F8449473E}"/>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72485931-61D8-4054-81D6-E47ACC0395B2}"/>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13">
            <a:extLst xmlns:a="http://schemas.openxmlformats.org/drawingml/2006/main">
              <a:ext uri="{FF2B5EF4-FFF2-40B4-BE49-F238E27FC236}">
                <a16:creationId xmlns:a16="http://schemas.microsoft.com/office/drawing/2014/main" id="{168E43C5-A6C7-4B94-9671-BDCE9E53D4BA}"/>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13</a:t>
            </a:r>
          </a:p>
        </p:txBody>
      </p:sp>
      <p:graphicFrame>
        <p:nvGraphicFramePr>
          <p:cNvPr id="12" name=""/>
          <p:cNvGraphicFramePr/>
          <p:nvPr/>
        </p:nvGraphicFramePr>
        <p:xfrm>
          <a:off xmlns:a="http://schemas.openxmlformats.org/drawingml/2006/main" x="571500" y="2047875"/>
          <a:ext xmlns:a="http://schemas.openxmlformats.org/drawingml/2006/main" cx="14097000" cy="4162425"/>
        </p:xfrm>
        <a:graphic xmlns:a="http://schemas.openxmlformats.org/drawingml/2006/main">
          <a:graphicData uri="http://schemas.openxmlformats.org/drawingml/2006/table">
            <a:tbl>
              <a:tblPr/>
              <a:tblGrid>
                <a:gridCol w="3810000"/>
                <a:gridCol w="5905500"/>
                <a:gridCol w="4381500"/>
              </a:tblGrid>
              <a:tr h="832485">
                <a:tc>
                  <a:txBody>
                    <a:bodyPr lIns="171450" tIns="95250" rIns="152400" bIns="95250"/>
                    <a:lstStyle/>
                    <a:p>
                      <a:r>
                        <a:rPr sz="2325" b="1">
                          <a:solidFill>
                            <a:srgbClr val="FFFFFF"/>
                          </a:solidFill>
                          <a:latin typeface="Arial"/>
                          <a:ea typeface="Arial"/>
                          <a:cs typeface="Arial"/>
                        </a:rPr>
                        <a:t>€ per week</a:t>
                      </a:r>
                    </a:p>
                  </a:txBody>
                  <a:tcPr marL="91440" marR="91440" marT="45720" marB="45720" anchor="ctr">
                    <a:solidFill>
                      <a:srgbClr val="183247"/>
                    </a:solidFill>
                  </a:tcPr>
                </a:tc>
                <a:tc>
                  <a:txBody>
                    <a:bodyPr lIns="171450" tIns="95250" rIns="152400" bIns="95250"/>
                    <a:lstStyle/>
                    <a:p>
                      <a:r>
                        <a:rPr sz="2325" b="1">
                          <a:solidFill>
                            <a:srgbClr val="FFFFFF"/>
                          </a:solidFill>
                          <a:latin typeface="Arial"/>
                          <a:ea typeface="Arial"/>
                          <a:cs typeface="Arial"/>
                        </a:rPr>
                        <a:t>Zonder subsidie</a:t>
                      </a:r>
                    </a:p>
                  </a:txBody>
                  <a:tcPr marL="91440" marR="91440" marT="45720" marB="45720" anchor="ctr">
                    <a:solidFill>
                      <a:srgbClr val="183247"/>
                    </a:solidFill>
                  </a:tcPr>
                </a:tc>
                <a:tc>
                  <a:txBody>
                    <a:bodyPr lIns="171450" tIns="95250" rIns="152400" bIns="95250"/>
                    <a:lstStyle/>
                    <a:p>
                      <a:r>
                        <a:rPr sz="2325" b="1">
                          <a:solidFill>
                            <a:srgbClr val="FFFFFF"/>
                          </a:solidFill>
                          <a:latin typeface="Arial"/>
                          <a:ea typeface="Arial"/>
                          <a:cs typeface="Arial"/>
                        </a:rPr>
                        <a:t>Met subsidie</a:t>
                      </a:r>
                    </a:p>
                  </a:txBody>
                  <a:tcPr marL="91440" marR="91440" marT="45720" marB="45720" anchor="ctr">
                    <a:solidFill>
                      <a:srgbClr val="183247"/>
                    </a:solidFill>
                  </a:tcPr>
                </a:tc>
              </a:tr>
              <a:tr h="832485">
                <a:tc>
                  <a:txBody>
                    <a:bodyPr lIns="171450" tIns="95250" rIns="152400" bIns="95250"/>
                    <a:lstStyle/>
                    <a:p>
                      <a:r>
                        <a:rPr sz="2325" b="0">
                          <a:solidFill>
                            <a:srgbClr val="183247"/>
                          </a:solidFill>
                          <a:latin typeface="Arial"/>
                          <a:ea typeface="Arial"/>
                          <a:cs typeface="Arial"/>
                        </a:rPr>
                        <a:t>CS</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½ × 80 × (32 − 16) = 640</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1.000</a:t>
                      </a:r>
                    </a:p>
                  </a:txBody>
                  <a:tcPr marL="91440" marR="91440" marT="45720" marB="45720" anchor="ctr">
                    <a:solidFill>
                      <a:srgbClr val="FFFFFF"/>
                    </a:solidFill>
                  </a:tcPr>
                </a:tc>
              </a:tr>
              <a:tr h="832485">
                <a:tc>
                  <a:txBody>
                    <a:bodyPr lIns="171450" tIns="95250" rIns="152400" bIns="95250"/>
                    <a:lstStyle/>
                    <a:p>
                      <a:r>
                        <a:rPr sz="2325" b="0">
                          <a:solidFill>
                            <a:srgbClr val="183247"/>
                          </a:solidFill>
                          <a:latin typeface="Arial"/>
                          <a:ea typeface="Arial"/>
                          <a:cs typeface="Arial"/>
                        </a:rPr>
                        <a:t>PS</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½ × 80 × (16 − 8) = 320</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500</a:t>
                      </a:r>
                    </a:p>
                  </a:txBody>
                  <a:tcPr marL="91440" marR="91440" marT="45720" marB="45720" anchor="ctr">
                    <a:solidFill>
                      <a:srgbClr val="EFF4F7"/>
                    </a:solidFill>
                  </a:tcPr>
                </a:tc>
              </a:tr>
              <a:tr h="832485">
                <a:tc>
                  <a:txBody>
                    <a:bodyPr lIns="171450" tIns="95250" rIns="152400" bIns="95250"/>
                    <a:lstStyle/>
                    <a:p>
                      <a:r>
                        <a:rPr sz="2325" b="0">
                          <a:solidFill>
                            <a:srgbClr val="183247"/>
                          </a:solidFill>
                          <a:latin typeface="Arial"/>
                          <a:ea typeface="Arial"/>
                          <a:cs typeface="Arial"/>
                        </a:rPr>
                        <a:t>Overheidsuitgaven U</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0</a:t>
                      </a:r>
                    </a:p>
                  </a:txBody>
                  <a:tcPr marL="91440" marR="91440" marT="45720" marB="45720" anchor="ctr">
                    <a:solidFill>
                      <a:srgbClr val="FFFFFF"/>
                    </a:solidFill>
                  </a:tcPr>
                </a:tc>
                <a:tc>
                  <a:txBody>
                    <a:bodyPr lIns="171450" tIns="95250" rIns="152400" bIns="95250"/>
                    <a:lstStyle/>
                    <a:p>
                      <a:r>
                        <a:rPr sz="2325" b="0">
                          <a:solidFill>
                            <a:srgbClr val="183247"/>
                          </a:solidFill>
                          <a:latin typeface="Arial"/>
                          <a:ea typeface="Arial"/>
                          <a:cs typeface="Arial"/>
                        </a:rPr>
                        <a:t>600</a:t>
                      </a:r>
                    </a:p>
                  </a:txBody>
                  <a:tcPr marL="91440" marR="91440" marT="45720" marB="45720" anchor="ctr">
                    <a:solidFill>
                      <a:srgbClr val="FFFFFF"/>
                    </a:solidFill>
                  </a:tcPr>
                </a:tc>
              </a:tr>
              <a:tr h="832485">
                <a:tc>
                  <a:txBody>
                    <a:bodyPr lIns="171450" tIns="95250" rIns="152400" bIns="95250"/>
                    <a:lstStyle/>
                    <a:p>
                      <a:r>
                        <a:rPr sz="2325" b="0">
                          <a:solidFill>
                            <a:srgbClr val="183247"/>
                          </a:solidFill>
                          <a:latin typeface="Arial"/>
                          <a:ea typeface="Arial"/>
                          <a:cs typeface="Arial"/>
                        </a:rPr>
                        <a:t>CS + PS − U</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960</a:t>
                      </a:r>
                    </a:p>
                  </a:txBody>
                  <a:tcPr marL="91440" marR="91440" marT="45720" marB="45720" anchor="ctr">
                    <a:solidFill>
                      <a:srgbClr val="EFF4F7"/>
                    </a:solidFill>
                  </a:tcPr>
                </a:tc>
                <a:tc>
                  <a:txBody>
                    <a:bodyPr lIns="171450" tIns="95250" rIns="152400" bIns="95250"/>
                    <a:lstStyle/>
                    <a:p>
                      <a:r>
                        <a:rPr sz="2325" b="0">
                          <a:solidFill>
                            <a:srgbClr val="183247"/>
                          </a:solidFill>
                          <a:latin typeface="Arial"/>
                          <a:ea typeface="Arial"/>
                          <a:cs typeface="Arial"/>
                        </a:rPr>
                        <a:t>900</a:t>
                      </a:r>
                    </a:p>
                  </a:txBody>
                  <a:tcPr marL="91440" marR="91440" marT="45720" marB="45720" anchor="ctr">
                    <a:solidFill>
                      <a:srgbClr val="EFF4F7"/>
                    </a:solidFill>
                  </a:tcPr>
                </a:tc>
              </a:tr>
            </a:tbl>
          </a:graphicData>
        </a:graphic>
      </p:graphicFrame>
      <p:sp>
        <p:nvSpPr>
          <p:cNvPr id="6" name="CS en PS stijgen samen € 540. De overheid betaalt € 600">
            <a:extLst xmlns:a="http://schemas.openxmlformats.org/drawingml/2006/main">
              <a:ext uri="{FF2B5EF4-FFF2-40B4-BE49-F238E27FC236}">
                <a16:creationId xmlns:a16="http://schemas.microsoft.com/office/drawing/2014/main" id="{49A339D3-2CED-4167-B68C-37198C564FBE}"/>
              </a:ext>
            </a:extLst>
          </p:cNvPr>
          <p:cNvSpPr>
            <a:spLocks xmlns:a="http://schemas.openxmlformats.org/drawingml/2006/main" noGrp="1"/>
          </p:cNvSpPr>
          <p:nvPr/>
        </p:nvSpPr>
        <p:spPr>
          <a:xfrm xmlns:a="http://schemas.openxmlformats.org/drawingml/2006/main">
            <a:off x="571500" y="6610350"/>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7658A"/>
                </a:solidFill>
                <a:latin typeface="Arial"/>
                <a:ea typeface="Arial"/>
                <a:cs typeface="Arial"/>
              </a:defRPr>
            </a:pPr>
            <a:r>
              <a:rPr sz="2775" b="1">
                <a:solidFill>
                  <a:srgbClr val="17658A"/>
                </a:solidFill>
                <a:latin typeface="Arial"/>
                <a:ea typeface="Arial"/>
                <a:cs typeface="Arial"/>
              </a:rPr>
              <a:t>CS en PS stijgen samen € 540. De overheid betaalt € 600.</a:t>
            </a:r>
          </a:p>
        </p:txBody>
      </p:sp>
      <p:sp>
        <p:nvSpPr>
          <p:cNvPr id="7" name="Welvaartsverlies: € 960 − € 900 = € 60 per week">
            <a:extLst xmlns:a="http://schemas.openxmlformats.org/drawingml/2006/main">
              <a:ext uri="{FF2B5EF4-FFF2-40B4-BE49-F238E27FC236}">
                <a16:creationId xmlns:a16="http://schemas.microsoft.com/office/drawing/2014/main" id="{404AAB74-5A28-49E3-B45B-8E629734CBB0}"/>
              </a:ext>
            </a:extLst>
          </p:cNvPr>
          <p:cNvSpPr>
            <a:spLocks xmlns:a="http://schemas.openxmlformats.org/drawingml/2006/main" noGrp="1"/>
          </p:cNvSpPr>
          <p:nvPr/>
        </p:nvSpPr>
        <p:spPr>
          <a:xfrm xmlns:a="http://schemas.openxmlformats.org/drawingml/2006/main">
            <a:off x="571500" y="7324725"/>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A94D16"/>
                </a:solidFill>
                <a:latin typeface="Arial"/>
                <a:ea typeface="Arial"/>
                <a:cs typeface="Arial"/>
              </a:defRPr>
            </a:pPr>
            <a:r>
              <a:rPr sz="2775" b="1">
                <a:solidFill>
                  <a:srgbClr val="A94D16"/>
                </a:solidFill>
                <a:latin typeface="Arial"/>
                <a:ea typeface="Arial"/>
                <a:cs typeface="Arial"/>
              </a:rPr>
              <a:t>Welvaartsverlies: € 960 − € 900 = € 60 per week</a:t>
            </a:r>
          </a:p>
        </p:txBody>
      </p:sp>
    </p:spTree>
    <p:extLst>
      <p:ext uri="{BB962C8B-B14F-4D97-AF65-F5344CB8AC3E}">
        <p14:creationId xmlns:p14="http://schemas.microsoft.com/office/powerpoint/2010/main" val="66445311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Extra handel kan voordeel kosten">
            <a:extLst xmlns:a="http://schemas.openxmlformats.org/drawingml/2006/main">
              <a:ext uri="{FF2B5EF4-FFF2-40B4-BE49-F238E27FC236}">
                <a16:creationId xmlns:a16="http://schemas.microsoft.com/office/drawing/2014/main" id="{67A48F0F-5A84-458B-9013-92BB9F06D8D2}"/>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Extra handel kan voordeel kosten</a:t>
            </a:r>
          </a:p>
        </p:txBody>
      </p:sp>
      <p:sp>
        <p:nvSpPr>
          <p:cNvPr id="2" name="">
            <a:extLst xmlns:a="http://schemas.openxmlformats.org/drawingml/2006/main">
              <a:ext uri="{FF2B5EF4-FFF2-40B4-BE49-F238E27FC236}">
                <a16:creationId xmlns:a16="http://schemas.microsoft.com/office/drawing/2014/main" id="{E80BC843-D4FF-4564-B96F-B0B429BE4DCB}"/>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641D0A76-6BE3-4C23-857E-365598777D42}"/>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14">
            <a:extLst xmlns:a="http://schemas.openxmlformats.org/drawingml/2006/main">
              <a:ext uri="{FF2B5EF4-FFF2-40B4-BE49-F238E27FC236}">
                <a16:creationId xmlns:a16="http://schemas.microsoft.com/office/drawing/2014/main" id="{A3F6CBE3-0EDD-4A28-9DB9-37CC9A03D72C}"/>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14</a:t>
            </a:r>
          </a:p>
        </p:txBody>
      </p:sp>
      <p:graphicFrame>
        <p:nvGraphicFramePr>
          <p:cNvPr id="13" name="Chart"/>
          <p:cNvGraphicFramePr/>
          <p:nvPr/>
        </p:nvGraphicFramePr>
        <p:xfrm>
          <a:off xmlns:a="http://schemas.openxmlformats.org/drawingml/2006/main" x="476250" y="1952625"/>
          <a:ext xmlns:a="http://schemas.openxmlformats.org/drawingml/2006/main" cx="10191750" cy="5791200"/>
        </p:xfrm>
        <a:graphic xmlns:a="http://schemas.openxmlformats.org/drawingml/2006/main">
          <a:graphicData uri="http://schemas.openxmlformats.org/drawingml/2006/chart">
            <c:chart xmlns:r="http://schemas.openxmlformats.org/officeDocument/2006/relationships" xmlns:c="http://schemas.openxmlformats.org/drawingml/2006/chart" r:id="R745fc0cbfabf445d"/>
          </a:graphicData>
        </a:graphic>
      </p:graphicFrame>
      <p:sp>
        <p:nvSpPr>
          <p:cNvPr id="6" name="Welvaartsverlies W">
            <a:extLst xmlns:a="http://schemas.openxmlformats.org/drawingml/2006/main">
              <a:ext uri="{FF2B5EF4-FFF2-40B4-BE49-F238E27FC236}">
                <a16:creationId xmlns:a16="http://schemas.microsoft.com/office/drawing/2014/main" id="{2D1E5886-9117-4F7D-A1AB-ECA0CE980142}"/>
              </a:ext>
            </a:extLst>
          </p:cNvPr>
          <p:cNvSpPr>
            <a:spLocks xmlns:a="http://schemas.openxmlformats.org/drawingml/2006/main" noGrp="1"/>
          </p:cNvSpPr>
          <p:nvPr/>
        </p:nvSpPr>
        <p:spPr>
          <a:xfrm xmlns:a="http://schemas.openxmlformats.org/drawingml/2006/main">
            <a:off x="11144250" y="2095500"/>
            <a:ext cx="3476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Welvaartsverlies W</a:t>
            </a:r>
          </a:p>
        </p:txBody>
      </p:sp>
      <p:sp>
        <p:nvSpPr>
          <p:cNvPr id="7" name="½ × (100 − 80) × 6&#10;= € 60 per week&#10;&#10;Bij Q = 90:&#10;waarde ">
            <a:extLst xmlns:a="http://schemas.openxmlformats.org/drawingml/2006/main">
              <a:ext uri="{FF2B5EF4-FFF2-40B4-BE49-F238E27FC236}">
                <a16:creationId xmlns:a16="http://schemas.microsoft.com/office/drawing/2014/main" id="{BD23DD72-8623-43B6-9F57-F2CF28A2D888}"/>
              </a:ext>
            </a:extLst>
          </p:cNvPr>
          <p:cNvSpPr>
            <a:spLocks xmlns:a="http://schemas.openxmlformats.org/drawingml/2006/main" noGrp="1"/>
          </p:cNvSpPr>
          <p:nvPr/>
        </p:nvSpPr>
        <p:spPr>
          <a:xfrm xmlns:a="http://schemas.openxmlformats.org/drawingml/2006/main">
            <a:off x="11144250" y="3095625"/>
            <a:ext cx="347662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½ × (100 − 80) × 6</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 € 60 per week</a:t>
            </a:r>
          </a:p>
          <a:p xmlns:a="http://schemas.openxmlformats.org/drawingml/2006/main">
            <a:r>
              <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Bij Q = 90:</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waarde € 14</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kosten € 17</a:t>
            </a:r>
          </a:p>
        </p:txBody>
      </p:sp>
      <p:sp>
        <p:nvSpPr>
          <p:cNvPr id="8" name="Geen externe baten&#10;in dit model">
            <a:extLst xmlns:a="http://schemas.openxmlformats.org/drawingml/2006/main">
              <a:ext uri="{FF2B5EF4-FFF2-40B4-BE49-F238E27FC236}">
                <a16:creationId xmlns:a16="http://schemas.microsoft.com/office/drawing/2014/main" id="{64AC2CE5-84E9-4BB2-9643-15A00DE22135}"/>
              </a:ext>
            </a:extLst>
          </p:cNvPr>
          <p:cNvSpPr>
            <a:spLocks xmlns:a="http://schemas.openxmlformats.org/drawingml/2006/main" noGrp="1"/>
          </p:cNvSpPr>
          <p:nvPr/>
        </p:nvSpPr>
        <p:spPr>
          <a:xfrm xmlns:a="http://schemas.openxmlformats.org/drawingml/2006/main">
            <a:off x="11144250" y="6267450"/>
            <a:ext cx="34766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A94D16"/>
                </a:solidFill>
                <a:latin typeface="Arial"/>
                <a:ea typeface="Arial"/>
                <a:cs typeface="Arial"/>
              </a:defRPr>
            </a:pPr>
            <a:r>
              <a:rPr sz="2325" b="1">
                <a:solidFill>
                  <a:srgbClr val="A94D16"/>
                </a:solidFill>
                <a:latin typeface="Arial"/>
                <a:ea typeface="Arial"/>
                <a:cs typeface="Arial"/>
              </a:rPr>
              <a:t>Geen externe baten</a:t>
            </a:r>
          </a:p>
          <a:p xmlns:a="http://schemas.openxmlformats.org/drawingml/2006/main">
            <a:pPr algn="l">
              <a:defRPr sz="2325" b="1">
                <a:solidFill>
                  <a:srgbClr val="A94D16"/>
                </a:solidFill>
                <a:latin typeface="Arial"/>
                <a:ea typeface="Arial"/>
                <a:cs typeface="Arial"/>
              </a:defRPr>
            </a:pPr>
            <a:r>
              <a:rPr sz="2325" b="1">
                <a:solidFill>
                  <a:srgbClr val="A94D16"/>
                </a:solidFill>
                <a:latin typeface="Arial"/>
                <a:ea typeface="Arial"/>
                <a:cs typeface="Arial"/>
              </a:rPr>
              <a:t>in dit model</a:t>
            </a:r>
          </a:p>
        </p:txBody>
      </p:sp>
    </p:spTree>
    <p:extLst>
      <p:ext uri="{BB962C8B-B14F-4D97-AF65-F5344CB8AC3E}">
        <p14:creationId xmlns:p14="http://schemas.microsoft.com/office/powerpoint/2010/main" val="168325495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Korte controle">
            <a:extLst xmlns:a="http://schemas.openxmlformats.org/drawingml/2006/main">
              <a:ext uri="{FF2B5EF4-FFF2-40B4-BE49-F238E27FC236}">
                <a16:creationId xmlns:a16="http://schemas.microsoft.com/office/drawing/2014/main" id="{DD53BABA-562A-4E74-A5C4-EF2DFE08F12C}"/>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Korte controle</a:t>
            </a:r>
          </a:p>
        </p:txBody>
      </p:sp>
      <p:sp>
        <p:nvSpPr>
          <p:cNvPr id="2" name="">
            <a:extLst xmlns:a="http://schemas.openxmlformats.org/drawingml/2006/main">
              <a:ext uri="{FF2B5EF4-FFF2-40B4-BE49-F238E27FC236}">
                <a16:creationId xmlns:a16="http://schemas.microsoft.com/office/drawing/2014/main" id="{5129F5A0-E246-4FED-9F4E-0FDD784F8F14}"/>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1C28AD46-EE22-4D9E-9BE4-EDBA276873E7}"/>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15">
            <a:extLst xmlns:a="http://schemas.openxmlformats.org/drawingml/2006/main">
              <a:ext uri="{FF2B5EF4-FFF2-40B4-BE49-F238E27FC236}">
                <a16:creationId xmlns:a16="http://schemas.microsoft.com/office/drawing/2014/main" id="{6DCD3C03-BACE-4186-87BA-8C119D087BEC}"/>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15</a:t>
            </a:r>
          </a:p>
        </p:txBody>
      </p:sp>
      <p:sp>
        <p:nvSpPr>
          <p:cNvPr id="5" name="Welke hoeveelheid gebruik je bij U: 20 of 100?">
            <a:extLst xmlns:a="http://schemas.openxmlformats.org/drawingml/2006/main">
              <a:ext uri="{FF2B5EF4-FFF2-40B4-BE49-F238E27FC236}">
                <a16:creationId xmlns:a16="http://schemas.microsoft.com/office/drawing/2014/main" id="{6B4D5BBE-BE14-48AE-91A0-D1B91F7DFD3F}"/>
              </a:ext>
            </a:extLst>
          </p:cNvPr>
          <p:cNvSpPr>
            <a:spLocks xmlns:a="http://schemas.openxmlformats.org/drawingml/2006/main" noGrp="1"/>
          </p:cNvSpPr>
          <p:nvPr/>
        </p:nvSpPr>
        <p:spPr>
          <a:xfrm xmlns:a="http://schemas.openxmlformats.org/drawingml/2006/main">
            <a:off x="571500" y="2381250"/>
            <a:ext cx="1409700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Welke hoeveelheid gebruik je bij U: 20 of 100?</a:t>
            </a:r>
          </a:p>
        </p:txBody>
      </p:sp>
      <p:sp>
        <p:nvSpPr>
          <p:cNvPr id="6" name="Welke prijs gebruik je voor CS? En voor PS?">
            <a:extLst xmlns:a="http://schemas.openxmlformats.org/drawingml/2006/main">
              <a:ext uri="{FF2B5EF4-FFF2-40B4-BE49-F238E27FC236}">
                <a16:creationId xmlns:a16="http://schemas.microsoft.com/office/drawing/2014/main" id="{FE2B71F3-76B9-46B0-BE1A-D767DA079A7D}"/>
              </a:ext>
            </a:extLst>
          </p:cNvPr>
          <p:cNvSpPr>
            <a:spLocks xmlns:a="http://schemas.openxmlformats.org/drawingml/2006/main" noGrp="1"/>
          </p:cNvSpPr>
          <p:nvPr/>
        </p:nvSpPr>
        <p:spPr>
          <a:xfrm xmlns:a="http://schemas.openxmlformats.org/drawingml/2006/main">
            <a:off x="571500" y="4000500"/>
            <a:ext cx="1409700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Welke prijs gebruik je voor CS? En voor PS?</a:t>
            </a:r>
          </a:p>
        </p:txBody>
      </p:sp>
      <p:sp>
        <p:nvSpPr>
          <p:cNvPr id="7" name="Waarom zijn € 600 uitgaven en € 60 verlies verschillend">
            <a:extLst xmlns:a="http://schemas.openxmlformats.org/drawingml/2006/main">
              <a:ext uri="{FF2B5EF4-FFF2-40B4-BE49-F238E27FC236}">
                <a16:creationId xmlns:a16="http://schemas.microsoft.com/office/drawing/2014/main" id="{42C7469E-A8BB-465B-ACB6-12FB895FCF35}"/>
              </a:ext>
            </a:extLst>
          </p:cNvPr>
          <p:cNvSpPr>
            <a:spLocks xmlns:a="http://schemas.openxmlformats.org/drawingml/2006/main" noGrp="1"/>
          </p:cNvSpPr>
          <p:nvPr/>
        </p:nvSpPr>
        <p:spPr>
          <a:xfrm xmlns:a="http://schemas.openxmlformats.org/drawingml/2006/main">
            <a:off x="571500" y="5619750"/>
            <a:ext cx="1409700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Waarom zijn € 600 uitgaven en € 60 verlies verschillend?</a:t>
            </a:r>
          </a:p>
        </p:txBody>
      </p:sp>
    </p:spTree>
    <p:extLst>
      <p:ext uri="{BB962C8B-B14F-4D97-AF65-F5344CB8AC3E}">
        <p14:creationId xmlns:p14="http://schemas.microsoft.com/office/powerpoint/2010/main" val="153833297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3.1.3 Subsidies">
            <a:extLst xmlns:a="http://schemas.openxmlformats.org/drawingml/2006/main">
              <a:ext uri="{FF2B5EF4-FFF2-40B4-BE49-F238E27FC236}">
                <a16:creationId xmlns:a16="http://schemas.microsoft.com/office/drawing/2014/main" id="{0C725FFD-FB68-4DE8-ABC6-853DF27CE144}"/>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Deze les: §3.1.3 Subsidies</a:t>
            </a:r>
          </a:p>
        </p:txBody>
      </p:sp>
      <p:sp>
        <p:nvSpPr>
          <p:cNvPr id="2" name="">
            <a:extLst xmlns:a="http://schemas.openxmlformats.org/drawingml/2006/main">
              <a:ext uri="{FF2B5EF4-FFF2-40B4-BE49-F238E27FC236}">
                <a16:creationId xmlns:a16="http://schemas.microsoft.com/office/drawing/2014/main" id="{1279FDEB-734B-42E9-9FB5-A4A6D86DB0E1}"/>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1.3 Subsidies">
            <a:extLst xmlns:a="http://schemas.openxmlformats.org/drawingml/2006/main">
              <a:ext uri="{FF2B5EF4-FFF2-40B4-BE49-F238E27FC236}">
                <a16:creationId xmlns:a16="http://schemas.microsoft.com/office/drawing/2014/main" id="{339FF8FD-9A0A-423D-82E6-2DB257299B80}"/>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§3.1.3 Subsidies</a:t>
            </a:r>
          </a:p>
        </p:txBody>
      </p:sp>
      <p:sp>
        <p:nvSpPr>
          <p:cNvPr id="4" name="16">
            <a:extLst xmlns:a="http://schemas.openxmlformats.org/drawingml/2006/main">
              <a:ext uri="{FF2B5EF4-FFF2-40B4-BE49-F238E27FC236}">
                <a16:creationId xmlns:a16="http://schemas.microsoft.com/office/drawing/2014/main" id="{7706210E-88F9-4941-A380-1224427C065F}"/>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16</a:t>
            </a:r>
          </a:p>
        </p:txBody>
      </p:sp>
      <p:sp>
        <p:nvSpPr>
          <p:cNvPr id="5" name="phase">
            <a:extLst xmlns:a="http://schemas.openxmlformats.org/drawingml/2006/main">
              <a:ext uri="{FF2B5EF4-FFF2-40B4-BE49-F238E27FC236}">
                <a16:creationId xmlns:a16="http://schemas.microsoft.com/office/drawing/2014/main" id="{1FD1CF74-4D5A-4037-8655-2A710AF0D1F8}"/>
              </a:ext>
            </a:extLst>
          </p:cNvPr>
          <p:cNvSpPr>
            <a:spLocks xmlns:a="http://schemas.openxmlformats.org/drawingml/2006/main" noGrp="1"/>
          </p:cNvSpPr>
          <p:nvPr/>
        </p:nvSpPr>
        <p:spPr>
          <a:xfrm xmlns:a="http://schemas.openxmlformats.org/drawingml/2006/main">
            <a:off x="571500" y="1066800"/>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Oefenen</a:t>
            </a:r>
          </a:p>
        </p:txBody>
      </p:sp>
      <p:sp>
        <p:nvSpPr>
          <p:cNvPr id="6" name="Lesroute">
            <a:extLst xmlns:a="http://schemas.openxmlformats.org/drawingml/2006/main">
              <a:ext uri="{FF2B5EF4-FFF2-40B4-BE49-F238E27FC236}">
                <a16:creationId xmlns:a16="http://schemas.microsoft.com/office/drawing/2014/main" id="{39962D1F-AFC0-4283-97EA-F7A416910C27}"/>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0">
            <a:extLst xmlns:a="http://schemas.openxmlformats.org/drawingml/2006/main">
              <a:ext uri="{FF2B5EF4-FFF2-40B4-BE49-F238E27FC236}">
                <a16:creationId xmlns:a16="http://schemas.microsoft.com/office/drawing/2014/main" id="{BC1F1BE1-F5ED-4E51-91A4-E675F741002A}"/>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0">
            <a:extLst xmlns:a="http://schemas.openxmlformats.org/drawingml/2006/main">
              <a:ext uri="{FF2B5EF4-FFF2-40B4-BE49-F238E27FC236}">
                <a16:creationId xmlns:a16="http://schemas.microsoft.com/office/drawing/2014/main" id="{3F0F807A-64CD-4F80-878C-E1F41BA41E82}"/>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1">
            <a:extLst xmlns:a="http://schemas.openxmlformats.org/drawingml/2006/main">
              <a:ext uri="{FF2B5EF4-FFF2-40B4-BE49-F238E27FC236}">
                <a16:creationId xmlns:a16="http://schemas.microsoft.com/office/drawing/2014/main" id="{0C23E417-DEBB-4331-9C67-E057B4FF4F0A}"/>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1">
            <a:extLst xmlns:a="http://schemas.openxmlformats.org/drawingml/2006/main">
              <a:ext uri="{FF2B5EF4-FFF2-40B4-BE49-F238E27FC236}">
                <a16:creationId xmlns:a16="http://schemas.microsoft.com/office/drawing/2014/main" id="{D31D8230-ED5A-46AE-B8BC-E8A23C4DEEA2}"/>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2">
            <a:extLst xmlns:a="http://schemas.openxmlformats.org/drawingml/2006/main">
              <a:ext uri="{FF2B5EF4-FFF2-40B4-BE49-F238E27FC236}">
                <a16:creationId xmlns:a16="http://schemas.microsoft.com/office/drawing/2014/main" id="{DC619071-A1DA-4B9F-A19A-E1D49FAA039E}"/>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2">
            <a:extLst xmlns:a="http://schemas.openxmlformats.org/drawingml/2006/main">
              <a:ext uri="{FF2B5EF4-FFF2-40B4-BE49-F238E27FC236}">
                <a16:creationId xmlns:a16="http://schemas.microsoft.com/office/drawing/2014/main" id="{52BE12F1-45CE-4318-857A-0E300BF5FC0D}"/>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3">
            <a:extLst xmlns:a="http://schemas.openxmlformats.org/drawingml/2006/main">
              <a:ext uri="{FF2B5EF4-FFF2-40B4-BE49-F238E27FC236}">
                <a16:creationId xmlns:a16="http://schemas.microsoft.com/office/drawing/2014/main" id="{CF51D585-A9F4-466F-8AEC-B01DBEBC3460}"/>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4.</a:t>
            </a:r>
          </a:p>
        </p:txBody>
      </p:sp>
      <p:sp>
        <p:nvSpPr>
          <p:cNvPr id="14" name="route-3">
            <a:extLst xmlns:a="http://schemas.openxmlformats.org/drawingml/2006/main">
              <a:ext uri="{FF2B5EF4-FFF2-40B4-BE49-F238E27FC236}">
                <a16:creationId xmlns:a16="http://schemas.microsoft.com/office/drawing/2014/main" id="{53F8728F-9EDC-480F-BAAC-059778C5CBB5}"/>
              </a:ext>
            </a:extLst>
          </p:cNvPr>
          <p:cNvSpPr>
            <a:spLocks xmlns:a="http://schemas.openxmlformats.org/drawingml/2006/main" noGrp="1"/>
          </p:cNvSpPr>
          <p:nvPr/>
        </p:nvSpPr>
        <p:spPr>
          <a:xfrm xmlns:a="http://schemas.openxmlformats.org/drawingml/2006/main">
            <a:off x="1104900" y="4248150"/>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4">
            <a:extLst xmlns:a="http://schemas.openxmlformats.org/drawingml/2006/main">
              <a:ext uri="{FF2B5EF4-FFF2-40B4-BE49-F238E27FC236}">
                <a16:creationId xmlns:a16="http://schemas.microsoft.com/office/drawing/2014/main" id="{C6FDD1E4-A3D2-46C8-A70D-2071ABC6E583}"/>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4">
            <a:extLst xmlns:a="http://schemas.openxmlformats.org/drawingml/2006/main">
              <a:ext uri="{FF2B5EF4-FFF2-40B4-BE49-F238E27FC236}">
                <a16:creationId xmlns:a16="http://schemas.microsoft.com/office/drawing/2014/main" id="{9B184F0D-1780-44F0-821D-C6A464D0D0B5}"/>
              </a:ext>
            </a:extLst>
          </p:cNvPr>
          <p:cNvSpPr>
            <a:spLocks xmlns:a="http://schemas.openxmlformats.org/drawingml/2006/main" noGrp="1"/>
          </p:cNvSpPr>
          <p:nvPr/>
        </p:nvSpPr>
        <p:spPr>
          <a:xfrm xmlns:a="http://schemas.openxmlformats.org/drawingml/2006/main">
            <a:off x="1104900" y="605790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5">
            <a:extLst xmlns:a="http://schemas.openxmlformats.org/drawingml/2006/main">
              <a:ext uri="{FF2B5EF4-FFF2-40B4-BE49-F238E27FC236}">
                <a16:creationId xmlns:a16="http://schemas.microsoft.com/office/drawing/2014/main" id="{1C55B70D-FCE7-4DB4-AB6A-B370586FFB25}"/>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5">
            <a:extLst xmlns:a="http://schemas.openxmlformats.org/drawingml/2006/main">
              <a:ext uri="{FF2B5EF4-FFF2-40B4-BE49-F238E27FC236}">
                <a16:creationId xmlns:a16="http://schemas.microsoft.com/office/drawing/2014/main" id="{7271238B-4A64-4015-84EF-7A830E49A69A}"/>
              </a:ext>
            </a:extLst>
          </p:cNvPr>
          <p:cNvSpPr>
            <a:spLocks xmlns:a="http://schemas.openxmlformats.org/drawingml/2006/main" noGrp="1"/>
          </p:cNvSpPr>
          <p:nvPr/>
        </p:nvSpPr>
        <p:spPr>
          <a:xfrm xmlns:a="http://schemas.openxmlformats.org/drawingml/2006/main">
            <a:off x="1104900" y="681990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25.</a:t>
            </a:r>
          </a:p>
        </p:txBody>
      </p:sp>
      <p:sp>
        <p:nvSpPr>
          <p:cNvPr id="19" name="route-number-6">
            <a:extLst xmlns:a="http://schemas.openxmlformats.org/drawingml/2006/main">
              <a:ext uri="{FF2B5EF4-FFF2-40B4-BE49-F238E27FC236}">
                <a16:creationId xmlns:a16="http://schemas.microsoft.com/office/drawing/2014/main" id="{529D53A3-7F88-438C-9DCE-A50B263E1109}"/>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6">
            <a:extLst xmlns:a="http://schemas.openxmlformats.org/drawingml/2006/main">
              <a:ext uri="{FF2B5EF4-FFF2-40B4-BE49-F238E27FC236}">
                <a16:creationId xmlns:a16="http://schemas.microsoft.com/office/drawing/2014/main" id="{373A3381-E019-483E-A33B-94F73BFAF6BC}"/>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278BE1A1-2AAA-43E2-B033-2559BB77C39F}"/>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E942A611-81E6-457B-AB19-C53DAFA7A303}"/>
              </a:ext>
            </a:extLst>
          </p:cNvPr>
          <p:cNvSpPr>
            <a:spLocks xmlns:a="http://schemas.openxmlformats.org/drawingml/2006/main" noGrp="1"/>
          </p:cNvSpPr>
          <p:nvPr/>
        </p:nvSpPr>
        <p:spPr>
          <a:xfrm xmlns:a="http://schemas.openxmlformats.org/drawingml/2006/main">
            <a:off x="9258300" y="22860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Prijzen, hoeveelheid en uitgaven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berekenen. Voordeel verdelen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en welvaart beoordelen.</a:t>
            </a:r>
          </a:p>
        </p:txBody>
      </p:sp>
      <p:sp>
        <p:nvSpPr>
          <p:cNvPr id="23" name="">
            <a:extLst xmlns:a="http://schemas.openxmlformats.org/drawingml/2006/main">
              <a:ext uri="{FF2B5EF4-FFF2-40B4-BE49-F238E27FC236}">
                <a16:creationId xmlns:a16="http://schemas.microsoft.com/office/drawing/2014/main" id="{52E5B33B-9FAC-46A1-BD23-85FF22FBEBD3}"/>
              </a:ext>
            </a:extLst>
          </p:cNvPr>
          <p:cNvSpPr>
            <a:spLocks xmlns:a="http://schemas.openxmlformats.org/drawingml/2006/main" noGrp="1"/>
          </p:cNvSpPr>
          <p:nvPr/>
        </p:nvSpPr>
        <p:spPr>
          <a:xfrm xmlns:a="http://schemas.openxmlformats.org/drawingml/2006/main">
            <a:off x="9258300" y="3533775"/>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4C523FE0-0BCE-48B9-9FB3-49AC73CA94AC}"/>
              </a:ext>
            </a:extLst>
          </p:cNvPr>
          <p:cNvSpPr>
            <a:spLocks xmlns:a="http://schemas.openxmlformats.org/drawingml/2006/main" noGrp="1"/>
          </p:cNvSpPr>
          <p:nvPr/>
        </p:nvSpPr>
        <p:spPr>
          <a:xfrm xmlns:a="http://schemas.openxmlformats.org/drawingml/2006/main">
            <a:off x="9258300" y="37242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DA9D37B6-E78E-409E-8F78-B249720CD1AF}"/>
              </a:ext>
            </a:extLst>
          </p:cNvPr>
          <p:cNvSpPr>
            <a:spLocks xmlns:a="http://schemas.openxmlformats.org/drawingml/2006/main" noGrp="1"/>
          </p:cNvSpPr>
          <p:nvPr/>
        </p:nvSpPr>
        <p:spPr>
          <a:xfrm xmlns:a="http://schemas.openxmlformats.org/drawingml/2006/main">
            <a:off x="9258300" y="4238625"/>
            <a:ext cx="5381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26 · Opgaven 19 en 20</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Verkennen met theorie:</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19: p. 23; 20: p. 24</a:t>
            </a:r>
          </a:p>
        </p:txBody>
      </p:sp>
      <p:sp>
        <p:nvSpPr>
          <p:cNvPr id="26" name="">
            <a:extLst xmlns:a="http://schemas.openxmlformats.org/drawingml/2006/main">
              <a:ext uri="{FF2B5EF4-FFF2-40B4-BE49-F238E27FC236}">
                <a16:creationId xmlns:a16="http://schemas.microsoft.com/office/drawing/2014/main" id="{F5C26DB2-43A0-41B8-9ABA-D25022EF183B}"/>
              </a:ext>
            </a:extLst>
          </p:cNvPr>
          <p:cNvSpPr>
            <a:spLocks xmlns:a="http://schemas.openxmlformats.org/drawingml/2006/main" noGrp="1"/>
          </p:cNvSpPr>
          <p:nvPr/>
        </p:nvSpPr>
        <p:spPr>
          <a:xfrm xmlns:a="http://schemas.openxmlformats.org/drawingml/2006/main">
            <a:off x="9258300" y="5476875"/>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19F9F9D8-9BC9-4D8D-A2F4-A942FA68B8C8}"/>
              </a:ext>
            </a:extLst>
          </p:cNvPr>
          <p:cNvSpPr>
            <a:spLocks xmlns:a="http://schemas.openxmlformats.org/drawingml/2006/main" noGrp="1"/>
          </p:cNvSpPr>
          <p:nvPr/>
        </p:nvSpPr>
        <p:spPr>
          <a:xfrm xmlns:a="http://schemas.openxmlformats.org/drawingml/2006/main">
            <a:off x="9258300" y="56959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2A8D0C9D-047F-4BBE-8F32-189AFFED7766}"/>
              </a:ext>
            </a:extLst>
          </p:cNvPr>
          <p:cNvSpPr>
            <a:spLocks xmlns:a="http://schemas.openxmlformats.org/drawingml/2006/main" noGrp="1"/>
          </p:cNvSpPr>
          <p:nvPr/>
        </p:nvSpPr>
        <p:spPr>
          <a:xfrm xmlns:a="http://schemas.openxmlformats.org/drawingml/2006/main">
            <a:off x="9258300" y="6229350"/>
            <a:ext cx="5381625"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§3.1.3 Subsidies</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21, 22 en 22A</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23 en 24</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Doelopgave: 25</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183941108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25 · Cursusplaatsen">
            <a:extLst xmlns:a="http://schemas.openxmlformats.org/drawingml/2006/main">
              <a:ext uri="{FF2B5EF4-FFF2-40B4-BE49-F238E27FC236}">
                <a16:creationId xmlns:a16="http://schemas.microsoft.com/office/drawing/2014/main" id="{46247084-E734-447B-B233-7B5E1E51A75D}"/>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25 · Cursusplaatsen</a:t>
            </a:r>
          </a:p>
        </p:txBody>
      </p:sp>
      <p:sp>
        <p:nvSpPr>
          <p:cNvPr id="2" name="">
            <a:extLst xmlns:a="http://schemas.openxmlformats.org/drawingml/2006/main">
              <a:ext uri="{FF2B5EF4-FFF2-40B4-BE49-F238E27FC236}">
                <a16:creationId xmlns:a16="http://schemas.microsoft.com/office/drawing/2014/main" id="{7F888256-8DA2-49C4-9268-14FA8432E130}"/>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1.3 Subsidies">
            <a:extLst xmlns:a="http://schemas.openxmlformats.org/drawingml/2006/main">
              <a:ext uri="{FF2B5EF4-FFF2-40B4-BE49-F238E27FC236}">
                <a16:creationId xmlns:a16="http://schemas.microsoft.com/office/drawing/2014/main" id="{90E41BE0-7B8A-4A52-A7EA-C70ECA595819}"/>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§3.1.3 Subsidies</a:t>
            </a:r>
          </a:p>
        </p:txBody>
      </p:sp>
      <p:sp>
        <p:nvSpPr>
          <p:cNvPr id="4" name="17">
            <a:extLst xmlns:a="http://schemas.openxmlformats.org/drawingml/2006/main">
              <a:ext uri="{FF2B5EF4-FFF2-40B4-BE49-F238E27FC236}">
                <a16:creationId xmlns:a16="http://schemas.microsoft.com/office/drawing/2014/main" id="{DFD5CE76-A61A-42C4-8B40-8BD122F858CE}"/>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17</a:t>
            </a:r>
          </a:p>
        </p:txBody>
      </p:sp>
      <p:sp>
        <p:nvSpPr>
          <p:cNvPr id="5" name="Boekpagina 30 · Gegevens">
            <a:extLst xmlns:a="http://schemas.openxmlformats.org/drawingml/2006/main">
              <a:ext uri="{FF2B5EF4-FFF2-40B4-BE49-F238E27FC236}">
                <a16:creationId xmlns:a16="http://schemas.microsoft.com/office/drawing/2014/main" id="{1165B129-FECD-46F7-B121-F689033C6E51}"/>
              </a:ext>
            </a:extLst>
          </p:cNvPr>
          <p:cNvSpPr>
            <a:spLocks xmlns:a="http://schemas.openxmlformats.org/drawingml/2006/main" noGrp="1"/>
          </p:cNvSpPr>
          <p:nvPr/>
        </p:nvSpPr>
        <p:spPr>
          <a:xfrm xmlns:a="http://schemas.openxmlformats.org/drawingml/2006/main">
            <a:off x="571500" y="1781175"/>
            <a:ext cx="1409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Boekpagina 30 · Gegevens</a:t>
            </a:r>
          </a:p>
        </p:txBody>
      </p:sp>
      <p:sp>
        <p:nvSpPr>
          <p:cNvPr id="6" name="Vraag Pc = 26 − 0,20Q; aanbod Pp = 8 + 0,10Q">
            <a:extLst xmlns:a="http://schemas.openxmlformats.org/drawingml/2006/main">
              <a:ext uri="{FF2B5EF4-FFF2-40B4-BE49-F238E27FC236}">
                <a16:creationId xmlns:a16="http://schemas.microsoft.com/office/drawing/2014/main" id="{8D09B141-F2CB-4BA9-ACD8-902DB6F66694}"/>
              </a:ext>
            </a:extLst>
          </p:cNvPr>
          <p:cNvSpPr>
            <a:spLocks xmlns:a="http://schemas.openxmlformats.org/drawingml/2006/main" noGrp="1"/>
          </p:cNvSpPr>
          <p:nvPr/>
        </p:nvSpPr>
        <p:spPr>
          <a:xfrm xmlns:a="http://schemas.openxmlformats.org/drawingml/2006/main">
            <a:off x="571500" y="2571750"/>
            <a:ext cx="140970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Vraag Pc = 26 − 0,20Q; aanbod Pp = 8 + 0,10Q</a:t>
            </a:r>
          </a:p>
        </p:txBody>
      </p:sp>
      <p:sp>
        <p:nvSpPr>
          <p:cNvPr id="7" name="Q is cursusplaatsen per week.">
            <a:extLst xmlns:a="http://schemas.openxmlformats.org/drawingml/2006/main">
              <a:ext uri="{FF2B5EF4-FFF2-40B4-BE49-F238E27FC236}">
                <a16:creationId xmlns:a16="http://schemas.microsoft.com/office/drawing/2014/main" id="{FA67D363-280B-40A6-BF8E-01E8BB02EE34}"/>
              </a:ext>
            </a:extLst>
          </p:cNvPr>
          <p:cNvSpPr>
            <a:spLocks xmlns:a="http://schemas.openxmlformats.org/drawingml/2006/main" noGrp="1"/>
          </p:cNvSpPr>
          <p:nvPr/>
        </p:nvSpPr>
        <p:spPr>
          <a:xfrm xmlns:a="http://schemas.openxmlformats.org/drawingml/2006/main">
            <a:off x="571500" y="3629025"/>
            <a:ext cx="140970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Q is cursusplaatsen per week.</a:t>
            </a:r>
          </a:p>
        </p:txBody>
      </p:sp>
      <p:sp>
        <p:nvSpPr>
          <p:cNvPr id="8" name="Eerst: Q₀ = 60, P₀ = € 14, CS = € 360 en PS = € 180 per">
            <a:extLst xmlns:a="http://schemas.openxmlformats.org/drawingml/2006/main">
              <a:ext uri="{FF2B5EF4-FFF2-40B4-BE49-F238E27FC236}">
                <a16:creationId xmlns:a16="http://schemas.microsoft.com/office/drawing/2014/main" id="{686713F3-FD09-4475-AD49-CE832C5EB28A}"/>
              </a:ext>
            </a:extLst>
          </p:cNvPr>
          <p:cNvSpPr>
            <a:spLocks xmlns:a="http://schemas.openxmlformats.org/drawingml/2006/main" noGrp="1"/>
          </p:cNvSpPr>
          <p:nvPr/>
        </p:nvSpPr>
        <p:spPr>
          <a:xfrm xmlns:a="http://schemas.openxmlformats.org/drawingml/2006/main">
            <a:off x="571500" y="4686300"/>
            <a:ext cx="140970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Eerst: Q₀ = 60, P₀ = € 14, CS = € 360 en PS = € 180 per week.</a:t>
            </a:r>
          </a:p>
        </p:txBody>
      </p:sp>
      <p:sp>
        <p:nvSpPr>
          <p:cNvPr id="9" name="Aanbieders ontvangen € 3 subsidie per werkelijk verkoch">
            <a:extLst xmlns:a="http://schemas.openxmlformats.org/drawingml/2006/main">
              <a:ext uri="{FF2B5EF4-FFF2-40B4-BE49-F238E27FC236}">
                <a16:creationId xmlns:a16="http://schemas.microsoft.com/office/drawing/2014/main" id="{C7464013-6938-41B1-9773-D51E163E60EA}"/>
              </a:ext>
            </a:extLst>
          </p:cNvPr>
          <p:cNvSpPr>
            <a:spLocks xmlns:a="http://schemas.openxmlformats.org/drawingml/2006/main" noGrp="1"/>
          </p:cNvSpPr>
          <p:nvPr/>
        </p:nvSpPr>
        <p:spPr>
          <a:xfrm xmlns:a="http://schemas.openxmlformats.org/drawingml/2006/main">
            <a:off x="571500" y="6000750"/>
            <a:ext cx="140970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Aanbieders ontvangen € 3 subsidie per werkelijk verkochte plaats.</a:t>
            </a:r>
          </a:p>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Er zijn geen baten voor buitenstaanders en geen uitvoeringskosten.</a:t>
            </a:r>
          </a:p>
        </p:txBody>
      </p:sp>
    </p:spTree>
    <p:extLst>
      <p:ext uri="{BB962C8B-B14F-4D97-AF65-F5344CB8AC3E}">
        <p14:creationId xmlns:p14="http://schemas.microsoft.com/office/powerpoint/2010/main" val="78822233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25 · Vragen a–c">
            <a:extLst xmlns:a="http://schemas.openxmlformats.org/drawingml/2006/main">
              <a:ext uri="{FF2B5EF4-FFF2-40B4-BE49-F238E27FC236}">
                <a16:creationId xmlns:a16="http://schemas.microsoft.com/office/drawing/2014/main" id="{CF1D34F1-F8E8-4655-89C2-E29C77C54DBB}"/>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25 · Vragen a–c</a:t>
            </a:r>
          </a:p>
        </p:txBody>
      </p:sp>
      <p:sp>
        <p:nvSpPr>
          <p:cNvPr id="2" name="">
            <a:extLst xmlns:a="http://schemas.openxmlformats.org/drawingml/2006/main">
              <a:ext uri="{FF2B5EF4-FFF2-40B4-BE49-F238E27FC236}">
                <a16:creationId xmlns:a16="http://schemas.microsoft.com/office/drawing/2014/main" id="{50908793-9840-40FC-8150-C1EBDC137718}"/>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1.3 Subsidies">
            <a:extLst xmlns:a="http://schemas.openxmlformats.org/drawingml/2006/main">
              <a:ext uri="{FF2B5EF4-FFF2-40B4-BE49-F238E27FC236}">
                <a16:creationId xmlns:a16="http://schemas.microsoft.com/office/drawing/2014/main" id="{90280183-5885-4787-A76B-E4F6BE20F443}"/>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§3.1.3 Subsidies</a:t>
            </a:r>
          </a:p>
        </p:txBody>
      </p:sp>
      <p:sp>
        <p:nvSpPr>
          <p:cNvPr id="4" name="18">
            <a:extLst xmlns:a="http://schemas.openxmlformats.org/drawingml/2006/main">
              <a:ext uri="{FF2B5EF4-FFF2-40B4-BE49-F238E27FC236}">
                <a16:creationId xmlns:a16="http://schemas.microsoft.com/office/drawing/2014/main" id="{0047B69E-2241-42D7-AEFB-E39CC0D0E477}"/>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18</a:t>
            </a:r>
          </a:p>
        </p:txBody>
      </p:sp>
      <p:sp>
        <p:nvSpPr>
          <p:cNvPr id="5" name="a. Stel het aanbod in kopersprijzen mét subsidie op.&#10;  ">
            <a:extLst xmlns:a="http://schemas.openxmlformats.org/drawingml/2006/main">
              <a:ext uri="{FF2B5EF4-FFF2-40B4-BE49-F238E27FC236}">
                <a16:creationId xmlns:a16="http://schemas.microsoft.com/office/drawing/2014/main" id="{E29FFDB6-B45D-41B2-902F-BB18D40D792F}"/>
              </a:ext>
            </a:extLst>
          </p:cNvPr>
          <p:cNvSpPr>
            <a:spLocks xmlns:a="http://schemas.openxmlformats.org/drawingml/2006/main" noGrp="1"/>
          </p:cNvSpPr>
          <p:nvPr/>
        </p:nvSpPr>
        <p:spPr>
          <a:xfrm xmlns:a="http://schemas.openxmlformats.org/drawingml/2006/main">
            <a:off x="571500" y="2076450"/>
            <a:ext cx="14097000"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a. Stel het aanbod in kopersprijzen mét subsidie op.</a:t>
            </a:r>
          </a:p>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    Bereken Qsub, Pc en Pp.</a:t>
            </a:r>
          </a:p>
        </p:txBody>
      </p:sp>
      <p:sp>
        <p:nvSpPr>
          <p:cNvPr id="6" name="b. Bereken de overheidsuitgaven per week.">
            <a:extLst xmlns:a="http://schemas.openxmlformats.org/drawingml/2006/main">
              <a:ext uri="{FF2B5EF4-FFF2-40B4-BE49-F238E27FC236}">
                <a16:creationId xmlns:a16="http://schemas.microsoft.com/office/drawing/2014/main" id="{F5492630-1AEE-4942-AF0E-EA624545DBED}"/>
              </a:ext>
            </a:extLst>
          </p:cNvPr>
          <p:cNvSpPr>
            <a:spLocks xmlns:a="http://schemas.openxmlformats.org/drawingml/2006/main" noGrp="1"/>
          </p:cNvSpPr>
          <p:nvPr/>
        </p:nvSpPr>
        <p:spPr>
          <a:xfrm xmlns:a="http://schemas.openxmlformats.org/drawingml/2006/main">
            <a:off x="571500" y="3886200"/>
            <a:ext cx="14097000"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b. Bereken de overheidsuitgaven per week.</a:t>
            </a:r>
          </a:p>
        </p:txBody>
      </p:sp>
      <p:sp>
        <p:nvSpPr>
          <p:cNvPr id="7" name="c. Bereken het voordeel per plaats voor kopers en aanbi">
            <a:extLst xmlns:a="http://schemas.openxmlformats.org/drawingml/2006/main">
              <a:ext uri="{FF2B5EF4-FFF2-40B4-BE49-F238E27FC236}">
                <a16:creationId xmlns:a16="http://schemas.microsoft.com/office/drawing/2014/main" id="{FA76FB94-4E5A-4157-B6DF-7B768FF5246E}"/>
              </a:ext>
            </a:extLst>
          </p:cNvPr>
          <p:cNvSpPr>
            <a:spLocks xmlns:a="http://schemas.openxmlformats.org/drawingml/2006/main" noGrp="1"/>
          </p:cNvSpPr>
          <p:nvPr/>
        </p:nvSpPr>
        <p:spPr>
          <a:xfrm xmlns:a="http://schemas.openxmlformats.org/drawingml/2006/main">
            <a:off x="571500" y="5695950"/>
            <a:ext cx="14097000"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c. Bereken het voordeel per plaats voor kopers en aanbieders.</a:t>
            </a:r>
          </a:p>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    Leg uit waarom uitbetaling aan aanbieders niet betekent</a:t>
            </a:r>
          </a:p>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    dat zij het hele voordeel krijgen.</a:t>
            </a:r>
          </a:p>
        </p:txBody>
      </p:sp>
    </p:spTree>
    <p:extLst>
      <p:ext uri="{BB962C8B-B14F-4D97-AF65-F5344CB8AC3E}">
        <p14:creationId xmlns:p14="http://schemas.microsoft.com/office/powerpoint/2010/main" val="883674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Opgave 25 · Vragen d–e">
            <a:extLst xmlns:a="http://schemas.openxmlformats.org/drawingml/2006/main">
              <a:ext uri="{FF2B5EF4-FFF2-40B4-BE49-F238E27FC236}">
                <a16:creationId xmlns:a16="http://schemas.microsoft.com/office/drawing/2014/main" id="{B9FA4487-88F2-4E14-9162-46A3A2E1D46C}"/>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25 · Vragen d–e</a:t>
            </a:r>
          </a:p>
        </p:txBody>
      </p:sp>
      <p:sp>
        <p:nvSpPr>
          <p:cNvPr id="2" name="">
            <a:extLst xmlns:a="http://schemas.openxmlformats.org/drawingml/2006/main">
              <a:ext uri="{FF2B5EF4-FFF2-40B4-BE49-F238E27FC236}">
                <a16:creationId xmlns:a16="http://schemas.microsoft.com/office/drawing/2014/main" id="{BA6DA1F1-8037-4FDC-A853-ADC30BFD7EB5}"/>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1.3 Subsidies">
            <a:extLst xmlns:a="http://schemas.openxmlformats.org/drawingml/2006/main">
              <a:ext uri="{FF2B5EF4-FFF2-40B4-BE49-F238E27FC236}">
                <a16:creationId xmlns:a16="http://schemas.microsoft.com/office/drawing/2014/main" id="{78C4FD7A-0AFC-478A-A21F-ED971F45EFE3}"/>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§3.1.3 Subsidies</a:t>
            </a:r>
          </a:p>
        </p:txBody>
      </p:sp>
      <p:sp>
        <p:nvSpPr>
          <p:cNvPr id="4" name="19">
            <a:extLst xmlns:a="http://schemas.openxmlformats.org/drawingml/2006/main">
              <a:ext uri="{FF2B5EF4-FFF2-40B4-BE49-F238E27FC236}">
                <a16:creationId xmlns:a16="http://schemas.microsoft.com/office/drawing/2014/main" id="{9914EC17-B6EA-4071-9E7C-31C8576D6C1E}"/>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19</a:t>
            </a:r>
          </a:p>
        </p:txBody>
      </p:sp>
      <p:sp>
        <p:nvSpPr>
          <p:cNvPr id="5" name="d. Bereken CS en PS na subsidie. Bepaal CS + PS − U en ">
            <a:extLst xmlns:a="http://schemas.openxmlformats.org/drawingml/2006/main">
              <a:ext uri="{FF2B5EF4-FFF2-40B4-BE49-F238E27FC236}">
                <a16:creationId xmlns:a16="http://schemas.microsoft.com/office/drawing/2014/main" id="{AB10E13F-DA3F-4CD3-BFB9-9295823B227D}"/>
              </a:ext>
            </a:extLst>
          </p:cNvPr>
          <p:cNvSpPr>
            <a:spLocks xmlns:a="http://schemas.openxmlformats.org/drawingml/2006/main" noGrp="1"/>
          </p:cNvSpPr>
          <p:nvPr/>
        </p:nvSpPr>
        <p:spPr>
          <a:xfrm xmlns:a="http://schemas.openxmlformats.org/drawingml/2006/main">
            <a:off x="571500" y="2333625"/>
            <a:ext cx="14097000" cy="2114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d. Bereken CS en PS na subsidie. Bepaal CS + PS − U en het</a:t>
            </a:r>
          </a:p>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    welvaartsverlies ten opzichte van de oude situatie.</a:t>
            </a:r>
          </a:p>
        </p:txBody>
      </p:sp>
      <p:sp>
        <p:nvSpPr>
          <p:cNvPr id="6" name="e. Markeer Qsub, Pc en Pp in de basisgrafiek.&#10;    Arcee">
            <a:extLst xmlns:a="http://schemas.openxmlformats.org/drawingml/2006/main">
              <a:ext uri="{FF2B5EF4-FFF2-40B4-BE49-F238E27FC236}">
                <a16:creationId xmlns:a16="http://schemas.microsoft.com/office/drawing/2014/main" id="{BB625C96-69A6-4A22-AC3C-8A00BD3FC5BF}"/>
              </a:ext>
            </a:extLst>
          </p:cNvPr>
          <p:cNvSpPr>
            <a:spLocks xmlns:a="http://schemas.openxmlformats.org/drawingml/2006/main" noGrp="1"/>
          </p:cNvSpPr>
          <p:nvPr/>
        </p:nvSpPr>
        <p:spPr>
          <a:xfrm xmlns:a="http://schemas.openxmlformats.org/drawingml/2006/main">
            <a:off x="571500" y="4619625"/>
            <a:ext cx="14097000" cy="2114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e. Markeer Qsub, Pc en Pp in de basisgrafiek.</a:t>
            </a:r>
          </a:p>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    Arceer de rechthoek van de overheidsuitgaven.</a:t>
            </a:r>
          </a:p>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    Beoordeel: “De subsidie verhoogt in dit model automatisch</a:t>
            </a:r>
          </a:p>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    de welvaart.”</a:t>
            </a:r>
          </a:p>
        </p:txBody>
      </p:sp>
    </p:spTree>
    <p:extLst>
      <p:ext uri="{BB962C8B-B14F-4D97-AF65-F5344CB8AC3E}">
        <p14:creationId xmlns:p14="http://schemas.microsoft.com/office/powerpoint/2010/main" val="77386547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25 · Basisgrafiek">
            <a:extLst xmlns:a="http://schemas.openxmlformats.org/drawingml/2006/main">
              <a:ext uri="{FF2B5EF4-FFF2-40B4-BE49-F238E27FC236}">
                <a16:creationId xmlns:a16="http://schemas.microsoft.com/office/drawing/2014/main" id="{C4134F93-0B0A-41B0-B963-5B96B384AB5A}"/>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25 · Basisgrafiek</a:t>
            </a:r>
          </a:p>
        </p:txBody>
      </p:sp>
      <p:sp>
        <p:nvSpPr>
          <p:cNvPr id="2" name="">
            <a:extLst xmlns:a="http://schemas.openxmlformats.org/drawingml/2006/main">
              <a:ext uri="{FF2B5EF4-FFF2-40B4-BE49-F238E27FC236}">
                <a16:creationId xmlns:a16="http://schemas.microsoft.com/office/drawing/2014/main" id="{FB67979C-87EC-4676-BD59-FF11607819AB}"/>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1.3 Subsidies">
            <a:extLst xmlns:a="http://schemas.openxmlformats.org/drawingml/2006/main">
              <a:ext uri="{FF2B5EF4-FFF2-40B4-BE49-F238E27FC236}">
                <a16:creationId xmlns:a16="http://schemas.microsoft.com/office/drawing/2014/main" id="{AB227086-DCCC-4DFC-8DCE-81A87046E208}"/>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§3.1.3 Subsidies</a:t>
            </a:r>
          </a:p>
        </p:txBody>
      </p:sp>
      <p:sp>
        <p:nvSpPr>
          <p:cNvPr id="4" name="20">
            <a:extLst xmlns:a="http://schemas.openxmlformats.org/drawingml/2006/main">
              <a:ext uri="{FF2B5EF4-FFF2-40B4-BE49-F238E27FC236}">
                <a16:creationId xmlns:a16="http://schemas.microsoft.com/office/drawing/2014/main" id="{A70C7DE4-B352-4BFD-B271-51D75010519A}"/>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20</a:t>
            </a:r>
          </a:p>
        </p:txBody>
      </p:sp>
      <p:graphicFrame>
        <p:nvGraphicFramePr>
          <p:cNvPr id="13" name="Chart"/>
          <p:cNvGraphicFramePr/>
          <p:nvPr/>
        </p:nvGraphicFramePr>
        <p:xfrm>
          <a:off xmlns:a="http://schemas.openxmlformats.org/drawingml/2006/main" x="476250" y="1952625"/>
          <a:ext xmlns:a="http://schemas.openxmlformats.org/drawingml/2006/main" cx="10191750" cy="5791200"/>
        </p:xfrm>
        <a:graphic xmlns:a="http://schemas.openxmlformats.org/drawingml/2006/main">
          <a:graphicData uri="http://schemas.openxmlformats.org/drawingml/2006/chart">
            <c:chart xmlns:r="http://schemas.openxmlformats.org/officeDocument/2006/relationships" xmlns:c="http://schemas.openxmlformats.org/drawingml/2006/chart" r:id="R8aaf4c675f29413f"/>
          </a:graphicData>
        </a:graphic>
      </p:graphicFrame>
      <p:sp>
        <p:nvSpPr>
          <p:cNvPr id="6" name="Gegeven lijnen">
            <a:extLst xmlns:a="http://schemas.openxmlformats.org/drawingml/2006/main">
              <a:ext uri="{FF2B5EF4-FFF2-40B4-BE49-F238E27FC236}">
                <a16:creationId xmlns:a16="http://schemas.microsoft.com/office/drawing/2014/main" id="{8E0D6E1B-BD34-4B01-AAFA-86A579FB931B}"/>
              </a:ext>
            </a:extLst>
          </p:cNvPr>
          <p:cNvSpPr>
            <a:spLocks xmlns:a="http://schemas.openxmlformats.org/drawingml/2006/main" noGrp="1"/>
          </p:cNvSpPr>
          <p:nvPr/>
        </p:nvSpPr>
        <p:spPr>
          <a:xfrm xmlns:a="http://schemas.openxmlformats.org/drawingml/2006/main">
            <a:off x="11144250" y="2095500"/>
            <a:ext cx="3476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Gegeven lijnen</a:t>
            </a:r>
          </a:p>
        </p:txBody>
      </p:sp>
      <p:sp>
        <p:nvSpPr>
          <p:cNvPr id="7" name="V: Pc = 26 − 0,20Q&#10;&#10;A: Pp = 8 + 0,10Q">
            <a:extLst xmlns:a="http://schemas.openxmlformats.org/drawingml/2006/main">
              <a:ext uri="{FF2B5EF4-FFF2-40B4-BE49-F238E27FC236}">
                <a16:creationId xmlns:a16="http://schemas.microsoft.com/office/drawing/2014/main" id="{054AA182-DCE6-4480-B563-B182BC3807BF}"/>
              </a:ext>
            </a:extLst>
          </p:cNvPr>
          <p:cNvSpPr>
            <a:spLocks xmlns:a="http://schemas.openxmlformats.org/drawingml/2006/main" noGrp="1"/>
          </p:cNvSpPr>
          <p:nvPr/>
        </p:nvSpPr>
        <p:spPr>
          <a:xfrm xmlns:a="http://schemas.openxmlformats.org/drawingml/2006/main">
            <a:off x="11144250" y="3095625"/>
            <a:ext cx="347662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V: Pc = 26 − 0,20Q</a:t>
            </a:r>
          </a:p>
          <a:p xmlns:a="http://schemas.openxmlformats.org/drawingml/2006/main">
            <a:r>
              <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A: Pp = 8 + 0,10Q</a:t>
            </a:r>
          </a:p>
        </p:txBody>
      </p:sp>
      <p:sp>
        <p:nvSpPr>
          <p:cNvPr id="8" name="Q in cursusplaatsen&#10;per week">
            <a:extLst xmlns:a="http://schemas.openxmlformats.org/drawingml/2006/main">
              <a:ext uri="{FF2B5EF4-FFF2-40B4-BE49-F238E27FC236}">
                <a16:creationId xmlns:a16="http://schemas.microsoft.com/office/drawing/2014/main" id="{A0026A83-3400-45E7-822E-64D982B39E9A}"/>
              </a:ext>
            </a:extLst>
          </p:cNvPr>
          <p:cNvSpPr>
            <a:spLocks xmlns:a="http://schemas.openxmlformats.org/drawingml/2006/main" noGrp="1"/>
          </p:cNvSpPr>
          <p:nvPr/>
        </p:nvSpPr>
        <p:spPr>
          <a:xfrm xmlns:a="http://schemas.openxmlformats.org/drawingml/2006/main">
            <a:off x="11144250" y="6267450"/>
            <a:ext cx="34766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A94D16"/>
                </a:solidFill>
                <a:latin typeface="Arial"/>
                <a:ea typeface="Arial"/>
                <a:cs typeface="Arial"/>
              </a:defRPr>
            </a:pPr>
            <a:r>
              <a:rPr sz="2325" b="1">
                <a:solidFill>
                  <a:srgbClr val="A94D16"/>
                </a:solidFill>
                <a:latin typeface="Arial"/>
                <a:ea typeface="Arial"/>
                <a:cs typeface="Arial"/>
              </a:rPr>
              <a:t>Q in cursusplaatsen</a:t>
            </a:r>
          </a:p>
          <a:p xmlns:a="http://schemas.openxmlformats.org/drawingml/2006/main">
            <a:pPr algn="l">
              <a:defRPr sz="2325" b="1">
                <a:solidFill>
                  <a:srgbClr val="A94D16"/>
                </a:solidFill>
                <a:latin typeface="Arial"/>
                <a:ea typeface="Arial"/>
                <a:cs typeface="Arial"/>
              </a:defRPr>
            </a:pPr>
            <a:r>
              <a:rPr sz="2325" b="1">
                <a:solidFill>
                  <a:srgbClr val="A94D16"/>
                </a:solidFill>
                <a:latin typeface="Arial"/>
                <a:ea typeface="Arial"/>
                <a:cs typeface="Arial"/>
              </a:rPr>
              <a:t>per week</a:t>
            </a:r>
          </a:p>
        </p:txBody>
      </p:sp>
    </p:spTree>
    <p:extLst>
      <p:ext uri="{BB962C8B-B14F-4D97-AF65-F5344CB8AC3E}">
        <p14:creationId xmlns:p14="http://schemas.microsoft.com/office/powerpoint/2010/main" val="1025550118"/>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25a · Nieuw aanbod en nieuwe hoeveelheid">
            <a:extLst xmlns:a="http://schemas.openxmlformats.org/drawingml/2006/main">
              <a:ext uri="{FF2B5EF4-FFF2-40B4-BE49-F238E27FC236}">
                <a16:creationId xmlns:a16="http://schemas.microsoft.com/office/drawing/2014/main" id="{E0DE29D0-949D-4983-B182-FDC0767A7293}"/>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25a · Nieuw aanbod en nieuwe hoeveelheid</a:t>
            </a:r>
          </a:p>
        </p:txBody>
      </p:sp>
      <p:sp>
        <p:nvSpPr>
          <p:cNvPr id="2" name="">
            <a:extLst xmlns:a="http://schemas.openxmlformats.org/drawingml/2006/main">
              <a:ext uri="{FF2B5EF4-FFF2-40B4-BE49-F238E27FC236}">
                <a16:creationId xmlns:a16="http://schemas.microsoft.com/office/drawing/2014/main" id="{E81859FF-23C4-4472-9D34-DCC32FA2C24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1.3 Subsidies">
            <a:extLst xmlns:a="http://schemas.openxmlformats.org/drawingml/2006/main">
              <a:ext uri="{FF2B5EF4-FFF2-40B4-BE49-F238E27FC236}">
                <a16:creationId xmlns:a16="http://schemas.microsoft.com/office/drawing/2014/main" id="{E8ADA9CC-680C-4E82-8E48-62C3A039029B}"/>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§3.1.3 Subsidies</a:t>
            </a:r>
          </a:p>
        </p:txBody>
      </p:sp>
      <p:sp>
        <p:nvSpPr>
          <p:cNvPr id="4" name="21">
            <a:extLst xmlns:a="http://schemas.openxmlformats.org/drawingml/2006/main">
              <a:ext uri="{FF2B5EF4-FFF2-40B4-BE49-F238E27FC236}">
                <a16:creationId xmlns:a16="http://schemas.microsoft.com/office/drawing/2014/main" id="{95FFDBE9-A8CA-4BD1-B713-EAB37E2BE6EE}"/>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21</a:t>
            </a:r>
          </a:p>
        </p:txBody>
      </p:sp>
      <p:sp>
        <p:nvSpPr>
          <p:cNvPr id="5" name="Pc = Pp − 3 = 5 + 0,10Q">
            <a:extLst xmlns:a="http://schemas.openxmlformats.org/drawingml/2006/main">
              <a:ext uri="{FF2B5EF4-FFF2-40B4-BE49-F238E27FC236}">
                <a16:creationId xmlns:a16="http://schemas.microsoft.com/office/drawing/2014/main" id="{8D212DB9-D698-4FB0-9944-3E90AAB7916A}"/>
              </a:ext>
            </a:extLst>
          </p:cNvPr>
          <p:cNvSpPr>
            <a:spLocks xmlns:a="http://schemas.openxmlformats.org/drawingml/2006/main" noGrp="1"/>
          </p:cNvSpPr>
          <p:nvPr/>
        </p:nvSpPr>
        <p:spPr>
          <a:xfrm xmlns:a="http://schemas.openxmlformats.org/drawingml/2006/main">
            <a:off x="571500" y="2095500"/>
            <a:ext cx="14097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Pc = Pp − 3 = 5 + 0,10Q</a:t>
            </a:r>
          </a:p>
        </p:txBody>
      </p:sp>
      <p:sp>
        <p:nvSpPr>
          <p:cNvPr id="6" name="26 − 0,20Q = 5 + 0,10Q">
            <a:extLst xmlns:a="http://schemas.openxmlformats.org/drawingml/2006/main">
              <a:ext uri="{FF2B5EF4-FFF2-40B4-BE49-F238E27FC236}">
                <a16:creationId xmlns:a16="http://schemas.microsoft.com/office/drawing/2014/main" id="{FB475AF1-18E5-45DE-BFE3-A909FCBFDF91}"/>
              </a:ext>
            </a:extLst>
          </p:cNvPr>
          <p:cNvSpPr>
            <a:spLocks xmlns:a="http://schemas.openxmlformats.org/drawingml/2006/main" noGrp="1"/>
          </p:cNvSpPr>
          <p:nvPr/>
        </p:nvSpPr>
        <p:spPr>
          <a:xfrm xmlns:a="http://schemas.openxmlformats.org/drawingml/2006/main">
            <a:off x="571500" y="3429000"/>
            <a:ext cx="14097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26 − 0,20Q = 5 + 0,10Q</a:t>
            </a:r>
          </a:p>
        </p:txBody>
      </p:sp>
      <p:sp>
        <p:nvSpPr>
          <p:cNvPr id="7" name="21 = 0,30Q">
            <a:extLst xmlns:a="http://schemas.openxmlformats.org/drawingml/2006/main">
              <a:ext uri="{FF2B5EF4-FFF2-40B4-BE49-F238E27FC236}">
                <a16:creationId xmlns:a16="http://schemas.microsoft.com/office/drawing/2014/main" id="{0C17DDBE-7D84-435B-A143-7D7C55130214}"/>
              </a:ext>
            </a:extLst>
          </p:cNvPr>
          <p:cNvSpPr>
            <a:spLocks xmlns:a="http://schemas.openxmlformats.org/drawingml/2006/main" noGrp="1"/>
          </p:cNvSpPr>
          <p:nvPr/>
        </p:nvSpPr>
        <p:spPr>
          <a:xfrm xmlns:a="http://schemas.openxmlformats.org/drawingml/2006/main">
            <a:off x="571500" y="4762500"/>
            <a:ext cx="14097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21 = 0,30Q</a:t>
            </a:r>
          </a:p>
        </p:txBody>
      </p:sp>
      <p:sp>
        <p:nvSpPr>
          <p:cNvPr id="8" name="Qsub = 70 cursusplaatsen per week">
            <a:extLst xmlns:a="http://schemas.openxmlformats.org/drawingml/2006/main">
              <a:ext uri="{FF2B5EF4-FFF2-40B4-BE49-F238E27FC236}">
                <a16:creationId xmlns:a16="http://schemas.microsoft.com/office/drawing/2014/main" id="{10FF1CBE-08A9-485B-BEE8-6AC6FEA8BB50}"/>
              </a:ext>
            </a:extLst>
          </p:cNvPr>
          <p:cNvSpPr>
            <a:spLocks xmlns:a="http://schemas.openxmlformats.org/drawingml/2006/main" noGrp="1"/>
          </p:cNvSpPr>
          <p:nvPr/>
        </p:nvSpPr>
        <p:spPr>
          <a:xfrm xmlns:a="http://schemas.openxmlformats.org/drawingml/2006/main">
            <a:off x="571500" y="6096000"/>
            <a:ext cx="14097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658A"/>
                </a:solidFill>
                <a:latin typeface="Arial"/>
                <a:ea typeface="Arial"/>
                <a:cs typeface="Arial"/>
              </a:defRPr>
            </a:pPr>
            <a:r>
              <a:rPr sz="3225" b="1">
                <a:solidFill>
                  <a:srgbClr val="17658A"/>
                </a:solidFill>
                <a:latin typeface="Arial"/>
                <a:ea typeface="Arial"/>
                <a:cs typeface="Arial"/>
              </a:rPr>
              <a:t>Qsub = 70 cursusplaatsen per week</a:t>
            </a:r>
          </a:p>
        </p:txBody>
      </p:sp>
    </p:spTree>
    <p:extLst>
      <p:ext uri="{BB962C8B-B14F-4D97-AF65-F5344CB8AC3E}">
        <p14:creationId xmlns:p14="http://schemas.microsoft.com/office/powerpoint/2010/main" val="1003857489"/>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25a · Beide prijzen en de controle">
            <a:extLst xmlns:a="http://schemas.openxmlformats.org/drawingml/2006/main">
              <a:ext uri="{FF2B5EF4-FFF2-40B4-BE49-F238E27FC236}">
                <a16:creationId xmlns:a16="http://schemas.microsoft.com/office/drawing/2014/main" id="{EC6E2ED6-3E62-4838-9A62-C1CEAFA2F76D}"/>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25a · Beide prijzen en de controle</a:t>
            </a:r>
          </a:p>
        </p:txBody>
      </p:sp>
      <p:sp>
        <p:nvSpPr>
          <p:cNvPr id="2" name="">
            <a:extLst xmlns:a="http://schemas.openxmlformats.org/drawingml/2006/main">
              <a:ext uri="{FF2B5EF4-FFF2-40B4-BE49-F238E27FC236}">
                <a16:creationId xmlns:a16="http://schemas.microsoft.com/office/drawing/2014/main" id="{69FAB2CA-604E-4680-A0A0-456AEC81E084}"/>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1.3 Subsidies">
            <a:extLst xmlns:a="http://schemas.openxmlformats.org/drawingml/2006/main">
              <a:ext uri="{FF2B5EF4-FFF2-40B4-BE49-F238E27FC236}">
                <a16:creationId xmlns:a16="http://schemas.microsoft.com/office/drawing/2014/main" id="{8CFAE690-B259-49AA-A560-65235F17BD4B}"/>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§3.1.3 Subsidies</a:t>
            </a:r>
          </a:p>
        </p:txBody>
      </p:sp>
      <p:sp>
        <p:nvSpPr>
          <p:cNvPr id="4" name="22">
            <a:extLst xmlns:a="http://schemas.openxmlformats.org/drawingml/2006/main">
              <a:ext uri="{FF2B5EF4-FFF2-40B4-BE49-F238E27FC236}">
                <a16:creationId xmlns:a16="http://schemas.microsoft.com/office/drawing/2014/main" id="{E5DCE460-D277-4300-96A4-E6B1B9E752EB}"/>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22</a:t>
            </a:r>
          </a:p>
        </p:txBody>
      </p:sp>
      <p:sp>
        <p:nvSpPr>
          <p:cNvPr id="5" name="Pc = 26 − 0,20 × 70 = € 12">
            <a:extLst xmlns:a="http://schemas.openxmlformats.org/drawingml/2006/main">
              <a:ext uri="{FF2B5EF4-FFF2-40B4-BE49-F238E27FC236}">
                <a16:creationId xmlns:a16="http://schemas.microsoft.com/office/drawing/2014/main" id="{82D75A6C-7014-4261-960C-3D18C6954B28}"/>
              </a:ext>
            </a:extLst>
          </p:cNvPr>
          <p:cNvSpPr>
            <a:spLocks xmlns:a="http://schemas.openxmlformats.org/drawingml/2006/main" noGrp="1"/>
          </p:cNvSpPr>
          <p:nvPr/>
        </p:nvSpPr>
        <p:spPr>
          <a:xfrm xmlns:a="http://schemas.openxmlformats.org/drawingml/2006/main">
            <a:off x="571500" y="2476500"/>
            <a:ext cx="140970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183247"/>
                </a:solidFill>
                <a:latin typeface="Arial"/>
                <a:ea typeface="Arial"/>
                <a:cs typeface="Arial"/>
              </a:defRPr>
            </a:pPr>
            <a:r>
              <a:rPr sz="3300" b="0">
                <a:solidFill>
                  <a:srgbClr val="183247"/>
                </a:solidFill>
                <a:latin typeface="Arial"/>
                <a:ea typeface="Arial"/>
                <a:cs typeface="Arial"/>
              </a:rPr>
              <a:t>Pc = 26 − 0,20 × 70 = € 12</a:t>
            </a:r>
          </a:p>
        </p:txBody>
      </p:sp>
      <p:sp>
        <p:nvSpPr>
          <p:cNvPr id="6" name="Pp = 8 + 0,10 × 70 = € 15">
            <a:extLst xmlns:a="http://schemas.openxmlformats.org/drawingml/2006/main">
              <a:ext uri="{FF2B5EF4-FFF2-40B4-BE49-F238E27FC236}">
                <a16:creationId xmlns:a16="http://schemas.microsoft.com/office/drawing/2014/main" id="{3495D373-613E-4233-963E-48DA4055F27D}"/>
              </a:ext>
            </a:extLst>
          </p:cNvPr>
          <p:cNvSpPr>
            <a:spLocks xmlns:a="http://schemas.openxmlformats.org/drawingml/2006/main" noGrp="1"/>
          </p:cNvSpPr>
          <p:nvPr/>
        </p:nvSpPr>
        <p:spPr>
          <a:xfrm xmlns:a="http://schemas.openxmlformats.org/drawingml/2006/main">
            <a:off x="571500" y="4000500"/>
            <a:ext cx="140970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183247"/>
                </a:solidFill>
                <a:latin typeface="Arial"/>
                <a:ea typeface="Arial"/>
                <a:cs typeface="Arial"/>
              </a:defRPr>
            </a:pPr>
            <a:r>
              <a:rPr sz="3300" b="0">
                <a:solidFill>
                  <a:srgbClr val="183247"/>
                </a:solidFill>
                <a:latin typeface="Arial"/>
                <a:ea typeface="Arial"/>
                <a:cs typeface="Arial"/>
              </a:rPr>
              <a:t>Pp = 8 + 0,10 × 70 = € 15</a:t>
            </a:r>
          </a:p>
        </p:txBody>
      </p:sp>
      <p:sp>
        <p:nvSpPr>
          <p:cNvPr id="7" name="Pp − Pc = 15 − 12 = € 3 per cursusplaats">
            <a:extLst xmlns:a="http://schemas.openxmlformats.org/drawingml/2006/main">
              <a:ext uri="{FF2B5EF4-FFF2-40B4-BE49-F238E27FC236}">
                <a16:creationId xmlns:a16="http://schemas.microsoft.com/office/drawing/2014/main" id="{C99A1779-59CE-4630-9E40-50AE91A68096}"/>
              </a:ext>
            </a:extLst>
          </p:cNvPr>
          <p:cNvSpPr>
            <a:spLocks xmlns:a="http://schemas.openxmlformats.org/drawingml/2006/main" noGrp="1"/>
          </p:cNvSpPr>
          <p:nvPr/>
        </p:nvSpPr>
        <p:spPr>
          <a:xfrm xmlns:a="http://schemas.openxmlformats.org/drawingml/2006/main">
            <a:off x="571500" y="5524500"/>
            <a:ext cx="140970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658A"/>
                </a:solidFill>
                <a:latin typeface="Arial"/>
                <a:ea typeface="Arial"/>
                <a:cs typeface="Arial"/>
              </a:defRPr>
            </a:pPr>
            <a:r>
              <a:rPr sz="3300" b="1">
                <a:solidFill>
                  <a:srgbClr val="17658A"/>
                </a:solidFill>
                <a:latin typeface="Arial"/>
                <a:ea typeface="Arial"/>
                <a:cs typeface="Arial"/>
              </a:rPr>
              <a:t>Pp − Pc = 15 − 12 = € 3 per cursusplaats</a:t>
            </a:r>
          </a:p>
        </p:txBody>
      </p:sp>
    </p:spTree>
    <p:extLst>
      <p:ext uri="{BB962C8B-B14F-4D97-AF65-F5344CB8AC3E}">
        <p14:creationId xmlns:p14="http://schemas.microsoft.com/office/powerpoint/2010/main" val="941652093"/>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25b · De overheidsuitgaven">
            <a:extLst xmlns:a="http://schemas.openxmlformats.org/drawingml/2006/main">
              <a:ext uri="{FF2B5EF4-FFF2-40B4-BE49-F238E27FC236}">
                <a16:creationId xmlns:a16="http://schemas.microsoft.com/office/drawing/2014/main" id="{EB80A91D-26C2-4022-B0BD-893F77F0B320}"/>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25b · De overheidsuitgaven</a:t>
            </a:r>
          </a:p>
        </p:txBody>
      </p:sp>
      <p:sp>
        <p:nvSpPr>
          <p:cNvPr id="2" name="">
            <a:extLst xmlns:a="http://schemas.openxmlformats.org/drawingml/2006/main">
              <a:ext uri="{FF2B5EF4-FFF2-40B4-BE49-F238E27FC236}">
                <a16:creationId xmlns:a16="http://schemas.microsoft.com/office/drawing/2014/main" id="{3F3DA326-8D36-49F2-896B-552B7A647E82}"/>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1.3 Subsidies">
            <a:extLst xmlns:a="http://schemas.openxmlformats.org/drawingml/2006/main">
              <a:ext uri="{FF2B5EF4-FFF2-40B4-BE49-F238E27FC236}">
                <a16:creationId xmlns:a16="http://schemas.microsoft.com/office/drawing/2014/main" id="{67D8190E-FD2A-4E23-89F0-360253A3C982}"/>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§3.1.3 Subsidies</a:t>
            </a:r>
          </a:p>
        </p:txBody>
      </p:sp>
      <p:sp>
        <p:nvSpPr>
          <p:cNvPr id="4" name="23">
            <a:extLst xmlns:a="http://schemas.openxmlformats.org/drawingml/2006/main">
              <a:ext uri="{FF2B5EF4-FFF2-40B4-BE49-F238E27FC236}">
                <a16:creationId xmlns:a16="http://schemas.microsoft.com/office/drawing/2014/main" id="{29A45215-AC88-4EB0-A53E-E9D7B8C4D945}"/>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23</a:t>
            </a:r>
          </a:p>
        </p:txBody>
      </p:sp>
      <p:sp>
        <p:nvSpPr>
          <p:cNvPr id="5" name="U = s × Qsub">
            <a:extLst xmlns:a="http://schemas.openxmlformats.org/drawingml/2006/main">
              <a:ext uri="{FF2B5EF4-FFF2-40B4-BE49-F238E27FC236}">
                <a16:creationId xmlns:a16="http://schemas.microsoft.com/office/drawing/2014/main" id="{60C7220C-2CFC-4238-9ABA-ECFFF878FBD2}"/>
              </a:ext>
            </a:extLst>
          </p:cNvPr>
          <p:cNvSpPr>
            <a:spLocks xmlns:a="http://schemas.openxmlformats.org/drawingml/2006/main" noGrp="1"/>
          </p:cNvSpPr>
          <p:nvPr/>
        </p:nvSpPr>
        <p:spPr>
          <a:xfrm xmlns:a="http://schemas.openxmlformats.org/drawingml/2006/main">
            <a:off x="571500" y="2381250"/>
            <a:ext cx="14097000"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183247"/>
                </a:solidFill>
                <a:latin typeface="Arial"/>
                <a:ea typeface="Arial"/>
                <a:cs typeface="Arial"/>
              </a:defRPr>
            </a:pPr>
            <a:r>
              <a:rPr sz="3300" b="0">
                <a:solidFill>
                  <a:srgbClr val="183247"/>
                </a:solidFill>
                <a:latin typeface="Arial"/>
                <a:ea typeface="Arial"/>
                <a:cs typeface="Arial"/>
              </a:rPr>
              <a:t>U = s × Qsub</a:t>
            </a:r>
          </a:p>
        </p:txBody>
      </p:sp>
      <p:sp>
        <p:nvSpPr>
          <p:cNvPr id="6" name="U = € 3 per plaats × 70 plaatsen per week">
            <a:extLst xmlns:a="http://schemas.openxmlformats.org/drawingml/2006/main">
              <a:ext uri="{FF2B5EF4-FFF2-40B4-BE49-F238E27FC236}">
                <a16:creationId xmlns:a16="http://schemas.microsoft.com/office/drawing/2014/main" id="{CB19AD2F-0634-43AF-8B19-FD0EB6023FC0}"/>
              </a:ext>
            </a:extLst>
          </p:cNvPr>
          <p:cNvSpPr>
            <a:spLocks xmlns:a="http://schemas.openxmlformats.org/drawingml/2006/main" noGrp="1"/>
          </p:cNvSpPr>
          <p:nvPr/>
        </p:nvSpPr>
        <p:spPr>
          <a:xfrm xmlns:a="http://schemas.openxmlformats.org/drawingml/2006/main">
            <a:off x="571500" y="3857625"/>
            <a:ext cx="14097000"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183247"/>
                </a:solidFill>
                <a:latin typeface="Arial"/>
                <a:ea typeface="Arial"/>
                <a:cs typeface="Arial"/>
              </a:defRPr>
            </a:pPr>
            <a:r>
              <a:rPr sz="3300" b="0">
                <a:solidFill>
                  <a:srgbClr val="183247"/>
                </a:solidFill>
                <a:latin typeface="Arial"/>
                <a:ea typeface="Arial"/>
                <a:cs typeface="Arial"/>
              </a:rPr>
              <a:t>U = € 3 per plaats × 70 plaatsen per week</a:t>
            </a:r>
          </a:p>
        </p:txBody>
      </p:sp>
      <p:sp>
        <p:nvSpPr>
          <p:cNvPr id="7" name="U = € 210 per week">
            <a:extLst xmlns:a="http://schemas.openxmlformats.org/drawingml/2006/main">
              <a:ext uri="{FF2B5EF4-FFF2-40B4-BE49-F238E27FC236}">
                <a16:creationId xmlns:a16="http://schemas.microsoft.com/office/drawing/2014/main" id="{7589879E-B451-4E70-893C-1D7228AC919E}"/>
              </a:ext>
            </a:extLst>
          </p:cNvPr>
          <p:cNvSpPr>
            <a:spLocks xmlns:a="http://schemas.openxmlformats.org/drawingml/2006/main" noGrp="1"/>
          </p:cNvSpPr>
          <p:nvPr/>
        </p:nvSpPr>
        <p:spPr>
          <a:xfrm xmlns:a="http://schemas.openxmlformats.org/drawingml/2006/main">
            <a:off x="571500" y="5334000"/>
            <a:ext cx="14097000"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658A"/>
                </a:solidFill>
                <a:latin typeface="Arial"/>
                <a:ea typeface="Arial"/>
                <a:cs typeface="Arial"/>
              </a:defRPr>
            </a:pPr>
            <a:r>
              <a:rPr sz="3300" b="1">
                <a:solidFill>
                  <a:srgbClr val="17658A"/>
                </a:solidFill>
                <a:latin typeface="Arial"/>
                <a:ea typeface="Arial"/>
                <a:cs typeface="Arial"/>
              </a:rPr>
              <a:t>U = € 210 per week</a:t>
            </a:r>
          </a:p>
        </p:txBody>
      </p:sp>
      <p:sp>
        <p:nvSpPr>
          <p:cNvPr id="8" name="De subsidie geldt voor alle 70 verkochte cursusplaatsen">
            <a:extLst xmlns:a="http://schemas.openxmlformats.org/drawingml/2006/main">
              <a:ext uri="{FF2B5EF4-FFF2-40B4-BE49-F238E27FC236}">
                <a16:creationId xmlns:a16="http://schemas.microsoft.com/office/drawing/2014/main" id="{EB47080B-2754-4DFA-BA7E-8803ED97C425}"/>
              </a:ext>
            </a:extLst>
          </p:cNvPr>
          <p:cNvSpPr>
            <a:spLocks xmlns:a="http://schemas.openxmlformats.org/drawingml/2006/main" noGrp="1"/>
          </p:cNvSpPr>
          <p:nvPr/>
        </p:nvSpPr>
        <p:spPr>
          <a:xfrm xmlns:a="http://schemas.openxmlformats.org/drawingml/2006/main">
            <a:off x="571500" y="7210425"/>
            <a:ext cx="14097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A94D16"/>
                </a:solidFill>
                <a:latin typeface="Arial"/>
                <a:ea typeface="Arial"/>
                <a:cs typeface="Arial"/>
              </a:defRPr>
            </a:pPr>
            <a:r>
              <a:rPr sz="2850" b="1">
                <a:solidFill>
                  <a:srgbClr val="A94D16"/>
                </a:solidFill>
                <a:latin typeface="Arial"/>
                <a:ea typeface="Arial"/>
                <a:cs typeface="Arial"/>
              </a:rPr>
              <a:t>De subsidie geldt voor alle 70 verkochte cursusplaatsen.</a:t>
            </a:r>
          </a:p>
        </p:txBody>
      </p:sp>
    </p:spTree>
    <p:extLst>
      <p:ext uri="{BB962C8B-B14F-4D97-AF65-F5344CB8AC3E}">
        <p14:creationId xmlns:p14="http://schemas.microsoft.com/office/powerpoint/2010/main" val="931361896"/>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25c · Wie krijgt het voordeel?">
            <a:extLst xmlns:a="http://schemas.openxmlformats.org/drawingml/2006/main">
              <a:ext uri="{FF2B5EF4-FFF2-40B4-BE49-F238E27FC236}">
                <a16:creationId xmlns:a16="http://schemas.microsoft.com/office/drawing/2014/main" id="{9FB06086-32A7-40D9-873E-67B6C093C05F}"/>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25c · Wie krijgt het voordeel?</a:t>
            </a:r>
          </a:p>
        </p:txBody>
      </p:sp>
      <p:sp>
        <p:nvSpPr>
          <p:cNvPr id="2" name="">
            <a:extLst xmlns:a="http://schemas.openxmlformats.org/drawingml/2006/main">
              <a:ext uri="{FF2B5EF4-FFF2-40B4-BE49-F238E27FC236}">
                <a16:creationId xmlns:a16="http://schemas.microsoft.com/office/drawing/2014/main" id="{86824190-B600-46F9-9D81-16F332512337}"/>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1.3 Subsidies">
            <a:extLst xmlns:a="http://schemas.openxmlformats.org/drawingml/2006/main">
              <a:ext uri="{FF2B5EF4-FFF2-40B4-BE49-F238E27FC236}">
                <a16:creationId xmlns:a16="http://schemas.microsoft.com/office/drawing/2014/main" id="{92A2CC2F-3852-4FBA-B942-63DE5161AC79}"/>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§3.1.3 Subsidies</a:t>
            </a:r>
          </a:p>
        </p:txBody>
      </p:sp>
      <p:sp>
        <p:nvSpPr>
          <p:cNvPr id="4" name="24">
            <a:extLst xmlns:a="http://schemas.openxmlformats.org/drawingml/2006/main">
              <a:ext uri="{FF2B5EF4-FFF2-40B4-BE49-F238E27FC236}">
                <a16:creationId xmlns:a16="http://schemas.microsoft.com/office/drawing/2014/main" id="{A453A15D-AFA1-48F4-A2F1-291FE45B47BE}"/>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24</a:t>
            </a:r>
          </a:p>
        </p:txBody>
      </p:sp>
      <p:graphicFrame>
        <p:nvGraphicFramePr>
          <p:cNvPr id="11" name=""/>
          <p:cNvGraphicFramePr/>
          <p:nvPr/>
        </p:nvGraphicFramePr>
        <p:xfrm>
          <a:off xmlns:a="http://schemas.openxmlformats.org/drawingml/2006/main" x="571500" y="2295525"/>
          <a:ext xmlns:a="http://schemas.openxmlformats.org/drawingml/2006/main" cx="14097000" cy="3238500"/>
        </p:xfrm>
        <a:graphic xmlns:a="http://schemas.openxmlformats.org/drawingml/2006/main">
          <a:graphicData uri="http://schemas.openxmlformats.org/drawingml/2006/table">
            <a:tbl>
              <a:tblPr/>
              <a:tblGrid>
                <a:gridCol w="4476750"/>
                <a:gridCol w="5810250"/>
                <a:gridCol w="3810000"/>
              </a:tblGrid>
              <a:tr h="1079500">
                <a:tc>
                  <a:txBody>
                    <a:bodyPr lIns="171450" tIns="95250" rIns="152400" bIns="95250"/>
                    <a:lstStyle/>
                    <a:p>
                      <a:r>
                        <a:rPr sz="2700" b="1">
                          <a:solidFill>
                            <a:srgbClr val="FFFFFF"/>
                          </a:solidFill>
                          <a:latin typeface="Arial"/>
                          <a:ea typeface="Arial"/>
                          <a:cs typeface="Arial"/>
                        </a:rPr>
                        <a:t>Per cursusplaats</a:t>
                      </a:r>
                    </a:p>
                  </a:txBody>
                  <a:tcPr marL="91440" marR="91440" marT="45720" marB="45720" anchor="ctr">
                    <a:solidFill>
                      <a:srgbClr val="183247"/>
                    </a:solidFill>
                  </a:tcPr>
                </a:tc>
                <a:tc>
                  <a:txBody>
                    <a:bodyPr lIns="171450" tIns="95250" rIns="152400" bIns="95250"/>
                    <a:lstStyle/>
                    <a:p>
                      <a:r>
                        <a:rPr sz="2700" b="1">
                          <a:solidFill>
                            <a:srgbClr val="FFFFFF"/>
                          </a:solidFill>
                          <a:latin typeface="Arial"/>
                          <a:ea typeface="Arial"/>
                          <a:cs typeface="Arial"/>
                        </a:rPr>
                        <a:t>Berekening</a:t>
                      </a:r>
                    </a:p>
                  </a:txBody>
                  <a:tcPr marL="91440" marR="91440" marT="45720" marB="45720" anchor="ctr">
                    <a:solidFill>
                      <a:srgbClr val="183247"/>
                    </a:solidFill>
                  </a:tcPr>
                </a:tc>
                <a:tc>
                  <a:txBody>
                    <a:bodyPr lIns="171450" tIns="95250" rIns="152400" bIns="95250"/>
                    <a:lstStyle/>
                    <a:p>
                      <a:r>
                        <a:rPr sz="2700" b="1">
                          <a:solidFill>
                            <a:srgbClr val="FFFFFF"/>
                          </a:solidFill>
                          <a:latin typeface="Arial"/>
                          <a:ea typeface="Arial"/>
                          <a:cs typeface="Arial"/>
                        </a:rPr>
                        <a:t>Voordeel</a:t>
                      </a:r>
                    </a:p>
                  </a:txBody>
                  <a:tcPr marL="91440" marR="91440" marT="45720" marB="45720" anchor="ctr">
                    <a:solidFill>
                      <a:srgbClr val="183247"/>
                    </a:solidFill>
                  </a:tcPr>
                </a:tc>
              </a:tr>
              <a:tr h="1079500">
                <a:tc>
                  <a:txBody>
                    <a:bodyPr lIns="171450" tIns="95250" rIns="152400" bIns="95250"/>
                    <a:lstStyle/>
                    <a:p>
                      <a:r>
                        <a:rPr sz="2700" b="0">
                          <a:solidFill>
                            <a:srgbClr val="183247"/>
                          </a:solidFill>
                          <a:latin typeface="Arial"/>
                          <a:ea typeface="Arial"/>
                          <a:cs typeface="Arial"/>
                        </a:rPr>
                        <a:t>Koper</a:t>
                      </a:r>
                    </a:p>
                  </a:txBody>
                  <a:tcPr marL="91440" marR="91440" marT="45720" marB="45720" anchor="ctr">
                    <a:solidFill>
                      <a:srgbClr val="FFFFFF"/>
                    </a:solidFill>
                  </a:tcPr>
                </a:tc>
                <a:tc>
                  <a:txBody>
                    <a:bodyPr lIns="171450" tIns="95250" rIns="152400" bIns="95250"/>
                    <a:lstStyle/>
                    <a:p>
                      <a:r>
                        <a:rPr sz="2700" b="0">
                          <a:solidFill>
                            <a:srgbClr val="183247"/>
                          </a:solidFill>
                          <a:latin typeface="Arial"/>
                          <a:ea typeface="Arial"/>
                          <a:cs typeface="Arial"/>
                        </a:rPr>
                        <a:t>P₀ − Pc = 14 − 12</a:t>
                      </a:r>
                    </a:p>
                  </a:txBody>
                  <a:tcPr marL="91440" marR="91440" marT="45720" marB="45720" anchor="ctr">
                    <a:solidFill>
                      <a:srgbClr val="FFFFFF"/>
                    </a:solidFill>
                  </a:tcPr>
                </a:tc>
                <a:tc>
                  <a:txBody>
                    <a:bodyPr lIns="171450" tIns="95250" rIns="152400" bIns="95250"/>
                    <a:lstStyle/>
                    <a:p>
                      <a:r>
                        <a:rPr sz="2700" b="0">
                          <a:solidFill>
                            <a:srgbClr val="183247"/>
                          </a:solidFill>
                          <a:latin typeface="Arial"/>
                          <a:ea typeface="Arial"/>
                          <a:cs typeface="Arial"/>
                        </a:rPr>
                        <a:t>€ 2</a:t>
                      </a:r>
                    </a:p>
                  </a:txBody>
                  <a:tcPr marL="91440" marR="91440" marT="45720" marB="45720" anchor="ctr">
                    <a:solidFill>
                      <a:srgbClr val="FFFFFF"/>
                    </a:solidFill>
                  </a:tcPr>
                </a:tc>
              </a:tr>
              <a:tr h="1079500">
                <a:tc>
                  <a:txBody>
                    <a:bodyPr lIns="171450" tIns="95250" rIns="152400" bIns="95250"/>
                    <a:lstStyle/>
                    <a:p>
                      <a:r>
                        <a:rPr sz="2700" b="0">
                          <a:solidFill>
                            <a:srgbClr val="183247"/>
                          </a:solidFill>
                          <a:latin typeface="Arial"/>
                          <a:ea typeface="Arial"/>
                          <a:cs typeface="Arial"/>
                        </a:rPr>
                        <a:t>Aanbieder</a:t>
                      </a:r>
                    </a:p>
                  </a:txBody>
                  <a:tcPr marL="91440" marR="91440" marT="45720" marB="45720" anchor="ctr">
                    <a:solidFill>
                      <a:srgbClr val="EFF4F7"/>
                    </a:solidFill>
                  </a:tcPr>
                </a:tc>
                <a:tc>
                  <a:txBody>
                    <a:bodyPr lIns="171450" tIns="95250" rIns="152400" bIns="95250"/>
                    <a:lstStyle/>
                    <a:p>
                      <a:r>
                        <a:rPr sz="2700" b="0">
                          <a:solidFill>
                            <a:srgbClr val="183247"/>
                          </a:solidFill>
                          <a:latin typeface="Arial"/>
                          <a:ea typeface="Arial"/>
                          <a:cs typeface="Arial"/>
                        </a:rPr>
                        <a:t>Pp − P₀ = 15 − 14</a:t>
                      </a:r>
                    </a:p>
                  </a:txBody>
                  <a:tcPr marL="91440" marR="91440" marT="45720" marB="45720" anchor="ctr">
                    <a:solidFill>
                      <a:srgbClr val="EFF4F7"/>
                    </a:solidFill>
                  </a:tcPr>
                </a:tc>
                <a:tc>
                  <a:txBody>
                    <a:bodyPr lIns="171450" tIns="95250" rIns="152400" bIns="95250"/>
                    <a:lstStyle/>
                    <a:p>
                      <a:r>
                        <a:rPr sz="2700" b="0">
                          <a:solidFill>
                            <a:srgbClr val="183247"/>
                          </a:solidFill>
                          <a:latin typeface="Arial"/>
                          <a:ea typeface="Arial"/>
                          <a:cs typeface="Arial"/>
                        </a:rPr>
                        <a:t>€ 1</a:t>
                      </a:r>
                    </a:p>
                  </a:txBody>
                  <a:tcPr marL="91440" marR="91440" marT="45720" marB="45720" anchor="ctr">
                    <a:solidFill>
                      <a:srgbClr val="EFF4F7"/>
                    </a:solidFill>
                  </a:tcPr>
                </a:tc>
              </a:tr>
            </a:tbl>
          </a:graphicData>
        </a:graphic>
      </p:graphicFrame>
      <p:sp>
        <p:nvSpPr>
          <p:cNvPr id="6" name="De lagere kopersprijs geeft ook de koper een deel van h">
            <a:extLst xmlns:a="http://schemas.openxmlformats.org/drawingml/2006/main">
              <a:ext uri="{FF2B5EF4-FFF2-40B4-BE49-F238E27FC236}">
                <a16:creationId xmlns:a16="http://schemas.microsoft.com/office/drawing/2014/main" id="{5D186255-2A69-4453-8456-E13A17E33B53}"/>
              </a:ext>
            </a:extLst>
          </p:cNvPr>
          <p:cNvSpPr>
            <a:spLocks xmlns:a="http://schemas.openxmlformats.org/drawingml/2006/main" noGrp="1"/>
          </p:cNvSpPr>
          <p:nvPr/>
        </p:nvSpPr>
        <p:spPr>
          <a:xfrm xmlns:a="http://schemas.openxmlformats.org/drawingml/2006/main">
            <a:off x="571500" y="6257925"/>
            <a:ext cx="14097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De lagere kopersprijs geeft ook de koper een deel van het voordeel.</a:t>
            </a:r>
          </a:p>
        </p:txBody>
      </p:sp>
    </p:spTree>
    <p:extLst>
      <p:ext uri="{BB962C8B-B14F-4D97-AF65-F5344CB8AC3E}">
        <p14:creationId xmlns:p14="http://schemas.microsoft.com/office/powerpoint/2010/main" val="1851164355"/>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25d · CS en PS na subsidie">
            <a:extLst xmlns:a="http://schemas.openxmlformats.org/drawingml/2006/main">
              <a:ext uri="{FF2B5EF4-FFF2-40B4-BE49-F238E27FC236}">
                <a16:creationId xmlns:a16="http://schemas.microsoft.com/office/drawing/2014/main" id="{2D6600F3-276C-4BF0-AA17-170CA3984600}"/>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25d · CS en PS na subsidie</a:t>
            </a:r>
          </a:p>
        </p:txBody>
      </p:sp>
      <p:sp>
        <p:nvSpPr>
          <p:cNvPr id="2" name="">
            <a:extLst xmlns:a="http://schemas.openxmlformats.org/drawingml/2006/main">
              <a:ext uri="{FF2B5EF4-FFF2-40B4-BE49-F238E27FC236}">
                <a16:creationId xmlns:a16="http://schemas.microsoft.com/office/drawing/2014/main" id="{8B556D1E-CDBC-494F-A1B8-B42E4FC4250A}"/>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1.3 Subsidies">
            <a:extLst xmlns:a="http://schemas.openxmlformats.org/drawingml/2006/main">
              <a:ext uri="{FF2B5EF4-FFF2-40B4-BE49-F238E27FC236}">
                <a16:creationId xmlns:a16="http://schemas.microsoft.com/office/drawing/2014/main" id="{3B1CB995-2E2B-44A2-96D0-4BB848BCBE90}"/>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§3.1.3 Subsidies</a:t>
            </a:r>
          </a:p>
        </p:txBody>
      </p:sp>
      <p:sp>
        <p:nvSpPr>
          <p:cNvPr id="4" name="25">
            <a:extLst xmlns:a="http://schemas.openxmlformats.org/drawingml/2006/main">
              <a:ext uri="{FF2B5EF4-FFF2-40B4-BE49-F238E27FC236}">
                <a16:creationId xmlns:a16="http://schemas.microsoft.com/office/drawing/2014/main" id="{3E4ADA37-E2BF-40FA-88B1-11DD755B3435}"/>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25</a:t>
            </a:r>
          </a:p>
        </p:txBody>
      </p:sp>
      <p:sp>
        <p:nvSpPr>
          <p:cNvPr id="5" name="Basis: 70 cursusplaatsen per week">
            <a:extLst xmlns:a="http://schemas.openxmlformats.org/drawingml/2006/main">
              <a:ext uri="{FF2B5EF4-FFF2-40B4-BE49-F238E27FC236}">
                <a16:creationId xmlns:a16="http://schemas.microsoft.com/office/drawing/2014/main" id="{0BC4CC69-DF6D-4FDF-9C0D-52222C28BB72}"/>
              </a:ext>
            </a:extLst>
          </p:cNvPr>
          <p:cNvSpPr>
            <a:spLocks xmlns:a="http://schemas.openxmlformats.org/drawingml/2006/main" noGrp="1"/>
          </p:cNvSpPr>
          <p:nvPr/>
        </p:nvSpPr>
        <p:spPr>
          <a:xfrm xmlns:a="http://schemas.openxmlformats.org/drawingml/2006/main">
            <a:off x="571500" y="1857375"/>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Basis: 70 cursusplaatsen per week</a:t>
            </a:r>
          </a:p>
        </p:txBody>
      </p:sp>
      <p:graphicFrame>
        <p:nvGraphicFramePr>
          <p:cNvPr id="13" name=""/>
          <p:cNvGraphicFramePr/>
          <p:nvPr/>
        </p:nvGraphicFramePr>
        <p:xfrm>
          <a:off xmlns:a="http://schemas.openxmlformats.org/drawingml/2006/main" x="571500" y="2905125"/>
          <a:ext xmlns:a="http://schemas.openxmlformats.org/drawingml/2006/main" cx="14097000" cy="3076575"/>
        </p:xfrm>
        <a:graphic xmlns:a="http://schemas.openxmlformats.org/drawingml/2006/main">
          <a:graphicData uri="http://schemas.openxmlformats.org/drawingml/2006/table">
            <a:tbl>
              <a:tblPr/>
              <a:tblGrid>
                <a:gridCol w="3333750"/>
                <a:gridCol w="7143750"/>
                <a:gridCol w="3619500"/>
              </a:tblGrid>
              <a:tr h="1025525">
                <a:tc>
                  <a:txBody>
                    <a:bodyPr lIns="171450" tIns="95250" rIns="152400" bIns="95250"/>
                    <a:lstStyle/>
                    <a:p>
                      <a:r>
                        <a:rPr sz="2775" b="1">
                          <a:solidFill>
                            <a:srgbClr val="FFFFFF"/>
                          </a:solidFill>
                          <a:latin typeface="Arial"/>
                          <a:ea typeface="Arial"/>
                          <a:cs typeface="Arial"/>
                        </a:rPr>
                        <a:t>Gebied</a:t>
                      </a:r>
                    </a:p>
                  </a:txBody>
                  <a:tcPr marL="91440" marR="91440" marT="45720" marB="45720" anchor="ctr">
                    <a:solidFill>
                      <a:srgbClr val="183247"/>
                    </a:solidFill>
                  </a:tcPr>
                </a:tc>
                <a:tc>
                  <a:txBody>
                    <a:bodyPr lIns="171450" tIns="95250" rIns="152400" bIns="95250"/>
                    <a:lstStyle/>
                    <a:p>
                      <a:r>
                        <a:rPr sz="2775" b="1">
                          <a:solidFill>
                            <a:srgbClr val="FFFFFF"/>
                          </a:solidFill>
                          <a:latin typeface="Arial"/>
                          <a:ea typeface="Arial"/>
                          <a:cs typeface="Arial"/>
                        </a:rPr>
                        <a:t>Berekening</a:t>
                      </a:r>
                    </a:p>
                  </a:txBody>
                  <a:tcPr marL="91440" marR="91440" marT="45720" marB="45720" anchor="ctr">
                    <a:solidFill>
                      <a:srgbClr val="183247"/>
                    </a:solidFill>
                  </a:tcPr>
                </a:tc>
                <a:tc>
                  <a:txBody>
                    <a:bodyPr lIns="171450" tIns="95250" rIns="152400" bIns="95250"/>
                    <a:lstStyle/>
                    <a:p>
                      <a:r>
                        <a:rPr sz="2775" b="1">
                          <a:solidFill>
                            <a:srgbClr val="FFFFFF"/>
                          </a:solidFill>
                          <a:latin typeface="Arial"/>
                          <a:ea typeface="Arial"/>
                          <a:cs typeface="Arial"/>
                        </a:rPr>
                        <a:t>€ per week</a:t>
                      </a:r>
                    </a:p>
                  </a:txBody>
                  <a:tcPr marL="91440" marR="91440" marT="45720" marB="45720" anchor="ctr">
                    <a:solidFill>
                      <a:srgbClr val="183247"/>
                    </a:solidFill>
                  </a:tcPr>
                </a:tc>
              </a:tr>
              <a:tr h="1025525">
                <a:tc>
                  <a:txBody>
                    <a:bodyPr lIns="171450" tIns="95250" rIns="152400" bIns="95250"/>
                    <a:lstStyle/>
                    <a:p>
                      <a:r>
                        <a:rPr sz="2775" b="0">
                          <a:solidFill>
                            <a:srgbClr val="183247"/>
                          </a:solidFill>
                          <a:latin typeface="Arial"/>
                          <a:ea typeface="Arial"/>
                          <a:cs typeface="Arial"/>
                        </a:rPr>
                        <a:t>CS</a:t>
                      </a:r>
                    </a:p>
                  </a:txBody>
                  <a:tcPr marL="91440" marR="91440" marT="45720" marB="45720" anchor="ctr">
                    <a:solidFill>
                      <a:srgbClr val="FFFFFF"/>
                    </a:solidFill>
                  </a:tcPr>
                </a:tc>
                <a:tc>
                  <a:txBody>
                    <a:bodyPr lIns="171450" tIns="95250" rIns="152400" bIns="95250"/>
                    <a:lstStyle/>
                    <a:p>
                      <a:r>
                        <a:rPr sz="2775" b="0">
                          <a:solidFill>
                            <a:srgbClr val="183247"/>
                          </a:solidFill>
                          <a:latin typeface="Arial"/>
                          <a:ea typeface="Arial"/>
                          <a:cs typeface="Arial"/>
                        </a:rPr>
                        <a:t>½ × 70 × (26 − 12)</a:t>
                      </a:r>
                    </a:p>
                  </a:txBody>
                  <a:tcPr marL="91440" marR="91440" marT="45720" marB="45720" anchor="ctr">
                    <a:solidFill>
                      <a:srgbClr val="FFFFFF"/>
                    </a:solidFill>
                  </a:tcPr>
                </a:tc>
                <a:tc>
                  <a:txBody>
                    <a:bodyPr lIns="171450" tIns="95250" rIns="152400" bIns="95250"/>
                    <a:lstStyle/>
                    <a:p>
                      <a:r>
                        <a:rPr sz="2775" b="0">
                          <a:solidFill>
                            <a:srgbClr val="183247"/>
                          </a:solidFill>
                          <a:latin typeface="Arial"/>
                          <a:ea typeface="Arial"/>
                          <a:cs typeface="Arial"/>
                        </a:rPr>
                        <a:t>490</a:t>
                      </a:r>
                    </a:p>
                  </a:txBody>
                  <a:tcPr marL="91440" marR="91440" marT="45720" marB="45720" anchor="ctr">
                    <a:solidFill>
                      <a:srgbClr val="FFFFFF"/>
                    </a:solidFill>
                  </a:tcPr>
                </a:tc>
              </a:tr>
              <a:tr h="1025525">
                <a:tc>
                  <a:txBody>
                    <a:bodyPr lIns="171450" tIns="95250" rIns="152400" bIns="95250"/>
                    <a:lstStyle/>
                    <a:p>
                      <a:r>
                        <a:rPr sz="2775" b="0">
                          <a:solidFill>
                            <a:srgbClr val="183247"/>
                          </a:solidFill>
                          <a:latin typeface="Arial"/>
                          <a:ea typeface="Arial"/>
                          <a:cs typeface="Arial"/>
                        </a:rPr>
                        <a:t>PS</a:t>
                      </a:r>
                    </a:p>
                  </a:txBody>
                  <a:tcPr marL="91440" marR="91440" marT="45720" marB="45720" anchor="ctr">
                    <a:solidFill>
                      <a:srgbClr val="EFF4F7"/>
                    </a:solidFill>
                  </a:tcPr>
                </a:tc>
                <a:tc>
                  <a:txBody>
                    <a:bodyPr lIns="171450" tIns="95250" rIns="152400" bIns="95250"/>
                    <a:lstStyle/>
                    <a:p>
                      <a:r>
                        <a:rPr sz="2775" b="0">
                          <a:solidFill>
                            <a:srgbClr val="183247"/>
                          </a:solidFill>
                          <a:latin typeface="Arial"/>
                          <a:ea typeface="Arial"/>
                          <a:cs typeface="Arial"/>
                        </a:rPr>
                        <a:t>½ × 70 × (15 − 8)</a:t>
                      </a:r>
                    </a:p>
                  </a:txBody>
                  <a:tcPr marL="91440" marR="91440" marT="45720" marB="45720" anchor="ctr">
                    <a:solidFill>
                      <a:srgbClr val="EFF4F7"/>
                    </a:solidFill>
                  </a:tcPr>
                </a:tc>
                <a:tc>
                  <a:txBody>
                    <a:bodyPr lIns="171450" tIns="95250" rIns="152400" bIns="95250"/>
                    <a:lstStyle/>
                    <a:p>
                      <a:r>
                        <a:rPr sz="2775" b="0">
                          <a:solidFill>
                            <a:srgbClr val="183247"/>
                          </a:solidFill>
                          <a:latin typeface="Arial"/>
                          <a:ea typeface="Arial"/>
                          <a:cs typeface="Arial"/>
                        </a:rPr>
                        <a:t>245</a:t>
                      </a:r>
                    </a:p>
                  </a:txBody>
                  <a:tcPr marL="91440" marR="91440" marT="45720" marB="45720" anchor="ctr">
                    <a:solidFill>
                      <a:srgbClr val="EFF4F7"/>
                    </a:solidFill>
                  </a:tcPr>
                </a:tc>
              </a:tr>
            </a:tbl>
          </a:graphicData>
        </a:graphic>
      </p:graphicFrame>
      <p:sp>
        <p:nvSpPr>
          <p:cNvPr id="7" name="CS gebruikt Pc. PS gebruikt Pp en de oorspronkelijke aa">
            <a:extLst xmlns:a="http://schemas.openxmlformats.org/drawingml/2006/main">
              <a:ext uri="{FF2B5EF4-FFF2-40B4-BE49-F238E27FC236}">
                <a16:creationId xmlns:a16="http://schemas.microsoft.com/office/drawing/2014/main" id="{002DFB18-DA61-4CB4-83C3-7464C8F6DC5C}"/>
              </a:ext>
            </a:extLst>
          </p:cNvPr>
          <p:cNvSpPr>
            <a:spLocks xmlns:a="http://schemas.openxmlformats.org/drawingml/2006/main" noGrp="1"/>
          </p:cNvSpPr>
          <p:nvPr/>
        </p:nvSpPr>
        <p:spPr>
          <a:xfrm xmlns:a="http://schemas.openxmlformats.org/drawingml/2006/main">
            <a:off x="571500" y="6734175"/>
            <a:ext cx="140970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83247"/>
                </a:solidFill>
                <a:latin typeface="Arial"/>
                <a:ea typeface="Arial"/>
                <a:cs typeface="Arial"/>
              </a:defRPr>
            </a:pPr>
            <a:r>
              <a:rPr sz="2775" b="1">
                <a:solidFill>
                  <a:srgbClr val="183247"/>
                </a:solidFill>
                <a:latin typeface="Arial"/>
                <a:ea typeface="Arial"/>
                <a:cs typeface="Arial"/>
              </a:rPr>
              <a:t>CS gebruikt Pc. PS gebruikt Pp en de oorspronkelijke aanbodlijn.</a:t>
            </a:r>
          </a:p>
        </p:txBody>
      </p:sp>
    </p:spTree>
    <p:extLst>
      <p:ext uri="{BB962C8B-B14F-4D97-AF65-F5344CB8AC3E}">
        <p14:creationId xmlns:p14="http://schemas.microsoft.com/office/powerpoint/2010/main" val="170696359"/>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25d · De welvaartsmaat en het verlies">
            <a:extLst xmlns:a="http://schemas.openxmlformats.org/drawingml/2006/main">
              <a:ext uri="{FF2B5EF4-FFF2-40B4-BE49-F238E27FC236}">
                <a16:creationId xmlns:a16="http://schemas.microsoft.com/office/drawing/2014/main" id="{3FC7B4F2-7C24-4730-BF13-CDD1C2C61A15}"/>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25d · De welvaartsmaat en het verlies</a:t>
            </a:r>
          </a:p>
        </p:txBody>
      </p:sp>
      <p:sp>
        <p:nvSpPr>
          <p:cNvPr id="2" name="">
            <a:extLst xmlns:a="http://schemas.openxmlformats.org/drawingml/2006/main">
              <a:ext uri="{FF2B5EF4-FFF2-40B4-BE49-F238E27FC236}">
                <a16:creationId xmlns:a16="http://schemas.microsoft.com/office/drawing/2014/main" id="{16F41A8C-4EA6-4F79-9A31-D56497CDE560}"/>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1.3 Subsidies">
            <a:extLst xmlns:a="http://schemas.openxmlformats.org/drawingml/2006/main">
              <a:ext uri="{FF2B5EF4-FFF2-40B4-BE49-F238E27FC236}">
                <a16:creationId xmlns:a16="http://schemas.microsoft.com/office/drawing/2014/main" id="{55B109BB-02CD-418D-9C03-87E514A07684}"/>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§3.1.3 Subsidies</a:t>
            </a:r>
          </a:p>
        </p:txBody>
      </p:sp>
      <p:sp>
        <p:nvSpPr>
          <p:cNvPr id="4" name="26">
            <a:extLst xmlns:a="http://schemas.openxmlformats.org/drawingml/2006/main">
              <a:ext uri="{FF2B5EF4-FFF2-40B4-BE49-F238E27FC236}">
                <a16:creationId xmlns:a16="http://schemas.microsoft.com/office/drawing/2014/main" id="{16712136-990A-4B9F-BA6B-8C5FCFC24CD0}"/>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26</a:t>
            </a:r>
          </a:p>
        </p:txBody>
      </p:sp>
      <p:sp>
        <p:nvSpPr>
          <p:cNvPr id="5" name="Oud: CS + PS = 360 + 180 = € 540">
            <a:extLst xmlns:a="http://schemas.openxmlformats.org/drawingml/2006/main">
              <a:ext uri="{FF2B5EF4-FFF2-40B4-BE49-F238E27FC236}">
                <a16:creationId xmlns:a16="http://schemas.microsoft.com/office/drawing/2014/main" id="{51635308-55B3-4124-8D71-56B0A9907E08}"/>
              </a:ext>
            </a:extLst>
          </p:cNvPr>
          <p:cNvSpPr>
            <a:spLocks xmlns:a="http://schemas.openxmlformats.org/drawingml/2006/main" noGrp="1"/>
          </p:cNvSpPr>
          <p:nvPr/>
        </p:nvSpPr>
        <p:spPr>
          <a:xfrm xmlns:a="http://schemas.openxmlformats.org/drawingml/2006/main">
            <a:off x="571500" y="2238375"/>
            <a:ext cx="14097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Oud: CS + PS = 360 + 180 = € 540</a:t>
            </a:r>
          </a:p>
        </p:txBody>
      </p:sp>
      <p:sp>
        <p:nvSpPr>
          <p:cNvPr id="6" name="Nieuw: CS + PS − U = 490 + 245 − 210 = € 525">
            <a:extLst xmlns:a="http://schemas.openxmlformats.org/drawingml/2006/main">
              <a:ext uri="{FF2B5EF4-FFF2-40B4-BE49-F238E27FC236}">
                <a16:creationId xmlns:a16="http://schemas.microsoft.com/office/drawing/2014/main" id="{7B662C77-778F-4CCE-91B7-8FADBF50755E}"/>
              </a:ext>
            </a:extLst>
          </p:cNvPr>
          <p:cNvSpPr>
            <a:spLocks xmlns:a="http://schemas.openxmlformats.org/drawingml/2006/main" noGrp="1"/>
          </p:cNvSpPr>
          <p:nvPr/>
        </p:nvSpPr>
        <p:spPr>
          <a:xfrm xmlns:a="http://schemas.openxmlformats.org/drawingml/2006/main">
            <a:off x="571500" y="3695700"/>
            <a:ext cx="14097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Nieuw: CS + PS − U = 490 + 245 − 210 = € 525</a:t>
            </a:r>
          </a:p>
        </p:txBody>
      </p:sp>
      <p:sp>
        <p:nvSpPr>
          <p:cNvPr id="7" name="W = 540 − 525 = € 15 per week">
            <a:extLst xmlns:a="http://schemas.openxmlformats.org/drawingml/2006/main">
              <a:ext uri="{FF2B5EF4-FFF2-40B4-BE49-F238E27FC236}">
                <a16:creationId xmlns:a16="http://schemas.microsoft.com/office/drawing/2014/main" id="{55DAB677-2AE6-473D-994C-0D01F2F87782}"/>
              </a:ext>
            </a:extLst>
          </p:cNvPr>
          <p:cNvSpPr>
            <a:spLocks xmlns:a="http://schemas.openxmlformats.org/drawingml/2006/main" noGrp="1"/>
          </p:cNvSpPr>
          <p:nvPr/>
        </p:nvSpPr>
        <p:spPr>
          <a:xfrm xmlns:a="http://schemas.openxmlformats.org/drawingml/2006/main">
            <a:off x="571500" y="5153025"/>
            <a:ext cx="14097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W = 540 − 525 = € 15 per week</a:t>
            </a:r>
          </a:p>
        </p:txBody>
      </p:sp>
      <p:sp>
        <p:nvSpPr>
          <p:cNvPr id="8" name="Controle: ½ × (70 − 60) × 3 = € 15 per week">
            <a:extLst xmlns:a="http://schemas.openxmlformats.org/drawingml/2006/main">
              <a:ext uri="{FF2B5EF4-FFF2-40B4-BE49-F238E27FC236}">
                <a16:creationId xmlns:a16="http://schemas.microsoft.com/office/drawing/2014/main" id="{921B8DF4-B2C3-4E71-8F7C-30F55D5AEE6C}"/>
              </a:ext>
            </a:extLst>
          </p:cNvPr>
          <p:cNvSpPr>
            <a:spLocks xmlns:a="http://schemas.openxmlformats.org/drawingml/2006/main" noGrp="1"/>
          </p:cNvSpPr>
          <p:nvPr/>
        </p:nvSpPr>
        <p:spPr>
          <a:xfrm xmlns:a="http://schemas.openxmlformats.org/drawingml/2006/main">
            <a:off x="571500" y="7115175"/>
            <a:ext cx="14097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A94D16"/>
                </a:solidFill>
                <a:latin typeface="Arial"/>
                <a:ea typeface="Arial"/>
                <a:cs typeface="Arial"/>
              </a:defRPr>
            </a:pPr>
            <a:r>
              <a:rPr sz="2850" b="1">
                <a:solidFill>
                  <a:srgbClr val="A94D16"/>
                </a:solidFill>
                <a:latin typeface="Arial"/>
                <a:ea typeface="Arial"/>
                <a:cs typeface="Arial"/>
              </a:rPr>
              <a:t>Controle: ½ × (70 − 60) × 3 = € 15 per week</a:t>
            </a:r>
          </a:p>
        </p:txBody>
      </p:sp>
    </p:spTree>
    <p:extLst>
      <p:ext uri="{BB962C8B-B14F-4D97-AF65-F5344CB8AC3E}">
        <p14:creationId xmlns:p14="http://schemas.microsoft.com/office/powerpoint/2010/main" val="680985241"/>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25e · Prijzen, hoeveelheid en uitgaven">
            <a:extLst xmlns:a="http://schemas.openxmlformats.org/drawingml/2006/main">
              <a:ext uri="{FF2B5EF4-FFF2-40B4-BE49-F238E27FC236}">
                <a16:creationId xmlns:a16="http://schemas.microsoft.com/office/drawing/2014/main" id="{A5FD2DAC-6FD0-4656-AFDE-801C81EC4EFB}"/>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25e · Prijzen, hoeveelheid en uitgaven</a:t>
            </a:r>
          </a:p>
        </p:txBody>
      </p:sp>
      <p:sp>
        <p:nvSpPr>
          <p:cNvPr id="2" name="">
            <a:extLst xmlns:a="http://schemas.openxmlformats.org/drawingml/2006/main">
              <a:ext uri="{FF2B5EF4-FFF2-40B4-BE49-F238E27FC236}">
                <a16:creationId xmlns:a16="http://schemas.microsoft.com/office/drawing/2014/main" id="{BFD74FEB-2EA1-4F8C-8968-8B1778D9E486}"/>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1.3 Subsidies">
            <a:extLst xmlns:a="http://schemas.openxmlformats.org/drawingml/2006/main">
              <a:ext uri="{FF2B5EF4-FFF2-40B4-BE49-F238E27FC236}">
                <a16:creationId xmlns:a16="http://schemas.microsoft.com/office/drawing/2014/main" id="{0E800038-1F88-470C-B356-A0E90C40D4DE}"/>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§3.1.3 Subsidies</a:t>
            </a:r>
          </a:p>
        </p:txBody>
      </p:sp>
      <p:sp>
        <p:nvSpPr>
          <p:cNvPr id="4" name="27">
            <a:extLst xmlns:a="http://schemas.openxmlformats.org/drawingml/2006/main">
              <a:ext uri="{FF2B5EF4-FFF2-40B4-BE49-F238E27FC236}">
                <a16:creationId xmlns:a16="http://schemas.microsoft.com/office/drawing/2014/main" id="{6B476FD5-D648-4D4B-8C5B-2E6C6FEA89F2}"/>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27</a:t>
            </a:r>
          </a:p>
        </p:txBody>
      </p:sp>
      <p:graphicFrame>
        <p:nvGraphicFramePr>
          <p:cNvPr id="13" name="Chart"/>
          <p:cNvGraphicFramePr/>
          <p:nvPr/>
        </p:nvGraphicFramePr>
        <p:xfrm>
          <a:off xmlns:a="http://schemas.openxmlformats.org/drawingml/2006/main" x="476250" y="1952625"/>
          <a:ext xmlns:a="http://schemas.openxmlformats.org/drawingml/2006/main" cx="10191750" cy="5791200"/>
        </p:xfrm>
        <a:graphic xmlns:a="http://schemas.openxmlformats.org/drawingml/2006/main">
          <a:graphicData uri="http://schemas.openxmlformats.org/drawingml/2006/chart">
            <c:chart xmlns:r="http://schemas.openxmlformats.org/officeDocument/2006/relationships" xmlns:c="http://schemas.openxmlformats.org/drawingml/2006/chart" r:id="Ra44ebc67ba30431d"/>
          </a:graphicData>
        </a:graphic>
      </p:graphicFrame>
      <p:sp>
        <p:nvSpPr>
          <p:cNvPr id="6" name="Markeringen">
            <a:extLst xmlns:a="http://schemas.openxmlformats.org/drawingml/2006/main">
              <a:ext uri="{FF2B5EF4-FFF2-40B4-BE49-F238E27FC236}">
                <a16:creationId xmlns:a16="http://schemas.microsoft.com/office/drawing/2014/main" id="{0BA0DF66-3DD0-4449-97CC-091C39A9D78D}"/>
              </a:ext>
            </a:extLst>
          </p:cNvPr>
          <p:cNvSpPr>
            <a:spLocks xmlns:a="http://schemas.openxmlformats.org/drawingml/2006/main" noGrp="1"/>
          </p:cNvSpPr>
          <p:nvPr/>
        </p:nvSpPr>
        <p:spPr>
          <a:xfrm xmlns:a="http://schemas.openxmlformats.org/drawingml/2006/main">
            <a:off x="11144250" y="2095500"/>
            <a:ext cx="3476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Markeringen</a:t>
            </a:r>
          </a:p>
        </p:txBody>
      </p:sp>
      <p:sp>
        <p:nvSpPr>
          <p:cNvPr id="7" name="Qsub = 70&#10;Pc = € 12&#10;Pp = € 15&#10;&#10;U: 70 × € 3&#10;= € 210 per ">
            <a:extLst xmlns:a="http://schemas.openxmlformats.org/drawingml/2006/main">
              <a:ext uri="{FF2B5EF4-FFF2-40B4-BE49-F238E27FC236}">
                <a16:creationId xmlns:a16="http://schemas.microsoft.com/office/drawing/2014/main" id="{6C0128C1-40BC-47CC-BCFB-E80C77424259}"/>
              </a:ext>
            </a:extLst>
          </p:cNvPr>
          <p:cNvSpPr>
            <a:spLocks xmlns:a="http://schemas.openxmlformats.org/drawingml/2006/main" noGrp="1"/>
          </p:cNvSpPr>
          <p:nvPr/>
        </p:nvSpPr>
        <p:spPr>
          <a:xfrm xmlns:a="http://schemas.openxmlformats.org/drawingml/2006/main">
            <a:off x="11144250" y="3095625"/>
            <a:ext cx="347662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Qsub = 70</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Pc = € 12</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Pp = € 15</a:t>
            </a:r>
          </a:p>
          <a:p xmlns:a="http://schemas.openxmlformats.org/drawingml/2006/main">
            <a:r>
              <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U: 70 × € 3</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 € 210 per week</a:t>
            </a:r>
          </a:p>
        </p:txBody>
      </p:sp>
      <p:sp>
        <p:nvSpPr>
          <p:cNvPr id="8" name="Rechthoek:&#10;Q = 0 tot 70&#10;P = 12 tot 15">
            <a:extLst xmlns:a="http://schemas.openxmlformats.org/drawingml/2006/main">
              <a:ext uri="{FF2B5EF4-FFF2-40B4-BE49-F238E27FC236}">
                <a16:creationId xmlns:a16="http://schemas.microsoft.com/office/drawing/2014/main" id="{4E2122CC-0DCA-4B0C-A784-CC0D8231ABF4}"/>
              </a:ext>
            </a:extLst>
          </p:cNvPr>
          <p:cNvSpPr>
            <a:spLocks xmlns:a="http://schemas.openxmlformats.org/drawingml/2006/main" noGrp="1"/>
          </p:cNvSpPr>
          <p:nvPr/>
        </p:nvSpPr>
        <p:spPr>
          <a:xfrm xmlns:a="http://schemas.openxmlformats.org/drawingml/2006/main">
            <a:off x="11144250" y="6267450"/>
            <a:ext cx="34766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A94D16"/>
                </a:solidFill>
                <a:latin typeface="Arial"/>
                <a:ea typeface="Arial"/>
                <a:cs typeface="Arial"/>
              </a:defRPr>
            </a:pPr>
            <a:r>
              <a:rPr sz="2325" b="1">
                <a:solidFill>
                  <a:srgbClr val="A94D16"/>
                </a:solidFill>
                <a:latin typeface="Arial"/>
                <a:ea typeface="Arial"/>
                <a:cs typeface="Arial"/>
              </a:rPr>
              <a:t>Rechthoek:</a:t>
            </a:r>
          </a:p>
          <a:p xmlns:a="http://schemas.openxmlformats.org/drawingml/2006/main">
            <a:pPr algn="l">
              <a:defRPr sz="2325" b="1">
                <a:solidFill>
                  <a:srgbClr val="A94D16"/>
                </a:solidFill>
                <a:latin typeface="Arial"/>
                <a:ea typeface="Arial"/>
                <a:cs typeface="Arial"/>
              </a:defRPr>
            </a:pPr>
            <a:r>
              <a:rPr sz="2325" b="1">
                <a:solidFill>
                  <a:srgbClr val="A94D16"/>
                </a:solidFill>
                <a:latin typeface="Arial"/>
                <a:ea typeface="Arial"/>
                <a:cs typeface="Arial"/>
              </a:rPr>
              <a:t>Q = 0 tot 70</a:t>
            </a:r>
          </a:p>
          <a:p xmlns:a="http://schemas.openxmlformats.org/drawingml/2006/main">
            <a:pPr algn="l">
              <a:defRPr sz="2325" b="1">
                <a:solidFill>
                  <a:srgbClr val="A94D16"/>
                </a:solidFill>
                <a:latin typeface="Arial"/>
                <a:ea typeface="Arial"/>
                <a:cs typeface="Arial"/>
              </a:defRPr>
            </a:pPr>
            <a:r>
              <a:rPr sz="2325" b="1">
                <a:solidFill>
                  <a:srgbClr val="A94D16"/>
                </a:solidFill>
                <a:latin typeface="Arial"/>
                <a:ea typeface="Arial"/>
                <a:cs typeface="Arial"/>
              </a:rPr>
              <a:t>P = 12 tot 15</a:t>
            </a:r>
          </a:p>
        </p:txBody>
      </p:sp>
    </p:spTree>
    <p:extLst>
      <p:ext uri="{BB962C8B-B14F-4D97-AF65-F5344CB8AC3E}">
        <p14:creationId xmlns:p14="http://schemas.microsoft.com/office/powerpoint/2010/main" val="425639799"/>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25e · De welvaartsclaim">
            <a:extLst xmlns:a="http://schemas.openxmlformats.org/drawingml/2006/main">
              <a:ext uri="{FF2B5EF4-FFF2-40B4-BE49-F238E27FC236}">
                <a16:creationId xmlns:a16="http://schemas.microsoft.com/office/drawing/2014/main" id="{BDCC4B2D-287D-416B-92B5-F0347D89928D}"/>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25e · De welvaartsclaim</a:t>
            </a:r>
          </a:p>
        </p:txBody>
      </p:sp>
      <p:sp>
        <p:nvSpPr>
          <p:cNvPr id="2" name="">
            <a:extLst xmlns:a="http://schemas.openxmlformats.org/drawingml/2006/main">
              <a:ext uri="{FF2B5EF4-FFF2-40B4-BE49-F238E27FC236}">
                <a16:creationId xmlns:a16="http://schemas.microsoft.com/office/drawing/2014/main" id="{8F3BA063-D1CA-45BD-9276-D7AD88B91532}"/>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1.3 Subsidies">
            <a:extLst xmlns:a="http://schemas.openxmlformats.org/drawingml/2006/main">
              <a:ext uri="{FF2B5EF4-FFF2-40B4-BE49-F238E27FC236}">
                <a16:creationId xmlns:a16="http://schemas.microsoft.com/office/drawing/2014/main" id="{D639508C-1CDC-4900-97FF-AF03AF9EF6AE}"/>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§3.1.3 Subsidies</a:t>
            </a:r>
          </a:p>
        </p:txBody>
      </p:sp>
      <p:sp>
        <p:nvSpPr>
          <p:cNvPr id="4" name="28">
            <a:extLst xmlns:a="http://schemas.openxmlformats.org/drawingml/2006/main">
              <a:ext uri="{FF2B5EF4-FFF2-40B4-BE49-F238E27FC236}">
                <a16:creationId xmlns:a16="http://schemas.microsoft.com/office/drawing/2014/main" id="{C31E9B49-0FD3-4719-B5CB-61D1D495683D}"/>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28</a:t>
            </a:r>
          </a:p>
        </p:txBody>
      </p:sp>
      <p:sp>
        <p:nvSpPr>
          <p:cNvPr id="5" name="“De subsidie verhoogt in dit model automatisch de welva">
            <a:extLst xmlns:a="http://schemas.openxmlformats.org/drawingml/2006/main">
              <a:ext uri="{FF2B5EF4-FFF2-40B4-BE49-F238E27FC236}">
                <a16:creationId xmlns:a16="http://schemas.microsoft.com/office/drawing/2014/main" id="{8021A84F-C516-431C-9F89-7AEF74BB1050}"/>
              </a:ext>
            </a:extLst>
          </p:cNvPr>
          <p:cNvSpPr>
            <a:spLocks xmlns:a="http://schemas.openxmlformats.org/drawingml/2006/main" noGrp="1"/>
          </p:cNvSpPr>
          <p:nvPr/>
        </p:nvSpPr>
        <p:spPr>
          <a:xfrm xmlns:a="http://schemas.openxmlformats.org/drawingml/2006/main">
            <a:off x="571500" y="2105025"/>
            <a:ext cx="14097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“De subsidie verhoogt in dit model automatisch de welvaart.”</a:t>
            </a:r>
          </a:p>
        </p:txBody>
      </p:sp>
      <p:sp>
        <p:nvSpPr>
          <p:cNvPr id="6" name="Onjuist: de welvaartsmaat daalt van € 540 naar € 525 pe">
            <a:extLst xmlns:a="http://schemas.openxmlformats.org/drawingml/2006/main">
              <a:ext uri="{FF2B5EF4-FFF2-40B4-BE49-F238E27FC236}">
                <a16:creationId xmlns:a16="http://schemas.microsoft.com/office/drawing/2014/main" id="{6801AA44-A388-4C66-B653-C5F553C97FB5}"/>
              </a:ext>
            </a:extLst>
          </p:cNvPr>
          <p:cNvSpPr>
            <a:spLocks xmlns:a="http://schemas.openxmlformats.org/drawingml/2006/main" noGrp="1"/>
          </p:cNvSpPr>
          <p:nvPr/>
        </p:nvSpPr>
        <p:spPr>
          <a:xfrm xmlns:a="http://schemas.openxmlformats.org/drawingml/2006/main">
            <a:off x="571500" y="3971925"/>
            <a:ext cx="140970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Onjuist: de welvaartsmaat daalt van € 540 naar € 525 per week.</a:t>
            </a:r>
          </a:p>
        </p:txBody>
      </p:sp>
      <p:sp>
        <p:nvSpPr>
          <p:cNvPr id="7" name="De extra transacties kosten meer dan hun betalingsberei">
            <a:extLst xmlns:a="http://schemas.openxmlformats.org/drawingml/2006/main">
              <a:ext uri="{FF2B5EF4-FFF2-40B4-BE49-F238E27FC236}">
                <a16:creationId xmlns:a16="http://schemas.microsoft.com/office/drawing/2014/main" id="{B8E450D1-9E1A-4075-B6F6-4A8261A92ABF}"/>
              </a:ext>
            </a:extLst>
          </p:cNvPr>
          <p:cNvSpPr>
            <a:spLocks xmlns:a="http://schemas.openxmlformats.org/drawingml/2006/main" noGrp="1"/>
          </p:cNvSpPr>
          <p:nvPr/>
        </p:nvSpPr>
        <p:spPr>
          <a:xfrm xmlns:a="http://schemas.openxmlformats.org/drawingml/2006/main">
            <a:off x="571500" y="5162550"/>
            <a:ext cx="140970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De extra transacties kosten meer dan hun betalingsbereidheid.</a:t>
            </a:r>
          </a:p>
        </p:txBody>
      </p:sp>
      <p:sp>
        <p:nvSpPr>
          <p:cNvPr id="8" name="Er zijn geen baten voor buitenstaanders die dat compens">
            <a:extLst xmlns:a="http://schemas.openxmlformats.org/drawingml/2006/main">
              <a:ext uri="{FF2B5EF4-FFF2-40B4-BE49-F238E27FC236}">
                <a16:creationId xmlns:a16="http://schemas.microsoft.com/office/drawing/2014/main" id="{3CE9B3B2-4BC3-42B7-A223-8BA795AF1EC0}"/>
              </a:ext>
            </a:extLst>
          </p:cNvPr>
          <p:cNvSpPr>
            <a:spLocks xmlns:a="http://schemas.openxmlformats.org/drawingml/2006/main" noGrp="1"/>
          </p:cNvSpPr>
          <p:nvPr/>
        </p:nvSpPr>
        <p:spPr>
          <a:xfrm xmlns:a="http://schemas.openxmlformats.org/drawingml/2006/main">
            <a:off x="571500" y="6353175"/>
            <a:ext cx="140970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7658A"/>
                </a:solidFill>
                <a:latin typeface="Arial"/>
                <a:ea typeface="Arial"/>
                <a:cs typeface="Arial"/>
              </a:defRPr>
            </a:pPr>
            <a:r>
              <a:rPr sz="2775" b="1">
                <a:solidFill>
                  <a:srgbClr val="17658A"/>
                </a:solidFill>
                <a:latin typeface="Arial"/>
                <a:ea typeface="Arial"/>
                <a:cs typeface="Arial"/>
              </a:rPr>
              <a:t>Er zijn geen baten voor buitenstaanders die dat compenseren.</a:t>
            </a:r>
          </a:p>
        </p:txBody>
      </p:sp>
    </p:spTree>
    <p:extLst>
      <p:ext uri="{BB962C8B-B14F-4D97-AF65-F5344CB8AC3E}">
        <p14:creationId xmlns:p14="http://schemas.microsoft.com/office/powerpoint/2010/main" val="1014106906"/>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3.1.3 Subsidies">
            <a:extLst xmlns:a="http://schemas.openxmlformats.org/drawingml/2006/main">
              <a:ext uri="{FF2B5EF4-FFF2-40B4-BE49-F238E27FC236}">
                <a16:creationId xmlns:a16="http://schemas.microsoft.com/office/drawing/2014/main" id="{E0333B72-2B9F-4E18-9AA9-8989435BD3D2}"/>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Deze les: §3.1.3 Subsidies</a:t>
            </a:r>
          </a:p>
        </p:txBody>
      </p:sp>
      <p:sp>
        <p:nvSpPr>
          <p:cNvPr id="2" name="">
            <a:extLst xmlns:a="http://schemas.openxmlformats.org/drawingml/2006/main">
              <a:ext uri="{FF2B5EF4-FFF2-40B4-BE49-F238E27FC236}">
                <a16:creationId xmlns:a16="http://schemas.microsoft.com/office/drawing/2014/main" id="{0BD78F63-E180-46CC-A5EF-7A22B3D33C57}"/>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1.3 Subsidies">
            <a:extLst xmlns:a="http://schemas.openxmlformats.org/drawingml/2006/main">
              <a:ext uri="{FF2B5EF4-FFF2-40B4-BE49-F238E27FC236}">
                <a16:creationId xmlns:a16="http://schemas.microsoft.com/office/drawing/2014/main" id="{F45E78F8-88D0-4665-9C70-DBD5FA1C2584}"/>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§3.1.3 Subsidies</a:t>
            </a:r>
          </a:p>
        </p:txBody>
      </p:sp>
      <p:sp>
        <p:nvSpPr>
          <p:cNvPr id="4" name="29">
            <a:extLst xmlns:a="http://schemas.openxmlformats.org/drawingml/2006/main">
              <a:ext uri="{FF2B5EF4-FFF2-40B4-BE49-F238E27FC236}">
                <a16:creationId xmlns:a16="http://schemas.microsoft.com/office/drawing/2014/main" id="{80CAD040-F007-44E1-9CA8-F83421134A1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29</a:t>
            </a:r>
          </a:p>
        </p:txBody>
      </p:sp>
      <p:sp>
        <p:nvSpPr>
          <p:cNvPr id="5" name="phase">
            <a:extLst xmlns:a="http://schemas.openxmlformats.org/drawingml/2006/main">
              <a:ext uri="{FF2B5EF4-FFF2-40B4-BE49-F238E27FC236}">
                <a16:creationId xmlns:a16="http://schemas.microsoft.com/office/drawing/2014/main" id="{3D5F84DB-7671-4873-8405-6905B8F97CCA}"/>
              </a:ext>
            </a:extLst>
          </p:cNvPr>
          <p:cNvSpPr>
            <a:spLocks xmlns:a="http://schemas.openxmlformats.org/drawingml/2006/main" noGrp="1"/>
          </p:cNvSpPr>
          <p:nvPr/>
        </p:nvSpPr>
        <p:spPr>
          <a:xfrm xmlns:a="http://schemas.openxmlformats.org/drawingml/2006/main">
            <a:off x="571500" y="1066800"/>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Afsluiting / huiswerk</a:t>
            </a:r>
          </a:p>
        </p:txBody>
      </p:sp>
      <p:sp>
        <p:nvSpPr>
          <p:cNvPr id="6" name="Lesroute">
            <a:extLst xmlns:a="http://schemas.openxmlformats.org/drawingml/2006/main">
              <a:ext uri="{FF2B5EF4-FFF2-40B4-BE49-F238E27FC236}">
                <a16:creationId xmlns:a16="http://schemas.microsoft.com/office/drawing/2014/main" id="{E4021823-FE46-4455-98FB-973FB3F03D57}"/>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0">
            <a:extLst xmlns:a="http://schemas.openxmlformats.org/drawingml/2006/main">
              <a:ext uri="{FF2B5EF4-FFF2-40B4-BE49-F238E27FC236}">
                <a16:creationId xmlns:a16="http://schemas.microsoft.com/office/drawing/2014/main" id="{560DD99C-89FD-4CC9-AEF4-7B245021BEEA}"/>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0">
            <a:extLst xmlns:a="http://schemas.openxmlformats.org/drawingml/2006/main">
              <a:ext uri="{FF2B5EF4-FFF2-40B4-BE49-F238E27FC236}">
                <a16:creationId xmlns:a16="http://schemas.microsoft.com/office/drawing/2014/main" id="{5FA04921-C904-400E-AEDA-B56F80C397D0}"/>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1">
            <a:extLst xmlns:a="http://schemas.openxmlformats.org/drawingml/2006/main">
              <a:ext uri="{FF2B5EF4-FFF2-40B4-BE49-F238E27FC236}">
                <a16:creationId xmlns:a16="http://schemas.microsoft.com/office/drawing/2014/main" id="{CA78D944-FE2B-47D7-8F22-0AA34D123648}"/>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1">
            <a:extLst xmlns:a="http://schemas.openxmlformats.org/drawingml/2006/main">
              <a:ext uri="{FF2B5EF4-FFF2-40B4-BE49-F238E27FC236}">
                <a16:creationId xmlns:a16="http://schemas.microsoft.com/office/drawing/2014/main" id="{66C991D4-CE21-4FCA-A93F-965D493ED68A}"/>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2">
            <a:extLst xmlns:a="http://schemas.openxmlformats.org/drawingml/2006/main">
              <a:ext uri="{FF2B5EF4-FFF2-40B4-BE49-F238E27FC236}">
                <a16:creationId xmlns:a16="http://schemas.microsoft.com/office/drawing/2014/main" id="{EFC4951C-6F87-4349-83EC-A508CE1839D7}"/>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2">
            <a:extLst xmlns:a="http://schemas.openxmlformats.org/drawingml/2006/main">
              <a:ext uri="{FF2B5EF4-FFF2-40B4-BE49-F238E27FC236}">
                <a16:creationId xmlns:a16="http://schemas.microsoft.com/office/drawing/2014/main" id="{F30F32E1-CD29-46D6-8F59-FFED1545CEF7}"/>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3">
            <a:extLst xmlns:a="http://schemas.openxmlformats.org/drawingml/2006/main">
              <a:ext uri="{FF2B5EF4-FFF2-40B4-BE49-F238E27FC236}">
                <a16:creationId xmlns:a16="http://schemas.microsoft.com/office/drawing/2014/main" id="{824D7B93-CEAA-4AD9-B037-13635F91CB2F}"/>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3">
            <a:extLst xmlns:a="http://schemas.openxmlformats.org/drawingml/2006/main">
              <a:ext uri="{FF2B5EF4-FFF2-40B4-BE49-F238E27FC236}">
                <a16:creationId xmlns:a16="http://schemas.microsoft.com/office/drawing/2014/main" id="{F3BDD81D-B153-4DB5-8DF5-CFF5C21DC3C1}"/>
              </a:ext>
            </a:extLst>
          </p:cNvPr>
          <p:cNvSpPr>
            <a:spLocks xmlns:a="http://schemas.openxmlformats.org/drawingml/2006/main" noGrp="1"/>
          </p:cNvSpPr>
          <p:nvPr/>
        </p:nvSpPr>
        <p:spPr>
          <a:xfrm xmlns:a="http://schemas.openxmlformats.org/drawingml/2006/main">
            <a:off x="1104900" y="4248150"/>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4">
            <a:extLst xmlns:a="http://schemas.openxmlformats.org/drawingml/2006/main">
              <a:ext uri="{FF2B5EF4-FFF2-40B4-BE49-F238E27FC236}">
                <a16:creationId xmlns:a16="http://schemas.microsoft.com/office/drawing/2014/main" id="{98F025F1-E8C3-4191-A5B6-2FDFFBC3FDE7}"/>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4">
            <a:extLst xmlns:a="http://schemas.openxmlformats.org/drawingml/2006/main">
              <a:ext uri="{FF2B5EF4-FFF2-40B4-BE49-F238E27FC236}">
                <a16:creationId xmlns:a16="http://schemas.microsoft.com/office/drawing/2014/main" id="{E17955BD-4E74-4F6A-9556-03B802BB4C1A}"/>
              </a:ext>
            </a:extLst>
          </p:cNvPr>
          <p:cNvSpPr>
            <a:spLocks xmlns:a="http://schemas.openxmlformats.org/drawingml/2006/main" noGrp="1"/>
          </p:cNvSpPr>
          <p:nvPr/>
        </p:nvSpPr>
        <p:spPr>
          <a:xfrm xmlns:a="http://schemas.openxmlformats.org/drawingml/2006/main">
            <a:off x="1104900" y="605790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5">
            <a:extLst xmlns:a="http://schemas.openxmlformats.org/drawingml/2006/main">
              <a:ext uri="{FF2B5EF4-FFF2-40B4-BE49-F238E27FC236}">
                <a16:creationId xmlns:a16="http://schemas.microsoft.com/office/drawing/2014/main" id="{ECDB1191-04EA-4D3F-A26B-4F53909E0437}"/>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5">
            <a:extLst xmlns:a="http://schemas.openxmlformats.org/drawingml/2006/main">
              <a:ext uri="{FF2B5EF4-FFF2-40B4-BE49-F238E27FC236}">
                <a16:creationId xmlns:a16="http://schemas.microsoft.com/office/drawing/2014/main" id="{8FCECC5D-A6CF-41BB-8D2E-F77C68DAA142}"/>
              </a:ext>
            </a:extLst>
          </p:cNvPr>
          <p:cNvSpPr>
            <a:spLocks xmlns:a="http://schemas.openxmlformats.org/drawingml/2006/main" noGrp="1"/>
          </p:cNvSpPr>
          <p:nvPr/>
        </p:nvSpPr>
        <p:spPr>
          <a:xfrm xmlns:a="http://schemas.openxmlformats.org/drawingml/2006/main">
            <a:off x="1104900" y="681990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25.</a:t>
            </a:r>
          </a:p>
        </p:txBody>
      </p:sp>
      <p:sp>
        <p:nvSpPr>
          <p:cNvPr id="19" name="route-number-6">
            <a:extLst xmlns:a="http://schemas.openxmlformats.org/drawingml/2006/main">
              <a:ext uri="{FF2B5EF4-FFF2-40B4-BE49-F238E27FC236}">
                <a16:creationId xmlns:a16="http://schemas.microsoft.com/office/drawing/2014/main" id="{8CD91FFA-EE74-48EA-952D-B9F397E5B5DC}"/>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7.</a:t>
            </a:r>
          </a:p>
        </p:txBody>
      </p:sp>
      <p:sp>
        <p:nvSpPr>
          <p:cNvPr id="20" name="route-6">
            <a:extLst xmlns:a="http://schemas.openxmlformats.org/drawingml/2006/main">
              <a:ext uri="{FF2B5EF4-FFF2-40B4-BE49-F238E27FC236}">
                <a16:creationId xmlns:a16="http://schemas.microsoft.com/office/drawing/2014/main" id="{DA4DBE39-3D72-4103-AA1A-A89A36C954E3}"/>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E5227048-E2FB-4C37-9D15-2E45E75400E7}"/>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0FA3A1C3-69A2-4121-ADF3-608C1EA46768}"/>
              </a:ext>
            </a:extLst>
          </p:cNvPr>
          <p:cNvSpPr>
            <a:spLocks xmlns:a="http://schemas.openxmlformats.org/drawingml/2006/main" noGrp="1"/>
          </p:cNvSpPr>
          <p:nvPr/>
        </p:nvSpPr>
        <p:spPr>
          <a:xfrm xmlns:a="http://schemas.openxmlformats.org/drawingml/2006/main">
            <a:off x="9258300" y="22860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Prijzen, hoeveelheid en uitgaven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berekenen. Voordeel verdelen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en welvaart beoordelen.</a:t>
            </a:r>
          </a:p>
        </p:txBody>
      </p:sp>
      <p:sp>
        <p:nvSpPr>
          <p:cNvPr id="23" name="">
            <a:extLst xmlns:a="http://schemas.openxmlformats.org/drawingml/2006/main">
              <a:ext uri="{FF2B5EF4-FFF2-40B4-BE49-F238E27FC236}">
                <a16:creationId xmlns:a16="http://schemas.microsoft.com/office/drawing/2014/main" id="{F6D91A4D-3942-4D7B-B5EF-3B04C180D5FD}"/>
              </a:ext>
            </a:extLst>
          </p:cNvPr>
          <p:cNvSpPr>
            <a:spLocks xmlns:a="http://schemas.openxmlformats.org/drawingml/2006/main" noGrp="1"/>
          </p:cNvSpPr>
          <p:nvPr/>
        </p:nvSpPr>
        <p:spPr>
          <a:xfrm xmlns:a="http://schemas.openxmlformats.org/drawingml/2006/main">
            <a:off x="9258300" y="3533775"/>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82F3E485-E2AC-43EC-A4B6-1D20ABFEF91C}"/>
              </a:ext>
            </a:extLst>
          </p:cNvPr>
          <p:cNvSpPr>
            <a:spLocks xmlns:a="http://schemas.openxmlformats.org/drawingml/2006/main" noGrp="1"/>
          </p:cNvSpPr>
          <p:nvPr/>
        </p:nvSpPr>
        <p:spPr>
          <a:xfrm xmlns:a="http://schemas.openxmlformats.org/drawingml/2006/main">
            <a:off x="9258300" y="37242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4F8EAFFE-3FE8-409B-83AF-B2CD9FAF0699}"/>
              </a:ext>
            </a:extLst>
          </p:cNvPr>
          <p:cNvSpPr>
            <a:spLocks xmlns:a="http://schemas.openxmlformats.org/drawingml/2006/main" noGrp="1"/>
          </p:cNvSpPr>
          <p:nvPr/>
        </p:nvSpPr>
        <p:spPr>
          <a:xfrm xmlns:a="http://schemas.openxmlformats.org/drawingml/2006/main">
            <a:off x="9258300" y="4238625"/>
            <a:ext cx="5381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26 · Opgaven 19 en 20</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Verkennen met theorie:</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19: p. 23; 20: p. 24</a:t>
            </a:r>
          </a:p>
        </p:txBody>
      </p:sp>
      <p:sp>
        <p:nvSpPr>
          <p:cNvPr id="26" name="">
            <a:extLst xmlns:a="http://schemas.openxmlformats.org/drawingml/2006/main">
              <a:ext uri="{FF2B5EF4-FFF2-40B4-BE49-F238E27FC236}">
                <a16:creationId xmlns:a16="http://schemas.microsoft.com/office/drawing/2014/main" id="{55E371AE-ECF9-429C-8CEC-0F5F75EBCA93}"/>
              </a:ext>
            </a:extLst>
          </p:cNvPr>
          <p:cNvSpPr>
            <a:spLocks xmlns:a="http://schemas.openxmlformats.org/drawingml/2006/main" noGrp="1"/>
          </p:cNvSpPr>
          <p:nvPr/>
        </p:nvSpPr>
        <p:spPr>
          <a:xfrm xmlns:a="http://schemas.openxmlformats.org/drawingml/2006/main">
            <a:off x="9258300" y="5476875"/>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ED77E88F-E411-40C4-B595-FB09057F9E1A}"/>
              </a:ext>
            </a:extLst>
          </p:cNvPr>
          <p:cNvSpPr>
            <a:spLocks xmlns:a="http://schemas.openxmlformats.org/drawingml/2006/main" noGrp="1"/>
          </p:cNvSpPr>
          <p:nvPr/>
        </p:nvSpPr>
        <p:spPr>
          <a:xfrm xmlns:a="http://schemas.openxmlformats.org/drawingml/2006/main">
            <a:off x="9258300" y="56959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F18BBDD0-F6B2-45D3-BB7C-20B244BE935E}"/>
              </a:ext>
            </a:extLst>
          </p:cNvPr>
          <p:cNvSpPr>
            <a:spLocks xmlns:a="http://schemas.openxmlformats.org/drawingml/2006/main" noGrp="1"/>
          </p:cNvSpPr>
          <p:nvPr/>
        </p:nvSpPr>
        <p:spPr>
          <a:xfrm xmlns:a="http://schemas.openxmlformats.org/drawingml/2006/main">
            <a:off x="9258300" y="6229350"/>
            <a:ext cx="5381625"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§3.1.3 Subsidies</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21, 22 en 22A</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23 en 24</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Doelopgave: 25</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142261629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2026-10-01T09:32:48.1410000Z</dcterms:created>
  <dcterms:modified xsi:type="dcterms:W3CDTF">2026-10-01T09:32:48.1410000Z</dcterms:modified>
</coreProperties>
</file>