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6.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2c5fef2fdb34630" /><Relationship Type="http://schemas.openxmlformats.org/officeDocument/2006/relationships/extended-properties" Target="/docProps/app.xml" Id="Rb441b02cf4284586" /><Relationship Type="http://schemas.openxmlformats.org/officeDocument/2006/relationships/officeDocument" Target="/ppt/presentation.xml" Id="Rb887cb5e3c664095" /></Relationships>
</file>

<file path=ppt/presentation.xml><?xml version="1.0" encoding="utf-8"?>
<p:presentation xmlns:p="http://schemas.openxmlformats.org/presentationml/2006/main">
  <p:sldMasterIdLst>
    <p:sldMasterId xmlns:r="http://schemas.openxmlformats.org/officeDocument/2006/relationships" id="2147483648" r:id="R49521e175f744ec2"/>
  </p:sldMasterIdLst>
  <p:notesMasterIdLst>
    <p:notesMasterId xmlns:r="http://schemas.openxmlformats.org/officeDocument/2006/relationships" r:id="R7f3158733dbb4d7c"/>
  </p:notesMasterIdLst>
  <p:sldIdLst>
    <p:sldId xmlns:r="http://schemas.openxmlformats.org/officeDocument/2006/relationships" id="256" r:id="R9ffa5d6f2e034147"/>
    <p:sldId xmlns:r="http://schemas.openxmlformats.org/officeDocument/2006/relationships" id="257" r:id="Rd5762712d984419f"/>
    <p:sldId xmlns:r="http://schemas.openxmlformats.org/officeDocument/2006/relationships" id="258" r:id="R32c7b1a15e104b64"/>
    <p:sldId xmlns:r="http://schemas.openxmlformats.org/officeDocument/2006/relationships" id="259" r:id="R1513ee6f953e4606"/>
    <p:sldId xmlns:r="http://schemas.openxmlformats.org/officeDocument/2006/relationships" id="260" r:id="R167750c354254ea6"/>
    <p:sldId xmlns:r="http://schemas.openxmlformats.org/officeDocument/2006/relationships" id="261" r:id="Rc899ff7e3e0a49cb"/>
    <p:sldId xmlns:r="http://schemas.openxmlformats.org/officeDocument/2006/relationships" id="262" r:id="Rdd2da89246ef4b61"/>
    <p:sldId xmlns:r="http://schemas.openxmlformats.org/officeDocument/2006/relationships" id="263" r:id="Re7530cd6984844bf"/>
    <p:sldId xmlns:r="http://schemas.openxmlformats.org/officeDocument/2006/relationships" id="264" r:id="R17f413d871024741"/>
    <p:sldId xmlns:r="http://schemas.openxmlformats.org/officeDocument/2006/relationships" id="265" r:id="R19710267153941d8"/>
    <p:sldId xmlns:r="http://schemas.openxmlformats.org/officeDocument/2006/relationships" id="266" r:id="Raf35ad04f3af4dd7"/>
    <p:sldId xmlns:r="http://schemas.openxmlformats.org/officeDocument/2006/relationships" id="267" r:id="Rd5e6cc0352ef43da"/>
    <p:sldId xmlns:r="http://schemas.openxmlformats.org/officeDocument/2006/relationships" id="268" r:id="R61db2289b4a148e6"/>
    <p:sldId xmlns:r="http://schemas.openxmlformats.org/officeDocument/2006/relationships" id="269" r:id="R3e2799e24502474a"/>
    <p:sldId xmlns:r="http://schemas.openxmlformats.org/officeDocument/2006/relationships" id="270" r:id="R8d83eb350cc94a5d"/>
    <p:sldId xmlns:r="http://schemas.openxmlformats.org/officeDocument/2006/relationships" id="271" r:id="R650fb5f9e9534cf1"/>
    <p:sldId xmlns:r="http://schemas.openxmlformats.org/officeDocument/2006/relationships" id="272" r:id="Rf1e13c68c59d48d7"/>
    <p:sldId xmlns:r="http://schemas.openxmlformats.org/officeDocument/2006/relationships" id="273" r:id="R6f14b0cca5294b31"/>
    <p:sldId xmlns:r="http://schemas.openxmlformats.org/officeDocument/2006/relationships" id="274" r:id="R495574b102ec485e"/>
    <p:sldId xmlns:r="http://schemas.openxmlformats.org/officeDocument/2006/relationships" id="275" r:id="R7bbba4cc236c4f47"/>
    <p:sldId xmlns:r="http://schemas.openxmlformats.org/officeDocument/2006/relationships" id="276" r:id="Rd234e621e5684eff"/>
    <p:sldId xmlns:r="http://schemas.openxmlformats.org/officeDocument/2006/relationships" id="277" r:id="R0b9ccc9721564cff"/>
    <p:sldId xmlns:r="http://schemas.openxmlformats.org/officeDocument/2006/relationships" id="278" r:id="Re438a3a7f0e04a3a"/>
    <p:sldId xmlns:r="http://schemas.openxmlformats.org/officeDocument/2006/relationships" id="279" r:id="R2c2e174fa5a540b0"/>
    <p:sldId xmlns:r="http://schemas.openxmlformats.org/officeDocument/2006/relationships" id="280" r:id="Ra35ff51b541047d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54bb8d131c4dc9" /><Relationship Type="http://schemas.openxmlformats.org/officeDocument/2006/relationships/slideMaster" Target="/ppt/slideMasters/slideMaster1.xml" Id="R49521e175f744ec2" /><Relationship Type="http://schemas.openxmlformats.org/officeDocument/2006/relationships/notesMaster" Target="/ppt/notesMasters/notesMaster1.xml" Id="R7f3158733dbb4d7c" /><Relationship Type="http://schemas.openxmlformats.org/officeDocument/2006/relationships/presProps" Target="/ppt/presProps.xml" Id="Rde66567af0254951" /><Relationship Type="http://schemas.openxmlformats.org/officeDocument/2006/relationships/tableStyles" Target="/ppt/tableStyles.xml" Id="Rcac271bbd6f24cc4" /><Relationship Type="http://schemas.openxmlformats.org/officeDocument/2006/relationships/slide" Target="/ppt/slides/slide1.xml" Id="R9ffa5d6f2e034147" /><Relationship Type="http://schemas.openxmlformats.org/officeDocument/2006/relationships/slide" Target="/ppt/slides/slide2.xml" Id="Rd5762712d984419f" /><Relationship Type="http://schemas.openxmlformats.org/officeDocument/2006/relationships/slide" Target="/ppt/slides/slide3.xml" Id="R32c7b1a15e104b64" /><Relationship Type="http://schemas.openxmlformats.org/officeDocument/2006/relationships/slide" Target="/ppt/slides/slide4.xml" Id="R1513ee6f953e4606" /><Relationship Type="http://schemas.openxmlformats.org/officeDocument/2006/relationships/slide" Target="/ppt/slides/slide5.xml" Id="R167750c354254ea6" /><Relationship Type="http://schemas.openxmlformats.org/officeDocument/2006/relationships/slide" Target="/ppt/slides/slide6.xml" Id="Rc899ff7e3e0a49cb" /><Relationship Type="http://schemas.openxmlformats.org/officeDocument/2006/relationships/slide" Target="/ppt/slides/slide7.xml" Id="Rdd2da89246ef4b61" /><Relationship Type="http://schemas.openxmlformats.org/officeDocument/2006/relationships/slide" Target="/ppt/slides/slide8.xml" Id="Re7530cd6984844bf" /><Relationship Type="http://schemas.openxmlformats.org/officeDocument/2006/relationships/slide" Target="/ppt/slides/slide9.xml" Id="R17f413d871024741" /><Relationship Type="http://schemas.openxmlformats.org/officeDocument/2006/relationships/slide" Target="/ppt/slides/slide10.xml" Id="R19710267153941d8" /><Relationship Type="http://schemas.openxmlformats.org/officeDocument/2006/relationships/slide" Target="/ppt/slides/slide11.xml" Id="Raf35ad04f3af4dd7" /><Relationship Type="http://schemas.openxmlformats.org/officeDocument/2006/relationships/slide" Target="/ppt/slides/slide12.xml" Id="Rd5e6cc0352ef43da" /><Relationship Type="http://schemas.openxmlformats.org/officeDocument/2006/relationships/slide" Target="/ppt/slides/slide13.xml" Id="R61db2289b4a148e6" /><Relationship Type="http://schemas.openxmlformats.org/officeDocument/2006/relationships/slide" Target="/ppt/slides/slide14.xml" Id="R3e2799e24502474a" /><Relationship Type="http://schemas.openxmlformats.org/officeDocument/2006/relationships/slide" Target="/ppt/slides/slide15.xml" Id="R8d83eb350cc94a5d" /><Relationship Type="http://schemas.openxmlformats.org/officeDocument/2006/relationships/slide" Target="/ppt/slides/slide16.xml" Id="R650fb5f9e9534cf1" /><Relationship Type="http://schemas.openxmlformats.org/officeDocument/2006/relationships/slide" Target="/ppt/slides/slide17.xml" Id="Rf1e13c68c59d48d7" /><Relationship Type="http://schemas.openxmlformats.org/officeDocument/2006/relationships/slide" Target="/ppt/slides/slide18.xml" Id="R6f14b0cca5294b31" /><Relationship Type="http://schemas.openxmlformats.org/officeDocument/2006/relationships/slide" Target="/ppt/slides/slide19.xml" Id="R495574b102ec485e" /><Relationship Type="http://schemas.openxmlformats.org/officeDocument/2006/relationships/slide" Target="/ppt/slides/slide20.xml" Id="R7bbba4cc236c4f47" /><Relationship Type="http://schemas.openxmlformats.org/officeDocument/2006/relationships/slide" Target="/ppt/slides/slide21.xml" Id="Rd234e621e5684eff" /><Relationship Type="http://schemas.openxmlformats.org/officeDocument/2006/relationships/slide" Target="/ppt/slides/slide22.xml" Id="R0b9ccc9721564cff" /><Relationship Type="http://schemas.openxmlformats.org/officeDocument/2006/relationships/slide" Target="/ppt/slides/slide23.xml" Id="Re438a3a7f0e04a3a" /><Relationship Type="http://schemas.openxmlformats.org/officeDocument/2006/relationships/slide" Target="/ppt/slides/slide24.xml" Id="R2c2e174fa5a540b0" /><Relationship Type="http://schemas.openxmlformats.org/officeDocument/2006/relationships/slide" Target="/ppt/slides/slide25.xml" Id="Ra35ff51b541047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0829c703944e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101d00bf1d4f6b" /><Relationship Type="http://schemas.openxmlformats.org/officeDocument/2006/relationships/notesMaster" Target="/ppt/notesMasters/notesMaster1.xml" Id="Ra3affc9648784c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d7c09eb1734cd2" /><Relationship Type="http://schemas.openxmlformats.org/officeDocument/2006/relationships/notesMaster" Target="/ppt/notesMasters/notesMaster1.xml" Id="R88effd94d4d944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489f9c9f424287" /><Relationship Type="http://schemas.openxmlformats.org/officeDocument/2006/relationships/notesMaster" Target="/ppt/notesMasters/notesMaster1.xml" Id="Rc70f7acf9db344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bb086769134bca" /><Relationship Type="http://schemas.openxmlformats.org/officeDocument/2006/relationships/notesMaster" Target="/ppt/notesMasters/notesMaster1.xml" Id="Re6dbc6284fa04d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f4d04b93504bf5" /><Relationship Type="http://schemas.openxmlformats.org/officeDocument/2006/relationships/notesMaster" Target="/ppt/notesMasters/notesMaster1.xml" Id="R3f5a138d5ae24c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b5fb38600f42e0" /><Relationship Type="http://schemas.openxmlformats.org/officeDocument/2006/relationships/notesMaster" Target="/ppt/notesMasters/notesMaster1.xml" Id="R2e47d8ef1e604e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09345aca604da6" /><Relationship Type="http://schemas.openxmlformats.org/officeDocument/2006/relationships/notesMaster" Target="/ppt/notesMasters/notesMaster1.xml" Id="R261ae664c16e4b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61b9a5f1f14743" /><Relationship Type="http://schemas.openxmlformats.org/officeDocument/2006/relationships/notesMaster" Target="/ppt/notesMasters/notesMaster1.xml" Id="R4822b1f1508941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b010a664904b91" /><Relationship Type="http://schemas.openxmlformats.org/officeDocument/2006/relationships/notesMaster" Target="/ppt/notesMasters/notesMaster1.xml" Id="Rfccc0ca01cd84b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51b4cb7a10411d" /><Relationship Type="http://schemas.openxmlformats.org/officeDocument/2006/relationships/notesMaster" Target="/ppt/notesMasters/notesMaster1.xml" Id="Rf8ef99c5cc4544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4403f4df7d474f" /><Relationship Type="http://schemas.openxmlformats.org/officeDocument/2006/relationships/notesMaster" Target="/ppt/notesMasters/notesMaster1.xml" Id="R3974e4e066d342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911057283b4a64" /><Relationship Type="http://schemas.openxmlformats.org/officeDocument/2006/relationships/notesMaster" Target="/ppt/notesMasters/notesMaster1.xml" Id="R263ddac89b284b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e952bb3db64ebf" /><Relationship Type="http://schemas.openxmlformats.org/officeDocument/2006/relationships/notesMaster" Target="/ppt/notesMasters/notesMaster1.xml" Id="R5fb4d5eadc424a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c341daeca74f87" /><Relationship Type="http://schemas.openxmlformats.org/officeDocument/2006/relationships/notesMaster" Target="/ppt/notesMasters/notesMaster1.xml" Id="R471a76e9547c4e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3495d4a0c043e1" /><Relationship Type="http://schemas.openxmlformats.org/officeDocument/2006/relationships/notesMaster" Target="/ppt/notesMasters/notesMaster1.xml" Id="Rebcc0eb09cd342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075bef89ee4746" /><Relationship Type="http://schemas.openxmlformats.org/officeDocument/2006/relationships/notesMaster" Target="/ppt/notesMasters/notesMaster1.xml" Id="Rdd4d606e2c6040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f87a8b92e04952" /><Relationship Type="http://schemas.openxmlformats.org/officeDocument/2006/relationships/notesMaster" Target="/ppt/notesMasters/notesMaster1.xml" Id="Rab575c9432f340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8f01f95c77471b" /><Relationship Type="http://schemas.openxmlformats.org/officeDocument/2006/relationships/notesMaster" Target="/ppt/notesMasters/notesMaster1.xml" Id="R19cb9c57dd5c42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7871d04b9343be" /><Relationship Type="http://schemas.openxmlformats.org/officeDocument/2006/relationships/notesMaster" Target="/ppt/notesMasters/notesMaster1.xml" Id="Rb65f7c0f788d479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6b0160f4414e32" /><Relationship Type="http://schemas.openxmlformats.org/officeDocument/2006/relationships/notesMaster" Target="/ppt/notesMasters/notesMaster1.xml" Id="Rc6f53c8f52274c6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fd5db2308e49b2" /><Relationship Type="http://schemas.openxmlformats.org/officeDocument/2006/relationships/notesMaster" Target="/ppt/notesMasters/notesMaster1.xml" Id="Re8fe4fb5e58d4c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1cdef9fa6b439a" /><Relationship Type="http://schemas.openxmlformats.org/officeDocument/2006/relationships/notesMaster" Target="/ppt/notesMasters/notesMaster1.xml" Id="Raa297129007449a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7b1ec0929a1497e" /><Relationship Type="http://schemas.openxmlformats.org/officeDocument/2006/relationships/notesMaster" Target="/ppt/notesMasters/notesMaster1.xml" Id="Rb9233865c97841f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9617b2c7234c0f" /><Relationship Type="http://schemas.openxmlformats.org/officeDocument/2006/relationships/notesMaster" Target="/ppt/notesMasters/notesMaster1.xml" Id="R5878bc6a74224b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548a92c8ff475f" /><Relationship Type="http://schemas.openxmlformats.org/officeDocument/2006/relationships/notesMaster" Target="/ppt/notesMasters/notesMaster1.xml" Id="R710c708613ee49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gebruik je de theorie?</a:t>
            </a:r>
          </a:p>
          <a:p xmlns:a="http://schemas.openxmlformats.org/drawingml/2006/main">
            <a:r>
              <a:rPr sz="1400"/>
              <a:t/>
            </a:r>
          </a:p>
          <a:p xmlns:a="http://schemas.openxmlformats.org/drawingml/2006/main">
            <a:r>
              <a:rPr sz="1400"/>
              <a:t>Uitleg: Laat dit overzicht staan tijdens startopdracht. Start 37–38 staat op p. 42 van het complete boek. Basis 39–40 staat op p. 43 en 40A op p. 44; zelfstandig 41–42 op p. 45; doel 43 op p. 46. Huiswerk: 39, 40, 40A, 41, 42 en 43 maken en nakijken. 40A is de afzonderlijke quotumoefening en kan vóór 40c. Bonus 44 en herhaling 45 zijn extra.</a:t>
            </a:r>
          </a:p>
          <a:p xmlns:a="http://schemas.openxmlformats.org/drawingml/2006/main">
            <a:r>
              <a:rPr sz="1400"/>
              <a:t/>
            </a:r>
          </a:p>
          <a:p xmlns:a="http://schemas.openxmlformats.org/drawingml/2006/main">
            <a:r>
              <a:rPr sz="1400"/>
              <a:t>Start 37 gebruikt bekende gelijkstelling en invullen, maar het aanbodoverschot en de minimumprijs in 38 zijn verkenning. Laat leerlingen eerst de definitie op p. 39 en het onderscheid vraag/aanbod/verkoop op p. 40 lezen. Bij Q(P) stel je voor evenwicht de twee hoeveelheden gelijk; bij een gegeven prijs vul je die prijs in beide functies in. Doe de start niet voor. Laat leerlingen markeren welke uitleg hen helpt. Keer na de uitleg, bij dit overzicht vóór basiswerk, terug naar 37–38 en laat antwoorden en redeneringen verbeteren.</a:t>
            </a:r>
          </a:p>
          <a:p xmlns:a="http://schemas.openxmlformats.org/drawingml/2006/main">
            <a:r>
              <a:rPr sz="1400"/>
              <a:t/>
            </a:r>
          </a:p>
          <a:p xmlns:a="http://schemas.openxmlformats.org/drawingml/2006/main">
            <a:r>
              <a:rPr sz="1400"/>
              <a:t>Docentplanning: de bron adviseert voorlopig twee lessen van 55 minuten met zo nodig uitloop. Ook 110 minuten is niet aangetoond. Rond de volledige route in een vervolg of als huiswerk af; sla 40A niet over om tijd te winnen.</a:t>
            </a:r>
          </a:p>
          <a:p xmlns:a="http://schemas.openxmlformats.org/drawingml/2006/main">
            <a:r>
              <a:rPr sz="1400"/>
              <a:t/>
            </a:r>
          </a:p>
          <a:p xmlns:a="http://schemas.openxmlformats.org/drawingml/2006/main">
            <a:r>
              <a:rPr sz="1400"/>
              <a:t>Misvatting: De hoofdstukbron noemt p. 38 en 42. In het complete leerlingboek zijn dit gedrukte p. 42 en 46.</a:t>
            </a:r>
          </a:p>
          <a:p xmlns:a="http://schemas.openxmlformats.org/drawingml/2006/main">
            <a:r>
              <a:rPr sz="1400"/>
              <a:t/>
            </a:r>
          </a:p>
          <a:p xmlns:a="http://schemas.openxmlformats.org/drawingml/2006/main">
            <a:r>
              <a:rPr sz="1400"/>
              <a:t>Overgang: Ga door met de volgende lesfase.</a:t>
            </a:r>
          </a:p>
          <a:p xmlns:a="http://schemas.openxmlformats.org/drawingml/2006/main">
            <a:r>
              <a:rPr sz="1400"/>
              <a:t/>
            </a:r>
          </a:p>
          <a:p xmlns:a="http://schemas.openxmlformats.org/drawingml/2006/main">
            <a:r>
              <a:rPr sz="1400"/>
              <a:t>Bron: Boek 3 v3, geselecteerde en herstelde editie, compleet leerlingboek, gedrukte pagina 39–46.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Startantwoorden voor de docent: 37: P₀ = € 12, Q₀ = 40 kratten/week; bij € 14: Qv = 30, Qa = 50, overschot = 20 kratten/week. 38: € 12 blijft toegestaan boven de ondergrens € 9.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het dat een prijs nog is toegestaan?</a:t>
            </a:r>
          </a:p>
          <a:p xmlns:a="http://schemas.openxmlformats.org/drawingml/2006/main">
            <a:r>
              <a:rPr sz="1400"/>
              <a:t/>
            </a:r>
          </a:p>
          <a:p xmlns:a="http://schemas.openxmlformats.org/drawingml/2006/main">
            <a:r>
              <a:rPr sz="1400"/>
              <a:t>Uitleg: Koppel de drie doelen aan de verschillende regelingen. Vraag, aanbod en werkelijk verkochte hoeveelheid zijn drie verschillende grootheden. Uit §3.1.4 gebruiken we het vrije evenwicht en het toetsen van een prijsgrens opnieuw. De richting van de grens verandert.</a:t>
            </a:r>
          </a:p>
          <a:p xmlns:a="http://schemas.openxmlformats.org/drawingml/2006/main">
            <a:r>
              <a:rPr sz="1400"/>
              <a:t/>
            </a:r>
          </a:p>
          <a:p xmlns:a="http://schemas.openxmlformats.org/drawingml/2006/main">
            <a:r>
              <a:rPr sz="1400"/>
              <a:t>Misvatting: De regel voor een maximumprijs heeft de omgekeerde richting.</a:t>
            </a:r>
          </a:p>
          <a:p xmlns:a="http://schemas.openxmlformats.org/drawingml/2006/main">
            <a:r>
              <a:rPr sz="1400"/>
              <a:t/>
            </a:r>
          </a:p>
          <a:p xmlns:a="http://schemas.openxmlformats.org/drawingml/2006/main">
            <a:r>
              <a:rPr sz="1400"/>
              <a:t>Overgang: Begin met een eigen oefenmarkt.</a:t>
            </a:r>
          </a:p>
          <a:p xmlns:a="http://schemas.openxmlformats.org/drawingml/2006/main">
            <a:r>
              <a:rPr sz="1400"/>
              <a:t/>
            </a:r>
          </a:p>
          <a:p xmlns:a="http://schemas.openxmlformats.org/drawingml/2006/main">
            <a:r>
              <a:rPr sz="1400"/>
              <a:t>Bron: Boek 3 v3, geselecteerde en herstelde editie, compleet leerlingboek, gedrukte pagina 39–42.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eenheden staan bij Q en P?</a:t>
            </a:r>
          </a:p>
          <a:p xmlns:a="http://schemas.openxmlformats.org/drawingml/2006/main">
            <a:r>
              <a:rPr sz="1400"/>
              <a:t/>
            </a:r>
          </a:p>
          <a:p xmlns:a="http://schemas.openxmlformats.org/drawingml/2006/main">
            <a:r>
              <a:rPr sz="1400"/>
              <a:t>Uitleg: Deze zelfgemaakte markt is geen boekopgave. Alle potten zijn gelijk. Er veranderen geen andere vraag- of aanbodfactoren. Later voegen we apart een minimumprijs, volledige opkoop en daarna een quotum toe.</a:t>
            </a:r>
          </a:p>
          <a:p xmlns:a="http://schemas.openxmlformats.org/drawingml/2006/main">
            <a:r>
              <a:rPr sz="1400"/>
              <a:t/>
            </a:r>
          </a:p>
          <a:p xmlns:a="http://schemas.openxmlformats.org/drawingml/2006/main">
            <a:r>
              <a:rPr sz="1400"/>
              <a:t>Misvatting: De drie regelingen gelden niet tegelijkertijd.</a:t>
            </a:r>
          </a:p>
          <a:p xmlns:a="http://schemas.openxmlformats.org/drawingml/2006/main">
            <a:r>
              <a:rPr sz="1400"/>
              <a:t/>
            </a:r>
          </a:p>
          <a:p xmlns:a="http://schemas.openxmlformats.org/drawingml/2006/main">
            <a:r>
              <a:rPr sz="1400"/>
              <a:t>Overgang: Herhaal kort het berekenen van het vrije evenwicht.</a:t>
            </a:r>
          </a:p>
          <a:p xmlns:a="http://schemas.openxmlformats.org/drawingml/2006/main">
            <a:r>
              <a:rPr sz="1400"/>
              <a:t/>
            </a:r>
          </a:p>
          <a:p xmlns:a="http://schemas.openxmlformats.org/drawingml/2006/main">
            <a:r>
              <a:rPr sz="1400"/>
              <a:t>Bron: Boek 3 v3, geselecteerde en herstelde editie, compleet leerlingboek, gedrukte pagina 39–42.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los je eerst op als beide functies Q als uitkomst hebben?</a:t>
            </a:r>
          </a:p>
          <a:p xmlns:a="http://schemas.openxmlformats.org/drawingml/2006/main">
            <a:r>
              <a:rPr sz="1400"/>
              <a:t/>
            </a:r>
          </a:p>
          <a:p xmlns:a="http://schemas.openxmlformats.org/drawingml/2006/main">
            <a:r>
              <a:rPr sz="1400"/>
              <a:t>Uitleg: Bij P(Q) stel je de prijzen gelijk en los je eerst Q op. Dezelfde vraag kan geschreven worden als Qv = 120 − 5P en aanbod als Qa = 10P − 60. Bij die Q(P)-vorm stel je hoeveelheden gelijk: 120 − 5P = 10P − 60 geeft P = 12 en daarna Q = 60. Zo verbind je beide representaties. Deze herhaling is belangrijk bij start 37.</a:t>
            </a:r>
          </a:p>
          <a:p xmlns:a="http://schemas.openxmlformats.org/drawingml/2006/main">
            <a:r>
              <a:rPr sz="1400"/>
              <a:t/>
            </a:r>
          </a:p>
          <a:p xmlns:a="http://schemas.openxmlformats.org/drawingml/2006/main">
            <a:r>
              <a:rPr sz="1400"/>
              <a:t>Misvatting: Gelijkstellen vraagt dezelfde grootheid aan beide kanten.</a:t>
            </a:r>
          </a:p>
          <a:p xmlns:a="http://schemas.openxmlformats.org/drawingml/2006/main">
            <a:r>
              <a:rPr sz="1400"/>
              <a:t/>
            </a:r>
          </a:p>
          <a:p xmlns:a="http://schemas.openxmlformats.org/drawingml/2006/main">
            <a:r>
              <a:rPr sz="1400"/>
              <a:t>Overgang: Lees de uitkomst af in de grafiek.</a:t>
            </a:r>
          </a:p>
          <a:p xmlns:a="http://schemas.openxmlformats.org/drawingml/2006/main">
            <a:r>
              <a:rPr sz="1400"/>
              <a:t/>
            </a:r>
          </a:p>
          <a:p xmlns:a="http://schemas.openxmlformats.org/drawingml/2006/main">
            <a:r>
              <a:rPr sz="1400"/>
              <a:t>Bron: Boek 3 v3, geselecteerde en herstelde editie, compleet leerlingboek, gedrukte pagina 34 en 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horen de twee uitkomsten bij hetzelfde punt?</a:t>
            </a:r>
          </a:p>
          <a:p xmlns:a="http://schemas.openxmlformats.org/drawingml/2006/main">
            <a:r>
              <a:rPr sz="1400"/>
              <a:t/>
            </a:r>
          </a:p>
          <a:p xmlns:a="http://schemas.openxmlformats.org/drawingml/2006/main">
            <a:r>
              <a:rPr sz="1400"/>
              <a:t>Uitleg: V daalt en A stijgt. De hulplijnen verbinden het snijpunt met Q = 60 en P = 12. Hoeveelheden staan horizontaal, euro per pot verticaal. De grafiek gebruikt dezelfde functies als de vorige dia.</a:t>
            </a:r>
          </a:p>
          <a:p xmlns:a="http://schemas.openxmlformats.org/drawingml/2006/main">
            <a:r>
              <a:rPr sz="1400"/>
              <a:t/>
            </a:r>
          </a:p>
          <a:p xmlns:a="http://schemas.openxmlformats.org/drawingml/2006/main">
            <a:r>
              <a:rPr sz="1400"/>
              <a:t>Misvatting: Een punt op V alleen is nog geen evenwicht.</a:t>
            </a:r>
          </a:p>
          <a:p xmlns:a="http://schemas.openxmlformats.org/drawingml/2006/main">
            <a:r>
              <a:rPr sz="1400"/>
              <a:t/>
            </a:r>
          </a:p>
          <a:p xmlns:a="http://schemas.openxmlformats.org/drawingml/2006/main">
            <a:r>
              <a:rPr sz="1400"/>
              <a:t>Overgang: Voeg een prijsgrens toe.</a:t>
            </a:r>
          </a:p>
          <a:p xmlns:a="http://schemas.openxmlformats.org/drawingml/2006/main">
            <a:r>
              <a:rPr sz="1400"/>
              <a:t/>
            </a:r>
          </a:p>
          <a:p xmlns:a="http://schemas.openxmlformats.org/drawingml/2006/main">
            <a:r>
              <a:rPr sz="1400"/>
              <a:t>Bron: Boek 3 v3, geselecteerde en herstelde editie, compleet leerlingboek, gedrukte pagina 39–42.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prijzen verbiedt een minimum van 15?</a:t>
            </a:r>
          </a:p>
          <a:p xmlns:a="http://schemas.openxmlformats.org/drawingml/2006/main">
            <a:r>
              <a:rPr sz="1400"/>
              <a:t/>
            </a:r>
          </a:p>
          <a:p xmlns:a="http://schemas.openxmlformats.org/drawingml/2006/main">
            <a:r>
              <a:rPr sz="1400"/>
              <a:t>Uitleg: Het voorbeeld met 10 is een afzonderlijke, niet-bindende regeling. Een minimum van 12 zou het vrije evenwicht precies toelaten. Vergelijk altijd eerst met de vrije prijs, vóór invullen.</a:t>
            </a:r>
          </a:p>
          <a:p xmlns:a="http://schemas.openxmlformats.org/drawingml/2006/main">
            <a:r>
              <a:rPr sz="1400"/>
              <a:t/>
            </a:r>
          </a:p>
          <a:p xmlns:a="http://schemas.openxmlformats.org/drawingml/2006/main">
            <a:r>
              <a:rPr sz="1400"/>
              <a:t>Misvatting: Een minimum is geen verplicht prijskaartje.</a:t>
            </a:r>
          </a:p>
          <a:p xmlns:a="http://schemas.openxmlformats.org/drawingml/2006/main">
            <a:r>
              <a:rPr sz="1400"/>
              <a:t/>
            </a:r>
          </a:p>
          <a:p xmlns:a="http://schemas.openxmlformats.org/drawingml/2006/main">
            <a:r>
              <a:rPr sz="1400"/>
              <a:t>Overgang: Bereken nu bij de bindende ondergrens van 15.</a:t>
            </a:r>
          </a:p>
          <a:p xmlns:a="http://schemas.openxmlformats.org/drawingml/2006/main">
            <a:r>
              <a:rPr sz="1400"/>
              <a:t/>
            </a:r>
          </a:p>
          <a:p xmlns:a="http://schemas.openxmlformats.org/drawingml/2006/main">
            <a:r>
              <a:rPr sz="1400"/>
              <a:t>Bron: Boek 3 v3, geselecteerde en herstelde editie, compleet leerlingboek, gedrukte pagina 39.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 je hier vraag van aanbod af?</a:t>
            </a:r>
          </a:p>
          <a:p xmlns:a="http://schemas.openxmlformats.org/drawingml/2006/main">
            <a:r>
              <a:rPr sz="1400"/>
              <a:t/>
            </a:r>
          </a:p>
          <a:p xmlns:a="http://schemas.openxmlformats.org/drawingml/2006/main">
            <a:r>
              <a:rPr sz="1400"/>
              <a:t>Uitleg: Gebruik één en dezelfde minimumprijs in beide oorspronkelijke functies. Vraag en aanbod verschuiven niet. Het verschil is het gewenste aanbod dat particuliere kopers niet afnemen.</a:t>
            </a:r>
          </a:p>
          <a:p xmlns:a="http://schemas.openxmlformats.org/drawingml/2006/main">
            <a:r>
              <a:rPr sz="1400"/>
              <a:t/>
            </a:r>
          </a:p>
          <a:p xmlns:a="http://schemas.openxmlformats.org/drawingml/2006/main">
            <a:r>
              <a:rPr sz="1400"/>
              <a:t>Misvatting: Bij een maximumprijs was er een vraagoverschot. Neem niet automatisch dezelfde aftrekvolgorde.</a:t>
            </a:r>
          </a:p>
          <a:p xmlns:a="http://schemas.openxmlformats.org/drawingml/2006/main">
            <a:r>
              <a:rPr sz="1400"/>
              <a:t/>
            </a:r>
          </a:p>
          <a:p xmlns:a="http://schemas.openxmlformats.org/drawingml/2006/main">
            <a:r>
              <a:rPr sz="1400"/>
              <a:t>Overgang: Onderscheid het gewenste aanbod van de werkelijke verkoop.</a:t>
            </a:r>
          </a:p>
          <a:p xmlns:a="http://schemas.openxmlformats.org/drawingml/2006/main">
            <a:r>
              <a:rPr sz="1400"/>
              <a:t/>
            </a:r>
          </a:p>
          <a:p xmlns:a="http://schemas.openxmlformats.org/drawingml/2006/main">
            <a:r>
              <a:rPr sz="1400"/>
              <a:t>Bron: Boek 3 v3, geselecteerde en herstelde editie, compleet leerlingboek, gedrukte pagina 39–42.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Zijn de 90 aangeboden potten ook allemaal verkocht?</a:t>
            </a:r>
          </a:p>
          <a:p xmlns:a="http://schemas.openxmlformats.org/drawingml/2006/main">
            <a:r>
              <a:rPr sz="1400"/>
              <a:t/>
            </a:r>
          </a:p>
          <a:p xmlns:a="http://schemas.openxmlformats.org/drawingml/2006/main">
            <a:r>
              <a:rPr sz="1400"/>
              <a:t>Uitleg: Er is geen opkoop of andere afnemer. Daardoor worden alleen de 45 gevraagde potten verkocht. A vertelt wat kwekers willen aanbieden, niet dat alle 90 worden geproduceerd en verkocht. De verticale hulplijnen tonen 45 en 90. De horizontale lijn is de prijsgrens.</a:t>
            </a:r>
          </a:p>
          <a:p xmlns:a="http://schemas.openxmlformats.org/drawingml/2006/main">
            <a:r>
              <a:rPr sz="1400"/>
              <a:t/>
            </a:r>
          </a:p>
          <a:p xmlns:a="http://schemas.openxmlformats.org/drawingml/2006/main">
            <a:r>
              <a:rPr sz="1400"/>
              <a:t>Misvatting: Een prijsregel maakt de overheid niet vanzelf koper.</a:t>
            </a:r>
          </a:p>
          <a:p xmlns:a="http://schemas.openxmlformats.org/drawingml/2006/main">
            <a:r>
              <a:rPr sz="1400"/>
              <a:t/>
            </a:r>
          </a:p>
          <a:p xmlns:a="http://schemas.openxmlformats.org/drawingml/2006/main">
            <a:r>
              <a:rPr sz="1400"/>
              <a:t>Overgang: Verander nu alleen de aankoopbelofte.</a:t>
            </a:r>
          </a:p>
          <a:p xmlns:a="http://schemas.openxmlformats.org/drawingml/2006/main">
            <a:r>
              <a:rPr sz="1400"/>
              <a:t/>
            </a:r>
          </a:p>
          <a:p xmlns:a="http://schemas.openxmlformats.org/drawingml/2006/main">
            <a:r>
              <a:rPr sz="1400"/>
              <a:t>Bron: Boek 3 v3, geselecteerde en herstelde editie, compleet leerlingboek, gedrukte pagina 40.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verandert terwijl de particuliere vraag gelijk blijft?</a:t>
            </a:r>
          </a:p>
          <a:p xmlns:a="http://schemas.openxmlformats.org/drawingml/2006/main">
            <a:r>
              <a:rPr sz="1400"/>
              <a:t/>
            </a:r>
          </a:p>
          <a:p xmlns:a="http://schemas.openxmlformats.org/drawingml/2006/main">
            <a:r>
              <a:rPr sz="1400"/>
              <a:t>Uitleg: De functies en minimumprijs blijven gelijk. We voegen uitsluitend de garantie toe dat de overheid het hele overschot koopt. Nu hebben alle 90 geleverde potten een afnemer.</a:t>
            </a:r>
          </a:p>
          <a:p xmlns:a="http://schemas.openxmlformats.org/drawingml/2006/main">
            <a:r>
              <a:rPr sz="1400"/>
              <a:t/>
            </a:r>
          </a:p>
          <a:p xmlns:a="http://schemas.openxmlformats.org/drawingml/2006/main">
            <a:r>
              <a:rPr sz="1400"/>
              <a:t>Misvatting: De overheid koopt 45 en niet alle 90 potten.</a:t>
            </a:r>
          </a:p>
          <a:p xmlns:a="http://schemas.openxmlformats.org/drawingml/2006/main">
            <a:r>
              <a:rPr sz="1400"/>
              <a:t/>
            </a:r>
          </a:p>
          <a:p xmlns:a="http://schemas.openxmlformats.org/drawingml/2006/main">
            <a:r>
              <a:rPr sz="1400"/>
              <a:t>Overgang: Bereken de uitgaven over precies die overheidsaankopen.</a:t>
            </a:r>
          </a:p>
          <a:p xmlns:a="http://schemas.openxmlformats.org/drawingml/2006/main">
            <a:r>
              <a:rPr sz="1400"/>
              <a:t/>
            </a:r>
          </a:p>
          <a:p xmlns:a="http://schemas.openxmlformats.org/drawingml/2006/main">
            <a:r>
              <a:rPr sz="1400"/>
              <a:t>Bron: Boek 3 v3, geselecteerde en herstelde editie, compleet leerlingboek, gedrukte pagina 40.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begint de rechthoek pas bij Qv?</a:t>
            </a:r>
          </a:p>
          <a:p xmlns:a="http://schemas.openxmlformats.org/drawingml/2006/main">
            <a:r>
              <a:rPr sz="1400"/>
              <a:t/>
            </a:r>
          </a:p>
          <a:p xmlns:a="http://schemas.openxmlformats.org/drawingml/2006/main">
            <a:r>
              <a:rPr sz="1400"/>
              <a:t>Uitleg: De gearceerde rechthoek loopt van Q = 45 tot 90 en van P = 0 tot 15. Basis maal hoogte geeft euro per week. De hoogte is de hele aankoopprijs van 15, niet het verschil met 12. U is een uitgave, geen automatische maat voor welvaartsverlies.</a:t>
            </a:r>
          </a:p>
          <a:p xmlns:a="http://schemas.openxmlformats.org/drawingml/2006/main">
            <a:r>
              <a:rPr sz="1400"/>
              <a:t/>
            </a:r>
          </a:p>
          <a:p xmlns:a="http://schemas.openxmlformats.org/drawingml/2006/main">
            <a:r>
              <a:rPr sz="1400"/>
              <a:t>Misvatting: U = 15 × 90 zou ook particuliere aankopen laten betalen door de overheid.</a:t>
            </a:r>
          </a:p>
          <a:p xmlns:a="http://schemas.openxmlformats.org/drawingml/2006/main">
            <a:r>
              <a:rPr sz="1400"/>
              <a:t/>
            </a:r>
          </a:p>
          <a:p xmlns:a="http://schemas.openxmlformats.org/drawingml/2006/main">
            <a:r>
              <a:rPr sz="1400"/>
              <a:t>Overgang: Vervang nu de hele prijs- en opkoopregeling.</a:t>
            </a:r>
          </a:p>
          <a:p xmlns:a="http://schemas.openxmlformats.org/drawingml/2006/main">
            <a:r>
              <a:rPr sz="1400"/>
              <a:t/>
            </a:r>
          </a:p>
          <a:p xmlns:a="http://schemas.openxmlformats.org/drawingml/2006/main">
            <a:r>
              <a:rPr sz="1400"/>
              <a:t>Bron: Boek 3 v3, geselecteerde en herstelde editie, compleet leerlingboek, gedrukte pagina 40–42.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vrije uitkomst verhindert dit maximum?</a:t>
            </a:r>
          </a:p>
          <a:p xmlns:a="http://schemas.openxmlformats.org/drawingml/2006/main">
            <a:r>
              <a:rPr sz="1400"/>
              <a:t/>
            </a:r>
          </a:p>
          <a:p xmlns:a="http://schemas.openxmlformats.org/drawingml/2006/main">
            <a:r>
              <a:rPr sz="1400"/>
              <a:t>Uitleg: Dit is een nieuwe regeling. Wis de minimumprijs en de opkoop uit je redenering. Het quotum begrenst de productie. De tekst bepaalt dat alle toegestane potten daadwerkelijk worden verkocht. Gratis verdeelde rechten leveren geen inkomsten voor de overheid op.</a:t>
            </a:r>
          </a:p>
          <a:p xmlns:a="http://schemas.openxmlformats.org/drawingml/2006/main">
            <a:r>
              <a:rPr sz="1400"/>
              <a:t/>
            </a:r>
          </a:p>
          <a:p xmlns:a="http://schemas.openxmlformats.org/drawingml/2006/main">
            <a:r>
              <a:rPr sz="1400"/>
              <a:t>Misvatting: Een quotum is een hoeveelheid, dus vergelijk het met Q₀ en niet met P₀.</a:t>
            </a:r>
          </a:p>
          <a:p xmlns:a="http://schemas.openxmlformats.org/drawingml/2006/main">
            <a:r>
              <a:rPr sz="1400"/>
              <a:t/>
            </a:r>
          </a:p>
          <a:p xmlns:a="http://schemas.openxmlformats.org/drawingml/2006/main">
            <a:r>
              <a:rPr sz="1400"/>
              <a:t>Overgang: Lees de verkoopprijs nu op V af.</a:t>
            </a:r>
          </a:p>
          <a:p xmlns:a="http://schemas.openxmlformats.org/drawingml/2006/main">
            <a:r>
              <a:rPr sz="1400"/>
              <a:t/>
            </a:r>
          </a:p>
          <a:p xmlns:a="http://schemas.openxmlformats.org/drawingml/2006/main">
            <a:r>
              <a:rPr sz="1400"/>
              <a:t>Bron: Boek 3 v3, geselecteerde en herstelde editie, compleet leerlingboek, gedrukte pagina 41–42.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beschrijft de betalingsbereidheid van kopers?</a:t>
            </a:r>
          </a:p>
          <a:p xmlns:a="http://schemas.openxmlformats.org/drawingml/2006/main">
            <a:r>
              <a:rPr sz="1400"/>
              <a:t/>
            </a:r>
          </a:p>
          <a:p xmlns:a="http://schemas.openxmlformats.org/drawingml/2006/main">
            <a:r>
              <a:rPr sz="1400"/>
              <a:t>Uitleg: De verticale grens ligt op Q = 45. V vertelt de prijs waarbij particuliere kopers precies deze 45 potten kopen: 15 euro. A geeft bij dezelfde hoeveelheid 6 + 0,10 × 45 = 10,50 euro marginale kosten. Dat is niet de verkoopprijs. De productie kan vanwege het quotum niet doorgroeien tot het vrije evenwicht.</a:t>
            </a:r>
          </a:p>
          <a:p xmlns:a="http://schemas.openxmlformats.org/drawingml/2006/main">
            <a:r>
              <a:rPr sz="1400"/>
              <a:t/>
            </a:r>
          </a:p>
          <a:p xmlns:a="http://schemas.openxmlformats.org/drawingml/2006/main">
            <a:r>
              <a:rPr sz="1400"/>
              <a:t>Misvatting: Lees bij een bindend quotum niet de verkoopprijs op A af.</a:t>
            </a:r>
          </a:p>
          <a:p xmlns:a="http://schemas.openxmlformats.org/drawingml/2006/main">
            <a:r>
              <a:rPr sz="1400"/>
              <a:t/>
            </a:r>
          </a:p>
          <a:p xmlns:a="http://schemas.openxmlformats.org/drawingml/2006/main">
            <a:r>
              <a:rPr sz="1400"/>
              <a:t>Overgang: Controleer ook een quotum dat het vrije evenwicht toelaat.</a:t>
            </a:r>
          </a:p>
          <a:p xmlns:a="http://schemas.openxmlformats.org/drawingml/2006/main">
            <a:r>
              <a:rPr sz="1400"/>
              <a:t/>
            </a:r>
          </a:p>
          <a:p xmlns:a="http://schemas.openxmlformats.org/drawingml/2006/main">
            <a:r>
              <a:rPr sz="1400"/>
              <a:t>Bron: Boek 3 v3, geselecteerde en herstelde editie, compleet leerlingboek, gedrukte pagina 41–42.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vullen we nu Q = 60 in en niet Q = 80?</a:t>
            </a:r>
          </a:p>
          <a:p xmlns:a="http://schemas.openxmlformats.org/drawingml/2006/main">
            <a:r>
              <a:rPr sz="1400"/>
              <a:t/>
            </a:r>
          </a:p>
          <a:p xmlns:a="http://schemas.openxmlformats.org/drawingml/2006/main">
            <a:r>
              <a:rPr sz="1400"/>
              <a:t>Uitleg: Deze nieuwe grens vervangt 45 en laat alle andere aannamen gelijk. De markt hoeft niet 80 te produceren. Lees daarom niet de prijs op V af bij 80. Dit bereidt de afzonderlijke begeleide quotumoefening 40A voor.</a:t>
            </a:r>
          </a:p>
          <a:p xmlns:a="http://schemas.openxmlformats.org/drawingml/2006/main">
            <a:r>
              <a:rPr sz="1400"/>
              <a:t/>
            </a:r>
          </a:p>
          <a:p xmlns:a="http://schemas.openxmlformats.org/drawingml/2006/main">
            <a:r>
              <a:rPr sz="1400"/>
              <a:t>Misvatting: Een maximum is geen productieplicht.</a:t>
            </a:r>
          </a:p>
          <a:p xmlns:a="http://schemas.openxmlformats.org/drawingml/2006/main">
            <a:r>
              <a:rPr sz="1400"/>
              <a:t/>
            </a:r>
          </a:p>
          <a:p xmlns:a="http://schemas.openxmlformats.org/drawingml/2006/main">
            <a:r>
              <a:rPr sz="1400"/>
              <a:t>Overgang: Vergelijk de mechanismen voordat leerlingen zelfstandig oefenen.</a:t>
            </a:r>
          </a:p>
          <a:p xmlns:a="http://schemas.openxmlformats.org/drawingml/2006/main">
            <a:r>
              <a:rPr sz="1400"/>
              <a:t/>
            </a:r>
          </a:p>
          <a:p xmlns:a="http://schemas.openxmlformats.org/drawingml/2006/main">
            <a:r>
              <a:rPr sz="1400"/>
              <a:t>Bron: Boek 3 v3, geselecteerde en herstelde editie, compleet leerlingboek, gedrukte pagina 41 en 44.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verschillen kun je met getallen onderbouwen?</a:t>
            </a:r>
          </a:p>
          <a:p xmlns:a="http://schemas.openxmlformats.org/drawingml/2006/main">
            <a:r>
              <a:rPr sz="1400"/>
              <a:t/>
            </a:r>
          </a:p>
          <a:p xmlns:a="http://schemas.openxmlformats.org/drawingml/2006/main">
            <a:r>
              <a:rPr sz="1400"/>
              <a:t>Uitleg: Vraag leerlingen twee berekende verschillen te benoemen: productie en overheidsuitgaven. Laat ze de oorzaak uitleggen, niet alleen getallen noemen. Eén gelijke prijs maakt maatregelen niet gelijk.</a:t>
            </a:r>
          </a:p>
          <a:p xmlns:a="http://schemas.openxmlformats.org/drawingml/2006/main">
            <a:r>
              <a:rPr sz="1400"/>
              <a:t/>
            </a:r>
          </a:p>
          <a:p xmlns:a="http://schemas.openxmlformats.org/drawingml/2006/main">
            <a:r>
              <a:rPr sz="1400"/>
              <a:t>Misvatting: Een overheidsuitgave is niet automatisch hetzelfde als welvaartsverlies.</a:t>
            </a:r>
          </a:p>
          <a:p xmlns:a="http://schemas.openxmlformats.org/drawingml/2006/main">
            <a:r>
              <a:rPr sz="1400"/>
              <a:t/>
            </a:r>
          </a:p>
          <a:p xmlns:a="http://schemas.openxmlformats.org/drawingml/2006/main">
            <a:r>
              <a:rPr sz="1400"/>
              <a:t>Overgang: Keer eerst terug naar de startvragen en laat daarna de volledige oefenroute maken.</a:t>
            </a:r>
          </a:p>
          <a:p xmlns:a="http://schemas.openxmlformats.org/drawingml/2006/main">
            <a:r>
              <a:rPr sz="1400"/>
              <a:t/>
            </a:r>
          </a:p>
          <a:p xmlns:a="http://schemas.openxmlformats.org/drawingml/2006/main">
            <a:r>
              <a:rPr sz="1400"/>
              <a:t>Bron: Boek 3 v3, geselecteerde en herstelde editie, compleet leerlingboek, gedrukte pagina 42.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Uitlegvoorbeeld — niet uit het boek. Kruidenpotten, functies en getallen zijn voor deze uitleg gemaakt. De boekverwijzing onderbouwt de methode, niet deze context of data.</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gebruik je de theorie?</a:t>
            </a:r>
          </a:p>
          <a:p xmlns:a="http://schemas.openxmlformats.org/drawingml/2006/main">
            <a:r>
              <a:rPr sz="1400"/>
              <a:t/>
            </a:r>
          </a:p>
          <a:p xmlns:a="http://schemas.openxmlformats.org/drawingml/2006/main">
            <a:r>
              <a:rPr sz="1400"/>
              <a:t>Uitleg: Laat dit overzicht staan tijdens zelfstandig werken. Start 37–38 staat op p. 42 van het complete boek. Basis 39–40 staat op p. 43 en 40A op p. 44; zelfstandig 41–42 op p. 45; doel 43 op p. 46. Huiswerk: 39, 40, 40A, 41, 42 en 43 maken en nakijken. 40A is de afzonderlijke quotumoefening en kan vóór 40c. Bonus 44 en herhaling 45 zijn extra.</a:t>
            </a:r>
          </a:p>
          <a:p xmlns:a="http://schemas.openxmlformats.org/drawingml/2006/main">
            <a:r>
              <a:rPr sz="1400"/>
              <a:t/>
            </a:r>
          </a:p>
          <a:p xmlns:a="http://schemas.openxmlformats.org/drawingml/2006/main">
            <a:r>
              <a:rPr sz="1400"/>
              <a:t>Start 37 gebruikt bekende gelijkstelling en invullen, maar het aanbodoverschot en de minimumprijs in 38 zijn verkenning. Laat leerlingen eerst de definitie op p. 39 en het onderscheid vraag/aanbod/verkoop op p. 40 lezen. Bij Q(P) stel je voor evenwicht de twee hoeveelheden gelijk; bij een gegeven prijs vul je die prijs in beide functies in. Doe de start niet voor. Laat leerlingen markeren welke uitleg hen helpt. Keer na de uitleg, bij dit overzicht vóór basiswerk, terug naar 37–38 en laat antwoorden en redeneringen verbeteren.</a:t>
            </a:r>
          </a:p>
          <a:p xmlns:a="http://schemas.openxmlformats.org/drawingml/2006/main">
            <a:r>
              <a:rPr sz="1400"/>
              <a:t/>
            </a:r>
          </a:p>
          <a:p xmlns:a="http://schemas.openxmlformats.org/drawingml/2006/main">
            <a:r>
              <a:rPr sz="1400"/>
              <a:t>Docentplanning: de bron adviseert voorlopig twee lessen van 55 minuten met zo nodig uitloop. Ook 110 minuten is niet aangetoond. Rond de volledige route in een vervolg of als huiswerk af; sla 40A niet over om tijd te winnen.</a:t>
            </a:r>
          </a:p>
          <a:p xmlns:a="http://schemas.openxmlformats.org/drawingml/2006/main">
            <a:r>
              <a:rPr sz="1400"/>
              <a:t/>
            </a:r>
          </a:p>
          <a:p xmlns:a="http://schemas.openxmlformats.org/drawingml/2006/main">
            <a:r>
              <a:rPr sz="1400"/>
              <a:t>Misvatting: De hoofdstukbron noemt p. 38 en 42. In het complete leerlingboek zijn dit gedrukte p. 42 en 46.</a:t>
            </a:r>
          </a:p>
          <a:p xmlns:a="http://schemas.openxmlformats.org/drawingml/2006/main">
            <a:r>
              <a:rPr sz="1400"/>
              <a:t/>
            </a:r>
          </a:p>
          <a:p xmlns:a="http://schemas.openxmlformats.org/drawingml/2006/main">
            <a:r>
              <a:rPr sz="1400"/>
              <a:t>Overgang: Ga door met de volgende lesfase.</a:t>
            </a:r>
          </a:p>
          <a:p xmlns:a="http://schemas.openxmlformats.org/drawingml/2006/main">
            <a:r>
              <a:rPr sz="1400"/>
              <a:t/>
            </a:r>
          </a:p>
          <a:p xmlns:a="http://schemas.openxmlformats.org/drawingml/2006/main">
            <a:r>
              <a:rPr sz="1400"/>
              <a:t>Bron: Boek 3 v3, geselecteerde en herstelde editie, compleet leerlingboek, gedrukte pagina 39–46.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Startantwoorden voor de docent: 37: P₀ = € 12, Q₀ = 40 kratten/week; bij € 14: Qv = 30, Qa = 50, overschot = 20 kratten/week. 38: € 12 blijft toegestaan boven de ondergrens € 9.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zinnetje maakt de overheid hier tot koper?</a:t>
            </a:r>
          </a:p>
          <a:p xmlns:a="http://schemas.openxmlformats.org/drawingml/2006/main">
            <a:r>
              <a:rPr sz="1400"/>
              <a:t/>
            </a:r>
          </a:p>
          <a:p xmlns:a="http://schemas.openxmlformats.org/drawingml/2006/main">
            <a:r>
              <a:rPr sz="1400"/>
              <a:t>Uitleg: Dit is de volledige oorspronkelijke context van opgave 43. Begin de bespreking na de eigen poging van leerlingen. Toon ook de basisgrafiek en alle vragen voordat oplossingen verschijnen.</a:t>
            </a:r>
          </a:p>
          <a:p xmlns:a="http://schemas.openxmlformats.org/drawingml/2006/main">
            <a:r>
              <a:rPr sz="1400"/>
              <a:t/>
            </a:r>
          </a:p>
          <a:p xmlns:a="http://schemas.openxmlformats.org/drawingml/2006/main">
            <a:r>
              <a:rPr sz="1400"/>
              <a:t>Misvatting: De gegevens van het kruidenvoorbeeld gelden hier niet meer.</a:t>
            </a:r>
          </a:p>
          <a:p xmlns:a="http://schemas.openxmlformats.org/drawingml/2006/main">
            <a:r>
              <a:rPr sz="1400"/>
              <a:t/>
            </a:r>
          </a:p>
          <a:p xmlns:a="http://schemas.openxmlformats.org/drawingml/2006/main">
            <a:r>
              <a:rPr sz="1400"/>
              <a:t>Overgang: Toon de oorspronkelijke basisgrafiek als bewerkbare grafiek.</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zet je straks de markeringen van elke regeling?</a:t>
            </a:r>
          </a:p>
          <a:p xmlns:a="http://schemas.openxmlformats.org/drawingml/2006/main">
            <a:r>
              <a:rPr sz="1400"/>
              <a:t/>
            </a:r>
          </a:p>
          <a:p xmlns:a="http://schemas.openxmlformats.org/drawingml/2006/main">
            <a:r>
              <a:rPr sz="1400"/>
              <a:t>Uitleg: De basisgrafiek reproduceert figuur 7 met dezelfde functies, Q-bereik 0–160, prijsbereik 0–26 en stapgroottes 20 en 5. Dit zijn bewerkbare lijnen. Er zijn nog geen oplossingsmarkeringen.</a:t>
            </a:r>
          </a:p>
          <a:p xmlns:a="http://schemas.openxmlformats.org/drawingml/2006/main">
            <a:r>
              <a:rPr sz="1400"/>
              <a:t/>
            </a:r>
          </a:p>
          <a:p xmlns:a="http://schemas.openxmlformats.org/drawingml/2006/main">
            <a:r>
              <a:rPr sz="1400"/>
              <a:t>Misvatting: Meng de twee regelingen niet in één berekening.</a:t>
            </a:r>
          </a:p>
          <a:p xmlns:a="http://schemas.openxmlformats.org/drawingml/2006/main">
            <a:r>
              <a:rPr sz="1400"/>
              <a:t/>
            </a:r>
          </a:p>
          <a:p xmlns:a="http://schemas.openxmlformats.org/drawingml/2006/main">
            <a:r>
              <a:rPr sz="1400"/>
              <a:t>Overgang: Toon eerst deelvragen a tot en met c.</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vraagt deelvraag b afzonderlijk?</a:t>
            </a:r>
          </a:p>
          <a:p xmlns:a="http://schemas.openxmlformats.org/drawingml/2006/main">
            <a:r>
              <a:rPr sz="1400"/>
              <a:t/>
            </a:r>
          </a:p>
          <a:p xmlns:a="http://schemas.openxmlformats.org/drawingml/2006/main">
            <a:r>
              <a:rPr sz="1400"/>
              <a:t>Uitleg: Dit zijn de volledige deelvragen a, b en c. Laat leerlingen hun eigen werk gereedhouden. Geef nog geen uitwerking: de volgende dia bevat d en e.</a:t>
            </a:r>
          </a:p>
          <a:p xmlns:a="http://schemas.openxmlformats.org/drawingml/2006/main">
            <a:r>
              <a:rPr sz="1400"/>
              <a:t/>
            </a:r>
          </a:p>
          <a:p xmlns:a="http://schemas.openxmlformats.org/drawingml/2006/main">
            <a:r>
              <a:rPr sz="1400"/>
              <a:t>Misvatting: Alleen het overschot berekenen beantwoordt b niet volledig.</a:t>
            </a:r>
          </a:p>
          <a:p xmlns:a="http://schemas.openxmlformats.org/drawingml/2006/main">
            <a:r>
              <a:rPr sz="1400"/>
              <a:t/>
            </a:r>
          </a:p>
          <a:p xmlns:a="http://schemas.openxmlformats.org/drawingml/2006/main">
            <a:r>
              <a:rPr sz="1400"/>
              <a:t>Overgang: Maak nu ook d en e beschikbaar.</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aannamen van A verdwijnen bij B?</a:t>
            </a:r>
          </a:p>
          <a:p xmlns:a="http://schemas.openxmlformats.org/drawingml/2006/main">
            <a:r>
              <a:rPr sz="1400"/>
              <a:t/>
            </a:r>
          </a:p>
          <a:p xmlns:a="http://schemas.openxmlformats.org/drawingml/2006/main">
            <a:r>
              <a:rPr sz="1400"/>
              <a:t>Uitleg: Alle onderdelen van de echte doelopgave zijn nu getoond zonder berekende oplossingen. Wijs op vervangt volledig en twee berekende verschillen.</a:t>
            </a:r>
          </a:p>
          <a:p xmlns:a="http://schemas.openxmlformats.org/drawingml/2006/main">
            <a:r>
              <a:rPr sz="1400"/>
              <a:t/>
            </a:r>
          </a:p>
          <a:p xmlns:a="http://schemas.openxmlformats.org/drawingml/2006/main">
            <a:r>
              <a:rPr sz="1400"/>
              <a:t>Misvatting: Neem de opkoopgarantie niet mee naar B.</a:t>
            </a:r>
          </a:p>
          <a:p xmlns:a="http://schemas.openxmlformats.org/drawingml/2006/main">
            <a:r>
              <a:rPr sz="1400"/>
              <a:t/>
            </a:r>
          </a:p>
          <a:p xmlns:a="http://schemas.openxmlformats.org/drawingml/2006/main">
            <a:r>
              <a:rPr sz="1400"/>
              <a:t>Overgang: Start nu pas de uitwerking, bij het vrije evenwicht.</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vergelijking bewijst de binding?</a:t>
            </a:r>
          </a:p>
          <a:p xmlns:a="http://schemas.openxmlformats.org/drawingml/2006/main">
            <a:r>
              <a:rPr sz="1400"/>
              <a:t/>
            </a:r>
          </a:p>
          <a:p xmlns:a="http://schemas.openxmlformats.org/drawingml/2006/main">
            <a:r>
              <a:rPr sz="1400"/>
              <a:t>Uitleg: Los V = A op. Controle op A: 8 + 0,10 × 60 = 14. Het vrije evenwicht kan niet blijven gelden, want verkopen voor 14 is bij de ondergrens 16 verboden.</a:t>
            </a:r>
          </a:p>
          <a:p xmlns:a="http://schemas.openxmlformats.org/drawingml/2006/main">
            <a:r>
              <a:rPr sz="1400"/>
              <a:t/>
            </a:r>
          </a:p>
          <a:p xmlns:a="http://schemas.openxmlformats.org/drawingml/2006/main">
            <a:r>
              <a:rPr sz="1400"/>
              <a:t>Misvatting: De minimumprijs alleen noemen is nog geen uitleg.</a:t>
            </a:r>
          </a:p>
          <a:p xmlns:a="http://schemas.openxmlformats.org/drawingml/2006/main">
            <a:r>
              <a:rPr sz="1400"/>
              <a:t/>
            </a:r>
          </a:p>
          <a:p xmlns:a="http://schemas.openxmlformats.org/drawingml/2006/main">
            <a:r>
              <a:rPr sz="1400"/>
              <a:t>Overgang: Vul 16 in beide oorspronkelijke functies in.</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totale verkoop en particuliere vraag hier ongelijk?</a:t>
            </a:r>
          </a:p>
          <a:p xmlns:a="http://schemas.openxmlformats.org/drawingml/2006/main">
            <a:r>
              <a:rPr sz="1400"/>
              <a:t/>
            </a:r>
          </a:p>
          <a:p xmlns:a="http://schemas.openxmlformats.org/drawingml/2006/main">
            <a:r>
              <a:rPr sz="1400"/>
              <a:t>Uitleg: Vraag: 0,10Qv = 4, dus Qv = 40. Aanbod: 0,10Qa = 8, dus Qa = 80. De telers leveren alle 80 kratten en de garantie zorgt voor een koper voor het volledige aanbod. Controle: particuliere vraag plus overheidsaankopen is totale verkoop.</a:t>
            </a:r>
          </a:p>
          <a:p xmlns:a="http://schemas.openxmlformats.org/drawingml/2006/main">
            <a:r>
              <a:rPr sz="1400"/>
              <a:t/>
            </a:r>
          </a:p>
          <a:p xmlns:a="http://schemas.openxmlformats.org/drawingml/2006/main">
            <a:r>
              <a:rPr sz="1400"/>
              <a:t>Misvatting: Qa = 80 zou zonder de belofte geen bewijs voor 80 verkopen zijn.</a:t>
            </a:r>
          </a:p>
          <a:p xmlns:a="http://schemas.openxmlformats.org/drawingml/2006/main">
            <a:r>
              <a:rPr sz="1400"/>
              <a:t/>
            </a:r>
          </a:p>
          <a:p xmlns:a="http://schemas.openxmlformats.org/drawingml/2006/main">
            <a:r>
              <a:rPr sz="1400"/>
              <a:t>Overgang: Bereken en teken de uitgaven.</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hoogte 16 en niet 2?</a:t>
            </a:r>
          </a:p>
          <a:p xmlns:a="http://schemas.openxmlformats.org/drawingml/2006/main">
            <a:r>
              <a:rPr sz="1400"/>
              <a:t/>
            </a:r>
          </a:p>
          <a:p xmlns:a="http://schemas.openxmlformats.org/drawingml/2006/main">
            <a:r>
              <a:rPr sz="1400"/>
              <a:t>Uitleg: Markeer Pmin horizontaal op 16, Qv verticaal bij 40 en Qa bij 80. De gearceerde uitgavenrechthoek loopt van 40 tot 80 en van nul tot 16. De breedte is 40 kratten per week, de hoogte 16 euro per krat. Vermenigvuldigen geeft 640 euro per week. De overheid betaalt alleen voor haar eigen aankopen.</a:t>
            </a:r>
          </a:p>
          <a:p xmlns:a="http://schemas.openxmlformats.org/drawingml/2006/main">
            <a:r>
              <a:rPr sz="1400"/>
              <a:t/>
            </a:r>
          </a:p>
          <a:p xmlns:a="http://schemas.openxmlformats.org/drawingml/2006/main">
            <a:r>
              <a:rPr sz="1400"/>
              <a:t>Misvatting: Het verschil met de vrije prijs is geen aankoopprijs. Gebruik ook niet alle 80 als breedte.</a:t>
            </a:r>
          </a:p>
          <a:p xmlns:a="http://schemas.openxmlformats.org/drawingml/2006/main">
            <a:r>
              <a:rPr sz="1400"/>
              <a:t/>
            </a:r>
          </a:p>
          <a:p xmlns:a="http://schemas.openxmlformats.org/drawingml/2006/main">
            <a:r>
              <a:rPr sz="1400"/>
              <a:t>Overgang: Vervang regeling A geheel door B.</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verhindert dat telers weer 80 kratten leveren?</a:t>
            </a:r>
          </a:p>
          <a:p xmlns:a="http://schemas.openxmlformats.org/drawingml/2006/main">
            <a:r>
              <a:rPr sz="1400"/>
              <a:t/>
            </a:r>
          </a:p>
          <a:p xmlns:a="http://schemas.openxmlformats.org/drawingml/2006/main">
            <a:r>
              <a:rPr sz="1400"/>
              <a:t>Uitleg: Alle 40 kratten worden verkocht. De prijs komt van V. Op A zou bij 40 de marginale kost 12 zijn, maar dat is niet de verkoopprijs. Gratis rechten brengen geen veilingopbrengst op. Er zijn geen overheidsaankopen, dus uitgaven nul.</a:t>
            </a:r>
          </a:p>
          <a:p xmlns:a="http://schemas.openxmlformats.org/drawingml/2006/main">
            <a:r>
              <a:rPr sz="1400"/>
              <a:t/>
            </a:r>
          </a:p>
          <a:p xmlns:a="http://schemas.openxmlformats.org/drawingml/2006/main">
            <a:r>
              <a:rPr sz="1400"/>
              <a:t>Misvatting: Regeling B heeft geen minimumprijs of opkoopbelofte.</a:t>
            </a:r>
          </a:p>
          <a:p xmlns:a="http://schemas.openxmlformats.org/drawingml/2006/main">
            <a:r>
              <a:rPr sz="1400"/>
              <a:t/>
            </a:r>
          </a:p>
          <a:p xmlns:a="http://schemas.openxmlformats.org/drawingml/2006/main">
            <a:r>
              <a:rPr sz="1400"/>
              <a:t>Overgang: Vergelijk twee berekende gevolgen.</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oorzaak hoort bij elk berekend verschil?</a:t>
            </a:r>
          </a:p>
          <a:p xmlns:a="http://schemas.openxmlformats.org/drawingml/2006/main">
            <a:r>
              <a:rPr sz="1400"/>
              <a:t/>
            </a:r>
          </a:p>
          <a:p xmlns:a="http://schemas.openxmlformats.org/drawingml/2006/main">
            <a:r>
              <a:rPr sz="1400"/>
              <a:t>Uitleg: Een volledig antwoord noemt de productie 80 tegenover 40 én de uitgaven 640 tegenover 0, met eenheden. Bij A koopt de overheid het overschot. Bij B verhindert de productiegrens die extra productie. Vraag leerlingen een ontbrekende stap in hun eigen werk te verbeteren.</a:t>
            </a:r>
          </a:p>
          <a:p xmlns:a="http://schemas.openxmlformats.org/drawingml/2006/main">
            <a:r>
              <a:rPr sz="1400"/>
              <a:t/>
            </a:r>
          </a:p>
          <a:p xmlns:a="http://schemas.openxmlformats.org/drawingml/2006/main">
            <a:r>
              <a:rPr sz="1400"/>
              <a:t>Misvatting: Een gelijk prijskaartje betekent niet dat beide regelingen economisch gelijk zijn.</a:t>
            </a:r>
          </a:p>
          <a:p xmlns:a="http://schemas.openxmlformats.org/drawingml/2006/main">
            <a:r>
              <a:rPr sz="1400"/>
              <a:t/>
            </a:r>
          </a:p>
          <a:p xmlns:a="http://schemas.openxmlformats.org/drawingml/2006/main">
            <a:r>
              <a:rPr sz="1400"/>
              <a:t>Overgang: Rond af met het huiswerkoverzicht.</a:t>
            </a:r>
          </a:p>
          <a:p xmlns:a="http://schemas.openxmlformats.org/drawingml/2006/main">
            <a:r>
              <a:rPr sz="1400"/>
              <a:t/>
            </a:r>
          </a:p>
          <a:p xmlns:a="http://schemas.openxmlformats.org/drawingml/2006/main">
            <a:r>
              <a:rPr sz="1400"/>
              <a:t>Bron: Boek 3 v3, geselecteerde en herstelde editie, compleet leerlingboek, gedrukte pagina 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gebruik je de theorie?</a:t>
            </a:r>
          </a:p>
          <a:p xmlns:a="http://schemas.openxmlformats.org/drawingml/2006/main">
            <a:r>
              <a:rPr sz="1400"/>
              <a:t/>
            </a:r>
          </a:p>
          <a:p xmlns:a="http://schemas.openxmlformats.org/drawingml/2006/main">
            <a:r>
              <a:rPr sz="1400"/>
              <a:t>Uitleg: Laat dit overzicht staan tijdens afsluiting / huiswerk. Start 37–38 staat op p. 42 van het complete boek. Basis 39–40 staat op p. 43 en 40A op p. 44; zelfstandig 41–42 op p. 45; doel 43 op p. 46. Huiswerk: 39, 40, 40A, 41, 42 en 43 maken en nakijken. 40A is de afzonderlijke quotumoefening en kan vóór 40c. Bonus 44 en herhaling 45 zijn extra.</a:t>
            </a:r>
          </a:p>
          <a:p xmlns:a="http://schemas.openxmlformats.org/drawingml/2006/main">
            <a:r>
              <a:rPr sz="1400"/>
              <a:t/>
            </a:r>
          </a:p>
          <a:p xmlns:a="http://schemas.openxmlformats.org/drawingml/2006/main">
            <a:r>
              <a:rPr sz="1400"/>
              <a:t>Start 37 gebruikt bekende gelijkstelling en invullen, maar het aanbodoverschot en de minimumprijs in 38 zijn verkenning. Laat leerlingen eerst de definitie op p. 39 en het onderscheid vraag/aanbod/verkoop op p. 40 lezen. Bij Q(P) stel je voor evenwicht de twee hoeveelheden gelijk; bij een gegeven prijs vul je die prijs in beide functies in. Doe de start niet voor. Laat leerlingen markeren welke uitleg hen helpt. Keer na de uitleg, bij dit overzicht vóór basiswerk, terug naar 37–38 en laat antwoorden en redeneringen verbeteren.</a:t>
            </a:r>
          </a:p>
          <a:p xmlns:a="http://schemas.openxmlformats.org/drawingml/2006/main">
            <a:r>
              <a:rPr sz="1400"/>
              <a:t/>
            </a:r>
          </a:p>
          <a:p xmlns:a="http://schemas.openxmlformats.org/drawingml/2006/main">
            <a:r>
              <a:rPr sz="1400"/>
              <a:t>Docentplanning: de bron adviseert voorlopig twee lessen van 55 minuten met zo nodig uitloop. Ook 110 minuten is niet aangetoond. Rond de volledige route in een vervolg of als huiswerk af; sla 40A niet over om tijd te winnen.</a:t>
            </a:r>
          </a:p>
          <a:p xmlns:a="http://schemas.openxmlformats.org/drawingml/2006/main">
            <a:r>
              <a:rPr sz="1400"/>
              <a:t/>
            </a:r>
          </a:p>
          <a:p xmlns:a="http://schemas.openxmlformats.org/drawingml/2006/main">
            <a:r>
              <a:rPr sz="1400"/>
              <a:t>Misvatting: De hoofdstukbron noemt p. 38 en 42. In het complete leerlingboek zijn dit gedrukte p. 42 en 46.</a:t>
            </a:r>
          </a:p>
          <a:p xmlns:a="http://schemas.openxmlformats.org/drawingml/2006/main">
            <a:r>
              <a:rPr sz="1400"/>
              <a:t/>
            </a:r>
          </a:p>
          <a:p xmlns:a="http://schemas.openxmlformats.org/drawingml/2006/main">
            <a:r>
              <a:rPr sz="1400"/>
              <a:t>Overgang: Laat het huiswerk noteren.</a:t>
            </a:r>
          </a:p>
          <a:p xmlns:a="http://schemas.openxmlformats.org/drawingml/2006/main">
            <a:r>
              <a:rPr sz="1400"/>
              <a:t/>
            </a:r>
          </a:p>
          <a:p xmlns:a="http://schemas.openxmlformats.org/drawingml/2006/main">
            <a:r>
              <a:rPr sz="1400"/>
              <a:t>Bron: Boek 3 v3, geselecteerde en herstelde editie, compleet leerlingboek, gedrukte pagina 39–46. https://github.com/meijer1973/4veco-lessen/blob/9b8304d5031cafac936a56281e144573a25fbbc9/edities/books34-v3/books/book-3/output/Boek_3_Compleet_v3.pdf</a:t>
            </a:r>
          </a:p>
          <a:p xmlns:a="http://schemas.openxmlformats.org/drawingml/2006/main">
            <a:r>
              <a:rPr sz="1400"/>
              <a:t>Antwoorden en docentroute: https://github.com/meijer1973/4veco-lessen/blob/9b8304d5031cafac936a56281e144573a25fbbc9/edities/books34-v3/books/book-3/chapters/3.1/Antwoorden.md en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Startantwoorden voor de docent: 37: P₀ = € 12, Q₀ = 40 kratten/week; bij € 14: Qv = 30, Qa = 50, overschot = 20 kratten/week. 38: € 12 blijft toegestaan boven de ondergrens € 9.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4b147fc26e4d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de777ad0b64d25" /><Relationship Type="http://schemas.openxmlformats.org/officeDocument/2006/relationships/slideLayout" Target="/ppt/slideLayouts/slideLayout1.xml" Id="R41762cb3ee9948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762cb3ee9948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c3332c51514b5c" /><Relationship Type="http://schemas.openxmlformats.org/officeDocument/2006/relationships/notesSlide" Target="/ppt/notesSlides/notesSlide1.xml" Id="Rebec76d819c84a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a66efbc74a4715" /><Relationship Type="http://schemas.openxmlformats.org/officeDocument/2006/relationships/notesSlide" Target="/ppt/notesSlides/notesSlide2.xml" Id="Re13e7f5e486f4c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99ee58d4e34686" /><Relationship Type="http://schemas.openxmlformats.org/officeDocument/2006/relationships/notesSlide" Target="/ppt/notesSlides/notesSlide3.xml" Id="R7ea02844103d44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737715ba814448" /><Relationship Type="http://schemas.openxmlformats.org/officeDocument/2006/relationships/notesSlide" Target="/ppt/notesSlides/notesSlide4.xml" Id="R949fd6eb4fa840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201141084b49f9" /><Relationship Type="http://schemas.openxmlformats.org/officeDocument/2006/relationships/chart" Target="/ppt/slides/charts/chart1.xml" Id="R985438f308e24742" /><Relationship Type="http://schemas.openxmlformats.org/officeDocument/2006/relationships/notesSlide" Target="/ppt/notesSlides/notesSlide5.xml" Id="R4437fbd7fcbe4b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1dda1c9fea45b5" /><Relationship Type="http://schemas.openxmlformats.org/officeDocument/2006/relationships/notesSlide" Target="/ppt/notesSlides/notesSlide6.xml" Id="R66939c903e6743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d257cd65c84d3c" /><Relationship Type="http://schemas.openxmlformats.org/officeDocument/2006/relationships/notesSlide" Target="/ppt/notesSlides/notesSlide7.xml" Id="Rcfb16d5a47a148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974baf84c24630" /><Relationship Type="http://schemas.openxmlformats.org/officeDocument/2006/relationships/chart" Target="/ppt/slides/charts/chart2.xml" Id="R3a31c6e1c27c45d4" /><Relationship Type="http://schemas.openxmlformats.org/officeDocument/2006/relationships/notesSlide" Target="/ppt/notesSlides/notesSlide8.xml" Id="Rb3cf6b47a80247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5c31fc71ee4d6a" /><Relationship Type="http://schemas.openxmlformats.org/officeDocument/2006/relationships/notesSlide" Target="/ppt/notesSlides/notesSlide9.xml" Id="Rddbf0e89aab144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d89ebac9ce4124" /><Relationship Type="http://schemas.openxmlformats.org/officeDocument/2006/relationships/chart" Target="/ppt/slides/charts/chart3.xml" Id="R30c51b41533c407d" /><Relationship Type="http://schemas.openxmlformats.org/officeDocument/2006/relationships/notesSlide" Target="/ppt/notesSlides/notesSlide10.xml" Id="Raf1915adf8e445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266847343994090" /><Relationship Type="http://schemas.openxmlformats.org/officeDocument/2006/relationships/notesSlide" Target="/ppt/notesSlides/notesSlide11.xml" Id="R0c82a1a14f5148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1fa916118d64259" /><Relationship Type="http://schemas.openxmlformats.org/officeDocument/2006/relationships/chart" Target="/ppt/slides/charts/chart4.xml" Id="R6f7066917c334295" /><Relationship Type="http://schemas.openxmlformats.org/officeDocument/2006/relationships/notesSlide" Target="/ppt/notesSlides/notesSlide12.xml" Id="R3d4d7fe96c2342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cdcfb05af24a41" /><Relationship Type="http://schemas.openxmlformats.org/officeDocument/2006/relationships/notesSlide" Target="/ppt/notesSlides/notesSlide13.xml" Id="R271b5e678eb24b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604798d856c4e3b" /><Relationship Type="http://schemas.openxmlformats.org/officeDocument/2006/relationships/notesSlide" Target="/ppt/notesSlides/notesSlide14.xml" Id="R639b3ecb059341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a20d521a124c35" /><Relationship Type="http://schemas.openxmlformats.org/officeDocument/2006/relationships/notesSlide" Target="/ppt/notesSlides/notesSlide15.xml" Id="R4de364648fae43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668f5bb2d545c3" /><Relationship Type="http://schemas.openxmlformats.org/officeDocument/2006/relationships/notesSlide" Target="/ppt/notesSlides/notesSlide16.xml" Id="Rcda2517380ec4f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06b9e36b17a4119" /><Relationship Type="http://schemas.openxmlformats.org/officeDocument/2006/relationships/chart" Target="/ppt/slides/charts/chart5.xml" Id="Re4a31e2e83a84a7b" /><Relationship Type="http://schemas.openxmlformats.org/officeDocument/2006/relationships/notesSlide" Target="/ppt/notesSlides/notesSlide17.xml" Id="R7366ffac8215484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25e96f45bf14eb7" /><Relationship Type="http://schemas.openxmlformats.org/officeDocument/2006/relationships/notesSlide" Target="/ppt/notesSlides/notesSlide18.xml" Id="R82e24e97df0348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aabb9810df4b1a" /><Relationship Type="http://schemas.openxmlformats.org/officeDocument/2006/relationships/notesSlide" Target="/ppt/notesSlides/notesSlide19.xml" Id="Rd709d854f334421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fe60886aaf84a89" /><Relationship Type="http://schemas.openxmlformats.org/officeDocument/2006/relationships/notesSlide" Target="/ppt/notesSlides/notesSlide20.xml" Id="R0dbf6bc9756d4c5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9b30cf3a3f54583" /><Relationship Type="http://schemas.openxmlformats.org/officeDocument/2006/relationships/notesSlide" Target="/ppt/notesSlides/notesSlide21.xml" Id="Re46100f62eec41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270f749f84440aa" /><Relationship Type="http://schemas.openxmlformats.org/officeDocument/2006/relationships/chart" Target="/ppt/slides/charts/chart6.xml" Id="R3320c6c499d249e1" /><Relationship Type="http://schemas.openxmlformats.org/officeDocument/2006/relationships/notesSlide" Target="/ppt/notesSlides/notesSlide22.xml" Id="R3e652c49e60541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d7b925a8884476f" /><Relationship Type="http://schemas.openxmlformats.org/officeDocument/2006/relationships/chart" Target="/ppt/slides/charts/chart7.xml" Id="R70802c19bc5b4080" /><Relationship Type="http://schemas.openxmlformats.org/officeDocument/2006/relationships/notesSlide" Target="/ppt/notesSlides/notesSlide23.xml" Id="R587073e5343845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fbc41f271ae4495" /><Relationship Type="http://schemas.openxmlformats.org/officeDocument/2006/relationships/notesSlide" Target="/ppt/notesSlides/notesSlide24.xml" Id="Ree76cfe9e26e4d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54a298174b42eb" /><Relationship Type="http://schemas.openxmlformats.org/officeDocument/2006/relationships/notesSlide" Target="/ppt/notesSlides/notesSlide25.xml" Id="Rfd976bc1266943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120</c:v>
                </c:pt>
              </c:numCache>
            </c:numRef>
          </c:xVal>
          <c:yVal>
            <c:numRef>
              <c:f>'Chart Data'!$B$2:$B$3</c:f>
              <c:numCache>
                <c:formatCode>0</c:formatCode>
                <c:ptCount val="2"/>
                <c:pt idx="0">
                  <c:v>24</c:v>
                </c:pt>
                <c:pt idx="1">
                  <c:v>0</c:v>
                </c:pt>
              </c:numCache>
            </c:numRef>
          </c:yVal>
          <c:smooth val="0"/>
        </c:ser>
        <c:ser>
          <c:idx val="1"/>
          <c:order val="1"/>
          <c:tx>
            <c:v>A</c:v>
          </c:tx>
          <c:spPr>
            <a:ln xmlns:a="http://schemas.openxmlformats.org/drawingml/2006/main" w="38100">
              <a:solidFill>
                <a:srgbClr val="1E8449"/>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120</c:v>
                </c:pt>
              </c:numCache>
            </c:numRef>
          </c:xVal>
          <c:yVal>
            <c:numRef>
              <c:f>'Chart Data'!$D$2:$D$3</c:f>
              <c:numCache>
                <c:formatCode>0</c:formatCode>
                <c:ptCount val="2"/>
                <c:pt idx="0">
                  <c:v>6</c:v>
                </c:pt>
                <c:pt idx="1">
                  <c:v>18</c:v>
                </c:pt>
              </c:numCache>
            </c:numRef>
          </c:yVal>
          <c:smooth val="0"/>
        </c:ser>
        <c:ser>
          <c:idx val="2"/>
          <c:order val="2"/>
          <c:tx>
            <c:v>Vrij evenwicht</c:v>
          </c:tx>
          <c:spPr>
            <a:ln xmlns:a="http://schemas.openxmlformats.org/drawingml/2006/main" w="19050">
              <a:solidFill>
                <a:srgbClr val="445B6B"/>
              </a:solidFill>
              <a:prstDash val="dash"/>
            </a:ln>
          </c:spPr>
          <c:marker>
            <c:symbol val="none"/>
          </c:marker>
          <c:xVal>
            <c:numRef>
              <c:f>'Chart Data'!$E$2:$E$4</c:f>
              <c:numCache>
                <c:formatCode>General</c:formatCode>
                <c:ptCount val="3"/>
                <c:pt idx="0">
                  <c:v>0</c:v>
                </c:pt>
                <c:pt idx="1">
                  <c:v>60</c:v>
                </c:pt>
                <c:pt idx="2">
                  <c:v>60</c:v>
                </c:pt>
              </c:numCache>
            </c:numRef>
          </c:xVal>
          <c:yVal>
            <c:numRef>
              <c:f>'Chart Data'!$F$2:$F$4</c:f>
              <c:numCache>
                <c:formatCode>0</c:formatCode>
                <c:ptCount val="3"/>
                <c:pt idx="0">
                  <c:v>12</c:v>
                </c:pt>
                <c:pt idx="1">
                  <c:v>12</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pot)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(potten kruiden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120</c:v>
                </c:pt>
              </c:numCache>
            </c:numRef>
          </c:xVal>
          <c:yVal>
            <c:numRef>
              <c:f>'Chart Data'!$B$2:$B$3</c:f>
              <c:numCache>
                <c:formatCode>0</c:formatCode>
                <c:ptCount val="2"/>
                <c:pt idx="0">
                  <c:v>24</c:v>
                </c:pt>
                <c:pt idx="1">
                  <c:v>0</c:v>
                </c:pt>
              </c:numCache>
            </c:numRef>
          </c:yVal>
          <c:smooth val="0"/>
        </c:ser>
        <c:ser>
          <c:idx val="1"/>
          <c:order val="1"/>
          <c:tx>
            <c:v>A</c:v>
          </c:tx>
          <c:spPr>
            <a:ln xmlns:a="http://schemas.openxmlformats.org/drawingml/2006/main" w="38100">
              <a:solidFill>
                <a:srgbClr val="1E8449"/>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120</c:v>
                </c:pt>
              </c:numCache>
            </c:numRef>
          </c:xVal>
          <c:yVal>
            <c:numRef>
              <c:f>'Chart Data'!$D$2:$D$3</c:f>
              <c:numCache>
                <c:formatCode>0</c:formatCode>
                <c:ptCount val="2"/>
                <c:pt idx="0">
                  <c:v>6</c:v>
                </c:pt>
                <c:pt idx="1">
                  <c:v>18</c:v>
                </c:pt>
              </c:numCache>
            </c:numRef>
          </c:yVal>
          <c:smooth val="0"/>
        </c:ser>
        <c:ser>
          <c:idx val="2"/>
          <c:order val="2"/>
          <c:tx>
            <c:v>Pmin</c:v>
          </c:tx>
          <c:spPr>
            <a:ln xmlns:a="http://schemas.openxmlformats.org/drawingml/2006/main" w="28575">
              <a:solidFill>
                <a:srgbClr val="A94D16"/>
              </a:solidFill>
              <a:prstDash val="dash"/>
            </a:ln>
          </c:spPr>
          <c:marker>
            <c:symbol val="none"/>
          </c:marker>
          <c:xVal>
            <c:numRef>
              <c:f>'Chart Data'!$E$2:$E$3</c:f>
              <c:numCache>
                <c:formatCode>General</c:formatCode>
                <c:ptCount val="2"/>
                <c:pt idx="0">
                  <c:v>0</c:v>
                </c:pt>
                <c:pt idx="1">
                  <c:v>120</c:v>
                </c:pt>
              </c:numCache>
            </c:numRef>
          </c:xVal>
          <c:yVal>
            <c:numRef>
              <c:f>'Chart Data'!$F$2:$F$3</c:f>
              <c:numCache>
                <c:formatCode>0</c:formatCode>
                <c:ptCount val="2"/>
                <c:pt idx="0">
                  <c:v>15</c:v>
                </c:pt>
                <c:pt idx="1">
                  <c:v>15</c:v>
                </c:pt>
              </c:numCache>
            </c:numRef>
          </c:yVal>
          <c:smooth val="0"/>
        </c:ser>
        <c:ser>
          <c:idx val="3"/>
          <c:order val="3"/>
          <c:tx>
            <c:v>Qv</c:v>
          </c:tx>
          <c:spPr>
            <a:ln xmlns:a="http://schemas.openxmlformats.org/drawingml/2006/main" w="19050">
              <a:solidFill>
                <a:srgbClr val="1A5276"/>
              </a:solidFill>
              <a:prstDash val="dash"/>
            </a:ln>
          </c:spPr>
          <c:marker>
            <c:symbol val="none"/>
          </c:marker>
          <c:xVal>
            <c:numRef>
              <c:f>'Chart Data'!$G$2:$G$3</c:f>
              <c:numCache>
                <c:formatCode>General</c:formatCode>
                <c:ptCount val="2"/>
                <c:pt idx="0">
                  <c:v>45</c:v>
                </c:pt>
                <c:pt idx="1">
                  <c:v>45</c:v>
                </c:pt>
              </c:numCache>
            </c:numRef>
          </c:xVal>
          <c:yVal>
            <c:numRef>
              <c:f>'Chart Data'!$H$2:$H$3</c:f>
              <c:numCache>
                <c:formatCode>0</c:formatCode>
                <c:ptCount val="2"/>
                <c:pt idx="0">
                  <c:v>0</c:v>
                </c:pt>
                <c:pt idx="1">
                  <c:v>15</c:v>
                </c:pt>
              </c:numCache>
            </c:numRef>
          </c:yVal>
          <c:smooth val="0"/>
        </c:ser>
        <c:ser>
          <c:idx val="4"/>
          <c:order val="4"/>
          <c:tx>
            <c:v>Qa</c:v>
          </c:tx>
          <c:spPr>
            <a:ln xmlns:a="http://schemas.openxmlformats.org/drawingml/2006/main" w="19050">
              <a:solidFill>
                <a:srgbClr val="1E8449"/>
              </a:solidFill>
              <a:prstDash val="dash"/>
            </a:ln>
          </c:spPr>
          <c:marker>
            <c:symbol val="none"/>
          </c:marker>
          <c:xVal>
            <c:numRef>
              <c:f>'Chart Data'!$I$2:$I$3</c:f>
              <c:numCache>
                <c:formatCode>General</c:formatCode>
                <c:ptCount val="2"/>
                <c:pt idx="0">
                  <c:v>90</c:v>
                </c:pt>
                <c:pt idx="1">
                  <c:v>90</c:v>
                </c:pt>
              </c:numCache>
            </c:numRef>
          </c:xVal>
          <c:yVal>
            <c:numRef>
              <c:f>'Chart Data'!$J$2:$J$3</c:f>
              <c:numCache>
                <c:formatCode>0</c:formatCode>
                <c:ptCount val="2"/>
                <c:pt idx="0">
                  <c:v>0</c:v>
                </c:pt>
                <c:pt idx="1">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pot)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(potten kruiden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U-arcering 1</c:v>
          </c:tx>
          <c:spPr>
            <a:ln xmlns:a="http://schemas.openxmlformats.org/drawingml/2006/main" w="12383">
              <a:solidFill>
                <a:srgbClr val="D0AD80"/>
              </a:solidFill>
              <a:prstDash val="solid"/>
            </a:ln>
          </c:spPr>
          <c:marker>
            <c:symbol val="none"/>
          </c:marker>
          <c:xVal>
            <c:numRef>
              <c:f>'Chart Data'!$A$2:$A$3</c:f>
              <c:numCache>
                <c:formatCode>General</c:formatCode>
                <c:ptCount val="2"/>
                <c:pt idx="0">
                  <c:v>45</c:v>
                </c:pt>
                <c:pt idx="1">
                  <c:v>90</c:v>
                </c:pt>
              </c:numCache>
            </c:numRef>
          </c:xVal>
          <c:yVal>
            <c:numRef>
              <c:f>'Chart Data'!$B$2:$B$3</c:f>
              <c:numCache>
                <c:formatCode>0</c:formatCode>
                <c:ptCount val="2"/>
                <c:pt idx="0">
                  <c:v>1</c:v>
                </c:pt>
                <c:pt idx="1">
                  <c:v>1</c:v>
                </c:pt>
              </c:numCache>
            </c:numRef>
          </c:yVal>
          <c:smooth val="0"/>
        </c:ser>
        <c:ser>
          <c:idx val="1"/>
          <c:order val="1"/>
          <c:tx>
            <c:v>U-arcering 2</c:v>
          </c:tx>
          <c:spPr>
            <a:ln xmlns:a="http://schemas.openxmlformats.org/drawingml/2006/main" w="12383">
              <a:solidFill>
                <a:srgbClr val="D0AD80"/>
              </a:solidFill>
              <a:prstDash val="solid"/>
            </a:ln>
          </c:spPr>
          <c:marker>
            <c:symbol val="none"/>
          </c:marker>
          <c:xVal>
            <c:numRef>
              <c:f>'Chart Data'!$C$2:$C$3</c:f>
              <c:numCache>
                <c:formatCode>General</c:formatCode>
                <c:ptCount val="2"/>
                <c:pt idx="0">
                  <c:v>45</c:v>
                </c:pt>
                <c:pt idx="1">
                  <c:v>90</c:v>
                </c:pt>
              </c:numCache>
            </c:numRef>
          </c:xVal>
          <c:yVal>
            <c:numRef>
              <c:f>'Chart Data'!$D$2:$D$3</c:f>
              <c:numCache>
                <c:formatCode>0</c:formatCode>
                <c:ptCount val="2"/>
                <c:pt idx="0">
                  <c:v>2</c:v>
                </c:pt>
                <c:pt idx="1">
                  <c:v>2</c:v>
                </c:pt>
              </c:numCache>
            </c:numRef>
          </c:yVal>
          <c:smooth val="0"/>
        </c:ser>
        <c:ser>
          <c:idx val="2"/>
          <c:order val="2"/>
          <c:tx>
            <c:v>U-arcering 3</c:v>
          </c:tx>
          <c:spPr>
            <a:ln xmlns:a="http://schemas.openxmlformats.org/drawingml/2006/main" w="12383">
              <a:solidFill>
                <a:srgbClr val="D0AD80"/>
              </a:solidFill>
              <a:prstDash val="solid"/>
            </a:ln>
          </c:spPr>
          <c:marker>
            <c:symbol val="none"/>
          </c:marker>
          <c:xVal>
            <c:numRef>
              <c:f>'Chart Data'!$E$2:$E$3</c:f>
              <c:numCache>
                <c:formatCode>General</c:formatCode>
                <c:ptCount val="2"/>
                <c:pt idx="0">
                  <c:v>45</c:v>
                </c:pt>
                <c:pt idx="1">
                  <c:v>90</c:v>
                </c:pt>
              </c:numCache>
            </c:numRef>
          </c:xVal>
          <c:yVal>
            <c:numRef>
              <c:f>'Chart Data'!$F$2:$F$3</c:f>
              <c:numCache>
                <c:formatCode>0</c:formatCode>
                <c:ptCount val="2"/>
                <c:pt idx="0">
                  <c:v>3</c:v>
                </c:pt>
                <c:pt idx="1">
                  <c:v>3</c:v>
                </c:pt>
              </c:numCache>
            </c:numRef>
          </c:yVal>
          <c:smooth val="0"/>
        </c:ser>
        <c:ser>
          <c:idx val="3"/>
          <c:order val="3"/>
          <c:tx>
            <c:v>U-arcering 4</c:v>
          </c:tx>
          <c:spPr>
            <a:ln xmlns:a="http://schemas.openxmlformats.org/drawingml/2006/main" w="12383">
              <a:solidFill>
                <a:srgbClr val="D0AD80"/>
              </a:solidFill>
              <a:prstDash val="solid"/>
            </a:ln>
          </c:spPr>
          <c:marker>
            <c:symbol val="none"/>
          </c:marker>
          <c:xVal>
            <c:numRef>
              <c:f>'Chart Data'!$G$2:$G$3</c:f>
              <c:numCache>
                <c:formatCode>General</c:formatCode>
                <c:ptCount val="2"/>
                <c:pt idx="0">
                  <c:v>45</c:v>
                </c:pt>
                <c:pt idx="1">
                  <c:v>90</c:v>
                </c:pt>
              </c:numCache>
            </c:numRef>
          </c:xVal>
          <c:yVal>
            <c:numRef>
              <c:f>'Chart Data'!$H$2:$H$3</c:f>
              <c:numCache>
                <c:formatCode>0</c:formatCode>
                <c:ptCount val="2"/>
                <c:pt idx="0">
                  <c:v>4</c:v>
                </c:pt>
                <c:pt idx="1">
                  <c:v>4</c:v>
                </c:pt>
              </c:numCache>
            </c:numRef>
          </c:yVal>
          <c:smooth val="0"/>
        </c:ser>
        <c:ser>
          <c:idx val="4"/>
          <c:order val="4"/>
          <c:tx>
            <c:v>U-arcering 5</c:v>
          </c:tx>
          <c:spPr>
            <a:ln xmlns:a="http://schemas.openxmlformats.org/drawingml/2006/main" w="12383">
              <a:solidFill>
                <a:srgbClr val="D0AD80"/>
              </a:solidFill>
              <a:prstDash val="solid"/>
            </a:ln>
          </c:spPr>
          <c:marker>
            <c:symbol val="none"/>
          </c:marker>
          <c:xVal>
            <c:numRef>
              <c:f>'Chart Data'!$I$2:$I$3</c:f>
              <c:numCache>
                <c:formatCode>General</c:formatCode>
                <c:ptCount val="2"/>
                <c:pt idx="0">
                  <c:v>45</c:v>
                </c:pt>
                <c:pt idx="1">
                  <c:v>90</c:v>
                </c:pt>
              </c:numCache>
            </c:numRef>
          </c:xVal>
          <c:yVal>
            <c:numRef>
              <c:f>'Chart Data'!$J$2:$J$3</c:f>
              <c:numCache>
                <c:formatCode>0</c:formatCode>
                <c:ptCount val="2"/>
                <c:pt idx="0">
                  <c:v>5</c:v>
                </c:pt>
                <c:pt idx="1">
                  <c:v>5</c:v>
                </c:pt>
              </c:numCache>
            </c:numRef>
          </c:yVal>
          <c:smooth val="0"/>
        </c:ser>
        <c:ser>
          <c:idx val="5"/>
          <c:order val="5"/>
          <c:tx>
            <c:v>U-arcering 6</c:v>
          </c:tx>
          <c:spPr>
            <a:ln xmlns:a="http://schemas.openxmlformats.org/drawingml/2006/main" w="12383">
              <a:solidFill>
                <a:srgbClr val="D0AD80"/>
              </a:solidFill>
              <a:prstDash val="solid"/>
            </a:ln>
          </c:spPr>
          <c:marker>
            <c:symbol val="none"/>
          </c:marker>
          <c:xVal>
            <c:numRef>
              <c:f>'Chart Data'!$K$2:$K$3</c:f>
              <c:numCache>
                <c:formatCode>General</c:formatCode>
                <c:ptCount val="2"/>
                <c:pt idx="0">
                  <c:v>45</c:v>
                </c:pt>
                <c:pt idx="1">
                  <c:v>90</c:v>
                </c:pt>
              </c:numCache>
            </c:numRef>
          </c:xVal>
          <c:yVal>
            <c:numRef>
              <c:f>'Chart Data'!$L$2:$L$3</c:f>
              <c:numCache>
                <c:formatCode>0</c:formatCode>
                <c:ptCount val="2"/>
                <c:pt idx="0">
                  <c:v>6</c:v>
                </c:pt>
                <c:pt idx="1">
                  <c:v>6</c:v>
                </c:pt>
              </c:numCache>
            </c:numRef>
          </c:yVal>
          <c:smooth val="0"/>
        </c:ser>
        <c:ser>
          <c:idx val="6"/>
          <c:order val="6"/>
          <c:tx>
            <c:v>U-arcering 7</c:v>
          </c:tx>
          <c:spPr>
            <a:ln xmlns:a="http://schemas.openxmlformats.org/drawingml/2006/main" w="12383">
              <a:solidFill>
                <a:srgbClr val="D0AD80"/>
              </a:solidFill>
              <a:prstDash val="solid"/>
            </a:ln>
          </c:spPr>
          <c:marker>
            <c:symbol val="none"/>
          </c:marker>
          <c:xVal>
            <c:numRef>
              <c:f>'Chart Data'!$M$2:$M$3</c:f>
              <c:numCache>
                <c:formatCode>General</c:formatCode>
                <c:ptCount val="2"/>
                <c:pt idx="0">
                  <c:v>45</c:v>
                </c:pt>
                <c:pt idx="1">
                  <c:v>90</c:v>
                </c:pt>
              </c:numCache>
            </c:numRef>
          </c:xVal>
          <c:yVal>
            <c:numRef>
              <c:f>'Chart Data'!$N$2:$N$3</c:f>
              <c:numCache>
                <c:formatCode>0</c:formatCode>
                <c:ptCount val="2"/>
                <c:pt idx="0">
                  <c:v>7</c:v>
                </c:pt>
                <c:pt idx="1">
                  <c:v>7</c:v>
                </c:pt>
              </c:numCache>
            </c:numRef>
          </c:yVal>
          <c:smooth val="0"/>
        </c:ser>
        <c:ser>
          <c:idx val="7"/>
          <c:order val="7"/>
          <c:tx>
            <c:v>U-arcering 8</c:v>
          </c:tx>
          <c:spPr>
            <a:ln xmlns:a="http://schemas.openxmlformats.org/drawingml/2006/main" w="12383">
              <a:solidFill>
                <a:srgbClr val="D0AD80"/>
              </a:solidFill>
              <a:prstDash val="solid"/>
            </a:ln>
          </c:spPr>
          <c:marker>
            <c:symbol val="none"/>
          </c:marker>
          <c:xVal>
            <c:numRef>
              <c:f>'Chart Data'!$O$2:$O$3</c:f>
              <c:numCache>
                <c:formatCode>General</c:formatCode>
                <c:ptCount val="2"/>
                <c:pt idx="0">
                  <c:v>45</c:v>
                </c:pt>
                <c:pt idx="1">
                  <c:v>90</c:v>
                </c:pt>
              </c:numCache>
            </c:numRef>
          </c:xVal>
          <c:yVal>
            <c:numRef>
              <c:f>'Chart Data'!$P$2:$P$3</c:f>
              <c:numCache>
                <c:formatCode>0</c:formatCode>
                <c:ptCount val="2"/>
                <c:pt idx="0">
                  <c:v>8</c:v>
                </c:pt>
                <c:pt idx="1">
                  <c:v>8</c:v>
                </c:pt>
              </c:numCache>
            </c:numRef>
          </c:yVal>
          <c:smooth val="0"/>
        </c:ser>
        <c:ser>
          <c:idx val="8"/>
          <c:order val="8"/>
          <c:tx>
            <c:v>U-arcering 9</c:v>
          </c:tx>
          <c:spPr>
            <a:ln xmlns:a="http://schemas.openxmlformats.org/drawingml/2006/main" w="12383">
              <a:solidFill>
                <a:srgbClr val="D0AD80"/>
              </a:solidFill>
              <a:prstDash val="solid"/>
            </a:ln>
          </c:spPr>
          <c:marker>
            <c:symbol val="none"/>
          </c:marker>
          <c:xVal>
            <c:numRef>
              <c:f>'Chart Data'!$Q$2:$Q$3</c:f>
              <c:numCache>
                <c:formatCode>General</c:formatCode>
                <c:ptCount val="2"/>
                <c:pt idx="0">
                  <c:v>45</c:v>
                </c:pt>
                <c:pt idx="1">
                  <c:v>90</c:v>
                </c:pt>
              </c:numCache>
            </c:numRef>
          </c:xVal>
          <c:yVal>
            <c:numRef>
              <c:f>'Chart Data'!$R$2:$R$3</c:f>
              <c:numCache>
                <c:formatCode>0</c:formatCode>
                <c:ptCount val="2"/>
                <c:pt idx="0">
                  <c:v>9</c:v>
                </c:pt>
                <c:pt idx="1">
                  <c:v>9</c:v>
                </c:pt>
              </c:numCache>
            </c:numRef>
          </c:yVal>
          <c:smooth val="0"/>
        </c:ser>
        <c:ser>
          <c:idx val="9"/>
          <c:order val="9"/>
          <c:tx>
            <c:v>U-arcering 10</c:v>
          </c:tx>
          <c:spPr>
            <a:ln xmlns:a="http://schemas.openxmlformats.org/drawingml/2006/main" w="12383">
              <a:solidFill>
                <a:srgbClr val="D0AD80"/>
              </a:solidFill>
              <a:prstDash val="solid"/>
            </a:ln>
          </c:spPr>
          <c:marker>
            <c:symbol val="none"/>
          </c:marker>
          <c:xVal>
            <c:numRef>
              <c:f>'Chart Data'!$S$2:$S$3</c:f>
              <c:numCache>
                <c:formatCode>General</c:formatCode>
                <c:ptCount val="2"/>
                <c:pt idx="0">
                  <c:v>45</c:v>
                </c:pt>
                <c:pt idx="1">
                  <c:v>90</c:v>
                </c:pt>
              </c:numCache>
            </c:numRef>
          </c:xVal>
          <c:yVal>
            <c:numRef>
              <c:f>'Chart Data'!$T$2:$T$3</c:f>
              <c:numCache>
                <c:formatCode>0</c:formatCode>
                <c:ptCount val="2"/>
                <c:pt idx="0">
                  <c:v>10</c:v>
                </c:pt>
                <c:pt idx="1">
                  <c:v>10</c:v>
                </c:pt>
              </c:numCache>
            </c:numRef>
          </c:yVal>
          <c:smooth val="0"/>
        </c:ser>
        <c:ser>
          <c:idx val="10"/>
          <c:order val="10"/>
          <c:tx>
            <c:v>U-arcering 11</c:v>
          </c:tx>
          <c:spPr>
            <a:ln xmlns:a="http://schemas.openxmlformats.org/drawingml/2006/main" w="12383">
              <a:solidFill>
                <a:srgbClr val="D0AD80"/>
              </a:solidFill>
              <a:prstDash val="solid"/>
            </a:ln>
          </c:spPr>
          <c:marker>
            <c:symbol val="none"/>
          </c:marker>
          <c:xVal>
            <c:numRef>
              <c:f>'Chart Data'!$U$2:$U$3</c:f>
              <c:numCache>
                <c:formatCode>General</c:formatCode>
                <c:ptCount val="2"/>
                <c:pt idx="0">
                  <c:v>45</c:v>
                </c:pt>
                <c:pt idx="1">
                  <c:v>90</c:v>
                </c:pt>
              </c:numCache>
            </c:numRef>
          </c:xVal>
          <c:yVal>
            <c:numRef>
              <c:f>'Chart Data'!$V$2:$V$3</c:f>
              <c:numCache>
                <c:formatCode>0</c:formatCode>
                <c:ptCount val="2"/>
                <c:pt idx="0">
                  <c:v>11</c:v>
                </c:pt>
                <c:pt idx="1">
                  <c:v>11</c:v>
                </c:pt>
              </c:numCache>
            </c:numRef>
          </c:yVal>
          <c:smooth val="0"/>
        </c:ser>
        <c:ser>
          <c:idx val="11"/>
          <c:order val="11"/>
          <c:tx>
            <c:v>U-arcering 12</c:v>
          </c:tx>
          <c:spPr>
            <a:ln xmlns:a="http://schemas.openxmlformats.org/drawingml/2006/main" w="12383">
              <a:solidFill>
                <a:srgbClr val="D0AD80"/>
              </a:solidFill>
              <a:prstDash val="solid"/>
            </a:ln>
          </c:spPr>
          <c:marker>
            <c:symbol val="none"/>
          </c:marker>
          <c:xVal>
            <c:numRef>
              <c:f>'Chart Data'!$W$2:$W$3</c:f>
              <c:numCache>
                <c:formatCode>General</c:formatCode>
                <c:ptCount val="2"/>
                <c:pt idx="0">
                  <c:v>45</c:v>
                </c:pt>
                <c:pt idx="1">
                  <c:v>90</c:v>
                </c:pt>
              </c:numCache>
            </c:numRef>
          </c:xVal>
          <c:yVal>
            <c:numRef>
              <c:f>'Chart Data'!$X$2:$X$3</c:f>
              <c:numCache>
                <c:formatCode>0</c:formatCode>
                <c:ptCount val="2"/>
                <c:pt idx="0">
                  <c:v>12</c:v>
                </c:pt>
                <c:pt idx="1">
                  <c:v>12</c:v>
                </c:pt>
              </c:numCache>
            </c:numRef>
          </c:yVal>
          <c:smooth val="0"/>
        </c:ser>
        <c:ser>
          <c:idx val="12"/>
          <c:order val="12"/>
          <c:tx>
            <c:v>U-arcering 13</c:v>
          </c:tx>
          <c:spPr>
            <a:ln xmlns:a="http://schemas.openxmlformats.org/drawingml/2006/main" w="12383">
              <a:solidFill>
                <a:srgbClr val="D0AD80"/>
              </a:solidFill>
              <a:prstDash val="solid"/>
            </a:ln>
          </c:spPr>
          <c:marker>
            <c:symbol val="none"/>
          </c:marker>
          <c:xVal>
            <c:numRef>
              <c:f>'Chart Data'!$Y$2:$Y$3</c:f>
              <c:numCache>
                <c:formatCode>General</c:formatCode>
                <c:ptCount val="2"/>
                <c:pt idx="0">
                  <c:v>45</c:v>
                </c:pt>
                <c:pt idx="1">
                  <c:v>90</c:v>
                </c:pt>
              </c:numCache>
            </c:numRef>
          </c:xVal>
          <c:yVal>
            <c:numRef>
              <c:f>'Chart Data'!$Z$2:$Z$3</c:f>
              <c:numCache>
                <c:formatCode>0</c:formatCode>
                <c:ptCount val="2"/>
                <c:pt idx="0">
                  <c:v>13</c:v>
                </c:pt>
                <c:pt idx="1">
                  <c:v>13</c:v>
                </c:pt>
              </c:numCache>
            </c:numRef>
          </c:yVal>
          <c:smooth val="0"/>
        </c:ser>
        <c:ser>
          <c:idx val="13"/>
          <c:order val="13"/>
          <c:tx>
            <c:v>U-arcering 14</c:v>
          </c:tx>
          <c:spPr>
            <a:ln xmlns:a="http://schemas.openxmlformats.org/drawingml/2006/main" w="12383">
              <a:solidFill>
                <a:srgbClr val="D0AD80"/>
              </a:solidFill>
              <a:prstDash val="solid"/>
            </a:ln>
          </c:spPr>
          <c:marker>
            <c:symbol val="none"/>
          </c:marker>
          <c:xVal>
            <c:numRef>
              <c:f>'Chart Data'!$AA$2:$AA$3</c:f>
              <c:numCache>
                <c:formatCode>General</c:formatCode>
                <c:ptCount val="2"/>
                <c:pt idx="0">
                  <c:v>45</c:v>
                </c:pt>
                <c:pt idx="1">
                  <c:v>90</c:v>
                </c:pt>
              </c:numCache>
            </c:numRef>
          </c:xVal>
          <c:yVal>
            <c:numRef>
              <c:f>'Chart Data'!$AB$2:$AB$3</c:f>
              <c:numCache>
                <c:formatCode>0</c:formatCode>
                <c:ptCount val="2"/>
                <c:pt idx="0">
                  <c:v>14</c:v>
                </c:pt>
                <c:pt idx="1">
                  <c:v>14</c:v>
                </c:pt>
              </c:numCache>
            </c:numRef>
          </c:yVal>
          <c:smooth val="0"/>
        </c:ser>
        <c:ser>
          <c:idx val="14"/>
          <c:order val="14"/>
          <c:tx>
            <c:v>U-rechthoek</c:v>
          </c:tx>
          <c:spPr>
            <a:ln xmlns:a="http://schemas.openxmlformats.org/drawingml/2006/main" w="28575">
              <a:solidFill>
                <a:srgbClr val="A94D16"/>
              </a:solidFill>
              <a:prstDash val="solid"/>
            </a:ln>
          </c:spPr>
          <c:marker>
            <c:symbol val="none"/>
          </c:marker>
          <c:xVal>
            <c:numRef>
              <c:f>'Chart Data'!$AC$2:$AC$6</c:f>
              <c:numCache>
                <c:formatCode>General</c:formatCode>
                <c:ptCount val="5"/>
                <c:pt idx="0">
                  <c:v>45</c:v>
                </c:pt>
                <c:pt idx="1">
                  <c:v>90</c:v>
                </c:pt>
                <c:pt idx="2">
                  <c:v>90</c:v>
                </c:pt>
                <c:pt idx="3">
                  <c:v>45</c:v>
                </c:pt>
                <c:pt idx="4">
                  <c:v>45</c:v>
                </c:pt>
              </c:numCache>
            </c:numRef>
          </c:xVal>
          <c:yVal>
            <c:numRef>
              <c:f>'Chart Data'!$AD$2:$AD$6</c:f>
              <c:numCache>
                <c:formatCode>0</c:formatCode>
                <c:ptCount val="5"/>
                <c:pt idx="0">
                  <c:v>0</c:v>
                </c:pt>
                <c:pt idx="1">
                  <c:v>0</c:v>
                </c:pt>
                <c:pt idx="2">
                  <c:v>15</c:v>
                </c:pt>
                <c:pt idx="3">
                  <c:v>15</c:v>
                </c:pt>
                <c:pt idx="4">
                  <c:v>0</c:v>
                </c:pt>
              </c:numCache>
            </c:numRef>
          </c:yVal>
          <c:smooth val="0"/>
        </c:ser>
        <c:ser>
          <c:idx val="15"/>
          <c:order val="15"/>
          <c:tx>
            <c:v>V</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Data'!$AE$2:$AE$3</c:f>
              <c:numCache>
                <c:formatCode>General</c:formatCode>
                <c:ptCount val="2"/>
                <c:pt idx="0">
                  <c:v>0</c:v>
                </c:pt>
                <c:pt idx="1">
                  <c:v>120</c:v>
                </c:pt>
              </c:numCache>
            </c:numRef>
          </c:xVal>
          <c:yVal>
            <c:numRef>
              <c:f>'Chart Data'!$AF$2:$AF$3</c:f>
              <c:numCache>
                <c:formatCode>0</c:formatCode>
                <c:ptCount val="2"/>
                <c:pt idx="0">
                  <c:v>24</c:v>
                </c:pt>
                <c:pt idx="1">
                  <c:v>0</c:v>
                </c:pt>
              </c:numCache>
            </c:numRef>
          </c:yVal>
          <c:smooth val="0"/>
        </c:ser>
        <c:ser>
          <c:idx val="16"/>
          <c:order val="16"/>
          <c:tx>
            <c:v>A</c:v>
          </c:tx>
          <c:spPr>
            <a:ln xmlns:a="http://schemas.openxmlformats.org/drawingml/2006/main" w="38100">
              <a:solidFill>
                <a:srgbClr val="1E8449"/>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Data'!$AG$2:$AG$3</c:f>
              <c:numCache>
                <c:formatCode>General</c:formatCode>
                <c:ptCount val="2"/>
                <c:pt idx="0">
                  <c:v>0</c:v>
                </c:pt>
                <c:pt idx="1">
                  <c:v>120</c:v>
                </c:pt>
              </c:numCache>
            </c:numRef>
          </c:xVal>
          <c:yVal>
            <c:numRef>
              <c:f>'Chart Data'!$AH$2:$AH$3</c:f>
              <c:numCache>
                <c:formatCode>0</c:formatCode>
                <c:ptCount val="2"/>
                <c:pt idx="0">
                  <c:v>6</c:v>
                </c:pt>
                <c:pt idx="1">
                  <c:v>18</c:v>
                </c:pt>
              </c:numCache>
            </c:numRef>
          </c:yVal>
          <c:smooth val="0"/>
        </c:ser>
        <c:ser>
          <c:idx val="17"/>
          <c:order val="17"/>
          <c:tx>
            <c:v>Pmin</c:v>
          </c:tx>
          <c:spPr>
            <a:ln xmlns:a="http://schemas.openxmlformats.org/drawingml/2006/main" w="28575">
              <a:solidFill>
                <a:srgbClr val="A94D16"/>
              </a:solidFill>
              <a:prstDash val="dash"/>
            </a:ln>
          </c:spPr>
          <c:marker>
            <c:symbol val="none"/>
          </c:marker>
          <c:xVal>
            <c:numRef>
              <c:f>'Chart Data'!$AI$2:$AI$3</c:f>
              <c:numCache>
                <c:formatCode>General</c:formatCode>
                <c:ptCount val="2"/>
                <c:pt idx="0">
                  <c:v>0</c:v>
                </c:pt>
                <c:pt idx="1">
                  <c:v>120</c:v>
                </c:pt>
              </c:numCache>
            </c:numRef>
          </c:xVal>
          <c:yVal>
            <c:numRef>
              <c:f>'Chart Data'!$AJ$2:$AJ$3</c:f>
              <c:numCache>
                <c:formatCode>0</c:formatCode>
                <c:ptCount val="2"/>
                <c:pt idx="0">
                  <c:v>15</c:v>
                </c:pt>
                <c:pt idx="1">
                  <c:v>15</c:v>
                </c:pt>
              </c:numCache>
            </c:numRef>
          </c:yVal>
          <c:smooth val="0"/>
        </c:ser>
        <c:ser>
          <c:idx val="18"/>
          <c:order val="18"/>
          <c:tx>
            <c:v>Qv</c:v>
          </c:tx>
          <c:spPr>
            <a:ln xmlns:a="http://schemas.openxmlformats.org/drawingml/2006/main" w="19050">
              <a:solidFill>
                <a:srgbClr val="1A5276"/>
              </a:solidFill>
              <a:prstDash val="dash"/>
            </a:ln>
          </c:spPr>
          <c:marker>
            <c:symbol val="none"/>
          </c:marker>
          <c:xVal>
            <c:numRef>
              <c:f>'Chart Data'!$AK$2:$AK$3</c:f>
              <c:numCache>
                <c:formatCode>General</c:formatCode>
                <c:ptCount val="2"/>
                <c:pt idx="0">
                  <c:v>45</c:v>
                </c:pt>
                <c:pt idx="1">
                  <c:v>45</c:v>
                </c:pt>
              </c:numCache>
            </c:numRef>
          </c:xVal>
          <c:yVal>
            <c:numRef>
              <c:f>'Chart Data'!$AL$2:$AL$3</c:f>
              <c:numCache>
                <c:formatCode>0</c:formatCode>
                <c:ptCount val="2"/>
                <c:pt idx="0">
                  <c:v>0</c:v>
                </c:pt>
                <c:pt idx="1">
                  <c:v>15</c:v>
                </c:pt>
              </c:numCache>
            </c:numRef>
          </c:yVal>
          <c:smooth val="0"/>
        </c:ser>
        <c:ser>
          <c:idx val="19"/>
          <c:order val="19"/>
          <c:tx>
            <c:v>Qa</c:v>
          </c:tx>
          <c:spPr>
            <a:ln xmlns:a="http://schemas.openxmlformats.org/drawingml/2006/main" w="19050">
              <a:solidFill>
                <a:srgbClr val="1E8449"/>
              </a:solidFill>
              <a:prstDash val="dash"/>
            </a:ln>
          </c:spPr>
          <c:marker>
            <c:symbol val="none"/>
          </c:marker>
          <c:xVal>
            <c:numRef>
              <c:f>'Chart Data'!$AM$2:$AM$3</c:f>
              <c:numCache>
                <c:formatCode>General</c:formatCode>
                <c:ptCount val="2"/>
                <c:pt idx="0">
                  <c:v>90</c:v>
                </c:pt>
                <c:pt idx="1">
                  <c:v>90</c:v>
                </c:pt>
              </c:numCache>
            </c:numRef>
          </c:xVal>
          <c:yVal>
            <c:numRef>
              <c:f>'Chart Data'!$AN$2:$AN$3</c:f>
              <c:numCache>
                <c:formatCode>0</c:formatCode>
                <c:ptCount val="2"/>
                <c:pt idx="0">
                  <c:v>0</c:v>
                </c:pt>
                <c:pt idx="1">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pot)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(potten kruiden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120</c:v>
                </c:pt>
              </c:numCache>
            </c:numRef>
          </c:xVal>
          <c:yVal>
            <c:numRef>
              <c:f>'Chart Data'!$B$2:$B$3</c:f>
              <c:numCache>
                <c:formatCode>0</c:formatCode>
                <c:ptCount val="2"/>
                <c:pt idx="0">
                  <c:v>24</c:v>
                </c:pt>
                <c:pt idx="1">
                  <c:v>0</c:v>
                </c:pt>
              </c:numCache>
            </c:numRef>
          </c:yVal>
          <c:smooth val="0"/>
        </c:ser>
        <c:ser>
          <c:idx val="1"/>
          <c:order val="1"/>
          <c:tx>
            <c:v>A</c:v>
          </c:tx>
          <c:spPr>
            <a:ln xmlns:a="http://schemas.openxmlformats.org/drawingml/2006/main" w="38100">
              <a:solidFill>
                <a:srgbClr val="1E8449"/>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120</c:v>
                </c:pt>
              </c:numCache>
            </c:numRef>
          </c:xVal>
          <c:yVal>
            <c:numRef>
              <c:f>'Chart Data'!$D$2:$D$3</c:f>
              <c:numCache>
                <c:formatCode>0</c:formatCode>
                <c:ptCount val="2"/>
                <c:pt idx="0">
                  <c:v>6</c:v>
                </c:pt>
                <c:pt idx="1">
                  <c:v>18</c:v>
                </c:pt>
              </c:numCache>
            </c:numRef>
          </c:yVal>
          <c:smooth val="0"/>
        </c:ser>
        <c:ser>
          <c:idx val="2"/>
          <c:order val="2"/>
          <c:tx>
            <c:v>Quotum</c:v>
          </c:tx>
          <c:spPr>
            <a:ln xmlns:a="http://schemas.openxmlformats.org/drawingml/2006/main" w="28575">
              <a:solidFill>
                <a:srgbClr val="A94D16"/>
              </a:solidFill>
              <a:prstDash val="dash"/>
            </a:ln>
          </c:spPr>
          <c:marker>
            <c:symbol val="none"/>
          </c:marker>
          <c:xVal>
            <c:numRef>
              <c:f>'Chart Data'!$E$2:$E$3</c:f>
              <c:numCache>
                <c:formatCode>General</c:formatCode>
                <c:ptCount val="2"/>
                <c:pt idx="0">
                  <c:v>45</c:v>
                </c:pt>
                <c:pt idx="1">
                  <c:v>45</c:v>
                </c:pt>
              </c:numCache>
            </c:numRef>
          </c:xVal>
          <c:yVal>
            <c:numRef>
              <c:f>'Chart Data'!$F$2:$F$3</c:f>
              <c:numCache>
                <c:formatCode>0</c:formatCode>
                <c:ptCount val="2"/>
                <c:pt idx="0">
                  <c:v>0</c:v>
                </c:pt>
                <c:pt idx="1">
                  <c:v>26</c:v>
                </c:pt>
              </c:numCache>
            </c:numRef>
          </c:yVal>
          <c:smooth val="0"/>
        </c:ser>
        <c:ser>
          <c:idx val="3"/>
          <c:order val="3"/>
          <c:tx>
            <c:v>Verkoopprijs op V</c:v>
          </c:tx>
          <c:spPr>
            <a:ln xmlns:a="http://schemas.openxmlformats.org/drawingml/2006/main" w="19050">
              <a:solidFill>
                <a:srgbClr val="1A5276"/>
              </a:solidFill>
              <a:prstDash val="dash"/>
            </a:ln>
          </c:spPr>
          <c:marker>
            <c:symbol val="none"/>
          </c:marker>
          <c:xVal>
            <c:numRef>
              <c:f>'Chart Data'!$G$2:$G$3</c:f>
              <c:numCache>
                <c:formatCode>General</c:formatCode>
                <c:ptCount val="2"/>
                <c:pt idx="0">
                  <c:v>0</c:v>
                </c:pt>
                <c:pt idx="1">
                  <c:v>45</c:v>
                </c:pt>
              </c:numCache>
            </c:numRef>
          </c:xVal>
          <c:yVal>
            <c:numRef>
              <c:f>'Chart Data'!$H$2:$H$3</c:f>
              <c:numCache>
                <c:formatCode>0</c:formatCode>
                <c:ptCount val="2"/>
                <c:pt idx="0">
                  <c:v>15</c:v>
                </c:pt>
                <c:pt idx="1">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pot)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(potten kruiden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160</c:v>
                </c:pt>
              </c:numCache>
            </c:numRef>
          </c:xVal>
          <c:yVal>
            <c:numRef>
              <c:f>'Chart Data'!$B$2:$B$3</c:f>
              <c:numCache>
                <c:formatCode>0</c:formatCode>
                <c:ptCount val="2"/>
                <c:pt idx="0">
                  <c:v>20</c:v>
                </c:pt>
                <c:pt idx="1">
                  <c:v>4</c:v>
                </c:pt>
              </c:numCache>
            </c:numRef>
          </c:yVal>
          <c:smooth val="0"/>
        </c:ser>
        <c:ser>
          <c:idx val="1"/>
          <c:order val="1"/>
          <c:tx>
            <c:v>A</c:v>
          </c:tx>
          <c:spPr>
            <a:ln xmlns:a="http://schemas.openxmlformats.org/drawingml/2006/main" w="38100">
              <a:solidFill>
                <a:srgbClr val="1E8449"/>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160</c:v>
                </c:pt>
              </c:numCache>
            </c:numRef>
          </c:xVal>
          <c:yVal>
            <c:numRef>
              <c:f>'Chart Data'!$D$2:$D$3</c:f>
              <c:numCache>
                <c:formatCode>0</c:formatCode>
                <c:ptCount val="2"/>
                <c:pt idx="0">
                  <c:v>8</c:v>
                </c:pt>
                <c:pt idx="1">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krat)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(kratten paddenstoelen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U-arcering 1</c:v>
          </c:tx>
          <c:spPr>
            <a:ln xmlns:a="http://schemas.openxmlformats.org/drawingml/2006/main" w="12383">
              <a:solidFill>
                <a:srgbClr val="D0AD80"/>
              </a:solidFill>
              <a:prstDash val="solid"/>
            </a:ln>
          </c:spPr>
          <c:marker>
            <c:symbol val="none"/>
          </c:marker>
          <c:xVal>
            <c:numRef>
              <c:f>'Chart Data'!$A$2:$A$3</c:f>
              <c:numCache>
                <c:formatCode>General</c:formatCode>
                <c:ptCount val="2"/>
                <c:pt idx="0">
                  <c:v>40</c:v>
                </c:pt>
                <c:pt idx="1">
                  <c:v>80</c:v>
                </c:pt>
              </c:numCache>
            </c:numRef>
          </c:xVal>
          <c:yVal>
            <c:numRef>
              <c:f>'Chart Data'!$B$2:$B$3</c:f>
              <c:numCache>
                <c:formatCode>0</c:formatCode>
                <c:ptCount val="2"/>
                <c:pt idx="0">
                  <c:v>1</c:v>
                </c:pt>
                <c:pt idx="1">
                  <c:v>1</c:v>
                </c:pt>
              </c:numCache>
            </c:numRef>
          </c:yVal>
          <c:smooth val="0"/>
        </c:ser>
        <c:ser>
          <c:idx val="1"/>
          <c:order val="1"/>
          <c:tx>
            <c:v>U-arcering 2</c:v>
          </c:tx>
          <c:spPr>
            <a:ln xmlns:a="http://schemas.openxmlformats.org/drawingml/2006/main" w="12383">
              <a:solidFill>
                <a:srgbClr val="D0AD80"/>
              </a:solidFill>
              <a:prstDash val="solid"/>
            </a:ln>
          </c:spPr>
          <c:marker>
            <c:symbol val="none"/>
          </c:marker>
          <c:xVal>
            <c:numRef>
              <c:f>'Chart Data'!$C$2:$C$3</c:f>
              <c:numCache>
                <c:formatCode>General</c:formatCode>
                <c:ptCount val="2"/>
                <c:pt idx="0">
                  <c:v>40</c:v>
                </c:pt>
                <c:pt idx="1">
                  <c:v>80</c:v>
                </c:pt>
              </c:numCache>
            </c:numRef>
          </c:xVal>
          <c:yVal>
            <c:numRef>
              <c:f>'Chart Data'!$D$2:$D$3</c:f>
              <c:numCache>
                <c:formatCode>0</c:formatCode>
                <c:ptCount val="2"/>
                <c:pt idx="0">
                  <c:v>2</c:v>
                </c:pt>
                <c:pt idx="1">
                  <c:v>2</c:v>
                </c:pt>
              </c:numCache>
            </c:numRef>
          </c:yVal>
          <c:smooth val="0"/>
        </c:ser>
        <c:ser>
          <c:idx val="2"/>
          <c:order val="2"/>
          <c:tx>
            <c:v>U-arcering 3</c:v>
          </c:tx>
          <c:spPr>
            <a:ln xmlns:a="http://schemas.openxmlformats.org/drawingml/2006/main" w="12383">
              <a:solidFill>
                <a:srgbClr val="D0AD80"/>
              </a:solidFill>
              <a:prstDash val="solid"/>
            </a:ln>
          </c:spPr>
          <c:marker>
            <c:symbol val="none"/>
          </c:marker>
          <c:xVal>
            <c:numRef>
              <c:f>'Chart Data'!$E$2:$E$3</c:f>
              <c:numCache>
                <c:formatCode>General</c:formatCode>
                <c:ptCount val="2"/>
                <c:pt idx="0">
                  <c:v>40</c:v>
                </c:pt>
                <c:pt idx="1">
                  <c:v>80</c:v>
                </c:pt>
              </c:numCache>
            </c:numRef>
          </c:xVal>
          <c:yVal>
            <c:numRef>
              <c:f>'Chart Data'!$F$2:$F$3</c:f>
              <c:numCache>
                <c:formatCode>0</c:formatCode>
                <c:ptCount val="2"/>
                <c:pt idx="0">
                  <c:v>3</c:v>
                </c:pt>
                <c:pt idx="1">
                  <c:v>3</c:v>
                </c:pt>
              </c:numCache>
            </c:numRef>
          </c:yVal>
          <c:smooth val="0"/>
        </c:ser>
        <c:ser>
          <c:idx val="3"/>
          <c:order val="3"/>
          <c:tx>
            <c:v>U-arcering 4</c:v>
          </c:tx>
          <c:spPr>
            <a:ln xmlns:a="http://schemas.openxmlformats.org/drawingml/2006/main" w="12383">
              <a:solidFill>
                <a:srgbClr val="D0AD80"/>
              </a:solidFill>
              <a:prstDash val="solid"/>
            </a:ln>
          </c:spPr>
          <c:marker>
            <c:symbol val="none"/>
          </c:marker>
          <c:xVal>
            <c:numRef>
              <c:f>'Chart Data'!$G$2:$G$3</c:f>
              <c:numCache>
                <c:formatCode>General</c:formatCode>
                <c:ptCount val="2"/>
                <c:pt idx="0">
                  <c:v>40</c:v>
                </c:pt>
                <c:pt idx="1">
                  <c:v>80</c:v>
                </c:pt>
              </c:numCache>
            </c:numRef>
          </c:xVal>
          <c:yVal>
            <c:numRef>
              <c:f>'Chart Data'!$H$2:$H$3</c:f>
              <c:numCache>
                <c:formatCode>0</c:formatCode>
                <c:ptCount val="2"/>
                <c:pt idx="0">
                  <c:v>4</c:v>
                </c:pt>
                <c:pt idx="1">
                  <c:v>4</c:v>
                </c:pt>
              </c:numCache>
            </c:numRef>
          </c:yVal>
          <c:smooth val="0"/>
        </c:ser>
        <c:ser>
          <c:idx val="4"/>
          <c:order val="4"/>
          <c:tx>
            <c:v>U-arcering 5</c:v>
          </c:tx>
          <c:spPr>
            <a:ln xmlns:a="http://schemas.openxmlformats.org/drawingml/2006/main" w="12383">
              <a:solidFill>
                <a:srgbClr val="D0AD80"/>
              </a:solidFill>
              <a:prstDash val="solid"/>
            </a:ln>
          </c:spPr>
          <c:marker>
            <c:symbol val="none"/>
          </c:marker>
          <c:xVal>
            <c:numRef>
              <c:f>'Chart Data'!$I$2:$I$3</c:f>
              <c:numCache>
                <c:formatCode>General</c:formatCode>
                <c:ptCount val="2"/>
                <c:pt idx="0">
                  <c:v>40</c:v>
                </c:pt>
                <c:pt idx="1">
                  <c:v>80</c:v>
                </c:pt>
              </c:numCache>
            </c:numRef>
          </c:xVal>
          <c:yVal>
            <c:numRef>
              <c:f>'Chart Data'!$J$2:$J$3</c:f>
              <c:numCache>
                <c:formatCode>0</c:formatCode>
                <c:ptCount val="2"/>
                <c:pt idx="0">
                  <c:v>5</c:v>
                </c:pt>
                <c:pt idx="1">
                  <c:v>5</c:v>
                </c:pt>
              </c:numCache>
            </c:numRef>
          </c:yVal>
          <c:smooth val="0"/>
        </c:ser>
        <c:ser>
          <c:idx val="5"/>
          <c:order val="5"/>
          <c:tx>
            <c:v>U-arcering 6</c:v>
          </c:tx>
          <c:spPr>
            <a:ln xmlns:a="http://schemas.openxmlformats.org/drawingml/2006/main" w="12383">
              <a:solidFill>
                <a:srgbClr val="D0AD80"/>
              </a:solidFill>
              <a:prstDash val="solid"/>
            </a:ln>
          </c:spPr>
          <c:marker>
            <c:symbol val="none"/>
          </c:marker>
          <c:xVal>
            <c:numRef>
              <c:f>'Chart Data'!$K$2:$K$3</c:f>
              <c:numCache>
                <c:formatCode>General</c:formatCode>
                <c:ptCount val="2"/>
                <c:pt idx="0">
                  <c:v>40</c:v>
                </c:pt>
                <c:pt idx="1">
                  <c:v>80</c:v>
                </c:pt>
              </c:numCache>
            </c:numRef>
          </c:xVal>
          <c:yVal>
            <c:numRef>
              <c:f>'Chart Data'!$L$2:$L$3</c:f>
              <c:numCache>
                <c:formatCode>0</c:formatCode>
                <c:ptCount val="2"/>
                <c:pt idx="0">
                  <c:v>6</c:v>
                </c:pt>
                <c:pt idx="1">
                  <c:v>6</c:v>
                </c:pt>
              </c:numCache>
            </c:numRef>
          </c:yVal>
          <c:smooth val="0"/>
        </c:ser>
        <c:ser>
          <c:idx val="6"/>
          <c:order val="6"/>
          <c:tx>
            <c:v>U-arcering 7</c:v>
          </c:tx>
          <c:spPr>
            <a:ln xmlns:a="http://schemas.openxmlformats.org/drawingml/2006/main" w="12383">
              <a:solidFill>
                <a:srgbClr val="D0AD80"/>
              </a:solidFill>
              <a:prstDash val="solid"/>
            </a:ln>
          </c:spPr>
          <c:marker>
            <c:symbol val="none"/>
          </c:marker>
          <c:xVal>
            <c:numRef>
              <c:f>'Chart Data'!$M$2:$M$3</c:f>
              <c:numCache>
                <c:formatCode>General</c:formatCode>
                <c:ptCount val="2"/>
                <c:pt idx="0">
                  <c:v>40</c:v>
                </c:pt>
                <c:pt idx="1">
                  <c:v>80</c:v>
                </c:pt>
              </c:numCache>
            </c:numRef>
          </c:xVal>
          <c:yVal>
            <c:numRef>
              <c:f>'Chart Data'!$N$2:$N$3</c:f>
              <c:numCache>
                <c:formatCode>0</c:formatCode>
                <c:ptCount val="2"/>
                <c:pt idx="0">
                  <c:v>7</c:v>
                </c:pt>
                <c:pt idx="1">
                  <c:v>7</c:v>
                </c:pt>
              </c:numCache>
            </c:numRef>
          </c:yVal>
          <c:smooth val="0"/>
        </c:ser>
        <c:ser>
          <c:idx val="7"/>
          <c:order val="7"/>
          <c:tx>
            <c:v>U-arcering 8</c:v>
          </c:tx>
          <c:spPr>
            <a:ln xmlns:a="http://schemas.openxmlformats.org/drawingml/2006/main" w="12383">
              <a:solidFill>
                <a:srgbClr val="D0AD80"/>
              </a:solidFill>
              <a:prstDash val="solid"/>
            </a:ln>
          </c:spPr>
          <c:marker>
            <c:symbol val="none"/>
          </c:marker>
          <c:xVal>
            <c:numRef>
              <c:f>'Chart Data'!$O$2:$O$3</c:f>
              <c:numCache>
                <c:formatCode>General</c:formatCode>
                <c:ptCount val="2"/>
                <c:pt idx="0">
                  <c:v>40</c:v>
                </c:pt>
                <c:pt idx="1">
                  <c:v>80</c:v>
                </c:pt>
              </c:numCache>
            </c:numRef>
          </c:xVal>
          <c:yVal>
            <c:numRef>
              <c:f>'Chart Data'!$P$2:$P$3</c:f>
              <c:numCache>
                <c:formatCode>0</c:formatCode>
                <c:ptCount val="2"/>
                <c:pt idx="0">
                  <c:v>8</c:v>
                </c:pt>
                <c:pt idx="1">
                  <c:v>8</c:v>
                </c:pt>
              </c:numCache>
            </c:numRef>
          </c:yVal>
          <c:smooth val="0"/>
        </c:ser>
        <c:ser>
          <c:idx val="8"/>
          <c:order val="8"/>
          <c:tx>
            <c:v>U-arcering 9</c:v>
          </c:tx>
          <c:spPr>
            <a:ln xmlns:a="http://schemas.openxmlformats.org/drawingml/2006/main" w="12383">
              <a:solidFill>
                <a:srgbClr val="D0AD80"/>
              </a:solidFill>
              <a:prstDash val="solid"/>
            </a:ln>
          </c:spPr>
          <c:marker>
            <c:symbol val="none"/>
          </c:marker>
          <c:xVal>
            <c:numRef>
              <c:f>'Chart Data'!$Q$2:$Q$3</c:f>
              <c:numCache>
                <c:formatCode>General</c:formatCode>
                <c:ptCount val="2"/>
                <c:pt idx="0">
                  <c:v>40</c:v>
                </c:pt>
                <c:pt idx="1">
                  <c:v>80</c:v>
                </c:pt>
              </c:numCache>
            </c:numRef>
          </c:xVal>
          <c:yVal>
            <c:numRef>
              <c:f>'Chart Data'!$R$2:$R$3</c:f>
              <c:numCache>
                <c:formatCode>0</c:formatCode>
                <c:ptCount val="2"/>
                <c:pt idx="0">
                  <c:v>9</c:v>
                </c:pt>
                <c:pt idx="1">
                  <c:v>9</c:v>
                </c:pt>
              </c:numCache>
            </c:numRef>
          </c:yVal>
          <c:smooth val="0"/>
        </c:ser>
        <c:ser>
          <c:idx val="9"/>
          <c:order val="9"/>
          <c:tx>
            <c:v>U-arcering 10</c:v>
          </c:tx>
          <c:spPr>
            <a:ln xmlns:a="http://schemas.openxmlformats.org/drawingml/2006/main" w="12383">
              <a:solidFill>
                <a:srgbClr val="D0AD80"/>
              </a:solidFill>
              <a:prstDash val="solid"/>
            </a:ln>
          </c:spPr>
          <c:marker>
            <c:symbol val="none"/>
          </c:marker>
          <c:xVal>
            <c:numRef>
              <c:f>'Chart Data'!$S$2:$S$3</c:f>
              <c:numCache>
                <c:formatCode>General</c:formatCode>
                <c:ptCount val="2"/>
                <c:pt idx="0">
                  <c:v>40</c:v>
                </c:pt>
                <c:pt idx="1">
                  <c:v>80</c:v>
                </c:pt>
              </c:numCache>
            </c:numRef>
          </c:xVal>
          <c:yVal>
            <c:numRef>
              <c:f>'Chart Data'!$T$2:$T$3</c:f>
              <c:numCache>
                <c:formatCode>0</c:formatCode>
                <c:ptCount val="2"/>
                <c:pt idx="0">
                  <c:v>10</c:v>
                </c:pt>
                <c:pt idx="1">
                  <c:v>10</c:v>
                </c:pt>
              </c:numCache>
            </c:numRef>
          </c:yVal>
          <c:smooth val="0"/>
        </c:ser>
        <c:ser>
          <c:idx val="10"/>
          <c:order val="10"/>
          <c:tx>
            <c:v>U-arcering 11</c:v>
          </c:tx>
          <c:spPr>
            <a:ln xmlns:a="http://schemas.openxmlformats.org/drawingml/2006/main" w="12383">
              <a:solidFill>
                <a:srgbClr val="D0AD80"/>
              </a:solidFill>
              <a:prstDash val="solid"/>
            </a:ln>
          </c:spPr>
          <c:marker>
            <c:symbol val="none"/>
          </c:marker>
          <c:xVal>
            <c:numRef>
              <c:f>'Chart Data'!$U$2:$U$3</c:f>
              <c:numCache>
                <c:formatCode>General</c:formatCode>
                <c:ptCount val="2"/>
                <c:pt idx="0">
                  <c:v>40</c:v>
                </c:pt>
                <c:pt idx="1">
                  <c:v>80</c:v>
                </c:pt>
              </c:numCache>
            </c:numRef>
          </c:xVal>
          <c:yVal>
            <c:numRef>
              <c:f>'Chart Data'!$V$2:$V$3</c:f>
              <c:numCache>
                <c:formatCode>0</c:formatCode>
                <c:ptCount val="2"/>
                <c:pt idx="0">
                  <c:v>11</c:v>
                </c:pt>
                <c:pt idx="1">
                  <c:v>11</c:v>
                </c:pt>
              </c:numCache>
            </c:numRef>
          </c:yVal>
          <c:smooth val="0"/>
        </c:ser>
        <c:ser>
          <c:idx val="11"/>
          <c:order val="11"/>
          <c:tx>
            <c:v>U-arcering 12</c:v>
          </c:tx>
          <c:spPr>
            <a:ln xmlns:a="http://schemas.openxmlformats.org/drawingml/2006/main" w="12383">
              <a:solidFill>
                <a:srgbClr val="D0AD80"/>
              </a:solidFill>
              <a:prstDash val="solid"/>
            </a:ln>
          </c:spPr>
          <c:marker>
            <c:symbol val="none"/>
          </c:marker>
          <c:xVal>
            <c:numRef>
              <c:f>'Chart Data'!$W$2:$W$3</c:f>
              <c:numCache>
                <c:formatCode>General</c:formatCode>
                <c:ptCount val="2"/>
                <c:pt idx="0">
                  <c:v>40</c:v>
                </c:pt>
                <c:pt idx="1">
                  <c:v>80</c:v>
                </c:pt>
              </c:numCache>
            </c:numRef>
          </c:xVal>
          <c:yVal>
            <c:numRef>
              <c:f>'Chart Data'!$X$2:$X$3</c:f>
              <c:numCache>
                <c:formatCode>0</c:formatCode>
                <c:ptCount val="2"/>
                <c:pt idx="0">
                  <c:v>12</c:v>
                </c:pt>
                <c:pt idx="1">
                  <c:v>12</c:v>
                </c:pt>
              </c:numCache>
            </c:numRef>
          </c:yVal>
          <c:smooth val="0"/>
        </c:ser>
        <c:ser>
          <c:idx val="12"/>
          <c:order val="12"/>
          <c:tx>
            <c:v>U-arcering 13</c:v>
          </c:tx>
          <c:spPr>
            <a:ln xmlns:a="http://schemas.openxmlformats.org/drawingml/2006/main" w="12383">
              <a:solidFill>
                <a:srgbClr val="D0AD80"/>
              </a:solidFill>
              <a:prstDash val="solid"/>
            </a:ln>
          </c:spPr>
          <c:marker>
            <c:symbol val="none"/>
          </c:marker>
          <c:xVal>
            <c:numRef>
              <c:f>'Chart Data'!$Y$2:$Y$3</c:f>
              <c:numCache>
                <c:formatCode>General</c:formatCode>
                <c:ptCount val="2"/>
                <c:pt idx="0">
                  <c:v>40</c:v>
                </c:pt>
                <c:pt idx="1">
                  <c:v>80</c:v>
                </c:pt>
              </c:numCache>
            </c:numRef>
          </c:xVal>
          <c:yVal>
            <c:numRef>
              <c:f>'Chart Data'!$Z$2:$Z$3</c:f>
              <c:numCache>
                <c:formatCode>0</c:formatCode>
                <c:ptCount val="2"/>
                <c:pt idx="0">
                  <c:v>13</c:v>
                </c:pt>
                <c:pt idx="1">
                  <c:v>13</c:v>
                </c:pt>
              </c:numCache>
            </c:numRef>
          </c:yVal>
          <c:smooth val="0"/>
        </c:ser>
        <c:ser>
          <c:idx val="13"/>
          <c:order val="13"/>
          <c:tx>
            <c:v>U-arcering 14</c:v>
          </c:tx>
          <c:spPr>
            <a:ln xmlns:a="http://schemas.openxmlformats.org/drawingml/2006/main" w="12383">
              <a:solidFill>
                <a:srgbClr val="D0AD80"/>
              </a:solidFill>
              <a:prstDash val="solid"/>
            </a:ln>
          </c:spPr>
          <c:marker>
            <c:symbol val="none"/>
          </c:marker>
          <c:xVal>
            <c:numRef>
              <c:f>'Chart Data'!$AA$2:$AA$3</c:f>
              <c:numCache>
                <c:formatCode>General</c:formatCode>
                <c:ptCount val="2"/>
                <c:pt idx="0">
                  <c:v>40</c:v>
                </c:pt>
                <c:pt idx="1">
                  <c:v>80</c:v>
                </c:pt>
              </c:numCache>
            </c:numRef>
          </c:xVal>
          <c:yVal>
            <c:numRef>
              <c:f>'Chart Data'!$AB$2:$AB$3</c:f>
              <c:numCache>
                <c:formatCode>0</c:formatCode>
                <c:ptCount val="2"/>
                <c:pt idx="0">
                  <c:v>14</c:v>
                </c:pt>
                <c:pt idx="1">
                  <c:v>14</c:v>
                </c:pt>
              </c:numCache>
            </c:numRef>
          </c:yVal>
          <c:smooth val="0"/>
        </c:ser>
        <c:ser>
          <c:idx val="14"/>
          <c:order val="14"/>
          <c:tx>
            <c:v>U-arcering 15</c:v>
          </c:tx>
          <c:spPr>
            <a:ln xmlns:a="http://schemas.openxmlformats.org/drawingml/2006/main" w="12383">
              <a:solidFill>
                <a:srgbClr val="D0AD80"/>
              </a:solidFill>
              <a:prstDash val="solid"/>
            </a:ln>
          </c:spPr>
          <c:marker>
            <c:symbol val="none"/>
          </c:marker>
          <c:xVal>
            <c:numRef>
              <c:f>'Chart Data'!$AC$2:$AC$3</c:f>
              <c:numCache>
                <c:formatCode>General</c:formatCode>
                <c:ptCount val="2"/>
                <c:pt idx="0">
                  <c:v>40</c:v>
                </c:pt>
                <c:pt idx="1">
                  <c:v>80</c:v>
                </c:pt>
              </c:numCache>
            </c:numRef>
          </c:xVal>
          <c:yVal>
            <c:numRef>
              <c:f>'Chart Data'!$AD$2:$AD$3</c:f>
              <c:numCache>
                <c:formatCode>0</c:formatCode>
                <c:ptCount val="2"/>
                <c:pt idx="0">
                  <c:v>15</c:v>
                </c:pt>
                <c:pt idx="1">
                  <c:v>15</c:v>
                </c:pt>
              </c:numCache>
            </c:numRef>
          </c:yVal>
          <c:smooth val="0"/>
        </c:ser>
        <c:ser>
          <c:idx val="15"/>
          <c:order val="15"/>
          <c:tx>
            <c:v>U-rechthoek</c:v>
          </c:tx>
          <c:spPr>
            <a:ln xmlns:a="http://schemas.openxmlformats.org/drawingml/2006/main" w="28575">
              <a:solidFill>
                <a:srgbClr val="A94D16"/>
              </a:solidFill>
              <a:prstDash val="solid"/>
            </a:ln>
          </c:spPr>
          <c:marker>
            <c:symbol val="none"/>
          </c:marker>
          <c:xVal>
            <c:numRef>
              <c:f>'Chart Data'!$AE$2:$AE$6</c:f>
              <c:numCache>
                <c:formatCode>General</c:formatCode>
                <c:ptCount val="5"/>
                <c:pt idx="0">
                  <c:v>40</c:v>
                </c:pt>
                <c:pt idx="1">
                  <c:v>80</c:v>
                </c:pt>
                <c:pt idx="2">
                  <c:v>80</c:v>
                </c:pt>
                <c:pt idx="3">
                  <c:v>40</c:v>
                </c:pt>
                <c:pt idx="4">
                  <c:v>40</c:v>
                </c:pt>
              </c:numCache>
            </c:numRef>
          </c:xVal>
          <c:yVal>
            <c:numRef>
              <c:f>'Chart Data'!$AF$2:$AF$6</c:f>
              <c:numCache>
                <c:formatCode>0</c:formatCode>
                <c:ptCount val="5"/>
                <c:pt idx="0">
                  <c:v>0</c:v>
                </c:pt>
                <c:pt idx="1">
                  <c:v>0</c:v>
                </c:pt>
                <c:pt idx="2">
                  <c:v>16</c:v>
                </c:pt>
                <c:pt idx="3">
                  <c:v>16</c:v>
                </c:pt>
                <c:pt idx="4">
                  <c:v>0</c:v>
                </c:pt>
              </c:numCache>
            </c:numRef>
          </c:yVal>
          <c:smooth val="0"/>
        </c:ser>
        <c:ser>
          <c:idx val="16"/>
          <c:order val="16"/>
          <c:tx>
            <c:v>V</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Data'!$AG$2:$AG$3</c:f>
              <c:numCache>
                <c:formatCode>General</c:formatCode>
                <c:ptCount val="2"/>
                <c:pt idx="0">
                  <c:v>0</c:v>
                </c:pt>
                <c:pt idx="1">
                  <c:v>160</c:v>
                </c:pt>
              </c:numCache>
            </c:numRef>
          </c:xVal>
          <c:yVal>
            <c:numRef>
              <c:f>'Chart Data'!$AH$2:$AH$3</c:f>
              <c:numCache>
                <c:formatCode>0</c:formatCode>
                <c:ptCount val="2"/>
                <c:pt idx="0">
                  <c:v>20</c:v>
                </c:pt>
                <c:pt idx="1">
                  <c:v>4</c:v>
                </c:pt>
              </c:numCache>
            </c:numRef>
          </c:yVal>
          <c:smooth val="0"/>
        </c:ser>
        <c:ser>
          <c:idx val="17"/>
          <c:order val="17"/>
          <c:tx>
            <c:v>A</c:v>
          </c:tx>
          <c:spPr>
            <a:ln xmlns:a="http://schemas.openxmlformats.org/drawingml/2006/main" w="38100">
              <a:solidFill>
                <a:srgbClr val="1E8449"/>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Data'!$AI$2:$AI$3</c:f>
              <c:numCache>
                <c:formatCode>General</c:formatCode>
                <c:ptCount val="2"/>
                <c:pt idx="0">
                  <c:v>0</c:v>
                </c:pt>
                <c:pt idx="1">
                  <c:v>160</c:v>
                </c:pt>
              </c:numCache>
            </c:numRef>
          </c:xVal>
          <c:yVal>
            <c:numRef>
              <c:f>'Chart Data'!$AJ$2:$AJ$3</c:f>
              <c:numCache>
                <c:formatCode>0</c:formatCode>
                <c:ptCount val="2"/>
                <c:pt idx="0">
                  <c:v>8</c:v>
                </c:pt>
                <c:pt idx="1">
                  <c:v>24</c:v>
                </c:pt>
              </c:numCache>
            </c:numRef>
          </c:yVal>
          <c:smooth val="0"/>
        </c:ser>
        <c:ser>
          <c:idx val="18"/>
          <c:order val="18"/>
          <c:tx>
            <c:v>Pmin</c:v>
          </c:tx>
          <c:spPr>
            <a:ln xmlns:a="http://schemas.openxmlformats.org/drawingml/2006/main" w="28575">
              <a:solidFill>
                <a:srgbClr val="A94D16"/>
              </a:solidFill>
              <a:prstDash val="dash"/>
            </a:ln>
          </c:spPr>
          <c:marker>
            <c:symbol val="none"/>
          </c:marker>
          <c:xVal>
            <c:numRef>
              <c:f>'Chart Data'!$AK$2:$AK$3</c:f>
              <c:numCache>
                <c:formatCode>General</c:formatCode>
                <c:ptCount val="2"/>
                <c:pt idx="0">
                  <c:v>0</c:v>
                </c:pt>
                <c:pt idx="1">
                  <c:v>160</c:v>
                </c:pt>
              </c:numCache>
            </c:numRef>
          </c:xVal>
          <c:yVal>
            <c:numRef>
              <c:f>'Chart Data'!$AL$2:$AL$3</c:f>
              <c:numCache>
                <c:formatCode>0</c:formatCode>
                <c:ptCount val="2"/>
                <c:pt idx="0">
                  <c:v>16</c:v>
                </c:pt>
                <c:pt idx="1">
                  <c:v>16</c:v>
                </c:pt>
              </c:numCache>
            </c:numRef>
          </c:yVal>
          <c:smooth val="0"/>
        </c:ser>
        <c:ser>
          <c:idx val="19"/>
          <c:order val="19"/>
          <c:tx>
            <c:v>Qv</c:v>
          </c:tx>
          <c:spPr>
            <a:ln xmlns:a="http://schemas.openxmlformats.org/drawingml/2006/main" w="19050">
              <a:solidFill>
                <a:srgbClr val="1A5276"/>
              </a:solidFill>
              <a:prstDash val="dash"/>
            </a:ln>
          </c:spPr>
          <c:marker>
            <c:symbol val="none"/>
          </c:marker>
          <c:xVal>
            <c:numRef>
              <c:f>'Chart Data'!$AM$2:$AM$3</c:f>
              <c:numCache>
                <c:formatCode>General</c:formatCode>
                <c:ptCount val="2"/>
                <c:pt idx="0">
                  <c:v>40</c:v>
                </c:pt>
                <c:pt idx="1">
                  <c:v>40</c:v>
                </c:pt>
              </c:numCache>
            </c:numRef>
          </c:xVal>
          <c:yVal>
            <c:numRef>
              <c:f>'Chart Data'!$AN$2:$AN$3</c:f>
              <c:numCache>
                <c:formatCode>0</c:formatCode>
                <c:ptCount val="2"/>
                <c:pt idx="0">
                  <c:v>0</c:v>
                </c:pt>
                <c:pt idx="1">
                  <c:v>16</c:v>
                </c:pt>
              </c:numCache>
            </c:numRef>
          </c:yVal>
          <c:smooth val="0"/>
        </c:ser>
        <c:ser>
          <c:idx val="20"/>
          <c:order val="20"/>
          <c:tx>
            <c:v>Qa</c:v>
          </c:tx>
          <c:spPr>
            <a:ln xmlns:a="http://schemas.openxmlformats.org/drawingml/2006/main" w="19050">
              <a:solidFill>
                <a:srgbClr val="1E8449"/>
              </a:solidFill>
              <a:prstDash val="dash"/>
            </a:ln>
          </c:spPr>
          <c:marker>
            <c:symbol val="none"/>
          </c:marker>
          <c:xVal>
            <c:numRef>
              <c:f>'Chart Data'!$AO$2:$AO$3</c:f>
              <c:numCache>
                <c:formatCode>General</c:formatCode>
                <c:ptCount val="2"/>
                <c:pt idx="0">
                  <c:v>80</c:v>
                </c:pt>
                <c:pt idx="1">
                  <c:v>80</c:v>
                </c:pt>
              </c:numCache>
            </c:numRef>
          </c:xVal>
          <c:yVal>
            <c:numRef>
              <c:f>'Chart Data'!$AP$2:$AP$3</c:f>
              <c:numCache>
                <c:formatCode>0</c:formatCode>
                <c:ptCount val="2"/>
                <c:pt idx="0">
                  <c:v>0</c:v>
                </c:pt>
                <c:pt idx="1">
                  <c:v>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krat)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(kratten paddenstoelen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160</c:v>
                </c:pt>
              </c:numCache>
            </c:numRef>
          </c:xVal>
          <c:yVal>
            <c:numRef>
              <c:f>'Chart Data'!$B$2:$B$3</c:f>
              <c:numCache>
                <c:formatCode>0</c:formatCode>
                <c:ptCount val="2"/>
                <c:pt idx="0">
                  <c:v>20</c:v>
                </c:pt>
                <c:pt idx="1">
                  <c:v>4</c:v>
                </c:pt>
              </c:numCache>
            </c:numRef>
          </c:yVal>
          <c:smooth val="0"/>
        </c:ser>
        <c:ser>
          <c:idx val="1"/>
          <c:order val="1"/>
          <c:tx>
            <c:v>A</c:v>
          </c:tx>
          <c:spPr>
            <a:ln xmlns:a="http://schemas.openxmlformats.org/drawingml/2006/main" w="38100">
              <a:solidFill>
                <a:srgbClr val="1E8449"/>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160</c:v>
                </c:pt>
              </c:numCache>
            </c:numRef>
          </c:xVal>
          <c:yVal>
            <c:numRef>
              <c:f>'Chart Data'!$D$2:$D$3</c:f>
              <c:numCache>
                <c:formatCode>0</c:formatCode>
                <c:ptCount val="2"/>
                <c:pt idx="0">
                  <c:v>8</c:v>
                </c:pt>
                <c:pt idx="1">
                  <c:v>24</c:v>
                </c:pt>
              </c:numCache>
            </c:numRef>
          </c:yVal>
          <c:smooth val="0"/>
        </c:ser>
        <c:ser>
          <c:idx val="2"/>
          <c:order val="2"/>
          <c:tx>
            <c:v>Quotum</c:v>
          </c:tx>
          <c:spPr>
            <a:ln xmlns:a="http://schemas.openxmlformats.org/drawingml/2006/main" w="28575">
              <a:solidFill>
                <a:srgbClr val="A94D16"/>
              </a:solidFill>
              <a:prstDash val="dash"/>
            </a:ln>
          </c:spPr>
          <c:marker>
            <c:symbol val="none"/>
          </c:marker>
          <c:xVal>
            <c:numRef>
              <c:f>'Chart Data'!$E$2:$E$3</c:f>
              <c:numCache>
                <c:formatCode>General</c:formatCode>
                <c:ptCount val="2"/>
                <c:pt idx="0">
                  <c:v>40</c:v>
                </c:pt>
                <c:pt idx="1">
                  <c:v>40</c:v>
                </c:pt>
              </c:numCache>
            </c:numRef>
          </c:xVal>
          <c:yVal>
            <c:numRef>
              <c:f>'Chart Data'!$F$2:$F$3</c:f>
              <c:numCache>
                <c:formatCode>0</c:formatCode>
                <c:ptCount val="2"/>
                <c:pt idx="0">
                  <c:v>0</c:v>
                </c:pt>
                <c:pt idx="1">
                  <c:v>26</c:v>
                </c:pt>
              </c:numCache>
            </c:numRef>
          </c:yVal>
          <c:smooth val="0"/>
        </c:ser>
        <c:ser>
          <c:idx val="3"/>
          <c:order val="3"/>
          <c:tx>
            <c:v>Verkoopprijs op V</c:v>
          </c:tx>
          <c:spPr>
            <a:ln xmlns:a="http://schemas.openxmlformats.org/drawingml/2006/main" w="19050">
              <a:solidFill>
                <a:srgbClr val="1A5276"/>
              </a:solidFill>
              <a:prstDash val="dash"/>
            </a:ln>
          </c:spPr>
          <c:marker>
            <c:symbol val="none"/>
          </c:marker>
          <c:xVal>
            <c:numRef>
              <c:f>'Chart Data'!$G$2:$G$3</c:f>
              <c:numCache>
                <c:formatCode>General</c:formatCode>
                <c:ptCount val="2"/>
                <c:pt idx="0">
                  <c:v>0</c:v>
                </c:pt>
                <c:pt idx="1">
                  <c:v>40</c:v>
                </c:pt>
              </c:numCache>
            </c:numRef>
          </c:xVal>
          <c:yVal>
            <c:numRef>
              <c:f>'Chart Data'!$H$2:$H$3</c:f>
              <c:numCache>
                <c:formatCode>0</c:formatCode>
                <c:ptCount val="2"/>
                <c:pt idx="0">
                  <c:v>16</c:v>
                </c:pt>
                <c:pt idx="1">
                  <c:v>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krat)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(kratten paddenstoelen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5 Minimumprijs en quota">
            <a:extLst xmlns:a="http://schemas.openxmlformats.org/drawingml/2006/main">
              <a:ext uri="{FF2B5EF4-FFF2-40B4-BE49-F238E27FC236}">
                <a16:creationId xmlns:a16="http://schemas.microsoft.com/office/drawing/2014/main" id="{0C742E7C-C4D0-4678-B634-B97284825931}"/>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§3.1.5 Minimumprijs en quota</a:t>
            </a:r>
          </a:p>
        </p:txBody>
      </p:sp>
      <p:sp>
        <p:nvSpPr>
          <p:cNvPr id="2" name="">
            <a:extLst xmlns:a="http://schemas.openxmlformats.org/drawingml/2006/main">
              <a:ext uri="{FF2B5EF4-FFF2-40B4-BE49-F238E27FC236}">
                <a16:creationId xmlns:a16="http://schemas.microsoft.com/office/drawing/2014/main" id="{DA620071-FC68-45C2-9454-0DFCE637EDB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Minimumprijs en quota">
            <a:extLst xmlns:a="http://schemas.openxmlformats.org/drawingml/2006/main">
              <a:ext uri="{FF2B5EF4-FFF2-40B4-BE49-F238E27FC236}">
                <a16:creationId xmlns:a16="http://schemas.microsoft.com/office/drawing/2014/main" id="{C2C80319-9716-4A82-9C96-5CB22892B31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Minimumprijs en quota</a:t>
            </a:r>
          </a:p>
        </p:txBody>
      </p:sp>
      <p:sp>
        <p:nvSpPr>
          <p:cNvPr id="4" name="1">
            <a:extLst xmlns:a="http://schemas.openxmlformats.org/drawingml/2006/main">
              <a:ext uri="{FF2B5EF4-FFF2-40B4-BE49-F238E27FC236}">
                <a16:creationId xmlns:a16="http://schemas.microsoft.com/office/drawing/2014/main" id="{F75099FE-60E6-4EA8-8A58-EC5910EAB61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20CB64C2-5856-4288-95B3-3025DA753C0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FFEFA341-DE34-4174-8AD9-CEA1F2960C7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6882688-59FC-4822-8F6D-156EA03D7FF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854CCA0-134F-4C48-9490-8F779A648C51}"/>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4B1584F1-2C67-4966-96DF-E157277EF4E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033DFF47-E85C-44A9-8169-225FC521B56C}"/>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92CCF61-2135-47DE-A169-F1837B22C86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85D75A4-6D4B-4296-B4C3-2F32DDBC147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4D105D4-2A70-4CDA-950C-C00BDC785705}"/>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3BAACFA-5C10-4F62-8319-3ED6426F9305}"/>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CE60062-6578-409E-95A1-F9C9FD30DF8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AE99CA5-ADF1-4BBE-91D6-B2C3B6341EE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9802949-F9C6-4BBC-9D7D-3DA86C0CCE21}"/>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823B84E2-2B08-47A4-B67D-A2968EE6C33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43.</a:t>
            </a:r>
          </a:p>
        </p:txBody>
      </p:sp>
      <p:sp>
        <p:nvSpPr>
          <p:cNvPr id="19" name="route-number-7">
            <a:extLst xmlns:a="http://schemas.openxmlformats.org/drawingml/2006/main">
              <a:ext uri="{FF2B5EF4-FFF2-40B4-BE49-F238E27FC236}">
                <a16:creationId xmlns:a16="http://schemas.microsoft.com/office/drawing/2014/main" id="{FAA1121B-8516-47AD-9E43-822519B6207A}"/>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F4AC3BD-4AA2-4F5F-81CE-46983FE0BD1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005E3F3-E5F6-4064-942E-1E338CE9E00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3825F00-BABC-4A24-A781-2D4FE5BA8C52}"/>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Binding en overschot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Opkoop en uitgaven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quotum ermee vergelijken.</a:t>
            </a:r>
          </a:p>
        </p:txBody>
      </p:sp>
      <p:sp>
        <p:nvSpPr>
          <p:cNvPr id="23" name="">
            <a:extLst xmlns:a="http://schemas.openxmlformats.org/drawingml/2006/main">
              <a:ext uri="{FF2B5EF4-FFF2-40B4-BE49-F238E27FC236}">
                <a16:creationId xmlns:a16="http://schemas.microsoft.com/office/drawing/2014/main" id="{84B3C8EC-87B0-412F-BA8B-B15BD150048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FFC60E9-4E42-466E-8030-10D9139A013A}"/>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A976A2D-E8F5-452D-AD9E-7AA34EA43596}"/>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42 · Opgaven 37 en 38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Verkennen met theorie p. 39–40</a:t>
            </a:r>
          </a:p>
        </p:txBody>
      </p:sp>
      <p:sp>
        <p:nvSpPr>
          <p:cNvPr id="26" name="">
            <a:extLst xmlns:a="http://schemas.openxmlformats.org/drawingml/2006/main">
              <a:ext uri="{FF2B5EF4-FFF2-40B4-BE49-F238E27FC236}">
                <a16:creationId xmlns:a16="http://schemas.microsoft.com/office/drawing/2014/main" id="{E1A21C1C-A916-4711-A816-53519829E423}"/>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069AF95E-FE0F-4202-87E2-77D52AFB4B8F}"/>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2D004298-DC4E-48A9-8857-AF48575615D4}"/>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§3.1.5 Minimumprijs en quota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39, 40 en 40A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41 en 42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2788323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B71EB5D8-8DA1-48DA-B6B9-0C58009CED9B}"/>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4BE6AF81-2E48-4B74-AB3E-D127F6E1D9C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Minimumprijs en quota">
            <a:extLst xmlns:a="http://schemas.openxmlformats.org/drawingml/2006/main">
              <a:ext uri="{FF2B5EF4-FFF2-40B4-BE49-F238E27FC236}">
                <a16:creationId xmlns:a16="http://schemas.microsoft.com/office/drawing/2014/main" id="{5A384BDC-F1E2-4775-9BF1-968C9729B0A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Minimumprijs en quota</a:t>
            </a:r>
          </a:p>
        </p:txBody>
      </p:sp>
      <p:sp>
        <p:nvSpPr>
          <p:cNvPr id="4" name="2">
            <a:extLst xmlns:a="http://schemas.openxmlformats.org/drawingml/2006/main">
              <a:ext uri="{FF2B5EF4-FFF2-40B4-BE49-F238E27FC236}">
                <a16:creationId xmlns:a16="http://schemas.microsoft.com/office/drawing/2014/main" id="{BC17979A-696E-4CD9-AB49-2944D767D0C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Minimumprijs">
            <a:extLst xmlns:a="http://schemas.openxmlformats.org/drawingml/2006/main">
              <a:ext uri="{FF2B5EF4-FFF2-40B4-BE49-F238E27FC236}">
                <a16:creationId xmlns:a16="http://schemas.microsoft.com/office/drawing/2014/main" id="{6AF642BF-D9C4-4DB5-B7C4-CF9719591863}"/>
              </a:ext>
            </a:extLst>
          </p:cNvPr>
          <p:cNvSpPr>
            <a:spLocks xmlns:a="http://schemas.openxmlformats.org/drawingml/2006/main" noGrp="1"/>
          </p:cNvSpPr>
          <p:nvPr/>
        </p:nvSpPr>
        <p:spPr>
          <a:xfrm xmlns:a="http://schemas.openxmlformats.org/drawingml/2006/main">
            <a:off x="571500" y="223837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Minimumprijs</a:t>
            </a:r>
          </a:p>
        </p:txBody>
      </p:sp>
      <p:sp>
        <p:nvSpPr>
          <p:cNvPr id="6" name="Je bepaalt of de ondergrens bindt en berekent Qv en Qa.">
            <a:extLst xmlns:a="http://schemas.openxmlformats.org/drawingml/2006/main">
              <a:ext uri="{FF2B5EF4-FFF2-40B4-BE49-F238E27FC236}">
                <a16:creationId xmlns:a16="http://schemas.microsoft.com/office/drawing/2014/main" id="{2DD8F4C3-91A1-4CD1-9FE6-37EDE7EFDA70}"/>
              </a:ext>
            </a:extLst>
          </p:cNvPr>
          <p:cNvSpPr>
            <a:spLocks xmlns:a="http://schemas.openxmlformats.org/drawingml/2006/main" noGrp="1"/>
          </p:cNvSpPr>
          <p:nvPr/>
        </p:nvSpPr>
        <p:spPr>
          <a:xfrm xmlns:a="http://schemas.openxmlformats.org/drawingml/2006/main">
            <a:off x="6667500" y="2238375"/>
            <a:ext cx="7953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bepaalt of de ondergrens bindt en berekent Qv en Qa.</a:t>
            </a:r>
          </a:p>
        </p:txBody>
      </p:sp>
      <p:sp>
        <p:nvSpPr>
          <p:cNvPr id="7" name="">
            <a:extLst xmlns:a="http://schemas.openxmlformats.org/drawingml/2006/main">
              <a:ext uri="{FF2B5EF4-FFF2-40B4-BE49-F238E27FC236}">
                <a16:creationId xmlns:a16="http://schemas.microsoft.com/office/drawing/2014/main" id="{7EAC061B-B5BC-4B83-9AD9-9ECEF71871D1}"/>
              </a:ext>
            </a:extLst>
          </p:cNvPr>
          <p:cNvSpPr>
            <a:spLocks xmlns:a="http://schemas.openxmlformats.org/drawingml/2006/main" noGrp="1"/>
          </p:cNvSpPr>
          <p:nvPr/>
        </p:nvSpPr>
        <p:spPr>
          <a:xfrm xmlns:a="http://schemas.openxmlformats.org/drawingml/2006/main">
            <a:off x="571500" y="3629025"/>
            <a:ext cx="14097000" cy="0"/>
          </a:xfrm>
          <a:prstGeom xmlns:a="http://schemas.openxmlformats.org/drawingml/2006/main" prst="line">
            <a:avLst/>
          </a:prstGeom>
          <a:ln xmlns:a="http://schemas.openxmlformats.org/drawingml/2006/main" w="19050">
            <a:solidFill>
              <a:srgbClr val="C6D2DB"/>
            </a:solidFill>
          </a:ln>
        </p:spPr>
      </p:sp>
      <p:sp>
        <p:nvSpPr>
          <p:cNvPr id="8" name="Opkoopgarantie">
            <a:extLst xmlns:a="http://schemas.openxmlformats.org/drawingml/2006/main">
              <a:ext uri="{FF2B5EF4-FFF2-40B4-BE49-F238E27FC236}">
                <a16:creationId xmlns:a16="http://schemas.microsoft.com/office/drawing/2014/main" id="{34903A84-4FBB-4D45-9500-33ED544C8B34}"/>
              </a:ext>
            </a:extLst>
          </p:cNvPr>
          <p:cNvSpPr>
            <a:spLocks xmlns:a="http://schemas.openxmlformats.org/drawingml/2006/main" noGrp="1"/>
          </p:cNvSpPr>
          <p:nvPr/>
        </p:nvSpPr>
        <p:spPr>
          <a:xfrm xmlns:a="http://schemas.openxmlformats.org/drawingml/2006/main">
            <a:off x="571500" y="40481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Opkoopgarantie</a:t>
            </a:r>
          </a:p>
        </p:txBody>
      </p:sp>
      <p:sp>
        <p:nvSpPr>
          <p:cNvPr id="9" name="Je bepaalt wie de producten koopt en berekent de uitgaven.">
            <a:extLst xmlns:a="http://schemas.openxmlformats.org/drawingml/2006/main">
              <a:ext uri="{FF2B5EF4-FFF2-40B4-BE49-F238E27FC236}">
                <a16:creationId xmlns:a16="http://schemas.microsoft.com/office/drawing/2014/main" id="{F2A4EBDF-3A87-4AD0-BE6E-8234B823F081}"/>
              </a:ext>
            </a:extLst>
          </p:cNvPr>
          <p:cNvSpPr>
            <a:spLocks xmlns:a="http://schemas.openxmlformats.org/drawingml/2006/main" noGrp="1"/>
          </p:cNvSpPr>
          <p:nvPr/>
        </p:nvSpPr>
        <p:spPr>
          <a:xfrm xmlns:a="http://schemas.openxmlformats.org/drawingml/2006/main">
            <a:off x="6667500" y="4048125"/>
            <a:ext cx="7953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bepaalt wie de producten koopt en berekent de uitgaven.</a:t>
            </a:r>
          </a:p>
        </p:txBody>
      </p:sp>
      <p:sp>
        <p:nvSpPr>
          <p:cNvPr id="10" name="">
            <a:extLst xmlns:a="http://schemas.openxmlformats.org/drawingml/2006/main">
              <a:ext uri="{FF2B5EF4-FFF2-40B4-BE49-F238E27FC236}">
                <a16:creationId xmlns:a16="http://schemas.microsoft.com/office/drawing/2014/main" id="{07E4F84B-E5BF-4D83-ABFD-DD6021E76CC6}"/>
              </a:ext>
            </a:extLst>
          </p:cNvPr>
          <p:cNvSpPr>
            <a:spLocks xmlns:a="http://schemas.openxmlformats.org/drawingml/2006/main" noGrp="1"/>
          </p:cNvSpPr>
          <p:nvPr/>
        </p:nvSpPr>
        <p:spPr>
          <a:xfrm xmlns:a="http://schemas.openxmlformats.org/drawingml/2006/main">
            <a:off x="571500" y="5438775"/>
            <a:ext cx="14097000" cy="0"/>
          </a:xfrm>
          <a:prstGeom xmlns:a="http://schemas.openxmlformats.org/drawingml/2006/main" prst="line">
            <a:avLst/>
          </a:prstGeom>
          <a:ln xmlns:a="http://schemas.openxmlformats.org/drawingml/2006/main" w="19050">
            <a:solidFill>
              <a:srgbClr val="C6D2DB"/>
            </a:solidFill>
          </a:ln>
        </p:spPr>
      </p:sp>
      <p:sp>
        <p:nvSpPr>
          <p:cNvPr id="11" name="Productiequotum">
            <a:extLst xmlns:a="http://schemas.openxmlformats.org/drawingml/2006/main">
              <a:ext uri="{FF2B5EF4-FFF2-40B4-BE49-F238E27FC236}">
                <a16:creationId xmlns:a16="http://schemas.microsoft.com/office/drawing/2014/main" id="{C329A0C5-07C0-49BF-A9C0-78A91A8ADFD7}"/>
              </a:ext>
            </a:extLst>
          </p:cNvPr>
          <p:cNvSpPr>
            <a:spLocks xmlns:a="http://schemas.openxmlformats.org/drawingml/2006/main" noGrp="1"/>
          </p:cNvSpPr>
          <p:nvPr/>
        </p:nvSpPr>
        <p:spPr>
          <a:xfrm xmlns:a="http://schemas.openxmlformats.org/drawingml/2006/main">
            <a:off x="571500" y="585787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Productiequotum</a:t>
            </a:r>
          </a:p>
        </p:txBody>
      </p:sp>
      <p:sp>
        <p:nvSpPr>
          <p:cNvPr id="12" name="Je bepaalt de hoeveelheid en leest de prijs op de vraaglijn.">
            <a:extLst xmlns:a="http://schemas.openxmlformats.org/drawingml/2006/main">
              <a:ext uri="{FF2B5EF4-FFF2-40B4-BE49-F238E27FC236}">
                <a16:creationId xmlns:a16="http://schemas.microsoft.com/office/drawing/2014/main" id="{73E93697-56C1-4141-8DBB-06F5E2F99615}"/>
              </a:ext>
            </a:extLst>
          </p:cNvPr>
          <p:cNvSpPr>
            <a:spLocks xmlns:a="http://schemas.openxmlformats.org/drawingml/2006/main" noGrp="1"/>
          </p:cNvSpPr>
          <p:nvPr/>
        </p:nvSpPr>
        <p:spPr>
          <a:xfrm xmlns:a="http://schemas.openxmlformats.org/drawingml/2006/main">
            <a:off x="6667500" y="5857875"/>
            <a:ext cx="7953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bepaalt de hoeveelheid en leest de prijs op de vraaglijn.</a:t>
            </a:r>
          </a:p>
        </p:txBody>
      </p:sp>
    </p:spTree>
    <p:extLst>
      <p:ext uri="{BB962C8B-B14F-4D97-AF65-F5344CB8AC3E}">
        <p14:creationId xmlns:p14="http://schemas.microsoft.com/office/powerpoint/2010/main" val="14148958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Uitlegvoorbeeld: kruidenpotten">
            <a:extLst xmlns:a="http://schemas.openxmlformats.org/drawingml/2006/main">
              <a:ext uri="{FF2B5EF4-FFF2-40B4-BE49-F238E27FC236}">
                <a16:creationId xmlns:a16="http://schemas.microsoft.com/office/drawing/2014/main" id="{2F221EA1-FE88-45F4-A8B9-71E33EC4BDD4}"/>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Uitlegvoorbeeld: kruidenpotten</a:t>
            </a:r>
          </a:p>
        </p:txBody>
      </p:sp>
      <p:sp>
        <p:nvSpPr>
          <p:cNvPr id="2" name="">
            <a:extLst xmlns:a="http://schemas.openxmlformats.org/drawingml/2006/main">
              <a:ext uri="{FF2B5EF4-FFF2-40B4-BE49-F238E27FC236}">
                <a16:creationId xmlns:a16="http://schemas.microsoft.com/office/drawing/2014/main" id="{B4A23702-6D71-497B-8EF8-AD7DF13A4DA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2CEEC109-0552-492E-B4C8-AC405FEEDAD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3">
            <a:extLst xmlns:a="http://schemas.openxmlformats.org/drawingml/2006/main">
              <a:ext uri="{FF2B5EF4-FFF2-40B4-BE49-F238E27FC236}">
                <a16:creationId xmlns:a16="http://schemas.microsoft.com/office/drawing/2014/main" id="{F2DD92E9-87D1-42F0-862D-D7B4E19DA34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Veel kwekers en particuliere kopers">
            <a:extLst xmlns:a="http://schemas.openxmlformats.org/drawingml/2006/main">
              <a:ext uri="{FF2B5EF4-FFF2-40B4-BE49-F238E27FC236}">
                <a16:creationId xmlns:a16="http://schemas.microsoft.com/office/drawing/2014/main" id="{BEEE9FBC-E4B4-4062-B0A4-D30904FD6BDA}"/>
              </a:ext>
            </a:extLst>
          </p:cNvPr>
          <p:cNvSpPr>
            <a:spLocks xmlns:a="http://schemas.openxmlformats.org/drawingml/2006/main" noGrp="1"/>
          </p:cNvSpPr>
          <p:nvPr/>
        </p:nvSpPr>
        <p:spPr>
          <a:xfrm xmlns:a="http://schemas.openxmlformats.org/drawingml/2006/main">
            <a:off x="571500" y="1905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Veel kwekers en particuliere kopers</a:t>
            </a:r>
          </a:p>
        </p:txBody>
      </p:sp>
      <p:sp>
        <p:nvSpPr>
          <p:cNvPr id="6" name="Vraag: P = 24 − 0,20Q&#10;Aanbod: P = 6 + 0,10Q">
            <a:extLst xmlns:a="http://schemas.openxmlformats.org/drawingml/2006/main">
              <a:ext uri="{FF2B5EF4-FFF2-40B4-BE49-F238E27FC236}">
                <a16:creationId xmlns:a16="http://schemas.microsoft.com/office/drawing/2014/main" id="{9B607ABB-F9ED-44E5-8D3C-B7E2849BA645}"/>
              </a:ext>
            </a:extLst>
          </p:cNvPr>
          <p:cNvSpPr>
            <a:spLocks xmlns:a="http://schemas.openxmlformats.org/drawingml/2006/main" noGrp="1"/>
          </p:cNvSpPr>
          <p:nvPr/>
        </p:nvSpPr>
        <p:spPr>
          <a:xfrm xmlns:a="http://schemas.openxmlformats.org/drawingml/2006/main">
            <a:off x="571500" y="2952750"/>
            <a:ext cx="1409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Vraag: P = 24 − 0,20Q</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Aanbod: P = 6 + 0,10Q</a:t>
            </a:r>
          </a:p>
        </p:txBody>
      </p:sp>
      <p:sp>
        <p:nvSpPr>
          <p:cNvPr id="7" name="Q = potten kruiden per week&#10;P = euro per pot">
            <a:extLst xmlns:a="http://schemas.openxmlformats.org/drawingml/2006/main">
              <a:ext uri="{FF2B5EF4-FFF2-40B4-BE49-F238E27FC236}">
                <a16:creationId xmlns:a16="http://schemas.microsoft.com/office/drawing/2014/main" id="{0E6018FB-B846-478C-87AD-70A1EF4349CB}"/>
              </a:ext>
            </a:extLst>
          </p:cNvPr>
          <p:cNvSpPr>
            <a:spLocks xmlns:a="http://schemas.openxmlformats.org/drawingml/2006/main" noGrp="1"/>
          </p:cNvSpPr>
          <p:nvPr/>
        </p:nvSpPr>
        <p:spPr>
          <a:xfrm xmlns:a="http://schemas.openxmlformats.org/drawingml/2006/main">
            <a:off x="571500" y="509587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Q = potten kruiden per week</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 = euro per pot</a:t>
            </a:r>
          </a:p>
        </p:txBody>
      </p:sp>
      <p:sp>
        <p:nvSpPr>
          <p:cNvPr id="8" name="Eerst de vrije markt, daarna één regeling tegelijk.">
            <a:extLst xmlns:a="http://schemas.openxmlformats.org/drawingml/2006/main">
              <a:ext uri="{FF2B5EF4-FFF2-40B4-BE49-F238E27FC236}">
                <a16:creationId xmlns:a16="http://schemas.microsoft.com/office/drawing/2014/main" id="{73AAA980-7F5B-4C3A-937F-1032263EA8EF}"/>
              </a:ext>
            </a:extLst>
          </p:cNvPr>
          <p:cNvSpPr>
            <a:spLocks xmlns:a="http://schemas.openxmlformats.org/drawingml/2006/main" noGrp="1"/>
          </p:cNvSpPr>
          <p:nvPr/>
        </p:nvSpPr>
        <p:spPr>
          <a:xfrm xmlns:a="http://schemas.openxmlformats.org/drawingml/2006/main">
            <a:off x="571500" y="698182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Eerst de vrije markt, daarna één regeling tegelijk.</a:t>
            </a:r>
          </a:p>
        </p:txBody>
      </p:sp>
    </p:spTree>
    <p:extLst>
      <p:ext uri="{BB962C8B-B14F-4D97-AF65-F5344CB8AC3E}">
        <p14:creationId xmlns:p14="http://schemas.microsoft.com/office/powerpoint/2010/main" val="14076491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rij evenwicht berekenen">
            <a:extLst xmlns:a="http://schemas.openxmlformats.org/drawingml/2006/main">
              <a:ext uri="{FF2B5EF4-FFF2-40B4-BE49-F238E27FC236}">
                <a16:creationId xmlns:a16="http://schemas.microsoft.com/office/drawing/2014/main" id="{8B2BB5DD-75A4-4AF7-A66E-2C6A4C426D0A}"/>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Vrij evenwicht berekenen</a:t>
            </a:r>
          </a:p>
        </p:txBody>
      </p:sp>
      <p:sp>
        <p:nvSpPr>
          <p:cNvPr id="2" name="">
            <a:extLst xmlns:a="http://schemas.openxmlformats.org/drawingml/2006/main">
              <a:ext uri="{FF2B5EF4-FFF2-40B4-BE49-F238E27FC236}">
                <a16:creationId xmlns:a16="http://schemas.microsoft.com/office/drawing/2014/main" id="{9538685E-9D82-44DB-904A-DA0113DAEE4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197C133E-A5A1-419A-BDDA-DE7B8BCFCDB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CD57059C-1C7F-41A2-BEDB-97180E404D7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Vraagprijs = aanbodprijs">
            <a:extLst xmlns:a="http://schemas.openxmlformats.org/drawingml/2006/main">
              <a:ext uri="{FF2B5EF4-FFF2-40B4-BE49-F238E27FC236}">
                <a16:creationId xmlns:a16="http://schemas.microsoft.com/office/drawing/2014/main" id="{2D0D678F-F730-4644-AE58-A48E6242F9F2}"/>
              </a:ext>
            </a:extLst>
          </p:cNvPr>
          <p:cNvSpPr>
            <a:spLocks xmlns:a="http://schemas.openxmlformats.org/drawingml/2006/main" noGrp="1"/>
          </p:cNvSpPr>
          <p:nvPr/>
        </p:nvSpPr>
        <p:spPr>
          <a:xfrm xmlns:a="http://schemas.openxmlformats.org/drawingml/2006/main">
            <a:off x="571500" y="1857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Vraagprijs = aanbodprijs</a:t>
            </a:r>
          </a:p>
        </p:txBody>
      </p:sp>
      <p:sp>
        <p:nvSpPr>
          <p:cNvPr id="6" name="24 − 0,20Q = 6 + 0,10Q&#10;18 = 0,30Q&#10;Q₀ = 60 potten per week">
            <a:extLst xmlns:a="http://schemas.openxmlformats.org/drawingml/2006/main">
              <a:ext uri="{FF2B5EF4-FFF2-40B4-BE49-F238E27FC236}">
                <a16:creationId xmlns:a16="http://schemas.microsoft.com/office/drawing/2014/main" id="{2EA68880-1591-4401-81B5-195227873753}"/>
              </a:ext>
            </a:extLst>
          </p:cNvPr>
          <p:cNvSpPr>
            <a:spLocks xmlns:a="http://schemas.openxmlformats.org/drawingml/2006/main" noGrp="1"/>
          </p:cNvSpPr>
          <p:nvPr/>
        </p:nvSpPr>
        <p:spPr>
          <a:xfrm xmlns:a="http://schemas.openxmlformats.org/drawingml/2006/main">
            <a:off x="571500" y="2752725"/>
            <a:ext cx="140970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24 − 0,20Q = 6 + 0,10Q</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18 = 0,30Q</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Q₀ = 60 potten per week</a:t>
            </a:r>
          </a:p>
        </p:txBody>
      </p:sp>
      <p:sp>
        <p:nvSpPr>
          <p:cNvPr id="7" name="P₀ = 24 − 0,20 × 60 = € 12 per pot">
            <a:extLst xmlns:a="http://schemas.openxmlformats.org/drawingml/2006/main">
              <a:ext uri="{FF2B5EF4-FFF2-40B4-BE49-F238E27FC236}">
                <a16:creationId xmlns:a16="http://schemas.microsoft.com/office/drawing/2014/main" id="{ED1A4F0C-628B-4267-9326-4D30831B0F34}"/>
              </a:ext>
            </a:extLst>
          </p:cNvPr>
          <p:cNvSpPr>
            <a:spLocks xmlns:a="http://schemas.openxmlformats.org/drawingml/2006/main" noGrp="1"/>
          </p:cNvSpPr>
          <p:nvPr/>
        </p:nvSpPr>
        <p:spPr>
          <a:xfrm xmlns:a="http://schemas.openxmlformats.org/drawingml/2006/main">
            <a:off x="571500" y="56197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P₀ = 24 − 0,20 × 60 = € 12 per pot</a:t>
            </a:r>
          </a:p>
        </p:txBody>
      </p:sp>
      <p:sp>
        <p:nvSpPr>
          <p:cNvPr id="8" name="Controle in aanbod: 6 + 0,10 × 60 = 12">
            <a:extLst xmlns:a="http://schemas.openxmlformats.org/drawingml/2006/main">
              <a:ext uri="{FF2B5EF4-FFF2-40B4-BE49-F238E27FC236}">
                <a16:creationId xmlns:a16="http://schemas.microsoft.com/office/drawing/2014/main" id="{F1C44D59-D53A-40CB-8A50-703B88338A1C}"/>
              </a:ext>
            </a:extLst>
          </p:cNvPr>
          <p:cNvSpPr>
            <a:spLocks xmlns:a="http://schemas.openxmlformats.org/drawingml/2006/main" noGrp="1"/>
          </p:cNvSpPr>
          <p:nvPr/>
        </p:nvSpPr>
        <p:spPr>
          <a:xfrm xmlns:a="http://schemas.openxmlformats.org/drawingml/2006/main">
            <a:off x="571500" y="69627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Controle in aanbod: 6 + 0,10 × 60 = 12</a:t>
            </a:r>
          </a:p>
        </p:txBody>
      </p:sp>
    </p:spTree>
    <p:extLst>
      <p:ext uri="{BB962C8B-B14F-4D97-AF65-F5344CB8AC3E}">
        <p14:creationId xmlns:p14="http://schemas.microsoft.com/office/powerpoint/2010/main" val="15543185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vrije evenwicht in de grafiek">
            <a:extLst xmlns:a="http://schemas.openxmlformats.org/drawingml/2006/main">
              <a:ext uri="{FF2B5EF4-FFF2-40B4-BE49-F238E27FC236}">
                <a16:creationId xmlns:a16="http://schemas.microsoft.com/office/drawing/2014/main" id="{E64EEF13-19E0-4DFC-A71E-EB62640A0D62}"/>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vrije evenwicht in de grafiek</a:t>
            </a:r>
          </a:p>
        </p:txBody>
      </p:sp>
      <p:sp>
        <p:nvSpPr>
          <p:cNvPr id="2" name="">
            <a:extLst xmlns:a="http://schemas.openxmlformats.org/drawingml/2006/main">
              <a:ext uri="{FF2B5EF4-FFF2-40B4-BE49-F238E27FC236}">
                <a16:creationId xmlns:a16="http://schemas.microsoft.com/office/drawing/2014/main" id="{0D9AA667-46B7-4F80-9F49-1DA3C2E7D27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2BF0E37-D2DF-4434-9226-CC17AEFC004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B99E52BD-1AFB-4A4E-98E9-4E0CDE59D4B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3" name="Chart"/>
          <p:cNvGraphicFramePr/>
          <p:nvPr/>
        </p:nvGraphicFramePr>
        <p:xfrm>
          <a:off xmlns:a="http://schemas.openxmlformats.org/drawingml/2006/main" x="571500" y="2266950"/>
          <a:ext xmlns:a="http://schemas.openxmlformats.org/drawingml/2006/main" cx="9906000" cy="5410200"/>
        </p:xfrm>
        <a:graphic xmlns:a="http://schemas.openxmlformats.org/drawingml/2006/main">
          <a:graphicData uri="http://schemas.openxmlformats.org/drawingml/2006/chart">
            <c:chart xmlns:r="http://schemas.openxmlformats.org/officeDocument/2006/relationships" xmlns:c="http://schemas.openxmlformats.org/drawingml/2006/chart" r:id="R985438f308e24742"/>
          </a:graphicData>
        </a:graphic>
      </p:graphicFrame>
      <p:sp>
        <p:nvSpPr>
          <p:cNvPr id="6" name="V en A snijden">
            <a:extLst xmlns:a="http://schemas.openxmlformats.org/drawingml/2006/main">
              <a:ext uri="{FF2B5EF4-FFF2-40B4-BE49-F238E27FC236}">
                <a16:creationId xmlns:a16="http://schemas.microsoft.com/office/drawing/2014/main" id="{8418F83D-BA63-4D1B-AE97-B9E08BA98FD0}"/>
              </a:ext>
            </a:extLst>
          </p:cNvPr>
          <p:cNvSpPr>
            <a:spLocks xmlns:a="http://schemas.openxmlformats.org/drawingml/2006/main" noGrp="1"/>
          </p:cNvSpPr>
          <p:nvPr/>
        </p:nvSpPr>
        <p:spPr>
          <a:xfrm xmlns:a="http://schemas.openxmlformats.org/drawingml/2006/main">
            <a:off x="10858500" y="23812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V en A snijden</a:t>
            </a:r>
          </a:p>
        </p:txBody>
      </p:sp>
      <p:sp>
        <p:nvSpPr>
          <p:cNvPr id="7" name="Q₀ = 60&#10;P₀ = € 12">
            <a:extLst xmlns:a="http://schemas.openxmlformats.org/drawingml/2006/main">
              <a:ext uri="{FF2B5EF4-FFF2-40B4-BE49-F238E27FC236}">
                <a16:creationId xmlns:a16="http://schemas.microsoft.com/office/drawing/2014/main" id="{743BA61C-956A-49C0-83B5-76814C382459}"/>
              </a:ext>
            </a:extLst>
          </p:cNvPr>
          <p:cNvSpPr>
            <a:spLocks xmlns:a="http://schemas.openxmlformats.org/drawingml/2006/main" noGrp="1"/>
          </p:cNvSpPr>
          <p:nvPr/>
        </p:nvSpPr>
        <p:spPr>
          <a:xfrm xmlns:a="http://schemas.openxmlformats.org/drawingml/2006/main">
            <a:off x="10858500" y="3429000"/>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Q₀ = 60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P₀ = € 12</a:t>
            </a:r>
          </a:p>
        </p:txBody>
      </p:sp>
      <p:sp>
        <p:nvSpPr>
          <p:cNvPr id="8" name="Vraag = aanbod">
            <a:extLst xmlns:a="http://schemas.openxmlformats.org/drawingml/2006/main">
              <a:ext uri="{FF2B5EF4-FFF2-40B4-BE49-F238E27FC236}">
                <a16:creationId xmlns:a16="http://schemas.microsoft.com/office/drawing/2014/main" id="{2B8B763C-4696-4EEA-BFEA-51057E7CE503}"/>
              </a:ext>
            </a:extLst>
          </p:cNvPr>
          <p:cNvSpPr>
            <a:spLocks xmlns:a="http://schemas.openxmlformats.org/drawingml/2006/main" noGrp="1"/>
          </p:cNvSpPr>
          <p:nvPr/>
        </p:nvSpPr>
        <p:spPr>
          <a:xfrm xmlns:a="http://schemas.openxmlformats.org/drawingml/2006/main">
            <a:off x="10858500" y="66294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Vraag = aanbod</a:t>
            </a:r>
          </a:p>
        </p:txBody>
      </p:sp>
    </p:spTree>
    <p:extLst>
      <p:ext uri="{BB962C8B-B14F-4D97-AF65-F5344CB8AC3E}">
        <p14:creationId xmlns:p14="http://schemas.microsoft.com/office/powerpoint/2010/main" val="525428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anneer bindt een minimumprijs?">
            <a:extLst xmlns:a="http://schemas.openxmlformats.org/drawingml/2006/main">
              <a:ext uri="{FF2B5EF4-FFF2-40B4-BE49-F238E27FC236}">
                <a16:creationId xmlns:a16="http://schemas.microsoft.com/office/drawing/2014/main" id="{1EF3A54F-C826-4523-85F2-8B9637DD4903}"/>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Wanneer bindt een minimumprijs?</a:t>
            </a:r>
          </a:p>
        </p:txBody>
      </p:sp>
      <p:sp>
        <p:nvSpPr>
          <p:cNvPr id="2" name="">
            <a:extLst xmlns:a="http://schemas.openxmlformats.org/drawingml/2006/main">
              <a:ext uri="{FF2B5EF4-FFF2-40B4-BE49-F238E27FC236}">
                <a16:creationId xmlns:a16="http://schemas.microsoft.com/office/drawing/2014/main" id="{50433455-1F0B-4ABD-9B82-0262AFE3BC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6B519D19-DBB6-4D48-8028-1FFAB0B994F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1C643AA0-6123-4FBE-A063-42A5934F5A8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Vrije prijs: € 12 per pot">
            <a:extLst xmlns:a="http://schemas.openxmlformats.org/drawingml/2006/main">
              <a:ext uri="{FF2B5EF4-FFF2-40B4-BE49-F238E27FC236}">
                <a16:creationId xmlns:a16="http://schemas.microsoft.com/office/drawing/2014/main" id="{8F972F7C-C381-472C-87A2-8AA77AEC2622}"/>
              </a:ext>
            </a:extLst>
          </p:cNvPr>
          <p:cNvSpPr>
            <a:spLocks xmlns:a="http://schemas.openxmlformats.org/drawingml/2006/main" noGrp="1"/>
          </p:cNvSpPr>
          <p:nvPr/>
        </p:nvSpPr>
        <p:spPr>
          <a:xfrm xmlns:a="http://schemas.openxmlformats.org/drawingml/2006/main">
            <a:off x="571500" y="18859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Vrije prijs: € 12 per pot</a:t>
            </a:r>
          </a:p>
        </p:txBody>
      </p:sp>
      <p:graphicFrame>
        <p:nvGraphicFramePr>
          <p:cNvPr id="13" name=""/>
          <p:cNvGraphicFramePr/>
          <p:nvPr/>
        </p:nvGraphicFramePr>
        <p:xfrm>
          <a:off xmlns:a="http://schemas.openxmlformats.org/drawingml/2006/main" x="571500" y="2952750"/>
          <a:ext xmlns:a="http://schemas.openxmlformats.org/drawingml/2006/main" cx="14097000" cy="2857500"/>
        </p:xfrm>
        <a:graphic xmlns:a="http://schemas.openxmlformats.org/drawingml/2006/main">
          <a:graphicData uri="http://schemas.openxmlformats.org/drawingml/2006/table">
            <a:tbl>
              <a:tblPr/>
              <a:tblGrid>
                <a:gridCol w="3238500"/>
                <a:gridCol w="6810375"/>
                <a:gridCol w="4048125"/>
              </a:tblGrid>
              <a:tr h="952500">
                <a:tc>
                  <a:txBody>
                    <a:bodyPr lIns="171450" tIns="95250" rIns="152400" bIns="95250"/>
                    <a:lstStyle/>
                    <a:p>
                      <a:r>
                        <a:rPr sz="2475" b="1">
                          <a:solidFill>
                            <a:srgbClr val="FFFFFF"/>
                          </a:solidFill>
                          <a:latin typeface="Arial"/>
                          <a:ea typeface="Arial"/>
                          <a:cs typeface="Arial"/>
                        </a:rPr>
                        <a:t>Minimumprijs</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Mag de vrije prijs nog?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Gevolg</a:t>
                      </a:r>
                    </a:p>
                  </a:txBody>
                  <a:tcPr marL="91440" marR="91440" marT="45720" marB="45720" anchor="ctr">
                    <a:solidFill>
                      <a:srgbClr val="183247"/>
                    </a:solidFill>
                  </a:tcPr>
                </a:tc>
              </a:tr>
              <a:tr h="952500">
                <a:tc>
                  <a:txBody>
                    <a:bodyPr lIns="171450" tIns="95250" rIns="152400" bIns="95250"/>
                    <a:lstStyle/>
                    <a:p>
                      <a:r>
                        <a:rPr sz="2475" b="0">
                          <a:solidFill>
                            <a:srgbClr val="183247"/>
                          </a:solidFill>
                          <a:latin typeface="Arial"/>
                          <a:ea typeface="Arial"/>
                          <a:cs typeface="Arial"/>
                        </a:rPr>
                        <a:t>€ 15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Nee: € 12 ligt onder € 15.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Bindend</a:t>
                      </a:r>
                    </a:p>
                  </a:txBody>
                  <a:tcPr marL="91440" marR="91440" marT="45720" marB="45720" anchor="ctr">
                    <a:solidFill>
                      <a:srgbClr val="FFFFFF"/>
                    </a:solidFill>
                  </a:tcPr>
                </a:tc>
              </a:tr>
              <a:tr h="952500">
                <a:tc>
                  <a:txBody>
                    <a:bodyPr lIns="171450" tIns="95250" rIns="152400" bIns="95250"/>
                    <a:lstStyle/>
                    <a:p>
                      <a:r>
                        <a:rPr sz="2475" b="0">
                          <a:solidFill>
                            <a:srgbClr val="183247"/>
                          </a:solidFill>
                          <a:latin typeface="Arial"/>
                          <a:ea typeface="Arial"/>
                          <a:cs typeface="Arial"/>
                        </a:rPr>
                        <a:t>€ 10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Ja: € 12 ligt boven € 10.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Vrij evenwicht blijft</a:t>
                      </a:r>
                    </a:p>
                  </a:txBody>
                  <a:tcPr marL="91440" marR="91440" marT="45720" marB="45720" anchor="ctr">
                    <a:solidFill>
                      <a:srgbClr val="EFF4F7"/>
                    </a:solidFill>
                  </a:tcPr>
                </a:tc>
              </a:tr>
            </a:tbl>
          </a:graphicData>
        </a:graphic>
      </p:graphicFrame>
      <p:sp>
        <p:nvSpPr>
          <p:cNvPr id="7" name="Een minimumprijs is de laagste toegestane verkoopprijs.">
            <a:extLst xmlns:a="http://schemas.openxmlformats.org/drawingml/2006/main">
              <a:ext uri="{FF2B5EF4-FFF2-40B4-BE49-F238E27FC236}">
                <a16:creationId xmlns:a16="http://schemas.microsoft.com/office/drawing/2014/main" id="{2EC17A5C-FE41-4FA4-A131-8863BCC81C73}"/>
              </a:ext>
            </a:extLst>
          </p:cNvPr>
          <p:cNvSpPr>
            <a:spLocks xmlns:a="http://schemas.openxmlformats.org/drawingml/2006/main" noGrp="1"/>
          </p:cNvSpPr>
          <p:nvPr/>
        </p:nvSpPr>
        <p:spPr>
          <a:xfrm xmlns:a="http://schemas.openxmlformats.org/drawingml/2006/main">
            <a:off x="571500" y="670560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Een minimumprijs is de laagste toegestane verkoopprijs.</a:t>
            </a:r>
          </a:p>
        </p:txBody>
      </p:sp>
    </p:spTree>
    <p:extLst>
      <p:ext uri="{BB962C8B-B14F-4D97-AF65-F5344CB8AC3E}">
        <p14:creationId xmlns:p14="http://schemas.microsoft.com/office/powerpoint/2010/main" val="6212443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oeveelheden bij € 15">
            <a:extLst xmlns:a="http://schemas.openxmlformats.org/drawingml/2006/main">
              <a:ext uri="{FF2B5EF4-FFF2-40B4-BE49-F238E27FC236}">
                <a16:creationId xmlns:a16="http://schemas.microsoft.com/office/drawing/2014/main" id="{1115AE95-F5E5-4A95-8B99-49FA782C7615}"/>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Hoeveelheden bij € 15</a:t>
            </a:r>
          </a:p>
        </p:txBody>
      </p:sp>
      <p:sp>
        <p:nvSpPr>
          <p:cNvPr id="2" name="">
            <a:extLst xmlns:a="http://schemas.openxmlformats.org/drawingml/2006/main">
              <a:ext uri="{FF2B5EF4-FFF2-40B4-BE49-F238E27FC236}">
                <a16:creationId xmlns:a16="http://schemas.microsoft.com/office/drawing/2014/main" id="{12B9E626-E7B8-4EFB-88D6-9971B524A5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CC5331F-5C30-47A1-963C-E51864CF55A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342F73C4-8901-42E8-9ECA-27104CD8A70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Particuliere vraag">
            <a:extLst xmlns:a="http://schemas.openxmlformats.org/drawingml/2006/main">
              <a:ext uri="{FF2B5EF4-FFF2-40B4-BE49-F238E27FC236}">
                <a16:creationId xmlns:a16="http://schemas.microsoft.com/office/drawing/2014/main" id="{27D3428E-E024-4BF6-994A-6A25F17AE343}"/>
              </a:ext>
            </a:extLst>
          </p:cNvPr>
          <p:cNvSpPr>
            <a:spLocks xmlns:a="http://schemas.openxmlformats.org/drawingml/2006/main" noGrp="1"/>
          </p:cNvSpPr>
          <p:nvPr/>
        </p:nvSpPr>
        <p:spPr>
          <a:xfrm xmlns:a="http://schemas.openxmlformats.org/drawingml/2006/main">
            <a:off x="571500" y="18764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Particuliere vraag</a:t>
            </a:r>
          </a:p>
        </p:txBody>
      </p:sp>
      <p:sp>
        <p:nvSpPr>
          <p:cNvPr id="6" name="15 = 24 − 0,20Qv&#10;0,20Qv = 9&#10;Qv = 45 potten">
            <a:extLst xmlns:a="http://schemas.openxmlformats.org/drawingml/2006/main">
              <a:ext uri="{FF2B5EF4-FFF2-40B4-BE49-F238E27FC236}">
                <a16:creationId xmlns:a16="http://schemas.microsoft.com/office/drawing/2014/main" id="{3585B0A6-AF3C-4288-A52D-1B8769AC0A2D}"/>
              </a:ext>
            </a:extLst>
          </p:cNvPr>
          <p:cNvSpPr>
            <a:spLocks xmlns:a="http://schemas.openxmlformats.org/drawingml/2006/main" noGrp="1"/>
          </p:cNvSpPr>
          <p:nvPr/>
        </p:nvSpPr>
        <p:spPr>
          <a:xfrm xmlns:a="http://schemas.openxmlformats.org/drawingml/2006/main">
            <a:off x="571500" y="2800350"/>
            <a:ext cx="657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15 = 24 − 0,20Qv</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0,20Qv = 9</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Qv = 45 potten</a:t>
            </a:r>
          </a:p>
        </p:txBody>
      </p:sp>
      <p:sp>
        <p:nvSpPr>
          <p:cNvPr id="7" name="Gewenst aanbod">
            <a:extLst xmlns:a="http://schemas.openxmlformats.org/drawingml/2006/main">
              <a:ext uri="{FF2B5EF4-FFF2-40B4-BE49-F238E27FC236}">
                <a16:creationId xmlns:a16="http://schemas.microsoft.com/office/drawing/2014/main" id="{EF57B461-DE12-4A92-8FD8-33F3672A8516}"/>
              </a:ext>
            </a:extLst>
          </p:cNvPr>
          <p:cNvSpPr>
            <a:spLocks xmlns:a="http://schemas.openxmlformats.org/drawingml/2006/main" noGrp="1"/>
          </p:cNvSpPr>
          <p:nvPr/>
        </p:nvSpPr>
        <p:spPr>
          <a:xfrm xmlns:a="http://schemas.openxmlformats.org/drawingml/2006/main">
            <a:off x="8096250" y="1876425"/>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E8449"/>
                </a:solidFill>
                <a:latin typeface="Arial"/>
                <a:ea typeface="Arial"/>
                <a:cs typeface="Arial"/>
              </a:defRPr>
            </a:pPr>
            <a:r>
              <a:rPr sz="2700" b="1">
                <a:solidFill>
                  <a:srgbClr val="1E8449"/>
                </a:solidFill>
                <a:latin typeface="Arial"/>
                <a:ea typeface="Arial"/>
                <a:cs typeface="Arial"/>
              </a:rPr>
              <a:t>Gewenst aanbod</a:t>
            </a:r>
          </a:p>
        </p:txBody>
      </p:sp>
      <p:sp>
        <p:nvSpPr>
          <p:cNvPr id="8" name="15 = 6 + 0,10Qa&#10;0,10Qa = 9&#10;Qa = 90 potten">
            <a:extLst xmlns:a="http://schemas.openxmlformats.org/drawingml/2006/main">
              <a:ext uri="{FF2B5EF4-FFF2-40B4-BE49-F238E27FC236}">
                <a16:creationId xmlns:a16="http://schemas.microsoft.com/office/drawing/2014/main" id="{E4CDACF2-7BC7-4DF1-8719-467295213A8B}"/>
              </a:ext>
            </a:extLst>
          </p:cNvPr>
          <p:cNvSpPr>
            <a:spLocks xmlns:a="http://schemas.openxmlformats.org/drawingml/2006/main" noGrp="1"/>
          </p:cNvSpPr>
          <p:nvPr/>
        </p:nvSpPr>
        <p:spPr>
          <a:xfrm xmlns:a="http://schemas.openxmlformats.org/drawingml/2006/main">
            <a:off x="8096250" y="2800350"/>
            <a:ext cx="657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15 = 6 + 0,10Qa</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0,10Qa = 9</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Qa = 90 potten</a:t>
            </a:r>
          </a:p>
        </p:txBody>
      </p:sp>
      <p:sp>
        <p:nvSpPr>
          <p:cNvPr id="9" name="">
            <a:extLst xmlns:a="http://schemas.openxmlformats.org/drawingml/2006/main">
              <a:ext uri="{FF2B5EF4-FFF2-40B4-BE49-F238E27FC236}">
                <a16:creationId xmlns:a16="http://schemas.microsoft.com/office/drawing/2014/main" id="{09200D15-2A4C-4005-96FA-E3522F10A686}"/>
              </a:ext>
            </a:extLst>
          </p:cNvPr>
          <p:cNvSpPr>
            <a:spLocks xmlns:a="http://schemas.openxmlformats.org/drawingml/2006/main" noGrp="1"/>
          </p:cNvSpPr>
          <p:nvPr/>
        </p:nvSpPr>
        <p:spPr>
          <a:xfrm xmlns:a="http://schemas.openxmlformats.org/drawingml/2006/main">
            <a:off x="571500" y="5457825"/>
            <a:ext cx="14097000" cy="0"/>
          </a:xfrm>
          <a:prstGeom xmlns:a="http://schemas.openxmlformats.org/drawingml/2006/main" prst="line">
            <a:avLst/>
          </a:prstGeom>
          <a:ln xmlns:a="http://schemas.openxmlformats.org/drawingml/2006/main" w="19050">
            <a:solidFill>
              <a:srgbClr val="C6D2DB"/>
            </a:solidFill>
          </a:ln>
        </p:spPr>
      </p:sp>
      <p:sp>
        <p:nvSpPr>
          <p:cNvPr id="10" name="Aanbodoverschot = Qa − Qv&#10;= 90 − 45 = 45 potten per week">
            <a:extLst xmlns:a="http://schemas.openxmlformats.org/drawingml/2006/main">
              <a:ext uri="{FF2B5EF4-FFF2-40B4-BE49-F238E27FC236}">
                <a16:creationId xmlns:a16="http://schemas.microsoft.com/office/drawing/2014/main" id="{361E1E80-38FD-4C34-B129-B9A51CD8DD1D}"/>
              </a:ext>
            </a:extLst>
          </p:cNvPr>
          <p:cNvSpPr>
            <a:spLocks xmlns:a="http://schemas.openxmlformats.org/drawingml/2006/main" noGrp="1"/>
          </p:cNvSpPr>
          <p:nvPr/>
        </p:nvSpPr>
        <p:spPr>
          <a:xfrm xmlns:a="http://schemas.openxmlformats.org/drawingml/2006/main">
            <a:off x="571500" y="598170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Aanbodoverschot = Qa − Qv</a:t>
            </a:r>
          </a:p>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 90 − 45 = 45 potten per week</a:t>
            </a:r>
          </a:p>
        </p:txBody>
      </p:sp>
    </p:spTree>
    <p:extLst>
      <p:ext uri="{BB962C8B-B14F-4D97-AF65-F5344CB8AC3E}">
        <p14:creationId xmlns:p14="http://schemas.microsoft.com/office/powerpoint/2010/main" val="14888649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inimumprijs zonder opkoop">
            <a:extLst xmlns:a="http://schemas.openxmlformats.org/drawingml/2006/main">
              <a:ext uri="{FF2B5EF4-FFF2-40B4-BE49-F238E27FC236}">
                <a16:creationId xmlns:a16="http://schemas.microsoft.com/office/drawing/2014/main" id="{CA69C78C-BF41-4EB0-9146-C5FFF7085FEA}"/>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Minimumprijs zonder opkoop</a:t>
            </a:r>
          </a:p>
        </p:txBody>
      </p:sp>
      <p:sp>
        <p:nvSpPr>
          <p:cNvPr id="2" name="">
            <a:extLst xmlns:a="http://schemas.openxmlformats.org/drawingml/2006/main">
              <a:ext uri="{FF2B5EF4-FFF2-40B4-BE49-F238E27FC236}">
                <a16:creationId xmlns:a16="http://schemas.microsoft.com/office/drawing/2014/main" id="{EB99E7A4-D666-4651-BCEA-0A62A26C2F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2655B7D-06DB-4ECD-8C43-8C4861EE416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B5174AEE-51D9-4C98-A911-7979C0E4371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3" name="Chart"/>
          <p:cNvGraphicFramePr/>
          <p:nvPr/>
        </p:nvGraphicFramePr>
        <p:xfrm>
          <a:off xmlns:a="http://schemas.openxmlformats.org/drawingml/2006/main" x="571500" y="2266950"/>
          <a:ext xmlns:a="http://schemas.openxmlformats.org/drawingml/2006/main" cx="9906000" cy="5410200"/>
        </p:xfrm>
        <a:graphic xmlns:a="http://schemas.openxmlformats.org/drawingml/2006/main">
          <a:graphicData uri="http://schemas.openxmlformats.org/drawingml/2006/chart">
            <c:chart xmlns:r="http://schemas.openxmlformats.org/officeDocument/2006/relationships" xmlns:c="http://schemas.openxmlformats.org/drawingml/2006/chart" r:id="R3a31c6e1c27c45d4"/>
          </a:graphicData>
        </a:graphic>
      </p:graphicFrame>
      <p:sp>
        <p:nvSpPr>
          <p:cNvPr id="6" name="Pmin = € 15">
            <a:extLst xmlns:a="http://schemas.openxmlformats.org/drawingml/2006/main">
              <a:ext uri="{FF2B5EF4-FFF2-40B4-BE49-F238E27FC236}">
                <a16:creationId xmlns:a16="http://schemas.microsoft.com/office/drawing/2014/main" id="{D64628D5-534E-49C1-878B-73D515DFE21F}"/>
              </a:ext>
            </a:extLst>
          </p:cNvPr>
          <p:cNvSpPr>
            <a:spLocks xmlns:a="http://schemas.openxmlformats.org/drawingml/2006/main" noGrp="1"/>
          </p:cNvSpPr>
          <p:nvPr/>
        </p:nvSpPr>
        <p:spPr>
          <a:xfrm xmlns:a="http://schemas.openxmlformats.org/drawingml/2006/main">
            <a:off x="10858500" y="23812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Pmin = € 15</a:t>
            </a:r>
          </a:p>
        </p:txBody>
      </p:sp>
      <p:sp>
        <p:nvSpPr>
          <p:cNvPr id="7" name="Qv = 45&#10;Qa = 90&#10;&#10;Particulieren&#10;kopen 45 potten.">
            <a:extLst xmlns:a="http://schemas.openxmlformats.org/drawingml/2006/main">
              <a:ext uri="{FF2B5EF4-FFF2-40B4-BE49-F238E27FC236}">
                <a16:creationId xmlns:a16="http://schemas.microsoft.com/office/drawing/2014/main" id="{4B72ABCD-4A47-4AC6-ACF6-3E82C75C8CB6}"/>
              </a:ext>
            </a:extLst>
          </p:cNvPr>
          <p:cNvSpPr>
            <a:spLocks xmlns:a="http://schemas.openxmlformats.org/drawingml/2006/main" noGrp="1"/>
          </p:cNvSpPr>
          <p:nvPr/>
        </p:nvSpPr>
        <p:spPr>
          <a:xfrm xmlns:a="http://schemas.openxmlformats.org/drawingml/2006/main">
            <a:off x="10858500" y="3429000"/>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Qv = 45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Qa = 90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Particulieren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kopen 45 potten.</a:t>
            </a:r>
          </a:p>
        </p:txBody>
      </p:sp>
      <p:sp>
        <p:nvSpPr>
          <p:cNvPr id="8" name="Overheid: 0&#10;U = € 0">
            <a:extLst xmlns:a="http://schemas.openxmlformats.org/drawingml/2006/main">
              <a:ext uri="{FF2B5EF4-FFF2-40B4-BE49-F238E27FC236}">
                <a16:creationId xmlns:a16="http://schemas.microsoft.com/office/drawing/2014/main" id="{657B65B4-B23B-45CB-8F1B-D5A3447A99AB}"/>
              </a:ext>
            </a:extLst>
          </p:cNvPr>
          <p:cNvSpPr>
            <a:spLocks xmlns:a="http://schemas.openxmlformats.org/drawingml/2006/main" noGrp="1"/>
          </p:cNvSpPr>
          <p:nvPr/>
        </p:nvSpPr>
        <p:spPr>
          <a:xfrm xmlns:a="http://schemas.openxmlformats.org/drawingml/2006/main">
            <a:off x="10858500" y="66294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Overheid: 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U = € 0</a:t>
            </a:r>
          </a:p>
        </p:txBody>
      </p:sp>
    </p:spTree>
    <p:extLst>
      <p:ext uri="{BB962C8B-B14F-4D97-AF65-F5344CB8AC3E}">
        <p14:creationId xmlns:p14="http://schemas.microsoft.com/office/powerpoint/2010/main" val="19605793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zelfde prijs met volledige opkoop">
            <a:extLst xmlns:a="http://schemas.openxmlformats.org/drawingml/2006/main">
              <a:ext uri="{FF2B5EF4-FFF2-40B4-BE49-F238E27FC236}">
                <a16:creationId xmlns:a16="http://schemas.microsoft.com/office/drawing/2014/main" id="{2119604D-E175-43E9-BCF5-901A8609E374}"/>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Dezelfde prijs met volledige opkoop</a:t>
            </a:r>
          </a:p>
        </p:txBody>
      </p:sp>
      <p:sp>
        <p:nvSpPr>
          <p:cNvPr id="2" name="">
            <a:extLst xmlns:a="http://schemas.openxmlformats.org/drawingml/2006/main">
              <a:ext uri="{FF2B5EF4-FFF2-40B4-BE49-F238E27FC236}">
                <a16:creationId xmlns:a16="http://schemas.microsoft.com/office/drawing/2014/main" id="{6A7C29DD-17B2-4A6E-94C5-F916F08EEF8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1901CFE-DE5E-44AC-B6CB-4F0CBC41F2D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A96E059F-0E4F-4F5B-A4F7-3D5E9E4477C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De overheid koopt elk overblijvend aangeboden potje voor € 1">
            <a:extLst xmlns:a="http://schemas.openxmlformats.org/drawingml/2006/main">
              <a:ext uri="{FF2B5EF4-FFF2-40B4-BE49-F238E27FC236}">
                <a16:creationId xmlns:a16="http://schemas.microsoft.com/office/drawing/2014/main" id="{0BA25315-3B9B-46F0-8B78-E7DC5B2CC97B}"/>
              </a:ext>
            </a:extLst>
          </p:cNvPr>
          <p:cNvSpPr>
            <a:spLocks xmlns:a="http://schemas.openxmlformats.org/drawingml/2006/main" noGrp="1"/>
          </p:cNvSpPr>
          <p:nvPr/>
        </p:nvSpPr>
        <p:spPr>
          <a:xfrm xmlns:a="http://schemas.openxmlformats.org/drawingml/2006/main">
            <a:off x="571500" y="17907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De overheid koopt elk overblijvend aangeboden potje voor € 15.</a:t>
            </a:r>
          </a:p>
        </p:txBody>
      </p:sp>
      <p:graphicFrame>
        <p:nvGraphicFramePr>
          <p:cNvPr id="13" name=""/>
          <p:cNvGraphicFramePr/>
          <p:nvPr/>
        </p:nvGraphicFramePr>
        <p:xfrm>
          <a:off xmlns:a="http://schemas.openxmlformats.org/drawingml/2006/main" x="571500" y="3333750"/>
          <a:ext xmlns:a="http://schemas.openxmlformats.org/drawingml/2006/main" cx="14097000" cy="3143250"/>
        </p:xfrm>
        <a:graphic xmlns:a="http://schemas.openxmlformats.org/drawingml/2006/main">
          <a:graphicData uri="http://schemas.openxmlformats.org/drawingml/2006/table">
            <a:tbl>
              <a:tblPr/>
              <a:tblGrid>
                <a:gridCol w="6191250"/>
                <a:gridCol w="3429000"/>
                <a:gridCol w="4476750"/>
              </a:tblGrid>
              <a:tr h="785813">
                <a:tc>
                  <a:txBody>
                    <a:bodyPr lIns="171450" tIns="95250" rIns="152400" bIns="95250"/>
                    <a:lstStyle/>
                    <a:p>
                      <a:r>
                        <a:rPr sz="2400" b="1">
                          <a:solidFill>
                            <a:srgbClr val="FFFFFF"/>
                          </a:solidFill>
                          <a:latin typeface="Arial"/>
                          <a:ea typeface="Arial"/>
                          <a:cs typeface="Arial"/>
                        </a:rPr>
                        <a:t>Per week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Zonder opkoop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Met volledige opkoop</a:t>
                      </a:r>
                    </a:p>
                  </a:txBody>
                  <a:tcPr marL="91440" marR="91440" marT="45720" marB="45720" anchor="ctr">
                    <a:solidFill>
                      <a:srgbClr val="183247"/>
                    </a:solidFill>
                  </a:tcPr>
                </a:tc>
              </a:tr>
              <a:tr h="785813">
                <a:tc>
                  <a:txBody>
                    <a:bodyPr lIns="171450" tIns="95250" rIns="152400" bIns="95250"/>
                    <a:lstStyle/>
                    <a:p>
                      <a:r>
                        <a:rPr sz="2400" b="0">
                          <a:solidFill>
                            <a:srgbClr val="183247"/>
                          </a:solidFill>
                          <a:latin typeface="Arial"/>
                          <a:ea typeface="Arial"/>
                          <a:cs typeface="Arial"/>
                        </a:rPr>
                        <a:t>Particuliere aankopen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45 potten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45 potten</a:t>
                      </a:r>
                    </a:p>
                  </a:txBody>
                  <a:tcPr marL="91440" marR="91440" marT="45720" marB="45720" anchor="ctr">
                    <a:solidFill>
                      <a:srgbClr val="FFFFFF"/>
                    </a:solidFill>
                  </a:tcPr>
                </a:tc>
              </a:tr>
              <a:tr h="785813">
                <a:tc>
                  <a:txBody>
                    <a:bodyPr lIns="171450" tIns="95250" rIns="152400" bIns="95250"/>
                    <a:lstStyle/>
                    <a:p>
                      <a:r>
                        <a:rPr sz="2400" b="0">
                          <a:solidFill>
                            <a:srgbClr val="183247"/>
                          </a:solidFill>
                          <a:latin typeface="Arial"/>
                          <a:ea typeface="Arial"/>
                          <a:cs typeface="Arial"/>
                        </a:rPr>
                        <a:t>Overheidsaankopen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potten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90 − 45 = 45 potten</a:t>
                      </a:r>
                    </a:p>
                  </a:txBody>
                  <a:tcPr marL="91440" marR="91440" marT="45720" marB="45720" anchor="ctr">
                    <a:solidFill>
                      <a:srgbClr val="EFF4F7"/>
                    </a:solidFill>
                  </a:tcPr>
                </a:tc>
              </a:tr>
              <a:tr h="785813">
                <a:tc>
                  <a:txBody>
                    <a:bodyPr lIns="171450" tIns="95250" rIns="152400" bIns="95250"/>
                    <a:lstStyle/>
                    <a:p>
                      <a:r>
                        <a:rPr sz="2400" b="0">
                          <a:solidFill>
                            <a:srgbClr val="183247"/>
                          </a:solidFill>
                          <a:latin typeface="Arial"/>
                          <a:ea typeface="Arial"/>
                          <a:cs typeface="Arial"/>
                        </a:rPr>
                        <a:t>Totale verkopen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45 potten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45 + 45 = 90 potten</a:t>
                      </a:r>
                    </a:p>
                  </a:txBody>
                  <a:tcPr marL="91440" marR="91440" marT="45720" marB="45720" anchor="ctr">
                    <a:solidFill>
                      <a:srgbClr val="FFFFFF"/>
                    </a:solidFill>
                  </a:tcPr>
                </a:tc>
              </a:tr>
            </a:tbl>
          </a:graphicData>
        </a:graphic>
      </p:graphicFrame>
      <p:sp>
        <p:nvSpPr>
          <p:cNvPr id="7" name="De kwekers leveren nu alle 90 aangeboden potten.">
            <a:extLst xmlns:a="http://schemas.openxmlformats.org/drawingml/2006/main">
              <a:ext uri="{FF2B5EF4-FFF2-40B4-BE49-F238E27FC236}">
                <a16:creationId xmlns:a16="http://schemas.microsoft.com/office/drawing/2014/main" id="{0FF06494-8BA3-4775-919F-5FE67F84C4CA}"/>
              </a:ext>
            </a:extLst>
          </p:cNvPr>
          <p:cNvSpPr>
            <a:spLocks xmlns:a="http://schemas.openxmlformats.org/drawingml/2006/main" noGrp="1"/>
          </p:cNvSpPr>
          <p:nvPr/>
        </p:nvSpPr>
        <p:spPr>
          <a:xfrm xmlns:a="http://schemas.openxmlformats.org/drawingml/2006/main">
            <a:off x="571500" y="71056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De kwekers leveren nu alle 90 aangeboden potten.</a:t>
            </a:r>
          </a:p>
        </p:txBody>
      </p:sp>
    </p:spTree>
    <p:extLst>
      <p:ext uri="{BB962C8B-B14F-4D97-AF65-F5344CB8AC3E}">
        <p14:creationId xmlns:p14="http://schemas.microsoft.com/office/powerpoint/2010/main" val="12816081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uitgavenrechthoek">
            <a:extLst xmlns:a="http://schemas.openxmlformats.org/drawingml/2006/main">
              <a:ext uri="{FF2B5EF4-FFF2-40B4-BE49-F238E27FC236}">
                <a16:creationId xmlns:a16="http://schemas.microsoft.com/office/drawing/2014/main" id="{F8690D27-2034-4276-BC21-9FE74006CC2F}"/>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uitgavenrechthoek</a:t>
            </a:r>
          </a:p>
        </p:txBody>
      </p:sp>
      <p:sp>
        <p:nvSpPr>
          <p:cNvPr id="2" name="">
            <a:extLst xmlns:a="http://schemas.openxmlformats.org/drawingml/2006/main">
              <a:ext uri="{FF2B5EF4-FFF2-40B4-BE49-F238E27FC236}">
                <a16:creationId xmlns:a16="http://schemas.microsoft.com/office/drawing/2014/main" id="{E2ECEBEC-39C5-4470-83BE-12DE5E7745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DFB30D04-EB06-42D3-8B73-3C076A4D63F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568C8DFF-C8A7-4ADE-9464-0C9392E0A6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Chart"/>
          <p:cNvGraphicFramePr/>
          <p:nvPr/>
        </p:nvGraphicFramePr>
        <p:xfrm>
          <a:off xmlns:a="http://schemas.openxmlformats.org/drawingml/2006/main" x="571500" y="2266950"/>
          <a:ext xmlns:a="http://schemas.openxmlformats.org/drawingml/2006/main" cx="9906000" cy="5410200"/>
        </p:xfrm>
        <a:graphic xmlns:a="http://schemas.openxmlformats.org/drawingml/2006/main">
          <a:graphicData uri="http://schemas.openxmlformats.org/drawingml/2006/chart">
            <c:chart xmlns:r="http://schemas.openxmlformats.org/officeDocument/2006/relationships" xmlns:c="http://schemas.openxmlformats.org/drawingml/2006/chart" r:id="R30c51b41533c407d"/>
          </a:graphicData>
        </a:graphic>
      </p:graphicFrame>
      <p:sp>
        <p:nvSpPr>
          <p:cNvPr id="6" name="U = Pmin × (Qa − Qv)">
            <a:extLst xmlns:a="http://schemas.openxmlformats.org/drawingml/2006/main">
              <a:ext uri="{FF2B5EF4-FFF2-40B4-BE49-F238E27FC236}">
                <a16:creationId xmlns:a16="http://schemas.microsoft.com/office/drawing/2014/main" id="{F302F0B8-894B-4D1E-AC0B-33B71647DF89}"/>
              </a:ext>
            </a:extLst>
          </p:cNvPr>
          <p:cNvSpPr>
            <a:spLocks xmlns:a="http://schemas.openxmlformats.org/drawingml/2006/main" noGrp="1"/>
          </p:cNvSpPr>
          <p:nvPr/>
        </p:nvSpPr>
        <p:spPr>
          <a:xfrm xmlns:a="http://schemas.openxmlformats.org/drawingml/2006/main">
            <a:off x="10858500" y="23812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U = Pmin × (Qa − Qv)</a:t>
            </a:r>
          </a:p>
        </p:txBody>
      </p:sp>
      <p:sp>
        <p:nvSpPr>
          <p:cNvPr id="7" name="U = 15 × 45&#10;&#10;U = € 675&#10;per week">
            <a:extLst xmlns:a="http://schemas.openxmlformats.org/drawingml/2006/main">
              <a:ext uri="{FF2B5EF4-FFF2-40B4-BE49-F238E27FC236}">
                <a16:creationId xmlns:a16="http://schemas.microsoft.com/office/drawing/2014/main" id="{EB242F1F-CC6B-4494-B690-0E3FFE307F06}"/>
              </a:ext>
            </a:extLst>
          </p:cNvPr>
          <p:cNvSpPr>
            <a:spLocks xmlns:a="http://schemas.openxmlformats.org/drawingml/2006/main" noGrp="1"/>
          </p:cNvSpPr>
          <p:nvPr/>
        </p:nvSpPr>
        <p:spPr>
          <a:xfrm xmlns:a="http://schemas.openxmlformats.org/drawingml/2006/main">
            <a:off x="10858500" y="3429000"/>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U = 15 × 45</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U = € 675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p:txBody>
      </p:sp>
      <p:sp>
        <p:nvSpPr>
          <p:cNvPr id="8" name="Basis: 45 potten&#10;Hoogte: € 15">
            <a:extLst xmlns:a="http://schemas.openxmlformats.org/drawingml/2006/main">
              <a:ext uri="{FF2B5EF4-FFF2-40B4-BE49-F238E27FC236}">
                <a16:creationId xmlns:a16="http://schemas.microsoft.com/office/drawing/2014/main" id="{0A5DEF82-F6E5-4336-BF32-A4F467BFCF6A}"/>
              </a:ext>
            </a:extLst>
          </p:cNvPr>
          <p:cNvSpPr>
            <a:spLocks xmlns:a="http://schemas.openxmlformats.org/drawingml/2006/main" noGrp="1"/>
          </p:cNvSpPr>
          <p:nvPr/>
        </p:nvSpPr>
        <p:spPr>
          <a:xfrm xmlns:a="http://schemas.openxmlformats.org/drawingml/2006/main">
            <a:off x="10858500" y="66294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Basis: 45 potten</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Hoogte: € 15</a:t>
            </a:r>
          </a:p>
        </p:txBody>
      </p:sp>
    </p:spTree>
    <p:extLst>
      <p:ext uri="{BB962C8B-B14F-4D97-AF65-F5344CB8AC3E}">
        <p14:creationId xmlns:p14="http://schemas.microsoft.com/office/powerpoint/2010/main" val="14843465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lleen een productiequotum">
            <a:extLst xmlns:a="http://schemas.openxmlformats.org/drawingml/2006/main">
              <a:ext uri="{FF2B5EF4-FFF2-40B4-BE49-F238E27FC236}">
                <a16:creationId xmlns:a16="http://schemas.microsoft.com/office/drawing/2014/main" id="{8FFE8F92-D0A7-4826-AB65-52C59A10103F}"/>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Alleen een productiequotum</a:t>
            </a:r>
          </a:p>
        </p:txBody>
      </p:sp>
      <p:sp>
        <p:nvSpPr>
          <p:cNvPr id="2" name="">
            <a:extLst xmlns:a="http://schemas.openxmlformats.org/drawingml/2006/main">
              <a:ext uri="{FF2B5EF4-FFF2-40B4-BE49-F238E27FC236}">
                <a16:creationId xmlns:a16="http://schemas.microsoft.com/office/drawing/2014/main" id="{06AFC693-5D2C-40B5-B906-979918135D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8E6C1C7-88B9-48C4-9D2A-227053AFE6E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EB08D8B6-60E1-4E64-9A0E-0A164254B54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De minimumprijs en opkoopregeling vervallen.">
            <a:extLst xmlns:a="http://schemas.openxmlformats.org/drawingml/2006/main">
              <a:ext uri="{FF2B5EF4-FFF2-40B4-BE49-F238E27FC236}">
                <a16:creationId xmlns:a16="http://schemas.microsoft.com/office/drawing/2014/main" id="{8FBF733E-39C8-40F6-96E7-F899A242E96A}"/>
              </a:ext>
            </a:extLst>
          </p:cNvPr>
          <p:cNvSpPr>
            <a:spLocks xmlns:a="http://schemas.openxmlformats.org/drawingml/2006/main" noGrp="1"/>
          </p:cNvSpPr>
          <p:nvPr/>
        </p:nvSpPr>
        <p:spPr>
          <a:xfrm xmlns:a="http://schemas.openxmlformats.org/drawingml/2006/main">
            <a:off x="571500" y="18573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De minimumprijs en opkoopregeling vervallen.</a:t>
            </a:r>
          </a:p>
        </p:txBody>
      </p:sp>
      <p:sp>
        <p:nvSpPr>
          <p:cNvPr id="6" name="Maximaal 45 potten kruiden per week.&#10;Alle 45 worden geproduc">
            <a:extLst xmlns:a="http://schemas.openxmlformats.org/drawingml/2006/main">
              <a:ext uri="{FF2B5EF4-FFF2-40B4-BE49-F238E27FC236}">
                <a16:creationId xmlns:a16="http://schemas.microsoft.com/office/drawing/2014/main" id="{18F8F3CF-ABB4-413F-BBF2-5E0D40E0AA96}"/>
              </a:ext>
            </a:extLst>
          </p:cNvPr>
          <p:cNvSpPr>
            <a:spLocks xmlns:a="http://schemas.openxmlformats.org/drawingml/2006/main" noGrp="1"/>
          </p:cNvSpPr>
          <p:nvPr/>
        </p:nvSpPr>
        <p:spPr>
          <a:xfrm xmlns:a="http://schemas.openxmlformats.org/drawingml/2006/main">
            <a:off x="571500" y="3038475"/>
            <a:ext cx="14097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Maximaal 45 potten kruiden per week.</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Alle 45 worden geproduceerd en verkocht.</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productierechten zijn gratis verdeeld.</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overheid koopt niets.</a:t>
            </a:r>
          </a:p>
        </p:txBody>
      </p:sp>
      <p:sp>
        <p:nvSpPr>
          <p:cNvPr id="7" name="45 &lt; Q₀ van 60: het quotum bindt.">
            <a:extLst xmlns:a="http://schemas.openxmlformats.org/drawingml/2006/main">
              <a:ext uri="{FF2B5EF4-FFF2-40B4-BE49-F238E27FC236}">
                <a16:creationId xmlns:a16="http://schemas.microsoft.com/office/drawing/2014/main" id="{9375E3AB-CAE1-41A4-9B59-AD8C9A53D030}"/>
              </a:ext>
            </a:extLst>
          </p:cNvPr>
          <p:cNvSpPr>
            <a:spLocks xmlns:a="http://schemas.openxmlformats.org/drawingml/2006/main" noGrp="1"/>
          </p:cNvSpPr>
          <p:nvPr/>
        </p:nvSpPr>
        <p:spPr>
          <a:xfrm xmlns:a="http://schemas.openxmlformats.org/drawingml/2006/main">
            <a:off x="571500" y="6457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45 &lt; Q₀ van 60: het quotum bindt.</a:t>
            </a:r>
          </a:p>
        </p:txBody>
      </p:sp>
    </p:spTree>
    <p:extLst>
      <p:ext uri="{BB962C8B-B14F-4D97-AF65-F5344CB8AC3E}">
        <p14:creationId xmlns:p14="http://schemas.microsoft.com/office/powerpoint/2010/main" val="10115326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quotumprijs staat op de vraaglijn">
            <a:extLst xmlns:a="http://schemas.openxmlformats.org/drawingml/2006/main">
              <a:ext uri="{FF2B5EF4-FFF2-40B4-BE49-F238E27FC236}">
                <a16:creationId xmlns:a16="http://schemas.microsoft.com/office/drawing/2014/main" id="{458E0B54-7645-4E06-AEB4-62BBFADAD552}"/>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quotumprijs staat op de vraaglijn</a:t>
            </a:r>
          </a:p>
        </p:txBody>
      </p:sp>
      <p:sp>
        <p:nvSpPr>
          <p:cNvPr id="2" name="">
            <a:extLst xmlns:a="http://schemas.openxmlformats.org/drawingml/2006/main">
              <a:ext uri="{FF2B5EF4-FFF2-40B4-BE49-F238E27FC236}">
                <a16:creationId xmlns:a16="http://schemas.microsoft.com/office/drawing/2014/main" id="{7BE4EE38-190A-4194-9B14-0C577DDD92E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02F4DE0-6B12-4702-9015-BF90EE7DDC6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EDFC94CC-2117-4A9F-9E90-E886C2DA019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graphicFrame>
        <p:nvGraphicFramePr>
          <p:cNvPr id="13" name="Chart"/>
          <p:cNvGraphicFramePr/>
          <p:nvPr/>
        </p:nvGraphicFramePr>
        <p:xfrm>
          <a:off xmlns:a="http://schemas.openxmlformats.org/drawingml/2006/main" x="571500" y="2266950"/>
          <a:ext xmlns:a="http://schemas.openxmlformats.org/drawingml/2006/main" cx="9906000" cy="5410200"/>
        </p:xfrm>
        <a:graphic xmlns:a="http://schemas.openxmlformats.org/drawingml/2006/main">
          <a:graphicData uri="http://schemas.openxmlformats.org/drawingml/2006/chart">
            <c:chart xmlns:r="http://schemas.openxmlformats.org/officeDocument/2006/relationships" xmlns:c="http://schemas.openxmlformats.org/drawingml/2006/chart" r:id="R6f7066917c334295"/>
          </a:graphicData>
        </a:graphic>
      </p:graphicFrame>
      <p:sp>
        <p:nvSpPr>
          <p:cNvPr id="6" name="Bij Q = 45">
            <a:extLst xmlns:a="http://schemas.openxmlformats.org/drawingml/2006/main">
              <a:ext uri="{FF2B5EF4-FFF2-40B4-BE49-F238E27FC236}">
                <a16:creationId xmlns:a16="http://schemas.microsoft.com/office/drawing/2014/main" id="{B658FEDA-338B-430A-BD6F-2EC2A24336F4}"/>
              </a:ext>
            </a:extLst>
          </p:cNvPr>
          <p:cNvSpPr>
            <a:spLocks xmlns:a="http://schemas.openxmlformats.org/drawingml/2006/main" noGrp="1"/>
          </p:cNvSpPr>
          <p:nvPr/>
        </p:nvSpPr>
        <p:spPr>
          <a:xfrm xmlns:a="http://schemas.openxmlformats.org/drawingml/2006/main">
            <a:off x="10858500" y="23812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Bij Q = 45</a:t>
            </a:r>
          </a:p>
        </p:txBody>
      </p:sp>
      <p:sp>
        <p:nvSpPr>
          <p:cNvPr id="7" name="P = 24 − 0,20 × 45&#10;P = € 15 per pot&#10;&#10;A geeft € 10,50:&#10;margin">
            <a:extLst xmlns:a="http://schemas.openxmlformats.org/drawingml/2006/main">
              <a:ext uri="{FF2B5EF4-FFF2-40B4-BE49-F238E27FC236}">
                <a16:creationId xmlns:a16="http://schemas.microsoft.com/office/drawing/2014/main" id="{8734F520-2AF5-41BB-B08A-D8109C7C916E}"/>
              </a:ext>
            </a:extLst>
          </p:cNvPr>
          <p:cNvSpPr>
            <a:spLocks xmlns:a="http://schemas.openxmlformats.org/drawingml/2006/main" noGrp="1"/>
          </p:cNvSpPr>
          <p:nvPr/>
        </p:nvSpPr>
        <p:spPr>
          <a:xfrm xmlns:a="http://schemas.openxmlformats.org/drawingml/2006/main">
            <a:off x="10858500" y="3429000"/>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24 − 0,20 × 45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€ 15 per pot</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 geeft € 10,50: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marginale kosten.</a:t>
            </a:r>
          </a:p>
        </p:txBody>
      </p:sp>
      <p:sp>
        <p:nvSpPr>
          <p:cNvPr id="8" name="U = € 0&#10;Geen opkoop">
            <a:extLst xmlns:a="http://schemas.openxmlformats.org/drawingml/2006/main">
              <a:ext uri="{FF2B5EF4-FFF2-40B4-BE49-F238E27FC236}">
                <a16:creationId xmlns:a16="http://schemas.microsoft.com/office/drawing/2014/main" id="{96A43287-B07E-4160-98AA-CE532117FAED}"/>
              </a:ext>
            </a:extLst>
          </p:cNvPr>
          <p:cNvSpPr>
            <a:spLocks xmlns:a="http://schemas.openxmlformats.org/drawingml/2006/main" noGrp="1"/>
          </p:cNvSpPr>
          <p:nvPr/>
        </p:nvSpPr>
        <p:spPr>
          <a:xfrm xmlns:a="http://schemas.openxmlformats.org/drawingml/2006/main">
            <a:off x="10858500" y="66294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U = € 0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Geen opkoop</a:t>
            </a:r>
          </a:p>
        </p:txBody>
      </p:sp>
    </p:spTree>
    <p:extLst>
      <p:ext uri="{BB962C8B-B14F-4D97-AF65-F5344CB8AC3E}">
        <p14:creationId xmlns:p14="http://schemas.microsoft.com/office/powerpoint/2010/main" val="17041223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quotum is een maximum">
            <a:extLst xmlns:a="http://schemas.openxmlformats.org/drawingml/2006/main">
              <a:ext uri="{FF2B5EF4-FFF2-40B4-BE49-F238E27FC236}">
                <a16:creationId xmlns:a16="http://schemas.microsoft.com/office/drawing/2014/main" id="{398AADA5-0BB0-4D4E-81F3-F7191E66E07C}"/>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quotum is een maximum</a:t>
            </a:r>
          </a:p>
        </p:txBody>
      </p:sp>
      <p:sp>
        <p:nvSpPr>
          <p:cNvPr id="2" name="">
            <a:extLst xmlns:a="http://schemas.openxmlformats.org/drawingml/2006/main">
              <a:ext uri="{FF2B5EF4-FFF2-40B4-BE49-F238E27FC236}">
                <a16:creationId xmlns:a16="http://schemas.microsoft.com/office/drawing/2014/main" id="{66F315C3-90AB-4DC8-8058-C1574CAF96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642C6F5D-3F42-4893-B148-D9C17D82E2E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3">
            <a:extLst xmlns:a="http://schemas.openxmlformats.org/drawingml/2006/main">
              <a:ext uri="{FF2B5EF4-FFF2-40B4-BE49-F238E27FC236}">
                <a16:creationId xmlns:a16="http://schemas.microsoft.com/office/drawing/2014/main" id="{FB6F4D14-813B-4069-910E-B3A86806E36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Een nieuwe grens van 80 potten vervangt het quotum van 45.">
            <a:extLst xmlns:a="http://schemas.openxmlformats.org/drawingml/2006/main">
              <a:ext uri="{FF2B5EF4-FFF2-40B4-BE49-F238E27FC236}">
                <a16:creationId xmlns:a16="http://schemas.microsoft.com/office/drawing/2014/main" id="{20DA2A79-C9E2-4413-A79A-A8E85FF32EBC}"/>
              </a:ext>
            </a:extLst>
          </p:cNvPr>
          <p:cNvSpPr>
            <a:spLocks xmlns:a="http://schemas.openxmlformats.org/drawingml/2006/main" noGrp="1"/>
          </p:cNvSpPr>
          <p:nvPr/>
        </p:nvSpPr>
        <p:spPr>
          <a:xfrm xmlns:a="http://schemas.openxmlformats.org/drawingml/2006/main">
            <a:off x="571500" y="1857375"/>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Een nieuwe grens van 80 potten vervangt het quotum van 45.</a:t>
            </a:r>
          </a:p>
        </p:txBody>
      </p:sp>
      <p:sp>
        <p:nvSpPr>
          <p:cNvPr id="6" name="80 &gt; Q₀ van 60">
            <a:extLst xmlns:a="http://schemas.openxmlformats.org/drawingml/2006/main">
              <a:ext uri="{FF2B5EF4-FFF2-40B4-BE49-F238E27FC236}">
                <a16:creationId xmlns:a16="http://schemas.microsoft.com/office/drawing/2014/main" id="{D5570EA2-D8FF-4513-97AB-7B3E28BCB385}"/>
              </a:ext>
            </a:extLst>
          </p:cNvPr>
          <p:cNvSpPr>
            <a:spLocks xmlns:a="http://schemas.openxmlformats.org/drawingml/2006/main" noGrp="1"/>
          </p:cNvSpPr>
          <p:nvPr/>
        </p:nvSpPr>
        <p:spPr>
          <a:xfrm xmlns:a="http://schemas.openxmlformats.org/drawingml/2006/main">
            <a:off x="571500" y="34575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A5276"/>
                </a:solidFill>
                <a:latin typeface="Arial"/>
                <a:ea typeface="Arial"/>
                <a:cs typeface="Arial"/>
              </a:defRPr>
            </a:pPr>
            <a:r>
              <a:rPr sz="4200" b="1">
                <a:solidFill>
                  <a:srgbClr val="1A5276"/>
                </a:solidFill>
                <a:latin typeface="Arial"/>
                <a:ea typeface="Arial"/>
                <a:cs typeface="Arial"/>
              </a:rPr>
              <a:t>80 &gt; Q₀ van 60</a:t>
            </a:r>
          </a:p>
        </p:txBody>
      </p:sp>
      <p:sp>
        <p:nvSpPr>
          <p:cNvPr id="7" name="Het vrije evenwicht past binnen het maximum.&#10;Q = 60 potten p">
            <a:extLst xmlns:a="http://schemas.openxmlformats.org/drawingml/2006/main">
              <a:ext uri="{FF2B5EF4-FFF2-40B4-BE49-F238E27FC236}">
                <a16:creationId xmlns:a16="http://schemas.microsoft.com/office/drawing/2014/main" id="{0E4EE1BA-B40A-4ADD-A9F0-665CC565D7D4}"/>
              </a:ext>
            </a:extLst>
          </p:cNvPr>
          <p:cNvSpPr>
            <a:spLocks xmlns:a="http://schemas.openxmlformats.org/drawingml/2006/main" noGrp="1"/>
          </p:cNvSpPr>
          <p:nvPr/>
        </p:nvSpPr>
        <p:spPr>
          <a:xfrm xmlns:a="http://schemas.openxmlformats.org/drawingml/2006/main">
            <a:off x="571500" y="4810125"/>
            <a:ext cx="140970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Het vrije evenwicht past binnen het maximum.</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Q = 60 potten per week</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 = € 12 per pot</a:t>
            </a:r>
          </a:p>
        </p:txBody>
      </p:sp>
      <p:sp>
        <p:nvSpPr>
          <p:cNvPr id="8" name="De overheid koopt niets: U = € 0.">
            <a:extLst xmlns:a="http://schemas.openxmlformats.org/drawingml/2006/main">
              <a:ext uri="{FF2B5EF4-FFF2-40B4-BE49-F238E27FC236}">
                <a16:creationId xmlns:a16="http://schemas.microsoft.com/office/drawing/2014/main" id="{466462FC-9E1A-472E-80CE-6811B5C795F5}"/>
              </a:ext>
            </a:extLst>
          </p:cNvPr>
          <p:cNvSpPr>
            <a:spLocks xmlns:a="http://schemas.openxmlformats.org/drawingml/2006/main" noGrp="1"/>
          </p:cNvSpPr>
          <p:nvPr/>
        </p:nvSpPr>
        <p:spPr>
          <a:xfrm xmlns:a="http://schemas.openxmlformats.org/drawingml/2006/main">
            <a:off x="571500" y="71818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De overheid koopt niets: U = € 0.</a:t>
            </a:r>
          </a:p>
        </p:txBody>
      </p:sp>
    </p:spTree>
    <p:extLst>
      <p:ext uri="{BB962C8B-B14F-4D97-AF65-F5344CB8AC3E}">
        <p14:creationId xmlns:p14="http://schemas.microsoft.com/office/powerpoint/2010/main" val="10474242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zelfde prijs, andere gevolgen">
            <a:extLst xmlns:a="http://schemas.openxmlformats.org/drawingml/2006/main">
              <a:ext uri="{FF2B5EF4-FFF2-40B4-BE49-F238E27FC236}">
                <a16:creationId xmlns:a16="http://schemas.microsoft.com/office/drawing/2014/main" id="{E83A98DA-FA96-46B3-9F16-8E7D3CC479FE}"/>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Dezelfde prijs, andere gevolgen</a:t>
            </a:r>
          </a:p>
        </p:txBody>
      </p:sp>
      <p:sp>
        <p:nvSpPr>
          <p:cNvPr id="2" name="">
            <a:extLst xmlns:a="http://schemas.openxmlformats.org/drawingml/2006/main">
              <a:ext uri="{FF2B5EF4-FFF2-40B4-BE49-F238E27FC236}">
                <a16:creationId xmlns:a16="http://schemas.microsoft.com/office/drawing/2014/main" id="{6B4EACB2-6F67-4A43-A0EA-FF21E80F39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B2E1110-C1C1-420A-BF22-F344D306F69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4">
            <a:extLst xmlns:a="http://schemas.openxmlformats.org/drawingml/2006/main">
              <a:ext uri="{FF2B5EF4-FFF2-40B4-BE49-F238E27FC236}">
                <a16:creationId xmlns:a16="http://schemas.microsoft.com/office/drawing/2014/main" id="{A8BDD616-E5B8-4838-815A-3877376432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graphicFrame>
        <p:nvGraphicFramePr>
          <p:cNvPr id="11" name=""/>
          <p:cNvGraphicFramePr/>
          <p:nvPr/>
        </p:nvGraphicFramePr>
        <p:xfrm>
          <a:off xmlns:a="http://schemas.openxmlformats.org/drawingml/2006/main" x="571500" y="2095500"/>
          <a:ext xmlns:a="http://schemas.openxmlformats.org/drawingml/2006/main" cx="14097000" cy="4619625"/>
        </p:xfrm>
        <a:graphic xmlns:a="http://schemas.openxmlformats.org/drawingml/2006/main">
          <a:graphicData uri="http://schemas.openxmlformats.org/drawingml/2006/table">
            <a:tbl>
              <a:tblPr/>
              <a:tblGrid>
                <a:gridCol w="5524500"/>
                <a:gridCol w="4476750"/>
                <a:gridCol w="4095750"/>
              </a:tblGrid>
              <a:tr h="769938">
                <a:tc>
                  <a:txBody>
                    <a:bodyPr lIns="171450" tIns="95250" rIns="152400" bIns="95250"/>
                    <a:lstStyle/>
                    <a:p>
                      <a:r>
                        <a:rPr sz="2325" b="1">
                          <a:solidFill>
                            <a:srgbClr val="FFFFFF"/>
                          </a:solidFill>
                          <a:latin typeface="Arial"/>
                          <a:ea typeface="Arial"/>
                          <a:cs typeface="Arial"/>
                        </a:rPr>
                        <a:t>Per week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Minimum € 15 + opkoop</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Alleen quotum 45</a:t>
                      </a:r>
                    </a:p>
                  </a:txBody>
                  <a:tcPr marL="91440" marR="91440" marT="45720" marB="45720" anchor="ctr">
                    <a:solidFill>
                      <a:srgbClr val="183247"/>
                    </a:solidFill>
                  </a:tcPr>
                </a:tc>
              </a:tr>
              <a:tr h="769938">
                <a:tc>
                  <a:txBody>
                    <a:bodyPr lIns="171450" tIns="95250" rIns="152400" bIns="95250"/>
                    <a:lstStyle/>
                    <a:p>
                      <a:r>
                        <a:rPr sz="2325" b="0">
                          <a:solidFill>
                            <a:srgbClr val="183247"/>
                          </a:solidFill>
                          <a:latin typeface="Arial"/>
                          <a:ea typeface="Arial"/>
                          <a:cs typeface="Arial"/>
                        </a:rPr>
                        <a:t>Verkoopprijs per pot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€ 15</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€ 15</a:t>
                      </a:r>
                    </a:p>
                  </a:txBody>
                  <a:tcPr marL="91440" marR="91440" marT="45720" marB="45720" anchor="ctr">
                    <a:solidFill>
                      <a:srgbClr val="FFFFFF"/>
                    </a:solidFill>
                  </a:tcPr>
                </a:tc>
              </a:tr>
              <a:tr h="769938">
                <a:tc>
                  <a:txBody>
                    <a:bodyPr lIns="171450" tIns="95250" rIns="152400" bIns="95250"/>
                    <a:lstStyle/>
                    <a:p>
                      <a:r>
                        <a:rPr sz="2325" b="0">
                          <a:solidFill>
                            <a:srgbClr val="183247"/>
                          </a:solidFill>
                          <a:latin typeface="Arial"/>
                          <a:ea typeface="Arial"/>
                          <a:cs typeface="Arial"/>
                        </a:rPr>
                        <a:t>Particuliere aankopen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45 potten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45 potten</a:t>
                      </a:r>
                    </a:p>
                  </a:txBody>
                  <a:tcPr marL="91440" marR="91440" marT="45720" marB="45720" anchor="ctr">
                    <a:solidFill>
                      <a:srgbClr val="EFF4F7"/>
                    </a:solidFill>
                  </a:tcPr>
                </a:tc>
              </a:tr>
              <a:tr h="769938">
                <a:tc>
                  <a:txBody>
                    <a:bodyPr lIns="171450" tIns="95250" rIns="152400" bIns="95250"/>
                    <a:lstStyle/>
                    <a:p>
                      <a:r>
                        <a:rPr sz="2325" b="0">
                          <a:solidFill>
                            <a:srgbClr val="183247"/>
                          </a:solidFill>
                          <a:latin typeface="Arial"/>
                          <a:ea typeface="Arial"/>
                          <a:cs typeface="Arial"/>
                        </a:rPr>
                        <a:t>Productie en verkoop</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90 potten</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45 potten</a:t>
                      </a:r>
                    </a:p>
                  </a:txBody>
                  <a:tcPr marL="91440" marR="91440" marT="45720" marB="45720" anchor="ctr">
                    <a:solidFill>
                      <a:srgbClr val="FFFFFF"/>
                    </a:solidFill>
                  </a:tcPr>
                </a:tc>
              </a:tr>
              <a:tr h="769938">
                <a:tc>
                  <a:txBody>
                    <a:bodyPr lIns="171450" tIns="95250" rIns="152400" bIns="95250"/>
                    <a:lstStyle/>
                    <a:p>
                      <a:r>
                        <a:rPr sz="2325" b="0">
                          <a:solidFill>
                            <a:srgbClr val="183247"/>
                          </a:solidFill>
                          <a:latin typeface="Arial"/>
                          <a:ea typeface="Arial"/>
                          <a:cs typeface="Arial"/>
                        </a:rPr>
                        <a:t>Overheidsaankopen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45 potten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0 potten</a:t>
                      </a:r>
                    </a:p>
                  </a:txBody>
                  <a:tcPr marL="91440" marR="91440" marT="45720" marB="45720" anchor="ctr">
                    <a:solidFill>
                      <a:srgbClr val="EFF4F7"/>
                    </a:solidFill>
                  </a:tcPr>
                </a:tc>
              </a:tr>
              <a:tr h="769938">
                <a:tc>
                  <a:txBody>
                    <a:bodyPr lIns="171450" tIns="95250" rIns="152400" bIns="95250"/>
                    <a:lstStyle/>
                    <a:p>
                      <a:r>
                        <a:rPr sz="2325" b="0">
                          <a:solidFill>
                            <a:srgbClr val="183247"/>
                          </a:solidFill>
                          <a:latin typeface="Arial"/>
                          <a:ea typeface="Arial"/>
                          <a:cs typeface="Arial"/>
                        </a:rPr>
                        <a:t>Overheidsuitgaven</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€ 675</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€ 0</a:t>
                      </a:r>
                    </a:p>
                  </a:txBody>
                  <a:tcPr marL="91440" marR="91440" marT="45720" marB="45720" anchor="ctr">
                    <a:solidFill>
                      <a:srgbClr val="FFFFFF"/>
                    </a:solidFill>
                  </a:tcPr>
                </a:tc>
              </a:tr>
            </a:tbl>
          </a:graphicData>
        </a:graphic>
      </p:graphicFrame>
      <p:sp>
        <p:nvSpPr>
          <p:cNvPr id="6" name="De aankoopregel en productiegrens bepalen de verschillen.">
            <a:extLst xmlns:a="http://schemas.openxmlformats.org/drawingml/2006/main">
              <a:ext uri="{FF2B5EF4-FFF2-40B4-BE49-F238E27FC236}">
                <a16:creationId xmlns:a16="http://schemas.microsoft.com/office/drawing/2014/main" id="{67E1482E-7210-41B1-8CDB-DA21010B8FFD}"/>
              </a:ext>
            </a:extLst>
          </p:cNvPr>
          <p:cNvSpPr>
            <a:spLocks xmlns:a="http://schemas.openxmlformats.org/drawingml/2006/main" noGrp="1"/>
          </p:cNvSpPr>
          <p:nvPr/>
        </p:nvSpPr>
        <p:spPr>
          <a:xfrm xmlns:a="http://schemas.openxmlformats.org/drawingml/2006/main">
            <a:off x="571500" y="72390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De aankoopregel en productiegrens bepalen de verschillen.</a:t>
            </a:r>
          </a:p>
        </p:txBody>
      </p:sp>
    </p:spTree>
    <p:extLst>
      <p:ext uri="{BB962C8B-B14F-4D97-AF65-F5344CB8AC3E}">
        <p14:creationId xmlns:p14="http://schemas.microsoft.com/office/powerpoint/2010/main" val="10811302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5 Minimumprijs en quota">
            <a:extLst xmlns:a="http://schemas.openxmlformats.org/drawingml/2006/main">
              <a:ext uri="{FF2B5EF4-FFF2-40B4-BE49-F238E27FC236}">
                <a16:creationId xmlns:a16="http://schemas.microsoft.com/office/drawing/2014/main" id="{AC1983CB-D64D-42D0-B593-107896A15BB5}"/>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§3.1.5 Minimumprijs en quota</a:t>
            </a:r>
          </a:p>
        </p:txBody>
      </p:sp>
      <p:sp>
        <p:nvSpPr>
          <p:cNvPr id="2" name="">
            <a:extLst xmlns:a="http://schemas.openxmlformats.org/drawingml/2006/main">
              <a:ext uri="{FF2B5EF4-FFF2-40B4-BE49-F238E27FC236}">
                <a16:creationId xmlns:a16="http://schemas.microsoft.com/office/drawing/2014/main" id="{34BF012E-17BE-4450-9E48-4C1A3591E54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Minimumprijs en quota">
            <a:extLst xmlns:a="http://schemas.openxmlformats.org/drawingml/2006/main">
              <a:ext uri="{FF2B5EF4-FFF2-40B4-BE49-F238E27FC236}">
                <a16:creationId xmlns:a16="http://schemas.microsoft.com/office/drawing/2014/main" id="{24F68D92-60CD-4692-90D4-E01C51D1D6F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Minimumprijs en quota</a:t>
            </a:r>
          </a:p>
        </p:txBody>
      </p:sp>
      <p:sp>
        <p:nvSpPr>
          <p:cNvPr id="4" name="15">
            <a:extLst xmlns:a="http://schemas.openxmlformats.org/drawingml/2006/main">
              <a:ext uri="{FF2B5EF4-FFF2-40B4-BE49-F238E27FC236}">
                <a16:creationId xmlns:a16="http://schemas.microsoft.com/office/drawing/2014/main" id="{7B0B5C53-16DC-42BC-8D93-26681520BF7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9FA12E64-09FA-44FE-B5C4-8063532F1535}"/>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EFB7FF02-B3CA-4BCC-9119-631F99CA076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CE261FCC-8A16-4F25-A20A-4F65C1D055B7}"/>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A7E1FA9D-1E8B-4695-A15D-F963BF0E768A}"/>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98AC6A84-0E0A-4EE0-8AE4-493B906CA81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0F5E1CB4-0C05-4002-BBAB-9AC14DF78D8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9BC2BB9E-75CC-4455-83E5-14964318B76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1FBD3E1-EC58-4265-B001-649FA46186A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ADFB1C00-C191-4F95-A5F6-002FBFA5DD69}"/>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F33FD35F-7F10-4432-B867-CF4A6D3C3340}"/>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862246C-02DF-4F79-9D74-85BABB88E31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C90EAD1-8AB2-4B71-873C-C804966B885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8C9336D4-05F6-47CA-8FF0-3076A65B858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B3057C8-7782-4BF3-8F94-5978465FB137}"/>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43.</a:t>
            </a:r>
          </a:p>
        </p:txBody>
      </p:sp>
      <p:sp>
        <p:nvSpPr>
          <p:cNvPr id="19" name="route-number-7">
            <a:extLst xmlns:a="http://schemas.openxmlformats.org/drawingml/2006/main">
              <a:ext uri="{FF2B5EF4-FFF2-40B4-BE49-F238E27FC236}">
                <a16:creationId xmlns:a16="http://schemas.microsoft.com/office/drawing/2014/main" id="{D11ADF58-34EB-47BA-B148-7933DEA3934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0E2378A-D749-4759-B094-4B39C4C6B730}"/>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31BDF72-8FAE-4E7A-B84D-62658F67C9FE}"/>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91DAAAD-2B41-42D7-B03A-B36E5D98AA1C}"/>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Binding en overschot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Opkoop en uitgaven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quotum ermee vergelijken.</a:t>
            </a:r>
          </a:p>
        </p:txBody>
      </p:sp>
      <p:sp>
        <p:nvSpPr>
          <p:cNvPr id="23" name="">
            <a:extLst xmlns:a="http://schemas.openxmlformats.org/drawingml/2006/main">
              <a:ext uri="{FF2B5EF4-FFF2-40B4-BE49-F238E27FC236}">
                <a16:creationId xmlns:a16="http://schemas.microsoft.com/office/drawing/2014/main" id="{2D38D7C3-0C4E-4F99-90CA-1FE445D32F7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35A89A1-F13F-4130-8BE5-E462B45BFD5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D3ED6204-F070-4D1E-8943-AF726D2EEEEB}"/>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42 · Opgaven 37 en 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Verkennen met theorie p. 39–40</a:t>
            </a:r>
          </a:p>
        </p:txBody>
      </p:sp>
      <p:sp>
        <p:nvSpPr>
          <p:cNvPr id="26" name="">
            <a:extLst xmlns:a="http://schemas.openxmlformats.org/drawingml/2006/main">
              <a:ext uri="{FF2B5EF4-FFF2-40B4-BE49-F238E27FC236}">
                <a16:creationId xmlns:a16="http://schemas.microsoft.com/office/drawing/2014/main" id="{CFED3B76-388F-46B6-8D5B-63F73CF3A55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8C1838A-6E12-4EFD-90CA-75BE781EC3D3}"/>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A7000CF-32D8-4244-B969-3C4031F5D8A6}"/>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§3.1.5 Minimumprijs en quota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39, 40 en 40A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41 en 42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115993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3 · Paddenstoelen in kratten">
            <a:extLst xmlns:a="http://schemas.openxmlformats.org/drawingml/2006/main">
              <a:ext uri="{FF2B5EF4-FFF2-40B4-BE49-F238E27FC236}">
                <a16:creationId xmlns:a16="http://schemas.microsoft.com/office/drawing/2014/main" id="{1A0D348F-B4A5-46CB-B017-A70A85BD9538}"/>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 · Paddenstoelen in kratten</a:t>
            </a:r>
          </a:p>
        </p:txBody>
      </p:sp>
      <p:sp>
        <p:nvSpPr>
          <p:cNvPr id="2" name="">
            <a:extLst xmlns:a="http://schemas.openxmlformats.org/drawingml/2006/main">
              <a:ext uri="{FF2B5EF4-FFF2-40B4-BE49-F238E27FC236}">
                <a16:creationId xmlns:a16="http://schemas.microsoft.com/office/drawing/2014/main" id="{E13A7457-B89F-482B-AD43-FE57730F89A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ABD5301A-9E1C-4794-B950-9E6E43134AA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16">
            <a:extLst xmlns:a="http://schemas.openxmlformats.org/drawingml/2006/main">
              <a:ext uri="{FF2B5EF4-FFF2-40B4-BE49-F238E27FC236}">
                <a16:creationId xmlns:a16="http://schemas.microsoft.com/office/drawing/2014/main" id="{DEDCF5BD-BDB8-4C3B-AE82-4968B43898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Vraag: P = 20 − 0,10Q&#10;Aanbod: P = 8 + 0,10Q">
            <a:extLst xmlns:a="http://schemas.openxmlformats.org/drawingml/2006/main">
              <a:ext uri="{FF2B5EF4-FFF2-40B4-BE49-F238E27FC236}">
                <a16:creationId xmlns:a16="http://schemas.microsoft.com/office/drawing/2014/main" id="{85725249-50C8-458C-8658-4149FE4BF999}"/>
              </a:ext>
            </a:extLst>
          </p:cNvPr>
          <p:cNvSpPr>
            <a:spLocks xmlns:a="http://schemas.openxmlformats.org/drawingml/2006/main" noGrp="1"/>
          </p:cNvSpPr>
          <p:nvPr/>
        </p:nvSpPr>
        <p:spPr>
          <a:xfrm xmlns:a="http://schemas.openxmlformats.org/drawingml/2006/main">
            <a:off x="571500" y="194310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A5276"/>
                </a:solidFill>
                <a:latin typeface="Arial"/>
                <a:ea typeface="Arial"/>
                <a:cs typeface="Arial"/>
              </a:defRPr>
            </a:pPr>
            <a:r>
              <a:rPr sz="3525" b="1">
                <a:solidFill>
                  <a:srgbClr val="1A5276"/>
                </a:solidFill>
                <a:latin typeface="Arial"/>
                <a:ea typeface="Arial"/>
                <a:cs typeface="Arial"/>
              </a:rPr>
              <a:t>Vraag: P = 20 − 0,10Q</a:t>
            </a:r>
          </a:p>
          <a:p xmlns:a="http://schemas.openxmlformats.org/drawingml/2006/main">
            <a:pPr algn="l">
              <a:defRPr sz="3525" b="1">
                <a:solidFill>
                  <a:srgbClr val="1A5276"/>
                </a:solidFill>
                <a:latin typeface="Arial"/>
                <a:ea typeface="Arial"/>
                <a:cs typeface="Arial"/>
              </a:defRPr>
            </a:pPr>
            <a:r>
              <a:rPr sz="3525" b="1">
                <a:solidFill>
                  <a:srgbClr val="1A5276"/>
                </a:solidFill>
                <a:latin typeface="Arial"/>
                <a:ea typeface="Arial"/>
                <a:cs typeface="Arial"/>
              </a:rPr>
              <a:t>Aanbod: P = 8 + 0,10Q</a:t>
            </a:r>
          </a:p>
        </p:txBody>
      </p:sp>
      <p:sp>
        <p:nvSpPr>
          <p:cNvPr id="6" name="Q is kratten per week. P is euro per krat.">
            <a:extLst xmlns:a="http://schemas.openxmlformats.org/drawingml/2006/main">
              <a:ext uri="{FF2B5EF4-FFF2-40B4-BE49-F238E27FC236}">
                <a16:creationId xmlns:a16="http://schemas.microsoft.com/office/drawing/2014/main" id="{4A35FCF3-2FAA-421C-9F0A-C5B73C4E924D}"/>
              </a:ext>
            </a:extLst>
          </p:cNvPr>
          <p:cNvSpPr>
            <a:spLocks xmlns:a="http://schemas.openxmlformats.org/drawingml/2006/main" noGrp="1"/>
          </p:cNvSpPr>
          <p:nvPr/>
        </p:nvSpPr>
        <p:spPr>
          <a:xfrm xmlns:a="http://schemas.openxmlformats.org/drawingml/2006/main">
            <a:off x="571500" y="38481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Q is kratten per week. P is euro per krat.</a:t>
            </a:r>
          </a:p>
        </p:txBody>
      </p:sp>
      <p:sp>
        <p:nvSpPr>
          <p:cNvPr id="7" name="Regeling A voert een minimumprijs van € 16 in.&#10;De overheid k">
            <a:extLst xmlns:a="http://schemas.openxmlformats.org/drawingml/2006/main">
              <a:ext uri="{FF2B5EF4-FFF2-40B4-BE49-F238E27FC236}">
                <a16:creationId xmlns:a16="http://schemas.microsoft.com/office/drawing/2014/main" id="{FFB1F7C2-A987-4782-9456-8E9C0D874228}"/>
              </a:ext>
            </a:extLst>
          </p:cNvPr>
          <p:cNvSpPr>
            <a:spLocks xmlns:a="http://schemas.openxmlformats.org/drawingml/2006/main" noGrp="1"/>
          </p:cNvSpPr>
          <p:nvPr/>
        </p:nvSpPr>
        <p:spPr>
          <a:xfrm xmlns:a="http://schemas.openxmlformats.org/drawingml/2006/main">
            <a:off x="571500" y="5010150"/>
            <a:ext cx="14097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Regeling A voert een minimumprijs van € 16 in.</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overheid koopt elk aangeboden krat dat particulieren niet kopen, tegen € 16.</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telers leveren samen de aangeboden hoeveelheid.</a:t>
            </a:r>
          </a:p>
        </p:txBody>
      </p:sp>
    </p:spTree>
    <p:extLst>
      <p:ext uri="{BB962C8B-B14F-4D97-AF65-F5344CB8AC3E}">
        <p14:creationId xmlns:p14="http://schemas.microsoft.com/office/powerpoint/2010/main" val="1921047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43 · De basisgrafiek">
            <a:extLst xmlns:a="http://schemas.openxmlformats.org/drawingml/2006/main">
              <a:ext uri="{FF2B5EF4-FFF2-40B4-BE49-F238E27FC236}">
                <a16:creationId xmlns:a16="http://schemas.microsoft.com/office/drawing/2014/main" id="{97B1237E-0905-4060-B25F-5C5358B20529}"/>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 · De basisgrafiek</a:t>
            </a:r>
          </a:p>
        </p:txBody>
      </p:sp>
      <p:sp>
        <p:nvSpPr>
          <p:cNvPr id="2" name="">
            <a:extLst xmlns:a="http://schemas.openxmlformats.org/drawingml/2006/main">
              <a:ext uri="{FF2B5EF4-FFF2-40B4-BE49-F238E27FC236}">
                <a16:creationId xmlns:a16="http://schemas.microsoft.com/office/drawing/2014/main" id="{B919DD86-58DD-4157-AB19-F1867CEE86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A9CC1D25-9C1E-4D73-B806-94F2E1BEE95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17">
            <a:extLst xmlns:a="http://schemas.openxmlformats.org/drawingml/2006/main">
              <a:ext uri="{FF2B5EF4-FFF2-40B4-BE49-F238E27FC236}">
                <a16:creationId xmlns:a16="http://schemas.microsoft.com/office/drawing/2014/main" id="{89490540-54D9-41F8-BC8F-9BF686445A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V: P = 20 − 0,10Q     A: P = 8 + 0,10Q">
            <a:extLst xmlns:a="http://schemas.openxmlformats.org/drawingml/2006/main">
              <a:ext uri="{FF2B5EF4-FFF2-40B4-BE49-F238E27FC236}">
                <a16:creationId xmlns:a16="http://schemas.microsoft.com/office/drawing/2014/main" id="{C336B8C5-C154-4CC3-8454-5FD9B01820B7}"/>
              </a:ext>
            </a:extLst>
          </p:cNvPr>
          <p:cNvSpPr>
            <a:spLocks xmlns:a="http://schemas.openxmlformats.org/drawingml/2006/main" noGrp="1"/>
          </p:cNvSpPr>
          <p:nvPr/>
        </p:nvSpPr>
        <p:spPr>
          <a:xfrm xmlns:a="http://schemas.openxmlformats.org/drawingml/2006/main">
            <a:off x="571500" y="16954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 P = 20 − 0,10Q     A: P = 8 + 0,10Q</a:t>
            </a:r>
          </a:p>
        </p:txBody>
      </p:sp>
      <p:graphicFrame>
        <p:nvGraphicFramePr>
          <p:cNvPr id="12" name="Chart"/>
          <p:cNvGraphicFramePr/>
          <p:nvPr/>
        </p:nvGraphicFramePr>
        <p:xfrm>
          <a:off xmlns:a="http://schemas.openxmlformats.org/drawingml/2006/main" x="571500" y="2266950"/>
          <a:ext xmlns:a="http://schemas.openxmlformats.org/drawingml/2006/main" cx="14001750" cy="5410200"/>
        </p:xfrm>
        <a:graphic xmlns:a="http://schemas.openxmlformats.org/drawingml/2006/main">
          <a:graphicData uri="http://schemas.openxmlformats.org/drawingml/2006/chart">
            <c:chart xmlns:r="http://schemas.openxmlformats.org/officeDocument/2006/relationships" xmlns:c="http://schemas.openxmlformats.org/drawingml/2006/chart" r:id="Re4a31e2e83a84a7b"/>
          </a:graphicData>
        </a:graphic>
      </p:graphicFrame>
    </p:spTree>
    <p:extLst>
      <p:ext uri="{BB962C8B-B14F-4D97-AF65-F5344CB8AC3E}">
        <p14:creationId xmlns:p14="http://schemas.microsoft.com/office/powerpoint/2010/main" val="21049709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43 · Deelvragen a, b en c">
            <a:extLst xmlns:a="http://schemas.openxmlformats.org/drawingml/2006/main">
              <a:ext uri="{FF2B5EF4-FFF2-40B4-BE49-F238E27FC236}">
                <a16:creationId xmlns:a16="http://schemas.microsoft.com/office/drawing/2014/main" id="{D46CEF92-8A96-4C74-AC84-D4F391704BEC}"/>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 · Deelvragen a, b en c</a:t>
            </a:r>
          </a:p>
        </p:txBody>
      </p:sp>
      <p:sp>
        <p:nvSpPr>
          <p:cNvPr id="2" name="">
            <a:extLst xmlns:a="http://schemas.openxmlformats.org/drawingml/2006/main">
              <a:ext uri="{FF2B5EF4-FFF2-40B4-BE49-F238E27FC236}">
                <a16:creationId xmlns:a16="http://schemas.microsoft.com/office/drawing/2014/main" id="{A2E475D1-48A0-45B4-A8DC-25F43A4614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4C93CBC0-2452-4F33-8946-759E050163F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18">
            <a:extLst xmlns:a="http://schemas.openxmlformats.org/drawingml/2006/main">
              <a:ext uri="{FF2B5EF4-FFF2-40B4-BE49-F238E27FC236}">
                <a16:creationId xmlns:a16="http://schemas.microsoft.com/office/drawing/2014/main" id="{914F9896-6007-4857-A1A7-106C62C4293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a:extLst xmlns:a="http://schemas.openxmlformats.org/drawingml/2006/main">
              <a:ext uri="{FF2B5EF4-FFF2-40B4-BE49-F238E27FC236}">
                <a16:creationId xmlns:a16="http://schemas.microsoft.com/office/drawing/2014/main" id="{5AB7B2F9-B24C-4CCE-987A-E405474FAAA9}"/>
              </a:ext>
            </a:extLst>
          </p:cNvPr>
          <p:cNvSpPr>
            <a:spLocks xmlns:a="http://schemas.openxmlformats.org/drawingml/2006/main" noGrp="1"/>
          </p:cNvSpPr>
          <p:nvPr/>
        </p:nvSpPr>
        <p:spPr>
          <a:xfrm xmlns:a="http://schemas.openxmlformats.org/drawingml/2006/main">
            <a:off x="571500" y="197167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a.</a:t>
            </a:r>
          </a:p>
        </p:txBody>
      </p:sp>
      <p:sp>
        <p:nvSpPr>
          <p:cNvPr id="6" name="Bereken het vrije evenwicht en leg uit of de minimumprijs bi">
            <a:extLst xmlns:a="http://schemas.openxmlformats.org/drawingml/2006/main">
              <a:ext uri="{FF2B5EF4-FFF2-40B4-BE49-F238E27FC236}">
                <a16:creationId xmlns:a16="http://schemas.microsoft.com/office/drawing/2014/main" id="{75FAAEC5-D31F-430F-B2EA-EBD9667B8544}"/>
              </a:ext>
            </a:extLst>
          </p:cNvPr>
          <p:cNvSpPr>
            <a:spLocks xmlns:a="http://schemas.openxmlformats.org/drawingml/2006/main" noGrp="1"/>
          </p:cNvSpPr>
          <p:nvPr/>
        </p:nvSpPr>
        <p:spPr>
          <a:xfrm xmlns:a="http://schemas.openxmlformats.org/drawingml/2006/main">
            <a:off x="1619250" y="1971675"/>
            <a:ext cx="12858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het vrije evenwicht en leg uit of de minimumprijs bindt.</a:t>
            </a:r>
          </a:p>
        </p:txBody>
      </p:sp>
      <p:sp>
        <p:nvSpPr>
          <p:cNvPr id="7" name="b.">
            <a:extLst xmlns:a="http://schemas.openxmlformats.org/drawingml/2006/main">
              <a:ext uri="{FF2B5EF4-FFF2-40B4-BE49-F238E27FC236}">
                <a16:creationId xmlns:a16="http://schemas.microsoft.com/office/drawing/2014/main" id="{3CDFC0B2-CF56-48D8-846A-A0E056F73ED4}"/>
              </a:ext>
            </a:extLst>
          </p:cNvPr>
          <p:cNvSpPr>
            <a:spLocks xmlns:a="http://schemas.openxmlformats.org/drawingml/2006/main" noGrp="1"/>
          </p:cNvSpPr>
          <p:nvPr/>
        </p:nvSpPr>
        <p:spPr>
          <a:xfrm xmlns:a="http://schemas.openxmlformats.org/drawingml/2006/main">
            <a:off x="571500" y="39052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b.</a:t>
            </a:r>
          </a:p>
        </p:txBody>
      </p:sp>
      <p:sp>
        <p:nvSpPr>
          <p:cNvPr id="8" name="Bereken bij € 16 de particuliere vraag, het aanbod, het aanb">
            <a:extLst xmlns:a="http://schemas.openxmlformats.org/drawingml/2006/main">
              <a:ext uri="{FF2B5EF4-FFF2-40B4-BE49-F238E27FC236}">
                <a16:creationId xmlns:a16="http://schemas.microsoft.com/office/drawing/2014/main" id="{2FBA067C-5C7F-452C-A7BD-F5EA10D5AA91}"/>
              </a:ext>
            </a:extLst>
          </p:cNvPr>
          <p:cNvSpPr>
            <a:spLocks xmlns:a="http://schemas.openxmlformats.org/drawingml/2006/main" noGrp="1"/>
          </p:cNvSpPr>
          <p:nvPr/>
        </p:nvSpPr>
        <p:spPr>
          <a:xfrm xmlns:a="http://schemas.openxmlformats.org/drawingml/2006/main">
            <a:off x="1619250" y="3905250"/>
            <a:ext cx="12858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bij € 16 de particuliere vraag, het aanbod, het aanbodoverschot en de totale verkoop door telers.</a:t>
            </a:r>
          </a:p>
        </p:txBody>
      </p:sp>
      <p:sp>
        <p:nvSpPr>
          <p:cNvPr id="9" name="c.">
            <a:extLst xmlns:a="http://schemas.openxmlformats.org/drawingml/2006/main">
              <a:ext uri="{FF2B5EF4-FFF2-40B4-BE49-F238E27FC236}">
                <a16:creationId xmlns:a16="http://schemas.microsoft.com/office/drawing/2014/main" id="{7F0E01EE-4E19-45A5-A0FE-20D078B1D37E}"/>
              </a:ext>
            </a:extLst>
          </p:cNvPr>
          <p:cNvSpPr>
            <a:spLocks xmlns:a="http://schemas.openxmlformats.org/drawingml/2006/main" noGrp="1"/>
          </p:cNvSpPr>
          <p:nvPr/>
        </p:nvSpPr>
        <p:spPr>
          <a:xfrm xmlns:a="http://schemas.openxmlformats.org/drawingml/2006/main">
            <a:off x="571500" y="58388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c.</a:t>
            </a:r>
          </a:p>
        </p:txBody>
      </p:sp>
      <p:sp>
        <p:nvSpPr>
          <p:cNvPr id="10" name="Bereken de overheidsaankopen en de overheidsuitgaven per wee">
            <a:extLst xmlns:a="http://schemas.openxmlformats.org/drawingml/2006/main">
              <a:ext uri="{FF2B5EF4-FFF2-40B4-BE49-F238E27FC236}">
                <a16:creationId xmlns:a16="http://schemas.microsoft.com/office/drawing/2014/main" id="{36120041-301E-4B65-AFCB-1396F00C71E7}"/>
              </a:ext>
            </a:extLst>
          </p:cNvPr>
          <p:cNvSpPr>
            <a:spLocks xmlns:a="http://schemas.openxmlformats.org/drawingml/2006/main" noGrp="1"/>
          </p:cNvSpPr>
          <p:nvPr/>
        </p:nvSpPr>
        <p:spPr>
          <a:xfrm xmlns:a="http://schemas.openxmlformats.org/drawingml/2006/main">
            <a:off x="1619250" y="5838825"/>
            <a:ext cx="12858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de overheidsaankopen en de overheidsuitgaven per week. Markeer in de grafiek Pmin, Qv, Qa en de uitgavenrechthoek.</a:t>
            </a:r>
          </a:p>
        </p:txBody>
      </p:sp>
    </p:spTree>
    <p:extLst>
      <p:ext uri="{BB962C8B-B14F-4D97-AF65-F5344CB8AC3E}">
        <p14:creationId xmlns:p14="http://schemas.microsoft.com/office/powerpoint/2010/main" val="19375424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3 · Deelvragen d en e">
            <a:extLst xmlns:a="http://schemas.openxmlformats.org/drawingml/2006/main">
              <a:ext uri="{FF2B5EF4-FFF2-40B4-BE49-F238E27FC236}">
                <a16:creationId xmlns:a16="http://schemas.microsoft.com/office/drawing/2014/main" id="{3BD40DC1-99BE-40C2-B684-BC14731EE289}"/>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 · Deelvragen d en e</a:t>
            </a:r>
          </a:p>
        </p:txBody>
      </p:sp>
      <p:sp>
        <p:nvSpPr>
          <p:cNvPr id="2" name="">
            <a:extLst xmlns:a="http://schemas.openxmlformats.org/drawingml/2006/main">
              <a:ext uri="{FF2B5EF4-FFF2-40B4-BE49-F238E27FC236}">
                <a16:creationId xmlns:a16="http://schemas.microsoft.com/office/drawing/2014/main" id="{D2F5ED5A-E32F-43F2-9448-DCDD632AC9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D05F7AF8-DC87-411A-AD35-FBB3DA7D36E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19">
            <a:extLst xmlns:a="http://schemas.openxmlformats.org/drawingml/2006/main">
              <a:ext uri="{FF2B5EF4-FFF2-40B4-BE49-F238E27FC236}">
                <a16:creationId xmlns:a16="http://schemas.microsoft.com/office/drawing/2014/main" id="{3564A8B6-6A09-42BF-BBBB-B3A53D4E949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
            <a:extLst xmlns:a="http://schemas.openxmlformats.org/drawingml/2006/main">
              <a:ext uri="{FF2B5EF4-FFF2-40B4-BE49-F238E27FC236}">
                <a16:creationId xmlns:a16="http://schemas.microsoft.com/office/drawing/2014/main" id="{CF272880-2564-4253-91CA-365890906DA1}"/>
              </a:ext>
            </a:extLst>
          </p:cNvPr>
          <p:cNvSpPr>
            <a:spLocks xmlns:a="http://schemas.openxmlformats.org/drawingml/2006/main" noGrp="1"/>
          </p:cNvSpPr>
          <p:nvPr/>
        </p:nvSpPr>
        <p:spPr>
          <a:xfrm xmlns:a="http://schemas.openxmlformats.org/drawingml/2006/main">
            <a:off x="571500" y="19907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d.</a:t>
            </a:r>
          </a:p>
        </p:txBody>
      </p:sp>
      <p:sp>
        <p:nvSpPr>
          <p:cNvPr id="6" name="Regeling B vervangt A volledig: een productiequotum van 40 k">
            <a:extLst xmlns:a="http://schemas.openxmlformats.org/drawingml/2006/main">
              <a:ext uri="{FF2B5EF4-FFF2-40B4-BE49-F238E27FC236}">
                <a16:creationId xmlns:a16="http://schemas.microsoft.com/office/drawing/2014/main" id="{DF682A06-884D-4022-B5E9-71B9FCBB624A}"/>
              </a:ext>
            </a:extLst>
          </p:cNvPr>
          <p:cNvSpPr>
            <a:spLocks xmlns:a="http://schemas.openxmlformats.org/drawingml/2006/main" noGrp="1"/>
          </p:cNvSpPr>
          <p:nvPr/>
        </p:nvSpPr>
        <p:spPr>
          <a:xfrm xmlns:a="http://schemas.openxmlformats.org/drawingml/2006/main">
            <a:off x="1619250" y="1990725"/>
            <a:ext cx="12858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Regeling B vervangt A volledig: een productiequotum van 40 kratten. Alle 40 worden verkocht; de rechten zijn gratis verdeeld en de overheid koopt niets. Bereken de marktprijs, totale productie en overheidsuitgaven.</a:t>
            </a:r>
          </a:p>
        </p:txBody>
      </p:sp>
      <p:sp>
        <p:nvSpPr>
          <p:cNvPr id="7" name="">
            <a:extLst xmlns:a="http://schemas.openxmlformats.org/drawingml/2006/main">
              <a:ext uri="{FF2B5EF4-FFF2-40B4-BE49-F238E27FC236}">
                <a16:creationId xmlns:a16="http://schemas.microsoft.com/office/drawing/2014/main" id="{187B86A8-F1CB-4439-8E1C-5DC1D7105B3A}"/>
              </a:ext>
            </a:extLst>
          </p:cNvPr>
          <p:cNvSpPr>
            <a:spLocks xmlns:a="http://schemas.openxmlformats.org/drawingml/2006/main" noGrp="1"/>
          </p:cNvSpPr>
          <p:nvPr/>
        </p:nvSpPr>
        <p:spPr>
          <a:xfrm xmlns:a="http://schemas.openxmlformats.org/drawingml/2006/main">
            <a:off x="571500" y="5133975"/>
            <a:ext cx="14097000" cy="0"/>
          </a:xfrm>
          <a:prstGeom xmlns:a="http://schemas.openxmlformats.org/drawingml/2006/main" prst="line">
            <a:avLst/>
          </a:prstGeom>
          <a:ln xmlns:a="http://schemas.openxmlformats.org/drawingml/2006/main" w="19050">
            <a:solidFill>
              <a:srgbClr val="C6D2DB"/>
            </a:solidFill>
          </a:ln>
        </p:spPr>
      </p:sp>
      <p:sp>
        <p:nvSpPr>
          <p:cNvPr id="8" name="e.">
            <a:extLst xmlns:a="http://schemas.openxmlformats.org/drawingml/2006/main">
              <a:ext uri="{FF2B5EF4-FFF2-40B4-BE49-F238E27FC236}">
                <a16:creationId xmlns:a16="http://schemas.microsoft.com/office/drawing/2014/main" id="{900B1831-8153-4D58-88BD-09598F6C7A48}"/>
              </a:ext>
            </a:extLst>
          </p:cNvPr>
          <p:cNvSpPr>
            <a:spLocks xmlns:a="http://schemas.openxmlformats.org/drawingml/2006/main" noGrp="1"/>
          </p:cNvSpPr>
          <p:nvPr/>
        </p:nvSpPr>
        <p:spPr>
          <a:xfrm xmlns:a="http://schemas.openxmlformats.org/drawingml/2006/main">
            <a:off x="571500" y="56007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e.</a:t>
            </a:r>
          </a:p>
        </p:txBody>
      </p:sp>
      <p:sp>
        <p:nvSpPr>
          <p:cNvPr id="9" name="Een teler zegt: “Omdat beide regelingen dezelfde prijs geven">
            <a:extLst xmlns:a="http://schemas.openxmlformats.org/drawingml/2006/main">
              <a:ext uri="{FF2B5EF4-FFF2-40B4-BE49-F238E27FC236}">
                <a16:creationId xmlns:a16="http://schemas.microsoft.com/office/drawing/2014/main" id="{CE528CAD-79E2-4AEC-8CE5-8F34822AF43D}"/>
              </a:ext>
            </a:extLst>
          </p:cNvPr>
          <p:cNvSpPr>
            <a:spLocks xmlns:a="http://schemas.openxmlformats.org/drawingml/2006/main" noGrp="1"/>
          </p:cNvSpPr>
          <p:nvPr/>
        </p:nvSpPr>
        <p:spPr>
          <a:xfrm xmlns:a="http://schemas.openxmlformats.org/drawingml/2006/main">
            <a:off x="1619250" y="5600700"/>
            <a:ext cx="1285875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Een teler zegt: “Omdat beide regelingen dezelfde prijs geven, zijn ze economisch hetzelfde.” Beoordeel met twee berekende verschillen.</a:t>
            </a:r>
          </a:p>
        </p:txBody>
      </p:sp>
    </p:spTree>
    <p:extLst>
      <p:ext uri="{BB962C8B-B14F-4D97-AF65-F5344CB8AC3E}">
        <p14:creationId xmlns:p14="http://schemas.microsoft.com/office/powerpoint/2010/main" val="105042518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3a · Vrij evenwicht en binding">
            <a:extLst xmlns:a="http://schemas.openxmlformats.org/drawingml/2006/main">
              <a:ext uri="{FF2B5EF4-FFF2-40B4-BE49-F238E27FC236}">
                <a16:creationId xmlns:a16="http://schemas.microsoft.com/office/drawing/2014/main" id="{747FE8BA-8A7D-4230-84E5-243650469628}"/>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43a · Vrij evenwicht en binding</a:t>
            </a:r>
          </a:p>
        </p:txBody>
      </p:sp>
      <p:sp>
        <p:nvSpPr>
          <p:cNvPr id="2" name="">
            <a:extLst xmlns:a="http://schemas.openxmlformats.org/drawingml/2006/main">
              <a:ext uri="{FF2B5EF4-FFF2-40B4-BE49-F238E27FC236}">
                <a16:creationId xmlns:a16="http://schemas.microsoft.com/office/drawing/2014/main" id="{2E6CEB36-12B6-432E-A449-2D24362D49C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1347C740-E1B8-41B3-A0AA-5F2B56C526F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20">
            <a:extLst xmlns:a="http://schemas.openxmlformats.org/drawingml/2006/main">
              <a:ext uri="{FF2B5EF4-FFF2-40B4-BE49-F238E27FC236}">
                <a16:creationId xmlns:a16="http://schemas.microsoft.com/office/drawing/2014/main" id="{18161137-1246-477E-A7C0-BC5FBC2EFA6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20 − 0,10Q = 8 + 0,10Q&#10;12 = 0,20Q&#10;Q₀ = 60 kratten per week">
            <a:extLst xmlns:a="http://schemas.openxmlformats.org/drawingml/2006/main">
              <a:ext uri="{FF2B5EF4-FFF2-40B4-BE49-F238E27FC236}">
                <a16:creationId xmlns:a16="http://schemas.microsoft.com/office/drawing/2014/main" id="{AA7DF4DF-97DC-4466-9F35-B896AC28CC7B}"/>
              </a:ext>
            </a:extLst>
          </p:cNvPr>
          <p:cNvSpPr>
            <a:spLocks xmlns:a="http://schemas.openxmlformats.org/drawingml/2006/main" noGrp="1"/>
          </p:cNvSpPr>
          <p:nvPr/>
        </p:nvSpPr>
        <p:spPr>
          <a:xfrm xmlns:a="http://schemas.openxmlformats.org/drawingml/2006/main">
            <a:off x="571500" y="2066925"/>
            <a:ext cx="140970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20 − 0,10Q = 8 + 0,10Q</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12 = 0,20Q</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Q₀ = 60 kratten per week</a:t>
            </a:r>
          </a:p>
        </p:txBody>
      </p:sp>
      <p:sp>
        <p:nvSpPr>
          <p:cNvPr id="6" name="P₀ = 20 − 0,10 × 60 = € 14 per krat">
            <a:extLst xmlns:a="http://schemas.openxmlformats.org/drawingml/2006/main">
              <a:ext uri="{FF2B5EF4-FFF2-40B4-BE49-F238E27FC236}">
                <a16:creationId xmlns:a16="http://schemas.microsoft.com/office/drawing/2014/main" id="{DE134AA6-6DD0-4072-86B8-AACD8B73104B}"/>
              </a:ext>
            </a:extLst>
          </p:cNvPr>
          <p:cNvSpPr>
            <a:spLocks xmlns:a="http://schemas.openxmlformats.org/drawingml/2006/main" noGrp="1"/>
          </p:cNvSpPr>
          <p:nvPr/>
        </p:nvSpPr>
        <p:spPr>
          <a:xfrm xmlns:a="http://schemas.openxmlformats.org/drawingml/2006/main">
            <a:off x="571500" y="49053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P₀ = 20 − 0,10 × 60 = € 14 per krat</a:t>
            </a:r>
          </a:p>
        </p:txBody>
      </p:sp>
      <p:sp>
        <p:nvSpPr>
          <p:cNvPr id="7" name="€ 16 &gt; € 14: de minimumprijs bindt.&#10;De vrije prijs ligt onde">
            <a:extLst xmlns:a="http://schemas.openxmlformats.org/drawingml/2006/main">
              <a:ext uri="{FF2B5EF4-FFF2-40B4-BE49-F238E27FC236}">
                <a16:creationId xmlns:a16="http://schemas.microsoft.com/office/drawing/2014/main" id="{DE1B1BEE-8B3D-4E69-8671-9FEBA760F925}"/>
              </a:ext>
            </a:extLst>
          </p:cNvPr>
          <p:cNvSpPr>
            <a:spLocks xmlns:a="http://schemas.openxmlformats.org/drawingml/2006/main" noGrp="1"/>
          </p:cNvSpPr>
          <p:nvPr/>
        </p:nvSpPr>
        <p:spPr>
          <a:xfrm xmlns:a="http://schemas.openxmlformats.org/drawingml/2006/main">
            <a:off x="571500" y="6362700"/>
            <a:ext cx="14097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€ 16 &gt; € 14: de minimumprijs bindt.</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vrije prijs ligt onder de toegestane ondergrens.</a:t>
            </a:r>
          </a:p>
        </p:txBody>
      </p:sp>
    </p:spTree>
    <p:extLst>
      <p:ext uri="{BB962C8B-B14F-4D97-AF65-F5344CB8AC3E}">
        <p14:creationId xmlns:p14="http://schemas.microsoft.com/office/powerpoint/2010/main" val="145700382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3b · Vraag, aanbod en verkoop">
            <a:extLst xmlns:a="http://schemas.openxmlformats.org/drawingml/2006/main">
              <a:ext uri="{FF2B5EF4-FFF2-40B4-BE49-F238E27FC236}">
                <a16:creationId xmlns:a16="http://schemas.microsoft.com/office/drawing/2014/main" id="{7610A6E2-5DCA-44ED-A2D3-706B00E3CDC8}"/>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43b · Vraag, aanbod en verkoop</a:t>
            </a:r>
          </a:p>
        </p:txBody>
      </p:sp>
      <p:sp>
        <p:nvSpPr>
          <p:cNvPr id="2" name="">
            <a:extLst xmlns:a="http://schemas.openxmlformats.org/drawingml/2006/main">
              <a:ext uri="{FF2B5EF4-FFF2-40B4-BE49-F238E27FC236}">
                <a16:creationId xmlns:a16="http://schemas.microsoft.com/office/drawing/2014/main" id="{5C21B8B7-7DB4-4F5F-8182-4457EC01FEB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67943BFF-EFAD-4323-B5B9-D767645AC3B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21">
            <a:extLst xmlns:a="http://schemas.openxmlformats.org/drawingml/2006/main">
              <a:ext uri="{FF2B5EF4-FFF2-40B4-BE49-F238E27FC236}">
                <a16:creationId xmlns:a16="http://schemas.microsoft.com/office/drawing/2014/main" id="{337A5AED-4945-42E7-A8CC-C372D6C181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16 = 20 − 0,10Qv&#10;Qv = 40 kratten per week">
            <a:extLst xmlns:a="http://schemas.openxmlformats.org/drawingml/2006/main">
              <a:ext uri="{FF2B5EF4-FFF2-40B4-BE49-F238E27FC236}">
                <a16:creationId xmlns:a16="http://schemas.microsoft.com/office/drawing/2014/main" id="{E3B0D990-673B-40C1-97BF-38A83509862C}"/>
              </a:ext>
            </a:extLst>
          </p:cNvPr>
          <p:cNvSpPr>
            <a:spLocks xmlns:a="http://schemas.openxmlformats.org/drawingml/2006/main" noGrp="1"/>
          </p:cNvSpPr>
          <p:nvPr/>
        </p:nvSpPr>
        <p:spPr>
          <a:xfrm xmlns:a="http://schemas.openxmlformats.org/drawingml/2006/main">
            <a:off x="571500" y="1952625"/>
            <a:ext cx="676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16 = 20 − 0,10Qv</a:t>
            </a:r>
          </a:p>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Qv = 40 kratten per week</a:t>
            </a:r>
          </a:p>
        </p:txBody>
      </p:sp>
      <p:sp>
        <p:nvSpPr>
          <p:cNvPr id="6" name="16 = 8 + 0,10Qa&#10;Qa = 80 kratten per week">
            <a:extLst xmlns:a="http://schemas.openxmlformats.org/drawingml/2006/main">
              <a:ext uri="{FF2B5EF4-FFF2-40B4-BE49-F238E27FC236}">
                <a16:creationId xmlns:a16="http://schemas.microsoft.com/office/drawing/2014/main" id="{262EB86D-3FA5-4184-B4A9-DD89F0F80841}"/>
              </a:ext>
            </a:extLst>
          </p:cNvPr>
          <p:cNvSpPr>
            <a:spLocks xmlns:a="http://schemas.openxmlformats.org/drawingml/2006/main" noGrp="1"/>
          </p:cNvSpPr>
          <p:nvPr/>
        </p:nvSpPr>
        <p:spPr>
          <a:xfrm xmlns:a="http://schemas.openxmlformats.org/drawingml/2006/main">
            <a:off x="8096250" y="1952625"/>
            <a:ext cx="657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E8449"/>
                </a:solidFill>
                <a:latin typeface="Arial"/>
                <a:ea typeface="Arial"/>
                <a:cs typeface="Arial"/>
              </a:defRPr>
            </a:pPr>
            <a:r>
              <a:rPr sz="3075" b="1">
                <a:solidFill>
                  <a:srgbClr val="1E8449"/>
                </a:solidFill>
                <a:latin typeface="Arial"/>
                <a:ea typeface="Arial"/>
                <a:cs typeface="Arial"/>
              </a:rPr>
              <a:t>16 = 8 + 0,10Qa</a:t>
            </a:r>
          </a:p>
          <a:p xmlns:a="http://schemas.openxmlformats.org/drawingml/2006/main">
            <a:pPr algn="l">
              <a:defRPr sz="3075" b="1">
                <a:solidFill>
                  <a:srgbClr val="1E8449"/>
                </a:solidFill>
                <a:latin typeface="Arial"/>
                <a:ea typeface="Arial"/>
                <a:cs typeface="Arial"/>
              </a:defRPr>
            </a:pPr>
            <a:r>
              <a:rPr sz="3075" b="1">
                <a:solidFill>
                  <a:srgbClr val="1E8449"/>
                </a:solidFill>
                <a:latin typeface="Arial"/>
                <a:ea typeface="Arial"/>
                <a:cs typeface="Arial"/>
              </a:rPr>
              <a:t>Qa = 80 kratten per week</a:t>
            </a:r>
          </a:p>
        </p:txBody>
      </p:sp>
      <p:sp>
        <p:nvSpPr>
          <p:cNvPr id="7" name="">
            <a:extLst xmlns:a="http://schemas.openxmlformats.org/drawingml/2006/main">
              <a:ext uri="{FF2B5EF4-FFF2-40B4-BE49-F238E27FC236}">
                <a16:creationId xmlns:a16="http://schemas.microsoft.com/office/drawing/2014/main" id="{1CC9EBF1-0653-4CA1-B126-CAB40CFBBA91}"/>
              </a:ext>
            </a:extLst>
          </p:cNvPr>
          <p:cNvSpPr>
            <a:spLocks xmlns:a="http://schemas.openxmlformats.org/drawingml/2006/main" noGrp="1"/>
          </p:cNvSpPr>
          <p:nvPr/>
        </p:nvSpPr>
        <p:spPr>
          <a:xfrm xmlns:a="http://schemas.openxmlformats.org/drawingml/2006/main">
            <a:off x="571500" y="3886200"/>
            <a:ext cx="14097000" cy="0"/>
          </a:xfrm>
          <a:prstGeom xmlns:a="http://schemas.openxmlformats.org/drawingml/2006/main" prst="line">
            <a:avLst/>
          </a:prstGeom>
          <a:ln xmlns:a="http://schemas.openxmlformats.org/drawingml/2006/main" w="19050">
            <a:solidFill>
              <a:srgbClr val="C6D2DB"/>
            </a:solidFill>
          </a:ln>
        </p:spPr>
      </p:sp>
      <p:sp>
        <p:nvSpPr>
          <p:cNvPr id="8" name="Aanbodoverschot = 80 − 40 = 40 kratten per week">
            <a:extLst xmlns:a="http://schemas.openxmlformats.org/drawingml/2006/main">
              <a:ext uri="{FF2B5EF4-FFF2-40B4-BE49-F238E27FC236}">
                <a16:creationId xmlns:a16="http://schemas.microsoft.com/office/drawing/2014/main" id="{B7C54CDC-354B-4BC5-9546-B1DAF689CF01}"/>
              </a:ext>
            </a:extLst>
          </p:cNvPr>
          <p:cNvSpPr>
            <a:spLocks xmlns:a="http://schemas.openxmlformats.org/drawingml/2006/main" noGrp="1"/>
          </p:cNvSpPr>
          <p:nvPr/>
        </p:nvSpPr>
        <p:spPr>
          <a:xfrm xmlns:a="http://schemas.openxmlformats.org/drawingml/2006/main">
            <a:off x="571500" y="444817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Aanbodoverschot = 80 − 40 = 40 kratten per week</a:t>
            </a:r>
          </a:p>
        </p:txBody>
      </p:sp>
      <p:sp>
        <p:nvSpPr>
          <p:cNvPr id="9" name="Totale verkoop = 40 aan particulieren + 40 aan de overheid&#10;=">
            <a:extLst xmlns:a="http://schemas.openxmlformats.org/drawingml/2006/main">
              <a:ext uri="{FF2B5EF4-FFF2-40B4-BE49-F238E27FC236}">
                <a16:creationId xmlns:a16="http://schemas.microsoft.com/office/drawing/2014/main" id="{927EFEC6-D901-4655-8702-245D299CE261}"/>
              </a:ext>
            </a:extLst>
          </p:cNvPr>
          <p:cNvSpPr>
            <a:spLocks xmlns:a="http://schemas.openxmlformats.org/drawingml/2006/main" noGrp="1"/>
          </p:cNvSpPr>
          <p:nvPr/>
        </p:nvSpPr>
        <p:spPr>
          <a:xfrm xmlns:a="http://schemas.openxmlformats.org/drawingml/2006/main">
            <a:off x="571500" y="6134100"/>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Totale verkoop = 40 aan particulieren + 40 aan de overheid</a:t>
            </a:r>
          </a:p>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 80 kratten per week</a:t>
            </a:r>
          </a:p>
        </p:txBody>
      </p:sp>
    </p:spTree>
    <p:extLst>
      <p:ext uri="{BB962C8B-B14F-4D97-AF65-F5344CB8AC3E}">
        <p14:creationId xmlns:p14="http://schemas.microsoft.com/office/powerpoint/2010/main" val="859975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3c · De overheid koopt het overschot">
            <a:extLst xmlns:a="http://schemas.openxmlformats.org/drawingml/2006/main">
              <a:ext uri="{FF2B5EF4-FFF2-40B4-BE49-F238E27FC236}">
                <a16:creationId xmlns:a16="http://schemas.microsoft.com/office/drawing/2014/main" id="{A2FCE688-4969-4B81-BBB4-78798AEEE0A1}"/>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43c · De overheid koopt het overschot</a:t>
            </a:r>
          </a:p>
        </p:txBody>
      </p:sp>
      <p:sp>
        <p:nvSpPr>
          <p:cNvPr id="2" name="">
            <a:extLst xmlns:a="http://schemas.openxmlformats.org/drawingml/2006/main">
              <a:ext uri="{FF2B5EF4-FFF2-40B4-BE49-F238E27FC236}">
                <a16:creationId xmlns:a16="http://schemas.microsoft.com/office/drawing/2014/main" id="{5BD5C946-48BF-44AA-9BC3-70E42B0D8E6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728550AA-86EE-4700-B425-AEE0B7C4640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22">
            <a:extLst xmlns:a="http://schemas.openxmlformats.org/drawingml/2006/main">
              <a:ext uri="{FF2B5EF4-FFF2-40B4-BE49-F238E27FC236}">
                <a16:creationId xmlns:a16="http://schemas.microsoft.com/office/drawing/2014/main" id="{D4A22C43-4DFD-4A9E-A2AC-8310CB0796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3" name="Chart"/>
          <p:cNvGraphicFramePr/>
          <p:nvPr/>
        </p:nvGraphicFramePr>
        <p:xfrm>
          <a:off xmlns:a="http://schemas.openxmlformats.org/drawingml/2006/main" x="571500" y="2266950"/>
          <a:ext xmlns:a="http://schemas.openxmlformats.org/drawingml/2006/main" cx="9906000" cy="5410200"/>
        </p:xfrm>
        <a:graphic xmlns:a="http://schemas.openxmlformats.org/drawingml/2006/main">
          <a:graphicData uri="http://schemas.openxmlformats.org/drawingml/2006/chart">
            <c:chart xmlns:r="http://schemas.openxmlformats.org/officeDocument/2006/relationships" xmlns:c="http://schemas.openxmlformats.org/drawingml/2006/chart" r:id="R3320c6c499d249e1"/>
          </a:graphicData>
        </a:graphic>
      </p:graphicFrame>
      <p:sp>
        <p:nvSpPr>
          <p:cNvPr id="6" name="Pmin = € 16">
            <a:extLst xmlns:a="http://schemas.openxmlformats.org/drawingml/2006/main">
              <a:ext uri="{FF2B5EF4-FFF2-40B4-BE49-F238E27FC236}">
                <a16:creationId xmlns:a16="http://schemas.microsoft.com/office/drawing/2014/main" id="{7652AB97-578F-4891-86A8-BDF05F9A5ADD}"/>
              </a:ext>
            </a:extLst>
          </p:cNvPr>
          <p:cNvSpPr>
            <a:spLocks xmlns:a="http://schemas.openxmlformats.org/drawingml/2006/main" noGrp="1"/>
          </p:cNvSpPr>
          <p:nvPr/>
        </p:nvSpPr>
        <p:spPr>
          <a:xfrm xmlns:a="http://schemas.openxmlformats.org/drawingml/2006/main">
            <a:off x="10858500" y="23812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Pmin = € 16</a:t>
            </a:r>
          </a:p>
        </p:txBody>
      </p:sp>
      <p:sp>
        <p:nvSpPr>
          <p:cNvPr id="7" name="Qv = 40&#10;Qa = 80&#10;&#10;Opkoop = 80 − 40&#10;= 40 kratten/week">
            <a:extLst xmlns:a="http://schemas.openxmlformats.org/drawingml/2006/main">
              <a:ext uri="{FF2B5EF4-FFF2-40B4-BE49-F238E27FC236}">
                <a16:creationId xmlns:a16="http://schemas.microsoft.com/office/drawing/2014/main" id="{D558677C-3D23-44FF-88D8-2C87785688E8}"/>
              </a:ext>
            </a:extLst>
          </p:cNvPr>
          <p:cNvSpPr>
            <a:spLocks xmlns:a="http://schemas.openxmlformats.org/drawingml/2006/main" noGrp="1"/>
          </p:cNvSpPr>
          <p:nvPr/>
        </p:nvSpPr>
        <p:spPr>
          <a:xfrm xmlns:a="http://schemas.openxmlformats.org/drawingml/2006/main">
            <a:off x="10858500" y="3429000"/>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Qv = 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Qa = 80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Opkoop = 80 − 40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40 kratten/week</a:t>
            </a:r>
          </a:p>
        </p:txBody>
      </p:sp>
      <p:sp>
        <p:nvSpPr>
          <p:cNvPr id="8" name="U = 16 × 40&#10;= € 640 per week">
            <a:extLst xmlns:a="http://schemas.openxmlformats.org/drawingml/2006/main">
              <a:ext uri="{FF2B5EF4-FFF2-40B4-BE49-F238E27FC236}">
                <a16:creationId xmlns:a16="http://schemas.microsoft.com/office/drawing/2014/main" id="{3CE0A8B7-4DC2-402E-8275-C67E55ED7369}"/>
              </a:ext>
            </a:extLst>
          </p:cNvPr>
          <p:cNvSpPr>
            <a:spLocks xmlns:a="http://schemas.openxmlformats.org/drawingml/2006/main" noGrp="1"/>
          </p:cNvSpPr>
          <p:nvPr/>
        </p:nvSpPr>
        <p:spPr>
          <a:xfrm xmlns:a="http://schemas.openxmlformats.org/drawingml/2006/main">
            <a:off x="10858500" y="66294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U = 16 × 40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 € 640 per week</a:t>
            </a:r>
          </a:p>
        </p:txBody>
      </p:sp>
    </p:spTree>
    <p:extLst>
      <p:ext uri="{BB962C8B-B14F-4D97-AF65-F5344CB8AC3E}">
        <p14:creationId xmlns:p14="http://schemas.microsoft.com/office/powerpoint/2010/main" val="34412379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3d · Alleen quotum 40">
            <a:extLst xmlns:a="http://schemas.openxmlformats.org/drawingml/2006/main">
              <a:ext uri="{FF2B5EF4-FFF2-40B4-BE49-F238E27FC236}">
                <a16:creationId xmlns:a16="http://schemas.microsoft.com/office/drawing/2014/main" id="{D74B4197-DD21-483F-A0F9-B269A8543704}"/>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43d · Alleen quotum 40</a:t>
            </a:r>
          </a:p>
        </p:txBody>
      </p:sp>
      <p:sp>
        <p:nvSpPr>
          <p:cNvPr id="2" name="">
            <a:extLst xmlns:a="http://schemas.openxmlformats.org/drawingml/2006/main">
              <a:ext uri="{FF2B5EF4-FFF2-40B4-BE49-F238E27FC236}">
                <a16:creationId xmlns:a16="http://schemas.microsoft.com/office/drawing/2014/main" id="{60A0009E-04A6-4F65-9AF3-871F12C07FE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C0B45069-64CE-4953-861D-9D6B132FACB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23">
            <a:extLst xmlns:a="http://schemas.openxmlformats.org/drawingml/2006/main">
              <a:ext uri="{FF2B5EF4-FFF2-40B4-BE49-F238E27FC236}">
                <a16:creationId xmlns:a16="http://schemas.microsoft.com/office/drawing/2014/main" id="{CCB33B7E-0103-4B75-AA12-3A0169C43D9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Regeling B vervangt A volledig. 40 &lt; 60: bindend.">
            <a:extLst xmlns:a="http://schemas.openxmlformats.org/drawingml/2006/main">
              <a:ext uri="{FF2B5EF4-FFF2-40B4-BE49-F238E27FC236}">
                <a16:creationId xmlns:a16="http://schemas.microsoft.com/office/drawing/2014/main" id="{0B501159-71F7-4B7D-AB59-C099CD46964D}"/>
              </a:ext>
            </a:extLst>
          </p:cNvPr>
          <p:cNvSpPr>
            <a:spLocks xmlns:a="http://schemas.openxmlformats.org/drawingml/2006/main" noGrp="1"/>
          </p:cNvSpPr>
          <p:nvPr/>
        </p:nvSpPr>
        <p:spPr>
          <a:xfrm xmlns:a="http://schemas.openxmlformats.org/drawingml/2006/main">
            <a:off x="571500" y="1724025"/>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Regeling B vervangt A volledig. 40 &lt; 60: bindend.</a:t>
            </a:r>
          </a:p>
        </p:txBody>
      </p:sp>
      <p:graphicFrame>
        <p:nvGraphicFramePr>
          <p:cNvPr id="15" name="Chart"/>
          <p:cNvGraphicFramePr/>
          <p:nvPr/>
        </p:nvGraphicFramePr>
        <p:xfrm>
          <a:off xmlns:a="http://schemas.openxmlformats.org/drawingml/2006/main" x="571500" y="2266950"/>
          <a:ext xmlns:a="http://schemas.openxmlformats.org/drawingml/2006/main" cx="9906000" cy="5410200"/>
        </p:xfrm>
        <a:graphic xmlns:a="http://schemas.openxmlformats.org/drawingml/2006/main">
          <a:graphicData uri="http://schemas.openxmlformats.org/drawingml/2006/chart">
            <c:chart xmlns:r="http://schemas.openxmlformats.org/officeDocument/2006/relationships" xmlns:c="http://schemas.openxmlformats.org/drawingml/2006/chart" r:id="R70802c19bc5b4080"/>
          </a:graphicData>
        </a:graphic>
      </p:graphicFrame>
      <p:sp>
        <p:nvSpPr>
          <p:cNvPr id="7" name="Prijs op V">
            <a:extLst xmlns:a="http://schemas.openxmlformats.org/drawingml/2006/main">
              <a:ext uri="{FF2B5EF4-FFF2-40B4-BE49-F238E27FC236}">
                <a16:creationId xmlns:a16="http://schemas.microsoft.com/office/drawing/2014/main" id="{E34DA047-64B1-492F-9001-8EC972FB976E}"/>
              </a:ext>
            </a:extLst>
          </p:cNvPr>
          <p:cNvSpPr>
            <a:spLocks xmlns:a="http://schemas.openxmlformats.org/drawingml/2006/main" noGrp="1"/>
          </p:cNvSpPr>
          <p:nvPr/>
        </p:nvSpPr>
        <p:spPr>
          <a:xfrm xmlns:a="http://schemas.openxmlformats.org/drawingml/2006/main">
            <a:off x="10858500" y="23812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Prijs op V</a:t>
            </a:r>
          </a:p>
        </p:txBody>
      </p:sp>
      <p:sp>
        <p:nvSpPr>
          <p:cNvPr id="8" name="P = 20 − 0,10 × 40&#10;P = € 16 per krat&#10;&#10;Productie en verkoop:&#10;">
            <a:extLst xmlns:a="http://schemas.openxmlformats.org/drawingml/2006/main">
              <a:ext uri="{FF2B5EF4-FFF2-40B4-BE49-F238E27FC236}">
                <a16:creationId xmlns:a16="http://schemas.microsoft.com/office/drawing/2014/main" id="{288A45C0-9670-4C7A-ABF1-5CE45EFBDE66}"/>
              </a:ext>
            </a:extLst>
          </p:cNvPr>
          <p:cNvSpPr>
            <a:spLocks xmlns:a="http://schemas.openxmlformats.org/drawingml/2006/main" noGrp="1"/>
          </p:cNvSpPr>
          <p:nvPr/>
        </p:nvSpPr>
        <p:spPr>
          <a:xfrm xmlns:a="http://schemas.openxmlformats.org/drawingml/2006/main">
            <a:off x="10858500" y="3429000"/>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20 − 0,10 × 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€ 16 per krat</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Productie en verkoop:</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40 kratten per week</a:t>
            </a:r>
          </a:p>
        </p:txBody>
      </p:sp>
      <p:sp>
        <p:nvSpPr>
          <p:cNvPr id="9" name="U = € 0&#10;Rechten gratis">
            <a:extLst xmlns:a="http://schemas.openxmlformats.org/drawingml/2006/main">
              <a:ext uri="{FF2B5EF4-FFF2-40B4-BE49-F238E27FC236}">
                <a16:creationId xmlns:a16="http://schemas.microsoft.com/office/drawing/2014/main" id="{9AC638F2-3D90-4539-B127-5EF6B7B282C2}"/>
              </a:ext>
            </a:extLst>
          </p:cNvPr>
          <p:cNvSpPr>
            <a:spLocks xmlns:a="http://schemas.openxmlformats.org/drawingml/2006/main" noGrp="1"/>
          </p:cNvSpPr>
          <p:nvPr/>
        </p:nvSpPr>
        <p:spPr>
          <a:xfrm xmlns:a="http://schemas.openxmlformats.org/drawingml/2006/main">
            <a:off x="10858500" y="66294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U = € 0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Rechten gratis</a:t>
            </a:r>
          </a:p>
        </p:txBody>
      </p:sp>
    </p:spTree>
    <p:extLst>
      <p:ext uri="{BB962C8B-B14F-4D97-AF65-F5344CB8AC3E}">
        <p14:creationId xmlns:p14="http://schemas.microsoft.com/office/powerpoint/2010/main" val="14289737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3e · Twee berekende verschillen">
            <a:extLst xmlns:a="http://schemas.openxmlformats.org/drawingml/2006/main">
              <a:ext uri="{FF2B5EF4-FFF2-40B4-BE49-F238E27FC236}">
                <a16:creationId xmlns:a16="http://schemas.microsoft.com/office/drawing/2014/main" id="{B32DC8B7-DEE1-44F4-83B2-1C05A29B9175}"/>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43e · Twee berekende verschillen</a:t>
            </a:r>
          </a:p>
        </p:txBody>
      </p:sp>
      <p:sp>
        <p:nvSpPr>
          <p:cNvPr id="2" name="">
            <a:extLst xmlns:a="http://schemas.openxmlformats.org/drawingml/2006/main">
              <a:ext uri="{FF2B5EF4-FFF2-40B4-BE49-F238E27FC236}">
                <a16:creationId xmlns:a16="http://schemas.microsoft.com/office/drawing/2014/main" id="{9B8EC735-B24C-4E81-8A13-306C16F5C5F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 Opgave 43 · Boekpagina 46">
            <a:extLst xmlns:a="http://schemas.openxmlformats.org/drawingml/2006/main">
              <a:ext uri="{FF2B5EF4-FFF2-40B4-BE49-F238E27FC236}">
                <a16:creationId xmlns:a16="http://schemas.microsoft.com/office/drawing/2014/main" id="{C671570B-B093-4E90-B125-382F18DB58B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 Opgave 43 · Boekpagina 46</a:t>
            </a:r>
          </a:p>
        </p:txBody>
      </p:sp>
      <p:sp>
        <p:nvSpPr>
          <p:cNvPr id="4" name="24">
            <a:extLst xmlns:a="http://schemas.openxmlformats.org/drawingml/2006/main">
              <a:ext uri="{FF2B5EF4-FFF2-40B4-BE49-F238E27FC236}">
                <a16:creationId xmlns:a16="http://schemas.microsoft.com/office/drawing/2014/main" id="{22D730FC-EEA2-4EDB-A80B-708AE67BAD3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2" name=""/>
          <p:cNvGraphicFramePr/>
          <p:nvPr/>
        </p:nvGraphicFramePr>
        <p:xfrm>
          <a:off xmlns:a="http://schemas.openxmlformats.org/drawingml/2006/main" x="571500" y="2162175"/>
          <a:ext xmlns:a="http://schemas.openxmlformats.org/drawingml/2006/main" cx="14097000" cy="3571875"/>
        </p:xfrm>
        <a:graphic xmlns:a="http://schemas.openxmlformats.org/drawingml/2006/main">
          <a:graphicData uri="http://schemas.openxmlformats.org/drawingml/2006/table">
            <a:tbl>
              <a:tblPr/>
              <a:tblGrid>
                <a:gridCol w="6381750"/>
                <a:gridCol w="4191000"/>
                <a:gridCol w="3524250"/>
              </a:tblGrid>
              <a:tr h="892969">
                <a:tc>
                  <a:txBody>
                    <a:bodyPr lIns="171450" tIns="95250" rIns="152400" bIns="95250"/>
                    <a:lstStyle/>
                    <a:p>
                      <a:r>
                        <a:rPr sz="2400" b="1">
                          <a:solidFill>
                            <a:srgbClr val="FFFFFF"/>
                          </a:solidFill>
                          <a:latin typeface="Arial"/>
                          <a:ea typeface="Arial"/>
                          <a:cs typeface="Arial"/>
                        </a:rPr>
                        <a:t>Uitkomst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A: minimum + opkoop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 alleen quotum</a:t>
                      </a:r>
                    </a:p>
                  </a:txBody>
                  <a:tcPr marL="91440" marR="91440" marT="45720" marB="45720" anchor="ctr">
                    <a:solidFill>
                      <a:srgbClr val="183247"/>
                    </a:solidFill>
                  </a:tcPr>
                </a:tc>
              </a:tr>
              <a:tr h="892969">
                <a:tc>
                  <a:txBody>
                    <a:bodyPr lIns="171450" tIns="95250" rIns="152400" bIns="95250"/>
                    <a:lstStyle/>
                    <a:p>
                      <a:r>
                        <a:rPr sz="2400" b="0">
                          <a:solidFill>
                            <a:srgbClr val="183247"/>
                          </a:solidFill>
                          <a:latin typeface="Arial"/>
                          <a:ea typeface="Arial"/>
                          <a:cs typeface="Arial"/>
                        </a:rPr>
                        <a:t>Prijs per krat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€ 16</a:t>
                      </a:r>
                    </a:p>
                  </a:txBody>
                  <a:tcPr marL="91440" marR="91440" marT="45720" marB="45720" anchor="ctr">
                    <a:solidFill>
                      <a:srgbClr val="FFFFFF"/>
                    </a:solidFill>
                  </a:tcPr>
                </a:tc>
              </a:tr>
              <a:tr h="892969">
                <a:tc>
                  <a:txBody>
                    <a:bodyPr lIns="171450" tIns="95250" rIns="152400" bIns="95250"/>
                    <a:lstStyle/>
                    <a:p>
                      <a:r>
                        <a:rPr sz="2400" b="0">
                          <a:solidFill>
                            <a:srgbClr val="183247"/>
                          </a:solidFill>
                          <a:latin typeface="Arial"/>
                          <a:ea typeface="Arial"/>
                          <a:cs typeface="Arial"/>
                        </a:rPr>
                        <a:t>Productie per week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80 kratten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40 kratten</a:t>
                      </a:r>
                    </a:p>
                  </a:txBody>
                  <a:tcPr marL="91440" marR="91440" marT="45720" marB="45720" anchor="ctr">
                    <a:solidFill>
                      <a:srgbClr val="EFF4F7"/>
                    </a:solidFill>
                  </a:tcPr>
                </a:tc>
              </a:tr>
              <a:tr h="892969">
                <a:tc>
                  <a:txBody>
                    <a:bodyPr lIns="171450" tIns="95250" rIns="152400" bIns="95250"/>
                    <a:lstStyle/>
                    <a:p>
                      <a:r>
                        <a:rPr sz="2400" b="0">
                          <a:solidFill>
                            <a:srgbClr val="183247"/>
                          </a:solidFill>
                          <a:latin typeface="Arial"/>
                          <a:ea typeface="Arial"/>
                          <a:cs typeface="Arial"/>
                        </a:rPr>
                        <a:t>Overheidsuitgaven per week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€ 640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€ 0</a:t>
                      </a:r>
                    </a:p>
                  </a:txBody>
                  <a:tcPr marL="91440" marR="91440" marT="45720" marB="45720" anchor="ctr">
                    <a:solidFill>
                      <a:srgbClr val="FFFFFF"/>
                    </a:solidFill>
                  </a:tcPr>
                </a:tc>
              </a:tr>
            </a:tbl>
          </a:graphicData>
        </a:graphic>
      </p:graphicFrame>
      <p:sp>
        <p:nvSpPr>
          <p:cNvPr id="6" name="De uitspraak is onjuist.">
            <a:extLst xmlns:a="http://schemas.openxmlformats.org/drawingml/2006/main">
              <a:ext uri="{FF2B5EF4-FFF2-40B4-BE49-F238E27FC236}">
                <a16:creationId xmlns:a16="http://schemas.microsoft.com/office/drawing/2014/main" id="{6D99F86F-FB2F-4E2C-A80B-7E8B30519E61}"/>
              </a:ext>
            </a:extLst>
          </p:cNvPr>
          <p:cNvSpPr>
            <a:spLocks xmlns:a="http://schemas.openxmlformats.org/drawingml/2006/main" noGrp="1"/>
          </p:cNvSpPr>
          <p:nvPr/>
        </p:nvSpPr>
        <p:spPr>
          <a:xfrm xmlns:a="http://schemas.openxmlformats.org/drawingml/2006/main">
            <a:off x="571500" y="63341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De uitspraak is onjuist.</a:t>
            </a:r>
          </a:p>
        </p:txBody>
      </p:sp>
      <p:sp>
        <p:nvSpPr>
          <p:cNvPr id="7" name="De prijs is gelijk, maar de productie en overheidsuitgaven v">
            <a:extLst xmlns:a="http://schemas.openxmlformats.org/drawingml/2006/main">
              <a:ext uri="{FF2B5EF4-FFF2-40B4-BE49-F238E27FC236}">
                <a16:creationId xmlns:a16="http://schemas.microsoft.com/office/drawing/2014/main" id="{30402BCF-721A-418B-989F-DEBBB1EFD7DB}"/>
              </a:ext>
            </a:extLst>
          </p:cNvPr>
          <p:cNvSpPr>
            <a:spLocks xmlns:a="http://schemas.openxmlformats.org/drawingml/2006/main" noGrp="1"/>
          </p:cNvSpPr>
          <p:nvPr/>
        </p:nvSpPr>
        <p:spPr>
          <a:xfrm xmlns:a="http://schemas.openxmlformats.org/drawingml/2006/main">
            <a:off x="571500" y="72009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prijs is gelijk, maar de productie en overheidsuitgaven verschillen.</a:t>
            </a:r>
          </a:p>
        </p:txBody>
      </p:sp>
    </p:spTree>
    <p:extLst>
      <p:ext uri="{BB962C8B-B14F-4D97-AF65-F5344CB8AC3E}">
        <p14:creationId xmlns:p14="http://schemas.microsoft.com/office/powerpoint/2010/main" val="15872760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5 Minimumprijs en quota">
            <a:extLst xmlns:a="http://schemas.openxmlformats.org/drawingml/2006/main">
              <a:ext uri="{FF2B5EF4-FFF2-40B4-BE49-F238E27FC236}">
                <a16:creationId xmlns:a16="http://schemas.microsoft.com/office/drawing/2014/main" id="{19B9DB35-3FAB-447A-A045-05D83BF056C4}"/>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§3.1.5 Minimumprijs en quota</a:t>
            </a:r>
          </a:p>
        </p:txBody>
      </p:sp>
      <p:sp>
        <p:nvSpPr>
          <p:cNvPr id="2" name="">
            <a:extLst xmlns:a="http://schemas.openxmlformats.org/drawingml/2006/main">
              <a:ext uri="{FF2B5EF4-FFF2-40B4-BE49-F238E27FC236}">
                <a16:creationId xmlns:a16="http://schemas.microsoft.com/office/drawing/2014/main" id="{BAE67C4E-0F62-4C42-8AF4-97D0DBB75AE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5 Minimumprijs en quota">
            <a:extLst xmlns:a="http://schemas.openxmlformats.org/drawingml/2006/main">
              <a:ext uri="{FF2B5EF4-FFF2-40B4-BE49-F238E27FC236}">
                <a16:creationId xmlns:a16="http://schemas.microsoft.com/office/drawing/2014/main" id="{6DAB8010-69A6-4CC2-822F-2926714D2CF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§3.1.5 Minimumprijs en quota</a:t>
            </a:r>
          </a:p>
        </p:txBody>
      </p:sp>
      <p:sp>
        <p:nvSpPr>
          <p:cNvPr id="4" name="25">
            <a:extLst xmlns:a="http://schemas.openxmlformats.org/drawingml/2006/main">
              <a:ext uri="{FF2B5EF4-FFF2-40B4-BE49-F238E27FC236}">
                <a16:creationId xmlns:a16="http://schemas.microsoft.com/office/drawing/2014/main" id="{356E7527-D2DF-4FBC-B9D2-1CAF2C23BE1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FB4F5715-6F61-4E81-81A9-F0A2A032AD8D}"/>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A66F70FD-0822-41EC-958C-5E166CD26F6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C47FAEA0-4406-414F-8BA0-45BBA0F0FD8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2A4D7814-FB83-4F5D-8783-A68773CF4080}"/>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9E06F6D8-EAC0-4F9D-AEE3-233292A5D4D7}"/>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5E7B53D-2726-4085-842C-15E02BF7AE3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0FCE8A4-65BA-4877-8B40-59C3E70D02C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CB9EA0B-1585-41D4-B6DB-B1425E0218DA}"/>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9700812-2C58-4ECB-8515-5C5D07D2EDF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D785048-ED4F-4BEC-8D00-CCC32AAF86F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AF5C7D41-4BB6-42F3-BBB1-419FF712EBBC}"/>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3F26973-065B-4630-B352-79E610EB9E34}"/>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FA9322C3-248E-4EA2-9ECB-158BB8A490E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04C0EFE3-0955-4431-80DD-799BC07A4140}"/>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43.</a:t>
            </a:r>
          </a:p>
        </p:txBody>
      </p:sp>
      <p:sp>
        <p:nvSpPr>
          <p:cNvPr id="19" name="route-number-7">
            <a:extLst xmlns:a="http://schemas.openxmlformats.org/drawingml/2006/main">
              <a:ext uri="{FF2B5EF4-FFF2-40B4-BE49-F238E27FC236}">
                <a16:creationId xmlns:a16="http://schemas.microsoft.com/office/drawing/2014/main" id="{6E65CA88-D933-467F-85E7-324A8A8C7A1A}"/>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2DBC7E0-34E4-40C8-92D0-6D74C8BD6A0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91EF8C79-5397-41CC-BDE3-3C455A6DD5A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93B8A66-6B60-4335-B349-CED684A5255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Binding en overschot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Opkoop en uitgaven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quotum ermee vergelijken.</a:t>
            </a:r>
          </a:p>
        </p:txBody>
      </p:sp>
      <p:sp>
        <p:nvSpPr>
          <p:cNvPr id="23" name="">
            <a:extLst xmlns:a="http://schemas.openxmlformats.org/drawingml/2006/main">
              <a:ext uri="{FF2B5EF4-FFF2-40B4-BE49-F238E27FC236}">
                <a16:creationId xmlns:a16="http://schemas.microsoft.com/office/drawing/2014/main" id="{5A0027C3-312C-42B6-AE94-CF81A591F015}"/>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A384C05-F340-4D4A-A6D2-EF09C616FE46}"/>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B02282F2-8BFB-4C14-A280-A2BE923DC259}"/>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42 · Opgaven 37 en 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Verkennen met theorie p. 39–40</a:t>
            </a:r>
          </a:p>
        </p:txBody>
      </p:sp>
      <p:sp>
        <p:nvSpPr>
          <p:cNvPr id="26" name="">
            <a:extLst xmlns:a="http://schemas.openxmlformats.org/drawingml/2006/main">
              <a:ext uri="{FF2B5EF4-FFF2-40B4-BE49-F238E27FC236}">
                <a16:creationId xmlns:a16="http://schemas.microsoft.com/office/drawing/2014/main" id="{5AF7094B-B5AB-4030-A287-87FCFF33422D}"/>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CDADAA3-774C-43FD-8C58-B53C7806DE55}"/>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D167F53-5FC0-45C6-8609-DF77622403A0}"/>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§3.1.5 Minimumprijs en quota</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39, 40 en 40A</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41 en 42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43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0530696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2026-10-01T09:43:00.3090000Z</dcterms:created>
  <dcterms:modified xsi:type="dcterms:W3CDTF">2026-10-01T09:43:00.3090000Z</dcterms:modified>
</coreProperties>
</file>