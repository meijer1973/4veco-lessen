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2.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3.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slides/charts/chart4.xml" ContentType="application/vnd.openxmlformats-officedocument.drawingml.chart+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slides/charts/chart5.xml" ContentType="application/vnd.openxmlformats-officedocument.drawingml.chart+xml"/>
  <Override PartName="/ppt/notesSlides/notesSlide21.xml" ContentType="application/vnd.openxmlformats-officedocument.presentationml.notesSlide+xml"/>
  <Override PartName="/ppt/slides/slide22.xml" ContentType="application/vnd.openxmlformats-officedocument.presentationml.slide+xml"/>
  <Override PartName="/ppt/slides/charts/chart6.xml" ContentType="application/vnd.openxmlformats-officedocument.drawingml.chart+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bbce19e106e0494d" /><Relationship Type="http://schemas.openxmlformats.org/officeDocument/2006/relationships/extended-properties" Target="/docProps/app.xml" Id="R1389396ff216481f" /><Relationship Type="http://schemas.openxmlformats.org/officeDocument/2006/relationships/officeDocument" Target="/ppt/presentation.xml" Id="Rc716706ad51e448a" /></Relationships>
</file>

<file path=ppt/presentation.xml><?xml version="1.0" encoding="utf-8"?>
<p:presentation xmlns:p="http://schemas.openxmlformats.org/presentationml/2006/main">
  <p:sldMasterIdLst>
    <p:sldMasterId xmlns:r="http://schemas.openxmlformats.org/officeDocument/2006/relationships" id="2147483648" r:id="R8f65d9d60b454668"/>
  </p:sldMasterIdLst>
  <p:notesMasterIdLst>
    <p:notesMasterId xmlns:r="http://schemas.openxmlformats.org/officeDocument/2006/relationships" r:id="Rcb0273d7a99447e3"/>
  </p:notesMasterIdLst>
  <p:sldIdLst>
    <p:sldId xmlns:r="http://schemas.openxmlformats.org/officeDocument/2006/relationships" id="256" r:id="R074f99631bf64653"/>
    <p:sldId xmlns:r="http://schemas.openxmlformats.org/officeDocument/2006/relationships" id="257" r:id="R0408fd938470494f"/>
    <p:sldId xmlns:r="http://schemas.openxmlformats.org/officeDocument/2006/relationships" id="258" r:id="R0eb125e76bce412f"/>
    <p:sldId xmlns:r="http://schemas.openxmlformats.org/officeDocument/2006/relationships" id="259" r:id="R67c773a8ae2c42a2"/>
    <p:sldId xmlns:r="http://schemas.openxmlformats.org/officeDocument/2006/relationships" id="260" r:id="R0744de36eadf42f2"/>
    <p:sldId xmlns:r="http://schemas.openxmlformats.org/officeDocument/2006/relationships" id="261" r:id="R1747ca17ae33473f"/>
    <p:sldId xmlns:r="http://schemas.openxmlformats.org/officeDocument/2006/relationships" id="262" r:id="R5636b157140646dc"/>
    <p:sldId xmlns:r="http://schemas.openxmlformats.org/officeDocument/2006/relationships" id="263" r:id="R4615bedaacd34a0c"/>
    <p:sldId xmlns:r="http://schemas.openxmlformats.org/officeDocument/2006/relationships" id="264" r:id="Rfd088d30c31f482b"/>
    <p:sldId xmlns:r="http://schemas.openxmlformats.org/officeDocument/2006/relationships" id="265" r:id="Rb30c761457f443a0"/>
    <p:sldId xmlns:r="http://schemas.openxmlformats.org/officeDocument/2006/relationships" id="266" r:id="R675653d235c54775"/>
    <p:sldId xmlns:r="http://schemas.openxmlformats.org/officeDocument/2006/relationships" id="267" r:id="R7b07818fc144460f"/>
    <p:sldId xmlns:r="http://schemas.openxmlformats.org/officeDocument/2006/relationships" id="268" r:id="Ra11cbbf95fd5447c"/>
    <p:sldId xmlns:r="http://schemas.openxmlformats.org/officeDocument/2006/relationships" id="269" r:id="Re5bedb32a7df4206"/>
    <p:sldId xmlns:r="http://schemas.openxmlformats.org/officeDocument/2006/relationships" id="270" r:id="R7db59890a7914601"/>
    <p:sldId xmlns:r="http://schemas.openxmlformats.org/officeDocument/2006/relationships" id="271" r:id="R6c20daa02a3f4ae2"/>
    <p:sldId xmlns:r="http://schemas.openxmlformats.org/officeDocument/2006/relationships" id="272" r:id="R1db14f3a51c94871"/>
    <p:sldId xmlns:r="http://schemas.openxmlformats.org/officeDocument/2006/relationships" id="273" r:id="Re7c9b7d54d194c2a"/>
    <p:sldId xmlns:r="http://schemas.openxmlformats.org/officeDocument/2006/relationships" id="274" r:id="Re3de23109b0c4a8a"/>
    <p:sldId xmlns:r="http://schemas.openxmlformats.org/officeDocument/2006/relationships" id="275" r:id="R3a641bec20a04fc4"/>
    <p:sldId xmlns:r="http://schemas.openxmlformats.org/officeDocument/2006/relationships" id="276" r:id="R123f336455f3449b"/>
    <p:sldId xmlns:r="http://schemas.openxmlformats.org/officeDocument/2006/relationships" id="277" r:id="R94da26981cfe4361"/>
    <p:sldId xmlns:r="http://schemas.openxmlformats.org/officeDocument/2006/relationships" id="278" r:id="Rb6ed64beb81e4ddd"/>
    <p:sldId xmlns:r="http://schemas.openxmlformats.org/officeDocument/2006/relationships" id="279" r:id="Rd296d3fe316748df"/>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189c3089349472a" /><Relationship Type="http://schemas.openxmlformats.org/officeDocument/2006/relationships/slideMaster" Target="/ppt/slideMasters/slideMaster1.xml" Id="R8f65d9d60b454668" /><Relationship Type="http://schemas.openxmlformats.org/officeDocument/2006/relationships/notesMaster" Target="/ppt/notesMasters/notesMaster1.xml" Id="Rcb0273d7a99447e3" /><Relationship Type="http://schemas.openxmlformats.org/officeDocument/2006/relationships/presProps" Target="/ppt/presProps.xml" Id="Rd306cfea47634cc5" /><Relationship Type="http://schemas.openxmlformats.org/officeDocument/2006/relationships/tableStyles" Target="/ppt/tableStyles.xml" Id="R3eb7d0b965484b06" /><Relationship Type="http://schemas.openxmlformats.org/officeDocument/2006/relationships/slide" Target="/ppt/slides/slide1.xml" Id="R074f99631bf64653" /><Relationship Type="http://schemas.openxmlformats.org/officeDocument/2006/relationships/slide" Target="/ppt/slides/slide2.xml" Id="R0408fd938470494f" /><Relationship Type="http://schemas.openxmlformats.org/officeDocument/2006/relationships/slide" Target="/ppt/slides/slide3.xml" Id="R0eb125e76bce412f" /><Relationship Type="http://schemas.openxmlformats.org/officeDocument/2006/relationships/slide" Target="/ppt/slides/slide4.xml" Id="R67c773a8ae2c42a2" /><Relationship Type="http://schemas.openxmlformats.org/officeDocument/2006/relationships/slide" Target="/ppt/slides/slide5.xml" Id="R0744de36eadf42f2" /><Relationship Type="http://schemas.openxmlformats.org/officeDocument/2006/relationships/slide" Target="/ppt/slides/slide6.xml" Id="R1747ca17ae33473f" /><Relationship Type="http://schemas.openxmlformats.org/officeDocument/2006/relationships/slide" Target="/ppt/slides/slide7.xml" Id="R5636b157140646dc" /><Relationship Type="http://schemas.openxmlformats.org/officeDocument/2006/relationships/slide" Target="/ppt/slides/slide8.xml" Id="R4615bedaacd34a0c" /><Relationship Type="http://schemas.openxmlformats.org/officeDocument/2006/relationships/slide" Target="/ppt/slides/slide9.xml" Id="Rfd088d30c31f482b" /><Relationship Type="http://schemas.openxmlformats.org/officeDocument/2006/relationships/slide" Target="/ppt/slides/slide10.xml" Id="Rb30c761457f443a0" /><Relationship Type="http://schemas.openxmlformats.org/officeDocument/2006/relationships/slide" Target="/ppt/slides/slide11.xml" Id="R675653d235c54775" /><Relationship Type="http://schemas.openxmlformats.org/officeDocument/2006/relationships/slide" Target="/ppt/slides/slide12.xml" Id="R7b07818fc144460f" /><Relationship Type="http://schemas.openxmlformats.org/officeDocument/2006/relationships/slide" Target="/ppt/slides/slide13.xml" Id="Ra11cbbf95fd5447c" /><Relationship Type="http://schemas.openxmlformats.org/officeDocument/2006/relationships/slide" Target="/ppt/slides/slide14.xml" Id="Re5bedb32a7df4206" /><Relationship Type="http://schemas.openxmlformats.org/officeDocument/2006/relationships/slide" Target="/ppt/slides/slide15.xml" Id="R7db59890a7914601" /><Relationship Type="http://schemas.openxmlformats.org/officeDocument/2006/relationships/slide" Target="/ppt/slides/slide16.xml" Id="R6c20daa02a3f4ae2" /><Relationship Type="http://schemas.openxmlformats.org/officeDocument/2006/relationships/slide" Target="/ppt/slides/slide17.xml" Id="R1db14f3a51c94871" /><Relationship Type="http://schemas.openxmlformats.org/officeDocument/2006/relationships/slide" Target="/ppt/slides/slide18.xml" Id="Re7c9b7d54d194c2a" /><Relationship Type="http://schemas.openxmlformats.org/officeDocument/2006/relationships/slide" Target="/ppt/slides/slide19.xml" Id="Re3de23109b0c4a8a" /><Relationship Type="http://schemas.openxmlformats.org/officeDocument/2006/relationships/slide" Target="/ppt/slides/slide20.xml" Id="R3a641bec20a04fc4" /><Relationship Type="http://schemas.openxmlformats.org/officeDocument/2006/relationships/slide" Target="/ppt/slides/slide21.xml" Id="R123f336455f3449b" /><Relationship Type="http://schemas.openxmlformats.org/officeDocument/2006/relationships/slide" Target="/ppt/slides/slide22.xml" Id="R94da26981cfe4361" /><Relationship Type="http://schemas.openxmlformats.org/officeDocument/2006/relationships/slide" Target="/ppt/slides/slide23.xml" Id="Rb6ed64beb81e4ddd" /><Relationship Type="http://schemas.openxmlformats.org/officeDocument/2006/relationships/slide" Target="/ppt/slides/slide24.xml" Id="Rd296d3fe316748d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cc8595893ee4e5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4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919b1517e524e56" /><Relationship Type="http://schemas.openxmlformats.org/officeDocument/2006/relationships/notesMaster" Target="/ppt/notesMasters/notesMaster1.xml" Id="Rac4320f0761f4d00" /></Relationships>
</file>

<file path=ppt/notesSlides/_rels/notesSlide2.xml.rels>&#65279;<?xml version="1.0" encoding="utf-8"?><Relationships xmlns="http://schemas.openxmlformats.org/package/2006/relationships"><Relationship Type="http://schemas.openxmlformats.org/officeDocument/2006/relationships/slide" Target="/ppt/slides/slide2.xml" Id="R7fbf999987454ab0" /><Relationship Type="http://schemas.openxmlformats.org/officeDocument/2006/relationships/notesMaster" Target="/ppt/notesMasters/notesMaster1.xml" Id="Rae3630ece0da4ca0" /></Relationships>
</file>

<file path=ppt/notesSlides/_rels/notesSlide3.xml.rels>&#65279;<?xml version="1.0" encoding="utf-8"?><Relationships xmlns="http://schemas.openxmlformats.org/package/2006/relationships"><Relationship Type="http://schemas.openxmlformats.org/officeDocument/2006/relationships/slide" Target="/ppt/slides/slide3.xml" Id="Rf82591612829412b" /><Relationship Type="http://schemas.openxmlformats.org/officeDocument/2006/relationships/notesMaster" Target="/ppt/notesMasters/notesMaster1.xml" Id="Rc1acc65237c64566" /></Relationships>
</file>

<file path=ppt/notesSlides/_rels/notesSlide4.xml.rels>&#65279;<?xml version="1.0" encoding="utf-8"?><Relationships xmlns="http://schemas.openxmlformats.org/package/2006/relationships"><Relationship Type="http://schemas.openxmlformats.org/officeDocument/2006/relationships/slide" Target="/ppt/slides/slide4.xml" Id="R912c1be918894f27" /><Relationship Type="http://schemas.openxmlformats.org/officeDocument/2006/relationships/notesMaster" Target="/ppt/notesMasters/notesMaster1.xml" Id="R0c47a72001f6473a" /></Relationships>
</file>

<file path=ppt/notesSlides/_rels/notesSlide5.xml.rels>&#65279;<?xml version="1.0" encoding="utf-8"?><Relationships xmlns="http://schemas.openxmlformats.org/package/2006/relationships"><Relationship Type="http://schemas.openxmlformats.org/officeDocument/2006/relationships/slide" Target="/ppt/slides/slide5.xml" Id="Ra40f48ddb3a94eaf" /><Relationship Type="http://schemas.openxmlformats.org/officeDocument/2006/relationships/notesMaster" Target="/ppt/notesMasters/notesMaster1.xml" Id="R2d78b17e63e447f3" /></Relationships>
</file>

<file path=ppt/notesSlides/_rels/notesSlide6.xml.rels>&#65279;<?xml version="1.0" encoding="utf-8"?><Relationships xmlns="http://schemas.openxmlformats.org/package/2006/relationships"><Relationship Type="http://schemas.openxmlformats.org/officeDocument/2006/relationships/slide" Target="/ppt/slides/slide6.xml" Id="R9e86e36edad0432c" /><Relationship Type="http://schemas.openxmlformats.org/officeDocument/2006/relationships/notesMaster" Target="/ppt/notesMasters/notesMaster1.xml" Id="Rbf888429ce254573" /></Relationships>
</file>

<file path=ppt/notesSlides/_rels/notesSlide7.xml.rels>&#65279;<?xml version="1.0" encoding="utf-8"?><Relationships xmlns="http://schemas.openxmlformats.org/package/2006/relationships"><Relationship Type="http://schemas.openxmlformats.org/officeDocument/2006/relationships/slide" Target="/ppt/slides/slide7.xml" Id="Rfef9b22f79114d3d" /><Relationship Type="http://schemas.openxmlformats.org/officeDocument/2006/relationships/notesMaster" Target="/ppt/notesMasters/notesMaster1.xml" Id="R3bf4e64d3a2649cd" /></Relationships>
</file>

<file path=ppt/notesSlides/_rels/notesSlide8.xml.rels>&#65279;<?xml version="1.0" encoding="utf-8"?><Relationships xmlns="http://schemas.openxmlformats.org/package/2006/relationships"><Relationship Type="http://schemas.openxmlformats.org/officeDocument/2006/relationships/slide" Target="/ppt/slides/slide8.xml" Id="Rbd39c112bb5e4eb3" /><Relationship Type="http://schemas.openxmlformats.org/officeDocument/2006/relationships/notesMaster" Target="/ppt/notesMasters/notesMaster1.xml" Id="R18ec42a2ab854bab" /></Relationships>
</file>

<file path=ppt/notesSlides/_rels/notesSlide9.xml.rels>&#65279;<?xml version="1.0" encoding="utf-8"?><Relationships xmlns="http://schemas.openxmlformats.org/package/2006/relationships"><Relationship Type="http://schemas.openxmlformats.org/officeDocument/2006/relationships/slide" Target="/ppt/slides/slide9.xml" Id="R2bbb5f6791474202" /><Relationship Type="http://schemas.openxmlformats.org/officeDocument/2006/relationships/notesMaster" Target="/ppt/notesMasters/notesMaster1.xml" Id="Rc21e5afb58864b6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292466674f143f3" /><Relationship Type="http://schemas.openxmlformats.org/officeDocument/2006/relationships/notesMaster" Target="/ppt/notesMasters/notesMaster1.xml" Id="Ra564842d322f484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57324b89a864c55" /><Relationship Type="http://schemas.openxmlformats.org/officeDocument/2006/relationships/notesMaster" Target="/ppt/notesMasters/notesMaster1.xml" Id="Rcb2b289b6eac470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0625547c11f4077" /><Relationship Type="http://schemas.openxmlformats.org/officeDocument/2006/relationships/notesMaster" Target="/ppt/notesMasters/notesMaster1.xml" Id="R882a6520b3d94a9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799a5bd260f4649" /><Relationship Type="http://schemas.openxmlformats.org/officeDocument/2006/relationships/notesMaster" Target="/ppt/notesMasters/notesMaster1.xml" Id="R7fa88765550140f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37224d616bd463a" /><Relationship Type="http://schemas.openxmlformats.org/officeDocument/2006/relationships/notesMaster" Target="/ppt/notesMasters/notesMaster1.xml" Id="R9335fbe61d0344c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3c96c2e9b814dd1" /><Relationship Type="http://schemas.openxmlformats.org/officeDocument/2006/relationships/notesMaster" Target="/ppt/notesMasters/notesMaster1.xml" Id="Rce6a08f743024f2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396887ec639243db" /><Relationship Type="http://schemas.openxmlformats.org/officeDocument/2006/relationships/notesMaster" Target="/ppt/notesMasters/notesMaster1.xml" Id="R53215682f5994b1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f6f9fe2f0284ecd" /><Relationship Type="http://schemas.openxmlformats.org/officeDocument/2006/relationships/notesMaster" Target="/ppt/notesMasters/notesMaster1.xml" Id="R3463307a505c471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a12931602d89461d" /><Relationship Type="http://schemas.openxmlformats.org/officeDocument/2006/relationships/notesMaster" Target="/ppt/notesMasters/notesMaster1.xml" Id="Ra81e203e488e468c"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9952c2c9381e45ac" /><Relationship Type="http://schemas.openxmlformats.org/officeDocument/2006/relationships/notesMaster" Target="/ppt/notesMasters/notesMaster1.xml" Id="Rcf76b8611dc94913"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7cf00f19fdb24f24" /><Relationship Type="http://schemas.openxmlformats.org/officeDocument/2006/relationships/notesMaster" Target="/ppt/notesMasters/notesMaster1.xml" Id="Ra271479dc7004309"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d3aa176ee65a4c7b" /><Relationship Type="http://schemas.openxmlformats.org/officeDocument/2006/relationships/notesMaster" Target="/ppt/notesMasters/notesMaster1.xml" Id="R3e328ff997b14411"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0818a4b68aff4138" /><Relationship Type="http://schemas.openxmlformats.org/officeDocument/2006/relationships/notesMaster" Target="/ppt/notesMasters/notesMaster1.xml" Id="R6020583aac2445fa"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adadb5aaba194b7b" /><Relationship Type="http://schemas.openxmlformats.org/officeDocument/2006/relationships/notesMaster" Target="/ppt/notesMasters/notesMaster1.xml" Id="Rce62dc608c844d5c"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c8f2a16242d44100" /><Relationship Type="http://schemas.openxmlformats.org/officeDocument/2006/relationships/notesMaster" Target="/ppt/notesMasters/notesMaster1.xml" Id="Rd13dcd9d84e94dd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bekende rekenstap helpt bij opgave 1?</a:t>
            </a:r>
          </a:p>
          <a:p xmlns:a="http://schemas.openxmlformats.org/drawingml/2006/main">
            <a:r>
              <a:rPr sz="1400"/>
              <a:t/>
            </a:r>
          </a:p>
          <a:p xmlns:a="http://schemas.openxmlformats.org/drawingml/2006/main">
            <a:r>
              <a:rPr sz="1400"/>
              <a:t>Uitleg: Laat dit overzicht staan tijdens startopdracht. Start 1–2: boekpagina 9; basis 3–4: p. 10; zelfstandig 5–6: p. 11; doel 7: p. 12. Huiswerk: 3, 4, 5, 6 en 7 maken en nakijken. Bonus 8 en herhaling 9 zijn extra. Opgave 1 haalt een vergelijking oplossen en invullen terug; vraag welke stappen leerlingen gebruiken. Opgave 2 verkent nieuwe stof: laat eerst de begrippen Pc en Pp en de belastingwig op p. 6 lezen en de vergelijking met de oude prijs op p. 9. Laat leerlingen bij 2b benoemen welke informatie ontbreekt; geef het antwoord niet vooraf. Keer na de uitleg vóór zelfstandig oefenen terug naar opgave 2 en laat de redenering verbeteren. De docentenhandleiding adviseert voorlopig twee lessen van 55 minuten; dat is niet gemeten. Gebruik de fasegrens flexibel, behoud de volledige oefenroute.</a:t>
            </a:r>
          </a:p>
          <a:p xmlns:a="http://schemas.openxmlformats.org/drawingml/2006/main">
            <a:r>
              <a:rPr sz="1400"/>
              <a:t/>
            </a:r>
          </a:p>
          <a:p xmlns:a="http://schemas.openxmlformats.org/drawingml/2006/main">
            <a:r>
              <a:rPr sz="1400"/>
              <a:t>Misvatting: De hoofdstukpagina’s 5 en 8 zijn in het volledige boek pagina 9 en 12. Gebruik de gedrukte boekvoet.</a:t>
            </a:r>
          </a:p>
          <a:p xmlns:a="http://schemas.openxmlformats.org/drawingml/2006/main">
            <a:r>
              <a:rPr sz="1400"/>
              <a:t/>
            </a:r>
          </a:p>
          <a:p xmlns:a="http://schemas.openxmlformats.org/drawingml/2006/main">
            <a:r>
              <a:rPr sz="1400"/>
              <a:t>Overgang: Ga verder wanneer de klas aan de volgende fase toe is.</a:t>
            </a:r>
          </a:p>
          <a:p xmlns:a="http://schemas.openxmlformats.org/drawingml/2006/main">
            <a:r>
              <a:rPr sz="1400"/>
              <a:t/>
            </a:r>
          </a:p>
          <a:p xmlns:a="http://schemas.openxmlformats.org/drawingml/2006/main">
            <a:r>
              <a:rPr sz="1400"/>
              <a:t>Bron: Boek 3, actuele v3-uitgave, revisies t/m 28 september 2026; gedrukte boekpagina 6–12. https://github.com/meijer1973/4veco-lessen/blob/9b8304d5031cafac936a56281e144573a25fbbc9/edities/books34-v3/books/book-3/output/Boek_3_Compleet_v3.pdf</a:t>
            </a:r>
          </a:p>
          <a:p xmlns:a="http://schemas.openxmlformats.org/drawingml/2006/main">
            <a:r>
              <a:rPr sz="1400"/>
              <a:t>Antwoorden: https://github.com/meijer1973/4veco-lessen/blob/9b8304d5031cafac936a56281e144573a25fbbc9/edities/books34-v3/books/book-3/chapters/3.1/Antwoorden.md#ans7</a:t>
            </a:r>
          </a:p>
          <a:p xmlns:a="http://schemas.openxmlformats.org/drawingml/2006/main">
            <a:r>
              <a:rPr sz="1400"/>
              <a:t>Docent: https://github.com/meijer1973/4veco-lessen/blob/9b8304d5031cafac936a56281e144573a25fbbc9/edities/books34-v3/books/book-3/chapters/3.1/Docenteninformatie.md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 bedrag bepaalt wat de koper wil kopen?</a:t>
            </a:r>
          </a:p>
          <a:p xmlns:a="http://schemas.openxmlformats.org/drawingml/2006/main">
            <a:r>
              <a:rPr sz="1400"/>
              <a:t/>
            </a:r>
          </a:p>
          <a:p xmlns:a="http://schemas.openxmlformats.org/drawingml/2006/main">
            <a:r>
              <a:rPr sz="1400"/>
              <a:t>Uitleg: Noem de belasting per product en de eenheden. De verkoper ontvangt Pc, draagt t af en houdt Pp over vóór zijn productiekosten. De vraagfunctie gebruikt Pc; de oorspronkelijke aanbodfunctie gebruikt Pp. Zonder belasting zijn beide prijzen gelijk. Het model heeft veel kopers en verkopers die de prijs als gegeven nemen; één product en verder gelijke omstandigheden.</a:t>
            </a:r>
          </a:p>
          <a:p xmlns:a="http://schemas.openxmlformats.org/drawingml/2006/main">
            <a:r>
              <a:rPr sz="1400"/>
              <a:t/>
            </a:r>
          </a:p>
          <a:p xmlns:a="http://schemas.openxmlformats.org/drawingml/2006/main">
            <a:r>
              <a:rPr sz="1400"/>
              <a:t>Misvatting: Pp is geen winst. Afdragen vertelt wie het geld overmaakt, nog niet wie er economisch op achteruitgaat.</a:t>
            </a:r>
          </a:p>
          <a:p xmlns:a="http://schemas.openxmlformats.org/drawingml/2006/main">
            <a:r>
              <a:rPr sz="1400"/>
              <a:t/>
            </a:r>
          </a:p>
          <a:p xmlns:a="http://schemas.openxmlformats.org/drawingml/2006/main">
            <a:r>
              <a:rPr sz="1400"/>
              <a:t>Overgang: Gebruik de twee prijzen in een apart rekenvoorbeeld.</a:t>
            </a:r>
          </a:p>
          <a:p xmlns:a="http://schemas.openxmlformats.org/drawingml/2006/main">
            <a:r>
              <a:rPr sz="1400"/>
              <a:t/>
            </a:r>
          </a:p>
          <a:p xmlns:a="http://schemas.openxmlformats.org/drawingml/2006/main">
            <a:r>
              <a:rPr sz="1400"/>
              <a:t>Bron: Boek 3, actuele v3-uitgave, revisies t/m 28 september 2026; gedrukte boekpagina 6–7. https://github.com/meijer1973/4veco-lessen/blob/9b8304d5031cafac936a56281e144573a25fbbc9/edities/books34-v3/books/book-3/output/Boek_3_Compleet_v3.pdf</a:t>
            </a:r>
          </a:p>
          <a:p xmlns:a="http://schemas.openxmlformats.org/drawingml/2006/main">
            <a:r>
              <a:rPr sz="1400"/>
              <a:t>Antwoorden: https://github.com/meijer1973/4veco-lessen/blob/9b8304d5031cafac936a56281e144573a25fbbc9/edities/books34-v3/books/book-3/chapters/3.1/Antwoorden.md#ans7</a:t>
            </a:r>
          </a:p>
          <a:p xmlns:a="http://schemas.openxmlformats.org/drawingml/2006/main">
            <a:r>
              <a:rPr sz="1400"/>
              <a:t>Docent: https://github.com/meijer1973/4veco-lessen/blob/9b8304d5031cafac936a56281e144573a25fbbc9/edities/books34-v3/books/book-3/chapters/3.1/Docenteninformatie.md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krijgt de aanbodprijs een andere naam dan de vraagprijs?</a:t>
            </a:r>
          </a:p>
          <a:p xmlns:a="http://schemas.openxmlformats.org/drawingml/2006/main">
            <a:r>
              <a:rPr sz="1400"/>
              <a:t/>
            </a:r>
          </a:p>
          <a:p xmlns:a="http://schemas.openxmlformats.org/drawingml/2006/main">
            <a:r>
              <a:rPr sz="1400"/>
              <a:t>Uitleg: Dit is een nieuw onderwijsvoorbeeld, geen boekopgave. De vraaglijn geeft de bereidheid om te betalen; de aanbodlijn de benodigde ontvangst. De functies blijven gelden. Begin zonder belasting.</a:t>
            </a:r>
          </a:p>
          <a:p xmlns:a="http://schemas.openxmlformats.org/drawingml/2006/main">
            <a:r>
              <a:rPr sz="1400"/>
              <a:t/>
            </a:r>
          </a:p>
          <a:p xmlns:a="http://schemas.openxmlformats.org/drawingml/2006/main">
            <a:r>
              <a:rPr sz="1400"/>
              <a:t>Misvatting: De € 6 is een heffing per verkochte puzzel, geen eenmalig bedrag.</a:t>
            </a:r>
          </a:p>
          <a:p xmlns:a="http://schemas.openxmlformats.org/drawingml/2006/main">
            <a:r>
              <a:rPr sz="1400"/>
              <a:t/>
            </a:r>
          </a:p>
          <a:p xmlns:a="http://schemas.openxmlformats.org/drawingml/2006/main">
            <a:r>
              <a:rPr sz="1400"/>
              <a:t>Overgang: Bereken eerst het vrije evenwicht.</a:t>
            </a:r>
          </a:p>
          <a:p xmlns:a="http://schemas.openxmlformats.org/drawingml/2006/main">
            <a:r>
              <a:rPr sz="1400"/>
              <a:t/>
            </a:r>
          </a:p>
          <a:p xmlns:a="http://schemas.openxmlformats.org/drawingml/2006/main">
            <a:r>
              <a:rPr sz="1400"/>
              <a:t>Bron: Boek 3, actuele v3-uitgave, revisies t/m 28 september 2026; gedrukte boekpagina 6–9. https://github.com/meijer1973/4veco-lessen/blob/9b8304d5031cafac936a56281e144573a25fbbc9/edities/books34-v3/books/book-3/output/Boek_3_Compleet_v3.pdf</a:t>
            </a:r>
          </a:p>
          <a:p xmlns:a="http://schemas.openxmlformats.org/drawingml/2006/main">
            <a:r>
              <a:rPr sz="1400"/>
              <a:t>Antwoorden: https://github.com/meijer1973/4veco-lessen/blob/9b8304d5031cafac936a56281e144573a25fbbc9/edities/books34-v3/books/book-3/chapters/3.1/Antwoorden.md#ans7</a:t>
            </a:r>
          </a:p>
          <a:p xmlns:a="http://schemas.openxmlformats.org/drawingml/2006/main">
            <a:r>
              <a:rPr sz="1400"/>
              <a:t>Docent: https://github.com/meijer1973/4veco-lessen/blob/9b8304d5031cafac936a56281e144573a25fbbc9/edities/books34-v3/books/book-3/chapters/3.1/Docenteninformatie.md</a:t>
            </a:r>
          </a:p>
          <a:p xmlns:a="http://schemas.openxmlformats.org/drawingml/2006/main">
            <a:r>
              <a:rPr sz="1400"/>
              <a:t>Uitlegvoorbeeld — niet uit het boek. Context houten puzzels en alle getallen zijn voor deze les geschreven. Alleen de methode is ontleend aan boekpagina 6–9.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grootheid bereken je door beide prijsfuncties gelijk te stellen?</a:t>
            </a:r>
          </a:p>
          <a:p xmlns:a="http://schemas.openxmlformats.org/drawingml/2006/main">
            <a:r>
              <a:rPr sz="1400"/>
              <a:t/>
            </a:r>
          </a:p>
          <a:p xmlns:a="http://schemas.openxmlformats.org/drawingml/2006/main">
            <a:r>
              <a:rPr sz="1400"/>
              <a:t>Uitleg: Zonder belasting is Pc gelijk aan Pp. Tel 0,20Q bij beide kanten op en trek 2 af: 24 = 0,30Q. Deel door 0,30. Vul Q vervolgens in één oorspronkelijke functie in en controleer in de andere. Dit herhaalt het oplossen en substitueren uit Boek 2 §2.3.2.</a:t>
            </a:r>
          </a:p>
          <a:p xmlns:a="http://schemas.openxmlformats.org/drawingml/2006/main">
            <a:r>
              <a:rPr sz="1400"/>
              <a:t/>
            </a:r>
          </a:p>
          <a:p xmlns:a="http://schemas.openxmlformats.org/drawingml/2006/main">
            <a:r>
              <a:rPr sz="1400"/>
              <a:t>Misvatting: Invullen van een willekeurige Q in A levert een prijs op, maar bewijst geen evenwicht.</a:t>
            </a:r>
          </a:p>
          <a:p xmlns:a="http://schemas.openxmlformats.org/drawingml/2006/main">
            <a:r>
              <a:rPr sz="1400"/>
              <a:t/>
            </a:r>
          </a:p>
          <a:p xmlns:a="http://schemas.openxmlformats.org/drawingml/2006/main">
            <a:r>
              <a:rPr sz="1400"/>
              <a:t>Overgang: Zoek dezelfde uitkomst in de grafiek.</a:t>
            </a:r>
          </a:p>
          <a:p xmlns:a="http://schemas.openxmlformats.org/drawingml/2006/main">
            <a:r>
              <a:rPr sz="1400"/>
              <a:t/>
            </a:r>
          </a:p>
          <a:p xmlns:a="http://schemas.openxmlformats.org/drawingml/2006/main">
            <a:r>
              <a:rPr sz="1400"/>
              <a:t>Bron: Boek 3, actuele v3-uitgave, revisies t/m 28 september 2026; gedrukte boekpagina 6–9. https://github.com/meijer1973/4veco-lessen/blob/9b8304d5031cafac936a56281e144573a25fbbc9/edities/books34-v3/books/book-3/output/Boek_3_Compleet_v3.pdf</a:t>
            </a:r>
          </a:p>
          <a:p xmlns:a="http://schemas.openxmlformats.org/drawingml/2006/main">
            <a:r>
              <a:rPr sz="1400"/>
              <a:t>Antwoorden: https://github.com/meijer1973/4veco-lessen/blob/9b8304d5031cafac936a56281e144573a25fbbc9/edities/books34-v3/books/book-3/chapters/3.1/Antwoorden.md#ans7</a:t>
            </a:r>
          </a:p>
          <a:p xmlns:a="http://schemas.openxmlformats.org/drawingml/2006/main">
            <a:r>
              <a:rPr sz="1400"/>
              <a:t>Docent: https://github.com/meijer1973/4veco-lessen/blob/9b8304d5031cafac936a56281e144573a25fbbc9/edities/books34-v3/books/book-3/chapters/3.1/Docenteninformatie.md</a:t>
            </a:r>
          </a:p>
          <a:p xmlns:a="http://schemas.openxmlformats.org/drawingml/2006/main">
            <a:r>
              <a:rPr sz="1400"/>
              <a:t>Uitlegvoorbeeld — niet uit het boek. Context houten puzzels en alle getallen zijn voor deze les geschreven. Alleen de methode is ontleend aan boekpagina 6–9.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Hoe vind je bij de kruising het aantal en daarna de prijs?</a:t>
            </a:r>
          </a:p>
          <a:p xmlns:a="http://schemas.openxmlformats.org/drawingml/2006/main">
            <a:r>
              <a:rPr sz="1400"/>
              <a:t/>
            </a:r>
          </a:p>
          <a:p xmlns:a="http://schemas.openxmlformats.org/drawingml/2006/main">
            <a:r>
              <a:rPr sz="1400"/>
              <a:t>Uitleg: Lees de horizontale as als puzzels per week en de verticale as als euro per puzzel. Beide lijnen ontmoeten elkaar bij (80; 10). De hulplijnen verbinden de kruising met beide assen. De grafiek toont het relevante domein tot 140; vraag stopt waar Pc nul is.</a:t>
            </a:r>
          </a:p>
          <a:p xmlns:a="http://schemas.openxmlformats.org/drawingml/2006/main">
            <a:r>
              <a:rPr sz="1400"/>
              <a:t/>
            </a:r>
          </a:p>
          <a:p xmlns:a="http://schemas.openxmlformats.org/drawingml/2006/main">
            <a:r>
              <a:rPr sz="1400"/>
              <a:t>Misvatting: De assen zijn numeriek: 80 is een hoeveelheid, geen achtste categorie.</a:t>
            </a:r>
          </a:p>
          <a:p xmlns:a="http://schemas.openxmlformats.org/drawingml/2006/main">
            <a:r>
              <a:rPr sz="1400"/>
              <a:t/>
            </a:r>
          </a:p>
          <a:p xmlns:a="http://schemas.openxmlformats.org/drawingml/2006/main">
            <a:r>
              <a:rPr sz="1400"/>
              <a:t>Overgang: Vertaal nu de aanbodfunctie naar de prijs inclusief belasting.</a:t>
            </a:r>
          </a:p>
          <a:p xmlns:a="http://schemas.openxmlformats.org/drawingml/2006/main">
            <a:r>
              <a:rPr sz="1400"/>
              <a:t/>
            </a:r>
          </a:p>
          <a:p xmlns:a="http://schemas.openxmlformats.org/drawingml/2006/main">
            <a:r>
              <a:rPr sz="1400"/>
              <a:t>Bron: Boek 3, actuele v3-uitgave, revisies t/m 28 september 2026; gedrukte boekpagina 6–9. https://github.com/meijer1973/4veco-lessen/blob/9b8304d5031cafac936a56281e144573a25fbbc9/edities/books34-v3/books/book-3/output/Boek_3_Compleet_v3.pdf</a:t>
            </a:r>
          </a:p>
          <a:p xmlns:a="http://schemas.openxmlformats.org/drawingml/2006/main">
            <a:r>
              <a:rPr sz="1400"/>
              <a:t>Antwoorden: https://github.com/meijer1973/4veco-lessen/blob/9b8304d5031cafac936a56281e144573a25fbbc9/edities/books34-v3/books/book-3/chapters/3.1/Antwoorden.md#ans7</a:t>
            </a:r>
          </a:p>
          <a:p xmlns:a="http://schemas.openxmlformats.org/drawingml/2006/main">
            <a:r>
              <a:rPr sz="1400"/>
              <a:t>Docent: https://github.com/meijer1973/4veco-lessen/blob/9b8304d5031cafac936a56281e144573a25fbbc9/edities/books34-v3/books/book-3/chapters/3.1/Docenteninformatie.md</a:t>
            </a:r>
          </a:p>
          <a:p xmlns:a="http://schemas.openxmlformats.org/drawingml/2006/main">
            <a:r>
              <a:rPr sz="1400"/>
              <a:t>Uitlegvoorbeeld — niet uit het boek. Context houten puzzels en alle getallen zijn voor deze les geschreven. Alleen de methode is ontleend aan boekpagina 6–9.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blijft de coëfficiënt 0,10 gelijk?</a:t>
            </a:r>
          </a:p>
          <a:p xmlns:a="http://schemas.openxmlformats.org/drawingml/2006/main">
            <a:r>
              <a:rPr sz="1400"/>
              <a:t/>
            </a:r>
          </a:p>
          <a:p xmlns:a="http://schemas.openxmlformats.org/drawingml/2006/main">
            <a:r>
              <a:rPr sz="1400"/>
              <a:t>Uitleg: Vergelijk bij dezelfde hoeveelheid de gewenste ontvangst met de benodigde betaling. Voor 60 puzzels wil men 8 euro per puzzel ontvangen; om ook 6 af te dragen moet de koper 14 betalen. Dit geldt voor elke Q. De productiekosten veranderen hier niet. De oorspronkelijke A blijft de ontvangstfunctie; A+t beschrijft dezelfde aanbodbeslissing in kopersprijzen.</a:t>
            </a:r>
          </a:p>
          <a:p xmlns:a="http://schemas.openxmlformats.org/drawingml/2006/main">
            <a:r>
              <a:rPr sz="1400"/>
              <a:t/>
            </a:r>
          </a:p>
          <a:p xmlns:a="http://schemas.openxmlformats.org/drawingml/2006/main">
            <a:r>
              <a:rPr sz="1400"/>
              <a:t>Misvatting: Tel t bij de aanbodfunctie op, niet zomaar bij de oude evenwichtsprijs.</a:t>
            </a:r>
          </a:p>
          <a:p xmlns:a="http://schemas.openxmlformats.org/drawingml/2006/main">
            <a:r>
              <a:rPr sz="1400"/>
              <a:t/>
            </a:r>
          </a:p>
          <a:p xmlns:a="http://schemas.openxmlformats.org/drawingml/2006/main">
            <a:r>
              <a:rPr sz="1400"/>
              <a:t>Overgang: Bekijk A en A+t op dezelfde assen.</a:t>
            </a:r>
          </a:p>
          <a:p xmlns:a="http://schemas.openxmlformats.org/drawingml/2006/main">
            <a:r>
              <a:rPr sz="1400"/>
              <a:t/>
            </a:r>
          </a:p>
          <a:p xmlns:a="http://schemas.openxmlformats.org/drawingml/2006/main">
            <a:r>
              <a:rPr sz="1400"/>
              <a:t>Bron: Boek 3, actuele v3-uitgave, revisies t/m 28 september 2026; gedrukte boekpagina 6–9. https://github.com/meijer1973/4veco-lessen/blob/9b8304d5031cafac936a56281e144573a25fbbc9/edities/books34-v3/books/book-3/output/Boek_3_Compleet_v3.pdf</a:t>
            </a:r>
          </a:p>
          <a:p xmlns:a="http://schemas.openxmlformats.org/drawingml/2006/main">
            <a:r>
              <a:rPr sz="1400"/>
              <a:t>Antwoorden: https://github.com/meijer1973/4veco-lessen/blob/9b8304d5031cafac936a56281e144573a25fbbc9/edities/books34-v3/books/book-3/chapters/3.1/Antwoorden.md#ans7</a:t>
            </a:r>
          </a:p>
          <a:p xmlns:a="http://schemas.openxmlformats.org/drawingml/2006/main">
            <a:r>
              <a:rPr sz="1400"/>
              <a:t>Docent: https://github.com/meijer1973/4veco-lessen/blob/9b8304d5031cafac936a56281e144573a25fbbc9/edities/books34-v3/books/book-3/chapters/3.1/Docenteninformatie.md</a:t>
            </a:r>
          </a:p>
          <a:p xmlns:a="http://schemas.openxmlformats.org/drawingml/2006/main">
            <a:r>
              <a:rPr sz="1400"/>
              <a:t>Uitlegvoorbeeld — niet uit het boek. Context houten puzzels en alle getallen zijn voor deze les geschreven. Alleen de methode is ontleend aan boekpagina 6–9.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twee lijnen bepalen de nieuwe hoeveelheid?</a:t>
            </a:r>
          </a:p>
          <a:p xmlns:a="http://schemas.openxmlformats.org/drawingml/2006/main">
            <a:r>
              <a:rPr sz="1400"/>
              <a:t/>
            </a:r>
          </a:p>
          <a:p xmlns:a="http://schemas.openxmlformats.org/drawingml/2006/main">
            <a:r>
              <a:rPr sz="1400"/>
              <a:t>Uitleg: A begint op 2; A+t op 8. Beide hebben dezelfde helling. De verticale afstand is 6 euro bij elke hoeveelheid. Het snijpunt van V en A+t gaat over de prijs die kopers betalen. Lees de verkopersontvangst later op A.</a:t>
            </a:r>
          </a:p>
          <a:p xmlns:a="http://schemas.openxmlformats.org/drawingml/2006/main">
            <a:r>
              <a:rPr sz="1400"/>
              <a:t/>
            </a:r>
          </a:p>
          <a:p xmlns:a="http://schemas.openxmlformats.org/drawingml/2006/main">
            <a:r>
              <a:rPr sz="1400"/>
              <a:t>Misvatting: A+t is geen nieuwe ontvangstfunctie voor de verkoper na belasting.</a:t>
            </a:r>
          </a:p>
          <a:p xmlns:a="http://schemas.openxmlformats.org/drawingml/2006/main">
            <a:r>
              <a:rPr sz="1400"/>
              <a:t/>
            </a:r>
          </a:p>
          <a:p xmlns:a="http://schemas.openxmlformats.org/drawingml/2006/main">
            <a:r>
              <a:rPr sz="1400"/>
              <a:t>Overgang: Los V = A+t op.</a:t>
            </a:r>
          </a:p>
          <a:p xmlns:a="http://schemas.openxmlformats.org/drawingml/2006/main">
            <a:r>
              <a:rPr sz="1400"/>
              <a:t/>
            </a:r>
          </a:p>
          <a:p xmlns:a="http://schemas.openxmlformats.org/drawingml/2006/main">
            <a:r>
              <a:rPr sz="1400"/>
              <a:t>Bron: Boek 3, actuele v3-uitgave, revisies t/m 28 september 2026; gedrukte boekpagina 6–9. https://github.com/meijer1973/4veco-lessen/blob/9b8304d5031cafac936a56281e144573a25fbbc9/edities/books34-v3/books/book-3/output/Boek_3_Compleet_v3.pdf</a:t>
            </a:r>
          </a:p>
          <a:p xmlns:a="http://schemas.openxmlformats.org/drawingml/2006/main">
            <a:r>
              <a:rPr sz="1400"/>
              <a:t>Antwoorden: https://github.com/meijer1973/4veco-lessen/blob/9b8304d5031cafac936a56281e144573a25fbbc9/edities/books34-v3/books/book-3/chapters/3.1/Antwoorden.md#ans7</a:t>
            </a:r>
          </a:p>
          <a:p xmlns:a="http://schemas.openxmlformats.org/drawingml/2006/main">
            <a:r>
              <a:rPr sz="1400"/>
              <a:t>Docent: https://github.com/meijer1973/4veco-lessen/blob/9b8304d5031cafac936a56281e144573a25fbbc9/edities/books34-v3/books/book-3/chapters/3.1/Docenteninformatie.md</a:t>
            </a:r>
          </a:p>
          <a:p xmlns:a="http://schemas.openxmlformats.org/drawingml/2006/main">
            <a:r>
              <a:rPr sz="1400"/>
              <a:t>Uitlegvoorbeeld — niet uit het boek. Context houten puzzels en alle getallen zijn voor deze les geschreven. Alleen de methode is ontleend aan boekpagina 6–9.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gebruik je nu 8 in plaats van 2?</a:t>
            </a:r>
          </a:p>
          <a:p xmlns:a="http://schemas.openxmlformats.org/drawingml/2006/main">
            <a:r>
              <a:rPr sz="1400"/>
              <a:t/>
            </a:r>
          </a:p>
          <a:p xmlns:a="http://schemas.openxmlformats.org/drawingml/2006/main">
            <a:r>
              <a:rPr sz="1400"/>
              <a:t>Uitleg: De kopersprijs op V moet gelijk zijn aan de benodigde kopersprijs op A+t. Tel 0,20Q op en trek 8 af. De uitkomst is één hoeveelheid voor beide zijden: elke verkochte puzzel wordt gekocht én aangeboden.</a:t>
            </a:r>
          </a:p>
          <a:p xmlns:a="http://schemas.openxmlformats.org/drawingml/2006/main">
            <a:r>
              <a:rPr sz="1400"/>
              <a:t/>
            </a:r>
          </a:p>
          <a:p xmlns:a="http://schemas.openxmlformats.org/drawingml/2006/main">
            <a:r>
              <a:rPr sz="1400"/>
              <a:t>Misvatting: De twee prijzen betekenen niet dat er twee verschillende verhandelde hoeveelheden zijn.</a:t>
            </a:r>
          </a:p>
          <a:p xmlns:a="http://schemas.openxmlformats.org/drawingml/2006/main">
            <a:r>
              <a:rPr sz="1400"/>
              <a:t/>
            </a:r>
          </a:p>
          <a:p xmlns:a="http://schemas.openxmlformats.org/drawingml/2006/main">
            <a:r>
              <a:rPr sz="1400"/>
              <a:t>Overgang: Vul de nieuwe hoeveelheid in beide oorspronkelijke functies in.</a:t>
            </a:r>
          </a:p>
          <a:p xmlns:a="http://schemas.openxmlformats.org/drawingml/2006/main">
            <a:r>
              <a:rPr sz="1400"/>
              <a:t/>
            </a:r>
          </a:p>
          <a:p xmlns:a="http://schemas.openxmlformats.org/drawingml/2006/main">
            <a:r>
              <a:rPr sz="1400"/>
              <a:t>Bron: Boek 3, actuele v3-uitgave, revisies t/m 28 september 2026; gedrukte boekpagina 6–9. https://github.com/meijer1973/4veco-lessen/blob/9b8304d5031cafac936a56281e144573a25fbbc9/edities/books34-v3/books/book-3/output/Boek_3_Compleet_v3.pdf</a:t>
            </a:r>
          </a:p>
          <a:p xmlns:a="http://schemas.openxmlformats.org/drawingml/2006/main">
            <a:r>
              <a:rPr sz="1400"/>
              <a:t>Antwoorden: https://github.com/meijer1973/4veco-lessen/blob/9b8304d5031cafac936a56281e144573a25fbbc9/edities/books34-v3/books/book-3/chapters/3.1/Antwoorden.md#ans7</a:t>
            </a:r>
          </a:p>
          <a:p xmlns:a="http://schemas.openxmlformats.org/drawingml/2006/main">
            <a:r>
              <a:rPr sz="1400"/>
              <a:t>Docent: https://github.com/meijer1973/4veco-lessen/blob/9b8304d5031cafac936a56281e144573a25fbbc9/edities/books34-v3/books/book-3/chapters/3.1/Docenteninformatie.md</a:t>
            </a:r>
          </a:p>
          <a:p xmlns:a="http://schemas.openxmlformats.org/drawingml/2006/main">
            <a:r>
              <a:rPr sz="1400"/>
              <a:t>Uitlegvoorbeeld — niet uit het boek. Context houten puzzels en alle getallen zijn voor deze les geschreven. Alleen de methode is ontleend aan boekpagina 6–9.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Op welke lijn staat het bedrag dat de verkoper na afdracht overhoudt?</a:t>
            </a:r>
          </a:p>
          <a:p xmlns:a="http://schemas.openxmlformats.org/drawingml/2006/main">
            <a:r>
              <a:rPr sz="1400"/>
              <a:t/>
            </a:r>
          </a:p>
          <a:p xmlns:a="http://schemas.openxmlformats.org/drawingml/2006/main">
            <a:r>
              <a:rPr sz="1400"/>
              <a:t>Uitleg: Gebruik voor Pc de vraagfunctie en voor Pp de oorspronkelijke aanbodfunctie. Een tweede controle is Pc min t = Pp. De overheid krijgt 6 euro per verkochte puzzel, de verkoper ontvangt 8 vóór kosten.</a:t>
            </a:r>
          </a:p>
          <a:p xmlns:a="http://schemas.openxmlformats.org/drawingml/2006/main">
            <a:r>
              <a:rPr sz="1400"/>
              <a:t/>
            </a:r>
          </a:p>
          <a:p xmlns:a="http://schemas.openxmlformats.org/drawingml/2006/main">
            <a:r>
              <a:rPr sz="1400"/>
              <a:t>Misvatting: Trek t niet nog eens af van de uitkomst van de oorspronkelijke A.</a:t>
            </a:r>
          </a:p>
          <a:p xmlns:a="http://schemas.openxmlformats.org/drawingml/2006/main">
            <a:r>
              <a:rPr sz="1400"/>
              <a:t/>
            </a:r>
          </a:p>
          <a:p xmlns:a="http://schemas.openxmlformats.org/drawingml/2006/main">
            <a:r>
              <a:rPr sz="1400"/>
              <a:t>Overgang: Markeer beide bedragen boven dezelfde Q in de grafiek.</a:t>
            </a:r>
          </a:p>
          <a:p xmlns:a="http://schemas.openxmlformats.org/drawingml/2006/main">
            <a:r>
              <a:rPr sz="1400"/>
              <a:t/>
            </a:r>
          </a:p>
          <a:p xmlns:a="http://schemas.openxmlformats.org/drawingml/2006/main">
            <a:r>
              <a:rPr sz="1400"/>
              <a:t>Bron: Boek 3, actuele v3-uitgave, revisies t/m 28 september 2026; gedrukte boekpagina 6–9. https://github.com/meijer1973/4veco-lessen/blob/9b8304d5031cafac936a56281e144573a25fbbc9/edities/books34-v3/books/book-3/output/Boek_3_Compleet_v3.pdf</a:t>
            </a:r>
          </a:p>
          <a:p xmlns:a="http://schemas.openxmlformats.org/drawingml/2006/main">
            <a:r>
              <a:rPr sz="1400"/>
              <a:t>Antwoorden: https://github.com/meijer1973/4veco-lessen/blob/9b8304d5031cafac936a56281e144573a25fbbc9/edities/books34-v3/books/book-3/chapters/3.1/Antwoorden.md#ans7</a:t>
            </a:r>
          </a:p>
          <a:p xmlns:a="http://schemas.openxmlformats.org/drawingml/2006/main">
            <a:r>
              <a:rPr sz="1400"/>
              <a:t>Docent: https://github.com/meijer1973/4veco-lessen/blob/9b8304d5031cafac936a56281e144573a25fbbc9/edities/books34-v3/books/book-3/chapters/3.1/Docenteninformatie.md</a:t>
            </a:r>
          </a:p>
          <a:p xmlns:a="http://schemas.openxmlformats.org/drawingml/2006/main">
            <a:r>
              <a:rPr sz="1400"/>
              <a:t>Uitlegvoorbeeld — niet uit het boek. Context houten puzzels en alle getallen zijn voor deze les geschreven. Alleen de methode is ontleend aan boekpagina 6–9.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moet de wig verticaal zijn?</a:t>
            </a:r>
          </a:p>
          <a:p xmlns:a="http://schemas.openxmlformats.org/drawingml/2006/main">
            <a:r>
              <a:rPr sz="1400"/>
              <a:t/>
            </a:r>
          </a:p>
          <a:p xmlns:a="http://schemas.openxmlformats.org/drawingml/2006/main">
            <a:r>
              <a:rPr sz="1400"/>
              <a:t>Uitleg: Volg Q=60 omhoog naar V en A+t: Pc=14. Op de oorspronkelijke A bij diezelfde Q staat Pp=8. De oranje verticale lijn tussen deze twee punten is de wig van 6 euro. Alle progressive grafieken gebruiken exact dezelfde schalen.</a:t>
            </a:r>
          </a:p>
          <a:p xmlns:a="http://schemas.openxmlformats.org/drawingml/2006/main">
            <a:r>
              <a:rPr sz="1400"/>
              <a:t/>
            </a:r>
          </a:p>
          <a:p xmlns:a="http://schemas.openxmlformats.org/drawingml/2006/main">
            <a:r>
              <a:rPr sz="1400"/>
              <a:t>Misvatting: Een horizontale afstand is een verschil in aantallen, geen euro per puzzel.</a:t>
            </a:r>
          </a:p>
          <a:p xmlns:a="http://schemas.openxmlformats.org/drawingml/2006/main">
            <a:r>
              <a:rPr sz="1400"/>
              <a:t/>
            </a:r>
          </a:p>
          <a:p xmlns:a="http://schemas.openxmlformats.org/drawingml/2006/main">
            <a:r>
              <a:rPr sz="1400"/>
              <a:t>Overgang: Vergelijk beide nieuwe prijzen met de oude prijs.</a:t>
            </a:r>
          </a:p>
          <a:p xmlns:a="http://schemas.openxmlformats.org/drawingml/2006/main">
            <a:r>
              <a:rPr sz="1400"/>
              <a:t/>
            </a:r>
          </a:p>
          <a:p xmlns:a="http://schemas.openxmlformats.org/drawingml/2006/main">
            <a:r>
              <a:rPr sz="1400"/>
              <a:t>Bron: Boek 3, actuele v3-uitgave, revisies t/m 28 september 2026; gedrukte boekpagina 6–9. https://github.com/meijer1973/4veco-lessen/blob/9b8304d5031cafac936a56281e144573a25fbbc9/edities/books34-v3/books/book-3/output/Boek_3_Compleet_v3.pdf</a:t>
            </a:r>
          </a:p>
          <a:p xmlns:a="http://schemas.openxmlformats.org/drawingml/2006/main">
            <a:r>
              <a:rPr sz="1400"/>
              <a:t>Antwoorden: https://github.com/meijer1973/4veco-lessen/blob/9b8304d5031cafac936a56281e144573a25fbbc9/edities/books34-v3/books/book-3/chapters/3.1/Antwoorden.md#ans7</a:t>
            </a:r>
          </a:p>
          <a:p xmlns:a="http://schemas.openxmlformats.org/drawingml/2006/main">
            <a:r>
              <a:rPr sz="1400"/>
              <a:t>Docent: https://github.com/meijer1973/4veco-lessen/blob/9b8304d5031cafac936a56281e144573a25fbbc9/edities/books34-v3/books/book-3/chapters/3.1/Docenteninformatie.md</a:t>
            </a:r>
          </a:p>
          <a:p xmlns:a="http://schemas.openxmlformats.org/drawingml/2006/main">
            <a:r>
              <a:rPr sz="1400"/>
              <a:t>Uitlegvoorbeeld — niet uit het boek. Context houten puzzels en alle getallen zijn voor deze les geschreven. Alleen de methode is ontleend aan boekpagina 6–9.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Kun je zonder P₀ bepalen wie de grootste last draagt?</a:t>
            </a:r>
          </a:p>
          <a:p xmlns:a="http://schemas.openxmlformats.org/drawingml/2006/main">
            <a:r>
              <a:rPr sz="1400"/>
              <a:t/>
            </a:r>
          </a:p>
          <a:p xmlns:a="http://schemas.openxmlformats.org/drawingml/2006/main">
            <a:r>
              <a:rPr sz="1400"/>
              <a:t>Uitleg: Afdragen is het overmaken van 6 euro. De economische last vergelijkt met de oude prijs: koper 4 meer, verkoper 2 minder. Samen 6. Dit voorbeeld laat zien dat delen niet automatisch halveren. Een hogere Pc gaat samen met een lagere Pp; op beide oorspronkelijke curves hoort daar minder Q bij.</a:t>
            </a:r>
          </a:p>
          <a:p xmlns:a="http://schemas.openxmlformats.org/drawingml/2006/main">
            <a:r>
              <a:rPr sz="1400"/>
              <a:t/>
            </a:r>
          </a:p>
          <a:p xmlns:a="http://schemas.openxmlformats.org/drawingml/2006/main">
            <a:r>
              <a:rPr sz="1400"/>
              <a:t>Misvatting: De wig geeft het totaal per product. De verdeling vereist de oude prijs; Pp is nog geen winst.</a:t>
            </a:r>
          </a:p>
          <a:p xmlns:a="http://schemas.openxmlformats.org/drawingml/2006/main">
            <a:r>
              <a:rPr sz="1400"/>
              <a:t/>
            </a:r>
          </a:p>
          <a:p xmlns:a="http://schemas.openxmlformats.org/drawingml/2006/main">
            <a:r>
              <a:rPr sz="1400"/>
              <a:t>Overgang: Controleer of zomaar optellen bij de oude prijs werkt.</a:t>
            </a:r>
          </a:p>
          <a:p xmlns:a="http://schemas.openxmlformats.org/drawingml/2006/main">
            <a:r>
              <a:rPr sz="1400"/>
              <a:t/>
            </a:r>
          </a:p>
          <a:p xmlns:a="http://schemas.openxmlformats.org/drawingml/2006/main">
            <a:r>
              <a:rPr sz="1400"/>
              <a:t>Bron: Boek 3, actuele v3-uitgave, revisies t/m 28 september 2026; gedrukte boekpagina 6–9. https://github.com/meijer1973/4veco-lessen/blob/9b8304d5031cafac936a56281e144573a25fbbc9/edities/books34-v3/books/book-3/output/Boek_3_Compleet_v3.pdf</a:t>
            </a:r>
          </a:p>
          <a:p xmlns:a="http://schemas.openxmlformats.org/drawingml/2006/main">
            <a:r>
              <a:rPr sz="1400"/>
              <a:t>Antwoorden: https://github.com/meijer1973/4veco-lessen/blob/9b8304d5031cafac936a56281e144573a25fbbc9/edities/books34-v3/books/book-3/chapters/3.1/Antwoorden.md#ans7</a:t>
            </a:r>
          </a:p>
          <a:p xmlns:a="http://schemas.openxmlformats.org/drawingml/2006/main">
            <a:r>
              <a:rPr sz="1400"/>
              <a:t>Docent: https://github.com/meijer1973/4veco-lessen/blob/9b8304d5031cafac936a56281e144573a25fbbc9/edities/books34-v3/books/book-3/chapters/3.1/Docenteninformatie.md</a:t>
            </a:r>
          </a:p>
          <a:p xmlns:a="http://schemas.openxmlformats.org/drawingml/2006/main">
            <a:r>
              <a:rPr sz="1400"/>
              <a:t>Uitlegvoorbeeld — niet uit het boek. Context houten puzzels en alle getallen zijn voor deze les geschreven. Alleen de methode is ontleend aan boekpagina 6–9.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Zijn vraag en aanbod bij de voorgestelde prijzen even groot?</a:t>
            </a:r>
          </a:p>
          <a:p xmlns:a="http://schemas.openxmlformats.org/drawingml/2006/main">
            <a:r>
              <a:rPr sz="1400"/>
              <a:t/>
            </a:r>
          </a:p>
          <a:p xmlns:a="http://schemas.openxmlformats.org/drawingml/2006/main">
            <a:r>
              <a:rPr sz="1400"/>
              <a:t>Uitleg: Laat leerlingen eerst nadenken en hun redenering benoemen. De getoonde functies behoren uitsluitend bij het uitlegvoorbeeld. Laat de geclaimde Pc omzetten in Pp en beide hoeveelheden vergelijken.</a:t>
            </a:r>
          </a:p>
          <a:p xmlns:a="http://schemas.openxmlformats.org/drawingml/2006/main">
            <a:r>
              <a:rPr sz="1400"/>
              <a:t/>
            </a:r>
          </a:p>
          <a:p xmlns:a="http://schemas.openxmlformats.org/drawingml/2006/main">
            <a:r>
              <a:rPr sz="1400"/>
              <a:t>Misvatting: Met twee prijzen moet je in de juiste functie invullen; Qv en Qa verschillen hier omdat de voorgestelde prijs onjuist is.</a:t>
            </a:r>
          </a:p>
          <a:p xmlns:a="http://schemas.openxmlformats.org/drawingml/2006/main">
            <a:r>
              <a:rPr sz="1400"/>
              <a:t/>
            </a:r>
          </a:p>
          <a:p xmlns:a="http://schemas.openxmlformats.org/drawingml/2006/main">
            <a:r>
              <a:rPr sz="1400"/>
              <a:t>Overgang: Toon de vergelijking van beide hoeveelheden.</a:t>
            </a:r>
          </a:p>
          <a:p xmlns:a="http://schemas.openxmlformats.org/drawingml/2006/main">
            <a:r>
              <a:rPr sz="1400"/>
              <a:t/>
            </a:r>
          </a:p>
          <a:p xmlns:a="http://schemas.openxmlformats.org/drawingml/2006/main">
            <a:r>
              <a:rPr sz="1400"/>
              <a:t>Bron: Boek 3, actuele v3-uitgave, revisies t/m 28 september 2026; gedrukte boekpagina 6–9. https://github.com/meijer1973/4veco-lessen/blob/9b8304d5031cafac936a56281e144573a25fbbc9/edities/books34-v3/books/book-3/output/Boek_3_Compleet_v3.pdf</a:t>
            </a:r>
          </a:p>
          <a:p xmlns:a="http://schemas.openxmlformats.org/drawingml/2006/main">
            <a:r>
              <a:rPr sz="1400"/>
              <a:t>Antwoorden: https://github.com/meijer1973/4veco-lessen/blob/9b8304d5031cafac936a56281e144573a25fbbc9/edities/books34-v3/books/book-3/chapters/3.1/Antwoorden.md#ans7</a:t>
            </a:r>
          </a:p>
          <a:p xmlns:a="http://schemas.openxmlformats.org/drawingml/2006/main">
            <a:r>
              <a:rPr sz="1400"/>
              <a:t>Docent: https://github.com/meijer1973/4veco-lessen/blob/9b8304d5031cafac936a56281e144573a25fbbc9/edities/books34-v3/books/book-3/chapters/3.1/Docenteninformatie.md</a:t>
            </a:r>
          </a:p>
          <a:p xmlns:a="http://schemas.openxmlformats.org/drawingml/2006/main">
            <a:r>
              <a:rPr sz="1400"/>
              <a:t>Uitlegvoorbeeld — niet uit het boek. Context houten puzzels en alle getallen zijn voor deze les geschreven. Alleen de methode is ontleend aan boekpagina 6–9.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Zijn vraag en aanbod bij de voorgestelde prijzen even groot?</a:t>
            </a:r>
          </a:p>
          <a:p xmlns:a="http://schemas.openxmlformats.org/drawingml/2006/main">
            <a:r>
              <a:rPr sz="1400"/>
              <a:t/>
            </a:r>
          </a:p>
          <a:p xmlns:a="http://schemas.openxmlformats.org/drawingml/2006/main">
            <a:r>
              <a:rPr sz="1400"/>
              <a:t>Uitleg: Keer de functies om: 0,20Qv=10 dus Qv=50; 0,10Qa=8 dus Qa=80. Er is geen evenwicht. Het juiste evenwicht was Qt=60, Pc=14 en Pp=8. Laat leerlingen daarna startopgave 2 opnieuw bekijken.</a:t>
            </a:r>
          </a:p>
          <a:p xmlns:a="http://schemas.openxmlformats.org/drawingml/2006/main">
            <a:r>
              <a:rPr sz="1400"/>
              <a:t/>
            </a:r>
          </a:p>
          <a:p xmlns:a="http://schemas.openxmlformats.org/drawingml/2006/main">
            <a:r>
              <a:rPr sz="1400"/>
              <a:t>Misvatting: Met twee prijzen moet je in de juiste functie invullen; Qv en Qa verschillen hier omdat de voorgestelde prijs onjuist is.</a:t>
            </a:r>
          </a:p>
          <a:p xmlns:a="http://schemas.openxmlformats.org/drawingml/2006/main">
            <a:r>
              <a:rPr sz="1400"/>
              <a:t/>
            </a:r>
          </a:p>
          <a:p xmlns:a="http://schemas.openxmlformats.org/drawingml/2006/main">
            <a:r>
              <a:rPr sz="1400"/>
              <a:t>Overgang: Terug naar startopgave 2, daarna basis 3–4 en zelfstandig werk.</a:t>
            </a:r>
          </a:p>
          <a:p xmlns:a="http://schemas.openxmlformats.org/drawingml/2006/main">
            <a:r>
              <a:rPr sz="1400"/>
              <a:t/>
            </a:r>
          </a:p>
          <a:p xmlns:a="http://schemas.openxmlformats.org/drawingml/2006/main">
            <a:r>
              <a:rPr sz="1400"/>
              <a:t>Bron: Boek 3, actuele v3-uitgave, revisies t/m 28 september 2026; gedrukte boekpagina 6–9. https://github.com/meijer1973/4veco-lessen/blob/9b8304d5031cafac936a56281e144573a25fbbc9/edities/books34-v3/books/book-3/output/Boek_3_Compleet_v3.pdf</a:t>
            </a:r>
          </a:p>
          <a:p xmlns:a="http://schemas.openxmlformats.org/drawingml/2006/main">
            <a:r>
              <a:rPr sz="1400"/>
              <a:t>Antwoorden: https://github.com/meijer1973/4veco-lessen/blob/9b8304d5031cafac936a56281e144573a25fbbc9/edities/books34-v3/books/book-3/chapters/3.1/Antwoorden.md#ans7</a:t>
            </a:r>
          </a:p>
          <a:p xmlns:a="http://schemas.openxmlformats.org/drawingml/2006/main">
            <a:r>
              <a:rPr sz="1400"/>
              <a:t>Docent: https://github.com/meijer1973/4veco-lessen/blob/9b8304d5031cafac936a56281e144573a25fbbc9/edities/books34-v3/books/book-3/chapters/3.1/Docenteninformatie.md</a:t>
            </a:r>
          </a:p>
          <a:p xmlns:a="http://schemas.openxmlformats.org/drawingml/2006/main">
            <a:r>
              <a:rPr sz="1400"/>
              <a:t>Uitlegvoorbeeld — niet uit het boek. Context houten puzzels en alle getallen zijn voor deze les geschreven. Alleen de methode is ontleend aan boekpagina 6–9.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stap of uitleg wil je nog verbeteren?</a:t>
            </a:r>
          </a:p>
          <a:p xmlns:a="http://schemas.openxmlformats.org/drawingml/2006/main">
            <a:r>
              <a:rPr sz="1400"/>
              <a:t/>
            </a:r>
          </a:p>
          <a:p xmlns:a="http://schemas.openxmlformats.org/drawingml/2006/main">
            <a:r>
              <a:rPr sz="1400"/>
              <a:t>Uitleg: Laat dit overzicht staan tijdens zelfstandig werken. Start 1–2: boekpagina 9; basis 3–4: p. 10; zelfstandig 5–6: p. 11; doel 7: p. 12. Huiswerk: 3, 4, 5, 6 en 7 maken en nakijken. Bonus 8 en herhaling 9 zijn extra. Opgave 1 haalt een vergelijking oplossen en invullen terug; vraag welke stappen leerlingen gebruiken. Opgave 2 verkent nieuwe stof: laat eerst de begrippen Pc en Pp en de belastingwig op p. 6 lezen en de vergelijking met de oude prijs op p. 9. Laat leerlingen bij 2b benoemen welke informatie ontbreekt; geef het antwoord niet vooraf. Keer na de uitleg vóór zelfstandig oefenen terug naar opgave 2 en laat de redenering verbeteren. De docentenhandleiding adviseert voorlopig twee lessen van 55 minuten; dat is niet gemeten. Gebruik de fasegrens flexibel, behoud de volledige oefenroute.</a:t>
            </a:r>
          </a:p>
          <a:p xmlns:a="http://schemas.openxmlformats.org/drawingml/2006/main">
            <a:r>
              <a:rPr sz="1400"/>
              <a:t/>
            </a:r>
          </a:p>
          <a:p xmlns:a="http://schemas.openxmlformats.org/drawingml/2006/main">
            <a:r>
              <a:rPr sz="1400"/>
              <a:t>Misvatting: De hoofdstukpagina’s 5 en 8 zijn in het volledige boek pagina 9 en 12. Gebruik de gedrukte boekvoet.</a:t>
            </a:r>
          </a:p>
          <a:p xmlns:a="http://schemas.openxmlformats.org/drawingml/2006/main">
            <a:r>
              <a:rPr sz="1400"/>
              <a:t/>
            </a:r>
          </a:p>
          <a:p xmlns:a="http://schemas.openxmlformats.org/drawingml/2006/main">
            <a:r>
              <a:rPr sz="1400"/>
              <a:t>Overgang: Ga verder wanneer de klas aan de volgende fase toe is.</a:t>
            </a:r>
          </a:p>
          <a:p xmlns:a="http://schemas.openxmlformats.org/drawingml/2006/main">
            <a:r>
              <a:rPr sz="1400"/>
              <a:t/>
            </a:r>
          </a:p>
          <a:p xmlns:a="http://schemas.openxmlformats.org/drawingml/2006/main">
            <a:r>
              <a:rPr sz="1400"/>
              <a:t>Bron: Boek 3, actuele v3-uitgave, revisies t/m 28 september 2026; gedrukte boekpagina 6–12. https://github.com/meijer1973/4veco-lessen/blob/9b8304d5031cafac936a56281e144573a25fbbc9/edities/books34-v3/books/book-3/output/Boek_3_Compleet_v3.pdf</a:t>
            </a:r>
          </a:p>
          <a:p xmlns:a="http://schemas.openxmlformats.org/drawingml/2006/main">
            <a:r>
              <a:rPr sz="1400"/>
              <a:t>Antwoorden: https://github.com/meijer1973/4veco-lessen/blob/9b8304d5031cafac936a56281e144573a25fbbc9/edities/books34-v3/books/book-3/chapters/3.1/Antwoorden.md#ans7</a:t>
            </a:r>
          </a:p>
          <a:p xmlns:a="http://schemas.openxmlformats.org/drawingml/2006/main">
            <a:r>
              <a:rPr sz="1400"/>
              <a:t>Docent: https://github.com/meijer1973/4veco-lessen/blob/9b8304d5031cafac936a56281e144573a25fbbc9/edities/books34-v3/books/book-3/chapters/3.1/Docenteninformatie.md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functie hoort bij de koper, welke bij de verkoper?</a:t>
            </a:r>
          </a:p>
          <a:p xmlns:a="http://schemas.openxmlformats.org/drawingml/2006/main">
            <a:r>
              <a:rPr sz="1400"/>
              <a:t/>
            </a:r>
          </a:p>
          <a:p xmlns:a="http://schemas.openxmlformats.org/drawingml/2006/main">
            <a:r>
              <a:rPr sz="1400"/>
              <a:t>Uitleg: Dit zijn de volledige context en gegevens van de echte doeloefening. Start de bespreking pas nadat leerlingen die zelf hebben geprobeerd. De volgende twee dia’s tonen alle deelvragen en de basisgrafiek zonder oplossingen.</a:t>
            </a:r>
          </a:p>
          <a:p xmlns:a="http://schemas.openxmlformats.org/drawingml/2006/main">
            <a:r>
              <a:rPr sz="1400"/>
              <a:t/>
            </a:r>
          </a:p>
          <a:p xmlns:a="http://schemas.openxmlformats.org/drawingml/2006/main">
            <a:r>
              <a:rPr sz="1400"/>
              <a:t>Misvatting: Reset de context: t is nu 3 euro, niet 6; Q is per dag, niet per week.</a:t>
            </a:r>
          </a:p>
          <a:p xmlns:a="http://schemas.openxmlformats.org/drawingml/2006/main">
            <a:r>
              <a:rPr sz="1400"/>
              <a:t/>
            </a:r>
          </a:p>
          <a:p xmlns:a="http://schemas.openxmlformats.org/drawingml/2006/main">
            <a:r>
              <a:rPr sz="1400"/>
              <a:t>Overgang: Toon eerst alle vragen, zonder al antwoorden te onthullen.</a:t>
            </a:r>
          </a:p>
          <a:p xmlns:a="http://schemas.openxmlformats.org/drawingml/2006/main">
            <a:r>
              <a:rPr sz="1400"/>
              <a:t/>
            </a:r>
          </a:p>
          <a:p xmlns:a="http://schemas.openxmlformats.org/drawingml/2006/main">
            <a:r>
              <a:rPr sz="1400"/>
              <a:t>Bron: Boek 3, actuele v3-uitgave, revisies t/m 28 september 2026; gedrukte boekpagina 12. https://github.com/meijer1973/4veco-lessen/blob/9b8304d5031cafac936a56281e144573a25fbbc9/edities/books34-v3/books/book-3/output/Boek_3_Compleet_v3.pdf</a:t>
            </a:r>
          </a:p>
          <a:p xmlns:a="http://schemas.openxmlformats.org/drawingml/2006/main">
            <a:r>
              <a:rPr sz="1400"/>
              <a:t>Antwoorden: https://github.com/meijer1973/4veco-lessen/blob/9b8304d5031cafac936a56281e144573a25fbbc9/edities/books34-v3/books/book-3/chapters/3.1/Antwoorden.md#ans7</a:t>
            </a:r>
          </a:p>
          <a:p xmlns:a="http://schemas.openxmlformats.org/drawingml/2006/main">
            <a:r>
              <a:rPr sz="1400"/>
              <a:t>Docent: https://github.com/meijer1973/4veco-lessen/blob/9b8304d5031cafac936a56281e144573a25fbbc9/edities/books34-v3/books/book-3/chapters/3.1/Docenteninformatie.md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grootheden moet je antwoord straks bevatten?</a:t>
            </a:r>
          </a:p>
          <a:p xmlns:a="http://schemas.openxmlformats.org/drawingml/2006/main">
            <a:r>
              <a:rPr sz="1400"/>
              <a:t/>
            </a:r>
          </a:p>
          <a:p xmlns:a="http://schemas.openxmlformats.org/drawingml/2006/main">
            <a:r>
              <a:rPr sz="1400"/>
              <a:t>Uitleg: Lees a tot en met c volledig. De context blijft Pc=20−0,20Q; Pp=2+0,10Q; t=3. Toon nog geen oplossingen.</a:t>
            </a:r>
          </a:p>
          <a:p xmlns:a="http://schemas.openxmlformats.org/drawingml/2006/main">
            <a:r>
              <a:rPr sz="1400"/>
              <a:t/>
            </a:r>
          </a:p>
          <a:p xmlns:a="http://schemas.openxmlformats.org/drawingml/2006/main">
            <a:r>
              <a:rPr sz="1400"/>
              <a:t>Misvatting: De nieuwe hoeveelheid is nog niet de gevraagde vrije hoeveelheid bij a.</a:t>
            </a:r>
          </a:p>
          <a:p xmlns:a="http://schemas.openxmlformats.org/drawingml/2006/main">
            <a:r>
              <a:rPr sz="1400"/>
              <a:t/>
            </a:r>
          </a:p>
          <a:p xmlns:a="http://schemas.openxmlformats.org/drawingml/2006/main">
            <a:r>
              <a:rPr sz="1400"/>
              <a:t>Overgang: Toon de grafiek en deelvragen d en e.</a:t>
            </a:r>
          </a:p>
          <a:p xmlns:a="http://schemas.openxmlformats.org/drawingml/2006/main">
            <a:r>
              <a:rPr sz="1400"/>
              <a:t/>
            </a:r>
          </a:p>
          <a:p xmlns:a="http://schemas.openxmlformats.org/drawingml/2006/main">
            <a:r>
              <a:rPr sz="1400"/>
              <a:t>Bron: Boek 3, actuele v3-uitgave, revisies t/m 28 september 2026; gedrukte boekpagina 12. https://github.com/meijer1973/4veco-lessen/blob/9b8304d5031cafac936a56281e144573a25fbbc9/edities/books34-v3/books/book-3/output/Boek_3_Compleet_v3.pdf</a:t>
            </a:r>
          </a:p>
          <a:p xmlns:a="http://schemas.openxmlformats.org/drawingml/2006/main">
            <a:r>
              <a:rPr sz="1400"/>
              <a:t>Antwoorden: https://github.com/meijer1973/4veco-lessen/blob/9b8304d5031cafac936a56281e144573a25fbbc9/edities/books34-v3/books/book-3/chapters/3.1/Antwoorden.md#ans7</a:t>
            </a:r>
          </a:p>
          <a:p xmlns:a="http://schemas.openxmlformats.org/drawingml/2006/main">
            <a:r>
              <a:rPr sz="1400"/>
              <a:t>Docent: https://github.com/meijer1973/4veco-lessen/blob/9b8304d5031cafac936a56281e144573a25fbbc9/edities/books34-v3/books/book-3/chapters/3.1/Docenteninformatie.md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 lees je later de ontvangst na afdracht af?</a:t>
            </a:r>
          </a:p>
          <a:p xmlns:a="http://schemas.openxmlformats.org/drawingml/2006/main">
            <a:r>
              <a:rPr sz="1400"/>
              <a:t/>
            </a:r>
          </a:p>
          <a:p xmlns:a="http://schemas.openxmlformats.org/drawingml/2006/main">
            <a:r>
              <a:rPr sz="1400"/>
              <a:t>Uitleg: De basisgrafiek is als bewerkbare XY-grafiek overgenomen met dezelfde functies en domeinen als figuur 5: Q 0–100, P 0–22, V van (0;20) tot (100;0), A van (0;2) tot (100;12). Alle vijf vragen zijn nu beschikbaar zonder oplossingen.</a:t>
            </a:r>
          </a:p>
          <a:p xmlns:a="http://schemas.openxmlformats.org/drawingml/2006/main">
            <a:r>
              <a:rPr sz="1400"/>
              <a:t/>
            </a:r>
          </a:p>
          <a:p xmlns:a="http://schemas.openxmlformats.org/drawingml/2006/main">
            <a:r>
              <a:rPr sz="1400"/>
              <a:t>Misvatting: De basisgrafiek bevat bewust nog geen belastinglijn of nieuwe uitkomst.</a:t>
            </a:r>
          </a:p>
          <a:p xmlns:a="http://schemas.openxmlformats.org/drawingml/2006/main">
            <a:r>
              <a:rPr sz="1400"/>
              <a:t/>
            </a:r>
          </a:p>
          <a:p xmlns:a="http://schemas.openxmlformats.org/drawingml/2006/main">
            <a:r>
              <a:rPr sz="1400"/>
              <a:t>Overgang: Begin de uitwerking bij het vrije evenwicht.</a:t>
            </a:r>
          </a:p>
          <a:p xmlns:a="http://schemas.openxmlformats.org/drawingml/2006/main">
            <a:r>
              <a:rPr sz="1400"/>
              <a:t/>
            </a:r>
          </a:p>
          <a:p xmlns:a="http://schemas.openxmlformats.org/drawingml/2006/main">
            <a:r>
              <a:rPr sz="1400"/>
              <a:t>Bron: Boek 3, actuele v3-uitgave, revisies t/m 28 september 2026; gedrukte boekpagina 12. https://github.com/meijer1973/4veco-lessen/blob/9b8304d5031cafac936a56281e144573a25fbbc9/edities/books34-v3/books/book-3/output/Boek_3_Compleet_v3.pdf</a:t>
            </a:r>
          </a:p>
          <a:p xmlns:a="http://schemas.openxmlformats.org/drawingml/2006/main">
            <a:r>
              <a:rPr sz="1400"/>
              <a:t>Antwoorden: https://github.com/meijer1973/4veco-lessen/blob/9b8304d5031cafac936a56281e144573a25fbbc9/edities/books34-v3/books/book-3/chapters/3.1/Antwoorden.md#ans7</a:t>
            </a:r>
          </a:p>
          <a:p xmlns:a="http://schemas.openxmlformats.org/drawingml/2006/main">
            <a:r>
              <a:rPr sz="1400"/>
              <a:t>Docent: https://github.com/meijer1973/4veco-lessen/blob/9b8304d5031cafac936a56281e144573a25fbbc9/edities/books34-v3/books/book-3/chapters/3.1/Docenteninformatie.md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komt hier nog geen 3 in de vergelijking?</a:t>
            </a:r>
          </a:p>
          <a:p xmlns:a="http://schemas.openxmlformats.org/drawingml/2006/main">
            <a:r>
              <a:rPr sz="1400"/>
              <a:t/>
            </a:r>
          </a:p>
          <a:p xmlns:a="http://schemas.openxmlformats.org/drawingml/2006/main">
            <a:r>
              <a:rPr sz="1400"/>
              <a:t>Uitleg: Stel V gelijk aan A omdat er zonder belasting één prijs is. Tel 0,20Q op en trek 2 af. Deel 18 door 0,30. Vul 60 in V in en controleer met A.</a:t>
            </a:r>
          </a:p>
          <a:p xmlns:a="http://schemas.openxmlformats.org/drawingml/2006/main">
            <a:r>
              <a:rPr sz="1400"/>
              <a:t/>
            </a:r>
          </a:p>
          <a:p xmlns:a="http://schemas.openxmlformats.org/drawingml/2006/main">
            <a:r>
              <a:rPr sz="1400"/>
              <a:t>Misvatting: Deel 18 door 0,30; niet door het verschil van de twee hellingen.</a:t>
            </a:r>
          </a:p>
          <a:p xmlns:a="http://schemas.openxmlformats.org/drawingml/2006/main">
            <a:r>
              <a:rPr sz="1400"/>
              <a:t/>
            </a:r>
          </a:p>
          <a:p xmlns:a="http://schemas.openxmlformats.org/drawingml/2006/main">
            <a:r>
              <a:rPr sz="1400"/>
              <a:t>Overgang: Stel het aanbod in kopersprijzen op.</a:t>
            </a:r>
          </a:p>
          <a:p xmlns:a="http://schemas.openxmlformats.org/drawingml/2006/main">
            <a:r>
              <a:rPr sz="1400"/>
              <a:t/>
            </a:r>
          </a:p>
          <a:p xmlns:a="http://schemas.openxmlformats.org/drawingml/2006/main">
            <a:r>
              <a:rPr sz="1400"/>
              <a:t>Bron: Boek 3, actuele v3-uitgave, revisies t/m 28 september 2026; gedrukte boekpagina 12. https://github.com/meijer1973/4veco-lessen/blob/9b8304d5031cafac936a56281e144573a25fbbc9/edities/books34-v3/books/book-3/output/Boek_3_Compleet_v3.pdf</a:t>
            </a:r>
          </a:p>
          <a:p xmlns:a="http://schemas.openxmlformats.org/drawingml/2006/main">
            <a:r>
              <a:rPr sz="1400"/>
              <a:t>Antwoorden: https://github.com/meijer1973/4veco-lessen/blob/9b8304d5031cafac936a56281e144573a25fbbc9/edities/books34-v3/books/book-3/chapters/3.1/Antwoorden.md#ans7</a:t>
            </a:r>
          </a:p>
          <a:p xmlns:a="http://schemas.openxmlformats.org/drawingml/2006/main">
            <a:r>
              <a:rPr sz="1400"/>
              <a:t>Docent: https://github.com/meijer1973/4veco-lessen/blob/9b8304d5031cafac936a56281e144573a25fbbc9/edities/books34-v3/books/book-3/chapters/3.1/Docenteninformatie.md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verschuift alleen het constante getal?</a:t>
            </a:r>
          </a:p>
          <a:p xmlns:a="http://schemas.openxmlformats.org/drawingml/2006/main">
            <a:r>
              <a:rPr sz="1400"/>
              <a:t/>
            </a:r>
          </a:p>
          <a:p xmlns:a="http://schemas.openxmlformats.org/drawingml/2006/main">
            <a:r>
              <a:rPr sz="1400"/>
              <a:t>Uitleg: Dezelfde gewenste ontvangst plus 3 euro afdracht geeft het nieuwe aanbod in kopersprijzen. Laat precies zien waar de 5 vandaan komt. Stel dat gelijk aan de vraagprijs en los op. De hoeveelheid daalt van 60 naar 50.</a:t>
            </a:r>
          </a:p>
          <a:p xmlns:a="http://schemas.openxmlformats.org/drawingml/2006/main">
            <a:r>
              <a:rPr sz="1400"/>
              <a:t/>
            </a:r>
          </a:p>
          <a:p xmlns:a="http://schemas.openxmlformats.org/drawingml/2006/main">
            <a:r>
              <a:rPr sz="1400"/>
              <a:t>Misvatting: 5 is de prijsas-snijding van A+t, niet de nieuwe marktprijs.</a:t>
            </a:r>
          </a:p>
          <a:p xmlns:a="http://schemas.openxmlformats.org/drawingml/2006/main">
            <a:r>
              <a:rPr sz="1400"/>
              <a:t/>
            </a:r>
          </a:p>
          <a:p xmlns:a="http://schemas.openxmlformats.org/drawingml/2006/main">
            <a:r>
              <a:rPr sz="1400"/>
              <a:t>Overgang: Vul 50 in de oorspronkelijke functies in.</a:t>
            </a:r>
          </a:p>
          <a:p xmlns:a="http://schemas.openxmlformats.org/drawingml/2006/main">
            <a:r>
              <a:rPr sz="1400"/>
              <a:t/>
            </a:r>
          </a:p>
          <a:p xmlns:a="http://schemas.openxmlformats.org/drawingml/2006/main">
            <a:r>
              <a:rPr sz="1400"/>
              <a:t>Bron: Boek 3, actuele v3-uitgave, revisies t/m 28 september 2026; gedrukte boekpagina 12. https://github.com/meijer1973/4veco-lessen/blob/9b8304d5031cafac936a56281e144573a25fbbc9/edities/books34-v3/books/book-3/output/Boek_3_Compleet_v3.pdf</a:t>
            </a:r>
          </a:p>
          <a:p xmlns:a="http://schemas.openxmlformats.org/drawingml/2006/main">
            <a:r>
              <a:rPr sz="1400"/>
              <a:t>Antwoorden: https://github.com/meijer1973/4veco-lessen/blob/9b8304d5031cafac936a56281e144573a25fbbc9/edities/books34-v3/books/book-3/chapters/3.1/Antwoorden.md#ans7</a:t>
            </a:r>
          </a:p>
          <a:p xmlns:a="http://schemas.openxmlformats.org/drawingml/2006/main">
            <a:r>
              <a:rPr sz="1400"/>
              <a:t>Docent: https://github.com/meijer1973/4veco-lessen/blob/9b8304d5031cafac936a56281e144573a25fbbc9/edities/books34-v3/books/book-3/chapters/3.1/Docenteninformatie.md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 zou je terechtkomen als je 50 in A+t invult?</a:t>
            </a:r>
          </a:p>
          <a:p xmlns:a="http://schemas.openxmlformats.org/drawingml/2006/main">
            <a:r>
              <a:rPr sz="1400"/>
              <a:t/>
            </a:r>
          </a:p>
          <a:p xmlns:a="http://schemas.openxmlformats.org/drawingml/2006/main">
            <a:r>
              <a:rPr sz="1400"/>
              <a:t>Uitleg: Pc komt van V, Pp van de oorspronkelijke A. Beide berekeningen gebruiken dezelfde 50 tassen. Controleer zowel de wig als Pp=Pc−3.</a:t>
            </a:r>
          </a:p>
          <a:p xmlns:a="http://schemas.openxmlformats.org/drawingml/2006/main">
            <a:r>
              <a:rPr sz="1400"/>
              <a:t/>
            </a:r>
          </a:p>
          <a:p xmlns:a="http://schemas.openxmlformats.org/drawingml/2006/main">
            <a:r>
              <a:rPr sz="1400"/>
              <a:t>Misvatting: A+t geeft 10, de kopersprijs. Trek niet nogmaals 3 af van Pp=7.</a:t>
            </a:r>
          </a:p>
          <a:p xmlns:a="http://schemas.openxmlformats.org/drawingml/2006/main">
            <a:r>
              <a:rPr sz="1400"/>
              <a:t/>
            </a:r>
          </a:p>
          <a:p xmlns:a="http://schemas.openxmlformats.org/drawingml/2006/main">
            <a:r>
              <a:rPr sz="1400"/>
              <a:t>Overgang: Teken eerst A+t en markeer daarna beide prijzen.</a:t>
            </a:r>
          </a:p>
          <a:p xmlns:a="http://schemas.openxmlformats.org/drawingml/2006/main">
            <a:r>
              <a:rPr sz="1400"/>
              <a:t/>
            </a:r>
          </a:p>
          <a:p xmlns:a="http://schemas.openxmlformats.org/drawingml/2006/main">
            <a:r>
              <a:rPr sz="1400"/>
              <a:t>Bron: Boek 3, actuele v3-uitgave, revisies t/m 28 september 2026; gedrukte boekpagina 12. https://github.com/meijer1973/4veco-lessen/blob/9b8304d5031cafac936a56281e144573a25fbbc9/edities/books34-v3/books/book-3/output/Boek_3_Compleet_v3.pdf</a:t>
            </a:r>
          </a:p>
          <a:p xmlns:a="http://schemas.openxmlformats.org/drawingml/2006/main">
            <a:r>
              <a:rPr sz="1400"/>
              <a:t>Antwoorden: https://github.com/meijer1973/4veco-lessen/blob/9b8304d5031cafac936a56281e144573a25fbbc9/edities/books34-v3/books/book-3/chapters/3.1/Antwoorden.md#ans7</a:t>
            </a:r>
          </a:p>
          <a:p xmlns:a="http://schemas.openxmlformats.org/drawingml/2006/main">
            <a:r>
              <a:rPr sz="1400"/>
              <a:t>Docent: https://github.com/meijer1973/4veco-lessen/blob/9b8304d5031cafac936a56281e144573a25fbbc9/edities/books34-v3/books/book-3/chapters/3.1/Docenteninformatie.md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 snijpunt bepaalt Qt en Pc?</a:t>
            </a:r>
          </a:p>
          <a:p xmlns:a="http://schemas.openxmlformats.org/drawingml/2006/main">
            <a:r>
              <a:rPr sz="1400"/>
              <a:t/>
            </a:r>
          </a:p>
          <a:p xmlns:a="http://schemas.openxmlformats.org/drawingml/2006/main">
            <a:r>
              <a:rPr sz="1400"/>
              <a:t>Uitleg: Teken de rechte A+t door (0;5) en (100;15). Bij elke hoeveelheid ligt deze lijn 3 euro boven A. V blijft onveranderd. De grafiek gebruikt dezelfde grenzen als de basisgrafiek.</a:t>
            </a:r>
          </a:p>
          <a:p xmlns:a="http://schemas.openxmlformats.org/drawingml/2006/main">
            <a:r>
              <a:rPr sz="1400"/>
              <a:t/>
            </a:r>
          </a:p>
          <a:p xmlns:a="http://schemas.openxmlformats.org/drawingml/2006/main">
            <a:r>
              <a:rPr sz="1400"/>
              <a:t>Misvatting: Een belasting per product verandert hier het intercept, niet de helling.</a:t>
            </a:r>
          </a:p>
          <a:p xmlns:a="http://schemas.openxmlformats.org/drawingml/2006/main">
            <a:r>
              <a:rPr sz="1400"/>
              <a:t/>
            </a:r>
          </a:p>
          <a:p xmlns:a="http://schemas.openxmlformats.org/drawingml/2006/main">
            <a:r>
              <a:rPr sz="1400"/>
              <a:t>Overgang: Markeer bij Q=50 de twee prijzen en de verticale wig.</a:t>
            </a:r>
          </a:p>
          <a:p xmlns:a="http://schemas.openxmlformats.org/drawingml/2006/main">
            <a:r>
              <a:rPr sz="1400"/>
              <a:t/>
            </a:r>
          </a:p>
          <a:p xmlns:a="http://schemas.openxmlformats.org/drawingml/2006/main">
            <a:r>
              <a:rPr sz="1400"/>
              <a:t>Bron: Boek 3, actuele v3-uitgave, revisies t/m 28 september 2026; gedrukte boekpagina 12. https://github.com/meijer1973/4veco-lessen/blob/9b8304d5031cafac936a56281e144573a25fbbc9/edities/books34-v3/books/book-3/output/Boek_3_Compleet_v3.pdf</a:t>
            </a:r>
          </a:p>
          <a:p xmlns:a="http://schemas.openxmlformats.org/drawingml/2006/main">
            <a:r>
              <a:rPr sz="1400"/>
              <a:t>Antwoorden: https://github.com/meijer1973/4veco-lessen/blob/9b8304d5031cafac936a56281e144573a25fbbc9/edities/books34-v3/books/book-3/chapters/3.1/Antwoorden.md#ans7</a:t>
            </a:r>
          </a:p>
          <a:p xmlns:a="http://schemas.openxmlformats.org/drawingml/2006/main">
            <a:r>
              <a:rPr sz="1400"/>
              <a:t>Docent: https://github.com/meijer1973/4veco-lessen/blob/9b8304d5031cafac936a56281e144573a25fbbc9/edities/books34-v3/books/book-3/chapters/3.1/Docenteninformatie.md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Zijn de beide prijzen boven dezelfde hoeveelheid gemarkeerd?</a:t>
            </a:r>
          </a:p>
          <a:p xmlns:a="http://schemas.openxmlformats.org/drawingml/2006/main">
            <a:r>
              <a:rPr sz="1400"/>
              <a:t/>
            </a:r>
          </a:p>
          <a:p xmlns:a="http://schemas.openxmlformats.org/drawingml/2006/main">
            <a:r>
              <a:rPr sz="1400"/>
              <a:t>Uitleg: Markeer (50;10) op V en A+t en (50;7) op de oorspronkelijke A. Verbind verticaal. Hulplijnen leiden naar Q=50 en beide prijzen. Laat leerlingen hun eigen punten, aslabels en eenheden vergelijken.</a:t>
            </a:r>
          </a:p>
          <a:p xmlns:a="http://schemas.openxmlformats.org/drawingml/2006/main">
            <a:r>
              <a:rPr sz="1400"/>
              <a:t/>
            </a:r>
          </a:p>
          <a:p xmlns:a="http://schemas.openxmlformats.org/drawingml/2006/main">
            <a:r>
              <a:rPr sz="1400"/>
              <a:t>Misvatting: De wig loopt niet tussen oude en nieuwe Q; dat is een hoeveelheidverschil.</a:t>
            </a:r>
          </a:p>
          <a:p xmlns:a="http://schemas.openxmlformats.org/drawingml/2006/main">
            <a:r>
              <a:rPr sz="1400"/>
              <a:t/>
            </a:r>
          </a:p>
          <a:p xmlns:a="http://schemas.openxmlformats.org/drawingml/2006/main">
            <a:r>
              <a:rPr sz="1400"/>
              <a:t>Overgang: Beoordeel de uitspraak van de verkoper met de oude prijs.</a:t>
            </a:r>
          </a:p>
          <a:p xmlns:a="http://schemas.openxmlformats.org/drawingml/2006/main">
            <a:r>
              <a:rPr sz="1400"/>
              <a:t/>
            </a:r>
          </a:p>
          <a:p xmlns:a="http://schemas.openxmlformats.org/drawingml/2006/main">
            <a:r>
              <a:rPr sz="1400"/>
              <a:t>Bron: Boek 3, actuele v3-uitgave, revisies t/m 28 september 2026; gedrukte boekpagina 12. https://github.com/meijer1973/4veco-lessen/blob/9b8304d5031cafac936a56281e144573a25fbbc9/edities/books34-v3/books/book-3/output/Boek_3_Compleet_v3.pdf</a:t>
            </a:r>
          </a:p>
          <a:p xmlns:a="http://schemas.openxmlformats.org/drawingml/2006/main">
            <a:r>
              <a:rPr sz="1400"/>
              <a:t>Antwoorden: https://github.com/meijer1973/4veco-lessen/blob/9b8304d5031cafac936a56281e144573a25fbbc9/edities/books34-v3/books/book-3/chapters/3.1/Antwoorden.md#ans7</a:t>
            </a:r>
          </a:p>
          <a:p xmlns:a="http://schemas.openxmlformats.org/drawingml/2006/main">
            <a:r>
              <a:rPr sz="1400"/>
              <a:t>Docent: https://github.com/meijer1973/4veco-lessen/blob/9b8304d5031cafac936a56281e144573a25fbbc9/edities/books34-v3/books/book-3/chapters/3.1/Docenteninformatie.md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heb je voor deze beoordeling de oude prijs nodig?</a:t>
            </a:r>
          </a:p>
          <a:p xmlns:a="http://schemas.openxmlformats.org/drawingml/2006/main">
            <a:r>
              <a:rPr sz="1400"/>
              <a:t/>
            </a:r>
          </a:p>
          <a:p xmlns:a="http://schemas.openxmlformats.org/drawingml/2006/main">
            <a:r>
              <a:rPr sz="1400"/>
              <a:t>Uitleg: Afdragen is de betalingshandeling. Dragen is de achteruitgang tegenover P₀=8. De koper betaalt 2 meer, de verkoper ontvangt 1 minder. Samen is dat 3 euro. Pp=7 is nog steeds vóór aftrek van productiekosten. Laat leerlingen één ontbrekende stap, eenheid of redenering in a–e verbeteren.</a:t>
            </a:r>
          </a:p>
          <a:p xmlns:a="http://schemas.openxmlformats.org/drawingml/2006/main">
            <a:r>
              <a:rPr sz="1400"/>
              <a:t/>
            </a:r>
          </a:p>
          <a:p xmlns:a="http://schemas.openxmlformats.org/drawingml/2006/main">
            <a:r>
              <a:rPr sz="1400"/>
              <a:t>Misvatting: De afdrager draagt niet automatisch de hele last. De € 7 is ook geen winst.</a:t>
            </a:r>
          </a:p>
          <a:p xmlns:a="http://schemas.openxmlformats.org/drawingml/2006/main">
            <a:r>
              <a:rPr sz="1400"/>
              <a:t/>
            </a:r>
          </a:p>
          <a:p xmlns:a="http://schemas.openxmlformats.org/drawingml/2006/main">
            <a:r>
              <a:rPr sz="1400"/>
              <a:t>Overgang: Keer terug naar het overzicht en laat huiswerk noteren.</a:t>
            </a:r>
          </a:p>
          <a:p xmlns:a="http://schemas.openxmlformats.org/drawingml/2006/main">
            <a:r>
              <a:rPr sz="1400"/>
              <a:t/>
            </a:r>
          </a:p>
          <a:p xmlns:a="http://schemas.openxmlformats.org/drawingml/2006/main">
            <a:r>
              <a:rPr sz="1400"/>
              <a:t>Bron: Boek 3, actuele v3-uitgave, revisies t/m 28 september 2026; gedrukte boekpagina 12. https://github.com/meijer1973/4veco-lessen/blob/9b8304d5031cafac936a56281e144573a25fbbc9/edities/books34-v3/books/book-3/output/Boek_3_Compleet_v3.pdf</a:t>
            </a:r>
          </a:p>
          <a:p xmlns:a="http://schemas.openxmlformats.org/drawingml/2006/main">
            <a:r>
              <a:rPr sz="1400"/>
              <a:t>Antwoorden: https://github.com/meijer1973/4veco-lessen/blob/9b8304d5031cafac936a56281e144573a25fbbc9/edities/books34-v3/books/book-3/chapters/3.1/Antwoorden.md#ans7</a:t>
            </a:r>
          </a:p>
          <a:p xmlns:a="http://schemas.openxmlformats.org/drawingml/2006/main">
            <a:r>
              <a:rPr sz="1400"/>
              <a:t>Docent: https://github.com/meijer1973/4veco-lessen/blob/9b8304d5031cafac936a56281e144573a25fbbc9/edities/books34-v3/books/book-3/chapters/3.1/Docenteninformatie.md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stap of uitleg wil je nog verbeteren?</a:t>
            </a:r>
          </a:p>
          <a:p xmlns:a="http://schemas.openxmlformats.org/drawingml/2006/main">
            <a:r>
              <a:rPr sz="1400"/>
              <a:t/>
            </a:r>
          </a:p>
          <a:p xmlns:a="http://schemas.openxmlformats.org/drawingml/2006/main">
            <a:r>
              <a:rPr sz="1400"/>
              <a:t>Uitleg: Laat dit overzicht staan tijdens afsluiting / huiswerk. Start 1–2: boekpagina 9; basis 3–4: p. 10; zelfstandig 5–6: p. 11; doel 7: p. 12. Huiswerk: 3, 4, 5, 6 en 7 maken en nakijken. Bonus 8 en herhaling 9 zijn extra. Opgave 1 haalt een vergelijking oplossen en invullen terug; vraag welke stappen leerlingen gebruiken. Opgave 2 verkent nieuwe stof: laat eerst de begrippen Pc en Pp en de belastingwig op p. 6 lezen en de vergelijking met de oude prijs op p. 9. Laat leerlingen bij 2b benoemen welke informatie ontbreekt; geef het antwoord niet vooraf. Keer na de uitleg vóór zelfstandig oefenen terug naar opgave 2 en laat de redenering verbeteren. De docentenhandleiding adviseert voorlopig twee lessen van 55 minuten; dat is niet gemeten. Gebruik de fasegrens flexibel, behoud de volledige oefenroute.</a:t>
            </a:r>
          </a:p>
          <a:p xmlns:a="http://schemas.openxmlformats.org/drawingml/2006/main">
            <a:r>
              <a:rPr sz="1400"/>
              <a:t/>
            </a:r>
          </a:p>
          <a:p xmlns:a="http://schemas.openxmlformats.org/drawingml/2006/main">
            <a:r>
              <a:rPr sz="1400"/>
              <a:t>Misvatting: De hoofdstukpagina’s 5 en 8 zijn in het volledige boek pagina 9 en 12. Gebruik de gedrukte boekvoet.</a:t>
            </a:r>
          </a:p>
          <a:p xmlns:a="http://schemas.openxmlformats.org/drawingml/2006/main">
            <a:r>
              <a:rPr sz="1400"/>
              <a:t/>
            </a:r>
          </a:p>
          <a:p xmlns:a="http://schemas.openxmlformats.org/drawingml/2006/main">
            <a:r>
              <a:rPr sz="1400"/>
              <a:t>Overgang: Noteer het huiswerk. §3.1.2 bouwt verder op de twee prijzen en de nieuwe hoeveelheid.</a:t>
            </a:r>
          </a:p>
          <a:p xmlns:a="http://schemas.openxmlformats.org/drawingml/2006/main">
            <a:r>
              <a:rPr sz="1400"/>
              <a:t/>
            </a:r>
          </a:p>
          <a:p xmlns:a="http://schemas.openxmlformats.org/drawingml/2006/main">
            <a:r>
              <a:rPr sz="1400"/>
              <a:t>Bron: Boek 3, actuele v3-uitgave, revisies t/m 28 september 2026; gedrukte boekpagina 6–12. https://github.com/meijer1973/4veco-lessen/blob/9b8304d5031cafac936a56281e144573a25fbbc9/edities/books34-v3/books/book-3/output/Boek_3_Compleet_v3.pdf</a:t>
            </a:r>
          </a:p>
          <a:p xmlns:a="http://schemas.openxmlformats.org/drawingml/2006/main">
            <a:r>
              <a:rPr sz="1400"/>
              <a:t>Antwoorden: https://github.com/meijer1973/4veco-lessen/blob/9b8304d5031cafac936a56281e144573a25fbbc9/edities/books34-v3/books/book-3/chapters/3.1/Antwoorden.md#ans7</a:t>
            </a:r>
          </a:p>
          <a:p xmlns:a="http://schemas.openxmlformats.org/drawingml/2006/main">
            <a:r>
              <a:rPr sz="1400"/>
              <a:t>Docent: https://github.com/meijer1973/4veco-lessen/blob/9b8304d5031cafac936a56281e144573a25fbbc9/edities/books34-v3/books/book-3/chapters/3.1/Docenteninformatie.md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d1f2f70c20b499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457a238e0684760" /><Relationship Type="http://schemas.openxmlformats.org/officeDocument/2006/relationships/slideLayout" Target="/ppt/slideLayouts/slideLayout1.xml" Id="R4fe3ff5c9a92402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fe3ff5c9a92402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3ea1a9ae55e43ad" /><Relationship Type="http://schemas.openxmlformats.org/officeDocument/2006/relationships/notesSlide" Target="/ppt/notesSlides/notesSlide1.xml" Id="R40253fdf30fd4ff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860018acdbb469c" /><Relationship Type="http://schemas.openxmlformats.org/officeDocument/2006/relationships/notesSlide" Target="/ppt/notesSlides/notesSlide2.xml" Id="R879d16f8db944c7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e9f8f6c32854059" /><Relationship Type="http://schemas.openxmlformats.org/officeDocument/2006/relationships/notesSlide" Target="/ppt/notesSlides/notesSlide3.xml" Id="R711d657ccbd5473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9435d21eb584750" /><Relationship Type="http://schemas.openxmlformats.org/officeDocument/2006/relationships/notesSlide" Target="/ppt/notesSlides/notesSlide4.xml" Id="R4fc93dc6cf34469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243add58c6c4b2c" /><Relationship Type="http://schemas.openxmlformats.org/officeDocument/2006/relationships/chart" Target="/ppt/slides/charts/chart1.xml" Id="Rcf8eb1e833554add" /><Relationship Type="http://schemas.openxmlformats.org/officeDocument/2006/relationships/notesSlide" Target="/ppt/notesSlides/notesSlide5.xml" Id="Rb0bc238684734e7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d35471a82a84481" /><Relationship Type="http://schemas.openxmlformats.org/officeDocument/2006/relationships/notesSlide" Target="/ppt/notesSlides/notesSlide6.xml" Id="Rab46701c985d49d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4e6bd76f73548fb" /><Relationship Type="http://schemas.openxmlformats.org/officeDocument/2006/relationships/chart" Target="/ppt/slides/charts/chart2.xml" Id="Rcadf5f547d42416c" /><Relationship Type="http://schemas.openxmlformats.org/officeDocument/2006/relationships/notesSlide" Target="/ppt/notesSlides/notesSlide7.xml" Id="Rbad4182955f9469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39d4e0025134930" /><Relationship Type="http://schemas.openxmlformats.org/officeDocument/2006/relationships/notesSlide" Target="/ppt/notesSlides/notesSlide8.xml" Id="Ra6d03b97f17e40e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cb02a463ee44308" /><Relationship Type="http://schemas.openxmlformats.org/officeDocument/2006/relationships/notesSlide" Target="/ppt/notesSlides/notesSlide9.xml" Id="Rbaa1c1c2cd40433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020028f04494e31" /><Relationship Type="http://schemas.openxmlformats.org/officeDocument/2006/relationships/chart" Target="/ppt/slides/charts/chart3.xml" Id="R17a80cf48fd7497c" /><Relationship Type="http://schemas.openxmlformats.org/officeDocument/2006/relationships/notesSlide" Target="/ppt/notesSlides/notesSlide10.xml" Id="Re866b7b0b111456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0912fb645a1a4a59" /><Relationship Type="http://schemas.openxmlformats.org/officeDocument/2006/relationships/notesSlide" Target="/ppt/notesSlides/notesSlide11.xml" Id="R9beacd76acd24e5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4a0a04a796314186" /><Relationship Type="http://schemas.openxmlformats.org/officeDocument/2006/relationships/notesSlide" Target="/ppt/notesSlides/notesSlide12.xml" Id="R52d01f8223a8450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8f15b61cd526423c" /><Relationship Type="http://schemas.openxmlformats.org/officeDocument/2006/relationships/notesSlide" Target="/ppt/notesSlides/notesSlide13.xml" Id="R41ffb81e2cc848c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224cd408f66d4ca0" /><Relationship Type="http://schemas.openxmlformats.org/officeDocument/2006/relationships/notesSlide" Target="/ppt/notesSlides/notesSlide14.xml" Id="R9ead3ba5a9a9445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55f1fc10658d481b" /><Relationship Type="http://schemas.openxmlformats.org/officeDocument/2006/relationships/notesSlide" Target="/ppt/notesSlides/notesSlide15.xml" Id="R3c9be5b5368c490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a7474b8d792942e5" /><Relationship Type="http://schemas.openxmlformats.org/officeDocument/2006/relationships/notesSlide" Target="/ppt/notesSlides/notesSlide16.xml" Id="R80bde18a85994a9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813c4f2376f9455d" /><Relationship Type="http://schemas.openxmlformats.org/officeDocument/2006/relationships/chart" Target="/ppt/slides/charts/chart4.xml" Id="Re96290c332d542bf" /><Relationship Type="http://schemas.openxmlformats.org/officeDocument/2006/relationships/notesSlide" Target="/ppt/notesSlides/notesSlide17.xml" Id="R9bc608678bc844f2"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c1851b0443514d1b" /><Relationship Type="http://schemas.openxmlformats.org/officeDocument/2006/relationships/notesSlide" Target="/ppt/notesSlides/notesSlide18.xml" Id="Ra28552b984ac4dc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2db336ae9c234d8c" /><Relationship Type="http://schemas.openxmlformats.org/officeDocument/2006/relationships/notesSlide" Target="/ppt/notesSlides/notesSlide19.xml" Id="R8860fc76a16a4962"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a32af739712d4b05" /><Relationship Type="http://schemas.openxmlformats.org/officeDocument/2006/relationships/notesSlide" Target="/ppt/notesSlides/notesSlide20.xml" Id="R8c849c82cb93451d"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cc53bd324c8f4f58" /><Relationship Type="http://schemas.openxmlformats.org/officeDocument/2006/relationships/chart" Target="/ppt/slides/charts/chart5.xml" Id="R3a8c6d11d7104784" /><Relationship Type="http://schemas.openxmlformats.org/officeDocument/2006/relationships/notesSlide" Target="/ppt/notesSlides/notesSlide21.xml" Id="R5a7d1f3eaf1d456a"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6d517d2b23e94723" /><Relationship Type="http://schemas.openxmlformats.org/officeDocument/2006/relationships/chart" Target="/ppt/slides/charts/chart6.xml" Id="R06e219cc7ec24416" /><Relationship Type="http://schemas.openxmlformats.org/officeDocument/2006/relationships/notesSlide" Target="/ppt/notesSlides/notesSlide22.xml" Id="Ra2bc8d6558f44683"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d980859e9eba4f31" /><Relationship Type="http://schemas.openxmlformats.org/officeDocument/2006/relationships/notesSlide" Target="/ppt/notesSlides/notesSlide23.xml" Id="Rc13501756e0f4787"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c48a520815774c5c" /><Relationship Type="http://schemas.openxmlformats.org/officeDocument/2006/relationships/notesSlide" Target="/ppt/notesSlides/notesSlide24.xml" Id="Rd12ea11ecc6341bc"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chart1.xml><?xml version="1.0" encoding="utf-8"?>
<c:chartSpace xmlns:c="http://schemas.openxmlformats.org/drawingml/2006/chart" xmlns:r="http://schemas.openxmlformats.org/officeDocument/2006/relationships">
  <c:lang val="en-US"/>
  <c:chart>
    <c:plotArea>
      <c:scatterChart>
        <c:scatterStyle val="line"/>
        <c:ser>
          <c:idx val="0"/>
          <c:order val="0"/>
          <c:tx>
            <c:v>V</c:v>
          </c:tx>
          <c:spPr>
            <a:ln xmlns:a="http://schemas.openxmlformats.org/drawingml/2006/main" w="38100">
              <a:solidFill>
                <a:srgbClr val="1A5276"/>
              </a:solidFill>
            </a:ln>
          </c:spPr>
          <c:marker>
            <c:symbol val="none"/>
          </c:marker>
          <c:dLbls>
            <c:dLbl>
              <c:idx val="1"/>
              <c:tx>
                <c:rich>
                  <ns0:bodyPr xmlns:ns0="http://schemas.openxmlformats.org/drawingml/2006/main"/>
                  <ns1:lstStyle xmlns:ns1="http://schemas.openxmlformats.org/drawingml/2006/main"/>
                  <ns2:p xmlns:ns2="http://schemas.openxmlformats.org/drawingml/2006/main">
                    <ns2:r>
                      <ns2:rPr sz="1900" b="1">
                        <ns2:solidFill>
                          <ns2:srgbClr val="183247"/>
                        </ns2:solidFill>
                        <ns2:latin typeface="Arial"/>
                      </ns2:rPr>
                      <ns2:t>V</ns2:t>
                    </ns2:r>
                  </ns2:p>
                </c:rich>
              </c:tx>
              <c:dLblPos val="t"/>
              <c:showLegendKey val="0"/>
            </c:dLbl>
            <c:showLegendKey val="0"/>
            <c:showVal val="0"/>
            <c:showCatName val="0"/>
            <c:showSerName val="0"/>
            <c:showPercent val="0"/>
            <c:showBubbleSize val="0"/>
          </c:dLbls>
          <c:xVal>
            <c:numRef>
              <c:f>'Chart Data'!$A$2:$A$3</c:f>
              <c:numCache>
                <c:formatCode>General</c:formatCode>
                <c:ptCount val="2"/>
                <c:pt idx="0">
                  <c:v>0</c:v>
                </c:pt>
                <c:pt idx="1">
                  <c:v>130</c:v>
                </c:pt>
              </c:numCache>
            </c:numRef>
          </c:xVal>
          <c:yVal>
            <c:numRef>
              <c:f>'Chart Data'!$B$2:$B$3</c:f>
              <c:numCache>
                <c:formatCode>0</c:formatCode>
                <c:ptCount val="2"/>
                <c:pt idx="0">
                  <c:v>26</c:v>
                </c:pt>
                <c:pt idx="1">
                  <c:v>0</c:v>
                </c:pt>
              </c:numCache>
            </c:numRef>
          </c:yVal>
        </c:ser>
        <c:ser>
          <c:idx val="1"/>
          <c:order val="1"/>
          <c:tx>
            <c:v>A</c:v>
          </c:tx>
          <c:spPr>
            <a:ln xmlns:a="http://schemas.openxmlformats.org/drawingml/2006/main" w="38100">
              <a:solidFill>
                <a:srgbClr val="1E8449"/>
              </a:solidFill>
            </a:ln>
          </c:spPr>
          <c:marker>
            <c:symbol val="none"/>
          </c:marker>
          <c:dLbls>
            <c:dLbl>
              <c:idx val="1"/>
              <c:tx>
                <c:rich>
                  <ns3:bodyPr xmlns:ns3="http://schemas.openxmlformats.org/drawingml/2006/main"/>
                  <ns4:lstStyle xmlns:ns4="http://schemas.openxmlformats.org/drawingml/2006/main"/>
                  <ns5:p xmlns:ns5="http://schemas.openxmlformats.org/drawingml/2006/main">
                    <ns5:r>
                      <ns5:rPr sz="1900" b="1">
                        <ns5:solidFill>
                          <ns5:srgbClr val="183247"/>
                        </ns5:solidFill>
                        <ns5:latin typeface="Arial"/>
                      </ns5:rPr>
                      <ns5:t>A</ns5:t>
                    </ns5:r>
                  </ns5:p>
                </c:rich>
              </c:tx>
              <c:dLblPos val="t"/>
              <c:showLegendKey val="0"/>
            </c:dLbl>
            <c:showLegendKey val="0"/>
            <c:showVal val="0"/>
            <c:showCatName val="0"/>
            <c:showSerName val="0"/>
            <c:showPercent val="0"/>
            <c:showBubbleSize val="0"/>
          </c:dLbls>
          <c:xVal>
            <c:numRef>
              <c:f>'Chart Data'!$C$2:$C$3</c:f>
              <c:numCache>
                <c:formatCode>General</c:formatCode>
                <c:ptCount val="2"/>
                <c:pt idx="0">
                  <c:v>0</c:v>
                </c:pt>
                <c:pt idx="1">
                  <c:v>140</c:v>
                </c:pt>
              </c:numCache>
            </c:numRef>
          </c:xVal>
          <c:yVal>
            <c:numRef>
              <c:f>'Chart Data'!$D$2:$D$3</c:f>
              <c:numCache>
                <c:formatCode>0</c:formatCode>
                <c:ptCount val="2"/>
                <c:pt idx="0">
                  <c:v>2</c:v>
                </c:pt>
                <c:pt idx="1">
                  <c:v>16</c:v>
                </c:pt>
              </c:numCache>
            </c:numRef>
          </c:yVal>
        </c:ser>
        <c:ser>
          <c:idx val="2"/>
          <c:order val="2"/>
          <c:tx>
            <c:v>Hulplijn P₀</c:v>
          </c:tx>
          <c:spPr>
            <a:ln xmlns:a="http://schemas.openxmlformats.org/drawingml/2006/main" w="38100">
              <a:solidFill>
                <a:srgbClr val="C6D2DB"/>
              </a:solidFill>
            </a:ln>
          </c:spPr>
          <c:marker>
            <c:symbol val="none"/>
          </c:marker>
          <c:xVal>
            <c:numRef>
              <c:f>'Chart Data'!$E$2:$E$3</c:f>
              <c:numCache>
                <c:formatCode>General</c:formatCode>
                <c:ptCount val="2"/>
                <c:pt idx="0">
                  <c:v>0</c:v>
                </c:pt>
                <c:pt idx="1">
                  <c:v>80</c:v>
                </c:pt>
              </c:numCache>
            </c:numRef>
          </c:xVal>
          <c:yVal>
            <c:numRef>
              <c:f>'Chart Data'!$F$2:$F$3</c:f>
              <c:numCache>
                <c:formatCode>0</c:formatCode>
                <c:ptCount val="2"/>
                <c:pt idx="0">
                  <c:v>10</c:v>
                </c:pt>
                <c:pt idx="1">
                  <c:v>10</c:v>
                </c:pt>
              </c:numCache>
            </c:numRef>
          </c:yVal>
        </c:ser>
        <c:ser>
          <c:idx val="3"/>
          <c:order val="3"/>
          <c:tx>
            <c:v>Hulplijn Q₀</c:v>
          </c:tx>
          <c:spPr>
            <a:ln xmlns:a="http://schemas.openxmlformats.org/drawingml/2006/main" w="38100">
              <a:solidFill>
                <a:srgbClr val="C6D2DB"/>
              </a:solidFill>
            </a:ln>
          </c:spPr>
          <c:marker>
            <c:symbol val="none"/>
          </c:marker>
          <c:xVal>
            <c:numRef>
              <c:f>'Chart Data'!$G$2:$G$3</c:f>
              <c:numCache>
                <c:formatCode>General</c:formatCode>
                <c:ptCount val="2"/>
                <c:pt idx="0">
                  <c:v>80</c:v>
                </c:pt>
                <c:pt idx="1">
                  <c:v>80</c:v>
                </c:pt>
              </c:numCache>
            </c:numRef>
          </c:xVal>
          <c:yVal>
            <c:numRef>
              <c:f>'Chart Data'!$H$2:$H$3</c:f>
              <c:numCache>
                <c:formatCode>0</c:formatCode>
                <c:ptCount val="2"/>
                <c:pt idx="0">
                  <c:v>0</c:v>
                </c:pt>
                <c:pt idx="1">
                  <c:v>10</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30"/>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2025">
                    <a:solidFill>
                      <a:srgbClr val="183247"/>
                    </a:solidFill>
                    <a:latin typeface="Arial"/>
                    <a:ea typeface="Arial"/>
                    <a:cs typeface="Arial"/>
                  </a:rPr>
                  <a:t>P (€ per puzzel)</a:t>
                </a:r>
              </a:p>
            </c:rich>
          </c:tx>
          <c:overlay val="0"/>
          <c:txPr>
            <a:bodyPr xmlns:a="http://schemas.openxmlformats.org/drawingml/2006/main" anchorCtr="1"/>
            <a:lstStyle xmlns:a="http://schemas.openxmlformats.org/drawingml/2006/main"/>
            <a:p xmlns:a="http://schemas.openxmlformats.org/drawingml/2006/main">
              <a:pPr>
                <a:defRPr sz="202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50112"/>
        <c:majorUnit val="5"/>
      </c:valAx>
      <c:valAx>
        <c:axId val="48650112"/>
        <c:scaling>
          <c:orientation val="minMax"/>
          <c:max val="140"/>
          <c:min val="0"/>
        </c:scaling>
        <c:delete val="0"/>
        <c:axPos val="b"/>
        <c:title>
          <c:tx>
            <c:rich>
              <a:bodyPr xmlns:a="http://schemas.openxmlformats.org/drawingml/2006/main"/>
              <a:lstStyle xmlns:a="http://schemas.openxmlformats.org/drawingml/2006/main"/>
              <a:p xmlns:a="http://schemas.openxmlformats.org/drawingml/2006/main">
                <a:r>
                  <a:rPr sz="2025">
                    <a:solidFill>
                      <a:srgbClr val="183247"/>
                    </a:solidFill>
                    <a:latin typeface="Arial"/>
                    <a:ea typeface="Arial"/>
                    <a:cs typeface="Arial"/>
                  </a:rPr>
                  <a:t>Q (puzzels per week)</a:t>
                </a:r>
              </a:p>
            </c:rich>
          </c:tx>
          <c:overlay val="0"/>
          <c:txPr>
            <a:bodyPr xmlns:a="http://schemas.openxmlformats.org/drawingml/2006/main" anchorCtr="1"/>
            <a:lstStyle xmlns:a="http://schemas.openxmlformats.org/drawingml/2006/main"/>
            <a:p xmlns:a="http://schemas.openxmlformats.org/drawingml/2006/main">
              <a:pPr>
                <a:defRPr sz="202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72768"/>
        <c:majorUnit val="2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scatterChart>
        <c:scatterStyle val="line"/>
        <c:ser>
          <c:idx val="0"/>
          <c:order val="0"/>
          <c:tx>
            <c:v>V</c:v>
          </c:tx>
          <c:spPr>
            <a:ln xmlns:a="http://schemas.openxmlformats.org/drawingml/2006/main" w="38100">
              <a:solidFill>
                <a:srgbClr val="1A5276"/>
              </a:solidFill>
            </a:ln>
          </c:spPr>
          <c:marker>
            <c:symbol val="none"/>
          </c:marker>
          <c:dLbls>
            <c:dLbl>
              <c:idx val="1"/>
              <c:tx>
                <c:rich>
                  <ns0:bodyPr xmlns:ns0="http://schemas.openxmlformats.org/drawingml/2006/main"/>
                  <ns1:lstStyle xmlns:ns1="http://schemas.openxmlformats.org/drawingml/2006/main"/>
                  <ns2:p xmlns:ns2="http://schemas.openxmlformats.org/drawingml/2006/main">
                    <ns2:r>
                      <ns2:rPr sz="1900" b="1">
                        <ns2:solidFill>
                          <ns2:srgbClr val="183247"/>
                        </ns2:solidFill>
                        <ns2:latin typeface="Arial"/>
                      </ns2:rPr>
                      <ns2:t>V</ns2:t>
                    </ns2:r>
                  </ns2:p>
                </c:rich>
              </c:tx>
              <c:dLblPos val="t"/>
              <c:showLegendKey val="0"/>
            </c:dLbl>
            <c:showLegendKey val="0"/>
            <c:showVal val="0"/>
            <c:showCatName val="0"/>
            <c:showSerName val="0"/>
            <c:showPercent val="0"/>
            <c:showBubbleSize val="0"/>
          </c:dLbls>
          <c:xVal>
            <c:numRef>
              <c:f>'Chart Data'!$A$2:$A$3</c:f>
              <c:numCache>
                <c:formatCode>General</c:formatCode>
                <c:ptCount val="2"/>
                <c:pt idx="0">
                  <c:v>0</c:v>
                </c:pt>
                <c:pt idx="1">
                  <c:v>130</c:v>
                </c:pt>
              </c:numCache>
            </c:numRef>
          </c:xVal>
          <c:yVal>
            <c:numRef>
              <c:f>'Chart Data'!$B$2:$B$3</c:f>
              <c:numCache>
                <c:formatCode>0</c:formatCode>
                <c:ptCount val="2"/>
                <c:pt idx="0">
                  <c:v>26</c:v>
                </c:pt>
                <c:pt idx="1">
                  <c:v>0</c:v>
                </c:pt>
              </c:numCache>
            </c:numRef>
          </c:yVal>
        </c:ser>
        <c:ser>
          <c:idx val="1"/>
          <c:order val="1"/>
          <c:tx>
            <c:v>A</c:v>
          </c:tx>
          <c:spPr>
            <a:ln xmlns:a="http://schemas.openxmlformats.org/drawingml/2006/main" w="38100">
              <a:solidFill>
                <a:srgbClr val="1E8449"/>
              </a:solidFill>
            </a:ln>
          </c:spPr>
          <c:marker>
            <c:symbol val="none"/>
          </c:marker>
          <c:dLbls>
            <c:dLbl>
              <c:idx val="1"/>
              <c:tx>
                <c:rich>
                  <ns3:bodyPr xmlns:ns3="http://schemas.openxmlformats.org/drawingml/2006/main"/>
                  <ns4:lstStyle xmlns:ns4="http://schemas.openxmlformats.org/drawingml/2006/main"/>
                  <ns5:p xmlns:ns5="http://schemas.openxmlformats.org/drawingml/2006/main">
                    <ns5:r>
                      <ns5:rPr sz="1900" b="1">
                        <ns5:solidFill>
                          <ns5:srgbClr val="183247"/>
                        </ns5:solidFill>
                        <ns5:latin typeface="Arial"/>
                      </ns5:rPr>
                      <ns5:t>A</ns5:t>
                    </ns5:r>
                  </ns5:p>
                </c:rich>
              </c:tx>
              <c:dLblPos val="t"/>
              <c:showLegendKey val="0"/>
            </c:dLbl>
            <c:showLegendKey val="0"/>
            <c:showVal val="0"/>
            <c:showCatName val="0"/>
            <c:showSerName val="0"/>
            <c:showPercent val="0"/>
            <c:showBubbleSize val="0"/>
          </c:dLbls>
          <c:xVal>
            <c:numRef>
              <c:f>'Chart Data'!$C$2:$C$3</c:f>
              <c:numCache>
                <c:formatCode>General</c:formatCode>
                <c:ptCount val="2"/>
                <c:pt idx="0">
                  <c:v>0</c:v>
                </c:pt>
                <c:pt idx="1">
                  <c:v>140</c:v>
                </c:pt>
              </c:numCache>
            </c:numRef>
          </c:xVal>
          <c:yVal>
            <c:numRef>
              <c:f>'Chart Data'!$D$2:$D$3</c:f>
              <c:numCache>
                <c:formatCode>0</c:formatCode>
                <c:ptCount val="2"/>
                <c:pt idx="0">
                  <c:v>2</c:v>
                </c:pt>
                <c:pt idx="1">
                  <c:v>16</c:v>
                </c:pt>
              </c:numCache>
            </c:numRef>
          </c:yVal>
        </c:ser>
        <c:ser>
          <c:idx val="2"/>
          <c:order val="2"/>
          <c:tx>
            <c:v>A + t</c:v>
          </c:tx>
          <c:spPr>
            <a:ln xmlns:a="http://schemas.openxmlformats.org/drawingml/2006/main" w="38100">
              <a:solidFill>
                <a:srgbClr val="A94D16"/>
              </a:solidFill>
            </a:ln>
          </c:spPr>
          <c:marker>
            <c:symbol val="none"/>
          </c:marker>
          <c:dLbls>
            <c:dLbl>
              <c:idx val="1"/>
              <c:tx>
                <c:rich>
                  <ns6:bodyPr xmlns:ns6="http://schemas.openxmlformats.org/drawingml/2006/main"/>
                  <ns7:lstStyle xmlns:ns7="http://schemas.openxmlformats.org/drawingml/2006/main"/>
                  <ns8:p xmlns:ns8="http://schemas.openxmlformats.org/drawingml/2006/main">
                    <ns8:r>
                      <ns8:rPr sz="1900" b="1">
                        <ns8:solidFill>
                          <ns8:srgbClr val="183247"/>
                        </ns8:solidFill>
                        <ns8:latin typeface="Arial"/>
                      </ns8:rPr>
                      <ns8:t>A + t</ns8:t>
                    </ns8:r>
                  </ns8:p>
                </c:rich>
              </c:tx>
              <c:dLblPos val="t"/>
              <c:showLegendKey val="0"/>
            </c:dLbl>
            <c:showLegendKey val="0"/>
            <c:showVal val="0"/>
            <c:showCatName val="0"/>
            <c:showSerName val="0"/>
            <c:showPercent val="0"/>
            <c:showBubbleSize val="0"/>
          </c:dLbls>
          <c:xVal>
            <c:numRef>
              <c:f>'Chart Data'!$E$2:$E$3</c:f>
              <c:numCache>
                <c:formatCode>General</c:formatCode>
                <c:ptCount val="2"/>
                <c:pt idx="0">
                  <c:v>0</c:v>
                </c:pt>
                <c:pt idx="1">
                  <c:v>140</c:v>
                </c:pt>
              </c:numCache>
            </c:numRef>
          </c:xVal>
          <c:yVal>
            <c:numRef>
              <c:f>'Chart Data'!$F$2:$F$3</c:f>
              <c:numCache>
                <c:formatCode>0</c:formatCode>
                <c:ptCount val="2"/>
                <c:pt idx="0">
                  <c:v>8</c:v>
                </c:pt>
                <c:pt idx="1">
                  <c:v>22</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30"/>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2025">
                    <a:solidFill>
                      <a:srgbClr val="183247"/>
                    </a:solidFill>
                    <a:latin typeface="Arial"/>
                    <a:ea typeface="Arial"/>
                    <a:cs typeface="Arial"/>
                  </a:rPr>
                  <a:t>P (€ per puzzel)</a:t>
                </a:r>
              </a:p>
            </c:rich>
          </c:tx>
          <c:overlay val="0"/>
          <c:txPr>
            <a:bodyPr xmlns:a="http://schemas.openxmlformats.org/drawingml/2006/main" anchorCtr="1"/>
            <a:lstStyle xmlns:a="http://schemas.openxmlformats.org/drawingml/2006/main"/>
            <a:p xmlns:a="http://schemas.openxmlformats.org/drawingml/2006/main">
              <a:pPr>
                <a:defRPr sz="202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50112"/>
        <c:majorUnit val="5"/>
      </c:valAx>
      <c:valAx>
        <c:axId val="48650112"/>
        <c:scaling>
          <c:orientation val="minMax"/>
          <c:max val="140"/>
          <c:min val="0"/>
        </c:scaling>
        <c:delete val="0"/>
        <c:axPos val="b"/>
        <c:title>
          <c:tx>
            <c:rich>
              <a:bodyPr xmlns:a="http://schemas.openxmlformats.org/drawingml/2006/main"/>
              <a:lstStyle xmlns:a="http://schemas.openxmlformats.org/drawingml/2006/main"/>
              <a:p xmlns:a="http://schemas.openxmlformats.org/drawingml/2006/main">
                <a:r>
                  <a:rPr sz="2025">
                    <a:solidFill>
                      <a:srgbClr val="183247"/>
                    </a:solidFill>
                    <a:latin typeface="Arial"/>
                    <a:ea typeface="Arial"/>
                    <a:cs typeface="Arial"/>
                  </a:rPr>
                  <a:t>Q (puzzels per week)</a:t>
                </a:r>
              </a:p>
            </c:rich>
          </c:tx>
          <c:overlay val="0"/>
          <c:txPr>
            <a:bodyPr xmlns:a="http://schemas.openxmlformats.org/drawingml/2006/main" anchorCtr="1"/>
            <a:lstStyle xmlns:a="http://schemas.openxmlformats.org/drawingml/2006/main"/>
            <a:p xmlns:a="http://schemas.openxmlformats.org/drawingml/2006/main">
              <a:pPr>
                <a:defRPr sz="202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72768"/>
        <c:majorUnit val="2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scatterChart>
        <c:scatterStyle val="line"/>
        <c:ser>
          <c:idx val="0"/>
          <c:order val="0"/>
          <c:tx>
            <c:v>V</c:v>
          </c:tx>
          <c:spPr>
            <a:ln xmlns:a="http://schemas.openxmlformats.org/drawingml/2006/main" w="38100">
              <a:solidFill>
                <a:srgbClr val="1A5276"/>
              </a:solidFill>
            </a:ln>
          </c:spPr>
          <c:marker>
            <c:symbol val="none"/>
          </c:marker>
          <c:dLbls>
            <c:dLbl>
              <c:idx val="1"/>
              <c:tx>
                <c:rich>
                  <ns0:bodyPr xmlns:ns0="http://schemas.openxmlformats.org/drawingml/2006/main"/>
                  <ns1:lstStyle xmlns:ns1="http://schemas.openxmlformats.org/drawingml/2006/main"/>
                  <ns2:p xmlns:ns2="http://schemas.openxmlformats.org/drawingml/2006/main">
                    <ns2:r>
                      <ns2:rPr sz="1900" b="1">
                        <ns2:solidFill>
                          <ns2:srgbClr val="183247"/>
                        </ns2:solidFill>
                        <ns2:latin typeface="Arial"/>
                      </ns2:rPr>
                      <ns2:t>V</ns2:t>
                    </ns2:r>
                  </ns2:p>
                </c:rich>
              </c:tx>
              <c:dLblPos val="t"/>
              <c:showLegendKey val="0"/>
            </c:dLbl>
            <c:showLegendKey val="0"/>
            <c:showVal val="0"/>
            <c:showCatName val="0"/>
            <c:showSerName val="0"/>
            <c:showPercent val="0"/>
            <c:showBubbleSize val="0"/>
          </c:dLbls>
          <c:xVal>
            <c:numRef>
              <c:f>'Chart Data'!$A$2:$A$3</c:f>
              <c:numCache>
                <c:formatCode>General</c:formatCode>
                <c:ptCount val="2"/>
                <c:pt idx="0">
                  <c:v>0</c:v>
                </c:pt>
                <c:pt idx="1">
                  <c:v>130</c:v>
                </c:pt>
              </c:numCache>
            </c:numRef>
          </c:xVal>
          <c:yVal>
            <c:numRef>
              <c:f>'Chart Data'!$B$2:$B$3</c:f>
              <c:numCache>
                <c:formatCode>0</c:formatCode>
                <c:ptCount val="2"/>
                <c:pt idx="0">
                  <c:v>26</c:v>
                </c:pt>
                <c:pt idx="1">
                  <c:v>0</c:v>
                </c:pt>
              </c:numCache>
            </c:numRef>
          </c:yVal>
        </c:ser>
        <c:ser>
          <c:idx val="1"/>
          <c:order val="1"/>
          <c:tx>
            <c:v>A</c:v>
          </c:tx>
          <c:spPr>
            <a:ln xmlns:a="http://schemas.openxmlformats.org/drawingml/2006/main" w="38100">
              <a:solidFill>
                <a:srgbClr val="1E8449"/>
              </a:solidFill>
            </a:ln>
          </c:spPr>
          <c:marker>
            <c:symbol val="none"/>
          </c:marker>
          <c:dLbls>
            <c:dLbl>
              <c:idx val="1"/>
              <c:tx>
                <c:rich>
                  <ns3:bodyPr xmlns:ns3="http://schemas.openxmlformats.org/drawingml/2006/main"/>
                  <ns4:lstStyle xmlns:ns4="http://schemas.openxmlformats.org/drawingml/2006/main"/>
                  <ns5:p xmlns:ns5="http://schemas.openxmlformats.org/drawingml/2006/main">
                    <ns5:r>
                      <ns5:rPr sz="1900" b="1">
                        <ns5:solidFill>
                          <ns5:srgbClr val="183247"/>
                        </ns5:solidFill>
                        <ns5:latin typeface="Arial"/>
                      </ns5:rPr>
                      <ns5:t>A</ns5:t>
                    </ns5:r>
                  </ns5:p>
                </c:rich>
              </c:tx>
              <c:dLblPos val="t"/>
              <c:showLegendKey val="0"/>
            </c:dLbl>
            <c:showLegendKey val="0"/>
            <c:showVal val="0"/>
            <c:showCatName val="0"/>
            <c:showSerName val="0"/>
            <c:showPercent val="0"/>
            <c:showBubbleSize val="0"/>
          </c:dLbls>
          <c:xVal>
            <c:numRef>
              <c:f>'Chart Data'!$C$2:$C$3</c:f>
              <c:numCache>
                <c:formatCode>General</c:formatCode>
                <c:ptCount val="2"/>
                <c:pt idx="0">
                  <c:v>0</c:v>
                </c:pt>
                <c:pt idx="1">
                  <c:v>140</c:v>
                </c:pt>
              </c:numCache>
            </c:numRef>
          </c:xVal>
          <c:yVal>
            <c:numRef>
              <c:f>'Chart Data'!$D$2:$D$3</c:f>
              <c:numCache>
                <c:formatCode>0</c:formatCode>
                <c:ptCount val="2"/>
                <c:pt idx="0">
                  <c:v>2</c:v>
                </c:pt>
                <c:pt idx="1">
                  <c:v>16</c:v>
                </c:pt>
              </c:numCache>
            </c:numRef>
          </c:yVal>
        </c:ser>
        <c:ser>
          <c:idx val="2"/>
          <c:order val="2"/>
          <c:tx>
            <c:v>A + t</c:v>
          </c:tx>
          <c:spPr>
            <a:ln xmlns:a="http://schemas.openxmlformats.org/drawingml/2006/main" w="38100">
              <a:solidFill>
                <a:srgbClr val="A94D16"/>
              </a:solidFill>
            </a:ln>
          </c:spPr>
          <c:marker>
            <c:symbol val="none"/>
          </c:marker>
          <c:dLbls>
            <c:dLbl>
              <c:idx val="1"/>
              <c:tx>
                <c:rich>
                  <ns6:bodyPr xmlns:ns6="http://schemas.openxmlformats.org/drawingml/2006/main"/>
                  <ns7:lstStyle xmlns:ns7="http://schemas.openxmlformats.org/drawingml/2006/main"/>
                  <ns8:p xmlns:ns8="http://schemas.openxmlformats.org/drawingml/2006/main">
                    <ns8:r>
                      <ns8:rPr sz="1900" b="1">
                        <ns8:solidFill>
                          <ns8:srgbClr val="183247"/>
                        </ns8:solidFill>
                        <ns8:latin typeface="Arial"/>
                      </ns8:rPr>
                      <ns8:t>A + t</ns8:t>
                    </ns8:r>
                  </ns8:p>
                </c:rich>
              </c:tx>
              <c:dLblPos val="t"/>
              <c:showLegendKey val="0"/>
            </c:dLbl>
            <c:showLegendKey val="0"/>
            <c:showVal val="0"/>
            <c:showCatName val="0"/>
            <c:showSerName val="0"/>
            <c:showPercent val="0"/>
            <c:showBubbleSize val="0"/>
          </c:dLbls>
          <c:xVal>
            <c:numRef>
              <c:f>'Chart Data'!$E$2:$E$3</c:f>
              <c:numCache>
                <c:formatCode>General</c:formatCode>
                <c:ptCount val="2"/>
                <c:pt idx="0">
                  <c:v>0</c:v>
                </c:pt>
                <c:pt idx="1">
                  <c:v>140</c:v>
                </c:pt>
              </c:numCache>
            </c:numRef>
          </c:xVal>
          <c:yVal>
            <c:numRef>
              <c:f>'Chart Data'!$F$2:$F$3</c:f>
              <c:numCache>
                <c:formatCode>0</c:formatCode>
                <c:ptCount val="2"/>
                <c:pt idx="0">
                  <c:v>8</c:v>
                </c:pt>
                <c:pt idx="1">
                  <c:v>22</c:v>
                </c:pt>
              </c:numCache>
            </c:numRef>
          </c:yVal>
        </c:ser>
        <c:ser>
          <c:idx val="3"/>
          <c:order val="3"/>
          <c:tx>
            <c:v>Hulplijn Pc</c:v>
          </c:tx>
          <c:spPr>
            <a:ln xmlns:a="http://schemas.openxmlformats.org/drawingml/2006/main" w="38100">
              <a:solidFill>
                <a:srgbClr val="C6D2DB"/>
              </a:solidFill>
            </a:ln>
          </c:spPr>
          <c:marker>
            <c:symbol val="none"/>
          </c:marker>
          <c:xVal>
            <c:numRef>
              <c:f>'Chart Data'!$G$2:$G$3</c:f>
              <c:numCache>
                <c:formatCode>General</c:formatCode>
                <c:ptCount val="2"/>
                <c:pt idx="0">
                  <c:v>0</c:v>
                </c:pt>
                <c:pt idx="1">
                  <c:v>60</c:v>
                </c:pt>
              </c:numCache>
            </c:numRef>
          </c:xVal>
          <c:yVal>
            <c:numRef>
              <c:f>'Chart Data'!$H$2:$H$3</c:f>
              <c:numCache>
                <c:formatCode>0</c:formatCode>
                <c:ptCount val="2"/>
                <c:pt idx="0">
                  <c:v>14</c:v>
                </c:pt>
                <c:pt idx="1">
                  <c:v>14</c:v>
                </c:pt>
              </c:numCache>
            </c:numRef>
          </c:yVal>
        </c:ser>
        <c:ser>
          <c:idx val="4"/>
          <c:order val="4"/>
          <c:tx>
            <c:v>Hulplijn Pp</c:v>
          </c:tx>
          <c:spPr>
            <a:ln xmlns:a="http://schemas.openxmlformats.org/drawingml/2006/main" w="38100">
              <a:solidFill>
                <a:srgbClr val="C6D2DB"/>
              </a:solidFill>
            </a:ln>
          </c:spPr>
          <c:marker>
            <c:symbol val="none"/>
          </c:marker>
          <c:xVal>
            <c:numRef>
              <c:f>'Chart Data'!$I$2:$I$3</c:f>
              <c:numCache>
                <c:formatCode>General</c:formatCode>
                <c:ptCount val="2"/>
                <c:pt idx="0">
                  <c:v>0</c:v>
                </c:pt>
                <c:pt idx="1">
                  <c:v>60</c:v>
                </c:pt>
              </c:numCache>
            </c:numRef>
          </c:xVal>
          <c:yVal>
            <c:numRef>
              <c:f>'Chart Data'!$J$2:$J$3</c:f>
              <c:numCache>
                <c:formatCode>0</c:formatCode>
                <c:ptCount val="2"/>
                <c:pt idx="0">
                  <c:v>8</c:v>
                </c:pt>
                <c:pt idx="1">
                  <c:v>8</c:v>
                </c:pt>
              </c:numCache>
            </c:numRef>
          </c:yVal>
        </c:ser>
        <c:ser>
          <c:idx val="5"/>
          <c:order val="5"/>
          <c:tx>
            <c:v>Hulplijn Qt</c:v>
          </c:tx>
          <c:spPr>
            <a:ln xmlns:a="http://schemas.openxmlformats.org/drawingml/2006/main" w="38100">
              <a:solidFill>
                <a:srgbClr val="C6D2DB"/>
              </a:solidFill>
            </a:ln>
          </c:spPr>
          <c:marker>
            <c:symbol val="none"/>
          </c:marker>
          <c:xVal>
            <c:numRef>
              <c:f>'Chart Data'!$K$2:$K$3</c:f>
              <c:numCache>
                <c:formatCode>General</c:formatCode>
                <c:ptCount val="2"/>
                <c:pt idx="0">
                  <c:v>60</c:v>
                </c:pt>
                <c:pt idx="1">
                  <c:v>60</c:v>
                </c:pt>
              </c:numCache>
            </c:numRef>
          </c:xVal>
          <c:yVal>
            <c:numRef>
              <c:f>'Chart Data'!$L$2:$L$3</c:f>
              <c:numCache>
                <c:formatCode>0</c:formatCode>
                <c:ptCount val="2"/>
                <c:pt idx="0">
                  <c:v>0</c:v>
                </c:pt>
                <c:pt idx="1">
                  <c:v>14</c:v>
                </c:pt>
              </c:numCache>
            </c:numRef>
          </c:yVal>
        </c:ser>
        <c:ser>
          <c:idx val="6"/>
          <c:order val="6"/>
          <c:tx>
            <c:v>Belastingwig</c:v>
          </c:tx>
          <c:spPr>
            <a:ln xmlns:a="http://schemas.openxmlformats.org/drawingml/2006/main" w="38100">
              <a:solidFill>
                <a:srgbClr val="A94D16"/>
              </a:solidFill>
            </a:ln>
          </c:spPr>
          <c:marker>
            <c:symbol val="none"/>
          </c:marker>
          <c:xVal>
            <c:numRef>
              <c:f>'Chart Data'!$M$2:$M$3</c:f>
              <c:numCache>
                <c:formatCode>General</c:formatCode>
                <c:ptCount val="2"/>
                <c:pt idx="0">
                  <c:v>60</c:v>
                </c:pt>
                <c:pt idx="1">
                  <c:v>60</c:v>
                </c:pt>
              </c:numCache>
            </c:numRef>
          </c:xVal>
          <c:yVal>
            <c:numRef>
              <c:f>'Chart Data'!$N$2:$N$3</c:f>
              <c:numCache>
                <c:formatCode>0</c:formatCode>
                <c:ptCount val="2"/>
                <c:pt idx="0">
                  <c:v>8</c:v>
                </c:pt>
                <c:pt idx="1">
                  <c:v>14</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30"/>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2025">
                    <a:solidFill>
                      <a:srgbClr val="183247"/>
                    </a:solidFill>
                    <a:latin typeface="Arial"/>
                    <a:ea typeface="Arial"/>
                    <a:cs typeface="Arial"/>
                  </a:rPr>
                  <a:t>P (€ per puzzel)</a:t>
                </a:r>
              </a:p>
            </c:rich>
          </c:tx>
          <c:overlay val="0"/>
          <c:txPr>
            <a:bodyPr xmlns:a="http://schemas.openxmlformats.org/drawingml/2006/main" anchorCtr="1"/>
            <a:lstStyle xmlns:a="http://schemas.openxmlformats.org/drawingml/2006/main"/>
            <a:p xmlns:a="http://schemas.openxmlformats.org/drawingml/2006/main">
              <a:pPr>
                <a:defRPr sz="202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50112"/>
        <c:majorUnit val="5"/>
      </c:valAx>
      <c:valAx>
        <c:axId val="48650112"/>
        <c:scaling>
          <c:orientation val="minMax"/>
          <c:max val="140"/>
          <c:min val="0"/>
        </c:scaling>
        <c:delete val="0"/>
        <c:axPos val="b"/>
        <c:title>
          <c:tx>
            <c:rich>
              <a:bodyPr xmlns:a="http://schemas.openxmlformats.org/drawingml/2006/main"/>
              <a:lstStyle xmlns:a="http://schemas.openxmlformats.org/drawingml/2006/main"/>
              <a:p xmlns:a="http://schemas.openxmlformats.org/drawingml/2006/main">
                <a:r>
                  <a:rPr sz="2025">
                    <a:solidFill>
                      <a:srgbClr val="183247"/>
                    </a:solidFill>
                    <a:latin typeface="Arial"/>
                    <a:ea typeface="Arial"/>
                    <a:cs typeface="Arial"/>
                  </a:rPr>
                  <a:t>Q (puzzels per week)</a:t>
                </a:r>
              </a:p>
            </c:rich>
          </c:tx>
          <c:overlay val="0"/>
          <c:txPr>
            <a:bodyPr xmlns:a="http://schemas.openxmlformats.org/drawingml/2006/main" anchorCtr="1"/>
            <a:lstStyle xmlns:a="http://schemas.openxmlformats.org/drawingml/2006/main"/>
            <a:p xmlns:a="http://schemas.openxmlformats.org/drawingml/2006/main">
              <a:pPr>
                <a:defRPr sz="202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72768"/>
        <c:majorUnit val="2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scatterChart>
        <c:scatterStyle val="line"/>
        <c:ser>
          <c:idx val="0"/>
          <c:order val="0"/>
          <c:tx>
            <c:v>V</c:v>
          </c:tx>
          <c:spPr>
            <a:ln xmlns:a="http://schemas.openxmlformats.org/drawingml/2006/main" w="38100">
              <a:solidFill>
                <a:srgbClr val="1A5276"/>
              </a:solidFill>
            </a:ln>
          </c:spPr>
          <c:marker>
            <c:symbol val="none"/>
          </c:marker>
          <c:dLbls>
            <c:dLbl>
              <c:idx val="1"/>
              <c:tx>
                <c:rich>
                  <ns0:bodyPr xmlns:ns0="http://schemas.openxmlformats.org/drawingml/2006/main"/>
                  <ns1:lstStyle xmlns:ns1="http://schemas.openxmlformats.org/drawingml/2006/main"/>
                  <ns2:p xmlns:ns2="http://schemas.openxmlformats.org/drawingml/2006/main">
                    <ns2:r>
                      <ns2:rPr sz="1900" b="1">
                        <ns2:solidFill>
                          <ns2:srgbClr val="183247"/>
                        </ns2:solidFill>
                        <ns2:latin typeface="Arial"/>
                      </ns2:rPr>
                      <ns2:t>V</ns2:t>
                    </ns2:r>
                  </ns2:p>
                </c:rich>
              </c:tx>
              <c:dLblPos val="t"/>
              <c:showLegendKey val="0"/>
            </c:dLbl>
            <c:showLegendKey val="0"/>
            <c:showVal val="0"/>
            <c:showCatName val="0"/>
            <c:showSerName val="0"/>
            <c:showPercent val="0"/>
            <c:showBubbleSize val="0"/>
          </c:dLbls>
          <c:xVal>
            <c:numRef>
              <c:f>'Chart Data'!$A$2:$A$3</c:f>
              <c:numCache>
                <c:formatCode>General</c:formatCode>
                <c:ptCount val="2"/>
                <c:pt idx="0">
                  <c:v>0</c:v>
                </c:pt>
                <c:pt idx="1">
                  <c:v>100</c:v>
                </c:pt>
              </c:numCache>
            </c:numRef>
          </c:xVal>
          <c:yVal>
            <c:numRef>
              <c:f>'Chart Data'!$B$2:$B$3</c:f>
              <c:numCache>
                <c:formatCode>0</c:formatCode>
                <c:ptCount val="2"/>
                <c:pt idx="0">
                  <c:v>20</c:v>
                </c:pt>
                <c:pt idx="1">
                  <c:v>0</c:v>
                </c:pt>
              </c:numCache>
            </c:numRef>
          </c:yVal>
        </c:ser>
        <c:ser>
          <c:idx val="1"/>
          <c:order val="1"/>
          <c:tx>
            <c:v>A</c:v>
          </c:tx>
          <c:spPr>
            <a:ln xmlns:a="http://schemas.openxmlformats.org/drawingml/2006/main" w="38100">
              <a:solidFill>
                <a:srgbClr val="1E8449"/>
              </a:solidFill>
            </a:ln>
          </c:spPr>
          <c:marker>
            <c:symbol val="none"/>
          </c:marker>
          <c:dLbls>
            <c:dLbl>
              <c:idx val="1"/>
              <c:tx>
                <c:rich>
                  <ns3:bodyPr xmlns:ns3="http://schemas.openxmlformats.org/drawingml/2006/main"/>
                  <ns4:lstStyle xmlns:ns4="http://schemas.openxmlformats.org/drawingml/2006/main"/>
                  <ns5:p xmlns:ns5="http://schemas.openxmlformats.org/drawingml/2006/main">
                    <ns5:r>
                      <ns5:rPr sz="1900" b="1">
                        <ns5:solidFill>
                          <ns5:srgbClr val="183247"/>
                        </ns5:solidFill>
                        <ns5:latin typeface="Arial"/>
                      </ns5:rPr>
                      <ns5:t>A</ns5:t>
                    </ns5:r>
                  </ns5:p>
                </c:rich>
              </c:tx>
              <c:dLblPos val="t"/>
              <c:showLegendKey val="0"/>
            </c:dLbl>
            <c:showLegendKey val="0"/>
            <c:showVal val="0"/>
            <c:showCatName val="0"/>
            <c:showSerName val="0"/>
            <c:showPercent val="0"/>
            <c:showBubbleSize val="0"/>
          </c:dLbls>
          <c:xVal>
            <c:numRef>
              <c:f>'Chart Data'!$C$2:$C$3</c:f>
              <c:numCache>
                <c:formatCode>General</c:formatCode>
                <c:ptCount val="2"/>
                <c:pt idx="0">
                  <c:v>0</c:v>
                </c:pt>
                <c:pt idx="1">
                  <c:v>100</c:v>
                </c:pt>
              </c:numCache>
            </c:numRef>
          </c:xVal>
          <c:yVal>
            <c:numRef>
              <c:f>'Chart Data'!$D$2:$D$3</c:f>
              <c:numCache>
                <c:formatCode>0</c:formatCode>
                <c:ptCount val="2"/>
                <c:pt idx="0">
                  <c:v>2</c:v>
                </c:pt>
                <c:pt idx="1">
                  <c:v>12</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22"/>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2025">
                    <a:solidFill>
                      <a:srgbClr val="183247"/>
                    </a:solidFill>
                    <a:latin typeface="Arial"/>
                    <a:ea typeface="Arial"/>
                    <a:cs typeface="Arial"/>
                  </a:rPr>
                  <a:t>P (€ per tas)</a:t>
                </a:r>
              </a:p>
            </c:rich>
          </c:tx>
          <c:overlay val="0"/>
          <c:txPr>
            <a:bodyPr xmlns:a="http://schemas.openxmlformats.org/drawingml/2006/main" anchorCtr="1"/>
            <a:lstStyle xmlns:a="http://schemas.openxmlformats.org/drawingml/2006/main"/>
            <a:p xmlns:a="http://schemas.openxmlformats.org/drawingml/2006/main">
              <a:pPr>
                <a:defRPr sz="202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50112"/>
        <c:majorUnit val="5"/>
      </c:valAx>
      <c:valAx>
        <c:axId val="48650112"/>
        <c:scaling>
          <c:orientation val="minMax"/>
          <c:max val="100"/>
          <c:min val="0"/>
        </c:scaling>
        <c:delete val="0"/>
        <c:axPos val="b"/>
        <c:title>
          <c:tx>
            <c:rich>
              <a:bodyPr xmlns:a="http://schemas.openxmlformats.org/drawingml/2006/main"/>
              <a:lstStyle xmlns:a="http://schemas.openxmlformats.org/drawingml/2006/main"/>
              <a:p xmlns:a="http://schemas.openxmlformats.org/drawingml/2006/main">
                <a:r>
                  <a:rPr sz="2025">
                    <a:solidFill>
                      <a:srgbClr val="183247"/>
                    </a:solidFill>
                    <a:latin typeface="Arial"/>
                    <a:ea typeface="Arial"/>
                    <a:cs typeface="Arial"/>
                  </a:rPr>
                  <a:t>Q (tassen per dag)</a:t>
                </a:r>
              </a:p>
            </c:rich>
          </c:tx>
          <c:overlay val="0"/>
          <c:txPr>
            <a:bodyPr xmlns:a="http://schemas.openxmlformats.org/drawingml/2006/main" anchorCtr="1"/>
            <a:lstStyle xmlns:a="http://schemas.openxmlformats.org/drawingml/2006/main"/>
            <a:p xmlns:a="http://schemas.openxmlformats.org/drawingml/2006/main">
              <a:pPr>
                <a:defRPr sz="202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72768"/>
        <c:majorUnit val="2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scatterChart>
        <c:scatterStyle val="line"/>
        <c:ser>
          <c:idx val="0"/>
          <c:order val="0"/>
          <c:tx>
            <c:v>V</c:v>
          </c:tx>
          <c:spPr>
            <a:ln xmlns:a="http://schemas.openxmlformats.org/drawingml/2006/main" w="38100">
              <a:solidFill>
                <a:srgbClr val="1A5276"/>
              </a:solidFill>
            </a:ln>
          </c:spPr>
          <c:marker>
            <c:symbol val="none"/>
          </c:marker>
          <c:dLbls>
            <c:dLbl>
              <c:idx val="1"/>
              <c:tx>
                <c:rich>
                  <ns0:bodyPr xmlns:ns0="http://schemas.openxmlformats.org/drawingml/2006/main"/>
                  <ns1:lstStyle xmlns:ns1="http://schemas.openxmlformats.org/drawingml/2006/main"/>
                  <ns2:p xmlns:ns2="http://schemas.openxmlformats.org/drawingml/2006/main">
                    <ns2:r>
                      <ns2:rPr sz="1900" b="1">
                        <ns2:solidFill>
                          <ns2:srgbClr val="183247"/>
                        </ns2:solidFill>
                        <ns2:latin typeface="Arial"/>
                      </ns2:rPr>
                      <ns2:t>V</ns2:t>
                    </ns2:r>
                  </ns2:p>
                </c:rich>
              </c:tx>
              <c:dLblPos val="t"/>
              <c:showLegendKey val="0"/>
            </c:dLbl>
            <c:showLegendKey val="0"/>
            <c:showVal val="0"/>
            <c:showCatName val="0"/>
            <c:showSerName val="0"/>
            <c:showPercent val="0"/>
            <c:showBubbleSize val="0"/>
          </c:dLbls>
          <c:xVal>
            <c:numRef>
              <c:f>'Chart Data'!$A$2:$A$3</c:f>
              <c:numCache>
                <c:formatCode>General</c:formatCode>
                <c:ptCount val="2"/>
                <c:pt idx="0">
                  <c:v>0</c:v>
                </c:pt>
                <c:pt idx="1">
                  <c:v>100</c:v>
                </c:pt>
              </c:numCache>
            </c:numRef>
          </c:xVal>
          <c:yVal>
            <c:numRef>
              <c:f>'Chart Data'!$B$2:$B$3</c:f>
              <c:numCache>
                <c:formatCode>0</c:formatCode>
                <c:ptCount val="2"/>
                <c:pt idx="0">
                  <c:v>20</c:v>
                </c:pt>
                <c:pt idx="1">
                  <c:v>0</c:v>
                </c:pt>
              </c:numCache>
            </c:numRef>
          </c:yVal>
        </c:ser>
        <c:ser>
          <c:idx val="1"/>
          <c:order val="1"/>
          <c:tx>
            <c:v>A</c:v>
          </c:tx>
          <c:spPr>
            <a:ln xmlns:a="http://schemas.openxmlformats.org/drawingml/2006/main" w="38100">
              <a:solidFill>
                <a:srgbClr val="1E8449"/>
              </a:solidFill>
            </a:ln>
          </c:spPr>
          <c:marker>
            <c:symbol val="none"/>
          </c:marker>
          <c:dLbls>
            <c:dLbl>
              <c:idx val="1"/>
              <c:tx>
                <c:rich>
                  <ns3:bodyPr xmlns:ns3="http://schemas.openxmlformats.org/drawingml/2006/main"/>
                  <ns4:lstStyle xmlns:ns4="http://schemas.openxmlformats.org/drawingml/2006/main"/>
                  <ns5:p xmlns:ns5="http://schemas.openxmlformats.org/drawingml/2006/main">
                    <ns5:r>
                      <ns5:rPr sz="1900" b="1">
                        <ns5:solidFill>
                          <ns5:srgbClr val="183247"/>
                        </ns5:solidFill>
                        <ns5:latin typeface="Arial"/>
                      </ns5:rPr>
                      <ns5:t>A</ns5:t>
                    </ns5:r>
                  </ns5:p>
                </c:rich>
              </c:tx>
              <c:dLblPos val="t"/>
              <c:showLegendKey val="0"/>
            </c:dLbl>
            <c:showLegendKey val="0"/>
            <c:showVal val="0"/>
            <c:showCatName val="0"/>
            <c:showSerName val="0"/>
            <c:showPercent val="0"/>
            <c:showBubbleSize val="0"/>
          </c:dLbls>
          <c:xVal>
            <c:numRef>
              <c:f>'Chart Data'!$C$2:$C$3</c:f>
              <c:numCache>
                <c:formatCode>General</c:formatCode>
                <c:ptCount val="2"/>
                <c:pt idx="0">
                  <c:v>0</c:v>
                </c:pt>
                <c:pt idx="1">
                  <c:v>100</c:v>
                </c:pt>
              </c:numCache>
            </c:numRef>
          </c:xVal>
          <c:yVal>
            <c:numRef>
              <c:f>'Chart Data'!$D$2:$D$3</c:f>
              <c:numCache>
                <c:formatCode>0</c:formatCode>
                <c:ptCount val="2"/>
                <c:pt idx="0">
                  <c:v>2</c:v>
                </c:pt>
                <c:pt idx="1">
                  <c:v>12</c:v>
                </c:pt>
              </c:numCache>
            </c:numRef>
          </c:yVal>
        </c:ser>
        <c:ser>
          <c:idx val="2"/>
          <c:order val="2"/>
          <c:tx>
            <c:v>A + t</c:v>
          </c:tx>
          <c:spPr>
            <a:ln xmlns:a="http://schemas.openxmlformats.org/drawingml/2006/main" w="38100">
              <a:solidFill>
                <a:srgbClr val="A94D16"/>
              </a:solidFill>
            </a:ln>
          </c:spPr>
          <c:marker>
            <c:symbol val="none"/>
          </c:marker>
          <c:dLbls>
            <c:dLbl>
              <c:idx val="1"/>
              <c:tx>
                <c:rich>
                  <ns6:bodyPr xmlns:ns6="http://schemas.openxmlformats.org/drawingml/2006/main"/>
                  <ns7:lstStyle xmlns:ns7="http://schemas.openxmlformats.org/drawingml/2006/main"/>
                  <ns8:p xmlns:ns8="http://schemas.openxmlformats.org/drawingml/2006/main">
                    <ns8:r>
                      <ns8:rPr sz="1900" b="1">
                        <ns8:solidFill>
                          <ns8:srgbClr val="183247"/>
                        </ns8:solidFill>
                        <ns8:latin typeface="Arial"/>
                      </ns8:rPr>
                      <ns8:t>A + t</ns8:t>
                    </ns8:r>
                  </ns8:p>
                </c:rich>
              </c:tx>
              <c:dLblPos val="t"/>
              <c:showLegendKey val="0"/>
            </c:dLbl>
            <c:showLegendKey val="0"/>
            <c:showVal val="0"/>
            <c:showCatName val="0"/>
            <c:showSerName val="0"/>
            <c:showPercent val="0"/>
            <c:showBubbleSize val="0"/>
          </c:dLbls>
          <c:xVal>
            <c:numRef>
              <c:f>'Chart Data'!$E$2:$E$3</c:f>
              <c:numCache>
                <c:formatCode>General</c:formatCode>
                <c:ptCount val="2"/>
                <c:pt idx="0">
                  <c:v>0</c:v>
                </c:pt>
                <c:pt idx="1">
                  <c:v>100</c:v>
                </c:pt>
              </c:numCache>
            </c:numRef>
          </c:xVal>
          <c:yVal>
            <c:numRef>
              <c:f>'Chart Data'!$F$2:$F$3</c:f>
              <c:numCache>
                <c:formatCode>0</c:formatCode>
                <c:ptCount val="2"/>
                <c:pt idx="0">
                  <c:v>5</c:v>
                </c:pt>
                <c:pt idx="1">
                  <c:v>15</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22"/>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2025">
                    <a:solidFill>
                      <a:srgbClr val="183247"/>
                    </a:solidFill>
                    <a:latin typeface="Arial"/>
                    <a:ea typeface="Arial"/>
                    <a:cs typeface="Arial"/>
                  </a:rPr>
                  <a:t>P (€ per tas)</a:t>
                </a:r>
              </a:p>
            </c:rich>
          </c:tx>
          <c:overlay val="0"/>
          <c:txPr>
            <a:bodyPr xmlns:a="http://schemas.openxmlformats.org/drawingml/2006/main" anchorCtr="1"/>
            <a:lstStyle xmlns:a="http://schemas.openxmlformats.org/drawingml/2006/main"/>
            <a:p xmlns:a="http://schemas.openxmlformats.org/drawingml/2006/main">
              <a:pPr>
                <a:defRPr sz="202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50112"/>
        <c:majorUnit val="5"/>
      </c:valAx>
      <c:valAx>
        <c:axId val="48650112"/>
        <c:scaling>
          <c:orientation val="minMax"/>
          <c:max val="100"/>
          <c:min val="0"/>
        </c:scaling>
        <c:delete val="0"/>
        <c:axPos val="b"/>
        <c:title>
          <c:tx>
            <c:rich>
              <a:bodyPr xmlns:a="http://schemas.openxmlformats.org/drawingml/2006/main"/>
              <a:lstStyle xmlns:a="http://schemas.openxmlformats.org/drawingml/2006/main"/>
              <a:p xmlns:a="http://schemas.openxmlformats.org/drawingml/2006/main">
                <a:r>
                  <a:rPr sz="2025">
                    <a:solidFill>
                      <a:srgbClr val="183247"/>
                    </a:solidFill>
                    <a:latin typeface="Arial"/>
                    <a:ea typeface="Arial"/>
                    <a:cs typeface="Arial"/>
                  </a:rPr>
                  <a:t>Q (tassen per dag)</a:t>
                </a:r>
              </a:p>
            </c:rich>
          </c:tx>
          <c:overlay val="0"/>
          <c:txPr>
            <a:bodyPr xmlns:a="http://schemas.openxmlformats.org/drawingml/2006/main" anchorCtr="1"/>
            <a:lstStyle xmlns:a="http://schemas.openxmlformats.org/drawingml/2006/main"/>
            <a:p xmlns:a="http://schemas.openxmlformats.org/drawingml/2006/main">
              <a:pPr>
                <a:defRPr sz="202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72768"/>
        <c:majorUnit val="2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scatterChart>
        <c:scatterStyle val="line"/>
        <c:ser>
          <c:idx val="0"/>
          <c:order val="0"/>
          <c:tx>
            <c:v>V</c:v>
          </c:tx>
          <c:spPr>
            <a:ln xmlns:a="http://schemas.openxmlformats.org/drawingml/2006/main" w="38100">
              <a:solidFill>
                <a:srgbClr val="1A5276"/>
              </a:solidFill>
            </a:ln>
          </c:spPr>
          <c:marker>
            <c:symbol val="none"/>
          </c:marker>
          <c:dLbls>
            <c:dLbl>
              <c:idx val="1"/>
              <c:tx>
                <c:rich>
                  <ns0:bodyPr xmlns:ns0="http://schemas.openxmlformats.org/drawingml/2006/main"/>
                  <ns1:lstStyle xmlns:ns1="http://schemas.openxmlformats.org/drawingml/2006/main"/>
                  <ns2:p xmlns:ns2="http://schemas.openxmlformats.org/drawingml/2006/main">
                    <ns2:r>
                      <ns2:rPr sz="1900" b="1">
                        <ns2:solidFill>
                          <ns2:srgbClr val="183247"/>
                        </ns2:solidFill>
                        <ns2:latin typeface="Arial"/>
                      </ns2:rPr>
                      <ns2:t>V</ns2:t>
                    </ns2:r>
                  </ns2:p>
                </c:rich>
              </c:tx>
              <c:dLblPos val="t"/>
              <c:showLegendKey val="0"/>
            </c:dLbl>
            <c:showLegendKey val="0"/>
            <c:showVal val="0"/>
            <c:showCatName val="0"/>
            <c:showSerName val="0"/>
            <c:showPercent val="0"/>
            <c:showBubbleSize val="0"/>
          </c:dLbls>
          <c:xVal>
            <c:numRef>
              <c:f>'Chart Data'!$A$2:$A$3</c:f>
              <c:numCache>
                <c:formatCode>General</c:formatCode>
                <c:ptCount val="2"/>
                <c:pt idx="0">
                  <c:v>0</c:v>
                </c:pt>
                <c:pt idx="1">
                  <c:v>100</c:v>
                </c:pt>
              </c:numCache>
            </c:numRef>
          </c:xVal>
          <c:yVal>
            <c:numRef>
              <c:f>'Chart Data'!$B$2:$B$3</c:f>
              <c:numCache>
                <c:formatCode>0</c:formatCode>
                <c:ptCount val="2"/>
                <c:pt idx="0">
                  <c:v>20</c:v>
                </c:pt>
                <c:pt idx="1">
                  <c:v>0</c:v>
                </c:pt>
              </c:numCache>
            </c:numRef>
          </c:yVal>
        </c:ser>
        <c:ser>
          <c:idx val="1"/>
          <c:order val="1"/>
          <c:tx>
            <c:v>A</c:v>
          </c:tx>
          <c:spPr>
            <a:ln xmlns:a="http://schemas.openxmlformats.org/drawingml/2006/main" w="38100">
              <a:solidFill>
                <a:srgbClr val="1E8449"/>
              </a:solidFill>
            </a:ln>
          </c:spPr>
          <c:marker>
            <c:symbol val="none"/>
          </c:marker>
          <c:dLbls>
            <c:dLbl>
              <c:idx val="1"/>
              <c:tx>
                <c:rich>
                  <ns3:bodyPr xmlns:ns3="http://schemas.openxmlformats.org/drawingml/2006/main"/>
                  <ns4:lstStyle xmlns:ns4="http://schemas.openxmlformats.org/drawingml/2006/main"/>
                  <ns5:p xmlns:ns5="http://schemas.openxmlformats.org/drawingml/2006/main">
                    <ns5:r>
                      <ns5:rPr sz="1900" b="1">
                        <ns5:solidFill>
                          <ns5:srgbClr val="183247"/>
                        </ns5:solidFill>
                        <ns5:latin typeface="Arial"/>
                      </ns5:rPr>
                      <ns5:t>A</ns5:t>
                    </ns5:r>
                  </ns5:p>
                </c:rich>
              </c:tx>
              <c:dLblPos val="t"/>
              <c:showLegendKey val="0"/>
            </c:dLbl>
            <c:showLegendKey val="0"/>
            <c:showVal val="0"/>
            <c:showCatName val="0"/>
            <c:showSerName val="0"/>
            <c:showPercent val="0"/>
            <c:showBubbleSize val="0"/>
          </c:dLbls>
          <c:xVal>
            <c:numRef>
              <c:f>'Chart Data'!$C$2:$C$3</c:f>
              <c:numCache>
                <c:formatCode>General</c:formatCode>
                <c:ptCount val="2"/>
                <c:pt idx="0">
                  <c:v>0</c:v>
                </c:pt>
                <c:pt idx="1">
                  <c:v>100</c:v>
                </c:pt>
              </c:numCache>
            </c:numRef>
          </c:xVal>
          <c:yVal>
            <c:numRef>
              <c:f>'Chart Data'!$D$2:$D$3</c:f>
              <c:numCache>
                <c:formatCode>0</c:formatCode>
                <c:ptCount val="2"/>
                <c:pt idx="0">
                  <c:v>2</c:v>
                </c:pt>
                <c:pt idx="1">
                  <c:v>12</c:v>
                </c:pt>
              </c:numCache>
            </c:numRef>
          </c:yVal>
        </c:ser>
        <c:ser>
          <c:idx val="2"/>
          <c:order val="2"/>
          <c:tx>
            <c:v>A + t</c:v>
          </c:tx>
          <c:spPr>
            <a:ln xmlns:a="http://schemas.openxmlformats.org/drawingml/2006/main" w="38100">
              <a:solidFill>
                <a:srgbClr val="A94D16"/>
              </a:solidFill>
            </a:ln>
          </c:spPr>
          <c:marker>
            <c:symbol val="none"/>
          </c:marker>
          <c:dLbls>
            <c:dLbl>
              <c:idx val="1"/>
              <c:tx>
                <c:rich>
                  <ns6:bodyPr xmlns:ns6="http://schemas.openxmlformats.org/drawingml/2006/main"/>
                  <ns7:lstStyle xmlns:ns7="http://schemas.openxmlformats.org/drawingml/2006/main"/>
                  <ns8:p xmlns:ns8="http://schemas.openxmlformats.org/drawingml/2006/main">
                    <ns8:r>
                      <ns8:rPr sz="1900" b="1">
                        <ns8:solidFill>
                          <ns8:srgbClr val="183247"/>
                        </ns8:solidFill>
                        <ns8:latin typeface="Arial"/>
                      </ns8:rPr>
                      <ns8:t>A + t</ns8:t>
                    </ns8:r>
                  </ns8:p>
                </c:rich>
              </c:tx>
              <c:dLblPos val="t"/>
              <c:showLegendKey val="0"/>
            </c:dLbl>
            <c:showLegendKey val="0"/>
            <c:showVal val="0"/>
            <c:showCatName val="0"/>
            <c:showSerName val="0"/>
            <c:showPercent val="0"/>
            <c:showBubbleSize val="0"/>
          </c:dLbls>
          <c:xVal>
            <c:numRef>
              <c:f>'Chart Data'!$E$2:$E$3</c:f>
              <c:numCache>
                <c:formatCode>General</c:formatCode>
                <c:ptCount val="2"/>
                <c:pt idx="0">
                  <c:v>0</c:v>
                </c:pt>
                <c:pt idx="1">
                  <c:v>100</c:v>
                </c:pt>
              </c:numCache>
            </c:numRef>
          </c:xVal>
          <c:yVal>
            <c:numRef>
              <c:f>'Chart Data'!$F$2:$F$3</c:f>
              <c:numCache>
                <c:formatCode>0</c:formatCode>
                <c:ptCount val="2"/>
                <c:pt idx="0">
                  <c:v>5</c:v>
                </c:pt>
                <c:pt idx="1">
                  <c:v>15</c:v>
                </c:pt>
              </c:numCache>
            </c:numRef>
          </c:yVal>
        </c:ser>
        <c:ser>
          <c:idx val="3"/>
          <c:order val="3"/>
          <c:tx>
            <c:v>Hulplijn Pc</c:v>
          </c:tx>
          <c:spPr>
            <a:ln xmlns:a="http://schemas.openxmlformats.org/drawingml/2006/main" w="38100">
              <a:solidFill>
                <a:srgbClr val="C6D2DB"/>
              </a:solidFill>
            </a:ln>
          </c:spPr>
          <c:marker>
            <c:symbol val="none"/>
          </c:marker>
          <c:xVal>
            <c:numRef>
              <c:f>'Chart Data'!$G$2:$G$3</c:f>
              <c:numCache>
                <c:formatCode>General</c:formatCode>
                <c:ptCount val="2"/>
                <c:pt idx="0">
                  <c:v>0</c:v>
                </c:pt>
                <c:pt idx="1">
                  <c:v>50</c:v>
                </c:pt>
              </c:numCache>
            </c:numRef>
          </c:xVal>
          <c:yVal>
            <c:numRef>
              <c:f>'Chart Data'!$H$2:$H$3</c:f>
              <c:numCache>
                <c:formatCode>0</c:formatCode>
                <c:ptCount val="2"/>
                <c:pt idx="0">
                  <c:v>10</c:v>
                </c:pt>
                <c:pt idx="1">
                  <c:v>10</c:v>
                </c:pt>
              </c:numCache>
            </c:numRef>
          </c:yVal>
        </c:ser>
        <c:ser>
          <c:idx val="4"/>
          <c:order val="4"/>
          <c:tx>
            <c:v>Hulplijn Pp</c:v>
          </c:tx>
          <c:spPr>
            <a:ln xmlns:a="http://schemas.openxmlformats.org/drawingml/2006/main" w="38100">
              <a:solidFill>
                <a:srgbClr val="C6D2DB"/>
              </a:solidFill>
            </a:ln>
          </c:spPr>
          <c:marker>
            <c:symbol val="none"/>
          </c:marker>
          <c:xVal>
            <c:numRef>
              <c:f>'Chart Data'!$I$2:$I$3</c:f>
              <c:numCache>
                <c:formatCode>General</c:formatCode>
                <c:ptCount val="2"/>
                <c:pt idx="0">
                  <c:v>0</c:v>
                </c:pt>
                <c:pt idx="1">
                  <c:v>50</c:v>
                </c:pt>
              </c:numCache>
            </c:numRef>
          </c:xVal>
          <c:yVal>
            <c:numRef>
              <c:f>'Chart Data'!$J$2:$J$3</c:f>
              <c:numCache>
                <c:formatCode>0</c:formatCode>
                <c:ptCount val="2"/>
                <c:pt idx="0">
                  <c:v>7</c:v>
                </c:pt>
                <c:pt idx="1">
                  <c:v>7</c:v>
                </c:pt>
              </c:numCache>
            </c:numRef>
          </c:yVal>
        </c:ser>
        <c:ser>
          <c:idx val="5"/>
          <c:order val="5"/>
          <c:tx>
            <c:v>Hulplijn Qt</c:v>
          </c:tx>
          <c:spPr>
            <a:ln xmlns:a="http://schemas.openxmlformats.org/drawingml/2006/main" w="38100">
              <a:solidFill>
                <a:srgbClr val="C6D2DB"/>
              </a:solidFill>
            </a:ln>
          </c:spPr>
          <c:marker>
            <c:symbol val="none"/>
          </c:marker>
          <c:xVal>
            <c:numRef>
              <c:f>'Chart Data'!$K$2:$K$3</c:f>
              <c:numCache>
                <c:formatCode>General</c:formatCode>
                <c:ptCount val="2"/>
                <c:pt idx="0">
                  <c:v>50</c:v>
                </c:pt>
                <c:pt idx="1">
                  <c:v>50</c:v>
                </c:pt>
              </c:numCache>
            </c:numRef>
          </c:xVal>
          <c:yVal>
            <c:numRef>
              <c:f>'Chart Data'!$L$2:$L$3</c:f>
              <c:numCache>
                <c:formatCode>0</c:formatCode>
                <c:ptCount val="2"/>
                <c:pt idx="0">
                  <c:v>0</c:v>
                </c:pt>
                <c:pt idx="1">
                  <c:v>10</c:v>
                </c:pt>
              </c:numCache>
            </c:numRef>
          </c:yVal>
        </c:ser>
        <c:ser>
          <c:idx val="6"/>
          <c:order val="6"/>
          <c:tx>
            <c:v>Belastingwig</c:v>
          </c:tx>
          <c:spPr>
            <a:ln xmlns:a="http://schemas.openxmlformats.org/drawingml/2006/main" w="38100">
              <a:solidFill>
                <a:srgbClr val="A94D16"/>
              </a:solidFill>
            </a:ln>
          </c:spPr>
          <c:marker>
            <c:symbol val="none"/>
          </c:marker>
          <c:xVal>
            <c:numRef>
              <c:f>'Chart Data'!$M$2:$M$3</c:f>
              <c:numCache>
                <c:formatCode>General</c:formatCode>
                <c:ptCount val="2"/>
                <c:pt idx="0">
                  <c:v>50</c:v>
                </c:pt>
                <c:pt idx="1">
                  <c:v>50</c:v>
                </c:pt>
              </c:numCache>
            </c:numRef>
          </c:xVal>
          <c:yVal>
            <c:numRef>
              <c:f>'Chart Data'!$N$2:$N$3</c:f>
              <c:numCache>
                <c:formatCode>0</c:formatCode>
                <c:ptCount val="2"/>
                <c:pt idx="0">
                  <c:v>7</c:v>
                </c:pt>
                <c:pt idx="1">
                  <c:v>10</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22"/>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2025">
                    <a:solidFill>
                      <a:srgbClr val="183247"/>
                    </a:solidFill>
                    <a:latin typeface="Arial"/>
                    <a:ea typeface="Arial"/>
                    <a:cs typeface="Arial"/>
                  </a:rPr>
                  <a:t>P (€ per tas)</a:t>
                </a:r>
              </a:p>
            </c:rich>
          </c:tx>
          <c:overlay val="0"/>
          <c:txPr>
            <a:bodyPr xmlns:a="http://schemas.openxmlformats.org/drawingml/2006/main" anchorCtr="1"/>
            <a:lstStyle xmlns:a="http://schemas.openxmlformats.org/drawingml/2006/main"/>
            <a:p xmlns:a="http://schemas.openxmlformats.org/drawingml/2006/main">
              <a:pPr>
                <a:defRPr sz="202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50112"/>
        <c:majorUnit val="5"/>
      </c:valAx>
      <c:valAx>
        <c:axId val="48650112"/>
        <c:scaling>
          <c:orientation val="minMax"/>
          <c:max val="100"/>
          <c:min val="0"/>
        </c:scaling>
        <c:delete val="0"/>
        <c:axPos val="b"/>
        <c:title>
          <c:tx>
            <c:rich>
              <a:bodyPr xmlns:a="http://schemas.openxmlformats.org/drawingml/2006/main"/>
              <a:lstStyle xmlns:a="http://schemas.openxmlformats.org/drawingml/2006/main"/>
              <a:p xmlns:a="http://schemas.openxmlformats.org/drawingml/2006/main">
                <a:r>
                  <a:rPr sz="2025">
                    <a:solidFill>
                      <a:srgbClr val="183247"/>
                    </a:solidFill>
                    <a:latin typeface="Arial"/>
                    <a:ea typeface="Arial"/>
                    <a:cs typeface="Arial"/>
                  </a:rPr>
                  <a:t>Q (tassen per dag)</a:t>
                </a:r>
              </a:p>
            </c:rich>
          </c:tx>
          <c:overlay val="0"/>
          <c:txPr>
            <a:bodyPr xmlns:a="http://schemas.openxmlformats.org/drawingml/2006/main" anchorCtr="1"/>
            <a:lstStyle xmlns:a="http://schemas.openxmlformats.org/drawingml/2006/main"/>
            <a:p xmlns:a="http://schemas.openxmlformats.org/drawingml/2006/main">
              <a:pPr>
                <a:defRPr sz="202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72768"/>
        <c:majorUnit val="2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Deze les: §3.1.1 Belastingen: wig en nieuw evenwic">
            <a:extLst xmlns:a="http://schemas.openxmlformats.org/drawingml/2006/main">
              <a:ext uri="{FF2B5EF4-FFF2-40B4-BE49-F238E27FC236}">
                <a16:creationId xmlns:a16="http://schemas.microsoft.com/office/drawing/2014/main" id="{A4BAA0C0-B7F7-4676-AAD9-3B41F303C3D7}"/>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3247"/>
                </a:solidFill>
                <a:latin typeface="Arial"/>
                <a:ea typeface="Arial"/>
                <a:cs typeface="Arial"/>
              </a:defRPr>
            </a:pPr>
            <a:r>
              <a:rPr sz="3225" b="1">
                <a:solidFill>
                  <a:srgbClr val="183247"/>
                </a:solidFill>
                <a:latin typeface="Arial"/>
                <a:ea typeface="Arial"/>
                <a:cs typeface="Arial"/>
              </a:rPr>
              <a:t>Deze les: §3.1.1 Belastingen: wig en nieuw evenwicht</a:t>
            </a:r>
          </a:p>
        </p:txBody>
      </p:sp>
      <p:sp>
        <p:nvSpPr>
          <p:cNvPr id="2" name="">
            <a:extLst xmlns:a="http://schemas.openxmlformats.org/drawingml/2006/main">
              <a:ext uri="{FF2B5EF4-FFF2-40B4-BE49-F238E27FC236}">
                <a16:creationId xmlns:a16="http://schemas.microsoft.com/office/drawing/2014/main" id="{FFBFF921-2A57-4BD0-A509-E29D5199B4F0}"/>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4CE082EC-5700-46FA-8240-489C5702CCD0}"/>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§3.1.1 Belastingen: wig en nieuw evenwicht</a:t>
            </a:r>
          </a:p>
        </p:txBody>
      </p:sp>
      <p:sp>
        <p:nvSpPr>
          <p:cNvPr id="4" name="slide-number">
            <a:extLst xmlns:a="http://schemas.openxmlformats.org/drawingml/2006/main">
              <a:ext uri="{FF2B5EF4-FFF2-40B4-BE49-F238E27FC236}">
                <a16:creationId xmlns:a16="http://schemas.microsoft.com/office/drawing/2014/main" id="{4E46CB84-E0F1-4395-88ED-220A2A54FAAE}"/>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a:t>
            </a:r>
          </a:p>
        </p:txBody>
      </p:sp>
      <p:sp>
        <p:nvSpPr>
          <p:cNvPr id="5" name="phase">
            <a:extLst xmlns:a="http://schemas.openxmlformats.org/drawingml/2006/main">
              <a:ext uri="{FF2B5EF4-FFF2-40B4-BE49-F238E27FC236}">
                <a16:creationId xmlns:a16="http://schemas.microsoft.com/office/drawing/2014/main" id="{FB28D8DD-FA1B-47D9-9815-5A114486A3DC}"/>
              </a:ext>
            </a:extLst>
          </p:cNvPr>
          <p:cNvSpPr>
            <a:spLocks xmlns:a="http://schemas.openxmlformats.org/drawingml/2006/main" noGrp="1"/>
          </p:cNvSpPr>
          <p:nvPr/>
        </p:nvSpPr>
        <p:spPr>
          <a:xfrm xmlns:a="http://schemas.openxmlformats.org/drawingml/2006/main">
            <a:off x="571500" y="1066800"/>
            <a:ext cx="13811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A5276"/>
                </a:solidFill>
                <a:latin typeface="Arial"/>
                <a:ea typeface="Arial"/>
                <a:cs typeface="Arial"/>
              </a:defRPr>
            </a:pPr>
            <a:r>
              <a:rPr sz="2250" b="1">
                <a:solidFill>
                  <a:srgbClr val="1A5276"/>
                </a:solidFill>
                <a:latin typeface="Arial"/>
                <a:ea typeface="Arial"/>
                <a:cs typeface="Arial"/>
              </a:rPr>
              <a:t>Nu: Startopdracht</a:t>
            </a:r>
          </a:p>
        </p:txBody>
      </p:sp>
      <p:sp>
        <p:nvSpPr>
          <p:cNvPr id="6" name="Lesroute">
            <a:extLst xmlns:a="http://schemas.openxmlformats.org/drawingml/2006/main">
              <a:ext uri="{FF2B5EF4-FFF2-40B4-BE49-F238E27FC236}">
                <a16:creationId xmlns:a16="http://schemas.microsoft.com/office/drawing/2014/main" id="{CE13FAD6-3098-49A7-BD55-23E3E94EBCC5}"/>
              </a:ext>
            </a:extLst>
          </p:cNvPr>
          <p:cNvSpPr>
            <a:spLocks xmlns:a="http://schemas.openxmlformats.org/drawingml/2006/main" noGrp="1"/>
          </p:cNvSpPr>
          <p:nvPr/>
        </p:nvSpPr>
        <p:spPr>
          <a:xfrm xmlns:a="http://schemas.openxmlformats.org/drawingml/2006/main">
            <a:off x="571500" y="1762125"/>
            <a:ext cx="7953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Lesroute</a:t>
            </a:r>
          </a:p>
        </p:txBody>
      </p:sp>
      <p:sp>
        <p:nvSpPr>
          <p:cNvPr id="7" name="route-number-1">
            <a:extLst xmlns:a="http://schemas.openxmlformats.org/drawingml/2006/main">
              <a:ext uri="{FF2B5EF4-FFF2-40B4-BE49-F238E27FC236}">
                <a16:creationId xmlns:a16="http://schemas.microsoft.com/office/drawing/2014/main" id="{ED029B29-1A69-4437-A102-5E3F15EECAA4}"/>
              </a:ext>
            </a:extLst>
          </p:cNvPr>
          <p:cNvSpPr>
            <a:spLocks xmlns:a="http://schemas.openxmlformats.org/drawingml/2006/main" noGrp="1"/>
          </p:cNvSpPr>
          <p:nvPr/>
        </p:nvSpPr>
        <p:spPr>
          <a:xfrm xmlns:a="http://schemas.openxmlformats.org/drawingml/2006/main">
            <a:off x="571500" y="2324100"/>
            <a:ext cx="457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a:t>
            </a:r>
          </a:p>
        </p:txBody>
      </p:sp>
      <p:sp>
        <p:nvSpPr>
          <p:cNvPr id="8" name="route-1">
            <a:extLst xmlns:a="http://schemas.openxmlformats.org/drawingml/2006/main">
              <a:ext uri="{FF2B5EF4-FFF2-40B4-BE49-F238E27FC236}">
                <a16:creationId xmlns:a16="http://schemas.microsoft.com/office/drawing/2014/main" id="{13FEDDFD-2D4B-4431-B602-4C992BD3EC11}"/>
              </a:ext>
            </a:extLst>
          </p:cNvPr>
          <p:cNvSpPr>
            <a:spLocks xmlns:a="http://schemas.openxmlformats.org/drawingml/2006/main" noGrp="1"/>
          </p:cNvSpPr>
          <p:nvPr/>
        </p:nvSpPr>
        <p:spPr>
          <a:xfrm xmlns:a="http://schemas.openxmlformats.org/drawingml/2006/main">
            <a:off x="1104900" y="2324100"/>
            <a:ext cx="74199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Jas in de kluis of aan de kapstok. Pak agenda, schrift, pen en rekenmachine.</a:t>
            </a:r>
          </a:p>
        </p:txBody>
      </p:sp>
      <p:sp>
        <p:nvSpPr>
          <p:cNvPr id="9" name="route-number-2">
            <a:extLst xmlns:a="http://schemas.openxmlformats.org/drawingml/2006/main">
              <a:ext uri="{FF2B5EF4-FFF2-40B4-BE49-F238E27FC236}">
                <a16:creationId xmlns:a16="http://schemas.microsoft.com/office/drawing/2014/main" id="{5B53D2B0-3AB5-496A-9EBC-CF49A86B5BE9}"/>
              </a:ext>
            </a:extLst>
          </p:cNvPr>
          <p:cNvSpPr>
            <a:spLocks xmlns:a="http://schemas.openxmlformats.org/drawingml/2006/main" noGrp="1"/>
          </p:cNvSpPr>
          <p:nvPr/>
        </p:nvSpPr>
        <p:spPr>
          <a:xfrm xmlns:a="http://schemas.openxmlformats.org/drawingml/2006/main">
            <a:off x="571500" y="320040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A5276"/>
                </a:solidFill>
                <a:latin typeface="Arial"/>
                <a:ea typeface="Arial"/>
                <a:cs typeface="Arial"/>
              </a:defRPr>
            </a:pPr>
            <a:r>
              <a:rPr sz="2250" b="1">
                <a:solidFill>
                  <a:srgbClr val="1A5276"/>
                </a:solidFill>
                <a:latin typeface="Arial"/>
                <a:ea typeface="Arial"/>
                <a:cs typeface="Arial"/>
              </a:rPr>
              <a:t>2.</a:t>
            </a:r>
          </a:p>
        </p:txBody>
      </p:sp>
      <p:sp>
        <p:nvSpPr>
          <p:cNvPr id="10" name="route-2">
            <a:extLst xmlns:a="http://schemas.openxmlformats.org/drawingml/2006/main">
              <a:ext uri="{FF2B5EF4-FFF2-40B4-BE49-F238E27FC236}">
                <a16:creationId xmlns:a16="http://schemas.microsoft.com/office/drawing/2014/main" id="{44ABF61A-E724-437E-9589-4625F850E6AF}"/>
              </a:ext>
            </a:extLst>
          </p:cNvPr>
          <p:cNvSpPr>
            <a:spLocks xmlns:a="http://schemas.openxmlformats.org/drawingml/2006/main" noGrp="1"/>
          </p:cNvSpPr>
          <p:nvPr/>
        </p:nvSpPr>
        <p:spPr>
          <a:xfrm xmlns:a="http://schemas.openxmlformats.org/drawingml/2006/main">
            <a:off x="1104900" y="320040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A5276"/>
                </a:solidFill>
                <a:latin typeface="Arial"/>
                <a:ea typeface="Arial"/>
                <a:cs typeface="Arial"/>
              </a:defRPr>
            </a:pPr>
            <a:r>
              <a:rPr sz="2250" b="1">
                <a:solidFill>
                  <a:srgbClr val="1A5276"/>
                </a:solidFill>
                <a:latin typeface="Arial"/>
                <a:ea typeface="Arial"/>
                <a:cs typeface="Arial"/>
              </a:rPr>
              <a:t>Maak de startopdracht.</a:t>
            </a:r>
          </a:p>
        </p:txBody>
      </p:sp>
      <p:sp>
        <p:nvSpPr>
          <p:cNvPr id="11" name="route-number-3">
            <a:extLst xmlns:a="http://schemas.openxmlformats.org/drawingml/2006/main">
              <a:ext uri="{FF2B5EF4-FFF2-40B4-BE49-F238E27FC236}">
                <a16:creationId xmlns:a16="http://schemas.microsoft.com/office/drawing/2014/main" id="{931287A5-966F-4999-8065-A98B0A91BAFF}"/>
              </a:ext>
            </a:extLst>
          </p:cNvPr>
          <p:cNvSpPr>
            <a:spLocks xmlns:a="http://schemas.openxmlformats.org/drawingml/2006/main" noGrp="1"/>
          </p:cNvSpPr>
          <p:nvPr/>
        </p:nvSpPr>
        <p:spPr>
          <a:xfrm xmlns:a="http://schemas.openxmlformats.org/drawingml/2006/main">
            <a:off x="571500" y="371475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a:t>
            </a:r>
          </a:p>
        </p:txBody>
      </p:sp>
      <p:sp>
        <p:nvSpPr>
          <p:cNvPr id="12" name="route-3">
            <a:extLst xmlns:a="http://schemas.openxmlformats.org/drawingml/2006/main">
              <a:ext uri="{FF2B5EF4-FFF2-40B4-BE49-F238E27FC236}">
                <a16:creationId xmlns:a16="http://schemas.microsoft.com/office/drawing/2014/main" id="{F67EDA1F-A563-4984-A996-DABC5D757013}"/>
              </a:ext>
            </a:extLst>
          </p:cNvPr>
          <p:cNvSpPr>
            <a:spLocks xmlns:a="http://schemas.openxmlformats.org/drawingml/2006/main" noGrp="1"/>
          </p:cNvSpPr>
          <p:nvPr/>
        </p:nvSpPr>
        <p:spPr>
          <a:xfrm xmlns:a="http://schemas.openxmlformats.org/drawingml/2006/main">
            <a:off x="1104900" y="371475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Uitleg bij de lesdoelen.</a:t>
            </a:r>
          </a:p>
        </p:txBody>
      </p:sp>
      <p:sp>
        <p:nvSpPr>
          <p:cNvPr id="13" name="route-number-4">
            <a:extLst xmlns:a="http://schemas.openxmlformats.org/drawingml/2006/main">
              <a:ext uri="{FF2B5EF4-FFF2-40B4-BE49-F238E27FC236}">
                <a16:creationId xmlns:a16="http://schemas.microsoft.com/office/drawing/2014/main" id="{87EC88EB-C996-4FD8-BCCE-B9127743E4A1}"/>
              </a:ext>
            </a:extLst>
          </p:cNvPr>
          <p:cNvSpPr>
            <a:spLocks xmlns:a="http://schemas.openxmlformats.org/drawingml/2006/main" noGrp="1"/>
          </p:cNvSpPr>
          <p:nvPr/>
        </p:nvSpPr>
        <p:spPr>
          <a:xfrm xmlns:a="http://schemas.openxmlformats.org/drawingml/2006/main">
            <a:off x="571500" y="4248150"/>
            <a:ext cx="45720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4.</a:t>
            </a:r>
          </a:p>
        </p:txBody>
      </p:sp>
      <p:sp>
        <p:nvSpPr>
          <p:cNvPr id="14" name="route-4">
            <a:extLst xmlns:a="http://schemas.openxmlformats.org/drawingml/2006/main">
              <a:ext uri="{FF2B5EF4-FFF2-40B4-BE49-F238E27FC236}">
                <a16:creationId xmlns:a16="http://schemas.microsoft.com/office/drawing/2014/main" id="{7F982D21-8D7C-44A1-B650-9CFCD2CA47AD}"/>
              </a:ext>
            </a:extLst>
          </p:cNvPr>
          <p:cNvSpPr>
            <a:spLocks xmlns:a="http://schemas.openxmlformats.org/drawingml/2006/main" noGrp="1"/>
          </p:cNvSpPr>
          <p:nvPr/>
        </p:nvSpPr>
        <p:spPr>
          <a:xfrm xmlns:a="http://schemas.openxmlformats.org/drawingml/2006/main">
            <a:off x="1104900" y="4248150"/>
            <a:ext cx="7419975"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Begin bij de basisopgaven en stel vragen. Lukt dat goed, ga dan naar de zelfstandige oefening. Maak daarna de doelopgave en kijk vervolgens je antwoorden na.</a:t>
            </a:r>
          </a:p>
        </p:txBody>
      </p:sp>
      <p:sp>
        <p:nvSpPr>
          <p:cNvPr id="15" name="route-number-5">
            <a:extLst xmlns:a="http://schemas.openxmlformats.org/drawingml/2006/main">
              <a:ext uri="{FF2B5EF4-FFF2-40B4-BE49-F238E27FC236}">
                <a16:creationId xmlns:a16="http://schemas.microsoft.com/office/drawing/2014/main" id="{2EC2D86C-DBD8-46F2-A15B-C017E0A4D892}"/>
              </a:ext>
            </a:extLst>
          </p:cNvPr>
          <p:cNvSpPr>
            <a:spLocks xmlns:a="http://schemas.openxmlformats.org/drawingml/2006/main" noGrp="1"/>
          </p:cNvSpPr>
          <p:nvPr/>
        </p:nvSpPr>
        <p:spPr>
          <a:xfrm xmlns:a="http://schemas.openxmlformats.org/drawingml/2006/main">
            <a:off x="571500" y="6057900"/>
            <a:ext cx="4572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5.</a:t>
            </a:r>
          </a:p>
        </p:txBody>
      </p:sp>
      <p:sp>
        <p:nvSpPr>
          <p:cNvPr id="16" name="route-5">
            <a:extLst xmlns:a="http://schemas.openxmlformats.org/drawingml/2006/main">
              <a:ext uri="{FF2B5EF4-FFF2-40B4-BE49-F238E27FC236}">
                <a16:creationId xmlns:a16="http://schemas.microsoft.com/office/drawing/2014/main" id="{8AB0BA21-5B99-4B26-9DC0-C0B24DFCFB3A}"/>
              </a:ext>
            </a:extLst>
          </p:cNvPr>
          <p:cNvSpPr>
            <a:spLocks xmlns:a="http://schemas.openxmlformats.org/drawingml/2006/main" noGrp="1"/>
          </p:cNvSpPr>
          <p:nvPr/>
        </p:nvSpPr>
        <p:spPr>
          <a:xfrm xmlns:a="http://schemas.openxmlformats.org/drawingml/2006/main">
            <a:off x="1104900" y="6057900"/>
            <a:ext cx="74199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Klaar? Werk aan een ander vak. Geen devices.</a:t>
            </a:r>
          </a:p>
        </p:txBody>
      </p:sp>
      <p:sp>
        <p:nvSpPr>
          <p:cNvPr id="17" name="route-number-6">
            <a:extLst xmlns:a="http://schemas.openxmlformats.org/drawingml/2006/main">
              <a:ext uri="{FF2B5EF4-FFF2-40B4-BE49-F238E27FC236}">
                <a16:creationId xmlns:a16="http://schemas.microsoft.com/office/drawing/2014/main" id="{55BC280E-845D-4B65-A17F-53BED3B60C27}"/>
              </a:ext>
            </a:extLst>
          </p:cNvPr>
          <p:cNvSpPr>
            <a:spLocks xmlns:a="http://schemas.openxmlformats.org/drawingml/2006/main" noGrp="1"/>
          </p:cNvSpPr>
          <p:nvPr/>
        </p:nvSpPr>
        <p:spPr>
          <a:xfrm xmlns:a="http://schemas.openxmlformats.org/drawingml/2006/main">
            <a:off x="571500" y="68199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6.</a:t>
            </a:r>
          </a:p>
        </p:txBody>
      </p:sp>
      <p:sp>
        <p:nvSpPr>
          <p:cNvPr id="18" name="route-6">
            <a:extLst xmlns:a="http://schemas.openxmlformats.org/drawingml/2006/main">
              <a:ext uri="{FF2B5EF4-FFF2-40B4-BE49-F238E27FC236}">
                <a16:creationId xmlns:a16="http://schemas.microsoft.com/office/drawing/2014/main" id="{CAF8EA2D-ABC3-4ED1-B966-E455D29D1CE3}"/>
              </a:ext>
            </a:extLst>
          </p:cNvPr>
          <p:cNvSpPr>
            <a:spLocks xmlns:a="http://schemas.openxmlformats.org/drawingml/2006/main" noGrp="1"/>
          </p:cNvSpPr>
          <p:nvPr/>
        </p:nvSpPr>
        <p:spPr>
          <a:xfrm xmlns:a="http://schemas.openxmlformats.org/drawingml/2006/main">
            <a:off x="1104900" y="6819900"/>
            <a:ext cx="74199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Bespreken van de doelopgave: opgave 7.</a:t>
            </a:r>
          </a:p>
        </p:txBody>
      </p:sp>
      <p:sp>
        <p:nvSpPr>
          <p:cNvPr id="19" name="route-number-7">
            <a:extLst xmlns:a="http://schemas.openxmlformats.org/drawingml/2006/main">
              <a:ext uri="{FF2B5EF4-FFF2-40B4-BE49-F238E27FC236}">
                <a16:creationId xmlns:a16="http://schemas.microsoft.com/office/drawing/2014/main" id="{D647B7E8-5338-4988-8D99-FD58F99595FC}"/>
              </a:ext>
            </a:extLst>
          </p:cNvPr>
          <p:cNvSpPr>
            <a:spLocks xmlns:a="http://schemas.openxmlformats.org/drawingml/2006/main" noGrp="1"/>
          </p:cNvSpPr>
          <p:nvPr/>
        </p:nvSpPr>
        <p:spPr>
          <a:xfrm xmlns:a="http://schemas.openxmlformats.org/drawingml/2006/main">
            <a:off x="571500" y="7372350"/>
            <a:ext cx="457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7.</a:t>
            </a:r>
          </a:p>
        </p:txBody>
      </p:sp>
      <p:sp>
        <p:nvSpPr>
          <p:cNvPr id="20" name="route-7">
            <a:extLst xmlns:a="http://schemas.openxmlformats.org/drawingml/2006/main">
              <a:ext uri="{FF2B5EF4-FFF2-40B4-BE49-F238E27FC236}">
                <a16:creationId xmlns:a16="http://schemas.microsoft.com/office/drawing/2014/main" id="{3401C0EB-1BCB-4C48-85C5-EB6C7EEBA89F}"/>
              </a:ext>
            </a:extLst>
          </p:cNvPr>
          <p:cNvSpPr>
            <a:spLocks xmlns:a="http://schemas.openxmlformats.org/drawingml/2006/main" noGrp="1"/>
          </p:cNvSpPr>
          <p:nvPr/>
        </p:nvSpPr>
        <p:spPr>
          <a:xfrm xmlns:a="http://schemas.openxmlformats.org/drawingml/2006/main">
            <a:off x="1104900" y="7372350"/>
            <a:ext cx="74199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Zet je huiswerk in je agenda.</a:t>
            </a:r>
          </a:p>
        </p:txBody>
      </p:sp>
      <p:sp>
        <p:nvSpPr>
          <p:cNvPr id="21" name="Lesdoelen">
            <a:extLst xmlns:a="http://schemas.openxmlformats.org/drawingml/2006/main">
              <a:ext uri="{FF2B5EF4-FFF2-40B4-BE49-F238E27FC236}">
                <a16:creationId xmlns:a16="http://schemas.microsoft.com/office/drawing/2014/main" id="{88D29F66-CDE2-4EFB-9D65-4031AAF59306}"/>
              </a:ext>
            </a:extLst>
          </p:cNvPr>
          <p:cNvSpPr>
            <a:spLocks xmlns:a="http://schemas.openxmlformats.org/drawingml/2006/main" noGrp="1"/>
          </p:cNvSpPr>
          <p:nvPr/>
        </p:nvSpPr>
        <p:spPr>
          <a:xfrm xmlns:a="http://schemas.openxmlformats.org/drawingml/2006/main">
            <a:off x="9258300" y="176212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Lesdoelen</a:t>
            </a:r>
          </a:p>
        </p:txBody>
      </p:sp>
      <p:sp>
        <p:nvSpPr>
          <p:cNvPr id="22" name="overview-goals">
            <a:extLst xmlns:a="http://schemas.openxmlformats.org/drawingml/2006/main">
              <a:ext uri="{FF2B5EF4-FFF2-40B4-BE49-F238E27FC236}">
                <a16:creationId xmlns:a16="http://schemas.microsoft.com/office/drawing/2014/main" id="{EFF0ECFC-CC96-42F7-A0A2-44C5AD42C182}"/>
              </a:ext>
            </a:extLst>
          </p:cNvPr>
          <p:cNvSpPr>
            <a:spLocks xmlns:a="http://schemas.openxmlformats.org/drawingml/2006/main" noGrp="1"/>
          </p:cNvSpPr>
          <p:nvPr/>
        </p:nvSpPr>
        <p:spPr>
          <a:xfrm xmlns:a="http://schemas.openxmlformats.org/drawingml/2006/main">
            <a:off x="9258300" y="2324100"/>
            <a:ext cx="538162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Evenwicht en beide prijzen berekenen;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de wig tekenen; afdragen 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de last dragen onderscheiden.</a:t>
            </a:r>
          </a:p>
        </p:txBody>
      </p:sp>
      <p:sp>
        <p:nvSpPr>
          <p:cNvPr id="23" name="">
            <a:extLst xmlns:a="http://schemas.openxmlformats.org/drawingml/2006/main">
              <a:ext uri="{FF2B5EF4-FFF2-40B4-BE49-F238E27FC236}">
                <a16:creationId xmlns:a16="http://schemas.microsoft.com/office/drawing/2014/main" id="{A6CF7381-DB19-4037-868A-53BDEEFE757A}"/>
              </a:ext>
            </a:extLst>
          </p:cNvPr>
          <p:cNvSpPr>
            <a:spLocks xmlns:a="http://schemas.openxmlformats.org/drawingml/2006/main" noGrp="1"/>
          </p:cNvSpPr>
          <p:nvPr/>
        </p:nvSpPr>
        <p:spPr>
          <a:xfrm xmlns:a="http://schemas.openxmlformats.org/drawingml/2006/main">
            <a:off x="9258300" y="3562350"/>
            <a:ext cx="5410200" cy="0"/>
          </a:xfrm>
          <a:prstGeom xmlns:a="http://schemas.openxmlformats.org/drawingml/2006/main" prst="line">
            <a:avLst/>
          </a:prstGeom>
          <a:ln xmlns:a="http://schemas.openxmlformats.org/drawingml/2006/main" w="19050">
            <a:solidFill>
              <a:srgbClr val="C6D2DB"/>
            </a:solidFill>
          </a:ln>
        </p:spPr>
      </p:sp>
      <p:sp>
        <p:nvSpPr>
          <p:cNvPr id="24" name="Startopdracht">
            <a:extLst xmlns:a="http://schemas.openxmlformats.org/drawingml/2006/main">
              <a:ext uri="{FF2B5EF4-FFF2-40B4-BE49-F238E27FC236}">
                <a16:creationId xmlns:a16="http://schemas.microsoft.com/office/drawing/2014/main" id="{827C68A3-F053-445F-AA9C-8AE817BEA120}"/>
              </a:ext>
            </a:extLst>
          </p:cNvPr>
          <p:cNvSpPr>
            <a:spLocks xmlns:a="http://schemas.openxmlformats.org/drawingml/2006/main" noGrp="1"/>
          </p:cNvSpPr>
          <p:nvPr/>
        </p:nvSpPr>
        <p:spPr>
          <a:xfrm xmlns:a="http://schemas.openxmlformats.org/drawingml/2006/main">
            <a:off x="9258300" y="383857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A5276"/>
                </a:solidFill>
                <a:latin typeface="Arial"/>
                <a:ea typeface="Arial"/>
                <a:cs typeface="Arial"/>
              </a:defRPr>
            </a:pPr>
            <a:r>
              <a:rPr sz="2625" b="1">
                <a:solidFill>
                  <a:srgbClr val="1A5276"/>
                </a:solidFill>
                <a:latin typeface="Arial"/>
                <a:ea typeface="Arial"/>
                <a:cs typeface="Arial"/>
              </a:rPr>
              <a:t>Startopdracht</a:t>
            </a:r>
          </a:p>
        </p:txBody>
      </p:sp>
      <p:sp>
        <p:nvSpPr>
          <p:cNvPr id="25" name="overview-start">
            <a:extLst xmlns:a="http://schemas.openxmlformats.org/drawingml/2006/main">
              <a:ext uri="{FF2B5EF4-FFF2-40B4-BE49-F238E27FC236}">
                <a16:creationId xmlns:a16="http://schemas.microsoft.com/office/drawing/2014/main" id="{F4FF115E-FD65-4BE4-8715-B37C8A56FD56}"/>
              </a:ext>
            </a:extLst>
          </p:cNvPr>
          <p:cNvSpPr>
            <a:spLocks xmlns:a="http://schemas.openxmlformats.org/drawingml/2006/main" noGrp="1"/>
          </p:cNvSpPr>
          <p:nvPr/>
        </p:nvSpPr>
        <p:spPr>
          <a:xfrm xmlns:a="http://schemas.openxmlformats.org/drawingml/2006/main">
            <a:off x="9258300" y="4371975"/>
            <a:ext cx="5381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Pagina 9 · Opgaven 1 en 2</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2: verkennen, theorie p. 6–9</a:t>
            </a:r>
          </a:p>
        </p:txBody>
      </p:sp>
      <p:sp>
        <p:nvSpPr>
          <p:cNvPr id="26" name="">
            <a:extLst xmlns:a="http://schemas.openxmlformats.org/drawingml/2006/main">
              <a:ext uri="{FF2B5EF4-FFF2-40B4-BE49-F238E27FC236}">
                <a16:creationId xmlns:a16="http://schemas.microsoft.com/office/drawing/2014/main" id="{4D276F48-CAC4-4D18-89C2-749020B41C5E}"/>
              </a:ext>
            </a:extLst>
          </p:cNvPr>
          <p:cNvSpPr>
            <a:spLocks xmlns:a="http://schemas.openxmlformats.org/drawingml/2006/main" noGrp="1"/>
          </p:cNvSpPr>
          <p:nvPr/>
        </p:nvSpPr>
        <p:spPr>
          <a:xfrm xmlns:a="http://schemas.openxmlformats.org/drawingml/2006/main">
            <a:off x="9258300" y="5429250"/>
            <a:ext cx="5410200" cy="0"/>
          </a:xfrm>
          <a:prstGeom xmlns:a="http://schemas.openxmlformats.org/drawingml/2006/main" prst="line">
            <a:avLst/>
          </a:prstGeom>
          <a:ln xmlns:a="http://schemas.openxmlformats.org/drawingml/2006/main" w="19050">
            <a:solidFill>
              <a:srgbClr val="C6D2DB"/>
            </a:solidFill>
          </a:ln>
        </p:spPr>
      </p:sp>
      <p:sp>
        <p:nvSpPr>
          <p:cNvPr id="27" name="Huiswerk">
            <a:extLst xmlns:a="http://schemas.openxmlformats.org/drawingml/2006/main">
              <a:ext uri="{FF2B5EF4-FFF2-40B4-BE49-F238E27FC236}">
                <a16:creationId xmlns:a16="http://schemas.microsoft.com/office/drawing/2014/main" id="{48B2C132-55CD-46F0-B998-3DA0E40EB8F3}"/>
              </a:ext>
            </a:extLst>
          </p:cNvPr>
          <p:cNvSpPr>
            <a:spLocks xmlns:a="http://schemas.openxmlformats.org/drawingml/2006/main" noGrp="1"/>
          </p:cNvSpPr>
          <p:nvPr/>
        </p:nvSpPr>
        <p:spPr>
          <a:xfrm xmlns:a="http://schemas.openxmlformats.org/drawingml/2006/main">
            <a:off x="9258300" y="5695950"/>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Huiswerk</a:t>
            </a:r>
          </a:p>
        </p:txBody>
      </p:sp>
      <p:sp>
        <p:nvSpPr>
          <p:cNvPr id="28" name="overview-homework">
            <a:extLst xmlns:a="http://schemas.openxmlformats.org/drawingml/2006/main">
              <a:ext uri="{FF2B5EF4-FFF2-40B4-BE49-F238E27FC236}">
                <a16:creationId xmlns:a16="http://schemas.microsoft.com/office/drawing/2014/main" id="{70BF9F77-8817-4CD9-9425-19147D91391C}"/>
              </a:ext>
            </a:extLst>
          </p:cNvPr>
          <p:cNvSpPr>
            <a:spLocks xmlns:a="http://schemas.openxmlformats.org/drawingml/2006/main" noGrp="1"/>
          </p:cNvSpPr>
          <p:nvPr/>
        </p:nvSpPr>
        <p:spPr>
          <a:xfrm xmlns:a="http://schemas.openxmlformats.org/drawingml/2006/main">
            <a:off x="9258300" y="6229350"/>
            <a:ext cx="5381625"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§3.1.1 Belastingen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Basis: 3 en 4</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Zelfstandig: 5 en 6</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Doelopgave: 7</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Maken en nakijken</a:t>
            </a:r>
          </a:p>
        </p:txBody>
      </p:sp>
    </p:spTree>
    <p:extLst>
      <p:ext uri="{BB962C8B-B14F-4D97-AF65-F5344CB8AC3E}">
        <p14:creationId xmlns:p14="http://schemas.microsoft.com/office/powerpoint/2010/main" val="17328399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Eén product, twee prijzen">
            <a:extLst xmlns:a="http://schemas.openxmlformats.org/drawingml/2006/main">
              <a:ext uri="{FF2B5EF4-FFF2-40B4-BE49-F238E27FC236}">
                <a16:creationId xmlns:a16="http://schemas.microsoft.com/office/drawing/2014/main" id="{05FEB455-5BCD-4B02-96A8-585791C67534}"/>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Eén product, twee prijzen</a:t>
            </a:r>
          </a:p>
        </p:txBody>
      </p:sp>
      <p:sp>
        <p:nvSpPr>
          <p:cNvPr id="2" name="">
            <a:extLst xmlns:a="http://schemas.openxmlformats.org/drawingml/2006/main">
              <a:ext uri="{FF2B5EF4-FFF2-40B4-BE49-F238E27FC236}">
                <a16:creationId xmlns:a16="http://schemas.microsoft.com/office/drawing/2014/main" id="{E39FED22-7D3C-43E4-9D42-AE3206AC8AB2}"/>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F0AF80CF-7240-457A-B74E-07DF7F83DC35}"/>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§3.1.1 Belastingen: wig en nieuw evenwicht</a:t>
            </a:r>
          </a:p>
        </p:txBody>
      </p:sp>
      <p:sp>
        <p:nvSpPr>
          <p:cNvPr id="4" name="slide-number">
            <a:extLst xmlns:a="http://schemas.openxmlformats.org/drawingml/2006/main">
              <a:ext uri="{FF2B5EF4-FFF2-40B4-BE49-F238E27FC236}">
                <a16:creationId xmlns:a16="http://schemas.microsoft.com/office/drawing/2014/main" id="{CDE647F8-BD35-40A9-9D6B-FFE80CE63503}"/>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a:t>
            </a:r>
          </a:p>
        </p:txBody>
      </p:sp>
      <p:graphicFrame>
        <p:nvGraphicFramePr>
          <p:cNvPr id="12" name=""/>
          <p:cNvGraphicFramePr/>
          <p:nvPr/>
        </p:nvGraphicFramePr>
        <p:xfrm>
          <a:off xmlns:a="http://schemas.openxmlformats.org/drawingml/2006/main" x="571500" y="2057400"/>
          <a:ext xmlns:a="http://schemas.openxmlformats.org/drawingml/2006/main" cx="14097000" cy="3352800"/>
        </p:xfrm>
        <a:graphic xmlns:a="http://schemas.openxmlformats.org/drawingml/2006/main">
          <a:graphicData uri="http://schemas.openxmlformats.org/drawingml/2006/table">
            <a:tbl>
              <a:tblPr/>
              <a:tblGrid>
                <a:gridCol w="2762250"/>
                <a:gridCol w="11334750"/>
              </a:tblGrid>
              <a:tr h="838200">
                <a:tc>
                  <a:txBody>
                    <a:bodyPr lIns="171450" tIns="95250" rIns="152400" bIns="95250"/>
                    <a:lstStyle/>
                    <a:p>
                      <a:r>
                        <a:rPr sz="2925" b="1">
                          <a:solidFill>
                            <a:srgbClr val="FFFFFF"/>
                          </a:solidFill>
                          <a:latin typeface="Arial"/>
                          <a:ea typeface="Arial"/>
                          <a:cs typeface="Arial"/>
                        </a:rPr>
                        <a:t>Grootheid</a:t>
                      </a:r>
                    </a:p>
                  </a:txBody>
                  <a:tcPr marL="91440" marR="91440" marT="45720" marB="45720" anchor="ctr">
                    <a:solidFill>
                      <a:srgbClr val="183247"/>
                    </a:solidFill>
                  </a:tcPr>
                </a:tc>
                <a:tc>
                  <a:txBody>
                    <a:bodyPr lIns="171450" tIns="95250" rIns="152400" bIns="95250"/>
                    <a:lstStyle/>
                    <a:p>
                      <a:r>
                        <a:rPr sz="2925" b="1">
                          <a:solidFill>
                            <a:srgbClr val="FFFFFF"/>
                          </a:solidFill>
                          <a:latin typeface="Arial"/>
                          <a:ea typeface="Arial"/>
                          <a:cs typeface="Arial"/>
                        </a:rPr>
                        <a:t>Betekenis</a:t>
                      </a:r>
                    </a:p>
                  </a:txBody>
                  <a:tcPr marL="91440" marR="91440" marT="45720" marB="45720" anchor="ctr">
                    <a:solidFill>
                      <a:srgbClr val="183247"/>
                    </a:solidFill>
                  </a:tcPr>
                </a:tc>
              </a:tr>
              <a:tr h="838200">
                <a:tc>
                  <a:txBody>
                    <a:bodyPr lIns="171450" tIns="95250" rIns="152400" bIns="95250"/>
                    <a:lstStyle/>
                    <a:p>
                      <a:r>
                        <a:rPr sz="2925" b="0">
                          <a:solidFill>
                            <a:srgbClr val="183247"/>
                          </a:solidFill>
                          <a:latin typeface="Arial"/>
                          <a:ea typeface="Arial"/>
                          <a:cs typeface="Arial"/>
                        </a:rPr>
                        <a:t>Pc</a:t>
                      </a:r>
                    </a:p>
                  </a:txBody>
                  <a:tcPr marL="91440" marR="91440" marT="45720" marB="45720" anchor="ctr">
                    <a:solidFill>
                      <a:srgbClr val="FFFFFF"/>
                    </a:solidFill>
                  </a:tcPr>
                </a:tc>
                <a:tc>
                  <a:txBody>
                    <a:bodyPr lIns="171450" tIns="95250" rIns="152400" bIns="95250"/>
                    <a:lstStyle/>
                    <a:p>
                      <a:r>
                        <a:rPr sz="2925" b="0">
                          <a:solidFill>
                            <a:srgbClr val="183247"/>
                          </a:solidFill>
                          <a:latin typeface="Arial"/>
                          <a:ea typeface="Arial"/>
                          <a:cs typeface="Arial"/>
                        </a:rPr>
                        <a:t>De koper betaalt dit per product.</a:t>
                      </a:r>
                    </a:p>
                  </a:txBody>
                  <a:tcPr marL="91440" marR="91440" marT="45720" marB="45720" anchor="ctr">
                    <a:solidFill>
                      <a:srgbClr val="FFFFFF"/>
                    </a:solidFill>
                  </a:tcPr>
                </a:tc>
              </a:tr>
              <a:tr h="838200">
                <a:tc>
                  <a:txBody>
                    <a:bodyPr lIns="171450" tIns="95250" rIns="152400" bIns="95250"/>
                    <a:lstStyle/>
                    <a:p>
                      <a:r>
                        <a:rPr sz="2925" b="0">
                          <a:solidFill>
                            <a:srgbClr val="183247"/>
                          </a:solidFill>
                          <a:latin typeface="Arial"/>
                          <a:ea typeface="Arial"/>
                          <a:cs typeface="Arial"/>
                        </a:rPr>
                        <a:t>Pp</a:t>
                      </a:r>
                    </a:p>
                  </a:txBody>
                  <a:tcPr marL="91440" marR="91440" marT="45720" marB="45720" anchor="ctr">
                    <a:solidFill>
                      <a:srgbClr val="EFF4F7"/>
                    </a:solidFill>
                  </a:tcPr>
                </a:tc>
                <a:tc>
                  <a:txBody>
                    <a:bodyPr lIns="171450" tIns="95250" rIns="152400" bIns="95250"/>
                    <a:lstStyle/>
                    <a:p>
                      <a:r>
                        <a:rPr sz="2925" b="0">
                          <a:solidFill>
                            <a:srgbClr val="183247"/>
                          </a:solidFill>
                          <a:latin typeface="Arial"/>
                          <a:ea typeface="Arial"/>
                          <a:cs typeface="Arial"/>
                        </a:rPr>
                        <a:t>De verkoper ontvangt dit na afdracht.</a:t>
                      </a:r>
                    </a:p>
                  </a:txBody>
                  <a:tcPr marL="91440" marR="91440" marT="45720" marB="45720" anchor="ctr">
                    <a:solidFill>
                      <a:srgbClr val="EFF4F7"/>
                    </a:solidFill>
                  </a:tcPr>
                </a:tc>
              </a:tr>
              <a:tr h="838200">
                <a:tc>
                  <a:txBody>
                    <a:bodyPr lIns="171450" tIns="95250" rIns="152400" bIns="95250"/>
                    <a:lstStyle/>
                    <a:p>
                      <a:r>
                        <a:rPr sz="2925" b="0">
                          <a:solidFill>
                            <a:srgbClr val="183247"/>
                          </a:solidFill>
                          <a:latin typeface="Arial"/>
                          <a:ea typeface="Arial"/>
                          <a:cs typeface="Arial"/>
                        </a:rPr>
                        <a:t>t</a:t>
                      </a:r>
                    </a:p>
                  </a:txBody>
                  <a:tcPr marL="91440" marR="91440" marT="45720" marB="45720" anchor="ctr">
                    <a:solidFill>
                      <a:srgbClr val="FFFFFF"/>
                    </a:solidFill>
                  </a:tcPr>
                </a:tc>
                <a:tc>
                  <a:txBody>
                    <a:bodyPr lIns="171450" tIns="95250" rIns="152400" bIns="95250"/>
                    <a:lstStyle/>
                    <a:p>
                      <a:r>
                        <a:rPr sz="2925" b="0">
                          <a:solidFill>
                            <a:srgbClr val="183247"/>
                          </a:solidFill>
                          <a:latin typeface="Arial"/>
                          <a:ea typeface="Arial"/>
                          <a:cs typeface="Arial"/>
                        </a:rPr>
                        <a:t>De overheid krijgt dit per product.</a:t>
                      </a:r>
                    </a:p>
                  </a:txBody>
                  <a:tcPr marL="91440" marR="91440" marT="45720" marB="45720" anchor="ctr">
                    <a:solidFill>
                      <a:srgbClr val="FFFFFF"/>
                    </a:solidFill>
                  </a:tcPr>
                </a:tc>
              </a:tr>
            </a:tbl>
          </a:graphicData>
        </a:graphic>
      </p:graphicFrame>
      <p:sp>
        <p:nvSpPr>
          <p:cNvPr id="6" name="Pc − Pp = t">
            <a:extLst xmlns:a="http://schemas.openxmlformats.org/drawingml/2006/main">
              <a:ext uri="{FF2B5EF4-FFF2-40B4-BE49-F238E27FC236}">
                <a16:creationId xmlns:a16="http://schemas.microsoft.com/office/drawing/2014/main" id="{A02BC0C7-6678-4120-A9A3-19FCCD2B3F89}"/>
              </a:ext>
            </a:extLst>
          </p:cNvPr>
          <p:cNvSpPr>
            <a:spLocks xmlns:a="http://schemas.openxmlformats.org/drawingml/2006/main" noGrp="1"/>
          </p:cNvSpPr>
          <p:nvPr/>
        </p:nvSpPr>
        <p:spPr>
          <a:xfrm xmlns:a="http://schemas.openxmlformats.org/drawingml/2006/main">
            <a:off x="571500" y="6000750"/>
            <a:ext cx="9525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800" b="1">
                <a:solidFill>
                  <a:srgbClr val="1A5276"/>
                </a:solidFill>
                <a:latin typeface="Arial"/>
                <a:ea typeface="Arial"/>
                <a:cs typeface="Arial"/>
              </a:defRPr>
            </a:pPr>
            <a:r>
              <a:rPr sz="4800" b="1">
                <a:solidFill>
                  <a:srgbClr val="1A5276"/>
                </a:solidFill>
                <a:latin typeface="Arial"/>
                <a:ea typeface="Arial"/>
                <a:cs typeface="Arial"/>
              </a:rPr>
              <a:t>Pc − Pp = t</a:t>
            </a:r>
          </a:p>
        </p:txBody>
      </p:sp>
      <p:sp>
        <p:nvSpPr>
          <p:cNvPr id="7" name="Pp is vóór aftrek van productiekosten.">
            <a:extLst xmlns:a="http://schemas.openxmlformats.org/drawingml/2006/main">
              <a:ext uri="{FF2B5EF4-FFF2-40B4-BE49-F238E27FC236}">
                <a16:creationId xmlns:a16="http://schemas.microsoft.com/office/drawing/2014/main" id="{E96E2DAF-E247-42BB-B857-729293549EA0}"/>
              </a:ext>
            </a:extLst>
          </p:cNvPr>
          <p:cNvSpPr>
            <a:spLocks xmlns:a="http://schemas.openxmlformats.org/drawingml/2006/main" noGrp="1"/>
          </p:cNvSpPr>
          <p:nvPr/>
        </p:nvSpPr>
        <p:spPr>
          <a:xfrm xmlns:a="http://schemas.openxmlformats.org/drawingml/2006/main">
            <a:off x="571500" y="7172325"/>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A94D16"/>
                </a:solidFill>
                <a:latin typeface="Arial"/>
                <a:ea typeface="Arial"/>
                <a:cs typeface="Arial"/>
              </a:defRPr>
            </a:pPr>
            <a:r>
              <a:rPr sz="2775" b="1">
                <a:solidFill>
                  <a:srgbClr val="A94D16"/>
                </a:solidFill>
                <a:latin typeface="Arial"/>
                <a:ea typeface="Arial"/>
                <a:cs typeface="Arial"/>
              </a:rPr>
              <a:t>Pp is vóór aftrek van productiekosten.</a:t>
            </a:r>
          </a:p>
        </p:txBody>
      </p:sp>
    </p:spTree>
    <p:extLst>
      <p:ext uri="{BB962C8B-B14F-4D97-AF65-F5344CB8AC3E}">
        <p14:creationId xmlns:p14="http://schemas.microsoft.com/office/powerpoint/2010/main" val="21153121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Uitlegvoorbeeld · Houten puzzels">
            <a:extLst xmlns:a="http://schemas.openxmlformats.org/drawingml/2006/main">
              <a:ext uri="{FF2B5EF4-FFF2-40B4-BE49-F238E27FC236}">
                <a16:creationId xmlns:a16="http://schemas.microsoft.com/office/drawing/2014/main" id="{8D6CD49F-280B-4424-AC08-B6430E17A834}"/>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Uitlegvoorbeeld · Houten puzzels</a:t>
            </a:r>
          </a:p>
        </p:txBody>
      </p:sp>
      <p:sp>
        <p:nvSpPr>
          <p:cNvPr id="2" name="">
            <a:extLst xmlns:a="http://schemas.openxmlformats.org/drawingml/2006/main">
              <a:ext uri="{FF2B5EF4-FFF2-40B4-BE49-F238E27FC236}">
                <a16:creationId xmlns:a16="http://schemas.microsoft.com/office/drawing/2014/main" id="{854EB595-40D8-46D1-835A-5C01CFE55C0C}"/>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3D4C28B6-E8F8-4AE2-BB44-A4162BC700D8}"/>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Uitlegvoorbeeld — niet uit het boek</a:t>
            </a:r>
          </a:p>
        </p:txBody>
      </p:sp>
      <p:sp>
        <p:nvSpPr>
          <p:cNvPr id="4" name="slide-number">
            <a:extLst xmlns:a="http://schemas.openxmlformats.org/drawingml/2006/main">
              <a:ext uri="{FF2B5EF4-FFF2-40B4-BE49-F238E27FC236}">
                <a16:creationId xmlns:a16="http://schemas.microsoft.com/office/drawing/2014/main" id="{6249048F-F5A1-413A-ACCB-B0647CF1DF12}"/>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3</a:t>
            </a:r>
          </a:p>
        </p:txBody>
      </p:sp>
      <p:sp>
        <p:nvSpPr>
          <p:cNvPr id="5" name="Veel aanbieders verkopen dezelfde soort houten puz">
            <a:extLst xmlns:a="http://schemas.openxmlformats.org/drawingml/2006/main">
              <a:ext uri="{FF2B5EF4-FFF2-40B4-BE49-F238E27FC236}">
                <a16:creationId xmlns:a16="http://schemas.microsoft.com/office/drawing/2014/main" id="{3F4FDDC2-267B-46E4-876A-2AFB8940373C}"/>
              </a:ext>
            </a:extLst>
          </p:cNvPr>
          <p:cNvSpPr>
            <a:spLocks xmlns:a="http://schemas.openxmlformats.org/drawingml/2006/main" noGrp="1"/>
          </p:cNvSpPr>
          <p:nvPr/>
        </p:nvSpPr>
        <p:spPr>
          <a:xfrm xmlns:a="http://schemas.openxmlformats.org/drawingml/2006/main">
            <a:off x="571500" y="1857375"/>
            <a:ext cx="14097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0">
                <a:solidFill>
                  <a:srgbClr val="183247"/>
                </a:solidFill>
                <a:latin typeface="Arial"/>
                <a:ea typeface="Arial"/>
                <a:cs typeface="Arial"/>
              </a:defRPr>
            </a:pPr>
            <a:r>
              <a:rPr sz="2925" b="0">
                <a:solidFill>
                  <a:srgbClr val="183247"/>
                </a:solidFill>
                <a:latin typeface="Arial"/>
                <a:ea typeface="Arial"/>
                <a:cs typeface="Arial"/>
              </a:rPr>
              <a:t>Veel aanbieders verkopen dezelfde soort houten puzzel.</a:t>
            </a:r>
          </a:p>
        </p:txBody>
      </p:sp>
      <p:graphicFrame>
        <p:nvGraphicFramePr>
          <p:cNvPr id="14" name=""/>
          <p:cNvGraphicFramePr/>
          <p:nvPr/>
        </p:nvGraphicFramePr>
        <p:xfrm>
          <a:off xmlns:a="http://schemas.openxmlformats.org/drawingml/2006/main" x="571500" y="2914650"/>
          <a:ext xmlns:a="http://schemas.openxmlformats.org/drawingml/2006/main" cx="14097000" cy="3190875"/>
        </p:xfrm>
        <a:graphic xmlns:a="http://schemas.openxmlformats.org/drawingml/2006/main">
          <a:graphicData uri="http://schemas.openxmlformats.org/drawingml/2006/table">
            <a:tbl>
              <a:tblPr/>
              <a:tblGrid>
                <a:gridCol w="7620000"/>
                <a:gridCol w="6477000"/>
              </a:tblGrid>
              <a:tr h="797719">
                <a:tc>
                  <a:txBody>
                    <a:bodyPr lIns="171450" tIns="95250" rIns="152400" bIns="95250"/>
                    <a:lstStyle/>
                    <a:p>
                      <a:r>
                        <a:rPr sz="2700" b="1">
                          <a:solidFill>
                            <a:srgbClr val="FFFFFF"/>
                          </a:solidFill>
                          <a:latin typeface="Arial"/>
                          <a:ea typeface="Arial"/>
                          <a:cs typeface="Arial"/>
                        </a:rPr>
                        <a:t>Markt</a:t>
                      </a:r>
                    </a:p>
                  </a:txBody>
                  <a:tcPr marL="91440" marR="91440" marT="45720" marB="45720" anchor="ctr">
                    <a:solidFill>
                      <a:srgbClr val="183247"/>
                    </a:solidFill>
                  </a:tcPr>
                </a:tc>
                <a:tc>
                  <a:txBody>
                    <a:bodyPr lIns="171450" tIns="95250" rIns="152400" bIns="95250"/>
                    <a:lstStyle/>
                    <a:p>
                      <a:r>
                        <a:rPr sz="2700" b="1">
                          <a:solidFill>
                            <a:srgbClr val="FFFFFF"/>
                          </a:solidFill>
                          <a:latin typeface="Arial"/>
                          <a:ea typeface="Arial"/>
                          <a:cs typeface="Arial"/>
                        </a:rPr>
                        <a:t>Functie of maatregel</a:t>
                      </a:r>
                    </a:p>
                  </a:txBody>
                  <a:tcPr marL="91440" marR="91440" marT="45720" marB="45720" anchor="ctr">
                    <a:solidFill>
                      <a:srgbClr val="183247"/>
                    </a:solidFill>
                  </a:tcPr>
                </a:tc>
              </a:tr>
              <a:tr h="797719">
                <a:tc>
                  <a:txBody>
                    <a:bodyPr lIns="171450" tIns="95250" rIns="152400" bIns="95250"/>
                    <a:lstStyle/>
                    <a:p>
                      <a:r>
                        <a:rPr sz="2700" b="0">
                          <a:solidFill>
                            <a:srgbClr val="183247"/>
                          </a:solidFill>
                          <a:latin typeface="Arial"/>
                          <a:ea typeface="Arial"/>
                          <a:cs typeface="Arial"/>
                        </a:rPr>
                        <a:t>Vraag</a:t>
                      </a:r>
                    </a:p>
                  </a:txBody>
                  <a:tcPr marL="91440" marR="91440" marT="45720" marB="45720" anchor="ctr">
                    <a:solidFill>
                      <a:srgbClr val="FFFFFF"/>
                    </a:solidFill>
                  </a:tcPr>
                </a:tc>
                <a:tc>
                  <a:txBody>
                    <a:bodyPr lIns="171450" tIns="95250" rIns="152400" bIns="95250"/>
                    <a:lstStyle/>
                    <a:p>
                      <a:r>
                        <a:rPr sz="2700" b="0">
                          <a:solidFill>
                            <a:srgbClr val="183247"/>
                          </a:solidFill>
                          <a:latin typeface="Arial"/>
                          <a:ea typeface="Arial"/>
                          <a:cs typeface="Arial"/>
                        </a:rPr>
                        <a:t>Pc = 26 − 0,20Q</a:t>
                      </a:r>
                    </a:p>
                  </a:txBody>
                  <a:tcPr marL="91440" marR="91440" marT="45720" marB="45720" anchor="ctr">
                    <a:solidFill>
                      <a:srgbClr val="FFFFFF"/>
                    </a:solidFill>
                  </a:tcPr>
                </a:tc>
              </a:tr>
              <a:tr h="797719">
                <a:tc>
                  <a:txBody>
                    <a:bodyPr lIns="171450" tIns="95250" rIns="152400" bIns="95250"/>
                    <a:lstStyle/>
                    <a:p>
                      <a:r>
                        <a:rPr sz="2700" b="0">
                          <a:solidFill>
                            <a:srgbClr val="183247"/>
                          </a:solidFill>
                          <a:latin typeface="Arial"/>
                          <a:ea typeface="Arial"/>
                          <a:cs typeface="Arial"/>
                        </a:rPr>
                        <a:t>Oorspronkelijk aanbod</a:t>
                      </a:r>
                    </a:p>
                  </a:txBody>
                  <a:tcPr marL="91440" marR="91440" marT="45720" marB="45720" anchor="ctr">
                    <a:solidFill>
                      <a:srgbClr val="EFF4F7"/>
                    </a:solidFill>
                  </a:tcPr>
                </a:tc>
                <a:tc>
                  <a:txBody>
                    <a:bodyPr lIns="171450" tIns="95250" rIns="152400" bIns="95250"/>
                    <a:lstStyle/>
                    <a:p>
                      <a:r>
                        <a:rPr sz="2700" b="0">
                          <a:solidFill>
                            <a:srgbClr val="183247"/>
                          </a:solidFill>
                          <a:latin typeface="Arial"/>
                          <a:ea typeface="Arial"/>
                          <a:cs typeface="Arial"/>
                        </a:rPr>
                        <a:t>Pp = 2 + 0,10Q</a:t>
                      </a:r>
                    </a:p>
                  </a:txBody>
                  <a:tcPr marL="91440" marR="91440" marT="45720" marB="45720" anchor="ctr">
                    <a:solidFill>
                      <a:srgbClr val="EFF4F7"/>
                    </a:solidFill>
                  </a:tcPr>
                </a:tc>
              </a:tr>
              <a:tr h="797719">
                <a:tc>
                  <a:txBody>
                    <a:bodyPr lIns="171450" tIns="95250" rIns="152400" bIns="95250"/>
                    <a:lstStyle/>
                    <a:p>
                      <a:r>
                        <a:rPr sz="2700" b="0">
                          <a:solidFill>
                            <a:srgbClr val="183247"/>
                          </a:solidFill>
                          <a:latin typeface="Arial"/>
                          <a:ea typeface="Arial"/>
                          <a:cs typeface="Arial"/>
                        </a:rPr>
                        <a:t>Belasting door verkopers afgedragen</a:t>
                      </a:r>
                    </a:p>
                  </a:txBody>
                  <a:tcPr marL="91440" marR="91440" marT="45720" marB="45720" anchor="ctr">
                    <a:solidFill>
                      <a:srgbClr val="FFFFFF"/>
                    </a:solidFill>
                  </a:tcPr>
                </a:tc>
                <a:tc>
                  <a:txBody>
                    <a:bodyPr lIns="171450" tIns="95250" rIns="152400" bIns="95250"/>
                    <a:lstStyle/>
                    <a:p>
                      <a:r>
                        <a:rPr sz="2700" b="0">
                          <a:solidFill>
                            <a:srgbClr val="183247"/>
                          </a:solidFill>
                          <a:latin typeface="Arial"/>
                          <a:ea typeface="Arial"/>
                          <a:cs typeface="Arial"/>
                        </a:rPr>
                        <a:t>t = € 6 per verkochte puzzel</a:t>
                      </a:r>
                    </a:p>
                  </a:txBody>
                  <a:tcPr marL="91440" marR="91440" marT="45720" marB="45720" anchor="ctr">
                    <a:solidFill>
                      <a:srgbClr val="FFFFFF"/>
                    </a:solidFill>
                  </a:tcPr>
                </a:tc>
              </a:tr>
            </a:tbl>
          </a:graphicData>
        </a:graphic>
      </p:graphicFrame>
      <p:sp>
        <p:nvSpPr>
          <p:cNvPr id="7" name="Q: puzzels per week · Pc en Pp: euro per puzzel">
            <a:extLst xmlns:a="http://schemas.openxmlformats.org/drawingml/2006/main">
              <a:ext uri="{FF2B5EF4-FFF2-40B4-BE49-F238E27FC236}">
                <a16:creationId xmlns:a16="http://schemas.microsoft.com/office/drawing/2014/main" id="{A66E265A-F2C6-4D82-8F4B-66A1B726B161}"/>
              </a:ext>
            </a:extLst>
          </p:cNvPr>
          <p:cNvSpPr>
            <a:spLocks xmlns:a="http://schemas.openxmlformats.org/drawingml/2006/main" noGrp="1"/>
          </p:cNvSpPr>
          <p:nvPr/>
        </p:nvSpPr>
        <p:spPr>
          <a:xfrm xmlns:a="http://schemas.openxmlformats.org/drawingml/2006/main">
            <a:off x="571500" y="6657975"/>
            <a:ext cx="1409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83247"/>
                </a:solidFill>
                <a:latin typeface="Arial"/>
                <a:ea typeface="Arial"/>
                <a:cs typeface="Arial"/>
              </a:defRPr>
            </a:pPr>
            <a:r>
              <a:rPr sz="2700" b="1">
                <a:solidFill>
                  <a:srgbClr val="183247"/>
                </a:solidFill>
                <a:latin typeface="Arial"/>
                <a:ea typeface="Arial"/>
                <a:cs typeface="Arial"/>
              </a:rPr>
              <a:t>Q: puzzels per week · Pc en Pp: euro per puzzel</a:t>
            </a:r>
          </a:p>
        </p:txBody>
      </p:sp>
      <p:sp>
        <p:nvSpPr>
          <p:cNvPr id="8" name="Alle andere marktomstandigheden blijven gelijk.">
            <a:extLst xmlns:a="http://schemas.openxmlformats.org/drawingml/2006/main">
              <a:ext uri="{FF2B5EF4-FFF2-40B4-BE49-F238E27FC236}">
                <a16:creationId xmlns:a16="http://schemas.microsoft.com/office/drawing/2014/main" id="{41441658-24DA-4F3D-8600-5E2932919F07}"/>
              </a:ext>
            </a:extLst>
          </p:cNvPr>
          <p:cNvSpPr>
            <a:spLocks xmlns:a="http://schemas.openxmlformats.org/drawingml/2006/main" noGrp="1"/>
          </p:cNvSpPr>
          <p:nvPr/>
        </p:nvSpPr>
        <p:spPr>
          <a:xfrm xmlns:a="http://schemas.openxmlformats.org/drawingml/2006/main">
            <a:off x="571500" y="7429500"/>
            <a:ext cx="1409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183247"/>
                </a:solidFill>
                <a:latin typeface="Arial"/>
                <a:ea typeface="Arial"/>
                <a:cs typeface="Arial"/>
              </a:defRPr>
            </a:pPr>
            <a:r>
              <a:rPr sz="2400" b="0">
                <a:solidFill>
                  <a:srgbClr val="183247"/>
                </a:solidFill>
                <a:latin typeface="Arial"/>
                <a:ea typeface="Arial"/>
                <a:cs typeface="Arial"/>
              </a:rPr>
              <a:t>Alle andere marktomstandigheden blijven gelijk.</a:t>
            </a:r>
          </a:p>
        </p:txBody>
      </p:sp>
    </p:spTree>
    <p:extLst>
      <p:ext uri="{BB962C8B-B14F-4D97-AF65-F5344CB8AC3E}">
        <p14:creationId xmlns:p14="http://schemas.microsoft.com/office/powerpoint/2010/main" val="91108566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Vrij evenwicht · één prijs">
            <a:extLst xmlns:a="http://schemas.openxmlformats.org/drawingml/2006/main">
              <a:ext uri="{FF2B5EF4-FFF2-40B4-BE49-F238E27FC236}">
                <a16:creationId xmlns:a16="http://schemas.microsoft.com/office/drawing/2014/main" id="{1022A219-4CEF-4802-A5FB-546D822C1D1C}"/>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Vrij evenwicht · één prijs</a:t>
            </a:r>
          </a:p>
        </p:txBody>
      </p:sp>
      <p:sp>
        <p:nvSpPr>
          <p:cNvPr id="2" name="">
            <a:extLst xmlns:a="http://schemas.openxmlformats.org/drawingml/2006/main">
              <a:ext uri="{FF2B5EF4-FFF2-40B4-BE49-F238E27FC236}">
                <a16:creationId xmlns:a16="http://schemas.microsoft.com/office/drawing/2014/main" id="{6A38BDF8-A8C7-4D69-A93F-7FB3AF307A76}"/>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9B5373DF-7C7C-4D5C-964B-186F5394D5AC}"/>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Uitlegvoorbeeld — niet uit het boek</a:t>
            </a:r>
          </a:p>
        </p:txBody>
      </p:sp>
      <p:sp>
        <p:nvSpPr>
          <p:cNvPr id="4" name="slide-number">
            <a:extLst xmlns:a="http://schemas.openxmlformats.org/drawingml/2006/main">
              <a:ext uri="{FF2B5EF4-FFF2-40B4-BE49-F238E27FC236}">
                <a16:creationId xmlns:a16="http://schemas.microsoft.com/office/drawing/2014/main" id="{28696A2C-1AC1-4FB4-8238-7EC0022FE46E}"/>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4</a:t>
            </a:r>
          </a:p>
        </p:txBody>
      </p:sp>
      <p:sp>
        <p:nvSpPr>
          <p:cNvPr id="5" name="26 − 0,20Q = 2 + 0,10Q">
            <a:extLst xmlns:a="http://schemas.openxmlformats.org/drawingml/2006/main">
              <a:ext uri="{FF2B5EF4-FFF2-40B4-BE49-F238E27FC236}">
                <a16:creationId xmlns:a16="http://schemas.microsoft.com/office/drawing/2014/main" id="{0A57F5C5-07AF-4A08-8B3C-DE012C44909B}"/>
              </a:ext>
            </a:extLst>
          </p:cNvPr>
          <p:cNvSpPr>
            <a:spLocks xmlns:a="http://schemas.openxmlformats.org/drawingml/2006/main" noGrp="1"/>
          </p:cNvSpPr>
          <p:nvPr/>
        </p:nvSpPr>
        <p:spPr>
          <a:xfrm xmlns:a="http://schemas.openxmlformats.org/drawingml/2006/main">
            <a:off x="571500" y="2266950"/>
            <a:ext cx="14097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0">
                <a:solidFill>
                  <a:srgbClr val="183247"/>
                </a:solidFill>
                <a:latin typeface="Arial"/>
                <a:ea typeface="Arial"/>
                <a:cs typeface="Arial"/>
              </a:defRPr>
            </a:pPr>
            <a:r>
              <a:rPr sz="3375" b="0">
                <a:solidFill>
                  <a:srgbClr val="183247"/>
                </a:solidFill>
                <a:latin typeface="Arial"/>
                <a:ea typeface="Arial"/>
                <a:cs typeface="Arial"/>
              </a:rPr>
              <a:t>26 − 0,20Q = 2 + 0,10Q</a:t>
            </a:r>
          </a:p>
        </p:txBody>
      </p:sp>
      <p:sp>
        <p:nvSpPr>
          <p:cNvPr id="6" name="24 = 0,30Q">
            <a:extLst xmlns:a="http://schemas.openxmlformats.org/drawingml/2006/main">
              <a:ext uri="{FF2B5EF4-FFF2-40B4-BE49-F238E27FC236}">
                <a16:creationId xmlns:a16="http://schemas.microsoft.com/office/drawing/2014/main" id="{FD5E0D0B-CA89-4E01-B7C6-2CDE66C152BC}"/>
              </a:ext>
            </a:extLst>
          </p:cNvPr>
          <p:cNvSpPr>
            <a:spLocks xmlns:a="http://schemas.openxmlformats.org/drawingml/2006/main" noGrp="1"/>
          </p:cNvSpPr>
          <p:nvPr/>
        </p:nvSpPr>
        <p:spPr>
          <a:xfrm xmlns:a="http://schemas.openxmlformats.org/drawingml/2006/main">
            <a:off x="571500" y="3314700"/>
            <a:ext cx="14097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0">
                <a:solidFill>
                  <a:srgbClr val="183247"/>
                </a:solidFill>
                <a:latin typeface="Arial"/>
                <a:ea typeface="Arial"/>
                <a:cs typeface="Arial"/>
              </a:defRPr>
            </a:pPr>
            <a:r>
              <a:rPr sz="3375" b="0">
                <a:solidFill>
                  <a:srgbClr val="183247"/>
                </a:solidFill>
                <a:latin typeface="Arial"/>
                <a:ea typeface="Arial"/>
                <a:cs typeface="Arial"/>
              </a:rPr>
              <a:t>24 = 0,30Q</a:t>
            </a:r>
          </a:p>
        </p:txBody>
      </p:sp>
      <p:sp>
        <p:nvSpPr>
          <p:cNvPr id="7" name="Q₀ = 80 puzzels per week">
            <a:extLst xmlns:a="http://schemas.openxmlformats.org/drawingml/2006/main">
              <a:ext uri="{FF2B5EF4-FFF2-40B4-BE49-F238E27FC236}">
                <a16:creationId xmlns:a16="http://schemas.microsoft.com/office/drawing/2014/main" id="{5A684D89-9AB0-41D5-933A-B3A560B33B21}"/>
              </a:ext>
            </a:extLst>
          </p:cNvPr>
          <p:cNvSpPr>
            <a:spLocks xmlns:a="http://schemas.openxmlformats.org/drawingml/2006/main" noGrp="1"/>
          </p:cNvSpPr>
          <p:nvPr/>
        </p:nvSpPr>
        <p:spPr>
          <a:xfrm xmlns:a="http://schemas.openxmlformats.org/drawingml/2006/main">
            <a:off x="571500" y="4362450"/>
            <a:ext cx="14097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1A5276"/>
                </a:solidFill>
                <a:latin typeface="Arial"/>
                <a:ea typeface="Arial"/>
                <a:cs typeface="Arial"/>
              </a:defRPr>
            </a:pPr>
            <a:r>
              <a:rPr sz="3375" b="1">
                <a:solidFill>
                  <a:srgbClr val="1A5276"/>
                </a:solidFill>
                <a:latin typeface="Arial"/>
                <a:ea typeface="Arial"/>
                <a:cs typeface="Arial"/>
              </a:rPr>
              <a:t>Q₀ = 80 puzzels per week</a:t>
            </a:r>
          </a:p>
        </p:txBody>
      </p:sp>
      <p:sp>
        <p:nvSpPr>
          <p:cNvPr id="8" name="P₀ = 26 − 0,20 × 80 = € 10 per puzzel">
            <a:extLst xmlns:a="http://schemas.openxmlformats.org/drawingml/2006/main">
              <a:ext uri="{FF2B5EF4-FFF2-40B4-BE49-F238E27FC236}">
                <a16:creationId xmlns:a16="http://schemas.microsoft.com/office/drawing/2014/main" id="{BB840BE0-2FC4-41D2-8691-E2C570C7B4FA}"/>
              </a:ext>
            </a:extLst>
          </p:cNvPr>
          <p:cNvSpPr>
            <a:spLocks xmlns:a="http://schemas.openxmlformats.org/drawingml/2006/main" noGrp="1"/>
          </p:cNvSpPr>
          <p:nvPr/>
        </p:nvSpPr>
        <p:spPr>
          <a:xfrm xmlns:a="http://schemas.openxmlformats.org/drawingml/2006/main">
            <a:off x="571500" y="6057900"/>
            <a:ext cx="14097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3247"/>
                </a:solidFill>
                <a:latin typeface="Arial"/>
                <a:ea typeface="Arial"/>
                <a:cs typeface="Arial"/>
              </a:defRPr>
            </a:pPr>
            <a:r>
              <a:rPr sz="3450" b="1">
                <a:solidFill>
                  <a:srgbClr val="183247"/>
                </a:solidFill>
                <a:latin typeface="Arial"/>
                <a:ea typeface="Arial"/>
                <a:cs typeface="Arial"/>
              </a:rPr>
              <a:t>P₀ = 26 − 0,20 × 80 = € 10 per puzzel</a:t>
            </a:r>
          </a:p>
        </p:txBody>
      </p:sp>
      <p:sp>
        <p:nvSpPr>
          <p:cNvPr id="9" name="Controle met A: 2 + 0,10 × 80 = 10">
            <a:extLst xmlns:a="http://schemas.openxmlformats.org/drawingml/2006/main">
              <a:ext uri="{FF2B5EF4-FFF2-40B4-BE49-F238E27FC236}">
                <a16:creationId xmlns:a16="http://schemas.microsoft.com/office/drawing/2014/main" id="{A80B91AE-0502-4A8D-9833-7E55854DA667}"/>
              </a:ext>
            </a:extLst>
          </p:cNvPr>
          <p:cNvSpPr>
            <a:spLocks xmlns:a="http://schemas.openxmlformats.org/drawingml/2006/main" noGrp="1"/>
          </p:cNvSpPr>
          <p:nvPr/>
        </p:nvSpPr>
        <p:spPr>
          <a:xfrm xmlns:a="http://schemas.openxmlformats.org/drawingml/2006/main">
            <a:off x="571500" y="7210425"/>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E8449"/>
                </a:solidFill>
                <a:latin typeface="Arial"/>
                <a:ea typeface="Arial"/>
                <a:cs typeface="Arial"/>
              </a:defRPr>
            </a:pPr>
            <a:r>
              <a:rPr sz="2700" b="0">
                <a:solidFill>
                  <a:srgbClr val="1E8449"/>
                </a:solidFill>
                <a:latin typeface="Arial"/>
                <a:ea typeface="Arial"/>
                <a:cs typeface="Arial"/>
              </a:rPr>
              <a:t>Controle met A: 2 + 0,10 × 80 = 10</a:t>
            </a:r>
          </a:p>
        </p:txBody>
      </p:sp>
    </p:spTree>
    <p:extLst>
      <p:ext uri="{BB962C8B-B14F-4D97-AF65-F5344CB8AC3E}">
        <p14:creationId xmlns:p14="http://schemas.microsoft.com/office/powerpoint/2010/main" val="99513830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Vrij evenwicht in de grafiek">
            <a:extLst xmlns:a="http://schemas.openxmlformats.org/drawingml/2006/main">
              <a:ext uri="{FF2B5EF4-FFF2-40B4-BE49-F238E27FC236}">
                <a16:creationId xmlns:a16="http://schemas.microsoft.com/office/drawing/2014/main" id="{6E0854F0-A061-4DEA-BF4B-D83323D4B91F}"/>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Vrij evenwicht in de grafiek</a:t>
            </a:r>
          </a:p>
        </p:txBody>
      </p:sp>
      <p:sp>
        <p:nvSpPr>
          <p:cNvPr id="2" name="">
            <a:extLst xmlns:a="http://schemas.openxmlformats.org/drawingml/2006/main">
              <a:ext uri="{FF2B5EF4-FFF2-40B4-BE49-F238E27FC236}">
                <a16:creationId xmlns:a16="http://schemas.microsoft.com/office/drawing/2014/main" id="{F0E85B9C-5918-4867-951F-49C409EFB29E}"/>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C221026F-5F7F-44AA-B087-111CB9B93FA9}"/>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Uitlegvoorbeeld — niet uit het boek</a:t>
            </a:r>
          </a:p>
        </p:txBody>
      </p:sp>
      <p:sp>
        <p:nvSpPr>
          <p:cNvPr id="4" name="slide-number">
            <a:extLst xmlns:a="http://schemas.openxmlformats.org/drawingml/2006/main">
              <a:ext uri="{FF2B5EF4-FFF2-40B4-BE49-F238E27FC236}">
                <a16:creationId xmlns:a16="http://schemas.microsoft.com/office/drawing/2014/main" id="{0A1E2B78-D9B4-4463-A1F2-F6EDA76C9613}"/>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5</a:t>
            </a:r>
          </a:p>
        </p:txBody>
      </p:sp>
      <p:graphicFrame>
        <p:nvGraphicFramePr>
          <p:cNvPr id="13" name="Chart"/>
          <p:cNvGraphicFramePr/>
          <p:nvPr/>
        </p:nvGraphicFramePr>
        <p:xfrm>
          <a:off xmlns:a="http://schemas.openxmlformats.org/drawingml/2006/main" x="571500" y="2085975"/>
          <a:ext xmlns:a="http://schemas.openxmlformats.org/drawingml/2006/main" cx="9906000" cy="5429250"/>
        </p:xfrm>
        <a:graphic xmlns:a="http://schemas.openxmlformats.org/drawingml/2006/main">
          <a:graphicData uri="http://schemas.openxmlformats.org/drawingml/2006/chart">
            <c:chart xmlns:r="http://schemas.openxmlformats.org/officeDocument/2006/relationships" xmlns:c="http://schemas.openxmlformats.org/drawingml/2006/chart" r:id="Rcf8eb1e833554add"/>
          </a:graphicData>
        </a:graphic>
      </p:graphicFrame>
      <p:sp>
        <p:nvSpPr>
          <p:cNvPr id="6" name="V snijdt A">
            <a:extLst xmlns:a="http://schemas.openxmlformats.org/drawingml/2006/main">
              <a:ext uri="{FF2B5EF4-FFF2-40B4-BE49-F238E27FC236}">
                <a16:creationId xmlns:a16="http://schemas.microsoft.com/office/drawing/2014/main" id="{20AB684C-CCE1-408B-BF4C-DDB590B576A0}"/>
              </a:ext>
            </a:extLst>
          </p:cNvPr>
          <p:cNvSpPr>
            <a:spLocks xmlns:a="http://schemas.openxmlformats.org/drawingml/2006/main" noGrp="1"/>
          </p:cNvSpPr>
          <p:nvPr/>
        </p:nvSpPr>
        <p:spPr>
          <a:xfrm xmlns:a="http://schemas.openxmlformats.org/drawingml/2006/main">
            <a:off x="10953750" y="2352675"/>
            <a:ext cx="3714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A5276"/>
                </a:solidFill>
                <a:latin typeface="Arial"/>
                <a:ea typeface="Arial"/>
                <a:cs typeface="Arial"/>
              </a:defRPr>
            </a:pPr>
            <a:r>
              <a:rPr sz="2925" b="1">
                <a:solidFill>
                  <a:srgbClr val="1A5276"/>
                </a:solidFill>
                <a:latin typeface="Arial"/>
                <a:ea typeface="Arial"/>
                <a:cs typeface="Arial"/>
              </a:rPr>
              <a:t>V snijdt A</a:t>
            </a:r>
          </a:p>
        </p:txBody>
      </p:sp>
      <p:sp>
        <p:nvSpPr>
          <p:cNvPr id="7" name="Q₀ = 80&#10;&#10;P₀ = € 10">
            <a:extLst xmlns:a="http://schemas.openxmlformats.org/drawingml/2006/main">
              <a:ext uri="{FF2B5EF4-FFF2-40B4-BE49-F238E27FC236}">
                <a16:creationId xmlns:a16="http://schemas.microsoft.com/office/drawing/2014/main" id="{1AA055A1-A450-4C8E-BC1F-A21A62099171}"/>
              </a:ext>
            </a:extLst>
          </p:cNvPr>
          <p:cNvSpPr>
            <a:spLocks xmlns:a="http://schemas.openxmlformats.org/drawingml/2006/main" noGrp="1"/>
          </p:cNvSpPr>
          <p:nvPr/>
        </p:nvSpPr>
        <p:spPr>
          <a:xfrm xmlns:a="http://schemas.openxmlformats.org/drawingml/2006/main">
            <a:off x="10953750" y="3581400"/>
            <a:ext cx="37147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83247"/>
                </a:solidFill>
                <a:latin typeface="Arial"/>
                <a:ea typeface="Arial"/>
                <a:cs typeface="Arial"/>
              </a:defRPr>
            </a:pPr>
            <a:r>
              <a:rPr sz="3000" b="1">
                <a:solidFill>
                  <a:srgbClr val="183247"/>
                </a:solidFill>
                <a:latin typeface="Arial"/>
                <a:ea typeface="Arial"/>
                <a:cs typeface="Arial"/>
              </a:rPr>
              <a:t>Q₀ = 80</a:t>
            </a:r>
          </a:p>
          <a:p xmlns:a="http://schemas.openxmlformats.org/drawingml/2006/main">
            <a:r>
              <a:t/>
            </a:r>
          </a:p>
          <a:p xmlns:a="http://schemas.openxmlformats.org/drawingml/2006/main">
            <a:pPr algn="l">
              <a:defRPr sz="3000" b="1">
                <a:solidFill>
                  <a:srgbClr val="183247"/>
                </a:solidFill>
                <a:latin typeface="Arial"/>
                <a:ea typeface="Arial"/>
                <a:cs typeface="Arial"/>
              </a:defRPr>
            </a:pPr>
            <a:r>
              <a:rPr sz="3000" b="1">
                <a:solidFill>
                  <a:srgbClr val="183247"/>
                </a:solidFill>
                <a:latin typeface="Arial"/>
                <a:ea typeface="Arial"/>
                <a:cs typeface="Arial"/>
              </a:rPr>
              <a:t>P₀ = € 10</a:t>
            </a:r>
          </a:p>
        </p:txBody>
      </p:sp>
      <p:sp>
        <p:nvSpPr>
          <p:cNvPr id="8" name="Gevraagd =&#10;aangeboden">
            <a:extLst xmlns:a="http://schemas.openxmlformats.org/drawingml/2006/main">
              <a:ext uri="{FF2B5EF4-FFF2-40B4-BE49-F238E27FC236}">
                <a16:creationId xmlns:a16="http://schemas.microsoft.com/office/drawing/2014/main" id="{12B2FEF1-8A0F-4CFC-843F-4E82B8093BC7}"/>
              </a:ext>
            </a:extLst>
          </p:cNvPr>
          <p:cNvSpPr>
            <a:spLocks xmlns:a="http://schemas.openxmlformats.org/drawingml/2006/main" noGrp="1"/>
          </p:cNvSpPr>
          <p:nvPr/>
        </p:nvSpPr>
        <p:spPr>
          <a:xfrm xmlns:a="http://schemas.openxmlformats.org/drawingml/2006/main">
            <a:off x="10953750" y="6534150"/>
            <a:ext cx="3714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0">
                <a:solidFill>
                  <a:srgbClr val="183247"/>
                </a:solidFill>
                <a:latin typeface="Arial"/>
                <a:ea typeface="Arial"/>
                <a:cs typeface="Arial"/>
              </a:defRPr>
            </a:pPr>
            <a:r>
              <a:rPr sz="2775" b="0">
                <a:solidFill>
                  <a:srgbClr val="183247"/>
                </a:solidFill>
                <a:latin typeface="Arial"/>
                <a:ea typeface="Arial"/>
                <a:cs typeface="Arial"/>
              </a:rPr>
              <a:t>Gevraagd =</a:t>
            </a:r>
          </a:p>
          <a:p xmlns:a="http://schemas.openxmlformats.org/drawingml/2006/main">
            <a:pPr algn="l">
              <a:defRPr sz="2775" b="0">
                <a:solidFill>
                  <a:srgbClr val="183247"/>
                </a:solidFill>
                <a:latin typeface="Arial"/>
                <a:ea typeface="Arial"/>
                <a:cs typeface="Arial"/>
              </a:defRPr>
            </a:pPr>
            <a:r>
              <a:rPr sz="2775" b="0">
                <a:solidFill>
                  <a:srgbClr val="183247"/>
                </a:solidFill>
                <a:latin typeface="Arial"/>
                <a:ea typeface="Arial"/>
                <a:cs typeface="Arial"/>
              </a:rPr>
              <a:t>aangeboden</a:t>
            </a:r>
          </a:p>
        </p:txBody>
      </p:sp>
    </p:spTree>
    <p:extLst>
      <p:ext uri="{BB962C8B-B14F-4D97-AF65-F5344CB8AC3E}">
        <p14:creationId xmlns:p14="http://schemas.microsoft.com/office/powerpoint/2010/main" val="190094386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Aanbod in kopersprijzen">
            <a:extLst xmlns:a="http://schemas.openxmlformats.org/drawingml/2006/main">
              <a:ext uri="{FF2B5EF4-FFF2-40B4-BE49-F238E27FC236}">
                <a16:creationId xmlns:a16="http://schemas.microsoft.com/office/drawing/2014/main" id="{8C8AB2C7-BC08-4FCF-93CE-D35E5B03A5B6}"/>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Aanbod in kopersprijzen</a:t>
            </a:r>
          </a:p>
        </p:txBody>
      </p:sp>
      <p:sp>
        <p:nvSpPr>
          <p:cNvPr id="2" name="">
            <a:extLst xmlns:a="http://schemas.openxmlformats.org/drawingml/2006/main">
              <a:ext uri="{FF2B5EF4-FFF2-40B4-BE49-F238E27FC236}">
                <a16:creationId xmlns:a16="http://schemas.microsoft.com/office/drawing/2014/main" id="{6BD7EF9A-2E45-4A08-9B06-E0091E3A36A4}"/>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50A4F6BC-78FF-4289-8E48-EA9F4297D55E}"/>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Uitlegvoorbeeld — niet uit het boek</a:t>
            </a:r>
          </a:p>
        </p:txBody>
      </p:sp>
      <p:sp>
        <p:nvSpPr>
          <p:cNvPr id="4" name="slide-number">
            <a:extLst xmlns:a="http://schemas.openxmlformats.org/drawingml/2006/main">
              <a:ext uri="{FF2B5EF4-FFF2-40B4-BE49-F238E27FC236}">
                <a16:creationId xmlns:a16="http://schemas.microsoft.com/office/drawing/2014/main" id="{AE49210E-49F2-495B-AD8E-03E3AAD8D0B5}"/>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6</a:t>
            </a:r>
          </a:p>
        </p:txBody>
      </p:sp>
      <p:sp>
        <p:nvSpPr>
          <p:cNvPr id="5" name="Gewenste ontvangst + afdracht = benodigde koperspr">
            <a:extLst xmlns:a="http://schemas.openxmlformats.org/drawingml/2006/main">
              <a:ext uri="{FF2B5EF4-FFF2-40B4-BE49-F238E27FC236}">
                <a16:creationId xmlns:a16="http://schemas.microsoft.com/office/drawing/2014/main" id="{7E601351-43A8-4C52-94B8-6A2B23CE22B6}"/>
              </a:ext>
            </a:extLst>
          </p:cNvPr>
          <p:cNvSpPr>
            <a:spLocks xmlns:a="http://schemas.openxmlformats.org/drawingml/2006/main" noGrp="1"/>
          </p:cNvSpPr>
          <p:nvPr/>
        </p:nvSpPr>
        <p:spPr>
          <a:xfrm xmlns:a="http://schemas.openxmlformats.org/drawingml/2006/main">
            <a:off x="571500" y="1809750"/>
            <a:ext cx="14097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183247"/>
                </a:solidFill>
                <a:latin typeface="Arial"/>
                <a:ea typeface="Arial"/>
                <a:cs typeface="Arial"/>
              </a:defRPr>
            </a:pPr>
            <a:r>
              <a:rPr sz="2775" b="1">
                <a:solidFill>
                  <a:srgbClr val="183247"/>
                </a:solidFill>
                <a:latin typeface="Arial"/>
                <a:ea typeface="Arial"/>
                <a:cs typeface="Arial"/>
              </a:rPr>
              <a:t>Gewenste ontvangst + afdracht = benodigde kopersprijs</a:t>
            </a:r>
          </a:p>
        </p:txBody>
      </p:sp>
      <p:sp>
        <p:nvSpPr>
          <p:cNvPr id="6" name="Pc = Pp + 6">
            <a:extLst xmlns:a="http://schemas.openxmlformats.org/drawingml/2006/main">
              <a:ext uri="{FF2B5EF4-FFF2-40B4-BE49-F238E27FC236}">
                <a16:creationId xmlns:a16="http://schemas.microsoft.com/office/drawing/2014/main" id="{99E29EDC-A26A-44B9-9492-6F4EBD4EA211}"/>
              </a:ext>
            </a:extLst>
          </p:cNvPr>
          <p:cNvSpPr>
            <a:spLocks xmlns:a="http://schemas.openxmlformats.org/drawingml/2006/main" noGrp="1"/>
          </p:cNvSpPr>
          <p:nvPr/>
        </p:nvSpPr>
        <p:spPr>
          <a:xfrm xmlns:a="http://schemas.openxmlformats.org/drawingml/2006/main">
            <a:off x="571500" y="3038475"/>
            <a:ext cx="14097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83247"/>
                </a:solidFill>
                <a:latin typeface="Arial"/>
                <a:ea typeface="Arial"/>
                <a:cs typeface="Arial"/>
              </a:defRPr>
            </a:pPr>
            <a:r>
              <a:rPr sz="3600" b="0">
                <a:solidFill>
                  <a:srgbClr val="183247"/>
                </a:solidFill>
                <a:latin typeface="Arial"/>
                <a:ea typeface="Arial"/>
                <a:cs typeface="Arial"/>
              </a:rPr>
              <a:t>Pc = Pp + 6</a:t>
            </a:r>
          </a:p>
        </p:txBody>
      </p:sp>
      <p:sp>
        <p:nvSpPr>
          <p:cNvPr id="7" name="Pc = (2 + 0,10Q) + 6">
            <a:extLst xmlns:a="http://schemas.openxmlformats.org/drawingml/2006/main">
              <a:ext uri="{FF2B5EF4-FFF2-40B4-BE49-F238E27FC236}">
                <a16:creationId xmlns:a16="http://schemas.microsoft.com/office/drawing/2014/main" id="{868211FF-6A40-4913-8CBE-E0CB701E0C16}"/>
              </a:ext>
            </a:extLst>
          </p:cNvPr>
          <p:cNvSpPr>
            <a:spLocks xmlns:a="http://schemas.openxmlformats.org/drawingml/2006/main" noGrp="1"/>
          </p:cNvSpPr>
          <p:nvPr/>
        </p:nvSpPr>
        <p:spPr>
          <a:xfrm xmlns:a="http://schemas.openxmlformats.org/drawingml/2006/main">
            <a:off x="571500" y="4114800"/>
            <a:ext cx="14097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83247"/>
                </a:solidFill>
                <a:latin typeface="Arial"/>
                <a:ea typeface="Arial"/>
                <a:cs typeface="Arial"/>
              </a:defRPr>
            </a:pPr>
            <a:r>
              <a:rPr sz="3600" b="0">
                <a:solidFill>
                  <a:srgbClr val="183247"/>
                </a:solidFill>
                <a:latin typeface="Arial"/>
                <a:ea typeface="Arial"/>
                <a:cs typeface="Arial"/>
              </a:rPr>
              <a:t>Pc = (2 + 0,10Q) + 6</a:t>
            </a:r>
          </a:p>
        </p:txBody>
      </p:sp>
      <p:sp>
        <p:nvSpPr>
          <p:cNvPr id="8" name="A + t: Pc = 8 + 0,10Q">
            <a:extLst xmlns:a="http://schemas.openxmlformats.org/drawingml/2006/main">
              <a:ext uri="{FF2B5EF4-FFF2-40B4-BE49-F238E27FC236}">
                <a16:creationId xmlns:a16="http://schemas.microsoft.com/office/drawing/2014/main" id="{4D6AD58C-CF07-41B9-9330-CBCA218DA178}"/>
              </a:ext>
            </a:extLst>
          </p:cNvPr>
          <p:cNvSpPr>
            <a:spLocks xmlns:a="http://schemas.openxmlformats.org/drawingml/2006/main" noGrp="1"/>
          </p:cNvSpPr>
          <p:nvPr/>
        </p:nvSpPr>
        <p:spPr>
          <a:xfrm xmlns:a="http://schemas.openxmlformats.org/drawingml/2006/main">
            <a:off x="571500" y="5191125"/>
            <a:ext cx="14097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A5276"/>
                </a:solidFill>
                <a:latin typeface="Arial"/>
                <a:ea typeface="Arial"/>
                <a:cs typeface="Arial"/>
              </a:defRPr>
            </a:pPr>
            <a:r>
              <a:rPr sz="3600" b="1">
                <a:solidFill>
                  <a:srgbClr val="1A5276"/>
                </a:solidFill>
                <a:latin typeface="Arial"/>
                <a:ea typeface="Arial"/>
                <a:cs typeface="Arial"/>
              </a:rPr>
              <a:t>A + t: Pc = 8 + 0,10Q</a:t>
            </a:r>
          </a:p>
        </p:txBody>
      </p:sp>
      <p:sp>
        <p:nvSpPr>
          <p:cNvPr id="9" name="Bij Q = 60: € 8 ontvangst + € 6 afdracht = € 14 be">
            <a:extLst xmlns:a="http://schemas.openxmlformats.org/drawingml/2006/main">
              <a:ext uri="{FF2B5EF4-FFF2-40B4-BE49-F238E27FC236}">
                <a16:creationId xmlns:a16="http://schemas.microsoft.com/office/drawing/2014/main" id="{A3A4E726-2F7C-49BA-B24E-006FE2849D7F}"/>
              </a:ext>
            </a:extLst>
          </p:cNvPr>
          <p:cNvSpPr>
            <a:spLocks xmlns:a="http://schemas.openxmlformats.org/drawingml/2006/main" noGrp="1"/>
          </p:cNvSpPr>
          <p:nvPr/>
        </p:nvSpPr>
        <p:spPr>
          <a:xfrm xmlns:a="http://schemas.openxmlformats.org/drawingml/2006/main">
            <a:off x="571500" y="7067550"/>
            <a:ext cx="1409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A94D16"/>
                </a:solidFill>
                <a:latin typeface="Arial"/>
                <a:ea typeface="Arial"/>
                <a:cs typeface="Arial"/>
              </a:defRPr>
            </a:pPr>
            <a:r>
              <a:rPr sz="2625" b="1">
                <a:solidFill>
                  <a:srgbClr val="A94D16"/>
                </a:solidFill>
                <a:latin typeface="Arial"/>
                <a:ea typeface="Arial"/>
                <a:cs typeface="Arial"/>
              </a:rPr>
              <a:t>Bij Q = 60: € 8 ontvangst + € 6 afdracht = € 14 betaling</a:t>
            </a:r>
          </a:p>
        </p:txBody>
      </p:sp>
    </p:spTree>
    <p:extLst>
      <p:ext uri="{BB962C8B-B14F-4D97-AF65-F5344CB8AC3E}">
        <p14:creationId xmlns:p14="http://schemas.microsoft.com/office/powerpoint/2010/main" val="139333048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De belastinglijn A + t">
            <a:extLst xmlns:a="http://schemas.openxmlformats.org/drawingml/2006/main">
              <a:ext uri="{FF2B5EF4-FFF2-40B4-BE49-F238E27FC236}">
                <a16:creationId xmlns:a16="http://schemas.microsoft.com/office/drawing/2014/main" id="{33486506-570C-4F13-A266-21CFE868BA82}"/>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De belastinglijn A + t</a:t>
            </a:r>
          </a:p>
        </p:txBody>
      </p:sp>
      <p:sp>
        <p:nvSpPr>
          <p:cNvPr id="2" name="">
            <a:extLst xmlns:a="http://schemas.openxmlformats.org/drawingml/2006/main">
              <a:ext uri="{FF2B5EF4-FFF2-40B4-BE49-F238E27FC236}">
                <a16:creationId xmlns:a16="http://schemas.microsoft.com/office/drawing/2014/main" id="{4DC4473D-129F-4490-A0B4-1DFF8808F05F}"/>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65899E01-B3A7-47B3-8137-14EF4BE426E3}"/>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Uitlegvoorbeeld — niet uit het boek</a:t>
            </a:r>
          </a:p>
        </p:txBody>
      </p:sp>
      <p:sp>
        <p:nvSpPr>
          <p:cNvPr id="4" name="slide-number">
            <a:extLst xmlns:a="http://schemas.openxmlformats.org/drawingml/2006/main">
              <a:ext uri="{FF2B5EF4-FFF2-40B4-BE49-F238E27FC236}">
                <a16:creationId xmlns:a16="http://schemas.microsoft.com/office/drawing/2014/main" id="{CC0FFA50-FE4C-4CCE-A5B3-992C00D777AA}"/>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7</a:t>
            </a:r>
          </a:p>
        </p:txBody>
      </p:sp>
      <p:graphicFrame>
        <p:nvGraphicFramePr>
          <p:cNvPr id="13" name="Chart"/>
          <p:cNvGraphicFramePr/>
          <p:nvPr/>
        </p:nvGraphicFramePr>
        <p:xfrm>
          <a:off xmlns:a="http://schemas.openxmlformats.org/drawingml/2006/main" x="571500" y="2085975"/>
          <a:ext xmlns:a="http://schemas.openxmlformats.org/drawingml/2006/main" cx="9906000" cy="5429250"/>
        </p:xfrm>
        <a:graphic xmlns:a="http://schemas.openxmlformats.org/drawingml/2006/main">
          <a:graphicData uri="http://schemas.openxmlformats.org/drawingml/2006/chart">
            <c:chart xmlns:r="http://schemas.openxmlformats.org/officeDocument/2006/relationships" xmlns:c="http://schemas.openxmlformats.org/drawingml/2006/chart" r:id="Rcadf5f547d42416c"/>
          </a:graphicData>
        </a:graphic>
      </p:graphicFrame>
      <p:sp>
        <p:nvSpPr>
          <p:cNvPr id="6" name="A + t ligt&#10;€ 6 hoger">
            <a:extLst xmlns:a="http://schemas.openxmlformats.org/drawingml/2006/main">
              <a:ext uri="{FF2B5EF4-FFF2-40B4-BE49-F238E27FC236}">
                <a16:creationId xmlns:a16="http://schemas.microsoft.com/office/drawing/2014/main" id="{39AD60A5-7507-4CAC-9E2F-6A26EAEE2C7C}"/>
              </a:ext>
            </a:extLst>
          </p:cNvPr>
          <p:cNvSpPr>
            <a:spLocks xmlns:a="http://schemas.openxmlformats.org/drawingml/2006/main" noGrp="1"/>
          </p:cNvSpPr>
          <p:nvPr/>
        </p:nvSpPr>
        <p:spPr>
          <a:xfrm xmlns:a="http://schemas.openxmlformats.org/drawingml/2006/main">
            <a:off x="10953750" y="2486025"/>
            <a:ext cx="3714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A94D16"/>
                </a:solidFill>
                <a:latin typeface="Arial"/>
                <a:ea typeface="Arial"/>
                <a:cs typeface="Arial"/>
              </a:defRPr>
            </a:pPr>
            <a:r>
              <a:rPr sz="3000" b="1">
                <a:solidFill>
                  <a:srgbClr val="A94D16"/>
                </a:solidFill>
                <a:latin typeface="Arial"/>
                <a:ea typeface="Arial"/>
                <a:cs typeface="Arial"/>
              </a:rPr>
              <a:t>A + t ligt</a:t>
            </a:r>
          </a:p>
          <a:p xmlns:a="http://schemas.openxmlformats.org/drawingml/2006/main">
            <a:pPr algn="l">
              <a:defRPr sz="3000" b="1">
                <a:solidFill>
                  <a:srgbClr val="A94D16"/>
                </a:solidFill>
                <a:latin typeface="Arial"/>
                <a:ea typeface="Arial"/>
                <a:cs typeface="Arial"/>
              </a:defRPr>
            </a:pPr>
            <a:r>
              <a:rPr sz="3000" b="1">
                <a:solidFill>
                  <a:srgbClr val="A94D16"/>
                </a:solidFill>
                <a:latin typeface="Arial"/>
                <a:ea typeface="Arial"/>
                <a:cs typeface="Arial"/>
              </a:rPr>
              <a:t>€ 6 hoger</a:t>
            </a:r>
          </a:p>
        </p:txBody>
      </p:sp>
      <p:sp>
        <p:nvSpPr>
          <p:cNvPr id="7" name="Bij elke Q&#10;dezelfde afstand">
            <a:extLst xmlns:a="http://schemas.openxmlformats.org/drawingml/2006/main">
              <a:ext uri="{FF2B5EF4-FFF2-40B4-BE49-F238E27FC236}">
                <a16:creationId xmlns:a16="http://schemas.microsoft.com/office/drawing/2014/main" id="{657D186E-3AAE-42DC-91A9-09EB50608603}"/>
              </a:ext>
            </a:extLst>
          </p:cNvPr>
          <p:cNvSpPr>
            <a:spLocks xmlns:a="http://schemas.openxmlformats.org/drawingml/2006/main" noGrp="1"/>
          </p:cNvSpPr>
          <p:nvPr/>
        </p:nvSpPr>
        <p:spPr>
          <a:xfrm xmlns:a="http://schemas.openxmlformats.org/drawingml/2006/main">
            <a:off x="10953750" y="4419600"/>
            <a:ext cx="3714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Bij elke Q</a:t>
            </a:r>
          </a:p>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dezelfde afstand</a:t>
            </a:r>
          </a:p>
        </p:txBody>
      </p:sp>
      <p:sp>
        <p:nvSpPr>
          <p:cNvPr id="8" name="V verandert niet.">
            <a:extLst xmlns:a="http://schemas.openxmlformats.org/drawingml/2006/main">
              <a:ext uri="{FF2B5EF4-FFF2-40B4-BE49-F238E27FC236}">
                <a16:creationId xmlns:a16="http://schemas.microsoft.com/office/drawing/2014/main" id="{F622600B-DB2B-4EF7-988D-2BE0FE8D3D43}"/>
              </a:ext>
            </a:extLst>
          </p:cNvPr>
          <p:cNvSpPr>
            <a:spLocks xmlns:a="http://schemas.openxmlformats.org/drawingml/2006/main" noGrp="1"/>
          </p:cNvSpPr>
          <p:nvPr/>
        </p:nvSpPr>
        <p:spPr>
          <a:xfrm xmlns:a="http://schemas.openxmlformats.org/drawingml/2006/main">
            <a:off x="10953750" y="6705600"/>
            <a:ext cx="37147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A5276"/>
                </a:solidFill>
                <a:latin typeface="Arial"/>
                <a:ea typeface="Arial"/>
                <a:cs typeface="Arial"/>
              </a:defRPr>
            </a:pPr>
            <a:r>
              <a:rPr sz="2625" b="1">
                <a:solidFill>
                  <a:srgbClr val="1A5276"/>
                </a:solidFill>
                <a:latin typeface="Arial"/>
                <a:ea typeface="Arial"/>
                <a:cs typeface="Arial"/>
              </a:rPr>
              <a:t>V verandert niet.</a:t>
            </a:r>
          </a:p>
        </p:txBody>
      </p:sp>
    </p:spTree>
    <p:extLst>
      <p:ext uri="{BB962C8B-B14F-4D97-AF65-F5344CB8AC3E}">
        <p14:creationId xmlns:p14="http://schemas.microsoft.com/office/powerpoint/2010/main" val="132411132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Nieuwe hoeveelheid">
            <a:extLst xmlns:a="http://schemas.openxmlformats.org/drawingml/2006/main">
              <a:ext uri="{FF2B5EF4-FFF2-40B4-BE49-F238E27FC236}">
                <a16:creationId xmlns:a16="http://schemas.microsoft.com/office/drawing/2014/main" id="{43EED1B3-E56A-430C-9825-E2B8E1A86B2C}"/>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Nieuwe hoeveelheid</a:t>
            </a:r>
          </a:p>
        </p:txBody>
      </p:sp>
      <p:sp>
        <p:nvSpPr>
          <p:cNvPr id="2" name="">
            <a:extLst xmlns:a="http://schemas.openxmlformats.org/drawingml/2006/main">
              <a:ext uri="{FF2B5EF4-FFF2-40B4-BE49-F238E27FC236}">
                <a16:creationId xmlns:a16="http://schemas.microsoft.com/office/drawing/2014/main" id="{6273DB2F-8396-41B3-B7CB-E58441AEF543}"/>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0D51F70E-3BE4-4844-A094-9E3176BE5726}"/>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Uitlegvoorbeeld — niet uit het boek</a:t>
            </a:r>
          </a:p>
        </p:txBody>
      </p:sp>
      <p:sp>
        <p:nvSpPr>
          <p:cNvPr id="4" name="slide-number">
            <a:extLst xmlns:a="http://schemas.openxmlformats.org/drawingml/2006/main">
              <a:ext uri="{FF2B5EF4-FFF2-40B4-BE49-F238E27FC236}">
                <a16:creationId xmlns:a16="http://schemas.microsoft.com/office/drawing/2014/main" id="{AB27EF2C-4696-445A-A362-EF4A34176FE5}"/>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8</a:t>
            </a:r>
          </a:p>
        </p:txBody>
      </p:sp>
      <p:sp>
        <p:nvSpPr>
          <p:cNvPr id="5" name="26 − 0,20Q = 8 + 0,10Q">
            <a:extLst xmlns:a="http://schemas.openxmlformats.org/drawingml/2006/main">
              <a:ext uri="{FF2B5EF4-FFF2-40B4-BE49-F238E27FC236}">
                <a16:creationId xmlns:a16="http://schemas.microsoft.com/office/drawing/2014/main" id="{7A822D84-50D1-4C79-803D-3C6D70F829DE}"/>
              </a:ext>
            </a:extLst>
          </p:cNvPr>
          <p:cNvSpPr>
            <a:spLocks xmlns:a="http://schemas.openxmlformats.org/drawingml/2006/main" noGrp="1"/>
          </p:cNvSpPr>
          <p:nvPr/>
        </p:nvSpPr>
        <p:spPr>
          <a:xfrm xmlns:a="http://schemas.openxmlformats.org/drawingml/2006/main">
            <a:off x="571500" y="2266950"/>
            <a:ext cx="14097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0">
                <a:solidFill>
                  <a:srgbClr val="183247"/>
                </a:solidFill>
                <a:latin typeface="Arial"/>
                <a:ea typeface="Arial"/>
                <a:cs typeface="Arial"/>
              </a:defRPr>
            </a:pPr>
            <a:r>
              <a:rPr sz="3375" b="0">
                <a:solidFill>
                  <a:srgbClr val="183247"/>
                </a:solidFill>
                <a:latin typeface="Arial"/>
                <a:ea typeface="Arial"/>
                <a:cs typeface="Arial"/>
              </a:rPr>
              <a:t>26 − 0,20Q = 8 + 0,10Q</a:t>
            </a:r>
          </a:p>
        </p:txBody>
      </p:sp>
      <p:sp>
        <p:nvSpPr>
          <p:cNvPr id="6" name="18 = 0,30Q">
            <a:extLst xmlns:a="http://schemas.openxmlformats.org/drawingml/2006/main">
              <a:ext uri="{FF2B5EF4-FFF2-40B4-BE49-F238E27FC236}">
                <a16:creationId xmlns:a16="http://schemas.microsoft.com/office/drawing/2014/main" id="{57628D1C-42AC-4463-A51F-AD42E956AC94}"/>
              </a:ext>
            </a:extLst>
          </p:cNvPr>
          <p:cNvSpPr>
            <a:spLocks xmlns:a="http://schemas.openxmlformats.org/drawingml/2006/main" noGrp="1"/>
          </p:cNvSpPr>
          <p:nvPr/>
        </p:nvSpPr>
        <p:spPr>
          <a:xfrm xmlns:a="http://schemas.openxmlformats.org/drawingml/2006/main">
            <a:off x="571500" y="3457575"/>
            <a:ext cx="14097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0">
                <a:solidFill>
                  <a:srgbClr val="183247"/>
                </a:solidFill>
                <a:latin typeface="Arial"/>
                <a:ea typeface="Arial"/>
                <a:cs typeface="Arial"/>
              </a:defRPr>
            </a:pPr>
            <a:r>
              <a:rPr sz="3375" b="0">
                <a:solidFill>
                  <a:srgbClr val="183247"/>
                </a:solidFill>
                <a:latin typeface="Arial"/>
                <a:ea typeface="Arial"/>
                <a:cs typeface="Arial"/>
              </a:rPr>
              <a:t>18 = 0,30Q</a:t>
            </a:r>
          </a:p>
        </p:txBody>
      </p:sp>
      <p:sp>
        <p:nvSpPr>
          <p:cNvPr id="7" name="Qt = 60 puzzels per week">
            <a:extLst xmlns:a="http://schemas.openxmlformats.org/drawingml/2006/main">
              <a:ext uri="{FF2B5EF4-FFF2-40B4-BE49-F238E27FC236}">
                <a16:creationId xmlns:a16="http://schemas.microsoft.com/office/drawing/2014/main" id="{BD2C51D5-E8B9-4F7F-92F4-954C0A7F77AB}"/>
              </a:ext>
            </a:extLst>
          </p:cNvPr>
          <p:cNvSpPr>
            <a:spLocks xmlns:a="http://schemas.openxmlformats.org/drawingml/2006/main" noGrp="1"/>
          </p:cNvSpPr>
          <p:nvPr/>
        </p:nvSpPr>
        <p:spPr>
          <a:xfrm xmlns:a="http://schemas.openxmlformats.org/drawingml/2006/main">
            <a:off x="571500" y="4648200"/>
            <a:ext cx="14097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1A5276"/>
                </a:solidFill>
                <a:latin typeface="Arial"/>
                <a:ea typeface="Arial"/>
                <a:cs typeface="Arial"/>
              </a:defRPr>
            </a:pPr>
            <a:r>
              <a:rPr sz="3375" b="1">
                <a:solidFill>
                  <a:srgbClr val="1A5276"/>
                </a:solidFill>
                <a:latin typeface="Arial"/>
                <a:ea typeface="Arial"/>
                <a:cs typeface="Arial"/>
              </a:rPr>
              <a:t>Qt = 60 puzzels per week</a:t>
            </a:r>
          </a:p>
        </p:txBody>
      </p:sp>
      <p:sp>
        <p:nvSpPr>
          <p:cNvPr id="8" name="De hoeveelheid daalt: 80 → 60 puzzels per week.">
            <a:extLst xmlns:a="http://schemas.openxmlformats.org/drawingml/2006/main">
              <a:ext uri="{FF2B5EF4-FFF2-40B4-BE49-F238E27FC236}">
                <a16:creationId xmlns:a16="http://schemas.microsoft.com/office/drawing/2014/main" id="{3A10B89B-8204-4843-8018-98C784BF660A}"/>
              </a:ext>
            </a:extLst>
          </p:cNvPr>
          <p:cNvSpPr>
            <a:spLocks xmlns:a="http://schemas.openxmlformats.org/drawingml/2006/main" noGrp="1"/>
          </p:cNvSpPr>
          <p:nvPr/>
        </p:nvSpPr>
        <p:spPr>
          <a:xfrm xmlns:a="http://schemas.openxmlformats.org/drawingml/2006/main">
            <a:off x="571500" y="6877050"/>
            <a:ext cx="14097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A94D16"/>
                </a:solidFill>
                <a:latin typeface="Arial"/>
                <a:ea typeface="Arial"/>
                <a:cs typeface="Arial"/>
              </a:defRPr>
            </a:pPr>
            <a:r>
              <a:rPr sz="3000" b="1">
                <a:solidFill>
                  <a:srgbClr val="A94D16"/>
                </a:solidFill>
                <a:latin typeface="Arial"/>
                <a:ea typeface="Arial"/>
                <a:cs typeface="Arial"/>
              </a:rPr>
              <a:t>De hoeveelheid daalt: 80 → 60 puzzels per week.</a:t>
            </a:r>
          </a:p>
        </p:txBody>
      </p:sp>
    </p:spTree>
    <p:extLst>
      <p:ext uri="{BB962C8B-B14F-4D97-AF65-F5344CB8AC3E}">
        <p14:creationId xmlns:p14="http://schemas.microsoft.com/office/powerpoint/2010/main" val="79208458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Beide prijzen bij dezelfde Qt">
            <a:extLst xmlns:a="http://schemas.openxmlformats.org/drawingml/2006/main">
              <a:ext uri="{FF2B5EF4-FFF2-40B4-BE49-F238E27FC236}">
                <a16:creationId xmlns:a16="http://schemas.microsoft.com/office/drawing/2014/main" id="{835E4C45-AC2F-464B-9C3B-024A26F59519}"/>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Beide prijzen bij dezelfde Qt</a:t>
            </a:r>
          </a:p>
        </p:txBody>
      </p:sp>
      <p:sp>
        <p:nvSpPr>
          <p:cNvPr id="2" name="">
            <a:extLst xmlns:a="http://schemas.openxmlformats.org/drawingml/2006/main">
              <a:ext uri="{FF2B5EF4-FFF2-40B4-BE49-F238E27FC236}">
                <a16:creationId xmlns:a16="http://schemas.microsoft.com/office/drawing/2014/main" id="{70A81AD3-6BE6-4FAC-A334-6AC702B55F66}"/>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1EE71ADE-B71D-4999-9880-54E155FBA768}"/>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Uitlegvoorbeeld — niet uit het boek</a:t>
            </a:r>
          </a:p>
        </p:txBody>
      </p:sp>
      <p:sp>
        <p:nvSpPr>
          <p:cNvPr id="4" name="slide-number">
            <a:extLst xmlns:a="http://schemas.openxmlformats.org/drawingml/2006/main">
              <a:ext uri="{FF2B5EF4-FFF2-40B4-BE49-F238E27FC236}">
                <a16:creationId xmlns:a16="http://schemas.microsoft.com/office/drawing/2014/main" id="{F41E2C6A-A7BE-4FBB-BB35-A8BF1BB950FF}"/>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9</a:t>
            </a:r>
          </a:p>
        </p:txBody>
      </p:sp>
      <p:sp>
        <p:nvSpPr>
          <p:cNvPr id="5" name="Qt = 60 puzzels per week">
            <a:extLst xmlns:a="http://schemas.openxmlformats.org/drawingml/2006/main">
              <a:ext uri="{FF2B5EF4-FFF2-40B4-BE49-F238E27FC236}">
                <a16:creationId xmlns:a16="http://schemas.microsoft.com/office/drawing/2014/main" id="{BE9F7B5B-9D4A-4355-B3E9-2EC79F853E62}"/>
              </a:ext>
            </a:extLst>
          </p:cNvPr>
          <p:cNvSpPr>
            <a:spLocks xmlns:a="http://schemas.openxmlformats.org/drawingml/2006/main" noGrp="1"/>
          </p:cNvSpPr>
          <p:nvPr/>
        </p:nvSpPr>
        <p:spPr>
          <a:xfrm xmlns:a="http://schemas.openxmlformats.org/drawingml/2006/main">
            <a:off x="571500" y="1809750"/>
            <a:ext cx="14097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1">
                <a:solidFill>
                  <a:srgbClr val="183247"/>
                </a:solidFill>
                <a:latin typeface="Arial"/>
                <a:ea typeface="Arial"/>
                <a:cs typeface="Arial"/>
              </a:defRPr>
            </a:pPr>
            <a:r>
              <a:rPr sz="3075" b="1">
                <a:solidFill>
                  <a:srgbClr val="183247"/>
                </a:solidFill>
                <a:latin typeface="Arial"/>
                <a:ea typeface="Arial"/>
                <a:cs typeface="Arial"/>
              </a:rPr>
              <a:t>Qt = 60 puzzels per week</a:t>
            </a:r>
          </a:p>
        </p:txBody>
      </p:sp>
      <p:sp>
        <p:nvSpPr>
          <p:cNvPr id="6" name="Koper · V">
            <a:extLst xmlns:a="http://schemas.openxmlformats.org/drawingml/2006/main">
              <a:ext uri="{FF2B5EF4-FFF2-40B4-BE49-F238E27FC236}">
                <a16:creationId xmlns:a16="http://schemas.microsoft.com/office/drawing/2014/main" id="{B6014233-9F49-45F4-A7D3-48449432011B}"/>
              </a:ext>
            </a:extLst>
          </p:cNvPr>
          <p:cNvSpPr>
            <a:spLocks xmlns:a="http://schemas.openxmlformats.org/drawingml/2006/main" noGrp="1"/>
          </p:cNvSpPr>
          <p:nvPr/>
        </p:nvSpPr>
        <p:spPr>
          <a:xfrm xmlns:a="http://schemas.openxmlformats.org/drawingml/2006/main">
            <a:off x="571500" y="3028950"/>
            <a:ext cx="4381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1A5276"/>
                </a:solidFill>
                <a:latin typeface="Arial"/>
                <a:ea typeface="Arial"/>
                <a:cs typeface="Arial"/>
              </a:defRPr>
            </a:pPr>
            <a:r>
              <a:rPr sz="2775" b="1">
                <a:solidFill>
                  <a:srgbClr val="1A5276"/>
                </a:solidFill>
                <a:latin typeface="Arial"/>
                <a:ea typeface="Arial"/>
                <a:cs typeface="Arial"/>
              </a:rPr>
              <a:t>Koper · V</a:t>
            </a:r>
          </a:p>
        </p:txBody>
      </p:sp>
      <p:sp>
        <p:nvSpPr>
          <p:cNvPr id="7" name="Pc = 26 − 0,20 × 60 = € 14">
            <a:extLst xmlns:a="http://schemas.openxmlformats.org/drawingml/2006/main">
              <a:ext uri="{FF2B5EF4-FFF2-40B4-BE49-F238E27FC236}">
                <a16:creationId xmlns:a16="http://schemas.microsoft.com/office/drawing/2014/main" id="{264B3B73-7E36-4E25-B03E-B515806C371A}"/>
              </a:ext>
            </a:extLst>
          </p:cNvPr>
          <p:cNvSpPr>
            <a:spLocks xmlns:a="http://schemas.openxmlformats.org/drawingml/2006/main" noGrp="1"/>
          </p:cNvSpPr>
          <p:nvPr/>
        </p:nvSpPr>
        <p:spPr>
          <a:xfrm xmlns:a="http://schemas.openxmlformats.org/drawingml/2006/main">
            <a:off x="5334000" y="3028950"/>
            <a:ext cx="9334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183247"/>
                </a:solidFill>
                <a:latin typeface="Arial"/>
                <a:ea typeface="Arial"/>
                <a:cs typeface="Arial"/>
              </a:defRPr>
            </a:pPr>
            <a:r>
              <a:rPr sz="3375" b="1">
                <a:solidFill>
                  <a:srgbClr val="183247"/>
                </a:solidFill>
                <a:latin typeface="Arial"/>
                <a:ea typeface="Arial"/>
                <a:cs typeface="Arial"/>
              </a:rPr>
              <a:t>Pc = 26 − 0,20 × 60 = € 14</a:t>
            </a:r>
          </a:p>
        </p:txBody>
      </p:sp>
      <p:sp>
        <p:nvSpPr>
          <p:cNvPr id="8" name="Verkoper · A">
            <a:extLst xmlns:a="http://schemas.openxmlformats.org/drawingml/2006/main">
              <a:ext uri="{FF2B5EF4-FFF2-40B4-BE49-F238E27FC236}">
                <a16:creationId xmlns:a16="http://schemas.microsoft.com/office/drawing/2014/main" id="{41DD39F0-F768-4CF1-8E97-86779FD537D1}"/>
              </a:ext>
            </a:extLst>
          </p:cNvPr>
          <p:cNvSpPr>
            <a:spLocks xmlns:a="http://schemas.openxmlformats.org/drawingml/2006/main" noGrp="1"/>
          </p:cNvSpPr>
          <p:nvPr/>
        </p:nvSpPr>
        <p:spPr>
          <a:xfrm xmlns:a="http://schemas.openxmlformats.org/drawingml/2006/main">
            <a:off x="571500" y="4514850"/>
            <a:ext cx="4381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1E8449"/>
                </a:solidFill>
                <a:latin typeface="Arial"/>
                <a:ea typeface="Arial"/>
                <a:cs typeface="Arial"/>
              </a:defRPr>
            </a:pPr>
            <a:r>
              <a:rPr sz="2775" b="1">
                <a:solidFill>
                  <a:srgbClr val="1E8449"/>
                </a:solidFill>
                <a:latin typeface="Arial"/>
                <a:ea typeface="Arial"/>
                <a:cs typeface="Arial"/>
              </a:rPr>
              <a:t>Verkoper · A</a:t>
            </a:r>
          </a:p>
        </p:txBody>
      </p:sp>
      <p:sp>
        <p:nvSpPr>
          <p:cNvPr id="9" name="Pp = 2 + 0,10 × 60 = € 8">
            <a:extLst xmlns:a="http://schemas.openxmlformats.org/drawingml/2006/main">
              <a:ext uri="{FF2B5EF4-FFF2-40B4-BE49-F238E27FC236}">
                <a16:creationId xmlns:a16="http://schemas.microsoft.com/office/drawing/2014/main" id="{CCDEF47F-A832-46AB-8817-3DDC70BDF8A1}"/>
              </a:ext>
            </a:extLst>
          </p:cNvPr>
          <p:cNvSpPr>
            <a:spLocks xmlns:a="http://schemas.openxmlformats.org/drawingml/2006/main" noGrp="1"/>
          </p:cNvSpPr>
          <p:nvPr/>
        </p:nvSpPr>
        <p:spPr>
          <a:xfrm xmlns:a="http://schemas.openxmlformats.org/drawingml/2006/main">
            <a:off x="5334000" y="4514850"/>
            <a:ext cx="9334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183247"/>
                </a:solidFill>
                <a:latin typeface="Arial"/>
                <a:ea typeface="Arial"/>
                <a:cs typeface="Arial"/>
              </a:defRPr>
            </a:pPr>
            <a:r>
              <a:rPr sz="3375" b="1">
                <a:solidFill>
                  <a:srgbClr val="183247"/>
                </a:solidFill>
                <a:latin typeface="Arial"/>
                <a:ea typeface="Arial"/>
                <a:cs typeface="Arial"/>
              </a:rPr>
              <a:t>Pp = 2 + 0,10 × 60 = € 8</a:t>
            </a:r>
          </a:p>
        </p:txBody>
      </p:sp>
      <p:sp>
        <p:nvSpPr>
          <p:cNvPr id="10" name="Controle: Pc − Pp = 14 − 8 = € 6 per puzzel">
            <a:extLst xmlns:a="http://schemas.openxmlformats.org/drawingml/2006/main">
              <a:ext uri="{FF2B5EF4-FFF2-40B4-BE49-F238E27FC236}">
                <a16:creationId xmlns:a16="http://schemas.microsoft.com/office/drawing/2014/main" id="{A5748CD3-3B73-49D0-BD82-B41EE957B656}"/>
              </a:ext>
            </a:extLst>
          </p:cNvPr>
          <p:cNvSpPr>
            <a:spLocks xmlns:a="http://schemas.openxmlformats.org/drawingml/2006/main" noGrp="1"/>
          </p:cNvSpPr>
          <p:nvPr/>
        </p:nvSpPr>
        <p:spPr>
          <a:xfrm xmlns:a="http://schemas.openxmlformats.org/drawingml/2006/main">
            <a:off x="571500" y="6715125"/>
            <a:ext cx="14097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A94D16"/>
                </a:solidFill>
                <a:latin typeface="Arial"/>
                <a:ea typeface="Arial"/>
                <a:cs typeface="Arial"/>
              </a:defRPr>
            </a:pPr>
            <a:r>
              <a:rPr sz="3225" b="1">
                <a:solidFill>
                  <a:srgbClr val="A94D16"/>
                </a:solidFill>
                <a:latin typeface="Arial"/>
                <a:ea typeface="Arial"/>
                <a:cs typeface="Arial"/>
              </a:rPr>
              <a:t>Controle: Pc − Pp = 14 − 8 = € 6 per puzzel</a:t>
            </a:r>
          </a:p>
        </p:txBody>
      </p:sp>
    </p:spTree>
    <p:extLst>
      <p:ext uri="{BB962C8B-B14F-4D97-AF65-F5344CB8AC3E}">
        <p14:creationId xmlns:p14="http://schemas.microsoft.com/office/powerpoint/2010/main" val="71827394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De belastingwig bij Qt = 60">
            <a:extLst xmlns:a="http://schemas.openxmlformats.org/drawingml/2006/main">
              <a:ext uri="{FF2B5EF4-FFF2-40B4-BE49-F238E27FC236}">
                <a16:creationId xmlns:a16="http://schemas.microsoft.com/office/drawing/2014/main" id="{04760823-D8E7-4C5F-98F6-D23BEBA2B42D}"/>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De belastingwig bij Qt = 60</a:t>
            </a:r>
          </a:p>
        </p:txBody>
      </p:sp>
      <p:sp>
        <p:nvSpPr>
          <p:cNvPr id="2" name="">
            <a:extLst xmlns:a="http://schemas.openxmlformats.org/drawingml/2006/main">
              <a:ext uri="{FF2B5EF4-FFF2-40B4-BE49-F238E27FC236}">
                <a16:creationId xmlns:a16="http://schemas.microsoft.com/office/drawing/2014/main" id="{24D4D8DC-2CE3-48CC-ABDB-EBAD8C2F46E2}"/>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FEF9979E-6137-4634-860F-320AD8601785}"/>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Uitlegvoorbeeld — niet uit het boek</a:t>
            </a:r>
          </a:p>
        </p:txBody>
      </p:sp>
      <p:sp>
        <p:nvSpPr>
          <p:cNvPr id="4" name="slide-number">
            <a:extLst xmlns:a="http://schemas.openxmlformats.org/drawingml/2006/main">
              <a:ext uri="{FF2B5EF4-FFF2-40B4-BE49-F238E27FC236}">
                <a16:creationId xmlns:a16="http://schemas.microsoft.com/office/drawing/2014/main" id="{F273A74A-530F-4682-B08F-B82A49A747C6}"/>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10</a:t>
            </a:r>
          </a:p>
        </p:txBody>
      </p:sp>
      <p:graphicFrame>
        <p:nvGraphicFramePr>
          <p:cNvPr id="13" name="Chart"/>
          <p:cNvGraphicFramePr/>
          <p:nvPr/>
        </p:nvGraphicFramePr>
        <p:xfrm>
          <a:off xmlns:a="http://schemas.openxmlformats.org/drawingml/2006/main" x="571500" y="2085975"/>
          <a:ext xmlns:a="http://schemas.openxmlformats.org/drawingml/2006/main" cx="9906000" cy="5429250"/>
        </p:xfrm>
        <a:graphic xmlns:a="http://schemas.openxmlformats.org/drawingml/2006/main">
          <a:graphicData uri="http://schemas.openxmlformats.org/drawingml/2006/chart">
            <c:chart xmlns:r="http://schemas.openxmlformats.org/officeDocument/2006/relationships" xmlns:c="http://schemas.openxmlformats.org/drawingml/2006/chart" r:id="R17a80cf48fd7497c"/>
          </a:graphicData>
        </a:graphic>
      </p:graphicFrame>
      <p:sp>
        <p:nvSpPr>
          <p:cNvPr id="6" name="Pc = € 14&#10;op V en A + t">
            <a:extLst xmlns:a="http://schemas.openxmlformats.org/drawingml/2006/main">
              <a:ext uri="{FF2B5EF4-FFF2-40B4-BE49-F238E27FC236}">
                <a16:creationId xmlns:a16="http://schemas.microsoft.com/office/drawing/2014/main" id="{C5A1754B-35DB-4ADE-AC99-A0367DBBE9F2}"/>
              </a:ext>
            </a:extLst>
          </p:cNvPr>
          <p:cNvSpPr>
            <a:spLocks xmlns:a="http://schemas.openxmlformats.org/drawingml/2006/main" noGrp="1"/>
          </p:cNvSpPr>
          <p:nvPr/>
        </p:nvSpPr>
        <p:spPr>
          <a:xfrm xmlns:a="http://schemas.openxmlformats.org/drawingml/2006/main">
            <a:off x="10953750" y="2362200"/>
            <a:ext cx="37147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1A5276"/>
                </a:solidFill>
                <a:latin typeface="Arial"/>
                <a:ea typeface="Arial"/>
                <a:cs typeface="Arial"/>
              </a:defRPr>
            </a:pPr>
            <a:r>
              <a:rPr sz="2775" b="1">
                <a:solidFill>
                  <a:srgbClr val="1A5276"/>
                </a:solidFill>
                <a:latin typeface="Arial"/>
                <a:ea typeface="Arial"/>
                <a:cs typeface="Arial"/>
              </a:rPr>
              <a:t>Pc = € 14</a:t>
            </a:r>
          </a:p>
          <a:p xmlns:a="http://schemas.openxmlformats.org/drawingml/2006/main">
            <a:pPr algn="l">
              <a:defRPr sz="2775" b="1">
                <a:solidFill>
                  <a:srgbClr val="1A5276"/>
                </a:solidFill>
                <a:latin typeface="Arial"/>
                <a:ea typeface="Arial"/>
                <a:cs typeface="Arial"/>
              </a:defRPr>
            </a:pPr>
            <a:r>
              <a:rPr sz="2775" b="1">
                <a:solidFill>
                  <a:srgbClr val="1A5276"/>
                </a:solidFill>
                <a:latin typeface="Arial"/>
                <a:ea typeface="Arial"/>
                <a:cs typeface="Arial"/>
              </a:rPr>
              <a:t>op V en A + t</a:t>
            </a:r>
          </a:p>
        </p:txBody>
      </p:sp>
      <p:sp>
        <p:nvSpPr>
          <p:cNvPr id="7" name="Pp = € 8&#10;op A">
            <a:extLst xmlns:a="http://schemas.openxmlformats.org/drawingml/2006/main">
              <a:ext uri="{FF2B5EF4-FFF2-40B4-BE49-F238E27FC236}">
                <a16:creationId xmlns:a16="http://schemas.microsoft.com/office/drawing/2014/main" id="{DC42A7E7-06C3-4C1A-BDBB-1079890E5685}"/>
              </a:ext>
            </a:extLst>
          </p:cNvPr>
          <p:cNvSpPr>
            <a:spLocks xmlns:a="http://schemas.openxmlformats.org/drawingml/2006/main" noGrp="1"/>
          </p:cNvSpPr>
          <p:nvPr/>
        </p:nvSpPr>
        <p:spPr>
          <a:xfrm xmlns:a="http://schemas.openxmlformats.org/drawingml/2006/main">
            <a:off x="10953750" y="4038600"/>
            <a:ext cx="3714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1E8449"/>
                </a:solidFill>
                <a:latin typeface="Arial"/>
                <a:ea typeface="Arial"/>
                <a:cs typeface="Arial"/>
              </a:defRPr>
            </a:pPr>
            <a:r>
              <a:rPr sz="2775" b="1">
                <a:solidFill>
                  <a:srgbClr val="1E8449"/>
                </a:solidFill>
                <a:latin typeface="Arial"/>
                <a:ea typeface="Arial"/>
                <a:cs typeface="Arial"/>
              </a:rPr>
              <a:t>Pp = € 8</a:t>
            </a:r>
          </a:p>
          <a:p xmlns:a="http://schemas.openxmlformats.org/drawingml/2006/main">
            <a:pPr algn="l">
              <a:defRPr sz="2775" b="1">
                <a:solidFill>
                  <a:srgbClr val="1E8449"/>
                </a:solidFill>
                <a:latin typeface="Arial"/>
                <a:ea typeface="Arial"/>
                <a:cs typeface="Arial"/>
              </a:defRPr>
            </a:pPr>
            <a:r>
              <a:rPr sz="2775" b="1">
                <a:solidFill>
                  <a:srgbClr val="1E8449"/>
                </a:solidFill>
                <a:latin typeface="Arial"/>
                <a:ea typeface="Arial"/>
                <a:cs typeface="Arial"/>
              </a:rPr>
              <a:t>op A</a:t>
            </a:r>
          </a:p>
        </p:txBody>
      </p:sp>
      <p:sp>
        <p:nvSpPr>
          <p:cNvPr id="8" name="Verticale wig:&#10;14 − 8 = € 6">
            <a:extLst xmlns:a="http://schemas.openxmlformats.org/drawingml/2006/main">
              <a:ext uri="{FF2B5EF4-FFF2-40B4-BE49-F238E27FC236}">
                <a16:creationId xmlns:a16="http://schemas.microsoft.com/office/drawing/2014/main" id="{14C3C350-1878-407C-996B-019A0F129159}"/>
              </a:ext>
            </a:extLst>
          </p:cNvPr>
          <p:cNvSpPr>
            <a:spLocks xmlns:a="http://schemas.openxmlformats.org/drawingml/2006/main" noGrp="1"/>
          </p:cNvSpPr>
          <p:nvPr/>
        </p:nvSpPr>
        <p:spPr>
          <a:xfrm xmlns:a="http://schemas.openxmlformats.org/drawingml/2006/main">
            <a:off x="10953750" y="6257925"/>
            <a:ext cx="37147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A94D16"/>
                </a:solidFill>
                <a:latin typeface="Arial"/>
                <a:ea typeface="Arial"/>
                <a:cs typeface="Arial"/>
              </a:defRPr>
            </a:pPr>
            <a:r>
              <a:rPr sz="2775" b="1">
                <a:solidFill>
                  <a:srgbClr val="A94D16"/>
                </a:solidFill>
                <a:latin typeface="Arial"/>
                <a:ea typeface="Arial"/>
                <a:cs typeface="Arial"/>
              </a:rPr>
              <a:t>Verticale wig:</a:t>
            </a:r>
          </a:p>
          <a:p xmlns:a="http://schemas.openxmlformats.org/drawingml/2006/main">
            <a:pPr algn="l">
              <a:defRPr sz="2775" b="1">
                <a:solidFill>
                  <a:srgbClr val="A94D16"/>
                </a:solidFill>
                <a:latin typeface="Arial"/>
                <a:ea typeface="Arial"/>
                <a:cs typeface="Arial"/>
              </a:defRPr>
            </a:pPr>
            <a:r>
              <a:rPr sz="2775" b="1">
                <a:solidFill>
                  <a:srgbClr val="A94D16"/>
                </a:solidFill>
                <a:latin typeface="Arial"/>
                <a:ea typeface="Arial"/>
                <a:cs typeface="Arial"/>
              </a:rPr>
              <a:t>14 − 8 = € 6</a:t>
            </a:r>
          </a:p>
        </p:txBody>
      </p:sp>
    </p:spTree>
    <p:extLst>
      <p:ext uri="{BB962C8B-B14F-4D97-AF65-F5344CB8AC3E}">
        <p14:creationId xmlns:p14="http://schemas.microsoft.com/office/powerpoint/2010/main" val="867306348"/>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Afdragen en de last dragen">
            <a:extLst xmlns:a="http://schemas.openxmlformats.org/drawingml/2006/main">
              <a:ext uri="{FF2B5EF4-FFF2-40B4-BE49-F238E27FC236}">
                <a16:creationId xmlns:a16="http://schemas.microsoft.com/office/drawing/2014/main" id="{86D2DBD1-0E44-42FA-85BC-0582A2242427}"/>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Afdragen en de last dragen</a:t>
            </a:r>
          </a:p>
        </p:txBody>
      </p:sp>
      <p:sp>
        <p:nvSpPr>
          <p:cNvPr id="2" name="">
            <a:extLst xmlns:a="http://schemas.openxmlformats.org/drawingml/2006/main">
              <a:ext uri="{FF2B5EF4-FFF2-40B4-BE49-F238E27FC236}">
                <a16:creationId xmlns:a16="http://schemas.microsoft.com/office/drawing/2014/main" id="{1E92E429-EF7A-4FE7-AE9D-9B8955BE0996}"/>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64D7951D-C334-441C-89CC-29AB37651FED}"/>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Uitlegvoorbeeld — niet uit het boek</a:t>
            </a:r>
          </a:p>
        </p:txBody>
      </p:sp>
      <p:sp>
        <p:nvSpPr>
          <p:cNvPr id="4" name="slide-number">
            <a:extLst xmlns:a="http://schemas.openxmlformats.org/drawingml/2006/main">
              <a:ext uri="{FF2B5EF4-FFF2-40B4-BE49-F238E27FC236}">
                <a16:creationId xmlns:a16="http://schemas.microsoft.com/office/drawing/2014/main" id="{CC029C5A-CCE8-4421-B615-06BEBF59A14E}"/>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11</a:t>
            </a:r>
          </a:p>
        </p:txBody>
      </p:sp>
      <p:graphicFrame>
        <p:nvGraphicFramePr>
          <p:cNvPr id="13" name=""/>
          <p:cNvGraphicFramePr/>
          <p:nvPr/>
        </p:nvGraphicFramePr>
        <p:xfrm>
          <a:off xmlns:a="http://schemas.openxmlformats.org/drawingml/2006/main" x="571500" y="2152650"/>
          <a:ext xmlns:a="http://schemas.openxmlformats.org/drawingml/2006/main" cx="14097000" cy="2857500"/>
        </p:xfrm>
        <a:graphic xmlns:a="http://schemas.openxmlformats.org/drawingml/2006/main">
          <a:graphicData uri="http://schemas.openxmlformats.org/drawingml/2006/table">
            <a:tbl>
              <a:tblPr/>
              <a:tblGrid>
                <a:gridCol w="6477000"/>
                <a:gridCol w="3810000"/>
                <a:gridCol w="3810000"/>
              </a:tblGrid>
              <a:tr h="952500">
                <a:tc>
                  <a:txBody>
                    <a:bodyPr lIns="171450" tIns="95250" rIns="152400" bIns="95250"/>
                    <a:lstStyle/>
                    <a:p>
                      <a:r>
                        <a:rPr sz="2700" b="1">
                          <a:solidFill>
                            <a:srgbClr val="FFFFFF"/>
                          </a:solidFill>
                          <a:latin typeface="Arial"/>
                          <a:ea typeface="Arial"/>
                          <a:cs typeface="Arial"/>
                        </a:rPr>
                        <a:t>Per puzzel</a:t>
                      </a:r>
                    </a:p>
                  </a:txBody>
                  <a:tcPr marL="91440" marR="91440" marT="45720" marB="45720" anchor="ctr">
                    <a:solidFill>
                      <a:srgbClr val="183247"/>
                    </a:solidFill>
                  </a:tcPr>
                </a:tc>
                <a:tc>
                  <a:txBody>
                    <a:bodyPr lIns="171450" tIns="95250" rIns="152400" bIns="95250"/>
                    <a:lstStyle/>
                    <a:p>
                      <a:r>
                        <a:rPr sz="2700" b="1">
                          <a:solidFill>
                            <a:srgbClr val="FFFFFF"/>
                          </a:solidFill>
                          <a:latin typeface="Arial"/>
                          <a:ea typeface="Arial"/>
                          <a:cs typeface="Arial"/>
                        </a:rPr>
                        <a:t>Zonder belasting</a:t>
                      </a:r>
                    </a:p>
                  </a:txBody>
                  <a:tcPr marL="91440" marR="91440" marT="45720" marB="45720" anchor="ctr">
                    <a:solidFill>
                      <a:srgbClr val="183247"/>
                    </a:solidFill>
                  </a:tcPr>
                </a:tc>
                <a:tc>
                  <a:txBody>
                    <a:bodyPr lIns="171450" tIns="95250" rIns="152400" bIns="95250"/>
                    <a:lstStyle/>
                    <a:p>
                      <a:r>
                        <a:rPr sz="2700" b="1">
                          <a:solidFill>
                            <a:srgbClr val="FFFFFF"/>
                          </a:solidFill>
                          <a:latin typeface="Arial"/>
                          <a:ea typeface="Arial"/>
                          <a:cs typeface="Arial"/>
                        </a:rPr>
                        <a:t>Met belasting</a:t>
                      </a:r>
                    </a:p>
                  </a:txBody>
                  <a:tcPr marL="91440" marR="91440" marT="45720" marB="45720" anchor="ctr">
                    <a:solidFill>
                      <a:srgbClr val="183247"/>
                    </a:solidFill>
                  </a:tcPr>
                </a:tc>
              </a:tr>
              <a:tr h="952500">
                <a:tc>
                  <a:txBody>
                    <a:bodyPr lIns="171450" tIns="95250" rIns="152400" bIns="95250"/>
                    <a:lstStyle/>
                    <a:p>
                      <a:r>
                        <a:rPr sz="2700" b="0">
                          <a:solidFill>
                            <a:srgbClr val="183247"/>
                          </a:solidFill>
                          <a:latin typeface="Arial"/>
                          <a:ea typeface="Arial"/>
                          <a:cs typeface="Arial"/>
                        </a:rPr>
                        <a:t>Koper betaalt</a:t>
                      </a:r>
                    </a:p>
                  </a:txBody>
                  <a:tcPr marL="91440" marR="91440" marT="45720" marB="45720" anchor="ctr">
                    <a:solidFill>
                      <a:srgbClr val="FFFFFF"/>
                    </a:solidFill>
                  </a:tcPr>
                </a:tc>
                <a:tc>
                  <a:txBody>
                    <a:bodyPr lIns="171450" tIns="95250" rIns="152400" bIns="95250"/>
                    <a:lstStyle/>
                    <a:p>
                      <a:r>
                        <a:rPr sz="2700" b="0">
                          <a:solidFill>
                            <a:srgbClr val="183247"/>
                          </a:solidFill>
                          <a:latin typeface="Arial"/>
                          <a:ea typeface="Arial"/>
                          <a:cs typeface="Arial"/>
                        </a:rPr>
                        <a:t>€ 10</a:t>
                      </a:r>
                    </a:p>
                  </a:txBody>
                  <a:tcPr marL="91440" marR="91440" marT="45720" marB="45720" anchor="ctr">
                    <a:solidFill>
                      <a:srgbClr val="FFFFFF"/>
                    </a:solidFill>
                  </a:tcPr>
                </a:tc>
                <a:tc>
                  <a:txBody>
                    <a:bodyPr lIns="171450" tIns="95250" rIns="152400" bIns="95250"/>
                    <a:lstStyle/>
                    <a:p>
                      <a:r>
                        <a:rPr sz="2700" b="0">
                          <a:solidFill>
                            <a:srgbClr val="183247"/>
                          </a:solidFill>
                          <a:latin typeface="Arial"/>
                          <a:ea typeface="Arial"/>
                          <a:cs typeface="Arial"/>
                        </a:rPr>
                        <a:t>€ 14</a:t>
                      </a:r>
                    </a:p>
                  </a:txBody>
                  <a:tcPr marL="91440" marR="91440" marT="45720" marB="45720" anchor="ctr">
                    <a:solidFill>
                      <a:srgbClr val="FFFFFF"/>
                    </a:solidFill>
                  </a:tcPr>
                </a:tc>
              </a:tr>
              <a:tr h="952500">
                <a:tc>
                  <a:txBody>
                    <a:bodyPr lIns="171450" tIns="95250" rIns="152400" bIns="95250"/>
                    <a:lstStyle/>
                    <a:p>
                      <a:r>
                        <a:rPr sz="2700" b="0">
                          <a:solidFill>
                            <a:srgbClr val="183247"/>
                          </a:solidFill>
                          <a:latin typeface="Arial"/>
                          <a:ea typeface="Arial"/>
                          <a:cs typeface="Arial"/>
                        </a:rPr>
                        <a:t>Verkoper ontvangt vóór kosten</a:t>
                      </a:r>
                    </a:p>
                  </a:txBody>
                  <a:tcPr marL="91440" marR="91440" marT="45720" marB="45720" anchor="ctr">
                    <a:solidFill>
                      <a:srgbClr val="EFF4F7"/>
                    </a:solidFill>
                  </a:tcPr>
                </a:tc>
                <a:tc>
                  <a:txBody>
                    <a:bodyPr lIns="171450" tIns="95250" rIns="152400" bIns="95250"/>
                    <a:lstStyle/>
                    <a:p>
                      <a:r>
                        <a:rPr sz="2700" b="0">
                          <a:solidFill>
                            <a:srgbClr val="183247"/>
                          </a:solidFill>
                          <a:latin typeface="Arial"/>
                          <a:ea typeface="Arial"/>
                          <a:cs typeface="Arial"/>
                        </a:rPr>
                        <a:t>€ 10</a:t>
                      </a:r>
                    </a:p>
                  </a:txBody>
                  <a:tcPr marL="91440" marR="91440" marT="45720" marB="45720" anchor="ctr">
                    <a:solidFill>
                      <a:srgbClr val="EFF4F7"/>
                    </a:solidFill>
                  </a:tcPr>
                </a:tc>
                <a:tc>
                  <a:txBody>
                    <a:bodyPr lIns="171450" tIns="95250" rIns="152400" bIns="95250"/>
                    <a:lstStyle/>
                    <a:p>
                      <a:r>
                        <a:rPr sz="2700" b="0">
                          <a:solidFill>
                            <a:srgbClr val="183247"/>
                          </a:solidFill>
                          <a:latin typeface="Arial"/>
                          <a:ea typeface="Arial"/>
                          <a:cs typeface="Arial"/>
                        </a:rPr>
                        <a:t>€ 8</a:t>
                      </a:r>
                    </a:p>
                  </a:txBody>
                  <a:tcPr marL="91440" marR="91440" marT="45720" marB="45720" anchor="ctr">
                    <a:solidFill>
                      <a:srgbClr val="EFF4F7"/>
                    </a:solidFill>
                  </a:tcPr>
                </a:tc>
              </a:tr>
            </a:tbl>
          </a:graphicData>
        </a:graphic>
      </p:graphicFrame>
      <p:sp>
        <p:nvSpPr>
          <p:cNvPr id="6" name="Koper: 14 − 10 = € 4 meer">
            <a:extLst xmlns:a="http://schemas.openxmlformats.org/drawingml/2006/main">
              <a:ext uri="{FF2B5EF4-FFF2-40B4-BE49-F238E27FC236}">
                <a16:creationId xmlns:a16="http://schemas.microsoft.com/office/drawing/2014/main" id="{0D4C744A-F4B4-47D0-8F7A-319BE62452E6}"/>
              </a:ext>
            </a:extLst>
          </p:cNvPr>
          <p:cNvSpPr>
            <a:spLocks xmlns:a="http://schemas.openxmlformats.org/drawingml/2006/main" noGrp="1"/>
          </p:cNvSpPr>
          <p:nvPr/>
        </p:nvSpPr>
        <p:spPr>
          <a:xfrm xmlns:a="http://schemas.openxmlformats.org/drawingml/2006/main">
            <a:off x="571500" y="5581650"/>
            <a:ext cx="1409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A5276"/>
                </a:solidFill>
                <a:latin typeface="Arial"/>
                <a:ea typeface="Arial"/>
                <a:cs typeface="Arial"/>
              </a:defRPr>
            </a:pPr>
            <a:r>
              <a:rPr sz="3225" b="1">
                <a:solidFill>
                  <a:srgbClr val="1A5276"/>
                </a:solidFill>
                <a:latin typeface="Arial"/>
                <a:ea typeface="Arial"/>
                <a:cs typeface="Arial"/>
              </a:rPr>
              <a:t>Koper: 14 − 10 = € 4 meer</a:t>
            </a:r>
          </a:p>
        </p:txBody>
      </p:sp>
      <p:sp>
        <p:nvSpPr>
          <p:cNvPr id="7" name="Verkoper: 10 − 8 = € 2 minder">
            <a:extLst xmlns:a="http://schemas.openxmlformats.org/drawingml/2006/main">
              <a:ext uri="{FF2B5EF4-FFF2-40B4-BE49-F238E27FC236}">
                <a16:creationId xmlns:a16="http://schemas.microsoft.com/office/drawing/2014/main" id="{A0B60234-46A7-44F8-B5CF-54C725843269}"/>
              </a:ext>
            </a:extLst>
          </p:cNvPr>
          <p:cNvSpPr>
            <a:spLocks xmlns:a="http://schemas.openxmlformats.org/drawingml/2006/main" noGrp="1"/>
          </p:cNvSpPr>
          <p:nvPr/>
        </p:nvSpPr>
        <p:spPr>
          <a:xfrm xmlns:a="http://schemas.openxmlformats.org/drawingml/2006/main">
            <a:off x="571500" y="6515100"/>
            <a:ext cx="1409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E8449"/>
                </a:solidFill>
                <a:latin typeface="Arial"/>
                <a:ea typeface="Arial"/>
                <a:cs typeface="Arial"/>
              </a:defRPr>
            </a:pPr>
            <a:r>
              <a:rPr sz="3225" b="1">
                <a:solidFill>
                  <a:srgbClr val="1E8449"/>
                </a:solidFill>
                <a:latin typeface="Arial"/>
                <a:ea typeface="Arial"/>
                <a:cs typeface="Arial"/>
              </a:rPr>
              <a:t>Verkoper: 10 − 8 = € 2 minder</a:t>
            </a:r>
          </a:p>
        </p:txBody>
      </p:sp>
      <p:sp>
        <p:nvSpPr>
          <p:cNvPr id="8" name="De verkoper draagt € 6 af; zijn last is € 2 per pu">
            <a:extLst xmlns:a="http://schemas.openxmlformats.org/drawingml/2006/main">
              <a:ext uri="{FF2B5EF4-FFF2-40B4-BE49-F238E27FC236}">
                <a16:creationId xmlns:a16="http://schemas.microsoft.com/office/drawing/2014/main" id="{3F9D9314-3E91-4BC6-97D2-3791633AEABB}"/>
              </a:ext>
            </a:extLst>
          </p:cNvPr>
          <p:cNvSpPr>
            <a:spLocks xmlns:a="http://schemas.openxmlformats.org/drawingml/2006/main" noGrp="1"/>
          </p:cNvSpPr>
          <p:nvPr/>
        </p:nvSpPr>
        <p:spPr>
          <a:xfrm xmlns:a="http://schemas.openxmlformats.org/drawingml/2006/main">
            <a:off x="571500" y="7467600"/>
            <a:ext cx="1409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A94D16"/>
                </a:solidFill>
                <a:latin typeface="Arial"/>
                <a:ea typeface="Arial"/>
                <a:cs typeface="Arial"/>
              </a:defRPr>
            </a:pPr>
            <a:r>
              <a:rPr sz="2475" b="1">
                <a:solidFill>
                  <a:srgbClr val="A94D16"/>
                </a:solidFill>
                <a:latin typeface="Arial"/>
                <a:ea typeface="Arial"/>
                <a:cs typeface="Arial"/>
              </a:rPr>
              <a:t>De verkoper draagt € 6 af; zijn last is € 2 per puzzel.</a:t>
            </a:r>
          </a:p>
        </p:txBody>
      </p:sp>
    </p:spTree>
    <p:extLst>
      <p:ext uri="{BB962C8B-B14F-4D97-AF65-F5344CB8AC3E}">
        <p14:creationId xmlns:p14="http://schemas.microsoft.com/office/powerpoint/2010/main" val="1290864042"/>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Korte controle · oude prijs + belasting">
            <a:extLst xmlns:a="http://schemas.openxmlformats.org/drawingml/2006/main">
              <a:ext uri="{FF2B5EF4-FFF2-40B4-BE49-F238E27FC236}">
                <a16:creationId xmlns:a16="http://schemas.microsoft.com/office/drawing/2014/main" id="{2E4AC1FC-DB49-4240-91F1-ED625D039EE5}"/>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Korte controle · oude prijs + belasting</a:t>
            </a:r>
          </a:p>
        </p:txBody>
      </p:sp>
      <p:sp>
        <p:nvSpPr>
          <p:cNvPr id="2" name="">
            <a:extLst xmlns:a="http://schemas.openxmlformats.org/drawingml/2006/main">
              <a:ext uri="{FF2B5EF4-FFF2-40B4-BE49-F238E27FC236}">
                <a16:creationId xmlns:a16="http://schemas.microsoft.com/office/drawing/2014/main" id="{5BF43748-C1A6-4955-9DED-0FB13C4550E1}"/>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8BFD5F10-91ED-43CD-AF0B-03A583D98409}"/>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Uitlegvoorbeeld — niet uit het boek</a:t>
            </a:r>
          </a:p>
        </p:txBody>
      </p:sp>
      <p:sp>
        <p:nvSpPr>
          <p:cNvPr id="4" name="slide-number">
            <a:extLst xmlns:a="http://schemas.openxmlformats.org/drawingml/2006/main">
              <a:ext uri="{FF2B5EF4-FFF2-40B4-BE49-F238E27FC236}">
                <a16:creationId xmlns:a16="http://schemas.microsoft.com/office/drawing/2014/main" id="{C51A4F12-407F-40D1-99EA-0F5B1EEA65DE}"/>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12</a:t>
            </a:r>
          </a:p>
        </p:txBody>
      </p:sp>
      <p:sp>
        <p:nvSpPr>
          <p:cNvPr id="5" name="“De oude prijs was € 10. Dus Pc wordt € 16.”">
            <a:extLst xmlns:a="http://schemas.openxmlformats.org/drawingml/2006/main">
              <a:ext uri="{FF2B5EF4-FFF2-40B4-BE49-F238E27FC236}">
                <a16:creationId xmlns:a16="http://schemas.microsoft.com/office/drawing/2014/main" id="{44DBF3F8-1D63-40C8-8441-E605DADDCF41}"/>
              </a:ext>
            </a:extLst>
          </p:cNvPr>
          <p:cNvSpPr>
            <a:spLocks xmlns:a="http://schemas.openxmlformats.org/drawingml/2006/main" noGrp="1"/>
          </p:cNvSpPr>
          <p:nvPr/>
        </p:nvSpPr>
        <p:spPr>
          <a:xfrm xmlns:a="http://schemas.openxmlformats.org/drawingml/2006/main">
            <a:off x="571500" y="2009775"/>
            <a:ext cx="140970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A5276"/>
                </a:solidFill>
                <a:latin typeface="Arial"/>
                <a:ea typeface="Arial"/>
                <a:cs typeface="Arial"/>
              </a:defRPr>
            </a:pPr>
            <a:r>
              <a:rPr sz="3600" b="1">
                <a:solidFill>
                  <a:srgbClr val="1A5276"/>
                </a:solidFill>
                <a:latin typeface="Arial"/>
                <a:ea typeface="Arial"/>
                <a:cs typeface="Arial"/>
              </a:rPr>
              <a:t>“De oude prijs was € 10. Dus Pc wordt € 16.”</a:t>
            </a:r>
          </a:p>
        </p:txBody>
      </p:sp>
      <p:sp>
        <p:nvSpPr>
          <p:cNvPr id="6" name="Klopt dit bij de houten puzzels?">
            <a:extLst xmlns:a="http://schemas.openxmlformats.org/drawingml/2006/main">
              <a:ext uri="{FF2B5EF4-FFF2-40B4-BE49-F238E27FC236}">
                <a16:creationId xmlns:a16="http://schemas.microsoft.com/office/drawing/2014/main" id="{D6C5CC05-EBE5-408C-8C7B-7C20F52DB793}"/>
              </a:ext>
            </a:extLst>
          </p:cNvPr>
          <p:cNvSpPr>
            <a:spLocks xmlns:a="http://schemas.openxmlformats.org/drawingml/2006/main" noGrp="1"/>
          </p:cNvSpPr>
          <p:nvPr/>
        </p:nvSpPr>
        <p:spPr>
          <a:xfrm xmlns:a="http://schemas.openxmlformats.org/drawingml/2006/main">
            <a:off x="571500" y="4143375"/>
            <a:ext cx="14097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0">
                <a:solidFill>
                  <a:srgbClr val="183247"/>
                </a:solidFill>
                <a:latin typeface="Arial"/>
                <a:ea typeface="Arial"/>
                <a:cs typeface="Arial"/>
              </a:defRPr>
            </a:pPr>
            <a:r>
              <a:rPr sz="3300" b="0">
                <a:solidFill>
                  <a:srgbClr val="183247"/>
                </a:solidFill>
                <a:latin typeface="Arial"/>
                <a:ea typeface="Arial"/>
                <a:cs typeface="Arial"/>
              </a:rPr>
              <a:t>Klopt dit bij de houten puzzels?</a:t>
            </a:r>
          </a:p>
        </p:txBody>
      </p:sp>
      <p:sp>
        <p:nvSpPr>
          <p:cNvPr id="7" name="V: Pc = 26 − 0,20Q&#10;A: Pp = 2 + 0,10Q · t = € 6">
            <a:extLst xmlns:a="http://schemas.openxmlformats.org/drawingml/2006/main">
              <a:ext uri="{FF2B5EF4-FFF2-40B4-BE49-F238E27FC236}">
                <a16:creationId xmlns:a16="http://schemas.microsoft.com/office/drawing/2014/main" id="{A06924CE-36DC-4D91-9145-F2F0D91741A2}"/>
              </a:ext>
            </a:extLst>
          </p:cNvPr>
          <p:cNvSpPr>
            <a:spLocks xmlns:a="http://schemas.openxmlformats.org/drawingml/2006/main" noGrp="1"/>
          </p:cNvSpPr>
          <p:nvPr/>
        </p:nvSpPr>
        <p:spPr>
          <a:xfrm xmlns:a="http://schemas.openxmlformats.org/drawingml/2006/main">
            <a:off x="571500" y="5600700"/>
            <a:ext cx="14097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V: Pc = 26 − 0,20Q</a:t>
            </a:r>
          </a:p>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A: Pp = 2 + 0,10Q · t = € 6</a:t>
            </a:r>
          </a:p>
        </p:txBody>
      </p:sp>
    </p:spTree>
    <p:extLst>
      <p:ext uri="{BB962C8B-B14F-4D97-AF65-F5344CB8AC3E}">
        <p14:creationId xmlns:p14="http://schemas.microsoft.com/office/powerpoint/2010/main" val="2135852799"/>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Controle · € 16 geeft geen evenwicht">
            <a:extLst xmlns:a="http://schemas.openxmlformats.org/drawingml/2006/main">
              <a:ext uri="{FF2B5EF4-FFF2-40B4-BE49-F238E27FC236}">
                <a16:creationId xmlns:a16="http://schemas.microsoft.com/office/drawing/2014/main" id="{A85B3429-8A3C-4605-A5AA-0E141378C269}"/>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Controle · € 16 geeft geen evenwicht</a:t>
            </a:r>
          </a:p>
        </p:txBody>
      </p:sp>
      <p:sp>
        <p:nvSpPr>
          <p:cNvPr id="2" name="">
            <a:extLst xmlns:a="http://schemas.openxmlformats.org/drawingml/2006/main">
              <a:ext uri="{FF2B5EF4-FFF2-40B4-BE49-F238E27FC236}">
                <a16:creationId xmlns:a16="http://schemas.microsoft.com/office/drawing/2014/main" id="{60F4DEEA-EA84-408B-8C15-15FCC52EFB7C}"/>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1212889D-51FB-4418-A155-9CE865B38595}"/>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Uitlegvoorbeeld — niet uit het boek</a:t>
            </a:r>
          </a:p>
        </p:txBody>
      </p:sp>
      <p:sp>
        <p:nvSpPr>
          <p:cNvPr id="4" name="slide-number">
            <a:extLst xmlns:a="http://schemas.openxmlformats.org/drawingml/2006/main">
              <a:ext uri="{FF2B5EF4-FFF2-40B4-BE49-F238E27FC236}">
                <a16:creationId xmlns:a16="http://schemas.microsoft.com/office/drawing/2014/main" id="{23290540-7254-4014-AFA3-ADA205E67BE0}"/>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13</a:t>
            </a:r>
          </a:p>
        </p:txBody>
      </p:sp>
      <p:sp>
        <p:nvSpPr>
          <p:cNvPr id="5" name="“De oude prijs was € 10. Dus Pc wordt € 16.”">
            <a:extLst xmlns:a="http://schemas.openxmlformats.org/drawingml/2006/main">
              <a:ext uri="{FF2B5EF4-FFF2-40B4-BE49-F238E27FC236}">
                <a16:creationId xmlns:a16="http://schemas.microsoft.com/office/drawing/2014/main" id="{9A4B5C86-F8C3-47BF-AAD6-F5461F6E9696}"/>
              </a:ext>
            </a:extLst>
          </p:cNvPr>
          <p:cNvSpPr>
            <a:spLocks xmlns:a="http://schemas.openxmlformats.org/drawingml/2006/main" noGrp="1"/>
          </p:cNvSpPr>
          <p:nvPr/>
        </p:nvSpPr>
        <p:spPr>
          <a:xfrm xmlns:a="http://schemas.openxmlformats.org/drawingml/2006/main">
            <a:off x="571500" y="2009775"/>
            <a:ext cx="140970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A5276"/>
                </a:solidFill>
                <a:latin typeface="Arial"/>
                <a:ea typeface="Arial"/>
                <a:cs typeface="Arial"/>
              </a:defRPr>
            </a:pPr>
            <a:r>
              <a:rPr sz="3600" b="1">
                <a:solidFill>
                  <a:srgbClr val="1A5276"/>
                </a:solidFill>
                <a:latin typeface="Arial"/>
                <a:ea typeface="Arial"/>
                <a:cs typeface="Arial"/>
              </a:rPr>
              <a:t>“De oude prijs was € 10. Dus Pc wordt € 16.”</a:t>
            </a:r>
          </a:p>
        </p:txBody>
      </p:sp>
      <p:sp>
        <p:nvSpPr>
          <p:cNvPr id="6" name="Bij Pc = 16: 16 = 26 − 0,20Q → Qv = 50">
            <a:extLst xmlns:a="http://schemas.openxmlformats.org/drawingml/2006/main">
              <a:ext uri="{FF2B5EF4-FFF2-40B4-BE49-F238E27FC236}">
                <a16:creationId xmlns:a16="http://schemas.microsoft.com/office/drawing/2014/main" id="{6661624E-E071-445C-96D0-9BECA61CED1F}"/>
              </a:ext>
            </a:extLst>
          </p:cNvPr>
          <p:cNvSpPr>
            <a:spLocks xmlns:a="http://schemas.openxmlformats.org/drawingml/2006/main" noGrp="1"/>
          </p:cNvSpPr>
          <p:nvPr/>
        </p:nvSpPr>
        <p:spPr>
          <a:xfrm xmlns:a="http://schemas.openxmlformats.org/drawingml/2006/main">
            <a:off x="571500" y="4019550"/>
            <a:ext cx="14097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0">
                <a:solidFill>
                  <a:srgbClr val="183247"/>
                </a:solidFill>
                <a:latin typeface="Arial"/>
                <a:ea typeface="Arial"/>
                <a:cs typeface="Arial"/>
              </a:defRPr>
            </a:pPr>
            <a:r>
              <a:rPr sz="2775" b="0">
                <a:solidFill>
                  <a:srgbClr val="183247"/>
                </a:solidFill>
                <a:latin typeface="Arial"/>
                <a:ea typeface="Arial"/>
                <a:cs typeface="Arial"/>
              </a:rPr>
              <a:t>Bij Pc = 16: 16 = 26 − 0,20Q → Qv = 50</a:t>
            </a:r>
          </a:p>
        </p:txBody>
      </p:sp>
      <p:sp>
        <p:nvSpPr>
          <p:cNvPr id="7" name="Pp = 16 − 6 = 10: 10 = 2 + 0,10Q → Qa = 80">
            <a:extLst xmlns:a="http://schemas.openxmlformats.org/drawingml/2006/main">
              <a:ext uri="{FF2B5EF4-FFF2-40B4-BE49-F238E27FC236}">
                <a16:creationId xmlns:a16="http://schemas.microsoft.com/office/drawing/2014/main" id="{42E54107-05E8-4B1F-B3C2-FB9FBA1D5AD8}"/>
              </a:ext>
            </a:extLst>
          </p:cNvPr>
          <p:cNvSpPr>
            <a:spLocks xmlns:a="http://schemas.openxmlformats.org/drawingml/2006/main" noGrp="1"/>
          </p:cNvSpPr>
          <p:nvPr/>
        </p:nvSpPr>
        <p:spPr>
          <a:xfrm xmlns:a="http://schemas.openxmlformats.org/drawingml/2006/main">
            <a:off x="571500" y="5238750"/>
            <a:ext cx="14097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0">
                <a:solidFill>
                  <a:srgbClr val="183247"/>
                </a:solidFill>
                <a:latin typeface="Arial"/>
                <a:ea typeface="Arial"/>
                <a:cs typeface="Arial"/>
              </a:defRPr>
            </a:pPr>
            <a:r>
              <a:rPr sz="2775" b="0">
                <a:solidFill>
                  <a:srgbClr val="183247"/>
                </a:solidFill>
                <a:latin typeface="Arial"/>
                <a:ea typeface="Arial"/>
                <a:cs typeface="Arial"/>
              </a:rPr>
              <a:t>Pp = 16 − 6 = 10: 10 = 2 + 0,10Q → Qa = 80</a:t>
            </a:r>
          </a:p>
        </p:txBody>
      </p:sp>
      <p:sp>
        <p:nvSpPr>
          <p:cNvPr id="8" name="50 gevraagd ≠ 80 aangeboden">
            <a:extLst xmlns:a="http://schemas.openxmlformats.org/drawingml/2006/main">
              <a:ext uri="{FF2B5EF4-FFF2-40B4-BE49-F238E27FC236}">
                <a16:creationId xmlns:a16="http://schemas.microsoft.com/office/drawing/2014/main" id="{2D687F1B-B0E8-4300-ACC5-9FFDBF3756E7}"/>
              </a:ext>
            </a:extLst>
          </p:cNvPr>
          <p:cNvSpPr>
            <a:spLocks xmlns:a="http://schemas.openxmlformats.org/drawingml/2006/main" noGrp="1"/>
          </p:cNvSpPr>
          <p:nvPr/>
        </p:nvSpPr>
        <p:spPr>
          <a:xfrm xmlns:a="http://schemas.openxmlformats.org/drawingml/2006/main">
            <a:off x="571500" y="6457950"/>
            <a:ext cx="14097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1A5276"/>
                </a:solidFill>
                <a:latin typeface="Arial"/>
                <a:ea typeface="Arial"/>
                <a:cs typeface="Arial"/>
              </a:defRPr>
            </a:pPr>
            <a:r>
              <a:rPr sz="2775" b="1">
                <a:solidFill>
                  <a:srgbClr val="1A5276"/>
                </a:solidFill>
                <a:latin typeface="Arial"/>
                <a:ea typeface="Arial"/>
                <a:cs typeface="Arial"/>
              </a:rPr>
              <a:t>50 gevraagd ≠ 80 aangeboden</a:t>
            </a:r>
          </a:p>
        </p:txBody>
      </p:sp>
    </p:spTree>
    <p:extLst>
      <p:ext uri="{BB962C8B-B14F-4D97-AF65-F5344CB8AC3E}">
        <p14:creationId xmlns:p14="http://schemas.microsoft.com/office/powerpoint/2010/main" val="1591892185"/>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Deze les: §3.1.1 Belastingen: wig en nieuw evenwic">
            <a:extLst xmlns:a="http://schemas.openxmlformats.org/drawingml/2006/main">
              <a:ext uri="{FF2B5EF4-FFF2-40B4-BE49-F238E27FC236}">
                <a16:creationId xmlns:a16="http://schemas.microsoft.com/office/drawing/2014/main" id="{AF8D54F5-5E45-45D8-9DC1-D81DC80C6C18}"/>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3247"/>
                </a:solidFill>
                <a:latin typeface="Arial"/>
                <a:ea typeface="Arial"/>
                <a:cs typeface="Arial"/>
              </a:defRPr>
            </a:pPr>
            <a:r>
              <a:rPr sz="3225" b="1">
                <a:solidFill>
                  <a:srgbClr val="183247"/>
                </a:solidFill>
                <a:latin typeface="Arial"/>
                <a:ea typeface="Arial"/>
                <a:cs typeface="Arial"/>
              </a:rPr>
              <a:t>Deze les: §3.1.1 Belastingen: wig en nieuw evenwicht</a:t>
            </a:r>
          </a:p>
        </p:txBody>
      </p:sp>
      <p:sp>
        <p:nvSpPr>
          <p:cNvPr id="2" name="">
            <a:extLst xmlns:a="http://schemas.openxmlformats.org/drawingml/2006/main">
              <a:ext uri="{FF2B5EF4-FFF2-40B4-BE49-F238E27FC236}">
                <a16:creationId xmlns:a16="http://schemas.microsoft.com/office/drawing/2014/main" id="{E838ACD0-6591-459D-AB36-5DE81DD7AD5B}"/>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7F012C75-C4B1-4FF4-B446-DE615400A166}"/>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§3.1.1 Belastingen: wig en nieuw evenwicht</a:t>
            </a:r>
          </a:p>
        </p:txBody>
      </p:sp>
      <p:sp>
        <p:nvSpPr>
          <p:cNvPr id="4" name="slide-number">
            <a:extLst xmlns:a="http://schemas.openxmlformats.org/drawingml/2006/main">
              <a:ext uri="{FF2B5EF4-FFF2-40B4-BE49-F238E27FC236}">
                <a16:creationId xmlns:a16="http://schemas.microsoft.com/office/drawing/2014/main" id="{BF37663F-85E1-4A5E-913F-FDEB1C50EE84}"/>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14</a:t>
            </a:r>
          </a:p>
        </p:txBody>
      </p:sp>
      <p:sp>
        <p:nvSpPr>
          <p:cNvPr id="5" name="phase">
            <a:extLst xmlns:a="http://schemas.openxmlformats.org/drawingml/2006/main">
              <a:ext uri="{FF2B5EF4-FFF2-40B4-BE49-F238E27FC236}">
                <a16:creationId xmlns:a16="http://schemas.microsoft.com/office/drawing/2014/main" id="{52820557-65FE-4B58-B28F-0E7622E5B383}"/>
              </a:ext>
            </a:extLst>
          </p:cNvPr>
          <p:cNvSpPr>
            <a:spLocks xmlns:a="http://schemas.openxmlformats.org/drawingml/2006/main" noGrp="1"/>
          </p:cNvSpPr>
          <p:nvPr/>
        </p:nvSpPr>
        <p:spPr>
          <a:xfrm xmlns:a="http://schemas.openxmlformats.org/drawingml/2006/main">
            <a:off x="571500" y="1066800"/>
            <a:ext cx="13811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A5276"/>
                </a:solidFill>
                <a:latin typeface="Arial"/>
                <a:ea typeface="Arial"/>
                <a:cs typeface="Arial"/>
              </a:defRPr>
            </a:pPr>
            <a:r>
              <a:rPr sz="2250" b="1">
                <a:solidFill>
                  <a:srgbClr val="1A5276"/>
                </a:solidFill>
                <a:latin typeface="Arial"/>
                <a:ea typeface="Arial"/>
                <a:cs typeface="Arial"/>
              </a:rPr>
              <a:t>Nu: Zelfstandig werken</a:t>
            </a:r>
          </a:p>
        </p:txBody>
      </p:sp>
      <p:sp>
        <p:nvSpPr>
          <p:cNvPr id="6" name="Lesroute">
            <a:extLst xmlns:a="http://schemas.openxmlformats.org/drawingml/2006/main">
              <a:ext uri="{FF2B5EF4-FFF2-40B4-BE49-F238E27FC236}">
                <a16:creationId xmlns:a16="http://schemas.microsoft.com/office/drawing/2014/main" id="{1BC395ED-F1BF-4B2F-A660-E11CF20383AA}"/>
              </a:ext>
            </a:extLst>
          </p:cNvPr>
          <p:cNvSpPr>
            <a:spLocks xmlns:a="http://schemas.openxmlformats.org/drawingml/2006/main" noGrp="1"/>
          </p:cNvSpPr>
          <p:nvPr/>
        </p:nvSpPr>
        <p:spPr>
          <a:xfrm xmlns:a="http://schemas.openxmlformats.org/drawingml/2006/main">
            <a:off x="571500" y="1762125"/>
            <a:ext cx="7953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Lesroute</a:t>
            </a:r>
          </a:p>
        </p:txBody>
      </p:sp>
      <p:sp>
        <p:nvSpPr>
          <p:cNvPr id="7" name="route-number-1">
            <a:extLst xmlns:a="http://schemas.openxmlformats.org/drawingml/2006/main">
              <a:ext uri="{FF2B5EF4-FFF2-40B4-BE49-F238E27FC236}">
                <a16:creationId xmlns:a16="http://schemas.microsoft.com/office/drawing/2014/main" id="{DEADDD20-FEC1-44E5-9EB9-B97416BC4CB7}"/>
              </a:ext>
            </a:extLst>
          </p:cNvPr>
          <p:cNvSpPr>
            <a:spLocks xmlns:a="http://schemas.openxmlformats.org/drawingml/2006/main" noGrp="1"/>
          </p:cNvSpPr>
          <p:nvPr/>
        </p:nvSpPr>
        <p:spPr>
          <a:xfrm xmlns:a="http://schemas.openxmlformats.org/drawingml/2006/main">
            <a:off x="571500" y="2324100"/>
            <a:ext cx="457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a:t>
            </a:r>
          </a:p>
        </p:txBody>
      </p:sp>
      <p:sp>
        <p:nvSpPr>
          <p:cNvPr id="8" name="route-1">
            <a:extLst xmlns:a="http://schemas.openxmlformats.org/drawingml/2006/main">
              <a:ext uri="{FF2B5EF4-FFF2-40B4-BE49-F238E27FC236}">
                <a16:creationId xmlns:a16="http://schemas.microsoft.com/office/drawing/2014/main" id="{D0F9DF28-9A72-45D1-A9D6-2F1461E60118}"/>
              </a:ext>
            </a:extLst>
          </p:cNvPr>
          <p:cNvSpPr>
            <a:spLocks xmlns:a="http://schemas.openxmlformats.org/drawingml/2006/main" noGrp="1"/>
          </p:cNvSpPr>
          <p:nvPr/>
        </p:nvSpPr>
        <p:spPr>
          <a:xfrm xmlns:a="http://schemas.openxmlformats.org/drawingml/2006/main">
            <a:off x="1104900" y="2324100"/>
            <a:ext cx="74199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Jas in de kluis of aan de kapstok. Pak agenda, schrift, pen en rekenmachine.</a:t>
            </a:r>
          </a:p>
        </p:txBody>
      </p:sp>
      <p:sp>
        <p:nvSpPr>
          <p:cNvPr id="9" name="route-number-2">
            <a:extLst xmlns:a="http://schemas.openxmlformats.org/drawingml/2006/main">
              <a:ext uri="{FF2B5EF4-FFF2-40B4-BE49-F238E27FC236}">
                <a16:creationId xmlns:a16="http://schemas.microsoft.com/office/drawing/2014/main" id="{D58A99BF-F059-427E-B3BD-B363258DA666}"/>
              </a:ext>
            </a:extLst>
          </p:cNvPr>
          <p:cNvSpPr>
            <a:spLocks xmlns:a="http://schemas.openxmlformats.org/drawingml/2006/main" noGrp="1"/>
          </p:cNvSpPr>
          <p:nvPr/>
        </p:nvSpPr>
        <p:spPr>
          <a:xfrm xmlns:a="http://schemas.openxmlformats.org/drawingml/2006/main">
            <a:off x="571500" y="320040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2.</a:t>
            </a:r>
          </a:p>
        </p:txBody>
      </p:sp>
      <p:sp>
        <p:nvSpPr>
          <p:cNvPr id="10" name="route-2">
            <a:extLst xmlns:a="http://schemas.openxmlformats.org/drawingml/2006/main">
              <a:ext uri="{FF2B5EF4-FFF2-40B4-BE49-F238E27FC236}">
                <a16:creationId xmlns:a16="http://schemas.microsoft.com/office/drawing/2014/main" id="{4CE14084-E524-4E69-93A9-3E980DF8ECA5}"/>
              </a:ext>
            </a:extLst>
          </p:cNvPr>
          <p:cNvSpPr>
            <a:spLocks xmlns:a="http://schemas.openxmlformats.org/drawingml/2006/main" noGrp="1"/>
          </p:cNvSpPr>
          <p:nvPr/>
        </p:nvSpPr>
        <p:spPr>
          <a:xfrm xmlns:a="http://schemas.openxmlformats.org/drawingml/2006/main">
            <a:off x="1104900" y="320040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Maak de startopdracht.</a:t>
            </a:r>
          </a:p>
        </p:txBody>
      </p:sp>
      <p:sp>
        <p:nvSpPr>
          <p:cNvPr id="11" name="route-number-3">
            <a:extLst xmlns:a="http://schemas.openxmlformats.org/drawingml/2006/main">
              <a:ext uri="{FF2B5EF4-FFF2-40B4-BE49-F238E27FC236}">
                <a16:creationId xmlns:a16="http://schemas.microsoft.com/office/drawing/2014/main" id="{F57CFAFA-3516-4F08-8F59-C823914C723B}"/>
              </a:ext>
            </a:extLst>
          </p:cNvPr>
          <p:cNvSpPr>
            <a:spLocks xmlns:a="http://schemas.openxmlformats.org/drawingml/2006/main" noGrp="1"/>
          </p:cNvSpPr>
          <p:nvPr/>
        </p:nvSpPr>
        <p:spPr>
          <a:xfrm xmlns:a="http://schemas.openxmlformats.org/drawingml/2006/main">
            <a:off x="571500" y="371475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a:t>
            </a:r>
          </a:p>
        </p:txBody>
      </p:sp>
      <p:sp>
        <p:nvSpPr>
          <p:cNvPr id="12" name="route-3">
            <a:extLst xmlns:a="http://schemas.openxmlformats.org/drawingml/2006/main">
              <a:ext uri="{FF2B5EF4-FFF2-40B4-BE49-F238E27FC236}">
                <a16:creationId xmlns:a16="http://schemas.microsoft.com/office/drawing/2014/main" id="{D667CD1F-C263-4265-8197-6EFE6FD9F493}"/>
              </a:ext>
            </a:extLst>
          </p:cNvPr>
          <p:cNvSpPr>
            <a:spLocks xmlns:a="http://schemas.openxmlformats.org/drawingml/2006/main" noGrp="1"/>
          </p:cNvSpPr>
          <p:nvPr/>
        </p:nvSpPr>
        <p:spPr>
          <a:xfrm xmlns:a="http://schemas.openxmlformats.org/drawingml/2006/main">
            <a:off x="1104900" y="371475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Uitleg bij de lesdoelen.</a:t>
            </a:r>
          </a:p>
        </p:txBody>
      </p:sp>
      <p:sp>
        <p:nvSpPr>
          <p:cNvPr id="13" name="route-number-4">
            <a:extLst xmlns:a="http://schemas.openxmlformats.org/drawingml/2006/main">
              <a:ext uri="{FF2B5EF4-FFF2-40B4-BE49-F238E27FC236}">
                <a16:creationId xmlns:a16="http://schemas.microsoft.com/office/drawing/2014/main" id="{A988FC18-F0F4-4B0D-8409-042D31C2C29D}"/>
              </a:ext>
            </a:extLst>
          </p:cNvPr>
          <p:cNvSpPr>
            <a:spLocks xmlns:a="http://schemas.openxmlformats.org/drawingml/2006/main" noGrp="1"/>
          </p:cNvSpPr>
          <p:nvPr/>
        </p:nvSpPr>
        <p:spPr>
          <a:xfrm xmlns:a="http://schemas.openxmlformats.org/drawingml/2006/main">
            <a:off x="571500" y="4248150"/>
            <a:ext cx="45720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A5276"/>
                </a:solidFill>
                <a:latin typeface="Arial"/>
                <a:ea typeface="Arial"/>
                <a:cs typeface="Arial"/>
              </a:defRPr>
            </a:pPr>
            <a:r>
              <a:rPr sz="2250" b="1">
                <a:solidFill>
                  <a:srgbClr val="1A5276"/>
                </a:solidFill>
                <a:latin typeface="Arial"/>
                <a:ea typeface="Arial"/>
                <a:cs typeface="Arial"/>
              </a:rPr>
              <a:t>4.</a:t>
            </a:r>
          </a:p>
        </p:txBody>
      </p:sp>
      <p:sp>
        <p:nvSpPr>
          <p:cNvPr id="14" name="route-4">
            <a:extLst xmlns:a="http://schemas.openxmlformats.org/drawingml/2006/main">
              <a:ext uri="{FF2B5EF4-FFF2-40B4-BE49-F238E27FC236}">
                <a16:creationId xmlns:a16="http://schemas.microsoft.com/office/drawing/2014/main" id="{87DDFDBB-F230-4A86-8502-2102E53C879E}"/>
              </a:ext>
            </a:extLst>
          </p:cNvPr>
          <p:cNvSpPr>
            <a:spLocks xmlns:a="http://schemas.openxmlformats.org/drawingml/2006/main" noGrp="1"/>
          </p:cNvSpPr>
          <p:nvPr/>
        </p:nvSpPr>
        <p:spPr>
          <a:xfrm xmlns:a="http://schemas.openxmlformats.org/drawingml/2006/main">
            <a:off x="1104900" y="4248150"/>
            <a:ext cx="7419975"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A5276"/>
                </a:solidFill>
                <a:latin typeface="Arial"/>
                <a:ea typeface="Arial"/>
                <a:cs typeface="Arial"/>
              </a:defRPr>
            </a:pPr>
            <a:r>
              <a:rPr sz="2250" b="1">
                <a:solidFill>
                  <a:srgbClr val="1A5276"/>
                </a:solidFill>
                <a:latin typeface="Arial"/>
                <a:ea typeface="Arial"/>
                <a:cs typeface="Arial"/>
              </a:rPr>
              <a:t>Begin bij de basisopgaven en stel vragen. Lukt dat goed, ga dan naar de zelfstandige oefening. Maak daarna de doelopgave en kijk vervolgens je antwoorden na.</a:t>
            </a:r>
          </a:p>
        </p:txBody>
      </p:sp>
      <p:sp>
        <p:nvSpPr>
          <p:cNvPr id="15" name="route-number-5">
            <a:extLst xmlns:a="http://schemas.openxmlformats.org/drawingml/2006/main">
              <a:ext uri="{FF2B5EF4-FFF2-40B4-BE49-F238E27FC236}">
                <a16:creationId xmlns:a16="http://schemas.microsoft.com/office/drawing/2014/main" id="{DBEDFB68-BB75-4265-93DF-CA55E8DCB9A2}"/>
              </a:ext>
            </a:extLst>
          </p:cNvPr>
          <p:cNvSpPr>
            <a:spLocks xmlns:a="http://schemas.openxmlformats.org/drawingml/2006/main" noGrp="1"/>
          </p:cNvSpPr>
          <p:nvPr/>
        </p:nvSpPr>
        <p:spPr>
          <a:xfrm xmlns:a="http://schemas.openxmlformats.org/drawingml/2006/main">
            <a:off x="571500" y="6057900"/>
            <a:ext cx="4572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5.</a:t>
            </a:r>
          </a:p>
        </p:txBody>
      </p:sp>
      <p:sp>
        <p:nvSpPr>
          <p:cNvPr id="16" name="route-5">
            <a:extLst xmlns:a="http://schemas.openxmlformats.org/drawingml/2006/main">
              <a:ext uri="{FF2B5EF4-FFF2-40B4-BE49-F238E27FC236}">
                <a16:creationId xmlns:a16="http://schemas.microsoft.com/office/drawing/2014/main" id="{004E943D-552A-4136-9853-055E087BCF8D}"/>
              </a:ext>
            </a:extLst>
          </p:cNvPr>
          <p:cNvSpPr>
            <a:spLocks xmlns:a="http://schemas.openxmlformats.org/drawingml/2006/main" noGrp="1"/>
          </p:cNvSpPr>
          <p:nvPr/>
        </p:nvSpPr>
        <p:spPr>
          <a:xfrm xmlns:a="http://schemas.openxmlformats.org/drawingml/2006/main">
            <a:off x="1104900" y="6057900"/>
            <a:ext cx="74199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Klaar? Werk aan een ander vak. Geen devices.</a:t>
            </a:r>
          </a:p>
        </p:txBody>
      </p:sp>
      <p:sp>
        <p:nvSpPr>
          <p:cNvPr id="17" name="route-number-6">
            <a:extLst xmlns:a="http://schemas.openxmlformats.org/drawingml/2006/main">
              <a:ext uri="{FF2B5EF4-FFF2-40B4-BE49-F238E27FC236}">
                <a16:creationId xmlns:a16="http://schemas.microsoft.com/office/drawing/2014/main" id="{D3767F11-CEBF-45F1-A531-D0177C1AE31E}"/>
              </a:ext>
            </a:extLst>
          </p:cNvPr>
          <p:cNvSpPr>
            <a:spLocks xmlns:a="http://schemas.openxmlformats.org/drawingml/2006/main" noGrp="1"/>
          </p:cNvSpPr>
          <p:nvPr/>
        </p:nvSpPr>
        <p:spPr>
          <a:xfrm xmlns:a="http://schemas.openxmlformats.org/drawingml/2006/main">
            <a:off x="571500" y="68199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6.</a:t>
            </a:r>
          </a:p>
        </p:txBody>
      </p:sp>
      <p:sp>
        <p:nvSpPr>
          <p:cNvPr id="18" name="route-6">
            <a:extLst xmlns:a="http://schemas.openxmlformats.org/drawingml/2006/main">
              <a:ext uri="{FF2B5EF4-FFF2-40B4-BE49-F238E27FC236}">
                <a16:creationId xmlns:a16="http://schemas.microsoft.com/office/drawing/2014/main" id="{48686F06-2F35-4F57-8AF4-DD668ED8DBF9}"/>
              </a:ext>
            </a:extLst>
          </p:cNvPr>
          <p:cNvSpPr>
            <a:spLocks xmlns:a="http://schemas.openxmlformats.org/drawingml/2006/main" noGrp="1"/>
          </p:cNvSpPr>
          <p:nvPr/>
        </p:nvSpPr>
        <p:spPr>
          <a:xfrm xmlns:a="http://schemas.openxmlformats.org/drawingml/2006/main">
            <a:off x="1104900" y="6819900"/>
            <a:ext cx="74199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Bespreken van de doelopgave: opgave 7.</a:t>
            </a:r>
          </a:p>
        </p:txBody>
      </p:sp>
      <p:sp>
        <p:nvSpPr>
          <p:cNvPr id="19" name="route-number-7">
            <a:extLst xmlns:a="http://schemas.openxmlformats.org/drawingml/2006/main">
              <a:ext uri="{FF2B5EF4-FFF2-40B4-BE49-F238E27FC236}">
                <a16:creationId xmlns:a16="http://schemas.microsoft.com/office/drawing/2014/main" id="{8FEFD196-BC78-4A3B-A0AD-47ACB2E7272B}"/>
              </a:ext>
            </a:extLst>
          </p:cNvPr>
          <p:cNvSpPr>
            <a:spLocks xmlns:a="http://schemas.openxmlformats.org/drawingml/2006/main" noGrp="1"/>
          </p:cNvSpPr>
          <p:nvPr/>
        </p:nvSpPr>
        <p:spPr>
          <a:xfrm xmlns:a="http://schemas.openxmlformats.org/drawingml/2006/main">
            <a:off x="571500" y="7372350"/>
            <a:ext cx="457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7.</a:t>
            </a:r>
          </a:p>
        </p:txBody>
      </p:sp>
      <p:sp>
        <p:nvSpPr>
          <p:cNvPr id="20" name="route-7">
            <a:extLst xmlns:a="http://schemas.openxmlformats.org/drawingml/2006/main">
              <a:ext uri="{FF2B5EF4-FFF2-40B4-BE49-F238E27FC236}">
                <a16:creationId xmlns:a16="http://schemas.microsoft.com/office/drawing/2014/main" id="{B70EC7E4-F726-4A49-9C89-0268D312C3FE}"/>
              </a:ext>
            </a:extLst>
          </p:cNvPr>
          <p:cNvSpPr>
            <a:spLocks xmlns:a="http://schemas.openxmlformats.org/drawingml/2006/main" noGrp="1"/>
          </p:cNvSpPr>
          <p:nvPr/>
        </p:nvSpPr>
        <p:spPr>
          <a:xfrm xmlns:a="http://schemas.openxmlformats.org/drawingml/2006/main">
            <a:off x="1104900" y="7372350"/>
            <a:ext cx="74199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Zet je huiswerk in je agenda.</a:t>
            </a:r>
          </a:p>
        </p:txBody>
      </p:sp>
      <p:sp>
        <p:nvSpPr>
          <p:cNvPr id="21" name="Lesdoelen">
            <a:extLst xmlns:a="http://schemas.openxmlformats.org/drawingml/2006/main">
              <a:ext uri="{FF2B5EF4-FFF2-40B4-BE49-F238E27FC236}">
                <a16:creationId xmlns:a16="http://schemas.microsoft.com/office/drawing/2014/main" id="{5C8A2F0A-7A86-4B8D-90A6-1964B84C3ABF}"/>
              </a:ext>
            </a:extLst>
          </p:cNvPr>
          <p:cNvSpPr>
            <a:spLocks xmlns:a="http://schemas.openxmlformats.org/drawingml/2006/main" noGrp="1"/>
          </p:cNvSpPr>
          <p:nvPr/>
        </p:nvSpPr>
        <p:spPr>
          <a:xfrm xmlns:a="http://schemas.openxmlformats.org/drawingml/2006/main">
            <a:off x="9258300" y="176212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Lesdoelen</a:t>
            </a:r>
          </a:p>
        </p:txBody>
      </p:sp>
      <p:sp>
        <p:nvSpPr>
          <p:cNvPr id="22" name="overview-goals">
            <a:extLst xmlns:a="http://schemas.openxmlformats.org/drawingml/2006/main">
              <a:ext uri="{FF2B5EF4-FFF2-40B4-BE49-F238E27FC236}">
                <a16:creationId xmlns:a16="http://schemas.microsoft.com/office/drawing/2014/main" id="{91EB9574-A7FF-450B-B5A9-15EB2010DCF2}"/>
              </a:ext>
            </a:extLst>
          </p:cNvPr>
          <p:cNvSpPr>
            <a:spLocks xmlns:a="http://schemas.openxmlformats.org/drawingml/2006/main" noGrp="1"/>
          </p:cNvSpPr>
          <p:nvPr/>
        </p:nvSpPr>
        <p:spPr>
          <a:xfrm xmlns:a="http://schemas.openxmlformats.org/drawingml/2006/main">
            <a:off x="9258300" y="2324100"/>
            <a:ext cx="538162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Evenwicht en beide prijzen berekenen;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de wig tekenen; afdragen 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de last dragen onderscheiden.</a:t>
            </a:r>
          </a:p>
        </p:txBody>
      </p:sp>
      <p:sp>
        <p:nvSpPr>
          <p:cNvPr id="23" name="">
            <a:extLst xmlns:a="http://schemas.openxmlformats.org/drawingml/2006/main">
              <a:ext uri="{FF2B5EF4-FFF2-40B4-BE49-F238E27FC236}">
                <a16:creationId xmlns:a16="http://schemas.microsoft.com/office/drawing/2014/main" id="{00415AAB-27AC-4725-ADE6-774225E308A9}"/>
              </a:ext>
            </a:extLst>
          </p:cNvPr>
          <p:cNvSpPr>
            <a:spLocks xmlns:a="http://schemas.openxmlformats.org/drawingml/2006/main" noGrp="1"/>
          </p:cNvSpPr>
          <p:nvPr/>
        </p:nvSpPr>
        <p:spPr>
          <a:xfrm xmlns:a="http://schemas.openxmlformats.org/drawingml/2006/main">
            <a:off x="9258300" y="3562350"/>
            <a:ext cx="5410200" cy="0"/>
          </a:xfrm>
          <a:prstGeom xmlns:a="http://schemas.openxmlformats.org/drawingml/2006/main" prst="line">
            <a:avLst/>
          </a:prstGeom>
          <a:ln xmlns:a="http://schemas.openxmlformats.org/drawingml/2006/main" w="19050">
            <a:solidFill>
              <a:srgbClr val="C6D2DB"/>
            </a:solidFill>
          </a:ln>
        </p:spPr>
      </p:sp>
      <p:sp>
        <p:nvSpPr>
          <p:cNvPr id="24" name="Startopdracht">
            <a:extLst xmlns:a="http://schemas.openxmlformats.org/drawingml/2006/main">
              <a:ext uri="{FF2B5EF4-FFF2-40B4-BE49-F238E27FC236}">
                <a16:creationId xmlns:a16="http://schemas.microsoft.com/office/drawing/2014/main" id="{E5CF5359-50EF-404D-9FB2-FD1D2E7DC253}"/>
              </a:ext>
            </a:extLst>
          </p:cNvPr>
          <p:cNvSpPr>
            <a:spLocks xmlns:a="http://schemas.openxmlformats.org/drawingml/2006/main" noGrp="1"/>
          </p:cNvSpPr>
          <p:nvPr/>
        </p:nvSpPr>
        <p:spPr>
          <a:xfrm xmlns:a="http://schemas.openxmlformats.org/drawingml/2006/main">
            <a:off x="9258300" y="383857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Startopdracht</a:t>
            </a:r>
          </a:p>
        </p:txBody>
      </p:sp>
      <p:sp>
        <p:nvSpPr>
          <p:cNvPr id="25" name="overview-start">
            <a:extLst xmlns:a="http://schemas.openxmlformats.org/drawingml/2006/main">
              <a:ext uri="{FF2B5EF4-FFF2-40B4-BE49-F238E27FC236}">
                <a16:creationId xmlns:a16="http://schemas.microsoft.com/office/drawing/2014/main" id="{E0CF56D0-49BD-447F-90AA-901565F15C74}"/>
              </a:ext>
            </a:extLst>
          </p:cNvPr>
          <p:cNvSpPr>
            <a:spLocks xmlns:a="http://schemas.openxmlformats.org/drawingml/2006/main" noGrp="1"/>
          </p:cNvSpPr>
          <p:nvPr/>
        </p:nvSpPr>
        <p:spPr>
          <a:xfrm xmlns:a="http://schemas.openxmlformats.org/drawingml/2006/main">
            <a:off x="9258300" y="4371975"/>
            <a:ext cx="5381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Pagina 9 · Opgaven 1 en 2</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2: verkennen, theorie p. 6–9</a:t>
            </a:r>
          </a:p>
        </p:txBody>
      </p:sp>
      <p:sp>
        <p:nvSpPr>
          <p:cNvPr id="26" name="">
            <a:extLst xmlns:a="http://schemas.openxmlformats.org/drawingml/2006/main">
              <a:ext uri="{FF2B5EF4-FFF2-40B4-BE49-F238E27FC236}">
                <a16:creationId xmlns:a16="http://schemas.microsoft.com/office/drawing/2014/main" id="{B1B14967-5E74-4539-AF31-FAEAAA920AC5}"/>
              </a:ext>
            </a:extLst>
          </p:cNvPr>
          <p:cNvSpPr>
            <a:spLocks xmlns:a="http://schemas.openxmlformats.org/drawingml/2006/main" noGrp="1"/>
          </p:cNvSpPr>
          <p:nvPr/>
        </p:nvSpPr>
        <p:spPr>
          <a:xfrm xmlns:a="http://schemas.openxmlformats.org/drawingml/2006/main">
            <a:off x="9258300" y="5429250"/>
            <a:ext cx="5410200" cy="0"/>
          </a:xfrm>
          <a:prstGeom xmlns:a="http://schemas.openxmlformats.org/drawingml/2006/main" prst="line">
            <a:avLst/>
          </a:prstGeom>
          <a:ln xmlns:a="http://schemas.openxmlformats.org/drawingml/2006/main" w="19050">
            <a:solidFill>
              <a:srgbClr val="C6D2DB"/>
            </a:solidFill>
          </a:ln>
        </p:spPr>
      </p:sp>
      <p:sp>
        <p:nvSpPr>
          <p:cNvPr id="27" name="Huiswerk">
            <a:extLst xmlns:a="http://schemas.openxmlformats.org/drawingml/2006/main">
              <a:ext uri="{FF2B5EF4-FFF2-40B4-BE49-F238E27FC236}">
                <a16:creationId xmlns:a16="http://schemas.microsoft.com/office/drawing/2014/main" id="{770B9F48-9EEA-49CE-A790-2EB568B6DF4B}"/>
              </a:ext>
            </a:extLst>
          </p:cNvPr>
          <p:cNvSpPr>
            <a:spLocks xmlns:a="http://schemas.openxmlformats.org/drawingml/2006/main" noGrp="1"/>
          </p:cNvSpPr>
          <p:nvPr/>
        </p:nvSpPr>
        <p:spPr>
          <a:xfrm xmlns:a="http://schemas.openxmlformats.org/drawingml/2006/main">
            <a:off x="9258300" y="5695950"/>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Huiswerk</a:t>
            </a:r>
          </a:p>
        </p:txBody>
      </p:sp>
      <p:sp>
        <p:nvSpPr>
          <p:cNvPr id="28" name="overview-homework">
            <a:extLst xmlns:a="http://schemas.openxmlformats.org/drawingml/2006/main">
              <a:ext uri="{FF2B5EF4-FFF2-40B4-BE49-F238E27FC236}">
                <a16:creationId xmlns:a16="http://schemas.microsoft.com/office/drawing/2014/main" id="{81AD3048-6F72-4705-A469-EF71A829A826}"/>
              </a:ext>
            </a:extLst>
          </p:cNvPr>
          <p:cNvSpPr>
            <a:spLocks xmlns:a="http://schemas.openxmlformats.org/drawingml/2006/main" noGrp="1"/>
          </p:cNvSpPr>
          <p:nvPr/>
        </p:nvSpPr>
        <p:spPr>
          <a:xfrm xmlns:a="http://schemas.openxmlformats.org/drawingml/2006/main">
            <a:off x="9258300" y="6229350"/>
            <a:ext cx="5381625"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§3.1.1 Belastingen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Basis: 3 en 4</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Zelfstandig: 5 en 6</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Doelopgave: 7</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Maken en nakijken</a:t>
            </a:r>
          </a:p>
        </p:txBody>
      </p:sp>
    </p:spTree>
    <p:extLst>
      <p:ext uri="{BB962C8B-B14F-4D97-AF65-F5344CB8AC3E}">
        <p14:creationId xmlns:p14="http://schemas.microsoft.com/office/powerpoint/2010/main" val="739088154"/>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Opgave 7 · Bedrukte tassen">
            <a:extLst xmlns:a="http://schemas.openxmlformats.org/drawingml/2006/main">
              <a:ext uri="{FF2B5EF4-FFF2-40B4-BE49-F238E27FC236}">
                <a16:creationId xmlns:a16="http://schemas.microsoft.com/office/drawing/2014/main" id="{91B4E3B8-897B-46C7-B18F-6DBA6EBA0BD6}"/>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7 · Bedrukte tassen</a:t>
            </a:r>
          </a:p>
        </p:txBody>
      </p:sp>
      <p:sp>
        <p:nvSpPr>
          <p:cNvPr id="2" name="">
            <a:extLst xmlns:a="http://schemas.openxmlformats.org/drawingml/2006/main">
              <a:ext uri="{FF2B5EF4-FFF2-40B4-BE49-F238E27FC236}">
                <a16:creationId xmlns:a16="http://schemas.microsoft.com/office/drawing/2014/main" id="{049E56C3-F060-4EA6-BA10-17212FCC0C0E}"/>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CD7A3D20-BFED-41E4-BA2C-34B4ACFC9448}"/>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§3.1.1 · Opgave 7 · Boekpagina 12</a:t>
            </a:r>
          </a:p>
        </p:txBody>
      </p:sp>
      <p:sp>
        <p:nvSpPr>
          <p:cNvPr id="4" name="slide-number">
            <a:extLst xmlns:a="http://schemas.openxmlformats.org/drawingml/2006/main">
              <a:ext uri="{FF2B5EF4-FFF2-40B4-BE49-F238E27FC236}">
                <a16:creationId xmlns:a16="http://schemas.microsoft.com/office/drawing/2014/main" id="{A83586A9-A802-4C4C-8033-79E571A40390}"/>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15</a:t>
            </a:r>
          </a:p>
        </p:txBody>
      </p:sp>
      <p:sp>
        <p:nvSpPr>
          <p:cNvPr id="5" name="Verschillende aanbieders verkopen dezelfde soort b">
            <a:extLst xmlns:a="http://schemas.openxmlformats.org/drawingml/2006/main">
              <a:ext uri="{FF2B5EF4-FFF2-40B4-BE49-F238E27FC236}">
                <a16:creationId xmlns:a16="http://schemas.microsoft.com/office/drawing/2014/main" id="{C7AF5E82-3D5F-473E-B84F-1051AC72F36C}"/>
              </a:ext>
            </a:extLst>
          </p:cNvPr>
          <p:cNvSpPr>
            <a:spLocks xmlns:a="http://schemas.openxmlformats.org/drawingml/2006/main" noGrp="1"/>
          </p:cNvSpPr>
          <p:nvPr/>
        </p:nvSpPr>
        <p:spPr>
          <a:xfrm xmlns:a="http://schemas.openxmlformats.org/drawingml/2006/main">
            <a:off x="571500" y="1819275"/>
            <a:ext cx="1409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0">
                <a:solidFill>
                  <a:srgbClr val="183247"/>
                </a:solidFill>
                <a:latin typeface="Arial"/>
                <a:ea typeface="Arial"/>
                <a:cs typeface="Arial"/>
              </a:defRPr>
            </a:pPr>
            <a:r>
              <a:rPr sz="2925" b="0">
                <a:solidFill>
                  <a:srgbClr val="183247"/>
                </a:solidFill>
                <a:latin typeface="Arial"/>
                <a:ea typeface="Arial"/>
                <a:cs typeface="Arial"/>
              </a:rPr>
              <a:t>Verschillende aanbieders verkopen dezelfde soort bedrukte tas.</a:t>
            </a:r>
          </a:p>
        </p:txBody>
      </p:sp>
      <p:graphicFrame>
        <p:nvGraphicFramePr>
          <p:cNvPr id="13" name=""/>
          <p:cNvGraphicFramePr/>
          <p:nvPr/>
        </p:nvGraphicFramePr>
        <p:xfrm>
          <a:off xmlns:a="http://schemas.openxmlformats.org/drawingml/2006/main" x="571500" y="3228975"/>
          <a:ext xmlns:a="http://schemas.openxmlformats.org/drawingml/2006/main" cx="14097000" cy="2486025"/>
        </p:xfrm>
        <a:graphic xmlns:a="http://schemas.openxmlformats.org/drawingml/2006/main">
          <a:graphicData uri="http://schemas.openxmlformats.org/drawingml/2006/table">
            <a:tbl>
              <a:tblPr/>
              <a:tblGrid>
                <a:gridCol w="4476750"/>
                <a:gridCol w="9620250"/>
              </a:tblGrid>
              <a:tr h="828675">
                <a:tc>
                  <a:txBody>
                    <a:bodyPr lIns="171450" tIns="95250" rIns="152400" bIns="95250"/>
                    <a:lstStyle/>
                    <a:p>
                      <a:r>
                        <a:rPr sz="2775" b="1">
                          <a:solidFill>
                            <a:srgbClr val="FFFFFF"/>
                          </a:solidFill>
                          <a:latin typeface="Arial"/>
                          <a:ea typeface="Arial"/>
                          <a:cs typeface="Arial"/>
                        </a:rPr>
                        <a:t>Vraag</a:t>
                      </a:r>
                    </a:p>
                  </a:txBody>
                  <a:tcPr marL="91440" marR="91440" marT="45720" marB="45720" anchor="ctr">
                    <a:solidFill>
                      <a:srgbClr val="183247"/>
                    </a:solidFill>
                  </a:tcPr>
                </a:tc>
                <a:tc>
                  <a:txBody>
                    <a:bodyPr lIns="171450" tIns="95250" rIns="152400" bIns="95250"/>
                    <a:lstStyle/>
                    <a:p>
                      <a:r>
                        <a:rPr sz="2775" b="1">
                          <a:solidFill>
                            <a:srgbClr val="FFFFFF"/>
                          </a:solidFill>
                          <a:latin typeface="Arial"/>
                          <a:ea typeface="Arial"/>
                          <a:cs typeface="Arial"/>
                        </a:rPr>
                        <a:t>Pc = 20 − 0,20Q</a:t>
                      </a:r>
                    </a:p>
                  </a:txBody>
                  <a:tcPr marL="91440" marR="91440" marT="45720" marB="45720" anchor="ctr">
                    <a:solidFill>
                      <a:srgbClr val="183247"/>
                    </a:solidFill>
                  </a:tcPr>
                </a:tc>
              </a:tr>
              <a:tr h="828675">
                <a:tc>
                  <a:txBody>
                    <a:bodyPr lIns="171450" tIns="95250" rIns="152400" bIns="95250"/>
                    <a:lstStyle/>
                    <a:p>
                      <a:r>
                        <a:rPr sz="2775" b="0">
                          <a:solidFill>
                            <a:srgbClr val="183247"/>
                          </a:solidFill>
                          <a:latin typeface="Arial"/>
                          <a:ea typeface="Arial"/>
                          <a:cs typeface="Arial"/>
                        </a:rPr>
                        <a:t>Aanbod</a:t>
                      </a:r>
                    </a:p>
                  </a:txBody>
                  <a:tcPr marL="91440" marR="91440" marT="45720" marB="45720" anchor="ctr">
                    <a:solidFill>
                      <a:srgbClr val="FFFFFF"/>
                    </a:solidFill>
                  </a:tcPr>
                </a:tc>
                <a:tc>
                  <a:txBody>
                    <a:bodyPr lIns="171450" tIns="95250" rIns="152400" bIns="95250"/>
                    <a:lstStyle/>
                    <a:p>
                      <a:r>
                        <a:rPr sz="2775" b="0">
                          <a:solidFill>
                            <a:srgbClr val="183247"/>
                          </a:solidFill>
                          <a:latin typeface="Arial"/>
                          <a:ea typeface="Arial"/>
                          <a:cs typeface="Arial"/>
                        </a:rPr>
                        <a:t>Pp = 2 + 0,10Q</a:t>
                      </a:r>
                    </a:p>
                  </a:txBody>
                  <a:tcPr marL="91440" marR="91440" marT="45720" marB="45720" anchor="ctr">
                    <a:solidFill>
                      <a:srgbClr val="FFFFFF"/>
                    </a:solidFill>
                  </a:tcPr>
                </a:tc>
              </a:tr>
              <a:tr h="828675">
                <a:tc>
                  <a:txBody>
                    <a:bodyPr lIns="171450" tIns="95250" rIns="152400" bIns="95250"/>
                    <a:lstStyle/>
                    <a:p>
                      <a:r>
                        <a:rPr sz="2775" b="0">
                          <a:solidFill>
                            <a:srgbClr val="183247"/>
                          </a:solidFill>
                          <a:latin typeface="Arial"/>
                          <a:ea typeface="Arial"/>
                          <a:cs typeface="Arial"/>
                        </a:rPr>
                        <a:t>Eenheden</a:t>
                      </a:r>
                    </a:p>
                  </a:txBody>
                  <a:tcPr marL="91440" marR="91440" marT="45720" marB="45720" anchor="ctr">
                    <a:solidFill>
                      <a:srgbClr val="EFF4F7"/>
                    </a:solidFill>
                  </a:tcPr>
                </a:tc>
                <a:tc>
                  <a:txBody>
                    <a:bodyPr lIns="171450" tIns="95250" rIns="152400" bIns="95250"/>
                    <a:lstStyle/>
                    <a:p>
                      <a:r>
                        <a:rPr sz="2775" b="0">
                          <a:solidFill>
                            <a:srgbClr val="183247"/>
                          </a:solidFill>
                          <a:latin typeface="Arial"/>
                          <a:ea typeface="Arial"/>
                          <a:cs typeface="Arial"/>
                        </a:rPr>
                        <a:t>Q: tassen per dag · prijzen: euro per tas</a:t>
                      </a:r>
                    </a:p>
                  </a:txBody>
                  <a:tcPr marL="91440" marR="91440" marT="45720" marB="45720" anchor="ctr">
                    <a:solidFill>
                      <a:srgbClr val="EFF4F7"/>
                    </a:solidFill>
                  </a:tcPr>
                </a:tc>
              </a:tr>
            </a:tbl>
          </a:graphicData>
        </a:graphic>
      </p:graphicFrame>
      <p:sp>
        <p:nvSpPr>
          <p:cNvPr id="7" name="De overheid heft € 3 per verkochte tas.&#10;De verkope">
            <a:extLst xmlns:a="http://schemas.openxmlformats.org/drawingml/2006/main">
              <a:ext uri="{FF2B5EF4-FFF2-40B4-BE49-F238E27FC236}">
                <a16:creationId xmlns:a16="http://schemas.microsoft.com/office/drawing/2014/main" id="{87AA7D5A-748B-4B1F-85DC-E0B8BAEAFE70}"/>
              </a:ext>
            </a:extLst>
          </p:cNvPr>
          <p:cNvSpPr>
            <a:spLocks xmlns:a="http://schemas.openxmlformats.org/drawingml/2006/main" noGrp="1"/>
          </p:cNvSpPr>
          <p:nvPr/>
        </p:nvSpPr>
        <p:spPr>
          <a:xfrm xmlns:a="http://schemas.openxmlformats.org/drawingml/2006/main">
            <a:off x="571500" y="6362700"/>
            <a:ext cx="1409700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De overheid heft € 3 per verkochte tas.</a:t>
            </a:r>
          </a:p>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De verkopers dragen de belasting af.</a:t>
            </a:r>
          </a:p>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De andere marktomstandigheden blijven gelijk.</a:t>
            </a:r>
          </a:p>
        </p:txBody>
      </p:sp>
    </p:spTree>
    <p:extLst>
      <p:ext uri="{BB962C8B-B14F-4D97-AF65-F5344CB8AC3E}">
        <p14:creationId xmlns:p14="http://schemas.microsoft.com/office/powerpoint/2010/main" val="624423087"/>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Opgave 7 · Deelvragen a, b en c">
            <a:extLst xmlns:a="http://schemas.openxmlformats.org/drawingml/2006/main">
              <a:ext uri="{FF2B5EF4-FFF2-40B4-BE49-F238E27FC236}">
                <a16:creationId xmlns:a16="http://schemas.microsoft.com/office/drawing/2014/main" id="{CFEE705E-478C-40EC-B1B6-82E74AA450EB}"/>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7 · Deelvragen a, b en c</a:t>
            </a:r>
          </a:p>
        </p:txBody>
      </p:sp>
      <p:sp>
        <p:nvSpPr>
          <p:cNvPr id="2" name="">
            <a:extLst xmlns:a="http://schemas.openxmlformats.org/drawingml/2006/main">
              <a:ext uri="{FF2B5EF4-FFF2-40B4-BE49-F238E27FC236}">
                <a16:creationId xmlns:a16="http://schemas.microsoft.com/office/drawing/2014/main" id="{EF1CED8A-E84C-4D1E-91BF-C1F29C343769}"/>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17DB5A3E-A5DD-48FF-9E02-26518E010240}"/>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§3.1.1 · Opgave 7 · Boekpagina 12</a:t>
            </a:r>
          </a:p>
        </p:txBody>
      </p:sp>
      <p:sp>
        <p:nvSpPr>
          <p:cNvPr id="4" name="slide-number">
            <a:extLst xmlns:a="http://schemas.openxmlformats.org/drawingml/2006/main">
              <a:ext uri="{FF2B5EF4-FFF2-40B4-BE49-F238E27FC236}">
                <a16:creationId xmlns:a16="http://schemas.microsoft.com/office/drawing/2014/main" id="{B536A772-C868-4916-9305-F32EE73D00F0}"/>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16</a:t>
            </a:r>
          </a:p>
        </p:txBody>
      </p:sp>
      <p:sp>
        <p:nvSpPr>
          <p:cNvPr id="5" name="a. Bereken de vrije evenwichtsprijs en -hoeveelhei">
            <a:extLst xmlns:a="http://schemas.openxmlformats.org/drawingml/2006/main">
              <a:ext uri="{FF2B5EF4-FFF2-40B4-BE49-F238E27FC236}">
                <a16:creationId xmlns:a16="http://schemas.microsoft.com/office/drawing/2014/main" id="{E0541FEE-608E-4A46-88EB-274CAD5AFF26}"/>
              </a:ext>
            </a:extLst>
          </p:cNvPr>
          <p:cNvSpPr>
            <a:spLocks xmlns:a="http://schemas.openxmlformats.org/drawingml/2006/main" noGrp="1"/>
          </p:cNvSpPr>
          <p:nvPr/>
        </p:nvSpPr>
        <p:spPr>
          <a:xfrm xmlns:a="http://schemas.openxmlformats.org/drawingml/2006/main">
            <a:off x="571500" y="2019300"/>
            <a:ext cx="14097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0">
                <a:solidFill>
                  <a:srgbClr val="183247"/>
                </a:solidFill>
                <a:latin typeface="Arial"/>
                <a:ea typeface="Arial"/>
                <a:cs typeface="Arial"/>
              </a:defRPr>
            </a:pPr>
            <a:r>
              <a:rPr sz="3225" b="0">
                <a:solidFill>
                  <a:srgbClr val="183247"/>
                </a:solidFill>
                <a:latin typeface="Arial"/>
                <a:ea typeface="Arial"/>
                <a:cs typeface="Arial"/>
              </a:rPr>
              <a:t>a. Bereken de vrije evenwichtsprijs en -hoeveelheid.</a:t>
            </a:r>
          </a:p>
        </p:txBody>
      </p:sp>
      <p:sp>
        <p:nvSpPr>
          <p:cNvPr id="6" name="b. Stel na invoering van de belasting het aanbod i">
            <a:extLst xmlns:a="http://schemas.openxmlformats.org/drawingml/2006/main">
              <a:ext uri="{FF2B5EF4-FFF2-40B4-BE49-F238E27FC236}">
                <a16:creationId xmlns:a16="http://schemas.microsoft.com/office/drawing/2014/main" id="{F1177663-B097-42D6-B21B-25800F43F6E2}"/>
              </a:ext>
            </a:extLst>
          </p:cNvPr>
          <p:cNvSpPr>
            <a:spLocks xmlns:a="http://schemas.openxmlformats.org/drawingml/2006/main" noGrp="1"/>
          </p:cNvSpPr>
          <p:nvPr/>
        </p:nvSpPr>
        <p:spPr>
          <a:xfrm xmlns:a="http://schemas.openxmlformats.org/drawingml/2006/main">
            <a:off x="571500" y="3714750"/>
            <a:ext cx="14097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0">
                <a:solidFill>
                  <a:srgbClr val="183247"/>
                </a:solidFill>
                <a:latin typeface="Arial"/>
                <a:ea typeface="Arial"/>
                <a:cs typeface="Arial"/>
              </a:defRPr>
            </a:pPr>
            <a:r>
              <a:rPr sz="3225" b="0">
                <a:solidFill>
                  <a:srgbClr val="183247"/>
                </a:solidFill>
                <a:latin typeface="Arial"/>
                <a:ea typeface="Arial"/>
                <a:cs typeface="Arial"/>
              </a:rPr>
              <a:t>b. Stel na invoering van de belasting het aanbod in kopersprijzen op. Bereken de nieuwe hoeveelheid.</a:t>
            </a:r>
          </a:p>
        </p:txBody>
      </p:sp>
      <p:sp>
        <p:nvSpPr>
          <p:cNvPr id="7" name="c. Bereken de prijs die kopers betalen en het bedr">
            <a:extLst xmlns:a="http://schemas.openxmlformats.org/drawingml/2006/main">
              <a:ext uri="{FF2B5EF4-FFF2-40B4-BE49-F238E27FC236}">
                <a16:creationId xmlns:a16="http://schemas.microsoft.com/office/drawing/2014/main" id="{B1C22DA0-231D-4F30-AEC3-942AB7C32AF2}"/>
              </a:ext>
            </a:extLst>
          </p:cNvPr>
          <p:cNvSpPr>
            <a:spLocks xmlns:a="http://schemas.openxmlformats.org/drawingml/2006/main" noGrp="1"/>
          </p:cNvSpPr>
          <p:nvPr/>
        </p:nvSpPr>
        <p:spPr>
          <a:xfrm xmlns:a="http://schemas.openxmlformats.org/drawingml/2006/main">
            <a:off x="571500" y="5943600"/>
            <a:ext cx="1409700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0">
                <a:solidFill>
                  <a:srgbClr val="183247"/>
                </a:solidFill>
                <a:latin typeface="Arial"/>
                <a:ea typeface="Arial"/>
                <a:cs typeface="Arial"/>
              </a:defRPr>
            </a:pPr>
            <a:r>
              <a:rPr sz="3225" b="0">
                <a:solidFill>
                  <a:srgbClr val="183247"/>
                </a:solidFill>
                <a:latin typeface="Arial"/>
                <a:ea typeface="Arial"/>
                <a:cs typeface="Arial"/>
              </a:rPr>
              <a:t>c. Bereken de prijs die kopers betalen en het bedrag dat verkopers na afdracht ontvangen.</a:t>
            </a:r>
          </a:p>
        </p:txBody>
      </p:sp>
    </p:spTree>
    <p:extLst>
      <p:ext uri="{BB962C8B-B14F-4D97-AF65-F5344CB8AC3E}">
        <p14:creationId xmlns:p14="http://schemas.microsoft.com/office/powerpoint/2010/main" val="1337361426"/>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Opgave 7 · Deelvragen d en e">
            <a:extLst xmlns:a="http://schemas.openxmlformats.org/drawingml/2006/main">
              <a:ext uri="{FF2B5EF4-FFF2-40B4-BE49-F238E27FC236}">
                <a16:creationId xmlns:a16="http://schemas.microsoft.com/office/drawing/2014/main" id="{6912ECC4-F625-47C0-B11D-D241C88A4DA4}"/>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7 · Deelvragen d en e</a:t>
            </a:r>
          </a:p>
        </p:txBody>
      </p:sp>
      <p:sp>
        <p:nvSpPr>
          <p:cNvPr id="2" name="">
            <a:extLst xmlns:a="http://schemas.openxmlformats.org/drawingml/2006/main">
              <a:ext uri="{FF2B5EF4-FFF2-40B4-BE49-F238E27FC236}">
                <a16:creationId xmlns:a16="http://schemas.microsoft.com/office/drawing/2014/main" id="{62EFDAD0-C83B-4C86-A45E-D7B11BD65EAD}"/>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767642F3-1BE3-4B17-8D50-1CBB7F493CE1}"/>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§3.1.1 · Opgave 7 · Boekpagina 12</a:t>
            </a:r>
          </a:p>
        </p:txBody>
      </p:sp>
      <p:sp>
        <p:nvSpPr>
          <p:cNvPr id="4" name="slide-number">
            <a:extLst xmlns:a="http://schemas.openxmlformats.org/drawingml/2006/main">
              <a:ext uri="{FF2B5EF4-FFF2-40B4-BE49-F238E27FC236}">
                <a16:creationId xmlns:a16="http://schemas.microsoft.com/office/drawing/2014/main" id="{DE97312C-FDAA-48FF-86AE-D1290BB96931}"/>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17</a:t>
            </a:r>
          </a:p>
        </p:txBody>
      </p:sp>
      <p:sp>
        <p:nvSpPr>
          <p:cNvPr id="5" name="d. Teken de nieuwe aanbodlijn in de basisgrafiek. ">
            <a:extLst xmlns:a="http://schemas.openxmlformats.org/drawingml/2006/main">
              <a:ext uri="{FF2B5EF4-FFF2-40B4-BE49-F238E27FC236}">
                <a16:creationId xmlns:a16="http://schemas.microsoft.com/office/drawing/2014/main" id="{81021D4C-2A80-401F-9E6D-5DB541236B5F}"/>
              </a:ext>
            </a:extLst>
          </p:cNvPr>
          <p:cNvSpPr>
            <a:spLocks xmlns:a="http://schemas.openxmlformats.org/drawingml/2006/main" noGrp="1"/>
          </p:cNvSpPr>
          <p:nvPr/>
        </p:nvSpPr>
        <p:spPr>
          <a:xfrm xmlns:a="http://schemas.openxmlformats.org/drawingml/2006/main">
            <a:off x="571500" y="1828800"/>
            <a:ext cx="6858000" cy="2038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d. Teken de nieuwe aanbodlijn in de basisgrafiek. Markeer de nieuwe hoeveelheid, beide prijzen en de belastingwig.</a:t>
            </a:r>
          </a:p>
        </p:txBody>
      </p:sp>
      <p:sp>
        <p:nvSpPr>
          <p:cNvPr id="6" name="e. Een verkoper zegt: “Wij dragen alles af; dus wi">
            <a:extLst xmlns:a="http://schemas.openxmlformats.org/drawingml/2006/main">
              <a:ext uri="{FF2B5EF4-FFF2-40B4-BE49-F238E27FC236}">
                <a16:creationId xmlns:a16="http://schemas.microsoft.com/office/drawing/2014/main" id="{218CD2C0-B5FD-414F-A611-39BFF3BE0E4C}"/>
              </a:ext>
            </a:extLst>
          </p:cNvPr>
          <p:cNvSpPr>
            <a:spLocks xmlns:a="http://schemas.openxmlformats.org/drawingml/2006/main" noGrp="1"/>
          </p:cNvSpPr>
          <p:nvPr/>
        </p:nvSpPr>
        <p:spPr>
          <a:xfrm xmlns:a="http://schemas.openxmlformats.org/drawingml/2006/main">
            <a:off x="571500" y="4657725"/>
            <a:ext cx="6858000" cy="2352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e. Een verkoper zegt: “Wij dragen alles af; dus wij dragen ook de hele economische last.” Beoordeel met de oude en nieuwe prijzen.</a:t>
            </a:r>
          </a:p>
        </p:txBody>
      </p:sp>
      <p:graphicFrame>
        <p:nvGraphicFramePr>
          <p:cNvPr id="14" name="Chart"/>
          <p:cNvGraphicFramePr/>
          <p:nvPr/>
        </p:nvGraphicFramePr>
        <p:xfrm>
          <a:off xmlns:a="http://schemas.openxmlformats.org/drawingml/2006/main" x="7620000" y="2295525"/>
          <a:ext xmlns:a="http://schemas.openxmlformats.org/drawingml/2006/main" cx="7143750" cy="5191125"/>
        </p:xfrm>
        <a:graphic xmlns:a="http://schemas.openxmlformats.org/drawingml/2006/main">
          <a:graphicData uri="http://schemas.openxmlformats.org/drawingml/2006/chart">
            <c:chart xmlns:r="http://schemas.openxmlformats.org/officeDocument/2006/relationships" xmlns:c="http://schemas.openxmlformats.org/drawingml/2006/chart" r:id="Re96290c332d542bf"/>
          </a:graphicData>
        </a:graphic>
      </p:graphicFrame>
    </p:spTree>
    <p:extLst>
      <p:ext uri="{BB962C8B-B14F-4D97-AF65-F5344CB8AC3E}">
        <p14:creationId xmlns:p14="http://schemas.microsoft.com/office/powerpoint/2010/main" val="881759962"/>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Opgave 7a · Vrij evenwicht">
            <a:extLst xmlns:a="http://schemas.openxmlformats.org/drawingml/2006/main">
              <a:ext uri="{FF2B5EF4-FFF2-40B4-BE49-F238E27FC236}">
                <a16:creationId xmlns:a16="http://schemas.microsoft.com/office/drawing/2014/main" id="{E92626CF-B23C-4480-8928-3BA7687EE7C3}"/>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7a · Vrij evenwicht</a:t>
            </a:r>
          </a:p>
        </p:txBody>
      </p:sp>
      <p:sp>
        <p:nvSpPr>
          <p:cNvPr id="2" name="">
            <a:extLst xmlns:a="http://schemas.openxmlformats.org/drawingml/2006/main">
              <a:ext uri="{FF2B5EF4-FFF2-40B4-BE49-F238E27FC236}">
                <a16:creationId xmlns:a16="http://schemas.microsoft.com/office/drawing/2014/main" id="{0D9ACBA7-A5B4-44F5-8271-BE6F4C437693}"/>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0A46F537-9E35-4AD2-A38D-6CB4CD63B2B0}"/>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§3.1.1 · Opgave 7 · Boekpagina 12</a:t>
            </a:r>
          </a:p>
        </p:txBody>
      </p:sp>
      <p:sp>
        <p:nvSpPr>
          <p:cNvPr id="4" name="slide-number">
            <a:extLst xmlns:a="http://schemas.openxmlformats.org/drawingml/2006/main">
              <a:ext uri="{FF2B5EF4-FFF2-40B4-BE49-F238E27FC236}">
                <a16:creationId xmlns:a16="http://schemas.microsoft.com/office/drawing/2014/main" id="{CEFBC7D6-7758-4285-B7A8-C591DE4F6779}"/>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18</a:t>
            </a:r>
          </a:p>
        </p:txBody>
      </p:sp>
      <p:sp>
        <p:nvSpPr>
          <p:cNvPr id="5" name="20 − 0,20Q = 2 + 0,10Q">
            <a:extLst xmlns:a="http://schemas.openxmlformats.org/drawingml/2006/main">
              <a:ext uri="{FF2B5EF4-FFF2-40B4-BE49-F238E27FC236}">
                <a16:creationId xmlns:a16="http://schemas.microsoft.com/office/drawing/2014/main" id="{B23974A8-DE9C-4387-8FAE-228C51526EB2}"/>
              </a:ext>
            </a:extLst>
          </p:cNvPr>
          <p:cNvSpPr>
            <a:spLocks xmlns:a="http://schemas.openxmlformats.org/drawingml/2006/main" noGrp="1"/>
          </p:cNvSpPr>
          <p:nvPr/>
        </p:nvSpPr>
        <p:spPr>
          <a:xfrm xmlns:a="http://schemas.openxmlformats.org/drawingml/2006/main">
            <a:off x="571500" y="2266950"/>
            <a:ext cx="14097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0">
                <a:solidFill>
                  <a:srgbClr val="183247"/>
                </a:solidFill>
                <a:latin typeface="Arial"/>
                <a:ea typeface="Arial"/>
                <a:cs typeface="Arial"/>
              </a:defRPr>
            </a:pPr>
            <a:r>
              <a:rPr sz="3375" b="0">
                <a:solidFill>
                  <a:srgbClr val="183247"/>
                </a:solidFill>
                <a:latin typeface="Arial"/>
                <a:ea typeface="Arial"/>
                <a:cs typeface="Arial"/>
              </a:rPr>
              <a:t>20 − 0,20Q = 2 + 0,10Q</a:t>
            </a:r>
          </a:p>
        </p:txBody>
      </p:sp>
      <p:sp>
        <p:nvSpPr>
          <p:cNvPr id="6" name="18 = 0,30Q">
            <a:extLst xmlns:a="http://schemas.openxmlformats.org/drawingml/2006/main">
              <a:ext uri="{FF2B5EF4-FFF2-40B4-BE49-F238E27FC236}">
                <a16:creationId xmlns:a16="http://schemas.microsoft.com/office/drawing/2014/main" id="{5BCA037E-66F0-4E4B-8C91-F374BC489592}"/>
              </a:ext>
            </a:extLst>
          </p:cNvPr>
          <p:cNvSpPr>
            <a:spLocks xmlns:a="http://schemas.openxmlformats.org/drawingml/2006/main" noGrp="1"/>
          </p:cNvSpPr>
          <p:nvPr/>
        </p:nvSpPr>
        <p:spPr>
          <a:xfrm xmlns:a="http://schemas.openxmlformats.org/drawingml/2006/main">
            <a:off x="571500" y="3314700"/>
            <a:ext cx="14097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0">
                <a:solidFill>
                  <a:srgbClr val="183247"/>
                </a:solidFill>
                <a:latin typeface="Arial"/>
                <a:ea typeface="Arial"/>
                <a:cs typeface="Arial"/>
              </a:defRPr>
            </a:pPr>
            <a:r>
              <a:rPr sz="3375" b="0">
                <a:solidFill>
                  <a:srgbClr val="183247"/>
                </a:solidFill>
                <a:latin typeface="Arial"/>
                <a:ea typeface="Arial"/>
                <a:cs typeface="Arial"/>
              </a:rPr>
              <a:t>18 = 0,30Q</a:t>
            </a:r>
          </a:p>
        </p:txBody>
      </p:sp>
      <p:sp>
        <p:nvSpPr>
          <p:cNvPr id="7" name="Q₀ = 60 tassen per dag">
            <a:extLst xmlns:a="http://schemas.openxmlformats.org/drawingml/2006/main">
              <a:ext uri="{FF2B5EF4-FFF2-40B4-BE49-F238E27FC236}">
                <a16:creationId xmlns:a16="http://schemas.microsoft.com/office/drawing/2014/main" id="{877C6C31-55D8-4212-B097-9550082277DA}"/>
              </a:ext>
            </a:extLst>
          </p:cNvPr>
          <p:cNvSpPr>
            <a:spLocks xmlns:a="http://schemas.openxmlformats.org/drawingml/2006/main" noGrp="1"/>
          </p:cNvSpPr>
          <p:nvPr/>
        </p:nvSpPr>
        <p:spPr>
          <a:xfrm xmlns:a="http://schemas.openxmlformats.org/drawingml/2006/main">
            <a:off x="571500" y="4362450"/>
            <a:ext cx="14097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1A5276"/>
                </a:solidFill>
                <a:latin typeface="Arial"/>
                <a:ea typeface="Arial"/>
                <a:cs typeface="Arial"/>
              </a:defRPr>
            </a:pPr>
            <a:r>
              <a:rPr sz="3375" b="1">
                <a:solidFill>
                  <a:srgbClr val="1A5276"/>
                </a:solidFill>
                <a:latin typeface="Arial"/>
                <a:ea typeface="Arial"/>
                <a:cs typeface="Arial"/>
              </a:rPr>
              <a:t>Q₀ = 60 tassen per dag</a:t>
            </a:r>
          </a:p>
        </p:txBody>
      </p:sp>
      <p:sp>
        <p:nvSpPr>
          <p:cNvPr id="8" name="P₀ = 20 − 0,20 × 60 = € 8 per tas">
            <a:extLst xmlns:a="http://schemas.openxmlformats.org/drawingml/2006/main">
              <a:ext uri="{FF2B5EF4-FFF2-40B4-BE49-F238E27FC236}">
                <a16:creationId xmlns:a16="http://schemas.microsoft.com/office/drawing/2014/main" id="{696ACFC2-17D6-48B5-8A94-805385C0D23F}"/>
              </a:ext>
            </a:extLst>
          </p:cNvPr>
          <p:cNvSpPr>
            <a:spLocks xmlns:a="http://schemas.openxmlformats.org/drawingml/2006/main" noGrp="1"/>
          </p:cNvSpPr>
          <p:nvPr/>
        </p:nvSpPr>
        <p:spPr>
          <a:xfrm xmlns:a="http://schemas.openxmlformats.org/drawingml/2006/main">
            <a:off x="571500" y="6057900"/>
            <a:ext cx="1409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83247"/>
                </a:solidFill>
                <a:latin typeface="Arial"/>
                <a:ea typeface="Arial"/>
                <a:cs typeface="Arial"/>
              </a:defRPr>
            </a:pPr>
            <a:r>
              <a:rPr sz="3600" b="1">
                <a:solidFill>
                  <a:srgbClr val="183247"/>
                </a:solidFill>
                <a:latin typeface="Arial"/>
                <a:ea typeface="Arial"/>
                <a:cs typeface="Arial"/>
              </a:rPr>
              <a:t>P₀ = 20 − 0,20 × 60 = € 8 per tas</a:t>
            </a:r>
          </a:p>
        </p:txBody>
      </p:sp>
      <p:sp>
        <p:nvSpPr>
          <p:cNvPr id="9" name="Controle: 2 + 0,10 × 60 = 8">
            <a:extLst xmlns:a="http://schemas.openxmlformats.org/drawingml/2006/main">
              <a:ext uri="{FF2B5EF4-FFF2-40B4-BE49-F238E27FC236}">
                <a16:creationId xmlns:a16="http://schemas.microsoft.com/office/drawing/2014/main" id="{33EAEB37-9CA4-42B7-888D-B42AC4E480F4}"/>
              </a:ext>
            </a:extLst>
          </p:cNvPr>
          <p:cNvSpPr>
            <a:spLocks xmlns:a="http://schemas.openxmlformats.org/drawingml/2006/main" noGrp="1"/>
          </p:cNvSpPr>
          <p:nvPr/>
        </p:nvSpPr>
        <p:spPr>
          <a:xfrm xmlns:a="http://schemas.openxmlformats.org/drawingml/2006/main">
            <a:off x="571500" y="7258050"/>
            <a:ext cx="1409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E8449"/>
                </a:solidFill>
                <a:latin typeface="Arial"/>
                <a:ea typeface="Arial"/>
                <a:cs typeface="Arial"/>
              </a:defRPr>
            </a:pPr>
            <a:r>
              <a:rPr sz="2700" b="0">
                <a:solidFill>
                  <a:srgbClr val="1E8449"/>
                </a:solidFill>
                <a:latin typeface="Arial"/>
                <a:ea typeface="Arial"/>
                <a:cs typeface="Arial"/>
              </a:rPr>
              <a:t>Controle: 2 + 0,10 × 60 = 8</a:t>
            </a:r>
          </a:p>
        </p:txBody>
      </p:sp>
    </p:spTree>
    <p:extLst>
      <p:ext uri="{BB962C8B-B14F-4D97-AF65-F5344CB8AC3E}">
        <p14:creationId xmlns:p14="http://schemas.microsoft.com/office/powerpoint/2010/main" val="1436129116"/>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Opgave 7b · Belasting en nieuwe hoeveelheid">
            <a:extLst xmlns:a="http://schemas.openxmlformats.org/drawingml/2006/main">
              <a:ext uri="{FF2B5EF4-FFF2-40B4-BE49-F238E27FC236}">
                <a16:creationId xmlns:a16="http://schemas.microsoft.com/office/drawing/2014/main" id="{4554A242-D233-4AB2-A15E-99ABA84A2391}"/>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7b · Belasting en nieuwe hoeveelheid</a:t>
            </a:r>
          </a:p>
        </p:txBody>
      </p:sp>
      <p:sp>
        <p:nvSpPr>
          <p:cNvPr id="2" name="">
            <a:extLst xmlns:a="http://schemas.openxmlformats.org/drawingml/2006/main">
              <a:ext uri="{FF2B5EF4-FFF2-40B4-BE49-F238E27FC236}">
                <a16:creationId xmlns:a16="http://schemas.microsoft.com/office/drawing/2014/main" id="{36D5F049-A333-46F4-A757-71C3903B4AF1}"/>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A1F41E19-0DA6-4000-9765-3008B367D366}"/>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§3.1.1 · Opgave 7 · Boekpagina 12</a:t>
            </a:r>
          </a:p>
        </p:txBody>
      </p:sp>
      <p:sp>
        <p:nvSpPr>
          <p:cNvPr id="4" name="slide-number">
            <a:extLst xmlns:a="http://schemas.openxmlformats.org/drawingml/2006/main">
              <a:ext uri="{FF2B5EF4-FFF2-40B4-BE49-F238E27FC236}">
                <a16:creationId xmlns:a16="http://schemas.microsoft.com/office/drawing/2014/main" id="{DDFEB4F8-383E-451F-A17B-8658033A3F12}"/>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19</a:t>
            </a:r>
          </a:p>
        </p:txBody>
      </p:sp>
      <p:sp>
        <p:nvSpPr>
          <p:cNvPr id="5" name="Pc = Pp + 3 = (2 + 0,10Q) + 3">
            <a:extLst xmlns:a="http://schemas.openxmlformats.org/drawingml/2006/main">
              <a:ext uri="{FF2B5EF4-FFF2-40B4-BE49-F238E27FC236}">
                <a16:creationId xmlns:a16="http://schemas.microsoft.com/office/drawing/2014/main" id="{6EBA330F-A731-4538-825E-4807D6B66F05}"/>
              </a:ext>
            </a:extLst>
          </p:cNvPr>
          <p:cNvSpPr>
            <a:spLocks xmlns:a="http://schemas.openxmlformats.org/drawingml/2006/main" noGrp="1"/>
          </p:cNvSpPr>
          <p:nvPr/>
        </p:nvSpPr>
        <p:spPr>
          <a:xfrm xmlns:a="http://schemas.openxmlformats.org/drawingml/2006/main">
            <a:off x="571500" y="1990725"/>
            <a:ext cx="14097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0">
                <a:solidFill>
                  <a:srgbClr val="183247"/>
                </a:solidFill>
                <a:latin typeface="Arial"/>
                <a:ea typeface="Arial"/>
                <a:cs typeface="Arial"/>
              </a:defRPr>
            </a:pPr>
            <a:r>
              <a:rPr sz="3450" b="0">
                <a:solidFill>
                  <a:srgbClr val="183247"/>
                </a:solidFill>
                <a:latin typeface="Arial"/>
                <a:ea typeface="Arial"/>
                <a:cs typeface="Arial"/>
              </a:rPr>
              <a:t>Pc = Pp + 3 = (2 + 0,10Q) + 3</a:t>
            </a:r>
          </a:p>
        </p:txBody>
      </p:sp>
      <p:sp>
        <p:nvSpPr>
          <p:cNvPr id="6" name="A + t: Pc = 5 + 0,10Q">
            <a:extLst xmlns:a="http://schemas.openxmlformats.org/drawingml/2006/main">
              <a:ext uri="{FF2B5EF4-FFF2-40B4-BE49-F238E27FC236}">
                <a16:creationId xmlns:a16="http://schemas.microsoft.com/office/drawing/2014/main" id="{12BA4FB1-87F7-4225-97FB-143AE100EF98}"/>
              </a:ext>
            </a:extLst>
          </p:cNvPr>
          <p:cNvSpPr>
            <a:spLocks xmlns:a="http://schemas.openxmlformats.org/drawingml/2006/main" noGrp="1"/>
          </p:cNvSpPr>
          <p:nvPr/>
        </p:nvSpPr>
        <p:spPr>
          <a:xfrm xmlns:a="http://schemas.openxmlformats.org/drawingml/2006/main">
            <a:off x="571500" y="3076575"/>
            <a:ext cx="14097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A94D16"/>
                </a:solidFill>
                <a:latin typeface="Arial"/>
                <a:ea typeface="Arial"/>
                <a:cs typeface="Arial"/>
              </a:defRPr>
            </a:pPr>
            <a:r>
              <a:rPr sz="3450" b="1">
                <a:solidFill>
                  <a:srgbClr val="A94D16"/>
                </a:solidFill>
                <a:latin typeface="Arial"/>
                <a:ea typeface="Arial"/>
                <a:cs typeface="Arial"/>
              </a:rPr>
              <a:t>A + t: Pc = 5 + 0,10Q</a:t>
            </a:r>
          </a:p>
        </p:txBody>
      </p:sp>
      <p:sp>
        <p:nvSpPr>
          <p:cNvPr id="7" name="20 − 0,20Q = 5 + 0,10Q">
            <a:extLst xmlns:a="http://schemas.openxmlformats.org/drawingml/2006/main">
              <a:ext uri="{FF2B5EF4-FFF2-40B4-BE49-F238E27FC236}">
                <a16:creationId xmlns:a16="http://schemas.microsoft.com/office/drawing/2014/main" id="{9D61B74C-4235-42A4-B6D9-DBAEFE0B78AD}"/>
              </a:ext>
            </a:extLst>
          </p:cNvPr>
          <p:cNvSpPr>
            <a:spLocks xmlns:a="http://schemas.openxmlformats.org/drawingml/2006/main" noGrp="1"/>
          </p:cNvSpPr>
          <p:nvPr/>
        </p:nvSpPr>
        <p:spPr>
          <a:xfrm xmlns:a="http://schemas.openxmlformats.org/drawingml/2006/main">
            <a:off x="571500" y="4362450"/>
            <a:ext cx="14097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0">
                <a:solidFill>
                  <a:srgbClr val="183247"/>
                </a:solidFill>
                <a:latin typeface="Arial"/>
                <a:ea typeface="Arial"/>
                <a:cs typeface="Arial"/>
              </a:defRPr>
            </a:pPr>
            <a:r>
              <a:rPr sz="3300" b="0">
                <a:solidFill>
                  <a:srgbClr val="183247"/>
                </a:solidFill>
                <a:latin typeface="Arial"/>
                <a:ea typeface="Arial"/>
                <a:cs typeface="Arial"/>
              </a:rPr>
              <a:t>20 − 0,20Q = 5 + 0,10Q</a:t>
            </a:r>
          </a:p>
        </p:txBody>
      </p:sp>
      <p:sp>
        <p:nvSpPr>
          <p:cNvPr id="8" name="15 = 0,30Q">
            <a:extLst xmlns:a="http://schemas.openxmlformats.org/drawingml/2006/main">
              <a:ext uri="{FF2B5EF4-FFF2-40B4-BE49-F238E27FC236}">
                <a16:creationId xmlns:a16="http://schemas.microsoft.com/office/drawing/2014/main" id="{09F47B12-19F9-428A-ACE8-5110E79BB2FB}"/>
              </a:ext>
            </a:extLst>
          </p:cNvPr>
          <p:cNvSpPr>
            <a:spLocks xmlns:a="http://schemas.openxmlformats.org/drawingml/2006/main" noGrp="1"/>
          </p:cNvSpPr>
          <p:nvPr/>
        </p:nvSpPr>
        <p:spPr>
          <a:xfrm xmlns:a="http://schemas.openxmlformats.org/drawingml/2006/main">
            <a:off x="571500" y="5467350"/>
            <a:ext cx="14097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0">
                <a:solidFill>
                  <a:srgbClr val="183247"/>
                </a:solidFill>
                <a:latin typeface="Arial"/>
                <a:ea typeface="Arial"/>
                <a:cs typeface="Arial"/>
              </a:defRPr>
            </a:pPr>
            <a:r>
              <a:rPr sz="3300" b="0">
                <a:solidFill>
                  <a:srgbClr val="183247"/>
                </a:solidFill>
                <a:latin typeface="Arial"/>
                <a:ea typeface="Arial"/>
                <a:cs typeface="Arial"/>
              </a:rPr>
              <a:t>15 = 0,30Q</a:t>
            </a:r>
          </a:p>
        </p:txBody>
      </p:sp>
      <p:sp>
        <p:nvSpPr>
          <p:cNvPr id="9" name="Qt = 50 tassen per dag">
            <a:extLst xmlns:a="http://schemas.openxmlformats.org/drawingml/2006/main">
              <a:ext uri="{FF2B5EF4-FFF2-40B4-BE49-F238E27FC236}">
                <a16:creationId xmlns:a16="http://schemas.microsoft.com/office/drawing/2014/main" id="{5345B499-F12C-4B35-A958-8C5227599461}"/>
              </a:ext>
            </a:extLst>
          </p:cNvPr>
          <p:cNvSpPr>
            <a:spLocks xmlns:a="http://schemas.openxmlformats.org/drawingml/2006/main" noGrp="1"/>
          </p:cNvSpPr>
          <p:nvPr/>
        </p:nvSpPr>
        <p:spPr>
          <a:xfrm xmlns:a="http://schemas.openxmlformats.org/drawingml/2006/main">
            <a:off x="571500" y="6572250"/>
            <a:ext cx="14097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A5276"/>
                </a:solidFill>
                <a:latin typeface="Arial"/>
                <a:ea typeface="Arial"/>
                <a:cs typeface="Arial"/>
              </a:defRPr>
            </a:pPr>
            <a:r>
              <a:rPr sz="3300" b="1">
                <a:solidFill>
                  <a:srgbClr val="1A5276"/>
                </a:solidFill>
                <a:latin typeface="Arial"/>
                <a:ea typeface="Arial"/>
                <a:cs typeface="Arial"/>
              </a:rPr>
              <a:t>Qt = 50 tassen per dag</a:t>
            </a:r>
          </a:p>
        </p:txBody>
      </p:sp>
    </p:spTree>
    <p:extLst>
      <p:ext uri="{BB962C8B-B14F-4D97-AF65-F5344CB8AC3E}">
        <p14:creationId xmlns:p14="http://schemas.microsoft.com/office/powerpoint/2010/main" val="1015819706"/>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Opgave 7c · Pc en Pp">
            <a:extLst xmlns:a="http://schemas.openxmlformats.org/drawingml/2006/main">
              <a:ext uri="{FF2B5EF4-FFF2-40B4-BE49-F238E27FC236}">
                <a16:creationId xmlns:a16="http://schemas.microsoft.com/office/drawing/2014/main" id="{0A2F97D3-1191-4E7A-A6B8-91532ECE0C1B}"/>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7c · Pc en Pp</a:t>
            </a:r>
          </a:p>
        </p:txBody>
      </p:sp>
      <p:sp>
        <p:nvSpPr>
          <p:cNvPr id="2" name="">
            <a:extLst xmlns:a="http://schemas.openxmlformats.org/drawingml/2006/main">
              <a:ext uri="{FF2B5EF4-FFF2-40B4-BE49-F238E27FC236}">
                <a16:creationId xmlns:a16="http://schemas.microsoft.com/office/drawing/2014/main" id="{C079287A-4E42-4AE3-B6AC-C95DC78ADF6C}"/>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6FC086C2-8CFE-4C2A-8E5D-066922019051}"/>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§3.1.1 · Opgave 7 · Boekpagina 12</a:t>
            </a:r>
          </a:p>
        </p:txBody>
      </p:sp>
      <p:sp>
        <p:nvSpPr>
          <p:cNvPr id="4" name="slide-number">
            <a:extLst xmlns:a="http://schemas.openxmlformats.org/drawingml/2006/main">
              <a:ext uri="{FF2B5EF4-FFF2-40B4-BE49-F238E27FC236}">
                <a16:creationId xmlns:a16="http://schemas.microsoft.com/office/drawing/2014/main" id="{B1E04BB8-829E-40D2-81CE-DF3C89CC445C}"/>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20</a:t>
            </a:r>
          </a:p>
        </p:txBody>
      </p:sp>
      <p:sp>
        <p:nvSpPr>
          <p:cNvPr id="5" name="Qt = 50 tassen per dag">
            <a:extLst xmlns:a="http://schemas.openxmlformats.org/drawingml/2006/main">
              <a:ext uri="{FF2B5EF4-FFF2-40B4-BE49-F238E27FC236}">
                <a16:creationId xmlns:a16="http://schemas.microsoft.com/office/drawing/2014/main" id="{C572BA7F-E205-4A6D-86D4-7A445718A410}"/>
              </a:ext>
            </a:extLst>
          </p:cNvPr>
          <p:cNvSpPr>
            <a:spLocks xmlns:a="http://schemas.openxmlformats.org/drawingml/2006/main" noGrp="1"/>
          </p:cNvSpPr>
          <p:nvPr/>
        </p:nvSpPr>
        <p:spPr>
          <a:xfrm xmlns:a="http://schemas.openxmlformats.org/drawingml/2006/main">
            <a:off x="571500" y="1866900"/>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3247"/>
                </a:solidFill>
                <a:latin typeface="Arial"/>
                <a:ea typeface="Arial"/>
                <a:cs typeface="Arial"/>
              </a:defRPr>
            </a:pPr>
            <a:r>
              <a:rPr sz="3225" b="1">
                <a:solidFill>
                  <a:srgbClr val="183247"/>
                </a:solidFill>
                <a:latin typeface="Arial"/>
                <a:ea typeface="Arial"/>
                <a:cs typeface="Arial"/>
              </a:rPr>
              <a:t>Qt = 50 tassen per dag</a:t>
            </a:r>
          </a:p>
        </p:txBody>
      </p:sp>
      <p:sp>
        <p:nvSpPr>
          <p:cNvPr id="6" name="Pc = 20 − 0,20 × 50 = € 10 per tas">
            <a:extLst xmlns:a="http://schemas.openxmlformats.org/drawingml/2006/main">
              <a:ext uri="{FF2B5EF4-FFF2-40B4-BE49-F238E27FC236}">
                <a16:creationId xmlns:a16="http://schemas.microsoft.com/office/drawing/2014/main" id="{08E1B87A-1B01-4ACF-88C3-55A3D30D8689}"/>
              </a:ext>
            </a:extLst>
          </p:cNvPr>
          <p:cNvSpPr>
            <a:spLocks xmlns:a="http://schemas.openxmlformats.org/drawingml/2006/main" noGrp="1"/>
          </p:cNvSpPr>
          <p:nvPr/>
        </p:nvSpPr>
        <p:spPr>
          <a:xfrm xmlns:a="http://schemas.openxmlformats.org/drawingml/2006/main">
            <a:off x="571500" y="3352800"/>
            <a:ext cx="1409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A5276"/>
                </a:solidFill>
                <a:latin typeface="Arial"/>
                <a:ea typeface="Arial"/>
                <a:cs typeface="Arial"/>
              </a:defRPr>
            </a:pPr>
            <a:r>
              <a:rPr sz="3600" b="1">
                <a:solidFill>
                  <a:srgbClr val="1A5276"/>
                </a:solidFill>
                <a:latin typeface="Arial"/>
                <a:ea typeface="Arial"/>
                <a:cs typeface="Arial"/>
              </a:rPr>
              <a:t>Pc = 20 − 0,20 × 50 = € 10 per tas</a:t>
            </a:r>
          </a:p>
        </p:txBody>
      </p:sp>
      <p:sp>
        <p:nvSpPr>
          <p:cNvPr id="7" name="Pp = 2 + 0,10 × 50 = € 7 per tas">
            <a:extLst xmlns:a="http://schemas.openxmlformats.org/drawingml/2006/main">
              <a:ext uri="{FF2B5EF4-FFF2-40B4-BE49-F238E27FC236}">
                <a16:creationId xmlns:a16="http://schemas.microsoft.com/office/drawing/2014/main" id="{1687DB8D-5ED6-4E78-8AA2-05F8A56B4C61}"/>
              </a:ext>
            </a:extLst>
          </p:cNvPr>
          <p:cNvSpPr>
            <a:spLocks xmlns:a="http://schemas.openxmlformats.org/drawingml/2006/main" noGrp="1"/>
          </p:cNvSpPr>
          <p:nvPr/>
        </p:nvSpPr>
        <p:spPr>
          <a:xfrm xmlns:a="http://schemas.openxmlformats.org/drawingml/2006/main">
            <a:off x="571500" y="5029200"/>
            <a:ext cx="1409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E8449"/>
                </a:solidFill>
                <a:latin typeface="Arial"/>
                <a:ea typeface="Arial"/>
                <a:cs typeface="Arial"/>
              </a:defRPr>
            </a:pPr>
            <a:r>
              <a:rPr sz="3600" b="1">
                <a:solidFill>
                  <a:srgbClr val="1E8449"/>
                </a:solidFill>
                <a:latin typeface="Arial"/>
                <a:ea typeface="Arial"/>
                <a:cs typeface="Arial"/>
              </a:rPr>
              <a:t>Pp = 2 + 0,10 × 50 = € 7 per tas</a:t>
            </a:r>
          </a:p>
        </p:txBody>
      </p:sp>
      <p:sp>
        <p:nvSpPr>
          <p:cNvPr id="8" name="Controle: 10 − 7 = € 3 per tas">
            <a:extLst xmlns:a="http://schemas.openxmlformats.org/drawingml/2006/main">
              <a:ext uri="{FF2B5EF4-FFF2-40B4-BE49-F238E27FC236}">
                <a16:creationId xmlns:a16="http://schemas.microsoft.com/office/drawing/2014/main" id="{D38AB2CB-C0B8-49C9-A87F-1086B2A3407A}"/>
              </a:ext>
            </a:extLst>
          </p:cNvPr>
          <p:cNvSpPr>
            <a:spLocks xmlns:a="http://schemas.openxmlformats.org/drawingml/2006/main" noGrp="1"/>
          </p:cNvSpPr>
          <p:nvPr/>
        </p:nvSpPr>
        <p:spPr>
          <a:xfrm xmlns:a="http://schemas.openxmlformats.org/drawingml/2006/main">
            <a:off x="571500" y="7010400"/>
            <a:ext cx="14097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A94D16"/>
                </a:solidFill>
                <a:latin typeface="Arial"/>
                <a:ea typeface="Arial"/>
                <a:cs typeface="Arial"/>
              </a:defRPr>
            </a:pPr>
            <a:r>
              <a:rPr sz="3225" b="1">
                <a:solidFill>
                  <a:srgbClr val="A94D16"/>
                </a:solidFill>
                <a:latin typeface="Arial"/>
                <a:ea typeface="Arial"/>
                <a:cs typeface="Arial"/>
              </a:rPr>
              <a:t>Controle: 10 − 7 = € 3 per tas</a:t>
            </a:r>
          </a:p>
        </p:txBody>
      </p:sp>
    </p:spTree>
    <p:extLst>
      <p:ext uri="{BB962C8B-B14F-4D97-AF65-F5344CB8AC3E}">
        <p14:creationId xmlns:p14="http://schemas.microsoft.com/office/powerpoint/2010/main" val="586446743"/>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Opgave 7d · De nieuwe aanbodlijn">
            <a:extLst xmlns:a="http://schemas.openxmlformats.org/drawingml/2006/main">
              <a:ext uri="{FF2B5EF4-FFF2-40B4-BE49-F238E27FC236}">
                <a16:creationId xmlns:a16="http://schemas.microsoft.com/office/drawing/2014/main" id="{3048ADBE-0D36-4FE4-80FE-83FFC71EC1BD}"/>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7d · De nieuwe aanbodlijn</a:t>
            </a:r>
          </a:p>
        </p:txBody>
      </p:sp>
      <p:sp>
        <p:nvSpPr>
          <p:cNvPr id="2" name="">
            <a:extLst xmlns:a="http://schemas.openxmlformats.org/drawingml/2006/main">
              <a:ext uri="{FF2B5EF4-FFF2-40B4-BE49-F238E27FC236}">
                <a16:creationId xmlns:a16="http://schemas.microsoft.com/office/drawing/2014/main" id="{5328E209-40EB-40AC-815A-C2694758BE8A}"/>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A1C520B5-33DB-4AE2-A758-CC348F1D187A}"/>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§3.1.1 · Opgave 7 · Boekpagina 12</a:t>
            </a:r>
          </a:p>
        </p:txBody>
      </p:sp>
      <p:sp>
        <p:nvSpPr>
          <p:cNvPr id="4" name="slide-number">
            <a:extLst xmlns:a="http://schemas.openxmlformats.org/drawingml/2006/main">
              <a:ext uri="{FF2B5EF4-FFF2-40B4-BE49-F238E27FC236}">
                <a16:creationId xmlns:a16="http://schemas.microsoft.com/office/drawing/2014/main" id="{54AB54EF-FC88-4AA1-9913-C3DBB0E4393F}"/>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21</a:t>
            </a:r>
          </a:p>
        </p:txBody>
      </p:sp>
      <p:graphicFrame>
        <p:nvGraphicFramePr>
          <p:cNvPr id="13" name="Chart"/>
          <p:cNvGraphicFramePr/>
          <p:nvPr/>
        </p:nvGraphicFramePr>
        <p:xfrm>
          <a:off xmlns:a="http://schemas.openxmlformats.org/drawingml/2006/main" x="571500" y="2085975"/>
          <a:ext xmlns:a="http://schemas.openxmlformats.org/drawingml/2006/main" cx="9906000" cy="5429250"/>
        </p:xfrm>
        <a:graphic xmlns:a="http://schemas.openxmlformats.org/drawingml/2006/main">
          <a:graphicData uri="http://schemas.openxmlformats.org/drawingml/2006/chart">
            <c:chart xmlns:r="http://schemas.openxmlformats.org/officeDocument/2006/relationships" xmlns:c="http://schemas.openxmlformats.org/drawingml/2006/chart" r:id="R3a8c6d11d7104784"/>
          </a:graphicData>
        </a:graphic>
      </p:graphicFrame>
      <p:sp>
        <p:nvSpPr>
          <p:cNvPr id="6" name="A + t:&#10;Pc = 5 + 0,10Q">
            <a:extLst xmlns:a="http://schemas.openxmlformats.org/drawingml/2006/main">
              <a:ext uri="{FF2B5EF4-FFF2-40B4-BE49-F238E27FC236}">
                <a16:creationId xmlns:a16="http://schemas.microsoft.com/office/drawing/2014/main" id="{03F78C38-DE90-474C-B2C8-B13DDD50276D}"/>
              </a:ext>
            </a:extLst>
          </p:cNvPr>
          <p:cNvSpPr>
            <a:spLocks xmlns:a="http://schemas.openxmlformats.org/drawingml/2006/main" noGrp="1"/>
          </p:cNvSpPr>
          <p:nvPr/>
        </p:nvSpPr>
        <p:spPr>
          <a:xfrm xmlns:a="http://schemas.openxmlformats.org/drawingml/2006/main">
            <a:off x="10858500" y="2562225"/>
            <a:ext cx="381000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A94D16"/>
                </a:solidFill>
                <a:latin typeface="Arial"/>
                <a:ea typeface="Arial"/>
                <a:cs typeface="Arial"/>
              </a:defRPr>
            </a:pPr>
            <a:r>
              <a:rPr sz="2700" b="1">
                <a:solidFill>
                  <a:srgbClr val="A94D16"/>
                </a:solidFill>
                <a:latin typeface="Arial"/>
                <a:ea typeface="Arial"/>
                <a:cs typeface="Arial"/>
              </a:rPr>
              <a:t>A + t:</a:t>
            </a:r>
          </a:p>
          <a:p xmlns:a="http://schemas.openxmlformats.org/drawingml/2006/main">
            <a:pPr algn="l">
              <a:defRPr sz="2700" b="1">
                <a:solidFill>
                  <a:srgbClr val="A94D16"/>
                </a:solidFill>
                <a:latin typeface="Arial"/>
                <a:ea typeface="Arial"/>
                <a:cs typeface="Arial"/>
              </a:defRPr>
            </a:pPr>
            <a:r>
              <a:rPr sz="2700" b="1">
                <a:solidFill>
                  <a:srgbClr val="A94D16"/>
                </a:solidFill>
                <a:latin typeface="Arial"/>
                <a:ea typeface="Arial"/>
                <a:cs typeface="Arial"/>
              </a:rPr>
              <a:t>Pc = 5 + 0,10Q</a:t>
            </a:r>
          </a:p>
        </p:txBody>
      </p:sp>
      <p:sp>
        <p:nvSpPr>
          <p:cNvPr id="7" name="Twee punten:&#10;(0; 5) en (100; 15)">
            <a:extLst xmlns:a="http://schemas.openxmlformats.org/drawingml/2006/main">
              <a:ext uri="{FF2B5EF4-FFF2-40B4-BE49-F238E27FC236}">
                <a16:creationId xmlns:a16="http://schemas.microsoft.com/office/drawing/2014/main" id="{366437E2-9143-4E09-AD95-1670EC8588D5}"/>
              </a:ext>
            </a:extLst>
          </p:cNvPr>
          <p:cNvSpPr>
            <a:spLocks xmlns:a="http://schemas.openxmlformats.org/drawingml/2006/main" noGrp="1"/>
          </p:cNvSpPr>
          <p:nvPr/>
        </p:nvSpPr>
        <p:spPr>
          <a:xfrm xmlns:a="http://schemas.openxmlformats.org/drawingml/2006/main">
            <a:off x="10858500" y="4524375"/>
            <a:ext cx="38100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Twee punten:</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(0; 5) en (100; 15)</a:t>
            </a:r>
          </a:p>
        </p:txBody>
      </p:sp>
      <p:sp>
        <p:nvSpPr>
          <p:cNvPr id="8" name="Evenwijdig aan A">
            <a:extLst xmlns:a="http://schemas.openxmlformats.org/drawingml/2006/main">
              <a:ext uri="{FF2B5EF4-FFF2-40B4-BE49-F238E27FC236}">
                <a16:creationId xmlns:a16="http://schemas.microsoft.com/office/drawing/2014/main" id="{E1B3D919-AD46-4CF6-A63D-1FC28C5A4D82}"/>
              </a:ext>
            </a:extLst>
          </p:cNvPr>
          <p:cNvSpPr>
            <a:spLocks xmlns:a="http://schemas.openxmlformats.org/drawingml/2006/main" noGrp="1"/>
          </p:cNvSpPr>
          <p:nvPr/>
        </p:nvSpPr>
        <p:spPr>
          <a:xfrm xmlns:a="http://schemas.openxmlformats.org/drawingml/2006/main">
            <a:off x="10858500" y="6781800"/>
            <a:ext cx="38100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83247"/>
                </a:solidFill>
                <a:latin typeface="Arial"/>
                <a:ea typeface="Arial"/>
                <a:cs typeface="Arial"/>
              </a:defRPr>
            </a:pPr>
            <a:r>
              <a:rPr sz="2550" b="1">
                <a:solidFill>
                  <a:srgbClr val="183247"/>
                </a:solidFill>
                <a:latin typeface="Arial"/>
                <a:ea typeface="Arial"/>
                <a:cs typeface="Arial"/>
              </a:rPr>
              <a:t>Evenwijdig aan A</a:t>
            </a:r>
          </a:p>
        </p:txBody>
      </p:sp>
    </p:spTree>
    <p:extLst>
      <p:ext uri="{BB962C8B-B14F-4D97-AF65-F5344CB8AC3E}">
        <p14:creationId xmlns:p14="http://schemas.microsoft.com/office/powerpoint/2010/main" val="1285273765"/>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Opgave 7d · Twee prijzen en de wig">
            <a:extLst xmlns:a="http://schemas.openxmlformats.org/drawingml/2006/main">
              <a:ext uri="{FF2B5EF4-FFF2-40B4-BE49-F238E27FC236}">
                <a16:creationId xmlns:a16="http://schemas.microsoft.com/office/drawing/2014/main" id="{33B1F27E-FFA7-4FC3-9FB6-0032351E2A98}"/>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7d · Twee prijzen en de wig</a:t>
            </a:r>
          </a:p>
        </p:txBody>
      </p:sp>
      <p:sp>
        <p:nvSpPr>
          <p:cNvPr id="2" name="">
            <a:extLst xmlns:a="http://schemas.openxmlformats.org/drawingml/2006/main">
              <a:ext uri="{FF2B5EF4-FFF2-40B4-BE49-F238E27FC236}">
                <a16:creationId xmlns:a16="http://schemas.microsoft.com/office/drawing/2014/main" id="{D7350D81-E94D-41FE-A96A-6AA74E88E261}"/>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8634760E-A7CD-4DFC-992B-A0DD6EC99AD2}"/>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§3.1.1 · Opgave 7 · Boekpagina 12</a:t>
            </a:r>
          </a:p>
        </p:txBody>
      </p:sp>
      <p:sp>
        <p:nvSpPr>
          <p:cNvPr id="4" name="slide-number">
            <a:extLst xmlns:a="http://schemas.openxmlformats.org/drawingml/2006/main">
              <a:ext uri="{FF2B5EF4-FFF2-40B4-BE49-F238E27FC236}">
                <a16:creationId xmlns:a16="http://schemas.microsoft.com/office/drawing/2014/main" id="{A90B9747-D047-44FA-B290-1745EED7C994}"/>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22</a:t>
            </a:r>
          </a:p>
        </p:txBody>
      </p:sp>
      <p:graphicFrame>
        <p:nvGraphicFramePr>
          <p:cNvPr id="13" name="Chart"/>
          <p:cNvGraphicFramePr/>
          <p:nvPr/>
        </p:nvGraphicFramePr>
        <p:xfrm>
          <a:off xmlns:a="http://schemas.openxmlformats.org/drawingml/2006/main" x="571500" y="2085975"/>
          <a:ext xmlns:a="http://schemas.openxmlformats.org/drawingml/2006/main" cx="9906000" cy="5429250"/>
        </p:xfrm>
        <a:graphic xmlns:a="http://schemas.openxmlformats.org/drawingml/2006/main">
          <a:graphicData uri="http://schemas.openxmlformats.org/drawingml/2006/chart">
            <c:chart xmlns:r="http://schemas.openxmlformats.org/officeDocument/2006/relationships" xmlns:c="http://schemas.openxmlformats.org/drawingml/2006/chart" r:id="R06e219cc7ec24416"/>
          </a:graphicData>
        </a:graphic>
      </p:graphicFrame>
      <p:sp>
        <p:nvSpPr>
          <p:cNvPr id="6" name="Qt = 50&#10;tassen per dag">
            <a:extLst xmlns:a="http://schemas.openxmlformats.org/drawingml/2006/main">
              <a:ext uri="{FF2B5EF4-FFF2-40B4-BE49-F238E27FC236}">
                <a16:creationId xmlns:a16="http://schemas.microsoft.com/office/drawing/2014/main" id="{B3B71150-1C20-42DB-96BD-3EF1052769D9}"/>
              </a:ext>
            </a:extLst>
          </p:cNvPr>
          <p:cNvSpPr>
            <a:spLocks xmlns:a="http://schemas.openxmlformats.org/drawingml/2006/main" noGrp="1"/>
          </p:cNvSpPr>
          <p:nvPr/>
        </p:nvSpPr>
        <p:spPr>
          <a:xfrm xmlns:a="http://schemas.openxmlformats.org/drawingml/2006/main">
            <a:off x="10858500" y="2295525"/>
            <a:ext cx="38100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83247"/>
                </a:solidFill>
                <a:latin typeface="Arial"/>
                <a:ea typeface="Arial"/>
                <a:cs typeface="Arial"/>
              </a:defRPr>
            </a:pPr>
            <a:r>
              <a:rPr sz="2700" b="1">
                <a:solidFill>
                  <a:srgbClr val="183247"/>
                </a:solidFill>
                <a:latin typeface="Arial"/>
                <a:ea typeface="Arial"/>
                <a:cs typeface="Arial"/>
              </a:rPr>
              <a:t>Qt = 50</a:t>
            </a:r>
          </a:p>
          <a:p xmlns:a="http://schemas.openxmlformats.org/drawingml/2006/main">
            <a:pPr algn="l">
              <a:defRPr sz="2700" b="1">
                <a:solidFill>
                  <a:srgbClr val="183247"/>
                </a:solidFill>
                <a:latin typeface="Arial"/>
                <a:ea typeface="Arial"/>
                <a:cs typeface="Arial"/>
              </a:defRPr>
            </a:pPr>
            <a:r>
              <a:rPr sz="2700" b="1">
                <a:solidFill>
                  <a:srgbClr val="183247"/>
                </a:solidFill>
                <a:latin typeface="Arial"/>
                <a:ea typeface="Arial"/>
                <a:cs typeface="Arial"/>
              </a:rPr>
              <a:t>tassen per dag</a:t>
            </a:r>
          </a:p>
        </p:txBody>
      </p:sp>
      <p:sp>
        <p:nvSpPr>
          <p:cNvPr id="7" name="Pc = € 10 op V&#10;Pp = € 7 op A">
            <a:extLst xmlns:a="http://schemas.openxmlformats.org/drawingml/2006/main">
              <a:ext uri="{FF2B5EF4-FFF2-40B4-BE49-F238E27FC236}">
                <a16:creationId xmlns:a16="http://schemas.microsoft.com/office/drawing/2014/main" id="{805B7AD4-E6A2-44AD-8963-5F08C802AC89}"/>
              </a:ext>
            </a:extLst>
          </p:cNvPr>
          <p:cNvSpPr>
            <a:spLocks xmlns:a="http://schemas.openxmlformats.org/drawingml/2006/main" noGrp="1"/>
          </p:cNvSpPr>
          <p:nvPr/>
        </p:nvSpPr>
        <p:spPr>
          <a:xfrm xmlns:a="http://schemas.openxmlformats.org/drawingml/2006/main">
            <a:off x="10858500" y="4133850"/>
            <a:ext cx="3810000" cy="1323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A5276"/>
                </a:solidFill>
                <a:latin typeface="Arial"/>
                <a:ea typeface="Arial"/>
                <a:cs typeface="Arial"/>
              </a:defRPr>
            </a:pPr>
            <a:r>
              <a:rPr sz="2700" b="1">
                <a:solidFill>
                  <a:srgbClr val="1A5276"/>
                </a:solidFill>
                <a:latin typeface="Arial"/>
                <a:ea typeface="Arial"/>
                <a:cs typeface="Arial"/>
              </a:rPr>
              <a:t>Pc = € 10 op V</a:t>
            </a:r>
          </a:p>
          <a:p xmlns:a="http://schemas.openxmlformats.org/drawingml/2006/main">
            <a:pPr algn="l">
              <a:defRPr sz="2700" b="1">
                <a:solidFill>
                  <a:srgbClr val="1A5276"/>
                </a:solidFill>
                <a:latin typeface="Arial"/>
                <a:ea typeface="Arial"/>
                <a:cs typeface="Arial"/>
              </a:defRPr>
            </a:pPr>
            <a:r>
              <a:rPr sz="2700" b="1">
                <a:solidFill>
                  <a:srgbClr val="1A5276"/>
                </a:solidFill>
                <a:latin typeface="Arial"/>
                <a:ea typeface="Arial"/>
                <a:cs typeface="Arial"/>
              </a:rPr>
              <a:t>Pp = € 7 op A</a:t>
            </a:r>
          </a:p>
        </p:txBody>
      </p:sp>
      <p:sp>
        <p:nvSpPr>
          <p:cNvPr id="8" name="Wig: 10 − 7&#10;= € 3 per tas">
            <a:extLst xmlns:a="http://schemas.openxmlformats.org/drawingml/2006/main">
              <a:ext uri="{FF2B5EF4-FFF2-40B4-BE49-F238E27FC236}">
                <a16:creationId xmlns:a16="http://schemas.microsoft.com/office/drawing/2014/main" id="{6DE1C93D-CEAC-4779-B3F6-662210C73D9A}"/>
              </a:ext>
            </a:extLst>
          </p:cNvPr>
          <p:cNvSpPr>
            <a:spLocks xmlns:a="http://schemas.openxmlformats.org/drawingml/2006/main" noGrp="1"/>
          </p:cNvSpPr>
          <p:nvPr/>
        </p:nvSpPr>
        <p:spPr>
          <a:xfrm xmlns:a="http://schemas.openxmlformats.org/drawingml/2006/main">
            <a:off x="10858500" y="6410325"/>
            <a:ext cx="38100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A94D16"/>
                </a:solidFill>
                <a:latin typeface="Arial"/>
                <a:ea typeface="Arial"/>
                <a:cs typeface="Arial"/>
              </a:defRPr>
            </a:pPr>
            <a:r>
              <a:rPr sz="2700" b="1">
                <a:solidFill>
                  <a:srgbClr val="A94D16"/>
                </a:solidFill>
                <a:latin typeface="Arial"/>
                <a:ea typeface="Arial"/>
                <a:cs typeface="Arial"/>
              </a:rPr>
              <a:t>Wig: 10 − 7</a:t>
            </a:r>
          </a:p>
          <a:p xmlns:a="http://schemas.openxmlformats.org/drawingml/2006/main">
            <a:pPr algn="l">
              <a:defRPr sz="2700" b="1">
                <a:solidFill>
                  <a:srgbClr val="A94D16"/>
                </a:solidFill>
                <a:latin typeface="Arial"/>
                <a:ea typeface="Arial"/>
                <a:cs typeface="Arial"/>
              </a:defRPr>
            </a:pPr>
            <a:r>
              <a:rPr sz="2700" b="1">
                <a:solidFill>
                  <a:srgbClr val="A94D16"/>
                </a:solidFill>
                <a:latin typeface="Arial"/>
                <a:ea typeface="Arial"/>
                <a:cs typeface="Arial"/>
              </a:rPr>
              <a:t>= € 3 per tas</a:t>
            </a:r>
          </a:p>
        </p:txBody>
      </p:sp>
    </p:spTree>
    <p:extLst>
      <p:ext uri="{BB962C8B-B14F-4D97-AF65-F5344CB8AC3E}">
        <p14:creationId xmlns:p14="http://schemas.microsoft.com/office/powerpoint/2010/main" val="276750076"/>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Opgave 7e · Wie draagt de last?">
            <a:extLst xmlns:a="http://schemas.openxmlformats.org/drawingml/2006/main">
              <a:ext uri="{FF2B5EF4-FFF2-40B4-BE49-F238E27FC236}">
                <a16:creationId xmlns:a16="http://schemas.microsoft.com/office/drawing/2014/main" id="{07C8A016-7A25-45CA-BE02-E19DF583048F}"/>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7e · Wie draagt de last?</a:t>
            </a:r>
          </a:p>
        </p:txBody>
      </p:sp>
      <p:sp>
        <p:nvSpPr>
          <p:cNvPr id="2" name="">
            <a:extLst xmlns:a="http://schemas.openxmlformats.org/drawingml/2006/main">
              <a:ext uri="{FF2B5EF4-FFF2-40B4-BE49-F238E27FC236}">
                <a16:creationId xmlns:a16="http://schemas.microsoft.com/office/drawing/2014/main" id="{3E5D85C1-62A5-4512-866E-6BB9FFD279F4}"/>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A5BB7F19-615D-4DB1-8BE7-992AF43DD007}"/>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§3.1.1 · Opgave 7 · Boekpagina 12</a:t>
            </a:r>
          </a:p>
        </p:txBody>
      </p:sp>
      <p:sp>
        <p:nvSpPr>
          <p:cNvPr id="4" name="slide-number">
            <a:extLst xmlns:a="http://schemas.openxmlformats.org/drawingml/2006/main">
              <a:ext uri="{FF2B5EF4-FFF2-40B4-BE49-F238E27FC236}">
                <a16:creationId xmlns:a16="http://schemas.microsoft.com/office/drawing/2014/main" id="{0634758B-19D9-4786-BE14-E3CE11B97A25}"/>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23</a:t>
            </a:r>
          </a:p>
        </p:txBody>
      </p:sp>
      <p:graphicFrame>
        <p:nvGraphicFramePr>
          <p:cNvPr id="12" name=""/>
          <p:cNvGraphicFramePr/>
          <p:nvPr/>
        </p:nvGraphicFramePr>
        <p:xfrm>
          <a:off xmlns:a="http://schemas.openxmlformats.org/drawingml/2006/main" x="571500" y="2095500"/>
          <a:ext xmlns:a="http://schemas.openxmlformats.org/drawingml/2006/main" cx="14097000" cy="2886075"/>
        </p:xfrm>
        <a:graphic xmlns:a="http://schemas.openxmlformats.org/drawingml/2006/main">
          <a:graphicData uri="http://schemas.openxmlformats.org/drawingml/2006/table">
            <a:tbl>
              <a:tblPr/>
              <a:tblGrid>
                <a:gridCol w="4000500"/>
                <a:gridCol w="2857500"/>
                <a:gridCol w="2857500"/>
                <a:gridCol w="4381500"/>
              </a:tblGrid>
              <a:tr h="962025">
                <a:tc>
                  <a:txBody>
                    <a:bodyPr lIns="171450" tIns="95250" rIns="152400" bIns="95250"/>
                    <a:lstStyle/>
                    <a:p>
                      <a:r>
                        <a:rPr sz="2625" b="1">
                          <a:solidFill>
                            <a:srgbClr val="FFFFFF"/>
                          </a:solidFill>
                          <a:latin typeface="Arial"/>
                          <a:ea typeface="Arial"/>
                          <a:cs typeface="Arial"/>
                        </a:rPr>
                        <a:t>Per tas</a:t>
                      </a:r>
                    </a:p>
                  </a:txBody>
                  <a:tcPr marL="91440" marR="91440" marT="45720" marB="45720" anchor="ctr">
                    <a:solidFill>
                      <a:srgbClr val="183247"/>
                    </a:solidFill>
                  </a:tcPr>
                </a:tc>
                <a:tc>
                  <a:txBody>
                    <a:bodyPr lIns="171450" tIns="95250" rIns="152400" bIns="95250"/>
                    <a:lstStyle/>
                    <a:p>
                      <a:r>
                        <a:rPr sz="2625" b="1">
                          <a:solidFill>
                            <a:srgbClr val="FFFFFF"/>
                          </a:solidFill>
                          <a:latin typeface="Arial"/>
                          <a:ea typeface="Arial"/>
                          <a:cs typeface="Arial"/>
                        </a:rPr>
                        <a:t>Oude prijs</a:t>
                      </a:r>
                    </a:p>
                  </a:txBody>
                  <a:tcPr marL="91440" marR="91440" marT="45720" marB="45720" anchor="ctr">
                    <a:solidFill>
                      <a:srgbClr val="183247"/>
                    </a:solidFill>
                  </a:tcPr>
                </a:tc>
                <a:tc>
                  <a:txBody>
                    <a:bodyPr lIns="171450" tIns="95250" rIns="152400" bIns="95250"/>
                    <a:lstStyle/>
                    <a:p>
                      <a:r>
                        <a:rPr sz="2625" b="1">
                          <a:solidFill>
                            <a:srgbClr val="FFFFFF"/>
                          </a:solidFill>
                          <a:latin typeface="Arial"/>
                          <a:ea typeface="Arial"/>
                          <a:cs typeface="Arial"/>
                        </a:rPr>
                        <a:t>Nieuwe prijs</a:t>
                      </a:r>
                    </a:p>
                  </a:txBody>
                  <a:tcPr marL="91440" marR="91440" marT="45720" marB="45720" anchor="ctr">
                    <a:solidFill>
                      <a:srgbClr val="183247"/>
                    </a:solidFill>
                  </a:tcPr>
                </a:tc>
                <a:tc>
                  <a:txBody>
                    <a:bodyPr lIns="171450" tIns="95250" rIns="152400" bIns="95250"/>
                    <a:lstStyle/>
                    <a:p>
                      <a:r>
                        <a:rPr sz="2625" b="1">
                          <a:solidFill>
                            <a:srgbClr val="FFFFFF"/>
                          </a:solidFill>
                          <a:latin typeface="Arial"/>
                          <a:ea typeface="Arial"/>
                          <a:cs typeface="Arial"/>
                        </a:rPr>
                        <a:t>Economische last</a:t>
                      </a:r>
                    </a:p>
                  </a:txBody>
                  <a:tcPr marL="91440" marR="91440" marT="45720" marB="45720" anchor="ctr">
                    <a:solidFill>
                      <a:srgbClr val="183247"/>
                    </a:solidFill>
                  </a:tcPr>
                </a:tc>
              </a:tr>
              <a:tr h="962025">
                <a:tc>
                  <a:txBody>
                    <a:bodyPr lIns="171450" tIns="95250" rIns="152400" bIns="95250"/>
                    <a:lstStyle/>
                    <a:p>
                      <a:r>
                        <a:rPr sz="2625" b="0">
                          <a:solidFill>
                            <a:srgbClr val="183247"/>
                          </a:solidFill>
                          <a:latin typeface="Arial"/>
                          <a:ea typeface="Arial"/>
                          <a:cs typeface="Arial"/>
                        </a:rPr>
                        <a:t>Koper</a:t>
                      </a:r>
                    </a:p>
                  </a:txBody>
                  <a:tcPr marL="91440" marR="91440" marT="45720" marB="45720" anchor="ctr">
                    <a:solidFill>
                      <a:srgbClr val="FFFFFF"/>
                    </a:solidFill>
                  </a:tcPr>
                </a:tc>
                <a:tc>
                  <a:txBody>
                    <a:bodyPr lIns="171450" tIns="95250" rIns="152400" bIns="95250"/>
                    <a:lstStyle/>
                    <a:p>
                      <a:r>
                        <a:rPr sz="2625" b="0">
                          <a:solidFill>
                            <a:srgbClr val="183247"/>
                          </a:solidFill>
                          <a:latin typeface="Arial"/>
                          <a:ea typeface="Arial"/>
                          <a:cs typeface="Arial"/>
                        </a:rPr>
                        <a:t>€ 8</a:t>
                      </a:r>
                    </a:p>
                  </a:txBody>
                  <a:tcPr marL="91440" marR="91440" marT="45720" marB="45720" anchor="ctr">
                    <a:solidFill>
                      <a:srgbClr val="FFFFFF"/>
                    </a:solidFill>
                  </a:tcPr>
                </a:tc>
                <a:tc>
                  <a:txBody>
                    <a:bodyPr lIns="171450" tIns="95250" rIns="152400" bIns="95250"/>
                    <a:lstStyle/>
                    <a:p>
                      <a:r>
                        <a:rPr sz="2625" b="0">
                          <a:solidFill>
                            <a:srgbClr val="183247"/>
                          </a:solidFill>
                          <a:latin typeface="Arial"/>
                          <a:ea typeface="Arial"/>
                          <a:cs typeface="Arial"/>
                        </a:rPr>
                        <a:t>€ 10</a:t>
                      </a:r>
                    </a:p>
                  </a:txBody>
                  <a:tcPr marL="91440" marR="91440" marT="45720" marB="45720" anchor="ctr">
                    <a:solidFill>
                      <a:srgbClr val="FFFFFF"/>
                    </a:solidFill>
                  </a:tcPr>
                </a:tc>
                <a:tc>
                  <a:txBody>
                    <a:bodyPr lIns="171450" tIns="95250" rIns="152400" bIns="95250"/>
                    <a:lstStyle/>
                    <a:p>
                      <a:r>
                        <a:rPr sz="2625" b="0">
                          <a:solidFill>
                            <a:srgbClr val="183247"/>
                          </a:solidFill>
                          <a:latin typeface="Arial"/>
                          <a:ea typeface="Arial"/>
                          <a:cs typeface="Arial"/>
                        </a:rPr>
                        <a:t>10 − 8 = € 2</a:t>
                      </a:r>
                    </a:p>
                  </a:txBody>
                  <a:tcPr marL="91440" marR="91440" marT="45720" marB="45720" anchor="ctr">
                    <a:solidFill>
                      <a:srgbClr val="FFFFFF"/>
                    </a:solidFill>
                  </a:tcPr>
                </a:tc>
              </a:tr>
              <a:tr h="962025">
                <a:tc>
                  <a:txBody>
                    <a:bodyPr lIns="171450" tIns="95250" rIns="152400" bIns="95250"/>
                    <a:lstStyle/>
                    <a:p>
                      <a:r>
                        <a:rPr sz="2625" b="0">
                          <a:solidFill>
                            <a:srgbClr val="183247"/>
                          </a:solidFill>
                          <a:latin typeface="Arial"/>
                          <a:ea typeface="Arial"/>
                          <a:cs typeface="Arial"/>
                        </a:rPr>
                        <a:t>Verkoper</a:t>
                      </a:r>
                    </a:p>
                  </a:txBody>
                  <a:tcPr marL="91440" marR="91440" marT="45720" marB="45720" anchor="ctr">
                    <a:solidFill>
                      <a:srgbClr val="EFF4F7"/>
                    </a:solidFill>
                  </a:tcPr>
                </a:tc>
                <a:tc>
                  <a:txBody>
                    <a:bodyPr lIns="171450" tIns="95250" rIns="152400" bIns="95250"/>
                    <a:lstStyle/>
                    <a:p>
                      <a:r>
                        <a:rPr sz="2625" b="0">
                          <a:solidFill>
                            <a:srgbClr val="183247"/>
                          </a:solidFill>
                          <a:latin typeface="Arial"/>
                          <a:ea typeface="Arial"/>
                          <a:cs typeface="Arial"/>
                        </a:rPr>
                        <a:t>€ 8</a:t>
                      </a:r>
                    </a:p>
                  </a:txBody>
                  <a:tcPr marL="91440" marR="91440" marT="45720" marB="45720" anchor="ctr">
                    <a:solidFill>
                      <a:srgbClr val="EFF4F7"/>
                    </a:solidFill>
                  </a:tcPr>
                </a:tc>
                <a:tc>
                  <a:txBody>
                    <a:bodyPr lIns="171450" tIns="95250" rIns="152400" bIns="95250"/>
                    <a:lstStyle/>
                    <a:p>
                      <a:r>
                        <a:rPr sz="2625" b="0">
                          <a:solidFill>
                            <a:srgbClr val="183247"/>
                          </a:solidFill>
                          <a:latin typeface="Arial"/>
                          <a:ea typeface="Arial"/>
                          <a:cs typeface="Arial"/>
                        </a:rPr>
                        <a:t>€ 7</a:t>
                      </a:r>
                    </a:p>
                  </a:txBody>
                  <a:tcPr marL="91440" marR="91440" marT="45720" marB="45720" anchor="ctr">
                    <a:solidFill>
                      <a:srgbClr val="EFF4F7"/>
                    </a:solidFill>
                  </a:tcPr>
                </a:tc>
                <a:tc>
                  <a:txBody>
                    <a:bodyPr lIns="171450" tIns="95250" rIns="152400" bIns="95250"/>
                    <a:lstStyle/>
                    <a:p>
                      <a:r>
                        <a:rPr sz="2625" b="0">
                          <a:solidFill>
                            <a:srgbClr val="183247"/>
                          </a:solidFill>
                          <a:latin typeface="Arial"/>
                          <a:ea typeface="Arial"/>
                          <a:cs typeface="Arial"/>
                        </a:rPr>
                        <a:t>8 − 7 = € 1</a:t>
                      </a:r>
                    </a:p>
                  </a:txBody>
                  <a:tcPr marL="91440" marR="91440" marT="45720" marB="45720" anchor="ctr">
                    <a:solidFill>
                      <a:srgbClr val="EFF4F7"/>
                    </a:solidFill>
                  </a:tcPr>
                </a:tc>
              </a:tr>
            </a:tbl>
          </a:graphicData>
        </a:graphic>
      </p:graphicFrame>
      <p:sp>
        <p:nvSpPr>
          <p:cNvPr id="6" name="De uitspraak is onjuist.">
            <a:extLst xmlns:a="http://schemas.openxmlformats.org/drawingml/2006/main">
              <a:ext uri="{FF2B5EF4-FFF2-40B4-BE49-F238E27FC236}">
                <a16:creationId xmlns:a16="http://schemas.microsoft.com/office/drawing/2014/main" id="{017F6F81-64BE-462A-B7BC-F849A661543C}"/>
              </a:ext>
            </a:extLst>
          </p:cNvPr>
          <p:cNvSpPr>
            <a:spLocks xmlns:a="http://schemas.openxmlformats.org/drawingml/2006/main" noGrp="1"/>
          </p:cNvSpPr>
          <p:nvPr/>
        </p:nvSpPr>
        <p:spPr>
          <a:xfrm xmlns:a="http://schemas.openxmlformats.org/drawingml/2006/main">
            <a:off x="571500" y="5591175"/>
            <a:ext cx="14097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A5276"/>
                </a:solidFill>
                <a:latin typeface="Arial"/>
                <a:ea typeface="Arial"/>
                <a:cs typeface="Arial"/>
              </a:defRPr>
            </a:pPr>
            <a:r>
              <a:rPr sz="3600" b="1">
                <a:solidFill>
                  <a:srgbClr val="1A5276"/>
                </a:solidFill>
                <a:latin typeface="Arial"/>
                <a:ea typeface="Arial"/>
                <a:cs typeface="Arial"/>
              </a:rPr>
              <a:t>De uitspraak is onjuist.</a:t>
            </a:r>
          </a:p>
        </p:txBody>
      </p:sp>
      <p:sp>
        <p:nvSpPr>
          <p:cNvPr id="7" name="De verkoper draagt € 3 af, maar draagt € 1 last pe">
            <a:extLst xmlns:a="http://schemas.openxmlformats.org/drawingml/2006/main">
              <a:ext uri="{FF2B5EF4-FFF2-40B4-BE49-F238E27FC236}">
                <a16:creationId xmlns:a16="http://schemas.microsoft.com/office/drawing/2014/main" id="{53174ADB-EB33-4005-BE77-4A4591A1012A}"/>
              </a:ext>
            </a:extLst>
          </p:cNvPr>
          <p:cNvSpPr>
            <a:spLocks xmlns:a="http://schemas.openxmlformats.org/drawingml/2006/main" noGrp="1"/>
          </p:cNvSpPr>
          <p:nvPr/>
        </p:nvSpPr>
        <p:spPr>
          <a:xfrm xmlns:a="http://schemas.openxmlformats.org/drawingml/2006/main">
            <a:off x="571500" y="6600825"/>
            <a:ext cx="140970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A94D16"/>
                </a:solidFill>
                <a:latin typeface="Arial"/>
                <a:ea typeface="Arial"/>
                <a:cs typeface="Arial"/>
              </a:defRPr>
            </a:pPr>
            <a:r>
              <a:rPr sz="3150" b="1">
                <a:solidFill>
                  <a:srgbClr val="A94D16"/>
                </a:solidFill>
                <a:latin typeface="Arial"/>
                <a:ea typeface="Arial"/>
                <a:cs typeface="Arial"/>
              </a:rPr>
              <a:t>De verkoper draagt € 3 af, maar draagt € 1 last per tas.</a:t>
            </a:r>
          </a:p>
        </p:txBody>
      </p:sp>
    </p:spTree>
    <p:extLst>
      <p:ext uri="{BB962C8B-B14F-4D97-AF65-F5344CB8AC3E}">
        <p14:creationId xmlns:p14="http://schemas.microsoft.com/office/powerpoint/2010/main" val="1692545903"/>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Deze les: §3.1.1 Belastingen: wig en nieuw evenwic">
            <a:extLst xmlns:a="http://schemas.openxmlformats.org/drawingml/2006/main">
              <a:ext uri="{FF2B5EF4-FFF2-40B4-BE49-F238E27FC236}">
                <a16:creationId xmlns:a16="http://schemas.microsoft.com/office/drawing/2014/main" id="{A55CD479-B0B1-4394-957D-7090E76FD86A}"/>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3247"/>
                </a:solidFill>
                <a:latin typeface="Arial"/>
                <a:ea typeface="Arial"/>
                <a:cs typeface="Arial"/>
              </a:defRPr>
            </a:pPr>
            <a:r>
              <a:rPr sz="3225" b="1">
                <a:solidFill>
                  <a:srgbClr val="183247"/>
                </a:solidFill>
                <a:latin typeface="Arial"/>
                <a:ea typeface="Arial"/>
                <a:cs typeface="Arial"/>
              </a:rPr>
              <a:t>Deze les: §3.1.1 Belastingen: wig en nieuw evenwicht</a:t>
            </a:r>
          </a:p>
        </p:txBody>
      </p:sp>
      <p:sp>
        <p:nvSpPr>
          <p:cNvPr id="2" name="">
            <a:extLst xmlns:a="http://schemas.openxmlformats.org/drawingml/2006/main">
              <a:ext uri="{FF2B5EF4-FFF2-40B4-BE49-F238E27FC236}">
                <a16:creationId xmlns:a16="http://schemas.microsoft.com/office/drawing/2014/main" id="{65AFDA86-FF1B-4283-91C1-7C18F90BC530}"/>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13C3EB18-DEE1-482B-AEAF-E5C1D688AAC6}"/>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§3.1.1 Belastingen: wig en nieuw evenwicht</a:t>
            </a:r>
          </a:p>
        </p:txBody>
      </p:sp>
      <p:sp>
        <p:nvSpPr>
          <p:cNvPr id="4" name="slide-number">
            <a:extLst xmlns:a="http://schemas.openxmlformats.org/drawingml/2006/main">
              <a:ext uri="{FF2B5EF4-FFF2-40B4-BE49-F238E27FC236}">
                <a16:creationId xmlns:a16="http://schemas.microsoft.com/office/drawing/2014/main" id="{BEF8E800-B583-4BB1-B71F-22E9314256D8}"/>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24</a:t>
            </a:r>
          </a:p>
        </p:txBody>
      </p:sp>
      <p:sp>
        <p:nvSpPr>
          <p:cNvPr id="5" name="phase">
            <a:extLst xmlns:a="http://schemas.openxmlformats.org/drawingml/2006/main">
              <a:ext uri="{FF2B5EF4-FFF2-40B4-BE49-F238E27FC236}">
                <a16:creationId xmlns:a16="http://schemas.microsoft.com/office/drawing/2014/main" id="{BBA09EF7-97E0-41D5-BB5D-5C57728B5C47}"/>
              </a:ext>
            </a:extLst>
          </p:cNvPr>
          <p:cNvSpPr>
            <a:spLocks xmlns:a="http://schemas.openxmlformats.org/drawingml/2006/main" noGrp="1"/>
          </p:cNvSpPr>
          <p:nvPr/>
        </p:nvSpPr>
        <p:spPr>
          <a:xfrm xmlns:a="http://schemas.openxmlformats.org/drawingml/2006/main">
            <a:off x="571500" y="1066800"/>
            <a:ext cx="13811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A5276"/>
                </a:solidFill>
                <a:latin typeface="Arial"/>
                <a:ea typeface="Arial"/>
                <a:cs typeface="Arial"/>
              </a:defRPr>
            </a:pPr>
            <a:r>
              <a:rPr sz="2250" b="1">
                <a:solidFill>
                  <a:srgbClr val="1A5276"/>
                </a:solidFill>
                <a:latin typeface="Arial"/>
                <a:ea typeface="Arial"/>
                <a:cs typeface="Arial"/>
              </a:rPr>
              <a:t>Nu: Afsluiting / huiswerk</a:t>
            </a:r>
          </a:p>
        </p:txBody>
      </p:sp>
      <p:sp>
        <p:nvSpPr>
          <p:cNvPr id="6" name="Lesroute">
            <a:extLst xmlns:a="http://schemas.openxmlformats.org/drawingml/2006/main">
              <a:ext uri="{FF2B5EF4-FFF2-40B4-BE49-F238E27FC236}">
                <a16:creationId xmlns:a16="http://schemas.microsoft.com/office/drawing/2014/main" id="{F9361144-F133-41FC-88DA-FF647A8EDD2F}"/>
              </a:ext>
            </a:extLst>
          </p:cNvPr>
          <p:cNvSpPr>
            <a:spLocks xmlns:a="http://schemas.openxmlformats.org/drawingml/2006/main" noGrp="1"/>
          </p:cNvSpPr>
          <p:nvPr/>
        </p:nvSpPr>
        <p:spPr>
          <a:xfrm xmlns:a="http://schemas.openxmlformats.org/drawingml/2006/main">
            <a:off x="571500" y="1762125"/>
            <a:ext cx="7953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Lesroute</a:t>
            </a:r>
          </a:p>
        </p:txBody>
      </p:sp>
      <p:sp>
        <p:nvSpPr>
          <p:cNvPr id="7" name="route-number-1">
            <a:extLst xmlns:a="http://schemas.openxmlformats.org/drawingml/2006/main">
              <a:ext uri="{FF2B5EF4-FFF2-40B4-BE49-F238E27FC236}">
                <a16:creationId xmlns:a16="http://schemas.microsoft.com/office/drawing/2014/main" id="{D5C16D86-90BB-4AA9-967D-87CE436CAE6F}"/>
              </a:ext>
            </a:extLst>
          </p:cNvPr>
          <p:cNvSpPr>
            <a:spLocks xmlns:a="http://schemas.openxmlformats.org/drawingml/2006/main" noGrp="1"/>
          </p:cNvSpPr>
          <p:nvPr/>
        </p:nvSpPr>
        <p:spPr>
          <a:xfrm xmlns:a="http://schemas.openxmlformats.org/drawingml/2006/main">
            <a:off x="571500" y="2324100"/>
            <a:ext cx="457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a:t>
            </a:r>
          </a:p>
        </p:txBody>
      </p:sp>
      <p:sp>
        <p:nvSpPr>
          <p:cNvPr id="8" name="route-1">
            <a:extLst xmlns:a="http://schemas.openxmlformats.org/drawingml/2006/main">
              <a:ext uri="{FF2B5EF4-FFF2-40B4-BE49-F238E27FC236}">
                <a16:creationId xmlns:a16="http://schemas.microsoft.com/office/drawing/2014/main" id="{718F7F72-673A-43EB-A0EC-D503C6C60399}"/>
              </a:ext>
            </a:extLst>
          </p:cNvPr>
          <p:cNvSpPr>
            <a:spLocks xmlns:a="http://schemas.openxmlformats.org/drawingml/2006/main" noGrp="1"/>
          </p:cNvSpPr>
          <p:nvPr/>
        </p:nvSpPr>
        <p:spPr>
          <a:xfrm xmlns:a="http://schemas.openxmlformats.org/drawingml/2006/main">
            <a:off x="1104900" y="2324100"/>
            <a:ext cx="74199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Jas in de kluis of aan de kapstok. Pak agenda, schrift, pen en rekenmachine.</a:t>
            </a:r>
          </a:p>
        </p:txBody>
      </p:sp>
      <p:sp>
        <p:nvSpPr>
          <p:cNvPr id="9" name="route-number-2">
            <a:extLst xmlns:a="http://schemas.openxmlformats.org/drawingml/2006/main">
              <a:ext uri="{FF2B5EF4-FFF2-40B4-BE49-F238E27FC236}">
                <a16:creationId xmlns:a16="http://schemas.microsoft.com/office/drawing/2014/main" id="{038707B1-517E-40F8-A1A9-4A8CD5352C3B}"/>
              </a:ext>
            </a:extLst>
          </p:cNvPr>
          <p:cNvSpPr>
            <a:spLocks xmlns:a="http://schemas.openxmlformats.org/drawingml/2006/main" noGrp="1"/>
          </p:cNvSpPr>
          <p:nvPr/>
        </p:nvSpPr>
        <p:spPr>
          <a:xfrm xmlns:a="http://schemas.openxmlformats.org/drawingml/2006/main">
            <a:off x="571500" y="320040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2.</a:t>
            </a:r>
          </a:p>
        </p:txBody>
      </p:sp>
      <p:sp>
        <p:nvSpPr>
          <p:cNvPr id="10" name="route-2">
            <a:extLst xmlns:a="http://schemas.openxmlformats.org/drawingml/2006/main">
              <a:ext uri="{FF2B5EF4-FFF2-40B4-BE49-F238E27FC236}">
                <a16:creationId xmlns:a16="http://schemas.microsoft.com/office/drawing/2014/main" id="{12AEDF1E-9B46-41F2-8AEA-52F69D121203}"/>
              </a:ext>
            </a:extLst>
          </p:cNvPr>
          <p:cNvSpPr>
            <a:spLocks xmlns:a="http://schemas.openxmlformats.org/drawingml/2006/main" noGrp="1"/>
          </p:cNvSpPr>
          <p:nvPr/>
        </p:nvSpPr>
        <p:spPr>
          <a:xfrm xmlns:a="http://schemas.openxmlformats.org/drawingml/2006/main">
            <a:off x="1104900" y="320040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Maak de startopdracht.</a:t>
            </a:r>
          </a:p>
        </p:txBody>
      </p:sp>
      <p:sp>
        <p:nvSpPr>
          <p:cNvPr id="11" name="route-number-3">
            <a:extLst xmlns:a="http://schemas.openxmlformats.org/drawingml/2006/main">
              <a:ext uri="{FF2B5EF4-FFF2-40B4-BE49-F238E27FC236}">
                <a16:creationId xmlns:a16="http://schemas.microsoft.com/office/drawing/2014/main" id="{FFA893D3-ECCC-4738-BBB7-322D85F8D7AE}"/>
              </a:ext>
            </a:extLst>
          </p:cNvPr>
          <p:cNvSpPr>
            <a:spLocks xmlns:a="http://schemas.openxmlformats.org/drawingml/2006/main" noGrp="1"/>
          </p:cNvSpPr>
          <p:nvPr/>
        </p:nvSpPr>
        <p:spPr>
          <a:xfrm xmlns:a="http://schemas.openxmlformats.org/drawingml/2006/main">
            <a:off x="571500" y="371475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a:t>
            </a:r>
          </a:p>
        </p:txBody>
      </p:sp>
      <p:sp>
        <p:nvSpPr>
          <p:cNvPr id="12" name="route-3">
            <a:extLst xmlns:a="http://schemas.openxmlformats.org/drawingml/2006/main">
              <a:ext uri="{FF2B5EF4-FFF2-40B4-BE49-F238E27FC236}">
                <a16:creationId xmlns:a16="http://schemas.microsoft.com/office/drawing/2014/main" id="{3C84199B-31CE-4028-825A-18E662190FD3}"/>
              </a:ext>
            </a:extLst>
          </p:cNvPr>
          <p:cNvSpPr>
            <a:spLocks xmlns:a="http://schemas.openxmlformats.org/drawingml/2006/main" noGrp="1"/>
          </p:cNvSpPr>
          <p:nvPr/>
        </p:nvSpPr>
        <p:spPr>
          <a:xfrm xmlns:a="http://schemas.openxmlformats.org/drawingml/2006/main">
            <a:off x="1104900" y="371475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Uitleg bij de lesdoelen.</a:t>
            </a:r>
          </a:p>
        </p:txBody>
      </p:sp>
      <p:sp>
        <p:nvSpPr>
          <p:cNvPr id="13" name="route-number-4">
            <a:extLst xmlns:a="http://schemas.openxmlformats.org/drawingml/2006/main">
              <a:ext uri="{FF2B5EF4-FFF2-40B4-BE49-F238E27FC236}">
                <a16:creationId xmlns:a16="http://schemas.microsoft.com/office/drawing/2014/main" id="{250DB954-CF67-441C-8FEC-81181A023E5A}"/>
              </a:ext>
            </a:extLst>
          </p:cNvPr>
          <p:cNvSpPr>
            <a:spLocks xmlns:a="http://schemas.openxmlformats.org/drawingml/2006/main" noGrp="1"/>
          </p:cNvSpPr>
          <p:nvPr/>
        </p:nvSpPr>
        <p:spPr>
          <a:xfrm xmlns:a="http://schemas.openxmlformats.org/drawingml/2006/main">
            <a:off x="571500" y="4248150"/>
            <a:ext cx="45720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4.</a:t>
            </a:r>
          </a:p>
        </p:txBody>
      </p:sp>
      <p:sp>
        <p:nvSpPr>
          <p:cNvPr id="14" name="route-4">
            <a:extLst xmlns:a="http://schemas.openxmlformats.org/drawingml/2006/main">
              <a:ext uri="{FF2B5EF4-FFF2-40B4-BE49-F238E27FC236}">
                <a16:creationId xmlns:a16="http://schemas.microsoft.com/office/drawing/2014/main" id="{33727A8C-DB37-4B7B-BBAF-A9FECFB42119}"/>
              </a:ext>
            </a:extLst>
          </p:cNvPr>
          <p:cNvSpPr>
            <a:spLocks xmlns:a="http://schemas.openxmlformats.org/drawingml/2006/main" noGrp="1"/>
          </p:cNvSpPr>
          <p:nvPr/>
        </p:nvSpPr>
        <p:spPr>
          <a:xfrm xmlns:a="http://schemas.openxmlformats.org/drawingml/2006/main">
            <a:off x="1104900" y="4248150"/>
            <a:ext cx="7419975"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Begin bij de basisopgaven en stel vragen. Lukt dat goed, ga dan naar de zelfstandige oefening. Maak daarna de doelopgave en kijk vervolgens je antwoorden na.</a:t>
            </a:r>
          </a:p>
        </p:txBody>
      </p:sp>
      <p:sp>
        <p:nvSpPr>
          <p:cNvPr id="15" name="route-number-5">
            <a:extLst xmlns:a="http://schemas.openxmlformats.org/drawingml/2006/main">
              <a:ext uri="{FF2B5EF4-FFF2-40B4-BE49-F238E27FC236}">
                <a16:creationId xmlns:a16="http://schemas.microsoft.com/office/drawing/2014/main" id="{11DC38DF-1B87-4EEC-A3C5-82FDF26D90CE}"/>
              </a:ext>
            </a:extLst>
          </p:cNvPr>
          <p:cNvSpPr>
            <a:spLocks xmlns:a="http://schemas.openxmlformats.org/drawingml/2006/main" noGrp="1"/>
          </p:cNvSpPr>
          <p:nvPr/>
        </p:nvSpPr>
        <p:spPr>
          <a:xfrm xmlns:a="http://schemas.openxmlformats.org/drawingml/2006/main">
            <a:off x="571500" y="6057900"/>
            <a:ext cx="4572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5.</a:t>
            </a:r>
          </a:p>
        </p:txBody>
      </p:sp>
      <p:sp>
        <p:nvSpPr>
          <p:cNvPr id="16" name="route-5">
            <a:extLst xmlns:a="http://schemas.openxmlformats.org/drawingml/2006/main">
              <a:ext uri="{FF2B5EF4-FFF2-40B4-BE49-F238E27FC236}">
                <a16:creationId xmlns:a16="http://schemas.microsoft.com/office/drawing/2014/main" id="{37BC7C9E-E9FB-4836-8882-5B69D266416A}"/>
              </a:ext>
            </a:extLst>
          </p:cNvPr>
          <p:cNvSpPr>
            <a:spLocks xmlns:a="http://schemas.openxmlformats.org/drawingml/2006/main" noGrp="1"/>
          </p:cNvSpPr>
          <p:nvPr/>
        </p:nvSpPr>
        <p:spPr>
          <a:xfrm xmlns:a="http://schemas.openxmlformats.org/drawingml/2006/main">
            <a:off x="1104900" y="6057900"/>
            <a:ext cx="74199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Klaar? Werk aan een ander vak. Geen devices.</a:t>
            </a:r>
          </a:p>
        </p:txBody>
      </p:sp>
      <p:sp>
        <p:nvSpPr>
          <p:cNvPr id="17" name="route-number-6">
            <a:extLst xmlns:a="http://schemas.openxmlformats.org/drawingml/2006/main">
              <a:ext uri="{FF2B5EF4-FFF2-40B4-BE49-F238E27FC236}">
                <a16:creationId xmlns:a16="http://schemas.microsoft.com/office/drawing/2014/main" id="{B561F107-FBB2-4AF3-ADAA-E9C4C09C9064}"/>
              </a:ext>
            </a:extLst>
          </p:cNvPr>
          <p:cNvSpPr>
            <a:spLocks xmlns:a="http://schemas.openxmlformats.org/drawingml/2006/main" noGrp="1"/>
          </p:cNvSpPr>
          <p:nvPr/>
        </p:nvSpPr>
        <p:spPr>
          <a:xfrm xmlns:a="http://schemas.openxmlformats.org/drawingml/2006/main">
            <a:off x="571500" y="68199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6.</a:t>
            </a:r>
          </a:p>
        </p:txBody>
      </p:sp>
      <p:sp>
        <p:nvSpPr>
          <p:cNvPr id="18" name="route-6">
            <a:extLst xmlns:a="http://schemas.openxmlformats.org/drawingml/2006/main">
              <a:ext uri="{FF2B5EF4-FFF2-40B4-BE49-F238E27FC236}">
                <a16:creationId xmlns:a16="http://schemas.microsoft.com/office/drawing/2014/main" id="{F678424E-C358-4064-9C48-0E667C10BEED}"/>
              </a:ext>
            </a:extLst>
          </p:cNvPr>
          <p:cNvSpPr>
            <a:spLocks xmlns:a="http://schemas.openxmlformats.org/drawingml/2006/main" noGrp="1"/>
          </p:cNvSpPr>
          <p:nvPr/>
        </p:nvSpPr>
        <p:spPr>
          <a:xfrm xmlns:a="http://schemas.openxmlformats.org/drawingml/2006/main">
            <a:off x="1104900" y="6819900"/>
            <a:ext cx="74199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Bespreken van de doelopgave: opgave 7.</a:t>
            </a:r>
          </a:p>
        </p:txBody>
      </p:sp>
      <p:sp>
        <p:nvSpPr>
          <p:cNvPr id="19" name="route-number-7">
            <a:extLst xmlns:a="http://schemas.openxmlformats.org/drawingml/2006/main">
              <a:ext uri="{FF2B5EF4-FFF2-40B4-BE49-F238E27FC236}">
                <a16:creationId xmlns:a16="http://schemas.microsoft.com/office/drawing/2014/main" id="{EA15767E-ABAC-4430-BB30-7BF6224822D6}"/>
              </a:ext>
            </a:extLst>
          </p:cNvPr>
          <p:cNvSpPr>
            <a:spLocks xmlns:a="http://schemas.openxmlformats.org/drawingml/2006/main" noGrp="1"/>
          </p:cNvSpPr>
          <p:nvPr/>
        </p:nvSpPr>
        <p:spPr>
          <a:xfrm xmlns:a="http://schemas.openxmlformats.org/drawingml/2006/main">
            <a:off x="571500" y="7372350"/>
            <a:ext cx="457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A5276"/>
                </a:solidFill>
                <a:latin typeface="Arial"/>
                <a:ea typeface="Arial"/>
                <a:cs typeface="Arial"/>
              </a:defRPr>
            </a:pPr>
            <a:r>
              <a:rPr sz="2250" b="1">
                <a:solidFill>
                  <a:srgbClr val="1A5276"/>
                </a:solidFill>
                <a:latin typeface="Arial"/>
                <a:ea typeface="Arial"/>
                <a:cs typeface="Arial"/>
              </a:rPr>
              <a:t>7.</a:t>
            </a:r>
          </a:p>
        </p:txBody>
      </p:sp>
      <p:sp>
        <p:nvSpPr>
          <p:cNvPr id="20" name="route-7">
            <a:extLst xmlns:a="http://schemas.openxmlformats.org/drawingml/2006/main">
              <a:ext uri="{FF2B5EF4-FFF2-40B4-BE49-F238E27FC236}">
                <a16:creationId xmlns:a16="http://schemas.microsoft.com/office/drawing/2014/main" id="{84B4BE60-A753-45FB-8BE6-BE5E1D490F55}"/>
              </a:ext>
            </a:extLst>
          </p:cNvPr>
          <p:cNvSpPr>
            <a:spLocks xmlns:a="http://schemas.openxmlformats.org/drawingml/2006/main" noGrp="1"/>
          </p:cNvSpPr>
          <p:nvPr/>
        </p:nvSpPr>
        <p:spPr>
          <a:xfrm xmlns:a="http://schemas.openxmlformats.org/drawingml/2006/main">
            <a:off x="1104900" y="7372350"/>
            <a:ext cx="74199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A5276"/>
                </a:solidFill>
                <a:latin typeface="Arial"/>
                <a:ea typeface="Arial"/>
                <a:cs typeface="Arial"/>
              </a:defRPr>
            </a:pPr>
            <a:r>
              <a:rPr sz="2250" b="1">
                <a:solidFill>
                  <a:srgbClr val="1A5276"/>
                </a:solidFill>
                <a:latin typeface="Arial"/>
                <a:ea typeface="Arial"/>
                <a:cs typeface="Arial"/>
              </a:rPr>
              <a:t>Zet je huiswerk in je agenda.</a:t>
            </a:r>
          </a:p>
        </p:txBody>
      </p:sp>
      <p:sp>
        <p:nvSpPr>
          <p:cNvPr id="21" name="Lesdoelen">
            <a:extLst xmlns:a="http://schemas.openxmlformats.org/drawingml/2006/main">
              <a:ext uri="{FF2B5EF4-FFF2-40B4-BE49-F238E27FC236}">
                <a16:creationId xmlns:a16="http://schemas.microsoft.com/office/drawing/2014/main" id="{048A5920-8064-4788-858C-DFE411524BD3}"/>
              </a:ext>
            </a:extLst>
          </p:cNvPr>
          <p:cNvSpPr>
            <a:spLocks xmlns:a="http://schemas.openxmlformats.org/drawingml/2006/main" noGrp="1"/>
          </p:cNvSpPr>
          <p:nvPr/>
        </p:nvSpPr>
        <p:spPr>
          <a:xfrm xmlns:a="http://schemas.openxmlformats.org/drawingml/2006/main">
            <a:off x="9258300" y="176212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Lesdoelen</a:t>
            </a:r>
          </a:p>
        </p:txBody>
      </p:sp>
      <p:sp>
        <p:nvSpPr>
          <p:cNvPr id="22" name="overview-goals">
            <a:extLst xmlns:a="http://schemas.openxmlformats.org/drawingml/2006/main">
              <a:ext uri="{FF2B5EF4-FFF2-40B4-BE49-F238E27FC236}">
                <a16:creationId xmlns:a16="http://schemas.microsoft.com/office/drawing/2014/main" id="{75EDD840-8E85-48EF-ACCA-66AE131323A4}"/>
              </a:ext>
            </a:extLst>
          </p:cNvPr>
          <p:cNvSpPr>
            <a:spLocks xmlns:a="http://schemas.openxmlformats.org/drawingml/2006/main" noGrp="1"/>
          </p:cNvSpPr>
          <p:nvPr/>
        </p:nvSpPr>
        <p:spPr>
          <a:xfrm xmlns:a="http://schemas.openxmlformats.org/drawingml/2006/main">
            <a:off x="9258300" y="2324100"/>
            <a:ext cx="538162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Evenwicht en beide prijzen berekenen;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de wig tekenen; afdragen 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de last dragen onderscheiden.</a:t>
            </a:r>
          </a:p>
        </p:txBody>
      </p:sp>
      <p:sp>
        <p:nvSpPr>
          <p:cNvPr id="23" name="">
            <a:extLst xmlns:a="http://schemas.openxmlformats.org/drawingml/2006/main">
              <a:ext uri="{FF2B5EF4-FFF2-40B4-BE49-F238E27FC236}">
                <a16:creationId xmlns:a16="http://schemas.microsoft.com/office/drawing/2014/main" id="{20BB8C3A-EC00-4C9E-9D7B-7AC6E9F599F6}"/>
              </a:ext>
            </a:extLst>
          </p:cNvPr>
          <p:cNvSpPr>
            <a:spLocks xmlns:a="http://schemas.openxmlformats.org/drawingml/2006/main" noGrp="1"/>
          </p:cNvSpPr>
          <p:nvPr/>
        </p:nvSpPr>
        <p:spPr>
          <a:xfrm xmlns:a="http://schemas.openxmlformats.org/drawingml/2006/main">
            <a:off x="9258300" y="3562350"/>
            <a:ext cx="5410200" cy="0"/>
          </a:xfrm>
          <a:prstGeom xmlns:a="http://schemas.openxmlformats.org/drawingml/2006/main" prst="line">
            <a:avLst/>
          </a:prstGeom>
          <a:ln xmlns:a="http://schemas.openxmlformats.org/drawingml/2006/main" w="19050">
            <a:solidFill>
              <a:srgbClr val="C6D2DB"/>
            </a:solidFill>
          </a:ln>
        </p:spPr>
      </p:sp>
      <p:sp>
        <p:nvSpPr>
          <p:cNvPr id="24" name="Startopdracht">
            <a:extLst xmlns:a="http://schemas.openxmlformats.org/drawingml/2006/main">
              <a:ext uri="{FF2B5EF4-FFF2-40B4-BE49-F238E27FC236}">
                <a16:creationId xmlns:a16="http://schemas.microsoft.com/office/drawing/2014/main" id="{2EF9EB1B-412A-4345-A2C2-2928ACA97265}"/>
              </a:ext>
            </a:extLst>
          </p:cNvPr>
          <p:cNvSpPr>
            <a:spLocks xmlns:a="http://schemas.openxmlformats.org/drawingml/2006/main" noGrp="1"/>
          </p:cNvSpPr>
          <p:nvPr/>
        </p:nvSpPr>
        <p:spPr>
          <a:xfrm xmlns:a="http://schemas.openxmlformats.org/drawingml/2006/main">
            <a:off x="9258300" y="383857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Startopdracht</a:t>
            </a:r>
          </a:p>
        </p:txBody>
      </p:sp>
      <p:sp>
        <p:nvSpPr>
          <p:cNvPr id="25" name="overview-start">
            <a:extLst xmlns:a="http://schemas.openxmlformats.org/drawingml/2006/main">
              <a:ext uri="{FF2B5EF4-FFF2-40B4-BE49-F238E27FC236}">
                <a16:creationId xmlns:a16="http://schemas.microsoft.com/office/drawing/2014/main" id="{1B0B34ED-B558-4C1F-8956-A09474D58ACD}"/>
              </a:ext>
            </a:extLst>
          </p:cNvPr>
          <p:cNvSpPr>
            <a:spLocks xmlns:a="http://schemas.openxmlformats.org/drawingml/2006/main" noGrp="1"/>
          </p:cNvSpPr>
          <p:nvPr/>
        </p:nvSpPr>
        <p:spPr>
          <a:xfrm xmlns:a="http://schemas.openxmlformats.org/drawingml/2006/main">
            <a:off x="9258300" y="4371975"/>
            <a:ext cx="5381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Pagina 9 · Opgaven 1 en 2</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2: verkennen, theorie p. 6–9</a:t>
            </a:r>
          </a:p>
        </p:txBody>
      </p:sp>
      <p:sp>
        <p:nvSpPr>
          <p:cNvPr id="26" name="">
            <a:extLst xmlns:a="http://schemas.openxmlformats.org/drawingml/2006/main">
              <a:ext uri="{FF2B5EF4-FFF2-40B4-BE49-F238E27FC236}">
                <a16:creationId xmlns:a16="http://schemas.microsoft.com/office/drawing/2014/main" id="{3495EC07-1E7D-4255-9696-C9F9E6F9E4A6}"/>
              </a:ext>
            </a:extLst>
          </p:cNvPr>
          <p:cNvSpPr>
            <a:spLocks xmlns:a="http://schemas.openxmlformats.org/drawingml/2006/main" noGrp="1"/>
          </p:cNvSpPr>
          <p:nvPr/>
        </p:nvSpPr>
        <p:spPr>
          <a:xfrm xmlns:a="http://schemas.openxmlformats.org/drawingml/2006/main">
            <a:off x="9258300" y="5429250"/>
            <a:ext cx="5410200" cy="0"/>
          </a:xfrm>
          <a:prstGeom xmlns:a="http://schemas.openxmlformats.org/drawingml/2006/main" prst="line">
            <a:avLst/>
          </a:prstGeom>
          <a:ln xmlns:a="http://schemas.openxmlformats.org/drawingml/2006/main" w="19050">
            <a:solidFill>
              <a:srgbClr val="C6D2DB"/>
            </a:solidFill>
          </a:ln>
        </p:spPr>
      </p:sp>
      <p:sp>
        <p:nvSpPr>
          <p:cNvPr id="27" name="Huiswerk">
            <a:extLst xmlns:a="http://schemas.openxmlformats.org/drawingml/2006/main">
              <a:ext uri="{FF2B5EF4-FFF2-40B4-BE49-F238E27FC236}">
                <a16:creationId xmlns:a16="http://schemas.microsoft.com/office/drawing/2014/main" id="{10BEE8C7-A64F-4F9D-A84D-31D0991FBB27}"/>
              </a:ext>
            </a:extLst>
          </p:cNvPr>
          <p:cNvSpPr>
            <a:spLocks xmlns:a="http://schemas.openxmlformats.org/drawingml/2006/main" noGrp="1"/>
          </p:cNvSpPr>
          <p:nvPr/>
        </p:nvSpPr>
        <p:spPr>
          <a:xfrm xmlns:a="http://schemas.openxmlformats.org/drawingml/2006/main">
            <a:off x="9258300" y="5695950"/>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A5276"/>
                </a:solidFill>
                <a:latin typeface="Arial"/>
                <a:ea typeface="Arial"/>
                <a:cs typeface="Arial"/>
              </a:defRPr>
            </a:pPr>
            <a:r>
              <a:rPr sz="2625" b="1">
                <a:solidFill>
                  <a:srgbClr val="1A5276"/>
                </a:solidFill>
                <a:latin typeface="Arial"/>
                <a:ea typeface="Arial"/>
                <a:cs typeface="Arial"/>
              </a:rPr>
              <a:t>Huiswerk</a:t>
            </a:r>
          </a:p>
        </p:txBody>
      </p:sp>
      <p:sp>
        <p:nvSpPr>
          <p:cNvPr id="28" name="overview-homework">
            <a:extLst xmlns:a="http://schemas.openxmlformats.org/drawingml/2006/main">
              <a:ext uri="{FF2B5EF4-FFF2-40B4-BE49-F238E27FC236}">
                <a16:creationId xmlns:a16="http://schemas.microsoft.com/office/drawing/2014/main" id="{170BACE2-CC97-4E5D-B18C-12FD063C88EF}"/>
              </a:ext>
            </a:extLst>
          </p:cNvPr>
          <p:cNvSpPr>
            <a:spLocks xmlns:a="http://schemas.openxmlformats.org/drawingml/2006/main" noGrp="1"/>
          </p:cNvSpPr>
          <p:nvPr/>
        </p:nvSpPr>
        <p:spPr>
          <a:xfrm xmlns:a="http://schemas.openxmlformats.org/drawingml/2006/main">
            <a:off x="9258300" y="6229350"/>
            <a:ext cx="5381625"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§3.1.1 Belastingen</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Basis: 3 en 4</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Zelfstandig: 5 en 6</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Doelopgave: 7</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Maken en nakijken</a:t>
            </a:r>
          </a:p>
        </p:txBody>
      </p:sp>
    </p:spTree>
    <p:extLst>
      <p:ext uri="{BB962C8B-B14F-4D97-AF65-F5344CB8AC3E}">
        <p14:creationId xmlns:p14="http://schemas.microsoft.com/office/powerpoint/2010/main" val="45395017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2026-10-01T09:09:57.1600000Z</dcterms:created>
  <dcterms:modified xsi:type="dcterms:W3CDTF">2026-10-01T09:09:57.1610000Z</dcterms:modified>
</coreProperties>
</file>