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4.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5.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6.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ebd0458c1f24619" /><Relationship Type="http://schemas.openxmlformats.org/officeDocument/2006/relationships/extended-properties" Target="/docProps/app.xml" Id="Rd43ba05c1c854f44" /><Relationship Type="http://schemas.openxmlformats.org/officeDocument/2006/relationships/officeDocument" Target="/ppt/presentation.xml" Id="Raba8e737b0094df2" /></Relationships>
</file>

<file path=ppt/presentation.xml><?xml version="1.0" encoding="utf-8"?>
<p:presentation xmlns:p="http://schemas.openxmlformats.org/presentationml/2006/main">
  <p:sldMasterIdLst>
    <p:sldMasterId xmlns:r="http://schemas.openxmlformats.org/officeDocument/2006/relationships" id="2147483648" r:id="R89b9afc4ee0e4fd7"/>
  </p:sldMasterIdLst>
  <p:notesMasterIdLst>
    <p:notesMasterId xmlns:r="http://schemas.openxmlformats.org/officeDocument/2006/relationships" r:id="R271f6d6d77a44584"/>
  </p:notesMasterIdLst>
  <p:sldIdLst>
    <p:sldId xmlns:r="http://schemas.openxmlformats.org/officeDocument/2006/relationships" id="256" r:id="Rca5f0a30cf524f68"/>
    <p:sldId xmlns:r="http://schemas.openxmlformats.org/officeDocument/2006/relationships" id="257" r:id="R8b65a47c38d24e6c"/>
    <p:sldId xmlns:r="http://schemas.openxmlformats.org/officeDocument/2006/relationships" id="258" r:id="R2c253303a9264bd3"/>
    <p:sldId xmlns:r="http://schemas.openxmlformats.org/officeDocument/2006/relationships" id="259" r:id="Ra5e0518b747c4993"/>
    <p:sldId xmlns:r="http://schemas.openxmlformats.org/officeDocument/2006/relationships" id="260" r:id="R7e644bd629dc4bdb"/>
    <p:sldId xmlns:r="http://schemas.openxmlformats.org/officeDocument/2006/relationships" id="261" r:id="R8a49b4fa56e44c4b"/>
    <p:sldId xmlns:r="http://schemas.openxmlformats.org/officeDocument/2006/relationships" id="262" r:id="R31cff0815ce04178"/>
    <p:sldId xmlns:r="http://schemas.openxmlformats.org/officeDocument/2006/relationships" id="263" r:id="R0e71fdaa34e242da"/>
    <p:sldId xmlns:r="http://schemas.openxmlformats.org/officeDocument/2006/relationships" id="264" r:id="R6defe2457c7a4884"/>
    <p:sldId xmlns:r="http://schemas.openxmlformats.org/officeDocument/2006/relationships" id="265" r:id="Rda4515ec52db4e63"/>
    <p:sldId xmlns:r="http://schemas.openxmlformats.org/officeDocument/2006/relationships" id="266" r:id="R6049b8b2952740da"/>
    <p:sldId xmlns:r="http://schemas.openxmlformats.org/officeDocument/2006/relationships" id="267" r:id="R551570866c7c4faa"/>
    <p:sldId xmlns:r="http://schemas.openxmlformats.org/officeDocument/2006/relationships" id="268" r:id="Rbe84250be2c34d0e"/>
    <p:sldId xmlns:r="http://schemas.openxmlformats.org/officeDocument/2006/relationships" id="269" r:id="R4a043c739bbb40a1"/>
    <p:sldId xmlns:r="http://schemas.openxmlformats.org/officeDocument/2006/relationships" id="270" r:id="R3837de14b0f04181"/>
    <p:sldId xmlns:r="http://schemas.openxmlformats.org/officeDocument/2006/relationships" id="271" r:id="Re09544a49f124d50"/>
    <p:sldId xmlns:r="http://schemas.openxmlformats.org/officeDocument/2006/relationships" id="272" r:id="Rf33ec18817c94025"/>
    <p:sldId xmlns:r="http://schemas.openxmlformats.org/officeDocument/2006/relationships" id="273" r:id="R815aacb0b9fe455c"/>
    <p:sldId xmlns:r="http://schemas.openxmlformats.org/officeDocument/2006/relationships" id="274" r:id="Rbaf0929f24a14af5"/>
    <p:sldId xmlns:r="http://schemas.openxmlformats.org/officeDocument/2006/relationships" id="275" r:id="Rb2f5106a1e9a4db5"/>
    <p:sldId xmlns:r="http://schemas.openxmlformats.org/officeDocument/2006/relationships" id="276" r:id="Rf84e5668016f4e01"/>
    <p:sldId xmlns:r="http://schemas.openxmlformats.org/officeDocument/2006/relationships" id="277" r:id="R422f6ea689e8407e"/>
    <p:sldId xmlns:r="http://schemas.openxmlformats.org/officeDocument/2006/relationships" id="278" r:id="Rd5b1bc3346a54983"/>
    <p:sldId xmlns:r="http://schemas.openxmlformats.org/officeDocument/2006/relationships" id="279" r:id="Raf25474ac5ba4a17"/>
    <p:sldId xmlns:r="http://schemas.openxmlformats.org/officeDocument/2006/relationships" id="280" r:id="Redaddc670f494243"/>
    <p:sldId xmlns:r="http://schemas.openxmlformats.org/officeDocument/2006/relationships" id="281" r:id="R848562e6bc334073"/>
    <p:sldId xmlns:r="http://schemas.openxmlformats.org/officeDocument/2006/relationships" id="282" r:id="Re8c6cc186a5a479a"/>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1cb9004c5104683" /><Relationship Type="http://schemas.openxmlformats.org/officeDocument/2006/relationships/slideMaster" Target="/ppt/slideMasters/slideMaster1.xml" Id="R89b9afc4ee0e4fd7" /><Relationship Type="http://schemas.openxmlformats.org/officeDocument/2006/relationships/notesMaster" Target="/ppt/notesMasters/notesMaster1.xml" Id="R271f6d6d77a44584" /><Relationship Type="http://schemas.openxmlformats.org/officeDocument/2006/relationships/presProps" Target="/ppt/presProps.xml" Id="R4094902fbb454068" /><Relationship Type="http://schemas.openxmlformats.org/officeDocument/2006/relationships/tableStyles" Target="/ppt/tableStyles.xml" Id="R74c4ff91706d43a5" /><Relationship Type="http://schemas.openxmlformats.org/officeDocument/2006/relationships/slide" Target="/ppt/slides/slide1.xml" Id="Rca5f0a30cf524f68" /><Relationship Type="http://schemas.openxmlformats.org/officeDocument/2006/relationships/slide" Target="/ppt/slides/slide2.xml" Id="R8b65a47c38d24e6c" /><Relationship Type="http://schemas.openxmlformats.org/officeDocument/2006/relationships/slide" Target="/ppt/slides/slide3.xml" Id="R2c253303a9264bd3" /><Relationship Type="http://schemas.openxmlformats.org/officeDocument/2006/relationships/slide" Target="/ppt/slides/slide4.xml" Id="Ra5e0518b747c4993" /><Relationship Type="http://schemas.openxmlformats.org/officeDocument/2006/relationships/slide" Target="/ppt/slides/slide5.xml" Id="R7e644bd629dc4bdb" /><Relationship Type="http://schemas.openxmlformats.org/officeDocument/2006/relationships/slide" Target="/ppt/slides/slide6.xml" Id="R8a49b4fa56e44c4b" /><Relationship Type="http://schemas.openxmlformats.org/officeDocument/2006/relationships/slide" Target="/ppt/slides/slide7.xml" Id="R31cff0815ce04178" /><Relationship Type="http://schemas.openxmlformats.org/officeDocument/2006/relationships/slide" Target="/ppt/slides/slide8.xml" Id="R0e71fdaa34e242da" /><Relationship Type="http://schemas.openxmlformats.org/officeDocument/2006/relationships/slide" Target="/ppt/slides/slide9.xml" Id="R6defe2457c7a4884" /><Relationship Type="http://schemas.openxmlformats.org/officeDocument/2006/relationships/slide" Target="/ppt/slides/slide10.xml" Id="Rda4515ec52db4e63" /><Relationship Type="http://schemas.openxmlformats.org/officeDocument/2006/relationships/slide" Target="/ppt/slides/slide11.xml" Id="R6049b8b2952740da" /><Relationship Type="http://schemas.openxmlformats.org/officeDocument/2006/relationships/slide" Target="/ppt/slides/slide12.xml" Id="R551570866c7c4faa" /><Relationship Type="http://schemas.openxmlformats.org/officeDocument/2006/relationships/slide" Target="/ppt/slides/slide13.xml" Id="Rbe84250be2c34d0e" /><Relationship Type="http://schemas.openxmlformats.org/officeDocument/2006/relationships/slide" Target="/ppt/slides/slide14.xml" Id="R4a043c739bbb40a1" /><Relationship Type="http://schemas.openxmlformats.org/officeDocument/2006/relationships/slide" Target="/ppt/slides/slide15.xml" Id="R3837de14b0f04181" /><Relationship Type="http://schemas.openxmlformats.org/officeDocument/2006/relationships/slide" Target="/ppt/slides/slide16.xml" Id="Re09544a49f124d50" /><Relationship Type="http://schemas.openxmlformats.org/officeDocument/2006/relationships/slide" Target="/ppt/slides/slide17.xml" Id="Rf33ec18817c94025" /><Relationship Type="http://schemas.openxmlformats.org/officeDocument/2006/relationships/slide" Target="/ppt/slides/slide18.xml" Id="R815aacb0b9fe455c" /><Relationship Type="http://schemas.openxmlformats.org/officeDocument/2006/relationships/slide" Target="/ppt/slides/slide19.xml" Id="Rbaf0929f24a14af5" /><Relationship Type="http://schemas.openxmlformats.org/officeDocument/2006/relationships/slide" Target="/ppt/slides/slide20.xml" Id="Rb2f5106a1e9a4db5" /><Relationship Type="http://schemas.openxmlformats.org/officeDocument/2006/relationships/slide" Target="/ppt/slides/slide21.xml" Id="Rf84e5668016f4e01" /><Relationship Type="http://schemas.openxmlformats.org/officeDocument/2006/relationships/slide" Target="/ppt/slides/slide22.xml" Id="R422f6ea689e8407e" /><Relationship Type="http://schemas.openxmlformats.org/officeDocument/2006/relationships/slide" Target="/ppt/slides/slide23.xml" Id="Rd5b1bc3346a54983" /><Relationship Type="http://schemas.openxmlformats.org/officeDocument/2006/relationships/slide" Target="/ppt/slides/slide24.xml" Id="Raf25474ac5ba4a17" /><Relationship Type="http://schemas.openxmlformats.org/officeDocument/2006/relationships/slide" Target="/ppt/slides/slide25.xml" Id="Redaddc670f494243" /><Relationship Type="http://schemas.openxmlformats.org/officeDocument/2006/relationships/slide" Target="/ppt/slides/slide26.xml" Id="R848562e6bc334073" /><Relationship Type="http://schemas.openxmlformats.org/officeDocument/2006/relationships/slide" Target="/ppt/slides/slide27.xml" Id="Re8c6cc186a5a479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c35a1fa6a25497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5d1a16500ba40d2" /><Relationship Type="http://schemas.openxmlformats.org/officeDocument/2006/relationships/notesMaster" Target="/ppt/notesMasters/notesMaster1.xml" Id="R768c3ae0116f462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f591a908acb4bb0" /><Relationship Type="http://schemas.openxmlformats.org/officeDocument/2006/relationships/notesMaster" Target="/ppt/notesMasters/notesMaster1.xml" Id="Rd5ec3693a8294c65" /></Relationships>
</file>

<file path=ppt/notesSlides/_rels/notesSlide3.xml.rels>&#65279;<?xml version="1.0" encoding="utf-8"?><Relationships xmlns="http://schemas.openxmlformats.org/package/2006/relationships"><Relationship Type="http://schemas.openxmlformats.org/officeDocument/2006/relationships/slide" Target="/ppt/slides/slide3.xml" Id="R8604f4fb13714a41" /><Relationship Type="http://schemas.openxmlformats.org/officeDocument/2006/relationships/notesMaster" Target="/ppt/notesMasters/notesMaster1.xml" Id="Rc9f75e6c14be4107" /></Relationships>
</file>

<file path=ppt/notesSlides/_rels/notesSlide4.xml.rels>&#65279;<?xml version="1.0" encoding="utf-8"?><Relationships xmlns="http://schemas.openxmlformats.org/package/2006/relationships"><Relationship Type="http://schemas.openxmlformats.org/officeDocument/2006/relationships/slide" Target="/ppt/slides/slide4.xml" Id="Rc8e5d54270ee49b3" /><Relationship Type="http://schemas.openxmlformats.org/officeDocument/2006/relationships/notesMaster" Target="/ppt/notesMasters/notesMaster1.xml" Id="Rec2d05d064394759" /></Relationships>
</file>

<file path=ppt/notesSlides/_rels/notesSlide5.xml.rels>&#65279;<?xml version="1.0" encoding="utf-8"?><Relationships xmlns="http://schemas.openxmlformats.org/package/2006/relationships"><Relationship Type="http://schemas.openxmlformats.org/officeDocument/2006/relationships/slide" Target="/ppt/slides/slide5.xml" Id="R79287ec1db774cdc" /><Relationship Type="http://schemas.openxmlformats.org/officeDocument/2006/relationships/notesMaster" Target="/ppt/notesMasters/notesMaster1.xml" Id="R081cbfc73dc241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bcc178ea1854445a" /><Relationship Type="http://schemas.openxmlformats.org/officeDocument/2006/relationships/notesMaster" Target="/ppt/notesMasters/notesMaster1.xml" Id="Rf10edd8e3c9c4a17" /></Relationships>
</file>

<file path=ppt/notesSlides/_rels/notesSlide7.xml.rels>&#65279;<?xml version="1.0" encoding="utf-8"?><Relationships xmlns="http://schemas.openxmlformats.org/package/2006/relationships"><Relationship Type="http://schemas.openxmlformats.org/officeDocument/2006/relationships/slide" Target="/ppt/slides/slide7.xml" Id="R6ad148a8f4634b2e" /><Relationship Type="http://schemas.openxmlformats.org/officeDocument/2006/relationships/notesMaster" Target="/ppt/notesMasters/notesMaster1.xml" Id="R9caf5687647c4c1f" /></Relationships>
</file>

<file path=ppt/notesSlides/_rels/notesSlide8.xml.rels>&#65279;<?xml version="1.0" encoding="utf-8"?><Relationships xmlns="http://schemas.openxmlformats.org/package/2006/relationships"><Relationship Type="http://schemas.openxmlformats.org/officeDocument/2006/relationships/slide" Target="/ppt/slides/slide8.xml" Id="R6b237eeb42ca43b0" /><Relationship Type="http://schemas.openxmlformats.org/officeDocument/2006/relationships/notesMaster" Target="/ppt/notesMasters/notesMaster1.xml" Id="R2a39fbfcc5074ca7" /></Relationships>
</file>

<file path=ppt/notesSlides/_rels/notesSlide9.xml.rels>&#65279;<?xml version="1.0" encoding="utf-8"?><Relationships xmlns="http://schemas.openxmlformats.org/package/2006/relationships"><Relationship Type="http://schemas.openxmlformats.org/officeDocument/2006/relationships/slide" Target="/ppt/slides/slide9.xml" Id="Rb514a3fe41554823" /><Relationship Type="http://schemas.openxmlformats.org/officeDocument/2006/relationships/notesMaster" Target="/ppt/notesMasters/notesMaster1.xml" Id="R50d7a07197d94ce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be00c57b6904cde" /><Relationship Type="http://schemas.openxmlformats.org/officeDocument/2006/relationships/notesMaster" Target="/ppt/notesMasters/notesMaster1.xml" Id="R7f55fa316061494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e090111be7b45ba" /><Relationship Type="http://schemas.openxmlformats.org/officeDocument/2006/relationships/notesMaster" Target="/ppt/notesMasters/notesMaster1.xml" Id="R5da40f4c01424fa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4ea6e66fff647ae" /><Relationship Type="http://schemas.openxmlformats.org/officeDocument/2006/relationships/notesMaster" Target="/ppt/notesMasters/notesMaster1.xml" Id="R0e450a91e82944f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4a587db76e54be0" /><Relationship Type="http://schemas.openxmlformats.org/officeDocument/2006/relationships/notesMaster" Target="/ppt/notesMasters/notesMaster1.xml" Id="R7517c63a7ff948c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2a66ff667af44d4" /><Relationship Type="http://schemas.openxmlformats.org/officeDocument/2006/relationships/notesMaster" Target="/ppt/notesMasters/notesMaster1.xml" Id="Re18585bddc27417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60fa74b57ec4393" /><Relationship Type="http://schemas.openxmlformats.org/officeDocument/2006/relationships/notesMaster" Target="/ppt/notesMasters/notesMaster1.xml" Id="R4f58d27c364b43b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82273aeccc74129" /><Relationship Type="http://schemas.openxmlformats.org/officeDocument/2006/relationships/notesMaster" Target="/ppt/notesMasters/notesMaster1.xml" Id="Rdf9e638f6ae84d2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00e078f24484a21" /><Relationship Type="http://schemas.openxmlformats.org/officeDocument/2006/relationships/notesMaster" Target="/ppt/notesMasters/notesMaster1.xml" Id="R691bd90181394d2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cb8cfb31dc84fd8" /><Relationship Type="http://schemas.openxmlformats.org/officeDocument/2006/relationships/notesMaster" Target="/ppt/notesMasters/notesMaster1.xml" Id="R4402e1dcd5b5459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4c218c86f8a4b82" /><Relationship Type="http://schemas.openxmlformats.org/officeDocument/2006/relationships/notesMaster" Target="/ppt/notesMasters/notesMaster1.xml" Id="R70030a7892bf4fa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6e25ed20c57457c" /><Relationship Type="http://schemas.openxmlformats.org/officeDocument/2006/relationships/notesMaster" Target="/ppt/notesMasters/notesMaster1.xml" Id="R7fba4290b72e4c7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010825604414012" /><Relationship Type="http://schemas.openxmlformats.org/officeDocument/2006/relationships/notesMaster" Target="/ppt/notesMasters/notesMaster1.xml" Id="Rd8347c7b9d544a1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03cf2846aad4905" /><Relationship Type="http://schemas.openxmlformats.org/officeDocument/2006/relationships/notesMaster" Target="/ppt/notesMasters/notesMaster1.xml" Id="Rf5b1d0751faf489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7fe6de237e94f3d" /><Relationship Type="http://schemas.openxmlformats.org/officeDocument/2006/relationships/notesMaster" Target="/ppt/notesMasters/notesMaster1.xml" Id="R90e0644a74b0496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55c9693a1794e8a" /><Relationship Type="http://schemas.openxmlformats.org/officeDocument/2006/relationships/notesMaster" Target="/ppt/notesMasters/notesMaster1.xml" Id="R0a56fd016131403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b584e5f419c4f1b" /><Relationship Type="http://schemas.openxmlformats.org/officeDocument/2006/relationships/notesMaster" Target="/ppt/notesMasters/notesMaster1.xml" Id="Rb2eee37c04684b9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e7c83e0c55a4d38" /><Relationship Type="http://schemas.openxmlformats.org/officeDocument/2006/relationships/notesMaster" Target="/ppt/notesMasters/notesMaster1.xml" Id="R8270960ad2654fd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87ce289e6f54fe3" /><Relationship Type="http://schemas.openxmlformats.org/officeDocument/2006/relationships/notesMaster" Target="/ppt/notesMasters/notesMaster1.xml" Id="R57ffb069f451454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uitleg helpt je bij de nieuwe begrippen in opgave 2?</a:t>
            </a:r>
          </a:p>
          <a:p xmlns:a="http://schemas.openxmlformats.org/drawingml/2006/main">
            <a:r>
              <a:rPr sz="1400"/>
              <a:t/>
            </a:r>
          </a:p>
          <a:p xmlns:a="http://schemas.openxmlformats.org/drawingml/2006/main">
            <a:r>
              <a:rPr sz="1400"/>
              <a:t>Uitleg: Laat de dia staan tijdens startopdracht. Opgave 1 haalt gelijkstellen en invullen op, eerder uitgelegd in Boek 2 §2.3.2, p.81–83. Geef bij haperende algebra korte steun: groepeer de Q-termen, deel door de coëfficiënt, vul terug in. Start 2 is een eerste verkenning van de nieuwe wig en economische last. Laat leerlingen de prijsnamen en wig op p.6 en het vergelijken met de oude prijs op p.9 gebruiken. Zij noteren hun redenering en twijfel; dit is geen onaangekondigde beheersingstoets. Bij terugkeer naar dit overzicht vóór het basiswerk laat je 2 opnieuw proberen en bespreek je waarom de oude prijs nodig is. Basis 3–4 staat op p.10, zelfstandig 5–6 op p.11, doel 7 op p.12. Huiswerk: 3,4,5,6,7 maken en nakijken. Bonus 8 en herhaling 9 zijn extra. De docentenroute adviseert voorlopig twee lessen van 55 minuten, zonder gemeten tijdsfit. Rond zo nodig in een volgende les af. Hoofdstukpagina’s 5 en 8 corresponderen met gedrukte complete-boekpagina’s 9 en 12.</a:t>
            </a:r>
          </a:p>
          <a:p xmlns:a="http://schemas.openxmlformats.org/drawingml/2006/main">
            <a:r>
              <a:rPr sz="1400"/>
              <a:t/>
            </a:r>
          </a:p>
          <a:p xmlns:a="http://schemas.openxmlformats.org/drawingml/2006/main">
            <a:r>
              <a:rPr sz="1400"/>
              <a:t>Misvatting: Afdragen vertelt wie overmaakt; de last volgt pas uit vergelijking met de oude prijs.</a:t>
            </a:r>
          </a:p>
          <a:p xmlns:a="http://schemas.openxmlformats.org/drawingml/2006/main">
            <a:r>
              <a:rPr sz="1400"/>
              <a:t/>
            </a:r>
          </a:p>
          <a:p xmlns:a="http://schemas.openxmlformats.org/drawingml/2006/main">
            <a:r>
              <a:rPr sz="1400"/>
              <a:t>Overgang: Ga verder als de klas aan de volgende fase toe is.</a:t>
            </a:r>
          </a:p>
          <a:p xmlns:a="http://schemas.openxmlformats.org/drawingml/2006/main">
            <a:r>
              <a:rPr sz="1400"/>
              <a:t/>
            </a:r>
          </a:p>
          <a:p xmlns:a="http://schemas.openxmlformats.org/drawingml/2006/main">
            <a:r>
              <a:rPr sz="1400"/>
              <a:t>Bron: Boek 3, editie books34-v3, compleet leerlingenboek, gedrukte pagina 6–12. https://github.com/meijer1973/4veco-lessen/blob/9b8304d5031cafac936a56281e144573a25fbbc9/edities/books34-v3/books/book-3/output/Boek_3_Compleet_v3.pdf</a:t>
            </a:r>
          </a:p>
          <a:p xmlns:a="http://schemas.openxmlformats.org/drawingml/2006/main">
            <a:r>
              <a:rPr sz="1400"/>
              <a:t>Methode en opgaven: https://github.com/meijer1973/4veco-lessen/blob/9b8304d5031cafac936a56281e144573a25fbbc9/edities/books34-v3/books/book-3/chapters/3.1/3.1.1%20manuscript.md</a:t>
            </a:r>
          </a:p>
          <a:p xmlns:a="http://schemas.openxmlformats.org/drawingml/2006/main">
            <a:r>
              <a:rPr sz="1400"/>
              <a:t>Antwoordmodel: https://github.com/meijer1973/4veco-lessen/blob/9b8304d5031cafac936a56281e144573a25fbbc9/edities/books34-v3/books/book-3/chapters/3.1/Antwoorden.md#ans7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moet er in een marktevenwicht aan elkaar gelijk zijn?</a:t>
            </a:r>
          </a:p>
          <a:p xmlns:a="http://schemas.openxmlformats.org/drawingml/2006/main">
            <a:r>
              <a:rPr sz="1400"/>
              <a:t/>
            </a:r>
          </a:p>
          <a:p xmlns:a="http://schemas.openxmlformats.org/drawingml/2006/main">
            <a:r>
              <a:rPr sz="1400"/>
              <a:t>Uitleg: De nieuwe handeling is het aanbod omzetten naar de kopersprijs. Eerder berekenden leerlingen één marktprijs, onder andere in Boek 2 §2.3.2 p.82–83. Hier staan na belasting twee prijzen bij dezelfde verhandelde hoeveelheid. We gebruiken hetzelfde marktmodel: veel prijsnemende kopers en verkopers, één product, overige omstandigheden gelijk. Alle gevraagde en aangeboden eenheden bij het nieuwe evenwicht worden verhandeld. Gevolgen voor buitenstaanders blijven buiten beeld.</a:t>
            </a:r>
          </a:p>
          <a:p xmlns:a="http://schemas.openxmlformats.org/drawingml/2006/main">
            <a:r>
              <a:rPr sz="1400"/>
              <a:t/>
            </a:r>
          </a:p>
          <a:p xmlns:a="http://schemas.openxmlformats.org/drawingml/2006/main">
            <a:r>
              <a:rPr sz="1400"/>
              <a:t>Misvatting: Vraag en aanbod blijven even groot; de twee prijzen zijn na belasting niet gelijk.</a:t>
            </a:r>
          </a:p>
          <a:p xmlns:a="http://schemas.openxmlformats.org/drawingml/2006/main">
            <a:r>
              <a:rPr sz="1400"/>
              <a:t/>
            </a:r>
          </a:p>
          <a:p xmlns:a="http://schemas.openxmlformats.org/drawingml/2006/main">
            <a:r>
              <a:rPr sz="1400"/>
              <a:t>Overgang: Geef beide prijzen een eigen naam.</a:t>
            </a:r>
          </a:p>
          <a:p xmlns:a="http://schemas.openxmlformats.org/drawingml/2006/main">
            <a:r>
              <a:rPr sz="1400"/>
              <a:t/>
            </a:r>
          </a:p>
          <a:p xmlns:a="http://schemas.openxmlformats.org/drawingml/2006/main">
            <a:r>
              <a:rPr sz="1400"/>
              <a:t>Bron: Boek 3, editie books34-v3, compleet leerlingenboek, gedrukte pagina 6–9. https://github.com/meijer1973/4veco-lessen/blob/9b8304d5031cafac936a56281e144573a25fbbc9/edities/books34-v3/books/book-3/output/Boek_3_Compleet_v3.pdf</a:t>
            </a:r>
          </a:p>
          <a:p xmlns:a="http://schemas.openxmlformats.org/drawingml/2006/main">
            <a:r>
              <a:rPr sz="1400"/>
              <a:t>Methode en opgaven: https://github.com/meijer1973/4veco-lessen/blob/9b8304d5031cafac936a56281e144573a25fbbc9/edities/books34-v3/books/book-3/chapters/3.1/3.1.1%20manuscript.md</a:t>
            </a:r>
          </a:p>
          <a:p xmlns:a="http://schemas.openxmlformats.org/drawingml/2006/main">
            <a:r>
              <a:rPr sz="1400"/>
              <a:t>Antwoordmodel: https://github.com/meijer1973/4veco-lessen/blob/9b8304d5031cafac936a56281e144573a25fbbc9/edities/books34-v3/books/book-3/chapters/3.1/Antwoorden.md#ans7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bedrag moet de verkoper nog uit Pp betalen?</a:t>
            </a:r>
          </a:p>
          <a:p xmlns:a="http://schemas.openxmlformats.org/drawingml/2006/main">
            <a:r>
              <a:rPr sz="1400"/>
              <a:t/>
            </a:r>
          </a:p>
          <a:p xmlns:a="http://schemas.openxmlformats.org/drawingml/2006/main">
            <a:r>
              <a:rPr sz="1400"/>
              <a:t>Uitleg: Voor elk verkocht product splitst de betaling van de koper in ontvangst voor de verkoper en belasting. Hier draagt de verkoper de belasting af aan de overheid. De belasting is per product, niet een vast totaalbedrag. De symbolen volgen het boek. Pc is consumentprijs, Pp producentontvangst. Productiekosten zijn nog niet afgetrokken van Pp.</a:t>
            </a:r>
          </a:p>
          <a:p xmlns:a="http://schemas.openxmlformats.org/drawingml/2006/main">
            <a:r>
              <a:rPr sz="1400"/>
              <a:t/>
            </a:r>
          </a:p>
          <a:p xmlns:a="http://schemas.openxmlformats.org/drawingml/2006/main">
            <a:r>
              <a:rPr sz="1400"/>
              <a:t>Misvatting: Pp is geen winst. Wie het geld overmaakt hoeft niet de hele economische last te dragen.</a:t>
            </a:r>
          </a:p>
          <a:p xmlns:a="http://schemas.openxmlformats.org/drawingml/2006/main">
            <a:r>
              <a:rPr sz="1400"/>
              <a:t/>
            </a:r>
          </a:p>
          <a:p xmlns:a="http://schemas.openxmlformats.org/drawingml/2006/main">
            <a:r>
              <a:rPr sz="1400"/>
              <a:t>Overgang: Gebruik nu een afzonderlijke oefenmarkt om de procedure te demonstreren.</a:t>
            </a:r>
          </a:p>
          <a:p xmlns:a="http://schemas.openxmlformats.org/drawingml/2006/main">
            <a:r>
              <a:rPr sz="1400"/>
              <a:t/>
            </a:r>
          </a:p>
          <a:p xmlns:a="http://schemas.openxmlformats.org/drawingml/2006/main">
            <a:r>
              <a:rPr sz="1400"/>
              <a:t>Bron: Boek 3, editie books34-v3, compleet leerlingenboek, gedrukte pagina 6. https://github.com/meijer1973/4veco-lessen/blob/9b8304d5031cafac936a56281e144573a25fbbc9/edities/books34-v3/books/book-3/output/Boek_3_Compleet_v3.pdf</a:t>
            </a:r>
          </a:p>
          <a:p xmlns:a="http://schemas.openxmlformats.org/drawingml/2006/main">
            <a:r>
              <a:rPr sz="1400"/>
              <a:t>Methode en opgaven: https://github.com/meijer1973/4veco-lessen/blob/9b8304d5031cafac936a56281e144573a25fbbc9/edities/books34-v3/books/book-3/chapters/3.1/3.1.1%20manuscript.md</a:t>
            </a:r>
          </a:p>
          <a:p xmlns:a="http://schemas.openxmlformats.org/drawingml/2006/main">
            <a:r>
              <a:rPr sz="1400"/>
              <a:t>Antwoordmodel: https://github.com/meijer1973/4veco-lessen/blob/9b8304d5031cafac936a56281e144573a25fbbc9/edities/books34-v3/books/book-3/chapters/3.1/Antwoorden.md#ans7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functie gebruik je voor de ontvangst van de verkoper?</a:t>
            </a:r>
          </a:p>
          <a:p xmlns:a="http://schemas.openxmlformats.org/drawingml/2006/main">
            <a:r>
              <a:rPr sz="1400"/>
              <a:t/>
            </a:r>
          </a:p>
          <a:p xmlns:a="http://schemas.openxmlformats.org/drawingml/2006/main">
            <a:r>
              <a:rPr sz="1400"/>
              <a:t>Uitleg: Dit is een gemaakt uitlegvoorbeeld, geen boekopgave. Introduceer vraag en aanbod vóór invoering van de belasting. Kopers reageren op hun eigen betaling, verkopers op hun ontvangst. In dit model worden bij het nieuwe evenwicht alle aangeboden eenheden verkocht. De prijsfuncties blijven inhoudelijk hetzelfde. Alleen de vertaling tussen ontvangst en betaling verandert door de heffing.</a:t>
            </a:r>
          </a:p>
          <a:p xmlns:a="http://schemas.openxmlformats.org/drawingml/2006/main">
            <a:r>
              <a:rPr sz="1400"/>
              <a:t/>
            </a:r>
          </a:p>
          <a:p xmlns:a="http://schemas.openxmlformats.org/drawingml/2006/main">
            <a:r>
              <a:rPr sz="1400"/>
              <a:t>Misvatting: Verwar de belasting per fietslampje niet met de totale belastingopbrengst.</a:t>
            </a:r>
          </a:p>
          <a:p xmlns:a="http://schemas.openxmlformats.org/drawingml/2006/main">
            <a:r>
              <a:rPr sz="1400"/>
              <a:t/>
            </a:r>
          </a:p>
          <a:p xmlns:a="http://schemas.openxmlformats.org/drawingml/2006/main">
            <a:r>
              <a:rPr sz="1400"/>
              <a:t>Overgang: Bereken eerst het vrije evenwicht.</a:t>
            </a:r>
          </a:p>
          <a:p xmlns:a="http://schemas.openxmlformats.org/drawingml/2006/main">
            <a:r>
              <a:rPr sz="1400"/>
              <a:t/>
            </a:r>
          </a:p>
          <a:p xmlns:a="http://schemas.openxmlformats.org/drawingml/2006/main">
            <a:r>
              <a:rPr sz="1400"/>
              <a:t>Bron: Boek 3, editie books34-v3, compleet leerlingenboek, gedrukte pagina 6–9. https://github.com/meijer1973/4veco-lessen/blob/9b8304d5031cafac936a56281e144573a25fbbc9/edities/books34-v3/books/book-3/output/Boek_3_Compleet_v3.pdf</a:t>
            </a:r>
          </a:p>
          <a:p xmlns:a="http://schemas.openxmlformats.org/drawingml/2006/main">
            <a:r>
              <a:rPr sz="1400"/>
              <a:t>Methode en opgaven: https://github.com/meijer1973/4veco-lessen/blob/9b8304d5031cafac936a56281e144573a25fbbc9/edities/books34-v3/books/book-3/chapters/3.1/3.1.1%20manuscript.md</a:t>
            </a:r>
          </a:p>
          <a:p xmlns:a="http://schemas.openxmlformats.org/drawingml/2006/main">
            <a:r>
              <a:rPr sz="1400"/>
              <a:t>Antwoordmodel: https://github.com/meijer1973/4veco-lessen/blob/9b8304d5031cafac936a56281e144573a25fbbc9/edities/books34-v3/books/book-3/chapters/3.1/Antwoorden.md#ans7</a:t>
            </a:r>
          </a:p>
          <a:p xmlns:a="http://schemas.openxmlformats.org/drawingml/2006/main">
            <a:r>
              <a:rPr sz="1400"/>
              <a:t>Uitlegvoorbeeld — niet uit het boek. Fietslampjes, functies en belasting zijn afzonderlijk voor deze les gemaakt. De boekverwijzing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mag je zonder belasting de twee prijsfuncties gelijkstellen?</a:t>
            </a:r>
          </a:p>
          <a:p xmlns:a="http://schemas.openxmlformats.org/drawingml/2006/main">
            <a:r>
              <a:rPr sz="1400"/>
              <a:t/>
            </a:r>
          </a:p>
          <a:p xmlns:a="http://schemas.openxmlformats.org/drawingml/2006/main">
            <a:r>
              <a:rPr sz="1400"/>
              <a:t>Uitleg: Herhaal kort de bekende algebra: tel 0,20Q bij beide kanten op en trek 6 af. Zo ontstaat 24 = 0,30Q. Deel beide kanten door 0,30. Vul de gevonden hoeveelheid in een prijsfunctie in. Met de andere functie controleer je dezelfde uitkomst. Zo krijgen leerlingen met kwetsbare voorkennis concrete steun vóór de nieuwe omzetting.</a:t>
            </a:r>
          </a:p>
          <a:p xmlns:a="http://schemas.openxmlformats.org/drawingml/2006/main">
            <a:r>
              <a:rPr sz="1400"/>
              <a:t/>
            </a:r>
          </a:p>
          <a:p xmlns:a="http://schemas.openxmlformats.org/drawingml/2006/main">
            <a:r>
              <a:rPr sz="1400"/>
              <a:t>Misvatting: Q is een hoeveelheid per week, P een bedrag per fietslampje. De coëfficiënten tel je samen bij het verplaatsen van de Q-term.</a:t>
            </a:r>
          </a:p>
          <a:p xmlns:a="http://schemas.openxmlformats.org/drawingml/2006/main">
            <a:r>
              <a:rPr sz="1400"/>
              <a:t/>
            </a:r>
          </a:p>
          <a:p xmlns:a="http://schemas.openxmlformats.org/drawingml/2006/main">
            <a:r>
              <a:rPr sz="1400"/>
              <a:t>Overgang: Markeer dezelfde uitkomst in de grafiek.</a:t>
            </a:r>
          </a:p>
          <a:p xmlns:a="http://schemas.openxmlformats.org/drawingml/2006/main">
            <a:r>
              <a:rPr sz="1400"/>
              <a:t/>
            </a:r>
          </a:p>
          <a:p xmlns:a="http://schemas.openxmlformats.org/drawingml/2006/main">
            <a:r>
              <a:rPr sz="1400"/>
              <a:t>Bron: Boek 3, editie books34-v3, compleet leerlingenboek, gedrukte pagina 9. https://github.com/meijer1973/4veco-lessen/blob/9b8304d5031cafac936a56281e144573a25fbbc9/edities/books34-v3/books/book-3/output/Boek_3_Compleet_v3.pdf</a:t>
            </a:r>
          </a:p>
          <a:p xmlns:a="http://schemas.openxmlformats.org/drawingml/2006/main">
            <a:r>
              <a:rPr sz="1400"/>
              <a:t>Methode en opgaven: https://github.com/meijer1973/4veco-lessen/blob/9b8304d5031cafac936a56281e144573a25fbbc9/edities/books34-v3/books/book-3/chapters/3.1/3.1.1%20manuscript.md</a:t>
            </a:r>
          </a:p>
          <a:p xmlns:a="http://schemas.openxmlformats.org/drawingml/2006/main">
            <a:r>
              <a:rPr sz="1400"/>
              <a:t>Antwoordmodel: https://github.com/meijer1973/4veco-lessen/blob/9b8304d5031cafac936a56281e144573a25fbbc9/edities/books34-v3/books/book-3/chapters/3.1/Antwoorden.md#ans7</a:t>
            </a:r>
          </a:p>
          <a:p xmlns:a="http://schemas.openxmlformats.org/drawingml/2006/main">
            <a:r>
              <a:rPr sz="1400"/>
              <a:t>Uitlegvoorbeeld — niet uit het boek. Fietslampjes, functies en belasting zijn afzonderlijk voor deze les gemaakt. De boekverwijzing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getal hoort op de horizontale as?</a:t>
            </a:r>
          </a:p>
          <a:p xmlns:a="http://schemas.openxmlformats.org/drawingml/2006/main">
            <a:r>
              <a:rPr sz="1400"/>
              <a:t/>
            </a:r>
          </a:p>
          <a:p xmlns:a="http://schemas.openxmlformats.org/drawingml/2006/main">
            <a:r>
              <a:rPr sz="1400"/>
              <a:t>Uitleg: Lees vanuit het snijpunt horizontaal de prijs en verticaal de hoeveelheid af. De coördinaatvolgorde is hoeveelheid, prijs. De vraaglijn eindigt bij Q = 150 omdat de prijs daar nul is; we tekenen geen negatieve prijzen. De horizontale as is numeriek. De grafieken van dit voorbeeld houden dezelfde assen, ook na de belasting.</a:t>
            </a:r>
          </a:p>
          <a:p xmlns:a="http://schemas.openxmlformats.org/drawingml/2006/main">
            <a:r>
              <a:rPr sz="1400"/>
              <a:t/>
            </a:r>
          </a:p>
          <a:p xmlns:a="http://schemas.openxmlformats.org/drawingml/2006/main">
            <a:r>
              <a:rPr sz="1400"/>
              <a:t>Misvatting: Een punt op de aanbodlijn hoeft geen marktevenwicht te zijn; daarvoor moet ook de vraaglijn erdoor gaan.</a:t>
            </a:r>
          </a:p>
          <a:p xmlns:a="http://schemas.openxmlformats.org/drawingml/2006/main">
            <a:r>
              <a:rPr sz="1400"/>
              <a:t/>
            </a:r>
          </a:p>
          <a:p xmlns:a="http://schemas.openxmlformats.org/drawingml/2006/main">
            <a:r>
              <a:rPr sz="1400"/>
              <a:t>Overgang: Vergelijk straks de gewenste ontvangst en benodigde betaling bij dezelfde hoeveelheid.</a:t>
            </a:r>
          </a:p>
          <a:p xmlns:a="http://schemas.openxmlformats.org/drawingml/2006/main">
            <a:r>
              <a:rPr sz="1400"/>
              <a:t/>
            </a:r>
          </a:p>
          <a:p xmlns:a="http://schemas.openxmlformats.org/drawingml/2006/main">
            <a:r>
              <a:rPr sz="1400"/>
              <a:t>Bron: Boek 3, editie books34-v3, compleet leerlingenboek, gedrukte pagina 7–9. https://github.com/meijer1973/4veco-lessen/blob/9b8304d5031cafac936a56281e144573a25fbbc9/edities/books34-v3/books/book-3/output/Boek_3_Compleet_v3.pdf</a:t>
            </a:r>
          </a:p>
          <a:p xmlns:a="http://schemas.openxmlformats.org/drawingml/2006/main">
            <a:r>
              <a:rPr sz="1400"/>
              <a:t>Methode en opgaven: https://github.com/meijer1973/4veco-lessen/blob/9b8304d5031cafac936a56281e144573a25fbbc9/edities/books34-v3/books/book-3/chapters/3.1/3.1.1%20manuscript.md</a:t>
            </a:r>
          </a:p>
          <a:p xmlns:a="http://schemas.openxmlformats.org/drawingml/2006/main">
            <a:r>
              <a:rPr sz="1400"/>
              <a:t>Antwoordmodel: https://github.com/meijer1973/4veco-lessen/blob/9b8304d5031cafac936a56281e144573a25fbbc9/edities/books34-v3/books/book-3/chapters/3.1/Antwoorden.md#ans7</a:t>
            </a:r>
          </a:p>
          <a:p xmlns:a="http://schemas.openxmlformats.org/drawingml/2006/main">
            <a:r>
              <a:rPr sz="1400"/>
              <a:t>Uitlegvoorbeeld — niet uit het boek. Fietslampjes, functies en belasting zijn afzonderlijk voor deze les gemaakt. De boekverwijzing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Kan de verkoper 6 euro afdragen uit een betaling van 12 euro en toch 12 euro ontvangen?</a:t>
            </a:r>
          </a:p>
          <a:p xmlns:a="http://schemas.openxmlformats.org/drawingml/2006/main">
            <a:r>
              <a:rPr sz="1400"/>
              <a:t/>
            </a:r>
          </a:p>
          <a:p xmlns:a="http://schemas.openxmlformats.org/drawingml/2006/main">
            <a:r>
              <a:rPr sz="1400"/>
              <a:t>Uitleg: Bij Q = 60 hoort volgens de oorspronkelijke A een gewenste ontvangst van 12 euro. Om na afdracht van 6 euro nog 12 euro over te houden, moet de koper 18 euro betalen. Doe dezelfde omzetting bij nul en 120. Deze rij bepaalt nog geen evenwicht: daarvoor moet je de vraag erbij betrekken. Productiekosten veranderen hier niet; A + t beschrijft dezelfde aanbodbeslissing in kopersprijzen.</a:t>
            </a:r>
          </a:p>
          <a:p xmlns:a="http://schemas.openxmlformats.org/drawingml/2006/main">
            <a:r>
              <a:rPr sz="1400"/>
              <a:t/>
            </a:r>
          </a:p>
          <a:p xmlns:a="http://schemas.openxmlformats.org/drawingml/2006/main">
            <a:r>
              <a:rPr sz="1400"/>
              <a:t>Misvatting: Tel de belasting bij de gewenste ontvangst op, niet zonder meer bij de oude marktprijs.</a:t>
            </a:r>
          </a:p>
          <a:p xmlns:a="http://schemas.openxmlformats.org/drawingml/2006/main">
            <a:r>
              <a:rPr sz="1400"/>
              <a:t/>
            </a:r>
          </a:p>
          <a:p xmlns:a="http://schemas.openxmlformats.org/drawingml/2006/main">
            <a:r>
              <a:rPr sz="1400"/>
              <a:t>Overgang: Voer deze omzetting uit voor de hele aanbodfunctie.</a:t>
            </a:r>
          </a:p>
          <a:p xmlns:a="http://schemas.openxmlformats.org/drawingml/2006/main">
            <a:r>
              <a:rPr sz="1400"/>
              <a:t/>
            </a:r>
          </a:p>
          <a:p xmlns:a="http://schemas.openxmlformats.org/drawingml/2006/main">
            <a:r>
              <a:rPr sz="1400"/>
              <a:t>Bron: Boek 3, editie books34-v3, compleet leerlingenboek, gedrukte pagina 8. https://github.com/meijer1973/4veco-lessen/blob/9b8304d5031cafac936a56281e144573a25fbbc9/edities/books34-v3/books/book-3/output/Boek_3_Compleet_v3.pdf</a:t>
            </a:r>
          </a:p>
          <a:p xmlns:a="http://schemas.openxmlformats.org/drawingml/2006/main">
            <a:r>
              <a:rPr sz="1400"/>
              <a:t>Methode en opgaven: https://github.com/meijer1973/4veco-lessen/blob/9b8304d5031cafac936a56281e144573a25fbbc9/edities/books34-v3/books/book-3/chapters/3.1/3.1.1%20manuscript.md</a:t>
            </a:r>
          </a:p>
          <a:p xmlns:a="http://schemas.openxmlformats.org/drawingml/2006/main">
            <a:r>
              <a:rPr sz="1400"/>
              <a:t>Antwoordmodel: https://github.com/meijer1973/4veco-lessen/blob/9b8304d5031cafac936a56281e144573a25fbbc9/edities/books34-v3/books/book-3/chapters/3.1/Antwoorden.md#ans7</a:t>
            </a:r>
          </a:p>
          <a:p xmlns:a="http://schemas.openxmlformats.org/drawingml/2006/main">
            <a:r>
              <a:rPr sz="1400"/>
              <a:t>Uitlegvoorbeeld — niet uit het boek. Fietslampjes, functies en belasting zijn afzonderlijk voor deze les gemaakt. De boekverwijzing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deel van de functie verandert door 6 euro per product?</a:t>
            </a:r>
          </a:p>
          <a:p xmlns:a="http://schemas.openxmlformats.org/drawingml/2006/main">
            <a:r>
              <a:rPr sz="1400"/>
              <a:t/>
            </a:r>
          </a:p>
          <a:p xmlns:a="http://schemas.openxmlformats.org/drawingml/2006/main">
            <a:r>
              <a:rPr sz="1400"/>
              <a:t>Uitleg: Benoem bij elke regel welk bedrag wordt beschreven. De constante term neemt van 6 naar 12 toe. De helling 0,10 blijft gelijk omdat de heffing per eenheid vast is. Je telt de belasting dus niet bij de coëfficiënt van Q op. De nieuwe lijn is uitgedrukt in Pc; de oorspronkelijke A blijft beschikbaar om Pp te vinden.</a:t>
            </a:r>
          </a:p>
          <a:p xmlns:a="http://schemas.openxmlformats.org/drawingml/2006/main">
            <a:r>
              <a:rPr sz="1400"/>
              <a:t/>
            </a:r>
          </a:p>
          <a:p xmlns:a="http://schemas.openxmlformats.org/drawingml/2006/main">
            <a:r>
              <a:rPr sz="1400"/>
              <a:t>Misvatting: A + t is geen nieuwe winstfunctie en ook geen gewijzigde betalingsbereidheid.</a:t>
            </a:r>
          </a:p>
          <a:p xmlns:a="http://schemas.openxmlformats.org/drawingml/2006/main">
            <a:r>
              <a:rPr sz="1400"/>
              <a:t/>
            </a:r>
          </a:p>
          <a:p xmlns:a="http://schemas.openxmlformats.org/drawingml/2006/main">
            <a:r>
              <a:rPr sz="1400"/>
              <a:t>Overgang: Bekijk zowel de verticale afstand als de horizontale verschuiving.</a:t>
            </a:r>
          </a:p>
          <a:p xmlns:a="http://schemas.openxmlformats.org/drawingml/2006/main">
            <a:r>
              <a:rPr sz="1400"/>
              <a:t/>
            </a:r>
          </a:p>
          <a:p xmlns:a="http://schemas.openxmlformats.org/drawingml/2006/main">
            <a:r>
              <a:rPr sz="1400"/>
              <a:t>Bron: Boek 3, editie books34-v3, compleet leerlingenboek, gedrukte pagina 8–9. https://github.com/meijer1973/4veco-lessen/blob/9b8304d5031cafac936a56281e144573a25fbbc9/edities/books34-v3/books/book-3/output/Boek_3_Compleet_v3.pdf</a:t>
            </a:r>
          </a:p>
          <a:p xmlns:a="http://schemas.openxmlformats.org/drawingml/2006/main">
            <a:r>
              <a:rPr sz="1400"/>
              <a:t>Methode en opgaven: https://github.com/meijer1973/4veco-lessen/blob/9b8304d5031cafac936a56281e144573a25fbbc9/edities/books34-v3/books/book-3/chapters/3.1/3.1.1%20manuscript.md</a:t>
            </a:r>
          </a:p>
          <a:p xmlns:a="http://schemas.openxmlformats.org/drawingml/2006/main">
            <a:r>
              <a:rPr sz="1400"/>
              <a:t>Antwoordmodel: https://github.com/meijer1973/4veco-lessen/blob/9b8304d5031cafac936a56281e144573a25fbbc9/edities/books34-v3/books/book-3/chapters/3.1/Antwoorden.md#ans7</a:t>
            </a:r>
          </a:p>
          <a:p xmlns:a="http://schemas.openxmlformats.org/drawingml/2006/main">
            <a:r>
              <a:rPr sz="1400"/>
              <a:t>Uitlegvoorbeeld — niet uit het boek. Fietslampjes, functies en belasting zijn afzonderlijk voor deze les gemaakt. De boekverwijzing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houd je gelijk bij de horizontale pijl?</a:t>
            </a:r>
          </a:p>
          <a:p xmlns:a="http://schemas.openxmlformats.org/drawingml/2006/main">
            <a:r>
              <a:rPr sz="1400"/>
              <a:t/>
            </a:r>
          </a:p>
          <a:p xmlns:a="http://schemas.openxmlformats.org/drawingml/2006/main">
            <a:r>
              <a:rPr sz="1400"/>
              <a:t>Uitleg: De verticale afstand tussen de parallelle lijnen is steeds 6 euro. De horizontale pijl staat bij een vaste kopersprijs van 20 euro: zonder belasting is Qa = (20 − 6)/0,10 = 140, met belasting Qa = (20 − 12)/0,10 = 80. Daarom verschuift het aanbod in kopersprijzen naar links. Die 80 is een aangeboden hoeveelheid bij deze gekozen prijs, niet het nieuwe marktevenwicht. De pijl eindigt op A + t en begint op A. De vraaglijn verandert niet.</a:t>
            </a:r>
          </a:p>
          <a:p xmlns:a="http://schemas.openxmlformats.org/drawingml/2006/main">
            <a:r>
              <a:rPr sz="1400"/>
              <a:t/>
            </a:r>
          </a:p>
          <a:p xmlns:a="http://schemas.openxmlformats.org/drawingml/2006/main">
            <a:r>
              <a:rPr sz="1400"/>
              <a:t>Misvatting: De lengte van de horizontale pijl is in fietslampjes, de verticale wig in euro per fietslampje.</a:t>
            </a:r>
          </a:p>
          <a:p xmlns:a="http://schemas.openxmlformats.org/drawingml/2006/main">
            <a:r>
              <a:rPr sz="1400"/>
              <a:t/>
            </a:r>
          </a:p>
          <a:p xmlns:a="http://schemas.openxmlformats.org/drawingml/2006/main">
            <a:r>
              <a:rPr sz="1400"/>
              <a:t>Overgang: Bereken het snijpunt van V met A + t.</a:t>
            </a:r>
          </a:p>
          <a:p xmlns:a="http://schemas.openxmlformats.org/drawingml/2006/main">
            <a:r>
              <a:rPr sz="1400"/>
              <a:t/>
            </a:r>
          </a:p>
          <a:p xmlns:a="http://schemas.openxmlformats.org/drawingml/2006/main">
            <a:r>
              <a:rPr sz="1400"/>
              <a:t>Bron: Boek 3, editie books34-v3, compleet leerlingenboek, gedrukte pagina 7–8. https://github.com/meijer1973/4veco-lessen/blob/9b8304d5031cafac936a56281e144573a25fbbc9/edities/books34-v3/books/book-3/output/Boek_3_Compleet_v3.pdf</a:t>
            </a:r>
          </a:p>
          <a:p xmlns:a="http://schemas.openxmlformats.org/drawingml/2006/main">
            <a:r>
              <a:rPr sz="1400"/>
              <a:t>Methode en opgaven: https://github.com/meijer1973/4veco-lessen/blob/9b8304d5031cafac936a56281e144573a25fbbc9/edities/books34-v3/books/book-3/chapters/3.1/3.1.1%20manuscript.md</a:t>
            </a:r>
          </a:p>
          <a:p xmlns:a="http://schemas.openxmlformats.org/drawingml/2006/main">
            <a:r>
              <a:rPr sz="1400"/>
              <a:t>Antwoordmodel: https://github.com/meijer1973/4veco-lessen/blob/9b8304d5031cafac936a56281e144573a25fbbc9/edities/books34-v3/books/book-3/chapters/3.1/Antwoorden.md#ans7</a:t>
            </a:r>
          </a:p>
          <a:p xmlns:a="http://schemas.openxmlformats.org/drawingml/2006/main">
            <a:r>
              <a:rPr sz="1400"/>
              <a:t>Uitlegvoorbeeld — niet uit het boek. Fietslampjes, functies en belasting zijn afzonderlijk voor deze les gemaakt. De boekverwijzing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gebruik je hier 12 + 0,10Q en niet 6 + 0,10Q?</a:t>
            </a:r>
          </a:p>
          <a:p xmlns:a="http://schemas.openxmlformats.org/drawingml/2006/main">
            <a:r>
              <a:rPr sz="1400"/>
              <a:t/>
            </a:r>
          </a:p>
          <a:p xmlns:a="http://schemas.openxmlformats.org/drawingml/2006/main">
            <a:r>
              <a:rPr sz="1400"/>
              <a:t>Uitleg: Beide kanten van de vergelijking beschrijven nu Pc. Vraag en aanbod worden gelijk bij Q = 60. De letter t onder Q duidt de situatie met belasting aan, geen vermenigvuldiging. Gebruik daarna deze ene hoeveelheid voor beide prijsfuncties. De daling ten opzichte van de vrije hoeveelheid is 20 fietslampjes per week.</a:t>
            </a:r>
          </a:p>
          <a:p xmlns:a="http://schemas.openxmlformats.org/drawingml/2006/main">
            <a:r>
              <a:rPr sz="1400"/>
              <a:t/>
            </a:r>
          </a:p>
          <a:p xmlns:a="http://schemas.openxmlformats.org/drawingml/2006/main">
            <a:r>
              <a:rPr sz="1400"/>
              <a:t>Misvatting: Vraag in Pc direct gelijkstellen aan aanbod in Pp zou de belasting vergeten.</a:t>
            </a:r>
          </a:p>
          <a:p xmlns:a="http://schemas.openxmlformats.org/drawingml/2006/main">
            <a:r>
              <a:rPr sz="1400"/>
              <a:t/>
            </a:r>
          </a:p>
          <a:p xmlns:a="http://schemas.openxmlformats.org/drawingml/2006/main">
            <a:r>
              <a:rPr sz="1400"/>
              <a:t>Overgang: Bereken wat kopers betalen en verkopers ontvangen.</a:t>
            </a:r>
          </a:p>
          <a:p xmlns:a="http://schemas.openxmlformats.org/drawingml/2006/main">
            <a:r>
              <a:rPr sz="1400"/>
              <a:t/>
            </a:r>
          </a:p>
          <a:p xmlns:a="http://schemas.openxmlformats.org/drawingml/2006/main">
            <a:r>
              <a:rPr sz="1400"/>
              <a:t>Bron: Boek 3, editie books34-v3, compleet leerlingenboek, gedrukte pagina 9. https://github.com/meijer1973/4veco-lessen/blob/9b8304d5031cafac936a56281e144573a25fbbc9/edities/books34-v3/books/book-3/output/Boek_3_Compleet_v3.pdf</a:t>
            </a:r>
          </a:p>
          <a:p xmlns:a="http://schemas.openxmlformats.org/drawingml/2006/main">
            <a:r>
              <a:rPr sz="1400"/>
              <a:t>Methode en opgaven: https://github.com/meijer1973/4veco-lessen/blob/9b8304d5031cafac936a56281e144573a25fbbc9/edities/books34-v3/books/book-3/chapters/3.1/3.1.1%20manuscript.md</a:t>
            </a:r>
          </a:p>
          <a:p xmlns:a="http://schemas.openxmlformats.org/drawingml/2006/main">
            <a:r>
              <a:rPr sz="1400"/>
              <a:t>Antwoordmodel: https://github.com/meijer1973/4veco-lessen/blob/9b8304d5031cafac936a56281e144573a25fbbc9/edities/books34-v3/books/book-3/chapters/3.1/Antwoorden.md#ans7</a:t>
            </a:r>
          </a:p>
          <a:p xmlns:a="http://schemas.openxmlformats.org/drawingml/2006/main">
            <a:r>
              <a:rPr sz="1400"/>
              <a:t>Uitlegvoorbeeld — niet uit het boek. Fietslampjes, functies en belasting zijn afzonderlijk voor deze les gemaakt. De boekverwijzing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Op welke lijn lees je het bedrag na afdracht af?</a:t>
            </a:r>
          </a:p>
          <a:p xmlns:a="http://schemas.openxmlformats.org/drawingml/2006/main">
            <a:r>
              <a:rPr sz="1400"/>
              <a:t/>
            </a:r>
          </a:p>
          <a:p xmlns:a="http://schemas.openxmlformats.org/drawingml/2006/main">
            <a:r>
              <a:rPr sz="1400"/>
              <a:t>Uitleg: Vul Q = 60 in V in voor de betaalde prijs. Vul dezelfde Q in de oorspronkelijke A in voor de ontvangst na afdracht. Je kunt Pp ook controleren met Pc − t. De uitkomst uit A + t is opnieuw 18 en dus de kopersprijs. Alle bedragen zijn per fietslampje; het gaat niet om totale belastingopbrengst.</a:t>
            </a:r>
          </a:p>
          <a:p xmlns:a="http://schemas.openxmlformats.org/drawingml/2006/main">
            <a:r>
              <a:rPr sz="1400"/>
              <a:t/>
            </a:r>
          </a:p>
          <a:p xmlns:a="http://schemas.openxmlformats.org/drawingml/2006/main">
            <a:r>
              <a:rPr sz="1400"/>
              <a:t>Misvatting: De twee prijzen horen niet bij twee verschillende verkochte hoeveelheden.</a:t>
            </a:r>
          </a:p>
          <a:p xmlns:a="http://schemas.openxmlformats.org/drawingml/2006/main">
            <a:r>
              <a:rPr sz="1400"/>
              <a:t/>
            </a:r>
          </a:p>
          <a:p xmlns:a="http://schemas.openxmlformats.org/drawingml/2006/main">
            <a:r>
              <a:rPr sz="1400"/>
              <a:t>Overgang: Markeer precies deze twee punten en hun verschil.</a:t>
            </a:r>
          </a:p>
          <a:p xmlns:a="http://schemas.openxmlformats.org/drawingml/2006/main">
            <a:r>
              <a:rPr sz="1400"/>
              <a:t/>
            </a:r>
          </a:p>
          <a:p xmlns:a="http://schemas.openxmlformats.org/drawingml/2006/main">
            <a:r>
              <a:rPr sz="1400"/>
              <a:t>Bron: Boek 3, editie books34-v3, compleet leerlingenboek, gedrukte pagina 9. https://github.com/meijer1973/4veco-lessen/blob/9b8304d5031cafac936a56281e144573a25fbbc9/edities/books34-v3/books/book-3/output/Boek_3_Compleet_v3.pdf</a:t>
            </a:r>
          </a:p>
          <a:p xmlns:a="http://schemas.openxmlformats.org/drawingml/2006/main">
            <a:r>
              <a:rPr sz="1400"/>
              <a:t>Methode en opgaven: https://github.com/meijer1973/4veco-lessen/blob/9b8304d5031cafac936a56281e144573a25fbbc9/edities/books34-v3/books/book-3/chapters/3.1/3.1.1%20manuscript.md</a:t>
            </a:r>
          </a:p>
          <a:p xmlns:a="http://schemas.openxmlformats.org/drawingml/2006/main">
            <a:r>
              <a:rPr sz="1400"/>
              <a:t>Antwoordmodel: https://github.com/meijer1973/4veco-lessen/blob/9b8304d5031cafac936a56281e144573a25fbbc9/edities/books34-v3/books/book-3/chapters/3.1/Antwoorden.md#ans7</a:t>
            </a:r>
          </a:p>
          <a:p xmlns:a="http://schemas.openxmlformats.org/drawingml/2006/main">
            <a:r>
              <a:rPr sz="1400"/>
              <a:t>Uitlegvoorbeeld — niet uit het boek. Fietslampjes, functies en belasting zijn afzonderlijk voor deze les gemaakt. De boekverwijzing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moet de wig precies verticaal staan?</a:t>
            </a:r>
          </a:p>
          <a:p xmlns:a="http://schemas.openxmlformats.org/drawingml/2006/main">
            <a:r>
              <a:rPr sz="1400"/>
              <a:t/>
            </a:r>
          </a:p>
          <a:p xmlns:a="http://schemas.openxmlformats.org/drawingml/2006/main">
            <a:r>
              <a:rPr sz="1400"/>
              <a:t>Uitleg: Het snijpunt van V en A + t ligt op (60;18). Ga bij Q = 60 recht omlaag naar de oorspronkelijke A: dat geeft (60;12). De oranje verticale lijn is de belastingwig. De horizontale stippellijnen verbinden de prijzen met de prijsas. De verticale stippellijn geeft de hoeveelheid. Dit is een andere vergelijking dan de horizontale verschuivingspijl bij een vaste kopersprijs.</a:t>
            </a:r>
          </a:p>
          <a:p xmlns:a="http://schemas.openxmlformats.org/drawingml/2006/main">
            <a:r>
              <a:rPr sz="1400"/>
              <a:t/>
            </a:r>
          </a:p>
          <a:p xmlns:a="http://schemas.openxmlformats.org/drawingml/2006/main">
            <a:r>
              <a:rPr sz="1400"/>
              <a:t>Misvatting: Een schuine verbinding vergelijkt prijzen bij verschillende hoeveelheden.</a:t>
            </a:r>
          </a:p>
          <a:p xmlns:a="http://schemas.openxmlformats.org/drawingml/2006/main">
            <a:r>
              <a:rPr sz="1400"/>
              <a:t/>
            </a:r>
          </a:p>
          <a:p xmlns:a="http://schemas.openxmlformats.org/drawingml/2006/main">
            <a:r>
              <a:rPr sz="1400"/>
              <a:t>Overgang: Vergelijk de nieuwe prijzen met de oude prijs van 14 euro.</a:t>
            </a:r>
          </a:p>
          <a:p xmlns:a="http://schemas.openxmlformats.org/drawingml/2006/main">
            <a:r>
              <a:rPr sz="1400"/>
              <a:t/>
            </a:r>
          </a:p>
          <a:p xmlns:a="http://schemas.openxmlformats.org/drawingml/2006/main">
            <a:r>
              <a:rPr sz="1400"/>
              <a:t>Bron: Boek 3, editie books34-v3, compleet leerlingenboek, gedrukte pagina 7–9. https://github.com/meijer1973/4veco-lessen/blob/9b8304d5031cafac936a56281e144573a25fbbc9/edities/books34-v3/books/book-3/output/Boek_3_Compleet_v3.pdf</a:t>
            </a:r>
          </a:p>
          <a:p xmlns:a="http://schemas.openxmlformats.org/drawingml/2006/main">
            <a:r>
              <a:rPr sz="1400"/>
              <a:t>Methode en opgaven: https://github.com/meijer1973/4veco-lessen/blob/9b8304d5031cafac936a56281e144573a25fbbc9/edities/books34-v3/books/book-3/chapters/3.1/3.1.1%20manuscript.md</a:t>
            </a:r>
          </a:p>
          <a:p xmlns:a="http://schemas.openxmlformats.org/drawingml/2006/main">
            <a:r>
              <a:rPr sz="1400"/>
              <a:t>Antwoordmodel: https://github.com/meijer1973/4veco-lessen/blob/9b8304d5031cafac936a56281e144573a25fbbc9/edities/books34-v3/books/book-3/chapters/3.1/Antwoorden.md#ans7</a:t>
            </a:r>
          </a:p>
          <a:p xmlns:a="http://schemas.openxmlformats.org/drawingml/2006/main">
            <a:r>
              <a:rPr sz="1400"/>
              <a:t>Uitlegvoorbeeld — niet uit het boek. Fietslampjes, functies en belasting zijn afzonderlijk voor deze les gemaakt. De boekverwijzing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informatie ontbreekt als je alleen Pc en Pp kent?</a:t>
            </a:r>
          </a:p>
          <a:p xmlns:a="http://schemas.openxmlformats.org/drawingml/2006/main">
            <a:r>
              <a:rPr sz="1400"/>
              <a:t/>
            </a:r>
          </a:p>
          <a:p xmlns:a="http://schemas.openxmlformats.org/drawingml/2006/main">
            <a:r>
              <a:rPr sz="1400"/>
              <a:t>Uitleg: Afdragen is het betalen van 6 euro aan de overheid. De economische last per fietslampje meet je ten opzichte van de prijs zonder belasting. Kopers betalen 4 euro meer, verkopers ontvangen 2 euro minder. Samen is dat 6 euro, dezelfde wig. Dit is de prijsverandering per verhandeld product, niet een berekening van totale welvaartsverliezen. Hiervoor is de oude prijs nodig.</a:t>
            </a:r>
          </a:p>
          <a:p xmlns:a="http://schemas.openxmlformats.org/drawingml/2006/main">
            <a:r>
              <a:rPr sz="1400"/>
              <a:t/>
            </a:r>
          </a:p>
          <a:p xmlns:a="http://schemas.openxmlformats.org/drawingml/2006/main">
            <a:r>
              <a:rPr sz="1400"/>
              <a:t>Misvatting: De partij die overmaakt draagt niet automatisch de hele last. Ook een stijgende kopersprijs impliceert geen hogere verkopersontvangst.</a:t>
            </a:r>
          </a:p>
          <a:p xmlns:a="http://schemas.openxmlformats.org/drawingml/2006/main">
            <a:r>
              <a:rPr sz="1400"/>
              <a:t/>
            </a:r>
          </a:p>
          <a:p xmlns:a="http://schemas.openxmlformats.org/drawingml/2006/main">
            <a:r>
              <a:rPr sz="1400"/>
              <a:t>Overgang: Controleer of je de oude prijs simpelweg mag verhogen met de heffing.</a:t>
            </a:r>
          </a:p>
          <a:p xmlns:a="http://schemas.openxmlformats.org/drawingml/2006/main">
            <a:r>
              <a:rPr sz="1400"/>
              <a:t/>
            </a:r>
          </a:p>
          <a:p xmlns:a="http://schemas.openxmlformats.org/drawingml/2006/main">
            <a:r>
              <a:rPr sz="1400"/>
              <a:t>Bron: Boek 3, editie books34-v3, compleet leerlingenboek, gedrukte pagina 9. https://github.com/meijer1973/4veco-lessen/blob/9b8304d5031cafac936a56281e144573a25fbbc9/edities/books34-v3/books/book-3/output/Boek_3_Compleet_v3.pdf</a:t>
            </a:r>
          </a:p>
          <a:p xmlns:a="http://schemas.openxmlformats.org/drawingml/2006/main">
            <a:r>
              <a:rPr sz="1400"/>
              <a:t>Methode en opgaven: https://github.com/meijer1973/4veco-lessen/blob/9b8304d5031cafac936a56281e144573a25fbbc9/edities/books34-v3/books/book-3/chapters/3.1/3.1.1%20manuscript.md</a:t>
            </a:r>
          </a:p>
          <a:p xmlns:a="http://schemas.openxmlformats.org/drawingml/2006/main">
            <a:r>
              <a:rPr sz="1400"/>
              <a:t>Antwoordmodel: https://github.com/meijer1973/4veco-lessen/blob/9b8304d5031cafac936a56281e144573a25fbbc9/edities/books34-v3/books/book-3/chapters/3.1/Antwoorden.md#ans7</a:t>
            </a:r>
          </a:p>
          <a:p xmlns:a="http://schemas.openxmlformats.org/drawingml/2006/main">
            <a:r>
              <a:rPr sz="1400"/>
              <a:t>Uitlegvoorbeeld — niet uit het boek. Fietslampjes, functies en belasting zijn afzonderlijk voor deze les gemaakt. De boekverwijzing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Zijn de gewenste hoeveelheden bij deze twee prijzen gelijk?</a:t>
            </a:r>
          </a:p>
          <a:p xmlns:a="http://schemas.openxmlformats.org/drawingml/2006/main">
            <a:r>
              <a:rPr sz="1400"/>
              <a:t/>
            </a:r>
          </a:p>
          <a:p xmlns:a="http://schemas.openxmlformats.org/drawingml/2006/main">
            <a:r>
              <a:rPr sz="1400"/>
              <a:t>Uitleg: Laat leerlingen eerst zelf redeneren met het uitlegvoorbeeld. Noteer Pc = 20, vraag naar de bijbehorende Pp en laat beide functies terugrekenen naar Q. Wie vastloopt krijgt de opstelling 20 = 30 − 0,20Qv en 14 = 6 + 0,10Qa. Dit is een directe begripscontrole en voegt geen huiswerk toe.</a:t>
            </a:r>
          </a:p>
          <a:p xmlns:a="http://schemas.openxmlformats.org/drawingml/2006/main">
            <a:r>
              <a:rPr sz="1400"/>
              <a:t/>
            </a:r>
          </a:p>
          <a:p xmlns:a="http://schemas.openxmlformats.org/drawingml/2006/main">
            <a:r>
              <a:rPr sz="1400"/>
              <a:t>Misvatting: Een correcte wig is noodzakelijk maar op zichzelf onvoldoende voor marktevenwicht.</a:t>
            </a:r>
          </a:p>
          <a:p xmlns:a="http://schemas.openxmlformats.org/drawingml/2006/main">
            <a:r>
              <a:rPr sz="1400"/>
              <a:t/>
            </a:r>
          </a:p>
          <a:p xmlns:a="http://schemas.openxmlformats.org/drawingml/2006/main">
            <a:r>
              <a:rPr sz="1400"/>
              <a:t>Overgang: Onthul na de redeneringen de rekencontrole.</a:t>
            </a:r>
          </a:p>
          <a:p xmlns:a="http://schemas.openxmlformats.org/drawingml/2006/main">
            <a:r>
              <a:rPr sz="1400"/>
              <a:t/>
            </a:r>
          </a:p>
          <a:p xmlns:a="http://schemas.openxmlformats.org/drawingml/2006/main">
            <a:r>
              <a:rPr sz="1400"/>
              <a:t>Bron: Boek 3, editie books34-v3, compleet leerlingenboek, gedrukte pagina 8. https://github.com/meijer1973/4veco-lessen/blob/9b8304d5031cafac936a56281e144573a25fbbc9/edities/books34-v3/books/book-3/output/Boek_3_Compleet_v3.pdf</a:t>
            </a:r>
          </a:p>
          <a:p xmlns:a="http://schemas.openxmlformats.org/drawingml/2006/main">
            <a:r>
              <a:rPr sz="1400"/>
              <a:t>Methode en opgaven: https://github.com/meijer1973/4veco-lessen/blob/9b8304d5031cafac936a56281e144573a25fbbc9/edities/books34-v3/books/book-3/chapters/3.1/3.1.1%20manuscript.md</a:t>
            </a:r>
          </a:p>
          <a:p xmlns:a="http://schemas.openxmlformats.org/drawingml/2006/main">
            <a:r>
              <a:rPr sz="1400"/>
              <a:t>Antwoordmodel: https://github.com/meijer1973/4veco-lessen/blob/9b8304d5031cafac936a56281e144573a25fbbc9/edities/books34-v3/books/book-3/chapters/3.1/Antwoorden.md#ans7</a:t>
            </a:r>
          </a:p>
          <a:p xmlns:a="http://schemas.openxmlformats.org/drawingml/2006/main">
            <a:r>
              <a:rPr sz="1400"/>
              <a:t>Uitlegvoorbeeld — niet uit het boek. Fietslampjes, functies en belasting zijn afzonderlijk voor deze les gemaakt. De boekverwijzing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Aan welke twee voorwaarden moet de nieuwe situatie tegelijk voldoen?</a:t>
            </a:r>
          </a:p>
          <a:p xmlns:a="http://schemas.openxmlformats.org/drawingml/2006/main">
            <a:r>
              <a:rPr sz="1400"/>
              <a:t/>
            </a:r>
          </a:p>
          <a:p xmlns:a="http://schemas.openxmlformats.org/drawingml/2006/main">
            <a:r>
              <a:rPr sz="1400"/>
              <a:t>Uitleg: Vraag terugrekenen geeft (30 − 20)/0,20 = 50. Aanbod bij een ontvangst van 14 euro geeft (14 − 6)/0,10 = 80. Het aanbod is groter dan de vraag. Daarom kun je niet vooraf de hele belasting bij de oude prijs optellen. Bij de eerder gevonden Pc = 18 en Pp = 12 zijn beide gewenste hoeveelheden juist 60.</a:t>
            </a:r>
          </a:p>
          <a:p xmlns:a="http://schemas.openxmlformats.org/drawingml/2006/main">
            <a:r>
              <a:rPr sz="1400"/>
              <a:t/>
            </a:r>
          </a:p>
          <a:p xmlns:a="http://schemas.openxmlformats.org/drawingml/2006/main">
            <a:r>
              <a:rPr sz="1400"/>
              <a:t>Misvatting: Controleer zowel Qv = Qa als Pc − Pp = t.</a:t>
            </a:r>
          </a:p>
          <a:p xmlns:a="http://schemas.openxmlformats.org/drawingml/2006/main">
            <a:r>
              <a:rPr sz="1400"/>
              <a:t/>
            </a:r>
          </a:p>
          <a:p xmlns:a="http://schemas.openxmlformats.org/drawingml/2006/main">
            <a:r>
              <a:rPr sz="1400"/>
              <a:t>Overgang: Keer terug naar startopgave 2, daarna begint de basisroute.</a:t>
            </a:r>
          </a:p>
          <a:p xmlns:a="http://schemas.openxmlformats.org/drawingml/2006/main">
            <a:r>
              <a:rPr sz="1400"/>
              <a:t/>
            </a:r>
          </a:p>
          <a:p xmlns:a="http://schemas.openxmlformats.org/drawingml/2006/main">
            <a:r>
              <a:rPr sz="1400"/>
              <a:t>Bron: Boek 3, editie books34-v3, compleet leerlingenboek, gedrukte pagina 8. https://github.com/meijer1973/4veco-lessen/blob/9b8304d5031cafac936a56281e144573a25fbbc9/edities/books34-v3/books/book-3/output/Boek_3_Compleet_v3.pdf</a:t>
            </a:r>
          </a:p>
          <a:p xmlns:a="http://schemas.openxmlformats.org/drawingml/2006/main">
            <a:r>
              <a:rPr sz="1400"/>
              <a:t>Methode en opgaven: https://github.com/meijer1973/4veco-lessen/blob/9b8304d5031cafac936a56281e144573a25fbbc9/edities/books34-v3/books/book-3/chapters/3.1/3.1.1%20manuscript.md</a:t>
            </a:r>
          </a:p>
          <a:p xmlns:a="http://schemas.openxmlformats.org/drawingml/2006/main">
            <a:r>
              <a:rPr sz="1400"/>
              <a:t>Antwoordmodel: https://github.com/meijer1973/4veco-lessen/blob/9b8304d5031cafac936a56281e144573a25fbbc9/edities/books34-v3/books/book-3/chapters/3.1/Antwoorden.md#ans7</a:t>
            </a:r>
          </a:p>
          <a:p xmlns:a="http://schemas.openxmlformats.org/drawingml/2006/main">
            <a:r>
              <a:rPr sz="1400"/>
              <a:t>Uitlegvoorbeeld — niet uit het boek. Fietslampjes, functies en belasting zijn afzonderlijk voor deze les gemaakt. De boekverwijzing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uitleg helpt je bij de nieuwe begrippen in opgave 2?</a:t>
            </a:r>
          </a:p>
          <a:p xmlns:a="http://schemas.openxmlformats.org/drawingml/2006/main">
            <a:r>
              <a:rPr sz="1400"/>
              <a:t/>
            </a:r>
          </a:p>
          <a:p xmlns:a="http://schemas.openxmlformats.org/drawingml/2006/main">
            <a:r>
              <a:rPr sz="1400"/>
              <a:t>Uitleg: Laat de dia staan tijdens zelfstandig werken. Opgave 1 haalt gelijkstellen en invullen op, eerder uitgelegd in Boek 2 §2.3.2, p.81–83. Geef bij haperende algebra korte steun: groepeer de Q-termen, deel door de coëfficiënt, vul terug in. Start 2 is een eerste verkenning van de nieuwe wig en economische last. Laat leerlingen de prijsnamen en wig op p.6 en het vergelijken met de oude prijs op p.9 gebruiken. Zij noteren hun redenering en twijfel; dit is geen onaangekondigde beheersingstoets. Bij terugkeer naar dit overzicht vóór het basiswerk laat je 2 opnieuw proberen en bespreek je waarom de oude prijs nodig is. Basis 3–4 staat op p.10, zelfstandig 5–6 op p.11, doel 7 op p.12. Huiswerk: 3,4,5,6,7 maken en nakijken. Bonus 8 en herhaling 9 zijn extra. De docentenroute adviseert voorlopig twee lessen van 55 minuten, zonder gemeten tijdsfit. Rond zo nodig in een volgende les af. Hoofdstukpagina’s 5 en 8 corresponderen met gedrukte complete-boekpagina’s 9 en 12.</a:t>
            </a:r>
          </a:p>
          <a:p xmlns:a="http://schemas.openxmlformats.org/drawingml/2006/main">
            <a:r>
              <a:rPr sz="1400"/>
              <a:t/>
            </a:r>
          </a:p>
          <a:p xmlns:a="http://schemas.openxmlformats.org/drawingml/2006/main">
            <a:r>
              <a:rPr sz="1400"/>
              <a:t>Misvatting: Afdragen vertelt wie overmaakt; de last volgt pas uit vergelijking met de oude prijs.</a:t>
            </a:r>
          </a:p>
          <a:p xmlns:a="http://schemas.openxmlformats.org/drawingml/2006/main">
            <a:r>
              <a:rPr sz="1400"/>
              <a:t/>
            </a:r>
          </a:p>
          <a:p xmlns:a="http://schemas.openxmlformats.org/drawingml/2006/main">
            <a:r>
              <a:rPr sz="1400"/>
              <a:t>Overgang: Ga verder als de klas aan de volgende fase toe is.</a:t>
            </a:r>
          </a:p>
          <a:p xmlns:a="http://schemas.openxmlformats.org/drawingml/2006/main">
            <a:r>
              <a:rPr sz="1400"/>
              <a:t/>
            </a:r>
          </a:p>
          <a:p xmlns:a="http://schemas.openxmlformats.org/drawingml/2006/main">
            <a:r>
              <a:rPr sz="1400"/>
              <a:t>Bron: Boek 3, editie books34-v3, compleet leerlingenboek, gedrukte pagina 6–12. https://github.com/meijer1973/4veco-lessen/blob/9b8304d5031cafac936a56281e144573a25fbbc9/edities/books34-v3/books/book-3/output/Boek_3_Compleet_v3.pdf</a:t>
            </a:r>
          </a:p>
          <a:p xmlns:a="http://schemas.openxmlformats.org/drawingml/2006/main">
            <a:r>
              <a:rPr sz="1400"/>
              <a:t>Methode en opgaven: https://github.com/meijer1973/4veco-lessen/blob/9b8304d5031cafac936a56281e144573a25fbbc9/edities/books34-v3/books/book-3/chapters/3.1/3.1.1%20manuscript.md</a:t>
            </a:r>
          </a:p>
          <a:p xmlns:a="http://schemas.openxmlformats.org/drawingml/2006/main">
            <a:r>
              <a:rPr sz="1400"/>
              <a:t>Antwoordmodel: https://github.com/meijer1973/4veco-lessen/blob/9b8304d5031cafac936a56281e144573a25fbbc9/edities/books34-v3/books/book-3/chapters/3.1/Antwoorden.md#ans7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partij draagt de belasting af volgens de opgave?</a:t>
            </a:r>
          </a:p>
          <a:p xmlns:a="http://schemas.openxmlformats.org/drawingml/2006/main">
            <a:r>
              <a:rPr sz="1400"/>
              <a:t/>
            </a:r>
          </a:p>
          <a:p xmlns:a="http://schemas.openxmlformats.org/drawingml/2006/main">
            <a:r>
              <a:rPr sz="1400"/>
              <a:t>Uitleg: Dit zijn de werkelijke gegevens van opgave 7. Geef pas na de zelfstandige poging de bespreking. De volgende twee dia’s bevatten alle deelvragen en de basisgrafiek zonder nieuwe aanbodlijn of oplossingen. De belasting is per verkochte tas en wordt afgedragen door verkopers. De overige omstandigheden veranderen niet.</a:t>
            </a:r>
          </a:p>
          <a:p xmlns:a="http://schemas.openxmlformats.org/drawingml/2006/main">
            <a:r>
              <a:rPr sz="1400"/>
              <a:t/>
            </a:r>
          </a:p>
          <a:p xmlns:a="http://schemas.openxmlformats.org/drawingml/2006/main">
            <a:r>
              <a:rPr sz="1400"/>
              <a:t>Misvatting: De vermelding wie afdraagt beantwoordt deelvraag e nog niet.</a:t>
            </a:r>
          </a:p>
          <a:p xmlns:a="http://schemas.openxmlformats.org/drawingml/2006/main">
            <a:r>
              <a:rPr sz="1400"/>
              <a:t/>
            </a:r>
          </a:p>
          <a:p xmlns:a="http://schemas.openxmlformats.org/drawingml/2006/main">
            <a:r>
              <a:rPr sz="1400"/>
              <a:t>Overgang: Toon eerst alle rekenvragen en daarna de teken- en redeneervragen.</a:t>
            </a:r>
          </a:p>
          <a:p xmlns:a="http://schemas.openxmlformats.org/drawingml/2006/main">
            <a:r>
              <a:rPr sz="1400"/>
              <a:t/>
            </a:r>
          </a:p>
          <a:p xmlns:a="http://schemas.openxmlformats.org/drawingml/2006/main">
            <a:r>
              <a:rPr sz="1400"/>
              <a:t>Bron: Boek 3, editie books34-v3, compleet leerlingenboek, gedrukte pagina 12. https://github.com/meijer1973/4veco-lessen/blob/9b8304d5031cafac936a56281e144573a25fbbc9/edities/books34-v3/books/book-3/output/Boek_3_Compleet_v3.pdf</a:t>
            </a:r>
          </a:p>
          <a:p xmlns:a="http://schemas.openxmlformats.org/drawingml/2006/main">
            <a:r>
              <a:rPr sz="1400"/>
              <a:t>Methode en opgaven: https://github.com/meijer1973/4veco-lessen/blob/9b8304d5031cafac936a56281e144573a25fbbc9/edities/books34-v3/books/book-3/chapters/3.1/3.1.1%20manuscript.md</a:t>
            </a:r>
          </a:p>
          <a:p xmlns:a="http://schemas.openxmlformats.org/drawingml/2006/main">
            <a:r>
              <a:rPr sz="1400"/>
              <a:t>Antwoordmodel: https://github.com/meijer1973/4veco-lessen/blob/9b8304d5031cafac936a56281e144573a25fbbc9/edities/books34-v3/books/book-3/chapters/3.1/Antwoorden.md#ans7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handelingen vraagt b?</a:t>
            </a:r>
          </a:p>
          <a:p xmlns:a="http://schemas.openxmlformats.org/drawingml/2006/main">
            <a:r>
              <a:rPr sz="1400"/>
              <a:t/>
            </a:r>
          </a:p>
          <a:p xmlns:a="http://schemas.openxmlformats.org/drawingml/2006/main">
            <a:r>
              <a:rPr sz="1400"/>
              <a:t>Uitleg: Dit zijn de volledige deelvragen a, b en c. Laat leerlingen hun eigen werk erbij houden. Nog geen oplossingen: eerst moeten ook d en e zichtbaar zijn geweest. Let bij b op zowel de omzetting van de functie als de nieuwe hoeveelheid.</a:t>
            </a:r>
          </a:p>
          <a:p xmlns:a="http://schemas.openxmlformats.org/drawingml/2006/main">
            <a:r>
              <a:rPr sz="1400"/>
              <a:t/>
            </a:r>
          </a:p>
          <a:p xmlns:a="http://schemas.openxmlformats.org/drawingml/2006/main">
            <a:r>
              <a:rPr sz="1400"/>
              <a:t>Misvatting: Alleen een nieuwe hoeveelheid opschrijven slaat de gevraagde functie over.</a:t>
            </a:r>
          </a:p>
          <a:p xmlns:a="http://schemas.openxmlformats.org/drawingml/2006/main">
            <a:r>
              <a:rPr sz="1400"/>
              <a:t/>
            </a:r>
          </a:p>
          <a:p xmlns:a="http://schemas.openxmlformats.org/drawingml/2006/main">
            <a:r>
              <a:rPr sz="1400"/>
              <a:t>Overgang: Toon de basisgrafiek en de laatste twee vragen.</a:t>
            </a:r>
          </a:p>
          <a:p xmlns:a="http://schemas.openxmlformats.org/drawingml/2006/main">
            <a:r>
              <a:rPr sz="1400"/>
              <a:t/>
            </a:r>
          </a:p>
          <a:p xmlns:a="http://schemas.openxmlformats.org/drawingml/2006/main">
            <a:r>
              <a:rPr sz="1400"/>
              <a:t>Bron: Boek 3, editie books34-v3, compleet leerlingenboek, gedrukte pagina 12. https://github.com/meijer1973/4veco-lessen/blob/9b8304d5031cafac936a56281e144573a25fbbc9/edities/books34-v3/books/book-3/output/Boek_3_Compleet_v3.pdf</a:t>
            </a:r>
          </a:p>
          <a:p xmlns:a="http://schemas.openxmlformats.org/drawingml/2006/main">
            <a:r>
              <a:rPr sz="1400"/>
              <a:t>Methode en opgaven: https://github.com/meijer1973/4veco-lessen/blob/9b8304d5031cafac936a56281e144573a25fbbc9/edities/books34-v3/books/book-3/chapters/3.1/3.1.1%20manuscript.md</a:t>
            </a:r>
          </a:p>
          <a:p xmlns:a="http://schemas.openxmlformats.org/drawingml/2006/main">
            <a:r>
              <a:rPr sz="1400"/>
              <a:t>Antwoordmodel: https://github.com/meijer1973/4veco-lessen/blob/9b8304d5031cafac936a56281e144573a25fbbc9/edities/books34-v3/books/book-3/chapters/3.1/Antwoorden.md#ans7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markeringen horen bij een volledig antwoord op d?</a:t>
            </a:r>
          </a:p>
          <a:p xmlns:a="http://schemas.openxmlformats.org/drawingml/2006/main">
            <a:r>
              <a:rPr sz="1400"/>
              <a:t/>
            </a:r>
          </a:p>
          <a:p xmlns:a="http://schemas.openxmlformats.org/drawingml/2006/main">
            <a:r>
              <a:rPr sz="1400"/>
              <a:t>Uitleg: De native basisgrafiek bevat exact de oorspronkelijke V en A: V loopt van (0;20) tot (100;0), A van (0;2) tot (100;12). De basisgrafiek in het boek loopt boven de hoogste genummerde prijs 20 nog iets door. Geen belastinglijn of antwoord is toegevoegd. Vraag d bevat vier markeringen naast de nieuwe aanbodlijn. Bij e is een oordeel met oude en nieuwe prijzen nodig.</a:t>
            </a:r>
          </a:p>
          <a:p xmlns:a="http://schemas.openxmlformats.org/drawingml/2006/main">
            <a:r>
              <a:rPr sz="1400"/>
              <a:t/>
            </a:r>
          </a:p>
          <a:p xmlns:a="http://schemas.openxmlformats.org/drawingml/2006/main">
            <a:r>
              <a:rPr sz="1400"/>
              <a:t>Misvatting: Een nieuwe lijn zonder beide prijzen en wig is nog geen volledige uitwerking.</a:t>
            </a:r>
          </a:p>
          <a:p xmlns:a="http://schemas.openxmlformats.org/drawingml/2006/main">
            <a:r>
              <a:rPr sz="1400"/>
              <a:t/>
            </a:r>
          </a:p>
          <a:p xmlns:a="http://schemas.openxmlformats.org/drawingml/2006/main">
            <a:r>
              <a:rPr sz="1400"/>
              <a:t>Overgang: Alle vragen zijn nu beschikbaar; begin de uitwerking bij a.</a:t>
            </a:r>
          </a:p>
          <a:p xmlns:a="http://schemas.openxmlformats.org/drawingml/2006/main">
            <a:r>
              <a:rPr sz="1400"/>
              <a:t/>
            </a:r>
          </a:p>
          <a:p xmlns:a="http://schemas.openxmlformats.org/drawingml/2006/main">
            <a:r>
              <a:rPr sz="1400"/>
              <a:t>Bron: Boek 3, editie books34-v3, compleet leerlingenboek, gedrukte pagina 12. https://github.com/meijer1973/4veco-lessen/blob/9b8304d5031cafac936a56281e144573a25fbbc9/edities/books34-v3/books/book-3/output/Boek_3_Compleet_v3.pdf</a:t>
            </a:r>
          </a:p>
          <a:p xmlns:a="http://schemas.openxmlformats.org/drawingml/2006/main">
            <a:r>
              <a:rPr sz="1400"/>
              <a:t>Methode en opgaven: https://github.com/meijer1973/4veco-lessen/blob/9b8304d5031cafac936a56281e144573a25fbbc9/edities/books34-v3/books/book-3/chapters/3.1/3.1.1%20manuscript.md</a:t>
            </a:r>
          </a:p>
          <a:p xmlns:a="http://schemas.openxmlformats.org/drawingml/2006/main">
            <a:r>
              <a:rPr sz="1400"/>
              <a:t>Antwoordmodel: https://github.com/meijer1973/4veco-lessen/blob/9b8304d5031cafac936a56281e144573a25fbbc9/edities/books34-v3/books/book-3/chapters/3.1/Antwoorden.md#ans7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hebben we P₀ later opnieuw nodig?</a:t>
            </a:r>
          </a:p>
          <a:p xmlns:a="http://schemas.openxmlformats.org/drawingml/2006/main">
            <a:r>
              <a:rPr sz="1400"/>
              <a:t/>
            </a:r>
          </a:p>
          <a:p xmlns:a="http://schemas.openxmlformats.org/drawingml/2006/main">
            <a:r>
              <a:rPr sz="1400"/>
              <a:t>Uitleg: Werk de gelijkstelling uit. De vrije hoeveelheid is 60 tassen per dag. Vul deze in vraag en aanbod in, beide geven 8 euro per tas. Bewaar de oude prijs voor de lastverdeling bij e. Dit antwoord stemt overeen met het hoofdstukantwoordmodel bij opgave 7a.</a:t>
            </a:r>
          </a:p>
          <a:p xmlns:a="http://schemas.openxmlformats.org/drawingml/2006/main">
            <a:r>
              <a:rPr sz="1400"/>
              <a:t/>
            </a:r>
          </a:p>
          <a:p xmlns:a="http://schemas.openxmlformats.org/drawingml/2006/main">
            <a:r>
              <a:rPr sz="1400"/>
              <a:t>Misvatting: De belasting hoort nog niet in de vrije evenwichtsberekening.</a:t>
            </a:r>
          </a:p>
          <a:p xmlns:a="http://schemas.openxmlformats.org/drawingml/2006/main">
            <a:r>
              <a:rPr sz="1400"/>
              <a:t/>
            </a:r>
          </a:p>
          <a:p xmlns:a="http://schemas.openxmlformats.org/drawingml/2006/main">
            <a:r>
              <a:rPr sz="1400"/>
              <a:t>Overgang: Vertaal de aanbodfunctie naar de kopersprijs met belasting.</a:t>
            </a:r>
          </a:p>
          <a:p xmlns:a="http://schemas.openxmlformats.org/drawingml/2006/main">
            <a:r>
              <a:rPr sz="1400"/>
              <a:t/>
            </a:r>
          </a:p>
          <a:p xmlns:a="http://schemas.openxmlformats.org/drawingml/2006/main">
            <a:r>
              <a:rPr sz="1400"/>
              <a:t>Bron: Boek 3, editie books34-v3, compleet leerlingenboek, gedrukte pagina 12. https://github.com/meijer1973/4veco-lessen/blob/9b8304d5031cafac936a56281e144573a25fbbc9/edities/books34-v3/books/book-3/output/Boek_3_Compleet_v3.pdf</a:t>
            </a:r>
          </a:p>
          <a:p xmlns:a="http://schemas.openxmlformats.org/drawingml/2006/main">
            <a:r>
              <a:rPr sz="1400"/>
              <a:t>Methode en opgaven: https://github.com/meijer1973/4veco-lessen/blob/9b8304d5031cafac936a56281e144573a25fbbc9/edities/books34-v3/books/book-3/chapters/3.1/3.1.1%20manuscript.md</a:t>
            </a:r>
          </a:p>
          <a:p xmlns:a="http://schemas.openxmlformats.org/drawingml/2006/main">
            <a:r>
              <a:rPr sz="1400"/>
              <a:t>Antwoordmodel: https://github.com/meijer1973/4veco-lessen/blob/9b8304d5031cafac936a56281e144573a25fbbc9/edities/books34-v3/books/book-3/chapters/3.1/Antwoorden.md#ans7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betekent de 5 in deze functie?</a:t>
            </a:r>
          </a:p>
          <a:p xmlns:a="http://schemas.openxmlformats.org/drawingml/2006/main">
            <a:r>
              <a:rPr sz="1400"/>
              <a:t/>
            </a:r>
          </a:p>
          <a:p xmlns:a="http://schemas.openxmlformats.org/drawingml/2006/main">
            <a:r>
              <a:rPr sz="1400"/>
              <a:t>Uitleg: Eerst de relatie Pc = Pp + 3, dan de oorspronkelijke aanbodfunctie invullen en constante termen optellen. Deze expliciete afleiding beantwoordt de eerste handeling in b. De kosten of voorkeuren zijn niet veranderd. A + t geeft het aanbod in de prijs die kopers moeten betalen.</a:t>
            </a:r>
          </a:p>
          <a:p xmlns:a="http://schemas.openxmlformats.org/drawingml/2006/main">
            <a:r>
              <a:rPr sz="1400"/>
              <a:t/>
            </a:r>
          </a:p>
          <a:p xmlns:a="http://schemas.openxmlformats.org/drawingml/2006/main">
            <a:r>
              <a:rPr sz="1400"/>
              <a:t>Misvatting: De functie voor Pp zelf blijft 2 + 0,10Q.</a:t>
            </a:r>
          </a:p>
          <a:p xmlns:a="http://schemas.openxmlformats.org/drawingml/2006/main">
            <a:r>
              <a:rPr sz="1400"/>
              <a:t/>
            </a:r>
          </a:p>
          <a:p xmlns:a="http://schemas.openxmlformats.org/drawingml/2006/main">
            <a:r>
              <a:rPr sz="1400"/>
              <a:t>Overgang: Gebruik vraag en aanbod in dezelfde prijs om Qt te berekenen.</a:t>
            </a:r>
          </a:p>
          <a:p xmlns:a="http://schemas.openxmlformats.org/drawingml/2006/main">
            <a:r>
              <a:rPr sz="1400"/>
              <a:t/>
            </a:r>
          </a:p>
          <a:p xmlns:a="http://schemas.openxmlformats.org/drawingml/2006/main">
            <a:r>
              <a:rPr sz="1400"/>
              <a:t>Bron: Boek 3, editie books34-v3, compleet leerlingenboek, gedrukte pagina 12. https://github.com/meijer1973/4veco-lessen/blob/9b8304d5031cafac936a56281e144573a25fbbc9/edities/books34-v3/books/book-3/output/Boek_3_Compleet_v3.pdf</a:t>
            </a:r>
          </a:p>
          <a:p xmlns:a="http://schemas.openxmlformats.org/drawingml/2006/main">
            <a:r>
              <a:rPr sz="1400"/>
              <a:t>Methode en opgaven: https://github.com/meijer1973/4veco-lessen/blob/9b8304d5031cafac936a56281e144573a25fbbc9/edities/books34-v3/books/book-3/chapters/3.1/3.1.1%20manuscript.md</a:t>
            </a:r>
          </a:p>
          <a:p xmlns:a="http://schemas.openxmlformats.org/drawingml/2006/main">
            <a:r>
              <a:rPr sz="1400"/>
              <a:t>Antwoordmodel: https://github.com/meijer1973/4veco-lessen/blob/9b8304d5031cafac936a56281e144573a25fbbc9/edities/books34-v3/books/book-3/chapters/3.1/Antwoorden.md#ans7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prijsfuncties staan aan beide kanten?</a:t>
            </a:r>
          </a:p>
          <a:p xmlns:a="http://schemas.openxmlformats.org/drawingml/2006/main">
            <a:r>
              <a:rPr sz="1400"/>
              <a:t/>
            </a:r>
          </a:p>
          <a:p xmlns:a="http://schemas.openxmlformats.org/drawingml/2006/main">
            <a:r>
              <a:rPr sz="1400"/>
              <a:t>Uitleg: Los de vergelijking op: breng 5 naar links en de negatieve Q-term naar rechts. Deel 15 door 0,30. Het resultaat is 50 tassen per dag. Vergelijk met de vrije 60 en constateer de afname. De hogere betaalde prijs verlaagt de vraag, terwijl de lagere ontvangst het aanbod beperkt.</a:t>
            </a:r>
          </a:p>
          <a:p xmlns:a="http://schemas.openxmlformats.org/drawingml/2006/main">
            <a:r>
              <a:rPr sz="1400"/>
              <a:t/>
            </a:r>
          </a:p>
          <a:p xmlns:a="http://schemas.openxmlformats.org/drawingml/2006/main">
            <a:r>
              <a:rPr sz="1400"/>
              <a:t>Misvatting: Q is geen geldbedrag. Vermeld tassen per dag.</a:t>
            </a:r>
          </a:p>
          <a:p xmlns:a="http://schemas.openxmlformats.org/drawingml/2006/main">
            <a:r>
              <a:rPr sz="1400"/>
              <a:t/>
            </a:r>
          </a:p>
          <a:p xmlns:a="http://schemas.openxmlformats.org/drawingml/2006/main">
            <a:r>
              <a:rPr sz="1400"/>
              <a:t>Overgang: Vul 50 in de twee oorspronkelijke functies in.</a:t>
            </a:r>
          </a:p>
          <a:p xmlns:a="http://schemas.openxmlformats.org/drawingml/2006/main">
            <a:r>
              <a:rPr sz="1400"/>
              <a:t/>
            </a:r>
          </a:p>
          <a:p xmlns:a="http://schemas.openxmlformats.org/drawingml/2006/main">
            <a:r>
              <a:rPr sz="1400"/>
              <a:t>Bron: Boek 3, editie books34-v3, compleet leerlingenboek, gedrukte pagina 12. https://github.com/meijer1973/4veco-lessen/blob/9b8304d5031cafac936a56281e144573a25fbbc9/edities/books34-v3/books/book-3/output/Boek_3_Compleet_v3.pdf</a:t>
            </a:r>
          </a:p>
          <a:p xmlns:a="http://schemas.openxmlformats.org/drawingml/2006/main">
            <a:r>
              <a:rPr sz="1400"/>
              <a:t>Methode en opgaven: https://github.com/meijer1973/4veco-lessen/blob/9b8304d5031cafac936a56281e144573a25fbbc9/edities/books34-v3/books/book-3/chapters/3.1/3.1.1%20manuscript.md</a:t>
            </a:r>
          </a:p>
          <a:p xmlns:a="http://schemas.openxmlformats.org/drawingml/2006/main">
            <a:r>
              <a:rPr sz="1400"/>
              <a:t>Antwoordmodel: https://github.com/meijer1973/4veco-lessen/blob/9b8304d5031cafac936a56281e144573a25fbbc9/edities/books34-v3/books/book-3/chapters/3.1/Antwoorden.md#ans7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gebruiken we voor Pp de oorspronkelijke A?</a:t>
            </a:r>
          </a:p>
          <a:p xmlns:a="http://schemas.openxmlformats.org/drawingml/2006/main">
            <a:r>
              <a:rPr sz="1400"/>
              <a:t/>
            </a:r>
          </a:p>
          <a:p xmlns:a="http://schemas.openxmlformats.org/drawingml/2006/main">
            <a:r>
              <a:rPr sz="1400"/>
              <a:t>Uitleg: Vraag geeft Pc = 10. De oorspronkelijke A geeft Pp = 7. Controleer de ontvangst ook via 10 − 3 = 7. Het verschil van de twee bedragen komt overeen met de opgegeven belasting. Pp is na afdracht, maar voor alle productiekosten.</a:t>
            </a:r>
          </a:p>
          <a:p xmlns:a="http://schemas.openxmlformats.org/drawingml/2006/main">
            <a:r>
              <a:rPr sz="1400"/>
              <a:t/>
            </a:r>
          </a:p>
          <a:p xmlns:a="http://schemas.openxmlformats.org/drawingml/2006/main">
            <a:r>
              <a:rPr sz="1400"/>
              <a:t>Misvatting: Invullen in A + t levert Pc, niet Pp.</a:t>
            </a:r>
          </a:p>
          <a:p xmlns:a="http://schemas.openxmlformats.org/drawingml/2006/main">
            <a:r>
              <a:rPr sz="1400"/>
              <a:t/>
            </a:r>
          </a:p>
          <a:p xmlns:a="http://schemas.openxmlformats.org/drawingml/2006/main">
            <a:r>
              <a:rPr sz="1400"/>
              <a:t>Overgang: Teken eerst de nieuwe rechte aanbodlijn.</a:t>
            </a:r>
          </a:p>
          <a:p xmlns:a="http://schemas.openxmlformats.org/drawingml/2006/main">
            <a:r>
              <a:rPr sz="1400"/>
              <a:t/>
            </a:r>
          </a:p>
          <a:p xmlns:a="http://schemas.openxmlformats.org/drawingml/2006/main">
            <a:r>
              <a:rPr sz="1400"/>
              <a:t>Bron: Boek 3, editie books34-v3, compleet leerlingenboek, gedrukte pagina 12. https://github.com/meijer1973/4veco-lessen/blob/9b8304d5031cafac936a56281e144573a25fbbc9/edities/books34-v3/books/book-3/output/Boek_3_Compleet_v3.pdf</a:t>
            </a:r>
          </a:p>
          <a:p xmlns:a="http://schemas.openxmlformats.org/drawingml/2006/main">
            <a:r>
              <a:rPr sz="1400"/>
              <a:t>Methode en opgaven: https://github.com/meijer1973/4veco-lessen/blob/9b8304d5031cafac936a56281e144573a25fbbc9/edities/books34-v3/books/book-3/chapters/3.1/3.1.1%20manuscript.md</a:t>
            </a:r>
          </a:p>
          <a:p xmlns:a="http://schemas.openxmlformats.org/drawingml/2006/main">
            <a:r>
              <a:rPr sz="1400"/>
              <a:t>Antwoordmodel: https://github.com/meijer1973/4veco-lessen/blob/9b8304d5031cafac936a56281e144573a25fbbc9/edities/books34-v3/books/book-3/chapters/3.1/Antwoorden.md#ans7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 controleer je dat je nieuwe lijn parallel aan A loopt?</a:t>
            </a:r>
          </a:p>
          <a:p xmlns:a="http://schemas.openxmlformats.org/drawingml/2006/main">
            <a:r>
              <a:rPr sz="1400"/>
              <a:t/>
            </a:r>
          </a:p>
          <a:p xmlns:a="http://schemas.openxmlformats.org/drawingml/2006/main">
            <a:r>
              <a:rPr sz="1400"/>
              <a:t>Uitleg: Teken een rechte lijn door twee berekende punten, (0;5) en (100;15). De lijn loopt parallel aan A. De horizontale pijl vergelijkt het aanbod bij dezelfde kopersprijs van 11 euro: (11 − 2)/0,10 = 90 en (11 − 5)/0,10 = 60. Deze hulphoeveelheden zijn niet het nieuwe evenwicht. Laat de pijl alleen het onderscheid tussen verschuiving en wig ondersteunen.</a:t>
            </a:r>
          </a:p>
          <a:p xmlns:a="http://schemas.openxmlformats.org/drawingml/2006/main">
            <a:r>
              <a:rPr sz="1400"/>
              <a:t/>
            </a:r>
          </a:p>
          <a:p xmlns:a="http://schemas.openxmlformats.org/drawingml/2006/main">
            <a:r>
              <a:rPr sz="1400"/>
              <a:t>Misvatting: De verticale prijsas-snijding 5 is niet de nieuwe marktprijs.</a:t>
            </a:r>
          </a:p>
          <a:p xmlns:a="http://schemas.openxmlformats.org/drawingml/2006/main">
            <a:r>
              <a:rPr sz="1400"/>
              <a:t/>
            </a:r>
          </a:p>
          <a:p xmlns:a="http://schemas.openxmlformats.org/drawingml/2006/main">
            <a:r>
              <a:rPr sz="1400"/>
              <a:t>Overgang: Markeer het nieuwe snijpunt en ga bij dezelfde Q naar de oorspronkelijke A.</a:t>
            </a:r>
          </a:p>
          <a:p xmlns:a="http://schemas.openxmlformats.org/drawingml/2006/main">
            <a:r>
              <a:rPr sz="1400"/>
              <a:t/>
            </a:r>
          </a:p>
          <a:p xmlns:a="http://schemas.openxmlformats.org/drawingml/2006/main">
            <a:r>
              <a:rPr sz="1400"/>
              <a:t>Bron: Boek 3, editie books34-v3, compleet leerlingenboek, gedrukte pagina 12. https://github.com/meijer1973/4veco-lessen/blob/9b8304d5031cafac936a56281e144573a25fbbc9/edities/books34-v3/books/book-3/output/Boek_3_Compleet_v3.pdf</a:t>
            </a:r>
          </a:p>
          <a:p xmlns:a="http://schemas.openxmlformats.org/drawingml/2006/main">
            <a:r>
              <a:rPr sz="1400"/>
              <a:t>Methode en opgaven: https://github.com/meijer1973/4veco-lessen/blob/9b8304d5031cafac936a56281e144573a25fbbc9/edities/books34-v3/books/book-3/chapters/3.1/3.1.1%20manuscript.md</a:t>
            </a:r>
          </a:p>
          <a:p xmlns:a="http://schemas.openxmlformats.org/drawingml/2006/main">
            <a:r>
              <a:rPr sz="1400"/>
              <a:t>Antwoordmodel: https://github.com/meijer1973/4veco-lessen/blob/9b8304d5031cafac936a56281e144573a25fbbc9/edities/books34-v3/books/book-3/chapters/3.1/Antwoorden.md#ans7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lijn verbindt beide prijzen bij precies 50 tassen?</a:t>
            </a:r>
          </a:p>
          <a:p xmlns:a="http://schemas.openxmlformats.org/drawingml/2006/main">
            <a:r>
              <a:rPr sz="1400"/>
              <a:t/>
            </a:r>
          </a:p>
          <a:p xmlns:a="http://schemas.openxmlformats.org/drawingml/2006/main">
            <a:r>
              <a:rPr sz="1400"/>
              <a:t>Uitleg: De volledige antwoordgrafiek bevat A + t, Qt = 50 en twee punten op dezelfde verticale lijn. De kopersprijs 10 ligt op V en A + t, de verkopersontvangst 7 op A. Verbind de punten met de belastingwig en geef de hulplijnen en grootheden een naam. Hiermee zijn alle gevraagde tekenhandelingen uit d uitgevoerd.</a:t>
            </a:r>
          </a:p>
          <a:p xmlns:a="http://schemas.openxmlformats.org/drawingml/2006/main">
            <a:r>
              <a:rPr sz="1400"/>
              <a:t/>
            </a:r>
          </a:p>
          <a:p xmlns:a="http://schemas.openxmlformats.org/drawingml/2006/main">
            <a:r>
              <a:rPr sz="1400"/>
              <a:t>Misvatting: Pp op A + t aflezen zou de afdracht vergeten.</a:t>
            </a:r>
          </a:p>
          <a:p xmlns:a="http://schemas.openxmlformats.org/drawingml/2006/main">
            <a:r>
              <a:rPr sz="1400"/>
              <a:t/>
            </a:r>
          </a:p>
          <a:p xmlns:a="http://schemas.openxmlformats.org/drawingml/2006/main">
            <a:r>
              <a:rPr sz="1400"/>
              <a:t>Overgang: Gebruik de oude prijs van 8 euro om de uitspraak van de verkoper te beoordelen.</a:t>
            </a:r>
          </a:p>
          <a:p xmlns:a="http://schemas.openxmlformats.org/drawingml/2006/main">
            <a:r>
              <a:rPr sz="1400"/>
              <a:t/>
            </a:r>
          </a:p>
          <a:p xmlns:a="http://schemas.openxmlformats.org/drawingml/2006/main">
            <a:r>
              <a:rPr sz="1400"/>
              <a:t>Bron: Boek 3, editie books34-v3, compleet leerlingenboek, gedrukte pagina 12. https://github.com/meijer1973/4veco-lessen/blob/9b8304d5031cafac936a56281e144573a25fbbc9/edities/books34-v3/books/book-3/output/Boek_3_Compleet_v3.pdf</a:t>
            </a:r>
          </a:p>
          <a:p xmlns:a="http://schemas.openxmlformats.org/drawingml/2006/main">
            <a:r>
              <a:rPr sz="1400"/>
              <a:t>Methode en opgaven: https://github.com/meijer1973/4veco-lessen/blob/9b8304d5031cafac936a56281e144573a25fbbc9/edities/books34-v3/books/book-3/chapters/3.1/3.1.1%20manuscript.md</a:t>
            </a:r>
          </a:p>
          <a:p xmlns:a="http://schemas.openxmlformats.org/drawingml/2006/main">
            <a:r>
              <a:rPr sz="1400"/>
              <a:t>Antwoordmodel: https://github.com/meijer1973/4veco-lessen/blob/9b8304d5031cafac936a56281e144573a25fbbc9/edities/books34-v3/books/book-3/chapters/3.1/Antwoorden.md#ans7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is het verschil tussen de 3 euro die wordt overgemaakt en de 1 euro last?</a:t>
            </a:r>
          </a:p>
          <a:p xmlns:a="http://schemas.openxmlformats.org/drawingml/2006/main">
            <a:r>
              <a:rPr sz="1400"/>
              <a:t/>
            </a:r>
          </a:p>
          <a:p xmlns:a="http://schemas.openxmlformats.org/drawingml/2006/main">
            <a:r>
              <a:rPr sz="1400"/>
              <a:t>Uitleg: Beoordeel de claim expliciet als onjuist. De koper betaalt 2 euro meer dan de oude prijs; de verkoper ontvangt 1 euro minder. Samen is de last per verhandelde tas 3 euro. De verkoper maakt het hele bedrag over aan de overheid, maar ontvangt via de hogere kopersprijs 2 euro meer om dit te helpen betalen. De uitwerking bevat oordeel, berekening en economische uitleg.</a:t>
            </a:r>
          </a:p>
          <a:p xmlns:a="http://schemas.openxmlformats.org/drawingml/2006/main">
            <a:r>
              <a:rPr sz="1400"/>
              <a:t/>
            </a:r>
          </a:p>
          <a:p xmlns:a="http://schemas.openxmlformats.org/drawingml/2006/main">
            <a:r>
              <a:rPr sz="1400"/>
              <a:t>Misvatting: Vergelijk met P₀, niet alleen Pc met Pp. Uit afdracht alleen volgt geen lastverdeling.</a:t>
            </a:r>
          </a:p>
          <a:p xmlns:a="http://schemas.openxmlformats.org/drawingml/2006/main">
            <a:r>
              <a:rPr sz="1400"/>
              <a:t/>
            </a:r>
          </a:p>
          <a:p xmlns:a="http://schemas.openxmlformats.org/drawingml/2006/main">
            <a:r>
              <a:rPr sz="1400"/>
              <a:t>Overgang: Keer terug naar de route en noteer het volledige huiswerk.</a:t>
            </a:r>
          </a:p>
          <a:p xmlns:a="http://schemas.openxmlformats.org/drawingml/2006/main">
            <a:r>
              <a:rPr sz="1400"/>
              <a:t/>
            </a:r>
          </a:p>
          <a:p xmlns:a="http://schemas.openxmlformats.org/drawingml/2006/main">
            <a:r>
              <a:rPr sz="1400"/>
              <a:t>Bron: Boek 3, editie books34-v3, compleet leerlingenboek, gedrukte pagina 12. https://github.com/meijer1973/4veco-lessen/blob/9b8304d5031cafac936a56281e144573a25fbbc9/edities/books34-v3/books/book-3/output/Boek_3_Compleet_v3.pdf</a:t>
            </a:r>
          </a:p>
          <a:p xmlns:a="http://schemas.openxmlformats.org/drawingml/2006/main">
            <a:r>
              <a:rPr sz="1400"/>
              <a:t>Methode en opgaven: https://github.com/meijer1973/4veco-lessen/blob/9b8304d5031cafac936a56281e144573a25fbbc9/edities/books34-v3/books/book-3/chapters/3.1/3.1.1%20manuscript.md</a:t>
            </a:r>
          </a:p>
          <a:p xmlns:a="http://schemas.openxmlformats.org/drawingml/2006/main">
            <a:r>
              <a:rPr sz="1400"/>
              <a:t>Antwoordmodel: https://github.com/meijer1973/4veco-lessen/blob/9b8304d5031cafac936a56281e144573a25fbbc9/edities/books34-v3/books/book-3/chapters/3.1/Antwoorden.md#ans7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uitleg helpt je bij de nieuwe begrippen in opgave 2?</a:t>
            </a:r>
          </a:p>
          <a:p xmlns:a="http://schemas.openxmlformats.org/drawingml/2006/main">
            <a:r>
              <a:rPr sz="1400"/>
              <a:t/>
            </a:r>
          </a:p>
          <a:p xmlns:a="http://schemas.openxmlformats.org/drawingml/2006/main">
            <a:r>
              <a:rPr sz="1400"/>
              <a:t>Uitleg: Laat de dia staan tijdens afsluiting / huiswerk. Opgave 1 haalt gelijkstellen en invullen op, eerder uitgelegd in Boek 2 §2.3.2, p.81–83. Geef bij haperende algebra korte steun: groepeer de Q-termen, deel door de coëfficiënt, vul terug in. Start 2 is een eerste verkenning van de nieuwe wig en economische last. Laat leerlingen de prijsnamen en wig op p.6 en het vergelijken met de oude prijs op p.9 gebruiken. Zij noteren hun redenering en twijfel; dit is geen onaangekondigde beheersingstoets. Bij terugkeer naar dit overzicht vóór het basiswerk laat je 2 opnieuw proberen en bespreek je waarom de oude prijs nodig is. Basis 3–4 staat op p.10, zelfstandig 5–6 op p.11, doel 7 op p.12. Huiswerk: 3,4,5,6,7 maken en nakijken. Bonus 8 en herhaling 9 zijn extra. De docentenroute adviseert voorlopig twee lessen van 55 minuten, zonder gemeten tijdsfit. Rond zo nodig in een volgende les af. Hoofdstukpagina’s 5 en 8 corresponderen met gedrukte complete-boekpagina’s 9 en 12.</a:t>
            </a:r>
          </a:p>
          <a:p xmlns:a="http://schemas.openxmlformats.org/drawingml/2006/main">
            <a:r>
              <a:rPr sz="1400"/>
              <a:t/>
            </a:r>
          </a:p>
          <a:p xmlns:a="http://schemas.openxmlformats.org/drawingml/2006/main">
            <a:r>
              <a:rPr sz="1400"/>
              <a:t>Misvatting: Afdragen vertelt wie overmaakt; de last volgt pas uit vergelijking met de oude prijs.</a:t>
            </a:r>
          </a:p>
          <a:p xmlns:a="http://schemas.openxmlformats.org/drawingml/2006/main">
            <a:r>
              <a:rPr sz="1400"/>
              <a:t/>
            </a:r>
          </a:p>
          <a:p xmlns:a="http://schemas.openxmlformats.org/drawingml/2006/main">
            <a:r>
              <a:rPr sz="1400"/>
              <a:t>Overgang: Laat het huiswerk in de agenda noteren.</a:t>
            </a:r>
          </a:p>
          <a:p xmlns:a="http://schemas.openxmlformats.org/drawingml/2006/main">
            <a:r>
              <a:rPr sz="1400"/>
              <a:t/>
            </a:r>
          </a:p>
          <a:p xmlns:a="http://schemas.openxmlformats.org/drawingml/2006/main">
            <a:r>
              <a:rPr sz="1400"/>
              <a:t>Bron: Boek 3, editie books34-v3, compleet leerlingenboek, gedrukte pagina 6–12. https://github.com/meijer1973/4veco-lessen/blob/9b8304d5031cafac936a56281e144573a25fbbc9/edities/books34-v3/books/book-3/output/Boek_3_Compleet_v3.pdf</a:t>
            </a:r>
          </a:p>
          <a:p xmlns:a="http://schemas.openxmlformats.org/drawingml/2006/main">
            <a:r>
              <a:rPr sz="1400"/>
              <a:t>Methode en opgaven: https://github.com/meijer1973/4veco-lessen/blob/9b8304d5031cafac936a56281e144573a25fbbc9/edities/books34-v3/books/book-3/chapters/3.1/3.1.1%20manuscript.md</a:t>
            </a:r>
          </a:p>
          <a:p xmlns:a="http://schemas.openxmlformats.org/drawingml/2006/main">
            <a:r>
              <a:rPr sz="1400"/>
              <a:t>Antwoordmodel: https://github.com/meijer1973/4veco-lessen/blob/9b8304d5031cafac936a56281e144573a25fbbc9/edities/books34-v3/books/book-3/chapters/3.1/Antwoorden.md#ans7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a8bdd74e1af4a3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52b343e4d2d4dd8" /><Relationship Type="http://schemas.openxmlformats.org/officeDocument/2006/relationships/slideLayout" Target="/ppt/slideLayouts/slideLayout1.xml" Id="Rf58540be45cd478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58540be45cd47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bb0794eb99346d2" /><Relationship Type="http://schemas.openxmlformats.org/officeDocument/2006/relationships/notesSlide" Target="/ppt/notesSlides/notesSlide1.xml" Id="R784b1e46e4f141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9cd1bf2507b498c" /><Relationship Type="http://schemas.openxmlformats.org/officeDocument/2006/relationships/notesSlide" Target="/ppt/notesSlides/notesSlide2.xml" Id="R53334d8d4ef74e6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68ae8c14f4f49aa" /><Relationship Type="http://schemas.openxmlformats.org/officeDocument/2006/relationships/notesSlide" Target="/ppt/notesSlides/notesSlide3.xml" Id="R7fa1982ce7ef493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b32d72d8bf149a9" /><Relationship Type="http://schemas.openxmlformats.org/officeDocument/2006/relationships/notesSlide" Target="/ppt/notesSlides/notesSlide4.xml" Id="R00319f22359c4ef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fefeff967b64269" /><Relationship Type="http://schemas.openxmlformats.org/officeDocument/2006/relationships/notesSlide" Target="/ppt/notesSlides/notesSlide5.xml" Id="R1e275239207f4d8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720f7206a7d45b0" /><Relationship Type="http://schemas.openxmlformats.org/officeDocument/2006/relationships/chart" Target="/ppt/slides/charts/chart1.xml" Id="Ra5ae8d2a941c4090" /><Relationship Type="http://schemas.openxmlformats.org/officeDocument/2006/relationships/notesSlide" Target="/ppt/notesSlides/notesSlide6.xml" Id="R8520698f5bd0420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bfb07d579f543da" /><Relationship Type="http://schemas.openxmlformats.org/officeDocument/2006/relationships/notesSlide" Target="/ppt/notesSlides/notesSlide7.xml" Id="R7695460041b2403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a7a0457155942bd" /><Relationship Type="http://schemas.openxmlformats.org/officeDocument/2006/relationships/notesSlide" Target="/ppt/notesSlides/notesSlide8.xml" Id="Rdfb2fe90117c42e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7104d13bf09441c" /><Relationship Type="http://schemas.openxmlformats.org/officeDocument/2006/relationships/chart" Target="/ppt/slides/charts/chart2.xml" Id="R936d10108cf94465" /><Relationship Type="http://schemas.openxmlformats.org/officeDocument/2006/relationships/notesSlide" Target="/ppt/notesSlides/notesSlide9.xml" Id="Rf67be68d98fb40b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063f51db16744c1" /><Relationship Type="http://schemas.openxmlformats.org/officeDocument/2006/relationships/notesSlide" Target="/ppt/notesSlides/notesSlide10.xml" Id="R19bf77cdb8894b1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bea14fc4d514d5e" /><Relationship Type="http://schemas.openxmlformats.org/officeDocument/2006/relationships/notesSlide" Target="/ppt/notesSlides/notesSlide11.xml" Id="R86c93fd58084456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f7d8b7cc7704f00" /><Relationship Type="http://schemas.openxmlformats.org/officeDocument/2006/relationships/chart" Target="/ppt/slides/charts/chart3.xml" Id="Raa3fbf91331548e3" /><Relationship Type="http://schemas.openxmlformats.org/officeDocument/2006/relationships/notesSlide" Target="/ppt/notesSlides/notesSlide12.xml" Id="R7a4d0566e87a473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9c6a4afb9054542" /><Relationship Type="http://schemas.openxmlformats.org/officeDocument/2006/relationships/notesSlide" Target="/ppt/notesSlides/notesSlide13.xml" Id="R59af7ebfc6404a0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d15c148478842fe" /><Relationship Type="http://schemas.openxmlformats.org/officeDocument/2006/relationships/notesSlide" Target="/ppt/notesSlides/notesSlide14.xml" Id="R071b19533259459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253eee5513a4333" /><Relationship Type="http://schemas.openxmlformats.org/officeDocument/2006/relationships/notesSlide" Target="/ppt/notesSlides/notesSlide15.xml" Id="R90f85dc57f44425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ad065ce3eb8438e" /><Relationship Type="http://schemas.openxmlformats.org/officeDocument/2006/relationships/notesSlide" Target="/ppt/notesSlides/notesSlide16.xml" Id="Rd1b326b3e81c489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5e659d589d94037" /><Relationship Type="http://schemas.openxmlformats.org/officeDocument/2006/relationships/notesSlide" Target="/ppt/notesSlides/notesSlide17.xml" Id="Rf7425ee634dd468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617140dc4224941" /><Relationship Type="http://schemas.openxmlformats.org/officeDocument/2006/relationships/notesSlide" Target="/ppt/notesSlides/notesSlide18.xml" Id="R8e3fafd35f4349d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e10b0d04bf6411a" /><Relationship Type="http://schemas.openxmlformats.org/officeDocument/2006/relationships/chart" Target="/ppt/slides/charts/chart4.xml" Id="R0872e6dd92744ffb" /><Relationship Type="http://schemas.openxmlformats.org/officeDocument/2006/relationships/notesSlide" Target="/ppt/notesSlides/notesSlide19.xml" Id="R6fbef676bec44ee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66848b567894fe4" /><Relationship Type="http://schemas.openxmlformats.org/officeDocument/2006/relationships/notesSlide" Target="/ppt/notesSlides/notesSlide20.xml" Id="R2f45cf603235429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3188632777c4cce" /><Relationship Type="http://schemas.openxmlformats.org/officeDocument/2006/relationships/notesSlide" Target="/ppt/notesSlides/notesSlide21.xml" Id="Rf454cd7f2c82411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e724c0e08b34143" /><Relationship Type="http://schemas.openxmlformats.org/officeDocument/2006/relationships/notesSlide" Target="/ppt/notesSlides/notesSlide22.xml" Id="Rcb2c177f3f6e44e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0796d79a52e4421" /><Relationship Type="http://schemas.openxmlformats.org/officeDocument/2006/relationships/notesSlide" Target="/ppt/notesSlides/notesSlide23.xml" Id="R790651da0a2545f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103b519235f40e7" /><Relationship Type="http://schemas.openxmlformats.org/officeDocument/2006/relationships/chart" Target="/ppt/slides/charts/chart5.xml" Id="R8e7d16fb71414ac5" /><Relationship Type="http://schemas.openxmlformats.org/officeDocument/2006/relationships/notesSlide" Target="/ppt/notesSlides/notesSlide24.xml" Id="Rf3fb502750f64e0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6d5261ef28d4822" /><Relationship Type="http://schemas.openxmlformats.org/officeDocument/2006/relationships/chart" Target="/ppt/slides/charts/chart6.xml" Id="Ra7f33b4cdc854d97" /><Relationship Type="http://schemas.openxmlformats.org/officeDocument/2006/relationships/notesSlide" Target="/ppt/notesSlides/notesSlide25.xml" Id="R4ef4da7007f0421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a35443176784cf1" /><Relationship Type="http://schemas.openxmlformats.org/officeDocument/2006/relationships/notesSlide" Target="/ppt/notesSlides/notesSlide26.xml" Id="R842a2b08e717410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95f49a6a0e864674" /><Relationship Type="http://schemas.openxmlformats.org/officeDocument/2006/relationships/notesSlide" Target="/ppt/notesSlides/notesSlide27.xml" Id="Rfd8567d48f85486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28575">
              <a:solidFill>
                <a:srgbClr val="1A5276"/>
              </a:solidFill>
              <a:prstDash val="solid"/>
            </a:ln>
          </c:spPr>
          <c:marker>
            <c:symbol val="none"/>
          </c:marker>
          <c:xVal>
            <c:numRef>
              <c:f>'Chart Data'!$A$2:$A$3</c:f>
              <c:numCache>
                <c:formatCode>General</c:formatCode>
                <c:ptCount val="2"/>
                <c:pt idx="0">
                  <c:v>0</c:v>
                </c:pt>
                <c:pt idx="1">
                  <c:v>150</c:v>
                </c:pt>
              </c:numCache>
            </c:numRef>
          </c:xVal>
          <c:yVal>
            <c:numRef>
              <c:f>'Chart Data'!$B$2:$B$3</c:f>
              <c:numCache>
                <c:formatCode>0</c:formatCode>
                <c:ptCount val="2"/>
                <c:pt idx="0">
                  <c:v>30</c:v>
                </c:pt>
                <c:pt idx="1">
                  <c:v>0</c:v>
                </c:pt>
              </c:numCache>
            </c:numRef>
          </c:yVal>
          <c:smooth val="0"/>
        </c:ser>
        <c:ser>
          <c:idx val="1"/>
          <c:order val="1"/>
          <c:tx>
            <c:v>A</c:v>
          </c:tx>
          <c:spPr>
            <a:ln xmlns:a="http://schemas.openxmlformats.org/drawingml/2006/main" w="28575">
              <a:solidFill>
                <a:srgbClr val="1E7449"/>
              </a:solidFill>
              <a:prstDash val="solid"/>
            </a:ln>
          </c:spPr>
          <c:marker>
            <c:symbol val="none"/>
          </c:marker>
          <c:xVal>
            <c:numRef>
              <c:f>'Chart Data'!$C$2:$C$3</c:f>
              <c:numCache>
                <c:formatCode>General</c:formatCode>
                <c:ptCount val="2"/>
                <c:pt idx="0">
                  <c:v>0</c:v>
                </c:pt>
                <c:pt idx="1">
                  <c:v>160</c:v>
                </c:pt>
              </c:numCache>
            </c:numRef>
          </c:xVal>
          <c:yVal>
            <c:numRef>
              <c:f>'Chart Data'!$D$2:$D$3</c:f>
              <c:numCache>
                <c:formatCode>0</c:formatCode>
                <c:ptCount val="2"/>
                <c:pt idx="0">
                  <c:v>6</c:v>
                </c:pt>
                <c:pt idx="1">
                  <c:v>22</c:v>
                </c:pt>
              </c:numCache>
            </c:numRef>
          </c:yVal>
          <c:smooth val="0"/>
        </c:ser>
        <c:ser>
          <c:idx val="2"/>
          <c:order val="2"/>
          <c:tx>
            <c:v>V</c:v>
          </c:tx>
          <c:spPr>
            <a:ln xmlns:a="http://schemas.openxmlformats.org/drawingml/2006/main" w="0">
              <a:noFill/>
            </a:ln>
          </c:spPr>
          <c:marker>
            <c:symbol val="none"/>
            <c:size val="8"/>
            <c:spPr>
              <a:solidFill xmlns:a="http://schemas.openxmlformats.org/drawingml/2006/main">
                <a:srgbClr val="1A5276"/>
              </a:solidFill>
            </c:spPr>
          </c:marker>
          <c:dLbls>
            <c:dLbl>
              <c:idx val="0"/>
              <c:tx>
                <c:rich>
                  <a:bodyPr xmlns:a="http://schemas.openxmlformats.org/drawingml/2006/main"/>
                  <a:lstStyle xmlns:a="http://schemas.openxmlformats.org/drawingml/2006/main"/>
                  <a:p xmlns:a="http://schemas.openxmlformats.org/drawingml/2006/main">
                    <a:r>
                      <a:rPr sz="2100"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2100" b="1">
                      <a:solidFill>
                        <a:srgbClr val="1A527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Data'!$E$2:$E$2</c:f>
              <c:numCache>
                <c:formatCode>General</c:formatCode>
                <c:ptCount val="1"/>
                <c:pt idx="0">
                  <c:v>132</c:v>
                </c:pt>
              </c:numCache>
            </c:numRef>
          </c:xVal>
          <c:yVal>
            <c:numRef>
              <c:f>'Chart Data'!$F$2:$F$2</c:f>
              <c:numCache>
                <c:formatCode>0</c:formatCode>
                <c:ptCount val="1"/>
                <c:pt idx="0">
                  <c:v>3.6</c:v>
                </c:pt>
              </c:numCache>
            </c:numRef>
          </c:yVal>
          <c:smooth val="0"/>
        </c:ser>
        <c:ser>
          <c:idx val="3"/>
          <c:order val="3"/>
          <c:tx>
            <c:v>A</c:v>
          </c:tx>
          <c:spPr>
            <a:ln xmlns:a="http://schemas.openxmlformats.org/drawingml/2006/main" w="0">
              <a:noFill/>
            </a:ln>
          </c:spPr>
          <c:marker>
            <c:symbol val="none"/>
            <c:size val="8"/>
            <c:spPr>
              <a:solidFill xmlns:a="http://schemas.openxmlformats.org/drawingml/2006/main">
                <a:srgbClr val="1E7449"/>
              </a:solidFill>
            </c:spPr>
          </c:marker>
          <c:dLbls>
            <c:dLbl>
              <c:idx val="0"/>
              <c:tx>
                <c:rich>
                  <a:bodyPr xmlns:a="http://schemas.openxmlformats.org/drawingml/2006/main"/>
                  <a:lstStyle xmlns:a="http://schemas.openxmlformats.org/drawingml/2006/main"/>
                  <a:p xmlns:a="http://schemas.openxmlformats.org/drawingml/2006/main">
                    <a:r>
                      <a:rPr sz="2100" b="1">
                        <a:solidFill>
                          <a:srgbClr val="1E7449"/>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2100" b="1">
                      <a:solidFill>
                        <a:srgbClr val="1E7449"/>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142.4</c:v>
                </c:pt>
              </c:numCache>
            </c:numRef>
          </c:xVal>
          <c:yVal>
            <c:numRef>
              <c:f>'Chart Data'!$H$2:$H$2</c:f>
              <c:numCache>
                <c:formatCode>0</c:formatCode>
                <c:ptCount val="1"/>
                <c:pt idx="0">
                  <c:v>20.24</c:v>
                </c:pt>
              </c:numCache>
            </c:numRef>
          </c:yVal>
          <c:smooth val="0"/>
        </c:ser>
        <c:ser>
          <c:idx val="4"/>
          <c:order val="4"/>
          <c:tx>
            <c:v>P₀ hulplijn</c:v>
          </c:tx>
          <c:spPr>
            <a:ln xmlns:a="http://schemas.openxmlformats.org/drawingml/2006/main" w="19050">
              <a:solidFill>
                <a:srgbClr val="445B6B"/>
              </a:solidFill>
              <a:prstDash val="dash"/>
            </a:ln>
          </c:spPr>
          <c:marker>
            <c:symbol val="none"/>
          </c:marker>
          <c:xVal>
            <c:numRef>
              <c:f>'Chart Data'!$I$2:$I$3</c:f>
              <c:numCache>
                <c:formatCode>General</c:formatCode>
                <c:ptCount val="2"/>
                <c:pt idx="0">
                  <c:v>0</c:v>
                </c:pt>
                <c:pt idx="1">
                  <c:v>80</c:v>
                </c:pt>
              </c:numCache>
            </c:numRef>
          </c:xVal>
          <c:yVal>
            <c:numRef>
              <c:f>'Chart Data'!$J$2:$J$3</c:f>
              <c:numCache>
                <c:formatCode>0</c:formatCode>
                <c:ptCount val="2"/>
                <c:pt idx="0">
                  <c:v>14</c:v>
                </c:pt>
                <c:pt idx="1">
                  <c:v>14</c:v>
                </c:pt>
              </c:numCache>
            </c:numRef>
          </c:yVal>
          <c:smooth val="0"/>
        </c:ser>
        <c:ser>
          <c:idx val="5"/>
          <c:order val="5"/>
          <c:tx>
            <c:v>Q₀ hulplijn</c:v>
          </c:tx>
          <c:spPr>
            <a:ln xmlns:a="http://schemas.openxmlformats.org/drawingml/2006/main" w="19050">
              <a:solidFill>
                <a:srgbClr val="445B6B"/>
              </a:solidFill>
              <a:prstDash val="dash"/>
            </a:ln>
          </c:spPr>
          <c:marker>
            <c:symbol val="none"/>
          </c:marker>
          <c:xVal>
            <c:numRef>
              <c:f>'Chart Data'!$K$2:$K$3</c:f>
              <c:numCache>
                <c:formatCode>General</c:formatCode>
                <c:ptCount val="2"/>
                <c:pt idx="0">
                  <c:v>80</c:v>
                </c:pt>
                <c:pt idx="1">
                  <c:v>80</c:v>
                </c:pt>
              </c:numCache>
            </c:numRef>
          </c:xVal>
          <c:yVal>
            <c:numRef>
              <c:f>'Chart Data'!$L$2:$L$3</c:f>
              <c:numCache>
                <c:formatCode>0</c:formatCode>
                <c:ptCount val="2"/>
                <c:pt idx="0">
                  <c:v>0</c:v>
                </c:pt>
                <c:pt idx="1">
                  <c:v>14</c:v>
                </c:pt>
              </c:numCache>
            </c:numRef>
          </c:yVal>
          <c:smooth val="0"/>
        </c:ser>
        <c:ser>
          <c:idx val="6"/>
          <c:order val="6"/>
          <c:tx>
            <c:v>vrij evenwicht</c:v>
          </c:tx>
          <c:spPr>
            <a:ln xmlns:a="http://schemas.openxmlformats.org/drawingml/2006/main" w="0">
              <a:noFill/>
            </a:ln>
          </c:spPr>
          <c:marker>
            <c:symbol val="circle"/>
            <c:size val="8"/>
            <c:spPr>
              <a:solidFill xmlns:a="http://schemas.openxmlformats.org/drawingml/2006/main">
                <a:srgbClr val="183247"/>
              </a:solidFill>
            </c:spPr>
          </c:marker>
          <c:xVal>
            <c:numRef>
              <c:f>'Chart Data'!$M$2:$M$2</c:f>
              <c:numCache>
                <c:formatCode>General</c:formatCode>
                <c:ptCount val="1"/>
                <c:pt idx="0">
                  <c:v>80</c:v>
                </c:pt>
              </c:numCache>
            </c:numRef>
          </c:xVal>
          <c:yVal>
            <c:numRef>
              <c:f>'Chart Data'!$N$2:$N$2</c:f>
              <c:numCache>
                <c:formatCode>0</c:formatCode>
                <c:ptCount val="1"/>
                <c:pt idx="0">
                  <c:v>14</c:v>
                </c:pt>
              </c:numCache>
            </c:numRef>
          </c:yVal>
          <c:smooth val="0"/>
        </c:ser>
        <c:ser>
          <c:idx val="7"/>
          <c:order val="7"/>
          <c:tx>
            <c:v>E₀</c:v>
          </c:tx>
          <c:spPr>
            <a:ln xmlns:a="http://schemas.openxmlformats.org/drawingml/2006/main" w="0">
              <a:noFill/>
            </a:ln>
          </c:spPr>
          <c:marker>
            <c:symbol val="none"/>
            <c:size val="8"/>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E₀</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Data'!$O$2:$O$2</c:f>
              <c:numCache>
                <c:formatCode>General</c:formatCode>
                <c:ptCount val="1"/>
                <c:pt idx="0">
                  <c:v>85.6</c:v>
                </c:pt>
              </c:numCache>
            </c:numRef>
          </c:xVal>
          <c:yVal>
            <c:numRef>
              <c:f>'Chart Data'!$P$2:$P$2</c:f>
              <c:numCache>
                <c:formatCode>0</c:formatCode>
                <c:ptCount val="1"/>
                <c:pt idx="0">
                  <c:v>15.44</c:v>
                </c:pt>
              </c:numCache>
            </c:numRef>
          </c:yVal>
          <c:smooth val="0"/>
        </c:ser>
        <c:ser>
          <c:idx val="8"/>
          <c:order val="8"/>
          <c:tx>
            <c:v>P₀ = 14</c:v>
          </c:tx>
          <c:spPr>
            <a:ln xmlns:a="http://schemas.openxmlformats.org/drawingml/2006/main" w="0">
              <a:noFill/>
            </a:ln>
          </c:spPr>
          <c:marker>
            <c:symbol val="none"/>
            <c:size val="8"/>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P₀ = 14</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Data'!$Q$2:$Q$2</c:f>
              <c:numCache>
                <c:formatCode>General</c:formatCode>
                <c:ptCount val="1"/>
                <c:pt idx="0">
                  <c:v>27.2</c:v>
                </c:pt>
              </c:numCache>
            </c:numRef>
          </c:xVal>
          <c:yVal>
            <c:numRef>
              <c:f>'Chart Data'!$R$2:$R$2</c:f>
              <c:numCache>
                <c:formatCode>0</c:formatCode>
                <c:ptCount val="1"/>
                <c:pt idx="0">
                  <c:v>14.4</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2"/>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100">
                    <a:solidFill>
                      <a:srgbClr val="183247"/>
                    </a:solidFill>
                    <a:latin typeface="Arial"/>
                    <a:ea typeface="Arial"/>
                    <a:cs typeface="Arial"/>
                  </a:rPr>
                  <a:t>P (€ per fietslampje)</a:t>
                </a:r>
              </a:p>
            </c:rich>
          </c:tx>
          <c:overlay val="0"/>
          <c:txPr>
            <a:bodyPr xmlns:a="http://schemas.openxmlformats.org/drawingml/2006/main" anchorCtr="1"/>
            <a:lstStyle xmlns:a="http://schemas.openxmlformats.org/drawingml/2006/main"/>
            <a:p xmlns:a="http://schemas.openxmlformats.org/drawingml/2006/main">
              <a:pPr>
                <a:defRPr sz="210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50112"/>
        <c:majorUnit val="4"/>
      </c:valAx>
      <c:valAx>
        <c:axId val="48650112"/>
        <c:scaling>
          <c:orientation val="minMax"/>
          <c:max val="160"/>
          <c:min val="0"/>
        </c:scaling>
        <c:delete val="0"/>
        <c:axPos val="b"/>
        <c:title>
          <c:tx>
            <c:rich>
              <a:bodyPr xmlns:a="http://schemas.openxmlformats.org/drawingml/2006/main"/>
              <a:lstStyle xmlns:a="http://schemas.openxmlformats.org/drawingml/2006/main"/>
              <a:p xmlns:a="http://schemas.openxmlformats.org/drawingml/2006/main">
                <a:r>
                  <a:rPr sz="2100">
                    <a:solidFill>
                      <a:srgbClr val="183247"/>
                    </a:solidFill>
                    <a:latin typeface="Arial"/>
                    <a:ea typeface="Arial"/>
                    <a:cs typeface="Arial"/>
                  </a:rPr>
                  <a:t>Q (fietslampjes per week)</a:t>
                </a:r>
              </a:p>
            </c:rich>
          </c:tx>
          <c:overlay val="0"/>
          <c:txPr>
            <a:bodyPr xmlns:a="http://schemas.openxmlformats.org/drawingml/2006/main" anchorCtr="1"/>
            <a:lstStyle xmlns:a="http://schemas.openxmlformats.org/drawingml/2006/main"/>
            <a:p xmlns:a="http://schemas.openxmlformats.org/drawingml/2006/main">
              <a:pPr>
                <a:defRPr sz="210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72768"/>
        <c:majorUnit val="4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28575">
              <a:solidFill>
                <a:srgbClr val="1A5276"/>
              </a:solidFill>
              <a:prstDash val="solid"/>
            </a:ln>
          </c:spPr>
          <c:marker>
            <c:symbol val="none"/>
          </c:marker>
          <c:xVal>
            <c:numRef>
              <c:f>'Chart Data'!$A$2:$A$3</c:f>
              <c:numCache>
                <c:formatCode>General</c:formatCode>
                <c:ptCount val="2"/>
                <c:pt idx="0">
                  <c:v>0</c:v>
                </c:pt>
                <c:pt idx="1">
                  <c:v>150</c:v>
                </c:pt>
              </c:numCache>
            </c:numRef>
          </c:xVal>
          <c:yVal>
            <c:numRef>
              <c:f>'Chart Data'!$B$2:$B$3</c:f>
              <c:numCache>
                <c:formatCode>0</c:formatCode>
                <c:ptCount val="2"/>
                <c:pt idx="0">
                  <c:v>30</c:v>
                </c:pt>
                <c:pt idx="1">
                  <c:v>0</c:v>
                </c:pt>
              </c:numCache>
            </c:numRef>
          </c:yVal>
          <c:smooth val="0"/>
        </c:ser>
        <c:ser>
          <c:idx val="1"/>
          <c:order val="1"/>
          <c:tx>
            <c:v>A</c:v>
          </c:tx>
          <c:spPr>
            <a:ln xmlns:a="http://schemas.openxmlformats.org/drawingml/2006/main" w="28575">
              <a:solidFill>
                <a:srgbClr val="1E7449"/>
              </a:solidFill>
              <a:prstDash val="solid"/>
            </a:ln>
          </c:spPr>
          <c:marker>
            <c:symbol val="none"/>
          </c:marker>
          <c:xVal>
            <c:numRef>
              <c:f>'Chart Data'!$C$2:$C$3</c:f>
              <c:numCache>
                <c:formatCode>General</c:formatCode>
                <c:ptCount val="2"/>
                <c:pt idx="0">
                  <c:v>0</c:v>
                </c:pt>
                <c:pt idx="1">
                  <c:v>160</c:v>
                </c:pt>
              </c:numCache>
            </c:numRef>
          </c:xVal>
          <c:yVal>
            <c:numRef>
              <c:f>'Chart Data'!$D$2:$D$3</c:f>
              <c:numCache>
                <c:formatCode>0</c:formatCode>
                <c:ptCount val="2"/>
                <c:pt idx="0">
                  <c:v>6</c:v>
                </c:pt>
                <c:pt idx="1">
                  <c:v>22</c:v>
                </c:pt>
              </c:numCache>
            </c:numRef>
          </c:yVal>
          <c:smooth val="0"/>
        </c:ser>
        <c:ser>
          <c:idx val="2"/>
          <c:order val="2"/>
          <c:tx>
            <c:v>V</c:v>
          </c:tx>
          <c:spPr>
            <a:ln xmlns:a="http://schemas.openxmlformats.org/drawingml/2006/main" w="0">
              <a:noFill/>
            </a:ln>
          </c:spPr>
          <c:marker>
            <c:symbol val="none"/>
            <c:size val="8"/>
            <c:spPr>
              <a:solidFill xmlns:a="http://schemas.openxmlformats.org/drawingml/2006/main">
                <a:srgbClr val="1A5276"/>
              </a:solidFill>
            </c:spPr>
          </c:marker>
          <c:dLbls>
            <c:dLbl>
              <c:idx val="0"/>
              <c:tx>
                <c:rich>
                  <a:bodyPr xmlns:a="http://schemas.openxmlformats.org/drawingml/2006/main"/>
                  <a:lstStyle xmlns:a="http://schemas.openxmlformats.org/drawingml/2006/main"/>
                  <a:p xmlns:a="http://schemas.openxmlformats.org/drawingml/2006/main">
                    <a:r>
                      <a:rPr sz="2100"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2100" b="1">
                      <a:solidFill>
                        <a:srgbClr val="1A527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Data'!$E$2:$E$2</c:f>
              <c:numCache>
                <c:formatCode>General</c:formatCode>
                <c:ptCount val="1"/>
                <c:pt idx="0">
                  <c:v>132</c:v>
                </c:pt>
              </c:numCache>
            </c:numRef>
          </c:xVal>
          <c:yVal>
            <c:numRef>
              <c:f>'Chart Data'!$F$2:$F$2</c:f>
              <c:numCache>
                <c:formatCode>0</c:formatCode>
                <c:ptCount val="1"/>
                <c:pt idx="0">
                  <c:v>3.6</c:v>
                </c:pt>
              </c:numCache>
            </c:numRef>
          </c:yVal>
          <c:smooth val="0"/>
        </c:ser>
        <c:ser>
          <c:idx val="3"/>
          <c:order val="3"/>
          <c:tx>
            <c:v>A</c:v>
          </c:tx>
          <c:spPr>
            <a:ln xmlns:a="http://schemas.openxmlformats.org/drawingml/2006/main" w="0">
              <a:noFill/>
            </a:ln>
          </c:spPr>
          <c:marker>
            <c:symbol val="none"/>
            <c:size val="8"/>
            <c:spPr>
              <a:solidFill xmlns:a="http://schemas.openxmlformats.org/drawingml/2006/main">
                <a:srgbClr val="1E7449"/>
              </a:solidFill>
            </c:spPr>
          </c:marker>
          <c:dLbls>
            <c:dLbl>
              <c:idx val="0"/>
              <c:tx>
                <c:rich>
                  <a:bodyPr xmlns:a="http://schemas.openxmlformats.org/drawingml/2006/main"/>
                  <a:lstStyle xmlns:a="http://schemas.openxmlformats.org/drawingml/2006/main"/>
                  <a:p xmlns:a="http://schemas.openxmlformats.org/drawingml/2006/main">
                    <a:r>
                      <a:rPr sz="2100" b="1">
                        <a:solidFill>
                          <a:srgbClr val="1E7449"/>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2100" b="1">
                      <a:solidFill>
                        <a:srgbClr val="1E7449"/>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142.4</c:v>
                </c:pt>
              </c:numCache>
            </c:numRef>
          </c:xVal>
          <c:yVal>
            <c:numRef>
              <c:f>'Chart Data'!$H$2:$H$2</c:f>
              <c:numCache>
                <c:formatCode>0</c:formatCode>
                <c:ptCount val="1"/>
                <c:pt idx="0">
                  <c:v>20.24</c:v>
                </c:pt>
              </c:numCache>
            </c:numRef>
          </c:yVal>
          <c:smooth val="0"/>
        </c:ser>
        <c:ser>
          <c:idx val="4"/>
          <c:order val="4"/>
          <c:tx>
            <c:v>A + t</c:v>
          </c:tx>
          <c:spPr>
            <a:ln xmlns:a="http://schemas.openxmlformats.org/drawingml/2006/main" w="28575">
              <a:solidFill>
                <a:srgbClr val="A94D16"/>
              </a:solidFill>
              <a:prstDash val="solid"/>
            </a:ln>
          </c:spPr>
          <c:marker>
            <c:symbol val="none"/>
          </c:marker>
          <c:xVal>
            <c:numRef>
              <c:f>'Chart Data'!$I$2:$I$3</c:f>
              <c:numCache>
                <c:formatCode>General</c:formatCode>
                <c:ptCount val="2"/>
                <c:pt idx="0">
                  <c:v>0</c:v>
                </c:pt>
                <c:pt idx="1">
                  <c:v>160</c:v>
                </c:pt>
              </c:numCache>
            </c:numRef>
          </c:xVal>
          <c:yVal>
            <c:numRef>
              <c:f>'Chart Data'!$J$2:$J$3</c:f>
              <c:numCache>
                <c:formatCode>0</c:formatCode>
                <c:ptCount val="2"/>
                <c:pt idx="0">
                  <c:v>12</c:v>
                </c:pt>
                <c:pt idx="1">
                  <c:v>28</c:v>
                </c:pt>
              </c:numCache>
            </c:numRef>
          </c:yVal>
          <c:smooth val="0"/>
        </c:ser>
        <c:ser>
          <c:idx val="5"/>
          <c:order val="5"/>
          <c:tx>
            <c:v>A + t</c:v>
          </c:tx>
          <c:spPr>
            <a:ln xmlns:a="http://schemas.openxmlformats.org/drawingml/2006/main" w="0">
              <a:noFill/>
            </a:ln>
          </c:spPr>
          <c:marker>
            <c:symbol val="none"/>
            <c:size val="8"/>
            <c:spPr>
              <a:solidFill xmlns:a="http://schemas.openxmlformats.org/drawingml/2006/main">
                <a:srgbClr val="A94D16"/>
              </a:solidFill>
            </c:spPr>
          </c:marker>
          <c:dLbls>
            <c:dLbl>
              <c:idx val="0"/>
              <c:tx>
                <c:rich>
                  <a:bodyPr xmlns:a="http://schemas.openxmlformats.org/drawingml/2006/main"/>
                  <a:lstStyle xmlns:a="http://schemas.openxmlformats.org/drawingml/2006/main"/>
                  <a:p xmlns:a="http://schemas.openxmlformats.org/drawingml/2006/main">
                    <a:r>
                      <a:rPr sz="2100" b="1">
                        <a:solidFill>
                          <a:srgbClr val="A94D16"/>
                        </a:solidFill>
                        <a:latin typeface="Arial"/>
                        <a:ea typeface="Arial"/>
                        <a:cs typeface="Arial"/>
                      </a:rPr>
                      <a:t>A + t</a:t>
                    </a:r>
                  </a:p>
                </c:rich>
              </c:tx>
              <c:txPr>
                <a:bodyPr xmlns:a="http://schemas.openxmlformats.org/drawingml/2006/main" anchorCtr="1"/>
                <a:lstStyle xmlns:a="http://schemas.openxmlformats.org/drawingml/2006/main"/>
                <a:p xmlns:a="http://schemas.openxmlformats.org/drawingml/2006/main">
                  <a:pPr>
                    <a:defRPr sz="2100"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Data'!$K$2:$K$2</c:f>
              <c:numCache>
                <c:formatCode>General</c:formatCode>
                <c:ptCount val="1"/>
                <c:pt idx="0">
                  <c:v>140.8</c:v>
                </c:pt>
              </c:numCache>
            </c:numRef>
          </c:xVal>
          <c:yVal>
            <c:numRef>
              <c:f>'Chart Data'!$L$2:$L$2</c:f>
              <c:numCache>
                <c:formatCode>0</c:formatCode>
                <c:ptCount val="1"/>
                <c:pt idx="0">
                  <c:v>26.08</c:v>
                </c:pt>
              </c:numCache>
            </c:numRef>
          </c:yVal>
          <c:smooth val="0"/>
        </c:ser>
        <c:ser>
          <c:idx val="6"/>
          <c:order val="6"/>
          <c:tx>
            <c:v>verschuiving bij gelijke kopersprijs</c:v>
          </c:tx>
          <c:spPr>
            <a:ln xmlns:a="http://schemas.openxmlformats.org/drawingml/2006/main" w="28575">
              <a:solidFill>
                <a:srgbClr val="A94D16"/>
              </a:solidFill>
              <a:prstDash val="solid"/>
            </a:ln>
          </c:spPr>
          <c:marker>
            <c:symbol val="none"/>
          </c:marker>
          <c:xVal>
            <c:numRef>
              <c:f>'Chart Data'!$M$2:$M$6</c:f>
              <c:numCache>
                <c:formatCode>General</c:formatCode>
                <c:ptCount val="5"/>
                <c:pt idx="0">
                  <c:v>140</c:v>
                </c:pt>
                <c:pt idx="1">
                  <c:v>80</c:v>
                </c:pt>
                <c:pt idx="2">
                  <c:v>84</c:v>
                </c:pt>
                <c:pt idx="3">
                  <c:v>80</c:v>
                </c:pt>
                <c:pt idx="4">
                  <c:v>84</c:v>
                </c:pt>
              </c:numCache>
            </c:numRef>
          </c:xVal>
          <c:yVal>
            <c:numRef>
              <c:f>'Chart Data'!$N$2:$N$6</c:f>
              <c:numCache>
                <c:formatCode>0</c:formatCode>
                <c:ptCount val="5"/>
                <c:pt idx="0">
                  <c:v>20</c:v>
                </c:pt>
                <c:pt idx="1">
                  <c:v>20</c:v>
                </c:pt>
                <c:pt idx="2">
                  <c:v>20.704</c:v>
                </c:pt>
                <c:pt idx="3">
                  <c:v>20</c:v>
                </c:pt>
                <c:pt idx="4">
                  <c:v>19.296</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2"/>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100">
                    <a:solidFill>
                      <a:srgbClr val="183247"/>
                    </a:solidFill>
                    <a:latin typeface="Arial"/>
                    <a:ea typeface="Arial"/>
                    <a:cs typeface="Arial"/>
                  </a:rPr>
                  <a:t>P (€ per fietslampje)</a:t>
                </a:r>
              </a:p>
            </c:rich>
          </c:tx>
          <c:overlay val="0"/>
          <c:txPr>
            <a:bodyPr xmlns:a="http://schemas.openxmlformats.org/drawingml/2006/main" anchorCtr="1"/>
            <a:lstStyle xmlns:a="http://schemas.openxmlformats.org/drawingml/2006/main"/>
            <a:p xmlns:a="http://schemas.openxmlformats.org/drawingml/2006/main">
              <a:pPr>
                <a:defRPr sz="210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50112"/>
        <c:majorUnit val="4"/>
      </c:valAx>
      <c:valAx>
        <c:axId val="48650112"/>
        <c:scaling>
          <c:orientation val="minMax"/>
          <c:max val="160"/>
          <c:min val="0"/>
        </c:scaling>
        <c:delete val="0"/>
        <c:axPos val="b"/>
        <c:title>
          <c:tx>
            <c:rich>
              <a:bodyPr xmlns:a="http://schemas.openxmlformats.org/drawingml/2006/main"/>
              <a:lstStyle xmlns:a="http://schemas.openxmlformats.org/drawingml/2006/main"/>
              <a:p xmlns:a="http://schemas.openxmlformats.org/drawingml/2006/main">
                <a:r>
                  <a:rPr sz="2100">
                    <a:solidFill>
                      <a:srgbClr val="183247"/>
                    </a:solidFill>
                    <a:latin typeface="Arial"/>
                    <a:ea typeface="Arial"/>
                    <a:cs typeface="Arial"/>
                  </a:rPr>
                  <a:t>Q (fietslampjes per week)</a:t>
                </a:r>
              </a:p>
            </c:rich>
          </c:tx>
          <c:overlay val="0"/>
          <c:txPr>
            <a:bodyPr xmlns:a="http://schemas.openxmlformats.org/drawingml/2006/main" anchorCtr="1"/>
            <a:lstStyle xmlns:a="http://schemas.openxmlformats.org/drawingml/2006/main"/>
            <a:p xmlns:a="http://schemas.openxmlformats.org/drawingml/2006/main">
              <a:pPr>
                <a:defRPr sz="210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72768"/>
        <c:majorUnit val="4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28575">
              <a:solidFill>
                <a:srgbClr val="1A5276"/>
              </a:solidFill>
              <a:prstDash val="solid"/>
            </a:ln>
          </c:spPr>
          <c:marker>
            <c:symbol val="none"/>
          </c:marker>
          <c:xVal>
            <c:numRef>
              <c:f>'Chart Data'!$A$2:$A$3</c:f>
              <c:numCache>
                <c:formatCode>General</c:formatCode>
                <c:ptCount val="2"/>
                <c:pt idx="0">
                  <c:v>0</c:v>
                </c:pt>
                <c:pt idx="1">
                  <c:v>150</c:v>
                </c:pt>
              </c:numCache>
            </c:numRef>
          </c:xVal>
          <c:yVal>
            <c:numRef>
              <c:f>'Chart Data'!$B$2:$B$3</c:f>
              <c:numCache>
                <c:formatCode>0</c:formatCode>
                <c:ptCount val="2"/>
                <c:pt idx="0">
                  <c:v>30</c:v>
                </c:pt>
                <c:pt idx="1">
                  <c:v>0</c:v>
                </c:pt>
              </c:numCache>
            </c:numRef>
          </c:yVal>
          <c:smooth val="0"/>
        </c:ser>
        <c:ser>
          <c:idx val="1"/>
          <c:order val="1"/>
          <c:tx>
            <c:v>A</c:v>
          </c:tx>
          <c:spPr>
            <a:ln xmlns:a="http://schemas.openxmlformats.org/drawingml/2006/main" w="28575">
              <a:solidFill>
                <a:srgbClr val="1E7449"/>
              </a:solidFill>
              <a:prstDash val="solid"/>
            </a:ln>
          </c:spPr>
          <c:marker>
            <c:symbol val="none"/>
          </c:marker>
          <c:xVal>
            <c:numRef>
              <c:f>'Chart Data'!$C$2:$C$3</c:f>
              <c:numCache>
                <c:formatCode>General</c:formatCode>
                <c:ptCount val="2"/>
                <c:pt idx="0">
                  <c:v>0</c:v>
                </c:pt>
                <c:pt idx="1">
                  <c:v>160</c:v>
                </c:pt>
              </c:numCache>
            </c:numRef>
          </c:xVal>
          <c:yVal>
            <c:numRef>
              <c:f>'Chart Data'!$D$2:$D$3</c:f>
              <c:numCache>
                <c:formatCode>0</c:formatCode>
                <c:ptCount val="2"/>
                <c:pt idx="0">
                  <c:v>6</c:v>
                </c:pt>
                <c:pt idx="1">
                  <c:v>22</c:v>
                </c:pt>
              </c:numCache>
            </c:numRef>
          </c:yVal>
          <c:smooth val="0"/>
        </c:ser>
        <c:ser>
          <c:idx val="2"/>
          <c:order val="2"/>
          <c:tx>
            <c:v>V</c:v>
          </c:tx>
          <c:spPr>
            <a:ln xmlns:a="http://schemas.openxmlformats.org/drawingml/2006/main" w="0">
              <a:noFill/>
            </a:ln>
          </c:spPr>
          <c:marker>
            <c:symbol val="none"/>
            <c:size val="8"/>
            <c:spPr>
              <a:solidFill xmlns:a="http://schemas.openxmlformats.org/drawingml/2006/main">
                <a:srgbClr val="1A5276"/>
              </a:solidFill>
            </c:spPr>
          </c:marker>
          <c:dLbls>
            <c:dLbl>
              <c:idx val="0"/>
              <c:tx>
                <c:rich>
                  <a:bodyPr xmlns:a="http://schemas.openxmlformats.org/drawingml/2006/main"/>
                  <a:lstStyle xmlns:a="http://schemas.openxmlformats.org/drawingml/2006/main"/>
                  <a:p xmlns:a="http://schemas.openxmlformats.org/drawingml/2006/main">
                    <a:r>
                      <a:rPr sz="2100"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2100" b="1">
                      <a:solidFill>
                        <a:srgbClr val="1A527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Data'!$E$2:$E$2</c:f>
              <c:numCache>
                <c:formatCode>General</c:formatCode>
                <c:ptCount val="1"/>
                <c:pt idx="0">
                  <c:v>132</c:v>
                </c:pt>
              </c:numCache>
            </c:numRef>
          </c:xVal>
          <c:yVal>
            <c:numRef>
              <c:f>'Chart Data'!$F$2:$F$2</c:f>
              <c:numCache>
                <c:formatCode>0</c:formatCode>
                <c:ptCount val="1"/>
                <c:pt idx="0">
                  <c:v>3.6</c:v>
                </c:pt>
              </c:numCache>
            </c:numRef>
          </c:yVal>
          <c:smooth val="0"/>
        </c:ser>
        <c:ser>
          <c:idx val="3"/>
          <c:order val="3"/>
          <c:tx>
            <c:v>A</c:v>
          </c:tx>
          <c:spPr>
            <a:ln xmlns:a="http://schemas.openxmlformats.org/drawingml/2006/main" w="0">
              <a:noFill/>
            </a:ln>
          </c:spPr>
          <c:marker>
            <c:symbol val="none"/>
            <c:size val="8"/>
            <c:spPr>
              <a:solidFill xmlns:a="http://schemas.openxmlformats.org/drawingml/2006/main">
                <a:srgbClr val="1E7449"/>
              </a:solidFill>
            </c:spPr>
          </c:marker>
          <c:dLbls>
            <c:dLbl>
              <c:idx val="0"/>
              <c:tx>
                <c:rich>
                  <a:bodyPr xmlns:a="http://schemas.openxmlformats.org/drawingml/2006/main"/>
                  <a:lstStyle xmlns:a="http://schemas.openxmlformats.org/drawingml/2006/main"/>
                  <a:p xmlns:a="http://schemas.openxmlformats.org/drawingml/2006/main">
                    <a:r>
                      <a:rPr sz="2100" b="1">
                        <a:solidFill>
                          <a:srgbClr val="1E7449"/>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2100" b="1">
                      <a:solidFill>
                        <a:srgbClr val="1E7449"/>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142.4</c:v>
                </c:pt>
              </c:numCache>
            </c:numRef>
          </c:xVal>
          <c:yVal>
            <c:numRef>
              <c:f>'Chart Data'!$H$2:$H$2</c:f>
              <c:numCache>
                <c:formatCode>0</c:formatCode>
                <c:ptCount val="1"/>
                <c:pt idx="0">
                  <c:v>20.24</c:v>
                </c:pt>
              </c:numCache>
            </c:numRef>
          </c:yVal>
          <c:smooth val="0"/>
        </c:ser>
        <c:ser>
          <c:idx val="4"/>
          <c:order val="4"/>
          <c:tx>
            <c:v>A + t</c:v>
          </c:tx>
          <c:spPr>
            <a:ln xmlns:a="http://schemas.openxmlformats.org/drawingml/2006/main" w="28575">
              <a:solidFill>
                <a:srgbClr val="A94D16"/>
              </a:solidFill>
              <a:prstDash val="solid"/>
            </a:ln>
          </c:spPr>
          <c:marker>
            <c:symbol val="none"/>
          </c:marker>
          <c:xVal>
            <c:numRef>
              <c:f>'Chart Data'!$I$2:$I$3</c:f>
              <c:numCache>
                <c:formatCode>General</c:formatCode>
                <c:ptCount val="2"/>
                <c:pt idx="0">
                  <c:v>0</c:v>
                </c:pt>
                <c:pt idx="1">
                  <c:v>160</c:v>
                </c:pt>
              </c:numCache>
            </c:numRef>
          </c:xVal>
          <c:yVal>
            <c:numRef>
              <c:f>'Chart Data'!$J$2:$J$3</c:f>
              <c:numCache>
                <c:formatCode>0</c:formatCode>
                <c:ptCount val="2"/>
                <c:pt idx="0">
                  <c:v>12</c:v>
                </c:pt>
                <c:pt idx="1">
                  <c:v>28</c:v>
                </c:pt>
              </c:numCache>
            </c:numRef>
          </c:yVal>
          <c:smooth val="0"/>
        </c:ser>
        <c:ser>
          <c:idx val="5"/>
          <c:order val="5"/>
          <c:tx>
            <c:v>A + t</c:v>
          </c:tx>
          <c:spPr>
            <a:ln xmlns:a="http://schemas.openxmlformats.org/drawingml/2006/main" w="0">
              <a:noFill/>
            </a:ln>
          </c:spPr>
          <c:marker>
            <c:symbol val="none"/>
            <c:size val="8"/>
            <c:spPr>
              <a:solidFill xmlns:a="http://schemas.openxmlformats.org/drawingml/2006/main">
                <a:srgbClr val="A94D16"/>
              </a:solidFill>
            </c:spPr>
          </c:marker>
          <c:dLbls>
            <c:dLbl>
              <c:idx val="0"/>
              <c:tx>
                <c:rich>
                  <a:bodyPr xmlns:a="http://schemas.openxmlformats.org/drawingml/2006/main"/>
                  <a:lstStyle xmlns:a="http://schemas.openxmlformats.org/drawingml/2006/main"/>
                  <a:p xmlns:a="http://schemas.openxmlformats.org/drawingml/2006/main">
                    <a:r>
                      <a:rPr sz="2100" b="1">
                        <a:solidFill>
                          <a:srgbClr val="A94D16"/>
                        </a:solidFill>
                        <a:latin typeface="Arial"/>
                        <a:ea typeface="Arial"/>
                        <a:cs typeface="Arial"/>
                      </a:rPr>
                      <a:t>A + t</a:t>
                    </a:r>
                  </a:p>
                </c:rich>
              </c:tx>
              <c:txPr>
                <a:bodyPr xmlns:a="http://schemas.openxmlformats.org/drawingml/2006/main" anchorCtr="1"/>
                <a:lstStyle xmlns:a="http://schemas.openxmlformats.org/drawingml/2006/main"/>
                <a:p xmlns:a="http://schemas.openxmlformats.org/drawingml/2006/main">
                  <a:pPr>
                    <a:defRPr sz="2100"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Data'!$K$2:$K$2</c:f>
              <c:numCache>
                <c:formatCode>General</c:formatCode>
                <c:ptCount val="1"/>
                <c:pt idx="0">
                  <c:v>140.8</c:v>
                </c:pt>
              </c:numCache>
            </c:numRef>
          </c:xVal>
          <c:yVal>
            <c:numRef>
              <c:f>'Chart Data'!$L$2:$L$2</c:f>
              <c:numCache>
                <c:formatCode>0</c:formatCode>
                <c:ptCount val="1"/>
                <c:pt idx="0">
                  <c:v>26.08</c:v>
                </c:pt>
              </c:numCache>
            </c:numRef>
          </c:yVal>
          <c:smooth val="0"/>
        </c:ser>
        <c:ser>
          <c:idx val="6"/>
          <c:order val="6"/>
          <c:tx>
            <c:v>Pc hulplijn</c:v>
          </c:tx>
          <c:spPr>
            <a:ln xmlns:a="http://schemas.openxmlformats.org/drawingml/2006/main" w="19050">
              <a:solidFill>
                <a:srgbClr val="1A5276"/>
              </a:solidFill>
              <a:prstDash val="dash"/>
            </a:ln>
          </c:spPr>
          <c:marker>
            <c:symbol val="none"/>
          </c:marker>
          <c:xVal>
            <c:numRef>
              <c:f>'Chart Data'!$M$2:$M$3</c:f>
              <c:numCache>
                <c:formatCode>General</c:formatCode>
                <c:ptCount val="2"/>
                <c:pt idx="0">
                  <c:v>0</c:v>
                </c:pt>
                <c:pt idx="1">
                  <c:v>60</c:v>
                </c:pt>
              </c:numCache>
            </c:numRef>
          </c:xVal>
          <c:yVal>
            <c:numRef>
              <c:f>'Chart Data'!$N$2:$N$3</c:f>
              <c:numCache>
                <c:formatCode>0</c:formatCode>
                <c:ptCount val="2"/>
                <c:pt idx="0">
                  <c:v>18</c:v>
                </c:pt>
                <c:pt idx="1">
                  <c:v>18</c:v>
                </c:pt>
              </c:numCache>
            </c:numRef>
          </c:yVal>
          <c:smooth val="0"/>
        </c:ser>
        <c:ser>
          <c:idx val="7"/>
          <c:order val="7"/>
          <c:tx>
            <c:v>Pp hulplijn</c:v>
          </c:tx>
          <c:spPr>
            <a:ln xmlns:a="http://schemas.openxmlformats.org/drawingml/2006/main" w="19050">
              <a:solidFill>
                <a:srgbClr val="1E7449"/>
              </a:solidFill>
              <a:prstDash val="dash"/>
            </a:ln>
          </c:spPr>
          <c:marker>
            <c:symbol val="none"/>
          </c:marker>
          <c:xVal>
            <c:numRef>
              <c:f>'Chart Data'!$O$2:$O$3</c:f>
              <c:numCache>
                <c:formatCode>General</c:formatCode>
                <c:ptCount val="2"/>
                <c:pt idx="0">
                  <c:v>0</c:v>
                </c:pt>
                <c:pt idx="1">
                  <c:v>60</c:v>
                </c:pt>
              </c:numCache>
            </c:numRef>
          </c:xVal>
          <c:yVal>
            <c:numRef>
              <c:f>'Chart Data'!$P$2:$P$3</c:f>
              <c:numCache>
                <c:formatCode>0</c:formatCode>
                <c:ptCount val="2"/>
                <c:pt idx="0">
                  <c:v>12</c:v>
                </c:pt>
                <c:pt idx="1">
                  <c:v>12</c:v>
                </c:pt>
              </c:numCache>
            </c:numRef>
          </c:yVal>
          <c:smooth val="0"/>
        </c:ser>
        <c:ser>
          <c:idx val="8"/>
          <c:order val="8"/>
          <c:tx>
            <c:v>Qt hulplijn</c:v>
          </c:tx>
          <c:spPr>
            <a:ln xmlns:a="http://schemas.openxmlformats.org/drawingml/2006/main" w="19050">
              <a:solidFill>
                <a:srgbClr val="445B6B"/>
              </a:solidFill>
              <a:prstDash val="dash"/>
            </a:ln>
          </c:spPr>
          <c:marker>
            <c:symbol val="none"/>
          </c:marker>
          <c:xVal>
            <c:numRef>
              <c:f>'Chart Data'!$Q$2:$Q$3</c:f>
              <c:numCache>
                <c:formatCode>General</c:formatCode>
                <c:ptCount val="2"/>
                <c:pt idx="0">
                  <c:v>60</c:v>
                </c:pt>
                <c:pt idx="1">
                  <c:v>60</c:v>
                </c:pt>
              </c:numCache>
            </c:numRef>
          </c:xVal>
          <c:yVal>
            <c:numRef>
              <c:f>'Chart Data'!$R$2:$R$3</c:f>
              <c:numCache>
                <c:formatCode>0</c:formatCode>
                <c:ptCount val="2"/>
                <c:pt idx="0">
                  <c:v>0</c:v>
                </c:pt>
                <c:pt idx="1">
                  <c:v>12</c:v>
                </c:pt>
              </c:numCache>
            </c:numRef>
          </c:yVal>
          <c:smooth val="0"/>
        </c:ser>
        <c:ser>
          <c:idx val="9"/>
          <c:order val="9"/>
          <c:tx>
            <c:v>belastingwig</c:v>
          </c:tx>
          <c:spPr>
            <a:ln xmlns:a="http://schemas.openxmlformats.org/drawingml/2006/main" w="47625">
              <a:solidFill>
                <a:srgbClr val="A94D16"/>
              </a:solidFill>
              <a:prstDash val="solid"/>
            </a:ln>
          </c:spPr>
          <c:marker>
            <c:symbol val="none"/>
          </c:marker>
          <c:xVal>
            <c:numRef>
              <c:f>'Chart Data'!$S$2:$S$4</c:f>
              <c:numCache>
                <c:formatCode>General</c:formatCode>
                <c:ptCount val="3"/>
                <c:pt idx="0">
                  <c:v>60</c:v>
                </c:pt>
                <c:pt idx="1">
                  <c:v>60</c:v>
                </c:pt>
                <c:pt idx="2">
                  <c:v>60</c:v>
                </c:pt>
              </c:numCache>
            </c:numRef>
          </c:xVal>
          <c:yVal>
            <c:numRef>
              <c:f>'Chart Data'!$T$2:$T$4</c:f>
              <c:numCache>
                <c:formatCode>0</c:formatCode>
                <c:ptCount val="3"/>
                <c:pt idx="0">
                  <c:v>12</c:v>
                </c:pt>
                <c:pt idx="1">
                  <c:v>15</c:v>
                </c:pt>
                <c:pt idx="2">
                  <c:v>18</c:v>
                </c:pt>
              </c:numCache>
            </c:numRef>
          </c:yVal>
          <c:smooth val="0"/>
        </c:ser>
        <c:ser>
          <c:idx val="10"/>
          <c:order val="10"/>
          <c:tx>
            <c:v>Pc = 18</c:v>
          </c:tx>
          <c:spPr>
            <a:ln xmlns:a="http://schemas.openxmlformats.org/drawingml/2006/main" w="0">
              <a:noFill/>
            </a:ln>
          </c:spPr>
          <c:marker>
            <c:symbol val="none"/>
            <c:size val="8"/>
            <c:spPr>
              <a:solidFill xmlns:a="http://schemas.openxmlformats.org/drawingml/2006/main">
                <a:srgbClr val="1A5276"/>
              </a:solidFill>
            </c:spPr>
          </c:marker>
          <c:dLbls>
            <c:dLbl>
              <c:idx val="0"/>
              <c:tx>
                <c:rich>
                  <a:bodyPr xmlns:a="http://schemas.openxmlformats.org/drawingml/2006/main"/>
                  <a:lstStyle xmlns:a="http://schemas.openxmlformats.org/drawingml/2006/main"/>
                  <a:p xmlns:a="http://schemas.openxmlformats.org/drawingml/2006/main">
                    <a:r>
                      <a:rPr sz="2100" b="1">
                        <a:solidFill>
                          <a:srgbClr val="1A5276"/>
                        </a:solidFill>
                        <a:latin typeface="Arial"/>
                        <a:ea typeface="Arial"/>
                        <a:cs typeface="Arial"/>
                      </a:rPr>
                      <a:t>Pc = 18</a:t>
                    </a:r>
                  </a:p>
                </c:rich>
              </c:tx>
              <c:txPr>
                <a:bodyPr xmlns:a="http://schemas.openxmlformats.org/drawingml/2006/main" anchorCtr="1"/>
                <a:lstStyle xmlns:a="http://schemas.openxmlformats.org/drawingml/2006/main"/>
                <a:p xmlns:a="http://schemas.openxmlformats.org/drawingml/2006/main">
                  <a:pPr>
                    <a:defRPr sz="2100" b="1">
                      <a:solidFill>
                        <a:srgbClr val="1A527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Data'!$U$2:$U$2</c:f>
              <c:numCache>
                <c:formatCode>General</c:formatCode>
                <c:ptCount val="1"/>
                <c:pt idx="0">
                  <c:v>28.8</c:v>
                </c:pt>
              </c:numCache>
            </c:numRef>
          </c:xVal>
          <c:yVal>
            <c:numRef>
              <c:f>'Chart Data'!$V$2:$V$2</c:f>
              <c:numCache>
                <c:formatCode>0</c:formatCode>
                <c:ptCount val="1"/>
                <c:pt idx="0">
                  <c:v>18.25</c:v>
                </c:pt>
              </c:numCache>
            </c:numRef>
          </c:yVal>
          <c:smooth val="0"/>
        </c:ser>
        <c:ser>
          <c:idx val="11"/>
          <c:order val="11"/>
          <c:tx>
            <c:v>Pp = 12</c:v>
          </c:tx>
          <c:spPr>
            <a:ln xmlns:a="http://schemas.openxmlformats.org/drawingml/2006/main" w="0">
              <a:noFill/>
            </a:ln>
          </c:spPr>
          <c:marker>
            <c:symbol val="none"/>
            <c:size val="8"/>
            <c:spPr>
              <a:solidFill xmlns:a="http://schemas.openxmlformats.org/drawingml/2006/main">
                <a:srgbClr val="1E7449"/>
              </a:solidFill>
            </c:spPr>
          </c:marker>
          <c:dLbls>
            <c:dLbl>
              <c:idx val="0"/>
              <c:tx>
                <c:rich>
                  <a:bodyPr xmlns:a="http://schemas.openxmlformats.org/drawingml/2006/main"/>
                  <a:lstStyle xmlns:a="http://schemas.openxmlformats.org/drawingml/2006/main"/>
                  <a:p xmlns:a="http://schemas.openxmlformats.org/drawingml/2006/main">
                    <a:r>
                      <a:rPr sz="2100" b="1">
                        <a:solidFill>
                          <a:srgbClr val="1E7449"/>
                        </a:solidFill>
                        <a:latin typeface="Arial"/>
                        <a:ea typeface="Arial"/>
                        <a:cs typeface="Arial"/>
                      </a:rPr>
                      <a:t>Pp = 12</a:t>
                    </a:r>
                  </a:p>
                </c:rich>
              </c:tx>
              <c:txPr>
                <a:bodyPr xmlns:a="http://schemas.openxmlformats.org/drawingml/2006/main" anchorCtr="1"/>
                <a:lstStyle xmlns:a="http://schemas.openxmlformats.org/drawingml/2006/main"/>
                <a:p xmlns:a="http://schemas.openxmlformats.org/drawingml/2006/main">
                  <a:pPr>
                    <a:defRPr sz="2100" b="1">
                      <a:solidFill>
                        <a:srgbClr val="1E7449"/>
                      </a:solidFill>
                      <a:latin typeface="Arial"/>
                      <a:ea typeface="Arial"/>
                      <a:cs typeface="Arial"/>
                    </a:defRPr>
                  </a:pPr>
                </a:p>
              </c:txPr>
              <c:dLblPos val="b"/>
              <c:showLegendKey val="0"/>
              <c:showVal val="0"/>
              <c:showCatName val="0"/>
              <c:showSerName val="0"/>
              <c:showPercent val="0"/>
              <c:showBubbleSize val="0"/>
            </c:dLbl>
            <c:showLegendKey val="0"/>
            <c:showVal val="0"/>
            <c:showCatName val="0"/>
            <c:showSerName val="0"/>
            <c:showPercent val="0"/>
            <c:showBubbleSize val="0"/>
          </c:dLbls>
          <c:xVal>
            <c:numRef>
              <c:f>'Chart Data'!$W$2:$W$2</c:f>
              <c:numCache>
                <c:formatCode>General</c:formatCode>
                <c:ptCount val="1"/>
                <c:pt idx="0">
                  <c:v>17.6</c:v>
                </c:pt>
              </c:numCache>
            </c:numRef>
          </c:xVal>
          <c:yVal>
            <c:numRef>
              <c:f>'Chart Data'!$X$2:$X$2</c:f>
              <c:numCache>
                <c:formatCode>0</c:formatCode>
                <c:ptCount val="1"/>
                <c:pt idx="0">
                  <c:v>12.25</c:v>
                </c:pt>
              </c:numCache>
            </c:numRef>
          </c:yVal>
          <c:smooth val="0"/>
        </c:ser>
        <c:ser>
          <c:idx val="12"/>
          <c:order val="12"/>
          <c:tx>
            <c:v>Qt = 60</c:v>
          </c:tx>
          <c:spPr>
            <a:ln xmlns:a="http://schemas.openxmlformats.org/drawingml/2006/main" w="0">
              <a:noFill/>
            </a:ln>
          </c:spPr>
          <c:marker>
            <c:symbol val="none"/>
            <c:size val="8"/>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Qt = 60</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Data'!$Y$2:$Y$2</c:f>
              <c:numCache>
                <c:formatCode>General</c:formatCode>
                <c:ptCount val="1"/>
                <c:pt idx="0">
                  <c:v>74.4</c:v>
                </c:pt>
              </c:numCache>
            </c:numRef>
          </c:xVal>
          <c:yVal>
            <c:numRef>
              <c:f>'Chart Data'!$Z$2:$Z$2</c:f>
              <c:numCache>
                <c:formatCode>0</c:formatCode>
                <c:ptCount val="1"/>
                <c:pt idx="0">
                  <c:v>0.2</c:v>
                </c:pt>
              </c:numCache>
            </c:numRef>
          </c:yVal>
          <c:smooth val="0"/>
        </c:ser>
        <c:ser>
          <c:idx val="13"/>
          <c:order val="13"/>
          <c:tx>
            <c:v>nieuw</c:v>
          </c:tx>
          <c:spPr>
            <a:ln xmlns:a="http://schemas.openxmlformats.org/drawingml/2006/main" w="0">
              <a:noFill/>
            </a:ln>
          </c:spPr>
          <c:marker>
            <c:symbol val="circle"/>
            <c:size val="8"/>
            <c:spPr>
              <a:solidFill xmlns:a="http://schemas.openxmlformats.org/drawingml/2006/main">
                <a:srgbClr val="183247"/>
              </a:solidFill>
            </c:spPr>
          </c:marker>
          <c:xVal>
            <c:numRef>
              <c:f>'Chart Data'!$AA$2:$AA$2</c:f>
              <c:numCache>
                <c:formatCode>General</c:formatCode>
                <c:ptCount val="1"/>
                <c:pt idx="0">
                  <c:v>60</c:v>
                </c:pt>
              </c:numCache>
            </c:numRef>
          </c:xVal>
          <c:yVal>
            <c:numRef>
              <c:f>'Chart Data'!$AB$2:$AB$2</c:f>
              <c:numCache>
                <c:formatCode>0</c:formatCode>
                <c:ptCount val="1"/>
                <c:pt idx="0">
                  <c:v>18</c:v>
                </c:pt>
              </c:numCache>
            </c:numRef>
          </c:yVal>
          <c:smooth val="0"/>
        </c:ser>
        <c:ser>
          <c:idx val="14"/>
          <c:order val="14"/>
          <c:tx>
            <c:v>ontvangst</c:v>
          </c:tx>
          <c:spPr>
            <a:ln xmlns:a="http://schemas.openxmlformats.org/drawingml/2006/main" w="0">
              <a:noFill/>
            </a:ln>
          </c:spPr>
          <c:marker>
            <c:symbol val="circle"/>
            <c:size val="8"/>
            <c:spPr>
              <a:solidFill xmlns:a="http://schemas.openxmlformats.org/drawingml/2006/main">
                <a:srgbClr val="183247"/>
              </a:solidFill>
            </c:spPr>
          </c:marker>
          <c:xVal>
            <c:numRef>
              <c:f>'Chart Data'!$AC$2:$AC$2</c:f>
              <c:numCache>
                <c:formatCode>General</c:formatCode>
                <c:ptCount val="1"/>
                <c:pt idx="0">
                  <c:v>60</c:v>
                </c:pt>
              </c:numCache>
            </c:numRef>
          </c:xVal>
          <c:yVal>
            <c:numRef>
              <c:f>'Chart Data'!$AD$2:$AD$2</c:f>
              <c:numCache>
                <c:formatCode>0</c:formatCode>
                <c:ptCount val="1"/>
                <c:pt idx="0">
                  <c:v>12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2"/>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100">
                    <a:solidFill>
                      <a:srgbClr val="183247"/>
                    </a:solidFill>
                    <a:latin typeface="Arial"/>
                    <a:ea typeface="Arial"/>
                    <a:cs typeface="Arial"/>
                  </a:rPr>
                  <a:t>P (€ per fietslampje)</a:t>
                </a:r>
              </a:p>
            </c:rich>
          </c:tx>
          <c:overlay val="0"/>
          <c:txPr>
            <a:bodyPr xmlns:a="http://schemas.openxmlformats.org/drawingml/2006/main" anchorCtr="1"/>
            <a:lstStyle xmlns:a="http://schemas.openxmlformats.org/drawingml/2006/main"/>
            <a:p xmlns:a="http://schemas.openxmlformats.org/drawingml/2006/main">
              <a:pPr>
                <a:defRPr sz="210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50112"/>
        <c:majorUnit val="4"/>
      </c:valAx>
      <c:valAx>
        <c:axId val="48650112"/>
        <c:scaling>
          <c:orientation val="minMax"/>
          <c:max val="160"/>
          <c:min val="0"/>
        </c:scaling>
        <c:delete val="0"/>
        <c:axPos val="b"/>
        <c:title>
          <c:tx>
            <c:rich>
              <a:bodyPr xmlns:a="http://schemas.openxmlformats.org/drawingml/2006/main"/>
              <a:lstStyle xmlns:a="http://schemas.openxmlformats.org/drawingml/2006/main"/>
              <a:p xmlns:a="http://schemas.openxmlformats.org/drawingml/2006/main">
                <a:r>
                  <a:rPr sz="2100">
                    <a:solidFill>
                      <a:srgbClr val="183247"/>
                    </a:solidFill>
                    <a:latin typeface="Arial"/>
                    <a:ea typeface="Arial"/>
                    <a:cs typeface="Arial"/>
                  </a:rPr>
                  <a:t>Q (fietslampjes per week)</a:t>
                </a:r>
              </a:p>
            </c:rich>
          </c:tx>
          <c:overlay val="0"/>
          <c:txPr>
            <a:bodyPr xmlns:a="http://schemas.openxmlformats.org/drawingml/2006/main" anchorCtr="1"/>
            <a:lstStyle xmlns:a="http://schemas.openxmlformats.org/drawingml/2006/main"/>
            <a:p xmlns:a="http://schemas.openxmlformats.org/drawingml/2006/main">
              <a:pPr>
                <a:defRPr sz="210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72768"/>
        <c:majorUnit val="4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28575">
              <a:solidFill>
                <a:srgbClr val="1A5276"/>
              </a:solidFill>
              <a:prstDash val="solid"/>
            </a:ln>
          </c:spPr>
          <c:marker>
            <c:symbol val="none"/>
          </c:marker>
          <c:xVal>
            <c:numRef>
              <c:f>'Chart Data'!$A$2:$A$3</c:f>
              <c:numCache>
                <c:formatCode>General</c:formatCode>
                <c:ptCount val="2"/>
                <c:pt idx="0">
                  <c:v>0</c:v>
                </c:pt>
                <c:pt idx="1">
                  <c:v>100</c:v>
                </c:pt>
              </c:numCache>
            </c:numRef>
          </c:xVal>
          <c:yVal>
            <c:numRef>
              <c:f>'Chart Data'!$B$2:$B$3</c:f>
              <c:numCache>
                <c:formatCode>0</c:formatCode>
                <c:ptCount val="2"/>
                <c:pt idx="0">
                  <c:v>20</c:v>
                </c:pt>
                <c:pt idx="1">
                  <c:v>0</c:v>
                </c:pt>
              </c:numCache>
            </c:numRef>
          </c:yVal>
          <c:smooth val="0"/>
        </c:ser>
        <c:ser>
          <c:idx val="1"/>
          <c:order val="1"/>
          <c:tx>
            <c:v>A</c:v>
          </c:tx>
          <c:spPr>
            <a:ln xmlns:a="http://schemas.openxmlformats.org/drawingml/2006/main" w="28575">
              <a:solidFill>
                <a:srgbClr val="1E7449"/>
              </a:solidFill>
              <a:prstDash val="solid"/>
            </a:ln>
          </c:spPr>
          <c:marker>
            <c:symbol val="none"/>
          </c:marker>
          <c:xVal>
            <c:numRef>
              <c:f>'Chart Data'!$C$2:$C$3</c:f>
              <c:numCache>
                <c:formatCode>General</c:formatCode>
                <c:ptCount val="2"/>
                <c:pt idx="0">
                  <c:v>0</c:v>
                </c:pt>
                <c:pt idx="1">
                  <c:v>100</c:v>
                </c:pt>
              </c:numCache>
            </c:numRef>
          </c:xVal>
          <c:yVal>
            <c:numRef>
              <c:f>'Chart Data'!$D$2:$D$3</c:f>
              <c:numCache>
                <c:formatCode>0</c:formatCode>
                <c:ptCount val="2"/>
                <c:pt idx="0">
                  <c:v>2</c:v>
                </c:pt>
                <c:pt idx="1">
                  <c:v>12</c:v>
                </c:pt>
              </c:numCache>
            </c:numRef>
          </c:yVal>
          <c:smooth val="0"/>
        </c:ser>
        <c:ser>
          <c:idx val="2"/>
          <c:order val="2"/>
          <c:tx>
            <c:v>V</c:v>
          </c:tx>
          <c:spPr>
            <a:ln xmlns:a="http://schemas.openxmlformats.org/drawingml/2006/main" w="0">
              <a:noFill/>
            </a:ln>
          </c:spPr>
          <c:marker>
            <c:symbol val="none"/>
            <c:size val="8"/>
            <c:spPr>
              <a:solidFill xmlns:a="http://schemas.openxmlformats.org/drawingml/2006/main">
                <a:srgbClr val="1A5276"/>
              </a:solidFill>
            </c:spPr>
          </c:marker>
          <c:dLbls>
            <c:dLbl>
              <c:idx val="0"/>
              <c:tx>
                <c:rich>
                  <a:bodyPr xmlns:a="http://schemas.openxmlformats.org/drawingml/2006/main"/>
                  <a:lstStyle xmlns:a="http://schemas.openxmlformats.org/drawingml/2006/main"/>
                  <a:p xmlns:a="http://schemas.openxmlformats.org/drawingml/2006/main">
                    <a:r>
                      <a:rPr sz="2100"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2100" b="1">
                      <a:solidFill>
                        <a:srgbClr val="1A527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Data'!$E$2:$E$2</c:f>
              <c:numCache>
                <c:formatCode>General</c:formatCode>
                <c:ptCount val="1"/>
                <c:pt idx="0">
                  <c:v>88</c:v>
                </c:pt>
              </c:numCache>
            </c:numRef>
          </c:xVal>
          <c:yVal>
            <c:numRef>
              <c:f>'Chart Data'!$F$2:$F$2</c:f>
              <c:numCache>
                <c:formatCode>0</c:formatCode>
                <c:ptCount val="1"/>
                <c:pt idx="0">
                  <c:v>2.4</c:v>
                </c:pt>
              </c:numCache>
            </c:numRef>
          </c:yVal>
          <c:smooth val="0"/>
        </c:ser>
        <c:ser>
          <c:idx val="3"/>
          <c:order val="3"/>
          <c:tx>
            <c:v>A</c:v>
          </c:tx>
          <c:spPr>
            <a:ln xmlns:a="http://schemas.openxmlformats.org/drawingml/2006/main" w="0">
              <a:noFill/>
            </a:ln>
          </c:spPr>
          <c:marker>
            <c:symbol val="none"/>
            <c:size val="8"/>
            <c:spPr>
              <a:solidFill xmlns:a="http://schemas.openxmlformats.org/drawingml/2006/main">
                <a:srgbClr val="1E7449"/>
              </a:solidFill>
            </c:spPr>
          </c:marker>
          <c:dLbls>
            <c:dLbl>
              <c:idx val="0"/>
              <c:tx>
                <c:rich>
                  <a:bodyPr xmlns:a="http://schemas.openxmlformats.org/drawingml/2006/main"/>
                  <a:lstStyle xmlns:a="http://schemas.openxmlformats.org/drawingml/2006/main"/>
                  <a:p xmlns:a="http://schemas.openxmlformats.org/drawingml/2006/main">
                    <a:r>
                      <a:rPr sz="2100" b="1">
                        <a:solidFill>
                          <a:srgbClr val="1E7449"/>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2100" b="1">
                      <a:solidFill>
                        <a:srgbClr val="1E7449"/>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89</c:v>
                </c:pt>
              </c:numCache>
            </c:numRef>
          </c:xVal>
          <c:yVal>
            <c:numRef>
              <c:f>'Chart Data'!$H$2:$H$2</c:f>
              <c:numCache>
                <c:formatCode>0</c:formatCode>
                <c:ptCount val="1"/>
                <c:pt idx="0">
                  <c:v>10.9</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2"/>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100">
                    <a:solidFill>
                      <a:srgbClr val="183247"/>
                    </a:solidFill>
                    <a:latin typeface="Arial"/>
                    <a:ea typeface="Arial"/>
                    <a:cs typeface="Arial"/>
                  </a:rPr>
                  <a:t>P (€ per tas)</a:t>
                </a:r>
              </a:p>
            </c:rich>
          </c:tx>
          <c:overlay val="0"/>
          <c:txPr>
            <a:bodyPr xmlns:a="http://schemas.openxmlformats.org/drawingml/2006/main" anchorCtr="1"/>
            <a:lstStyle xmlns:a="http://schemas.openxmlformats.org/drawingml/2006/main"/>
            <a:p xmlns:a="http://schemas.openxmlformats.org/drawingml/2006/main">
              <a:pPr>
                <a:defRPr sz="210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50112"/>
        <c:majorUnit val="5"/>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2100">
                    <a:solidFill>
                      <a:srgbClr val="183247"/>
                    </a:solidFill>
                    <a:latin typeface="Arial"/>
                    <a:ea typeface="Arial"/>
                    <a:cs typeface="Arial"/>
                  </a:rPr>
                  <a:t>Q (tassen per dag)</a:t>
                </a:r>
              </a:p>
            </c:rich>
          </c:tx>
          <c:overlay val="0"/>
          <c:txPr>
            <a:bodyPr xmlns:a="http://schemas.openxmlformats.org/drawingml/2006/main" anchorCtr="1"/>
            <a:lstStyle xmlns:a="http://schemas.openxmlformats.org/drawingml/2006/main"/>
            <a:p xmlns:a="http://schemas.openxmlformats.org/drawingml/2006/main">
              <a:pPr>
                <a:defRPr sz="210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28575">
              <a:solidFill>
                <a:srgbClr val="1A5276"/>
              </a:solidFill>
              <a:prstDash val="solid"/>
            </a:ln>
          </c:spPr>
          <c:marker>
            <c:symbol val="none"/>
          </c:marker>
          <c:xVal>
            <c:numRef>
              <c:f>'Chart Data'!$A$2:$A$3</c:f>
              <c:numCache>
                <c:formatCode>General</c:formatCode>
                <c:ptCount val="2"/>
                <c:pt idx="0">
                  <c:v>0</c:v>
                </c:pt>
                <c:pt idx="1">
                  <c:v>100</c:v>
                </c:pt>
              </c:numCache>
            </c:numRef>
          </c:xVal>
          <c:yVal>
            <c:numRef>
              <c:f>'Chart Data'!$B$2:$B$3</c:f>
              <c:numCache>
                <c:formatCode>0</c:formatCode>
                <c:ptCount val="2"/>
                <c:pt idx="0">
                  <c:v>20</c:v>
                </c:pt>
                <c:pt idx="1">
                  <c:v>0</c:v>
                </c:pt>
              </c:numCache>
            </c:numRef>
          </c:yVal>
          <c:smooth val="0"/>
        </c:ser>
        <c:ser>
          <c:idx val="1"/>
          <c:order val="1"/>
          <c:tx>
            <c:v>A</c:v>
          </c:tx>
          <c:spPr>
            <a:ln xmlns:a="http://schemas.openxmlformats.org/drawingml/2006/main" w="28575">
              <a:solidFill>
                <a:srgbClr val="1E7449"/>
              </a:solidFill>
              <a:prstDash val="solid"/>
            </a:ln>
          </c:spPr>
          <c:marker>
            <c:symbol val="none"/>
          </c:marker>
          <c:xVal>
            <c:numRef>
              <c:f>'Chart Data'!$C$2:$C$3</c:f>
              <c:numCache>
                <c:formatCode>General</c:formatCode>
                <c:ptCount val="2"/>
                <c:pt idx="0">
                  <c:v>0</c:v>
                </c:pt>
                <c:pt idx="1">
                  <c:v>100</c:v>
                </c:pt>
              </c:numCache>
            </c:numRef>
          </c:xVal>
          <c:yVal>
            <c:numRef>
              <c:f>'Chart Data'!$D$2:$D$3</c:f>
              <c:numCache>
                <c:formatCode>0</c:formatCode>
                <c:ptCount val="2"/>
                <c:pt idx="0">
                  <c:v>2</c:v>
                </c:pt>
                <c:pt idx="1">
                  <c:v>12</c:v>
                </c:pt>
              </c:numCache>
            </c:numRef>
          </c:yVal>
          <c:smooth val="0"/>
        </c:ser>
        <c:ser>
          <c:idx val="2"/>
          <c:order val="2"/>
          <c:tx>
            <c:v>V</c:v>
          </c:tx>
          <c:spPr>
            <a:ln xmlns:a="http://schemas.openxmlformats.org/drawingml/2006/main" w="0">
              <a:noFill/>
            </a:ln>
          </c:spPr>
          <c:marker>
            <c:symbol val="none"/>
            <c:size val="8"/>
            <c:spPr>
              <a:solidFill xmlns:a="http://schemas.openxmlformats.org/drawingml/2006/main">
                <a:srgbClr val="1A5276"/>
              </a:solidFill>
            </c:spPr>
          </c:marker>
          <c:dLbls>
            <c:dLbl>
              <c:idx val="0"/>
              <c:tx>
                <c:rich>
                  <a:bodyPr xmlns:a="http://schemas.openxmlformats.org/drawingml/2006/main"/>
                  <a:lstStyle xmlns:a="http://schemas.openxmlformats.org/drawingml/2006/main"/>
                  <a:p xmlns:a="http://schemas.openxmlformats.org/drawingml/2006/main">
                    <a:r>
                      <a:rPr sz="2100"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2100" b="1">
                      <a:solidFill>
                        <a:srgbClr val="1A527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Data'!$E$2:$E$2</c:f>
              <c:numCache>
                <c:formatCode>General</c:formatCode>
                <c:ptCount val="1"/>
                <c:pt idx="0">
                  <c:v>88</c:v>
                </c:pt>
              </c:numCache>
            </c:numRef>
          </c:xVal>
          <c:yVal>
            <c:numRef>
              <c:f>'Chart Data'!$F$2:$F$2</c:f>
              <c:numCache>
                <c:formatCode>0</c:formatCode>
                <c:ptCount val="1"/>
                <c:pt idx="0">
                  <c:v>2.4</c:v>
                </c:pt>
              </c:numCache>
            </c:numRef>
          </c:yVal>
          <c:smooth val="0"/>
        </c:ser>
        <c:ser>
          <c:idx val="3"/>
          <c:order val="3"/>
          <c:tx>
            <c:v>A</c:v>
          </c:tx>
          <c:spPr>
            <a:ln xmlns:a="http://schemas.openxmlformats.org/drawingml/2006/main" w="0">
              <a:noFill/>
            </a:ln>
          </c:spPr>
          <c:marker>
            <c:symbol val="none"/>
            <c:size val="8"/>
            <c:spPr>
              <a:solidFill xmlns:a="http://schemas.openxmlformats.org/drawingml/2006/main">
                <a:srgbClr val="1E7449"/>
              </a:solidFill>
            </c:spPr>
          </c:marker>
          <c:dLbls>
            <c:dLbl>
              <c:idx val="0"/>
              <c:tx>
                <c:rich>
                  <a:bodyPr xmlns:a="http://schemas.openxmlformats.org/drawingml/2006/main"/>
                  <a:lstStyle xmlns:a="http://schemas.openxmlformats.org/drawingml/2006/main"/>
                  <a:p xmlns:a="http://schemas.openxmlformats.org/drawingml/2006/main">
                    <a:r>
                      <a:rPr sz="2100" b="1">
                        <a:solidFill>
                          <a:srgbClr val="1E7449"/>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2100" b="1">
                      <a:solidFill>
                        <a:srgbClr val="1E7449"/>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89</c:v>
                </c:pt>
              </c:numCache>
            </c:numRef>
          </c:xVal>
          <c:yVal>
            <c:numRef>
              <c:f>'Chart Data'!$H$2:$H$2</c:f>
              <c:numCache>
                <c:formatCode>0</c:formatCode>
                <c:ptCount val="1"/>
                <c:pt idx="0">
                  <c:v>10.9</c:v>
                </c:pt>
              </c:numCache>
            </c:numRef>
          </c:yVal>
          <c:smooth val="0"/>
        </c:ser>
        <c:ser>
          <c:idx val="4"/>
          <c:order val="4"/>
          <c:tx>
            <c:v>A + t</c:v>
          </c:tx>
          <c:spPr>
            <a:ln xmlns:a="http://schemas.openxmlformats.org/drawingml/2006/main" w="28575">
              <a:solidFill>
                <a:srgbClr val="A94D16"/>
              </a:solidFill>
              <a:prstDash val="solid"/>
            </a:ln>
          </c:spPr>
          <c:marker>
            <c:symbol val="none"/>
          </c:marker>
          <c:xVal>
            <c:numRef>
              <c:f>'Chart Data'!$I$2:$I$3</c:f>
              <c:numCache>
                <c:formatCode>General</c:formatCode>
                <c:ptCount val="2"/>
                <c:pt idx="0">
                  <c:v>0</c:v>
                </c:pt>
                <c:pt idx="1">
                  <c:v>100</c:v>
                </c:pt>
              </c:numCache>
            </c:numRef>
          </c:xVal>
          <c:yVal>
            <c:numRef>
              <c:f>'Chart Data'!$J$2:$J$3</c:f>
              <c:numCache>
                <c:formatCode>0</c:formatCode>
                <c:ptCount val="2"/>
                <c:pt idx="0">
                  <c:v>5</c:v>
                </c:pt>
                <c:pt idx="1">
                  <c:v>15</c:v>
                </c:pt>
              </c:numCache>
            </c:numRef>
          </c:yVal>
          <c:smooth val="0"/>
        </c:ser>
        <c:ser>
          <c:idx val="5"/>
          <c:order val="5"/>
          <c:tx>
            <c:v>A + t</c:v>
          </c:tx>
          <c:spPr>
            <a:ln xmlns:a="http://schemas.openxmlformats.org/drawingml/2006/main" w="0">
              <a:noFill/>
            </a:ln>
          </c:spPr>
          <c:marker>
            <c:symbol val="none"/>
            <c:size val="8"/>
            <c:spPr>
              <a:solidFill xmlns:a="http://schemas.openxmlformats.org/drawingml/2006/main">
                <a:srgbClr val="A94D16"/>
              </a:solidFill>
            </c:spPr>
          </c:marker>
          <c:dLbls>
            <c:dLbl>
              <c:idx val="0"/>
              <c:tx>
                <c:rich>
                  <a:bodyPr xmlns:a="http://schemas.openxmlformats.org/drawingml/2006/main"/>
                  <a:lstStyle xmlns:a="http://schemas.openxmlformats.org/drawingml/2006/main"/>
                  <a:p xmlns:a="http://schemas.openxmlformats.org/drawingml/2006/main">
                    <a:r>
                      <a:rPr sz="2100" b="1">
                        <a:solidFill>
                          <a:srgbClr val="A94D16"/>
                        </a:solidFill>
                        <a:latin typeface="Arial"/>
                        <a:ea typeface="Arial"/>
                        <a:cs typeface="Arial"/>
                      </a:rPr>
                      <a:t>A + t</a:t>
                    </a:r>
                  </a:p>
                </c:rich>
              </c:tx>
              <c:txPr>
                <a:bodyPr xmlns:a="http://schemas.openxmlformats.org/drawingml/2006/main" anchorCtr="1"/>
                <a:lstStyle xmlns:a="http://schemas.openxmlformats.org/drawingml/2006/main"/>
                <a:p xmlns:a="http://schemas.openxmlformats.org/drawingml/2006/main">
                  <a:pPr>
                    <a:defRPr sz="2100"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Data'!$K$2:$K$2</c:f>
              <c:numCache>
                <c:formatCode>General</c:formatCode>
                <c:ptCount val="1"/>
                <c:pt idx="0">
                  <c:v>88</c:v>
                </c:pt>
              </c:numCache>
            </c:numRef>
          </c:xVal>
          <c:yVal>
            <c:numRef>
              <c:f>'Chart Data'!$L$2:$L$2</c:f>
              <c:numCache>
                <c:formatCode>0</c:formatCode>
                <c:ptCount val="1"/>
                <c:pt idx="0">
                  <c:v>13.8</c:v>
                </c:pt>
              </c:numCache>
            </c:numRef>
          </c:yVal>
          <c:smooth val="0"/>
        </c:ser>
        <c:ser>
          <c:idx val="6"/>
          <c:order val="6"/>
          <c:tx>
            <c:v>verschuiving bij gelijke kopersprijs</c:v>
          </c:tx>
          <c:spPr>
            <a:ln xmlns:a="http://schemas.openxmlformats.org/drawingml/2006/main" w="28575">
              <a:solidFill>
                <a:srgbClr val="A94D16"/>
              </a:solidFill>
              <a:prstDash val="solid"/>
            </a:ln>
          </c:spPr>
          <c:marker>
            <c:symbol val="none"/>
          </c:marker>
          <c:xVal>
            <c:numRef>
              <c:f>'Chart Data'!$M$2:$M$6</c:f>
              <c:numCache>
                <c:formatCode>General</c:formatCode>
                <c:ptCount val="5"/>
                <c:pt idx="0">
                  <c:v>90</c:v>
                </c:pt>
                <c:pt idx="1">
                  <c:v>60</c:v>
                </c:pt>
                <c:pt idx="2">
                  <c:v>62.5</c:v>
                </c:pt>
                <c:pt idx="3">
                  <c:v>60</c:v>
                </c:pt>
                <c:pt idx="4">
                  <c:v>62.5</c:v>
                </c:pt>
              </c:numCache>
            </c:numRef>
          </c:xVal>
          <c:yVal>
            <c:numRef>
              <c:f>'Chart Data'!$N$2:$N$6</c:f>
              <c:numCache>
                <c:formatCode>0</c:formatCode>
                <c:ptCount val="5"/>
                <c:pt idx="0">
                  <c:v>11</c:v>
                </c:pt>
                <c:pt idx="1">
                  <c:v>11</c:v>
                </c:pt>
                <c:pt idx="2">
                  <c:v>11.484</c:v>
                </c:pt>
                <c:pt idx="3">
                  <c:v>11</c:v>
                </c:pt>
                <c:pt idx="4">
                  <c:v>10.516</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2"/>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100">
                    <a:solidFill>
                      <a:srgbClr val="183247"/>
                    </a:solidFill>
                    <a:latin typeface="Arial"/>
                    <a:ea typeface="Arial"/>
                    <a:cs typeface="Arial"/>
                  </a:rPr>
                  <a:t>P (€ per tas)</a:t>
                </a:r>
              </a:p>
            </c:rich>
          </c:tx>
          <c:overlay val="0"/>
          <c:txPr>
            <a:bodyPr xmlns:a="http://schemas.openxmlformats.org/drawingml/2006/main" anchorCtr="1"/>
            <a:lstStyle xmlns:a="http://schemas.openxmlformats.org/drawingml/2006/main"/>
            <a:p xmlns:a="http://schemas.openxmlformats.org/drawingml/2006/main">
              <a:pPr>
                <a:defRPr sz="210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50112"/>
        <c:majorUnit val="5"/>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2100">
                    <a:solidFill>
                      <a:srgbClr val="183247"/>
                    </a:solidFill>
                    <a:latin typeface="Arial"/>
                    <a:ea typeface="Arial"/>
                    <a:cs typeface="Arial"/>
                  </a:rPr>
                  <a:t>Q (tassen per dag)</a:t>
                </a:r>
              </a:p>
            </c:rich>
          </c:tx>
          <c:overlay val="0"/>
          <c:txPr>
            <a:bodyPr xmlns:a="http://schemas.openxmlformats.org/drawingml/2006/main" anchorCtr="1"/>
            <a:lstStyle xmlns:a="http://schemas.openxmlformats.org/drawingml/2006/main"/>
            <a:p xmlns:a="http://schemas.openxmlformats.org/drawingml/2006/main">
              <a:pPr>
                <a:defRPr sz="210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28575">
              <a:solidFill>
                <a:srgbClr val="1A5276"/>
              </a:solidFill>
              <a:prstDash val="solid"/>
            </a:ln>
          </c:spPr>
          <c:marker>
            <c:symbol val="none"/>
          </c:marker>
          <c:xVal>
            <c:numRef>
              <c:f>'Chart Data'!$A$2:$A$3</c:f>
              <c:numCache>
                <c:formatCode>General</c:formatCode>
                <c:ptCount val="2"/>
                <c:pt idx="0">
                  <c:v>0</c:v>
                </c:pt>
                <c:pt idx="1">
                  <c:v>100</c:v>
                </c:pt>
              </c:numCache>
            </c:numRef>
          </c:xVal>
          <c:yVal>
            <c:numRef>
              <c:f>'Chart Data'!$B$2:$B$3</c:f>
              <c:numCache>
                <c:formatCode>0</c:formatCode>
                <c:ptCount val="2"/>
                <c:pt idx="0">
                  <c:v>20</c:v>
                </c:pt>
                <c:pt idx="1">
                  <c:v>0</c:v>
                </c:pt>
              </c:numCache>
            </c:numRef>
          </c:yVal>
          <c:smooth val="0"/>
        </c:ser>
        <c:ser>
          <c:idx val="1"/>
          <c:order val="1"/>
          <c:tx>
            <c:v>A</c:v>
          </c:tx>
          <c:spPr>
            <a:ln xmlns:a="http://schemas.openxmlformats.org/drawingml/2006/main" w="28575">
              <a:solidFill>
                <a:srgbClr val="1E7449"/>
              </a:solidFill>
              <a:prstDash val="solid"/>
            </a:ln>
          </c:spPr>
          <c:marker>
            <c:symbol val="none"/>
          </c:marker>
          <c:xVal>
            <c:numRef>
              <c:f>'Chart Data'!$C$2:$C$3</c:f>
              <c:numCache>
                <c:formatCode>General</c:formatCode>
                <c:ptCount val="2"/>
                <c:pt idx="0">
                  <c:v>0</c:v>
                </c:pt>
                <c:pt idx="1">
                  <c:v>100</c:v>
                </c:pt>
              </c:numCache>
            </c:numRef>
          </c:xVal>
          <c:yVal>
            <c:numRef>
              <c:f>'Chart Data'!$D$2:$D$3</c:f>
              <c:numCache>
                <c:formatCode>0</c:formatCode>
                <c:ptCount val="2"/>
                <c:pt idx="0">
                  <c:v>2</c:v>
                </c:pt>
                <c:pt idx="1">
                  <c:v>12</c:v>
                </c:pt>
              </c:numCache>
            </c:numRef>
          </c:yVal>
          <c:smooth val="0"/>
        </c:ser>
        <c:ser>
          <c:idx val="2"/>
          <c:order val="2"/>
          <c:tx>
            <c:v>V</c:v>
          </c:tx>
          <c:spPr>
            <a:ln xmlns:a="http://schemas.openxmlformats.org/drawingml/2006/main" w="0">
              <a:noFill/>
            </a:ln>
          </c:spPr>
          <c:marker>
            <c:symbol val="none"/>
            <c:size val="8"/>
            <c:spPr>
              <a:solidFill xmlns:a="http://schemas.openxmlformats.org/drawingml/2006/main">
                <a:srgbClr val="1A5276"/>
              </a:solidFill>
            </c:spPr>
          </c:marker>
          <c:dLbls>
            <c:dLbl>
              <c:idx val="0"/>
              <c:tx>
                <c:rich>
                  <a:bodyPr xmlns:a="http://schemas.openxmlformats.org/drawingml/2006/main"/>
                  <a:lstStyle xmlns:a="http://schemas.openxmlformats.org/drawingml/2006/main"/>
                  <a:p xmlns:a="http://schemas.openxmlformats.org/drawingml/2006/main">
                    <a:r>
                      <a:rPr sz="2100"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2100" b="1">
                      <a:solidFill>
                        <a:srgbClr val="1A527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Data'!$E$2:$E$2</c:f>
              <c:numCache>
                <c:formatCode>General</c:formatCode>
                <c:ptCount val="1"/>
                <c:pt idx="0">
                  <c:v>88</c:v>
                </c:pt>
              </c:numCache>
            </c:numRef>
          </c:xVal>
          <c:yVal>
            <c:numRef>
              <c:f>'Chart Data'!$F$2:$F$2</c:f>
              <c:numCache>
                <c:formatCode>0</c:formatCode>
                <c:ptCount val="1"/>
                <c:pt idx="0">
                  <c:v>2.4</c:v>
                </c:pt>
              </c:numCache>
            </c:numRef>
          </c:yVal>
          <c:smooth val="0"/>
        </c:ser>
        <c:ser>
          <c:idx val="3"/>
          <c:order val="3"/>
          <c:tx>
            <c:v>A</c:v>
          </c:tx>
          <c:spPr>
            <a:ln xmlns:a="http://schemas.openxmlformats.org/drawingml/2006/main" w="0">
              <a:noFill/>
            </a:ln>
          </c:spPr>
          <c:marker>
            <c:symbol val="none"/>
            <c:size val="8"/>
            <c:spPr>
              <a:solidFill xmlns:a="http://schemas.openxmlformats.org/drawingml/2006/main">
                <a:srgbClr val="1E7449"/>
              </a:solidFill>
            </c:spPr>
          </c:marker>
          <c:dLbls>
            <c:dLbl>
              <c:idx val="0"/>
              <c:tx>
                <c:rich>
                  <a:bodyPr xmlns:a="http://schemas.openxmlformats.org/drawingml/2006/main"/>
                  <a:lstStyle xmlns:a="http://schemas.openxmlformats.org/drawingml/2006/main"/>
                  <a:p xmlns:a="http://schemas.openxmlformats.org/drawingml/2006/main">
                    <a:r>
                      <a:rPr sz="2100" b="1">
                        <a:solidFill>
                          <a:srgbClr val="1E7449"/>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2100" b="1">
                      <a:solidFill>
                        <a:srgbClr val="1E7449"/>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89</c:v>
                </c:pt>
              </c:numCache>
            </c:numRef>
          </c:xVal>
          <c:yVal>
            <c:numRef>
              <c:f>'Chart Data'!$H$2:$H$2</c:f>
              <c:numCache>
                <c:formatCode>0</c:formatCode>
                <c:ptCount val="1"/>
                <c:pt idx="0">
                  <c:v>10.9</c:v>
                </c:pt>
              </c:numCache>
            </c:numRef>
          </c:yVal>
          <c:smooth val="0"/>
        </c:ser>
        <c:ser>
          <c:idx val="4"/>
          <c:order val="4"/>
          <c:tx>
            <c:v>A + t</c:v>
          </c:tx>
          <c:spPr>
            <a:ln xmlns:a="http://schemas.openxmlformats.org/drawingml/2006/main" w="28575">
              <a:solidFill>
                <a:srgbClr val="A94D16"/>
              </a:solidFill>
              <a:prstDash val="solid"/>
            </a:ln>
          </c:spPr>
          <c:marker>
            <c:symbol val="none"/>
          </c:marker>
          <c:xVal>
            <c:numRef>
              <c:f>'Chart Data'!$I$2:$I$3</c:f>
              <c:numCache>
                <c:formatCode>General</c:formatCode>
                <c:ptCount val="2"/>
                <c:pt idx="0">
                  <c:v>0</c:v>
                </c:pt>
                <c:pt idx="1">
                  <c:v>100</c:v>
                </c:pt>
              </c:numCache>
            </c:numRef>
          </c:xVal>
          <c:yVal>
            <c:numRef>
              <c:f>'Chart Data'!$J$2:$J$3</c:f>
              <c:numCache>
                <c:formatCode>0</c:formatCode>
                <c:ptCount val="2"/>
                <c:pt idx="0">
                  <c:v>5</c:v>
                </c:pt>
                <c:pt idx="1">
                  <c:v>15</c:v>
                </c:pt>
              </c:numCache>
            </c:numRef>
          </c:yVal>
          <c:smooth val="0"/>
        </c:ser>
        <c:ser>
          <c:idx val="5"/>
          <c:order val="5"/>
          <c:tx>
            <c:v>A + t</c:v>
          </c:tx>
          <c:spPr>
            <a:ln xmlns:a="http://schemas.openxmlformats.org/drawingml/2006/main" w="0">
              <a:noFill/>
            </a:ln>
          </c:spPr>
          <c:marker>
            <c:symbol val="none"/>
            <c:size val="8"/>
            <c:spPr>
              <a:solidFill xmlns:a="http://schemas.openxmlformats.org/drawingml/2006/main">
                <a:srgbClr val="A94D16"/>
              </a:solidFill>
            </c:spPr>
          </c:marker>
          <c:dLbls>
            <c:dLbl>
              <c:idx val="0"/>
              <c:tx>
                <c:rich>
                  <a:bodyPr xmlns:a="http://schemas.openxmlformats.org/drawingml/2006/main"/>
                  <a:lstStyle xmlns:a="http://schemas.openxmlformats.org/drawingml/2006/main"/>
                  <a:p xmlns:a="http://schemas.openxmlformats.org/drawingml/2006/main">
                    <a:r>
                      <a:rPr sz="2100" b="1">
                        <a:solidFill>
                          <a:srgbClr val="A94D16"/>
                        </a:solidFill>
                        <a:latin typeface="Arial"/>
                        <a:ea typeface="Arial"/>
                        <a:cs typeface="Arial"/>
                      </a:rPr>
                      <a:t>A + t</a:t>
                    </a:r>
                  </a:p>
                </c:rich>
              </c:tx>
              <c:txPr>
                <a:bodyPr xmlns:a="http://schemas.openxmlformats.org/drawingml/2006/main" anchorCtr="1"/>
                <a:lstStyle xmlns:a="http://schemas.openxmlformats.org/drawingml/2006/main"/>
                <a:p xmlns:a="http://schemas.openxmlformats.org/drawingml/2006/main">
                  <a:pPr>
                    <a:defRPr sz="2100"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Data'!$K$2:$K$2</c:f>
              <c:numCache>
                <c:formatCode>General</c:formatCode>
                <c:ptCount val="1"/>
                <c:pt idx="0">
                  <c:v>88</c:v>
                </c:pt>
              </c:numCache>
            </c:numRef>
          </c:xVal>
          <c:yVal>
            <c:numRef>
              <c:f>'Chart Data'!$L$2:$L$2</c:f>
              <c:numCache>
                <c:formatCode>0</c:formatCode>
                <c:ptCount val="1"/>
                <c:pt idx="0">
                  <c:v>13.8</c:v>
                </c:pt>
              </c:numCache>
            </c:numRef>
          </c:yVal>
          <c:smooth val="0"/>
        </c:ser>
        <c:ser>
          <c:idx val="6"/>
          <c:order val="6"/>
          <c:tx>
            <c:v>Pc hulplijn</c:v>
          </c:tx>
          <c:spPr>
            <a:ln xmlns:a="http://schemas.openxmlformats.org/drawingml/2006/main" w="19050">
              <a:solidFill>
                <a:srgbClr val="1A5276"/>
              </a:solidFill>
              <a:prstDash val="dash"/>
            </a:ln>
          </c:spPr>
          <c:marker>
            <c:symbol val="none"/>
          </c:marker>
          <c:xVal>
            <c:numRef>
              <c:f>'Chart Data'!$M$2:$M$3</c:f>
              <c:numCache>
                <c:formatCode>General</c:formatCode>
                <c:ptCount val="2"/>
                <c:pt idx="0">
                  <c:v>0</c:v>
                </c:pt>
                <c:pt idx="1">
                  <c:v>50</c:v>
                </c:pt>
              </c:numCache>
            </c:numRef>
          </c:xVal>
          <c:yVal>
            <c:numRef>
              <c:f>'Chart Data'!$N$2:$N$3</c:f>
              <c:numCache>
                <c:formatCode>0</c:formatCode>
                <c:ptCount val="2"/>
                <c:pt idx="0">
                  <c:v>10</c:v>
                </c:pt>
                <c:pt idx="1">
                  <c:v>10</c:v>
                </c:pt>
              </c:numCache>
            </c:numRef>
          </c:yVal>
          <c:smooth val="0"/>
        </c:ser>
        <c:ser>
          <c:idx val="7"/>
          <c:order val="7"/>
          <c:tx>
            <c:v>Pp hulplijn</c:v>
          </c:tx>
          <c:spPr>
            <a:ln xmlns:a="http://schemas.openxmlformats.org/drawingml/2006/main" w="19050">
              <a:solidFill>
                <a:srgbClr val="1E7449"/>
              </a:solidFill>
              <a:prstDash val="dash"/>
            </a:ln>
          </c:spPr>
          <c:marker>
            <c:symbol val="none"/>
          </c:marker>
          <c:xVal>
            <c:numRef>
              <c:f>'Chart Data'!$O$2:$O$3</c:f>
              <c:numCache>
                <c:formatCode>General</c:formatCode>
                <c:ptCount val="2"/>
                <c:pt idx="0">
                  <c:v>0</c:v>
                </c:pt>
                <c:pt idx="1">
                  <c:v>50</c:v>
                </c:pt>
              </c:numCache>
            </c:numRef>
          </c:xVal>
          <c:yVal>
            <c:numRef>
              <c:f>'Chart Data'!$P$2:$P$3</c:f>
              <c:numCache>
                <c:formatCode>0</c:formatCode>
                <c:ptCount val="2"/>
                <c:pt idx="0">
                  <c:v>7</c:v>
                </c:pt>
                <c:pt idx="1">
                  <c:v>7</c:v>
                </c:pt>
              </c:numCache>
            </c:numRef>
          </c:yVal>
          <c:smooth val="0"/>
        </c:ser>
        <c:ser>
          <c:idx val="8"/>
          <c:order val="8"/>
          <c:tx>
            <c:v>Qt hulplijn</c:v>
          </c:tx>
          <c:spPr>
            <a:ln xmlns:a="http://schemas.openxmlformats.org/drawingml/2006/main" w="19050">
              <a:solidFill>
                <a:srgbClr val="445B6B"/>
              </a:solidFill>
              <a:prstDash val="dash"/>
            </a:ln>
          </c:spPr>
          <c:marker>
            <c:symbol val="none"/>
          </c:marker>
          <c:xVal>
            <c:numRef>
              <c:f>'Chart Data'!$Q$2:$Q$3</c:f>
              <c:numCache>
                <c:formatCode>General</c:formatCode>
                <c:ptCount val="2"/>
                <c:pt idx="0">
                  <c:v>50</c:v>
                </c:pt>
                <c:pt idx="1">
                  <c:v>50</c:v>
                </c:pt>
              </c:numCache>
            </c:numRef>
          </c:xVal>
          <c:yVal>
            <c:numRef>
              <c:f>'Chart Data'!$R$2:$R$3</c:f>
              <c:numCache>
                <c:formatCode>0</c:formatCode>
                <c:ptCount val="2"/>
                <c:pt idx="0">
                  <c:v>0</c:v>
                </c:pt>
                <c:pt idx="1">
                  <c:v>7</c:v>
                </c:pt>
              </c:numCache>
            </c:numRef>
          </c:yVal>
          <c:smooth val="0"/>
        </c:ser>
        <c:ser>
          <c:idx val="9"/>
          <c:order val="9"/>
          <c:tx>
            <c:v>belastingwig</c:v>
          </c:tx>
          <c:spPr>
            <a:ln xmlns:a="http://schemas.openxmlformats.org/drawingml/2006/main" w="47625">
              <a:solidFill>
                <a:srgbClr val="A94D16"/>
              </a:solidFill>
              <a:prstDash val="solid"/>
            </a:ln>
          </c:spPr>
          <c:marker>
            <c:symbol val="none"/>
          </c:marker>
          <c:xVal>
            <c:numRef>
              <c:f>'Chart Data'!$S$2:$S$4</c:f>
              <c:numCache>
                <c:formatCode>General</c:formatCode>
                <c:ptCount val="3"/>
                <c:pt idx="0">
                  <c:v>50</c:v>
                </c:pt>
                <c:pt idx="1">
                  <c:v>50</c:v>
                </c:pt>
                <c:pt idx="2">
                  <c:v>50</c:v>
                </c:pt>
              </c:numCache>
            </c:numRef>
          </c:xVal>
          <c:yVal>
            <c:numRef>
              <c:f>'Chart Data'!$T$2:$T$4</c:f>
              <c:numCache>
                <c:formatCode>0</c:formatCode>
                <c:ptCount val="3"/>
                <c:pt idx="0">
                  <c:v>7</c:v>
                </c:pt>
                <c:pt idx="1">
                  <c:v>8.5</c:v>
                </c:pt>
                <c:pt idx="2">
                  <c:v>10</c:v>
                </c:pt>
              </c:numCache>
            </c:numRef>
          </c:yVal>
          <c:smooth val="0"/>
        </c:ser>
        <c:ser>
          <c:idx val="10"/>
          <c:order val="10"/>
          <c:tx>
            <c:v>Pc = 10</c:v>
          </c:tx>
          <c:spPr>
            <a:ln xmlns:a="http://schemas.openxmlformats.org/drawingml/2006/main" w="0">
              <a:noFill/>
            </a:ln>
          </c:spPr>
          <c:marker>
            <c:symbol val="none"/>
            <c:size val="8"/>
            <c:spPr>
              <a:solidFill xmlns:a="http://schemas.openxmlformats.org/drawingml/2006/main">
                <a:srgbClr val="1A5276"/>
              </a:solidFill>
            </c:spPr>
          </c:marker>
          <c:dLbls>
            <c:dLbl>
              <c:idx val="0"/>
              <c:tx>
                <c:rich>
                  <a:bodyPr xmlns:a="http://schemas.openxmlformats.org/drawingml/2006/main"/>
                  <a:lstStyle xmlns:a="http://schemas.openxmlformats.org/drawingml/2006/main"/>
                  <a:p xmlns:a="http://schemas.openxmlformats.org/drawingml/2006/main">
                    <a:r>
                      <a:rPr sz="2100" b="1">
                        <a:solidFill>
                          <a:srgbClr val="1A5276"/>
                        </a:solidFill>
                        <a:latin typeface="Arial"/>
                        <a:ea typeface="Arial"/>
                        <a:cs typeface="Arial"/>
                      </a:rPr>
                      <a:t>Pc = 10</a:t>
                    </a:r>
                  </a:p>
                </c:rich>
              </c:tx>
              <c:txPr>
                <a:bodyPr xmlns:a="http://schemas.openxmlformats.org/drawingml/2006/main" anchorCtr="1"/>
                <a:lstStyle xmlns:a="http://schemas.openxmlformats.org/drawingml/2006/main"/>
                <a:p xmlns:a="http://schemas.openxmlformats.org/drawingml/2006/main">
                  <a:pPr>
                    <a:defRPr sz="2100" b="1">
                      <a:solidFill>
                        <a:srgbClr val="1A527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Data'!$U$2:$U$2</c:f>
              <c:numCache>
                <c:formatCode>General</c:formatCode>
                <c:ptCount val="1"/>
                <c:pt idx="0">
                  <c:v>18</c:v>
                </c:pt>
              </c:numCache>
            </c:numRef>
          </c:xVal>
          <c:yVal>
            <c:numRef>
              <c:f>'Chart Data'!$V$2:$V$2</c:f>
              <c:numCache>
                <c:formatCode>0</c:formatCode>
                <c:ptCount val="1"/>
                <c:pt idx="0">
                  <c:v>10.25</c:v>
                </c:pt>
              </c:numCache>
            </c:numRef>
          </c:yVal>
          <c:smooth val="0"/>
        </c:ser>
        <c:ser>
          <c:idx val="11"/>
          <c:order val="11"/>
          <c:tx>
            <c:v>Pp = 7</c:v>
          </c:tx>
          <c:spPr>
            <a:ln xmlns:a="http://schemas.openxmlformats.org/drawingml/2006/main" w="0">
              <a:noFill/>
            </a:ln>
          </c:spPr>
          <c:marker>
            <c:symbol val="none"/>
            <c:size val="8"/>
            <c:spPr>
              <a:solidFill xmlns:a="http://schemas.openxmlformats.org/drawingml/2006/main">
                <a:srgbClr val="1E7449"/>
              </a:solidFill>
            </c:spPr>
          </c:marker>
          <c:dLbls>
            <c:dLbl>
              <c:idx val="0"/>
              <c:tx>
                <c:rich>
                  <a:bodyPr xmlns:a="http://schemas.openxmlformats.org/drawingml/2006/main"/>
                  <a:lstStyle xmlns:a="http://schemas.openxmlformats.org/drawingml/2006/main"/>
                  <a:p xmlns:a="http://schemas.openxmlformats.org/drawingml/2006/main">
                    <a:r>
                      <a:rPr sz="2100" b="1">
                        <a:solidFill>
                          <a:srgbClr val="1E7449"/>
                        </a:solidFill>
                        <a:latin typeface="Arial"/>
                        <a:ea typeface="Arial"/>
                        <a:cs typeface="Arial"/>
                      </a:rPr>
                      <a:t>Pp = 7</a:t>
                    </a:r>
                  </a:p>
                </c:rich>
              </c:tx>
              <c:txPr>
                <a:bodyPr xmlns:a="http://schemas.openxmlformats.org/drawingml/2006/main" anchorCtr="1"/>
                <a:lstStyle xmlns:a="http://schemas.openxmlformats.org/drawingml/2006/main"/>
                <a:p xmlns:a="http://schemas.openxmlformats.org/drawingml/2006/main">
                  <a:pPr>
                    <a:defRPr sz="2100" b="1">
                      <a:solidFill>
                        <a:srgbClr val="1E7449"/>
                      </a:solidFill>
                      <a:latin typeface="Arial"/>
                      <a:ea typeface="Arial"/>
                      <a:cs typeface="Arial"/>
                    </a:defRPr>
                  </a:pPr>
                </a:p>
              </c:txPr>
              <c:dLblPos val="b"/>
              <c:showLegendKey val="0"/>
              <c:showVal val="0"/>
              <c:showCatName val="0"/>
              <c:showSerName val="0"/>
              <c:showPercent val="0"/>
              <c:showBubbleSize val="0"/>
            </c:dLbl>
            <c:showLegendKey val="0"/>
            <c:showVal val="0"/>
            <c:showCatName val="0"/>
            <c:showSerName val="0"/>
            <c:showPercent val="0"/>
            <c:showBubbleSize val="0"/>
          </c:dLbls>
          <c:xVal>
            <c:numRef>
              <c:f>'Chart Data'!$W$2:$W$2</c:f>
              <c:numCache>
                <c:formatCode>General</c:formatCode>
                <c:ptCount val="1"/>
                <c:pt idx="0">
                  <c:v>18</c:v>
                </c:pt>
              </c:numCache>
            </c:numRef>
          </c:xVal>
          <c:yVal>
            <c:numRef>
              <c:f>'Chart Data'!$X$2:$X$2</c:f>
              <c:numCache>
                <c:formatCode>0</c:formatCode>
                <c:ptCount val="1"/>
                <c:pt idx="0">
                  <c:v>7.25</c:v>
                </c:pt>
              </c:numCache>
            </c:numRef>
          </c:yVal>
          <c:smooth val="0"/>
        </c:ser>
        <c:ser>
          <c:idx val="12"/>
          <c:order val="12"/>
          <c:tx>
            <c:v>Qt = 50</c:v>
          </c:tx>
          <c:spPr>
            <a:ln xmlns:a="http://schemas.openxmlformats.org/drawingml/2006/main" w="0">
              <a:noFill/>
            </a:ln>
          </c:spPr>
          <c:marker>
            <c:symbol val="none"/>
            <c:size val="8"/>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Qt = 50</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Data'!$Y$2:$Y$2</c:f>
              <c:numCache>
                <c:formatCode>General</c:formatCode>
                <c:ptCount val="1"/>
                <c:pt idx="0">
                  <c:v>59</c:v>
                </c:pt>
              </c:numCache>
            </c:numRef>
          </c:xVal>
          <c:yVal>
            <c:numRef>
              <c:f>'Chart Data'!$Z$2:$Z$2</c:f>
              <c:numCache>
                <c:formatCode>0</c:formatCode>
                <c:ptCount val="1"/>
                <c:pt idx="0">
                  <c:v>0.2</c:v>
                </c:pt>
              </c:numCache>
            </c:numRef>
          </c:yVal>
          <c:smooth val="0"/>
        </c:ser>
        <c:ser>
          <c:idx val="13"/>
          <c:order val="13"/>
          <c:tx>
            <c:v>nieuw</c:v>
          </c:tx>
          <c:spPr>
            <a:ln xmlns:a="http://schemas.openxmlformats.org/drawingml/2006/main" w="0">
              <a:noFill/>
            </a:ln>
          </c:spPr>
          <c:marker>
            <c:symbol val="circle"/>
            <c:size val="8"/>
            <c:spPr>
              <a:solidFill xmlns:a="http://schemas.openxmlformats.org/drawingml/2006/main">
                <a:srgbClr val="183247"/>
              </a:solidFill>
            </c:spPr>
          </c:marker>
          <c:xVal>
            <c:numRef>
              <c:f>'Chart Data'!$AA$2:$AA$2</c:f>
              <c:numCache>
                <c:formatCode>General</c:formatCode>
                <c:ptCount val="1"/>
                <c:pt idx="0">
                  <c:v>50</c:v>
                </c:pt>
              </c:numCache>
            </c:numRef>
          </c:xVal>
          <c:yVal>
            <c:numRef>
              <c:f>'Chart Data'!$AB$2:$AB$2</c:f>
              <c:numCache>
                <c:formatCode>0</c:formatCode>
                <c:ptCount val="1"/>
                <c:pt idx="0">
                  <c:v>10</c:v>
                </c:pt>
              </c:numCache>
            </c:numRef>
          </c:yVal>
          <c:smooth val="0"/>
        </c:ser>
        <c:ser>
          <c:idx val="14"/>
          <c:order val="14"/>
          <c:tx>
            <c:v>ontvangst</c:v>
          </c:tx>
          <c:spPr>
            <a:ln xmlns:a="http://schemas.openxmlformats.org/drawingml/2006/main" w="0">
              <a:noFill/>
            </a:ln>
          </c:spPr>
          <c:marker>
            <c:symbol val="circle"/>
            <c:size val="8"/>
            <c:spPr>
              <a:solidFill xmlns:a="http://schemas.openxmlformats.org/drawingml/2006/main">
                <a:srgbClr val="183247"/>
              </a:solidFill>
            </c:spPr>
          </c:marker>
          <c:xVal>
            <c:numRef>
              <c:f>'Chart Data'!$AC$2:$AC$2</c:f>
              <c:numCache>
                <c:formatCode>General</c:formatCode>
                <c:ptCount val="1"/>
                <c:pt idx="0">
                  <c:v>50</c:v>
                </c:pt>
              </c:numCache>
            </c:numRef>
          </c:xVal>
          <c:yVal>
            <c:numRef>
              <c:f>'Chart Data'!$AD$2:$AD$2</c:f>
              <c:numCache>
                <c:formatCode>0</c:formatCode>
                <c:ptCount val="1"/>
                <c:pt idx="0">
                  <c:v>7</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2"/>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100">
                    <a:solidFill>
                      <a:srgbClr val="183247"/>
                    </a:solidFill>
                    <a:latin typeface="Arial"/>
                    <a:ea typeface="Arial"/>
                    <a:cs typeface="Arial"/>
                  </a:rPr>
                  <a:t>P (€ per tas)</a:t>
                </a:r>
              </a:p>
            </c:rich>
          </c:tx>
          <c:overlay val="0"/>
          <c:txPr>
            <a:bodyPr xmlns:a="http://schemas.openxmlformats.org/drawingml/2006/main" anchorCtr="1"/>
            <a:lstStyle xmlns:a="http://schemas.openxmlformats.org/drawingml/2006/main"/>
            <a:p xmlns:a="http://schemas.openxmlformats.org/drawingml/2006/main">
              <a:pPr>
                <a:defRPr sz="210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50112"/>
        <c:majorUnit val="5"/>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2100">
                    <a:solidFill>
                      <a:srgbClr val="183247"/>
                    </a:solidFill>
                    <a:latin typeface="Arial"/>
                    <a:ea typeface="Arial"/>
                    <a:cs typeface="Arial"/>
                  </a:rPr>
                  <a:t>Q (tassen per dag)</a:t>
                </a:r>
              </a:p>
            </c:rich>
          </c:tx>
          <c:overlay val="0"/>
          <c:txPr>
            <a:bodyPr xmlns:a="http://schemas.openxmlformats.org/drawingml/2006/main" anchorCtr="1"/>
            <a:lstStyle xmlns:a="http://schemas.openxmlformats.org/drawingml/2006/main"/>
            <a:p xmlns:a="http://schemas.openxmlformats.org/drawingml/2006/main">
              <a:pPr>
                <a:defRPr sz="210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3.1.1 Eén product, twee prijzen">
            <a:extLst xmlns:a="http://schemas.openxmlformats.org/drawingml/2006/main">
              <a:ext uri="{FF2B5EF4-FFF2-40B4-BE49-F238E27FC236}">
                <a16:creationId xmlns:a16="http://schemas.microsoft.com/office/drawing/2014/main" id="{59025BA0-A6D4-4023-904B-7D8240F62ECA}"/>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Deze les: §3.1.1 Eén product, twee prijzen</a:t>
            </a:r>
          </a:p>
        </p:txBody>
      </p:sp>
      <p:sp>
        <p:nvSpPr>
          <p:cNvPr id="2" name="">
            <a:extLst xmlns:a="http://schemas.openxmlformats.org/drawingml/2006/main">
              <a:ext uri="{FF2B5EF4-FFF2-40B4-BE49-F238E27FC236}">
                <a16:creationId xmlns:a16="http://schemas.microsoft.com/office/drawing/2014/main" id="{816BE6C5-6E04-47E0-B6EC-C546010BB94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1 Eén product, twee prijzen">
            <a:extLst xmlns:a="http://schemas.openxmlformats.org/drawingml/2006/main">
              <a:ext uri="{FF2B5EF4-FFF2-40B4-BE49-F238E27FC236}">
                <a16:creationId xmlns:a16="http://schemas.microsoft.com/office/drawing/2014/main" id="{443343AB-750A-4DF7-9559-37347CF58F94}"/>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§3.1.1 Eén product, twee prijzen</a:t>
            </a:r>
          </a:p>
        </p:txBody>
      </p:sp>
      <p:sp>
        <p:nvSpPr>
          <p:cNvPr id="4" name="1">
            <a:extLst xmlns:a="http://schemas.openxmlformats.org/drawingml/2006/main">
              <a:ext uri="{FF2B5EF4-FFF2-40B4-BE49-F238E27FC236}">
                <a16:creationId xmlns:a16="http://schemas.microsoft.com/office/drawing/2014/main" id="{43E376D6-14DC-436E-96D2-D7B2583C1F2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2A4291FE-1D16-492C-B3F6-7B6433658231}"/>
              </a:ext>
            </a:extLst>
          </p:cNvPr>
          <p:cNvSpPr>
            <a:spLocks xmlns:a="http://schemas.openxmlformats.org/drawingml/2006/main" noGrp="1"/>
          </p:cNvSpPr>
          <p:nvPr/>
        </p:nvSpPr>
        <p:spPr>
          <a:xfrm xmlns:a="http://schemas.openxmlformats.org/drawingml/2006/main">
            <a:off x="571500" y="1066800"/>
            <a:ext cx="13906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A8FE315E-67A5-4253-B711-7F2E8CBB871C}"/>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0">
            <a:extLst xmlns:a="http://schemas.openxmlformats.org/drawingml/2006/main">
              <a:ext uri="{FF2B5EF4-FFF2-40B4-BE49-F238E27FC236}">
                <a16:creationId xmlns:a16="http://schemas.microsoft.com/office/drawing/2014/main" id="{32D14411-E63F-4005-AC58-C4A9996763ED}"/>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0">
            <a:extLst xmlns:a="http://schemas.openxmlformats.org/drawingml/2006/main">
              <a:ext uri="{FF2B5EF4-FFF2-40B4-BE49-F238E27FC236}">
                <a16:creationId xmlns:a16="http://schemas.microsoft.com/office/drawing/2014/main" id="{EB5EFE47-F824-44F1-84DE-3F6DE4347BD6}"/>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1">
            <a:extLst xmlns:a="http://schemas.openxmlformats.org/drawingml/2006/main">
              <a:ext uri="{FF2B5EF4-FFF2-40B4-BE49-F238E27FC236}">
                <a16:creationId xmlns:a16="http://schemas.microsoft.com/office/drawing/2014/main" id="{513331DA-B9AC-44FF-96AA-39709EF9BEB9}"/>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2.</a:t>
            </a:r>
          </a:p>
        </p:txBody>
      </p:sp>
      <p:sp>
        <p:nvSpPr>
          <p:cNvPr id="10" name="route-1">
            <a:extLst xmlns:a="http://schemas.openxmlformats.org/drawingml/2006/main">
              <a:ext uri="{FF2B5EF4-FFF2-40B4-BE49-F238E27FC236}">
                <a16:creationId xmlns:a16="http://schemas.microsoft.com/office/drawing/2014/main" id="{BE3DB6DE-72CF-43E7-82D5-CCAFD9D82D3A}"/>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Maak de startopdracht.</a:t>
            </a:r>
          </a:p>
        </p:txBody>
      </p:sp>
      <p:sp>
        <p:nvSpPr>
          <p:cNvPr id="11" name="route-number-2">
            <a:extLst xmlns:a="http://schemas.openxmlformats.org/drawingml/2006/main">
              <a:ext uri="{FF2B5EF4-FFF2-40B4-BE49-F238E27FC236}">
                <a16:creationId xmlns:a16="http://schemas.microsoft.com/office/drawing/2014/main" id="{C36F45C9-43AA-4C0D-9D33-871CC91CB821}"/>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2">
            <a:extLst xmlns:a="http://schemas.openxmlformats.org/drawingml/2006/main">
              <a:ext uri="{FF2B5EF4-FFF2-40B4-BE49-F238E27FC236}">
                <a16:creationId xmlns:a16="http://schemas.microsoft.com/office/drawing/2014/main" id="{6221768F-2E28-47AD-B851-56FD03744740}"/>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3">
            <a:extLst xmlns:a="http://schemas.openxmlformats.org/drawingml/2006/main">
              <a:ext uri="{FF2B5EF4-FFF2-40B4-BE49-F238E27FC236}">
                <a16:creationId xmlns:a16="http://schemas.microsoft.com/office/drawing/2014/main" id="{680BB387-D03D-44CD-AF3B-3776685BBDD4}"/>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3">
            <a:extLst xmlns:a="http://schemas.openxmlformats.org/drawingml/2006/main">
              <a:ext uri="{FF2B5EF4-FFF2-40B4-BE49-F238E27FC236}">
                <a16:creationId xmlns:a16="http://schemas.microsoft.com/office/drawing/2014/main" id="{2F08248E-2BDC-43AA-97EF-97F3787F3ECE}"/>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4">
            <a:extLst xmlns:a="http://schemas.openxmlformats.org/drawingml/2006/main">
              <a:ext uri="{FF2B5EF4-FFF2-40B4-BE49-F238E27FC236}">
                <a16:creationId xmlns:a16="http://schemas.microsoft.com/office/drawing/2014/main" id="{D0B225AA-5988-402C-94D6-ACCE602793D7}"/>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4">
            <a:extLst xmlns:a="http://schemas.openxmlformats.org/drawingml/2006/main">
              <a:ext uri="{FF2B5EF4-FFF2-40B4-BE49-F238E27FC236}">
                <a16:creationId xmlns:a16="http://schemas.microsoft.com/office/drawing/2014/main" id="{57CDD235-31A4-4280-9372-E3C8DE4CBE87}"/>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5">
            <a:extLst xmlns:a="http://schemas.openxmlformats.org/drawingml/2006/main">
              <a:ext uri="{FF2B5EF4-FFF2-40B4-BE49-F238E27FC236}">
                <a16:creationId xmlns:a16="http://schemas.microsoft.com/office/drawing/2014/main" id="{B6771C47-F71B-4759-89CB-5771C32BF8DC}"/>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5">
            <a:extLst xmlns:a="http://schemas.openxmlformats.org/drawingml/2006/main">
              <a:ext uri="{FF2B5EF4-FFF2-40B4-BE49-F238E27FC236}">
                <a16:creationId xmlns:a16="http://schemas.microsoft.com/office/drawing/2014/main" id="{81723622-A79E-42D1-959D-3F6E3F2F9C0E}"/>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7.</a:t>
            </a:r>
          </a:p>
        </p:txBody>
      </p:sp>
      <p:sp>
        <p:nvSpPr>
          <p:cNvPr id="19" name="route-number-6">
            <a:extLst xmlns:a="http://schemas.openxmlformats.org/drawingml/2006/main">
              <a:ext uri="{FF2B5EF4-FFF2-40B4-BE49-F238E27FC236}">
                <a16:creationId xmlns:a16="http://schemas.microsoft.com/office/drawing/2014/main" id="{F75CDC34-13C3-4006-81BC-3605D093F4ED}"/>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6">
            <a:extLst xmlns:a="http://schemas.openxmlformats.org/drawingml/2006/main">
              <a:ext uri="{FF2B5EF4-FFF2-40B4-BE49-F238E27FC236}">
                <a16:creationId xmlns:a16="http://schemas.microsoft.com/office/drawing/2014/main" id="{16758CC7-A25F-4B27-9343-F86160F26C2F}"/>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4DEBA109-E2DA-4840-A3C5-B789695C1CBE}"/>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E662E33C-6399-403D-9F9E-A0D78E86C25B}"/>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Evenwicht en twee prijzen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De belastingwig tekenen.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Afdragen en last dragen uitleggen.</a:t>
            </a:r>
          </a:p>
        </p:txBody>
      </p:sp>
      <p:sp>
        <p:nvSpPr>
          <p:cNvPr id="23" name="">
            <a:extLst xmlns:a="http://schemas.openxmlformats.org/drawingml/2006/main">
              <a:ext uri="{FF2B5EF4-FFF2-40B4-BE49-F238E27FC236}">
                <a16:creationId xmlns:a16="http://schemas.microsoft.com/office/drawing/2014/main" id="{7A51D3B5-A9CB-46DA-B572-8F2310AB679C}"/>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FD0A0457-939C-41B3-908F-ED48391D213C}"/>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8C8532CF-8C63-4FB3-B937-466C9C3BCA86}"/>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Pagina 9 · Opgaven 1 en 2</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 verkennen, theorie p. 6–9</a:t>
            </a:r>
          </a:p>
        </p:txBody>
      </p:sp>
      <p:sp>
        <p:nvSpPr>
          <p:cNvPr id="26" name="">
            <a:extLst xmlns:a="http://schemas.openxmlformats.org/drawingml/2006/main">
              <a:ext uri="{FF2B5EF4-FFF2-40B4-BE49-F238E27FC236}">
                <a16:creationId xmlns:a16="http://schemas.microsoft.com/office/drawing/2014/main" id="{2EEFC444-22F6-4723-B4FF-9444EB49D828}"/>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19AB3840-A545-46E6-BA9E-85315A226EDF}"/>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87C02C57-5ABA-486E-8790-13FD348AB0F5}"/>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§3.1.1</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en 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5 en 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08962149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Wat kun je na deze les?">
            <a:extLst xmlns:a="http://schemas.openxmlformats.org/drawingml/2006/main">
              <a:ext uri="{FF2B5EF4-FFF2-40B4-BE49-F238E27FC236}">
                <a16:creationId xmlns:a16="http://schemas.microsoft.com/office/drawing/2014/main" id="{B486F58A-FB19-41CD-A2A9-28EB9504370F}"/>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Wat kun je na deze les?</a:t>
            </a:r>
          </a:p>
        </p:txBody>
      </p:sp>
      <p:sp>
        <p:nvSpPr>
          <p:cNvPr id="2" name="">
            <a:extLst xmlns:a="http://schemas.openxmlformats.org/drawingml/2006/main">
              <a:ext uri="{FF2B5EF4-FFF2-40B4-BE49-F238E27FC236}">
                <a16:creationId xmlns:a16="http://schemas.microsoft.com/office/drawing/2014/main" id="{1980F221-3DA3-4E3A-B82A-6AA37D7E915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1 Eén product, twee prijzen">
            <a:extLst xmlns:a="http://schemas.openxmlformats.org/drawingml/2006/main">
              <a:ext uri="{FF2B5EF4-FFF2-40B4-BE49-F238E27FC236}">
                <a16:creationId xmlns:a16="http://schemas.microsoft.com/office/drawing/2014/main" id="{7DE2F422-C99D-4333-A9A3-AC3769D40768}"/>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§3.1.1 Eén product, twee prijzen</a:t>
            </a:r>
          </a:p>
        </p:txBody>
      </p:sp>
      <p:sp>
        <p:nvSpPr>
          <p:cNvPr id="4" name="2">
            <a:extLst xmlns:a="http://schemas.openxmlformats.org/drawingml/2006/main">
              <a:ext uri="{FF2B5EF4-FFF2-40B4-BE49-F238E27FC236}">
                <a16:creationId xmlns:a16="http://schemas.microsoft.com/office/drawing/2014/main" id="{81497FAA-ADD8-40D2-B99A-67A5CC0BAEC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graphicFrame>
        <p:nvGraphicFramePr>
          <p:cNvPr id="11" name=""/>
          <p:cNvGraphicFramePr/>
          <p:nvPr/>
        </p:nvGraphicFramePr>
        <p:xfrm>
          <a:off xmlns:a="http://schemas.openxmlformats.org/drawingml/2006/main" x="571500" y="2143125"/>
          <a:ext xmlns:a="http://schemas.openxmlformats.org/drawingml/2006/main" cx="14097000" cy="3429000"/>
        </p:xfrm>
        <a:graphic xmlns:a="http://schemas.openxmlformats.org/drawingml/2006/main">
          <a:graphicData uri="http://schemas.openxmlformats.org/drawingml/2006/table">
            <a:tbl>
              <a:tblPr/>
              <a:tblGrid>
                <a:gridCol w="8477250"/>
                <a:gridCol w="5619750"/>
              </a:tblGrid>
              <a:tr h="857250">
                <a:tc>
                  <a:txBody>
                    <a:bodyPr lIns="171450" tIns="95250" rIns="133350" bIns="95250"/>
                    <a:lstStyle/>
                    <a:p>
                      <a:r>
                        <a:rPr sz="2550" b="1">
                          <a:solidFill>
                            <a:srgbClr val="FFFFFF"/>
                          </a:solidFill>
                          <a:latin typeface="Arial"/>
                          <a:ea typeface="Arial"/>
                          <a:cs typeface="Arial"/>
                        </a:rPr>
                        <a:t>Je leert</a:t>
                      </a:r>
                    </a:p>
                  </a:txBody>
                  <a:tcPr marL="91440" marR="91440" marT="45720" marB="45720" anchor="ctr">
                    <a:solidFill>
                      <a:srgbClr val="183247"/>
                    </a:solidFill>
                  </a:tcPr>
                </a:tc>
                <a:tc>
                  <a:txBody>
                    <a:bodyPr lIns="171450" tIns="95250" rIns="133350" bIns="95250"/>
                    <a:lstStyle/>
                    <a:p>
                      <a:r>
                        <a:rPr sz="2550" b="1">
                          <a:solidFill>
                            <a:srgbClr val="FFFFFF"/>
                          </a:solidFill>
                          <a:latin typeface="Arial"/>
                          <a:ea typeface="Arial"/>
                          <a:cs typeface="Arial"/>
                        </a:rPr>
                        <a:t>Je gebruikt al</a:t>
                      </a:r>
                    </a:p>
                  </a:txBody>
                  <a:tcPr marL="91440" marR="91440" marT="45720" marB="45720" anchor="ctr">
                    <a:solidFill>
                      <a:srgbClr val="183247"/>
                    </a:solidFill>
                  </a:tcPr>
                </a:tc>
              </a:tr>
              <a:tr h="857250">
                <a:tc>
                  <a:txBody>
                    <a:bodyPr lIns="171450" tIns="95250" rIns="133350" bIns="95250"/>
                    <a:lstStyle/>
                    <a:p>
                      <a:r>
                        <a:rPr sz="2550" b="0">
                          <a:solidFill>
                            <a:srgbClr val="183247"/>
                          </a:solidFill>
                          <a:latin typeface="Arial"/>
                          <a:ea typeface="Arial"/>
                          <a:cs typeface="Arial"/>
                        </a:rPr>
                        <a:t>Het vrije en nieuwe evenwicht berekenen</a:t>
                      </a:r>
                    </a:p>
                  </a:txBody>
                  <a:tcPr marL="91440" marR="91440" marT="45720" marB="45720" anchor="ctr">
                    <a:solidFill>
                      <a:srgbClr val="FFFFFF"/>
                    </a:solidFill>
                  </a:tcPr>
                </a:tc>
                <a:tc>
                  <a:txBody>
                    <a:bodyPr lIns="171450" tIns="95250" rIns="133350" bIns="95250"/>
                    <a:lstStyle/>
                    <a:p>
                      <a:r>
                        <a:rPr sz="2550" b="0">
                          <a:solidFill>
                            <a:srgbClr val="183247"/>
                          </a:solidFill>
                          <a:latin typeface="Arial"/>
                          <a:ea typeface="Arial"/>
                          <a:cs typeface="Arial"/>
                        </a:rPr>
                        <a:t>Gelijkstellen en invullen</a:t>
                      </a:r>
                    </a:p>
                  </a:txBody>
                  <a:tcPr marL="91440" marR="91440" marT="45720" marB="45720" anchor="ctr">
                    <a:solidFill>
                      <a:srgbClr val="FFFFFF"/>
                    </a:solidFill>
                  </a:tcPr>
                </a:tc>
              </a:tr>
              <a:tr h="857250">
                <a:tc>
                  <a:txBody>
                    <a:bodyPr lIns="171450" tIns="95250" rIns="133350" bIns="95250"/>
                    <a:lstStyle/>
                    <a:p>
                      <a:r>
                        <a:rPr sz="2550" b="0">
                          <a:solidFill>
                            <a:srgbClr val="183247"/>
                          </a:solidFill>
                          <a:latin typeface="Arial"/>
                          <a:ea typeface="Arial"/>
                          <a:cs typeface="Arial"/>
                        </a:rPr>
                        <a:t>Pc, Pp en de belastingwig tekenen</a:t>
                      </a:r>
                    </a:p>
                  </a:txBody>
                  <a:tcPr marL="91440" marR="91440" marT="45720" marB="45720" anchor="ctr">
                    <a:solidFill>
                      <a:srgbClr val="EFF4F7"/>
                    </a:solidFill>
                  </a:tcPr>
                </a:tc>
                <a:tc>
                  <a:txBody>
                    <a:bodyPr lIns="171450" tIns="95250" rIns="133350" bIns="95250"/>
                    <a:lstStyle/>
                    <a:p>
                      <a:r>
                        <a:rPr sz="2550" b="0">
                          <a:solidFill>
                            <a:srgbClr val="183247"/>
                          </a:solidFill>
                          <a:latin typeface="Arial"/>
                          <a:ea typeface="Arial"/>
                          <a:cs typeface="Arial"/>
                        </a:rPr>
                        <a:t>Een punt (Q; P) in een grafiek</a:t>
                      </a:r>
                    </a:p>
                  </a:txBody>
                  <a:tcPr marL="91440" marR="91440" marT="45720" marB="45720" anchor="ctr">
                    <a:solidFill>
                      <a:srgbClr val="EFF4F7"/>
                    </a:solidFill>
                  </a:tcPr>
                </a:tc>
              </a:tr>
              <a:tr h="857250">
                <a:tc>
                  <a:txBody>
                    <a:bodyPr lIns="171450" tIns="95250" rIns="133350" bIns="95250"/>
                    <a:lstStyle/>
                    <a:p>
                      <a:r>
                        <a:rPr sz="2550" b="0">
                          <a:solidFill>
                            <a:srgbClr val="183247"/>
                          </a:solidFill>
                          <a:latin typeface="Arial"/>
                          <a:ea typeface="Arial"/>
                          <a:cs typeface="Arial"/>
                        </a:rPr>
                        <a:t>Afdragen en economische last onderscheiden</a:t>
                      </a:r>
                    </a:p>
                  </a:txBody>
                  <a:tcPr marL="91440" marR="91440" marT="45720" marB="45720" anchor="ctr">
                    <a:solidFill>
                      <a:srgbClr val="FFFFFF"/>
                    </a:solidFill>
                  </a:tcPr>
                </a:tc>
                <a:tc>
                  <a:txBody>
                    <a:bodyPr lIns="171450" tIns="95250" rIns="133350" bIns="95250"/>
                    <a:lstStyle/>
                    <a:p>
                      <a:r>
                        <a:rPr sz="2550" b="0">
                          <a:solidFill>
                            <a:srgbClr val="183247"/>
                          </a:solidFill>
                          <a:latin typeface="Arial"/>
                          <a:ea typeface="Arial"/>
                          <a:cs typeface="Arial"/>
                        </a:rPr>
                        <a:t>Een nieuw bedrag met het oude vergelijken</a:t>
                      </a:r>
                    </a:p>
                  </a:txBody>
                  <a:tcPr marL="91440" marR="91440" marT="45720" marB="45720" anchor="ctr">
                    <a:solidFill>
                      <a:srgbClr val="FFFFFF"/>
                    </a:solidFill>
                  </a:tcPr>
                </a:tc>
              </a:tr>
            </a:tbl>
          </a:graphicData>
        </a:graphic>
      </p:graphicFrame>
      <p:sp>
        <p:nvSpPr>
          <p:cNvPr id="6" name="Waarom? Een belasting verandert wat kopers betalen én verkop">
            <a:extLst xmlns:a="http://schemas.openxmlformats.org/drawingml/2006/main">
              <a:ext uri="{FF2B5EF4-FFF2-40B4-BE49-F238E27FC236}">
                <a16:creationId xmlns:a16="http://schemas.microsoft.com/office/drawing/2014/main" id="{D92C6993-2F5D-4BF3-82B9-FE98399B2B78}"/>
              </a:ext>
            </a:extLst>
          </p:cNvPr>
          <p:cNvSpPr>
            <a:spLocks xmlns:a="http://schemas.openxmlformats.org/drawingml/2006/main" noGrp="1"/>
          </p:cNvSpPr>
          <p:nvPr/>
        </p:nvSpPr>
        <p:spPr>
          <a:xfrm xmlns:a="http://schemas.openxmlformats.org/drawingml/2006/main">
            <a:off x="571500" y="6362700"/>
            <a:ext cx="1409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A5276"/>
                </a:solidFill>
                <a:latin typeface="Arial"/>
                <a:ea typeface="Arial"/>
                <a:cs typeface="Arial"/>
              </a:defRPr>
            </a:pPr>
            <a:r>
              <a:rPr sz="3075" b="1">
                <a:solidFill>
                  <a:srgbClr val="1A5276"/>
                </a:solidFill>
                <a:latin typeface="Arial"/>
                <a:ea typeface="Arial"/>
                <a:cs typeface="Arial"/>
              </a:rPr>
              <a:t>Waarom? Een belasting verandert wat kopers betalen én verkopers ontvangen.</a:t>
            </a:r>
          </a:p>
        </p:txBody>
      </p:sp>
    </p:spTree>
    <p:extLst>
      <p:ext uri="{BB962C8B-B14F-4D97-AF65-F5344CB8AC3E}">
        <p14:creationId xmlns:p14="http://schemas.microsoft.com/office/powerpoint/2010/main" val="43048684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wee prijzen bij één verkoop">
            <a:extLst xmlns:a="http://schemas.openxmlformats.org/drawingml/2006/main">
              <a:ext uri="{FF2B5EF4-FFF2-40B4-BE49-F238E27FC236}">
                <a16:creationId xmlns:a16="http://schemas.microsoft.com/office/drawing/2014/main" id="{2AD18C0D-C708-4C89-B307-5EBD03EA0DEA}"/>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Twee prijzen bij één verkoop</a:t>
            </a:r>
          </a:p>
        </p:txBody>
      </p:sp>
      <p:sp>
        <p:nvSpPr>
          <p:cNvPr id="2" name="">
            <a:extLst xmlns:a="http://schemas.openxmlformats.org/drawingml/2006/main">
              <a:ext uri="{FF2B5EF4-FFF2-40B4-BE49-F238E27FC236}">
                <a16:creationId xmlns:a16="http://schemas.microsoft.com/office/drawing/2014/main" id="{4B5F046C-7B92-4CA0-9204-5F4F63B6393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1 Eén product, twee prijzen">
            <a:extLst xmlns:a="http://schemas.openxmlformats.org/drawingml/2006/main">
              <a:ext uri="{FF2B5EF4-FFF2-40B4-BE49-F238E27FC236}">
                <a16:creationId xmlns:a16="http://schemas.microsoft.com/office/drawing/2014/main" id="{047B0521-CA41-4FCC-AD61-F890FA73FD67}"/>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§3.1.1 Eén product, twee prijzen</a:t>
            </a:r>
          </a:p>
        </p:txBody>
      </p:sp>
      <p:sp>
        <p:nvSpPr>
          <p:cNvPr id="4" name="3">
            <a:extLst xmlns:a="http://schemas.openxmlformats.org/drawingml/2006/main">
              <a:ext uri="{FF2B5EF4-FFF2-40B4-BE49-F238E27FC236}">
                <a16:creationId xmlns:a16="http://schemas.microsoft.com/office/drawing/2014/main" id="{670A0D1D-1996-4B39-95E6-C927FE54AE8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graphicFrame>
        <p:nvGraphicFramePr>
          <p:cNvPr id="12" name=""/>
          <p:cNvGraphicFramePr/>
          <p:nvPr/>
        </p:nvGraphicFramePr>
        <p:xfrm>
          <a:off xmlns:a="http://schemas.openxmlformats.org/drawingml/2006/main" x="571500" y="2000250"/>
          <a:ext xmlns:a="http://schemas.openxmlformats.org/drawingml/2006/main" cx="14097000" cy="3190875"/>
        </p:xfrm>
        <a:graphic xmlns:a="http://schemas.openxmlformats.org/drawingml/2006/main">
          <a:graphicData uri="http://schemas.openxmlformats.org/drawingml/2006/table">
            <a:tbl>
              <a:tblPr/>
              <a:tblGrid>
                <a:gridCol w="3048000"/>
                <a:gridCol w="11049000"/>
              </a:tblGrid>
              <a:tr h="797719">
                <a:tc>
                  <a:txBody>
                    <a:bodyPr lIns="171450" tIns="95250" rIns="133350" bIns="95250"/>
                    <a:lstStyle/>
                    <a:p>
                      <a:r>
                        <a:rPr sz="2700" b="1">
                          <a:solidFill>
                            <a:srgbClr val="FFFFFF"/>
                          </a:solidFill>
                          <a:latin typeface="Arial"/>
                          <a:ea typeface="Arial"/>
                          <a:cs typeface="Arial"/>
                        </a:rPr>
                        <a:t>Symbool</a:t>
                      </a:r>
                    </a:p>
                  </a:txBody>
                  <a:tcPr marL="91440" marR="91440" marT="45720" marB="45720" anchor="ctr">
                    <a:solidFill>
                      <a:srgbClr val="183247"/>
                    </a:solidFill>
                  </a:tcPr>
                </a:tc>
                <a:tc>
                  <a:txBody>
                    <a:bodyPr lIns="171450" tIns="95250" rIns="133350" bIns="95250"/>
                    <a:lstStyle/>
                    <a:p>
                      <a:r>
                        <a:rPr sz="2700" b="1">
                          <a:solidFill>
                            <a:srgbClr val="FFFFFF"/>
                          </a:solidFill>
                          <a:latin typeface="Arial"/>
                          <a:ea typeface="Arial"/>
                          <a:cs typeface="Arial"/>
                        </a:rPr>
                        <a:t>Betekenis</a:t>
                      </a:r>
                    </a:p>
                  </a:txBody>
                  <a:tcPr marL="91440" marR="91440" marT="45720" marB="45720" anchor="ctr">
                    <a:solidFill>
                      <a:srgbClr val="183247"/>
                    </a:solidFill>
                  </a:tcPr>
                </a:tc>
              </a:tr>
              <a:tr h="797719">
                <a:tc>
                  <a:txBody>
                    <a:bodyPr lIns="171450" tIns="95250" rIns="133350" bIns="95250"/>
                    <a:lstStyle/>
                    <a:p>
                      <a:r>
                        <a:rPr sz="2700" b="0">
                          <a:solidFill>
                            <a:srgbClr val="183247"/>
                          </a:solidFill>
                          <a:latin typeface="Arial"/>
                          <a:ea typeface="Arial"/>
                          <a:cs typeface="Arial"/>
                        </a:rPr>
                        <a:t>Pc</a:t>
                      </a:r>
                    </a:p>
                  </a:txBody>
                  <a:tcPr marL="91440" marR="91440" marT="45720" marB="45720" anchor="ctr">
                    <a:solidFill>
                      <a:srgbClr val="FFFFFF"/>
                    </a:solidFill>
                  </a:tcPr>
                </a:tc>
                <a:tc>
                  <a:txBody>
                    <a:bodyPr lIns="171450" tIns="95250" rIns="133350" bIns="95250"/>
                    <a:lstStyle/>
                    <a:p>
                      <a:r>
                        <a:rPr sz="2700" b="0">
                          <a:solidFill>
                            <a:srgbClr val="183247"/>
                          </a:solidFill>
                          <a:latin typeface="Arial"/>
                          <a:ea typeface="Arial"/>
                          <a:cs typeface="Arial"/>
                        </a:rPr>
                        <a:t>Wat de koper per product betaalt</a:t>
                      </a:r>
                    </a:p>
                  </a:txBody>
                  <a:tcPr marL="91440" marR="91440" marT="45720" marB="45720" anchor="ctr">
                    <a:solidFill>
                      <a:srgbClr val="FFFFFF"/>
                    </a:solidFill>
                  </a:tcPr>
                </a:tc>
              </a:tr>
              <a:tr h="797719">
                <a:tc>
                  <a:txBody>
                    <a:bodyPr lIns="171450" tIns="95250" rIns="133350" bIns="95250"/>
                    <a:lstStyle/>
                    <a:p>
                      <a:r>
                        <a:rPr sz="2700" b="0">
                          <a:solidFill>
                            <a:srgbClr val="183247"/>
                          </a:solidFill>
                          <a:latin typeface="Arial"/>
                          <a:ea typeface="Arial"/>
                          <a:cs typeface="Arial"/>
                        </a:rPr>
                        <a:t>Pp</a:t>
                      </a:r>
                    </a:p>
                  </a:txBody>
                  <a:tcPr marL="91440" marR="91440" marT="45720" marB="45720" anchor="ctr">
                    <a:solidFill>
                      <a:srgbClr val="EFF4F7"/>
                    </a:solidFill>
                  </a:tcPr>
                </a:tc>
                <a:tc>
                  <a:txBody>
                    <a:bodyPr lIns="171450" tIns="95250" rIns="133350" bIns="95250"/>
                    <a:lstStyle/>
                    <a:p>
                      <a:r>
                        <a:rPr sz="2700" b="0">
                          <a:solidFill>
                            <a:srgbClr val="183247"/>
                          </a:solidFill>
                          <a:latin typeface="Arial"/>
                          <a:ea typeface="Arial"/>
                          <a:cs typeface="Arial"/>
                        </a:rPr>
                        <a:t>Wat de verkoper na afdracht ontvangt</a:t>
                      </a:r>
                    </a:p>
                  </a:txBody>
                  <a:tcPr marL="91440" marR="91440" marT="45720" marB="45720" anchor="ctr">
                    <a:solidFill>
                      <a:srgbClr val="EFF4F7"/>
                    </a:solidFill>
                  </a:tcPr>
                </a:tc>
              </a:tr>
              <a:tr h="797719">
                <a:tc>
                  <a:txBody>
                    <a:bodyPr lIns="171450" tIns="95250" rIns="133350" bIns="95250"/>
                    <a:lstStyle/>
                    <a:p>
                      <a:r>
                        <a:rPr sz="2700" b="0">
                          <a:solidFill>
                            <a:srgbClr val="183247"/>
                          </a:solidFill>
                          <a:latin typeface="Arial"/>
                          <a:ea typeface="Arial"/>
                          <a:cs typeface="Arial"/>
                        </a:rPr>
                        <a:t>t</a:t>
                      </a:r>
                    </a:p>
                  </a:txBody>
                  <a:tcPr marL="91440" marR="91440" marT="45720" marB="45720" anchor="ctr">
                    <a:solidFill>
                      <a:srgbClr val="FFFFFF"/>
                    </a:solidFill>
                  </a:tcPr>
                </a:tc>
                <a:tc>
                  <a:txBody>
                    <a:bodyPr lIns="171450" tIns="95250" rIns="133350" bIns="95250"/>
                    <a:lstStyle/>
                    <a:p>
                      <a:r>
                        <a:rPr sz="2700" b="0">
                          <a:solidFill>
                            <a:srgbClr val="183247"/>
                          </a:solidFill>
                          <a:latin typeface="Arial"/>
                          <a:ea typeface="Arial"/>
                          <a:cs typeface="Arial"/>
                        </a:rPr>
                        <a:t>De belasting per verkocht product</a:t>
                      </a:r>
                    </a:p>
                  </a:txBody>
                  <a:tcPr marL="91440" marR="91440" marT="45720" marB="45720" anchor="ctr">
                    <a:solidFill>
                      <a:srgbClr val="FFFFFF"/>
                    </a:solidFill>
                  </a:tcPr>
                </a:tc>
              </a:tr>
            </a:tbl>
          </a:graphicData>
        </a:graphic>
      </p:graphicFrame>
      <p:sp>
        <p:nvSpPr>
          <p:cNvPr id="6" name="Pc − Pp = t">
            <a:extLst xmlns:a="http://schemas.openxmlformats.org/drawingml/2006/main">
              <a:ext uri="{FF2B5EF4-FFF2-40B4-BE49-F238E27FC236}">
                <a16:creationId xmlns:a16="http://schemas.microsoft.com/office/drawing/2014/main" id="{F7CCBEEF-CBFE-4525-9F04-F8C636F09B9F}"/>
              </a:ext>
            </a:extLst>
          </p:cNvPr>
          <p:cNvSpPr>
            <a:spLocks xmlns:a="http://schemas.openxmlformats.org/drawingml/2006/main" noGrp="1"/>
          </p:cNvSpPr>
          <p:nvPr/>
        </p:nvSpPr>
        <p:spPr>
          <a:xfrm xmlns:a="http://schemas.openxmlformats.org/drawingml/2006/main">
            <a:off x="571500" y="5857875"/>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A94D16"/>
                </a:solidFill>
                <a:latin typeface="Arial"/>
                <a:ea typeface="Arial"/>
                <a:cs typeface="Arial"/>
              </a:defRPr>
            </a:pPr>
            <a:r>
              <a:rPr sz="4350" b="1">
                <a:solidFill>
                  <a:srgbClr val="A94D16"/>
                </a:solidFill>
                <a:latin typeface="Arial"/>
                <a:ea typeface="Arial"/>
                <a:cs typeface="Arial"/>
              </a:rPr>
              <a:t>Pc − Pp = t</a:t>
            </a:r>
          </a:p>
        </p:txBody>
      </p:sp>
      <p:sp>
        <p:nvSpPr>
          <p:cNvPr id="7" name="Pp is de ontvangst vóór aftrek van productiekosten.">
            <a:extLst xmlns:a="http://schemas.openxmlformats.org/drawingml/2006/main">
              <a:ext uri="{FF2B5EF4-FFF2-40B4-BE49-F238E27FC236}">
                <a16:creationId xmlns:a16="http://schemas.microsoft.com/office/drawing/2014/main" id="{B914EB10-4534-4946-95A8-272D6CA2586D}"/>
              </a:ext>
            </a:extLst>
          </p:cNvPr>
          <p:cNvSpPr>
            <a:spLocks xmlns:a="http://schemas.openxmlformats.org/drawingml/2006/main" noGrp="1"/>
          </p:cNvSpPr>
          <p:nvPr/>
        </p:nvSpPr>
        <p:spPr>
          <a:xfrm xmlns:a="http://schemas.openxmlformats.org/drawingml/2006/main">
            <a:off x="571500" y="7048500"/>
            <a:ext cx="1409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Pp is de ontvangst vóór aftrek van productiekosten.</a:t>
            </a:r>
          </a:p>
        </p:txBody>
      </p:sp>
    </p:spTree>
    <p:extLst>
      <p:ext uri="{BB962C8B-B14F-4D97-AF65-F5344CB8AC3E}">
        <p14:creationId xmlns:p14="http://schemas.microsoft.com/office/powerpoint/2010/main" val="10817964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e markt voor fietslampjes">
            <a:extLst xmlns:a="http://schemas.openxmlformats.org/drawingml/2006/main">
              <a:ext uri="{FF2B5EF4-FFF2-40B4-BE49-F238E27FC236}">
                <a16:creationId xmlns:a16="http://schemas.microsoft.com/office/drawing/2014/main" id="{5CF30C5B-2A4A-4731-AE55-D978003B57EE}"/>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markt voor fietslampjes</a:t>
            </a:r>
          </a:p>
        </p:txBody>
      </p:sp>
      <p:sp>
        <p:nvSpPr>
          <p:cNvPr id="2" name="">
            <a:extLst xmlns:a="http://schemas.openxmlformats.org/drawingml/2006/main">
              <a:ext uri="{FF2B5EF4-FFF2-40B4-BE49-F238E27FC236}">
                <a16:creationId xmlns:a16="http://schemas.microsoft.com/office/drawing/2014/main" id="{3E21F942-AEC7-4A0B-8361-5BA7D69FD82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1 Eén product, twee prijzen">
            <a:extLst xmlns:a="http://schemas.openxmlformats.org/drawingml/2006/main">
              <a:ext uri="{FF2B5EF4-FFF2-40B4-BE49-F238E27FC236}">
                <a16:creationId xmlns:a16="http://schemas.microsoft.com/office/drawing/2014/main" id="{5D196D05-F8D8-4A19-A19A-8130EDD8953D}"/>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§3.1.1 Eén product, twee prijzen</a:t>
            </a:r>
          </a:p>
        </p:txBody>
      </p:sp>
      <p:sp>
        <p:nvSpPr>
          <p:cNvPr id="4" name="4">
            <a:extLst xmlns:a="http://schemas.openxmlformats.org/drawingml/2006/main">
              <a:ext uri="{FF2B5EF4-FFF2-40B4-BE49-F238E27FC236}">
                <a16:creationId xmlns:a16="http://schemas.microsoft.com/office/drawing/2014/main" id="{9E578CFD-18F6-43FF-9101-4B3E332DDCB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Uitlegvoorbeeld — niet uit het boek">
            <a:extLst xmlns:a="http://schemas.openxmlformats.org/drawingml/2006/main">
              <a:ext uri="{FF2B5EF4-FFF2-40B4-BE49-F238E27FC236}">
                <a16:creationId xmlns:a16="http://schemas.microsoft.com/office/drawing/2014/main" id="{143BDD1E-AE95-4D4C-9070-0648766FA4A5}"/>
              </a:ext>
            </a:extLst>
          </p:cNvPr>
          <p:cNvSpPr>
            <a:spLocks xmlns:a="http://schemas.openxmlformats.org/drawingml/2006/main" noGrp="1"/>
          </p:cNvSpPr>
          <p:nvPr/>
        </p:nvSpPr>
        <p:spPr>
          <a:xfrm xmlns:a="http://schemas.openxmlformats.org/drawingml/2006/main">
            <a:off x="571500" y="1685925"/>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graphicFrame>
        <p:nvGraphicFramePr>
          <p:cNvPr id="14" name=""/>
          <p:cNvGraphicFramePr/>
          <p:nvPr/>
        </p:nvGraphicFramePr>
        <p:xfrm>
          <a:off xmlns:a="http://schemas.openxmlformats.org/drawingml/2006/main" x="571500" y="2476500"/>
          <a:ext xmlns:a="http://schemas.openxmlformats.org/drawingml/2006/main" cx="14097000" cy="3143250"/>
        </p:xfrm>
        <a:graphic xmlns:a="http://schemas.openxmlformats.org/drawingml/2006/main">
          <a:graphicData uri="http://schemas.openxmlformats.org/drawingml/2006/table">
            <a:tbl>
              <a:tblPr/>
              <a:tblGrid>
                <a:gridCol w="8191500"/>
                <a:gridCol w="5905500"/>
              </a:tblGrid>
              <a:tr h="785813">
                <a:tc>
                  <a:txBody>
                    <a:bodyPr lIns="171450" tIns="95250" rIns="133350" bIns="95250"/>
                    <a:lstStyle/>
                    <a:p>
                      <a:r>
                        <a:rPr sz="2625" b="1">
                          <a:solidFill>
                            <a:srgbClr val="FFFFFF"/>
                          </a:solidFill>
                          <a:latin typeface="Arial"/>
                          <a:ea typeface="Arial"/>
                          <a:cs typeface="Arial"/>
                        </a:rPr>
                        <a:t>Gegeven</a:t>
                      </a:r>
                    </a:p>
                  </a:txBody>
                  <a:tcPr marL="91440" marR="91440" marT="45720" marB="45720" anchor="ctr">
                    <a:solidFill>
                      <a:srgbClr val="183247"/>
                    </a:solidFill>
                  </a:tcPr>
                </a:tc>
                <a:tc>
                  <a:txBody>
                    <a:bodyPr lIns="171450" tIns="95250" rIns="133350" bIns="95250"/>
                    <a:lstStyle/>
                    <a:p>
                      <a:r>
                        <a:rPr sz="2625" b="1">
                          <a:solidFill>
                            <a:srgbClr val="FFFFFF"/>
                          </a:solidFill>
                          <a:latin typeface="Arial"/>
                          <a:ea typeface="Arial"/>
                          <a:cs typeface="Arial"/>
                        </a:rPr>
                        <a:t>Functie of bedrag</a:t>
                      </a:r>
                    </a:p>
                  </a:txBody>
                  <a:tcPr marL="91440" marR="91440" marT="45720" marB="45720" anchor="ctr">
                    <a:solidFill>
                      <a:srgbClr val="183247"/>
                    </a:solidFill>
                  </a:tcPr>
                </a:tc>
              </a:tr>
              <a:tr h="785813">
                <a:tc>
                  <a:txBody>
                    <a:bodyPr lIns="171450" tIns="95250" rIns="133350" bIns="95250"/>
                    <a:lstStyle/>
                    <a:p>
                      <a:r>
                        <a:rPr sz="2625" b="0">
                          <a:solidFill>
                            <a:srgbClr val="183247"/>
                          </a:solidFill>
                          <a:latin typeface="Arial"/>
                          <a:ea typeface="Arial"/>
                          <a:cs typeface="Arial"/>
                        </a:rPr>
                        <a:t>Vraag</a:t>
                      </a:r>
                    </a:p>
                  </a:txBody>
                  <a:tcPr marL="91440" marR="91440" marT="45720" marB="45720" anchor="ctr">
                    <a:solidFill>
                      <a:srgbClr val="FFFFFF"/>
                    </a:solidFill>
                  </a:tcPr>
                </a:tc>
                <a:tc>
                  <a:txBody>
                    <a:bodyPr lIns="171450" tIns="95250" rIns="133350" bIns="95250"/>
                    <a:lstStyle/>
                    <a:p>
                      <a:r>
                        <a:rPr sz="2625" b="0">
                          <a:solidFill>
                            <a:srgbClr val="183247"/>
                          </a:solidFill>
                          <a:latin typeface="Arial"/>
                          <a:ea typeface="Arial"/>
                          <a:cs typeface="Arial"/>
                        </a:rPr>
                        <a:t>Pc = 30 − 0,20Q</a:t>
                      </a:r>
                    </a:p>
                  </a:txBody>
                  <a:tcPr marL="91440" marR="91440" marT="45720" marB="45720" anchor="ctr">
                    <a:solidFill>
                      <a:srgbClr val="FFFFFF"/>
                    </a:solidFill>
                  </a:tcPr>
                </a:tc>
              </a:tr>
              <a:tr h="785813">
                <a:tc>
                  <a:txBody>
                    <a:bodyPr lIns="171450" tIns="95250" rIns="133350" bIns="95250"/>
                    <a:lstStyle/>
                    <a:p>
                      <a:r>
                        <a:rPr sz="2625" b="0">
                          <a:solidFill>
                            <a:srgbClr val="183247"/>
                          </a:solidFill>
                          <a:latin typeface="Arial"/>
                          <a:ea typeface="Arial"/>
                          <a:cs typeface="Arial"/>
                        </a:rPr>
                        <a:t>Aanbod</a:t>
                      </a:r>
                    </a:p>
                  </a:txBody>
                  <a:tcPr marL="91440" marR="91440" marT="45720" marB="45720" anchor="ctr">
                    <a:solidFill>
                      <a:srgbClr val="EFF4F7"/>
                    </a:solidFill>
                  </a:tcPr>
                </a:tc>
                <a:tc>
                  <a:txBody>
                    <a:bodyPr lIns="171450" tIns="95250" rIns="133350" bIns="95250"/>
                    <a:lstStyle/>
                    <a:p>
                      <a:r>
                        <a:rPr sz="2625" b="0">
                          <a:solidFill>
                            <a:srgbClr val="183247"/>
                          </a:solidFill>
                          <a:latin typeface="Arial"/>
                          <a:ea typeface="Arial"/>
                          <a:cs typeface="Arial"/>
                        </a:rPr>
                        <a:t>Pp = 6 + 0,10Q</a:t>
                      </a:r>
                    </a:p>
                  </a:txBody>
                  <a:tcPr marL="91440" marR="91440" marT="45720" marB="45720" anchor="ctr">
                    <a:solidFill>
                      <a:srgbClr val="EFF4F7"/>
                    </a:solidFill>
                  </a:tcPr>
                </a:tc>
              </a:tr>
              <a:tr h="785813">
                <a:tc>
                  <a:txBody>
                    <a:bodyPr lIns="171450" tIns="95250" rIns="133350" bIns="95250"/>
                    <a:lstStyle/>
                    <a:p>
                      <a:r>
                        <a:rPr sz="2625" b="0">
                          <a:solidFill>
                            <a:srgbClr val="183247"/>
                          </a:solidFill>
                          <a:latin typeface="Arial"/>
                          <a:ea typeface="Arial"/>
                          <a:cs typeface="Arial"/>
                        </a:rPr>
                        <a:t>Belasting, afgedragen door verkopers</a:t>
                      </a:r>
                    </a:p>
                  </a:txBody>
                  <a:tcPr marL="91440" marR="91440" marT="45720" marB="45720" anchor="ctr">
                    <a:solidFill>
                      <a:srgbClr val="FFFFFF"/>
                    </a:solidFill>
                  </a:tcPr>
                </a:tc>
                <a:tc>
                  <a:txBody>
                    <a:bodyPr lIns="171450" tIns="95250" rIns="133350" bIns="95250"/>
                    <a:lstStyle/>
                    <a:p>
                      <a:r>
                        <a:rPr sz="2625" b="0">
                          <a:solidFill>
                            <a:srgbClr val="183247"/>
                          </a:solidFill>
                          <a:latin typeface="Arial"/>
                          <a:ea typeface="Arial"/>
                          <a:cs typeface="Arial"/>
                        </a:rPr>
                        <a:t>t = € 6 per fietslampje</a:t>
                      </a:r>
                    </a:p>
                  </a:txBody>
                  <a:tcPr marL="91440" marR="91440" marT="45720" marB="45720" anchor="ctr">
                    <a:solidFill>
                      <a:srgbClr val="FFFFFF"/>
                    </a:solidFill>
                  </a:tcPr>
                </a:tc>
              </a:tr>
            </a:tbl>
          </a:graphicData>
        </a:graphic>
      </p:graphicFrame>
      <p:sp>
        <p:nvSpPr>
          <p:cNvPr id="7" name="Q in fietslampjes per week. Prijzen in euro per fietslampje.">
            <a:extLst xmlns:a="http://schemas.openxmlformats.org/drawingml/2006/main">
              <a:ext uri="{FF2B5EF4-FFF2-40B4-BE49-F238E27FC236}">
                <a16:creationId xmlns:a16="http://schemas.microsoft.com/office/drawing/2014/main" id="{E9D6D26E-823D-4054-9966-FC09A38A83C8}"/>
              </a:ext>
            </a:extLst>
          </p:cNvPr>
          <p:cNvSpPr>
            <a:spLocks xmlns:a="http://schemas.openxmlformats.org/drawingml/2006/main" noGrp="1"/>
          </p:cNvSpPr>
          <p:nvPr/>
        </p:nvSpPr>
        <p:spPr>
          <a:xfrm xmlns:a="http://schemas.openxmlformats.org/drawingml/2006/main">
            <a:off x="571500" y="609600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Q in fietslampjes per week. Prijzen in euro per fietslampje.</a:t>
            </a:r>
          </a:p>
        </p:txBody>
      </p:sp>
      <p:sp>
        <p:nvSpPr>
          <p:cNvPr id="8" name="Veel prijsnemers. Het product en de overige omstandigheden b">
            <a:extLst xmlns:a="http://schemas.openxmlformats.org/drawingml/2006/main">
              <a:ext uri="{FF2B5EF4-FFF2-40B4-BE49-F238E27FC236}">
                <a16:creationId xmlns:a16="http://schemas.microsoft.com/office/drawing/2014/main" id="{303C6104-DC21-4416-84B9-134ECDAD02A0}"/>
              </a:ext>
            </a:extLst>
          </p:cNvPr>
          <p:cNvSpPr>
            <a:spLocks xmlns:a="http://schemas.openxmlformats.org/drawingml/2006/main" noGrp="1"/>
          </p:cNvSpPr>
          <p:nvPr/>
        </p:nvSpPr>
        <p:spPr>
          <a:xfrm xmlns:a="http://schemas.openxmlformats.org/drawingml/2006/main">
            <a:off x="571500" y="7000875"/>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Veel prijsnemers. Het product en de overige omstandigheden blijven gelijk.</a:t>
            </a:r>
          </a:p>
        </p:txBody>
      </p:sp>
    </p:spTree>
    <p:extLst>
      <p:ext uri="{BB962C8B-B14F-4D97-AF65-F5344CB8AC3E}">
        <p14:creationId xmlns:p14="http://schemas.microsoft.com/office/powerpoint/2010/main" val="110447455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Het vrije evenwicht berekenen">
            <a:extLst xmlns:a="http://schemas.openxmlformats.org/drawingml/2006/main">
              <a:ext uri="{FF2B5EF4-FFF2-40B4-BE49-F238E27FC236}">
                <a16:creationId xmlns:a16="http://schemas.microsoft.com/office/drawing/2014/main" id="{C8D047FD-A5AF-464F-9AE6-72849861A17F}"/>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Het vrije evenwicht berekenen</a:t>
            </a:r>
          </a:p>
        </p:txBody>
      </p:sp>
      <p:sp>
        <p:nvSpPr>
          <p:cNvPr id="2" name="">
            <a:extLst xmlns:a="http://schemas.openxmlformats.org/drawingml/2006/main">
              <a:ext uri="{FF2B5EF4-FFF2-40B4-BE49-F238E27FC236}">
                <a16:creationId xmlns:a16="http://schemas.microsoft.com/office/drawing/2014/main" id="{FB497392-4ABC-4FA6-A50F-BE034623C78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1 Eén product, twee prijzen">
            <a:extLst xmlns:a="http://schemas.openxmlformats.org/drawingml/2006/main">
              <a:ext uri="{FF2B5EF4-FFF2-40B4-BE49-F238E27FC236}">
                <a16:creationId xmlns:a16="http://schemas.microsoft.com/office/drawing/2014/main" id="{CFBF0AE6-C169-4E6D-83F4-488107F2A78D}"/>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§3.1.1 Eén product, twee prijzen</a:t>
            </a:r>
          </a:p>
        </p:txBody>
      </p:sp>
      <p:sp>
        <p:nvSpPr>
          <p:cNvPr id="4" name="5">
            <a:extLst xmlns:a="http://schemas.openxmlformats.org/drawingml/2006/main">
              <a:ext uri="{FF2B5EF4-FFF2-40B4-BE49-F238E27FC236}">
                <a16:creationId xmlns:a16="http://schemas.microsoft.com/office/drawing/2014/main" id="{40B6AEBB-1189-4FD0-AD32-22D8F689004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Uitlegvoorbeeld — niet uit het boek">
            <a:extLst xmlns:a="http://schemas.openxmlformats.org/drawingml/2006/main">
              <a:ext uri="{FF2B5EF4-FFF2-40B4-BE49-F238E27FC236}">
                <a16:creationId xmlns:a16="http://schemas.microsoft.com/office/drawing/2014/main" id="{1F80A025-B768-4315-AB3C-CCE962B62770}"/>
              </a:ext>
            </a:extLst>
          </p:cNvPr>
          <p:cNvSpPr>
            <a:spLocks xmlns:a="http://schemas.openxmlformats.org/drawingml/2006/main" noGrp="1"/>
          </p:cNvSpPr>
          <p:nvPr/>
        </p:nvSpPr>
        <p:spPr>
          <a:xfrm xmlns:a="http://schemas.openxmlformats.org/drawingml/2006/main">
            <a:off x="571500" y="1685925"/>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sp>
        <p:nvSpPr>
          <p:cNvPr id="6" name="Zonder belasting: Pc = Pp = P₀">
            <a:extLst xmlns:a="http://schemas.openxmlformats.org/drawingml/2006/main">
              <a:ext uri="{FF2B5EF4-FFF2-40B4-BE49-F238E27FC236}">
                <a16:creationId xmlns:a16="http://schemas.microsoft.com/office/drawing/2014/main" id="{8EF753BD-DE25-42EC-A470-77CDBEC8E182}"/>
              </a:ext>
            </a:extLst>
          </p:cNvPr>
          <p:cNvSpPr>
            <a:spLocks xmlns:a="http://schemas.openxmlformats.org/drawingml/2006/main" noGrp="1"/>
          </p:cNvSpPr>
          <p:nvPr/>
        </p:nvSpPr>
        <p:spPr>
          <a:xfrm xmlns:a="http://schemas.openxmlformats.org/drawingml/2006/main">
            <a:off x="571500" y="247650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Zonder belasting: Pc = Pp = P₀</a:t>
            </a:r>
          </a:p>
        </p:txBody>
      </p:sp>
      <p:sp>
        <p:nvSpPr>
          <p:cNvPr id="7" name="30 − 0,20Q = 6 + 0,10Q&#10;24 = 0,30Q&#10;Q₀ = 80 fietslampjes per w">
            <a:extLst xmlns:a="http://schemas.openxmlformats.org/drawingml/2006/main">
              <a:ext uri="{FF2B5EF4-FFF2-40B4-BE49-F238E27FC236}">
                <a16:creationId xmlns:a16="http://schemas.microsoft.com/office/drawing/2014/main" id="{8964AFB4-4842-40F2-B562-17E0624AAFBB}"/>
              </a:ext>
            </a:extLst>
          </p:cNvPr>
          <p:cNvSpPr>
            <a:spLocks xmlns:a="http://schemas.openxmlformats.org/drawingml/2006/main" noGrp="1"/>
          </p:cNvSpPr>
          <p:nvPr/>
        </p:nvSpPr>
        <p:spPr>
          <a:xfrm xmlns:a="http://schemas.openxmlformats.org/drawingml/2006/main">
            <a:off x="571500" y="3476625"/>
            <a:ext cx="140970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183247"/>
                </a:solidFill>
                <a:latin typeface="Arial"/>
                <a:ea typeface="Arial"/>
                <a:cs typeface="Arial"/>
              </a:defRPr>
            </a:pPr>
            <a:r>
              <a:rPr sz="3450" b="0">
                <a:solidFill>
                  <a:srgbClr val="183247"/>
                </a:solidFill>
                <a:latin typeface="Arial"/>
                <a:ea typeface="Arial"/>
                <a:cs typeface="Arial"/>
              </a:rPr>
              <a:t>30 − 0,20Q = 6 + 0,10Q</a:t>
            </a:r>
          </a:p>
          <a:p xmlns:a="http://schemas.openxmlformats.org/drawingml/2006/main">
            <a:pPr algn="l">
              <a:defRPr sz="3450" b="0">
                <a:solidFill>
                  <a:srgbClr val="183247"/>
                </a:solidFill>
                <a:latin typeface="Arial"/>
                <a:ea typeface="Arial"/>
                <a:cs typeface="Arial"/>
              </a:defRPr>
            </a:pPr>
            <a:r>
              <a:rPr sz="3450" b="0">
                <a:solidFill>
                  <a:srgbClr val="183247"/>
                </a:solidFill>
                <a:latin typeface="Arial"/>
                <a:ea typeface="Arial"/>
                <a:cs typeface="Arial"/>
              </a:rPr>
              <a:t>24 = 0,30Q</a:t>
            </a:r>
          </a:p>
          <a:p xmlns:a="http://schemas.openxmlformats.org/drawingml/2006/main">
            <a:pPr algn="l">
              <a:defRPr sz="3450" b="0">
                <a:solidFill>
                  <a:srgbClr val="183247"/>
                </a:solidFill>
                <a:latin typeface="Arial"/>
                <a:ea typeface="Arial"/>
                <a:cs typeface="Arial"/>
              </a:defRPr>
            </a:pPr>
            <a:r>
              <a:rPr sz="3450" b="0">
                <a:solidFill>
                  <a:srgbClr val="183247"/>
                </a:solidFill>
                <a:latin typeface="Arial"/>
                <a:ea typeface="Arial"/>
                <a:cs typeface="Arial"/>
              </a:rPr>
              <a:t>Q₀ = 80 fietslampjes per week</a:t>
            </a:r>
          </a:p>
        </p:txBody>
      </p:sp>
      <p:sp>
        <p:nvSpPr>
          <p:cNvPr id="8" name="P₀ = 30 − 0,20 × 80 = € 14 per fietslampje">
            <a:extLst xmlns:a="http://schemas.openxmlformats.org/drawingml/2006/main">
              <a:ext uri="{FF2B5EF4-FFF2-40B4-BE49-F238E27FC236}">
                <a16:creationId xmlns:a16="http://schemas.microsoft.com/office/drawing/2014/main" id="{EB58327B-2981-4E2F-961A-81BE0948593D}"/>
              </a:ext>
            </a:extLst>
          </p:cNvPr>
          <p:cNvSpPr>
            <a:spLocks xmlns:a="http://schemas.openxmlformats.org/drawingml/2006/main" noGrp="1"/>
          </p:cNvSpPr>
          <p:nvPr/>
        </p:nvSpPr>
        <p:spPr>
          <a:xfrm xmlns:a="http://schemas.openxmlformats.org/drawingml/2006/main">
            <a:off x="571500" y="6153150"/>
            <a:ext cx="1409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3247"/>
                </a:solidFill>
                <a:latin typeface="Arial"/>
                <a:ea typeface="Arial"/>
                <a:cs typeface="Arial"/>
              </a:defRPr>
            </a:pPr>
            <a:r>
              <a:rPr sz="3150" b="1">
                <a:solidFill>
                  <a:srgbClr val="183247"/>
                </a:solidFill>
                <a:latin typeface="Arial"/>
                <a:ea typeface="Arial"/>
                <a:cs typeface="Arial"/>
              </a:rPr>
              <a:t>P₀ = 30 − 0,20 × 80 = € 14 per fietslampje</a:t>
            </a:r>
          </a:p>
        </p:txBody>
      </p:sp>
      <p:sp>
        <p:nvSpPr>
          <p:cNvPr id="9" name="Controle met aanbod: 6 + 0,10 × 80 = 14">
            <a:extLst xmlns:a="http://schemas.openxmlformats.org/drawingml/2006/main">
              <a:ext uri="{FF2B5EF4-FFF2-40B4-BE49-F238E27FC236}">
                <a16:creationId xmlns:a16="http://schemas.microsoft.com/office/drawing/2014/main" id="{B039CFA9-36C0-440C-A3D1-F485B235F87F}"/>
              </a:ext>
            </a:extLst>
          </p:cNvPr>
          <p:cNvSpPr>
            <a:spLocks xmlns:a="http://schemas.openxmlformats.org/drawingml/2006/main" noGrp="1"/>
          </p:cNvSpPr>
          <p:nvPr/>
        </p:nvSpPr>
        <p:spPr>
          <a:xfrm xmlns:a="http://schemas.openxmlformats.org/drawingml/2006/main">
            <a:off x="571500" y="7239000"/>
            <a:ext cx="1409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Controle met aanbod: 6 + 0,10 × 80 = 14</a:t>
            </a:r>
          </a:p>
        </p:txBody>
      </p:sp>
    </p:spTree>
    <p:extLst>
      <p:ext uri="{BB962C8B-B14F-4D97-AF65-F5344CB8AC3E}">
        <p14:creationId xmlns:p14="http://schemas.microsoft.com/office/powerpoint/2010/main" val="49842270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Het vrije evenwicht in de grafiek">
            <a:extLst xmlns:a="http://schemas.openxmlformats.org/drawingml/2006/main">
              <a:ext uri="{FF2B5EF4-FFF2-40B4-BE49-F238E27FC236}">
                <a16:creationId xmlns:a16="http://schemas.microsoft.com/office/drawing/2014/main" id="{71DFAFE0-8E8D-427C-903C-8E7648A1529F}"/>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Het vrije evenwicht in de grafiek</a:t>
            </a:r>
          </a:p>
        </p:txBody>
      </p:sp>
      <p:sp>
        <p:nvSpPr>
          <p:cNvPr id="2" name="">
            <a:extLst xmlns:a="http://schemas.openxmlformats.org/drawingml/2006/main">
              <a:ext uri="{FF2B5EF4-FFF2-40B4-BE49-F238E27FC236}">
                <a16:creationId xmlns:a16="http://schemas.microsoft.com/office/drawing/2014/main" id="{A4A3C2B1-D6EA-4D9C-A2E5-C7D35C41AF8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1 Eén product, twee prijzen">
            <a:extLst xmlns:a="http://schemas.openxmlformats.org/drawingml/2006/main">
              <a:ext uri="{FF2B5EF4-FFF2-40B4-BE49-F238E27FC236}">
                <a16:creationId xmlns:a16="http://schemas.microsoft.com/office/drawing/2014/main" id="{F0BF7FC8-5F45-4D42-9219-F8DBCFB28336}"/>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§3.1.1 Eén product, twee prijzen</a:t>
            </a:r>
          </a:p>
        </p:txBody>
      </p:sp>
      <p:sp>
        <p:nvSpPr>
          <p:cNvPr id="4" name="6">
            <a:extLst xmlns:a="http://schemas.openxmlformats.org/drawingml/2006/main">
              <a:ext uri="{FF2B5EF4-FFF2-40B4-BE49-F238E27FC236}">
                <a16:creationId xmlns:a16="http://schemas.microsoft.com/office/drawing/2014/main" id="{D350EEBF-C308-49AF-969A-40F2BFC5E7B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Uitlegvoorbeeld — niet uit het boek">
            <a:extLst xmlns:a="http://schemas.openxmlformats.org/drawingml/2006/main">
              <a:ext uri="{FF2B5EF4-FFF2-40B4-BE49-F238E27FC236}">
                <a16:creationId xmlns:a16="http://schemas.microsoft.com/office/drawing/2014/main" id="{2654BB19-83FC-40EA-81B5-0BF583506BC0}"/>
              </a:ext>
            </a:extLst>
          </p:cNvPr>
          <p:cNvSpPr>
            <a:spLocks xmlns:a="http://schemas.openxmlformats.org/drawingml/2006/main" noGrp="1"/>
          </p:cNvSpPr>
          <p:nvPr/>
        </p:nvSpPr>
        <p:spPr>
          <a:xfrm xmlns:a="http://schemas.openxmlformats.org/drawingml/2006/main">
            <a:off x="571500" y="1685925"/>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graphicFrame>
        <p:nvGraphicFramePr>
          <p:cNvPr id="15" name="Chart"/>
          <p:cNvGraphicFramePr/>
          <p:nvPr/>
        </p:nvGraphicFramePr>
        <p:xfrm>
          <a:off xmlns:a="http://schemas.openxmlformats.org/drawingml/2006/main" x="571500" y="2238375"/>
          <a:ext xmlns:a="http://schemas.openxmlformats.org/drawingml/2006/main" cx="9429750" cy="5524500"/>
        </p:xfrm>
        <a:graphic xmlns:a="http://schemas.openxmlformats.org/drawingml/2006/main">
          <a:graphicData uri="http://schemas.openxmlformats.org/drawingml/2006/chart">
            <c:chart xmlns:r="http://schemas.openxmlformats.org/officeDocument/2006/relationships" xmlns:c="http://schemas.openxmlformats.org/drawingml/2006/chart" r:id="Ra5ae8d2a941c4090"/>
          </a:graphicData>
        </a:graphic>
      </p:graphicFrame>
      <p:sp>
        <p:nvSpPr>
          <p:cNvPr id="7" name="E₀ = (80; 14)">
            <a:extLst xmlns:a="http://schemas.openxmlformats.org/drawingml/2006/main">
              <a:ext uri="{FF2B5EF4-FFF2-40B4-BE49-F238E27FC236}">
                <a16:creationId xmlns:a16="http://schemas.microsoft.com/office/drawing/2014/main" id="{70C0C47E-3812-45D5-A763-E6FE0883100B}"/>
              </a:ext>
            </a:extLst>
          </p:cNvPr>
          <p:cNvSpPr>
            <a:spLocks xmlns:a="http://schemas.openxmlformats.org/drawingml/2006/main" noGrp="1"/>
          </p:cNvSpPr>
          <p:nvPr/>
        </p:nvSpPr>
        <p:spPr>
          <a:xfrm xmlns:a="http://schemas.openxmlformats.org/drawingml/2006/main">
            <a:off x="10477500" y="2857500"/>
            <a:ext cx="419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E₀ = (80; 14)</a:t>
            </a:r>
          </a:p>
        </p:txBody>
      </p:sp>
      <p:sp>
        <p:nvSpPr>
          <p:cNvPr id="8" name="80 fietslampjes&#10;per week&#10;&#10;Eén prijs:&#10;€ 14 per fietslampje">
            <a:extLst xmlns:a="http://schemas.openxmlformats.org/drawingml/2006/main">
              <a:ext uri="{FF2B5EF4-FFF2-40B4-BE49-F238E27FC236}">
                <a16:creationId xmlns:a16="http://schemas.microsoft.com/office/drawing/2014/main" id="{6D97E401-E546-474C-9C75-4240E87218A8}"/>
              </a:ext>
            </a:extLst>
          </p:cNvPr>
          <p:cNvSpPr>
            <a:spLocks xmlns:a="http://schemas.openxmlformats.org/drawingml/2006/main" noGrp="1"/>
          </p:cNvSpPr>
          <p:nvPr/>
        </p:nvSpPr>
        <p:spPr>
          <a:xfrm xmlns:a="http://schemas.openxmlformats.org/drawingml/2006/main">
            <a:off x="10477500" y="3924300"/>
            <a:ext cx="41910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80 fietslampjes</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per week</a:t>
            </a:r>
          </a:p>
          <a:p xmlns:a="http://schemas.openxmlformats.org/drawingml/2006/main">
            <a:r>
              <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Eén prijs:</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€ 14 per fietslampje</a:t>
            </a:r>
          </a:p>
        </p:txBody>
      </p:sp>
      <p:sp>
        <p:nvSpPr>
          <p:cNvPr id="9" name="V en A snijden elkaar.">
            <a:extLst xmlns:a="http://schemas.openxmlformats.org/drawingml/2006/main">
              <a:ext uri="{FF2B5EF4-FFF2-40B4-BE49-F238E27FC236}">
                <a16:creationId xmlns:a16="http://schemas.microsoft.com/office/drawing/2014/main" id="{5408EB35-18B1-4587-B485-F777502DD6B9}"/>
              </a:ext>
            </a:extLst>
          </p:cNvPr>
          <p:cNvSpPr>
            <a:spLocks xmlns:a="http://schemas.openxmlformats.org/drawingml/2006/main" noGrp="1"/>
          </p:cNvSpPr>
          <p:nvPr/>
        </p:nvSpPr>
        <p:spPr>
          <a:xfrm xmlns:a="http://schemas.openxmlformats.org/drawingml/2006/main">
            <a:off x="10477500" y="7058025"/>
            <a:ext cx="4191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A5276"/>
                </a:solidFill>
                <a:latin typeface="Arial"/>
                <a:ea typeface="Arial"/>
                <a:cs typeface="Arial"/>
              </a:defRPr>
            </a:pPr>
            <a:r>
              <a:rPr sz="2550" b="1">
                <a:solidFill>
                  <a:srgbClr val="1A5276"/>
                </a:solidFill>
                <a:latin typeface="Arial"/>
                <a:ea typeface="Arial"/>
                <a:cs typeface="Arial"/>
              </a:rPr>
              <a:t>V en A snijden elkaar.</a:t>
            </a:r>
          </a:p>
        </p:txBody>
      </p:sp>
    </p:spTree>
    <p:extLst>
      <p:ext uri="{BB962C8B-B14F-4D97-AF65-F5344CB8AC3E}">
        <p14:creationId xmlns:p14="http://schemas.microsoft.com/office/powerpoint/2010/main" val="150212685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e belasting komt boven op de gewenste ontvangst">
            <a:extLst xmlns:a="http://schemas.openxmlformats.org/drawingml/2006/main">
              <a:ext uri="{FF2B5EF4-FFF2-40B4-BE49-F238E27FC236}">
                <a16:creationId xmlns:a16="http://schemas.microsoft.com/office/drawing/2014/main" id="{CDAC857C-C901-4A1B-9B78-96F140E6D8EE}"/>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belasting komt boven op de gewenste ontvangst</a:t>
            </a:r>
          </a:p>
        </p:txBody>
      </p:sp>
      <p:sp>
        <p:nvSpPr>
          <p:cNvPr id="2" name="">
            <a:extLst xmlns:a="http://schemas.openxmlformats.org/drawingml/2006/main">
              <a:ext uri="{FF2B5EF4-FFF2-40B4-BE49-F238E27FC236}">
                <a16:creationId xmlns:a16="http://schemas.microsoft.com/office/drawing/2014/main" id="{C8F6CAB4-2960-4DF2-B412-4B445700A2D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1 Eén product, twee prijzen">
            <a:extLst xmlns:a="http://schemas.openxmlformats.org/drawingml/2006/main">
              <a:ext uri="{FF2B5EF4-FFF2-40B4-BE49-F238E27FC236}">
                <a16:creationId xmlns:a16="http://schemas.microsoft.com/office/drawing/2014/main" id="{556E2FAC-CDAA-4E91-9634-8320DBC7FC3C}"/>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§3.1.1 Eén product, twee prijzen</a:t>
            </a:r>
          </a:p>
        </p:txBody>
      </p:sp>
      <p:sp>
        <p:nvSpPr>
          <p:cNvPr id="4" name="7">
            <a:extLst xmlns:a="http://schemas.openxmlformats.org/drawingml/2006/main">
              <a:ext uri="{FF2B5EF4-FFF2-40B4-BE49-F238E27FC236}">
                <a16:creationId xmlns:a16="http://schemas.microsoft.com/office/drawing/2014/main" id="{EE609122-4FF9-4387-90F7-B20B1094BE5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Uitlegvoorbeeld — niet uit het boek">
            <a:extLst xmlns:a="http://schemas.openxmlformats.org/drawingml/2006/main">
              <a:ext uri="{FF2B5EF4-FFF2-40B4-BE49-F238E27FC236}">
                <a16:creationId xmlns:a16="http://schemas.microsoft.com/office/drawing/2014/main" id="{DB01858D-745C-49B8-AD10-72DBCE7810FD}"/>
              </a:ext>
            </a:extLst>
          </p:cNvPr>
          <p:cNvSpPr>
            <a:spLocks xmlns:a="http://schemas.openxmlformats.org/drawingml/2006/main" noGrp="1"/>
          </p:cNvSpPr>
          <p:nvPr/>
        </p:nvSpPr>
        <p:spPr>
          <a:xfrm xmlns:a="http://schemas.openxmlformats.org/drawingml/2006/main">
            <a:off x="571500" y="1685925"/>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graphicFrame>
        <p:nvGraphicFramePr>
          <p:cNvPr id="14" name=""/>
          <p:cNvGraphicFramePr/>
          <p:nvPr/>
        </p:nvGraphicFramePr>
        <p:xfrm>
          <a:off xmlns:a="http://schemas.openxmlformats.org/drawingml/2006/main" x="571500" y="2581275"/>
          <a:ext xmlns:a="http://schemas.openxmlformats.org/drawingml/2006/main" cx="14097000" cy="3095625"/>
        </p:xfrm>
        <a:graphic xmlns:a="http://schemas.openxmlformats.org/drawingml/2006/main">
          <a:graphicData uri="http://schemas.openxmlformats.org/drawingml/2006/table">
            <a:tbl>
              <a:tblPr/>
              <a:tblGrid>
                <a:gridCol w="3810000"/>
                <a:gridCol w="3714750"/>
                <a:gridCol w="2571750"/>
                <a:gridCol w="4000500"/>
              </a:tblGrid>
              <a:tr h="773906">
                <a:tc>
                  <a:txBody>
                    <a:bodyPr lIns="171450" tIns="95250" rIns="133350" bIns="95250"/>
                    <a:lstStyle/>
                    <a:p>
                      <a:r>
                        <a:rPr sz="2700" b="1">
                          <a:solidFill>
                            <a:srgbClr val="FFFFFF"/>
                          </a:solidFill>
                          <a:latin typeface="Arial"/>
                          <a:ea typeface="Arial"/>
                          <a:cs typeface="Arial"/>
                        </a:rPr>
                        <a:t>Q per week</a:t>
                      </a:r>
                    </a:p>
                  </a:txBody>
                  <a:tcPr marL="91440" marR="91440" marT="45720" marB="45720" anchor="ctr">
                    <a:solidFill>
                      <a:srgbClr val="183247"/>
                    </a:solidFill>
                  </a:tcPr>
                </a:tc>
                <a:tc>
                  <a:txBody>
                    <a:bodyPr lIns="171450" tIns="95250" rIns="133350" bIns="95250"/>
                    <a:lstStyle/>
                    <a:p>
                      <a:r>
                        <a:rPr sz="2700" b="1">
                          <a:solidFill>
                            <a:srgbClr val="FFFFFF"/>
                          </a:solidFill>
                          <a:latin typeface="Arial"/>
                          <a:ea typeface="Arial"/>
                          <a:cs typeface="Arial"/>
                        </a:rPr>
                        <a:t>Pp op A</a:t>
                      </a:r>
                    </a:p>
                  </a:txBody>
                  <a:tcPr marL="91440" marR="91440" marT="45720" marB="45720" anchor="ctr">
                    <a:solidFill>
                      <a:srgbClr val="183247"/>
                    </a:solidFill>
                  </a:tcPr>
                </a:tc>
                <a:tc>
                  <a:txBody>
                    <a:bodyPr lIns="171450" tIns="95250" rIns="133350" bIns="95250"/>
                    <a:lstStyle/>
                    <a:p>
                      <a:r>
                        <a:rPr sz="2700" b="1">
                          <a:solidFill>
                            <a:srgbClr val="FFFFFF"/>
                          </a:solidFill>
                          <a:latin typeface="Arial"/>
                          <a:ea typeface="Arial"/>
                          <a:cs typeface="Arial"/>
                        </a:rPr>
                        <a:t>t</a:t>
                      </a:r>
                    </a:p>
                  </a:txBody>
                  <a:tcPr marL="91440" marR="91440" marT="45720" marB="45720" anchor="ctr">
                    <a:solidFill>
                      <a:srgbClr val="183247"/>
                    </a:solidFill>
                  </a:tcPr>
                </a:tc>
                <a:tc>
                  <a:txBody>
                    <a:bodyPr lIns="171450" tIns="95250" rIns="133350" bIns="95250"/>
                    <a:lstStyle/>
                    <a:p>
                      <a:r>
                        <a:rPr sz="2700" b="1">
                          <a:solidFill>
                            <a:srgbClr val="FFFFFF"/>
                          </a:solidFill>
                          <a:latin typeface="Arial"/>
                          <a:ea typeface="Arial"/>
                          <a:cs typeface="Arial"/>
                        </a:rPr>
                        <a:t>Benodigde Pc</a:t>
                      </a:r>
                    </a:p>
                  </a:txBody>
                  <a:tcPr marL="91440" marR="91440" marT="45720" marB="45720" anchor="ctr">
                    <a:solidFill>
                      <a:srgbClr val="183247"/>
                    </a:solidFill>
                  </a:tcPr>
                </a:tc>
              </a:tr>
              <a:tr h="773906">
                <a:tc>
                  <a:txBody>
                    <a:bodyPr lIns="171450" tIns="95250" rIns="133350" bIns="95250"/>
                    <a:lstStyle/>
                    <a:p>
                      <a:r>
                        <a:rPr sz="2700" b="0">
                          <a:solidFill>
                            <a:srgbClr val="183247"/>
                          </a:solidFill>
                          <a:latin typeface="Arial"/>
                          <a:ea typeface="Arial"/>
                          <a:cs typeface="Arial"/>
                        </a:rPr>
                        <a:t>0</a:t>
                      </a:r>
                    </a:p>
                  </a:txBody>
                  <a:tcPr marL="91440" marR="91440" marT="45720" marB="45720" anchor="ctr">
                    <a:solidFill>
                      <a:srgbClr val="FFFFFF"/>
                    </a:solidFill>
                  </a:tcPr>
                </a:tc>
                <a:tc>
                  <a:txBody>
                    <a:bodyPr lIns="171450" tIns="95250" rIns="133350" bIns="95250"/>
                    <a:lstStyle/>
                    <a:p>
                      <a:r>
                        <a:rPr sz="2700" b="0">
                          <a:solidFill>
                            <a:srgbClr val="183247"/>
                          </a:solidFill>
                          <a:latin typeface="Arial"/>
                          <a:ea typeface="Arial"/>
                          <a:cs typeface="Arial"/>
                        </a:rPr>
                        <a:t>€ 6</a:t>
                      </a:r>
                    </a:p>
                  </a:txBody>
                  <a:tcPr marL="91440" marR="91440" marT="45720" marB="45720" anchor="ctr">
                    <a:solidFill>
                      <a:srgbClr val="FFFFFF"/>
                    </a:solidFill>
                  </a:tcPr>
                </a:tc>
                <a:tc>
                  <a:txBody>
                    <a:bodyPr lIns="171450" tIns="95250" rIns="133350" bIns="95250"/>
                    <a:lstStyle/>
                    <a:p>
                      <a:r>
                        <a:rPr sz="2700" b="0">
                          <a:solidFill>
                            <a:srgbClr val="183247"/>
                          </a:solidFill>
                          <a:latin typeface="Arial"/>
                          <a:ea typeface="Arial"/>
                          <a:cs typeface="Arial"/>
                        </a:rPr>
                        <a:t>€ 6</a:t>
                      </a:r>
                    </a:p>
                  </a:txBody>
                  <a:tcPr marL="91440" marR="91440" marT="45720" marB="45720" anchor="ctr">
                    <a:solidFill>
                      <a:srgbClr val="FFFFFF"/>
                    </a:solidFill>
                  </a:tcPr>
                </a:tc>
                <a:tc>
                  <a:txBody>
                    <a:bodyPr lIns="171450" tIns="95250" rIns="133350" bIns="95250"/>
                    <a:lstStyle/>
                    <a:p>
                      <a:r>
                        <a:rPr sz="2700" b="0">
                          <a:solidFill>
                            <a:srgbClr val="183247"/>
                          </a:solidFill>
                          <a:latin typeface="Arial"/>
                          <a:ea typeface="Arial"/>
                          <a:cs typeface="Arial"/>
                        </a:rPr>
                        <a:t>€ 12</a:t>
                      </a:r>
                    </a:p>
                  </a:txBody>
                  <a:tcPr marL="91440" marR="91440" marT="45720" marB="45720" anchor="ctr">
                    <a:solidFill>
                      <a:srgbClr val="FFFFFF"/>
                    </a:solidFill>
                  </a:tcPr>
                </a:tc>
              </a:tr>
              <a:tr h="773906">
                <a:tc>
                  <a:txBody>
                    <a:bodyPr lIns="171450" tIns="95250" rIns="133350" bIns="95250"/>
                    <a:lstStyle/>
                    <a:p>
                      <a:r>
                        <a:rPr sz="2700" b="0">
                          <a:solidFill>
                            <a:srgbClr val="183247"/>
                          </a:solidFill>
                          <a:latin typeface="Arial"/>
                          <a:ea typeface="Arial"/>
                          <a:cs typeface="Arial"/>
                        </a:rPr>
                        <a:t>60</a:t>
                      </a:r>
                    </a:p>
                  </a:txBody>
                  <a:tcPr marL="91440" marR="91440" marT="45720" marB="45720" anchor="ctr">
                    <a:solidFill>
                      <a:srgbClr val="EFF4F7"/>
                    </a:solidFill>
                  </a:tcPr>
                </a:tc>
                <a:tc>
                  <a:txBody>
                    <a:bodyPr lIns="171450" tIns="95250" rIns="133350" bIns="95250"/>
                    <a:lstStyle/>
                    <a:p>
                      <a:r>
                        <a:rPr sz="2700" b="0">
                          <a:solidFill>
                            <a:srgbClr val="183247"/>
                          </a:solidFill>
                          <a:latin typeface="Arial"/>
                          <a:ea typeface="Arial"/>
                          <a:cs typeface="Arial"/>
                        </a:rPr>
                        <a:t>€ 12</a:t>
                      </a:r>
                    </a:p>
                  </a:txBody>
                  <a:tcPr marL="91440" marR="91440" marT="45720" marB="45720" anchor="ctr">
                    <a:solidFill>
                      <a:srgbClr val="EFF4F7"/>
                    </a:solidFill>
                  </a:tcPr>
                </a:tc>
                <a:tc>
                  <a:txBody>
                    <a:bodyPr lIns="171450" tIns="95250" rIns="133350" bIns="95250"/>
                    <a:lstStyle/>
                    <a:p>
                      <a:r>
                        <a:rPr sz="2700" b="0">
                          <a:solidFill>
                            <a:srgbClr val="183247"/>
                          </a:solidFill>
                          <a:latin typeface="Arial"/>
                          <a:ea typeface="Arial"/>
                          <a:cs typeface="Arial"/>
                        </a:rPr>
                        <a:t>€ 6</a:t>
                      </a:r>
                    </a:p>
                  </a:txBody>
                  <a:tcPr marL="91440" marR="91440" marT="45720" marB="45720" anchor="ctr">
                    <a:solidFill>
                      <a:srgbClr val="EFF4F7"/>
                    </a:solidFill>
                  </a:tcPr>
                </a:tc>
                <a:tc>
                  <a:txBody>
                    <a:bodyPr lIns="171450" tIns="95250" rIns="133350" bIns="95250"/>
                    <a:lstStyle/>
                    <a:p>
                      <a:r>
                        <a:rPr sz="2700" b="0">
                          <a:solidFill>
                            <a:srgbClr val="183247"/>
                          </a:solidFill>
                          <a:latin typeface="Arial"/>
                          <a:ea typeface="Arial"/>
                          <a:cs typeface="Arial"/>
                        </a:rPr>
                        <a:t>€ 18</a:t>
                      </a:r>
                    </a:p>
                  </a:txBody>
                  <a:tcPr marL="91440" marR="91440" marT="45720" marB="45720" anchor="ctr">
                    <a:solidFill>
                      <a:srgbClr val="EFF4F7"/>
                    </a:solidFill>
                  </a:tcPr>
                </a:tc>
              </a:tr>
              <a:tr h="773906">
                <a:tc>
                  <a:txBody>
                    <a:bodyPr lIns="171450" tIns="95250" rIns="133350" bIns="95250"/>
                    <a:lstStyle/>
                    <a:p>
                      <a:r>
                        <a:rPr sz="2700" b="0">
                          <a:solidFill>
                            <a:srgbClr val="183247"/>
                          </a:solidFill>
                          <a:latin typeface="Arial"/>
                          <a:ea typeface="Arial"/>
                          <a:cs typeface="Arial"/>
                        </a:rPr>
                        <a:t>120</a:t>
                      </a:r>
                    </a:p>
                  </a:txBody>
                  <a:tcPr marL="91440" marR="91440" marT="45720" marB="45720" anchor="ctr">
                    <a:solidFill>
                      <a:srgbClr val="FFFFFF"/>
                    </a:solidFill>
                  </a:tcPr>
                </a:tc>
                <a:tc>
                  <a:txBody>
                    <a:bodyPr lIns="171450" tIns="95250" rIns="133350" bIns="95250"/>
                    <a:lstStyle/>
                    <a:p>
                      <a:r>
                        <a:rPr sz="2700" b="0">
                          <a:solidFill>
                            <a:srgbClr val="183247"/>
                          </a:solidFill>
                          <a:latin typeface="Arial"/>
                          <a:ea typeface="Arial"/>
                          <a:cs typeface="Arial"/>
                        </a:rPr>
                        <a:t>€ 18</a:t>
                      </a:r>
                    </a:p>
                  </a:txBody>
                  <a:tcPr marL="91440" marR="91440" marT="45720" marB="45720" anchor="ctr">
                    <a:solidFill>
                      <a:srgbClr val="FFFFFF"/>
                    </a:solidFill>
                  </a:tcPr>
                </a:tc>
                <a:tc>
                  <a:txBody>
                    <a:bodyPr lIns="171450" tIns="95250" rIns="133350" bIns="95250"/>
                    <a:lstStyle/>
                    <a:p>
                      <a:r>
                        <a:rPr sz="2700" b="0">
                          <a:solidFill>
                            <a:srgbClr val="183247"/>
                          </a:solidFill>
                          <a:latin typeface="Arial"/>
                          <a:ea typeface="Arial"/>
                          <a:cs typeface="Arial"/>
                        </a:rPr>
                        <a:t>€ 6</a:t>
                      </a:r>
                    </a:p>
                  </a:txBody>
                  <a:tcPr marL="91440" marR="91440" marT="45720" marB="45720" anchor="ctr">
                    <a:solidFill>
                      <a:srgbClr val="FFFFFF"/>
                    </a:solidFill>
                  </a:tcPr>
                </a:tc>
                <a:tc>
                  <a:txBody>
                    <a:bodyPr lIns="171450" tIns="95250" rIns="133350" bIns="95250"/>
                    <a:lstStyle/>
                    <a:p>
                      <a:r>
                        <a:rPr sz="2700" b="0">
                          <a:solidFill>
                            <a:srgbClr val="183247"/>
                          </a:solidFill>
                          <a:latin typeface="Arial"/>
                          <a:ea typeface="Arial"/>
                          <a:cs typeface="Arial"/>
                        </a:rPr>
                        <a:t>€ 24</a:t>
                      </a:r>
                    </a:p>
                  </a:txBody>
                  <a:tcPr marL="91440" marR="91440" marT="45720" marB="45720" anchor="ctr">
                    <a:solidFill>
                      <a:srgbClr val="FFFFFF"/>
                    </a:solidFill>
                  </a:tcPr>
                </a:tc>
              </a:tr>
            </a:tbl>
          </a:graphicData>
        </a:graphic>
      </p:graphicFrame>
      <p:sp>
        <p:nvSpPr>
          <p:cNvPr id="7" name="Bij iedere hoeveelheid: Pc = Pp + 6">
            <a:extLst xmlns:a="http://schemas.openxmlformats.org/drawingml/2006/main">
              <a:ext uri="{FF2B5EF4-FFF2-40B4-BE49-F238E27FC236}">
                <a16:creationId xmlns:a16="http://schemas.microsoft.com/office/drawing/2014/main" id="{F629A5EF-1000-4ECD-BDF2-A823C154A426}"/>
              </a:ext>
            </a:extLst>
          </p:cNvPr>
          <p:cNvSpPr>
            <a:spLocks xmlns:a="http://schemas.openxmlformats.org/drawingml/2006/main" noGrp="1"/>
          </p:cNvSpPr>
          <p:nvPr/>
        </p:nvSpPr>
        <p:spPr>
          <a:xfrm xmlns:a="http://schemas.openxmlformats.org/drawingml/2006/main">
            <a:off x="571500" y="6219825"/>
            <a:ext cx="14097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A94D16"/>
                </a:solidFill>
                <a:latin typeface="Arial"/>
                <a:ea typeface="Arial"/>
                <a:cs typeface="Arial"/>
              </a:defRPr>
            </a:pPr>
            <a:r>
              <a:rPr sz="3600" b="1">
                <a:solidFill>
                  <a:srgbClr val="A94D16"/>
                </a:solidFill>
                <a:latin typeface="Arial"/>
                <a:ea typeface="Arial"/>
                <a:cs typeface="Arial"/>
              </a:rPr>
              <a:t>Bij iedere hoeveelheid: Pc = Pp + 6</a:t>
            </a:r>
          </a:p>
        </p:txBody>
      </p:sp>
      <p:sp>
        <p:nvSpPr>
          <p:cNvPr id="8" name="De oorspronkelijke A blijft de gewenste ontvangst aangeven.">
            <a:extLst xmlns:a="http://schemas.openxmlformats.org/drawingml/2006/main">
              <a:ext uri="{FF2B5EF4-FFF2-40B4-BE49-F238E27FC236}">
                <a16:creationId xmlns:a16="http://schemas.microsoft.com/office/drawing/2014/main" id="{EEADD816-2A9B-43B1-8972-F869188AF503}"/>
              </a:ext>
            </a:extLst>
          </p:cNvPr>
          <p:cNvSpPr>
            <a:spLocks xmlns:a="http://schemas.openxmlformats.org/drawingml/2006/main" noGrp="1"/>
          </p:cNvSpPr>
          <p:nvPr/>
        </p:nvSpPr>
        <p:spPr>
          <a:xfrm xmlns:a="http://schemas.openxmlformats.org/drawingml/2006/main">
            <a:off x="571500" y="724852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De oorspronkelijke A blijft de gewenste ontvangst aangeven.</a:t>
            </a:r>
          </a:p>
        </p:txBody>
      </p:sp>
    </p:spTree>
    <p:extLst>
      <p:ext uri="{BB962C8B-B14F-4D97-AF65-F5344CB8AC3E}">
        <p14:creationId xmlns:p14="http://schemas.microsoft.com/office/powerpoint/2010/main" val="161693421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Het aanbod in kopersprijzen">
            <a:extLst xmlns:a="http://schemas.openxmlformats.org/drawingml/2006/main">
              <a:ext uri="{FF2B5EF4-FFF2-40B4-BE49-F238E27FC236}">
                <a16:creationId xmlns:a16="http://schemas.microsoft.com/office/drawing/2014/main" id="{86CB9DB7-0940-4A32-B9AD-C6F708198F74}"/>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Het aanbod in kopersprijzen</a:t>
            </a:r>
          </a:p>
        </p:txBody>
      </p:sp>
      <p:sp>
        <p:nvSpPr>
          <p:cNvPr id="2" name="">
            <a:extLst xmlns:a="http://schemas.openxmlformats.org/drawingml/2006/main">
              <a:ext uri="{FF2B5EF4-FFF2-40B4-BE49-F238E27FC236}">
                <a16:creationId xmlns:a16="http://schemas.microsoft.com/office/drawing/2014/main" id="{7141CEC8-2242-4BE0-85BD-5C0559E76D1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1 Eén product, twee prijzen">
            <a:extLst xmlns:a="http://schemas.openxmlformats.org/drawingml/2006/main">
              <a:ext uri="{FF2B5EF4-FFF2-40B4-BE49-F238E27FC236}">
                <a16:creationId xmlns:a16="http://schemas.microsoft.com/office/drawing/2014/main" id="{BA3E4991-3B6B-4A17-88D2-ED832B106344}"/>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§3.1.1 Eén product, twee prijzen</a:t>
            </a:r>
          </a:p>
        </p:txBody>
      </p:sp>
      <p:sp>
        <p:nvSpPr>
          <p:cNvPr id="4" name="8">
            <a:extLst xmlns:a="http://schemas.openxmlformats.org/drawingml/2006/main">
              <a:ext uri="{FF2B5EF4-FFF2-40B4-BE49-F238E27FC236}">
                <a16:creationId xmlns:a16="http://schemas.microsoft.com/office/drawing/2014/main" id="{1F1CD9DE-F039-41DB-922A-7153E57BB5D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sp>
        <p:nvSpPr>
          <p:cNvPr id="5" name="Uitlegvoorbeeld — niet uit het boek">
            <a:extLst xmlns:a="http://schemas.openxmlformats.org/drawingml/2006/main">
              <a:ext uri="{FF2B5EF4-FFF2-40B4-BE49-F238E27FC236}">
                <a16:creationId xmlns:a16="http://schemas.microsoft.com/office/drawing/2014/main" id="{4A36207E-A3AF-4C1F-859D-5C6DE79A8CED}"/>
              </a:ext>
            </a:extLst>
          </p:cNvPr>
          <p:cNvSpPr>
            <a:spLocks xmlns:a="http://schemas.openxmlformats.org/drawingml/2006/main" noGrp="1"/>
          </p:cNvSpPr>
          <p:nvPr/>
        </p:nvSpPr>
        <p:spPr>
          <a:xfrm xmlns:a="http://schemas.openxmlformats.org/drawingml/2006/main">
            <a:off x="571500" y="1685925"/>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sp>
        <p:nvSpPr>
          <p:cNvPr id="6" name="Oorspronkelijke A">
            <a:extLst xmlns:a="http://schemas.openxmlformats.org/drawingml/2006/main">
              <a:ext uri="{FF2B5EF4-FFF2-40B4-BE49-F238E27FC236}">
                <a16:creationId xmlns:a16="http://schemas.microsoft.com/office/drawing/2014/main" id="{EBFF78C7-6163-401C-B30E-11AC2B74D1FB}"/>
              </a:ext>
            </a:extLst>
          </p:cNvPr>
          <p:cNvSpPr>
            <a:spLocks xmlns:a="http://schemas.openxmlformats.org/drawingml/2006/main" noGrp="1"/>
          </p:cNvSpPr>
          <p:nvPr/>
        </p:nvSpPr>
        <p:spPr>
          <a:xfrm xmlns:a="http://schemas.openxmlformats.org/drawingml/2006/main">
            <a:off x="571500" y="2571750"/>
            <a:ext cx="619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Oorspronkelijke A</a:t>
            </a:r>
          </a:p>
        </p:txBody>
      </p:sp>
      <p:sp>
        <p:nvSpPr>
          <p:cNvPr id="7" name="Pp = 6 + 0,10Q">
            <a:extLst xmlns:a="http://schemas.openxmlformats.org/drawingml/2006/main">
              <a:ext uri="{FF2B5EF4-FFF2-40B4-BE49-F238E27FC236}">
                <a16:creationId xmlns:a16="http://schemas.microsoft.com/office/drawing/2014/main" id="{A940E1E2-3917-41D6-A993-D2B6799E4985}"/>
              </a:ext>
            </a:extLst>
          </p:cNvPr>
          <p:cNvSpPr>
            <a:spLocks xmlns:a="http://schemas.openxmlformats.org/drawingml/2006/main" noGrp="1"/>
          </p:cNvSpPr>
          <p:nvPr/>
        </p:nvSpPr>
        <p:spPr>
          <a:xfrm xmlns:a="http://schemas.openxmlformats.org/drawingml/2006/main">
            <a:off x="6953250" y="2571750"/>
            <a:ext cx="771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Pp = 6 + 0,10Q</a:t>
            </a:r>
          </a:p>
        </p:txBody>
      </p:sp>
      <p:sp>
        <p:nvSpPr>
          <p:cNvPr id="8" name="">
            <a:extLst xmlns:a="http://schemas.openxmlformats.org/drawingml/2006/main">
              <a:ext uri="{FF2B5EF4-FFF2-40B4-BE49-F238E27FC236}">
                <a16:creationId xmlns:a16="http://schemas.microsoft.com/office/drawing/2014/main" id="{A7FCF121-3B1A-41FA-8C1D-4D357C9D8FAF}"/>
              </a:ext>
            </a:extLst>
          </p:cNvPr>
          <p:cNvSpPr>
            <a:spLocks xmlns:a="http://schemas.openxmlformats.org/drawingml/2006/main" noGrp="1"/>
          </p:cNvSpPr>
          <p:nvPr/>
        </p:nvSpPr>
        <p:spPr>
          <a:xfrm xmlns:a="http://schemas.openxmlformats.org/drawingml/2006/main">
            <a:off x="571500" y="3533775"/>
            <a:ext cx="14097000" cy="0"/>
          </a:xfrm>
          <a:prstGeom xmlns:a="http://schemas.openxmlformats.org/drawingml/2006/main" prst="line">
            <a:avLst/>
          </a:prstGeom>
          <a:ln xmlns:a="http://schemas.openxmlformats.org/drawingml/2006/main" w="19050">
            <a:solidFill>
              <a:srgbClr val="C6D2DB"/>
            </a:solidFill>
          </a:ln>
        </p:spPr>
      </p:sp>
      <p:sp>
        <p:nvSpPr>
          <p:cNvPr id="9" name="Belasting erbij">
            <a:extLst xmlns:a="http://schemas.openxmlformats.org/drawingml/2006/main">
              <a:ext uri="{FF2B5EF4-FFF2-40B4-BE49-F238E27FC236}">
                <a16:creationId xmlns:a16="http://schemas.microsoft.com/office/drawing/2014/main" id="{284CEE85-F5FD-4315-B1A5-3D2FFDA11218}"/>
              </a:ext>
            </a:extLst>
          </p:cNvPr>
          <p:cNvSpPr>
            <a:spLocks xmlns:a="http://schemas.openxmlformats.org/drawingml/2006/main" noGrp="1"/>
          </p:cNvSpPr>
          <p:nvPr/>
        </p:nvSpPr>
        <p:spPr>
          <a:xfrm xmlns:a="http://schemas.openxmlformats.org/drawingml/2006/main">
            <a:off x="571500" y="3848100"/>
            <a:ext cx="619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Belasting erbij</a:t>
            </a:r>
          </a:p>
        </p:txBody>
      </p:sp>
      <p:sp>
        <p:nvSpPr>
          <p:cNvPr id="10" name="Pc = Pp + 6">
            <a:extLst xmlns:a="http://schemas.openxmlformats.org/drawingml/2006/main">
              <a:ext uri="{FF2B5EF4-FFF2-40B4-BE49-F238E27FC236}">
                <a16:creationId xmlns:a16="http://schemas.microsoft.com/office/drawing/2014/main" id="{46267C3C-B24A-41EC-9F96-44D36762CA62}"/>
              </a:ext>
            </a:extLst>
          </p:cNvPr>
          <p:cNvSpPr>
            <a:spLocks xmlns:a="http://schemas.openxmlformats.org/drawingml/2006/main" noGrp="1"/>
          </p:cNvSpPr>
          <p:nvPr/>
        </p:nvSpPr>
        <p:spPr>
          <a:xfrm xmlns:a="http://schemas.openxmlformats.org/drawingml/2006/main">
            <a:off x="6953250" y="3848100"/>
            <a:ext cx="771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Pc = Pp + 6</a:t>
            </a:r>
          </a:p>
        </p:txBody>
      </p:sp>
      <p:sp>
        <p:nvSpPr>
          <p:cNvPr id="11" name="">
            <a:extLst xmlns:a="http://schemas.openxmlformats.org/drawingml/2006/main">
              <a:ext uri="{FF2B5EF4-FFF2-40B4-BE49-F238E27FC236}">
                <a16:creationId xmlns:a16="http://schemas.microsoft.com/office/drawing/2014/main" id="{D603BBE3-27D9-48D4-B5CE-0917D2B48E84}"/>
              </a:ext>
            </a:extLst>
          </p:cNvPr>
          <p:cNvSpPr>
            <a:spLocks xmlns:a="http://schemas.openxmlformats.org/drawingml/2006/main" noGrp="1"/>
          </p:cNvSpPr>
          <p:nvPr/>
        </p:nvSpPr>
        <p:spPr>
          <a:xfrm xmlns:a="http://schemas.openxmlformats.org/drawingml/2006/main">
            <a:off x="571500" y="4810125"/>
            <a:ext cx="14097000" cy="0"/>
          </a:xfrm>
          <a:prstGeom xmlns:a="http://schemas.openxmlformats.org/drawingml/2006/main" prst="line">
            <a:avLst/>
          </a:prstGeom>
          <a:ln xmlns:a="http://schemas.openxmlformats.org/drawingml/2006/main" w="19050">
            <a:solidFill>
              <a:srgbClr val="C6D2DB"/>
            </a:solidFill>
          </a:ln>
        </p:spPr>
      </p:sp>
      <p:sp>
        <p:nvSpPr>
          <p:cNvPr id="12" name="Invullen en samenvoegen">
            <a:extLst xmlns:a="http://schemas.openxmlformats.org/drawingml/2006/main">
              <a:ext uri="{FF2B5EF4-FFF2-40B4-BE49-F238E27FC236}">
                <a16:creationId xmlns:a16="http://schemas.microsoft.com/office/drawing/2014/main" id="{BCFABCA6-581D-41B9-AB50-520B08F8FD5F}"/>
              </a:ext>
            </a:extLst>
          </p:cNvPr>
          <p:cNvSpPr>
            <a:spLocks xmlns:a="http://schemas.openxmlformats.org/drawingml/2006/main" noGrp="1"/>
          </p:cNvSpPr>
          <p:nvPr/>
        </p:nvSpPr>
        <p:spPr>
          <a:xfrm xmlns:a="http://schemas.openxmlformats.org/drawingml/2006/main">
            <a:off x="571500" y="5124450"/>
            <a:ext cx="619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Invullen en samenvoegen</a:t>
            </a:r>
          </a:p>
        </p:txBody>
      </p:sp>
      <p:sp>
        <p:nvSpPr>
          <p:cNvPr id="13" name="Pc = (6 + 0,10Q) + 6">
            <a:extLst xmlns:a="http://schemas.openxmlformats.org/drawingml/2006/main">
              <a:ext uri="{FF2B5EF4-FFF2-40B4-BE49-F238E27FC236}">
                <a16:creationId xmlns:a16="http://schemas.microsoft.com/office/drawing/2014/main" id="{2ECB3AEF-6179-46D1-BD35-93D3DFF3F517}"/>
              </a:ext>
            </a:extLst>
          </p:cNvPr>
          <p:cNvSpPr>
            <a:spLocks xmlns:a="http://schemas.openxmlformats.org/drawingml/2006/main" noGrp="1"/>
          </p:cNvSpPr>
          <p:nvPr/>
        </p:nvSpPr>
        <p:spPr>
          <a:xfrm xmlns:a="http://schemas.openxmlformats.org/drawingml/2006/main">
            <a:off x="6953250" y="5124450"/>
            <a:ext cx="771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Pc = (6 + 0,10Q) + 6</a:t>
            </a:r>
          </a:p>
        </p:txBody>
      </p:sp>
      <p:sp>
        <p:nvSpPr>
          <p:cNvPr id="14" name="">
            <a:extLst xmlns:a="http://schemas.openxmlformats.org/drawingml/2006/main">
              <a:ext uri="{FF2B5EF4-FFF2-40B4-BE49-F238E27FC236}">
                <a16:creationId xmlns:a16="http://schemas.microsoft.com/office/drawing/2014/main" id="{57F933B3-D989-4C09-8326-AD40CEE710B1}"/>
              </a:ext>
            </a:extLst>
          </p:cNvPr>
          <p:cNvSpPr>
            <a:spLocks xmlns:a="http://schemas.openxmlformats.org/drawingml/2006/main" noGrp="1"/>
          </p:cNvSpPr>
          <p:nvPr/>
        </p:nvSpPr>
        <p:spPr>
          <a:xfrm xmlns:a="http://schemas.openxmlformats.org/drawingml/2006/main">
            <a:off x="571500" y="6086475"/>
            <a:ext cx="14097000" cy="0"/>
          </a:xfrm>
          <a:prstGeom xmlns:a="http://schemas.openxmlformats.org/drawingml/2006/main" prst="line">
            <a:avLst/>
          </a:prstGeom>
          <a:ln xmlns:a="http://schemas.openxmlformats.org/drawingml/2006/main" w="19050">
            <a:solidFill>
              <a:srgbClr val="C6D2DB"/>
            </a:solidFill>
          </a:ln>
        </p:spPr>
      </p:sp>
      <p:sp>
        <p:nvSpPr>
          <p:cNvPr id="15" name="Nieuwe lijn A + t">
            <a:extLst xmlns:a="http://schemas.openxmlformats.org/drawingml/2006/main">
              <a:ext uri="{FF2B5EF4-FFF2-40B4-BE49-F238E27FC236}">
                <a16:creationId xmlns:a16="http://schemas.microsoft.com/office/drawing/2014/main" id="{BAEC0B0A-FBE8-4476-A433-7A42BA76B148}"/>
              </a:ext>
            </a:extLst>
          </p:cNvPr>
          <p:cNvSpPr>
            <a:spLocks xmlns:a="http://schemas.openxmlformats.org/drawingml/2006/main" noGrp="1"/>
          </p:cNvSpPr>
          <p:nvPr/>
        </p:nvSpPr>
        <p:spPr>
          <a:xfrm xmlns:a="http://schemas.openxmlformats.org/drawingml/2006/main">
            <a:off x="571500" y="6400800"/>
            <a:ext cx="619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A94D16"/>
                </a:solidFill>
                <a:latin typeface="Arial"/>
                <a:ea typeface="Arial"/>
                <a:cs typeface="Arial"/>
              </a:defRPr>
            </a:pPr>
            <a:r>
              <a:rPr sz="2625" b="1">
                <a:solidFill>
                  <a:srgbClr val="A94D16"/>
                </a:solidFill>
                <a:latin typeface="Arial"/>
                <a:ea typeface="Arial"/>
                <a:cs typeface="Arial"/>
              </a:rPr>
              <a:t>Nieuwe lijn A + t</a:t>
            </a:r>
          </a:p>
        </p:txBody>
      </p:sp>
      <p:sp>
        <p:nvSpPr>
          <p:cNvPr id="16" name="Pc = 12 + 0,10Q">
            <a:extLst xmlns:a="http://schemas.openxmlformats.org/drawingml/2006/main">
              <a:ext uri="{FF2B5EF4-FFF2-40B4-BE49-F238E27FC236}">
                <a16:creationId xmlns:a16="http://schemas.microsoft.com/office/drawing/2014/main" id="{C5C86E99-2F4E-47AF-867C-5C76B6EF1475}"/>
              </a:ext>
            </a:extLst>
          </p:cNvPr>
          <p:cNvSpPr>
            <a:spLocks xmlns:a="http://schemas.openxmlformats.org/drawingml/2006/main" noGrp="1"/>
          </p:cNvSpPr>
          <p:nvPr/>
        </p:nvSpPr>
        <p:spPr>
          <a:xfrm xmlns:a="http://schemas.openxmlformats.org/drawingml/2006/main">
            <a:off x="6953250" y="6400800"/>
            <a:ext cx="771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A94D16"/>
                </a:solidFill>
                <a:latin typeface="Arial"/>
                <a:ea typeface="Arial"/>
                <a:cs typeface="Arial"/>
              </a:defRPr>
            </a:pPr>
            <a:r>
              <a:rPr sz="3225" b="1">
                <a:solidFill>
                  <a:srgbClr val="A94D16"/>
                </a:solidFill>
                <a:latin typeface="Arial"/>
                <a:ea typeface="Arial"/>
                <a:cs typeface="Arial"/>
              </a:rPr>
              <a:t>Pc = 12 + 0,10Q</a:t>
            </a:r>
          </a:p>
        </p:txBody>
      </p:sp>
    </p:spTree>
    <p:extLst>
      <p:ext uri="{BB962C8B-B14F-4D97-AF65-F5344CB8AC3E}">
        <p14:creationId xmlns:p14="http://schemas.microsoft.com/office/powerpoint/2010/main" val="103398784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De aanbodlijn verschuift">
            <a:extLst xmlns:a="http://schemas.openxmlformats.org/drawingml/2006/main">
              <a:ext uri="{FF2B5EF4-FFF2-40B4-BE49-F238E27FC236}">
                <a16:creationId xmlns:a16="http://schemas.microsoft.com/office/drawing/2014/main" id="{61212087-EA2E-4EFC-8BC1-143068D2BE2D}"/>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aanbodlijn verschuift</a:t>
            </a:r>
          </a:p>
        </p:txBody>
      </p:sp>
      <p:sp>
        <p:nvSpPr>
          <p:cNvPr id="2" name="">
            <a:extLst xmlns:a="http://schemas.openxmlformats.org/drawingml/2006/main">
              <a:ext uri="{FF2B5EF4-FFF2-40B4-BE49-F238E27FC236}">
                <a16:creationId xmlns:a16="http://schemas.microsoft.com/office/drawing/2014/main" id="{F0DCDCC1-E4DB-4310-A8EE-42924A5C1E2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1 Eén product, twee prijzen">
            <a:extLst xmlns:a="http://schemas.openxmlformats.org/drawingml/2006/main">
              <a:ext uri="{FF2B5EF4-FFF2-40B4-BE49-F238E27FC236}">
                <a16:creationId xmlns:a16="http://schemas.microsoft.com/office/drawing/2014/main" id="{0A211C9C-464C-4205-B457-557B58F546D8}"/>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§3.1.1 Eén product, twee prijzen</a:t>
            </a:r>
          </a:p>
        </p:txBody>
      </p:sp>
      <p:sp>
        <p:nvSpPr>
          <p:cNvPr id="4" name="9">
            <a:extLst xmlns:a="http://schemas.openxmlformats.org/drawingml/2006/main">
              <a:ext uri="{FF2B5EF4-FFF2-40B4-BE49-F238E27FC236}">
                <a16:creationId xmlns:a16="http://schemas.microsoft.com/office/drawing/2014/main" id="{388B8AE9-906C-4F91-82A6-14F3F8C10E0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Uitlegvoorbeeld — niet uit het boek">
            <a:extLst xmlns:a="http://schemas.openxmlformats.org/drawingml/2006/main">
              <a:ext uri="{FF2B5EF4-FFF2-40B4-BE49-F238E27FC236}">
                <a16:creationId xmlns:a16="http://schemas.microsoft.com/office/drawing/2014/main" id="{9A227120-1ED4-49D4-B5CA-D3E5E6DDBCAE}"/>
              </a:ext>
            </a:extLst>
          </p:cNvPr>
          <p:cNvSpPr>
            <a:spLocks xmlns:a="http://schemas.openxmlformats.org/drawingml/2006/main" noGrp="1"/>
          </p:cNvSpPr>
          <p:nvPr/>
        </p:nvSpPr>
        <p:spPr>
          <a:xfrm xmlns:a="http://schemas.openxmlformats.org/drawingml/2006/main">
            <a:off x="571500" y="1685925"/>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graphicFrame>
        <p:nvGraphicFramePr>
          <p:cNvPr id="16" name="Chart"/>
          <p:cNvGraphicFramePr/>
          <p:nvPr/>
        </p:nvGraphicFramePr>
        <p:xfrm>
          <a:off xmlns:a="http://schemas.openxmlformats.org/drawingml/2006/main" x="571500" y="2238375"/>
          <a:ext xmlns:a="http://schemas.openxmlformats.org/drawingml/2006/main" cx="9429750" cy="5524500"/>
        </p:xfrm>
        <a:graphic xmlns:a="http://schemas.openxmlformats.org/drawingml/2006/main">
          <a:graphicData uri="http://schemas.openxmlformats.org/drawingml/2006/chart">
            <c:chart xmlns:r="http://schemas.openxmlformats.org/officeDocument/2006/relationships" xmlns:c="http://schemas.openxmlformats.org/drawingml/2006/chart" r:id="R936d10108cf94465"/>
          </a:graphicData>
        </a:graphic>
      </p:graphicFrame>
      <p:sp>
        <p:nvSpPr>
          <p:cNvPr id="7" name="A + t ligt € 6 hoger&#10;bij dezelfde Q.">
            <a:extLst xmlns:a="http://schemas.openxmlformats.org/drawingml/2006/main">
              <a:ext uri="{FF2B5EF4-FFF2-40B4-BE49-F238E27FC236}">
                <a16:creationId xmlns:a16="http://schemas.microsoft.com/office/drawing/2014/main" id="{09597EDA-2386-4A5E-B6CA-EAF60E43A725}"/>
              </a:ext>
            </a:extLst>
          </p:cNvPr>
          <p:cNvSpPr>
            <a:spLocks xmlns:a="http://schemas.openxmlformats.org/drawingml/2006/main" noGrp="1"/>
          </p:cNvSpPr>
          <p:nvPr/>
        </p:nvSpPr>
        <p:spPr>
          <a:xfrm xmlns:a="http://schemas.openxmlformats.org/drawingml/2006/main">
            <a:off x="10477500" y="2457450"/>
            <a:ext cx="4191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A94D16"/>
                </a:solidFill>
                <a:latin typeface="Arial"/>
                <a:ea typeface="Arial"/>
                <a:cs typeface="Arial"/>
              </a:defRPr>
            </a:pPr>
            <a:r>
              <a:rPr sz="2700" b="1">
                <a:solidFill>
                  <a:srgbClr val="A94D16"/>
                </a:solidFill>
                <a:latin typeface="Arial"/>
                <a:ea typeface="Arial"/>
                <a:cs typeface="Arial"/>
              </a:rPr>
              <a:t>A + t ligt € 6 hoger</a:t>
            </a:r>
          </a:p>
          <a:p xmlns:a="http://schemas.openxmlformats.org/drawingml/2006/main">
            <a:pPr algn="l">
              <a:defRPr sz="2700" b="1">
                <a:solidFill>
                  <a:srgbClr val="A94D16"/>
                </a:solidFill>
                <a:latin typeface="Arial"/>
                <a:ea typeface="Arial"/>
                <a:cs typeface="Arial"/>
              </a:defRPr>
            </a:pPr>
            <a:r>
              <a:rPr sz="2700" b="1">
                <a:solidFill>
                  <a:srgbClr val="A94D16"/>
                </a:solidFill>
                <a:latin typeface="Arial"/>
                <a:ea typeface="Arial"/>
                <a:cs typeface="Arial"/>
              </a:rPr>
              <a:t>bij dezelfde Q.</a:t>
            </a:r>
          </a:p>
        </p:txBody>
      </p:sp>
      <p:sp>
        <p:nvSpPr>
          <p:cNvPr id="8" name="Rechte lijn door&#10;(0; 12) en (160; 28)">
            <a:extLst xmlns:a="http://schemas.openxmlformats.org/drawingml/2006/main">
              <a:ext uri="{FF2B5EF4-FFF2-40B4-BE49-F238E27FC236}">
                <a16:creationId xmlns:a16="http://schemas.microsoft.com/office/drawing/2014/main" id="{27B22EF1-3FE6-4115-8E16-3833EB431DF8}"/>
              </a:ext>
            </a:extLst>
          </p:cNvPr>
          <p:cNvSpPr>
            <a:spLocks xmlns:a="http://schemas.openxmlformats.org/drawingml/2006/main" noGrp="1"/>
          </p:cNvSpPr>
          <p:nvPr/>
        </p:nvSpPr>
        <p:spPr>
          <a:xfrm xmlns:a="http://schemas.openxmlformats.org/drawingml/2006/main">
            <a:off x="10477500" y="3876675"/>
            <a:ext cx="4191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Rechte lijn door</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(0; 12) en (160; 28)</a:t>
            </a:r>
          </a:p>
        </p:txBody>
      </p:sp>
      <p:sp>
        <p:nvSpPr>
          <p:cNvPr id="9" name="Bij Pc = € 20:&#10;zonder belasting 140&#10;met belasting 80">
            <a:extLst xmlns:a="http://schemas.openxmlformats.org/drawingml/2006/main">
              <a:ext uri="{FF2B5EF4-FFF2-40B4-BE49-F238E27FC236}">
                <a16:creationId xmlns:a16="http://schemas.microsoft.com/office/drawing/2014/main" id="{8FD73D40-6492-4CB0-A66F-3CE215402C09}"/>
              </a:ext>
            </a:extLst>
          </p:cNvPr>
          <p:cNvSpPr>
            <a:spLocks xmlns:a="http://schemas.openxmlformats.org/drawingml/2006/main" noGrp="1"/>
          </p:cNvSpPr>
          <p:nvPr/>
        </p:nvSpPr>
        <p:spPr>
          <a:xfrm xmlns:a="http://schemas.openxmlformats.org/drawingml/2006/main">
            <a:off x="10477500" y="5267325"/>
            <a:ext cx="41910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Bij Pc = € 20: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zonder belasting 140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met belasting 80</a:t>
            </a:r>
          </a:p>
        </p:txBody>
      </p:sp>
      <p:sp>
        <p:nvSpPr>
          <p:cNvPr id="10" name="De pijl vergelijkt&#10;dezelfde kopersprijs.">
            <a:extLst xmlns:a="http://schemas.openxmlformats.org/drawingml/2006/main">
              <a:ext uri="{FF2B5EF4-FFF2-40B4-BE49-F238E27FC236}">
                <a16:creationId xmlns:a16="http://schemas.microsoft.com/office/drawing/2014/main" id="{0DEFA7DE-9B42-4F88-A794-E55242E32826}"/>
              </a:ext>
            </a:extLst>
          </p:cNvPr>
          <p:cNvSpPr>
            <a:spLocks xmlns:a="http://schemas.openxmlformats.org/drawingml/2006/main" noGrp="1"/>
          </p:cNvSpPr>
          <p:nvPr/>
        </p:nvSpPr>
        <p:spPr>
          <a:xfrm xmlns:a="http://schemas.openxmlformats.org/drawingml/2006/main">
            <a:off x="10477500" y="71437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De pijl vergelijkt</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dezelfde kopersprijs.</a:t>
            </a:r>
          </a:p>
        </p:txBody>
      </p:sp>
    </p:spTree>
    <p:extLst>
      <p:ext uri="{BB962C8B-B14F-4D97-AF65-F5344CB8AC3E}">
        <p14:creationId xmlns:p14="http://schemas.microsoft.com/office/powerpoint/2010/main" val="75955043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e nieuwe hoeveelheid">
            <a:extLst xmlns:a="http://schemas.openxmlformats.org/drawingml/2006/main">
              <a:ext uri="{FF2B5EF4-FFF2-40B4-BE49-F238E27FC236}">
                <a16:creationId xmlns:a16="http://schemas.microsoft.com/office/drawing/2014/main" id="{F3F46A66-D828-43C4-8420-C24E2A93BB34}"/>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nieuwe hoeveelheid</a:t>
            </a:r>
          </a:p>
        </p:txBody>
      </p:sp>
      <p:sp>
        <p:nvSpPr>
          <p:cNvPr id="2" name="">
            <a:extLst xmlns:a="http://schemas.openxmlformats.org/drawingml/2006/main">
              <a:ext uri="{FF2B5EF4-FFF2-40B4-BE49-F238E27FC236}">
                <a16:creationId xmlns:a16="http://schemas.microsoft.com/office/drawing/2014/main" id="{E877CFF2-E81E-44B6-B0E0-0C475B44196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1 Eén product, twee prijzen">
            <a:extLst xmlns:a="http://schemas.openxmlformats.org/drawingml/2006/main">
              <a:ext uri="{FF2B5EF4-FFF2-40B4-BE49-F238E27FC236}">
                <a16:creationId xmlns:a16="http://schemas.microsoft.com/office/drawing/2014/main" id="{D867EBF4-B270-418A-92C8-FB16F1507298}"/>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§3.1.1 Eén product, twee prijzen</a:t>
            </a:r>
          </a:p>
        </p:txBody>
      </p:sp>
      <p:sp>
        <p:nvSpPr>
          <p:cNvPr id="4" name="10">
            <a:extLst xmlns:a="http://schemas.openxmlformats.org/drawingml/2006/main">
              <a:ext uri="{FF2B5EF4-FFF2-40B4-BE49-F238E27FC236}">
                <a16:creationId xmlns:a16="http://schemas.microsoft.com/office/drawing/2014/main" id="{500B40F0-E9C3-4E1B-AD4E-8E5B4CCC78A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sp>
        <p:nvSpPr>
          <p:cNvPr id="5" name="Uitlegvoorbeeld — niet uit het boek">
            <a:extLst xmlns:a="http://schemas.openxmlformats.org/drawingml/2006/main">
              <a:ext uri="{FF2B5EF4-FFF2-40B4-BE49-F238E27FC236}">
                <a16:creationId xmlns:a16="http://schemas.microsoft.com/office/drawing/2014/main" id="{BBA73432-7EB7-45ED-9A77-751810AEBF67}"/>
              </a:ext>
            </a:extLst>
          </p:cNvPr>
          <p:cNvSpPr>
            <a:spLocks xmlns:a="http://schemas.openxmlformats.org/drawingml/2006/main" noGrp="1"/>
          </p:cNvSpPr>
          <p:nvPr/>
        </p:nvSpPr>
        <p:spPr>
          <a:xfrm xmlns:a="http://schemas.openxmlformats.org/drawingml/2006/main">
            <a:off x="571500" y="1685925"/>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sp>
        <p:nvSpPr>
          <p:cNvPr id="6" name="Vraag = aanbod in kopersprijzen">
            <a:extLst xmlns:a="http://schemas.openxmlformats.org/drawingml/2006/main">
              <a:ext uri="{FF2B5EF4-FFF2-40B4-BE49-F238E27FC236}">
                <a16:creationId xmlns:a16="http://schemas.microsoft.com/office/drawing/2014/main" id="{E3B17B3A-F5D7-41E4-8D92-6B122E495521}"/>
              </a:ext>
            </a:extLst>
          </p:cNvPr>
          <p:cNvSpPr>
            <a:spLocks xmlns:a="http://schemas.openxmlformats.org/drawingml/2006/main" noGrp="1"/>
          </p:cNvSpPr>
          <p:nvPr/>
        </p:nvSpPr>
        <p:spPr>
          <a:xfrm xmlns:a="http://schemas.openxmlformats.org/drawingml/2006/main">
            <a:off x="571500" y="2543175"/>
            <a:ext cx="1409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Vraag = aanbod in kopersprijzen</a:t>
            </a:r>
          </a:p>
        </p:txBody>
      </p:sp>
      <p:sp>
        <p:nvSpPr>
          <p:cNvPr id="7" name="30 − 0,20Q = 12 + 0,10Q&#10;18 = 0,30Q&#10;Qt = 60 fietslampjes per ">
            <a:extLst xmlns:a="http://schemas.openxmlformats.org/drawingml/2006/main">
              <a:ext uri="{FF2B5EF4-FFF2-40B4-BE49-F238E27FC236}">
                <a16:creationId xmlns:a16="http://schemas.microsoft.com/office/drawing/2014/main" id="{34CB5CEE-B9D8-40FE-8360-726538C2492D}"/>
              </a:ext>
            </a:extLst>
          </p:cNvPr>
          <p:cNvSpPr>
            <a:spLocks xmlns:a="http://schemas.openxmlformats.org/drawingml/2006/main" noGrp="1"/>
          </p:cNvSpPr>
          <p:nvPr/>
        </p:nvSpPr>
        <p:spPr>
          <a:xfrm xmlns:a="http://schemas.openxmlformats.org/drawingml/2006/main">
            <a:off x="571500" y="3705225"/>
            <a:ext cx="1409700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0">
                <a:solidFill>
                  <a:srgbClr val="183247"/>
                </a:solidFill>
                <a:latin typeface="Arial"/>
                <a:ea typeface="Arial"/>
                <a:cs typeface="Arial"/>
              </a:defRPr>
            </a:pPr>
            <a:r>
              <a:rPr sz="3525" b="0">
                <a:solidFill>
                  <a:srgbClr val="183247"/>
                </a:solidFill>
                <a:latin typeface="Arial"/>
                <a:ea typeface="Arial"/>
                <a:cs typeface="Arial"/>
              </a:rPr>
              <a:t>30 − 0,20Q = 12 + 0,10Q</a:t>
            </a:r>
          </a:p>
          <a:p xmlns:a="http://schemas.openxmlformats.org/drawingml/2006/main">
            <a:pPr algn="l">
              <a:defRPr sz="3525" b="0">
                <a:solidFill>
                  <a:srgbClr val="183247"/>
                </a:solidFill>
                <a:latin typeface="Arial"/>
                <a:ea typeface="Arial"/>
                <a:cs typeface="Arial"/>
              </a:defRPr>
            </a:pPr>
            <a:r>
              <a:rPr sz="3525" b="0">
                <a:solidFill>
                  <a:srgbClr val="183247"/>
                </a:solidFill>
                <a:latin typeface="Arial"/>
                <a:ea typeface="Arial"/>
                <a:cs typeface="Arial"/>
              </a:rPr>
              <a:t>18 = 0,30Q</a:t>
            </a:r>
          </a:p>
          <a:p xmlns:a="http://schemas.openxmlformats.org/drawingml/2006/main">
            <a:pPr algn="l">
              <a:defRPr sz="3525" b="0">
                <a:solidFill>
                  <a:srgbClr val="183247"/>
                </a:solidFill>
                <a:latin typeface="Arial"/>
                <a:ea typeface="Arial"/>
                <a:cs typeface="Arial"/>
              </a:defRPr>
            </a:pPr>
            <a:r>
              <a:rPr sz="3525" b="0">
                <a:solidFill>
                  <a:srgbClr val="183247"/>
                </a:solidFill>
                <a:latin typeface="Arial"/>
                <a:ea typeface="Arial"/>
                <a:cs typeface="Arial"/>
              </a:rPr>
              <a:t>Qt = 60 fietslampjes per week</a:t>
            </a:r>
          </a:p>
        </p:txBody>
      </p:sp>
      <p:sp>
        <p:nvSpPr>
          <p:cNvPr id="8" name="Eerst 80, nu 60 fietslampjes per week.">
            <a:extLst xmlns:a="http://schemas.openxmlformats.org/drawingml/2006/main">
              <a:ext uri="{FF2B5EF4-FFF2-40B4-BE49-F238E27FC236}">
                <a16:creationId xmlns:a16="http://schemas.microsoft.com/office/drawing/2014/main" id="{3E90E7A8-791C-4C3E-929F-7460F57F1E4D}"/>
              </a:ext>
            </a:extLst>
          </p:cNvPr>
          <p:cNvSpPr>
            <a:spLocks xmlns:a="http://schemas.openxmlformats.org/drawingml/2006/main" noGrp="1"/>
          </p:cNvSpPr>
          <p:nvPr/>
        </p:nvSpPr>
        <p:spPr>
          <a:xfrm xmlns:a="http://schemas.openxmlformats.org/drawingml/2006/main">
            <a:off x="571500" y="6838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A94D16"/>
                </a:solidFill>
                <a:latin typeface="Arial"/>
                <a:ea typeface="Arial"/>
                <a:cs typeface="Arial"/>
              </a:defRPr>
            </a:pPr>
            <a:r>
              <a:rPr sz="3225" b="1">
                <a:solidFill>
                  <a:srgbClr val="A94D16"/>
                </a:solidFill>
                <a:latin typeface="Arial"/>
                <a:ea typeface="Arial"/>
                <a:cs typeface="Arial"/>
              </a:rPr>
              <a:t>Eerst 80, nu 60 fietslampjes per week.</a:t>
            </a:r>
          </a:p>
        </p:txBody>
      </p:sp>
    </p:spTree>
    <p:extLst>
      <p:ext uri="{BB962C8B-B14F-4D97-AF65-F5344CB8AC3E}">
        <p14:creationId xmlns:p14="http://schemas.microsoft.com/office/powerpoint/2010/main" val="54536611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wee prijzen bij dezelfde nieuwe hoeveelheid">
            <a:extLst xmlns:a="http://schemas.openxmlformats.org/drawingml/2006/main">
              <a:ext uri="{FF2B5EF4-FFF2-40B4-BE49-F238E27FC236}">
                <a16:creationId xmlns:a16="http://schemas.microsoft.com/office/drawing/2014/main" id="{B7856888-8895-4710-989C-F58D4E1DDFAD}"/>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Twee prijzen bij dezelfde nieuwe hoeveelheid</a:t>
            </a:r>
          </a:p>
        </p:txBody>
      </p:sp>
      <p:sp>
        <p:nvSpPr>
          <p:cNvPr id="2" name="">
            <a:extLst xmlns:a="http://schemas.openxmlformats.org/drawingml/2006/main">
              <a:ext uri="{FF2B5EF4-FFF2-40B4-BE49-F238E27FC236}">
                <a16:creationId xmlns:a16="http://schemas.microsoft.com/office/drawing/2014/main" id="{AEA7AA7D-6D64-43F5-9C97-70879F4B3D0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1 Eén product, twee prijzen">
            <a:extLst xmlns:a="http://schemas.openxmlformats.org/drawingml/2006/main">
              <a:ext uri="{FF2B5EF4-FFF2-40B4-BE49-F238E27FC236}">
                <a16:creationId xmlns:a16="http://schemas.microsoft.com/office/drawing/2014/main" id="{CB96121B-E5C3-4285-9050-AF39F47AD254}"/>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§3.1.1 Eén product, twee prijzen</a:t>
            </a:r>
          </a:p>
        </p:txBody>
      </p:sp>
      <p:sp>
        <p:nvSpPr>
          <p:cNvPr id="4" name="11">
            <a:extLst xmlns:a="http://schemas.openxmlformats.org/drawingml/2006/main">
              <a:ext uri="{FF2B5EF4-FFF2-40B4-BE49-F238E27FC236}">
                <a16:creationId xmlns:a16="http://schemas.microsoft.com/office/drawing/2014/main" id="{B7A45366-F0C3-4D7F-8FB7-716FA6B0B73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Uitlegvoorbeeld — niet uit het boek">
            <a:extLst xmlns:a="http://schemas.openxmlformats.org/drawingml/2006/main">
              <a:ext uri="{FF2B5EF4-FFF2-40B4-BE49-F238E27FC236}">
                <a16:creationId xmlns:a16="http://schemas.microsoft.com/office/drawing/2014/main" id="{98F4AB05-2DA1-4B83-9249-1837B9B84B8A}"/>
              </a:ext>
            </a:extLst>
          </p:cNvPr>
          <p:cNvSpPr>
            <a:spLocks xmlns:a="http://schemas.openxmlformats.org/drawingml/2006/main" noGrp="1"/>
          </p:cNvSpPr>
          <p:nvPr/>
        </p:nvSpPr>
        <p:spPr>
          <a:xfrm xmlns:a="http://schemas.openxmlformats.org/drawingml/2006/main">
            <a:off x="571500" y="1685925"/>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sp>
        <p:nvSpPr>
          <p:cNvPr id="6" name="Qt = 60 fietslampjes per week">
            <a:extLst xmlns:a="http://schemas.openxmlformats.org/drawingml/2006/main">
              <a:ext uri="{FF2B5EF4-FFF2-40B4-BE49-F238E27FC236}">
                <a16:creationId xmlns:a16="http://schemas.microsoft.com/office/drawing/2014/main" id="{AF809063-B911-4721-A456-8BEFBD632D50}"/>
              </a:ext>
            </a:extLst>
          </p:cNvPr>
          <p:cNvSpPr>
            <a:spLocks xmlns:a="http://schemas.openxmlformats.org/drawingml/2006/main" noGrp="1"/>
          </p:cNvSpPr>
          <p:nvPr/>
        </p:nvSpPr>
        <p:spPr>
          <a:xfrm xmlns:a="http://schemas.openxmlformats.org/drawingml/2006/main">
            <a:off x="571500" y="254317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Qt = 60 fietslampjes per week</a:t>
            </a:r>
          </a:p>
        </p:txBody>
      </p:sp>
      <p:sp>
        <p:nvSpPr>
          <p:cNvPr id="7" name="Vraag geeft Pc">
            <a:extLst xmlns:a="http://schemas.openxmlformats.org/drawingml/2006/main">
              <a:ext uri="{FF2B5EF4-FFF2-40B4-BE49-F238E27FC236}">
                <a16:creationId xmlns:a16="http://schemas.microsoft.com/office/drawing/2014/main" id="{837FCE37-B070-4F3C-B2CF-7ECB95F3FCBD}"/>
              </a:ext>
            </a:extLst>
          </p:cNvPr>
          <p:cNvSpPr>
            <a:spLocks xmlns:a="http://schemas.openxmlformats.org/drawingml/2006/main" noGrp="1"/>
          </p:cNvSpPr>
          <p:nvPr/>
        </p:nvSpPr>
        <p:spPr>
          <a:xfrm xmlns:a="http://schemas.openxmlformats.org/drawingml/2006/main">
            <a:off x="571500" y="3590925"/>
            <a:ext cx="571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Vraag geeft Pc</a:t>
            </a:r>
          </a:p>
        </p:txBody>
      </p:sp>
      <p:sp>
        <p:nvSpPr>
          <p:cNvPr id="8" name="Pc = 30 − 0,20 × 60 = € 18">
            <a:extLst xmlns:a="http://schemas.openxmlformats.org/drawingml/2006/main">
              <a:ext uri="{FF2B5EF4-FFF2-40B4-BE49-F238E27FC236}">
                <a16:creationId xmlns:a16="http://schemas.microsoft.com/office/drawing/2014/main" id="{7DB0B708-30A9-4700-BEA1-056E9C7E4DFC}"/>
              </a:ext>
            </a:extLst>
          </p:cNvPr>
          <p:cNvSpPr>
            <a:spLocks xmlns:a="http://schemas.openxmlformats.org/drawingml/2006/main" noGrp="1"/>
          </p:cNvSpPr>
          <p:nvPr/>
        </p:nvSpPr>
        <p:spPr>
          <a:xfrm xmlns:a="http://schemas.openxmlformats.org/drawingml/2006/main">
            <a:off x="571500" y="4267200"/>
            <a:ext cx="1409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A5276"/>
                </a:solidFill>
                <a:latin typeface="Arial"/>
                <a:ea typeface="Arial"/>
                <a:cs typeface="Arial"/>
              </a:defRPr>
            </a:pPr>
            <a:r>
              <a:rPr sz="3525" b="1">
                <a:solidFill>
                  <a:srgbClr val="1A5276"/>
                </a:solidFill>
                <a:latin typeface="Arial"/>
                <a:ea typeface="Arial"/>
                <a:cs typeface="Arial"/>
              </a:rPr>
              <a:t>Pc = 30 − 0,20 × 60 = € 18</a:t>
            </a:r>
          </a:p>
        </p:txBody>
      </p:sp>
      <p:sp>
        <p:nvSpPr>
          <p:cNvPr id="9" name="Oorspronkelijke A geeft Pp">
            <a:extLst xmlns:a="http://schemas.openxmlformats.org/drawingml/2006/main">
              <a:ext uri="{FF2B5EF4-FFF2-40B4-BE49-F238E27FC236}">
                <a16:creationId xmlns:a16="http://schemas.microsoft.com/office/drawing/2014/main" id="{F1BA4589-F291-416E-998D-57E92772843D}"/>
              </a:ext>
            </a:extLst>
          </p:cNvPr>
          <p:cNvSpPr>
            <a:spLocks xmlns:a="http://schemas.openxmlformats.org/drawingml/2006/main" noGrp="1"/>
          </p:cNvSpPr>
          <p:nvPr/>
        </p:nvSpPr>
        <p:spPr>
          <a:xfrm xmlns:a="http://schemas.openxmlformats.org/drawingml/2006/main">
            <a:off x="571500" y="538162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E7449"/>
                </a:solidFill>
                <a:latin typeface="Arial"/>
                <a:ea typeface="Arial"/>
                <a:cs typeface="Arial"/>
              </a:defRPr>
            </a:pPr>
            <a:r>
              <a:rPr sz="2625" b="1">
                <a:solidFill>
                  <a:srgbClr val="1E7449"/>
                </a:solidFill>
                <a:latin typeface="Arial"/>
                <a:ea typeface="Arial"/>
                <a:cs typeface="Arial"/>
              </a:rPr>
              <a:t>Oorspronkelijke A geeft Pp</a:t>
            </a:r>
          </a:p>
        </p:txBody>
      </p:sp>
      <p:sp>
        <p:nvSpPr>
          <p:cNvPr id="10" name="Pp = 6 + 0,10 × 60 = € 12">
            <a:extLst xmlns:a="http://schemas.openxmlformats.org/drawingml/2006/main">
              <a:ext uri="{FF2B5EF4-FFF2-40B4-BE49-F238E27FC236}">
                <a16:creationId xmlns:a16="http://schemas.microsoft.com/office/drawing/2014/main" id="{D5AB3838-7896-4187-9AA7-88B99D19516F}"/>
              </a:ext>
            </a:extLst>
          </p:cNvPr>
          <p:cNvSpPr>
            <a:spLocks xmlns:a="http://schemas.openxmlformats.org/drawingml/2006/main" noGrp="1"/>
          </p:cNvSpPr>
          <p:nvPr/>
        </p:nvSpPr>
        <p:spPr>
          <a:xfrm xmlns:a="http://schemas.openxmlformats.org/drawingml/2006/main">
            <a:off x="571500" y="6057900"/>
            <a:ext cx="1409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E7449"/>
                </a:solidFill>
                <a:latin typeface="Arial"/>
                <a:ea typeface="Arial"/>
                <a:cs typeface="Arial"/>
              </a:defRPr>
            </a:pPr>
            <a:r>
              <a:rPr sz="3525" b="1">
                <a:solidFill>
                  <a:srgbClr val="1E7449"/>
                </a:solidFill>
                <a:latin typeface="Arial"/>
                <a:ea typeface="Arial"/>
                <a:cs typeface="Arial"/>
              </a:rPr>
              <a:t>Pp = 6 + 0,10 × 60 = € 12</a:t>
            </a:r>
          </a:p>
        </p:txBody>
      </p:sp>
      <p:sp>
        <p:nvSpPr>
          <p:cNvPr id="11" name="Controle: 18 − 12 = € 6 per fietslampje">
            <a:extLst xmlns:a="http://schemas.openxmlformats.org/drawingml/2006/main">
              <a:ext uri="{FF2B5EF4-FFF2-40B4-BE49-F238E27FC236}">
                <a16:creationId xmlns:a16="http://schemas.microsoft.com/office/drawing/2014/main" id="{EFCD771C-B9C4-4D7E-A84F-79AA8D3F92C7}"/>
              </a:ext>
            </a:extLst>
          </p:cNvPr>
          <p:cNvSpPr>
            <a:spLocks xmlns:a="http://schemas.openxmlformats.org/drawingml/2006/main" noGrp="1"/>
          </p:cNvSpPr>
          <p:nvPr/>
        </p:nvSpPr>
        <p:spPr>
          <a:xfrm xmlns:a="http://schemas.openxmlformats.org/drawingml/2006/main">
            <a:off x="571500" y="723900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A94D16"/>
                </a:solidFill>
                <a:latin typeface="Arial"/>
                <a:ea typeface="Arial"/>
                <a:cs typeface="Arial"/>
              </a:defRPr>
            </a:pPr>
            <a:r>
              <a:rPr sz="2850" b="1">
                <a:solidFill>
                  <a:srgbClr val="A94D16"/>
                </a:solidFill>
                <a:latin typeface="Arial"/>
                <a:ea typeface="Arial"/>
                <a:cs typeface="Arial"/>
              </a:rPr>
              <a:t>Controle: 18 − 12 = € 6 per fietslampje</a:t>
            </a:r>
          </a:p>
        </p:txBody>
      </p:sp>
    </p:spTree>
    <p:extLst>
      <p:ext uri="{BB962C8B-B14F-4D97-AF65-F5344CB8AC3E}">
        <p14:creationId xmlns:p14="http://schemas.microsoft.com/office/powerpoint/2010/main" val="44296862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De belastingwig tekenen">
            <a:extLst xmlns:a="http://schemas.openxmlformats.org/drawingml/2006/main">
              <a:ext uri="{FF2B5EF4-FFF2-40B4-BE49-F238E27FC236}">
                <a16:creationId xmlns:a16="http://schemas.microsoft.com/office/drawing/2014/main" id="{6D3A2C97-B7E6-4435-A223-1D24C37ADF1B}"/>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belastingwig tekenen</a:t>
            </a:r>
          </a:p>
        </p:txBody>
      </p:sp>
      <p:sp>
        <p:nvSpPr>
          <p:cNvPr id="2" name="">
            <a:extLst xmlns:a="http://schemas.openxmlformats.org/drawingml/2006/main">
              <a:ext uri="{FF2B5EF4-FFF2-40B4-BE49-F238E27FC236}">
                <a16:creationId xmlns:a16="http://schemas.microsoft.com/office/drawing/2014/main" id="{6CB2F1E5-612C-4963-B1EF-5CB839658D9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1 Eén product, twee prijzen">
            <a:extLst xmlns:a="http://schemas.openxmlformats.org/drawingml/2006/main">
              <a:ext uri="{FF2B5EF4-FFF2-40B4-BE49-F238E27FC236}">
                <a16:creationId xmlns:a16="http://schemas.microsoft.com/office/drawing/2014/main" id="{EC2F1C7A-DE9F-4F41-B247-0FA718B9512F}"/>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§3.1.1 Eén product, twee prijzen</a:t>
            </a:r>
          </a:p>
        </p:txBody>
      </p:sp>
      <p:sp>
        <p:nvSpPr>
          <p:cNvPr id="4" name="12">
            <a:extLst xmlns:a="http://schemas.openxmlformats.org/drawingml/2006/main">
              <a:ext uri="{FF2B5EF4-FFF2-40B4-BE49-F238E27FC236}">
                <a16:creationId xmlns:a16="http://schemas.microsoft.com/office/drawing/2014/main" id="{95CFC7F9-6DAE-4209-B833-695BB002FA8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Uitlegvoorbeeld — niet uit het boek">
            <a:extLst xmlns:a="http://schemas.openxmlformats.org/drawingml/2006/main">
              <a:ext uri="{FF2B5EF4-FFF2-40B4-BE49-F238E27FC236}">
                <a16:creationId xmlns:a16="http://schemas.microsoft.com/office/drawing/2014/main" id="{01B43F1F-25FB-4D25-AFE0-58AD926BFC13}"/>
              </a:ext>
            </a:extLst>
          </p:cNvPr>
          <p:cNvSpPr>
            <a:spLocks xmlns:a="http://schemas.openxmlformats.org/drawingml/2006/main" noGrp="1"/>
          </p:cNvSpPr>
          <p:nvPr/>
        </p:nvSpPr>
        <p:spPr>
          <a:xfrm xmlns:a="http://schemas.openxmlformats.org/drawingml/2006/main">
            <a:off x="571500" y="1685925"/>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graphicFrame>
        <p:nvGraphicFramePr>
          <p:cNvPr id="16" name="Chart"/>
          <p:cNvGraphicFramePr/>
          <p:nvPr/>
        </p:nvGraphicFramePr>
        <p:xfrm>
          <a:off xmlns:a="http://schemas.openxmlformats.org/drawingml/2006/main" x="571500" y="2238375"/>
          <a:ext xmlns:a="http://schemas.openxmlformats.org/drawingml/2006/main" cx="9429750" cy="5524500"/>
        </p:xfrm>
        <a:graphic xmlns:a="http://schemas.openxmlformats.org/drawingml/2006/main">
          <a:graphicData uri="http://schemas.openxmlformats.org/drawingml/2006/chart">
            <c:chart xmlns:r="http://schemas.openxmlformats.org/officeDocument/2006/relationships" xmlns:c="http://schemas.openxmlformats.org/drawingml/2006/chart" r:id="Raa3fbf91331548e3"/>
          </a:graphicData>
        </a:graphic>
      </p:graphicFrame>
      <p:sp>
        <p:nvSpPr>
          <p:cNvPr id="7" name="Bij Qt = 60">
            <a:extLst xmlns:a="http://schemas.openxmlformats.org/drawingml/2006/main">
              <a:ext uri="{FF2B5EF4-FFF2-40B4-BE49-F238E27FC236}">
                <a16:creationId xmlns:a16="http://schemas.microsoft.com/office/drawing/2014/main" id="{5AA59D57-1453-42A8-BD71-09FA19AB9DA3}"/>
              </a:ext>
            </a:extLst>
          </p:cNvPr>
          <p:cNvSpPr>
            <a:spLocks xmlns:a="http://schemas.openxmlformats.org/drawingml/2006/main" noGrp="1"/>
          </p:cNvSpPr>
          <p:nvPr/>
        </p:nvSpPr>
        <p:spPr>
          <a:xfrm xmlns:a="http://schemas.openxmlformats.org/drawingml/2006/main">
            <a:off x="10477500" y="2647950"/>
            <a:ext cx="419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Bij Qt = 60</a:t>
            </a:r>
          </a:p>
        </p:txBody>
      </p:sp>
      <p:sp>
        <p:nvSpPr>
          <p:cNvPr id="8" name="Pc op V en A + t&#10;Pp op de oude A">
            <a:extLst xmlns:a="http://schemas.openxmlformats.org/drawingml/2006/main">
              <a:ext uri="{FF2B5EF4-FFF2-40B4-BE49-F238E27FC236}">
                <a16:creationId xmlns:a16="http://schemas.microsoft.com/office/drawing/2014/main" id="{2641258F-8D4F-45E5-B263-0D02ECFD2EEB}"/>
              </a:ext>
            </a:extLst>
          </p:cNvPr>
          <p:cNvSpPr>
            <a:spLocks xmlns:a="http://schemas.openxmlformats.org/drawingml/2006/main" noGrp="1"/>
          </p:cNvSpPr>
          <p:nvPr/>
        </p:nvSpPr>
        <p:spPr>
          <a:xfrm xmlns:a="http://schemas.openxmlformats.org/drawingml/2006/main">
            <a:off x="10477500" y="3810000"/>
            <a:ext cx="4191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Pc op V en A + t</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Pp op de oude A</a:t>
            </a:r>
          </a:p>
        </p:txBody>
      </p:sp>
      <p:sp>
        <p:nvSpPr>
          <p:cNvPr id="9" name="Belastingwig:&#10;18 − 12 = € 6">
            <a:extLst xmlns:a="http://schemas.openxmlformats.org/drawingml/2006/main">
              <a:ext uri="{FF2B5EF4-FFF2-40B4-BE49-F238E27FC236}">
                <a16:creationId xmlns:a16="http://schemas.microsoft.com/office/drawing/2014/main" id="{D0CDD075-6520-4EEB-9ABC-51A4DFD06047}"/>
              </a:ext>
            </a:extLst>
          </p:cNvPr>
          <p:cNvSpPr>
            <a:spLocks xmlns:a="http://schemas.openxmlformats.org/drawingml/2006/main" noGrp="1"/>
          </p:cNvSpPr>
          <p:nvPr/>
        </p:nvSpPr>
        <p:spPr>
          <a:xfrm xmlns:a="http://schemas.openxmlformats.org/drawingml/2006/main">
            <a:off x="10477500" y="5429250"/>
            <a:ext cx="41910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A94D16"/>
                </a:solidFill>
                <a:latin typeface="Arial"/>
                <a:ea typeface="Arial"/>
                <a:cs typeface="Arial"/>
              </a:defRPr>
            </a:pPr>
            <a:r>
              <a:rPr sz="3000" b="1">
                <a:solidFill>
                  <a:srgbClr val="A94D16"/>
                </a:solidFill>
                <a:latin typeface="Arial"/>
                <a:ea typeface="Arial"/>
                <a:cs typeface="Arial"/>
              </a:rPr>
              <a:t>Belastingwig:</a:t>
            </a:r>
          </a:p>
          <a:p xmlns:a="http://schemas.openxmlformats.org/drawingml/2006/main">
            <a:pPr algn="l">
              <a:defRPr sz="3000" b="1">
                <a:solidFill>
                  <a:srgbClr val="A94D16"/>
                </a:solidFill>
                <a:latin typeface="Arial"/>
                <a:ea typeface="Arial"/>
                <a:cs typeface="Arial"/>
              </a:defRPr>
            </a:pPr>
            <a:r>
              <a:rPr sz="3000" b="1">
                <a:solidFill>
                  <a:srgbClr val="A94D16"/>
                </a:solidFill>
                <a:latin typeface="Arial"/>
                <a:ea typeface="Arial"/>
                <a:cs typeface="Arial"/>
              </a:rPr>
              <a:t>18 − 12 = € 6</a:t>
            </a:r>
          </a:p>
        </p:txBody>
      </p:sp>
      <p:sp>
        <p:nvSpPr>
          <p:cNvPr id="10" name="Eén verticale lijn&#10;verbindt beide prijzen.">
            <a:extLst xmlns:a="http://schemas.openxmlformats.org/drawingml/2006/main">
              <a:ext uri="{FF2B5EF4-FFF2-40B4-BE49-F238E27FC236}">
                <a16:creationId xmlns:a16="http://schemas.microsoft.com/office/drawing/2014/main" id="{A331F75F-F57E-4D43-9AD5-CACADD3C4588}"/>
              </a:ext>
            </a:extLst>
          </p:cNvPr>
          <p:cNvSpPr>
            <a:spLocks xmlns:a="http://schemas.openxmlformats.org/drawingml/2006/main" noGrp="1"/>
          </p:cNvSpPr>
          <p:nvPr/>
        </p:nvSpPr>
        <p:spPr>
          <a:xfrm xmlns:a="http://schemas.openxmlformats.org/drawingml/2006/main">
            <a:off x="10477500" y="6972300"/>
            <a:ext cx="4191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Eén verticale lijn</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verbindt beide prijzen.</a:t>
            </a:r>
          </a:p>
        </p:txBody>
      </p:sp>
    </p:spTree>
    <p:extLst>
      <p:ext uri="{BB962C8B-B14F-4D97-AF65-F5344CB8AC3E}">
        <p14:creationId xmlns:p14="http://schemas.microsoft.com/office/powerpoint/2010/main" val="34443247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fdragen en de economische last">
            <a:extLst xmlns:a="http://schemas.openxmlformats.org/drawingml/2006/main">
              <a:ext uri="{FF2B5EF4-FFF2-40B4-BE49-F238E27FC236}">
                <a16:creationId xmlns:a16="http://schemas.microsoft.com/office/drawing/2014/main" id="{7339D019-D818-4FDF-A64C-D5142F41C35F}"/>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Afdragen en de economische last</a:t>
            </a:r>
          </a:p>
        </p:txBody>
      </p:sp>
      <p:sp>
        <p:nvSpPr>
          <p:cNvPr id="2" name="">
            <a:extLst xmlns:a="http://schemas.openxmlformats.org/drawingml/2006/main">
              <a:ext uri="{FF2B5EF4-FFF2-40B4-BE49-F238E27FC236}">
                <a16:creationId xmlns:a16="http://schemas.microsoft.com/office/drawing/2014/main" id="{0A1C463E-A354-4E39-9E3B-C4543EE2D7E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1 Eén product, twee prijzen">
            <a:extLst xmlns:a="http://schemas.openxmlformats.org/drawingml/2006/main">
              <a:ext uri="{FF2B5EF4-FFF2-40B4-BE49-F238E27FC236}">
                <a16:creationId xmlns:a16="http://schemas.microsoft.com/office/drawing/2014/main" id="{884D090F-0207-4477-BAC7-FA60297F2898}"/>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§3.1.1 Eén product, twee prijzen</a:t>
            </a:r>
          </a:p>
        </p:txBody>
      </p:sp>
      <p:sp>
        <p:nvSpPr>
          <p:cNvPr id="4" name="13">
            <a:extLst xmlns:a="http://schemas.openxmlformats.org/drawingml/2006/main">
              <a:ext uri="{FF2B5EF4-FFF2-40B4-BE49-F238E27FC236}">
                <a16:creationId xmlns:a16="http://schemas.microsoft.com/office/drawing/2014/main" id="{AAC6AAE9-F808-40B0-8E5E-39D5EE73CE2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Uitlegvoorbeeld — niet uit het boek">
            <a:extLst xmlns:a="http://schemas.openxmlformats.org/drawingml/2006/main">
              <a:ext uri="{FF2B5EF4-FFF2-40B4-BE49-F238E27FC236}">
                <a16:creationId xmlns:a16="http://schemas.microsoft.com/office/drawing/2014/main" id="{B9138972-B5E8-47CA-853C-03FEBCF911BE}"/>
              </a:ext>
            </a:extLst>
          </p:cNvPr>
          <p:cNvSpPr>
            <a:spLocks xmlns:a="http://schemas.openxmlformats.org/drawingml/2006/main" noGrp="1"/>
          </p:cNvSpPr>
          <p:nvPr/>
        </p:nvSpPr>
        <p:spPr>
          <a:xfrm xmlns:a="http://schemas.openxmlformats.org/drawingml/2006/main">
            <a:off x="571500" y="1685925"/>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graphicFrame>
        <p:nvGraphicFramePr>
          <p:cNvPr id="14" name=""/>
          <p:cNvGraphicFramePr/>
          <p:nvPr/>
        </p:nvGraphicFramePr>
        <p:xfrm>
          <a:off xmlns:a="http://schemas.openxmlformats.org/drawingml/2006/main" x="571500" y="2647950"/>
          <a:ext xmlns:a="http://schemas.openxmlformats.org/drawingml/2006/main" cx="14097000" cy="2733675"/>
        </p:xfrm>
        <a:graphic xmlns:a="http://schemas.openxmlformats.org/drawingml/2006/main">
          <a:graphicData uri="http://schemas.openxmlformats.org/drawingml/2006/table">
            <a:tbl>
              <a:tblPr/>
              <a:tblGrid>
                <a:gridCol w="4238625"/>
                <a:gridCol w="3143250"/>
                <a:gridCol w="3000375"/>
                <a:gridCol w="3714750"/>
              </a:tblGrid>
              <a:tr h="911225">
                <a:tc>
                  <a:txBody>
                    <a:bodyPr lIns="171450" tIns="95250" rIns="133350" bIns="95250"/>
                    <a:lstStyle/>
                    <a:p>
                      <a:r>
                        <a:rPr sz="2475" b="1">
                          <a:solidFill>
                            <a:srgbClr val="FFFFFF"/>
                          </a:solidFill>
                          <a:latin typeface="Arial"/>
                          <a:ea typeface="Arial"/>
                          <a:cs typeface="Arial"/>
                        </a:rPr>
                        <a:t>Per fietslampje</a:t>
                      </a:r>
                    </a:p>
                  </a:txBody>
                  <a:tcPr marL="91440" marR="91440" marT="45720" marB="45720" anchor="ctr">
                    <a:solidFill>
                      <a:srgbClr val="183247"/>
                    </a:solidFill>
                  </a:tcPr>
                </a:tc>
                <a:tc>
                  <a:txBody>
                    <a:bodyPr lIns="171450" tIns="95250" rIns="133350" bIns="95250"/>
                    <a:lstStyle/>
                    <a:p>
                      <a:r>
                        <a:rPr sz="2475" b="1">
                          <a:solidFill>
                            <a:srgbClr val="FFFFFF"/>
                          </a:solidFill>
                          <a:latin typeface="Arial"/>
                          <a:ea typeface="Arial"/>
                          <a:cs typeface="Arial"/>
                        </a:rPr>
                        <a:t>Zonder belasting</a:t>
                      </a:r>
                    </a:p>
                  </a:txBody>
                  <a:tcPr marL="91440" marR="91440" marT="45720" marB="45720" anchor="ctr">
                    <a:solidFill>
                      <a:srgbClr val="183247"/>
                    </a:solidFill>
                  </a:tcPr>
                </a:tc>
                <a:tc>
                  <a:txBody>
                    <a:bodyPr lIns="171450" tIns="95250" rIns="133350" bIns="95250"/>
                    <a:lstStyle/>
                    <a:p>
                      <a:r>
                        <a:rPr sz="2475" b="1">
                          <a:solidFill>
                            <a:srgbClr val="FFFFFF"/>
                          </a:solidFill>
                          <a:latin typeface="Arial"/>
                          <a:ea typeface="Arial"/>
                          <a:cs typeface="Arial"/>
                        </a:rPr>
                        <a:t>Met belasting</a:t>
                      </a:r>
                    </a:p>
                  </a:txBody>
                  <a:tcPr marL="91440" marR="91440" marT="45720" marB="45720" anchor="ctr">
                    <a:solidFill>
                      <a:srgbClr val="183247"/>
                    </a:solidFill>
                  </a:tcPr>
                </a:tc>
                <a:tc>
                  <a:txBody>
                    <a:bodyPr lIns="171450" tIns="95250" rIns="133350" bIns="95250"/>
                    <a:lstStyle/>
                    <a:p>
                      <a:r>
                        <a:rPr sz="2475" b="1">
                          <a:solidFill>
                            <a:srgbClr val="FFFFFF"/>
                          </a:solidFill>
                          <a:latin typeface="Arial"/>
                          <a:ea typeface="Arial"/>
                          <a:cs typeface="Arial"/>
                        </a:rPr>
                        <a:t>Last</a:t>
                      </a:r>
                    </a:p>
                  </a:txBody>
                  <a:tcPr marL="91440" marR="91440" marT="45720" marB="45720" anchor="ctr">
                    <a:solidFill>
                      <a:srgbClr val="183247"/>
                    </a:solidFill>
                  </a:tcPr>
                </a:tc>
              </a:tr>
              <a:tr h="911225">
                <a:tc>
                  <a:txBody>
                    <a:bodyPr lIns="171450" tIns="95250" rIns="133350" bIns="95250"/>
                    <a:lstStyle/>
                    <a:p>
                      <a:r>
                        <a:rPr sz="2475" b="0">
                          <a:solidFill>
                            <a:srgbClr val="183247"/>
                          </a:solidFill>
                          <a:latin typeface="Arial"/>
                          <a:ea typeface="Arial"/>
                          <a:cs typeface="Arial"/>
                        </a:rPr>
                        <a:t>Koper betaalt</a:t>
                      </a:r>
                    </a:p>
                  </a:txBody>
                  <a:tcPr marL="91440" marR="91440" marT="45720" marB="45720" anchor="ctr">
                    <a:solidFill>
                      <a:srgbClr val="FFFFFF"/>
                    </a:solidFill>
                  </a:tcPr>
                </a:tc>
                <a:tc>
                  <a:txBody>
                    <a:bodyPr lIns="171450" tIns="95250" rIns="133350" bIns="95250"/>
                    <a:lstStyle/>
                    <a:p>
                      <a:r>
                        <a:rPr sz="2475" b="0">
                          <a:solidFill>
                            <a:srgbClr val="183247"/>
                          </a:solidFill>
                          <a:latin typeface="Arial"/>
                          <a:ea typeface="Arial"/>
                          <a:cs typeface="Arial"/>
                        </a:rPr>
                        <a:t>€ 14</a:t>
                      </a:r>
                    </a:p>
                  </a:txBody>
                  <a:tcPr marL="91440" marR="91440" marT="45720" marB="45720" anchor="ctr">
                    <a:solidFill>
                      <a:srgbClr val="FFFFFF"/>
                    </a:solidFill>
                  </a:tcPr>
                </a:tc>
                <a:tc>
                  <a:txBody>
                    <a:bodyPr lIns="171450" tIns="95250" rIns="133350" bIns="95250"/>
                    <a:lstStyle/>
                    <a:p>
                      <a:r>
                        <a:rPr sz="2475" b="0">
                          <a:solidFill>
                            <a:srgbClr val="183247"/>
                          </a:solidFill>
                          <a:latin typeface="Arial"/>
                          <a:ea typeface="Arial"/>
                          <a:cs typeface="Arial"/>
                        </a:rPr>
                        <a:t>€ 18</a:t>
                      </a:r>
                    </a:p>
                  </a:txBody>
                  <a:tcPr marL="91440" marR="91440" marT="45720" marB="45720" anchor="ctr">
                    <a:solidFill>
                      <a:srgbClr val="FFFFFF"/>
                    </a:solidFill>
                  </a:tcPr>
                </a:tc>
                <a:tc>
                  <a:txBody>
                    <a:bodyPr lIns="171450" tIns="95250" rIns="133350" bIns="95250"/>
                    <a:lstStyle/>
                    <a:p>
                      <a:r>
                        <a:rPr sz="2475" b="0">
                          <a:solidFill>
                            <a:srgbClr val="183247"/>
                          </a:solidFill>
                          <a:latin typeface="Arial"/>
                          <a:ea typeface="Arial"/>
                          <a:cs typeface="Arial"/>
                        </a:rPr>
                        <a:t>18 − 14 = € 4</a:t>
                      </a:r>
                    </a:p>
                  </a:txBody>
                  <a:tcPr marL="91440" marR="91440" marT="45720" marB="45720" anchor="ctr">
                    <a:solidFill>
                      <a:srgbClr val="FFFFFF"/>
                    </a:solidFill>
                  </a:tcPr>
                </a:tc>
              </a:tr>
              <a:tr h="911225">
                <a:tc>
                  <a:txBody>
                    <a:bodyPr lIns="171450" tIns="95250" rIns="133350" bIns="95250"/>
                    <a:lstStyle/>
                    <a:p>
                      <a:r>
                        <a:rPr sz="2475" b="0">
                          <a:solidFill>
                            <a:srgbClr val="183247"/>
                          </a:solidFill>
                          <a:latin typeface="Arial"/>
                          <a:ea typeface="Arial"/>
                          <a:cs typeface="Arial"/>
                        </a:rPr>
                        <a:t>Verkoper ontvangt</a:t>
                      </a:r>
                    </a:p>
                  </a:txBody>
                  <a:tcPr marL="91440" marR="91440" marT="45720" marB="45720" anchor="ctr">
                    <a:solidFill>
                      <a:srgbClr val="EFF4F7"/>
                    </a:solidFill>
                  </a:tcPr>
                </a:tc>
                <a:tc>
                  <a:txBody>
                    <a:bodyPr lIns="171450" tIns="95250" rIns="133350" bIns="95250"/>
                    <a:lstStyle/>
                    <a:p>
                      <a:r>
                        <a:rPr sz="2475" b="0">
                          <a:solidFill>
                            <a:srgbClr val="183247"/>
                          </a:solidFill>
                          <a:latin typeface="Arial"/>
                          <a:ea typeface="Arial"/>
                          <a:cs typeface="Arial"/>
                        </a:rPr>
                        <a:t>€ 14</a:t>
                      </a:r>
                    </a:p>
                  </a:txBody>
                  <a:tcPr marL="91440" marR="91440" marT="45720" marB="45720" anchor="ctr">
                    <a:solidFill>
                      <a:srgbClr val="EFF4F7"/>
                    </a:solidFill>
                  </a:tcPr>
                </a:tc>
                <a:tc>
                  <a:txBody>
                    <a:bodyPr lIns="171450" tIns="95250" rIns="133350" bIns="95250"/>
                    <a:lstStyle/>
                    <a:p>
                      <a:r>
                        <a:rPr sz="2475" b="0">
                          <a:solidFill>
                            <a:srgbClr val="183247"/>
                          </a:solidFill>
                          <a:latin typeface="Arial"/>
                          <a:ea typeface="Arial"/>
                          <a:cs typeface="Arial"/>
                        </a:rPr>
                        <a:t>€ 12</a:t>
                      </a:r>
                    </a:p>
                  </a:txBody>
                  <a:tcPr marL="91440" marR="91440" marT="45720" marB="45720" anchor="ctr">
                    <a:solidFill>
                      <a:srgbClr val="EFF4F7"/>
                    </a:solidFill>
                  </a:tcPr>
                </a:tc>
                <a:tc>
                  <a:txBody>
                    <a:bodyPr lIns="171450" tIns="95250" rIns="133350" bIns="95250"/>
                    <a:lstStyle/>
                    <a:p>
                      <a:r>
                        <a:rPr sz="2475" b="0">
                          <a:solidFill>
                            <a:srgbClr val="183247"/>
                          </a:solidFill>
                          <a:latin typeface="Arial"/>
                          <a:ea typeface="Arial"/>
                          <a:cs typeface="Arial"/>
                        </a:rPr>
                        <a:t>14 − 12 = € 2</a:t>
                      </a:r>
                    </a:p>
                  </a:txBody>
                  <a:tcPr marL="91440" marR="91440" marT="45720" marB="45720" anchor="ctr">
                    <a:solidFill>
                      <a:srgbClr val="EFF4F7"/>
                    </a:solidFill>
                  </a:tcPr>
                </a:tc>
              </a:tr>
            </a:tbl>
          </a:graphicData>
        </a:graphic>
      </p:graphicFrame>
      <p:sp>
        <p:nvSpPr>
          <p:cNvPr id="7" name="De verkoper draagt € 6 af.">
            <a:extLst xmlns:a="http://schemas.openxmlformats.org/drawingml/2006/main">
              <a:ext uri="{FF2B5EF4-FFF2-40B4-BE49-F238E27FC236}">
                <a16:creationId xmlns:a16="http://schemas.microsoft.com/office/drawing/2014/main" id="{E284CF4F-815F-4626-8CA4-257DF82FBC8F}"/>
              </a:ext>
            </a:extLst>
          </p:cNvPr>
          <p:cNvSpPr>
            <a:spLocks xmlns:a="http://schemas.openxmlformats.org/drawingml/2006/main" noGrp="1"/>
          </p:cNvSpPr>
          <p:nvPr/>
        </p:nvSpPr>
        <p:spPr>
          <a:xfrm xmlns:a="http://schemas.openxmlformats.org/drawingml/2006/main">
            <a:off x="571500" y="6076950"/>
            <a:ext cx="1409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De verkoper draagt € 6 af.</a:t>
            </a:r>
          </a:p>
        </p:txBody>
      </p:sp>
      <p:sp>
        <p:nvSpPr>
          <p:cNvPr id="8" name="Kopers dragen € 4 en verkopers € 2 van de last.">
            <a:extLst xmlns:a="http://schemas.openxmlformats.org/drawingml/2006/main">
              <a:ext uri="{FF2B5EF4-FFF2-40B4-BE49-F238E27FC236}">
                <a16:creationId xmlns:a16="http://schemas.microsoft.com/office/drawing/2014/main" id="{1913EA34-AC08-4476-A1A1-4206531558FC}"/>
              </a:ext>
            </a:extLst>
          </p:cNvPr>
          <p:cNvSpPr>
            <a:spLocks xmlns:a="http://schemas.openxmlformats.org/drawingml/2006/main" noGrp="1"/>
          </p:cNvSpPr>
          <p:nvPr/>
        </p:nvSpPr>
        <p:spPr>
          <a:xfrm xmlns:a="http://schemas.openxmlformats.org/drawingml/2006/main">
            <a:off x="571500" y="7096125"/>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A94D16"/>
                </a:solidFill>
                <a:latin typeface="Arial"/>
                <a:ea typeface="Arial"/>
                <a:cs typeface="Arial"/>
              </a:defRPr>
            </a:pPr>
            <a:r>
              <a:rPr sz="3000" b="1">
                <a:solidFill>
                  <a:srgbClr val="A94D16"/>
                </a:solidFill>
                <a:latin typeface="Arial"/>
                <a:ea typeface="Arial"/>
                <a:cs typeface="Arial"/>
              </a:rPr>
              <a:t>Kopers dragen € 4 en verkopers € 2 van de last.</a:t>
            </a:r>
          </a:p>
        </p:txBody>
      </p:sp>
    </p:spTree>
    <p:extLst>
      <p:ext uri="{BB962C8B-B14F-4D97-AF65-F5344CB8AC3E}">
        <p14:creationId xmlns:p14="http://schemas.microsoft.com/office/powerpoint/2010/main" val="92027838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orte controle">
            <a:extLst xmlns:a="http://schemas.openxmlformats.org/drawingml/2006/main">
              <a:ext uri="{FF2B5EF4-FFF2-40B4-BE49-F238E27FC236}">
                <a16:creationId xmlns:a16="http://schemas.microsoft.com/office/drawing/2014/main" id="{8DA89666-9D3E-41CE-BDAC-D7900CFC8C83}"/>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Korte controle</a:t>
            </a:r>
          </a:p>
        </p:txBody>
      </p:sp>
      <p:sp>
        <p:nvSpPr>
          <p:cNvPr id="2" name="">
            <a:extLst xmlns:a="http://schemas.openxmlformats.org/drawingml/2006/main">
              <a:ext uri="{FF2B5EF4-FFF2-40B4-BE49-F238E27FC236}">
                <a16:creationId xmlns:a16="http://schemas.microsoft.com/office/drawing/2014/main" id="{32030FC2-D200-48B4-ACCB-37B32C160B9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1 Eén product, twee prijzen">
            <a:extLst xmlns:a="http://schemas.openxmlformats.org/drawingml/2006/main">
              <a:ext uri="{FF2B5EF4-FFF2-40B4-BE49-F238E27FC236}">
                <a16:creationId xmlns:a16="http://schemas.microsoft.com/office/drawing/2014/main" id="{D293EA4A-5167-4DA7-A88B-E06E6999D846}"/>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§3.1.1 Eén product, twee prijzen</a:t>
            </a:r>
          </a:p>
        </p:txBody>
      </p:sp>
      <p:sp>
        <p:nvSpPr>
          <p:cNvPr id="4" name="14">
            <a:extLst xmlns:a="http://schemas.openxmlformats.org/drawingml/2006/main">
              <a:ext uri="{FF2B5EF4-FFF2-40B4-BE49-F238E27FC236}">
                <a16:creationId xmlns:a16="http://schemas.microsoft.com/office/drawing/2014/main" id="{9BFBD91D-7591-4292-91D6-BE9B4553510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Uitlegvoorbeeld — niet uit het boek">
            <a:extLst xmlns:a="http://schemas.openxmlformats.org/drawingml/2006/main">
              <a:ext uri="{FF2B5EF4-FFF2-40B4-BE49-F238E27FC236}">
                <a16:creationId xmlns:a16="http://schemas.microsoft.com/office/drawing/2014/main" id="{2587AA59-95D2-4F48-BDBF-089F7F1AE373}"/>
              </a:ext>
            </a:extLst>
          </p:cNvPr>
          <p:cNvSpPr>
            <a:spLocks xmlns:a="http://schemas.openxmlformats.org/drawingml/2006/main" noGrp="1"/>
          </p:cNvSpPr>
          <p:nvPr/>
        </p:nvSpPr>
        <p:spPr>
          <a:xfrm xmlns:a="http://schemas.openxmlformats.org/drawingml/2006/main">
            <a:off x="571500" y="1685925"/>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sp>
        <p:nvSpPr>
          <p:cNvPr id="6" name="“De oude prijs is € 14. De belasting is € 6.&#10;Dus de koper ga">
            <a:extLst xmlns:a="http://schemas.openxmlformats.org/drawingml/2006/main">
              <a:ext uri="{FF2B5EF4-FFF2-40B4-BE49-F238E27FC236}">
                <a16:creationId xmlns:a16="http://schemas.microsoft.com/office/drawing/2014/main" id="{0F785BCF-BC6F-47F0-BDED-35739C2CE8B9}"/>
              </a:ext>
            </a:extLst>
          </p:cNvPr>
          <p:cNvSpPr>
            <a:spLocks xmlns:a="http://schemas.openxmlformats.org/drawingml/2006/main" noGrp="1"/>
          </p:cNvSpPr>
          <p:nvPr/>
        </p:nvSpPr>
        <p:spPr>
          <a:xfrm xmlns:a="http://schemas.openxmlformats.org/drawingml/2006/main">
            <a:off x="571500" y="2714625"/>
            <a:ext cx="140970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83247"/>
                </a:solidFill>
                <a:latin typeface="Arial"/>
                <a:ea typeface="Arial"/>
                <a:cs typeface="Arial"/>
              </a:defRPr>
            </a:pPr>
            <a:r>
              <a:rPr sz="3600" b="1">
                <a:solidFill>
                  <a:srgbClr val="183247"/>
                </a:solidFill>
                <a:latin typeface="Arial"/>
                <a:ea typeface="Arial"/>
                <a:cs typeface="Arial"/>
              </a:rPr>
              <a:t>“De oude prijs is € 14. De belasting is € 6.</a:t>
            </a:r>
          </a:p>
          <a:p xmlns:a="http://schemas.openxmlformats.org/drawingml/2006/main">
            <a:pPr algn="l">
              <a:defRPr sz="3600" b="1">
                <a:solidFill>
                  <a:srgbClr val="183247"/>
                </a:solidFill>
                <a:latin typeface="Arial"/>
                <a:ea typeface="Arial"/>
                <a:cs typeface="Arial"/>
              </a:defRPr>
            </a:pPr>
            <a:r>
              <a:rPr sz="3600" b="1">
                <a:solidFill>
                  <a:srgbClr val="183247"/>
                </a:solidFill>
                <a:latin typeface="Arial"/>
                <a:ea typeface="Arial"/>
                <a:cs typeface="Arial"/>
              </a:rPr>
              <a:t>Dus de koper gaat € 20 betalen.”</a:t>
            </a:r>
          </a:p>
        </p:txBody>
      </p:sp>
      <p:sp>
        <p:nvSpPr>
          <p:cNvPr id="7" name="Welke verkopersontvangst hoort daarbij?&#10;Hoeveel wordt dan ge">
            <a:extLst xmlns:a="http://schemas.openxmlformats.org/drawingml/2006/main">
              <a:ext uri="{FF2B5EF4-FFF2-40B4-BE49-F238E27FC236}">
                <a16:creationId xmlns:a16="http://schemas.microsoft.com/office/drawing/2014/main" id="{203FF98B-904A-423C-B134-A981CF885AA9}"/>
              </a:ext>
            </a:extLst>
          </p:cNvPr>
          <p:cNvSpPr>
            <a:spLocks xmlns:a="http://schemas.openxmlformats.org/drawingml/2006/main" noGrp="1"/>
          </p:cNvSpPr>
          <p:nvPr/>
        </p:nvSpPr>
        <p:spPr>
          <a:xfrm xmlns:a="http://schemas.openxmlformats.org/drawingml/2006/main">
            <a:off x="571500" y="5238750"/>
            <a:ext cx="1409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Welke verkopersontvangst hoort daarbij?</a:t>
            </a:r>
          </a:p>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Hoeveel wordt dan gevraagd en aangeboden?</a:t>
            </a:r>
          </a:p>
        </p:txBody>
      </p:sp>
      <p:sp>
        <p:nvSpPr>
          <p:cNvPr id="8" name="Gebruik de functies van de fietslampjesmarkt.">
            <a:extLst xmlns:a="http://schemas.openxmlformats.org/drawingml/2006/main">
              <a:ext uri="{FF2B5EF4-FFF2-40B4-BE49-F238E27FC236}">
                <a16:creationId xmlns:a16="http://schemas.microsoft.com/office/drawing/2014/main" id="{9B3F3521-AAC1-4019-B2A2-84FA6E81CA6C}"/>
              </a:ext>
            </a:extLst>
          </p:cNvPr>
          <p:cNvSpPr>
            <a:spLocks xmlns:a="http://schemas.openxmlformats.org/drawingml/2006/main" noGrp="1"/>
          </p:cNvSpPr>
          <p:nvPr/>
        </p:nvSpPr>
        <p:spPr>
          <a:xfrm xmlns:a="http://schemas.openxmlformats.org/drawingml/2006/main">
            <a:off x="571500" y="719137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A5276"/>
                </a:solidFill>
                <a:latin typeface="Arial"/>
                <a:ea typeface="Arial"/>
                <a:cs typeface="Arial"/>
              </a:defRPr>
            </a:pPr>
            <a:r>
              <a:rPr sz="2550" b="0">
                <a:solidFill>
                  <a:srgbClr val="1A5276"/>
                </a:solidFill>
                <a:latin typeface="Arial"/>
                <a:ea typeface="Arial"/>
                <a:cs typeface="Arial"/>
              </a:rPr>
              <a:t>Gebruik de functies van de fietslampjesmarkt.</a:t>
            </a:r>
          </a:p>
        </p:txBody>
      </p:sp>
    </p:spTree>
    <p:extLst>
      <p:ext uri="{BB962C8B-B14F-4D97-AF65-F5344CB8AC3E}">
        <p14:creationId xmlns:p14="http://schemas.microsoft.com/office/powerpoint/2010/main" val="12162593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Een passende wig is nog geen evenwicht">
            <a:extLst xmlns:a="http://schemas.openxmlformats.org/drawingml/2006/main">
              <a:ext uri="{FF2B5EF4-FFF2-40B4-BE49-F238E27FC236}">
                <a16:creationId xmlns:a16="http://schemas.microsoft.com/office/drawing/2014/main" id="{B94EB072-A387-4105-9F77-E0C42AC74345}"/>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Een passende wig is nog geen evenwicht</a:t>
            </a:r>
          </a:p>
        </p:txBody>
      </p:sp>
      <p:sp>
        <p:nvSpPr>
          <p:cNvPr id="2" name="">
            <a:extLst xmlns:a="http://schemas.openxmlformats.org/drawingml/2006/main">
              <a:ext uri="{FF2B5EF4-FFF2-40B4-BE49-F238E27FC236}">
                <a16:creationId xmlns:a16="http://schemas.microsoft.com/office/drawing/2014/main" id="{BCEE9F82-62A7-4408-A697-11B859AE4EC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1 Eén product, twee prijzen">
            <a:extLst xmlns:a="http://schemas.openxmlformats.org/drawingml/2006/main">
              <a:ext uri="{FF2B5EF4-FFF2-40B4-BE49-F238E27FC236}">
                <a16:creationId xmlns:a16="http://schemas.microsoft.com/office/drawing/2014/main" id="{8BDFB75B-3C3B-4940-A824-1E3D93EACD0B}"/>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§3.1.1 Eén product, twee prijzen</a:t>
            </a:r>
          </a:p>
        </p:txBody>
      </p:sp>
      <p:sp>
        <p:nvSpPr>
          <p:cNvPr id="4" name="15">
            <a:extLst xmlns:a="http://schemas.openxmlformats.org/drawingml/2006/main">
              <a:ext uri="{FF2B5EF4-FFF2-40B4-BE49-F238E27FC236}">
                <a16:creationId xmlns:a16="http://schemas.microsoft.com/office/drawing/2014/main" id="{2BD0EC57-1048-4D7E-8A97-9877C236738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Uitlegvoorbeeld — niet uit het boek">
            <a:extLst xmlns:a="http://schemas.openxmlformats.org/drawingml/2006/main">
              <a:ext uri="{FF2B5EF4-FFF2-40B4-BE49-F238E27FC236}">
                <a16:creationId xmlns:a16="http://schemas.microsoft.com/office/drawing/2014/main" id="{260689CA-0F63-49C2-972A-BC363A1B925F}"/>
              </a:ext>
            </a:extLst>
          </p:cNvPr>
          <p:cNvSpPr>
            <a:spLocks xmlns:a="http://schemas.openxmlformats.org/drawingml/2006/main" noGrp="1"/>
          </p:cNvSpPr>
          <p:nvPr/>
        </p:nvSpPr>
        <p:spPr>
          <a:xfrm xmlns:a="http://schemas.openxmlformats.org/drawingml/2006/main">
            <a:off x="571500" y="1685925"/>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sp>
        <p:nvSpPr>
          <p:cNvPr id="6" name="Bij Pc = € 20 hoort Pp = 20 − 6 = € 14.">
            <a:extLst xmlns:a="http://schemas.openxmlformats.org/drawingml/2006/main">
              <a:ext uri="{FF2B5EF4-FFF2-40B4-BE49-F238E27FC236}">
                <a16:creationId xmlns:a16="http://schemas.microsoft.com/office/drawing/2014/main" id="{4AD8A012-7E05-4EB2-86AE-8F7F71DDEFA3}"/>
              </a:ext>
            </a:extLst>
          </p:cNvPr>
          <p:cNvSpPr>
            <a:spLocks xmlns:a="http://schemas.openxmlformats.org/drawingml/2006/main" noGrp="1"/>
          </p:cNvSpPr>
          <p:nvPr/>
        </p:nvSpPr>
        <p:spPr>
          <a:xfrm xmlns:a="http://schemas.openxmlformats.org/drawingml/2006/main">
            <a:off x="571500" y="255270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Bij Pc = € 20 hoort Pp = 20 − 6 = € 14.</a:t>
            </a:r>
          </a:p>
        </p:txBody>
      </p:sp>
      <p:graphicFrame>
        <p:nvGraphicFramePr>
          <p:cNvPr id="15" name=""/>
          <p:cNvGraphicFramePr/>
          <p:nvPr/>
        </p:nvGraphicFramePr>
        <p:xfrm>
          <a:off xmlns:a="http://schemas.openxmlformats.org/drawingml/2006/main" x="571500" y="3752850"/>
          <a:ext xmlns:a="http://schemas.openxmlformats.org/drawingml/2006/main" cx="14097000" cy="2543175"/>
        </p:xfrm>
        <a:graphic xmlns:a="http://schemas.openxmlformats.org/drawingml/2006/main">
          <a:graphicData uri="http://schemas.openxmlformats.org/drawingml/2006/table">
            <a:tbl>
              <a:tblPr/>
              <a:tblGrid>
                <a:gridCol w="7048500"/>
                <a:gridCol w="7048500"/>
              </a:tblGrid>
              <a:tr h="847725">
                <a:tc>
                  <a:txBody>
                    <a:bodyPr lIns="171450" tIns="95250" rIns="133350" bIns="95250"/>
                    <a:lstStyle/>
                    <a:p>
                      <a:r>
                        <a:rPr sz="2925" b="1">
                          <a:solidFill>
                            <a:srgbClr val="FFFFFF"/>
                          </a:solidFill>
                          <a:latin typeface="Arial"/>
                          <a:ea typeface="Arial"/>
                          <a:cs typeface="Arial"/>
                        </a:rPr>
                        <a:t>Vraag</a:t>
                      </a:r>
                    </a:p>
                  </a:txBody>
                  <a:tcPr marL="91440" marR="91440" marT="45720" marB="45720" anchor="ctr">
                    <a:solidFill>
                      <a:srgbClr val="183247"/>
                    </a:solidFill>
                  </a:tcPr>
                </a:tc>
                <a:tc>
                  <a:txBody>
                    <a:bodyPr lIns="171450" tIns="95250" rIns="133350" bIns="95250"/>
                    <a:lstStyle/>
                    <a:p>
                      <a:r>
                        <a:rPr sz="2925" b="1">
                          <a:solidFill>
                            <a:srgbClr val="FFFFFF"/>
                          </a:solidFill>
                          <a:latin typeface="Arial"/>
                          <a:ea typeface="Arial"/>
                          <a:cs typeface="Arial"/>
                        </a:rPr>
                        <a:t>Aanbod</a:t>
                      </a:r>
                    </a:p>
                  </a:txBody>
                  <a:tcPr marL="91440" marR="91440" marT="45720" marB="45720" anchor="ctr">
                    <a:solidFill>
                      <a:srgbClr val="183247"/>
                    </a:solidFill>
                  </a:tcPr>
                </a:tc>
              </a:tr>
              <a:tr h="847725">
                <a:tc>
                  <a:txBody>
                    <a:bodyPr lIns="171450" tIns="95250" rIns="133350" bIns="95250"/>
                    <a:lstStyle/>
                    <a:p>
                      <a:r>
                        <a:rPr sz="2925" b="0">
                          <a:solidFill>
                            <a:srgbClr val="183247"/>
                          </a:solidFill>
                          <a:latin typeface="Arial"/>
                          <a:ea typeface="Arial"/>
                          <a:cs typeface="Arial"/>
                        </a:rPr>
                        <a:t>20 = 30 − 0,20Qv</a:t>
                      </a:r>
                    </a:p>
                  </a:txBody>
                  <a:tcPr marL="91440" marR="91440" marT="45720" marB="45720" anchor="ctr">
                    <a:solidFill>
                      <a:srgbClr val="FFFFFF"/>
                    </a:solidFill>
                  </a:tcPr>
                </a:tc>
                <a:tc>
                  <a:txBody>
                    <a:bodyPr lIns="171450" tIns="95250" rIns="133350" bIns="95250"/>
                    <a:lstStyle/>
                    <a:p>
                      <a:r>
                        <a:rPr sz="2925" b="0">
                          <a:solidFill>
                            <a:srgbClr val="183247"/>
                          </a:solidFill>
                          <a:latin typeface="Arial"/>
                          <a:ea typeface="Arial"/>
                          <a:cs typeface="Arial"/>
                        </a:rPr>
                        <a:t>14 = 6 + 0,10Qa</a:t>
                      </a:r>
                    </a:p>
                  </a:txBody>
                  <a:tcPr marL="91440" marR="91440" marT="45720" marB="45720" anchor="ctr">
                    <a:solidFill>
                      <a:srgbClr val="FFFFFF"/>
                    </a:solidFill>
                  </a:tcPr>
                </a:tc>
              </a:tr>
              <a:tr h="847725">
                <a:tc>
                  <a:txBody>
                    <a:bodyPr lIns="171450" tIns="95250" rIns="133350" bIns="95250"/>
                    <a:lstStyle/>
                    <a:p>
                      <a:r>
                        <a:rPr sz="2925" b="0">
                          <a:solidFill>
                            <a:srgbClr val="183247"/>
                          </a:solidFill>
                          <a:latin typeface="Arial"/>
                          <a:ea typeface="Arial"/>
                          <a:cs typeface="Arial"/>
                        </a:rPr>
                        <a:t>Qv = 50 per week</a:t>
                      </a:r>
                    </a:p>
                  </a:txBody>
                  <a:tcPr marL="91440" marR="91440" marT="45720" marB="45720" anchor="ctr">
                    <a:solidFill>
                      <a:srgbClr val="EFF4F7"/>
                    </a:solidFill>
                  </a:tcPr>
                </a:tc>
                <a:tc>
                  <a:txBody>
                    <a:bodyPr lIns="171450" tIns="95250" rIns="133350" bIns="95250"/>
                    <a:lstStyle/>
                    <a:p>
                      <a:r>
                        <a:rPr sz="2925" b="0">
                          <a:solidFill>
                            <a:srgbClr val="183247"/>
                          </a:solidFill>
                          <a:latin typeface="Arial"/>
                          <a:ea typeface="Arial"/>
                          <a:cs typeface="Arial"/>
                        </a:rPr>
                        <a:t>Qa = 80 per week</a:t>
                      </a:r>
                    </a:p>
                  </a:txBody>
                  <a:tcPr marL="91440" marR="91440" marT="45720" marB="45720" anchor="ctr">
                    <a:solidFill>
                      <a:srgbClr val="EFF4F7"/>
                    </a:solidFill>
                  </a:tcPr>
                </a:tc>
              </a:tr>
            </a:tbl>
          </a:graphicData>
        </a:graphic>
      </p:graphicFrame>
      <p:sp>
        <p:nvSpPr>
          <p:cNvPr id="8" name="50 ≠ 80. Deze prijzen geven geen marktevenwicht.">
            <a:extLst xmlns:a="http://schemas.openxmlformats.org/drawingml/2006/main">
              <a:ext uri="{FF2B5EF4-FFF2-40B4-BE49-F238E27FC236}">
                <a16:creationId xmlns:a16="http://schemas.microsoft.com/office/drawing/2014/main" id="{BD88192A-007F-4CA7-885A-C3B8BB54A6E1}"/>
              </a:ext>
            </a:extLst>
          </p:cNvPr>
          <p:cNvSpPr>
            <a:spLocks xmlns:a="http://schemas.openxmlformats.org/drawingml/2006/main" noGrp="1"/>
          </p:cNvSpPr>
          <p:nvPr/>
        </p:nvSpPr>
        <p:spPr>
          <a:xfrm xmlns:a="http://schemas.openxmlformats.org/drawingml/2006/main">
            <a:off x="571500" y="6886575"/>
            <a:ext cx="1409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A94D16"/>
                </a:solidFill>
                <a:latin typeface="Arial"/>
                <a:ea typeface="Arial"/>
                <a:cs typeface="Arial"/>
              </a:defRPr>
            </a:pPr>
            <a:r>
              <a:rPr sz="3075" b="1">
                <a:solidFill>
                  <a:srgbClr val="A94D16"/>
                </a:solidFill>
                <a:latin typeface="Arial"/>
                <a:ea typeface="Arial"/>
                <a:cs typeface="Arial"/>
              </a:rPr>
              <a:t>50 ≠ 80. Deze prijzen geven geen marktevenwicht.</a:t>
            </a:r>
          </a:p>
        </p:txBody>
      </p:sp>
    </p:spTree>
    <p:extLst>
      <p:ext uri="{BB962C8B-B14F-4D97-AF65-F5344CB8AC3E}">
        <p14:creationId xmlns:p14="http://schemas.microsoft.com/office/powerpoint/2010/main" val="78069561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3.1.1 Eén product, twee prijzen">
            <a:extLst xmlns:a="http://schemas.openxmlformats.org/drawingml/2006/main">
              <a:ext uri="{FF2B5EF4-FFF2-40B4-BE49-F238E27FC236}">
                <a16:creationId xmlns:a16="http://schemas.microsoft.com/office/drawing/2014/main" id="{0917EED5-8A0E-4ECF-A9B0-86187C542EC2}"/>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Deze les: §3.1.1 Eén product, twee prijzen</a:t>
            </a:r>
          </a:p>
        </p:txBody>
      </p:sp>
      <p:sp>
        <p:nvSpPr>
          <p:cNvPr id="2" name="">
            <a:extLst xmlns:a="http://schemas.openxmlformats.org/drawingml/2006/main">
              <a:ext uri="{FF2B5EF4-FFF2-40B4-BE49-F238E27FC236}">
                <a16:creationId xmlns:a16="http://schemas.microsoft.com/office/drawing/2014/main" id="{71AA3F22-8E90-409B-B483-5A12D26546F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1 Eén product, twee prijzen">
            <a:extLst xmlns:a="http://schemas.openxmlformats.org/drawingml/2006/main">
              <a:ext uri="{FF2B5EF4-FFF2-40B4-BE49-F238E27FC236}">
                <a16:creationId xmlns:a16="http://schemas.microsoft.com/office/drawing/2014/main" id="{351BD233-B58C-4663-B513-65F1D0610D51}"/>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§3.1.1 Eén product, twee prijzen</a:t>
            </a:r>
          </a:p>
        </p:txBody>
      </p:sp>
      <p:sp>
        <p:nvSpPr>
          <p:cNvPr id="4" name="16">
            <a:extLst xmlns:a="http://schemas.openxmlformats.org/drawingml/2006/main">
              <a:ext uri="{FF2B5EF4-FFF2-40B4-BE49-F238E27FC236}">
                <a16:creationId xmlns:a16="http://schemas.microsoft.com/office/drawing/2014/main" id="{97372900-DD51-4D6E-A203-7F3587C517F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phase">
            <a:extLst xmlns:a="http://schemas.openxmlformats.org/drawingml/2006/main">
              <a:ext uri="{FF2B5EF4-FFF2-40B4-BE49-F238E27FC236}">
                <a16:creationId xmlns:a16="http://schemas.microsoft.com/office/drawing/2014/main" id="{8C66EB50-0C9E-425D-9AF0-451415BEFC7B}"/>
              </a:ext>
            </a:extLst>
          </p:cNvPr>
          <p:cNvSpPr>
            <a:spLocks xmlns:a="http://schemas.openxmlformats.org/drawingml/2006/main" noGrp="1"/>
          </p:cNvSpPr>
          <p:nvPr/>
        </p:nvSpPr>
        <p:spPr>
          <a:xfrm xmlns:a="http://schemas.openxmlformats.org/drawingml/2006/main">
            <a:off x="571500" y="1066800"/>
            <a:ext cx="13906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Zelfstandig werken</a:t>
            </a:r>
          </a:p>
        </p:txBody>
      </p:sp>
      <p:sp>
        <p:nvSpPr>
          <p:cNvPr id="6" name="Lesroute">
            <a:extLst xmlns:a="http://schemas.openxmlformats.org/drawingml/2006/main">
              <a:ext uri="{FF2B5EF4-FFF2-40B4-BE49-F238E27FC236}">
                <a16:creationId xmlns:a16="http://schemas.microsoft.com/office/drawing/2014/main" id="{C34445BF-836C-4BCA-AD0A-37A59899120D}"/>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0">
            <a:extLst xmlns:a="http://schemas.openxmlformats.org/drawingml/2006/main">
              <a:ext uri="{FF2B5EF4-FFF2-40B4-BE49-F238E27FC236}">
                <a16:creationId xmlns:a16="http://schemas.microsoft.com/office/drawing/2014/main" id="{443711A8-CB14-4A24-B9F2-2802A35A8EF0}"/>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0">
            <a:extLst xmlns:a="http://schemas.openxmlformats.org/drawingml/2006/main">
              <a:ext uri="{FF2B5EF4-FFF2-40B4-BE49-F238E27FC236}">
                <a16:creationId xmlns:a16="http://schemas.microsoft.com/office/drawing/2014/main" id="{461AC06F-2A06-469B-B402-CDF326CC2DDE}"/>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1">
            <a:extLst xmlns:a="http://schemas.openxmlformats.org/drawingml/2006/main">
              <a:ext uri="{FF2B5EF4-FFF2-40B4-BE49-F238E27FC236}">
                <a16:creationId xmlns:a16="http://schemas.microsoft.com/office/drawing/2014/main" id="{A57531F7-A6B7-485D-8599-3F73BE7F2363}"/>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1">
            <a:extLst xmlns:a="http://schemas.openxmlformats.org/drawingml/2006/main">
              <a:ext uri="{FF2B5EF4-FFF2-40B4-BE49-F238E27FC236}">
                <a16:creationId xmlns:a16="http://schemas.microsoft.com/office/drawing/2014/main" id="{7797F4A1-4728-4737-A547-535D0E9D3465}"/>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2">
            <a:extLst xmlns:a="http://schemas.openxmlformats.org/drawingml/2006/main">
              <a:ext uri="{FF2B5EF4-FFF2-40B4-BE49-F238E27FC236}">
                <a16:creationId xmlns:a16="http://schemas.microsoft.com/office/drawing/2014/main" id="{9D2353C2-DFC2-4636-8F50-7F04A2D9B196}"/>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2">
            <a:extLst xmlns:a="http://schemas.openxmlformats.org/drawingml/2006/main">
              <a:ext uri="{FF2B5EF4-FFF2-40B4-BE49-F238E27FC236}">
                <a16:creationId xmlns:a16="http://schemas.microsoft.com/office/drawing/2014/main" id="{6F407648-FC9B-43A4-B956-ADB26CB7C524}"/>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3">
            <a:extLst xmlns:a="http://schemas.openxmlformats.org/drawingml/2006/main">
              <a:ext uri="{FF2B5EF4-FFF2-40B4-BE49-F238E27FC236}">
                <a16:creationId xmlns:a16="http://schemas.microsoft.com/office/drawing/2014/main" id="{0CFB4405-8E3C-4045-9710-40DBC9AA46A9}"/>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4.</a:t>
            </a:r>
          </a:p>
        </p:txBody>
      </p:sp>
      <p:sp>
        <p:nvSpPr>
          <p:cNvPr id="14" name="route-3">
            <a:extLst xmlns:a="http://schemas.openxmlformats.org/drawingml/2006/main">
              <a:ext uri="{FF2B5EF4-FFF2-40B4-BE49-F238E27FC236}">
                <a16:creationId xmlns:a16="http://schemas.microsoft.com/office/drawing/2014/main" id="{C73CFB85-251F-4051-8763-13385B57A9EC}"/>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4">
            <a:extLst xmlns:a="http://schemas.openxmlformats.org/drawingml/2006/main">
              <a:ext uri="{FF2B5EF4-FFF2-40B4-BE49-F238E27FC236}">
                <a16:creationId xmlns:a16="http://schemas.microsoft.com/office/drawing/2014/main" id="{42FE7C55-6A96-4C91-981F-DCE42B3E9900}"/>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4">
            <a:extLst xmlns:a="http://schemas.openxmlformats.org/drawingml/2006/main">
              <a:ext uri="{FF2B5EF4-FFF2-40B4-BE49-F238E27FC236}">
                <a16:creationId xmlns:a16="http://schemas.microsoft.com/office/drawing/2014/main" id="{FC6FA055-4132-49BE-B758-23246901E9D0}"/>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5">
            <a:extLst xmlns:a="http://schemas.openxmlformats.org/drawingml/2006/main">
              <a:ext uri="{FF2B5EF4-FFF2-40B4-BE49-F238E27FC236}">
                <a16:creationId xmlns:a16="http://schemas.microsoft.com/office/drawing/2014/main" id="{19302B9D-1318-4E79-B8BD-92B4B0FA2BE3}"/>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5">
            <a:extLst xmlns:a="http://schemas.openxmlformats.org/drawingml/2006/main">
              <a:ext uri="{FF2B5EF4-FFF2-40B4-BE49-F238E27FC236}">
                <a16:creationId xmlns:a16="http://schemas.microsoft.com/office/drawing/2014/main" id="{BE9FE278-C052-4358-99A8-7C1B5D15813E}"/>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7.</a:t>
            </a:r>
          </a:p>
        </p:txBody>
      </p:sp>
      <p:sp>
        <p:nvSpPr>
          <p:cNvPr id="19" name="route-number-6">
            <a:extLst xmlns:a="http://schemas.openxmlformats.org/drawingml/2006/main">
              <a:ext uri="{FF2B5EF4-FFF2-40B4-BE49-F238E27FC236}">
                <a16:creationId xmlns:a16="http://schemas.microsoft.com/office/drawing/2014/main" id="{DBD28728-8163-4868-A698-C4E93D77AF57}"/>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6">
            <a:extLst xmlns:a="http://schemas.openxmlformats.org/drawingml/2006/main">
              <a:ext uri="{FF2B5EF4-FFF2-40B4-BE49-F238E27FC236}">
                <a16:creationId xmlns:a16="http://schemas.microsoft.com/office/drawing/2014/main" id="{CD182F00-4125-43EE-B7B0-C7B9C1BFF295}"/>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089AD9A4-AAAB-4A51-837C-C2FED507EEE2}"/>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6CED14D7-6099-4B26-866D-B2D3AE40B0FB}"/>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Evenwicht en twee prijzen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De belastingwig tekenen.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Afdragen en last dragen uitleggen.</a:t>
            </a:r>
          </a:p>
        </p:txBody>
      </p:sp>
      <p:sp>
        <p:nvSpPr>
          <p:cNvPr id="23" name="">
            <a:extLst xmlns:a="http://schemas.openxmlformats.org/drawingml/2006/main">
              <a:ext uri="{FF2B5EF4-FFF2-40B4-BE49-F238E27FC236}">
                <a16:creationId xmlns:a16="http://schemas.microsoft.com/office/drawing/2014/main" id="{FD432EF6-A7F1-4B98-88E0-374AB376D1B8}"/>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270A2165-559E-4953-A7C2-3E50C0F345B2}"/>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361E3CC6-3CF2-4485-8860-78E508E0D22E}"/>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9 · Opgaven 1 en 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 verkennen, theorie p. 6–9</a:t>
            </a:r>
          </a:p>
        </p:txBody>
      </p:sp>
      <p:sp>
        <p:nvSpPr>
          <p:cNvPr id="26" name="">
            <a:extLst xmlns:a="http://schemas.openxmlformats.org/drawingml/2006/main">
              <a:ext uri="{FF2B5EF4-FFF2-40B4-BE49-F238E27FC236}">
                <a16:creationId xmlns:a16="http://schemas.microsoft.com/office/drawing/2014/main" id="{84E86E75-6B8D-41B9-8106-D3B8A8D6A7A3}"/>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C6FBB6A9-804F-4DAE-8987-3BEDE8976C76}"/>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DB826851-4BEE-4F46-8946-339BCB3898D6}"/>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§3.1.1</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en 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5 en 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84328729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7 · Bedrukte tassen">
            <a:extLst xmlns:a="http://schemas.openxmlformats.org/drawingml/2006/main">
              <a:ext uri="{FF2B5EF4-FFF2-40B4-BE49-F238E27FC236}">
                <a16:creationId xmlns:a16="http://schemas.microsoft.com/office/drawing/2014/main" id="{EFA891A1-2FC2-4815-898C-5729EB98650D}"/>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7 · Bedrukte tassen</a:t>
            </a:r>
          </a:p>
        </p:txBody>
      </p:sp>
      <p:sp>
        <p:nvSpPr>
          <p:cNvPr id="2" name="">
            <a:extLst xmlns:a="http://schemas.openxmlformats.org/drawingml/2006/main">
              <a:ext uri="{FF2B5EF4-FFF2-40B4-BE49-F238E27FC236}">
                <a16:creationId xmlns:a16="http://schemas.microsoft.com/office/drawing/2014/main" id="{EFB9CC35-00C0-4663-AF22-3498A782A65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1 Eén product, twee prijzen · Opgave 7 · Boekpagina 12">
            <a:extLst xmlns:a="http://schemas.openxmlformats.org/drawingml/2006/main">
              <a:ext uri="{FF2B5EF4-FFF2-40B4-BE49-F238E27FC236}">
                <a16:creationId xmlns:a16="http://schemas.microsoft.com/office/drawing/2014/main" id="{73E92CD3-468F-4B8D-8753-07B7AAF4877C}"/>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§3.1.1 Eén product, twee prijzen · Opgave 7 · Boekpagina 12</a:t>
            </a:r>
          </a:p>
        </p:txBody>
      </p:sp>
      <p:sp>
        <p:nvSpPr>
          <p:cNvPr id="4" name="17">
            <a:extLst xmlns:a="http://schemas.openxmlformats.org/drawingml/2006/main">
              <a:ext uri="{FF2B5EF4-FFF2-40B4-BE49-F238E27FC236}">
                <a16:creationId xmlns:a16="http://schemas.microsoft.com/office/drawing/2014/main" id="{F305DD88-6B7B-44A2-B09B-530C63405E3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Verschillende aanbieders verkopen dezelfde soort bedrukte ta">
            <a:extLst xmlns:a="http://schemas.openxmlformats.org/drawingml/2006/main">
              <a:ext uri="{FF2B5EF4-FFF2-40B4-BE49-F238E27FC236}">
                <a16:creationId xmlns:a16="http://schemas.microsoft.com/office/drawing/2014/main" id="{87BAEB54-7B75-41ED-9580-C6CB7793C16D}"/>
              </a:ext>
            </a:extLst>
          </p:cNvPr>
          <p:cNvSpPr>
            <a:spLocks xmlns:a="http://schemas.openxmlformats.org/drawingml/2006/main" noGrp="1"/>
          </p:cNvSpPr>
          <p:nvPr/>
        </p:nvSpPr>
        <p:spPr>
          <a:xfrm xmlns:a="http://schemas.openxmlformats.org/drawingml/2006/main">
            <a:off x="571500" y="1971675"/>
            <a:ext cx="14097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Verschillende aanbieders verkopen dezelfde soort bedrukte tas.</a:t>
            </a:r>
          </a:p>
        </p:txBody>
      </p:sp>
      <p:graphicFrame>
        <p:nvGraphicFramePr>
          <p:cNvPr id="14" name=""/>
          <p:cNvGraphicFramePr/>
          <p:nvPr/>
        </p:nvGraphicFramePr>
        <p:xfrm>
          <a:off xmlns:a="http://schemas.openxmlformats.org/drawingml/2006/main" x="571500" y="3362325"/>
          <a:ext xmlns:a="http://schemas.openxmlformats.org/drawingml/2006/main" cx="14097000" cy="2476500"/>
        </p:xfrm>
        <a:graphic xmlns:a="http://schemas.openxmlformats.org/drawingml/2006/main">
          <a:graphicData uri="http://schemas.openxmlformats.org/drawingml/2006/table">
            <a:tbl>
              <a:tblPr/>
              <a:tblGrid>
                <a:gridCol w="5238750"/>
                <a:gridCol w="8858250"/>
              </a:tblGrid>
              <a:tr h="825500">
                <a:tc>
                  <a:txBody>
                    <a:bodyPr lIns="171450" tIns="95250" rIns="133350" bIns="95250"/>
                    <a:lstStyle/>
                    <a:p>
                      <a:r>
                        <a:rPr sz="2925" b="1">
                          <a:solidFill>
                            <a:srgbClr val="FFFFFF"/>
                          </a:solidFill>
                          <a:latin typeface="Arial"/>
                          <a:ea typeface="Arial"/>
                          <a:cs typeface="Arial"/>
                        </a:rPr>
                        <a:t>Vraag</a:t>
                      </a:r>
                    </a:p>
                  </a:txBody>
                  <a:tcPr marL="91440" marR="91440" marT="45720" marB="45720" anchor="ctr">
                    <a:solidFill>
                      <a:srgbClr val="183247"/>
                    </a:solidFill>
                  </a:tcPr>
                </a:tc>
                <a:tc>
                  <a:txBody>
                    <a:bodyPr lIns="171450" tIns="95250" rIns="133350" bIns="95250"/>
                    <a:lstStyle/>
                    <a:p>
                      <a:r>
                        <a:rPr sz="2925" b="1">
                          <a:solidFill>
                            <a:srgbClr val="FFFFFF"/>
                          </a:solidFill>
                          <a:latin typeface="Arial"/>
                          <a:ea typeface="Arial"/>
                          <a:cs typeface="Arial"/>
                        </a:rPr>
                        <a:t>Pc = 20 − 0,20Q</a:t>
                      </a:r>
                    </a:p>
                  </a:txBody>
                  <a:tcPr marL="91440" marR="91440" marT="45720" marB="45720" anchor="ctr">
                    <a:solidFill>
                      <a:srgbClr val="183247"/>
                    </a:solidFill>
                  </a:tcPr>
                </a:tc>
              </a:tr>
              <a:tr h="825500">
                <a:tc>
                  <a:txBody>
                    <a:bodyPr lIns="171450" tIns="95250" rIns="133350" bIns="95250"/>
                    <a:lstStyle/>
                    <a:p>
                      <a:r>
                        <a:rPr sz="2925" b="0">
                          <a:solidFill>
                            <a:srgbClr val="183247"/>
                          </a:solidFill>
                          <a:latin typeface="Arial"/>
                          <a:ea typeface="Arial"/>
                          <a:cs typeface="Arial"/>
                        </a:rPr>
                        <a:t>Aanbod</a:t>
                      </a:r>
                    </a:p>
                  </a:txBody>
                  <a:tcPr marL="91440" marR="91440" marT="45720" marB="45720" anchor="ctr">
                    <a:solidFill>
                      <a:srgbClr val="FFFFFF"/>
                    </a:solidFill>
                  </a:tcPr>
                </a:tc>
                <a:tc>
                  <a:txBody>
                    <a:bodyPr lIns="171450" tIns="95250" rIns="133350" bIns="95250"/>
                    <a:lstStyle/>
                    <a:p>
                      <a:r>
                        <a:rPr sz="2925" b="0">
                          <a:solidFill>
                            <a:srgbClr val="183247"/>
                          </a:solidFill>
                          <a:latin typeface="Arial"/>
                          <a:ea typeface="Arial"/>
                          <a:cs typeface="Arial"/>
                        </a:rPr>
                        <a:t>Pp = 2 + 0,10Q</a:t>
                      </a:r>
                    </a:p>
                  </a:txBody>
                  <a:tcPr marL="91440" marR="91440" marT="45720" marB="45720" anchor="ctr">
                    <a:solidFill>
                      <a:srgbClr val="FFFFFF"/>
                    </a:solidFill>
                  </a:tcPr>
                </a:tc>
              </a:tr>
              <a:tr h="825500">
                <a:tc>
                  <a:txBody>
                    <a:bodyPr lIns="171450" tIns="95250" rIns="133350" bIns="95250"/>
                    <a:lstStyle/>
                    <a:p>
                      <a:r>
                        <a:rPr sz="2925" b="0">
                          <a:solidFill>
                            <a:srgbClr val="183247"/>
                          </a:solidFill>
                          <a:latin typeface="Arial"/>
                          <a:ea typeface="Arial"/>
                          <a:cs typeface="Arial"/>
                        </a:rPr>
                        <a:t>Belasting</a:t>
                      </a:r>
                    </a:p>
                  </a:txBody>
                  <a:tcPr marL="91440" marR="91440" marT="45720" marB="45720" anchor="ctr">
                    <a:solidFill>
                      <a:srgbClr val="EFF4F7"/>
                    </a:solidFill>
                  </a:tcPr>
                </a:tc>
                <a:tc>
                  <a:txBody>
                    <a:bodyPr lIns="171450" tIns="95250" rIns="133350" bIns="95250"/>
                    <a:lstStyle/>
                    <a:p>
                      <a:r>
                        <a:rPr sz="2925" b="0">
                          <a:solidFill>
                            <a:srgbClr val="183247"/>
                          </a:solidFill>
                          <a:latin typeface="Arial"/>
                          <a:ea typeface="Arial"/>
                          <a:cs typeface="Arial"/>
                        </a:rPr>
                        <a:t>€ 3 per verkochte tas</a:t>
                      </a:r>
                    </a:p>
                  </a:txBody>
                  <a:tcPr marL="91440" marR="91440" marT="45720" marB="45720" anchor="ctr">
                    <a:solidFill>
                      <a:srgbClr val="EFF4F7"/>
                    </a:solidFill>
                  </a:tcPr>
                </a:tc>
              </a:tr>
            </a:tbl>
          </a:graphicData>
        </a:graphic>
      </p:graphicFrame>
      <p:sp>
        <p:nvSpPr>
          <p:cNvPr id="7" name="Q is tassen per dag. Prijzen zijn euro per tas.">
            <a:extLst xmlns:a="http://schemas.openxmlformats.org/drawingml/2006/main">
              <a:ext uri="{FF2B5EF4-FFF2-40B4-BE49-F238E27FC236}">
                <a16:creationId xmlns:a16="http://schemas.microsoft.com/office/drawing/2014/main" id="{94FEBB60-8D00-404C-B745-2CE372A04B36}"/>
              </a:ext>
            </a:extLst>
          </p:cNvPr>
          <p:cNvSpPr>
            <a:spLocks xmlns:a="http://schemas.openxmlformats.org/drawingml/2006/main" noGrp="1"/>
          </p:cNvSpPr>
          <p:nvPr/>
        </p:nvSpPr>
        <p:spPr>
          <a:xfrm xmlns:a="http://schemas.openxmlformats.org/drawingml/2006/main">
            <a:off x="571500" y="62007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Q is tassen per dag. Prijzen zijn euro per tas.</a:t>
            </a:r>
          </a:p>
        </p:txBody>
      </p:sp>
      <p:sp>
        <p:nvSpPr>
          <p:cNvPr id="8" name="Verkopers dragen de belasting af.&#10;De andere marktomstandighe">
            <a:extLst xmlns:a="http://schemas.openxmlformats.org/drawingml/2006/main">
              <a:ext uri="{FF2B5EF4-FFF2-40B4-BE49-F238E27FC236}">
                <a16:creationId xmlns:a16="http://schemas.microsoft.com/office/drawing/2014/main" id="{3A46B811-A6F7-4D0A-A735-1D4FCAB4CFBF}"/>
              </a:ext>
            </a:extLst>
          </p:cNvPr>
          <p:cNvSpPr>
            <a:spLocks xmlns:a="http://schemas.openxmlformats.org/drawingml/2006/main" noGrp="1"/>
          </p:cNvSpPr>
          <p:nvPr/>
        </p:nvSpPr>
        <p:spPr>
          <a:xfrm xmlns:a="http://schemas.openxmlformats.org/drawingml/2006/main">
            <a:off x="571500" y="7086600"/>
            <a:ext cx="14097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Verkopers dragen de belasting af.</a:t>
            </a:r>
          </a:p>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De andere marktomstandigheden blijven gelijk.</a:t>
            </a:r>
          </a:p>
        </p:txBody>
      </p:sp>
    </p:spTree>
    <p:extLst>
      <p:ext uri="{BB962C8B-B14F-4D97-AF65-F5344CB8AC3E}">
        <p14:creationId xmlns:p14="http://schemas.microsoft.com/office/powerpoint/2010/main" val="158535026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7 · Deelvragen a, b en c">
            <a:extLst xmlns:a="http://schemas.openxmlformats.org/drawingml/2006/main">
              <a:ext uri="{FF2B5EF4-FFF2-40B4-BE49-F238E27FC236}">
                <a16:creationId xmlns:a16="http://schemas.microsoft.com/office/drawing/2014/main" id="{A99DF666-ED1E-406E-A6D7-2D757176AC28}"/>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7 · Deelvragen a, b en c</a:t>
            </a:r>
          </a:p>
        </p:txBody>
      </p:sp>
      <p:sp>
        <p:nvSpPr>
          <p:cNvPr id="2" name="">
            <a:extLst xmlns:a="http://schemas.openxmlformats.org/drawingml/2006/main">
              <a:ext uri="{FF2B5EF4-FFF2-40B4-BE49-F238E27FC236}">
                <a16:creationId xmlns:a16="http://schemas.microsoft.com/office/drawing/2014/main" id="{1ED9DD44-613E-4B48-8F2D-96A9D3A9A96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1 Eén product, twee prijzen · Opgave 7 · Boekpagina 12">
            <a:extLst xmlns:a="http://schemas.openxmlformats.org/drawingml/2006/main">
              <a:ext uri="{FF2B5EF4-FFF2-40B4-BE49-F238E27FC236}">
                <a16:creationId xmlns:a16="http://schemas.microsoft.com/office/drawing/2014/main" id="{A2613BD3-097A-44D8-B731-5542767C27E4}"/>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§3.1.1 Eén product, twee prijzen · Opgave 7 · Boekpagina 12</a:t>
            </a:r>
          </a:p>
        </p:txBody>
      </p:sp>
      <p:sp>
        <p:nvSpPr>
          <p:cNvPr id="4" name="18">
            <a:extLst xmlns:a="http://schemas.openxmlformats.org/drawingml/2006/main">
              <a:ext uri="{FF2B5EF4-FFF2-40B4-BE49-F238E27FC236}">
                <a16:creationId xmlns:a16="http://schemas.microsoft.com/office/drawing/2014/main" id="{71E36ADC-54B6-4C08-A27D-2551CD836FA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a) Bereken de vrije evenwichtsprijs en -hoeveelheid.">
            <a:extLst xmlns:a="http://schemas.openxmlformats.org/drawingml/2006/main">
              <a:ext uri="{FF2B5EF4-FFF2-40B4-BE49-F238E27FC236}">
                <a16:creationId xmlns:a16="http://schemas.microsoft.com/office/drawing/2014/main" id="{8933E9F3-BE23-4BBD-8F68-474D4BF41056}"/>
              </a:ext>
            </a:extLst>
          </p:cNvPr>
          <p:cNvSpPr>
            <a:spLocks xmlns:a="http://schemas.openxmlformats.org/drawingml/2006/main" noGrp="1"/>
          </p:cNvSpPr>
          <p:nvPr/>
        </p:nvSpPr>
        <p:spPr>
          <a:xfrm xmlns:a="http://schemas.openxmlformats.org/drawingml/2006/main">
            <a:off x="571500" y="2124075"/>
            <a:ext cx="1409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a) Bereken de vrije evenwichtsprijs en -hoeveelheid.</a:t>
            </a:r>
          </a:p>
        </p:txBody>
      </p:sp>
      <p:sp>
        <p:nvSpPr>
          <p:cNvPr id="6" name="">
            <a:extLst xmlns:a="http://schemas.openxmlformats.org/drawingml/2006/main">
              <a:ext uri="{FF2B5EF4-FFF2-40B4-BE49-F238E27FC236}">
                <a16:creationId xmlns:a16="http://schemas.microsoft.com/office/drawing/2014/main" id="{BDE9BA16-FADB-421F-86FD-83F9C43C6A7E}"/>
              </a:ext>
            </a:extLst>
          </p:cNvPr>
          <p:cNvSpPr>
            <a:spLocks xmlns:a="http://schemas.openxmlformats.org/drawingml/2006/main" noGrp="1"/>
          </p:cNvSpPr>
          <p:nvPr/>
        </p:nvSpPr>
        <p:spPr>
          <a:xfrm xmlns:a="http://schemas.openxmlformats.org/drawingml/2006/main">
            <a:off x="571500" y="3467100"/>
            <a:ext cx="14097000" cy="0"/>
          </a:xfrm>
          <a:prstGeom xmlns:a="http://schemas.openxmlformats.org/drawingml/2006/main" prst="line">
            <a:avLst/>
          </a:prstGeom>
          <a:ln xmlns:a="http://schemas.openxmlformats.org/drawingml/2006/main" w="19050">
            <a:solidFill>
              <a:srgbClr val="C6D2DB"/>
            </a:solidFill>
          </a:ln>
        </p:spPr>
      </p:sp>
      <p:sp>
        <p:nvSpPr>
          <p:cNvPr id="7" name="b) Stel na invoering van de belasting het aanbod in koperspr">
            <a:extLst xmlns:a="http://schemas.openxmlformats.org/drawingml/2006/main">
              <a:ext uri="{FF2B5EF4-FFF2-40B4-BE49-F238E27FC236}">
                <a16:creationId xmlns:a16="http://schemas.microsoft.com/office/drawing/2014/main" id="{B8431F9A-ADC8-42F3-85F8-7DE94353F402}"/>
              </a:ext>
            </a:extLst>
          </p:cNvPr>
          <p:cNvSpPr>
            <a:spLocks xmlns:a="http://schemas.openxmlformats.org/drawingml/2006/main" noGrp="1"/>
          </p:cNvSpPr>
          <p:nvPr/>
        </p:nvSpPr>
        <p:spPr>
          <a:xfrm xmlns:a="http://schemas.openxmlformats.org/drawingml/2006/main">
            <a:off x="571500" y="3857625"/>
            <a:ext cx="1409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b) Stel na invoering van de belasting het aanbod in kopersprijzen op. Bereken de nieuwe hoeveelheid.</a:t>
            </a:r>
          </a:p>
        </p:txBody>
      </p:sp>
      <p:sp>
        <p:nvSpPr>
          <p:cNvPr id="8" name="">
            <a:extLst xmlns:a="http://schemas.openxmlformats.org/drawingml/2006/main">
              <a:ext uri="{FF2B5EF4-FFF2-40B4-BE49-F238E27FC236}">
                <a16:creationId xmlns:a16="http://schemas.microsoft.com/office/drawing/2014/main" id="{6FD76072-ED90-4BF5-8359-666B0DEA003B}"/>
              </a:ext>
            </a:extLst>
          </p:cNvPr>
          <p:cNvSpPr>
            <a:spLocks xmlns:a="http://schemas.openxmlformats.org/drawingml/2006/main" noGrp="1"/>
          </p:cNvSpPr>
          <p:nvPr/>
        </p:nvSpPr>
        <p:spPr>
          <a:xfrm xmlns:a="http://schemas.openxmlformats.org/drawingml/2006/main">
            <a:off x="571500" y="5629275"/>
            <a:ext cx="14097000" cy="0"/>
          </a:xfrm>
          <a:prstGeom xmlns:a="http://schemas.openxmlformats.org/drawingml/2006/main" prst="line">
            <a:avLst/>
          </a:prstGeom>
          <a:ln xmlns:a="http://schemas.openxmlformats.org/drawingml/2006/main" w="19050">
            <a:solidFill>
              <a:srgbClr val="C6D2DB"/>
            </a:solidFill>
          </a:ln>
        </p:spPr>
      </p:sp>
      <p:sp>
        <p:nvSpPr>
          <p:cNvPr id="9" name="c) Bereken de prijs die kopers betalen en het bedrag dat ver">
            <a:extLst xmlns:a="http://schemas.openxmlformats.org/drawingml/2006/main">
              <a:ext uri="{FF2B5EF4-FFF2-40B4-BE49-F238E27FC236}">
                <a16:creationId xmlns:a16="http://schemas.microsoft.com/office/drawing/2014/main" id="{289694D7-5A7D-466E-B837-025C9AFDA811}"/>
              </a:ext>
            </a:extLst>
          </p:cNvPr>
          <p:cNvSpPr>
            <a:spLocks xmlns:a="http://schemas.openxmlformats.org/drawingml/2006/main" noGrp="1"/>
          </p:cNvSpPr>
          <p:nvPr/>
        </p:nvSpPr>
        <p:spPr>
          <a:xfrm xmlns:a="http://schemas.openxmlformats.org/drawingml/2006/main">
            <a:off x="571500" y="6096000"/>
            <a:ext cx="1409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c) Bereken de prijs die kopers betalen en het bedrag dat verkopers na afdracht ontvangen.</a:t>
            </a:r>
          </a:p>
        </p:txBody>
      </p:sp>
    </p:spTree>
    <p:extLst>
      <p:ext uri="{BB962C8B-B14F-4D97-AF65-F5344CB8AC3E}">
        <p14:creationId xmlns:p14="http://schemas.microsoft.com/office/powerpoint/2010/main" val="146731096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7 · Deelvragen d en e">
            <a:extLst xmlns:a="http://schemas.openxmlformats.org/drawingml/2006/main">
              <a:ext uri="{FF2B5EF4-FFF2-40B4-BE49-F238E27FC236}">
                <a16:creationId xmlns:a16="http://schemas.microsoft.com/office/drawing/2014/main" id="{17135261-78C3-46DD-9A5A-DD3E898A2647}"/>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7 · Deelvragen d en e</a:t>
            </a:r>
          </a:p>
        </p:txBody>
      </p:sp>
      <p:sp>
        <p:nvSpPr>
          <p:cNvPr id="2" name="">
            <a:extLst xmlns:a="http://schemas.openxmlformats.org/drawingml/2006/main">
              <a:ext uri="{FF2B5EF4-FFF2-40B4-BE49-F238E27FC236}">
                <a16:creationId xmlns:a16="http://schemas.microsoft.com/office/drawing/2014/main" id="{A01F6CC1-A0FA-4E30-B28A-DA13014A18E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1 Eén product, twee prijzen · Opgave 7 · Boekpagina 12">
            <a:extLst xmlns:a="http://schemas.openxmlformats.org/drawingml/2006/main">
              <a:ext uri="{FF2B5EF4-FFF2-40B4-BE49-F238E27FC236}">
                <a16:creationId xmlns:a16="http://schemas.microsoft.com/office/drawing/2014/main" id="{ACDBC59F-AF45-43D6-97C3-AFB78BFE0616}"/>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§3.1.1 Eén product, twee prijzen · Opgave 7 · Boekpagina 12</a:t>
            </a:r>
          </a:p>
        </p:txBody>
      </p:sp>
      <p:sp>
        <p:nvSpPr>
          <p:cNvPr id="4" name="19">
            <a:extLst xmlns:a="http://schemas.openxmlformats.org/drawingml/2006/main">
              <a:ext uri="{FF2B5EF4-FFF2-40B4-BE49-F238E27FC236}">
                <a16:creationId xmlns:a16="http://schemas.microsoft.com/office/drawing/2014/main" id="{8D1A9ED9-3C52-4F2F-9C73-BA9C6DDE97A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graphicFrame>
        <p:nvGraphicFramePr>
          <p:cNvPr id="12" name="Chart"/>
          <p:cNvGraphicFramePr/>
          <p:nvPr/>
        </p:nvGraphicFramePr>
        <p:xfrm>
          <a:off xmlns:a="http://schemas.openxmlformats.org/drawingml/2006/main" x="571500" y="2238375"/>
          <a:ext xmlns:a="http://schemas.openxmlformats.org/drawingml/2006/main" cx="9429750" cy="5524500"/>
        </p:xfrm>
        <a:graphic xmlns:a="http://schemas.openxmlformats.org/drawingml/2006/main">
          <a:graphicData uri="http://schemas.openxmlformats.org/drawingml/2006/chart">
            <c:chart xmlns:r="http://schemas.openxmlformats.org/officeDocument/2006/relationships" xmlns:c="http://schemas.openxmlformats.org/drawingml/2006/chart" r:id="R0872e6dd92744ffb"/>
          </a:graphicData>
        </a:graphic>
      </p:graphicFrame>
      <p:sp>
        <p:nvSpPr>
          <p:cNvPr id="6" name="d) Teken de nieuwe aanbodlijn in de basisgrafiek. Markeer de">
            <a:extLst xmlns:a="http://schemas.openxmlformats.org/drawingml/2006/main">
              <a:ext uri="{FF2B5EF4-FFF2-40B4-BE49-F238E27FC236}">
                <a16:creationId xmlns:a16="http://schemas.microsoft.com/office/drawing/2014/main" id="{8B7A30AB-33FE-4401-918F-282497D812F6}"/>
              </a:ext>
            </a:extLst>
          </p:cNvPr>
          <p:cNvSpPr>
            <a:spLocks xmlns:a="http://schemas.openxmlformats.org/drawingml/2006/main" noGrp="1"/>
          </p:cNvSpPr>
          <p:nvPr/>
        </p:nvSpPr>
        <p:spPr>
          <a:xfrm xmlns:a="http://schemas.openxmlformats.org/drawingml/2006/main">
            <a:off x="10287000" y="2057400"/>
            <a:ext cx="4381500" cy="2657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d) Teken de nieuwe aanbodlijn in de basisgrafiek. Markeer de nieuwe hoeveelheid, beide prijzen en de belastingwig.</a:t>
            </a:r>
          </a:p>
        </p:txBody>
      </p:sp>
      <p:sp>
        <p:nvSpPr>
          <p:cNvPr id="7" name="e) Een verkoper zegt: “Wij dragen alles af; dus wij dragen o">
            <a:extLst xmlns:a="http://schemas.openxmlformats.org/drawingml/2006/main">
              <a:ext uri="{FF2B5EF4-FFF2-40B4-BE49-F238E27FC236}">
                <a16:creationId xmlns:a16="http://schemas.microsoft.com/office/drawing/2014/main" id="{21C9DF4F-2A68-4B19-8F8B-C00BE3016D19}"/>
              </a:ext>
            </a:extLst>
          </p:cNvPr>
          <p:cNvSpPr>
            <a:spLocks xmlns:a="http://schemas.openxmlformats.org/drawingml/2006/main" noGrp="1"/>
          </p:cNvSpPr>
          <p:nvPr/>
        </p:nvSpPr>
        <p:spPr>
          <a:xfrm xmlns:a="http://schemas.openxmlformats.org/drawingml/2006/main">
            <a:off x="10287000" y="5095875"/>
            <a:ext cx="43815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e) Een verkoper zegt: “Wij dragen alles af; dus wij dragen ook de hele economische last.” Beoordeel met de oude en nieuwe prijzen.</a:t>
            </a:r>
          </a:p>
        </p:txBody>
      </p:sp>
    </p:spTree>
    <p:extLst>
      <p:ext uri="{BB962C8B-B14F-4D97-AF65-F5344CB8AC3E}">
        <p14:creationId xmlns:p14="http://schemas.microsoft.com/office/powerpoint/2010/main" val="163874324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7a · Het vrije evenwicht">
            <a:extLst xmlns:a="http://schemas.openxmlformats.org/drawingml/2006/main">
              <a:ext uri="{FF2B5EF4-FFF2-40B4-BE49-F238E27FC236}">
                <a16:creationId xmlns:a16="http://schemas.microsoft.com/office/drawing/2014/main" id="{666184B7-E99C-4D3D-98DA-6542DDFDCD0F}"/>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7a · Het vrije evenwicht</a:t>
            </a:r>
          </a:p>
        </p:txBody>
      </p:sp>
      <p:sp>
        <p:nvSpPr>
          <p:cNvPr id="2" name="">
            <a:extLst xmlns:a="http://schemas.openxmlformats.org/drawingml/2006/main">
              <a:ext uri="{FF2B5EF4-FFF2-40B4-BE49-F238E27FC236}">
                <a16:creationId xmlns:a16="http://schemas.microsoft.com/office/drawing/2014/main" id="{E421786E-CC6C-42BB-A0F2-0FE8E9C5871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1 Eén product, twee prijzen · Opgave 7 · Boekpagina 12">
            <a:extLst xmlns:a="http://schemas.openxmlformats.org/drawingml/2006/main">
              <a:ext uri="{FF2B5EF4-FFF2-40B4-BE49-F238E27FC236}">
                <a16:creationId xmlns:a16="http://schemas.microsoft.com/office/drawing/2014/main" id="{9D1D99DD-CD41-4584-8EB1-5BC60CD46AA5}"/>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§3.1.1 Eén product, twee prijzen · Opgave 7 · Boekpagina 12</a:t>
            </a:r>
          </a:p>
        </p:txBody>
      </p:sp>
      <p:sp>
        <p:nvSpPr>
          <p:cNvPr id="4" name="20">
            <a:extLst xmlns:a="http://schemas.openxmlformats.org/drawingml/2006/main">
              <a:ext uri="{FF2B5EF4-FFF2-40B4-BE49-F238E27FC236}">
                <a16:creationId xmlns:a16="http://schemas.microsoft.com/office/drawing/2014/main" id="{B17DDE3F-CC95-463A-9650-8E7D9E6775B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sp>
        <p:nvSpPr>
          <p:cNvPr id="5" name="Zonder belasting: Pc = Pp">
            <a:extLst xmlns:a="http://schemas.openxmlformats.org/drawingml/2006/main">
              <a:ext uri="{FF2B5EF4-FFF2-40B4-BE49-F238E27FC236}">
                <a16:creationId xmlns:a16="http://schemas.microsoft.com/office/drawing/2014/main" id="{71758252-A202-414D-BD05-A641A3844F30}"/>
              </a:ext>
            </a:extLst>
          </p:cNvPr>
          <p:cNvSpPr>
            <a:spLocks xmlns:a="http://schemas.openxmlformats.org/drawingml/2006/main" noGrp="1"/>
          </p:cNvSpPr>
          <p:nvPr/>
        </p:nvSpPr>
        <p:spPr>
          <a:xfrm xmlns:a="http://schemas.openxmlformats.org/drawingml/2006/main">
            <a:off x="571500" y="2209800"/>
            <a:ext cx="1409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A5276"/>
                </a:solidFill>
                <a:latin typeface="Arial"/>
                <a:ea typeface="Arial"/>
                <a:cs typeface="Arial"/>
              </a:defRPr>
            </a:pPr>
            <a:r>
              <a:rPr sz="3075" b="1">
                <a:solidFill>
                  <a:srgbClr val="1A5276"/>
                </a:solidFill>
                <a:latin typeface="Arial"/>
                <a:ea typeface="Arial"/>
                <a:cs typeface="Arial"/>
              </a:rPr>
              <a:t>Zonder belasting: Pc = Pp</a:t>
            </a:r>
          </a:p>
        </p:txBody>
      </p:sp>
      <p:sp>
        <p:nvSpPr>
          <p:cNvPr id="6" name="20 − 0,20Q = 2 + 0,10Q&#10;18 = 0,30Q&#10;Q₀ = 60 tassen per dag">
            <a:extLst xmlns:a="http://schemas.openxmlformats.org/drawingml/2006/main">
              <a:ext uri="{FF2B5EF4-FFF2-40B4-BE49-F238E27FC236}">
                <a16:creationId xmlns:a16="http://schemas.microsoft.com/office/drawing/2014/main" id="{EFF672A4-677A-46B7-AB21-F63753816A4D}"/>
              </a:ext>
            </a:extLst>
          </p:cNvPr>
          <p:cNvSpPr>
            <a:spLocks xmlns:a="http://schemas.openxmlformats.org/drawingml/2006/main" noGrp="1"/>
          </p:cNvSpPr>
          <p:nvPr/>
        </p:nvSpPr>
        <p:spPr>
          <a:xfrm xmlns:a="http://schemas.openxmlformats.org/drawingml/2006/main">
            <a:off x="571500" y="3429000"/>
            <a:ext cx="14097000" cy="2228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0">
                <a:solidFill>
                  <a:srgbClr val="183247"/>
                </a:solidFill>
                <a:latin typeface="Arial"/>
                <a:ea typeface="Arial"/>
                <a:cs typeface="Arial"/>
              </a:defRPr>
            </a:pPr>
            <a:r>
              <a:rPr sz="3675" b="0">
                <a:solidFill>
                  <a:srgbClr val="183247"/>
                </a:solidFill>
                <a:latin typeface="Arial"/>
                <a:ea typeface="Arial"/>
                <a:cs typeface="Arial"/>
              </a:rPr>
              <a:t>20 − 0,20Q = 2 + 0,10Q</a:t>
            </a:r>
          </a:p>
          <a:p xmlns:a="http://schemas.openxmlformats.org/drawingml/2006/main">
            <a:pPr algn="l">
              <a:defRPr sz="3675" b="0">
                <a:solidFill>
                  <a:srgbClr val="183247"/>
                </a:solidFill>
                <a:latin typeface="Arial"/>
                <a:ea typeface="Arial"/>
                <a:cs typeface="Arial"/>
              </a:defRPr>
            </a:pPr>
            <a:r>
              <a:rPr sz="3675" b="0">
                <a:solidFill>
                  <a:srgbClr val="183247"/>
                </a:solidFill>
                <a:latin typeface="Arial"/>
                <a:ea typeface="Arial"/>
                <a:cs typeface="Arial"/>
              </a:rPr>
              <a:t>18 = 0,30Q</a:t>
            </a:r>
          </a:p>
          <a:p xmlns:a="http://schemas.openxmlformats.org/drawingml/2006/main">
            <a:pPr algn="l">
              <a:defRPr sz="3675" b="0">
                <a:solidFill>
                  <a:srgbClr val="183247"/>
                </a:solidFill>
                <a:latin typeface="Arial"/>
                <a:ea typeface="Arial"/>
                <a:cs typeface="Arial"/>
              </a:defRPr>
            </a:pPr>
            <a:r>
              <a:rPr sz="3675" b="0">
                <a:solidFill>
                  <a:srgbClr val="183247"/>
                </a:solidFill>
                <a:latin typeface="Arial"/>
                <a:ea typeface="Arial"/>
                <a:cs typeface="Arial"/>
              </a:rPr>
              <a:t>Q₀ = 60 tassen per dag</a:t>
            </a:r>
          </a:p>
        </p:txBody>
      </p:sp>
      <p:sp>
        <p:nvSpPr>
          <p:cNvPr id="7" name="P₀ = 20 − 0,20 × 60 = € 8 per tas">
            <a:extLst xmlns:a="http://schemas.openxmlformats.org/drawingml/2006/main">
              <a:ext uri="{FF2B5EF4-FFF2-40B4-BE49-F238E27FC236}">
                <a16:creationId xmlns:a16="http://schemas.microsoft.com/office/drawing/2014/main" id="{446DD4DD-0FA9-484E-A230-3A1BB9B1772E}"/>
              </a:ext>
            </a:extLst>
          </p:cNvPr>
          <p:cNvSpPr>
            <a:spLocks xmlns:a="http://schemas.openxmlformats.org/drawingml/2006/main" noGrp="1"/>
          </p:cNvSpPr>
          <p:nvPr/>
        </p:nvSpPr>
        <p:spPr>
          <a:xfrm xmlns:a="http://schemas.openxmlformats.org/drawingml/2006/main">
            <a:off x="571500" y="6343650"/>
            <a:ext cx="14097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P₀ = 20 − 0,20 × 60 = € 8 per tas</a:t>
            </a:r>
          </a:p>
        </p:txBody>
      </p:sp>
      <p:sp>
        <p:nvSpPr>
          <p:cNvPr id="8" name="Controle: 2 + 0,10 × 60 = € 8 per tas">
            <a:extLst xmlns:a="http://schemas.openxmlformats.org/drawingml/2006/main">
              <a:ext uri="{FF2B5EF4-FFF2-40B4-BE49-F238E27FC236}">
                <a16:creationId xmlns:a16="http://schemas.microsoft.com/office/drawing/2014/main" id="{C4001DB2-9C5F-4BE7-823E-73F45BEDC8BE}"/>
              </a:ext>
            </a:extLst>
          </p:cNvPr>
          <p:cNvSpPr>
            <a:spLocks xmlns:a="http://schemas.openxmlformats.org/drawingml/2006/main" noGrp="1"/>
          </p:cNvSpPr>
          <p:nvPr/>
        </p:nvSpPr>
        <p:spPr>
          <a:xfrm xmlns:a="http://schemas.openxmlformats.org/drawingml/2006/main">
            <a:off x="571500" y="7362825"/>
            <a:ext cx="1409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Controle: 2 + 0,10 × 60 = € 8 per tas</a:t>
            </a:r>
          </a:p>
        </p:txBody>
      </p:sp>
    </p:spTree>
    <p:extLst>
      <p:ext uri="{BB962C8B-B14F-4D97-AF65-F5344CB8AC3E}">
        <p14:creationId xmlns:p14="http://schemas.microsoft.com/office/powerpoint/2010/main" val="98167682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7b · Aanbod in kopersprijzen">
            <a:extLst xmlns:a="http://schemas.openxmlformats.org/drawingml/2006/main">
              <a:ext uri="{FF2B5EF4-FFF2-40B4-BE49-F238E27FC236}">
                <a16:creationId xmlns:a16="http://schemas.microsoft.com/office/drawing/2014/main" id="{2F28995D-8F04-4A3E-96A5-3DD2A7F830DD}"/>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7b · Aanbod in kopersprijzen</a:t>
            </a:r>
          </a:p>
        </p:txBody>
      </p:sp>
      <p:sp>
        <p:nvSpPr>
          <p:cNvPr id="2" name="">
            <a:extLst xmlns:a="http://schemas.openxmlformats.org/drawingml/2006/main">
              <a:ext uri="{FF2B5EF4-FFF2-40B4-BE49-F238E27FC236}">
                <a16:creationId xmlns:a16="http://schemas.microsoft.com/office/drawing/2014/main" id="{441D5020-0E2B-40E1-ACFC-FE744C8D6BF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1 Eén product, twee prijzen · Opgave 7 · Boekpagina 12">
            <a:extLst xmlns:a="http://schemas.openxmlformats.org/drawingml/2006/main">
              <a:ext uri="{FF2B5EF4-FFF2-40B4-BE49-F238E27FC236}">
                <a16:creationId xmlns:a16="http://schemas.microsoft.com/office/drawing/2014/main" id="{80519556-719D-4FF3-8E49-83ABCECA23E2}"/>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§3.1.1 Eén product, twee prijzen · Opgave 7 · Boekpagina 12</a:t>
            </a:r>
          </a:p>
        </p:txBody>
      </p:sp>
      <p:sp>
        <p:nvSpPr>
          <p:cNvPr id="4" name="21">
            <a:extLst xmlns:a="http://schemas.openxmlformats.org/drawingml/2006/main">
              <a:ext uri="{FF2B5EF4-FFF2-40B4-BE49-F238E27FC236}">
                <a16:creationId xmlns:a16="http://schemas.microsoft.com/office/drawing/2014/main" id="{C0AD91DF-7D22-4D65-B605-E83DF60A5B2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sp>
        <p:nvSpPr>
          <p:cNvPr id="5" name="De koper betaalt de ontvangst plus € 3 belasting.">
            <a:extLst xmlns:a="http://schemas.openxmlformats.org/drawingml/2006/main">
              <a:ext uri="{FF2B5EF4-FFF2-40B4-BE49-F238E27FC236}">
                <a16:creationId xmlns:a16="http://schemas.microsoft.com/office/drawing/2014/main" id="{5A2DF21C-B0F9-4F4F-B751-29ADD0616890}"/>
              </a:ext>
            </a:extLst>
          </p:cNvPr>
          <p:cNvSpPr>
            <a:spLocks xmlns:a="http://schemas.openxmlformats.org/drawingml/2006/main" noGrp="1"/>
          </p:cNvSpPr>
          <p:nvPr/>
        </p:nvSpPr>
        <p:spPr>
          <a:xfrm xmlns:a="http://schemas.openxmlformats.org/drawingml/2006/main">
            <a:off x="571500" y="2190750"/>
            <a:ext cx="14097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De koper betaalt de ontvangst plus € 3 belasting.</a:t>
            </a:r>
          </a:p>
        </p:txBody>
      </p:sp>
      <p:sp>
        <p:nvSpPr>
          <p:cNvPr id="6" name="Pc = Pp + 3&#10;Pc = (2 + 0,10Q) + 3&#10;Pc = 5 + 0,10Q">
            <a:extLst xmlns:a="http://schemas.openxmlformats.org/drawingml/2006/main">
              <a:ext uri="{FF2B5EF4-FFF2-40B4-BE49-F238E27FC236}">
                <a16:creationId xmlns:a16="http://schemas.microsoft.com/office/drawing/2014/main" id="{FF9FB318-00F8-4E89-9D25-1D9CC25E1A25}"/>
              </a:ext>
            </a:extLst>
          </p:cNvPr>
          <p:cNvSpPr>
            <a:spLocks xmlns:a="http://schemas.openxmlformats.org/drawingml/2006/main" noGrp="1"/>
          </p:cNvSpPr>
          <p:nvPr/>
        </p:nvSpPr>
        <p:spPr>
          <a:xfrm xmlns:a="http://schemas.openxmlformats.org/drawingml/2006/main">
            <a:off x="571500" y="3800475"/>
            <a:ext cx="14097000"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A94D16"/>
                </a:solidFill>
                <a:latin typeface="Arial"/>
                <a:ea typeface="Arial"/>
                <a:cs typeface="Arial"/>
              </a:defRPr>
            </a:pPr>
            <a:r>
              <a:rPr sz="3975" b="1">
                <a:solidFill>
                  <a:srgbClr val="A94D16"/>
                </a:solidFill>
                <a:latin typeface="Arial"/>
                <a:ea typeface="Arial"/>
                <a:cs typeface="Arial"/>
              </a:rPr>
              <a:t>Pc = Pp + 3</a:t>
            </a:r>
          </a:p>
          <a:p xmlns:a="http://schemas.openxmlformats.org/drawingml/2006/main">
            <a:pPr algn="l">
              <a:defRPr sz="3975" b="1">
                <a:solidFill>
                  <a:srgbClr val="A94D16"/>
                </a:solidFill>
                <a:latin typeface="Arial"/>
                <a:ea typeface="Arial"/>
                <a:cs typeface="Arial"/>
              </a:defRPr>
            </a:pPr>
            <a:r>
              <a:rPr sz="3975" b="1">
                <a:solidFill>
                  <a:srgbClr val="A94D16"/>
                </a:solidFill>
                <a:latin typeface="Arial"/>
                <a:ea typeface="Arial"/>
                <a:cs typeface="Arial"/>
              </a:rPr>
              <a:t>Pc = (2 + 0,10Q) + 3</a:t>
            </a:r>
          </a:p>
          <a:p xmlns:a="http://schemas.openxmlformats.org/drawingml/2006/main">
            <a:pPr algn="l">
              <a:defRPr sz="3975" b="1">
                <a:solidFill>
                  <a:srgbClr val="A94D16"/>
                </a:solidFill>
                <a:latin typeface="Arial"/>
                <a:ea typeface="Arial"/>
                <a:cs typeface="Arial"/>
              </a:defRPr>
            </a:pPr>
            <a:r>
              <a:rPr sz="3975" b="1">
                <a:solidFill>
                  <a:srgbClr val="A94D16"/>
                </a:solidFill>
                <a:latin typeface="Arial"/>
                <a:ea typeface="Arial"/>
                <a:cs typeface="Arial"/>
              </a:rPr>
              <a:t>Pc = 5 + 0,10Q</a:t>
            </a:r>
          </a:p>
        </p:txBody>
      </p:sp>
      <p:sp>
        <p:nvSpPr>
          <p:cNvPr id="7" name="De helling blijft 0,10. De prijsas-snijding wordt 5.">
            <a:extLst xmlns:a="http://schemas.openxmlformats.org/drawingml/2006/main">
              <a:ext uri="{FF2B5EF4-FFF2-40B4-BE49-F238E27FC236}">
                <a16:creationId xmlns:a16="http://schemas.microsoft.com/office/drawing/2014/main" id="{8FAEFCE3-66B8-45F9-9F4C-7EFBB83A55BA}"/>
              </a:ext>
            </a:extLst>
          </p:cNvPr>
          <p:cNvSpPr>
            <a:spLocks xmlns:a="http://schemas.openxmlformats.org/drawingml/2006/main" noGrp="1"/>
          </p:cNvSpPr>
          <p:nvPr/>
        </p:nvSpPr>
        <p:spPr>
          <a:xfrm xmlns:a="http://schemas.openxmlformats.org/drawingml/2006/main">
            <a:off x="571500" y="71056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De helling blijft 0,10. De prijsas-snijding wordt 5.</a:t>
            </a:r>
          </a:p>
        </p:txBody>
      </p:sp>
    </p:spTree>
    <p:extLst>
      <p:ext uri="{BB962C8B-B14F-4D97-AF65-F5344CB8AC3E}">
        <p14:creationId xmlns:p14="http://schemas.microsoft.com/office/powerpoint/2010/main" val="24329284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7b · De nieuwe hoeveelheid">
            <a:extLst xmlns:a="http://schemas.openxmlformats.org/drawingml/2006/main">
              <a:ext uri="{FF2B5EF4-FFF2-40B4-BE49-F238E27FC236}">
                <a16:creationId xmlns:a16="http://schemas.microsoft.com/office/drawing/2014/main" id="{89027CF5-6D61-4312-89C0-EDF0719FB604}"/>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7b · De nieuwe hoeveelheid</a:t>
            </a:r>
          </a:p>
        </p:txBody>
      </p:sp>
      <p:sp>
        <p:nvSpPr>
          <p:cNvPr id="2" name="">
            <a:extLst xmlns:a="http://schemas.openxmlformats.org/drawingml/2006/main">
              <a:ext uri="{FF2B5EF4-FFF2-40B4-BE49-F238E27FC236}">
                <a16:creationId xmlns:a16="http://schemas.microsoft.com/office/drawing/2014/main" id="{FD19DC3B-1720-45FA-BD20-0FC29D620FA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1 Eén product, twee prijzen · Opgave 7 · Boekpagina 12">
            <a:extLst xmlns:a="http://schemas.openxmlformats.org/drawingml/2006/main">
              <a:ext uri="{FF2B5EF4-FFF2-40B4-BE49-F238E27FC236}">
                <a16:creationId xmlns:a16="http://schemas.microsoft.com/office/drawing/2014/main" id="{444374B7-0C82-4692-A5CD-EB2285B1670B}"/>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§3.1.1 Eén product, twee prijzen · Opgave 7 · Boekpagina 12</a:t>
            </a:r>
          </a:p>
        </p:txBody>
      </p:sp>
      <p:sp>
        <p:nvSpPr>
          <p:cNvPr id="4" name="22">
            <a:extLst xmlns:a="http://schemas.openxmlformats.org/drawingml/2006/main">
              <a:ext uri="{FF2B5EF4-FFF2-40B4-BE49-F238E27FC236}">
                <a16:creationId xmlns:a16="http://schemas.microsoft.com/office/drawing/2014/main" id="{38B87DDE-4A23-48C4-86EC-33423DB04CD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sp>
        <p:nvSpPr>
          <p:cNvPr id="5" name="V = A + t, beide in kopersprijzen">
            <a:extLst xmlns:a="http://schemas.openxmlformats.org/drawingml/2006/main">
              <a:ext uri="{FF2B5EF4-FFF2-40B4-BE49-F238E27FC236}">
                <a16:creationId xmlns:a16="http://schemas.microsoft.com/office/drawing/2014/main" id="{E2E6920E-9601-41F7-BDB3-CA83CF9E2CAB}"/>
              </a:ext>
            </a:extLst>
          </p:cNvPr>
          <p:cNvSpPr>
            <a:spLocks xmlns:a="http://schemas.openxmlformats.org/drawingml/2006/main" noGrp="1"/>
          </p:cNvSpPr>
          <p:nvPr/>
        </p:nvSpPr>
        <p:spPr>
          <a:xfrm xmlns:a="http://schemas.openxmlformats.org/drawingml/2006/main">
            <a:off x="571500" y="2200275"/>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A5276"/>
                </a:solidFill>
                <a:latin typeface="Arial"/>
                <a:ea typeface="Arial"/>
                <a:cs typeface="Arial"/>
              </a:defRPr>
            </a:pPr>
            <a:r>
              <a:rPr sz="3075" b="1">
                <a:solidFill>
                  <a:srgbClr val="1A5276"/>
                </a:solidFill>
                <a:latin typeface="Arial"/>
                <a:ea typeface="Arial"/>
                <a:cs typeface="Arial"/>
              </a:rPr>
              <a:t>V = A + t, beide in kopersprijzen</a:t>
            </a:r>
          </a:p>
        </p:txBody>
      </p:sp>
      <p:sp>
        <p:nvSpPr>
          <p:cNvPr id="6" name="20 − 0,20Q = 5 + 0,10Q&#10;15 = 0,30Q&#10;Qt = 50 tassen per dag">
            <a:extLst xmlns:a="http://schemas.openxmlformats.org/drawingml/2006/main">
              <a:ext uri="{FF2B5EF4-FFF2-40B4-BE49-F238E27FC236}">
                <a16:creationId xmlns:a16="http://schemas.microsoft.com/office/drawing/2014/main" id="{96B6CED1-BD35-49EC-A335-A271F93DF480}"/>
              </a:ext>
            </a:extLst>
          </p:cNvPr>
          <p:cNvSpPr>
            <a:spLocks xmlns:a="http://schemas.openxmlformats.org/drawingml/2006/main" noGrp="1"/>
          </p:cNvSpPr>
          <p:nvPr/>
        </p:nvSpPr>
        <p:spPr>
          <a:xfrm xmlns:a="http://schemas.openxmlformats.org/drawingml/2006/main">
            <a:off x="571500" y="3676650"/>
            <a:ext cx="14097000" cy="2533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0">
                <a:solidFill>
                  <a:srgbClr val="183247"/>
                </a:solidFill>
                <a:latin typeface="Arial"/>
                <a:ea typeface="Arial"/>
                <a:cs typeface="Arial"/>
              </a:defRPr>
            </a:pPr>
            <a:r>
              <a:rPr sz="3825" b="0">
                <a:solidFill>
                  <a:srgbClr val="183247"/>
                </a:solidFill>
                <a:latin typeface="Arial"/>
                <a:ea typeface="Arial"/>
                <a:cs typeface="Arial"/>
              </a:rPr>
              <a:t>20 − 0,20Q = 5 + 0,10Q</a:t>
            </a:r>
          </a:p>
          <a:p xmlns:a="http://schemas.openxmlformats.org/drawingml/2006/main">
            <a:pPr algn="l">
              <a:defRPr sz="3825" b="0">
                <a:solidFill>
                  <a:srgbClr val="183247"/>
                </a:solidFill>
                <a:latin typeface="Arial"/>
                <a:ea typeface="Arial"/>
                <a:cs typeface="Arial"/>
              </a:defRPr>
            </a:pPr>
            <a:r>
              <a:rPr sz="3825" b="0">
                <a:solidFill>
                  <a:srgbClr val="183247"/>
                </a:solidFill>
                <a:latin typeface="Arial"/>
                <a:ea typeface="Arial"/>
                <a:cs typeface="Arial"/>
              </a:rPr>
              <a:t>15 = 0,30Q</a:t>
            </a:r>
          </a:p>
          <a:p xmlns:a="http://schemas.openxmlformats.org/drawingml/2006/main">
            <a:pPr algn="l">
              <a:defRPr sz="3825" b="0">
                <a:solidFill>
                  <a:srgbClr val="183247"/>
                </a:solidFill>
                <a:latin typeface="Arial"/>
                <a:ea typeface="Arial"/>
                <a:cs typeface="Arial"/>
              </a:defRPr>
            </a:pPr>
            <a:r>
              <a:rPr sz="3825" b="0">
                <a:solidFill>
                  <a:srgbClr val="183247"/>
                </a:solidFill>
                <a:latin typeface="Arial"/>
                <a:ea typeface="Arial"/>
                <a:cs typeface="Arial"/>
              </a:rPr>
              <a:t>Qt = 50 tassen per dag</a:t>
            </a:r>
          </a:p>
        </p:txBody>
      </p:sp>
      <p:sp>
        <p:nvSpPr>
          <p:cNvPr id="7" name="Er worden 10 tassen per dag minder verhandeld.">
            <a:extLst xmlns:a="http://schemas.openxmlformats.org/drawingml/2006/main">
              <a:ext uri="{FF2B5EF4-FFF2-40B4-BE49-F238E27FC236}">
                <a16:creationId xmlns:a16="http://schemas.microsoft.com/office/drawing/2014/main" id="{0B68CF91-A390-4E77-A5FC-6DE344460DD6}"/>
              </a:ext>
            </a:extLst>
          </p:cNvPr>
          <p:cNvSpPr>
            <a:spLocks xmlns:a="http://schemas.openxmlformats.org/drawingml/2006/main" noGrp="1"/>
          </p:cNvSpPr>
          <p:nvPr/>
        </p:nvSpPr>
        <p:spPr>
          <a:xfrm xmlns:a="http://schemas.openxmlformats.org/drawingml/2006/main">
            <a:off x="571500" y="708660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Er worden 10 tassen per dag minder verhandeld.</a:t>
            </a:r>
          </a:p>
        </p:txBody>
      </p:sp>
    </p:spTree>
    <p:extLst>
      <p:ext uri="{BB962C8B-B14F-4D97-AF65-F5344CB8AC3E}">
        <p14:creationId xmlns:p14="http://schemas.microsoft.com/office/powerpoint/2010/main" val="161370000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7c · De twee prijzen">
            <a:extLst xmlns:a="http://schemas.openxmlformats.org/drawingml/2006/main">
              <a:ext uri="{FF2B5EF4-FFF2-40B4-BE49-F238E27FC236}">
                <a16:creationId xmlns:a16="http://schemas.microsoft.com/office/drawing/2014/main" id="{F7E73E05-65D6-497E-A45E-3BFE55FC8CE8}"/>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7c · De twee prijzen</a:t>
            </a:r>
          </a:p>
        </p:txBody>
      </p:sp>
      <p:sp>
        <p:nvSpPr>
          <p:cNvPr id="2" name="">
            <a:extLst xmlns:a="http://schemas.openxmlformats.org/drawingml/2006/main">
              <a:ext uri="{FF2B5EF4-FFF2-40B4-BE49-F238E27FC236}">
                <a16:creationId xmlns:a16="http://schemas.microsoft.com/office/drawing/2014/main" id="{CB11B6AB-2AC4-4ED2-A041-65D0133AACD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1 Eén product, twee prijzen · Opgave 7 · Boekpagina 12">
            <a:extLst xmlns:a="http://schemas.openxmlformats.org/drawingml/2006/main">
              <a:ext uri="{FF2B5EF4-FFF2-40B4-BE49-F238E27FC236}">
                <a16:creationId xmlns:a16="http://schemas.microsoft.com/office/drawing/2014/main" id="{D0C7C7EF-5685-42B8-914C-AE032DCEC962}"/>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§3.1.1 Eén product, twee prijzen · Opgave 7 · Boekpagina 12</a:t>
            </a:r>
          </a:p>
        </p:txBody>
      </p:sp>
      <p:sp>
        <p:nvSpPr>
          <p:cNvPr id="4" name="23">
            <a:extLst xmlns:a="http://schemas.openxmlformats.org/drawingml/2006/main">
              <a:ext uri="{FF2B5EF4-FFF2-40B4-BE49-F238E27FC236}">
                <a16:creationId xmlns:a16="http://schemas.microsoft.com/office/drawing/2014/main" id="{D7F7EDCB-B086-451C-8F76-2BDD753B6C5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sp>
        <p:nvSpPr>
          <p:cNvPr id="5" name="Dezelfde Qt = 50 tassen per dag">
            <a:extLst xmlns:a="http://schemas.openxmlformats.org/drawingml/2006/main">
              <a:ext uri="{FF2B5EF4-FFF2-40B4-BE49-F238E27FC236}">
                <a16:creationId xmlns:a16="http://schemas.microsoft.com/office/drawing/2014/main" id="{27B863BB-BD9B-4AC3-9E32-676FE324FE31}"/>
              </a:ext>
            </a:extLst>
          </p:cNvPr>
          <p:cNvSpPr>
            <a:spLocks xmlns:a="http://schemas.openxmlformats.org/drawingml/2006/main" noGrp="1"/>
          </p:cNvSpPr>
          <p:nvPr/>
        </p:nvSpPr>
        <p:spPr>
          <a:xfrm xmlns:a="http://schemas.openxmlformats.org/drawingml/2006/main">
            <a:off x="571500" y="2181225"/>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3247"/>
                </a:solidFill>
                <a:latin typeface="Arial"/>
                <a:ea typeface="Arial"/>
                <a:cs typeface="Arial"/>
              </a:defRPr>
            </a:pPr>
            <a:r>
              <a:rPr sz="3150" b="1">
                <a:solidFill>
                  <a:srgbClr val="183247"/>
                </a:solidFill>
                <a:latin typeface="Arial"/>
                <a:ea typeface="Arial"/>
                <a:cs typeface="Arial"/>
              </a:rPr>
              <a:t>Dezelfde Qt = 50 tassen per dag</a:t>
            </a:r>
          </a:p>
        </p:txBody>
      </p:sp>
      <p:sp>
        <p:nvSpPr>
          <p:cNvPr id="6" name="Pc = 20 − 0,20 × 50 = € 10 per tas">
            <a:extLst xmlns:a="http://schemas.openxmlformats.org/drawingml/2006/main">
              <a:ext uri="{FF2B5EF4-FFF2-40B4-BE49-F238E27FC236}">
                <a16:creationId xmlns:a16="http://schemas.microsoft.com/office/drawing/2014/main" id="{BB8C3482-8D7A-4BAD-A0E5-40DD49A4B70E}"/>
              </a:ext>
            </a:extLst>
          </p:cNvPr>
          <p:cNvSpPr>
            <a:spLocks xmlns:a="http://schemas.openxmlformats.org/drawingml/2006/main" noGrp="1"/>
          </p:cNvSpPr>
          <p:nvPr/>
        </p:nvSpPr>
        <p:spPr>
          <a:xfrm xmlns:a="http://schemas.openxmlformats.org/drawingml/2006/main">
            <a:off x="571500" y="36766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A5276"/>
                </a:solidFill>
                <a:latin typeface="Arial"/>
                <a:ea typeface="Arial"/>
                <a:cs typeface="Arial"/>
              </a:defRPr>
            </a:pPr>
            <a:r>
              <a:rPr sz="3450" b="1">
                <a:solidFill>
                  <a:srgbClr val="1A5276"/>
                </a:solidFill>
                <a:latin typeface="Arial"/>
                <a:ea typeface="Arial"/>
                <a:cs typeface="Arial"/>
              </a:rPr>
              <a:t>Pc = 20 − 0,20 × 50 = € 10 per tas</a:t>
            </a:r>
          </a:p>
        </p:txBody>
      </p:sp>
      <p:sp>
        <p:nvSpPr>
          <p:cNvPr id="7" name="Pp = 2 + 0,10 × 50 = € 7 per tas">
            <a:extLst xmlns:a="http://schemas.openxmlformats.org/drawingml/2006/main">
              <a:ext uri="{FF2B5EF4-FFF2-40B4-BE49-F238E27FC236}">
                <a16:creationId xmlns:a16="http://schemas.microsoft.com/office/drawing/2014/main" id="{3C5F981D-5125-4E39-A365-C725780EDA88}"/>
              </a:ext>
            </a:extLst>
          </p:cNvPr>
          <p:cNvSpPr>
            <a:spLocks xmlns:a="http://schemas.openxmlformats.org/drawingml/2006/main" noGrp="1"/>
          </p:cNvSpPr>
          <p:nvPr/>
        </p:nvSpPr>
        <p:spPr>
          <a:xfrm xmlns:a="http://schemas.openxmlformats.org/drawingml/2006/main">
            <a:off x="571500" y="5095875"/>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E7449"/>
                </a:solidFill>
                <a:latin typeface="Arial"/>
                <a:ea typeface="Arial"/>
                <a:cs typeface="Arial"/>
              </a:defRPr>
            </a:pPr>
            <a:r>
              <a:rPr sz="3450" b="1">
                <a:solidFill>
                  <a:srgbClr val="1E7449"/>
                </a:solidFill>
                <a:latin typeface="Arial"/>
                <a:ea typeface="Arial"/>
                <a:cs typeface="Arial"/>
              </a:rPr>
              <a:t>Pp = 2 + 0,10 × 50 = € 7 per tas</a:t>
            </a:r>
          </a:p>
        </p:txBody>
      </p:sp>
      <p:sp>
        <p:nvSpPr>
          <p:cNvPr id="8" name="Controle: Pc − Pp = 10 − 7 = € 3 per tas">
            <a:extLst xmlns:a="http://schemas.openxmlformats.org/drawingml/2006/main">
              <a:ext uri="{FF2B5EF4-FFF2-40B4-BE49-F238E27FC236}">
                <a16:creationId xmlns:a16="http://schemas.microsoft.com/office/drawing/2014/main" id="{ACCA8424-977F-481B-B769-9F30713C04F2}"/>
              </a:ext>
            </a:extLst>
          </p:cNvPr>
          <p:cNvSpPr>
            <a:spLocks xmlns:a="http://schemas.openxmlformats.org/drawingml/2006/main" noGrp="1"/>
          </p:cNvSpPr>
          <p:nvPr/>
        </p:nvSpPr>
        <p:spPr>
          <a:xfrm xmlns:a="http://schemas.openxmlformats.org/drawingml/2006/main">
            <a:off x="571500" y="6905625"/>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A94D16"/>
                </a:solidFill>
                <a:latin typeface="Arial"/>
                <a:ea typeface="Arial"/>
                <a:cs typeface="Arial"/>
              </a:defRPr>
            </a:pPr>
            <a:r>
              <a:rPr sz="3150" b="1">
                <a:solidFill>
                  <a:srgbClr val="A94D16"/>
                </a:solidFill>
                <a:latin typeface="Arial"/>
                <a:ea typeface="Arial"/>
                <a:cs typeface="Arial"/>
              </a:rPr>
              <a:t>Controle: Pc − Pp = 10 − 7 = € 3 per tas</a:t>
            </a:r>
          </a:p>
        </p:txBody>
      </p:sp>
    </p:spTree>
    <p:extLst>
      <p:ext uri="{BB962C8B-B14F-4D97-AF65-F5344CB8AC3E}">
        <p14:creationId xmlns:p14="http://schemas.microsoft.com/office/powerpoint/2010/main" val="36425496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7d · De nieuwe aanbodlijn">
            <a:extLst xmlns:a="http://schemas.openxmlformats.org/drawingml/2006/main">
              <a:ext uri="{FF2B5EF4-FFF2-40B4-BE49-F238E27FC236}">
                <a16:creationId xmlns:a16="http://schemas.microsoft.com/office/drawing/2014/main" id="{AE0FB770-7FD7-4416-9A25-0D5E917E385E}"/>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7d · De nieuwe aanbodlijn</a:t>
            </a:r>
          </a:p>
        </p:txBody>
      </p:sp>
      <p:sp>
        <p:nvSpPr>
          <p:cNvPr id="2" name="">
            <a:extLst xmlns:a="http://schemas.openxmlformats.org/drawingml/2006/main">
              <a:ext uri="{FF2B5EF4-FFF2-40B4-BE49-F238E27FC236}">
                <a16:creationId xmlns:a16="http://schemas.microsoft.com/office/drawing/2014/main" id="{E6E0DE8C-8710-44FB-806A-3E5F0363BE4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1 Eén product, twee prijzen · Opgave 7 · Boekpagina 12">
            <a:extLst xmlns:a="http://schemas.openxmlformats.org/drawingml/2006/main">
              <a:ext uri="{FF2B5EF4-FFF2-40B4-BE49-F238E27FC236}">
                <a16:creationId xmlns:a16="http://schemas.microsoft.com/office/drawing/2014/main" id="{1BBE3C0E-8448-428B-968F-A2E55E50E915}"/>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§3.1.1 Eén product, twee prijzen · Opgave 7 · Boekpagina 12</a:t>
            </a:r>
          </a:p>
        </p:txBody>
      </p:sp>
      <p:sp>
        <p:nvSpPr>
          <p:cNvPr id="4" name="24">
            <a:extLst xmlns:a="http://schemas.openxmlformats.org/drawingml/2006/main">
              <a:ext uri="{FF2B5EF4-FFF2-40B4-BE49-F238E27FC236}">
                <a16:creationId xmlns:a16="http://schemas.microsoft.com/office/drawing/2014/main" id="{5444ED5D-8A47-4F7F-92F6-B64F4FF98EC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graphicFrame>
        <p:nvGraphicFramePr>
          <p:cNvPr id="13" name="Chart"/>
          <p:cNvGraphicFramePr/>
          <p:nvPr/>
        </p:nvGraphicFramePr>
        <p:xfrm>
          <a:off xmlns:a="http://schemas.openxmlformats.org/drawingml/2006/main" x="571500" y="2238375"/>
          <a:ext xmlns:a="http://schemas.openxmlformats.org/drawingml/2006/main" cx="9429750" cy="5524500"/>
        </p:xfrm>
        <a:graphic xmlns:a="http://schemas.openxmlformats.org/drawingml/2006/main">
          <a:graphicData uri="http://schemas.openxmlformats.org/drawingml/2006/chart">
            <c:chart xmlns:r="http://schemas.openxmlformats.org/officeDocument/2006/relationships" xmlns:c="http://schemas.openxmlformats.org/drawingml/2006/chart" r:id="R8e7d16fb71414ac5"/>
          </a:graphicData>
        </a:graphic>
      </p:graphicFrame>
      <p:sp>
        <p:nvSpPr>
          <p:cNvPr id="6" name="A + t: Pc = 5 + 0,10Q">
            <a:extLst xmlns:a="http://schemas.openxmlformats.org/drawingml/2006/main">
              <a:ext uri="{FF2B5EF4-FFF2-40B4-BE49-F238E27FC236}">
                <a16:creationId xmlns:a16="http://schemas.microsoft.com/office/drawing/2014/main" id="{02794BE4-BB20-4403-A164-4F346E803AE0}"/>
              </a:ext>
            </a:extLst>
          </p:cNvPr>
          <p:cNvSpPr>
            <a:spLocks xmlns:a="http://schemas.openxmlformats.org/drawingml/2006/main" noGrp="1"/>
          </p:cNvSpPr>
          <p:nvPr/>
        </p:nvSpPr>
        <p:spPr>
          <a:xfrm xmlns:a="http://schemas.openxmlformats.org/drawingml/2006/main">
            <a:off x="10382250" y="2343150"/>
            <a:ext cx="4286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A94D16"/>
                </a:solidFill>
                <a:latin typeface="Arial"/>
                <a:ea typeface="Arial"/>
                <a:cs typeface="Arial"/>
              </a:defRPr>
            </a:pPr>
            <a:r>
              <a:rPr sz="2700" b="1">
                <a:solidFill>
                  <a:srgbClr val="A94D16"/>
                </a:solidFill>
                <a:latin typeface="Arial"/>
                <a:ea typeface="Arial"/>
                <a:cs typeface="Arial"/>
              </a:rPr>
              <a:t>A + t: Pc = 5 + 0,10Q</a:t>
            </a:r>
          </a:p>
        </p:txBody>
      </p:sp>
      <p:sp>
        <p:nvSpPr>
          <p:cNvPr id="7" name="Twee punten:&#10;(0; 5) en (100; 15)">
            <a:extLst xmlns:a="http://schemas.openxmlformats.org/drawingml/2006/main">
              <a:ext uri="{FF2B5EF4-FFF2-40B4-BE49-F238E27FC236}">
                <a16:creationId xmlns:a16="http://schemas.microsoft.com/office/drawing/2014/main" id="{DC300B6E-EB48-40D9-8BBA-B2BC6AC1CD0E}"/>
              </a:ext>
            </a:extLst>
          </p:cNvPr>
          <p:cNvSpPr>
            <a:spLocks xmlns:a="http://schemas.openxmlformats.org/drawingml/2006/main" noGrp="1"/>
          </p:cNvSpPr>
          <p:nvPr/>
        </p:nvSpPr>
        <p:spPr>
          <a:xfrm xmlns:a="http://schemas.openxmlformats.org/drawingml/2006/main">
            <a:off x="10382250" y="3829050"/>
            <a:ext cx="4286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Twee punten:</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(0; 5) en (100; 15)</a:t>
            </a:r>
          </a:p>
        </p:txBody>
      </p:sp>
      <p:sp>
        <p:nvSpPr>
          <p:cNvPr id="8" name="Bij Pc = € 11:&#10;Qa daalt van 90 naar 60.">
            <a:extLst xmlns:a="http://schemas.openxmlformats.org/drawingml/2006/main">
              <a:ext uri="{FF2B5EF4-FFF2-40B4-BE49-F238E27FC236}">
                <a16:creationId xmlns:a16="http://schemas.microsoft.com/office/drawing/2014/main" id="{A79B813A-F57F-46FE-86C7-B353876E87B1}"/>
              </a:ext>
            </a:extLst>
          </p:cNvPr>
          <p:cNvSpPr>
            <a:spLocks xmlns:a="http://schemas.openxmlformats.org/drawingml/2006/main" noGrp="1"/>
          </p:cNvSpPr>
          <p:nvPr/>
        </p:nvSpPr>
        <p:spPr>
          <a:xfrm xmlns:a="http://schemas.openxmlformats.org/drawingml/2006/main">
            <a:off x="10382250" y="5924550"/>
            <a:ext cx="42862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Bij Pc = € 11:</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Qa daalt van 90 naar 60.</a:t>
            </a:r>
          </a:p>
        </p:txBody>
      </p:sp>
    </p:spTree>
    <p:extLst>
      <p:ext uri="{BB962C8B-B14F-4D97-AF65-F5344CB8AC3E}">
        <p14:creationId xmlns:p14="http://schemas.microsoft.com/office/powerpoint/2010/main" val="193208935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7d · Hoeveelheid, prijzen en wig">
            <a:extLst xmlns:a="http://schemas.openxmlformats.org/drawingml/2006/main">
              <a:ext uri="{FF2B5EF4-FFF2-40B4-BE49-F238E27FC236}">
                <a16:creationId xmlns:a16="http://schemas.microsoft.com/office/drawing/2014/main" id="{694D9BFD-3441-49CC-B552-130EACD0FD26}"/>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7d · Hoeveelheid, prijzen en wig</a:t>
            </a:r>
          </a:p>
        </p:txBody>
      </p:sp>
      <p:sp>
        <p:nvSpPr>
          <p:cNvPr id="2" name="">
            <a:extLst xmlns:a="http://schemas.openxmlformats.org/drawingml/2006/main">
              <a:ext uri="{FF2B5EF4-FFF2-40B4-BE49-F238E27FC236}">
                <a16:creationId xmlns:a16="http://schemas.microsoft.com/office/drawing/2014/main" id="{6E73C587-F5FD-4112-A8EA-80016AC6F13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1 Eén product, twee prijzen · Opgave 7 · Boekpagina 12">
            <a:extLst xmlns:a="http://schemas.openxmlformats.org/drawingml/2006/main">
              <a:ext uri="{FF2B5EF4-FFF2-40B4-BE49-F238E27FC236}">
                <a16:creationId xmlns:a16="http://schemas.microsoft.com/office/drawing/2014/main" id="{ABE9EF86-8E3A-4B04-868E-CF8FFBF9FC05}"/>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§3.1.1 Eén product, twee prijzen · Opgave 7 · Boekpagina 12</a:t>
            </a:r>
          </a:p>
        </p:txBody>
      </p:sp>
      <p:sp>
        <p:nvSpPr>
          <p:cNvPr id="4" name="25">
            <a:extLst xmlns:a="http://schemas.openxmlformats.org/drawingml/2006/main">
              <a:ext uri="{FF2B5EF4-FFF2-40B4-BE49-F238E27FC236}">
                <a16:creationId xmlns:a16="http://schemas.microsoft.com/office/drawing/2014/main" id="{87276DE3-B5ED-4405-BDF7-92F1991C1F1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25</a:t>
            </a:r>
          </a:p>
        </p:txBody>
      </p:sp>
      <p:graphicFrame>
        <p:nvGraphicFramePr>
          <p:cNvPr id="13" name="Chart"/>
          <p:cNvGraphicFramePr/>
          <p:nvPr/>
        </p:nvGraphicFramePr>
        <p:xfrm>
          <a:off xmlns:a="http://schemas.openxmlformats.org/drawingml/2006/main" x="571500" y="2238375"/>
          <a:ext xmlns:a="http://schemas.openxmlformats.org/drawingml/2006/main" cx="9429750" cy="5524500"/>
        </p:xfrm>
        <a:graphic xmlns:a="http://schemas.openxmlformats.org/drawingml/2006/main">
          <a:graphicData uri="http://schemas.openxmlformats.org/drawingml/2006/chart">
            <c:chart xmlns:r="http://schemas.openxmlformats.org/officeDocument/2006/relationships" xmlns:c="http://schemas.openxmlformats.org/drawingml/2006/chart" r:id="Ra7f33b4cdc854d97"/>
          </a:graphicData>
        </a:graphic>
      </p:graphicFrame>
      <p:sp>
        <p:nvSpPr>
          <p:cNvPr id="6" name="(50; 10) op V en A + t">
            <a:extLst xmlns:a="http://schemas.openxmlformats.org/drawingml/2006/main">
              <a:ext uri="{FF2B5EF4-FFF2-40B4-BE49-F238E27FC236}">
                <a16:creationId xmlns:a16="http://schemas.microsoft.com/office/drawing/2014/main" id="{8A7D72F3-7925-4FCC-80B3-6D9C915182AC}"/>
              </a:ext>
            </a:extLst>
          </p:cNvPr>
          <p:cNvSpPr>
            <a:spLocks xmlns:a="http://schemas.openxmlformats.org/drawingml/2006/main" noGrp="1"/>
          </p:cNvSpPr>
          <p:nvPr/>
        </p:nvSpPr>
        <p:spPr>
          <a:xfrm xmlns:a="http://schemas.openxmlformats.org/drawingml/2006/main">
            <a:off x="10382250" y="2533650"/>
            <a:ext cx="4286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5276"/>
                </a:solidFill>
                <a:latin typeface="Arial"/>
                <a:ea typeface="Arial"/>
                <a:cs typeface="Arial"/>
              </a:defRPr>
            </a:pPr>
            <a:r>
              <a:rPr sz="2700" b="1">
                <a:solidFill>
                  <a:srgbClr val="1A5276"/>
                </a:solidFill>
                <a:latin typeface="Arial"/>
                <a:ea typeface="Arial"/>
                <a:cs typeface="Arial"/>
              </a:rPr>
              <a:t>(50; 10) op V en A + t</a:t>
            </a:r>
          </a:p>
        </p:txBody>
      </p:sp>
      <p:sp>
        <p:nvSpPr>
          <p:cNvPr id="7" name="(50; 7) op A">
            <a:extLst xmlns:a="http://schemas.openxmlformats.org/drawingml/2006/main">
              <a:ext uri="{FF2B5EF4-FFF2-40B4-BE49-F238E27FC236}">
                <a16:creationId xmlns:a16="http://schemas.microsoft.com/office/drawing/2014/main" id="{208920C4-DE76-438E-87A0-6AB69B7D4B81}"/>
              </a:ext>
            </a:extLst>
          </p:cNvPr>
          <p:cNvSpPr>
            <a:spLocks xmlns:a="http://schemas.openxmlformats.org/drawingml/2006/main" noGrp="1"/>
          </p:cNvSpPr>
          <p:nvPr/>
        </p:nvSpPr>
        <p:spPr>
          <a:xfrm xmlns:a="http://schemas.openxmlformats.org/drawingml/2006/main">
            <a:off x="10382250" y="4267200"/>
            <a:ext cx="428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E7449"/>
                </a:solidFill>
                <a:latin typeface="Arial"/>
                <a:ea typeface="Arial"/>
                <a:cs typeface="Arial"/>
              </a:defRPr>
            </a:pPr>
            <a:r>
              <a:rPr sz="2700" b="1">
                <a:solidFill>
                  <a:srgbClr val="1E7449"/>
                </a:solidFill>
                <a:latin typeface="Arial"/>
                <a:ea typeface="Arial"/>
                <a:cs typeface="Arial"/>
              </a:rPr>
              <a:t>(50; 7) op A</a:t>
            </a:r>
          </a:p>
        </p:txBody>
      </p:sp>
      <p:sp>
        <p:nvSpPr>
          <p:cNvPr id="8" name="Belastingwig:&#10;10 − 7 = € 3 per tas">
            <a:extLst xmlns:a="http://schemas.openxmlformats.org/drawingml/2006/main">
              <a:ext uri="{FF2B5EF4-FFF2-40B4-BE49-F238E27FC236}">
                <a16:creationId xmlns:a16="http://schemas.microsoft.com/office/drawing/2014/main" id="{C28749C3-5905-4119-92F3-4E2408502E4D}"/>
              </a:ext>
            </a:extLst>
          </p:cNvPr>
          <p:cNvSpPr>
            <a:spLocks xmlns:a="http://schemas.openxmlformats.org/drawingml/2006/main" noGrp="1"/>
          </p:cNvSpPr>
          <p:nvPr/>
        </p:nvSpPr>
        <p:spPr>
          <a:xfrm xmlns:a="http://schemas.openxmlformats.org/drawingml/2006/main">
            <a:off x="10382250" y="5867400"/>
            <a:ext cx="4286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A94D16"/>
                </a:solidFill>
                <a:latin typeface="Arial"/>
                <a:ea typeface="Arial"/>
                <a:cs typeface="Arial"/>
              </a:defRPr>
            </a:pPr>
            <a:r>
              <a:rPr sz="2700" b="1">
                <a:solidFill>
                  <a:srgbClr val="A94D16"/>
                </a:solidFill>
                <a:latin typeface="Arial"/>
                <a:ea typeface="Arial"/>
                <a:cs typeface="Arial"/>
              </a:rPr>
              <a:t>Belastingwig:</a:t>
            </a:r>
          </a:p>
          <a:p xmlns:a="http://schemas.openxmlformats.org/drawingml/2006/main">
            <a:pPr algn="l">
              <a:defRPr sz="2700" b="1">
                <a:solidFill>
                  <a:srgbClr val="A94D16"/>
                </a:solidFill>
                <a:latin typeface="Arial"/>
                <a:ea typeface="Arial"/>
                <a:cs typeface="Arial"/>
              </a:defRPr>
            </a:pPr>
            <a:r>
              <a:rPr sz="2700" b="1">
                <a:solidFill>
                  <a:srgbClr val="A94D16"/>
                </a:solidFill>
                <a:latin typeface="Arial"/>
                <a:ea typeface="Arial"/>
                <a:cs typeface="Arial"/>
              </a:rPr>
              <a:t>10 − 7 = € 3 per tas</a:t>
            </a:r>
          </a:p>
        </p:txBody>
      </p:sp>
    </p:spTree>
    <p:extLst>
      <p:ext uri="{BB962C8B-B14F-4D97-AF65-F5344CB8AC3E}">
        <p14:creationId xmlns:p14="http://schemas.microsoft.com/office/powerpoint/2010/main" val="64939302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7e · Wie draagt de last?">
            <a:extLst xmlns:a="http://schemas.openxmlformats.org/drawingml/2006/main">
              <a:ext uri="{FF2B5EF4-FFF2-40B4-BE49-F238E27FC236}">
                <a16:creationId xmlns:a16="http://schemas.microsoft.com/office/drawing/2014/main" id="{3F06B556-BCA6-45F6-ACE7-B3E6CB80EB9E}"/>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7e · Wie draagt de last?</a:t>
            </a:r>
          </a:p>
        </p:txBody>
      </p:sp>
      <p:sp>
        <p:nvSpPr>
          <p:cNvPr id="2" name="">
            <a:extLst xmlns:a="http://schemas.openxmlformats.org/drawingml/2006/main">
              <a:ext uri="{FF2B5EF4-FFF2-40B4-BE49-F238E27FC236}">
                <a16:creationId xmlns:a16="http://schemas.microsoft.com/office/drawing/2014/main" id="{ECAA5ACE-8828-45BB-8902-D8BEB9EC5E2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1 Eén product, twee prijzen · Opgave 7 · Boekpagina 12">
            <a:extLst xmlns:a="http://schemas.openxmlformats.org/drawingml/2006/main">
              <a:ext uri="{FF2B5EF4-FFF2-40B4-BE49-F238E27FC236}">
                <a16:creationId xmlns:a16="http://schemas.microsoft.com/office/drawing/2014/main" id="{193E74E2-F121-4C82-9210-B1EECA7E3ACE}"/>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§3.1.1 Eén product, twee prijzen · Opgave 7 · Boekpagina 12</a:t>
            </a:r>
          </a:p>
        </p:txBody>
      </p:sp>
      <p:sp>
        <p:nvSpPr>
          <p:cNvPr id="4" name="26">
            <a:extLst xmlns:a="http://schemas.openxmlformats.org/drawingml/2006/main">
              <a:ext uri="{FF2B5EF4-FFF2-40B4-BE49-F238E27FC236}">
                <a16:creationId xmlns:a16="http://schemas.microsoft.com/office/drawing/2014/main" id="{B287C1F7-C37C-40D0-B388-E38BAADFEF8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26</a:t>
            </a:r>
          </a:p>
        </p:txBody>
      </p:sp>
      <p:graphicFrame>
        <p:nvGraphicFramePr>
          <p:cNvPr id="12" name=""/>
          <p:cNvGraphicFramePr/>
          <p:nvPr/>
        </p:nvGraphicFramePr>
        <p:xfrm>
          <a:off xmlns:a="http://schemas.openxmlformats.org/drawingml/2006/main" x="571500" y="2276475"/>
          <a:ext xmlns:a="http://schemas.openxmlformats.org/drawingml/2006/main" cx="14097000" cy="2714625"/>
        </p:xfrm>
        <a:graphic xmlns:a="http://schemas.openxmlformats.org/drawingml/2006/main">
          <a:graphicData uri="http://schemas.openxmlformats.org/drawingml/2006/table">
            <a:tbl>
              <a:tblPr/>
              <a:tblGrid>
                <a:gridCol w="3905250"/>
                <a:gridCol w="2857500"/>
                <a:gridCol w="3143250"/>
                <a:gridCol w="4191000"/>
              </a:tblGrid>
              <a:tr h="904875">
                <a:tc>
                  <a:txBody>
                    <a:bodyPr lIns="171450" tIns="95250" rIns="133350" bIns="95250"/>
                    <a:lstStyle/>
                    <a:p>
                      <a:r>
                        <a:rPr sz="2625" b="1">
                          <a:solidFill>
                            <a:srgbClr val="FFFFFF"/>
                          </a:solidFill>
                          <a:latin typeface="Arial"/>
                          <a:ea typeface="Arial"/>
                          <a:cs typeface="Arial"/>
                        </a:rPr>
                        <a:t>Per tas</a:t>
                      </a:r>
                    </a:p>
                  </a:txBody>
                  <a:tcPr marL="91440" marR="91440" marT="45720" marB="45720" anchor="ctr">
                    <a:solidFill>
                      <a:srgbClr val="183247"/>
                    </a:solidFill>
                  </a:tcPr>
                </a:tc>
                <a:tc>
                  <a:txBody>
                    <a:bodyPr lIns="171450" tIns="95250" rIns="133350" bIns="95250"/>
                    <a:lstStyle/>
                    <a:p>
                      <a:r>
                        <a:rPr sz="2625" b="1">
                          <a:solidFill>
                            <a:srgbClr val="FFFFFF"/>
                          </a:solidFill>
                          <a:latin typeface="Arial"/>
                          <a:ea typeface="Arial"/>
                          <a:cs typeface="Arial"/>
                        </a:rPr>
                        <a:t>Oude prijs</a:t>
                      </a:r>
                    </a:p>
                  </a:txBody>
                  <a:tcPr marL="91440" marR="91440" marT="45720" marB="45720" anchor="ctr">
                    <a:solidFill>
                      <a:srgbClr val="183247"/>
                    </a:solidFill>
                  </a:tcPr>
                </a:tc>
                <a:tc>
                  <a:txBody>
                    <a:bodyPr lIns="171450" tIns="95250" rIns="133350" bIns="95250"/>
                    <a:lstStyle/>
                    <a:p>
                      <a:r>
                        <a:rPr sz="2625" b="1">
                          <a:solidFill>
                            <a:srgbClr val="FFFFFF"/>
                          </a:solidFill>
                          <a:latin typeface="Arial"/>
                          <a:ea typeface="Arial"/>
                          <a:cs typeface="Arial"/>
                        </a:rPr>
                        <a:t>Nieuwe prijs</a:t>
                      </a:r>
                    </a:p>
                  </a:txBody>
                  <a:tcPr marL="91440" marR="91440" marT="45720" marB="45720" anchor="ctr">
                    <a:solidFill>
                      <a:srgbClr val="183247"/>
                    </a:solidFill>
                  </a:tcPr>
                </a:tc>
                <a:tc>
                  <a:txBody>
                    <a:bodyPr lIns="171450" tIns="95250" rIns="133350" bIns="95250"/>
                    <a:lstStyle/>
                    <a:p>
                      <a:r>
                        <a:rPr sz="2625" b="1">
                          <a:solidFill>
                            <a:srgbClr val="FFFFFF"/>
                          </a:solidFill>
                          <a:latin typeface="Arial"/>
                          <a:ea typeface="Arial"/>
                          <a:cs typeface="Arial"/>
                        </a:rPr>
                        <a:t>Economische last</a:t>
                      </a:r>
                    </a:p>
                  </a:txBody>
                  <a:tcPr marL="91440" marR="91440" marT="45720" marB="45720" anchor="ctr">
                    <a:solidFill>
                      <a:srgbClr val="183247"/>
                    </a:solidFill>
                  </a:tcPr>
                </a:tc>
              </a:tr>
              <a:tr h="904875">
                <a:tc>
                  <a:txBody>
                    <a:bodyPr lIns="171450" tIns="95250" rIns="133350" bIns="95250"/>
                    <a:lstStyle/>
                    <a:p>
                      <a:r>
                        <a:rPr sz="2625" b="0">
                          <a:solidFill>
                            <a:srgbClr val="183247"/>
                          </a:solidFill>
                          <a:latin typeface="Arial"/>
                          <a:ea typeface="Arial"/>
                          <a:cs typeface="Arial"/>
                        </a:rPr>
                        <a:t>Koper</a:t>
                      </a:r>
                    </a:p>
                  </a:txBody>
                  <a:tcPr marL="91440" marR="91440" marT="45720" marB="45720" anchor="ctr">
                    <a:solidFill>
                      <a:srgbClr val="FFFFFF"/>
                    </a:solidFill>
                  </a:tcPr>
                </a:tc>
                <a:tc>
                  <a:txBody>
                    <a:bodyPr lIns="171450" tIns="95250" rIns="133350" bIns="95250"/>
                    <a:lstStyle/>
                    <a:p>
                      <a:r>
                        <a:rPr sz="2625" b="0">
                          <a:solidFill>
                            <a:srgbClr val="183247"/>
                          </a:solidFill>
                          <a:latin typeface="Arial"/>
                          <a:ea typeface="Arial"/>
                          <a:cs typeface="Arial"/>
                        </a:rPr>
                        <a:t>€ 8</a:t>
                      </a:r>
                    </a:p>
                  </a:txBody>
                  <a:tcPr marL="91440" marR="91440" marT="45720" marB="45720" anchor="ctr">
                    <a:solidFill>
                      <a:srgbClr val="FFFFFF"/>
                    </a:solidFill>
                  </a:tcPr>
                </a:tc>
                <a:tc>
                  <a:txBody>
                    <a:bodyPr lIns="171450" tIns="95250" rIns="133350" bIns="95250"/>
                    <a:lstStyle/>
                    <a:p>
                      <a:r>
                        <a:rPr sz="2625" b="0">
                          <a:solidFill>
                            <a:srgbClr val="183247"/>
                          </a:solidFill>
                          <a:latin typeface="Arial"/>
                          <a:ea typeface="Arial"/>
                          <a:cs typeface="Arial"/>
                        </a:rPr>
                        <a:t>€ 10</a:t>
                      </a:r>
                    </a:p>
                  </a:txBody>
                  <a:tcPr marL="91440" marR="91440" marT="45720" marB="45720" anchor="ctr">
                    <a:solidFill>
                      <a:srgbClr val="FFFFFF"/>
                    </a:solidFill>
                  </a:tcPr>
                </a:tc>
                <a:tc>
                  <a:txBody>
                    <a:bodyPr lIns="171450" tIns="95250" rIns="133350" bIns="95250"/>
                    <a:lstStyle/>
                    <a:p>
                      <a:r>
                        <a:rPr sz="2625" b="0">
                          <a:solidFill>
                            <a:srgbClr val="183247"/>
                          </a:solidFill>
                          <a:latin typeface="Arial"/>
                          <a:ea typeface="Arial"/>
                          <a:cs typeface="Arial"/>
                        </a:rPr>
                        <a:t>10 − 8 = € 2</a:t>
                      </a:r>
                    </a:p>
                  </a:txBody>
                  <a:tcPr marL="91440" marR="91440" marT="45720" marB="45720" anchor="ctr">
                    <a:solidFill>
                      <a:srgbClr val="FFFFFF"/>
                    </a:solidFill>
                  </a:tcPr>
                </a:tc>
              </a:tr>
              <a:tr h="904875">
                <a:tc>
                  <a:txBody>
                    <a:bodyPr lIns="171450" tIns="95250" rIns="133350" bIns="95250"/>
                    <a:lstStyle/>
                    <a:p>
                      <a:r>
                        <a:rPr sz="2625" b="0">
                          <a:solidFill>
                            <a:srgbClr val="183247"/>
                          </a:solidFill>
                          <a:latin typeface="Arial"/>
                          <a:ea typeface="Arial"/>
                          <a:cs typeface="Arial"/>
                        </a:rPr>
                        <a:t>Verkoper</a:t>
                      </a:r>
                    </a:p>
                  </a:txBody>
                  <a:tcPr marL="91440" marR="91440" marT="45720" marB="45720" anchor="ctr">
                    <a:solidFill>
                      <a:srgbClr val="EFF4F7"/>
                    </a:solidFill>
                  </a:tcPr>
                </a:tc>
                <a:tc>
                  <a:txBody>
                    <a:bodyPr lIns="171450" tIns="95250" rIns="133350" bIns="95250"/>
                    <a:lstStyle/>
                    <a:p>
                      <a:r>
                        <a:rPr sz="2625" b="0">
                          <a:solidFill>
                            <a:srgbClr val="183247"/>
                          </a:solidFill>
                          <a:latin typeface="Arial"/>
                          <a:ea typeface="Arial"/>
                          <a:cs typeface="Arial"/>
                        </a:rPr>
                        <a:t>€ 8</a:t>
                      </a:r>
                    </a:p>
                  </a:txBody>
                  <a:tcPr marL="91440" marR="91440" marT="45720" marB="45720" anchor="ctr">
                    <a:solidFill>
                      <a:srgbClr val="EFF4F7"/>
                    </a:solidFill>
                  </a:tcPr>
                </a:tc>
                <a:tc>
                  <a:txBody>
                    <a:bodyPr lIns="171450" tIns="95250" rIns="133350" bIns="95250"/>
                    <a:lstStyle/>
                    <a:p>
                      <a:r>
                        <a:rPr sz="2625" b="0">
                          <a:solidFill>
                            <a:srgbClr val="183247"/>
                          </a:solidFill>
                          <a:latin typeface="Arial"/>
                          <a:ea typeface="Arial"/>
                          <a:cs typeface="Arial"/>
                        </a:rPr>
                        <a:t>€ 7</a:t>
                      </a:r>
                    </a:p>
                  </a:txBody>
                  <a:tcPr marL="91440" marR="91440" marT="45720" marB="45720" anchor="ctr">
                    <a:solidFill>
                      <a:srgbClr val="EFF4F7"/>
                    </a:solidFill>
                  </a:tcPr>
                </a:tc>
                <a:tc>
                  <a:txBody>
                    <a:bodyPr lIns="171450" tIns="95250" rIns="133350" bIns="95250"/>
                    <a:lstStyle/>
                    <a:p>
                      <a:r>
                        <a:rPr sz="2625" b="0">
                          <a:solidFill>
                            <a:srgbClr val="183247"/>
                          </a:solidFill>
                          <a:latin typeface="Arial"/>
                          <a:ea typeface="Arial"/>
                          <a:cs typeface="Arial"/>
                        </a:rPr>
                        <a:t>8 − 7 = € 1</a:t>
                      </a:r>
                    </a:p>
                  </a:txBody>
                  <a:tcPr marL="91440" marR="91440" marT="45720" marB="45720" anchor="ctr">
                    <a:solidFill>
                      <a:srgbClr val="EFF4F7"/>
                    </a:solidFill>
                  </a:tcPr>
                </a:tc>
              </a:tr>
            </a:tbl>
          </a:graphicData>
        </a:graphic>
      </p:graphicFrame>
      <p:sp>
        <p:nvSpPr>
          <p:cNvPr id="6" name="De uitspraak is onjuist.">
            <a:extLst xmlns:a="http://schemas.openxmlformats.org/drawingml/2006/main">
              <a:ext uri="{FF2B5EF4-FFF2-40B4-BE49-F238E27FC236}">
                <a16:creationId xmlns:a16="http://schemas.microsoft.com/office/drawing/2014/main" id="{2F437812-D04F-4E48-8D06-20B8585AE595}"/>
              </a:ext>
            </a:extLst>
          </p:cNvPr>
          <p:cNvSpPr>
            <a:spLocks xmlns:a="http://schemas.openxmlformats.org/drawingml/2006/main" noGrp="1"/>
          </p:cNvSpPr>
          <p:nvPr/>
        </p:nvSpPr>
        <p:spPr>
          <a:xfrm xmlns:a="http://schemas.openxmlformats.org/drawingml/2006/main">
            <a:off x="571500" y="5667375"/>
            <a:ext cx="1409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A94D16"/>
                </a:solidFill>
                <a:latin typeface="Arial"/>
                <a:ea typeface="Arial"/>
                <a:cs typeface="Arial"/>
              </a:defRPr>
            </a:pPr>
            <a:r>
              <a:rPr sz="3300" b="1">
                <a:solidFill>
                  <a:srgbClr val="A94D16"/>
                </a:solidFill>
                <a:latin typeface="Arial"/>
                <a:ea typeface="Arial"/>
                <a:cs typeface="Arial"/>
              </a:rPr>
              <a:t>De uitspraak is onjuist.</a:t>
            </a:r>
          </a:p>
        </p:txBody>
      </p:sp>
      <p:sp>
        <p:nvSpPr>
          <p:cNvPr id="7" name="De verkoper draagt € 3 af, maar draagt € 1 last per tas.&#10;Kop">
            <a:extLst xmlns:a="http://schemas.openxmlformats.org/drawingml/2006/main">
              <a:ext uri="{FF2B5EF4-FFF2-40B4-BE49-F238E27FC236}">
                <a16:creationId xmlns:a16="http://schemas.microsoft.com/office/drawing/2014/main" id="{37580A4C-6950-41BA-B108-D5A0FE3AB8A6}"/>
              </a:ext>
            </a:extLst>
          </p:cNvPr>
          <p:cNvSpPr>
            <a:spLocks xmlns:a="http://schemas.openxmlformats.org/drawingml/2006/main" noGrp="1"/>
          </p:cNvSpPr>
          <p:nvPr/>
        </p:nvSpPr>
        <p:spPr>
          <a:xfrm xmlns:a="http://schemas.openxmlformats.org/drawingml/2006/main">
            <a:off x="571500" y="6734175"/>
            <a:ext cx="140970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De verkoper draagt € 3 af, maar draagt € 1 last per tas.</a:t>
            </a:r>
          </a:p>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Kopers dragen de overige € 2 per tas.</a:t>
            </a:r>
          </a:p>
        </p:txBody>
      </p:sp>
    </p:spTree>
    <p:extLst>
      <p:ext uri="{BB962C8B-B14F-4D97-AF65-F5344CB8AC3E}">
        <p14:creationId xmlns:p14="http://schemas.microsoft.com/office/powerpoint/2010/main" val="152201116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3.1.1 Eén product, twee prijzen">
            <a:extLst xmlns:a="http://schemas.openxmlformats.org/drawingml/2006/main">
              <a:ext uri="{FF2B5EF4-FFF2-40B4-BE49-F238E27FC236}">
                <a16:creationId xmlns:a16="http://schemas.microsoft.com/office/drawing/2014/main" id="{8CAA5E8A-27B0-4E79-AC2F-631AE8DF29C2}"/>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Deze les: §3.1.1 Eén product, twee prijzen</a:t>
            </a:r>
          </a:p>
        </p:txBody>
      </p:sp>
      <p:sp>
        <p:nvSpPr>
          <p:cNvPr id="2" name="">
            <a:extLst xmlns:a="http://schemas.openxmlformats.org/drawingml/2006/main">
              <a:ext uri="{FF2B5EF4-FFF2-40B4-BE49-F238E27FC236}">
                <a16:creationId xmlns:a16="http://schemas.microsoft.com/office/drawing/2014/main" id="{D7B46209-80FF-41DD-9716-06A9ADA1ACC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1 Eén product, twee prijzen">
            <a:extLst xmlns:a="http://schemas.openxmlformats.org/drawingml/2006/main">
              <a:ext uri="{FF2B5EF4-FFF2-40B4-BE49-F238E27FC236}">
                <a16:creationId xmlns:a16="http://schemas.microsoft.com/office/drawing/2014/main" id="{D701BC39-4AA5-4BB6-9EAA-A969071C1AA3}"/>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§3.1.1 Eén product, twee prijzen</a:t>
            </a:r>
          </a:p>
        </p:txBody>
      </p:sp>
      <p:sp>
        <p:nvSpPr>
          <p:cNvPr id="4" name="27">
            <a:extLst xmlns:a="http://schemas.openxmlformats.org/drawingml/2006/main">
              <a:ext uri="{FF2B5EF4-FFF2-40B4-BE49-F238E27FC236}">
                <a16:creationId xmlns:a16="http://schemas.microsoft.com/office/drawing/2014/main" id="{09A88B81-76AF-417D-A3EF-6E320CDD39B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27</a:t>
            </a:r>
          </a:p>
        </p:txBody>
      </p:sp>
      <p:sp>
        <p:nvSpPr>
          <p:cNvPr id="5" name="phase">
            <a:extLst xmlns:a="http://schemas.openxmlformats.org/drawingml/2006/main">
              <a:ext uri="{FF2B5EF4-FFF2-40B4-BE49-F238E27FC236}">
                <a16:creationId xmlns:a16="http://schemas.microsoft.com/office/drawing/2014/main" id="{8C16E2BA-6CEA-4738-8B0F-9CA3217A3415}"/>
              </a:ext>
            </a:extLst>
          </p:cNvPr>
          <p:cNvSpPr>
            <a:spLocks xmlns:a="http://schemas.openxmlformats.org/drawingml/2006/main" noGrp="1"/>
          </p:cNvSpPr>
          <p:nvPr/>
        </p:nvSpPr>
        <p:spPr>
          <a:xfrm xmlns:a="http://schemas.openxmlformats.org/drawingml/2006/main">
            <a:off x="571500" y="1066800"/>
            <a:ext cx="13906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C9FE5486-0D29-415E-A8E8-BF2BA9A860A6}"/>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0">
            <a:extLst xmlns:a="http://schemas.openxmlformats.org/drawingml/2006/main">
              <a:ext uri="{FF2B5EF4-FFF2-40B4-BE49-F238E27FC236}">
                <a16:creationId xmlns:a16="http://schemas.microsoft.com/office/drawing/2014/main" id="{152278AD-BDB2-427F-ACB9-84AC9E399FB6}"/>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0">
            <a:extLst xmlns:a="http://schemas.openxmlformats.org/drawingml/2006/main">
              <a:ext uri="{FF2B5EF4-FFF2-40B4-BE49-F238E27FC236}">
                <a16:creationId xmlns:a16="http://schemas.microsoft.com/office/drawing/2014/main" id="{586C1ACF-156B-4ABD-9211-1EAAC0209C2C}"/>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1">
            <a:extLst xmlns:a="http://schemas.openxmlformats.org/drawingml/2006/main">
              <a:ext uri="{FF2B5EF4-FFF2-40B4-BE49-F238E27FC236}">
                <a16:creationId xmlns:a16="http://schemas.microsoft.com/office/drawing/2014/main" id="{98B230CF-F1BF-4EFB-9117-84CDFBC7CB05}"/>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1">
            <a:extLst xmlns:a="http://schemas.openxmlformats.org/drawingml/2006/main">
              <a:ext uri="{FF2B5EF4-FFF2-40B4-BE49-F238E27FC236}">
                <a16:creationId xmlns:a16="http://schemas.microsoft.com/office/drawing/2014/main" id="{02BA3ED9-B86F-4CDC-8D1C-783CF82F1A13}"/>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2">
            <a:extLst xmlns:a="http://schemas.openxmlformats.org/drawingml/2006/main">
              <a:ext uri="{FF2B5EF4-FFF2-40B4-BE49-F238E27FC236}">
                <a16:creationId xmlns:a16="http://schemas.microsoft.com/office/drawing/2014/main" id="{EB6A3B45-804F-4E35-81E3-51936A44AE26}"/>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2">
            <a:extLst xmlns:a="http://schemas.openxmlformats.org/drawingml/2006/main">
              <a:ext uri="{FF2B5EF4-FFF2-40B4-BE49-F238E27FC236}">
                <a16:creationId xmlns:a16="http://schemas.microsoft.com/office/drawing/2014/main" id="{04C2C19E-557F-4C25-9E37-CB6B2181EF8E}"/>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3">
            <a:extLst xmlns:a="http://schemas.openxmlformats.org/drawingml/2006/main">
              <a:ext uri="{FF2B5EF4-FFF2-40B4-BE49-F238E27FC236}">
                <a16:creationId xmlns:a16="http://schemas.microsoft.com/office/drawing/2014/main" id="{4D87848C-13E3-4548-A8B6-D527B2AA69B0}"/>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3">
            <a:extLst xmlns:a="http://schemas.openxmlformats.org/drawingml/2006/main">
              <a:ext uri="{FF2B5EF4-FFF2-40B4-BE49-F238E27FC236}">
                <a16:creationId xmlns:a16="http://schemas.microsoft.com/office/drawing/2014/main" id="{C4D4E633-AECC-4642-9647-86A1DCE88A29}"/>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4">
            <a:extLst xmlns:a="http://schemas.openxmlformats.org/drawingml/2006/main">
              <a:ext uri="{FF2B5EF4-FFF2-40B4-BE49-F238E27FC236}">
                <a16:creationId xmlns:a16="http://schemas.microsoft.com/office/drawing/2014/main" id="{72EE6A7E-F684-43B4-89C5-114D46444582}"/>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4">
            <a:extLst xmlns:a="http://schemas.openxmlformats.org/drawingml/2006/main">
              <a:ext uri="{FF2B5EF4-FFF2-40B4-BE49-F238E27FC236}">
                <a16:creationId xmlns:a16="http://schemas.microsoft.com/office/drawing/2014/main" id="{9B61B2CE-E7EB-44ED-B698-CE32D1450EB8}"/>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5">
            <a:extLst xmlns:a="http://schemas.openxmlformats.org/drawingml/2006/main">
              <a:ext uri="{FF2B5EF4-FFF2-40B4-BE49-F238E27FC236}">
                <a16:creationId xmlns:a16="http://schemas.microsoft.com/office/drawing/2014/main" id="{A24F60BE-5365-4D01-A06C-B57EDE615D6C}"/>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5">
            <a:extLst xmlns:a="http://schemas.openxmlformats.org/drawingml/2006/main">
              <a:ext uri="{FF2B5EF4-FFF2-40B4-BE49-F238E27FC236}">
                <a16:creationId xmlns:a16="http://schemas.microsoft.com/office/drawing/2014/main" id="{74EAB027-F976-4C3E-8A42-0A6CA0BEC667}"/>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7.</a:t>
            </a:r>
          </a:p>
        </p:txBody>
      </p:sp>
      <p:sp>
        <p:nvSpPr>
          <p:cNvPr id="19" name="route-number-6">
            <a:extLst xmlns:a="http://schemas.openxmlformats.org/drawingml/2006/main">
              <a:ext uri="{FF2B5EF4-FFF2-40B4-BE49-F238E27FC236}">
                <a16:creationId xmlns:a16="http://schemas.microsoft.com/office/drawing/2014/main" id="{9DE7DC79-5E47-4BD6-8E00-7AA13F80535F}"/>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7.</a:t>
            </a:r>
          </a:p>
        </p:txBody>
      </p:sp>
      <p:sp>
        <p:nvSpPr>
          <p:cNvPr id="20" name="route-6">
            <a:extLst xmlns:a="http://schemas.openxmlformats.org/drawingml/2006/main">
              <a:ext uri="{FF2B5EF4-FFF2-40B4-BE49-F238E27FC236}">
                <a16:creationId xmlns:a16="http://schemas.microsoft.com/office/drawing/2014/main" id="{9D428C54-0268-4D13-8F0E-B8776DD31CCD}"/>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B6E38956-7D19-4CCB-A98F-E99E8752950F}"/>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C5E7C6FE-A3E7-4E0C-A13D-BE4EEF58E1C0}"/>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Evenwicht en twee prijzen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De belastingwig tekenen.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Afdragen en last dragen uitleggen.</a:t>
            </a:r>
          </a:p>
        </p:txBody>
      </p:sp>
      <p:sp>
        <p:nvSpPr>
          <p:cNvPr id="23" name="">
            <a:extLst xmlns:a="http://schemas.openxmlformats.org/drawingml/2006/main">
              <a:ext uri="{FF2B5EF4-FFF2-40B4-BE49-F238E27FC236}">
                <a16:creationId xmlns:a16="http://schemas.microsoft.com/office/drawing/2014/main" id="{15BADE57-16ED-4B82-B387-A42FFA7958A8}"/>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5F65D26D-CBF2-42DC-BD3C-17EAFB2051CD}"/>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85E34470-A850-45E0-ACBD-6B9A7B378002}"/>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9 · Opgaven 1 en 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 verkennen, theorie p. 6–9</a:t>
            </a:r>
          </a:p>
        </p:txBody>
      </p:sp>
      <p:sp>
        <p:nvSpPr>
          <p:cNvPr id="26" name="">
            <a:extLst xmlns:a="http://schemas.openxmlformats.org/drawingml/2006/main">
              <a:ext uri="{FF2B5EF4-FFF2-40B4-BE49-F238E27FC236}">
                <a16:creationId xmlns:a16="http://schemas.microsoft.com/office/drawing/2014/main" id="{6BE149D3-E355-45FD-AAE1-4D4C9264956A}"/>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8F49867A-D4AF-46B7-8A51-2A90EFAD3479}"/>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7171C2F1-9D40-40CF-9611-91B77F49A286}"/>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§3.1.1</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Basis: 3 en 4</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Zelfstandig: 5 en 6</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Doelopgave: 7</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Maken en nakijken</a:t>
            </a:r>
          </a:p>
        </p:txBody>
      </p:sp>
    </p:spTree>
    <p:extLst>
      <p:ext uri="{BB962C8B-B14F-4D97-AF65-F5344CB8AC3E}">
        <p14:creationId xmlns:p14="http://schemas.microsoft.com/office/powerpoint/2010/main" val="5185947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2026-10-01T11:35:48.7270000Z</dcterms:created>
  <dcterms:modified xsi:type="dcterms:W3CDTF">2026-10-01T11:35:48.7270000Z</dcterms:modified>
</coreProperties>
</file>