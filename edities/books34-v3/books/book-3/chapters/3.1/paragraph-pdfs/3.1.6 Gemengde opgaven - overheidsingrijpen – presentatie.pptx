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f05c8e5392a45ef" /><Relationship Type="http://schemas.openxmlformats.org/officeDocument/2006/relationships/extended-properties" Target="/docProps/app.xml" Id="R8564ae97dd7a4726" /><Relationship Type="http://schemas.openxmlformats.org/officeDocument/2006/relationships/officeDocument" Target="/ppt/presentation.xml" Id="Radca3673cf814451" /></Relationships>
</file>

<file path=ppt/presentation.xml><?xml version="1.0" encoding="utf-8"?>
<p:presentation xmlns:p="http://schemas.openxmlformats.org/presentationml/2006/main">
  <p:sldMasterIdLst>
    <p:sldMasterId xmlns:r="http://schemas.openxmlformats.org/officeDocument/2006/relationships" id="2147483648" r:id="R0e2a7b99575248c2"/>
  </p:sldMasterIdLst>
  <p:notesMasterIdLst>
    <p:notesMasterId xmlns:r="http://schemas.openxmlformats.org/officeDocument/2006/relationships" r:id="R6905e7c17d2042cd"/>
  </p:notesMasterIdLst>
  <p:sldIdLst>
    <p:sldId xmlns:r="http://schemas.openxmlformats.org/officeDocument/2006/relationships" id="256" r:id="R527d6679f0894c13"/>
    <p:sldId xmlns:r="http://schemas.openxmlformats.org/officeDocument/2006/relationships" id="257" r:id="R055d38ac3ce9424c"/>
    <p:sldId xmlns:r="http://schemas.openxmlformats.org/officeDocument/2006/relationships" id="258" r:id="R655a83297e6141e3"/>
    <p:sldId xmlns:r="http://schemas.openxmlformats.org/officeDocument/2006/relationships" id="259" r:id="R0406fd94571949e2"/>
    <p:sldId xmlns:r="http://schemas.openxmlformats.org/officeDocument/2006/relationships" id="260" r:id="Rd856f1f8765248aa"/>
    <p:sldId xmlns:r="http://schemas.openxmlformats.org/officeDocument/2006/relationships" id="261" r:id="Rb73afa5b2b794efe"/>
    <p:sldId xmlns:r="http://schemas.openxmlformats.org/officeDocument/2006/relationships" id="262" r:id="R91699ec565ce460f"/>
    <p:sldId xmlns:r="http://schemas.openxmlformats.org/officeDocument/2006/relationships" id="263" r:id="R1b16c260f0304fd7"/>
    <p:sldId xmlns:r="http://schemas.openxmlformats.org/officeDocument/2006/relationships" id="264" r:id="Rc89928078bc04635"/>
    <p:sldId xmlns:r="http://schemas.openxmlformats.org/officeDocument/2006/relationships" id="265" r:id="Rf6dc93d5f9a248f1"/>
    <p:sldId xmlns:r="http://schemas.openxmlformats.org/officeDocument/2006/relationships" id="266" r:id="R5a8b585b46474f9a"/>
    <p:sldId xmlns:r="http://schemas.openxmlformats.org/officeDocument/2006/relationships" id="267" r:id="Rc97490c96a264f65"/>
    <p:sldId xmlns:r="http://schemas.openxmlformats.org/officeDocument/2006/relationships" id="268" r:id="R7ca88e7d7a454cd2"/>
    <p:sldId xmlns:r="http://schemas.openxmlformats.org/officeDocument/2006/relationships" id="269" r:id="Rfdaadee2ab854432"/>
    <p:sldId xmlns:r="http://schemas.openxmlformats.org/officeDocument/2006/relationships" id="270" r:id="Rde19133069604294"/>
    <p:sldId xmlns:r="http://schemas.openxmlformats.org/officeDocument/2006/relationships" id="271" r:id="Rbd2a655293074434"/>
    <p:sldId xmlns:r="http://schemas.openxmlformats.org/officeDocument/2006/relationships" id="272" r:id="Rd7cf1e62cff44a9c"/>
    <p:sldId xmlns:r="http://schemas.openxmlformats.org/officeDocument/2006/relationships" id="273" r:id="R6f052a0a893c4fe5"/>
    <p:sldId xmlns:r="http://schemas.openxmlformats.org/officeDocument/2006/relationships" id="274" r:id="R7e2e967b567849d9"/>
    <p:sldId xmlns:r="http://schemas.openxmlformats.org/officeDocument/2006/relationships" id="275" r:id="R6fdcb059dd2d470d"/>
    <p:sldId xmlns:r="http://schemas.openxmlformats.org/officeDocument/2006/relationships" id="276" r:id="Rd630750d70b349c0"/>
    <p:sldId xmlns:r="http://schemas.openxmlformats.org/officeDocument/2006/relationships" id="277" r:id="Rb849724f018b412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5b0973ba4249af" /><Relationship Type="http://schemas.openxmlformats.org/officeDocument/2006/relationships/slideMaster" Target="/ppt/slideMasters/slideMaster1.xml" Id="R0e2a7b99575248c2" /><Relationship Type="http://schemas.openxmlformats.org/officeDocument/2006/relationships/notesMaster" Target="/ppt/notesMasters/notesMaster1.xml" Id="R6905e7c17d2042cd" /><Relationship Type="http://schemas.openxmlformats.org/officeDocument/2006/relationships/presProps" Target="/ppt/presProps.xml" Id="Rfa7a950a55084163" /><Relationship Type="http://schemas.openxmlformats.org/officeDocument/2006/relationships/tableStyles" Target="/ppt/tableStyles.xml" Id="R276e584f1b7f4e50" /><Relationship Type="http://schemas.openxmlformats.org/officeDocument/2006/relationships/slide" Target="/ppt/slides/slide1.xml" Id="R527d6679f0894c13" /><Relationship Type="http://schemas.openxmlformats.org/officeDocument/2006/relationships/slide" Target="/ppt/slides/slide2.xml" Id="R055d38ac3ce9424c" /><Relationship Type="http://schemas.openxmlformats.org/officeDocument/2006/relationships/slide" Target="/ppt/slides/slide3.xml" Id="R655a83297e6141e3" /><Relationship Type="http://schemas.openxmlformats.org/officeDocument/2006/relationships/slide" Target="/ppt/slides/slide4.xml" Id="R0406fd94571949e2" /><Relationship Type="http://schemas.openxmlformats.org/officeDocument/2006/relationships/slide" Target="/ppt/slides/slide5.xml" Id="Rd856f1f8765248aa" /><Relationship Type="http://schemas.openxmlformats.org/officeDocument/2006/relationships/slide" Target="/ppt/slides/slide6.xml" Id="Rb73afa5b2b794efe" /><Relationship Type="http://schemas.openxmlformats.org/officeDocument/2006/relationships/slide" Target="/ppt/slides/slide7.xml" Id="R91699ec565ce460f" /><Relationship Type="http://schemas.openxmlformats.org/officeDocument/2006/relationships/slide" Target="/ppt/slides/slide8.xml" Id="R1b16c260f0304fd7" /><Relationship Type="http://schemas.openxmlformats.org/officeDocument/2006/relationships/slide" Target="/ppt/slides/slide9.xml" Id="Rc89928078bc04635" /><Relationship Type="http://schemas.openxmlformats.org/officeDocument/2006/relationships/slide" Target="/ppt/slides/slide10.xml" Id="Rf6dc93d5f9a248f1" /><Relationship Type="http://schemas.openxmlformats.org/officeDocument/2006/relationships/slide" Target="/ppt/slides/slide11.xml" Id="R5a8b585b46474f9a" /><Relationship Type="http://schemas.openxmlformats.org/officeDocument/2006/relationships/slide" Target="/ppt/slides/slide12.xml" Id="Rc97490c96a264f65" /><Relationship Type="http://schemas.openxmlformats.org/officeDocument/2006/relationships/slide" Target="/ppt/slides/slide13.xml" Id="R7ca88e7d7a454cd2" /><Relationship Type="http://schemas.openxmlformats.org/officeDocument/2006/relationships/slide" Target="/ppt/slides/slide14.xml" Id="Rfdaadee2ab854432" /><Relationship Type="http://schemas.openxmlformats.org/officeDocument/2006/relationships/slide" Target="/ppt/slides/slide15.xml" Id="Rde19133069604294" /><Relationship Type="http://schemas.openxmlformats.org/officeDocument/2006/relationships/slide" Target="/ppt/slides/slide16.xml" Id="Rbd2a655293074434" /><Relationship Type="http://schemas.openxmlformats.org/officeDocument/2006/relationships/slide" Target="/ppt/slides/slide17.xml" Id="Rd7cf1e62cff44a9c" /><Relationship Type="http://schemas.openxmlformats.org/officeDocument/2006/relationships/slide" Target="/ppt/slides/slide18.xml" Id="R6f052a0a893c4fe5" /><Relationship Type="http://schemas.openxmlformats.org/officeDocument/2006/relationships/slide" Target="/ppt/slides/slide19.xml" Id="R7e2e967b567849d9" /><Relationship Type="http://schemas.openxmlformats.org/officeDocument/2006/relationships/slide" Target="/ppt/slides/slide20.xml" Id="R6fdcb059dd2d470d" /><Relationship Type="http://schemas.openxmlformats.org/officeDocument/2006/relationships/slide" Target="/ppt/slides/slide21.xml" Id="Rd630750d70b349c0" /><Relationship Type="http://schemas.openxmlformats.org/officeDocument/2006/relationships/slide" Target="/ppt/slides/slide22.xml" Id="Rb849724f018b41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325c49fefe43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ee61be7d374772" /><Relationship Type="http://schemas.openxmlformats.org/officeDocument/2006/relationships/notesMaster" Target="/ppt/notesMasters/notesMaster1.xml" Id="Rbcd0a92a67bb42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21a38a01c1432a" /><Relationship Type="http://schemas.openxmlformats.org/officeDocument/2006/relationships/notesMaster" Target="/ppt/notesMasters/notesMaster1.xml" Id="Rb8d1de72d2a14b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8d409b7048467f" /><Relationship Type="http://schemas.openxmlformats.org/officeDocument/2006/relationships/notesMaster" Target="/ppt/notesMasters/notesMaster1.xml" Id="Rfa00a3ccd71345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c0e9c9278a4cc8" /><Relationship Type="http://schemas.openxmlformats.org/officeDocument/2006/relationships/notesMaster" Target="/ppt/notesMasters/notesMaster1.xml" Id="R7357b76f61444d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d5ba7d78384124" /><Relationship Type="http://schemas.openxmlformats.org/officeDocument/2006/relationships/notesMaster" Target="/ppt/notesMasters/notesMaster1.xml" Id="R1784d52d5ef141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2a34eb420044e4" /><Relationship Type="http://schemas.openxmlformats.org/officeDocument/2006/relationships/notesMaster" Target="/ppt/notesMasters/notesMaster1.xml" Id="Re6a1ae3196fb4c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6cf1994bec495f" /><Relationship Type="http://schemas.openxmlformats.org/officeDocument/2006/relationships/notesMaster" Target="/ppt/notesMasters/notesMaster1.xml" Id="Rf04b653f38d14c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7f93331a6746ee" /><Relationship Type="http://schemas.openxmlformats.org/officeDocument/2006/relationships/notesMaster" Target="/ppt/notesMasters/notesMaster1.xml" Id="R3315b29041644e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ca151cf69e486d" /><Relationship Type="http://schemas.openxmlformats.org/officeDocument/2006/relationships/notesMaster" Target="/ppt/notesMasters/notesMaster1.xml" Id="R9c7e1414b81246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573f2f46684ed9" /><Relationship Type="http://schemas.openxmlformats.org/officeDocument/2006/relationships/notesMaster" Target="/ppt/notesMasters/notesMaster1.xml" Id="R467a5146482346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22555126ee4541" /><Relationship Type="http://schemas.openxmlformats.org/officeDocument/2006/relationships/notesMaster" Target="/ppt/notesMasters/notesMaster1.xml" Id="R9edd686c0db649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00c8e64fec4206" /><Relationship Type="http://schemas.openxmlformats.org/officeDocument/2006/relationships/notesMaster" Target="/ppt/notesMasters/notesMaster1.xml" Id="R056ee142dcde4a5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293a962c96429a" /><Relationship Type="http://schemas.openxmlformats.org/officeDocument/2006/relationships/notesMaster" Target="/ppt/notesMasters/notesMaster1.xml" Id="Rae67125a56444e5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250e2070244671" /><Relationship Type="http://schemas.openxmlformats.org/officeDocument/2006/relationships/notesMaster" Target="/ppt/notesMasters/notesMaster1.xml" Id="R258e2e01bf9844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8d88b219d9042fb" /><Relationship Type="http://schemas.openxmlformats.org/officeDocument/2006/relationships/notesMaster" Target="/ppt/notesMasters/notesMaster1.xml" Id="Ra4186374acf8451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0057200c7c4bf5" /><Relationship Type="http://schemas.openxmlformats.org/officeDocument/2006/relationships/notesMaster" Target="/ppt/notesMasters/notesMaster1.xml" Id="R24522cf3f3ea4e5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8cf769c6a214c2e" /><Relationship Type="http://schemas.openxmlformats.org/officeDocument/2006/relationships/notesMaster" Target="/ppt/notesMasters/notesMaster1.xml" Id="R78e42618026b45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9a72a45679453f" /><Relationship Type="http://schemas.openxmlformats.org/officeDocument/2006/relationships/notesMaster" Target="/ppt/notesMasters/notesMaster1.xml" Id="Rf0024d9194d74df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f312d6f3994b35" /><Relationship Type="http://schemas.openxmlformats.org/officeDocument/2006/relationships/notesMaster" Target="/ppt/notesMasters/notesMaster1.xml" Id="Rb51c0739f49a40d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b42d639a6334922" /><Relationship Type="http://schemas.openxmlformats.org/officeDocument/2006/relationships/notesMaster" Target="/ppt/notesMasters/notesMaster1.xml" Id="Rac418aa7a6fc44f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b68923e710b4d7a" /><Relationship Type="http://schemas.openxmlformats.org/officeDocument/2006/relationships/notesMaster" Target="/ppt/notesMasters/notesMaster1.xml" Id="R0e44c4762d6c494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4c408926abf4314" /><Relationship Type="http://schemas.openxmlformats.org/officeDocument/2006/relationships/notesMaster" Target="/ppt/notesMasters/notesMaster1.xml" Id="R9a0bbd4d76004d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bronzin bepaalt jouw rekenroute?</a:t>
            </a:r>
          </a:p>
          <a:p xmlns:a="http://schemas.openxmlformats.org/drawingml/2006/main">
            <a:r>
              <a:rPr sz="1400"/>
              <a:t/>
            </a:r>
          </a:p>
          <a:p xmlns:a="http://schemas.openxmlformats.org/drawingml/2006/main">
            <a:r>
              <a:rPr sz="1400"/>
              <a:t>Uitleg: Laat deze dia staan tijdens startopdracht. Start is de eerste echte opgave, nummer 46 op boekpagina 48. Geen hernummering tot opgave 1. Geen afzonderlijke basis- of zelfstandige sectie: verder met 47 op p.48 en 47A op p.49; doel is 48 op p.50–51. Huiswerk volgens de classroomroute: alle gemengde opgaven 46, 47, 47A en 48 maken en nakijken. 47A houdt het bronlabel extra; er is geen bonus of herhalingssectie. De volledige route is niet als één les getimed. Start 46 vraagt eerder onderwezen bewerkingen: belastingwig (§3.1.1 p.6–9), subsidie over alle verkochte eenheden (§3.1.3 p.23–25), binding en hoeveelheden maximumprijs (§3.1.4 p.32–34), quotumprijs op V (§3.1.5 p.41–42). Laat bij twijfel de uitleg gebruiken, geen nieuwe procedure zelf ontdekken. Keer vóór verder oefenen terug naar hun vastgelopen startstap. Kies 48 voor de bespreking omdat modelkeuze, twee prijzen, budget, oppervlakten en een bronconclusie daarin samenkomen.</a:t>
            </a:r>
          </a:p>
          <a:p xmlns:a="http://schemas.openxmlformats.org/drawingml/2006/main">
            <a:r>
              <a:rPr sz="1400"/>
              <a:t/>
            </a:r>
          </a:p>
          <a:p xmlns:a="http://schemas.openxmlformats.org/drawingml/2006/main">
            <a:r>
              <a:rPr sz="1400"/>
              <a:t>Misvatting: De hoofdstukbron noemt pagina 44–47; in het volledige boek zijn de gedrukte pagina’s 48–51.</a:t>
            </a:r>
          </a:p>
          <a:p xmlns:a="http://schemas.openxmlformats.org/drawingml/2006/main">
            <a:r>
              <a:rPr sz="1400"/>
              <a:t/>
            </a:r>
          </a:p>
          <a:p xmlns:a="http://schemas.openxmlformats.org/drawingml/2006/main">
            <a:r>
              <a:rPr sz="1400"/>
              <a:t>Overgang: Volg de aangegeven lesfase.</a:t>
            </a:r>
          </a:p>
          <a:p xmlns:a="http://schemas.openxmlformats.org/drawingml/2006/main">
            <a:r>
              <a:rPr sz="1400"/>
              <a:t/>
            </a:r>
          </a:p>
          <a:p xmlns:a="http://schemas.openxmlformats.org/drawingml/2006/main">
            <a:r>
              <a:rPr sz="1400"/>
              <a:t>Bron: Boek 3, books34-v3, actuele versie bij lescommit 9b8304d5031cafac936a56281e144573a25fbbc9, gedrukte boekpagina 48–51.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bronzin begrenst wat je mag concluderen?</a:t>
            </a:r>
          </a:p>
          <a:p xmlns:a="http://schemas.openxmlformats.org/drawingml/2006/main">
            <a:r>
              <a:rPr sz="1400"/>
              <a:t/>
            </a:r>
          </a:p>
          <a:p xmlns:a="http://schemas.openxmlformats.org/drawingml/2006/main">
            <a:r>
              <a:rPr sz="1400"/>
              <a:t>Uitleg: Dit is herhaling, geen nieuwe maatregel. Haal bij een fout de relevante eerdere uitleg op. Belasting: Pc = Pp + t, O = t × Qt, maat CS + PS + O. Subsidie: Pc = Pp − s, U = s × Qsub, maat CS + PS − U. Prijsgrens: eerst binding, dan Qv en Qa en de bron over transacties/opkoop. Quotum: eerst binding, dan de prijs op V bij de werkelijk verkochte toegestane hoeveelheid. Er worden geen antwoorden op toegewezen opgaven uitgewerkt.</a:t>
            </a:r>
          </a:p>
          <a:p xmlns:a="http://schemas.openxmlformats.org/drawingml/2006/main">
            <a:r>
              <a:rPr sz="1400"/>
              <a:t/>
            </a:r>
          </a:p>
          <a:p xmlns:a="http://schemas.openxmlformats.org/drawingml/2006/main">
            <a:r>
              <a:rPr sz="1400"/>
              <a:t>Misvatting: Een nette berekening kan de verkeerde hoeveelheid gebruiken.</a:t>
            </a:r>
          </a:p>
          <a:p xmlns:a="http://schemas.openxmlformats.org/drawingml/2006/main">
            <a:r>
              <a:rPr sz="1400"/>
              <a:t/>
            </a:r>
          </a:p>
          <a:p xmlns:a="http://schemas.openxmlformats.org/drawingml/2006/main">
            <a:r>
              <a:rPr sz="1400"/>
              <a:t>Overgang: Herhaal belasting en verlies met een afzonderlijk kort kaarsenvoorbeeld.</a:t>
            </a:r>
          </a:p>
          <a:p xmlns:a="http://schemas.openxmlformats.org/drawingml/2006/main">
            <a:r>
              <a:rPr sz="1400"/>
              <a:t/>
            </a:r>
          </a:p>
          <a:p xmlns:a="http://schemas.openxmlformats.org/drawingml/2006/main">
            <a:r>
              <a:rPr sz="1400"/>
              <a:t>Bron: Boek 3, books34-v3, actuele versie bij lescommit 9b8304d5031cafac936a56281e144573a25fbbc9, gedrukte boekpagina 6–9, 14–16, 23–25, 32–34, 39–42.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lees je Pp bij de nieuwe hoeveelheid?</a:t>
            </a:r>
          </a:p>
          <a:p xmlns:a="http://schemas.openxmlformats.org/drawingml/2006/main">
            <a:r>
              <a:rPr sz="1400"/>
              <a:t/>
            </a:r>
          </a:p>
          <a:p xmlns:a="http://schemas.openxmlformats.org/drawingml/2006/main">
            <a:r>
              <a:rPr sz="1400"/>
              <a:t>Uitleg: Eigen fictieve kaarsenmarkt; andere gegevens dan alle toegewezen opgaven. Veel kopers/verkopers, één product, geen andere veranderingen, effecten voor buitenstaanders of uitvoeringskosten. Vrij: 16 = 0,40Q, Q0 = 40 en P0 = 10. Met belasting: 12 = 0,40Q, Qt = 30. Pc = 12 en oorspronkelijke A geeft Pp = 2 + 0,2 × 30 = 8. Koper en verkoper dragen ieder 2 euro per kaars. Pp is ontvangst vóór productiekosten.</a:t>
            </a:r>
          </a:p>
          <a:p xmlns:a="http://schemas.openxmlformats.org/drawingml/2006/main">
            <a:r>
              <a:rPr sz="1400"/>
              <a:t/>
            </a:r>
          </a:p>
          <a:p xmlns:a="http://schemas.openxmlformats.org/drawingml/2006/main">
            <a:r>
              <a:rPr sz="1400"/>
              <a:t>Misvatting: De oude prijs plus de hele belasting is niet de nieuwe evenwichtsprijs.</a:t>
            </a:r>
          </a:p>
          <a:p xmlns:a="http://schemas.openxmlformats.org/drawingml/2006/main">
            <a:r>
              <a:rPr sz="1400"/>
              <a:t/>
            </a:r>
          </a:p>
          <a:p xmlns:a="http://schemas.openxmlformats.org/drawingml/2006/main">
            <a:r>
              <a:rPr sz="1400"/>
              <a:t>Overgang: Laat dezelfde twee prijzen terugkomen in de grafiek.</a:t>
            </a:r>
          </a:p>
          <a:p xmlns:a="http://schemas.openxmlformats.org/drawingml/2006/main">
            <a:r>
              <a:rPr sz="1400"/>
              <a:t/>
            </a:r>
          </a:p>
          <a:p xmlns:a="http://schemas.openxmlformats.org/drawingml/2006/main">
            <a:r>
              <a:rPr sz="1400"/>
              <a:t>Bron: Zelfgemaakt uitlegvoorbeeld Kaarsenmarkt: context en gegevens zijn niet uit het boek. Alleen de methoden komen uit Boek 3, books34-v3, actuele versie bij lescommit 9b8304d5031cafac936a56281e144573a25fbbc9, gedrukte boekpagina 6–9.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 (niet het antwoordmodel van dit eigen voorbeeld).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gebruikt O dertig en W tien kaarsen?</a:t>
            </a:r>
          </a:p>
          <a:p xmlns:a="http://schemas.openxmlformats.org/drawingml/2006/main">
            <a:r>
              <a:rPr sz="1400"/>
              <a:t/>
            </a:r>
          </a:p>
          <a:p xmlns:a="http://schemas.openxmlformats.org/drawingml/2006/main">
            <a:r>
              <a:rPr sz="1400"/>
              <a:t>Uitleg: Eigen voorbeeld. Lees Pc = 12 op V en Pp = 8 op oorspronkelijke A bij Qt = 30. De rechthoek O loopt Q = 0–30 en P = 8–12. W heeft hoekpunten (30,8), (40,10), (30,12). De verticale arcering is O; de horizontale W. Het nieuwe CS = ½ × 30 × (18 − 12) = 90, PS = ½ × 30 × (8 − 2) = 90; met O is de maat 300. Vrij CS = 160 en PS = 160, samen 320. Verschil 20. Vraag leerlingen de twee basissen aan te wijzen. Bij moeite herhaal eerder behandelde surplusdriehoeken. Dit voorbeeld levert geen antwoord op een toegewezen vraag.</a:t>
            </a:r>
          </a:p>
          <a:p xmlns:a="http://schemas.openxmlformats.org/drawingml/2006/main">
            <a:r>
              <a:rPr sz="1400"/>
              <a:t/>
            </a:r>
          </a:p>
          <a:p xmlns:a="http://schemas.openxmlformats.org/drawingml/2006/main">
            <a:r>
              <a:rPr sz="1400"/>
              <a:t>Misvatting: Overheidsontvangsten zijn een overdracht; W is voordeel dat niet ontstaat.</a:t>
            </a:r>
          </a:p>
          <a:p xmlns:a="http://schemas.openxmlformats.org/drawingml/2006/main">
            <a:r>
              <a:rPr sz="1400"/>
              <a:t/>
            </a:r>
          </a:p>
          <a:p xmlns:a="http://schemas.openxmlformats.org/drawingml/2006/main">
            <a:r>
              <a:rPr sz="1400"/>
              <a:t>Overgang: Keer terug naar de eigen startpoging en laat verder oefenen.</a:t>
            </a:r>
          </a:p>
          <a:p xmlns:a="http://schemas.openxmlformats.org/drawingml/2006/main">
            <a:r>
              <a:rPr sz="1400"/>
              <a:t/>
            </a:r>
          </a:p>
          <a:p xmlns:a="http://schemas.openxmlformats.org/drawingml/2006/main">
            <a:r>
              <a:rPr sz="1400"/>
              <a:t>Bron: Zelfgemaakt uitlegvoorbeeld Kaarsenmarkt: context en gegevens zijn niet uit het boek. Alleen de methoden komen uit Boek 3, books34-v3, actuele versie bij lescommit 9b8304d5031cafac936a56281e144573a25fbbc9, gedrukte boekpagina 14–16.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 (niet het antwoordmodel van dit eigen voorbeeld).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bronzin bepaalt jouw rekenroute?</a:t>
            </a:r>
          </a:p>
          <a:p xmlns:a="http://schemas.openxmlformats.org/drawingml/2006/main">
            <a:r>
              <a:rPr sz="1400"/>
              <a:t/>
            </a:r>
          </a:p>
          <a:p xmlns:a="http://schemas.openxmlformats.org/drawingml/2006/main">
            <a:r>
              <a:rPr sz="1400"/>
              <a:t>Uitleg: Laat deze dia staan tijdens zelfstandig werken. Start is de eerste echte opgave, nummer 46 op boekpagina 48. Geen hernummering tot opgave 1. Geen afzonderlijke basis- of zelfstandige sectie: verder met 47 op p.48 en 47A op p.49; doel is 48 op p.50–51. Huiswerk volgens de classroomroute: alle gemengde opgaven 46, 47, 47A en 48 maken en nakijken. 47A houdt het bronlabel extra; er is geen bonus of herhalingssectie. De volledige route is niet als één les getimed. Start 46 vraagt eerder onderwezen bewerkingen: belastingwig (§3.1.1 p.6–9), subsidie over alle verkochte eenheden (§3.1.3 p.23–25), binding en hoeveelheden maximumprijs (§3.1.4 p.32–34), quotumprijs op V (§3.1.5 p.41–42). Laat bij twijfel de uitleg gebruiken, geen nieuwe procedure zelf ontdekken. Keer vóór verder oefenen terug naar hun vastgelopen startstap. Kies 48 voor de bespreking omdat modelkeuze, twee prijzen, budget, oppervlakten en een bronconclusie daarin samenkomen.</a:t>
            </a:r>
          </a:p>
          <a:p xmlns:a="http://schemas.openxmlformats.org/drawingml/2006/main">
            <a:r>
              <a:rPr sz="1400"/>
              <a:t/>
            </a:r>
          </a:p>
          <a:p xmlns:a="http://schemas.openxmlformats.org/drawingml/2006/main">
            <a:r>
              <a:rPr sz="1400"/>
              <a:t>Misvatting: De hoofdstukbron noemt pagina 44–47; in het volledige boek zijn de gedrukte pagina’s 48–51.</a:t>
            </a:r>
          </a:p>
          <a:p xmlns:a="http://schemas.openxmlformats.org/drawingml/2006/main">
            <a:r>
              <a:rPr sz="1400"/>
              <a:t/>
            </a:r>
          </a:p>
          <a:p xmlns:a="http://schemas.openxmlformats.org/drawingml/2006/main">
            <a:r>
              <a:rPr sz="1400"/>
              <a:t>Overgang: Volg de aangegeven lesfase.</a:t>
            </a:r>
          </a:p>
          <a:p xmlns:a="http://schemas.openxmlformats.org/drawingml/2006/main">
            <a:r>
              <a:rPr sz="1400"/>
              <a:t/>
            </a:r>
          </a:p>
          <a:p xmlns:a="http://schemas.openxmlformats.org/drawingml/2006/main">
            <a:r>
              <a:rPr sz="1400"/>
              <a:t>Bron: Boek 3, books34-v3, actuele versie bij lescommit 9b8304d5031cafac936a56281e144573a25fbbc9, gedrukte boekpagina 48–51.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eenheden horen bij Q en de prijzen?</a:t>
            </a:r>
          </a:p>
          <a:p xmlns:a="http://schemas.openxmlformats.org/drawingml/2006/main">
            <a:r>
              <a:rPr sz="1400"/>
              <a:t/>
            </a:r>
          </a:p>
          <a:p xmlns:a="http://schemas.openxmlformats.org/drawingml/2006/main">
            <a:r>
              <a:rPr sz="1400"/>
              <a:t>Uitleg: Dit is de volledige context en bron 1 van de echte opgave. Begin de bespreking na de eigen poging. De volgende dia’s geven bronnen 2 en 3, de basisgrafiek en alle vragen zonder antwoord.</a:t>
            </a:r>
          </a:p>
          <a:p xmlns:a="http://schemas.openxmlformats.org/drawingml/2006/main">
            <a:r>
              <a:rPr sz="1400"/>
              <a:t/>
            </a:r>
          </a:p>
          <a:p xmlns:a="http://schemas.openxmlformats.org/drawingml/2006/main">
            <a:r>
              <a:rPr sz="1400"/>
              <a:t>Misvatting: De gegeven surplusbedragen horen bij de vrije markt.</a:t>
            </a:r>
          </a:p>
          <a:p xmlns:a="http://schemas.openxmlformats.org/drawingml/2006/main">
            <a:r>
              <a:rPr sz="1400"/>
              <a:t/>
            </a:r>
          </a:p>
          <a:p xmlns:a="http://schemas.openxmlformats.org/drawingml/2006/main">
            <a:r>
              <a:rPr sz="1400"/>
              <a:t>Overgang: Lees de twee alternatieve plannen.</a:t>
            </a:r>
          </a:p>
          <a:p xmlns:a="http://schemas.openxmlformats.org/drawingml/2006/main">
            <a:r>
              <a:rPr sz="1400"/>
              <a:t/>
            </a:r>
          </a:p>
          <a:p xmlns:a="http://schemas.openxmlformats.org/drawingml/2006/main">
            <a:r>
              <a:rPr sz="1400"/>
              <a:t>Bron: Boek 3, books34-v3, actuele versie bij lescommit 9b8304d5031cafac936a56281e144573a25fbbc9, gedrukte boekpagina 50.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afspraken moet je bij beide plannen apart houden?</a:t>
            </a:r>
          </a:p>
          <a:p xmlns:a="http://schemas.openxmlformats.org/drawingml/2006/main">
            <a:r>
              <a:rPr sz="1400"/>
              <a:t/>
            </a:r>
          </a:p>
          <a:p xmlns:a="http://schemas.openxmlformats.org/drawingml/2006/main">
            <a:r>
              <a:rPr sz="1400"/>
              <a:t>Uitleg: Volledige bron 2. De plannen gelden afzonderlijk. Voeg de belasting van A nooit toe aan de prijsregel van B. De toewijzingsregel bij B en afwezigheid van andere geldstromen blijven expliciet. Benoem de maatregelen hier nog niet als antwoord op a.</a:t>
            </a:r>
          </a:p>
          <a:p xmlns:a="http://schemas.openxmlformats.org/drawingml/2006/main">
            <a:r>
              <a:rPr sz="1400"/>
              <a:t/>
            </a:r>
          </a:p>
          <a:p xmlns:a="http://schemas.openxmlformats.org/drawingml/2006/main">
            <a:r>
              <a:rPr sz="1400"/>
              <a:t>Misvatting: De twee plannen combineren verandert de opgave.</a:t>
            </a:r>
          </a:p>
          <a:p xmlns:a="http://schemas.openxmlformats.org/drawingml/2006/main">
            <a:r>
              <a:rPr sz="1400"/>
              <a:t/>
            </a:r>
          </a:p>
          <a:p xmlns:a="http://schemas.openxmlformats.org/drawingml/2006/main">
            <a:r>
              <a:rPr sz="1400"/>
              <a:t>Overgang: Lees de claim en bekijk de onbewerkte basisgrafiek.</a:t>
            </a:r>
          </a:p>
          <a:p xmlns:a="http://schemas.openxmlformats.org/drawingml/2006/main">
            <a:r>
              <a:rPr sz="1400"/>
              <a:t/>
            </a:r>
          </a:p>
          <a:p xmlns:a="http://schemas.openxmlformats.org/drawingml/2006/main">
            <a:r>
              <a:rPr sz="1400"/>
              <a:t>Bron: Boek 3, books34-v3, actuele versie bij lescommit 9b8304d5031cafac936a56281e144573a25fbbc9, gedrukte boekpagina 50.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moet je straks berekenen om beide claims te toetsen?</a:t>
            </a:r>
          </a:p>
          <a:p xmlns:a="http://schemas.openxmlformats.org/drawingml/2006/main">
            <a:r>
              <a:rPr sz="1400"/>
              <a:t/>
            </a:r>
          </a:p>
          <a:p xmlns:a="http://schemas.openxmlformats.org/drawingml/2006/main">
            <a:r>
              <a:rPr sz="1400"/>
              <a:t>Uitleg: Bron 3 is volledig overgenomen. De basisgrafiek bevat dezelfde oorspronkelijke functies, Q-as 0–120 en prijsas 0–26 als de boekfiguur. Nog geen oplossingen, gemarkeerde prijzen of gebieden. De leerlingen gebruiken de grafiek voor plan A; voor B volstaan berekeningen en conclusie.</a:t>
            </a:r>
          </a:p>
          <a:p xmlns:a="http://schemas.openxmlformats.org/drawingml/2006/main">
            <a:r>
              <a:rPr sz="1400"/>
              <a:t/>
            </a:r>
          </a:p>
          <a:p xmlns:a="http://schemas.openxmlformats.org/drawingml/2006/main">
            <a:r>
              <a:rPr sz="1400"/>
              <a:t>Misvatting: Een lager prijskaartje bewijst geen gegarandeerde aankoop.</a:t>
            </a:r>
          </a:p>
          <a:p xmlns:a="http://schemas.openxmlformats.org/drawingml/2006/main">
            <a:r>
              <a:rPr sz="1400"/>
              <a:t/>
            </a:r>
          </a:p>
          <a:p xmlns:a="http://schemas.openxmlformats.org/drawingml/2006/main">
            <a:r>
              <a:rPr sz="1400"/>
              <a:t>Overgang: Toon alle zes vragen vóór de uitwerking.</a:t>
            </a:r>
          </a:p>
          <a:p xmlns:a="http://schemas.openxmlformats.org/drawingml/2006/main">
            <a:r>
              <a:rPr sz="1400"/>
              <a:t/>
            </a:r>
          </a:p>
          <a:p xmlns:a="http://schemas.openxmlformats.org/drawingml/2006/main">
            <a:r>
              <a:rPr sz="1400"/>
              <a:t>Bron: Boek 3, books34-v3, actuele versie bij lescommit 9b8304d5031cafac936a56281e144573a25fbbc9, gedrukte boekpagina 50.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Heb je in je eigen antwoord beide prijzen én beide lasten genoteerd?</a:t>
            </a:r>
          </a:p>
          <a:p xmlns:a="http://schemas.openxmlformats.org/drawingml/2006/main">
            <a:r>
              <a:rPr sz="1400"/>
              <a:t/>
            </a:r>
          </a:p>
          <a:p xmlns:a="http://schemas.openxmlformats.org/drawingml/2006/main">
            <a:r>
              <a:rPr sz="1400"/>
              <a:t>Uitleg: Vragen a en b zijn volledig getoond, zonder oplossing. De bronnen blijven in het boek beschikbaar; ga zo nodig terug naar de vorige dia’s.</a:t>
            </a:r>
          </a:p>
          <a:p xmlns:a="http://schemas.openxmlformats.org/drawingml/2006/main">
            <a:r>
              <a:rPr sz="1400"/>
              <a:t/>
            </a:r>
          </a:p>
          <a:p xmlns:a="http://schemas.openxmlformats.org/drawingml/2006/main">
            <a:r>
              <a:rPr sz="1400"/>
              <a:t>Misvatting: Afdragen en de economische last dragen zijn verschillende bewerkingen.</a:t>
            </a:r>
          </a:p>
          <a:p xmlns:a="http://schemas.openxmlformats.org/drawingml/2006/main">
            <a:r>
              <a:rPr sz="1400"/>
              <a:t/>
            </a:r>
          </a:p>
          <a:p xmlns:a="http://schemas.openxmlformats.org/drawingml/2006/main">
            <a:r>
              <a:rPr sz="1400"/>
              <a:t>Overgang: Toon c en d voordat je antwoorden onthult.</a:t>
            </a:r>
          </a:p>
          <a:p xmlns:a="http://schemas.openxmlformats.org/drawingml/2006/main">
            <a:r>
              <a:rPr sz="1400"/>
              <a:t/>
            </a:r>
          </a:p>
          <a:p xmlns:a="http://schemas.openxmlformats.org/drawingml/2006/main">
            <a:r>
              <a:rPr sz="1400"/>
              <a:t>Bron: Boek 3, books34-v3, actuele versie bij lescommit 9b8304d5031cafac936a56281e144573a25fbbc9, gedrukte boekpagina 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labels en gebieden moeten zichtbaar zijn?</a:t>
            </a:r>
          </a:p>
          <a:p xmlns:a="http://schemas.openxmlformats.org/drawingml/2006/main">
            <a:r>
              <a:rPr sz="1400"/>
              <a:t/>
            </a:r>
          </a:p>
          <a:p xmlns:a="http://schemas.openxmlformats.org/drawingml/2006/main">
            <a:r>
              <a:rPr sz="1400"/>
              <a:t>Uitleg: Volledige vragen c en d. Geef nog geen antwoorden. Zowel cijfers als de gemarkeerde grafiek en verschillende arceringen zijn onderdeel van het gevraagde product.</a:t>
            </a:r>
          </a:p>
          <a:p xmlns:a="http://schemas.openxmlformats.org/drawingml/2006/main">
            <a:r>
              <a:rPr sz="1400"/>
              <a:t/>
            </a:r>
          </a:p>
          <a:p xmlns:a="http://schemas.openxmlformats.org/drawingml/2006/main">
            <a:r>
              <a:rPr sz="1400"/>
              <a:t>Misvatting: De verschoven aanbodlijn is niet de marginalekostenlijn voor het PS.</a:t>
            </a:r>
          </a:p>
          <a:p xmlns:a="http://schemas.openxmlformats.org/drawingml/2006/main">
            <a:r>
              <a:rPr sz="1400"/>
              <a:t/>
            </a:r>
          </a:p>
          <a:p xmlns:a="http://schemas.openxmlformats.org/drawingml/2006/main">
            <a:r>
              <a:rPr sz="1400"/>
              <a:t>Overgang: Toon e en f.</a:t>
            </a:r>
          </a:p>
          <a:p xmlns:a="http://schemas.openxmlformats.org/drawingml/2006/main">
            <a:r>
              <a:rPr sz="1400"/>
              <a:t/>
            </a:r>
          </a:p>
          <a:p xmlns:a="http://schemas.openxmlformats.org/drawingml/2006/main">
            <a:r>
              <a:rPr sz="1400"/>
              <a:t>Bron: Boek 3, books34-v3, actuele versie bij lescommit 9b8304d5031cafac936a56281e144573a25fbbc9, gedrukte boekpagina 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beperking stelt vraag f aan je conclusie?</a:t>
            </a:r>
          </a:p>
          <a:p xmlns:a="http://schemas.openxmlformats.org/drawingml/2006/main">
            <a:r>
              <a:rPr sz="1400"/>
              <a:t/>
            </a:r>
          </a:p>
          <a:p xmlns:a="http://schemas.openxmlformats.org/drawingml/2006/main">
            <a:r>
              <a:rPr sz="1400"/>
              <a:t>Uitleg: Hiermee zijn alle bronnen, de basisgrafiek en alle deelvragen a–f beschikbaar geweest zonder oplossingen. Laat de klas eerst aangeven welke stap ontbreekt in de eigen poging.</a:t>
            </a:r>
          </a:p>
          <a:p xmlns:a="http://schemas.openxmlformats.org/drawingml/2006/main">
            <a:r>
              <a:rPr sz="1400"/>
              <a:t/>
            </a:r>
          </a:p>
          <a:p xmlns:a="http://schemas.openxmlformats.org/drawingml/2006/main">
            <a:r>
              <a:rPr sz="1400"/>
              <a:t>Misvatting: Een conclusie over toegang is geen volledige welvaartsrangschikking.</a:t>
            </a:r>
          </a:p>
          <a:p xmlns:a="http://schemas.openxmlformats.org/drawingml/2006/main">
            <a:r>
              <a:rPr sz="1400"/>
              <a:t/>
            </a:r>
          </a:p>
          <a:p xmlns:a="http://schemas.openxmlformats.org/drawingml/2006/main">
            <a:r>
              <a:rPr sz="1400"/>
              <a:t>Overgang: Begin nu pas de uitwerking, met het vrije evenwicht.</a:t>
            </a:r>
          </a:p>
          <a:p xmlns:a="http://schemas.openxmlformats.org/drawingml/2006/main">
            <a:r>
              <a:rPr sz="1400"/>
              <a:t/>
            </a:r>
          </a:p>
          <a:p xmlns:a="http://schemas.openxmlformats.org/drawingml/2006/main">
            <a:r>
              <a:rPr sz="1400"/>
              <a:t>Bron: Boek 3, books34-v3, actuele versie bij lescommit 9b8304d5031cafac936a56281e144573a25fbbc9, gedrukte boekpagina 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bronwoorden ondersteunen de modelkeuze?</a:t>
            </a:r>
          </a:p>
          <a:p xmlns:a="http://schemas.openxmlformats.org/drawingml/2006/main">
            <a:r>
              <a:rPr sz="1400"/>
              <a:t/>
            </a:r>
          </a:p>
          <a:p xmlns:a="http://schemas.openxmlformats.org/drawingml/2006/main">
            <a:r>
              <a:rPr sz="1400"/>
              <a:t>Uitleg: A is belasting omdat per verkoop geld wordt afgedragen; B is maximumprijs omdat verkopen boven een grens verboden zijn. Gelijkstellen geeft 18 = 0,30Q, dus 60. Ook in aanbod: 6 + 0,10 × 60 = 12. Dit vrije evenwicht is het vergelijkingspunt voor beide afzonderlijke plannen.</a:t>
            </a:r>
          </a:p>
          <a:p xmlns:a="http://schemas.openxmlformats.org/drawingml/2006/main">
            <a:r>
              <a:rPr sz="1400"/>
              <a:t/>
            </a:r>
          </a:p>
          <a:p xmlns:a="http://schemas.openxmlformats.org/drawingml/2006/main">
            <a:r>
              <a:rPr sz="1400"/>
              <a:t>Misvatting: Gebruik bij het vrije evenwicht nog geen belasting of prijsgrens.</a:t>
            </a:r>
          </a:p>
          <a:p xmlns:a="http://schemas.openxmlformats.org/drawingml/2006/main">
            <a:r>
              <a:rPr sz="1400"/>
              <a:t/>
            </a:r>
          </a:p>
          <a:p xmlns:a="http://schemas.openxmlformats.org/drawingml/2006/main">
            <a:r>
              <a:rPr sz="1400"/>
              <a:t>Overgang: Reken eerst plan A volledig uit.</a:t>
            </a:r>
          </a:p>
          <a:p xmlns:a="http://schemas.openxmlformats.org/drawingml/2006/main">
            <a:r>
              <a:rPr sz="1400"/>
              <a:t/>
            </a:r>
          </a:p>
          <a:p xmlns:a="http://schemas.openxmlformats.org/drawingml/2006/main">
            <a:r>
              <a:rPr sz="1400"/>
              <a:t>Bron: Boek 3, books34-v3, actuele versie bij lescommit 9b8304d5031cafac936a56281e144573a25fbbc9, gedrukte boekpagina 50–51.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tel je de belasting bij Pp op?</a:t>
            </a:r>
          </a:p>
          <a:p xmlns:a="http://schemas.openxmlformats.org/drawingml/2006/main">
            <a:r>
              <a:rPr sz="1400"/>
              <a:t/>
            </a:r>
          </a:p>
          <a:p xmlns:a="http://schemas.openxmlformats.org/drawingml/2006/main">
            <a:r>
              <a:rPr sz="1400"/>
              <a:t>Uitleg: De oorspronkelijke aanbodfunctie blijft Pp = 6 + 0,10Q. Aanbod in kopersprijzen ligt 3 hoger. Productiekosten zelf verschuiven niet. Los V = A + t op. De verkochte hoeveelheid daalt van 60 naar 50 bandjes per dag.</a:t>
            </a:r>
          </a:p>
          <a:p xmlns:a="http://schemas.openxmlformats.org/drawingml/2006/main">
            <a:r>
              <a:rPr sz="1400"/>
              <a:t/>
            </a:r>
          </a:p>
          <a:p xmlns:a="http://schemas.openxmlformats.org/drawingml/2006/main">
            <a:r>
              <a:rPr sz="1400"/>
              <a:t>Misvatting: Dit is geen vraagverschuiving.</a:t>
            </a:r>
          </a:p>
          <a:p xmlns:a="http://schemas.openxmlformats.org/drawingml/2006/main">
            <a:r>
              <a:rPr sz="1400"/>
              <a:t/>
            </a:r>
          </a:p>
          <a:p xmlns:a="http://schemas.openxmlformats.org/drawingml/2006/main">
            <a:r>
              <a:rPr sz="1400"/>
              <a:t>Overgang: Bereken beide prijzen bij dezelfde Qt.</a:t>
            </a:r>
          </a:p>
          <a:p xmlns:a="http://schemas.openxmlformats.org/drawingml/2006/main">
            <a:r>
              <a:rPr sz="1400"/>
              <a:t/>
            </a:r>
          </a:p>
          <a:p xmlns:a="http://schemas.openxmlformats.org/drawingml/2006/main">
            <a:r>
              <a:rPr sz="1400"/>
              <a:t>Bron: Boek 3, books34-v3, actuele versie bij lescommit 9b8304d5031cafac936a56281e144573a25fbbc9, gedrukte boekpagina 50–51.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Wie draagt de meeste last, ondanks dat de aanbieder afdraagt?</a:t>
            </a:r>
          </a:p>
          <a:p xmlns:a="http://schemas.openxmlformats.org/drawingml/2006/main">
            <a:r>
              <a:rPr sz="1400"/>
              <a:t/>
            </a:r>
          </a:p>
          <a:p xmlns:a="http://schemas.openxmlformats.org/drawingml/2006/main">
            <a:r>
              <a:rPr sz="1400"/>
              <a:t>Uitleg: Kopers betalen 14, verkopers houden na afdracht 11 over, vóór productiekosten. Beide waarden horen bij Qt = 50. Vergelijk elk met P0 = 12: lasten zijn 2 en 1. Twee controles geven dezelfde belasting. Dit is last per verkochte eenheid, niet de volledige daling in surplus.</a:t>
            </a:r>
          </a:p>
          <a:p xmlns:a="http://schemas.openxmlformats.org/drawingml/2006/main">
            <a:r>
              <a:rPr sz="1400"/>
              <a:t/>
            </a:r>
          </a:p>
          <a:p xmlns:a="http://schemas.openxmlformats.org/drawingml/2006/main">
            <a:r>
              <a:rPr sz="1400"/>
              <a:t>Misvatting: Last verkoper is 12 − 11, niet 14 − 11.</a:t>
            </a:r>
          </a:p>
          <a:p xmlns:a="http://schemas.openxmlformats.org/drawingml/2006/main">
            <a:r>
              <a:rPr sz="1400"/>
              <a:t/>
            </a:r>
          </a:p>
          <a:p xmlns:a="http://schemas.openxmlformats.org/drawingml/2006/main">
            <a:r>
              <a:rPr sz="1400"/>
              <a:t>Overgang: Markeer dezelfde gegevens in de grafiek.</a:t>
            </a:r>
          </a:p>
          <a:p xmlns:a="http://schemas.openxmlformats.org/drawingml/2006/main">
            <a:r>
              <a:rPr sz="1400"/>
              <a:t/>
            </a:r>
          </a:p>
          <a:p xmlns:a="http://schemas.openxmlformats.org/drawingml/2006/main">
            <a:r>
              <a:rPr sz="1400"/>
              <a:t>Bron: Boek 3, books34-v3, actuele versie bij lescommit 9b8304d5031cafac936a56281e144573a25fbbc9, gedrukte boekpagina 50–51.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liggen Pc en Pp op dezelfde verticale lijn?</a:t>
            </a:r>
          </a:p>
          <a:p xmlns:a="http://schemas.openxmlformats.org/drawingml/2006/main">
            <a:r>
              <a:rPr sz="1400"/>
              <a:t/>
            </a:r>
          </a:p>
          <a:p xmlns:a="http://schemas.openxmlformats.org/drawingml/2006/main">
            <a:r>
              <a:rPr sz="1400"/>
              <a:t>Uitleg: Bouw voort op de onbewerkte basisgrafiek. De nieuwe lijn A + t ligt bij elke hoeveelheid 3 euro boven A. Het snijpunt met V geeft Q = 50 en Pc = 14. Daal op dezelfde verticale lijn naar A voor Pp = 11. De rechte wig ligt tussen die twee punten. De vrije hoeveelheid blijft als referentie 60. Eerst prijzen en hoeveelheden; de gebieden volgen na berekening.</a:t>
            </a:r>
          </a:p>
          <a:p xmlns:a="http://schemas.openxmlformats.org/drawingml/2006/main">
            <a:r>
              <a:rPr sz="1400"/>
              <a:t/>
            </a:r>
          </a:p>
          <a:p xmlns:a="http://schemas.openxmlformats.org/drawingml/2006/main">
            <a:r>
              <a:rPr sz="1400"/>
              <a:t>Misvatting: Pp is niet het snijpunt van A met een willekeurige horizontale prijsregel.</a:t>
            </a:r>
          </a:p>
          <a:p xmlns:a="http://schemas.openxmlformats.org/drawingml/2006/main">
            <a:r>
              <a:rPr sz="1400"/>
              <a:t/>
            </a:r>
          </a:p>
          <a:p xmlns:a="http://schemas.openxmlformats.org/drawingml/2006/main">
            <a:r>
              <a:rPr sz="1400"/>
              <a:t>Overgang: Bereken nu de geldbedragen van c.</a:t>
            </a:r>
          </a:p>
          <a:p xmlns:a="http://schemas.openxmlformats.org/drawingml/2006/main">
            <a:r>
              <a:rPr sz="1400"/>
              <a:t/>
            </a:r>
          </a:p>
          <a:p xmlns:a="http://schemas.openxmlformats.org/drawingml/2006/main">
            <a:r>
              <a:rPr sz="1400"/>
              <a:t>Bron: Boek 3, books34-v3, actuele versie bij lescommit 9b8304d5031cafac936a56281e144573a25fbbc9, gedrukte boekpagina 50–51.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bij PS het intercept 6 en niet 9?</a:t>
            </a:r>
          </a:p>
          <a:p xmlns:a="http://schemas.openxmlformats.org/drawingml/2006/main">
            <a:r>
              <a:rPr sz="1400"/>
              <a:t/>
            </a:r>
          </a:p>
          <a:p xmlns:a="http://schemas.openxmlformats.org/drawingml/2006/main">
            <a:r>
              <a:rPr sz="1400"/>
              <a:t>Uitleg: De CS-driehoek heeft basis 50 bandjes per dag en hoogte 10 euro per bandje. De PS-driehoek heeft dezelfde basis, hoogte 5. Overheidsontvangsten zijn hoogte 3 maal basis 50. Alle uitkomsten zijn euro per dag. De eenheden vallen samen tot geld per periode. De oorspronkelijke aanbodlijn geeft de marginale kosten.</a:t>
            </a:r>
          </a:p>
          <a:p xmlns:a="http://schemas.openxmlformats.org/drawingml/2006/main">
            <a:r>
              <a:rPr sz="1400"/>
              <a:t/>
            </a:r>
          </a:p>
          <a:p xmlns:a="http://schemas.openxmlformats.org/drawingml/2006/main">
            <a:r>
              <a:rPr sz="1400"/>
              <a:t>Misvatting: A + t beschrijft de benodigde kopersprijs en is niet de kostengrens van PS.</a:t>
            </a:r>
          </a:p>
          <a:p xmlns:a="http://schemas.openxmlformats.org/drawingml/2006/main">
            <a:r>
              <a:rPr sz="1400"/>
              <a:t/>
            </a:r>
          </a:p>
          <a:p xmlns:a="http://schemas.openxmlformats.org/drawingml/2006/main">
            <a:r>
              <a:rPr sz="1400"/>
              <a:t>Overgang: Neem de overheid mee in de welvaartsvergelijking.</a:t>
            </a:r>
          </a:p>
          <a:p xmlns:a="http://schemas.openxmlformats.org/drawingml/2006/main">
            <a:r>
              <a:rPr sz="1400"/>
              <a:t/>
            </a:r>
          </a:p>
          <a:p xmlns:a="http://schemas.openxmlformats.org/drawingml/2006/main">
            <a:r>
              <a:rPr sz="1400"/>
              <a:t>Bron: Boek 3, books34-v3, actuele versie bij lescommit 9b8304d5031cafac936a56281e144573a25fbbc9, gedrukte boekpagina 50–51.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bedrag zou ontbreken als je alleen CS en PS optelt?</a:t>
            </a:r>
          </a:p>
          <a:p xmlns:a="http://schemas.openxmlformats.org/drawingml/2006/main">
            <a:r>
              <a:rPr sz="1400"/>
              <a:t/>
            </a:r>
          </a:p>
          <a:p xmlns:a="http://schemas.openxmlformats.org/drawingml/2006/main">
            <a:r>
              <a:rPr sz="1400"/>
              <a:t>Uitleg: Zonder maatregel: 540. Met belasting telt O mee: 525. Het verschil 15 is verloren voordeel van gemiste transacties, geen verdwenen belastinggeld. De driehoekscontrole gebruikt de tien niet meer gerealiseerde bandjes. De bron sluit effecten voor buitenstaanders en uitvoeringskosten uit; ga niet speculeren over latere besteding van de inkomsten.</a:t>
            </a:r>
          </a:p>
          <a:p xmlns:a="http://schemas.openxmlformats.org/drawingml/2006/main">
            <a:r>
              <a:rPr sz="1400"/>
              <a:t/>
            </a:r>
          </a:p>
          <a:p xmlns:a="http://schemas.openxmlformats.org/drawingml/2006/main">
            <a:r>
              <a:rPr sz="1400"/>
              <a:t>Misvatting: 150 euro overheidsontvangsten is niet 150 euro verlies.</a:t>
            </a:r>
          </a:p>
          <a:p xmlns:a="http://schemas.openxmlformats.org/drawingml/2006/main">
            <a:r>
              <a:rPr sz="1400"/>
              <a:t/>
            </a:r>
          </a:p>
          <a:p xmlns:a="http://schemas.openxmlformats.org/drawingml/2006/main">
            <a:r>
              <a:rPr sz="1400"/>
              <a:t>Overgang: Koppel O en W aan verschillende gearceerde gebieden.</a:t>
            </a:r>
          </a:p>
          <a:p xmlns:a="http://schemas.openxmlformats.org/drawingml/2006/main">
            <a:r>
              <a:rPr sz="1400"/>
              <a:t/>
            </a:r>
          </a:p>
          <a:p xmlns:a="http://schemas.openxmlformats.org/drawingml/2006/main">
            <a:r>
              <a:rPr sz="1400"/>
              <a:t>Bron: Boek 3, books34-v3, actuele versie bij lescommit 9b8304d5031cafac936a56281e144573a25fbbc9, gedrukte boekpagina 50–51.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transacties horen bij elke arcering?</a:t>
            </a:r>
          </a:p>
          <a:p xmlns:a="http://schemas.openxmlformats.org/drawingml/2006/main">
            <a:r>
              <a:rPr sz="1400"/>
              <a:t/>
            </a:r>
          </a:p>
          <a:p xmlns:a="http://schemas.openxmlformats.org/drawingml/2006/main">
            <a:r>
              <a:rPr sz="1400"/>
              <a:t>Uitleg: O is rechthoek (0,11), (50,11), (50,14), (0,14), verticaal gearceerd. W is driehoek (50,11), (60,12), (50,14), horizontaal gearceerd. De gebieden zijn afzonderlijk benoemd. De hoogte van W is 3 euro; de basis 10 bandjes per dag. Het kleine driehoekje is bewust op dezelfde assen als de basisgrafiek getekend. Label W staat buiten het gebied met een verwijslijn.</a:t>
            </a:r>
          </a:p>
          <a:p xmlns:a="http://schemas.openxmlformats.org/drawingml/2006/main">
            <a:r>
              <a:rPr sz="1400"/>
              <a:t/>
            </a:r>
          </a:p>
          <a:p xmlns:a="http://schemas.openxmlformats.org/drawingml/2006/main">
            <a:r>
              <a:rPr sz="1400"/>
              <a:t>Misvatting: O ligt over verkochte bandjes, W over gemiste bandjes.</a:t>
            </a:r>
          </a:p>
          <a:p xmlns:a="http://schemas.openxmlformats.org/drawingml/2006/main">
            <a:r>
              <a:rPr sz="1400"/>
              <a:t/>
            </a:r>
          </a:p>
          <a:p xmlns:a="http://schemas.openxmlformats.org/drawingml/2006/main">
            <a:r>
              <a:rPr sz="1400"/>
              <a:t>Overgang: Laat plan A los en begin plan B opnieuw bij het vrije evenwicht.</a:t>
            </a:r>
          </a:p>
          <a:p xmlns:a="http://schemas.openxmlformats.org/drawingml/2006/main">
            <a:r>
              <a:rPr sz="1400"/>
              <a:t/>
            </a:r>
          </a:p>
          <a:p xmlns:a="http://schemas.openxmlformats.org/drawingml/2006/main">
            <a:r>
              <a:rPr sz="1400"/>
              <a:t>Bron: Boek 3, books34-v3, actuele versie bij lescommit 9b8304d5031cafac936a56281e144573a25fbbc9, gedrukte boekpagina 50–51.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bronzin rechtvaardigt de veertig werkelijke verkopen?</a:t>
            </a:r>
          </a:p>
          <a:p xmlns:a="http://schemas.openxmlformats.org/drawingml/2006/main">
            <a:r>
              <a:rPr sz="1400"/>
              <a:t/>
            </a:r>
          </a:p>
          <a:p xmlns:a="http://schemas.openxmlformats.org/drawingml/2006/main">
            <a:r>
              <a:rPr sz="1400"/>
              <a:t>Uitleg: Reset: geen belasting, subsidie of opkoop. De vrije prijs 12 is hoger dan het maximum 10, dus bindend. Oplossen van vraag geeft 14 = 0,20Qv, Qv = 70. Aanbod geeft 4 = 0,10Qa, Qa = 40. Alle 40 worden volgens de bron verkocht aan de hoogste betalingsbereidheden. Tekort 30. Geen tweede grafiek vereist.</a:t>
            </a:r>
          </a:p>
          <a:p xmlns:a="http://schemas.openxmlformats.org/drawingml/2006/main">
            <a:r>
              <a:rPr sz="1400"/>
              <a:t/>
            </a:r>
          </a:p>
          <a:p xmlns:a="http://schemas.openxmlformats.org/drawingml/2006/main">
            <a:r>
              <a:rPr sz="1400"/>
              <a:t>Misvatting: Bereken Qa met oorspronkelijke A; A + t hoort alleen bij plan A.</a:t>
            </a:r>
          </a:p>
          <a:p xmlns:a="http://schemas.openxmlformats.org/drawingml/2006/main">
            <a:r>
              <a:rPr sz="1400"/>
              <a:t/>
            </a:r>
          </a:p>
          <a:p xmlns:a="http://schemas.openxmlformats.org/drawingml/2006/main">
            <a:r>
              <a:rPr sz="1400"/>
              <a:t>Overgang: Beoordeel de twee uitspraken met deze cijfers.</a:t>
            </a:r>
          </a:p>
          <a:p xmlns:a="http://schemas.openxmlformats.org/drawingml/2006/main">
            <a:r>
              <a:rPr sz="1400"/>
              <a:t/>
            </a:r>
          </a:p>
          <a:p xmlns:a="http://schemas.openxmlformats.org/drawingml/2006/main">
            <a:r>
              <a:rPr sz="1400"/>
              <a:t>Bron: Boek 3, books34-v3, actuele versie bij lescommit 9b8304d5031cafac936a56281e144573a25fbbc9, gedrukte boekpagina 50–51.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berekening weerlegt welk deel van de claim?</a:t>
            </a:r>
          </a:p>
          <a:p xmlns:a="http://schemas.openxmlformats.org/drawingml/2006/main">
            <a:r>
              <a:rPr sz="1400"/>
              <a:t/>
            </a:r>
          </a:p>
          <a:p xmlns:a="http://schemas.openxmlformats.org/drawingml/2006/main">
            <a:r>
              <a:rPr sz="1400"/>
              <a:t>Uitleg: Eerste deel: betaalbaar tegen 10 betekent niet verkrijgbaar voor iedereen; 30 gewenste aankopen gaan niet door. Tweede deel: het geld bij de overheid is een overdracht, slechts 15 aan voordeel ontstaat niet meer. Elk deel bevat minimaal één expliciete berekening.</a:t>
            </a:r>
          </a:p>
          <a:p xmlns:a="http://schemas.openxmlformats.org/drawingml/2006/main">
            <a:r>
              <a:rPr sz="1400"/>
              <a:t/>
            </a:r>
          </a:p>
          <a:p xmlns:a="http://schemas.openxmlformats.org/drawingml/2006/main">
            <a:r>
              <a:rPr sz="1400"/>
              <a:t>Misvatting: Zeg niet alleen dat de claim fout is: noem brongegeven, berekening en gevolg.</a:t>
            </a:r>
          </a:p>
          <a:p xmlns:a="http://schemas.openxmlformats.org/drawingml/2006/main">
            <a:r>
              <a:rPr sz="1400"/>
              <a:t/>
            </a:r>
          </a:p>
          <a:p xmlns:a="http://schemas.openxmlformats.org/drawingml/2006/main">
            <a:r>
              <a:rPr sz="1400"/>
              <a:t>Overgang: Vergelijk één concreet verschil voor kopers.</a:t>
            </a:r>
          </a:p>
          <a:p xmlns:a="http://schemas.openxmlformats.org/drawingml/2006/main">
            <a:r>
              <a:rPr sz="1400"/>
              <a:t/>
            </a:r>
          </a:p>
          <a:p xmlns:a="http://schemas.openxmlformats.org/drawingml/2006/main">
            <a:r>
              <a:rPr sz="1400"/>
              <a:t>Bron: Boek 3, books34-v3, actuele versie bij lescommit 9b8304d5031cafac936a56281e144573a25fbbc9, gedrukte boekpagina 50–51.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kopers profiteren van de lagere prijs?</a:t>
            </a:r>
          </a:p>
          <a:p xmlns:a="http://schemas.openxmlformats.org/drawingml/2006/main">
            <a:r>
              <a:rPr sz="1400"/>
              <a:t/>
            </a:r>
          </a:p>
          <a:p xmlns:a="http://schemas.openxmlformats.org/drawingml/2006/main">
            <a:r>
              <a:rPr sz="1400"/>
              <a:t>Uitleg: De lagere prijs geldt voor wie een bandje bemachtigt. Onder B gaan 40 transacties door, onder A 50. Prijsverschil 14 − 10 = 4 euro; verschil in verkopen 50 − 40 = 10 bandjes per dag. De bron verdeelt onder B op hoogste betalingsbereidheid. Geen niet-berekend oordeel over totale welvaart onder B toevoegen. Laat leerlingen hun eigen volledige a–f nalopen en één ontbrekende stap verbeteren.</a:t>
            </a:r>
          </a:p>
          <a:p xmlns:a="http://schemas.openxmlformats.org/drawingml/2006/main">
            <a:r>
              <a:rPr sz="1400"/>
              <a:t/>
            </a:r>
          </a:p>
          <a:p xmlns:a="http://schemas.openxmlformats.org/drawingml/2006/main">
            <a:r>
              <a:rPr sz="1400"/>
              <a:t>Misvatting: Een groepsgemiddelde of lagere prijs betekent niet dat iedere koper beter af is.</a:t>
            </a:r>
          </a:p>
          <a:p xmlns:a="http://schemas.openxmlformats.org/drawingml/2006/main">
            <a:r>
              <a:rPr sz="1400"/>
              <a:t/>
            </a:r>
          </a:p>
          <a:p xmlns:a="http://schemas.openxmlformats.org/drawingml/2006/main">
            <a:r>
              <a:rPr sz="1400"/>
              <a:t>Overgang: Ga naar afsluiting en huiswerk.</a:t>
            </a:r>
          </a:p>
          <a:p xmlns:a="http://schemas.openxmlformats.org/drawingml/2006/main">
            <a:r>
              <a:rPr sz="1400"/>
              <a:t/>
            </a:r>
          </a:p>
          <a:p xmlns:a="http://schemas.openxmlformats.org/drawingml/2006/main">
            <a:r>
              <a:rPr sz="1400"/>
              <a:t>Bron: Boek 3, books34-v3, actuele versie bij lescommit 9b8304d5031cafac936a56281e144573a25fbbc9, gedrukte boekpagina 50–51.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bronzin bepaalt jouw rekenroute?</a:t>
            </a:r>
          </a:p>
          <a:p xmlns:a="http://schemas.openxmlformats.org/drawingml/2006/main">
            <a:r>
              <a:rPr sz="1400"/>
              <a:t/>
            </a:r>
          </a:p>
          <a:p xmlns:a="http://schemas.openxmlformats.org/drawingml/2006/main">
            <a:r>
              <a:rPr sz="1400"/>
              <a:t>Uitleg: Laat deze dia staan tijdens afsluiting / huiswerk. Start is de eerste echte opgave, nummer 46 op boekpagina 48. Geen hernummering tot opgave 1. Geen afzonderlijke basis- of zelfstandige sectie: verder met 47 op p.48 en 47A op p.49; doel is 48 op p.50–51. Huiswerk volgens de classroomroute: alle gemengde opgaven 46, 47, 47A en 48 maken en nakijken. 47A houdt het bronlabel extra; er is geen bonus of herhalingssectie. De volledige route is niet als één les getimed. Start 46 vraagt eerder onderwezen bewerkingen: belastingwig (§3.1.1 p.6–9), subsidie over alle verkochte eenheden (§3.1.3 p.23–25), binding en hoeveelheden maximumprijs (§3.1.4 p.32–34), quotumprijs op V (§3.1.5 p.41–42). Laat bij twijfel de uitleg gebruiken, geen nieuwe procedure zelf ontdekken. Keer vóór verder oefenen terug naar hun vastgelopen startstap. Kies 48 voor de bespreking omdat modelkeuze, twee prijzen, budget, oppervlakten en een bronconclusie daarin samenkomen.</a:t>
            </a:r>
          </a:p>
          <a:p xmlns:a="http://schemas.openxmlformats.org/drawingml/2006/main">
            <a:r>
              <a:rPr sz="1400"/>
              <a:t/>
            </a:r>
          </a:p>
          <a:p xmlns:a="http://schemas.openxmlformats.org/drawingml/2006/main">
            <a:r>
              <a:rPr sz="1400"/>
              <a:t>Misvatting: De hoofdstukbron noemt pagina 44–47; in het volledige boek zijn de gedrukte pagina’s 48–51.</a:t>
            </a:r>
          </a:p>
          <a:p xmlns:a="http://schemas.openxmlformats.org/drawingml/2006/main">
            <a:r>
              <a:rPr sz="1400"/>
              <a:t/>
            </a:r>
          </a:p>
          <a:p xmlns:a="http://schemas.openxmlformats.org/drawingml/2006/main">
            <a:r>
              <a:rPr sz="1400"/>
              <a:t>Overgang: Noteer het volledige huiswerk.</a:t>
            </a:r>
          </a:p>
          <a:p xmlns:a="http://schemas.openxmlformats.org/drawingml/2006/main">
            <a:r>
              <a:rPr sz="1400"/>
              <a:t/>
            </a:r>
          </a:p>
          <a:p xmlns:a="http://schemas.openxmlformats.org/drawingml/2006/main">
            <a:r>
              <a:rPr sz="1400"/>
              <a:t>Bron: Boek 3, books34-v3, actuele versie bij lescommit 9b8304d5031cafac936a56281e144573a25fbbc9, gedrukte boekpagina 48–51. https://github.com/meijer1973/4veco-lessen/blob/9b8304d5031cafac936a56281e144573a25fbbc9/edities/books34-v3/books/book-3/output/Boek_3_Compleet_v3.pdf</a:t>
            </a:r>
          </a:p>
          <a:p xmlns:a="http://schemas.openxmlformats.org/drawingml/2006/main">
            <a:r>
              <a:rPr sz="1400"/>
              <a:t>Antwoordmodel boekopgaven: https://github.com/meijer1973/4veco-lessen/blob/9b8304d5031cafac936a56281e144573a25fbbc9/edities/books34-v3/books/book-3/chapters/3.1/Antwoorden.md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40c415502d46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81400198524fe1" /><Relationship Type="http://schemas.openxmlformats.org/officeDocument/2006/relationships/slideLayout" Target="/ppt/slideLayouts/slideLayout1.xml" Id="Rdac67daa12ff48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c67daa12ff48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b278f78bdd4cd1" /><Relationship Type="http://schemas.openxmlformats.org/officeDocument/2006/relationships/notesSlide" Target="/ppt/notesSlides/notesSlide1.xml" Id="Rb17e8367eccd45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3df6020bfe4267" /><Relationship Type="http://schemas.openxmlformats.org/officeDocument/2006/relationships/notesSlide" Target="/ppt/notesSlides/notesSlide2.xml" Id="Re655ef43ae914d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f137234366400b" /><Relationship Type="http://schemas.openxmlformats.org/officeDocument/2006/relationships/notesSlide" Target="/ppt/notesSlides/notesSlide3.xml" Id="R2dda072f64f548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2b62f22e6845e3" /><Relationship Type="http://schemas.openxmlformats.org/officeDocument/2006/relationships/chart" Target="/ppt/slides/charts/chart1.xml" Id="Rf9fa6d4de1224c3d" /><Relationship Type="http://schemas.openxmlformats.org/officeDocument/2006/relationships/notesSlide" Target="/ppt/notesSlides/notesSlide4.xml" Id="R9b610815b5dc46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fba1fbbd75458c" /><Relationship Type="http://schemas.openxmlformats.org/officeDocument/2006/relationships/notesSlide" Target="/ppt/notesSlides/notesSlide5.xml" Id="R1f4ccc2e34cd41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1ff678251d41a0" /><Relationship Type="http://schemas.openxmlformats.org/officeDocument/2006/relationships/notesSlide" Target="/ppt/notesSlides/notesSlide6.xml" Id="R26a79428bfc44d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85aa52488f4ec2" /><Relationship Type="http://schemas.openxmlformats.org/officeDocument/2006/relationships/notesSlide" Target="/ppt/notesSlides/notesSlide7.xml" Id="R721441f69fe247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3d7390faaf43b6" /><Relationship Type="http://schemas.openxmlformats.org/officeDocument/2006/relationships/chart" Target="/ppt/slides/charts/chart2.xml" Id="R8c483a6ef5734f31" /><Relationship Type="http://schemas.openxmlformats.org/officeDocument/2006/relationships/notesSlide" Target="/ppt/notesSlides/notesSlide8.xml" Id="R8a9ed77772bf49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3b476de01804127" /><Relationship Type="http://schemas.openxmlformats.org/officeDocument/2006/relationships/notesSlide" Target="/ppt/notesSlides/notesSlide9.xml" Id="Ra486ae2c164043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9774119d40f463d" /><Relationship Type="http://schemas.openxmlformats.org/officeDocument/2006/relationships/notesSlide" Target="/ppt/notesSlides/notesSlide10.xml" Id="R31c99c671f794f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34617a62eb448e6" /><Relationship Type="http://schemas.openxmlformats.org/officeDocument/2006/relationships/notesSlide" Target="/ppt/notesSlides/notesSlide11.xml" Id="R42bcaf455e2144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e3c908941bb439e" /><Relationship Type="http://schemas.openxmlformats.org/officeDocument/2006/relationships/notesSlide" Target="/ppt/notesSlides/notesSlide12.xml" Id="R5f2b39dd131d49a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bf64593666e476c" /><Relationship Type="http://schemas.openxmlformats.org/officeDocument/2006/relationships/notesSlide" Target="/ppt/notesSlides/notesSlide13.xml" Id="Re9d3abff1002451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2b076303c9e4991" /><Relationship Type="http://schemas.openxmlformats.org/officeDocument/2006/relationships/notesSlide" Target="/ppt/notesSlides/notesSlide14.xml" Id="R8d4e5271f4cd4e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a35df9ee85d45be" /><Relationship Type="http://schemas.openxmlformats.org/officeDocument/2006/relationships/chart" Target="/ppt/slides/charts/chart3.xml" Id="R50634ba1d6a241ad" /><Relationship Type="http://schemas.openxmlformats.org/officeDocument/2006/relationships/notesSlide" Target="/ppt/notesSlides/notesSlide15.xml" Id="R16f959a81ca2451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ebef2c2586946b6" /><Relationship Type="http://schemas.openxmlformats.org/officeDocument/2006/relationships/notesSlide" Target="/ppt/notesSlides/notesSlide16.xml" Id="Rae678d772ed644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a41c250b7664c8f" /><Relationship Type="http://schemas.openxmlformats.org/officeDocument/2006/relationships/notesSlide" Target="/ppt/notesSlides/notesSlide17.xml" Id="R43f595bb853b443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bd081799504410e" /><Relationship Type="http://schemas.openxmlformats.org/officeDocument/2006/relationships/chart" Target="/ppt/slides/charts/chart4.xml" Id="Re167dc4263814430" /><Relationship Type="http://schemas.openxmlformats.org/officeDocument/2006/relationships/notesSlide" Target="/ppt/notesSlides/notesSlide18.xml" Id="Rfd3ab9bf49b64e3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72cd51fad0e4e3b" /><Relationship Type="http://schemas.openxmlformats.org/officeDocument/2006/relationships/notesSlide" Target="/ppt/notesSlides/notesSlide19.xml" Id="R6fa452d2be184ef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d65dc6b98044af7" /><Relationship Type="http://schemas.openxmlformats.org/officeDocument/2006/relationships/notesSlide" Target="/ppt/notesSlides/notesSlide20.xml" Id="R90929067d2d8484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008ad58df2b4028" /><Relationship Type="http://schemas.openxmlformats.org/officeDocument/2006/relationships/notesSlide" Target="/ppt/notesSlides/notesSlide21.xml" Id="R160cd6513d7c433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5c0e1a156d54d01" /><Relationship Type="http://schemas.openxmlformats.org/officeDocument/2006/relationships/notesSlide" Target="/ppt/notesSlides/notesSlide22.xml" Id="Rb7a90a1521904ec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c:v>
          </c:tx>
          <c:spPr>
            <ns1:ln w="38100">
              <ns1:solidFill>
                <ns1:srgbClr val="1A5276"/>
              </ns1:solidFill>
            </ns1:ln>
          </c:spPr>
          <c:marker>
            <c:symbol val="none"/>
          </c:marker>
          <c:xVal>
            <c:numRef>
              <c:f>'Chart Data'!$A$2:$A$3</c:f>
              <c:numCache>
                <c:formatCode>General</c:formatCode>
                <c:ptCount val="2"/>
                <c:pt idx="0">
                  <c:v>0</c:v>
                </c:pt>
                <c:pt idx="1">
                  <c:v>80</c:v>
                </c:pt>
              </c:numCache>
            </c:numRef>
          </c:xVal>
          <c:yVal>
            <c:numRef>
              <c:f>'Chart Data'!$B$2:$B$3</c:f>
              <c:numCache>
                <c:formatCode>0</c:formatCode>
                <c:ptCount val="2"/>
                <c:pt idx="0">
                  <c:v>18</c:v>
                </c:pt>
                <c:pt idx="1">
                  <c:v>2</c:v>
                </c:pt>
              </c:numCache>
            </c:numRef>
          </c:yVal>
        </c:ser>
        <c:ser>
          <c:idx val="1"/>
          <c:order val="1"/>
          <c:tx>
            <c:v>A</c:v>
          </c:tx>
          <c:spPr>
            <ns1:ln w="38100">
              <ns1:solidFill>
                <ns1:srgbClr val="1E8449"/>
              </ns1:solidFill>
            </ns1:ln>
          </c:spPr>
          <c:marker>
            <c:symbol val="none"/>
          </c:marker>
          <c:xVal>
            <c:numRef>
              <c:f>'Chart Data'!$C$2:$C$3</c:f>
              <c:numCache>
                <c:formatCode>General</c:formatCode>
                <c:ptCount val="2"/>
                <c:pt idx="0">
                  <c:v>0</c:v>
                </c:pt>
                <c:pt idx="1">
                  <c:v>80</c:v>
                </c:pt>
              </c:numCache>
            </c:numRef>
          </c:xVal>
          <c:yVal>
            <c:numRef>
              <c:f>'Chart Data'!$D$2:$D$3</c:f>
              <c:numCache>
                <c:formatCode>0</c:formatCode>
                <c:ptCount val="2"/>
                <c:pt idx="0">
                  <c:v>2</c:v>
                </c:pt>
                <c:pt idx="1">
                  <c:v>18</c:v>
                </c:pt>
              </c:numCache>
            </c:numRef>
          </c:yVal>
        </c:ser>
        <c:ser>
          <c:idx val="2"/>
          <c:order val="2"/>
          <c:tx>
            <c:v>A + t</c:v>
          </c:tx>
          <c:spPr>
            <ns1:ln w="38100">
              <ns1:solidFill>
                <ns1:srgbClr val="A94D16"/>
              </ns1:solidFill>
            </ns1:ln>
          </c:spPr>
          <c:marker>
            <c:symbol val="none"/>
          </c:marker>
          <c:xVal>
            <c:numRef>
              <c:f>'Chart Data'!$E$2:$E$3</c:f>
              <c:numCache>
                <c:formatCode>General</c:formatCode>
                <c:ptCount val="2"/>
                <c:pt idx="0">
                  <c:v>0</c:v>
                </c:pt>
                <c:pt idx="1">
                  <c:v>80</c:v>
                </c:pt>
              </c:numCache>
            </c:numRef>
          </c:xVal>
          <c:yVal>
            <c:numRef>
              <c:f>'Chart Data'!$F$2:$F$3</c:f>
              <c:numCache>
                <c:formatCode>0</c:formatCode>
                <c:ptCount val="2"/>
                <c:pt idx="0">
                  <c:v>6</c:v>
                </c:pt>
                <c:pt idx="1">
                  <c:v>22</c:v>
                </c:pt>
              </c:numCache>
            </c:numRef>
          </c:yVal>
        </c:ser>
        <c:ser>
          <c:idx val="3"/>
          <c:order val="3"/>
          <c:tx>
            <c:v>Pc</c:v>
          </c:tx>
          <c:spPr>
            <ns1:ln w="14288">
              <ns1:solidFill>
                <ns1:srgbClr val="445B6B"/>
              </ns1:solidFill>
              <ns1:prstDash val="dash"/>
            </ns1:ln>
          </c:spPr>
          <c:marker>
            <c:symbol val="none"/>
          </c:marker>
          <c:xVal>
            <c:numRef>
              <c:f>'Chart Data'!$G$2:$G$3</c:f>
              <c:numCache>
                <c:formatCode>General</c:formatCode>
                <c:ptCount val="2"/>
                <c:pt idx="0">
                  <c:v>0</c:v>
                </c:pt>
                <c:pt idx="1">
                  <c:v>30</c:v>
                </c:pt>
              </c:numCache>
            </c:numRef>
          </c:xVal>
          <c:yVal>
            <c:numRef>
              <c:f>'Chart Data'!$H$2:$H$3</c:f>
              <c:numCache>
                <c:formatCode>0</c:formatCode>
                <c:ptCount val="2"/>
                <c:pt idx="0">
                  <c:v>12</c:v>
                </c:pt>
                <c:pt idx="1">
                  <c:v>12</c:v>
                </c:pt>
              </c:numCache>
            </c:numRef>
          </c:yVal>
        </c:ser>
        <c:ser>
          <c:idx val="4"/>
          <c:order val="4"/>
          <c:tx>
            <c:v>Pp</c:v>
          </c:tx>
          <c:spPr>
            <ns1:ln w="14288">
              <ns1:solidFill>
                <ns1:srgbClr val="445B6B"/>
              </ns1:solidFill>
              <ns1:prstDash val="dash"/>
            </ns1:ln>
          </c:spPr>
          <c:marker>
            <c:symbol val="none"/>
          </c:marker>
          <c:xVal>
            <c:numRef>
              <c:f>'Chart Data'!$I$2:$I$3</c:f>
              <c:numCache>
                <c:formatCode>General</c:formatCode>
                <c:ptCount val="2"/>
                <c:pt idx="0">
                  <c:v>0</c:v>
                </c:pt>
                <c:pt idx="1">
                  <c:v>30</c:v>
                </c:pt>
              </c:numCache>
            </c:numRef>
          </c:xVal>
          <c:yVal>
            <c:numRef>
              <c:f>'Chart Data'!$J$2:$J$3</c:f>
              <c:numCache>
                <c:formatCode>0</c:formatCode>
                <c:ptCount val="2"/>
                <c:pt idx="0">
                  <c:v>8</c:v>
                </c:pt>
                <c:pt idx="1">
                  <c:v>8</c:v>
                </c:pt>
              </c:numCache>
            </c:numRef>
          </c:yVal>
        </c:ser>
        <c:ser>
          <c:idx val="5"/>
          <c:order val="5"/>
          <c:tx>
            <c:v>Qt</c:v>
          </c:tx>
          <c:spPr>
            <ns1:ln w="14288">
              <ns1:solidFill>
                <ns1:srgbClr val="445B6B"/>
              </ns1:solidFill>
              <ns1:prstDash val="dash"/>
            </ns1:ln>
          </c:spPr>
          <c:marker>
            <c:symbol val="none"/>
          </c:marker>
          <c:xVal>
            <c:numRef>
              <c:f>'Chart Data'!$K$2:$K$3</c:f>
              <c:numCache>
                <c:formatCode>General</c:formatCode>
                <c:ptCount val="2"/>
                <c:pt idx="0">
                  <c:v>30</c:v>
                </c:pt>
                <c:pt idx="1">
                  <c:v>30</c:v>
                </c:pt>
              </c:numCache>
            </c:numRef>
          </c:xVal>
          <c:yVal>
            <c:numRef>
              <c:f>'Chart Data'!$L$2:$L$3</c:f>
              <c:numCache>
                <c:formatCode>0</c:formatCode>
                <c:ptCount val="2"/>
                <c:pt idx="0">
                  <c:v>0</c:v>
                </c:pt>
                <c:pt idx="1">
                  <c:v>12</c:v>
                </c:pt>
              </c:numCache>
            </c:numRef>
          </c:yVal>
        </c:ser>
        <c:ser>
          <c:idx val="6"/>
          <c:order val="6"/>
          <c:tx>
            <c:v>Q0</c:v>
          </c:tx>
          <c:spPr>
            <ns1:ln w="14288">
              <ns1:solidFill>
                <ns1:srgbClr val="445B6B"/>
              </ns1:solidFill>
              <ns1:prstDash val="dash"/>
            </ns1:ln>
          </c:spPr>
          <c:marker>
            <c:symbol val="none"/>
          </c:marker>
          <c:xVal>
            <c:numRef>
              <c:f>'Chart Data'!$M$2:$M$3</c:f>
              <c:numCache>
                <c:formatCode>General</c:formatCode>
                <c:ptCount val="2"/>
                <c:pt idx="0">
                  <c:v>40</c:v>
                </c:pt>
                <c:pt idx="1">
                  <c:v>40</c:v>
                </c:pt>
              </c:numCache>
            </c:numRef>
          </c:xVal>
          <c:yVal>
            <c:numRef>
              <c:f>'Chart Data'!$N$2:$N$3</c:f>
              <c:numCache>
                <c:formatCode>0</c:formatCode>
                <c:ptCount val="2"/>
                <c:pt idx="0">
                  <c:v>0</c:v>
                </c:pt>
                <c:pt idx="1">
                  <c:v>10</c:v>
                </c:pt>
              </c:numCache>
            </c:numRef>
          </c:yVal>
        </c:ser>
        <c:ser>
          <c:idx val="7"/>
          <c:order val="7"/>
          <c:tx>
            <c:v>Wig</c:v>
          </c:tx>
          <c:spPr>
            <ns1:ln w="38100">
              <ns1:solidFill>
                <ns1:srgbClr val="A94D16"/>
              </ns1:solidFill>
            </ns1:ln>
          </c:spPr>
          <c:marker>
            <c:symbol val="none"/>
          </c:marker>
          <c:xVal>
            <c:numRef>
              <c:f>'Chart Data'!$O$2:$O$3</c:f>
              <c:numCache>
                <c:formatCode>General</c:formatCode>
                <c:ptCount val="2"/>
                <c:pt idx="0">
                  <c:v>30</c:v>
                </c:pt>
                <c:pt idx="1">
                  <c:v>30</c:v>
                </c:pt>
              </c:numCache>
            </c:numRef>
          </c:xVal>
          <c:yVal>
            <c:numRef>
              <c:f>'Chart Data'!$P$2:$P$3</c:f>
              <c:numCache>
                <c:formatCode>0</c:formatCode>
                <c:ptCount val="2"/>
                <c:pt idx="0">
                  <c:v>8</c:v>
                </c:pt>
                <c:pt idx="1">
                  <c:v>12</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 per kaars)</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4"/>
      </c:valAx>
      <c:valAx>
        <c:axId val="48650112"/>
        <c:scaling>
          <c:orientation val="minMax"/>
          <c:max val="80"/>
          <c:min val="0"/>
        </c:scaling>
        <c:delete val="0"/>
        <c:axPos val="b"/>
        <c:title>
          <c:tx>
            <c:rich>
              <ns1:bodyPr/>
              <ns1:lstStyle/>
              <ns1:p>
                <ns1:r>
                  <ns1:rPr sz="1875">
                    <ns1:solidFill>
                      <ns1:srgbClr val="183247"/>
                    </ns1:solidFill>
                    <ns1:latin typeface="Arial"/>
                    <ns1:ea typeface="Arial"/>
                    <ns1:cs typeface="Arial"/>
                  </ns1:rPr>
                  <ns1:t>Q (kaarsen per week)</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20"/>
      </c:valAx>
      <c:spPr>
        <ns1:noFill/>
      </c:spPr>
    </c:plotArea>
    <c:plotVisOnly val="1"/>
  </c:chart>
  <c:spPr>
    <ns1:noFill/>
  </c:spPr>
  <c:externalData r:id="rIdChartSnapshot1">
    <c:autoUpdate val="0"/>
  </c:externalData>
</c:chartSpace>
</file>

<file path=ppt/slides/charts/chart2.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c:v>
          </c:tx>
          <c:spPr>
            <ns1:ln w="38100">
              <ns1:solidFill>
                <ns1:srgbClr val="1A5276"/>
              </ns1:solidFill>
            </ns1:ln>
          </c:spPr>
          <c:marker>
            <c:symbol val="none"/>
          </c:marker>
          <c:xVal>
            <c:numRef>
              <c:f>'Chart Data'!$A$2:$A$3</c:f>
              <c:numCache>
                <c:formatCode>General</c:formatCode>
                <c:ptCount val="2"/>
                <c:pt idx="0">
                  <c:v>0</c:v>
                </c:pt>
                <c:pt idx="1">
                  <c:v>120</c:v>
                </c:pt>
              </c:numCache>
            </c:numRef>
          </c:xVal>
          <c:yVal>
            <c:numRef>
              <c:f>'Chart Data'!$B$2:$B$3</c:f>
              <c:numCache>
                <c:formatCode>0</c:formatCode>
                <c:ptCount val="2"/>
                <c:pt idx="0">
                  <c:v>24</c:v>
                </c:pt>
                <c:pt idx="1">
                  <c:v>0</c:v>
                </c:pt>
              </c:numCache>
            </c:numRef>
          </c:yVal>
        </c:ser>
        <c:ser>
          <c:idx val="1"/>
          <c:order val="1"/>
          <c:tx>
            <c:v>A</c:v>
          </c:tx>
          <c:spPr>
            <ns1:ln w="38100">
              <ns1:solidFill>
                <ns1:srgbClr val="1E8449"/>
              </ns1:solidFill>
            </ns1:ln>
          </c:spPr>
          <c:marker>
            <c:symbol val="none"/>
          </c:marker>
          <c:xVal>
            <c:numRef>
              <c:f>'Chart Data'!$C$2:$C$3</c:f>
              <c:numCache>
                <c:formatCode>General</c:formatCode>
                <c:ptCount val="2"/>
                <c:pt idx="0">
                  <c:v>0</c:v>
                </c:pt>
                <c:pt idx="1">
                  <c:v>120</c:v>
                </c:pt>
              </c:numCache>
            </c:numRef>
          </c:xVal>
          <c:yVal>
            <c:numRef>
              <c:f>'Chart Data'!$D$2:$D$3</c:f>
              <c:numCache>
                <c:formatCode>0</c:formatCode>
                <c:ptCount val="2"/>
                <c:pt idx="0">
                  <c:v>6</c:v>
                </c:pt>
                <c:pt idx="1">
                  <c:v>18</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6"/>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 per bandje)</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5"/>
      </c:valAx>
      <c:valAx>
        <c:axId val="48650112"/>
        <c:scaling>
          <c:orientation val="minMax"/>
          <c:max val="120"/>
          <c:min val="0"/>
        </c:scaling>
        <c:delete val="0"/>
        <c:axPos val="b"/>
        <c:title>
          <c:tx>
            <c:rich>
              <ns1:bodyPr/>
              <ns1:lstStyle/>
              <ns1:p>
                <ns1:r>
                  <ns1:rPr sz="1875">
                    <ns1:solidFill>
                      <ns1:srgbClr val="183247"/>
                    </ns1:solidFill>
                    <ns1:latin typeface="Arial"/>
                    <ns1:ea typeface="Arial"/>
                    <ns1:cs typeface="Arial"/>
                  </ns1:rPr>
                  <ns1:t>Q (bandjes per dag)</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20"/>
      </c:valAx>
      <c:spPr>
        <ns1:noFill/>
      </c:spPr>
    </c:plotArea>
    <c:plotVisOnly val="1"/>
  </c:chart>
  <c:spPr>
    <ns1:noFill/>
  </c:spPr>
  <c:externalData r:id="rIdChartSnapshot1">
    <c:autoUpdate val="0"/>
  </c:externalData>
</c:chartSpace>
</file>

<file path=ppt/slides/charts/chart3.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c:v>
          </c:tx>
          <c:spPr>
            <ns1:ln w="38100">
              <ns1:solidFill>
                <ns1:srgbClr val="1A5276"/>
              </ns1:solidFill>
            </ns1:ln>
          </c:spPr>
          <c:marker>
            <c:symbol val="none"/>
          </c:marker>
          <c:xVal>
            <c:numRef>
              <c:f>'Chart Data'!$A$2:$A$3</c:f>
              <c:numCache>
                <c:formatCode>General</c:formatCode>
                <c:ptCount val="2"/>
                <c:pt idx="0">
                  <c:v>0</c:v>
                </c:pt>
                <c:pt idx="1">
                  <c:v>120</c:v>
                </c:pt>
              </c:numCache>
            </c:numRef>
          </c:xVal>
          <c:yVal>
            <c:numRef>
              <c:f>'Chart Data'!$B$2:$B$3</c:f>
              <c:numCache>
                <c:formatCode>0</c:formatCode>
                <c:ptCount val="2"/>
                <c:pt idx="0">
                  <c:v>24</c:v>
                </c:pt>
                <c:pt idx="1">
                  <c:v>0</c:v>
                </c:pt>
              </c:numCache>
            </c:numRef>
          </c:yVal>
        </c:ser>
        <c:ser>
          <c:idx val="1"/>
          <c:order val="1"/>
          <c:tx>
            <c:v>A</c:v>
          </c:tx>
          <c:spPr>
            <ns1:ln w="38100">
              <ns1:solidFill>
                <ns1:srgbClr val="1E8449"/>
              </ns1:solidFill>
            </ns1:ln>
          </c:spPr>
          <c:marker>
            <c:symbol val="none"/>
          </c:marker>
          <c:xVal>
            <c:numRef>
              <c:f>'Chart Data'!$C$2:$C$3</c:f>
              <c:numCache>
                <c:formatCode>General</c:formatCode>
                <c:ptCount val="2"/>
                <c:pt idx="0">
                  <c:v>0</c:v>
                </c:pt>
                <c:pt idx="1">
                  <c:v>120</c:v>
                </c:pt>
              </c:numCache>
            </c:numRef>
          </c:xVal>
          <c:yVal>
            <c:numRef>
              <c:f>'Chart Data'!$D$2:$D$3</c:f>
              <c:numCache>
                <c:formatCode>0</c:formatCode>
                <c:ptCount val="2"/>
                <c:pt idx="0">
                  <c:v>6</c:v>
                </c:pt>
                <c:pt idx="1">
                  <c:v>18</c:v>
                </c:pt>
              </c:numCache>
            </c:numRef>
          </c:yVal>
        </c:ser>
        <c:ser>
          <c:idx val="2"/>
          <c:order val="2"/>
          <c:tx>
            <c:v>A + t</c:v>
          </c:tx>
          <c:spPr>
            <ns1:ln w="38100">
              <ns1:solidFill>
                <ns1:srgbClr val="A94D16"/>
              </ns1:solidFill>
            </ns1:ln>
          </c:spPr>
          <c:marker>
            <c:symbol val="none"/>
          </c:marker>
          <c:xVal>
            <c:numRef>
              <c:f>'Chart Data'!$E$2:$E$3</c:f>
              <c:numCache>
                <c:formatCode>General</c:formatCode>
                <c:ptCount val="2"/>
                <c:pt idx="0">
                  <c:v>0</c:v>
                </c:pt>
                <c:pt idx="1">
                  <c:v>120</c:v>
                </c:pt>
              </c:numCache>
            </c:numRef>
          </c:xVal>
          <c:yVal>
            <c:numRef>
              <c:f>'Chart Data'!$F$2:$F$3</c:f>
              <c:numCache>
                <c:formatCode>0</c:formatCode>
                <c:ptCount val="2"/>
                <c:pt idx="0">
                  <c:v>9</c:v>
                </c:pt>
                <c:pt idx="1">
                  <c:v>21</c:v>
                </c:pt>
              </c:numCache>
            </c:numRef>
          </c:yVal>
        </c:ser>
        <c:ser>
          <c:idx val="3"/>
          <c:order val="3"/>
          <c:tx>
            <c:v>Pc</c:v>
          </c:tx>
          <c:spPr>
            <ns1:ln w="14288">
              <ns1:solidFill>
                <ns1:srgbClr val="445B6B"/>
              </ns1:solidFill>
              <ns1:prstDash val="dash"/>
            </ns1:ln>
          </c:spPr>
          <c:marker>
            <c:symbol val="none"/>
          </c:marker>
          <c:xVal>
            <c:numRef>
              <c:f>'Chart Data'!$G$2:$G$3</c:f>
              <c:numCache>
                <c:formatCode>General</c:formatCode>
                <c:ptCount val="2"/>
                <c:pt idx="0">
                  <c:v>0</c:v>
                </c:pt>
                <c:pt idx="1">
                  <c:v>50</c:v>
                </c:pt>
              </c:numCache>
            </c:numRef>
          </c:xVal>
          <c:yVal>
            <c:numRef>
              <c:f>'Chart Data'!$H$2:$H$3</c:f>
              <c:numCache>
                <c:formatCode>0</c:formatCode>
                <c:ptCount val="2"/>
                <c:pt idx="0">
                  <c:v>14</c:v>
                </c:pt>
                <c:pt idx="1">
                  <c:v>14</c:v>
                </c:pt>
              </c:numCache>
            </c:numRef>
          </c:yVal>
        </c:ser>
        <c:ser>
          <c:idx val="4"/>
          <c:order val="4"/>
          <c:tx>
            <c:v>Pp</c:v>
          </c:tx>
          <c:spPr>
            <ns1:ln w="14288">
              <ns1:solidFill>
                <ns1:srgbClr val="445B6B"/>
              </ns1:solidFill>
              <ns1:prstDash val="dash"/>
            </ns1:ln>
          </c:spPr>
          <c:marker>
            <c:symbol val="none"/>
          </c:marker>
          <c:xVal>
            <c:numRef>
              <c:f>'Chart Data'!$I$2:$I$3</c:f>
              <c:numCache>
                <c:formatCode>General</c:formatCode>
                <c:ptCount val="2"/>
                <c:pt idx="0">
                  <c:v>0</c:v>
                </c:pt>
                <c:pt idx="1">
                  <c:v>50</c:v>
                </c:pt>
              </c:numCache>
            </c:numRef>
          </c:xVal>
          <c:yVal>
            <c:numRef>
              <c:f>'Chart Data'!$J$2:$J$3</c:f>
              <c:numCache>
                <c:formatCode>0</c:formatCode>
                <c:ptCount val="2"/>
                <c:pt idx="0">
                  <c:v>11</c:v>
                </c:pt>
                <c:pt idx="1">
                  <c:v>11</c:v>
                </c:pt>
              </c:numCache>
            </c:numRef>
          </c:yVal>
        </c:ser>
        <c:ser>
          <c:idx val="5"/>
          <c:order val="5"/>
          <c:tx>
            <c:v>Qt</c:v>
          </c:tx>
          <c:spPr>
            <ns1:ln w="14288">
              <ns1:solidFill>
                <ns1:srgbClr val="445B6B"/>
              </ns1:solidFill>
              <ns1:prstDash val="dash"/>
            </ns1:ln>
          </c:spPr>
          <c:marker>
            <c:symbol val="none"/>
          </c:marker>
          <c:xVal>
            <c:numRef>
              <c:f>'Chart Data'!$K$2:$K$3</c:f>
              <c:numCache>
                <c:formatCode>General</c:formatCode>
                <c:ptCount val="2"/>
                <c:pt idx="0">
                  <c:v>50</c:v>
                </c:pt>
                <c:pt idx="1">
                  <c:v>50</c:v>
                </c:pt>
              </c:numCache>
            </c:numRef>
          </c:xVal>
          <c:yVal>
            <c:numRef>
              <c:f>'Chart Data'!$L$2:$L$3</c:f>
              <c:numCache>
                <c:formatCode>0</c:formatCode>
                <c:ptCount val="2"/>
                <c:pt idx="0">
                  <c:v>0</c:v>
                </c:pt>
                <c:pt idx="1">
                  <c:v>14</c:v>
                </c:pt>
              </c:numCache>
            </c:numRef>
          </c:yVal>
        </c:ser>
        <c:ser>
          <c:idx val="6"/>
          <c:order val="6"/>
          <c:tx>
            <c:v>Q0</c:v>
          </c:tx>
          <c:spPr>
            <ns1:ln w="14288">
              <ns1:solidFill>
                <ns1:srgbClr val="445B6B"/>
              </ns1:solidFill>
              <ns1:prstDash val="dash"/>
            </ns1:ln>
          </c:spPr>
          <c:marker>
            <c:symbol val="none"/>
          </c:marker>
          <c:xVal>
            <c:numRef>
              <c:f>'Chart Data'!$M$2:$M$3</c:f>
              <c:numCache>
                <c:formatCode>General</c:formatCode>
                <c:ptCount val="2"/>
                <c:pt idx="0">
                  <c:v>60</c:v>
                </c:pt>
                <c:pt idx="1">
                  <c:v>60</c:v>
                </c:pt>
              </c:numCache>
            </c:numRef>
          </c:xVal>
          <c:yVal>
            <c:numRef>
              <c:f>'Chart Data'!$N$2:$N$3</c:f>
              <c:numCache>
                <c:formatCode>0</c:formatCode>
                <c:ptCount val="2"/>
                <c:pt idx="0">
                  <c:v>0</c:v>
                </c:pt>
                <c:pt idx="1">
                  <c:v>12</c:v>
                </c:pt>
              </c:numCache>
            </c:numRef>
          </c:yVal>
        </c:ser>
        <c:ser>
          <c:idx val="7"/>
          <c:order val="7"/>
          <c:tx>
            <c:v>Wig</c:v>
          </c:tx>
          <c:spPr>
            <ns1:ln w="38100">
              <ns1:solidFill>
                <ns1:srgbClr val="A94D16"/>
              </ns1:solidFill>
            </ns1:ln>
          </c:spPr>
          <c:marker>
            <c:symbol val="none"/>
          </c:marker>
          <c:xVal>
            <c:numRef>
              <c:f>'Chart Data'!$O$2:$O$3</c:f>
              <c:numCache>
                <c:formatCode>General</c:formatCode>
                <c:ptCount val="2"/>
                <c:pt idx="0">
                  <c:v>50</c:v>
                </c:pt>
                <c:pt idx="1">
                  <c:v>50</c:v>
                </c:pt>
              </c:numCache>
            </c:numRef>
          </c:xVal>
          <c:yVal>
            <c:numRef>
              <c:f>'Chart Data'!$P$2:$P$3</c:f>
              <c:numCache>
                <c:formatCode>0</c:formatCode>
                <c:ptCount val="2"/>
                <c:pt idx="0">
                  <c:v>11</c:v>
                </c:pt>
                <c:pt idx="1">
                  <c:v>14</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6"/>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 per bandje)</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5"/>
      </c:valAx>
      <c:valAx>
        <c:axId val="48650112"/>
        <c:scaling>
          <c:orientation val="minMax"/>
          <c:max val="120"/>
          <c:min val="0"/>
        </c:scaling>
        <c:delete val="0"/>
        <c:axPos val="b"/>
        <c:title>
          <c:tx>
            <c:rich>
              <ns1:bodyPr/>
              <ns1:lstStyle/>
              <ns1:p>
                <ns1:r>
                  <ns1:rPr sz="1875">
                    <ns1:solidFill>
                      <ns1:srgbClr val="183247"/>
                    </ns1:solidFill>
                    <ns1:latin typeface="Arial"/>
                    <ns1:ea typeface="Arial"/>
                    <ns1:cs typeface="Arial"/>
                  </ns1:rPr>
                  <ns1:t>Q (bandjes per dag)</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20"/>
      </c:valAx>
      <c:spPr>
        <ns1:noFill/>
      </c:spPr>
    </c:plotArea>
    <c:plotVisOnly val="1"/>
  </c:chart>
  <c:spPr>
    <ns1:noFill/>
  </c:spPr>
  <c:externalData r:id="rIdChartSnapshot1">
    <c:autoUpdate val="0"/>
  </c:externalData>
</c:chartSpace>
</file>

<file path=ppt/slides/charts/chart4.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c:v>
          </c:tx>
          <c:spPr>
            <ns1:ln w="38100">
              <ns1:solidFill>
                <ns1:srgbClr val="1A5276"/>
              </ns1:solidFill>
            </ns1:ln>
          </c:spPr>
          <c:marker>
            <c:symbol val="none"/>
          </c:marker>
          <c:xVal>
            <c:numRef>
              <c:f>'Chart Data'!$A$2:$A$3</c:f>
              <c:numCache>
                <c:formatCode>General</c:formatCode>
                <c:ptCount val="2"/>
                <c:pt idx="0">
                  <c:v>0</c:v>
                </c:pt>
                <c:pt idx="1">
                  <c:v>120</c:v>
                </c:pt>
              </c:numCache>
            </c:numRef>
          </c:xVal>
          <c:yVal>
            <c:numRef>
              <c:f>'Chart Data'!$B$2:$B$3</c:f>
              <c:numCache>
                <c:formatCode>0</c:formatCode>
                <c:ptCount val="2"/>
                <c:pt idx="0">
                  <c:v>24</c:v>
                </c:pt>
                <c:pt idx="1">
                  <c:v>0</c:v>
                </c:pt>
              </c:numCache>
            </c:numRef>
          </c:yVal>
        </c:ser>
        <c:ser>
          <c:idx val="1"/>
          <c:order val="1"/>
          <c:tx>
            <c:v>A</c:v>
          </c:tx>
          <c:spPr>
            <ns1:ln w="38100">
              <ns1:solidFill>
                <ns1:srgbClr val="1E8449"/>
              </ns1:solidFill>
            </ns1:ln>
          </c:spPr>
          <c:marker>
            <c:symbol val="none"/>
          </c:marker>
          <c:xVal>
            <c:numRef>
              <c:f>'Chart Data'!$C$2:$C$3</c:f>
              <c:numCache>
                <c:formatCode>General</c:formatCode>
                <c:ptCount val="2"/>
                <c:pt idx="0">
                  <c:v>0</c:v>
                </c:pt>
                <c:pt idx="1">
                  <c:v>120</c:v>
                </c:pt>
              </c:numCache>
            </c:numRef>
          </c:xVal>
          <c:yVal>
            <c:numRef>
              <c:f>'Chart Data'!$D$2:$D$3</c:f>
              <c:numCache>
                <c:formatCode>0</c:formatCode>
                <c:ptCount val="2"/>
                <c:pt idx="0">
                  <c:v>6</c:v>
                </c:pt>
                <c:pt idx="1">
                  <c:v>18</c:v>
                </c:pt>
              </c:numCache>
            </c:numRef>
          </c:yVal>
        </c:ser>
        <c:ser>
          <c:idx val="2"/>
          <c:order val="2"/>
          <c:tx>
            <c:v>A + t</c:v>
          </c:tx>
          <c:spPr>
            <ns1:ln w="38100">
              <ns1:solidFill>
                <ns1:srgbClr val="A94D16"/>
              </ns1:solidFill>
            </ns1:ln>
          </c:spPr>
          <c:marker>
            <c:symbol val="none"/>
          </c:marker>
          <c:xVal>
            <c:numRef>
              <c:f>'Chart Data'!$E$2:$E$3</c:f>
              <c:numCache>
                <c:formatCode>General</c:formatCode>
                <c:ptCount val="2"/>
                <c:pt idx="0">
                  <c:v>0</c:v>
                </c:pt>
                <c:pt idx="1">
                  <c:v>120</c:v>
                </c:pt>
              </c:numCache>
            </c:numRef>
          </c:xVal>
          <c:yVal>
            <c:numRef>
              <c:f>'Chart Data'!$F$2:$F$3</c:f>
              <c:numCache>
                <c:formatCode>0</c:formatCode>
                <c:ptCount val="2"/>
                <c:pt idx="0">
                  <c:v>9</c:v>
                </c:pt>
                <c:pt idx="1">
                  <c:v>21</c:v>
                </c:pt>
              </c:numCache>
            </c:numRef>
          </c:yVal>
        </c:ser>
        <c:ser>
          <c:idx val="3"/>
          <c:order val="3"/>
          <c:tx>
            <c:v>Pc</c:v>
          </c:tx>
          <c:spPr>
            <ns1:ln w="14288">
              <ns1:solidFill>
                <ns1:srgbClr val="445B6B"/>
              </ns1:solidFill>
              <ns1:prstDash val="dash"/>
            </ns1:ln>
          </c:spPr>
          <c:marker>
            <c:symbol val="none"/>
          </c:marker>
          <c:xVal>
            <c:numRef>
              <c:f>'Chart Data'!$G$2:$G$3</c:f>
              <c:numCache>
                <c:formatCode>General</c:formatCode>
                <c:ptCount val="2"/>
                <c:pt idx="0">
                  <c:v>0</c:v>
                </c:pt>
                <c:pt idx="1">
                  <c:v>50</c:v>
                </c:pt>
              </c:numCache>
            </c:numRef>
          </c:xVal>
          <c:yVal>
            <c:numRef>
              <c:f>'Chart Data'!$H$2:$H$3</c:f>
              <c:numCache>
                <c:formatCode>0</c:formatCode>
                <c:ptCount val="2"/>
                <c:pt idx="0">
                  <c:v>14</c:v>
                </c:pt>
                <c:pt idx="1">
                  <c:v>14</c:v>
                </c:pt>
              </c:numCache>
            </c:numRef>
          </c:yVal>
        </c:ser>
        <c:ser>
          <c:idx val="4"/>
          <c:order val="4"/>
          <c:tx>
            <c:v>Pp</c:v>
          </c:tx>
          <c:spPr>
            <ns1:ln w="14288">
              <ns1:solidFill>
                <ns1:srgbClr val="445B6B"/>
              </ns1:solidFill>
              <ns1:prstDash val="dash"/>
            </ns1:ln>
          </c:spPr>
          <c:marker>
            <c:symbol val="none"/>
          </c:marker>
          <c:xVal>
            <c:numRef>
              <c:f>'Chart Data'!$I$2:$I$3</c:f>
              <c:numCache>
                <c:formatCode>General</c:formatCode>
                <c:ptCount val="2"/>
                <c:pt idx="0">
                  <c:v>0</c:v>
                </c:pt>
                <c:pt idx="1">
                  <c:v>50</c:v>
                </c:pt>
              </c:numCache>
            </c:numRef>
          </c:xVal>
          <c:yVal>
            <c:numRef>
              <c:f>'Chart Data'!$J$2:$J$3</c:f>
              <c:numCache>
                <c:formatCode>0</c:formatCode>
                <c:ptCount val="2"/>
                <c:pt idx="0">
                  <c:v>11</c:v>
                </c:pt>
                <c:pt idx="1">
                  <c:v>11</c:v>
                </c:pt>
              </c:numCache>
            </c:numRef>
          </c:yVal>
        </c:ser>
        <c:ser>
          <c:idx val="5"/>
          <c:order val="5"/>
          <c:tx>
            <c:v>Qt</c:v>
          </c:tx>
          <c:spPr>
            <ns1:ln w="14288">
              <ns1:solidFill>
                <ns1:srgbClr val="445B6B"/>
              </ns1:solidFill>
              <ns1:prstDash val="dash"/>
            </ns1:ln>
          </c:spPr>
          <c:marker>
            <c:symbol val="none"/>
          </c:marker>
          <c:xVal>
            <c:numRef>
              <c:f>'Chart Data'!$K$2:$K$3</c:f>
              <c:numCache>
                <c:formatCode>General</c:formatCode>
                <c:ptCount val="2"/>
                <c:pt idx="0">
                  <c:v>50</c:v>
                </c:pt>
                <c:pt idx="1">
                  <c:v>50</c:v>
                </c:pt>
              </c:numCache>
            </c:numRef>
          </c:xVal>
          <c:yVal>
            <c:numRef>
              <c:f>'Chart Data'!$L$2:$L$3</c:f>
              <c:numCache>
                <c:formatCode>0</c:formatCode>
                <c:ptCount val="2"/>
                <c:pt idx="0">
                  <c:v>0</c:v>
                </c:pt>
                <c:pt idx="1">
                  <c:v>14</c:v>
                </c:pt>
              </c:numCache>
            </c:numRef>
          </c:yVal>
        </c:ser>
        <c:ser>
          <c:idx val="6"/>
          <c:order val="6"/>
          <c:tx>
            <c:v>Q0</c:v>
          </c:tx>
          <c:spPr>
            <ns1:ln w="14288">
              <ns1:solidFill>
                <ns1:srgbClr val="445B6B"/>
              </ns1:solidFill>
              <ns1:prstDash val="dash"/>
            </ns1:ln>
          </c:spPr>
          <c:marker>
            <c:symbol val="none"/>
          </c:marker>
          <c:xVal>
            <c:numRef>
              <c:f>'Chart Data'!$M$2:$M$3</c:f>
              <c:numCache>
                <c:formatCode>General</c:formatCode>
                <c:ptCount val="2"/>
                <c:pt idx="0">
                  <c:v>60</c:v>
                </c:pt>
                <c:pt idx="1">
                  <c:v>60</c:v>
                </c:pt>
              </c:numCache>
            </c:numRef>
          </c:xVal>
          <c:yVal>
            <c:numRef>
              <c:f>'Chart Data'!$N$2:$N$3</c:f>
              <c:numCache>
                <c:formatCode>0</c:formatCode>
                <c:ptCount val="2"/>
                <c:pt idx="0">
                  <c:v>0</c:v>
                </c:pt>
                <c:pt idx="1">
                  <c:v>12</c:v>
                </c:pt>
              </c:numCache>
            </c:numRef>
          </c:yVal>
        </c:ser>
        <c:ser>
          <c:idx val="7"/>
          <c:order val="7"/>
          <c:tx>
            <c:v>Wig</c:v>
          </c:tx>
          <c:spPr>
            <ns1:ln w="38100">
              <ns1:solidFill>
                <ns1:srgbClr val="A94D16"/>
              </ns1:solidFill>
            </ns1:ln>
          </c:spPr>
          <c:marker>
            <c:symbol val="none"/>
          </c:marker>
          <c:xVal>
            <c:numRef>
              <c:f>'Chart Data'!$O$2:$O$3</c:f>
              <c:numCache>
                <c:formatCode>General</c:formatCode>
                <c:ptCount val="2"/>
                <c:pt idx="0">
                  <c:v>50</c:v>
                </c:pt>
                <c:pt idx="1">
                  <c:v>50</c:v>
                </c:pt>
              </c:numCache>
            </c:numRef>
          </c:xVal>
          <c:yVal>
            <c:numRef>
              <c:f>'Chart Data'!$P$2:$P$3</c:f>
              <c:numCache>
                <c:formatCode>0</c:formatCode>
                <c:ptCount val="2"/>
                <c:pt idx="0">
                  <c:v>11</c:v>
                </c:pt>
                <c:pt idx="1">
                  <c:v>14</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6"/>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 per bandje)</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5"/>
      </c:valAx>
      <c:valAx>
        <c:axId val="48650112"/>
        <c:scaling>
          <c:orientation val="minMax"/>
          <c:max val="120"/>
          <c:min val="0"/>
        </c:scaling>
        <c:delete val="0"/>
        <c:axPos val="b"/>
        <c:title>
          <c:tx>
            <c:rich>
              <ns1:bodyPr/>
              <ns1:lstStyle/>
              <ns1:p>
                <ns1:r>
                  <ns1:rPr sz="1875">
                    <ns1:solidFill>
                      <ns1:srgbClr val="183247"/>
                    </ns1:solidFill>
                    <ns1:latin typeface="Arial"/>
                    <ns1:ea typeface="Arial"/>
                    <ns1:cs typeface="Arial"/>
                  </ns1:rPr>
                  <ns1:t>Q (bandjes per dag)</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20"/>
      </c:valAx>
      <c:spPr>
        <ns1:noFill/>
      </c:spPr>
    </c:plotArea>
    <c:plotVisOnly val="1"/>
  </c:chart>
  <c:spPr>
    <ns1:no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6 Gemengde opgaven">
            <a:extLst xmlns:a="http://schemas.openxmlformats.org/drawingml/2006/main">
              <a:ext uri="{FF2B5EF4-FFF2-40B4-BE49-F238E27FC236}">
                <a16:creationId xmlns:a16="http://schemas.microsoft.com/office/drawing/2014/main" id="{DECF6952-CD0F-41EB-B5EA-FE1DFBEC08F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§3.1.6 Gemengde opgaven</a:t>
            </a:r>
          </a:p>
        </p:txBody>
      </p:sp>
      <p:sp>
        <p:nvSpPr>
          <p:cNvPr id="2" name="">
            <a:extLst xmlns:a="http://schemas.openxmlformats.org/drawingml/2006/main">
              <a:ext uri="{FF2B5EF4-FFF2-40B4-BE49-F238E27FC236}">
                <a16:creationId xmlns:a16="http://schemas.microsoft.com/office/drawing/2014/main" id="{90E315CB-9478-41B7-83E3-F2CBBD1ED9F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07E36DF-BDB5-45DC-932B-A4622908F3B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a:t>
            </a:r>
          </a:p>
        </p:txBody>
      </p:sp>
      <p:sp>
        <p:nvSpPr>
          <p:cNvPr id="4" name="slide-number">
            <a:extLst xmlns:a="http://schemas.openxmlformats.org/drawingml/2006/main">
              <a:ext uri="{FF2B5EF4-FFF2-40B4-BE49-F238E27FC236}">
                <a16:creationId xmlns:a16="http://schemas.microsoft.com/office/drawing/2014/main" id="{3797627B-B3B8-4202-8983-2ADF4664241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CFE03230-7FB5-422D-B7E1-26E67C60B702}"/>
              </a:ext>
            </a:extLst>
          </p:cNvPr>
          <p:cNvSpPr>
            <a:spLocks xmlns:a="http://schemas.openxmlformats.org/drawingml/2006/main" noGrp="1"/>
          </p:cNvSpPr>
          <p:nvPr/>
        </p:nvSpPr>
        <p:spPr>
          <a:xfrm xmlns:a="http://schemas.openxmlformats.org/drawingml/2006/main">
            <a:off x="571500" y="106680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Overheidsingrijpen · Nu: Startopdracht</a:t>
            </a:r>
          </a:p>
        </p:txBody>
      </p:sp>
      <p:sp>
        <p:nvSpPr>
          <p:cNvPr id="6" name="Lesroute">
            <a:extLst xmlns:a="http://schemas.openxmlformats.org/drawingml/2006/main">
              <a:ext uri="{FF2B5EF4-FFF2-40B4-BE49-F238E27FC236}">
                <a16:creationId xmlns:a16="http://schemas.microsoft.com/office/drawing/2014/main" id="{0DA887CA-C4AF-465C-984E-726F8A26A718}"/>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81A809E1-BB52-46C8-B932-AE18A3619390}"/>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C2B1A3E9-03B0-41E0-8AE6-F487F43717C1}"/>
              </a:ext>
            </a:extLst>
          </p:cNvPr>
          <p:cNvSpPr>
            <a:spLocks xmlns:a="http://schemas.openxmlformats.org/drawingml/2006/main" noGrp="1"/>
          </p:cNvSpPr>
          <p:nvPr/>
        </p:nvSpPr>
        <p:spPr>
          <a:xfrm xmlns:a="http://schemas.openxmlformats.org/drawingml/2006/main">
            <a:off x="1104900" y="2324100"/>
            <a:ext cx="7515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C4D3341A-BDEE-4A8B-9A81-227E5E12E9A1}"/>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FDA97796-9717-451C-A664-A65DD58078E6}"/>
              </a:ext>
            </a:extLst>
          </p:cNvPr>
          <p:cNvSpPr>
            <a:spLocks xmlns:a="http://schemas.openxmlformats.org/drawingml/2006/main" noGrp="1"/>
          </p:cNvSpPr>
          <p:nvPr/>
        </p:nvSpPr>
        <p:spPr>
          <a:xfrm xmlns:a="http://schemas.openxmlformats.org/drawingml/2006/main">
            <a:off x="1104900" y="320040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DF960EBC-0E1B-48D3-83BC-3AB6E413B03B}"/>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F733024F-4544-47CD-9ED2-3C6C7BB8E798}"/>
              </a:ext>
            </a:extLst>
          </p:cNvPr>
          <p:cNvSpPr>
            <a:spLocks xmlns:a="http://schemas.openxmlformats.org/drawingml/2006/main" noGrp="1"/>
          </p:cNvSpPr>
          <p:nvPr/>
        </p:nvSpPr>
        <p:spPr>
          <a:xfrm xmlns:a="http://schemas.openxmlformats.org/drawingml/2006/main">
            <a:off x="1104900" y="371475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35FC2C01-ECB6-44DD-BE45-687649F53291}"/>
              </a:ext>
            </a:extLst>
          </p:cNvPr>
          <p:cNvSpPr>
            <a:spLocks xmlns:a="http://schemas.openxmlformats.org/drawingml/2006/main" noGrp="1"/>
          </p:cNvSpPr>
          <p:nvPr/>
        </p:nvSpPr>
        <p:spPr>
          <a:xfrm xmlns:a="http://schemas.openxmlformats.org/drawingml/2006/main">
            <a:off x="571500" y="4248150"/>
            <a:ext cx="457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8661F4CB-AE4D-4048-AE4D-EEA1C407185B}"/>
              </a:ext>
            </a:extLst>
          </p:cNvPr>
          <p:cNvSpPr>
            <a:spLocks xmlns:a="http://schemas.openxmlformats.org/drawingml/2006/main" noGrp="1"/>
          </p:cNvSpPr>
          <p:nvPr/>
        </p:nvSpPr>
        <p:spPr>
          <a:xfrm xmlns:a="http://schemas.openxmlformats.org/drawingml/2006/main">
            <a:off x="1104900" y="4248150"/>
            <a:ext cx="75152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A9C54C36-232F-4BB9-B87B-1D4DA7EC0EBC}"/>
              </a:ext>
            </a:extLst>
          </p:cNvPr>
          <p:cNvSpPr>
            <a:spLocks xmlns:a="http://schemas.openxmlformats.org/drawingml/2006/main" noGrp="1"/>
          </p:cNvSpPr>
          <p:nvPr/>
        </p:nvSpPr>
        <p:spPr>
          <a:xfrm xmlns:a="http://schemas.openxmlformats.org/drawingml/2006/main">
            <a:off x="571500" y="577215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CFF86190-91E9-4224-B772-6A75487570AC}"/>
              </a:ext>
            </a:extLst>
          </p:cNvPr>
          <p:cNvSpPr>
            <a:spLocks xmlns:a="http://schemas.openxmlformats.org/drawingml/2006/main" noGrp="1"/>
          </p:cNvSpPr>
          <p:nvPr/>
        </p:nvSpPr>
        <p:spPr>
          <a:xfrm xmlns:a="http://schemas.openxmlformats.org/drawingml/2006/main">
            <a:off x="1104900" y="5772150"/>
            <a:ext cx="75152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A2EE64F3-0A5F-4154-B541-896644F6D03F}"/>
              </a:ext>
            </a:extLst>
          </p:cNvPr>
          <p:cNvSpPr>
            <a:spLocks xmlns:a="http://schemas.openxmlformats.org/drawingml/2006/main" noGrp="1"/>
          </p:cNvSpPr>
          <p:nvPr/>
        </p:nvSpPr>
        <p:spPr>
          <a:xfrm xmlns:a="http://schemas.openxmlformats.org/drawingml/2006/main">
            <a:off x="571500" y="6667500"/>
            <a:ext cx="45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B5A06D51-462A-4E58-BB60-F2A3938648E9}"/>
              </a:ext>
            </a:extLst>
          </p:cNvPr>
          <p:cNvSpPr>
            <a:spLocks xmlns:a="http://schemas.openxmlformats.org/drawingml/2006/main" noGrp="1"/>
          </p:cNvSpPr>
          <p:nvPr/>
        </p:nvSpPr>
        <p:spPr>
          <a:xfrm xmlns:a="http://schemas.openxmlformats.org/drawingml/2006/main">
            <a:off x="1104900" y="6667500"/>
            <a:ext cx="7515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48.</a:t>
            </a:r>
          </a:p>
        </p:txBody>
      </p:sp>
      <p:sp>
        <p:nvSpPr>
          <p:cNvPr id="19" name="route-number-7">
            <a:extLst xmlns:a="http://schemas.openxmlformats.org/drawingml/2006/main">
              <a:ext uri="{FF2B5EF4-FFF2-40B4-BE49-F238E27FC236}">
                <a16:creationId xmlns:a16="http://schemas.microsoft.com/office/drawing/2014/main" id="{0488BD97-A740-4C8A-BBD1-42D4112D9C8F}"/>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07A0DE0C-48A2-4E2E-B4A6-390A3830981E}"/>
              </a:ext>
            </a:extLst>
          </p:cNvPr>
          <p:cNvSpPr>
            <a:spLocks xmlns:a="http://schemas.openxmlformats.org/drawingml/2006/main" noGrp="1"/>
          </p:cNvSpPr>
          <p:nvPr/>
        </p:nvSpPr>
        <p:spPr>
          <a:xfrm xmlns:a="http://schemas.openxmlformats.org/drawingml/2006/main">
            <a:off x="1104900" y="7372350"/>
            <a:ext cx="7515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20D7C00-49CA-49F2-91CF-170E1197FBFF}"/>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9D365500-4BCB-4D1E-AB55-804465844877}"/>
              </a:ext>
            </a:extLst>
          </p:cNvPr>
          <p:cNvSpPr>
            <a:spLocks xmlns:a="http://schemas.openxmlformats.org/drawingml/2006/main" noGrp="1"/>
          </p:cNvSpPr>
          <p:nvPr/>
        </p:nvSpPr>
        <p:spPr>
          <a:xfrm xmlns:a="http://schemas.openxmlformats.org/drawingml/2006/main">
            <a:off x="9258300" y="2324100"/>
            <a:ext cx="5381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Maatregel en methode kiezen.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Prijzen, handel en welvaart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beleidsclaim onderbouwen.</a:t>
            </a:r>
          </a:p>
        </p:txBody>
      </p:sp>
      <p:sp>
        <p:nvSpPr>
          <p:cNvPr id="23" name="">
            <a:extLst xmlns:a="http://schemas.openxmlformats.org/drawingml/2006/main">
              <a:ext uri="{FF2B5EF4-FFF2-40B4-BE49-F238E27FC236}">
                <a16:creationId xmlns:a16="http://schemas.microsoft.com/office/drawing/2014/main" id="{58140401-F956-4B55-A682-50A015B5FF04}"/>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FBEF19B8-5BDE-4509-86C9-2572457F3F17}"/>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97B4177F-7564-409C-9DBF-27058BEA0D7C}"/>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48 · Opgave 46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Steun: uitleg §§3.1.1–3.1.5</a:t>
            </a:r>
          </a:p>
        </p:txBody>
      </p:sp>
      <p:sp>
        <p:nvSpPr>
          <p:cNvPr id="26" name="">
            <a:extLst xmlns:a="http://schemas.openxmlformats.org/drawingml/2006/main">
              <a:ext uri="{FF2B5EF4-FFF2-40B4-BE49-F238E27FC236}">
                <a16:creationId xmlns:a16="http://schemas.microsoft.com/office/drawing/2014/main" id="{D95E59E1-95EC-4D45-8FD4-3FB33DA6DB7F}"/>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A6C34724-5AB7-4095-92DD-F7D2F6C16102}"/>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1C4D3153-6539-443C-B39D-3139D4372B50}"/>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§3.1.6 · Opgaven 46, 47, 47A, 48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Verder oefenen: 47 en 47A (extra)</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48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7475773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anpak bij gemengde opgaven">
            <a:extLst xmlns:a="http://schemas.openxmlformats.org/drawingml/2006/main">
              <a:ext uri="{FF2B5EF4-FFF2-40B4-BE49-F238E27FC236}">
                <a16:creationId xmlns:a16="http://schemas.microsoft.com/office/drawing/2014/main" id="{5E58DDEB-9B86-43EA-BDDA-12A4582D67E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Aanpak bij gemengde opgaven</a:t>
            </a:r>
          </a:p>
        </p:txBody>
      </p:sp>
      <p:sp>
        <p:nvSpPr>
          <p:cNvPr id="2" name="">
            <a:extLst xmlns:a="http://schemas.openxmlformats.org/drawingml/2006/main">
              <a:ext uri="{FF2B5EF4-FFF2-40B4-BE49-F238E27FC236}">
                <a16:creationId xmlns:a16="http://schemas.microsoft.com/office/drawing/2014/main" id="{34352445-810F-4BE8-93E9-4884D84C5F6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360B4CA7-381B-4794-972E-121B3B0CD3D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a:t>
            </a:r>
          </a:p>
        </p:txBody>
      </p:sp>
      <p:sp>
        <p:nvSpPr>
          <p:cNvPr id="4" name="slide-number">
            <a:extLst xmlns:a="http://schemas.openxmlformats.org/drawingml/2006/main">
              <a:ext uri="{FF2B5EF4-FFF2-40B4-BE49-F238E27FC236}">
                <a16:creationId xmlns:a16="http://schemas.microsoft.com/office/drawing/2014/main" id="{A64BD5F7-7ED1-4ED5-905B-A30645B1D28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1 · Afspraak">
            <a:extLst xmlns:a="http://schemas.openxmlformats.org/drawingml/2006/main">
              <a:ext uri="{FF2B5EF4-FFF2-40B4-BE49-F238E27FC236}">
                <a16:creationId xmlns:a16="http://schemas.microsoft.com/office/drawing/2014/main" id="{64DD6E9B-097E-43F8-A4CA-9744E8C60B64}"/>
              </a:ext>
            </a:extLst>
          </p:cNvPr>
          <p:cNvSpPr>
            <a:spLocks xmlns:a="http://schemas.openxmlformats.org/drawingml/2006/main" noGrp="1"/>
          </p:cNvSpPr>
          <p:nvPr/>
        </p:nvSpPr>
        <p:spPr>
          <a:xfrm xmlns:a="http://schemas.openxmlformats.org/drawingml/2006/main">
            <a:off x="571500" y="1971675"/>
            <a:ext cx="495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1 · Afspraak</a:t>
            </a:r>
          </a:p>
        </p:txBody>
      </p:sp>
      <p:sp>
        <p:nvSpPr>
          <p:cNvPr id="6" name="Geld per verkoop, prijsgrens of productiegrens?">
            <a:extLst xmlns:a="http://schemas.openxmlformats.org/drawingml/2006/main">
              <a:ext uri="{FF2B5EF4-FFF2-40B4-BE49-F238E27FC236}">
                <a16:creationId xmlns:a16="http://schemas.microsoft.com/office/drawing/2014/main" id="{089046F7-ED13-48B9-A403-9CCE717F6E55}"/>
              </a:ext>
            </a:extLst>
          </p:cNvPr>
          <p:cNvSpPr>
            <a:spLocks xmlns:a="http://schemas.openxmlformats.org/drawingml/2006/main" noGrp="1"/>
          </p:cNvSpPr>
          <p:nvPr/>
        </p:nvSpPr>
        <p:spPr>
          <a:xfrm xmlns:a="http://schemas.openxmlformats.org/drawingml/2006/main">
            <a:off x="5857875" y="1971675"/>
            <a:ext cx="876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Geld per verkoop, prijsgrens of productiegrens?</a:t>
            </a:r>
          </a:p>
        </p:txBody>
      </p:sp>
      <p:sp>
        <p:nvSpPr>
          <p:cNvPr id="7" name="">
            <a:extLst xmlns:a="http://schemas.openxmlformats.org/drawingml/2006/main">
              <a:ext uri="{FF2B5EF4-FFF2-40B4-BE49-F238E27FC236}">
                <a16:creationId xmlns:a16="http://schemas.microsoft.com/office/drawing/2014/main" id="{4BCF1D61-097D-4D14-86B9-220EFB096BD1}"/>
              </a:ext>
            </a:extLst>
          </p:cNvPr>
          <p:cNvSpPr>
            <a:spLocks xmlns:a="http://schemas.openxmlformats.org/drawingml/2006/main" noGrp="1"/>
          </p:cNvSpPr>
          <p:nvPr/>
        </p:nvSpPr>
        <p:spPr>
          <a:xfrm xmlns:a="http://schemas.openxmlformats.org/drawingml/2006/main">
            <a:off x="571500" y="3067050"/>
            <a:ext cx="14097000" cy="0"/>
          </a:xfrm>
          <a:prstGeom xmlns:a="http://schemas.openxmlformats.org/drawingml/2006/main" prst="line">
            <a:avLst/>
          </a:prstGeom>
          <a:ln xmlns:a="http://schemas.openxmlformats.org/drawingml/2006/main" w="19050">
            <a:solidFill>
              <a:srgbClr val="C6D2DB"/>
            </a:solidFill>
          </a:ln>
        </p:spPr>
      </p:sp>
      <p:sp>
        <p:nvSpPr>
          <p:cNvPr id="8" name="2 · Hoeveelheid">
            <a:extLst xmlns:a="http://schemas.openxmlformats.org/drawingml/2006/main">
              <a:ext uri="{FF2B5EF4-FFF2-40B4-BE49-F238E27FC236}">
                <a16:creationId xmlns:a16="http://schemas.microsoft.com/office/drawing/2014/main" id="{35EEF1B8-3044-466F-8D66-EAFCBEDA9DBE}"/>
              </a:ext>
            </a:extLst>
          </p:cNvPr>
          <p:cNvSpPr>
            <a:spLocks xmlns:a="http://schemas.openxmlformats.org/drawingml/2006/main" noGrp="1"/>
          </p:cNvSpPr>
          <p:nvPr/>
        </p:nvSpPr>
        <p:spPr>
          <a:xfrm xmlns:a="http://schemas.openxmlformats.org/drawingml/2006/main">
            <a:off x="571500" y="3390900"/>
            <a:ext cx="495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2 · Hoeveelheid</a:t>
            </a:r>
          </a:p>
        </p:txBody>
      </p:sp>
      <p:sp>
        <p:nvSpPr>
          <p:cNvPr id="9" name="Wat willen partijen? Wat wordt echt verhandeld?">
            <a:extLst xmlns:a="http://schemas.openxmlformats.org/drawingml/2006/main">
              <a:ext uri="{FF2B5EF4-FFF2-40B4-BE49-F238E27FC236}">
                <a16:creationId xmlns:a16="http://schemas.microsoft.com/office/drawing/2014/main" id="{4040A3B3-837D-45B5-A49E-CC8BE543F3A6}"/>
              </a:ext>
            </a:extLst>
          </p:cNvPr>
          <p:cNvSpPr>
            <a:spLocks xmlns:a="http://schemas.openxmlformats.org/drawingml/2006/main" noGrp="1"/>
          </p:cNvSpPr>
          <p:nvPr/>
        </p:nvSpPr>
        <p:spPr>
          <a:xfrm xmlns:a="http://schemas.openxmlformats.org/drawingml/2006/main">
            <a:off x="5857875" y="3390900"/>
            <a:ext cx="876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Wat willen partijen? Wat wordt echt verhandeld?</a:t>
            </a:r>
          </a:p>
        </p:txBody>
      </p:sp>
      <p:sp>
        <p:nvSpPr>
          <p:cNvPr id="10" name="">
            <a:extLst xmlns:a="http://schemas.openxmlformats.org/drawingml/2006/main">
              <a:ext uri="{FF2B5EF4-FFF2-40B4-BE49-F238E27FC236}">
                <a16:creationId xmlns:a16="http://schemas.microsoft.com/office/drawing/2014/main" id="{AB18A95C-DF67-4C07-8B93-D495D73EF506}"/>
              </a:ext>
            </a:extLst>
          </p:cNvPr>
          <p:cNvSpPr>
            <a:spLocks xmlns:a="http://schemas.openxmlformats.org/drawingml/2006/main" noGrp="1"/>
          </p:cNvSpPr>
          <p:nvPr/>
        </p:nvSpPr>
        <p:spPr>
          <a:xfrm xmlns:a="http://schemas.openxmlformats.org/drawingml/2006/main">
            <a:off x="571500" y="4486275"/>
            <a:ext cx="14097000" cy="0"/>
          </a:xfrm>
          <a:prstGeom xmlns:a="http://schemas.openxmlformats.org/drawingml/2006/main" prst="line">
            <a:avLst/>
          </a:prstGeom>
          <a:ln xmlns:a="http://schemas.openxmlformats.org/drawingml/2006/main" w="19050">
            <a:solidFill>
              <a:srgbClr val="C6D2DB"/>
            </a:solidFill>
          </a:ln>
        </p:spPr>
      </p:sp>
      <p:sp>
        <p:nvSpPr>
          <p:cNvPr id="11" name="3 · Geldstroom">
            <a:extLst xmlns:a="http://schemas.openxmlformats.org/drawingml/2006/main">
              <a:ext uri="{FF2B5EF4-FFF2-40B4-BE49-F238E27FC236}">
                <a16:creationId xmlns:a16="http://schemas.microsoft.com/office/drawing/2014/main" id="{AA05368B-6712-4BF1-9572-50D864B0CAC2}"/>
              </a:ext>
            </a:extLst>
          </p:cNvPr>
          <p:cNvSpPr>
            <a:spLocks xmlns:a="http://schemas.openxmlformats.org/drawingml/2006/main" noGrp="1"/>
          </p:cNvSpPr>
          <p:nvPr/>
        </p:nvSpPr>
        <p:spPr>
          <a:xfrm xmlns:a="http://schemas.openxmlformats.org/drawingml/2006/main">
            <a:off x="571500" y="4810125"/>
            <a:ext cx="495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3 · Geldstroom</a:t>
            </a:r>
          </a:p>
        </p:txBody>
      </p:sp>
      <p:sp>
        <p:nvSpPr>
          <p:cNvPr id="12" name="Wie betaalt en wie ontvangt? Welke welvaartsmaat?">
            <a:extLst xmlns:a="http://schemas.openxmlformats.org/drawingml/2006/main">
              <a:ext uri="{FF2B5EF4-FFF2-40B4-BE49-F238E27FC236}">
                <a16:creationId xmlns:a16="http://schemas.microsoft.com/office/drawing/2014/main" id="{AF3DDBC1-FFAF-4DBF-BB31-2EC52CA466E2}"/>
              </a:ext>
            </a:extLst>
          </p:cNvPr>
          <p:cNvSpPr>
            <a:spLocks xmlns:a="http://schemas.openxmlformats.org/drawingml/2006/main" noGrp="1"/>
          </p:cNvSpPr>
          <p:nvPr/>
        </p:nvSpPr>
        <p:spPr>
          <a:xfrm xmlns:a="http://schemas.openxmlformats.org/drawingml/2006/main">
            <a:off x="5857875" y="4810125"/>
            <a:ext cx="876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Wie betaalt en wie ontvangt? Welke welvaartsmaat?</a:t>
            </a:r>
          </a:p>
        </p:txBody>
      </p:sp>
      <p:sp>
        <p:nvSpPr>
          <p:cNvPr id="13" name="">
            <a:extLst xmlns:a="http://schemas.openxmlformats.org/drawingml/2006/main">
              <a:ext uri="{FF2B5EF4-FFF2-40B4-BE49-F238E27FC236}">
                <a16:creationId xmlns:a16="http://schemas.microsoft.com/office/drawing/2014/main" id="{7EB2D56C-9C5A-4C57-AA81-B6083515C6D8}"/>
              </a:ext>
            </a:extLst>
          </p:cNvPr>
          <p:cNvSpPr>
            <a:spLocks xmlns:a="http://schemas.openxmlformats.org/drawingml/2006/main" noGrp="1"/>
          </p:cNvSpPr>
          <p:nvPr/>
        </p:nvSpPr>
        <p:spPr>
          <a:xfrm xmlns:a="http://schemas.openxmlformats.org/drawingml/2006/main">
            <a:off x="571500" y="5905500"/>
            <a:ext cx="14097000" cy="0"/>
          </a:xfrm>
          <a:prstGeom xmlns:a="http://schemas.openxmlformats.org/drawingml/2006/main" prst="line">
            <a:avLst/>
          </a:prstGeom>
          <a:ln xmlns:a="http://schemas.openxmlformats.org/drawingml/2006/main" w="19050">
            <a:solidFill>
              <a:srgbClr val="C6D2DB"/>
            </a:solidFill>
          </a:ln>
        </p:spPr>
      </p:sp>
      <p:sp>
        <p:nvSpPr>
          <p:cNvPr id="14" name="4 · Conclusie">
            <a:extLst xmlns:a="http://schemas.openxmlformats.org/drawingml/2006/main">
              <a:ext uri="{FF2B5EF4-FFF2-40B4-BE49-F238E27FC236}">
                <a16:creationId xmlns:a16="http://schemas.microsoft.com/office/drawing/2014/main" id="{FDA07B82-AC7A-4A3B-9CD1-B3FF39A5F828}"/>
              </a:ext>
            </a:extLst>
          </p:cNvPr>
          <p:cNvSpPr>
            <a:spLocks xmlns:a="http://schemas.openxmlformats.org/drawingml/2006/main" noGrp="1"/>
          </p:cNvSpPr>
          <p:nvPr/>
        </p:nvSpPr>
        <p:spPr>
          <a:xfrm xmlns:a="http://schemas.openxmlformats.org/drawingml/2006/main">
            <a:off x="571500" y="6229350"/>
            <a:ext cx="495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4 · Conclusie</a:t>
            </a:r>
          </a:p>
        </p:txBody>
      </p:sp>
      <p:sp>
        <p:nvSpPr>
          <p:cNvPr id="15" name="Brongegeven + berekening + economisch gevolg.">
            <a:extLst xmlns:a="http://schemas.openxmlformats.org/drawingml/2006/main">
              <a:ext uri="{FF2B5EF4-FFF2-40B4-BE49-F238E27FC236}">
                <a16:creationId xmlns:a16="http://schemas.microsoft.com/office/drawing/2014/main" id="{B256FF09-8D1E-4020-880C-7CF56F8B052C}"/>
              </a:ext>
            </a:extLst>
          </p:cNvPr>
          <p:cNvSpPr>
            <a:spLocks xmlns:a="http://schemas.openxmlformats.org/drawingml/2006/main" noGrp="1"/>
          </p:cNvSpPr>
          <p:nvPr/>
        </p:nvSpPr>
        <p:spPr>
          <a:xfrm xmlns:a="http://schemas.openxmlformats.org/drawingml/2006/main">
            <a:off x="5857875" y="6229350"/>
            <a:ext cx="876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Brongegeven + berekening + economisch gevolg.</a:t>
            </a:r>
          </a:p>
        </p:txBody>
      </p:sp>
    </p:spTree>
    <p:extLst>
      <p:ext uri="{BB962C8B-B14F-4D97-AF65-F5344CB8AC3E}">
        <p14:creationId xmlns:p14="http://schemas.microsoft.com/office/powerpoint/2010/main" val="13636216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aarsen: één belasting, twee prijzen">
            <a:extLst xmlns:a="http://schemas.openxmlformats.org/drawingml/2006/main">
              <a:ext uri="{FF2B5EF4-FFF2-40B4-BE49-F238E27FC236}">
                <a16:creationId xmlns:a16="http://schemas.microsoft.com/office/drawing/2014/main" id="{0ADD16A2-976C-4C85-963E-17ED10C41D1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Kaarsen: één belasting, twee prijzen</a:t>
            </a:r>
          </a:p>
        </p:txBody>
      </p:sp>
      <p:sp>
        <p:nvSpPr>
          <p:cNvPr id="2" name="">
            <a:extLst xmlns:a="http://schemas.openxmlformats.org/drawingml/2006/main">
              <a:ext uri="{FF2B5EF4-FFF2-40B4-BE49-F238E27FC236}">
                <a16:creationId xmlns:a16="http://schemas.microsoft.com/office/drawing/2014/main" id="{86440F38-B6CD-41CC-B647-B93F15FF961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708D7E7-B206-4267-8C31-3BAF87B7E6D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Kaarsenmarkt</a:t>
            </a:r>
          </a:p>
        </p:txBody>
      </p:sp>
      <p:sp>
        <p:nvSpPr>
          <p:cNvPr id="4" name="slide-number">
            <a:extLst xmlns:a="http://schemas.openxmlformats.org/drawingml/2006/main">
              <a:ext uri="{FF2B5EF4-FFF2-40B4-BE49-F238E27FC236}">
                <a16:creationId xmlns:a16="http://schemas.microsoft.com/office/drawing/2014/main" id="{036D9B92-AAC2-432C-AE26-94C51008A61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Vraag: Pc = 18 − 0,20Q     Aanbod: Pp = 2 + 0,20Q">
            <a:extLst xmlns:a="http://schemas.openxmlformats.org/drawingml/2006/main">
              <a:ext uri="{FF2B5EF4-FFF2-40B4-BE49-F238E27FC236}">
                <a16:creationId xmlns:a16="http://schemas.microsoft.com/office/drawing/2014/main" id="{D7AA20E2-70F5-41AF-8572-CA21F11578AD}"/>
              </a:ext>
            </a:extLst>
          </p:cNvPr>
          <p:cNvSpPr>
            <a:spLocks xmlns:a="http://schemas.openxmlformats.org/drawingml/2006/main" noGrp="1"/>
          </p:cNvSpPr>
          <p:nvPr/>
        </p:nvSpPr>
        <p:spPr>
          <a:xfrm xmlns:a="http://schemas.openxmlformats.org/drawingml/2006/main">
            <a:off x="571500" y="17621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Vraag: Pc = 18 − 0,20Q     Aanbod: Pp = 2 + 0,20Q</a:t>
            </a:r>
          </a:p>
        </p:txBody>
      </p:sp>
      <p:sp>
        <p:nvSpPr>
          <p:cNvPr id="6" name="Q in kaarsen per week · prijzen in € per kaars · t = € 4 per">
            <a:extLst xmlns:a="http://schemas.openxmlformats.org/drawingml/2006/main">
              <a:ext uri="{FF2B5EF4-FFF2-40B4-BE49-F238E27FC236}">
                <a16:creationId xmlns:a16="http://schemas.microsoft.com/office/drawing/2014/main" id="{12F07F53-E8A9-414A-B659-ACCBDFE703A0}"/>
              </a:ext>
            </a:extLst>
          </p:cNvPr>
          <p:cNvSpPr>
            <a:spLocks xmlns:a="http://schemas.openxmlformats.org/drawingml/2006/main" noGrp="1"/>
          </p:cNvSpPr>
          <p:nvPr/>
        </p:nvSpPr>
        <p:spPr>
          <a:xfrm xmlns:a="http://schemas.openxmlformats.org/drawingml/2006/main">
            <a:off x="571500" y="256222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Q in kaarsen per week · prijzen in € per kaars · t = € 4 per verkoop</a:t>
            </a:r>
          </a:p>
        </p:txBody>
      </p:sp>
      <p:graphicFrame>
        <p:nvGraphicFramePr>
          <p:cNvPr id="15" name=""/>
          <p:cNvGraphicFramePr/>
          <p:nvPr/>
        </p:nvGraphicFramePr>
        <p:xfrm>
          <a:off xmlns:a="http://schemas.openxmlformats.org/drawingml/2006/main" x="571500" y="3476625"/>
          <a:ext xmlns:a="http://schemas.openxmlformats.org/drawingml/2006/main" cx="14097000" cy="3248025"/>
        </p:xfrm>
        <a:graphic xmlns:a="http://schemas.openxmlformats.org/drawingml/2006/main">
          <a:graphicData uri="http://schemas.openxmlformats.org/drawingml/2006/table">
            <a:tbl>
              <a:tblPr/>
              <a:tblGrid>
                <a:gridCol w="4095750"/>
                <a:gridCol w="10001250"/>
              </a:tblGrid>
              <a:tr h="649605">
                <a:tc>
                  <a:txBody>
                    <a:bodyPr lIns="171450" tIns="95250" rIns="152400" bIns="95250"/>
                    <a:lstStyle/>
                    <a:p>
                      <a:r>
                        <a:rPr sz="2400" b="1">
                          <a:solidFill>
                            <a:srgbClr val="FFFFFF"/>
                          </a:solidFill>
                          <a:latin typeface="Arial"/>
                          <a:ea typeface="Arial"/>
                          <a:cs typeface="Arial"/>
                        </a:rPr>
                        <a:t>Stap</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Berekening</a:t>
                      </a:r>
                    </a:p>
                  </a:txBody>
                  <a:tcPr marL="91440" marR="91440" marT="45720" marB="45720" anchor="ctr">
                    <a:solidFill>
                      <a:srgbClr val="183247"/>
                    </a:solidFill>
                  </a:tcPr>
                </a:tc>
              </a:tr>
              <a:tr h="649605">
                <a:tc>
                  <a:txBody>
                    <a:bodyPr lIns="171450" tIns="95250" rIns="152400" bIns="95250"/>
                    <a:lstStyle/>
                    <a:p>
                      <a:r>
                        <a:rPr sz="2400" b="0">
                          <a:solidFill>
                            <a:srgbClr val="183247"/>
                          </a:solidFill>
                          <a:latin typeface="Arial"/>
                          <a:ea typeface="Arial"/>
                          <a:cs typeface="Arial"/>
                        </a:rPr>
                        <a:t>Vrij evenwicht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18 − 0,20Q = 2 + 0,20Q → Q₀ = 40; P₀ = € 10</a:t>
                      </a:r>
                    </a:p>
                  </a:txBody>
                  <a:tcPr marL="91440" marR="91440" marT="45720" marB="45720" anchor="ctr">
                    <a:solidFill>
                      <a:srgbClr val="FFFFFF"/>
                    </a:solidFill>
                  </a:tcPr>
                </a:tc>
              </a:tr>
              <a:tr h="649605">
                <a:tc>
                  <a:txBody>
                    <a:bodyPr lIns="171450" tIns="95250" rIns="152400" bIns="95250"/>
                    <a:lstStyle/>
                    <a:p>
                      <a:r>
                        <a:rPr sz="2400" b="0">
                          <a:solidFill>
                            <a:srgbClr val="183247"/>
                          </a:solidFill>
                          <a:latin typeface="Arial"/>
                          <a:ea typeface="Arial"/>
                          <a:cs typeface="Arial"/>
                        </a:rPr>
                        <a:t>Aanbod in kopersprijzen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Pc = (2 + 0,20Q) + 4 = 6 + 0,20Q</a:t>
                      </a:r>
                    </a:p>
                  </a:txBody>
                  <a:tcPr marL="91440" marR="91440" marT="45720" marB="45720" anchor="ctr">
                    <a:solidFill>
                      <a:srgbClr val="EFF4F7"/>
                    </a:solidFill>
                  </a:tcPr>
                </a:tc>
              </a:tr>
              <a:tr h="649605">
                <a:tc>
                  <a:txBody>
                    <a:bodyPr lIns="171450" tIns="95250" rIns="152400" bIns="95250"/>
                    <a:lstStyle/>
                    <a:p>
                      <a:r>
                        <a:rPr sz="2400" b="0">
                          <a:solidFill>
                            <a:srgbClr val="183247"/>
                          </a:solidFill>
                          <a:latin typeface="Arial"/>
                          <a:ea typeface="Arial"/>
                          <a:cs typeface="Arial"/>
                        </a:rPr>
                        <a:t>Nieuwe hoeveelheid</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18 − 0,20Q = 6 + 0,20Q → Qt = 30</a:t>
                      </a:r>
                    </a:p>
                  </a:txBody>
                  <a:tcPr marL="91440" marR="91440" marT="45720" marB="45720" anchor="ctr">
                    <a:solidFill>
                      <a:srgbClr val="FFFFFF"/>
                    </a:solidFill>
                  </a:tcPr>
                </a:tc>
              </a:tr>
              <a:tr h="649605">
                <a:tc>
                  <a:txBody>
                    <a:bodyPr lIns="171450" tIns="95250" rIns="152400" bIns="95250"/>
                    <a:lstStyle/>
                    <a:p>
                      <a:r>
                        <a:rPr sz="2400" b="0">
                          <a:solidFill>
                            <a:srgbClr val="183247"/>
                          </a:solidFill>
                          <a:latin typeface="Arial"/>
                          <a:ea typeface="Arial"/>
                          <a:cs typeface="Arial"/>
                        </a:rPr>
                        <a:t>Twee prijzen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Pc = 18 − 0,20 × 30 = € 12; Pp = 12 − 4 = € 8</a:t>
                      </a:r>
                    </a:p>
                  </a:txBody>
                  <a:tcPr marL="91440" marR="91440" marT="45720" marB="45720" anchor="ctr">
                    <a:solidFill>
                      <a:srgbClr val="EFF4F7"/>
                    </a:solidFill>
                  </a:tcPr>
                </a:tc>
              </a:tr>
            </a:tbl>
          </a:graphicData>
        </a:graphic>
      </p:graphicFrame>
      <p:sp>
        <p:nvSpPr>
          <p:cNvPr id="8" name="Controle: Pc − Pp = 12 − 8 = € 4 per kaars">
            <a:extLst xmlns:a="http://schemas.openxmlformats.org/drawingml/2006/main">
              <a:ext uri="{FF2B5EF4-FFF2-40B4-BE49-F238E27FC236}">
                <a16:creationId xmlns:a16="http://schemas.microsoft.com/office/drawing/2014/main" id="{961CF18E-53BF-4CCA-A8C0-60BA540B1100}"/>
              </a:ext>
            </a:extLst>
          </p:cNvPr>
          <p:cNvSpPr>
            <a:spLocks xmlns:a="http://schemas.openxmlformats.org/drawingml/2006/main" noGrp="1"/>
          </p:cNvSpPr>
          <p:nvPr/>
        </p:nvSpPr>
        <p:spPr>
          <a:xfrm xmlns:a="http://schemas.openxmlformats.org/drawingml/2006/main">
            <a:off x="571500" y="71818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Controle: Pc − Pp = 12 − 8 = € 4 per kaars</a:t>
            </a:r>
          </a:p>
        </p:txBody>
      </p:sp>
    </p:spTree>
    <p:extLst>
      <p:ext uri="{BB962C8B-B14F-4D97-AF65-F5344CB8AC3E}">
        <p14:creationId xmlns:p14="http://schemas.microsoft.com/office/powerpoint/2010/main" val="8567906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Kaarsen: ontvangsten en gemist voordeel">
            <a:extLst xmlns:a="http://schemas.openxmlformats.org/drawingml/2006/main">
              <a:ext uri="{FF2B5EF4-FFF2-40B4-BE49-F238E27FC236}">
                <a16:creationId xmlns:a16="http://schemas.microsoft.com/office/drawing/2014/main" id="{2B63A84F-F9B8-4343-ABB8-5AA0EAC7FF5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Kaarsen: ontvangsten en gemist voordeel</a:t>
            </a:r>
          </a:p>
        </p:txBody>
      </p:sp>
      <p:sp>
        <p:nvSpPr>
          <p:cNvPr id="2" name="">
            <a:extLst xmlns:a="http://schemas.openxmlformats.org/drawingml/2006/main">
              <a:ext uri="{FF2B5EF4-FFF2-40B4-BE49-F238E27FC236}">
                <a16:creationId xmlns:a16="http://schemas.microsoft.com/office/drawing/2014/main" id="{4007C394-DC94-4BA9-86ED-7AD919C0BC3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228255D1-4EE0-4FA1-8B70-F798AA03DAB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Kaarsenmarkt</a:t>
            </a:r>
          </a:p>
        </p:txBody>
      </p:sp>
      <p:sp>
        <p:nvSpPr>
          <p:cNvPr id="4" name="slide-number">
            <a:extLst xmlns:a="http://schemas.openxmlformats.org/drawingml/2006/main">
              <a:ext uri="{FF2B5EF4-FFF2-40B4-BE49-F238E27FC236}">
                <a16:creationId xmlns:a16="http://schemas.microsoft.com/office/drawing/2014/main" id="{BABAD668-CAD4-4A6C-BECE-4407D96DFCE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area-O">
            <a:extLst xmlns:a="http://schemas.openxmlformats.org/drawingml/2006/main">
              <a:ext uri="{FF2B5EF4-FFF2-40B4-BE49-F238E27FC236}">
                <a16:creationId xmlns:a16="http://schemas.microsoft.com/office/drawing/2014/main" id="{14436E5D-7A47-4CA4-BC8B-A327BC16CD18}"/>
              </a:ext>
            </a:extLst>
          </p:cNvPr>
          <p:cNvSpPr>
            <a:spLocks xmlns:a="http://schemas.openxmlformats.org/drawingml/2006/main" noGrp="1"/>
          </p:cNvSpPr>
          <p:nvPr/>
        </p:nvSpPr>
        <p:spPr>
          <a:xfrm xmlns:a="http://schemas.openxmlformats.org/drawingml/2006/main">
            <a:off x="1851660" y="4699635"/>
            <a:ext cx="2811780" cy="749300"/>
          </a:xfrm>
          <a:custGeom xmlns:a="http://schemas.openxmlformats.org/drawingml/2006/main">
            <a:pathLst>
              <a:path w="2811780" h="749300">
                <a:moveTo>
                  <a:pt x="0" y="749300"/>
                </a:moveTo>
                <a:lnTo>
                  <a:pt x="2811780" y="749300"/>
                </a:lnTo>
                <a:lnTo>
                  <a:pt x="2811780" y="0"/>
                </a:lnTo>
                <a:lnTo>
                  <a:pt x="0" y="0"/>
                </a:lnTo>
                <a:close/>
              </a:path>
            </a:pathLst>
          </a:custGeom>
          <a:solidFill xmlns:a="http://schemas.openxmlformats.org/drawingml/2006/main">
            <a:srgbClr val="F8C471"/>
          </a:solidFill>
          <a:ln xmlns:a="http://schemas.openxmlformats.org/drawingml/2006/main" w="0">
            <a:noFill/>
          </a:ln>
        </p:spPr>
      </p:sp>
      <p:sp>
        <p:nvSpPr>
          <p:cNvPr id="6" name="area-W">
            <a:extLst xmlns:a="http://schemas.openxmlformats.org/drawingml/2006/main">
              <a:ext uri="{FF2B5EF4-FFF2-40B4-BE49-F238E27FC236}">
                <a16:creationId xmlns:a16="http://schemas.microsoft.com/office/drawing/2014/main" id="{790F0E05-9286-497D-86F9-17F88B6DC402}"/>
              </a:ext>
            </a:extLst>
          </p:cNvPr>
          <p:cNvSpPr>
            <a:spLocks xmlns:a="http://schemas.openxmlformats.org/drawingml/2006/main" noGrp="1"/>
          </p:cNvSpPr>
          <p:nvPr/>
        </p:nvSpPr>
        <p:spPr>
          <a:xfrm xmlns:a="http://schemas.openxmlformats.org/drawingml/2006/main">
            <a:off x="4663440" y="4699635"/>
            <a:ext cx="937260" cy="749300"/>
          </a:xfrm>
          <a:custGeom xmlns:a="http://schemas.openxmlformats.org/drawingml/2006/main">
            <a:pathLst>
              <a:path w="937260" h="749300">
                <a:moveTo>
                  <a:pt x="0" y="749300"/>
                </a:moveTo>
                <a:lnTo>
                  <a:pt x="937260" y="374650"/>
                </a:lnTo>
                <a:lnTo>
                  <a:pt x="0" y="0"/>
                </a:lnTo>
                <a:close/>
              </a:path>
            </a:pathLst>
          </a:custGeom>
          <a:solidFill xmlns:a="http://schemas.openxmlformats.org/drawingml/2006/main">
            <a:srgbClr val="F1948A"/>
          </a:solidFill>
          <a:ln xmlns:a="http://schemas.openxmlformats.org/drawingml/2006/main" w="0">
            <a:noFill/>
          </a:ln>
        </p:spPr>
      </p:sp>
      <p:graphicFrame>
        <p:nvGraphicFramePr>
          <p:cNvPr id="52"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f9fa6d4de1224c3d"/>
          </a:graphicData>
        </a:graphic>
      </p:graphicFrame>
      <p:sp>
        <p:nvSpPr>
          <p:cNvPr id="8" name="V">
            <a:extLst xmlns:a="http://schemas.openxmlformats.org/drawingml/2006/main">
              <a:ext uri="{FF2B5EF4-FFF2-40B4-BE49-F238E27FC236}">
                <a16:creationId xmlns:a16="http://schemas.microsoft.com/office/drawing/2014/main" id="{DC5EDDAF-F346-4AA8-96AC-EC44E52D2623}"/>
              </a:ext>
            </a:extLst>
          </p:cNvPr>
          <p:cNvSpPr>
            <a:spLocks xmlns:a="http://schemas.openxmlformats.org/drawingml/2006/main" noGrp="1"/>
          </p:cNvSpPr>
          <p:nvPr/>
        </p:nvSpPr>
        <p:spPr>
          <a:xfrm xmlns:a="http://schemas.openxmlformats.org/drawingml/2006/main">
            <a:off x="8300009" y="6229477"/>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A5276"/>
                </a:solidFill>
                <a:latin typeface="Arial"/>
                <a:ea typeface="Arial"/>
                <a:cs typeface="Arial"/>
              </a:defRPr>
            </a:pPr>
            <a:r>
              <a:rPr sz="2100" b="1">
                <a:solidFill>
                  <a:srgbClr val="1A5276"/>
                </a:solidFill>
                <a:latin typeface="Arial"/>
                <a:ea typeface="Arial"/>
                <a:cs typeface="Arial"/>
              </a:rPr>
              <a:t>V</a:t>
            </a:r>
          </a:p>
        </p:txBody>
      </p:sp>
      <p:sp>
        <p:nvSpPr>
          <p:cNvPr id="9" name="A">
            <a:extLst xmlns:a="http://schemas.openxmlformats.org/drawingml/2006/main">
              <a:ext uri="{FF2B5EF4-FFF2-40B4-BE49-F238E27FC236}">
                <a16:creationId xmlns:a16="http://schemas.microsoft.com/office/drawing/2014/main" id="{403E00BB-371A-45D9-9BD0-7EBCFD7B961A}"/>
              </a:ext>
            </a:extLst>
          </p:cNvPr>
          <p:cNvSpPr>
            <a:spLocks xmlns:a="http://schemas.openxmlformats.org/drawingml/2006/main" noGrp="1"/>
          </p:cNvSpPr>
          <p:nvPr/>
        </p:nvSpPr>
        <p:spPr>
          <a:xfrm xmlns:a="http://schemas.openxmlformats.org/drawingml/2006/main">
            <a:off x="8150047" y="4121912"/>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E8449"/>
                </a:solidFill>
                <a:latin typeface="Arial"/>
                <a:ea typeface="Arial"/>
                <a:cs typeface="Arial"/>
              </a:defRPr>
            </a:pPr>
            <a:r>
              <a:rPr sz="2100" b="1">
                <a:solidFill>
                  <a:srgbClr val="1E8449"/>
                </a:solidFill>
                <a:latin typeface="Arial"/>
                <a:ea typeface="Arial"/>
                <a:cs typeface="Arial"/>
              </a:rPr>
              <a:t>A</a:t>
            </a:r>
          </a:p>
        </p:txBody>
      </p:sp>
      <p:sp>
        <p:nvSpPr>
          <p:cNvPr id="10" name="A + t">
            <a:extLst xmlns:a="http://schemas.openxmlformats.org/drawingml/2006/main">
              <a:ext uri="{FF2B5EF4-FFF2-40B4-BE49-F238E27FC236}">
                <a16:creationId xmlns:a16="http://schemas.microsoft.com/office/drawing/2014/main" id="{43F16DA3-474F-4241-8C9B-BC3354020973}"/>
              </a:ext>
            </a:extLst>
          </p:cNvPr>
          <p:cNvSpPr>
            <a:spLocks xmlns:a="http://schemas.openxmlformats.org/drawingml/2006/main" noGrp="1"/>
          </p:cNvSpPr>
          <p:nvPr/>
        </p:nvSpPr>
        <p:spPr>
          <a:xfrm xmlns:a="http://schemas.openxmlformats.org/drawingml/2006/main">
            <a:off x="7850124" y="2863850"/>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D16"/>
                </a:solidFill>
                <a:latin typeface="Arial"/>
                <a:ea typeface="Arial"/>
                <a:cs typeface="Arial"/>
              </a:defRPr>
            </a:pPr>
            <a:r>
              <a:rPr sz="2100" b="1">
                <a:solidFill>
                  <a:srgbClr val="A94D16"/>
                </a:solidFill>
                <a:latin typeface="Arial"/>
                <a:ea typeface="Arial"/>
                <a:cs typeface="Arial"/>
              </a:rPr>
              <a:t>A + t</a:t>
            </a:r>
          </a:p>
        </p:txBody>
      </p:sp>
      <p:sp>
        <p:nvSpPr>
          <p:cNvPr id="11" name="Pc = 12">
            <a:extLst xmlns:a="http://schemas.openxmlformats.org/drawingml/2006/main">
              <a:ext uri="{FF2B5EF4-FFF2-40B4-BE49-F238E27FC236}">
                <a16:creationId xmlns:a16="http://schemas.microsoft.com/office/drawing/2014/main" id="{2F474A49-D530-43E4-9F60-111E79F6CF78}"/>
              </a:ext>
            </a:extLst>
          </p:cNvPr>
          <p:cNvSpPr>
            <a:spLocks xmlns:a="http://schemas.openxmlformats.org/drawingml/2006/main" noGrp="1"/>
          </p:cNvSpPr>
          <p:nvPr/>
        </p:nvSpPr>
        <p:spPr>
          <a:xfrm xmlns:a="http://schemas.openxmlformats.org/drawingml/2006/main">
            <a:off x="2039112" y="431863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3247"/>
                </a:solidFill>
                <a:latin typeface="Arial"/>
                <a:ea typeface="Arial"/>
                <a:cs typeface="Arial"/>
              </a:defRPr>
            </a:pPr>
            <a:r>
              <a:rPr sz="1875" b="1">
                <a:solidFill>
                  <a:srgbClr val="183247"/>
                </a:solidFill>
                <a:latin typeface="Arial"/>
                <a:ea typeface="Arial"/>
                <a:cs typeface="Arial"/>
              </a:rPr>
              <a:t>Pc = 12</a:t>
            </a:r>
          </a:p>
        </p:txBody>
      </p:sp>
      <p:sp>
        <p:nvSpPr>
          <p:cNvPr id="12" name="Qt = 30">
            <a:extLst xmlns:a="http://schemas.openxmlformats.org/drawingml/2006/main">
              <a:ext uri="{FF2B5EF4-FFF2-40B4-BE49-F238E27FC236}">
                <a16:creationId xmlns:a16="http://schemas.microsoft.com/office/drawing/2014/main" id="{66EFDB16-A5DB-47F0-A77F-AFEDA83831B5}"/>
              </a:ext>
            </a:extLst>
          </p:cNvPr>
          <p:cNvSpPr>
            <a:spLocks xmlns:a="http://schemas.openxmlformats.org/drawingml/2006/main" noGrp="1"/>
          </p:cNvSpPr>
          <p:nvPr/>
        </p:nvSpPr>
        <p:spPr>
          <a:xfrm xmlns:a="http://schemas.openxmlformats.org/drawingml/2006/main">
            <a:off x="3806190" y="2023110"/>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83247"/>
                </a:solidFill>
                <a:latin typeface="Arial"/>
                <a:ea typeface="Arial"/>
                <a:cs typeface="Arial"/>
              </a:defRPr>
            </a:pPr>
            <a:r>
              <a:rPr sz="1950" b="1">
                <a:solidFill>
                  <a:srgbClr val="183247"/>
                </a:solidFill>
                <a:latin typeface="Arial"/>
                <a:ea typeface="Arial"/>
                <a:cs typeface="Arial"/>
              </a:rPr>
              <a:t>Qt = 30</a:t>
            </a:r>
          </a:p>
        </p:txBody>
      </p:sp>
      <p:sp>
        <p:nvSpPr>
          <p:cNvPr id="13" name="Q₀ = 40">
            <a:extLst xmlns:a="http://schemas.openxmlformats.org/drawingml/2006/main">
              <a:ext uri="{FF2B5EF4-FFF2-40B4-BE49-F238E27FC236}">
                <a16:creationId xmlns:a16="http://schemas.microsoft.com/office/drawing/2014/main" id="{B14978AB-8099-4432-853A-F22986EF0E31}"/>
              </a:ext>
            </a:extLst>
          </p:cNvPr>
          <p:cNvSpPr>
            <a:spLocks xmlns:a="http://schemas.openxmlformats.org/drawingml/2006/main" noGrp="1"/>
          </p:cNvSpPr>
          <p:nvPr/>
        </p:nvSpPr>
        <p:spPr>
          <a:xfrm xmlns:a="http://schemas.openxmlformats.org/drawingml/2006/main">
            <a:off x="5676900" y="5912485"/>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3247"/>
                </a:solidFill>
                <a:latin typeface="Arial"/>
                <a:ea typeface="Arial"/>
                <a:cs typeface="Arial"/>
              </a:defRPr>
            </a:pPr>
            <a:r>
              <a:rPr sz="1875" b="1">
                <a:solidFill>
                  <a:srgbClr val="183247"/>
                </a:solidFill>
                <a:latin typeface="Arial"/>
                <a:ea typeface="Arial"/>
                <a:cs typeface="Arial"/>
              </a:rPr>
              <a:t>Q₀ = 40</a:t>
            </a:r>
          </a:p>
        </p:txBody>
      </p:sp>
      <p:sp>
        <p:nvSpPr>
          <p:cNvPr id="14" name="hatch-O-2">
            <a:extLst xmlns:a="http://schemas.openxmlformats.org/drawingml/2006/main">
              <a:ext uri="{FF2B5EF4-FFF2-40B4-BE49-F238E27FC236}">
                <a16:creationId xmlns:a16="http://schemas.microsoft.com/office/drawing/2014/main" id="{9A074B16-E50D-4CAC-8CF0-97508C033535}"/>
              </a:ext>
            </a:extLst>
          </p:cNvPr>
          <p:cNvSpPr>
            <a:spLocks xmlns:a="http://schemas.openxmlformats.org/drawingml/2006/main" noGrp="1"/>
          </p:cNvSpPr>
          <p:nvPr/>
        </p:nvSpPr>
        <p:spPr>
          <a:xfrm xmlns:a="http://schemas.openxmlformats.org/drawingml/2006/main">
            <a:off x="2039112" y="4699635"/>
            <a:ext cx="0" cy="749300"/>
          </a:xfrm>
          <a:prstGeom xmlns:a="http://schemas.openxmlformats.org/drawingml/2006/main" prst="line">
            <a:avLst/>
          </a:prstGeom>
          <a:ln xmlns:a="http://schemas.openxmlformats.org/drawingml/2006/main" w="9525">
            <a:solidFill>
              <a:srgbClr val="A94D16"/>
            </a:solidFill>
          </a:ln>
        </p:spPr>
      </p:sp>
      <p:sp>
        <p:nvSpPr>
          <p:cNvPr id="15" name="hatch-O-4">
            <a:extLst xmlns:a="http://schemas.openxmlformats.org/drawingml/2006/main">
              <a:ext uri="{FF2B5EF4-FFF2-40B4-BE49-F238E27FC236}">
                <a16:creationId xmlns:a16="http://schemas.microsoft.com/office/drawing/2014/main" id="{D5838805-343C-4A34-9537-11C1D0092604}"/>
              </a:ext>
            </a:extLst>
          </p:cNvPr>
          <p:cNvSpPr>
            <a:spLocks xmlns:a="http://schemas.openxmlformats.org/drawingml/2006/main" noGrp="1"/>
          </p:cNvSpPr>
          <p:nvPr/>
        </p:nvSpPr>
        <p:spPr>
          <a:xfrm xmlns:a="http://schemas.openxmlformats.org/drawingml/2006/main">
            <a:off x="2226564" y="4699635"/>
            <a:ext cx="0" cy="749300"/>
          </a:xfrm>
          <a:prstGeom xmlns:a="http://schemas.openxmlformats.org/drawingml/2006/main" prst="line">
            <a:avLst/>
          </a:prstGeom>
          <a:ln xmlns:a="http://schemas.openxmlformats.org/drawingml/2006/main" w="9525">
            <a:solidFill>
              <a:srgbClr val="A94D16"/>
            </a:solidFill>
          </a:ln>
        </p:spPr>
      </p:sp>
      <p:sp>
        <p:nvSpPr>
          <p:cNvPr id="16" name="hatch-O-6">
            <a:extLst xmlns:a="http://schemas.openxmlformats.org/drawingml/2006/main">
              <a:ext uri="{FF2B5EF4-FFF2-40B4-BE49-F238E27FC236}">
                <a16:creationId xmlns:a16="http://schemas.microsoft.com/office/drawing/2014/main" id="{74D74A8C-8C72-4681-9DF0-D6CF10F622FB}"/>
              </a:ext>
            </a:extLst>
          </p:cNvPr>
          <p:cNvSpPr>
            <a:spLocks xmlns:a="http://schemas.openxmlformats.org/drawingml/2006/main" noGrp="1"/>
          </p:cNvSpPr>
          <p:nvPr/>
        </p:nvSpPr>
        <p:spPr>
          <a:xfrm xmlns:a="http://schemas.openxmlformats.org/drawingml/2006/main">
            <a:off x="2414016" y="4699635"/>
            <a:ext cx="0" cy="749300"/>
          </a:xfrm>
          <a:prstGeom xmlns:a="http://schemas.openxmlformats.org/drawingml/2006/main" prst="line">
            <a:avLst/>
          </a:prstGeom>
          <a:ln xmlns:a="http://schemas.openxmlformats.org/drawingml/2006/main" w="9525">
            <a:solidFill>
              <a:srgbClr val="A94D16"/>
            </a:solidFill>
          </a:ln>
        </p:spPr>
      </p:sp>
      <p:sp>
        <p:nvSpPr>
          <p:cNvPr id="17" name="hatch-O-8">
            <a:extLst xmlns:a="http://schemas.openxmlformats.org/drawingml/2006/main">
              <a:ext uri="{FF2B5EF4-FFF2-40B4-BE49-F238E27FC236}">
                <a16:creationId xmlns:a16="http://schemas.microsoft.com/office/drawing/2014/main" id="{4B08D16A-D7AD-42B6-8C46-A3C47F38604D}"/>
              </a:ext>
            </a:extLst>
          </p:cNvPr>
          <p:cNvSpPr>
            <a:spLocks xmlns:a="http://schemas.openxmlformats.org/drawingml/2006/main" noGrp="1"/>
          </p:cNvSpPr>
          <p:nvPr/>
        </p:nvSpPr>
        <p:spPr>
          <a:xfrm xmlns:a="http://schemas.openxmlformats.org/drawingml/2006/main">
            <a:off x="2601468" y="4699635"/>
            <a:ext cx="0" cy="749300"/>
          </a:xfrm>
          <a:prstGeom xmlns:a="http://schemas.openxmlformats.org/drawingml/2006/main" prst="line">
            <a:avLst/>
          </a:prstGeom>
          <a:ln xmlns:a="http://schemas.openxmlformats.org/drawingml/2006/main" w="9525">
            <a:solidFill>
              <a:srgbClr val="A94D16"/>
            </a:solidFill>
          </a:ln>
        </p:spPr>
      </p:sp>
      <p:sp>
        <p:nvSpPr>
          <p:cNvPr id="18" name="hatch-O-10">
            <a:extLst xmlns:a="http://schemas.openxmlformats.org/drawingml/2006/main">
              <a:ext uri="{FF2B5EF4-FFF2-40B4-BE49-F238E27FC236}">
                <a16:creationId xmlns:a16="http://schemas.microsoft.com/office/drawing/2014/main" id="{3C3B266B-5DAA-4EE9-9B04-04969247DC7C}"/>
              </a:ext>
            </a:extLst>
          </p:cNvPr>
          <p:cNvSpPr>
            <a:spLocks xmlns:a="http://schemas.openxmlformats.org/drawingml/2006/main" noGrp="1"/>
          </p:cNvSpPr>
          <p:nvPr/>
        </p:nvSpPr>
        <p:spPr>
          <a:xfrm xmlns:a="http://schemas.openxmlformats.org/drawingml/2006/main">
            <a:off x="2788920" y="4699635"/>
            <a:ext cx="0" cy="749300"/>
          </a:xfrm>
          <a:prstGeom xmlns:a="http://schemas.openxmlformats.org/drawingml/2006/main" prst="line">
            <a:avLst/>
          </a:prstGeom>
          <a:ln xmlns:a="http://schemas.openxmlformats.org/drawingml/2006/main" w="9525">
            <a:solidFill>
              <a:srgbClr val="A94D16"/>
            </a:solidFill>
          </a:ln>
        </p:spPr>
      </p:sp>
      <p:sp>
        <p:nvSpPr>
          <p:cNvPr id="19" name="hatch-O-12">
            <a:extLst xmlns:a="http://schemas.openxmlformats.org/drawingml/2006/main">
              <a:ext uri="{FF2B5EF4-FFF2-40B4-BE49-F238E27FC236}">
                <a16:creationId xmlns:a16="http://schemas.microsoft.com/office/drawing/2014/main" id="{B98450FA-6229-4C51-95F8-A061D1C6643E}"/>
              </a:ext>
            </a:extLst>
          </p:cNvPr>
          <p:cNvSpPr>
            <a:spLocks xmlns:a="http://schemas.openxmlformats.org/drawingml/2006/main" noGrp="1"/>
          </p:cNvSpPr>
          <p:nvPr/>
        </p:nvSpPr>
        <p:spPr>
          <a:xfrm xmlns:a="http://schemas.openxmlformats.org/drawingml/2006/main">
            <a:off x="2976372" y="4699635"/>
            <a:ext cx="0" cy="749300"/>
          </a:xfrm>
          <a:prstGeom xmlns:a="http://schemas.openxmlformats.org/drawingml/2006/main" prst="line">
            <a:avLst/>
          </a:prstGeom>
          <a:ln xmlns:a="http://schemas.openxmlformats.org/drawingml/2006/main" w="9525">
            <a:solidFill>
              <a:srgbClr val="A94D16"/>
            </a:solidFill>
          </a:ln>
        </p:spPr>
      </p:sp>
      <p:sp>
        <p:nvSpPr>
          <p:cNvPr id="20" name="hatch-O-14">
            <a:extLst xmlns:a="http://schemas.openxmlformats.org/drawingml/2006/main">
              <a:ext uri="{FF2B5EF4-FFF2-40B4-BE49-F238E27FC236}">
                <a16:creationId xmlns:a16="http://schemas.microsoft.com/office/drawing/2014/main" id="{4890BF72-F7A0-4AD9-8D84-FD59D22BA52D}"/>
              </a:ext>
            </a:extLst>
          </p:cNvPr>
          <p:cNvSpPr>
            <a:spLocks xmlns:a="http://schemas.openxmlformats.org/drawingml/2006/main" noGrp="1"/>
          </p:cNvSpPr>
          <p:nvPr/>
        </p:nvSpPr>
        <p:spPr>
          <a:xfrm xmlns:a="http://schemas.openxmlformats.org/drawingml/2006/main">
            <a:off x="3163824" y="4699635"/>
            <a:ext cx="0" cy="749300"/>
          </a:xfrm>
          <a:prstGeom xmlns:a="http://schemas.openxmlformats.org/drawingml/2006/main" prst="line">
            <a:avLst/>
          </a:prstGeom>
          <a:ln xmlns:a="http://schemas.openxmlformats.org/drawingml/2006/main" w="9525">
            <a:solidFill>
              <a:srgbClr val="A94D16"/>
            </a:solidFill>
          </a:ln>
        </p:spPr>
      </p:sp>
      <p:sp>
        <p:nvSpPr>
          <p:cNvPr id="21" name="hatch-O-16">
            <a:extLst xmlns:a="http://schemas.openxmlformats.org/drawingml/2006/main">
              <a:ext uri="{FF2B5EF4-FFF2-40B4-BE49-F238E27FC236}">
                <a16:creationId xmlns:a16="http://schemas.microsoft.com/office/drawing/2014/main" id="{4CC54B2A-F3C7-4308-A63B-4E9213EC4671}"/>
              </a:ext>
            </a:extLst>
          </p:cNvPr>
          <p:cNvSpPr>
            <a:spLocks xmlns:a="http://schemas.openxmlformats.org/drawingml/2006/main" noGrp="1"/>
          </p:cNvSpPr>
          <p:nvPr/>
        </p:nvSpPr>
        <p:spPr>
          <a:xfrm xmlns:a="http://schemas.openxmlformats.org/drawingml/2006/main">
            <a:off x="3351276" y="4699635"/>
            <a:ext cx="0" cy="749300"/>
          </a:xfrm>
          <a:prstGeom xmlns:a="http://schemas.openxmlformats.org/drawingml/2006/main" prst="line">
            <a:avLst/>
          </a:prstGeom>
          <a:ln xmlns:a="http://schemas.openxmlformats.org/drawingml/2006/main" w="9525">
            <a:solidFill>
              <a:srgbClr val="A94D16"/>
            </a:solidFill>
          </a:ln>
        </p:spPr>
      </p:sp>
      <p:sp>
        <p:nvSpPr>
          <p:cNvPr id="22" name="hatch-O-18">
            <a:extLst xmlns:a="http://schemas.openxmlformats.org/drawingml/2006/main">
              <a:ext uri="{FF2B5EF4-FFF2-40B4-BE49-F238E27FC236}">
                <a16:creationId xmlns:a16="http://schemas.microsoft.com/office/drawing/2014/main" id="{A9BF47B9-0830-486D-A470-1F0080866663}"/>
              </a:ext>
            </a:extLst>
          </p:cNvPr>
          <p:cNvSpPr>
            <a:spLocks xmlns:a="http://schemas.openxmlformats.org/drawingml/2006/main" noGrp="1"/>
          </p:cNvSpPr>
          <p:nvPr/>
        </p:nvSpPr>
        <p:spPr>
          <a:xfrm xmlns:a="http://schemas.openxmlformats.org/drawingml/2006/main">
            <a:off x="3538728" y="4699635"/>
            <a:ext cx="0" cy="749300"/>
          </a:xfrm>
          <a:prstGeom xmlns:a="http://schemas.openxmlformats.org/drawingml/2006/main" prst="line">
            <a:avLst/>
          </a:prstGeom>
          <a:ln xmlns:a="http://schemas.openxmlformats.org/drawingml/2006/main" w="9525">
            <a:solidFill>
              <a:srgbClr val="A94D16"/>
            </a:solidFill>
          </a:ln>
        </p:spPr>
      </p:sp>
      <p:sp>
        <p:nvSpPr>
          <p:cNvPr id="23" name="hatch-O-20">
            <a:extLst xmlns:a="http://schemas.openxmlformats.org/drawingml/2006/main">
              <a:ext uri="{FF2B5EF4-FFF2-40B4-BE49-F238E27FC236}">
                <a16:creationId xmlns:a16="http://schemas.microsoft.com/office/drawing/2014/main" id="{D5D18E9F-FA7F-45B4-BCDA-65646DD2C0DB}"/>
              </a:ext>
            </a:extLst>
          </p:cNvPr>
          <p:cNvSpPr>
            <a:spLocks xmlns:a="http://schemas.openxmlformats.org/drawingml/2006/main" noGrp="1"/>
          </p:cNvSpPr>
          <p:nvPr/>
        </p:nvSpPr>
        <p:spPr>
          <a:xfrm xmlns:a="http://schemas.openxmlformats.org/drawingml/2006/main">
            <a:off x="3726180" y="4699635"/>
            <a:ext cx="0" cy="749300"/>
          </a:xfrm>
          <a:prstGeom xmlns:a="http://schemas.openxmlformats.org/drawingml/2006/main" prst="line">
            <a:avLst/>
          </a:prstGeom>
          <a:ln xmlns:a="http://schemas.openxmlformats.org/drawingml/2006/main" w="9525">
            <a:solidFill>
              <a:srgbClr val="A94D16"/>
            </a:solidFill>
          </a:ln>
        </p:spPr>
      </p:sp>
      <p:sp>
        <p:nvSpPr>
          <p:cNvPr id="24" name="hatch-O-22">
            <a:extLst xmlns:a="http://schemas.openxmlformats.org/drawingml/2006/main">
              <a:ext uri="{FF2B5EF4-FFF2-40B4-BE49-F238E27FC236}">
                <a16:creationId xmlns:a16="http://schemas.microsoft.com/office/drawing/2014/main" id="{7D9FB69D-6C49-4C6C-B4BC-96C2C88B1363}"/>
              </a:ext>
            </a:extLst>
          </p:cNvPr>
          <p:cNvSpPr>
            <a:spLocks xmlns:a="http://schemas.openxmlformats.org/drawingml/2006/main" noGrp="1"/>
          </p:cNvSpPr>
          <p:nvPr/>
        </p:nvSpPr>
        <p:spPr>
          <a:xfrm xmlns:a="http://schemas.openxmlformats.org/drawingml/2006/main">
            <a:off x="3913632" y="4699635"/>
            <a:ext cx="0" cy="749300"/>
          </a:xfrm>
          <a:prstGeom xmlns:a="http://schemas.openxmlformats.org/drawingml/2006/main" prst="line">
            <a:avLst/>
          </a:prstGeom>
          <a:ln xmlns:a="http://schemas.openxmlformats.org/drawingml/2006/main" w="9525">
            <a:solidFill>
              <a:srgbClr val="A94D16"/>
            </a:solidFill>
          </a:ln>
        </p:spPr>
      </p:sp>
      <p:sp>
        <p:nvSpPr>
          <p:cNvPr id="25" name="hatch-O-24">
            <a:extLst xmlns:a="http://schemas.openxmlformats.org/drawingml/2006/main">
              <a:ext uri="{FF2B5EF4-FFF2-40B4-BE49-F238E27FC236}">
                <a16:creationId xmlns:a16="http://schemas.microsoft.com/office/drawing/2014/main" id="{21CB3634-EA95-415C-A6B3-E240EB8F0CF5}"/>
              </a:ext>
            </a:extLst>
          </p:cNvPr>
          <p:cNvSpPr>
            <a:spLocks xmlns:a="http://schemas.openxmlformats.org/drawingml/2006/main" noGrp="1"/>
          </p:cNvSpPr>
          <p:nvPr/>
        </p:nvSpPr>
        <p:spPr>
          <a:xfrm xmlns:a="http://schemas.openxmlformats.org/drawingml/2006/main">
            <a:off x="4101084" y="4699635"/>
            <a:ext cx="0" cy="749300"/>
          </a:xfrm>
          <a:prstGeom xmlns:a="http://schemas.openxmlformats.org/drawingml/2006/main" prst="line">
            <a:avLst/>
          </a:prstGeom>
          <a:ln xmlns:a="http://schemas.openxmlformats.org/drawingml/2006/main" w="9525">
            <a:solidFill>
              <a:srgbClr val="A94D16"/>
            </a:solidFill>
          </a:ln>
        </p:spPr>
      </p:sp>
      <p:sp>
        <p:nvSpPr>
          <p:cNvPr id="26" name="hatch-O-26">
            <a:extLst xmlns:a="http://schemas.openxmlformats.org/drawingml/2006/main">
              <a:ext uri="{FF2B5EF4-FFF2-40B4-BE49-F238E27FC236}">
                <a16:creationId xmlns:a16="http://schemas.microsoft.com/office/drawing/2014/main" id="{B23742FE-3FA1-4371-A52C-E1AFDDA42FBB}"/>
              </a:ext>
            </a:extLst>
          </p:cNvPr>
          <p:cNvSpPr>
            <a:spLocks xmlns:a="http://schemas.openxmlformats.org/drawingml/2006/main" noGrp="1"/>
          </p:cNvSpPr>
          <p:nvPr/>
        </p:nvSpPr>
        <p:spPr>
          <a:xfrm xmlns:a="http://schemas.openxmlformats.org/drawingml/2006/main">
            <a:off x="4288536" y="4699635"/>
            <a:ext cx="0" cy="749300"/>
          </a:xfrm>
          <a:prstGeom xmlns:a="http://schemas.openxmlformats.org/drawingml/2006/main" prst="line">
            <a:avLst/>
          </a:prstGeom>
          <a:ln xmlns:a="http://schemas.openxmlformats.org/drawingml/2006/main" w="9525">
            <a:solidFill>
              <a:srgbClr val="A94D16"/>
            </a:solidFill>
          </a:ln>
        </p:spPr>
      </p:sp>
      <p:sp>
        <p:nvSpPr>
          <p:cNvPr id="27" name="hatch-O-28">
            <a:extLst xmlns:a="http://schemas.openxmlformats.org/drawingml/2006/main">
              <a:ext uri="{FF2B5EF4-FFF2-40B4-BE49-F238E27FC236}">
                <a16:creationId xmlns:a16="http://schemas.microsoft.com/office/drawing/2014/main" id="{E49BBBBB-EB09-4C61-93A9-1F860CBB97D3}"/>
              </a:ext>
            </a:extLst>
          </p:cNvPr>
          <p:cNvSpPr>
            <a:spLocks xmlns:a="http://schemas.openxmlformats.org/drawingml/2006/main" noGrp="1"/>
          </p:cNvSpPr>
          <p:nvPr/>
        </p:nvSpPr>
        <p:spPr>
          <a:xfrm xmlns:a="http://schemas.openxmlformats.org/drawingml/2006/main">
            <a:off x="4475988" y="4699635"/>
            <a:ext cx="0" cy="749300"/>
          </a:xfrm>
          <a:prstGeom xmlns:a="http://schemas.openxmlformats.org/drawingml/2006/main" prst="line">
            <a:avLst/>
          </a:prstGeom>
          <a:ln xmlns:a="http://schemas.openxmlformats.org/drawingml/2006/main" w="9525">
            <a:solidFill>
              <a:srgbClr val="A94D16"/>
            </a:solidFill>
          </a:ln>
        </p:spPr>
      </p:sp>
      <p:sp>
        <p:nvSpPr>
          <p:cNvPr id="28" name="hatch-W-8.25">
            <a:extLst xmlns:a="http://schemas.openxmlformats.org/drawingml/2006/main">
              <a:ext uri="{FF2B5EF4-FFF2-40B4-BE49-F238E27FC236}">
                <a16:creationId xmlns:a16="http://schemas.microsoft.com/office/drawing/2014/main" id="{78FF2AA8-E0FA-48EB-ABBC-5FE0D6A4A594}"/>
              </a:ext>
            </a:extLst>
          </p:cNvPr>
          <p:cNvSpPr>
            <a:spLocks xmlns:a="http://schemas.openxmlformats.org/drawingml/2006/main" noGrp="1"/>
          </p:cNvSpPr>
          <p:nvPr/>
        </p:nvSpPr>
        <p:spPr>
          <a:xfrm xmlns:a="http://schemas.openxmlformats.org/drawingml/2006/main">
            <a:off x="4663440" y="5402104"/>
            <a:ext cx="117157" cy="0"/>
          </a:xfrm>
          <a:prstGeom xmlns:a="http://schemas.openxmlformats.org/drawingml/2006/main" prst="line">
            <a:avLst/>
          </a:prstGeom>
          <a:ln xmlns:a="http://schemas.openxmlformats.org/drawingml/2006/main" w="10478">
            <a:solidFill>
              <a:srgbClr val="9C3529"/>
            </a:solidFill>
          </a:ln>
        </p:spPr>
      </p:sp>
      <p:sp>
        <p:nvSpPr>
          <p:cNvPr id="29" name="hatch-W-8.6">
            <a:extLst xmlns:a="http://schemas.openxmlformats.org/drawingml/2006/main">
              <a:ext uri="{FF2B5EF4-FFF2-40B4-BE49-F238E27FC236}">
                <a16:creationId xmlns:a16="http://schemas.microsoft.com/office/drawing/2014/main" id="{0D9F2C19-BCA5-4051-8E64-78F8602372F4}"/>
              </a:ext>
            </a:extLst>
          </p:cNvPr>
          <p:cNvSpPr>
            <a:spLocks xmlns:a="http://schemas.openxmlformats.org/drawingml/2006/main" noGrp="1"/>
          </p:cNvSpPr>
          <p:nvPr/>
        </p:nvSpPr>
        <p:spPr>
          <a:xfrm xmlns:a="http://schemas.openxmlformats.org/drawingml/2006/main">
            <a:off x="4663440" y="5336540"/>
            <a:ext cx="281178" cy="0"/>
          </a:xfrm>
          <a:prstGeom xmlns:a="http://schemas.openxmlformats.org/drawingml/2006/main" prst="line">
            <a:avLst/>
          </a:prstGeom>
          <a:ln xmlns:a="http://schemas.openxmlformats.org/drawingml/2006/main" w="10478">
            <a:solidFill>
              <a:srgbClr val="9C3529"/>
            </a:solidFill>
          </a:ln>
        </p:spPr>
      </p:sp>
      <p:sp>
        <p:nvSpPr>
          <p:cNvPr id="30" name="hatch-W-8.95">
            <a:extLst xmlns:a="http://schemas.openxmlformats.org/drawingml/2006/main">
              <a:ext uri="{FF2B5EF4-FFF2-40B4-BE49-F238E27FC236}">
                <a16:creationId xmlns:a16="http://schemas.microsoft.com/office/drawing/2014/main" id="{0943627C-E8D9-438B-8745-A8A0C09546E1}"/>
              </a:ext>
            </a:extLst>
          </p:cNvPr>
          <p:cNvSpPr>
            <a:spLocks xmlns:a="http://schemas.openxmlformats.org/drawingml/2006/main" noGrp="1"/>
          </p:cNvSpPr>
          <p:nvPr/>
        </p:nvSpPr>
        <p:spPr>
          <a:xfrm xmlns:a="http://schemas.openxmlformats.org/drawingml/2006/main">
            <a:off x="4663440" y="5270976"/>
            <a:ext cx="445198" cy="0"/>
          </a:xfrm>
          <a:prstGeom xmlns:a="http://schemas.openxmlformats.org/drawingml/2006/main" prst="line">
            <a:avLst/>
          </a:prstGeom>
          <a:ln xmlns:a="http://schemas.openxmlformats.org/drawingml/2006/main" w="10478">
            <a:solidFill>
              <a:srgbClr val="9C3529"/>
            </a:solidFill>
          </a:ln>
        </p:spPr>
      </p:sp>
      <p:sp>
        <p:nvSpPr>
          <p:cNvPr id="31" name="hatch-W-9.299999999999999">
            <a:extLst xmlns:a="http://schemas.openxmlformats.org/drawingml/2006/main">
              <a:ext uri="{FF2B5EF4-FFF2-40B4-BE49-F238E27FC236}">
                <a16:creationId xmlns:a16="http://schemas.microsoft.com/office/drawing/2014/main" id="{A76928BA-3767-4586-8015-096C05C1EA63}"/>
              </a:ext>
            </a:extLst>
          </p:cNvPr>
          <p:cNvSpPr>
            <a:spLocks xmlns:a="http://schemas.openxmlformats.org/drawingml/2006/main" noGrp="1"/>
          </p:cNvSpPr>
          <p:nvPr/>
        </p:nvSpPr>
        <p:spPr>
          <a:xfrm xmlns:a="http://schemas.openxmlformats.org/drawingml/2006/main">
            <a:off x="4663440" y="5205413"/>
            <a:ext cx="609219" cy="0"/>
          </a:xfrm>
          <a:prstGeom xmlns:a="http://schemas.openxmlformats.org/drawingml/2006/main" prst="line">
            <a:avLst/>
          </a:prstGeom>
          <a:ln xmlns:a="http://schemas.openxmlformats.org/drawingml/2006/main" w="10478">
            <a:solidFill>
              <a:srgbClr val="9C3529"/>
            </a:solidFill>
          </a:ln>
        </p:spPr>
      </p:sp>
      <p:sp>
        <p:nvSpPr>
          <p:cNvPr id="32" name="hatch-W-9.649999999999999">
            <a:extLst xmlns:a="http://schemas.openxmlformats.org/drawingml/2006/main">
              <a:ext uri="{FF2B5EF4-FFF2-40B4-BE49-F238E27FC236}">
                <a16:creationId xmlns:a16="http://schemas.microsoft.com/office/drawing/2014/main" id="{434C5D48-6443-4C5E-BBF6-8E3B4EF93952}"/>
              </a:ext>
            </a:extLst>
          </p:cNvPr>
          <p:cNvSpPr>
            <a:spLocks xmlns:a="http://schemas.openxmlformats.org/drawingml/2006/main" noGrp="1"/>
          </p:cNvSpPr>
          <p:nvPr/>
        </p:nvSpPr>
        <p:spPr>
          <a:xfrm xmlns:a="http://schemas.openxmlformats.org/drawingml/2006/main">
            <a:off x="4663440" y="5139849"/>
            <a:ext cx="773239" cy="0"/>
          </a:xfrm>
          <a:prstGeom xmlns:a="http://schemas.openxmlformats.org/drawingml/2006/main" prst="line">
            <a:avLst/>
          </a:prstGeom>
          <a:ln xmlns:a="http://schemas.openxmlformats.org/drawingml/2006/main" w="10478">
            <a:solidFill>
              <a:srgbClr val="9C3529"/>
            </a:solidFill>
          </a:ln>
        </p:spPr>
      </p:sp>
      <p:sp>
        <p:nvSpPr>
          <p:cNvPr id="33" name="hatch-W-9.999999999999998">
            <a:extLst xmlns:a="http://schemas.openxmlformats.org/drawingml/2006/main">
              <a:ext uri="{FF2B5EF4-FFF2-40B4-BE49-F238E27FC236}">
                <a16:creationId xmlns:a16="http://schemas.microsoft.com/office/drawing/2014/main" id="{75A238F8-CB54-4DA5-B093-F6D890D5DFDB}"/>
              </a:ext>
            </a:extLst>
          </p:cNvPr>
          <p:cNvSpPr>
            <a:spLocks xmlns:a="http://schemas.openxmlformats.org/drawingml/2006/main" noGrp="1"/>
          </p:cNvSpPr>
          <p:nvPr/>
        </p:nvSpPr>
        <p:spPr>
          <a:xfrm xmlns:a="http://schemas.openxmlformats.org/drawingml/2006/main">
            <a:off x="4663440" y="5074285"/>
            <a:ext cx="937260" cy="0"/>
          </a:xfrm>
          <a:prstGeom xmlns:a="http://schemas.openxmlformats.org/drawingml/2006/main" prst="line">
            <a:avLst/>
          </a:prstGeom>
          <a:ln xmlns:a="http://schemas.openxmlformats.org/drawingml/2006/main" w="10478">
            <a:solidFill>
              <a:srgbClr val="9C3529"/>
            </a:solidFill>
          </a:ln>
        </p:spPr>
      </p:sp>
      <p:sp>
        <p:nvSpPr>
          <p:cNvPr id="34" name="hatch-W-10.349999999999998">
            <a:extLst xmlns:a="http://schemas.openxmlformats.org/drawingml/2006/main">
              <a:ext uri="{FF2B5EF4-FFF2-40B4-BE49-F238E27FC236}">
                <a16:creationId xmlns:a16="http://schemas.microsoft.com/office/drawing/2014/main" id="{23260A72-E6F8-4DFF-937E-0A113F0BD079}"/>
              </a:ext>
            </a:extLst>
          </p:cNvPr>
          <p:cNvSpPr>
            <a:spLocks xmlns:a="http://schemas.openxmlformats.org/drawingml/2006/main" noGrp="1"/>
          </p:cNvSpPr>
          <p:nvPr/>
        </p:nvSpPr>
        <p:spPr>
          <a:xfrm xmlns:a="http://schemas.openxmlformats.org/drawingml/2006/main">
            <a:off x="4663440" y="5008721"/>
            <a:ext cx="773240" cy="0"/>
          </a:xfrm>
          <a:prstGeom xmlns:a="http://schemas.openxmlformats.org/drawingml/2006/main" prst="line">
            <a:avLst/>
          </a:prstGeom>
          <a:ln xmlns:a="http://schemas.openxmlformats.org/drawingml/2006/main" w="10478">
            <a:solidFill>
              <a:srgbClr val="9C3529"/>
            </a:solidFill>
          </a:ln>
        </p:spPr>
      </p:sp>
      <p:sp>
        <p:nvSpPr>
          <p:cNvPr id="35" name="hatch-W-10.699999999999998">
            <a:extLst xmlns:a="http://schemas.openxmlformats.org/drawingml/2006/main">
              <a:ext uri="{FF2B5EF4-FFF2-40B4-BE49-F238E27FC236}">
                <a16:creationId xmlns:a16="http://schemas.microsoft.com/office/drawing/2014/main" id="{C0F5E7B2-B78F-46F0-87F2-46495FDE8885}"/>
              </a:ext>
            </a:extLst>
          </p:cNvPr>
          <p:cNvSpPr>
            <a:spLocks xmlns:a="http://schemas.openxmlformats.org/drawingml/2006/main" noGrp="1"/>
          </p:cNvSpPr>
          <p:nvPr/>
        </p:nvSpPr>
        <p:spPr>
          <a:xfrm xmlns:a="http://schemas.openxmlformats.org/drawingml/2006/main">
            <a:off x="4663440" y="4943158"/>
            <a:ext cx="609219" cy="0"/>
          </a:xfrm>
          <a:prstGeom xmlns:a="http://schemas.openxmlformats.org/drawingml/2006/main" prst="line">
            <a:avLst/>
          </a:prstGeom>
          <a:ln xmlns:a="http://schemas.openxmlformats.org/drawingml/2006/main" w="10478">
            <a:solidFill>
              <a:srgbClr val="9C3529"/>
            </a:solidFill>
          </a:ln>
        </p:spPr>
      </p:sp>
      <p:sp>
        <p:nvSpPr>
          <p:cNvPr id="36" name="hatch-W-11.049999999999997">
            <a:extLst xmlns:a="http://schemas.openxmlformats.org/drawingml/2006/main">
              <a:ext uri="{FF2B5EF4-FFF2-40B4-BE49-F238E27FC236}">
                <a16:creationId xmlns:a16="http://schemas.microsoft.com/office/drawing/2014/main" id="{5638FB97-BA84-4065-876D-BFBFDBE6ADAE}"/>
              </a:ext>
            </a:extLst>
          </p:cNvPr>
          <p:cNvSpPr>
            <a:spLocks xmlns:a="http://schemas.openxmlformats.org/drawingml/2006/main" noGrp="1"/>
          </p:cNvSpPr>
          <p:nvPr/>
        </p:nvSpPr>
        <p:spPr>
          <a:xfrm xmlns:a="http://schemas.openxmlformats.org/drawingml/2006/main">
            <a:off x="4663440" y="4877594"/>
            <a:ext cx="445199" cy="0"/>
          </a:xfrm>
          <a:prstGeom xmlns:a="http://schemas.openxmlformats.org/drawingml/2006/main" prst="line">
            <a:avLst/>
          </a:prstGeom>
          <a:ln xmlns:a="http://schemas.openxmlformats.org/drawingml/2006/main" w="10478">
            <a:solidFill>
              <a:srgbClr val="9C3529"/>
            </a:solidFill>
          </a:ln>
        </p:spPr>
      </p:sp>
      <p:sp>
        <p:nvSpPr>
          <p:cNvPr id="37" name="hatch-W-11.399999999999997">
            <a:extLst xmlns:a="http://schemas.openxmlformats.org/drawingml/2006/main">
              <a:ext uri="{FF2B5EF4-FFF2-40B4-BE49-F238E27FC236}">
                <a16:creationId xmlns:a16="http://schemas.microsoft.com/office/drawing/2014/main" id="{AEA65717-0BB3-4223-A8CC-E750E84D19E7}"/>
              </a:ext>
            </a:extLst>
          </p:cNvPr>
          <p:cNvSpPr>
            <a:spLocks xmlns:a="http://schemas.openxmlformats.org/drawingml/2006/main" noGrp="1"/>
          </p:cNvSpPr>
          <p:nvPr/>
        </p:nvSpPr>
        <p:spPr>
          <a:xfrm xmlns:a="http://schemas.openxmlformats.org/drawingml/2006/main">
            <a:off x="4663440" y="4812030"/>
            <a:ext cx="281178" cy="0"/>
          </a:xfrm>
          <a:prstGeom xmlns:a="http://schemas.openxmlformats.org/drawingml/2006/main" prst="line">
            <a:avLst/>
          </a:prstGeom>
          <a:ln xmlns:a="http://schemas.openxmlformats.org/drawingml/2006/main" w="10478">
            <a:solidFill>
              <a:srgbClr val="9C3529"/>
            </a:solidFill>
          </a:ln>
        </p:spPr>
      </p:sp>
      <p:sp>
        <p:nvSpPr>
          <p:cNvPr id="38" name="hatch-W-11.749999999999996">
            <a:extLst xmlns:a="http://schemas.openxmlformats.org/drawingml/2006/main">
              <a:ext uri="{FF2B5EF4-FFF2-40B4-BE49-F238E27FC236}">
                <a16:creationId xmlns:a16="http://schemas.microsoft.com/office/drawing/2014/main" id="{613A9B05-6B25-4B48-907D-0527D78B7CCD}"/>
              </a:ext>
            </a:extLst>
          </p:cNvPr>
          <p:cNvSpPr>
            <a:spLocks xmlns:a="http://schemas.openxmlformats.org/drawingml/2006/main" noGrp="1"/>
          </p:cNvSpPr>
          <p:nvPr/>
        </p:nvSpPr>
        <p:spPr>
          <a:xfrm xmlns:a="http://schemas.openxmlformats.org/drawingml/2006/main">
            <a:off x="4663440" y="4746466"/>
            <a:ext cx="117158" cy="0"/>
          </a:xfrm>
          <a:prstGeom xmlns:a="http://schemas.openxmlformats.org/drawingml/2006/main" prst="line">
            <a:avLst/>
          </a:prstGeom>
          <a:ln xmlns:a="http://schemas.openxmlformats.org/drawingml/2006/main" w="10478">
            <a:solidFill>
              <a:srgbClr val="9C3529"/>
            </a:solidFill>
          </a:ln>
        </p:spPr>
      </p:sp>
      <p:sp>
        <p:nvSpPr>
          <p:cNvPr id="39" name="O">
            <a:extLst xmlns:a="http://schemas.openxmlformats.org/drawingml/2006/main">
              <a:ext uri="{FF2B5EF4-FFF2-40B4-BE49-F238E27FC236}">
                <a16:creationId xmlns:a16="http://schemas.microsoft.com/office/drawing/2014/main" id="{D61D3BA9-C992-4A0C-A90E-C886ED7B799F}"/>
              </a:ext>
            </a:extLst>
          </p:cNvPr>
          <p:cNvSpPr>
            <a:spLocks xmlns:a="http://schemas.openxmlformats.org/drawingml/2006/main" noGrp="1"/>
          </p:cNvSpPr>
          <p:nvPr/>
        </p:nvSpPr>
        <p:spPr>
          <a:xfrm xmlns:a="http://schemas.openxmlformats.org/drawingml/2006/main">
            <a:off x="3173197" y="493141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83247"/>
                </a:solidFill>
                <a:latin typeface="Arial"/>
                <a:ea typeface="Arial"/>
                <a:cs typeface="Arial"/>
              </a:defRPr>
            </a:pPr>
            <a:r>
              <a:rPr sz="2100" b="1">
                <a:solidFill>
                  <a:srgbClr val="183247"/>
                </a:solidFill>
                <a:latin typeface="Arial"/>
                <a:ea typeface="Arial"/>
                <a:cs typeface="Arial"/>
              </a:rPr>
              <a:t>O</a:t>
            </a:r>
          </a:p>
        </p:txBody>
      </p:sp>
      <p:sp>
        <p:nvSpPr>
          <p:cNvPr id="40" name="W">
            <a:extLst xmlns:a="http://schemas.openxmlformats.org/drawingml/2006/main">
              <a:ext uri="{FF2B5EF4-FFF2-40B4-BE49-F238E27FC236}">
                <a16:creationId xmlns:a16="http://schemas.microsoft.com/office/drawing/2014/main" id="{1D83DE5B-E338-4402-B033-675B5B5B4E62}"/>
              </a:ext>
            </a:extLst>
          </p:cNvPr>
          <p:cNvSpPr>
            <a:spLocks xmlns:a="http://schemas.openxmlformats.org/drawingml/2006/main" noGrp="1"/>
          </p:cNvSpPr>
          <p:nvPr/>
        </p:nvSpPr>
        <p:spPr>
          <a:xfrm xmlns:a="http://schemas.openxmlformats.org/drawingml/2006/main">
            <a:off x="6057900" y="453771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9C3529"/>
                </a:solidFill>
                <a:latin typeface="Arial"/>
                <a:ea typeface="Arial"/>
                <a:cs typeface="Arial"/>
              </a:defRPr>
            </a:pPr>
            <a:r>
              <a:rPr sz="2100" b="1">
                <a:solidFill>
                  <a:srgbClr val="9C3529"/>
                </a:solidFill>
                <a:latin typeface="Arial"/>
                <a:ea typeface="Arial"/>
                <a:cs typeface="Arial"/>
              </a:rPr>
              <a:t>W</a:t>
            </a:r>
          </a:p>
        </p:txBody>
      </p:sp>
      <p:sp>
        <p:nvSpPr>
          <p:cNvPr id="41" name="W-leader">
            <a:extLst xmlns:a="http://schemas.openxmlformats.org/drawingml/2006/main">
              <a:ext uri="{FF2B5EF4-FFF2-40B4-BE49-F238E27FC236}">
                <a16:creationId xmlns:a16="http://schemas.microsoft.com/office/drawing/2014/main" id="{2AF77973-D986-45BB-BC15-2683AFA94695}"/>
              </a:ext>
            </a:extLst>
          </p:cNvPr>
          <p:cNvSpPr>
            <a:spLocks xmlns:a="http://schemas.openxmlformats.org/drawingml/2006/main" noGrp="1"/>
          </p:cNvSpPr>
          <p:nvPr/>
        </p:nvSpPr>
        <p:spPr>
          <a:xfrm xmlns:a="http://schemas.openxmlformats.org/drawingml/2006/main" flipV="1">
            <a:off x="4975860" y="4775835"/>
            <a:ext cx="1005840" cy="298450"/>
          </a:xfrm>
          <a:prstGeom xmlns:a="http://schemas.openxmlformats.org/drawingml/2006/main" prst="line">
            <a:avLst/>
          </a:prstGeom>
          <a:ln xmlns:a="http://schemas.openxmlformats.org/drawingml/2006/main" w="13335">
            <a:solidFill>
              <a:srgbClr val="9C3529"/>
            </a:solidFill>
          </a:ln>
        </p:spPr>
      </p:sp>
      <p:sp>
        <p:nvSpPr>
          <p:cNvPr id="42" name="Pp = 8">
            <a:extLst xmlns:a="http://schemas.openxmlformats.org/drawingml/2006/main">
              <a:ext uri="{FF2B5EF4-FFF2-40B4-BE49-F238E27FC236}">
                <a16:creationId xmlns:a16="http://schemas.microsoft.com/office/drawing/2014/main" id="{2FA9CBB7-F73A-4404-A37B-0BEB6B9C8D7E}"/>
              </a:ext>
            </a:extLst>
          </p:cNvPr>
          <p:cNvSpPr>
            <a:spLocks xmlns:a="http://schemas.openxmlformats.org/drawingml/2006/main" noGrp="1"/>
          </p:cNvSpPr>
          <p:nvPr/>
        </p:nvSpPr>
        <p:spPr>
          <a:xfrm xmlns:a="http://schemas.openxmlformats.org/drawingml/2006/main">
            <a:off x="2039112" y="5125085"/>
            <a:ext cx="1066800" cy="3048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3247"/>
                </a:solidFill>
                <a:latin typeface="Arial"/>
                <a:ea typeface="Arial"/>
                <a:cs typeface="Arial"/>
              </a:defRPr>
            </a:pPr>
            <a:r>
              <a:rPr sz="1875" b="1">
                <a:solidFill>
                  <a:srgbClr val="183247"/>
                </a:solidFill>
                <a:latin typeface="Arial"/>
                <a:ea typeface="Arial"/>
                <a:cs typeface="Arial"/>
              </a:rPr>
              <a:t>Pp = 8</a:t>
            </a:r>
          </a:p>
        </p:txBody>
      </p:sp>
      <p:sp>
        <p:nvSpPr>
          <p:cNvPr id="43" name="Twee gebieden">
            <a:extLst xmlns:a="http://schemas.openxmlformats.org/drawingml/2006/main">
              <a:ext uri="{FF2B5EF4-FFF2-40B4-BE49-F238E27FC236}">
                <a16:creationId xmlns:a16="http://schemas.microsoft.com/office/drawing/2014/main" id="{BA4B256D-8C09-4C5F-9FDE-1FF351D223D9}"/>
              </a:ext>
            </a:extLst>
          </p:cNvPr>
          <p:cNvSpPr>
            <a:spLocks xmlns:a="http://schemas.openxmlformats.org/drawingml/2006/main" noGrp="1"/>
          </p:cNvSpPr>
          <p:nvPr/>
        </p:nvSpPr>
        <p:spPr>
          <a:xfrm xmlns:a="http://schemas.openxmlformats.org/drawingml/2006/main">
            <a:off x="10287000" y="2066925"/>
            <a:ext cx="4381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Twee gebieden</a:t>
            </a:r>
          </a:p>
        </p:txBody>
      </p:sp>
      <p:sp>
        <p:nvSpPr>
          <p:cNvPr id="44" name="O = 4 × 30&#10;   = € 120 per week&#10;&#10;W = ½ × (40 − 30) × 4&#10;    = ">
            <a:extLst xmlns:a="http://schemas.openxmlformats.org/drawingml/2006/main">
              <a:ext uri="{FF2B5EF4-FFF2-40B4-BE49-F238E27FC236}">
                <a16:creationId xmlns:a16="http://schemas.microsoft.com/office/drawing/2014/main" id="{6F9AC693-91E8-489B-BF98-8816008D1548}"/>
              </a:ext>
            </a:extLst>
          </p:cNvPr>
          <p:cNvSpPr>
            <a:spLocks xmlns:a="http://schemas.openxmlformats.org/drawingml/2006/main" noGrp="1"/>
          </p:cNvSpPr>
          <p:nvPr/>
        </p:nvSpPr>
        <p:spPr>
          <a:xfrm xmlns:a="http://schemas.openxmlformats.org/drawingml/2006/main">
            <a:off x="10287000" y="3143250"/>
            <a:ext cx="43815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O = 4 × 30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€ 120 per week</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W = ½ × (40 − 30) × 4</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€ 20 per week</a:t>
            </a:r>
          </a:p>
        </p:txBody>
      </p:sp>
      <p:sp>
        <p:nvSpPr>
          <p:cNvPr id="45" name="O: verkochte kaarsen&#10;W: gemiste transacties">
            <a:extLst xmlns:a="http://schemas.openxmlformats.org/drawingml/2006/main">
              <a:ext uri="{FF2B5EF4-FFF2-40B4-BE49-F238E27FC236}">
                <a16:creationId xmlns:a16="http://schemas.microsoft.com/office/drawing/2014/main" id="{3E7C3078-6BE1-4A49-8710-624E84972683}"/>
              </a:ext>
            </a:extLst>
          </p:cNvPr>
          <p:cNvSpPr>
            <a:spLocks xmlns:a="http://schemas.openxmlformats.org/drawingml/2006/main" noGrp="1"/>
          </p:cNvSpPr>
          <p:nvPr/>
        </p:nvSpPr>
        <p:spPr>
          <a:xfrm xmlns:a="http://schemas.openxmlformats.org/drawingml/2006/main">
            <a:off x="10287000" y="6438900"/>
            <a:ext cx="4381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O: verkochte kaarsen</a:t>
            </a:r>
          </a:p>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W: gemiste transacties</a:t>
            </a:r>
          </a:p>
        </p:txBody>
      </p:sp>
    </p:spTree>
    <p:extLst>
      <p:ext uri="{BB962C8B-B14F-4D97-AF65-F5344CB8AC3E}">
        <p14:creationId xmlns:p14="http://schemas.microsoft.com/office/powerpoint/2010/main" val="16216540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6 Gemengde opgaven">
            <a:extLst xmlns:a="http://schemas.openxmlformats.org/drawingml/2006/main">
              <a:ext uri="{FF2B5EF4-FFF2-40B4-BE49-F238E27FC236}">
                <a16:creationId xmlns:a16="http://schemas.microsoft.com/office/drawing/2014/main" id="{2E10EDFD-332F-4DEE-8D03-9CF43CA1FD4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§3.1.6 Gemengde opgaven</a:t>
            </a:r>
          </a:p>
        </p:txBody>
      </p:sp>
      <p:sp>
        <p:nvSpPr>
          <p:cNvPr id="2" name="">
            <a:extLst xmlns:a="http://schemas.openxmlformats.org/drawingml/2006/main">
              <a:ext uri="{FF2B5EF4-FFF2-40B4-BE49-F238E27FC236}">
                <a16:creationId xmlns:a16="http://schemas.microsoft.com/office/drawing/2014/main" id="{9B4D98AD-12C4-499C-898B-CA15B2F19D4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2AAEF190-FED1-4CE0-AB65-48997B68AEF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a:t>
            </a:r>
          </a:p>
        </p:txBody>
      </p:sp>
      <p:sp>
        <p:nvSpPr>
          <p:cNvPr id="4" name="slide-number">
            <a:extLst xmlns:a="http://schemas.openxmlformats.org/drawingml/2006/main">
              <a:ext uri="{FF2B5EF4-FFF2-40B4-BE49-F238E27FC236}">
                <a16:creationId xmlns:a16="http://schemas.microsoft.com/office/drawing/2014/main" id="{ED1F9096-ED15-440C-A21C-FB7963073D9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phase">
            <a:extLst xmlns:a="http://schemas.openxmlformats.org/drawingml/2006/main">
              <a:ext uri="{FF2B5EF4-FFF2-40B4-BE49-F238E27FC236}">
                <a16:creationId xmlns:a16="http://schemas.microsoft.com/office/drawing/2014/main" id="{E5027116-F996-434F-9EB2-488C5F525E79}"/>
              </a:ext>
            </a:extLst>
          </p:cNvPr>
          <p:cNvSpPr>
            <a:spLocks xmlns:a="http://schemas.openxmlformats.org/drawingml/2006/main" noGrp="1"/>
          </p:cNvSpPr>
          <p:nvPr/>
        </p:nvSpPr>
        <p:spPr>
          <a:xfrm xmlns:a="http://schemas.openxmlformats.org/drawingml/2006/main">
            <a:off x="571500" y="106680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Overheidsingrijpen · Nu: Zelfstandig werken</a:t>
            </a:r>
          </a:p>
        </p:txBody>
      </p:sp>
      <p:sp>
        <p:nvSpPr>
          <p:cNvPr id="6" name="Lesroute">
            <a:extLst xmlns:a="http://schemas.openxmlformats.org/drawingml/2006/main">
              <a:ext uri="{FF2B5EF4-FFF2-40B4-BE49-F238E27FC236}">
                <a16:creationId xmlns:a16="http://schemas.microsoft.com/office/drawing/2014/main" id="{E2B91A22-AD4F-4F1F-8257-26BB4D580D2D}"/>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69D6AF94-5767-4F60-9EB4-F8DA5BCC7CDF}"/>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B4BEE163-2AA6-414C-8FAD-21DB039583B7}"/>
              </a:ext>
            </a:extLst>
          </p:cNvPr>
          <p:cNvSpPr>
            <a:spLocks xmlns:a="http://schemas.openxmlformats.org/drawingml/2006/main" noGrp="1"/>
          </p:cNvSpPr>
          <p:nvPr/>
        </p:nvSpPr>
        <p:spPr>
          <a:xfrm xmlns:a="http://schemas.openxmlformats.org/drawingml/2006/main">
            <a:off x="1104900" y="2324100"/>
            <a:ext cx="7515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0ADE4148-4BCD-4C92-BDF1-09DFEF5FCD5E}"/>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A04779EE-27F6-478E-B5AD-CFBB95F69F7D}"/>
              </a:ext>
            </a:extLst>
          </p:cNvPr>
          <p:cNvSpPr>
            <a:spLocks xmlns:a="http://schemas.openxmlformats.org/drawingml/2006/main" noGrp="1"/>
          </p:cNvSpPr>
          <p:nvPr/>
        </p:nvSpPr>
        <p:spPr>
          <a:xfrm xmlns:a="http://schemas.openxmlformats.org/drawingml/2006/main">
            <a:off x="1104900" y="320040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DFC072B6-F9A9-4337-BE56-734891448511}"/>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B95037F8-12A2-4B3D-8950-1C9B71D20A3C}"/>
              </a:ext>
            </a:extLst>
          </p:cNvPr>
          <p:cNvSpPr>
            <a:spLocks xmlns:a="http://schemas.openxmlformats.org/drawingml/2006/main" noGrp="1"/>
          </p:cNvSpPr>
          <p:nvPr/>
        </p:nvSpPr>
        <p:spPr>
          <a:xfrm xmlns:a="http://schemas.openxmlformats.org/drawingml/2006/main">
            <a:off x="1104900" y="371475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05DE59B8-F6BC-42EB-934B-F47C510BF80F}"/>
              </a:ext>
            </a:extLst>
          </p:cNvPr>
          <p:cNvSpPr>
            <a:spLocks xmlns:a="http://schemas.openxmlformats.org/drawingml/2006/main" noGrp="1"/>
          </p:cNvSpPr>
          <p:nvPr/>
        </p:nvSpPr>
        <p:spPr>
          <a:xfrm xmlns:a="http://schemas.openxmlformats.org/drawingml/2006/main">
            <a:off x="571500" y="4248150"/>
            <a:ext cx="457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A008E60A-A863-4BBA-84F2-17DCB465FEFE}"/>
              </a:ext>
            </a:extLst>
          </p:cNvPr>
          <p:cNvSpPr>
            <a:spLocks xmlns:a="http://schemas.openxmlformats.org/drawingml/2006/main" noGrp="1"/>
          </p:cNvSpPr>
          <p:nvPr/>
        </p:nvSpPr>
        <p:spPr>
          <a:xfrm xmlns:a="http://schemas.openxmlformats.org/drawingml/2006/main">
            <a:off x="1104900" y="4248150"/>
            <a:ext cx="75152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55ADA244-8101-471F-975A-7623A91BC556}"/>
              </a:ext>
            </a:extLst>
          </p:cNvPr>
          <p:cNvSpPr>
            <a:spLocks xmlns:a="http://schemas.openxmlformats.org/drawingml/2006/main" noGrp="1"/>
          </p:cNvSpPr>
          <p:nvPr/>
        </p:nvSpPr>
        <p:spPr>
          <a:xfrm xmlns:a="http://schemas.openxmlformats.org/drawingml/2006/main">
            <a:off x="571500" y="577215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EAE4FF83-DB0E-4C73-B978-AC5DEE69DD0F}"/>
              </a:ext>
            </a:extLst>
          </p:cNvPr>
          <p:cNvSpPr>
            <a:spLocks xmlns:a="http://schemas.openxmlformats.org/drawingml/2006/main" noGrp="1"/>
          </p:cNvSpPr>
          <p:nvPr/>
        </p:nvSpPr>
        <p:spPr>
          <a:xfrm xmlns:a="http://schemas.openxmlformats.org/drawingml/2006/main">
            <a:off x="1104900" y="5772150"/>
            <a:ext cx="75152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F0A2CD0A-B432-49A0-8F82-49734A028D13}"/>
              </a:ext>
            </a:extLst>
          </p:cNvPr>
          <p:cNvSpPr>
            <a:spLocks xmlns:a="http://schemas.openxmlformats.org/drawingml/2006/main" noGrp="1"/>
          </p:cNvSpPr>
          <p:nvPr/>
        </p:nvSpPr>
        <p:spPr>
          <a:xfrm xmlns:a="http://schemas.openxmlformats.org/drawingml/2006/main">
            <a:off x="571500" y="6667500"/>
            <a:ext cx="45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A1357C2B-FE83-41D3-8CC3-58BC9D1BE6A2}"/>
              </a:ext>
            </a:extLst>
          </p:cNvPr>
          <p:cNvSpPr>
            <a:spLocks xmlns:a="http://schemas.openxmlformats.org/drawingml/2006/main" noGrp="1"/>
          </p:cNvSpPr>
          <p:nvPr/>
        </p:nvSpPr>
        <p:spPr>
          <a:xfrm xmlns:a="http://schemas.openxmlformats.org/drawingml/2006/main">
            <a:off x="1104900" y="6667500"/>
            <a:ext cx="7515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48.</a:t>
            </a:r>
          </a:p>
        </p:txBody>
      </p:sp>
      <p:sp>
        <p:nvSpPr>
          <p:cNvPr id="19" name="route-number-7">
            <a:extLst xmlns:a="http://schemas.openxmlformats.org/drawingml/2006/main">
              <a:ext uri="{FF2B5EF4-FFF2-40B4-BE49-F238E27FC236}">
                <a16:creationId xmlns:a16="http://schemas.microsoft.com/office/drawing/2014/main" id="{EBB8E390-01D9-4E21-A056-7595E42E238E}"/>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D956DCC7-2888-4942-8EED-DD997F7086DA}"/>
              </a:ext>
            </a:extLst>
          </p:cNvPr>
          <p:cNvSpPr>
            <a:spLocks xmlns:a="http://schemas.openxmlformats.org/drawingml/2006/main" noGrp="1"/>
          </p:cNvSpPr>
          <p:nvPr/>
        </p:nvSpPr>
        <p:spPr>
          <a:xfrm xmlns:a="http://schemas.openxmlformats.org/drawingml/2006/main">
            <a:off x="1104900" y="7372350"/>
            <a:ext cx="7515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ACA53EE-304E-41D6-9EF4-8B96AA748B87}"/>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97248EEF-AD6D-4385-B254-E6C9441EB12E}"/>
              </a:ext>
            </a:extLst>
          </p:cNvPr>
          <p:cNvSpPr>
            <a:spLocks xmlns:a="http://schemas.openxmlformats.org/drawingml/2006/main" noGrp="1"/>
          </p:cNvSpPr>
          <p:nvPr/>
        </p:nvSpPr>
        <p:spPr>
          <a:xfrm xmlns:a="http://schemas.openxmlformats.org/drawingml/2006/main">
            <a:off x="9258300" y="2324100"/>
            <a:ext cx="5381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Maatregel en methode kiezen.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Prijzen, handel en welvaart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beleidsclaim onderbouwen.</a:t>
            </a:r>
          </a:p>
        </p:txBody>
      </p:sp>
      <p:sp>
        <p:nvSpPr>
          <p:cNvPr id="23" name="">
            <a:extLst xmlns:a="http://schemas.openxmlformats.org/drawingml/2006/main">
              <a:ext uri="{FF2B5EF4-FFF2-40B4-BE49-F238E27FC236}">
                <a16:creationId xmlns:a16="http://schemas.microsoft.com/office/drawing/2014/main" id="{C82BB209-CB6D-4FF7-B5AE-385A388A5F57}"/>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7B2467C0-8BE3-45E7-AF0E-B63235D9BD5E}"/>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0A987BEE-F5FD-4963-A4C6-0B92069EF899}"/>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48 · Opgave 46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Steun: uitleg §§3.1.1–3.1.5</a:t>
            </a:r>
          </a:p>
        </p:txBody>
      </p:sp>
      <p:sp>
        <p:nvSpPr>
          <p:cNvPr id="26" name="">
            <a:extLst xmlns:a="http://schemas.openxmlformats.org/drawingml/2006/main">
              <a:ext uri="{FF2B5EF4-FFF2-40B4-BE49-F238E27FC236}">
                <a16:creationId xmlns:a16="http://schemas.microsoft.com/office/drawing/2014/main" id="{B61D15F3-2144-4B93-92DA-C00DD06C9C59}"/>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F5B8A0AE-47F9-4AC9-AB7A-01CD02BF8461}"/>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94F5D64F-DCDA-4AA1-AC30-513E396CCDF7}"/>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§3.1.6 · Opgaven 46, 47, 47A, 48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Verder oefenen: 47 en 47A (extra)</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48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6402316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48 · Festivalbandjes">
            <a:extLst xmlns:a="http://schemas.openxmlformats.org/drawingml/2006/main">
              <a:ext uri="{FF2B5EF4-FFF2-40B4-BE49-F238E27FC236}">
                <a16:creationId xmlns:a16="http://schemas.microsoft.com/office/drawing/2014/main" id="{16EE33C1-B70B-4078-A477-2CDF9789CBB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48 · Festivalbandjes</a:t>
            </a:r>
          </a:p>
        </p:txBody>
      </p:sp>
      <p:sp>
        <p:nvSpPr>
          <p:cNvPr id="2" name="">
            <a:extLst xmlns:a="http://schemas.openxmlformats.org/drawingml/2006/main">
              <a:ext uri="{FF2B5EF4-FFF2-40B4-BE49-F238E27FC236}">
                <a16:creationId xmlns:a16="http://schemas.microsoft.com/office/drawing/2014/main" id="{90DB91FC-74ED-47CB-A457-503247C71DF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90855C72-CFAA-40ED-8754-5CD90BDBA3E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703C2627-9DAD-4772-96EB-CF169DF0504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Een gemeente onderzoekt de markt voor eenvoudige festivalban">
            <a:extLst xmlns:a="http://schemas.openxmlformats.org/drawingml/2006/main">
              <a:ext uri="{FF2B5EF4-FFF2-40B4-BE49-F238E27FC236}">
                <a16:creationId xmlns:a16="http://schemas.microsoft.com/office/drawing/2014/main" id="{97C0BCBA-1CAB-4B17-849D-42DC1EC0A417}"/>
              </a:ext>
            </a:extLst>
          </p:cNvPr>
          <p:cNvSpPr>
            <a:spLocks xmlns:a="http://schemas.openxmlformats.org/drawingml/2006/main" noGrp="1"/>
          </p:cNvSpPr>
          <p:nvPr/>
        </p:nvSpPr>
        <p:spPr>
          <a:xfrm xmlns:a="http://schemas.openxmlformats.org/drawingml/2006/main">
            <a:off x="571500" y="1762125"/>
            <a:ext cx="1409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Een gemeente onderzoekt de markt voor eenvoudige festivalbandjes. Verschillende aanbieders verkopen hetzelfde product. Alle bedragen en voorstellen zijn fictief.</a:t>
            </a:r>
          </a:p>
        </p:txBody>
      </p:sp>
      <p:sp>
        <p:nvSpPr>
          <p:cNvPr id="6" name="Bron 1 · De markt zonder maatregel">
            <a:extLst xmlns:a="http://schemas.openxmlformats.org/drawingml/2006/main">
              <a:ext uri="{FF2B5EF4-FFF2-40B4-BE49-F238E27FC236}">
                <a16:creationId xmlns:a16="http://schemas.microsoft.com/office/drawing/2014/main" id="{E63EF233-4CDA-4A16-BAA2-7300C3A08DE6}"/>
              </a:ext>
            </a:extLst>
          </p:cNvPr>
          <p:cNvSpPr>
            <a:spLocks xmlns:a="http://schemas.openxmlformats.org/drawingml/2006/main" noGrp="1"/>
          </p:cNvSpPr>
          <p:nvPr/>
        </p:nvSpPr>
        <p:spPr>
          <a:xfrm xmlns:a="http://schemas.openxmlformats.org/drawingml/2006/main">
            <a:off x="571500" y="37052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Bron 1 · De markt zonder maatregel</a:t>
            </a:r>
          </a:p>
        </p:txBody>
      </p:sp>
      <p:sp>
        <p:nvSpPr>
          <p:cNvPr id="7" name="Vraag: Pc = 24 − 0,20Q">
            <a:extLst xmlns:a="http://schemas.openxmlformats.org/drawingml/2006/main">
              <a:ext uri="{FF2B5EF4-FFF2-40B4-BE49-F238E27FC236}">
                <a16:creationId xmlns:a16="http://schemas.microsoft.com/office/drawing/2014/main" id="{03C830AD-BC4D-4587-B8B9-4C36FADB6CE4}"/>
              </a:ext>
            </a:extLst>
          </p:cNvPr>
          <p:cNvSpPr>
            <a:spLocks xmlns:a="http://schemas.openxmlformats.org/drawingml/2006/main" noGrp="1"/>
          </p:cNvSpPr>
          <p:nvPr/>
        </p:nvSpPr>
        <p:spPr>
          <a:xfrm xmlns:a="http://schemas.openxmlformats.org/drawingml/2006/main">
            <a:off x="571500" y="45339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A5276"/>
                </a:solidFill>
                <a:latin typeface="Arial"/>
                <a:ea typeface="Arial"/>
                <a:cs typeface="Arial"/>
              </a:defRPr>
            </a:pPr>
            <a:r>
              <a:rPr sz="3375" b="1">
                <a:solidFill>
                  <a:srgbClr val="1A5276"/>
                </a:solidFill>
                <a:latin typeface="Arial"/>
                <a:ea typeface="Arial"/>
                <a:cs typeface="Arial"/>
              </a:rPr>
              <a:t>Vraag: Pc = 24 − 0,20Q</a:t>
            </a:r>
          </a:p>
        </p:txBody>
      </p:sp>
      <p:sp>
        <p:nvSpPr>
          <p:cNvPr id="8" name="Aanbod: Pp = 6 + 0,10Q">
            <a:extLst xmlns:a="http://schemas.openxmlformats.org/drawingml/2006/main">
              <a:ext uri="{FF2B5EF4-FFF2-40B4-BE49-F238E27FC236}">
                <a16:creationId xmlns:a16="http://schemas.microsoft.com/office/drawing/2014/main" id="{76B1D264-BFD9-4247-A1F7-FA382B68AC95}"/>
              </a:ext>
            </a:extLst>
          </p:cNvPr>
          <p:cNvSpPr>
            <a:spLocks xmlns:a="http://schemas.openxmlformats.org/drawingml/2006/main" noGrp="1"/>
          </p:cNvSpPr>
          <p:nvPr/>
        </p:nvSpPr>
        <p:spPr>
          <a:xfrm xmlns:a="http://schemas.openxmlformats.org/drawingml/2006/main">
            <a:off x="571500" y="53244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E8449"/>
                </a:solidFill>
                <a:latin typeface="Arial"/>
                <a:ea typeface="Arial"/>
                <a:cs typeface="Arial"/>
              </a:defRPr>
            </a:pPr>
            <a:r>
              <a:rPr sz="3375" b="1">
                <a:solidFill>
                  <a:srgbClr val="1E8449"/>
                </a:solidFill>
                <a:latin typeface="Arial"/>
                <a:ea typeface="Arial"/>
                <a:cs typeface="Arial"/>
              </a:rPr>
              <a:t>Aanbod: Pp = 6 + 0,10Q</a:t>
            </a:r>
          </a:p>
        </p:txBody>
      </p:sp>
      <p:sp>
        <p:nvSpPr>
          <p:cNvPr id="9" name="Q: bandjes per dag · Pc en Pp: euro per bandje&#10;Zonder maatre">
            <a:extLst xmlns:a="http://schemas.openxmlformats.org/drawingml/2006/main">
              <a:ext uri="{FF2B5EF4-FFF2-40B4-BE49-F238E27FC236}">
                <a16:creationId xmlns:a16="http://schemas.microsoft.com/office/drawing/2014/main" id="{6954DC83-3DF9-4A87-967E-ED1B8D54B13B}"/>
              </a:ext>
            </a:extLst>
          </p:cNvPr>
          <p:cNvSpPr>
            <a:spLocks xmlns:a="http://schemas.openxmlformats.org/drawingml/2006/main" noGrp="1"/>
          </p:cNvSpPr>
          <p:nvPr/>
        </p:nvSpPr>
        <p:spPr>
          <a:xfrm xmlns:a="http://schemas.openxmlformats.org/drawingml/2006/main">
            <a:off x="571500" y="6410325"/>
            <a:ext cx="14097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bandjes per dag · Pc en Pp: euro per bandje</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Zonder maatregel: Pc = Pp</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Vrij evenwicht: CS = € 360 per dag; PS = € 180 per dag.</a:t>
            </a:r>
          </a:p>
        </p:txBody>
      </p:sp>
    </p:spTree>
    <p:extLst>
      <p:ext uri="{BB962C8B-B14F-4D97-AF65-F5344CB8AC3E}">
        <p14:creationId xmlns:p14="http://schemas.microsoft.com/office/powerpoint/2010/main" val="18143954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48 · Twee alternatieven, niet tegelijk">
            <a:extLst xmlns:a="http://schemas.openxmlformats.org/drawingml/2006/main">
              <a:ext uri="{FF2B5EF4-FFF2-40B4-BE49-F238E27FC236}">
                <a16:creationId xmlns:a16="http://schemas.microsoft.com/office/drawing/2014/main" id="{4EA07CFD-C4C1-4525-A96A-7C9DA5A8A97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48 · Twee alternatieven, niet tegelijk</a:t>
            </a:r>
          </a:p>
        </p:txBody>
      </p:sp>
      <p:sp>
        <p:nvSpPr>
          <p:cNvPr id="2" name="">
            <a:extLst xmlns:a="http://schemas.openxmlformats.org/drawingml/2006/main">
              <a:ext uri="{FF2B5EF4-FFF2-40B4-BE49-F238E27FC236}">
                <a16:creationId xmlns:a16="http://schemas.microsoft.com/office/drawing/2014/main" id="{312731A1-318E-421F-91F1-B0AFFFB0B66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18305E1-11E2-4882-9785-F3B5640C922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DA6F5FD3-56C2-45ED-8E9C-A554B5F9456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Bron 2 · Plan A">
            <a:extLst xmlns:a="http://schemas.openxmlformats.org/drawingml/2006/main">
              <a:ext uri="{FF2B5EF4-FFF2-40B4-BE49-F238E27FC236}">
                <a16:creationId xmlns:a16="http://schemas.microsoft.com/office/drawing/2014/main" id="{89A3BBEE-F26D-4098-AAA0-584BBC16D15E}"/>
              </a:ext>
            </a:extLst>
          </p:cNvPr>
          <p:cNvSpPr>
            <a:spLocks xmlns:a="http://schemas.openxmlformats.org/drawingml/2006/main" noGrp="1"/>
          </p:cNvSpPr>
          <p:nvPr/>
        </p:nvSpPr>
        <p:spPr>
          <a:xfrm xmlns:a="http://schemas.openxmlformats.org/drawingml/2006/main">
            <a:off x="571500" y="1885950"/>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Bron 2 · Plan A</a:t>
            </a:r>
          </a:p>
        </p:txBody>
      </p:sp>
      <p:sp>
        <p:nvSpPr>
          <p:cNvPr id="6" name="De aanbieder draagt € 3 af per verkocht bandje.&#10;Er zijn geen">
            <a:extLst xmlns:a="http://schemas.openxmlformats.org/drawingml/2006/main">
              <a:ext uri="{FF2B5EF4-FFF2-40B4-BE49-F238E27FC236}">
                <a16:creationId xmlns:a16="http://schemas.microsoft.com/office/drawing/2014/main" id="{B7279211-2B85-4E90-BEA2-7F22D1E337EC}"/>
              </a:ext>
            </a:extLst>
          </p:cNvPr>
          <p:cNvSpPr>
            <a:spLocks xmlns:a="http://schemas.openxmlformats.org/drawingml/2006/main" noGrp="1"/>
          </p:cNvSpPr>
          <p:nvPr/>
        </p:nvSpPr>
        <p:spPr>
          <a:xfrm xmlns:a="http://schemas.openxmlformats.org/drawingml/2006/main">
            <a:off x="571500" y="2667000"/>
            <a:ext cx="1409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De aanbieder draagt € 3 af per verkocht bandje.</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Er zijn geen andere geldstromen of effecten voor buitenstaanders.</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Ook uitvoeringskosten blijven buiten beschouwing.</a:t>
            </a:r>
          </a:p>
        </p:txBody>
      </p:sp>
      <p:sp>
        <p:nvSpPr>
          <p:cNvPr id="7" name="">
            <a:extLst xmlns:a="http://schemas.openxmlformats.org/drawingml/2006/main">
              <a:ext uri="{FF2B5EF4-FFF2-40B4-BE49-F238E27FC236}">
                <a16:creationId xmlns:a16="http://schemas.microsoft.com/office/drawing/2014/main" id="{A5F6BCD6-7460-423F-84AF-7D57A530ED55}"/>
              </a:ext>
            </a:extLst>
          </p:cNvPr>
          <p:cNvSpPr>
            <a:spLocks xmlns:a="http://schemas.openxmlformats.org/drawingml/2006/main" noGrp="1"/>
          </p:cNvSpPr>
          <p:nvPr/>
        </p:nvSpPr>
        <p:spPr>
          <a:xfrm xmlns:a="http://schemas.openxmlformats.org/drawingml/2006/main">
            <a:off x="571500" y="4657725"/>
            <a:ext cx="14097000" cy="0"/>
          </a:xfrm>
          <a:prstGeom xmlns:a="http://schemas.openxmlformats.org/drawingml/2006/main" prst="line">
            <a:avLst/>
          </a:prstGeom>
          <a:ln xmlns:a="http://schemas.openxmlformats.org/drawingml/2006/main" w="19050">
            <a:solidFill>
              <a:srgbClr val="C6D2DB"/>
            </a:solidFill>
          </a:ln>
        </p:spPr>
      </p:sp>
      <p:sp>
        <p:nvSpPr>
          <p:cNvPr id="8" name="Bron 2 · Plan B">
            <a:extLst xmlns:a="http://schemas.openxmlformats.org/drawingml/2006/main">
              <a:ext uri="{FF2B5EF4-FFF2-40B4-BE49-F238E27FC236}">
                <a16:creationId xmlns:a16="http://schemas.microsoft.com/office/drawing/2014/main" id="{AFDC5F24-059B-48A0-A347-232DE67961AD}"/>
              </a:ext>
            </a:extLst>
          </p:cNvPr>
          <p:cNvSpPr>
            <a:spLocks xmlns:a="http://schemas.openxmlformats.org/drawingml/2006/main" noGrp="1"/>
          </p:cNvSpPr>
          <p:nvPr/>
        </p:nvSpPr>
        <p:spPr>
          <a:xfrm xmlns:a="http://schemas.openxmlformats.org/drawingml/2006/main">
            <a:off x="571500" y="5067300"/>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E8449"/>
                </a:solidFill>
                <a:latin typeface="Arial"/>
                <a:ea typeface="Arial"/>
                <a:cs typeface="Arial"/>
              </a:defRPr>
            </a:pPr>
            <a:r>
              <a:rPr sz="2925" b="1">
                <a:solidFill>
                  <a:srgbClr val="1E8449"/>
                </a:solidFill>
                <a:latin typeface="Arial"/>
                <a:ea typeface="Arial"/>
                <a:cs typeface="Arial"/>
              </a:rPr>
              <a:t>Bron 2 · Plan B</a:t>
            </a:r>
          </a:p>
        </p:txBody>
      </p:sp>
      <p:sp>
        <p:nvSpPr>
          <p:cNvPr id="9" name="Een verkoopprijs boven € 10 is verboden. Er is geen extra aa">
            <a:extLst xmlns:a="http://schemas.openxmlformats.org/drawingml/2006/main">
              <a:ext uri="{FF2B5EF4-FFF2-40B4-BE49-F238E27FC236}">
                <a16:creationId xmlns:a16="http://schemas.microsoft.com/office/drawing/2014/main" id="{D09B93A9-5D00-4690-B0FD-E85B174011FD}"/>
              </a:ext>
            </a:extLst>
          </p:cNvPr>
          <p:cNvSpPr>
            <a:spLocks xmlns:a="http://schemas.openxmlformats.org/drawingml/2006/main" noGrp="1"/>
          </p:cNvSpPr>
          <p:nvPr/>
        </p:nvSpPr>
        <p:spPr>
          <a:xfrm xmlns:a="http://schemas.openxmlformats.org/drawingml/2006/main">
            <a:off x="571500" y="5848350"/>
            <a:ext cx="1409700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Een verkoopprijs boven € 10 is verboden. Er is geen extra aanvoer.</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Alle aangeboden bandjes worden verkocht aan de vragers met de hoogste betalingsbereidheid.</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Er is geen belasting, subsidie of overheidsopkoop.</a:t>
            </a:r>
          </a:p>
        </p:txBody>
      </p:sp>
    </p:spTree>
    <p:extLst>
      <p:ext uri="{BB962C8B-B14F-4D97-AF65-F5344CB8AC3E}">
        <p14:creationId xmlns:p14="http://schemas.microsoft.com/office/powerpoint/2010/main" val="19984277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48 · Grafiek en beleidsclaim">
            <a:extLst xmlns:a="http://schemas.openxmlformats.org/drawingml/2006/main">
              <a:ext uri="{FF2B5EF4-FFF2-40B4-BE49-F238E27FC236}">
                <a16:creationId xmlns:a16="http://schemas.microsoft.com/office/drawing/2014/main" id="{68973793-DD7C-433E-839A-5A08FDA77F0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48 · Grafiek en beleidsclaim</a:t>
            </a:r>
          </a:p>
        </p:txBody>
      </p:sp>
      <p:sp>
        <p:nvSpPr>
          <p:cNvPr id="2" name="">
            <a:extLst xmlns:a="http://schemas.openxmlformats.org/drawingml/2006/main">
              <a:ext uri="{FF2B5EF4-FFF2-40B4-BE49-F238E27FC236}">
                <a16:creationId xmlns:a16="http://schemas.microsoft.com/office/drawing/2014/main" id="{70F7928C-80A0-4FC6-91E0-9B1A7D474C6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14CA7F2-801B-405A-B061-E501C465205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3F8D4C8D-D44A-4EE7-9063-FDBABFCC79E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graphicFrame>
        <p:nvGraphicFramePr>
          <p:cNvPr id="15"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8c483a6ef5734f31"/>
          </a:graphicData>
        </a:graphic>
      </p:graphicFrame>
      <p:sp>
        <p:nvSpPr>
          <p:cNvPr id="6" name="V">
            <a:extLst xmlns:a="http://schemas.openxmlformats.org/drawingml/2006/main">
              <a:ext uri="{FF2B5EF4-FFF2-40B4-BE49-F238E27FC236}">
                <a16:creationId xmlns:a16="http://schemas.microsoft.com/office/drawing/2014/main" id="{9230AD36-8BA9-4638-BB7B-AE97EFA6A774}"/>
              </a:ext>
            </a:extLst>
          </p:cNvPr>
          <p:cNvSpPr>
            <a:spLocks xmlns:a="http://schemas.openxmlformats.org/drawingml/2006/main" noGrp="1"/>
          </p:cNvSpPr>
          <p:nvPr/>
        </p:nvSpPr>
        <p:spPr>
          <a:xfrm xmlns:a="http://schemas.openxmlformats.org/drawingml/2006/main">
            <a:off x="8300009" y="6442739"/>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A5276"/>
                </a:solidFill>
                <a:latin typeface="Arial"/>
                <a:ea typeface="Arial"/>
                <a:cs typeface="Arial"/>
              </a:defRPr>
            </a:pPr>
            <a:r>
              <a:rPr sz="2100" b="1">
                <a:solidFill>
                  <a:srgbClr val="1A5276"/>
                </a:solidFill>
                <a:latin typeface="Arial"/>
                <a:ea typeface="Arial"/>
                <a:cs typeface="Arial"/>
              </a:rPr>
              <a:t>V</a:t>
            </a:r>
          </a:p>
        </p:txBody>
      </p:sp>
      <p:sp>
        <p:nvSpPr>
          <p:cNvPr id="7" name="A">
            <a:extLst xmlns:a="http://schemas.openxmlformats.org/drawingml/2006/main">
              <a:ext uri="{FF2B5EF4-FFF2-40B4-BE49-F238E27FC236}">
                <a16:creationId xmlns:a16="http://schemas.microsoft.com/office/drawing/2014/main" id="{183B421C-09F1-469C-94AC-0F4EA6A9CD7D}"/>
              </a:ext>
            </a:extLst>
          </p:cNvPr>
          <p:cNvSpPr>
            <a:spLocks xmlns:a="http://schemas.openxmlformats.org/drawingml/2006/main" noGrp="1"/>
          </p:cNvSpPr>
          <p:nvPr/>
        </p:nvSpPr>
        <p:spPr>
          <a:xfrm xmlns:a="http://schemas.openxmlformats.org/drawingml/2006/main">
            <a:off x="8150047" y="4233731"/>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E8449"/>
                </a:solidFill>
                <a:latin typeface="Arial"/>
                <a:ea typeface="Arial"/>
                <a:cs typeface="Arial"/>
              </a:defRPr>
            </a:pPr>
            <a:r>
              <a:rPr sz="2100" b="1">
                <a:solidFill>
                  <a:srgbClr val="1E8449"/>
                </a:solidFill>
                <a:latin typeface="Arial"/>
                <a:ea typeface="Arial"/>
                <a:cs typeface="Arial"/>
              </a:rPr>
              <a:t>A</a:t>
            </a:r>
          </a:p>
        </p:txBody>
      </p:sp>
      <p:sp>
        <p:nvSpPr>
          <p:cNvPr id="8" name="Bron 3">
            <a:extLst xmlns:a="http://schemas.openxmlformats.org/drawingml/2006/main">
              <a:ext uri="{FF2B5EF4-FFF2-40B4-BE49-F238E27FC236}">
                <a16:creationId xmlns:a16="http://schemas.microsoft.com/office/drawing/2014/main" id="{E0EF4444-3193-42EC-A716-6BCAFC9A1C15}"/>
              </a:ext>
            </a:extLst>
          </p:cNvPr>
          <p:cNvSpPr>
            <a:spLocks xmlns:a="http://schemas.openxmlformats.org/drawingml/2006/main" noGrp="1"/>
          </p:cNvSpPr>
          <p:nvPr/>
        </p:nvSpPr>
        <p:spPr>
          <a:xfrm xmlns:a="http://schemas.openxmlformats.org/drawingml/2006/main">
            <a:off x="10287000" y="2066925"/>
            <a:ext cx="4381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Bron 3</a:t>
            </a:r>
          </a:p>
        </p:txBody>
      </p:sp>
      <p:sp>
        <p:nvSpPr>
          <p:cNvPr id="9" name="“Plan B maakt een bandje bereikbaar voor iedereen die er bij">
            <a:extLst xmlns:a="http://schemas.openxmlformats.org/drawingml/2006/main">
              <a:ext uri="{FF2B5EF4-FFF2-40B4-BE49-F238E27FC236}">
                <a16:creationId xmlns:a16="http://schemas.microsoft.com/office/drawing/2014/main" id="{62D07E1F-7A3E-4FBC-987D-8236D3D04D67}"/>
              </a:ext>
            </a:extLst>
          </p:cNvPr>
          <p:cNvSpPr>
            <a:spLocks xmlns:a="http://schemas.openxmlformats.org/drawingml/2006/main" noGrp="1"/>
          </p:cNvSpPr>
          <p:nvPr/>
        </p:nvSpPr>
        <p:spPr>
          <a:xfrm xmlns:a="http://schemas.openxmlformats.org/drawingml/2006/main">
            <a:off x="10287000" y="3143250"/>
            <a:ext cx="43815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“Plan B maakt een bandje bereikbaar voor iedereen die er bij € 10 een wil.</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Plan A levert de overheid geld op; dat geld is volledig verdwenen welvaart.”</a:t>
            </a:r>
          </a:p>
        </p:txBody>
      </p:sp>
      <p:sp>
        <p:nvSpPr>
          <p:cNvPr id="10" name="Basisgrafiek voor A.&#10;Voor B is geen tweede&#10;grafiek verplicht">
            <a:extLst xmlns:a="http://schemas.openxmlformats.org/drawingml/2006/main">
              <a:ext uri="{FF2B5EF4-FFF2-40B4-BE49-F238E27FC236}">
                <a16:creationId xmlns:a16="http://schemas.microsoft.com/office/drawing/2014/main" id="{6BC8864D-8D60-4E95-B709-71EBDEBD6BF6}"/>
              </a:ext>
            </a:extLst>
          </p:cNvPr>
          <p:cNvSpPr>
            <a:spLocks xmlns:a="http://schemas.openxmlformats.org/drawingml/2006/main" noGrp="1"/>
          </p:cNvSpPr>
          <p:nvPr/>
        </p:nvSpPr>
        <p:spPr>
          <a:xfrm xmlns:a="http://schemas.openxmlformats.org/drawingml/2006/main">
            <a:off x="10287000" y="6438900"/>
            <a:ext cx="4381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Basisgrafiek voor A.</a:t>
            </a:r>
          </a:p>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Voor B is geen tweede</a:t>
            </a:r>
          </a:p>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grafiek verplicht.</a:t>
            </a:r>
          </a:p>
        </p:txBody>
      </p:sp>
    </p:spTree>
    <p:extLst>
      <p:ext uri="{BB962C8B-B14F-4D97-AF65-F5344CB8AC3E}">
        <p14:creationId xmlns:p14="http://schemas.microsoft.com/office/powerpoint/2010/main" val="17044078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48 · Vragen a en b">
            <a:extLst xmlns:a="http://schemas.openxmlformats.org/drawingml/2006/main">
              <a:ext uri="{FF2B5EF4-FFF2-40B4-BE49-F238E27FC236}">
                <a16:creationId xmlns:a16="http://schemas.microsoft.com/office/drawing/2014/main" id="{33CD9610-0FEF-48E1-81EA-3C6DFAEED83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48 · Vragen a en b</a:t>
            </a:r>
          </a:p>
        </p:txBody>
      </p:sp>
      <p:sp>
        <p:nvSpPr>
          <p:cNvPr id="2" name="">
            <a:extLst xmlns:a="http://schemas.openxmlformats.org/drawingml/2006/main">
              <a:ext uri="{FF2B5EF4-FFF2-40B4-BE49-F238E27FC236}">
                <a16:creationId xmlns:a16="http://schemas.microsoft.com/office/drawing/2014/main" id="{69C8909B-84DF-4945-B2D0-89969AB9F20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939AA034-64D9-4DF9-AAD7-80BA5FEE5A0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6FC57DBB-E6D6-46D9-8BFA-CCEFD26F5DB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Gebruik de bronnen en de grafiek op boekpagina 50.&#10;Noteer be">
            <a:extLst xmlns:a="http://schemas.openxmlformats.org/drawingml/2006/main">
              <a:ext uri="{FF2B5EF4-FFF2-40B4-BE49-F238E27FC236}">
                <a16:creationId xmlns:a16="http://schemas.microsoft.com/office/drawing/2014/main" id="{124EED52-AE4F-47FA-9D74-9A2177F13EB0}"/>
              </a:ext>
            </a:extLst>
          </p:cNvPr>
          <p:cNvSpPr>
            <a:spLocks xmlns:a="http://schemas.openxmlformats.org/drawingml/2006/main" noGrp="1"/>
          </p:cNvSpPr>
          <p:nvPr/>
        </p:nvSpPr>
        <p:spPr>
          <a:xfrm xmlns:a="http://schemas.openxmlformats.org/drawingml/2006/main">
            <a:off x="571500" y="181927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445B6B"/>
                </a:solidFill>
                <a:latin typeface="Arial"/>
                <a:ea typeface="Arial"/>
                <a:cs typeface="Arial"/>
              </a:defRPr>
            </a:pPr>
            <a:r>
              <a:rPr sz="2550" b="0">
                <a:solidFill>
                  <a:srgbClr val="445B6B"/>
                </a:solidFill>
                <a:latin typeface="Arial"/>
                <a:ea typeface="Arial"/>
                <a:cs typeface="Arial"/>
              </a:rPr>
              <a:t>Gebruik de bronnen en de grafiek op boekpagina 50.</a:t>
            </a:r>
          </a:p>
          <a:p xmlns:a="http://schemas.openxmlformats.org/drawingml/2006/main">
            <a:pPr algn="l">
              <a:defRPr sz="2550" b="0">
                <a:solidFill>
                  <a:srgbClr val="445B6B"/>
                </a:solidFill>
                <a:latin typeface="Arial"/>
                <a:ea typeface="Arial"/>
                <a:cs typeface="Arial"/>
              </a:defRPr>
            </a:pPr>
            <a:r>
              <a:rPr sz="2550" b="0">
                <a:solidFill>
                  <a:srgbClr val="445B6B"/>
                </a:solidFill>
                <a:latin typeface="Arial"/>
                <a:ea typeface="Arial"/>
                <a:cs typeface="Arial"/>
              </a:rPr>
              <a:t>Noteer berekening, eenheid en conclusie.</a:t>
            </a:r>
          </a:p>
        </p:txBody>
      </p:sp>
      <p:sp>
        <p:nvSpPr>
          <p:cNvPr id="6" name="a. Benoem de maatregelen van plan A en B. Bereken met bron 1">
            <a:extLst xmlns:a="http://schemas.openxmlformats.org/drawingml/2006/main">
              <a:ext uri="{FF2B5EF4-FFF2-40B4-BE49-F238E27FC236}">
                <a16:creationId xmlns:a16="http://schemas.microsoft.com/office/drawing/2014/main" id="{414A23A8-7AA6-42E7-B3E4-9E0D5971A45A}"/>
              </a:ext>
            </a:extLst>
          </p:cNvPr>
          <p:cNvSpPr>
            <a:spLocks xmlns:a="http://schemas.openxmlformats.org/drawingml/2006/main" noGrp="1"/>
          </p:cNvSpPr>
          <p:nvPr/>
        </p:nvSpPr>
        <p:spPr>
          <a:xfrm xmlns:a="http://schemas.openxmlformats.org/drawingml/2006/main">
            <a:off x="571500" y="3476625"/>
            <a:ext cx="14097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a. Benoem de maatregelen van plan A en B. Bereken met bron 1 het vrije evenwicht.</a:t>
            </a:r>
          </a:p>
        </p:txBody>
      </p:sp>
      <p:sp>
        <p:nvSpPr>
          <p:cNvPr id="7" name="b. Bereken voor plan A het nieuwe aanbod in kopersprijzen, d">
            <a:extLst xmlns:a="http://schemas.openxmlformats.org/drawingml/2006/main">
              <a:ext uri="{FF2B5EF4-FFF2-40B4-BE49-F238E27FC236}">
                <a16:creationId xmlns:a16="http://schemas.microsoft.com/office/drawing/2014/main" id="{24B0F59F-9401-4B19-9EF6-F3E1329F3CB0}"/>
              </a:ext>
            </a:extLst>
          </p:cNvPr>
          <p:cNvSpPr>
            <a:spLocks xmlns:a="http://schemas.openxmlformats.org/drawingml/2006/main" noGrp="1"/>
          </p:cNvSpPr>
          <p:nvPr/>
        </p:nvSpPr>
        <p:spPr>
          <a:xfrm xmlns:a="http://schemas.openxmlformats.org/drawingml/2006/main">
            <a:off x="571500" y="5381625"/>
            <a:ext cx="14097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 Bereken voor plan A het nieuwe aanbod in kopersprijzen, de verkochte hoeveelheid, Pc en Pp. Noteer de economische last per bandje voor kopers en verkopers.</a:t>
            </a:r>
          </a:p>
        </p:txBody>
      </p:sp>
    </p:spTree>
    <p:extLst>
      <p:ext uri="{BB962C8B-B14F-4D97-AF65-F5344CB8AC3E}">
        <p14:creationId xmlns:p14="http://schemas.microsoft.com/office/powerpoint/2010/main" val="208757142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48 · Vragen c en d">
            <a:extLst xmlns:a="http://schemas.openxmlformats.org/drawingml/2006/main">
              <a:ext uri="{FF2B5EF4-FFF2-40B4-BE49-F238E27FC236}">
                <a16:creationId xmlns:a16="http://schemas.microsoft.com/office/drawing/2014/main" id="{C12C011D-7E1B-4E47-896F-30971720711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48 · Vragen c en d</a:t>
            </a:r>
          </a:p>
        </p:txBody>
      </p:sp>
      <p:sp>
        <p:nvSpPr>
          <p:cNvPr id="2" name="">
            <a:extLst xmlns:a="http://schemas.openxmlformats.org/drawingml/2006/main">
              <a:ext uri="{FF2B5EF4-FFF2-40B4-BE49-F238E27FC236}">
                <a16:creationId xmlns:a16="http://schemas.microsoft.com/office/drawing/2014/main" id="{38A68ADD-815A-4E0C-A986-A24767A367A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DF06E76F-DD26-4583-AEFF-9EF5BAC4CFC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8D67DBBA-BD99-435F-9997-E4CE06653CB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c. Bereken bij plan A de overheidsontvangsten, CS, PS en het">
            <a:extLst xmlns:a="http://schemas.openxmlformats.org/drawingml/2006/main">
              <a:ext uri="{FF2B5EF4-FFF2-40B4-BE49-F238E27FC236}">
                <a16:creationId xmlns:a16="http://schemas.microsoft.com/office/drawing/2014/main" id="{316C02F3-5D5C-4599-86C6-9450FD0AD7D0}"/>
              </a:ext>
            </a:extLst>
          </p:cNvPr>
          <p:cNvSpPr>
            <a:spLocks xmlns:a="http://schemas.openxmlformats.org/drawingml/2006/main" noGrp="1"/>
          </p:cNvSpPr>
          <p:nvPr/>
        </p:nvSpPr>
        <p:spPr>
          <a:xfrm xmlns:a="http://schemas.openxmlformats.org/drawingml/2006/main">
            <a:off x="571500" y="2124075"/>
            <a:ext cx="14097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c. Bereken bij plan A de overheidsontvangsten, CS, PS en het welvaartsverlies. Gebruik de oorspronkelijke vraag- en aanbodlijn voor de surplusgebieden.</a:t>
            </a:r>
          </a:p>
        </p:txBody>
      </p:sp>
      <p:sp>
        <p:nvSpPr>
          <p:cNvPr id="6" name="d. Markeer in de basisgrafiek de twee prijzen en de nieuwe h">
            <a:extLst xmlns:a="http://schemas.openxmlformats.org/drawingml/2006/main">
              <a:ext uri="{FF2B5EF4-FFF2-40B4-BE49-F238E27FC236}">
                <a16:creationId xmlns:a16="http://schemas.microsoft.com/office/drawing/2014/main" id="{19AE27F4-BCCF-46EC-899B-9A83BDE9262F}"/>
              </a:ext>
            </a:extLst>
          </p:cNvPr>
          <p:cNvSpPr>
            <a:spLocks xmlns:a="http://schemas.openxmlformats.org/drawingml/2006/main" noGrp="1"/>
          </p:cNvSpPr>
          <p:nvPr/>
        </p:nvSpPr>
        <p:spPr>
          <a:xfrm xmlns:a="http://schemas.openxmlformats.org/drawingml/2006/main">
            <a:off x="571500" y="5095875"/>
            <a:ext cx="14097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 Markeer in de basisgrafiek de twee prijzen en de nieuwe hoeveelheid van</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plan A. Arceer de overheidsontvangsten en het welvaartsverlies verschillend. Benoem beide gebieden.</a:t>
            </a:r>
          </a:p>
        </p:txBody>
      </p:sp>
    </p:spTree>
    <p:extLst>
      <p:ext uri="{BB962C8B-B14F-4D97-AF65-F5344CB8AC3E}">
        <p14:creationId xmlns:p14="http://schemas.microsoft.com/office/powerpoint/2010/main" val="19042329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48 · Vragen e en f">
            <a:extLst xmlns:a="http://schemas.openxmlformats.org/drawingml/2006/main">
              <a:ext uri="{FF2B5EF4-FFF2-40B4-BE49-F238E27FC236}">
                <a16:creationId xmlns:a16="http://schemas.microsoft.com/office/drawing/2014/main" id="{E352A5B5-6972-4112-9C4A-C966BCB6297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48 · Vragen e en f</a:t>
            </a:r>
          </a:p>
        </p:txBody>
      </p:sp>
      <p:sp>
        <p:nvSpPr>
          <p:cNvPr id="2" name="">
            <a:extLst xmlns:a="http://schemas.openxmlformats.org/drawingml/2006/main">
              <a:ext uri="{FF2B5EF4-FFF2-40B4-BE49-F238E27FC236}">
                <a16:creationId xmlns:a16="http://schemas.microsoft.com/office/drawing/2014/main" id="{89A6CDEC-1BB2-419F-8FE2-14BBA28AE89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C54A85B-49E7-4150-BFF3-A292C8C2449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4888885F-89D3-4362-B132-D18E2F03A21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e. Bereken voor plan B Qv, Qa, werkelijke verkopen en tekort">
            <a:extLst xmlns:a="http://schemas.openxmlformats.org/drawingml/2006/main">
              <a:ext uri="{FF2B5EF4-FFF2-40B4-BE49-F238E27FC236}">
                <a16:creationId xmlns:a16="http://schemas.microsoft.com/office/drawing/2014/main" id="{B00ADF66-A822-41AC-9C51-AD86A1BDE024}"/>
              </a:ext>
            </a:extLst>
          </p:cNvPr>
          <p:cNvSpPr>
            <a:spLocks xmlns:a="http://schemas.openxmlformats.org/drawingml/2006/main" noGrp="1"/>
          </p:cNvSpPr>
          <p:nvPr/>
        </p:nvSpPr>
        <p:spPr>
          <a:xfrm xmlns:a="http://schemas.openxmlformats.org/drawingml/2006/main">
            <a:off x="571500" y="2114550"/>
            <a:ext cx="140970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 Bereken voor plan B Qv, Qa, werkelijke verkopen en tekort. Controleer eerst of de prijsregel bindt.</a:t>
            </a:r>
          </a:p>
        </p:txBody>
      </p:sp>
      <p:sp>
        <p:nvSpPr>
          <p:cNvPr id="6" name="f. Beoordeel beide delen van de beleidsclaim uit bron 3. Geb">
            <a:extLst xmlns:a="http://schemas.openxmlformats.org/drawingml/2006/main">
              <a:ext uri="{FF2B5EF4-FFF2-40B4-BE49-F238E27FC236}">
                <a16:creationId xmlns:a16="http://schemas.microsoft.com/office/drawing/2014/main" id="{6565E40B-DFBD-48BD-B45C-45563BA42265}"/>
              </a:ext>
            </a:extLst>
          </p:cNvPr>
          <p:cNvSpPr>
            <a:spLocks xmlns:a="http://schemas.openxmlformats.org/drawingml/2006/main" noGrp="1"/>
          </p:cNvSpPr>
          <p:nvPr/>
        </p:nvSpPr>
        <p:spPr>
          <a:xfrm xmlns:a="http://schemas.openxmlformats.org/drawingml/2006/main">
            <a:off x="571500" y="4419600"/>
            <a:ext cx="1409700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f. Beoordeel beide delen van de beleidsclaim uit bron 3. Gebruik minstens één berekening per deel. Geef daarna één verschil tussen de plannen dat voor kopers van belang is; trek geen niet-berekende algemene welvaartsconclusie over plan B.</a:t>
            </a:r>
          </a:p>
        </p:txBody>
      </p:sp>
    </p:spTree>
    <p:extLst>
      <p:ext uri="{BB962C8B-B14F-4D97-AF65-F5344CB8AC3E}">
        <p14:creationId xmlns:p14="http://schemas.microsoft.com/office/powerpoint/2010/main" val="43768478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48a · Maatregelen en vrij evenwicht">
            <a:extLst xmlns:a="http://schemas.openxmlformats.org/drawingml/2006/main">
              <a:ext uri="{FF2B5EF4-FFF2-40B4-BE49-F238E27FC236}">
                <a16:creationId xmlns:a16="http://schemas.microsoft.com/office/drawing/2014/main" id="{48FA03B9-ED6D-4D5F-80F9-13C9FE80648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48a · Maatregelen en vrij evenwicht</a:t>
            </a:r>
          </a:p>
        </p:txBody>
      </p:sp>
      <p:sp>
        <p:nvSpPr>
          <p:cNvPr id="2" name="">
            <a:extLst xmlns:a="http://schemas.openxmlformats.org/drawingml/2006/main">
              <a:ext uri="{FF2B5EF4-FFF2-40B4-BE49-F238E27FC236}">
                <a16:creationId xmlns:a16="http://schemas.microsoft.com/office/drawing/2014/main" id="{A028FF21-D996-4F64-9EBC-D4C94233E8E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9810481-8CBD-4C29-AC21-9D681BBCC1A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F23D396E-86AD-45BB-B079-678F0D5DC8F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Plan A: belasting per product     Plan B: maximumprijs">
            <a:extLst xmlns:a="http://schemas.openxmlformats.org/drawingml/2006/main">
              <a:ext uri="{FF2B5EF4-FFF2-40B4-BE49-F238E27FC236}">
                <a16:creationId xmlns:a16="http://schemas.microsoft.com/office/drawing/2014/main" id="{EE5B046B-4595-4C3D-9800-41BB76D5E6A4}"/>
              </a:ext>
            </a:extLst>
          </p:cNvPr>
          <p:cNvSpPr>
            <a:spLocks xmlns:a="http://schemas.openxmlformats.org/drawingml/2006/main" noGrp="1"/>
          </p:cNvSpPr>
          <p:nvPr/>
        </p:nvSpPr>
        <p:spPr>
          <a:xfrm xmlns:a="http://schemas.openxmlformats.org/drawingml/2006/main">
            <a:off x="571500" y="1838325"/>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Plan A: belasting per product     Plan B: maximumprijs</a:t>
            </a:r>
          </a:p>
        </p:txBody>
      </p:sp>
      <p:sp>
        <p:nvSpPr>
          <p:cNvPr id="6" name="Zonder maatregel: Pc = Pp">
            <a:extLst xmlns:a="http://schemas.openxmlformats.org/drawingml/2006/main">
              <a:ext uri="{FF2B5EF4-FFF2-40B4-BE49-F238E27FC236}">
                <a16:creationId xmlns:a16="http://schemas.microsoft.com/office/drawing/2014/main" id="{163715C2-C4F4-4C54-96C7-1F45DBCB8C41}"/>
              </a:ext>
            </a:extLst>
          </p:cNvPr>
          <p:cNvSpPr>
            <a:spLocks xmlns:a="http://schemas.openxmlformats.org/drawingml/2006/main" noGrp="1"/>
          </p:cNvSpPr>
          <p:nvPr/>
        </p:nvSpPr>
        <p:spPr>
          <a:xfrm xmlns:a="http://schemas.openxmlformats.org/drawingml/2006/main">
            <a:off x="571500" y="31432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Zonder maatregel: Pc = Pp</a:t>
            </a:r>
          </a:p>
        </p:txBody>
      </p:sp>
      <p:sp>
        <p:nvSpPr>
          <p:cNvPr id="7" name="24 − 0,20Q = 6 + 0,10Q&#10;18 = 0,30Q">
            <a:extLst xmlns:a="http://schemas.openxmlformats.org/drawingml/2006/main">
              <a:ext uri="{FF2B5EF4-FFF2-40B4-BE49-F238E27FC236}">
                <a16:creationId xmlns:a16="http://schemas.microsoft.com/office/drawing/2014/main" id="{3C76828E-846D-4A8C-A028-BFE3F533257B}"/>
              </a:ext>
            </a:extLst>
          </p:cNvPr>
          <p:cNvSpPr>
            <a:spLocks xmlns:a="http://schemas.openxmlformats.org/drawingml/2006/main" noGrp="1"/>
          </p:cNvSpPr>
          <p:nvPr/>
        </p:nvSpPr>
        <p:spPr>
          <a:xfrm xmlns:a="http://schemas.openxmlformats.org/drawingml/2006/main">
            <a:off x="571500" y="4057650"/>
            <a:ext cx="1409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24 − 0,20Q = 6 + 0,10Q</a:t>
            </a:r>
          </a:p>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18 = 0,30Q</a:t>
            </a:r>
          </a:p>
        </p:txBody>
      </p:sp>
      <p:sp>
        <p:nvSpPr>
          <p:cNvPr id="8" name="Q₀ = 60 bandjes per dag">
            <a:extLst xmlns:a="http://schemas.openxmlformats.org/drawingml/2006/main">
              <a:ext uri="{FF2B5EF4-FFF2-40B4-BE49-F238E27FC236}">
                <a16:creationId xmlns:a16="http://schemas.microsoft.com/office/drawing/2014/main" id="{19280268-4D03-4BAE-84EC-E3F1284D3534}"/>
              </a:ext>
            </a:extLst>
          </p:cNvPr>
          <p:cNvSpPr>
            <a:spLocks xmlns:a="http://schemas.openxmlformats.org/drawingml/2006/main" noGrp="1"/>
          </p:cNvSpPr>
          <p:nvPr/>
        </p:nvSpPr>
        <p:spPr>
          <a:xfrm xmlns:a="http://schemas.openxmlformats.org/drawingml/2006/main">
            <a:off x="571500" y="57435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Q₀ = 60 bandjes per dag</a:t>
            </a:r>
          </a:p>
        </p:txBody>
      </p:sp>
      <p:sp>
        <p:nvSpPr>
          <p:cNvPr id="9" name="P₀ = 24 − 0,20 × 60 = € 12 per bandje">
            <a:extLst xmlns:a="http://schemas.openxmlformats.org/drawingml/2006/main">
              <a:ext uri="{FF2B5EF4-FFF2-40B4-BE49-F238E27FC236}">
                <a16:creationId xmlns:a16="http://schemas.microsoft.com/office/drawing/2014/main" id="{BB211F69-08D2-478B-AD59-EE0EF41A7D79}"/>
              </a:ext>
            </a:extLst>
          </p:cNvPr>
          <p:cNvSpPr>
            <a:spLocks xmlns:a="http://schemas.openxmlformats.org/drawingml/2006/main" noGrp="1"/>
          </p:cNvSpPr>
          <p:nvPr/>
        </p:nvSpPr>
        <p:spPr>
          <a:xfrm xmlns:a="http://schemas.openxmlformats.org/drawingml/2006/main">
            <a:off x="571500" y="695325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E8449"/>
                </a:solidFill>
                <a:latin typeface="Arial"/>
                <a:ea typeface="Arial"/>
                <a:cs typeface="Arial"/>
              </a:defRPr>
            </a:pPr>
            <a:r>
              <a:rPr sz="3225" b="1">
                <a:solidFill>
                  <a:srgbClr val="1E8449"/>
                </a:solidFill>
                <a:latin typeface="Arial"/>
                <a:ea typeface="Arial"/>
                <a:cs typeface="Arial"/>
              </a:rPr>
              <a:t>P₀ = 24 − 0,20 × 60 = € 12 per bandje</a:t>
            </a:r>
          </a:p>
        </p:txBody>
      </p:sp>
    </p:spTree>
    <p:extLst>
      <p:ext uri="{BB962C8B-B14F-4D97-AF65-F5344CB8AC3E}">
        <p14:creationId xmlns:p14="http://schemas.microsoft.com/office/powerpoint/2010/main" val="16542333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48b · Aanbod in kopersprijzen">
            <a:extLst xmlns:a="http://schemas.openxmlformats.org/drawingml/2006/main">
              <a:ext uri="{FF2B5EF4-FFF2-40B4-BE49-F238E27FC236}">
                <a16:creationId xmlns:a16="http://schemas.microsoft.com/office/drawing/2014/main" id="{070091B4-50BC-4EF3-8AA7-5FB584AE3B2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48b · Aanbod in kopersprijzen</a:t>
            </a:r>
          </a:p>
        </p:txBody>
      </p:sp>
      <p:sp>
        <p:nvSpPr>
          <p:cNvPr id="2" name="">
            <a:extLst xmlns:a="http://schemas.openxmlformats.org/drawingml/2006/main">
              <a:ext uri="{FF2B5EF4-FFF2-40B4-BE49-F238E27FC236}">
                <a16:creationId xmlns:a16="http://schemas.microsoft.com/office/drawing/2014/main" id="{801699D6-0668-4274-BC1A-F52B12DDA06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6C4F4353-4D88-4A33-8BD1-592B5871879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53494AD2-D446-4549-9CB6-3393F94A058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De aanbieder moet € 3 per verkocht bandje afdragen.">
            <a:extLst xmlns:a="http://schemas.openxmlformats.org/drawingml/2006/main">
              <a:ext uri="{FF2B5EF4-FFF2-40B4-BE49-F238E27FC236}">
                <a16:creationId xmlns:a16="http://schemas.microsoft.com/office/drawing/2014/main" id="{B080C6A4-D899-4CF0-9225-13B2473D14F7}"/>
              </a:ext>
            </a:extLst>
          </p:cNvPr>
          <p:cNvSpPr>
            <a:spLocks xmlns:a="http://schemas.openxmlformats.org/drawingml/2006/main" noGrp="1"/>
          </p:cNvSpPr>
          <p:nvPr/>
        </p:nvSpPr>
        <p:spPr>
          <a:xfrm xmlns:a="http://schemas.openxmlformats.org/drawingml/2006/main">
            <a:off x="571500" y="1809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De aanbieder moet € 3 per verkocht bandje afdragen.</a:t>
            </a:r>
          </a:p>
        </p:txBody>
      </p:sp>
      <p:sp>
        <p:nvSpPr>
          <p:cNvPr id="6" name="Pc = Pp + 3 = (6 + 0,10Q) + 3">
            <a:extLst xmlns:a="http://schemas.openxmlformats.org/drawingml/2006/main">
              <a:ext uri="{FF2B5EF4-FFF2-40B4-BE49-F238E27FC236}">
                <a16:creationId xmlns:a16="http://schemas.microsoft.com/office/drawing/2014/main" id="{27D567F2-DB47-4F22-9055-2D58AF95990C}"/>
              </a:ext>
            </a:extLst>
          </p:cNvPr>
          <p:cNvSpPr>
            <a:spLocks xmlns:a="http://schemas.openxmlformats.org/drawingml/2006/main" noGrp="1"/>
          </p:cNvSpPr>
          <p:nvPr/>
        </p:nvSpPr>
        <p:spPr>
          <a:xfrm xmlns:a="http://schemas.openxmlformats.org/drawingml/2006/main">
            <a:off x="571500" y="300990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A94D16"/>
                </a:solidFill>
                <a:latin typeface="Arial"/>
                <a:ea typeface="Arial"/>
                <a:cs typeface="Arial"/>
              </a:defRPr>
            </a:pPr>
            <a:r>
              <a:rPr sz="3450" b="1">
                <a:solidFill>
                  <a:srgbClr val="A94D16"/>
                </a:solidFill>
                <a:latin typeface="Arial"/>
                <a:ea typeface="Arial"/>
                <a:cs typeface="Arial"/>
              </a:rPr>
              <a:t>Pc = Pp + 3 = (6 + 0,10Q) + 3</a:t>
            </a:r>
          </a:p>
        </p:txBody>
      </p:sp>
      <p:sp>
        <p:nvSpPr>
          <p:cNvPr id="7" name="Nieuw aanbod: Pc = 9 + 0,10Q">
            <a:extLst xmlns:a="http://schemas.openxmlformats.org/drawingml/2006/main">
              <a:ext uri="{FF2B5EF4-FFF2-40B4-BE49-F238E27FC236}">
                <a16:creationId xmlns:a16="http://schemas.microsoft.com/office/drawing/2014/main" id="{FA412BF3-9469-4532-81F0-4920B533D190}"/>
              </a:ext>
            </a:extLst>
          </p:cNvPr>
          <p:cNvSpPr>
            <a:spLocks xmlns:a="http://schemas.openxmlformats.org/drawingml/2006/main" noGrp="1"/>
          </p:cNvSpPr>
          <p:nvPr/>
        </p:nvSpPr>
        <p:spPr>
          <a:xfrm xmlns:a="http://schemas.openxmlformats.org/drawingml/2006/main">
            <a:off x="571500" y="403860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Nieuw aanbod: Pc = 9 + 0,10Q</a:t>
            </a:r>
          </a:p>
        </p:txBody>
      </p:sp>
      <p:sp>
        <p:nvSpPr>
          <p:cNvPr id="8" name="24 − 0,20Q = 9 + 0,10Q&#10;15 = 0,30Q">
            <a:extLst xmlns:a="http://schemas.openxmlformats.org/drawingml/2006/main">
              <a:ext uri="{FF2B5EF4-FFF2-40B4-BE49-F238E27FC236}">
                <a16:creationId xmlns:a16="http://schemas.microsoft.com/office/drawing/2014/main" id="{75ADD24A-FCA7-4413-B722-E53999170DB8}"/>
              </a:ext>
            </a:extLst>
          </p:cNvPr>
          <p:cNvSpPr>
            <a:spLocks xmlns:a="http://schemas.openxmlformats.org/drawingml/2006/main" noGrp="1"/>
          </p:cNvSpPr>
          <p:nvPr/>
        </p:nvSpPr>
        <p:spPr>
          <a:xfrm xmlns:a="http://schemas.openxmlformats.org/drawingml/2006/main">
            <a:off x="571500" y="5324475"/>
            <a:ext cx="14097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24 − 0,20Q = 9 + 0,10Q</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15 = 0,30Q</a:t>
            </a:r>
          </a:p>
        </p:txBody>
      </p:sp>
      <p:sp>
        <p:nvSpPr>
          <p:cNvPr id="9" name="Qt = 50 bandjes per dag">
            <a:extLst xmlns:a="http://schemas.openxmlformats.org/drawingml/2006/main">
              <a:ext uri="{FF2B5EF4-FFF2-40B4-BE49-F238E27FC236}">
                <a16:creationId xmlns:a16="http://schemas.microsoft.com/office/drawing/2014/main" id="{8D78653E-17E5-4E06-BF35-3A8A8D98BD93}"/>
              </a:ext>
            </a:extLst>
          </p:cNvPr>
          <p:cNvSpPr>
            <a:spLocks xmlns:a="http://schemas.openxmlformats.org/drawingml/2006/main" noGrp="1"/>
          </p:cNvSpPr>
          <p:nvPr/>
        </p:nvSpPr>
        <p:spPr>
          <a:xfrm xmlns:a="http://schemas.openxmlformats.org/drawingml/2006/main">
            <a:off x="571500" y="7153275"/>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A5276"/>
                </a:solidFill>
                <a:latin typeface="Arial"/>
                <a:ea typeface="Arial"/>
                <a:cs typeface="Arial"/>
              </a:defRPr>
            </a:pPr>
            <a:r>
              <a:rPr sz="3450" b="1">
                <a:solidFill>
                  <a:srgbClr val="1A5276"/>
                </a:solidFill>
                <a:latin typeface="Arial"/>
                <a:ea typeface="Arial"/>
                <a:cs typeface="Arial"/>
              </a:rPr>
              <a:t>Qt = 50 bandjes per dag</a:t>
            </a:r>
          </a:p>
        </p:txBody>
      </p:sp>
    </p:spTree>
    <p:extLst>
      <p:ext uri="{BB962C8B-B14F-4D97-AF65-F5344CB8AC3E}">
        <p14:creationId xmlns:p14="http://schemas.microsoft.com/office/powerpoint/2010/main" val="20074089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48b · Prijzen en economische last">
            <a:extLst xmlns:a="http://schemas.openxmlformats.org/drawingml/2006/main">
              <a:ext uri="{FF2B5EF4-FFF2-40B4-BE49-F238E27FC236}">
                <a16:creationId xmlns:a16="http://schemas.microsoft.com/office/drawing/2014/main" id="{48A5F555-A76F-47BE-BBB3-125463AEE3B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48b · Prijzen en economische last</a:t>
            </a:r>
          </a:p>
        </p:txBody>
      </p:sp>
      <p:sp>
        <p:nvSpPr>
          <p:cNvPr id="2" name="">
            <a:extLst xmlns:a="http://schemas.openxmlformats.org/drawingml/2006/main">
              <a:ext uri="{FF2B5EF4-FFF2-40B4-BE49-F238E27FC236}">
                <a16:creationId xmlns:a16="http://schemas.microsoft.com/office/drawing/2014/main" id="{FEE69657-F7CD-4C13-A1C8-C8BCBF4BFC3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7140D36-0452-496A-B796-9A3AE030814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4746268C-1CFF-44EB-B3EB-022E04DEDFA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graphicFrame>
        <p:nvGraphicFramePr>
          <p:cNvPr id="12" name=""/>
          <p:cNvGraphicFramePr/>
          <p:nvPr/>
        </p:nvGraphicFramePr>
        <p:xfrm>
          <a:off xmlns:a="http://schemas.openxmlformats.org/drawingml/2006/main" x="571500" y="2152650"/>
          <a:ext xmlns:a="http://schemas.openxmlformats.org/drawingml/2006/main" cx="14097000" cy="3962400"/>
        </p:xfrm>
        <a:graphic xmlns:a="http://schemas.openxmlformats.org/drawingml/2006/main">
          <a:graphicData uri="http://schemas.openxmlformats.org/drawingml/2006/table">
            <a:tbl>
              <a:tblPr/>
              <a:tblGrid>
                <a:gridCol w="5238750"/>
                <a:gridCol w="4572000"/>
                <a:gridCol w="4286250"/>
              </a:tblGrid>
              <a:tr h="792480">
                <a:tc>
                  <a:txBody>
                    <a:bodyPr lIns="171450" tIns="95250" rIns="152400" bIns="95250"/>
                    <a:lstStyle/>
                    <a:p>
                      <a:r>
                        <a:rPr sz="2550" b="1">
                          <a:solidFill>
                            <a:srgbClr val="FFFFFF"/>
                          </a:solidFill>
                          <a:latin typeface="Arial"/>
                          <a:ea typeface="Arial"/>
                          <a:cs typeface="Arial"/>
                        </a:rPr>
                        <a:t>Uitkomst</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Bedrag per bandje</a:t>
                      </a:r>
                    </a:p>
                  </a:txBody>
                  <a:tcPr marL="91440" marR="91440" marT="45720" marB="45720" anchor="ctr">
                    <a:solidFill>
                      <a:srgbClr val="183247"/>
                    </a:solidFill>
                  </a:tcPr>
                </a:tc>
              </a:tr>
              <a:tr h="792480">
                <a:tc>
                  <a:txBody>
                    <a:bodyPr lIns="171450" tIns="95250" rIns="152400" bIns="95250"/>
                    <a:lstStyle/>
                    <a:p>
                      <a:r>
                        <a:rPr sz="2550" b="0">
                          <a:solidFill>
                            <a:srgbClr val="183247"/>
                          </a:solidFill>
                          <a:latin typeface="Arial"/>
                          <a:ea typeface="Arial"/>
                          <a:cs typeface="Arial"/>
                        </a:rPr>
                        <a:t>Kopersprijs Pc</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24 − 0,20 × 50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€ 14</a:t>
                      </a:r>
                    </a:p>
                  </a:txBody>
                  <a:tcPr marL="91440" marR="91440" marT="45720" marB="45720" anchor="ctr">
                    <a:solidFill>
                      <a:srgbClr val="FFFFFF"/>
                    </a:solidFill>
                  </a:tcPr>
                </a:tc>
              </a:tr>
              <a:tr h="792480">
                <a:tc>
                  <a:txBody>
                    <a:bodyPr lIns="171450" tIns="95250" rIns="152400" bIns="95250"/>
                    <a:lstStyle/>
                    <a:p>
                      <a:r>
                        <a:rPr sz="2550" b="0">
                          <a:solidFill>
                            <a:srgbClr val="183247"/>
                          </a:solidFill>
                          <a:latin typeface="Arial"/>
                          <a:ea typeface="Arial"/>
                          <a:cs typeface="Arial"/>
                        </a:rPr>
                        <a:t>Verkopersontvangst Pp</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6 + 0,10 × 50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€ 11</a:t>
                      </a:r>
                    </a:p>
                  </a:txBody>
                  <a:tcPr marL="91440" marR="91440" marT="45720" marB="45720" anchor="ctr">
                    <a:solidFill>
                      <a:srgbClr val="EFF4F7"/>
                    </a:solidFill>
                  </a:tcPr>
                </a:tc>
              </a:tr>
              <a:tr h="792480">
                <a:tc>
                  <a:txBody>
                    <a:bodyPr lIns="171450" tIns="95250" rIns="152400" bIns="95250"/>
                    <a:lstStyle/>
                    <a:p>
                      <a:r>
                        <a:rPr sz="2550" b="0">
                          <a:solidFill>
                            <a:srgbClr val="183247"/>
                          </a:solidFill>
                          <a:latin typeface="Arial"/>
                          <a:ea typeface="Arial"/>
                          <a:cs typeface="Arial"/>
                        </a:rPr>
                        <a:t>Last koper</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14 − 12</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€ 2</a:t>
                      </a:r>
                    </a:p>
                  </a:txBody>
                  <a:tcPr marL="91440" marR="91440" marT="45720" marB="45720" anchor="ctr">
                    <a:solidFill>
                      <a:srgbClr val="FFFFFF"/>
                    </a:solidFill>
                  </a:tcPr>
                </a:tc>
              </a:tr>
              <a:tr h="792480">
                <a:tc>
                  <a:txBody>
                    <a:bodyPr lIns="171450" tIns="95250" rIns="152400" bIns="95250"/>
                    <a:lstStyle/>
                    <a:p>
                      <a:r>
                        <a:rPr sz="2550" b="0">
                          <a:solidFill>
                            <a:srgbClr val="183247"/>
                          </a:solidFill>
                          <a:latin typeface="Arial"/>
                          <a:ea typeface="Arial"/>
                          <a:cs typeface="Arial"/>
                        </a:rPr>
                        <a:t>Last verkoper</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12 − 11</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€ 1</a:t>
                      </a:r>
                    </a:p>
                  </a:txBody>
                  <a:tcPr marL="91440" marR="91440" marT="45720" marB="45720" anchor="ctr">
                    <a:solidFill>
                      <a:srgbClr val="EFF4F7"/>
                    </a:solidFill>
                  </a:tcPr>
                </a:tc>
              </a:tr>
            </a:tbl>
          </a:graphicData>
        </a:graphic>
      </p:graphicFrame>
      <p:sp>
        <p:nvSpPr>
          <p:cNvPr id="6" name="Controle: Pc − Pp = 14 − 11 = € 3">
            <a:extLst xmlns:a="http://schemas.openxmlformats.org/drawingml/2006/main">
              <a:ext uri="{FF2B5EF4-FFF2-40B4-BE49-F238E27FC236}">
                <a16:creationId xmlns:a16="http://schemas.microsoft.com/office/drawing/2014/main" id="{847EE7F9-3D28-440B-843E-1F61E9C1A743}"/>
              </a:ext>
            </a:extLst>
          </p:cNvPr>
          <p:cNvSpPr>
            <a:spLocks xmlns:a="http://schemas.openxmlformats.org/drawingml/2006/main" noGrp="1"/>
          </p:cNvSpPr>
          <p:nvPr/>
        </p:nvSpPr>
        <p:spPr>
          <a:xfrm xmlns:a="http://schemas.openxmlformats.org/drawingml/2006/main">
            <a:off x="571500" y="66294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Controle: Pc − Pp = 14 − 11 = € 3</a:t>
            </a:r>
          </a:p>
        </p:txBody>
      </p:sp>
      <p:sp>
        <p:nvSpPr>
          <p:cNvPr id="7" name="Ook: last koper + last verkoper = 2 + 1 = € 3">
            <a:extLst xmlns:a="http://schemas.openxmlformats.org/drawingml/2006/main">
              <a:ext uri="{FF2B5EF4-FFF2-40B4-BE49-F238E27FC236}">
                <a16:creationId xmlns:a16="http://schemas.microsoft.com/office/drawing/2014/main" id="{4DE5F074-6C2E-4AB8-BCF7-98E53414E1BE}"/>
              </a:ext>
            </a:extLst>
          </p:cNvPr>
          <p:cNvSpPr>
            <a:spLocks xmlns:a="http://schemas.openxmlformats.org/drawingml/2006/main" noGrp="1"/>
          </p:cNvSpPr>
          <p:nvPr/>
        </p:nvSpPr>
        <p:spPr>
          <a:xfrm xmlns:a="http://schemas.openxmlformats.org/drawingml/2006/main">
            <a:off x="571500" y="7448550"/>
            <a:ext cx="1409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Ook: last koper + last verkoper = 2 + 1 = € 3</a:t>
            </a:r>
          </a:p>
        </p:txBody>
      </p:sp>
    </p:spTree>
    <p:extLst>
      <p:ext uri="{BB962C8B-B14F-4D97-AF65-F5344CB8AC3E}">
        <p14:creationId xmlns:p14="http://schemas.microsoft.com/office/powerpoint/2010/main" val="71025574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48d · Twee prijzen bij dezelfde hoeveelheid">
            <a:extLst xmlns:a="http://schemas.openxmlformats.org/drawingml/2006/main">
              <a:ext uri="{FF2B5EF4-FFF2-40B4-BE49-F238E27FC236}">
                <a16:creationId xmlns:a16="http://schemas.microsoft.com/office/drawing/2014/main" id="{FDD3F498-EC2B-4431-94C0-DC995E2BF47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48d · Twee prijzen bij dezelfde hoeveelheid</a:t>
            </a:r>
          </a:p>
        </p:txBody>
      </p:sp>
      <p:sp>
        <p:nvSpPr>
          <p:cNvPr id="2" name="">
            <a:extLst xmlns:a="http://schemas.openxmlformats.org/drawingml/2006/main">
              <a:ext uri="{FF2B5EF4-FFF2-40B4-BE49-F238E27FC236}">
                <a16:creationId xmlns:a16="http://schemas.microsoft.com/office/drawing/2014/main" id="{DE51B063-F062-4FF3-94CE-90C045DE886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838A53F-DF14-4D9B-851B-A55D2952FE3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B941CF7C-B1E8-4E7C-9EED-D8CB30F54DD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graphicFrame>
        <p:nvGraphicFramePr>
          <p:cNvPr id="20"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50634ba1d6a241ad"/>
          </a:graphicData>
        </a:graphic>
      </p:graphicFrame>
      <p:sp>
        <p:nvSpPr>
          <p:cNvPr id="6" name="V">
            <a:extLst xmlns:a="http://schemas.openxmlformats.org/drawingml/2006/main">
              <a:ext uri="{FF2B5EF4-FFF2-40B4-BE49-F238E27FC236}">
                <a16:creationId xmlns:a16="http://schemas.microsoft.com/office/drawing/2014/main" id="{CBBE65C8-D9CC-4F25-9DFB-3F748A29764A}"/>
              </a:ext>
            </a:extLst>
          </p:cNvPr>
          <p:cNvSpPr>
            <a:spLocks xmlns:a="http://schemas.openxmlformats.org/drawingml/2006/main" noGrp="1"/>
          </p:cNvSpPr>
          <p:nvPr/>
        </p:nvSpPr>
        <p:spPr>
          <a:xfrm xmlns:a="http://schemas.openxmlformats.org/drawingml/2006/main">
            <a:off x="8300009" y="6442739"/>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A5276"/>
                </a:solidFill>
                <a:latin typeface="Arial"/>
                <a:ea typeface="Arial"/>
                <a:cs typeface="Arial"/>
              </a:defRPr>
            </a:pPr>
            <a:r>
              <a:rPr sz="2100" b="1">
                <a:solidFill>
                  <a:srgbClr val="1A5276"/>
                </a:solidFill>
                <a:latin typeface="Arial"/>
                <a:ea typeface="Arial"/>
                <a:cs typeface="Arial"/>
              </a:rPr>
              <a:t>V</a:t>
            </a:r>
          </a:p>
        </p:txBody>
      </p:sp>
      <p:sp>
        <p:nvSpPr>
          <p:cNvPr id="7" name="A">
            <a:extLst xmlns:a="http://schemas.openxmlformats.org/drawingml/2006/main">
              <a:ext uri="{FF2B5EF4-FFF2-40B4-BE49-F238E27FC236}">
                <a16:creationId xmlns:a16="http://schemas.microsoft.com/office/drawing/2014/main" id="{ACBD39B7-F12D-4784-AF37-3CBC49B3A18E}"/>
              </a:ext>
            </a:extLst>
          </p:cNvPr>
          <p:cNvSpPr>
            <a:spLocks xmlns:a="http://schemas.openxmlformats.org/drawingml/2006/main" noGrp="1"/>
          </p:cNvSpPr>
          <p:nvPr/>
        </p:nvSpPr>
        <p:spPr>
          <a:xfrm xmlns:a="http://schemas.openxmlformats.org/drawingml/2006/main">
            <a:off x="8150047" y="4233731"/>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E8449"/>
                </a:solidFill>
                <a:latin typeface="Arial"/>
                <a:ea typeface="Arial"/>
                <a:cs typeface="Arial"/>
              </a:defRPr>
            </a:pPr>
            <a:r>
              <a:rPr sz="2100" b="1">
                <a:solidFill>
                  <a:srgbClr val="1E8449"/>
                </a:solidFill>
                <a:latin typeface="Arial"/>
                <a:ea typeface="Arial"/>
                <a:cs typeface="Arial"/>
              </a:rPr>
              <a:t>A</a:t>
            </a:r>
          </a:p>
        </p:txBody>
      </p:sp>
      <p:sp>
        <p:nvSpPr>
          <p:cNvPr id="8" name="A + t">
            <a:extLst xmlns:a="http://schemas.openxmlformats.org/drawingml/2006/main">
              <a:ext uri="{FF2B5EF4-FFF2-40B4-BE49-F238E27FC236}">
                <a16:creationId xmlns:a16="http://schemas.microsoft.com/office/drawing/2014/main" id="{C1CD082E-513B-45C2-B90B-5E8ADE16147F}"/>
              </a:ext>
            </a:extLst>
          </p:cNvPr>
          <p:cNvSpPr>
            <a:spLocks xmlns:a="http://schemas.openxmlformats.org/drawingml/2006/main" noGrp="1"/>
          </p:cNvSpPr>
          <p:nvPr/>
        </p:nvSpPr>
        <p:spPr>
          <a:xfrm xmlns:a="http://schemas.openxmlformats.org/drawingml/2006/main">
            <a:off x="7850124" y="3169334"/>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D16"/>
                </a:solidFill>
                <a:latin typeface="Arial"/>
                <a:ea typeface="Arial"/>
                <a:cs typeface="Arial"/>
              </a:defRPr>
            </a:pPr>
            <a:r>
              <a:rPr sz="2100" b="1">
                <a:solidFill>
                  <a:srgbClr val="A94D16"/>
                </a:solidFill>
                <a:latin typeface="Arial"/>
                <a:ea typeface="Arial"/>
                <a:cs typeface="Arial"/>
              </a:rPr>
              <a:t>A + t</a:t>
            </a:r>
          </a:p>
        </p:txBody>
      </p:sp>
      <p:sp>
        <p:nvSpPr>
          <p:cNvPr id="9" name="Pc = 14">
            <a:extLst xmlns:a="http://schemas.openxmlformats.org/drawingml/2006/main">
              <a:ext uri="{FF2B5EF4-FFF2-40B4-BE49-F238E27FC236}">
                <a16:creationId xmlns:a16="http://schemas.microsoft.com/office/drawing/2014/main" id="{BC469589-5355-4CA9-8EA3-D6036633ACEA}"/>
              </a:ext>
            </a:extLst>
          </p:cNvPr>
          <p:cNvSpPr>
            <a:spLocks xmlns:a="http://schemas.openxmlformats.org/drawingml/2006/main" noGrp="1"/>
          </p:cNvSpPr>
          <p:nvPr/>
        </p:nvSpPr>
        <p:spPr>
          <a:xfrm xmlns:a="http://schemas.openxmlformats.org/drawingml/2006/main">
            <a:off x="1976628" y="414572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3247"/>
                </a:solidFill>
                <a:latin typeface="Arial"/>
                <a:ea typeface="Arial"/>
                <a:cs typeface="Arial"/>
              </a:defRPr>
            </a:pPr>
            <a:r>
              <a:rPr sz="1875" b="1">
                <a:solidFill>
                  <a:srgbClr val="183247"/>
                </a:solidFill>
                <a:latin typeface="Arial"/>
                <a:ea typeface="Arial"/>
                <a:cs typeface="Arial"/>
              </a:rPr>
              <a:t>Pc = 14</a:t>
            </a:r>
          </a:p>
        </p:txBody>
      </p:sp>
      <p:sp>
        <p:nvSpPr>
          <p:cNvPr id="10" name="Qt = 50">
            <a:extLst xmlns:a="http://schemas.openxmlformats.org/drawingml/2006/main">
              <a:ext uri="{FF2B5EF4-FFF2-40B4-BE49-F238E27FC236}">
                <a16:creationId xmlns:a16="http://schemas.microsoft.com/office/drawing/2014/main" id="{1D123CD3-1591-41A7-9C54-9F6996EC4C31}"/>
              </a:ext>
            </a:extLst>
          </p:cNvPr>
          <p:cNvSpPr>
            <a:spLocks xmlns:a="http://schemas.openxmlformats.org/drawingml/2006/main" noGrp="1"/>
          </p:cNvSpPr>
          <p:nvPr/>
        </p:nvSpPr>
        <p:spPr>
          <a:xfrm xmlns:a="http://schemas.openxmlformats.org/drawingml/2006/main">
            <a:off x="4118610" y="2023110"/>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83247"/>
                </a:solidFill>
                <a:latin typeface="Arial"/>
                <a:ea typeface="Arial"/>
                <a:cs typeface="Arial"/>
              </a:defRPr>
            </a:pPr>
            <a:r>
              <a:rPr sz="1950" b="1">
                <a:solidFill>
                  <a:srgbClr val="183247"/>
                </a:solidFill>
                <a:latin typeface="Arial"/>
                <a:ea typeface="Arial"/>
                <a:cs typeface="Arial"/>
              </a:rPr>
              <a:t>Qt = 50</a:t>
            </a:r>
          </a:p>
        </p:txBody>
      </p:sp>
      <p:sp>
        <p:nvSpPr>
          <p:cNvPr id="11" name="Q₀ = 60">
            <a:extLst xmlns:a="http://schemas.openxmlformats.org/drawingml/2006/main">
              <a:ext uri="{FF2B5EF4-FFF2-40B4-BE49-F238E27FC236}">
                <a16:creationId xmlns:a16="http://schemas.microsoft.com/office/drawing/2014/main" id="{5B07AF69-7101-45D4-B026-2FD44E70A5B2}"/>
              </a:ext>
            </a:extLst>
          </p:cNvPr>
          <p:cNvSpPr>
            <a:spLocks xmlns:a="http://schemas.openxmlformats.org/drawingml/2006/main" noGrp="1"/>
          </p:cNvSpPr>
          <p:nvPr/>
        </p:nvSpPr>
        <p:spPr>
          <a:xfrm xmlns:a="http://schemas.openxmlformats.org/drawingml/2006/main">
            <a:off x="5676900" y="5710750"/>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3247"/>
                </a:solidFill>
                <a:latin typeface="Arial"/>
                <a:ea typeface="Arial"/>
                <a:cs typeface="Arial"/>
              </a:defRPr>
            </a:pPr>
            <a:r>
              <a:rPr sz="1875" b="1">
                <a:solidFill>
                  <a:srgbClr val="183247"/>
                </a:solidFill>
                <a:latin typeface="Arial"/>
                <a:ea typeface="Arial"/>
                <a:cs typeface="Arial"/>
              </a:rPr>
              <a:t>Q₀ = 60</a:t>
            </a:r>
          </a:p>
        </p:txBody>
      </p:sp>
      <p:sp>
        <p:nvSpPr>
          <p:cNvPr id="12" name="Pp = 11">
            <a:extLst xmlns:a="http://schemas.openxmlformats.org/drawingml/2006/main">
              <a:ext uri="{FF2B5EF4-FFF2-40B4-BE49-F238E27FC236}">
                <a16:creationId xmlns:a16="http://schemas.microsoft.com/office/drawing/2014/main" id="{E28F235D-6DAF-4FC7-B5CD-95D208B5B050}"/>
              </a:ext>
            </a:extLst>
          </p:cNvPr>
          <p:cNvSpPr>
            <a:spLocks xmlns:a="http://schemas.openxmlformats.org/drawingml/2006/main" noGrp="1"/>
          </p:cNvSpPr>
          <p:nvPr/>
        </p:nvSpPr>
        <p:spPr>
          <a:xfrm xmlns:a="http://schemas.openxmlformats.org/drawingml/2006/main">
            <a:off x="1976628" y="4721616"/>
            <a:ext cx="1066800" cy="3048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3247"/>
                </a:solidFill>
                <a:latin typeface="Arial"/>
                <a:ea typeface="Arial"/>
                <a:cs typeface="Arial"/>
              </a:defRPr>
            </a:pPr>
            <a:r>
              <a:rPr sz="1875" b="1">
                <a:solidFill>
                  <a:srgbClr val="183247"/>
                </a:solidFill>
                <a:latin typeface="Arial"/>
                <a:ea typeface="Arial"/>
                <a:cs typeface="Arial"/>
              </a:rPr>
              <a:t>Pp = 11</a:t>
            </a:r>
          </a:p>
        </p:txBody>
      </p:sp>
      <p:sp>
        <p:nvSpPr>
          <p:cNvPr id="13" name="Plan A">
            <a:extLst xmlns:a="http://schemas.openxmlformats.org/drawingml/2006/main">
              <a:ext uri="{FF2B5EF4-FFF2-40B4-BE49-F238E27FC236}">
                <a16:creationId xmlns:a16="http://schemas.microsoft.com/office/drawing/2014/main" id="{80B43EBC-FEFE-4E0A-B5DE-B13417798C40}"/>
              </a:ext>
            </a:extLst>
          </p:cNvPr>
          <p:cNvSpPr>
            <a:spLocks xmlns:a="http://schemas.openxmlformats.org/drawingml/2006/main" noGrp="1"/>
          </p:cNvSpPr>
          <p:nvPr/>
        </p:nvSpPr>
        <p:spPr>
          <a:xfrm xmlns:a="http://schemas.openxmlformats.org/drawingml/2006/main">
            <a:off x="10287000" y="2066925"/>
            <a:ext cx="4381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Plan A</a:t>
            </a:r>
          </a:p>
        </p:txBody>
      </p:sp>
      <p:sp>
        <p:nvSpPr>
          <p:cNvPr id="14" name="Qt = 50 bandjes per dag&#10;&#10;Pc = € 14 per bandje&#10;Pp = € 11 per ">
            <a:extLst xmlns:a="http://schemas.openxmlformats.org/drawingml/2006/main">
              <a:ext uri="{FF2B5EF4-FFF2-40B4-BE49-F238E27FC236}">
                <a16:creationId xmlns:a16="http://schemas.microsoft.com/office/drawing/2014/main" id="{9894F4A1-E330-46AD-ABE4-797220970100}"/>
              </a:ext>
            </a:extLst>
          </p:cNvPr>
          <p:cNvSpPr>
            <a:spLocks xmlns:a="http://schemas.openxmlformats.org/drawingml/2006/main" noGrp="1"/>
          </p:cNvSpPr>
          <p:nvPr/>
        </p:nvSpPr>
        <p:spPr>
          <a:xfrm xmlns:a="http://schemas.openxmlformats.org/drawingml/2006/main">
            <a:off x="10287000" y="3143250"/>
            <a:ext cx="43815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Qt = 50 bandjes per dag</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Pc = € 14 per bandje</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Pp = € 11 per bandje</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Wig = € 3 per bandje</a:t>
            </a:r>
          </a:p>
        </p:txBody>
      </p:sp>
      <p:sp>
        <p:nvSpPr>
          <p:cNvPr id="15" name="Pc op V en A + t.&#10;Pp op oorspronkelijke A.">
            <a:extLst xmlns:a="http://schemas.openxmlformats.org/drawingml/2006/main">
              <a:ext uri="{FF2B5EF4-FFF2-40B4-BE49-F238E27FC236}">
                <a16:creationId xmlns:a16="http://schemas.microsoft.com/office/drawing/2014/main" id="{83FA3D2E-FD8B-4545-9620-E24982BD377A}"/>
              </a:ext>
            </a:extLst>
          </p:cNvPr>
          <p:cNvSpPr>
            <a:spLocks xmlns:a="http://schemas.openxmlformats.org/drawingml/2006/main" noGrp="1"/>
          </p:cNvSpPr>
          <p:nvPr/>
        </p:nvSpPr>
        <p:spPr>
          <a:xfrm xmlns:a="http://schemas.openxmlformats.org/drawingml/2006/main">
            <a:off x="10287000" y="6438900"/>
            <a:ext cx="4381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Pc op V en A + t.</a:t>
            </a:r>
          </a:p>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Pp op oorspronkelijke A.</a:t>
            </a:r>
          </a:p>
        </p:txBody>
      </p:sp>
    </p:spTree>
    <p:extLst>
      <p:ext uri="{BB962C8B-B14F-4D97-AF65-F5344CB8AC3E}">
        <p14:creationId xmlns:p14="http://schemas.microsoft.com/office/powerpoint/2010/main" val="169856292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48c · Overheidsontvangsten en surplus">
            <a:extLst xmlns:a="http://schemas.openxmlformats.org/drawingml/2006/main">
              <a:ext uri="{FF2B5EF4-FFF2-40B4-BE49-F238E27FC236}">
                <a16:creationId xmlns:a16="http://schemas.microsoft.com/office/drawing/2014/main" id="{C29C7AFD-295E-4C2C-8A75-A5CF28BDB09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48c · Overheidsontvangsten en surplus</a:t>
            </a:r>
          </a:p>
        </p:txBody>
      </p:sp>
      <p:sp>
        <p:nvSpPr>
          <p:cNvPr id="2" name="">
            <a:extLst xmlns:a="http://schemas.openxmlformats.org/drawingml/2006/main">
              <a:ext uri="{FF2B5EF4-FFF2-40B4-BE49-F238E27FC236}">
                <a16:creationId xmlns:a16="http://schemas.microsoft.com/office/drawing/2014/main" id="{359F9070-5EDF-42BB-BC7E-0D61052D516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D2027E93-59FE-45F7-A021-5BE983A87F4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BFA651A8-AD94-4238-8788-5735CDBC6B5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Qt = 50 bandjes per dag · Pc = € 14 en Pp = € 11 per bandje">
            <a:extLst xmlns:a="http://schemas.openxmlformats.org/drawingml/2006/main">
              <a:ext uri="{FF2B5EF4-FFF2-40B4-BE49-F238E27FC236}">
                <a16:creationId xmlns:a16="http://schemas.microsoft.com/office/drawing/2014/main" id="{661DC2BF-7A90-4376-A5E5-A40191CBDC91}"/>
              </a:ext>
            </a:extLst>
          </p:cNvPr>
          <p:cNvSpPr>
            <a:spLocks xmlns:a="http://schemas.openxmlformats.org/drawingml/2006/main" noGrp="1"/>
          </p:cNvSpPr>
          <p:nvPr/>
        </p:nvSpPr>
        <p:spPr>
          <a:xfrm xmlns:a="http://schemas.openxmlformats.org/drawingml/2006/main">
            <a:off x="571500" y="1781175"/>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Qt = 50 bandjes per dag · Pc = € 14 en Pp = € 11 per bandje</a:t>
            </a:r>
          </a:p>
        </p:txBody>
      </p:sp>
      <p:graphicFrame>
        <p:nvGraphicFramePr>
          <p:cNvPr id="13" name=""/>
          <p:cNvGraphicFramePr/>
          <p:nvPr/>
        </p:nvGraphicFramePr>
        <p:xfrm>
          <a:off xmlns:a="http://schemas.openxmlformats.org/drawingml/2006/main" x="571500" y="3171825"/>
          <a:ext xmlns:a="http://schemas.openxmlformats.org/drawingml/2006/main" cx="14097000" cy="3352800"/>
        </p:xfrm>
        <a:graphic xmlns:a="http://schemas.openxmlformats.org/drawingml/2006/main">
          <a:graphicData uri="http://schemas.openxmlformats.org/drawingml/2006/table">
            <a:tbl>
              <a:tblPr/>
              <a:tblGrid>
                <a:gridCol w="5810250"/>
                <a:gridCol w="5334000"/>
                <a:gridCol w="2952750"/>
              </a:tblGrid>
              <a:tr h="838200">
                <a:tc>
                  <a:txBody>
                    <a:bodyPr lIns="171450" tIns="95250" rIns="152400" bIns="95250"/>
                    <a:lstStyle/>
                    <a:p>
                      <a:r>
                        <a:rPr sz="2550" b="1">
                          <a:solidFill>
                            <a:srgbClr val="FFFFFF"/>
                          </a:solidFill>
                          <a:latin typeface="Arial"/>
                          <a:ea typeface="Arial"/>
                          <a:cs typeface="Arial"/>
                        </a:rPr>
                        <a:t>Gebied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 per dag</a:t>
                      </a:r>
                    </a:p>
                  </a:txBody>
                  <a:tcPr marL="91440" marR="91440" marT="45720" marB="45720" anchor="ctr">
                    <a:solidFill>
                      <a:srgbClr val="183247"/>
                    </a:solidFill>
                  </a:tcPr>
                </a:tc>
              </a:tr>
              <a:tr h="838200">
                <a:tc>
                  <a:txBody>
                    <a:bodyPr lIns="171450" tIns="95250" rIns="152400" bIns="95250"/>
                    <a:lstStyle/>
                    <a:p>
                      <a:r>
                        <a:rPr sz="2550" b="0">
                          <a:solidFill>
                            <a:srgbClr val="183247"/>
                          </a:solidFill>
                          <a:latin typeface="Arial"/>
                          <a:ea typeface="Arial"/>
                          <a:cs typeface="Arial"/>
                        </a:rPr>
                        <a:t>O: alle verkochte bandjes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3 × 50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€ 150</a:t>
                      </a:r>
                    </a:p>
                  </a:txBody>
                  <a:tcPr marL="91440" marR="91440" marT="45720" marB="45720" anchor="ctr">
                    <a:solidFill>
                      <a:srgbClr val="FFFFFF"/>
                    </a:solidFill>
                  </a:tcPr>
                </a:tc>
              </a:tr>
              <a:tr h="838200">
                <a:tc>
                  <a:txBody>
                    <a:bodyPr lIns="171450" tIns="95250" rIns="152400" bIns="95250"/>
                    <a:lstStyle/>
                    <a:p>
                      <a:r>
                        <a:rPr sz="2550" b="0">
                          <a:solidFill>
                            <a:srgbClr val="183247"/>
                          </a:solidFill>
                          <a:latin typeface="Arial"/>
                          <a:ea typeface="Arial"/>
                          <a:cs typeface="Arial"/>
                        </a:rPr>
                        <a:t>CS: onder V, boven Pc</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½ × 50 × (24 − 14)</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€ 250</a:t>
                      </a:r>
                    </a:p>
                  </a:txBody>
                  <a:tcPr marL="91440" marR="91440" marT="45720" marB="45720" anchor="ctr">
                    <a:solidFill>
                      <a:srgbClr val="EFF4F7"/>
                    </a:solidFill>
                  </a:tcPr>
                </a:tc>
              </a:tr>
              <a:tr h="838200">
                <a:tc>
                  <a:txBody>
                    <a:bodyPr lIns="171450" tIns="95250" rIns="152400" bIns="95250"/>
                    <a:lstStyle/>
                    <a:p>
                      <a:r>
                        <a:rPr sz="2550" b="0">
                          <a:solidFill>
                            <a:srgbClr val="183247"/>
                          </a:solidFill>
                          <a:latin typeface="Arial"/>
                          <a:ea typeface="Arial"/>
                          <a:cs typeface="Arial"/>
                        </a:rPr>
                        <a:t>PS: boven A, onder Pp</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½ × 50 × (11 − 6)</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€ 125</a:t>
                      </a:r>
                    </a:p>
                  </a:txBody>
                  <a:tcPr marL="91440" marR="91440" marT="45720" marB="45720" anchor="ctr">
                    <a:solidFill>
                      <a:srgbClr val="FFFFFF"/>
                    </a:solidFill>
                  </a:tcPr>
                </a:tc>
              </a:tr>
            </a:tbl>
          </a:graphicData>
        </a:graphic>
      </p:graphicFrame>
      <p:sp>
        <p:nvSpPr>
          <p:cNvPr id="7" name="Surplus: gebruik V en de oorspronkelijke A.">
            <a:extLst xmlns:a="http://schemas.openxmlformats.org/drawingml/2006/main">
              <a:ext uri="{FF2B5EF4-FFF2-40B4-BE49-F238E27FC236}">
                <a16:creationId xmlns:a16="http://schemas.microsoft.com/office/drawing/2014/main" id="{AE93343D-5628-4455-8D99-2F60644F1AB0}"/>
              </a:ext>
            </a:extLst>
          </p:cNvPr>
          <p:cNvSpPr>
            <a:spLocks xmlns:a="http://schemas.openxmlformats.org/drawingml/2006/main" noGrp="1"/>
          </p:cNvSpPr>
          <p:nvPr/>
        </p:nvSpPr>
        <p:spPr>
          <a:xfrm xmlns:a="http://schemas.openxmlformats.org/drawingml/2006/main">
            <a:off x="571500" y="7219950"/>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E8449"/>
                </a:solidFill>
                <a:latin typeface="Arial"/>
                <a:ea typeface="Arial"/>
                <a:cs typeface="Arial"/>
              </a:defRPr>
            </a:pPr>
            <a:r>
              <a:rPr sz="3150" b="1">
                <a:solidFill>
                  <a:srgbClr val="1E8449"/>
                </a:solidFill>
                <a:latin typeface="Arial"/>
                <a:ea typeface="Arial"/>
                <a:cs typeface="Arial"/>
              </a:rPr>
              <a:t>Surplus: gebruik V en de oorspronkelijke A.</a:t>
            </a:r>
          </a:p>
        </p:txBody>
      </p:sp>
    </p:spTree>
    <p:extLst>
      <p:ext uri="{BB962C8B-B14F-4D97-AF65-F5344CB8AC3E}">
        <p14:creationId xmlns:p14="http://schemas.microsoft.com/office/powerpoint/2010/main" val="8802816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48c · Welvaartsverlies">
            <a:extLst xmlns:a="http://schemas.openxmlformats.org/drawingml/2006/main">
              <a:ext uri="{FF2B5EF4-FFF2-40B4-BE49-F238E27FC236}">
                <a16:creationId xmlns:a16="http://schemas.microsoft.com/office/drawing/2014/main" id="{EB07963F-69AC-4EA6-B82D-DA78918781A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48c · Welvaartsverlies</a:t>
            </a:r>
          </a:p>
        </p:txBody>
      </p:sp>
      <p:sp>
        <p:nvSpPr>
          <p:cNvPr id="2" name="">
            <a:extLst xmlns:a="http://schemas.openxmlformats.org/drawingml/2006/main">
              <a:ext uri="{FF2B5EF4-FFF2-40B4-BE49-F238E27FC236}">
                <a16:creationId xmlns:a16="http://schemas.microsoft.com/office/drawing/2014/main" id="{82F60055-74B0-493D-8449-5289E924BF1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A3C35EB6-326B-4358-896C-54F77E9D80D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C87FF87E-BF5D-4B3A-A0BD-25CF460E50C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graphicFrame>
        <p:nvGraphicFramePr>
          <p:cNvPr id="12" name=""/>
          <p:cNvGraphicFramePr/>
          <p:nvPr/>
        </p:nvGraphicFramePr>
        <p:xfrm>
          <a:off xmlns:a="http://schemas.openxmlformats.org/drawingml/2006/main" x="571500" y="2209800"/>
          <a:ext xmlns:a="http://schemas.openxmlformats.org/drawingml/2006/main" cx="14097000" cy="3219450"/>
        </p:xfrm>
        <a:graphic xmlns:a="http://schemas.openxmlformats.org/drawingml/2006/main">
          <a:graphicData uri="http://schemas.openxmlformats.org/drawingml/2006/table">
            <a:tbl>
              <a:tblPr/>
              <a:tblGrid>
                <a:gridCol w="6000750"/>
                <a:gridCol w="5143500"/>
                <a:gridCol w="2952750"/>
              </a:tblGrid>
              <a:tr h="804863">
                <a:tc>
                  <a:txBody>
                    <a:bodyPr lIns="171450" tIns="95250" rIns="152400" bIns="95250"/>
                    <a:lstStyle/>
                    <a:p>
                      <a:r>
                        <a:rPr sz="2550" b="1">
                          <a:solidFill>
                            <a:srgbClr val="FFFFFF"/>
                          </a:solidFill>
                          <a:latin typeface="Arial"/>
                          <a:ea typeface="Arial"/>
                          <a:cs typeface="Arial"/>
                        </a:rPr>
                        <a:t>Welvaartsmaat</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 per dag</a:t>
                      </a:r>
                    </a:p>
                  </a:txBody>
                  <a:tcPr marL="91440" marR="91440" marT="45720" marB="45720" anchor="ctr">
                    <a:solidFill>
                      <a:srgbClr val="183247"/>
                    </a:solidFill>
                  </a:tcPr>
                </a:tc>
              </a:tr>
              <a:tr h="804863">
                <a:tc>
                  <a:txBody>
                    <a:bodyPr lIns="171450" tIns="95250" rIns="152400" bIns="95250"/>
                    <a:lstStyle/>
                    <a:p>
                      <a:r>
                        <a:rPr sz="2550" b="0">
                          <a:solidFill>
                            <a:srgbClr val="183247"/>
                          </a:solidFill>
                          <a:latin typeface="Arial"/>
                          <a:ea typeface="Arial"/>
                          <a:cs typeface="Arial"/>
                        </a:rPr>
                        <a:t>Vrije markt: CS + PS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360 + 180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540</a:t>
                      </a:r>
                    </a:p>
                  </a:txBody>
                  <a:tcPr marL="91440" marR="91440" marT="45720" marB="45720" anchor="ctr">
                    <a:solidFill>
                      <a:srgbClr val="FFFFFF"/>
                    </a:solidFill>
                  </a:tcPr>
                </a:tc>
              </a:tr>
              <a:tr h="804863">
                <a:tc>
                  <a:txBody>
                    <a:bodyPr lIns="171450" tIns="95250" rIns="152400" bIns="95250"/>
                    <a:lstStyle/>
                    <a:p>
                      <a:r>
                        <a:rPr sz="2550" b="0">
                          <a:solidFill>
                            <a:srgbClr val="183247"/>
                          </a:solidFill>
                          <a:latin typeface="Arial"/>
                          <a:ea typeface="Arial"/>
                          <a:cs typeface="Arial"/>
                        </a:rPr>
                        <a:t>Plan A: CS + PS + O</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250 + 125 + 150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525</a:t>
                      </a:r>
                    </a:p>
                  </a:txBody>
                  <a:tcPr marL="91440" marR="91440" marT="45720" marB="45720" anchor="ctr">
                    <a:solidFill>
                      <a:srgbClr val="EFF4F7"/>
                    </a:solidFill>
                  </a:tcPr>
                </a:tc>
              </a:tr>
              <a:tr h="804863">
                <a:tc>
                  <a:txBody>
                    <a:bodyPr lIns="171450" tIns="95250" rIns="152400" bIns="95250"/>
                    <a:lstStyle/>
                    <a:p>
                      <a:r>
                        <a:rPr sz="2550" b="0">
                          <a:solidFill>
                            <a:srgbClr val="183247"/>
                          </a:solidFill>
                          <a:latin typeface="Arial"/>
                          <a:ea typeface="Arial"/>
                          <a:cs typeface="Arial"/>
                        </a:rPr>
                        <a:t>Welvaartsverlies W</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540 − 525</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15</a:t>
                      </a:r>
                    </a:p>
                  </a:txBody>
                  <a:tcPr marL="91440" marR="91440" marT="45720" marB="45720" anchor="ctr">
                    <a:solidFill>
                      <a:srgbClr val="FFFFFF"/>
                    </a:solidFill>
                  </a:tcPr>
                </a:tc>
              </a:tr>
            </a:tbl>
          </a:graphicData>
        </a:graphic>
      </p:graphicFrame>
      <p:sp>
        <p:nvSpPr>
          <p:cNvPr id="6" name="Controle met de driehoek:">
            <a:extLst xmlns:a="http://schemas.openxmlformats.org/drawingml/2006/main">
              <a:ext uri="{FF2B5EF4-FFF2-40B4-BE49-F238E27FC236}">
                <a16:creationId xmlns:a16="http://schemas.microsoft.com/office/drawing/2014/main" id="{750E8B1A-BD31-4CDD-BAF6-339FE18297B0}"/>
              </a:ext>
            </a:extLst>
          </p:cNvPr>
          <p:cNvSpPr>
            <a:spLocks xmlns:a="http://schemas.openxmlformats.org/drawingml/2006/main" noGrp="1"/>
          </p:cNvSpPr>
          <p:nvPr/>
        </p:nvSpPr>
        <p:spPr>
          <a:xfrm xmlns:a="http://schemas.openxmlformats.org/drawingml/2006/main">
            <a:off x="571500" y="60198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Controle met de driehoek:</a:t>
            </a:r>
          </a:p>
        </p:txBody>
      </p:sp>
      <p:sp>
        <p:nvSpPr>
          <p:cNvPr id="7" name="W = ½ × (60 − 50) × 3 = € 15 per dag">
            <a:extLst xmlns:a="http://schemas.openxmlformats.org/drawingml/2006/main">
              <a:ext uri="{FF2B5EF4-FFF2-40B4-BE49-F238E27FC236}">
                <a16:creationId xmlns:a16="http://schemas.microsoft.com/office/drawing/2014/main" id="{5B60C97F-C089-4FFA-B6D0-32C77109B658}"/>
              </a:ext>
            </a:extLst>
          </p:cNvPr>
          <p:cNvSpPr>
            <a:spLocks xmlns:a="http://schemas.openxmlformats.org/drawingml/2006/main" noGrp="1"/>
          </p:cNvSpPr>
          <p:nvPr/>
        </p:nvSpPr>
        <p:spPr>
          <a:xfrm xmlns:a="http://schemas.openxmlformats.org/drawingml/2006/main">
            <a:off x="571500" y="694372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W = ½ × (60 − 50) × 3 = € 15 per dag</a:t>
            </a:r>
          </a:p>
        </p:txBody>
      </p:sp>
    </p:spTree>
    <p:extLst>
      <p:ext uri="{BB962C8B-B14F-4D97-AF65-F5344CB8AC3E}">
        <p14:creationId xmlns:p14="http://schemas.microsoft.com/office/powerpoint/2010/main" val="6235833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48d · Ontvangsten en verlies arceren">
            <a:extLst xmlns:a="http://schemas.openxmlformats.org/drawingml/2006/main">
              <a:ext uri="{FF2B5EF4-FFF2-40B4-BE49-F238E27FC236}">
                <a16:creationId xmlns:a16="http://schemas.microsoft.com/office/drawing/2014/main" id="{91C254B9-B6E8-4C4E-AB8F-89E0E5F96C8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48d · Ontvangsten en verlies arceren</a:t>
            </a:r>
          </a:p>
        </p:txBody>
      </p:sp>
      <p:sp>
        <p:nvSpPr>
          <p:cNvPr id="2" name="">
            <a:extLst xmlns:a="http://schemas.openxmlformats.org/drawingml/2006/main">
              <a:ext uri="{FF2B5EF4-FFF2-40B4-BE49-F238E27FC236}">
                <a16:creationId xmlns:a16="http://schemas.microsoft.com/office/drawing/2014/main" id="{2EED8B2A-81C5-4BCE-8958-A46688544E5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54CDE8A2-E7B0-4345-8AAE-527D498A84F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1294370C-C8A2-4272-B357-D42118F3CFF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area-O">
            <a:extLst xmlns:a="http://schemas.openxmlformats.org/drawingml/2006/main">
              <a:ext uri="{FF2B5EF4-FFF2-40B4-BE49-F238E27FC236}">
                <a16:creationId xmlns:a16="http://schemas.microsoft.com/office/drawing/2014/main" id="{42BF6B98-D679-4715-A6F1-6622AA74C2B1}"/>
              </a:ext>
            </a:extLst>
          </p:cNvPr>
          <p:cNvSpPr>
            <a:spLocks xmlns:a="http://schemas.openxmlformats.org/drawingml/2006/main" noGrp="1"/>
          </p:cNvSpPr>
          <p:nvPr/>
        </p:nvSpPr>
        <p:spPr>
          <a:xfrm xmlns:a="http://schemas.openxmlformats.org/drawingml/2006/main">
            <a:off x="1851660" y="4526720"/>
            <a:ext cx="3124200" cy="518746"/>
          </a:xfrm>
          <a:custGeom xmlns:a="http://schemas.openxmlformats.org/drawingml/2006/main">
            <a:pathLst>
              <a:path w="3124200" h="518746">
                <a:moveTo>
                  <a:pt x="0" y="518746"/>
                </a:moveTo>
                <a:lnTo>
                  <a:pt x="3124200" y="518746"/>
                </a:lnTo>
                <a:lnTo>
                  <a:pt x="3124200" y="0"/>
                </a:lnTo>
                <a:lnTo>
                  <a:pt x="0" y="0"/>
                </a:lnTo>
                <a:close/>
              </a:path>
            </a:pathLst>
          </a:custGeom>
          <a:solidFill xmlns:a="http://schemas.openxmlformats.org/drawingml/2006/main">
            <a:srgbClr val="F8C471"/>
          </a:solidFill>
          <a:ln xmlns:a="http://schemas.openxmlformats.org/drawingml/2006/main" w="0">
            <a:noFill/>
          </a:ln>
        </p:spPr>
      </p:sp>
      <p:sp>
        <p:nvSpPr>
          <p:cNvPr id="6" name="area-W">
            <a:extLst xmlns:a="http://schemas.openxmlformats.org/drawingml/2006/main">
              <a:ext uri="{FF2B5EF4-FFF2-40B4-BE49-F238E27FC236}">
                <a16:creationId xmlns:a16="http://schemas.microsoft.com/office/drawing/2014/main" id="{9C99A0E7-8B48-4252-A9C7-C881306C385D}"/>
              </a:ext>
            </a:extLst>
          </p:cNvPr>
          <p:cNvSpPr>
            <a:spLocks xmlns:a="http://schemas.openxmlformats.org/drawingml/2006/main" noGrp="1"/>
          </p:cNvSpPr>
          <p:nvPr/>
        </p:nvSpPr>
        <p:spPr>
          <a:xfrm xmlns:a="http://schemas.openxmlformats.org/drawingml/2006/main">
            <a:off x="4975860" y="4526720"/>
            <a:ext cx="624840" cy="518746"/>
          </a:xfrm>
          <a:custGeom xmlns:a="http://schemas.openxmlformats.org/drawingml/2006/main">
            <a:pathLst>
              <a:path w="624840" h="518746">
                <a:moveTo>
                  <a:pt x="0" y="518746"/>
                </a:moveTo>
                <a:lnTo>
                  <a:pt x="624840" y="345831"/>
                </a:lnTo>
                <a:lnTo>
                  <a:pt x="0" y="0"/>
                </a:lnTo>
                <a:close/>
              </a:path>
            </a:pathLst>
          </a:custGeom>
          <a:solidFill xmlns:a="http://schemas.openxmlformats.org/drawingml/2006/main">
            <a:srgbClr val="F1948A"/>
          </a:solidFill>
          <a:ln xmlns:a="http://schemas.openxmlformats.org/drawingml/2006/main" w="0">
            <a:noFill/>
          </a:ln>
        </p:spPr>
      </p:sp>
      <p:graphicFrame>
        <p:nvGraphicFramePr>
          <p:cNvPr id="51"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e167dc4263814430"/>
          </a:graphicData>
        </a:graphic>
      </p:graphicFrame>
      <p:sp>
        <p:nvSpPr>
          <p:cNvPr id="8" name="V">
            <a:extLst xmlns:a="http://schemas.openxmlformats.org/drawingml/2006/main">
              <a:ext uri="{FF2B5EF4-FFF2-40B4-BE49-F238E27FC236}">
                <a16:creationId xmlns:a16="http://schemas.microsoft.com/office/drawing/2014/main" id="{B1431363-01FD-47AA-BED3-C6E1C53220C7}"/>
              </a:ext>
            </a:extLst>
          </p:cNvPr>
          <p:cNvSpPr>
            <a:spLocks xmlns:a="http://schemas.openxmlformats.org/drawingml/2006/main" noGrp="1"/>
          </p:cNvSpPr>
          <p:nvPr/>
        </p:nvSpPr>
        <p:spPr>
          <a:xfrm xmlns:a="http://schemas.openxmlformats.org/drawingml/2006/main">
            <a:off x="8300009" y="6442739"/>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A5276"/>
                </a:solidFill>
                <a:latin typeface="Arial"/>
                <a:ea typeface="Arial"/>
                <a:cs typeface="Arial"/>
              </a:defRPr>
            </a:pPr>
            <a:r>
              <a:rPr sz="2100" b="1">
                <a:solidFill>
                  <a:srgbClr val="1A5276"/>
                </a:solidFill>
                <a:latin typeface="Arial"/>
                <a:ea typeface="Arial"/>
                <a:cs typeface="Arial"/>
              </a:rPr>
              <a:t>V</a:t>
            </a:r>
          </a:p>
        </p:txBody>
      </p:sp>
      <p:sp>
        <p:nvSpPr>
          <p:cNvPr id="9" name="A">
            <a:extLst xmlns:a="http://schemas.openxmlformats.org/drawingml/2006/main">
              <a:ext uri="{FF2B5EF4-FFF2-40B4-BE49-F238E27FC236}">
                <a16:creationId xmlns:a16="http://schemas.microsoft.com/office/drawing/2014/main" id="{74072672-1DEF-43DB-8C59-0D36D0591469}"/>
              </a:ext>
            </a:extLst>
          </p:cNvPr>
          <p:cNvSpPr>
            <a:spLocks xmlns:a="http://schemas.openxmlformats.org/drawingml/2006/main" noGrp="1"/>
          </p:cNvSpPr>
          <p:nvPr/>
        </p:nvSpPr>
        <p:spPr>
          <a:xfrm xmlns:a="http://schemas.openxmlformats.org/drawingml/2006/main">
            <a:off x="8150047" y="4233731"/>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E8449"/>
                </a:solidFill>
                <a:latin typeface="Arial"/>
                <a:ea typeface="Arial"/>
                <a:cs typeface="Arial"/>
              </a:defRPr>
            </a:pPr>
            <a:r>
              <a:rPr sz="2100" b="1">
                <a:solidFill>
                  <a:srgbClr val="1E8449"/>
                </a:solidFill>
                <a:latin typeface="Arial"/>
                <a:ea typeface="Arial"/>
                <a:cs typeface="Arial"/>
              </a:rPr>
              <a:t>A</a:t>
            </a:r>
          </a:p>
        </p:txBody>
      </p:sp>
      <p:sp>
        <p:nvSpPr>
          <p:cNvPr id="10" name="A + t">
            <a:extLst xmlns:a="http://schemas.openxmlformats.org/drawingml/2006/main">
              <a:ext uri="{FF2B5EF4-FFF2-40B4-BE49-F238E27FC236}">
                <a16:creationId xmlns:a16="http://schemas.microsoft.com/office/drawing/2014/main" id="{FAE02D4B-AA14-468F-A8D1-6E4B3B8F7359}"/>
              </a:ext>
            </a:extLst>
          </p:cNvPr>
          <p:cNvSpPr>
            <a:spLocks xmlns:a="http://schemas.openxmlformats.org/drawingml/2006/main" noGrp="1"/>
          </p:cNvSpPr>
          <p:nvPr/>
        </p:nvSpPr>
        <p:spPr>
          <a:xfrm xmlns:a="http://schemas.openxmlformats.org/drawingml/2006/main">
            <a:off x="7850124" y="3169334"/>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D16"/>
                </a:solidFill>
                <a:latin typeface="Arial"/>
                <a:ea typeface="Arial"/>
                <a:cs typeface="Arial"/>
              </a:defRPr>
            </a:pPr>
            <a:r>
              <a:rPr sz="2100" b="1">
                <a:solidFill>
                  <a:srgbClr val="A94D16"/>
                </a:solidFill>
                <a:latin typeface="Arial"/>
                <a:ea typeface="Arial"/>
                <a:cs typeface="Arial"/>
              </a:rPr>
              <a:t>A + t</a:t>
            </a:r>
          </a:p>
        </p:txBody>
      </p:sp>
      <p:sp>
        <p:nvSpPr>
          <p:cNvPr id="11" name="Pc = 14">
            <a:extLst xmlns:a="http://schemas.openxmlformats.org/drawingml/2006/main">
              <a:ext uri="{FF2B5EF4-FFF2-40B4-BE49-F238E27FC236}">
                <a16:creationId xmlns:a16="http://schemas.microsoft.com/office/drawing/2014/main" id="{BA83AB30-3A9D-4F93-9910-8CC79013CB2B}"/>
              </a:ext>
            </a:extLst>
          </p:cNvPr>
          <p:cNvSpPr>
            <a:spLocks xmlns:a="http://schemas.openxmlformats.org/drawingml/2006/main" noGrp="1"/>
          </p:cNvSpPr>
          <p:nvPr/>
        </p:nvSpPr>
        <p:spPr>
          <a:xfrm xmlns:a="http://schemas.openxmlformats.org/drawingml/2006/main">
            <a:off x="1976628" y="414572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3247"/>
                </a:solidFill>
                <a:latin typeface="Arial"/>
                <a:ea typeface="Arial"/>
                <a:cs typeface="Arial"/>
              </a:defRPr>
            </a:pPr>
            <a:r>
              <a:rPr sz="1875" b="1">
                <a:solidFill>
                  <a:srgbClr val="183247"/>
                </a:solidFill>
                <a:latin typeface="Arial"/>
                <a:ea typeface="Arial"/>
                <a:cs typeface="Arial"/>
              </a:rPr>
              <a:t>Pc = 14</a:t>
            </a:r>
          </a:p>
        </p:txBody>
      </p:sp>
      <p:sp>
        <p:nvSpPr>
          <p:cNvPr id="12" name="Qt = 50">
            <a:extLst xmlns:a="http://schemas.openxmlformats.org/drawingml/2006/main">
              <a:ext uri="{FF2B5EF4-FFF2-40B4-BE49-F238E27FC236}">
                <a16:creationId xmlns:a16="http://schemas.microsoft.com/office/drawing/2014/main" id="{26E5C6F3-EFD2-4612-9A14-38299AF06B33}"/>
              </a:ext>
            </a:extLst>
          </p:cNvPr>
          <p:cNvSpPr>
            <a:spLocks xmlns:a="http://schemas.openxmlformats.org/drawingml/2006/main" noGrp="1"/>
          </p:cNvSpPr>
          <p:nvPr/>
        </p:nvSpPr>
        <p:spPr>
          <a:xfrm xmlns:a="http://schemas.openxmlformats.org/drawingml/2006/main">
            <a:off x="4118610" y="2023110"/>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83247"/>
                </a:solidFill>
                <a:latin typeface="Arial"/>
                <a:ea typeface="Arial"/>
                <a:cs typeface="Arial"/>
              </a:defRPr>
            </a:pPr>
            <a:r>
              <a:rPr sz="1950" b="1">
                <a:solidFill>
                  <a:srgbClr val="183247"/>
                </a:solidFill>
                <a:latin typeface="Arial"/>
                <a:ea typeface="Arial"/>
                <a:cs typeface="Arial"/>
              </a:rPr>
              <a:t>Qt = 50</a:t>
            </a:r>
          </a:p>
        </p:txBody>
      </p:sp>
      <p:sp>
        <p:nvSpPr>
          <p:cNvPr id="13" name="Q₀ = 60">
            <a:extLst xmlns:a="http://schemas.openxmlformats.org/drawingml/2006/main">
              <a:ext uri="{FF2B5EF4-FFF2-40B4-BE49-F238E27FC236}">
                <a16:creationId xmlns:a16="http://schemas.microsoft.com/office/drawing/2014/main" id="{1207F209-B439-410F-ADBB-1AC61AC59B33}"/>
              </a:ext>
            </a:extLst>
          </p:cNvPr>
          <p:cNvSpPr>
            <a:spLocks xmlns:a="http://schemas.openxmlformats.org/drawingml/2006/main" noGrp="1"/>
          </p:cNvSpPr>
          <p:nvPr/>
        </p:nvSpPr>
        <p:spPr>
          <a:xfrm xmlns:a="http://schemas.openxmlformats.org/drawingml/2006/main">
            <a:off x="5676900" y="5710750"/>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3247"/>
                </a:solidFill>
                <a:latin typeface="Arial"/>
                <a:ea typeface="Arial"/>
                <a:cs typeface="Arial"/>
              </a:defRPr>
            </a:pPr>
            <a:r>
              <a:rPr sz="1875" b="1">
                <a:solidFill>
                  <a:srgbClr val="183247"/>
                </a:solidFill>
                <a:latin typeface="Arial"/>
                <a:ea typeface="Arial"/>
                <a:cs typeface="Arial"/>
              </a:rPr>
              <a:t>Q₀ = 60</a:t>
            </a:r>
          </a:p>
        </p:txBody>
      </p:sp>
      <p:sp>
        <p:nvSpPr>
          <p:cNvPr id="14" name="hatch-O-3">
            <a:extLst xmlns:a="http://schemas.openxmlformats.org/drawingml/2006/main">
              <a:ext uri="{FF2B5EF4-FFF2-40B4-BE49-F238E27FC236}">
                <a16:creationId xmlns:a16="http://schemas.microsoft.com/office/drawing/2014/main" id="{FD5B178E-12D2-42FF-898C-FA624CF264D0}"/>
              </a:ext>
            </a:extLst>
          </p:cNvPr>
          <p:cNvSpPr>
            <a:spLocks xmlns:a="http://schemas.openxmlformats.org/drawingml/2006/main" noGrp="1"/>
          </p:cNvSpPr>
          <p:nvPr/>
        </p:nvSpPr>
        <p:spPr>
          <a:xfrm xmlns:a="http://schemas.openxmlformats.org/drawingml/2006/main">
            <a:off x="2039112" y="4526720"/>
            <a:ext cx="0" cy="518746"/>
          </a:xfrm>
          <a:prstGeom xmlns:a="http://schemas.openxmlformats.org/drawingml/2006/main" prst="line">
            <a:avLst/>
          </a:prstGeom>
          <a:ln xmlns:a="http://schemas.openxmlformats.org/drawingml/2006/main" w="9525">
            <a:solidFill>
              <a:srgbClr val="A94D16"/>
            </a:solidFill>
          </a:ln>
        </p:spPr>
      </p:sp>
      <p:sp>
        <p:nvSpPr>
          <p:cNvPr id="15" name="hatch-O-6">
            <a:extLst xmlns:a="http://schemas.openxmlformats.org/drawingml/2006/main">
              <a:ext uri="{FF2B5EF4-FFF2-40B4-BE49-F238E27FC236}">
                <a16:creationId xmlns:a16="http://schemas.microsoft.com/office/drawing/2014/main" id="{DC9A8EC3-71F1-411F-8F7A-A00361D79905}"/>
              </a:ext>
            </a:extLst>
          </p:cNvPr>
          <p:cNvSpPr>
            <a:spLocks xmlns:a="http://schemas.openxmlformats.org/drawingml/2006/main" noGrp="1"/>
          </p:cNvSpPr>
          <p:nvPr/>
        </p:nvSpPr>
        <p:spPr>
          <a:xfrm xmlns:a="http://schemas.openxmlformats.org/drawingml/2006/main">
            <a:off x="2226564" y="4526720"/>
            <a:ext cx="0" cy="518746"/>
          </a:xfrm>
          <a:prstGeom xmlns:a="http://schemas.openxmlformats.org/drawingml/2006/main" prst="line">
            <a:avLst/>
          </a:prstGeom>
          <a:ln xmlns:a="http://schemas.openxmlformats.org/drawingml/2006/main" w="9525">
            <a:solidFill>
              <a:srgbClr val="A94D16"/>
            </a:solidFill>
          </a:ln>
        </p:spPr>
      </p:sp>
      <p:sp>
        <p:nvSpPr>
          <p:cNvPr id="16" name="hatch-O-9">
            <a:extLst xmlns:a="http://schemas.openxmlformats.org/drawingml/2006/main">
              <a:ext uri="{FF2B5EF4-FFF2-40B4-BE49-F238E27FC236}">
                <a16:creationId xmlns:a16="http://schemas.microsoft.com/office/drawing/2014/main" id="{A9F4BE40-1337-4633-BED7-E02CA54FA4E9}"/>
              </a:ext>
            </a:extLst>
          </p:cNvPr>
          <p:cNvSpPr>
            <a:spLocks xmlns:a="http://schemas.openxmlformats.org/drawingml/2006/main" noGrp="1"/>
          </p:cNvSpPr>
          <p:nvPr/>
        </p:nvSpPr>
        <p:spPr>
          <a:xfrm xmlns:a="http://schemas.openxmlformats.org/drawingml/2006/main">
            <a:off x="2414016" y="4526720"/>
            <a:ext cx="0" cy="518746"/>
          </a:xfrm>
          <a:prstGeom xmlns:a="http://schemas.openxmlformats.org/drawingml/2006/main" prst="line">
            <a:avLst/>
          </a:prstGeom>
          <a:ln xmlns:a="http://schemas.openxmlformats.org/drawingml/2006/main" w="9525">
            <a:solidFill>
              <a:srgbClr val="A94D16"/>
            </a:solidFill>
          </a:ln>
        </p:spPr>
      </p:sp>
      <p:sp>
        <p:nvSpPr>
          <p:cNvPr id="17" name="hatch-O-12">
            <a:extLst xmlns:a="http://schemas.openxmlformats.org/drawingml/2006/main">
              <a:ext uri="{FF2B5EF4-FFF2-40B4-BE49-F238E27FC236}">
                <a16:creationId xmlns:a16="http://schemas.microsoft.com/office/drawing/2014/main" id="{51BB9E8A-3320-4D9B-B84B-CC6871906112}"/>
              </a:ext>
            </a:extLst>
          </p:cNvPr>
          <p:cNvSpPr>
            <a:spLocks xmlns:a="http://schemas.openxmlformats.org/drawingml/2006/main" noGrp="1"/>
          </p:cNvSpPr>
          <p:nvPr/>
        </p:nvSpPr>
        <p:spPr>
          <a:xfrm xmlns:a="http://schemas.openxmlformats.org/drawingml/2006/main">
            <a:off x="2601468" y="4526720"/>
            <a:ext cx="0" cy="518746"/>
          </a:xfrm>
          <a:prstGeom xmlns:a="http://schemas.openxmlformats.org/drawingml/2006/main" prst="line">
            <a:avLst/>
          </a:prstGeom>
          <a:ln xmlns:a="http://schemas.openxmlformats.org/drawingml/2006/main" w="9525">
            <a:solidFill>
              <a:srgbClr val="A94D16"/>
            </a:solidFill>
          </a:ln>
        </p:spPr>
      </p:sp>
      <p:sp>
        <p:nvSpPr>
          <p:cNvPr id="18" name="hatch-O-15">
            <a:extLst xmlns:a="http://schemas.openxmlformats.org/drawingml/2006/main">
              <a:ext uri="{FF2B5EF4-FFF2-40B4-BE49-F238E27FC236}">
                <a16:creationId xmlns:a16="http://schemas.microsoft.com/office/drawing/2014/main" id="{7D054B65-26B3-416E-8CA6-B6186BFB973E}"/>
              </a:ext>
            </a:extLst>
          </p:cNvPr>
          <p:cNvSpPr>
            <a:spLocks xmlns:a="http://schemas.openxmlformats.org/drawingml/2006/main" noGrp="1"/>
          </p:cNvSpPr>
          <p:nvPr/>
        </p:nvSpPr>
        <p:spPr>
          <a:xfrm xmlns:a="http://schemas.openxmlformats.org/drawingml/2006/main">
            <a:off x="2788920" y="4526720"/>
            <a:ext cx="0" cy="518746"/>
          </a:xfrm>
          <a:prstGeom xmlns:a="http://schemas.openxmlformats.org/drawingml/2006/main" prst="line">
            <a:avLst/>
          </a:prstGeom>
          <a:ln xmlns:a="http://schemas.openxmlformats.org/drawingml/2006/main" w="9525">
            <a:solidFill>
              <a:srgbClr val="A94D16"/>
            </a:solidFill>
          </a:ln>
        </p:spPr>
      </p:sp>
      <p:sp>
        <p:nvSpPr>
          <p:cNvPr id="19" name="hatch-O-18">
            <a:extLst xmlns:a="http://schemas.openxmlformats.org/drawingml/2006/main">
              <a:ext uri="{FF2B5EF4-FFF2-40B4-BE49-F238E27FC236}">
                <a16:creationId xmlns:a16="http://schemas.microsoft.com/office/drawing/2014/main" id="{C3CE2BB7-2822-4520-B740-138F1E250A31}"/>
              </a:ext>
            </a:extLst>
          </p:cNvPr>
          <p:cNvSpPr>
            <a:spLocks xmlns:a="http://schemas.openxmlformats.org/drawingml/2006/main" noGrp="1"/>
          </p:cNvSpPr>
          <p:nvPr/>
        </p:nvSpPr>
        <p:spPr>
          <a:xfrm xmlns:a="http://schemas.openxmlformats.org/drawingml/2006/main">
            <a:off x="2976372" y="4526720"/>
            <a:ext cx="0" cy="518746"/>
          </a:xfrm>
          <a:prstGeom xmlns:a="http://schemas.openxmlformats.org/drawingml/2006/main" prst="line">
            <a:avLst/>
          </a:prstGeom>
          <a:ln xmlns:a="http://schemas.openxmlformats.org/drawingml/2006/main" w="9525">
            <a:solidFill>
              <a:srgbClr val="A94D16"/>
            </a:solidFill>
          </a:ln>
        </p:spPr>
      </p:sp>
      <p:sp>
        <p:nvSpPr>
          <p:cNvPr id="20" name="hatch-O-21">
            <a:extLst xmlns:a="http://schemas.openxmlformats.org/drawingml/2006/main">
              <a:ext uri="{FF2B5EF4-FFF2-40B4-BE49-F238E27FC236}">
                <a16:creationId xmlns:a16="http://schemas.microsoft.com/office/drawing/2014/main" id="{96678FF4-0870-441F-9F41-A23828E04FA4}"/>
              </a:ext>
            </a:extLst>
          </p:cNvPr>
          <p:cNvSpPr>
            <a:spLocks xmlns:a="http://schemas.openxmlformats.org/drawingml/2006/main" noGrp="1"/>
          </p:cNvSpPr>
          <p:nvPr/>
        </p:nvSpPr>
        <p:spPr>
          <a:xfrm xmlns:a="http://schemas.openxmlformats.org/drawingml/2006/main">
            <a:off x="3163824" y="4526720"/>
            <a:ext cx="0" cy="518746"/>
          </a:xfrm>
          <a:prstGeom xmlns:a="http://schemas.openxmlformats.org/drawingml/2006/main" prst="line">
            <a:avLst/>
          </a:prstGeom>
          <a:ln xmlns:a="http://schemas.openxmlformats.org/drawingml/2006/main" w="9525">
            <a:solidFill>
              <a:srgbClr val="A94D16"/>
            </a:solidFill>
          </a:ln>
        </p:spPr>
      </p:sp>
      <p:sp>
        <p:nvSpPr>
          <p:cNvPr id="21" name="hatch-O-24">
            <a:extLst xmlns:a="http://schemas.openxmlformats.org/drawingml/2006/main">
              <a:ext uri="{FF2B5EF4-FFF2-40B4-BE49-F238E27FC236}">
                <a16:creationId xmlns:a16="http://schemas.microsoft.com/office/drawing/2014/main" id="{7EC3F767-E190-4052-8DC8-F59C2A96E838}"/>
              </a:ext>
            </a:extLst>
          </p:cNvPr>
          <p:cNvSpPr>
            <a:spLocks xmlns:a="http://schemas.openxmlformats.org/drawingml/2006/main" noGrp="1"/>
          </p:cNvSpPr>
          <p:nvPr/>
        </p:nvSpPr>
        <p:spPr>
          <a:xfrm xmlns:a="http://schemas.openxmlformats.org/drawingml/2006/main">
            <a:off x="3351276" y="4526720"/>
            <a:ext cx="0" cy="518746"/>
          </a:xfrm>
          <a:prstGeom xmlns:a="http://schemas.openxmlformats.org/drawingml/2006/main" prst="line">
            <a:avLst/>
          </a:prstGeom>
          <a:ln xmlns:a="http://schemas.openxmlformats.org/drawingml/2006/main" w="9525">
            <a:solidFill>
              <a:srgbClr val="A94D16"/>
            </a:solidFill>
          </a:ln>
        </p:spPr>
      </p:sp>
      <p:sp>
        <p:nvSpPr>
          <p:cNvPr id="22" name="hatch-O-27">
            <a:extLst xmlns:a="http://schemas.openxmlformats.org/drawingml/2006/main">
              <a:ext uri="{FF2B5EF4-FFF2-40B4-BE49-F238E27FC236}">
                <a16:creationId xmlns:a16="http://schemas.microsoft.com/office/drawing/2014/main" id="{601B46B1-545C-4366-AA73-C182C85A9A38}"/>
              </a:ext>
            </a:extLst>
          </p:cNvPr>
          <p:cNvSpPr>
            <a:spLocks xmlns:a="http://schemas.openxmlformats.org/drawingml/2006/main" noGrp="1"/>
          </p:cNvSpPr>
          <p:nvPr/>
        </p:nvSpPr>
        <p:spPr>
          <a:xfrm xmlns:a="http://schemas.openxmlformats.org/drawingml/2006/main">
            <a:off x="3538728" y="4526720"/>
            <a:ext cx="0" cy="518746"/>
          </a:xfrm>
          <a:prstGeom xmlns:a="http://schemas.openxmlformats.org/drawingml/2006/main" prst="line">
            <a:avLst/>
          </a:prstGeom>
          <a:ln xmlns:a="http://schemas.openxmlformats.org/drawingml/2006/main" w="9525">
            <a:solidFill>
              <a:srgbClr val="A94D16"/>
            </a:solidFill>
          </a:ln>
        </p:spPr>
      </p:sp>
      <p:sp>
        <p:nvSpPr>
          <p:cNvPr id="23" name="hatch-O-30">
            <a:extLst xmlns:a="http://schemas.openxmlformats.org/drawingml/2006/main">
              <a:ext uri="{FF2B5EF4-FFF2-40B4-BE49-F238E27FC236}">
                <a16:creationId xmlns:a16="http://schemas.microsoft.com/office/drawing/2014/main" id="{FFCCCC7F-4C28-4730-AFEF-AE456F16D72B}"/>
              </a:ext>
            </a:extLst>
          </p:cNvPr>
          <p:cNvSpPr>
            <a:spLocks xmlns:a="http://schemas.openxmlformats.org/drawingml/2006/main" noGrp="1"/>
          </p:cNvSpPr>
          <p:nvPr/>
        </p:nvSpPr>
        <p:spPr>
          <a:xfrm xmlns:a="http://schemas.openxmlformats.org/drawingml/2006/main">
            <a:off x="3726180" y="4526720"/>
            <a:ext cx="0" cy="518746"/>
          </a:xfrm>
          <a:prstGeom xmlns:a="http://schemas.openxmlformats.org/drawingml/2006/main" prst="line">
            <a:avLst/>
          </a:prstGeom>
          <a:ln xmlns:a="http://schemas.openxmlformats.org/drawingml/2006/main" w="9525">
            <a:solidFill>
              <a:srgbClr val="A94D16"/>
            </a:solidFill>
          </a:ln>
        </p:spPr>
      </p:sp>
      <p:sp>
        <p:nvSpPr>
          <p:cNvPr id="24" name="hatch-O-33">
            <a:extLst xmlns:a="http://schemas.openxmlformats.org/drawingml/2006/main">
              <a:ext uri="{FF2B5EF4-FFF2-40B4-BE49-F238E27FC236}">
                <a16:creationId xmlns:a16="http://schemas.microsoft.com/office/drawing/2014/main" id="{B8855C9B-2490-4111-B6F1-8D360C0AEF63}"/>
              </a:ext>
            </a:extLst>
          </p:cNvPr>
          <p:cNvSpPr>
            <a:spLocks xmlns:a="http://schemas.openxmlformats.org/drawingml/2006/main" noGrp="1"/>
          </p:cNvSpPr>
          <p:nvPr/>
        </p:nvSpPr>
        <p:spPr>
          <a:xfrm xmlns:a="http://schemas.openxmlformats.org/drawingml/2006/main">
            <a:off x="3913632" y="4526720"/>
            <a:ext cx="0" cy="518746"/>
          </a:xfrm>
          <a:prstGeom xmlns:a="http://schemas.openxmlformats.org/drawingml/2006/main" prst="line">
            <a:avLst/>
          </a:prstGeom>
          <a:ln xmlns:a="http://schemas.openxmlformats.org/drawingml/2006/main" w="9525">
            <a:solidFill>
              <a:srgbClr val="A94D16"/>
            </a:solidFill>
          </a:ln>
        </p:spPr>
      </p:sp>
      <p:sp>
        <p:nvSpPr>
          <p:cNvPr id="25" name="hatch-O-36">
            <a:extLst xmlns:a="http://schemas.openxmlformats.org/drawingml/2006/main">
              <a:ext uri="{FF2B5EF4-FFF2-40B4-BE49-F238E27FC236}">
                <a16:creationId xmlns:a16="http://schemas.microsoft.com/office/drawing/2014/main" id="{9F0FB529-033B-4C1A-8B61-82A965E05F37}"/>
              </a:ext>
            </a:extLst>
          </p:cNvPr>
          <p:cNvSpPr>
            <a:spLocks xmlns:a="http://schemas.openxmlformats.org/drawingml/2006/main" noGrp="1"/>
          </p:cNvSpPr>
          <p:nvPr/>
        </p:nvSpPr>
        <p:spPr>
          <a:xfrm xmlns:a="http://schemas.openxmlformats.org/drawingml/2006/main">
            <a:off x="4101084" y="4526720"/>
            <a:ext cx="0" cy="518746"/>
          </a:xfrm>
          <a:prstGeom xmlns:a="http://schemas.openxmlformats.org/drawingml/2006/main" prst="line">
            <a:avLst/>
          </a:prstGeom>
          <a:ln xmlns:a="http://schemas.openxmlformats.org/drawingml/2006/main" w="9525">
            <a:solidFill>
              <a:srgbClr val="A94D16"/>
            </a:solidFill>
          </a:ln>
        </p:spPr>
      </p:sp>
      <p:sp>
        <p:nvSpPr>
          <p:cNvPr id="26" name="hatch-O-39">
            <a:extLst xmlns:a="http://schemas.openxmlformats.org/drawingml/2006/main">
              <a:ext uri="{FF2B5EF4-FFF2-40B4-BE49-F238E27FC236}">
                <a16:creationId xmlns:a16="http://schemas.microsoft.com/office/drawing/2014/main" id="{69B2384A-3BF3-43A6-A304-256365A03FFD}"/>
              </a:ext>
            </a:extLst>
          </p:cNvPr>
          <p:cNvSpPr>
            <a:spLocks xmlns:a="http://schemas.openxmlformats.org/drawingml/2006/main" noGrp="1"/>
          </p:cNvSpPr>
          <p:nvPr/>
        </p:nvSpPr>
        <p:spPr>
          <a:xfrm xmlns:a="http://schemas.openxmlformats.org/drawingml/2006/main">
            <a:off x="4288536" y="4526720"/>
            <a:ext cx="0" cy="518746"/>
          </a:xfrm>
          <a:prstGeom xmlns:a="http://schemas.openxmlformats.org/drawingml/2006/main" prst="line">
            <a:avLst/>
          </a:prstGeom>
          <a:ln xmlns:a="http://schemas.openxmlformats.org/drawingml/2006/main" w="9525">
            <a:solidFill>
              <a:srgbClr val="A94D16"/>
            </a:solidFill>
          </a:ln>
        </p:spPr>
      </p:sp>
      <p:sp>
        <p:nvSpPr>
          <p:cNvPr id="27" name="hatch-O-42">
            <a:extLst xmlns:a="http://schemas.openxmlformats.org/drawingml/2006/main">
              <a:ext uri="{FF2B5EF4-FFF2-40B4-BE49-F238E27FC236}">
                <a16:creationId xmlns:a16="http://schemas.microsoft.com/office/drawing/2014/main" id="{5F430D6F-7830-4BC3-9967-58ED41FACA40}"/>
              </a:ext>
            </a:extLst>
          </p:cNvPr>
          <p:cNvSpPr>
            <a:spLocks xmlns:a="http://schemas.openxmlformats.org/drawingml/2006/main" noGrp="1"/>
          </p:cNvSpPr>
          <p:nvPr/>
        </p:nvSpPr>
        <p:spPr>
          <a:xfrm xmlns:a="http://schemas.openxmlformats.org/drawingml/2006/main">
            <a:off x="4475988" y="4526720"/>
            <a:ext cx="0" cy="518746"/>
          </a:xfrm>
          <a:prstGeom xmlns:a="http://schemas.openxmlformats.org/drawingml/2006/main" prst="line">
            <a:avLst/>
          </a:prstGeom>
          <a:ln xmlns:a="http://schemas.openxmlformats.org/drawingml/2006/main" w="9525">
            <a:solidFill>
              <a:srgbClr val="A94D16"/>
            </a:solidFill>
          </a:ln>
        </p:spPr>
      </p:sp>
      <p:sp>
        <p:nvSpPr>
          <p:cNvPr id="28" name="hatch-O-45">
            <a:extLst xmlns:a="http://schemas.openxmlformats.org/drawingml/2006/main">
              <a:ext uri="{FF2B5EF4-FFF2-40B4-BE49-F238E27FC236}">
                <a16:creationId xmlns:a16="http://schemas.microsoft.com/office/drawing/2014/main" id="{13C14978-6107-4093-B2D9-785DA7DF64D4}"/>
              </a:ext>
            </a:extLst>
          </p:cNvPr>
          <p:cNvSpPr>
            <a:spLocks xmlns:a="http://schemas.openxmlformats.org/drawingml/2006/main" noGrp="1"/>
          </p:cNvSpPr>
          <p:nvPr/>
        </p:nvSpPr>
        <p:spPr>
          <a:xfrm xmlns:a="http://schemas.openxmlformats.org/drawingml/2006/main">
            <a:off x="4663440" y="4526720"/>
            <a:ext cx="0" cy="518746"/>
          </a:xfrm>
          <a:prstGeom xmlns:a="http://schemas.openxmlformats.org/drawingml/2006/main" prst="line">
            <a:avLst/>
          </a:prstGeom>
          <a:ln xmlns:a="http://schemas.openxmlformats.org/drawingml/2006/main" w="9525">
            <a:solidFill>
              <a:srgbClr val="A94D16"/>
            </a:solidFill>
          </a:ln>
        </p:spPr>
      </p:sp>
      <p:sp>
        <p:nvSpPr>
          <p:cNvPr id="29" name="hatch-O-48">
            <a:extLst xmlns:a="http://schemas.openxmlformats.org/drawingml/2006/main">
              <a:ext uri="{FF2B5EF4-FFF2-40B4-BE49-F238E27FC236}">
                <a16:creationId xmlns:a16="http://schemas.microsoft.com/office/drawing/2014/main" id="{C0F1F729-EF2A-454A-AC99-B3C9E337D6DA}"/>
              </a:ext>
            </a:extLst>
          </p:cNvPr>
          <p:cNvSpPr>
            <a:spLocks xmlns:a="http://schemas.openxmlformats.org/drawingml/2006/main" noGrp="1"/>
          </p:cNvSpPr>
          <p:nvPr/>
        </p:nvSpPr>
        <p:spPr>
          <a:xfrm xmlns:a="http://schemas.openxmlformats.org/drawingml/2006/main">
            <a:off x="4850892" y="4526720"/>
            <a:ext cx="0" cy="518746"/>
          </a:xfrm>
          <a:prstGeom xmlns:a="http://schemas.openxmlformats.org/drawingml/2006/main" prst="line">
            <a:avLst/>
          </a:prstGeom>
          <a:ln xmlns:a="http://schemas.openxmlformats.org/drawingml/2006/main" w="9525">
            <a:solidFill>
              <a:srgbClr val="A94D16"/>
            </a:solidFill>
          </a:ln>
        </p:spPr>
      </p:sp>
      <p:sp>
        <p:nvSpPr>
          <p:cNvPr id="30" name="hatch-W-11.25">
            <a:extLst xmlns:a="http://schemas.openxmlformats.org/drawingml/2006/main">
              <a:ext uri="{FF2B5EF4-FFF2-40B4-BE49-F238E27FC236}">
                <a16:creationId xmlns:a16="http://schemas.microsoft.com/office/drawing/2014/main" id="{115D9028-74AB-43E6-AA4E-74AA817BB4C5}"/>
              </a:ext>
            </a:extLst>
          </p:cNvPr>
          <p:cNvSpPr>
            <a:spLocks xmlns:a="http://schemas.openxmlformats.org/drawingml/2006/main" noGrp="1"/>
          </p:cNvSpPr>
          <p:nvPr/>
        </p:nvSpPr>
        <p:spPr>
          <a:xfrm xmlns:a="http://schemas.openxmlformats.org/drawingml/2006/main">
            <a:off x="4975860" y="5002237"/>
            <a:ext cx="156210" cy="0"/>
          </a:xfrm>
          <a:prstGeom xmlns:a="http://schemas.openxmlformats.org/drawingml/2006/main" prst="line">
            <a:avLst/>
          </a:prstGeom>
          <a:ln xmlns:a="http://schemas.openxmlformats.org/drawingml/2006/main" w="10478">
            <a:solidFill>
              <a:srgbClr val="9C3529"/>
            </a:solidFill>
          </a:ln>
        </p:spPr>
      </p:sp>
      <p:sp>
        <p:nvSpPr>
          <p:cNvPr id="31" name="hatch-W-11.6">
            <a:extLst xmlns:a="http://schemas.openxmlformats.org/drawingml/2006/main">
              <a:ext uri="{FF2B5EF4-FFF2-40B4-BE49-F238E27FC236}">
                <a16:creationId xmlns:a16="http://schemas.microsoft.com/office/drawing/2014/main" id="{5AFE1638-0350-4BA1-A55E-2A4537052E8F}"/>
              </a:ext>
            </a:extLst>
          </p:cNvPr>
          <p:cNvSpPr>
            <a:spLocks xmlns:a="http://schemas.openxmlformats.org/drawingml/2006/main" noGrp="1"/>
          </p:cNvSpPr>
          <p:nvPr/>
        </p:nvSpPr>
        <p:spPr>
          <a:xfrm xmlns:a="http://schemas.openxmlformats.org/drawingml/2006/main">
            <a:off x="4975860" y="4941717"/>
            <a:ext cx="374904" cy="0"/>
          </a:xfrm>
          <a:prstGeom xmlns:a="http://schemas.openxmlformats.org/drawingml/2006/main" prst="line">
            <a:avLst/>
          </a:prstGeom>
          <a:ln xmlns:a="http://schemas.openxmlformats.org/drawingml/2006/main" w="10478">
            <a:solidFill>
              <a:srgbClr val="9C3529"/>
            </a:solidFill>
          </a:ln>
        </p:spPr>
      </p:sp>
      <p:sp>
        <p:nvSpPr>
          <p:cNvPr id="32" name="hatch-W-11.95">
            <a:extLst xmlns:a="http://schemas.openxmlformats.org/drawingml/2006/main">
              <a:ext uri="{FF2B5EF4-FFF2-40B4-BE49-F238E27FC236}">
                <a16:creationId xmlns:a16="http://schemas.microsoft.com/office/drawing/2014/main" id="{5A09AA42-E1DD-46CF-9F9A-79BEAADAAA62}"/>
              </a:ext>
            </a:extLst>
          </p:cNvPr>
          <p:cNvSpPr>
            <a:spLocks xmlns:a="http://schemas.openxmlformats.org/drawingml/2006/main" noGrp="1"/>
          </p:cNvSpPr>
          <p:nvPr/>
        </p:nvSpPr>
        <p:spPr>
          <a:xfrm xmlns:a="http://schemas.openxmlformats.org/drawingml/2006/main">
            <a:off x="4975860" y="4881196"/>
            <a:ext cx="593598" cy="0"/>
          </a:xfrm>
          <a:prstGeom xmlns:a="http://schemas.openxmlformats.org/drawingml/2006/main" prst="line">
            <a:avLst/>
          </a:prstGeom>
          <a:ln xmlns:a="http://schemas.openxmlformats.org/drawingml/2006/main" w="10478">
            <a:solidFill>
              <a:srgbClr val="9C3529"/>
            </a:solidFill>
          </a:ln>
        </p:spPr>
      </p:sp>
      <p:sp>
        <p:nvSpPr>
          <p:cNvPr id="33" name="hatch-W-12.299999999999999">
            <a:extLst xmlns:a="http://schemas.openxmlformats.org/drawingml/2006/main">
              <a:ext uri="{FF2B5EF4-FFF2-40B4-BE49-F238E27FC236}">
                <a16:creationId xmlns:a16="http://schemas.microsoft.com/office/drawing/2014/main" id="{0584EF9D-3534-4646-95C4-62B02AF5CD40}"/>
              </a:ext>
            </a:extLst>
          </p:cNvPr>
          <p:cNvSpPr>
            <a:spLocks xmlns:a="http://schemas.openxmlformats.org/drawingml/2006/main" noGrp="1"/>
          </p:cNvSpPr>
          <p:nvPr/>
        </p:nvSpPr>
        <p:spPr>
          <a:xfrm xmlns:a="http://schemas.openxmlformats.org/drawingml/2006/main">
            <a:off x="4975860" y="4820676"/>
            <a:ext cx="531114" cy="0"/>
          </a:xfrm>
          <a:prstGeom xmlns:a="http://schemas.openxmlformats.org/drawingml/2006/main" prst="line">
            <a:avLst/>
          </a:prstGeom>
          <a:ln xmlns:a="http://schemas.openxmlformats.org/drawingml/2006/main" w="10478">
            <a:solidFill>
              <a:srgbClr val="9C3529"/>
            </a:solidFill>
          </a:ln>
        </p:spPr>
      </p:sp>
      <p:sp>
        <p:nvSpPr>
          <p:cNvPr id="34" name="hatch-W-12.649999999999999">
            <a:extLst xmlns:a="http://schemas.openxmlformats.org/drawingml/2006/main">
              <a:ext uri="{FF2B5EF4-FFF2-40B4-BE49-F238E27FC236}">
                <a16:creationId xmlns:a16="http://schemas.microsoft.com/office/drawing/2014/main" id="{12474D39-BD39-4753-BBBD-82D0CAAC510C}"/>
              </a:ext>
            </a:extLst>
          </p:cNvPr>
          <p:cNvSpPr>
            <a:spLocks xmlns:a="http://schemas.openxmlformats.org/drawingml/2006/main" noGrp="1"/>
          </p:cNvSpPr>
          <p:nvPr/>
        </p:nvSpPr>
        <p:spPr>
          <a:xfrm xmlns:a="http://schemas.openxmlformats.org/drawingml/2006/main">
            <a:off x="4975860" y="4760155"/>
            <a:ext cx="421767" cy="0"/>
          </a:xfrm>
          <a:prstGeom xmlns:a="http://schemas.openxmlformats.org/drawingml/2006/main" prst="line">
            <a:avLst/>
          </a:prstGeom>
          <a:ln xmlns:a="http://schemas.openxmlformats.org/drawingml/2006/main" w="10478">
            <a:solidFill>
              <a:srgbClr val="9C3529"/>
            </a:solidFill>
          </a:ln>
        </p:spPr>
      </p:sp>
      <p:sp>
        <p:nvSpPr>
          <p:cNvPr id="35" name="hatch-W-12.999999999999998">
            <a:extLst xmlns:a="http://schemas.openxmlformats.org/drawingml/2006/main">
              <a:ext uri="{FF2B5EF4-FFF2-40B4-BE49-F238E27FC236}">
                <a16:creationId xmlns:a16="http://schemas.microsoft.com/office/drawing/2014/main" id="{7D37548A-AF82-4D84-BFE7-5B2C9B9E48EB}"/>
              </a:ext>
            </a:extLst>
          </p:cNvPr>
          <p:cNvSpPr>
            <a:spLocks xmlns:a="http://schemas.openxmlformats.org/drawingml/2006/main" noGrp="1"/>
          </p:cNvSpPr>
          <p:nvPr/>
        </p:nvSpPr>
        <p:spPr>
          <a:xfrm xmlns:a="http://schemas.openxmlformats.org/drawingml/2006/main">
            <a:off x="4975860" y="4699635"/>
            <a:ext cx="312420" cy="0"/>
          </a:xfrm>
          <a:prstGeom xmlns:a="http://schemas.openxmlformats.org/drawingml/2006/main" prst="line">
            <a:avLst/>
          </a:prstGeom>
          <a:ln xmlns:a="http://schemas.openxmlformats.org/drawingml/2006/main" w="10478">
            <a:solidFill>
              <a:srgbClr val="9C3529"/>
            </a:solidFill>
          </a:ln>
        </p:spPr>
      </p:sp>
      <p:sp>
        <p:nvSpPr>
          <p:cNvPr id="36" name="hatch-W-13.349999999999998">
            <a:extLst xmlns:a="http://schemas.openxmlformats.org/drawingml/2006/main">
              <a:ext uri="{FF2B5EF4-FFF2-40B4-BE49-F238E27FC236}">
                <a16:creationId xmlns:a16="http://schemas.microsoft.com/office/drawing/2014/main" id="{69140ECC-E060-40E0-95DE-7369310CAC4F}"/>
              </a:ext>
            </a:extLst>
          </p:cNvPr>
          <p:cNvSpPr>
            <a:spLocks xmlns:a="http://schemas.openxmlformats.org/drawingml/2006/main" noGrp="1"/>
          </p:cNvSpPr>
          <p:nvPr/>
        </p:nvSpPr>
        <p:spPr>
          <a:xfrm xmlns:a="http://schemas.openxmlformats.org/drawingml/2006/main">
            <a:off x="4975860" y="4639115"/>
            <a:ext cx="203073" cy="0"/>
          </a:xfrm>
          <a:prstGeom xmlns:a="http://schemas.openxmlformats.org/drawingml/2006/main" prst="line">
            <a:avLst/>
          </a:prstGeom>
          <a:ln xmlns:a="http://schemas.openxmlformats.org/drawingml/2006/main" w="10478">
            <a:solidFill>
              <a:srgbClr val="9C3529"/>
            </a:solidFill>
          </a:ln>
        </p:spPr>
      </p:sp>
      <p:sp>
        <p:nvSpPr>
          <p:cNvPr id="37" name="hatch-W-13.699999999999998">
            <a:extLst xmlns:a="http://schemas.openxmlformats.org/drawingml/2006/main">
              <a:ext uri="{FF2B5EF4-FFF2-40B4-BE49-F238E27FC236}">
                <a16:creationId xmlns:a16="http://schemas.microsoft.com/office/drawing/2014/main" id="{15A11468-2382-4FDB-8D5B-0DEA7D300486}"/>
              </a:ext>
            </a:extLst>
          </p:cNvPr>
          <p:cNvSpPr>
            <a:spLocks xmlns:a="http://schemas.openxmlformats.org/drawingml/2006/main" noGrp="1"/>
          </p:cNvSpPr>
          <p:nvPr/>
        </p:nvSpPr>
        <p:spPr>
          <a:xfrm xmlns:a="http://schemas.openxmlformats.org/drawingml/2006/main">
            <a:off x="4975860" y="4578594"/>
            <a:ext cx="93726" cy="0"/>
          </a:xfrm>
          <a:prstGeom xmlns:a="http://schemas.openxmlformats.org/drawingml/2006/main" prst="line">
            <a:avLst/>
          </a:prstGeom>
          <a:ln xmlns:a="http://schemas.openxmlformats.org/drawingml/2006/main" w="10478">
            <a:solidFill>
              <a:srgbClr val="9C3529"/>
            </a:solidFill>
          </a:ln>
        </p:spPr>
      </p:sp>
      <p:sp>
        <p:nvSpPr>
          <p:cNvPr id="38" name="O">
            <a:extLst xmlns:a="http://schemas.openxmlformats.org/drawingml/2006/main">
              <a:ext uri="{FF2B5EF4-FFF2-40B4-BE49-F238E27FC236}">
                <a16:creationId xmlns:a16="http://schemas.microsoft.com/office/drawing/2014/main" id="{0B7B27FD-8C30-4BC8-AB37-8133419ED89D}"/>
              </a:ext>
            </a:extLst>
          </p:cNvPr>
          <p:cNvSpPr>
            <a:spLocks xmlns:a="http://schemas.openxmlformats.org/drawingml/2006/main" noGrp="1"/>
          </p:cNvSpPr>
          <p:nvPr/>
        </p:nvSpPr>
        <p:spPr>
          <a:xfrm xmlns:a="http://schemas.openxmlformats.org/drawingml/2006/main">
            <a:off x="3320034" y="4643218"/>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83247"/>
                </a:solidFill>
                <a:latin typeface="Arial"/>
                <a:ea typeface="Arial"/>
                <a:cs typeface="Arial"/>
              </a:defRPr>
            </a:pPr>
            <a:r>
              <a:rPr sz="2100" b="1">
                <a:solidFill>
                  <a:srgbClr val="183247"/>
                </a:solidFill>
                <a:latin typeface="Arial"/>
                <a:ea typeface="Arial"/>
                <a:cs typeface="Arial"/>
              </a:rPr>
              <a:t>O</a:t>
            </a:r>
          </a:p>
        </p:txBody>
      </p:sp>
      <p:sp>
        <p:nvSpPr>
          <p:cNvPr id="39" name="W">
            <a:extLst xmlns:a="http://schemas.openxmlformats.org/drawingml/2006/main">
              <a:ext uri="{FF2B5EF4-FFF2-40B4-BE49-F238E27FC236}">
                <a16:creationId xmlns:a16="http://schemas.microsoft.com/office/drawing/2014/main" id="{9A428324-5A07-4B04-970D-BCC05AC8A71A}"/>
              </a:ext>
            </a:extLst>
          </p:cNvPr>
          <p:cNvSpPr>
            <a:spLocks xmlns:a="http://schemas.openxmlformats.org/drawingml/2006/main" noGrp="1"/>
          </p:cNvSpPr>
          <p:nvPr/>
        </p:nvSpPr>
        <p:spPr>
          <a:xfrm xmlns:a="http://schemas.openxmlformats.org/drawingml/2006/main">
            <a:off x="6057900" y="4364795"/>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9C3529"/>
                </a:solidFill>
                <a:latin typeface="Arial"/>
                <a:ea typeface="Arial"/>
                <a:cs typeface="Arial"/>
              </a:defRPr>
            </a:pPr>
            <a:r>
              <a:rPr sz="2100" b="1">
                <a:solidFill>
                  <a:srgbClr val="9C3529"/>
                </a:solidFill>
                <a:latin typeface="Arial"/>
                <a:ea typeface="Arial"/>
                <a:cs typeface="Arial"/>
              </a:rPr>
              <a:t>W</a:t>
            </a:r>
          </a:p>
        </p:txBody>
      </p:sp>
      <p:sp>
        <p:nvSpPr>
          <p:cNvPr id="40" name="W-leader">
            <a:extLst xmlns:a="http://schemas.openxmlformats.org/drawingml/2006/main">
              <a:ext uri="{FF2B5EF4-FFF2-40B4-BE49-F238E27FC236}">
                <a16:creationId xmlns:a16="http://schemas.microsoft.com/office/drawing/2014/main" id="{8806EEAF-A92C-4F02-B71D-490330314B2F}"/>
              </a:ext>
            </a:extLst>
          </p:cNvPr>
          <p:cNvSpPr>
            <a:spLocks xmlns:a="http://schemas.openxmlformats.org/drawingml/2006/main" noGrp="1"/>
          </p:cNvSpPr>
          <p:nvPr/>
        </p:nvSpPr>
        <p:spPr>
          <a:xfrm xmlns:a="http://schemas.openxmlformats.org/drawingml/2006/main" flipV="1">
            <a:off x="5184140" y="4602920"/>
            <a:ext cx="797560" cy="211992"/>
          </a:xfrm>
          <a:prstGeom xmlns:a="http://schemas.openxmlformats.org/drawingml/2006/main" prst="line">
            <a:avLst/>
          </a:prstGeom>
          <a:ln xmlns:a="http://schemas.openxmlformats.org/drawingml/2006/main" w="13335">
            <a:solidFill>
              <a:srgbClr val="9C3529"/>
            </a:solidFill>
          </a:ln>
        </p:spPr>
      </p:sp>
      <p:sp>
        <p:nvSpPr>
          <p:cNvPr id="41" name="Pp = 11">
            <a:extLst xmlns:a="http://schemas.openxmlformats.org/drawingml/2006/main">
              <a:ext uri="{FF2B5EF4-FFF2-40B4-BE49-F238E27FC236}">
                <a16:creationId xmlns:a16="http://schemas.microsoft.com/office/drawing/2014/main" id="{2F8CD747-BAA5-4DED-A083-C5C810FADA1A}"/>
              </a:ext>
            </a:extLst>
          </p:cNvPr>
          <p:cNvSpPr>
            <a:spLocks xmlns:a="http://schemas.openxmlformats.org/drawingml/2006/main" noGrp="1"/>
          </p:cNvSpPr>
          <p:nvPr/>
        </p:nvSpPr>
        <p:spPr>
          <a:xfrm xmlns:a="http://schemas.openxmlformats.org/drawingml/2006/main">
            <a:off x="1976628" y="4721616"/>
            <a:ext cx="1066800" cy="3048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3247"/>
                </a:solidFill>
                <a:latin typeface="Arial"/>
                <a:ea typeface="Arial"/>
                <a:cs typeface="Arial"/>
              </a:defRPr>
            </a:pPr>
            <a:r>
              <a:rPr sz="1875" b="1">
                <a:solidFill>
                  <a:srgbClr val="183247"/>
                </a:solidFill>
                <a:latin typeface="Arial"/>
                <a:ea typeface="Arial"/>
                <a:cs typeface="Arial"/>
              </a:rPr>
              <a:t>Pp = 11</a:t>
            </a:r>
          </a:p>
        </p:txBody>
      </p:sp>
      <p:sp>
        <p:nvSpPr>
          <p:cNvPr id="42" name="O en W">
            <a:extLst xmlns:a="http://schemas.openxmlformats.org/drawingml/2006/main">
              <a:ext uri="{FF2B5EF4-FFF2-40B4-BE49-F238E27FC236}">
                <a16:creationId xmlns:a16="http://schemas.microsoft.com/office/drawing/2014/main" id="{7E126C99-858F-4A68-83EE-2542C54F4B02}"/>
              </a:ext>
            </a:extLst>
          </p:cNvPr>
          <p:cNvSpPr>
            <a:spLocks xmlns:a="http://schemas.openxmlformats.org/drawingml/2006/main" noGrp="1"/>
          </p:cNvSpPr>
          <p:nvPr/>
        </p:nvSpPr>
        <p:spPr>
          <a:xfrm xmlns:a="http://schemas.openxmlformats.org/drawingml/2006/main">
            <a:off x="10287000" y="2066925"/>
            <a:ext cx="4381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O en W</a:t>
            </a:r>
          </a:p>
        </p:txBody>
      </p:sp>
      <p:sp>
        <p:nvSpPr>
          <p:cNvPr id="43" name="O: rechthoek&#10;Q: 0 tot 50&#10;P: € 11 tot € 14&#10;&#10;W: driehoek&#10;Q: 50">
            <a:extLst xmlns:a="http://schemas.openxmlformats.org/drawingml/2006/main">
              <a:ext uri="{FF2B5EF4-FFF2-40B4-BE49-F238E27FC236}">
                <a16:creationId xmlns:a16="http://schemas.microsoft.com/office/drawing/2014/main" id="{7AF61A5D-0641-449B-9D4E-2DCEC5D3535D}"/>
              </a:ext>
            </a:extLst>
          </p:cNvPr>
          <p:cNvSpPr>
            <a:spLocks xmlns:a="http://schemas.openxmlformats.org/drawingml/2006/main" noGrp="1"/>
          </p:cNvSpPr>
          <p:nvPr/>
        </p:nvSpPr>
        <p:spPr>
          <a:xfrm xmlns:a="http://schemas.openxmlformats.org/drawingml/2006/main">
            <a:off x="10287000" y="3143250"/>
            <a:ext cx="43815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O: rechthoek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0 tot 50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€ 11 tot € 14</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W: driehoek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50 tot 60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Tussen V en A</a:t>
            </a:r>
          </a:p>
        </p:txBody>
      </p:sp>
      <p:sp>
        <p:nvSpPr>
          <p:cNvPr id="44" name="O = € 150 per dag&#10;W = € 15 per dag">
            <a:extLst xmlns:a="http://schemas.openxmlformats.org/drawingml/2006/main">
              <a:ext uri="{FF2B5EF4-FFF2-40B4-BE49-F238E27FC236}">
                <a16:creationId xmlns:a16="http://schemas.microsoft.com/office/drawing/2014/main" id="{3F41C774-9436-44D2-8376-2D2328E42DB0}"/>
              </a:ext>
            </a:extLst>
          </p:cNvPr>
          <p:cNvSpPr>
            <a:spLocks xmlns:a="http://schemas.openxmlformats.org/drawingml/2006/main" noGrp="1"/>
          </p:cNvSpPr>
          <p:nvPr/>
        </p:nvSpPr>
        <p:spPr>
          <a:xfrm xmlns:a="http://schemas.openxmlformats.org/drawingml/2006/main">
            <a:off x="10287000" y="6438900"/>
            <a:ext cx="4381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O = € 150 per dag</a:t>
            </a:r>
          </a:p>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W = € 15 per dag</a:t>
            </a:r>
          </a:p>
        </p:txBody>
      </p:sp>
    </p:spTree>
    <p:extLst>
      <p:ext uri="{BB962C8B-B14F-4D97-AF65-F5344CB8AC3E}">
        <p14:creationId xmlns:p14="http://schemas.microsoft.com/office/powerpoint/2010/main" val="5639786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48e · Maximumprijs en tekort">
            <a:extLst xmlns:a="http://schemas.openxmlformats.org/drawingml/2006/main">
              <a:ext uri="{FF2B5EF4-FFF2-40B4-BE49-F238E27FC236}">
                <a16:creationId xmlns:a16="http://schemas.microsoft.com/office/drawing/2014/main" id="{1BCA0C6E-F9A4-4406-BE31-7679C804B75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48e · Maximumprijs en tekort</a:t>
            </a:r>
          </a:p>
        </p:txBody>
      </p:sp>
      <p:sp>
        <p:nvSpPr>
          <p:cNvPr id="2" name="">
            <a:extLst xmlns:a="http://schemas.openxmlformats.org/drawingml/2006/main">
              <a:ext uri="{FF2B5EF4-FFF2-40B4-BE49-F238E27FC236}">
                <a16:creationId xmlns:a16="http://schemas.microsoft.com/office/drawing/2014/main" id="{C4436B66-C9EC-476F-926E-AF294C80BA3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E08B8F60-7DAB-438A-9CDA-7E2D31D4A4E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9FBCB87E-232A-46DA-9BB6-E35D9D59BDF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Plan B geldt afzonderlijk: € 10 &lt; P₀ = € 12 → bindend">
            <a:extLst xmlns:a="http://schemas.openxmlformats.org/drawingml/2006/main">
              <a:ext uri="{FF2B5EF4-FFF2-40B4-BE49-F238E27FC236}">
                <a16:creationId xmlns:a16="http://schemas.microsoft.com/office/drawing/2014/main" id="{C9852BD0-5917-422E-BD43-F8CA71647326}"/>
              </a:ext>
            </a:extLst>
          </p:cNvPr>
          <p:cNvSpPr>
            <a:spLocks xmlns:a="http://schemas.openxmlformats.org/drawingml/2006/main" noGrp="1"/>
          </p:cNvSpPr>
          <p:nvPr/>
        </p:nvSpPr>
        <p:spPr>
          <a:xfrm xmlns:a="http://schemas.openxmlformats.org/drawingml/2006/main">
            <a:off x="571500" y="1762125"/>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Plan B geldt afzonderlijk: € 10 &lt; P₀ = € 12 → bindend</a:t>
            </a:r>
          </a:p>
        </p:txBody>
      </p:sp>
      <p:graphicFrame>
        <p:nvGraphicFramePr>
          <p:cNvPr id="13" name=""/>
          <p:cNvGraphicFramePr/>
          <p:nvPr/>
        </p:nvGraphicFramePr>
        <p:xfrm>
          <a:off xmlns:a="http://schemas.openxmlformats.org/drawingml/2006/main" x="571500" y="3219450"/>
          <a:ext xmlns:a="http://schemas.openxmlformats.org/drawingml/2006/main" cx="14097000" cy="3429000"/>
        </p:xfrm>
        <a:graphic xmlns:a="http://schemas.openxmlformats.org/drawingml/2006/main">
          <a:graphicData uri="http://schemas.openxmlformats.org/drawingml/2006/table">
            <a:tbl>
              <a:tblPr/>
              <a:tblGrid>
                <a:gridCol w="4191000"/>
                <a:gridCol w="6572250"/>
                <a:gridCol w="3333750"/>
              </a:tblGrid>
              <a:tr h="685800">
                <a:tc>
                  <a:txBody>
                    <a:bodyPr lIns="171450" tIns="95250" rIns="152400" bIns="95250"/>
                    <a:lstStyle/>
                    <a:p>
                      <a:r>
                        <a:rPr sz="240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Bandjes per dag</a:t>
                      </a:r>
                    </a:p>
                  </a:txBody>
                  <a:tcPr marL="91440" marR="91440" marT="45720" marB="45720" anchor="ctr">
                    <a:solidFill>
                      <a:srgbClr val="183247"/>
                    </a:solidFill>
                  </a:tcPr>
                </a:tc>
              </a:tr>
              <a:tr h="685800">
                <a:tc>
                  <a:txBody>
                    <a:bodyPr lIns="171450" tIns="95250" rIns="152400" bIns="95250"/>
                    <a:lstStyle/>
                    <a:p>
                      <a:r>
                        <a:rPr sz="2400" b="0">
                          <a:solidFill>
                            <a:srgbClr val="183247"/>
                          </a:solidFill>
                          <a:latin typeface="Arial"/>
                          <a:ea typeface="Arial"/>
                          <a:cs typeface="Arial"/>
                        </a:rPr>
                        <a:t>Qv bij € 10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10 = 24 − 0,20Qv → Qv = 70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70</a:t>
                      </a:r>
                    </a:p>
                  </a:txBody>
                  <a:tcPr marL="91440" marR="91440" marT="45720" marB="45720" anchor="ctr">
                    <a:solidFill>
                      <a:srgbClr val="FFFFFF"/>
                    </a:solidFill>
                  </a:tcPr>
                </a:tc>
              </a:tr>
              <a:tr h="685800">
                <a:tc>
                  <a:txBody>
                    <a:bodyPr lIns="171450" tIns="95250" rIns="152400" bIns="95250"/>
                    <a:lstStyle/>
                    <a:p>
                      <a:r>
                        <a:rPr sz="2400" b="0">
                          <a:solidFill>
                            <a:srgbClr val="183247"/>
                          </a:solidFill>
                          <a:latin typeface="Arial"/>
                          <a:ea typeface="Arial"/>
                          <a:cs typeface="Arial"/>
                        </a:rPr>
                        <a:t>Qa bij € 10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10 = 6 + 0,10Qa → Qa = 40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40</a:t>
                      </a:r>
                    </a:p>
                  </a:txBody>
                  <a:tcPr marL="91440" marR="91440" marT="45720" marB="45720" anchor="ctr">
                    <a:solidFill>
                      <a:srgbClr val="EFF4F7"/>
                    </a:solidFill>
                  </a:tcPr>
                </a:tc>
              </a:tr>
              <a:tr h="685800">
                <a:tc>
                  <a:txBody>
                    <a:bodyPr lIns="171450" tIns="95250" rIns="152400" bIns="95250"/>
                    <a:lstStyle/>
                    <a:p>
                      <a:r>
                        <a:rPr sz="2400" b="0">
                          <a:solidFill>
                            <a:srgbClr val="183247"/>
                          </a:solidFill>
                          <a:latin typeface="Arial"/>
                          <a:ea typeface="Arial"/>
                          <a:cs typeface="Arial"/>
                        </a:rPr>
                        <a:t>Werkelijke verkopen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Alle aangeboden bandjes worden verkocht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40</a:t>
                      </a:r>
                    </a:p>
                  </a:txBody>
                  <a:tcPr marL="91440" marR="91440" marT="45720" marB="45720" anchor="ctr">
                    <a:solidFill>
                      <a:srgbClr val="FFFFFF"/>
                    </a:solidFill>
                  </a:tcPr>
                </a:tc>
              </a:tr>
              <a:tr h="685800">
                <a:tc>
                  <a:txBody>
                    <a:bodyPr lIns="171450" tIns="95250" rIns="152400" bIns="95250"/>
                    <a:lstStyle/>
                    <a:p>
                      <a:r>
                        <a:rPr sz="2400" b="0">
                          <a:solidFill>
                            <a:srgbClr val="183247"/>
                          </a:solidFill>
                          <a:latin typeface="Arial"/>
                          <a:ea typeface="Arial"/>
                          <a:cs typeface="Arial"/>
                        </a:rPr>
                        <a:t>Tekort</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Qv − Qa = 70 − 40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30</a:t>
                      </a:r>
                    </a:p>
                  </a:txBody>
                  <a:tcPr marL="91440" marR="91440" marT="45720" marB="45720" anchor="ctr">
                    <a:solidFill>
                      <a:srgbClr val="EFF4F7"/>
                    </a:solidFill>
                  </a:tcPr>
                </a:tc>
              </a:tr>
            </a:tbl>
          </a:graphicData>
        </a:graphic>
      </p:graphicFrame>
      <p:sp>
        <p:nvSpPr>
          <p:cNvPr id="7" name="Geen extra aanvoer: 70 gewenste aankopen, 40 verkopen.">
            <a:extLst xmlns:a="http://schemas.openxmlformats.org/drawingml/2006/main">
              <a:ext uri="{FF2B5EF4-FFF2-40B4-BE49-F238E27FC236}">
                <a16:creationId xmlns:a16="http://schemas.microsoft.com/office/drawing/2014/main" id="{45196BEB-FFAE-412E-9901-F0D5E42B1429}"/>
              </a:ext>
            </a:extLst>
          </p:cNvPr>
          <p:cNvSpPr>
            <a:spLocks xmlns:a="http://schemas.openxmlformats.org/drawingml/2006/main" noGrp="1"/>
          </p:cNvSpPr>
          <p:nvPr/>
        </p:nvSpPr>
        <p:spPr>
          <a:xfrm xmlns:a="http://schemas.openxmlformats.org/drawingml/2006/main">
            <a:off x="571500" y="72294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E8449"/>
                </a:solidFill>
                <a:latin typeface="Arial"/>
                <a:ea typeface="Arial"/>
                <a:cs typeface="Arial"/>
              </a:defRPr>
            </a:pPr>
            <a:r>
              <a:rPr sz="2925" b="1">
                <a:solidFill>
                  <a:srgbClr val="1E8449"/>
                </a:solidFill>
                <a:latin typeface="Arial"/>
                <a:ea typeface="Arial"/>
                <a:cs typeface="Arial"/>
              </a:rPr>
              <a:t>Geen extra aanvoer: 70 gewenste aankopen, 40 verkopen.</a:t>
            </a:r>
          </a:p>
        </p:txBody>
      </p:sp>
    </p:spTree>
    <p:extLst>
      <p:ext uri="{BB962C8B-B14F-4D97-AF65-F5344CB8AC3E}">
        <p14:creationId xmlns:p14="http://schemas.microsoft.com/office/powerpoint/2010/main" val="89845584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48f · Beide delen van de claim toetsen">
            <a:extLst xmlns:a="http://schemas.openxmlformats.org/drawingml/2006/main">
              <a:ext uri="{FF2B5EF4-FFF2-40B4-BE49-F238E27FC236}">
                <a16:creationId xmlns:a16="http://schemas.microsoft.com/office/drawing/2014/main" id="{F4ED5D87-A206-4859-AA77-9307D7758E3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48f · Beide delen van de claim toetsen</a:t>
            </a:r>
          </a:p>
        </p:txBody>
      </p:sp>
      <p:sp>
        <p:nvSpPr>
          <p:cNvPr id="2" name="">
            <a:extLst xmlns:a="http://schemas.openxmlformats.org/drawingml/2006/main">
              <a:ext uri="{FF2B5EF4-FFF2-40B4-BE49-F238E27FC236}">
                <a16:creationId xmlns:a16="http://schemas.microsoft.com/office/drawing/2014/main" id="{1C64C677-8F85-43B8-9C8E-8E320E92215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0DF1FAA-1204-4F5E-8212-77453203383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36C7E5F7-3372-4910-916F-0891DEB3C68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Plan B maakt een bandje bereikbaar voor iedereen die er bij">
            <a:extLst xmlns:a="http://schemas.openxmlformats.org/drawingml/2006/main">
              <a:ext uri="{FF2B5EF4-FFF2-40B4-BE49-F238E27FC236}">
                <a16:creationId xmlns:a16="http://schemas.microsoft.com/office/drawing/2014/main" id="{6B20E66E-31AD-4E3D-AE40-ABAAE45C0F1E}"/>
              </a:ext>
            </a:extLst>
          </p:cNvPr>
          <p:cNvSpPr>
            <a:spLocks xmlns:a="http://schemas.openxmlformats.org/drawingml/2006/main" noGrp="1"/>
          </p:cNvSpPr>
          <p:nvPr/>
        </p:nvSpPr>
        <p:spPr>
          <a:xfrm xmlns:a="http://schemas.openxmlformats.org/drawingml/2006/main">
            <a:off x="571500" y="1828800"/>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“Plan B maakt een bandje bereikbaar voor iedereen die er bij € 10 een wil.”</a:t>
            </a:r>
          </a:p>
        </p:txBody>
      </p:sp>
      <p:sp>
        <p:nvSpPr>
          <p:cNvPr id="6" name="Onjuist: 70 willen kopen, 40 kopen. Tekort: 70 − 40 = 30 per">
            <a:extLst xmlns:a="http://schemas.openxmlformats.org/drawingml/2006/main">
              <a:ext uri="{FF2B5EF4-FFF2-40B4-BE49-F238E27FC236}">
                <a16:creationId xmlns:a16="http://schemas.microsoft.com/office/drawing/2014/main" id="{DEB14B4E-8172-4195-B22C-6FB6D1093409}"/>
              </a:ext>
            </a:extLst>
          </p:cNvPr>
          <p:cNvSpPr>
            <a:spLocks xmlns:a="http://schemas.openxmlformats.org/drawingml/2006/main" noGrp="1"/>
          </p:cNvSpPr>
          <p:nvPr/>
        </p:nvSpPr>
        <p:spPr>
          <a:xfrm xmlns:a="http://schemas.openxmlformats.org/drawingml/2006/main">
            <a:off x="571500" y="3114675"/>
            <a:ext cx="1409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A5276"/>
                </a:solidFill>
                <a:latin typeface="Arial"/>
                <a:ea typeface="Arial"/>
                <a:cs typeface="Arial"/>
              </a:defRPr>
            </a:pPr>
            <a:r>
              <a:rPr sz="2775" b="0">
                <a:solidFill>
                  <a:srgbClr val="1A5276"/>
                </a:solidFill>
                <a:latin typeface="Arial"/>
                <a:ea typeface="Arial"/>
                <a:cs typeface="Arial"/>
              </a:rPr>
              <a:t>Onjuist: 70 willen kopen, 40 kopen. Tekort: 70 − 40 = 30 per dag.</a:t>
            </a:r>
          </a:p>
        </p:txBody>
      </p:sp>
      <p:sp>
        <p:nvSpPr>
          <p:cNvPr id="7" name="">
            <a:extLst xmlns:a="http://schemas.openxmlformats.org/drawingml/2006/main">
              <a:ext uri="{FF2B5EF4-FFF2-40B4-BE49-F238E27FC236}">
                <a16:creationId xmlns:a16="http://schemas.microsoft.com/office/drawing/2014/main" id="{E9EE2E11-CD62-4AEE-B531-31FDCE9C314F}"/>
              </a:ext>
            </a:extLst>
          </p:cNvPr>
          <p:cNvSpPr>
            <a:spLocks xmlns:a="http://schemas.openxmlformats.org/drawingml/2006/main" noGrp="1"/>
          </p:cNvSpPr>
          <p:nvPr/>
        </p:nvSpPr>
        <p:spPr>
          <a:xfrm xmlns:a="http://schemas.openxmlformats.org/drawingml/2006/main">
            <a:off x="571500" y="4552950"/>
            <a:ext cx="14097000" cy="0"/>
          </a:xfrm>
          <a:prstGeom xmlns:a="http://schemas.openxmlformats.org/drawingml/2006/main" prst="line">
            <a:avLst/>
          </a:prstGeom>
          <a:ln xmlns:a="http://schemas.openxmlformats.org/drawingml/2006/main" w="19050">
            <a:solidFill>
              <a:srgbClr val="C6D2DB"/>
            </a:solidFill>
          </a:ln>
        </p:spPr>
      </p:sp>
      <p:sp>
        <p:nvSpPr>
          <p:cNvPr id="8" name="“Plan A levert de overheid geld op; dat geld is volledig ver">
            <a:extLst xmlns:a="http://schemas.openxmlformats.org/drawingml/2006/main">
              <a:ext uri="{FF2B5EF4-FFF2-40B4-BE49-F238E27FC236}">
                <a16:creationId xmlns:a16="http://schemas.microsoft.com/office/drawing/2014/main" id="{26D075A2-AF53-4C6F-A3E3-EFC2EDBF2D1D}"/>
              </a:ext>
            </a:extLst>
          </p:cNvPr>
          <p:cNvSpPr>
            <a:spLocks xmlns:a="http://schemas.openxmlformats.org/drawingml/2006/main" noGrp="1"/>
          </p:cNvSpPr>
          <p:nvPr/>
        </p:nvSpPr>
        <p:spPr>
          <a:xfrm xmlns:a="http://schemas.openxmlformats.org/drawingml/2006/main">
            <a:off x="571500" y="496252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“Plan A levert de overheid geld op; dat geld is volledig verdwenen welvaart.”</a:t>
            </a:r>
          </a:p>
        </p:txBody>
      </p:sp>
      <p:sp>
        <p:nvSpPr>
          <p:cNvPr id="9" name="Onjuist: O = 3 × 50 = € 150 per dag; W = 540 − 525 = € 15 pe">
            <a:extLst xmlns:a="http://schemas.openxmlformats.org/drawingml/2006/main">
              <a:ext uri="{FF2B5EF4-FFF2-40B4-BE49-F238E27FC236}">
                <a16:creationId xmlns:a16="http://schemas.microsoft.com/office/drawing/2014/main" id="{8F1DBBEF-154A-439B-97FB-285AEF794A25}"/>
              </a:ext>
            </a:extLst>
          </p:cNvPr>
          <p:cNvSpPr>
            <a:spLocks xmlns:a="http://schemas.openxmlformats.org/drawingml/2006/main" noGrp="1"/>
          </p:cNvSpPr>
          <p:nvPr/>
        </p:nvSpPr>
        <p:spPr>
          <a:xfrm xmlns:a="http://schemas.openxmlformats.org/drawingml/2006/main">
            <a:off x="571500" y="6324600"/>
            <a:ext cx="14097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A94D16"/>
                </a:solidFill>
                <a:latin typeface="Arial"/>
                <a:ea typeface="Arial"/>
                <a:cs typeface="Arial"/>
              </a:defRPr>
            </a:pPr>
            <a:r>
              <a:rPr sz="2775" b="0">
                <a:solidFill>
                  <a:srgbClr val="A94D16"/>
                </a:solidFill>
                <a:latin typeface="Arial"/>
                <a:ea typeface="Arial"/>
                <a:cs typeface="Arial"/>
              </a:rPr>
              <a:t>Onjuist: O = 3 × 50 = € 150 per dag; W = 540 − 525 = € 15 per dag.</a:t>
            </a:r>
          </a:p>
          <a:p xmlns:a="http://schemas.openxmlformats.org/drawingml/2006/main">
            <a:pPr algn="l">
              <a:defRPr sz="2775" b="0">
                <a:solidFill>
                  <a:srgbClr val="A94D16"/>
                </a:solidFill>
                <a:latin typeface="Arial"/>
                <a:ea typeface="Arial"/>
                <a:cs typeface="Arial"/>
              </a:defRPr>
            </a:pPr>
            <a:r>
              <a:rPr sz="2775" b="0">
                <a:solidFill>
                  <a:srgbClr val="A94D16"/>
                </a:solidFill>
                <a:latin typeface="Arial"/>
                <a:ea typeface="Arial"/>
                <a:cs typeface="Arial"/>
              </a:rPr>
              <a:t>O telt mee in de welvaartsmaat.</a:t>
            </a:r>
          </a:p>
        </p:txBody>
      </p:sp>
    </p:spTree>
    <p:extLst>
      <p:ext uri="{BB962C8B-B14F-4D97-AF65-F5344CB8AC3E}">
        <p14:creationId xmlns:p14="http://schemas.microsoft.com/office/powerpoint/2010/main" val="56699550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48f · Prijs en toegang voor kopers">
            <a:extLst xmlns:a="http://schemas.openxmlformats.org/drawingml/2006/main">
              <a:ext uri="{FF2B5EF4-FFF2-40B4-BE49-F238E27FC236}">
                <a16:creationId xmlns:a16="http://schemas.microsoft.com/office/drawing/2014/main" id="{2A3BB953-F4A8-4B2A-8D57-84285842E5C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48f · Prijs en toegang voor kopers</a:t>
            </a:r>
          </a:p>
        </p:txBody>
      </p:sp>
      <p:sp>
        <p:nvSpPr>
          <p:cNvPr id="2" name="">
            <a:extLst xmlns:a="http://schemas.openxmlformats.org/drawingml/2006/main">
              <a:ext uri="{FF2B5EF4-FFF2-40B4-BE49-F238E27FC236}">
                <a16:creationId xmlns:a16="http://schemas.microsoft.com/office/drawing/2014/main" id="{4CF4B412-7E71-437D-BC10-7D4FE024E10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78660AD-1833-4A84-A1A9-02148A2C9D9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 · Opgave 48 · Boekpagina 50–51</a:t>
            </a:r>
          </a:p>
        </p:txBody>
      </p:sp>
      <p:sp>
        <p:nvSpPr>
          <p:cNvPr id="4" name="slide-number">
            <a:extLst xmlns:a="http://schemas.openxmlformats.org/drawingml/2006/main">
              <a:ext uri="{FF2B5EF4-FFF2-40B4-BE49-F238E27FC236}">
                <a16:creationId xmlns:a16="http://schemas.microsoft.com/office/drawing/2014/main" id="{282B85D2-5D4F-4F35-82C1-FC744E0356A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2" name=""/>
          <p:cNvGraphicFramePr/>
          <p:nvPr/>
        </p:nvGraphicFramePr>
        <p:xfrm>
          <a:off xmlns:a="http://schemas.openxmlformats.org/drawingml/2006/main" x="571500" y="2181225"/>
          <a:ext xmlns:a="http://schemas.openxmlformats.org/drawingml/2006/main" cx="14097000" cy="2762250"/>
        </p:xfrm>
        <a:graphic xmlns:a="http://schemas.openxmlformats.org/drawingml/2006/main">
          <a:graphicData uri="http://schemas.openxmlformats.org/drawingml/2006/table">
            <a:tbl>
              <a:tblPr/>
              <a:tblGrid>
                <a:gridCol w="7239000"/>
                <a:gridCol w="3429000"/>
                <a:gridCol w="3429000"/>
              </a:tblGrid>
              <a:tr h="920750">
                <a:tc>
                  <a:txBody>
                    <a:bodyPr lIns="171450" tIns="95250" rIns="152400" bIns="95250"/>
                    <a:lstStyle/>
                    <a:p>
                      <a:r>
                        <a:rPr sz="2700" b="1">
                          <a:solidFill>
                            <a:srgbClr val="FFFFFF"/>
                          </a:solidFill>
                          <a:latin typeface="Arial"/>
                          <a:ea typeface="Arial"/>
                          <a:cs typeface="Arial"/>
                        </a:rPr>
                        <a:t>Voor kopers</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Plan A</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Plan B</a:t>
                      </a:r>
                    </a:p>
                  </a:txBody>
                  <a:tcPr marL="91440" marR="91440" marT="45720" marB="45720" anchor="ctr">
                    <a:solidFill>
                      <a:srgbClr val="183247"/>
                    </a:solidFill>
                  </a:tcPr>
                </a:tc>
              </a:tr>
              <a:tr h="920750">
                <a:tc>
                  <a:txBody>
                    <a:bodyPr lIns="171450" tIns="95250" rIns="152400" bIns="95250"/>
                    <a:lstStyle/>
                    <a:p>
                      <a:r>
                        <a:rPr sz="2700" b="0">
                          <a:solidFill>
                            <a:srgbClr val="183247"/>
                          </a:solidFill>
                          <a:latin typeface="Arial"/>
                          <a:ea typeface="Arial"/>
                          <a:cs typeface="Arial"/>
                        </a:rPr>
                        <a:t>Betaalde prijs per bandje</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€ 14</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€ 10</a:t>
                      </a:r>
                    </a:p>
                  </a:txBody>
                  <a:tcPr marL="91440" marR="91440" marT="45720" marB="45720" anchor="ctr">
                    <a:solidFill>
                      <a:srgbClr val="FFFFFF"/>
                    </a:solidFill>
                  </a:tcPr>
                </a:tc>
              </a:tr>
              <a:tr h="920750">
                <a:tc>
                  <a:txBody>
                    <a:bodyPr lIns="171450" tIns="95250" rIns="152400" bIns="95250"/>
                    <a:lstStyle/>
                    <a:p>
                      <a:r>
                        <a:rPr sz="2700" b="0">
                          <a:solidFill>
                            <a:srgbClr val="183247"/>
                          </a:solidFill>
                          <a:latin typeface="Arial"/>
                          <a:ea typeface="Arial"/>
                          <a:cs typeface="Arial"/>
                        </a:rPr>
                        <a:t>Werkelijk verkochte bandjes per dag</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50</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40</a:t>
                      </a:r>
                    </a:p>
                  </a:txBody>
                  <a:tcPr marL="91440" marR="91440" marT="45720" marB="45720" anchor="ctr">
                    <a:solidFill>
                      <a:srgbClr val="EFF4F7"/>
                    </a:solidFill>
                  </a:tcPr>
                </a:tc>
              </a:tr>
            </a:tbl>
          </a:graphicData>
        </a:graphic>
      </p:graphicFrame>
      <p:sp>
        <p:nvSpPr>
          <p:cNvPr id="6" name="Onder B betalen kopers die kunnen kopen € 4 minder.&#10;Er worde">
            <a:extLst xmlns:a="http://schemas.openxmlformats.org/drawingml/2006/main">
              <a:ext uri="{FF2B5EF4-FFF2-40B4-BE49-F238E27FC236}">
                <a16:creationId xmlns:a16="http://schemas.microsoft.com/office/drawing/2014/main" id="{80095A81-EF60-47DB-8A53-502F410FFAF1}"/>
              </a:ext>
            </a:extLst>
          </p:cNvPr>
          <p:cNvSpPr>
            <a:spLocks xmlns:a="http://schemas.openxmlformats.org/drawingml/2006/main" noGrp="1"/>
          </p:cNvSpPr>
          <p:nvPr/>
        </p:nvSpPr>
        <p:spPr>
          <a:xfrm xmlns:a="http://schemas.openxmlformats.org/drawingml/2006/main">
            <a:off x="571500" y="5553075"/>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Onder B betalen kopers die kunnen kopen € 4 minder.</a:t>
            </a:r>
          </a:p>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Er worden ook 10 bandjes per dag minder verkocht.</a:t>
            </a:r>
          </a:p>
        </p:txBody>
      </p:sp>
      <p:sp>
        <p:nvSpPr>
          <p:cNvPr id="7" name="Deze vergelijking geeft geen volledige welvaartsrangschikkin">
            <a:extLst xmlns:a="http://schemas.openxmlformats.org/drawingml/2006/main">
              <a:ext uri="{FF2B5EF4-FFF2-40B4-BE49-F238E27FC236}">
                <a16:creationId xmlns:a16="http://schemas.microsoft.com/office/drawing/2014/main" id="{FD6BE8AA-036D-49A1-AE0F-5F0C26EBB127}"/>
              </a:ext>
            </a:extLst>
          </p:cNvPr>
          <p:cNvSpPr>
            <a:spLocks xmlns:a="http://schemas.openxmlformats.org/drawingml/2006/main" noGrp="1"/>
          </p:cNvSpPr>
          <p:nvPr/>
        </p:nvSpPr>
        <p:spPr>
          <a:xfrm xmlns:a="http://schemas.openxmlformats.org/drawingml/2006/main">
            <a:off x="571500" y="73437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Deze vergelijking geeft geen volledige welvaartsrangschikking.</a:t>
            </a:r>
          </a:p>
        </p:txBody>
      </p:sp>
    </p:spTree>
    <p:extLst>
      <p:ext uri="{BB962C8B-B14F-4D97-AF65-F5344CB8AC3E}">
        <p14:creationId xmlns:p14="http://schemas.microsoft.com/office/powerpoint/2010/main" val="213636066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6 Gemengde opgaven">
            <a:extLst xmlns:a="http://schemas.openxmlformats.org/drawingml/2006/main">
              <a:ext uri="{FF2B5EF4-FFF2-40B4-BE49-F238E27FC236}">
                <a16:creationId xmlns:a16="http://schemas.microsoft.com/office/drawing/2014/main" id="{34F1E69D-69BD-4B4A-B93C-858A1A51FDE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§3.1.6 Gemengde opgaven</a:t>
            </a:r>
          </a:p>
        </p:txBody>
      </p:sp>
      <p:sp>
        <p:nvSpPr>
          <p:cNvPr id="2" name="">
            <a:extLst xmlns:a="http://schemas.openxmlformats.org/drawingml/2006/main">
              <a:ext uri="{FF2B5EF4-FFF2-40B4-BE49-F238E27FC236}">
                <a16:creationId xmlns:a16="http://schemas.microsoft.com/office/drawing/2014/main" id="{BB6D5AFA-28F0-4CCB-B437-AA2C82F24FD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A20FCE9-454F-49AE-B499-B4FDDAAB68C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§3.1.6 Gemengde opgaven: overheidsingrijpen</a:t>
            </a:r>
          </a:p>
        </p:txBody>
      </p:sp>
      <p:sp>
        <p:nvSpPr>
          <p:cNvPr id="4" name="slide-number">
            <a:extLst xmlns:a="http://schemas.openxmlformats.org/drawingml/2006/main">
              <a:ext uri="{FF2B5EF4-FFF2-40B4-BE49-F238E27FC236}">
                <a16:creationId xmlns:a16="http://schemas.microsoft.com/office/drawing/2014/main" id="{5AE883EB-9C26-416C-B2F3-9F900127535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phase">
            <a:extLst xmlns:a="http://schemas.openxmlformats.org/drawingml/2006/main">
              <a:ext uri="{FF2B5EF4-FFF2-40B4-BE49-F238E27FC236}">
                <a16:creationId xmlns:a16="http://schemas.microsoft.com/office/drawing/2014/main" id="{BFCF891A-0924-4FF4-A12F-586A9EB1AA1B}"/>
              </a:ext>
            </a:extLst>
          </p:cNvPr>
          <p:cNvSpPr>
            <a:spLocks xmlns:a="http://schemas.openxmlformats.org/drawingml/2006/main" noGrp="1"/>
          </p:cNvSpPr>
          <p:nvPr/>
        </p:nvSpPr>
        <p:spPr>
          <a:xfrm xmlns:a="http://schemas.openxmlformats.org/drawingml/2006/main">
            <a:off x="571500" y="106680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Overheidsingrijpen · Nu: Afsluiting / huiswerk</a:t>
            </a:r>
          </a:p>
        </p:txBody>
      </p:sp>
      <p:sp>
        <p:nvSpPr>
          <p:cNvPr id="6" name="Lesroute">
            <a:extLst xmlns:a="http://schemas.openxmlformats.org/drawingml/2006/main">
              <a:ext uri="{FF2B5EF4-FFF2-40B4-BE49-F238E27FC236}">
                <a16:creationId xmlns:a16="http://schemas.microsoft.com/office/drawing/2014/main" id="{95B3A354-AD2C-408B-A14B-659D01322CE9}"/>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ACF02D21-4EF2-4A81-ADC5-7EAF0A4B7993}"/>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ABFED8B8-17E7-4D2F-8858-7BC668207242}"/>
              </a:ext>
            </a:extLst>
          </p:cNvPr>
          <p:cNvSpPr>
            <a:spLocks xmlns:a="http://schemas.openxmlformats.org/drawingml/2006/main" noGrp="1"/>
          </p:cNvSpPr>
          <p:nvPr/>
        </p:nvSpPr>
        <p:spPr>
          <a:xfrm xmlns:a="http://schemas.openxmlformats.org/drawingml/2006/main">
            <a:off x="1104900" y="2324100"/>
            <a:ext cx="7515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CF5DC180-265D-423B-98F3-67AE40334476}"/>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C7E61FD1-B294-49B9-BA4B-9473CC114469}"/>
              </a:ext>
            </a:extLst>
          </p:cNvPr>
          <p:cNvSpPr>
            <a:spLocks xmlns:a="http://schemas.openxmlformats.org/drawingml/2006/main" noGrp="1"/>
          </p:cNvSpPr>
          <p:nvPr/>
        </p:nvSpPr>
        <p:spPr>
          <a:xfrm xmlns:a="http://schemas.openxmlformats.org/drawingml/2006/main">
            <a:off x="1104900" y="320040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F6FA7FF9-C4B8-40A1-9BE8-F6FBB828D98C}"/>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C0AD160A-0C60-4EE5-A396-12A1444AB447}"/>
              </a:ext>
            </a:extLst>
          </p:cNvPr>
          <p:cNvSpPr>
            <a:spLocks xmlns:a="http://schemas.openxmlformats.org/drawingml/2006/main" noGrp="1"/>
          </p:cNvSpPr>
          <p:nvPr/>
        </p:nvSpPr>
        <p:spPr>
          <a:xfrm xmlns:a="http://schemas.openxmlformats.org/drawingml/2006/main">
            <a:off x="1104900" y="371475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028AC4A6-ABA9-4A68-9068-A316978E9A3F}"/>
              </a:ext>
            </a:extLst>
          </p:cNvPr>
          <p:cNvSpPr>
            <a:spLocks xmlns:a="http://schemas.openxmlformats.org/drawingml/2006/main" noGrp="1"/>
          </p:cNvSpPr>
          <p:nvPr/>
        </p:nvSpPr>
        <p:spPr>
          <a:xfrm xmlns:a="http://schemas.openxmlformats.org/drawingml/2006/main">
            <a:off x="571500" y="4248150"/>
            <a:ext cx="457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43B7264F-3EF4-4273-91A6-C2FFEDFA9211}"/>
              </a:ext>
            </a:extLst>
          </p:cNvPr>
          <p:cNvSpPr>
            <a:spLocks xmlns:a="http://schemas.openxmlformats.org/drawingml/2006/main" noGrp="1"/>
          </p:cNvSpPr>
          <p:nvPr/>
        </p:nvSpPr>
        <p:spPr>
          <a:xfrm xmlns:a="http://schemas.openxmlformats.org/drawingml/2006/main">
            <a:off x="1104900" y="4248150"/>
            <a:ext cx="75152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81C8880C-78F0-4C37-B340-E97A5843FAD1}"/>
              </a:ext>
            </a:extLst>
          </p:cNvPr>
          <p:cNvSpPr>
            <a:spLocks xmlns:a="http://schemas.openxmlformats.org/drawingml/2006/main" noGrp="1"/>
          </p:cNvSpPr>
          <p:nvPr/>
        </p:nvSpPr>
        <p:spPr>
          <a:xfrm xmlns:a="http://schemas.openxmlformats.org/drawingml/2006/main">
            <a:off x="571500" y="577215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106FBE37-3B7B-4343-BA6B-495E30293D8E}"/>
              </a:ext>
            </a:extLst>
          </p:cNvPr>
          <p:cNvSpPr>
            <a:spLocks xmlns:a="http://schemas.openxmlformats.org/drawingml/2006/main" noGrp="1"/>
          </p:cNvSpPr>
          <p:nvPr/>
        </p:nvSpPr>
        <p:spPr>
          <a:xfrm xmlns:a="http://schemas.openxmlformats.org/drawingml/2006/main">
            <a:off x="1104900" y="5772150"/>
            <a:ext cx="75152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5D320D75-85C4-453D-BC5D-898E76904DE8}"/>
              </a:ext>
            </a:extLst>
          </p:cNvPr>
          <p:cNvSpPr>
            <a:spLocks xmlns:a="http://schemas.openxmlformats.org/drawingml/2006/main" noGrp="1"/>
          </p:cNvSpPr>
          <p:nvPr/>
        </p:nvSpPr>
        <p:spPr>
          <a:xfrm xmlns:a="http://schemas.openxmlformats.org/drawingml/2006/main">
            <a:off x="571500" y="6667500"/>
            <a:ext cx="45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9816B996-8D27-434A-8904-6787BE6FEEC3}"/>
              </a:ext>
            </a:extLst>
          </p:cNvPr>
          <p:cNvSpPr>
            <a:spLocks xmlns:a="http://schemas.openxmlformats.org/drawingml/2006/main" noGrp="1"/>
          </p:cNvSpPr>
          <p:nvPr/>
        </p:nvSpPr>
        <p:spPr>
          <a:xfrm xmlns:a="http://schemas.openxmlformats.org/drawingml/2006/main">
            <a:off x="1104900" y="6667500"/>
            <a:ext cx="7515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48.</a:t>
            </a:r>
          </a:p>
        </p:txBody>
      </p:sp>
      <p:sp>
        <p:nvSpPr>
          <p:cNvPr id="19" name="route-number-7">
            <a:extLst xmlns:a="http://schemas.openxmlformats.org/drawingml/2006/main">
              <a:ext uri="{FF2B5EF4-FFF2-40B4-BE49-F238E27FC236}">
                <a16:creationId xmlns:a16="http://schemas.microsoft.com/office/drawing/2014/main" id="{8FC89DF8-8C67-488A-8192-5350C5426078}"/>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F51C651F-4DE0-470D-8826-EB2968C54E3A}"/>
              </a:ext>
            </a:extLst>
          </p:cNvPr>
          <p:cNvSpPr>
            <a:spLocks xmlns:a="http://schemas.openxmlformats.org/drawingml/2006/main" noGrp="1"/>
          </p:cNvSpPr>
          <p:nvPr/>
        </p:nvSpPr>
        <p:spPr>
          <a:xfrm xmlns:a="http://schemas.openxmlformats.org/drawingml/2006/main">
            <a:off x="1104900" y="7372350"/>
            <a:ext cx="7515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11139A00-DBC7-4D9B-AAFD-ACCCE1698EFD}"/>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3D31783A-D4E6-4813-94BA-2DC9E82B1168}"/>
              </a:ext>
            </a:extLst>
          </p:cNvPr>
          <p:cNvSpPr>
            <a:spLocks xmlns:a="http://schemas.openxmlformats.org/drawingml/2006/main" noGrp="1"/>
          </p:cNvSpPr>
          <p:nvPr/>
        </p:nvSpPr>
        <p:spPr>
          <a:xfrm xmlns:a="http://schemas.openxmlformats.org/drawingml/2006/main">
            <a:off x="9258300" y="2324100"/>
            <a:ext cx="5381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Maatregel en methode kiezen.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Prijzen, handel en welvaart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beleidsclaim onderbouwen.</a:t>
            </a:r>
          </a:p>
        </p:txBody>
      </p:sp>
      <p:sp>
        <p:nvSpPr>
          <p:cNvPr id="23" name="">
            <a:extLst xmlns:a="http://schemas.openxmlformats.org/drawingml/2006/main">
              <a:ext uri="{FF2B5EF4-FFF2-40B4-BE49-F238E27FC236}">
                <a16:creationId xmlns:a16="http://schemas.microsoft.com/office/drawing/2014/main" id="{2563DB54-C500-43FA-8C7B-D9B4A8EC93DF}"/>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0F016714-0E7F-43BE-93C8-AC608B16773E}"/>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8C369703-8FC6-40A5-8B6F-A46E3551CC25}"/>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48 · Opgave 46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Steun: uitleg §§3.1.1–3.1.5</a:t>
            </a:r>
          </a:p>
        </p:txBody>
      </p:sp>
      <p:sp>
        <p:nvSpPr>
          <p:cNvPr id="26" name="">
            <a:extLst xmlns:a="http://schemas.openxmlformats.org/drawingml/2006/main">
              <a:ext uri="{FF2B5EF4-FFF2-40B4-BE49-F238E27FC236}">
                <a16:creationId xmlns:a16="http://schemas.microsoft.com/office/drawing/2014/main" id="{494CEBAF-6E16-47F7-8D08-2D865B679DFD}"/>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8679AB3D-DFC1-44EE-8A80-90FE2174ED74}"/>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74B15CF5-829A-4F4E-B987-E1ADBD16A447}"/>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§3.1.6 · Opgaven 46, 47, 47A, 48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Verder oefenen: 47 en 47A (extra)</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48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4872864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2026-10-01T10:00:29.4970000Z</dcterms:created>
  <dcterms:modified xsi:type="dcterms:W3CDTF">2026-10-01T10:00:29.4970000Z</dcterms:modified>
</coreProperties>
</file>