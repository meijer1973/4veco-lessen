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4b69c514a14483" /><Relationship Type="http://schemas.openxmlformats.org/officeDocument/2006/relationships/extended-properties" Target="/docProps/app.xml" Id="R8f697df53dd9403b" /><Relationship Type="http://schemas.openxmlformats.org/officeDocument/2006/relationships/officeDocument" Target="/ppt/presentation.xml" Id="R66823ff24025495e" /></Relationships>
</file>

<file path=ppt/presentation.xml><?xml version="1.0" encoding="utf-8"?>
<p:presentation xmlns:p="http://schemas.openxmlformats.org/presentationml/2006/main">
  <p:sldMasterIdLst>
    <p:sldMasterId xmlns:r="http://schemas.openxmlformats.org/officeDocument/2006/relationships" id="2147483648" r:id="R0b2d007251254517"/>
  </p:sldMasterIdLst>
  <p:notesMasterIdLst>
    <p:notesMasterId xmlns:r="http://schemas.openxmlformats.org/officeDocument/2006/relationships" r:id="Ra804b2e31fa94522"/>
  </p:notesMasterIdLst>
  <p:sldIdLst>
    <p:sldId xmlns:r="http://schemas.openxmlformats.org/officeDocument/2006/relationships" id="256" r:id="Rc534591c1d384688"/>
    <p:sldId xmlns:r="http://schemas.openxmlformats.org/officeDocument/2006/relationships" id="257" r:id="Ra29bd0543db94e57"/>
    <p:sldId xmlns:r="http://schemas.openxmlformats.org/officeDocument/2006/relationships" id="258" r:id="Rc329acb2c1ac4ddd"/>
    <p:sldId xmlns:r="http://schemas.openxmlformats.org/officeDocument/2006/relationships" id="259" r:id="R534bf26174584066"/>
    <p:sldId xmlns:r="http://schemas.openxmlformats.org/officeDocument/2006/relationships" id="260" r:id="R5d09b28b97b64a01"/>
    <p:sldId xmlns:r="http://schemas.openxmlformats.org/officeDocument/2006/relationships" id="261" r:id="R79da17844c1944c2"/>
    <p:sldId xmlns:r="http://schemas.openxmlformats.org/officeDocument/2006/relationships" id="262" r:id="R550f15f1f1fc4e6d"/>
    <p:sldId xmlns:r="http://schemas.openxmlformats.org/officeDocument/2006/relationships" id="263" r:id="R0fc1941ef35e48d1"/>
    <p:sldId xmlns:r="http://schemas.openxmlformats.org/officeDocument/2006/relationships" id="264" r:id="Rf1cd1f4d03374a86"/>
    <p:sldId xmlns:r="http://schemas.openxmlformats.org/officeDocument/2006/relationships" id="265" r:id="R5080a78e4957463f"/>
    <p:sldId xmlns:r="http://schemas.openxmlformats.org/officeDocument/2006/relationships" id="266" r:id="R743cf82c5d8f4d8c"/>
    <p:sldId xmlns:r="http://schemas.openxmlformats.org/officeDocument/2006/relationships" id="267" r:id="R96bb5b237f834973"/>
    <p:sldId xmlns:r="http://schemas.openxmlformats.org/officeDocument/2006/relationships" id="268" r:id="Rb08183011ccf4d15"/>
    <p:sldId xmlns:r="http://schemas.openxmlformats.org/officeDocument/2006/relationships" id="269" r:id="Rd03ba0f68631467c"/>
    <p:sldId xmlns:r="http://schemas.openxmlformats.org/officeDocument/2006/relationships" id="270" r:id="Rdd567a1cf3ed450f"/>
    <p:sldId xmlns:r="http://schemas.openxmlformats.org/officeDocument/2006/relationships" id="271" r:id="R735c768409d74d92"/>
    <p:sldId xmlns:r="http://schemas.openxmlformats.org/officeDocument/2006/relationships" id="272" r:id="Ra009f6760aaf4c9f"/>
    <p:sldId xmlns:r="http://schemas.openxmlformats.org/officeDocument/2006/relationships" id="273" r:id="R718a5f5af7ec4dab"/>
    <p:sldId xmlns:r="http://schemas.openxmlformats.org/officeDocument/2006/relationships" id="274" r:id="R5066b41abe8649c5"/>
    <p:sldId xmlns:r="http://schemas.openxmlformats.org/officeDocument/2006/relationships" id="275" r:id="Ra27a43404d3e43c2"/>
    <p:sldId xmlns:r="http://schemas.openxmlformats.org/officeDocument/2006/relationships" id="276" r:id="R365393c56eec4810"/>
    <p:sldId xmlns:r="http://schemas.openxmlformats.org/officeDocument/2006/relationships" id="277" r:id="Rdc6c142fb0a54ad7"/>
    <p:sldId xmlns:r="http://schemas.openxmlformats.org/officeDocument/2006/relationships" id="278" r:id="Rf800a892f9a946ae"/>
    <p:sldId xmlns:r="http://schemas.openxmlformats.org/officeDocument/2006/relationships" id="279" r:id="R9663ab60d94c4a7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f3dd0ebd494bec" /><Relationship Type="http://schemas.openxmlformats.org/officeDocument/2006/relationships/slideMaster" Target="/ppt/slideMasters/slideMaster1.xml" Id="R0b2d007251254517" /><Relationship Type="http://schemas.openxmlformats.org/officeDocument/2006/relationships/notesMaster" Target="/ppt/notesMasters/notesMaster1.xml" Id="Ra804b2e31fa94522" /><Relationship Type="http://schemas.openxmlformats.org/officeDocument/2006/relationships/presProps" Target="/ppt/presProps.xml" Id="Re913045eea1947c1" /><Relationship Type="http://schemas.openxmlformats.org/officeDocument/2006/relationships/tableStyles" Target="/ppt/tableStyles.xml" Id="R208b65a5f57a4ddc" /><Relationship Type="http://schemas.openxmlformats.org/officeDocument/2006/relationships/slide" Target="/ppt/slides/slide1.xml" Id="Rc534591c1d384688" /><Relationship Type="http://schemas.openxmlformats.org/officeDocument/2006/relationships/slide" Target="/ppt/slides/slide2.xml" Id="Ra29bd0543db94e57" /><Relationship Type="http://schemas.openxmlformats.org/officeDocument/2006/relationships/slide" Target="/ppt/slides/slide3.xml" Id="Rc329acb2c1ac4ddd" /><Relationship Type="http://schemas.openxmlformats.org/officeDocument/2006/relationships/slide" Target="/ppt/slides/slide4.xml" Id="R534bf26174584066" /><Relationship Type="http://schemas.openxmlformats.org/officeDocument/2006/relationships/slide" Target="/ppt/slides/slide5.xml" Id="R5d09b28b97b64a01" /><Relationship Type="http://schemas.openxmlformats.org/officeDocument/2006/relationships/slide" Target="/ppt/slides/slide6.xml" Id="R79da17844c1944c2" /><Relationship Type="http://schemas.openxmlformats.org/officeDocument/2006/relationships/slide" Target="/ppt/slides/slide7.xml" Id="R550f15f1f1fc4e6d" /><Relationship Type="http://schemas.openxmlformats.org/officeDocument/2006/relationships/slide" Target="/ppt/slides/slide8.xml" Id="R0fc1941ef35e48d1" /><Relationship Type="http://schemas.openxmlformats.org/officeDocument/2006/relationships/slide" Target="/ppt/slides/slide9.xml" Id="Rf1cd1f4d03374a86" /><Relationship Type="http://schemas.openxmlformats.org/officeDocument/2006/relationships/slide" Target="/ppt/slides/slide10.xml" Id="R5080a78e4957463f" /><Relationship Type="http://schemas.openxmlformats.org/officeDocument/2006/relationships/slide" Target="/ppt/slides/slide11.xml" Id="R743cf82c5d8f4d8c" /><Relationship Type="http://schemas.openxmlformats.org/officeDocument/2006/relationships/slide" Target="/ppt/slides/slide12.xml" Id="R96bb5b237f834973" /><Relationship Type="http://schemas.openxmlformats.org/officeDocument/2006/relationships/slide" Target="/ppt/slides/slide13.xml" Id="Rb08183011ccf4d15" /><Relationship Type="http://schemas.openxmlformats.org/officeDocument/2006/relationships/slide" Target="/ppt/slides/slide14.xml" Id="Rd03ba0f68631467c" /><Relationship Type="http://schemas.openxmlformats.org/officeDocument/2006/relationships/slide" Target="/ppt/slides/slide15.xml" Id="Rdd567a1cf3ed450f" /><Relationship Type="http://schemas.openxmlformats.org/officeDocument/2006/relationships/slide" Target="/ppt/slides/slide16.xml" Id="R735c768409d74d92" /><Relationship Type="http://schemas.openxmlformats.org/officeDocument/2006/relationships/slide" Target="/ppt/slides/slide17.xml" Id="Ra009f6760aaf4c9f" /><Relationship Type="http://schemas.openxmlformats.org/officeDocument/2006/relationships/slide" Target="/ppt/slides/slide18.xml" Id="R718a5f5af7ec4dab" /><Relationship Type="http://schemas.openxmlformats.org/officeDocument/2006/relationships/slide" Target="/ppt/slides/slide19.xml" Id="R5066b41abe8649c5" /><Relationship Type="http://schemas.openxmlformats.org/officeDocument/2006/relationships/slide" Target="/ppt/slides/slide20.xml" Id="Ra27a43404d3e43c2" /><Relationship Type="http://schemas.openxmlformats.org/officeDocument/2006/relationships/slide" Target="/ppt/slides/slide21.xml" Id="R365393c56eec4810" /><Relationship Type="http://schemas.openxmlformats.org/officeDocument/2006/relationships/slide" Target="/ppt/slides/slide22.xml" Id="Rdc6c142fb0a54ad7" /><Relationship Type="http://schemas.openxmlformats.org/officeDocument/2006/relationships/slide" Target="/ppt/slides/slide23.xml" Id="Rf800a892f9a946ae" /><Relationship Type="http://schemas.openxmlformats.org/officeDocument/2006/relationships/slide" Target="/ppt/slides/slide24.xml" Id="R9663ab60d94c4a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35ae5de15c40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0097801a484ca6" /><Relationship Type="http://schemas.openxmlformats.org/officeDocument/2006/relationships/notesMaster" Target="/ppt/notesMasters/notesMaster1.xml" Id="Rbc64f58a88414f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7aebeffaa7438f" /><Relationship Type="http://schemas.openxmlformats.org/officeDocument/2006/relationships/notesMaster" Target="/ppt/notesMasters/notesMaster1.xml" Id="R098358dc187d4f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5b5bdfdb954cbc" /><Relationship Type="http://schemas.openxmlformats.org/officeDocument/2006/relationships/notesMaster" Target="/ppt/notesMasters/notesMaster1.xml" Id="R5044cef77b3f41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dfae60dbe14297" /><Relationship Type="http://schemas.openxmlformats.org/officeDocument/2006/relationships/notesMaster" Target="/ppt/notesMasters/notesMaster1.xml" Id="R386499f989a94c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c59b1cb2284e93" /><Relationship Type="http://schemas.openxmlformats.org/officeDocument/2006/relationships/notesMaster" Target="/ppt/notesMasters/notesMaster1.xml" Id="R3f59906a639644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a377904f054b89" /><Relationship Type="http://schemas.openxmlformats.org/officeDocument/2006/relationships/notesMaster" Target="/ppt/notesMasters/notesMaster1.xml" Id="Raef174b7713a48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a9a9fcadbf4b17" /><Relationship Type="http://schemas.openxmlformats.org/officeDocument/2006/relationships/notesMaster" Target="/ppt/notesMasters/notesMaster1.xml" Id="R199429305b5d42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42061e00d8437b" /><Relationship Type="http://schemas.openxmlformats.org/officeDocument/2006/relationships/notesMaster" Target="/ppt/notesMasters/notesMaster1.xml" Id="Rb733f97641ae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2531cda9ac4d2a" /><Relationship Type="http://schemas.openxmlformats.org/officeDocument/2006/relationships/notesMaster" Target="/ppt/notesMasters/notesMaster1.xml" Id="Rcf8c273ff16d44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af74f624824033" /><Relationship Type="http://schemas.openxmlformats.org/officeDocument/2006/relationships/notesMaster" Target="/ppt/notesMasters/notesMaster1.xml" Id="Reebec25630974e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9eac81972b4769" /><Relationship Type="http://schemas.openxmlformats.org/officeDocument/2006/relationships/notesMaster" Target="/ppt/notesMasters/notesMaster1.xml" Id="R527ccac8969548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6fd73fb5324ba1" /><Relationship Type="http://schemas.openxmlformats.org/officeDocument/2006/relationships/notesMaster" Target="/ppt/notesMasters/notesMaster1.xml" Id="R4032f0e609244a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757264335548d7" /><Relationship Type="http://schemas.openxmlformats.org/officeDocument/2006/relationships/notesMaster" Target="/ppt/notesMasters/notesMaster1.xml" Id="R8993a6da174e45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257fcf7f8d4c98" /><Relationship Type="http://schemas.openxmlformats.org/officeDocument/2006/relationships/notesMaster" Target="/ppt/notesMasters/notesMaster1.xml" Id="Rd0aae1f0b4674f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58cef10c5a4bbe" /><Relationship Type="http://schemas.openxmlformats.org/officeDocument/2006/relationships/notesMaster" Target="/ppt/notesMasters/notesMaster1.xml" Id="Rf9af24302f5449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1ae04b7d8646ea" /><Relationship Type="http://schemas.openxmlformats.org/officeDocument/2006/relationships/notesMaster" Target="/ppt/notesMasters/notesMaster1.xml" Id="Rb3ef3977708648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6826e23be64453" /><Relationship Type="http://schemas.openxmlformats.org/officeDocument/2006/relationships/notesMaster" Target="/ppt/notesMasters/notesMaster1.xml" Id="R809a297b97cf4d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74d82dcdb24de5" /><Relationship Type="http://schemas.openxmlformats.org/officeDocument/2006/relationships/notesMaster" Target="/ppt/notesMasters/notesMaster1.xml" Id="R5c0bf1c16af94e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eccb0769f54b12" /><Relationship Type="http://schemas.openxmlformats.org/officeDocument/2006/relationships/notesMaster" Target="/ppt/notesMasters/notesMaster1.xml" Id="R1de759e3fcee4e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d970f876fe444a" /><Relationship Type="http://schemas.openxmlformats.org/officeDocument/2006/relationships/notesMaster" Target="/ppt/notesMasters/notesMaster1.xml" Id="Rcfbdf1f50a3e42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1a8b5bb3ac43a6" /><Relationship Type="http://schemas.openxmlformats.org/officeDocument/2006/relationships/notesMaster" Target="/ppt/notesMasters/notesMaster1.xml" Id="Rbffb6ca24ae4409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73d2397ee243cf" /><Relationship Type="http://schemas.openxmlformats.org/officeDocument/2006/relationships/notesMaster" Target="/ppt/notesMasters/notesMaster1.xml" Id="R581127174ca346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0a92fd76074c2b" /><Relationship Type="http://schemas.openxmlformats.org/officeDocument/2006/relationships/notesMaster" Target="/ppt/notesMasters/notesMaster1.xml" Id="R00d8663ff73b43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2fd034f76a4103" /><Relationship Type="http://schemas.openxmlformats.org/officeDocument/2006/relationships/notesMaster" Target="/ppt/notesMasters/notesMaster1.xml" Id="R17eaf95bf3074c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denkstap heb je hulp nodig?</a:t>
            </a:r>
          </a:p>
          <a:p xmlns:a="http://schemas.openxmlformats.org/drawingml/2006/main">
            <a:r>
              <a:rPr sz="1400"/>
              <a:t/>
            </a:r>
          </a:p>
          <a:p xmlns:a="http://schemas.openxmlformats.org/drawingml/2006/main">
            <a:r>
              <a:rPr sz="1400"/>
              <a:t>Uitleg: Laat dit overzicht staan tijdens startopdracht. Start 28–29: boek p. 34. Basis 30–31: p. 35. Zelfstandig 32–33: p. 36. Doel 34: p. 37. Huiswerk is 30, 31, 32, 33 en 34 maken en nakijken. Bonus 35 en herhaling 36 zijn extra. Gebruik de gedrukte paginanummers van het complete boek; het hoofdstukbestand telt vier pagina's lager.</a:t>
            </a:r>
          </a:p>
          <a:p xmlns:a="http://schemas.openxmlformats.org/drawingml/2006/main">
            <a:r>
              <a:rPr sz="1400"/>
              <a:t/>
            </a:r>
          </a:p>
          <a:p xmlns:a="http://schemas.openxmlformats.org/drawingml/2006/main">
            <a:r>
              <a:rPr sz="1400"/>
              <a:t>Start 28 haalt vergelijking oplossen en een prijs afzonderlijk invullen op. Die techniek is eerder gebruikt in §3.1.1, boek p. 7–9. Geef bij vastlopen alleen de aanpak: stel V = A voor vrij evenwicht; vul bij een gegeven prijs diezelfde prijs in beide functies in. Start 29 is een eerste verkenning van een niet-bindende maximumprijs. Laat p. 32–33 lezen, vooral 'Een maximum is geen verplicht prijskaartje'. Vraag welke zin helpt, niet om vooraf beheerste kennis. Bij terugkeer vóór het basiswerk laat je 29 opnieuw beantwoorden en bespreek je het verschil tussen de toegestane bovengrens en de werkelijke prijs.</a:t>
            </a:r>
          </a:p>
          <a:p xmlns:a="http://schemas.openxmlformats.org/drawingml/2006/main">
            <a:r>
              <a:rPr sz="1400"/>
              <a:t/>
            </a:r>
          </a:p>
          <a:p xmlns:a="http://schemas.openxmlformats.org/drawingml/2006/main">
            <a:r>
              <a:rPr sz="1400"/>
              <a:t>Docentadvies: reserveer voorlopig twee lessen van 55 minuten met flexibele lesgrens; les 1 tot en met begeleiding, les 2 afronding begeleiding, zelfstandig werk en volledige doelbespreking. Dit is niet gemeten. Laat resterend werk zo nodig als huiswerk afronden. Zie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alleen voor feedback na eigen poging: 28a Q₀ = 40 producten per dag, P₀ = € 10 per product. 28b Qv = 50 en Qa = 20 producten per dag. 29: € 12 blijft toegestaan onder € 15.</a:t>
            </a:r>
          </a:p>
          <a:p xmlns:a="http://schemas.openxmlformats.org/drawingml/2006/main">
            <a:r>
              <a:rPr sz="1400"/>
              <a:t/>
            </a:r>
          </a:p>
          <a:p xmlns:a="http://schemas.openxmlformats.org/drawingml/2006/main">
            <a:r>
              <a:rPr sz="1400"/>
              <a:t>Misvatting: Opgave 29 is nieuwe inhoud en geen onaangekondigde beheersingstoets. Begeleide inoefening hoort bij de normale route.</a:t>
            </a:r>
          </a:p>
          <a:p xmlns:a="http://schemas.openxmlformats.org/drawingml/2006/main">
            <a:r>
              <a:rPr sz="1400"/>
              <a:t/>
            </a:r>
          </a:p>
          <a:p xmlns:a="http://schemas.openxmlformats.org/drawingml/2006/main">
            <a:r>
              <a:rPr sz="1400"/>
              <a:t>Overgang: Start de uitleg zodra leerlingen hun eerste poging hebben gedaan.</a:t>
            </a:r>
          </a:p>
          <a:p xmlns:a="http://schemas.openxmlformats.org/drawingml/2006/main">
            <a:r>
              <a:rPr sz="1400"/>
              <a:t/>
            </a:r>
          </a:p>
          <a:p xmlns:a="http://schemas.openxmlformats.org/drawingml/2006/main">
            <a:r>
              <a:rPr sz="1400"/>
              <a:t>Bron: Boek 3, actuele books34-v3-editie, gedrukte boekpagina 32–37.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Mag een verkoper minder vragen dan de maximumprijs?</a:t>
            </a:r>
          </a:p>
          <a:p xmlns:a="http://schemas.openxmlformats.org/drawingml/2006/main">
            <a:r>
              <a:rPr sz="1400"/>
              <a:t/>
            </a:r>
          </a:p>
          <a:p xmlns:a="http://schemas.openxmlformats.org/drawingml/2006/main">
            <a:r>
              <a:rPr sz="1400"/>
              <a:t>Uitleg: Een maximumprijs is een wettelijke bovengrens in dit fictieve model. Hij is alleen bindend onder de vrije evenwichtsprijs. Bij gelijkheid verandert de vrije uitkomst niet. Koppel aan de doelen: eerst binding, dan hoeveelheden berekenen en markeren, ten slotte uitleggen wie toegang krijgt. De prijsregel zelf verschuift geen vraag of aanbod.</a:t>
            </a:r>
          </a:p>
          <a:p xmlns:a="http://schemas.openxmlformats.org/drawingml/2006/main">
            <a:r>
              <a:rPr sz="1400"/>
              <a:t/>
            </a:r>
          </a:p>
          <a:p xmlns:a="http://schemas.openxmlformats.org/drawingml/2006/main">
            <a:r>
              <a:rPr sz="1400"/>
              <a:t>Misvatting: Een maximum is geen verplicht prijskaartje.</a:t>
            </a:r>
          </a:p>
          <a:p xmlns:a="http://schemas.openxmlformats.org/drawingml/2006/main">
            <a:r>
              <a:rPr sz="1400"/>
              <a:t/>
            </a:r>
          </a:p>
          <a:p xmlns:a="http://schemas.openxmlformats.org/drawingml/2006/main">
            <a:r>
              <a:rPr sz="1400"/>
              <a:t>Overgang: Volg deze keuzes met een eigen uitlegvoorbeeld.</a:t>
            </a:r>
          </a:p>
          <a:p xmlns:a="http://schemas.openxmlformats.org/drawingml/2006/main">
            <a:r>
              <a:rPr sz="1400"/>
              <a:t/>
            </a:r>
          </a:p>
          <a:p xmlns:a="http://schemas.openxmlformats.org/drawingml/2006/main">
            <a:r>
              <a:rPr sz="1400"/>
              <a:t>Bron: Boek 3, actuele books34-v3-editie, gedrukte boekpagina 32–33.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gaan over prijs, welke over aantallen?</a:t>
            </a:r>
          </a:p>
          <a:p xmlns:a="http://schemas.openxmlformats.org/drawingml/2006/main">
            <a:r>
              <a:rPr sz="1400"/>
              <a:t/>
            </a:r>
          </a:p>
          <a:p xmlns:a="http://schemas.openxmlformats.org/drawingml/2006/main">
            <a:r>
              <a:rPr sz="1400"/>
              <a:t>Uitleg: Dit voorbeeld is apart voor de uitleg gemaakt. Neem veel kopers en verkopers en één soort beker aan. Er is geen belasting of subsidie per transactie en er zijn geen andere gelijktijdige veranderingen. Dezelfde prijs geldt voor koper en verkoper. De regeling is nog geen uitkomst: we moeten eerst het vrije evenwicht kennen.</a:t>
            </a:r>
          </a:p>
          <a:p xmlns:a="http://schemas.openxmlformats.org/drawingml/2006/main">
            <a:r>
              <a:rPr sz="1400"/>
              <a:t/>
            </a:r>
          </a:p>
          <a:p xmlns:a="http://schemas.openxmlformats.org/drawingml/2006/main">
            <a:r>
              <a:rPr sz="1400"/>
              <a:t>Misvatting: Een hoeveelheid van 40 is hier 40 bekers per week, niet 40 euro.</a:t>
            </a:r>
          </a:p>
          <a:p xmlns:a="http://schemas.openxmlformats.org/drawingml/2006/main">
            <a:r>
              <a:rPr sz="1400"/>
              <a:t/>
            </a:r>
          </a:p>
          <a:p xmlns:a="http://schemas.openxmlformats.org/drawingml/2006/main">
            <a:r>
              <a:rPr sz="1400"/>
              <a:t>Overgang: Bereken eerst het vrije evenwicht.</a:t>
            </a:r>
          </a:p>
          <a:p xmlns:a="http://schemas.openxmlformats.org/drawingml/2006/main">
            <a:r>
              <a:rPr sz="1400"/>
              <a:t/>
            </a:r>
          </a:p>
          <a:p xmlns:a="http://schemas.openxmlformats.org/drawingml/2006/main">
            <a:r>
              <a:rPr sz="1400"/>
              <a:t>Bron: Boek 3, actuele books34-v3-editie, gedrukte boekpagina 32–34.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nu één Q in beide functies?</a:t>
            </a:r>
          </a:p>
          <a:p xmlns:a="http://schemas.openxmlformats.org/drawingml/2006/main">
            <a:r>
              <a:rPr sz="1400"/>
              <a:t/>
            </a:r>
          </a:p>
          <a:p xmlns:a="http://schemas.openxmlformats.org/drawingml/2006/main">
            <a:r>
              <a:rPr sz="1400"/>
              <a:t>Uitleg: Herhaal de algebra: breng de constante 4 naar links en −0,25Q naar rechts. Deel 20 door 0,50. Vul de gevonden hoeveelheid in een van de oorspronkelijke functies in. Controleer dezelfde prijs in de andere functie. Deze oude techniek ondersteunt start 28 en doel 34a.</a:t>
            </a:r>
          </a:p>
          <a:p xmlns:a="http://schemas.openxmlformats.org/drawingml/2006/main">
            <a:r>
              <a:rPr sz="1400"/>
              <a:t/>
            </a:r>
          </a:p>
          <a:p xmlns:a="http://schemas.openxmlformats.org/drawingml/2006/main">
            <a:r>
              <a:rPr sz="1400"/>
              <a:t>Misvatting: Vrij evenwicht gaat over gelijke gevraagde en aangeboden hoeveelheden. Dat is straks bij een bindende prijsgrens niet zo.</a:t>
            </a:r>
          </a:p>
          <a:p xmlns:a="http://schemas.openxmlformats.org/drawingml/2006/main">
            <a:r>
              <a:rPr sz="1400"/>
              <a:t/>
            </a:r>
          </a:p>
          <a:p xmlns:a="http://schemas.openxmlformats.org/drawingml/2006/main">
            <a:r>
              <a:rPr sz="1400"/>
              <a:t>Overgang: Laat de berekening terugzien in de grafiek.</a:t>
            </a:r>
          </a:p>
          <a:p xmlns:a="http://schemas.openxmlformats.org/drawingml/2006/main">
            <a:r>
              <a:rPr sz="1400"/>
              <a:t/>
            </a:r>
          </a:p>
          <a:p xmlns:a="http://schemas.openxmlformats.org/drawingml/2006/main">
            <a:r>
              <a:rPr sz="1400"/>
              <a:t>Bron: Boek 3, actuele books34-v3-editie, gedrukte boekpagina 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zie je de 40 uit de berekening?</a:t>
            </a:r>
          </a:p>
          <a:p xmlns:a="http://schemas.openxmlformats.org/drawingml/2006/main">
            <a:r>
              <a:rPr sz="1400"/>
              <a:t/>
            </a:r>
          </a:p>
          <a:p xmlns:a="http://schemas.openxmlformats.org/drawingml/2006/main">
            <a:r>
              <a:rPr sz="1400"/>
              <a:t>Uitleg: Lees eerst de assen en eenheden. V daalt; A stijgt. De stippellijnen verbinden het snijpunt met Q = 40 en P = 14. Laat leerlingen de uitkomst uit de formule aanwijzen. De volgende grafieken behouden exact dezelfde assen.</a:t>
            </a:r>
          </a:p>
          <a:p xmlns:a="http://schemas.openxmlformats.org/drawingml/2006/main">
            <a:r>
              <a:rPr sz="1400"/>
              <a:t/>
            </a:r>
          </a:p>
          <a:p xmlns:a="http://schemas.openxmlformats.org/drawingml/2006/main">
            <a:r>
              <a:rPr sz="1400"/>
              <a:t>Misvatting: Lees P verticaal en Q horizontaal.</a:t>
            </a:r>
          </a:p>
          <a:p xmlns:a="http://schemas.openxmlformats.org/drawingml/2006/main">
            <a:r>
              <a:rPr sz="1400"/>
              <a:t/>
            </a:r>
          </a:p>
          <a:p xmlns:a="http://schemas.openxmlformats.org/drawingml/2006/main">
            <a:r>
              <a:rPr sz="1400"/>
              <a:t>Overgang: Voeg de maximumprijs toe zonder de lijnen te verschuiven.</a:t>
            </a:r>
          </a:p>
          <a:p xmlns:a="http://schemas.openxmlformats.org/drawingml/2006/main">
            <a:r>
              <a:rPr sz="1400"/>
              <a:t/>
            </a:r>
          </a:p>
          <a:p xmlns:a="http://schemas.openxmlformats.org/drawingml/2006/main">
            <a:r>
              <a:rPr sz="1400"/>
              <a:t>Bron: Boek 3, actuele books34-v3-editie, gedrukte boekpagina 32–34.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de prijs het komende tekort niet oplossen door te stijgen?</a:t>
            </a:r>
          </a:p>
          <a:p xmlns:a="http://schemas.openxmlformats.org/drawingml/2006/main">
            <a:r>
              <a:rPr sz="1400"/>
              <a:t/>
            </a:r>
          </a:p>
          <a:p xmlns:a="http://schemas.openxmlformats.org/drawingml/2006/main">
            <a:r>
              <a:rPr sz="1400"/>
              <a:t>Uitleg: De vrije prijs van 14 mag niet meer. In dit model is de werkelijke verkoopprijs 11. Er is geen belasting of subsidie: koper betaalt dezelfde prijs als verkoper ontvangt. De maximumprijs is een horizontale lijn en verschuift V of A niet.</a:t>
            </a:r>
          </a:p>
          <a:p xmlns:a="http://schemas.openxmlformats.org/drawingml/2006/main">
            <a:r>
              <a:rPr sz="1400"/>
              <a:t/>
            </a:r>
          </a:p>
          <a:p xmlns:a="http://schemas.openxmlformats.org/drawingml/2006/main">
            <a:r>
              <a:rPr sz="1400"/>
              <a:t>Misvatting: Een maximumprijs vormt geen verticale wig tussen kopers- en verkopersprijs.</a:t>
            </a:r>
          </a:p>
          <a:p xmlns:a="http://schemas.openxmlformats.org/drawingml/2006/main">
            <a:r>
              <a:rPr sz="1400"/>
              <a:t/>
            </a:r>
          </a:p>
          <a:p xmlns:a="http://schemas.openxmlformats.org/drawingml/2006/main">
            <a:r>
              <a:rPr sz="1400"/>
              <a:t>Overgang: Vul 11 afzonderlijk in de vraag- en aanbodfunctie in.</a:t>
            </a:r>
          </a:p>
          <a:p xmlns:a="http://schemas.openxmlformats.org/drawingml/2006/main">
            <a:r>
              <a:rPr sz="1400"/>
              <a:t/>
            </a:r>
          </a:p>
          <a:p xmlns:a="http://schemas.openxmlformats.org/drawingml/2006/main">
            <a:r>
              <a:rPr sz="1400"/>
              <a:t>Bron: Boek 3, actuele books34-v3-editie, gedrukte boekpagina 32–34.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zijn Qv en Qa hier verschillend?</a:t>
            </a:r>
          </a:p>
          <a:p xmlns:a="http://schemas.openxmlformats.org/drawingml/2006/main">
            <a:r>
              <a:rPr sz="1400"/>
              <a:t/>
            </a:r>
          </a:p>
          <a:p xmlns:a="http://schemas.openxmlformats.org/drawingml/2006/main">
            <a:r>
              <a:rPr sz="1400"/>
              <a:t>Uitleg: Bij de opgelegde prijs moeten we Qv en Qa apart oplossen. Vraag: trek 11 van 24 af, deel 13 door 0,25. Aanbod: trek 4 van 11 af, deel 7 door 0,25. Doe beide substitutiecontroles. Dit is ook de herhaling van hoeveelheid-bij-prijs voor start 28. De 52 is een wens, geen gerealiseerde verkoop.</a:t>
            </a:r>
          </a:p>
          <a:p xmlns:a="http://schemas.openxmlformats.org/drawingml/2006/main">
            <a:r>
              <a:rPr sz="1400"/>
              <a:t/>
            </a:r>
          </a:p>
          <a:p xmlns:a="http://schemas.openxmlformats.org/drawingml/2006/main">
            <a:r>
              <a:rPr sz="1400"/>
              <a:t>Misvatting: Stel de functies niet opnieuw gelijk alsof de maximumprijs vrij evenwicht oplevert.</a:t>
            </a:r>
          </a:p>
          <a:p xmlns:a="http://schemas.openxmlformats.org/drawingml/2006/main">
            <a:r>
              <a:rPr sz="1400"/>
              <a:t/>
            </a:r>
          </a:p>
          <a:p xmlns:a="http://schemas.openxmlformats.org/drawingml/2006/main">
            <a:r>
              <a:rPr sz="1400"/>
              <a:t>Overgang: Markeer de twee uitkomsten en het tekort.</a:t>
            </a:r>
          </a:p>
          <a:p xmlns:a="http://schemas.openxmlformats.org/drawingml/2006/main">
            <a:r>
              <a:rPr sz="1400"/>
              <a:t/>
            </a:r>
          </a:p>
          <a:p xmlns:a="http://schemas.openxmlformats.org/drawingml/2006/main">
            <a:r>
              <a:rPr sz="1400"/>
              <a:t>Bron: Boek 3, actuele books34-v3-editie, gedrukte boekpagina 33–34.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de grafiek meet het tekort?</a:t>
            </a:r>
          </a:p>
          <a:p xmlns:a="http://schemas.openxmlformats.org/drawingml/2006/main">
            <a:r>
              <a:rPr sz="1400"/>
              <a:t/>
            </a:r>
          </a:p>
          <a:p xmlns:a="http://schemas.openxmlformats.org/drawingml/2006/main">
            <a:r>
              <a:rPr sz="1400"/>
              <a:t>Uitleg: Teken de horizontale Pmax-lijn. Het snijpunt met A geeft Qa = 28; het snijpunt met V geeft Qv = 52. Projecteer beide op de hoeveelheid-as. Markeer het stuk tussen beide snijpunten als tekort. Alle aangeboden bekers worden verkocht en er is geen extra aanvoer, dus verkopen = 28. Controle: 28 verkopen + 24 onvervulde gewenste aankopen = 52.</a:t>
            </a:r>
          </a:p>
          <a:p xmlns:a="http://schemas.openxmlformats.org/drawingml/2006/main">
            <a:r>
              <a:rPr sz="1400"/>
              <a:t/>
            </a:r>
          </a:p>
          <a:p xmlns:a="http://schemas.openxmlformats.org/drawingml/2006/main">
            <a:r>
              <a:rPr sz="1400"/>
              <a:t>Misvatting: Een tekort is een verschil tussen hoeveelheden, geen afstand tussen prijzen.</a:t>
            </a:r>
          </a:p>
          <a:p xmlns:a="http://schemas.openxmlformats.org/drawingml/2006/main">
            <a:r>
              <a:rPr sz="1400"/>
              <a:t/>
            </a:r>
          </a:p>
          <a:p xmlns:a="http://schemas.openxmlformats.org/drawingml/2006/main">
            <a:r>
              <a:rPr sz="1400"/>
              <a:t>Overgang: Leg uit aan wie de 28 bekers worden verkocht.</a:t>
            </a:r>
          </a:p>
          <a:p xmlns:a="http://schemas.openxmlformats.org/drawingml/2006/main">
            <a:r>
              <a:rPr sz="1400"/>
              <a:t/>
            </a:r>
          </a:p>
          <a:p xmlns:a="http://schemas.openxmlformats.org/drawingml/2006/main">
            <a:r>
              <a:rPr sz="1400"/>
              <a:t>Bron: Boek 3, actuele books34-v3-editie, gedrukte boekpagina 32–34.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ontbreekt als een bron alleen prijs en aantal verkopen noemt?</a:t>
            </a:r>
          </a:p>
          <a:p xmlns:a="http://schemas.openxmlformats.org/drawingml/2006/main">
            <a:r>
              <a:rPr sz="1400"/>
              <a:t/>
            </a:r>
          </a:p>
          <a:p xmlns:a="http://schemas.openxmlformats.org/drawingml/2006/main">
            <a:r>
              <a:rPr sz="1400"/>
              <a:t>Uitleg: De prijs is lager voor wie een beker bemachtigt. De gegeven toewijzingsregel selecteert de hoogste betalingsbereidheden. Er blijven 24 gewenste aankopen onvervuld. Zonder regel ken je het aantal verkopen, maar niet welke kopers het product krijgen. Een loting kan andere kopers selecteren. Bereken hier geen surplus: dat is niet het doel van de normale route.</a:t>
            </a:r>
          </a:p>
          <a:p xmlns:a="http://schemas.openxmlformats.org/drawingml/2006/main">
            <a:r>
              <a:rPr sz="1400"/>
              <a:t/>
            </a:r>
          </a:p>
          <a:p xmlns:a="http://schemas.openxmlformats.org/drawingml/2006/main">
            <a:r>
              <a:rPr sz="1400"/>
              <a:t>Misvatting: Betaalbaar willen kopen is niet hetzelfde als werkelijk een product ontvangen.</a:t>
            </a:r>
          </a:p>
          <a:p xmlns:a="http://schemas.openxmlformats.org/drawingml/2006/main">
            <a:r>
              <a:rPr sz="1400"/>
              <a:t/>
            </a:r>
          </a:p>
          <a:p xmlns:a="http://schemas.openxmlformats.org/drawingml/2006/main">
            <a:r>
              <a:rPr sz="1400"/>
              <a:t>Overgang: Onderzoek dezelfde markt met een hogere maximumprijs.</a:t>
            </a:r>
          </a:p>
          <a:p xmlns:a="http://schemas.openxmlformats.org/drawingml/2006/main">
            <a:r>
              <a:rPr sz="1400"/>
              <a:t/>
            </a:r>
          </a:p>
          <a:p xmlns:a="http://schemas.openxmlformats.org/drawingml/2006/main">
            <a:r>
              <a:rPr sz="1400"/>
              <a:t>Bron: Boek 3, actuele books34-v3-editie, gedrukte boekpagina 33–34.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vragen verkopers in ons model niet automatisch € 17?</a:t>
            </a:r>
          </a:p>
          <a:p xmlns:a="http://schemas.openxmlformats.org/drawingml/2006/main">
            <a:r>
              <a:rPr sz="1400"/>
              <a:t/>
            </a:r>
          </a:p>
          <a:p xmlns:a="http://schemas.openxmlformats.org/drawingml/2006/main">
            <a:r>
              <a:rPr sz="1400"/>
              <a:t>Uitleg: Dit is een apart alternatief: vervang de grens van 11 door 17. De vrije prijs 14 blijft toegestaan. Je vult dus niet automatisch 17 in de functies om werkelijke verkopen te vinden. Aanbod en vraag ontmoeten elkaar nog bij 40 en 14. De vergelijking gebruikt dezelfde markt.</a:t>
            </a:r>
          </a:p>
          <a:p xmlns:a="http://schemas.openxmlformats.org/drawingml/2006/main">
            <a:r>
              <a:rPr sz="1400"/>
              <a:t/>
            </a:r>
          </a:p>
          <a:p xmlns:a="http://schemas.openxmlformats.org/drawingml/2006/main">
            <a:r>
              <a:rPr sz="1400"/>
              <a:t>Misvatting: Een bovengrens verplicht verkopers niet om precies dat bedrag te vragen.</a:t>
            </a:r>
          </a:p>
          <a:p xmlns:a="http://schemas.openxmlformats.org/drawingml/2006/main">
            <a:r>
              <a:rPr sz="1400"/>
              <a:t/>
            </a:r>
          </a:p>
          <a:p xmlns:a="http://schemas.openxmlformats.org/drawingml/2006/main">
            <a:r>
              <a:rPr sz="1400"/>
              <a:t>Overgang: Controleer of de conclusie verandert wanneer de markt zelf verandert.</a:t>
            </a:r>
          </a:p>
          <a:p xmlns:a="http://schemas.openxmlformats.org/drawingml/2006/main">
            <a:r>
              <a:rPr sz="1400"/>
              <a:t/>
            </a:r>
          </a:p>
          <a:p xmlns:a="http://schemas.openxmlformats.org/drawingml/2006/main">
            <a:r>
              <a:rPr sz="1400"/>
              <a:t>Bron: Boek 3, actuele books34-v3-editie, gedrukte boekpagina 33–34.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dezelfde maximumprijs eerst niet en later wel bindend zijn?</a:t>
            </a:r>
          </a:p>
          <a:p xmlns:a="http://schemas.openxmlformats.org/drawingml/2006/main">
            <a:r>
              <a:rPr sz="1400"/>
              <a:t/>
            </a:r>
          </a:p>
          <a:p xmlns:a="http://schemas.openxmlformats.org/drawingml/2006/main">
            <a:r>
              <a:rPr sz="1400"/>
              <a:t>Uitleg: Aanvullend fictief scenario in het uitlegvoorbeeld: door meer vraag zou de nieuwe vrije prijs 20 worden. De nieuwe vraagfunctie is niet gegeven; bereken daarom geen nieuwe hoeveelheid. Scheid de marktverandering van de prijsregel: houd bij iedere vergelijking de juiste markt vast. Dit bereidt de vergelijkingsstap uit 33 voor zonder diens antwoord voor te doen.</a:t>
            </a:r>
          </a:p>
          <a:p xmlns:a="http://schemas.openxmlformats.org/drawingml/2006/main">
            <a:r>
              <a:rPr sz="1400"/>
              <a:t/>
            </a:r>
          </a:p>
          <a:p xmlns:a="http://schemas.openxmlformats.org/drawingml/2006/main">
            <a:r>
              <a:rPr sz="1400"/>
              <a:t>Misvatting: Binding hangt niet alleen af van het bedrag in de regeling.</a:t>
            </a:r>
          </a:p>
          <a:p xmlns:a="http://schemas.openxmlformats.org/drawingml/2006/main">
            <a:r>
              <a:rPr sz="1400"/>
              <a:t/>
            </a:r>
          </a:p>
          <a:p xmlns:a="http://schemas.openxmlformats.org/drawingml/2006/main">
            <a:r>
              <a:rPr sz="1400"/>
              <a:t>Overgang: Laat leerlingen kort zelf het onderscheid tussen vraag en verkoop toepassen.</a:t>
            </a:r>
          </a:p>
          <a:p xmlns:a="http://schemas.openxmlformats.org/drawingml/2006/main">
            <a:r>
              <a:rPr sz="1400"/>
              <a:t/>
            </a:r>
          </a:p>
          <a:p xmlns:a="http://schemas.openxmlformats.org/drawingml/2006/main">
            <a:r>
              <a:rPr sz="1400"/>
              <a:t>Bron: Boek 3, actuele books34-v3-editie, gedrukte boekpagina 33; oefentransfer p. 36.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maakt 28 de juiste hoeveelheid?</a:t>
            </a:r>
          </a:p>
          <a:p xmlns:a="http://schemas.openxmlformats.org/drawingml/2006/main">
            <a:r>
              <a:rPr sz="1400"/>
              <a:t/>
            </a:r>
          </a:p>
          <a:p xmlns:a="http://schemas.openxmlformats.org/drawingml/2006/main">
            <a:r>
              <a:rPr sz="1400"/>
              <a:t>Uitleg: Laat leerlingen eerst zelf antwoorden. Verwacht: Qa = 28 bepaalt hier de verkoop. Geen extra aanvoer en alle aangeboden bekers worden verkocht. Tekort = 52 − 28 = 24 bekers per week. Toon eventueel de vorige grafiek pas na hun poging. Dit is een korte begripscontrole op het voorbeeld, geen nieuwe huiswerkopgave.</a:t>
            </a:r>
          </a:p>
          <a:p xmlns:a="http://schemas.openxmlformats.org/drawingml/2006/main">
            <a:r>
              <a:rPr sz="1400"/>
              <a:t/>
            </a:r>
          </a:p>
          <a:p xmlns:a="http://schemas.openxmlformats.org/drawingml/2006/main">
            <a:r>
              <a:rPr sz="1400"/>
              <a:t>Misvatting: De gevraagde hoeveelheid is nog geen gerealiseerde transactie.</a:t>
            </a:r>
          </a:p>
          <a:p xmlns:a="http://schemas.openxmlformats.org/drawingml/2006/main">
            <a:r>
              <a:rPr sz="1400"/>
              <a:t/>
            </a:r>
          </a:p>
          <a:p xmlns:a="http://schemas.openxmlformats.org/drawingml/2006/main">
            <a:r>
              <a:rPr sz="1400"/>
              <a:t>Overgang: Keer terug naar het overzicht, laat start 29 opnieuw beantwoorden en begin begeleid oefenen.</a:t>
            </a:r>
          </a:p>
          <a:p xmlns:a="http://schemas.openxmlformats.org/drawingml/2006/main">
            <a:r>
              <a:rPr sz="1400"/>
              <a:t/>
            </a:r>
          </a:p>
          <a:p xmlns:a="http://schemas.openxmlformats.org/drawingml/2006/main">
            <a:r>
              <a:rPr sz="1400"/>
              <a:t>Bron: Boek 3, actuele books34-v3-editie, gedrukte boekpagina 33–34.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Uitlegvoorbeeld — niet uit het boek. Thermosbekers, functies en gegevens zijn voor deze les gemaakt. De boekpagina onderbouwt uitsluitend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nu zelf uitleggen?</a:t>
            </a:r>
          </a:p>
          <a:p xmlns:a="http://schemas.openxmlformats.org/drawingml/2006/main">
            <a:r>
              <a:rPr sz="1400"/>
              <a:t/>
            </a:r>
          </a:p>
          <a:p xmlns:a="http://schemas.openxmlformats.org/drawingml/2006/main">
            <a:r>
              <a:rPr sz="1400"/>
              <a:t>Uitleg: Laat dit overzicht staan tijdens oefenen. Start 28–29: boek p. 34. Basis 30–31: p. 35. Zelfstandig 32–33: p. 36. Doel 34: p. 37. Huiswerk is 30, 31, 32, 33 en 34 maken en nakijken. Bonus 35 en herhaling 36 zijn extra. Gebruik de gedrukte paginanummers van het complete boek; het hoofdstukbestand telt vier pagina's lager.</a:t>
            </a:r>
          </a:p>
          <a:p xmlns:a="http://schemas.openxmlformats.org/drawingml/2006/main">
            <a:r>
              <a:rPr sz="1400"/>
              <a:t/>
            </a:r>
          </a:p>
          <a:p xmlns:a="http://schemas.openxmlformats.org/drawingml/2006/main">
            <a:r>
              <a:rPr sz="1400"/>
              <a:t>Start 28 haalt vergelijking oplossen en een prijs afzonderlijk invullen op. Die techniek is eerder gebruikt in §3.1.1, boek p. 7–9. Geef bij vastlopen alleen de aanpak: stel V = A voor vrij evenwicht; vul bij een gegeven prijs diezelfde prijs in beide functies in. Start 29 is een eerste verkenning van een niet-bindende maximumprijs. Laat p. 32–33 lezen, vooral 'Een maximum is geen verplicht prijskaartje'. Vraag welke zin helpt, niet om vooraf beheerste kennis. Bij terugkeer vóór het basiswerk laat je 29 opnieuw beantwoorden en bespreek je het verschil tussen de toegestane bovengrens en de werkelijke prijs.</a:t>
            </a:r>
          </a:p>
          <a:p xmlns:a="http://schemas.openxmlformats.org/drawingml/2006/main">
            <a:r>
              <a:rPr sz="1400"/>
              <a:t/>
            </a:r>
          </a:p>
          <a:p xmlns:a="http://schemas.openxmlformats.org/drawingml/2006/main">
            <a:r>
              <a:rPr sz="1400"/>
              <a:t>Docentadvies: reserveer voorlopig twee lessen van 55 minuten met flexibele lesgrens; les 1 tot en met begeleiding, les 2 afronding begeleiding, zelfstandig werk en volledige doelbespreking. Dit is niet gemeten. Laat resterend werk zo nodig als huiswerk afronden. Zie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alleen voor feedback na eigen poging: 28a Q₀ = 40 producten per dag, P₀ = € 10 per product. 28b Qv = 50 en Qa = 20 producten per dag. 29: € 12 blijft toegestaan onder € 15.</a:t>
            </a:r>
          </a:p>
          <a:p xmlns:a="http://schemas.openxmlformats.org/drawingml/2006/main">
            <a:r>
              <a:rPr sz="1400"/>
              <a:t/>
            </a:r>
          </a:p>
          <a:p xmlns:a="http://schemas.openxmlformats.org/drawingml/2006/main">
            <a:r>
              <a:rPr sz="1400"/>
              <a:t>Misvatting: Opgave 29 is nieuwe inhoud en geen onaangekondigde beheersingstoets. Begeleide inoefening hoort bij de normale route.</a:t>
            </a:r>
          </a:p>
          <a:p xmlns:a="http://schemas.openxmlformats.org/drawingml/2006/main">
            <a:r>
              <a:rPr sz="1400"/>
              <a:t/>
            </a:r>
          </a:p>
          <a:p xmlns:a="http://schemas.openxmlformats.org/drawingml/2006/main">
            <a:r>
              <a:rPr sz="1400"/>
              <a:t>Overgang: Eerst 29 opnieuw proberen, daarna begeleid oefenen met 30–31.</a:t>
            </a:r>
          </a:p>
          <a:p xmlns:a="http://schemas.openxmlformats.org/drawingml/2006/main">
            <a:r>
              <a:rPr sz="1400"/>
              <a:t/>
            </a:r>
          </a:p>
          <a:p xmlns:a="http://schemas.openxmlformats.org/drawingml/2006/main">
            <a:r>
              <a:rPr sz="1400"/>
              <a:t>Bron: Boek 3, actuele books34-v3-editie, gedrukte boekpagina 32–37.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aanname gaat over aantallen, welke over wie een tent krijgt?</a:t>
            </a:r>
          </a:p>
          <a:p xmlns:a="http://schemas.openxmlformats.org/drawingml/2006/main">
            <a:r>
              <a:rPr sz="1400"/>
              <a:t/>
            </a:r>
          </a:p>
          <a:p xmlns:a="http://schemas.openxmlformats.org/drawingml/2006/main">
            <a:r>
              <a:rPr sz="1400"/>
              <a:t>Uitleg: Begin deze bespreking nadat leerlingen zelf de doelopgave hebben geprobeerd. Dit zijn de volledige oorspronkelijke context, functies, eenheden en aannames van opgave 34. Toon hierna eerst a–b, dan c met de basisgrafiek en daarna d–e. Pas daarna beginnen de antwoorden.</a:t>
            </a:r>
          </a:p>
          <a:p xmlns:a="http://schemas.openxmlformats.org/drawingml/2006/main">
            <a:r>
              <a:rPr sz="1400"/>
              <a:t/>
            </a:r>
          </a:p>
          <a:p xmlns:a="http://schemas.openxmlformats.org/drawingml/2006/main">
            <a:r>
              <a:rPr sz="1400"/>
              <a:t>Misvatting: Gebruik vanaf hier de tentenfuncties; de thermosbekers zijn afgesloten.</a:t>
            </a:r>
          </a:p>
          <a:p xmlns:a="http://schemas.openxmlformats.org/drawingml/2006/main">
            <a:r>
              <a:rPr sz="1400"/>
              <a:t/>
            </a:r>
          </a:p>
          <a:p xmlns:a="http://schemas.openxmlformats.org/drawingml/2006/main">
            <a:r>
              <a:rPr sz="1400"/>
              <a:t>Overgang: Toon deelvragen a en b.</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vier hoeveelheden vraagt b?</a:t>
            </a:r>
          </a:p>
          <a:p xmlns:a="http://schemas.openxmlformats.org/drawingml/2006/main">
            <a:r>
              <a:rPr sz="1400"/>
              <a:t/>
            </a:r>
          </a:p>
          <a:p xmlns:a="http://schemas.openxmlformats.org/drawingml/2006/main">
            <a:r>
              <a:rPr sz="1400"/>
              <a:t>Uitleg: Laat de twee volledige rekenvragen zien zonder uitkomsten. De gegevens staan op de vorige dia en in het boek. Leerlingen benoemen alleen de gevraagde grootheden. Er volgen nog drie deelvragen voor de uitwerking start.</a:t>
            </a:r>
          </a:p>
          <a:p xmlns:a="http://schemas.openxmlformats.org/drawingml/2006/main">
            <a:r>
              <a:rPr sz="1400"/>
              <a:t/>
            </a:r>
          </a:p>
          <a:p xmlns:a="http://schemas.openxmlformats.org/drawingml/2006/main">
            <a:r>
              <a:rPr sz="1400"/>
              <a:t>Misvatting: Sla de werkelijke verhuur of het tekort niet over.</a:t>
            </a:r>
          </a:p>
          <a:p xmlns:a="http://schemas.openxmlformats.org/drawingml/2006/main">
            <a:r>
              <a:rPr sz="1400"/>
              <a:t/>
            </a:r>
          </a:p>
          <a:p xmlns:a="http://schemas.openxmlformats.org/drawingml/2006/main">
            <a:r>
              <a:rPr sz="1400"/>
              <a:t>Overgang: Toon c met de oorspronkelijke basisgrafiek.</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markeringen vraagt c?</a:t>
            </a:r>
          </a:p>
          <a:p xmlns:a="http://schemas.openxmlformats.org/drawingml/2006/main">
            <a:r>
              <a:rPr sz="1400"/>
              <a:t/>
            </a:r>
          </a:p>
          <a:p xmlns:a="http://schemas.openxmlformats.org/drawingml/2006/main">
            <a:r>
              <a:rPr sz="1400"/>
              <a:t>Uitleg: Deze bewerkbare basisgrafiek bevat dezelfde oorspronkelijke V en A en hetzelfde bereik Q = 0 tot 160 als figuur 4. P loopt van 0 tot 24. De prijsgrens, hoeveelheden en tekort zijn nog niet ingevuld. De volledige vraag c is verdeeld over de zin boven de grafiek en de tekst rechts.</a:t>
            </a:r>
          </a:p>
          <a:p xmlns:a="http://schemas.openxmlformats.org/drawingml/2006/main">
            <a:r>
              <a:rPr sz="1400"/>
              <a:t/>
            </a:r>
          </a:p>
          <a:p xmlns:a="http://schemas.openxmlformats.org/drawingml/2006/main">
            <a:r>
              <a:rPr sz="1400"/>
              <a:t>Misvatting: De basisgrafiek bevat nog geen uitwerking.</a:t>
            </a:r>
          </a:p>
          <a:p xmlns:a="http://schemas.openxmlformats.org/drawingml/2006/main">
            <a:r>
              <a:rPr sz="1400"/>
              <a:t/>
            </a:r>
          </a:p>
          <a:p xmlns:a="http://schemas.openxmlformats.org/drawingml/2006/main">
            <a:r>
              <a:rPr sz="1400"/>
              <a:t>Overgang: Toon eerst ook d en e zonder oplossingen.</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bewering moet je bij d onderbouwen?</a:t>
            </a:r>
          </a:p>
          <a:p xmlns:a="http://schemas.openxmlformats.org/drawingml/2006/main">
            <a:r>
              <a:rPr sz="1400"/>
              <a:t/>
            </a:r>
          </a:p>
          <a:p xmlns:a="http://schemas.openxmlformats.org/drawingml/2006/main">
            <a:r>
              <a:rPr sz="1400"/>
              <a:t>Uitleg: Alle vijf deelvragen en de volledige context zijn nu zichtbaar geweest. Laat leerlingen hun eigen antwoorden gereedhouden voor vergelijking. Deel e is een alternatief scenario voor dezelfde oorspronkelijke tentenmarkt.</a:t>
            </a:r>
          </a:p>
          <a:p xmlns:a="http://schemas.openxmlformats.org/drawingml/2006/main">
            <a:r>
              <a:rPr sz="1400"/>
              <a:t/>
            </a:r>
          </a:p>
          <a:p xmlns:a="http://schemas.openxmlformats.org/drawingml/2006/main">
            <a:r>
              <a:rPr sz="1400"/>
              <a:t>Misvatting: Een mening over eerlijkheid vervangt hier de gevraagde onderbouwing met aantallen en toewijzing niet.</a:t>
            </a:r>
          </a:p>
          <a:p xmlns:a="http://schemas.openxmlformats.org/drawingml/2006/main">
            <a:r>
              <a:rPr sz="1400"/>
              <a:t/>
            </a:r>
          </a:p>
          <a:p xmlns:a="http://schemas.openxmlformats.org/drawingml/2006/main">
            <a:r>
              <a:rPr sz="1400"/>
              <a:t>Overgang: Begin nu pas de stapsgewijze antwoorden met a.</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bewijst dat de maximumprijs bindt?</a:t>
            </a:r>
          </a:p>
          <a:p xmlns:a="http://schemas.openxmlformats.org/drawingml/2006/main">
            <a:r>
              <a:rPr sz="1400"/>
              <a:t/>
            </a:r>
          </a:p>
          <a:p xmlns:a="http://schemas.openxmlformats.org/drawingml/2006/main">
            <a:r>
              <a:rPr sz="1400"/>
              <a:t>Uitleg: Werk a volledig uit. Bij vrij evenwicht stel je V en A gelijk. Deel 12 door 0,20, vul 60 in en controleer in de andere functie. P is huur per tent voor één weekend. De vrije huur 12 wordt door de bovengrens 10 verboden.</a:t>
            </a:r>
          </a:p>
          <a:p xmlns:a="http://schemas.openxmlformats.org/drawingml/2006/main">
            <a:r>
              <a:rPr sz="1400"/>
              <a:t/>
            </a:r>
          </a:p>
          <a:p xmlns:a="http://schemas.openxmlformats.org/drawingml/2006/main">
            <a:r>
              <a:rPr sz="1400"/>
              <a:t>Misvatting: Vergelijk met P₀, niet met het prijsintercept 18 of 6.</a:t>
            </a:r>
          </a:p>
          <a:p xmlns:a="http://schemas.openxmlformats.org/drawingml/2006/main">
            <a:r>
              <a:rPr sz="1400"/>
              <a:t/>
            </a:r>
          </a:p>
          <a:p xmlns:a="http://schemas.openxmlformats.org/drawingml/2006/main">
            <a:r>
              <a:rPr sz="1400"/>
              <a:t>Overgang: Bereken beide gewenste hoeveelheden bij 10.</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voor vraag 80 en voor aanbod 40?</a:t>
            </a:r>
          </a:p>
          <a:p xmlns:a="http://schemas.openxmlformats.org/drawingml/2006/main">
            <a:r>
              <a:rPr sz="1400"/>
              <a:t/>
            </a:r>
          </a:p>
          <a:p xmlns:a="http://schemas.openxmlformats.org/drawingml/2006/main">
            <a:r>
              <a:rPr sz="1400"/>
              <a:t>Uitleg: Herhaal de afzonderlijke vergelijkingen en deel door 0,10. Beide berekeningen horen bij dezelfde huurprijs. Vraag en aanbod zijn wensen bij die prijs, niet allebei werkelijk verhuurde aantallen.</a:t>
            </a:r>
          </a:p>
          <a:p xmlns:a="http://schemas.openxmlformats.org/drawingml/2006/main">
            <a:r>
              <a:rPr sz="1400"/>
              <a:t/>
            </a:r>
          </a:p>
          <a:p xmlns:a="http://schemas.openxmlformats.org/drawingml/2006/main">
            <a:r>
              <a:rPr sz="1400"/>
              <a:t>Misvatting: De 60 uit het vrije evenwicht geldt niet meer bij de bindende maximumprijs.</a:t>
            </a:r>
          </a:p>
          <a:p xmlns:a="http://schemas.openxmlformats.org/drawingml/2006/main">
            <a:r>
              <a:rPr sz="1400"/>
              <a:t/>
            </a:r>
          </a:p>
          <a:p xmlns:a="http://schemas.openxmlformats.org/drawingml/2006/main">
            <a:r>
              <a:rPr sz="1400"/>
              <a:t>Overgang: Beantwoord nu ook de werkelijke verhuur en het tekort uit b.</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het verschil tussen de twee getallen 40?</a:t>
            </a:r>
          </a:p>
          <a:p xmlns:a="http://schemas.openxmlformats.org/drawingml/2006/main">
            <a:r>
              <a:rPr sz="1400"/>
              <a:t/>
            </a:r>
          </a:p>
          <a:p xmlns:a="http://schemas.openxmlformats.org/drawingml/2006/main">
            <a:r>
              <a:rPr sz="1400"/>
              <a:t>Uitleg: Van de 80 gewenste verhuringen kunnen er 40 doorgaan. De twee uitkomsten zijn toevallig beide 40, maar hebben een andere betekenis. Noem de aanname die verkopen = Qa rechtvaardigt. De vraag gaat over tenten per weekend, geen bedrag.</a:t>
            </a:r>
          </a:p>
          <a:p xmlns:a="http://schemas.openxmlformats.org/drawingml/2006/main">
            <a:r>
              <a:rPr sz="1400"/>
              <a:t/>
            </a:r>
          </a:p>
          <a:p xmlns:a="http://schemas.openxmlformats.org/drawingml/2006/main">
            <a:r>
              <a:rPr sz="1400"/>
              <a:t>Misvatting: Een tekort van 40 is geen extra aanbod en geen omzet.</a:t>
            </a:r>
          </a:p>
          <a:p xmlns:a="http://schemas.openxmlformats.org/drawingml/2006/main">
            <a:r>
              <a:rPr sz="1400"/>
              <a:t/>
            </a:r>
          </a:p>
          <a:p xmlns:a="http://schemas.openxmlformats.org/drawingml/2006/main">
            <a:r>
              <a:rPr sz="1400"/>
              <a:t>Overgang: Verbind de berekeningen met de grafiek voor c.</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laat je zien dat werkelijke verhuur en Qa hier samenvallen?</a:t>
            </a:r>
          </a:p>
          <a:p xmlns:a="http://schemas.openxmlformats.org/drawingml/2006/main">
            <a:r>
              <a:rPr sz="1400"/>
              <a:t/>
            </a:r>
          </a:p>
          <a:p xmlns:a="http://schemas.openxmlformats.org/drawingml/2006/main">
            <a:r>
              <a:rPr sz="1400"/>
              <a:t>Uitleg: Teken Pmax horizontaal op 10. Het snijpunt op A is (40;10); op V (80;10). Daal naar de Q-as. Benoem Qa = 40 daarnaast als werkelijke verhuringen. Het dikke horizontale stuk van 40 tot 80 bij P = 10 markeert het tekort van 40 tenten per weekend. Vergelijk de exacte lijnvergelijkingen met de berekeningen van b.</a:t>
            </a:r>
          </a:p>
          <a:p xmlns:a="http://schemas.openxmlformats.org/drawingml/2006/main">
            <a:r>
              <a:rPr sz="1400"/>
              <a:t/>
            </a:r>
          </a:p>
          <a:p xmlns:a="http://schemas.openxmlformats.org/drawingml/2006/main">
            <a:r>
              <a:rPr sz="1400"/>
              <a:t>Misvatting: Markeer geen verticale wig en verschuif de aanbodlijn niet.</a:t>
            </a:r>
          </a:p>
          <a:p xmlns:a="http://schemas.openxmlformats.org/drawingml/2006/main">
            <a:r>
              <a:rPr sz="1400"/>
              <a:t/>
            </a:r>
          </a:p>
          <a:p xmlns:a="http://schemas.openxmlformats.org/drawingml/2006/main">
            <a:r>
              <a:rPr sz="1400"/>
              <a:t>Overgang: Gebruik de uitkomsten om de bewering van de huurder te beoordelen.</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in de uitspraak maken haar te algemeen?</a:t>
            </a:r>
          </a:p>
          <a:p xmlns:a="http://schemas.openxmlformats.org/drawingml/2006/main">
            <a:r>
              <a:rPr sz="1400"/>
              <a:t/>
            </a:r>
          </a:p>
          <a:p xmlns:a="http://schemas.openxmlformats.org/drawingml/2006/main">
            <a:r>
              <a:rPr sz="1400"/>
              <a:t>Uitleg: Gebruik de aantallen uit b én de gegeven toewijzingsregel. Alleen de 40 vragers met de hoogste betalingsbereidheid krijgen een tent. Voor hen daalt de huur; 40 andere gewenste aankopen blijven onvervuld. De algemene uitspraak over iedereen is dus onjuist. Beoordeel geen volledige maatschappelijke welvaart of rechtvaardigheid: dat vraagt andere informatie of criteria.</a:t>
            </a:r>
          </a:p>
          <a:p xmlns:a="http://schemas.openxmlformats.org/drawingml/2006/main">
            <a:r>
              <a:rPr sz="1400"/>
              <a:t/>
            </a:r>
          </a:p>
          <a:p xmlns:a="http://schemas.openxmlformats.org/drawingml/2006/main">
            <a:r>
              <a:rPr sz="1400"/>
              <a:t>Misvatting: Een prijsdaling voor daadwerkelijke huurders betekent niet dat alle geïnteresseerden profiteren.</a:t>
            </a:r>
          </a:p>
          <a:p xmlns:a="http://schemas.openxmlformats.org/drawingml/2006/main">
            <a:r>
              <a:rPr sz="1400"/>
              <a:t/>
            </a:r>
          </a:p>
          <a:p xmlns:a="http://schemas.openxmlformats.org/drawingml/2006/main">
            <a:r>
              <a:rPr sz="1400"/>
              <a:t>Overgang: Vervang de bovengrens door 14 voor e.</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uitkomst uit a kun je hier hergebruiken?</a:t>
            </a:r>
          </a:p>
          <a:p xmlns:a="http://schemas.openxmlformats.org/drawingml/2006/main">
            <a:r>
              <a:rPr sz="1400"/>
              <a:t/>
            </a:r>
          </a:p>
          <a:p xmlns:a="http://schemas.openxmlformats.org/drawingml/2006/main">
            <a:r>
              <a:rPr sz="1400"/>
              <a:t>Uitleg: Neem opnieuw de oorspronkelijke vrije uitkomst uit a: 60 tenten bij 12. De grens van 14 laat dat toe. Daarom blijft de werkelijke huur 12 en de verhuur 60. Vul niet automatisch 14 in beide functies om nieuwe transacties te bepalen. Laat leerlingen één ontbrekende berekening, eenheid of reden in a–e verbeteren.</a:t>
            </a:r>
          </a:p>
          <a:p xmlns:a="http://schemas.openxmlformats.org/drawingml/2006/main">
            <a:r>
              <a:rPr sz="1400"/>
              <a:t/>
            </a:r>
          </a:p>
          <a:p xmlns:a="http://schemas.openxmlformats.org/drawingml/2006/main">
            <a:r>
              <a:rPr sz="1400"/>
              <a:t>Misvatting: De huur stijgt niet naar 14 alleen omdat dit bedrag toegestaan is.</a:t>
            </a:r>
          </a:p>
          <a:p xmlns:a="http://schemas.openxmlformats.org/drawingml/2006/main">
            <a:r>
              <a:rPr sz="1400"/>
              <a:t/>
            </a:r>
          </a:p>
          <a:p xmlns:a="http://schemas.openxmlformats.org/drawingml/2006/main">
            <a:r>
              <a:rPr sz="1400"/>
              <a:t>Overgang: Sluit af met hetzelfde overzicht en noteer het huiswerk.</a:t>
            </a:r>
          </a:p>
          <a:p xmlns:a="http://schemas.openxmlformats.org/drawingml/2006/main">
            <a:r>
              <a:rPr sz="1400"/>
              <a:t/>
            </a:r>
          </a:p>
          <a:p xmlns:a="http://schemas.openxmlformats.org/drawingml/2006/main">
            <a:r>
              <a:rPr sz="1400"/>
              <a:t>Bron: Boek 3, actuele books34-v3-editie, gedrukte boekpagina 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nu zelf uitleggen?</a:t>
            </a:r>
          </a:p>
          <a:p xmlns:a="http://schemas.openxmlformats.org/drawingml/2006/main">
            <a:r>
              <a:rPr sz="1400"/>
              <a:t/>
            </a:r>
          </a:p>
          <a:p xmlns:a="http://schemas.openxmlformats.org/drawingml/2006/main">
            <a:r>
              <a:rPr sz="1400"/>
              <a:t>Uitleg: Laat dit overzicht staan tijdens afsluiting / huiswerk. Start 28–29: boek p. 34. Basis 30–31: p. 35. Zelfstandig 32–33: p. 36. Doel 34: p. 37. Huiswerk is 30, 31, 32, 33 en 34 maken en nakijken. Bonus 35 en herhaling 36 zijn extra. Gebruik de gedrukte paginanummers van het complete boek; het hoofdstukbestand telt vier pagina's lager.</a:t>
            </a:r>
          </a:p>
          <a:p xmlns:a="http://schemas.openxmlformats.org/drawingml/2006/main">
            <a:r>
              <a:rPr sz="1400"/>
              <a:t/>
            </a:r>
          </a:p>
          <a:p xmlns:a="http://schemas.openxmlformats.org/drawingml/2006/main">
            <a:r>
              <a:rPr sz="1400"/>
              <a:t>Start 28 haalt vergelijking oplossen en een prijs afzonderlijk invullen op. Die techniek is eerder gebruikt in §3.1.1, boek p. 7–9. Geef bij vastlopen alleen de aanpak: stel V = A voor vrij evenwicht; vul bij een gegeven prijs diezelfde prijs in beide functies in. Start 29 is een eerste verkenning van een niet-bindende maximumprijs. Laat p. 32–33 lezen, vooral 'Een maximum is geen verplicht prijskaartje'. Vraag welke zin helpt, niet om vooraf beheerste kennis. Bij terugkeer vóór het basiswerk laat je 29 opnieuw beantwoorden en bespreek je het verschil tussen de toegestane bovengrens en de werkelijke prijs.</a:t>
            </a:r>
          </a:p>
          <a:p xmlns:a="http://schemas.openxmlformats.org/drawingml/2006/main">
            <a:r>
              <a:rPr sz="1400"/>
              <a:t/>
            </a:r>
          </a:p>
          <a:p xmlns:a="http://schemas.openxmlformats.org/drawingml/2006/main">
            <a:r>
              <a:rPr sz="1400"/>
              <a:t>Docentadvies: reserveer voorlopig twee lessen van 55 minuten met flexibele lesgrens; les 1 tot en met begeleiding, les 2 afronding begeleiding, zelfstandig werk en volledige doelbespreking. Dit is niet gemeten. Laat resterend werk zo nodig als huiswerk afronden. Zie https://github.com/meijer1973/4veco-lessen/blob/9b8304d5031cafac936a56281e144573a25fbbc9/edities/books34-v3/books/book-3/chapters/3.1/Docenteninformatie.md.</a:t>
            </a:r>
          </a:p>
          <a:p xmlns:a="http://schemas.openxmlformats.org/drawingml/2006/main">
            <a:r>
              <a:rPr sz="1400"/>
              <a:t/>
            </a:r>
          </a:p>
          <a:p xmlns:a="http://schemas.openxmlformats.org/drawingml/2006/main">
            <a:r>
              <a:rPr sz="1400"/>
              <a:t>Startantwoorden alleen voor feedback na eigen poging: 28a Q₀ = 40 producten per dag, P₀ = € 10 per product. 28b Qv = 50 en Qa = 20 producten per dag. 29: € 12 blijft toegestaan onder € 15.</a:t>
            </a:r>
          </a:p>
          <a:p xmlns:a="http://schemas.openxmlformats.org/drawingml/2006/main">
            <a:r>
              <a:rPr sz="1400"/>
              <a:t/>
            </a:r>
          </a:p>
          <a:p xmlns:a="http://schemas.openxmlformats.org/drawingml/2006/main">
            <a:r>
              <a:rPr sz="1400"/>
              <a:t>Misvatting: Opgave 29 is nieuwe inhoud en geen onaangekondigde beheersingstoets. Begeleide inoefening hoort bij de normale route.</a:t>
            </a:r>
          </a:p>
          <a:p xmlns:a="http://schemas.openxmlformats.org/drawingml/2006/main">
            <a:r>
              <a:rPr sz="1400"/>
              <a:t/>
            </a:r>
          </a:p>
          <a:p xmlns:a="http://schemas.openxmlformats.org/drawingml/2006/main">
            <a:r>
              <a:rPr sz="1400"/>
              <a:t>Overgang: Laat het huiswerk in de agenda noteren.</a:t>
            </a:r>
          </a:p>
          <a:p xmlns:a="http://schemas.openxmlformats.org/drawingml/2006/main">
            <a:r>
              <a:rPr sz="1400"/>
              <a:t/>
            </a:r>
          </a:p>
          <a:p xmlns:a="http://schemas.openxmlformats.org/drawingml/2006/main">
            <a:r>
              <a:rPr sz="1400"/>
              <a:t>Bron: Boek 3, actuele books34-v3-editie, gedrukte boekpagina 32–37. https://github.com/meijer1973/4veco-lessen/blob/9b8304d5031cafac936a56281e144573a25fbbc9/edities/books34-v3/books/book-3/output/Boek_3_Compleet_v3.pdf</a:t>
            </a:r>
          </a:p>
          <a:p xmlns:a="http://schemas.openxmlformats.org/drawingml/2006/main">
            <a:r>
              <a:rPr sz="1400"/>
              <a:t>Manuscript: https://github.com/meijer1973/4veco-lessen/blob/9b8304d5031cafac936a56281e144573a25fbbc9/edities/books34-v3/books/book-3/chapters/3.1/3.1.4%20manuscript.md</a:t>
            </a:r>
          </a:p>
          <a:p xmlns:a="http://schemas.openxmlformats.org/drawingml/2006/main">
            <a:r>
              <a:rPr sz="1400"/>
              <a:t>Antwoordmodel: https://github.com/meijer1973/4veco-lessen/blob/9b8304d5031cafac936a56281e144573a25fbbc9/edities/books34-v3/books/book-3/chapters/3.1/Antwoorden.md#ans34</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1676a8051a42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728251a6f74858" /><Relationship Type="http://schemas.openxmlformats.org/officeDocument/2006/relationships/slideLayout" Target="/ppt/slideLayouts/slideLayout1.xml" Id="R8751fdb308c540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51fdb308c540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9272e943204681" /><Relationship Type="http://schemas.openxmlformats.org/officeDocument/2006/relationships/notesSlide" Target="/ppt/notesSlides/notesSlide1.xml" Id="R42950057c68040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840d178cc84ec2" /><Relationship Type="http://schemas.openxmlformats.org/officeDocument/2006/relationships/notesSlide" Target="/ppt/notesSlides/notesSlide2.xml" Id="R87b95bf853a3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7429bba4ea452e" /><Relationship Type="http://schemas.openxmlformats.org/officeDocument/2006/relationships/notesSlide" Target="/ppt/notesSlides/notesSlide3.xml" Id="R0b4dcaa3e1e24b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140da907a841a9" /><Relationship Type="http://schemas.openxmlformats.org/officeDocument/2006/relationships/notesSlide" Target="/ppt/notesSlides/notesSlide4.xml" Id="R8b2a69ddbe814e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d2e5d1d4cd4246" /><Relationship Type="http://schemas.openxmlformats.org/officeDocument/2006/relationships/chart" Target="/ppt/slides/charts/chart1.xml" Id="R677480ada0664c64" /><Relationship Type="http://schemas.openxmlformats.org/officeDocument/2006/relationships/notesSlide" Target="/ppt/notesSlides/notesSlide5.xml" Id="Rbfdc0a5b290444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2b31ac7b994db3" /><Relationship Type="http://schemas.openxmlformats.org/officeDocument/2006/relationships/chart" Target="/ppt/slides/charts/chart2.xml" Id="Rc75fa9cb644744cb" /><Relationship Type="http://schemas.openxmlformats.org/officeDocument/2006/relationships/notesSlide" Target="/ppt/notesSlides/notesSlide6.xml" Id="Rc7e030b40ff04d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b3a4c940c149c1" /><Relationship Type="http://schemas.openxmlformats.org/officeDocument/2006/relationships/notesSlide" Target="/ppt/notesSlides/notesSlide7.xml" Id="R49a9e7c9b53b4a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936e81581443e9" /><Relationship Type="http://schemas.openxmlformats.org/officeDocument/2006/relationships/chart" Target="/ppt/slides/charts/chart3.xml" Id="R06916be4423d4854" /><Relationship Type="http://schemas.openxmlformats.org/officeDocument/2006/relationships/notesSlide" Target="/ppt/notesSlides/notesSlide8.xml" Id="Rf7d1f3fc7ae245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209f63ef4c4590" /><Relationship Type="http://schemas.openxmlformats.org/officeDocument/2006/relationships/notesSlide" Target="/ppt/notesSlides/notesSlide9.xml" Id="R60fb0a68faf54a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31ff73c02a451e" /><Relationship Type="http://schemas.openxmlformats.org/officeDocument/2006/relationships/notesSlide" Target="/ppt/notesSlides/notesSlide10.xml" Id="Rf62ab338c7cd48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4fd41b78cf4821" /><Relationship Type="http://schemas.openxmlformats.org/officeDocument/2006/relationships/notesSlide" Target="/ppt/notesSlides/notesSlide11.xml" Id="Rad1692e77f6045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1778b27a7f40e7" /><Relationship Type="http://schemas.openxmlformats.org/officeDocument/2006/relationships/notesSlide" Target="/ppt/notesSlides/notesSlide12.xml" Id="R346980d62ff94c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e6b2c930004eef" /><Relationship Type="http://schemas.openxmlformats.org/officeDocument/2006/relationships/notesSlide" Target="/ppt/notesSlides/notesSlide13.xml" Id="R6e3eab16d40442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532962c17d44ed" /><Relationship Type="http://schemas.openxmlformats.org/officeDocument/2006/relationships/notesSlide" Target="/ppt/notesSlides/notesSlide14.xml" Id="R511ecb45afc746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702fe7505ce41ed" /><Relationship Type="http://schemas.openxmlformats.org/officeDocument/2006/relationships/notesSlide" Target="/ppt/notesSlides/notesSlide15.xml" Id="R99f9e10c0da849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b802996fc746c9" /><Relationship Type="http://schemas.openxmlformats.org/officeDocument/2006/relationships/chart" Target="/ppt/slides/charts/chart4.xml" Id="R31978306b77946b7" /><Relationship Type="http://schemas.openxmlformats.org/officeDocument/2006/relationships/notesSlide" Target="/ppt/notesSlides/notesSlide16.xml" Id="R876d51507c4441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b4b69857534b89" /><Relationship Type="http://schemas.openxmlformats.org/officeDocument/2006/relationships/notesSlide" Target="/ppt/notesSlides/notesSlide17.xml" Id="Rd833c15180cf4d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bfbe895f334c42" /><Relationship Type="http://schemas.openxmlformats.org/officeDocument/2006/relationships/notesSlide" Target="/ppt/notesSlides/notesSlide18.xml" Id="R6bffef28c66545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ff8826c1ae4b7f" /><Relationship Type="http://schemas.openxmlformats.org/officeDocument/2006/relationships/notesSlide" Target="/ppt/notesSlides/notesSlide19.xml" Id="R3aadb179d5ae43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fb94a2058484fd0" /><Relationship Type="http://schemas.openxmlformats.org/officeDocument/2006/relationships/notesSlide" Target="/ppt/notesSlides/notesSlide20.xml" Id="R3cd72e7b3e2247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9a37c1e1fff4a73" /><Relationship Type="http://schemas.openxmlformats.org/officeDocument/2006/relationships/chart" Target="/ppt/slides/charts/chart5.xml" Id="R203eff7ff24b4a63" /><Relationship Type="http://schemas.openxmlformats.org/officeDocument/2006/relationships/notesSlide" Target="/ppt/notesSlides/notesSlide21.xml" Id="Ra1c1d676283e40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01ace0aab7a4085" /><Relationship Type="http://schemas.openxmlformats.org/officeDocument/2006/relationships/notesSlide" Target="/ppt/notesSlides/notesSlide22.xml" Id="R29d625a1077d41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ea76e5dfb5d46b3" /><Relationship Type="http://schemas.openxmlformats.org/officeDocument/2006/relationships/notesSlide" Target="/ppt/notesSlides/notesSlide23.xml" Id="Rbd4c92b05f6544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b3bd65a8785403b" /><Relationship Type="http://schemas.openxmlformats.org/officeDocument/2006/relationships/notesSlide" Target="/ppt/notesSlides/notesSlide24.xml" Id="R5e2b2eddf8db40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Data'!$A$2:$A$4</c:f>
              <c:numCache>
                <c:formatCode>General</c:formatCode>
                <c:ptCount val="3"/>
                <c:pt idx="0">
                  <c:v>0</c:v>
                </c:pt>
                <c:pt idx="1">
                  <c:v>70</c:v>
                </c:pt>
                <c:pt idx="2">
                  <c:v>80</c:v>
                </c:pt>
              </c:numCache>
            </c:numRef>
          </c:xVal>
          <c:yVal>
            <c:numRef>
              <c:f>'Chart Data'!$B$2:$B$4</c:f>
              <c:numCache>
                <c:formatCode>0</c:formatCode>
                <c:ptCount val="3"/>
                <c:pt idx="0">
                  <c:v>24</c:v>
                </c:pt>
                <c:pt idx="1">
                  <c:v>6.5</c:v>
                </c:pt>
                <c:pt idx="2">
                  <c:v>4</c:v>
                </c:pt>
              </c:numCache>
            </c:numRef>
          </c:yVal>
        </c:ser>
        <c:ser>
          <c:idx val="1"/>
          <c:order val="1"/>
          <c:tx>
            <c:v>A</c:v>
          </c:tx>
          <c:spPr>
            <a:ln xmlns:a="http://schemas.openxmlformats.org/drawingml/2006/main" w="38100">
              <a:solidFill>
                <a:srgbClr val="20665B"/>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Data'!$C$2:$C$4</c:f>
              <c:numCache>
                <c:formatCode>General</c:formatCode>
                <c:ptCount val="3"/>
                <c:pt idx="0">
                  <c:v>0</c:v>
                </c:pt>
                <c:pt idx="1">
                  <c:v>70</c:v>
                </c:pt>
                <c:pt idx="2">
                  <c:v>80</c:v>
                </c:pt>
              </c:numCache>
            </c:numRef>
          </c:xVal>
          <c:yVal>
            <c:numRef>
              <c:f>'Chart Data'!$D$2:$D$4</c:f>
              <c:numCache>
                <c:formatCode>0</c:formatCode>
                <c:ptCount val="3"/>
                <c:pt idx="0">
                  <c:v>4</c:v>
                </c:pt>
                <c:pt idx="1">
                  <c:v>21.5</c:v>
                </c:pt>
                <c:pt idx="2">
                  <c:v>24</c:v>
                </c:pt>
              </c:numCache>
            </c:numRef>
          </c:yVal>
        </c:ser>
        <c:ser>
          <c:idx val="2"/>
          <c:order val="2"/>
          <c:tx>
            <c:v>Hulplijn P₀</c:v>
          </c:tx>
          <c:spPr>
            <a:ln xmlns:a="http://schemas.openxmlformats.org/drawingml/2006/main" w="19050">
              <a:solidFill>
                <a:srgbClr val="445B6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s>
          <c:xVal>
            <c:numRef>
              <c:f>'Chart Data'!$E$2:$E$3</c:f>
              <c:numCache>
                <c:formatCode>General</c:formatCode>
                <c:ptCount val="2"/>
                <c:pt idx="0">
                  <c:v>0</c:v>
                </c:pt>
                <c:pt idx="1">
                  <c:v>40</c:v>
                </c:pt>
              </c:numCache>
            </c:numRef>
          </c:xVal>
          <c:yVal>
            <c:numRef>
              <c:f>'Chart Data'!$F$2:$F$3</c:f>
              <c:numCache>
                <c:formatCode>0</c:formatCode>
                <c:ptCount val="2"/>
                <c:pt idx="0">
                  <c:v>14</c:v>
                </c:pt>
                <c:pt idx="1">
                  <c:v>14</c:v>
                </c:pt>
              </c:numCache>
            </c:numRef>
          </c:yVal>
        </c:ser>
        <c:ser>
          <c:idx val="3"/>
          <c:order val="3"/>
          <c:tx>
            <c:v>Hulplijn Q₀</c:v>
          </c:tx>
          <c:spPr>
            <a:ln xmlns:a="http://schemas.openxmlformats.org/drawingml/2006/main" w="19050">
              <a:solidFill>
                <a:srgbClr val="445B6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s>
          <c:xVal>
            <c:numRef>
              <c:f>'Chart Data'!$G$2:$G$3</c:f>
              <c:numCache>
                <c:formatCode>General</c:formatCode>
                <c:ptCount val="2"/>
                <c:pt idx="0">
                  <c:v>40</c:v>
                </c:pt>
                <c:pt idx="1">
                  <c:v>40</c:v>
                </c:pt>
              </c:numCache>
            </c:numRef>
          </c:xVal>
          <c:yVal>
            <c:numRef>
              <c:f>'Chart Data'!$H$2:$H$3</c:f>
              <c:numCache>
                <c:formatCode>0</c:formatCode>
                <c:ptCount val="2"/>
                <c:pt idx="0">
                  <c:v>0</c:v>
                </c:pt>
                <c:pt idx="1">
                  <c:v>14</c:v>
                </c:pt>
              </c:numCache>
            </c:numRef>
          </c:yVal>
        </c:ser>
        <c:ser>
          <c:idx val="4"/>
          <c:order val="4"/>
          <c:tx>
            <c:v>E₀</c:v>
          </c:tx>
          <c:spPr>
            <a:ln xmlns:a="http://schemas.openxmlformats.org/drawingml/2006/main" w="0">
              <a:solidFill>
                <a:srgbClr val="183247"/>
              </a:solidFill>
              <a:prstDash val="solid"/>
            </a:ln>
          </c:spPr>
          <c:marker>
            <c:symbol val="circl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40</c:v>
                </c:pt>
              </c:numCache>
            </c:numRef>
          </c:xVal>
          <c:yVal>
            <c:numRef>
              <c:f>'Chart Data'!$J$2:$J$2</c:f>
              <c:numCache>
                <c:formatCode>0</c:formatCode>
                <c:ptCount val="1"/>
                <c:pt idx="0">
                  <c:v>14</c:v>
                </c:pt>
              </c:numCache>
            </c:numRef>
          </c:yVal>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beker)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(thermosbekers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Data'!$A$2:$A$4</c:f>
              <c:numCache>
                <c:formatCode>General</c:formatCode>
                <c:ptCount val="3"/>
                <c:pt idx="0">
                  <c:v>0</c:v>
                </c:pt>
                <c:pt idx="1">
                  <c:v>70</c:v>
                </c:pt>
                <c:pt idx="2">
                  <c:v>80</c:v>
                </c:pt>
              </c:numCache>
            </c:numRef>
          </c:xVal>
          <c:yVal>
            <c:numRef>
              <c:f>'Chart Data'!$B$2:$B$4</c:f>
              <c:numCache>
                <c:formatCode>0</c:formatCode>
                <c:ptCount val="3"/>
                <c:pt idx="0">
                  <c:v>24</c:v>
                </c:pt>
                <c:pt idx="1">
                  <c:v>6.5</c:v>
                </c:pt>
                <c:pt idx="2">
                  <c:v>4</c:v>
                </c:pt>
              </c:numCache>
            </c:numRef>
          </c:yVal>
        </c:ser>
        <c:ser>
          <c:idx val="1"/>
          <c:order val="1"/>
          <c:tx>
            <c:v>A</c:v>
          </c:tx>
          <c:spPr>
            <a:ln xmlns:a="http://schemas.openxmlformats.org/drawingml/2006/main" w="38100">
              <a:solidFill>
                <a:srgbClr val="20665B"/>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Data'!$C$2:$C$4</c:f>
              <c:numCache>
                <c:formatCode>General</c:formatCode>
                <c:ptCount val="3"/>
                <c:pt idx="0">
                  <c:v>0</c:v>
                </c:pt>
                <c:pt idx="1">
                  <c:v>70</c:v>
                </c:pt>
                <c:pt idx="2">
                  <c:v>80</c:v>
                </c:pt>
              </c:numCache>
            </c:numRef>
          </c:xVal>
          <c:yVal>
            <c:numRef>
              <c:f>'Chart Data'!$D$2:$D$4</c:f>
              <c:numCache>
                <c:formatCode>0</c:formatCode>
                <c:ptCount val="3"/>
                <c:pt idx="0">
                  <c:v>4</c:v>
                </c:pt>
                <c:pt idx="1">
                  <c:v>21.5</c:v>
                </c:pt>
                <c:pt idx="2">
                  <c:v>24</c:v>
                </c:pt>
              </c:numCache>
            </c:numRef>
          </c:yVal>
        </c:ser>
        <c:ser>
          <c:idx val="2"/>
          <c:order val="2"/>
          <c:tx>
            <c:v>Hulplijn P₀</c:v>
          </c:tx>
          <c:spPr>
            <a:ln xmlns:a="http://schemas.openxmlformats.org/drawingml/2006/main" w="19050">
              <a:solidFill>
                <a:srgbClr val="445B6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s>
          <c:xVal>
            <c:numRef>
              <c:f>'Chart Data'!$E$2:$E$3</c:f>
              <c:numCache>
                <c:formatCode>General</c:formatCode>
                <c:ptCount val="2"/>
                <c:pt idx="0">
                  <c:v>0</c:v>
                </c:pt>
                <c:pt idx="1">
                  <c:v>40</c:v>
                </c:pt>
              </c:numCache>
            </c:numRef>
          </c:xVal>
          <c:yVal>
            <c:numRef>
              <c:f>'Chart Data'!$F$2:$F$3</c:f>
              <c:numCache>
                <c:formatCode>0</c:formatCode>
                <c:ptCount val="2"/>
                <c:pt idx="0">
                  <c:v>14</c:v>
                </c:pt>
                <c:pt idx="1">
                  <c:v>14</c:v>
                </c:pt>
              </c:numCache>
            </c:numRef>
          </c:yVal>
        </c:ser>
        <c:ser>
          <c:idx val="3"/>
          <c:order val="3"/>
          <c:tx>
            <c:v>Hulplijn Q₀</c:v>
          </c:tx>
          <c:spPr>
            <a:ln xmlns:a="http://schemas.openxmlformats.org/drawingml/2006/main" w="19050">
              <a:solidFill>
                <a:srgbClr val="445B6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dLblPos val="t"/>
              <c:showLegendKey val="0"/>
              <c:showVal val="0"/>
              <c:showCatName val="0"/>
              <c:showSerName val="0"/>
              <c:showPercent val="0"/>
              <c:showBubbleSize val="0"/>
            </c:dLbl>
          </c:dLbls>
          <c:xVal>
            <c:numRef>
              <c:f>'Chart Data'!$G$2:$G$3</c:f>
              <c:numCache>
                <c:formatCode>General</c:formatCode>
                <c:ptCount val="2"/>
                <c:pt idx="0">
                  <c:v>40</c:v>
                </c:pt>
                <c:pt idx="1">
                  <c:v>40</c:v>
                </c:pt>
              </c:numCache>
            </c:numRef>
          </c:xVal>
          <c:yVal>
            <c:numRef>
              <c:f>'Chart Data'!$H$2:$H$3</c:f>
              <c:numCache>
                <c:formatCode>0</c:formatCode>
                <c:ptCount val="2"/>
                <c:pt idx="0">
                  <c:v>0</c:v>
                </c:pt>
                <c:pt idx="1">
                  <c:v>14</c:v>
                </c:pt>
              </c:numCache>
            </c:numRef>
          </c:yVal>
        </c:ser>
        <c:ser>
          <c:idx val="4"/>
          <c:order val="4"/>
          <c:tx>
            <c:v>E₀</c:v>
          </c:tx>
          <c:spPr>
            <a:ln xmlns:a="http://schemas.openxmlformats.org/drawingml/2006/main" w="0">
              <a:solidFill>
                <a:srgbClr val="183247"/>
              </a:solidFill>
              <a:prstDash val="solid"/>
            </a:ln>
          </c:spPr>
          <c:marker>
            <c:symbol val="circl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dLblPos val="t"/>
              <c:showLegendKey val="0"/>
              <c:showVal val="0"/>
              <c:showCatName val="0"/>
              <c:showSerName val="0"/>
              <c:showPercent val="0"/>
              <c:showBubbleSize val="0"/>
            </c:dLbl>
          </c:dLbls>
          <c:xVal>
            <c:numRef>
              <c:f>'Chart Data'!$I$2:$I$2</c:f>
              <c:numCache>
                <c:formatCode>General</c:formatCode>
                <c:ptCount val="1"/>
                <c:pt idx="0">
                  <c:v>40</c:v>
                </c:pt>
              </c:numCache>
            </c:numRef>
          </c:xVal>
          <c:yVal>
            <c:numRef>
              <c:f>'Chart Data'!$J$2:$J$2</c:f>
              <c:numCache>
                <c:formatCode>0</c:formatCode>
                <c:ptCount val="1"/>
                <c:pt idx="0">
                  <c:v>14</c:v>
                </c:pt>
              </c:numCache>
            </c:numRef>
          </c:yVal>
        </c:ser>
        <c:ser>
          <c:idx val="5"/>
          <c:order val="5"/>
          <c:tx>
            <c:v>Maximumprijs</c:v>
          </c:tx>
          <c:spPr>
            <a:ln xmlns:a="http://schemas.openxmlformats.org/drawingml/2006/main" w="28575">
              <a:solidFill>
                <a:srgbClr val="A94D16"/>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Pmax = 11</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s>
          <c:xVal>
            <c:numRef>
              <c:f>'Chart Data'!$K$2:$K$3</c:f>
              <c:numCache>
                <c:formatCode>General</c:formatCode>
                <c:ptCount val="2"/>
                <c:pt idx="0">
                  <c:v>0</c:v>
                </c:pt>
                <c:pt idx="1">
                  <c:v>80</c:v>
                </c:pt>
              </c:numCache>
            </c:numRef>
          </c:xVal>
          <c:yVal>
            <c:numRef>
              <c:f>'Chart Data'!$L$2:$L$3</c:f>
              <c:numCache>
                <c:formatCode>0</c:formatCode>
                <c:ptCount val="2"/>
                <c:pt idx="0">
                  <c:v>11</c:v>
                </c:pt>
                <c:pt idx="1">
                  <c:v>11</c:v>
                </c:pt>
              </c:numCache>
            </c:numRef>
          </c:yVal>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beker)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(thermosbekers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Data'!$A$2:$A$4</c:f>
              <c:numCache>
                <c:formatCode>General</c:formatCode>
                <c:ptCount val="3"/>
                <c:pt idx="0">
                  <c:v>0</c:v>
                </c:pt>
                <c:pt idx="1">
                  <c:v>70</c:v>
                </c:pt>
                <c:pt idx="2">
                  <c:v>80</c:v>
                </c:pt>
              </c:numCache>
            </c:numRef>
          </c:xVal>
          <c:yVal>
            <c:numRef>
              <c:f>'Chart Data'!$B$2:$B$4</c:f>
              <c:numCache>
                <c:formatCode>0</c:formatCode>
                <c:ptCount val="3"/>
                <c:pt idx="0">
                  <c:v>24</c:v>
                </c:pt>
                <c:pt idx="1">
                  <c:v>6.5</c:v>
                </c:pt>
                <c:pt idx="2">
                  <c:v>4</c:v>
                </c:pt>
              </c:numCache>
            </c:numRef>
          </c:yVal>
        </c:ser>
        <c:ser>
          <c:idx val="1"/>
          <c:order val="1"/>
          <c:tx>
            <c:v>A</c:v>
          </c:tx>
          <c:spPr>
            <a:ln xmlns:a="http://schemas.openxmlformats.org/drawingml/2006/main" w="38100">
              <a:solidFill>
                <a:srgbClr val="20665B"/>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Data'!$C$2:$C$4</c:f>
              <c:numCache>
                <c:formatCode>General</c:formatCode>
                <c:ptCount val="3"/>
                <c:pt idx="0">
                  <c:v>0</c:v>
                </c:pt>
                <c:pt idx="1">
                  <c:v>70</c:v>
                </c:pt>
                <c:pt idx="2">
                  <c:v>80</c:v>
                </c:pt>
              </c:numCache>
            </c:numRef>
          </c:xVal>
          <c:yVal>
            <c:numRef>
              <c:f>'Chart Data'!$D$2:$D$4</c:f>
              <c:numCache>
                <c:formatCode>0</c:formatCode>
                <c:ptCount val="3"/>
                <c:pt idx="0">
                  <c:v>4</c:v>
                </c:pt>
                <c:pt idx="1">
                  <c:v>21.5</c:v>
                </c:pt>
                <c:pt idx="2">
                  <c:v>24</c:v>
                </c:pt>
              </c:numCache>
            </c:numRef>
          </c:yVal>
        </c:ser>
        <c:ser>
          <c:idx val="2"/>
          <c:order val="2"/>
          <c:tx>
            <c:v>Maximumprijs</c:v>
          </c:tx>
          <c:spPr>
            <a:ln xmlns:a="http://schemas.openxmlformats.org/drawingml/2006/main" w="28575">
              <a:solidFill>
                <a:srgbClr val="A94D16"/>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Pmax = 11</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s>
          <c:xVal>
            <c:numRef>
              <c:f>'Chart Data'!$E$2:$E$3</c:f>
              <c:numCache>
                <c:formatCode>General</c:formatCode>
                <c:ptCount val="2"/>
                <c:pt idx="0">
                  <c:v>0</c:v>
                </c:pt>
                <c:pt idx="1">
                  <c:v>80</c:v>
                </c:pt>
              </c:numCache>
            </c:numRef>
          </c:xVal>
          <c:yVal>
            <c:numRef>
              <c:f>'Chart Data'!$F$2:$F$3</c:f>
              <c:numCache>
                <c:formatCode>0</c:formatCode>
                <c:ptCount val="2"/>
                <c:pt idx="0">
                  <c:v>11</c:v>
                </c:pt>
                <c:pt idx="1">
                  <c:v>11</c:v>
                </c:pt>
              </c:numCache>
            </c:numRef>
          </c:yVal>
        </c:ser>
        <c:ser>
          <c:idx val="3"/>
          <c:order val="3"/>
          <c:tx>
            <c:v>Qa</c:v>
          </c:tx>
          <c:spPr>
            <a:ln xmlns:a="http://schemas.openxmlformats.org/drawingml/2006/main" w="19050">
              <a:solidFill>
                <a:srgbClr val="20665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Qa = 28</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Data'!$G$2:$G$3</c:f>
              <c:numCache>
                <c:formatCode>General</c:formatCode>
                <c:ptCount val="2"/>
                <c:pt idx="0">
                  <c:v>28</c:v>
                </c:pt>
                <c:pt idx="1">
                  <c:v>28</c:v>
                </c:pt>
              </c:numCache>
            </c:numRef>
          </c:xVal>
          <c:yVal>
            <c:numRef>
              <c:f>'Chart Data'!$H$2:$H$3</c:f>
              <c:numCache>
                <c:formatCode>0</c:formatCode>
                <c:ptCount val="2"/>
                <c:pt idx="0">
                  <c:v>0</c:v>
                </c:pt>
                <c:pt idx="1">
                  <c:v>11</c:v>
                </c:pt>
              </c:numCache>
            </c:numRef>
          </c:yVal>
        </c:ser>
        <c:ser>
          <c:idx val="4"/>
          <c:order val="4"/>
          <c:tx>
            <c:v>Qv</c:v>
          </c:tx>
          <c:spPr>
            <a:ln xmlns:a="http://schemas.openxmlformats.org/drawingml/2006/main" w="19050">
              <a:solidFill>
                <a:srgbClr val="1A5276"/>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Qv = 52</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Data'!$I$2:$I$3</c:f>
              <c:numCache>
                <c:formatCode>General</c:formatCode>
                <c:ptCount val="2"/>
                <c:pt idx="0">
                  <c:v>52</c:v>
                </c:pt>
                <c:pt idx="1">
                  <c:v>52</c:v>
                </c:pt>
              </c:numCache>
            </c:numRef>
          </c:xVal>
          <c:yVal>
            <c:numRef>
              <c:f>'Chart Data'!$J$2:$J$3</c:f>
              <c:numCache>
                <c:formatCode>0</c:formatCode>
                <c:ptCount val="2"/>
                <c:pt idx="0">
                  <c:v>0</c:v>
                </c:pt>
                <c:pt idx="1">
                  <c:v>11</c:v>
                </c:pt>
              </c:numCache>
            </c:numRef>
          </c:yVal>
        </c:ser>
        <c:ser>
          <c:idx val="5"/>
          <c:order val="5"/>
          <c:tx>
            <c:v>Tekort</c:v>
          </c:tx>
          <c:spPr>
            <a:ln xmlns:a="http://schemas.openxmlformats.org/drawingml/2006/main" w="66675">
              <a:solidFill>
                <a:srgbClr val="A94D1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s>
          <c:xVal>
            <c:numRef>
              <c:f>'Chart Data'!$K$2:$K$3</c:f>
              <c:numCache>
                <c:formatCode>General</c:formatCode>
                <c:ptCount val="2"/>
                <c:pt idx="0">
                  <c:v>28</c:v>
                </c:pt>
                <c:pt idx="1">
                  <c:v>52</c:v>
                </c:pt>
              </c:numCache>
            </c:numRef>
          </c:xVal>
          <c:yVal>
            <c:numRef>
              <c:f>'Chart Data'!$L$2:$L$3</c:f>
              <c:numCache>
                <c:formatCode>0</c:formatCode>
                <c:ptCount val="2"/>
                <c:pt idx="0">
                  <c:v>11</c:v>
                </c:pt>
                <c:pt idx="1">
                  <c:v>11</c:v>
                </c:pt>
              </c:numCache>
            </c:numRef>
          </c:yVal>
        </c:ser>
        <c:ser>
          <c:idx val="6"/>
          <c:order val="6"/>
          <c:tx>
            <c:v>Aanbod</c:v>
          </c:tx>
          <c:spPr>
            <a:ln xmlns:a="http://schemas.openxmlformats.org/drawingml/2006/main" w="0">
              <a:solidFill>
                <a:srgbClr val="20665B"/>
              </a:solidFill>
              <a:prstDash val="solid"/>
            </a:ln>
          </c:spPr>
          <c:marker>
            <c:symbol val="circle"/>
            <c:size val="8"/>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28</c:v>
                </c:pt>
              </c:numCache>
            </c:numRef>
          </c:xVal>
          <c:yVal>
            <c:numRef>
              <c:f>'Chart Data'!$N$2:$N$2</c:f>
              <c:numCache>
                <c:formatCode>0</c:formatCode>
                <c:ptCount val="1"/>
                <c:pt idx="0">
                  <c:v>11</c:v>
                </c:pt>
              </c:numCache>
            </c:numRef>
          </c:yVal>
        </c:ser>
        <c:ser>
          <c:idx val="7"/>
          <c:order val="7"/>
          <c:tx>
            <c:v>Vraag</c:v>
          </c:tx>
          <c:spPr>
            <a:ln xmlns:a="http://schemas.openxmlformats.org/drawingml/2006/main" w="0">
              <a:solidFill>
                <a:srgbClr val="1A5276"/>
              </a:solidFill>
              <a:prstDash val="solid"/>
            </a:ln>
          </c:spPr>
          <c:marker>
            <c:symbol val="circl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52</c:v>
                </c:pt>
              </c:numCache>
            </c:numRef>
          </c:xVal>
          <c:yVal>
            <c:numRef>
              <c:f>'Chart Data'!$P$2:$P$2</c:f>
              <c:numCache>
                <c:formatCode>0</c:formatCode>
                <c:ptCount val="1"/>
                <c:pt idx="0">
                  <c:v>11</c:v>
                </c:pt>
              </c:numCache>
            </c:numRef>
          </c:yVal>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beker)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(thermosbekers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Data'!$A$2:$A$4</c:f>
              <c:numCache>
                <c:formatCode>General</c:formatCode>
                <c:ptCount val="3"/>
                <c:pt idx="0">
                  <c:v>0</c:v>
                </c:pt>
                <c:pt idx="1">
                  <c:v>140</c:v>
                </c:pt>
                <c:pt idx="2">
                  <c:v>160</c:v>
                </c:pt>
              </c:numCache>
            </c:numRef>
          </c:xVal>
          <c:yVal>
            <c:numRef>
              <c:f>'Chart Data'!$B$2:$B$4</c:f>
              <c:numCache>
                <c:formatCode>0</c:formatCode>
                <c:ptCount val="3"/>
                <c:pt idx="0">
                  <c:v>18</c:v>
                </c:pt>
                <c:pt idx="1">
                  <c:v>4</c:v>
                </c:pt>
                <c:pt idx="2">
                  <c:v>2</c:v>
                </c:pt>
              </c:numCache>
            </c:numRef>
          </c:yVal>
        </c:ser>
        <c:ser>
          <c:idx val="1"/>
          <c:order val="1"/>
          <c:tx>
            <c:v>A</c:v>
          </c:tx>
          <c:spPr>
            <a:ln xmlns:a="http://schemas.openxmlformats.org/drawingml/2006/main" w="38100">
              <a:solidFill>
                <a:srgbClr val="20665B"/>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Data'!$C$2:$C$4</c:f>
              <c:numCache>
                <c:formatCode>General</c:formatCode>
                <c:ptCount val="3"/>
                <c:pt idx="0">
                  <c:v>0</c:v>
                </c:pt>
                <c:pt idx="1">
                  <c:v>140</c:v>
                </c:pt>
                <c:pt idx="2">
                  <c:v>160</c:v>
                </c:pt>
              </c:numCache>
            </c:numRef>
          </c:xVal>
          <c:yVal>
            <c:numRef>
              <c:f>'Chart Data'!$D$2:$D$4</c:f>
              <c:numCache>
                <c:formatCode>0</c:formatCode>
                <c:ptCount val="3"/>
                <c:pt idx="0">
                  <c:v>6</c:v>
                </c:pt>
                <c:pt idx="1">
                  <c:v>20</c:v>
                </c:pt>
                <c:pt idx="2">
                  <c:v>22</c:v>
                </c:pt>
              </c:numCache>
            </c:numRef>
          </c:yVal>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tent)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(tenten per weekend)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Data'!$A$2:$A$4</c:f>
              <c:numCache>
                <c:formatCode>General</c:formatCode>
                <c:ptCount val="3"/>
                <c:pt idx="0">
                  <c:v>0</c:v>
                </c:pt>
                <c:pt idx="1">
                  <c:v>140</c:v>
                </c:pt>
                <c:pt idx="2">
                  <c:v>160</c:v>
                </c:pt>
              </c:numCache>
            </c:numRef>
          </c:xVal>
          <c:yVal>
            <c:numRef>
              <c:f>'Chart Data'!$B$2:$B$4</c:f>
              <c:numCache>
                <c:formatCode>0</c:formatCode>
                <c:ptCount val="3"/>
                <c:pt idx="0">
                  <c:v>18</c:v>
                </c:pt>
                <c:pt idx="1">
                  <c:v>4</c:v>
                </c:pt>
                <c:pt idx="2">
                  <c:v>2</c:v>
                </c:pt>
              </c:numCache>
            </c:numRef>
          </c:yVal>
        </c:ser>
        <c:ser>
          <c:idx val="1"/>
          <c:order val="1"/>
          <c:tx>
            <c:v>A</c:v>
          </c:tx>
          <c:spPr>
            <a:ln xmlns:a="http://schemas.openxmlformats.org/drawingml/2006/main" w="38100">
              <a:solidFill>
                <a:srgbClr val="20665B"/>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Data'!$C$2:$C$4</c:f>
              <c:numCache>
                <c:formatCode>General</c:formatCode>
                <c:ptCount val="3"/>
                <c:pt idx="0">
                  <c:v>0</c:v>
                </c:pt>
                <c:pt idx="1">
                  <c:v>140</c:v>
                </c:pt>
                <c:pt idx="2">
                  <c:v>160</c:v>
                </c:pt>
              </c:numCache>
            </c:numRef>
          </c:xVal>
          <c:yVal>
            <c:numRef>
              <c:f>'Chart Data'!$D$2:$D$4</c:f>
              <c:numCache>
                <c:formatCode>0</c:formatCode>
                <c:ptCount val="3"/>
                <c:pt idx="0">
                  <c:v>6</c:v>
                </c:pt>
                <c:pt idx="1">
                  <c:v>20</c:v>
                </c:pt>
                <c:pt idx="2">
                  <c:v>22</c:v>
                </c:pt>
              </c:numCache>
            </c:numRef>
          </c:yVal>
        </c:ser>
        <c:ser>
          <c:idx val="2"/>
          <c:order val="2"/>
          <c:tx>
            <c:v>Maximumprijs</c:v>
          </c:tx>
          <c:spPr>
            <a:ln xmlns:a="http://schemas.openxmlformats.org/drawingml/2006/main" w="28575">
              <a:solidFill>
                <a:srgbClr val="A94D16"/>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Pmax = 10</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s>
          <c:xVal>
            <c:numRef>
              <c:f>'Chart Data'!$E$2:$E$3</c:f>
              <c:numCache>
                <c:formatCode>General</c:formatCode>
                <c:ptCount val="2"/>
                <c:pt idx="0">
                  <c:v>0</c:v>
                </c:pt>
                <c:pt idx="1">
                  <c:v>160</c:v>
                </c:pt>
              </c:numCache>
            </c:numRef>
          </c:xVal>
          <c:yVal>
            <c:numRef>
              <c:f>'Chart Data'!$F$2:$F$3</c:f>
              <c:numCache>
                <c:formatCode>0</c:formatCode>
                <c:ptCount val="2"/>
                <c:pt idx="0">
                  <c:v>10</c:v>
                </c:pt>
                <c:pt idx="1">
                  <c:v>10</c:v>
                </c:pt>
              </c:numCache>
            </c:numRef>
          </c:yVal>
        </c:ser>
        <c:ser>
          <c:idx val="3"/>
          <c:order val="3"/>
          <c:tx>
            <c:v>Qa</c:v>
          </c:tx>
          <c:spPr>
            <a:ln xmlns:a="http://schemas.openxmlformats.org/drawingml/2006/main" w="19050">
              <a:solidFill>
                <a:srgbClr val="20665B"/>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Qa = 40</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Data'!$G$2:$G$3</c:f>
              <c:numCache>
                <c:formatCode>General</c:formatCode>
                <c:ptCount val="2"/>
                <c:pt idx="0">
                  <c:v>40</c:v>
                </c:pt>
                <c:pt idx="1">
                  <c:v>40</c:v>
                </c:pt>
              </c:numCache>
            </c:numRef>
          </c:xVal>
          <c:yVal>
            <c:numRef>
              <c:f>'Chart Data'!$H$2:$H$3</c:f>
              <c:numCache>
                <c:formatCode>0</c:formatCode>
                <c:ptCount val="2"/>
                <c:pt idx="0">
                  <c:v>0</c:v>
                </c:pt>
                <c:pt idx="1">
                  <c:v>10</c:v>
                </c:pt>
              </c:numCache>
            </c:numRef>
          </c:yVal>
        </c:ser>
        <c:ser>
          <c:idx val="4"/>
          <c:order val="4"/>
          <c:tx>
            <c:v>Qv</c:v>
          </c:tx>
          <c:spPr>
            <a:ln xmlns:a="http://schemas.openxmlformats.org/drawingml/2006/main" w="19050">
              <a:solidFill>
                <a:srgbClr val="1A5276"/>
              </a:solidFill>
              <a:prstDash val="dash"/>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Qv = 80</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Data'!$I$2:$I$3</c:f>
              <c:numCache>
                <c:formatCode>General</c:formatCode>
                <c:ptCount val="2"/>
                <c:pt idx="0">
                  <c:v>80</c:v>
                </c:pt>
                <c:pt idx="1">
                  <c:v>80</c:v>
                </c:pt>
              </c:numCache>
            </c:numRef>
          </c:xVal>
          <c:yVal>
            <c:numRef>
              <c:f>'Chart Data'!$J$2:$J$3</c:f>
              <c:numCache>
                <c:formatCode>0</c:formatCode>
                <c:ptCount val="2"/>
                <c:pt idx="0">
                  <c:v>0</c:v>
                </c:pt>
                <c:pt idx="1">
                  <c:v>10</c:v>
                </c:pt>
              </c:numCache>
            </c:numRef>
          </c:yVal>
        </c:ser>
        <c:ser>
          <c:idx val="5"/>
          <c:order val="5"/>
          <c:tx>
            <c:v>Tekort</c:v>
          </c:tx>
          <c:spPr>
            <a:ln xmlns:a="http://schemas.openxmlformats.org/drawingml/2006/main" w="66675">
              <a:solidFill>
                <a:srgbClr val="A94D16"/>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dLblPos val="t"/>
              <c:showLegendKey val="0"/>
              <c:showVal val="0"/>
              <c:showCatName val="0"/>
              <c:showSerName val="0"/>
              <c:showPercent val="0"/>
              <c:showBubbleSize val="0"/>
            </c:dLbl>
          </c:dLbls>
          <c:xVal>
            <c:numRef>
              <c:f>'Chart Data'!$K$2:$K$3</c:f>
              <c:numCache>
                <c:formatCode>General</c:formatCode>
                <c:ptCount val="2"/>
                <c:pt idx="0">
                  <c:v>40</c:v>
                </c:pt>
                <c:pt idx="1">
                  <c:v>80</c:v>
                </c:pt>
              </c:numCache>
            </c:numRef>
          </c:xVal>
          <c:yVal>
            <c:numRef>
              <c:f>'Chart Data'!$L$2:$L$3</c:f>
              <c:numCache>
                <c:formatCode>0</c:formatCode>
                <c:ptCount val="2"/>
                <c:pt idx="0">
                  <c:v>10</c:v>
                </c:pt>
                <c:pt idx="1">
                  <c:v>10</c:v>
                </c:pt>
              </c:numCache>
            </c:numRef>
          </c:yVal>
        </c:ser>
        <c:ser>
          <c:idx val="6"/>
          <c:order val="6"/>
          <c:tx>
            <c:v>Aanbod</c:v>
          </c:tx>
          <c:spPr>
            <a:ln xmlns:a="http://schemas.openxmlformats.org/drawingml/2006/main" w="0">
              <a:solidFill>
                <a:srgbClr val="20665B"/>
              </a:solidFill>
              <a:prstDash val="solid"/>
            </a:ln>
          </c:spPr>
          <c:marker>
            <c:symbol val="circle"/>
            <c:size val="8"/>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1875" b="1">
                        <a:solidFill>
                          <a:srgbClr val="20665B"/>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20665B"/>
                      </a:solidFill>
                      <a:latin typeface="Arial"/>
                      <a:ea typeface="Arial"/>
                      <a:cs typeface="Arial"/>
                    </a:defRPr>
                  </a:pPr>
                </a:p>
              </c:txPr>
              <c:dLblPos val="t"/>
              <c:showLegendKey val="0"/>
              <c:showVal val="0"/>
              <c:showCatName val="0"/>
              <c:showSerName val="0"/>
              <c:showPercent val="0"/>
              <c:showBubbleSize val="0"/>
            </c:dLbl>
          </c:dLbls>
          <c:xVal>
            <c:numRef>
              <c:f>'Chart Data'!$M$2:$M$2</c:f>
              <c:numCache>
                <c:formatCode>General</c:formatCode>
                <c:ptCount val="1"/>
                <c:pt idx="0">
                  <c:v>40</c:v>
                </c:pt>
              </c:numCache>
            </c:numRef>
          </c:xVal>
          <c:yVal>
            <c:numRef>
              <c:f>'Chart Data'!$N$2:$N$2</c:f>
              <c:numCache>
                <c:formatCode>0</c:formatCode>
                <c:ptCount val="1"/>
                <c:pt idx="0">
                  <c:v>10</c:v>
                </c:pt>
              </c:numCache>
            </c:numRef>
          </c:yVal>
        </c:ser>
        <c:ser>
          <c:idx val="7"/>
          <c:order val="7"/>
          <c:tx>
            <c:v>Vraag</c:v>
          </c:tx>
          <c:spPr>
            <a:ln xmlns:a="http://schemas.openxmlformats.org/drawingml/2006/main" w="0">
              <a:solidFill>
                <a:srgbClr val="1A5276"/>
              </a:solidFill>
              <a:prstDash val="solid"/>
            </a:ln>
          </c:spPr>
          <c:marker>
            <c:symbol val="circl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 </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dLblPos val="t"/>
              <c:showLegendKey val="0"/>
              <c:showVal val="0"/>
              <c:showCatName val="0"/>
              <c:showSerName val="0"/>
              <c:showPercent val="0"/>
              <c:showBubbleSize val="0"/>
            </c:dLbl>
          </c:dLbls>
          <c:xVal>
            <c:numRef>
              <c:f>'Chart Data'!$O$2:$O$2</c:f>
              <c:numCache>
                <c:formatCode>General</c:formatCode>
                <c:ptCount val="1"/>
                <c:pt idx="0">
                  <c:v>80</c:v>
                </c:pt>
              </c:numCache>
            </c:numRef>
          </c:xVal>
          <c:yVal>
            <c:numRef>
              <c:f>'Chart Data'!$P$2:$P$2</c:f>
              <c:numCache>
                <c:formatCode>0</c:formatCode>
                <c:ptCount val="1"/>
                <c:pt idx="0">
                  <c:v>10</c:v>
                </c:pt>
              </c:numCache>
            </c:numRef>
          </c:yVal>
        </c:ser>
        <c:dLbls>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tent)</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5"/>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(tenten per weekend)</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4 Maximumprijs">
            <a:extLst xmlns:a="http://schemas.openxmlformats.org/drawingml/2006/main">
              <a:ext uri="{FF2B5EF4-FFF2-40B4-BE49-F238E27FC236}">
                <a16:creationId xmlns:a16="http://schemas.microsoft.com/office/drawing/2014/main" id="{B945B15C-1D82-480D-8F28-E4BA8EB253C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§3.1.4 Maximumprijs</a:t>
            </a:r>
          </a:p>
        </p:txBody>
      </p:sp>
      <p:sp>
        <p:nvSpPr>
          <p:cNvPr id="2" name="">
            <a:extLst xmlns:a="http://schemas.openxmlformats.org/drawingml/2006/main">
              <a:ext uri="{FF2B5EF4-FFF2-40B4-BE49-F238E27FC236}">
                <a16:creationId xmlns:a16="http://schemas.microsoft.com/office/drawing/2014/main" id="{E7FCD9F5-D0B8-4BAC-B666-1C63495F7B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6FDEE90-9AD7-4C6F-A296-3A3B2590B15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A20D249D-40C7-4915-B8A9-D390229C810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DA10AC3E-7401-4C6C-AB4B-4A86B0A7B06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A2BCEC72-4482-4E4A-B6B3-BC8E0FB9ADE9}"/>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140DB79-A472-4B47-B2C8-DE749827E22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0FAA2FD-AC17-4CD3-A662-85B86E57EFB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940E862-EA55-4B8D-88F3-E0E6CD46B2C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BAD57152-FF18-4A8D-9967-728A75203112}"/>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F35B4D7-31B5-4D79-840E-F17A6D9EF42C}"/>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B084133-17A9-4417-AC40-A7188A774A0B}"/>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34724D04-168E-40F1-8E3C-174A64A4DF55}"/>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9B0D9D1-9F65-4FF4-82F8-BE73822ACFAF}"/>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479E1E19-79A7-4948-8620-5B03997AD56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D8309588-A1C7-4915-B611-36990AEA5DE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A132F20-A1D9-4320-B9AC-8F3069FFAFE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1E3D346-F3AB-47B4-848A-F1EFC0AD1C0F}"/>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569A6F53-A8B6-4B94-9563-4E0063EDE092}"/>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D2994C7-0069-4B9A-BA51-B4B0BB126FA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0EED103-83D0-499E-8615-EFCB6FCDAE8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CA8CFBF-ECBC-4978-A149-622EAFBB391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Binding bepalen, hoeveelheden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 toegang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tot het product verklaren.</a:t>
            </a:r>
          </a:p>
        </p:txBody>
      </p:sp>
      <p:sp>
        <p:nvSpPr>
          <p:cNvPr id="23" name="">
            <a:extLst xmlns:a="http://schemas.openxmlformats.org/drawingml/2006/main">
              <a:ext uri="{FF2B5EF4-FFF2-40B4-BE49-F238E27FC236}">
                <a16:creationId xmlns:a16="http://schemas.microsoft.com/office/drawing/2014/main" id="{F674A666-84C4-4CDF-A545-9ECC5BEE86B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4A6CA9D-B618-4872-BE99-12E06B255401}"/>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3B9C6F2-3C6B-4EA3-B3E6-55438D9007C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34 · Opgaven 28 en 29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29: verkennen, theorie p. 32–33</a:t>
            </a:r>
          </a:p>
        </p:txBody>
      </p:sp>
      <p:sp>
        <p:nvSpPr>
          <p:cNvPr id="26" name="">
            <a:extLst xmlns:a="http://schemas.openxmlformats.org/drawingml/2006/main">
              <a:ext uri="{FF2B5EF4-FFF2-40B4-BE49-F238E27FC236}">
                <a16:creationId xmlns:a16="http://schemas.microsoft.com/office/drawing/2014/main" id="{B190A76D-99F4-4811-BF0A-5FDD3270C2B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FE9004E0-D9BA-49F2-B7DC-ECE8E6D1DF2C}"/>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67673F6-15A4-4188-9E62-1988DF7950E4}"/>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§3.1.4 Maximumprijs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53208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maximumprijs: de hoogste toegestane prijs">
            <a:extLst xmlns:a="http://schemas.openxmlformats.org/drawingml/2006/main">
              <a:ext uri="{FF2B5EF4-FFF2-40B4-BE49-F238E27FC236}">
                <a16:creationId xmlns:a16="http://schemas.microsoft.com/office/drawing/2014/main" id="{54A46A50-8A6F-419D-8BA9-3653ABBACED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maximumprijs: de hoogste toegestane prijs</a:t>
            </a:r>
          </a:p>
        </p:txBody>
      </p:sp>
      <p:sp>
        <p:nvSpPr>
          <p:cNvPr id="2" name="">
            <a:extLst xmlns:a="http://schemas.openxmlformats.org/drawingml/2006/main">
              <a:ext uri="{FF2B5EF4-FFF2-40B4-BE49-F238E27FC236}">
                <a16:creationId xmlns:a16="http://schemas.microsoft.com/office/drawing/2014/main" id="{FC2C449F-F461-4E06-88B8-82501CBBDE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4D9932E-50AE-49F9-97A1-0A59EE11B84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7159D336-5A42-4FD4-A85A-8B2EC6D296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Je vergelijkt de prijsgrens met het vrije evenwicht.">
            <a:extLst xmlns:a="http://schemas.openxmlformats.org/drawingml/2006/main">
              <a:ext uri="{FF2B5EF4-FFF2-40B4-BE49-F238E27FC236}">
                <a16:creationId xmlns:a16="http://schemas.microsoft.com/office/drawing/2014/main" id="{515E74D1-42B4-400A-AD04-BEA0D5AC6091}"/>
              </a:ext>
            </a:extLst>
          </p:cNvPr>
          <p:cNvSpPr>
            <a:spLocks xmlns:a="http://schemas.openxmlformats.org/drawingml/2006/main" noGrp="1"/>
          </p:cNvSpPr>
          <p:nvPr/>
        </p:nvSpPr>
        <p:spPr>
          <a:xfrm xmlns:a="http://schemas.openxmlformats.org/drawingml/2006/main">
            <a:off x="571500" y="1866900"/>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Je vergelijkt de prijsgrens met het vrije evenwicht.</a:t>
            </a:r>
          </a:p>
        </p:txBody>
      </p:sp>
      <p:graphicFrame>
        <p:nvGraphicFramePr>
          <p:cNvPr id="14" name=""/>
          <p:cNvGraphicFramePr/>
          <p:nvPr/>
        </p:nvGraphicFramePr>
        <p:xfrm>
          <a:off xmlns:a="http://schemas.openxmlformats.org/drawingml/2006/main" x="571500" y="3238500"/>
          <a:ext xmlns:a="http://schemas.openxmlformats.org/drawingml/2006/main" cx="14097000" cy="2476500"/>
        </p:xfrm>
        <a:graphic xmlns:a="http://schemas.openxmlformats.org/drawingml/2006/main">
          <a:graphicData uri="http://schemas.openxmlformats.org/drawingml/2006/table">
            <a:tbl>
              <a:tblPr/>
              <a:tblGrid>
                <a:gridCol w="4667250"/>
                <a:gridCol w="9429750"/>
              </a:tblGrid>
              <a:tr h="825500">
                <a:tc>
                  <a:txBody>
                    <a:bodyPr lIns="171450" tIns="85725" rIns="152400" bIns="85725"/>
                    <a:lstStyle/>
                    <a:p>
                      <a:r>
                        <a:rPr sz="2700" b="1">
                          <a:solidFill>
                            <a:srgbClr val="FFFFFF"/>
                          </a:solidFill>
                          <a:latin typeface="Arial"/>
                          <a:ea typeface="Arial"/>
                          <a:cs typeface="Arial"/>
                        </a:rPr>
                        <a:t>Prijsgrens</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Gevolg in ons model</a:t>
                      </a:r>
                    </a:p>
                  </a:txBody>
                  <a:tcPr marL="91440" marR="91440" marT="45720" marB="45720" anchor="ctr">
                    <a:solidFill>
                      <a:srgbClr val="183247"/>
                    </a:solidFill>
                  </a:tcPr>
                </a:tc>
              </a:tr>
              <a:tr h="825500">
                <a:tc>
                  <a:txBody>
                    <a:bodyPr lIns="171450" tIns="85725" rIns="152400" bIns="85725"/>
                    <a:lstStyle/>
                    <a:p>
                      <a:r>
                        <a:rPr sz="2700" b="0">
                          <a:solidFill>
                            <a:srgbClr val="183247"/>
                          </a:solidFill>
                          <a:latin typeface="Arial"/>
                          <a:ea typeface="Arial"/>
                          <a:cs typeface="Arial"/>
                        </a:rPr>
                        <a:t>Pmax &lt; P₀</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Bindend: de vrije prijs is verboden.</a:t>
                      </a:r>
                    </a:p>
                  </a:txBody>
                  <a:tcPr marL="91440" marR="91440" marT="45720" marB="45720" anchor="ctr">
                    <a:solidFill>
                      <a:srgbClr val="FFFFFF"/>
                    </a:solidFill>
                  </a:tcPr>
                </a:tc>
              </a:tr>
              <a:tr h="825500">
                <a:tc>
                  <a:txBody>
                    <a:bodyPr lIns="171450" tIns="85725" rIns="152400" bIns="85725"/>
                    <a:lstStyle/>
                    <a:p>
                      <a:r>
                        <a:rPr sz="2700" b="0">
                          <a:solidFill>
                            <a:srgbClr val="183247"/>
                          </a:solidFill>
                          <a:latin typeface="Arial"/>
                          <a:ea typeface="Arial"/>
                          <a:cs typeface="Arial"/>
                        </a:rPr>
                        <a:t>Pmax ≥ P₀</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Niet bindend: het vrije evenwicht blijft mogelijk.</a:t>
                      </a:r>
                    </a:p>
                  </a:txBody>
                  <a:tcPr marL="91440" marR="91440" marT="45720" marB="45720" anchor="ctr">
                    <a:solidFill>
                      <a:srgbClr val="EFF4F7"/>
                    </a:solidFill>
                  </a:tcPr>
                </a:tc>
              </a:tr>
            </a:tbl>
          </a:graphicData>
        </a:graphic>
      </p:graphicFrame>
      <p:sp>
        <p:nvSpPr>
          <p:cNvPr id="7" name="Daarna: Qv, Qa, werkelijke verkopen en het tekort.">
            <a:extLst xmlns:a="http://schemas.openxmlformats.org/drawingml/2006/main">
              <a:ext uri="{FF2B5EF4-FFF2-40B4-BE49-F238E27FC236}">
                <a16:creationId xmlns:a16="http://schemas.microsoft.com/office/drawing/2014/main" id="{ABFFC26F-A3D1-4955-B5BA-030B1F430894}"/>
              </a:ext>
            </a:extLst>
          </p:cNvPr>
          <p:cNvSpPr>
            <a:spLocks xmlns:a="http://schemas.openxmlformats.org/drawingml/2006/main" noGrp="1"/>
          </p:cNvSpPr>
          <p:nvPr/>
        </p:nvSpPr>
        <p:spPr>
          <a:xfrm xmlns:a="http://schemas.openxmlformats.org/drawingml/2006/main">
            <a:off x="571500" y="64103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Daarna: Qv, Qa, werkelijke verkopen en het tekort.</a:t>
            </a:r>
          </a:p>
        </p:txBody>
      </p:sp>
      <p:sp>
        <p:nvSpPr>
          <p:cNvPr id="8" name="Wie kan kopen? Dat hangt ook af van de toewijzing.">
            <a:extLst xmlns:a="http://schemas.openxmlformats.org/drawingml/2006/main">
              <a:ext uri="{FF2B5EF4-FFF2-40B4-BE49-F238E27FC236}">
                <a16:creationId xmlns:a16="http://schemas.microsoft.com/office/drawing/2014/main" id="{02F18263-8392-42A9-BE53-5BA2E841195C}"/>
              </a:ext>
            </a:extLst>
          </p:cNvPr>
          <p:cNvSpPr>
            <a:spLocks xmlns:a="http://schemas.openxmlformats.org/drawingml/2006/main" noGrp="1"/>
          </p:cNvSpPr>
          <p:nvPr/>
        </p:nvSpPr>
        <p:spPr>
          <a:xfrm xmlns:a="http://schemas.openxmlformats.org/drawingml/2006/main">
            <a:off x="571500" y="733425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Wie kan kopen? Dat hangt ook af van de toewijzing.</a:t>
            </a:r>
          </a:p>
        </p:txBody>
      </p:sp>
    </p:spTree>
    <p:extLst>
      <p:ext uri="{BB962C8B-B14F-4D97-AF65-F5344CB8AC3E}">
        <p14:creationId xmlns:p14="http://schemas.microsoft.com/office/powerpoint/2010/main" val="15481639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rmosbekers: de gegevens">
            <a:extLst xmlns:a="http://schemas.openxmlformats.org/drawingml/2006/main">
              <a:ext uri="{FF2B5EF4-FFF2-40B4-BE49-F238E27FC236}">
                <a16:creationId xmlns:a16="http://schemas.microsoft.com/office/drawing/2014/main" id="{FC51A89B-E273-4120-8D21-FFD30669734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Thermosbekers: de gegevens</a:t>
            </a:r>
          </a:p>
        </p:txBody>
      </p:sp>
      <p:sp>
        <p:nvSpPr>
          <p:cNvPr id="2" name="">
            <a:extLst xmlns:a="http://schemas.openxmlformats.org/drawingml/2006/main">
              <a:ext uri="{FF2B5EF4-FFF2-40B4-BE49-F238E27FC236}">
                <a16:creationId xmlns:a16="http://schemas.microsoft.com/office/drawing/2014/main" id="{84ACB37B-FD6F-4941-8665-87C843652B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AC0BB7E-6628-4E53-9937-172EADDDE92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C4D61062-E2A7-425D-8793-E344EAD8FE4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805A2C50-9CF4-4C8A-B0B5-3DD2A7CD4447}"/>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Vraag: P = 24 − 0,25Q">
            <a:extLst xmlns:a="http://schemas.openxmlformats.org/drawingml/2006/main">
              <a:ext uri="{FF2B5EF4-FFF2-40B4-BE49-F238E27FC236}">
                <a16:creationId xmlns:a16="http://schemas.microsoft.com/office/drawing/2014/main" id="{1118D191-4F9E-497B-9EA8-8C1DE0BE828F}"/>
              </a:ext>
            </a:extLst>
          </p:cNvPr>
          <p:cNvSpPr>
            <a:spLocks xmlns:a="http://schemas.openxmlformats.org/drawingml/2006/main" noGrp="1"/>
          </p:cNvSpPr>
          <p:nvPr/>
        </p:nvSpPr>
        <p:spPr>
          <a:xfrm xmlns:a="http://schemas.openxmlformats.org/drawingml/2006/main">
            <a:off x="571500" y="2619375"/>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Vraag: P = 24 − 0,25Q</a:t>
            </a:r>
          </a:p>
        </p:txBody>
      </p:sp>
      <p:sp>
        <p:nvSpPr>
          <p:cNvPr id="7" name="Aanbod: P = 4 + 0,25Q">
            <a:extLst xmlns:a="http://schemas.openxmlformats.org/drawingml/2006/main">
              <a:ext uri="{FF2B5EF4-FFF2-40B4-BE49-F238E27FC236}">
                <a16:creationId xmlns:a16="http://schemas.microsoft.com/office/drawing/2014/main" id="{E7007A23-89FB-4BE6-A82F-CA8BF1EB104C}"/>
              </a:ext>
            </a:extLst>
          </p:cNvPr>
          <p:cNvSpPr>
            <a:spLocks xmlns:a="http://schemas.openxmlformats.org/drawingml/2006/main" noGrp="1"/>
          </p:cNvSpPr>
          <p:nvPr/>
        </p:nvSpPr>
        <p:spPr>
          <a:xfrm xmlns:a="http://schemas.openxmlformats.org/drawingml/2006/main">
            <a:off x="571500" y="35433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Aanbod: P = 4 + 0,25Q</a:t>
            </a:r>
          </a:p>
        </p:txBody>
      </p:sp>
      <p:sp>
        <p:nvSpPr>
          <p:cNvPr id="8" name="P: euro per beker. Q: thermosbekers per week.">
            <a:extLst xmlns:a="http://schemas.openxmlformats.org/drawingml/2006/main">
              <a:ext uri="{FF2B5EF4-FFF2-40B4-BE49-F238E27FC236}">
                <a16:creationId xmlns:a16="http://schemas.microsoft.com/office/drawing/2014/main" id="{E205AF05-CCB4-4925-9403-96FCCD70ABB5}"/>
              </a:ext>
            </a:extLst>
          </p:cNvPr>
          <p:cNvSpPr>
            <a:spLocks xmlns:a="http://schemas.openxmlformats.org/drawingml/2006/main" noGrp="1"/>
          </p:cNvSpPr>
          <p:nvPr/>
        </p:nvSpPr>
        <p:spPr>
          <a:xfrm xmlns:a="http://schemas.openxmlformats.org/drawingml/2006/main">
            <a:off x="571500" y="45815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 euro per beker. Q: thermosbekers per week.</a:t>
            </a:r>
          </a:p>
        </p:txBody>
      </p:sp>
      <p:sp>
        <p:nvSpPr>
          <p:cNvPr id="9" name="Maximumprijs: € 11 per beker">
            <a:extLst xmlns:a="http://schemas.openxmlformats.org/drawingml/2006/main">
              <a:ext uri="{FF2B5EF4-FFF2-40B4-BE49-F238E27FC236}">
                <a16:creationId xmlns:a16="http://schemas.microsoft.com/office/drawing/2014/main" id="{C5EE9440-AA6F-4815-A8FE-5114B4C0C34D}"/>
              </a:ext>
            </a:extLst>
          </p:cNvPr>
          <p:cNvSpPr>
            <a:spLocks xmlns:a="http://schemas.openxmlformats.org/drawingml/2006/main" noGrp="1"/>
          </p:cNvSpPr>
          <p:nvPr/>
        </p:nvSpPr>
        <p:spPr>
          <a:xfrm xmlns:a="http://schemas.openxmlformats.org/drawingml/2006/main">
            <a:off x="571500" y="55245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Maximumprijs: € 11 per beker</a:t>
            </a:r>
          </a:p>
        </p:txBody>
      </p:sp>
      <p:sp>
        <p:nvSpPr>
          <p:cNvPr id="10" name="Elke koper wil één beker. Er is geen extra aanvoer.&#10;Alle aan">
            <a:extLst xmlns:a="http://schemas.openxmlformats.org/drawingml/2006/main">
              <a:ext uri="{FF2B5EF4-FFF2-40B4-BE49-F238E27FC236}">
                <a16:creationId xmlns:a16="http://schemas.microsoft.com/office/drawing/2014/main" id="{A944218F-B17E-4D61-A150-DF26C7032AB8}"/>
              </a:ext>
            </a:extLst>
          </p:cNvPr>
          <p:cNvSpPr>
            <a:spLocks xmlns:a="http://schemas.openxmlformats.org/drawingml/2006/main" noGrp="1"/>
          </p:cNvSpPr>
          <p:nvPr/>
        </p:nvSpPr>
        <p:spPr>
          <a:xfrm xmlns:a="http://schemas.openxmlformats.org/drawingml/2006/main">
            <a:off x="571500" y="6467475"/>
            <a:ext cx="1409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Elke koper wil één beker. Er is geen extra aanvoer.</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Alle aangeboden bekers worden verkocht aan de kopers</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met de hoogste betalingsbereidheid.</a:t>
            </a:r>
          </a:p>
        </p:txBody>
      </p:sp>
    </p:spTree>
    <p:extLst>
      <p:ext uri="{BB962C8B-B14F-4D97-AF65-F5344CB8AC3E}">
        <p14:creationId xmlns:p14="http://schemas.microsoft.com/office/powerpoint/2010/main" val="3435645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rst het vrije evenwicht">
            <a:extLst xmlns:a="http://schemas.openxmlformats.org/drawingml/2006/main">
              <a:ext uri="{FF2B5EF4-FFF2-40B4-BE49-F238E27FC236}">
                <a16:creationId xmlns:a16="http://schemas.microsoft.com/office/drawing/2014/main" id="{6D966111-EB85-4C29-8DB1-99EA88256C4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Eerst het vrije evenwicht</a:t>
            </a:r>
          </a:p>
        </p:txBody>
      </p:sp>
      <p:sp>
        <p:nvSpPr>
          <p:cNvPr id="2" name="">
            <a:extLst xmlns:a="http://schemas.openxmlformats.org/drawingml/2006/main">
              <a:ext uri="{FF2B5EF4-FFF2-40B4-BE49-F238E27FC236}">
                <a16:creationId xmlns:a16="http://schemas.microsoft.com/office/drawing/2014/main" id="{7DF9CE2A-B7BF-45BE-8A0C-0409AF9E8B4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CF0FA97D-54FA-4837-98D5-088ED63600C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44F7C7FE-0E06-425A-B553-718479D8712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881D96B6-763A-4877-A434-21FE8E03B180}"/>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Vraagprijs = aanbodprijs bij dezelfde Q">
            <a:extLst xmlns:a="http://schemas.openxmlformats.org/drawingml/2006/main">
              <a:ext uri="{FF2B5EF4-FFF2-40B4-BE49-F238E27FC236}">
                <a16:creationId xmlns:a16="http://schemas.microsoft.com/office/drawing/2014/main" id="{4193B4CB-5352-46B9-BAFD-451FE6B2E9D7}"/>
              </a:ext>
            </a:extLst>
          </p:cNvPr>
          <p:cNvSpPr>
            <a:spLocks xmlns:a="http://schemas.openxmlformats.org/drawingml/2006/main" noGrp="1"/>
          </p:cNvSpPr>
          <p:nvPr/>
        </p:nvSpPr>
        <p:spPr>
          <a:xfrm xmlns:a="http://schemas.openxmlformats.org/drawingml/2006/main">
            <a:off x="571500" y="25050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Vraagprijs = aanbodprijs bij dezelfde Q</a:t>
            </a:r>
          </a:p>
        </p:txBody>
      </p:sp>
      <p:sp>
        <p:nvSpPr>
          <p:cNvPr id="7" name="24 − 0,25Q = 4 + 0,25Q&#10;20 = 0,50Q&#10;Q₀ = 40 thermosbekers per ">
            <a:extLst xmlns:a="http://schemas.openxmlformats.org/drawingml/2006/main">
              <a:ext uri="{FF2B5EF4-FFF2-40B4-BE49-F238E27FC236}">
                <a16:creationId xmlns:a16="http://schemas.microsoft.com/office/drawing/2014/main" id="{FF55FF52-2BAF-4FE7-A544-E3B502F3F5DE}"/>
              </a:ext>
            </a:extLst>
          </p:cNvPr>
          <p:cNvSpPr>
            <a:spLocks xmlns:a="http://schemas.openxmlformats.org/drawingml/2006/main" noGrp="1"/>
          </p:cNvSpPr>
          <p:nvPr/>
        </p:nvSpPr>
        <p:spPr>
          <a:xfrm xmlns:a="http://schemas.openxmlformats.org/drawingml/2006/main">
            <a:off x="571500" y="3429000"/>
            <a:ext cx="140970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24 − 0,25Q = 4 + 0,25Q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20 = 0,50Q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Q₀ = 40 thermosbekers per week</a:t>
            </a:r>
          </a:p>
        </p:txBody>
      </p:sp>
      <p:sp>
        <p:nvSpPr>
          <p:cNvPr id="8" name="P₀ = 24 − 0,25 × 40 = € 14 per beker">
            <a:extLst xmlns:a="http://schemas.openxmlformats.org/drawingml/2006/main">
              <a:ext uri="{FF2B5EF4-FFF2-40B4-BE49-F238E27FC236}">
                <a16:creationId xmlns:a16="http://schemas.microsoft.com/office/drawing/2014/main" id="{2C9D4CE9-229A-4018-BC70-9FBC9F935D03}"/>
              </a:ext>
            </a:extLst>
          </p:cNvPr>
          <p:cNvSpPr>
            <a:spLocks xmlns:a="http://schemas.openxmlformats.org/drawingml/2006/main" noGrp="1"/>
          </p:cNvSpPr>
          <p:nvPr/>
        </p:nvSpPr>
        <p:spPr>
          <a:xfrm xmlns:a="http://schemas.openxmlformats.org/drawingml/2006/main">
            <a:off x="571500" y="60198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P₀ = 24 − 0,25 × 40 = € 14 per beker</a:t>
            </a:r>
          </a:p>
        </p:txBody>
      </p:sp>
      <p:sp>
        <p:nvSpPr>
          <p:cNvPr id="9" name="Controle op A: 4 + 0,25 × 40 = € 14">
            <a:extLst xmlns:a="http://schemas.openxmlformats.org/drawingml/2006/main">
              <a:ext uri="{FF2B5EF4-FFF2-40B4-BE49-F238E27FC236}">
                <a16:creationId xmlns:a16="http://schemas.microsoft.com/office/drawing/2014/main" id="{45E5FEF6-04DC-420C-BFE0-E6DCF18F5D02}"/>
              </a:ext>
            </a:extLst>
          </p:cNvPr>
          <p:cNvSpPr>
            <a:spLocks xmlns:a="http://schemas.openxmlformats.org/drawingml/2006/main" noGrp="1"/>
          </p:cNvSpPr>
          <p:nvPr/>
        </p:nvSpPr>
        <p:spPr>
          <a:xfrm xmlns:a="http://schemas.openxmlformats.org/drawingml/2006/main">
            <a:off x="571500" y="719137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Controle op A: 4 + 0,25 × 40 = € 14</a:t>
            </a:r>
          </a:p>
        </p:txBody>
      </p:sp>
    </p:spTree>
    <p:extLst>
      <p:ext uri="{BB962C8B-B14F-4D97-AF65-F5344CB8AC3E}">
        <p14:creationId xmlns:p14="http://schemas.microsoft.com/office/powerpoint/2010/main" val="16096740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t vrije evenwicht in de grafiek">
            <a:extLst xmlns:a="http://schemas.openxmlformats.org/drawingml/2006/main">
              <a:ext uri="{FF2B5EF4-FFF2-40B4-BE49-F238E27FC236}">
                <a16:creationId xmlns:a16="http://schemas.microsoft.com/office/drawing/2014/main" id="{E24FAF54-7E54-4928-B50E-AD94AB4EE3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Het vrije evenwicht in de grafiek</a:t>
            </a:r>
          </a:p>
        </p:txBody>
      </p:sp>
      <p:sp>
        <p:nvSpPr>
          <p:cNvPr id="2" name="">
            <a:extLst xmlns:a="http://schemas.openxmlformats.org/drawingml/2006/main">
              <a:ext uri="{FF2B5EF4-FFF2-40B4-BE49-F238E27FC236}">
                <a16:creationId xmlns:a16="http://schemas.microsoft.com/office/drawing/2014/main" id="{4F391D20-F54D-4FEA-BA52-7B4334D106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AB7B643-5401-4F03-877A-A09324365F3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93439883-E8C5-4BDF-87FB-7083D0815A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736DEAE6-365E-478A-8C6C-3565881A3148}"/>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10191750" cy="5429250"/>
        </p:xfrm>
        <a:graphic xmlns:a="http://schemas.openxmlformats.org/drawingml/2006/main">
          <a:graphicData uri="http://schemas.openxmlformats.org/drawingml/2006/chart">
            <c:chart xmlns:r="http://schemas.openxmlformats.org/officeDocument/2006/relationships" xmlns:c="http://schemas.openxmlformats.org/drawingml/2006/chart" r:id="R677480ada0664c64"/>
          </a:graphicData>
        </a:graphic>
      </p:graphicFrame>
      <p:sp>
        <p:nvSpPr>
          <p:cNvPr id="7" name="E₀">
            <a:extLst xmlns:a="http://schemas.openxmlformats.org/drawingml/2006/main">
              <a:ext uri="{FF2B5EF4-FFF2-40B4-BE49-F238E27FC236}">
                <a16:creationId xmlns:a16="http://schemas.microsoft.com/office/drawing/2014/main" id="{B4C663AA-55B6-4F1D-A16E-971FD8550067}"/>
              </a:ext>
            </a:extLst>
          </p:cNvPr>
          <p:cNvSpPr>
            <a:spLocks xmlns:a="http://schemas.openxmlformats.org/drawingml/2006/main" noGrp="1"/>
          </p:cNvSpPr>
          <p:nvPr/>
        </p:nvSpPr>
        <p:spPr>
          <a:xfrm xmlns:a="http://schemas.openxmlformats.org/drawingml/2006/main">
            <a:off x="11239500" y="26955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E₀</a:t>
            </a:r>
          </a:p>
        </p:txBody>
      </p:sp>
      <p:sp>
        <p:nvSpPr>
          <p:cNvPr id="8" name="Q₀ = 40&#10;P₀ = € 14">
            <a:extLst xmlns:a="http://schemas.openxmlformats.org/drawingml/2006/main">
              <a:ext uri="{FF2B5EF4-FFF2-40B4-BE49-F238E27FC236}">
                <a16:creationId xmlns:a16="http://schemas.microsoft.com/office/drawing/2014/main" id="{17F710BD-7FC8-474C-AB13-9DA7200A7B1C}"/>
              </a:ext>
            </a:extLst>
          </p:cNvPr>
          <p:cNvSpPr>
            <a:spLocks xmlns:a="http://schemas.openxmlformats.org/drawingml/2006/main" noGrp="1"/>
          </p:cNvSpPr>
          <p:nvPr/>
        </p:nvSpPr>
        <p:spPr>
          <a:xfrm xmlns:a="http://schemas.openxmlformats.org/drawingml/2006/main">
            <a:off x="11239500" y="3686175"/>
            <a:ext cx="3429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Q₀ = 40</a:t>
            </a:r>
          </a:p>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P₀ = € 14</a:t>
            </a:r>
          </a:p>
        </p:txBody>
      </p:sp>
      <p:sp>
        <p:nvSpPr>
          <p:cNvPr id="9" name="Vraag en aanbod&#10;zijn hier gelijk.">
            <a:extLst xmlns:a="http://schemas.openxmlformats.org/drawingml/2006/main">
              <a:ext uri="{FF2B5EF4-FFF2-40B4-BE49-F238E27FC236}">
                <a16:creationId xmlns:a16="http://schemas.microsoft.com/office/drawing/2014/main" id="{7F63C2BC-BA37-4E2A-B023-5AEAEA268210}"/>
              </a:ext>
            </a:extLst>
          </p:cNvPr>
          <p:cNvSpPr>
            <a:spLocks xmlns:a="http://schemas.openxmlformats.org/drawingml/2006/main" noGrp="1"/>
          </p:cNvSpPr>
          <p:nvPr/>
        </p:nvSpPr>
        <p:spPr>
          <a:xfrm xmlns:a="http://schemas.openxmlformats.org/drawingml/2006/main">
            <a:off x="11239500" y="5924550"/>
            <a:ext cx="342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Vraag en aanbod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zijn hier gelijk.</a:t>
            </a:r>
          </a:p>
        </p:txBody>
      </p:sp>
    </p:spTree>
    <p:extLst>
      <p:ext uri="{BB962C8B-B14F-4D97-AF65-F5344CB8AC3E}">
        <p14:creationId xmlns:p14="http://schemas.microsoft.com/office/powerpoint/2010/main" val="8237017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11 ligt onder de vrije prijs">
            <a:extLst xmlns:a="http://schemas.openxmlformats.org/drawingml/2006/main">
              <a:ext uri="{FF2B5EF4-FFF2-40B4-BE49-F238E27FC236}">
                <a16:creationId xmlns:a16="http://schemas.microsoft.com/office/drawing/2014/main" id="{13597518-73C3-4EF3-B64D-125618F40B4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€ 11 ligt onder de vrije prijs</a:t>
            </a:r>
          </a:p>
        </p:txBody>
      </p:sp>
      <p:sp>
        <p:nvSpPr>
          <p:cNvPr id="2" name="">
            <a:extLst xmlns:a="http://schemas.openxmlformats.org/drawingml/2006/main">
              <a:ext uri="{FF2B5EF4-FFF2-40B4-BE49-F238E27FC236}">
                <a16:creationId xmlns:a16="http://schemas.microsoft.com/office/drawing/2014/main" id="{0E69DED9-675D-4459-B03A-CFBC3DC4941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F1D06D6-412B-47DA-9FAA-BCE1BF46735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59FA746D-9592-48EE-9D25-10A05413A55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71C613AA-CEF4-4FA6-89C2-FE6D9AA97346}"/>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10191750" cy="5429250"/>
        </p:xfrm>
        <a:graphic xmlns:a="http://schemas.openxmlformats.org/drawingml/2006/main">
          <a:graphicData uri="http://schemas.openxmlformats.org/drawingml/2006/chart">
            <c:chart xmlns:r="http://schemas.openxmlformats.org/officeDocument/2006/relationships" xmlns:c="http://schemas.openxmlformats.org/drawingml/2006/chart" r:id="Rc75fa9cb644744cb"/>
          </a:graphicData>
        </a:graphic>
      </p:graphicFrame>
      <p:sp>
        <p:nvSpPr>
          <p:cNvPr id="7" name="€ 11 &lt; € 14">
            <a:extLst xmlns:a="http://schemas.openxmlformats.org/drawingml/2006/main">
              <a:ext uri="{FF2B5EF4-FFF2-40B4-BE49-F238E27FC236}">
                <a16:creationId xmlns:a16="http://schemas.microsoft.com/office/drawing/2014/main" id="{8085DB07-5E12-41C9-A090-249677DB7888}"/>
              </a:ext>
            </a:extLst>
          </p:cNvPr>
          <p:cNvSpPr>
            <a:spLocks xmlns:a="http://schemas.openxmlformats.org/drawingml/2006/main" noGrp="1"/>
          </p:cNvSpPr>
          <p:nvPr/>
        </p:nvSpPr>
        <p:spPr>
          <a:xfrm xmlns:a="http://schemas.openxmlformats.org/drawingml/2006/main">
            <a:off x="11239500" y="26955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€ 11 &lt; € 14</a:t>
            </a:r>
          </a:p>
        </p:txBody>
      </p:sp>
      <p:sp>
        <p:nvSpPr>
          <p:cNvPr id="8" name="Bindend">
            <a:extLst xmlns:a="http://schemas.openxmlformats.org/drawingml/2006/main">
              <a:ext uri="{FF2B5EF4-FFF2-40B4-BE49-F238E27FC236}">
                <a16:creationId xmlns:a16="http://schemas.microsoft.com/office/drawing/2014/main" id="{227ECF59-F8EA-4FD7-BBB9-93EC6F150A49}"/>
              </a:ext>
            </a:extLst>
          </p:cNvPr>
          <p:cNvSpPr>
            <a:spLocks xmlns:a="http://schemas.openxmlformats.org/drawingml/2006/main" noGrp="1"/>
          </p:cNvSpPr>
          <p:nvPr/>
        </p:nvSpPr>
        <p:spPr>
          <a:xfrm xmlns:a="http://schemas.openxmlformats.org/drawingml/2006/main">
            <a:off x="11239500" y="38576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Bindend</a:t>
            </a:r>
          </a:p>
        </p:txBody>
      </p:sp>
      <p:sp>
        <p:nvSpPr>
          <p:cNvPr id="9" name="V en A blijven&#10;op hun plaats.&#10;&#10;Beide partijen&#10;reageren op € ">
            <a:extLst xmlns:a="http://schemas.openxmlformats.org/drawingml/2006/main">
              <a:ext uri="{FF2B5EF4-FFF2-40B4-BE49-F238E27FC236}">
                <a16:creationId xmlns:a16="http://schemas.microsoft.com/office/drawing/2014/main" id="{AAD8FDE3-BF81-4C6E-B147-C1E0DC710D23}"/>
              </a:ext>
            </a:extLst>
          </p:cNvPr>
          <p:cNvSpPr>
            <a:spLocks xmlns:a="http://schemas.openxmlformats.org/drawingml/2006/main" noGrp="1"/>
          </p:cNvSpPr>
          <p:nvPr/>
        </p:nvSpPr>
        <p:spPr>
          <a:xfrm xmlns:a="http://schemas.openxmlformats.org/drawingml/2006/main">
            <a:off x="11239500" y="5067300"/>
            <a:ext cx="34290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 en A blijven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op hun plaats.</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Beide partijen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reageren op € 11.</a:t>
            </a:r>
          </a:p>
        </p:txBody>
      </p:sp>
    </p:spTree>
    <p:extLst>
      <p:ext uri="{BB962C8B-B14F-4D97-AF65-F5344CB8AC3E}">
        <p14:creationId xmlns:p14="http://schemas.microsoft.com/office/powerpoint/2010/main" val="14343942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gewenste hoeveelheden bij € 11">
            <a:extLst xmlns:a="http://schemas.openxmlformats.org/drawingml/2006/main">
              <a:ext uri="{FF2B5EF4-FFF2-40B4-BE49-F238E27FC236}">
                <a16:creationId xmlns:a16="http://schemas.microsoft.com/office/drawing/2014/main" id="{5696C6B6-7B6A-4451-9EBB-7F54F2A34D5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Twee gewenste hoeveelheden bij € 11</a:t>
            </a:r>
          </a:p>
        </p:txBody>
      </p:sp>
      <p:sp>
        <p:nvSpPr>
          <p:cNvPr id="2" name="">
            <a:extLst xmlns:a="http://schemas.openxmlformats.org/drawingml/2006/main">
              <a:ext uri="{FF2B5EF4-FFF2-40B4-BE49-F238E27FC236}">
                <a16:creationId xmlns:a16="http://schemas.microsoft.com/office/drawing/2014/main" id="{8AF1C907-1F15-4E06-B5CC-B960FA93259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9F08113-D4BA-407A-B324-8F9B7BA84C9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8E79FE67-3823-4E81-B67C-592F33A284B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3A90E09A-BC73-4949-8724-E975B14B11CE}"/>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733675"/>
          <a:ext xmlns:a="http://schemas.openxmlformats.org/drawingml/2006/main" cx="14097000" cy="3429000"/>
        </p:xfrm>
        <a:graphic xmlns:a="http://schemas.openxmlformats.org/drawingml/2006/main">
          <a:graphicData uri="http://schemas.openxmlformats.org/drawingml/2006/table">
            <a:tbl>
              <a:tblPr/>
              <a:tblGrid>
                <a:gridCol w="7048500"/>
                <a:gridCol w="7048500"/>
              </a:tblGrid>
              <a:tr h="857250">
                <a:tc>
                  <a:txBody>
                    <a:bodyPr lIns="171450" tIns="85725" rIns="152400" bIns="85725"/>
                    <a:lstStyle/>
                    <a:p>
                      <a:r>
                        <a:rPr sz="2700" b="1">
                          <a:solidFill>
                            <a:srgbClr val="FFFFFF"/>
                          </a:solidFill>
                          <a:latin typeface="Arial"/>
                          <a:ea typeface="Arial"/>
                          <a:cs typeface="Arial"/>
                        </a:rPr>
                        <a:t>Vraag: wat kopers willen</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Aanbod: wat verkopers willen</a:t>
                      </a:r>
                    </a:p>
                  </a:txBody>
                  <a:tcPr marL="91440" marR="91440" marT="45720" marB="45720" anchor="ctr">
                    <a:solidFill>
                      <a:srgbClr val="183247"/>
                    </a:solidFill>
                  </a:tcPr>
                </a:tc>
              </a:tr>
              <a:tr h="857250">
                <a:tc>
                  <a:txBody>
                    <a:bodyPr lIns="171450" tIns="85725" rIns="152400" bIns="85725"/>
                    <a:lstStyle/>
                    <a:p>
                      <a:r>
                        <a:rPr sz="2700" b="0">
                          <a:solidFill>
                            <a:srgbClr val="183247"/>
                          </a:solidFill>
                          <a:latin typeface="Arial"/>
                          <a:ea typeface="Arial"/>
                          <a:cs typeface="Arial"/>
                        </a:rPr>
                        <a:t>11 = 24 − 0,25Qv</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11 = 4 + 0,25Qa</a:t>
                      </a:r>
                    </a:p>
                  </a:txBody>
                  <a:tcPr marL="91440" marR="91440" marT="45720" marB="45720" anchor="ctr">
                    <a:solidFill>
                      <a:srgbClr val="FFFFFF"/>
                    </a:solidFill>
                  </a:tcPr>
                </a:tc>
              </a:tr>
              <a:tr h="857250">
                <a:tc>
                  <a:txBody>
                    <a:bodyPr lIns="171450" tIns="85725" rIns="152400" bIns="85725"/>
                    <a:lstStyle/>
                    <a:p>
                      <a:r>
                        <a:rPr sz="2700" b="0">
                          <a:solidFill>
                            <a:srgbClr val="183247"/>
                          </a:solidFill>
                          <a:latin typeface="Arial"/>
                          <a:ea typeface="Arial"/>
                          <a:cs typeface="Arial"/>
                        </a:rPr>
                        <a:t>0,25Qv = 13</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0,25Qa = 7</a:t>
                      </a:r>
                    </a:p>
                  </a:txBody>
                  <a:tcPr marL="91440" marR="91440" marT="45720" marB="45720" anchor="ctr">
                    <a:solidFill>
                      <a:srgbClr val="EFF4F7"/>
                    </a:solidFill>
                  </a:tcPr>
                </a:tc>
              </a:tr>
              <a:tr h="857250">
                <a:tc>
                  <a:txBody>
                    <a:bodyPr lIns="171450" tIns="85725" rIns="152400" bIns="85725"/>
                    <a:lstStyle/>
                    <a:p>
                      <a:r>
                        <a:rPr sz="2700" b="0">
                          <a:solidFill>
                            <a:srgbClr val="183247"/>
                          </a:solidFill>
                          <a:latin typeface="Arial"/>
                          <a:ea typeface="Arial"/>
                          <a:cs typeface="Arial"/>
                        </a:rPr>
                        <a:t>Qv = 52 bekers per week</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Qa = 28 bekers per week</a:t>
                      </a:r>
                    </a:p>
                  </a:txBody>
                  <a:tcPr marL="91440" marR="91440" marT="45720" marB="45720" anchor="ctr">
                    <a:solidFill>
                      <a:srgbClr val="FFFFFF"/>
                    </a:solidFill>
                  </a:tcPr>
                </a:tc>
              </a:tr>
            </a:tbl>
          </a:graphicData>
        </a:graphic>
      </p:graphicFrame>
      <p:sp>
        <p:nvSpPr>
          <p:cNvPr id="7" name="Controle: 24 − 0,25 × 52 = 11">
            <a:extLst xmlns:a="http://schemas.openxmlformats.org/drawingml/2006/main">
              <a:ext uri="{FF2B5EF4-FFF2-40B4-BE49-F238E27FC236}">
                <a16:creationId xmlns:a16="http://schemas.microsoft.com/office/drawing/2014/main" id="{409C4A37-402C-4730-8711-56DA1718B803}"/>
              </a:ext>
            </a:extLst>
          </p:cNvPr>
          <p:cNvSpPr>
            <a:spLocks xmlns:a="http://schemas.openxmlformats.org/drawingml/2006/main" noGrp="1"/>
          </p:cNvSpPr>
          <p:nvPr/>
        </p:nvSpPr>
        <p:spPr>
          <a:xfrm xmlns:a="http://schemas.openxmlformats.org/drawingml/2006/main">
            <a:off x="571500" y="66960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A5276"/>
                </a:solidFill>
                <a:latin typeface="Arial"/>
                <a:ea typeface="Arial"/>
                <a:cs typeface="Arial"/>
              </a:defRPr>
            </a:pPr>
            <a:r>
              <a:rPr sz="2700" b="0">
                <a:solidFill>
                  <a:srgbClr val="1A5276"/>
                </a:solidFill>
                <a:latin typeface="Arial"/>
                <a:ea typeface="Arial"/>
                <a:cs typeface="Arial"/>
              </a:rPr>
              <a:t>Controle: 24 − 0,25 × 52 = 11</a:t>
            </a:r>
          </a:p>
        </p:txBody>
      </p:sp>
      <p:sp>
        <p:nvSpPr>
          <p:cNvPr id="8" name="Controle: 4 + 0,25 × 28 = 11">
            <a:extLst xmlns:a="http://schemas.openxmlformats.org/drawingml/2006/main">
              <a:ext uri="{FF2B5EF4-FFF2-40B4-BE49-F238E27FC236}">
                <a16:creationId xmlns:a16="http://schemas.microsoft.com/office/drawing/2014/main" id="{53B1D876-7BB9-4C14-B366-834444FCF13B}"/>
              </a:ext>
            </a:extLst>
          </p:cNvPr>
          <p:cNvSpPr>
            <a:spLocks xmlns:a="http://schemas.openxmlformats.org/drawingml/2006/main" noGrp="1"/>
          </p:cNvSpPr>
          <p:nvPr/>
        </p:nvSpPr>
        <p:spPr>
          <a:xfrm xmlns:a="http://schemas.openxmlformats.org/drawingml/2006/main">
            <a:off x="571500" y="7372350"/>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0665B"/>
                </a:solidFill>
                <a:latin typeface="Arial"/>
                <a:ea typeface="Arial"/>
                <a:cs typeface="Arial"/>
              </a:defRPr>
            </a:pPr>
            <a:r>
              <a:rPr sz="2700" b="0">
                <a:solidFill>
                  <a:srgbClr val="20665B"/>
                </a:solidFill>
                <a:latin typeface="Arial"/>
                <a:ea typeface="Arial"/>
                <a:cs typeface="Arial"/>
              </a:rPr>
              <a:t>Controle: 4 + 0,25 × 28 = 11</a:t>
            </a:r>
          </a:p>
        </p:txBody>
      </p:sp>
    </p:spTree>
    <p:extLst>
      <p:ext uri="{BB962C8B-B14F-4D97-AF65-F5344CB8AC3E}">
        <p14:creationId xmlns:p14="http://schemas.microsoft.com/office/powerpoint/2010/main" val="5417931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rkopen en tekort in de grafiek">
            <a:extLst xmlns:a="http://schemas.openxmlformats.org/drawingml/2006/main">
              <a:ext uri="{FF2B5EF4-FFF2-40B4-BE49-F238E27FC236}">
                <a16:creationId xmlns:a16="http://schemas.microsoft.com/office/drawing/2014/main" id="{8FE16A5D-C94C-42A1-A749-31AD7011FC0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Verkopen en tekort in de grafiek</a:t>
            </a:r>
          </a:p>
        </p:txBody>
      </p:sp>
      <p:sp>
        <p:nvSpPr>
          <p:cNvPr id="2" name="">
            <a:extLst xmlns:a="http://schemas.openxmlformats.org/drawingml/2006/main">
              <a:ext uri="{FF2B5EF4-FFF2-40B4-BE49-F238E27FC236}">
                <a16:creationId xmlns:a16="http://schemas.microsoft.com/office/drawing/2014/main" id="{73DB0103-C4E0-4607-AD67-B1B97E0111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0D84E22-A792-4405-8690-59802B5B508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0EE38212-A5BF-4D6C-8819-70DDB010BF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F57E95B1-E0B7-42C4-A6DB-01046D1EC2A0}"/>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247900"/>
          <a:ext xmlns:a="http://schemas.openxmlformats.org/drawingml/2006/main" cx="10191750" cy="5429250"/>
        </p:xfrm>
        <a:graphic xmlns:a="http://schemas.openxmlformats.org/drawingml/2006/main">
          <a:graphicData uri="http://schemas.openxmlformats.org/drawingml/2006/chart">
            <c:chart xmlns:r="http://schemas.openxmlformats.org/officeDocument/2006/relationships" xmlns:c="http://schemas.openxmlformats.org/drawingml/2006/chart" r:id="R06916be4423d4854"/>
          </a:graphicData>
        </a:graphic>
      </p:graphicFrame>
      <p:sp>
        <p:nvSpPr>
          <p:cNvPr id="7" name="28 verkocht">
            <a:extLst xmlns:a="http://schemas.openxmlformats.org/drawingml/2006/main">
              <a:ext uri="{FF2B5EF4-FFF2-40B4-BE49-F238E27FC236}">
                <a16:creationId xmlns:a16="http://schemas.microsoft.com/office/drawing/2014/main" id="{63628CBE-2B0A-45A3-8FC7-178B0F90AF45}"/>
              </a:ext>
            </a:extLst>
          </p:cNvPr>
          <p:cNvSpPr>
            <a:spLocks xmlns:a="http://schemas.openxmlformats.org/drawingml/2006/main" noGrp="1"/>
          </p:cNvSpPr>
          <p:nvPr/>
        </p:nvSpPr>
        <p:spPr>
          <a:xfrm xmlns:a="http://schemas.openxmlformats.org/drawingml/2006/main">
            <a:off x="11239500" y="2628900"/>
            <a:ext cx="342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28 verkocht</a:t>
            </a:r>
          </a:p>
        </p:txBody>
      </p:sp>
      <p:sp>
        <p:nvSpPr>
          <p:cNvPr id="8" name="Tekort&#10;52 − 28 = 24">
            <a:extLst xmlns:a="http://schemas.openxmlformats.org/drawingml/2006/main">
              <a:ext uri="{FF2B5EF4-FFF2-40B4-BE49-F238E27FC236}">
                <a16:creationId xmlns:a16="http://schemas.microsoft.com/office/drawing/2014/main" id="{A745056B-1BB6-47BA-B163-A44CD4B75A51}"/>
              </a:ext>
            </a:extLst>
          </p:cNvPr>
          <p:cNvSpPr>
            <a:spLocks xmlns:a="http://schemas.openxmlformats.org/drawingml/2006/main" noGrp="1"/>
          </p:cNvSpPr>
          <p:nvPr/>
        </p:nvSpPr>
        <p:spPr>
          <a:xfrm xmlns:a="http://schemas.openxmlformats.org/drawingml/2006/main">
            <a:off x="11239500" y="4152900"/>
            <a:ext cx="3429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Tekort</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52 − 28 = 24</a:t>
            </a:r>
          </a:p>
        </p:txBody>
      </p:sp>
      <p:sp>
        <p:nvSpPr>
          <p:cNvPr id="9" name="Bekers per week&#10;&#10;Tekort: horizontaal&#10;van 28 tot 52.">
            <a:extLst xmlns:a="http://schemas.openxmlformats.org/drawingml/2006/main">
              <a:ext uri="{FF2B5EF4-FFF2-40B4-BE49-F238E27FC236}">
                <a16:creationId xmlns:a16="http://schemas.microsoft.com/office/drawing/2014/main" id="{797C4461-756F-47E7-B2C9-6ACE72D0F0ED}"/>
              </a:ext>
            </a:extLst>
          </p:cNvPr>
          <p:cNvSpPr>
            <a:spLocks xmlns:a="http://schemas.openxmlformats.org/drawingml/2006/main" noGrp="1"/>
          </p:cNvSpPr>
          <p:nvPr/>
        </p:nvSpPr>
        <p:spPr>
          <a:xfrm xmlns:a="http://schemas.openxmlformats.org/drawingml/2006/main">
            <a:off x="11239500" y="6096000"/>
            <a:ext cx="342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Bekers per week</a:t>
            </a:r>
          </a:p>
          <a:p xmlns:a="http://schemas.openxmlformats.org/drawingml/2006/main">
            <a:r>
              <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Tekort: horizontaal</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van 28 tot 52.</a:t>
            </a:r>
          </a:p>
        </p:txBody>
      </p:sp>
    </p:spTree>
    <p:extLst>
      <p:ext uri="{BB962C8B-B14F-4D97-AF65-F5344CB8AC3E}">
        <p14:creationId xmlns:p14="http://schemas.microsoft.com/office/powerpoint/2010/main" val="6846107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lagere prijs geeft niet iedereen toegang">
            <a:extLst xmlns:a="http://schemas.openxmlformats.org/drawingml/2006/main">
              <a:ext uri="{FF2B5EF4-FFF2-40B4-BE49-F238E27FC236}">
                <a16:creationId xmlns:a16="http://schemas.microsoft.com/office/drawing/2014/main" id="{D19B33B6-1FAC-417D-BE7C-CB8E774136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lagere prijs geeft niet iedereen toegang</a:t>
            </a:r>
          </a:p>
        </p:txBody>
      </p:sp>
      <p:sp>
        <p:nvSpPr>
          <p:cNvPr id="2" name="">
            <a:extLst xmlns:a="http://schemas.openxmlformats.org/drawingml/2006/main">
              <a:ext uri="{FF2B5EF4-FFF2-40B4-BE49-F238E27FC236}">
                <a16:creationId xmlns:a16="http://schemas.microsoft.com/office/drawing/2014/main" id="{8370FE0C-DD43-493F-B48F-A92139F39B7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5345796-02E4-482A-AF24-FDFC69D1A98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006C9C41-1F7B-4401-B447-A41D69B743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2A2E47CE-4B04-4BE8-A912-6D92FE3F509E}"/>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28900"/>
          <a:ext xmlns:a="http://schemas.openxmlformats.org/drawingml/2006/main" cx="14097000" cy="3067050"/>
        </p:xfrm>
        <a:graphic xmlns:a="http://schemas.openxmlformats.org/drawingml/2006/main">
          <a:graphicData uri="http://schemas.openxmlformats.org/drawingml/2006/table">
            <a:tbl>
              <a:tblPr/>
              <a:tblGrid>
                <a:gridCol w="10001250"/>
                <a:gridCol w="4095750"/>
              </a:tblGrid>
              <a:tr h="766763">
                <a:tc>
                  <a:txBody>
                    <a:bodyPr lIns="171450" tIns="85725" rIns="152400" bIns="85725"/>
                    <a:lstStyle/>
                    <a:p>
                      <a:r>
                        <a:rPr sz="2700" b="1">
                          <a:solidFill>
                            <a:srgbClr val="FFFFFF"/>
                          </a:solidFill>
                          <a:latin typeface="Arial"/>
                          <a:ea typeface="Arial"/>
                          <a:cs typeface="Arial"/>
                        </a:rPr>
                        <a:t>Bij € 11 per beker</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Aantal per week</a:t>
                      </a:r>
                    </a:p>
                  </a:txBody>
                  <a:tcPr marL="91440" marR="91440" marT="45720" marB="45720" anchor="ctr">
                    <a:solidFill>
                      <a:srgbClr val="183247"/>
                    </a:solidFill>
                  </a:tcPr>
                </a:tc>
              </a:tr>
              <a:tr h="766763">
                <a:tc>
                  <a:txBody>
                    <a:bodyPr lIns="171450" tIns="85725" rIns="152400" bIns="85725"/>
                    <a:lstStyle/>
                    <a:p>
                      <a:r>
                        <a:rPr sz="2700" b="0">
                          <a:solidFill>
                            <a:srgbClr val="183247"/>
                          </a:solidFill>
                          <a:latin typeface="Arial"/>
                          <a:ea typeface="Arial"/>
                          <a:cs typeface="Arial"/>
                        </a:rPr>
                        <a:t>Willen kopen</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52</a:t>
                      </a:r>
                    </a:p>
                  </a:txBody>
                  <a:tcPr marL="91440" marR="91440" marT="45720" marB="45720" anchor="ctr">
                    <a:solidFill>
                      <a:srgbClr val="FFFFFF"/>
                    </a:solidFill>
                  </a:tcPr>
                </a:tc>
              </a:tr>
              <a:tr h="766763">
                <a:tc>
                  <a:txBody>
                    <a:bodyPr lIns="171450" tIns="85725" rIns="152400" bIns="85725"/>
                    <a:lstStyle/>
                    <a:p>
                      <a:r>
                        <a:rPr sz="2700" b="0">
                          <a:solidFill>
                            <a:srgbClr val="183247"/>
                          </a:solidFill>
                          <a:latin typeface="Arial"/>
                          <a:ea typeface="Arial"/>
                          <a:cs typeface="Arial"/>
                        </a:rPr>
                        <a:t>Krijgen een beker</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28</a:t>
                      </a:r>
                    </a:p>
                  </a:txBody>
                  <a:tcPr marL="91440" marR="91440" marT="45720" marB="45720" anchor="ctr">
                    <a:solidFill>
                      <a:srgbClr val="EFF4F7"/>
                    </a:solidFill>
                  </a:tcPr>
                </a:tc>
              </a:tr>
              <a:tr h="766763">
                <a:tc>
                  <a:txBody>
                    <a:bodyPr lIns="171450" tIns="85725" rIns="152400" bIns="85725"/>
                    <a:lstStyle/>
                    <a:p>
                      <a:r>
                        <a:rPr sz="2700" b="0">
                          <a:solidFill>
                            <a:srgbClr val="183247"/>
                          </a:solidFill>
                          <a:latin typeface="Arial"/>
                          <a:ea typeface="Arial"/>
                          <a:cs typeface="Arial"/>
                        </a:rPr>
                        <a:t>Willen kopen, maar krijgen geen beker</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24</a:t>
                      </a:r>
                    </a:p>
                  </a:txBody>
                  <a:tcPr marL="91440" marR="91440" marT="45720" marB="45720" anchor="ctr">
                    <a:solidFill>
                      <a:srgbClr val="FFFFFF"/>
                    </a:solidFill>
                  </a:tcPr>
                </a:tc>
              </a:tr>
            </a:tbl>
          </a:graphicData>
        </a:graphic>
      </p:graphicFrame>
      <p:sp>
        <p:nvSpPr>
          <p:cNvPr id="7" name="De 28 hoogste betalingsbereidheden krijgen voorrang.">
            <a:extLst xmlns:a="http://schemas.openxmlformats.org/drawingml/2006/main">
              <a:ext uri="{FF2B5EF4-FFF2-40B4-BE49-F238E27FC236}">
                <a16:creationId xmlns:a16="http://schemas.microsoft.com/office/drawing/2014/main" id="{74695F3C-7C61-4964-98FB-18FEF0A6F862}"/>
              </a:ext>
            </a:extLst>
          </p:cNvPr>
          <p:cNvSpPr>
            <a:spLocks xmlns:a="http://schemas.openxmlformats.org/drawingml/2006/main" noGrp="1"/>
          </p:cNvSpPr>
          <p:nvPr/>
        </p:nvSpPr>
        <p:spPr>
          <a:xfrm xmlns:a="http://schemas.openxmlformats.org/drawingml/2006/main">
            <a:off x="571500" y="62579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20665B"/>
                </a:solidFill>
                <a:latin typeface="Arial"/>
                <a:ea typeface="Arial"/>
                <a:cs typeface="Arial"/>
              </a:defRPr>
            </a:pPr>
            <a:r>
              <a:rPr sz="3075" b="1">
                <a:solidFill>
                  <a:srgbClr val="20665B"/>
                </a:solidFill>
                <a:latin typeface="Arial"/>
                <a:ea typeface="Arial"/>
                <a:cs typeface="Arial"/>
              </a:rPr>
              <a:t>De 28 hoogste betalingsbereidheden krijgen voorrang.</a:t>
            </a:r>
          </a:p>
        </p:txBody>
      </p:sp>
      <p:sp>
        <p:nvSpPr>
          <p:cNvPr id="8" name="Zonder toewijzingsregel weet je niet wie er kan kopen.">
            <a:extLst xmlns:a="http://schemas.openxmlformats.org/drawingml/2006/main">
              <a:ext uri="{FF2B5EF4-FFF2-40B4-BE49-F238E27FC236}">
                <a16:creationId xmlns:a16="http://schemas.microsoft.com/office/drawing/2014/main" id="{D112B680-8C85-49D7-97F7-9F281CEB6EA9}"/>
              </a:ext>
            </a:extLst>
          </p:cNvPr>
          <p:cNvSpPr>
            <a:spLocks xmlns:a="http://schemas.openxmlformats.org/drawingml/2006/main" noGrp="1"/>
          </p:cNvSpPr>
          <p:nvPr/>
        </p:nvSpPr>
        <p:spPr>
          <a:xfrm xmlns:a="http://schemas.openxmlformats.org/drawingml/2006/main">
            <a:off x="571500" y="7334250"/>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Zonder toewijzingsregel weet je niet wie er kan kopen.</a:t>
            </a:r>
          </a:p>
        </p:txBody>
      </p:sp>
    </p:spTree>
    <p:extLst>
      <p:ext uri="{BB962C8B-B14F-4D97-AF65-F5344CB8AC3E}">
        <p14:creationId xmlns:p14="http://schemas.microsoft.com/office/powerpoint/2010/main" val="16944055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maximum van € 17 bindt hier niet">
            <a:extLst xmlns:a="http://schemas.openxmlformats.org/drawingml/2006/main">
              <a:ext uri="{FF2B5EF4-FFF2-40B4-BE49-F238E27FC236}">
                <a16:creationId xmlns:a16="http://schemas.microsoft.com/office/drawing/2014/main" id="{00EB2A9C-2FFB-4543-AA55-D761F519009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maximum van € 17 bindt hier niet</a:t>
            </a:r>
          </a:p>
        </p:txBody>
      </p:sp>
      <p:sp>
        <p:nvSpPr>
          <p:cNvPr id="2" name="">
            <a:extLst xmlns:a="http://schemas.openxmlformats.org/drawingml/2006/main">
              <a:ext uri="{FF2B5EF4-FFF2-40B4-BE49-F238E27FC236}">
                <a16:creationId xmlns:a16="http://schemas.microsoft.com/office/drawing/2014/main" id="{DEC78198-C1BB-41C1-B7EC-FA118F6BD8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99E8BC6-8916-4F54-AA73-EF5C275A541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15AFDA1B-125A-4C90-89CE-E68D0427DA7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AD373E4E-A42B-4B23-9199-D8D14135AA2D}"/>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Zelfde markt: vrije prijs € 14, vrije hoeveelheid 40">
            <a:extLst xmlns:a="http://schemas.openxmlformats.org/drawingml/2006/main">
              <a:ext uri="{FF2B5EF4-FFF2-40B4-BE49-F238E27FC236}">
                <a16:creationId xmlns:a16="http://schemas.microsoft.com/office/drawing/2014/main" id="{D997B991-83AB-4BAF-9F74-A56368547605}"/>
              </a:ext>
            </a:extLst>
          </p:cNvPr>
          <p:cNvSpPr>
            <a:spLocks xmlns:a="http://schemas.openxmlformats.org/drawingml/2006/main" noGrp="1"/>
          </p:cNvSpPr>
          <p:nvPr/>
        </p:nvSpPr>
        <p:spPr>
          <a:xfrm xmlns:a="http://schemas.openxmlformats.org/drawingml/2006/main">
            <a:off x="571500" y="25336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Zelfde markt: vrije prijs € 14, vrije hoeveelheid 40</a:t>
            </a:r>
          </a:p>
        </p:txBody>
      </p:sp>
      <p:graphicFrame>
        <p:nvGraphicFramePr>
          <p:cNvPr id="15" name=""/>
          <p:cNvGraphicFramePr/>
          <p:nvPr/>
        </p:nvGraphicFramePr>
        <p:xfrm>
          <a:off xmlns:a="http://schemas.openxmlformats.org/drawingml/2006/main" x="571500" y="3676650"/>
          <a:ext xmlns:a="http://schemas.openxmlformats.org/drawingml/2006/main" cx="14097000" cy="2533650"/>
        </p:xfrm>
        <a:graphic xmlns:a="http://schemas.openxmlformats.org/drawingml/2006/main">
          <a:graphicData uri="http://schemas.openxmlformats.org/drawingml/2006/table">
            <a:tbl>
              <a:tblPr/>
              <a:tblGrid>
                <a:gridCol w="4762500"/>
                <a:gridCol w="4762500"/>
                <a:gridCol w="4572000"/>
              </a:tblGrid>
              <a:tr h="844550">
                <a:tc>
                  <a:txBody>
                    <a:bodyPr lIns="171450" tIns="85725" rIns="152400" bIns="85725"/>
                    <a:lstStyle/>
                    <a:p>
                      <a:r>
                        <a:rPr sz="2775" b="1">
                          <a:solidFill>
                            <a:srgbClr val="FFFFFF"/>
                          </a:solidFill>
                          <a:latin typeface="Arial"/>
                          <a:ea typeface="Arial"/>
                          <a:cs typeface="Arial"/>
                        </a:rPr>
                        <a:t>Maximumprijs</a:t>
                      </a:r>
                    </a:p>
                  </a:txBody>
                  <a:tcPr marL="91440" marR="91440" marT="45720" marB="45720" anchor="ctr">
                    <a:solidFill>
                      <a:srgbClr val="183247"/>
                    </a:solidFill>
                  </a:tcPr>
                </a:tc>
                <a:tc>
                  <a:txBody>
                    <a:bodyPr lIns="171450" tIns="85725" rIns="152400" bIns="85725"/>
                    <a:lstStyle/>
                    <a:p>
                      <a:r>
                        <a:rPr sz="2775" b="1">
                          <a:solidFill>
                            <a:srgbClr val="FFFFFF"/>
                          </a:solidFill>
                          <a:latin typeface="Arial"/>
                          <a:ea typeface="Arial"/>
                          <a:cs typeface="Arial"/>
                        </a:rPr>
                        <a:t>Werkelijke prijs</a:t>
                      </a:r>
                    </a:p>
                  </a:txBody>
                  <a:tcPr marL="91440" marR="91440" marT="45720" marB="45720" anchor="ctr">
                    <a:solidFill>
                      <a:srgbClr val="183247"/>
                    </a:solidFill>
                  </a:tcPr>
                </a:tc>
                <a:tc>
                  <a:txBody>
                    <a:bodyPr lIns="171450" tIns="85725" rIns="152400" bIns="85725"/>
                    <a:lstStyle/>
                    <a:p>
                      <a:r>
                        <a:rPr sz="2775" b="1">
                          <a:solidFill>
                            <a:srgbClr val="FFFFFF"/>
                          </a:solidFill>
                          <a:latin typeface="Arial"/>
                          <a:ea typeface="Arial"/>
                          <a:cs typeface="Arial"/>
                        </a:rPr>
                        <a:t>Verkocht per week</a:t>
                      </a:r>
                    </a:p>
                  </a:txBody>
                  <a:tcPr marL="91440" marR="91440" marT="45720" marB="45720" anchor="ctr">
                    <a:solidFill>
                      <a:srgbClr val="183247"/>
                    </a:solidFill>
                  </a:tcPr>
                </a:tc>
              </a:tr>
              <a:tr h="844550">
                <a:tc>
                  <a:txBody>
                    <a:bodyPr lIns="171450" tIns="85725" rIns="152400" bIns="85725"/>
                    <a:lstStyle/>
                    <a:p>
                      <a:r>
                        <a:rPr sz="2775" b="0">
                          <a:solidFill>
                            <a:srgbClr val="183247"/>
                          </a:solidFill>
                          <a:latin typeface="Arial"/>
                          <a:ea typeface="Arial"/>
                          <a:cs typeface="Arial"/>
                        </a:rPr>
                        <a:t>€ 11</a:t>
                      </a:r>
                    </a:p>
                  </a:txBody>
                  <a:tcPr marL="91440" marR="91440" marT="45720" marB="45720" anchor="ctr">
                    <a:solidFill>
                      <a:srgbClr val="FFFFFF"/>
                    </a:solidFill>
                  </a:tcPr>
                </a:tc>
                <a:tc>
                  <a:txBody>
                    <a:bodyPr lIns="171450" tIns="85725" rIns="152400" bIns="85725"/>
                    <a:lstStyle/>
                    <a:p>
                      <a:r>
                        <a:rPr sz="2775" b="0">
                          <a:solidFill>
                            <a:srgbClr val="183247"/>
                          </a:solidFill>
                          <a:latin typeface="Arial"/>
                          <a:ea typeface="Arial"/>
                          <a:cs typeface="Arial"/>
                        </a:rPr>
                        <a:t>€ 11</a:t>
                      </a:r>
                    </a:p>
                  </a:txBody>
                  <a:tcPr marL="91440" marR="91440" marT="45720" marB="45720" anchor="ctr">
                    <a:solidFill>
                      <a:srgbClr val="FFFFFF"/>
                    </a:solidFill>
                  </a:tcPr>
                </a:tc>
                <a:tc>
                  <a:txBody>
                    <a:bodyPr lIns="171450" tIns="85725" rIns="152400" bIns="85725"/>
                    <a:lstStyle/>
                    <a:p>
                      <a:r>
                        <a:rPr sz="2775" b="0">
                          <a:solidFill>
                            <a:srgbClr val="183247"/>
                          </a:solidFill>
                          <a:latin typeface="Arial"/>
                          <a:ea typeface="Arial"/>
                          <a:cs typeface="Arial"/>
                        </a:rPr>
                        <a:t>28 bekers</a:t>
                      </a:r>
                    </a:p>
                  </a:txBody>
                  <a:tcPr marL="91440" marR="91440" marT="45720" marB="45720" anchor="ctr">
                    <a:solidFill>
                      <a:srgbClr val="FFFFFF"/>
                    </a:solidFill>
                  </a:tcPr>
                </a:tc>
              </a:tr>
              <a:tr h="844550">
                <a:tc>
                  <a:txBody>
                    <a:bodyPr lIns="171450" tIns="85725" rIns="152400" bIns="85725"/>
                    <a:lstStyle/>
                    <a:p>
                      <a:r>
                        <a:rPr sz="2775" b="0">
                          <a:solidFill>
                            <a:srgbClr val="183247"/>
                          </a:solidFill>
                          <a:latin typeface="Arial"/>
                          <a:ea typeface="Arial"/>
                          <a:cs typeface="Arial"/>
                        </a:rPr>
                        <a:t>€ 17</a:t>
                      </a:r>
                    </a:p>
                  </a:txBody>
                  <a:tcPr marL="91440" marR="91440" marT="45720" marB="45720" anchor="ctr">
                    <a:solidFill>
                      <a:srgbClr val="EFF4F7"/>
                    </a:solidFill>
                  </a:tcPr>
                </a:tc>
                <a:tc>
                  <a:txBody>
                    <a:bodyPr lIns="171450" tIns="85725" rIns="152400" bIns="85725"/>
                    <a:lstStyle/>
                    <a:p>
                      <a:r>
                        <a:rPr sz="2775" b="0">
                          <a:solidFill>
                            <a:srgbClr val="183247"/>
                          </a:solidFill>
                          <a:latin typeface="Arial"/>
                          <a:ea typeface="Arial"/>
                          <a:cs typeface="Arial"/>
                        </a:rPr>
                        <a:t>€ 14</a:t>
                      </a:r>
                    </a:p>
                  </a:txBody>
                  <a:tcPr marL="91440" marR="91440" marT="45720" marB="45720" anchor="ctr">
                    <a:solidFill>
                      <a:srgbClr val="EFF4F7"/>
                    </a:solidFill>
                  </a:tcPr>
                </a:tc>
                <a:tc>
                  <a:txBody>
                    <a:bodyPr lIns="171450" tIns="85725" rIns="152400" bIns="85725"/>
                    <a:lstStyle/>
                    <a:p>
                      <a:r>
                        <a:rPr sz="2775" b="0">
                          <a:solidFill>
                            <a:srgbClr val="183247"/>
                          </a:solidFill>
                          <a:latin typeface="Arial"/>
                          <a:ea typeface="Arial"/>
                          <a:cs typeface="Arial"/>
                        </a:rPr>
                        <a:t>40 bekers</a:t>
                      </a:r>
                    </a:p>
                  </a:txBody>
                  <a:tcPr marL="91440" marR="91440" marT="45720" marB="45720" anchor="ctr">
                    <a:solidFill>
                      <a:srgbClr val="EFF4F7"/>
                    </a:solidFill>
                  </a:tcPr>
                </a:tc>
              </a:tr>
            </a:tbl>
          </a:graphicData>
        </a:graphic>
      </p:graphicFrame>
      <p:sp>
        <p:nvSpPr>
          <p:cNvPr id="8" name="€ 14 blijft toegestaan. Het vrije evenwicht blijft bestaan.">
            <a:extLst xmlns:a="http://schemas.openxmlformats.org/drawingml/2006/main">
              <a:ext uri="{FF2B5EF4-FFF2-40B4-BE49-F238E27FC236}">
                <a16:creationId xmlns:a16="http://schemas.microsoft.com/office/drawing/2014/main" id="{4E583271-491A-4B36-B491-888BBD8F6A14}"/>
              </a:ext>
            </a:extLst>
          </p:cNvPr>
          <p:cNvSpPr>
            <a:spLocks xmlns:a="http://schemas.openxmlformats.org/drawingml/2006/main" noGrp="1"/>
          </p:cNvSpPr>
          <p:nvPr/>
        </p:nvSpPr>
        <p:spPr>
          <a:xfrm xmlns:a="http://schemas.openxmlformats.org/drawingml/2006/main">
            <a:off x="571500" y="681037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€ 14 blijft toegestaan. Het vrije evenwicht blijft bestaan.</a:t>
            </a:r>
          </a:p>
        </p:txBody>
      </p:sp>
    </p:spTree>
    <p:extLst>
      <p:ext uri="{BB962C8B-B14F-4D97-AF65-F5344CB8AC3E}">
        <p14:creationId xmlns:p14="http://schemas.microsoft.com/office/powerpoint/2010/main" val="8676702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inding hangt ook af van de markt">
            <a:extLst xmlns:a="http://schemas.openxmlformats.org/drawingml/2006/main">
              <a:ext uri="{FF2B5EF4-FFF2-40B4-BE49-F238E27FC236}">
                <a16:creationId xmlns:a16="http://schemas.microsoft.com/office/drawing/2014/main" id="{1151342E-F53F-4093-B73A-D5CBEB38A18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Binding hangt ook af van de markt</a:t>
            </a:r>
          </a:p>
        </p:txBody>
      </p:sp>
      <p:sp>
        <p:nvSpPr>
          <p:cNvPr id="2" name="">
            <a:extLst xmlns:a="http://schemas.openxmlformats.org/drawingml/2006/main">
              <a:ext uri="{FF2B5EF4-FFF2-40B4-BE49-F238E27FC236}">
                <a16:creationId xmlns:a16="http://schemas.microsoft.com/office/drawing/2014/main" id="{8B031E7A-29B4-4EB3-BEB2-36B29E83F7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8EBC7F9-1EA4-4B65-A7CB-A0661291DF1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59C73E13-1B60-4516-ACDB-3D42E178AFD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575AE2E2-0DB3-4A30-918A-45881FD0F4F0}"/>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De maximumprijs blijft € 17.">
            <a:extLst xmlns:a="http://schemas.openxmlformats.org/drawingml/2006/main">
              <a:ext uri="{FF2B5EF4-FFF2-40B4-BE49-F238E27FC236}">
                <a16:creationId xmlns:a16="http://schemas.microsoft.com/office/drawing/2014/main" id="{4A7B3847-0243-4AF7-B506-9ACAED4D0390}"/>
              </a:ext>
            </a:extLst>
          </p:cNvPr>
          <p:cNvSpPr>
            <a:spLocks xmlns:a="http://schemas.openxmlformats.org/drawingml/2006/main" noGrp="1"/>
          </p:cNvSpPr>
          <p:nvPr/>
        </p:nvSpPr>
        <p:spPr>
          <a:xfrm xmlns:a="http://schemas.openxmlformats.org/drawingml/2006/main">
            <a:off x="571500" y="25336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maximumprijs blijft € 17.</a:t>
            </a:r>
          </a:p>
        </p:txBody>
      </p:sp>
      <p:graphicFrame>
        <p:nvGraphicFramePr>
          <p:cNvPr id="15" name=""/>
          <p:cNvGraphicFramePr/>
          <p:nvPr/>
        </p:nvGraphicFramePr>
        <p:xfrm>
          <a:off xmlns:a="http://schemas.openxmlformats.org/drawingml/2006/main" x="571500" y="3629025"/>
          <a:ext xmlns:a="http://schemas.openxmlformats.org/drawingml/2006/main" cx="14097000" cy="2762250"/>
        </p:xfrm>
        <a:graphic xmlns:a="http://schemas.openxmlformats.org/drawingml/2006/main">
          <a:graphicData uri="http://schemas.openxmlformats.org/drawingml/2006/table">
            <a:tbl>
              <a:tblPr/>
              <a:tblGrid>
                <a:gridCol w="5238750"/>
                <a:gridCol w="4095750"/>
                <a:gridCol w="4762500"/>
              </a:tblGrid>
              <a:tr h="920750">
                <a:tc>
                  <a:txBody>
                    <a:bodyPr lIns="171450" tIns="85725" rIns="152400" bIns="85725"/>
                    <a:lstStyle/>
                    <a:p>
                      <a:r>
                        <a:rPr sz="2550" b="1">
                          <a:solidFill>
                            <a:srgbClr val="FFFFFF"/>
                          </a:solidFill>
                          <a:latin typeface="Arial"/>
                          <a:ea typeface="Arial"/>
                          <a:cs typeface="Arial"/>
                        </a:rPr>
                        <a:t>Situatie</a:t>
                      </a:r>
                    </a:p>
                  </a:txBody>
                  <a:tcPr marL="91440" marR="91440" marT="45720" marB="45720" anchor="ctr">
                    <a:solidFill>
                      <a:srgbClr val="183247"/>
                    </a:solidFill>
                  </a:tcPr>
                </a:tc>
                <a:tc>
                  <a:txBody>
                    <a:bodyPr lIns="171450" tIns="85725" rIns="152400" bIns="85725"/>
                    <a:lstStyle/>
                    <a:p>
                      <a:r>
                        <a:rPr sz="2550" b="1">
                          <a:solidFill>
                            <a:srgbClr val="FFFFFF"/>
                          </a:solidFill>
                          <a:latin typeface="Arial"/>
                          <a:ea typeface="Arial"/>
                          <a:cs typeface="Arial"/>
                        </a:rPr>
                        <a:t>Vrije evenwichtsprijs</a:t>
                      </a:r>
                    </a:p>
                  </a:txBody>
                  <a:tcPr marL="91440" marR="91440" marT="45720" marB="45720" anchor="ctr">
                    <a:solidFill>
                      <a:srgbClr val="183247"/>
                    </a:solidFill>
                  </a:tcPr>
                </a:tc>
                <a:tc>
                  <a:txBody>
                    <a:bodyPr lIns="171450" tIns="85725" rIns="152400" bIns="85725"/>
                    <a:lstStyle/>
                    <a:p>
                      <a:r>
                        <a:rPr sz="2550" b="1">
                          <a:solidFill>
                            <a:srgbClr val="FFFFFF"/>
                          </a:solidFill>
                          <a:latin typeface="Arial"/>
                          <a:ea typeface="Arial"/>
                          <a:cs typeface="Arial"/>
                        </a:rPr>
                        <a:t>Bindt € 17?</a:t>
                      </a:r>
                    </a:p>
                  </a:txBody>
                  <a:tcPr marL="91440" marR="91440" marT="45720" marB="45720" anchor="ctr">
                    <a:solidFill>
                      <a:srgbClr val="183247"/>
                    </a:solidFill>
                  </a:tcPr>
                </a:tc>
              </a:tr>
              <a:tr h="920750">
                <a:tc>
                  <a:txBody>
                    <a:bodyPr lIns="171450" tIns="85725" rIns="152400" bIns="85725"/>
                    <a:lstStyle/>
                    <a:p>
                      <a:r>
                        <a:rPr sz="2550" b="0">
                          <a:solidFill>
                            <a:srgbClr val="183247"/>
                          </a:solidFill>
                          <a:latin typeface="Arial"/>
                          <a:ea typeface="Arial"/>
                          <a:cs typeface="Arial"/>
                        </a:rPr>
                        <a:t>Oorspronkelijke markt</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€ 14</a:t>
                      </a:r>
                    </a:p>
                  </a:txBody>
                  <a:tcPr marL="91440" marR="91440" marT="45720" marB="45720" anchor="ctr">
                    <a:solidFill>
                      <a:srgbClr val="FFFFFF"/>
                    </a:solidFill>
                  </a:tcPr>
                </a:tc>
                <a:tc>
                  <a:txBody>
                    <a:bodyPr lIns="171450" tIns="85725" rIns="152400" bIns="85725"/>
                    <a:lstStyle/>
                    <a:p>
                      <a:r>
                        <a:rPr sz="2550" b="0">
                          <a:solidFill>
                            <a:srgbClr val="183247"/>
                          </a:solidFill>
                          <a:latin typeface="Arial"/>
                          <a:ea typeface="Arial"/>
                          <a:cs typeface="Arial"/>
                        </a:rPr>
                        <a:t>Nee: € 14 is toegestaan.</a:t>
                      </a:r>
                    </a:p>
                  </a:txBody>
                  <a:tcPr marL="91440" marR="91440" marT="45720" marB="45720" anchor="ctr">
                    <a:solidFill>
                      <a:srgbClr val="FFFFFF"/>
                    </a:solidFill>
                  </a:tcPr>
                </a:tc>
              </a:tr>
              <a:tr h="920750">
                <a:tc>
                  <a:txBody>
                    <a:bodyPr lIns="171450" tIns="85725" rIns="152400" bIns="85725"/>
                    <a:lstStyle/>
                    <a:p>
                      <a:r>
                        <a:rPr sz="2550" b="0">
                          <a:solidFill>
                            <a:srgbClr val="183247"/>
                          </a:solidFill>
                          <a:latin typeface="Arial"/>
                          <a:ea typeface="Arial"/>
                          <a:cs typeface="Arial"/>
                        </a:rPr>
                        <a:t>Na toename van de vraag</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€ 20 (gegeven)</a:t>
                      </a:r>
                    </a:p>
                  </a:txBody>
                  <a:tcPr marL="91440" marR="91440" marT="45720" marB="45720" anchor="ctr">
                    <a:solidFill>
                      <a:srgbClr val="EFF4F7"/>
                    </a:solidFill>
                  </a:tcPr>
                </a:tc>
                <a:tc>
                  <a:txBody>
                    <a:bodyPr lIns="171450" tIns="85725" rIns="152400" bIns="85725"/>
                    <a:lstStyle/>
                    <a:p>
                      <a:r>
                        <a:rPr sz="2550" b="0">
                          <a:solidFill>
                            <a:srgbClr val="183247"/>
                          </a:solidFill>
                          <a:latin typeface="Arial"/>
                          <a:ea typeface="Arial"/>
                          <a:cs typeface="Arial"/>
                        </a:rPr>
                        <a:t>Ja: € 20 is verboden.</a:t>
                      </a:r>
                    </a:p>
                  </a:txBody>
                  <a:tcPr marL="91440" marR="91440" marT="45720" marB="45720" anchor="ctr">
                    <a:solidFill>
                      <a:srgbClr val="EFF4F7"/>
                    </a:solidFill>
                  </a:tcPr>
                </a:tc>
              </a:tr>
            </a:tbl>
          </a:graphicData>
        </a:graphic>
      </p:graphicFrame>
      <p:sp>
        <p:nvSpPr>
          <p:cNvPr id="8" name="Vergelijk steeds met het vrije evenwicht in díé situatie.">
            <a:extLst xmlns:a="http://schemas.openxmlformats.org/drawingml/2006/main">
              <a:ext uri="{FF2B5EF4-FFF2-40B4-BE49-F238E27FC236}">
                <a16:creationId xmlns:a16="http://schemas.microsoft.com/office/drawing/2014/main" id="{6E68E65E-F97E-4710-8C14-F0C7418700F8}"/>
              </a:ext>
            </a:extLst>
          </p:cNvPr>
          <p:cNvSpPr>
            <a:spLocks xmlns:a="http://schemas.openxmlformats.org/drawingml/2006/main" noGrp="1"/>
          </p:cNvSpPr>
          <p:nvPr/>
        </p:nvSpPr>
        <p:spPr>
          <a:xfrm xmlns:a="http://schemas.openxmlformats.org/drawingml/2006/main">
            <a:off x="571500" y="7000875"/>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Vergelijk steeds met het vrije evenwicht in díé situatie.</a:t>
            </a:r>
          </a:p>
        </p:txBody>
      </p:sp>
    </p:spTree>
    <p:extLst>
      <p:ext uri="{BB962C8B-B14F-4D97-AF65-F5344CB8AC3E}">
        <p14:creationId xmlns:p14="http://schemas.microsoft.com/office/powerpoint/2010/main" val="18895793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447CCA7A-7436-44E1-915B-CA48DD5A9F0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492B7C9D-40B9-48A6-AC4B-A3B7F0B346D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B43BB6D5-AFA6-4311-9DDE-5B06DC37FB8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069E7898-D595-4C09-A64F-575FBBB0BC5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4B8C1DBF-8D59-4274-AB0E-B60B45DC6765}"/>
              </a:ext>
            </a:extLst>
          </p:cNvPr>
          <p:cNvSpPr>
            <a:spLocks xmlns:a="http://schemas.openxmlformats.org/drawingml/2006/main" noGrp="1"/>
          </p:cNvSpPr>
          <p:nvPr/>
        </p:nvSpPr>
        <p:spPr>
          <a:xfrm xmlns:a="http://schemas.openxmlformats.org/drawingml/2006/main">
            <a:off x="571500" y="1733550"/>
            <a:ext cx="1400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A5276"/>
                </a:solidFill>
                <a:latin typeface="Arial"/>
                <a:ea typeface="Arial"/>
                <a:cs typeface="Arial"/>
              </a:defRPr>
            </a:pPr>
            <a:r>
              <a:rPr sz="2175" b="1">
                <a:solidFill>
                  <a:srgbClr val="1A5276"/>
                </a:solidFill>
                <a:latin typeface="Arial"/>
                <a:ea typeface="Arial"/>
                <a:cs typeface="Arial"/>
              </a:rPr>
              <a:t>Uitlegvoorbeeld — niet uit het boek</a:t>
            </a:r>
          </a:p>
        </p:txBody>
      </p:sp>
      <p:sp>
        <p:nvSpPr>
          <p:cNvPr id="6" name="Terug naar de oorspronkelijke bekermarkt: Pmax = € 11.">
            <a:extLst xmlns:a="http://schemas.openxmlformats.org/drawingml/2006/main">
              <a:ext uri="{FF2B5EF4-FFF2-40B4-BE49-F238E27FC236}">
                <a16:creationId xmlns:a16="http://schemas.microsoft.com/office/drawing/2014/main" id="{D9CAF45D-6FAC-4CDC-ADB9-7BEC47F42535}"/>
              </a:ext>
            </a:extLst>
          </p:cNvPr>
          <p:cNvSpPr>
            <a:spLocks xmlns:a="http://schemas.openxmlformats.org/drawingml/2006/main" noGrp="1"/>
          </p:cNvSpPr>
          <p:nvPr/>
        </p:nvSpPr>
        <p:spPr>
          <a:xfrm xmlns:a="http://schemas.openxmlformats.org/drawingml/2006/main">
            <a:off x="571500" y="247650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Terug naar de oorspronkelijke bekermarkt: Pmax = € 11.</a:t>
            </a:r>
          </a:p>
        </p:txBody>
      </p:sp>
      <p:sp>
        <p:nvSpPr>
          <p:cNvPr id="7" name="“52 kopers willen een beker.&#10;Dus er worden 52 bekers verkoch">
            <a:extLst xmlns:a="http://schemas.openxmlformats.org/drawingml/2006/main">
              <a:ext uri="{FF2B5EF4-FFF2-40B4-BE49-F238E27FC236}">
                <a16:creationId xmlns:a16="http://schemas.microsoft.com/office/drawing/2014/main" id="{4042008D-3A2C-4BC4-A4BB-BA72483BB4B8}"/>
              </a:ext>
            </a:extLst>
          </p:cNvPr>
          <p:cNvSpPr>
            <a:spLocks xmlns:a="http://schemas.openxmlformats.org/drawingml/2006/main" noGrp="1"/>
          </p:cNvSpPr>
          <p:nvPr/>
        </p:nvSpPr>
        <p:spPr>
          <a:xfrm xmlns:a="http://schemas.openxmlformats.org/drawingml/2006/main">
            <a:off x="571500" y="4133850"/>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A5276"/>
                </a:solidFill>
                <a:latin typeface="Arial"/>
                <a:ea typeface="Arial"/>
                <a:cs typeface="Arial"/>
              </a:defRPr>
            </a:pPr>
            <a:r>
              <a:rPr sz="3675" b="1">
                <a:solidFill>
                  <a:srgbClr val="1A5276"/>
                </a:solidFill>
                <a:latin typeface="Arial"/>
                <a:ea typeface="Arial"/>
                <a:cs typeface="Arial"/>
              </a:rPr>
              <a:t>“52 kopers willen een beker.</a:t>
            </a:r>
          </a:p>
          <a:p xmlns:a="http://schemas.openxmlformats.org/drawingml/2006/main">
            <a:pPr algn="l">
              <a:defRPr sz="3675" b="1">
                <a:solidFill>
                  <a:srgbClr val="1A5276"/>
                </a:solidFill>
                <a:latin typeface="Arial"/>
                <a:ea typeface="Arial"/>
                <a:cs typeface="Arial"/>
              </a:defRPr>
            </a:pPr>
            <a:r>
              <a:rPr sz="3675" b="1">
                <a:solidFill>
                  <a:srgbClr val="1A5276"/>
                </a:solidFill>
                <a:latin typeface="Arial"/>
                <a:ea typeface="Arial"/>
                <a:cs typeface="Arial"/>
              </a:rPr>
              <a:t>Dus er worden 52 bekers verkocht.”</a:t>
            </a:r>
          </a:p>
        </p:txBody>
      </p:sp>
      <p:sp>
        <p:nvSpPr>
          <p:cNvPr id="8" name="Welke hoeveelheid bepaalt de verkoop? Welke aanname is nodig">
            <a:extLst xmlns:a="http://schemas.openxmlformats.org/drawingml/2006/main">
              <a:ext uri="{FF2B5EF4-FFF2-40B4-BE49-F238E27FC236}">
                <a16:creationId xmlns:a16="http://schemas.microsoft.com/office/drawing/2014/main" id="{A8260555-ED5A-4327-9CCE-C6C8EA671473}"/>
              </a:ext>
            </a:extLst>
          </p:cNvPr>
          <p:cNvSpPr>
            <a:spLocks xmlns:a="http://schemas.openxmlformats.org/drawingml/2006/main" noGrp="1"/>
          </p:cNvSpPr>
          <p:nvPr/>
        </p:nvSpPr>
        <p:spPr>
          <a:xfrm xmlns:a="http://schemas.openxmlformats.org/drawingml/2006/main">
            <a:off x="571500" y="654367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Welke hoeveelheid bepaalt de verkoop? Welke aanname is nodig?</a:t>
            </a:r>
          </a:p>
        </p:txBody>
      </p:sp>
    </p:spTree>
    <p:extLst>
      <p:ext uri="{BB962C8B-B14F-4D97-AF65-F5344CB8AC3E}">
        <p14:creationId xmlns:p14="http://schemas.microsoft.com/office/powerpoint/2010/main" val="82157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4 Maximumprijs">
            <a:extLst xmlns:a="http://schemas.openxmlformats.org/drawingml/2006/main">
              <a:ext uri="{FF2B5EF4-FFF2-40B4-BE49-F238E27FC236}">
                <a16:creationId xmlns:a16="http://schemas.microsoft.com/office/drawing/2014/main" id="{1C6B015C-E97D-4629-A2C4-B957A7FB5EB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§3.1.4 Maximumprijs</a:t>
            </a:r>
          </a:p>
        </p:txBody>
      </p:sp>
      <p:sp>
        <p:nvSpPr>
          <p:cNvPr id="2" name="">
            <a:extLst xmlns:a="http://schemas.openxmlformats.org/drawingml/2006/main">
              <a:ext uri="{FF2B5EF4-FFF2-40B4-BE49-F238E27FC236}">
                <a16:creationId xmlns:a16="http://schemas.microsoft.com/office/drawing/2014/main" id="{70A8FA4C-D1E1-4670-8687-C8D675E82E0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6E1717D4-B321-43D3-8DA9-9771CB546B6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7CAF3DB6-5598-41A9-9220-02E8338880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22DC165E-1ECB-434F-BE9E-67A3E5CD0C7B}"/>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91B56897-484B-4AE2-9B41-FCDE74E4C7B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7053025-B0D9-40CA-BB99-10AD544D07B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324AB4B7-36A0-4347-9D12-0E454C88B5B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D60AC447-8237-4F19-A195-55A42897244D}"/>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0EE70DC-BD2D-4BAA-830F-F715ACFE6E9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5318053-2383-4D4D-980E-1D8C9956519D}"/>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DC9B8A6-0A4C-4498-B9EA-F7C4A888B22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11710313-0D85-4A1E-B938-44F995034AA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8C61858-E4A7-4526-BC5F-50653669706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88F01987-4835-42C6-9D56-FB5D7775486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E97EAB6-27D4-4929-AFD9-F3063863264F}"/>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8C02D6C1-B240-417D-B5BC-5844C5285D8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68CCBDB3-F355-442F-BC6C-4067A69B7AA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52B0241B-D084-45F1-8FD9-C7F9AA61BCF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731D4E9-1E7A-4795-B5CE-61FAF6A47C0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9A2E802-815F-4487-B01D-1407D33B24A5}"/>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2155529-415E-4071-9ED0-08EA3299B3C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Binding bepalen, hoeveelheden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 toegang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tot het product verklaren.</a:t>
            </a:r>
          </a:p>
        </p:txBody>
      </p:sp>
      <p:sp>
        <p:nvSpPr>
          <p:cNvPr id="23" name="">
            <a:extLst xmlns:a="http://schemas.openxmlformats.org/drawingml/2006/main">
              <a:ext uri="{FF2B5EF4-FFF2-40B4-BE49-F238E27FC236}">
                <a16:creationId xmlns:a16="http://schemas.microsoft.com/office/drawing/2014/main" id="{064D3671-3B3C-4961-8035-3EECFD70D94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3225B86-BE4D-4968-BBAE-12778502585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0D8D4266-DC6D-4336-AEDB-38FB586C745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34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32–33</a:t>
            </a:r>
          </a:p>
        </p:txBody>
      </p:sp>
      <p:sp>
        <p:nvSpPr>
          <p:cNvPr id="26" name="">
            <a:extLst xmlns:a="http://schemas.openxmlformats.org/drawingml/2006/main">
              <a:ext uri="{FF2B5EF4-FFF2-40B4-BE49-F238E27FC236}">
                <a16:creationId xmlns:a16="http://schemas.microsoft.com/office/drawing/2014/main" id="{3D40D026-9D21-4CE9-BD75-FA778902C3A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59C5907E-236A-44E4-9C1D-6746EE0C464B}"/>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5BABB45-5C2B-4163-BA70-67BF43BB9D10}"/>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§3.1.4 Maximumprijs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30 en 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32 en 33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685630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4 · Tenten voor een weekend">
            <a:extLst xmlns:a="http://schemas.openxmlformats.org/drawingml/2006/main">
              <a:ext uri="{FF2B5EF4-FFF2-40B4-BE49-F238E27FC236}">
                <a16:creationId xmlns:a16="http://schemas.microsoft.com/office/drawing/2014/main" id="{43A18384-83E1-4D62-8154-F7664D6F39B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Tenten voor een weekend</a:t>
            </a:r>
          </a:p>
        </p:txBody>
      </p:sp>
      <p:sp>
        <p:nvSpPr>
          <p:cNvPr id="2" name="">
            <a:extLst xmlns:a="http://schemas.openxmlformats.org/drawingml/2006/main">
              <a:ext uri="{FF2B5EF4-FFF2-40B4-BE49-F238E27FC236}">
                <a16:creationId xmlns:a16="http://schemas.microsoft.com/office/drawing/2014/main" id="{F6F8DCF8-BFF1-45A9-A8D8-6EF42F647A0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23538B0A-D4B2-4C3B-BE10-0F9D78B181B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 · Boekpagina 37</a:t>
            </a:r>
          </a:p>
        </p:txBody>
      </p:sp>
      <p:sp>
        <p:nvSpPr>
          <p:cNvPr id="4" name="slide-number">
            <a:extLst xmlns:a="http://schemas.openxmlformats.org/drawingml/2006/main">
              <a:ext uri="{FF2B5EF4-FFF2-40B4-BE49-F238E27FC236}">
                <a16:creationId xmlns:a16="http://schemas.microsoft.com/office/drawing/2014/main" id="{7E0C89E5-9241-4012-B85E-F8857B4850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Verschillende bedrijven verhuren dezelfde soort tent.">
            <a:extLst xmlns:a="http://schemas.openxmlformats.org/drawingml/2006/main">
              <a:ext uri="{FF2B5EF4-FFF2-40B4-BE49-F238E27FC236}">
                <a16:creationId xmlns:a16="http://schemas.microsoft.com/office/drawing/2014/main" id="{AEB0DDBB-7D8B-4B47-AEEF-B405914A79E8}"/>
              </a:ext>
            </a:extLst>
          </p:cNvPr>
          <p:cNvSpPr>
            <a:spLocks xmlns:a="http://schemas.openxmlformats.org/drawingml/2006/main" noGrp="1"/>
          </p:cNvSpPr>
          <p:nvPr/>
        </p:nvSpPr>
        <p:spPr>
          <a:xfrm xmlns:a="http://schemas.openxmlformats.org/drawingml/2006/main">
            <a:off x="571500" y="18383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Verschillende bedrijven verhuren dezelfde soort tent.</a:t>
            </a:r>
          </a:p>
        </p:txBody>
      </p:sp>
      <p:sp>
        <p:nvSpPr>
          <p:cNvPr id="6" name="Vraag: P = 18 − 0,10Q&#10;Aanbod: P = 6 + 0,10Q">
            <a:extLst xmlns:a="http://schemas.openxmlformats.org/drawingml/2006/main">
              <a:ext uri="{FF2B5EF4-FFF2-40B4-BE49-F238E27FC236}">
                <a16:creationId xmlns:a16="http://schemas.microsoft.com/office/drawing/2014/main" id="{A2DA66FB-F80F-410F-B4FB-EF1854ED8300}"/>
              </a:ext>
            </a:extLst>
          </p:cNvPr>
          <p:cNvSpPr>
            <a:spLocks xmlns:a="http://schemas.openxmlformats.org/drawingml/2006/main" noGrp="1"/>
          </p:cNvSpPr>
          <p:nvPr/>
        </p:nvSpPr>
        <p:spPr>
          <a:xfrm xmlns:a="http://schemas.openxmlformats.org/drawingml/2006/main">
            <a:off x="571500" y="2914650"/>
            <a:ext cx="14097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Vraag: P = 18 − 0,10Q</a:t>
            </a:r>
          </a:p>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Aanbod: P = 6 + 0,10Q</a:t>
            </a:r>
          </a:p>
        </p:txBody>
      </p:sp>
      <p:sp>
        <p:nvSpPr>
          <p:cNvPr id="7" name="P is de huur in euro per tent voor één weekend.&#10;Q is tenten ">
            <a:extLst xmlns:a="http://schemas.openxmlformats.org/drawingml/2006/main">
              <a:ext uri="{FF2B5EF4-FFF2-40B4-BE49-F238E27FC236}">
                <a16:creationId xmlns:a16="http://schemas.microsoft.com/office/drawing/2014/main" id="{D38A475B-49CD-45FA-9C28-1A983D57745A}"/>
              </a:ext>
            </a:extLst>
          </p:cNvPr>
          <p:cNvSpPr>
            <a:spLocks xmlns:a="http://schemas.openxmlformats.org/drawingml/2006/main" noGrp="1"/>
          </p:cNvSpPr>
          <p:nvPr/>
        </p:nvSpPr>
        <p:spPr>
          <a:xfrm xmlns:a="http://schemas.openxmlformats.org/drawingml/2006/main">
            <a:off x="571500" y="472440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 is de huur in euro per tent voor één weekend.</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is tenten per weekend.</a:t>
            </a:r>
          </a:p>
        </p:txBody>
      </p:sp>
      <p:sp>
        <p:nvSpPr>
          <p:cNvPr id="8" name="Er komt een maximumprijs van € 10. Er is geen extra aanvoer.">
            <a:extLst xmlns:a="http://schemas.openxmlformats.org/drawingml/2006/main">
              <a:ext uri="{FF2B5EF4-FFF2-40B4-BE49-F238E27FC236}">
                <a16:creationId xmlns:a16="http://schemas.microsoft.com/office/drawing/2014/main" id="{CD0FDC24-F9D9-4C1E-8A29-612CCD02D7A2}"/>
              </a:ext>
            </a:extLst>
          </p:cNvPr>
          <p:cNvSpPr>
            <a:spLocks xmlns:a="http://schemas.openxmlformats.org/drawingml/2006/main" noGrp="1"/>
          </p:cNvSpPr>
          <p:nvPr/>
        </p:nvSpPr>
        <p:spPr>
          <a:xfrm xmlns:a="http://schemas.openxmlformats.org/drawingml/2006/main">
            <a:off x="571500" y="61912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Er komt een maximumprijs van € 10. Er is geen extra aanvoer.</a:t>
            </a:r>
          </a:p>
        </p:txBody>
      </p:sp>
      <p:sp>
        <p:nvSpPr>
          <p:cNvPr id="9" name="Alle aangeboden tenten worden verhuurd, aan de vragers&#10;met d">
            <a:extLst xmlns:a="http://schemas.openxmlformats.org/drawingml/2006/main">
              <a:ext uri="{FF2B5EF4-FFF2-40B4-BE49-F238E27FC236}">
                <a16:creationId xmlns:a16="http://schemas.microsoft.com/office/drawing/2014/main" id="{2B2B28F8-CB1E-40FD-8F73-181A3A297157}"/>
              </a:ext>
            </a:extLst>
          </p:cNvPr>
          <p:cNvSpPr>
            <a:spLocks xmlns:a="http://schemas.openxmlformats.org/drawingml/2006/main" noGrp="1"/>
          </p:cNvSpPr>
          <p:nvPr/>
        </p:nvSpPr>
        <p:spPr>
          <a:xfrm xmlns:a="http://schemas.openxmlformats.org/drawingml/2006/main">
            <a:off x="571500" y="707707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Alle aangeboden tenten worden verhuurd, aan de vragers</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met de hoogste betalingsbereidheid.</a:t>
            </a:r>
          </a:p>
        </p:txBody>
      </p:sp>
    </p:spTree>
    <p:extLst>
      <p:ext uri="{BB962C8B-B14F-4D97-AF65-F5344CB8AC3E}">
        <p14:creationId xmlns:p14="http://schemas.microsoft.com/office/powerpoint/2010/main" val="8304261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4 · Deelvragen a en b">
            <a:extLst xmlns:a="http://schemas.openxmlformats.org/drawingml/2006/main">
              <a:ext uri="{FF2B5EF4-FFF2-40B4-BE49-F238E27FC236}">
                <a16:creationId xmlns:a16="http://schemas.microsoft.com/office/drawing/2014/main" id="{4A82C095-752B-46B7-8881-5BC73F96FA2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Deelvragen a en b</a:t>
            </a:r>
          </a:p>
        </p:txBody>
      </p:sp>
      <p:sp>
        <p:nvSpPr>
          <p:cNvPr id="2" name="">
            <a:extLst xmlns:a="http://schemas.openxmlformats.org/drawingml/2006/main">
              <a:ext uri="{FF2B5EF4-FFF2-40B4-BE49-F238E27FC236}">
                <a16:creationId xmlns:a16="http://schemas.microsoft.com/office/drawing/2014/main" id="{EC4029AB-1206-4E87-9832-9A0D5B6216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8A6F8FD-177A-487F-A2D6-98103F0B4399}"/>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 · Boekpagina 37</a:t>
            </a:r>
          </a:p>
        </p:txBody>
      </p:sp>
      <p:sp>
        <p:nvSpPr>
          <p:cNvPr id="4" name="slide-number">
            <a:extLst xmlns:a="http://schemas.openxmlformats.org/drawingml/2006/main">
              <a:ext uri="{FF2B5EF4-FFF2-40B4-BE49-F238E27FC236}">
                <a16:creationId xmlns:a16="http://schemas.microsoft.com/office/drawing/2014/main" id="{AE73FDB7-AE24-496F-9717-0B98637CC36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a:extLst xmlns:a="http://schemas.openxmlformats.org/drawingml/2006/main">
              <a:ext uri="{FF2B5EF4-FFF2-40B4-BE49-F238E27FC236}">
                <a16:creationId xmlns:a16="http://schemas.microsoft.com/office/drawing/2014/main" id="{0A324B2F-0507-4115-A82D-52B80034AE82}"/>
              </a:ext>
            </a:extLst>
          </p:cNvPr>
          <p:cNvSpPr>
            <a:spLocks xmlns:a="http://schemas.openxmlformats.org/drawingml/2006/main" noGrp="1"/>
          </p:cNvSpPr>
          <p:nvPr/>
        </p:nvSpPr>
        <p:spPr>
          <a:xfrm xmlns:a="http://schemas.openxmlformats.org/drawingml/2006/main">
            <a:off x="571500" y="23526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a.</a:t>
            </a:r>
          </a:p>
        </p:txBody>
      </p:sp>
      <p:sp>
        <p:nvSpPr>
          <p:cNvPr id="6" name="Bereken de vrije evenwichtsprijs en -hoeveelheid.&#10;Leg uit of">
            <a:extLst xmlns:a="http://schemas.openxmlformats.org/drawingml/2006/main">
              <a:ext uri="{FF2B5EF4-FFF2-40B4-BE49-F238E27FC236}">
                <a16:creationId xmlns:a16="http://schemas.microsoft.com/office/drawing/2014/main" id="{00BFCEE6-C168-416D-9E26-046A177D16AD}"/>
              </a:ext>
            </a:extLst>
          </p:cNvPr>
          <p:cNvSpPr>
            <a:spLocks xmlns:a="http://schemas.openxmlformats.org/drawingml/2006/main" noGrp="1"/>
          </p:cNvSpPr>
          <p:nvPr/>
        </p:nvSpPr>
        <p:spPr>
          <a:xfrm xmlns:a="http://schemas.openxmlformats.org/drawingml/2006/main">
            <a:off x="1524000" y="2352675"/>
            <a:ext cx="1314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Bereken de vrije evenwichtsprijs en -hoeveelheid.</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Leg uit of de maximumprijs bindt.</a:t>
            </a:r>
          </a:p>
        </p:txBody>
      </p:sp>
      <p:sp>
        <p:nvSpPr>
          <p:cNvPr id="7" name="">
            <a:extLst xmlns:a="http://schemas.openxmlformats.org/drawingml/2006/main">
              <a:ext uri="{FF2B5EF4-FFF2-40B4-BE49-F238E27FC236}">
                <a16:creationId xmlns:a16="http://schemas.microsoft.com/office/drawing/2014/main" id="{D2E3F51E-1EEC-4C68-B3FE-24F3998353C9}"/>
              </a:ext>
            </a:extLst>
          </p:cNvPr>
          <p:cNvSpPr>
            <a:spLocks xmlns:a="http://schemas.openxmlformats.org/drawingml/2006/main" noGrp="1"/>
          </p:cNvSpPr>
          <p:nvPr/>
        </p:nvSpPr>
        <p:spPr>
          <a:xfrm xmlns:a="http://schemas.openxmlformats.org/drawingml/2006/main">
            <a:off x="571500" y="4305300"/>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E30CB168-CE47-428F-A089-B49A03AC2C29}"/>
              </a:ext>
            </a:extLst>
          </p:cNvPr>
          <p:cNvSpPr>
            <a:spLocks xmlns:a="http://schemas.openxmlformats.org/drawingml/2006/main" noGrp="1"/>
          </p:cNvSpPr>
          <p:nvPr/>
        </p:nvSpPr>
        <p:spPr>
          <a:xfrm xmlns:a="http://schemas.openxmlformats.org/drawingml/2006/main">
            <a:off x="571500" y="49434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b.</a:t>
            </a:r>
          </a:p>
        </p:txBody>
      </p:sp>
      <p:sp>
        <p:nvSpPr>
          <p:cNvPr id="9" name="Bereken de gevraagde en aangeboden hoeveelheid,&#10;het werkelij">
            <a:extLst xmlns:a="http://schemas.openxmlformats.org/drawingml/2006/main">
              <a:ext uri="{FF2B5EF4-FFF2-40B4-BE49-F238E27FC236}">
                <a16:creationId xmlns:a16="http://schemas.microsoft.com/office/drawing/2014/main" id="{DDEA8E35-5691-4012-9E18-C01D4FF56A65}"/>
              </a:ext>
            </a:extLst>
          </p:cNvPr>
          <p:cNvSpPr>
            <a:spLocks xmlns:a="http://schemas.openxmlformats.org/drawingml/2006/main" noGrp="1"/>
          </p:cNvSpPr>
          <p:nvPr/>
        </p:nvSpPr>
        <p:spPr>
          <a:xfrm xmlns:a="http://schemas.openxmlformats.org/drawingml/2006/main">
            <a:off x="1524000" y="4943475"/>
            <a:ext cx="131445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Bereken de gevraagde en aangeboden hoeveelheid,</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het werkelijke aantal verhuurde tenten en het tekort.</a:t>
            </a:r>
          </a:p>
        </p:txBody>
      </p:sp>
    </p:spTree>
    <p:extLst>
      <p:ext uri="{BB962C8B-B14F-4D97-AF65-F5344CB8AC3E}">
        <p14:creationId xmlns:p14="http://schemas.microsoft.com/office/powerpoint/2010/main" val="18155097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34 · Deelvraag c en basisgrafiek">
            <a:extLst xmlns:a="http://schemas.openxmlformats.org/drawingml/2006/main">
              <a:ext uri="{FF2B5EF4-FFF2-40B4-BE49-F238E27FC236}">
                <a16:creationId xmlns:a16="http://schemas.microsoft.com/office/drawing/2014/main" id="{3ECD8694-FA04-4783-BEA1-8A406FD975D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Deelvraag c en basisgrafiek</a:t>
            </a:r>
          </a:p>
        </p:txBody>
      </p:sp>
      <p:sp>
        <p:nvSpPr>
          <p:cNvPr id="2" name="">
            <a:extLst xmlns:a="http://schemas.openxmlformats.org/drawingml/2006/main">
              <a:ext uri="{FF2B5EF4-FFF2-40B4-BE49-F238E27FC236}">
                <a16:creationId xmlns:a16="http://schemas.microsoft.com/office/drawing/2014/main" id="{9D8D1F79-92F1-48D1-845F-80DD2B7A7E2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28AC7E5-3757-4287-BFB8-31BA4E63F5D4}"/>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 · Boekpagina 37</a:t>
            </a:r>
          </a:p>
        </p:txBody>
      </p:sp>
      <p:sp>
        <p:nvSpPr>
          <p:cNvPr id="4" name="slide-number">
            <a:extLst xmlns:a="http://schemas.openxmlformats.org/drawingml/2006/main">
              <a:ext uri="{FF2B5EF4-FFF2-40B4-BE49-F238E27FC236}">
                <a16:creationId xmlns:a16="http://schemas.microsoft.com/office/drawing/2014/main" id="{79457CEA-7FDA-4DDC-9E11-0C94CF9584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c. Teken de maximumprijs in de basisgrafiek.">
            <a:extLst xmlns:a="http://schemas.openxmlformats.org/drawingml/2006/main">
              <a:ext uri="{FF2B5EF4-FFF2-40B4-BE49-F238E27FC236}">
                <a16:creationId xmlns:a16="http://schemas.microsoft.com/office/drawing/2014/main" id="{528ED778-0955-422F-932B-03ABD47E6E1A}"/>
              </a:ext>
            </a:extLst>
          </p:cNvPr>
          <p:cNvSpPr>
            <a:spLocks xmlns:a="http://schemas.openxmlformats.org/drawingml/2006/main" noGrp="1"/>
          </p:cNvSpPr>
          <p:nvPr/>
        </p:nvSpPr>
        <p:spPr>
          <a:xfrm xmlns:a="http://schemas.openxmlformats.org/drawingml/2006/main">
            <a:off x="571500" y="17526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c. Teken de maximumprijs in de basisgrafiek.</a:t>
            </a:r>
          </a:p>
        </p:txBody>
      </p:sp>
      <p:graphicFrame>
        <p:nvGraphicFramePr>
          <p:cNvPr id="14" name="Chart"/>
          <p:cNvGraphicFramePr/>
          <p:nvPr/>
        </p:nvGraphicFramePr>
        <p:xfrm>
          <a:off xmlns:a="http://schemas.openxmlformats.org/drawingml/2006/main" x="571500" y="2247900"/>
          <a:ext xmlns:a="http://schemas.openxmlformats.org/drawingml/2006/main" cx="10191750" cy="5429250"/>
        </p:xfrm>
        <a:graphic xmlns:a="http://schemas.openxmlformats.org/drawingml/2006/main">
          <a:graphicData uri="http://schemas.openxmlformats.org/drawingml/2006/chart">
            <c:chart xmlns:r="http://schemas.openxmlformats.org/officeDocument/2006/relationships" xmlns:c="http://schemas.openxmlformats.org/drawingml/2006/chart" r:id="R31978306b77946b7"/>
          </a:graphicData>
        </a:graphic>
      </p:graphicFrame>
      <p:sp>
        <p:nvSpPr>
          <p:cNvPr id="7" name="Markeer Qv, Qa&#10;en het werkelijke&#10;aantal verhuringen.&#10;&#10;Geef h">
            <a:extLst xmlns:a="http://schemas.openxmlformats.org/drawingml/2006/main">
              <a:ext uri="{FF2B5EF4-FFF2-40B4-BE49-F238E27FC236}">
                <a16:creationId xmlns:a16="http://schemas.microsoft.com/office/drawing/2014/main" id="{8F1ADC68-0AEF-44CD-91FD-E1718F3EDDDC}"/>
              </a:ext>
            </a:extLst>
          </p:cNvPr>
          <p:cNvSpPr>
            <a:spLocks xmlns:a="http://schemas.openxmlformats.org/drawingml/2006/main" noGrp="1"/>
          </p:cNvSpPr>
          <p:nvPr/>
        </p:nvSpPr>
        <p:spPr>
          <a:xfrm xmlns:a="http://schemas.openxmlformats.org/drawingml/2006/main">
            <a:off x="11191875" y="3000375"/>
            <a:ext cx="3476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Markeer Qv, Qa</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en het werkelijke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aantal verhuringen.</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Geef het tekort aan.</a:t>
            </a:r>
          </a:p>
        </p:txBody>
      </p:sp>
      <p:sp>
        <p:nvSpPr>
          <p:cNvPr id="8" name="Geen belasting-&#10;of subsidiewig">
            <a:extLst xmlns:a="http://schemas.openxmlformats.org/drawingml/2006/main">
              <a:ext uri="{FF2B5EF4-FFF2-40B4-BE49-F238E27FC236}">
                <a16:creationId xmlns:a16="http://schemas.microsoft.com/office/drawing/2014/main" id="{50BC0F16-D574-48C5-B464-9789A9270E29}"/>
              </a:ext>
            </a:extLst>
          </p:cNvPr>
          <p:cNvSpPr>
            <a:spLocks xmlns:a="http://schemas.openxmlformats.org/drawingml/2006/main" noGrp="1"/>
          </p:cNvSpPr>
          <p:nvPr/>
        </p:nvSpPr>
        <p:spPr>
          <a:xfrm xmlns:a="http://schemas.openxmlformats.org/drawingml/2006/main">
            <a:off x="11191875" y="6838950"/>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445B6B"/>
                </a:solidFill>
                <a:latin typeface="Arial"/>
                <a:ea typeface="Arial"/>
                <a:cs typeface="Arial"/>
              </a:defRPr>
            </a:pPr>
            <a:r>
              <a:rPr sz="2325" b="0">
                <a:solidFill>
                  <a:srgbClr val="445B6B"/>
                </a:solidFill>
                <a:latin typeface="Arial"/>
                <a:ea typeface="Arial"/>
                <a:cs typeface="Arial"/>
              </a:rPr>
              <a:t>Geen belasting-</a:t>
            </a:r>
          </a:p>
          <a:p xmlns:a="http://schemas.openxmlformats.org/drawingml/2006/main">
            <a:pPr algn="l">
              <a:defRPr sz="2325" b="0">
                <a:solidFill>
                  <a:srgbClr val="445B6B"/>
                </a:solidFill>
                <a:latin typeface="Arial"/>
                <a:ea typeface="Arial"/>
                <a:cs typeface="Arial"/>
              </a:defRPr>
            </a:pPr>
            <a:r>
              <a:rPr sz="2325" b="0">
                <a:solidFill>
                  <a:srgbClr val="445B6B"/>
                </a:solidFill>
                <a:latin typeface="Arial"/>
                <a:ea typeface="Arial"/>
                <a:cs typeface="Arial"/>
              </a:rPr>
              <a:t>of subsidiewig</a:t>
            </a:r>
          </a:p>
        </p:txBody>
      </p:sp>
    </p:spTree>
    <p:extLst>
      <p:ext uri="{BB962C8B-B14F-4D97-AF65-F5344CB8AC3E}">
        <p14:creationId xmlns:p14="http://schemas.microsoft.com/office/powerpoint/2010/main" val="16075332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4 · Deelvragen d en e">
            <a:extLst xmlns:a="http://schemas.openxmlformats.org/drawingml/2006/main">
              <a:ext uri="{FF2B5EF4-FFF2-40B4-BE49-F238E27FC236}">
                <a16:creationId xmlns:a16="http://schemas.microsoft.com/office/drawing/2014/main" id="{322BE6AB-19EA-47EB-BDDD-C4D504E4C2E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34 · Deelvragen d en e</a:t>
            </a:r>
          </a:p>
        </p:txBody>
      </p:sp>
      <p:sp>
        <p:nvSpPr>
          <p:cNvPr id="2" name="">
            <a:extLst xmlns:a="http://schemas.openxmlformats.org/drawingml/2006/main">
              <a:ext uri="{FF2B5EF4-FFF2-40B4-BE49-F238E27FC236}">
                <a16:creationId xmlns:a16="http://schemas.microsoft.com/office/drawing/2014/main" id="{9D25D989-9C80-4FED-9D46-F421079573E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2C8F6F6-0F5D-44A8-88A8-9D3FFE23940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 · Boekpagina 37</a:t>
            </a:r>
          </a:p>
        </p:txBody>
      </p:sp>
      <p:sp>
        <p:nvSpPr>
          <p:cNvPr id="4" name="slide-number">
            <a:extLst xmlns:a="http://schemas.openxmlformats.org/drawingml/2006/main">
              <a:ext uri="{FF2B5EF4-FFF2-40B4-BE49-F238E27FC236}">
                <a16:creationId xmlns:a16="http://schemas.microsoft.com/office/drawing/2014/main" id="{240429A4-9CC7-4029-BE73-748B2F5F68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
            <a:extLst xmlns:a="http://schemas.openxmlformats.org/drawingml/2006/main">
              <a:ext uri="{FF2B5EF4-FFF2-40B4-BE49-F238E27FC236}">
                <a16:creationId xmlns:a16="http://schemas.microsoft.com/office/drawing/2014/main" id="{D89DE556-8C96-45EE-BE3A-396A6769339F}"/>
              </a:ext>
            </a:extLst>
          </p:cNvPr>
          <p:cNvSpPr>
            <a:spLocks xmlns:a="http://schemas.openxmlformats.org/drawingml/2006/main" noGrp="1"/>
          </p:cNvSpPr>
          <p:nvPr/>
        </p:nvSpPr>
        <p:spPr>
          <a:xfrm xmlns:a="http://schemas.openxmlformats.org/drawingml/2006/main">
            <a:off x="571500" y="209550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d.</a:t>
            </a:r>
          </a:p>
        </p:txBody>
      </p:sp>
      <p:sp>
        <p:nvSpPr>
          <p:cNvPr id="6" name="Een huurder zegt: “De lagere huur is goed voor iedereen&#10;die ">
            <a:extLst xmlns:a="http://schemas.openxmlformats.org/drawingml/2006/main">
              <a:ext uri="{FF2B5EF4-FFF2-40B4-BE49-F238E27FC236}">
                <a16:creationId xmlns:a16="http://schemas.microsoft.com/office/drawing/2014/main" id="{3C04AB6B-8D5A-4A3F-85ED-AF7D097F22FE}"/>
              </a:ext>
            </a:extLst>
          </p:cNvPr>
          <p:cNvSpPr>
            <a:spLocks xmlns:a="http://schemas.openxmlformats.org/drawingml/2006/main" noGrp="1"/>
          </p:cNvSpPr>
          <p:nvPr/>
        </p:nvSpPr>
        <p:spPr>
          <a:xfrm xmlns:a="http://schemas.openxmlformats.org/drawingml/2006/main">
            <a:off x="1524000" y="2095500"/>
            <a:ext cx="13144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Een huurder zegt: “De lagere huur is goed voor iedereen</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die voor € 10 een tent wil huren.”</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Beoordeel met de uitkomsten en de toewijzingsregel.</a:t>
            </a:r>
          </a:p>
        </p:txBody>
      </p:sp>
      <p:sp>
        <p:nvSpPr>
          <p:cNvPr id="7" name="">
            <a:extLst xmlns:a="http://schemas.openxmlformats.org/drawingml/2006/main">
              <a:ext uri="{FF2B5EF4-FFF2-40B4-BE49-F238E27FC236}">
                <a16:creationId xmlns:a16="http://schemas.microsoft.com/office/drawing/2014/main" id="{C6290EB7-2379-48F2-B7FF-A605942B6A1E}"/>
              </a:ext>
            </a:extLst>
          </p:cNvPr>
          <p:cNvSpPr>
            <a:spLocks xmlns:a="http://schemas.openxmlformats.org/drawingml/2006/main" noGrp="1"/>
          </p:cNvSpPr>
          <p:nvPr/>
        </p:nvSpPr>
        <p:spPr>
          <a:xfrm xmlns:a="http://schemas.openxmlformats.org/drawingml/2006/main">
            <a:off x="571500" y="4762500"/>
            <a:ext cx="14097000" cy="0"/>
          </a:xfrm>
          <a:prstGeom xmlns:a="http://schemas.openxmlformats.org/drawingml/2006/main" prst="line">
            <a:avLst/>
          </a:prstGeom>
          <a:ln xmlns:a="http://schemas.openxmlformats.org/drawingml/2006/main" w="19050">
            <a:solidFill>
              <a:srgbClr val="C6D2DB"/>
            </a:solidFill>
          </a:ln>
        </p:spPr>
      </p:sp>
      <p:sp>
        <p:nvSpPr>
          <p:cNvPr id="8" name="e.">
            <a:extLst xmlns:a="http://schemas.openxmlformats.org/drawingml/2006/main">
              <a:ext uri="{FF2B5EF4-FFF2-40B4-BE49-F238E27FC236}">
                <a16:creationId xmlns:a16="http://schemas.microsoft.com/office/drawing/2014/main" id="{32F12DF8-A3F6-48E8-BAAD-FF4BF5DC8817}"/>
              </a:ext>
            </a:extLst>
          </p:cNvPr>
          <p:cNvSpPr>
            <a:spLocks xmlns:a="http://schemas.openxmlformats.org/drawingml/2006/main" noGrp="1"/>
          </p:cNvSpPr>
          <p:nvPr/>
        </p:nvSpPr>
        <p:spPr>
          <a:xfrm xmlns:a="http://schemas.openxmlformats.org/drawingml/2006/main">
            <a:off x="571500" y="53911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e.</a:t>
            </a:r>
          </a:p>
        </p:txBody>
      </p:sp>
      <p:sp>
        <p:nvSpPr>
          <p:cNvPr id="9" name="Stel dat de maximumprijs € 14 is in plaats van € 10.&#10;Geef da">
            <a:extLst xmlns:a="http://schemas.openxmlformats.org/drawingml/2006/main">
              <a:ext uri="{FF2B5EF4-FFF2-40B4-BE49-F238E27FC236}">
                <a16:creationId xmlns:a16="http://schemas.microsoft.com/office/drawing/2014/main" id="{59380B5C-2A2D-41D3-92FD-349577B5FA24}"/>
              </a:ext>
            </a:extLst>
          </p:cNvPr>
          <p:cNvSpPr>
            <a:spLocks xmlns:a="http://schemas.openxmlformats.org/drawingml/2006/main" noGrp="1"/>
          </p:cNvSpPr>
          <p:nvPr/>
        </p:nvSpPr>
        <p:spPr>
          <a:xfrm xmlns:a="http://schemas.openxmlformats.org/drawingml/2006/main">
            <a:off x="1524000" y="5391150"/>
            <a:ext cx="131445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Stel dat de maximumprijs € 14 is in plaats van € 10.</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Geef dan de werkelijke huur en het aantal verhuringen.</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Licht toe.</a:t>
            </a:r>
          </a:p>
        </p:txBody>
      </p:sp>
    </p:spTree>
    <p:extLst>
      <p:ext uri="{BB962C8B-B14F-4D97-AF65-F5344CB8AC3E}">
        <p14:creationId xmlns:p14="http://schemas.microsoft.com/office/powerpoint/2010/main" val="4702501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34a · Vrij evenwicht en binding">
            <a:extLst xmlns:a="http://schemas.openxmlformats.org/drawingml/2006/main">
              <a:ext uri="{FF2B5EF4-FFF2-40B4-BE49-F238E27FC236}">
                <a16:creationId xmlns:a16="http://schemas.microsoft.com/office/drawing/2014/main" id="{4DD5CFA9-7135-484A-AE1B-84D85942EA0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34a · Vrij evenwicht en binding</a:t>
            </a:r>
          </a:p>
        </p:txBody>
      </p:sp>
      <p:sp>
        <p:nvSpPr>
          <p:cNvPr id="2" name="">
            <a:extLst xmlns:a="http://schemas.openxmlformats.org/drawingml/2006/main">
              <a:ext uri="{FF2B5EF4-FFF2-40B4-BE49-F238E27FC236}">
                <a16:creationId xmlns:a16="http://schemas.microsoft.com/office/drawing/2014/main" id="{3C23261D-9EEC-4CEF-8C81-E6FEA36612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4E150CD-994C-4664-90B2-59C9C3DA6BB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34a · Boekpagina 37</a:t>
            </a:r>
          </a:p>
        </p:txBody>
      </p:sp>
      <p:sp>
        <p:nvSpPr>
          <p:cNvPr id="4" name="slide-number">
            <a:extLst xmlns:a="http://schemas.openxmlformats.org/drawingml/2006/main">
              <a:ext uri="{FF2B5EF4-FFF2-40B4-BE49-F238E27FC236}">
                <a16:creationId xmlns:a16="http://schemas.microsoft.com/office/drawing/2014/main" id="{4818EB08-4367-411B-8AA2-645E56A549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18 − 0,10Q = 6 + 0,10Q&#10;12 = 0,20Q&#10;Q₀ = 60 tenten per weekend">
            <a:extLst xmlns:a="http://schemas.openxmlformats.org/drawingml/2006/main">
              <a:ext uri="{FF2B5EF4-FFF2-40B4-BE49-F238E27FC236}">
                <a16:creationId xmlns:a16="http://schemas.microsoft.com/office/drawing/2014/main" id="{7F864C65-ED6F-41D9-B7AA-A590E5D170D0}"/>
              </a:ext>
            </a:extLst>
          </p:cNvPr>
          <p:cNvSpPr>
            <a:spLocks xmlns:a="http://schemas.openxmlformats.org/drawingml/2006/main" noGrp="1"/>
          </p:cNvSpPr>
          <p:nvPr/>
        </p:nvSpPr>
        <p:spPr>
          <a:xfrm xmlns:a="http://schemas.openxmlformats.org/drawingml/2006/main">
            <a:off x="571500" y="2171700"/>
            <a:ext cx="14097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18 − 0,10Q = 6 + 0,10Q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12 = 0,20Q</a:t>
            </a:r>
          </a:p>
          <a:p xmlns:a="http://schemas.openxmlformats.org/drawingml/2006/main">
            <a:pPr algn="l">
              <a:defRPr sz="3525" b="0">
                <a:solidFill>
                  <a:srgbClr val="183247"/>
                </a:solidFill>
                <a:latin typeface="Arial"/>
                <a:ea typeface="Arial"/>
                <a:cs typeface="Arial"/>
              </a:defRPr>
            </a:pPr>
            <a:r>
              <a:rPr sz="3525" b="0">
                <a:solidFill>
                  <a:srgbClr val="183247"/>
                </a:solidFill>
                <a:latin typeface="Arial"/>
                <a:ea typeface="Arial"/>
                <a:cs typeface="Arial"/>
              </a:rPr>
              <a:t>Q₀ = 60 tenten per weekend</a:t>
            </a:r>
          </a:p>
        </p:txBody>
      </p:sp>
      <p:sp>
        <p:nvSpPr>
          <p:cNvPr id="6" name="P₀ = 18 − 0,10 × 60 = € 12 per tent">
            <a:extLst xmlns:a="http://schemas.openxmlformats.org/drawingml/2006/main">
              <a:ext uri="{FF2B5EF4-FFF2-40B4-BE49-F238E27FC236}">
                <a16:creationId xmlns:a16="http://schemas.microsoft.com/office/drawing/2014/main" id="{FBA0DA32-6837-4F95-B492-7308B6E1AF67}"/>
              </a:ext>
            </a:extLst>
          </p:cNvPr>
          <p:cNvSpPr>
            <a:spLocks xmlns:a="http://schemas.openxmlformats.org/drawingml/2006/main" noGrp="1"/>
          </p:cNvSpPr>
          <p:nvPr/>
        </p:nvSpPr>
        <p:spPr>
          <a:xfrm xmlns:a="http://schemas.openxmlformats.org/drawingml/2006/main">
            <a:off x="571500" y="482917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A5276"/>
                </a:solidFill>
                <a:latin typeface="Arial"/>
                <a:ea typeface="Arial"/>
                <a:cs typeface="Arial"/>
              </a:defRPr>
            </a:pPr>
            <a:r>
              <a:rPr sz="3375" b="1">
                <a:solidFill>
                  <a:srgbClr val="1A5276"/>
                </a:solidFill>
                <a:latin typeface="Arial"/>
                <a:ea typeface="Arial"/>
                <a:cs typeface="Arial"/>
              </a:rPr>
              <a:t>P₀ = 18 − 0,10 × 60 = € 12 per tent</a:t>
            </a:r>
          </a:p>
        </p:txBody>
      </p:sp>
      <p:sp>
        <p:nvSpPr>
          <p:cNvPr id="7" name="Controle: 6 + 0,10 × 60 = € 12">
            <a:extLst xmlns:a="http://schemas.openxmlformats.org/drawingml/2006/main">
              <a:ext uri="{FF2B5EF4-FFF2-40B4-BE49-F238E27FC236}">
                <a16:creationId xmlns:a16="http://schemas.microsoft.com/office/drawing/2014/main" id="{3A472B7A-35FC-4A17-8EB5-E8525D782549}"/>
              </a:ext>
            </a:extLst>
          </p:cNvPr>
          <p:cNvSpPr>
            <a:spLocks xmlns:a="http://schemas.openxmlformats.org/drawingml/2006/main" noGrp="1"/>
          </p:cNvSpPr>
          <p:nvPr/>
        </p:nvSpPr>
        <p:spPr>
          <a:xfrm xmlns:a="http://schemas.openxmlformats.org/drawingml/2006/main">
            <a:off x="571500" y="589597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Controle: 6 + 0,10 × 60 = € 12</a:t>
            </a:r>
          </a:p>
        </p:txBody>
      </p:sp>
      <p:sp>
        <p:nvSpPr>
          <p:cNvPr id="8" name="€ 10 &lt; € 12. De maximumprijs bindt.">
            <a:extLst xmlns:a="http://schemas.openxmlformats.org/drawingml/2006/main">
              <a:ext uri="{FF2B5EF4-FFF2-40B4-BE49-F238E27FC236}">
                <a16:creationId xmlns:a16="http://schemas.microsoft.com/office/drawing/2014/main" id="{80755C9B-99BE-4614-AEA0-29AE7F4FD933}"/>
              </a:ext>
            </a:extLst>
          </p:cNvPr>
          <p:cNvSpPr>
            <a:spLocks xmlns:a="http://schemas.openxmlformats.org/drawingml/2006/main" noGrp="1"/>
          </p:cNvSpPr>
          <p:nvPr/>
        </p:nvSpPr>
        <p:spPr>
          <a:xfrm xmlns:a="http://schemas.openxmlformats.org/drawingml/2006/main">
            <a:off x="571500" y="710565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€ 10 &lt; € 12. De maximumprijs bindt.</a:t>
            </a:r>
          </a:p>
        </p:txBody>
      </p:sp>
    </p:spTree>
    <p:extLst>
      <p:ext uri="{BB962C8B-B14F-4D97-AF65-F5344CB8AC3E}">
        <p14:creationId xmlns:p14="http://schemas.microsoft.com/office/powerpoint/2010/main" val="97915631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4b · Vraag en aanbod bij € 10">
            <a:extLst xmlns:a="http://schemas.openxmlformats.org/drawingml/2006/main">
              <a:ext uri="{FF2B5EF4-FFF2-40B4-BE49-F238E27FC236}">
                <a16:creationId xmlns:a16="http://schemas.microsoft.com/office/drawing/2014/main" id="{7C7BA954-7C4D-447F-A76B-0AB9C480F71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34b · Vraag en aanbod bij € 10</a:t>
            </a:r>
          </a:p>
        </p:txBody>
      </p:sp>
      <p:sp>
        <p:nvSpPr>
          <p:cNvPr id="2" name="">
            <a:extLst xmlns:a="http://schemas.openxmlformats.org/drawingml/2006/main">
              <a:ext uri="{FF2B5EF4-FFF2-40B4-BE49-F238E27FC236}">
                <a16:creationId xmlns:a16="http://schemas.microsoft.com/office/drawing/2014/main" id="{D92EF08C-555E-4F94-91DA-682EEE2755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A892911-90CC-4327-B00A-F358D091D46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34b · Boekpagina 37</a:t>
            </a:r>
          </a:p>
        </p:txBody>
      </p:sp>
      <p:sp>
        <p:nvSpPr>
          <p:cNvPr id="4" name="slide-number">
            <a:extLst xmlns:a="http://schemas.openxmlformats.org/drawingml/2006/main">
              <a:ext uri="{FF2B5EF4-FFF2-40B4-BE49-F238E27FC236}">
                <a16:creationId xmlns:a16="http://schemas.microsoft.com/office/drawing/2014/main" id="{E7DCDFF7-F05C-44C5-B47A-78BBABE8C3A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2" name=""/>
          <p:cNvGraphicFramePr/>
          <p:nvPr/>
        </p:nvGraphicFramePr>
        <p:xfrm>
          <a:off xmlns:a="http://schemas.openxmlformats.org/drawingml/2006/main" x="571500" y="2276475"/>
          <a:ext xmlns:a="http://schemas.openxmlformats.org/drawingml/2006/main" cx="14097000" cy="3562350"/>
        </p:xfrm>
        <a:graphic xmlns:a="http://schemas.openxmlformats.org/drawingml/2006/main">
          <a:graphicData uri="http://schemas.openxmlformats.org/drawingml/2006/table">
            <a:tbl>
              <a:tblPr/>
              <a:tblGrid>
                <a:gridCol w="7048500"/>
                <a:gridCol w="7048500"/>
              </a:tblGrid>
              <a:tr h="890588">
                <a:tc>
                  <a:txBody>
                    <a:bodyPr lIns="171450" tIns="85725" rIns="152400" bIns="85725"/>
                    <a:lstStyle/>
                    <a:p>
                      <a:r>
                        <a:rPr sz="2700" b="1">
                          <a:solidFill>
                            <a:srgbClr val="FFFFFF"/>
                          </a:solidFill>
                          <a:latin typeface="Arial"/>
                          <a:ea typeface="Arial"/>
                          <a:cs typeface="Arial"/>
                        </a:rPr>
                        <a:t>Gevraagd</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Aangeboden</a:t>
                      </a:r>
                    </a:p>
                  </a:txBody>
                  <a:tcPr marL="91440" marR="91440" marT="45720" marB="45720" anchor="ctr">
                    <a:solidFill>
                      <a:srgbClr val="183247"/>
                    </a:solidFill>
                  </a:tcPr>
                </a:tc>
              </a:tr>
              <a:tr h="890588">
                <a:tc>
                  <a:txBody>
                    <a:bodyPr lIns="171450" tIns="85725" rIns="152400" bIns="85725"/>
                    <a:lstStyle/>
                    <a:p>
                      <a:r>
                        <a:rPr sz="2700" b="0">
                          <a:solidFill>
                            <a:srgbClr val="183247"/>
                          </a:solidFill>
                          <a:latin typeface="Arial"/>
                          <a:ea typeface="Arial"/>
                          <a:cs typeface="Arial"/>
                        </a:rPr>
                        <a:t>10 = 18 − 0,10Qv</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10 = 6 + 0,10Qa</a:t>
                      </a:r>
                    </a:p>
                  </a:txBody>
                  <a:tcPr marL="91440" marR="91440" marT="45720" marB="45720" anchor="ctr">
                    <a:solidFill>
                      <a:srgbClr val="FFFFFF"/>
                    </a:solidFill>
                  </a:tcPr>
                </a:tc>
              </a:tr>
              <a:tr h="890588">
                <a:tc>
                  <a:txBody>
                    <a:bodyPr lIns="171450" tIns="85725" rIns="152400" bIns="85725"/>
                    <a:lstStyle/>
                    <a:p>
                      <a:r>
                        <a:rPr sz="2700" b="0">
                          <a:solidFill>
                            <a:srgbClr val="183247"/>
                          </a:solidFill>
                          <a:latin typeface="Arial"/>
                          <a:ea typeface="Arial"/>
                          <a:cs typeface="Arial"/>
                        </a:rPr>
                        <a:t>0,10Qv = 8</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0,10Qa = 4</a:t>
                      </a:r>
                    </a:p>
                  </a:txBody>
                  <a:tcPr marL="91440" marR="91440" marT="45720" marB="45720" anchor="ctr">
                    <a:solidFill>
                      <a:srgbClr val="EFF4F7"/>
                    </a:solidFill>
                  </a:tcPr>
                </a:tc>
              </a:tr>
              <a:tr h="890588">
                <a:tc>
                  <a:txBody>
                    <a:bodyPr lIns="171450" tIns="85725" rIns="152400" bIns="85725"/>
                    <a:lstStyle/>
                    <a:p>
                      <a:r>
                        <a:rPr sz="2700" b="0">
                          <a:solidFill>
                            <a:srgbClr val="183247"/>
                          </a:solidFill>
                          <a:latin typeface="Arial"/>
                          <a:ea typeface="Arial"/>
                          <a:cs typeface="Arial"/>
                        </a:rPr>
                        <a:t>Qv = 80 tenten per weekend</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Qa = 40 tenten per weekend</a:t>
                      </a:r>
                    </a:p>
                  </a:txBody>
                  <a:tcPr marL="91440" marR="91440" marT="45720" marB="45720" anchor="ctr">
                    <a:solidFill>
                      <a:srgbClr val="FFFFFF"/>
                    </a:solidFill>
                  </a:tcPr>
                </a:tc>
              </a:tr>
            </a:tbl>
          </a:graphicData>
        </a:graphic>
      </p:graphicFrame>
      <p:sp>
        <p:nvSpPr>
          <p:cNvPr id="6" name="Controle vraag: 18 − 0,10 × 80 = € 10">
            <a:extLst xmlns:a="http://schemas.openxmlformats.org/drawingml/2006/main">
              <a:ext uri="{FF2B5EF4-FFF2-40B4-BE49-F238E27FC236}">
                <a16:creationId xmlns:a16="http://schemas.microsoft.com/office/drawing/2014/main" id="{308B51C7-9400-449E-8FF4-6F08B54A8565}"/>
              </a:ext>
            </a:extLst>
          </p:cNvPr>
          <p:cNvSpPr>
            <a:spLocks xmlns:a="http://schemas.openxmlformats.org/drawingml/2006/main" noGrp="1"/>
          </p:cNvSpPr>
          <p:nvPr/>
        </p:nvSpPr>
        <p:spPr>
          <a:xfrm xmlns:a="http://schemas.openxmlformats.org/drawingml/2006/main">
            <a:off x="571500" y="65055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A5276"/>
                </a:solidFill>
                <a:latin typeface="Arial"/>
                <a:ea typeface="Arial"/>
                <a:cs typeface="Arial"/>
              </a:defRPr>
            </a:pPr>
            <a:r>
              <a:rPr sz="2700" b="0">
                <a:solidFill>
                  <a:srgbClr val="1A5276"/>
                </a:solidFill>
                <a:latin typeface="Arial"/>
                <a:ea typeface="Arial"/>
                <a:cs typeface="Arial"/>
              </a:rPr>
              <a:t>Controle vraag: 18 − 0,10 × 80 = € 10</a:t>
            </a:r>
          </a:p>
        </p:txBody>
      </p:sp>
      <p:sp>
        <p:nvSpPr>
          <p:cNvPr id="7" name="Controle aanbod: 6 + 0,10 × 40 = € 10">
            <a:extLst xmlns:a="http://schemas.openxmlformats.org/drawingml/2006/main">
              <a:ext uri="{FF2B5EF4-FFF2-40B4-BE49-F238E27FC236}">
                <a16:creationId xmlns:a16="http://schemas.microsoft.com/office/drawing/2014/main" id="{5A03AA05-48FE-4FB3-AC99-684A1FABD1CF}"/>
              </a:ext>
            </a:extLst>
          </p:cNvPr>
          <p:cNvSpPr>
            <a:spLocks xmlns:a="http://schemas.openxmlformats.org/drawingml/2006/main" noGrp="1"/>
          </p:cNvSpPr>
          <p:nvPr/>
        </p:nvSpPr>
        <p:spPr>
          <a:xfrm xmlns:a="http://schemas.openxmlformats.org/drawingml/2006/main">
            <a:off x="571500" y="72675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0665B"/>
                </a:solidFill>
                <a:latin typeface="Arial"/>
                <a:ea typeface="Arial"/>
                <a:cs typeface="Arial"/>
              </a:defRPr>
            </a:pPr>
            <a:r>
              <a:rPr sz="2700" b="0">
                <a:solidFill>
                  <a:srgbClr val="20665B"/>
                </a:solidFill>
                <a:latin typeface="Arial"/>
                <a:ea typeface="Arial"/>
                <a:cs typeface="Arial"/>
              </a:rPr>
              <a:t>Controle aanbod: 6 + 0,10 × 40 = € 10</a:t>
            </a:r>
          </a:p>
        </p:txBody>
      </p:sp>
    </p:spTree>
    <p:extLst>
      <p:ext uri="{BB962C8B-B14F-4D97-AF65-F5344CB8AC3E}">
        <p14:creationId xmlns:p14="http://schemas.microsoft.com/office/powerpoint/2010/main" val="561403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4b · Werkelijke verhuur en tekort">
            <a:extLst xmlns:a="http://schemas.openxmlformats.org/drawingml/2006/main">
              <a:ext uri="{FF2B5EF4-FFF2-40B4-BE49-F238E27FC236}">
                <a16:creationId xmlns:a16="http://schemas.microsoft.com/office/drawing/2014/main" id="{3715C7FA-C18B-4CE7-B05A-DF3F66C8A80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34b · Werkelijke verhuur en tekort</a:t>
            </a:r>
          </a:p>
        </p:txBody>
      </p:sp>
      <p:sp>
        <p:nvSpPr>
          <p:cNvPr id="2" name="">
            <a:extLst xmlns:a="http://schemas.openxmlformats.org/drawingml/2006/main">
              <a:ext uri="{FF2B5EF4-FFF2-40B4-BE49-F238E27FC236}">
                <a16:creationId xmlns:a16="http://schemas.microsoft.com/office/drawing/2014/main" id="{01F4BD7F-4A5A-4F7F-9FDC-D40F0E231C9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A5E3C4F-5C70-4CA7-A65C-34D9874D298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34b · Boekpagina 37</a:t>
            </a:r>
          </a:p>
        </p:txBody>
      </p:sp>
      <p:sp>
        <p:nvSpPr>
          <p:cNvPr id="4" name="slide-number">
            <a:extLst xmlns:a="http://schemas.openxmlformats.org/drawingml/2006/main">
              <a:ext uri="{FF2B5EF4-FFF2-40B4-BE49-F238E27FC236}">
                <a16:creationId xmlns:a16="http://schemas.microsoft.com/office/drawing/2014/main" id="{6E6AE542-6DE2-42A8-950D-C8FCB97DAF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Geen extra aanvoer. Alle aangeboden tenten worden verhuurd.">
            <a:extLst xmlns:a="http://schemas.openxmlformats.org/drawingml/2006/main">
              <a:ext uri="{FF2B5EF4-FFF2-40B4-BE49-F238E27FC236}">
                <a16:creationId xmlns:a16="http://schemas.microsoft.com/office/drawing/2014/main" id="{9F057578-FB21-4420-A6B9-3645D511A1DE}"/>
              </a:ext>
            </a:extLst>
          </p:cNvPr>
          <p:cNvSpPr>
            <a:spLocks xmlns:a="http://schemas.openxmlformats.org/drawingml/2006/main" noGrp="1"/>
          </p:cNvSpPr>
          <p:nvPr/>
        </p:nvSpPr>
        <p:spPr>
          <a:xfrm xmlns:a="http://schemas.openxmlformats.org/drawingml/2006/main">
            <a:off x="571500" y="208597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Geen extra aanvoer. Alle aangeboden tenten worden verhuurd.</a:t>
            </a:r>
          </a:p>
        </p:txBody>
      </p:sp>
      <p:graphicFrame>
        <p:nvGraphicFramePr>
          <p:cNvPr id="13" name=""/>
          <p:cNvGraphicFramePr/>
          <p:nvPr/>
        </p:nvGraphicFramePr>
        <p:xfrm>
          <a:off xmlns:a="http://schemas.openxmlformats.org/drawingml/2006/main" x="571500" y="3705225"/>
          <a:ext xmlns:a="http://schemas.openxmlformats.org/drawingml/2006/main" cx="14097000" cy="2571750"/>
        </p:xfrm>
        <a:graphic xmlns:a="http://schemas.openxmlformats.org/drawingml/2006/main">
          <a:graphicData uri="http://schemas.openxmlformats.org/drawingml/2006/table">
            <a:tbl>
              <a:tblPr/>
              <a:tblGrid>
                <a:gridCol w="4953000"/>
                <a:gridCol w="5238750"/>
                <a:gridCol w="3905250"/>
              </a:tblGrid>
              <a:tr h="857250">
                <a:tc>
                  <a:txBody>
                    <a:bodyPr lIns="171450" tIns="85725" rIns="152400" bIns="85725"/>
                    <a:lstStyle/>
                    <a:p>
                      <a:r>
                        <a:rPr sz="2700" b="1">
                          <a:solidFill>
                            <a:srgbClr val="FFFFFF"/>
                          </a:solidFill>
                          <a:latin typeface="Arial"/>
                          <a:ea typeface="Arial"/>
                          <a:cs typeface="Arial"/>
                        </a:rPr>
                        <a:t>Grootheid</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Tenten per weekend</a:t>
                      </a:r>
                    </a:p>
                  </a:txBody>
                  <a:tcPr marL="91440" marR="91440" marT="45720" marB="45720" anchor="ctr">
                    <a:solidFill>
                      <a:srgbClr val="183247"/>
                    </a:solidFill>
                  </a:tcPr>
                </a:tc>
              </a:tr>
              <a:tr h="857250">
                <a:tc>
                  <a:txBody>
                    <a:bodyPr lIns="171450" tIns="85725" rIns="152400" bIns="85725"/>
                    <a:lstStyle/>
                    <a:p>
                      <a:r>
                        <a:rPr sz="2700" b="0">
                          <a:solidFill>
                            <a:srgbClr val="183247"/>
                          </a:solidFill>
                          <a:latin typeface="Arial"/>
                          <a:ea typeface="Arial"/>
                          <a:cs typeface="Arial"/>
                        </a:rPr>
                        <a:t>Werkelijk verhuurd</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Qa</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40</a:t>
                      </a:r>
                    </a:p>
                  </a:txBody>
                  <a:tcPr marL="91440" marR="91440" marT="45720" marB="45720" anchor="ctr">
                    <a:solidFill>
                      <a:srgbClr val="FFFFFF"/>
                    </a:solidFill>
                  </a:tcPr>
                </a:tc>
              </a:tr>
              <a:tr h="857250">
                <a:tc>
                  <a:txBody>
                    <a:bodyPr lIns="171450" tIns="85725" rIns="152400" bIns="85725"/>
                    <a:lstStyle/>
                    <a:p>
                      <a:r>
                        <a:rPr sz="2700" b="0">
                          <a:solidFill>
                            <a:srgbClr val="183247"/>
                          </a:solidFill>
                          <a:latin typeface="Arial"/>
                          <a:ea typeface="Arial"/>
                          <a:cs typeface="Arial"/>
                        </a:rPr>
                        <a:t>Tekort</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Qv − Qa = 80 − 40</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40</a:t>
                      </a:r>
                    </a:p>
                  </a:txBody>
                  <a:tcPr marL="91440" marR="91440" marT="45720" marB="45720" anchor="ctr">
                    <a:solidFill>
                      <a:srgbClr val="EFF4F7"/>
                    </a:solidFill>
                  </a:tcPr>
                </a:tc>
              </a:tr>
            </a:tbl>
          </a:graphicData>
        </a:graphic>
      </p:graphicFrame>
      <p:sp>
        <p:nvSpPr>
          <p:cNvPr id="7" name="Controle: 40 verhuurd + 40 tekort = 80 gevraagd">
            <a:extLst xmlns:a="http://schemas.openxmlformats.org/drawingml/2006/main">
              <a:ext uri="{FF2B5EF4-FFF2-40B4-BE49-F238E27FC236}">
                <a16:creationId xmlns:a16="http://schemas.microsoft.com/office/drawing/2014/main" id="{6E8EEC55-0E4D-430F-B110-733EC56CCAA4}"/>
              </a:ext>
            </a:extLst>
          </p:cNvPr>
          <p:cNvSpPr>
            <a:spLocks xmlns:a="http://schemas.openxmlformats.org/drawingml/2006/main" noGrp="1"/>
          </p:cNvSpPr>
          <p:nvPr/>
        </p:nvSpPr>
        <p:spPr>
          <a:xfrm xmlns:a="http://schemas.openxmlformats.org/drawingml/2006/main">
            <a:off x="571500" y="69342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Controle: 40 verhuurd + 40 tekort = 80 gevraagd</a:t>
            </a:r>
          </a:p>
        </p:txBody>
      </p:sp>
    </p:spTree>
    <p:extLst>
      <p:ext uri="{BB962C8B-B14F-4D97-AF65-F5344CB8AC3E}">
        <p14:creationId xmlns:p14="http://schemas.microsoft.com/office/powerpoint/2010/main" val="9888110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34c · Maximumprijs, verhuur en tekort">
            <a:extLst xmlns:a="http://schemas.openxmlformats.org/drawingml/2006/main">
              <a:ext uri="{FF2B5EF4-FFF2-40B4-BE49-F238E27FC236}">
                <a16:creationId xmlns:a16="http://schemas.microsoft.com/office/drawing/2014/main" id="{0375145F-9516-4E08-A4FF-F1FC8D0678D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34c · Maximumprijs, verhuur en tekort</a:t>
            </a:r>
          </a:p>
        </p:txBody>
      </p:sp>
      <p:sp>
        <p:nvSpPr>
          <p:cNvPr id="2" name="">
            <a:extLst xmlns:a="http://schemas.openxmlformats.org/drawingml/2006/main">
              <a:ext uri="{FF2B5EF4-FFF2-40B4-BE49-F238E27FC236}">
                <a16:creationId xmlns:a16="http://schemas.microsoft.com/office/drawing/2014/main" id="{6C890342-3973-451C-BBE7-B2D40AC5BA9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7A125A3C-397B-4098-A055-AFAEF3FA7F8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34c · Boekpagina 37</a:t>
            </a:r>
          </a:p>
        </p:txBody>
      </p:sp>
      <p:sp>
        <p:nvSpPr>
          <p:cNvPr id="4" name="slide-number">
            <a:extLst xmlns:a="http://schemas.openxmlformats.org/drawingml/2006/main">
              <a:ext uri="{FF2B5EF4-FFF2-40B4-BE49-F238E27FC236}">
                <a16:creationId xmlns:a16="http://schemas.microsoft.com/office/drawing/2014/main" id="{D26A1175-FD54-4594-9472-3BEF5D70FA4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Pmax = € 10 per tent voor één weekend">
            <a:extLst xmlns:a="http://schemas.openxmlformats.org/drawingml/2006/main">
              <a:ext uri="{FF2B5EF4-FFF2-40B4-BE49-F238E27FC236}">
                <a16:creationId xmlns:a16="http://schemas.microsoft.com/office/drawing/2014/main" id="{3B3FFFDB-400E-4A1E-9E75-DC49AE0A9AE6}"/>
              </a:ext>
            </a:extLst>
          </p:cNvPr>
          <p:cNvSpPr>
            <a:spLocks xmlns:a="http://schemas.openxmlformats.org/drawingml/2006/main" noGrp="1"/>
          </p:cNvSpPr>
          <p:nvPr/>
        </p:nvSpPr>
        <p:spPr>
          <a:xfrm xmlns:a="http://schemas.openxmlformats.org/drawingml/2006/main">
            <a:off x="571500" y="1743075"/>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Pmax = € 10 per tent voor één weekend</a:t>
            </a:r>
          </a:p>
        </p:txBody>
      </p:sp>
      <p:graphicFrame>
        <p:nvGraphicFramePr>
          <p:cNvPr id="16" name="Chart"/>
          <p:cNvGraphicFramePr/>
          <p:nvPr/>
        </p:nvGraphicFramePr>
        <p:xfrm>
          <a:off xmlns:a="http://schemas.openxmlformats.org/drawingml/2006/main" x="571500" y="2247900"/>
          <a:ext xmlns:a="http://schemas.openxmlformats.org/drawingml/2006/main" cx="10191750" cy="5429250"/>
        </p:xfrm>
        <a:graphic xmlns:a="http://schemas.openxmlformats.org/drawingml/2006/main">
          <a:graphicData uri="http://schemas.openxmlformats.org/drawingml/2006/chart">
            <c:chart xmlns:r="http://schemas.openxmlformats.org/officeDocument/2006/relationships" xmlns:c="http://schemas.openxmlformats.org/drawingml/2006/chart" r:id="R203eff7ff24b4a63"/>
          </a:graphicData>
        </a:graphic>
      </p:graphicFrame>
      <p:sp>
        <p:nvSpPr>
          <p:cNvPr id="7" name="Qa = 40">
            <a:extLst xmlns:a="http://schemas.openxmlformats.org/drawingml/2006/main">
              <a:ext uri="{FF2B5EF4-FFF2-40B4-BE49-F238E27FC236}">
                <a16:creationId xmlns:a16="http://schemas.microsoft.com/office/drawing/2014/main" id="{E172FE1C-D05F-4513-9E3B-6029E09ECB31}"/>
              </a:ext>
            </a:extLst>
          </p:cNvPr>
          <p:cNvSpPr>
            <a:spLocks xmlns:a="http://schemas.openxmlformats.org/drawingml/2006/main" noGrp="1"/>
          </p:cNvSpPr>
          <p:nvPr/>
        </p:nvSpPr>
        <p:spPr>
          <a:xfrm xmlns:a="http://schemas.openxmlformats.org/drawingml/2006/main">
            <a:off x="11239500" y="26384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Qa = 40</a:t>
            </a:r>
          </a:p>
        </p:txBody>
      </p:sp>
      <p:sp>
        <p:nvSpPr>
          <p:cNvPr id="8" name="Werkelijk verhuurd:&#10;40 tenten">
            <a:extLst xmlns:a="http://schemas.openxmlformats.org/drawingml/2006/main">
              <a:ext uri="{FF2B5EF4-FFF2-40B4-BE49-F238E27FC236}">
                <a16:creationId xmlns:a16="http://schemas.microsoft.com/office/drawing/2014/main" id="{16FC6EA2-45A2-4427-BB42-2C6532ABF3B8}"/>
              </a:ext>
            </a:extLst>
          </p:cNvPr>
          <p:cNvSpPr>
            <a:spLocks xmlns:a="http://schemas.openxmlformats.org/drawingml/2006/main" noGrp="1"/>
          </p:cNvSpPr>
          <p:nvPr/>
        </p:nvSpPr>
        <p:spPr>
          <a:xfrm xmlns:a="http://schemas.openxmlformats.org/drawingml/2006/main">
            <a:off x="11239500" y="3448050"/>
            <a:ext cx="3429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Werkelijk verhuurd:</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40 tenten</a:t>
            </a:r>
          </a:p>
        </p:txBody>
      </p:sp>
      <p:sp>
        <p:nvSpPr>
          <p:cNvPr id="9" name="Qv = 80">
            <a:extLst xmlns:a="http://schemas.openxmlformats.org/drawingml/2006/main">
              <a:ext uri="{FF2B5EF4-FFF2-40B4-BE49-F238E27FC236}">
                <a16:creationId xmlns:a16="http://schemas.microsoft.com/office/drawing/2014/main" id="{F0AF9414-0A1C-42E9-A7C2-6DCC5713A5E3}"/>
              </a:ext>
            </a:extLst>
          </p:cNvPr>
          <p:cNvSpPr>
            <a:spLocks xmlns:a="http://schemas.openxmlformats.org/drawingml/2006/main" noGrp="1"/>
          </p:cNvSpPr>
          <p:nvPr/>
        </p:nvSpPr>
        <p:spPr>
          <a:xfrm xmlns:a="http://schemas.openxmlformats.org/drawingml/2006/main">
            <a:off x="11239500" y="50387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A5276"/>
                </a:solidFill>
                <a:latin typeface="Arial"/>
                <a:ea typeface="Arial"/>
                <a:cs typeface="Arial"/>
              </a:defRPr>
            </a:pPr>
            <a:r>
              <a:rPr sz="3225" b="1">
                <a:solidFill>
                  <a:srgbClr val="1A5276"/>
                </a:solidFill>
                <a:latin typeface="Arial"/>
                <a:ea typeface="Arial"/>
                <a:cs typeface="Arial"/>
              </a:rPr>
              <a:t>Qv = 80</a:t>
            </a:r>
          </a:p>
        </p:txBody>
      </p:sp>
      <p:sp>
        <p:nvSpPr>
          <p:cNvPr id="10" name="Tekort: 40&#10;Van Q = 40&#10;tot Q = 80">
            <a:extLst xmlns:a="http://schemas.openxmlformats.org/drawingml/2006/main">
              <a:ext uri="{FF2B5EF4-FFF2-40B4-BE49-F238E27FC236}">
                <a16:creationId xmlns:a16="http://schemas.microsoft.com/office/drawing/2014/main" id="{D56113DD-F79B-4CA2-A82E-CFA6E1EB2B45}"/>
              </a:ext>
            </a:extLst>
          </p:cNvPr>
          <p:cNvSpPr>
            <a:spLocks xmlns:a="http://schemas.openxmlformats.org/drawingml/2006/main" noGrp="1"/>
          </p:cNvSpPr>
          <p:nvPr/>
        </p:nvSpPr>
        <p:spPr>
          <a:xfrm xmlns:a="http://schemas.openxmlformats.org/drawingml/2006/main">
            <a:off x="11239500" y="6134100"/>
            <a:ext cx="3429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Tekort: 40</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Van Q = 40</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tot Q = 80</a:t>
            </a:r>
          </a:p>
        </p:txBody>
      </p:sp>
    </p:spTree>
    <p:extLst>
      <p:ext uri="{BB962C8B-B14F-4D97-AF65-F5344CB8AC3E}">
        <p14:creationId xmlns:p14="http://schemas.microsoft.com/office/powerpoint/2010/main" val="19405310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4d · Goedkoper huren geeft geen garantie">
            <a:extLst xmlns:a="http://schemas.openxmlformats.org/drawingml/2006/main">
              <a:ext uri="{FF2B5EF4-FFF2-40B4-BE49-F238E27FC236}">
                <a16:creationId xmlns:a16="http://schemas.microsoft.com/office/drawing/2014/main" id="{92E5ED2B-80D5-4C90-956A-1A1FB6C0931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34d · Goedkoper huren geeft geen garantie</a:t>
            </a:r>
          </a:p>
        </p:txBody>
      </p:sp>
      <p:sp>
        <p:nvSpPr>
          <p:cNvPr id="2" name="">
            <a:extLst xmlns:a="http://schemas.openxmlformats.org/drawingml/2006/main">
              <a:ext uri="{FF2B5EF4-FFF2-40B4-BE49-F238E27FC236}">
                <a16:creationId xmlns:a16="http://schemas.microsoft.com/office/drawing/2014/main" id="{BAE43979-281F-4693-AC0C-B3135680D58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B11A92D-2B4E-4661-BB87-C5EC378EC4D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34d · Boekpagina 37</a:t>
            </a:r>
          </a:p>
        </p:txBody>
      </p:sp>
      <p:sp>
        <p:nvSpPr>
          <p:cNvPr id="4" name="slide-number">
            <a:extLst xmlns:a="http://schemas.openxmlformats.org/drawingml/2006/main">
              <a:ext uri="{FF2B5EF4-FFF2-40B4-BE49-F238E27FC236}">
                <a16:creationId xmlns:a16="http://schemas.microsoft.com/office/drawing/2014/main" id="{C222D9F5-D4A2-4C6C-82C1-E81DD03AD08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De uitspraak is onjuist.">
            <a:extLst xmlns:a="http://schemas.openxmlformats.org/drawingml/2006/main">
              <a:ext uri="{FF2B5EF4-FFF2-40B4-BE49-F238E27FC236}">
                <a16:creationId xmlns:a16="http://schemas.microsoft.com/office/drawing/2014/main" id="{51888FAF-0927-4431-BB56-E8077D7500ED}"/>
              </a:ext>
            </a:extLst>
          </p:cNvPr>
          <p:cNvSpPr>
            <a:spLocks xmlns:a="http://schemas.openxmlformats.org/drawingml/2006/main" noGrp="1"/>
          </p:cNvSpPr>
          <p:nvPr/>
        </p:nvSpPr>
        <p:spPr>
          <a:xfrm xmlns:a="http://schemas.openxmlformats.org/drawingml/2006/main">
            <a:off x="571500" y="20193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94D16"/>
                </a:solidFill>
                <a:latin typeface="Arial"/>
                <a:ea typeface="Arial"/>
                <a:cs typeface="Arial"/>
              </a:defRPr>
            </a:pPr>
            <a:r>
              <a:rPr sz="3525" b="1">
                <a:solidFill>
                  <a:srgbClr val="A94D16"/>
                </a:solidFill>
                <a:latin typeface="Arial"/>
                <a:ea typeface="Arial"/>
                <a:cs typeface="Arial"/>
              </a:rPr>
              <a:t>De uitspraak is onjuist.</a:t>
            </a:r>
          </a:p>
        </p:txBody>
      </p:sp>
      <p:graphicFrame>
        <p:nvGraphicFramePr>
          <p:cNvPr id="13" name=""/>
          <p:cNvGraphicFramePr/>
          <p:nvPr/>
        </p:nvGraphicFramePr>
        <p:xfrm>
          <a:off xmlns:a="http://schemas.openxmlformats.org/drawingml/2006/main" x="571500" y="3324225"/>
          <a:ext xmlns:a="http://schemas.openxmlformats.org/drawingml/2006/main" cx="14097000" cy="3152775"/>
        </p:xfrm>
        <a:graphic xmlns:a="http://schemas.openxmlformats.org/drawingml/2006/main">
          <a:graphicData uri="http://schemas.openxmlformats.org/drawingml/2006/table">
            <a:tbl>
              <a:tblPr/>
              <a:tblGrid>
                <a:gridCol w="7524750"/>
                <a:gridCol w="6572250"/>
              </a:tblGrid>
              <a:tr h="788194">
                <a:tc>
                  <a:txBody>
                    <a:bodyPr lIns="171450" tIns="85725" rIns="152400" bIns="85725"/>
                    <a:lstStyle/>
                    <a:p>
                      <a:r>
                        <a:rPr sz="2700" b="1">
                          <a:solidFill>
                            <a:srgbClr val="FFFFFF"/>
                          </a:solidFill>
                          <a:latin typeface="Arial"/>
                          <a:ea typeface="Arial"/>
                          <a:cs typeface="Arial"/>
                        </a:rPr>
                        <a:t>Bij € 10 per tent</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Uitkomst</a:t>
                      </a:r>
                    </a:p>
                  </a:txBody>
                  <a:tcPr marL="91440" marR="91440" marT="45720" marB="45720" anchor="ctr">
                    <a:solidFill>
                      <a:srgbClr val="183247"/>
                    </a:solidFill>
                  </a:tcPr>
                </a:tc>
              </a:tr>
              <a:tr h="788194">
                <a:tc>
                  <a:txBody>
                    <a:bodyPr lIns="171450" tIns="85725" rIns="152400" bIns="85725"/>
                    <a:lstStyle/>
                    <a:p>
                      <a:r>
                        <a:rPr sz="2700" b="0">
                          <a:solidFill>
                            <a:srgbClr val="183247"/>
                          </a:solidFill>
                          <a:latin typeface="Arial"/>
                          <a:ea typeface="Arial"/>
                          <a:cs typeface="Arial"/>
                        </a:rPr>
                        <a:t>80 vragers willen huren</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40 krijgen een tent.</a:t>
                      </a:r>
                    </a:p>
                  </a:txBody>
                  <a:tcPr marL="91440" marR="91440" marT="45720" marB="45720" anchor="ctr">
                    <a:solidFill>
                      <a:srgbClr val="FFFFFF"/>
                    </a:solidFill>
                  </a:tcPr>
                </a:tc>
              </a:tr>
              <a:tr h="788194">
                <a:tc>
                  <a:txBody>
                    <a:bodyPr lIns="171450" tIns="85725" rIns="152400" bIns="85725"/>
                    <a:lstStyle/>
                    <a:p>
                      <a:r>
                        <a:rPr sz="2700" b="0">
                          <a:solidFill>
                            <a:srgbClr val="183247"/>
                          </a:solidFill>
                          <a:latin typeface="Arial"/>
                          <a:ea typeface="Arial"/>
                          <a:cs typeface="Arial"/>
                        </a:rPr>
                        <a:t>40 hoogste betalingsbereidheden</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Zij krijgen voorrang.</a:t>
                      </a:r>
                    </a:p>
                  </a:txBody>
                  <a:tcPr marL="91440" marR="91440" marT="45720" marB="45720" anchor="ctr">
                    <a:solidFill>
                      <a:srgbClr val="EFF4F7"/>
                    </a:solidFill>
                  </a:tcPr>
                </a:tc>
              </a:tr>
              <a:tr h="788194">
                <a:tc>
                  <a:txBody>
                    <a:bodyPr lIns="171450" tIns="85725" rIns="152400" bIns="85725"/>
                    <a:lstStyle/>
                    <a:p>
                      <a:r>
                        <a:rPr sz="2700" b="0">
                          <a:solidFill>
                            <a:srgbClr val="183247"/>
                          </a:solidFill>
                          <a:latin typeface="Arial"/>
                          <a:ea typeface="Arial"/>
                          <a:cs typeface="Arial"/>
                        </a:rPr>
                        <a:t>Overige 40 vragers</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Zij krijgen geen tent.</a:t>
                      </a:r>
                    </a:p>
                  </a:txBody>
                  <a:tcPr marL="91440" marR="91440" marT="45720" marB="45720" anchor="ctr">
                    <a:solidFill>
                      <a:srgbClr val="FFFFFF"/>
                    </a:solidFill>
                  </a:tcPr>
                </a:tc>
              </a:tr>
            </a:tbl>
          </a:graphicData>
        </a:graphic>
      </p:graphicFrame>
      <p:sp>
        <p:nvSpPr>
          <p:cNvPr id="7" name="De lagere huur helpt niet iedereen die voor € 10 wil huren.">
            <a:extLst xmlns:a="http://schemas.openxmlformats.org/drawingml/2006/main">
              <a:ext uri="{FF2B5EF4-FFF2-40B4-BE49-F238E27FC236}">
                <a16:creationId xmlns:a16="http://schemas.microsoft.com/office/drawing/2014/main" id="{F28C5B6A-8730-4AC7-851F-6CFDEAD3F27F}"/>
              </a:ext>
            </a:extLst>
          </p:cNvPr>
          <p:cNvSpPr>
            <a:spLocks xmlns:a="http://schemas.openxmlformats.org/drawingml/2006/main" noGrp="1"/>
          </p:cNvSpPr>
          <p:nvPr/>
        </p:nvSpPr>
        <p:spPr>
          <a:xfrm xmlns:a="http://schemas.openxmlformats.org/drawingml/2006/main">
            <a:off x="571500" y="70866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 lagere huur helpt niet iedereen die voor € 10 wil huren.</a:t>
            </a:r>
          </a:p>
        </p:txBody>
      </p:sp>
    </p:spTree>
    <p:extLst>
      <p:ext uri="{BB962C8B-B14F-4D97-AF65-F5344CB8AC3E}">
        <p14:creationId xmlns:p14="http://schemas.microsoft.com/office/powerpoint/2010/main" val="6875450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4e · Een maximumprijs van € 14">
            <a:extLst xmlns:a="http://schemas.openxmlformats.org/drawingml/2006/main">
              <a:ext uri="{FF2B5EF4-FFF2-40B4-BE49-F238E27FC236}">
                <a16:creationId xmlns:a16="http://schemas.microsoft.com/office/drawing/2014/main" id="{170A2C0E-294D-448C-A0EC-4526EF19E89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34e · Een maximumprijs van € 14</a:t>
            </a:r>
          </a:p>
        </p:txBody>
      </p:sp>
      <p:sp>
        <p:nvSpPr>
          <p:cNvPr id="2" name="">
            <a:extLst xmlns:a="http://schemas.openxmlformats.org/drawingml/2006/main">
              <a:ext uri="{FF2B5EF4-FFF2-40B4-BE49-F238E27FC236}">
                <a16:creationId xmlns:a16="http://schemas.microsoft.com/office/drawing/2014/main" id="{E7C63FC7-1276-4D87-8698-4159D56122A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0A7B609-8D1F-4FC3-B825-4B5A137985DD}"/>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 · Opgave 34e · Boekpagina 37</a:t>
            </a:r>
          </a:p>
        </p:txBody>
      </p:sp>
      <p:sp>
        <p:nvSpPr>
          <p:cNvPr id="4" name="slide-number">
            <a:extLst xmlns:a="http://schemas.openxmlformats.org/drawingml/2006/main">
              <a:ext uri="{FF2B5EF4-FFF2-40B4-BE49-F238E27FC236}">
                <a16:creationId xmlns:a16="http://schemas.microsoft.com/office/drawing/2014/main" id="{E75E016A-F108-4B44-9BEF-12C69B78A7D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Zelfde tentenmarkt. Alleen de maximumprijs verandert.">
            <a:extLst xmlns:a="http://schemas.openxmlformats.org/drawingml/2006/main">
              <a:ext uri="{FF2B5EF4-FFF2-40B4-BE49-F238E27FC236}">
                <a16:creationId xmlns:a16="http://schemas.microsoft.com/office/drawing/2014/main" id="{DC321DC4-F15B-4B1F-B746-070F9730C3DC}"/>
              </a:ext>
            </a:extLst>
          </p:cNvPr>
          <p:cNvSpPr>
            <a:spLocks xmlns:a="http://schemas.openxmlformats.org/drawingml/2006/main" noGrp="1"/>
          </p:cNvSpPr>
          <p:nvPr/>
        </p:nvSpPr>
        <p:spPr>
          <a:xfrm xmlns:a="http://schemas.openxmlformats.org/drawingml/2006/main">
            <a:off x="571500" y="21050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Zelfde tentenmarkt. Alleen de maximumprijs verandert.</a:t>
            </a:r>
          </a:p>
        </p:txBody>
      </p:sp>
      <p:graphicFrame>
        <p:nvGraphicFramePr>
          <p:cNvPr id="13" name=""/>
          <p:cNvGraphicFramePr/>
          <p:nvPr/>
        </p:nvGraphicFramePr>
        <p:xfrm>
          <a:off xmlns:a="http://schemas.openxmlformats.org/drawingml/2006/main" x="571500" y="3467100"/>
          <a:ext xmlns:a="http://schemas.openxmlformats.org/drawingml/2006/main" cx="14097000" cy="2952750"/>
        </p:xfrm>
        <a:graphic xmlns:a="http://schemas.openxmlformats.org/drawingml/2006/main">
          <a:graphicData uri="http://schemas.openxmlformats.org/drawingml/2006/table">
            <a:tbl>
              <a:tblPr/>
              <a:tblGrid>
                <a:gridCol w="5095875"/>
                <a:gridCol w="9001125"/>
              </a:tblGrid>
              <a:tr h="738188">
                <a:tc>
                  <a:txBody>
                    <a:bodyPr lIns="171450" tIns="85725" rIns="152400" bIns="85725"/>
                    <a:lstStyle/>
                    <a:p>
                      <a:r>
                        <a:rPr sz="2700" b="1">
                          <a:solidFill>
                            <a:srgbClr val="FFFFFF"/>
                          </a:solidFill>
                          <a:latin typeface="Arial"/>
                          <a:ea typeface="Arial"/>
                          <a:cs typeface="Arial"/>
                        </a:rPr>
                        <a:t>Vergelijking</a:t>
                      </a:r>
                    </a:p>
                  </a:txBody>
                  <a:tcPr marL="91440" marR="91440" marT="45720" marB="45720" anchor="ctr">
                    <a:solidFill>
                      <a:srgbClr val="183247"/>
                    </a:solidFill>
                  </a:tcPr>
                </a:tc>
                <a:tc>
                  <a:txBody>
                    <a:bodyPr lIns="171450" tIns="85725" rIns="152400" bIns="85725"/>
                    <a:lstStyle/>
                    <a:p>
                      <a:r>
                        <a:rPr sz="2700" b="1">
                          <a:solidFill>
                            <a:srgbClr val="FFFFFF"/>
                          </a:solidFill>
                          <a:latin typeface="Arial"/>
                          <a:ea typeface="Arial"/>
                          <a:cs typeface="Arial"/>
                        </a:rPr>
                        <a:t>Gevolg</a:t>
                      </a:r>
                    </a:p>
                  </a:txBody>
                  <a:tcPr marL="91440" marR="91440" marT="45720" marB="45720" anchor="ctr">
                    <a:solidFill>
                      <a:srgbClr val="183247"/>
                    </a:solidFill>
                  </a:tcPr>
                </a:tc>
              </a:tr>
              <a:tr h="738188">
                <a:tc>
                  <a:txBody>
                    <a:bodyPr lIns="171450" tIns="85725" rIns="152400" bIns="85725"/>
                    <a:lstStyle/>
                    <a:p>
                      <a:r>
                        <a:rPr sz="2700" b="0">
                          <a:solidFill>
                            <a:srgbClr val="183247"/>
                          </a:solidFill>
                          <a:latin typeface="Arial"/>
                          <a:ea typeface="Arial"/>
                          <a:cs typeface="Arial"/>
                        </a:rPr>
                        <a:t>€ 14 &gt; € 12</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Niet bindend: de vrije huur is toegestaan.</a:t>
                      </a:r>
                    </a:p>
                  </a:txBody>
                  <a:tcPr marL="91440" marR="91440" marT="45720" marB="45720" anchor="ctr">
                    <a:solidFill>
                      <a:srgbClr val="FFFFFF"/>
                    </a:solidFill>
                  </a:tcPr>
                </a:tc>
              </a:tr>
              <a:tr h="738188">
                <a:tc>
                  <a:txBody>
                    <a:bodyPr lIns="171450" tIns="85725" rIns="152400" bIns="85725"/>
                    <a:lstStyle/>
                    <a:p>
                      <a:r>
                        <a:rPr sz="2700" b="0">
                          <a:solidFill>
                            <a:srgbClr val="183247"/>
                          </a:solidFill>
                          <a:latin typeface="Arial"/>
                          <a:ea typeface="Arial"/>
                          <a:cs typeface="Arial"/>
                        </a:rPr>
                        <a:t>Werkelijke huur</a:t>
                      </a:r>
                    </a:p>
                  </a:txBody>
                  <a:tcPr marL="91440" marR="91440" marT="45720" marB="45720" anchor="ctr">
                    <a:solidFill>
                      <a:srgbClr val="EFF4F7"/>
                    </a:solidFill>
                  </a:tcPr>
                </a:tc>
                <a:tc>
                  <a:txBody>
                    <a:bodyPr lIns="171450" tIns="85725" rIns="152400" bIns="85725"/>
                    <a:lstStyle/>
                    <a:p>
                      <a:r>
                        <a:rPr sz="2700" b="0">
                          <a:solidFill>
                            <a:srgbClr val="183247"/>
                          </a:solidFill>
                          <a:latin typeface="Arial"/>
                          <a:ea typeface="Arial"/>
                          <a:cs typeface="Arial"/>
                        </a:rPr>
                        <a:t>€ 12 per tent voor één weekend</a:t>
                      </a:r>
                    </a:p>
                  </a:txBody>
                  <a:tcPr marL="91440" marR="91440" marT="45720" marB="45720" anchor="ctr">
                    <a:solidFill>
                      <a:srgbClr val="EFF4F7"/>
                    </a:solidFill>
                  </a:tcPr>
                </a:tc>
              </a:tr>
              <a:tr h="738188">
                <a:tc>
                  <a:txBody>
                    <a:bodyPr lIns="171450" tIns="85725" rIns="152400" bIns="85725"/>
                    <a:lstStyle/>
                    <a:p>
                      <a:r>
                        <a:rPr sz="2700" b="0">
                          <a:solidFill>
                            <a:srgbClr val="183247"/>
                          </a:solidFill>
                          <a:latin typeface="Arial"/>
                          <a:ea typeface="Arial"/>
                          <a:cs typeface="Arial"/>
                        </a:rPr>
                        <a:t>Werkelijke verhuur</a:t>
                      </a:r>
                    </a:p>
                  </a:txBody>
                  <a:tcPr marL="91440" marR="91440" marT="45720" marB="45720" anchor="ctr">
                    <a:solidFill>
                      <a:srgbClr val="FFFFFF"/>
                    </a:solidFill>
                  </a:tcPr>
                </a:tc>
                <a:tc>
                  <a:txBody>
                    <a:bodyPr lIns="171450" tIns="85725" rIns="152400" bIns="85725"/>
                    <a:lstStyle/>
                    <a:p>
                      <a:r>
                        <a:rPr sz="2700" b="0">
                          <a:solidFill>
                            <a:srgbClr val="183247"/>
                          </a:solidFill>
                          <a:latin typeface="Arial"/>
                          <a:ea typeface="Arial"/>
                          <a:cs typeface="Arial"/>
                        </a:rPr>
                        <a:t>60 tenten per weekend</a:t>
                      </a:r>
                    </a:p>
                  </a:txBody>
                  <a:tcPr marL="91440" marR="91440" marT="45720" marB="45720" anchor="ctr">
                    <a:solidFill>
                      <a:srgbClr val="FFFFFF"/>
                    </a:solidFill>
                  </a:tcPr>
                </a:tc>
              </a:tr>
            </a:tbl>
          </a:graphicData>
        </a:graphic>
      </p:graphicFrame>
      <p:sp>
        <p:nvSpPr>
          <p:cNvPr id="7" name="De maximumprijs is een bovengrens, geen verplicht prijskaart">
            <a:extLst xmlns:a="http://schemas.openxmlformats.org/drawingml/2006/main">
              <a:ext uri="{FF2B5EF4-FFF2-40B4-BE49-F238E27FC236}">
                <a16:creationId xmlns:a16="http://schemas.microsoft.com/office/drawing/2014/main" id="{AF097A98-53BC-4497-8E46-9C96222D8EC3}"/>
              </a:ext>
            </a:extLst>
          </p:cNvPr>
          <p:cNvSpPr>
            <a:spLocks xmlns:a="http://schemas.openxmlformats.org/drawingml/2006/main" noGrp="1"/>
          </p:cNvSpPr>
          <p:nvPr/>
        </p:nvSpPr>
        <p:spPr>
          <a:xfrm xmlns:a="http://schemas.openxmlformats.org/drawingml/2006/main">
            <a:off x="571500" y="7038975"/>
            <a:ext cx="14097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De maximumprijs is een bovengrens, geen verplicht prijskaartje.</a:t>
            </a:r>
          </a:p>
        </p:txBody>
      </p:sp>
    </p:spTree>
    <p:extLst>
      <p:ext uri="{BB962C8B-B14F-4D97-AF65-F5344CB8AC3E}">
        <p14:creationId xmlns:p14="http://schemas.microsoft.com/office/powerpoint/2010/main" val="111647493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1.4 Maximumprijs">
            <a:extLst xmlns:a="http://schemas.openxmlformats.org/drawingml/2006/main">
              <a:ext uri="{FF2B5EF4-FFF2-40B4-BE49-F238E27FC236}">
                <a16:creationId xmlns:a16="http://schemas.microsoft.com/office/drawing/2014/main" id="{FAEA5246-14F4-4DCB-8761-4F6DF795EC2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 les: §3.1.4 Maximumprijs</a:t>
            </a:r>
          </a:p>
        </p:txBody>
      </p:sp>
      <p:sp>
        <p:nvSpPr>
          <p:cNvPr id="2" name="">
            <a:extLst xmlns:a="http://schemas.openxmlformats.org/drawingml/2006/main">
              <a:ext uri="{FF2B5EF4-FFF2-40B4-BE49-F238E27FC236}">
                <a16:creationId xmlns:a16="http://schemas.microsoft.com/office/drawing/2014/main" id="{8EEC1D2C-5811-47DF-91EA-4972361465F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7CE83A3-329C-41F9-8D06-BD5B089C8B0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§3.1.4 Maximumprijs</a:t>
            </a:r>
          </a:p>
        </p:txBody>
      </p:sp>
      <p:sp>
        <p:nvSpPr>
          <p:cNvPr id="4" name="slide-number">
            <a:extLst xmlns:a="http://schemas.openxmlformats.org/drawingml/2006/main">
              <a:ext uri="{FF2B5EF4-FFF2-40B4-BE49-F238E27FC236}">
                <a16:creationId xmlns:a16="http://schemas.microsoft.com/office/drawing/2014/main" id="{EACE5CCD-889C-48A2-9188-647086DB5A5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10AC384B-F19D-44D8-B78A-CC5BCBDAA226}"/>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9481E499-FA88-458D-80A1-3676CE3AC99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C1FA2A5-3098-48EB-A71D-A5AFCA161C9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F9E54E57-8B11-496B-95EB-1A85423A154A}"/>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0C51CBC1-764C-4935-9AAC-EB8A3742023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D84A34E3-D994-4CD9-BC96-482796441C8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7387697F-0094-459C-9A78-50750D5B46AB}"/>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A5AE941-9AF8-4DC9-ADC9-762D7748724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BBA7B6F-15DE-4740-8300-C96C6651E83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B2AF1DBC-1D40-4354-B285-F910DB40F85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00CBDF3-A044-4B53-BDF2-77D5561AE282}"/>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70D1264-FCCB-42B3-B1CC-648C67A9DFD1}"/>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B41071E-E146-4A11-AE87-BDA7FC59B23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BF14892-B94E-437C-909E-BE5E391C81A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34.</a:t>
            </a:r>
          </a:p>
        </p:txBody>
      </p:sp>
      <p:sp>
        <p:nvSpPr>
          <p:cNvPr id="19" name="route-number-7">
            <a:extLst xmlns:a="http://schemas.openxmlformats.org/drawingml/2006/main">
              <a:ext uri="{FF2B5EF4-FFF2-40B4-BE49-F238E27FC236}">
                <a16:creationId xmlns:a16="http://schemas.microsoft.com/office/drawing/2014/main" id="{A75F3172-ACFE-416E-8D91-2AA93DC4DF0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4BBF8C05-253F-434E-BAC1-E995B5D24F9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D315CBA-85D8-49A0-980B-2BF0F44C3B5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8ABD9A4-5A34-4177-8237-F5FA3D581E5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Binding bepalen, hoeveelheden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 toegang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tot het product verklaren.</a:t>
            </a:r>
          </a:p>
        </p:txBody>
      </p:sp>
      <p:sp>
        <p:nvSpPr>
          <p:cNvPr id="23" name="">
            <a:extLst xmlns:a="http://schemas.openxmlformats.org/drawingml/2006/main">
              <a:ext uri="{FF2B5EF4-FFF2-40B4-BE49-F238E27FC236}">
                <a16:creationId xmlns:a16="http://schemas.microsoft.com/office/drawing/2014/main" id="{F2332D56-BF2A-4AA6-9CBC-6AA18D56FF85}"/>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E9AE3BE-765D-43A3-B766-F18EF8FC985C}"/>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E1ACC74-AA22-4955-8273-D74F04EE1CE8}"/>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34 · Opgaven 28 en 29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29: verkennen, theorie p. 32–33</a:t>
            </a:r>
          </a:p>
        </p:txBody>
      </p:sp>
      <p:sp>
        <p:nvSpPr>
          <p:cNvPr id="26" name="">
            <a:extLst xmlns:a="http://schemas.openxmlformats.org/drawingml/2006/main">
              <a:ext uri="{FF2B5EF4-FFF2-40B4-BE49-F238E27FC236}">
                <a16:creationId xmlns:a16="http://schemas.microsoft.com/office/drawing/2014/main" id="{CA49459C-5A4F-4A64-950D-830AD78F535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973E6DC-958F-4856-A528-D3D2C3F34BF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4808900-46D3-498C-B6C2-5FA8D4994403}"/>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§3.1.4 Maximumprijs</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30 en 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32 en 33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34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240303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2026-10-01T09:38:01.1940000Z</dcterms:created>
  <dcterms:modified xsi:type="dcterms:W3CDTF">2026-10-01T09:38:01.1950000Z</dcterms:modified>
</coreProperties>
</file>