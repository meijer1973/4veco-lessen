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5.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bff4fc9a7c14ffc" /><Relationship Type="http://schemas.openxmlformats.org/officeDocument/2006/relationships/extended-properties" Target="/docProps/app.xml" Id="R94536cb4620c4c1b" /><Relationship Type="http://schemas.openxmlformats.org/officeDocument/2006/relationships/officeDocument" Target="/ppt/presentation.xml" Id="R6a5fd5d7354b4710" /></Relationships>
</file>

<file path=ppt/presentation.xml><?xml version="1.0" encoding="utf-8"?>
<p:presentation xmlns:p="http://schemas.openxmlformats.org/presentationml/2006/main">
  <p:sldMasterIdLst>
    <p:sldMasterId xmlns:r="http://schemas.openxmlformats.org/officeDocument/2006/relationships" id="2147483648" r:id="Raf0a9fd4fdcf4554"/>
  </p:sldMasterIdLst>
  <p:notesMasterIdLst>
    <p:notesMasterId xmlns:r="http://schemas.openxmlformats.org/officeDocument/2006/relationships" r:id="Ref6b2f70d8af4d9c"/>
  </p:notesMasterIdLst>
  <p:sldIdLst>
    <p:sldId xmlns:r="http://schemas.openxmlformats.org/officeDocument/2006/relationships" id="256" r:id="Rae19de8b559e4eff"/>
    <p:sldId xmlns:r="http://schemas.openxmlformats.org/officeDocument/2006/relationships" id="257" r:id="R08b409a0f90443a8"/>
    <p:sldId xmlns:r="http://schemas.openxmlformats.org/officeDocument/2006/relationships" id="258" r:id="R47f8fa1d5734412b"/>
    <p:sldId xmlns:r="http://schemas.openxmlformats.org/officeDocument/2006/relationships" id="259" r:id="R10ab116912af4240"/>
    <p:sldId xmlns:r="http://schemas.openxmlformats.org/officeDocument/2006/relationships" id="260" r:id="R2411beac66fd458e"/>
    <p:sldId xmlns:r="http://schemas.openxmlformats.org/officeDocument/2006/relationships" id="261" r:id="Re5ee7027af584036"/>
    <p:sldId xmlns:r="http://schemas.openxmlformats.org/officeDocument/2006/relationships" id="262" r:id="R75de3b66f240426e"/>
    <p:sldId xmlns:r="http://schemas.openxmlformats.org/officeDocument/2006/relationships" id="263" r:id="Rdb3d5e3011704bd1"/>
    <p:sldId xmlns:r="http://schemas.openxmlformats.org/officeDocument/2006/relationships" id="264" r:id="Rbe62650b3f7d41fc"/>
    <p:sldId xmlns:r="http://schemas.openxmlformats.org/officeDocument/2006/relationships" id="265" r:id="R965cbca798e940f0"/>
    <p:sldId xmlns:r="http://schemas.openxmlformats.org/officeDocument/2006/relationships" id="266" r:id="Rb8628ec69787426f"/>
    <p:sldId xmlns:r="http://schemas.openxmlformats.org/officeDocument/2006/relationships" id="267" r:id="Rb87ed34101dd4b15"/>
    <p:sldId xmlns:r="http://schemas.openxmlformats.org/officeDocument/2006/relationships" id="268" r:id="Red93a1980cd5449d"/>
    <p:sldId xmlns:r="http://schemas.openxmlformats.org/officeDocument/2006/relationships" id="269" r:id="R0e040f6855914070"/>
    <p:sldId xmlns:r="http://schemas.openxmlformats.org/officeDocument/2006/relationships" id="270" r:id="R3dbfc8b96c594b69"/>
    <p:sldId xmlns:r="http://schemas.openxmlformats.org/officeDocument/2006/relationships" id="271" r:id="R259bc1e5f7264f0e"/>
    <p:sldId xmlns:r="http://schemas.openxmlformats.org/officeDocument/2006/relationships" id="272" r:id="R84d78cb7caf944a1"/>
    <p:sldId xmlns:r="http://schemas.openxmlformats.org/officeDocument/2006/relationships" id="273" r:id="Ra2e8ec2f7287403a"/>
    <p:sldId xmlns:r="http://schemas.openxmlformats.org/officeDocument/2006/relationships" id="274" r:id="R2c5bc489da6d4b73"/>
    <p:sldId xmlns:r="http://schemas.openxmlformats.org/officeDocument/2006/relationships" id="275" r:id="R4bb8b429018d4ea1"/>
    <p:sldId xmlns:r="http://schemas.openxmlformats.org/officeDocument/2006/relationships" id="276" r:id="R5153ddb08f6440de"/>
    <p:sldId xmlns:r="http://schemas.openxmlformats.org/officeDocument/2006/relationships" id="277" r:id="R11654f3728e24d15"/>
    <p:sldId xmlns:r="http://schemas.openxmlformats.org/officeDocument/2006/relationships" id="278" r:id="R0dea887a399346b3"/>
    <p:sldId xmlns:r="http://schemas.openxmlformats.org/officeDocument/2006/relationships" id="279" r:id="Rffafdf507b7a430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0b8fb40e8f149b6" /><Relationship Type="http://schemas.openxmlformats.org/officeDocument/2006/relationships/slideMaster" Target="/ppt/slideMasters/slideMaster1.xml" Id="Raf0a9fd4fdcf4554" /><Relationship Type="http://schemas.openxmlformats.org/officeDocument/2006/relationships/notesMaster" Target="/ppt/notesMasters/notesMaster1.xml" Id="Ref6b2f70d8af4d9c" /><Relationship Type="http://schemas.openxmlformats.org/officeDocument/2006/relationships/presProps" Target="/ppt/presProps.xml" Id="R7b4af124f1574e6a" /><Relationship Type="http://schemas.openxmlformats.org/officeDocument/2006/relationships/tableStyles" Target="/ppt/tableStyles.xml" Id="Rf777816def3f4897" /><Relationship Type="http://schemas.openxmlformats.org/officeDocument/2006/relationships/slide" Target="/ppt/slides/slide1.xml" Id="Rae19de8b559e4eff" /><Relationship Type="http://schemas.openxmlformats.org/officeDocument/2006/relationships/slide" Target="/ppt/slides/slide2.xml" Id="R08b409a0f90443a8" /><Relationship Type="http://schemas.openxmlformats.org/officeDocument/2006/relationships/slide" Target="/ppt/slides/slide3.xml" Id="R47f8fa1d5734412b" /><Relationship Type="http://schemas.openxmlformats.org/officeDocument/2006/relationships/slide" Target="/ppt/slides/slide4.xml" Id="R10ab116912af4240" /><Relationship Type="http://schemas.openxmlformats.org/officeDocument/2006/relationships/slide" Target="/ppt/slides/slide5.xml" Id="R2411beac66fd458e" /><Relationship Type="http://schemas.openxmlformats.org/officeDocument/2006/relationships/slide" Target="/ppt/slides/slide6.xml" Id="Re5ee7027af584036" /><Relationship Type="http://schemas.openxmlformats.org/officeDocument/2006/relationships/slide" Target="/ppt/slides/slide7.xml" Id="R75de3b66f240426e" /><Relationship Type="http://schemas.openxmlformats.org/officeDocument/2006/relationships/slide" Target="/ppt/slides/slide8.xml" Id="Rdb3d5e3011704bd1" /><Relationship Type="http://schemas.openxmlformats.org/officeDocument/2006/relationships/slide" Target="/ppt/slides/slide9.xml" Id="Rbe62650b3f7d41fc" /><Relationship Type="http://schemas.openxmlformats.org/officeDocument/2006/relationships/slide" Target="/ppt/slides/slide10.xml" Id="R965cbca798e940f0" /><Relationship Type="http://schemas.openxmlformats.org/officeDocument/2006/relationships/slide" Target="/ppt/slides/slide11.xml" Id="Rb8628ec69787426f" /><Relationship Type="http://schemas.openxmlformats.org/officeDocument/2006/relationships/slide" Target="/ppt/slides/slide12.xml" Id="Rb87ed34101dd4b15" /><Relationship Type="http://schemas.openxmlformats.org/officeDocument/2006/relationships/slide" Target="/ppt/slides/slide13.xml" Id="Red93a1980cd5449d" /><Relationship Type="http://schemas.openxmlformats.org/officeDocument/2006/relationships/slide" Target="/ppt/slides/slide14.xml" Id="R0e040f6855914070" /><Relationship Type="http://schemas.openxmlformats.org/officeDocument/2006/relationships/slide" Target="/ppt/slides/slide15.xml" Id="R3dbfc8b96c594b69" /><Relationship Type="http://schemas.openxmlformats.org/officeDocument/2006/relationships/slide" Target="/ppt/slides/slide16.xml" Id="R259bc1e5f7264f0e" /><Relationship Type="http://schemas.openxmlformats.org/officeDocument/2006/relationships/slide" Target="/ppt/slides/slide17.xml" Id="R84d78cb7caf944a1" /><Relationship Type="http://schemas.openxmlformats.org/officeDocument/2006/relationships/slide" Target="/ppt/slides/slide18.xml" Id="Ra2e8ec2f7287403a" /><Relationship Type="http://schemas.openxmlformats.org/officeDocument/2006/relationships/slide" Target="/ppt/slides/slide19.xml" Id="R2c5bc489da6d4b73" /><Relationship Type="http://schemas.openxmlformats.org/officeDocument/2006/relationships/slide" Target="/ppt/slides/slide20.xml" Id="R4bb8b429018d4ea1" /><Relationship Type="http://schemas.openxmlformats.org/officeDocument/2006/relationships/slide" Target="/ppt/slides/slide21.xml" Id="R5153ddb08f6440de" /><Relationship Type="http://schemas.openxmlformats.org/officeDocument/2006/relationships/slide" Target="/ppt/slides/slide22.xml" Id="R11654f3728e24d15" /><Relationship Type="http://schemas.openxmlformats.org/officeDocument/2006/relationships/slide" Target="/ppt/slides/slide23.xml" Id="R0dea887a399346b3" /><Relationship Type="http://schemas.openxmlformats.org/officeDocument/2006/relationships/slide" Target="/ppt/slides/slide24.xml" Id="Rffafdf507b7a43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306ccd397742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7129f236274c67" /><Relationship Type="http://schemas.openxmlformats.org/officeDocument/2006/relationships/notesMaster" Target="/ppt/notesMasters/notesMaster1.xml" Id="R04a1f9a3dd1c403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2b7215df0d4b57" /><Relationship Type="http://schemas.openxmlformats.org/officeDocument/2006/relationships/notesMaster" Target="/ppt/notesMasters/notesMaster1.xml" Id="R93d975bb7e9347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eec3b12f884a18" /><Relationship Type="http://schemas.openxmlformats.org/officeDocument/2006/relationships/notesMaster" Target="/ppt/notesMasters/notesMaster1.xml" Id="Rc954e0e6123f4588"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838dbdb9014ecf" /><Relationship Type="http://schemas.openxmlformats.org/officeDocument/2006/relationships/notesMaster" Target="/ppt/notesMasters/notesMaster1.xml" Id="Re11f7c64d6524a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4a6f021a90442c" /><Relationship Type="http://schemas.openxmlformats.org/officeDocument/2006/relationships/notesMaster" Target="/ppt/notesMasters/notesMaster1.xml" Id="R8e54ed1d52a44080" /></Relationships>
</file>

<file path=ppt/notesSlides/_rels/notesSlide6.xml.rels>&#65279;<?xml version="1.0" encoding="utf-8"?><Relationships xmlns="http://schemas.openxmlformats.org/package/2006/relationships"><Relationship Type="http://schemas.openxmlformats.org/officeDocument/2006/relationships/slide" Target="/ppt/slides/slide6.xml" Id="R41eac1c3930d4dad" /><Relationship Type="http://schemas.openxmlformats.org/officeDocument/2006/relationships/notesMaster" Target="/ppt/notesMasters/notesMaster1.xml" Id="R9b07460dd2ee4fc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3b037662434688" /><Relationship Type="http://schemas.openxmlformats.org/officeDocument/2006/relationships/notesMaster" Target="/ppt/notesMasters/notesMaster1.xml" Id="R90c32e3ea73f41e8" /></Relationships>
</file>

<file path=ppt/notesSlides/_rels/notesSlide8.xml.rels>&#65279;<?xml version="1.0" encoding="utf-8"?><Relationships xmlns="http://schemas.openxmlformats.org/package/2006/relationships"><Relationship Type="http://schemas.openxmlformats.org/officeDocument/2006/relationships/slide" Target="/ppt/slides/slide8.xml" Id="R5975d7ffa9594c7d" /><Relationship Type="http://schemas.openxmlformats.org/officeDocument/2006/relationships/notesMaster" Target="/ppt/notesMasters/notesMaster1.xml" Id="R17dec27635a642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39efcea7d4941e5" /><Relationship Type="http://schemas.openxmlformats.org/officeDocument/2006/relationships/notesMaster" Target="/ppt/notesMasters/notesMaster1.xml" Id="Rba7d779e6b1d41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69d068a7044f40" /><Relationship Type="http://schemas.openxmlformats.org/officeDocument/2006/relationships/notesMaster" Target="/ppt/notesMasters/notesMaster1.xml" Id="Re8bd62451a8d4b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7bec10d335e4eec" /><Relationship Type="http://schemas.openxmlformats.org/officeDocument/2006/relationships/notesMaster" Target="/ppt/notesMasters/notesMaster1.xml" Id="Rc5e28f0458e349c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850b8f744d4fd4" /><Relationship Type="http://schemas.openxmlformats.org/officeDocument/2006/relationships/notesMaster" Target="/ppt/notesMasters/notesMaster1.xml" Id="R8cb2165e48b4497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9a8bc490d943ff" /><Relationship Type="http://schemas.openxmlformats.org/officeDocument/2006/relationships/notesMaster" Target="/ppt/notesMasters/notesMaster1.xml" Id="Rd362fcb615d0430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3f8ca625baa411e" /><Relationship Type="http://schemas.openxmlformats.org/officeDocument/2006/relationships/notesMaster" Target="/ppt/notesMasters/notesMaster1.xml" Id="R851ee313763946d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18492dbc81a4f3c" /><Relationship Type="http://schemas.openxmlformats.org/officeDocument/2006/relationships/notesMaster" Target="/ppt/notesMasters/notesMaster1.xml" Id="Rc24d367096a2475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f813bc5182b42eb" /><Relationship Type="http://schemas.openxmlformats.org/officeDocument/2006/relationships/notesMaster" Target="/ppt/notesMasters/notesMaster1.xml" Id="R1cd8ab4fac7d44f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7b047a20f4048ef" /><Relationship Type="http://schemas.openxmlformats.org/officeDocument/2006/relationships/notesMaster" Target="/ppt/notesMasters/notesMaster1.xml" Id="R7493ee3831cd4b7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52491c4aba04276" /><Relationship Type="http://schemas.openxmlformats.org/officeDocument/2006/relationships/notesMaster" Target="/ppt/notesMasters/notesMaster1.xml" Id="R29d4ba057eff458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3727a6fd4f44bf" /><Relationship Type="http://schemas.openxmlformats.org/officeDocument/2006/relationships/notesMaster" Target="/ppt/notesMasters/notesMaster1.xml" Id="R01593508d44644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798810e998a4057" /><Relationship Type="http://schemas.openxmlformats.org/officeDocument/2006/relationships/notesMaster" Target="/ppt/notesMasters/notesMaster1.xml" Id="R9bf06cc913914ca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02cba4736274cab" /><Relationship Type="http://schemas.openxmlformats.org/officeDocument/2006/relationships/notesMaster" Target="/ppt/notesMasters/notesMaster1.xml" Id="Rdf55fc09997f4d0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4424dcd6d4f4652" /><Relationship Type="http://schemas.openxmlformats.org/officeDocument/2006/relationships/notesMaster" Target="/ppt/notesMasters/notesMaster1.xml" Id="R21bcc12ecb84477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f41766df282c417f" /><Relationship Type="http://schemas.openxmlformats.org/officeDocument/2006/relationships/notesMaster" Target="/ppt/notesMasters/notesMaster1.xml" Id="R0eafbe2103db407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2e5d02b8171f4831" /><Relationship Type="http://schemas.openxmlformats.org/officeDocument/2006/relationships/notesMaster" Target="/ppt/notesMasters/notesMaster1.xml" Id="Re8b682519001466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eenheden zijn volgens de bron belast?</a:t>
            </a:r>
          </a:p>
          <a:p xmlns:a="http://schemas.openxmlformats.org/drawingml/2006/main">
            <a:r>
              <a:rPr sz="1400"/>
              <a:t/>
            </a:r>
          </a:p>
          <a:p xmlns:a="http://schemas.openxmlformats.org/drawingml/2006/main">
            <a:r>
              <a:rPr sz="1400"/>
              <a:t>Uitleg: Laat dit overzicht staan tijdens startopdracht. Start 21–22 p.112, basis 23 p.112 en 24 p.113, zelfstandig 25–26 p.114, doel 27 p.115. Huiswerk: 23, 24, 25, 26 en 27 maken en nakijken. Bonus 28 en herhaling 29–30 zijn extra. Start 21 herhaalt t maal belaste hoeveelheid uit §3.1.2, p.14. Start 22 gebruikt import = Qv − Qa uit §3.3.2, p.98, maar koppelt dit voor het eerst aan invoerheffing en een opbrengstrechthoek. Laat daarvoor p.108–109 lezen en de belastbare eenheden aanwijzen. Geen onaangekondigde beheersingstoets. Bij terugkeer vóór het basiswerk: laat 22 opnieuw proberen en bespreek welke eenheden belast zijn. De volledige route heeft geen aangetoonde eenlesfit. De handleiding reserveert voorlopig twee lessen van 55 minuten; verplaats de lesgrens of voltooi als huiswerk.</a:t>
            </a:r>
          </a:p>
          <a:p xmlns:a="http://schemas.openxmlformats.org/drawingml/2006/main">
            <a:r>
              <a:rPr sz="1400"/>
              <a:t/>
            </a:r>
          </a:p>
          <a:p xmlns:a="http://schemas.openxmlformats.org/drawingml/2006/main">
            <a:r>
              <a:rPr sz="1400"/>
              <a:t>Misvatting: Alle verkopen tellen als import, of de startpoging als bewezen beheersing behandelen.</a:t>
            </a:r>
          </a:p>
          <a:p xmlns:a="http://schemas.openxmlformats.org/drawingml/2006/main">
            <a:r>
              <a:rPr sz="1400"/>
              <a:t/>
            </a:r>
          </a:p>
          <a:p xmlns:a="http://schemas.openxmlformats.org/drawingml/2006/main">
            <a:r>
              <a:rPr sz="1400"/>
              <a:t>Overgang: Ga door naar de volgende fase wanneer de klas eraan toe is.</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108–115.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Hoe controleer je import met productie en verbruik?</a:t>
            </a:r>
          </a:p>
          <a:p xmlns:a="http://schemas.openxmlformats.org/drawingml/2006/main">
            <a:r>
              <a:rPr sz="1400"/>
              <a:t/>
            </a:r>
          </a:p>
          <a:p xmlns:a="http://schemas.openxmlformats.org/drawingml/2006/main">
            <a:r>
              <a:rPr sz="1400"/>
              <a:t>Uitleg: Deze doelen ondersteunen 23–27. Haal twee bekende relaties mondeling op: import = verbruik min binnenlandse productie (§3.3.2 p.98); opbrengst = bedrag per eenheid maal belaste eenheden (§3.1.2 p.14). De nieuwe stap is welke eenheden bij een invoerheffing belast zijn.</a:t>
            </a:r>
          </a:p>
          <a:p xmlns:a="http://schemas.openxmlformats.org/drawingml/2006/main">
            <a:r>
              <a:rPr sz="1400"/>
              <a:t/>
            </a:r>
          </a:p>
          <a:p xmlns:a="http://schemas.openxmlformats.org/drawingml/2006/main">
            <a:r>
              <a:rPr sz="1400"/>
              <a:t>Misvatting: Import en verbruik zijn verschillende hoeveelheden.</a:t>
            </a:r>
          </a:p>
          <a:p xmlns:a="http://schemas.openxmlformats.org/drawingml/2006/main">
            <a:r>
              <a:rPr sz="1400"/>
              <a:t/>
            </a:r>
          </a:p>
          <a:p xmlns:a="http://schemas.openxmlformats.org/drawingml/2006/main">
            <a:r>
              <a:rPr sz="1400"/>
              <a:t>Overgang: Vergelijk de twee instrumenten.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107–110.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Is een hoeveelheid invoer hetzelfde als een bedrag aan belasting?</a:t>
            </a:r>
          </a:p>
          <a:p xmlns:a="http://schemas.openxmlformats.org/drawingml/2006/main">
            <a:r>
              <a:rPr sz="1400"/>
              <a:t/>
            </a:r>
          </a:p>
          <a:p xmlns:a="http://schemas.openxmlformats.org/drawingml/2006/main">
            <a:r>
              <a:rPr sz="1400"/>
              <a:t>Uitleg: Protectionisme beschermt binnenlandse producenten door buitenlandse concurrentie te beperken. Een bron kan ook leveringszekerheid of tijdelijke aanpassing als doel noemen. Bepaal eerst het doel, dan mechanisme en effecten. Een productiequotum begrenst binnenlandse productie; een importquotum de invoer.</a:t>
            </a:r>
          </a:p>
          <a:p xmlns:a="http://schemas.openxmlformats.org/drawingml/2006/main">
            <a:r>
              <a:rPr sz="1400"/>
              <a:t/>
            </a:r>
          </a:p>
          <a:p xmlns:a="http://schemas.openxmlformats.org/drawingml/2006/main">
            <a:r>
              <a:rPr sz="1400"/>
              <a:t>Misvatting: Een bereikt doel is geen bewijs dat iedereen profiteert.</a:t>
            </a:r>
          </a:p>
          <a:p xmlns:a="http://schemas.openxmlformats.org/drawingml/2006/main">
            <a:r>
              <a:rPr sz="1400"/>
              <a:t/>
            </a:r>
          </a:p>
          <a:p xmlns:a="http://schemas.openxmlformats.org/drawingml/2006/main">
            <a:r>
              <a:rPr sz="1400"/>
              <a:t>Overgang: Gebruik een eigen markt om de berekening te zien.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107, 110.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Verandert dit kleine land de wereldmarktprijs?</a:t>
            </a:r>
          </a:p>
          <a:p xmlns:a="http://schemas.openxmlformats.org/drawingml/2006/main">
            <a:r>
              <a:rPr sz="1400"/>
              <a:t/>
            </a:r>
          </a:p>
          <a:p xmlns:a="http://schemas.openxmlformats.org/drawingml/2006/main">
            <a:r>
              <a:rPr sz="1400"/>
              <a:t>Uitleg: Eigen voorbeeld. Vraag P = 50 − 0,5Q, aanbod P = 10 + 0,5Q. P in euro per lamp, Q in lampen per week. De grafieken geven de lijnen; functies oplossen is geen extra leerdoel. Binnenlands evenwicht is Q=40 en P=30. Buitenlands aanbod is beschikbaar tegen de gegeven wereldprijs. Alleen de aanname van vrije invoer verandert.</a:t>
            </a:r>
          </a:p>
          <a:p xmlns:a="http://schemas.openxmlformats.org/drawingml/2006/main">
            <a:r>
              <a:rPr sz="1400"/>
              <a:t/>
            </a:r>
          </a:p>
          <a:p xmlns:a="http://schemas.openxmlformats.org/drawingml/2006/main">
            <a:r>
              <a:rPr sz="1400"/>
              <a:t>Misvatting: Buitenlandse en binnenlandse producenten ontvangen na de maatregel niet hetzelfde netto bedrag.</a:t>
            </a:r>
          </a:p>
          <a:p xmlns:a="http://schemas.openxmlformats.org/drawingml/2006/main">
            <a:r>
              <a:rPr sz="1400"/>
              <a:t/>
            </a:r>
          </a:p>
          <a:p xmlns:a="http://schemas.openxmlformats.org/drawingml/2006/main">
            <a:r>
              <a:rPr sz="1400"/>
              <a:t>Overgang: Lees eerst de vrije invoer.</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97, 107–109.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hoeveelheid leveren binnenlandse producenten?</a:t>
            </a:r>
          </a:p>
          <a:p xmlns:a="http://schemas.openxmlformats.org/drawingml/2006/main">
            <a:r>
              <a:rPr sz="1400"/>
              <a:t/>
            </a:r>
          </a:p>
          <a:p xmlns:a="http://schemas.openxmlformats.org/drawingml/2006/main">
            <a:r>
              <a:rPr sz="1400"/>
              <a:t>Uitleg: Eigen voorbeeld. Volg P=18 eerst naar A: binnenlandse productie 16. Daarna naar V: verbruik 64. Het horizontale verschil 48 wordt ingevoerd. Controle 16+48=64. Dit is de eerder geleerde leeswijze uit §3.3.2.</a:t>
            </a:r>
          </a:p>
          <a:p xmlns:a="http://schemas.openxmlformats.org/drawingml/2006/main">
            <a:r>
              <a:rPr sz="1400"/>
              <a:t/>
            </a:r>
          </a:p>
          <a:p xmlns:a="http://schemas.openxmlformats.org/drawingml/2006/main">
            <a:r>
              <a:rPr sz="1400"/>
              <a:t>Misvatting: Zet vraag gelijk aan aanbod alleen bij de markt zonder handel, niet bij de gegeven lagere wereldprijs.</a:t>
            </a:r>
          </a:p>
          <a:p xmlns:a="http://schemas.openxmlformats.org/drawingml/2006/main">
            <a:r>
              <a:rPr sz="1400"/>
              <a:t/>
            </a:r>
          </a:p>
          <a:p xmlns:a="http://schemas.openxmlformats.org/drawingml/2006/main">
            <a:r>
              <a:rPr sz="1400"/>
              <a:t>Overgang: Voeg de invoerheffing toe op dezelfde assen.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97–98.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Verschuift de binnenlandse aanbodlijn hier?</a:t>
            </a:r>
          </a:p>
          <a:p xmlns:a="http://schemas.openxmlformats.org/drawingml/2006/main">
            <a:r>
              <a:rPr sz="1400"/>
              <a:t/>
            </a:r>
          </a:p>
          <a:p xmlns:a="http://schemas.openxmlformats.org/drawingml/2006/main">
            <a:r>
              <a:rPr sz="1400"/>
              <a:t>Uitleg: Zolang import plaatsvindt, is de binnenlandse prijs de gegeven wereldprijs plus heffing. Importeurs betalen 18 aan de buitenlandse verkoper en dragen 4 aan de overheid af. Binnenlandse producenten ontvangen ook 22, maar dragen deze invoerheffing niet af over hun eigen productie. Langs A neemt productie toe van 16 naar 24; langs V daalt verbruik van 64 naar 56.</a:t>
            </a:r>
          </a:p>
          <a:p xmlns:a="http://schemas.openxmlformats.org/drawingml/2006/main">
            <a:r>
              <a:rPr sz="1400"/>
              <a:t/>
            </a:r>
          </a:p>
          <a:p xmlns:a="http://schemas.openxmlformats.org/drawingml/2006/main">
            <a:r>
              <a:rPr sz="1400"/>
              <a:t>Misvatting: Behandel de invoerheffing niet als een algemene belasting op alle binnenlandse verkoop.</a:t>
            </a:r>
          </a:p>
          <a:p xmlns:a="http://schemas.openxmlformats.org/drawingml/2006/main">
            <a:r>
              <a:rPr sz="1400"/>
              <a:t/>
            </a:r>
          </a:p>
          <a:p xmlns:a="http://schemas.openxmlformats.org/drawingml/2006/main">
            <a:r>
              <a:rPr sz="1400"/>
              <a:t>Overgang: Bepaal nu de resterende import.</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108.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vermenigvuldigen we niet met 56 of met de oude import van 48?</a:t>
            </a:r>
          </a:p>
          <a:p xmlns:a="http://schemas.openxmlformats.org/drawingml/2006/main">
            <a:r>
              <a:rPr sz="1400"/>
              <a:t/>
            </a:r>
          </a:p>
          <a:p xmlns:a="http://schemas.openxmlformats.org/drawingml/2006/main">
            <a:r>
              <a:rPr sz="1400"/>
              <a:t>Uitleg: Gebruik de hoeveelheden ná invoering. De 56 verkochte lampen bestaan uit 24 binnenlandse en 32 ingevoerde. Alleen die 32 zijn belast. De opbrengst gaat naar de overheid, niet naar de binnenlandse producent.</a:t>
            </a:r>
          </a:p>
          <a:p xmlns:a="http://schemas.openxmlformats.org/drawingml/2006/main">
            <a:r>
              <a:rPr sz="1400"/>
              <a:t/>
            </a:r>
          </a:p>
          <a:p xmlns:a="http://schemas.openxmlformats.org/drawingml/2006/main">
            <a:r>
              <a:rPr sz="1400"/>
              <a:t>Misvatting: Een tarief per eenheid is geen totale opbrengst.</a:t>
            </a:r>
          </a:p>
          <a:p xmlns:a="http://schemas.openxmlformats.org/drawingml/2006/main">
            <a:r>
              <a:rPr sz="1400"/>
              <a:t/>
            </a:r>
          </a:p>
          <a:p xmlns:a="http://schemas.openxmlformats.org/drawingml/2006/main">
            <a:r>
              <a:rPr sz="1400"/>
              <a:t>Overgang: Vertaal dezelfde berekening naar een rechthoek.</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109, 111.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begint de rechthoek niet bij Q=0?</a:t>
            </a:r>
          </a:p>
          <a:p xmlns:a="http://schemas.openxmlformats.org/drawingml/2006/main">
            <a:r>
              <a:rPr sz="1400"/>
              <a:t/>
            </a:r>
          </a:p>
          <a:p xmlns:a="http://schemas.openxmlformats.org/drawingml/2006/main">
            <a:r>
              <a:rPr sz="1400"/>
              <a:t>Uitleg: Begin bij Qa=24 en eindig bij Qv=56. De ondergrens is Pw=18 en de bovengrens de binnenlandse prijs 22. Arceer alleen dat gebied. De horizontale arcering is in dezelfde gegevenscoördinaten getekend als de lijnen. Laat een leerling grenzen en eenheden aanwijzen.</a:t>
            </a:r>
          </a:p>
          <a:p xmlns:a="http://schemas.openxmlformats.org/drawingml/2006/main">
            <a:r>
              <a:rPr sz="1400"/>
              <a:t/>
            </a:r>
          </a:p>
          <a:p xmlns:a="http://schemas.openxmlformats.org/drawingml/2006/main">
            <a:r>
              <a:rPr sz="1400"/>
              <a:t>Misvatting: Opbrengst is een rechthoek en is niet hetzelfde als welvaartsverlies.</a:t>
            </a:r>
          </a:p>
          <a:p xmlns:a="http://schemas.openxmlformats.org/drawingml/2006/main">
            <a:r>
              <a:rPr sz="1400"/>
              <a:t/>
            </a:r>
          </a:p>
          <a:p xmlns:a="http://schemas.openxmlformats.org/drawingml/2006/main">
            <a:r>
              <a:rPr sz="1400"/>
              <a:t>Overgang: Vergelijk de groepen.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109, 111.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ondersteunen het productiedoel?</a:t>
            </a:r>
          </a:p>
          <a:p xmlns:a="http://schemas.openxmlformats.org/drawingml/2006/main">
            <a:r>
              <a:rPr sz="1400"/>
              <a:t/>
            </a:r>
          </a:p>
          <a:p xmlns:a="http://schemas.openxmlformats.org/drawingml/2006/main">
            <a:r>
              <a:rPr sz="1400"/>
              <a:t>Uitleg: Het productiedoel wordt ondersteund, maar kopers verliezen. CS betekent voordeel voor kopers; PS voordeel voor producenten vóór aftrek van vaste kosten. Onder deze kleine-landaannames compenseren PS-winst en overheidsontvangsten het CS-verlies niet volledig. Opbrengst verhuist, welvaartsverlies ontstaat door duurdere binnenlandse productie en wegvallend verbruik. Leveringszekerheid is niet automatisch in deze surplusmaat verwerkt.</a:t>
            </a:r>
          </a:p>
          <a:p xmlns:a="http://schemas.openxmlformats.org/drawingml/2006/main">
            <a:r>
              <a:rPr sz="1400"/>
              <a:t/>
            </a:r>
          </a:p>
          <a:p xmlns:a="http://schemas.openxmlformats.org/drawingml/2006/main">
            <a:r>
              <a:rPr sz="1400"/>
              <a:t>Misvatting: Een hoger PS is niet automatisch een grotere winst van dezelfde omvang of een voordeel voor iedereen.</a:t>
            </a:r>
          </a:p>
          <a:p xmlns:a="http://schemas.openxmlformats.org/drawingml/2006/main">
            <a:r>
              <a:rPr sz="1400"/>
              <a:t/>
            </a:r>
          </a:p>
          <a:p xmlns:a="http://schemas.openxmlformats.org/drawingml/2006/main">
            <a:r>
              <a:rPr sz="1400"/>
              <a:t>Overgang: Vergelijk nu een quotum met gratis vergunningen.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109.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informatie over vergunningen staat in de bron?</a:t>
            </a:r>
          </a:p>
          <a:p xmlns:a="http://schemas.openxmlformats.org/drawingml/2006/main">
            <a:r>
              <a:rPr sz="1400"/>
              <a:t/>
            </a:r>
          </a:p>
          <a:p xmlns:a="http://schemas.openxmlformats.org/drawingml/2006/main">
            <a:r>
              <a:rPr sz="1400"/>
              <a:t>Uitleg: In dezelfde markt kan een bindend quotum dezelfde importhoeveelheid opleveren. Gratis vergunningen en geen heffing geven echter geen ontvangsten uit deze regeling. Als vergunningen worden verkocht of geveild, moet dat expliciet in de bron staan. Berekening van quotumrente is hier geen leerdoel.</a:t>
            </a:r>
          </a:p>
          <a:p xmlns:a="http://schemas.openxmlformats.org/drawingml/2006/main">
            <a:r>
              <a:rPr sz="1400"/>
              <a:t/>
            </a:r>
          </a:p>
          <a:p xmlns:a="http://schemas.openxmlformats.org/drawingml/2006/main">
            <a:r>
              <a:rPr sz="1400"/>
              <a:t>Misvatting: Een importquotum begrenst niet de binnenlandse productie en levert niet vanzelf belastingopbrengst op.</a:t>
            </a:r>
          </a:p>
          <a:p xmlns:a="http://schemas.openxmlformats.org/drawingml/2006/main">
            <a:r>
              <a:rPr sz="1400"/>
              <a:t/>
            </a:r>
          </a:p>
          <a:p xmlns:a="http://schemas.openxmlformats.org/drawingml/2006/main">
            <a:r>
              <a:rPr sz="1400"/>
              <a:t>Overgang: Onderzoek de grens van de prijsregel.</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110–111.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prijs vind je als binnenlandse vraag en aanbod elkaar ontmoeten?</a:t>
            </a:r>
          </a:p>
          <a:p xmlns:a="http://schemas.openxmlformats.org/drawingml/2006/main">
            <a:r>
              <a:rPr sz="1400"/>
              <a:t/>
            </a:r>
          </a:p>
          <a:p xmlns:a="http://schemas.openxmlformats.org/drawingml/2006/main">
            <a:r>
              <a:rPr sz="1400"/>
              <a:t>Uitleg: Nieuwe situatie met dezelfde markt, maar heffing 16 in plaats van 4. De binnenlandse markt voorziet al bij 30 in 40 lampen. Import tegen 34 is niet nodig. Gebruik daarom niet mechanisch Pw+t als marktprijs. Buitenlandse prijs blijft 18. Bij tarief 12 bereikt de importprijs al 30 en is het importverschil nul. We tekenen geen exportuitkomst: de wereldprijs blijft lager.</a:t>
            </a:r>
          </a:p>
          <a:p xmlns:a="http://schemas.openxmlformats.org/drawingml/2006/main">
            <a:r>
              <a:rPr sz="1400"/>
              <a:t/>
            </a:r>
          </a:p>
          <a:p xmlns:a="http://schemas.openxmlformats.org/drawingml/2006/main">
            <a:r>
              <a:rPr sz="1400"/>
              <a:t>Misvatting: De heffing is geen garantie dat de winkelprijs altijd met het hele tarief stijgt.</a:t>
            </a:r>
          </a:p>
          <a:p xmlns:a="http://schemas.openxmlformats.org/drawingml/2006/main">
            <a:r>
              <a:rPr sz="1400"/>
              <a:t/>
            </a:r>
          </a:p>
          <a:p xmlns:a="http://schemas.openxmlformats.org/drawingml/2006/main">
            <a:r>
              <a:rPr sz="1400"/>
              <a:t>Overgang: Keer terug naar een situatie waarin wél import blijft.</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110.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gebeurt met import als alleen de wereldprijs daalt?</a:t>
            </a:r>
          </a:p>
          <a:p xmlns:a="http://schemas.openxmlformats.org/drawingml/2006/main">
            <a:r>
              <a:rPr sz="1400"/>
              <a:t/>
            </a:r>
          </a:p>
          <a:p xmlns:a="http://schemas.openxmlformats.org/drawingml/2006/main">
            <a:r>
              <a:rPr sz="1400"/>
              <a:t>Uitleg: Ondersteun de werkwijze voor basis 24 met andere context en getallen. Splits de twee veranderingen: bij alleen Pw lager daalt P, stijgt Qv en daalt Qa, dus stijgt import. Alleen hoger tarief werkt andersom. Bij beide blijft P22, dus Qa24 en Qv56 en import32. Dit is geen uitwerking van de toegewezen notitieboekenopgave.</a:t>
            </a:r>
          </a:p>
          <a:p xmlns:a="http://schemas.openxmlformats.org/drawingml/2006/main">
            <a:r>
              <a:rPr sz="1400"/>
              <a:t/>
            </a:r>
          </a:p>
          <a:p xmlns:a="http://schemas.openxmlformats.org/drawingml/2006/main">
            <a:r>
              <a:rPr sz="1400"/>
              <a:t>Misvatting: Een hogere heffing betekent niet zeker een hogere binnenlandse prijs als Pw tegelijk verandert.</a:t>
            </a:r>
          </a:p>
          <a:p xmlns:a="http://schemas.openxmlformats.org/drawingml/2006/main">
            <a:r>
              <a:rPr sz="1400"/>
              <a:t/>
            </a:r>
          </a:p>
          <a:p xmlns:a="http://schemas.openxmlformats.org/drawingml/2006/main">
            <a:r>
              <a:rPr sz="1400"/>
              <a:t>Overgang: Controleer of leerlingen de voorwaarde en grondslag zelf kunnen aanwijzen.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108, 113.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staan de 24 binnenlandse lampen in deze fout?</a:t>
            </a:r>
          </a:p>
          <a:p xmlns:a="http://schemas.openxmlformats.org/drawingml/2006/main">
            <a:r>
              <a:rPr sz="1400"/>
              <a:t/>
            </a:r>
          </a:p>
          <a:p xmlns:a="http://schemas.openxmlformats.org/drawingml/2006/main">
            <a:r>
              <a:rPr sz="1400"/>
              <a:t>Uitleg: Dit is een check op het eigen uitlegvoorbeeld, geen huiswerkopgave. Laat leerlingen eerst zelf reageren. Gewenst: 32 importlampen, want 24 van de 56 zijn binnenlands geproduceerd. Pas na de antwoorden bevestigen: 4×32=128 euro per week.</a:t>
            </a:r>
          </a:p>
          <a:p xmlns:a="http://schemas.openxmlformats.org/drawingml/2006/main">
            <a:r>
              <a:rPr sz="1400"/>
              <a:t/>
            </a:r>
          </a:p>
          <a:p xmlns:a="http://schemas.openxmlformats.org/drawingml/2006/main">
            <a:r>
              <a:rPr sz="1400"/>
              <a:t>Misvatting: De binnenlandse prijs geldt voor alle producten, maar de invoerheffing alleen voor import.</a:t>
            </a:r>
          </a:p>
          <a:p xmlns:a="http://schemas.openxmlformats.org/drawingml/2006/main">
            <a:r>
              <a:rPr sz="1400"/>
              <a:t/>
            </a:r>
          </a:p>
          <a:p xmlns:a="http://schemas.openxmlformats.org/drawingml/2006/main">
            <a:r>
              <a:rPr sz="1400"/>
              <a:t>Overgang: Herneem start 22 en laat daarna het overzicht staan tijdens het basiswerk.</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109.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Uitlegvoorbeeld — niet uit het boek. Zelf ontworpen markt voor fietslampen in Linde, per week. De geciteerde boekpagina onderbouwt de methode, niet de fictieve context of getallen.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vraagt nog uitleg?</a:t>
            </a:r>
          </a:p>
          <a:p xmlns:a="http://schemas.openxmlformats.org/drawingml/2006/main">
            <a:r>
              <a:rPr sz="1400"/>
              <a:t/>
            </a:r>
          </a:p>
          <a:p xmlns:a="http://schemas.openxmlformats.org/drawingml/2006/main">
            <a:r>
              <a:rPr sz="1400"/>
              <a:t>Uitleg: Laat dit overzicht staan tijdens zelfstandig werken. Start 21–22 p.112, basis 23 p.112 en 24 p.113, zelfstandig 25–26 p.114, doel 27 p.115. Huiswerk: 23, 24, 25, 26 en 27 maken en nakijken. Bonus 28 en herhaling 29–30 zijn extra. Start 21 herhaalt t maal belaste hoeveelheid uit §3.1.2, p.14. Start 22 gebruikt import = Qv − Qa uit §3.3.2, p.98, maar koppelt dit voor het eerst aan invoerheffing en een opbrengstrechthoek. Laat daarvoor p.108–109 lezen en de belastbare eenheden aanwijzen. Geen onaangekondigde beheersingstoets. Bij terugkeer vóór het basiswerk: laat 22 opnieuw proberen en bespreek welke eenheden belast zijn. De volledige route heeft geen aangetoonde eenlesfit. De handleiding reserveert voorlopig twee lessen van 55 minuten; verplaats de lesgrens of voltooi als huiswerk.</a:t>
            </a:r>
          </a:p>
          <a:p xmlns:a="http://schemas.openxmlformats.org/drawingml/2006/main">
            <a:r>
              <a:rPr sz="1400"/>
              <a:t/>
            </a:r>
          </a:p>
          <a:p xmlns:a="http://schemas.openxmlformats.org/drawingml/2006/main">
            <a:r>
              <a:rPr sz="1400"/>
              <a:t>Misvatting: Alle verkopen tellen als import, of de startpoging als bewezen beheersing behandelen.</a:t>
            </a:r>
          </a:p>
          <a:p xmlns:a="http://schemas.openxmlformats.org/drawingml/2006/main">
            <a:r>
              <a:rPr sz="1400"/>
              <a:t/>
            </a:r>
          </a:p>
          <a:p xmlns:a="http://schemas.openxmlformats.org/drawingml/2006/main">
            <a:r>
              <a:rPr sz="1400"/>
              <a:t>Overgang: Ga door naar de volgende fase wanneer de klas eraan toe is.</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108–115.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doel noemt de minister en wie uit zorg?</a:t>
            </a:r>
          </a:p>
          <a:p xmlns:a="http://schemas.openxmlformats.org/drawingml/2006/main">
            <a:r>
              <a:rPr sz="1400"/>
              <a:t/>
            </a:r>
          </a:p>
          <a:p xmlns:a="http://schemas.openxmlformats.org/drawingml/2006/main">
            <a:r>
              <a:rPr sz="1400"/>
              <a:t>Uitleg: Volledige lesbron uit de actuele doelopgave 27. Leerlingen hebben deze zelfstandig geprobeerd. Toon eerst alle brongegevens, tabel, figuur en deelvragen op de komende drie dia’s. Bespreek nog geen oplossingen.</a:t>
            </a:r>
          </a:p>
          <a:p xmlns:a="http://schemas.openxmlformats.org/drawingml/2006/main">
            <a:r>
              <a:rPr sz="1400"/>
              <a:t/>
            </a:r>
          </a:p>
          <a:p xmlns:a="http://schemas.openxmlformats.org/drawingml/2006/main">
            <a:r>
              <a:rPr sz="1400"/>
              <a:t>Misvatting: Importeurs dragen af; dat zegt nog niet wie economisch voordeel of nadeel heeft.</a:t>
            </a:r>
          </a:p>
          <a:p xmlns:a="http://schemas.openxmlformats.org/drawingml/2006/main">
            <a:r>
              <a:rPr sz="1400"/>
              <a:t/>
            </a:r>
          </a:p>
          <a:p xmlns:a="http://schemas.openxmlformats.org/drawingml/2006/main">
            <a:r>
              <a:rPr sz="1400"/>
              <a:t>Overgang: Toon de gegeven tabel.</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rij hoort bij de situatie na invoering?</a:t>
            </a:r>
          </a:p>
          <a:p xmlns:a="http://schemas.openxmlformats.org/drawingml/2006/main">
            <a:r>
              <a:rPr sz="1400"/>
              <a:t/>
            </a:r>
          </a:p>
          <a:p xmlns:a="http://schemas.openxmlformats.org/drawingml/2006/main">
            <a:r>
              <a:rPr sz="1400"/>
              <a:t>Uitleg: Alle gegeven waarden zijn identiek aan het boek. Import staat nog niet ingevuld en de opbrengst ontbreekt bewust. De volgende dia toont de gegeven figuur en vragen a–b.</a:t>
            </a:r>
          </a:p>
          <a:p xmlns:a="http://schemas.openxmlformats.org/drawingml/2006/main">
            <a:r>
              <a:rPr sz="1400"/>
              <a:t/>
            </a:r>
          </a:p>
          <a:p xmlns:a="http://schemas.openxmlformats.org/drawingml/2006/main">
            <a:r>
              <a:rPr sz="1400"/>
              <a:t>Misvatting: De beginhoeveelheid gebruiken voor de opbrengst na de maatregel.</a:t>
            </a:r>
          </a:p>
          <a:p xmlns:a="http://schemas.openxmlformats.org/drawingml/2006/main">
            <a:r>
              <a:rPr sz="1400"/>
              <a:t/>
            </a:r>
          </a:p>
          <a:p xmlns:a="http://schemas.openxmlformats.org/drawingml/2006/main">
            <a:r>
              <a:rPr sz="1400"/>
              <a:t>Overgang: Toon figuur 6 en de eerste twee vragen.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uit de tabel herken je in de figuur?</a:t>
            </a:r>
          </a:p>
          <a:p xmlns:a="http://schemas.openxmlformats.org/drawingml/2006/main">
            <a:r>
              <a:rPr sz="1400"/>
              <a:t/>
            </a:r>
          </a:p>
          <a:p xmlns:a="http://schemas.openxmlformats.org/drawingml/2006/main">
            <a:r>
              <a:rPr sz="1400"/>
              <a:t>Uitleg: Figuur 6 opnieuw opgebouwd als bewerkbare XY-grafiek met dezelfde lijnen, asschalen en prijzen: V van (0,80) naar (160,0), A van (0,0) naar (160,80), prijzen 20 en 30. Dit zijn gegeven lijnen, geen extra op te lossen functies. Tekst bij de oorspronkelijke figuur: De lijnen en prijzen zijn gegeven. Teken alleen de gevraagde opbrengstrechthoek; niet opnieuw de markt. Geen oplossing zichtbaar.</a:t>
            </a:r>
          </a:p>
          <a:p xmlns:a="http://schemas.openxmlformats.org/drawingml/2006/main">
            <a:r>
              <a:rPr sz="1400"/>
              <a:t/>
            </a:r>
          </a:p>
          <a:p xmlns:a="http://schemas.openxmlformats.org/drawingml/2006/main">
            <a:r>
              <a:rPr sz="1400"/>
              <a:t>Misvatting: Vraag b vraagt het gebied, niet opnieuw de hele markt tekenen.</a:t>
            </a:r>
          </a:p>
          <a:p xmlns:a="http://schemas.openxmlformats.org/drawingml/2006/main">
            <a:r>
              <a:rPr sz="1400"/>
              <a:t/>
            </a:r>
          </a:p>
          <a:p xmlns:a="http://schemas.openxmlformats.org/drawingml/2006/main">
            <a:r>
              <a:rPr sz="1400"/>
              <a:t>Overgang: Laat ook c, d en e zien vóór de eerste oplossing.</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brongegevens heb je voor een oordeel per groep nodig?</a:t>
            </a:r>
          </a:p>
          <a:p xmlns:a="http://schemas.openxmlformats.org/drawingml/2006/main">
            <a:r>
              <a:rPr sz="1400"/>
              <a:t/>
            </a:r>
          </a:p>
          <a:p xmlns:a="http://schemas.openxmlformats.org/drawingml/2006/main">
            <a:r>
              <a:rPr sz="1400"/>
              <a:t>Uitleg: Nu zijn volledige context, tabel, figuur en alle vijf deelvragen aangeboden zonder oplossingen. Geef denktijd en laat leerlingen hun eigen antwoord erbij houden.</a:t>
            </a:r>
          </a:p>
          <a:p xmlns:a="http://schemas.openxmlformats.org/drawingml/2006/main">
            <a:r>
              <a:rPr sz="1400"/>
              <a:t/>
            </a:r>
          </a:p>
          <a:p xmlns:a="http://schemas.openxmlformats.org/drawingml/2006/main">
            <a:r>
              <a:rPr sz="1400"/>
              <a:t>Misvatting: Een politiek doel verwarren met een totaal oordeel over alle groepen.</a:t>
            </a:r>
          </a:p>
          <a:p xmlns:a="http://schemas.openxmlformats.org/drawingml/2006/main">
            <a:r>
              <a:rPr sz="1400"/>
              <a:t/>
            </a:r>
          </a:p>
          <a:p xmlns:a="http://schemas.openxmlformats.org/drawingml/2006/main">
            <a:r>
              <a:rPr sz="1400"/>
              <a:t>Overgang: Begin de gezamenlijke uitwerking bij a.</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hoort 100 niet rechtstreeks in de vermenigvuldiging?</a:t>
            </a:r>
          </a:p>
          <a:p xmlns:a="http://schemas.openxmlformats.org/drawingml/2006/main">
            <a:r>
              <a:rPr sz="1400"/>
              <a:t/>
            </a:r>
          </a:p>
          <a:p xmlns:a="http://schemas.openxmlformats.org/drawingml/2006/main">
            <a:r>
              <a:rPr sz="1400"/>
              <a:t>Uitleg: Antwoord 27a: eerst 100−60=40 rugzakken per week. Dan 10 euro per rugzak maal 40 rugzakken per week =400 euro per week. De heffing rust alleen op resterende import. Het antwoordmodel kent 3 punten toe; benoem de twee rekenstappen en de eenheden.</a:t>
            </a:r>
          </a:p>
          <a:p xmlns:a="http://schemas.openxmlformats.org/drawingml/2006/main">
            <a:r>
              <a:rPr sz="1400"/>
              <a:t/>
            </a:r>
          </a:p>
          <a:p xmlns:a="http://schemas.openxmlformats.org/drawingml/2006/main">
            <a:r>
              <a:rPr sz="1400"/>
              <a:t>Misvatting: Over de eigen productie van 60 rugzakken wordt deze invoerheffing niet afgedragen.</a:t>
            </a:r>
          </a:p>
          <a:p xmlns:a="http://schemas.openxmlformats.org/drawingml/2006/main">
            <a:r>
              <a:rPr sz="1400"/>
              <a:t/>
            </a:r>
          </a:p>
          <a:p xmlns:a="http://schemas.openxmlformats.org/drawingml/2006/main">
            <a:r>
              <a:rPr sz="1400"/>
              <a:t>Overgang: Laat dezelfde bedragen als een rechthoek zien.</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krijgt de oppervlakte?</a:t>
            </a:r>
          </a:p>
          <a:p xmlns:a="http://schemas.openxmlformats.org/drawingml/2006/main">
            <a:r>
              <a:rPr sz="1400"/>
              <a:t/>
            </a:r>
          </a:p>
          <a:p xmlns:a="http://schemas.openxmlformats.org/drawingml/2006/main">
            <a:r>
              <a:rPr sz="1400"/>
              <a:t>Uitleg: Antwoord 27b: arceer vanaf Q=60 tot Q=100 en vanaf P20 tot P30. De ondergrens is wereldprijs, de bovengrens binnenlandse prijs. De rechthoek is niet de hele verkoop en geen verliesdriehoek. Vergelijk eigen tekening met de vier grenzen.</a:t>
            </a:r>
          </a:p>
          <a:p xmlns:a="http://schemas.openxmlformats.org/drawingml/2006/main">
            <a:r>
              <a:rPr sz="1400"/>
              <a:t/>
            </a:r>
          </a:p>
          <a:p xmlns:a="http://schemas.openxmlformats.org/drawingml/2006/main">
            <a:r>
              <a:rPr sz="1400"/>
              <a:t>Misvatting: De prijs 30 als hoogte gebruiken in plaats van het prijsverschil 10.</a:t>
            </a:r>
          </a:p>
          <a:p xmlns:a="http://schemas.openxmlformats.org/drawingml/2006/main">
            <a:r>
              <a:rPr sz="1400"/>
              <a:t/>
            </a:r>
          </a:p>
          <a:p xmlns:a="http://schemas.openxmlformats.org/drawingml/2006/main">
            <a:r>
              <a:rPr sz="1400"/>
              <a:t>Overgang: Verklaar de verandering per groep.</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gegevens tonen dat het nadeel van scholieren niet verdwijnt?</a:t>
            </a:r>
          </a:p>
          <a:p xmlns:a="http://schemas.openxmlformats.org/drawingml/2006/main">
            <a:r>
              <a:rPr sz="1400"/>
              <a:t/>
            </a:r>
          </a:p>
          <a:p xmlns:a="http://schemas.openxmlformats.org/drawingml/2006/main">
            <a:r>
              <a:rPr sz="1400"/>
              <a:t>Uitleg: Antwoord 27c bevat gegevens plus de economische reden. Producenten ontvangen een hogere prijs en breiden uit. Kopers betalen dezelfde hogere binnenlandse prijs en gebruiken minder. Die tegengestelde reacties verlopen langs ongewijzigde lijnen.</a:t>
            </a:r>
          </a:p>
          <a:p xmlns:a="http://schemas.openxmlformats.org/drawingml/2006/main">
            <a:r>
              <a:rPr sz="1400"/>
              <a:t/>
            </a:r>
          </a:p>
          <a:p xmlns:a="http://schemas.openxmlformats.org/drawingml/2006/main">
            <a:r>
              <a:rPr sz="1400"/>
              <a:t>Misvatting: Van een hogere productie automatisch naar hogere banen of landelijke welvaart springen.</a:t>
            </a:r>
          </a:p>
          <a:p xmlns:a="http://schemas.openxmlformats.org/drawingml/2006/main">
            <a:r>
              <a:rPr sz="1400"/>
              <a:t/>
            </a:r>
          </a:p>
          <a:p xmlns:a="http://schemas.openxmlformats.org/drawingml/2006/main">
            <a:r>
              <a:rPr sz="1400"/>
              <a:t>Overgang: Beoordeel de uitspraak van d met dit onderscheid.</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woord in de conclusie gaat verder dan de gegevens?</a:t>
            </a:r>
          </a:p>
          <a:p xmlns:a="http://schemas.openxmlformats.org/drawingml/2006/main">
            <a:r>
              <a:rPr sz="1400"/>
              <a:t/>
            </a:r>
          </a:p>
          <a:p xmlns:a="http://schemas.openxmlformats.org/drawingml/2006/main">
            <a:r>
              <a:rPr sz="1400"/>
              <a:t>Uitleg: Antwoord 27d: beoordeel beide delen apart. Er is bewijs voor meer binnenlandse productie. Dat bewijst niet dat de maatregel voor iedereen gunstig is, want kopers betalen meer. Een breder werkgelegenheidseffect staat niet in de bron. Vermijd de onjuiste omkering dat een nadeel voor kopers betekent dat geen doel bereikt wordt.</a:t>
            </a:r>
          </a:p>
          <a:p xmlns:a="http://schemas.openxmlformats.org/drawingml/2006/main">
            <a:r>
              <a:rPr sz="1400"/>
              <a:t/>
            </a:r>
          </a:p>
          <a:p xmlns:a="http://schemas.openxmlformats.org/drawingml/2006/main">
            <a:r>
              <a:rPr sz="1400"/>
              <a:t>Misvatting: Iedereen gelijkstellen aan binnenlandse producenten.</a:t>
            </a:r>
          </a:p>
          <a:p xmlns:a="http://schemas.openxmlformats.org/drawingml/2006/main">
            <a:r>
              <a:rPr sz="1400"/>
              <a:t/>
            </a:r>
          </a:p>
          <a:p xmlns:a="http://schemas.openxmlformats.org/drawingml/2006/main">
            <a:r>
              <a:rPr sz="1400"/>
              <a:t>Overgang: Vergelijk tot slot de inkomsten bij het quotum.</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woorden uit de bron beslissen dit antwoord?</a:t>
            </a:r>
          </a:p>
          <a:p xmlns:a="http://schemas.openxmlformats.org/drawingml/2006/main">
            <a:r>
              <a:rPr sz="1400"/>
              <a:t/>
            </a:r>
          </a:p>
          <a:p xmlns:a="http://schemas.openxmlformats.org/drawingml/2006/main">
            <a:r>
              <a:rPr sz="1400"/>
              <a:t>Uitleg: Antwoord 27e: een hoeveelheidsgrens is geen belasting. De beschreven gratis vergunningen en afwezigheid van heffing leveren geen overeenkomstige ontvangsten op. Zelfs als import 40 blijft, is er geen tarief van 10 voor de overheid. Verkoop van vergunningen is een andere regeling en staat niet in deze bron. Laat leerlingen één ontbrekende stap of eenheid in hun eigen antwoorden verbeteren.</a:t>
            </a:r>
          </a:p>
          <a:p xmlns:a="http://schemas.openxmlformats.org/drawingml/2006/main">
            <a:r>
              <a:rPr sz="1400"/>
              <a:t/>
            </a:r>
          </a:p>
          <a:p xmlns:a="http://schemas.openxmlformats.org/drawingml/2006/main">
            <a:r>
              <a:rPr sz="1400"/>
              <a:t>Misvatting: Bij elke importbeperking dezelfde opbrengstrechthoek voor de overheid invullen.</a:t>
            </a:r>
          </a:p>
          <a:p xmlns:a="http://schemas.openxmlformats.org/drawingml/2006/main">
            <a:r>
              <a:rPr sz="1400"/>
              <a:t/>
            </a:r>
          </a:p>
          <a:p xmlns:a="http://schemas.openxmlformats.org/drawingml/2006/main">
            <a:r>
              <a:rPr sz="1400"/>
              <a:t>Overgang: Sluit af met het overzicht en noteer het huiswerk.</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vraagt nog uitleg?</a:t>
            </a:r>
          </a:p>
          <a:p xmlns:a="http://schemas.openxmlformats.org/drawingml/2006/main">
            <a:r>
              <a:rPr sz="1400"/>
              <a:t/>
            </a:r>
          </a:p>
          <a:p xmlns:a="http://schemas.openxmlformats.org/drawingml/2006/main">
            <a:r>
              <a:rPr sz="1400"/>
              <a:t>Uitleg: Laat dit overzicht staan tijdens afsluiting / huiswerk. Start 21–22 p.112, basis 23 p.112 en 24 p.113, zelfstandig 25–26 p.114, doel 27 p.115. Huiswerk: 23, 24, 25, 26 en 27 maken en nakijken. Bonus 28 en herhaling 29–30 zijn extra. Start 21 herhaalt t maal belaste hoeveelheid uit §3.1.2, p.14. Start 22 gebruikt import = Qv − Qa uit §3.3.2, p.98, maar koppelt dit voor het eerst aan invoerheffing en een opbrengstrechthoek. Laat daarvoor p.108–109 lezen en de belastbare eenheden aanwijzen. Geen onaangekondigde beheersingstoets. Bij terugkeer vóór het basiswerk: laat 22 opnieuw proberen en bespreek welke eenheden belast zijn. De volledige route heeft geen aangetoonde eenlesfit. De handleiding reserveert voorlopig twee lessen van 55 minuten; verplaats de lesgrens of voltooi als huiswerk.</a:t>
            </a:r>
          </a:p>
          <a:p xmlns:a="http://schemas.openxmlformats.org/drawingml/2006/main">
            <a:r>
              <a:rPr sz="1400"/>
              <a:t/>
            </a:r>
          </a:p>
          <a:p xmlns:a="http://schemas.openxmlformats.org/drawingml/2006/main">
            <a:r>
              <a:rPr sz="1400"/>
              <a:t>Misvatting: Alle verkopen tellen als import, of de startpoging als bewezen beheersing behandelen.</a:t>
            </a:r>
          </a:p>
          <a:p xmlns:a="http://schemas.openxmlformats.org/drawingml/2006/main">
            <a:r>
              <a:rPr sz="1400"/>
              <a:t/>
            </a:r>
          </a:p>
          <a:p xmlns:a="http://schemas.openxmlformats.org/drawingml/2006/main">
            <a:r>
              <a:rPr sz="1400"/>
              <a:t>Overgang: Ga door naar de volgende fase wanneer de klas eraan toe is.</a:t>
            </a:r>
          </a:p>
          <a:p xmlns:a="http://schemas.openxmlformats.org/drawingml/2006/main">
            <a:r>
              <a:rPr sz="1400"/>
              <a:t/>
            </a:r>
          </a:p>
          <a:p xmlns:a="http://schemas.openxmlformats.org/drawingml/2006/main">
            <a:r>
              <a:rPr sz="1400"/>
              <a:t>Bron: Boek 3, actuele v3-uitgave met routeherziening 21 september en getekende-elasticiteitsrevisie 26 september 2026. Gedrukte boekpagina 108–115. https://github.com/meijer1973/4veco-lessen/blob/9b8304d5031cafac936a56281e144573a25fbbc9/edities/books34-v3/books/book-3/output/Boek_3_Compleet_v3.pdf</a:t>
            </a:r>
          </a:p>
          <a:p xmlns:a="http://schemas.openxmlformats.org/drawingml/2006/main">
            <a:r>
              <a:rPr sz="1400"/>
              <a:t>Antwoordmodel en docentenroute: https://github.com/meijer1973/4veco-lessen/blob/9b8304d5031cafac936a56281e144573a25fbbc9/edities/books34-v3/books/book-3/chapters/3.3/Antwoorden.md en https://github.com/meijer1973/4veco-lessen/blob/9b8304d5031cafac936a56281e144573a25fbbc9/edities/books34-v3/books/book-3/chapters/3.3/Docenteninformatie.md</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f789a01ea8140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999f798cbfc434f" /><Relationship Type="http://schemas.openxmlformats.org/officeDocument/2006/relationships/slideLayout" Target="/ppt/slideLayouts/slideLayout1.xml" Id="R023de7aa6a524c0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3de7aa6a524c0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d249057f504a2c" /><Relationship Type="http://schemas.openxmlformats.org/officeDocument/2006/relationships/notesSlide" Target="/ppt/notesSlides/notesSlide1.xml" Id="R6f3c78e502fa453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ab4b6fec22b4933" /><Relationship Type="http://schemas.openxmlformats.org/officeDocument/2006/relationships/notesSlide" Target="/ppt/notesSlides/notesSlide2.xml" Id="R30b265b7824b4a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580c77287c54c46" /><Relationship Type="http://schemas.openxmlformats.org/officeDocument/2006/relationships/notesSlide" Target="/ppt/notesSlides/notesSlide3.xml" Id="R8f03c173b4ca48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d990c9846004d5f" /><Relationship Type="http://schemas.openxmlformats.org/officeDocument/2006/relationships/notesSlide" Target="/ppt/notesSlides/notesSlide4.xml" Id="R885bfacb04ff4a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983f4858a8f4ba2" /><Relationship Type="http://schemas.openxmlformats.org/officeDocument/2006/relationships/chart" Target="/ppt/slides/charts/chart1.xml" Id="R03e68046fe1d4c69" /><Relationship Type="http://schemas.openxmlformats.org/officeDocument/2006/relationships/notesSlide" Target="/ppt/notesSlides/notesSlide5.xml" Id="R47007f0e0e1f40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516e947f294684" /><Relationship Type="http://schemas.openxmlformats.org/officeDocument/2006/relationships/chart" Target="/ppt/slides/charts/chart2.xml" Id="R95f1057f24cd45bb" /><Relationship Type="http://schemas.openxmlformats.org/officeDocument/2006/relationships/notesSlide" Target="/ppt/notesSlides/notesSlide6.xml" Id="R065cad27b1cf4f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427d006813a4af6" /><Relationship Type="http://schemas.openxmlformats.org/officeDocument/2006/relationships/notesSlide" Target="/ppt/notesSlides/notesSlide7.xml" Id="Re9ce35a1d4f847e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96f25e18d4a48e5" /><Relationship Type="http://schemas.openxmlformats.org/officeDocument/2006/relationships/chart" Target="/ppt/slides/charts/chart3.xml" Id="Rdf2bd2784a78455c" /><Relationship Type="http://schemas.openxmlformats.org/officeDocument/2006/relationships/notesSlide" Target="/ppt/notesSlides/notesSlide8.xml" Id="R410776612798428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568fc9557bc4d3c" /><Relationship Type="http://schemas.openxmlformats.org/officeDocument/2006/relationships/notesSlide" Target="/ppt/notesSlides/notesSlide9.xml" Id="R5181a461070b4d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2f0a69c1d284cb3" /><Relationship Type="http://schemas.openxmlformats.org/officeDocument/2006/relationships/notesSlide" Target="/ppt/notesSlides/notesSlide10.xml" Id="R1ef021f86c664d6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acdbd8f9114ee2" /><Relationship Type="http://schemas.openxmlformats.org/officeDocument/2006/relationships/chart" Target="/ppt/slides/charts/chart4.xml" Id="Rdbcb770c6dd94825" /><Relationship Type="http://schemas.openxmlformats.org/officeDocument/2006/relationships/notesSlide" Target="/ppt/notesSlides/notesSlide11.xml" Id="Rf5fa5dcaddf043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793a98f1db64ec9" /><Relationship Type="http://schemas.openxmlformats.org/officeDocument/2006/relationships/notesSlide" Target="/ppt/notesSlides/notesSlide12.xml" Id="Reac97a6cd2b841b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5ec636ed3b64e9a" /><Relationship Type="http://schemas.openxmlformats.org/officeDocument/2006/relationships/notesSlide" Target="/ppt/notesSlides/notesSlide13.xml" Id="R3201c130411d473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0a78fa0aead4478" /><Relationship Type="http://schemas.openxmlformats.org/officeDocument/2006/relationships/notesSlide" Target="/ppt/notesSlides/notesSlide14.xml" Id="Re02000cd45e044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1849d17660b4d33" /><Relationship Type="http://schemas.openxmlformats.org/officeDocument/2006/relationships/notesSlide" Target="/ppt/notesSlides/notesSlide15.xml" Id="Ra0f5383380b144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aaf43b48d5e4ca3" /><Relationship Type="http://schemas.openxmlformats.org/officeDocument/2006/relationships/notesSlide" Target="/ppt/notesSlides/notesSlide16.xml" Id="Rf5531bb905dd449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cb6628e2d2e4e0a" /><Relationship Type="http://schemas.openxmlformats.org/officeDocument/2006/relationships/chart" Target="/ppt/slides/charts/chart5.xml" Id="R6c822db5eba04abd" /><Relationship Type="http://schemas.openxmlformats.org/officeDocument/2006/relationships/notesSlide" Target="/ppt/notesSlides/notesSlide17.xml" Id="R20478e3e298d400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cfe614a0b5b4c1e" /><Relationship Type="http://schemas.openxmlformats.org/officeDocument/2006/relationships/notesSlide" Target="/ppt/notesSlides/notesSlide18.xml" Id="R56123e6baeb7423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47154b00376c4f79" /><Relationship Type="http://schemas.openxmlformats.org/officeDocument/2006/relationships/notesSlide" Target="/ppt/notesSlides/notesSlide19.xml" Id="R87db5a94bd1542e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d66824580984f0a" /><Relationship Type="http://schemas.openxmlformats.org/officeDocument/2006/relationships/chart" Target="/ppt/slides/charts/chart6.xml" Id="R1c7403d115b944cc" /><Relationship Type="http://schemas.openxmlformats.org/officeDocument/2006/relationships/notesSlide" Target="/ppt/notesSlides/notesSlide20.xml" Id="Re47a805eea2d48e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dd54ddc97e241ec" /><Relationship Type="http://schemas.openxmlformats.org/officeDocument/2006/relationships/notesSlide" Target="/ppt/notesSlides/notesSlide21.xml" Id="Rb8389213f93c430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437d083c73574372" /><Relationship Type="http://schemas.openxmlformats.org/officeDocument/2006/relationships/notesSlide" Target="/ppt/notesSlides/notesSlide22.xml" Id="Rec95cf325187445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ece1ce94bdea492b" /><Relationship Type="http://schemas.openxmlformats.org/officeDocument/2006/relationships/notesSlide" Target="/ppt/notesSlides/notesSlide23.xml" Id="R3e9e9aabd5fc4cf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18dc040fe71f443d" /><Relationship Type="http://schemas.openxmlformats.org/officeDocument/2006/relationships/notesSlide" Target="/ppt/notesSlides/notesSlide24.xml" Id="R4af84961f68747f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er>
        <c:ser>
          <c:idx val="1"/>
          <c:order val="1"/>
          <c:tx>
            <c:v>A</c:v>
          </c:tx>
          <c:spPr>
            <a:ln xmlns:a="http://schemas.openxmlformats.org/drawingml/2006/main" w="38100">
              <a:solidFill>
                <a:srgbClr val="1E7449"/>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10</c:v>
                </c:pt>
                <c:pt idx="1">
                  <c:v>60</c:v>
                </c:pt>
              </c:numCache>
            </c:numRef>
          </c:yVal>
        </c:ser>
        <c:ser>
          <c:idx val="2"/>
          <c:order val="2"/>
          <c:tx>
            <c:v>Pw</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18</c:v>
                </c:pt>
                <c:pt idx="1">
                  <c:v>18</c:v>
                </c:pt>
              </c:numCache>
            </c:numRef>
          </c:yVal>
        </c:ser>
        <c:ser>
          <c:idx val="3"/>
          <c:order val="3"/>
          <c:tx>
            <c:v>Aflezen Q = 16</c:v>
          </c:tx>
          <c:spPr>
            <a:ln xmlns:a="http://schemas.openxmlformats.org/drawingml/2006/main" w="19050">
              <a:solidFill>
                <a:srgbClr val="C6D2DB"/>
              </a:solidFill>
              <a:prstDash val="dash"/>
            </a:ln>
          </c:spPr>
          <c:marker>
            <c:symbol val="none"/>
          </c:marker>
          <c:xVal>
            <c:numRef>
              <c:f>'Chart Data'!$G$2:$G$3</c:f>
              <c:numCache>
                <c:formatCode>General</c:formatCode>
                <c:ptCount val="2"/>
                <c:pt idx="0">
                  <c:v>16</c:v>
                </c:pt>
                <c:pt idx="1">
                  <c:v>16</c:v>
                </c:pt>
              </c:numCache>
            </c:numRef>
          </c:xVal>
          <c:yVal>
            <c:numRef>
              <c:f>'Chart Data'!$H$2:$H$3</c:f>
              <c:numCache>
                <c:formatCode>0</c:formatCode>
                <c:ptCount val="2"/>
                <c:pt idx="0">
                  <c:v>0</c:v>
                </c:pt>
                <c:pt idx="1">
                  <c:v>18</c:v>
                </c:pt>
              </c:numCache>
            </c:numRef>
          </c:yVal>
        </c:ser>
        <c:ser>
          <c:idx val="4"/>
          <c:order val="4"/>
          <c:tx>
            <c:v>Aflezen Q = 64</c:v>
          </c:tx>
          <c:spPr>
            <a:ln xmlns:a="http://schemas.openxmlformats.org/drawingml/2006/main" w="19050">
              <a:solidFill>
                <a:srgbClr val="C6D2DB"/>
              </a:solidFill>
              <a:prstDash val="dash"/>
            </a:ln>
          </c:spPr>
          <c:marker>
            <c:symbol val="none"/>
          </c:marker>
          <c:xVal>
            <c:numRef>
              <c:f>'Chart Data'!$I$2:$I$3</c:f>
              <c:numCache>
                <c:formatCode>General</c:formatCode>
                <c:ptCount val="2"/>
                <c:pt idx="0">
                  <c:v>64</c:v>
                </c:pt>
                <c:pt idx="1">
                  <c:v>64</c:v>
                </c:pt>
              </c:numCache>
            </c:numRef>
          </c:xVal>
          <c:yVal>
            <c:numRef>
              <c:f>'Chart Data'!$J$2:$J$3</c:f>
              <c:numCache>
                <c:formatCode>0</c:formatCode>
                <c:ptCount val="2"/>
                <c:pt idx="0">
                  <c:v>0</c:v>
                </c:pt>
                <c:pt idx="1">
                  <c:v>18</c:v>
                </c:pt>
              </c:numCache>
            </c:numRef>
          </c:yVal>
        </c:ser>
        <c:ser>
          <c:idx val="5"/>
          <c:order val="5"/>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showLegendKey val="0"/>
              <c:showVal val="0"/>
              <c:showCatName val="0"/>
              <c:showSerName val="0"/>
              <c:showPercent val="0"/>
              <c:showBubbleSize val="0"/>
            </c:dLbl>
          </c:dLbls>
          <c:xVal>
            <c:numRef>
              <c:f>'Chart Data'!$K$2:$K$2</c:f>
              <c:numCache>
                <c:formatCode>General</c:formatCode>
                <c:ptCount val="1"/>
                <c:pt idx="0">
                  <c:v>90</c:v>
                </c:pt>
              </c:numCache>
            </c:numRef>
          </c:xVal>
          <c:yVal>
            <c:numRef>
              <c:f>'Chart Data'!$L$2:$L$2</c:f>
              <c:numCache>
                <c:formatCode>0</c:formatCode>
                <c:ptCount val="1"/>
                <c:pt idx="0">
                  <c:v>5</c:v>
                </c:pt>
              </c:numCache>
            </c:numRef>
          </c:yVal>
        </c:ser>
        <c:ser>
          <c:idx val="6"/>
          <c:order val="6"/>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1875"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1E7449"/>
                      </a:solidFill>
                      <a:latin typeface="Arial"/>
                      <a:ea typeface="Arial"/>
                      <a:cs typeface="Arial"/>
                    </a:defRPr>
                  </a:pPr>
                </a:p>
              </c:txPr>
              <c:showLegendKey val="0"/>
              <c:showVal val="0"/>
              <c:showCatName val="0"/>
              <c:showSerName val="0"/>
              <c:showPercent val="0"/>
              <c:showBubbleSize val="0"/>
            </c:dLbl>
          </c:dLbls>
          <c:xVal>
            <c:numRef>
              <c:f>'Chart Data'!$M$2:$M$2</c:f>
              <c:numCache>
                <c:formatCode>General</c:formatCode>
                <c:ptCount val="1"/>
                <c:pt idx="0">
                  <c:v>92</c:v>
                </c:pt>
              </c:numCache>
            </c:numRef>
          </c:xVal>
          <c:yVal>
            <c:numRef>
              <c:f>'Chart Data'!$N$2:$N$2</c:f>
              <c:numCache>
                <c:formatCode>0</c:formatCode>
                <c:ptCount val="1"/>
                <c:pt idx="0">
                  <c:v>56</c:v>
                </c:pt>
              </c:numCache>
            </c:numRef>
          </c:yVal>
        </c:ser>
        <c:ser>
          <c:idx val="7"/>
          <c:order val="7"/>
          <c:tx>
            <c:v>Pw = 18</c:v>
          </c:tx>
          <c:spPr>
            <a:ln xmlns:a="http://schemas.openxmlformats.org/drawingml/2006/main" w="0">
              <a:noFill/>
            </a:ln>
          </c:spPr>
          <c:marker>
            <c:symbol val="none"/>
            <c:size val="8"/>
            <c:spPr>
              <a:solidFill xmlns:a="http://schemas.openxmlformats.org/drawingml/2006/main">
                <a:srgbClr val="445B6B"/>
              </a:solidFill>
            </c:spPr>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Pw = 18</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showLegendKey val="0"/>
              <c:showVal val="0"/>
              <c:showCatName val="0"/>
              <c:showSerName val="0"/>
              <c:showPercent val="0"/>
              <c:showBubbleSize val="0"/>
            </c:dLbl>
          </c:dLbls>
          <c:xVal>
            <c:numRef>
              <c:f>'Chart Data'!$O$2:$O$2</c:f>
              <c:numCache>
                <c:formatCode>General</c:formatCode>
                <c:ptCount val="1"/>
                <c:pt idx="0">
                  <c:v>84</c:v>
                </c:pt>
              </c:numCache>
            </c:numRef>
          </c:xVal>
          <c:yVal>
            <c:numRef>
              <c:f>'Chart Data'!$P$2:$P$2</c:f>
              <c:numCache>
                <c:formatCode>0</c:formatCode>
                <c:ptCount val="1"/>
                <c:pt idx="0">
                  <c:v>15.3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fietslamp)</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(fietslampen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er>
        <c:ser>
          <c:idx val="1"/>
          <c:order val="1"/>
          <c:tx>
            <c:v>A</c:v>
          </c:tx>
          <c:spPr>
            <a:ln xmlns:a="http://schemas.openxmlformats.org/drawingml/2006/main" w="38100">
              <a:solidFill>
                <a:srgbClr val="1E7449"/>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10</c:v>
                </c:pt>
                <c:pt idx="1">
                  <c:v>60</c:v>
                </c:pt>
              </c:numCache>
            </c:numRef>
          </c:yVal>
        </c:ser>
        <c:ser>
          <c:idx val="2"/>
          <c:order val="2"/>
          <c:tx>
            <c:v>Pw</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18</c:v>
                </c:pt>
                <c:pt idx="1">
                  <c:v>18</c:v>
                </c:pt>
              </c:numCache>
            </c:numRef>
          </c:yVal>
        </c:ser>
        <c:ser>
          <c:idx val="3"/>
          <c:order val="3"/>
          <c:tx>
            <c:v>Pw + t</c:v>
          </c:tx>
          <c:spPr>
            <a:ln xmlns:a="http://schemas.openxmlformats.org/drawingml/2006/main" w="28575">
              <a:solidFill>
                <a:srgbClr val="A94D16"/>
              </a:solidFill>
              <a:prstDash val="dash"/>
            </a:ln>
          </c:spPr>
          <c:marker>
            <c:symbol val="none"/>
          </c:marker>
          <c:xVal>
            <c:numRef>
              <c:f>'Chart Data'!$G$2:$G$3</c:f>
              <c:numCache>
                <c:formatCode>General</c:formatCode>
                <c:ptCount val="2"/>
                <c:pt idx="0">
                  <c:v>0</c:v>
                </c:pt>
                <c:pt idx="1">
                  <c:v>100</c:v>
                </c:pt>
              </c:numCache>
            </c:numRef>
          </c:xVal>
          <c:yVal>
            <c:numRef>
              <c:f>'Chart Data'!$H$2:$H$3</c:f>
              <c:numCache>
                <c:formatCode>0</c:formatCode>
                <c:ptCount val="2"/>
                <c:pt idx="0">
                  <c:v>22</c:v>
                </c:pt>
                <c:pt idx="1">
                  <c:v>22</c:v>
                </c:pt>
              </c:numCache>
            </c:numRef>
          </c:yVal>
        </c:ser>
        <c:ser>
          <c:idx val="4"/>
          <c:order val="4"/>
          <c:tx>
            <c:v>Aflezen Q = 24</c:v>
          </c:tx>
          <c:spPr>
            <a:ln xmlns:a="http://schemas.openxmlformats.org/drawingml/2006/main" w="19050">
              <a:solidFill>
                <a:srgbClr val="C6D2DB"/>
              </a:solidFill>
              <a:prstDash val="dash"/>
            </a:ln>
          </c:spPr>
          <c:marker>
            <c:symbol val="none"/>
          </c:marker>
          <c:xVal>
            <c:numRef>
              <c:f>'Chart Data'!$I$2:$I$3</c:f>
              <c:numCache>
                <c:formatCode>General</c:formatCode>
                <c:ptCount val="2"/>
                <c:pt idx="0">
                  <c:v>24</c:v>
                </c:pt>
                <c:pt idx="1">
                  <c:v>24</c:v>
                </c:pt>
              </c:numCache>
            </c:numRef>
          </c:xVal>
          <c:yVal>
            <c:numRef>
              <c:f>'Chart Data'!$J$2:$J$3</c:f>
              <c:numCache>
                <c:formatCode>0</c:formatCode>
                <c:ptCount val="2"/>
                <c:pt idx="0">
                  <c:v>0</c:v>
                </c:pt>
                <c:pt idx="1">
                  <c:v>22</c:v>
                </c:pt>
              </c:numCache>
            </c:numRef>
          </c:yVal>
        </c:ser>
        <c:ser>
          <c:idx val="5"/>
          <c:order val="5"/>
          <c:tx>
            <c:v>Aflezen Q = 56</c:v>
          </c:tx>
          <c:spPr>
            <a:ln xmlns:a="http://schemas.openxmlformats.org/drawingml/2006/main" w="19050">
              <a:solidFill>
                <a:srgbClr val="C6D2DB"/>
              </a:solidFill>
              <a:prstDash val="dash"/>
            </a:ln>
          </c:spPr>
          <c:marker>
            <c:symbol val="none"/>
          </c:marker>
          <c:xVal>
            <c:numRef>
              <c:f>'Chart Data'!$K$2:$K$3</c:f>
              <c:numCache>
                <c:formatCode>General</c:formatCode>
                <c:ptCount val="2"/>
                <c:pt idx="0">
                  <c:v>56</c:v>
                </c:pt>
                <c:pt idx="1">
                  <c:v>56</c:v>
                </c:pt>
              </c:numCache>
            </c:numRef>
          </c:xVal>
          <c:yVal>
            <c:numRef>
              <c:f>'Chart Data'!$L$2:$L$3</c:f>
              <c:numCache>
                <c:formatCode>0</c:formatCode>
                <c:ptCount val="2"/>
                <c:pt idx="0">
                  <c:v>0</c:v>
                </c:pt>
                <c:pt idx="1">
                  <c:v>22</c:v>
                </c:pt>
              </c:numCache>
            </c:numRef>
          </c:yVal>
        </c:ser>
        <c:ser>
          <c:idx val="6"/>
          <c:order val="6"/>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showLegendKey val="0"/>
              <c:showVal val="0"/>
              <c:showCatName val="0"/>
              <c:showSerName val="0"/>
              <c:showPercent val="0"/>
              <c:showBubbleSize val="0"/>
            </c:dLbl>
          </c:dLbls>
          <c:xVal>
            <c:numRef>
              <c:f>'Chart Data'!$M$2:$M$2</c:f>
              <c:numCache>
                <c:formatCode>General</c:formatCode>
                <c:ptCount val="1"/>
                <c:pt idx="0">
                  <c:v>90</c:v>
                </c:pt>
              </c:numCache>
            </c:numRef>
          </c:xVal>
          <c:yVal>
            <c:numRef>
              <c:f>'Chart Data'!$N$2:$N$2</c:f>
              <c:numCache>
                <c:formatCode>0</c:formatCode>
                <c:ptCount val="1"/>
                <c:pt idx="0">
                  <c:v>5</c:v>
                </c:pt>
              </c:numCache>
            </c:numRef>
          </c:yVal>
        </c:ser>
        <c:ser>
          <c:idx val="7"/>
          <c:order val="7"/>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1875"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1E7449"/>
                      </a:solidFill>
                      <a:latin typeface="Arial"/>
                      <a:ea typeface="Arial"/>
                      <a:cs typeface="Arial"/>
                    </a:defRPr>
                  </a:pPr>
                </a:p>
              </c:txPr>
              <c:showLegendKey val="0"/>
              <c:showVal val="0"/>
              <c:showCatName val="0"/>
              <c:showSerName val="0"/>
              <c:showPercent val="0"/>
              <c:showBubbleSize val="0"/>
            </c:dLbl>
          </c:dLbls>
          <c:xVal>
            <c:numRef>
              <c:f>'Chart Data'!$O$2:$O$2</c:f>
              <c:numCache>
                <c:formatCode>General</c:formatCode>
                <c:ptCount val="1"/>
                <c:pt idx="0">
                  <c:v>92</c:v>
                </c:pt>
              </c:numCache>
            </c:numRef>
          </c:xVal>
          <c:yVal>
            <c:numRef>
              <c:f>'Chart Data'!$P$2:$P$2</c:f>
              <c:numCache>
                <c:formatCode>0</c:formatCode>
                <c:ptCount val="1"/>
                <c:pt idx="0">
                  <c:v>56</c:v>
                </c:pt>
              </c:numCache>
            </c:numRef>
          </c:yVal>
        </c:ser>
        <c:ser>
          <c:idx val="8"/>
          <c:order val="8"/>
          <c:tx>
            <c:v>Pw = 18</c:v>
          </c:tx>
          <c:spPr>
            <a:ln xmlns:a="http://schemas.openxmlformats.org/drawingml/2006/main" w="0">
              <a:noFill/>
            </a:ln>
          </c:spPr>
          <c:marker>
            <c:symbol val="none"/>
            <c:size val="8"/>
            <c:spPr>
              <a:solidFill xmlns:a="http://schemas.openxmlformats.org/drawingml/2006/main">
                <a:srgbClr val="445B6B"/>
              </a:solidFill>
            </c:spPr>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Pw = 18</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showLegendKey val="0"/>
              <c:showVal val="0"/>
              <c:showCatName val="0"/>
              <c:showSerName val="0"/>
              <c:showPercent val="0"/>
              <c:showBubbleSize val="0"/>
            </c:dLbl>
          </c:dLbls>
          <c:xVal>
            <c:numRef>
              <c:f>'Chart Data'!$Q$2:$Q$2</c:f>
              <c:numCache>
                <c:formatCode>General</c:formatCode>
                <c:ptCount val="1"/>
                <c:pt idx="0">
                  <c:v>84</c:v>
                </c:pt>
              </c:numCache>
            </c:numRef>
          </c:xVal>
          <c:yVal>
            <c:numRef>
              <c:f>'Chart Data'!$R$2:$R$2</c:f>
              <c:numCache>
                <c:formatCode>0</c:formatCode>
                <c:ptCount val="1"/>
                <c:pt idx="0">
                  <c:v>15.3</c:v>
                </c:pt>
              </c:numCache>
            </c:numRef>
          </c:yVal>
        </c:ser>
        <c:ser>
          <c:idx val="9"/>
          <c:order val="9"/>
          <c:tx>
            <c:v>Pw + t = 22</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Pw + t = 22</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dLbls>
          <c:xVal>
            <c:numRef>
              <c:f>'Chart Data'!$S$2:$S$2</c:f>
              <c:numCache>
                <c:formatCode>General</c:formatCode>
                <c:ptCount val="1"/>
                <c:pt idx="0">
                  <c:v>79</c:v>
                </c:pt>
              </c:numCache>
            </c:numRef>
          </c:xVal>
          <c:yVal>
            <c:numRef>
              <c:f>'Chart Data'!$T$2:$T$2</c:f>
              <c:numCache>
                <c:formatCode>0</c:formatCode>
                <c:ptCount val="1"/>
                <c:pt idx="0">
                  <c:v>24.7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fietslamp)</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(fietslampen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
        <c:ser>
          <c:idx val="0"/>
          <c:order val="0"/>
          <c:tx>
            <c:v>Arcering opbrengst</c:v>
          </c:tx>
          <c:spPr>
            <a:ln xmlns:a="http://schemas.openxmlformats.org/drawingml/2006/main" w="19050">
              <a:solidFill>
                <a:srgbClr val="D8A255"/>
              </a:solidFill>
              <a:prstDash val="solid"/>
            </a:ln>
          </c:spPr>
          <c:marker>
            <c:symbol val="none"/>
          </c:marker>
          <c:xVal>
            <c:numRef>
              <c:f>'Chart Data'!$A$2:$A$3</c:f>
              <c:numCache>
                <c:formatCode>General</c:formatCode>
                <c:ptCount val="2"/>
                <c:pt idx="0">
                  <c:v>24</c:v>
                </c:pt>
                <c:pt idx="1">
                  <c:v>56</c:v>
                </c:pt>
              </c:numCache>
            </c:numRef>
          </c:xVal>
          <c:yVal>
            <c:numRef>
              <c:f>'Chart Data'!$B$2:$B$3</c:f>
              <c:numCache>
                <c:formatCode>0</c:formatCode>
                <c:ptCount val="2"/>
                <c:pt idx="0">
                  <c:v>18.4</c:v>
                </c:pt>
                <c:pt idx="1">
                  <c:v>18.4</c:v>
                </c:pt>
              </c:numCache>
            </c:numRef>
          </c:yVal>
        </c:ser>
        <c:ser>
          <c:idx val="1"/>
          <c:order val="1"/>
          <c:tx>
            <c:v>Arcering opbrengst</c:v>
          </c:tx>
          <c:spPr>
            <a:ln xmlns:a="http://schemas.openxmlformats.org/drawingml/2006/main" w="19050">
              <a:solidFill>
                <a:srgbClr val="D8A255"/>
              </a:solidFill>
              <a:prstDash val="solid"/>
            </a:ln>
          </c:spPr>
          <c:marker>
            <c:symbol val="none"/>
          </c:marker>
          <c:xVal>
            <c:numRef>
              <c:f>'Chart Data'!$C$2:$C$3</c:f>
              <c:numCache>
                <c:formatCode>General</c:formatCode>
                <c:ptCount val="2"/>
                <c:pt idx="0">
                  <c:v>24</c:v>
                </c:pt>
                <c:pt idx="1">
                  <c:v>56</c:v>
                </c:pt>
              </c:numCache>
            </c:numRef>
          </c:xVal>
          <c:yVal>
            <c:numRef>
              <c:f>'Chart Data'!$D$2:$D$3</c:f>
              <c:numCache>
                <c:formatCode>0</c:formatCode>
                <c:ptCount val="2"/>
                <c:pt idx="0">
                  <c:v>19.05</c:v>
                </c:pt>
                <c:pt idx="1">
                  <c:v>19.05</c:v>
                </c:pt>
              </c:numCache>
            </c:numRef>
          </c:yVal>
        </c:ser>
        <c:ser>
          <c:idx val="2"/>
          <c:order val="2"/>
          <c:tx>
            <c:v>Arcering opbrengst</c:v>
          </c:tx>
          <c:spPr>
            <a:ln xmlns:a="http://schemas.openxmlformats.org/drawingml/2006/main" w="19050">
              <a:solidFill>
                <a:srgbClr val="D8A255"/>
              </a:solidFill>
              <a:prstDash val="solid"/>
            </a:ln>
          </c:spPr>
          <c:marker>
            <c:symbol val="none"/>
          </c:marker>
          <c:xVal>
            <c:numRef>
              <c:f>'Chart Data'!$E$2:$E$3</c:f>
              <c:numCache>
                <c:formatCode>General</c:formatCode>
                <c:ptCount val="2"/>
                <c:pt idx="0">
                  <c:v>24</c:v>
                </c:pt>
                <c:pt idx="1">
                  <c:v>56</c:v>
                </c:pt>
              </c:numCache>
            </c:numRef>
          </c:xVal>
          <c:yVal>
            <c:numRef>
              <c:f>'Chart Data'!$F$2:$F$3</c:f>
              <c:numCache>
                <c:formatCode>0</c:formatCode>
                <c:ptCount val="2"/>
                <c:pt idx="0">
                  <c:v>19.7</c:v>
                </c:pt>
                <c:pt idx="1">
                  <c:v>19.7</c:v>
                </c:pt>
              </c:numCache>
            </c:numRef>
          </c:yVal>
        </c:ser>
        <c:ser>
          <c:idx val="3"/>
          <c:order val="3"/>
          <c:tx>
            <c:v>Arcering opbrengst</c:v>
          </c:tx>
          <c:spPr>
            <a:ln xmlns:a="http://schemas.openxmlformats.org/drawingml/2006/main" w="19050">
              <a:solidFill>
                <a:srgbClr val="D8A255"/>
              </a:solidFill>
              <a:prstDash val="solid"/>
            </a:ln>
          </c:spPr>
          <c:marker>
            <c:symbol val="none"/>
          </c:marker>
          <c:xVal>
            <c:numRef>
              <c:f>'Chart Data'!$G$2:$G$3</c:f>
              <c:numCache>
                <c:formatCode>General</c:formatCode>
                <c:ptCount val="2"/>
                <c:pt idx="0">
                  <c:v>24</c:v>
                </c:pt>
                <c:pt idx="1">
                  <c:v>56</c:v>
                </c:pt>
              </c:numCache>
            </c:numRef>
          </c:xVal>
          <c:yVal>
            <c:numRef>
              <c:f>'Chart Data'!$H$2:$H$3</c:f>
              <c:numCache>
                <c:formatCode>0</c:formatCode>
                <c:ptCount val="2"/>
                <c:pt idx="0">
                  <c:v>20.35</c:v>
                </c:pt>
                <c:pt idx="1">
                  <c:v>20.35</c:v>
                </c:pt>
              </c:numCache>
            </c:numRef>
          </c:yVal>
        </c:ser>
        <c:ser>
          <c:idx val="4"/>
          <c:order val="4"/>
          <c:tx>
            <c:v>Arcering opbrengst</c:v>
          </c:tx>
          <c:spPr>
            <a:ln xmlns:a="http://schemas.openxmlformats.org/drawingml/2006/main" w="19050">
              <a:solidFill>
                <a:srgbClr val="D8A255"/>
              </a:solidFill>
              <a:prstDash val="solid"/>
            </a:ln>
          </c:spPr>
          <c:marker>
            <c:symbol val="none"/>
          </c:marker>
          <c:xVal>
            <c:numRef>
              <c:f>'Chart Data'!$I$2:$I$3</c:f>
              <c:numCache>
                <c:formatCode>General</c:formatCode>
                <c:ptCount val="2"/>
                <c:pt idx="0">
                  <c:v>24</c:v>
                </c:pt>
                <c:pt idx="1">
                  <c:v>56</c:v>
                </c:pt>
              </c:numCache>
            </c:numRef>
          </c:xVal>
          <c:yVal>
            <c:numRef>
              <c:f>'Chart Data'!$J$2:$J$3</c:f>
              <c:numCache>
                <c:formatCode>0</c:formatCode>
                <c:ptCount val="2"/>
                <c:pt idx="0">
                  <c:v>21</c:v>
                </c:pt>
                <c:pt idx="1">
                  <c:v>21</c:v>
                </c:pt>
              </c:numCache>
            </c:numRef>
          </c:yVal>
        </c:ser>
        <c:ser>
          <c:idx val="5"/>
          <c:order val="5"/>
          <c:tx>
            <c:v>Arcering opbrengst</c:v>
          </c:tx>
          <c:spPr>
            <a:ln xmlns:a="http://schemas.openxmlformats.org/drawingml/2006/main" w="19050">
              <a:solidFill>
                <a:srgbClr val="D8A255"/>
              </a:solidFill>
              <a:prstDash val="solid"/>
            </a:ln>
          </c:spPr>
          <c:marker>
            <c:symbol val="none"/>
          </c:marker>
          <c:xVal>
            <c:numRef>
              <c:f>'Chart Data'!$K$2:$K$3</c:f>
              <c:numCache>
                <c:formatCode>General</c:formatCode>
                <c:ptCount val="2"/>
                <c:pt idx="0">
                  <c:v>24</c:v>
                </c:pt>
                <c:pt idx="1">
                  <c:v>56</c:v>
                </c:pt>
              </c:numCache>
            </c:numRef>
          </c:xVal>
          <c:yVal>
            <c:numRef>
              <c:f>'Chart Data'!$L$2:$L$3</c:f>
              <c:numCache>
                <c:formatCode>0</c:formatCode>
                <c:ptCount val="2"/>
                <c:pt idx="0">
                  <c:v>21.65</c:v>
                </c:pt>
                <c:pt idx="1">
                  <c:v>21.65</c:v>
                </c:pt>
              </c:numCache>
            </c:numRef>
          </c:yVal>
        </c:ser>
        <c:ser>
          <c:idx val="6"/>
          <c:order val="6"/>
          <c:tx>
            <c:v>V</c:v>
          </c:tx>
          <c:spPr>
            <a:ln xmlns:a="http://schemas.openxmlformats.org/drawingml/2006/main" w="38100">
              <a:solidFill>
                <a:srgbClr val="1A5276"/>
              </a:solidFill>
              <a:prstDash val="solid"/>
            </a:ln>
          </c:spPr>
          <c:marker>
            <c:symbol val="none"/>
          </c:marker>
          <c:xVal>
            <c:numRef>
              <c:f>'Chart Data'!$M$2:$M$3</c:f>
              <c:numCache>
                <c:formatCode>General</c:formatCode>
                <c:ptCount val="2"/>
                <c:pt idx="0">
                  <c:v>0</c:v>
                </c:pt>
                <c:pt idx="1">
                  <c:v>100</c:v>
                </c:pt>
              </c:numCache>
            </c:numRef>
          </c:xVal>
          <c:yVal>
            <c:numRef>
              <c:f>'Chart Data'!$N$2:$N$3</c:f>
              <c:numCache>
                <c:formatCode>0</c:formatCode>
                <c:ptCount val="2"/>
                <c:pt idx="0">
                  <c:v>50</c:v>
                </c:pt>
                <c:pt idx="1">
                  <c:v>0</c:v>
                </c:pt>
              </c:numCache>
            </c:numRef>
          </c:yVal>
        </c:ser>
        <c:ser>
          <c:idx val="7"/>
          <c:order val="7"/>
          <c:tx>
            <c:v>A</c:v>
          </c:tx>
          <c:spPr>
            <a:ln xmlns:a="http://schemas.openxmlformats.org/drawingml/2006/main" w="38100">
              <a:solidFill>
                <a:srgbClr val="1E7449"/>
              </a:solidFill>
              <a:prstDash val="solid"/>
            </a:ln>
          </c:spPr>
          <c:marker>
            <c:symbol val="none"/>
          </c:marker>
          <c:xVal>
            <c:numRef>
              <c:f>'Chart Data'!$O$2:$O$3</c:f>
              <c:numCache>
                <c:formatCode>General</c:formatCode>
                <c:ptCount val="2"/>
                <c:pt idx="0">
                  <c:v>0</c:v>
                </c:pt>
                <c:pt idx="1">
                  <c:v>100</c:v>
                </c:pt>
              </c:numCache>
            </c:numRef>
          </c:xVal>
          <c:yVal>
            <c:numRef>
              <c:f>'Chart Data'!$P$2:$P$3</c:f>
              <c:numCache>
                <c:formatCode>0</c:formatCode>
                <c:ptCount val="2"/>
                <c:pt idx="0">
                  <c:v>10</c:v>
                </c:pt>
                <c:pt idx="1">
                  <c:v>60</c:v>
                </c:pt>
              </c:numCache>
            </c:numRef>
          </c:yVal>
        </c:ser>
        <c:ser>
          <c:idx val="8"/>
          <c:order val="8"/>
          <c:tx>
            <c:v>Pw</c:v>
          </c:tx>
          <c:spPr>
            <a:ln xmlns:a="http://schemas.openxmlformats.org/drawingml/2006/main" w="19050">
              <a:solidFill>
                <a:srgbClr val="445B6B"/>
              </a:solidFill>
              <a:prstDash val="dash"/>
            </a:ln>
          </c:spPr>
          <c:marker>
            <c:symbol val="none"/>
          </c:marker>
          <c:xVal>
            <c:numRef>
              <c:f>'Chart Data'!$Q$2:$Q$3</c:f>
              <c:numCache>
                <c:formatCode>General</c:formatCode>
                <c:ptCount val="2"/>
                <c:pt idx="0">
                  <c:v>0</c:v>
                </c:pt>
                <c:pt idx="1">
                  <c:v>100</c:v>
                </c:pt>
              </c:numCache>
            </c:numRef>
          </c:xVal>
          <c:yVal>
            <c:numRef>
              <c:f>'Chart Data'!$R$2:$R$3</c:f>
              <c:numCache>
                <c:formatCode>0</c:formatCode>
                <c:ptCount val="2"/>
                <c:pt idx="0">
                  <c:v>18</c:v>
                </c:pt>
                <c:pt idx="1">
                  <c:v>18</c:v>
                </c:pt>
              </c:numCache>
            </c:numRef>
          </c:yVal>
        </c:ser>
        <c:ser>
          <c:idx val="9"/>
          <c:order val="9"/>
          <c:tx>
            <c:v>Pw + t</c:v>
          </c:tx>
          <c:spPr>
            <a:ln xmlns:a="http://schemas.openxmlformats.org/drawingml/2006/main" w="28575">
              <a:solidFill>
                <a:srgbClr val="A94D16"/>
              </a:solidFill>
              <a:prstDash val="dash"/>
            </a:ln>
          </c:spPr>
          <c:marker>
            <c:symbol val="none"/>
          </c:marker>
          <c:xVal>
            <c:numRef>
              <c:f>'Chart Data'!$S$2:$S$3</c:f>
              <c:numCache>
                <c:formatCode>General</c:formatCode>
                <c:ptCount val="2"/>
                <c:pt idx="0">
                  <c:v>0</c:v>
                </c:pt>
                <c:pt idx="1">
                  <c:v>100</c:v>
                </c:pt>
              </c:numCache>
            </c:numRef>
          </c:xVal>
          <c:yVal>
            <c:numRef>
              <c:f>'Chart Data'!$T$2:$T$3</c:f>
              <c:numCache>
                <c:formatCode>0</c:formatCode>
                <c:ptCount val="2"/>
                <c:pt idx="0">
                  <c:v>22</c:v>
                </c:pt>
                <c:pt idx="1">
                  <c:v>22</c:v>
                </c:pt>
              </c:numCache>
            </c:numRef>
          </c:yVal>
        </c:ser>
        <c:ser>
          <c:idx val="10"/>
          <c:order val="10"/>
          <c:tx>
            <c:v>Aflezen Q = 24</c:v>
          </c:tx>
          <c:spPr>
            <a:ln xmlns:a="http://schemas.openxmlformats.org/drawingml/2006/main" w="19050">
              <a:solidFill>
                <a:srgbClr val="C6D2DB"/>
              </a:solidFill>
              <a:prstDash val="dash"/>
            </a:ln>
          </c:spPr>
          <c:marker>
            <c:symbol val="none"/>
          </c:marker>
          <c:xVal>
            <c:numRef>
              <c:f>'Chart Data'!$U$2:$U$3</c:f>
              <c:numCache>
                <c:formatCode>General</c:formatCode>
                <c:ptCount val="2"/>
                <c:pt idx="0">
                  <c:v>24</c:v>
                </c:pt>
                <c:pt idx="1">
                  <c:v>24</c:v>
                </c:pt>
              </c:numCache>
            </c:numRef>
          </c:xVal>
          <c:yVal>
            <c:numRef>
              <c:f>'Chart Data'!$V$2:$V$3</c:f>
              <c:numCache>
                <c:formatCode>0</c:formatCode>
                <c:ptCount val="2"/>
                <c:pt idx="0">
                  <c:v>0</c:v>
                </c:pt>
                <c:pt idx="1">
                  <c:v>22</c:v>
                </c:pt>
              </c:numCache>
            </c:numRef>
          </c:yVal>
        </c:ser>
        <c:ser>
          <c:idx val="11"/>
          <c:order val="11"/>
          <c:tx>
            <c:v>Aflezen Q = 56</c:v>
          </c:tx>
          <c:spPr>
            <a:ln xmlns:a="http://schemas.openxmlformats.org/drawingml/2006/main" w="19050">
              <a:solidFill>
                <a:srgbClr val="C6D2DB"/>
              </a:solidFill>
              <a:prstDash val="dash"/>
            </a:ln>
          </c:spPr>
          <c:marker>
            <c:symbol val="none"/>
          </c:marker>
          <c:xVal>
            <c:numRef>
              <c:f>'Chart Data'!$W$2:$W$3</c:f>
              <c:numCache>
                <c:formatCode>General</c:formatCode>
                <c:ptCount val="2"/>
                <c:pt idx="0">
                  <c:v>56</c:v>
                </c:pt>
                <c:pt idx="1">
                  <c:v>56</c:v>
                </c:pt>
              </c:numCache>
            </c:numRef>
          </c:xVal>
          <c:yVal>
            <c:numRef>
              <c:f>'Chart Data'!$X$2:$X$3</c:f>
              <c:numCache>
                <c:formatCode>0</c:formatCode>
                <c:ptCount val="2"/>
                <c:pt idx="0">
                  <c:v>0</c:v>
                </c:pt>
                <c:pt idx="1">
                  <c:v>22</c:v>
                </c:pt>
              </c:numCache>
            </c:numRef>
          </c:yVal>
        </c:ser>
        <c:ser>
          <c:idx val="12"/>
          <c:order val="12"/>
          <c:tx>
            <c:v>Opbrengst ondergrens</c:v>
          </c:tx>
          <c:spPr>
            <a:ln xmlns:a="http://schemas.openxmlformats.org/drawingml/2006/main" w="28575">
              <a:solidFill>
                <a:srgbClr val="A94D16"/>
              </a:solidFill>
              <a:prstDash val="solid"/>
            </a:ln>
          </c:spPr>
          <c:marker>
            <c:symbol val="none"/>
          </c:marker>
          <c:xVal>
            <c:numRef>
              <c:f>'Chart Data'!$Y$2:$Y$3</c:f>
              <c:numCache>
                <c:formatCode>General</c:formatCode>
                <c:ptCount val="2"/>
                <c:pt idx="0">
                  <c:v>24</c:v>
                </c:pt>
                <c:pt idx="1">
                  <c:v>56</c:v>
                </c:pt>
              </c:numCache>
            </c:numRef>
          </c:xVal>
          <c:yVal>
            <c:numRef>
              <c:f>'Chart Data'!$Z$2:$Z$3</c:f>
              <c:numCache>
                <c:formatCode>0</c:formatCode>
                <c:ptCount val="2"/>
                <c:pt idx="0">
                  <c:v>18</c:v>
                </c:pt>
                <c:pt idx="1">
                  <c:v>18</c:v>
                </c:pt>
              </c:numCache>
            </c:numRef>
          </c:yVal>
        </c:ser>
        <c:ser>
          <c:idx val="13"/>
          <c:order val="13"/>
          <c:tx>
            <c:v>Opbrengst bovengrens</c:v>
          </c:tx>
          <c:spPr>
            <a:ln xmlns:a="http://schemas.openxmlformats.org/drawingml/2006/main" w="28575">
              <a:solidFill>
                <a:srgbClr val="A94D16"/>
              </a:solidFill>
              <a:prstDash val="solid"/>
            </a:ln>
          </c:spPr>
          <c:marker>
            <c:symbol val="none"/>
          </c:marker>
          <c:xVal>
            <c:numRef>
              <c:f>'Chart Data'!$AA$2:$AA$3</c:f>
              <c:numCache>
                <c:formatCode>General</c:formatCode>
                <c:ptCount val="2"/>
                <c:pt idx="0">
                  <c:v>24</c:v>
                </c:pt>
                <c:pt idx="1">
                  <c:v>56</c:v>
                </c:pt>
              </c:numCache>
            </c:numRef>
          </c:xVal>
          <c:yVal>
            <c:numRef>
              <c:f>'Chart Data'!$AB$2:$AB$3</c:f>
              <c:numCache>
                <c:formatCode>0</c:formatCode>
                <c:ptCount val="2"/>
                <c:pt idx="0">
                  <c:v>22</c:v>
                </c:pt>
                <c:pt idx="1">
                  <c:v>22</c:v>
                </c:pt>
              </c:numCache>
            </c:numRef>
          </c:yVal>
        </c:ser>
        <c:ser>
          <c:idx val="14"/>
          <c:order val="14"/>
          <c:tx>
            <c:v>Opbrengst linkergrens</c:v>
          </c:tx>
          <c:spPr>
            <a:ln xmlns:a="http://schemas.openxmlformats.org/drawingml/2006/main" w="28575">
              <a:solidFill>
                <a:srgbClr val="A94D16"/>
              </a:solidFill>
              <a:prstDash val="solid"/>
            </a:ln>
          </c:spPr>
          <c:marker>
            <c:symbol val="none"/>
          </c:marker>
          <c:xVal>
            <c:numRef>
              <c:f>'Chart Data'!$AC$2:$AC$3</c:f>
              <c:numCache>
                <c:formatCode>General</c:formatCode>
                <c:ptCount val="2"/>
                <c:pt idx="0">
                  <c:v>24</c:v>
                </c:pt>
                <c:pt idx="1">
                  <c:v>24</c:v>
                </c:pt>
              </c:numCache>
            </c:numRef>
          </c:xVal>
          <c:yVal>
            <c:numRef>
              <c:f>'Chart Data'!$AD$2:$AD$3</c:f>
              <c:numCache>
                <c:formatCode>0</c:formatCode>
                <c:ptCount val="2"/>
                <c:pt idx="0">
                  <c:v>18</c:v>
                </c:pt>
                <c:pt idx="1">
                  <c:v>22</c:v>
                </c:pt>
              </c:numCache>
            </c:numRef>
          </c:yVal>
        </c:ser>
        <c:ser>
          <c:idx val="15"/>
          <c:order val="15"/>
          <c:tx>
            <c:v>Opbrengst rechtergrens</c:v>
          </c:tx>
          <c:spPr>
            <a:ln xmlns:a="http://schemas.openxmlformats.org/drawingml/2006/main" w="28575">
              <a:solidFill>
                <a:srgbClr val="A94D16"/>
              </a:solidFill>
              <a:prstDash val="solid"/>
            </a:ln>
          </c:spPr>
          <c:marker>
            <c:symbol val="none"/>
          </c:marker>
          <c:xVal>
            <c:numRef>
              <c:f>'Chart Data'!$AE$2:$AE$3</c:f>
              <c:numCache>
                <c:formatCode>General</c:formatCode>
                <c:ptCount val="2"/>
                <c:pt idx="0">
                  <c:v>56</c:v>
                </c:pt>
                <c:pt idx="1">
                  <c:v>56</c:v>
                </c:pt>
              </c:numCache>
            </c:numRef>
          </c:xVal>
          <c:yVal>
            <c:numRef>
              <c:f>'Chart Data'!$AF$2:$AF$3</c:f>
              <c:numCache>
                <c:formatCode>0</c:formatCode>
                <c:ptCount val="2"/>
                <c:pt idx="0">
                  <c:v>18</c:v>
                </c:pt>
                <c:pt idx="1">
                  <c:v>22</c:v>
                </c:pt>
              </c:numCache>
            </c:numRef>
          </c:yVal>
        </c:ser>
        <c:ser>
          <c:idx val="16"/>
          <c:order val="16"/>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showLegendKey val="0"/>
              <c:showVal val="0"/>
              <c:showCatName val="0"/>
              <c:showSerName val="0"/>
              <c:showPercent val="0"/>
              <c:showBubbleSize val="0"/>
            </c:dLbl>
          </c:dLbls>
          <c:xVal>
            <c:numRef>
              <c:f>'Chart Data'!$AG$2:$AG$2</c:f>
              <c:numCache>
                <c:formatCode>General</c:formatCode>
                <c:ptCount val="1"/>
                <c:pt idx="0">
                  <c:v>90</c:v>
                </c:pt>
              </c:numCache>
            </c:numRef>
          </c:xVal>
          <c:yVal>
            <c:numRef>
              <c:f>'Chart Data'!$AH$2:$AH$2</c:f>
              <c:numCache>
                <c:formatCode>0</c:formatCode>
                <c:ptCount val="1"/>
                <c:pt idx="0">
                  <c:v>5</c:v>
                </c:pt>
              </c:numCache>
            </c:numRef>
          </c:yVal>
        </c:ser>
        <c:ser>
          <c:idx val="17"/>
          <c:order val="17"/>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1875"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1E7449"/>
                      </a:solidFill>
                      <a:latin typeface="Arial"/>
                      <a:ea typeface="Arial"/>
                      <a:cs typeface="Arial"/>
                    </a:defRPr>
                  </a:pPr>
                </a:p>
              </c:txPr>
              <c:showLegendKey val="0"/>
              <c:showVal val="0"/>
              <c:showCatName val="0"/>
              <c:showSerName val="0"/>
              <c:showPercent val="0"/>
              <c:showBubbleSize val="0"/>
            </c:dLbl>
          </c:dLbls>
          <c:xVal>
            <c:numRef>
              <c:f>'Chart Data'!$AI$2:$AI$2</c:f>
              <c:numCache>
                <c:formatCode>General</c:formatCode>
                <c:ptCount val="1"/>
                <c:pt idx="0">
                  <c:v>92</c:v>
                </c:pt>
              </c:numCache>
            </c:numRef>
          </c:xVal>
          <c:yVal>
            <c:numRef>
              <c:f>'Chart Data'!$AJ$2:$AJ$2</c:f>
              <c:numCache>
                <c:formatCode>0</c:formatCode>
                <c:ptCount val="1"/>
                <c:pt idx="0">
                  <c:v>56</c:v>
                </c:pt>
              </c:numCache>
            </c:numRef>
          </c:yVal>
        </c:ser>
        <c:ser>
          <c:idx val="18"/>
          <c:order val="18"/>
          <c:tx>
            <c:v>Pw = 18</c:v>
          </c:tx>
          <c:spPr>
            <a:ln xmlns:a="http://schemas.openxmlformats.org/drawingml/2006/main" w="0">
              <a:noFill/>
            </a:ln>
          </c:spPr>
          <c:marker>
            <c:symbol val="none"/>
            <c:size val="8"/>
            <c:spPr>
              <a:solidFill xmlns:a="http://schemas.openxmlformats.org/drawingml/2006/main">
                <a:srgbClr val="445B6B"/>
              </a:solidFill>
            </c:spPr>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Pw = 18</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showLegendKey val="0"/>
              <c:showVal val="0"/>
              <c:showCatName val="0"/>
              <c:showSerName val="0"/>
              <c:showPercent val="0"/>
              <c:showBubbleSize val="0"/>
            </c:dLbl>
          </c:dLbls>
          <c:xVal>
            <c:numRef>
              <c:f>'Chart Data'!$AK$2:$AK$2</c:f>
              <c:numCache>
                <c:formatCode>General</c:formatCode>
                <c:ptCount val="1"/>
                <c:pt idx="0">
                  <c:v>84</c:v>
                </c:pt>
              </c:numCache>
            </c:numRef>
          </c:xVal>
          <c:yVal>
            <c:numRef>
              <c:f>'Chart Data'!$AL$2:$AL$2</c:f>
              <c:numCache>
                <c:formatCode>0</c:formatCode>
                <c:ptCount val="1"/>
                <c:pt idx="0">
                  <c:v>15.3</c:v>
                </c:pt>
              </c:numCache>
            </c:numRef>
          </c:yVal>
        </c:ser>
        <c:ser>
          <c:idx val="19"/>
          <c:order val="19"/>
          <c:tx>
            <c:v>Pw + t = 22</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Pw + t = 22</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dLbls>
          <c:xVal>
            <c:numRef>
              <c:f>'Chart Data'!$AM$2:$AM$2</c:f>
              <c:numCache>
                <c:formatCode>General</c:formatCode>
                <c:ptCount val="1"/>
                <c:pt idx="0">
                  <c:v>79</c:v>
                </c:pt>
              </c:numCache>
            </c:numRef>
          </c:xVal>
          <c:yVal>
            <c:numRef>
              <c:f>'Chart Data'!$AN$2:$AN$2</c:f>
              <c:numCache>
                <c:formatCode>0</c:formatCode>
                <c:ptCount val="1"/>
                <c:pt idx="0">
                  <c:v>24.7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fietslamp)</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(fietslampen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100</c:v>
                </c:pt>
              </c:numCache>
            </c:numRef>
          </c:xVal>
          <c:yVal>
            <c:numRef>
              <c:f>'Chart Data'!$B$2:$B$3</c:f>
              <c:numCache>
                <c:formatCode>0</c:formatCode>
                <c:ptCount val="2"/>
                <c:pt idx="0">
                  <c:v>50</c:v>
                </c:pt>
                <c:pt idx="1">
                  <c:v>0</c:v>
                </c:pt>
              </c:numCache>
            </c:numRef>
          </c:yVal>
        </c:ser>
        <c:ser>
          <c:idx val="1"/>
          <c:order val="1"/>
          <c:tx>
            <c:v>A</c:v>
          </c:tx>
          <c:spPr>
            <a:ln xmlns:a="http://schemas.openxmlformats.org/drawingml/2006/main" w="38100">
              <a:solidFill>
                <a:srgbClr val="1E7449"/>
              </a:solidFill>
              <a:prstDash val="solid"/>
            </a:ln>
          </c:spPr>
          <c:marker>
            <c:symbol val="none"/>
          </c:marker>
          <c:xVal>
            <c:numRef>
              <c:f>'Chart Data'!$C$2:$C$3</c:f>
              <c:numCache>
                <c:formatCode>General</c:formatCode>
                <c:ptCount val="2"/>
                <c:pt idx="0">
                  <c:v>0</c:v>
                </c:pt>
                <c:pt idx="1">
                  <c:v>100</c:v>
                </c:pt>
              </c:numCache>
            </c:numRef>
          </c:xVal>
          <c:yVal>
            <c:numRef>
              <c:f>'Chart Data'!$D$2:$D$3</c:f>
              <c:numCache>
                <c:formatCode>0</c:formatCode>
                <c:ptCount val="2"/>
                <c:pt idx="0">
                  <c:v>10</c:v>
                </c:pt>
                <c:pt idx="1">
                  <c:v>60</c:v>
                </c:pt>
              </c:numCache>
            </c:numRef>
          </c:yVal>
        </c:ser>
        <c:ser>
          <c:idx val="2"/>
          <c:order val="2"/>
          <c:tx>
            <c:v>Pw</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100</c:v>
                </c:pt>
              </c:numCache>
            </c:numRef>
          </c:xVal>
          <c:yVal>
            <c:numRef>
              <c:f>'Chart Data'!$F$2:$F$3</c:f>
              <c:numCache>
                <c:formatCode>0</c:formatCode>
                <c:ptCount val="2"/>
                <c:pt idx="0">
                  <c:v>18</c:v>
                </c:pt>
                <c:pt idx="1">
                  <c:v>18</c:v>
                </c:pt>
              </c:numCache>
            </c:numRef>
          </c:yVal>
        </c:ser>
        <c:ser>
          <c:idx val="3"/>
          <c:order val="3"/>
          <c:tx>
            <c:v>Pw + t</c:v>
          </c:tx>
          <c:spPr>
            <a:ln xmlns:a="http://schemas.openxmlformats.org/drawingml/2006/main" w="28575">
              <a:solidFill>
                <a:srgbClr val="A94D16"/>
              </a:solidFill>
              <a:prstDash val="dash"/>
            </a:ln>
          </c:spPr>
          <c:marker>
            <c:symbol val="none"/>
          </c:marker>
          <c:xVal>
            <c:numRef>
              <c:f>'Chart Data'!$G$2:$G$3</c:f>
              <c:numCache>
                <c:formatCode>General</c:formatCode>
                <c:ptCount val="2"/>
                <c:pt idx="0">
                  <c:v>0</c:v>
                </c:pt>
                <c:pt idx="1">
                  <c:v>100</c:v>
                </c:pt>
              </c:numCache>
            </c:numRef>
          </c:xVal>
          <c:yVal>
            <c:numRef>
              <c:f>'Chart Data'!$H$2:$H$3</c:f>
              <c:numCache>
                <c:formatCode>0</c:formatCode>
                <c:ptCount val="2"/>
                <c:pt idx="0">
                  <c:v>34</c:v>
                </c:pt>
                <c:pt idx="1">
                  <c:v>34</c:v>
                </c:pt>
              </c:numCache>
            </c:numRef>
          </c:yVal>
        </c:ser>
        <c:ser>
          <c:idx val="4"/>
          <c:order val="4"/>
          <c:tx>
            <c:v>Aflezen Q = 40</c:v>
          </c:tx>
          <c:spPr>
            <a:ln xmlns:a="http://schemas.openxmlformats.org/drawingml/2006/main" w="19050">
              <a:solidFill>
                <a:srgbClr val="C6D2DB"/>
              </a:solidFill>
              <a:prstDash val="dash"/>
            </a:ln>
          </c:spPr>
          <c:marker>
            <c:symbol val="none"/>
          </c:marker>
          <c:xVal>
            <c:numRef>
              <c:f>'Chart Data'!$I$2:$I$3</c:f>
              <c:numCache>
                <c:formatCode>General</c:formatCode>
                <c:ptCount val="2"/>
                <c:pt idx="0">
                  <c:v>40</c:v>
                </c:pt>
                <c:pt idx="1">
                  <c:v>40</c:v>
                </c:pt>
              </c:numCache>
            </c:numRef>
          </c:xVal>
          <c:yVal>
            <c:numRef>
              <c:f>'Chart Data'!$J$2:$J$3</c:f>
              <c:numCache>
                <c:formatCode>0</c:formatCode>
                <c:ptCount val="2"/>
                <c:pt idx="0">
                  <c:v>0</c:v>
                </c:pt>
                <c:pt idx="1">
                  <c:v>30</c:v>
                </c:pt>
              </c:numCache>
            </c:numRef>
          </c:yVal>
        </c:ser>
        <c:ser>
          <c:idx val="5"/>
          <c:order val="5"/>
          <c:tx>
            <c:v>Aflezen Q = 40</c:v>
          </c:tx>
          <c:spPr>
            <a:ln xmlns:a="http://schemas.openxmlformats.org/drawingml/2006/main" w="19050">
              <a:solidFill>
                <a:srgbClr val="C6D2DB"/>
              </a:solidFill>
              <a:prstDash val="dash"/>
            </a:ln>
          </c:spPr>
          <c:marker>
            <c:symbol val="none"/>
          </c:marker>
          <c:xVal>
            <c:numRef>
              <c:f>'Chart Data'!$K$2:$K$3</c:f>
              <c:numCache>
                <c:formatCode>General</c:formatCode>
                <c:ptCount val="2"/>
                <c:pt idx="0">
                  <c:v>40</c:v>
                </c:pt>
                <c:pt idx="1">
                  <c:v>40</c:v>
                </c:pt>
              </c:numCache>
            </c:numRef>
          </c:xVal>
          <c:yVal>
            <c:numRef>
              <c:f>'Chart Data'!$L$2:$L$3</c:f>
              <c:numCache>
                <c:formatCode>0</c:formatCode>
                <c:ptCount val="2"/>
                <c:pt idx="0">
                  <c:v>0</c:v>
                </c:pt>
                <c:pt idx="1">
                  <c:v>30</c:v>
                </c:pt>
              </c:numCache>
            </c:numRef>
          </c:yVal>
        </c:ser>
        <c:ser>
          <c:idx val="6"/>
          <c:order val="6"/>
          <c:tx>
            <c:v>Binnenlandse evenwichtsprijs</c:v>
          </c:tx>
          <c:spPr>
            <a:ln xmlns:a="http://schemas.openxmlformats.org/drawingml/2006/main" w="28575">
              <a:solidFill>
                <a:srgbClr val="183247"/>
              </a:solidFill>
              <a:prstDash val="dot"/>
            </a:ln>
          </c:spPr>
          <c:marker>
            <c:symbol val="none"/>
          </c:marker>
          <c:xVal>
            <c:numRef>
              <c:f>'Chart Data'!$M$2:$M$3</c:f>
              <c:numCache>
                <c:formatCode>General</c:formatCode>
                <c:ptCount val="2"/>
                <c:pt idx="0">
                  <c:v>0</c:v>
                </c:pt>
                <c:pt idx="1">
                  <c:v>40</c:v>
                </c:pt>
              </c:numCache>
            </c:numRef>
          </c:xVal>
          <c:yVal>
            <c:numRef>
              <c:f>'Chart Data'!$N$2:$N$3</c:f>
              <c:numCache>
                <c:formatCode>0</c:formatCode>
                <c:ptCount val="2"/>
                <c:pt idx="0">
                  <c:v>30</c:v>
                </c:pt>
                <c:pt idx="1">
                  <c:v>30</c:v>
                </c:pt>
              </c:numCache>
            </c:numRef>
          </c:yVal>
        </c:ser>
        <c:ser>
          <c:idx val="7"/>
          <c:order val="7"/>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showLegendKey val="0"/>
              <c:showVal val="0"/>
              <c:showCatName val="0"/>
              <c:showSerName val="0"/>
              <c:showPercent val="0"/>
              <c:showBubbleSize val="0"/>
            </c:dLbl>
          </c:dLbls>
          <c:xVal>
            <c:numRef>
              <c:f>'Chart Data'!$O$2:$O$2</c:f>
              <c:numCache>
                <c:formatCode>General</c:formatCode>
                <c:ptCount val="1"/>
                <c:pt idx="0">
                  <c:v>90</c:v>
                </c:pt>
              </c:numCache>
            </c:numRef>
          </c:xVal>
          <c:yVal>
            <c:numRef>
              <c:f>'Chart Data'!$P$2:$P$2</c:f>
              <c:numCache>
                <c:formatCode>0</c:formatCode>
                <c:ptCount val="1"/>
                <c:pt idx="0">
                  <c:v>5</c:v>
                </c:pt>
              </c:numCache>
            </c:numRef>
          </c:yVal>
        </c:ser>
        <c:ser>
          <c:idx val="8"/>
          <c:order val="8"/>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1875"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1E7449"/>
                      </a:solidFill>
                      <a:latin typeface="Arial"/>
                      <a:ea typeface="Arial"/>
                      <a:cs typeface="Arial"/>
                    </a:defRPr>
                  </a:pPr>
                </a:p>
              </c:txPr>
              <c:showLegendKey val="0"/>
              <c:showVal val="0"/>
              <c:showCatName val="0"/>
              <c:showSerName val="0"/>
              <c:showPercent val="0"/>
              <c:showBubbleSize val="0"/>
            </c:dLbl>
          </c:dLbls>
          <c:xVal>
            <c:numRef>
              <c:f>'Chart Data'!$Q$2:$Q$2</c:f>
              <c:numCache>
                <c:formatCode>General</c:formatCode>
                <c:ptCount val="1"/>
                <c:pt idx="0">
                  <c:v>92</c:v>
                </c:pt>
              </c:numCache>
            </c:numRef>
          </c:xVal>
          <c:yVal>
            <c:numRef>
              <c:f>'Chart Data'!$R$2:$R$2</c:f>
              <c:numCache>
                <c:formatCode>0</c:formatCode>
                <c:ptCount val="1"/>
                <c:pt idx="0">
                  <c:v>56</c:v>
                </c:pt>
              </c:numCache>
            </c:numRef>
          </c:yVal>
        </c:ser>
        <c:ser>
          <c:idx val="9"/>
          <c:order val="9"/>
          <c:tx>
            <c:v>Pw = 18</c:v>
          </c:tx>
          <c:spPr>
            <a:ln xmlns:a="http://schemas.openxmlformats.org/drawingml/2006/main" w="0">
              <a:noFill/>
            </a:ln>
          </c:spPr>
          <c:marker>
            <c:symbol val="none"/>
            <c:size val="8"/>
            <c:spPr>
              <a:solidFill xmlns:a="http://schemas.openxmlformats.org/drawingml/2006/main">
                <a:srgbClr val="445B6B"/>
              </a:solidFill>
            </c:spPr>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Pw = 18</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showLegendKey val="0"/>
              <c:showVal val="0"/>
              <c:showCatName val="0"/>
              <c:showSerName val="0"/>
              <c:showPercent val="0"/>
              <c:showBubbleSize val="0"/>
            </c:dLbl>
          </c:dLbls>
          <c:xVal>
            <c:numRef>
              <c:f>'Chart Data'!$S$2:$S$2</c:f>
              <c:numCache>
                <c:formatCode>General</c:formatCode>
                <c:ptCount val="1"/>
                <c:pt idx="0">
                  <c:v>84</c:v>
                </c:pt>
              </c:numCache>
            </c:numRef>
          </c:xVal>
          <c:yVal>
            <c:numRef>
              <c:f>'Chart Data'!$T$2:$T$2</c:f>
              <c:numCache>
                <c:formatCode>0</c:formatCode>
                <c:ptCount val="1"/>
                <c:pt idx="0">
                  <c:v>15.3</c:v>
                </c:pt>
              </c:numCache>
            </c:numRef>
          </c:yVal>
        </c:ser>
        <c:ser>
          <c:idx val="10"/>
          <c:order val="10"/>
          <c:tx>
            <c:v>Pw + t = 34</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Pw + t = 34</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dLbls>
          <c:xVal>
            <c:numRef>
              <c:f>'Chart Data'!$U$2:$U$2</c:f>
              <c:numCache>
                <c:formatCode>General</c:formatCode>
                <c:ptCount val="1"/>
                <c:pt idx="0">
                  <c:v>79</c:v>
                </c:pt>
              </c:numCache>
            </c:numRef>
          </c:xVal>
          <c:yVal>
            <c:numRef>
              <c:f>'Chart Data'!$V$2:$V$2</c:f>
              <c:numCache>
                <c:formatCode>0</c:formatCode>
                <c:ptCount val="1"/>
                <c:pt idx="0">
                  <c:v>36.7</c:v>
                </c:pt>
              </c:numCache>
            </c:numRef>
          </c:yVal>
        </c:ser>
        <c:ser>
          <c:idx val="11"/>
          <c:order val="11"/>
          <c:tx>
            <c:v>E</c:v>
          </c:tx>
          <c:spPr>
            <a:ln xmlns:a="http://schemas.openxmlformats.org/drawingml/2006/main" w="0">
              <a:noFill/>
            </a:ln>
          </c:spPr>
          <c:marker>
            <c:symbol val="circle"/>
            <c:size val="8"/>
            <c:spPr>
              <a:solidFill xmlns:a="http://schemas.openxmlformats.org/drawingml/2006/main">
                <a:srgbClr val="183247"/>
              </a:solidFill>
            </c:spPr>
          </c:marker>
          <c:dLbls>
            <c:dLbl>
              <c:idx val="0"/>
              <c:tx>
                <c:rich>
                  <a:bodyPr xmlns:a="http://schemas.openxmlformats.org/drawingml/2006/main"/>
                  <a:lstStyle xmlns:a="http://schemas.openxmlformats.org/drawingml/2006/main"/>
                  <a:p xmlns:a="http://schemas.openxmlformats.org/drawingml/2006/main">
                    <a:r>
                      <a:rPr sz="1875" b="1">
                        <a:solidFill>
                          <a:srgbClr val="183247"/>
                        </a:solidFill>
                        <a:latin typeface="Arial"/>
                        <a:ea typeface="Arial"/>
                        <a:cs typeface="Arial"/>
                      </a:rPr>
                      <a:t>E</a:t>
                    </a:r>
                  </a:p>
                </c:rich>
              </c:tx>
              <c:txPr>
                <a:bodyPr xmlns:a="http://schemas.openxmlformats.org/drawingml/2006/main" anchorCtr="1"/>
                <a:lstStyle xmlns:a="http://schemas.openxmlformats.org/drawingml/2006/main"/>
                <a:p xmlns:a="http://schemas.openxmlformats.org/drawingml/2006/main">
                  <a:pPr>
                    <a:defRPr sz="1875" b="1">
                      <a:solidFill>
                        <a:srgbClr val="183247"/>
                      </a:solidFill>
                      <a:latin typeface="Arial"/>
                      <a:ea typeface="Arial"/>
                      <a:cs typeface="Arial"/>
                    </a:defRPr>
                  </a:pPr>
                </a:p>
              </c:txPr>
              <c:showLegendKey val="0"/>
              <c:showVal val="0"/>
              <c:showCatName val="0"/>
              <c:showSerName val="0"/>
              <c:showPercent val="0"/>
              <c:showBubbleSize val="0"/>
            </c:dLbl>
          </c:dLbls>
          <c:xVal>
            <c:numRef>
              <c:f>'Chart Data'!$W$2:$W$2</c:f>
              <c:numCache>
                <c:formatCode>General</c:formatCode>
                <c:ptCount val="1"/>
                <c:pt idx="0">
                  <c:v>40</c:v>
                </c:pt>
              </c:numCache>
            </c:numRef>
          </c:xVal>
          <c:yVal>
            <c:numRef>
              <c:f>'Chart Data'!$X$2:$X$2</c:f>
              <c:numCache>
                <c:formatCode>0</c:formatCode>
                <c:ptCount val="1"/>
                <c:pt idx="0">
                  <c:v>30</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6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fietslamp)</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0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(fietslampen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V</c:v>
          </c:tx>
          <c:spPr>
            <a:ln xmlns:a="http://schemas.openxmlformats.org/drawingml/2006/main" w="38100">
              <a:solidFill>
                <a:srgbClr val="1A5276"/>
              </a:solidFill>
              <a:prstDash val="solid"/>
            </a:ln>
          </c:spPr>
          <c:marker>
            <c:symbol val="none"/>
          </c:marker>
          <c:xVal>
            <c:numRef>
              <c:f>'Chart Data'!$A$2:$A$3</c:f>
              <c:numCache>
                <c:formatCode>General</c:formatCode>
                <c:ptCount val="2"/>
                <c:pt idx="0">
                  <c:v>0</c:v>
                </c:pt>
                <c:pt idx="1">
                  <c:v>160</c:v>
                </c:pt>
              </c:numCache>
            </c:numRef>
          </c:xVal>
          <c:yVal>
            <c:numRef>
              <c:f>'Chart Data'!$B$2:$B$3</c:f>
              <c:numCache>
                <c:formatCode>0</c:formatCode>
                <c:ptCount val="2"/>
                <c:pt idx="0">
                  <c:v>80</c:v>
                </c:pt>
                <c:pt idx="1">
                  <c:v>0</c:v>
                </c:pt>
              </c:numCache>
            </c:numRef>
          </c:yVal>
        </c:ser>
        <c:ser>
          <c:idx val="1"/>
          <c:order val="1"/>
          <c:tx>
            <c:v>A</c:v>
          </c:tx>
          <c:spPr>
            <a:ln xmlns:a="http://schemas.openxmlformats.org/drawingml/2006/main" w="38100">
              <a:solidFill>
                <a:srgbClr val="1E7449"/>
              </a:solidFill>
              <a:prstDash val="solid"/>
            </a:ln>
          </c:spPr>
          <c:marker>
            <c:symbol val="none"/>
          </c:marker>
          <c:xVal>
            <c:numRef>
              <c:f>'Chart Data'!$C$2:$C$3</c:f>
              <c:numCache>
                <c:formatCode>General</c:formatCode>
                <c:ptCount val="2"/>
                <c:pt idx="0">
                  <c:v>0</c:v>
                </c:pt>
                <c:pt idx="1">
                  <c:v>160</c:v>
                </c:pt>
              </c:numCache>
            </c:numRef>
          </c:xVal>
          <c:yVal>
            <c:numRef>
              <c:f>'Chart Data'!$D$2:$D$3</c:f>
              <c:numCache>
                <c:formatCode>0</c:formatCode>
                <c:ptCount val="2"/>
                <c:pt idx="0">
                  <c:v>0</c:v>
                </c:pt>
                <c:pt idx="1">
                  <c:v>80</c:v>
                </c:pt>
              </c:numCache>
            </c:numRef>
          </c:yVal>
        </c:ser>
        <c:ser>
          <c:idx val="2"/>
          <c:order val="2"/>
          <c:tx>
            <c:v>Pw</c:v>
          </c:tx>
          <c:spPr>
            <a:ln xmlns:a="http://schemas.openxmlformats.org/drawingml/2006/main" w="19050">
              <a:solidFill>
                <a:srgbClr val="445B6B"/>
              </a:solidFill>
              <a:prstDash val="dash"/>
            </a:ln>
          </c:spPr>
          <c:marker>
            <c:symbol val="none"/>
          </c:marker>
          <c:xVal>
            <c:numRef>
              <c:f>'Chart Data'!$E$2:$E$3</c:f>
              <c:numCache>
                <c:formatCode>General</c:formatCode>
                <c:ptCount val="2"/>
                <c:pt idx="0">
                  <c:v>0</c:v>
                </c:pt>
                <c:pt idx="1">
                  <c:v>160</c:v>
                </c:pt>
              </c:numCache>
            </c:numRef>
          </c:xVal>
          <c:yVal>
            <c:numRef>
              <c:f>'Chart Data'!$F$2:$F$3</c:f>
              <c:numCache>
                <c:formatCode>0</c:formatCode>
                <c:ptCount val="2"/>
                <c:pt idx="0">
                  <c:v>20</c:v>
                </c:pt>
                <c:pt idx="1">
                  <c:v>20</c:v>
                </c:pt>
              </c:numCache>
            </c:numRef>
          </c:yVal>
        </c:ser>
        <c:ser>
          <c:idx val="3"/>
          <c:order val="3"/>
          <c:tx>
            <c:v>Pw + t</c:v>
          </c:tx>
          <c:spPr>
            <a:ln xmlns:a="http://schemas.openxmlformats.org/drawingml/2006/main" w="28575">
              <a:solidFill>
                <a:srgbClr val="A94D16"/>
              </a:solidFill>
              <a:prstDash val="dash"/>
            </a:ln>
          </c:spPr>
          <c:marker>
            <c:symbol val="none"/>
          </c:marker>
          <c:xVal>
            <c:numRef>
              <c:f>'Chart Data'!$G$2:$G$3</c:f>
              <c:numCache>
                <c:formatCode>General</c:formatCode>
                <c:ptCount val="2"/>
                <c:pt idx="0">
                  <c:v>0</c:v>
                </c:pt>
                <c:pt idx="1">
                  <c:v>160</c:v>
                </c:pt>
              </c:numCache>
            </c:numRef>
          </c:xVal>
          <c:yVal>
            <c:numRef>
              <c:f>'Chart Data'!$H$2:$H$3</c:f>
              <c:numCache>
                <c:formatCode>0</c:formatCode>
                <c:ptCount val="2"/>
                <c:pt idx="0">
                  <c:v>30</c:v>
                </c:pt>
                <c:pt idx="1">
                  <c:v>30</c:v>
                </c:pt>
              </c:numCache>
            </c:numRef>
          </c:yVal>
        </c:ser>
        <c:ser>
          <c:idx val="4"/>
          <c:order val="4"/>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showLegendKey val="0"/>
              <c:showVal val="0"/>
              <c:showCatName val="0"/>
              <c:showSerName val="0"/>
              <c:showPercent val="0"/>
              <c:showBubbleSize val="0"/>
            </c:dLbl>
          </c:dLbls>
          <c:xVal>
            <c:numRef>
              <c:f>'Chart Data'!$I$2:$I$2</c:f>
              <c:numCache>
                <c:formatCode>General</c:formatCode>
                <c:ptCount val="1"/>
                <c:pt idx="0">
                  <c:v>144</c:v>
                </c:pt>
              </c:numCache>
            </c:numRef>
          </c:xVal>
          <c:yVal>
            <c:numRef>
              <c:f>'Chart Data'!$J$2:$J$2</c:f>
              <c:numCache>
                <c:formatCode>0</c:formatCode>
                <c:ptCount val="1"/>
                <c:pt idx="0">
                  <c:v>8</c:v>
                </c:pt>
              </c:numCache>
            </c:numRef>
          </c:yVal>
        </c:ser>
        <c:ser>
          <c:idx val="5"/>
          <c:order val="5"/>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1875"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1E7449"/>
                      </a:solidFill>
                      <a:latin typeface="Arial"/>
                      <a:ea typeface="Arial"/>
                      <a:cs typeface="Arial"/>
                    </a:defRPr>
                  </a:pPr>
                </a:p>
              </c:txPr>
              <c:showLegendKey val="0"/>
              <c:showVal val="0"/>
              <c:showCatName val="0"/>
              <c:showSerName val="0"/>
              <c:showPercent val="0"/>
              <c:showBubbleSize val="0"/>
            </c:dLbl>
          </c:dLbls>
          <c:xVal>
            <c:numRef>
              <c:f>'Chart Data'!$K$2:$K$2</c:f>
              <c:numCache>
                <c:formatCode>General</c:formatCode>
                <c:ptCount val="1"/>
                <c:pt idx="0">
                  <c:v>147.2</c:v>
                </c:pt>
              </c:numCache>
            </c:numRef>
          </c:xVal>
          <c:yVal>
            <c:numRef>
              <c:f>'Chart Data'!$L$2:$L$2</c:f>
              <c:numCache>
                <c:formatCode>0</c:formatCode>
                <c:ptCount val="1"/>
                <c:pt idx="0">
                  <c:v>73.6</c:v>
                </c:pt>
              </c:numCache>
            </c:numRef>
          </c:yVal>
        </c:ser>
        <c:ser>
          <c:idx val="6"/>
          <c:order val="6"/>
          <c:tx>
            <c:v>Pw = 20</c:v>
          </c:tx>
          <c:spPr>
            <a:ln xmlns:a="http://schemas.openxmlformats.org/drawingml/2006/main" w="0">
              <a:noFill/>
            </a:ln>
          </c:spPr>
          <c:marker>
            <c:symbol val="none"/>
            <c:size val="8"/>
            <c:spPr>
              <a:solidFill xmlns:a="http://schemas.openxmlformats.org/drawingml/2006/main">
                <a:srgbClr val="445B6B"/>
              </a:solidFill>
            </c:spPr>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Pw = 20</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showLegendKey val="0"/>
              <c:showVal val="0"/>
              <c:showCatName val="0"/>
              <c:showSerName val="0"/>
              <c:showPercent val="0"/>
              <c:showBubbleSize val="0"/>
            </c:dLbl>
          </c:dLbls>
          <c:xVal>
            <c:numRef>
              <c:f>'Chart Data'!$M$2:$M$2</c:f>
              <c:numCache>
                <c:formatCode>General</c:formatCode>
                <c:ptCount val="1"/>
                <c:pt idx="0">
                  <c:v>134.4</c:v>
                </c:pt>
              </c:numCache>
            </c:numRef>
          </c:xVal>
          <c:yVal>
            <c:numRef>
              <c:f>'Chart Data'!$N$2:$N$2</c:f>
              <c:numCache>
                <c:formatCode>0</c:formatCode>
                <c:ptCount val="1"/>
                <c:pt idx="0">
                  <c:v>16.4</c:v>
                </c:pt>
              </c:numCache>
            </c:numRef>
          </c:yVal>
        </c:ser>
        <c:ser>
          <c:idx val="7"/>
          <c:order val="7"/>
          <c:tx>
            <c:v>Pw + t = 30</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Pw + t = 30</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dLbls>
          <c:xVal>
            <c:numRef>
              <c:f>'Chart Data'!$O$2:$O$2</c:f>
              <c:numCache>
                <c:formatCode>General</c:formatCode>
                <c:ptCount val="1"/>
                <c:pt idx="0">
                  <c:v>126.4</c:v>
                </c:pt>
              </c:numCache>
            </c:numRef>
          </c:xVal>
          <c:yVal>
            <c:numRef>
              <c:f>'Chart Data'!$P$2:$P$2</c:f>
              <c:numCache>
                <c:formatCode>0</c:formatCode>
                <c:ptCount val="1"/>
                <c:pt idx="0">
                  <c:v>33.6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rugzak)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(rugzakken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Arcering opbrengst</c:v>
          </c:tx>
          <c:spPr>
            <a:ln xmlns:a="http://schemas.openxmlformats.org/drawingml/2006/main" w="19050">
              <a:solidFill>
                <a:srgbClr val="D8A255"/>
              </a:solidFill>
              <a:prstDash val="solid"/>
            </a:ln>
          </c:spPr>
          <c:marker>
            <c:symbol val="none"/>
          </c:marker>
          <c:xVal>
            <c:numRef>
              <c:f>'Chart Data'!$A$2:$A$3</c:f>
              <c:numCache>
                <c:formatCode>General</c:formatCode>
                <c:ptCount val="2"/>
                <c:pt idx="0">
                  <c:v>60</c:v>
                </c:pt>
                <c:pt idx="1">
                  <c:v>100</c:v>
                </c:pt>
              </c:numCache>
            </c:numRef>
          </c:xVal>
          <c:yVal>
            <c:numRef>
              <c:f>'Chart Data'!$B$2:$B$3</c:f>
              <c:numCache>
                <c:formatCode>0</c:formatCode>
                <c:ptCount val="2"/>
                <c:pt idx="0">
                  <c:v>20.4</c:v>
                </c:pt>
                <c:pt idx="1">
                  <c:v>20.4</c:v>
                </c:pt>
              </c:numCache>
            </c:numRef>
          </c:yVal>
        </c:ser>
        <c:ser>
          <c:idx val="1"/>
          <c:order val="1"/>
          <c:tx>
            <c:v>Arcering opbrengst</c:v>
          </c:tx>
          <c:spPr>
            <a:ln xmlns:a="http://schemas.openxmlformats.org/drawingml/2006/main" w="19050">
              <a:solidFill>
                <a:srgbClr val="D8A255"/>
              </a:solidFill>
              <a:prstDash val="solid"/>
            </a:ln>
          </c:spPr>
          <c:marker>
            <c:symbol val="none"/>
          </c:marker>
          <c:xVal>
            <c:numRef>
              <c:f>'Chart Data'!$C$2:$C$3</c:f>
              <c:numCache>
                <c:formatCode>General</c:formatCode>
                <c:ptCount val="2"/>
                <c:pt idx="0">
                  <c:v>60</c:v>
                </c:pt>
                <c:pt idx="1">
                  <c:v>100</c:v>
                </c:pt>
              </c:numCache>
            </c:numRef>
          </c:xVal>
          <c:yVal>
            <c:numRef>
              <c:f>'Chart Data'!$D$2:$D$3</c:f>
              <c:numCache>
                <c:formatCode>0</c:formatCode>
                <c:ptCount val="2"/>
                <c:pt idx="0">
                  <c:v>21.05</c:v>
                </c:pt>
                <c:pt idx="1">
                  <c:v>21.05</c:v>
                </c:pt>
              </c:numCache>
            </c:numRef>
          </c:yVal>
        </c:ser>
        <c:ser>
          <c:idx val="2"/>
          <c:order val="2"/>
          <c:tx>
            <c:v>Arcering opbrengst</c:v>
          </c:tx>
          <c:spPr>
            <a:ln xmlns:a="http://schemas.openxmlformats.org/drawingml/2006/main" w="19050">
              <a:solidFill>
                <a:srgbClr val="D8A255"/>
              </a:solidFill>
              <a:prstDash val="solid"/>
            </a:ln>
          </c:spPr>
          <c:marker>
            <c:symbol val="none"/>
          </c:marker>
          <c:xVal>
            <c:numRef>
              <c:f>'Chart Data'!$E$2:$E$3</c:f>
              <c:numCache>
                <c:formatCode>General</c:formatCode>
                <c:ptCount val="2"/>
                <c:pt idx="0">
                  <c:v>60</c:v>
                </c:pt>
                <c:pt idx="1">
                  <c:v>100</c:v>
                </c:pt>
              </c:numCache>
            </c:numRef>
          </c:xVal>
          <c:yVal>
            <c:numRef>
              <c:f>'Chart Data'!$F$2:$F$3</c:f>
              <c:numCache>
                <c:formatCode>0</c:formatCode>
                <c:ptCount val="2"/>
                <c:pt idx="0">
                  <c:v>21.7</c:v>
                </c:pt>
                <c:pt idx="1">
                  <c:v>21.7</c:v>
                </c:pt>
              </c:numCache>
            </c:numRef>
          </c:yVal>
        </c:ser>
        <c:ser>
          <c:idx val="3"/>
          <c:order val="3"/>
          <c:tx>
            <c:v>Arcering opbrengst</c:v>
          </c:tx>
          <c:spPr>
            <a:ln xmlns:a="http://schemas.openxmlformats.org/drawingml/2006/main" w="19050">
              <a:solidFill>
                <a:srgbClr val="D8A255"/>
              </a:solidFill>
              <a:prstDash val="solid"/>
            </a:ln>
          </c:spPr>
          <c:marker>
            <c:symbol val="none"/>
          </c:marker>
          <c:xVal>
            <c:numRef>
              <c:f>'Chart Data'!$G$2:$G$3</c:f>
              <c:numCache>
                <c:formatCode>General</c:formatCode>
                <c:ptCount val="2"/>
                <c:pt idx="0">
                  <c:v>60</c:v>
                </c:pt>
                <c:pt idx="1">
                  <c:v>100</c:v>
                </c:pt>
              </c:numCache>
            </c:numRef>
          </c:xVal>
          <c:yVal>
            <c:numRef>
              <c:f>'Chart Data'!$H$2:$H$3</c:f>
              <c:numCache>
                <c:formatCode>0</c:formatCode>
                <c:ptCount val="2"/>
                <c:pt idx="0">
                  <c:v>22.35</c:v>
                </c:pt>
                <c:pt idx="1">
                  <c:v>22.35</c:v>
                </c:pt>
              </c:numCache>
            </c:numRef>
          </c:yVal>
        </c:ser>
        <c:ser>
          <c:idx val="4"/>
          <c:order val="4"/>
          <c:tx>
            <c:v>Arcering opbrengst</c:v>
          </c:tx>
          <c:spPr>
            <a:ln xmlns:a="http://schemas.openxmlformats.org/drawingml/2006/main" w="19050">
              <a:solidFill>
                <a:srgbClr val="D8A255"/>
              </a:solidFill>
              <a:prstDash val="solid"/>
            </a:ln>
          </c:spPr>
          <c:marker>
            <c:symbol val="none"/>
          </c:marker>
          <c:xVal>
            <c:numRef>
              <c:f>'Chart Data'!$I$2:$I$3</c:f>
              <c:numCache>
                <c:formatCode>General</c:formatCode>
                <c:ptCount val="2"/>
                <c:pt idx="0">
                  <c:v>60</c:v>
                </c:pt>
                <c:pt idx="1">
                  <c:v>100</c:v>
                </c:pt>
              </c:numCache>
            </c:numRef>
          </c:xVal>
          <c:yVal>
            <c:numRef>
              <c:f>'Chart Data'!$J$2:$J$3</c:f>
              <c:numCache>
                <c:formatCode>0</c:formatCode>
                <c:ptCount val="2"/>
                <c:pt idx="0">
                  <c:v>23</c:v>
                </c:pt>
                <c:pt idx="1">
                  <c:v>23</c:v>
                </c:pt>
              </c:numCache>
            </c:numRef>
          </c:yVal>
        </c:ser>
        <c:ser>
          <c:idx val="5"/>
          <c:order val="5"/>
          <c:tx>
            <c:v>Arcering opbrengst</c:v>
          </c:tx>
          <c:spPr>
            <a:ln xmlns:a="http://schemas.openxmlformats.org/drawingml/2006/main" w="19050">
              <a:solidFill>
                <a:srgbClr val="D8A255"/>
              </a:solidFill>
              <a:prstDash val="solid"/>
            </a:ln>
          </c:spPr>
          <c:marker>
            <c:symbol val="none"/>
          </c:marker>
          <c:xVal>
            <c:numRef>
              <c:f>'Chart Data'!$K$2:$K$3</c:f>
              <c:numCache>
                <c:formatCode>General</c:formatCode>
                <c:ptCount val="2"/>
                <c:pt idx="0">
                  <c:v>60</c:v>
                </c:pt>
                <c:pt idx="1">
                  <c:v>100</c:v>
                </c:pt>
              </c:numCache>
            </c:numRef>
          </c:xVal>
          <c:yVal>
            <c:numRef>
              <c:f>'Chart Data'!$L$2:$L$3</c:f>
              <c:numCache>
                <c:formatCode>0</c:formatCode>
                <c:ptCount val="2"/>
                <c:pt idx="0">
                  <c:v>23.65</c:v>
                </c:pt>
                <c:pt idx="1">
                  <c:v>23.65</c:v>
                </c:pt>
              </c:numCache>
            </c:numRef>
          </c:yVal>
        </c:ser>
        <c:ser>
          <c:idx val="6"/>
          <c:order val="6"/>
          <c:tx>
            <c:v>Arcering opbrengst</c:v>
          </c:tx>
          <c:spPr>
            <a:ln xmlns:a="http://schemas.openxmlformats.org/drawingml/2006/main" w="19050">
              <a:solidFill>
                <a:srgbClr val="D8A255"/>
              </a:solidFill>
              <a:prstDash val="solid"/>
            </a:ln>
          </c:spPr>
          <c:marker>
            <c:symbol val="none"/>
          </c:marker>
          <c:xVal>
            <c:numRef>
              <c:f>'Chart Data'!$M$2:$M$3</c:f>
              <c:numCache>
                <c:formatCode>General</c:formatCode>
                <c:ptCount val="2"/>
                <c:pt idx="0">
                  <c:v>60</c:v>
                </c:pt>
                <c:pt idx="1">
                  <c:v>100</c:v>
                </c:pt>
              </c:numCache>
            </c:numRef>
          </c:xVal>
          <c:yVal>
            <c:numRef>
              <c:f>'Chart Data'!$N$2:$N$3</c:f>
              <c:numCache>
                <c:formatCode>0</c:formatCode>
                <c:ptCount val="2"/>
                <c:pt idx="0">
                  <c:v>24.3</c:v>
                </c:pt>
                <c:pt idx="1">
                  <c:v>24.3</c:v>
                </c:pt>
              </c:numCache>
            </c:numRef>
          </c:yVal>
        </c:ser>
        <c:ser>
          <c:idx val="7"/>
          <c:order val="7"/>
          <c:tx>
            <c:v>Arcering opbrengst</c:v>
          </c:tx>
          <c:spPr>
            <a:ln xmlns:a="http://schemas.openxmlformats.org/drawingml/2006/main" w="19050">
              <a:solidFill>
                <a:srgbClr val="D8A255"/>
              </a:solidFill>
              <a:prstDash val="solid"/>
            </a:ln>
          </c:spPr>
          <c:marker>
            <c:symbol val="none"/>
          </c:marker>
          <c:xVal>
            <c:numRef>
              <c:f>'Chart Data'!$O$2:$O$3</c:f>
              <c:numCache>
                <c:formatCode>General</c:formatCode>
                <c:ptCount val="2"/>
                <c:pt idx="0">
                  <c:v>60</c:v>
                </c:pt>
                <c:pt idx="1">
                  <c:v>100</c:v>
                </c:pt>
              </c:numCache>
            </c:numRef>
          </c:xVal>
          <c:yVal>
            <c:numRef>
              <c:f>'Chart Data'!$P$2:$P$3</c:f>
              <c:numCache>
                <c:formatCode>0</c:formatCode>
                <c:ptCount val="2"/>
                <c:pt idx="0">
                  <c:v>24.95</c:v>
                </c:pt>
                <c:pt idx="1">
                  <c:v>24.95</c:v>
                </c:pt>
              </c:numCache>
            </c:numRef>
          </c:yVal>
        </c:ser>
        <c:ser>
          <c:idx val="8"/>
          <c:order val="8"/>
          <c:tx>
            <c:v>Arcering opbrengst</c:v>
          </c:tx>
          <c:spPr>
            <a:ln xmlns:a="http://schemas.openxmlformats.org/drawingml/2006/main" w="19050">
              <a:solidFill>
                <a:srgbClr val="D8A255"/>
              </a:solidFill>
              <a:prstDash val="solid"/>
            </a:ln>
          </c:spPr>
          <c:marker>
            <c:symbol val="none"/>
          </c:marker>
          <c:xVal>
            <c:numRef>
              <c:f>'Chart Data'!$Q$2:$Q$3</c:f>
              <c:numCache>
                <c:formatCode>General</c:formatCode>
                <c:ptCount val="2"/>
                <c:pt idx="0">
                  <c:v>60</c:v>
                </c:pt>
                <c:pt idx="1">
                  <c:v>100</c:v>
                </c:pt>
              </c:numCache>
            </c:numRef>
          </c:xVal>
          <c:yVal>
            <c:numRef>
              <c:f>'Chart Data'!$R$2:$R$3</c:f>
              <c:numCache>
                <c:formatCode>0</c:formatCode>
                <c:ptCount val="2"/>
                <c:pt idx="0">
                  <c:v>25.6</c:v>
                </c:pt>
                <c:pt idx="1">
                  <c:v>25.6</c:v>
                </c:pt>
              </c:numCache>
            </c:numRef>
          </c:yVal>
        </c:ser>
        <c:ser>
          <c:idx val="9"/>
          <c:order val="9"/>
          <c:tx>
            <c:v>Arcering opbrengst</c:v>
          </c:tx>
          <c:spPr>
            <a:ln xmlns:a="http://schemas.openxmlformats.org/drawingml/2006/main" w="19050">
              <a:solidFill>
                <a:srgbClr val="D8A255"/>
              </a:solidFill>
              <a:prstDash val="solid"/>
            </a:ln>
          </c:spPr>
          <c:marker>
            <c:symbol val="none"/>
          </c:marker>
          <c:xVal>
            <c:numRef>
              <c:f>'Chart Data'!$S$2:$S$3</c:f>
              <c:numCache>
                <c:formatCode>General</c:formatCode>
                <c:ptCount val="2"/>
                <c:pt idx="0">
                  <c:v>60</c:v>
                </c:pt>
                <c:pt idx="1">
                  <c:v>100</c:v>
                </c:pt>
              </c:numCache>
            </c:numRef>
          </c:xVal>
          <c:yVal>
            <c:numRef>
              <c:f>'Chart Data'!$T$2:$T$3</c:f>
              <c:numCache>
                <c:formatCode>0</c:formatCode>
                <c:ptCount val="2"/>
                <c:pt idx="0">
                  <c:v>26.25</c:v>
                </c:pt>
                <c:pt idx="1">
                  <c:v>26.25</c:v>
                </c:pt>
              </c:numCache>
            </c:numRef>
          </c:yVal>
        </c:ser>
        <c:ser>
          <c:idx val="10"/>
          <c:order val="10"/>
          <c:tx>
            <c:v>Arcering opbrengst</c:v>
          </c:tx>
          <c:spPr>
            <a:ln xmlns:a="http://schemas.openxmlformats.org/drawingml/2006/main" w="19050">
              <a:solidFill>
                <a:srgbClr val="D8A255"/>
              </a:solidFill>
              <a:prstDash val="solid"/>
            </a:ln>
          </c:spPr>
          <c:marker>
            <c:symbol val="none"/>
          </c:marker>
          <c:xVal>
            <c:numRef>
              <c:f>'Chart Data'!$U$2:$U$3</c:f>
              <c:numCache>
                <c:formatCode>General</c:formatCode>
                <c:ptCount val="2"/>
                <c:pt idx="0">
                  <c:v>60</c:v>
                </c:pt>
                <c:pt idx="1">
                  <c:v>100</c:v>
                </c:pt>
              </c:numCache>
            </c:numRef>
          </c:xVal>
          <c:yVal>
            <c:numRef>
              <c:f>'Chart Data'!$V$2:$V$3</c:f>
              <c:numCache>
                <c:formatCode>0</c:formatCode>
                <c:ptCount val="2"/>
                <c:pt idx="0">
                  <c:v>26.9</c:v>
                </c:pt>
                <c:pt idx="1">
                  <c:v>26.9</c:v>
                </c:pt>
              </c:numCache>
            </c:numRef>
          </c:yVal>
        </c:ser>
        <c:ser>
          <c:idx val="11"/>
          <c:order val="11"/>
          <c:tx>
            <c:v>Arcering opbrengst</c:v>
          </c:tx>
          <c:spPr>
            <a:ln xmlns:a="http://schemas.openxmlformats.org/drawingml/2006/main" w="19050">
              <a:solidFill>
                <a:srgbClr val="D8A255"/>
              </a:solidFill>
              <a:prstDash val="solid"/>
            </a:ln>
          </c:spPr>
          <c:marker>
            <c:symbol val="none"/>
          </c:marker>
          <c:xVal>
            <c:numRef>
              <c:f>'Chart Data'!$W$2:$W$3</c:f>
              <c:numCache>
                <c:formatCode>General</c:formatCode>
                <c:ptCount val="2"/>
                <c:pt idx="0">
                  <c:v>60</c:v>
                </c:pt>
                <c:pt idx="1">
                  <c:v>100</c:v>
                </c:pt>
              </c:numCache>
            </c:numRef>
          </c:xVal>
          <c:yVal>
            <c:numRef>
              <c:f>'Chart Data'!$X$2:$X$3</c:f>
              <c:numCache>
                <c:formatCode>0</c:formatCode>
                <c:ptCount val="2"/>
                <c:pt idx="0">
                  <c:v>27.55</c:v>
                </c:pt>
                <c:pt idx="1">
                  <c:v>27.55</c:v>
                </c:pt>
              </c:numCache>
            </c:numRef>
          </c:yVal>
        </c:ser>
        <c:ser>
          <c:idx val="12"/>
          <c:order val="12"/>
          <c:tx>
            <c:v>Arcering opbrengst</c:v>
          </c:tx>
          <c:spPr>
            <a:ln xmlns:a="http://schemas.openxmlformats.org/drawingml/2006/main" w="19050">
              <a:solidFill>
                <a:srgbClr val="D8A255"/>
              </a:solidFill>
              <a:prstDash val="solid"/>
            </a:ln>
          </c:spPr>
          <c:marker>
            <c:symbol val="none"/>
          </c:marker>
          <c:xVal>
            <c:numRef>
              <c:f>'Chart Data'!$Y$2:$Y$3</c:f>
              <c:numCache>
                <c:formatCode>General</c:formatCode>
                <c:ptCount val="2"/>
                <c:pt idx="0">
                  <c:v>60</c:v>
                </c:pt>
                <c:pt idx="1">
                  <c:v>100</c:v>
                </c:pt>
              </c:numCache>
            </c:numRef>
          </c:xVal>
          <c:yVal>
            <c:numRef>
              <c:f>'Chart Data'!$Z$2:$Z$3</c:f>
              <c:numCache>
                <c:formatCode>0</c:formatCode>
                <c:ptCount val="2"/>
                <c:pt idx="0">
                  <c:v>28.2</c:v>
                </c:pt>
                <c:pt idx="1">
                  <c:v>28.2</c:v>
                </c:pt>
              </c:numCache>
            </c:numRef>
          </c:yVal>
        </c:ser>
        <c:ser>
          <c:idx val="13"/>
          <c:order val="13"/>
          <c:tx>
            <c:v>Arcering opbrengst</c:v>
          </c:tx>
          <c:spPr>
            <a:ln xmlns:a="http://schemas.openxmlformats.org/drawingml/2006/main" w="19050">
              <a:solidFill>
                <a:srgbClr val="D8A255"/>
              </a:solidFill>
              <a:prstDash val="solid"/>
            </a:ln>
          </c:spPr>
          <c:marker>
            <c:symbol val="none"/>
          </c:marker>
          <c:xVal>
            <c:numRef>
              <c:f>'Chart Data'!$AA$2:$AA$3</c:f>
              <c:numCache>
                <c:formatCode>General</c:formatCode>
                <c:ptCount val="2"/>
                <c:pt idx="0">
                  <c:v>60</c:v>
                </c:pt>
                <c:pt idx="1">
                  <c:v>100</c:v>
                </c:pt>
              </c:numCache>
            </c:numRef>
          </c:xVal>
          <c:yVal>
            <c:numRef>
              <c:f>'Chart Data'!$AB$2:$AB$3</c:f>
              <c:numCache>
                <c:formatCode>0</c:formatCode>
                <c:ptCount val="2"/>
                <c:pt idx="0">
                  <c:v>28.85</c:v>
                </c:pt>
                <c:pt idx="1">
                  <c:v>28.85</c:v>
                </c:pt>
              </c:numCache>
            </c:numRef>
          </c:yVal>
        </c:ser>
        <c:ser>
          <c:idx val="14"/>
          <c:order val="14"/>
          <c:tx>
            <c:v>Arcering opbrengst</c:v>
          </c:tx>
          <c:spPr>
            <a:ln xmlns:a="http://schemas.openxmlformats.org/drawingml/2006/main" w="19050">
              <a:solidFill>
                <a:srgbClr val="D8A255"/>
              </a:solidFill>
              <a:prstDash val="solid"/>
            </a:ln>
          </c:spPr>
          <c:marker>
            <c:symbol val="none"/>
          </c:marker>
          <c:xVal>
            <c:numRef>
              <c:f>'Chart Data'!$AC$2:$AC$3</c:f>
              <c:numCache>
                <c:formatCode>General</c:formatCode>
                <c:ptCount val="2"/>
                <c:pt idx="0">
                  <c:v>60</c:v>
                </c:pt>
                <c:pt idx="1">
                  <c:v>100</c:v>
                </c:pt>
              </c:numCache>
            </c:numRef>
          </c:xVal>
          <c:yVal>
            <c:numRef>
              <c:f>'Chart Data'!$AD$2:$AD$3</c:f>
              <c:numCache>
                <c:formatCode>0</c:formatCode>
                <c:ptCount val="2"/>
                <c:pt idx="0">
                  <c:v>29.5</c:v>
                </c:pt>
                <c:pt idx="1">
                  <c:v>29.5</c:v>
                </c:pt>
              </c:numCache>
            </c:numRef>
          </c:yVal>
        </c:ser>
        <c:ser>
          <c:idx val="15"/>
          <c:order val="15"/>
          <c:tx>
            <c:v>V</c:v>
          </c:tx>
          <c:spPr>
            <a:ln xmlns:a="http://schemas.openxmlformats.org/drawingml/2006/main" w="38100">
              <a:solidFill>
                <a:srgbClr val="1A5276"/>
              </a:solidFill>
              <a:prstDash val="solid"/>
            </a:ln>
          </c:spPr>
          <c:marker>
            <c:symbol val="none"/>
          </c:marker>
          <c:xVal>
            <c:numRef>
              <c:f>'Chart Data'!$AE$2:$AE$3</c:f>
              <c:numCache>
                <c:formatCode>General</c:formatCode>
                <c:ptCount val="2"/>
                <c:pt idx="0">
                  <c:v>0</c:v>
                </c:pt>
                <c:pt idx="1">
                  <c:v>160</c:v>
                </c:pt>
              </c:numCache>
            </c:numRef>
          </c:xVal>
          <c:yVal>
            <c:numRef>
              <c:f>'Chart Data'!$AF$2:$AF$3</c:f>
              <c:numCache>
                <c:formatCode>0</c:formatCode>
                <c:ptCount val="2"/>
                <c:pt idx="0">
                  <c:v>80</c:v>
                </c:pt>
                <c:pt idx="1">
                  <c:v>0</c:v>
                </c:pt>
              </c:numCache>
            </c:numRef>
          </c:yVal>
        </c:ser>
        <c:ser>
          <c:idx val="16"/>
          <c:order val="16"/>
          <c:tx>
            <c:v>A</c:v>
          </c:tx>
          <c:spPr>
            <a:ln xmlns:a="http://schemas.openxmlformats.org/drawingml/2006/main" w="38100">
              <a:solidFill>
                <a:srgbClr val="1E7449"/>
              </a:solidFill>
              <a:prstDash val="solid"/>
            </a:ln>
          </c:spPr>
          <c:marker>
            <c:symbol val="none"/>
          </c:marker>
          <c:xVal>
            <c:numRef>
              <c:f>'Chart Data'!$AG$2:$AG$3</c:f>
              <c:numCache>
                <c:formatCode>General</c:formatCode>
                <c:ptCount val="2"/>
                <c:pt idx="0">
                  <c:v>0</c:v>
                </c:pt>
                <c:pt idx="1">
                  <c:v>160</c:v>
                </c:pt>
              </c:numCache>
            </c:numRef>
          </c:xVal>
          <c:yVal>
            <c:numRef>
              <c:f>'Chart Data'!$AH$2:$AH$3</c:f>
              <c:numCache>
                <c:formatCode>0</c:formatCode>
                <c:ptCount val="2"/>
                <c:pt idx="0">
                  <c:v>0</c:v>
                </c:pt>
                <c:pt idx="1">
                  <c:v>80</c:v>
                </c:pt>
              </c:numCache>
            </c:numRef>
          </c:yVal>
        </c:ser>
        <c:ser>
          <c:idx val="17"/>
          <c:order val="17"/>
          <c:tx>
            <c:v>Pw</c:v>
          </c:tx>
          <c:spPr>
            <a:ln xmlns:a="http://schemas.openxmlformats.org/drawingml/2006/main" w="19050">
              <a:solidFill>
                <a:srgbClr val="445B6B"/>
              </a:solidFill>
              <a:prstDash val="dash"/>
            </a:ln>
          </c:spPr>
          <c:marker>
            <c:symbol val="none"/>
          </c:marker>
          <c:xVal>
            <c:numRef>
              <c:f>'Chart Data'!$AI$2:$AI$3</c:f>
              <c:numCache>
                <c:formatCode>General</c:formatCode>
                <c:ptCount val="2"/>
                <c:pt idx="0">
                  <c:v>0</c:v>
                </c:pt>
                <c:pt idx="1">
                  <c:v>160</c:v>
                </c:pt>
              </c:numCache>
            </c:numRef>
          </c:xVal>
          <c:yVal>
            <c:numRef>
              <c:f>'Chart Data'!$AJ$2:$AJ$3</c:f>
              <c:numCache>
                <c:formatCode>0</c:formatCode>
                <c:ptCount val="2"/>
                <c:pt idx="0">
                  <c:v>20</c:v>
                </c:pt>
                <c:pt idx="1">
                  <c:v>20</c:v>
                </c:pt>
              </c:numCache>
            </c:numRef>
          </c:yVal>
        </c:ser>
        <c:ser>
          <c:idx val="18"/>
          <c:order val="18"/>
          <c:tx>
            <c:v>Pw + t</c:v>
          </c:tx>
          <c:spPr>
            <a:ln xmlns:a="http://schemas.openxmlformats.org/drawingml/2006/main" w="28575">
              <a:solidFill>
                <a:srgbClr val="A94D16"/>
              </a:solidFill>
              <a:prstDash val="dash"/>
            </a:ln>
          </c:spPr>
          <c:marker>
            <c:symbol val="none"/>
          </c:marker>
          <c:xVal>
            <c:numRef>
              <c:f>'Chart Data'!$AK$2:$AK$3</c:f>
              <c:numCache>
                <c:formatCode>General</c:formatCode>
                <c:ptCount val="2"/>
                <c:pt idx="0">
                  <c:v>0</c:v>
                </c:pt>
                <c:pt idx="1">
                  <c:v>160</c:v>
                </c:pt>
              </c:numCache>
            </c:numRef>
          </c:xVal>
          <c:yVal>
            <c:numRef>
              <c:f>'Chart Data'!$AL$2:$AL$3</c:f>
              <c:numCache>
                <c:formatCode>0</c:formatCode>
                <c:ptCount val="2"/>
                <c:pt idx="0">
                  <c:v>30</c:v>
                </c:pt>
                <c:pt idx="1">
                  <c:v>30</c:v>
                </c:pt>
              </c:numCache>
            </c:numRef>
          </c:yVal>
        </c:ser>
        <c:ser>
          <c:idx val="19"/>
          <c:order val="19"/>
          <c:tx>
            <c:v>Aflezen Q = 60</c:v>
          </c:tx>
          <c:spPr>
            <a:ln xmlns:a="http://schemas.openxmlformats.org/drawingml/2006/main" w="19050">
              <a:solidFill>
                <a:srgbClr val="C6D2DB"/>
              </a:solidFill>
              <a:prstDash val="dash"/>
            </a:ln>
          </c:spPr>
          <c:marker>
            <c:symbol val="none"/>
          </c:marker>
          <c:xVal>
            <c:numRef>
              <c:f>'Chart Data'!$AM$2:$AM$3</c:f>
              <c:numCache>
                <c:formatCode>General</c:formatCode>
                <c:ptCount val="2"/>
                <c:pt idx="0">
                  <c:v>60</c:v>
                </c:pt>
                <c:pt idx="1">
                  <c:v>60</c:v>
                </c:pt>
              </c:numCache>
            </c:numRef>
          </c:xVal>
          <c:yVal>
            <c:numRef>
              <c:f>'Chart Data'!$AN$2:$AN$3</c:f>
              <c:numCache>
                <c:formatCode>0</c:formatCode>
                <c:ptCount val="2"/>
                <c:pt idx="0">
                  <c:v>0</c:v>
                </c:pt>
                <c:pt idx="1">
                  <c:v>30</c:v>
                </c:pt>
              </c:numCache>
            </c:numRef>
          </c:yVal>
        </c:ser>
        <c:ser>
          <c:idx val="20"/>
          <c:order val="20"/>
          <c:tx>
            <c:v>Aflezen Q = 100</c:v>
          </c:tx>
          <c:spPr>
            <a:ln xmlns:a="http://schemas.openxmlformats.org/drawingml/2006/main" w="19050">
              <a:solidFill>
                <a:srgbClr val="C6D2DB"/>
              </a:solidFill>
              <a:prstDash val="dash"/>
            </a:ln>
          </c:spPr>
          <c:marker>
            <c:symbol val="none"/>
          </c:marker>
          <c:xVal>
            <c:numRef>
              <c:f>'Chart Data'!$AO$2:$AO$3</c:f>
              <c:numCache>
                <c:formatCode>General</c:formatCode>
                <c:ptCount val="2"/>
                <c:pt idx="0">
                  <c:v>100</c:v>
                </c:pt>
                <c:pt idx="1">
                  <c:v>100</c:v>
                </c:pt>
              </c:numCache>
            </c:numRef>
          </c:xVal>
          <c:yVal>
            <c:numRef>
              <c:f>'Chart Data'!$AP$2:$AP$3</c:f>
              <c:numCache>
                <c:formatCode>0</c:formatCode>
                <c:ptCount val="2"/>
                <c:pt idx="0">
                  <c:v>0</c:v>
                </c:pt>
                <c:pt idx="1">
                  <c:v>30</c:v>
                </c:pt>
              </c:numCache>
            </c:numRef>
          </c:yVal>
        </c:ser>
        <c:ser>
          <c:idx val="21"/>
          <c:order val="21"/>
          <c:tx>
            <c:v>Opbrengst ondergrens</c:v>
          </c:tx>
          <c:spPr>
            <a:ln xmlns:a="http://schemas.openxmlformats.org/drawingml/2006/main" w="28575">
              <a:solidFill>
                <a:srgbClr val="A94D16"/>
              </a:solidFill>
              <a:prstDash val="solid"/>
            </a:ln>
          </c:spPr>
          <c:marker>
            <c:symbol val="none"/>
          </c:marker>
          <c:xVal>
            <c:numRef>
              <c:f>'Chart Data'!$AQ$2:$AQ$3</c:f>
              <c:numCache>
                <c:formatCode>General</c:formatCode>
                <c:ptCount val="2"/>
                <c:pt idx="0">
                  <c:v>60</c:v>
                </c:pt>
                <c:pt idx="1">
                  <c:v>100</c:v>
                </c:pt>
              </c:numCache>
            </c:numRef>
          </c:xVal>
          <c:yVal>
            <c:numRef>
              <c:f>'Chart Data'!$AR$2:$AR$3</c:f>
              <c:numCache>
                <c:formatCode>0</c:formatCode>
                <c:ptCount val="2"/>
                <c:pt idx="0">
                  <c:v>20</c:v>
                </c:pt>
                <c:pt idx="1">
                  <c:v>20</c:v>
                </c:pt>
              </c:numCache>
            </c:numRef>
          </c:yVal>
        </c:ser>
        <c:ser>
          <c:idx val="22"/>
          <c:order val="22"/>
          <c:tx>
            <c:v>Opbrengst bovengrens</c:v>
          </c:tx>
          <c:spPr>
            <a:ln xmlns:a="http://schemas.openxmlformats.org/drawingml/2006/main" w="28575">
              <a:solidFill>
                <a:srgbClr val="A94D16"/>
              </a:solidFill>
              <a:prstDash val="solid"/>
            </a:ln>
          </c:spPr>
          <c:marker>
            <c:symbol val="none"/>
          </c:marker>
          <c:xVal>
            <c:numRef>
              <c:f>'Chart Data'!$AS$2:$AS$3</c:f>
              <c:numCache>
                <c:formatCode>General</c:formatCode>
                <c:ptCount val="2"/>
                <c:pt idx="0">
                  <c:v>60</c:v>
                </c:pt>
                <c:pt idx="1">
                  <c:v>100</c:v>
                </c:pt>
              </c:numCache>
            </c:numRef>
          </c:xVal>
          <c:yVal>
            <c:numRef>
              <c:f>'Chart Data'!$AT$2:$AT$3</c:f>
              <c:numCache>
                <c:formatCode>0</c:formatCode>
                <c:ptCount val="2"/>
                <c:pt idx="0">
                  <c:v>30</c:v>
                </c:pt>
                <c:pt idx="1">
                  <c:v>30</c:v>
                </c:pt>
              </c:numCache>
            </c:numRef>
          </c:yVal>
        </c:ser>
        <c:ser>
          <c:idx val="23"/>
          <c:order val="23"/>
          <c:tx>
            <c:v>Opbrengst linkergrens</c:v>
          </c:tx>
          <c:spPr>
            <a:ln xmlns:a="http://schemas.openxmlformats.org/drawingml/2006/main" w="28575">
              <a:solidFill>
                <a:srgbClr val="A94D16"/>
              </a:solidFill>
              <a:prstDash val="solid"/>
            </a:ln>
          </c:spPr>
          <c:marker>
            <c:symbol val="none"/>
          </c:marker>
          <c:xVal>
            <c:numRef>
              <c:f>'Chart Data'!$AU$2:$AU$3</c:f>
              <c:numCache>
                <c:formatCode>General</c:formatCode>
                <c:ptCount val="2"/>
                <c:pt idx="0">
                  <c:v>60</c:v>
                </c:pt>
                <c:pt idx="1">
                  <c:v>60</c:v>
                </c:pt>
              </c:numCache>
            </c:numRef>
          </c:xVal>
          <c:yVal>
            <c:numRef>
              <c:f>'Chart Data'!$AV$2:$AV$3</c:f>
              <c:numCache>
                <c:formatCode>0</c:formatCode>
                <c:ptCount val="2"/>
                <c:pt idx="0">
                  <c:v>20</c:v>
                </c:pt>
                <c:pt idx="1">
                  <c:v>30</c:v>
                </c:pt>
              </c:numCache>
            </c:numRef>
          </c:yVal>
        </c:ser>
        <c:ser>
          <c:idx val="24"/>
          <c:order val="24"/>
          <c:tx>
            <c:v>Opbrengst rechtergrens</c:v>
          </c:tx>
          <c:spPr>
            <a:ln xmlns:a="http://schemas.openxmlformats.org/drawingml/2006/main" w="28575">
              <a:solidFill>
                <a:srgbClr val="A94D16"/>
              </a:solidFill>
              <a:prstDash val="solid"/>
            </a:ln>
          </c:spPr>
          <c:marker>
            <c:symbol val="none"/>
          </c:marker>
          <c:xVal>
            <c:numRef>
              <c:f>'Chart Data'!$AW$2:$AW$3</c:f>
              <c:numCache>
                <c:formatCode>General</c:formatCode>
                <c:ptCount val="2"/>
                <c:pt idx="0">
                  <c:v>100</c:v>
                </c:pt>
                <c:pt idx="1">
                  <c:v>100</c:v>
                </c:pt>
              </c:numCache>
            </c:numRef>
          </c:xVal>
          <c:yVal>
            <c:numRef>
              <c:f>'Chart Data'!$AX$2:$AX$3</c:f>
              <c:numCache>
                <c:formatCode>0</c:formatCode>
                <c:ptCount val="2"/>
                <c:pt idx="0">
                  <c:v>20</c:v>
                </c:pt>
                <c:pt idx="1">
                  <c:v>30</c:v>
                </c:pt>
              </c:numCache>
            </c:numRef>
          </c:yVal>
        </c:ser>
        <c:ser>
          <c:idx val="25"/>
          <c:order val="25"/>
          <c:tx>
            <c:v>V</c:v>
          </c:tx>
          <c:spPr>
            <a:ln xmlns:a="http://schemas.openxmlformats.org/drawingml/2006/main" w="0">
              <a:noFill/>
            </a:ln>
          </c:spPr>
          <c:marker>
            <c:symbol val="none"/>
            <c:size val="8"/>
            <c:spPr>
              <a:solidFill xmlns:a="http://schemas.openxmlformats.org/drawingml/2006/main">
                <a:srgbClr val="1A5276"/>
              </a:solidFill>
            </c:spPr>
          </c:marker>
          <c:dLbls>
            <c:dLbl>
              <c:idx val="0"/>
              <c:tx>
                <c:rich>
                  <a:bodyPr xmlns:a="http://schemas.openxmlformats.org/drawingml/2006/main"/>
                  <a:lstStyle xmlns:a="http://schemas.openxmlformats.org/drawingml/2006/main"/>
                  <a:p xmlns:a="http://schemas.openxmlformats.org/drawingml/2006/main">
                    <a:r>
                      <a:rPr sz="1875" b="1">
                        <a:solidFill>
                          <a:srgbClr val="1A5276"/>
                        </a:solidFill>
                        <a:latin typeface="Arial"/>
                        <a:ea typeface="Arial"/>
                        <a:cs typeface="Arial"/>
                      </a:rPr>
                      <a:t>V</a:t>
                    </a:r>
                  </a:p>
                </c:rich>
              </c:tx>
              <c:txPr>
                <a:bodyPr xmlns:a="http://schemas.openxmlformats.org/drawingml/2006/main" anchorCtr="1"/>
                <a:lstStyle xmlns:a="http://schemas.openxmlformats.org/drawingml/2006/main"/>
                <a:p xmlns:a="http://schemas.openxmlformats.org/drawingml/2006/main">
                  <a:pPr>
                    <a:defRPr sz="1875" b="1">
                      <a:solidFill>
                        <a:srgbClr val="1A5276"/>
                      </a:solidFill>
                      <a:latin typeface="Arial"/>
                      <a:ea typeface="Arial"/>
                      <a:cs typeface="Arial"/>
                    </a:defRPr>
                  </a:pPr>
                </a:p>
              </c:txPr>
              <c:showLegendKey val="0"/>
              <c:showVal val="0"/>
              <c:showCatName val="0"/>
              <c:showSerName val="0"/>
              <c:showPercent val="0"/>
              <c:showBubbleSize val="0"/>
            </c:dLbl>
          </c:dLbls>
          <c:xVal>
            <c:numRef>
              <c:f>'Chart Data'!$AY$2:$AY$2</c:f>
              <c:numCache>
                <c:formatCode>General</c:formatCode>
                <c:ptCount val="1"/>
                <c:pt idx="0">
                  <c:v>144</c:v>
                </c:pt>
              </c:numCache>
            </c:numRef>
          </c:xVal>
          <c:yVal>
            <c:numRef>
              <c:f>'Chart Data'!$AZ$2:$AZ$2</c:f>
              <c:numCache>
                <c:formatCode>0</c:formatCode>
                <c:ptCount val="1"/>
                <c:pt idx="0">
                  <c:v>8</c:v>
                </c:pt>
              </c:numCache>
            </c:numRef>
          </c:yVal>
        </c:ser>
        <c:ser>
          <c:idx val="26"/>
          <c:order val="26"/>
          <c:tx>
            <c:v>A</c:v>
          </c:tx>
          <c:spPr>
            <a:ln xmlns:a="http://schemas.openxmlformats.org/drawingml/2006/main" w="0">
              <a:noFill/>
            </a:ln>
          </c:spPr>
          <c:marker>
            <c:symbol val="none"/>
            <c:size val="8"/>
            <c:spPr>
              <a:solidFill xmlns:a="http://schemas.openxmlformats.org/drawingml/2006/main">
                <a:srgbClr val="1E7449"/>
              </a:solidFill>
            </c:spPr>
          </c:marker>
          <c:dLbls>
            <c:dLbl>
              <c:idx val="0"/>
              <c:tx>
                <c:rich>
                  <a:bodyPr xmlns:a="http://schemas.openxmlformats.org/drawingml/2006/main"/>
                  <a:lstStyle xmlns:a="http://schemas.openxmlformats.org/drawingml/2006/main"/>
                  <a:p xmlns:a="http://schemas.openxmlformats.org/drawingml/2006/main">
                    <a:r>
                      <a:rPr sz="1875" b="1">
                        <a:solidFill>
                          <a:srgbClr val="1E7449"/>
                        </a:solidFill>
                        <a:latin typeface="Arial"/>
                        <a:ea typeface="Arial"/>
                        <a:cs typeface="Arial"/>
                      </a:rPr>
                      <a:t>A</a:t>
                    </a:r>
                  </a:p>
                </c:rich>
              </c:tx>
              <c:txPr>
                <a:bodyPr xmlns:a="http://schemas.openxmlformats.org/drawingml/2006/main" anchorCtr="1"/>
                <a:lstStyle xmlns:a="http://schemas.openxmlformats.org/drawingml/2006/main"/>
                <a:p xmlns:a="http://schemas.openxmlformats.org/drawingml/2006/main">
                  <a:pPr>
                    <a:defRPr sz="1875" b="1">
                      <a:solidFill>
                        <a:srgbClr val="1E7449"/>
                      </a:solidFill>
                      <a:latin typeface="Arial"/>
                      <a:ea typeface="Arial"/>
                      <a:cs typeface="Arial"/>
                    </a:defRPr>
                  </a:pPr>
                </a:p>
              </c:txPr>
              <c:showLegendKey val="0"/>
              <c:showVal val="0"/>
              <c:showCatName val="0"/>
              <c:showSerName val="0"/>
              <c:showPercent val="0"/>
              <c:showBubbleSize val="0"/>
            </c:dLbl>
          </c:dLbls>
          <c:xVal>
            <c:numRef>
              <c:f>'Chart Data'!$BA$2:$BA$2</c:f>
              <c:numCache>
                <c:formatCode>General</c:formatCode>
                <c:ptCount val="1"/>
                <c:pt idx="0">
                  <c:v>147.2</c:v>
                </c:pt>
              </c:numCache>
            </c:numRef>
          </c:xVal>
          <c:yVal>
            <c:numRef>
              <c:f>'Chart Data'!$BB$2:$BB$2</c:f>
              <c:numCache>
                <c:formatCode>0</c:formatCode>
                <c:ptCount val="1"/>
                <c:pt idx="0">
                  <c:v>73.6</c:v>
                </c:pt>
              </c:numCache>
            </c:numRef>
          </c:yVal>
        </c:ser>
        <c:ser>
          <c:idx val="27"/>
          <c:order val="27"/>
          <c:tx>
            <c:v>Pw = 20</c:v>
          </c:tx>
          <c:spPr>
            <a:ln xmlns:a="http://schemas.openxmlformats.org/drawingml/2006/main" w="0">
              <a:noFill/>
            </a:ln>
          </c:spPr>
          <c:marker>
            <c:symbol val="none"/>
            <c:size val="8"/>
            <c:spPr>
              <a:solidFill xmlns:a="http://schemas.openxmlformats.org/drawingml/2006/main">
                <a:srgbClr val="445B6B"/>
              </a:solidFill>
            </c:spPr>
          </c:marker>
          <c:dLbls>
            <c:dLbl>
              <c:idx val="0"/>
              <c:tx>
                <c:rich>
                  <a:bodyPr xmlns:a="http://schemas.openxmlformats.org/drawingml/2006/main"/>
                  <a:lstStyle xmlns:a="http://schemas.openxmlformats.org/drawingml/2006/main"/>
                  <a:p xmlns:a="http://schemas.openxmlformats.org/drawingml/2006/main">
                    <a:r>
                      <a:rPr sz="1875" b="1">
                        <a:solidFill>
                          <a:srgbClr val="445B6B"/>
                        </a:solidFill>
                        <a:latin typeface="Arial"/>
                        <a:ea typeface="Arial"/>
                        <a:cs typeface="Arial"/>
                      </a:rPr>
                      <a:t>Pw = 20</a:t>
                    </a:r>
                  </a:p>
                </c:rich>
              </c:tx>
              <c:txPr>
                <a:bodyPr xmlns:a="http://schemas.openxmlformats.org/drawingml/2006/main" anchorCtr="1"/>
                <a:lstStyle xmlns:a="http://schemas.openxmlformats.org/drawingml/2006/main"/>
                <a:p xmlns:a="http://schemas.openxmlformats.org/drawingml/2006/main">
                  <a:pPr>
                    <a:defRPr sz="1875" b="1">
                      <a:solidFill>
                        <a:srgbClr val="445B6B"/>
                      </a:solidFill>
                      <a:latin typeface="Arial"/>
                      <a:ea typeface="Arial"/>
                      <a:cs typeface="Arial"/>
                    </a:defRPr>
                  </a:pPr>
                </a:p>
              </c:txPr>
              <c:showLegendKey val="0"/>
              <c:showVal val="0"/>
              <c:showCatName val="0"/>
              <c:showSerName val="0"/>
              <c:showPercent val="0"/>
              <c:showBubbleSize val="0"/>
            </c:dLbl>
          </c:dLbls>
          <c:xVal>
            <c:numRef>
              <c:f>'Chart Data'!$BC$2:$BC$2</c:f>
              <c:numCache>
                <c:formatCode>General</c:formatCode>
                <c:ptCount val="1"/>
                <c:pt idx="0">
                  <c:v>134.4</c:v>
                </c:pt>
              </c:numCache>
            </c:numRef>
          </c:xVal>
          <c:yVal>
            <c:numRef>
              <c:f>'Chart Data'!$BD$2:$BD$2</c:f>
              <c:numCache>
                <c:formatCode>0</c:formatCode>
                <c:ptCount val="1"/>
                <c:pt idx="0">
                  <c:v>16.4</c:v>
                </c:pt>
              </c:numCache>
            </c:numRef>
          </c:yVal>
        </c:ser>
        <c:ser>
          <c:idx val="28"/>
          <c:order val="28"/>
          <c:tx>
            <c:v>Pw + t = 30</c:v>
          </c:tx>
          <c:spPr>
            <a:ln xmlns:a="http://schemas.openxmlformats.org/drawingml/2006/main" w="0">
              <a:noFill/>
            </a:ln>
          </c:spPr>
          <c:marker>
            <c:symbol val="none"/>
            <c:size val="8"/>
            <c:spPr>
              <a:solidFill xmlns:a="http://schemas.openxmlformats.org/drawingml/2006/main">
                <a:srgbClr val="A94D16"/>
              </a:solidFill>
            </c:spPr>
          </c:marker>
          <c:dLbls>
            <c:dLbl>
              <c:idx val="0"/>
              <c:tx>
                <c:rich>
                  <a:bodyPr xmlns:a="http://schemas.openxmlformats.org/drawingml/2006/main"/>
                  <a:lstStyle xmlns:a="http://schemas.openxmlformats.org/drawingml/2006/main"/>
                  <a:p xmlns:a="http://schemas.openxmlformats.org/drawingml/2006/main">
                    <a:r>
                      <a:rPr sz="1875" b="1">
                        <a:solidFill>
                          <a:srgbClr val="A94D16"/>
                        </a:solidFill>
                        <a:latin typeface="Arial"/>
                        <a:ea typeface="Arial"/>
                        <a:cs typeface="Arial"/>
                      </a:rPr>
                      <a:t>Pw + t = 30</a:t>
                    </a:r>
                  </a:p>
                </c:rich>
              </c:tx>
              <c:txPr>
                <a:bodyPr xmlns:a="http://schemas.openxmlformats.org/drawingml/2006/main" anchorCtr="1"/>
                <a:lstStyle xmlns:a="http://schemas.openxmlformats.org/drawingml/2006/main"/>
                <a:p xmlns:a="http://schemas.openxmlformats.org/drawingml/2006/main">
                  <a:pPr>
                    <a:defRPr sz="1875" b="1">
                      <a:solidFill>
                        <a:srgbClr val="A94D16"/>
                      </a:solidFill>
                      <a:latin typeface="Arial"/>
                      <a:ea typeface="Arial"/>
                      <a:cs typeface="Arial"/>
                    </a:defRPr>
                  </a:pPr>
                </a:p>
              </c:txPr>
              <c:showLegendKey val="0"/>
              <c:showVal val="0"/>
              <c:showCatName val="0"/>
              <c:showSerName val="0"/>
              <c:showPercent val="0"/>
              <c:showBubbleSize val="0"/>
            </c:dLbl>
          </c:dLbls>
          <c:xVal>
            <c:numRef>
              <c:f>'Chart Data'!$BE$2:$BE$2</c:f>
              <c:numCache>
                <c:formatCode>General</c:formatCode>
                <c:ptCount val="1"/>
                <c:pt idx="0">
                  <c:v>126.4</c:v>
                </c:pt>
              </c:numCache>
            </c:numRef>
          </c:xVal>
          <c:yVal>
            <c:numRef>
              <c:f>'Chart Data'!$BF$2:$BF$2</c:f>
              <c:numCache>
                <c:formatCode>0</c:formatCode>
                <c:ptCount val="1"/>
                <c:pt idx="0">
                  <c:v>33.6</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80"/>
          <c:min val="0"/>
        </c:scaling>
        <c:delete val="0"/>
        <c:axPos val="l"/>
        <c:majorGridlines>
          <c:spPr>
            <a:ln xmlns:a="http://schemas.openxmlformats.org/drawingml/2006/main" w="9525">
              <a:solidFill>
                <a:srgbClr val="C6D2DB"/>
              </a:solidFill>
            </a:ln>
          </c:spPr>
        </c:majorGridlines>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P (€ per rugzak)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50112"/>
        <c:majorUnit val="10"/>
      </c:valAx>
      <c:valAx>
        <c:axId val="48650112"/>
        <c:scaling>
          <c:orientation val="minMax"/>
          <c:max val="160"/>
          <c:min val="0"/>
        </c:scaling>
        <c:delete val="0"/>
        <c:axPos val="b"/>
        <c:title>
          <c:tx>
            <c:rich>
              <a:bodyPr xmlns:a="http://schemas.openxmlformats.org/drawingml/2006/main"/>
              <a:lstStyle xmlns:a="http://schemas.openxmlformats.org/drawingml/2006/main"/>
              <a:p xmlns:a="http://schemas.openxmlformats.org/drawingml/2006/main">
                <a:r>
                  <a:rPr sz="1875">
                    <a:solidFill>
                      <a:srgbClr val="183247"/>
                    </a:solidFill>
                    <a:latin typeface="Arial"/>
                    <a:ea typeface="Arial"/>
                    <a:cs typeface="Arial"/>
                  </a:rPr>
                  <a:t>Q (rugzakken per week)</a:t>
                </a:r>
              </a:p>
            </c:rich>
          </c:tx>
          <c:overlay val="0"/>
          <c:txPr>
            <a:bodyPr xmlns:a="http://schemas.openxmlformats.org/drawingml/2006/main" anchorCtr="1"/>
            <a:lstStyle xmlns:a="http://schemas.openxmlformats.org/drawingml/2006/main"/>
            <a:p xmlns:a="http://schemas.openxmlformats.org/drawingml/2006/main">
              <a:pPr>
                <a:defRPr sz="1875">
                  <a:solidFill>
                    <a:srgbClr val="183247"/>
                  </a:solidFill>
                  <a:latin typeface="Arial"/>
                  <a:ea typeface="Arial"/>
                  <a:cs typeface="Arial"/>
                </a:defRPr>
              </a:pPr>
            </a:p>
          </c:txPr>
        </c:title>
        <c:numFmt formatCode="0"/>
        <c:majorTickMark val="none"/>
        <c:minorTickMark val="none"/>
        <c:spPr>
          <a:ln xmlns:a="http://schemas.openxmlformats.org/drawingml/2006/main" w="14288">
            <a:solidFill>
              <a:srgbClr val="183247"/>
            </a:solidFill>
          </a:ln>
        </c:spPr>
        <c:txPr>
          <a:bodyPr xmlns:a="http://schemas.openxmlformats.org/drawingml/2006/main" anchorCtr="1"/>
          <a:lstStyle xmlns:a="http://schemas.openxmlformats.org/drawingml/2006/main"/>
          <a:p xmlns:a="http://schemas.openxmlformats.org/drawingml/2006/main">
            <a:pPr>
              <a:defRPr sz="1800">
                <a:solidFill>
                  <a:srgbClr val="183247"/>
                </a:solidFill>
                <a:latin typeface="Arial"/>
                <a:ea typeface="Arial"/>
                <a:cs typeface="Arial"/>
              </a:defRPr>
            </a:pPr>
          </a:p>
        </c:txPr>
        <c:crossAx val="48672768"/>
        <c:majorUnit val="2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3.3 Protectionisme">
            <a:extLst xmlns:a="http://schemas.openxmlformats.org/drawingml/2006/main">
              <a:ext uri="{FF2B5EF4-FFF2-40B4-BE49-F238E27FC236}">
                <a16:creationId xmlns:a16="http://schemas.microsoft.com/office/drawing/2014/main" id="{96FB21C1-3A44-4E05-ABBC-335E3A649290}"/>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Deze les: §3.3.3 Protectionisme</a:t>
            </a:r>
          </a:p>
        </p:txBody>
      </p:sp>
      <p:sp>
        <p:nvSpPr>
          <p:cNvPr id="2" name="">
            <a:extLst xmlns:a="http://schemas.openxmlformats.org/drawingml/2006/main">
              <a:ext uri="{FF2B5EF4-FFF2-40B4-BE49-F238E27FC236}">
                <a16:creationId xmlns:a16="http://schemas.microsoft.com/office/drawing/2014/main" id="{F13E4B3D-F863-4AC3-8F94-33E86A939FA3}"/>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48921F6D-C6E1-41C9-81F7-09DE103A416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1">
            <a:extLst xmlns:a="http://schemas.openxmlformats.org/drawingml/2006/main">
              <a:ext uri="{FF2B5EF4-FFF2-40B4-BE49-F238E27FC236}">
                <a16:creationId xmlns:a16="http://schemas.microsoft.com/office/drawing/2014/main" id="{8B8629FE-937E-4E80-ACAB-3F8BBCC8C39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62B015F5-F5F5-489A-B15F-D55994A109BA}"/>
              </a:ext>
            </a:extLst>
          </p:cNvPr>
          <p:cNvSpPr>
            <a:spLocks xmlns:a="http://schemas.openxmlformats.org/drawingml/2006/main" noGrp="1"/>
          </p:cNvSpPr>
          <p:nvPr/>
        </p:nvSpPr>
        <p:spPr>
          <a:xfrm xmlns:a="http://schemas.openxmlformats.org/drawingml/2006/main">
            <a:off x="571500" y="10477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2E03BD33-C1B6-41B1-ADD2-C70299C42EC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CA5B6010-8AAB-4CB9-BB25-C72B8D666962}"/>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CFC8CED6-CDF2-4644-BFA2-37DD08A8B31B}"/>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pen en rekenmachine.</a:t>
            </a:r>
          </a:p>
        </p:txBody>
      </p:sp>
      <p:sp>
        <p:nvSpPr>
          <p:cNvPr id="9" name="route-number-1">
            <a:extLst xmlns:a="http://schemas.openxmlformats.org/drawingml/2006/main">
              <a:ext uri="{FF2B5EF4-FFF2-40B4-BE49-F238E27FC236}">
                <a16:creationId xmlns:a16="http://schemas.microsoft.com/office/drawing/2014/main" id="{F31440F8-718F-41E8-A68A-541184A8B465}"/>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4C5B4DB1-8D69-43B0-90E0-37F081873401}"/>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79F7947A-307B-4446-93D4-D8923712429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64721838-11A7-4046-A1FE-5D4C1144A363}"/>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CC5870E1-E83B-467E-A909-4AA59FF1A612}"/>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F9C2CC99-6024-4F54-A67B-0BCE61BB7E3B}"/>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0BD63E3E-AC24-4132-A8C6-634603625D9F}"/>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6E590E5B-2695-46C1-B4B1-EE690B3CC0C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B49AB5A2-7C54-4E05-BA6B-2FA7FEE09978}"/>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78366B1F-ADBC-4999-BDC0-AB55977A1B90}"/>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27.</a:t>
            </a:r>
          </a:p>
        </p:txBody>
      </p:sp>
      <p:sp>
        <p:nvSpPr>
          <p:cNvPr id="19" name="route-number-6">
            <a:extLst xmlns:a="http://schemas.openxmlformats.org/drawingml/2006/main">
              <a:ext uri="{FF2B5EF4-FFF2-40B4-BE49-F238E27FC236}">
                <a16:creationId xmlns:a16="http://schemas.microsoft.com/office/drawing/2014/main" id="{21A4F872-228B-4A3E-8F2B-FBCD322AA7D7}"/>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4EB82775-C5DF-4042-B7AF-27FA2381FEA4}"/>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945F868-D844-4DAF-AE88-ABB34C5BA4E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A64D6CA1-36D1-4936-8E13-6032952B5B58}"/>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Import en opbrengst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Gevolgen per groep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Heffing en quotum vergelijken.</a:t>
            </a:r>
          </a:p>
        </p:txBody>
      </p:sp>
      <p:sp>
        <p:nvSpPr>
          <p:cNvPr id="23" name="">
            <a:extLst xmlns:a="http://schemas.openxmlformats.org/drawingml/2006/main">
              <a:ext uri="{FF2B5EF4-FFF2-40B4-BE49-F238E27FC236}">
                <a16:creationId xmlns:a16="http://schemas.microsoft.com/office/drawing/2014/main" id="{63D6E112-D565-4A63-84B5-3B7F00E2BF02}"/>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D754AC29-60F5-429B-9C73-437EE6166D01}"/>
              </a:ext>
            </a:extLst>
          </p:cNvPr>
          <p:cNvSpPr>
            <a:spLocks xmlns:a="http://schemas.openxmlformats.org/drawingml/2006/main" noGrp="1"/>
          </p:cNvSpPr>
          <p:nvPr/>
        </p:nvSpPr>
        <p:spPr>
          <a:xfrm xmlns:a="http://schemas.openxmlformats.org/drawingml/2006/main">
            <a:off x="9258300" y="38195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746F99F2-0D67-4090-937A-FBB41B244F46}"/>
              </a:ext>
            </a:extLst>
          </p:cNvPr>
          <p:cNvSpPr>
            <a:spLocks xmlns:a="http://schemas.openxmlformats.org/drawingml/2006/main" noGrp="1"/>
          </p:cNvSpPr>
          <p:nvPr/>
        </p:nvSpPr>
        <p:spPr>
          <a:xfrm xmlns:a="http://schemas.openxmlformats.org/drawingml/2006/main">
            <a:off x="9258300" y="4362450"/>
            <a:ext cx="5381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112 · Opgaven 21 en 22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22: verkennen, theorie p. 108–109</a:t>
            </a:r>
          </a:p>
        </p:txBody>
      </p:sp>
      <p:sp>
        <p:nvSpPr>
          <p:cNvPr id="26" name="">
            <a:extLst xmlns:a="http://schemas.openxmlformats.org/drawingml/2006/main">
              <a:ext uri="{FF2B5EF4-FFF2-40B4-BE49-F238E27FC236}">
                <a16:creationId xmlns:a16="http://schemas.microsoft.com/office/drawing/2014/main" id="{B04B58A9-C095-4411-9A36-279F19798CBB}"/>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8131752-2037-449B-AE31-704EB93C6F14}"/>
              </a:ext>
            </a:extLst>
          </p:cNvPr>
          <p:cNvSpPr>
            <a:spLocks xmlns:a="http://schemas.openxmlformats.org/drawingml/2006/main" noGrp="1"/>
          </p:cNvSpPr>
          <p:nvPr/>
        </p:nvSpPr>
        <p:spPr>
          <a:xfrm xmlns:a="http://schemas.openxmlformats.org/drawingml/2006/main">
            <a:off x="9258300" y="5715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E7FFEF28-DD8A-433B-9637-E8BF0038AFC5}"/>
              </a:ext>
            </a:extLst>
          </p:cNvPr>
          <p:cNvSpPr>
            <a:spLocks xmlns:a="http://schemas.openxmlformats.org/drawingml/2006/main" noGrp="1"/>
          </p:cNvSpPr>
          <p:nvPr/>
        </p:nvSpPr>
        <p:spPr>
          <a:xfrm xmlns:a="http://schemas.openxmlformats.org/drawingml/2006/main">
            <a:off x="9258300" y="6219825"/>
            <a:ext cx="538162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§3.3.3 Protectionisme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25 en 26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 23–27</a:t>
            </a:r>
          </a:p>
        </p:txBody>
      </p:sp>
    </p:spTree>
    <p:extLst>
      <p:ext uri="{BB962C8B-B14F-4D97-AF65-F5344CB8AC3E}">
        <p14:creationId xmlns:p14="http://schemas.microsoft.com/office/powerpoint/2010/main" val="8585389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644C9220-BE79-4E96-9A09-1361CDE60CA1}"/>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1248FE05-7AEA-494E-AABE-9558A54094B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D92EFA9A-5620-4BBC-8CAC-D8FBF53A1D90}"/>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2">
            <a:extLst xmlns:a="http://schemas.openxmlformats.org/drawingml/2006/main">
              <a:ext uri="{FF2B5EF4-FFF2-40B4-BE49-F238E27FC236}">
                <a16:creationId xmlns:a16="http://schemas.microsoft.com/office/drawing/2014/main" id="{1B6E8913-9F79-4BE1-8CC1-0CD39CDA3E49}"/>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Rekenen">
            <a:extLst xmlns:a="http://schemas.openxmlformats.org/drawingml/2006/main">
              <a:ext uri="{FF2B5EF4-FFF2-40B4-BE49-F238E27FC236}">
                <a16:creationId xmlns:a16="http://schemas.microsoft.com/office/drawing/2014/main" id="{F8BAF951-0DB3-420C-9C8D-BFB43A864412}"/>
              </a:ext>
            </a:extLst>
          </p:cNvPr>
          <p:cNvSpPr>
            <a:spLocks xmlns:a="http://schemas.openxmlformats.org/drawingml/2006/main" noGrp="1"/>
          </p:cNvSpPr>
          <p:nvPr/>
        </p:nvSpPr>
        <p:spPr>
          <a:xfrm xmlns:a="http://schemas.openxmlformats.org/drawingml/2006/main">
            <a:off x="571500" y="20288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Rekenen</a:t>
            </a:r>
          </a:p>
        </p:txBody>
      </p:sp>
      <p:sp>
        <p:nvSpPr>
          <p:cNvPr id="6" name="Import en heffingsopbrengst, met eenheden.">
            <a:extLst xmlns:a="http://schemas.openxmlformats.org/drawingml/2006/main">
              <a:ext uri="{FF2B5EF4-FFF2-40B4-BE49-F238E27FC236}">
                <a16:creationId xmlns:a16="http://schemas.microsoft.com/office/drawing/2014/main" id="{98A5E026-0887-42BF-B7C1-6A1B30116207}"/>
              </a:ext>
            </a:extLst>
          </p:cNvPr>
          <p:cNvSpPr>
            <a:spLocks xmlns:a="http://schemas.openxmlformats.org/drawingml/2006/main" noGrp="1"/>
          </p:cNvSpPr>
          <p:nvPr/>
        </p:nvSpPr>
        <p:spPr>
          <a:xfrm xmlns:a="http://schemas.openxmlformats.org/drawingml/2006/main">
            <a:off x="4476750" y="2028825"/>
            <a:ext cx="10191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Import en heffingsopbrengst, met eenheden.</a:t>
            </a:r>
          </a:p>
        </p:txBody>
      </p:sp>
      <p:sp>
        <p:nvSpPr>
          <p:cNvPr id="7" name="Tekenen">
            <a:extLst xmlns:a="http://schemas.openxmlformats.org/drawingml/2006/main">
              <a:ext uri="{FF2B5EF4-FFF2-40B4-BE49-F238E27FC236}">
                <a16:creationId xmlns:a16="http://schemas.microsoft.com/office/drawing/2014/main" id="{DC7F8F6D-9ED7-4C6E-89CC-21961DAD653E}"/>
              </a:ext>
            </a:extLst>
          </p:cNvPr>
          <p:cNvSpPr>
            <a:spLocks xmlns:a="http://schemas.openxmlformats.org/drawingml/2006/main" noGrp="1"/>
          </p:cNvSpPr>
          <p:nvPr/>
        </p:nvSpPr>
        <p:spPr>
          <a:xfrm xmlns:a="http://schemas.openxmlformats.org/drawingml/2006/main">
            <a:off x="571500" y="33813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Tekenen</a:t>
            </a:r>
          </a:p>
        </p:txBody>
      </p:sp>
      <p:sp>
        <p:nvSpPr>
          <p:cNvPr id="8" name="De juiste opbrengstrechthoek in de marktgrafiek.">
            <a:extLst xmlns:a="http://schemas.openxmlformats.org/drawingml/2006/main">
              <a:ext uri="{FF2B5EF4-FFF2-40B4-BE49-F238E27FC236}">
                <a16:creationId xmlns:a16="http://schemas.microsoft.com/office/drawing/2014/main" id="{0F665C37-E6A2-4535-9705-B99D6CCCF556}"/>
              </a:ext>
            </a:extLst>
          </p:cNvPr>
          <p:cNvSpPr>
            <a:spLocks xmlns:a="http://schemas.openxmlformats.org/drawingml/2006/main" noGrp="1"/>
          </p:cNvSpPr>
          <p:nvPr/>
        </p:nvSpPr>
        <p:spPr>
          <a:xfrm xmlns:a="http://schemas.openxmlformats.org/drawingml/2006/main">
            <a:off x="4476750" y="3381375"/>
            <a:ext cx="10191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De juiste opbrengstrechthoek in de marktgrafiek.</a:t>
            </a:r>
          </a:p>
        </p:txBody>
      </p:sp>
      <p:sp>
        <p:nvSpPr>
          <p:cNvPr id="9" name="Verklaren">
            <a:extLst xmlns:a="http://schemas.openxmlformats.org/drawingml/2006/main">
              <a:ext uri="{FF2B5EF4-FFF2-40B4-BE49-F238E27FC236}">
                <a16:creationId xmlns:a16="http://schemas.microsoft.com/office/drawing/2014/main" id="{478C244E-FE52-4D7A-A5ED-00BC5462C863}"/>
              </a:ext>
            </a:extLst>
          </p:cNvPr>
          <p:cNvSpPr>
            <a:spLocks xmlns:a="http://schemas.openxmlformats.org/drawingml/2006/main" noGrp="1"/>
          </p:cNvSpPr>
          <p:nvPr/>
        </p:nvSpPr>
        <p:spPr>
          <a:xfrm xmlns:a="http://schemas.openxmlformats.org/drawingml/2006/main">
            <a:off x="571500" y="47339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Verklaren</a:t>
            </a:r>
          </a:p>
        </p:txBody>
      </p:sp>
      <p:sp>
        <p:nvSpPr>
          <p:cNvPr id="10" name="Gevolgen voor kopers, producenten en overheid.">
            <a:extLst xmlns:a="http://schemas.openxmlformats.org/drawingml/2006/main">
              <a:ext uri="{FF2B5EF4-FFF2-40B4-BE49-F238E27FC236}">
                <a16:creationId xmlns:a16="http://schemas.microsoft.com/office/drawing/2014/main" id="{81C55854-711D-4B94-A998-85A8B2528DD5}"/>
              </a:ext>
            </a:extLst>
          </p:cNvPr>
          <p:cNvSpPr>
            <a:spLocks xmlns:a="http://schemas.openxmlformats.org/drawingml/2006/main" noGrp="1"/>
          </p:cNvSpPr>
          <p:nvPr/>
        </p:nvSpPr>
        <p:spPr>
          <a:xfrm xmlns:a="http://schemas.openxmlformats.org/drawingml/2006/main">
            <a:off x="4476750" y="4733925"/>
            <a:ext cx="10191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Gevolgen voor kopers, producenten en overheid.</a:t>
            </a:r>
          </a:p>
        </p:txBody>
      </p:sp>
      <p:sp>
        <p:nvSpPr>
          <p:cNvPr id="11" name="Beoordelen">
            <a:extLst xmlns:a="http://schemas.openxmlformats.org/drawingml/2006/main">
              <a:ext uri="{FF2B5EF4-FFF2-40B4-BE49-F238E27FC236}">
                <a16:creationId xmlns:a16="http://schemas.microsoft.com/office/drawing/2014/main" id="{C6E19F33-ED9B-4096-B3E1-4B197CCE1607}"/>
              </a:ext>
            </a:extLst>
          </p:cNvPr>
          <p:cNvSpPr>
            <a:spLocks xmlns:a="http://schemas.openxmlformats.org/drawingml/2006/main" noGrp="1"/>
          </p:cNvSpPr>
          <p:nvPr/>
        </p:nvSpPr>
        <p:spPr>
          <a:xfrm xmlns:a="http://schemas.openxmlformats.org/drawingml/2006/main">
            <a:off x="571500" y="60864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A5276"/>
                </a:solidFill>
                <a:latin typeface="Arial"/>
                <a:ea typeface="Arial"/>
                <a:cs typeface="Arial"/>
              </a:defRPr>
            </a:pPr>
            <a:r>
              <a:rPr sz="3000" b="1">
                <a:solidFill>
                  <a:srgbClr val="1A5276"/>
                </a:solidFill>
                <a:latin typeface="Arial"/>
                <a:ea typeface="Arial"/>
                <a:cs typeface="Arial"/>
              </a:rPr>
              <a:t>Beoordelen</a:t>
            </a:r>
          </a:p>
        </p:txBody>
      </p:sp>
      <p:sp>
        <p:nvSpPr>
          <p:cNvPr id="12" name="Een beleidsdoel, het quotum en de grens zonder import.">
            <a:extLst xmlns:a="http://schemas.openxmlformats.org/drawingml/2006/main">
              <a:ext uri="{FF2B5EF4-FFF2-40B4-BE49-F238E27FC236}">
                <a16:creationId xmlns:a16="http://schemas.microsoft.com/office/drawing/2014/main" id="{42149636-7FB3-448E-AAAB-9D2B1B8C7E24}"/>
              </a:ext>
            </a:extLst>
          </p:cNvPr>
          <p:cNvSpPr>
            <a:spLocks xmlns:a="http://schemas.openxmlformats.org/drawingml/2006/main" noGrp="1"/>
          </p:cNvSpPr>
          <p:nvPr/>
        </p:nvSpPr>
        <p:spPr>
          <a:xfrm xmlns:a="http://schemas.openxmlformats.org/drawingml/2006/main">
            <a:off x="4476750" y="6086475"/>
            <a:ext cx="10191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0">
                <a:solidFill>
                  <a:srgbClr val="183247"/>
                </a:solidFill>
                <a:latin typeface="Arial"/>
                <a:ea typeface="Arial"/>
                <a:cs typeface="Arial"/>
              </a:defRPr>
            </a:pPr>
            <a:r>
              <a:rPr sz="2850" b="0">
                <a:solidFill>
                  <a:srgbClr val="183247"/>
                </a:solidFill>
                <a:latin typeface="Arial"/>
                <a:ea typeface="Arial"/>
                <a:cs typeface="Arial"/>
              </a:rPr>
              <a:t>Een beleidsdoel, het quotum en de grens zonder import.</a:t>
            </a:r>
          </a:p>
        </p:txBody>
      </p:sp>
    </p:spTree>
    <p:extLst>
      <p:ext uri="{BB962C8B-B14F-4D97-AF65-F5344CB8AC3E}">
        <p14:creationId xmlns:p14="http://schemas.microsoft.com/office/powerpoint/2010/main" val="7008793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Protectionisme: bescherming tegen buitenlandse concurrentie">
            <a:extLst xmlns:a="http://schemas.openxmlformats.org/drawingml/2006/main">
              <a:ext uri="{FF2B5EF4-FFF2-40B4-BE49-F238E27FC236}">
                <a16:creationId xmlns:a16="http://schemas.microsoft.com/office/drawing/2014/main" id="{1EF6E40A-FB9E-4109-8F7D-378AF846FD33}"/>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Protectionisme: bescherming tegen buitenlandse concurrentie</a:t>
            </a:r>
          </a:p>
        </p:txBody>
      </p:sp>
      <p:sp>
        <p:nvSpPr>
          <p:cNvPr id="2" name="">
            <a:extLst xmlns:a="http://schemas.openxmlformats.org/drawingml/2006/main">
              <a:ext uri="{FF2B5EF4-FFF2-40B4-BE49-F238E27FC236}">
                <a16:creationId xmlns:a16="http://schemas.microsoft.com/office/drawing/2014/main" id="{D48DCB86-3565-4FAA-ACCC-5C6A7FA2727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7A70AF81-C3D7-44FF-8FB6-BAE7EB7E475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3">
            <a:extLst xmlns:a="http://schemas.openxmlformats.org/drawingml/2006/main">
              <a:ext uri="{FF2B5EF4-FFF2-40B4-BE49-F238E27FC236}">
                <a16:creationId xmlns:a16="http://schemas.microsoft.com/office/drawing/2014/main" id="{D7853225-CEC8-456F-BFE8-78C3C83674C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graphicFrame>
        <p:nvGraphicFramePr>
          <p:cNvPr id="12" name=""/>
          <p:cNvGraphicFramePr/>
          <p:nvPr/>
        </p:nvGraphicFramePr>
        <p:xfrm>
          <a:off xmlns:a="http://schemas.openxmlformats.org/drawingml/2006/main" x="571500" y="2162175"/>
          <a:ext xmlns:a="http://schemas.openxmlformats.org/drawingml/2006/main" cx="14097000" cy="3019425"/>
        </p:xfrm>
        <a:graphic xmlns:a="http://schemas.openxmlformats.org/drawingml/2006/main">
          <a:graphicData uri="http://schemas.openxmlformats.org/drawingml/2006/table">
            <a:tbl>
              <a:tblPr/>
              <a:tblGrid>
                <a:gridCol w="5524500"/>
                <a:gridCol w="8572500"/>
              </a:tblGrid>
              <a:tr h="1006475">
                <a:tc>
                  <a:txBody>
                    <a:bodyPr lIns="161925" tIns="95250" rIns="142875" bIns="95250"/>
                    <a:lstStyle/>
                    <a:p>
                      <a:r>
                        <a:rPr sz="2625" b="1">
                          <a:solidFill>
                            <a:srgbClr val="FFFFFF"/>
                          </a:solidFill>
                          <a:latin typeface="Arial"/>
                          <a:ea typeface="Arial"/>
                          <a:cs typeface="Arial"/>
                        </a:rPr>
                        <a:t>Instrument</a:t>
                      </a:r>
                    </a:p>
                  </a:txBody>
                  <a:tcPr marL="91440" marR="91440" marT="45720" marB="45720" anchor="ctr">
                    <a:solidFill>
                      <a:srgbClr val="183247"/>
                    </a:solidFill>
                  </a:tcPr>
                </a:tc>
                <a:tc>
                  <a:txBody>
                    <a:bodyPr lIns="161925" tIns="95250" rIns="142875" bIns="95250"/>
                    <a:lstStyle/>
                    <a:p>
                      <a:r>
                        <a:rPr sz="2625" b="1">
                          <a:solidFill>
                            <a:srgbClr val="FFFFFF"/>
                          </a:solidFill>
                          <a:latin typeface="Arial"/>
                          <a:ea typeface="Arial"/>
                          <a:cs typeface="Arial"/>
                        </a:rPr>
                        <a:t>Hoe werkt het?</a:t>
                      </a:r>
                    </a:p>
                  </a:txBody>
                  <a:tcPr marL="91440" marR="91440" marT="45720" marB="45720" anchor="ctr">
                    <a:solidFill>
                      <a:srgbClr val="183247"/>
                    </a:solidFill>
                  </a:tcPr>
                </a:tc>
              </a:tr>
              <a:tr h="1006475">
                <a:tc>
                  <a:txBody>
                    <a:bodyPr lIns="161925" tIns="95250" rIns="142875" bIns="95250"/>
                    <a:lstStyle/>
                    <a:p>
                      <a:r>
                        <a:rPr sz="2625" b="0">
                          <a:solidFill>
                            <a:srgbClr val="183247"/>
                          </a:solidFill>
                          <a:latin typeface="Arial"/>
                          <a:ea typeface="Arial"/>
                          <a:cs typeface="Arial"/>
                        </a:rPr>
                        <a:t>Invoerheffing</a:t>
                      </a:r>
                    </a:p>
                  </a:txBody>
                  <a:tcPr marL="91440" marR="91440" marT="45720" marB="45720" anchor="ctr">
                    <a:solidFill>
                      <a:srgbClr val="FFFFFF"/>
                    </a:solidFill>
                  </a:tcPr>
                </a:tc>
                <a:tc>
                  <a:txBody>
                    <a:bodyPr lIns="161925" tIns="95250" rIns="142875" bIns="95250"/>
                    <a:lstStyle/>
                    <a:p>
                      <a:r>
                        <a:rPr sz="2625" b="0">
                          <a:solidFill>
                            <a:srgbClr val="183247"/>
                          </a:solidFill>
                          <a:latin typeface="Arial"/>
                          <a:ea typeface="Arial"/>
                          <a:cs typeface="Arial"/>
                        </a:rPr>
                        <a:t>Een bedrag per ingevoerd product</a:t>
                      </a:r>
                    </a:p>
                  </a:txBody>
                  <a:tcPr marL="91440" marR="91440" marT="45720" marB="45720" anchor="ctr">
                    <a:solidFill>
                      <a:srgbClr val="FFFFFF"/>
                    </a:solidFill>
                  </a:tcPr>
                </a:tc>
              </a:tr>
              <a:tr h="1006475">
                <a:tc>
                  <a:txBody>
                    <a:bodyPr lIns="161925" tIns="95250" rIns="142875" bIns="95250"/>
                    <a:lstStyle/>
                    <a:p>
                      <a:r>
                        <a:rPr sz="2625" b="0">
                          <a:solidFill>
                            <a:srgbClr val="183247"/>
                          </a:solidFill>
                          <a:latin typeface="Arial"/>
                          <a:ea typeface="Arial"/>
                          <a:cs typeface="Arial"/>
                        </a:rPr>
                        <a:t>Importquotum</a:t>
                      </a:r>
                    </a:p>
                  </a:txBody>
                  <a:tcPr marL="91440" marR="91440" marT="45720" marB="45720" anchor="ctr">
                    <a:solidFill>
                      <a:srgbClr val="EFF4F7"/>
                    </a:solidFill>
                  </a:tcPr>
                </a:tc>
                <a:tc>
                  <a:txBody>
                    <a:bodyPr lIns="161925" tIns="95250" rIns="142875" bIns="95250"/>
                    <a:lstStyle/>
                    <a:p>
                      <a:r>
                        <a:rPr sz="2625" b="0">
                          <a:solidFill>
                            <a:srgbClr val="183247"/>
                          </a:solidFill>
                          <a:latin typeface="Arial"/>
                          <a:ea typeface="Arial"/>
                          <a:cs typeface="Arial"/>
                        </a:rPr>
                        <a:t>Een maximum aan invoer per periode</a:t>
                      </a:r>
                    </a:p>
                  </a:txBody>
                  <a:tcPr marL="91440" marR="91440" marT="45720" marB="45720" anchor="ctr">
                    <a:solidFill>
                      <a:srgbClr val="EFF4F7"/>
                    </a:solidFill>
                  </a:tcPr>
                </a:tc>
              </a:tr>
            </a:tbl>
          </a:graphicData>
        </a:graphic>
      </p:graphicFrame>
      <p:sp>
        <p:nvSpPr>
          <p:cNvPr id="6" name="Doel uit de bron: bijvoorbeeld meer binnenlandse productie.">
            <a:extLst xmlns:a="http://schemas.openxmlformats.org/drawingml/2006/main">
              <a:ext uri="{FF2B5EF4-FFF2-40B4-BE49-F238E27FC236}">
                <a16:creationId xmlns:a16="http://schemas.microsoft.com/office/drawing/2014/main" id="{322C1CD8-3FEC-4894-9AE0-E79CD82D0573}"/>
              </a:ext>
            </a:extLst>
          </p:cNvPr>
          <p:cNvSpPr>
            <a:spLocks xmlns:a="http://schemas.openxmlformats.org/drawingml/2006/main" noGrp="1"/>
          </p:cNvSpPr>
          <p:nvPr/>
        </p:nvSpPr>
        <p:spPr>
          <a:xfrm xmlns:a="http://schemas.openxmlformats.org/drawingml/2006/main">
            <a:off x="571500" y="576262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Doel uit de bron: bijvoorbeeld meer binnenlandse productie.</a:t>
            </a:r>
          </a:p>
        </p:txBody>
      </p:sp>
      <p:sp>
        <p:nvSpPr>
          <p:cNvPr id="7" name="De gevolgen verschillen per groep.">
            <a:extLst xmlns:a="http://schemas.openxmlformats.org/drawingml/2006/main">
              <a:ext uri="{FF2B5EF4-FFF2-40B4-BE49-F238E27FC236}">
                <a16:creationId xmlns:a16="http://schemas.microsoft.com/office/drawing/2014/main" id="{84568A4C-732F-4915-8916-65558B8CD98C}"/>
              </a:ext>
            </a:extLst>
          </p:cNvPr>
          <p:cNvSpPr>
            <a:spLocks xmlns:a="http://schemas.openxmlformats.org/drawingml/2006/main" noGrp="1"/>
          </p:cNvSpPr>
          <p:nvPr/>
        </p:nvSpPr>
        <p:spPr>
          <a:xfrm xmlns:a="http://schemas.openxmlformats.org/drawingml/2006/main">
            <a:off x="571500" y="69151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De gevolgen verschillen per groep.</a:t>
            </a:r>
          </a:p>
        </p:txBody>
      </p:sp>
    </p:spTree>
    <p:extLst>
      <p:ext uri="{BB962C8B-B14F-4D97-AF65-F5344CB8AC3E}">
        <p14:creationId xmlns:p14="http://schemas.microsoft.com/office/powerpoint/2010/main" val="103032967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Fietslampen in Linde">
            <a:extLst xmlns:a="http://schemas.openxmlformats.org/drawingml/2006/main">
              <a:ext uri="{FF2B5EF4-FFF2-40B4-BE49-F238E27FC236}">
                <a16:creationId xmlns:a16="http://schemas.microsoft.com/office/drawing/2014/main" id="{CD83D031-FEA3-4A43-A775-AA04F7EE8925}"/>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Fietslampen in Linde</a:t>
            </a:r>
          </a:p>
        </p:txBody>
      </p:sp>
      <p:sp>
        <p:nvSpPr>
          <p:cNvPr id="2" name="">
            <a:extLst xmlns:a="http://schemas.openxmlformats.org/drawingml/2006/main">
              <a:ext uri="{FF2B5EF4-FFF2-40B4-BE49-F238E27FC236}">
                <a16:creationId xmlns:a16="http://schemas.microsoft.com/office/drawing/2014/main" id="{32A1B17E-712A-4CB5-A63E-920994D83CC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345DF495-4033-4C39-BA39-C5A9CC9AD42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4">
            <a:extLst xmlns:a="http://schemas.openxmlformats.org/drawingml/2006/main">
              <a:ext uri="{FF2B5EF4-FFF2-40B4-BE49-F238E27FC236}">
                <a16:creationId xmlns:a16="http://schemas.microsoft.com/office/drawing/2014/main" id="{3DE4211D-0163-406F-9C09-F06AB8F57C8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Uitlegvoorbeeld — niet uit het boek">
            <a:extLst xmlns:a="http://schemas.openxmlformats.org/drawingml/2006/main">
              <a:ext uri="{FF2B5EF4-FFF2-40B4-BE49-F238E27FC236}">
                <a16:creationId xmlns:a16="http://schemas.microsoft.com/office/drawing/2014/main" id="{2295D34C-8C83-4EA4-B0E4-3DC618AA56FA}"/>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381250"/>
          <a:ext xmlns:a="http://schemas.openxmlformats.org/drawingml/2006/main" cx="14097000" cy="3248025"/>
        </p:xfrm>
        <a:graphic xmlns:a="http://schemas.openxmlformats.org/drawingml/2006/main">
          <a:graphicData uri="http://schemas.openxmlformats.org/drawingml/2006/table">
            <a:tbl>
              <a:tblPr/>
              <a:tblGrid>
                <a:gridCol w="5429250"/>
                <a:gridCol w="8667750"/>
              </a:tblGrid>
              <a:tr h="812006">
                <a:tc>
                  <a:txBody>
                    <a:bodyPr lIns="161925" tIns="95250" rIns="142875" bIns="95250"/>
                    <a:lstStyle/>
                    <a:p>
                      <a:r>
                        <a:rPr sz="2625" b="1">
                          <a:solidFill>
                            <a:srgbClr val="FFFFFF"/>
                          </a:solidFill>
                          <a:latin typeface="Arial"/>
                          <a:ea typeface="Arial"/>
                          <a:cs typeface="Arial"/>
                        </a:rPr>
                        <a:t>Gegeven</a:t>
                      </a:r>
                    </a:p>
                  </a:txBody>
                  <a:tcPr marL="91440" marR="91440" marT="45720" marB="45720" anchor="ctr">
                    <a:solidFill>
                      <a:srgbClr val="183247"/>
                    </a:solidFill>
                  </a:tcPr>
                </a:tc>
                <a:tc>
                  <a:txBody>
                    <a:bodyPr lIns="161925" tIns="95250" rIns="142875" bIns="95250"/>
                    <a:lstStyle/>
                    <a:p>
                      <a:r>
                        <a:rPr sz="2625" b="1">
                          <a:solidFill>
                            <a:srgbClr val="FFFFFF"/>
                          </a:solidFill>
                          <a:latin typeface="Arial"/>
                          <a:ea typeface="Arial"/>
                          <a:cs typeface="Arial"/>
                        </a:rPr>
                        <a:t>Situatie per week</a:t>
                      </a:r>
                    </a:p>
                  </a:txBody>
                  <a:tcPr marL="91440" marR="91440" marT="45720" marB="45720" anchor="ctr">
                    <a:solidFill>
                      <a:srgbClr val="183247"/>
                    </a:solidFill>
                  </a:tcPr>
                </a:tc>
              </a:tr>
              <a:tr h="812006">
                <a:tc>
                  <a:txBody>
                    <a:bodyPr lIns="161925" tIns="95250" rIns="142875" bIns="95250"/>
                    <a:lstStyle/>
                    <a:p>
                      <a:r>
                        <a:rPr sz="2625" b="0">
                          <a:solidFill>
                            <a:srgbClr val="183247"/>
                          </a:solidFill>
                          <a:latin typeface="Arial"/>
                          <a:ea typeface="Arial"/>
                          <a:cs typeface="Arial"/>
                        </a:rPr>
                        <a:t>Wereldmarktprijs</a:t>
                      </a:r>
                    </a:p>
                  </a:txBody>
                  <a:tcPr marL="91440" marR="91440" marT="45720" marB="45720" anchor="ctr">
                    <a:solidFill>
                      <a:srgbClr val="FFFFFF"/>
                    </a:solidFill>
                  </a:tcPr>
                </a:tc>
                <a:tc>
                  <a:txBody>
                    <a:bodyPr lIns="161925" tIns="95250" rIns="142875" bIns="95250"/>
                    <a:lstStyle/>
                    <a:p>
                      <a:r>
                        <a:rPr sz="2625" b="0">
                          <a:solidFill>
                            <a:srgbClr val="183247"/>
                          </a:solidFill>
                          <a:latin typeface="Arial"/>
                          <a:ea typeface="Arial"/>
                          <a:cs typeface="Arial"/>
                        </a:rPr>
                        <a:t>€ 18 per fietslamp</a:t>
                      </a:r>
                    </a:p>
                  </a:txBody>
                  <a:tcPr marL="91440" marR="91440" marT="45720" marB="45720" anchor="ctr">
                    <a:solidFill>
                      <a:srgbClr val="FFFFFF"/>
                    </a:solidFill>
                  </a:tcPr>
                </a:tc>
              </a:tr>
              <a:tr h="812006">
                <a:tc>
                  <a:txBody>
                    <a:bodyPr lIns="161925" tIns="95250" rIns="142875" bIns="95250"/>
                    <a:lstStyle/>
                    <a:p>
                      <a:r>
                        <a:rPr sz="2625" b="0">
                          <a:solidFill>
                            <a:srgbClr val="183247"/>
                          </a:solidFill>
                          <a:latin typeface="Arial"/>
                          <a:ea typeface="Arial"/>
                          <a:cs typeface="Arial"/>
                        </a:rPr>
                        <a:t>Nieuwe invoerheffing</a:t>
                      </a:r>
                    </a:p>
                  </a:txBody>
                  <a:tcPr marL="91440" marR="91440" marT="45720" marB="45720" anchor="ctr">
                    <a:solidFill>
                      <a:srgbClr val="EFF4F7"/>
                    </a:solidFill>
                  </a:tcPr>
                </a:tc>
                <a:tc>
                  <a:txBody>
                    <a:bodyPr lIns="161925" tIns="95250" rIns="142875" bIns="95250"/>
                    <a:lstStyle/>
                    <a:p>
                      <a:r>
                        <a:rPr sz="2625" b="0">
                          <a:solidFill>
                            <a:srgbClr val="183247"/>
                          </a:solidFill>
                          <a:latin typeface="Arial"/>
                          <a:ea typeface="Arial"/>
                          <a:cs typeface="Arial"/>
                        </a:rPr>
                        <a:t>€ 4 per ingevoerde fietslamp</a:t>
                      </a:r>
                    </a:p>
                  </a:txBody>
                  <a:tcPr marL="91440" marR="91440" marT="45720" marB="45720" anchor="ctr">
                    <a:solidFill>
                      <a:srgbClr val="EFF4F7"/>
                    </a:solidFill>
                  </a:tcPr>
                </a:tc>
              </a:tr>
              <a:tr h="812006">
                <a:tc>
                  <a:txBody>
                    <a:bodyPr lIns="161925" tIns="95250" rIns="142875" bIns="95250"/>
                    <a:lstStyle/>
                    <a:p>
                      <a:r>
                        <a:rPr sz="2625" b="0">
                          <a:solidFill>
                            <a:srgbClr val="183247"/>
                          </a:solidFill>
                          <a:latin typeface="Arial"/>
                          <a:ea typeface="Arial"/>
                          <a:cs typeface="Arial"/>
                        </a:rPr>
                        <a:t>Beleidsdoel</a:t>
                      </a:r>
                    </a:p>
                  </a:txBody>
                  <a:tcPr marL="91440" marR="91440" marT="45720" marB="45720" anchor="ctr">
                    <a:solidFill>
                      <a:srgbClr val="FFFFFF"/>
                    </a:solidFill>
                  </a:tcPr>
                </a:tc>
                <a:tc>
                  <a:txBody>
                    <a:bodyPr lIns="161925" tIns="95250" rIns="142875" bIns="95250"/>
                    <a:lstStyle/>
                    <a:p>
                      <a:r>
                        <a:rPr sz="2625" b="0">
                          <a:solidFill>
                            <a:srgbClr val="183247"/>
                          </a:solidFill>
                          <a:latin typeface="Arial"/>
                          <a:ea typeface="Arial"/>
                          <a:cs typeface="Arial"/>
                        </a:rPr>
                        <a:t>Meer binnenlandse productie</a:t>
                      </a:r>
                    </a:p>
                  </a:txBody>
                  <a:tcPr marL="91440" marR="91440" marT="45720" marB="45720" anchor="ctr">
                    <a:solidFill>
                      <a:srgbClr val="FFFFFF"/>
                    </a:solidFill>
                  </a:tcPr>
                </a:tc>
              </a:tr>
            </a:tbl>
          </a:graphicData>
        </a:graphic>
      </p:graphicFrame>
      <p:sp>
        <p:nvSpPr>
          <p:cNvPr id="7" name="Klein prijsnemend land, veel concurrerende aanbieders, gelij">
            <a:extLst xmlns:a="http://schemas.openxmlformats.org/drawingml/2006/main">
              <a:ext uri="{FF2B5EF4-FFF2-40B4-BE49-F238E27FC236}">
                <a16:creationId xmlns:a16="http://schemas.microsoft.com/office/drawing/2014/main" id="{DDDB8E4D-9B7E-4E80-B951-34124E0E08F6}"/>
              </a:ext>
            </a:extLst>
          </p:cNvPr>
          <p:cNvSpPr>
            <a:spLocks xmlns:a="http://schemas.openxmlformats.org/drawingml/2006/main" noGrp="1"/>
          </p:cNvSpPr>
          <p:nvPr/>
        </p:nvSpPr>
        <p:spPr>
          <a:xfrm xmlns:a="http://schemas.openxmlformats.org/drawingml/2006/main">
            <a:off x="571500" y="605790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Klein prijsnemend land, veel concurrerende aanbieders, gelijkwaardige lampen.</a:t>
            </a:r>
          </a:p>
          <a:p xmlns:a="http://schemas.openxmlformats.org/drawingml/2006/main">
            <a:pPr algn="l">
              <a:defRPr sz="2475" b="0">
                <a:solidFill>
                  <a:srgbClr val="183247"/>
                </a:solidFill>
                <a:latin typeface="Arial"/>
                <a:ea typeface="Arial"/>
                <a:cs typeface="Arial"/>
              </a:defRPr>
            </a:pPr>
            <a:r>
              <a:rPr sz="2475" b="0">
                <a:solidFill>
                  <a:srgbClr val="183247"/>
                </a:solidFill>
                <a:latin typeface="Arial"/>
                <a:ea typeface="Arial"/>
                <a:cs typeface="Arial"/>
              </a:rPr>
              <a:t>Geen transportkosten, wisselkoersverandering of effecten op derden.</a:t>
            </a:r>
          </a:p>
        </p:txBody>
      </p:sp>
      <p:sp>
        <p:nvSpPr>
          <p:cNvPr id="8" name="Importeurs dragen de heffing af. Er blijft import.">
            <a:extLst xmlns:a="http://schemas.openxmlformats.org/drawingml/2006/main">
              <a:ext uri="{FF2B5EF4-FFF2-40B4-BE49-F238E27FC236}">
                <a16:creationId xmlns:a16="http://schemas.microsoft.com/office/drawing/2014/main" id="{81AE601B-5990-41BF-A028-A079B670A587}"/>
              </a:ext>
            </a:extLst>
          </p:cNvPr>
          <p:cNvSpPr>
            <a:spLocks xmlns:a="http://schemas.openxmlformats.org/drawingml/2006/main" noGrp="1"/>
          </p:cNvSpPr>
          <p:nvPr/>
        </p:nvSpPr>
        <p:spPr>
          <a:xfrm xmlns:a="http://schemas.openxmlformats.org/drawingml/2006/main">
            <a:off x="571500" y="7410450"/>
            <a:ext cx="1409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A5276"/>
                </a:solidFill>
                <a:latin typeface="Arial"/>
                <a:ea typeface="Arial"/>
                <a:cs typeface="Arial"/>
              </a:defRPr>
            </a:pPr>
            <a:r>
              <a:rPr sz="2475" b="1">
                <a:solidFill>
                  <a:srgbClr val="1A5276"/>
                </a:solidFill>
                <a:latin typeface="Arial"/>
                <a:ea typeface="Arial"/>
                <a:cs typeface="Arial"/>
              </a:rPr>
              <a:t>Importeurs dragen de heffing af. Er blijft import.</a:t>
            </a:r>
          </a:p>
        </p:txBody>
      </p:sp>
    </p:spTree>
    <p:extLst>
      <p:ext uri="{BB962C8B-B14F-4D97-AF65-F5344CB8AC3E}">
        <p14:creationId xmlns:p14="http://schemas.microsoft.com/office/powerpoint/2010/main" val="54034980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Vrije invoer: verbruik, productie en import">
            <a:extLst xmlns:a="http://schemas.openxmlformats.org/drawingml/2006/main">
              <a:ext uri="{FF2B5EF4-FFF2-40B4-BE49-F238E27FC236}">
                <a16:creationId xmlns:a16="http://schemas.microsoft.com/office/drawing/2014/main" id="{84931FA3-35E1-4F0F-8803-43EE316B73A7}"/>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Vrije invoer: verbruik, productie en import</a:t>
            </a:r>
          </a:p>
        </p:txBody>
      </p:sp>
      <p:sp>
        <p:nvSpPr>
          <p:cNvPr id="2" name="">
            <a:extLst xmlns:a="http://schemas.openxmlformats.org/drawingml/2006/main">
              <a:ext uri="{FF2B5EF4-FFF2-40B4-BE49-F238E27FC236}">
                <a16:creationId xmlns:a16="http://schemas.microsoft.com/office/drawing/2014/main" id="{0396AF51-4922-44A1-BD15-E562EBE2902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9ACAB917-6584-4364-AFE3-A2EBA142102C}"/>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5">
            <a:extLst xmlns:a="http://schemas.openxmlformats.org/drawingml/2006/main">
              <a:ext uri="{FF2B5EF4-FFF2-40B4-BE49-F238E27FC236}">
                <a16:creationId xmlns:a16="http://schemas.microsoft.com/office/drawing/2014/main" id="{68D0C682-5119-4B34-837E-9AD54341276A}"/>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B4DE7966-C473-497B-8A1E-F7F10B0F5FB8}"/>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419350"/>
          <a:ext xmlns:a="http://schemas.openxmlformats.org/drawingml/2006/main" cx="9620250" cy="5381625"/>
        </p:xfrm>
        <a:graphic xmlns:a="http://schemas.openxmlformats.org/drawingml/2006/main">
          <a:graphicData uri="http://schemas.openxmlformats.org/drawingml/2006/chart">
            <c:chart xmlns:r="http://schemas.openxmlformats.org/officeDocument/2006/relationships" xmlns:c="http://schemas.openxmlformats.org/drawingml/2006/chart" r:id="R03e68046fe1d4c69"/>
          </a:graphicData>
        </a:graphic>
      </p:graphicFrame>
      <p:sp>
        <p:nvSpPr>
          <p:cNvPr id="7" name="P = € 18 per lamp">
            <a:extLst xmlns:a="http://schemas.openxmlformats.org/drawingml/2006/main">
              <a:ext uri="{FF2B5EF4-FFF2-40B4-BE49-F238E27FC236}">
                <a16:creationId xmlns:a16="http://schemas.microsoft.com/office/drawing/2014/main" id="{F34AF29B-D9FB-4808-B5B4-0244E84DEFD4}"/>
              </a:ext>
            </a:extLst>
          </p:cNvPr>
          <p:cNvSpPr>
            <a:spLocks xmlns:a="http://schemas.openxmlformats.org/drawingml/2006/main" noGrp="1"/>
          </p:cNvSpPr>
          <p:nvPr/>
        </p:nvSpPr>
        <p:spPr>
          <a:xfrm xmlns:a="http://schemas.openxmlformats.org/drawingml/2006/main">
            <a:off x="10668000" y="26003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P = € 18 per lamp</a:t>
            </a:r>
          </a:p>
        </p:txBody>
      </p:sp>
      <p:sp>
        <p:nvSpPr>
          <p:cNvPr id="8" name="Qa = 16 per week&#10;Qv = 64 per week">
            <a:extLst xmlns:a="http://schemas.openxmlformats.org/drawingml/2006/main">
              <a:ext uri="{FF2B5EF4-FFF2-40B4-BE49-F238E27FC236}">
                <a16:creationId xmlns:a16="http://schemas.microsoft.com/office/drawing/2014/main" id="{673659F0-76C6-4565-9110-8C79BE01BB24}"/>
              </a:ext>
            </a:extLst>
          </p:cNvPr>
          <p:cNvSpPr>
            <a:spLocks xmlns:a="http://schemas.openxmlformats.org/drawingml/2006/main" noGrp="1"/>
          </p:cNvSpPr>
          <p:nvPr/>
        </p:nvSpPr>
        <p:spPr>
          <a:xfrm xmlns:a="http://schemas.openxmlformats.org/drawingml/2006/main">
            <a:off x="10668000" y="4295775"/>
            <a:ext cx="4000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Qa = 16 per week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Qv = 64 per week</a:t>
            </a:r>
          </a:p>
        </p:txBody>
      </p:sp>
      <p:sp>
        <p:nvSpPr>
          <p:cNvPr id="9" name="Import = 64 − 16&#10;= 48 lampen per week">
            <a:extLst xmlns:a="http://schemas.openxmlformats.org/drawingml/2006/main">
              <a:ext uri="{FF2B5EF4-FFF2-40B4-BE49-F238E27FC236}">
                <a16:creationId xmlns:a16="http://schemas.microsoft.com/office/drawing/2014/main" id="{388F723E-CD50-4E61-A6AC-BECBDDA02F72}"/>
              </a:ext>
            </a:extLst>
          </p:cNvPr>
          <p:cNvSpPr>
            <a:spLocks xmlns:a="http://schemas.openxmlformats.org/drawingml/2006/main" noGrp="1"/>
          </p:cNvSpPr>
          <p:nvPr/>
        </p:nvSpPr>
        <p:spPr>
          <a:xfrm xmlns:a="http://schemas.openxmlformats.org/drawingml/2006/main">
            <a:off x="10668000" y="6315075"/>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Import = 64 − 16</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 48 lampen per week</a:t>
            </a:r>
          </a:p>
        </p:txBody>
      </p:sp>
    </p:spTree>
    <p:extLst>
      <p:ext uri="{BB962C8B-B14F-4D97-AF65-F5344CB8AC3E}">
        <p14:creationId xmlns:p14="http://schemas.microsoft.com/office/powerpoint/2010/main" val="130967082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invoerheffing verhoogt de binnenlandse prijs">
            <a:extLst xmlns:a="http://schemas.openxmlformats.org/drawingml/2006/main">
              <a:ext uri="{FF2B5EF4-FFF2-40B4-BE49-F238E27FC236}">
                <a16:creationId xmlns:a16="http://schemas.microsoft.com/office/drawing/2014/main" id="{F08BF3B5-50A2-4AA3-84F7-25299AEE8C04}"/>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invoerheffing verhoogt de binnenlandse prijs</a:t>
            </a:r>
          </a:p>
        </p:txBody>
      </p:sp>
      <p:sp>
        <p:nvSpPr>
          <p:cNvPr id="2" name="">
            <a:extLst xmlns:a="http://schemas.openxmlformats.org/drawingml/2006/main">
              <a:ext uri="{FF2B5EF4-FFF2-40B4-BE49-F238E27FC236}">
                <a16:creationId xmlns:a16="http://schemas.microsoft.com/office/drawing/2014/main" id="{F552DEBD-90BB-46B4-B0CE-2317CF10606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3B7D90FD-8614-44E3-BBD2-7B11CDE0E72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6">
            <a:extLst xmlns:a="http://schemas.openxmlformats.org/drawingml/2006/main">
              <a:ext uri="{FF2B5EF4-FFF2-40B4-BE49-F238E27FC236}">
                <a16:creationId xmlns:a16="http://schemas.microsoft.com/office/drawing/2014/main" id="{55BFADF5-C56E-4CAB-AD93-8839BD31958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CBC58CFB-1D6E-4EEC-96C5-88C7C631B7BF}"/>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419350"/>
          <a:ext xmlns:a="http://schemas.openxmlformats.org/drawingml/2006/main" cx="9620250" cy="5381625"/>
        </p:xfrm>
        <a:graphic xmlns:a="http://schemas.openxmlformats.org/drawingml/2006/main">
          <a:graphicData uri="http://schemas.openxmlformats.org/drawingml/2006/chart">
            <c:chart xmlns:r="http://schemas.openxmlformats.org/officeDocument/2006/relationships" xmlns:c="http://schemas.openxmlformats.org/drawingml/2006/chart" r:id="R95f1057f24cd45bb"/>
          </a:graphicData>
        </a:graphic>
      </p:graphicFrame>
      <p:sp>
        <p:nvSpPr>
          <p:cNvPr id="7" name="P = Pw + heffing&#10;= 18 + 4 = € 22">
            <a:extLst xmlns:a="http://schemas.openxmlformats.org/drawingml/2006/main">
              <a:ext uri="{FF2B5EF4-FFF2-40B4-BE49-F238E27FC236}">
                <a16:creationId xmlns:a16="http://schemas.microsoft.com/office/drawing/2014/main" id="{95836560-B9D3-45E2-A0FC-3F27781E7F92}"/>
              </a:ext>
            </a:extLst>
          </p:cNvPr>
          <p:cNvSpPr>
            <a:spLocks xmlns:a="http://schemas.openxmlformats.org/drawingml/2006/main" noGrp="1"/>
          </p:cNvSpPr>
          <p:nvPr/>
        </p:nvSpPr>
        <p:spPr>
          <a:xfrm xmlns:a="http://schemas.openxmlformats.org/drawingml/2006/main">
            <a:off x="10668000" y="26003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P = Pw + heffing</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 18 + 4 = € 22</a:t>
            </a:r>
          </a:p>
        </p:txBody>
      </p:sp>
      <p:sp>
        <p:nvSpPr>
          <p:cNvPr id="8" name="Qa = 24 per week&#10;Qv = 56 per week">
            <a:extLst xmlns:a="http://schemas.openxmlformats.org/drawingml/2006/main">
              <a:ext uri="{FF2B5EF4-FFF2-40B4-BE49-F238E27FC236}">
                <a16:creationId xmlns:a16="http://schemas.microsoft.com/office/drawing/2014/main" id="{08685F53-16B9-4DB4-9818-63C720AAD6F6}"/>
              </a:ext>
            </a:extLst>
          </p:cNvPr>
          <p:cNvSpPr>
            <a:spLocks xmlns:a="http://schemas.openxmlformats.org/drawingml/2006/main" noGrp="1"/>
          </p:cNvSpPr>
          <p:nvPr/>
        </p:nvSpPr>
        <p:spPr>
          <a:xfrm xmlns:a="http://schemas.openxmlformats.org/drawingml/2006/main">
            <a:off x="10668000" y="4295775"/>
            <a:ext cx="4000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Qa = 24 per week</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Qv = 56 per week</a:t>
            </a:r>
          </a:p>
        </p:txBody>
      </p:sp>
      <p:sp>
        <p:nvSpPr>
          <p:cNvPr id="9" name="A en V blijven staan.&#10;De wereldprijs blijft € 18.">
            <a:extLst xmlns:a="http://schemas.openxmlformats.org/drawingml/2006/main">
              <a:ext uri="{FF2B5EF4-FFF2-40B4-BE49-F238E27FC236}">
                <a16:creationId xmlns:a16="http://schemas.microsoft.com/office/drawing/2014/main" id="{21C895A0-4484-40B5-938C-885D46393DB9}"/>
              </a:ext>
            </a:extLst>
          </p:cNvPr>
          <p:cNvSpPr>
            <a:spLocks xmlns:a="http://schemas.openxmlformats.org/drawingml/2006/main" noGrp="1"/>
          </p:cNvSpPr>
          <p:nvPr/>
        </p:nvSpPr>
        <p:spPr>
          <a:xfrm xmlns:a="http://schemas.openxmlformats.org/drawingml/2006/main">
            <a:off x="10668000" y="6315075"/>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A en V blijven staan.</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De wereldprijs blijft € 18.</a:t>
            </a:r>
          </a:p>
        </p:txBody>
      </p:sp>
    </p:spTree>
    <p:extLst>
      <p:ext uri="{BB962C8B-B14F-4D97-AF65-F5344CB8AC3E}">
        <p14:creationId xmlns:p14="http://schemas.microsoft.com/office/powerpoint/2010/main" val="140563954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lleen de resterende import is belast">
            <a:extLst xmlns:a="http://schemas.openxmlformats.org/drawingml/2006/main">
              <a:ext uri="{FF2B5EF4-FFF2-40B4-BE49-F238E27FC236}">
                <a16:creationId xmlns:a16="http://schemas.microsoft.com/office/drawing/2014/main" id="{E476FA97-D498-4F15-93E4-4EEA5069634D}"/>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Alleen de resterende import is belast</a:t>
            </a:r>
          </a:p>
        </p:txBody>
      </p:sp>
      <p:sp>
        <p:nvSpPr>
          <p:cNvPr id="2" name="">
            <a:extLst xmlns:a="http://schemas.openxmlformats.org/drawingml/2006/main">
              <a:ext uri="{FF2B5EF4-FFF2-40B4-BE49-F238E27FC236}">
                <a16:creationId xmlns:a16="http://schemas.microsoft.com/office/drawing/2014/main" id="{01A65CFA-1D6D-4DCE-BEDC-F389CEEB9A8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E5C1EA70-2B45-4010-AA67-002C493B06C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7">
            <a:extLst xmlns:a="http://schemas.openxmlformats.org/drawingml/2006/main">
              <a:ext uri="{FF2B5EF4-FFF2-40B4-BE49-F238E27FC236}">
                <a16:creationId xmlns:a16="http://schemas.microsoft.com/office/drawing/2014/main" id="{D9460AF7-0B0E-40E9-881E-921230F9D39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067C1EE9-44FD-46C7-A502-5C1392EE6101}"/>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sp>
        <p:nvSpPr>
          <p:cNvPr id="6" name="Import na de heffing = Qv − Qa">
            <a:extLst xmlns:a="http://schemas.openxmlformats.org/drawingml/2006/main">
              <a:ext uri="{FF2B5EF4-FFF2-40B4-BE49-F238E27FC236}">
                <a16:creationId xmlns:a16="http://schemas.microsoft.com/office/drawing/2014/main" id="{7E4FDC64-84D7-43B1-A26B-3D4372C5AE59}"/>
              </a:ext>
            </a:extLst>
          </p:cNvPr>
          <p:cNvSpPr>
            <a:spLocks xmlns:a="http://schemas.openxmlformats.org/drawingml/2006/main" noGrp="1"/>
          </p:cNvSpPr>
          <p:nvPr/>
        </p:nvSpPr>
        <p:spPr>
          <a:xfrm xmlns:a="http://schemas.openxmlformats.org/drawingml/2006/main">
            <a:off x="571500" y="2619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Import na de heffing = Qv − Qa</a:t>
            </a:r>
          </a:p>
        </p:txBody>
      </p:sp>
      <p:sp>
        <p:nvSpPr>
          <p:cNvPr id="7" name="56 − 24 = 32 fietslampen per week">
            <a:extLst xmlns:a="http://schemas.openxmlformats.org/drawingml/2006/main">
              <a:ext uri="{FF2B5EF4-FFF2-40B4-BE49-F238E27FC236}">
                <a16:creationId xmlns:a16="http://schemas.microsoft.com/office/drawing/2014/main" id="{53A6DF3A-352A-4E61-A17E-E9A73841A56D}"/>
              </a:ext>
            </a:extLst>
          </p:cNvPr>
          <p:cNvSpPr>
            <a:spLocks xmlns:a="http://schemas.openxmlformats.org/drawingml/2006/main" noGrp="1"/>
          </p:cNvSpPr>
          <p:nvPr/>
        </p:nvSpPr>
        <p:spPr>
          <a:xfrm xmlns:a="http://schemas.openxmlformats.org/drawingml/2006/main">
            <a:off x="571500" y="35242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56 − 24 = 32 fietslampen per week</a:t>
            </a:r>
          </a:p>
        </p:txBody>
      </p:sp>
      <p:sp>
        <p:nvSpPr>
          <p:cNvPr id="8" name="Heffingsopbrengst = heffing × import na de heffing">
            <a:extLst xmlns:a="http://schemas.openxmlformats.org/drawingml/2006/main">
              <a:ext uri="{FF2B5EF4-FFF2-40B4-BE49-F238E27FC236}">
                <a16:creationId xmlns:a16="http://schemas.microsoft.com/office/drawing/2014/main" id="{B0496576-27BA-4C17-8C68-7E32557ED5D0}"/>
              </a:ext>
            </a:extLst>
          </p:cNvPr>
          <p:cNvSpPr>
            <a:spLocks xmlns:a="http://schemas.openxmlformats.org/drawingml/2006/main" noGrp="1"/>
          </p:cNvSpPr>
          <p:nvPr/>
        </p:nvSpPr>
        <p:spPr>
          <a:xfrm xmlns:a="http://schemas.openxmlformats.org/drawingml/2006/main">
            <a:off x="571500" y="4953000"/>
            <a:ext cx="140970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Heffingsopbrengst = heffing × import na de heffing</a:t>
            </a:r>
          </a:p>
        </p:txBody>
      </p:sp>
      <p:sp>
        <p:nvSpPr>
          <p:cNvPr id="9" name="€ 4 per lamp × 32 lampen per week = € 128 per week">
            <a:extLst xmlns:a="http://schemas.openxmlformats.org/drawingml/2006/main">
              <a:ext uri="{FF2B5EF4-FFF2-40B4-BE49-F238E27FC236}">
                <a16:creationId xmlns:a16="http://schemas.microsoft.com/office/drawing/2014/main" id="{7480871A-0F1D-4260-8335-DCD1C74E22CA}"/>
              </a:ext>
            </a:extLst>
          </p:cNvPr>
          <p:cNvSpPr>
            <a:spLocks xmlns:a="http://schemas.openxmlformats.org/drawingml/2006/main" noGrp="1"/>
          </p:cNvSpPr>
          <p:nvPr/>
        </p:nvSpPr>
        <p:spPr>
          <a:xfrm xmlns:a="http://schemas.openxmlformats.org/drawingml/2006/main">
            <a:off x="571500" y="5905500"/>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83247"/>
                </a:solidFill>
                <a:latin typeface="Arial"/>
                <a:ea typeface="Arial"/>
                <a:cs typeface="Arial"/>
              </a:defRPr>
            </a:pPr>
            <a:r>
              <a:rPr sz="3075" b="1">
                <a:solidFill>
                  <a:srgbClr val="183247"/>
                </a:solidFill>
                <a:latin typeface="Arial"/>
                <a:ea typeface="Arial"/>
                <a:cs typeface="Arial"/>
              </a:rPr>
              <a:t>€ 4 per lamp × 32 lampen per week = € 128 per week</a:t>
            </a:r>
          </a:p>
        </p:txBody>
      </p:sp>
      <p:sp>
        <p:nvSpPr>
          <p:cNvPr id="10" name="Controle: 24 binnenlandse lampen + 32 importlampen = 56 lamp">
            <a:extLst xmlns:a="http://schemas.openxmlformats.org/drawingml/2006/main">
              <a:ext uri="{FF2B5EF4-FFF2-40B4-BE49-F238E27FC236}">
                <a16:creationId xmlns:a16="http://schemas.microsoft.com/office/drawing/2014/main" id="{A3DF0997-63AF-42AE-BDBE-14AAB7EC1AC6}"/>
              </a:ext>
            </a:extLst>
          </p:cNvPr>
          <p:cNvSpPr>
            <a:spLocks xmlns:a="http://schemas.openxmlformats.org/drawingml/2006/main" noGrp="1"/>
          </p:cNvSpPr>
          <p:nvPr/>
        </p:nvSpPr>
        <p:spPr>
          <a:xfrm xmlns:a="http://schemas.openxmlformats.org/drawingml/2006/main">
            <a:off x="571500" y="7324725"/>
            <a:ext cx="1409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83247"/>
                </a:solidFill>
                <a:latin typeface="Arial"/>
                <a:ea typeface="Arial"/>
                <a:cs typeface="Arial"/>
              </a:defRPr>
            </a:pPr>
            <a:r>
              <a:rPr sz="2400" b="0">
                <a:solidFill>
                  <a:srgbClr val="183247"/>
                </a:solidFill>
                <a:latin typeface="Arial"/>
                <a:ea typeface="Arial"/>
                <a:cs typeface="Arial"/>
              </a:rPr>
              <a:t>Controle: 24 binnenlandse lampen + 32 importlampen = 56 lampen.</a:t>
            </a:r>
          </a:p>
        </p:txBody>
      </p:sp>
    </p:spTree>
    <p:extLst>
      <p:ext uri="{BB962C8B-B14F-4D97-AF65-F5344CB8AC3E}">
        <p14:creationId xmlns:p14="http://schemas.microsoft.com/office/powerpoint/2010/main" val="103732793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opbrengstrechthoek">
            <a:extLst xmlns:a="http://schemas.openxmlformats.org/drawingml/2006/main">
              <a:ext uri="{FF2B5EF4-FFF2-40B4-BE49-F238E27FC236}">
                <a16:creationId xmlns:a16="http://schemas.microsoft.com/office/drawing/2014/main" id="{AEC9B8C7-AEE3-4CA2-AD6C-C0E751E7264A}"/>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 opbrengstrechthoek</a:t>
            </a:r>
          </a:p>
        </p:txBody>
      </p:sp>
      <p:sp>
        <p:nvSpPr>
          <p:cNvPr id="2" name="">
            <a:extLst xmlns:a="http://schemas.openxmlformats.org/drawingml/2006/main">
              <a:ext uri="{FF2B5EF4-FFF2-40B4-BE49-F238E27FC236}">
                <a16:creationId xmlns:a16="http://schemas.microsoft.com/office/drawing/2014/main" id="{18FC6004-BAB3-40FD-9F11-FCADC1A701B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4478702C-BB87-4C47-83EB-24FCE97B7DC1}"/>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8">
            <a:extLst xmlns:a="http://schemas.openxmlformats.org/drawingml/2006/main">
              <a:ext uri="{FF2B5EF4-FFF2-40B4-BE49-F238E27FC236}">
                <a16:creationId xmlns:a16="http://schemas.microsoft.com/office/drawing/2014/main" id="{19754565-B1B2-4809-947C-E0A33007D6E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8BE6777C-AA56-4E63-B705-00246E2973F8}"/>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419350"/>
          <a:ext xmlns:a="http://schemas.openxmlformats.org/drawingml/2006/main" cx="9620250" cy="5381625"/>
        </p:xfrm>
        <a:graphic xmlns:a="http://schemas.openxmlformats.org/drawingml/2006/main">
          <a:graphicData uri="http://schemas.openxmlformats.org/drawingml/2006/chart">
            <c:chart xmlns:r="http://schemas.openxmlformats.org/officeDocument/2006/relationships" xmlns:c="http://schemas.openxmlformats.org/drawingml/2006/chart" r:id="Rdf2bd2784a78455c"/>
          </a:graphicData>
        </a:graphic>
      </p:graphicFrame>
      <p:sp>
        <p:nvSpPr>
          <p:cNvPr id="7" name="Breedte: 56 − 24&#10;= 32 lampen per week">
            <a:extLst xmlns:a="http://schemas.openxmlformats.org/drawingml/2006/main">
              <a:ext uri="{FF2B5EF4-FFF2-40B4-BE49-F238E27FC236}">
                <a16:creationId xmlns:a16="http://schemas.microsoft.com/office/drawing/2014/main" id="{253B127C-8D27-4552-8C8C-CD4E4F7B83B1}"/>
              </a:ext>
            </a:extLst>
          </p:cNvPr>
          <p:cNvSpPr>
            <a:spLocks xmlns:a="http://schemas.openxmlformats.org/drawingml/2006/main" noGrp="1"/>
          </p:cNvSpPr>
          <p:nvPr/>
        </p:nvSpPr>
        <p:spPr>
          <a:xfrm xmlns:a="http://schemas.openxmlformats.org/drawingml/2006/main">
            <a:off x="10668000" y="26003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Breedte: 56 − 24</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 32 lampen per week</a:t>
            </a:r>
          </a:p>
        </p:txBody>
      </p:sp>
      <p:sp>
        <p:nvSpPr>
          <p:cNvPr id="8" name="Hoogte: 22 − 18&#10;= € 4 per lamp">
            <a:extLst xmlns:a="http://schemas.openxmlformats.org/drawingml/2006/main">
              <a:ext uri="{FF2B5EF4-FFF2-40B4-BE49-F238E27FC236}">
                <a16:creationId xmlns:a16="http://schemas.microsoft.com/office/drawing/2014/main" id="{51776402-5264-4D24-897D-E6E3317910DC}"/>
              </a:ext>
            </a:extLst>
          </p:cNvPr>
          <p:cNvSpPr>
            <a:spLocks xmlns:a="http://schemas.openxmlformats.org/drawingml/2006/main" noGrp="1"/>
          </p:cNvSpPr>
          <p:nvPr/>
        </p:nvSpPr>
        <p:spPr>
          <a:xfrm xmlns:a="http://schemas.openxmlformats.org/drawingml/2006/main">
            <a:off x="10668000" y="4295775"/>
            <a:ext cx="4000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 22 − 18</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€ 4 per lamp</a:t>
            </a:r>
          </a:p>
        </p:txBody>
      </p:sp>
      <p:sp>
        <p:nvSpPr>
          <p:cNvPr id="9" name="Oppervlakte:&#10;32 × 4 = € 128&#10;per week">
            <a:extLst xmlns:a="http://schemas.openxmlformats.org/drawingml/2006/main">
              <a:ext uri="{FF2B5EF4-FFF2-40B4-BE49-F238E27FC236}">
                <a16:creationId xmlns:a16="http://schemas.microsoft.com/office/drawing/2014/main" id="{0078D8B5-C9B1-4318-B22F-A3CC5F8671FB}"/>
              </a:ext>
            </a:extLst>
          </p:cNvPr>
          <p:cNvSpPr>
            <a:spLocks xmlns:a="http://schemas.openxmlformats.org/drawingml/2006/main" noGrp="1"/>
          </p:cNvSpPr>
          <p:nvPr/>
        </p:nvSpPr>
        <p:spPr>
          <a:xfrm xmlns:a="http://schemas.openxmlformats.org/drawingml/2006/main">
            <a:off x="10668000" y="6315075"/>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Oppervlakte:</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32 × 4 = € 128</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per week</a:t>
            </a:r>
          </a:p>
        </p:txBody>
      </p:sp>
    </p:spTree>
    <p:extLst>
      <p:ext uri="{BB962C8B-B14F-4D97-AF65-F5344CB8AC3E}">
        <p14:creationId xmlns:p14="http://schemas.microsoft.com/office/powerpoint/2010/main" val="72090560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ie merkt de hogere prijs?">
            <a:extLst xmlns:a="http://schemas.openxmlformats.org/drawingml/2006/main">
              <a:ext uri="{FF2B5EF4-FFF2-40B4-BE49-F238E27FC236}">
                <a16:creationId xmlns:a16="http://schemas.microsoft.com/office/drawing/2014/main" id="{2BCC093E-2B18-4EF9-8209-3D9C468B2EAC}"/>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Wie merkt de hogere prijs?</a:t>
            </a:r>
          </a:p>
        </p:txBody>
      </p:sp>
      <p:sp>
        <p:nvSpPr>
          <p:cNvPr id="2" name="">
            <a:extLst xmlns:a="http://schemas.openxmlformats.org/drawingml/2006/main">
              <a:ext uri="{FF2B5EF4-FFF2-40B4-BE49-F238E27FC236}">
                <a16:creationId xmlns:a16="http://schemas.microsoft.com/office/drawing/2014/main" id="{CC28C4FF-32C2-4381-9AFE-ADB157A8E9B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BDE09DD8-5677-4108-92E0-B717CA103A2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9">
            <a:extLst xmlns:a="http://schemas.openxmlformats.org/drawingml/2006/main">
              <a:ext uri="{FF2B5EF4-FFF2-40B4-BE49-F238E27FC236}">
                <a16:creationId xmlns:a16="http://schemas.microsoft.com/office/drawing/2014/main" id="{C00E18C1-B161-4A8D-82A6-DD48CBF1623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4B023FC7-E817-4F8E-90AE-66693C5BDBF4}"/>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4" name=""/>
          <p:cNvGraphicFramePr/>
          <p:nvPr/>
        </p:nvGraphicFramePr>
        <p:xfrm>
          <a:off xmlns:a="http://schemas.openxmlformats.org/drawingml/2006/main" x="571500" y="2524125"/>
          <a:ext xmlns:a="http://schemas.openxmlformats.org/drawingml/2006/main" cx="14097000" cy="3533775"/>
        </p:xfrm>
        <a:graphic xmlns:a="http://schemas.openxmlformats.org/drawingml/2006/main">
          <a:graphicData uri="http://schemas.openxmlformats.org/drawingml/2006/table">
            <a:tbl>
              <a:tblPr/>
              <a:tblGrid>
                <a:gridCol w="5000625"/>
                <a:gridCol w="9096375"/>
              </a:tblGrid>
              <a:tr h="883444">
                <a:tc>
                  <a:txBody>
                    <a:bodyPr lIns="161925" tIns="95250" rIns="142875" bIns="95250"/>
                    <a:lstStyle/>
                    <a:p>
                      <a:r>
                        <a:rPr sz="2475" b="1">
                          <a:solidFill>
                            <a:srgbClr val="FFFFFF"/>
                          </a:solidFill>
                          <a:latin typeface="Arial"/>
                          <a:ea typeface="Arial"/>
                          <a:cs typeface="Arial"/>
                        </a:rPr>
                        <a:t>Groep</a:t>
                      </a:r>
                    </a:p>
                  </a:txBody>
                  <a:tcPr marL="91440" marR="91440" marT="45720" marB="45720" anchor="ctr">
                    <a:solidFill>
                      <a:srgbClr val="183247"/>
                    </a:solidFill>
                  </a:tcPr>
                </a:tc>
                <a:tc>
                  <a:txBody>
                    <a:bodyPr lIns="161925" tIns="95250" rIns="142875" bIns="95250"/>
                    <a:lstStyle/>
                    <a:p>
                      <a:r>
                        <a:rPr sz="2475" b="1">
                          <a:solidFill>
                            <a:srgbClr val="FFFFFF"/>
                          </a:solidFill>
                          <a:latin typeface="Arial"/>
                          <a:ea typeface="Arial"/>
                          <a:cs typeface="Arial"/>
                        </a:rPr>
                        <a:t>Gevolg in Linde</a:t>
                      </a:r>
                    </a:p>
                  </a:txBody>
                  <a:tcPr marL="91440" marR="91440" marT="45720" marB="45720" anchor="ctr">
                    <a:solidFill>
                      <a:srgbClr val="183247"/>
                    </a:solidFill>
                  </a:tcPr>
                </a:tc>
              </a:tr>
              <a:tr h="883444">
                <a:tc>
                  <a:txBody>
                    <a:bodyPr lIns="161925" tIns="95250" rIns="142875" bIns="95250"/>
                    <a:lstStyle/>
                    <a:p>
                      <a:r>
                        <a:rPr sz="2475" b="0">
                          <a:solidFill>
                            <a:srgbClr val="183247"/>
                          </a:solidFill>
                          <a:latin typeface="Arial"/>
                          <a:ea typeface="Arial"/>
                          <a:cs typeface="Arial"/>
                        </a:rPr>
                        <a:t>Binnenlandse producenten</a:t>
                      </a:r>
                    </a:p>
                  </a:txBody>
                  <a:tcPr marL="91440" marR="91440" marT="45720" marB="45720" anchor="ctr">
                    <a:solidFill>
                      <a:srgbClr val="FFFFFF"/>
                    </a:solidFill>
                  </a:tcPr>
                </a:tc>
                <a:tc>
                  <a:txBody>
                    <a:bodyPr lIns="161925" tIns="95250" rIns="142875" bIns="95250"/>
                    <a:lstStyle/>
                    <a:p>
                      <a:r>
                        <a:rPr sz="2475" b="0">
                          <a:solidFill>
                            <a:srgbClr val="183247"/>
                          </a:solidFill>
                          <a:latin typeface="Arial"/>
                          <a:ea typeface="Arial"/>
                          <a:cs typeface="Arial"/>
                        </a:rPr>
                        <a:t>Prijs € 18 naar € 22; productie 16 naar 24</a:t>
                      </a:r>
                    </a:p>
                  </a:txBody>
                  <a:tcPr marL="91440" marR="91440" marT="45720" marB="45720" anchor="ctr">
                    <a:solidFill>
                      <a:srgbClr val="FFFFFF"/>
                    </a:solidFill>
                  </a:tcPr>
                </a:tc>
              </a:tr>
              <a:tr h="883444">
                <a:tc>
                  <a:txBody>
                    <a:bodyPr lIns="161925" tIns="95250" rIns="142875" bIns="95250"/>
                    <a:lstStyle/>
                    <a:p>
                      <a:r>
                        <a:rPr sz="2475" b="0">
                          <a:solidFill>
                            <a:srgbClr val="183247"/>
                          </a:solidFill>
                          <a:latin typeface="Arial"/>
                          <a:ea typeface="Arial"/>
                          <a:cs typeface="Arial"/>
                        </a:rPr>
                        <a:t>Binnenlandse kopers</a:t>
                      </a:r>
                    </a:p>
                  </a:txBody>
                  <a:tcPr marL="91440" marR="91440" marT="45720" marB="45720" anchor="ctr">
                    <a:solidFill>
                      <a:srgbClr val="EFF4F7"/>
                    </a:solidFill>
                  </a:tcPr>
                </a:tc>
                <a:tc>
                  <a:txBody>
                    <a:bodyPr lIns="161925" tIns="95250" rIns="142875" bIns="95250"/>
                    <a:lstStyle/>
                    <a:p>
                      <a:r>
                        <a:rPr sz="2475" b="0">
                          <a:solidFill>
                            <a:srgbClr val="183247"/>
                          </a:solidFill>
                          <a:latin typeface="Arial"/>
                          <a:ea typeface="Arial"/>
                          <a:cs typeface="Arial"/>
                        </a:rPr>
                        <a:t>Prijs € 18 naar € 22; verbruik 64 naar 56</a:t>
                      </a:r>
                    </a:p>
                  </a:txBody>
                  <a:tcPr marL="91440" marR="91440" marT="45720" marB="45720" anchor="ctr">
                    <a:solidFill>
                      <a:srgbClr val="EFF4F7"/>
                    </a:solidFill>
                  </a:tcPr>
                </a:tc>
              </a:tr>
              <a:tr h="883444">
                <a:tc>
                  <a:txBody>
                    <a:bodyPr lIns="161925" tIns="95250" rIns="142875" bIns="95250"/>
                    <a:lstStyle/>
                    <a:p>
                      <a:r>
                        <a:rPr sz="2475" b="0">
                          <a:solidFill>
                            <a:srgbClr val="183247"/>
                          </a:solidFill>
                          <a:latin typeface="Arial"/>
                          <a:ea typeface="Arial"/>
                          <a:cs typeface="Arial"/>
                        </a:rPr>
                        <a:t>Overheid</a:t>
                      </a:r>
                    </a:p>
                  </a:txBody>
                  <a:tcPr marL="91440" marR="91440" marT="45720" marB="45720" anchor="ctr">
                    <a:solidFill>
                      <a:srgbClr val="FFFFFF"/>
                    </a:solidFill>
                  </a:tcPr>
                </a:tc>
                <a:tc>
                  <a:txBody>
                    <a:bodyPr lIns="161925" tIns="95250" rIns="142875" bIns="95250"/>
                    <a:lstStyle/>
                    <a:p>
                      <a:r>
                        <a:rPr sz="2475" b="0">
                          <a:solidFill>
                            <a:srgbClr val="183247"/>
                          </a:solidFill>
                          <a:latin typeface="Arial"/>
                          <a:ea typeface="Arial"/>
                          <a:cs typeface="Arial"/>
                        </a:rPr>
                        <a:t>Ontvangt € 128 per week</a:t>
                      </a:r>
                    </a:p>
                  </a:txBody>
                  <a:tcPr marL="91440" marR="91440" marT="45720" marB="45720" anchor="ctr">
                    <a:solidFill>
                      <a:srgbClr val="FFFFFF"/>
                    </a:solidFill>
                  </a:tcPr>
                </a:tc>
              </a:tr>
            </a:tbl>
          </a:graphicData>
        </a:graphic>
      </p:graphicFrame>
      <p:sp>
        <p:nvSpPr>
          <p:cNvPr id="7" name="CS daalt. PS stijgt. Overheidsontvangsten tellen mee.">
            <a:extLst xmlns:a="http://schemas.openxmlformats.org/drawingml/2006/main">
              <a:ext uri="{FF2B5EF4-FFF2-40B4-BE49-F238E27FC236}">
                <a16:creationId xmlns:a16="http://schemas.microsoft.com/office/drawing/2014/main" id="{2E469B98-77CB-40AA-B6E6-31AE975C8868}"/>
              </a:ext>
            </a:extLst>
          </p:cNvPr>
          <p:cNvSpPr>
            <a:spLocks xmlns:a="http://schemas.openxmlformats.org/drawingml/2006/main" noGrp="1"/>
          </p:cNvSpPr>
          <p:nvPr/>
        </p:nvSpPr>
        <p:spPr>
          <a:xfrm xmlns:a="http://schemas.openxmlformats.org/drawingml/2006/main">
            <a:off x="571500" y="6562725"/>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83247"/>
                </a:solidFill>
                <a:latin typeface="Arial"/>
                <a:ea typeface="Arial"/>
                <a:cs typeface="Arial"/>
              </a:defRPr>
            </a:pPr>
            <a:r>
              <a:rPr sz="2700" b="1">
                <a:solidFill>
                  <a:srgbClr val="183247"/>
                </a:solidFill>
                <a:latin typeface="Arial"/>
                <a:ea typeface="Arial"/>
                <a:cs typeface="Arial"/>
              </a:rPr>
              <a:t>CS daalt. PS stijgt. Overheidsontvangsten tellen mee.</a:t>
            </a:r>
          </a:p>
        </p:txBody>
      </p:sp>
      <p:sp>
        <p:nvSpPr>
          <p:cNvPr id="8" name="Het binnenlandse totale surplus daalt in dit model.">
            <a:extLst xmlns:a="http://schemas.openxmlformats.org/drawingml/2006/main">
              <a:ext uri="{FF2B5EF4-FFF2-40B4-BE49-F238E27FC236}">
                <a16:creationId xmlns:a16="http://schemas.microsoft.com/office/drawing/2014/main" id="{D751C494-71DE-4561-9638-DCA810F2057A}"/>
              </a:ext>
            </a:extLst>
          </p:cNvPr>
          <p:cNvSpPr>
            <a:spLocks xmlns:a="http://schemas.openxmlformats.org/drawingml/2006/main" noGrp="1"/>
          </p:cNvSpPr>
          <p:nvPr/>
        </p:nvSpPr>
        <p:spPr>
          <a:xfrm xmlns:a="http://schemas.openxmlformats.org/drawingml/2006/main">
            <a:off x="571500" y="7362825"/>
            <a:ext cx="1409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A94D16"/>
                </a:solidFill>
                <a:latin typeface="Arial"/>
                <a:ea typeface="Arial"/>
                <a:cs typeface="Arial"/>
              </a:defRPr>
            </a:pPr>
            <a:r>
              <a:rPr sz="2625" b="1">
                <a:solidFill>
                  <a:srgbClr val="A94D16"/>
                </a:solidFill>
                <a:latin typeface="Arial"/>
                <a:ea typeface="Arial"/>
                <a:cs typeface="Arial"/>
              </a:rPr>
              <a:t>Het binnenlandse totale surplus daalt in dit model.</a:t>
            </a:r>
          </a:p>
        </p:txBody>
      </p:sp>
    </p:spTree>
    <p:extLst>
      <p:ext uri="{BB962C8B-B14F-4D97-AF65-F5344CB8AC3E}">
        <p14:creationId xmlns:p14="http://schemas.microsoft.com/office/powerpoint/2010/main" val="6151455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en quotum begrenst de invoer">
            <a:extLst xmlns:a="http://schemas.openxmlformats.org/drawingml/2006/main">
              <a:ext uri="{FF2B5EF4-FFF2-40B4-BE49-F238E27FC236}">
                <a16:creationId xmlns:a16="http://schemas.microsoft.com/office/drawing/2014/main" id="{5D52591B-89F4-459E-B021-2D2C6EA86B01}"/>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Een quotum begrenst de invoer</a:t>
            </a:r>
          </a:p>
        </p:txBody>
      </p:sp>
      <p:sp>
        <p:nvSpPr>
          <p:cNvPr id="2" name="">
            <a:extLst xmlns:a="http://schemas.openxmlformats.org/drawingml/2006/main">
              <a:ext uri="{FF2B5EF4-FFF2-40B4-BE49-F238E27FC236}">
                <a16:creationId xmlns:a16="http://schemas.microsoft.com/office/drawing/2014/main" id="{4710D437-2B3B-4BE6-ACD1-3FB6B248993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9953A8A0-70A0-4E73-99EB-226FBF80F59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10">
            <a:extLst xmlns:a="http://schemas.openxmlformats.org/drawingml/2006/main">
              <a:ext uri="{FF2B5EF4-FFF2-40B4-BE49-F238E27FC236}">
                <a16:creationId xmlns:a16="http://schemas.microsoft.com/office/drawing/2014/main" id="{34BEB2F7-8230-414E-AB38-8D002FA6660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78FA2DE4-EA02-42A3-BCB6-C8965B256363}"/>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495550"/>
          <a:ext xmlns:a="http://schemas.openxmlformats.org/drawingml/2006/main" cx="14097000" cy="3705225"/>
        </p:xfrm>
        <a:graphic xmlns:a="http://schemas.openxmlformats.org/drawingml/2006/main">
          <a:graphicData uri="http://schemas.openxmlformats.org/drawingml/2006/table">
            <a:tbl>
              <a:tblPr/>
              <a:tblGrid>
                <a:gridCol w="6096000"/>
                <a:gridCol w="3714750"/>
                <a:gridCol w="4286250"/>
              </a:tblGrid>
              <a:tr h="926306">
                <a:tc>
                  <a:txBody>
                    <a:bodyPr lIns="161925" tIns="95250" rIns="142875" bIns="95250"/>
                    <a:lstStyle/>
                    <a:p>
                      <a:r>
                        <a:rPr sz="2325" b="1">
                          <a:solidFill>
                            <a:srgbClr val="FFFFFF"/>
                          </a:solidFill>
                          <a:latin typeface="Arial"/>
                          <a:ea typeface="Arial"/>
                          <a:cs typeface="Arial"/>
                        </a:rPr>
                        <a:t>Bij dezelfde resterende import</a:t>
                      </a:r>
                    </a:p>
                  </a:txBody>
                  <a:tcPr marL="91440" marR="91440" marT="45720" marB="45720" anchor="ctr">
                    <a:solidFill>
                      <a:srgbClr val="183247"/>
                    </a:solidFill>
                  </a:tcPr>
                </a:tc>
                <a:tc>
                  <a:txBody>
                    <a:bodyPr lIns="161925" tIns="95250" rIns="142875" bIns="95250"/>
                    <a:lstStyle/>
                    <a:p>
                      <a:r>
                        <a:rPr sz="2325" b="1">
                          <a:solidFill>
                            <a:srgbClr val="FFFFFF"/>
                          </a:solidFill>
                          <a:latin typeface="Arial"/>
                          <a:ea typeface="Arial"/>
                          <a:cs typeface="Arial"/>
                        </a:rPr>
                        <a:t>Heffing</a:t>
                      </a:r>
                    </a:p>
                  </a:txBody>
                  <a:tcPr marL="91440" marR="91440" marT="45720" marB="45720" anchor="ctr">
                    <a:solidFill>
                      <a:srgbClr val="183247"/>
                    </a:solidFill>
                  </a:tcPr>
                </a:tc>
                <a:tc>
                  <a:txBody>
                    <a:bodyPr lIns="161925" tIns="95250" rIns="142875" bIns="95250"/>
                    <a:lstStyle/>
                    <a:p>
                      <a:r>
                        <a:rPr sz="2325" b="1">
                          <a:solidFill>
                            <a:srgbClr val="FFFFFF"/>
                          </a:solidFill>
                          <a:latin typeface="Arial"/>
                          <a:ea typeface="Arial"/>
                          <a:cs typeface="Arial"/>
                        </a:rPr>
                        <a:t>Quotum</a:t>
                      </a:r>
                    </a:p>
                  </a:txBody>
                  <a:tcPr marL="91440" marR="91440" marT="45720" marB="45720" anchor="ctr">
                    <a:solidFill>
                      <a:srgbClr val="183247"/>
                    </a:solidFill>
                  </a:tcPr>
                </a:tc>
              </a:tr>
              <a:tr h="926306">
                <a:tc>
                  <a:txBody>
                    <a:bodyPr lIns="161925" tIns="95250" rIns="142875" bIns="95250"/>
                    <a:lstStyle/>
                    <a:p>
                      <a:r>
                        <a:rPr sz="2325" b="0">
                          <a:solidFill>
                            <a:srgbClr val="183247"/>
                          </a:solidFill>
                          <a:latin typeface="Arial"/>
                          <a:ea typeface="Arial"/>
                          <a:cs typeface="Arial"/>
                        </a:rPr>
                        <a:t>Invoer per week</a:t>
                      </a:r>
                    </a:p>
                  </a:txBody>
                  <a:tcPr marL="91440" marR="91440" marT="45720" marB="45720" anchor="ctr">
                    <a:solidFill>
                      <a:srgbClr val="FFFFFF"/>
                    </a:solidFill>
                  </a:tcPr>
                </a:tc>
                <a:tc>
                  <a:txBody>
                    <a:bodyPr lIns="161925" tIns="95250" rIns="142875" bIns="95250"/>
                    <a:lstStyle/>
                    <a:p>
                      <a:r>
                        <a:rPr sz="2325" b="0">
                          <a:solidFill>
                            <a:srgbClr val="183247"/>
                          </a:solidFill>
                          <a:latin typeface="Arial"/>
                          <a:ea typeface="Arial"/>
                          <a:cs typeface="Arial"/>
                        </a:rPr>
                        <a:t>32 lampen</a:t>
                      </a:r>
                    </a:p>
                  </a:txBody>
                  <a:tcPr marL="91440" marR="91440" marT="45720" marB="45720" anchor="ctr">
                    <a:solidFill>
                      <a:srgbClr val="FFFFFF"/>
                    </a:solidFill>
                  </a:tcPr>
                </a:tc>
                <a:tc>
                  <a:txBody>
                    <a:bodyPr lIns="161925" tIns="95250" rIns="142875" bIns="95250"/>
                    <a:lstStyle/>
                    <a:p>
                      <a:r>
                        <a:rPr sz="2325" b="0">
                          <a:solidFill>
                            <a:srgbClr val="183247"/>
                          </a:solidFill>
                          <a:latin typeface="Arial"/>
                          <a:ea typeface="Arial"/>
                          <a:cs typeface="Arial"/>
                        </a:rPr>
                        <a:t>Maximaal 32 lampen</a:t>
                      </a:r>
                    </a:p>
                  </a:txBody>
                  <a:tcPr marL="91440" marR="91440" marT="45720" marB="45720" anchor="ctr">
                    <a:solidFill>
                      <a:srgbClr val="FFFFFF"/>
                    </a:solidFill>
                  </a:tcPr>
                </a:tc>
              </a:tr>
              <a:tr h="926306">
                <a:tc>
                  <a:txBody>
                    <a:bodyPr lIns="161925" tIns="95250" rIns="142875" bIns="95250"/>
                    <a:lstStyle/>
                    <a:p>
                      <a:r>
                        <a:rPr sz="2325" b="0">
                          <a:solidFill>
                            <a:srgbClr val="183247"/>
                          </a:solidFill>
                          <a:latin typeface="Arial"/>
                          <a:ea typeface="Arial"/>
                          <a:cs typeface="Arial"/>
                        </a:rPr>
                        <a:t>Regeling</a:t>
                      </a:r>
                    </a:p>
                  </a:txBody>
                  <a:tcPr marL="91440" marR="91440" marT="45720" marB="45720" anchor="ctr">
                    <a:solidFill>
                      <a:srgbClr val="EFF4F7"/>
                    </a:solidFill>
                  </a:tcPr>
                </a:tc>
                <a:tc>
                  <a:txBody>
                    <a:bodyPr lIns="161925" tIns="95250" rIns="142875" bIns="95250"/>
                    <a:lstStyle/>
                    <a:p>
                      <a:r>
                        <a:rPr sz="2325" b="0">
                          <a:solidFill>
                            <a:srgbClr val="183247"/>
                          </a:solidFill>
                          <a:latin typeface="Arial"/>
                          <a:ea typeface="Arial"/>
                          <a:cs typeface="Arial"/>
                        </a:rPr>
                        <a:t>€ 4 per importlamp</a:t>
                      </a:r>
                    </a:p>
                  </a:txBody>
                  <a:tcPr marL="91440" marR="91440" marT="45720" marB="45720" anchor="ctr">
                    <a:solidFill>
                      <a:srgbClr val="EFF4F7"/>
                    </a:solidFill>
                  </a:tcPr>
                </a:tc>
                <a:tc>
                  <a:txBody>
                    <a:bodyPr lIns="161925" tIns="95250" rIns="142875" bIns="95250"/>
                    <a:lstStyle/>
                    <a:p>
                      <a:r>
                        <a:rPr sz="2325" b="0">
                          <a:solidFill>
                            <a:srgbClr val="183247"/>
                          </a:solidFill>
                          <a:latin typeface="Arial"/>
                          <a:ea typeface="Arial"/>
                          <a:cs typeface="Arial"/>
                        </a:rPr>
                        <a:t>Gratis vergunningen, geen heffing</a:t>
                      </a:r>
                    </a:p>
                  </a:txBody>
                  <a:tcPr marL="91440" marR="91440" marT="45720" marB="45720" anchor="ctr">
                    <a:solidFill>
                      <a:srgbClr val="EFF4F7"/>
                    </a:solidFill>
                  </a:tcPr>
                </a:tc>
              </a:tr>
              <a:tr h="926306">
                <a:tc>
                  <a:txBody>
                    <a:bodyPr lIns="161925" tIns="95250" rIns="142875" bIns="95250"/>
                    <a:lstStyle/>
                    <a:p>
                      <a:r>
                        <a:rPr sz="2325" b="0">
                          <a:solidFill>
                            <a:srgbClr val="183247"/>
                          </a:solidFill>
                          <a:latin typeface="Arial"/>
                          <a:ea typeface="Arial"/>
                          <a:cs typeface="Arial"/>
                        </a:rPr>
                        <a:t>Overheidsontvangsten</a:t>
                      </a:r>
                    </a:p>
                  </a:txBody>
                  <a:tcPr marL="91440" marR="91440" marT="45720" marB="45720" anchor="ctr">
                    <a:solidFill>
                      <a:srgbClr val="FFFFFF"/>
                    </a:solidFill>
                  </a:tcPr>
                </a:tc>
                <a:tc>
                  <a:txBody>
                    <a:bodyPr lIns="161925" tIns="95250" rIns="142875" bIns="95250"/>
                    <a:lstStyle/>
                    <a:p>
                      <a:r>
                        <a:rPr sz="2325" b="0">
                          <a:solidFill>
                            <a:srgbClr val="183247"/>
                          </a:solidFill>
                          <a:latin typeface="Arial"/>
                          <a:ea typeface="Arial"/>
                          <a:cs typeface="Arial"/>
                        </a:rPr>
                        <a:t>€ 128 per week</a:t>
                      </a:r>
                    </a:p>
                  </a:txBody>
                  <a:tcPr marL="91440" marR="91440" marT="45720" marB="45720" anchor="ctr">
                    <a:solidFill>
                      <a:srgbClr val="FFFFFF"/>
                    </a:solidFill>
                  </a:tcPr>
                </a:tc>
                <a:tc>
                  <a:txBody>
                    <a:bodyPr lIns="161925" tIns="95250" rIns="142875" bIns="95250"/>
                    <a:lstStyle/>
                    <a:p>
                      <a:r>
                        <a:rPr sz="2325" b="0">
                          <a:solidFill>
                            <a:srgbClr val="183247"/>
                          </a:solidFill>
                          <a:latin typeface="Arial"/>
                          <a:ea typeface="Arial"/>
                          <a:cs typeface="Arial"/>
                        </a:rPr>
                        <a:t>€ 0 uit deze regeling</a:t>
                      </a:r>
                    </a:p>
                  </a:txBody>
                  <a:tcPr marL="91440" marR="91440" marT="45720" marB="45720" anchor="ctr">
                    <a:solidFill>
                      <a:srgbClr val="FFFFFF"/>
                    </a:solidFill>
                  </a:tcPr>
                </a:tc>
              </a:tr>
            </a:tbl>
          </a:graphicData>
        </a:graphic>
      </p:graphicFrame>
      <p:sp>
        <p:nvSpPr>
          <p:cNvPr id="7" name="De vergunningregeling bepaalt of de overheid inkomsten krijg">
            <a:extLst xmlns:a="http://schemas.openxmlformats.org/drawingml/2006/main">
              <a:ext uri="{FF2B5EF4-FFF2-40B4-BE49-F238E27FC236}">
                <a16:creationId xmlns:a16="http://schemas.microsoft.com/office/drawing/2014/main" id="{E50DDF95-0953-4B15-B62E-C736F8B0033C}"/>
              </a:ext>
            </a:extLst>
          </p:cNvPr>
          <p:cNvSpPr>
            <a:spLocks xmlns:a="http://schemas.openxmlformats.org/drawingml/2006/main" noGrp="1"/>
          </p:cNvSpPr>
          <p:nvPr/>
        </p:nvSpPr>
        <p:spPr>
          <a:xfrm xmlns:a="http://schemas.openxmlformats.org/drawingml/2006/main">
            <a:off x="571500" y="6953250"/>
            <a:ext cx="1409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De vergunningregeling bepaalt of de overheid inkomsten krijgt.</a:t>
            </a:r>
          </a:p>
        </p:txBody>
      </p:sp>
    </p:spTree>
    <p:extLst>
      <p:ext uri="{BB962C8B-B14F-4D97-AF65-F5344CB8AC3E}">
        <p14:creationId xmlns:p14="http://schemas.microsoft.com/office/powerpoint/2010/main" val="19835768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Een hoge heffing kan de import stoppen">
            <a:extLst xmlns:a="http://schemas.openxmlformats.org/drawingml/2006/main">
              <a:ext uri="{FF2B5EF4-FFF2-40B4-BE49-F238E27FC236}">
                <a16:creationId xmlns:a16="http://schemas.microsoft.com/office/drawing/2014/main" id="{25800686-A699-484C-BF8B-FD73FE107E1D}"/>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Een hoge heffing kan de import stoppen</a:t>
            </a:r>
          </a:p>
        </p:txBody>
      </p:sp>
      <p:sp>
        <p:nvSpPr>
          <p:cNvPr id="2" name="">
            <a:extLst xmlns:a="http://schemas.openxmlformats.org/drawingml/2006/main">
              <a:ext uri="{FF2B5EF4-FFF2-40B4-BE49-F238E27FC236}">
                <a16:creationId xmlns:a16="http://schemas.microsoft.com/office/drawing/2014/main" id="{7474D502-92F5-4A69-BE9D-E5E919674FA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FF74026E-948A-4F7A-8AAE-A02E5CB5FB89}"/>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11">
            <a:extLst xmlns:a="http://schemas.openxmlformats.org/drawingml/2006/main">
              <a:ext uri="{FF2B5EF4-FFF2-40B4-BE49-F238E27FC236}">
                <a16:creationId xmlns:a16="http://schemas.microsoft.com/office/drawing/2014/main" id="{DC09EB61-018D-4274-A96A-76283B9A088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A5FDE131-880D-4A40-90B0-4CBCB78CA863}"/>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graphicFrame>
        <p:nvGraphicFramePr>
          <p:cNvPr id="15" name="Chart"/>
          <p:cNvGraphicFramePr/>
          <p:nvPr/>
        </p:nvGraphicFramePr>
        <p:xfrm>
          <a:off xmlns:a="http://schemas.openxmlformats.org/drawingml/2006/main" x="571500" y="2419350"/>
          <a:ext xmlns:a="http://schemas.openxmlformats.org/drawingml/2006/main" cx="9620250" cy="5381625"/>
        </p:xfrm>
        <a:graphic xmlns:a="http://schemas.openxmlformats.org/drawingml/2006/main">
          <a:graphicData uri="http://schemas.openxmlformats.org/drawingml/2006/chart">
            <c:chart xmlns:r="http://schemas.openxmlformats.org/officeDocument/2006/relationships" xmlns:c="http://schemas.openxmlformats.org/drawingml/2006/chart" r:id="Rdbcb770c6dd94825"/>
          </a:graphicData>
        </a:graphic>
      </p:graphicFrame>
      <p:sp>
        <p:nvSpPr>
          <p:cNvPr id="7" name="Andere heffing:&#10;€ 16 per importlamp">
            <a:extLst xmlns:a="http://schemas.openxmlformats.org/drawingml/2006/main">
              <a:ext uri="{FF2B5EF4-FFF2-40B4-BE49-F238E27FC236}">
                <a16:creationId xmlns:a16="http://schemas.microsoft.com/office/drawing/2014/main" id="{F56502F0-A217-4A00-9BF9-0BA3FF0462BF}"/>
              </a:ext>
            </a:extLst>
          </p:cNvPr>
          <p:cNvSpPr>
            <a:spLocks xmlns:a="http://schemas.openxmlformats.org/drawingml/2006/main" noGrp="1"/>
          </p:cNvSpPr>
          <p:nvPr/>
        </p:nvSpPr>
        <p:spPr>
          <a:xfrm xmlns:a="http://schemas.openxmlformats.org/drawingml/2006/main">
            <a:off x="10668000" y="26003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Andere heffing:</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€ 16 per importlamp</a:t>
            </a:r>
          </a:p>
        </p:txBody>
      </p:sp>
      <p:sp>
        <p:nvSpPr>
          <p:cNvPr id="8" name="Importprijs: € 34&#10;Binnenlands evenwicht:&#10;P = € 30; Q = 40">
            <a:extLst xmlns:a="http://schemas.openxmlformats.org/drawingml/2006/main">
              <a:ext uri="{FF2B5EF4-FFF2-40B4-BE49-F238E27FC236}">
                <a16:creationId xmlns:a16="http://schemas.microsoft.com/office/drawing/2014/main" id="{7EFA846A-BE9B-43D0-B9DF-475A109C6D32}"/>
              </a:ext>
            </a:extLst>
          </p:cNvPr>
          <p:cNvSpPr>
            <a:spLocks xmlns:a="http://schemas.openxmlformats.org/drawingml/2006/main" noGrp="1"/>
          </p:cNvSpPr>
          <p:nvPr/>
        </p:nvSpPr>
        <p:spPr>
          <a:xfrm xmlns:a="http://schemas.openxmlformats.org/drawingml/2006/main">
            <a:off x="10668000" y="4295775"/>
            <a:ext cx="4000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Importprijs: € 34</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Binnenlands evenwicht:</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P = € 30; Q = 40</a:t>
            </a:r>
          </a:p>
        </p:txBody>
      </p:sp>
      <p:sp>
        <p:nvSpPr>
          <p:cNvPr id="9" name="Import = 0&#10;Opbrengst = 16 × 0&#10;= € 0 per week">
            <a:extLst xmlns:a="http://schemas.openxmlformats.org/drawingml/2006/main">
              <a:ext uri="{FF2B5EF4-FFF2-40B4-BE49-F238E27FC236}">
                <a16:creationId xmlns:a16="http://schemas.microsoft.com/office/drawing/2014/main" id="{1790DE08-3AFB-43CF-BC54-67D2CF4A16C0}"/>
              </a:ext>
            </a:extLst>
          </p:cNvPr>
          <p:cNvSpPr>
            <a:spLocks xmlns:a="http://schemas.openxmlformats.org/drawingml/2006/main" noGrp="1"/>
          </p:cNvSpPr>
          <p:nvPr/>
        </p:nvSpPr>
        <p:spPr>
          <a:xfrm xmlns:a="http://schemas.openxmlformats.org/drawingml/2006/main">
            <a:off x="10668000" y="6315075"/>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Import = 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Opbrengst = 16 × 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 € 0 per week</a:t>
            </a:r>
          </a:p>
        </p:txBody>
      </p:sp>
    </p:spTree>
    <p:extLst>
      <p:ext uri="{BB962C8B-B14F-4D97-AF65-F5344CB8AC3E}">
        <p14:creationId xmlns:p14="http://schemas.microsoft.com/office/powerpoint/2010/main" val="15417313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ereldprijs en heffing kunnen tegelijk veranderen">
            <a:extLst xmlns:a="http://schemas.openxmlformats.org/drawingml/2006/main">
              <a:ext uri="{FF2B5EF4-FFF2-40B4-BE49-F238E27FC236}">
                <a16:creationId xmlns:a16="http://schemas.microsoft.com/office/drawing/2014/main" id="{02E5601D-ACAA-4F97-BCF4-958E38F9A87F}"/>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Wereldprijs en heffing kunnen tegelijk veranderen</a:t>
            </a:r>
          </a:p>
        </p:txBody>
      </p:sp>
      <p:sp>
        <p:nvSpPr>
          <p:cNvPr id="2" name="">
            <a:extLst xmlns:a="http://schemas.openxmlformats.org/drawingml/2006/main">
              <a:ext uri="{FF2B5EF4-FFF2-40B4-BE49-F238E27FC236}">
                <a16:creationId xmlns:a16="http://schemas.microsoft.com/office/drawing/2014/main" id="{C349FDA6-204E-4B3E-A285-A76F5ECE82E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8D7EE4BF-848C-408D-847B-49AFE554CF5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12">
            <a:extLst xmlns:a="http://schemas.openxmlformats.org/drawingml/2006/main">
              <a:ext uri="{FF2B5EF4-FFF2-40B4-BE49-F238E27FC236}">
                <a16:creationId xmlns:a16="http://schemas.microsoft.com/office/drawing/2014/main" id="{C61F0372-ED28-413D-A37D-64E60106F2D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5E164A31-726C-4D26-B1EE-1C66C4733E5C}"/>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sp>
        <p:nvSpPr>
          <p:cNvPr id="6" name="Terug naar t = € 4. V en A blijven gelijk. Elke situatie hou">
            <a:extLst xmlns:a="http://schemas.openxmlformats.org/drawingml/2006/main">
              <a:ext uri="{FF2B5EF4-FFF2-40B4-BE49-F238E27FC236}">
                <a16:creationId xmlns:a16="http://schemas.microsoft.com/office/drawing/2014/main" id="{C6679D89-305A-45B8-B867-555FC3829BB0}"/>
              </a:ext>
            </a:extLst>
          </p:cNvPr>
          <p:cNvSpPr>
            <a:spLocks xmlns:a="http://schemas.openxmlformats.org/drawingml/2006/main" noGrp="1"/>
          </p:cNvSpPr>
          <p:nvPr/>
        </p:nvSpPr>
        <p:spPr>
          <a:xfrm xmlns:a="http://schemas.openxmlformats.org/drawingml/2006/main">
            <a:off x="571500" y="2362200"/>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3247"/>
                </a:solidFill>
                <a:latin typeface="Arial"/>
                <a:ea typeface="Arial"/>
                <a:cs typeface="Arial"/>
              </a:defRPr>
            </a:pPr>
            <a:r>
              <a:rPr sz="2550" b="1">
                <a:solidFill>
                  <a:srgbClr val="183247"/>
                </a:solidFill>
                <a:latin typeface="Arial"/>
                <a:ea typeface="Arial"/>
                <a:cs typeface="Arial"/>
              </a:rPr>
              <a:t>Terug naar t = € 4. V en A blijven gelijk. Elke situatie houdt import.</a:t>
            </a:r>
          </a:p>
        </p:txBody>
      </p:sp>
      <p:graphicFrame>
        <p:nvGraphicFramePr>
          <p:cNvPr id="15" name=""/>
          <p:cNvGraphicFramePr/>
          <p:nvPr/>
        </p:nvGraphicFramePr>
        <p:xfrm>
          <a:off xmlns:a="http://schemas.openxmlformats.org/drawingml/2006/main" x="571500" y="3371850"/>
          <a:ext xmlns:a="http://schemas.openxmlformats.org/drawingml/2006/main" cx="14097000" cy="3248025"/>
        </p:xfrm>
        <a:graphic xmlns:a="http://schemas.openxmlformats.org/drawingml/2006/main">
          <a:graphicData uri="http://schemas.openxmlformats.org/drawingml/2006/table">
            <a:tbl>
              <a:tblPr/>
              <a:tblGrid>
                <a:gridCol w="5238750"/>
                <a:gridCol w="2381250"/>
                <a:gridCol w="2571750"/>
                <a:gridCol w="3905250"/>
              </a:tblGrid>
              <a:tr h="649605">
                <a:tc>
                  <a:txBody>
                    <a:bodyPr lIns="161925" tIns="95250" rIns="142875" bIns="95250"/>
                    <a:lstStyle/>
                    <a:p>
                      <a:r>
                        <a:rPr sz="2400" b="1">
                          <a:solidFill>
                            <a:srgbClr val="FFFFFF"/>
                          </a:solidFill>
                          <a:latin typeface="Arial"/>
                          <a:ea typeface="Arial"/>
                          <a:cs typeface="Arial"/>
                        </a:rPr>
                        <a:t>Situatie</a:t>
                      </a:r>
                    </a:p>
                  </a:txBody>
                  <a:tcPr marL="91440" marR="91440" marT="45720" marB="45720" anchor="ctr">
                    <a:solidFill>
                      <a:srgbClr val="183247"/>
                    </a:solidFill>
                  </a:tcPr>
                </a:tc>
                <a:tc>
                  <a:txBody>
                    <a:bodyPr lIns="161925" tIns="95250" rIns="142875" bIns="95250"/>
                    <a:lstStyle/>
                    <a:p>
                      <a:r>
                        <a:rPr sz="2400" b="1">
                          <a:solidFill>
                            <a:srgbClr val="FFFFFF"/>
                          </a:solidFill>
                          <a:latin typeface="Arial"/>
                          <a:ea typeface="Arial"/>
                          <a:cs typeface="Arial"/>
                        </a:rPr>
                        <a:t>Pw</a:t>
                      </a:r>
                    </a:p>
                  </a:txBody>
                  <a:tcPr marL="91440" marR="91440" marT="45720" marB="45720" anchor="ctr">
                    <a:solidFill>
                      <a:srgbClr val="183247"/>
                    </a:solidFill>
                  </a:tcPr>
                </a:tc>
                <a:tc>
                  <a:txBody>
                    <a:bodyPr lIns="161925" tIns="95250" rIns="142875" bIns="95250"/>
                    <a:lstStyle/>
                    <a:p>
                      <a:r>
                        <a:rPr sz="2400" b="1">
                          <a:solidFill>
                            <a:srgbClr val="FFFFFF"/>
                          </a:solidFill>
                          <a:latin typeface="Arial"/>
                          <a:ea typeface="Arial"/>
                          <a:cs typeface="Arial"/>
                        </a:rPr>
                        <a:t>Heffing</a:t>
                      </a:r>
                    </a:p>
                  </a:txBody>
                  <a:tcPr marL="91440" marR="91440" marT="45720" marB="45720" anchor="ctr">
                    <a:solidFill>
                      <a:srgbClr val="183247"/>
                    </a:solidFill>
                  </a:tcPr>
                </a:tc>
                <a:tc>
                  <a:txBody>
                    <a:bodyPr lIns="161925" tIns="95250" rIns="142875" bIns="95250"/>
                    <a:lstStyle/>
                    <a:p>
                      <a:r>
                        <a:rPr sz="2400" b="1">
                          <a:solidFill>
                            <a:srgbClr val="FFFFFF"/>
                          </a:solidFill>
                          <a:latin typeface="Arial"/>
                          <a:ea typeface="Arial"/>
                          <a:cs typeface="Arial"/>
                        </a:rPr>
                        <a:t>Binnenlandse prijs</a:t>
                      </a:r>
                    </a:p>
                  </a:txBody>
                  <a:tcPr marL="91440" marR="91440" marT="45720" marB="45720" anchor="ctr">
                    <a:solidFill>
                      <a:srgbClr val="183247"/>
                    </a:solidFill>
                  </a:tcPr>
                </a:tc>
              </a:tr>
              <a:tr h="649605">
                <a:tc>
                  <a:txBody>
                    <a:bodyPr lIns="161925" tIns="95250" rIns="142875" bIns="95250"/>
                    <a:lstStyle/>
                    <a:p>
                      <a:r>
                        <a:rPr sz="2400" b="0">
                          <a:solidFill>
                            <a:srgbClr val="183247"/>
                          </a:solidFill>
                          <a:latin typeface="Arial"/>
                          <a:ea typeface="Arial"/>
                          <a:cs typeface="Arial"/>
                        </a:rPr>
                        <a:t>Begin</a:t>
                      </a:r>
                    </a:p>
                  </a:txBody>
                  <a:tcPr marL="91440" marR="91440" marT="45720" marB="45720" anchor="ctr">
                    <a:solidFill>
                      <a:srgbClr val="FFFFFF"/>
                    </a:solidFill>
                  </a:tcPr>
                </a:tc>
                <a:tc>
                  <a:txBody>
                    <a:bodyPr lIns="161925" tIns="95250" rIns="142875" bIns="95250"/>
                    <a:lstStyle/>
                    <a:p>
                      <a:r>
                        <a:rPr sz="2400" b="0">
                          <a:solidFill>
                            <a:srgbClr val="183247"/>
                          </a:solidFill>
                          <a:latin typeface="Arial"/>
                          <a:ea typeface="Arial"/>
                          <a:cs typeface="Arial"/>
                        </a:rPr>
                        <a:t>€ 18</a:t>
                      </a:r>
                    </a:p>
                  </a:txBody>
                  <a:tcPr marL="91440" marR="91440" marT="45720" marB="45720" anchor="ctr">
                    <a:solidFill>
                      <a:srgbClr val="FFFFFF"/>
                    </a:solidFill>
                  </a:tcPr>
                </a:tc>
                <a:tc>
                  <a:txBody>
                    <a:bodyPr lIns="161925" tIns="95250" rIns="142875" bIns="95250"/>
                    <a:lstStyle/>
                    <a:p>
                      <a:r>
                        <a:rPr sz="2400" b="0">
                          <a:solidFill>
                            <a:srgbClr val="183247"/>
                          </a:solidFill>
                          <a:latin typeface="Arial"/>
                          <a:ea typeface="Arial"/>
                          <a:cs typeface="Arial"/>
                        </a:rPr>
                        <a:t>€ 4</a:t>
                      </a:r>
                    </a:p>
                  </a:txBody>
                  <a:tcPr marL="91440" marR="91440" marT="45720" marB="45720" anchor="ctr">
                    <a:solidFill>
                      <a:srgbClr val="FFFFFF"/>
                    </a:solidFill>
                  </a:tcPr>
                </a:tc>
                <a:tc>
                  <a:txBody>
                    <a:bodyPr lIns="161925" tIns="95250" rIns="142875" bIns="95250"/>
                    <a:lstStyle/>
                    <a:p>
                      <a:r>
                        <a:rPr sz="2400" b="0">
                          <a:solidFill>
                            <a:srgbClr val="183247"/>
                          </a:solidFill>
                          <a:latin typeface="Arial"/>
                          <a:ea typeface="Arial"/>
                          <a:cs typeface="Arial"/>
                        </a:rPr>
                        <a:t>€ 22</a:t>
                      </a:r>
                    </a:p>
                  </a:txBody>
                  <a:tcPr marL="91440" marR="91440" marT="45720" marB="45720" anchor="ctr">
                    <a:solidFill>
                      <a:srgbClr val="FFFFFF"/>
                    </a:solidFill>
                  </a:tcPr>
                </a:tc>
              </a:tr>
              <a:tr h="649605">
                <a:tc>
                  <a:txBody>
                    <a:bodyPr lIns="161925" tIns="95250" rIns="142875" bIns="95250"/>
                    <a:lstStyle/>
                    <a:p>
                      <a:r>
                        <a:rPr sz="2400" b="0">
                          <a:solidFill>
                            <a:srgbClr val="183247"/>
                          </a:solidFill>
                          <a:latin typeface="Arial"/>
                          <a:ea typeface="Arial"/>
                          <a:cs typeface="Arial"/>
                        </a:rPr>
                        <a:t>Alleen Pw lager</a:t>
                      </a:r>
                    </a:p>
                  </a:txBody>
                  <a:tcPr marL="91440" marR="91440" marT="45720" marB="45720" anchor="ctr">
                    <a:solidFill>
                      <a:srgbClr val="EFF4F7"/>
                    </a:solidFill>
                  </a:tcPr>
                </a:tc>
                <a:tc>
                  <a:txBody>
                    <a:bodyPr lIns="161925" tIns="95250" rIns="142875" bIns="95250"/>
                    <a:lstStyle/>
                    <a:p>
                      <a:r>
                        <a:rPr sz="2400" b="0">
                          <a:solidFill>
                            <a:srgbClr val="183247"/>
                          </a:solidFill>
                          <a:latin typeface="Arial"/>
                          <a:ea typeface="Arial"/>
                          <a:cs typeface="Arial"/>
                        </a:rPr>
                        <a:t>€ 16</a:t>
                      </a:r>
                    </a:p>
                  </a:txBody>
                  <a:tcPr marL="91440" marR="91440" marT="45720" marB="45720" anchor="ctr">
                    <a:solidFill>
                      <a:srgbClr val="EFF4F7"/>
                    </a:solidFill>
                  </a:tcPr>
                </a:tc>
                <a:tc>
                  <a:txBody>
                    <a:bodyPr lIns="161925" tIns="95250" rIns="142875" bIns="95250"/>
                    <a:lstStyle/>
                    <a:p>
                      <a:r>
                        <a:rPr sz="2400" b="0">
                          <a:solidFill>
                            <a:srgbClr val="183247"/>
                          </a:solidFill>
                          <a:latin typeface="Arial"/>
                          <a:ea typeface="Arial"/>
                          <a:cs typeface="Arial"/>
                        </a:rPr>
                        <a:t>€ 4</a:t>
                      </a:r>
                    </a:p>
                  </a:txBody>
                  <a:tcPr marL="91440" marR="91440" marT="45720" marB="45720" anchor="ctr">
                    <a:solidFill>
                      <a:srgbClr val="EFF4F7"/>
                    </a:solidFill>
                  </a:tcPr>
                </a:tc>
                <a:tc>
                  <a:txBody>
                    <a:bodyPr lIns="161925" tIns="95250" rIns="142875" bIns="95250"/>
                    <a:lstStyle/>
                    <a:p>
                      <a:r>
                        <a:rPr sz="2400" b="0">
                          <a:solidFill>
                            <a:srgbClr val="183247"/>
                          </a:solidFill>
                          <a:latin typeface="Arial"/>
                          <a:ea typeface="Arial"/>
                          <a:cs typeface="Arial"/>
                        </a:rPr>
                        <a:t>€ 20</a:t>
                      </a:r>
                    </a:p>
                  </a:txBody>
                  <a:tcPr marL="91440" marR="91440" marT="45720" marB="45720" anchor="ctr">
                    <a:solidFill>
                      <a:srgbClr val="EFF4F7"/>
                    </a:solidFill>
                  </a:tcPr>
                </a:tc>
              </a:tr>
              <a:tr h="649605">
                <a:tc>
                  <a:txBody>
                    <a:bodyPr lIns="161925" tIns="95250" rIns="142875" bIns="95250"/>
                    <a:lstStyle/>
                    <a:p>
                      <a:r>
                        <a:rPr sz="2400" b="0">
                          <a:solidFill>
                            <a:srgbClr val="183247"/>
                          </a:solidFill>
                          <a:latin typeface="Arial"/>
                          <a:ea typeface="Arial"/>
                          <a:cs typeface="Arial"/>
                        </a:rPr>
                        <a:t>Alleen heffing hoger</a:t>
                      </a:r>
                    </a:p>
                  </a:txBody>
                  <a:tcPr marL="91440" marR="91440" marT="45720" marB="45720" anchor="ctr">
                    <a:solidFill>
                      <a:srgbClr val="FFFFFF"/>
                    </a:solidFill>
                  </a:tcPr>
                </a:tc>
                <a:tc>
                  <a:txBody>
                    <a:bodyPr lIns="161925" tIns="95250" rIns="142875" bIns="95250"/>
                    <a:lstStyle/>
                    <a:p>
                      <a:r>
                        <a:rPr sz="2400" b="0">
                          <a:solidFill>
                            <a:srgbClr val="183247"/>
                          </a:solidFill>
                          <a:latin typeface="Arial"/>
                          <a:ea typeface="Arial"/>
                          <a:cs typeface="Arial"/>
                        </a:rPr>
                        <a:t>€ 18</a:t>
                      </a:r>
                    </a:p>
                  </a:txBody>
                  <a:tcPr marL="91440" marR="91440" marT="45720" marB="45720" anchor="ctr">
                    <a:solidFill>
                      <a:srgbClr val="FFFFFF"/>
                    </a:solidFill>
                  </a:tcPr>
                </a:tc>
                <a:tc>
                  <a:txBody>
                    <a:bodyPr lIns="161925" tIns="95250" rIns="142875" bIns="95250"/>
                    <a:lstStyle/>
                    <a:p>
                      <a:r>
                        <a:rPr sz="2400" b="0">
                          <a:solidFill>
                            <a:srgbClr val="183247"/>
                          </a:solidFill>
                          <a:latin typeface="Arial"/>
                          <a:ea typeface="Arial"/>
                          <a:cs typeface="Arial"/>
                        </a:rPr>
                        <a:t>€ 6</a:t>
                      </a:r>
                    </a:p>
                  </a:txBody>
                  <a:tcPr marL="91440" marR="91440" marT="45720" marB="45720" anchor="ctr">
                    <a:solidFill>
                      <a:srgbClr val="FFFFFF"/>
                    </a:solidFill>
                  </a:tcPr>
                </a:tc>
                <a:tc>
                  <a:txBody>
                    <a:bodyPr lIns="161925" tIns="95250" rIns="142875" bIns="95250"/>
                    <a:lstStyle/>
                    <a:p>
                      <a:r>
                        <a:rPr sz="2400" b="0">
                          <a:solidFill>
                            <a:srgbClr val="183247"/>
                          </a:solidFill>
                          <a:latin typeface="Arial"/>
                          <a:ea typeface="Arial"/>
                          <a:cs typeface="Arial"/>
                        </a:rPr>
                        <a:t>€ 24</a:t>
                      </a:r>
                    </a:p>
                  </a:txBody>
                  <a:tcPr marL="91440" marR="91440" marT="45720" marB="45720" anchor="ctr">
                    <a:solidFill>
                      <a:srgbClr val="FFFFFF"/>
                    </a:solidFill>
                  </a:tcPr>
                </a:tc>
              </a:tr>
              <a:tr h="649605">
                <a:tc>
                  <a:txBody>
                    <a:bodyPr lIns="161925" tIns="95250" rIns="142875" bIns="95250"/>
                    <a:lstStyle/>
                    <a:p>
                      <a:r>
                        <a:rPr sz="2400" b="0">
                          <a:solidFill>
                            <a:srgbClr val="183247"/>
                          </a:solidFill>
                          <a:latin typeface="Arial"/>
                          <a:ea typeface="Arial"/>
                          <a:cs typeface="Arial"/>
                        </a:rPr>
                        <a:t>Beide veranderingen</a:t>
                      </a:r>
                    </a:p>
                  </a:txBody>
                  <a:tcPr marL="91440" marR="91440" marT="45720" marB="45720" anchor="ctr">
                    <a:solidFill>
                      <a:srgbClr val="EFF4F7"/>
                    </a:solidFill>
                  </a:tcPr>
                </a:tc>
                <a:tc>
                  <a:txBody>
                    <a:bodyPr lIns="161925" tIns="95250" rIns="142875" bIns="95250"/>
                    <a:lstStyle/>
                    <a:p>
                      <a:r>
                        <a:rPr sz="2400" b="0">
                          <a:solidFill>
                            <a:srgbClr val="183247"/>
                          </a:solidFill>
                          <a:latin typeface="Arial"/>
                          <a:ea typeface="Arial"/>
                          <a:cs typeface="Arial"/>
                        </a:rPr>
                        <a:t>€ 16</a:t>
                      </a:r>
                    </a:p>
                  </a:txBody>
                  <a:tcPr marL="91440" marR="91440" marT="45720" marB="45720" anchor="ctr">
                    <a:solidFill>
                      <a:srgbClr val="EFF4F7"/>
                    </a:solidFill>
                  </a:tcPr>
                </a:tc>
                <a:tc>
                  <a:txBody>
                    <a:bodyPr lIns="161925" tIns="95250" rIns="142875" bIns="95250"/>
                    <a:lstStyle/>
                    <a:p>
                      <a:r>
                        <a:rPr sz="2400" b="0">
                          <a:solidFill>
                            <a:srgbClr val="183247"/>
                          </a:solidFill>
                          <a:latin typeface="Arial"/>
                          <a:ea typeface="Arial"/>
                          <a:cs typeface="Arial"/>
                        </a:rPr>
                        <a:t>€ 6</a:t>
                      </a:r>
                    </a:p>
                  </a:txBody>
                  <a:tcPr marL="91440" marR="91440" marT="45720" marB="45720" anchor="ctr">
                    <a:solidFill>
                      <a:srgbClr val="EFF4F7"/>
                    </a:solidFill>
                  </a:tcPr>
                </a:tc>
                <a:tc>
                  <a:txBody>
                    <a:bodyPr lIns="161925" tIns="95250" rIns="142875" bIns="95250"/>
                    <a:lstStyle/>
                    <a:p>
                      <a:r>
                        <a:rPr sz="2400" b="0">
                          <a:solidFill>
                            <a:srgbClr val="183247"/>
                          </a:solidFill>
                          <a:latin typeface="Arial"/>
                          <a:ea typeface="Arial"/>
                          <a:cs typeface="Arial"/>
                        </a:rPr>
                        <a:t>€ 22</a:t>
                      </a:r>
                    </a:p>
                  </a:txBody>
                  <a:tcPr marL="91440" marR="91440" marT="45720" marB="45720" anchor="ctr">
                    <a:solidFill>
                      <a:srgbClr val="EFF4F7"/>
                    </a:solidFill>
                  </a:tcPr>
                </a:tc>
              </a:tr>
            </a:tbl>
          </a:graphicData>
        </a:graphic>
      </p:graphicFrame>
      <p:sp>
        <p:nvSpPr>
          <p:cNvPr id="8" name="Vergelijk elke rij met het begin. Bij beide blijft de import">
            <a:extLst xmlns:a="http://schemas.openxmlformats.org/drawingml/2006/main">
              <a:ext uri="{FF2B5EF4-FFF2-40B4-BE49-F238E27FC236}">
                <a16:creationId xmlns:a16="http://schemas.microsoft.com/office/drawing/2014/main" id="{FEC5BE67-9367-487F-99CA-D908DF7ED019}"/>
              </a:ext>
            </a:extLst>
          </p:cNvPr>
          <p:cNvSpPr>
            <a:spLocks xmlns:a="http://schemas.openxmlformats.org/drawingml/2006/main" noGrp="1"/>
          </p:cNvSpPr>
          <p:nvPr/>
        </p:nvSpPr>
        <p:spPr>
          <a:xfrm xmlns:a="http://schemas.openxmlformats.org/drawingml/2006/main">
            <a:off x="571500" y="72009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A5276"/>
                </a:solidFill>
                <a:latin typeface="Arial"/>
                <a:ea typeface="Arial"/>
                <a:cs typeface="Arial"/>
              </a:defRPr>
            </a:pPr>
            <a:r>
              <a:rPr sz="2700" b="1">
                <a:solidFill>
                  <a:srgbClr val="1A5276"/>
                </a:solidFill>
                <a:latin typeface="Arial"/>
                <a:ea typeface="Arial"/>
                <a:cs typeface="Arial"/>
              </a:rPr>
              <a:t>Vergelijk elke rij met het begin. Bij beide blijft de import gelijk.</a:t>
            </a:r>
          </a:p>
        </p:txBody>
      </p:sp>
    </p:spTree>
    <p:extLst>
      <p:ext uri="{BB962C8B-B14F-4D97-AF65-F5344CB8AC3E}">
        <p14:creationId xmlns:p14="http://schemas.microsoft.com/office/powerpoint/2010/main" val="18780732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orte controle">
            <a:extLst xmlns:a="http://schemas.openxmlformats.org/drawingml/2006/main">
              <a:ext uri="{FF2B5EF4-FFF2-40B4-BE49-F238E27FC236}">
                <a16:creationId xmlns:a16="http://schemas.microsoft.com/office/drawing/2014/main" id="{48E542F2-4F78-4979-8026-D2B5B5CA139A}"/>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8BCC9114-76A8-4A86-8615-5A09679C676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071AC5FE-1051-43E5-85C3-FAE804DA912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13">
            <a:extLst xmlns:a="http://schemas.openxmlformats.org/drawingml/2006/main">
              <a:ext uri="{FF2B5EF4-FFF2-40B4-BE49-F238E27FC236}">
                <a16:creationId xmlns:a16="http://schemas.microsoft.com/office/drawing/2014/main" id="{08216987-C260-474E-8594-6CBE3BF4476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785BBD30-51FC-4A6C-BBC2-E4D766D4B4F6}"/>
              </a:ext>
            </a:extLst>
          </p:cNvPr>
          <p:cNvSpPr>
            <a:spLocks xmlns:a="http://schemas.openxmlformats.org/drawingml/2006/main" noGrp="1"/>
          </p:cNvSpPr>
          <p:nvPr/>
        </p:nvSpPr>
        <p:spPr>
          <a:xfrm xmlns:a="http://schemas.openxmlformats.org/drawingml/2006/main">
            <a:off x="571500" y="1714500"/>
            <a:ext cx="14097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Uitlegvoorbeeld — niet uit het boek</a:t>
            </a:r>
          </a:p>
        </p:txBody>
      </p:sp>
      <p:sp>
        <p:nvSpPr>
          <p:cNvPr id="6" name="Een leerling rekent in Linde:">
            <a:extLst xmlns:a="http://schemas.openxmlformats.org/drawingml/2006/main">
              <a:ext uri="{FF2B5EF4-FFF2-40B4-BE49-F238E27FC236}">
                <a16:creationId xmlns:a16="http://schemas.microsoft.com/office/drawing/2014/main" id="{19BE8671-AC4F-48FA-9656-16167BBC1FD0}"/>
              </a:ext>
            </a:extLst>
          </p:cNvPr>
          <p:cNvSpPr>
            <a:spLocks xmlns:a="http://schemas.openxmlformats.org/drawingml/2006/main" noGrp="1"/>
          </p:cNvSpPr>
          <p:nvPr/>
        </p:nvSpPr>
        <p:spPr>
          <a:xfrm xmlns:a="http://schemas.openxmlformats.org/drawingml/2006/main">
            <a:off x="571500" y="2571750"/>
            <a:ext cx="14097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Een leerling rekent in Linde:</a:t>
            </a:r>
          </a:p>
        </p:txBody>
      </p:sp>
      <p:sp>
        <p:nvSpPr>
          <p:cNvPr id="7" name="“€ 4 × 56 = € 224 per week voor de overheid.”">
            <a:extLst xmlns:a="http://schemas.openxmlformats.org/drawingml/2006/main">
              <a:ext uri="{FF2B5EF4-FFF2-40B4-BE49-F238E27FC236}">
                <a16:creationId xmlns:a16="http://schemas.microsoft.com/office/drawing/2014/main" id="{4A5040EA-8C4F-49D6-9E6A-E8EA1F09F129}"/>
              </a:ext>
            </a:extLst>
          </p:cNvPr>
          <p:cNvSpPr>
            <a:spLocks xmlns:a="http://schemas.openxmlformats.org/drawingml/2006/main" noGrp="1"/>
          </p:cNvSpPr>
          <p:nvPr/>
        </p:nvSpPr>
        <p:spPr>
          <a:xfrm xmlns:a="http://schemas.openxmlformats.org/drawingml/2006/main">
            <a:off x="571500" y="3600450"/>
            <a:ext cx="1409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A5276"/>
                </a:solidFill>
                <a:latin typeface="Arial"/>
                <a:ea typeface="Arial"/>
                <a:cs typeface="Arial"/>
              </a:defRPr>
            </a:pPr>
            <a:r>
              <a:rPr sz="3450" b="1">
                <a:solidFill>
                  <a:srgbClr val="1A5276"/>
                </a:solidFill>
                <a:latin typeface="Arial"/>
                <a:ea typeface="Arial"/>
                <a:cs typeface="Arial"/>
              </a:rPr>
              <a:t>“€ 4 × 56 = € 224 per week voor de overheid.”</a:t>
            </a:r>
          </a:p>
        </p:txBody>
      </p:sp>
      <p:sp>
        <p:nvSpPr>
          <p:cNvPr id="8" name="Welke hoeveelheid hoort in de berekening?&#10;Leg uit waarom.">
            <a:extLst xmlns:a="http://schemas.openxmlformats.org/drawingml/2006/main">
              <a:ext uri="{FF2B5EF4-FFF2-40B4-BE49-F238E27FC236}">
                <a16:creationId xmlns:a16="http://schemas.microsoft.com/office/drawing/2014/main" id="{301C3F1A-63BD-4C2B-84A3-64BD3815B53D}"/>
              </a:ext>
            </a:extLst>
          </p:cNvPr>
          <p:cNvSpPr>
            <a:spLocks xmlns:a="http://schemas.openxmlformats.org/drawingml/2006/main" noGrp="1"/>
          </p:cNvSpPr>
          <p:nvPr/>
        </p:nvSpPr>
        <p:spPr>
          <a:xfrm xmlns:a="http://schemas.openxmlformats.org/drawingml/2006/main">
            <a:off x="571500" y="5353050"/>
            <a:ext cx="14097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Welke hoeveelheid hoort in de berekening?</a:t>
            </a:r>
          </a:p>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Leg uit waarom.</a:t>
            </a:r>
          </a:p>
        </p:txBody>
      </p:sp>
    </p:spTree>
    <p:extLst>
      <p:ext uri="{BB962C8B-B14F-4D97-AF65-F5344CB8AC3E}">
        <p14:creationId xmlns:p14="http://schemas.microsoft.com/office/powerpoint/2010/main" val="15845099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3.3 Protectionisme">
            <a:extLst xmlns:a="http://schemas.openxmlformats.org/drawingml/2006/main">
              <a:ext uri="{FF2B5EF4-FFF2-40B4-BE49-F238E27FC236}">
                <a16:creationId xmlns:a16="http://schemas.microsoft.com/office/drawing/2014/main" id="{9FDEA704-6E17-4901-B393-D84CD6D4432E}"/>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Deze les: §3.3.3 Protectionisme</a:t>
            </a:r>
          </a:p>
        </p:txBody>
      </p:sp>
      <p:sp>
        <p:nvSpPr>
          <p:cNvPr id="2" name="">
            <a:extLst xmlns:a="http://schemas.openxmlformats.org/drawingml/2006/main">
              <a:ext uri="{FF2B5EF4-FFF2-40B4-BE49-F238E27FC236}">
                <a16:creationId xmlns:a16="http://schemas.microsoft.com/office/drawing/2014/main" id="{39098EFA-0E10-4CD4-AB19-26214BCF740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35761BE6-65BA-4E2A-A0B2-BE0CF4B2BB3D}"/>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14">
            <a:extLst xmlns:a="http://schemas.openxmlformats.org/drawingml/2006/main">
              <a:ext uri="{FF2B5EF4-FFF2-40B4-BE49-F238E27FC236}">
                <a16:creationId xmlns:a16="http://schemas.microsoft.com/office/drawing/2014/main" id="{0873EC5B-DB07-4010-AB38-9F5FDEA73E1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8216F617-CCED-4FD5-89CF-C7C9F34D509E}"/>
              </a:ext>
            </a:extLst>
          </p:cNvPr>
          <p:cNvSpPr>
            <a:spLocks xmlns:a="http://schemas.openxmlformats.org/drawingml/2006/main" noGrp="1"/>
          </p:cNvSpPr>
          <p:nvPr/>
        </p:nvSpPr>
        <p:spPr>
          <a:xfrm xmlns:a="http://schemas.openxmlformats.org/drawingml/2006/main">
            <a:off x="571500" y="10477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B008DE6B-864E-44AF-8098-CB7A2328A074}"/>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9BFA3B0F-8118-4A24-B648-DC7B4F070155}"/>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DEF21A14-E81E-4614-A10E-3BB7FE0264BC}"/>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pen en rekenmachine.</a:t>
            </a:r>
          </a:p>
        </p:txBody>
      </p:sp>
      <p:sp>
        <p:nvSpPr>
          <p:cNvPr id="9" name="route-number-1">
            <a:extLst xmlns:a="http://schemas.openxmlformats.org/drawingml/2006/main">
              <a:ext uri="{FF2B5EF4-FFF2-40B4-BE49-F238E27FC236}">
                <a16:creationId xmlns:a16="http://schemas.microsoft.com/office/drawing/2014/main" id="{5657F26E-12E5-452A-803F-2A1A48F9621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3567F721-05F3-48F6-91D6-2276CD4A0867}"/>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542F4823-9B5A-405A-8060-A1EF9F6F876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35AA1702-4366-4E4E-A35C-DC72C6CFB49D}"/>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353BAD52-F585-4C38-BDA6-D46FA55530BE}"/>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CFC19EC7-1500-474D-BE66-CD913D5D18FA}"/>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05E90EE8-86E0-43AA-863C-8832B737FE27}"/>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7CFCC0A6-3F0E-47A1-A68E-DB459B5E8D6D}"/>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C442BE56-4B20-41BC-9842-5CC35DC20BD9}"/>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578BD546-0EE0-433A-BFB6-EC7883CBC574}"/>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27.</a:t>
            </a:r>
          </a:p>
        </p:txBody>
      </p:sp>
      <p:sp>
        <p:nvSpPr>
          <p:cNvPr id="19" name="route-number-6">
            <a:extLst xmlns:a="http://schemas.openxmlformats.org/drawingml/2006/main">
              <a:ext uri="{FF2B5EF4-FFF2-40B4-BE49-F238E27FC236}">
                <a16:creationId xmlns:a16="http://schemas.microsoft.com/office/drawing/2014/main" id="{C85196C7-F239-4D61-BAD7-AD2F56AC8883}"/>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3FB62F38-F280-46B6-A967-68D52BC037BF}"/>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A46FF6B3-CC03-4592-AACC-80ADD0443C97}"/>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32505752-4041-45F2-A707-0CCE09FA458B}"/>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Import en opbrengst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Gevolgen per groep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Heffing en quotum vergelijken.</a:t>
            </a:r>
          </a:p>
        </p:txBody>
      </p:sp>
      <p:sp>
        <p:nvSpPr>
          <p:cNvPr id="23" name="">
            <a:extLst xmlns:a="http://schemas.openxmlformats.org/drawingml/2006/main">
              <a:ext uri="{FF2B5EF4-FFF2-40B4-BE49-F238E27FC236}">
                <a16:creationId xmlns:a16="http://schemas.microsoft.com/office/drawing/2014/main" id="{F66FC049-0645-4E4A-8DB1-D3F7ADE1B46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9FBD23D7-CE66-4E98-9075-8DE02B28D3D0}"/>
              </a:ext>
            </a:extLst>
          </p:cNvPr>
          <p:cNvSpPr>
            <a:spLocks xmlns:a="http://schemas.openxmlformats.org/drawingml/2006/main" noGrp="1"/>
          </p:cNvSpPr>
          <p:nvPr/>
        </p:nvSpPr>
        <p:spPr>
          <a:xfrm xmlns:a="http://schemas.openxmlformats.org/drawingml/2006/main">
            <a:off x="9258300" y="38195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3E99B7DD-CA2A-4AD4-8D1E-0D93FD0F9312}"/>
              </a:ext>
            </a:extLst>
          </p:cNvPr>
          <p:cNvSpPr>
            <a:spLocks xmlns:a="http://schemas.openxmlformats.org/drawingml/2006/main" noGrp="1"/>
          </p:cNvSpPr>
          <p:nvPr/>
        </p:nvSpPr>
        <p:spPr>
          <a:xfrm xmlns:a="http://schemas.openxmlformats.org/drawingml/2006/main">
            <a:off x="9258300" y="4362450"/>
            <a:ext cx="5381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112 · Opgaven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 verkennen, theorie p. 108–109</a:t>
            </a:r>
          </a:p>
        </p:txBody>
      </p:sp>
      <p:sp>
        <p:nvSpPr>
          <p:cNvPr id="26" name="">
            <a:extLst xmlns:a="http://schemas.openxmlformats.org/drawingml/2006/main">
              <a:ext uri="{FF2B5EF4-FFF2-40B4-BE49-F238E27FC236}">
                <a16:creationId xmlns:a16="http://schemas.microsoft.com/office/drawing/2014/main" id="{EBCDBBA7-8DB7-41F4-813D-DC5965948984}"/>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8DCE5481-6FE7-49E7-A1C6-167506CA1B46}"/>
              </a:ext>
            </a:extLst>
          </p:cNvPr>
          <p:cNvSpPr>
            <a:spLocks xmlns:a="http://schemas.openxmlformats.org/drawingml/2006/main" noGrp="1"/>
          </p:cNvSpPr>
          <p:nvPr/>
        </p:nvSpPr>
        <p:spPr>
          <a:xfrm xmlns:a="http://schemas.openxmlformats.org/drawingml/2006/main">
            <a:off x="9258300" y="5715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5169768-7C8C-4A90-8D67-1B526C8CD374}"/>
              </a:ext>
            </a:extLst>
          </p:cNvPr>
          <p:cNvSpPr>
            <a:spLocks xmlns:a="http://schemas.openxmlformats.org/drawingml/2006/main" noGrp="1"/>
          </p:cNvSpPr>
          <p:nvPr/>
        </p:nvSpPr>
        <p:spPr>
          <a:xfrm xmlns:a="http://schemas.openxmlformats.org/drawingml/2006/main">
            <a:off x="9258300" y="6219825"/>
            <a:ext cx="538162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§3.3.3 Protectionisme</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23 en 24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25 en 26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27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 23–27</a:t>
            </a:r>
          </a:p>
        </p:txBody>
      </p:sp>
    </p:spTree>
    <p:extLst>
      <p:ext uri="{BB962C8B-B14F-4D97-AF65-F5344CB8AC3E}">
        <p14:creationId xmlns:p14="http://schemas.microsoft.com/office/powerpoint/2010/main" val="112438653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27: Schoolrugzakken in Daro">
            <a:extLst xmlns:a="http://schemas.openxmlformats.org/drawingml/2006/main">
              <a:ext uri="{FF2B5EF4-FFF2-40B4-BE49-F238E27FC236}">
                <a16:creationId xmlns:a16="http://schemas.microsoft.com/office/drawing/2014/main" id="{650B6079-2B85-49EC-9022-26976CB14AF8}"/>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27: Schoolrugzakken in Daro</a:t>
            </a:r>
          </a:p>
        </p:txBody>
      </p:sp>
      <p:sp>
        <p:nvSpPr>
          <p:cNvPr id="2" name="">
            <a:extLst xmlns:a="http://schemas.openxmlformats.org/drawingml/2006/main">
              <a:ext uri="{FF2B5EF4-FFF2-40B4-BE49-F238E27FC236}">
                <a16:creationId xmlns:a16="http://schemas.microsoft.com/office/drawing/2014/main" id="{0B7E5B4B-7FAF-470C-A770-119CC7B20BA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259C82D8-25A8-4360-9EB3-9766D78340D3}"/>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15">
            <a:extLst xmlns:a="http://schemas.openxmlformats.org/drawingml/2006/main">
              <a:ext uri="{FF2B5EF4-FFF2-40B4-BE49-F238E27FC236}">
                <a16:creationId xmlns:a16="http://schemas.microsoft.com/office/drawing/2014/main" id="{91E46141-946B-4013-AF75-06B1CB9BE46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Daro is klein en prijsnemend. Er zijn veel concurrerende aan">
            <a:extLst xmlns:a="http://schemas.openxmlformats.org/drawingml/2006/main">
              <a:ext uri="{FF2B5EF4-FFF2-40B4-BE49-F238E27FC236}">
                <a16:creationId xmlns:a16="http://schemas.microsoft.com/office/drawing/2014/main" id="{7A0F8855-4E5F-4D29-A374-38AC6B444853}"/>
              </a:ext>
            </a:extLst>
          </p:cNvPr>
          <p:cNvSpPr>
            <a:spLocks xmlns:a="http://schemas.openxmlformats.org/drawingml/2006/main" noGrp="1"/>
          </p:cNvSpPr>
          <p:nvPr/>
        </p:nvSpPr>
        <p:spPr>
          <a:xfrm xmlns:a="http://schemas.openxmlformats.org/drawingml/2006/main">
            <a:off x="571500" y="2019300"/>
            <a:ext cx="14097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Daro is klein en prijsnemend. Er zijn veel concurrerende aanbieders van</a:t>
            </a:r>
          </a:p>
          <a:p xmlns:a="http://schemas.openxmlformats.org/drawingml/2006/main">
            <a:pPr algn="l">
              <a:defRPr sz="2700" b="0">
                <a:solidFill>
                  <a:srgbClr val="183247"/>
                </a:solidFill>
                <a:latin typeface="Arial"/>
                <a:ea typeface="Arial"/>
                <a:cs typeface="Arial"/>
              </a:defRPr>
            </a:pPr>
            <a:r>
              <a:rPr sz="2700" b="0">
                <a:solidFill>
                  <a:srgbClr val="183247"/>
                </a:solidFill>
                <a:latin typeface="Arial"/>
                <a:ea typeface="Arial"/>
                <a:cs typeface="Arial"/>
              </a:rPr>
              <a:t>gelijkwaardige rugzakken. Transportkosten en effecten op derden ontbreken.</a:t>
            </a:r>
          </a:p>
        </p:txBody>
      </p:sp>
      <p:sp>
        <p:nvSpPr>
          <p:cNvPr id="6" name="De wereldprijs is € 20. Daro heft € 10 per ingevoerde rugzak">
            <a:extLst xmlns:a="http://schemas.openxmlformats.org/drawingml/2006/main">
              <a:ext uri="{FF2B5EF4-FFF2-40B4-BE49-F238E27FC236}">
                <a16:creationId xmlns:a16="http://schemas.microsoft.com/office/drawing/2014/main" id="{4EF3361C-B29A-43BE-BDFE-B10C865DCA69}"/>
              </a:ext>
            </a:extLst>
          </p:cNvPr>
          <p:cNvSpPr>
            <a:spLocks xmlns:a="http://schemas.openxmlformats.org/drawingml/2006/main" noGrp="1"/>
          </p:cNvSpPr>
          <p:nvPr/>
        </p:nvSpPr>
        <p:spPr>
          <a:xfrm xmlns:a="http://schemas.openxmlformats.org/drawingml/2006/main">
            <a:off x="571500" y="3619500"/>
            <a:ext cx="1409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De wereldprijs is € 20. Daro heft € 10 per ingevoerde rugzak,</a:t>
            </a:r>
          </a:p>
          <a:p xmlns:a="http://schemas.openxmlformats.org/drawingml/2006/main">
            <a:pPr algn="l">
              <a:defRPr sz="2850" b="1">
                <a:solidFill>
                  <a:srgbClr val="1A5276"/>
                </a:solidFill>
                <a:latin typeface="Arial"/>
                <a:ea typeface="Arial"/>
                <a:cs typeface="Arial"/>
              </a:defRPr>
            </a:pPr>
            <a:r>
              <a:rPr sz="2850" b="1">
                <a:solidFill>
                  <a:srgbClr val="1A5276"/>
                </a:solidFill>
                <a:latin typeface="Arial"/>
                <a:ea typeface="Arial"/>
                <a:cs typeface="Arial"/>
              </a:rPr>
              <a:t>afgedragen door importeurs. Er blijft import.</a:t>
            </a:r>
          </a:p>
        </p:txBody>
      </p:sp>
      <p:sp>
        <p:nvSpPr>
          <p:cNvPr id="7" name="De minister wil meer binnenlandse productie. Winkeliers vrez">
            <a:extLst xmlns:a="http://schemas.openxmlformats.org/drawingml/2006/main">
              <a:ext uri="{FF2B5EF4-FFF2-40B4-BE49-F238E27FC236}">
                <a16:creationId xmlns:a16="http://schemas.microsoft.com/office/drawing/2014/main" id="{86198B71-C2F2-4185-958F-DB0E1723607C}"/>
              </a:ext>
            </a:extLst>
          </p:cNvPr>
          <p:cNvSpPr>
            <a:spLocks xmlns:a="http://schemas.openxmlformats.org/drawingml/2006/main" noGrp="1"/>
          </p:cNvSpPr>
          <p:nvPr/>
        </p:nvSpPr>
        <p:spPr>
          <a:xfrm xmlns:a="http://schemas.openxmlformats.org/drawingml/2006/main">
            <a:off x="571500" y="5162550"/>
            <a:ext cx="1409700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De minister wil meer binnenlandse productie. Winkeliers vrezen</a:t>
            </a:r>
          </a:p>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hogere prijzen voor scholieren.</a:t>
            </a:r>
          </a:p>
        </p:txBody>
      </p:sp>
      <p:sp>
        <p:nvSpPr>
          <p:cNvPr id="8" name="Een alternatief is een quotum met gratis vergunningen, zonde">
            <a:extLst xmlns:a="http://schemas.openxmlformats.org/drawingml/2006/main">
              <a:ext uri="{FF2B5EF4-FFF2-40B4-BE49-F238E27FC236}">
                <a16:creationId xmlns:a16="http://schemas.microsoft.com/office/drawing/2014/main" id="{67BDC575-253A-4088-82F2-F3E487146411}"/>
              </a:ext>
            </a:extLst>
          </p:cNvPr>
          <p:cNvSpPr>
            <a:spLocks xmlns:a="http://schemas.openxmlformats.org/drawingml/2006/main" noGrp="1"/>
          </p:cNvSpPr>
          <p:nvPr/>
        </p:nvSpPr>
        <p:spPr>
          <a:xfrm xmlns:a="http://schemas.openxmlformats.org/drawingml/2006/main">
            <a:off x="571500" y="6800850"/>
            <a:ext cx="1409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Een alternatief is een quotum met gratis vergunningen, zonder heffing.</a:t>
            </a:r>
          </a:p>
        </p:txBody>
      </p:sp>
    </p:spTree>
    <p:extLst>
      <p:ext uri="{BB962C8B-B14F-4D97-AF65-F5344CB8AC3E}">
        <p14:creationId xmlns:p14="http://schemas.microsoft.com/office/powerpoint/2010/main" val="13752948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Opgave 27: de gegeven hoeveelheden">
            <a:extLst xmlns:a="http://schemas.openxmlformats.org/drawingml/2006/main">
              <a:ext uri="{FF2B5EF4-FFF2-40B4-BE49-F238E27FC236}">
                <a16:creationId xmlns:a16="http://schemas.microsoft.com/office/drawing/2014/main" id="{B120D09B-BFDD-4AB3-9353-6E2824433028}"/>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27: de gegeven hoeveelheden</a:t>
            </a:r>
          </a:p>
        </p:txBody>
      </p:sp>
      <p:sp>
        <p:nvSpPr>
          <p:cNvPr id="2" name="">
            <a:extLst xmlns:a="http://schemas.openxmlformats.org/drawingml/2006/main">
              <a:ext uri="{FF2B5EF4-FFF2-40B4-BE49-F238E27FC236}">
                <a16:creationId xmlns:a16="http://schemas.microsoft.com/office/drawing/2014/main" id="{4F92A5D2-C3A6-40E6-B497-04A5900FDD6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62262243-4C61-43CE-9AEE-1DC957FCFA6F}"/>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16">
            <a:extLst xmlns:a="http://schemas.openxmlformats.org/drawingml/2006/main">
              <a:ext uri="{FF2B5EF4-FFF2-40B4-BE49-F238E27FC236}">
                <a16:creationId xmlns:a16="http://schemas.microsoft.com/office/drawing/2014/main" id="{2E8526F8-2CF8-4561-834D-389AF298E4F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graphicFrame>
        <p:nvGraphicFramePr>
          <p:cNvPr id="11" name=""/>
          <p:cNvGraphicFramePr/>
          <p:nvPr/>
        </p:nvGraphicFramePr>
        <p:xfrm>
          <a:off xmlns:a="http://schemas.openxmlformats.org/drawingml/2006/main" x="571500" y="2581275"/>
          <a:ext xmlns:a="http://schemas.openxmlformats.org/drawingml/2006/main" cx="14097000" cy="2857500"/>
        </p:xfrm>
        <a:graphic xmlns:a="http://schemas.openxmlformats.org/drawingml/2006/main">
          <a:graphicData uri="http://schemas.openxmlformats.org/drawingml/2006/table">
            <a:tbl>
              <a:tblPr/>
              <a:tblGrid>
                <a:gridCol w="3905250"/>
                <a:gridCol w="3333750"/>
                <a:gridCol w="3429000"/>
                <a:gridCol w="3429000"/>
              </a:tblGrid>
              <a:tr h="952500">
                <a:tc>
                  <a:txBody>
                    <a:bodyPr lIns="161925" tIns="95250" rIns="142875" bIns="95250"/>
                    <a:lstStyle/>
                    <a:p>
                      <a:r>
                        <a:rPr sz="2550" b="1">
                          <a:solidFill>
                            <a:srgbClr val="FFFFFF"/>
                          </a:solidFill>
                          <a:latin typeface="Arial"/>
                          <a:ea typeface="Arial"/>
                          <a:cs typeface="Arial"/>
                        </a:rPr>
                        <a:t>Situatie</a:t>
                      </a:r>
                    </a:p>
                  </a:txBody>
                  <a:tcPr marL="91440" marR="91440" marT="45720" marB="45720" anchor="ctr">
                    <a:solidFill>
                      <a:srgbClr val="183247"/>
                    </a:solidFill>
                  </a:tcPr>
                </a:tc>
                <a:tc>
                  <a:txBody>
                    <a:bodyPr lIns="161925" tIns="95250" rIns="142875" bIns="95250"/>
                    <a:lstStyle/>
                    <a:p>
                      <a:r>
                        <a:rPr sz="2550" b="1">
                          <a:solidFill>
                            <a:srgbClr val="FFFFFF"/>
                          </a:solidFill>
                          <a:latin typeface="Arial"/>
                          <a:ea typeface="Arial"/>
                          <a:cs typeface="Arial"/>
                        </a:rPr>
                        <a:t>Prijs per rugzak</a:t>
                      </a:r>
                    </a:p>
                  </a:txBody>
                  <a:tcPr marL="91440" marR="91440" marT="45720" marB="45720" anchor="ctr">
                    <a:solidFill>
                      <a:srgbClr val="183247"/>
                    </a:solidFill>
                  </a:tcPr>
                </a:tc>
                <a:tc>
                  <a:txBody>
                    <a:bodyPr lIns="161925" tIns="95250" rIns="142875" bIns="95250"/>
                    <a:lstStyle/>
                    <a:p>
                      <a:r>
                        <a:rPr sz="2550" b="1">
                          <a:solidFill>
                            <a:srgbClr val="FFFFFF"/>
                          </a:solidFill>
                          <a:latin typeface="Arial"/>
                          <a:ea typeface="Arial"/>
                          <a:cs typeface="Arial"/>
                        </a:rPr>
                        <a:t>Verbruik per week</a:t>
                      </a:r>
                    </a:p>
                  </a:txBody>
                  <a:tcPr marL="91440" marR="91440" marT="45720" marB="45720" anchor="ctr">
                    <a:solidFill>
                      <a:srgbClr val="183247"/>
                    </a:solidFill>
                  </a:tcPr>
                </a:tc>
                <a:tc>
                  <a:txBody>
                    <a:bodyPr lIns="161925" tIns="95250" rIns="142875" bIns="95250"/>
                    <a:lstStyle/>
                    <a:p>
                      <a:r>
                        <a:rPr sz="2550" b="1">
                          <a:solidFill>
                            <a:srgbClr val="FFFFFF"/>
                          </a:solidFill>
                          <a:latin typeface="Arial"/>
                          <a:ea typeface="Arial"/>
                          <a:cs typeface="Arial"/>
                        </a:rPr>
                        <a:t>Productie per week</a:t>
                      </a:r>
                    </a:p>
                  </a:txBody>
                  <a:tcPr marL="91440" marR="91440" marT="45720" marB="45720" anchor="ctr">
                    <a:solidFill>
                      <a:srgbClr val="183247"/>
                    </a:solidFill>
                  </a:tcPr>
                </a:tc>
              </a:tr>
              <a:tr h="952500">
                <a:tc>
                  <a:txBody>
                    <a:bodyPr lIns="161925" tIns="95250" rIns="142875" bIns="95250"/>
                    <a:lstStyle/>
                    <a:p>
                      <a:r>
                        <a:rPr sz="2550" b="0">
                          <a:solidFill>
                            <a:srgbClr val="183247"/>
                          </a:solidFill>
                          <a:latin typeface="Arial"/>
                          <a:ea typeface="Arial"/>
                          <a:cs typeface="Arial"/>
                        </a:rPr>
                        <a:t>Vrije invoer</a:t>
                      </a:r>
                    </a:p>
                  </a:txBody>
                  <a:tcPr marL="91440" marR="91440" marT="45720" marB="45720" anchor="ctr">
                    <a:solidFill>
                      <a:srgbClr val="FFFFFF"/>
                    </a:solidFill>
                  </a:tcPr>
                </a:tc>
                <a:tc>
                  <a:txBody>
                    <a:bodyPr lIns="161925" tIns="95250" rIns="142875" bIns="95250"/>
                    <a:lstStyle/>
                    <a:p>
                      <a:r>
                        <a:rPr sz="2550" b="0">
                          <a:solidFill>
                            <a:srgbClr val="183247"/>
                          </a:solidFill>
                          <a:latin typeface="Arial"/>
                          <a:ea typeface="Arial"/>
                          <a:cs typeface="Arial"/>
                        </a:rPr>
                        <a:t>€ 20</a:t>
                      </a:r>
                    </a:p>
                  </a:txBody>
                  <a:tcPr marL="91440" marR="91440" marT="45720" marB="45720" anchor="ctr">
                    <a:solidFill>
                      <a:srgbClr val="FFFFFF"/>
                    </a:solidFill>
                  </a:tcPr>
                </a:tc>
                <a:tc>
                  <a:txBody>
                    <a:bodyPr lIns="161925" tIns="95250" rIns="142875" bIns="95250"/>
                    <a:lstStyle/>
                    <a:p>
                      <a:r>
                        <a:rPr sz="2550" b="0">
                          <a:solidFill>
                            <a:srgbClr val="183247"/>
                          </a:solidFill>
                          <a:latin typeface="Arial"/>
                          <a:ea typeface="Arial"/>
                          <a:cs typeface="Arial"/>
                        </a:rPr>
                        <a:t>120</a:t>
                      </a:r>
                    </a:p>
                  </a:txBody>
                  <a:tcPr marL="91440" marR="91440" marT="45720" marB="45720" anchor="ctr">
                    <a:solidFill>
                      <a:srgbClr val="FFFFFF"/>
                    </a:solidFill>
                  </a:tcPr>
                </a:tc>
                <a:tc>
                  <a:txBody>
                    <a:bodyPr lIns="161925" tIns="95250" rIns="142875" bIns="95250"/>
                    <a:lstStyle/>
                    <a:p>
                      <a:r>
                        <a:rPr sz="2550" b="0">
                          <a:solidFill>
                            <a:srgbClr val="183247"/>
                          </a:solidFill>
                          <a:latin typeface="Arial"/>
                          <a:ea typeface="Arial"/>
                          <a:cs typeface="Arial"/>
                        </a:rPr>
                        <a:t>40</a:t>
                      </a:r>
                    </a:p>
                  </a:txBody>
                  <a:tcPr marL="91440" marR="91440" marT="45720" marB="45720" anchor="ctr">
                    <a:solidFill>
                      <a:srgbClr val="FFFFFF"/>
                    </a:solidFill>
                  </a:tcPr>
                </a:tc>
              </a:tr>
              <a:tr h="952500">
                <a:tc>
                  <a:txBody>
                    <a:bodyPr lIns="161925" tIns="95250" rIns="142875" bIns="95250"/>
                    <a:lstStyle/>
                    <a:p>
                      <a:r>
                        <a:rPr sz="2550" b="0">
                          <a:solidFill>
                            <a:srgbClr val="183247"/>
                          </a:solidFill>
                          <a:latin typeface="Arial"/>
                          <a:ea typeface="Arial"/>
                          <a:cs typeface="Arial"/>
                        </a:rPr>
                        <a:t>Met heffing</a:t>
                      </a:r>
                    </a:p>
                  </a:txBody>
                  <a:tcPr marL="91440" marR="91440" marT="45720" marB="45720" anchor="ctr">
                    <a:solidFill>
                      <a:srgbClr val="EFF4F7"/>
                    </a:solidFill>
                  </a:tcPr>
                </a:tc>
                <a:tc>
                  <a:txBody>
                    <a:bodyPr lIns="161925" tIns="95250" rIns="142875" bIns="95250"/>
                    <a:lstStyle/>
                    <a:p>
                      <a:r>
                        <a:rPr sz="2550" b="0">
                          <a:solidFill>
                            <a:srgbClr val="183247"/>
                          </a:solidFill>
                          <a:latin typeface="Arial"/>
                          <a:ea typeface="Arial"/>
                          <a:cs typeface="Arial"/>
                        </a:rPr>
                        <a:t>€ 30</a:t>
                      </a:r>
                    </a:p>
                  </a:txBody>
                  <a:tcPr marL="91440" marR="91440" marT="45720" marB="45720" anchor="ctr">
                    <a:solidFill>
                      <a:srgbClr val="EFF4F7"/>
                    </a:solidFill>
                  </a:tcPr>
                </a:tc>
                <a:tc>
                  <a:txBody>
                    <a:bodyPr lIns="161925" tIns="95250" rIns="142875" bIns="95250"/>
                    <a:lstStyle/>
                    <a:p>
                      <a:r>
                        <a:rPr sz="2550" b="0">
                          <a:solidFill>
                            <a:srgbClr val="183247"/>
                          </a:solidFill>
                          <a:latin typeface="Arial"/>
                          <a:ea typeface="Arial"/>
                          <a:cs typeface="Arial"/>
                        </a:rPr>
                        <a:t>100</a:t>
                      </a:r>
                    </a:p>
                  </a:txBody>
                  <a:tcPr marL="91440" marR="91440" marT="45720" marB="45720" anchor="ctr">
                    <a:solidFill>
                      <a:srgbClr val="EFF4F7"/>
                    </a:solidFill>
                  </a:tcPr>
                </a:tc>
                <a:tc>
                  <a:txBody>
                    <a:bodyPr lIns="161925" tIns="95250" rIns="142875" bIns="95250"/>
                    <a:lstStyle/>
                    <a:p>
                      <a:r>
                        <a:rPr sz="2550" b="0">
                          <a:solidFill>
                            <a:srgbClr val="183247"/>
                          </a:solidFill>
                          <a:latin typeface="Arial"/>
                          <a:ea typeface="Arial"/>
                          <a:cs typeface="Arial"/>
                        </a:rPr>
                        <a:t>60</a:t>
                      </a:r>
                    </a:p>
                  </a:txBody>
                  <a:tcPr marL="91440" marR="91440" marT="45720" marB="45720" anchor="ctr">
                    <a:solidFill>
                      <a:srgbClr val="EFF4F7"/>
                    </a:solidFill>
                  </a:tcPr>
                </a:tc>
              </a:tr>
            </a:tbl>
          </a:graphicData>
        </a:graphic>
      </p:graphicFrame>
      <p:sp>
        <p:nvSpPr>
          <p:cNvPr id="6" name="Hoeveelheden in rugzakken. Gebruik de lesbron, tabel en figu">
            <a:extLst xmlns:a="http://schemas.openxmlformats.org/drawingml/2006/main">
              <a:ext uri="{FF2B5EF4-FFF2-40B4-BE49-F238E27FC236}">
                <a16:creationId xmlns:a16="http://schemas.microsoft.com/office/drawing/2014/main" id="{30B1A852-D208-42C9-84A5-B8D5483621BF}"/>
              </a:ext>
            </a:extLst>
          </p:cNvPr>
          <p:cNvSpPr>
            <a:spLocks xmlns:a="http://schemas.openxmlformats.org/drawingml/2006/main" noGrp="1"/>
          </p:cNvSpPr>
          <p:nvPr/>
        </p:nvSpPr>
        <p:spPr>
          <a:xfrm xmlns:a="http://schemas.openxmlformats.org/drawingml/2006/main">
            <a:off x="571500" y="6286500"/>
            <a:ext cx="14097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A5276"/>
                </a:solidFill>
                <a:latin typeface="Arial"/>
                <a:ea typeface="Arial"/>
                <a:cs typeface="Arial"/>
              </a:defRPr>
            </a:pPr>
            <a:r>
              <a:rPr sz="2775" b="1">
                <a:solidFill>
                  <a:srgbClr val="1A5276"/>
                </a:solidFill>
                <a:latin typeface="Arial"/>
                <a:ea typeface="Arial"/>
                <a:cs typeface="Arial"/>
              </a:rPr>
              <a:t>Hoeveelheden in rugzakken. Gebruik de lesbron, tabel en figuur 6.</a:t>
            </a:r>
          </a:p>
        </p:txBody>
      </p:sp>
    </p:spTree>
    <p:extLst>
      <p:ext uri="{BB962C8B-B14F-4D97-AF65-F5344CB8AC3E}">
        <p14:creationId xmlns:p14="http://schemas.microsoft.com/office/powerpoint/2010/main" val="15213029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a–b: berekening en figuur 6">
            <a:extLst xmlns:a="http://schemas.openxmlformats.org/drawingml/2006/main">
              <a:ext uri="{FF2B5EF4-FFF2-40B4-BE49-F238E27FC236}">
                <a16:creationId xmlns:a16="http://schemas.microsoft.com/office/drawing/2014/main" id="{7A0AA249-92E6-40BC-8880-80AD1B91F108}"/>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27a–b: berekening en figuur 6</a:t>
            </a:r>
          </a:p>
        </p:txBody>
      </p:sp>
      <p:sp>
        <p:nvSpPr>
          <p:cNvPr id="2" name="">
            <a:extLst xmlns:a="http://schemas.openxmlformats.org/drawingml/2006/main">
              <a:ext uri="{FF2B5EF4-FFF2-40B4-BE49-F238E27FC236}">
                <a16:creationId xmlns:a16="http://schemas.microsoft.com/office/drawing/2014/main" id="{C0E12413-E473-4609-BF2F-A00B2A465D6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8B93D4AC-FC98-4E5F-8397-9FE25236A75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17">
            <a:extLst xmlns:a="http://schemas.openxmlformats.org/drawingml/2006/main">
              <a:ext uri="{FF2B5EF4-FFF2-40B4-BE49-F238E27FC236}">
                <a16:creationId xmlns:a16="http://schemas.microsoft.com/office/drawing/2014/main" id="{7250C02A-B283-4318-8E2C-03BCBA00C882}"/>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graphicFrame>
        <p:nvGraphicFramePr>
          <p:cNvPr id="12" name="Chart"/>
          <p:cNvGraphicFramePr/>
          <p:nvPr/>
        </p:nvGraphicFramePr>
        <p:xfrm>
          <a:off xmlns:a="http://schemas.openxmlformats.org/drawingml/2006/main" x="571500" y="2419350"/>
          <a:ext xmlns:a="http://schemas.openxmlformats.org/drawingml/2006/main" cx="9620250" cy="5381625"/>
        </p:xfrm>
        <a:graphic xmlns:a="http://schemas.openxmlformats.org/drawingml/2006/main">
          <a:graphicData uri="http://schemas.openxmlformats.org/drawingml/2006/chart">
            <c:chart xmlns:r="http://schemas.openxmlformats.org/officeDocument/2006/relationships" xmlns:c="http://schemas.openxmlformats.org/drawingml/2006/chart" r:id="R6c822db5eba04abd"/>
          </a:graphicData>
        </a:graphic>
      </p:graphicFrame>
      <p:sp>
        <p:nvSpPr>
          <p:cNvPr id="6" name="a. (3p) Bereken de import na de heffing en de heffingsopbren">
            <a:extLst xmlns:a="http://schemas.openxmlformats.org/drawingml/2006/main">
              <a:ext uri="{FF2B5EF4-FFF2-40B4-BE49-F238E27FC236}">
                <a16:creationId xmlns:a16="http://schemas.microsoft.com/office/drawing/2014/main" id="{FB3B7155-2C6D-46FD-97C2-FCB12C9DAD2C}"/>
              </a:ext>
            </a:extLst>
          </p:cNvPr>
          <p:cNvSpPr>
            <a:spLocks xmlns:a="http://schemas.openxmlformats.org/drawingml/2006/main" noGrp="1"/>
          </p:cNvSpPr>
          <p:nvPr/>
        </p:nvSpPr>
        <p:spPr>
          <a:xfrm xmlns:a="http://schemas.openxmlformats.org/drawingml/2006/main">
            <a:off x="10668000" y="2371725"/>
            <a:ext cx="4000500" cy="2105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a. (3p) Bereken de import na de heffing en de heffingsopbrengst per week.</a:t>
            </a:r>
          </a:p>
        </p:txBody>
      </p:sp>
      <p:sp>
        <p:nvSpPr>
          <p:cNvPr id="7" name="b. (2p) Arceer in figuur 6 de heffingsopbrengst. Benoem de b">
            <a:extLst xmlns:a="http://schemas.openxmlformats.org/drawingml/2006/main">
              <a:ext uri="{FF2B5EF4-FFF2-40B4-BE49-F238E27FC236}">
                <a16:creationId xmlns:a16="http://schemas.microsoft.com/office/drawing/2014/main" id="{9E197DE4-80D9-4E6F-86C3-00DC2B06E289}"/>
              </a:ext>
            </a:extLst>
          </p:cNvPr>
          <p:cNvSpPr>
            <a:spLocks xmlns:a="http://schemas.openxmlformats.org/drawingml/2006/main" noGrp="1"/>
          </p:cNvSpPr>
          <p:nvPr/>
        </p:nvSpPr>
        <p:spPr>
          <a:xfrm xmlns:a="http://schemas.openxmlformats.org/drawingml/2006/main">
            <a:off x="10668000" y="4905375"/>
            <a:ext cx="400050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183247"/>
                </a:solidFill>
                <a:latin typeface="Arial"/>
                <a:ea typeface="Arial"/>
                <a:cs typeface="Arial"/>
              </a:defRPr>
            </a:pPr>
            <a:r>
              <a:rPr sz="2475" b="1">
                <a:solidFill>
                  <a:srgbClr val="183247"/>
                </a:solidFill>
                <a:latin typeface="Arial"/>
                <a:ea typeface="Arial"/>
                <a:cs typeface="Arial"/>
              </a:rPr>
              <a:t>b. (2p) Arceer in figuur 6 de heffingsopbrengst. Benoem de breedte en hoogte met eenheid.</a:t>
            </a:r>
          </a:p>
        </p:txBody>
      </p:sp>
    </p:spTree>
    <p:extLst>
      <p:ext uri="{BB962C8B-B14F-4D97-AF65-F5344CB8AC3E}">
        <p14:creationId xmlns:p14="http://schemas.microsoft.com/office/powerpoint/2010/main" val="8150370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27c–e: gevolgen en beleidsdoel">
            <a:extLst xmlns:a="http://schemas.openxmlformats.org/drawingml/2006/main">
              <a:ext uri="{FF2B5EF4-FFF2-40B4-BE49-F238E27FC236}">
                <a16:creationId xmlns:a16="http://schemas.microsoft.com/office/drawing/2014/main" id="{5610D3EA-02AC-4103-ACFF-CECDE54E6DDB}"/>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Opgave 27c–e: gevolgen en beleidsdoel</a:t>
            </a:r>
          </a:p>
        </p:txBody>
      </p:sp>
      <p:sp>
        <p:nvSpPr>
          <p:cNvPr id="2" name="">
            <a:extLst xmlns:a="http://schemas.openxmlformats.org/drawingml/2006/main">
              <a:ext uri="{FF2B5EF4-FFF2-40B4-BE49-F238E27FC236}">
                <a16:creationId xmlns:a16="http://schemas.microsoft.com/office/drawing/2014/main" id="{F5EF6C49-2A64-4323-9DAF-DB1BEF007FA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45CA1115-E7EF-488B-9B06-E0A096859984}"/>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18">
            <a:extLst xmlns:a="http://schemas.openxmlformats.org/drawingml/2006/main">
              <a:ext uri="{FF2B5EF4-FFF2-40B4-BE49-F238E27FC236}">
                <a16:creationId xmlns:a16="http://schemas.microsoft.com/office/drawing/2014/main" id="{1923744C-3D39-4171-A39F-529C6B8AC89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c. (2p) Leg met gegevens uit waarom binnenlandse producenten">
            <a:extLst xmlns:a="http://schemas.openxmlformats.org/drawingml/2006/main">
              <a:ext uri="{FF2B5EF4-FFF2-40B4-BE49-F238E27FC236}">
                <a16:creationId xmlns:a16="http://schemas.microsoft.com/office/drawing/2014/main" id="{0457D0D0-C34A-49C9-B547-071B65F1193B}"/>
              </a:ext>
            </a:extLst>
          </p:cNvPr>
          <p:cNvSpPr>
            <a:spLocks xmlns:a="http://schemas.openxmlformats.org/drawingml/2006/main" noGrp="1"/>
          </p:cNvSpPr>
          <p:nvPr/>
        </p:nvSpPr>
        <p:spPr>
          <a:xfrm xmlns:a="http://schemas.openxmlformats.org/drawingml/2006/main">
            <a:off x="571500" y="2200275"/>
            <a:ext cx="140970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c. (2p) Leg met gegevens uit waarom binnenlandse producenten</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en kopers verschillend worden geraakt.</a:t>
            </a:r>
          </a:p>
        </p:txBody>
      </p:sp>
      <p:sp>
        <p:nvSpPr>
          <p:cNvPr id="6" name="d. (2p) Beoordeel: “Het productiedoel wordt bereikt, dus de&#10;">
            <a:extLst xmlns:a="http://schemas.openxmlformats.org/drawingml/2006/main">
              <a:ext uri="{FF2B5EF4-FFF2-40B4-BE49-F238E27FC236}">
                <a16:creationId xmlns:a16="http://schemas.microsoft.com/office/drawing/2014/main" id="{18649D89-AC63-4D3C-8208-C24434F18F1C}"/>
              </a:ext>
            </a:extLst>
          </p:cNvPr>
          <p:cNvSpPr>
            <a:spLocks xmlns:a="http://schemas.openxmlformats.org/drawingml/2006/main" noGrp="1"/>
          </p:cNvSpPr>
          <p:nvPr/>
        </p:nvSpPr>
        <p:spPr>
          <a:xfrm xmlns:a="http://schemas.openxmlformats.org/drawingml/2006/main">
            <a:off x="571500" y="4076700"/>
            <a:ext cx="1409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d. (2p) Beoordeel: “Het productiedoel wordt bereikt, dus de</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maatregel is voor iedereen gunstig.”</a:t>
            </a:r>
          </a:p>
        </p:txBody>
      </p:sp>
      <p:sp>
        <p:nvSpPr>
          <p:cNvPr id="7" name="e. (2p) Waarom levert het beschreven alternatieve quotum&#10;nie">
            <a:extLst xmlns:a="http://schemas.openxmlformats.org/drawingml/2006/main">
              <a:ext uri="{FF2B5EF4-FFF2-40B4-BE49-F238E27FC236}">
                <a16:creationId xmlns:a16="http://schemas.microsoft.com/office/drawing/2014/main" id="{42755C91-2F3A-4711-97ED-36F9BF1851EA}"/>
              </a:ext>
            </a:extLst>
          </p:cNvPr>
          <p:cNvSpPr>
            <a:spLocks xmlns:a="http://schemas.openxmlformats.org/drawingml/2006/main" noGrp="1"/>
          </p:cNvSpPr>
          <p:nvPr/>
        </p:nvSpPr>
        <p:spPr>
          <a:xfrm xmlns:a="http://schemas.openxmlformats.org/drawingml/2006/main">
            <a:off x="571500" y="6057900"/>
            <a:ext cx="140970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e. (2p) Waarom levert het beschreven alternatieve quotum</a:t>
            </a:r>
          </a:p>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niet dezelfde overheidsopbrengst op?</a:t>
            </a:r>
          </a:p>
        </p:txBody>
      </p:sp>
    </p:spTree>
    <p:extLst>
      <p:ext uri="{BB962C8B-B14F-4D97-AF65-F5344CB8AC3E}">
        <p14:creationId xmlns:p14="http://schemas.microsoft.com/office/powerpoint/2010/main" val="105704739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27a: import en heffingsopbrengst">
            <a:extLst xmlns:a="http://schemas.openxmlformats.org/drawingml/2006/main">
              <a:ext uri="{FF2B5EF4-FFF2-40B4-BE49-F238E27FC236}">
                <a16:creationId xmlns:a16="http://schemas.microsoft.com/office/drawing/2014/main" id="{4EEB8D38-26AC-4BDA-A340-2AFA63CF849B}"/>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27a: import en heffingsopbrengst</a:t>
            </a:r>
          </a:p>
        </p:txBody>
      </p:sp>
      <p:sp>
        <p:nvSpPr>
          <p:cNvPr id="2" name="">
            <a:extLst xmlns:a="http://schemas.openxmlformats.org/drawingml/2006/main">
              <a:ext uri="{FF2B5EF4-FFF2-40B4-BE49-F238E27FC236}">
                <a16:creationId xmlns:a16="http://schemas.microsoft.com/office/drawing/2014/main" id="{E8125C12-C655-4B3B-A905-F53089EEA53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03B2D097-2E46-4DD8-A7B5-5E9FD8A902A8}"/>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19">
            <a:extLst xmlns:a="http://schemas.openxmlformats.org/drawingml/2006/main">
              <a:ext uri="{FF2B5EF4-FFF2-40B4-BE49-F238E27FC236}">
                <a16:creationId xmlns:a16="http://schemas.microsoft.com/office/drawing/2014/main" id="{C4A4B436-D09F-4243-BD52-A08E03ECECA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Import na de heffing = Qv − Qa">
            <a:extLst xmlns:a="http://schemas.openxmlformats.org/drawingml/2006/main">
              <a:ext uri="{FF2B5EF4-FFF2-40B4-BE49-F238E27FC236}">
                <a16:creationId xmlns:a16="http://schemas.microsoft.com/office/drawing/2014/main" id="{17BB0981-924D-4B6C-9FD7-D06F532A39C6}"/>
              </a:ext>
            </a:extLst>
          </p:cNvPr>
          <p:cNvSpPr>
            <a:spLocks xmlns:a="http://schemas.openxmlformats.org/drawingml/2006/main" noGrp="1"/>
          </p:cNvSpPr>
          <p:nvPr/>
        </p:nvSpPr>
        <p:spPr>
          <a:xfrm xmlns:a="http://schemas.openxmlformats.org/drawingml/2006/main">
            <a:off x="571500" y="2124075"/>
            <a:ext cx="14097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A5276"/>
                </a:solidFill>
                <a:latin typeface="Arial"/>
                <a:ea typeface="Arial"/>
                <a:cs typeface="Arial"/>
              </a:defRPr>
            </a:pPr>
            <a:r>
              <a:rPr sz="3300" b="1">
                <a:solidFill>
                  <a:srgbClr val="1A5276"/>
                </a:solidFill>
                <a:latin typeface="Arial"/>
                <a:ea typeface="Arial"/>
                <a:cs typeface="Arial"/>
              </a:rPr>
              <a:t>Import na de heffing = Qv − Qa</a:t>
            </a:r>
          </a:p>
        </p:txBody>
      </p:sp>
      <p:sp>
        <p:nvSpPr>
          <p:cNvPr id="6" name="100 − 60 = 40 rugzakken per week">
            <a:extLst xmlns:a="http://schemas.openxmlformats.org/drawingml/2006/main">
              <a:ext uri="{FF2B5EF4-FFF2-40B4-BE49-F238E27FC236}">
                <a16:creationId xmlns:a16="http://schemas.microsoft.com/office/drawing/2014/main" id="{90FB4430-DAFD-4FE1-83ED-ABDA4C54C38F}"/>
              </a:ext>
            </a:extLst>
          </p:cNvPr>
          <p:cNvSpPr>
            <a:spLocks xmlns:a="http://schemas.openxmlformats.org/drawingml/2006/main" noGrp="1"/>
          </p:cNvSpPr>
          <p:nvPr/>
        </p:nvSpPr>
        <p:spPr>
          <a:xfrm xmlns:a="http://schemas.openxmlformats.org/drawingml/2006/main">
            <a:off x="571500" y="312420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100 − 60 = 40 rugzakken per week</a:t>
            </a:r>
          </a:p>
        </p:txBody>
      </p:sp>
      <p:sp>
        <p:nvSpPr>
          <p:cNvPr id="7" name="Opbrengst = heffing per rugzak × resterende import">
            <a:extLst xmlns:a="http://schemas.openxmlformats.org/drawingml/2006/main">
              <a:ext uri="{FF2B5EF4-FFF2-40B4-BE49-F238E27FC236}">
                <a16:creationId xmlns:a16="http://schemas.microsoft.com/office/drawing/2014/main" id="{3B764021-D55A-4216-BFCD-706091D31759}"/>
              </a:ext>
            </a:extLst>
          </p:cNvPr>
          <p:cNvSpPr>
            <a:spLocks xmlns:a="http://schemas.openxmlformats.org/drawingml/2006/main" noGrp="1"/>
          </p:cNvSpPr>
          <p:nvPr/>
        </p:nvSpPr>
        <p:spPr>
          <a:xfrm xmlns:a="http://schemas.openxmlformats.org/drawingml/2006/main">
            <a:off x="571500" y="45720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A94D16"/>
                </a:solidFill>
                <a:latin typeface="Arial"/>
                <a:ea typeface="Arial"/>
                <a:cs typeface="Arial"/>
              </a:defRPr>
            </a:pPr>
            <a:r>
              <a:rPr sz="2925" b="1">
                <a:solidFill>
                  <a:srgbClr val="A94D16"/>
                </a:solidFill>
                <a:latin typeface="Arial"/>
                <a:ea typeface="Arial"/>
                <a:cs typeface="Arial"/>
              </a:rPr>
              <a:t>Opbrengst = heffing per rugzak × resterende import</a:t>
            </a:r>
          </a:p>
        </p:txBody>
      </p:sp>
      <p:sp>
        <p:nvSpPr>
          <p:cNvPr id="8" name="€ 10 × 40 = € 400 per week">
            <a:extLst xmlns:a="http://schemas.openxmlformats.org/drawingml/2006/main">
              <a:ext uri="{FF2B5EF4-FFF2-40B4-BE49-F238E27FC236}">
                <a16:creationId xmlns:a16="http://schemas.microsoft.com/office/drawing/2014/main" id="{79E8E88D-9906-434A-86A9-FFBA6A4FD9AE}"/>
              </a:ext>
            </a:extLst>
          </p:cNvPr>
          <p:cNvSpPr>
            <a:spLocks xmlns:a="http://schemas.openxmlformats.org/drawingml/2006/main" noGrp="1"/>
          </p:cNvSpPr>
          <p:nvPr/>
        </p:nvSpPr>
        <p:spPr>
          <a:xfrm xmlns:a="http://schemas.openxmlformats.org/drawingml/2006/main">
            <a:off x="571500" y="5591175"/>
            <a:ext cx="14097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€ 10 × 40 = € 400 per week</a:t>
            </a:r>
          </a:p>
        </p:txBody>
      </p:sp>
      <p:sp>
        <p:nvSpPr>
          <p:cNvPr id="9" name="Controle: 60 binnenlands + 40 import = 100 verbruik per week">
            <a:extLst xmlns:a="http://schemas.openxmlformats.org/drawingml/2006/main">
              <a:ext uri="{FF2B5EF4-FFF2-40B4-BE49-F238E27FC236}">
                <a16:creationId xmlns:a16="http://schemas.microsoft.com/office/drawing/2014/main" id="{CAFA6A1C-59ED-4DD5-9B67-FB2BD35A5709}"/>
              </a:ext>
            </a:extLst>
          </p:cNvPr>
          <p:cNvSpPr>
            <a:spLocks xmlns:a="http://schemas.openxmlformats.org/drawingml/2006/main" noGrp="1"/>
          </p:cNvSpPr>
          <p:nvPr/>
        </p:nvSpPr>
        <p:spPr>
          <a:xfrm xmlns:a="http://schemas.openxmlformats.org/drawingml/2006/main">
            <a:off x="571500" y="7153275"/>
            <a:ext cx="1409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Controle: 60 binnenlands + 40 import = 100 verbruik per week.</a:t>
            </a:r>
          </a:p>
        </p:txBody>
      </p:sp>
    </p:spTree>
    <p:extLst>
      <p:ext uri="{BB962C8B-B14F-4D97-AF65-F5344CB8AC3E}">
        <p14:creationId xmlns:p14="http://schemas.microsoft.com/office/powerpoint/2010/main" val="143066722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27b: de opbrengstrechthoek">
            <a:extLst xmlns:a="http://schemas.openxmlformats.org/drawingml/2006/main">
              <a:ext uri="{FF2B5EF4-FFF2-40B4-BE49-F238E27FC236}">
                <a16:creationId xmlns:a16="http://schemas.microsoft.com/office/drawing/2014/main" id="{B0AB5818-4AC0-4637-BB6B-25E382C835BD}"/>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27b: de opbrengstrechthoek</a:t>
            </a:r>
          </a:p>
        </p:txBody>
      </p:sp>
      <p:sp>
        <p:nvSpPr>
          <p:cNvPr id="2" name="">
            <a:extLst xmlns:a="http://schemas.openxmlformats.org/drawingml/2006/main">
              <a:ext uri="{FF2B5EF4-FFF2-40B4-BE49-F238E27FC236}">
                <a16:creationId xmlns:a16="http://schemas.microsoft.com/office/drawing/2014/main" id="{7EACE05E-7B97-49ED-8FFC-2BAA36BAD61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7FA72BB8-6087-4826-8182-AF1C073EACD7}"/>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20">
            <a:extLst xmlns:a="http://schemas.openxmlformats.org/drawingml/2006/main">
              <a:ext uri="{FF2B5EF4-FFF2-40B4-BE49-F238E27FC236}">
                <a16:creationId xmlns:a16="http://schemas.microsoft.com/office/drawing/2014/main" id="{683A7F74-62FC-4FD6-A3F7-C917D1E02FF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graphicFrame>
        <p:nvGraphicFramePr>
          <p:cNvPr id="13" name="Chart"/>
          <p:cNvGraphicFramePr/>
          <p:nvPr/>
        </p:nvGraphicFramePr>
        <p:xfrm>
          <a:off xmlns:a="http://schemas.openxmlformats.org/drawingml/2006/main" x="571500" y="2419350"/>
          <a:ext xmlns:a="http://schemas.openxmlformats.org/drawingml/2006/main" cx="9620250" cy="5381625"/>
        </p:xfrm>
        <a:graphic xmlns:a="http://schemas.openxmlformats.org/drawingml/2006/main">
          <a:graphicData uri="http://schemas.openxmlformats.org/drawingml/2006/chart">
            <c:chart xmlns:r="http://schemas.openxmlformats.org/officeDocument/2006/relationships" xmlns:c="http://schemas.openxmlformats.org/drawingml/2006/chart" r:id="R1c7403d115b944cc"/>
          </a:graphicData>
        </a:graphic>
      </p:graphicFrame>
      <p:sp>
        <p:nvSpPr>
          <p:cNvPr id="6" name="Breedte: 100 − 60&#10;= 40 rugzakken&#10;per week">
            <a:extLst xmlns:a="http://schemas.openxmlformats.org/drawingml/2006/main">
              <a:ext uri="{FF2B5EF4-FFF2-40B4-BE49-F238E27FC236}">
                <a16:creationId xmlns:a16="http://schemas.microsoft.com/office/drawing/2014/main" id="{CA1375D7-F18E-42CA-A731-D231AC9F273F}"/>
              </a:ext>
            </a:extLst>
          </p:cNvPr>
          <p:cNvSpPr>
            <a:spLocks xmlns:a="http://schemas.openxmlformats.org/drawingml/2006/main" noGrp="1"/>
          </p:cNvSpPr>
          <p:nvPr/>
        </p:nvSpPr>
        <p:spPr>
          <a:xfrm xmlns:a="http://schemas.openxmlformats.org/drawingml/2006/main">
            <a:off x="10668000" y="2600325"/>
            <a:ext cx="4000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Breedte: 100 − 60</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 40 rugzakken</a:t>
            </a:r>
          </a:p>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per week</a:t>
            </a:r>
          </a:p>
        </p:txBody>
      </p:sp>
      <p:sp>
        <p:nvSpPr>
          <p:cNvPr id="7" name="Hoogte: 30 − 20&#10;= € 10 per rugzak">
            <a:extLst xmlns:a="http://schemas.openxmlformats.org/drawingml/2006/main">
              <a:ext uri="{FF2B5EF4-FFF2-40B4-BE49-F238E27FC236}">
                <a16:creationId xmlns:a16="http://schemas.microsoft.com/office/drawing/2014/main" id="{E034A8D2-F90D-4745-A8BE-7800F161200B}"/>
              </a:ext>
            </a:extLst>
          </p:cNvPr>
          <p:cNvSpPr>
            <a:spLocks xmlns:a="http://schemas.openxmlformats.org/drawingml/2006/main" noGrp="1"/>
          </p:cNvSpPr>
          <p:nvPr/>
        </p:nvSpPr>
        <p:spPr>
          <a:xfrm xmlns:a="http://schemas.openxmlformats.org/drawingml/2006/main">
            <a:off x="10668000" y="4295775"/>
            <a:ext cx="400050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Hoogte: 30 − 20</a:t>
            </a:r>
          </a:p>
          <a:p xmlns:a="http://schemas.openxmlformats.org/drawingml/2006/main">
            <a:pPr algn="l">
              <a:defRPr sz="2550" b="0">
                <a:solidFill>
                  <a:srgbClr val="183247"/>
                </a:solidFill>
                <a:latin typeface="Arial"/>
                <a:ea typeface="Arial"/>
                <a:cs typeface="Arial"/>
              </a:defRPr>
            </a:pPr>
            <a:r>
              <a:rPr sz="2550" b="0">
                <a:solidFill>
                  <a:srgbClr val="183247"/>
                </a:solidFill>
                <a:latin typeface="Arial"/>
                <a:ea typeface="Arial"/>
                <a:cs typeface="Arial"/>
              </a:rPr>
              <a:t>= € 10 per rugzak</a:t>
            </a:r>
          </a:p>
        </p:txBody>
      </p:sp>
      <p:sp>
        <p:nvSpPr>
          <p:cNvPr id="8" name="40 × 10 = € 400&#10;per week">
            <a:extLst xmlns:a="http://schemas.openxmlformats.org/drawingml/2006/main">
              <a:ext uri="{FF2B5EF4-FFF2-40B4-BE49-F238E27FC236}">
                <a16:creationId xmlns:a16="http://schemas.microsoft.com/office/drawing/2014/main" id="{3E8061F5-2D1B-45B4-89C9-AF653A44F9A9}"/>
              </a:ext>
            </a:extLst>
          </p:cNvPr>
          <p:cNvSpPr>
            <a:spLocks xmlns:a="http://schemas.openxmlformats.org/drawingml/2006/main" noGrp="1"/>
          </p:cNvSpPr>
          <p:nvPr/>
        </p:nvSpPr>
        <p:spPr>
          <a:xfrm xmlns:a="http://schemas.openxmlformats.org/drawingml/2006/main">
            <a:off x="10668000" y="6315075"/>
            <a:ext cx="4000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40 × 10 = € 400</a:t>
            </a:r>
          </a:p>
          <a:p xmlns:a="http://schemas.openxmlformats.org/drawingml/2006/main">
            <a:pPr algn="l">
              <a:defRPr sz="2400" b="1">
                <a:solidFill>
                  <a:srgbClr val="A94D16"/>
                </a:solidFill>
                <a:latin typeface="Arial"/>
                <a:ea typeface="Arial"/>
                <a:cs typeface="Arial"/>
              </a:defRPr>
            </a:pPr>
            <a:r>
              <a:rPr sz="2400" b="1">
                <a:solidFill>
                  <a:srgbClr val="A94D16"/>
                </a:solidFill>
                <a:latin typeface="Arial"/>
                <a:ea typeface="Arial"/>
                <a:cs typeface="Arial"/>
              </a:rPr>
              <a:t>per week</a:t>
            </a:r>
          </a:p>
        </p:txBody>
      </p:sp>
    </p:spTree>
    <p:extLst>
      <p:ext uri="{BB962C8B-B14F-4D97-AF65-F5344CB8AC3E}">
        <p14:creationId xmlns:p14="http://schemas.microsoft.com/office/powerpoint/2010/main" val="26440391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7c: producenten en kopers">
            <a:extLst xmlns:a="http://schemas.openxmlformats.org/drawingml/2006/main">
              <a:ext uri="{FF2B5EF4-FFF2-40B4-BE49-F238E27FC236}">
                <a16:creationId xmlns:a16="http://schemas.microsoft.com/office/drawing/2014/main" id="{60B9E81C-FCE5-4895-AF4B-323413412408}"/>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27c: producenten en kopers</a:t>
            </a:r>
          </a:p>
        </p:txBody>
      </p:sp>
      <p:sp>
        <p:nvSpPr>
          <p:cNvPr id="2" name="">
            <a:extLst xmlns:a="http://schemas.openxmlformats.org/drawingml/2006/main">
              <a:ext uri="{FF2B5EF4-FFF2-40B4-BE49-F238E27FC236}">
                <a16:creationId xmlns:a16="http://schemas.microsoft.com/office/drawing/2014/main" id="{8402A21D-B5C4-44D4-966B-D1E564622D3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31ED1796-F59B-474B-9B99-BA24FDA1D80B}"/>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21">
            <a:extLst xmlns:a="http://schemas.openxmlformats.org/drawingml/2006/main">
              <a:ext uri="{FF2B5EF4-FFF2-40B4-BE49-F238E27FC236}">
                <a16:creationId xmlns:a16="http://schemas.microsoft.com/office/drawing/2014/main" id="{84EB66DA-1B0A-4BBA-A6F5-C9E6D1B9FAE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graphicFrame>
        <p:nvGraphicFramePr>
          <p:cNvPr id="12" name=""/>
          <p:cNvGraphicFramePr/>
          <p:nvPr/>
        </p:nvGraphicFramePr>
        <p:xfrm>
          <a:off xmlns:a="http://schemas.openxmlformats.org/drawingml/2006/main" x="571500" y="2438400"/>
          <a:ext xmlns:a="http://schemas.openxmlformats.org/drawingml/2006/main" cx="14097000" cy="2952750"/>
        </p:xfrm>
        <a:graphic xmlns:a="http://schemas.openxmlformats.org/drawingml/2006/main">
          <a:graphicData uri="http://schemas.openxmlformats.org/drawingml/2006/table">
            <a:tbl>
              <a:tblPr/>
              <a:tblGrid>
                <a:gridCol w="4953000"/>
                <a:gridCol w="4572000"/>
                <a:gridCol w="4572000"/>
              </a:tblGrid>
              <a:tr h="984250">
                <a:tc>
                  <a:txBody>
                    <a:bodyPr lIns="161925" tIns="95250" rIns="142875" bIns="95250"/>
                    <a:lstStyle/>
                    <a:p>
                      <a:r>
                        <a:rPr sz="2550" b="1">
                          <a:solidFill>
                            <a:srgbClr val="FFFFFF"/>
                          </a:solidFill>
                          <a:latin typeface="Arial"/>
                          <a:ea typeface="Arial"/>
                          <a:cs typeface="Arial"/>
                        </a:rPr>
                        <a:t>Binnenlandse groep</a:t>
                      </a:r>
                    </a:p>
                  </a:txBody>
                  <a:tcPr marL="91440" marR="91440" marT="45720" marB="45720" anchor="ctr">
                    <a:solidFill>
                      <a:srgbClr val="183247"/>
                    </a:solidFill>
                  </a:tcPr>
                </a:tc>
                <a:tc>
                  <a:txBody>
                    <a:bodyPr lIns="161925" tIns="95250" rIns="142875" bIns="95250"/>
                    <a:lstStyle/>
                    <a:p>
                      <a:r>
                        <a:rPr sz="2550" b="1">
                          <a:solidFill>
                            <a:srgbClr val="FFFFFF"/>
                          </a:solidFill>
                          <a:latin typeface="Arial"/>
                          <a:ea typeface="Arial"/>
                          <a:cs typeface="Arial"/>
                        </a:rPr>
                        <a:t>Prijs per rugzak</a:t>
                      </a:r>
                    </a:p>
                  </a:txBody>
                  <a:tcPr marL="91440" marR="91440" marT="45720" marB="45720" anchor="ctr">
                    <a:solidFill>
                      <a:srgbClr val="183247"/>
                    </a:solidFill>
                  </a:tcPr>
                </a:tc>
                <a:tc>
                  <a:txBody>
                    <a:bodyPr lIns="161925" tIns="95250" rIns="142875" bIns="95250"/>
                    <a:lstStyle/>
                    <a:p>
                      <a:r>
                        <a:rPr sz="2550" b="1">
                          <a:solidFill>
                            <a:srgbClr val="FFFFFF"/>
                          </a:solidFill>
                          <a:latin typeface="Arial"/>
                          <a:ea typeface="Arial"/>
                          <a:cs typeface="Arial"/>
                        </a:rPr>
                        <a:t>Hoeveelheid per week</a:t>
                      </a:r>
                    </a:p>
                  </a:txBody>
                  <a:tcPr marL="91440" marR="91440" marT="45720" marB="45720" anchor="ctr">
                    <a:solidFill>
                      <a:srgbClr val="183247"/>
                    </a:solidFill>
                  </a:tcPr>
                </a:tc>
              </a:tr>
              <a:tr h="984250">
                <a:tc>
                  <a:txBody>
                    <a:bodyPr lIns="161925" tIns="95250" rIns="142875" bIns="95250"/>
                    <a:lstStyle/>
                    <a:p>
                      <a:r>
                        <a:rPr sz="2550" b="0">
                          <a:solidFill>
                            <a:srgbClr val="183247"/>
                          </a:solidFill>
                          <a:latin typeface="Arial"/>
                          <a:ea typeface="Arial"/>
                          <a:cs typeface="Arial"/>
                        </a:rPr>
                        <a:t>Producenten</a:t>
                      </a:r>
                    </a:p>
                  </a:txBody>
                  <a:tcPr marL="91440" marR="91440" marT="45720" marB="45720" anchor="ctr">
                    <a:solidFill>
                      <a:srgbClr val="FFFFFF"/>
                    </a:solidFill>
                  </a:tcPr>
                </a:tc>
                <a:tc>
                  <a:txBody>
                    <a:bodyPr lIns="161925" tIns="95250" rIns="142875" bIns="95250"/>
                    <a:lstStyle/>
                    <a:p>
                      <a:r>
                        <a:rPr sz="2550" b="0">
                          <a:solidFill>
                            <a:srgbClr val="183247"/>
                          </a:solidFill>
                          <a:latin typeface="Arial"/>
                          <a:ea typeface="Arial"/>
                          <a:cs typeface="Arial"/>
                        </a:rPr>
                        <a:t>€ 20 wordt € 30</a:t>
                      </a:r>
                    </a:p>
                  </a:txBody>
                  <a:tcPr marL="91440" marR="91440" marT="45720" marB="45720" anchor="ctr">
                    <a:solidFill>
                      <a:srgbClr val="FFFFFF"/>
                    </a:solidFill>
                  </a:tcPr>
                </a:tc>
                <a:tc>
                  <a:txBody>
                    <a:bodyPr lIns="161925" tIns="95250" rIns="142875" bIns="95250"/>
                    <a:lstStyle/>
                    <a:p>
                      <a:r>
                        <a:rPr sz="2550" b="0">
                          <a:solidFill>
                            <a:srgbClr val="183247"/>
                          </a:solidFill>
                          <a:latin typeface="Arial"/>
                          <a:ea typeface="Arial"/>
                          <a:cs typeface="Arial"/>
                        </a:rPr>
                        <a:t>40 wordt 60</a:t>
                      </a:r>
                    </a:p>
                  </a:txBody>
                  <a:tcPr marL="91440" marR="91440" marT="45720" marB="45720" anchor="ctr">
                    <a:solidFill>
                      <a:srgbClr val="FFFFFF"/>
                    </a:solidFill>
                  </a:tcPr>
                </a:tc>
              </a:tr>
              <a:tr h="984250">
                <a:tc>
                  <a:txBody>
                    <a:bodyPr lIns="161925" tIns="95250" rIns="142875" bIns="95250"/>
                    <a:lstStyle/>
                    <a:p>
                      <a:r>
                        <a:rPr sz="2550" b="0">
                          <a:solidFill>
                            <a:srgbClr val="183247"/>
                          </a:solidFill>
                          <a:latin typeface="Arial"/>
                          <a:ea typeface="Arial"/>
                          <a:cs typeface="Arial"/>
                        </a:rPr>
                        <a:t>Kopers</a:t>
                      </a:r>
                    </a:p>
                  </a:txBody>
                  <a:tcPr marL="91440" marR="91440" marT="45720" marB="45720" anchor="ctr">
                    <a:solidFill>
                      <a:srgbClr val="EFF4F7"/>
                    </a:solidFill>
                  </a:tcPr>
                </a:tc>
                <a:tc>
                  <a:txBody>
                    <a:bodyPr lIns="161925" tIns="95250" rIns="142875" bIns="95250"/>
                    <a:lstStyle/>
                    <a:p>
                      <a:r>
                        <a:rPr sz="2550" b="0">
                          <a:solidFill>
                            <a:srgbClr val="183247"/>
                          </a:solidFill>
                          <a:latin typeface="Arial"/>
                          <a:ea typeface="Arial"/>
                          <a:cs typeface="Arial"/>
                        </a:rPr>
                        <a:t>€ 20 wordt € 30</a:t>
                      </a:r>
                    </a:p>
                  </a:txBody>
                  <a:tcPr marL="91440" marR="91440" marT="45720" marB="45720" anchor="ctr">
                    <a:solidFill>
                      <a:srgbClr val="EFF4F7"/>
                    </a:solidFill>
                  </a:tcPr>
                </a:tc>
                <a:tc>
                  <a:txBody>
                    <a:bodyPr lIns="161925" tIns="95250" rIns="142875" bIns="95250"/>
                    <a:lstStyle/>
                    <a:p>
                      <a:r>
                        <a:rPr sz="2550" b="0">
                          <a:solidFill>
                            <a:srgbClr val="183247"/>
                          </a:solidFill>
                          <a:latin typeface="Arial"/>
                          <a:ea typeface="Arial"/>
                          <a:cs typeface="Arial"/>
                        </a:rPr>
                        <a:t>120 wordt 100</a:t>
                      </a:r>
                    </a:p>
                  </a:txBody>
                  <a:tcPr marL="91440" marR="91440" marT="45720" marB="45720" anchor="ctr">
                    <a:solidFill>
                      <a:srgbClr val="EFF4F7"/>
                    </a:solidFill>
                  </a:tcPr>
                </a:tc>
              </a:tr>
            </a:tbl>
          </a:graphicData>
        </a:graphic>
      </p:graphicFrame>
      <p:sp>
        <p:nvSpPr>
          <p:cNvPr id="6" name="Een hogere prijs stimuleert aanbod en remt vraag.">
            <a:extLst xmlns:a="http://schemas.openxmlformats.org/drawingml/2006/main">
              <a:ext uri="{FF2B5EF4-FFF2-40B4-BE49-F238E27FC236}">
                <a16:creationId xmlns:a16="http://schemas.microsoft.com/office/drawing/2014/main" id="{6C40A99C-9331-455B-AC3D-578972CDB662}"/>
              </a:ext>
            </a:extLst>
          </p:cNvPr>
          <p:cNvSpPr>
            <a:spLocks xmlns:a="http://schemas.openxmlformats.org/drawingml/2006/main" noGrp="1"/>
          </p:cNvSpPr>
          <p:nvPr/>
        </p:nvSpPr>
        <p:spPr>
          <a:xfrm xmlns:a="http://schemas.openxmlformats.org/drawingml/2006/main">
            <a:off x="571500" y="6067425"/>
            <a:ext cx="14097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A5276"/>
                </a:solidFill>
                <a:latin typeface="Arial"/>
                <a:ea typeface="Arial"/>
                <a:cs typeface="Arial"/>
              </a:defRPr>
            </a:pPr>
            <a:r>
              <a:rPr sz="3075" b="1">
                <a:solidFill>
                  <a:srgbClr val="1A5276"/>
                </a:solidFill>
                <a:latin typeface="Arial"/>
                <a:ea typeface="Arial"/>
                <a:cs typeface="Arial"/>
              </a:rPr>
              <a:t>Een hogere prijs stimuleert aanbod en remt vraag.</a:t>
            </a:r>
          </a:p>
        </p:txBody>
      </p:sp>
      <p:sp>
        <p:nvSpPr>
          <p:cNvPr id="7" name="Producenten krijgen meer per rugzak. Scholieren betalen meer">
            <a:extLst xmlns:a="http://schemas.openxmlformats.org/drawingml/2006/main">
              <a:ext uri="{FF2B5EF4-FFF2-40B4-BE49-F238E27FC236}">
                <a16:creationId xmlns:a16="http://schemas.microsoft.com/office/drawing/2014/main" id="{C1447718-95DC-4F51-B787-5952A37BCEF7}"/>
              </a:ext>
            </a:extLst>
          </p:cNvPr>
          <p:cNvSpPr>
            <a:spLocks xmlns:a="http://schemas.openxmlformats.org/drawingml/2006/main" noGrp="1"/>
          </p:cNvSpPr>
          <p:nvPr/>
        </p:nvSpPr>
        <p:spPr>
          <a:xfrm xmlns:a="http://schemas.openxmlformats.org/drawingml/2006/main">
            <a:off x="571500" y="7172325"/>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83247"/>
                </a:solidFill>
                <a:latin typeface="Arial"/>
                <a:ea typeface="Arial"/>
                <a:cs typeface="Arial"/>
              </a:defRPr>
            </a:pPr>
            <a:r>
              <a:rPr sz="2625" b="0">
                <a:solidFill>
                  <a:srgbClr val="183247"/>
                </a:solidFill>
                <a:latin typeface="Arial"/>
                <a:ea typeface="Arial"/>
                <a:cs typeface="Arial"/>
              </a:rPr>
              <a:t>Producenten krijgen meer per rugzak. Scholieren betalen meer.</a:t>
            </a:r>
          </a:p>
        </p:txBody>
      </p:sp>
    </p:spTree>
    <p:extLst>
      <p:ext uri="{BB962C8B-B14F-4D97-AF65-F5344CB8AC3E}">
        <p14:creationId xmlns:p14="http://schemas.microsoft.com/office/powerpoint/2010/main" val="135192705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27d: productiedoel en voordeel voor iedereen">
            <a:extLst xmlns:a="http://schemas.openxmlformats.org/drawingml/2006/main">
              <a:ext uri="{FF2B5EF4-FFF2-40B4-BE49-F238E27FC236}">
                <a16:creationId xmlns:a16="http://schemas.microsoft.com/office/drawing/2014/main" id="{3294D8B6-38F6-43B3-BEF0-525BDFAA0B98}"/>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27d: productiedoel en voordeel voor iedereen</a:t>
            </a:r>
          </a:p>
        </p:txBody>
      </p:sp>
      <p:sp>
        <p:nvSpPr>
          <p:cNvPr id="2" name="">
            <a:extLst xmlns:a="http://schemas.openxmlformats.org/drawingml/2006/main">
              <a:ext uri="{FF2B5EF4-FFF2-40B4-BE49-F238E27FC236}">
                <a16:creationId xmlns:a16="http://schemas.microsoft.com/office/drawing/2014/main" id="{4003B27E-980E-4DCC-845E-C6EE145AB43B}"/>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DFA4048C-9840-4397-93D1-27FCF1E9A9D6}"/>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22">
            <a:extLst xmlns:a="http://schemas.openxmlformats.org/drawingml/2006/main">
              <a:ext uri="{FF2B5EF4-FFF2-40B4-BE49-F238E27FC236}">
                <a16:creationId xmlns:a16="http://schemas.microsoft.com/office/drawing/2014/main" id="{7566D0CB-E031-4DAB-8FA7-19DFE4C6A82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sp>
        <p:nvSpPr>
          <p:cNvPr id="5" name="“Het productiedoel wordt bereikt, dus de maatregel is voor i">
            <a:extLst xmlns:a="http://schemas.openxmlformats.org/drawingml/2006/main">
              <a:ext uri="{FF2B5EF4-FFF2-40B4-BE49-F238E27FC236}">
                <a16:creationId xmlns:a16="http://schemas.microsoft.com/office/drawing/2014/main" id="{C2860E81-DE61-49A9-940C-D2785840BA1B}"/>
              </a:ext>
            </a:extLst>
          </p:cNvPr>
          <p:cNvSpPr>
            <a:spLocks xmlns:a="http://schemas.openxmlformats.org/drawingml/2006/main" noGrp="1"/>
          </p:cNvSpPr>
          <p:nvPr/>
        </p:nvSpPr>
        <p:spPr>
          <a:xfrm xmlns:a="http://schemas.openxmlformats.org/drawingml/2006/main">
            <a:off x="571500" y="2162175"/>
            <a:ext cx="14097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A5276"/>
                </a:solidFill>
                <a:latin typeface="Arial"/>
                <a:ea typeface="Arial"/>
                <a:cs typeface="Arial"/>
              </a:defRPr>
            </a:pPr>
            <a:r>
              <a:rPr sz="3150" b="1">
                <a:solidFill>
                  <a:srgbClr val="1A5276"/>
                </a:solidFill>
                <a:latin typeface="Arial"/>
                <a:ea typeface="Arial"/>
                <a:cs typeface="Arial"/>
              </a:rPr>
              <a:t>“Het productiedoel wordt bereikt, dus de maatregel is voor iedereen gunstig.”</a:t>
            </a:r>
          </a:p>
        </p:txBody>
      </p:sp>
      <p:sp>
        <p:nvSpPr>
          <p:cNvPr id="6" name="Het productiedoel wordt ondersteund:&#10;40 wordt 60 rugzakken p">
            <a:extLst xmlns:a="http://schemas.openxmlformats.org/drawingml/2006/main">
              <a:ext uri="{FF2B5EF4-FFF2-40B4-BE49-F238E27FC236}">
                <a16:creationId xmlns:a16="http://schemas.microsoft.com/office/drawing/2014/main" id="{FEE914F8-8582-4A55-AB28-E416579227BE}"/>
              </a:ext>
            </a:extLst>
          </p:cNvPr>
          <p:cNvSpPr>
            <a:spLocks xmlns:a="http://schemas.openxmlformats.org/drawingml/2006/main" noGrp="1"/>
          </p:cNvSpPr>
          <p:nvPr/>
        </p:nvSpPr>
        <p:spPr>
          <a:xfrm xmlns:a="http://schemas.openxmlformats.org/drawingml/2006/main">
            <a:off x="571500" y="4105275"/>
            <a:ext cx="1409700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E7449"/>
                </a:solidFill>
                <a:latin typeface="Arial"/>
                <a:ea typeface="Arial"/>
                <a:cs typeface="Arial"/>
              </a:defRPr>
            </a:pPr>
            <a:r>
              <a:rPr sz="3075" b="1">
                <a:solidFill>
                  <a:srgbClr val="1E7449"/>
                </a:solidFill>
                <a:latin typeface="Arial"/>
                <a:ea typeface="Arial"/>
                <a:cs typeface="Arial"/>
              </a:rPr>
              <a:t>Het productiedoel wordt ondersteund:</a:t>
            </a:r>
          </a:p>
          <a:p xmlns:a="http://schemas.openxmlformats.org/drawingml/2006/main">
            <a:pPr algn="l">
              <a:defRPr sz="3075" b="1">
                <a:solidFill>
                  <a:srgbClr val="1E7449"/>
                </a:solidFill>
                <a:latin typeface="Arial"/>
                <a:ea typeface="Arial"/>
                <a:cs typeface="Arial"/>
              </a:defRPr>
            </a:pPr>
            <a:r>
              <a:rPr sz="3075" b="1">
                <a:solidFill>
                  <a:srgbClr val="1E7449"/>
                </a:solidFill>
                <a:latin typeface="Arial"/>
                <a:ea typeface="Arial"/>
                <a:cs typeface="Arial"/>
              </a:rPr>
              <a:t>40 wordt 60 rugzakken per week.</a:t>
            </a:r>
          </a:p>
        </p:txBody>
      </p:sp>
      <p:sp>
        <p:nvSpPr>
          <p:cNvPr id="7" name="De conclusie over iedereen volgt niet:&#10;scholieren betalen € ">
            <a:extLst xmlns:a="http://schemas.openxmlformats.org/drawingml/2006/main">
              <a:ext uri="{FF2B5EF4-FFF2-40B4-BE49-F238E27FC236}">
                <a16:creationId xmlns:a16="http://schemas.microsoft.com/office/drawing/2014/main" id="{B7C1649A-8697-470E-B247-A09299BCFA4F}"/>
              </a:ext>
            </a:extLst>
          </p:cNvPr>
          <p:cNvSpPr>
            <a:spLocks xmlns:a="http://schemas.openxmlformats.org/drawingml/2006/main" noGrp="1"/>
          </p:cNvSpPr>
          <p:nvPr/>
        </p:nvSpPr>
        <p:spPr>
          <a:xfrm xmlns:a="http://schemas.openxmlformats.org/drawingml/2006/main">
            <a:off x="571500" y="6076950"/>
            <a:ext cx="1409700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De conclusie over iedereen volgt niet:</a:t>
            </a:r>
          </a:p>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scholieren betalen € 30 in plaats van € 20.</a:t>
            </a:r>
          </a:p>
        </p:txBody>
      </p:sp>
    </p:spTree>
    <p:extLst>
      <p:ext uri="{BB962C8B-B14F-4D97-AF65-F5344CB8AC3E}">
        <p14:creationId xmlns:p14="http://schemas.microsoft.com/office/powerpoint/2010/main" val="89992802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27e: gratis vergunningen, geen heffing">
            <a:extLst xmlns:a="http://schemas.openxmlformats.org/drawingml/2006/main">
              <a:ext uri="{FF2B5EF4-FFF2-40B4-BE49-F238E27FC236}">
                <a16:creationId xmlns:a16="http://schemas.microsoft.com/office/drawing/2014/main" id="{4EAAEA49-EBB4-4DCE-AC16-310F721E5B73}"/>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27e: gratis vergunningen, geen heffing</a:t>
            </a:r>
          </a:p>
        </p:txBody>
      </p:sp>
      <p:sp>
        <p:nvSpPr>
          <p:cNvPr id="2" name="">
            <a:extLst xmlns:a="http://schemas.openxmlformats.org/drawingml/2006/main">
              <a:ext uri="{FF2B5EF4-FFF2-40B4-BE49-F238E27FC236}">
                <a16:creationId xmlns:a16="http://schemas.microsoft.com/office/drawing/2014/main" id="{47CB2685-1C05-404B-9F15-62CDEE3958A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 Opgave 27 · Boekpagina 115">
            <a:extLst xmlns:a="http://schemas.openxmlformats.org/drawingml/2006/main">
              <a:ext uri="{FF2B5EF4-FFF2-40B4-BE49-F238E27FC236}">
                <a16:creationId xmlns:a16="http://schemas.microsoft.com/office/drawing/2014/main" id="{C5650266-EB17-4537-99AA-A76B48DA1782}"/>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 · Opgave 27 · Boekpagina 115</a:t>
            </a:r>
          </a:p>
        </p:txBody>
      </p:sp>
      <p:sp>
        <p:nvSpPr>
          <p:cNvPr id="4" name="23">
            <a:extLst xmlns:a="http://schemas.openxmlformats.org/drawingml/2006/main">
              <a:ext uri="{FF2B5EF4-FFF2-40B4-BE49-F238E27FC236}">
                <a16:creationId xmlns:a16="http://schemas.microsoft.com/office/drawing/2014/main" id="{B1A4ECF4-AD1D-4FA6-8B04-9492B1CD46C7}"/>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graphicFrame>
        <p:nvGraphicFramePr>
          <p:cNvPr id="11" name=""/>
          <p:cNvGraphicFramePr/>
          <p:nvPr/>
        </p:nvGraphicFramePr>
        <p:xfrm>
          <a:off xmlns:a="http://schemas.openxmlformats.org/drawingml/2006/main" x="571500" y="2628900"/>
          <a:ext xmlns:a="http://schemas.openxmlformats.org/drawingml/2006/main" cx="14097000" cy="2952750"/>
        </p:xfrm>
        <a:graphic xmlns:a="http://schemas.openxmlformats.org/drawingml/2006/main">
          <a:graphicData uri="http://schemas.openxmlformats.org/drawingml/2006/table">
            <a:tbl>
              <a:tblPr/>
              <a:tblGrid>
                <a:gridCol w="6762750"/>
                <a:gridCol w="7334250"/>
              </a:tblGrid>
              <a:tr h="984250">
                <a:tc>
                  <a:txBody>
                    <a:bodyPr lIns="161925" tIns="95250" rIns="142875" bIns="95250"/>
                    <a:lstStyle/>
                    <a:p>
                      <a:r>
                        <a:rPr sz="2625" b="1">
                          <a:solidFill>
                            <a:srgbClr val="FFFFFF"/>
                          </a:solidFill>
                          <a:latin typeface="Arial"/>
                          <a:ea typeface="Arial"/>
                          <a:cs typeface="Arial"/>
                        </a:rPr>
                        <a:t>Regeling</a:t>
                      </a:r>
                    </a:p>
                  </a:txBody>
                  <a:tcPr marL="91440" marR="91440" marT="45720" marB="45720" anchor="ctr">
                    <a:solidFill>
                      <a:srgbClr val="183247"/>
                    </a:solidFill>
                  </a:tcPr>
                </a:tc>
                <a:tc>
                  <a:txBody>
                    <a:bodyPr lIns="161925" tIns="95250" rIns="142875" bIns="95250"/>
                    <a:lstStyle/>
                    <a:p>
                      <a:r>
                        <a:rPr sz="2625" b="1">
                          <a:solidFill>
                            <a:srgbClr val="FFFFFF"/>
                          </a:solidFill>
                          <a:latin typeface="Arial"/>
                          <a:ea typeface="Arial"/>
                          <a:cs typeface="Arial"/>
                        </a:rPr>
                        <a:t>Betaling aan de overheid</a:t>
                      </a:r>
                    </a:p>
                  </a:txBody>
                  <a:tcPr marL="91440" marR="91440" marT="45720" marB="45720" anchor="ctr">
                    <a:solidFill>
                      <a:srgbClr val="183247"/>
                    </a:solidFill>
                  </a:tcPr>
                </a:tc>
              </a:tr>
              <a:tr h="984250">
                <a:tc>
                  <a:txBody>
                    <a:bodyPr lIns="161925" tIns="95250" rIns="142875" bIns="95250"/>
                    <a:lstStyle/>
                    <a:p>
                      <a:r>
                        <a:rPr sz="2625" b="0">
                          <a:solidFill>
                            <a:srgbClr val="183247"/>
                          </a:solidFill>
                          <a:latin typeface="Arial"/>
                          <a:ea typeface="Arial"/>
                          <a:cs typeface="Arial"/>
                        </a:rPr>
                        <a:t>Invoerheffing</a:t>
                      </a:r>
                    </a:p>
                  </a:txBody>
                  <a:tcPr marL="91440" marR="91440" marT="45720" marB="45720" anchor="ctr">
                    <a:solidFill>
                      <a:srgbClr val="FFFFFF"/>
                    </a:solidFill>
                  </a:tcPr>
                </a:tc>
                <a:tc>
                  <a:txBody>
                    <a:bodyPr lIns="161925" tIns="95250" rIns="142875" bIns="95250"/>
                    <a:lstStyle/>
                    <a:p>
                      <a:r>
                        <a:rPr sz="2625" b="0">
                          <a:solidFill>
                            <a:srgbClr val="183247"/>
                          </a:solidFill>
                          <a:latin typeface="Arial"/>
                          <a:ea typeface="Arial"/>
                          <a:cs typeface="Arial"/>
                        </a:rPr>
                        <a:t>€ 10 per ingevoerde rugzak</a:t>
                      </a:r>
                    </a:p>
                  </a:txBody>
                  <a:tcPr marL="91440" marR="91440" marT="45720" marB="45720" anchor="ctr">
                    <a:solidFill>
                      <a:srgbClr val="FFFFFF"/>
                    </a:solidFill>
                  </a:tcPr>
                </a:tc>
              </a:tr>
              <a:tr h="984250">
                <a:tc>
                  <a:txBody>
                    <a:bodyPr lIns="161925" tIns="95250" rIns="142875" bIns="95250"/>
                    <a:lstStyle/>
                    <a:p>
                      <a:r>
                        <a:rPr sz="2625" b="0">
                          <a:solidFill>
                            <a:srgbClr val="183247"/>
                          </a:solidFill>
                          <a:latin typeface="Arial"/>
                          <a:ea typeface="Arial"/>
                          <a:cs typeface="Arial"/>
                        </a:rPr>
                        <a:t>Beschreven importquotum</a:t>
                      </a:r>
                    </a:p>
                  </a:txBody>
                  <a:tcPr marL="91440" marR="91440" marT="45720" marB="45720" anchor="ctr">
                    <a:solidFill>
                      <a:srgbClr val="EFF4F7"/>
                    </a:solidFill>
                  </a:tcPr>
                </a:tc>
                <a:tc>
                  <a:txBody>
                    <a:bodyPr lIns="161925" tIns="95250" rIns="142875" bIns="95250"/>
                    <a:lstStyle/>
                    <a:p>
                      <a:r>
                        <a:rPr sz="2625" b="0">
                          <a:solidFill>
                            <a:srgbClr val="183247"/>
                          </a:solidFill>
                          <a:latin typeface="Arial"/>
                          <a:ea typeface="Arial"/>
                          <a:cs typeface="Arial"/>
                        </a:rPr>
                        <a:t>Gratis vergunningen, zonder heffing</a:t>
                      </a:r>
                    </a:p>
                  </a:txBody>
                  <a:tcPr marL="91440" marR="91440" marT="45720" marB="45720" anchor="ctr">
                    <a:solidFill>
                      <a:srgbClr val="EFF4F7"/>
                    </a:solidFill>
                  </a:tcPr>
                </a:tc>
              </a:tr>
            </a:tbl>
          </a:graphicData>
        </a:graphic>
      </p:graphicFrame>
      <p:sp>
        <p:nvSpPr>
          <p:cNvPr id="6" name="Het quotum geeft geen vergelijkbare betaling per rugzak.&#10;Daa">
            <a:extLst xmlns:a="http://schemas.openxmlformats.org/drawingml/2006/main">
              <a:ext uri="{FF2B5EF4-FFF2-40B4-BE49-F238E27FC236}">
                <a16:creationId xmlns:a16="http://schemas.microsoft.com/office/drawing/2014/main" id="{842C6C53-0EA6-40BF-994E-4DDC0A6F7767}"/>
              </a:ext>
            </a:extLst>
          </p:cNvPr>
          <p:cNvSpPr>
            <a:spLocks xmlns:a="http://schemas.openxmlformats.org/drawingml/2006/main" noGrp="1"/>
          </p:cNvSpPr>
          <p:nvPr/>
        </p:nvSpPr>
        <p:spPr>
          <a:xfrm xmlns:a="http://schemas.openxmlformats.org/drawingml/2006/main">
            <a:off x="571500" y="6438900"/>
            <a:ext cx="140970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Het quotum geeft geen vergelijkbare betaling per rugzak.</a:t>
            </a:r>
          </a:p>
          <a:p xmlns:a="http://schemas.openxmlformats.org/drawingml/2006/main">
            <a:pPr algn="l">
              <a:defRPr sz="3075" b="1">
                <a:solidFill>
                  <a:srgbClr val="A94D16"/>
                </a:solidFill>
                <a:latin typeface="Arial"/>
                <a:ea typeface="Arial"/>
                <a:cs typeface="Arial"/>
              </a:defRPr>
            </a:pPr>
            <a:r>
              <a:rPr sz="3075" b="1">
                <a:solidFill>
                  <a:srgbClr val="A94D16"/>
                </a:solidFill>
                <a:latin typeface="Arial"/>
                <a:ea typeface="Arial"/>
                <a:cs typeface="Arial"/>
              </a:rPr>
              <a:t>Daarom ontvang je hier niet opnieuw € 400 per week.</a:t>
            </a:r>
          </a:p>
        </p:txBody>
      </p:sp>
    </p:spTree>
    <p:extLst>
      <p:ext uri="{BB962C8B-B14F-4D97-AF65-F5344CB8AC3E}">
        <p14:creationId xmlns:p14="http://schemas.microsoft.com/office/powerpoint/2010/main" val="79147176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3.3 Protectionisme">
            <a:extLst xmlns:a="http://schemas.openxmlformats.org/drawingml/2006/main">
              <a:ext uri="{FF2B5EF4-FFF2-40B4-BE49-F238E27FC236}">
                <a16:creationId xmlns:a16="http://schemas.microsoft.com/office/drawing/2014/main" id="{C74C2928-2BAC-45E6-A322-EC7BBF56C453}"/>
              </a:ext>
            </a:extLst>
          </p:cNvPr>
          <p:cNvSpPr>
            <a:spLocks xmlns:a="http://schemas.openxmlformats.org/drawingml/2006/main" noGrp="1"/>
          </p:cNvSpPr>
          <p:nvPr/>
        </p:nvSpPr>
        <p:spPr>
          <a:xfrm xmlns:a="http://schemas.openxmlformats.org/drawingml/2006/main">
            <a:off x="571500" y="400050"/>
            <a:ext cx="1409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83247"/>
                </a:solidFill>
                <a:latin typeface="Arial"/>
                <a:ea typeface="Arial"/>
                <a:cs typeface="Arial"/>
              </a:defRPr>
            </a:pPr>
            <a:r>
              <a:rPr sz="3675" b="1">
                <a:solidFill>
                  <a:srgbClr val="183247"/>
                </a:solidFill>
                <a:latin typeface="Arial"/>
                <a:ea typeface="Arial"/>
                <a:cs typeface="Arial"/>
              </a:rPr>
              <a:t>Deze les: §3.3.3 Protectionisme</a:t>
            </a:r>
          </a:p>
        </p:txBody>
      </p:sp>
      <p:sp>
        <p:nvSpPr>
          <p:cNvPr id="2" name="">
            <a:extLst xmlns:a="http://schemas.openxmlformats.org/drawingml/2006/main">
              <a:ext uri="{FF2B5EF4-FFF2-40B4-BE49-F238E27FC236}">
                <a16:creationId xmlns:a16="http://schemas.microsoft.com/office/drawing/2014/main" id="{970EF596-C243-4642-AB29-3E0E9BEEA5A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3.3 Protectionisme">
            <a:extLst xmlns:a="http://schemas.openxmlformats.org/drawingml/2006/main">
              <a:ext uri="{FF2B5EF4-FFF2-40B4-BE49-F238E27FC236}">
                <a16:creationId xmlns:a16="http://schemas.microsoft.com/office/drawing/2014/main" id="{B591DE8D-7786-4C6A-8915-685308323D4A}"/>
              </a:ext>
            </a:extLst>
          </p:cNvPr>
          <p:cNvSpPr>
            <a:spLocks xmlns:a="http://schemas.openxmlformats.org/drawingml/2006/main" noGrp="1"/>
          </p:cNvSpPr>
          <p:nvPr/>
        </p:nvSpPr>
        <p:spPr>
          <a:xfrm xmlns:a="http://schemas.openxmlformats.org/drawingml/2006/main">
            <a:off x="571500" y="8077200"/>
            <a:ext cx="1314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§3.3.3 Protectionisme</a:t>
            </a:r>
          </a:p>
        </p:txBody>
      </p:sp>
      <p:sp>
        <p:nvSpPr>
          <p:cNvPr id="4" name="24">
            <a:extLst xmlns:a="http://schemas.openxmlformats.org/drawingml/2006/main">
              <a:ext uri="{FF2B5EF4-FFF2-40B4-BE49-F238E27FC236}">
                <a16:creationId xmlns:a16="http://schemas.microsoft.com/office/drawing/2014/main" id="{4C436BE5-0693-478A-8A9B-B7BF1F7C3B3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4B528D38-D24C-4A2D-9E8E-3B8AAEB7F625}"/>
              </a:ext>
            </a:extLst>
          </p:cNvPr>
          <p:cNvSpPr>
            <a:spLocks xmlns:a="http://schemas.openxmlformats.org/drawingml/2006/main" noGrp="1"/>
          </p:cNvSpPr>
          <p:nvPr/>
        </p:nvSpPr>
        <p:spPr>
          <a:xfrm xmlns:a="http://schemas.openxmlformats.org/drawingml/2006/main">
            <a:off x="571500" y="1047750"/>
            <a:ext cx="1409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9C810D11-84C8-4385-B3C0-BF2886CBC8F5}"/>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0">
            <a:extLst xmlns:a="http://schemas.openxmlformats.org/drawingml/2006/main">
              <a:ext uri="{FF2B5EF4-FFF2-40B4-BE49-F238E27FC236}">
                <a16:creationId xmlns:a16="http://schemas.microsoft.com/office/drawing/2014/main" id="{3C824087-F96E-48F6-87B7-313BC518407A}"/>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0">
            <a:extLst xmlns:a="http://schemas.openxmlformats.org/drawingml/2006/main">
              <a:ext uri="{FF2B5EF4-FFF2-40B4-BE49-F238E27FC236}">
                <a16:creationId xmlns:a16="http://schemas.microsoft.com/office/drawing/2014/main" id="{A6CFEF31-FA22-4CCC-9F45-C724329AB121}"/>
              </a:ext>
            </a:extLst>
          </p:cNvPr>
          <p:cNvSpPr>
            <a:spLocks xmlns:a="http://schemas.openxmlformats.org/drawingml/2006/main" noGrp="1"/>
          </p:cNvSpPr>
          <p:nvPr/>
        </p:nvSpPr>
        <p:spPr>
          <a:xfrm xmlns:a="http://schemas.openxmlformats.org/drawingml/2006/main">
            <a:off x="1104900" y="2324100"/>
            <a:ext cx="7419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pen en rekenmachine.</a:t>
            </a:r>
          </a:p>
        </p:txBody>
      </p:sp>
      <p:sp>
        <p:nvSpPr>
          <p:cNvPr id="9" name="route-number-1">
            <a:extLst xmlns:a="http://schemas.openxmlformats.org/drawingml/2006/main">
              <a:ext uri="{FF2B5EF4-FFF2-40B4-BE49-F238E27FC236}">
                <a16:creationId xmlns:a16="http://schemas.microsoft.com/office/drawing/2014/main" id="{7FA3B1F2-C0D1-441A-A43A-7F5F9D21194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1">
            <a:extLst xmlns:a="http://schemas.openxmlformats.org/drawingml/2006/main">
              <a:ext uri="{FF2B5EF4-FFF2-40B4-BE49-F238E27FC236}">
                <a16:creationId xmlns:a16="http://schemas.microsoft.com/office/drawing/2014/main" id="{3968F747-E073-4D77-A633-4FD52B8CBC6A}"/>
              </a:ext>
            </a:extLst>
          </p:cNvPr>
          <p:cNvSpPr>
            <a:spLocks xmlns:a="http://schemas.openxmlformats.org/drawingml/2006/main" noGrp="1"/>
          </p:cNvSpPr>
          <p:nvPr/>
        </p:nvSpPr>
        <p:spPr>
          <a:xfrm xmlns:a="http://schemas.openxmlformats.org/drawingml/2006/main">
            <a:off x="1104900" y="320040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2">
            <a:extLst xmlns:a="http://schemas.openxmlformats.org/drawingml/2006/main">
              <a:ext uri="{FF2B5EF4-FFF2-40B4-BE49-F238E27FC236}">
                <a16:creationId xmlns:a16="http://schemas.microsoft.com/office/drawing/2014/main" id="{78385F1C-35AD-4BE3-B2B6-488424EC5547}"/>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2">
            <a:extLst xmlns:a="http://schemas.openxmlformats.org/drawingml/2006/main">
              <a:ext uri="{FF2B5EF4-FFF2-40B4-BE49-F238E27FC236}">
                <a16:creationId xmlns:a16="http://schemas.microsoft.com/office/drawing/2014/main" id="{2671927A-6EBA-449B-9223-86310D739052}"/>
              </a:ext>
            </a:extLst>
          </p:cNvPr>
          <p:cNvSpPr>
            <a:spLocks xmlns:a="http://schemas.openxmlformats.org/drawingml/2006/main" noGrp="1"/>
          </p:cNvSpPr>
          <p:nvPr/>
        </p:nvSpPr>
        <p:spPr>
          <a:xfrm xmlns:a="http://schemas.openxmlformats.org/drawingml/2006/main">
            <a:off x="1104900" y="3714750"/>
            <a:ext cx="7419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3">
            <a:extLst xmlns:a="http://schemas.openxmlformats.org/drawingml/2006/main">
              <a:ext uri="{FF2B5EF4-FFF2-40B4-BE49-F238E27FC236}">
                <a16:creationId xmlns:a16="http://schemas.microsoft.com/office/drawing/2014/main" id="{4366499F-3F1D-4753-9629-244CEED27A0A}"/>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3">
            <a:extLst xmlns:a="http://schemas.openxmlformats.org/drawingml/2006/main">
              <a:ext uri="{FF2B5EF4-FFF2-40B4-BE49-F238E27FC236}">
                <a16:creationId xmlns:a16="http://schemas.microsoft.com/office/drawing/2014/main" id="{4133064A-EE6B-44A7-B64D-E060B1146495}"/>
              </a:ext>
            </a:extLst>
          </p:cNvPr>
          <p:cNvSpPr>
            <a:spLocks xmlns:a="http://schemas.openxmlformats.org/drawingml/2006/main" noGrp="1"/>
          </p:cNvSpPr>
          <p:nvPr/>
        </p:nvSpPr>
        <p:spPr>
          <a:xfrm xmlns:a="http://schemas.openxmlformats.org/drawingml/2006/main">
            <a:off x="1104900" y="4248150"/>
            <a:ext cx="741997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4">
            <a:extLst xmlns:a="http://schemas.openxmlformats.org/drawingml/2006/main">
              <a:ext uri="{FF2B5EF4-FFF2-40B4-BE49-F238E27FC236}">
                <a16:creationId xmlns:a16="http://schemas.microsoft.com/office/drawing/2014/main" id="{6E38A4B9-F66B-4A0A-8EB1-CDA48AE8204A}"/>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4">
            <a:extLst xmlns:a="http://schemas.openxmlformats.org/drawingml/2006/main">
              <a:ext uri="{FF2B5EF4-FFF2-40B4-BE49-F238E27FC236}">
                <a16:creationId xmlns:a16="http://schemas.microsoft.com/office/drawing/2014/main" id="{5EA3F672-AFF8-4793-9543-C50C1AEA974A}"/>
              </a:ext>
            </a:extLst>
          </p:cNvPr>
          <p:cNvSpPr>
            <a:spLocks xmlns:a="http://schemas.openxmlformats.org/drawingml/2006/main" noGrp="1"/>
          </p:cNvSpPr>
          <p:nvPr/>
        </p:nvSpPr>
        <p:spPr>
          <a:xfrm xmlns:a="http://schemas.openxmlformats.org/drawingml/2006/main">
            <a:off x="1104900" y="6057900"/>
            <a:ext cx="7419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5">
            <a:extLst xmlns:a="http://schemas.openxmlformats.org/drawingml/2006/main">
              <a:ext uri="{FF2B5EF4-FFF2-40B4-BE49-F238E27FC236}">
                <a16:creationId xmlns:a16="http://schemas.microsoft.com/office/drawing/2014/main" id="{5DE8F5BC-3C67-4811-99F3-4B3DA85F3AB4}"/>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5">
            <a:extLst xmlns:a="http://schemas.openxmlformats.org/drawingml/2006/main">
              <a:ext uri="{FF2B5EF4-FFF2-40B4-BE49-F238E27FC236}">
                <a16:creationId xmlns:a16="http://schemas.microsoft.com/office/drawing/2014/main" id="{0E018920-95E5-4EA7-BCBD-9608A60FC58E}"/>
              </a:ext>
            </a:extLst>
          </p:cNvPr>
          <p:cNvSpPr>
            <a:spLocks xmlns:a="http://schemas.openxmlformats.org/drawingml/2006/main" noGrp="1"/>
          </p:cNvSpPr>
          <p:nvPr/>
        </p:nvSpPr>
        <p:spPr>
          <a:xfrm xmlns:a="http://schemas.openxmlformats.org/drawingml/2006/main">
            <a:off x="1104900" y="6819900"/>
            <a:ext cx="74199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27.</a:t>
            </a:r>
          </a:p>
        </p:txBody>
      </p:sp>
      <p:sp>
        <p:nvSpPr>
          <p:cNvPr id="19" name="route-number-6">
            <a:extLst xmlns:a="http://schemas.openxmlformats.org/drawingml/2006/main">
              <a:ext uri="{FF2B5EF4-FFF2-40B4-BE49-F238E27FC236}">
                <a16:creationId xmlns:a16="http://schemas.microsoft.com/office/drawing/2014/main" id="{BFF0F60C-47A8-4E7E-AE39-A1596A62B3C4}"/>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7.</a:t>
            </a:r>
          </a:p>
        </p:txBody>
      </p:sp>
      <p:sp>
        <p:nvSpPr>
          <p:cNvPr id="20" name="route-6">
            <a:extLst xmlns:a="http://schemas.openxmlformats.org/drawingml/2006/main">
              <a:ext uri="{FF2B5EF4-FFF2-40B4-BE49-F238E27FC236}">
                <a16:creationId xmlns:a16="http://schemas.microsoft.com/office/drawing/2014/main" id="{75E8A482-3792-445E-BC59-205DCDDCD60B}"/>
              </a:ext>
            </a:extLst>
          </p:cNvPr>
          <p:cNvSpPr>
            <a:spLocks xmlns:a="http://schemas.openxmlformats.org/drawingml/2006/main" noGrp="1"/>
          </p:cNvSpPr>
          <p:nvPr/>
        </p:nvSpPr>
        <p:spPr>
          <a:xfrm xmlns:a="http://schemas.openxmlformats.org/drawingml/2006/main">
            <a:off x="1104900" y="7372350"/>
            <a:ext cx="74199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A5276"/>
                </a:solidFill>
                <a:latin typeface="Arial"/>
                <a:ea typeface="Arial"/>
                <a:cs typeface="Arial"/>
              </a:defRPr>
            </a:pPr>
            <a:r>
              <a:rPr sz="2250" b="1">
                <a:solidFill>
                  <a:srgbClr val="1A5276"/>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0BD0AB68-8671-495D-989C-2D8C1973A52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7B4A1AC1-A022-448C-AA86-F5F241E87558}"/>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Import en opbrengst berekenen.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Gevolgen per groep verklaren.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Heffing en quotum vergelijken.</a:t>
            </a:r>
          </a:p>
        </p:txBody>
      </p:sp>
      <p:sp>
        <p:nvSpPr>
          <p:cNvPr id="23" name="">
            <a:extLst xmlns:a="http://schemas.openxmlformats.org/drawingml/2006/main">
              <a:ext uri="{FF2B5EF4-FFF2-40B4-BE49-F238E27FC236}">
                <a16:creationId xmlns:a16="http://schemas.microsoft.com/office/drawing/2014/main" id="{016C5F77-A84F-4893-825B-8311B21BE819}"/>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2D56DFAB-4919-4D6E-A605-820A221FF274}"/>
              </a:ext>
            </a:extLst>
          </p:cNvPr>
          <p:cNvSpPr>
            <a:spLocks xmlns:a="http://schemas.openxmlformats.org/drawingml/2006/main" noGrp="1"/>
          </p:cNvSpPr>
          <p:nvPr/>
        </p:nvSpPr>
        <p:spPr>
          <a:xfrm xmlns:a="http://schemas.openxmlformats.org/drawingml/2006/main">
            <a:off x="9258300" y="38195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AE6F0E7F-A225-4048-851A-DE6F1E04B0CF}"/>
              </a:ext>
            </a:extLst>
          </p:cNvPr>
          <p:cNvSpPr>
            <a:spLocks xmlns:a="http://schemas.openxmlformats.org/drawingml/2006/main" noGrp="1"/>
          </p:cNvSpPr>
          <p:nvPr/>
        </p:nvSpPr>
        <p:spPr>
          <a:xfrm xmlns:a="http://schemas.openxmlformats.org/drawingml/2006/main">
            <a:off x="9258300" y="4362450"/>
            <a:ext cx="53816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112 · Opgaven 21 en 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22: verkennen, theorie p. 108–109</a:t>
            </a:r>
          </a:p>
        </p:txBody>
      </p:sp>
      <p:sp>
        <p:nvSpPr>
          <p:cNvPr id="26" name="">
            <a:extLst xmlns:a="http://schemas.openxmlformats.org/drawingml/2006/main">
              <a:ext uri="{FF2B5EF4-FFF2-40B4-BE49-F238E27FC236}">
                <a16:creationId xmlns:a16="http://schemas.microsoft.com/office/drawing/2014/main" id="{34CCF636-F1B5-4087-8644-8B68B93E18CC}"/>
              </a:ext>
            </a:extLst>
          </p:cNvPr>
          <p:cNvSpPr>
            <a:spLocks xmlns:a="http://schemas.openxmlformats.org/drawingml/2006/main" noGrp="1"/>
          </p:cNvSpPr>
          <p:nvPr/>
        </p:nvSpPr>
        <p:spPr>
          <a:xfrm xmlns:a="http://schemas.openxmlformats.org/drawingml/2006/main">
            <a:off x="9258300" y="55054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DD20E55A-2DCA-4447-84DD-C28A72D21F22}"/>
              </a:ext>
            </a:extLst>
          </p:cNvPr>
          <p:cNvSpPr>
            <a:spLocks xmlns:a="http://schemas.openxmlformats.org/drawingml/2006/main" noGrp="1"/>
          </p:cNvSpPr>
          <p:nvPr/>
        </p:nvSpPr>
        <p:spPr>
          <a:xfrm xmlns:a="http://schemas.openxmlformats.org/drawingml/2006/main">
            <a:off x="9258300" y="571500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A5276"/>
                </a:solidFill>
                <a:latin typeface="Arial"/>
                <a:ea typeface="Arial"/>
                <a:cs typeface="Arial"/>
              </a:defRPr>
            </a:pPr>
            <a:r>
              <a:rPr sz="2625" b="1">
                <a:solidFill>
                  <a:srgbClr val="1A5276"/>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750ABE66-0576-467C-9C9A-929727203A64}"/>
              </a:ext>
            </a:extLst>
          </p:cNvPr>
          <p:cNvSpPr>
            <a:spLocks xmlns:a="http://schemas.openxmlformats.org/drawingml/2006/main" noGrp="1"/>
          </p:cNvSpPr>
          <p:nvPr/>
        </p:nvSpPr>
        <p:spPr>
          <a:xfrm xmlns:a="http://schemas.openxmlformats.org/drawingml/2006/main">
            <a:off x="9258300" y="6219825"/>
            <a:ext cx="5381625" cy="1724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§3.3.3 Protectionisme</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23 en 24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25 en 26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27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 23–27</a:t>
            </a:r>
          </a:p>
        </p:txBody>
      </p:sp>
    </p:spTree>
    <p:extLst>
      <p:ext uri="{BB962C8B-B14F-4D97-AF65-F5344CB8AC3E}">
        <p14:creationId xmlns:p14="http://schemas.microsoft.com/office/powerpoint/2010/main" val="21283460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2026-10-01T10:58:12.8600000Z</dcterms:created>
  <dcterms:modified xsi:type="dcterms:W3CDTF">2026-10-01T10:58:12.8600000Z</dcterms:modified>
</coreProperties>
</file>