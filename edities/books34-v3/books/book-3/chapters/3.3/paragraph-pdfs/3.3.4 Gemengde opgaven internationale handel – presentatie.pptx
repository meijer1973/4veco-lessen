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2.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e34817f22034c11" /><Relationship Type="http://schemas.openxmlformats.org/officeDocument/2006/relationships/extended-properties" Target="/docProps/app.xml" Id="R72b17ad50f0f4fee" /><Relationship Type="http://schemas.openxmlformats.org/officeDocument/2006/relationships/officeDocument" Target="/ppt/presentation.xml" Id="Rb4e6494daa314667" /></Relationships>
</file>

<file path=ppt/presentation.xml><?xml version="1.0" encoding="utf-8"?>
<p:presentation xmlns:p="http://schemas.openxmlformats.org/presentationml/2006/main">
  <p:sldMasterIdLst>
    <p:sldMasterId xmlns:r="http://schemas.openxmlformats.org/officeDocument/2006/relationships" id="2147483648" r:id="R0bb9e951e70e4643"/>
  </p:sldMasterIdLst>
  <p:notesMasterIdLst>
    <p:notesMasterId xmlns:r="http://schemas.openxmlformats.org/officeDocument/2006/relationships" r:id="R1258af1b740d46e5"/>
  </p:notesMasterIdLst>
  <p:sldIdLst>
    <p:sldId xmlns:r="http://schemas.openxmlformats.org/officeDocument/2006/relationships" id="256" r:id="R048622d2f4164959"/>
    <p:sldId xmlns:r="http://schemas.openxmlformats.org/officeDocument/2006/relationships" id="257" r:id="R89da624ea2654988"/>
    <p:sldId xmlns:r="http://schemas.openxmlformats.org/officeDocument/2006/relationships" id="258" r:id="R1cbfcff07ca44f3c"/>
    <p:sldId xmlns:r="http://schemas.openxmlformats.org/officeDocument/2006/relationships" id="259" r:id="R10a797da42f04d44"/>
    <p:sldId xmlns:r="http://schemas.openxmlformats.org/officeDocument/2006/relationships" id="260" r:id="Rca95430cf6b04772"/>
    <p:sldId xmlns:r="http://schemas.openxmlformats.org/officeDocument/2006/relationships" id="261" r:id="Rcb3dcbab9aec4d56"/>
    <p:sldId xmlns:r="http://schemas.openxmlformats.org/officeDocument/2006/relationships" id="262" r:id="R750e50e7bb934ea3"/>
    <p:sldId xmlns:r="http://schemas.openxmlformats.org/officeDocument/2006/relationships" id="263" r:id="R18d5775571024e3b"/>
    <p:sldId xmlns:r="http://schemas.openxmlformats.org/officeDocument/2006/relationships" id="264" r:id="Rad4b0a0d8dbe415a"/>
    <p:sldId xmlns:r="http://schemas.openxmlformats.org/officeDocument/2006/relationships" id="265" r:id="R2ecfdd82a23d4f39"/>
    <p:sldId xmlns:r="http://schemas.openxmlformats.org/officeDocument/2006/relationships" id="266" r:id="Rbba62441fa0240b8"/>
    <p:sldId xmlns:r="http://schemas.openxmlformats.org/officeDocument/2006/relationships" id="267" r:id="Radd840966e3b4ae0"/>
    <p:sldId xmlns:r="http://schemas.openxmlformats.org/officeDocument/2006/relationships" id="268" r:id="R3e0fbca1d9294b05"/>
    <p:sldId xmlns:r="http://schemas.openxmlformats.org/officeDocument/2006/relationships" id="269" r:id="R2e18cf41e2754e5b"/>
    <p:sldId xmlns:r="http://schemas.openxmlformats.org/officeDocument/2006/relationships" id="270" r:id="R2ceb193873744fc0"/>
    <p:sldId xmlns:r="http://schemas.openxmlformats.org/officeDocument/2006/relationships" id="271" r:id="R30e009504a744482"/>
    <p:sldId xmlns:r="http://schemas.openxmlformats.org/officeDocument/2006/relationships" id="272" r:id="R608fe77687fa43a4"/>
    <p:sldId xmlns:r="http://schemas.openxmlformats.org/officeDocument/2006/relationships" id="273" r:id="Ra085e677ad014ca4"/>
    <p:sldId xmlns:r="http://schemas.openxmlformats.org/officeDocument/2006/relationships" id="274" r:id="Rb63877e2e52345a6"/>
    <p:sldId xmlns:r="http://schemas.openxmlformats.org/officeDocument/2006/relationships" id="275" r:id="Ra6f310884974467c"/>
    <p:sldId xmlns:r="http://schemas.openxmlformats.org/officeDocument/2006/relationships" id="276" r:id="Rf9f449d6eff743a3"/>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1e175f6a0ad44e7" /><Relationship Type="http://schemas.openxmlformats.org/officeDocument/2006/relationships/slideMaster" Target="/ppt/slideMasters/slideMaster1.xml" Id="R0bb9e951e70e4643" /><Relationship Type="http://schemas.openxmlformats.org/officeDocument/2006/relationships/notesMaster" Target="/ppt/notesMasters/notesMaster1.xml" Id="R1258af1b740d46e5" /><Relationship Type="http://schemas.openxmlformats.org/officeDocument/2006/relationships/presProps" Target="/ppt/presProps.xml" Id="R506c0b69cd334bd6" /><Relationship Type="http://schemas.openxmlformats.org/officeDocument/2006/relationships/tableStyles" Target="/ppt/tableStyles.xml" Id="Rd39badcfb49f47ac" /><Relationship Type="http://schemas.openxmlformats.org/officeDocument/2006/relationships/slide" Target="/ppt/slides/slide1.xml" Id="R048622d2f4164959" /><Relationship Type="http://schemas.openxmlformats.org/officeDocument/2006/relationships/slide" Target="/ppt/slides/slide2.xml" Id="R89da624ea2654988" /><Relationship Type="http://schemas.openxmlformats.org/officeDocument/2006/relationships/slide" Target="/ppt/slides/slide3.xml" Id="R1cbfcff07ca44f3c" /><Relationship Type="http://schemas.openxmlformats.org/officeDocument/2006/relationships/slide" Target="/ppt/slides/slide4.xml" Id="R10a797da42f04d44" /><Relationship Type="http://schemas.openxmlformats.org/officeDocument/2006/relationships/slide" Target="/ppt/slides/slide5.xml" Id="Rca95430cf6b04772" /><Relationship Type="http://schemas.openxmlformats.org/officeDocument/2006/relationships/slide" Target="/ppt/slides/slide6.xml" Id="Rcb3dcbab9aec4d56" /><Relationship Type="http://schemas.openxmlformats.org/officeDocument/2006/relationships/slide" Target="/ppt/slides/slide7.xml" Id="R750e50e7bb934ea3" /><Relationship Type="http://schemas.openxmlformats.org/officeDocument/2006/relationships/slide" Target="/ppt/slides/slide8.xml" Id="R18d5775571024e3b" /><Relationship Type="http://schemas.openxmlformats.org/officeDocument/2006/relationships/slide" Target="/ppt/slides/slide9.xml" Id="Rad4b0a0d8dbe415a" /><Relationship Type="http://schemas.openxmlformats.org/officeDocument/2006/relationships/slide" Target="/ppt/slides/slide10.xml" Id="R2ecfdd82a23d4f39" /><Relationship Type="http://schemas.openxmlformats.org/officeDocument/2006/relationships/slide" Target="/ppt/slides/slide11.xml" Id="Rbba62441fa0240b8" /><Relationship Type="http://schemas.openxmlformats.org/officeDocument/2006/relationships/slide" Target="/ppt/slides/slide12.xml" Id="Radd840966e3b4ae0" /><Relationship Type="http://schemas.openxmlformats.org/officeDocument/2006/relationships/slide" Target="/ppt/slides/slide13.xml" Id="R3e0fbca1d9294b05" /><Relationship Type="http://schemas.openxmlformats.org/officeDocument/2006/relationships/slide" Target="/ppt/slides/slide14.xml" Id="R2e18cf41e2754e5b" /><Relationship Type="http://schemas.openxmlformats.org/officeDocument/2006/relationships/slide" Target="/ppt/slides/slide15.xml" Id="R2ceb193873744fc0" /><Relationship Type="http://schemas.openxmlformats.org/officeDocument/2006/relationships/slide" Target="/ppt/slides/slide16.xml" Id="R30e009504a744482" /><Relationship Type="http://schemas.openxmlformats.org/officeDocument/2006/relationships/slide" Target="/ppt/slides/slide17.xml" Id="R608fe77687fa43a4" /><Relationship Type="http://schemas.openxmlformats.org/officeDocument/2006/relationships/slide" Target="/ppt/slides/slide18.xml" Id="Ra085e677ad014ca4" /><Relationship Type="http://schemas.openxmlformats.org/officeDocument/2006/relationships/slide" Target="/ppt/slides/slide19.xml" Id="Rb63877e2e52345a6" /><Relationship Type="http://schemas.openxmlformats.org/officeDocument/2006/relationships/slide" Target="/ppt/slides/slide20.xml" Id="Ra6f310884974467c" /><Relationship Type="http://schemas.openxmlformats.org/officeDocument/2006/relationships/slide" Target="/ppt/slides/slide21.xml" Id="Rf9f449d6eff743a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48fe887a30a446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4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497f676e1054089" /><Relationship Type="http://schemas.openxmlformats.org/officeDocument/2006/relationships/notesMaster" Target="/ppt/notesMasters/notesMaster1.xml" Id="Rcba149c157164503" /></Relationships>
</file>

<file path=ppt/notesSlides/_rels/notesSlide2.xml.rels>&#65279;<?xml version="1.0" encoding="utf-8"?><Relationships xmlns="http://schemas.openxmlformats.org/package/2006/relationships"><Relationship Type="http://schemas.openxmlformats.org/officeDocument/2006/relationships/slide" Target="/ppt/slides/slide2.xml" Id="R1c4edd3d76e0445d" /><Relationship Type="http://schemas.openxmlformats.org/officeDocument/2006/relationships/notesMaster" Target="/ppt/notesMasters/notesMaster1.xml" Id="R4413eeacc7cd41ba" /></Relationships>
</file>

<file path=ppt/notesSlides/_rels/notesSlide3.xml.rels>&#65279;<?xml version="1.0" encoding="utf-8"?><Relationships xmlns="http://schemas.openxmlformats.org/package/2006/relationships"><Relationship Type="http://schemas.openxmlformats.org/officeDocument/2006/relationships/slide" Target="/ppt/slides/slide3.xml" Id="R1828b8ce23514123" /><Relationship Type="http://schemas.openxmlformats.org/officeDocument/2006/relationships/notesMaster" Target="/ppt/notesMasters/notesMaster1.xml" Id="R97f6d076fa2f4fa8" /></Relationships>
</file>

<file path=ppt/notesSlides/_rels/notesSlide4.xml.rels>&#65279;<?xml version="1.0" encoding="utf-8"?><Relationships xmlns="http://schemas.openxmlformats.org/package/2006/relationships"><Relationship Type="http://schemas.openxmlformats.org/officeDocument/2006/relationships/slide" Target="/ppt/slides/slide4.xml" Id="R844df241c67842fa" /><Relationship Type="http://schemas.openxmlformats.org/officeDocument/2006/relationships/notesMaster" Target="/ppt/notesMasters/notesMaster1.xml" Id="R7509a71212984a9e" /></Relationships>
</file>

<file path=ppt/notesSlides/_rels/notesSlide5.xml.rels>&#65279;<?xml version="1.0" encoding="utf-8"?><Relationships xmlns="http://schemas.openxmlformats.org/package/2006/relationships"><Relationship Type="http://schemas.openxmlformats.org/officeDocument/2006/relationships/slide" Target="/ppt/slides/slide5.xml" Id="Rc46cf87a0f8b45b9" /><Relationship Type="http://schemas.openxmlformats.org/officeDocument/2006/relationships/notesMaster" Target="/ppt/notesMasters/notesMaster1.xml" Id="R4f81d1869fdb4e7a" /></Relationships>
</file>

<file path=ppt/notesSlides/_rels/notesSlide6.xml.rels>&#65279;<?xml version="1.0" encoding="utf-8"?><Relationships xmlns="http://schemas.openxmlformats.org/package/2006/relationships"><Relationship Type="http://schemas.openxmlformats.org/officeDocument/2006/relationships/slide" Target="/ppt/slides/slide6.xml" Id="Rb541bce267a84ba1" /><Relationship Type="http://schemas.openxmlformats.org/officeDocument/2006/relationships/notesMaster" Target="/ppt/notesMasters/notesMaster1.xml" Id="Rf62377aa1cf74d6e" /></Relationships>
</file>

<file path=ppt/notesSlides/_rels/notesSlide7.xml.rels>&#65279;<?xml version="1.0" encoding="utf-8"?><Relationships xmlns="http://schemas.openxmlformats.org/package/2006/relationships"><Relationship Type="http://schemas.openxmlformats.org/officeDocument/2006/relationships/slide" Target="/ppt/slides/slide7.xml" Id="R1afd6ae93c424f28" /><Relationship Type="http://schemas.openxmlformats.org/officeDocument/2006/relationships/notesMaster" Target="/ppt/notesMasters/notesMaster1.xml" Id="R55a6193e263a4128" /></Relationships>
</file>

<file path=ppt/notesSlides/_rels/notesSlide8.xml.rels>&#65279;<?xml version="1.0" encoding="utf-8"?><Relationships xmlns="http://schemas.openxmlformats.org/package/2006/relationships"><Relationship Type="http://schemas.openxmlformats.org/officeDocument/2006/relationships/slide" Target="/ppt/slides/slide8.xml" Id="Rfd73f33b78d349b6" /><Relationship Type="http://schemas.openxmlformats.org/officeDocument/2006/relationships/notesMaster" Target="/ppt/notesMasters/notesMaster1.xml" Id="R5e8558f1726a40aa" /></Relationships>
</file>

<file path=ppt/notesSlides/_rels/notesSlide9.xml.rels>&#65279;<?xml version="1.0" encoding="utf-8"?><Relationships xmlns="http://schemas.openxmlformats.org/package/2006/relationships"><Relationship Type="http://schemas.openxmlformats.org/officeDocument/2006/relationships/slide" Target="/ppt/slides/slide9.xml" Id="Rab9498300c9d4154" /><Relationship Type="http://schemas.openxmlformats.org/officeDocument/2006/relationships/notesMaster" Target="/ppt/notesMasters/notesMaster1.xml" Id="R16cb0ab04b3c4d0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17fa503cad540d7" /><Relationship Type="http://schemas.openxmlformats.org/officeDocument/2006/relationships/notesMaster" Target="/ppt/notesMasters/notesMaster1.xml" Id="Rffa4c0cc1fb949e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e534e2fc82f4e36" /><Relationship Type="http://schemas.openxmlformats.org/officeDocument/2006/relationships/notesMaster" Target="/ppt/notesMasters/notesMaster1.xml" Id="R02e0e684f8da487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b87635df0d74d5c" /><Relationship Type="http://schemas.openxmlformats.org/officeDocument/2006/relationships/notesMaster" Target="/ppt/notesMasters/notesMaster1.xml" Id="R8658418ab577487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062555c1a344cff" /><Relationship Type="http://schemas.openxmlformats.org/officeDocument/2006/relationships/notesMaster" Target="/ppt/notesMasters/notesMaster1.xml" Id="Rd2ba8658736b40c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e6204dbf6624134" /><Relationship Type="http://schemas.openxmlformats.org/officeDocument/2006/relationships/notesMaster" Target="/ppt/notesMasters/notesMaster1.xml" Id="R09ff7f84b16c443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a1fa26be72e4858" /><Relationship Type="http://schemas.openxmlformats.org/officeDocument/2006/relationships/notesMaster" Target="/ppt/notesMasters/notesMaster1.xml" Id="Rc66e012a178a4a0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831fe6ccc2e4c05" /><Relationship Type="http://schemas.openxmlformats.org/officeDocument/2006/relationships/notesMaster" Target="/ppt/notesMasters/notesMaster1.xml" Id="R9bb7b7a36850493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ff4058f56094d79" /><Relationship Type="http://schemas.openxmlformats.org/officeDocument/2006/relationships/notesMaster" Target="/ppt/notesMasters/notesMaster1.xml" Id="R5a3efab8694e4ef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cb2e20ccde84188" /><Relationship Type="http://schemas.openxmlformats.org/officeDocument/2006/relationships/notesMaster" Target="/ppt/notesMasters/notesMaster1.xml" Id="R3a014f8e075a46b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d714ea0a0de4933" /><Relationship Type="http://schemas.openxmlformats.org/officeDocument/2006/relationships/notesMaster" Target="/ppt/notesMasters/notesMaster1.xml" Id="R15076f7365ba460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47b972409354eb6" /><Relationship Type="http://schemas.openxmlformats.org/officeDocument/2006/relationships/notesMaster" Target="/ppt/notesMasters/notesMaster1.xml" Id="Ra3fd69cde9624a9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8861f6235f04e05" /><Relationship Type="http://schemas.openxmlformats.org/officeDocument/2006/relationships/notesMaster" Target="/ppt/notesMasters/notesMaster1.xml" Id="R2f35d25abe22485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 begrip past bij elke vraag? Licht één keuze toe.</a:t>
            </a:r>
          </a:p>
          <a:p xmlns:a="http://schemas.openxmlformats.org/drawingml/2006/main">
            <a:r>
              <a:rPr sz="1400"/>
              <a:t/>
            </a:r>
          </a:p>
          <a:p xmlns:a="http://schemas.openxmlformats.org/drawingml/2006/main">
            <a:r>
              <a:rPr sz="1400"/>
              <a:t>Uitleg: Laat dit overzicht staan tijdens startopdracht. De eerste gemengde opgave is 31, niet het hoofdstukbrede nummer 1. Start 31 haalt comparatief voordeel en import op uit §3.3.1 (p. 88–89) en §3.3.2 (p. 97–99). Geen nieuwe procedure wordt in de start verondersteld. Voorbereiding 31–34, doeloefening 35, bonus 36, herhaling 37–38. Er is volgens de docenteninformatie geen afzonderlijke basis- of begeleide sectie. De classroom-werkwijze voor gemengde opgaven schrijft alle genummerde opgaven als huiswerk voor; daarom ook 36 (met bonuslabel) en 37–38. Dit wijkt bewust af van de optionele bonus/herhaling in de algemene boekroute. Laat het werk zo nodig buiten deze les afmaken. Geen claim dat de volledige route in één les past. De drie overzichten komen uit dezelfde functie.</a:t>
            </a:r>
          </a:p>
          <a:p xmlns:a="http://schemas.openxmlformats.org/drawingml/2006/main">
            <a:r>
              <a:rPr sz="1400"/>
              <a:t/>
            </a:r>
          </a:p>
          <a:p xmlns:a="http://schemas.openxmlformats.org/drawingml/2006/main">
            <a:r>
              <a:rPr sz="1400"/>
              <a:t>Misvatting: Eén gezamenlijk voordeel betekent niet dat elke groep wint.</a:t>
            </a:r>
          </a:p>
          <a:p xmlns:a="http://schemas.openxmlformats.org/drawingml/2006/main">
            <a:r>
              <a:rPr sz="1400"/>
              <a:t/>
            </a:r>
          </a:p>
          <a:p xmlns:a="http://schemas.openxmlformats.org/drawingml/2006/main">
            <a:r>
              <a:rPr sz="1400"/>
              <a:t>Overgang: Na start: korte herhaling. Na uitleg: verder met 32–35 en overige gemengde opgaven. Bij afsluiting: agenda.</a:t>
            </a:r>
          </a:p>
          <a:p xmlns:a="http://schemas.openxmlformats.org/drawingml/2006/main">
            <a:r>
              <a:rPr sz="1400"/>
              <a:t/>
            </a:r>
          </a:p>
          <a:p xmlns:a="http://schemas.openxmlformats.org/drawingml/2006/main">
            <a:r>
              <a:rPr sz="1400"/>
              <a:t>Bron: Boek 3, geselecteerde v3-editie, book34-lesson-balance-v3-20260915; actuele broncommit 9b8304d5031cafac936a56281e144573a25fbbc9. Gedrukte boekpagina 117–123. https://github.com/meijer1973/4veco-lessen/blob/9b8304d5031cafac936a56281e144573a25fbbc9/edities/books34-v3/books/book-3/output/Boek_3_Compleet_v3.pdf</a:t>
            </a:r>
          </a:p>
          <a:p xmlns:a="http://schemas.openxmlformats.org/drawingml/2006/main">
            <a:r>
              <a:rPr sz="1400"/>
              <a:t>Antwoordmodel: https://github.com/meijer1973/4veco-lessen/blob/9b8304d5031cafac936a56281e144573a25fbbc9/edities/books34-v3/books/book-3/chapters/3.3/Antwoorden.md</a:t>
            </a:r>
          </a:p>
          <a:p xmlns:a="http://schemas.openxmlformats.org/drawingml/2006/main">
            <a:r>
              <a:rPr sz="1400"/>
              <a:t>Docent: https://github.com/meijer1973/4veco-lessen/blob/9b8304d5031cafac936a56281e144573a25fbbc9/edities/books34-v3/books/book-3/chapters/3.3/Docenteninformatie.md</a:t>
            </a:r>
          </a:p>
          <a:p xmlns:a="http://schemas.openxmlformats.org/drawingml/2006/main">
            <a:r>
              <a:rPr sz="1400"/>
              <a:t>Alleen voor feedback na de start: 31a comparatief voordeel, omdat het om opgegeven andere productie gaat; 31b import. Bespreek 35 omdat deze opgave bronkeuze, comparatief voordeel, import, heffingsopbrengst, grafiek en een begrensde conclusie samenbrengt.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Waarover gaat een uitspraak over minder opgegeven machineproductie?</a:t>
            </a:r>
          </a:p>
          <a:p xmlns:a="http://schemas.openxmlformats.org/drawingml/2006/main">
            <a:r>
              <a:rPr sz="1400"/>
              <a:t/>
            </a:r>
          </a:p>
          <a:p xmlns:a="http://schemas.openxmlformats.org/drawingml/2006/main">
            <a:r>
              <a:rPr sz="1400"/>
              <a:t>Uitleg: Korte herhaling van §3.3.1. Benoem wat in elke vergelijking constant blijft: product en kwaliteit bij absoluut voordeel; extra productie en opgeofferd ander product bij comparatief voordeel. Betrouwbare levering ondersteunt concurrentiepositie, maar bewijst geen comparatief voordeel. Laat een leerling bij elke vergelijking het soort bronfeit noemen.</a:t>
            </a:r>
          </a:p>
          <a:p xmlns:a="http://schemas.openxmlformats.org/drawingml/2006/main">
            <a:r>
              <a:rPr sz="1400"/>
              <a:t/>
            </a:r>
          </a:p>
          <a:p xmlns:a="http://schemas.openxmlformats.org/drawingml/2006/main">
            <a:r>
              <a:rPr sz="1400"/>
              <a:t>Misvatting: Absoluut sterker bij beide producten maakt handel niet zinloos.</a:t>
            </a:r>
          </a:p>
          <a:p xmlns:a="http://schemas.openxmlformats.org/drawingml/2006/main">
            <a:r>
              <a:rPr sz="1400"/>
              <a:t/>
            </a:r>
          </a:p>
          <a:p xmlns:a="http://schemas.openxmlformats.org/drawingml/2006/main">
            <a:r>
              <a:rPr sz="1400"/>
              <a:t>Overgang: Herhaal de rekenaanpak met een eigen voorbeeld.</a:t>
            </a:r>
          </a:p>
          <a:p xmlns:a="http://schemas.openxmlformats.org/drawingml/2006/main">
            <a:r>
              <a:rPr sz="1400"/>
              <a:t/>
            </a:r>
          </a:p>
          <a:p xmlns:a="http://schemas.openxmlformats.org/drawingml/2006/main">
            <a:r>
              <a:rPr sz="1400"/>
              <a:t>Bron: Boek 3, geselecteerde v3-editie, book34-lesson-balance-v3-20260915; actuele broncommit 9b8304d5031cafac936a56281e144573a25fbbc9. Gedrukte boekpagina 88–91. https://github.com/meijer1973/4veco-lessen/blob/9b8304d5031cafac936a56281e144573a25fbbc9/edities/books34-v3/books/book-3/output/Boek_3_Compleet_v3.pdf</a:t>
            </a:r>
          </a:p>
          <a:p xmlns:a="http://schemas.openxmlformats.org/drawingml/2006/main">
            <a:r>
              <a:rPr sz="1400"/>
              <a:t>Antwoordmodel: https://github.com/meijer1973/4veco-lessen/blob/9b8304d5031cafac936a56281e144573a25fbbc9/edities/books34-v3/books/book-3/chapters/3.3/Antwoorden.md</a:t>
            </a:r>
          </a:p>
          <a:p xmlns:a="http://schemas.openxmlformats.org/drawingml/2006/main">
            <a:r>
              <a:rPr sz="1400"/>
              <a:t>Docent: https://github.com/meijer1973/4veco-lessen/blob/9b8304d5031cafac936a56281e144573a25fbbc9/edities/books34-v3/books/book-3/chapters/3.3/Docenteninformatie.md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rij en welke twee kolommen heb je nodig?</a:t>
            </a:r>
          </a:p>
          <a:p xmlns:a="http://schemas.openxmlformats.org/drawingml/2006/main">
            <a:r>
              <a:rPr sz="1400"/>
              <a:t/>
            </a:r>
          </a:p>
          <a:p xmlns:a="http://schemas.openxmlformats.org/drawingml/2006/main">
            <a:r>
              <a:rPr sz="1400"/>
              <a:t>Uitleg: Eigen uitlegvoorbeeld met eigen context/data: Ivera en fietshelmen, geen boekopgave. Verder geldt: gelijkwaardige producten, concurrentie, voldoende buitenlandse levering, geen transportkosten of effecten op derden. Neem de rij na de heffing. Binnenlands verbruik omvat binnenlandse productie én import. Alleen het verschil is ingevoerd. De gebruikte werkwijze is eerder onderwezen in §3.3.2 en §3.3.3.</a:t>
            </a:r>
          </a:p>
          <a:p xmlns:a="http://schemas.openxmlformats.org/drawingml/2006/main">
            <a:r>
              <a:rPr sz="1400"/>
              <a:t/>
            </a:r>
          </a:p>
          <a:p xmlns:a="http://schemas.openxmlformats.org/drawingml/2006/main">
            <a:r>
              <a:rPr sz="1400"/>
              <a:t>Misvatting: 78 helmen is het verbruik, niet de import.</a:t>
            </a:r>
          </a:p>
          <a:p xmlns:a="http://schemas.openxmlformats.org/drawingml/2006/main">
            <a:r>
              <a:rPr sz="1400"/>
              <a:t/>
            </a:r>
          </a:p>
          <a:p xmlns:a="http://schemas.openxmlformats.org/drawingml/2006/main">
            <a:r>
              <a:rPr sz="1400"/>
              <a:t>Overgang: Verbind de import met het overheidsbedrag.</a:t>
            </a:r>
          </a:p>
          <a:p xmlns:a="http://schemas.openxmlformats.org/drawingml/2006/main">
            <a:r>
              <a:rPr sz="1400"/>
              <a:t/>
            </a:r>
          </a:p>
          <a:p xmlns:a="http://schemas.openxmlformats.org/drawingml/2006/main">
            <a:r>
              <a:rPr sz="1400"/>
              <a:t>Bron: Boek 3, geselecteerde v3-editie, book34-lesson-balance-v3-20260915; actuele broncommit 9b8304d5031cafac936a56281e144573a25fbbc9. Gedrukte boekpagina 98, 108–109. https://github.com/meijer1973/4veco-lessen/blob/9b8304d5031cafac936a56281e144573a25fbbc9/edities/books34-v3/books/book-3/output/Boek_3_Compleet_v3.pdf</a:t>
            </a:r>
          </a:p>
          <a:p xmlns:a="http://schemas.openxmlformats.org/drawingml/2006/main">
            <a:r>
              <a:rPr sz="1400"/>
              <a:t>Antwoordmodel: https://github.com/meijer1973/4veco-lessen/blob/9b8304d5031cafac936a56281e144573a25fbbc9/edities/books34-v3/books/book-3/chapters/3.3/Antwoorden.md</a:t>
            </a:r>
          </a:p>
          <a:p xmlns:a="http://schemas.openxmlformats.org/drawingml/2006/main">
            <a:r>
              <a:rPr sz="1400"/>
              <a:t>Docent: https://github.com/meijer1973/4veco-lessen/blob/9b8304d5031cafac936a56281e144573a25fbbc9/edities/books34-v3/books/book-3/chapters/3.3/Docenteninformatie.md</a:t>
            </a:r>
          </a:p>
          <a:p xmlns:a="http://schemas.openxmlformats.org/drawingml/2006/main">
            <a:r>
              <a:rPr sz="1400"/>
              <a:t>De boekpagina’s onderbouwen alleen de methode, niet de verzonnen Ivera-gegevens.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vermenigvuldig je met 36 en niet met 78?</a:t>
            </a:r>
          </a:p>
          <a:p xmlns:a="http://schemas.openxmlformats.org/drawingml/2006/main">
            <a:r>
              <a:rPr sz="1400"/>
              <a:t/>
            </a:r>
          </a:p>
          <a:p xmlns:a="http://schemas.openxmlformats.org/drawingml/2006/main">
            <a:r>
              <a:rPr sz="1400"/>
              <a:t>Uitleg: Vervolg eigen Ivera-voorbeeld. Vermenigvuldig de heffing per eenheid met de resterende import. De eenheden helm vallen weg, euro per week blijft. Herinner aan de rechthoek uit §3.3.3: tussen oude en nieuwe prijs en tussen productie en verbruik bij de nieuwe prijs. In Ivera liggen de grenzen bij prijs 18–22 en hoeveelheid 42–78. Een importquotum stelt een maximum; gratis vergunningen zonder heffing leveren geen ontvangsten op.</a:t>
            </a:r>
          </a:p>
          <a:p xmlns:a="http://schemas.openxmlformats.org/drawingml/2006/main">
            <a:r>
              <a:rPr sz="1400"/>
              <a:t/>
            </a:r>
          </a:p>
          <a:p xmlns:a="http://schemas.openxmlformats.org/drawingml/2006/main">
            <a:r>
              <a:rPr sz="1400"/>
              <a:t>Misvatting: De binnenlandse producent draagt deze invoerheffing niet af over eigen productie.</a:t>
            </a:r>
          </a:p>
          <a:p xmlns:a="http://schemas.openxmlformats.org/drawingml/2006/main">
            <a:r>
              <a:rPr sz="1400"/>
              <a:t/>
            </a:r>
          </a:p>
          <a:p xmlns:a="http://schemas.openxmlformats.org/drawingml/2006/main">
            <a:r>
              <a:rPr sz="1400"/>
              <a:t>Overgang: Onderbouw een conclusie vanuit de afzonderlijke groepen.</a:t>
            </a:r>
          </a:p>
          <a:p xmlns:a="http://schemas.openxmlformats.org/drawingml/2006/main">
            <a:r>
              <a:rPr sz="1400"/>
              <a:t/>
            </a:r>
          </a:p>
          <a:p xmlns:a="http://schemas.openxmlformats.org/drawingml/2006/main">
            <a:r>
              <a:rPr sz="1400"/>
              <a:t>Bron: Boek 3, geselecteerde v3-editie, book34-lesson-balance-v3-20260915; actuele broncommit 9b8304d5031cafac936a56281e144573a25fbbc9. Gedrukte boekpagina 109–111. https://github.com/meijer1973/4veco-lessen/blob/9b8304d5031cafac936a56281e144573a25fbbc9/edities/books34-v3/books/book-3/output/Boek_3_Compleet_v3.pdf</a:t>
            </a:r>
          </a:p>
          <a:p xmlns:a="http://schemas.openxmlformats.org/drawingml/2006/main">
            <a:r>
              <a:rPr sz="1400"/>
              <a:t>Antwoordmodel: https://github.com/meijer1973/4veco-lessen/blob/9b8304d5031cafac936a56281e144573a25fbbc9/edities/books34-v3/books/book-3/chapters/3.3/Antwoorden.md</a:t>
            </a:r>
          </a:p>
          <a:p xmlns:a="http://schemas.openxmlformats.org/drawingml/2006/main">
            <a:r>
              <a:rPr sz="1400"/>
              <a:t>Docent: https://github.com/meijer1973/4veco-lessen/blob/9b8304d5031cafac936a56281e144573a25fbbc9/edities/books34-v3/books/book-3/chapters/3.3/Docenteninformatie.md</a:t>
            </a:r>
          </a:p>
          <a:p xmlns:a="http://schemas.openxmlformats.org/drawingml/2006/main">
            <a:r>
              <a:rPr sz="1400"/>
              <a:t>Ivera is authored, niet uit het boek.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 gegeven ondersteunt het productiedoel en welk gegeven beschrijft het nadeel voor kopers?</a:t>
            </a:r>
          </a:p>
          <a:p xmlns:a="http://schemas.openxmlformats.org/drawingml/2006/main">
            <a:r>
              <a:rPr sz="1400"/>
              <a:t/>
            </a:r>
          </a:p>
          <a:p xmlns:a="http://schemas.openxmlformats.org/drawingml/2006/main">
            <a:r>
              <a:rPr sz="1400"/>
              <a:t>Uitleg: Vervolg eigen Ivera-voorbeeld. Een beleidsconclusie koppelt een bronfeit aan een doel en benoemt een tegengesteld gevolg. Binnenlandse productie behouden wordt ondersteund. Dit bewijst geen voordeel voor alle inwoners. Controleer voor elke nieuwe bron opnieuw de aannames. De regel wereldprijs plus heffing geldt hier omdat import blijft bestaan.</a:t>
            </a:r>
          </a:p>
          <a:p xmlns:a="http://schemas.openxmlformats.org/drawingml/2006/main">
            <a:r>
              <a:rPr sz="1400"/>
              <a:t/>
            </a:r>
          </a:p>
          <a:p xmlns:a="http://schemas.openxmlformats.org/drawingml/2006/main">
            <a:r>
              <a:rPr sz="1400"/>
              <a:t>Misvatting: Extra productie is niet automatisch gelijk aan extra totale welvaart of winst van elk bedrijf.</a:t>
            </a:r>
          </a:p>
          <a:p xmlns:a="http://schemas.openxmlformats.org/drawingml/2006/main">
            <a:r>
              <a:rPr sz="1400"/>
              <a:t/>
            </a:r>
          </a:p>
          <a:p xmlns:a="http://schemas.openxmlformats.org/drawingml/2006/main">
            <a:r>
              <a:rPr sz="1400"/>
              <a:t>Overgang: Laat het overzicht staan en laat leerlingen zelf aan de gemengde opgaven werken.</a:t>
            </a:r>
          </a:p>
          <a:p xmlns:a="http://schemas.openxmlformats.org/drawingml/2006/main">
            <a:r>
              <a:rPr sz="1400"/>
              <a:t/>
            </a:r>
          </a:p>
          <a:p xmlns:a="http://schemas.openxmlformats.org/drawingml/2006/main">
            <a:r>
              <a:rPr sz="1400"/>
              <a:t>Bron: Boek 3, geselecteerde v3-editie, book34-lesson-balance-v3-20260915; actuele broncommit 9b8304d5031cafac936a56281e144573a25fbbc9. Gedrukte boekpagina 89–91, 109–111. https://github.com/meijer1973/4veco-lessen/blob/9b8304d5031cafac936a56281e144573a25fbbc9/edities/books34-v3/books/book-3/output/Boek_3_Compleet_v3.pdf</a:t>
            </a:r>
          </a:p>
          <a:p xmlns:a="http://schemas.openxmlformats.org/drawingml/2006/main">
            <a:r>
              <a:rPr sz="1400"/>
              <a:t>Antwoordmodel: https://github.com/meijer1973/4veco-lessen/blob/9b8304d5031cafac936a56281e144573a25fbbc9/edities/books34-v3/books/book-3/chapters/3.3/Antwoorden.md</a:t>
            </a:r>
          </a:p>
          <a:p xmlns:a="http://schemas.openxmlformats.org/drawingml/2006/main">
            <a:r>
              <a:rPr sz="1400"/>
              <a:t>Docent: https://github.com/meijer1973/4veco-lessen/blob/9b8304d5031cafac936a56281e144573a25fbbc9/edities/books34-v3/books/book-3/chapters/3.3/Docenteninformatie.md</a:t>
            </a:r>
          </a:p>
          <a:p xmlns:a="http://schemas.openxmlformats.org/drawingml/2006/main">
            <a:r>
              <a:rPr sz="1400"/>
              <a:t>Ivera is authored, niet uit het boek. Geen uitwerking van opgaven 32–38 in deze instructiefase.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opgave of stap vraagt nog aandacht?</a:t>
            </a:r>
          </a:p>
          <a:p xmlns:a="http://schemas.openxmlformats.org/drawingml/2006/main">
            <a:r>
              <a:rPr sz="1400"/>
              <a:t/>
            </a:r>
          </a:p>
          <a:p xmlns:a="http://schemas.openxmlformats.org/drawingml/2006/main">
            <a:r>
              <a:rPr sz="1400"/>
              <a:t>Uitleg: Laat dit overzicht staan tijdens zelfstandig werken. De eerste gemengde opgave is 31, niet het hoofdstukbrede nummer 1. Start 31 haalt comparatief voordeel en import op uit §3.3.1 (p. 88–89) en §3.3.2 (p. 97–99). Geen nieuwe procedure wordt in de start verondersteld. Voorbereiding 31–34, doeloefening 35, bonus 36, herhaling 37–38. Er is volgens de docenteninformatie geen afzonderlijke basis- of begeleide sectie. De classroom-werkwijze voor gemengde opgaven schrijft alle genummerde opgaven als huiswerk voor; daarom ook 36 (met bonuslabel) en 37–38. Dit wijkt bewust af van de optionele bonus/herhaling in de algemene boekroute. Laat het werk zo nodig buiten deze les afmaken. Geen claim dat de volledige route in één les past. De drie overzichten komen uit dezelfde functie.</a:t>
            </a:r>
          </a:p>
          <a:p xmlns:a="http://schemas.openxmlformats.org/drawingml/2006/main">
            <a:r>
              <a:rPr sz="1400"/>
              <a:t/>
            </a:r>
          </a:p>
          <a:p xmlns:a="http://schemas.openxmlformats.org/drawingml/2006/main">
            <a:r>
              <a:rPr sz="1400"/>
              <a:t>Misvatting: Eén gezamenlijk voordeel betekent niet dat elke groep wint.</a:t>
            </a:r>
          </a:p>
          <a:p xmlns:a="http://schemas.openxmlformats.org/drawingml/2006/main">
            <a:r>
              <a:rPr sz="1400"/>
              <a:t/>
            </a:r>
          </a:p>
          <a:p xmlns:a="http://schemas.openxmlformats.org/drawingml/2006/main">
            <a:r>
              <a:rPr sz="1400"/>
              <a:t>Overgang: Na start: korte herhaling. Na uitleg: verder met 32–35 en overige gemengde opgaven. Bij afsluiting: agenda.</a:t>
            </a:r>
          </a:p>
          <a:p xmlns:a="http://schemas.openxmlformats.org/drawingml/2006/main">
            <a:r>
              <a:rPr sz="1400"/>
              <a:t/>
            </a:r>
          </a:p>
          <a:p xmlns:a="http://schemas.openxmlformats.org/drawingml/2006/main">
            <a:r>
              <a:rPr sz="1400"/>
              <a:t>Bron: Boek 3, geselecteerde v3-editie, book34-lesson-balance-v3-20260915; actuele broncommit 9b8304d5031cafac936a56281e144573a25fbbc9. Gedrukte boekpagina 117–123. https://github.com/meijer1973/4veco-lessen/blob/9b8304d5031cafac936a56281e144573a25fbbc9/edities/books34-v3/books/book-3/output/Boek_3_Compleet_v3.pdf</a:t>
            </a:r>
          </a:p>
          <a:p xmlns:a="http://schemas.openxmlformats.org/drawingml/2006/main">
            <a:r>
              <a:rPr sz="1400"/>
              <a:t>Antwoordmodel: https://github.com/meijer1973/4veco-lessen/blob/9b8304d5031cafac936a56281e144573a25fbbc9/edities/books34-v3/books/book-3/chapters/3.3/Antwoorden.md</a:t>
            </a:r>
          </a:p>
          <a:p xmlns:a="http://schemas.openxmlformats.org/drawingml/2006/main">
            <a:r>
              <a:rPr sz="1400"/>
              <a:t>Docent: https://github.com/meijer1973/4veco-lessen/blob/9b8304d5031cafac936a56281e144573a25fbbc9/edities/books34-v3/books/book-3/chapters/3.3/Docenteninformatie.md</a:t>
            </a:r>
          </a:p>
          <a:p xmlns:a="http://schemas.openxmlformats.org/drawingml/2006/main">
            <a:r>
              <a:rPr sz="1400"/>
              <a:t>Alleen voor feedback na de start: 31a comparatief voordeel, omdat het om opgegeven andere productie gaat; 31b import. Bespreek 35 omdat deze opgave bronkeuze, comparatief voordeel, import, heffingsopbrengst, grafiek en een begrensde conclusie samenbrengt.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twee producten vergelijkt deze bron?</a:t>
            </a:r>
          </a:p>
          <a:p xmlns:a="http://schemas.openxmlformats.org/drawingml/2006/main">
            <a:r>
              <a:rPr sz="1400"/>
              <a:t/>
            </a:r>
          </a:p>
          <a:p xmlns:a="http://schemas.openxmlformats.org/drawingml/2006/main">
            <a:r>
              <a:rPr sz="1400"/>
              <a:t>Uitleg: Dit is de volledige inhoud van bron A van opgave 35. Leerlingen hebben de opgave eerst zelfstandig geprobeerd. Lees nu de bronnen opnieuw zonder antwoorden te onthullen. De figuur, tabel, overige bronnen en alle vragen volgen.</a:t>
            </a:r>
          </a:p>
          <a:p xmlns:a="http://schemas.openxmlformats.org/drawingml/2006/main">
            <a:r>
              <a:rPr sz="1400"/>
              <a:t/>
            </a:r>
          </a:p>
          <a:p xmlns:a="http://schemas.openxmlformats.org/drawingml/2006/main">
            <a:r>
              <a:rPr sz="1400"/>
              <a:t>Misvatting: Voeg geen zelfbedachte productieverhoudingen toe. De vergelijking blijft kwalitatief.</a:t>
            </a:r>
          </a:p>
          <a:p xmlns:a="http://schemas.openxmlformats.org/drawingml/2006/main">
            <a:r>
              <a:rPr sz="1400"/>
              <a:t/>
            </a:r>
          </a:p>
          <a:p xmlns:a="http://schemas.openxmlformats.org/drawingml/2006/main">
            <a:r>
              <a:rPr sz="1400"/>
              <a:t>Overgang: Lees bron B.</a:t>
            </a:r>
          </a:p>
          <a:p xmlns:a="http://schemas.openxmlformats.org/drawingml/2006/main">
            <a:r>
              <a:rPr sz="1400"/>
              <a:t/>
            </a:r>
          </a:p>
          <a:p xmlns:a="http://schemas.openxmlformats.org/drawingml/2006/main">
            <a:r>
              <a:rPr sz="1400"/>
              <a:t>Bron: Boek 3, geselecteerde v3-editie, book34-lesson-balance-v3-20260915; actuele broncommit 9b8304d5031cafac936a56281e144573a25fbbc9. Gedrukte boekpagina 120. https://github.com/meijer1973/4veco-lessen/blob/9b8304d5031cafac936a56281e144573a25fbbc9/edities/books34-v3/books/book-3/output/Boek_3_Compleet_v3.pdf</a:t>
            </a:r>
          </a:p>
          <a:p xmlns:a="http://schemas.openxmlformats.org/drawingml/2006/main">
            <a:r>
              <a:rPr sz="1400"/>
              <a:t>Antwoordmodel: https://github.com/meijer1973/4veco-lessen/blob/9b8304d5031cafac936a56281e144573a25fbbc9/edities/books34-v3/books/book-3/chapters/3.3/Antwoorden.md</a:t>
            </a:r>
          </a:p>
          <a:p xmlns:a="http://schemas.openxmlformats.org/drawingml/2006/main">
            <a:r>
              <a:rPr sz="1400"/>
              <a:t>Docent: https://github.com/meijer1973/4veco-lessen/blob/9b8304d5031cafac936a56281e144573a25fbbc9/edities/books34-v3/books/book-3/chapters/3.3/Docenteninformatie.md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Wie draagt volgens de bron de heffing af?</a:t>
            </a:r>
          </a:p>
          <a:p xmlns:a="http://schemas.openxmlformats.org/drawingml/2006/main">
            <a:r>
              <a:rPr sz="1400"/>
              <a:t/>
            </a:r>
          </a:p>
          <a:p xmlns:a="http://schemas.openxmlformats.org/drawingml/2006/main">
            <a:r>
              <a:rPr sz="1400"/>
              <a:t>Uitleg: Volledige bron B. De kleine-landaanname houdt de wereldprijs constant. De importeurs dragen af. De bron zegt uitdrukkelijk dat import overblijft. De belangen van minister en winkelier worden pas bij de beantwoording beoordeeld.</a:t>
            </a:r>
          </a:p>
          <a:p xmlns:a="http://schemas.openxmlformats.org/drawingml/2006/main">
            <a:r>
              <a:rPr sz="1400"/>
              <a:t/>
            </a:r>
          </a:p>
          <a:p xmlns:a="http://schemas.openxmlformats.org/drawingml/2006/main">
            <a:r>
              <a:rPr sz="1400"/>
              <a:t>Misvatting: De wereldprijs stijgt niet met de invoerheffing.</a:t>
            </a:r>
          </a:p>
          <a:p xmlns:a="http://schemas.openxmlformats.org/drawingml/2006/main">
            <a:r>
              <a:rPr sz="1400"/>
              <a:t/>
            </a:r>
          </a:p>
          <a:p xmlns:a="http://schemas.openxmlformats.org/drawingml/2006/main">
            <a:r>
              <a:rPr sz="1400"/>
              <a:t>Overgang: Toon de tabel.</a:t>
            </a:r>
          </a:p>
          <a:p xmlns:a="http://schemas.openxmlformats.org/drawingml/2006/main">
            <a:r>
              <a:rPr sz="1400"/>
              <a:t/>
            </a:r>
          </a:p>
          <a:p xmlns:a="http://schemas.openxmlformats.org/drawingml/2006/main">
            <a:r>
              <a:rPr sz="1400"/>
              <a:t>Bron: Boek 3, geselecteerde v3-editie, book34-lesson-balance-v3-20260915; actuele broncommit 9b8304d5031cafac936a56281e144573a25fbbc9. Gedrukte boekpagina 120. https://github.com/meijer1973/4veco-lessen/blob/9b8304d5031cafac936a56281e144573a25fbbc9/edities/books34-v3/books/book-3/output/Boek_3_Compleet_v3.pdf</a:t>
            </a:r>
          </a:p>
          <a:p xmlns:a="http://schemas.openxmlformats.org/drawingml/2006/main">
            <a:r>
              <a:rPr sz="1400"/>
              <a:t>Antwoordmodel: https://github.com/meijer1973/4veco-lessen/blob/9b8304d5031cafac936a56281e144573a25fbbc9/edities/books34-v3/books/book-3/chapters/3.3/Antwoorden.md</a:t>
            </a:r>
          </a:p>
          <a:p xmlns:a="http://schemas.openxmlformats.org/drawingml/2006/main">
            <a:r>
              <a:rPr sz="1400"/>
              <a:t>Docent: https://github.com/meijer1973/4veco-lessen/blob/9b8304d5031cafac936a56281e144573a25fbbc9/edities/books34-v3/books/book-3/chapters/3.3/Docenteninformatie.md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is de eenheid van de twee hoeveelheidskolommen?</a:t>
            </a:r>
          </a:p>
          <a:p xmlns:a="http://schemas.openxmlformats.org/drawingml/2006/main">
            <a:r>
              <a:rPr sz="1400"/>
              <a:t/>
            </a:r>
          </a:p>
          <a:p xmlns:a="http://schemas.openxmlformats.org/drawingml/2006/main">
            <a:r>
              <a:rPr sz="1400"/>
              <a:t>Uitleg: De tabel is inhoudelijk gelijk aan het boek en blijft bewerkbaar. De vraag- en aanbodlijnen zijn dezelfde voor en na de heffing. Dit is nog de vraagfase: reken de import en opbrengst nog niet voor.</a:t>
            </a:r>
          </a:p>
          <a:p xmlns:a="http://schemas.openxmlformats.org/drawingml/2006/main">
            <a:r>
              <a:rPr sz="1400"/>
              <a:t/>
            </a:r>
          </a:p>
          <a:p xmlns:a="http://schemas.openxmlformats.org/drawingml/2006/main">
            <a:r>
              <a:rPr sz="1400"/>
              <a:t>Misvatting: De twee kolommen zijn geen twee verschillende landen.</a:t>
            </a:r>
          </a:p>
          <a:p xmlns:a="http://schemas.openxmlformats.org/drawingml/2006/main">
            <a:r>
              <a:rPr sz="1400"/>
              <a:t/>
            </a:r>
          </a:p>
          <a:p xmlns:a="http://schemas.openxmlformats.org/drawingml/2006/main">
            <a:r>
              <a:rPr sz="1400"/>
              <a:t>Overgang: Bekijk figuur 3.</a:t>
            </a:r>
          </a:p>
          <a:p xmlns:a="http://schemas.openxmlformats.org/drawingml/2006/main">
            <a:r>
              <a:rPr sz="1400"/>
              <a:t/>
            </a:r>
          </a:p>
          <a:p xmlns:a="http://schemas.openxmlformats.org/drawingml/2006/main">
            <a:r>
              <a:rPr sz="1400"/>
              <a:t>Bron: Boek 3, geselecteerde v3-editie, book34-lesson-balance-v3-20260915; actuele broncommit 9b8304d5031cafac936a56281e144573a25fbbc9. Gedrukte boekpagina 120. https://github.com/meijer1973/4veco-lessen/blob/9b8304d5031cafac936a56281e144573a25fbbc9/edities/books34-v3/books/book-3/output/Boek_3_Compleet_v3.pdf</a:t>
            </a:r>
          </a:p>
          <a:p xmlns:a="http://schemas.openxmlformats.org/drawingml/2006/main">
            <a:r>
              <a:rPr sz="1400"/>
              <a:t>Antwoordmodel: https://github.com/meijer1973/4veco-lessen/blob/9b8304d5031cafac936a56281e144573a25fbbc9/edities/books34-v3/books/book-3/chapters/3.3/Antwoorden.md</a:t>
            </a:r>
          </a:p>
          <a:p xmlns:a="http://schemas.openxmlformats.org/drawingml/2006/main">
            <a:r>
              <a:rPr sz="1400"/>
              <a:t>Docent: https://github.com/meijer1973/4veco-lessen/blob/9b8304d5031cafac936a56281e144573a25fbbc9/edities/books34-v3/books/book-3/chapters/3.3/Docenteninformatie.md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grootheid staat op elke as?</a:t>
            </a:r>
          </a:p>
          <a:p xmlns:a="http://schemas.openxmlformats.org/drawingml/2006/main">
            <a:r>
              <a:rPr sz="1400"/>
              <a:t/>
            </a:r>
          </a:p>
          <a:p xmlns:a="http://schemas.openxmlformats.org/drawingml/2006/main">
            <a:r>
              <a:rPr sz="1400"/>
              <a:t>Uitleg: Bewerkbare XY-reconstructie van de gegeven figuur 3. Vraag loopt van (Q=0,P=40) tot (160,0); aanbod van (0,0) tot (160,40). Prijslijnen P=10 en P=15. Assen en snijpunten zijn gelijk aan de boekfiguur. De heffingsopbrengst is hier nog niet aangegeven.</a:t>
            </a:r>
          </a:p>
          <a:p xmlns:a="http://schemas.openxmlformats.org/drawingml/2006/main">
            <a:r>
              <a:rPr sz="1400"/>
              <a:t/>
            </a:r>
          </a:p>
          <a:p xmlns:a="http://schemas.openxmlformats.org/drawingml/2006/main">
            <a:r>
              <a:rPr sz="1400"/>
              <a:t>Misvatting: De hele vraag en het hele aanbod blijven binnenlands; import is straks het verschil bij één prijs.</a:t>
            </a:r>
          </a:p>
          <a:p xmlns:a="http://schemas.openxmlformats.org/drawingml/2006/main">
            <a:r>
              <a:rPr sz="1400"/>
              <a:t/>
            </a:r>
          </a:p>
          <a:p xmlns:a="http://schemas.openxmlformats.org/drawingml/2006/main">
            <a:r>
              <a:rPr sz="1400"/>
              <a:t>Overgang: Lees het alternatief in bron C.</a:t>
            </a:r>
          </a:p>
          <a:p xmlns:a="http://schemas.openxmlformats.org/drawingml/2006/main">
            <a:r>
              <a:rPr sz="1400"/>
              <a:t/>
            </a:r>
          </a:p>
          <a:p xmlns:a="http://schemas.openxmlformats.org/drawingml/2006/main">
            <a:r>
              <a:rPr sz="1400"/>
              <a:t>Bron: Boek 3, geselecteerde v3-editie, book34-lesson-balance-v3-20260915; actuele broncommit 9b8304d5031cafac936a56281e144573a25fbbc9. Gedrukte boekpagina 120. https://github.com/meijer1973/4veco-lessen/blob/9b8304d5031cafac936a56281e144573a25fbbc9/edities/books34-v3/books/book-3/output/Boek_3_Compleet_v3.pdf</a:t>
            </a:r>
          </a:p>
          <a:p xmlns:a="http://schemas.openxmlformats.org/drawingml/2006/main">
            <a:r>
              <a:rPr sz="1400"/>
              <a:t>Antwoordmodel: https://github.com/meijer1973/4veco-lessen/blob/9b8304d5031cafac936a56281e144573a25fbbc9/edities/books34-v3/books/book-3/chapters/3.3/Antwoorden.md</a:t>
            </a:r>
          </a:p>
          <a:p xmlns:a="http://schemas.openxmlformats.org/drawingml/2006/main">
            <a:r>
              <a:rPr sz="1400"/>
              <a:t>Docent: https://github.com/meijer1973/4veco-lessen/blob/9b8304d5031cafac936a56281e144573a25fbbc9/edities/books34-v3/books/book-3/chapters/3.3/Docenteninformatie.md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twee kenmerken van de vergunningenregeling noemt bron C?</a:t>
            </a:r>
          </a:p>
          <a:p xmlns:a="http://schemas.openxmlformats.org/drawingml/2006/main">
            <a:r>
              <a:rPr sz="1400"/>
              <a:t/>
            </a:r>
          </a:p>
          <a:p xmlns:a="http://schemas.openxmlformats.org/drawingml/2006/main">
            <a:r>
              <a:rPr sz="1400"/>
              <a:t>Uitleg: Volledige bron C en algemene opgave-instructie. Het manuscript noemt hoofdstukpagina 34; in het complete boek is dat gedrukte pagina 120. Deze verwijzing is hier omgezet naar de gecontroleerde boekpagina. De volgende drie dia’s tonen alle zes deelvragen zonder oplossingen.</a:t>
            </a:r>
          </a:p>
          <a:p xmlns:a="http://schemas.openxmlformats.org/drawingml/2006/main">
            <a:r>
              <a:rPr sz="1400"/>
              <a:t/>
            </a:r>
          </a:p>
          <a:p xmlns:a="http://schemas.openxmlformats.org/drawingml/2006/main">
            <a:r>
              <a:rPr sz="1400"/>
              <a:t>Misvatting: Een begrensde hoeveelheid is nog geen belasting.</a:t>
            </a:r>
          </a:p>
          <a:p xmlns:a="http://schemas.openxmlformats.org/drawingml/2006/main">
            <a:r>
              <a:rPr sz="1400"/>
              <a:t/>
            </a:r>
          </a:p>
          <a:p xmlns:a="http://schemas.openxmlformats.org/drawingml/2006/main">
            <a:r>
              <a:rPr sz="1400"/>
              <a:t>Overgang: Toon vragen a en b.</a:t>
            </a:r>
          </a:p>
          <a:p xmlns:a="http://schemas.openxmlformats.org/drawingml/2006/main">
            <a:r>
              <a:rPr sz="1400"/>
              <a:t/>
            </a:r>
          </a:p>
          <a:p xmlns:a="http://schemas.openxmlformats.org/drawingml/2006/main">
            <a:r>
              <a:rPr sz="1400"/>
              <a:t>Bron: Boek 3, geselecteerde v3-editie, book34-lesson-balance-v3-20260915; actuele broncommit 9b8304d5031cafac936a56281e144573a25fbbc9. Gedrukte boekpagina 120–121. https://github.com/meijer1973/4veco-lessen/blob/9b8304d5031cafac936a56281e144573a25fbbc9/edities/books34-v3/books/book-3/output/Boek_3_Compleet_v3.pdf</a:t>
            </a:r>
          </a:p>
          <a:p xmlns:a="http://schemas.openxmlformats.org/drawingml/2006/main">
            <a:r>
              <a:rPr sz="1400"/>
              <a:t>Antwoordmodel: https://github.com/meijer1973/4veco-lessen/blob/9b8304d5031cafac936a56281e144573a25fbbc9/edities/books34-v3/books/book-3/chapters/3.3/Antwoorden.md</a:t>
            </a:r>
          </a:p>
          <a:p xmlns:a="http://schemas.openxmlformats.org/drawingml/2006/main">
            <a:r>
              <a:rPr sz="1400"/>
              <a:t>Docent: https://github.com/meijer1973/4veco-lessen/blob/9b8304d5031cafac936a56281e144573a25fbbc9/edities/books34-v3/books/book-3/chapters/3.3/Docenteninformatie.md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bron hoort bij welke deelvraag?</a:t>
            </a:r>
          </a:p>
          <a:p xmlns:a="http://schemas.openxmlformats.org/drawingml/2006/main">
            <a:r>
              <a:rPr sz="1400"/>
              <a:t/>
            </a:r>
          </a:p>
          <a:p xmlns:a="http://schemas.openxmlformats.org/drawingml/2006/main">
            <a:r>
              <a:rPr sz="1400"/>
              <a:t>Uitleg: Letterlijke deelvragen a en b. Toon nog geen uitkomsten. Ook c tot en met f moeten eerst beschikbaar zijn.</a:t>
            </a:r>
          </a:p>
          <a:p xmlns:a="http://schemas.openxmlformats.org/drawingml/2006/main">
            <a:r>
              <a:rPr sz="1400"/>
              <a:t/>
            </a:r>
          </a:p>
          <a:p xmlns:a="http://schemas.openxmlformats.org/drawingml/2006/main">
            <a:r>
              <a:rPr sz="1400"/>
              <a:t>Misvatting: Een juiste uitkomst zonder eenheden of gevraagde verklaring is onvolledig.</a:t>
            </a:r>
          </a:p>
          <a:p xmlns:a="http://schemas.openxmlformats.org/drawingml/2006/main">
            <a:r>
              <a:rPr sz="1400"/>
              <a:t/>
            </a:r>
          </a:p>
          <a:p xmlns:a="http://schemas.openxmlformats.org/drawingml/2006/main">
            <a:r>
              <a:rPr sz="1400"/>
              <a:t>Overgang: Toon c en d.</a:t>
            </a:r>
          </a:p>
          <a:p xmlns:a="http://schemas.openxmlformats.org/drawingml/2006/main">
            <a:r>
              <a:rPr sz="1400"/>
              <a:t/>
            </a:r>
          </a:p>
          <a:p xmlns:a="http://schemas.openxmlformats.org/drawingml/2006/main">
            <a:r>
              <a:rPr sz="1400"/>
              <a:t>Bron: Boek 3, geselecteerde v3-editie, book34-lesson-balance-v3-20260915; actuele broncommit 9b8304d5031cafac936a56281e144573a25fbbc9. Gedrukte boekpagina 121. https://github.com/meijer1973/4veco-lessen/blob/9b8304d5031cafac936a56281e144573a25fbbc9/edities/books34-v3/books/book-3/output/Boek_3_Compleet_v3.pdf</a:t>
            </a:r>
          </a:p>
          <a:p xmlns:a="http://schemas.openxmlformats.org/drawingml/2006/main">
            <a:r>
              <a:rPr sz="1400"/>
              <a:t>Antwoordmodel: https://github.com/meijer1973/4veco-lessen/blob/9b8304d5031cafac936a56281e144573a25fbbc9/edities/books34-v3/books/book-3/chapters/3.3/Antwoorden.md</a:t>
            </a:r>
          </a:p>
          <a:p xmlns:a="http://schemas.openxmlformats.org/drawingml/2006/main">
            <a:r>
              <a:rPr sz="1400"/>
              <a:t>Docent: https://github.com/meijer1973/4veco-lessen/blob/9b8304d5031cafac936a56281e144573a25fbbc9/edities/books34-v3/books/book-3/chapters/3.3/Docenteninformatie.md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twee gegevens vraagt c voor elke groep?</a:t>
            </a:r>
          </a:p>
          <a:p xmlns:a="http://schemas.openxmlformats.org/drawingml/2006/main">
            <a:r>
              <a:rPr sz="1400"/>
              <a:t/>
            </a:r>
          </a:p>
          <a:p xmlns:a="http://schemas.openxmlformats.org/drawingml/2006/main">
            <a:r>
              <a:rPr sz="1400"/>
              <a:t>Uitleg: Letterlijke deelvragen c en d. De figuur op dia 10 en boekpagina 120 bevat nog geen arcering. Laat leerlingen hun eigen tekening bij de hand houden.</a:t>
            </a:r>
          </a:p>
          <a:p xmlns:a="http://schemas.openxmlformats.org/drawingml/2006/main">
            <a:r>
              <a:rPr sz="1400"/>
              <a:t/>
            </a:r>
          </a:p>
          <a:p xmlns:a="http://schemas.openxmlformats.org/drawingml/2006/main">
            <a:r>
              <a:rPr sz="1400"/>
              <a:t>Misvatting: Alleen prijs of alleen hoeveelheid is nog geen volledig antwoord.</a:t>
            </a:r>
          </a:p>
          <a:p xmlns:a="http://schemas.openxmlformats.org/drawingml/2006/main">
            <a:r>
              <a:rPr sz="1400"/>
              <a:t/>
            </a:r>
          </a:p>
          <a:p xmlns:a="http://schemas.openxmlformats.org/drawingml/2006/main">
            <a:r>
              <a:rPr sz="1400"/>
              <a:t>Overgang: Toon e en f.</a:t>
            </a:r>
          </a:p>
          <a:p xmlns:a="http://schemas.openxmlformats.org/drawingml/2006/main">
            <a:r>
              <a:rPr sz="1400"/>
              <a:t/>
            </a:r>
          </a:p>
          <a:p xmlns:a="http://schemas.openxmlformats.org/drawingml/2006/main">
            <a:r>
              <a:rPr sz="1400"/>
              <a:t>Bron: Boek 3, geselecteerde v3-editie, book34-lesson-balance-v3-20260915; actuele broncommit 9b8304d5031cafac936a56281e144573a25fbbc9. Gedrukte boekpagina 121. https://github.com/meijer1973/4veco-lessen/blob/9b8304d5031cafac936a56281e144573a25fbbc9/edities/books34-v3/books/book-3/output/Boek_3_Compleet_v3.pdf</a:t>
            </a:r>
          </a:p>
          <a:p xmlns:a="http://schemas.openxmlformats.org/drawingml/2006/main">
            <a:r>
              <a:rPr sz="1400"/>
              <a:t>Antwoordmodel: https://github.com/meijer1973/4veco-lessen/blob/9b8304d5031cafac936a56281e144573a25fbbc9/edities/books34-v3/books/book-3/chapters/3.3/Antwoorden.md</a:t>
            </a:r>
          </a:p>
          <a:p xmlns:a="http://schemas.openxmlformats.org/drawingml/2006/main">
            <a:r>
              <a:rPr sz="1400"/>
              <a:t>Docent: https://github.com/meijer1973/4veco-lessen/blob/9b8304d5031cafac936a56281e144573a25fbbc9/edities/books34-v3/books/book-3/chapters/3.3/Docenteninformatie.md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Hoeveel concrete gegevens vraagt f?</a:t>
            </a:r>
          </a:p>
          <a:p xmlns:a="http://schemas.openxmlformats.org/drawingml/2006/main">
            <a:r>
              <a:rPr sz="1400"/>
              <a:t/>
            </a:r>
          </a:p>
          <a:p xmlns:a="http://schemas.openxmlformats.org/drawingml/2006/main">
            <a:r>
              <a:rPr sz="1400"/>
              <a:t>Uitleg: Letterlijke deelvragen e en f. Alle bronnen, tabel, figuur en zes vragen zijn nu zonder oplossingen getoond. Begin pas op de volgende dia de beantwoording.</a:t>
            </a:r>
          </a:p>
          <a:p xmlns:a="http://schemas.openxmlformats.org/drawingml/2006/main">
            <a:r>
              <a:rPr sz="1400"/>
              <a:t/>
            </a:r>
          </a:p>
          <a:p xmlns:a="http://schemas.openxmlformats.org/drawingml/2006/main">
            <a:r>
              <a:rPr sz="1400"/>
              <a:t>Misvatting: Doelbereik en voordeel voor alle inwoners zijn verschillende conclusies.</a:t>
            </a:r>
          </a:p>
          <a:p xmlns:a="http://schemas.openxmlformats.org/drawingml/2006/main">
            <a:r>
              <a:rPr sz="1400"/>
              <a:t/>
            </a:r>
          </a:p>
          <a:p xmlns:a="http://schemas.openxmlformats.org/drawingml/2006/main">
            <a:r>
              <a:rPr sz="1400"/>
              <a:t>Overgang: Bespreek vanaf nu de antwoorden, eerst a.</a:t>
            </a:r>
          </a:p>
          <a:p xmlns:a="http://schemas.openxmlformats.org/drawingml/2006/main">
            <a:r>
              <a:rPr sz="1400"/>
              <a:t/>
            </a:r>
          </a:p>
          <a:p xmlns:a="http://schemas.openxmlformats.org/drawingml/2006/main">
            <a:r>
              <a:rPr sz="1400"/>
              <a:t>Bron: Boek 3, geselecteerde v3-editie, book34-lesson-balance-v3-20260915; actuele broncommit 9b8304d5031cafac936a56281e144573a25fbbc9. Gedrukte boekpagina 121. https://github.com/meijer1973/4veco-lessen/blob/9b8304d5031cafac936a56281e144573a25fbbc9/edities/books34-v3/books/book-3/output/Boek_3_Compleet_v3.pdf</a:t>
            </a:r>
          </a:p>
          <a:p xmlns:a="http://schemas.openxmlformats.org/drawingml/2006/main">
            <a:r>
              <a:rPr sz="1400"/>
              <a:t>Antwoordmodel: https://github.com/meijer1973/4veco-lessen/blob/9b8304d5031cafac936a56281e144573a25fbbc9/edities/books34-v3/books/book-3/chapters/3.3/Antwoorden.md</a:t>
            </a:r>
          </a:p>
          <a:p xmlns:a="http://schemas.openxmlformats.org/drawingml/2006/main">
            <a:r>
              <a:rPr sz="1400"/>
              <a:t>Docent: https://github.com/meijer1973/4veco-lessen/blob/9b8304d5031cafac936a56281e144573a25fbbc9/edities/books34-v3/books/book-3/chapters/3.3/Docenteninformatie.md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woorden maken dit een relatieve vergelijking?</a:t>
            </a:r>
          </a:p>
          <a:p xmlns:a="http://schemas.openxmlformats.org/drawingml/2006/main">
            <a:r>
              <a:rPr sz="1400"/>
              <a:t/>
            </a:r>
          </a:p>
          <a:p xmlns:a="http://schemas.openxmlformats.org/drawingml/2006/main">
            <a:r>
              <a:rPr sz="1400"/>
              <a:t>Uitleg: Antwoordmodel 35a: begin bij het opgegeven andere product. Relatief minder machines opofferen geeft lagere alternatieve kosten. Dit kan samengaan met Nerins absolute voordeel in beide producten. Geen berekende productietabel nodig of toegestaan als verzonnen brondata.</a:t>
            </a:r>
          </a:p>
          <a:p xmlns:a="http://schemas.openxmlformats.org/drawingml/2006/main">
            <a:r>
              <a:rPr sz="1400"/>
              <a:t/>
            </a:r>
          </a:p>
          <a:p xmlns:a="http://schemas.openxmlformats.org/drawingml/2006/main">
            <a:r>
              <a:rPr sz="1400"/>
              <a:t>Misvatting: Een kleinere absolute achterstand is op zichzelf geen volledige uitleg zonder opgegeven andere productie.</a:t>
            </a:r>
          </a:p>
          <a:p xmlns:a="http://schemas.openxmlformats.org/drawingml/2006/main">
            <a:r>
              <a:rPr sz="1400"/>
              <a:t/>
            </a:r>
          </a:p>
          <a:p xmlns:a="http://schemas.openxmlformats.org/drawingml/2006/main">
            <a:r>
              <a:rPr sz="1400"/>
              <a:t>Overgang: Bereken de import na de heffing.</a:t>
            </a:r>
          </a:p>
          <a:p xmlns:a="http://schemas.openxmlformats.org/drawingml/2006/main">
            <a:r>
              <a:rPr sz="1400"/>
              <a:t/>
            </a:r>
          </a:p>
          <a:p xmlns:a="http://schemas.openxmlformats.org/drawingml/2006/main">
            <a:r>
              <a:rPr sz="1400"/>
              <a:t>Bron: Boek 3, geselecteerde v3-editie, book34-lesson-balance-v3-20260915; actuele broncommit 9b8304d5031cafac936a56281e144573a25fbbc9. Gedrukte boekpagina 120–121. https://github.com/meijer1973/4veco-lessen/blob/9b8304d5031cafac936a56281e144573a25fbbc9/edities/books34-v3/books/book-3/output/Boek_3_Compleet_v3.pdf</a:t>
            </a:r>
          </a:p>
          <a:p xmlns:a="http://schemas.openxmlformats.org/drawingml/2006/main">
            <a:r>
              <a:rPr sz="1400"/>
              <a:t>Antwoordmodel: https://github.com/meijer1973/4veco-lessen/blob/9b8304d5031cafac936a56281e144573a25fbbc9/edities/books34-v3/books/book-3/chapters/3.3/Antwoorden.md</a:t>
            </a:r>
          </a:p>
          <a:p xmlns:a="http://schemas.openxmlformats.org/drawingml/2006/main">
            <a:r>
              <a:rPr sz="1400"/>
              <a:t>Docent: https://github.com/meijer1973/4veco-lessen/blob/9b8304d5031cafac936a56281e144573a25fbbc9/edities/books34-v3/books/book-3/chapters/3.3/Docenteninformatie.md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import hoort bij de heffing: vóór of na de maatregel?</a:t>
            </a:r>
          </a:p>
          <a:p xmlns:a="http://schemas.openxmlformats.org/drawingml/2006/main">
            <a:r>
              <a:rPr sz="1400"/>
              <a:t/>
            </a:r>
          </a:p>
          <a:p xmlns:a="http://schemas.openxmlformats.org/drawingml/2006/main">
            <a:r>
              <a:rPr sz="1400"/>
              <a:t>Uitleg: Selecteer eerst de rij Met heffing. Import = 100 min 60, daarna 5 maal 40. De overheid ontvangt 200 euro per week. Alleen de ingevoerde jassen worden belast. 5 maal 100 belast ten onrechte het hele verbruik; 5 maal 80 gebruikt de oude import.</a:t>
            </a:r>
          </a:p>
          <a:p xmlns:a="http://schemas.openxmlformats.org/drawingml/2006/main">
            <a:r>
              <a:rPr sz="1400"/>
              <a:t/>
            </a:r>
          </a:p>
          <a:p xmlns:a="http://schemas.openxmlformats.org/drawingml/2006/main">
            <a:r>
              <a:rPr sz="1400"/>
              <a:t>Misvatting: De binnenlandse makers betalen niet de invoerheffing over hun 60 jassen.</a:t>
            </a:r>
          </a:p>
          <a:p xmlns:a="http://schemas.openxmlformats.org/drawingml/2006/main">
            <a:r>
              <a:rPr sz="1400"/>
              <a:t/>
            </a:r>
          </a:p>
          <a:p xmlns:a="http://schemas.openxmlformats.org/drawingml/2006/main">
            <a:r>
              <a:rPr sz="1400"/>
              <a:t>Overgang: Vergelijk nu per groep prijs en hoeveelheid.</a:t>
            </a:r>
          </a:p>
          <a:p xmlns:a="http://schemas.openxmlformats.org/drawingml/2006/main">
            <a:r>
              <a:rPr sz="1400"/>
              <a:t/>
            </a:r>
          </a:p>
          <a:p xmlns:a="http://schemas.openxmlformats.org/drawingml/2006/main">
            <a:r>
              <a:rPr sz="1400"/>
              <a:t>Bron: Boek 3, geselecteerde v3-editie, book34-lesson-balance-v3-20260915; actuele broncommit 9b8304d5031cafac936a56281e144573a25fbbc9. Gedrukte boekpagina 120–121. https://github.com/meijer1973/4veco-lessen/blob/9b8304d5031cafac936a56281e144573a25fbbc9/edities/books34-v3/books/book-3/output/Boek_3_Compleet_v3.pdf</a:t>
            </a:r>
          </a:p>
          <a:p xmlns:a="http://schemas.openxmlformats.org/drawingml/2006/main">
            <a:r>
              <a:rPr sz="1400"/>
              <a:t>Antwoordmodel: https://github.com/meijer1973/4veco-lessen/blob/9b8304d5031cafac936a56281e144573a25fbbc9/edities/books34-v3/books/book-3/chapters/3.3/Antwoorden.md</a:t>
            </a:r>
          </a:p>
          <a:p xmlns:a="http://schemas.openxmlformats.org/drawingml/2006/main">
            <a:r>
              <a:rPr sz="1400"/>
              <a:t>Docent: https://github.com/meijer1973/4veco-lessen/blob/9b8304d5031cafac936a56281e144573a25fbbc9/edities/books34-v3/books/book-3/chapters/3.3/Docenteninformatie.md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is gunstig voor producenten maar nadelig voor kopers?</a:t>
            </a:r>
          </a:p>
          <a:p xmlns:a="http://schemas.openxmlformats.org/drawingml/2006/main">
            <a:r>
              <a:rPr sz="1400"/>
              <a:t/>
            </a:r>
          </a:p>
          <a:p xmlns:a="http://schemas.openxmlformats.org/drawingml/2006/main">
            <a:r>
              <a:rPr sz="1400"/>
              <a:t>Uitleg: Antwoordmodel 35c vraagt voor beide groepen prijs én hoeveelheid. Vergeleken met vrije invoer: prijs stijgt 10 naar 15, productie 40 naar 60, verbruik 120 naar 100. Het gaat om binnenlandse kopers en producenten.</a:t>
            </a:r>
          </a:p>
          <a:p xmlns:a="http://schemas.openxmlformats.org/drawingml/2006/main">
            <a:r>
              <a:rPr sz="1400"/>
              <a:t/>
            </a:r>
          </a:p>
          <a:p xmlns:a="http://schemas.openxmlformats.org/drawingml/2006/main">
            <a:r>
              <a:rPr sz="1400"/>
              <a:t>Misvatting: Een hogere verkoopprijs bewijst zonder kosteninformatie geen exacte winststijging van elk afzonderlijk bedrijf.</a:t>
            </a:r>
          </a:p>
          <a:p xmlns:a="http://schemas.openxmlformats.org/drawingml/2006/main">
            <a:r>
              <a:rPr sz="1400"/>
              <a:t/>
            </a:r>
          </a:p>
          <a:p xmlns:a="http://schemas.openxmlformats.org/drawingml/2006/main">
            <a:r>
              <a:rPr sz="1400"/>
              <a:t>Overgang: Laat de opbrengst in de grafiek zien.</a:t>
            </a:r>
          </a:p>
          <a:p xmlns:a="http://schemas.openxmlformats.org/drawingml/2006/main">
            <a:r>
              <a:rPr sz="1400"/>
              <a:t/>
            </a:r>
          </a:p>
          <a:p xmlns:a="http://schemas.openxmlformats.org/drawingml/2006/main">
            <a:r>
              <a:rPr sz="1400"/>
              <a:t>Bron: Boek 3, geselecteerde v3-editie, book34-lesson-balance-v3-20260915; actuele broncommit 9b8304d5031cafac936a56281e144573a25fbbc9. Gedrukte boekpagina 120–121. https://github.com/meijer1973/4veco-lessen/blob/9b8304d5031cafac936a56281e144573a25fbbc9/edities/books34-v3/books/book-3/output/Boek_3_Compleet_v3.pdf</a:t>
            </a:r>
          </a:p>
          <a:p xmlns:a="http://schemas.openxmlformats.org/drawingml/2006/main">
            <a:r>
              <a:rPr sz="1400"/>
              <a:t>Antwoordmodel: https://github.com/meijer1973/4veco-lessen/blob/9b8304d5031cafac936a56281e144573a25fbbc9/edities/books34-v3/books/book-3/chapters/3.3/Antwoorden.md</a:t>
            </a:r>
          </a:p>
          <a:p xmlns:a="http://schemas.openxmlformats.org/drawingml/2006/main">
            <a:r>
              <a:rPr sz="1400"/>
              <a:t>Docent: https://github.com/meijer1973/4veco-lessen/blob/9b8304d5031cafac936a56281e144573a25fbbc9/edities/books34-v3/books/book-3/chapters/3.3/Docenteninformatie.md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begint de rechthoek bij 60 in plaats van nul?</a:t>
            </a:r>
          </a:p>
          <a:p xmlns:a="http://schemas.openxmlformats.org/drawingml/2006/main">
            <a:r>
              <a:rPr sz="1400"/>
              <a:t/>
            </a:r>
          </a:p>
          <a:p xmlns:a="http://schemas.openxmlformats.org/drawingml/2006/main">
            <a:r>
              <a:rPr sz="1400"/>
              <a:t>Uitleg: Arceer exact Q=60 tot 100 en P=10 tot 15. De hatching is onderdeel van de native XY-chart, dus blijft gekoppeld aan datacoördinaten. Breedte = 40 jassen per week, hoogte = 5 euro per jas. Oppervlakte = 200 euro per week. Dit is geld voor de overheid. De figuur gebruikt dezelfde assen, curves en prijslijnen als de onopgeloste versie.</a:t>
            </a:r>
          </a:p>
          <a:p xmlns:a="http://schemas.openxmlformats.org/drawingml/2006/main">
            <a:r>
              <a:rPr sz="1400"/>
              <a:t/>
            </a:r>
          </a:p>
          <a:p xmlns:a="http://schemas.openxmlformats.org/drawingml/2006/main">
            <a:r>
              <a:rPr sz="1400"/>
              <a:t>Misvatting: De oppervlakte tussen nul en 100 belast binnenlandse productie mee. Opbrengst is geen welvaartsverliesdriehoek.</a:t>
            </a:r>
          </a:p>
          <a:p xmlns:a="http://schemas.openxmlformats.org/drawingml/2006/main">
            <a:r>
              <a:rPr sz="1400"/>
              <a:t/>
            </a:r>
          </a:p>
          <a:p xmlns:a="http://schemas.openxmlformats.org/drawingml/2006/main">
            <a:r>
              <a:rPr sz="1400"/>
              <a:t>Overgang: Vergelijk met de vergunningenregeling.</a:t>
            </a:r>
          </a:p>
          <a:p xmlns:a="http://schemas.openxmlformats.org/drawingml/2006/main">
            <a:r>
              <a:rPr sz="1400"/>
              <a:t/>
            </a:r>
          </a:p>
          <a:p xmlns:a="http://schemas.openxmlformats.org/drawingml/2006/main">
            <a:r>
              <a:rPr sz="1400"/>
              <a:t>Bron: Boek 3, geselecteerde v3-editie, book34-lesson-balance-v3-20260915; actuele broncommit 9b8304d5031cafac936a56281e144573a25fbbc9. Gedrukte boekpagina 120–121. https://github.com/meijer1973/4veco-lessen/blob/9b8304d5031cafac936a56281e144573a25fbbc9/edities/books34-v3/books/book-3/output/Boek_3_Compleet_v3.pdf</a:t>
            </a:r>
          </a:p>
          <a:p xmlns:a="http://schemas.openxmlformats.org/drawingml/2006/main">
            <a:r>
              <a:rPr sz="1400"/>
              <a:t>Antwoordmodel: https://github.com/meijer1973/4veco-lessen/blob/9b8304d5031cafac936a56281e144573a25fbbc9/edities/books34-v3/books/book-3/chapters/3.3/Antwoorden.md</a:t>
            </a:r>
          </a:p>
          <a:p xmlns:a="http://schemas.openxmlformats.org/drawingml/2006/main">
            <a:r>
              <a:rPr sz="1400"/>
              <a:t>Docent: https://github.com/meijer1973/4veco-lessen/blob/9b8304d5031cafac936a56281e144573a25fbbc9/edities/books34-v3/books/book-3/chapters/3.3/Docenteninformatie.md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 brongegeven sluit opbrengst uit verkoop van vergunningen uit?</a:t>
            </a:r>
          </a:p>
          <a:p xmlns:a="http://schemas.openxmlformats.org/drawingml/2006/main">
            <a:r>
              <a:rPr sz="1400"/>
              <a:t/>
            </a:r>
          </a:p>
          <a:p xmlns:a="http://schemas.openxmlformats.org/drawingml/2006/main">
            <a:r>
              <a:rPr sz="1400"/>
              <a:t>Uitleg: Antwoordmodel 35e. Het quotum begrenst de hoeveelheid. Er is geen invoerheffing en de vergunningen worden gratis weggegeven. In deze regeling zijn de bedoelde overheidsontvangsten nul. Een mogelijke verkoop van vergunningen is een andere regeling, niet in bron C.</a:t>
            </a:r>
          </a:p>
          <a:p xmlns:a="http://schemas.openxmlformats.org/drawingml/2006/main">
            <a:r>
              <a:rPr sz="1400"/>
              <a:t/>
            </a:r>
          </a:p>
          <a:p xmlns:a="http://schemas.openxmlformats.org/drawingml/2006/main">
            <a:r>
              <a:rPr sz="1400"/>
              <a:t>Misvatting: Een importbeperking geeft niet automatisch overheidsinkomsten.</a:t>
            </a:r>
          </a:p>
          <a:p xmlns:a="http://schemas.openxmlformats.org/drawingml/2006/main">
            <a:r>
              <a:rPr sz="1400"/>
              <a:t/>
            </a:r>
          </a:p>
          <a:p xmlns:a="http://schemas.openxmlformats.org/drawingml/2006/main">
            <a:r>
              <a:rPr sz="1400"/>
              <a:t>Overgang: Beoordeel de claim van de minister met twee concrete gegevens.</a:t>
            </a:r>
          </a:p>
          <a:p xmlns:a="http://schemas.openxmlformats.org/drawingml/2006/main">
            <a:r>
              <a:rPr sz="1400"/>
              <a:t/>
            </a:r>
          </a:p>
          <a:p xmlns:a="http://schemas.openxmlformats.org/drawingml/2006/main">
            <a:r>
              <a:rPr sz="1400"/>
              <a:t>Bron: Boek 3, geselecteerde v3-editie, book34-lesson-balance-v3-20260915; actuele broncommit 9b8304d5031cafac936a56281e144573a25fbbc9. Gedrukte boekpagina 120–121. https://github.com/meijer1973/4veco-lessen/blob/9b8304d5031cafac936a56281e144573a25fbbc9/edities/books34-v3/books/book-3/output/Boek_3_Compleet_v3.pdf</a:t>
            </a:r>
          </a:p>
          <a:p xmlns:a="http://schemas.openxmlformats.org/drawingml/2006/main">
            <a:r>
              <a:rPr sz="1400"/>
              <a:t>Antwoordmodel: https://github.com/meijer1973/4veco-lessen/blob/9b8304d5031cafac936a56281e144573a25fbbc9/edities/books34-v3/books/book-3/chapters/3.3/Antwoorden.md</a:t>
            </a:r>
          </a:p>
          <a:p xmlns:a="http://schemas.openxmlformats.org/drawingml/2006/main">
            <a:r>
              <a:rPr sz="1400"/>
              <a:t>Docent: https://github.com/meijer1973/4veco-lessen/blob/9b8304d5031cafac936a56281e144573a25fbbc9/edities/books34-v3/books/book-3/chapters/3.3/Docenteninformatie.md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zin in je antwoord beschrijft doelbereik, en welke begrenst de conclusie?</a:t>
            </a:r>
          </a:p>
          <a:p xmlns:a="http://schemas.openxmlformats.org/drawingml/2006/main">
            <a:r>
              <a:rPr sz="1400"/>
              <a:t/>
            </a:r>
          </a:p>
          <a:p xmlns:a="http://schemas.openxmlformats.org/drawingml/2006/main">
            <a:r>
              <a:rPr sz="1400"/>
              <a:t>Uitleg: Antwoordmodel 35f. Het productiedoel krijgt steun van de hogere productie. De hogere prijs voor gezinnen maakt de conclusie over alle inwoners te breed. Twee concrete gegevens plus een begrensd oordeel zijn nodig. Er hoeven geen surplusgebieden opnieuw te worden berekend. Laat leerlingen een ontbrekende bronkoppeling of eenheid verbeteren.</a:t>
            </a:r>
          </a:p>
          <a:p xmlns:a="http://schemas.openxmlformats.org/drawingml/2006/main">
            <a:r>
              <a:rPr sz="1400"/>
              <a:t/>
            </a:r>
          </a:p>
          <a:p xmlns:a="http://schemas.openxmlformats.org/drawingml/2006/main">
            <a:r>
              <a:rPr sz="1400"/>
              <a:t>Misvatting: Een beleidsdoel erkennen verplicht niet tot de uitspraak dat iedereen wint.</a:t>
            </a:r>
          </a:p>
          <a:p xmlns:a="http://schemas.openxmlformats.org/drawingml/2006/main">
            <a:r>
              <a:rPr sz="1400"/>
              <a:t/>
            </a:r>
          </a:p>
          <a:p xmlns:a="http://schemas.openxmlformats.org/drawingml/2006/main">
            <a:r>
              <a:rPr sz="1400"/>
              <a:t>Overgang: Keer terug naar hetzelfde overzicht en laat huiswerk noteren.</a:t>
            </a:r>
          </a:p>
          <a:p xmlns:a="http://schemas.openxmlformats.org/drawingml/2006/main">
            <a:r>
              <a:rPr sz="1400"/>
              <a:t/>
            </a:r>
          </a:p>
          <a:p xmlns:a="http://schemas.openxmlformats.org/drawingml/2006/main">
            <a:r>
              <a:rPr sz="1400"/>
              <a:t>Bron: Boek 3, geselecteerde v3-editie, book34-lesson-balance-v3-20260915; actuele broncommit 9b8304d5031cafac936a56281e144573a25fbbc9. Gedrukte boekpagina 120–121. https://github.com/meijer1973/4veco-lessen/blob/9b8304d5031cafac936a56281e144573a25fbbc9/edities/books34-v3/books/book-3/output/Boek_3_Compleet_v3.pdf</a:t>
            </a:r>
          </a:p>
          <a:p xmlns:a="http://schemas.openxmlformats.org/drawingml/2006/main">
            <a:r>
              <a:rPr sz="1400"/>
              <a:t>Antwoordmodel: https://github.com/meijer1973/4veco-lessen/blob/9b8304d5031cafac936a56281e144573a25fbbc9/edities/books34-v3/books/book-3/chapters/3.3/Antwoorden.md</a:t>
            </a:r>
          </a:p>
          <a:p xmlns:a="http://schemas.openxmlformats.org/drawingml/2006/main">
            <a:r>
              <a:rPr sz="1400"/>
              <a:t>Docent: https://github.com/meijer1973/4veco-lessen/blob/9b8304d5031cafac936a56281e144573a25fbbc9/edities/books34-v3/books/book-3/chapters/3.3/Docenteninformatie.md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opgave of stap vraagt nog aandacht?</a:t>
            </a:r>
          </a:p>
          <a:p xmlns:a="http://schemas.openxmlformats.org/drawingml/2006/main">
            <a:r>
              <a:rPr sz="1400"/>
              <a:t/>
            </a:r>
          </a:p>
          <a:p xmlns:a="http://schemas.openxmlformats.org/drawingml/2006/main">
            <a:r>
              <a:rPr sz="1400"/>
              <a:t>Uitleg: Laat dit overzicht staan tijdens afsluiting en huiswerk. De eerste gemengde opgave is 31, niet het hoofdstukbrede nummer 1. Start 31 haalt comparatief voordeel en import op uit §3.3.1 (p. 88–89) en §3.3.2 (p. 97–99). Geen nieuwe procedure wordt in de start verondersteld. Voorbereiding 31–34, doeloefening 35, bonus 36, herhaling 37–38. Er is volgens de docenteninformatie geen afzonderlijke basis- of begeleide sectie. De classroom-werkwijze voor gemengde opgaven schrijft alle genummerde opgaven als huiswerk voor; daarom ook 36 (met bonuslabel) en 37–38. Dit wijkt bewust af van de optionele bonus/herhaling in de algemene boekroute. Laat het werk zo nodig buiten deze les afmaken. Geen claim dat de volledige route in één les past. De drie overzichten komen uit dezelfde functie.</a:t>
            </a:r>
          </a:p>
          <a:p xmlns:a="http://schemas.openxmlformats.org/drawingml/2006/main">
            <a:r>
              <a:rPr sz="1400"/>
              <a:t/>
            </a:r>
          </a:p>
          <a:p xmlns:a="http://schemas.openxmlformats.org/drawingml/2006/main">
            <a:r>
              <a:rPr sz="1400"/>
              <a:t>Misvatting: Eén gezamenlijk voordeel betekent niet dat elke groep wint.</a:t>
            </a:r>
          </a:p>
          <a:p xmlns:a="http://schemas.openxmlformats.org/drawingml/2006/main">
            <a:r>
              <a:rPr sz="1400"/>
              <a:t/>
            </a:r>
          </a:p>
          <a:p xmlns:a="http://schemas.openxmlformats.org/drawingml/2006/main">
            <a:r>
              <a:rPr sz="1400"/>
              <a:t>Overgang: Na start: korte herhaling. Na uitleg: verder met 32–35 en overige gemengde opgaven. Bij afsluiting: agenda.</a:t>
            </a:r>
          </a:p>
          <a:p xmlns:a="http://schemas.openxmlformats.org/drawingml/2006/main">
            <a:r>
              <a:rPr sz="1400"/>
              <a:t/>
            </a:r>
          </a:p>
          <a:p xmlns:a="http://schemas.openxmlformats.org/drawingml/2006/main">
            <a:r>
              <a:rPr sz="1400"/>
              <a:t>Bron: Boek 3, geselecteerde v3-editie, book34-lesson-balance-v3-20260915; actuele broncommit 9b8304d5031cafac936a56281e144573a25fbbc9. Gedrukte boekpagina 117–123. https://github.com/meijer1973/4veco-lessen/blob/9b8304d5031cafac936a56281e144573a25fbbc9/edities/books34-v3/books/book-3/output/Boek_3_Compleet_v3.pdf</a:t>
            </a:r>
          </a:p>
          <a:p xmlns:a="http://schemas.openxmlformats.org/drawingml/2006/main">
            <a:r>
              <a:rPr sz="1400"/>
              <a:t>Antwoordmodel: https://github.com/meijer1973/4veco-lessen/blob/9b8304d5031cafac936a56281e144573a25fbbc9/edities/books34-v3/books/book-3/chapters/3.3/Antwoorden.md</a:t>
            </a:r>
          </a:p>
          <a:p xmlns:a="http://schemas.openxmlformats.org/drawingml/2006/main">
            <a:r>
              <a:rPr sz="1400"/>
              <a:t>Docent: https://github.com/meijer1973/4veco-lessen/blob/9b8304d5031cafac936a56281e144573a25fbbc9/edities/books34-v3/books/book-3/chapters/3.3/Docenteninformatie.md</a:t>
            </a:r>
          </a:p>
          <a:p xmlns:a="http://schemas.openxmlformats.org/drawingml/2006/main">
            <a:r>
              <a:rPr sz="1400"/>
              <a:t>Alleen voor feedback na de start: 31a comparatief voordeel, omdat het om opgegeven andere productie gaat; 31b import. Bespreek 35 omdat deze opgave bronkeuze, comparatief voordeel, import, heffingsopbrengst, grafiek en een begrensde conclusie samenbrengt.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61df8f0d6a146d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7ac138c0424488f" /><Relationship Type="http://schemas.openxmlformats.org/officeDocument/2006/relationships/slideLayout" Target="/ppt/slideLayouts/slideLayout1.xml" Id="R0dcaccf4f5ed4d0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dcaccf4f5ed4d0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19f5bc7c0da4800" /><Relationship Type="http://schemas.openxmlformats.org/officeDocument/2006/relationships/notesSlide" Target="/ppt/notesSlides/notesSlide1.xml" Id="Rf9f06cef00f344e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9c0a9f91ad841a1" /><Relationship Type="http://schemas.openxmlformats.org/officeDocument/2006/relationships/notesSlide" Target="/ppt/notesSlides/notesSlide2.xml" Id="Rb7cb5285616c4ed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6e3e86145054cad" /><Relationship Type="http://schemas.openxmlformats.org/officeDocument/2006/relationships/notesSlide" Target="/ppt/notesSlides/notesSlide3.xml" Id="Ra3c4522e6f754c3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3225066e0e1423f" /><Relationship Type="http://schemas.openxmlformats.org/officeDocument/2006/relationships/notesSlide" Target="/ppt/notesSlides/notesSlide4.xml" Id="R1ad01067aeb6416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5b37dea35d748c6" /><Relationship Type="http://schemas.openxmlformats.org/officeDocument/2006/relationships/notesSlide" Target="/ppt/notesSlides/notesSlide5.xml" Id="Ra932bb6ffa77404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2057641e2ed4bea" /><Relationship Type="http://schemas.openxmlformats.org/officeDocument/2006/relationships/notesSlide" Target="/ppt/notesSlides/notesSlide6.xml" Id="R92426bacaa8b4ad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0be3a9473f4488c" /><Relationship Type="http://schemas.openxmlformats.org/officeDocument/2006/relationships/notesSlide" Target="/ppt/notesSlides/notesSlide7.xml" Id="Rda7faeb1d4d746a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6568369a5c84fc5" /><Relationship Type="http://schemas.openxmlformats.org/officeDocument/2006/relationships/notesSlide" Target="/ppt/notesSlides/notesSlide8.xml" Id="R7a1a1a05bed6423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929cb7bf7b4468f" /><Relationship Type="http://schemas.openxmlformats.org/officeDocument/2006/relationships/notesSlide" Target="/ppt/notesSlides/notesSlide9.xml" Id="R71eea784da6b491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84b76514dda4f1c" /><Relationship Type="http://schemas.openxmlformats.org/officeDocument/2006/relationships/chart" Target="/ppt/slides/charts/chart1.xml" Id="R354ea3de2fc1496c" /><Relationship Type="http://schemas.openxmlformats.org/officeDocument/2006/relationships/notesSlide" Target="/ppt/notesSlides/notesSlide10.xml" Id="R5e01109f2bfc403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55af9a1f8f74d07" /><Relationship Type="http://schemas.openxmlformats.org/officeDocument/2006/relationships/notesSlide" Target="/ppt/notesSlides/notesSlide11.xml" Id="R255f503f02fc4e8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bf5abfaae5844da" /><Relationship Type="http://schemas.openxmlformats.org/officeDocument/2006/relationships/notesSlide" Target="/ppt/notesSlides/notesSlide12.xml" Id="R535736f9dcad461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ab18a0d72644a95" /><Relationship Type="http://schemas.openxmlformats.org/officeDocument/2006/relationships/notesSlide" Target="/ppt/notesSlides/notesSlide13.xml" Id="R5d317b1ae1994a6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f54cbfa76874105" /><Relationship Type="http://schemas.openxmlformats.org/officeDocument/2006/relationships/notesSlide" Target="/ppt/notesSlides/notesSlide14.xml" Id="R86d1a3d0ba76433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70d7f4cb0814fba" /><Relationship Type="http://schemas.openxmlformats.org/officeDocument/2006/relationships/notesSlide" Target="/ppt/notesSlides/notesSlide15.xml" Id="Rf7ef05ac6e22477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1815e20eee5041dc" /><Relationship Type="http://schemas.openxmlformats.org/officeDocument/2006/relationships/notesSlide" Target="/ppt/notesSlides/notesSlide16.xml" Id="R57e31197fe484d6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6db59829d974b1a" /><Relationship Type="http://schemas.openxmlformats.org/officeDocument/2006/relationships/notesSlide" Target="/ppt/notesSlides/notesSlide17.xml" Id="Ra7e661e8e2ab4b5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5fb37e3012c4ece" /><Relationship Type="http://schemas.openxmlformats.org/officeDocument/2006/relationships/chart" Target="/ppt/slides/charts/chart2.xml" Id="Rd5c23815bde14e09" /><Relationship Type="http://schemas.openxmlformats.org/officeDocument/2006/relationships/notesSlide" Target="/ppt/notesSlides/notesSlide18.xml" Id="R96c9adc66f9a4f8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70994866c66744b9" /><Relationship Type="http://schemas.openxmlformats.org/officeDocument/2006/relationships/notesSlide" Target="/ppt/notesSlides/notesSlide19.xml" Id="R94f05e49bcee4fe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eb668dba2f004432" /><Relationship Type="http://schemas.openxmlformats.org/officeDocument/2006/relationships/notesSlide" Target="/ppt/notesSlides/notesSlide20.xml" Id="R7c0edcd9275c407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5551f0f5b8844886" /><Relationship Type="http://schemas.openxmlformats.org/officeDocument/2006/relationships/notesSlide" Target="/ppt/notesSlides/notesSlide21.xml" Id="Racb66bd62fc343a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
        <c:ser>
          <c:idx val="0"/>
          <c:order val="0"/>
          <c:tx>
            <c:v>Vraag V</c:v>
          </c:tx>
          <c:spPr>
            <a:ln xmlns:a="http://schemas.openxmlformats.org/drawingml/2006/main" w="28575">
              <a:solidFill>
                <a:srgbClr val="17658A"/>
              </a:solidFill>
            </a:ln>
          </c:spPr>
          <c:marker>
            <c:symbol val="none"/>
          </c:marker>
          <c:xVal>
            <c:numRef>
              <c:f>'Chart Data'!$A$2:$A$3</c:f>
              <c:numCache>
                <c:formatCode>General</c:formatCode>
                <c:ptCount val="2"/>
                <c:pt idx="0">
                  <c:v>0</c:v>
                </c:pt>
                <c:pt idx="1">
                  <c:v>160</c:v>
                </c:pt>
              </c:numCache>
            </c:numRef>
          </c:xVal>
          <c:yVal>
            <c:numRef>
              <c:f>'Chart Data'!$B$2:$B$3</c:f>
              <c:numCache>
                <c:formatCode>General</c:formatCode>
                <c:ptCount val="2"/>
                <c:pt idx="0">
                  <c:v>40</c:v>
                </c:pt>
                <c:pt idx="1">
                  <c:v>0</c:v>
                </c:pt>
              </c:numCache>
            </c:numRef>
          </c:yVal>
        </c:ser>
        <c:ser>
          <c:idx val="1"/>
          <c:order val="1"/>
          <c:tx>
            <c:v>Aanbod A</c:v>
          </c:tx>
          <c:spPr>
            <a:ln xmlns:a="http://schemas.openxmlformats.org/drawingml/2006/main" w="28575">
              <a:solidFill>
                <a:srgbClr val="20665B"/>
              </a:solidFill>
            </a:ln>
          </c:spPr>
          <c:marker>
            <c:symbol val="none"/>
          </c:marker>
          <c:xVal>
            <c:numRef>
              <c:f>'Chart Data'!$C$2:$C$3</c:f>
              <c:numCache>
                <c:formatCode>General</c:formatCode>
                <c:ptCount val="2"/>
                <c:pt idx="0">
                  <c:v>0</c:v>
                </c:pt>
                <c:pt idx="1">
                  <c:v>160</c:v>
                </c:pt>
              </c:numCache>
            </c:numRef>
          </c:xVal>
          <c:yVal>
            <c:numRef>
              <c:f>'Chart Data'!$D$2:$D$3</c:f>
              <c:numCache>
                <c:formatCode>General</c:formatCode>
                <c:ptCount val="2"/>
                <c:pt idx="0">
                  <c:v>0</c:v>
                </c:pt>
                <c:pt idx="1">
                  <c:v>40</c:v>
                </c:pt>
              </c:numCache>
            </c:numRef>
          </c:yVal>
        </c:ser>
        <c:ser>
          <c:idx val="2"/>
          <c:order val="2"/>
          <c:tx>
            <c:v>Pw = 10</c:v>
          </c:tx>
          <c:spPr>
            <a:ln xmlns:a="http://schemas.openxmlformats.org/drawingml/2006/main" w="19050">
              <a:solidFill>
                <a:srgbClr val="445B6B"/>
              </a:solidFill>
            </a:ln>
          </c:spPr>
          <c:marker>
            <c:symbol val="none"/>
          </c:marker>
          <c:xVal>
            <c:numRef>
              <c:f>'Chart Data'!$E$2:$E$3</c:f>
              <c:numCache>
                <c:formatCode>General</c:formatCode>
                <c:ptCount val="2"/>
                <c:pt idx="0">
                  <c:v>0</c:v>
                </c:pt>
                <c:pt idx="1">
                  <c:v>160</c:v>
                </c:pt>
              </c:numCache>
            </c:numRef>
          </c:xVal>
          <c:yVal>
            <c:numRef>
              <c:f>'Chart Data'!$F$2:$F$3</c:f>
              <c:numCache>
                <c:formatCode>General</c:formatCode>
                <c:ptCount val="2"/>
                <c:pt idx="0">
                  <c:v>10</c:v>
                </c:pt>
                <c:pt idx="1">
                  <c:v>10</c:v>
                </c:pt>
              </c:numCache>
            </c:numRef>
          </c:yVal>
        </c:ser>
        <c:ser>
          <c:idx val="3"/>
          <c:order val="3"/>
          <c:tx>
            <c:v>Pw + t = 15</c:v>
          </c:tx>
          <c:spPr>
            <a:ln xmlns:a="http://schemas.openxmlformats.org/drawingml/2006/main" w="19050">
              <a:solidFill>
                <a:srgbClr val="A94D16"/>
              </a:solidFill>
            </a:ln>
          </c:spPr>
          <c:marker>
            <c:symbol val="none"/>
          </c:marker>
          <c:xVal>
            <c:numRef>
              <c:f>'Chart Data'!$G$2:$G$3</c:f>
              <c:numCache>
                <c:formatCode>General</c:formatCode>
                <c:ptCount val="2"/>
                <c:pt idx="0">
                  <c:v>0</c:v>
                </c:pt>
                <c:pt idx="1">
                  <c:v>160</c:v>
                </c:pt>
              </c:numCache>
            </c:numRef>
          </c:xVal>
          <c:yVal>
            <c:numRef>
              <c:f>'Chart Data'!$H$2:$H$3</c:f>
              <c:numCache>
                <c:formatCode>General</c:formatCode>
                <c:ptCount val="2"/>
                <c:pt idx="0">
                  <c:v>15</c:v>
                </c:pt>
                <c:pt idx="1">
                  <c:v>15</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40"/>
          <c:min val="0"/>
        </c:scaling>
        <c:delete val="0"/>
        <c:axPos val="l"/>
        <c:majorGridlines>
          <c:spPr>
            <a:ln xmlns:a="http://schemas.openxmlformats.org/drawingml/2006/main" w="4763">
              <a:solidFill>
                <a:srgbClr val="C6D2DB"/>
              </a:solidFill>
            </a:ln>
          </c:spPr>
        </c:majorGridlines>
        <c:title>
          <c:tx>
            <c:rich>
              <a:bodyPr xmlns:a="http://schemas.openxmlformats.org/drawingml/2006/main"/>
              <a:lstStyle xmlns:a="http://schemas.openxmlformats.org/drawingml/2006/main"/>
              <a:p xmlns:a="http://schemas.openxmlformats.org/drawingml/2006/main">
                <a:r>
                  <a:rPr sz="1950">
                    <a:latin typeface="Arial"/>
                    <a:ea typeface="Arial"/>
                    <a:cs typeface="Arial"/>
                  </a:rPr>
                  <a:t>P (€ per jas)</a:t>
                </a:r>
              </a:p>
            </c:rich>
          </c:tx>
          <c:overlay val="0"/>
          <c:txPr>
            <a:bodyPr xmlns:a="http://schemas.openxmlformats.org/drawingml/2006/main" anchorCtr="1"/>
            <a:lstStyle xmlns:a="http://schemas.openxmlformats.org/drawingml/2006/main"/>
            <a:p xmlns:a="http://schemas.openxmlformats.org/drawingml/2006/main">
              <a:pPr>
                <a:defRPr sz="1950">
                  <a:latin typeface="Arial"/>
                  <a:ea typeface="Arial"/>
                  <a:cs typeface="Arial"/>
                </a:defRPr>
              </a:pPr>
            </a:p>
          </c:txPr>
        </c:title>
        <c:numFmt formatCode="General"/>
        <c:majorTickMark val="none"/>
        <c:minorTickMark val="none"/>
        <c:spPr>
          <a:ln xmlns:a="http://schemas.openxmlformats.org/drawingml/2006/main" w="9525">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666666"/>
                </a:solidFill>
                <a:latin typeface="Arial"/>
                <a:ea typeface="Arial"/>
                <a:cs typeface="Arial"/>
              </a:defRPr>
            </a:pPr>
          </a:p>
        </c:txPr>
        <c:crossAx val="48650112"/>
        <c:majorUnit val="5"/>
      </c:valAx>
      <c:valAx>
        <c:axId val="48650112"/>
        <c:scaling>
          <c:orientation val="minMax"/>
          <c:max val="160"/>
          <c:min val="0"/>
        </c:scaling>
        <c:delete val="0"/>
        <c:axPos val="b"/>
        <c:majorGridlines>
          <c:spPr>
            <a:ln xmlns:a="http://schemas.openxmlformats.org/drawingml/2006/main" w="4763">
              <a:solidFill>
                <a:srgbClr val="C6D2DB"/>
              </a:solidFill>
            </a:ln>
          </c:spPr>
        </c:majorGridlines>
        <c:title>
          <c:tx>
            <c:rich>
              <a:bodyPr xmlns:a="http://schemas.openxmlformats.org/drawingml/2006/main"/>
              <a:lstStyle xmlns:a="http://schemas.openxmlformats.org/drawingml/2006/main"/>
              <a:p xmlns:a="http://schemas.openxmlformats.org/drawingml/2006/main">
                <a:r>
                  <a:rPr sz="1950">
                    <a:latin typeface="Arial"/>
                    <a:ea typeface="Arial"/>
                    <a:cs typeface="Arial"/>
                  </a:rPr>
                  <a:t>Q (jassen per week)</a:t>
                </a:r>
              </a:p>
            </c:rich>
          </c:tx>
          <c:overlay val="0"/>
          <c:txPr>
            <a:bodyPr xmlns:a="http://schemas.openxmlformats.org/drawingml/2006/main" anchorCtr="1"/>
            <a:lstStyle xmlns:a="http://schemas.openxmlformats.org/drawingml/2006/main"/>
            <a:p xmlns:a="http://schemas.openxmlformats.org/drawingml/2006/main">
              <a:pPr>
                <a:defRPr sz="1950">
                  <a:latin typeface="Arial"/>
                  <a:ea typeface="Arial"/>
                  <a:cs typeface="Arial"/>
                </a:defRPr>
              </a:pPr>
            </a:p>
          </c:txPr>
        </c:title>
        <c:numFmt formatCode="General"/>
        <c:majorTickMark val="none"/>
        <c:minorTickMark val="none"/>
        <c:spPr>
          <a:ln xmlns:a="http://schemas.openxmlformats.org/drawingml/2006/main" w="9525">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666666"/>
                </a:solidFill>
                <a:latin typeface="Arial"/>
                <a:ea typeface="Arial"/>
                <a:cs typeface="Arial"/>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
        <c:ser>
          <c:idx val="0"/>
          <c:order val="0"/>
          <c:tx>
            <c:v>Vraag V</c:v>
          </c:tx>
          <c:spPr>
            <a:ln xmlns:a="http://schemas.openxmlformats.org/drawingml/2006/main" w="28575">
              <a:solidFill>
                <a:srgbClr val="17658A"/>
              </a:solidFill>
            </a:ln>
          </c:spPr>
          <c:marker>
            <c:symbol val="none"/>
          </c:marker>
          <c:xVal>
            <c:numRef>
              <c:f>'Chart Data'!$A$2:$A$3</c:f>
              <c:numCache>
                <c:formatCode>General</c:formatCode>
                <c:ptCount val="2"/>
                <c:pt idx="0">
                  <c:v>0</c:v>
                </c:pt>
                <c:pt idx="1">
                  <c:v>160</c:v>
                </c:pt>
              </c:numCache>
            </c:numRef>
          </c:xVal>
          <c:yVal>
            <c:numRef>
              <c:f>'Chart Data'!$B$2:$B$3</c:f>
              <c:numCache>
                <c:formatCode>General</c:formatCode>
                <c:ptCount val="2"/>
                <c:pt idx="0">
                  <c:v>40</c:v>
                </c:pt>
                <c:pt idx="1">
                  <c:v>0</c:v>
                </c:pt>
              </c:numCache>
            </c:numRef>
          </c:yVal>
        </c:ser>
        <c:ser>
          <c:idx val="1"/>
          <c:order val="1"/>
          <c:tx>
            <c:v>Aanbod A</c:v>
          </c:tx>
          <c:spPr>
            <a:ln xmlns:a="http://schemas.openxmlformats.org/drawingml/2006/main" w="28575">
              <a:solidFill>
                <a:srgbClr val="20665B"/>
              </a:solidFill>
            </a:ln>
          </c:spPr>
          <c:marker>
            <c:symbol val="none"/>
          </c:marker>
          <c:xVal>
            <c:numRef>
              <c:f>'Chart Data'!$C$2:$C$3</c:f>
              <c:numCache>
                <c:formatCode>General</c:formatCode>
                <c:ptCount val="2"/>
                <c:pt idx="0">
                  <c:v>0</c:v>
                </c:pt>
                <c:pt idx="1">
                  <c:v>160</c:v>
                </c:pt>
              </c:numCache>
            </c:numRef>
          </c:xVal>
          <c:yVal>
            <c:numRef>
              <c:f>'Chart Data'!$D$2:$D$3</c:f>
              <c:numCache>
                <c:formatCode>General</c:formatCode>
                <c:ptCount val="2"/>
                <c:pt idx="0">
                  <c:v>0</c:v>
                </c:pt>
                <c:pt idx="1">
                  <c:v>40</c:v>
                </c:pt>
              </c:numCache>
            </c:numRef>
          </c:yVal>
        </c:ser>
        <c:ser>
          <c:idx val="2"/>
          <c:order val="2"/>
          <c:tx>
            <c:v>Pw = 10</c:v>
          </c:tx>
          <c:spPr>
            <a:ln xmlns:a="http://schemas.openxmlformats.org/drawingml/2006/main" w="19050">
              <a:solidFill>
                <a:srgbClr val="445B6B"/>
              </a:solidFill>
            </a:ln>
          </c:spPr>
          <c:marker>
            <c:symbol val="none"/>
          </c:marker>
          <c:xVal>
            <c:numRef>
              <c:f>'Chart Data'!$E$2:$E$3</c:f>
              <c:numCache>
                <c:formatCode>General</c:formatCode>
                <c:ptCount val="2"/>
                <c:pt idx="0">
                  <c:v>0</c:v>
                </c:pt>
                <c:pt idx="1">
                  <c:v>160</c:v>
                </c:pt>
              </c:numCache>
            </c:numRef>
          </c:xVal>
          <c:yVal>
            <c:numRef>
              <c:f>'Chart Data'!$F$2:$F$3</c:f>
              <c:numCache>
                <c:formatCode>General</c:formatCode>
                <c:ptCount val="2"/>
                <c:pt idx="0">
                  <c:v>10</c:v>
                </c:pt>
                <c:pt idx="1">
                  <c:v>10</c:v>
                </c:pt>
              </c:numCache>
            </c:numRef>
          </c:yVal>
        </c:ser>
        <c:ser>
          <c:idx val="3"/>
          <c:order val="3"/>
          <c:tx>
            <c:v>Pw + t = 15</c:v>
          </c:tx>
          <c:spPr>
            <a:ln xmlns:a="http://schemas.openxmlformats.org/drawingml/2006/main" w="19050">
              <a:solidFill>
                <a:srgbClr val="A94D16"/>
              </a:solidFill>
            </a:ln>
          </c:spPr>
          <c:marker>
            <c:symbol val="none"/>
          </c:marker>
          <c:xVal>
            <c:numRef>
              <c:f>'Chart Data'!$G$2:$G$3</c:f>
              <c:numCache>
                <c:formatCode>General</c:formatCode>
                <c:ptCount val="2"/>
                <c:pt idx="0">
                  <c:v>0</c:v>
                </c:pt>
                <c:pt idx="1">
                  <c:v>160</c:v>
                </c:pt>
              </c:numCache>
            </c:numRef>
          </c:xVal>
          <c:yVal>
            <c:numRef>
              <c:f>'Chart Data'!$H$2:$H$3</c:f>
              <c:numCache>
                <c:formatCode>General</c:formatCode>
                <c:ptCount val="2"/>
                <c:pt idx="0">
                  <c:v>15</c:v>
                </c:pt>
                <c:pt idx="1">
                  <c:v>15</c:v>
                </c:pt>
              </c:numCache>
            </c:numRef>
          </c:yVal>
        </c:ser>
        <c:ser>
          <c:idx val="4"/>
          <c:order val="4"/>
          <c:tx>
            <c:v>Ondergrens opbrengst</c:v>
          </c:tx>
          <c:spPr>
            <a:ln xmlns:a="http://schemas.openxmlformats.org/drawingml/2006/main" w="28575">
              <a:solidFill>
                <a:srgbClr val="A94D16"/>
              </a:solidFill>
            </a:ln>
          </c:spPr>
          <c:marker>
            <c:symbol val="none"/>
          </c:marker>
          <c:xVal>
            <c:numRef>
              <c:f>'Chart Data'!$I$2:$I$3</c:f>
              <c:numCache>
                <c:formatCode>General</c:formatCode>
                <c:ptCount val="2"/>
                <c:pt idx="0">
                  <c:v>60</c:v>
                </c:pt>
                <c:pt idx="1">
                  <c:v>100</c:v>
                </c:pt>
              </c:numCache>
            </c:numRef>
          </c:xVal>
          <c:yVal>
            <c:numRef>
              <c:f>'Chart Data'!$J$2:$J$3</c:f>
              <c:numCache>
                <c:formatCode>General</c:formatCode>
                <c:ptCount val="2"/>
                <c:pt idx="0">
                  <c:v>10</c:v>
                </c:pt>
                <c:pt idx="1">
                  <c:v>10</c:v>
                </c:pt>
              </c:numCache>
            </c:numRef>
          </c:yVal>
        </c:ser>
        <c:ser>
          <c:idx val="5"/>
          <c:order val="5"/>
          <c:tx>
            <c:v>Bovengrens opbrengst</c:v>
          </c:tx>
          <c:spPr>
            <a:ln xmlns:a="http://schemas.openxmlformats.org/drawingml/2006/main" w="28575">
              <a:solidFill>
                <a:srgbClr val="A94D16"/>
              </a:solidFill>
            </a:ln>
          </c:spPr>
          <c:marker>
            <c:symbol val="none"/>
          </c:marker>
          <c:xVal>
            <c:numRef>
              <c:f>'Chart Data'!$K$2:$K$3</c:f>
              <c:numCache>
                <c:formatCode>General</c:formatCode>
                <c:ptCount val="2"/>
                <c:pt idx="0">
                  <c:v>60</c:v>
                </c:pt>
                <c:pt idx="1">
                  <c:v>100</c:v>
                </c:pt>
              </c:numCache>
            </c:numRef>
          </c:xVal>
          <c:yVal>
            <c:numRef>
              <c:f>'Chart Data'!$L$2:$L$3</c:f>
              <c:numCache>
                <c:formatCode>General</c:formatCode>
                <c:ptCount val="2"/>
                <c:pt idx="0">
                  <c:v>15</c:v>
                </c:pt>
                <c:pt idx="1">
                  <c:v>15</c:v>
                </c:pt>
              </c:numCache>
            </c:numRef>
          </c:yVal>
        </c:ser>
        <c:ser>
          <c:idx val="6"/>
          <c:order val="6"/>
          <c:tx>
            <c:v>Linkergrens opbrengst</c:v>
          </c:tx>
          <c:spPr>
            <a:ln xmlns:a="http://schemas.openxmlformats.org/drawingml/2006/main" w="28575">
              <a:solidFill>
                <a:srgbClr val="A94D16"/>
              </a:solidFill>
            </a:ln>
          </c:spPr>
          <c:marker>
            <c:symbol val="none"/>
          </c:marker>
          <c:xVal>
            <c:numRef>
              <c:f>'Chart Data'!$M$2:$M$3</c:f>
              <c:numCache>
                <c:formatCode>General</c:formatCode>
                <c:ptCount val="2"/>
                <c:pt idx="0">
                  <c:v>60</c:v>
                </c:pt>
                <c:pt idx="1">
                  <c:v>60</c:v>
                </c:pt>
              </c:numCache>
            </c:numRef>
          </c:xVal>
          <c:yVal>
            <c:numRef>
              <c:f>'Chart Data'!$N$2:$N$3</c:f>
              <c:numCache>
                <c:formatCode>General</c:formatCode>
                <c:ptCount val="2"/>
                <c:pt idx="0">
                  <c:v>10</c:v>
                </c:pt>
                <c:pt idx="1">
                  <c:v>15</c:v>
                </c:pt>
              </c:numCache>
            </c:numRef>
          </c:yVal>
        </c:ser>
        <c:ser>
          <c:idx val="7"/>
          <c:order val="7"/>
          <c:tx>
            <c:v>Rechtergrens opbrengst</c:v>
          </c:tx>
          <c:spPr>
            <a:ln xmlns:a="http://schemas.openxmlformats.org/drawingml/2006/main" w="28575">
              <a:solidFill>
                <a:srgbClr val="A94D16"/>
              </a:solidFill>
            </a:ln>
          </c:spPr>
          <c:marker>
            <c:symbol val="none"/>
          </c:marker>
          <c:xVal>
            <c:numRef>
              <c:f>'Chart Data'!$O$2:$O$3</c:f>
              <c:numCache>
                <c:formatCode>General</c:formatCode>
                <c:ptCount val="2"/>
                <c:pt idx="0">
                  <c:v>100</c:v>
                </c:pt>
                <c:pt idx="1">
                  <c:v>100</c:v>
                </c:pt>
              </c:numCache>
            </c:numRef>
          </c:xVal>
          <c:yVal>
            <c:numRef>
              <c:f>'Chart Data'!$P$2:$P$3</c:f>
              <c:numCache>
                <c:formatCode>General</c:formatCode>
                <c:ptCount val="2"/>
                <c:pt idx="0">
                  <c:v>10</c:v>
                </c:pt>
                <c:pt idx="1">
                  <c:v>15</c:v>
                </c:pt>
              </c:numCache>
            </c:numRef>
          </c:yVal>
        </c:ser>
        <c:ser>
          <c:idx val="8"/>
          <c:order val="8"/>
          <c:tx>
            <c:v>Arcering 60</c:v>
          </c:tx>
          <c:spPr>
            <a:ln xmlns:a="http://schemas.openxmlformats.org/drawingml/2006/main" w="9525">
              <a:solidFill>
                <a:srgbClr val="A94D16"/>
              </a:solidFill>
            </a:ln>
          </c:spPr>
          <c:marker>
            <c:symbol val="none"/>
          </c:marker>
          <c:xVal>
            <c:numRef>
              <c:f>'Chart Data'!$Q$2:$Q$3</c:f>
              <c:numCache>
                <c:formatCode>General</c:formatCode>
                <c:ptCount val="2"/>
                <c:pt idx="0">
                  <c:v>60</c:v>
                </c:pt>
                <c:pt idx="1">
                  <c:v>70</c:v>
                </c:pt>
              </c:numCache>
            </c:numRef>
          </c:xVal>
          <c:yVal>
            <c:numRef>
              <c:f>'Chart Data'!$R$2:$R$3</c:f>
              <c:numCache>
                <c:formatCode>General</c:formatCode>
                <c:ptCount val="2"/>
                <c:pt idx="0">
                  <c:v>10</c:v>
                </c:pt>
                <c:pt idx="1">
                  <c:v>15</c:v>
                </c:pt>
              </c:numCache>
            </c:numRef>
          </c:yVal>
        </c:ser>
        <c:ser>
          <c:idx val="9"/>
          <c:order val="9"/>
          <c:tx>
            <c:v>Arcering 64</c:v>
          </c:tx>
          <c:spPr>
            <a:ln xmlns:a="http://schemas.openxmlformats.org/drawingml/2006/main" w="9525">
              <a:solidFill>
                <a:srgbClr val="A94D16"/>
              </a:solidFill>
            </a:ln>
          </c:spPr>
          <c:marker>
            <c:symbol val="none"/>
          </c:marker>
          <c:xVal>
            <c:numRef>
              <c:f>'Chart Data'!$S$2:$S$3</c:f>
              <c:numCache>
                <c:formatCode>General</c:formatCode>
                <c:ptCount val="2"/>
                <c:pt idx="0">
                  <c:v>64</c:v>
                </c:pt>
                <c:pt idx="1">
                  <c:v>74</c:v>
                </c:pt>
              </c:numCache>
            </c:numRef>
          </c:xVal>
          <c:yVal>
            <c:numRef>
              <c:f>'Chart Data'!$T$2:$T$3</c:f>
              <c:numCache>
                <c:formatCode>General</c:formatCode>
                <c:ptCount val="2"/>
                <c:pt idx="0">
                  <c:v>10</c:v>
                </c:pt>
                <c:pt idx="1">
                  <c:v>15</c:v>
                </c:pt>
              </c:numCache>
            </c:numRef>
          </c:yVal>
        </c:ser>
        <c:ser>
          <c:idx val="10"/>
          <c:order val="10"/>
          <c:tx>
            <c:v>Arcering 68</c:v>
          </c:tx>
          <c:spPr>
            <a:ln xmlns:a="http://schemas.openxmlformats.org/drawingml/2006/main" w="9525">
              <a:solidFill>
                <a:srgbClr val="A94D16"/>
              </a:solidFill>
            </a:ln>
          </c:spPr>
          <c:marker>
            <c:symbol val="none"/>
          </c:marker>
          <c:xVal>
            <c:numRef>
              <c:f>'Chart Data'!$U$2:$U$3</c:f>
              <c:numCache>
                <c:formatCode>General</c:formatCode>
                <c:ptCount val="2"/>
                <c:pt idx="0">
                  <c:v>68</c:v>
                </c:pt>
                <c:pt idx="1">
                  <c:v>78</c:v>
                </c:pt>
              </c:numCache>
            </c:numRef>
          </c:xVal>
          <c:yVal>
            <c:numRef>
              <c:f>'Chart Data'!$V$2:$V$3</c:f>
              <c:numCache>
                <c:formatCode>General</c:formatCode>
                <c:ptCount val="2"/>
                <c:pt idx="0">
                  <c:v>10</c:v>
                </c:pt>
                <c:pt idx="1">
                  <c:v>15</c:v>
                </c:pt>
              </c:numCache>
            </c:numRef>
          </c:yVal>
        </c:ser>
        <c:ser>
          <c:idx val="11"/>
          <c:order val="11"/>
          <c:tx>
            <c:v>Arcering 72</c:v>
          </c:tx>
          <c:spPr>
            <a:ln xmlns:a="http://schemas.openxmlformats.org/drawingml/2006/main" w="9525">
              <a:solidFill>
                <a:srgbClr val="A94D16"/>
              </a:solidFill>
            </a:ln>
          </c:spPr>
          <c:marker>
            <c:symbol val="none"/>
          </c:marker>
          <c:xVal>
            <c:numRef>
              <c:f>'Chart Data'!$W$2:$W$3</c:f>
              <c:numCache>
                <c:formatCode>General</c:formatCode>
                <c:ptCount val="2"/>
                <c:pt idx="0">
                  <c:v>72</c:v>
                </c:pt>
                <c:pt idx="1">
                  <c:v>82</c:v>
                </c:pt>
              </c:numCache>
            </c:numRef>
          </c:xVal>
          <c:yVal>
            <c:numRef>
              <c:f>'Chart Data'!$X$2:$X$3</c:f>
              <c:numCache>
                <c:formatCode>General</c:formatCode>
                <c:ptCount val="2"/>
                <c:pt idx="0">
                  <c:v>10</c:v>
                </c:pt>
                <c:pt idx="1">
                  <c:v>15</c:v>
                </c:pt>
              </c:numCache>
            </c:numRef>
          </c:yVal>
        </c:ser>
        <c:ser>
          <c:idx val="12"/>
          <c:order val="12"/>
          <c:tx>
            <c:v>Arcering 76</c:v>
          </c:tx>
          <c:spPr>
            <a:ln xmlns:a="http://schemas.openxmlformats.org/drawingml/2006/main" w="9525">
              <a:solidFill>
                <a:srgbClr val="A94D16"/>
              </a:solidFill>
            </a:ln>
          </c:spPr>
          <c:marker>
            <c:symbol val="none"/>
          </c:marker>
          <c:xVal>
            <c:numRef>
              <c:f>'Chart Data'!$Y$2:$Y$3</c:f>
              <c:numCache>
                <c:formatCode>General</c:formatCode>
                <c:ptCount val="2"/>
                <c:pt idx="0">
                  <c:v>76</c:v>
                </c:pt>
                <c:pt idx="1">
                  <c:v>86</c:v>
                </c:pt>
              </c:numCache>
            </c:numRef>
          </c:xVal>
          <c:yVal>
            <c:numRef>
              <c:f>'Chart Data'!$Z$2:$Z$3</c:f>
              <c:numCache>
                <c:formatCode>General</c:formatCode>
                <c:ptCount val="2"/>
                <c:pt idx="0">
                  <c:v>10</c:v>
                </c:pt>
                <c:pt idx="1">
                  <c:v>15</c:v>
                </c:pt>
              </c:numCache>
            </c:numRef>
          </c:yVal>
        </c:ser>
        <c:ser>
          <c:idx val="13"/>
          <c:order val="13"/>
          <c:tx>
            <c:v>Arcering 80</c:v>
          </c:tx>
          <c:spPr>
            <a:ln xmlns:a="http://schemas.openxmlformats.org/drawingml/2006/main" w="9525">
              <a:solidFill>
                <a:srgbClr val="A94D16"/>
              </a:solidFill>
            </a:ln>
          </c:spPr>
          <c:marker>
            <c:symbol val="none"/>
          </c:marker>
          <c:xVal>
            <c:numRef>
              <c:f>'Chart Data'!$AA$2:$AA$3</c:f>
              <c:numCache>
                <c:formatCode>General</c:formatCode>
                <c:ptCount val="2"/>
                <c:pt idx="0">
                  <c:v>80</c:v>
                </c:pt>
                <c:pt idx="1">
                  <c:v>90</c:v>
                </c:pt>
              </c:numCache>
            </c:numRef>
          </c:xVal>
          <c:yVal>
            <c:numRef>
              <c:f>'Chart Data'!$AB$2:$AB$3</c:f>
              <c:numCache>
                <c:formatCode>General</c:formatCode>
                <c:ptCount val="2"/>
                <c:pt idx="0">
                  <c:v>10</c:v>
                </c:pt>
                <c:pt idx="1">
                  <c:v>15</c:v>
                </c:pt>
              </c:numCache>
            </c:numRef>
          </c:yVal>
        </c:ser>
        <c:ser>
          <c:idx val="14"/>
          <c:order val="14"/>
          <c:tx>
            <c:v>Arcering 84</c:v>
          </c:tx>
          <c:spPr>
            <a:ln xmlns:a="http://schemas.openxmlformats.org/drawingml/2006/main" w="9525">
              <a:solidFill>
                <a:srgbClr val="A94D16"/>
              </a:solidFill>
            </a:ln>
          </c:spPr>
          <c:marker>
            <c:symbol val="none"/>
          </c:marker>
          <c:xVal>
            <c:numRef>
              <c:f>'Chart Data'!$AC$2:$AC$3</c:f>
              <c:numCache>
                <c:formatCode>General</c:formatCode>
                <c:ptCount val="2"/>
                <c:pt idx="0">
                  <c:v>84</c:v>
                </c:pt>
                <c:pt idx="1">
                  <c:v>94</c:v>
                </c:pt>
              </c:numCache>
            </c:numRef>
          </c:xVal>
          <c:yVal>
            <c:numRef>
              <c:f>'Chart Data'!$AD$2:$AD$3</c:f>
              <c:numCache>
                <c:formatCode>General</c:formatCode>
                <c:ptCount val="2"/>
                <c:pt idx="0">
                  <c:v>10</c:v>
                </c:pt>
                <c:pt idx="1">
                  <c:v>15</c:v>
                </c:pt>
              </c:numCache>
            </c:numRef>
          </c:yVal>
        </c:ser>
        <c:ser>
          <c:idx val="15"/>
          <c:order val="15"/>
          <c:tx>
            <c:v>Arcering 88</c:v>
          </c:tx>
          <c:spPr>
            <a:ln xmlns:a="http://schemas.openxmlformats.org/drawingml/2006/main" w="9525">
              <a:solidFill>
                <a:srgbClr val="A94D16"/>
              </a:solidFill>
            </a:ln>
          </c:spPr>
          <c:marker>
            <c:symbol val="none"/>
          </c:marker>
          <c:xVal>
            <c:numRef>
              <c:f>'Chart Data'!$AE$2:$AE$3</c:f>
              <c:numCache>
                <c:formatCode>General</c:formatCode>
                <c:ptCount val="2"/>
                <c:pt idx="0">
                  <c:v>88</c:v>
                </c:pt>
                <c:pt idx="1">
                  <c:v>98</c:v>
                </c:pt>
              </c:numCache>
            </c:numRef>
          </c:xVal>
          <c:yVal>
            <c:numRef>
              <c:f>'Chart Data'!$AF$2:$AF$3</c:f>
              <c:numCache>
                <c:formatCode>General</c:formatCode>
                <c:ptCount val="2"/>
                <c:pt idx="0">
                  <c:v>10</c:v>
                </c:pt>
                <c:pt idx="1">
                  <c:v>15</c:v>
                </c:pt>
              </c:numCache>
            </c:numRef>
          </c:yVal>
        </c:ser>
        <c:ser>
          <c:idx val="16"/>
          <c:order val="16"/>
          <c:tx>
            <c:v>Arcering 92</c:v>
          </c:tx>
          <c:spPr>
            <a:ln xmlns:a="http://schemas.openxmlformats.org/drawingml/2006/main" w="9525">
              <a:solidFill>
                <a:srgbClr val="A94D16"/>
              </a:solidFill>
            </a:ln>
          </c:spPr>
          <c:marker>
            <c:symbol val="none"/>
          </c:marker>
          <c:xVal>
            <c:numRef>
              <c:f>'Chart Data'!$AG$2:$AG$3</c:f>
              <c:numCache>
                <c:formatCode>General</c:formatCode>
                <c:ptCount val="2"/>
                <c:pt idx="0">
                  <c:v>92</c:v>
                </c:pt>
                <c:pt idx="1">
                  <c:v>100</c:v>
                </c:pt>
              </c:numCache>
            </c:numRef>
          </c:xVal>
          <c:yVal>
            <c:numRef>
              <c:f>'Chart Data'!$AH$2:$AH$3</c:f>
              <c:numCache>
                <c:formatCode>General</c:formatCode>
                <c:ptCount val="2"/>
                <c:pt idx="0">
                  <c:v>10</c:v>
                </c:pt>
                <c:pt idx="1">
                  <c:v>14</c:v>
                </c:pt>
              </c:numCache>
            </c:numRef>
          </c:yVal>
        </c:ser>
        <c:ser>
          <c:idx val="17"/>
          <c:order val="17"/>
          <c:tx>
            <c:v>Arcering 96</c:v>
          </c:tx>
          <c:spPr>
            <a:ln xmlns:a="http://schemas.openxmlformats.org/drawingml/2006/main" w="9525">
              <a:solidFill>
                <a:srgbClr val="A94D16"/>
              </a:solidFill>
            </a:ln>
          </c:spPr>
          <c:marker>
            <c:symbol val="none"/>
          </c:marker>
          <c:xVal>
            <c:numRef>
              <c:f>'Chart Data'!$AI$2:$AI$3</c:f>
              <c:numCache>
                <c:formatCode>General</c:formatCode>
                <c:ptCount val="2"/>
                <c:pt idx="0">
                  <c:v>96</c:v>
                </c:pt>
                <c:pt idx="1">
                  <c:v>100</c:v>
                </c:pt>
              </c:numCache>
            </c:numRef>
          </c:xVal>
          <c:yVal>
            <c:numRef>
              <c:f>'Chart Data'!$AJ$2:$AJ$3</c:f>
              <c:numCache>
                <c:formatCode>General</c:formatCode>
                <c:ptCount val="2"/>
                <c:pt idx="0">
                  <c:v>10</c:v>
                </c:pt>
                <c:pt idx="1">
                  <c:v>12</c:v>
                </c:pt>
              </c:numCache>
            </c:numRef>
          </c:yVal>
        </c:ser>
        <c:ser>
          <c:idx val="18"/>
          <c:order val="18"/>
          <c:tx>
            <c:v>Arcering boven 11</c:v>
          </c:tx>
          <c:spPr>
            <a:ln xmlns:a="http://schemas.openxmlformats.org/drawingml/2006/main" w="9525">
              <a:solidFill>
                <a:srgbClr val="A94D16"/>
              </a:solidFill>
            </a:ln>
          </c:spPr>
          <c:marker>
            <c:symbol val="none"/>
          </c:marker>
          <c:xVal>
            <c:numRef>
              <c:f>'Chart Data'!$AK$2:$AK$3</c:f>
              <c:numCache>
                <c:formatCode>General</c:formatCode>
                <c:ptCount val="2"/>
                <c:pt idx="0">
                  <c:v>60</c:v>
                </c:pt>
                <c:pt idx="1">
                  <c:v>68</c:v>
                </c:pt>
              </c:numCache>
            </c:numRef>
          </c:xVal>
          <c:yVal>
            <c:numRef>
              <c:f>'Chart Data'!$AL$2:$AL$3</c:f>
              <c:numCache>
                <c:formatCode>General</c:formatCode>
                <c:ptCount val="2"/>
                <c:pt idx="0">
                  <c:v>11</c:v>
                </c:pt>
                <c:pt idx="1">
                  <c:v>15</c:v>
                </c:pt>
              </c:numCache>
            </c:numRef>
          </c:yVal>
        </c:ser>
        <c:ser>
          <c:idx val="19"/>
          <c:order val="19"/>
          <c:tx>
            <c:v>Arcering boven 12</c:v>
          </c:tx>
          <c:spPr>
            <a:ln xmlns:a="http://schemas.openxmlformats.org/drawingml/2006/main" w="9525">
              <a:solidFill>
                <a:srgbClr val="A94D16"/>
              </a:solidFill>
            </a:ln>
          </c:spPr>
          <c:marker>
            <c:symbol val="none"/>
          </c:marker>
          <c:xVal>
            <c:numRef>
              <c:f>'Chart Data'!$AM$2:$AM$3</c:f>
              <c:numCache>
                <c:formatCode>General</c:formatCode>
                <c:ptCount val="2"/>
                <c:pt idx="0">
                  <c:v>60</c:v>
                </c:pt>
                <c:pt idx="1">
                  <c:v>66</c:v>
                </c:pt>
              </c:numCache>
            </c:numRef>
          </c:xVal>
          <c:yVal>
            <c:numRef>
              <c:f>'Chart Data'!$AN$2:$AN$3</c:f>
              <c:numCache>
                <c:formatCode>General</c:formatCode>
                <c:ptCount val="2"/>
                <c:pt idx="0">
                  <c:v>12</c:v>
                </c:pt>
                <c:pt idx="1">
                  <c:v>15</c:v>
                </c:pt>
              </c:numCache>
            </c:numRef>
          </c:yVal>
        </c:ser>
        <c:ser>
          <c:idx val="20"/>
          <c:order val="20"/>
          <c:tx>
            <c:v>Arcering boven 13</c:v>
          </c:tx>
          <c:spPr>
            <a:ln xmlns:a="http://schemas.openxmlformats.org/drawingml/2006/main" w="9525">
              <a:solidFill>
                <a:srgbClr val="A94D16"/>
              </a:solidFill>
            </a:ln>
          </c:spPr>
          <c:marker>
            <c:symbol val="none"/>
          </c:marker>
          <c:xVal>
            <c:numRef>
              <c:f>'Chart Data'!$AO$2:$AO$3</c:f>
              <c:numCache>
                <c:formatCode>General</c:formatCode>
                <c:ptCount val="2"/>
                <c:pt idx="0">
                  <c:v>60</c:v>
                </c:pt>
                <c:pt idx="1">
                  <c:v>64</c:v>
                </c:pt>
              </c:numCache>
            </c:numRef>
          </c:xVal>
          <c:yVal>
            <c:numRef>
              <c:f>'Chart Data'!$AP$2:$AP$3</c:f>
              <c:numCache>
                <c:formatCode>General</c:formatCode>
                <c:ptCount val="2"/>
                <c:pt idx="0">
                  <c:v>13</c:v>
                </c:pt>
                <c:pt idx="1">
                  <c:v>15</c:v>
                </c:pt>
              </c:numCache>
            </c:numRef>
          </c:yVal>
        </c:ser>
        <c:ser>
          <c:idx val="21"/>
          <c:order val="21"/>
          <c:tx>
            <c:v>Arcering boven 14</c:v>
          </c:tx>
          <c:spPr>
            <a:ln xmlns:a="http://schemas.openxmlformats.org/drawingml/2006/main" w="9525">
              <a:solidFill>
                <a:srgbClr val="A94D16"/>
              </a:solidFill>
            </a:ln>
          </c:spPr>
          <c:marker>
            <c:symbol val="none"/>
          </c:marker>
          <c:xVal>
            <c:numRef>
              <c:f>'Chart Data'!$AQ$2:$AQ$3</c:f>
              <c:numCache>
                <c:formatCode>General</c:formatCode>
                <c:ptCount val="2"/>
                <c:pt idx="0">
                  <c:v>60</c:v>
                </c:pt>
                <c:pt idx="1">
                  <c:v>62</c:v>
                </c:pt>
              </c:numCache>
            </c:numRef>
          </c:xVal>
          <c:yVal>
            <c:numRef>
              <c:f>'Chart Data'!$AR$2:$AR$3</c:f>
              <c:numCache>
                <c:formatCode>General</c:formatCode>
                <c:ptCount val="2"/>
                <c:pt idx="0">
                  <c:v>14</c:v>
                </c:pt>
                <c:pt idx="1">
                  <c:v>15</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40"/>
          <c:min val="0"/>
        </c:scaling>
        <c:delete val="0"/>
        <c:axPos val="l"/>
        <c:majorGridlines>
          <c:spPr>
            <a:ln xmlns:a="http://schemas.openxmlformats.org/drawingml/2006/main" w="4763">
              <a:solidFill>
                <a:srgbClr val="C6D2DB"/>
              </a:solidFill>
            </a:ln>
          </c:spPr>
        </c:majorGridlines>
        <c:title>
          <c:tx>
            <c:rich>
              <a:bodyPr xmlns:a="http://schemas.openxmlformats.org/drawingml/2006/main"/>
              <a:lstStyle xmlns:a="http://schemas.openxmlformats.org/drawingml/2006/main"/>
              <a:p xmlns:a="http://schemas.openxmlformats.org/drawingml/2006/main">
                <a:r>
                  <a:rPr sz="1950">
                    <a:latin typeface="Arial"/>
                    <a:ea typeface="Arial"/>
                    <a:cs typeface="Arial"/>
                  </a:rPr>
                  <a:t>P (€ per jas)</a:t>
                </a:r>
              </a:p>
            </c:rich>
          </c:tx>
          <c:overlay val="0"/>
          <c:txPr>
            <a:bodyPr xmlns:a="http://schemas.openxmlformats.org/drawingml/2006/main" anchorCtr="1"/>
            <a:lstStyle xmlns:a="http://schemas.openxmlformats.org/drawingml/2006/main"/>
            <a:p xmlns:a="http://schemas.openxmlformats.org/drawingml/2006/main">
              <a:pPr>
                <a:defRPr sz="1950">
                  <a:latin typeface="Arial"/>
                  <a:ea typeface="Arial"/>
                  <a:cs typeface="Arial"/>
                </a:defRPr>
              </a:pPr>
            </a:p>
          </c:txPr>
        </c:title>
        <c:numFmt formatCode="General"/>
        <c:majorTickMark val="none"/>
        <c:minorTickMark val="none"/>
        <c:spPr>
          <a:ln xmlns:a="http://schemas.openxmlformats.org/drawingml/2006/main" w="9525">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666666"/>
                </a:solidFill>
                <a:latin typeface="Arial"/>
                <a:ea typeface="Arial"/>
                <a:cs typeface="Arial"/>
              </a:defRPr>
            </a:pPr>
          </a:p>
        </c:txPr>
        <c:crossAx val="48650112"/>
        <c:majorUnit val="5"/>
      </c:valAx>
      <c:valAx>
        <c:axId val="48650112"/>
        <c:scaling>
          <c:orientation val="minMax"/>
          <c:max val="160"/>
          <c:min val="0"/>
        </c:scaling>
        <c:delete val="0"/>
        <c:axPos val="b"/>
        <c:majorGridlines>
          <c:spPr>
            <a:ln xmlns:a="http://schemas.openxmlformats.org/drawingml/2006/main" w="4763">
              <a:solidFill>
                <a:srgbClr val="C6D2DB"/>
              </a:solidFill>
            </a:ln>
          </c:spPr>
        </c:majorGridlines>
        <c:title>
          <c:tx>
            <c:rich>
              <a:bodyPr xmlns:a="http://schemas.openxmlformats.org/drawingml/2006/main"/>
              <a:lstStyle xmlns:a="http://schemas.openxmlformats.org/drawingml/2006/main"/>
              <a:p xmlns:a="http://schemas.openxmlformats.org/drawingml/2006/main">
                <a:r>
                  <a:rPr sz="1950">
                    <a:latin typeface="Arial"/>
                    <a:ea typeface="Arial"/>
                    <a:cs typeface="Arial"/>
                  </a:rPr>
                  <a:t>Q (jassen per week)</a:t>
                </a:r>
              </a:p>
            </c:rich>
          </c:tx>
          <c:overlay val="0"/>
          <c:txPr>
            <a:bodyPr xmlns:a="http://schemas.openxmlformats.org/drawingml/2006/main" anchorCtr="1"/>
            <a:lstStyle xmlns:a="http://schemas.openxmlformats.org/drawingml/2006/main"/>
            <a:p xmlns:a="http://schemas.openxmlformats.org/drawingml/2006/main">
              <a:pPr>
                <a:defRPr sz="1950">
                  <a:latin typeface="Arial"/>
                  <a:ea typeface="Arial"/>
                  <a:cs typeface="Arial"/>
                </a:defRPr>
              </a:pPr>
            </a:p>
          </c:txPr>
        </c:title>
        <c:numFmt formatCode="General"/>
        <c:majorTickMark val="none"/>
        <c:minorTickMark val="none"/>
        <c:spPr>
          <a:ln xmlns:a="http://schemas.openxmlformats.org/drawingml/2006/main" w="9525">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666666"/>
                </a:solidFill>
                <a:latin typeface="Arial"/>
                <a:ea typeface="Arial"/>
                <a:cs typeface="Arial"/>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overview-title">
            <a:extLst xmlns:a="http://schemas.openxmlformats.org/drawingml/2006/main">
              <a:ext uri="{FF2B5EF4-FFF2-40B4-BE49-F238E27FC236}">
                <a16:creationId xmlns:a16="http://schemas.microsoft.com/office/drawing/2014/main" id="{A67C5C05-515A-4F71-A5FC-0DB8BBFA6431}"/>
              </a:ext>
            </a:extLst>
          </p:cNvPr>
          <p:cNvSpPr>
            <a:spLocks xmlns:a="http://schemas.openxmlformats.org/drawingml/2006/main" noGrp="1"/>
          </p:cNvSpPr>
          <p:nvPr/>
        </p:nvSpPr>
        <p:spPr>
          <a:xfrm xmlns:a="http://schemas.openxmlformats.org/drawingml/2006/main">
            <a:off x="571500" y="285750"/>
            <a:ext cx="1409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3247"/>
                </a:solidFill>
                <a:latin typeface="Arial"/>
                <a:ea typeface="Arial"/>
                <a:cs typeface="Arial"/>
              </a:defRPr>
            </a:pPr>
            <a:r>
              <a:rPr sz="3450" b="1">
                <a:solidFill>
                  <a:srgbClr val="183247"/>
                </a:solidFill>
                <a:latin typeface="Arial"/>
                <a:ea typeface="Arial"/>
                <a:cs typeface="Arial"/>
              </a:rPr>
              <a:t>Deze les: §3.3.4 Gemengde opgaven</a:t>
            </a:r>
          </a:p>
          <a:p xmlns:a="http://schemas.openxmlformats.org/drawingml/2006/main">
            <a:pPr algn="l">
              <a:defRPr sz="3450" b="1">
                <a:solidFill>
                  <a:srgbClr val="183247"/>
                </a:solidFill>
                <a:latin typeface="Arial"/>
                <a:ea typeface="Arial"/>
                <a:cs typeface="Arial"/>
              </a:defRPr>
            </a:pPr>
            <a:r>
              <a:rPr sz="3450" b="1">
                <a:solidFill>
                  <a:srgbClr val="183247"/>
                </a:solidFill>
                <a:latin typeface="Arial"/>
                <a:ea typeface="Arial"/>
                <a:cs typeface="Arial"/>
              </a:rPr>
              <a:t>internationale handel</a:t>
            </a:r>
          </a:p>
        </p:txBody>
      </p:sp>
      <p:sp>
        <p:nvSpPr>
          <p:cNvPr id="2" name="phase">
            <a:extLst xmlns:a="http://schemas.openxmlformats.org/drawingml/2006/main">
              <a:ext uri="{FF2B5EF4-FFF2-40B4-BE49-F238E27FC236}">
                <a16:creationId xmlns:a16="http://schemas.microsoft.com/office/drawing/2014/main" id="{8D798FB3-6BBA-4A03-AB0A-2699A4C2FF81}"/>
              </a:ext>
            </a:extLst>
          </p:cNvPr>
          <p:cNvSpPr>
            <a:spLocks xmlns:a="http://schemas.openxmlformats.org/drawingml/2006/main" noGrp="1"/>
          </p:cNvSpPr>
          <p:nvPr/>
        </p:nvSpPr>
        <p:spPr>
          <a:xfrm xmlns:a="http://schemas.openxmlformats.org/drawingml/2006/main">
            <a:off x="571500" y="1438275"/>
            <a:ext cx="1409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Startopdracht</a:t>
            </a:r>
          </a:p>
        </p:txBody>
      </p:sp>
      <p:sp>
        <p:nvSpPr>
          <p:cNvPr id="3" name="">
            <a:extLst xmlns:a="http://schemas.openxmlformats.org/drawingml/2006/main">
              <a:ext uri="{FF2B5EF4-FFF2-40B4-BE49-F238E27FC236}">
                <a16:creationId xmlns:a16="http://schemas.microsoft.com/office/drawing/2014/main" id="{AFF9E0CB-FE73-4165-8A05-195846EB661E}"/>
              </a:ext>
            </a:extLst>
          </p:cNvPr>
          <p:cNvSpPr>
            <a:spLocks xmlns:a="http://schemas.openxmlformats.org/drawingml/2006/main" noGrp="1"/>
          </p:cNvSpPr>
          <p:nvPr/>
        </p:nvSpPr>
        <p:spPr>
          <a:xfrm xmlns:a="http://schemas.openxmlformats.org/drawingml/2006/main">
            <a:off x="571500" y="1924050"/>
            <a:ext cx="14097000" cy="0"/>
          </a:xfrm>
          <a:prstGeom xmlns:a="http://schemas.openxmlformats.org/drawingml/2006/main" prst="line">
            <a:avLst/>
          </a:prstGeom>
          <a:ln xmlns:a="http://schemas.openxmlformats.org/drawingml/2006/main" w="19050">
            <a:solidFill>
              <a:srgbClr val="C6D2DB"/>
            </a:solidFill>
          </a:ln>
        </p:spPr>
      </p:sp>
      <p:sp>
        <p:nvSpPr>
          <p:cNvPr id="4" name="Lesroute">
            <a:extLst xmlns:a="http://schemas.openxmlformats.org/drawingml/2006/main">
              <a:ext uri="{FF2B5EF4-FFF2-40B4-BE49-F238E27FC236}">
                <a16:creationId xmlns:a16="http://schemas.microsoft.com/office/drawing/2014/main" id="{A756CDE5-8FCF-411D-A37B-299C3B33C663}"/>
              </a:ext>
            </a:extLst>
          </p:cNvPr>
          <p:cNvSpPr>
            <a:spLocks xmlns:a="http://schemas.openxmlformats.org/drawingml/2006/main" noGrp="1"/>
          </p:cNvSpPr>
          <p:nvPr/>
        </p:nvSpPr>
        <p:spPr>
          <a:xfrm xmlns:a="http://schemas.openxmlformats.org/drawingml/2006/main">
            <a:off x="571500" y="2190750"/>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5" name="route-number-1">
            <a:extLst xmlns:a="http://schemas.openxmlformats.org/drawingml/2006/main">
              <a:ext uri="{FF2B5EF4-FFF2-40B4-BE49-F238E27FC236}">
                <a16:creationId xmlns:a16="http://schemas.microsoft.com/office/drawing/2014/main" id="{D23D223E-DF27-4A98-A919-9B335A5CB009}"/>
              </a:ext>
            </a:extLst>
          </p:cNvPr>
          <p:cNvSpPr>
            <a:spLocks xmlns:a="http://schemas.openxmlformats.org/drawingml/2006/main" noGrp="1"/>
          </p:cNvSpPr>
          <p:nvPr/>
        </p:nvSpPr>
        <p:spPr>
          <a:xfrm xmlns:a="http://schemas.openxmlformats.org/drawingml/2006/main">
            <a:off x="571500" y="2771775"/>
            <a:ext cx="4572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6" name="route-1">
            <a:extLst xmlns:a="http://schemas.openxmlformats.org/drawingml/2006/main">
              <a:ext uri="{FF2B5EF4-FFF2-40B4-BE49-F238E27FC236}">
                <a16:creationId xmlns:a16="http://schemas.microsoft.com/office/drawing/2014/main" id="{D02361C8-0121-4EBF-BBAE-7931FFDF5C14}"/>
              </a:ext>
            </a:extLst>
          </p:cNvPr>
          <p:cNvSpPr>
            <a:spLocks xmlns:a="http://schemas.openxmlformats.org/drawingml/2006/main" noGrp="1"/>
          </p:cNvSpPr>
          <p:nvPr/>
        </p:nvSpPr>
        <p:spPr>
          <a:xfrm xmlns:a="http://schemas.openxmlformats.org/drawingml/2006/main">
            <a:off x="1104900" y="2771775"/>
            <a:ext cx="74199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7" name="route-number-2">
            <a:extLst xmlns:a="http://schemas.openxmlformats.org/drawingml/2006/main">
              <a:ext uri="{FF2B5EF4-FFF2-40B4-BE49-F238E27FC236}">
                <a16:creationId xmlns:a16="http://schemas.microsoft.com/office/drawing/2014/main" id="{B35A604F-751C-4C71-BDD6-819F38E71429}"/>
              </a:ext>
            </a:extLst>
          </p:cNvPr>
          <p:cNvSpPr>
            <a:spLocks xmlns:a="http://schemas.openxmlformats.org/drawingml/2006/main" noGrp="1"/>
          </p:cNvSpPr>
          <p:nvPr/>
        </p:nvSpPr>
        <p:spPr>
          <a:xfrm xmlns:a="http://schemas.openxmlformats.org/drawingml/2006/main">
            <a:off x="571500" y="3629025"/>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2.</a:t>
            </a:r>
          </a:p>
        </p:txBody>
      </p:sp>
      <p:sp>
        <p:nvSpPr>
          <p:cNvPr id="8" name="route-2">
            <a:extLst xmlns:a="http://schemas.openxmlformats.org/drawingml/2006/main">
              <a:ext uri="{FF2B5EF4-FFF2-40B4-BE49-F238E27FC236}">
                <a16:creationId xmlns:a16="http://schemas.microsoft.com/office/drawing/2014/main" id="{842D8818-AACD-476D-BEFF-441B9F61A82B}"/>
              </a:ext>
            </a:extLst>
          </p:cNvPr>
          <p:cNvSpPr>
            <a:spLocks xmlns:a="http://schemas.openxmlformats.org/drawingml/2006/main" noGrp="1"/>
          </p:cNvSpPr>
          <p:nvPr/>
        </p:nvSpPr>
        <p:spPr>
          <a:xfrm xmlns:a="http://schemas.openxmlformats.org/drawingml/2006/main">
            <a:off x="1104900" y="3629025"/>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Maak de startopdracht.</a:t>
            </a:r>
          </a:p>
        </p:txBody>
      </p:sp>
      <p:sp>
        <p:nvSpPr>
          <p:cNvPr id="9" name="route-number-3">
            <a:extLst xmlns:a="http://schemas.openxmlformats.org/drawingml/2006/main">
              <a:ext uri="{FF2B5EF4-FFF2-40B4-BE49-F238E27FC236}">
                <a16:creationId xmlns:a16="http://schemas.microsoft.com/office/drawing/2014/main" id="{02EA8A0B-8C40-4411-9F85-960B1935F38B}"/>
              </a:ext>
            </a:extLst>
          </p:cNvPr>
          <p:cNvSpPr>
            <a:spLocks xmlns:a="http://schemas.openxmlformats.org/drawingml/2006/main" noGrp="1"/>
          </p:cNvSpPr>
          <p:nvPr/>
        </p:nvSpPr>
        <p:spPr>
          <a:xfrm xmlns:a="http://schemas.openxmlformats.org/drawingml/2006/main">
            <a:off x="571500" y="41719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0" name="route-3">
            <a:extLst xmlns:a="http://schemas.openxmlformats.org/drawingml/2006/main">
              <a:ext uri="{FF2B5EF4-FFF2-40B4-BE49-F238E27FC236}">
                <a16:creationId xmlns:a16="http://schemas.microsoft.com/office/drawing/2014/main" id="{72333672-CBA8-4B8C-BB0A-0594F89E8F16}"/>
              </a:ext>
            </a:extLst>
          </p:cNvPr>
          <p:cNvSpPr>
            <a:spLocks xmlns:a="http://schemas.openxmlformats.org/drawingml/2006/main" noGrp="1"/>
          </p:cNvSpPr>
          <p:nvPr/>
        </p:nvSpPr>
        <p:spPr>
          <a:xfrm xmlns:a="http://schemas.openxmlformats.org/drawingml/2006/main">
            <a:off x="1104900" y="41719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Korte herhaling en aanpak.</a:t>
            </a:r>
          </a:p>
        </p:txBody>
      </p:sp>
      <p:sp>
        <p:nvSpPr>
          <p:cNvPr id="11" name="route-number-4">
            <a:extLst xmlns:a="http://schemas.openxmlformats.org/drawingml/2006/main">
              <a:ext uri="{FF2B5EF4-FFF2-40B4-BE49-F238E27FC236}">
                <a16:creationId xmlns:a16="http://schemas.microsoft.com/office/drawing/2014/main" id="{6685C1F3-F28E-4014-8F63-FC9E351845AB}"/>
              </a:ext>
            </a:extLst>
          </p:cNvPr>
          <p:cNvSpPr>
            <a:spLocks xmlns:a="http://schemas.openxmlformats.org/drawingml/2006/main" noGrp="1"/>
          </p:cNvSpPr>
          <p:nvPr/>
        </p:nvSpPr>
        <p:spPr>
          <a:xfrm xmlns:a="http://schemas.openxmlformats.org/drawingml/2006/main">
            <a:off x="571500" y="4714875"/>
            <a:ext cx="4572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2" name="route-4">
            <a:extLst xmlns:a="http://schemas.openxmlformats.org/drawingml/2006/main">
              <a:ext uri="{FF2B5EF4-FFF2-40B4-BE49-F238E27FC236}">
                <a16:creationId xmlns:a16="http://schemas.microsoft.com/office/drawing/2014/main" id="{F8447256-263B-4C59-AAF5-B91BD26B8EC6}"/>
              </a:ext>
            </a:extLst>
          </p:cNvPr>
          <p:cNvSpPr>
            <a:spLocks xmlns:a="http://schemas.openxmlformats.org/drawingml/2006/main" noGrp="1"/>
          </p:cNvSpPr>
          <p:nvPr/>
        </p:nvSpPr>
        <p:spPr>
          <a:xfrm xmlns:a="http://schemas.openxmlformats.org/drawingml/2006/main">
            <a:off x="1104900" y="4714875"/>
            <a:ext cx="74199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Werk verder aan de gemengde opgaven, stel vragen en kijk je antwoorden na.</a:t>
            </a:r>
          </a:p>
        </p:txBody>
      </p:sp>
      <p:sp>
        <p:nvSpPr>
          <p:cNvPr id="13" name="route-number-5">
            <a:extLst xmlns:a="http://schemas.openxmlformats.org/drawingml/2006/main">
              <a:ext uri="{FF2B5EF4-FFF2-40B4-BE49-F238E27FC236}">
                <a16:creationId xmlns:a16="http://schemas.microsoft.com/office/drawing/2014/main" id="{0CFD47D1-D922-434C-8859-5B791A490996}"/>
              </a:ext>
            </a:extLst>
          </p:cNvPr>
          <p:cNvSpPr>
            <a:spLocks xmlns:a="http://schemas.openxmlformats.org/drawingml/2006/main" noGrp="1"/>
          </p:cNvSpPr>
          <p:nvPr/>
        </p:nvSpPr>
        <p:spPr>
          <a:xfrm xmlns:a="http://schemas.openxmlformats.org/drawingml/2006/main">
            <a:off x="571500" y="573405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4" name="route-5">
            <a:extLst xmlns:a="http://schemas.openxmlformats.org/drawingml/2006/main">
              <a:ext uri="{FF2B5EF4-FFF2-40B4-BE49-F238E27FC236}">
                <a16:creationId xmlns:a16="http://schemas.microsoft.com/office/drawing/2014/main" id="{EC1E2193-1792-43BB-BC15-9889DB81C60D}"/>
              </a:ext>
            </a:extLst>
          </p:cNvPr>
          <p:cNvSpPr>
            <a:spLocks xmlns:a="http://schemas.openxmlformats.org/drawingml/2006/main" noGrp="1"/>
          </p:cNvSpPr>
          <p:nvPr/>
        </p:nvSpPr>
        <p:spPr>
          <a:xfrm xmlns:a="http://schemas.openxmlformats.org/drawingml/2006/main">
            <a:off x="1104900" y="573405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5" name="route-number-6">
            <a:extLst xmlns:a="http://schemas.openxmlformats.org/drawingml/2006/main">
              <a:ext uri="{FF2B5EF4-FFF2-40B4-BE49-F238E27FC236}">
                <a16:creationId xmlns:a16="http://schemas.microsoft.com/office/drawing/2014/main" id="{72594A8C-7B28-4C8F-B02B-DDE0E5F40358}"/>
              </a:ext>
            </a:extLst>
          </p:cNvPr>
          <p:cNvSpPr>
            <a:spLocks xmlns:a="http://schemas.openxmlformats.org/drawingml/2006/main" noGrp="1"/>
          </p:cNvSpPr>
          <p:nvPr/>
        </p:nvSpPr>
        <p:spPr>
          <a:xfrm xmlns:a="http://schemas.openxmlformats.org/drawingml/2006/main">
            <a:off x="571500" y="6629400"/>
            <a:ext cx="457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6" name="route-6">
            <a:extLst xmlns:a="http://schemas.openxmlformats.org/drawingml/2006/main">
              <a:ext uri="{FF2B5EF4-FFF2-40B4-BE49-F238E27FC236}">
                <a16:creationId xmlns:a16="http://schemas.microsoft.com/office/drawing/2014/main" id="{4517C661-83C3-459C-9E44-4978AA3A28CC}"/>
              </a:ext>
            </a:extLst>
          </p:cNvPr>
          <p:cNvSpPr>
            <a:spLocks xmlns:a="http://schemas.openxmlformats.org/drawingml/2006/main" noGrp="1"/>
          </p:cNvSpPr>
          <p:nvPr/>
        </p:nvSpPr>
        <p:spPr>
          <a:xfrm xmlns:a="http://schemas.openxmlformats.org/drawingml/2006/main">
            <a:off x="1104900" y="6629400"/>
            <a:ext cx="74199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35.</a:t>
            </a:r>
          </a:p>
        </p:txBody>
      </p:sp>
      <p:sp>
        <p:nvSpPr>
          <p:cNvPr id="17" name="route-number-7">
            <a:extLst xmlns:a="http://schemas.openxmlformats.org/drawingml/2006/main">
              <a:ext uri="{FF2B5EF4-FFF2-40B4-BE49-F238E27FC236}">
                <a16:creationId xmlns:a16="http://schemas.microsoft.com/office/drawing/2014/main" id="{D985EEB9-BF99-446A-BADB-529B6EC1C011}"/>
              </a:ext>
            </a:extLst>
          </p:cNvPr>
          <p:cNvSpPr>
            <a:spLocks xmlns:a="http://schemas.openxmlformats.org/drawingml/2006/main" noGrp="1"/>
          </p:cNvSpPr>
          <p:nvPr/>
        </p:nvSpPr>
        <p:spPr>
          <a:xfrm xmlns:a="http://schemas.openxmlformats.org/drawingml/2006/main">
            <a:off x="571500" y="7362825"/>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18" name="route-7">
            <a:extLst xmlns:a="http://schemas.openxmlformats.org/drawingml/2006/main">
              <a:ext uri="{FF2B5EF4-FFF2-40B4-BE49-F238E27FC236}">
                <a16:creationId xmlns:a16="http://schemas.microsoft.com/office/drawing/2014/main" id="{97A551CC-954F-43EF-8F7E-D12D0BDABE73}"/>
              </a:ext>
            </a:extLst>
          </p:cNvPr>
          <p:cNvSpPr>
            <a:spLocks xmlns:a="http://schemas.openxmlformats.org/drawingml/2006/main" noGrp="1"/>
          </p:cNvSpPr>
          <p:nvPr/>
        </p:nvSpPr>
        <p:spPr>
          <a:xfrm xmlns:a="http://schemas.openxmlformats.org/drawingml/2006/main">
            <a:off x="1104900" y="7362825"/>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19" name="Lesdoelen">
            <a:extLst xmlns:a="http://schemas.openxmlformats.org/drawingml/2006/main">
              <a:ext uri="{FF2B5EF4-FFF2-40B4-BE49-F238E27FC236}">
                <a16:creationId xmlns:a16="http://schemas.microsoft.com/office/drawing/2014/main" id="{6EEC62EE-6388-43B5-AC5D-D0A4CF45BC57}"/>
              </a:ext>
            </a:extLst>
          </p:cNvPr>
          <p:cNvSpPr>
            <a:spLocks xmlns:a="http://schemas.openxmlformats.org/drawingml/2006/main" noGrp="1"/>
          </p:cNvSpPr>
          <p:nvPr/>
        </p:nvSpPr>
        <p:spPr>
          <a:xfrm xmlns:a="http://schemas.openxmlformats.org/drawingml/2006/main">
            <a:off x="9258300" y="21907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0" name="overview-goals">
            <a:extLst xmlns:a="http://schemas.openxmlformats.org/drawingml/2006/main">
              <a:ext uri="{FF2B5EF4-FFF2-40B4-BE49-F238E27FC236}">
                <a16:creationId xmlns:a16="http://schemas.microsoft.com/office/drawing/2014/main" id="{6E466AA3-ED24-4FF0-8D1A-BA4EEF3A91F7}"/>
              </a:ext>
            </a:extLst>
          </p:cNvPr>
          <p:cNvSpPr>
            <a:spLocks xmlns:a="http://schemas.openxmlformats.org/drawingml/2006/main" noGrp="1"/>
          </p:cNvSpPr>
          <p:nvPr/>
        </p:nvSpPr>
        <p:spPr>
          <a:xfrm xmlns:a="http://schemas.openxmlformats.org/drawingml/2006/main">
            <a:off x="9258300" y="2752725"/>
            <a:ext cx="5410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Bronnen kiezen, comparatief voordeel</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uitleggen, import en opbrengst</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berekenen, conclusies onderbouwen.</a:t>
            </a:r>
          </a:p>
        </p:txBody>
      </p:sp>
      <p:sp>
        <p:nvSpPr>
          <p:cNvPr id="21" name="">
            <a:extLst xmlns:a="http://schemas.openxmlformats.org/drawingml/2006/main">
              <a:ext uri="{FF2B5EF4-FFF2-40B4-BE49-F238E27FC236}">
                <a16:creationId xmlns:a16="http://schemas.microsoft.com/office/drawing/2014/main" id="{A93E640B-26D9-4903-9F18-96806E89EAE0}"/>
              </a:ext>
            </a:extLst>
          </p:cNvPr>
          <p:cNvSpPr>
            <a:spLocks xmlns:a="http://schemas.openxmlformats.org/drawingml/2006/main" noGrp="1"/>
          </p:cNvSpPr>
          <p:nvPr/>
        </p:nvSpPr>
        <p:spPr>
          <a:xfrm xmlns:a="http://schemas.openxmlformats.org/drawingml/2006/main">
            <a:off x="9258300" y="4000500"/>
            <a:ext cx="5410200" cy="0"/>
          </a:xfrm>
          <a:prstGeom xmlns:a="http://schemas.openxmlformats.org/drawingml/2006/main" prst="line">
            <a:avLst/>
          </a:prstGeom>
          <a:ln xmlns:a="http://schemas.openxmlformats.org/drawingml/2006/main" w="19050">
            <a:solidFill>
              <a:srgbClr val="C6D2DB"/>
            </a:solidFill>
          </a:ln>
        </p:spPr>
      </p:sp>
      <p:sp>
        <p:nvSpPr>
          <p:cNvPr id="22" name="Startopdracht">
            <a:extLst xmlns:a="http://schemas.openxmlformats.org/drawingml/2006/main">
              <a:ext uri="{FF2B5EF4-FFF2-40B4-BE49-F238E27FC236}">
                <a16:creationId xmlns:a16="http://schemas.microsoft.com/office/drawing/2014/main" id="{D67E9697-7520-42A9-9C3C-B7838D24AE11}"/>
              </a:ext>
            </a:extLst>
          </p:cNvPr>
          <p:cNvSpPr>
            <a:spLocks xmlns:a="http://schemas.openxmlformats.org/drawingml/2006/main" noGrp="1"/>
          </p:cNvSpPr>
          <p:nvPr/>
        </p:nvSpPr>
        <p:spPr>
          <a:xfrm xmlns:a="http://schemas.openxmlformats.org/drawingml/2006/main">
            <a:off x="9258300" y="42386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Startopdracht</a:t>
            </a:r>
          </a:p>
        </p:txBody>
      </p:sp>
      <p:sp>
        <p:nvSpPr>
          <p:cNvPr id="23" name="overview-start">
            <a:extLst xmlns:a="http://schemas.openxmlformats.org/drawingml/2006/main">
              <a:ext uri="{FF2B5EF4-FFF2-40B4-BE49-F238E27FC236}">
                <a16:creationId xmlns:a16="http://schemas.microsoft.com/office/drawing/2014/main" id="{28AAC2F4-ECFF-4946-B2A8-B25E77910A42}"/>
              </a:ext>
            </a:extLst>
          </p:cNvPr>
          <p:cNvSpPr>
            <a:spLocks xmlns:a="http://schemas.openxmlformats.org/drawingml/2006/main" noGrp="1"/>
          </p:cNvSpPr>
          <p:nvPr/>
        </p:nvSpPr>
        <p:spPr>
          <a:xfrm xmlns:a="http://schemas.openxmlformats.org/drawingml/2006/main">
            <a:off x="9258300" y="4762500"/>
            <a:ext cx="53816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Pagina 117 · Opgave 31</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Eerste gemengde opgave</a:t>
            </a:r>
          </a:p>
        </p:txBody>
      </p:sp>
      <p:sp>
        <p:nvSpPr>
          <p:cNvPr id="24" name="">
            <a:extLst xmlns:a="http://schemas.openxmlformats.org/drawingml/2006/main">
              <a:ext uri="{FF2B5EF4-FFF2-40B4-BE49-F238E27FC236}">
                <a16:creationId xmlns:a16="http://schemas.microsoft.com/office/drawing/2014/main" id="{0EDCF7FC-B7CC-42CD-BE7A-10DC35B4D8BF}"/>
              </a:ext>
            </a:extLst>
          </p:cNvPr>
          <p:cNvSpPr>
            <a:spLocks xmlns:a="http://schemas.openxmlformats.org/drawingml/2006/main" noGrp="1"/>
          </p:cNvSpPr>
          <p:nvPr/>
        </p:nvSpPr>
        <p:spPr>
          <a:xfrm xmlns:a="http://schemas.openxmlformats.org/drawingml/2006/main">
            <a:off x="9258300" y="5676900"/>
            <a:ext cx="5410200" cy="0"/>
          </a:xfrm>
          <a:prstGeom xmlns:a="http://schemas.openxmlformats.org/drawingml/2006/main" prst="line">
            <a:avLst/>
          </a:prstGeom>
          <a:ln xmlns:a="http://schemas.openxmlformats.org/drawingml/2006/main" w="19050">
            <a:solidFill>
              <a:srgbClr val="C6D2DB"/>
            </a:solidFill>
          </a:ln>
        </p:spPr>
      </p:sp>
      <p:sp>
        <p:nvSpPr>
          <p:cNvPr id="25" name="Huiswerk">
            <a:extLst xmlns:a="http://schemas.openxmlformats.org/drawingml/2006/main">
              <a:ext uri="{FF2B5EF4-FFF2-40B4-BE49-F238E27FC236}">
                <a16:creationId xmlns:a16="http://schemas.microsoft.com/office/drawing/2014/main" id="{CE5D6BAA-25CE-44E8-A0D5-0065886FFB37}"/>
              </a:ext>
            </a:extLst>
          </p:cNvPr>
          <p:cNvSpPr>
            <a:spLocks xmlns:a="http://schemas.openxmlformats.org/drawingml/2006/main" noGrp="1"/>
          </p:cNvSpPr>
          <p:nvPr/>
        </p:nvSpPr>
        <p:spPr>
          <a:xfrm xmlns:a="http://schemas.openxmlformats.org/drawingml/2006/main">
            <a:off x="9258300" y="586740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6" name="overview-homework">
            <a:extLst xmlns:a="http://schemas.openxmlformats.org/drawingml/2006/main">
              <a:ext uri="{FF2B5EF4-FFF2-40B4-BE49-F238E27FC236}">
                <a16:creationId xmlns:a16="http://schemas.microsoft.com/office/drawing/2014/main" id="{75FAE062-F117-4902-84FE-A566E0B254CA}"/>
              </a:ext>
            </a:extLst>
          </p:cNvPr>
          <p:cNvSpPr>
            <a:spLocks xmlns:a="http://schemas.openxmlformats.org/drawingml/2006/main" noGrp="1"/>
          </p:cNvSpPr>
          <p:nvPr/>
        </p:nvSpPr>
        <p:spPr>
          <a:xfrm xmlns:a="http://schemas.openxmlformats.org/drawingml/2006/main">
            <a:off x="9258300" y="6457950"/>
            <a:ext cx="5381625"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§3.3.4 · Opgaven 31–38</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Voorbereiding: 31–34 · Doel: 35</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Bonus: 36 · Herhaling: 37–38</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
        <p:nvSpPr>
          <p:cNvPr id="27" name="§3.3.4 · Boekpagina’s 117–123">
            <a:extLst xmlns:a="http://schemas.openxmlformats.org/drawingml/2006/main">
              <a:ext uri="{FF2B5EF4-FFF2-40B4-BE49-F238E27FC236}">
                <a16:creationId xmlns:a16="http://schemas.microsoft.com/office/drawing/2014/main" id="{2647D273-79A3-43B9-B1CC-C947B9C4EAD2}"/>
              </a:ext>
            </a:extLst>
          </p:cNvPr>
          <p:cNvSpPr>
            <a:spLocks xmlns:a="http://schemas.openxmlformats.org/drawingml/2006/main" noGrp="1"/>
          </p:cNvSpPr>
          <p:nvPr/>
        </p:nvSpPr>
        <p:spPr>
          <a:xfrm xmlns:a="http://schemas.openxmlformats.org/drawingml/2006/main">
            <a:off x="571500" y="8077200"/>
            <a:ext cx="1285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§3.3.4 · Boekpagina’s 117–123</a:t>
            </a:r>
          </a:p>
        </p:txBody>
      </p:sp>
      <p:sp>
        <p:nvSpPr>
          <p:cNvPr id="28" name="1">
            <a:extLst xmlns:a="http://schemas.openxmlformats.org/drawingml/2006/main">
              <a:ext uri="{FF2B5EF4-FFF2-40B4-BE49-F238E27FC236}">
                <a16:creationId xmlns:a16="http://schemas.microsoft.com/office/drawing/2014/main" id="{96746CFD-B81E-4C10-BF42-40AE3B3B5313}"/>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a:t>
            </a:r>
          </a:p>
        </p:txBody>
      </p:sp>
    </p:spTree>
    <p:extLst>
      <p:ext uri="{BB962C8B-B14F-4D97-AF65-F5344CB8AC3E}">
        <p14:creationId xmlns:p14="http://schemas.microsoft.com/office/powerpoint/2010/main" val="175651785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Drie vergelijkingen bij internationale handel">
            <a:extLst xmlns:a="http://schemas.openxmlformats.org/drawingml/2006/main">
              <a:ext uri="{FF2B5EF4-FFF2-40B4-BE49-F238E27FC236}">
                <a16:creationId xmlns:a16="http://schemas.microsoft.com/office/drawing/2014/main" id="{242D7F90-C337-40DF-8C7A-B61AA123C394}"/>
              </a:ext>
            </a:extLst>
          </p:cNvPr>
          <p:cNvSpPr>
            <a:spLocks xmlns:a="http://schemas.openxmlformats.org/drawingml/2006/main" noGrp="1"/>
          </p:cNvSpPr>
          <p:nvPr/>
        </p:nvSpPr>
        <p:spPr>
          <a:xfrm xmlns:a="http://schemas.openxmlformats.org/drawingml/2006/main">
            <a:off x="571500" y="400050"/>
            <a:ext cx="1409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Drie vergelijkingen bij internationale handel</a:t>
            </a:r>
          </a:p>
        </p:txBody>
      </p:sp>
      <p:sp>
        <p:nvSpPr>
          <p:cNvPr id="2" name="">
            <a:extLst xmlns:a="http://schemas.openxmlformats.org/drawingml/2006/main">
              <a:ext uri="{FF2B5EF4-FFF2-40B4-BE49-F238E27FC236}">
                <a16:creationId xmlns:a16="http://schemas.microsoft.com/office/drawing/2014/main" id="{3E8BF7E5-A109-4068-910D-B0D4302B8350}"/>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3.4 Gemengde opgaven internationale handel">
            <a:extLst xmlns:a="http://schemas.openxmlformats.org/drawingml/2006/main">
              <a:ext uri="{FF2B5EF4-FFF2-40B4-BE49-F238E27FC236}">
                <a16:creationId xmlns:a16="http://schemas.microsoft.com/office/drawing/2014/main" id="{A45BDA60-D884-4B6F-ADA9-380F6EBFD2FF}"/>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§3.3.4 Gemengde opgaven internationale handel</a:t>
            </a:r>
          </a:p>
        </p:txBody>
      </p:sp>
      <p:sp>
        <p:nvSpPr>
          <p:cNvPr id="4" name="2">
            <a:extLst xmlns:a="http://schemas.openxmlformats.org/drawingml/2006/main">
              <a:ext uri="{FF2B5EF4-FFF2-40B4-BE49-F238E27FC236}">
                <a16:creationId xmlns:a16="http://schemas.microsoft.com/office/drawing/2014/main" id="{35D58E79-46F9-4AA4-9939-F406A3069A48}"/>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a:t>
            </a:r>
          </a:p>
        </p:txBody>
      </p:sp>
      <p:sp>
        <p:nvSpPr>
          <p:cNvPr id="5" name="Absoluut voordeel">
            <a:extLst xmlns:a="http://schemas.openxmlformats.org/drawingml/2006/main">
              <a:ext uri="{FF2B5EF4-FFF2-40B4-BE49-F238E27FC236}">
                <a16:creationId xmlns:a16="http://schemas.microsoft.com/office/drawing/2014/main" id="{A95E8417-BBAF-439A-A74C-0AAF440FE816}"/>
              </a:ext>
            </a:extLst>
          </p:cNvPr>
          <p:cNvSpPr>
            <a:spLocks xmlns:a="http://schemas.openxmlformats.org/drawingml/2006/main" noGrp="1"/>
          </p:cNvSpPr>
          <p:nvPr/>
        </p:nvSpPr>
        <p:spPr>
          <a:xfrm xmlns:a="http://schemas.openxmlformats.org/drawingml/2006/main">
            <a:off x="571500" y="1952625"/>
            <a:ext cx="4381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Absoluut voordeel</a:t>
            </a:r>
          </a:p>
        </p:txBody>
      </p:sp>
      <p:sp>
        <p:nvSpPr>
          <p:cNvPr id="6" name="Minder middelen voor hetzelfde product.">
            <a:extLst xmlns:a="http://schemas.openxmlformats.org/drawingml/2006/main">
              <a:ext uri="{FF2B5EF4-FFF2-40B4-BE49-F238E27FC236}">
                <a16:creationId xmlns:a16="http://schemas.microsoft.com/office/drawing/2014/main" id="{A3EAB435-05F8-48F4-810B-6346A831260A}"/>
              </a:ext>
            </a:extLst>
          </p:cNvPr>
          <p:cNvSpPr>
            <a:spLocks xmlns:a="http://schemas.openxmlformats.org/drawingml/2006/main" noGrp="1"/>
          </p:cNvSpPr>
          <p:nvPr/>
        </p:nvSpPr>
        <p:spPr>
          <a:xfrm xmlns:a="http://schemas.openxmlformats.org/drawingml/2006/main">
            <a:off x="5334000" y="1952625"/>
            <a:ext cx="9334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Minder middelen voor hetzelfde product.</a:t>
            </a:r>
          </a:p>
        </p:txBody>
      </p:sp>
      <p:sp>
        <p:nvSpPr>
          <p:cNvPr id="7" name="">
            <a:extLst xmlns:a="http://schemas.openxmlformats.org/drawingml/2006/main">
              <a:ext uri="{FF2B5EF4-FFF2-40B4-BE49-F238E27FC236}">
                <a16:creationId xmlns:a16="http://schemas.microsoft.com/office/drawing/2014/main" id="{4037455B-3ECC-4CD0-8A78-A6976BA03E63}"/>
              </a:ext>
            </a:extLst>
          </p:cNvPr>
          <p:cNvSpPr>
            <a:spLocks xmlns:a="http://schemas.openxmlformats.org/drawingml/2006/main" noGrp="1"/>
          </p:cNvSpPr>
          <p:nvPr/>
        </p:nvSpPr>
        <p:spPr>
          <a:xfrm xmlns:a="http://schemas.openxmlformats.org/drawingml/2006/main">
            <a:off x="571500" y="3429000"/>
            <a:ext cx="14097000" cy="0"/>
          </a:xfrm>
          <a:prstGeom xmlns:a="http://schemas.openxmlformats.org/drawingml/2006/main" prst="line">
            <a:avLst/>
          </a:prstGeom>
          <a:ln xmlns:a="http://schemas.openxmlformats.org/drawingml/2006/main" w="19050">
            <a:solidFill>
              <a:srgbClr val="C6D2DB"/>
            </a:solidFill>
          </a:ln>
        </p:spPr>
      </p:sp>
      <p:sp>
        <p:nvSpPr>
          <p:cNvPr id="8" name="Comparatief voordeel">
            <a:extLst xmlns:a="http://schemas.openxmlformats.org/drawingml/2006/main">
              <a:ext uri="{FF2B5EF4-FFF2-40B4-BE49-F238E27FC236}">
                <a16:creationId xmlns:a16="http://schemas.microsoft.com/office/drawing/2014/main" id="{D513E798-8354-4D70-A596-22585F5A3C80}"/>
              </a:ext>
            </a:extLst>
          </p:cNvPr>
          <p:cNvSpPr>
            <a:spLocks xmlns:a="http://schemas.openxmlformats.org/drawingml/2006/main" noGrp="1"/>
          </p:cNvSpPr>
          <p:nvPr/>
        </p:nvSpPr>
        <p:spPr>
          <a:xfrm xmlns:a="http://schemas.openxmlformats.org/drawingml/2006/main">
            <a:off x="571500" y="3714750"/>
            <a:ext cx="4381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20665B"/>
                </a:solidFill>
                <a:latin typeface="Arial"/>
                <a:ea typeface="Arial"/>
                <a:cs typeface="Arial"/>
              </a:defRPr>
            </a:pPr>
            <a:r>
              <a:rPr sz="2700" b="1">
                <a:solidFill>
                  <a:srgbClr val="20665B"/>
                </a:solidFill>
                <a:latin typeface="Arial"/>
                <a:ea typeface="Arial"/>
                <a:cs typeface="Arial"/>
              </a:rPr>
              <a:t>Comparatief voordeel</a:t>
            </a:r>
          </a:p>
        </p:txBody>
      </p:sp>
      <p:sp>
        <p:nvSpPr>
          <p:cNvPr id="9" name="Relatief minder andere productie opgeven.">
            <a:extLst xmlns:a="http://schemas.openxmlformats.org/drawingml/2006/main">
              <a:ext uri="{FF2B5EF4-FFF2-40B4-BE49-F238E27FC236}">
                <a16:creationId xmlns:a16="http://schemas.microsoft.com/office/drawing/2014/main" id="{0342276B-C903-4F68-80DA-CD37FD4E896D}"/>
              </a:ext>
            </a:extLst>
          </p:cNvPr>
          <p:cNvSpPr>
            <a:spLocks xmlns:a="http://schemas.openxmlformats.org/drawingml/2006/main" noGrp="1"/>
          </p:cNvSpPr>
          <p:nvPr/>
        </p:nvSpPr>
        <p:spPr>
          <a:xfrm xmlns:a="http://schemas.openxmlformats.org/drawingml/2006/main">
            <a:off x="5334000" y="3714750"/>
            <a:ext cx="9334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Relatief minder andere productie opgeven.</a:t>
            </a:r>
          </a:p>
        </p:txBody>
      </p:sp>
      <p:sp>
        <p:nvSpPr>
          <p:cNvPr id="10" name="">
            <a:extLst xmlns:a="http://schemas.openxmlformats.org/drawingml/2006/main">
              <a:ext uri="{FF2B5EF4-FFF2-40B4-BE49-F238E27FC236}">
                <a16:creationId xmlns:a16="http://schemas.microsoft.com/office/drawing/2014/main" id="{4A072A2F-23A8-4AB5-A8C7-A3A14E24C05C}"/>
              </a:ext>
            </a:extLst>
          </p:cNvPr>
          <p:cNvSpPr>
            <a:spLocks xmlns:a="http://schemas.openxmlformats.org/drawingml/2006/main" noGrp="1"/>
          </p:cNvSpPr>
          <p:nvPr/>
        </p:nvSpPr>
        <p:spPr>
          <a:xfrm xmlns:a="http://schemas.openxmlformats.org/drawingml/2006/main">
            <a:off x="571500" y="5191125"/>
            <a:ext cx="14097000" cy="0"/>
          </a:xfrm>
          <a:prstGeom xmlns:a="http://schemas.openxmlformats.org/drawingml/2006/main" prst="line">
            <a:avLst/>
          </a:prstGeom>
          <a:ln xmlns:a="http://schemas.openxmlformats.org/drawingml/2006/main" w="19050">
            <a:solidFill>
              <a:srgbClr val="C6D2DB"/>
            </a:solidFill>
          </a:ln>
        </p:spPr>
      </p:sp>
      <p:sp>
        <p:nvSpPr>
          <p:cNvPr id="11" name="Concurrentiepositie">
            <a:extLst xmlns:a="http://schemas.openxmlformats.org/drawingml/2006/main">
              <a:ext uri="{FF2B5EF4-FFF2-40B4-BE49-F238E27FC236}">
                <a16:creationId xmlns:a16="http://schemas.microsoft.com/office/drawing/2014/main" id="{32B1437D-858C-4D6C-BDE7-34C1B0E61D4E}"/>
              </a:ext>
            </a:extLst>
          </p:cNvPr>
          <p:cNvSpPr>
            <a:spLocks xmlns:a="http://schemas.openxmlformats.org/drawingml/2006/main" noGrp="1"/>
          </p:cNvSpPr>
          <p:nvPr/>
        </p:nvSpPr>
        <p:spPr>
          <a:xfrm xmlns:a="http://schemas.openxmlformats.org/drawingml/2006/main">
            <a:off x="571500" y="5476875"/>
            <a:ext cx="4381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A94D16"/>
                </a:solidFill>
                <a:latin typeface="Arial"/>
                <a:ea typeface="Arial"/>
                <a:cs typeface="Arial"/>
              </a:defRPr>
            </a:pPr>
            <a:r>
              <a:rPr sz="2700" b="1">
                <a:solidFill>
                  <a:srgbClr val="A94D16"/>
                </a:solidFill>
                <a:latin typeface="Arial"/>
                <a:ea typeface="Arial"/>
                <a:cs typeface="Arial"/>
              </a:rPr>
              <a:t>Concurrentiepositie</a:t>
            </a:r>
          </a:p>
        </p:txBody>
      </p:sp>
      <p:sp>
        <p:nvSpPr>
          <p:cNvPr id="12" name="Prijs, kwaliteit en betrouwbare levering.">
            <a:extLst xmlns:a="http://schemas.openxmlformats.org/drawingml/2006/main">
              <a:ext uri="{FF2B5EF4-FFF2-40B4-BE49-F238E27FC236}">
                <a16:creationId xmlns:a16="http://schemas.microsoft.com/office/drawing/2014/main" id="{F7CE2752-7AD4-48EC-831B-FFFDF03CCEF5}"/>
              </a:ext>
            </a:extLst>
          </p:cNvPr>
          <p:cNvSpPr>
            <a:spLocks xmlns:a="http://schemas.openxmlformats.org/drawingml/2006/main" noGrp="1"/>
          </p:cNvSpPr>
          <p:nvPr/>
        </p:nvSpPr>
        <p:spPr>
          <a:xfrm xmlns:a="http://schemas.openxmlformats.org/drawingml/2006/main">
            <a:off x="5334000" y="5476875"/>
            <a:ext cx="9334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Prijs, kwaliteit en betrouwbare levering.</a:t>
            </a:r>
          </a:p>
        </p:txBody>
      </p:sp>
      <p:sp>
        <p:nvSpPr>
          <p:cNvPr id="13" name="Een bronfeit bepaalt welke vergelijking je kunt maken.">
            <a:extLst xmlns:a="http://schemas.openxmlformats.org/drawingml/2006/main">
              <a:ext uri="{FF2B5EF4-FFF2-40B4-BE49-F238E27FC236}">
                <a16:creationId xmlns:a16="http://schemas.microsoft.com/office/drawing/2014/main" id="{20539623-79FA-40BA-A874-A106D3473528}"/>
              </a:ext>
            </a:extLst>
          </p:cNvPr>
          <p:cNvSpPr>
            <a:spLocks xmlns:a="http://schemas.openxmlformats.org/drawingml/2006/main" noGrp="1"/>
          </p:cNvSpPr>
          <p:nvPr/>
        </p:nvSpPr>
        <p:spPr>
          <a:xfrm xmlns:a="http://schemas.openxmlformats.org/drawingml/2006/main">
            <a:off x="571500" y="7486650"/>
            <a:ext cx="1409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3247"/>
                </a:solidFill>
                <a:latin typeface="Arial"/>
                <a:ea typeface="Arial"/>
                <a:cs typeface="Arial"/>
              </a:defRPr>
            </a:pPr>
            <a:r>
              <a:rPr sz="2550" b="1">
                <a:solidFill>
                  <a:srgbClr val="183247"/>
                </a:solidFill>
                <a:latin typeface="Arial"/>
                <a:ea typeface="Arial"/>
                <a:cs typeface="Arial"/>
              </a:rPr>
              <a:t>Een bronfeit bepaalt welke vergelijking je kunt maken.</a:t>
            </a:r>
          </a:p>
        </p:txBody>
      </p:sp>
    </p:spTree>
    <p:extLst>
      <p:ext uri="{BB962C8B-B14F-4D97-AF65-F5344CB8AC3E}">
        <p14:creationId xmlns:p14="http://schemas.microsoft.com/office/powerpoint/2010/main" val="171786184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Fietshelmen in Ivera: eerst de juiste hoeveelheden">
            <a:extLst xmlns:a="http://schemas.openxmlformats.org/drawingml/2006/main">
              <a:ext uri="{FF2B5EF4-FFF2-40B4-BE49-F238E27FC236}">
                <a16:creationId xmlns:a16="http://schemas.microsoft.com/office/drawing/2014/main" id="{9AE717C8-E8FF-4F93-8C16-04C0B8503CD3}"/>
              </a:ext>
            </a:extLst>
          </p:cNvPr>
          <p:cNvSpPr>
            <a:spLocks xmlns:a="http://schemas.openxmlformats.org/drawingml/2006/main" noGrp="1"/>
          </p:cNvSpPr>
          <p:nvPr/>
        </p:nvSpPr>
        <p:spPr>
          <a:xfrm xmlns:a="http://schemas.openxmlformats.org/drawingml/2006/main">
            <a:off x="571500" y="400050"/>
            <a:ext cx="1409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Fietshelmen in Ivera: eerst de juiste hoeveelheden</a:t>
            </a:r>
          </a:p>
        </p:txBody>
      </p:sp>
      <p:sp>
        <p:nvSpPr>
          <p:cNvPr id="2" name="">
            <a:extLst xmlns:a="http://schemas.openxmlformats.org/drawingml/2006/main">
              <a:ext uri="{FF2B5EF4-FFF2-40B4-BE49-F238E27FC236}">
                <a16:creationId xmlns:a16="http://schemas.microsoft.com/office/drawing/2014/main" id="{7373A207-A4A4-4000-87FD-61E0C82968CC}"/>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3.4 Gemengde opgaven internationale handel">
            <a:extLst xmlns:a="http://schemas.openxmlformats.org/drawingml/2006/main">
              <a:ext uri="{FF2B5EF4-FFF2-40B4-BE49-F238E27FC236}">
                <a16:creationId xmlns:a16="http://schemas.microsoft.com/office/drawing/2014/main" id="{B09AE37F-7067-4EDD-9D86-AA813455F83B}"/>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§3.3.4 Gemengde opgaven internationale handel</a:t>
            </a:r>
          </a:p>
        </p:txBody>
      </p:sp>
      <p:sp>
        <p:nvSpPr>
          <p:cNvPr id="4" name="3">
            <a:extLst xmlns:a="http://schemas.openxmlformats.org/drawingml/2006/main">
              <a:ext uri="{FF2B5EF4-FFF2-40B4-BE49-F238E27FC236}">
                <a16:creationId xmlns:a16="http://schemas.microsoft.com/office/drawing/2014/main" id="{C84B125E-315C-41D2-8ADB-3B5F79F37138}"/>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3</a:t>
            </a:r>
          </a:p>
        </p:txBody>
      </p:sp>
      <p:sp>
        <p:nvSpPr>
          <p:cNvPr id="5" name="Uitlegvoorbeeld — niet uit het boek">
            <a:extLst xmlns:a="http://schemas.openxmlformats.org/drawingml/2006/main">
              <a:ext uri="{FF2B5EF4-FFF2-40B4-BE49-F238E27FC236}">
                <a16:creationId xmlns:a16="http://schemas.microsoft.com/office/drawing/2014/main" id="{0A40AF05-2772-4BEF-950A-B05EC06868E4}"/>
              </a:ext>
            </a:extLst>
          </p:cNvPr>
          <p:cNvSpPr>
            <a:spLocks xmlns:a="http://schemas.openxmlformats.org/drawingml/2006/main" noGrp="1"/>
          </p:cNvSpPr>
          <p:nvPr/>
        </p:nvSpPr>
        <p:spPr>
          <a:xfrm xmlns:a="http://schemas.openxmlformats.org/drawingml/2006/main">
            <a:off x="571500" y="1695450"/>
            <a:ext cx="14097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658A"/>
                </a:solidFill>
                <a:latin typeface="Arial"/>
                <a:ea typeface="Arial"/>
                <a:cs typeface="Arial"/>
              </a:defRPr>
            </a:pPr>
            <a:r>
              <a:rPr sz="2175" b="1">
                <a:solidFill>
                  <a:srgbClr val="17658A"/>
                </a:solidFill>
                <a:latin typeface="Arial"/>
                <a:ea typeface="Arial"/>
                <a:cs typeface="Arial"/>
              </a:rPr>
              <a:t>Uitlegvoorbeeld — niet uit het boek</a:t>
            </a:r>
          </a:p>
        </p:txBody>
      </p:sp>
      <p:sp>
        <p:nvSpPr>
          <p:cNvPr id="6" name="Klein prijsnemend land. Heffing: € 4 per ingevoerde helm.&#10;De">
            <a:extLst xmlns:a="http://schemas.openxmlformats.org/drawingml/2006/main">
              <a:ext uri="{FF2B5EF4-FFF2-40B4-BE49-F238E27FC236}">
                <a16:creationId xmlns:a16="http://schemas.microsoft.com/office/drawing/2014/main" id="{3A50918C-3A9A-47C5-9CF3-252156E7F356}"/>
              </a:ext>
            </a:extLst>
          </p:cNvPr>
          <p:cNvSpPr>
            <a:spLocks xmlns:a="http://schemas.openxmlformats.org/drawingml/2006/main" noGrp="1"/>
          </p:cNvSpPr>
          <p:nvPr/>
        </p:nvSpPr>
        <p:spPr>
          <a:xfrm xmlns:a="http://schemas.openxmlformats.org/drawingml/2006/main">
            <a:off x="571500" y="2324100"/>
            <a:ext cx="14097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Klein prijsnemend land. Heffing: € 4 per ingevoerde helm.</a:t>
            </a:r>
          </a:p>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De wereldprijs blijft € 18. Er blijft import.</a:t>
            </a:r>
          </a:p>
        </p:txBody>
      </p:sp>
      <p:graphicFrame>
        <p:nvGraphicFramePr>
          <p:cNvPr id="16" name=""/>
          <p:cNvGraphicFramePr/>
          <p:nvPr/>
        </p:nvGraphicFramePr>
        <p:xfrm>
          <a:off xmlns:a="http://schemas.openxmlformats.org/drawingml/2006/main" x="571500" y="3638550"/>
          <a:ext xmlns:a="http://schemas.openxmlformats.org/drawingml/2006/main" cx="14097000" cy="2286000"/>
        </p:xfrm>
        <a:graphic xmlns:a="http://schemas.openxmlformats.org/drawingml/2006/main">
          <a:graphicData uri="http://schemas.openxmlformats.org/drawingml/2006/table">
            <a:tbl>
              <a:tblPr/>
              <a:tblGrid>
                <a:gridCol w="3810000"/>
                <a:gridCol w="3048000"/>
                <a:gridCol w="3619500"/>
                <a:gridCol w="3619500"/>
              </a:tblGrid>
              <a:tr h="762000">
                <a:tc>
                  <a:txBody>
                    <a:bodyPr lIns="171450" tIns="95250" rIns="152400" bIns="95250"/>
                    <a:lstStyle/>
                    <a:p>
                      <a:r>
                        <a:rPr sz="2400" b="1">
                          <a:solidFill>
                            <a:srgbClr val="FFFFFF"/>
                          </a:solidFill>
                          <a:latin typeface="Arial"/>
                          <a:ea typeface="Arial"/>
                          <a:cs typeface="Arial"/>
                        </a:rPr>
                        <a:t>Situatie</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Prijs per helm</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Verbruik per week</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Productie per week</a:t>
                      </a:r>
                    </a:p>
                  </a:txBody>
                  <a:tcPr marL="91440" marR="91440" marT="45720" marB="45720" anchor="ctr">
                    <a:solidFill>
                      <a:srgbClr val="183247"/>
                    </a:solidFill>
                  </a:tcPr>
                </a:tc>
              </a:tr>
              <a:tr h="762000">
                <a:tc>
                  <a:txBody>
                    <a:bodyPr lIns="171450" tIns="95250" rIns="152400" bIns="95250"/>
                    <a:lstStyle/>
                    <a:p>
                      <a:r>
                        <a:rPr sz="2400" b="0">
                          <a:solidFill>
                            <a:srgbClr val="183247"/>
                          </a:solidFill>
                          <a:latin typeface="Arial"/>
                          <a:ea typeface="Arial"/>
                          <a:cs typeface="Arial"/>
                        </a:rPr>
                        <a:t>Vrije invoer</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€ 18</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90</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30</a:t>
                      </a:r>
                    </a:p>
                  </a:txBody>
                  <a:tcPr marL="91440" marR="91440" marT="45720" marB="45720" anchor="ctr">
                    <a:solidFill>
                      <a:srgbClr val="FFFFFF"/>
                    </a:solidFill>
                  </a:tcPr>
                </a:tc>
              </a:tr>
              <a:tr h="762000">
                <a:tc>
                  <a:txBody>
                    <a:bodyPr lIns="171450" tIns="95250" rIns="152400" bIns="95250"/>
                    <a:lstStyle/>
                    <a:p>
                      <a:r>
                        <a:rPr sz="2400" b="0">
                          <a:solidFill>
                            <a:srgbClr val="183247"/>
                          </a:solidFill>
                          <a:latin typeface="Arial"/>
                          <a:ea typeface="Arial"/>
                          <a:cs typeface="Arial"/>
                        </a:rPr>
                        <a:t>Met heffing</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€ 22</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78</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42</a:t>
                      </a:r>
                    </a:p>
                  </a:txBody>
                  <a:tcPr marL="91440" marR="91440" marT="45720" marB="45720" anchor="ctr">
                    <a:solidFill>
                      <a:srgbClr val="EFF4F7"/>
                    </a:solidFill>
                  </a:tcPr>
                </a:tc>
              </a:tr>
            </a:tbl>
          </a:graphicData>
        </a:graphic>
      </p:graphicFrame>
      <p:sp>
        <p:nvSpPr>
          <p:cNvPr id="8" name="Import na de heffing = 78 − 42 = 36 helmen per week">
            <a:extLst xmlns:a="http://schemas.openxmlformats.org/drawingml/2006/main">
              <a:ext uri="{FF2B5EF4-FFF2-40B4-BE49-F238E27FC236}">
                <a16:creationId xmlns:a16="http://schemas.microsoft.com/office/drawing/2014/main" id="{61556CDF-24CB-4297-9C0B-16F6DCAB0854}"/>
              </a:ext>
            </a:extLst>
          </p:cNvPr>
          <p:cNvSpPr>
            <a:spLocks xmlns:a="http://schemas.openxmlformats.org/drawingml/2006/main" noGrp="1"/>
          </p:cNvSpPr>
          <p:nvPr/>
        </p:nvSpPr>
        <p:spPr>
          <a:xfrm xmlns:a="http://schemas.openxmlformats.org/drawingml/2006/main">
            <a:off x="571500" y="6362700"/>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20665B"/>
                </a:solidFill>
                <a:latin typeface="Arial"/>
                <a:ea typeface="Arial"/>
                <a:cs typeface="Arial"/>
              </a:defRPr>
            </a:pPr>
            <a:r>
              <a:rPr sz="3000" b="1">
                <a:solidFill>
                  <a:srgbClr val="20665B"/>
                </a:solidFill>
                <a:latin typeface="Arial"/>
                <a:ea typeface="Arial"/>
                <a:cs typeface="Arial"/>
              </a:rPr>
              <a:t>Import na de heffing = 78 − 42 = 36 helmen per week</a:t>
            </a:r>
          </a:p>
        </p:txBody>
      </p:sp>
      <p:sp>
        <p:nvSpPr>
          <p:cNvPr id="9" name="Controle: 42 binnenlands + 36 ingevoerd = 78 gebruikt">
            <a:extLst xmlns:a="http://schemas.openxmlformats.org/drawingml/2006/main">
              <a:ext uri="{FF2B5EF4-FFF2-40B4-BE49-F238E27FC236}">
                <a16:creationId xmlns:a16="http://schemas.microsoft.com/office/drawing/2014/main" id="{BAB2B75C-8847-48B6-BC6F-2BC1A2424A0D}"/>
              </a:ext>
            </a:extLst>
          </p:cNvPr>
          <p:cNvSpPr>
            <a:spLocks xmlns:a="http://schemas.openxmlformats.org/drawingml/2006/main" noGrp="1"/>
          </p:cNvSpPr>
          <p:nvPr/>
        </p:nvSpPr>
        <p:spPr>
          <a:xfrm xmlns:a="http://schemas.openxmlformats.org/drawingml/2006/main">
            <a:off x="571500" y="7277100"/>
            <a:ext cx="1409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Controle: 42 binnenlands + 36 ingevoerd = 78 gebruikt</a:t>
            </a:r>
          </a:p>
        </p:txBody>
      </p:sp>
    </p:spTree>
    <p:extLst>
      <p:ext uri="{BB962C8B-B14F-4D97-AF65-F5344CB8AC3E}">
        <p14:creationId xmlns:p14="http://schemas.microsoft.com/office/powerpoint/2010/main" val="66963361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De heffing geldt per ingevoerde helm">
            <a:extLst xmlns:a="http://schemas.openxmlformats.org/drawingml/2006/main">
              <a:ext uri="{FF2B5EF4-FFF2-40B4-BE49-F238E27FC236}">
                <a16:creationId xmlns:a16="http://schemas.microsoft.com/office/drawing/2014/main" id="{106840A1-A5EC-4775-8A88-DDB606FA1CEC}"/>
              </a:ext>
            </a:extLst>
          </p:cNvPr>
          <p:cNvSpPr>
            <a:spLocks xmlns:a="http://schemas.openxmlformats.org/drawingml/2006/main" noGrp="1"/>
          </p:cNvSpPr>
          <p:nvPr/>
        </p:nvSpPr>
        <p:spPr>
          <a:xfrm xmlns:a="http://schemas.openxmlformats.org/drawingml/2006/main">
            <a:off x="571500" y="400050"/>
            <a:ext cx="1409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De heffing geldt per ingevoerde helm</a:t>
            </a:r>
          </a:p>
        </p:txBody>
      </p:sp>
      <p:sp>
        <p:nvSpPr>
          <p:cNvPr id="2" name="">
            <a:extLst xmlns:a="http://schemas.openxmlformats.org/drawingml/2006/main">
              <a:ext uri="{FF2B5EF4-FFF2-40B4-BE49-F238E27FC236}">
                <a16:creationId xmlns:a16="http://schemas.microsoft.com/office/drawing/2014/main" id="{14931143-3506-4777-A66A-315FAB8492EC}"/>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3.4 Gemengde opgaven internationale handel">
            <a:extLst xmlns:a="http://schemas.openxmlformats.org/drawingml/2006/main">
              <a:ext uri="{FF2B5EF4-FFF2-40B4-BE49-F238E27FC236}">
                <a16:creationId xmlns:a16="http://schemas.microsoft.com/office/drawing/2014/main" id="{E0DB0A2F-33A3-4BA0-A099-DF9BE0716F2F}"/>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§3.3.4 Gemengde opgaven internationale handel</a:t>
            </a:r>
          </a:p>
        </p:txBody>
      </p:sp>
      <p:sp>
        <p:nvSpPr>
          <p:cNvPr id="4" name="4">
            <a:extLst xmlns:a="http://schemas.openxmlformats.org/drawingml/2006/main">
              <a:ext uri="{FF2B5EF4-FFF2-40B4-BE49-F238E27FC236}">
                <a16:creationId xmlns:a16="http://schemas.microsoft.com/office/drawing/2014/main" id="{3FDD6901-51FE-4A58-878B-801F8E9DD128}"/>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4</a:t>
            </a:r>
          </a:p>
        </p:txBody>
      </p:sp>
      <p:sp>
        <p:nvSpPr>
          <p:cNvPr id="5" name="Uitlegvoorbeeld — niet uit het boek">
            <a:extLst xmlns:a="http://schemas.openxmlformats.org/drawingml/2006/main">
              <a:ext uri="{FF2B5EF4-FFF2-40B4-BE49-F238E27FC236}">
                <a16:creationId xmlns:a16="http://schemas.microsoft.com/office/drawing/2014/main" id="{4BE94C0D-BBA7-4833-91EE-87893AD01BD2}"/>
              </a:ext>
            </a:extLst>
          </p:cNvPr>
          <p:cNvSpPr>
            <a:spLocks xmlns:a="http://schemas.openxmlformats.org/drawingml/2006/main" noGrp="1"/>
          </p:cNvSpPr>
          <p:nvPr/>
        </p:nvSpPr>
        <p:spPr>
          <a:xfrm xmlns:a="http://schemas.openxmlformats.org/drawingml/2006/main">
            <a:off x="571500" y="1695450"/>
            <a:ext cx="14097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658A"/>
                </a:solidFill>
                <a:latin typeface="Arial"/>
                <a:ea typeface="Arial"/>
                <a:cs typeface="Arial"/>
              </a:defRPr>
            </a:pPr>
            <a:r>
              <a:rPr sz="2175" b="1">
                <a:solidFill>
                  <a:srgbClr val="17658A"/>
                </a:solidFill>
                <a:latin typeface="Arial"/>
                <a:ea typeface="Arial"/>
                <a:cs typeface="Arial"/>
              </a:rPr>
              <a:t>Uitlegvoorbeeld — niet uit het boek</a:t>
            </a:r>
          </a:p>
        </p:txBody>
      </p:sp>
      <p:sp>
        <p:nvSpPr>
          <p:cNvPr id="6" name="€ 4 per helm">
            <a:extLst xmlns:a="http://schemas.openxmlformats.org/drawingml/2006/main">
              <a:ext uri="{FF2B5EF4-FFF2-40B4-BE49-F238E27FC236}">
                <a16:creationId xmlns:a16="http://schemas.microsoft.com/office/drawing/2014/main" id="{FE21EFA8-59C8-4185-B9F8-7CF295A7E370}"/>
              </a:ext>
            </a:extLst>
          </p:cNvPr>
          <p:cNvSpPr>
            <a:spLocks xmlns:a="http://schemas.openxmlformats.org/drawingml/2006/main" noGrp="1"/>
          </p:cNvSpPr>
          <p:nvPr/>
        </p:nvSpPr>
        <p:spPr>
          <a:xfrm xmlns:a="http://schemas.openxmlformats.org/drawingml/2006/main">
            <a:off x="952500" y="2762250"/>
            <a:ext cx="5905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A94D16"/>
                </a:solidFill>
                <a:latin typeface="Arial"/>
                <a:ea typeface="Arial"/>
                <a:cs typeface="Arial"/>
              </a:defRPr>
            </a:pPr>
            <a:r>
              <a:rPr sz="4350" b="1">
                <a:solidFill>
                  <a:srgbClr val="A94D16"/>
                </a:solidFill>
                <a:latin typeface="Arial"/>
                <a:ea typeface="Arial"/>
                <a:cs typeface="Arial"/>
              </a:rPr>
              <a:t>€ 4 per helm</a:t>
            </a:r>
          </a:p>
        </p:txBody>
      </p:sp>
      <p:sp>
        <p:nvSpPr>
          <p:cNvPr id="7" name="36 helmen per week">
            <a:extLst xmlns:a="http://schemas.openxmlformats.org/drawingml/2006/main">
              <a:ext uri="{FF2B5EF4-FFF2-40B4-BE49-F238E27FC236}">
                <a16:creationId xmlns:a16="http://schemas.microsoft.com/office/drawing/2014/main" id="{AE62DAE1-63F0-4E5C-B363-A62BC2A2860E}"/>
              </a:ext>
            </a:extLst>
          </p:cNvPr>
          <p:cNvSpPr>
            <a:spLocks xmlns:a="http://schemas.openxmlformats.org/drawingml/2006/main" noGrp="1"/>
          </p:cNvSpPr>
          <p:nvPr/>
        </p:nvSpPr>
        <p:spPr>
          <a:xfrm xmlns:a="http://schemas.openxmlformats.org/drawingml/2006/main">
            <a:off x="7429500" y="2762250"/>
            <a:ext cx="7000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20665B"/>
                </a:solidFill>
                <a:latin typeface="Arial"/>
                <a:ea typeface="Arial"/>
                <a:cs typeface="Arial"/>
              </a:defRPr>
            </a:pPr>
            <a:r>
              <a:rPr sz="4350" b="1">
                <a:solidFill>
                  <a:srgbClr val="20665B"/>
                </a:solidFill>
                <a:latin typeface="Arial"/>
                <a:ea typeface="Arial"/>
                <a:cs typeface="Arial"/>
              </a:rPr>
              <a:t>36 helmen per week</a:t>
            </a:r>
          </a:p>
        </p:txBody>
      </p:sp>
      <p:sp>
        <p:nvSpPr>
          <p:cNvPr id="8" name="">
            <a:extLst xmlns:a="http://schemas.openxmlformats.org/drawingml/2006/main">
              <a:ext uri="{FF2B5EF4-FFF2-40B4-BE49-F238E27FC236}">
                <a16:creationId xmlns:a16="http://schemas.microsoft.com/office/drawing/2014/main" id="{5C22778A-5A54-4386-81B2-4CBDFC678903}"/>
              </a:ext>
            </a:extLst>
          </p:cNvPr>
          <p:cNvSpPr>
            <a:spLocks xmlns:a="http://schemas.openxmlformats.org/drawingml/2006/main" noGrp="1"/>
          </p:cNvSpPr>
          <p:nvPr/>
        </p:nvSpPr>
        <p:spPr>
          <a:xfrm xmlns:a="http://schemas.openxmlformats.org/drawingml/2006/main">
            <a:off x="952500" y="3810000"/>
            <a:ext cx="13144500" cy="0"/>
          </a:xfrm>
          <a:prstGeom xmlns:a="http://schemas.openxmlformats.org/drawingml/2006/main" prst="line">
            <a:avLst/>
          </a:prstGeom>
          <a:ln xmlns:a="http://schemas.openxmlformats.org/drawingml/2006/main" w="19050">
            <a:solidFill>
              <a:srgbClr val="C6D2DB"/>
            </a:solidFill>
          </a:ln>
        </p:spPr>
      </p:sp>
      <p:sp>
        <p:nvSpPr>
          <p:cNvPr id="9" name="Heffingsopbrengst = 4 × 36 = € 144 per week">
            <a:extLst xmlns:a="http://schemas.openxmlformats.org/drawingml/2006/main">
              <a:ext uri="{FF2B5EF4-FFF2-40B4-BE49-F238E27FC236}">
                <a16:creationId xmlns:a16="http://schemas.microsoft.com/office/drawing/2014/main" id="{D935520F-BE4E-4BAA-9631-CC37370CD04B}"/>
              </a:ext>
            </a:extLst>
          </p:cNvPr>
          <p:cNvSpPr>
            <a:spLocks xmlns:a="http://schemas.openxmlformats.org/drawingml/2006/main" noGrp="1"/>
          </p:cNvSpPr>
          <p:nvPr/>
        </p:nvSpPr>
        <p:spPr>
          <a:xfrm xmlns:a="http://schemas.openxmlformats.org/drawingml/2006/main">
            <a:off x="952500" y="4324350"/>
            <a:ext cx="13144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83247"/>
                </a:solidFill>
                <a:latin typeface="Arial"/>
                <a:ea typeface="Arial"/>
                <a:cs typeface="Arial"/>
              </a:defRPr>
            </a:pPr>
            <a:r>
              <a:rPr sz="3675" b="1">
                <a:solidFill>
                  <a:srgbClr val="183247"/>
                </a:solidFill>
                <a:latin typeface="Arial"/>
                <a:ea typeface="Arial"/>
                <a:cs typeface="Arial"/>
              </a:rPr>
              <a:t>Heffingsopbrengst = 4 × 36 = € 144 per week</a:t>
            </a:r>
          </a:p>
        </p:txBody>
      </p:sp>
      <p:sp>
        <p:nvSpPr>
          <p:cNvPr id="10" name="In de grafiek">
            <a:extLst xmlns:a="http://schemas.openxmlformats.org/drawingml/2006/main">
              <a:ext uri="{FF2B5EF4-FFF2-40B4-BE49-F238E27FC236}">
                <a16:creationId xmlns:a16="http://schemas.microsoft.com/office/drawing/2014/main" id="{162F44AD-B941-436A-A498-959379DBAB7F}"/>
              </a:ext>
            </a:extLst>
          </p:cNvPr>
          <p:cNvSpPr>
            <a:spLocks xmlns:a="http://schemas.openxmlformats.org/drawingml/2006/main" noGrp="1"/>
          </p:cNvSpPr>
          <p:nvPr/>
        </p:nvSpPr>
        <p:spPr>
          <a:xfrm xmlns:a="http://schemas.openxmlformats.org/drawingml/2006/main">
            <a:off x="571500" y="5667375"/>
            <a:ext cx="4476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658A"/>
                </a:solidFill>
                <a:latin typeface="Arial"/>
                <a:ea typeface="Arial"/>
                <a:cs typeface="Arial"/>
              </a:defRPr>
            </a:pPr>
            <a:r>
              <a:rPr sz="2400" b="1">
                <a:solidFill>
                  <a:srgbClr val="17658A"/>
                </a:solidFill>
                <a:latin typeface="Arial"/>
                <a:ea typeface="Arial"/>
                <a:cs typeface="Arial"/>
              </a:rPr>
              <a:t>In de grafiek</a:t>
            </a:r>
          </a:p>
        </p:txBody>
      </p:sp>
      <p:sp>
        <p:nvSpPr>
          <p:cNvPr id="11" name="Hoogte: € 4 per helm&#10;Breedte: 36 helmen per week">
            <a:extLst xmlns:a="http://schemas.openxmlformats.org/drawingml/2006/main">
              <a:ext uri="{FF2B5EF4-FFF2-40B4-BE49-F238E27FC236}">
                <a16:creationId xmlns:a16="http://schemas.microsoft.com/office/drawing/2014/main" id="{611D2E69-3B24-4AAB-BD58-2BB67F8291FC}"/>
              </a:ext>
            </a:extLst>
          </p:cNvPr>
          <p:cNvSpPr>
            <a:spLocks xmlns:a="http://schemas.openxmlformats.org/drawingml/2006/main" noGrp="1"/>
          </p:cNvSpPr>
          <p:nvPr/>
        </p:nvSpPr>
        <p:spPr>
          <a:xfrm xmlns:a="http://schemas.openxmlformats.org/drawingml/2006/main">
            <a:off x="5429250" y="5667375"/>
            <a:ext cx="9239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Hoogte: € 4 per helm</a:t>
            </a:r>
          </a:p>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Breedte: 36 helmen per week</a:t>
            </a:r>
          </a:p>
        </p:txBody>
      </p:sp>
      <p:sp>
        <p:nvSpPr>
          <p:cNvPr id="12" name="">
            <a:extLst xmlns:a="http://schemas.openxmlformats.org/drawingml/2006/main">
              <a:ext uri="{FF2B5EF4-FFF2-40B4-BE49-F238E27FC236}">
                <a16:creationId xmlns:a16="http://schemas.microsoft.com/office/drawing/2014/main" id="{55F5C046-5A60-4946-BF44-362BD85F8063}"/>
              </a:ext>
            </a:extLst>
          </p:cNvPr>
          <p:cNvSpPr>
            <a:spLocks xmlns:a="http://schemas.openxmlformats.org/drawingml/2006/main" noGrp="1"/>
          </p:cNvSpPr>
          <p:nvPr/>
        </p:nvSpPr>
        <p:spPr>
          <a:xfrm xmlns:a="http://schemas.openxmlformats.org/drawingml/2006/main">
            <a:off x="571500" y="6562725"/>
            <a:ext cx="14097000" cy="0"/>
          </a:xfrm>
          <a:prstGeom xmlns:a="http://schemas.openxmlformats.org/drawingml/2006/main" prst="line">
            <a:avLst/>
          </a:prstGeom>
          <a:ln xmlns:a="http://schemas.openxmlformats.org/drawingml/2006/main" w="19050">
            <a:solidFill>
              <a:srgbClr val="C6D2DB"/>
            </a:solidFill>
          </a:ln>
        </p:spPr>
      </p:sp>
      <p:sp>
        <p:nvSpPr>
          <p:cNvPr id="13" name="Bij gratis vergunningen">
            <a:extLst xmlns:a="http://schemas.openxmlformats.org/drawingml/2006/main">
              <a:ext uri="{FF2B5EF4-FFF2-40B4-BE49-F238E27FC236}">
                <a16:creationId xmlns:a16="http://schemas.microsoft.com/office/drawing/2014/main" id="{4E755181-39F3-4354-A3B4-37909579524E}"/>
              </a:ext>
            </a:extLst>
          </p:cNvPr>
          <p:cNvSpPr>
            <a:spLocks xmlns:a="http://schemas.openxmlformats.org/drawingml/2006/main" noGrp="1"/>
          </p:cNvSpPr>
          <p:nvPr/>
        </p:nvSpPr>
        <p:spPr>
          <a:xfrm xmlns:a="http://schemas.openxmlformats.org/drawingml/2006/main">
            <a:off x="571500" y="6848475"/>
            <a:ext cx="4476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20665B"/>
                </a:solidFill>
                <a:latin typeface="Arial"/>
                <a:ea typeface="Arial"/>
                <a:cs typeface="Arial"/>
              </a:defRPr>
            </a:pPr>
            <a:r>
              <a:rPr sz="2400" b="1">
                <a:solidFill>
                  <a:srgbClr val="20665B"/>
                </a:solidFill>
                <a:latin typeface="Arial"/>
                <a:ea typeface="Arial"/>
                <a:cs typeface="Arial"/>
              </a:rPr>
              <a:t>Bij gratis vergunningen</a:t>
            </a:r>
          </a:p>
        </p:txBody>
      </p:sp>
      <p:sp>
        <p:nvSpPr>
          <p:cNvPr id="14" name="Zonder invoerheffing ontvangt de overheid&#10;geen bedrag per in">
            <a:extLst xmlns:a="http://schemas.openxmlformats.org/drawingml/2006/main">
              <a:ext uri="{FF2B5EF4-FFF2-40B4-BE49-F238E27FC236}">
                <a16:creationId xmlns:a16="http://schemas.microsoft.com/office/drawing/2014/main" id="{D07DDCC1-C270-4806-9673-71C726C3C6EE}"/>
              </a:ext>
            </a:extLst>
          </p:cNvPr>
          <p:cNvSpPr>
            <a:spLocks xmlns:a="http://schemas.openxmlformats.org/drawingml/2006/main" noGrp="1"/>
          </p:cNvSpPr>
          <p:nvPr/>
        </p:nvSpPr>
        <p:spPr>
          <a:xfrm xmlns:a="http://schemas.openxmlformats.org/drawingml/2006/main">
            <a:off x="5429250" y="6848475"/>
            <a:ext cx="9239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Zonder invoerheffing ontvangt de overheid</a:t>
            </a:r>
          </a:p>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geen bedrag per ingevoerde helm.</a:t>
            </a:r>
          </a:p>
        </p:txBody>
      </p:sp>
    </p:spTree>
    <p:extLst>
      <p:ext uri="{BB962C8B-B14F-4D97-AF65-F5344CB8AC3E}">
        <p14:creationId xmlns:p14="http://schemas.microsoft.com/office/powerpoint/2010/main" val="214079807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Een conclusie gebruikt het doel én de gevolgen">
            <a:extLst xmlns:a="http://schemas.openxmlformats.org/drawingml/2006/main">
              <a:ext uri="{FF2B5EF4-FFF2-40B4-BE49-F238E27FC236}">
                <a16:creationId xmlns:a16="http://schemas.microsoft.com/office/drawing/2014/main" id="{2788CB26-CF02-42D3-8C27-CCA282490A0C}"/>
              </a:ext>
            </a:extLst>
          </p:cNvPr>
          <p:cNvSpPr>
            <a:spLocks xmlns:a="http://schemas.openxmlformats.org/drawingml/2006/main" noGrp="1"/>
          </p:cNvSpPr>
          <p:nvPr/>
        </p:nvSpPr>
        <p:spPr>
          <a:xfrm xmlns:a="http://schemas.openxmlformats.org/drawingml/2006/main">
            <a:off x="571500" y="400050"/>
            <a:ext cx="1409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Een conclusie gebruikt het doel én de gevolgen</a:t>
            </a:r>
          </a:p>
        </p:txBody>
      </p:sp>
      <p:sp>
        <p:nvSpPr>
          <p:cNvPr id="2" name="">
            <a:extLst xmlns:a="http://schemas.openxmlformats.org/drawingml/2006/main">
              <a:ext uri="{FF2B5EF4-FFF2-40B4-BE49-F238E27FC236}">
                <a16:creationId xmlns:a16="http://schemas.microsoft.com/office/drawing/2014/main" id="{36E9A74A-0FDD-417C-BB74-A17549C5DAFA}"/>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3.4 Gemengde opgaven internationale handel">
            <a:extLst xmlns:a="http://schemas.openxmlformats.org/drawingml/2006/main">
              <a:ext uri="{FF2B5EF4-FFF2-40B4-BE49-F238E27FC236}">
                <a16:creationId xmlns:a16="http://schemas.microsoft.com/office/drawing/2014/main" id="{0240BB7F-937C-41D0-89F0-E330A99ABC22}"/>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§3.3.4 Gemengde opgaven internationale handel</a:t>
            </a:r>
          </a:p>
        </p:txBody>
      </p:sp>
      <p:sp>
        <p:nvSpPr>
          <p:cNvPr id="4" name="5">
            <a:extLst xmlns:a="http://schemas.openxmlformats.org/drawingml/2006/main">
              <a:ext uri="{FF2B5EF4-FFF2-40B4-BE49-F238E27FC236}">
                <a16:creationId xmlns:a16="http://schemas.microsoft.com/office/drawing/2014/main" id="{B3E6FD54-52FB-47EB-BC20-8994E5688A16}"/>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5</a:t>
            </a:r>
          </a:p>
        </p:txBody>
      </p:sp>
      <p:sp>
        <p:nvSpPr>
          <p:cNvPr id="5" name="Uitlegvoorbeeld — niet uit het boek">
            <a:extLst xmlns:a="http://schemas.openxmlformats.org/drawingml/2006/main">
              <a:ext uri="{FF2B5EF4-FFF2-40B4-BE49-F238E27FC236}">
                <a16:creationId xmlns:a16="http://schemas.microsoft.com/office/drawing/2014/main" id="{56E172C0-EAD5-495B-96C9-C7DBE5A485D9}"/>
              </a:ext>
            </a:extLst>
          </p:cNvPr>
          <p:cNvSpPr>
            <a:spLocks xmlns:a="http://schemas.openxmlformats.org/drawingml/2006/main" noGrp="1"/>
          </p:cNvSpPr>
          <p:nvPr/>
        </p:nvSpPr>
        <p:spPr>
          <a:xfrm xmlns:a="http://schemas.openxmlformats.org/drawingml/2006/main">
            <a:off x="571500" y="1695450"/>
            <a:ext cx="14097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658A"/>
                </a:solidFill>
                <a:latin typeface="Arial"/>
                <a:ea typeface="Arial"/>
                <a:cs typeface="Arial"/>
              </a:defRPr>
            </a:pPr>
            <a:r>
              <a:rPr sz="2175" b="1">
                <a:solidFill>
                  <a:srgbClr val="17658A"/>
                </a:solidFill>
                <a:latin typeface="Arial"/>
                <a:ea typeface="Arial"/>
                <a:cs typeface="Arial"/>
              </a:rPr>
              <a:t>Uitlegvoorbeeld — niet uit het boek</a:t>
            </a:r>
          </a:p>
        </p:txBody>
      </p:sp>
      <p:sp>
        <p:nvSpPr>
          <p:cNvPr id="6" name="Producenten in Ivera">
            <a:extLst xmlns:a="http://schemas.openxmlformats.org/drawingml/2006/main">
              <a:ext uri="{FF2B5EF4-FFF2-40B4-BE49-F238E27FC236}">
                <a16:creationId xmlns:a16="http://schemas.microsoft.com/office/drawing/2014/main" id="{F571CF6D-F255-4962-A467-3FF25B6BE635}"/>
              </a:ext>
            </a:extLst>
          </p:cNvPr>
          <p:cNvSpPr>
            <a:spLocks xmlns:a="http://schemas.openxmlformats.org/drawingml/2006/main" noGrp="1"/>
          </p:cNvSpPr>
          <p:nvPr/>
        </p:nvSpPr>
        <p:spPr>
          <a:xfrm xmlns:a="http://schemas.openxmlformats.org/drawingml/2006/main">
            <a:off x="571500" y="2619375"/>
            <a:ext cx="4381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7658A"/>
                </a:solidFill>
                <a:latin typeface="Arial"/>
                <a:ea typeface="Arial"/>
                <a:cs typeface="Arial"/>
              </a:defRPr>
            </a:pPr>
            <a:r>
              <a:rPr sz="2775" b="1">
                <a:solidFill>
                  <a:srgbClr val="17658A"/>
                </a:solidFill>
                <a:latin typeface="Arial"/>
                <a:ea typeface="Arial"/>
                <a:cs typeface="Arial"/>
              </a:rPr>
              <a:t>Producenten in Ivera</a:t>
            </a:r>
          </a:p>
        </p:txBody>
      </p:sp>
      <p:sp>
        <p:nvSpPr>
          <p:cNvPr id="7" name="€ 18 wordt € 22 per helm.&#10;Productie: 30 wordt 42 per week.">
            <a:extLst xmlns:a="http://schemas.openxmlformats.org/drawingml/2006/main">
              <a:ext uri="{FF2B5EF4-FFF2-40B4-BE49-F238E27FC236}">
                <a16:creationId xmlns:a16="http://schemas.microsoft.com/office/drawing/2014/main" id="{F49F27F9-EB1F-4E07-9398-237F19B89673}"/>
              </a:ext>
            </a:extLst>
          </p:cNvPr>
          <p:cNvSpPr>
            <a:spLocks xmlns:a="http://schemas.openxmlformats.org/drawingml/2006/main" noGrp="1"/>
          </p:cNvSpPr>
          <p:nvPr/>
        </p:nvSpPr>
        <p:spPr>
          <a:xfrm xmlns:a="http://schemas.openxmlformats.org/drawingml/2006/main">
            <a:off x="5334000" y="2619375"/>
            <a:ext cx="9334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€ 18 wordt € 22 per helm.</a:t>
            </a:r>
          </a:p>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Productie: 30 wordt 42 per week.</a:t>
            </a:r>
          </a:p>
        </p:txBody>
      </p:sp>
      <p:sp>
        <p:nvSpPr>
          <p:cNvPr id="8" name="">
            <a:extLst xmlns:a="http://schemas.openxmlformats.org/drawingml/2006/main">
              <a:ext uri="{FF2B5EF4-FFF2-40B4-BE49-F238E27FC236}">
                <a16:creationId xmlns:a16="http://schemas.microsoft.com/office/drawing/2014/main" id="{2ED3F445-A9D0-422B-9D14-4CE9292E946C}"/>
              </a:ext>
            </a:extLst>
          </p:cNvPr>
          <p:cNvSpPr>
            <a:spLocks xmlns:a="http://schemas.openxmlformats.org/drawingml/2006/main" noGrp="1"/>
          </p:cNvSpPr>
          <p:nvPr/>
        </p:nvSpPr>
        <p:spPr>
          <a:xfrm xmlns:a="http://schemas.openxmlformats.org/drawingml/2006/main">
            <a:off x="571500" y="4000500"/>
            <a:ext cx="14097000" cy="0"/>
          </a:xfrm>
          <a:prstGeom xmlns:a="http://schemas.openxmlformats.org/drawingml/2006/main" prst="line">
            <a:avLst/>
          </a:prstGeom>
          <a:ln xmlns:a="http://schemas.openxmlformats.org/drawingml/2006/main" w="19050">
            <a:solidFill>
              <a:srgbClr val="C6D2DB"/>
            </a:solidFill>
          </a:ln>
        </p:spPr>
      </p:sp>
      <p:sp>
        <p:nvSpPr>
          <p:cNvPr id="9" name="Kopers in Ivera">
            <a:extLst xmlns:a="http://schemas.openxmlformats.org/drawingml/2006/main">
              <a:ext uri="{FF2B5EF4-FFF2-40B4-BE49-F238E27FC236}">
                <a16:creationId xmlns:a16="http://schemas.microsoft.com/office/drawing/2014/main" id="{F0EFC390-60A1-483B-AB3D-35CF072C38AD}"/>
              </a:ext>
            </a:extLst>
          </p:cNvPr>
          <p:cNvSpPr>
            <a:spLocks xmlns:a="http://schemas.openxmlformats.org/drawingml/2006/main" noGrp="1"/>
          </p:cNvSpPr>
          <p:nvPr/>
        </p:nvSpPr>
        <p:spPr>
          <a:xfrm xmlns:a="http://schemas.openxmlformats.org/drawingml/2006/main">
            <a:off x="571500" y="4286250"/>
            <a:ext cx="4381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20665B"/>
                </a:solidFill>
                <a:latin typeface="Arial"/>
                <a:ea typeface="Arial"/>
                <a:cs typeface="Arial"/>
              </a:defRPr>
            </a:pPr>
            <a:r>
              <a:rPr sz="2775" b="1">
                <a:solidFill>
                  <a:srgbClr val="20665B"/>
                </a:solidFill>
                <a:latin typeface="Arial"/>
                <a:ea typeface="Arial"/>
                <a:cs typeface="Arial"/>
              </a:rPr>
              <a:t>Kopers in Ivera</a:t>
            </a:r>
          </a:p>
        </p:txBody>
      </p:sp>
      <p:sp>
        <p:nvSpPr>
          <p:cNvPr id="10" name="€ 18 wordt € 22 per helm.&#10;Verbruik: 90 wordt 78 per week.">
            <a:extLst xmlns:a="http://schemas.openxmlformats.org/drawingml/2006/main">
              <a:ext uri="{FF2B5EF4-FFF2-40B4-BE49-F238E27FC236}">
                <a16:creationId xmlns:a16="http://schemas.microsoft.com/office/drawing/2014/main" id="{3DFA3F49-2B6E-494D-A02B-58205E5F21CD}"/>
              </a:ext>
            </a:extLst>
          </p:cNvPr>
          <p:cNvSpPr>
            <a:spLocks xmlns:a="http://schemas.openxmlformats.org/drawingml/2006/main" noGrp="1"/>
          </p:cNvSpPr>
          <p:nvPr/>
        </p:nvSpPr>
        <p:spPr>
          <a:xfrm xmlns:a="http://schemas.openxmlformats.org/drawingml/2006/main">
            <a:off x="5334000" y="4286250"/>
            <a:ext cx="9334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€ 18 wordt € 22 per helm.</a:t>
            </a:r>
          </a:p>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Verbruik: 90 wordt 78 per week.</a:t>
            </a:r>
          </a:p>
        </p:txBody>
      </p:sp>
      <p:sp>
        <p:nvSpPr>
          <p:cNvPr id="11" name="">
            <a:extLst xmlns:a="http://schemas.openxmlformats.org/drawingml/2006/main">
              <a:ext uri="{FF2B5EF4-FFF2-40B4-BE49-F238E27FC236}">
                <a16:creationId xmlns:a16="http://schemas.microsoft.com/office/drawing/2014/main" id="{0938BB9E-FF57-4B36-A27D-9FBB34BBD772}"/>
              </a:ext>
            </a:extLst>
          </p:cNvPr>
          <p:cNvSpPr>
            <a:spLocks xmlns:a="http://schemas.openxmlformats.org/drawingml/2006/main" noGrp="1"/>
          </p:cNvSpPr>
          <p:nvPr/>
        </p:nvSpPr>
        <p:spPr>
          <a:xfrm xmlns:a="http://schemas.openxmlformats.org/drawingml/2006/main">
            <a:off x="571500" y="5667375"/>
            <a:ext cx="14097000" cy="0"/>
          </a:xfrm>
          <a:prstGeom xmlns:a="http://schemas.openxmlformats.org/drawingml/2006/main" prst="line">
            <a:avLst/>
          </a:prstGeom>
          <a:ln xmlns:a="http://schemas.openxmlformats.org/drawingml/2006/main" w="19050">
            <a:solidFill>
              <a:srgbClr val="C6D2DB"/>
            </a:solidFill>
          </a:ln>
        </p:spPr>
      </p:sp>
      <p:sp>
        <p:nvSpPr>
          <p:cNvPr id="12" name="Onderbouwd oordeel">
            <a:extLst xmlns:a="http://schemas.openxmlformats.org/drawingml/2006/main">
              <a:ext uri="{FF2B5EF4-FFF2-40B4-BE49-F238E27FC236}">
                <a16:creationId xmlns:a16="http://schemas.microsoft.com/office/drawing/2014/main" id="{367F21B0-2952-4430-9F58-52A9724175CB}"/>
              </a:ext>
            </a:extLst>
          </p:cNvPr>
          <p:cNvSpPr>
            <a:spLocks xmlns:a="http://schemas.openxmlformats.org/drawingml/2006/main" noGrp="1"/>
          </p:cNvSpPr>
          <p:nvPr/>
        </p:nvSpPr>
        <p:spPr>
          <a:xfrm xmlns:a="http://schemas.openxmlformats.org/drawingml/2006/main">
            <a:off x="571500" y="5953125"/>
            <a:ext cx="4381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A94D16"/>
                </a:solidFill>
                <a:latin typeface="Arial"/>
                <a:ea typeface="Arial"/>
                <a:cs typeface="Arial"/>
              </a:defRPr>
            </a:pPr>
            <a:r>
              <a:rPr sz="2775" b="1">
                <a:solidFill>
                  <a:srgbClr val="A94D16"/>
                </a:solidFill>
                <a:latin typeface="Arial"/>
                <a:ea typeface="Arial"/>
                <a:cs typeface="Arial"/>
              </a:rPr>
              <a:t>Onderbouwd oordeel</a:t>
            </a:r>
          </a:p>
        </p:txBody>
      </p:sp>
      <p:sp>
        <p:nvSpPr>
          <p:cNvPr id="13" name="De productie stijgt.&#10;Kopers betalen meer per helm.">
            <a:extLst xmlns:a="http://schemas.openxmlformats.org/drawingml/2006/main">
              <a:ext uri="{FF2B5EF4-FFF2-40B4-BE49-F238E27FC236}">
                <a16:creationId xmlns:a16="http://schemas.microsoft.com/office/drawing/2014/main" id="{71401626-231D-492E-9BFB-01EB0CED0E1D}"/>
              </a:ext>
            </a:extLst>
          </p:cNvPr>
          <p:cNvSpPr>
            <a:spLocks xmlns:a="http://schemas.openxmlformats.org/drawingml/2006/main" noGrp="1"/>
          </p:cNvSpPr>
          <p:nvPr/>
        </p:nvSpPr>
        <p:spPr>
          <a:xfrm xmlns:a="http://schemas.openxmlformats.org/drawingml/2006/main">
            <a:off x="5334000" y="5953125"/>
            <a:ext cx="9334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De productie stijgt.</a:t>
            </a:r>
          </a:p>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Kopers betalen meer per helm.</a:t>
            </a:r>
          </a:p>
        </p:txBody>
      </p:sp>
    </p:spTree>
    <p:extLst>
      <p:ext uri="{BB962C8B-B14F-4D97-AF65-F5344CB8AC3E}">
        <p14:creationId xmlns:p14="http://schemas.microsoft.com/office/powerpoint/2010/main" val="102685485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overview-title">
            <a:extLst xmlns:a="http://schemas.openxmlformats.org/drawingml/2006/main">
              <a:ext uri="{FF2B5EF4-FFF2-40B4-BE49-F238E27FC236}">
                <a16:creationId xmlns:a16="http://schemas.microsoft.com/office/drawing/2014/main" id="{E11666C2-95F6-456E-8BCC-60EE47B449E1}"/>
              </a:ext>
            </a:extLst>
          </p:cNvPr>
          <p:cNvSpPr>
            <a:spLocks xmlns:a="http://schemas.openxmlformats.org/drawingml/2006/main" noGrp="1"/>
          </p:cNvSpPr>
          <p:nvPr/>
        </p:nvSpPr>
        <p:spPr>
          <a:xfrm xmlns:a="http://schemas.openxmlformats.org/drawingml/2006/main">
            <a:off x="571500" y="285750"/>
            <a:ext cx="1409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3247"/>
                </a:solidFill>
                <a:latin typeface="Arial"/>
                <a:ea typeface="Arial"/>
                <a:cs typeface="Arial"/>
              </a:defRPr>
            </a:pPr>
            <a:r>
              <a:rPr sz="3450" b="1">
                <a:solidFill>
                  <a:srgbClr val="183247"/>
                </a:solidFill>
                <a:latin typeface="Arial"/>
                <a:ea typeface="Arial"/>
                <a:cs typeface="Arial"/>
              </a:rPr>
              <a:t>Deze les: §3.3.4 Gemengde opgaven</a:t>
            </a:r>
          </a:p>
          <a:p xmlns:a="http://schemas.openxmlformats.org/drawingml/2006/main">
            <a:pPr algn="l">
              <a:defRPr sz="3450" b="1">
                <a:solidFill>
                  <a:srgbClr val="183247"/>
                </a:solidFill>
                <a:latin typeface="Arial"/>
                <a:ea typeface="Arial"/>
                <a:cs typeface="Arial"/>
              </a:defRPr>
            </a:pPr>
            <a:r>
              <a:rPr sz="3450" b="1">
                <a:solidFill>
                  <a:srgbClr val="183247"/>
                </a:solidFill>
                <a:latin typeface="Arial"/>
                <a:ea typeface="Arial"/>
                <a:cs typeface="Arial"/>
              </a:rPr>
              <a:t>internationale handel</a:t>
            </a:r>
          </a:p>
        </p:txBody>
      </p:sp>
      <p:sp>
        <p:nvSpPr>
          <p:cNvPr id="2" name="phase">
            <a:extLst xmlns:a="http://schemas.openxmlformats.org/drawingml/2006/main">
              <a:ext uri="{FF2B5EF4-FFF2-40B4-BE49-F238E27FC236}">
                <a16:creationId xmlns:a16="http://schemas.microsoft.com/office/drawing/2014/main" id="{25AF5CB5-FD81-4523-AE6B-B792D322DE95}"/>
              </a:ext>
            </a:extLst>
          </p:cNvPr>
          <p:cNvSpPr>
            <a:spLocks xmlns:a="http://schemas.openxmlformats.org/drawingml/2006/main" noGrp="1"/>
          </p:cNvSpPr>
          <p:nvPr/>
        </p:nvSpPr>
        <p:spPr>
          <a:xfrm xmlns:a="http://schemas.openxmlformats.org/drawingml/2006/main">
            <a:off x="571500" y="1438275"/>
            <a:ext cx="1409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Zelfstandig werken</a:t>
            </a:r>
          </a:p>
        </p:txBody>
      </p:sp>
      <p:sp>
        <p:nvSpPr>
          <p:cNvPr id="3" name="">
            <a:extLst xmlns:a="http://schemas.openxmlformats.org/drawingml/2006/main">
              <a:ext uri="{FF2B5EF4-FFF2-40B4-BE49-F238E27FC236}">
                <a16:creationId xmlns:a16="http://schemas.microsoft.com/office/drawing/2014/main" id="{9D6C03FD-3863-4316-810C-23104607BCA0}"/>
              </a:ext>
            </a:extLst>
          </p:cNvPr>
          <p:cNvSpPr>
            <a:spLocks xmlns:a="http://schemas.openxmlformats.org/drawingml/2006/main" noGrp="1"/>
          </p:cNvSpPr>
          <p:nvPr/>
        </p:nvSpPr>
        <p:spPr>
          <a:xfrm xmlns:a="http://schemas.openxmlformats.org/drawingml/2006/main">
            <a:off x="571500" y="1924050"/>
            <a:ext cx="14097000" cy="0"/>
          </a:xfrm>
          <a:prstGeom xmlns:a="http://schemas.openxmlformats.org/drawingml/2006/main" prst="line">
            <a:avLst/>
          </a:prstGeom>
          <a:ln xmlns:a="http://schemas.openxmlformats.org/drawingml/2006/main" w="19050">
            <a:solidFill>
              <a:srgbClr val="C6D2DB"/>
            </a:solidFill>
          </a:ln>
        </p:spPr>
      </p:sp>
      <p:sp>
        <p:nvSpPr>
          <p:cNvPr id="4" name="Lesroute">
            <a:extLst xmlns:a="http://schemas.openxmlformats.org/drawingml/2006/main">
              <a:ext uri="{FF2B5EF4-FFF2-40B4-BE49-F238E27FC236}">
                <a16:creationId xmlns:a16="http://schemas.microsoft.com/office/drawing/2014/main" id="{F5AF23CC-2F13-40F6-A2A5-383278B161D2}"/>
              </a:ext>
            </a:extLst>
          </p:cNvPr>
          <p:cNvSpPr>
            <a:spLocks xmlns:a="http://schemas.openxmlformats.org/drawingml/2006/main" noGrp="1"/>
          </p:cNvSpPr>
          <p:nvPr/>
        </p:nvSpPr>
        <p:spPr>
          <a:xfrm xmlns:a="http://schemas.openxmlformats.org/drawingml/2006/main">
            <a:off x="571500" y="2190750"/>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5" name="route-number-1">
            <a:extLst xmlns:a="http://schemas.openxmlformats.org/drawingml/2006/main">
              <a:ext uri="{FF2B5EF4-FFF2-40B4-BE49-F238E27FC236}">
                <a16:creationId xmlns:a16="http://schemas.microsoft.com/office/drawing/2014/main" id="{AE4F2072-6F10-432F-BB3F-9006E99A4E2E}"/>
              </a:ext>
            </a:extLst>
          </p:cNvPr>
          <p:cNvSpPr>
            <a:spLocks xmlns:a="http://schemas.openxmlformats.org/drawingml/2006/main" noGrp="1"/>
          </p:cNvSpPr>
          <p:nvPr/>
        </p:nvSpPr>
        <p:spPr>
          <a:xfrm xmlns:a="http://schemas.openxmlformats.org/drawingml/2006/main">
            <a:off x="571500" y="2771775"/>
            <a:ext cx="4572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6" name="route-1">
            <a:extLst xmlns:a="http://schemas.openxmlformats.org/drawingml/2006/main">
              <a:ext uri="{FF2B5EF4-FFF2-40B4-BE49-F238E27FC236}">
                <a16:creationId xmlns:a16="http://schemas.microsoft.com/office/drawing/2014/main" id="{1E4C5691-D608-4E13-8142-59F92C88DDFB}"/>
              </a:ext>
            </a:extLst>
          </p:cNvPr>
          <p:cNvSpPr>
            <a:spLocks xmlns:a="http://schemas.openxmlformats.org/drawingml/2006/main" noGrp="1"/>
          </p:cNvSpPr>
          <p:nvPr/>
        </p:nvSpPr>
        <p:spPr>
          <a:xfrm xmlns:a="http://schemas.openxmlformats.org/drawingml/2006/main">
            <a:off x="1104900" y="2771775"/>
            <a:ext cx="74199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7" name="route-number-2">
            <a:extLst xmlns:a="http://schemas.openxmlformats.org/drawingml/2006/main">
              <a:ext uri="{FF2B5EF4-FFF2-40B4-BE49-F238E27FC236}">
                <a16:creationId xmlns:a16="http://schemas.microsoft.com/office/drawing/2014/main" id="{D06488EC-D5C4-4F8A-A421-38C78A427FED}"/>
              </a:ext>
            </a:extLst>
          </p:cNvPr>
          <p:cNvSpPr>
            <a:spLocks xmlns:a="http://schemas.openxmlformats.org/drawingml/2006/main" noGrp="1"/>
          </p:cNvSpPr>
          <p:nvPr/>
        </p:nvSpPr>
        <p:spPr>
          <a:xfrm xmlns:a="http://schemas.openxmlformats.org/drawingml/2006/main">
            <a:off x="571500" y="3629025"/>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8" name="route-2">
            <a:extLst xmlns:a="http://schemas.openxmlformats.org/drawingml/2006/main">
              <a:ext uri="{FF2B5EF4-FFF2-40B4-BE49-F238E27FC236}">
                <a16:creationId xmlns:a16="http://schemas.microsoft.com/office/drawing/2014/main" id="{1DEC3679-87C9-443B-991B-FFB8D34D73BD}"/>
              </a:ext>
            </a:extLst>
          </p:cNvPr>
          <p:cNvSpPr>
            <a:spLocks xmlns:a="http://schemas.openxmlformats.org/drawingml/2006/main" noGrp="1"/>
          </p:cNvSpPr>
          <p:nvPr/>
        </p:nvSpPr>
        <p:spPr>
          <a:xfrm xmlns:a="http://schemas.openxmlformats.org/drawingml/2006/main">
            <a:off x="1104900" y="3629025"/>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9" name="route-number-3">
            <a:extLst xmlns:a="http://schemas.openxmlformats.org/drawingml/2006/main">
              <a:ext uri="{FF2B5EF4-FFF2-40B4-BE49-F238E27FC236}">
                <a16:creationId xmlns:a16="http://schemas.microsoft.com/office/drawing/2014/main" id="{1BF6C023-8452-43B0-9CC9-F72C655406EE}"/>
              </a:ext>
            </a:extLst>
          </p:cNvPr>
          <p:cNvSpPr>
            <a:spLocks xmlns:a="http://schemas.openxmlformats.org/drawingml/2006/main" noGrp="1"/>
          </p:cNvSpPr>
          <p:nvPr/>
        </p:nvSpPr>
        <p:spPr>
          <a:xfrm xmlns:a="http://schemas.openxmlformats.org/drawingml/2006/main">
            <a:off x="571500" y="41719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0" name="route-3">
            <a:extLst xmlns:a="http://schemas.openxmlformats.org/drawingml/2006/main">
              <a:ext uri="{FF2B5EF4-FFF2-40B4-BE49-F238E27FC236}">
                <a16:creationId xmlns:a16="http://schemas.microsoft.com/office/drawing/2014/main" id="{F7DD348F-0354-4BA4-B821-D36853936A86}"/>
              </a:ext>
            </a:extLst>
          </p:cNvPr>
          <p:cNvSpPr>
            <a:spLocks xmlns:a="http://schemas.openxmlformats.org/drawingml/2006/main" noGrp="1"/>
          </p:cNvSpPr>
          <p:nvPr/>
        </p:nvSpPr>
        <p:spPr>
          <a:xfrm xmlns:a="http://schemas.openxmlformats.org/drawingml/2006/main">
            <a:off x="1104900" y="41719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Korte herhaling en aanpak.</a:t>
            </a:r>
          </a:p>
        </p:txBody>
      </p:sp>
      <p:sp>
        <p:nvSpPr>
          <p:cNvPr id="11" name="route-number-4">
            <a:extLst xmlns:a="http://schemas.openxmlformats.org/drawingml/2006/main">
              <a:ext uri="{FF2B5EF4-FFF2-40B4-BE49-F238E27FC236}">
                <a16:creationId xmlns:a16="http://schemas.microsoft.com/office/drawing/2014/main" id="{E790B5DB-B8AB-4C7A-B0ED-4D6BC3602A08}"/>
              </a:ext>
            </a:extLst>
          </p:cNvPr>
          <p:cNvSpPr>
            <a:spLocks xmlns:a="http://schemas.openxmlformats.org/drawingml/2006/main" noGrp="1"/>
          </p:cNvSpPr>
          <p:nvPr/>
        </p:nvSpPr>
        <p:spPr>
          <a:xfrm xmlns:a="http://schemas.openxmlformats.org/drawingml/2006/main">
            <a:off x="571500" y="4714875"/>
            <a:ext cx="4572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4.</a:t>
            </a:r>
          </a:p>
        </p:txBody>
      </p:sp>
      <p:sp>
        <p:nvSpPr>
          <p:cNvPr id="12" name="route-4">
            <a:extLst xmlns:a="http://schemas.openxmlformats.org/drawingml/2006/main">
              <a:ext uri="{FF2B5EF4-FFF2-40B4-BE49-F238E27FC236}">
                <a16:creationId xmlns:a16="http://schemas.microsoft.com/office/drawing/2014/main" id="{FC25218C-BEEB-4AEC-ACBC-6E6A7AD5B92B}"/>
              </a:ext>
            </a:extLst>
          </p:cNvPr>
          <p:cNvSpPr>
            <a:spLocks xmlns:a="http://schemas.openxmlformats.org/drawingml/2006/main" noGrp="1"/>
          </p:cNvSpPr>
          <p:nvPr/>
        </p:nvSpPr>
        <p:spPr>
          <a:xfrm xmlns:a="http://schemas.openxmlformats.org/drawingml/2006/main">
            <a:off x="1104900" y="4714875"/>
            <a:ext cx="74199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Werk verder aan de gemengde opgaven, stel vragen en kijk je antwoorden na.</a:t>
            </a:r>
          </a:p>
        </p:txBody>
      </p:sp>
      <p:sp>
        <p:nvSpPr>
          <p:cNvPr id="13" name="route-number-5">
            <a:extLst xmlns:a="http://schemas.openxmlformats.org/drawingml/2006/main">
              <a:ext uri="{FF2B5EF4-FFF2-40B4-BE49-F238E27FC236}">
                <a16:creationId xmlns:a16="http://schemas.microsoft.com/office/drawing/2014/main" id="{ADA02F89-E9C3-4EBE-8CD1-B0B9AB7C2CC5}"/>
              </a:ext>
            </a:extLst>
          </p:cNvPr>
          <p:cNvSpPr>
            <a:spLocks xmlns:a="http://schemas.openxmlformats.org/drawingml/2006/main" noGrp="1"/>
          </p:cNvSpPr>
          <p:nvPr/>
        </p:nvSpPr>
        <p:spPr>
          <a:xfrm xmlns:a="http://schemas.openxmlformats.org/drawingml/2006/main">
            <a:off x="571500" y="573405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4" name="route-5">
            <a:extLst xmlns:a="http://schemas.openxmlformats.org/drawingml/2006/main">
              <a:ext uri="{FF2B5EF4-FFF2-40B4-BE49-F238E27FC236}">
                <a16:creationId xmlns:a16="http://schemas.microsoft.com/office/drawing/2014/main" id="{A725FF63-C331-4ABD-B0B6-15F9D7BA7BEA}"/>
              </a:ext>
            </a:extLst>
          </p:cNvPr>
          <p:cNvSpPr>
            <a:spLocks xmlns:a="http://schemas.openxmlformats.org/drawingml/2006/main" noGrp="1"/>
          </p:cNvSpPr>
          <p:nvPr/>
        </p:nvSpPr>
        <p:spPr>
          <a:xfrm xmlns:a="http://schemas.openxmlformats.org/drawingml/2006/main">
            <a:off x="1104900" y="573405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5" name="route-number-6">
            <a:extLst xmlns:a="http://schemas.openxmlformats.org/drawingml/2006/main">
              <a:ext uri="{FF2B5EF4-FFF2-40B4-BE49-F238E27FC236}">
                <a16:creationId xmlns:a16="http://schemas.microsoft.com/office/drawing/2014/main" id="{6057AD94-51C5-4A82-A380-986C83722B52}"/>
              </a:ext>
            </a:extLst>
          </p:cNvPr>
          <p:cNvSpPr>
            <a:spLocks xmlns:a="http://schemas.openxmlformats.org/drawingml/2006/main" noGrp="1"/>
          </p:cNvSpPr>
          <p:nvPr/>
        </p:nvSpPr>
        <p:spPr>
          <a:xfrm xmlns:a="http://schemas.openxmlformats.org/drawingml/2006/main">
            <a:off x="571500" y="6629400"/>
            <a:ext cx="457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6" name="route-6">
            <a:extLst xmlns:a="http://schemas.openxmlformats.org/drawingml/2006/main">
              <a:ext uri="{FF2B5EF4-FFF2-40B4-BE49-F238E27FC236}">
                <a16:creationId xmlns:a16="http://schemas.microsoft.com/office/drawing/2014/main" id="{F695B43F-A71A-4961-B665-B6C464EBF489}"/>
              </a:ext>
            </a:extLst>
          </p:cNvPr>
          <p:cNvSpPr>
            <a:spLocks xmlns:a="http://schemas.openxmlformats.org/drawingml/2006/main" noGrp="1"/>
          </p:cNvSpPr>
          <p:nvPr/>
        </p:nvSpPr>
        <p:spPr>
          <a:xfrm xmlns:a="http://schemas.openxmlformats.org/drawingml/2006/main">
            <a:off x="1104900" y="6629400"/>
            <a:ext cx="74199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35.</a:t>
            </a:r>
          </a:p>
        </p:txBody>
      </p:sp>
      <p:sp>
        <p:nvSpPr>
          <p:cNvPr id="17" name="route-number-7">
            <a:extLst xmlns:a="http://schemas.openxmlformats.org/drawingml/2006/main">
              <a:ext uri="{FF2B5EF4-FFF2-40B4-BE49-F238E27FC236}">
                <a16:creationId xmlns:a16="http://schemas.microsoft.com/office/drawing/2014/main" id="{B8F1CD67-F86F-4FB0-B898-B1462229B99B}"/>
              </a:ext>
            </a:extLst>
          </p:cNvPr>
          <p:cNvSpPr>
            <a:spLocks xmlns:a="http://schemas.openxmlformats.org/drawingml/2006/main" noGrp="1"/>
          </p:cNvSpPr>
          <p:nvPr/>
        </p:nvSpPr>
        <p:spPr>
          <a:xfrm xmlns:a="http://schemas.openxmlformats.org/drawingml/2006/main">
            <a:off x="571500" y="7362825"/>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18" name="route-7">
            <a:extLst xmlns:a="http://schemas.openxmlformats.org/drawingml/2006/main">
              <a:ext uri="{FF2B5EF4-FFF2-40B4-BE49-F238E27FC236}">
                <a16:creationId xmlns:a16="http://schemas.microsoft.com/office/drawing/2014/main" id="{9B21363B-CE10-456C-955F-F24E51230040}"/>
              </a:ext>
            </a:extLst>
          </p:cNvPr>
          <p:cNvSpPr>
            <a:spLocks xmlns:a="http://schemas.openxmlformats.org/drawingml/2006/main" noGrp="1"/>
          </p:cNvSpPr>
          <p:nvPr/>
        </p:nvSpPr>
        <p:spPr>
          <a:xfrm xmlns:a="http://schemas.openxmlformats.org/drawingml/2006/main">
            <a:off x="1104900" y="7362825"/>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19" name="Lesdoelen">
            <a:extLst xmlns:a="http://schemas.openxmlformats.org/drawingml/2006/main">
              <a:ext uri="{FF2B5EF4-FFF2-40B4-BE49-F238E27FC236}">
                <a16:creationId xmlns:a16="http://schemas.microsoft.com/office/drawing/2014/main" id="{26B05F3A-587B-445B-A595-6DBD9C11EFE2}"/>
              </a:ext>
            </a:extLst>
          </p:cNvPr>
          <p:cNvSpPr>
            <a:spLocks xmlns:a="http://schemas.openxmlformats.org/drawingml/2006/main" noGrp="1"/>
          </p:cNvSpPr>
          <p:nvPr/>
        </p:nvSpPr>
        <p:spPr>
          <a:xfrm xmlns:a="http://schemas.openxmlformats.org/drawingml/2006/main">
            <a:off x="9258300" y="21907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0" name="overview-goals">
            <a:extLst xmlns:a="http://schemas.openxmlformats.org/drawingml/2006/main">
              <a:ext uri="{FF2B5EF4-FFF2-40B4-BE49-F238E27FC236}">
                <a16:creationId xmlns:a16="http://schemas.microsoft.com/office/drawing/2014/main" id="{D0BD2CC6-8F19-450D-83CA-4539D20E4B66}"/>
              </a:ext>
            </a:extLst>
          </p:cNvPr>
          <p:cNvSpPr>
            <a:spLocks xmlns:a="http://schemas.openxmlformats.org/drawingml/2006/main" noGrp="1"/>
          </p:cNvSpPr>
          <p:nvPr/>
        </p:nvSpPr>
        <p:spPr>
          <a:xfrm xmlns:a="http://schemas.openxmlformats.org/drawingml/2006/main">
            <a:off x="9258300" y="2752725"/>
            <a:ext cx="5410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Bronnen kiezen, comparatief voordeel</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uitleggen, import en opbrengst</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berekenen, conclusies onderbouwen.</a:t>
            </a:r>
          </a:p>
        </p:txBody>
      </p:sp>
      <p:sp>
        <p:nvSpPr>
          <p:cNvPr id="21" name="">
            <a:extLst xmlns:a="http://schemas.openxmlformats.org/drawingml/2006/main">
              <a:ext uri="{FF2B5EF4-FFF2-40B4-BE49-F238E27FC236}">
                <a16:creationId xmlns:a16="http://schemas.microsoft.com/office/drawing/2014/main" id="{8AAEF6FA-A7F7-4AAF-81C9-FDC1049296DD}"/>
              </a:ext>
            </a:extLst>
          </p:cNvPr>
          <p:cNvSpPr>
            <a:spLocks xmlns:a="http://schemas.openxmlformats.org/drawingml/2006/main" noGrp="1"/>
          </p:cNvSpPr>
          <p:nvPr/>
        </p:nvSpPr>
        <p:spPr>
          <a:xfrm xmlns:a="http://schemas.openxmlformats.org/drawingml/2006/main">
            <a:off x="9258300" y="4000500"/>
            <a:ext cx="5410200" cy="0"/>
          </a:xfrm>
          <a:prstGeom xmlns:a="http://schemas.openxmlformats.org/drawingml/2006/main" prst="line">
            <a:avLst/>
          </a:prstGeom>
          <a:ln xmlns:a="http://schemas.openxmlformats.org/drawingml/2006/main" w="19050">
            <a:solidFill>
              <a:srgbClr val="C6D2DB"/>
            </a:solidFill>
          </a:ln>
        </p:spPr>
      </p:sp>
      <p:sp>
        <p:nvSpPr>
          <p:cNvPr id="22" name="Startopdracht">
            <a:extLst xmlns:a="http://schemas.openxmlformats.org/drawingml/2006/main">
              <a:ext uri="{FF2B5EF4-FFF2-40B4-BE49-F238E27FC236}">
                <a16:creationId xmlns:a16="http://schemas.microsoft.com/office/drawing/2014/main" id="{3FFC85DC-14A7-466F-8721-87B103DDDA88}"/>
              </a:ext>
            </a:extLst>
          </p:cNvPr>
          <p:cNvSpPr>
            <a:spLocks xmlns:a="http://schemas.openxmlformats.org/drawingml/2006/main" noGrp="1"/>
          </p:cNvSpPr>
          <p:nvPr/>
        </p:nvSpPr>
        <p:spPr>
          <a:xfrm xmlns:a="http://schemas.openxmlformats.org/drawingml/2006/main">
            <a:off x="9258300" y="42386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3" name="overview-start">
            <a:extLst xmlns:a="http://schemas.openxmlformats.org/drawingml/2006/main">
              <a:ext uri="{FF2B5EF4-FFF2-40B4-BE49-F238E27FC236}">
                <a16:creationId xmlns:a16="http://schemas.microsoft.com/office/drawing/2014/main" id="{DFB0E8FD-8A37-49EE-AEE6-E7419FFAA72C}"/>
              </a:ext>
            </a:extLst>
          </p:cNvPr>
          <p:cNvSpPr>
            <a:spLocks xmlns:a="http://schemas.openxmlformats.org/drawingml/2006/main" noGrp="1"/>
          </p:cNvSpPr>
          <p:nvPr/>
        </p:nvSpPr>
        <p:spPr>
          <a:xfrm xmlns:a="http://schemas.openxmlformats.org/drawingml/2006/main">
            <a:off x="9258300" y="4762500"/>
            <a:ext cx="53816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117 · Opgave 31</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Eerste gemengde opgave</a:t>
            </a:r>
          </a:p>
        </p:txBody>
      </p:sp>
      <p:sp>
        <p:nvSpPr>
          <p:cNvPr id="24" name="">
            <a:extLst xmlns:a="http://schemas.openxmlformats.org/drawingml/2006/main">
              <a:ext uri="{FF2B5EF4-FFF2-40B4-BE49-F238E27FC236}">
                <a16:creationId xmlns:a16="http://schemas.microsoft.com/office/drawing/2014/main" id="{79FC2D12-4FC9-4FC2-94F2-803021037D5D}"/>
              </a:ext>
            </a:extLst>
          </p:cNvPr>
          <p:cNvSpPr>
            <a:spLocks xmlns:a="http://schemas.openxmlformats.org/drawingml/2006/main" noGrp="1"/>
          </p:cNvSpPr>
          <p:nvPr/>
        </p:nvSpPr>
        <p:spPr>
          <a:xfrm xmlns:a="http://schemas.openxmlformats.org/drawingml/2006/main">
            <a:off x="9258300" y="5676900"/>
            <a:ext cx="5410200" cy="0"/>
          </a:xfrm>
          <a:prstGeom xmlns:a="http://schemas.openxmlformats.org/drawingml/2006/main" prst="line">
            <a:avLst/>
          </a:prstGeom>
          <a:ln xmlns:a="http://schemas.openxmlformats.org/drawingml/2006/main" w="19050">
            <a:solidFill>
              <a:srgbClr val="C6D2DB"/>
            </a:solidFill>
          </a:ln>
        </p:spPr>
      </p:sp>
      <p:sp>
        <p:nvSpPr>
          <p:cNvPr id="25" name="Huiswerk">
            <a:extLst xmlns:a="http://schemas.openxmlformats.org/drawingml/2006/main">
              <a:ext uri="{FF2B5EF4-FFF2-40B4-BE49-F238E27FC236}">
                <a16:creationId xmlns:a16="http://schemas.microsoft.com/office/drawing/2014/main" id="{F627B1D6-7DCE-419C-8305-D450C634539E}"/>
              </a:ext>
            </a:extLst>
          </p:cNvPr>
          <p:cNvSpPr>
            <a:spLocks xmlns:a="http://schemas.openxmlformats.org/drawingml/2006/main" noGrp="1"/>
          </p:cNvSpPr>
          <p:nvPr/>
        </p:nvSpPr>
        <p:spPr>
          <a:xfrm xmlns:a="http://schemas.openxmlformats.org/drawingml/2006/main">
            <a:off x="9258300" y="586740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6" name="overview-homework">
            <a:extLst xmlns:a="http://schemas.openxmlformats.org/drawingml/2006/main">
              <a:ext uri="{FF2B5EF4-FFF2-40B4-BE49-F238E27FC236}">
                <a16:creationId xmlns:a16="http://schemas.microsoft.com/office/drawing/2014/main" id="{FAEFFC7C-F4DC-4ED0-9BFB-E56B166ECE43}"/>
              </a:ext>
            </a:extLst>
          </p:cNvPr>
          <p:cNvSpPr>
            <a:spLocks xmlns:a="http://schemas.openxmlformats.org/drawingml/2006/main" noGrp="1"/>
          </p:cNvSpPr>
          <p:nvPr/>
        </p:nvSpPr>
        <p:spPr>
          <a:xfrm xmlns:a="http://schemas.openxmlformats.org/drawingml/2006/main">
            <a:off x="9258300" y="6457950"/>
            <a:ext cx="5381625"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§3.3.4 · Opgaven 31–38</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Voorbereiding: 31–34 · Doel: 35</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Bonus: 36 · Herhaling: 37–38</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
        <p:nvSpPr>
          <p:cNvPr id="27" name="§3.3.4 · Boekpagina’s 117–123">
            <a:extLst xmlns:a="http://schemas.openxmlformats.org/drawingml/2006/main">
              <a:ext uri="{FF2B5EF4-FFF2-40B4-BE49-F238E27FC236}">
                <a16:creationId xmlns:a16="http://schemas.microsoft.com/office/drawing/2014/main" id="{AE98EABA-A4E1-4DA5-9CB8-9245B5922EFF}"/>
              </a:ext>
            </a:extLst>
          </p:cNvPr>
          <p:cNvSpPr>
            <a:spLocks xmlns:a="http://schemas.openxmlformats.org/drawingml/2006/main" noGrp="1"/>
          </p:cNvSpPr>
          <p:nvPr/>
        </p:nvSpPr>
        <p:spPr>
          <a:xfrm xmlns:a="http://schemas.openxmlformats.org/drawingml/2006/main">
            <a:off x="571500" y="8077200"/>
            <a:ext cx="1285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§3.3.4 · Boekpagina’s 117–123</a:t>
            </a:r>
          </a:p>
        </p:txBody>
      </p:sp>
      <p:sp>
        <p:nvSpPr>
          <p:cNvPr id="28" name="6">
            <a:extLst xmlns:a="http://schemas.openxmlformats.org/drawingml/2006/main">
              <a:ext uri="{FF2B5EF4-FFF2-40B4-BE49-F238E27FC236}">
                <a16:creationId xmlns:a16="http://schemas.microsoft.com/office/drawing/2014/main" id="{28C3A120-C102-4A02-B516-39019B55B545}"/>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6</a:t>
            </a:r>
          </a:p>
        </p:txBody>
      </p:sp>
    </p:spTree>
    <p:extLst>
      <p:ext uri="{BB962C8B-B14F-4D97-AF65-F5344CB8AC3E}">
        <p14:creationId xmlns:p14="http://schemas.microsoft.com/office/powerpoint/2010/main" val="153437957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35 · Bron A: productie en specialisatie">
            <a:extLst xmlns:a="http://schemas.openxmlformats.org/drawingml/2006/main">
              <a:ext uri="{FF2B5EF4-FFF2-40B4-BE49-F238E27FC236}">
                <a16:creationId xmlns:a16="http://schemas.microsoft.com/office/drawing/2014/main" id="{789D9A75-DC11-434F-82D1-FA6A557FCF46}"/>
              </a:ext>
            </a:extLst>
          </p:cNvPr>
          <p:cNvSpPr>
            <a:spLocks xmlns:a="http://schemas.openxmlformats.org/drawingml/2006/main" noGrp="1"/>
          </p:cNvSpPr>
          <p:nvPr/>
        </p:nvSpPr>
        <p:spPr>
          <a:xfrm xmlns:a="http://schemas.openxmlformats.org/drawingml/2006/main">
            <a:off x="571500" y="400050"/>
            <a:ext cx="1409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35 · Bron A: productie en specialisatie</a:t>
            </a:r>
          </a:p>
        </p:txBody>
      </p:sp>
      <p:sp>
        <p:nvSpPr>
          <p:cNvPr id="2" name="">
            <a:extLst xmlns:a="http://schemas.openxmlformats.org/drawingml/2006/main">
              <a:ext uri="{FF2B5EF4-FFF2-40B4-BE49-F238E27FC236}">
                <a16:creationId xmlns:a16="http://schemas.microsoft.com/office/drawing/2014/main" id="{008A99A6-B0A3-49A4-B34A-EF1C888039AF}"/>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Opgave 35 · Boekpagina 120">
            <a:extLst xmlns:a="http://schemas.openxmlformats.org/drawingml/2006/main">
              <a:ext uri="{FF2B5EF4-FFF2-40B4-BE49-F238E27FC236}">
                <a16:creationId xmlns:a16="http://schemas.microsoft.com/office/drawing/2014/main" id="{59179EBA-36F8-48EC-A555-252265644EC1}"/>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Opgave 35 · Boekpagina 120</a:t>
            </a:r>
          </a:p>
        </p:txBody>
      </p:sp>
      <p:sp>
        <p:nvSpPr>
          <p:cNvPr id="4" name="7">
            <a:extLst xmlns:a="http://schemas.openxmlformats.org/drawingml/2006/main">
              <a:ext uri="{FF2B5EF4-FFF2-40B4-BE49-F238E27FC236}">
                <a16:creationId xmlns:a16="http://schemas.microsoft.com/office/drawing/2014/main" id="{B26D4933-F96B-40F5-A722-6182C30F5AFC}"/>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7</a:t>
            </a:r>
          </a:p>
        </p:txBody>
      </p:sp>
      <p:sp>
        <p:nvSpPr>
          <p:cNvPr id="5" name="Nerin en Pelta maken machines en regenjassen van dezelfde kw">
            <a:extLst xmlns:a="http://schemas.openxmlformats.org/drawingml/2006/main">
              <a:ext uri="{FF2B5EF4-FFF2-40B4-BE49-F238E27FC236}">
                <a16:creationId xmlns:a16="http://schemas.microsoft.com/office/drawing/2014/main" id="{A7750EC5-2C9C-4343-BF5A-9AB9615ECA46}"/>
              </a:ext>
            </a:extLst>
          </p:cNvPr>
          <p:cNvSpPr>
            <a:spLocks xmlns:a="http://schemas.openxmlformats.org/drawingml/2006/main" noGrp="1"/>
          </p:cNvSpPr>
          <p:nvPr/>
        </p:nvSpPr>
        <p:spPr>
          <a:xfrm xmlns:a="http://schemas.openxmlformats.org/drawingml/2006/main">
            <a:off x="571500" y="1952625"/>
            <a:ext cx="14097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Nerin en Pelta maken machines en regenjassen van dezelfde kwaliteit. Nerin gebruikt voor beide minder middelen.</a:t>
            </a:r>
          </a:p>
        </p:txBody>
      </p:sp>
      <p:sp>
        <p:nvSpPr>
          <p:cNvPr id="6" name="Het voordeel bij machines is groot; bij jassen klein. Voor e">
            <a:extLst xmlns:a="http://schemas.openxmlformats.org/drawingml/2006/main">
              <a:ext uri="{FF2B5EF4-FFF2-40B4-BE49-F238E27FC236}">
                <a16:creationId xmlns:a16="http://schemas.microsoft.com/office/drawing/2014/main" id="{188FA846-DF28-41CA-A485-5293EEE1BE70}"/>
              </a:ext>
            </a:extLst>
          </p:cNvPr>
          <p:cNvSpPr>
            <a:spLocks xmlns:a="http://schemas.openxmlformats.org/drawingml/2006/main" noGrp="1"/>
          </p:cNvSpPr>
          <p:nvPr/>
        </p:nvSpPr>
        <p:spPr>
          <a:xfrm xmlns:a="http://schemas.openxmlformats.org/drawingml/2006/main">
            <a:off x="571500" y="3733800"/>
            <a:ext cx="14097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Het voordeel bij machines is groot; bij jassen klein. Voor extra jassen geeft Nerin relatief veel machineproductie op. Pelta geeft daarvoor minder machines op.</a:t>
            </a:r>
          </a:p>
        </p:txBody>
      </p:sp>
      <p:sp>
        <p:nvSpPr>
          <p:cNvPr id="7" name="Beide landen kunnen hun productiemiddelen voor beide activit">
            <a:extLst xmlns:a="http://schemas.openxmlformats.org/drawingml/2006/main">
              <a:ext uri="{FF2B5EF4-FFF2-40B4-BE49-F238E27FC236}">
                <a16:creationId xmlns:a16="http://schemas.microsoft.com/office/drawing/2014/main" id="{76468EA9-8BC5-455A-87DF-A0EBE063AEC7}"/>
              </a:ext>
            </a:extLst>
          </p:cNvPr>
          <p:cNvSpPr>
            <a:spLocks xmlns:a="http://schemas.openxmlformats.org/drawingml/2006/main" noGrp="1"/>
          </p:cNvSpPr>
          <p:nvPr/>
        </p:nvSpPr>
        <p:spPr>
          <a:xfrm xmlns:a="http://schemas.openxmlformats.org/drawingml/2006/main">
            <a:off x="571500" y="6296025"/>
            <a:ext cx="14097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Beide landen kunnen hun productiemiddelen voor beide activiteiten gebruiken.</a:t>
            </a:r>
          </a:p>
        </p:txBody>
      </p:sp>
    </p:spTree>
    <p:extLst>
      <p:ext uri="{BB962C8B-B14F-4D97-AF65-F5344CB8AC3E}">
        <p14:creationId xmlns:p14="http://schemas.microsoft.com/office/powerpoint/2010/main" val="37310230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35 · Bron B: markt en maatregel">
            <a:extLst xmlns:a="http://schemas.openxmlformats.org/drawingml/2006/main">
              <a:ext uri="{FF2B5EF4-FFF2-40B4-BE49-F238E27FC236}">
                <a16:creationId xmlns:a16="http://schemas.microsoft.com/office/drawing/2014/main" id="{A22A0FD4-06D6-45F5-A6D1-32231EF1A955}"/>
              </a:ext>
            </a:extLst>
          </p:cNvPr>
          <p:cNvSpPr>
            <a:spLocks xmlns:a="http://schemas.openxmlformats.org/drawingml/2006/main" noGrp="1"/>
          </p:cNvSpPr>
          <p:nvPr/>
        </p:nvSpPr>
        <p:spPr>
          <a:xfrm xmlns:a="http://schemas.openxmlformats.org/drawingml/2006/main">
            <a:off x="571500" y="400050"/>
            <a:ext cx="1409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35 · Bron B: markt en maatregel</a:t>
            </a:r>
          </a:p>
        </p:txBody>
      </p:sp>
      <p:sp>
        <p:nvSpPr>
          <p:cNvPr id="2" name="">
            <a:extLst xmlns:a="http://schemas.openxmlformats.org/drawingml/2006/main">
              <a:ext uri="{FF2B5EF4-FFF2-40B4-BE49-F238E27FC236}">
                <a16:creationId xmlns:a16="http://schemas.microsoft.com/office/drawing/2014/main" id="{62B50998-635A-43B1-9219-5A786207A72A}"/>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Opgave 35 · Boekpagina 120">
            <a:extLst xmlns:a="http://schemas.openxmlformats.org/drawingml/2006/main">
              <a:ext uri="{FF2B5EF4-FFF2-40B4-BE49-F238E27FC236}">
                <a16:creationId xmlns:a16="http://schemas.microsoft.com/office/drawing/2014/main" id="{7963D6DF-C0D6-4022-98B8-625ACB53DE8E}"/>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Opgave 35 · Boekpagina 120</a:t>
            </a:r>
          </a:p>
        </p:txBody>
      </p:sp>
      <p:sp>
        <p:nvSpPr>
          <p:cNvPr id="4" name="8">
            <a:extLst xmlns:a="http://schemas.openxmlformats.org/drawingml/2006/main">
              <a:ext uri="{FF2B5EF4-FFF2-40B4-BE49-F238E27FC236}">
                <a16:creationId xmlns:a16="http://schemas.microsoft.com/office/drawing/2014/main" id="{A0DB5544-AAB8-4658-BBB4-5C3B33683BA0}"/>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8</a:t>
            </a:r>
          </a:p>
        </p:txBody>
      </p:sp>
      <p:sp>
        <p:nvSpPr>
          <p:cNvPr id="5" name="Nerin is klein en prijsnemend. De markt kent concurrentie, v">
            <a:extLst xmlns:a="http://schemas.openxmlformats.org/drawingml/2006/main">
              <a:ext uri="{FF2B5EF4-FFF2-40B4-BE49-F238E27FC236}">
                <a16:creationId xmlns:a16="http://schemas.microsoft.com/office/drawing/2014/main" id="{1E07864A-3717-4EE3-917B-D05916448BCE}"/>
              </a:ext>
            </a:extLst>
          </p:cNvPr>
          <p:cNvSpPr>
            <a:spLocks xmlns:a="http://schemas.openxmlformats.org/drawingml/2006/main" noGrp="1"/>
          </p:cNvSpPr>
          <p:nvPr/>
        </p:nvSpPr>
        <p:spPr>
          <a:xfrm xmlns:a="http://schemas.openxmlformats.org/drawingml/2006/main">
            <a:off x="571500" y="1857375"/>
            <a:ext cx="1409700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Nerin is klein en prijsnemend. De markt kent concurrentie, voldoende buitenlandse levering, geen transportkosten en geen effecten op derden. Alle prijzen zijn in euro.</a:t>
            </a:r>
          </a:p>
        </p:txBody>
      </p:sp>
      <p:sp>
        <p:nvSpPr>
          <p:cNvPr id="6" name="De wereldprijs is € 10. Nerin heft € 5 per ingevoerde jas, a">
            <a:extLst xmlns:a="http://schemas.openxmlformats.org/drawingml/2006/main">
              <a:ext uri="{FF2B5EF4-FFF2-40B4-BE49-F238E27FC236}">
                <a16:creationId xmlns:a16="http://schemas.microsoft.com/office/drawing/2014/main" id="{626DB1B7-6880-40B2-B867-B0FC891EB794}"/>
              </a:ext>
            </a:extLst>
          </p:cNvPr>
          <p:cNvSpPr>
            <a:spLocks xmlns:a="http://schemas.openxmlformats.org/drawingml/2006/main" noGrp="1"/>
          </p:cNvSpPr>
          <p:nvPr/>
        </p:nvSpPr>
        <p:spPr>
          <a:xfrm xmlns:a="http://schemas.openxmlformats.org/drawingml/2006/main">
            <a:off x="571500" y="4067175"/>
            <a:ext cx="14097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De wereldprijs is € 10. Nerin heft € 5 per ingevoerde jas, afgedragen door importeurs. Er blijft import.</a:t>
            </a:r>
          </a:p>
        </p:txBody>
      </p:sp>
      <p:sp>
        <p:nvSpPr>
          <p:cNvPr id="7" name="De minister wil binnenlandse productie behouden. Een winkeli">
            <a:extLst xmlns:a="http://schemas.openxmlformats.org/drawingml/2006/main">
              <a:ext uri="{FF2B5EF4-FFF2-40B4-BE49-F238E27FC236}">
                <a16:creationId xmlns:a16="http://schemas.microsoft.com/office/drawing/2014/main" id="{1225F49D-562F-4E15-8CFA-122C4970B8C6}"/>
              </a:ext>
            </a:extLst>
          </p:cNvPr>
          <p:cNvSpPr>
            <a:spLocks xmlns:a="http://schemas.openxmlformats.org/drawingml/2006/main" noGrp="1"/>
          </p:cNvSpPr>
          <p:nvPr/>
        </p:nvSpPr>
        <p:spPr>
          <a:xfrm xmlns:a="http://schemas.openxmlformats.org/drawingml/2006/main">
            <a:off x="571500" y="6086475"/>
            <a:ext cx="14097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De minister wil binnenlandse productie behouden. Een winkelier wijst op duurdere regenkleding voor gezinnen.</a:t>
            </a:r>
          </a:p>
        </p:txBody>
      </p:sp>
    </p:spTree>
    <p:extLst>
      <p:ext uri="{BB962C8B-B14F-4D97-AF65-F5344CB8AC3E}">
        <p14:creationId xmlns:p14="http://schemas.microsoft.com/office/powerpoint/2010/main" val="60412334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35 · De tabel bij bron B">
            <a:extLst xmlns:a="http://schemas.openxmlformats.org/drawingml/2006/main">
              <a:ext uri="{FF2B5EF4-FFF2-40B4-BE49-F238E27FC236}">
                <a16:creationId xmlns:a16="http://schemas.microsoft.com/office/drawing/2014/main" id="{815A7795-7BB9-49D4-BB7B-B39E7F0EDA6B}"/>
              </a:ext>
            </a:extLst>
          </p:cNvPr>
          <p:cNvSpPr>
            <a:spLocks xmlns:a="http://schemas.openxmlformats.org/drawingml/2006/main" noGrp="1"/>
          </p:cNvSpPr>
          <p:nvPr/>
        </p:nvSpPr>
        <p:spPr>
          <a:xfrm xmlns:a="http://schemas.openxmlformats.org/drawingml/2006/main">
            <a:off x="571500" y="400050"/>
            <a:ext cx="1409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35 · De tabel bij bron B</a:t>
            </a:r>
          </a:p>
        </p:txBody>
      </p:sp>
      <p:sp>
        <p:nvSpPr>
          <p:cNvPr id="2" name="">
            <a:extLst xmlns:a="http://schemas.openxmlformats.org/drawingml/2006/main">
              <a:ext uri="{FF2B5EF4-FFF2-40B4-BE49-F238E27FC236}">
                <a16:creationId xmlns:a16="http://schemas.microsoft.com/office/drawing/2014/main" id="{3A1FAF27-8BCA-4301-888C-62E4ED44FB7B}"/>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Opgave 35 · Boekpagina 120">
            <a:extLst xmlns:a="http://schemas.openxmlformats.org/drawingml/2006/main">
              <a:ext uri="{FF2B5EF4-FFF2-40B4-BE49-F238E27FC236}">
                <a16:creationId xmlns:a16="http://schemas.microsoft.com/office/drawing/2014/main" id="{15172D5E-33AB-483C-B404-3007A61C776A}"/>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Opgave 35 · Boekpagina 120</a:t>
            </a:r>
          </a:p>
        </p:txBody>
      </p:sp>
      <p:sp>
        <p:nvSpPr>
          <p:cNvPr id="4" name="9">
            <a:extLst xmlns:a="http://schemas.openxmlformats.org/drawingml/2006/main">
              <a:ext uri="{FF2B5EF4-FFF2-40B4-BE49-F238E27FC236}">
                <a16:creationId xmlns:a16="http://schemas.microsoft.com/office/drawing/2014/main" id="{ACFC0C15-5C91-4274-8FD6-C6E9AB2C4D0C}"/>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9</a:t>
            </a:r>
          </a:p>
        </p:txBody>
      </p:sp>
      <p:graphicFrame>
        <p:nvGraphicFramePr>
          <p:cNvPr id="12" name=""/>
          <p:cNvGraphicFramePr/>
          <p:nvPr/>
        </p:nvGraphicFramePr>
        <p:xfrm>
          <a:off xmlns:a="http://schemas.openxmlformats.org/drawingml/2006/main" x="571500" y="2286000"/>
          <a:ext xmlns:a="http://schemas.openxmlformats.org/drawingml/2006/main" cx="14097000" cy="3095625"/>
        </p:xfrm>
        <a:graphic xmlns:a="http://schemas.openxmlformats.org/drawingml/2006/main">
          <a:graphicData uri="http://schemas.openxmlformats.org/drawingml/2006/table">
            <a:tbl>
              <a:tblPr/>
              <a:tblGrid>
                <a:gridCol w="3619500"/>
                <a:gridCol w="2667000"/>
                <a:gridCol w="3905250"/>
                <a:gridCol w="3905250"/>
              </a:tblGrid>
              <a:tr h="1031875">
                <a:tc>
                  <a:txBody>
                    <a:bodyPr lIns="171450" tIns="95250" rIns="152400" bIns="95250"/>
                    <a:lstStyle/>
                    <a:p>
                      <a:r>
                        <a:rPr sz="2475" b="1">
                          <a:solidFill>
                            <a:srgbClr val="FFFFFF"/>
                          </a:solidFill>
                          <a:latin typeface="Arial"/>
                          <a:ea typeface="Arial"/>
                          <a:cs typeface="Arial"/>
                        </a:rPr>
                        <a:t>Situatie</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Prijs per jas</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Binnenlands verbruik</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Binnenlandse productie</a:t>
                      </a:r>
                    </a:p>
                  </a:txBody>
                  <a:tcPr marL="91440" marR="91440" marT="45720" marB="45720" anchor="ctr">
                    <a:solidFill>
                      <a:srgbClr val="183247"/>
                    </a:solidFill>
                  </a:tcPr>
                </a:tc>
              </a:tr>
              <a:tr h="1031875">
                <a:tc>
                  <a:txBody>
                    <a:bodyPr lIns="171450" tIns="95250" rIns="152400" bIns="95250"/>
                    <a:lstStyle/>
                    <a:p>
                      <a:r>
                        <a:rPr sz="2475" b="0">
                          <a:solidFill>
                            <a:srgbClr val="183247"/>
                          </a:solidFill>
                          <a:latin typeface="Arial"/>
                          <a:ea typeface="Arial"/>
                          <a:cs typeface="Arial"/>
                        </a:rPr>
                        <a:t>Vrije invoer</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€ 10</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120</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40</a:t>
                      </a:r>
                    </a:p>
                  </a:txBody>
                  <a:tcPr marL="91440" marR="91440" marT="45720" marB="45720" anchor="ctr">
                    <a:solidFill>
                      <a:srgbClr val="FFFFFF"/>
                    </a:solidFill>
                  </a:tcPr>
                </a:tc>
              </a:tr>
              <a:tr h="1031875">
                <a:tc>
                  <a:txBody>
                    <a:bodyPr lIns="171450" tIns="95250" rIns="152400" bIns="95250"/>
                    <a:lstStyle/>
                    <a:p>
                      <a:r>
                        <a:rPr sz="2475" b="0">
                          <a:solidFill>
                            <a:srgbClr val="183247"/>
                          </a:solidFill>
                          <a:latin typeface="Arial"/>
                          <a:ea typeface="Arial"/>
                          <a:cs typeface="Arial"/>
                        </a:rPr>
                        <a:t>Met heffing</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€ 15</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100</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60</a:t>
                      </a:r>
                    </a:p>
                  </a:txBody>
                  <a:tcPr marL="91440" marR="91440" marT="45720" marB="45720" anchor="ctr">
                    <a:solidFill>
                      <a:srgbClr val="EFF4F7"/>
                    </a:solidFill>
                  </a:tcPr>
                </a:tc>
              </a:tr>
            </a:tbl>
          </a:graphicData>
        </a:graphic>
      </p:graphicFrame>
      <p:sp>
        <p:nvSpPr>
          <p:cNvPr id="6" name="Alle hoeveelheden zijn regenjassen per week.">
            <a:extLst xmlns:a="http://schemas.openxmlformats.org/drawingml/2006/main">
              <a:ext uri="{FF2B5EF4-FFF2-40B4-BE49-F238E27FC236}">
                <a16:creationId xmlns:a16="http://schemas.microsoft.com/office/drawing/2014/main" id="{B882579C-4FCD-49B4-9797-1DEF72B32DCD}"/>
              </a:ext>
            </a:extLst>
          </p:cNvPr>
          <p:cNvSpPr>
            <a:spLocks xmlns:a="http://schemas.openxmlformats.org/drawingml/2006/main" noGrp="1"/>
          </p:cNvSpPr>
          <p:nvPr/>
        </p:nvSpPr>
        <p:spPr>
          <a:xfrm xmlns:a="http://schemas.openxmlformats.org/drawingml/2006/main">
            <a:off x="571500" y="6048375"/>
            <a:ext cx="14097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83247"/>
                </a:solidFill>
                <a:latin typeface="Arial"/>
                <a:ea typeface="Arial"/>
                <a:cs typeface="Arial"/>
              </a:defRPr>
            </a:pPr>
            <a:r>
              <a:rPr sz="3075" b="1">
                <a:solidFill>
                  <a:srgbClr val="183247"/>
                </a:solidFill>
                <a:latin typeface="Arial"/>
                <a:ea typeface="Arial"/>
                <a:cs typeface="Arial"/>
              </a:rPr>
              <a:t>Alle hoeveelheden zijn regenjassen per week.</a:t>
            </a:r>
          </a:p>
        </p:txBody>
      </p:sp>
      <p:sp>
        <p:nvSpPr>
          <p:cNvPr id="7" name="De grafiek op de volgende dia geeft dezelfde markt weer.">
            <a:extLst xmlns:a="http://schemas.openxmlformats.org/drawingml/2006/main">
              <a:ext uri="{FF2B5EF4-FFF2-40B4-BE49-F238E27FC236}">
                <a16:creationId xmlns:a16="http://schemas.microsoft.com/office/drawing/2014/main" id="{A5F73481-9D95-4C8B-8C86-7DE67621D181}"/>
              </a:ext>
            </a:extLst>
          </p:cNvPr>
          <p:cNvSpPr>
            <a:spLocks xmlns:a="http://schemas.openxmlformats.org/drawingml/2006/main" noGrp="1"/>
          </p:cNvSpPr>
          <p:nvPr/>
        </p:nvSpPr>
        <p:spPr>
          <a:xfrm xmlns:a="http://schemas.openxmlformats.org/drawingml/2006/main">
            <a:off x="571500" y="7105650"/>
            <a:ext cx="1409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De grafiek op de volgende dia geeft dezelfde markt weer.</a:t>
            </a:r>
          </a:p>
        </p:txBody>
      </p:sp>
    </p:spTree>
    <p:extLst>
      <p:ext uri="{BB962C8B-B14F-4D97-AF65-F5344CB8AC3E}">
        <p14:creationId xmlns:p14="http://schemas.microsoft.com/office/powerpoint/2010/main" val="196105690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35 · Figuur 3: regenjassen in Nerin">
            <a:extLst xmlns:a="http://schemas.openxmlformats.org/drawingml/2006/main">
              <a:ext uri="{FF2B5EF4-FFF2-40B4-BE49-F238E27FC236}">
                <a16:creationId xmlns:a16="http://schemas.microsoft.com/office/drawing/2014/main" id="{6EC71290-0CDB-4170-9AFB-BE2411A0534C}"/>
              </a:ext>
            </a:extLst>
          </p:cNvPr>
          <p:cNvSpPr>
            <a:spLocks xmlns:a="http://schemas.openxmlformats.org/drawingml/2006/main" noGrp="1"/>
          </p:cNvSpPr>
          <p:nvPr/>
        </p:nvSpPr>
        <p:spPr>
          <a:xfrm xmlns:a="http://schemas.openxmlformats.org/drawingml/2006/main">
            <a:off x="571500" y="400050"/>
            <a:ext cx="1409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35 · Figuur 3: regenjassen in Nerin</a:t>
            </a:r>
          </a:p>
        </p:txBody>
      </p:sp>
      <p:sp>
        <p:nvSpPr>
          <p:cNvPr id="2" name="">
            <a:extLst xmlns:a="http://schemas.openxmlformats.org/drawingml/2006/main">
              <a:ext uri="{FF2B5EF4-FFF2-40B4-BE49-F238E27FC236}">
                <a16:creationId xmlns:a16="http://schemas.microsoft.com/office/drawing/2014/main" id="{F16EE1BA-79E7-4A7C-B27D-ED24FE683946}"/>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Opgave 35 · Boekpagina 120">
            <a:extLst xmlns:a="http://schemas.openxmlformats.org/drawingml/2006/main">
              <a:ext uri="{FF2B5EF4-FFF2-40B4-BE49-F238E27FC236}">
                <a16:creationId xmlns:a16="http://schemas.microsoft.com/office/drawing/2014/main" id="{A4029E8A-F7DF-471D-B1A4-D386F03ADB37}"/>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Opgave 35 · Boekpagina 120</a:t>
            </a:r>
          </a:p>
        </p:txBody>
      </p:sp>
      <p:sp>
        <p:nvSpPr>
          <p:cNvPr id="4" name="10">
            <a:extLst xmlns:a="http://schemas.openxmlformats.org/drawingml/2006/main">
              <a:ext uri="{FF2B5EF4-FFF2-40B4-BE49-F238E27FC236}">
                <a16:creationId xmlns:a16="http://schemas.microsoft.com/office/drawing/2014/main" id="{53291478-5524-47F4-A067-B8E97E3D3CA1}"/>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10</a:t>
            </a:r>
          </a:p>
        </p:txBody>
      </p:sp>
      <p:graphicFrame>
        <p:nvGraphicFramePr>
          <p:cNvPr id="14" name="Chart"/>
          <p:cNvGraphicFramePr/>
          <p:nvPr/>
        </p:nvGraphicFramePr>
        <p:xfrm>
          <a:off xmlns:a="http://schemas.openxmlformats.org/drawingml/2006/main" x="619125" y="1857375"/>
          <a:ext xmlns:a="http://schemas.openxmlformats.org/drawingml/2006/main" cx="10572750" cy="5810250"/>
        </p:xfrm>
        <a:graphic xmlns:a="http://schemas.openxmlformats.org/drawingml/2006/main">
          <a:graphicData uri="http://schemas.openxmlformats.org/drawingml/2006/chart">
            <c:chart xmlns:r="http://schemas.openxmlformats.org/officeDocument/2006/relationships" xmlns:c="http://schemas.openxmlformats.org/drawingml/2006/chart" r:id="R354ea3de2fc1496c"/>
          </a:graphicData>
        </a:graphic>
      </p:graphicFrame>
      <p:sp>
        <p:nvSpPr>
          <p:cNvPr id="6" name="A">
            <a:extLst xmlns:a="http://schemas.openxmlformats.org/drawingml/2006/main">
              <a:ext uri="{FF2B5EF4-FFF2-40B4-BE49-F238E27FC236}">
                <a16:creationId xmlns:a16="http://schemas.microsoft.com/office/drawing/2014/main" id="{EC37879F-8EFE-4450-979A-E7617BA44004}"/>
              </a:ext>
            </a:extLst>
          </p:cNvPr>
          <p:cNvSpPr>
            <a:spLocks xmlns:a="http://schemas.openxmlformats.org/drawingml/2006/main" noGrp="1"/>
          </p:cNvSpPr>
          <p:nvPr/>
        </p:nvSpPr>
        <p:spPr>
          <a:xfrm xmlns:a="http://schemas.openxmlformats.org/drawingml/2006/main">
            <a:off x="9277350" y="2238375"/>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0665B"/>
                </a:solidFill>
                <a:latin typeface="Arial"/>
                <a:ea typeface="Arial"/>
                <a:cs typeface="Arial"/>
              </a:defRPr>
            </a:pPr>
            <a:r>
              <a:rPr sz="2175" b="1">
                <a:solidFill>
                  <a:srgbClr val="20665B"/>
                </a:solidFill>
                <a:latin typeface="Arial"/>
                <a:ea typeface="Arial"/>
                <a:cs typeface="Arial"/>
              </a:rPr>
              <a:t>A</a:t>
            </a:r>
          </a:p>
        </p:txBody>
      </p:sp>
      <p:sp>
        <p:nvSpPr>
          <p:cNvPr id="7" name="V">
            <a:extLst xmlns:a="http://schemas.openxmlformats.org/drawingml/2006/main">
              <a:ext uri="{FF2B5EF4-FFF2-40B4-BE49-F238E27FC236}">
                <a16:creationId xmlns:a16="http://schemas.microsoft.com/office/drawing/2014/main" id="{EDB00C9E-F696-42FD-982F-42ADB2863FC3}"/>
              </a:ext>
            </a:extLst>
          </p:cNvPr>
          <p:cNvSpPr>
            <a:spLocks xmlns:a="http://schemas.openxmlformats.org/drawingml/2006/main" noGrp="1"/>
          </p:cNvSpPr>
          <p:nvPr/>
        </p:nvSpPr>
        <p:spPr>
          <a:xfrm xmlns:a="http://schemas.openxmlformats.org/drawingml/2006/main">
            <a:off x="9277350" y="5629275"/>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658A"/>
                </a:solidFill>
                <a:latin typeface="Arial"/>
                <a:ea typeface="Arial"/>
                <a:cs typeface="Arial"/>
              </a:defRPr>
            </a:pPr>
            <a:r>
              <a:rPr sz="2175" b="1">
                <a:solidFill>
                  <a:srgbClr val="17658A"/>
                </a:solidFill>
                <a:latin typeface="Arial"/>
                <a:ea typeface="Arial"/>
                <a:cs typeface="Arial"/>
              </a:rPr>
              <a:t>V</a:t>
            </a:r>
          </a:p>
        </p:txBody>
      </p:sp>
      <p:sp>
        <p:nvSpPr>
          <p:cNvPr id="8" name="Pw + t = € 15">
            <a:extLst xmlns:a="http://schemas.openxmlformats.org/drawingml/2006/main">
              <a:ext uri="{FF2B5EF4-FFF2-40B4-BE49-F238E27FC236}">
                <a16:creationId xmlns:a16="http://schemas.microsoft.com/office/drawing/2014/main" id="{AC99A6B8-D3E5-4B42-A02F-A6605973D10D}"/>
              </a:ext>
            </a:extLst>
          </p:cNvPr>
          <p:cNvSpPr>
            <a:spLocks xmlns:a="http://schemas.openxmlformats.org/drawingml/2006/main" noGrp="1"/>
          </p:cNvSpPr>
          <p:nvPr/>
        </p:nvSpPr>
        <p:spPr>
          <a:xfrm xmlns:a="http://schemas.openxmlformats.org/drawingml/2006/main">
            <a:off x="11334750" y="4791075"/>
            <a:ext cx="333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A94D16"/>
                </a:solidFill>
                <a:latin typeface="Arial"/>
                <a:ea typeface="Arial"/>
                <a:cs typeface="Arial"/>
              </a:defRPr>
            </a:pPr>
            <a:r>
              <a:rPr sz="2175" b="1">
                <a:solidFill>
                  <a:srgbClr val="A94D16"/>
                </a:solidFill>
                <a:latin typeface="Arial"/>
                <a:ea typeface="Arial"/>
                <a:cs typeface="Arial"/>
              </a:rPr>
              <a:t>Pw + t = € 15</a:t>
            </a:r>
          </a:p>
        </p:txBody>
      </p:sp>
      <p:sp>
        <p:nvSpPr>
          <p:cNvPr id="9" name="Pw = € 10">
            <a:extLst xmlns:a="http://schemas.openxmlformats.org/drawingml/2006/main">
              <a:ext uri="{FF2B5EF4-FFF2-40B4-BE49-F238E27FC236}">
                <a16:creationId xmlns:a16="http://schemas.microsoft.com/office/drawing/2014/main" id="{73BA4B90-45E3-4266-9F0A-49B33EA1B0F3}"/>
              </a:ext>
            </a:extLst>
          </p:cNvPr>
          <p:cNvSpPr>
            <a:spLocks xmlns:a="http://schemas.openxmlformats.org/drawingml/2006/main" noGrp="1"/>
          </p:cNvSpPr>
          <p:nvPr/>
        </p:nvSpPr>
        <p:spPr>
          <a:xfrm xmlns:a="http://schemas.openxmlformats.org/drawingml/2006/main">
            <a:off x="11334750" y="5391150"/>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445B6B"/>
                </a:solidFill>
                <a:latin typeface="Arial"/>
                <a:ea typeface="Arial"/>
                <a:cs typeface="Arial"/>
              </a:defRPr>
            </a:pPr>
            <a:r>
              <a:rPr sz="2175" b="1">
                <a:solidFill>
                  <a:srgbClr val="445B6B"/>
                </a:solidFill>
                <a:latin typeface="Arial"/>
                <a:ea typeface="Arial"/>
                <a:cs typeface="Arial"/>
              </a:rPr>
              <a:t>Pw = € 10</a:t>
            </a:r>
          </a:p>
        </p:txBody>
      </p:sp>
    </p:spTree>
    <p:extLst>
      <p:ext uri="{BB962C8B-B14F-4D97-AF65-F5344CB8AC3E}">
        <p14:creationId xmlns:p14="http://schemas.microsoft.com/office/powerpoint/2010/main" val="85989139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35 · Bron C: een alternatief">
            <a:extLst xmlns:a="http://schemas.openxmlformats.org/drawingml/2006/main">
              <a:ext uri="{FF2B5EF4-FFF2-40B4-BE49-F238E27FC236}">
                <a16:creationId xmlns:a16="http://schemas.microsoft.com/office/drawing/2014/main" id="{1F83C4F0-8E37-4FB6-B6C5-01A0464452DA}"/>
              </a:ext>
            </a:extLst>
          </p:cNvPr>
          <p:cNvSpPr>
            <a:spLocks xmlns:a="http://schemas.openxmlformats.org/drawingml/2006/main" noGrp="1"/>
          </p:cNvSpPr>
          <p:nvPr/>
        </p:nvSpPr>
        <p:spPr>
          <a:xfrm xmlns:a="http://schemas.openxmlformats.org/drawingml/2006/main">
            <a:off x="571500" y="400050"/>
            <a:ext cx="1409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35 · Bron C: een alternatief</a:t>
            </a:r>
          </a:p>
        </p:txBody>
      </p:sp>
      <p:sp>
        <p:nvSpPr>
          <p:cNvPr id="2" name="">
            <a:extLst xmlns:a="http://schemas.openxmlformats.org/drawingml/2006/main">
              <a:ext uri="{FF2B5EF4-FFF2-40B4-BE49-F238E27FC236}">
                <a16:creationId xmlns:a16="http://schemas.microsoft.com/office/drawing/2014/main" id="{E4623CE0-2B26-48A1-8DE5-8D0193C1F5F5}"/>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Opgave 35 · Boekpagina’s 120–121">
            <a:extLst xmlns:a="http://schemas.openxmlformats.org/drawingml/2006/main">
              <a:ext uri="{FF2B5EF4-FFF2-40B4-BE49-F238E27FC236}">
                <a16:creationId xmlns:a16="http://schemas.microsoft.com/office/drawing/2014/main" id="{A517AEF3-CDD4-4A52-9F77-CD047B468317}"/>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Opgave 35 · Boekpagina’s 120–121</a:t>
            </a:r>
          </a:p>
        </p:txBody>
      </p:sp>
      <p:sp>
        <p:nvSpPr>
          <p:cNvPr id="4" name="11">
            <a:extLst xmlns:a="http://schemas.openxmlformats.org/drawingml/2006/main">
              <a:ext uri="{FF2B5EF4-FFF2-40B4-BE49-F238E27FC236}">
                <a16:creationId xmlns:a16="http://schemas.microsoft.com/office/drawing/2014/main" id="{D5FB3B8F-A523-4E1D-A2B4-E5F03540AAA3}"/>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11</a:t>
            </a:r>
          </a:p>
        </p:txBody>
      </p:sp>
      <p:sp>
        <p:nvSpPr>
          <p:cNvPr id="5" name="Een voorstel wil de invoer begrenzen met een importquotum.">
            <a:extLst xmlns:a="http://schemas.openxmlformats.org/drawingml/2006/main">
              <a:ext uri="{FF2B5EF4-FFF2-40B4-BE49-F238E27FC236}">
                <a16:creationId xmlns:a16="http://schemas.microsoft.com/office/drawing/2014/main" id="{079649B3-B18D-4A45-9769-A01E575A84CB}"/>
              </a:ext>
            </a:extLst>
          </p:cNvPr>
          <p:cNvSpPr>
            <a:spLocks xmlns:a="http://schemas.openxmlformats.org/drawingml/2006/main" noGrp="1"/>
          </p:cNvSpPr>
          <p:nvPr/>
        </p:nvSpPr>
        <p:spPr>
          <a:xfrm xmlns:a="http://schemas.openxmlformats.org/drawingml/2006/main">
            <a:off x="571500" y="2095500"/>
            <a:ext cx="14097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83247"/>
                </a:solidFill>
                <a:latin typeface="Arial"/>
                <a:ea typeface="Arial"/>
                <a:cs typeface="Arial"/>
              </a:defRPr>
            </a:pPr>
            <a:r>
              <a:rPr sz="3375" b="1">
                <a:solidFill>
                  <a:srgbClr val="183247"/>
                </a:solidFill>
                <a:latin typeface="Arial"/>
                <a:ea typeface="Arial"/>
                <a:cs typeface="Arial"/>
              </a:rPr>
              <a:t>Een voorstel wil de invoer begrenzen met een importquotum.</a:t>
            </a:r>
          </a:p>
        </p:txBody>
      </p:sp>
      <p:sp>
        <p:nvSpPr>
          <p:cNvPr id="6" name="De overheid geeft de invoervergunningen gratis weg en heft g">
            <a:extLst xmlns:a="http://schemas.openxmlformats.org/drawingml/2006/main">
              <a:ext uri="{FF2B5EF4-FFF2-40B4-BE49-F238E27FC236}">
                <a16:creationId xmlns:a16="http://schemas.microsoft.com/office/drawing/2014/main" id="{D18C90D6-2586-4781-8A41-870C36335D0A}"/>
              </a:ext>
            </a:extLst>
          </p:cNvPr>
          <p:cNvSpPr>
            <a:spLocks xmlns:a="http://schemas.openxmlformats.org/drawingml/2006/main" noGrp="1"/>
          </p:cNvSpPr>
          <p:nvPr/>
        </p:nvSpPr>
        <p:spPr>
          <a:xfrm xmlns:a="http://schemas.openxmlformats.org/drawingml/2006/main">
            <a:off x="571500" y="3819525"/>
            <a:ext cx="14097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183247"/>
                </a:solidFill>
                <a:latin typeface="Arial"/>
                <a:ea typeface="Arial"/>
                <a:cs typeface="Arial"/>
              </a:defRPr>
            </a:pPr>
            <a:r>
              <a:rPr sz="3300" b="0">
                <a:solidFill>
                  <a:srgbClr val="183247"/>
                </a:solidFill>
                <a:latin typeface="Arial"/>
                <a:ea typeface="Arial"/>
                <a:cs typeface="Arial"/>
              </a:rPr>
              <a:t>De overheid geeft de invoervergunningen gratis weg en heft geen invoerheffing.</a:t>
            </a:r>
          </a:p>
        </p:txBody>
      </p:sp>
      <p:sp>
        <p:nvSpPr>
          <p:cNvPr id="7" name="">
            <a:extLst xmlns:a="http://schemas.openxmlformats.org/drawingml/2006/main">
              <a:ext uri="{FF2B5EF4-FFF2-40B4-BE49-F238E27FC236}">
                <a16:creationId xmlns:a16="http://schemas.microsoft.com/office/drawing/2014/main" id="{FEE52B67-E0B2-4302-8CDF-000E6977BA58}"/>
              </a:ext>
            </a:extLst>
          </p:cNvPr>
          <p:cNvSpPr>
            <a:spLocks xmlns:a="http://schemas.openxmlformats.org/drawingml/2006/main" noGrp="1"/>
          </p:cNvSpPr>
          <p:nvPr/>
        </p:nvSpPr>
        <p:spPr>
          <a:xfrm xmlns:a="http://schemas.openxmlformats.org/drawingml/2006/main">
            <a:off x="571500" y="5715000"/>
            <a:ext cx="14097000" cy="0"/>
          </a:xfrm>
          <a:prstGeom xmlns:a="http://schemas.openxmlformats.org/drawingml/2006/main" prst="line">
            <a:avLst/>
          </a:prstGeom>
          <a:ln xmlns:a="http://schemas.openxmlformats.org/drawingml/2006/main" w="19050">
            <a:solidFill>
              <a:srgbClr val="C6D2DB"/>
            </a:solidFill>
          </a:ln>
        </p:spPr>
      </p:sp>
      <p:sp>
        <p:nvSpPr>
          <p:cNvPr id="8" name="Gebruik de drie bronnen, de tabel en figuur 3 op boekpagina ">
            <a:extLst xmlns:a="http://schemas.openxmlformats.org/drawingml/2006/main">
              <a:ext uri="{FF2B5EF4-FFF2-40B4-BE49-F238E27FC236}">
                <a16:creationId xmlns:a16="http://schemas.microsoft.com/office/drawing/2014/main" id="{01D4C01F-1E45-4D55-9500-509D0D96F922}"/>
              </a:ext>
            </a:extLst>
          </p:cNvPr>
          <p:cNvSpPr>
            <a:spLocks xmlns:a="http://schemas.openxmlformats.org/drawingml/2006/main" noGrp="1"/>
          </p:cNvSpPr>
          <p:nvPr/>
        </p:nvSpPr>
        <p:spPr>
          <a:xfrm xmlns:a="http://schemas.openxmlformats.org/drawingml/2006/main">
            <a:off x="571500" y="6296025"/>
            <a:ext cx="1409700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Gebruik de drie bronnen, de tabel en figuur 3 op boekpagina 120.</a:t>
            </a:r>
          </a:p>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Noteer bij berekeningen de eenheden en bij uitleg het gebruikte brongegeven.</a:t>
            </a:r>
          </a:p>
        </p:txBody>
      </p:sp>
    </p:spTree>
    <p:extLst>
      <p:ext uri="{BB962C8B-B14F-4D97-AF65-F5344CB8AC3E}">
        <p14:creationId xmlns:p14="http://schemas.microsoft.com/office/powerpoint/2010/main" val="85486180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35 · Vragen a en b">
            <a:extLst xmlns:a="http://schemas.openxmlformats.org/drawingml/2006/main">
              <a:ext uri="{FF2B5EF4-FFF2-40B4-BE49-F238E27FC236}">
                <a16:creationId xmlns:a16="http://schemas.microsoft.com/office/drawing/2014/main" id="{59275447-84EB-4F66-9671-4F622EB09EE7}"/>
              </a:ext>
            </a:extLst>
          </p:cNvPr>
          <p:cNvSpPr>
            <a:spLocks xmlns:a="http://schemas.openxmlformats.org/drawingml/2006/main" noGrp="1"/>
          </p:cNvSpPr>
          <p:nvPr/>
        </p:nvSpPr>
        <p:spPr>
          <a:xfrm xmlns:a="http://schemas.openxmlformats.org/drawingml/2006/main">
            <a:off x="571500" y="400050"/>
            <a:ext cx="1409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35 · Vragen a en b</a:t>
            </a:r>
          </a:p>
        </p:txBody>
      </p:sp>
      <p:sp>
        <p:nvSpPr>
          <p:cNvPr id="2" name="">
            <a:extLst xmlns:a="http://schemas.openxmlformats.org/drawingml/2006/main">
              <a:ext uri="{FF2B5EF4-FFF2-40B4-BE49-F238E27FC236}">
                <a16:creationId xmlns:a16="http://schemas.microsoft.com/office/drawing/2014/main" id="{FCEB49CB-E793-46F5-B30B-56E04F5D49B5}"/>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Opgave 35 · Boekpagina 121">
            <a:extLst xmlns:a="http://schemas.openxmlformats.org/drawingml/2006/main">
              <a:ext uri="{FF2B5EF4-FFF2-40B4-BE49-F238E27FC236}">
                <a16:creationId xmlns:a16="http://schemas.microsoft.com/office/drawing/2014/main" id="{C5112730-1C3A-4F87-B0DD-7BDB15D0468A}"/>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Opgave 35 · Boekpagina 121</a:t>
            </a:r>
          </a:p>
        </p:txBody>
      </p:sp>
      <p:sp>
        <p:nvSpPr>
          <p:cNvPr id="4" name="12">
            <a:extLst xmlns:a="http://schemas.openxmlformats.org/drawingml/2006/main">
              <a:ext uri="{FF2B5EF4-FFF2-40B4-BE49-F238E27FC236}">
                <a16:creationId xmlns:a16="http://schemas.microsoft.com/office/drawing/2014/main" id="{B1C18D4E-0BDA-4739-8BD2-723718DC102E}"/>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12</a:t>
            </a:r>
          </a:p>
        </p:txBody>
      </p:sp>
      <p:sp>
        <p:nvSpPr>
          <p:cNvPr id="5" name="a  (3p)">
            <a:extLst xmlns:a="http://schemas.openxmlformats.org/drawingml/2006/main">
              <a:ext uri="{FF2B5EF4-FFF2-40B4-BE49-F238E27FC236}">
                <a16:creationId xmlns:a16="http://schemas.microsoft.com/office/drawing/2014/main" id="{D0122110-2A5C-41CC-BDD6-086BC61C397A}"/>
              </a:ext>
            </a:extLst>
          </p:cNvPr>
          <p:cNvSpPr>
            <a:spLocks xmlns:a="http://schemas.openxmlformats.org/drawingml/2006/main" noGrp="1"/>
          </p:cNvSpPr>
          <p:nvPr/>
        </p:nvSpPr>
        <p:spPr>
          <a:xfrm xmlns:a="http://schemas.openxmlformats.org/drawingml/2006/main">
            <a:off x="571500" y="1905000"/>
            <a:ext cx="1714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a  (3p)</a:t>
            </a:r>
          </a:p>
        </p:txBody>
      </p:sp>
      <p:sp>
        <p:nvSpPr>
          <p:cNvPr id="6" name="Leg met bron A uit waarom Pelta een comparatief voordeel kan">
            <a:extLst xmlns:a="http://schemas.openxmlformats.org/drawingml/2006/main">
              <a:ext uri="{FF2B5EF4-FFF2-40B4-BE49-F238E27FC236}">
                <a16:creationId xmlns:a16="http://schemas.microsoft.com/office/drawing/2014/main" id="{391A1E39-303A-4538-AE93-553CF2E5E19E}"/>
              </a:ext>
            </a:extLst>
          </p:cNvPr>
          <p:cNvSpPr>
            <a:spLocks xmlns:a="http://schemas.openxmlformats.org/drawingml/2006/main" noGrp="1"/>
          </p:cNvSpPr>
          <p:nvPr/>
        </p:nvSpPr>
        <p:spPr>
          <a:xfrm xmlns:a="http://schemas.openxmlformats.org/drawingml/2006/main">
            <a:off x="2476500" y="1905000"/>
            <a:ext cx="11953875"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0">
                <a:solidFill>
                  <a:srgbClr val="183247"/>
                </a:solidFill>
                <a:latin typeface="Arial"/>
                <a:ea typeface="Arial"/>
                <a:cs typeface="Arial"/>
              </a:defRPr>
            </a:pPr>
            <a:r>
              <a:rPr sz="3075" b="0">
                <a:solidFill>
                  <a:srgbClr val="183247"/>
                </a:solidFill>
                <a:latin typeface="Arial"/>
                <a:ea typeface="Arial"/>
                <a:cs typeface="Arial"/>
              </a:rPr>
              <a:t>Leg met bron A uit waarom Pelta een comparatief voordeel kan hebben bij regenjassen, terwijl Nerin bij beide activiteiten een absoluut voordeel heeft.</a:t>
            </a:r>
          </a:p>
        </p:txBody>
      </p:sp>
      <p:sp>
        <p:nvSpPr>
          <p:cNvPr id="7" name="">
            <a:extLst xmlns:a="http://schemas.openxmlformats.org/drawingml/2006/main">
              <a:ext uri="{FF2B5EF4-FFF2-40B4-BE49-F238E27FC236}">
                <a16:creationId xmlns:a16="http://schemas.microsoft.com/office/drawing/2014/main" id="{5736BDAB-EFAF-4FA5-9E34-26A235A7ACB5}"/>
              </a:ext>
            </a:extLst>
          </p:cNvPr>
          <p:cNvSpPr>
            <a:spLocks xmlns:a="http://schemas.openxmlformats.org/drawingml/2006/main" noGrp="1"/>
          </p:cNvSpPr>
          <p:nvPr/>
        </p:nvSpPr>
        <p:spPr>
          <a:xfrm xmlns:a="http://schemas.openxmlformats.org/drawingml/2006/main">
            <a:off x="571500" y="4533900"/>
            <a:ext cx="14097000" cy="0"/>
          </a:xfrm>
          <a:prstGeom xmlns:a="http://schemas.openxmlformats.org/drawingml/2006/main" prst="line">
            <a:avLst/>
          </a:prstGeom>
          <a:ln xmlns:a="http://schemas.openxmlformats.org/drawingml/2006/main" w="19050">
            <a:solidFill>
              <a:srgbClr val="C6D2DB"/>
            </a:solidFill>
          </a:ln>
        </p:spPr>
      </p:sp>
      <p:sp>
        <p:nvSpPr>
          <p:cNvPr id="8" name="b  (3p)">
            <a:extLst xmlns:a="http://schemas.openxmlformats.org/drawingml/2006/main">
              <a:ext uri="{FF2B5EF4-FFF2-40B4-BE49-F238E27FC236}">
                <a16:creationId xmlns:a16="http://schemas.microsoft.com/office/drawing/2014/main" id="{73A31115-CC74-4A22-8EF1-9D67FC25CE65}"/>
              </a:ext>
            </a:extLst>
          </p:cNvPr>
          <p:cNvSpPr>
            <a:spLocks xmlns:a="http://schemas.openxmlformats.org/drawingml/2006/main" noGrp="1"/>
          </p:cNvSpPr>
          <p:nvPr/>
        </p:nvSpPr>
        <p:spPr>
          <a:xfrm xmlns:a="http://schemas.openxmlformats.org/drawingml/2006/main">
            <a:off x="571500" y="5105400"/>
            <a:ext cx="1714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b  (3p)</a:t>
            </a:r>
          </a:p>
        </p:txBody>
      </p:sp>
      <p:sp>
        <p:nvSpPr>
          <p:cNvPr id="9" name="Bereken met bron B de import na de heffing en de heffingsopb">
            <a:extLst xmlns:a="http://schemas.openxmlformats.org/drawingml/2006/main">
              <a:ext uri="{FF2B5EF4-FFF2-40B4-BE49-F238E27FC236}">
                <a16:creationId xmlns:a16="http://schemas.microsoft.com/office/drawing/2014/main" id="{1E28E851-2B13-4A72-AFFD-2E72A9023890}"/>
              </a:ext>
            </a:extLst>
          </p:cNvPr>
          <p:cNvSpPr>
            <a:spLocks xmlns:a="http://schemas.openxmlformats.org/drawingml/2006/main" noGrp="1"/>
          </p:cNvSpPr>
          <p:nvPr/>
        </p:nvSpPr>
        <p:spPr>
          <a:xfrm xmlns:a="http://schemas.openxmlformats.org/drawingml/2006/main">
            <a:off x="2476500" y="5105400"/>
            <a:ext cx="1195387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0">
                <a:solidFill>
                  <a:srgbClr val="183247"/>
                </a:solidFill>
                <a:latin typeface="Arial"/>
                <a:ea typeface="Arial"/>
                <a:cs typeface="Arial"/>
              </a:defRPr>
            </a:pPr>
            <a:r>
              <a:rPr sz="3075" b="0">
                <a:solidFill>
                  <a:srgbClr val="183247"/>
                </a:solidFill>
                <a:latin typeface="Arial"/>
                <a:ea typeface="Arial"/>
                <a:cs typeface="Arial"/>
              </a:rPr>
              <a:t>Bereken met bron B de import na de heffing en de heffingsopbrengst per week.</a:t>
            </a:r>
          </a:p>
        </p:txBody>
      </p:sp>
    </p:spTree>
    <p:extLst>
      <p:ext uri="{BB962C8B-B14F-4D97-AF65-F5344CB8AC3E}">
        <p14:creationId xmlns:p14="http://schemas.microsoft.com/office/powerpoint/2010/main" val="55155283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35 · Vragen c en d">
            <a:extLst xmlns:a="http://schemas.openxmlformats.org/drawingml/2006/main">
              <a:ext uri="{FF2B5EF4-FFF2-40B4-BE49-F238E27FC236}">
                <a16:creationId xmlns:a16="http://schemas.microsoft.com/office/drawing/2014/main" id="{B12D37D6-BDBF-40EF-A815-9F7A259E5B45}"/>
              </a:ext>
            </a:extLst>
          </p:cNvPr>
          <p:cNvSpPr>
            <a:spLocks xmlns:a="http://schemas.openxmlformats.org/drawingml/2006/main" noGrp="1"/>
          </p:cNvSpPr>
          <p:nvPr/>
        </p:nvSpPr>
        <p:spPr>
          <a:xfrm xmlns:a="http://schemas.openxmlformats.org/drawingml/2006/main">
            <a:off x="571500" y="400050"/>
            <a:ext cx="1409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35 · Vragen c en d</a:t>
            </a:r>
          </a:p>
        </p:txBody>
      </p:sp>
      <p:sp>
        <p:nvSpPr>
          <p:cNvPr id="2" name="">
            <a:extLst xmlns:a="http://schemas.openxmlformats.org/drawingml/2006/main">
              <a:ext uri="{FF2B5EF4-FFF2-40B4-BE49-F238E27FC236}">
                <a16:creationId xmlns:a16="http://schemas.microsoft.com/office/drawing/2014/main" id="{7463F15D-843D-4DB4-99CB-B3648FA28B05}"/>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Opgave 35 · Boekpagina 121">
            <a:extLst xmlns:a="http://schemas.openxmlformats.org/drawingml/2006/main">
              <a:ext uri="{FF2B5EF4-FFF2-40B4-BE49-F238E27FC236}">
                <a16:creationId xmlns:a16="http://schemas.microsoft.com/office/drawing/2014/main" id="{C444228B-D04C-4FD6-9A14-12F6B6F3D0ED}"/>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Opgave 35 · Boekpagina 121</a:t>
            </a:r>
          </a:p>
        </p:txBody>
      </p:sp>
      <p:sp>
        <p:nvSpPr>
          <p:cNvPr id="4" name="13">
            <a:extLst xmlns:a="http://schemas.openxmlformats.org/drawingml/2006/main">
              <a:ext uri="{FF2B5EF4-FFF2-40B4-BE49-F238E27FC236}">
                <a16:creationId xmlns:a16="http://schemas.microsoft.com/office/drawing/2014/main" id="{7E4CA6DB-C0C0-483A-A029-2577D2FB8242}"/>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13</a:t>
            </a:r>
          </a:p>
        </p:txBody>
      </p:sp>
      <p:sp>
        <p:nvSpPr>
          <p:cNvPr id="5" name="c  (3p)">
            <a:extLst xmlns:a="http://schemas.openxmlformats.org/drawingml/2006/main">
              <a:ext uri="{FF2B5EF4-FFF2-40B4-BE49-F238E27FC236}">
                <a16:creationId xmlns:a16="http://schemas.microsoft.com/office/drawing/2014/main" id="{5FBF667C-E908-44E2-A634-EE884AD167E9}"/>
              </a:ext>
            </a:extLst>
          </p:cNvPr>
          <p:cNvSpPr>
            <a:spLocks xmlns:a="http://schemas.openxmlformats.org/drawingml/2006/main" noGrp="1"/>
          </p:cNvSpPr>
          <p:nvPr/>
        </p:nvSpPr>
        <p:spPr>
          <a:xfrm xmlns:a="http://schemas.openxmlformats.org/drawingml/2006/main">
            <a:off x="571500" y="1905000"/>
            <a:ext cx="1714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c  (3p)</a:t>
            </a:r>
          </a:p>
        </p:txBody>
      </p:sp>
      <p:sp>
        <p:nvSpPr>
          <p:cNvPr id="6" name="Leg met prijs én hoeveelheid uit wat de maatregel betekent v">
            <a:extLst xmlns:a="http://schemas.openxmlformats.org/drawingml/2006/main">
              <a:ext uri="{FF2B5EF4-FFF2-40B4-BE49-F238E27FC236}">
                <a16:creationId xmlns:a16="http://schemas.microsoft.com/office/drawing/2014/main" id="{9602E51E-0409-40CD-8DF4-306A37566005}"/>
              </a:ext>
            </a:extLst>
          </p:cNvPr>
          <p:cNvSpPr>
            <a:spLocks xmlns:a="http://schemas.openxmlformats.org/drawingml/2006/main" noGrp="1"/>
          </p:cNvSpPr>
          <p:nvPr/>
        </p:nvSpPr>
        <p:spPr>
          <a:xfrm xmlns:a="http://schemas.openxmlformats.org/drawingml/2006/main">
            <a:off x="2476500" y="1905000"/>
            <a:ext cx="11953875"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0">
                <a:solidFill>
                  <a:srgbClr val="183247"/>
                </a:solidFill>
                <a:latin typeface="Arial"/>
                <a:ea typeface="Arial"/>
                <a:cs typeface="Arial"/>
              </a:defRPr>
            </a:pPr>
            <a:r>
              <a:rPr sz="3075" b="0">
                <a:solidFill>
                  <a:srgbClr val="183247"/>
                </a:solidFill>
                <a:latin typeface="Arial"/>
                <a:ea typeface="Arial"/>
                <a:cs typeface="Arial"/>
              </a:rPr>
              <a:t>Leg met prijs én hoeveelheid uit wat de maatregel betekent voor binnenlandse jassenmakers en binnenlandse kopers.</a:t>
            </a:r>
          </a:p>
        </p:txBody>
      </p:sp>
      <p:sp>
        <p:nvSpPr>
          <p:cNvPr id="7" name="">
            <a:extLst xmlns:a="http://schemas.openxmlformats.org/drawingml/2006/main">
              <a:ext uri="{FF2B5EF4-FFF2-40B4-BE49-F238E27FC236}">
                <a16:creationId xmlns:a16="http://schemas.microsoft.com/office/drawing/2014/main" id="{B59D5E5B-CB84-4F79-970F-6A2FA6C47D05}"/>
              </a:ext>
            </a:extLst>
          </p:cNvPr>
          <p:cNvSpPr>
            <a:spLocks xmlns:a="http://schemas.openxmlformats.org/drawingml/2006/main" noGrp="1"/>
          </p:cNvSpPr>
          <p:nvPr/>
        </p:nvSpPr>
        <p:spPr>
          <a:xfrm xmlns:a="http://schemas.openxmlformats.org/drawingml/2006/main">
            <a:off x="571500" y="4476750"/>
            <a:ext cx="14097000" cy="0"/>
          </a:xfrm>
          <a:prstGeom xmlns:a="http://schemas.openxmlformats.org/drawingml/2006/main" prst="line">
            <a:avLst/>
          </a:prstGeom>
          <a:ln xmlns:a="http://schemas.openxmlformats.org/drawingml/2006/main" w="19050">
            <a:solidFill>
              <a:srgbClr val="C6D2DB"/>
            </a:solidFill>
          </a:ln>
        </p:spPr>
      </p:sp>
      <p:sp>
        <p:nvSpPr>
          <p:cNvPr id="8" name="d  (2p)">
            <a:extLst xmlns:a="http://schemas.openxmlformats.org/drawingml/2006/main">
              <a:ext uri="{FF2B5EF4-FFF2-40B4-BE49-F238E27FC236}">
                <a16:creationId xmlns:a16="http://schemas.microsoft.com/office/drawing/2014/main" id="{F11059CE-F189-4A23-978D-2E7C8F26A164}"/>
              </a:ext>
            </a:extLst>
          </p:cNvPr>
          <p:cNvSpPr>
            <a:spLocks xmlns:a="http://schemas.openxmlformats.org/drawingml/2006/main" noGrp="1"/>
          </p:cNvSpPr>
          <p:nvPr/>
        </p:nvSpPr>
        <p:spPr>
          <a:xfrm xmlns:a="http://schemas.openxmlformats.org/drawingml/2006/main">
            <a:off x="571500" y="5095875"/>
            <a:ext cx="1714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d  (2p)</a:t>
            </a:r>
          </a:p>
        </p:txBody>
      </p:sp>
      <p:sp>
        <p:nvSpPr>
          <p:cNvPr id="9" name="Arceer de heffingsopbrengst in figuur 3. Benoem de breedte e">
            <a:extLst xmlns:a="http://schemas.openxmlformats.org/drawingml/2006/main">
              <a:ext uri="{FF2B5EF4-FFF2-40B4-BE49-F238E27FC236}">
                <a16:creationId xmlns:a16="http://schemas.microsoft.com/office/drawing/2014/main" id="{D6534224-B52D-43CF-8E30-355FCB46D583}"/>
              </a:ext>
            </a:extLst>
          </p:cNvPr>
          <p:cNvSpPr>
            <a:spLocks xmlns:a="http://schemas.openxmlformats.org/drawingml/2006/main" noGrp="1"/>
          </p:cNvSpPr>
          <p:nvPr/>
        </p:nvSpPr>
        <p:spPr>
          <a:xfrm xmlns:a="http://schemas.openxmlformats.org/drawingml/2006/main">
            <a:off x="2476500" y="5095875"/>
            <a:ext cx="11953875"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0">
                <a:solidFill>
                  <a:srgbClr val="183247"/>
                </a:solidFill>
                <a:latin typeface="Arial"/>
                <a:ea typeface="Arial"/>
                <a:cs typeface="Arial"/>
              </a:defRPr>
            </a:pPr>
            <a:r>
              <a:rPr sz="3075" b="0">
                <a:solidFill>
                  <a:srgbClr val="183247"/>
                </a:solidFill>
                <a:latin typeface="Arial"/>
                <a:ea typeface="Arial"/>
                <a:cs typeface="Arial"/>
              </a:rPr>
              <a:t>Arceer de heffingsopbrengst in figuur 3. Benoem de breedte en hoogte met hun eenheden.</a:t>
            </a:r>
          </a:p>
        </p:txBody>
      </p:sp>
    </p:spTree>
    <p:extLst>
      <p:ext uri="{BB962C8B-B14F-4D97-AF65-F5344CB8AC3E}">
        <p14:creationId xmlns:p14="http://schemas.microsoft.com/office/powerpoint/2010/main" val="33601869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35 · Vragen e en f">
            <a:extLst xmlns:a="http://schemas.openxmlformats.org/drawingml/2006/main">
              <a:ext uri="{FF2B5EF4-FFF2-40B4-BE49-F238E27FC236}">
                <a16:creationId xmlns:a16="http://schemas.microsoft.com/office/drawing/2014/main" id="{3C815494-432D-4B6B-8969-EF052CEBED41}"/>
              </a:ext>
            </a:extLst>
          </p:cNvPr>
          <p:cNvSpPr>
            <a:spLocks xmlns:a="http://schemas.openxmlformats.org/drawingml/2006/main" noGrp="1"/>
          </p:cNvSpPr>
          <p:nvPr/>
        </p:nvSpPr>
        <p:spPr>
          <a:xfrm xmlns:a="http://schemas.openxmlformats.org/drawingml/2006/main">
            <a:off x="571500" y="400050"/>
            <a:ext cx="1409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35 · Vragen e en f</a:t>
            </a:r>
          </a:p>
        </p:txBody>
      </p:sp>
      <p:sp>
        <p:nvSpPr>
          <p:cNvPr id="2" name="">
            <a:extLst xmlns:a="http://schemas.openxmlformats.org/drawingml/2006/main">
              <a:ext uri="{FF2B5EF4-FFF2-40B4-BE49-F238E27FC236}">
                <a16:creationId xmlns:a16="http://schemas.microsoft.com/office/drawing/2014/main" id="{ADEBFB6B-AFFF-4D12-9134-044A53CDED65}"/>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Opgave 35 · Boekpagina 121">
            <a:extLst xmlns:a="http://schemas.openxmlformats.org/drawingml/2006/main">
              <a:ext uri="{FF2B5EF4-FFF2-40B4-BE49-F238E27FC236}">
                <a16:creationId xmlns:a16="http://schemas.microsoft.com/office/drawing/2014/main" id="{49B551D3-29ED-4C41-A60B-F60F37EB9A72}"/>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Opgave 35 · Boekpagina 121</a:t>
            </a:r>
          </a:p>
        </p:txBody>
      </p:sp>
      <p:sp>
        <p:nvSpPr>
          <p:cNvPr id="4" name="14">
            <a:extLst xmlns:a="http://schemas.openxmlformats.org/drawingml/2006/main">
              <a:ext uri="{FF2B5EF4-FFF2-40B4-BE49-F238E27FC236}">
                <a16:creationId xmlns:a16="http://schemas.microsoft.com/office/drawing/2014/main" id="{0713BD35-6926-4CBF-95C2-C267CD8C6FE9}"/>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14</a:t>
            </a:r>
          </a:p>
        </p:txBody>
      </p:sp>
      <p:sp>
        <p:nvSpPr>
          <p:cNvPr id="5" name="e  (2p)">
            <a:extLst xmlns:a="http://schemas.openxmlformats.org/drawingml/2006/main">
              <a:ext uri="{FF2B5EF4-FFF2-40B4-BE49-F238E27FC236}">
                <a16:creationId xmlns:a16="http://schemas.microsoft.com/office/drawing/2014/main" id="{C7954CD0-5D39-402E-989B-6240D30812E2}"/>
              </a:ext>
            </a:extLst>
          </p:cNvPr>
          <p:cNvSpPr>
            <a:spLocks xmlns:a="http://schemas.openxmlformats.org/drawingml/2006/main" noGrp="1"/>
          </p:cNvSpPr>
          <p:nvPr/>
        </p:nvSpPr>
        <p:spPr>
          <a:xfrm xmlns:a="http://schemas.openxmlformats.org/drawingml/2006/main">
            <a:off x="571500" y="1847850"/>
            <a:ext cx="1714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e  (2p)</a:t>
            </a:r>
          </a:p>
        </p:txBody>
      </p:sp>
      <p:sp>
        <p:nvSpPr>
          <p:cNvPr id="6" name="Waarom mag de overheid bij het quotum uit bron C niet zonder">
            <a:extLst xmlns:a="http://schemas.openxmlformats.org/drawingml/2006/main">
              <a:ext uri="{FF2B5EF4-FFF2-40B4-BE49-F238E27FC236}">
                <a16:creationId xmlns:a16="http://schemas.microsoft.com/office/drawing/2014/main" id="{99B09CF5-2C17-4DE5-9D63-2EAA38DFCC2F}"/>
              </a:ext>
            </a:extLst>
          </p:cNvPr>
          <p:cNvSpPr>
            <a:spLocks xmlns:a="http://schemas.openxmlformats.org/drawingml/2006/main" noGrp="1"/>
          </p:cNvSpPr>
          <p:nvPr/>
        </p:nvSpPr>
        <p:spPr>
          <a:xfrm xmlns:a="http://schemas.openxmlformats.org/drawingml/2006/main">
            <a:off x="2476500" y="1847850"/>
            <a:ext cx="1195387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Waarom mag de overheid bij het quotum uit bron C niet zonder meer dezelfde ontvangsten verwachten?</a:t>
            </a:r>
          </a:p>
        </p:txBody>
      </p:sp>
      <p:sp>
        <p:nvSpPr>
          <p:cNvPr id="7" name="">
            <a:extLst xmlns:a="http://schemas.openxmlformats.org/drawingml/2006/main">
              <a:ext uri="{FF2B5EF4-FFF2-40B4-BE49-F238E27FC236}">
                <a16:creationId xmlns:a16="http://schemas.microsoft.com/office/drawing/2014/main" id="{E02C9B56-B69A-42F3-A914-02D1AF050A1C}"/>
              </a:ext>
            </a:extLst>
          </p:cNvPr>
          <p:cNvSpPr>
            <a:spLocks xmlns:a="http://schemas.openxmlformats.org/drawingml/2006/main" noGrp="1"/>
          </p:cNvSpPr>
          <p:nvPr/>
        </p:nvSpPr>
        <p:spPr>
          <a:xfrm xmlns:a="http://schemas.openxmlformats.org/drawingml/2006/main">
            <a:off x="571500" y="4000500"/>
            <a:ext cx="14097000" cy="0"/>
          </a:xfrm>
          <a:prstGeom xmlns:a="http://schemas.openxmlformats.org/drawingml/2006/main" prst="line">
            <a:avLst/>
          </a:prstGeom>
          <a:ln xmlns:a="http://schemas.openxmlformats.org/drawingml/2006/main" w="19050">
            <a:solidFill>
              <a:srgbClr val="C6D2DB"/>
            </a:solidFill>
          </a:ln>
        </p:spPr>
      </p:sp>
      <p:sp>
        <p:nvSpPr>
          <p:cNvPr id="8" name="f  (3p)">
            <a:extLst xmlns:a="http://schemas.openxmlformats.org/drawingml/2006/main">
              <a:ext uri="{FF2B5EF4-FFF2-40B4-BE49-F238E27FC236}">
                <a16:creationId xmlns:a16="http://schemas.microsoft.com/office/drawing/2014/main" id="{3EF2BBB3-20C6-46AA-AD5D-85CDA7C79B05}"/>
              </a:ext>
            </a:extLst>
          </p:cNvPr>
          <p:cNvSpPr>
            <a:spLocks xmlns:a="http://schemas.openxmlformats.org/drawingml/2006/main" noGrp="1"/>
          </p:cNvSpPr>
          <p:nvPr/>
        </p:nvSpPr>
        <p:spPr>
          <a:xfrm xmlns:a="http://schemas.openxmlformats.org/drawingml/2006/main">
            <a:off x="571500" y="4495800"/>
            <a:ext cx="1714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f  (3p)</a:t>
            </a:r>
          </a:p>
        </p:txBody>
      </p:sp>
      <p:sp>
        <p:nvSpPr>
          <p:cNvPr id="9" name="De minister zegt: “De binnenlandse productie stijgt, dus de ">
            <a:extLst xmlns:a="http://schemas.openxmlformats.org/drawingml/2006/main">
              <a:ext uri="{FF2B5EF4-FFF2-40B4-BE49-F238E27FC236}">
                <a16:creationId xmlns:a16="http://schemas.microsoft.com/office/drawing/2014/main" id="{65A5B6E4-DCFC-4E54-93BB-7B4609A79C31}"/>
              </a:ext>
            </a:extLst>
          </p:cNvPr>
          <p:cNvSpPr>
            <a:spLocks xmlns:a="http://schemas.openxmlformats.org/drawingml/2006/main" noGrp="1"/>
          </p:cNvSpPr>
          <p:nvPr/>
        </p:nvSpPr>
        <p:spPr>
          <a:xfrm xmlns:a="http://schemas.openxmlformats.org/drawingml/2006/main">
            <a:off x="2476500" y="4495800"/>
            <a:ext cx="11953875" cy="2905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De minister zegt: “De binnenlandse productie stijgt, dus de heffing is voor alle inwoners gunstig.” Geef een oordeel met twee concrete gegevens uit de bronnen of tabel. Maak duidelijk welke conclusie wél wordt ondersteund.</a:t>
            </a:r>
          </a:p>
        </p:txBody>
      </p:sp>
    </p:spTree>
    <p:extLst>
      <p:ext uri="{BB962C8B-B14F-4D97-AF65-F5344CB8AC3E}">
        <p14:creationId xmlns:p14="http://schemas.microsoft.com/office/powerpoint/2010/main" val="194921971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35a · Pelta geeft relatief minder machines op">
            <a:extLst xmlns:a="http://schemas.openxmlformats.org/drawingml/2006/main">
              <a:ext uri="{FF2B5EF4-FFF2-40B4-BE49-F238E27FC236}">
                <a16:creationId xmlns:a16="http://schemas.microsoft.com/office/drawing/2014/main" id="{373A9B99-6FCB-40F0-A38C-034339A10CAC}"/>
              </a:ext>
            </a:extLst>
          </p:cNvPr>
          <p:cNvSpPr>
            <a:spLocks xmlns:a="http://schemas.openxmlformats.org/drawingml/2006/main" noGrp="1"/>
          </p:cNvSpPr>
          <p:nvPr/>
        </p:nvSpPr>
        <p:spPr>
          <a:xfrm xmlns:a="http://schemas.openxmlformats.org/drawingml/2006/main">
            <a:off x="571500" y="400050"/>
            <a:ext cx="1409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35a · Pelta geeft relatief minder machines op</a:t>
            </a:r>
          </a:p>
        </p:txBody>
      </p:sp>
      <p:sp>
        <p:nvSpPr>
          <p:cNvPr id="2" name="">
            <a:extLst xmlns:a="http://schemas.openxmlformats.org/drawingml/2006/main">
              <a:ext uri="{FF2B5EF4-FFF2-40B4-BE49-F238E27FC236}">
                <a16:creationId xmlns:a16="http://schemas.microsoft.com/office/drawing/2014/main" id="{13FF25A7-FC3A-4FBF-8E87-E155EC86BE22}"/>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Opgave 35a · Boekpagina’s 120–121">
            <a:extLst xmlns:a="http://schemas.openxmlformats.org/drawingml/2006/main">
              <a:ext uri="{FF2B5EF4-FFF2-40B4-BE49-F238E27FC236}">
                <a16:creationId xmlns:a16="http://schemas.microsoft.com/office/drawing/2014/main" id="{C149A474-DBCD-4D3E-82B0-F00F1CE61D09}"/>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Opgave 35a · Boekpagina’s 120–121</a:t>
            </a:r>
          </a:p>
        </p:txBody>
      </p:sp>
      <p:sp>
        <p:nvSpPr>
          <p:cNvPr id="4" name="15">
            <a:extLst xmlns:a="http://schemas.openxmlformats.org/drawingml/2006/main">
              <a:ext uri="{FF2B5EF4-FFF2-40B4-BE49-F238E27FC236}">
                <a16:creationId xmlns:a16="http://schemas.microsoft.com/office/drawing/2014/main" id="{4A21FF79-D897-4704-9B25-C7FEE6117356}"/>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15</a:t>
            </a:r>
          </a:p>
        </p:txBody>
      </p:sp>
      <p:sp>
        <p:nvSpPr>
          <p:cNvPr id="5" name="Bronfeit">
            <a:extLst xmlns:a="http://schemas.openxmlformats.org/drawingml/2006/main">
              <a:ext uri="{FF2B5EF4-FFF2-40B4-BE49-F238E27FC236}">
                <a16:creationId xmlns:a16="http://schemas.microsoft.com/office/drawing/2014/main" id="{D8C42C96-282E-48D7-AD99-B12CE594823C}"/>
              </a:ext>
            </a:extLst>
          </p:cNvPr>
          <p:cNvSpPr>
            <a:spLocks xmlns:a="http://schemas.openxmlformats.org/drawingml/2006/main" noGrp="1"/>
          </p:cNvSpPr>
          <p:nvPr/>
        </p:nvSpPr>
        <p:spPr>
          <a:xfrm xmlns:a="http://schemas.openxmlformats.org/drawingml/2006/main">
            <a:off x="571500" y="1952625"/>
            <a:ext cx="4381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Bronfeit</a:t>
            </a:r>
          </a:p>
        </p:txBody>
      </p:sp>
      <p:sp>
        <p:nvSpPr>
          <p:cNvPr id="6" name="Pelta geeft voor extra regenjassen&#10;minder machineproductie o">
            <a:extLst xmlns:a="http://schemas.openxmlformats.org/drawingml/2006/main">
              <a:ext uri="{FF2B5EF4-FFF2-40B4-BE49-F238E27FC236}">
                <a16:creationId xmlns:a16="http://schemas.microsoft.com/office/drawing/2014/main" id="{C46B3ABA-59FD-4324-ACE0-27E3C1AFF68D}"/>
              </a:ext>
            </a:extLst>
          </p:cNvPr>
          <p:cNvSpPr>
            <a:spLocks xmlns:a="http://schemas.openxmlformats.org/drawingml/2006/main" noGrp="1"/>
          </p:cNvSpPr>
          <p:nvPr/>
        </p:nvSpPr>
        <p:spPr>
          <a:xfrm xmlns:a="http://schemas.openxmlformats.org/drawingml/2006/main">
            <a:off x="5334000" y="1952625"/>
            <a:ext cx="9334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Pelta geeft voor extra regenjassen</a:t>
            </a:r>
          </a:p>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minder machineproductie op.</a:t>
            </a:r>
          </a:p>
        </p:txBody>
      </p:sp>
      <p:sp>
        <p:nvSpPr>
          <p:cNvPr id="7" name="">
            <a:extLst xmlns:a="http://schemas.openxmlformats.org/drawingml/2006/main">
              <a:ext uri="{FF2B5EF4-FFF2-40B4-BE49-F238E27FC236}">
                <a16:creationId xmlns:a16="http://schemas.microsoft.com/office/drawing/2014/main" id="{4686CFB6-C0CD-41E8-A343-296F21DD5D98}"/>
              </a:ext>
            </a:extLst>
          </p:cNvPr>
          <p:cNvSpPr>
            <a:spLocks xmlns:a="http://schemas.openxmlformats.org/drawingml/2006/main" noGrp="1"/>
          </p:cNvSpPr>
          <p:nvPr/>
        </p:nvSpPr>
        <p:spPr>
          <a:xfrm xmlns:a="http://schemas.openxmlformats.org/drawingml/2006/main">
            <a:off x="571500" y="3333750"/>
            <a:ext cx="14097000" cy="0"/>
          </a:xfrm>
          <a:prstGeom xmlns:a="http://schemas.openxmlformats.org/drawingml/2006/main" prst="line">
            <a:avLst/>
          </a:prstGeom>
          <a:ln xmlns:a="http://schemas.openxmlformats.org/drawingml/2006/main" w="19050">
            <a:solidFill>
              <a:srgbClr val="C6D2DB"/>
            </a:solidFill>
          </a:ln>
        </p:spPr>
      </p:sp>
      <p:sp>
        <p:nvSpPr>
          <p:cNvPr id="8" name="Betekenis">
            <a:extLst xmlns:a="http://schemas.openxmlformats.org/drawingml/2006/main">
              <a:ext uri="{FF2B5EF4-FFF2-40B4-BE49-F238E27FC236}">
                <a16:creationId xmlns:a16="http://schemas.microsoft.com/office/drawing/2014/main" id="{C7781534-D4C2-4F25-9158-154E62672889}"/>
              </a:ext>
            </a:extLst>
          </p:cNvPr>
          <p:cNvSpPr>
            <a:spLocks xmlns:a="http://schemas.openxmlformats.org/drawingml/2006/main" noGrp="1"/>
          </p:cNvSpPr>
          <p:nvPr/>
        </p:nvSpPr>
        <p:spPr>
          <a:xfrm xmlns:a="http://schemas.openxmlformats.org/drawingml/2006/main">
            <a:off x="571500" y="3619500"/>
            <a:ext cx="4381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20665B"/>
                </a:solidFill>
                <a:latin typeface="Arial"/>
                <a:ea typeface="Arial"/>
                <a:cs typeface="Arial"/>
              </a:defRPr>
            </a:pPr>
            <a:r>
              <a:rPr sz="2925" b="1">
                <a:solidFill>
                  <a:srgbClr val="20665B"/>
                </a:solidFill>
                <a:latin typeface="Arial"/>
                <a:ea typeface="Arial"/>
                <a:cs typeface="Arial"/>
              </a:rPr>
              <a:t>Betekenis</a:t>
            </a:r>
          </a:p>
        </p:txBody>
      </p:sp>
      <p:sp>
        <p:nvSpPr>
          <p:cNvPr id="9" name="Pelta heeft lagere alternatieve kosten&#10;van regenjassen.">
            <a:extLst xmlns:a="http://schemas.openxmlformats.org/drawingml/2006/main">
              <a:ext uri="{FF2B5EF4-FFF2-40B4-BE49-F238E27FC236}">
                <a16:creationId xmlns:a16="http://schemas.microsoft.com/office/drawing/2014/main" id="{2256CFDB-9057-4630-AED4-808FB0D19E12}"/>
              </a:ext>
            </a:extLst>
          </p:cNvPr>
          <p:cNvSpPr>
            <a:spLocks xmlns:a="http://schemas.openxmlformats.org/drawingml/2006/main" noGrp="1"/>
          </p:cNvSpPr>
          <p:nvPr/>
        </p:nvSpPr>
        <p:spPr>
          <a:xfrm xmlns:a="http://schemas.openxmlformats.org/drawingml/2006/main">
            <a:off x="5334000" y="3619500"/>
            <a:ext cx="9334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Pelta heeft lagere alternatieve kosten</a:t>
            </a:r>
          </a:p>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van regenjassen.</a:t>
            </a:r>
          </a:p>
        </p:txBody>
      </p:sp>
      <p:sp>
        <p:nvSpPr>
          <p:cNvPr id="10" name="">
            <a:extLst xmlns:a="http://schemas.openxmlformats.org/drawingml/2006/main">
              <a:ext uri="{FF2B5EF4-FFF2-40B4-BE49-F238E27FC236}">
                <a16:creationId xmlns:a16="http://schemas.microsoft.com/office/drawing/2014/main" id="{A111778E-7914-4CE2-94C1-FB0BFD9902ED}"/>
              </a:ext>
            </a:extLst>
          </p:cNvPr>
          <p:cNvSpPr>
            <a:spLocks xmlns:a="http://schemas.openxmlformats.org/drawingml/2006/main" noGrp="1"/>
          </p:cNvSpPr>
          <p:nvPr/>
        </p:nvSpPr>
        <p:spPr>
          <a:xfrm xmlns:a="http://schemas.openxmlformats.org/drawingml/2006/main">
            <a:off x="571500" y="5000625"/>
            <a:ext cx="14097000" cy="0"/>
          </a:xfrm>
          <a:prstGeom xmlns:a="http://schemas.openxmlformats.org/drawingml/2006/main" prst="line">
            <a:avLst/>
          </a:prstGeom>
          <a:ln xmlns:a="http://schemas.openxmlformats.org/drawingml/2006/main" w="19050">
            <a:solidFill>
              <a:srgbClr val="C6D2DB"/>
            </a:solidFill>
          </a:ln>
        </p:spPr>
      </p:sp>
      <p:sp>
        <p:nvSpPr>
          <p:cNvPr id="11" name="Conclusie">
            <a:extLst xmlns:a="http://schemas.openxmlformats.org/drawingml/2006/main">
              <a:ext uri="{FF2B5EF4-FFF2-40B4-BE49-F238E27FC236}">
                <a16:creationId xmlns:a16="http://schemas.microsoft.com/office/drawing/2014/main" id="{D8A34645-4FAA-4654-9330-78B39A150B3E}"/>
              </a:ext>
            </a:extLst>
          </p:cNvPr>
          <p:cNvSpPr>
            <a:spLocks xmlns:a="http://schemas.openxmlformats.org/drawingml/2006/main" noGrp="1"/>
          </p:cNvSpPr>
          <p:nvPr/>
        </p:nvSpPr>
        <p:spPr>
          <a:xfrm xmlns:a="http://schemas.openxmlformats.org/drawingml/2006/main">
            <a:off x="571500" y="5286375"/>
            <a:ext cx="4381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A94D16"/>
                </a:solidFill>
                <a:latin typeface="Arial"/>
                <a:ea typeface="Arial"/>
                <a:cs typeface="Arial"/>
              </a:defRPr>
            </a:pPr>
            <a:r>
              <a:rPr sz="2925" b="1">
                <a:solidFill>
                  <a:srgbClr val="A94D16"/>
                </a:solidFill>
                <a:latin typeface="Arial"/>
                <a:ea typeface="Arial"/>
                <a:cs typeface="Arial"/>
              </a:rPr>
              <a:t>Conclusie</a:t>
            </a:r>
          </a:p>
        </p:txBody>
      </p:sp>
      <p:sp>
        <p:nvSpPr>
          <p:cNvPr id="12" name="Pelta heeft een comparatief voordeel&#10;bij regenjassen.">
            <a:extLst xmlns:a="http://schemas.openxmlformats.org/drawingml/2006/main">
              <a:ext uri="{FF2B5EF4-FFF2-40B4-BE49-F238E27FC236}">
                <a16:creationId xmlns:a16="http://schemas.microsoft.com/office/drawing/2014/main" id="{4692D677-F3AD-4DC7-92C4-3EF36DBEE04A}"/>
              </a:ext>
            </a:extLst>
          </p:cNvPr>
          <p:cNvSpPr>
            <a:spLocks xmlns:a="http://schemas.openxmlformats.org/drawingml/2006/main" noGrp="1"/>
          </p:cNvSpPr>
          <p:nvPr/>
        </p:nvSpPr>
        <p:spPr>
          <a:xfrm xmlns:a="http://schemas.openxmlformats.org/drawingml/2006/main">
            <a:off x="5334000" y="5286375"/>
            <a:ext cx="9334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Pelta heeft een comparatief voordeel</a:t>
            </a:r>
          </a:p>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bij regenjassen.</a:t>
            </a:r>
          </a:p>
        </p:txBody>
      </p:sp>
      <p:sp>
        <p:nvSpPr>
          <p:cNvPr id="13" name="Nerin gebruikt voor beide producten absoluut minder middelen">
            <a:extLst xmlns:a="http://schemas.openxmlformats.org/drawingml/2006/main">
              <a:ext uri="{FF2B5EF4-FFF2-40B4-BE49-F238E27FC236}">
                <a16:creationId xmlns:a16="http://schemas.microsoft.com/office/drawing/2014/main" id="{C144A753-5AA7-44B6-8B5F-A4535BE9EB83}"/>
              </a:ext>
            </a:extLst>
          </p:cNvPr>
          <p:cNvSpPr>
            <a:spLocks xmlns:a="http://schemas.openxmlformats.org/drawingml/2006/main" noGrp="1"/>
          </p:cNvSpPr>
          <p:nvPr/>
        </p:nvSpPr>
        <p:spPr>
          <a:xfrm xmlns:a="http://schemas.openxmlformats.org/drawingml/2006/main">
            <a:off x="571500" y="7286625"/>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445B6B"/>
                </a:solidFill>
                <a:latin typeface="Arial"/>
                <a:ea typeface="Arial"/>
                <a:cs typeface="Arial"/>
              </a:defRPr>
            </a:pPr>
            <a:r>
              <a:rPr sz="2550" b="1">
                <a:solidFill>
                  <a:srgbClr val="445B6B"/>
                </a:solidFill>
                <a:latin typeface="Arial"/>
                <a:ea typeface="Arial"/>
                <a:cs typeface="Arial"/>
              </a:rPr>
              <a:t>Nerin gebruikt voor beide producten absoluut minder middelen.</a:t>
            </a:r>
          </a:p>
        </p:txBody>
      </p:sp>
    </p:spTree>
    <p:extLst>
      <p:ext uri="{BB962C8B-B14F-4D97-AF65-F5344CB8AC3E}">
        <p14:creationId xmlns:p14="http://schemas.microsoft.com/office/powerpoint/2010/main" val="42759371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35b · Eerst import, dan heffingsopbrengst">
            <a:extLst xmlns:a="http://schemas.openxmlformats.org/drawingml/2006/main">
              <a:ext uri="{FF2B5EF4-FFF2-40B4-BE49-F238E27FC236}">
                <a16:creationId xmlns:a16="http://schemas.microsoft.com/office/drawing/2014/main" id="{32710030-6D7E-4947-97EA-433900252B7E}"/>
              </a:ext>
            </a:extLst>
          </p:cNvPr>
          <p:cNvSpPr>
            <a:spLocks xmlns:a="http://schemas.openxmlformats.org/drawingml/2006/main" noGrp="1"/>
          </p:cNvSpPr>
          <p:nvPr/>
        </p:nvSpPr>
        <p:spPr>
          <a:xfrm xmlns:a="http://schemas.openxmlformats.org/drawingml/2006/main">
            <a:off x="571500" y="400050"/>
            <a:ext cx="1409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35b · Eerst import, dan heffingsopbrengst</a:t>
            </a:r>
          </a:p>
        </p:txBody>
      </p:sp>
      <p:sp>
        <p:nvSpPr>
          <p:cNvPr id="2" name="">
            <a:extLst xmlns:a="http://schemas.openxmlformats.org/drawingml/2006/main">
              <a:ext uri="{FF2B5EF4-FFF2-40B4-BE49-F238E27FC236}">
                <a16:creationId xmlns:a16="http://schemas.microsoft.com/office/drawing/2014/main" id="{9B6DA676-9CF2-4522-AB44-E7BDB1858B46}"/>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Opgave 35b · Boekpagina’s 120–121">
            <a:extLst xmlns:a="http://schemas.openxmlformats.org/drawingml/2006/main">
              <a:ext uri="{FF2B5EF4-FFF2-40B4-BE49-F238E27FC236}">
                <a16:creationId xmlns:a16="http://schemas.microsoft.com/office/drawing/2014/main" id="{07476F6C-46C2-45D2-B4FC-184C22D6C025}"/>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Opgave 35b · Boekpagina’s 120–121</a:t>
            </a:r>
          </a:p>
        </p:txBody>
      </p:sp>
      <p:sp>
        <p:nvSpPr>
          <p:cNvPr id="4" name="16">
            <a:extLst xmlns:a="http://schemas.openxmlformats.org/drawingml/2006/main">
              <a:ext uri="{FF2B5EF4-FFF2-40B4-BE49-F238E27FC236}">
                <a16:creationId xmlns:a16="http://schemas.microsoft.com/office/drawing/2014/main" id="{FC3925CF-8722-4DEC-9244-A7839D011B3F}"/>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16</a:t>
            </a:r>
          </a:p>
        </p:txBody>
      </p:sp>
      <p:sp>
        <p:nvSpPr>
          <p:cNvPr id="5" name="Na de heffing: verbruik 100, productie 60 jassen per week">
            <a:extLst xmlns:a="http://schemas.openxmlformats.org/drawingml/2006/main">
              <a:ext uri="{FF2B5EF4-FFF2-40B4-BE49-F238E27FC236}">
                <a16:creationId xmlns:a16="http://schemas.microsoft.com/office/drawing/2014/main" id="{CC698C65-08C3-4B7F-881C-178EFD0962E3}"/>
              </a:ext>
            </a:extLst>
          </p:cNvPr>
          <p:cNvSpPr>
            <a:spLocks xmlns:a="http://schemas.openxmlformats.org/drawingml/2006/main" noGrp="1"/>
          </p:cNvSpPr>
          <p:nvPr/>
        </p:nvSpPr>
        <p:spPr>
          <a:xfrm xmlns:a="http://schemas.openxmlformats.org/drawingml/2006/main">
            <a:off x="571500" y="1895475"/>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7658A"/>
                </a:solidFill>
                <a:latin typeface="Arial"/>
                <a:ea typeface="Arial"/>
                <a:cs typeface="Arial"/>
              </a:defRPr>
            </a:pPr>
            <a:r>
              <a:rPr sz="2775" b="1">
                <a:solidFill>
                  <a:srgbClr val="17658A"/>
                </a:solidFill>
                <a:latin typeface="Arial"/>
                <a:ea typeface="Arial"/>
                <a:cs typeface="Arial"/>
              </a:rPr>
              <a:t>Na de heffing: verbruik 100, productie 60 jassen per week</a:t>
            </a:r>
          </a:p>
        </p:txBody>
      </p:sp>
      <p:sp>
        <p:nvSpPr>
          <p:cNvPr id="6" name="Import = Qv − Qa">
            <a:extLst xmlns:a="http://schemas.openxmlformats.org/drawingml/2006/main">
              <a:ext uri="{FF2B5EF4-FFF2-40B4-BE49-F238E27FC236}">
                <a16:creationId xmlns:a16="http://schemas.microsoft.com/office/drawing/2014/main" id="{E40A648C-E26C-454D-B9F8-70F5B98A9F53}"/>
              </a:ext>
            </a:extLst>
          </p:cNvPr>
          <p:cNvSpPr>
            <a:spLocks xmlns:a="http://schemas.openxmlformats.org/drawingml/2006/main" noGrp="1"/>
          </p:cNvSpPr>
          <p:nvPr/>
        </p:nvSpPr>
        <p:spPr>
          <a:xfrm xmlns:a="http://schemas.openxmlformats.org/drawingml/2006/main">
            <a:off x="571500" y="3105150"/>
            <a:ext cx="1409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3247"/>
                </a:solidFill>
                <a:latin typeface="Arial"/>
                <a:ea typeface="Arial"/>
                <a:cs typeface="Arial"/>
              </a:defRPr>
            </a:pPr>
            <a:r>
              <a:rPr sz="3450" b="1">
                <a:solidFill>
                  <a:srgbClr val="183247"/>
                </a:solidFill>
                <a:latin typeface="Arial"/>
                <a:ea typeface="Arial"/>
                <a:cs typeface="Arial"/>
              </a:rPr>
              <a:t>Import = Qv − Qa</a:t>
            </a:r>
          </a:p>
        </p:txBody>
      </p:sp>
      <p:sp>
        <p:nvSpPr>
          <p:cNvPr id="7" name="100 − 60 = 40 jassen per week">
            <a:extLst xmlns:a="http://schemas.openxmlformats.org/drawingml/2006/main">
              <a:ext uri="{FF2B5EF4-FFF2-40B4-BE49-F238E27FC236}">
                <a16:creationId xmlns:a16="http://schemas.microsoft.com/office/drawing/2014/main" id="{F954CA33-BEE6-4E96-812A-8639B53856FC}"/>
              </a:ext>
            </a:extLst>
          </p:cNvPr>
          <p:cNvSpPr>
            <a:spLocks xmlns:a="http://schemas.openxmlformats.org/drawingml/2006/main" noGrp="1"/>
          </p:cNvSpPr>
          <p:nvPr/>
        </p:nvSpPr>
        <p:spPr>
          <a:xfrm xmlns:a="http://schemas.openxmlformats.org/drawingml/2006/main">
            <a:off x="571500" y="3943350"/>
            <a:ext cx="1409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20665B"/>
                </a:solidFill>
                <a:latin typeface="Arial"/>
                <a:ea typeface="Arial"/>
                <a:cs typeface="Arial"/>
              </a:defRPr>
            </a:pPr>
            <a:r>
              <a:rPr sz="3675" b="1">
                <a:solidFill>
                  <a:srgbClr val="20665B"/>
                </a:solidFill>
                <a:latin typeface="Arial"/>
                <a:ea typeface="Arial"/>
                <a:cs typeface="Arial"/>
              </a:rPr>
              <a:t>100 − 60 = 40 jassen per week</a:t>
            </a:r>
          </a:p>
        </p:txBody>
      </p:sp>
      <p:sp>
        <p:nvSpPr>
          <p:cNvPr id="8" name="">
            <a:extLst xmlns:a="http://schemas.openxmlformats.org/drawingml/2006/main">
              <a:ext uri="{FF2B5EF4-FFF2-40B4-BE49-F238E27FC236}">
                <a16:creationId xmlns:a16="http://schemas.microsoft.com/office/drawing/2014/main" id="{4BE087EB-5082-4830-961C-24FF27C724B5}"/>
              </a:ext>
            </a:extLst>
          </p:cNvPr>
          <p:cNvSpPr>
            <a:spLocks xmlns:a="http://schemas.openxmlformats.org/drawingml/2006/main" noGrp="1"/>
          </p:cNvSpPr>
          <p:nvPr/>
        </p:nvSpPr>
        <p:spPr>
          <a:xfrm xmlns:a="http://schemas.openxmlformats.org/drawingml/2006/main">
            <a:off x="571500" y="4933950"/>
            <a:ext cx="14097000" cy="0"/>
          </a:xfrm>
          <a:prstGeom xmlns:a="http://schemas.openxmlformats.org/drawingml/2006/main" prst="line">
            <a:avLst/>
          </a:prstGeom>
          <a:ln xmlns:a="http://schemas.openxmlformats.org/drawingml/2006/main" w="19050">
            <a:solidFill>
              <a:srgbClr val="C6D2DB"/>
            </a:solidFill>
          </a:ln>
        </p:spPr>
      </p:sp>
      <p:sp>
        <p:nvSpPr>
          <p:cNvPr id="9" name="Heffingsopbrengst = heffing per jas × import">
            <a:extLst xmlns:a="http://schemas.openxmlformats.org/drawingml/2006/main">
              <a:ext uri="{FF2B5EF4-FFF2-40B4-BE49-F238E27FC236}">
                <a16:creationId xmlns:a16="http://schemas.microsoft.com/office/drawing/2014/main" id="{C532BA39-FFFD-4B5B-B858-BD3A3B877CCF}"/>
              </a:ext>
            </a:extLst>
          </p:cNvPr>
          <p:cNvSpPr>
            <a:spLocks xmlns:a="http://schemas.openxmlformats.org/drawingml/2006/main" noGrp="1"/>
          </p:cNvSpPr>
          <p:nvPr/>
        </p:nvSpPr>
        <p:spPr>
          <a:xfrm xmlns:a="http://schemas.openxmlformats.org/drawingml/2006/main">
            <a:off x="571500" y="5334000"/>
            <a:ext cx="1409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Heffingsopbrengst = heffing per jas × import</a:t>
            </a:r>
          </a:p>
        </p:txBody>
      </p:sp>
      <p:sp>
        <p:nvSpPr>
          <p:cNvPr id="10" name="€ 5 per jas × 40 jassen per week = € 200 per week">
            <a:extLst xmlns:a="http://schemas.openxmlformats.org/drawingml/2006/main">
              <a:ext uri="{FF2B5EF4-FFF2-40B4-BE49-F238E27FC236}">
                <a16:creationId xmlns:a16="http://schemas.microsoft.com/office/drawing/2014/main" id="{B019E42D-4F7B-4B7D-BD81-BB13DD06280B}"/>
              </a:ext>
            </a:extLst>
          </p:cNvPr>
          <p:cNvSpPr>
            <a:spLocks xmlns:a="http://schemas.openxmlformats.org/drawingml/2006/main" noGrp="1"/>
          </p:cNvSpPr>
          <p:nvPr/>
        </p:nvSpPr>
        <p:spPr>
          <a:xfrm xmlns:a="http://schemas.openxmlformats.org/drawingml/2006/main">
            <a:off x="571500" y="6172200"/>
            <a:ext cx="1409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A94D16"/>
                </a:solidFill>
                <a:latin typeface="Arial"/>
                <a:ea typeface="Arial"/>
                <a:cs typeface="Arial"/>
              </a:defRPr>
            </a:pPr>
            <a:r>
              <a:rPr sz="3225" b="1">
                <a:solidFill>
                  <a:srgbClr val="A94D16"/>
                </a:solidFill>
                <a:latin typeface="Arial"/>
                <a:ea typeface="Arial"/>
                <a:cs typeface="Arial"/>
              </a:rPr>
              <a:t>€ 5 per jas × 40 jassen per week = € 200 per week</a:t>
            </a:r>
          </a:p>
        </p:txBody>
      </p:sp>
      <p:sp>
        <p:nvSpPr>
          <p:cNvPr id="11" name="Controle: 60 + 40 = 100 jassen per week">
            <a:extLst xmlns:a="http://schemas.openxmlformats.org/drawingml/2006/main">
              <a:ext uri="{FF2B5EF4-FFF2-40B4-BE49-F238E27FC236}">
                <a16:creationId xmlns:a16="http://schemas.microsoft.com/office/drawing/2014/main" id="{185E4DBE-8BEE-446C-BA0C-A32E4D25ADEA}"/>
              </a:ext>
            </a:extLst>
          </p:cNvPr>
          <p:cNvSpPr>
            <a:spLocks xmlns:a="http://schemas.openxmlformats.org/drawingml/2006/main" noGrp="1"/>
          </p:cNvSpPr>
          <p:nvPr/>
        </p:nvSpPr>
        <p:spPr>
          <a:xfrm xmlns:a="http://schemas.openxmlformats.org/drawingml/2006/main">
            <a:off x="571500" y="7334250"/>
            <a:ext cx="1409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Controle: 60 + 40 = 100 jassen per week</a:t>
            </a:r>
          </a:p>
        </p:txBody>
      </p:sp>
    </p:spTree>
    <p:extLst>
      <p:ext uri="{BB962C8B-B14F-4D97-AF65-F5344CB8AC3E}">
        <p14:creationId xmlns:p14="http://schemas.microsoft.com/office/powerpoint/2010/main" val="104181435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35c · Dezelfde prijsstijging, andere gevolgen">
            <a:extLst xmlns:a="http://schemas.openxmlformats.org/drawingml/2006/main">
              <a:ext uri="{FF2B5EF4-FFF2-40B4-BE49-F238E27FC236}">
                <a16:creationId xmlns:a16="http://schemas.microsoft.com/office/drawing/2014/main" id="{9110E5C4-D878-498D-8559-5381F7449B99}"/>
              </a:ext>
            </a:extLst>
          </p:cNvPr>
          <p:cNvSpPr>
            <a:spLocks xmlns:a="http://schemas.openxmlformats.org/drawingml/2006/main" noGrp="1"/>
          </p:cNvSpPr>
          <p:nvPr/>
        </p:nvSpPr>
        <p:spPr>
          <a:xfrm xmlns:a="http://schemas.openxmlformats.org/drawingml/2006/main">
            <a:off x="571500" y="400050"/>
            <a:ext cx="1409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35c · Dezelfde prijsstijging, andere gevolgen</a:t>
            </a:r>
          </a:p>
        </p:txBody>
      </p:sp>
      <p:sp>
        <p:nvSpPr>
          <p:cNvPr id="2" name="">
            <a:extLst xmlns:a="http://schemas.openxmlformats.org/drawingml/2006/main">
              <a:ext uri="{FF2B5EF4-FFF2-40B4-BE49-F238E27FC236}">
                <a16:creationId xmlns:a16="http://schemas.microsoft.com/office/drawing/2014/main" id="{BF371DF5-1ABF-4DED-9909-0E94B13DA55F}"/>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Opgave 35c · Boekpagina’s 120–121">
            <a:extLst xmlns:a="http://schemas.openxmlformats.org/drawingml/2006/main">
              <a:ext uri="{FF2B5EF4-FFF2-40B4-BE49-F238E27FC236}">
                <a16:creationId xmlns:a16="http://schemas.microsoft.com/office/drawing/2014/main" id="{ED981FB8-C1E6-41AC-930F-F915FF242B13}"/>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Opgave 35c · Boekpagina’s 120–121</a:t>
            </a:r>
          </a:p>
        </p:txBody>
      </p:sp>
      <p:sp>
        <p:nvSpPr>
          <p:cNvPr id="4" name="17">
            <a:extLst xmlns:a="http://schemas.openxmlformats.org/drawingml/2006/main">
              <a:ext uri="{FF2B5EF4-FFF2-40B4-BE49-F238E27FC236}">
                <a16:creationId xmlns:a16="http://schemas.microsoft.com/office/drawing/2014/main" id="{187B911C-125C-47D4-9FDE-D559532168C4}"/>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17</a:t>
            </a:r>
          </a:p>
        </p:txBody>
      </p:sp>
      <p:graphicFrame>
        <p:nvGraphicFramePr>
          <p:cNvPr id="12" name=""/>
          <p:cNvGraphicFramePr/>
          <p:nvPr/>
        </p:nvGraphicFramePr>
        <p:xfrm>
          <a:off xmlns:a="http://schemas.openxmlformats.org/drawingml/2006/main" x="571500" y="2247900"/>
          <a:ext xmlns:a="http://schemas.openxmlformats.org/drawingml/2006/main" cx="14097000" cy="3333750"/>
        </p:xfrm>
        <a:graphic xmlns:a="http://schemas.openxmlformats.org/drawingml/2006/main">
          <a:graphicData uri="http://schemas.openxmlformats.org/drawingml/2006/table">
            <a:tbl>
              <a:tblPr/>
              <a:tblGrid>
                <a:gridCol w="4191000"/>
                <a:gridCol w="4953000"/>
                <a:gridCol w="4953000"/>
              </a:tblGrid>
              <a:tr h="1111250">
                <a:tc>
                  <a:txBody>
                    <a:bodyPr lIns="171450" tIns="95250" rIns="152400" bIns="95250"/>
                    <a:lstStyle/>
                    <a:p>
                      <a:r>
                        <a:rPr sz="2475" b="1">
                          <a:solidFill>
                            <a:srgbClr val="FFFFFF"/>
                          </a:solidFill>
                          <a:latin typeface="Arial"/>
                          <a:ea typeface="Arial"/>
                          <a:cs typeface="Arial"/>
                        </a:rPr>
                        <a:t>Groep in Nerin</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Prijs per jas</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Hoeveelheid per week</a:t>
                      </a:r>
                    </a:p>
                  </a:txBody>
                  <a:tcPr marL="91440" marR="91440" marT="45720" marB="45720" anchor="ctr">
                    <a:solidFill>
                      <a:srgbClr val="183247"/>
                    </a:solidFill>
                  </a:tcPr>
                </a:tc>
              </a:tr>
              <a:tr h="1111250">
                <a:tc>
                  <a:txBody>
                    <a:bodyPr lIns="171450" tIns="95250" rIns="152400" bIns="95250"/>
                    <a:lstStyle/>
                    <a:p>
                      <a:r>
                        <a:rPr sz="2475" b="0">
                          <a:solidFill>
                            <a:srgbClr val="183247"/>
                          </a:solidFill>
                          <a:latin typeface="Arial"/>
                          <a:ea typeface="Arial"/>
                          <a:cs typeface="Arial"/>
                        </a:rPr>
                        <a:t>Jassenmakers</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Ontvangen € 10 wordt € 15</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Productie: 40 wordt 60</a:t>
                      </a:r>
                    </a:p>
                  </a:txBody>
                  <a:tcPr marL="91440" marR="91440" marT="45720" marB="45720" anchor="ctr">
                    <a:solidFill>
                      <a:srgbClr val="FFFFFF"/>
                    </a:solidFill>
                  </a:tcPr>
                </a:tc>
              </a:tr>
              <a:tr h="1111250">
                <a:tc>
                  <a:txBody>
                    <a:bodyPr lIns="171450" tIns="95250" rIns="152400" bIns="95250"/>
                    <a:lstStyle/>
                    <a:p>
                      <a:r>
                        <a:rPr sz="2475" b="0">
                          <a:solidFill>
                            <a:srgbClr val="183247"/>
                          </a:solidFill>
                          <a:latin typeface="Arial"/>
                          <a:ea typeface="Arial"/>
                          <a:cs typeface="Arial"/>
                        </a:rPr>
                        <a:t>Kopers</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Betalen € 10 wordt € 15</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Verbruik: 120 wordt 100</a:t>
                      </a:r>
                    </a:p>
                  </a:txBody>
                  <a:tcPr marL="91440" marR="91440" marT="45720" marB="45720" anchor="ctr">
                    <a:solidFill>
                      <a:srgbClr val="EFF4F7"/>
                    </a:solidFill>
                  </a:tcPr>
                </a:tc>
              </a:tr>
            </a:tbl>
          </a:graphicData>
        </a:graphic>
      </p:graphicFrame>
      <p:sp>
        <p:nvSpPr>
          <p:cNvPr id="6" name="Jassenmakers ontvangen meer per jas en produceren meer.">
            <a:extLst xmlns:a="http://schemas.openxmlformats.org/drawingml/2006/main">
              <a:ext uri="{FF2B5EF4-FFF2-40B4-BE49-F238E27FC236}">
                <a16:creationId xmlns:a16="http://schemas.microsoft.com/office/drawing/2014/main" id="{3D0F1891-F934-49BE-9DE7-30CF22147FAD}"/>
              </a:ext>
            </a:extLst>
          </p:cNvPr>
          <p:cNvSpPr>
            <a:spLocks xmlns:a="http://schemas.openxmlformats.org/drawingml/2006/main" noGrp="1"/>
          </p:cNvSpPr>
          <p:nvPr/>
        </p:nvSpPr>
        <p:spPr>
          <a:xfrm xmlns:a="http://schemas.openxmlformats.org/drawingml/2006/main">
            <a:off x="571500" y="6200775"/>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20665B"/>
                </a:solidFill>
                <a:latin typeface="Arial"/>
                <a:ea typeface="Arial"/>
                <a:cs typeface="Arial"/>
              </a:defRPr>
            </a:pPr>
            <a:r>
              <a:rPr sz="2850" b="1">
                <a:solidFill>
                  <a:srgbClr val="20665B"/>
                </a:solidFill>
                <a:latin typeface="Arial"/>
                <a:ea typeface="Arial"/>
                <a:cs typeface="Arial"/>
              </a:rPr>
              <a:t>Jassenmakers ontvangen meer per jas en produceren meer.</a:t>
            </a:r>
          </a:p>
        </p:txBody>
      </p:sp>
      <p:sp>
        <p:nvSpPr>
          <p:cNvPr id="7" name="Kopers betalen € 5 meer per jas en kopen minder.">
            <a:extLst xmlns:a="http://schemas.openxmlformats.org/drawingml/2006/main">
              <a:ext uri="{FF2B5EF4-FFF2-40B4-BE49-F238E27FC236}">
                <a16:creationId xmlns:a16="http://schemas.microsoft.com/office/drawing/2014/main" id="{1CBDB2AE-5EFA-4C0F-8FF8-93353C1F3820}"/>
              </a:ext>
            </a:extLst>
          </p:cNvPr>
          <p:cNvSpPr>
            <a:spLocks xmlns:a="http://schemas.openxmlformats.org/drawingml/2006/main" noGrp="1"/>
          </p:cNvSpPr>
          <p:nvPr/>
        </p:nvSpPr>
        <p:spPr>
          <a:xfrm xmlns:a="http://schemas.openxmlformats.org/drawingml/2006/main">
            <a:off x="571500" y="71628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A94D16"/>
                </a:solidFill>
                <a:latin typeface="Arial"/>
                <a:ea typeface="Arial"/>
                <a:cs typeface="Arial"/>
              </a:defRPr>
            </a:pPr>
            <a:r>
              <a:rPr sz="2850" b="1">
                <a:solidFill>
                  <a:srgbClr val="A94D16"/>
                </a:solidFill>
                <a:latin typeface="Arial"/>
                <a:ea typeface="Arial"/>
                <a:cs typeface="Arial"/>
              </a:rPr>
              <a:t>Kopers betalen € 5 meer per jas en kopen minder.</a:t>
            </a:r>
          </a:p>
        </p:txBody>
      </p:sp>
    </p:spTree>
    <p:extLst>
      <p:ext uri="{BB962C8B-B14F-4D97-AF65-F5344CB8AC3E}">
        <p14:creationId xmlns:p14="http://schemas.microsoft.com/office/powerpoint/2010/main" val="107822420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35d · Heffingsopbrengst: de juiste rechthoek">
            <a:extLst xmlns:a="http://schemas.openxmlformats.org/drawingml/2006/main">
              <a:ext uri="{FF2B5EF4-FFF2-40B4-BE49-F238E27FC236}">
                <a16:creationId xmlns:a16="http://schemas.microsoft.com/office/drawing/2014/main" id="{E424E26C-0C88-4DA9-8126-393B9F05773F}"/>
              </a:ext>
            </a:extLst>
          </p:cNvPr>
          <p:cNvSpPr>
            <a:spLocks xmlns:a="http://schemas.openxmlformats.org/drawingml/2006/main" noGrp="1"/>
          </p:cNvSpPr>
          <p:nvPr/>
        </p:nvSpPr>
        <p:spPr>
          <a:xfrm xmlns:a="http://schemas.openxmlformats.org/drawingml/2006/main">
            <a:off x="571500" y="400050"/>
            <a:ext cx="1409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35d · Heffingsopbrengst: de juiste rechthoek</a:t>
            </a:r>
          </a:p>
        </p:txBody>
      </p:sp>
      <p:sp>
        <p:nvSpPr>
          <p:cNvPr id="2" name="">
            <a:extLst xmlns:a="http://schemas.openxmlformats.org/drawingml/2006/main">
              <a:ext uri="{FF2B5EF4-FFF2-40B4-BE49-F238E27FC236}">
                <a16:creationId xmlns:a16="http://schemas.microsoft.com/office/drawing/2014/main" id="{40226C6B-2376-475E-9552-349749B40ED6}"/>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Opgave 35d · Boekpagina’s 120–121">
            <a:extLst xmlns:a="http://schemas.openxmlformats.org/drawingml/2006/main">
              <a:ext uri="{FF2B5EF4-FFF2-40B4-BE49-F238E27FC236}">
                <a16:creationId xmlns:a16="http://schemas.microsoft.com/office/drawing/2014/main" id="{9FC4C183-2E36-409C-836C-FE8454F3D787}"/>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Opgave 35d · Boekpagina’s 120–121</a:t>
            </a:r>
          </a:p>
        </p:txBody>
      </p:sp>
      <p:sp>
        <p:nvSpPr>
          <p:cNvPr id="4" name="18">
            <a:extLst xmlns:a="http://schemas.openxmlformats.org/drawingml/2006/main">
              <a:ext uri="{FF2B5EF4-FFF2-40B4-BE49-F238E27FC236}">
                <a16:creationId xmlns:a16="http://schemas.microsoft.com/office/drawing/2014/main" id="{83F1D676-95BE-4AD0-945B-916490E1B7B0}"/>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18</a:t>
            </a:r>
          </a:p>
        </p:txBody>
      </p:sp>
      <p:graphicFrame>
        <p:nvGraphicFramePr>
          <p:cNvPr id="17" name="Chart"/>
          <p:cNvGraphicFramePr/>
          <p:nvPr/>
        </p:nvGraphicFramePr>
        <p:xfrm>
          <a:off xmlns:a="http://schemas.openxmlformats.org/drawingml/2006/main" x="619125" y="1857375"/>
          <a:ext xmlns:a="http://schemas.openxmlformats.org/drawingml/2006/main" cx="10572750" cy="5810250"/>
        </p:xfrm>
        <a:graphic xmlns:a="http://schemas.openxmlformats.org/drawingml/2006/main">
          <a:graphicData uri="http://schemas.openxmlformats.org/drawingml/2006/chart">
            <c:chart xmlns:r="http://schemas.openxmlformats.org/officeDocument/2006/relationships" xmlns:c="http://schemas.openxmlformats.org/drawingml/2006/chart" r:id="Rd5c23815bde14e09"/>
          </a:graphicData>
        </a:graphic>
      </p:graphicFrame>
      <p:sp>
        <p:nvSpPr>
          <p:cNvPr id="6" name="A">
            <a:extLst xmlns:a="http://schemas.openxmlformats.org/drawingml/2006/main">
              <a:ext uri="{FF2B5EF4-FFF2-40B4-BE49-F238E27FC236}">
                <a16:creationId xmlns:a16="http://schemas.microsoft.com/office/drawing/2014/main" id="{81262BAA-C6F4-4C53-8261-AEC1017161FE}"/>
              </a:ext>
            </a:extLst>
          </p:cNvPr>
          <p:cNvSpPr>
            <a:spLocks xmlns:a="http://schemas.openxmlformats.org/drawingml/2006/main" noGrp="1"/>
          </p:cNvSpPr>
          <p:nvPr/>
        </p:nvSpPr>
        <p:spPr>
          <a:xfrm xmlns:a="http://schemas.openxmlformats.org/drawingml/2006/main">
            <a:off x="9277350" y="2238375"/>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0665B"/>
                </a:solidFill>
                <a:latin typeface="Arial"/>
                <a:ea typeface="Arial"/>
                <a:cs typeface="Arial"/>
              </a:defRPr>
            </a:pPr>
            <a:r>
              <a:rPr sz="2175" b="1">
                <a:solidFill>
                  <a:srgbClr val="20665B"/>
                </a:solidFill>
                <a:latin typeface="Arial"/>
                <a:ea typeface="Arial"/>
                <a:cs typeface="Arial"/>
              </a:rPr>
              <a:t>A</a:t>
            </a:r>
          </a:p>
        </p:txBody>
      </p:sp>
      <p:sp>
        <p:nvSpPr>
          <p:cNvPr id="7" name="V">
            <a:extLst xmlns:a="http://schemas.openxmlformats.org/drawingml/2006/main">
              <a:ext uri="{FF2B5EF4-FFF2-40B4-BE49-F238E27FC236}">
                <a16:creationId xmlns:a16="http://schemas.microsoft.com/office/drawing/2014/main" id="{6EA18398-DCBB-46FF-A380-072FC2601CE6}"/>
              </a:ext>
            </a:extLst>
          </p:cNvPr>
          <p:cNvSpPr>
            <a:spLocks xmlns:a="http://schemas.openxmlformats.org/drawingml/2006/main" noGrp="1"/>
          </p:cNvSpPr>
          <p:nvPr/>
        </p:nvSpPr>
        <p:spPr>
          <a:xfrm xmlns:a="http://schemas.openxmlformats.org/drawingml/2006/main">
            <a:off x="9277350" y="5629275"/>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658A"/>
                </a:solidFill>
                <a:latin typeface="Arial"/>
                <a:ea typeface="Arial"/>
                <a:cs typeface="Arial"/>
              </a:defRPr>
            </a:pPr>
            <a:r>
              <a:rPr sz="2175" b="1">
                <a:solidFill>
                  <a:srgbClr val="17658A"/>
                </a:solidFill>
                <a:latin typeface="Arial"/>
                <a:ea typeface="Arial"/>
                <a:cs typeface="Arial"/>
              </a:rPr>
              <a:t>V</a:t>
            </a:r>
          </a:p>
        </p:txBody>
      </p:sp>
      <p:sp>
        <p:nvSpPr>
          <p:cNvPr id="8" name="Pw + t = € 15">
            <a:extLst xmlns:a="http://schemas.openxmlformats.org/drawingml/2006/main">
              <a:ext uri="{FF2B5EF4-FFF2-40B4-BE49-F238E27FC236}">
                <a16:creationId xmlns:a16="http://schemas.microsoft.com/office/drawing/2014/main" id="{C2E20BC5-2CB2-4328-9976-EB3199DD31FF}"/>
              </a:ext>
            </a:extLst>
          </p:cNvPr>
          <p:cNvSpPr>
            <a:spLocks xmlns:a="http://schemas.openxmlformats.org/drawingml/2006/main" noGrp="1"/>
          </p:cNvSpPr>
          <p:nvPr/>
        </p:nvSpPr>
        <p:spPr>
          <a:xfrm xmlns:a="http://schemas.openxmlformats.org/drawingml/2006/main">
            <a:off x="11334750" y="4791075"/>
            <a:ext cx="333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A94D16"/>
                </a:solidFill>
                <a:latin typeface="Arial"/>
                <a:ea typeface="Arial"/>
                <a:cs typeface="Arial"/>
              </a:defRPr>
            </a:pPr>
            <a:r>
              <a:rPr sz="2175" b="1">
                <a:solidFill>
                  <a:srgbClr val="A94D16"/>
                </a:solidFill>
                <a:latin typeface="Arial"/>
                <a:ea typeface="Arial"/>
                <a:cs typeface="Arial"/>
              </a:rPr>
              <a:t>Pw + t = € 15</a:t>
            </a:r>
          </a:p>
        </p:txBody>
      </p:sp>
      <p:sp>
        <p:nvSpPr>
          <p:cNvPr id="9" name="Pw = € 10">
            <a:extLst xmlns:a="http://schemas.openxmlformats.org/drawingml/2006/main">
              <a:ext uri="{FF2B5EF4-FFF2-40B4-BE49-F238E27FC236}">
                <a16:creationId xmlns:a16="http://schemas.microsoft.com/office/drawing/2014/main" id="{D23B3CE8-AC12-49A3-AB1C-0EFEAA963879}"/>
              </a:ext>
            </a:extLst>
          </p:cNvPr>
          <p:cNvSpPr>
            <a:spLocks xmlns:a="http://schemas.openxmlformats.org/drawingml/2006/main" noGrp="1"/>
          </p:cNvSpPr>
          <p:nvPr/>
        </p:nvSpPr>
        <p:spPr>
          <a:xfrm xmlns:a="http://schemas.openxmlformats.org/drawingml/2006/main">
            <a:off x="11334750" y="5391150"/>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445B6B"/>
                </a:solidFill>
                <a:latin typeface="Arial"/>
                <a:ea typeface="Arial"/>
                <a:cs typeface="Arial"/>
              </a:defRPr>
            </a:pPr>
            <a:r>
              <a:rPr sz="2175" b="1">
                <a:solidFill>
                  <a:srgbClr val="445B6B"/>
                </a:solidFill>
                <a:latin typeface="Arial"/>
                <a:ea typeface="Arial"/>
                <a:cs typeface="Arial"/>
              </a:rPr>
              <a:t>Pw = € 10</a:t>
            </a:r>
          </a:p>
        </p:txBody>
      </p:sp>
      <p:sp>
        <p:nvSpPr>
          <p:cNvPr id="10" name="Breedte: 100 − 60&#10;40 jassen per week">
            <a:extLst xmlns:a="http://schemas.openxmlformats.org/drawingml/2006/main">
              <a:ext uri="{FF2B5EF4-FFF2-40B4-BE49-F238E27FC236}">
                <a16:creationId xmlns:a16="http://schemas.microsoft.com/office/drawing/2014/main" id="{DC74C600-901E-4B45-AAFE-074F8142E330}"/>
              </a:ext>
            </a:extLst>
          </p:cNvPr>
          <p:cNvSpPr>
            <a:spLocks xmlns:a="http://schemas.openxmlformats.org/drawingml/2006/main" noGrp="1"/>
          </p:cNvSpPr>
          <p:nvPr/>
        </p:nvSpPr>
        <p:spPr>
          <a:xfrm xmlns:a="http://schemas.openxmlformats.org/drawingml/2006/main">
            <a:off x="11334750" y="1981200"/>
            <a:ext cx="333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20665B"/>
                </a:solidFill>
                <a:latin typeface="Arial"/>
                <a:ea typeface="Arial"/>
                <a:cs typeface="Arial"/>
              </a:defRPr>
            </a:pPr>
            <a:r>
              <a:rPr sz="2250" b="1">
                <a:solidFill>
                  <a:srgbClr val="20665B"/>
                </a:solidFill>
                <a:latin typeface="Arial"/>
                <a:ea typeface="Arial"/>
                <a:cs typeface="Arial"/>
              </a:rPr>
              <a:t>Breedte: 100 − 60</a:t>
            </a:r>
          </a:p>
          <a:p xmlns:a="http://schemas.openxmlformats.org/drawingml/2006/main">
            <a:pPr algn="l">
              <a:defRPr sz="2250" b="1">
                <a:solidFill>
                  <a:srgbClr val="20665B"/>
                </a:solidFill>
                <a:latin typeface="Arial"/>
                <a:ea typeface="Arial"/>
                <a:cs typeface="Arial"/>
              </a:defRPr>
            </a:pPr>
            <a:r>
              <a:rPr sz="2250" b="1">
                <a:solidFill>
                  <a:srgbClr val="20665B"/>
                </a:solidFill>
                <a:latin typeface="Arial"/>
                <a:ea typeface="Arial"/>
                <a:cs typeface="Arial"/>
              </a:rPr>
              <a:t>40 jassen per week</a:t>
            </a:r>
          </a:p>
        </p:txBody>
      </p:sp>
      <p:sp>
        <p:nvSpPr>
          <p:cNvPr id="11" name="Hoogte: 15 − 10&#10;€ 5 per jas">
            <a:extLst xmlns:a="http://schemas.openxmlformats.org/drawingml/2006/main">
              <a:ext uri="{FF2B5EF4-FFF2-40B4-BE49-F238E27FC236}">
                <a16:creationId xmlns:a16="http://schemas.microsoft.com/office/drawing/2014/main" id="{F01EE171-687D-4DF3-AD1C-D97614634A8B}"/>
              </a:ext>
            </a:extLst>
          </p:cNvPr>
          <p:cNvSpPr>
            <a:spLocks xmlns:a="http://schemas.openxmlformats.org/drawingml/2006/main" noGrp="1"/>
          </p:cNvSpPr>
          <p:nvPr/>
        </p:nvSpPr>
        <p:spPr>
          <a:xfrm xmlns:a="http://schemas.openxmlformats.org/drawingml/2006/main">
            <a:off x="11334750" y="3190875"/>
            <a:ext cx="333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A94D16"/>
                </a:solidFill>
                <a:latin typeface="Arial"/>
                <a:ea typeface="Arial"/>
                <a:cs typeface="Arial"/>
              </a:defRPr>
            </a:pPr>
            <a:r>
              <a:rPr sz="2250" b="1">
                <a:solidFill>
                  <a:srgbClr val="A94D16"/>
                </a:solidFill>
                <a:latin typeface="Arial"/>
                <a:ea typeface="Arial"/>
                <a:cs typeface="Arial"/>
              </a:rPr>
              <a:t>Hoogte: 15 − 10</a:t>
            </a:r>
          </a:p>
          <a:p xmlns:a="http://schemas.openxmlformats.org/drawingml/2006/main">
            <a:pPr algn="l">
              <a:defRPr sz="2250" b="1">
                <a:solidFill>
                  <a:srgbClr val="A94D16"/>
                </a:solidFill>
                <a:latin typeface="Arial"/>
                <a:ea typeface="Arial"/>
                <a:cs typeface="Arial"/>
              </a:defRPr>
            </a:pPr>
            <a:r>
              <a:rPr sz="2250" b="1">
                <a:solidFill>
                  <a:srgbClr val="A94D16"/>
                </a:solidFill>
                <a:latin typeface="Arial"/>
                <a:ea typeface="Arial"/>
                <a:cs typeface="Arial"/>
              </a:rPr>
              <a:t>€ 5 per jas</a:t>
            </a:r>
          </a:p>
        </p:txBody>
      </p:sp>
      <p:sp>
        <p:nvSpPr>
          <p:cNvPr id="12" name="Oppervlakte&#10;40 × 5 = € 200&#10;per week">
            <a:extLst xmlns:a="http://schemas.openxmlformats.org/drawingml/2006/main">
              <a:ext uri="{FF2B5EF4-FFF2-40B4-BE49-F238E27FC236}">
                <a16:creationId xmlns:a16="http://schemas.microsoft.com/office/drawing/2014/main" id="{EB810844-3A68-4B86-9E69-139172D4A1E1}"/>
              </a:ext>
            </a:extLst>
          </p:cNvPr>
          <p:cNvSpPr>
            <a:spLocks xmlns:a="http://schemas.openxmlformats.org/drawingml/2006/main" noGrp="1"/>
          </p:cNvSpPr>
          <p:nvPr/>
        </p:nvSpPr>
        <p:spPr>
          <a:xfrm xmlns:a="http://schemas.openxmlformats.org/drawingml/2006/main">
            <a:off x="11334750" y="6181725"/>
            <a:ext cx="333375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83247"/>
                </a:solidFill>
                <a:latin typeface="Arial"/>
                <a:ea typeface="Arial"/>
                <a:cs typeface="Arial"/>
              </a:defRPr>
            </a:pPr>
            <a:r>
              <a:rPr sz="2325" b="1">
                <a:solidFill>
                  <a:srgbClr val="183247"/>
                </a:solidFill>
                <a:latin typeface="Arial"/>
                <a:ea typeface="Arial"/>
                <a:cs typeface="Arial"/>
              </a:rPr>
              <a:t>Oppervlakte</a:t>
            </a:r>
          </a:p>
          <a:p xmlns:a="http://schemas.openxmlformats.org/drawingml/2006/main">
            <a:pPr algn="l">
              <a:defRPr sz="2325" b="1">
                <a:solidFill>
                  <a:srgbClr val="183247"/>
                </a:solidFill>
                <a:latin typeface="Arial"/>
                <a:ea typeface="Arial"/>
                <a:cs typeface="Arial"/>
              </a:defRPr>
            </a:pPr>
            <a:r>
              <a:rPr sz="2325" b="1">
                <a:solidFill>
                  <a:srgbClr val="183247"/>
                </a:solidFill>
                <a:latin typeface="Arial"/>
                <a:ea typeface="Arial"/>
                <a:cs typeface="Arial"/>
              </a:rPr>
              <a:t>40 × 5 = € 200</a:t>
            </a:r>
          </a:p>
          <a:p xmlns:a="http://schemas.openxmlformats.org/drawingml/2006/main">
            <a:pPr algn="l">
              <a:defRPr sz="2325" b="1">
                <a:solidFill>
                  <a:srgbClr val="183247"/>
                </a:solidFill>
                <a:latin typeface="Arial"/>
                <a:ea typeface="Arial"/>
                <a:cs typeface="Arial"/>
              </a:defRPr>
            </a:pPr>
            <a:r>
              <a:rPr sz="2325" b="1">
                <a:solidFill>
                  <a:srgbClr val="183247"/>
                </a:solidFill>
                <a:latin typeface="Arial"/>
                <a:ea typeface="Arial"/>
                <a:cs typeface="Arial"/>
              </a:rPr>
              <a:t>per week</a:t>
            </a:r>
          </a:p>
        </p:txBody>
      </p:sp>
    </p:spTree>
    <p:extLst>
      <p:ext uri="{BB962C8B-B14F-4D97-AF65-F5344CB8AC3E}">
        <p14:creationId xmlns:p14="http://schemas.microsoft.com/office/powerpoint/2010/main" val="58026847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35e · Gratis vergunningen leveren geen heffing op">
            <a:extLst xmlns:a="http://schemas.openxmlformats.org/drawingml/2006/main">
              <a:ext uri="{FF2B5EF4-FFF2-40B4-BE49-F238E27FC236}">
                <a16:creationId xmlns:a16="http://schemas.microsoft.com/office/drawing/2014/main" id="{B953831C-5F8C-4079-9605-40D3BBC74C34}"/>
              </a:ext>
            </a:extLst>
          </p:cNvPr>
          <p:cNvSpPr>
            <a:spLocks xmlns:a="http://schemas.openxmlformats.org/drawingml/2006/main" noGrp="1"/>
          </p:cNvSpPr>
          <p:nvPr/>
        </p:nvSpPr>
        <p:spPr>
          <a:xfrm xmlns:a="http://schemas.openxmlformats.org/drawingml/2006/main">
            <a:off x="571500" y="400050"/>
            <a:ext cx="1409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35e · Gratis vergunningen leveren geen heffing op</a:t>
            </a:r>
          </a:p>
        </p:txBody>
      </p:sp>
      <p:sp>
        <p:nvSpPr>
          <p:cNvPr id="2" name="">
            <a:extLst xmlns:a="http://schemas.openxmlformats.org/drawingml/2006/main">
              <a:ext uri="{FF2B5EF4-FFF2-40B4-BE49-F238E27FC236}">
                <a16:creationId xmlns:a16="http://schemas.microsoft.com/office/drawing/2014/main" id="{4FA54FD1-8331-4A27-8FA8-6EBE0E3F02A8}"/>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Opgave 35e · Boekpagina’s 120–121">
            <a:extLst xmlns:a="http://schemas.openxmlformats.org/drawingml/2006/main">
              <a:ext uri="{FF2B5EF4-FFF2-40B4-BE49-F238E27FC236}">
                <a16:creationId xmlns:a16="http://schemas.microsoft.com/office/drawing/2014/main" id="{9B5DEA79-98FC-4514-A0C8-61E2BB9B488B}"/>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Opgave 35e · Boekpagina’s 120–121</a:t>
            </a:r>
          </a:p>
        </p:txBody>
      </p:sp>
      <p:sp>
        <p:nvSpPr>
          <p:cNvPr id="4" name="19">
            <a:extLst xmlns:a="http://schemas.openxmlformats.org/drawingml/2006/main">
              <a:ext uri="{FF2B5EF4-FFF2-40B4-BE49-F238E27FC236}">
                <a16:creationId xmlns:a16="http://schemas.microsoft.com/office/drawing/2014/main" id="{EB2C1428-947E-4CE0-A9FA-97D2FCEB1171}"/>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19</a:t>
            </a:r>
          </a:p>
        </p:txBody>
      </p:sp>
      <p:sp>
        <p:nvSpPr>
          <p:cNvPr id="5" name="Bron C">
            <a:extLst xmlns:a="http://schemas.openxmlformats.org/drawingml/2006/main">
              <a:ext uri="{FF2B5EF4-FFF2-40B4-BE49-F238E27FC236}">
                <a16:creationId xmlns:a16="http://schemas.microsoft.com/office/drawing/2014/main" id="{498952B4-DBCB-47E8-AFDA-07C72CD222B0}"/>
              </a:ext>
            </a:extLst>
          </p:cNvPr>
          <p:cNvSpPr>
            <a:spLocks xmlns:a="http://schemas.openxmlformats.org/drawingml/2006/main" noGrp="1"/>
          </p:cNvSpPr>
          <p:nvPr/>
        </p:nvSpPr>
        <p:spPr>
          <a:xfrm xmlns:a="http://schemas.openxmlformats.org/drawingml/2006/main">
            <a:off x="571500" y="1952625"/>
            <a:ext cx="4381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Bron C</a:t>
            </a:r>
          </a:p>
        </p:txBody>
      </p:sp>
      <p:sp>
        <p:nvSpPr>
          <p:cNvPr id="6" name="De invoervergunningen zijn gratis.&#10;Er is geen invoerheffing.">
            <a:extLst xmlns:a="http://schemas.openxmlformats.org/drawingml/2006/main">
              <a:ext uri="{FF2B5EF4-FFF2-40B4-BE49-F238E27FC236}">
                <a16:creationId xmlns:a16="http://schemas.microsoft.com/office/drawing/2014/main" id="{0F893117-8569-448F-AA9E-125ADCCBBF2C}"/>
              </a:ext>
            </a:extLst>
          </p:cNvPr>
          <p:cNvSpPr>
            <a:spLocks xmlns:a="http://schemas.openxmlformats.org/drawingml/2006/main" noGrp="1"/>
          </p:cNvSpPr>
          <p:nvPr/>
        </p:nvSpPr>
        <p:spPr>
          <a:xfrm xmlns:a="http://schemas.openxmlformats.org/drawingml/2006/main">
            <a:off x="5334000" y="1952625"/>
            <a:ext cx="9334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De invoervergunningen zijn gratis.</a:t>
            </a:r>
          </a:p>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Er is geen invoerheffing.</a:t>
            </a:r>
          </a:p>
        </p:txBody>
      </p:sp>
      <p:sp>
        <p:nvSpPr>
          <p:cNvPr id="7" name="">
            <a:extLst xmlns:a="http://schemas.openxmlformats.org/drawingml/2006/main">
              <a:ext uri="{FF2B5EF4-FFF2-40B4-BE49-F238E27FC236}">
                <a16:creationId xmlns:a16="http://schemas.microsoft.com/office/drawing/2014/main" id="{2149C9AD-D9FD-4625-82E1-A47434FA6E23}"/>
              </a:ext>
            </a:extLst>
          </p:cNvPr>
          <p:cNvSpPr>
            <a:spLocks xmlns:a="http://schemas.openxmlformats.org/drawingml/2006/main" noGrp="1"/>
          </p:cNvSpPr>
          <p:nvPr/>
        </p:nvSpPr>
        <p:spPr>
          <a:xfrm xmlns:a="http://schemas.openxmlformats.org/drawingml/2006/main">
            <a:off x="571500" y="3381375"/>
            <a:ext cx="14097000" cy="0"/>
          </a:xfrm>
          <a:prstGeom xmlns:a="http://schemas.openxmlformats.org/drawingml/2006/main" prst="line">
            <a:avLst/>
          </a:prstGeom>
          <a:ln xmlns:a="http://schemas.openxmlformats.org/drawingml/2006/main" w="19050">
            <a:solidFill>
              <a:srgbClr val="C6D2DB"/>
            </a:solidFill>
          </a:ln>
        </p:spPr>
      </p:sp>
      <p:sp>
        <p:nvSpPr>
          <p:cNvPr id="8" name="Wat de overheid ontvangt">
            <a:extLst xmlns:a="http://schemas.openxmlformats.org/drawingml/2006/main">
              <a:ext uri="{FF2B5EF4-FFF2-40B4-BE49-F238E27FC236}">
                <a16:creationId xmlns:a16="http://schemas.microsoft.com/office/drawing/2014/main" id="{1579BAE2-E832-4EA6-9B1D-78CE094418A2}"/>
              </a:ext>
            </a:extLst>
          </p:cNvPr>
          <p:cNvSpPr>
            <a:spLocks xmlns:a="http://schemas.openxmlformats.org/drawingml/2006/main" noGrp="1"/>
          </p:cNvSpPr>
          <p:nvPr/>
        </p:nvSpPr>
        <p:spPr>
          <a:xfrm xmlns:a="http://schemas.openxmlformats.org/drawingml/2006/main">
            <a:off x="571500" y="3667125"/>
            <a:ext cx="4381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20665B"/>
                </a:solidFill>
                <a:latin typeface="Arial"/>
                <a:ea typeface="Arial"/>
                <a:cs typeface="Arial"/>
              </a:defRPr>
            </a:pPr>
            <a:r>
              <a:rPr sz="2925" b="1">
                <a:solidFill>
                  <a:srgbClr val="20665B"/>
                </a:solidFill>
                <a:latin typeface="Arial"/>
                <a:ea typeface="Arial"/>
                <a:cs typeface="Arial"/>
              </a:rPr>
              <a:t>Wat de overheid ontvangt</a:t>
            </a:r>
          </a:p>
        </p:txBody>
      </p:sp>
      <p:sp>
        <p:nvSpPr>
          <p:cNvPr id="9" name="Geen vergunningprijs en geen heffing&#10;per ingevoerde jas.">
            <a:extLst xmlns:a="http://schemas.openxmlformats.org/drawingml/2006/main">
              <a:ext uri="{FF2B5EF4-FFF2-40B4-BE49-F238E27FC236}">
                <a16:creationId xmlns:a16="http://schemas.microsoft.com/office/drawing/2014/main" id="{7A930D41-846F-4543-8D67-515C45673F79}"/>
              </a:ext>
            </a:extLst>
          </p:cNvPr>
          <p:cNvSpPr>
            <a:spLocks xmlns:a="http://schemas.openxmlformats.org/drawingml/2006/main" noGrp="1"/>
          </p:cNvSpPr>
          <p:nvPr/>
        </p:nvSpPr>
        <p:spPr>
          <a:xfrm xmlns:a="http://schemas.openxmlformats.org/drawingml/2006/main">
            <a:off x="5334000" y="3667125"/>
            <a:ext cx="9334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Geen vergunningprijs en geen heffing</a:t>
            </a:r>
          </a:p>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per ingevoerde jas.</a:t>
            </a:r>
          </a:p>
        </p:txBody>
      </p:sp>
      <p:sp>
        <p:nvSpPr>
          <p:cNvPr id="10" name="">
            <a:extLst xmlns:a="http://schemas.openxmlformats.org/drawingml/2006/main">
              <a:ext uri="{FF2B5EF4-FFF2-40B4-BE49-F238E27FC236}">
                <a16:creationId xmlns:a16="http://schemas.microsoft.com/office/drawing/2014/main" id="{B29F80F8-5AEE-448E-9852-326087F75A3C}"/>
              </a:ext>
            </a:extLst>
          </p:cNvPr>
          <p:cNvSpPr>
            <a:spLocks xmlns:a="http://schemas.openxmlformats.org/drawingml/2006/main" noGrp="1"/>
          </p:cNvSpPr>
          <p:nvPr/>
        </p:nvSpPr>
        <p:spPr>
          <a:xfrm xmlns:a="http://schemas.openxmlformats.org/drawingml/2006/main">
            <a:off x="571500" y="5095875"/>
            <a:ext cx="14097000" cy="0"/>
          </a:xfrm>
          <a:prstGeom xmlns:a="http://schemas.openxmlformats.org/drawingml/2006/main" prst="line">
            <a:avLst/>
          </a:prstGeom>
          <a:ln xmlns:a="http://schemas.openxmlformats.org/drawingml/2006/main" w="19050">
            <a:solidFill>
              <a:srgbClr val="C6D2DB"/>
            </a:solidFill>
          </a:ln>
        </p:spPr>
      </p:sp>
      <p:sp>
        <p:nvSpPr>
          <p:cNvPr id="11" name="Conclusie">
            <a:extLst xmlns:a="http://schemas.openxmlformats.org/drawingml/2006/main">
              <a:ext uri="{FF2B5EF4-FFF2-40B4-BE49-F238E27FC236}">
                <a16:creationId xmlns:a16="http://schemas.microsoft.com/office/drawing/2014/main" id="{63079D32-FA31-406C-A6C2-9C6C2AEC02D1}"/>
              </a:ext>
            </a:extLst>
          </p:cNvPr>
          <p:cNvSpPr>
            <a:spLocks xmlns:a="http://schemas.openxmlformats.org/drawingml/2006/main" noGrp="1"/>
          </p:cNvSpPr>
          <p:nvPr/>
        </p:nvSpPr>
        <p:spPr>
          <a:xfrm xmlns:a="http://schemas.openxmlformats.org/drawingml/2006/main">
            <a:off x="571500" y="5381625"/>
            <a:ext cx="4381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A94D16"/>
                </a:solidFill>
                <a:latin typeface="Arial"/>
                <a:ea typeface="Arial"/>
                <a:cs typeface="Arial"/>
              </a:defRPr>
            </a:pPr>
            <a:r>
              <a:rPr sz="2925" b="1">
                <a:solidFill>
                  <a:srgbClr val="A94D16"/>
                </a:solidFill>
                <a:latin typeface="Arial"/>
                <a:ea typeface="Arial"/>
                <a:cs typeface="Arial"/>
              </a:rPr>
              <a:t>Conclusie</a:t>
            </a:r>
          </a:p>
        </p:txBody>
      </p:sp>
      <p:sp>
        <p:nvSpPr>
          <p:cNvPr id="12" name="De overheid mag daarom niet dezelfde&#10;€ 200 per week verwacht">
            <a:extLst xmlns:a="http://schemas.openxmlformats.org/drawingml/2006/main">
              <a:ext uri="{FF2B5EF4-FFF2-40B4-BE49-F238E27FC236}">
                <a16:creationId xmlns:a16="http://schemas.microsoft.com/office/drawing/2014/main" id="{82B164A9-70F2-4084-A19F-FF13BAD978FB}"/>
              </a:ext>
            </a:extLst>
          </p:cNvPr>
          <p:cNvSpPr>
            <a:spLocks xmlns:a="http://schemas.openxmlformats.org/drawingml/2006/main" noGrp="1"/>
          </p:cNvSpPr>
          <p:nvPr/>
        </p:nvSpPr>
        <p:spPr>
          <a:xfrm xmlns:a="http://schemas.openxmlformats.org/drawingml/2006/main">
            <a:off x="5334000" y="5381625"/>
            <a:ext cx="9334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De overheid mag daarom niet dezelfde</a:t>
            </a:r>
          </a:p>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€ 200 per week verwachten.</a:t>
            </a:r>
          </a:p>
        </p:txBody>
      </p:sp>
    </p:spTree>
    <p:extLst>
      <p:ext uri="{BB962C8B-B14F-4D97-AF65-F5344CB8AC3E}">
        <p14:creationId xmlns:p14="http://schemas.microsoft.com/office/powerpoint/2010/main" val="537382789"/>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35f · Het productiedoel lukt, kopers betalen meer">
            <a:extLst xmlns:a="http://schemas.openxmlformats.org/drawingml/2006/main">
              <a:ext uri="{FF2B5EF4-FFF2-40B4-BE49-F238E27FC236}">
                <a16:creationId xmlns:a16="http://schemas.microsoft.com/office/drawing/2014/main" id="{7F867D1D-73A4-407D-ABC9-BD3B3B1A02A8}"/>
              </a:ext>
            </a:extLst>
          </p:cNvPr>
          <p:cNvSpPr>
            <a:spLocks xmlns:a="http://schemas.openxmlformats.org/drawingml/2006/main" noGrp="1"/>
          </p:cNvSpPr>
          <p:nvPr/>
        </p:nvSpPr>
        <p:spPr>
          <a:xfrm xmlns:a="http://schemas.openxmlformats.org/drawingml/2006/main">
            <a:off x="571500" y="400050"/>
            <a:ext cx="1409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35f · Het productiedoel lukt, kopers betalen meer</a:t>
            </a:r>
          </a:p>
        </p:txBody>
      </p:sp>
      <p:sp>
        <p:nvSpPr>
          <p:cNvPr id="2" name="">
            <a:extLst xmlns:a="http://schemas.openxmlformats.org/drawingml/2006/main">
              <a:ext uri="{FF2B5EF4-FFF2-40B4-BE49-F238E27FC236}">
                <a16:creationId xmlns:a16="http://schemas.microsoft.com/office/drawing/2014/main" id="{7A5E2AD4-F4F1-4CA0-B013-81317F943C40}"/>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Opgave 35f · Boekpagina’s 120–121">
            <a:extLst xmlns:a="http://schemas.openxmlformats.org/drawingml/2006/main">
              <a:ext uri="{FF2B5EF4-FFF2-40B4-BE49-F238E27FC236}">
                <a16:creationId xmlns:a16="http://schemas.microsoft.com/office/drawing/2014/main" id="{DC060B8D-16E7-4530-AC9C-807038C3EBFD}"/>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Opgave 35f · Boekpagina’s 120–121</a:t>
            </a:r>
          </a:p>
        </p:txBody>
      </p:sp>
      <p:sp>
        <p:nvSpPr>
          <p:cNvPr id="4" name="20">
            <a:extLst xmlns:a="http://schemas.openxmlformats.org/drawingml/2006/main">
              <a:ext uri="{FF2B5EF4-FFF2-40B4-BE49-F238E27FC236}">
                <a16:creationId xmlns:a16="http://schemas.microsoft.com/office/drawing/2014/main" id="{15636973-6B62-480B-B642-4A2701683C38}"/>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20</a:t>
            </a:r>
          </a:p>
        </p:txBody>
      </p:sp>
      <p:sp>
        <p:nvSpPr>
          <p:cNvPr id="5" name="Gegeven 1">
            <a:extLst xmlns:a="http://schemas.openxmlformats.org/drawingml/2006/main">
              <a:ext uri="{FF2B5EF4-FFF2-40B4-BE49-F238E27FC236}">
                <a16:creationId xmlns:a16="http://schemas.microsoft.com/office/drawing/2014/main" id="{C619B836-269E-4592-9FFD-CD67B3096BB0}"/>
              </a:ext>
            </a:extLst>
          </p:cNvPr>
          <p:cNvSpPr>
            <a:spLocks xmlns:a="http://schemas.openxmlformats.org/drawingml/2006/main" noGrp="1"/>
          </p:cNvSpPr>
          <p:nvPr/>
        </p:nvSpPr>
        <p:spPr>
          <a:xfrm xmlns:a="http://schemas.openxmlformats.org/drawingml/2006/main">
            <a:off x="571500" y="2028825"/>
            <a:ext cx="4381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Gegeven 1</a:t>
            </a:r>
          </a:p>
        </p:txBody>
      </p:sp>
      <p:sp>
        <p:nvSpPr>
          <p:cNvPr id="6" name="Binnenlandse productie stijgt:&#10;40 wordt 60 jassen per week.">
            <a:extLst xmlns:a="http://schemas.openxmlformats.org/drawingml/2006/main">
              <a:ext uri="{FF2B5EF4-FFF2-40B4-BE49-F238E27FC236}">
                <a16:creationId xmlns:a16="http://schemas.microsoft.com/office/drawing/2014/main" id="{C9AA3040-D4E7-4C9E-AD5D-A739D622D40C}"/>
              </a:ext>
            </a:extLst>
          </p:cNvPr>
          <p:cNvSpPr>
            <a:spLocks xmlns:a="http://schemas.openxmlformats.org/drawingml/2006/main" noGrp="1"/>
          </p:cNvSpPr>
          <p:nvPr/>
        </p:nvSpPr>
        <p:spPr>
          <a:xfrm xmlns:a="http://schemas.openxmlformats.org/drawingml/2006/main">
            <a:off x="5334000" y="2028825"/>
            <a:ext cx="9334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Binnenlandse productie stijgt:</a:t>
            </a:r>
          </a:p>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40 wordt 60 jassen per week.</a:t>
            </a:r>
          </a:p>
        </p:txBody>
      </p:sp>
      <p:sp>
        <p:nvSpPr>
          <p:cNvPr id="7" name="">
            <a:extLst xmlns:a="http://schemas.openxmlformats.org/drawingml/2006/main">
              <a:ext uri="{FF2B5EF4-FFF2-40B4-BE49-F238E27FC236}">
                <a16:creationId xmlns:a16="http://schemas.microsoft.com/office/drawing/2014/main" id="{3D562800-A5AE-474F-AFC1-C01DAD89D5B7}"/>
              </a:ext>
            </a:extLst>
          </p:cNvPr>
          <p:cNvSpPr>
            <a:spLocks xmlns:a="http://schemas.openxmlformats.org/drawingml/2006/main" noGrp="1"/>
          </p:cNvSpPr>
          <p:nvPr/>
        </p:nvSpPr>
        <p:spPr>
          <a:xfrm xmlns:a="http://schemas.openxmlformats.org/drawingml/2006/main">
            <a:off x="571500" y="3505200"/>
            <a:ext cx="14097000" cy="0"/>
          </a:xfrm>
          <a:prstGeom xmlns:a="http://schemas.openxmlformats.org/drawingml/2006/main" prst="line">
            <a:avLst/>
          </a:prstGeom>
          <a:ln xmlns:a="http://schemas.openxmlformats.org/drawingml/2006/main" w="19050">
            <a:solidFill>
              <a:srgbClr val="C6D2DB"/>
            </a:solidFill>
          </a:ln>
        </p:spPr>
      </p:sp>
      <p:sp>
        <p:nvSpPr>
          <p:cNvPr id="8" name="Gegeven 2">
            <a:extLst xmlns:a="http://schemas.openxmlformats.org/drawingml/2006/main">
              <a:ext uri="{FF2B5EF4-FFF2-40B4-BE49-F238E27FC236}">
                <a16:creationId xmlns:a16="http://schemas.microsoft.com/office/drawing/2014/main" id="{F0DC1C52-1EF7-4E2E-867B-017F23D04238}"/>
              </a:ext>
            </a:extLst>
          </p:cNvPr>
          <p:cNvSpPr>
            <a:spLocks xmlns:a="http://schemas.openxmlformats.org/drawingml/2006/main" noGrp="1"/>
          </p:cNvSpPr>
          <p:nvPr/>
        </p:nvSpPr>
        <p:spPr>
          <a:xfrm xmlns:a="http://schemas.openxmlformats.org/drawingml/2006/main">
            <a:off x="571500" y="3790950"/>
            <a:ext cx="4381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20665B"/>
                </a:solidFill>
                <a:latin typeface="Arial"/>
                <a:ea typeface="Arial"/>
                <a:cs typeface="Arial"/>
              </a:defRPr>
            </a:pPr>
            <a:r>
              <a:rPr sz="3000" b="1">
                <a:solidFill>
                  <a:srgbClr val="20665B"/>
                </a:solidFill>
                <a:latin typeface="Arial"/>
                <a:ea typeface="Arial"/>
                <a:cs typeface="Arial"/>
              </a:rPr>
              <a:t>Gegeven 2</a:t>
            </a:r>
          </a:p>
        </p:txBody>
      </p:sp>
      <p:sp>
        <p:nvSpPr>
          <p:cNvPr id="9" name="Gezinnen betalen meer:&#10;€ 10 wordt € 15 per jas.">
            <a:extLst xmlns:a="http://schemas.openxmlformats.org/drawingml/2006/main">
              <a:ext uri="{FF2B5EF4-FFF2-40B4-BE49-F238E27FC236}">
                <a16:creationId xmlns:a16="http://schemas.microsoft.com/office/drawing/2014/main" id="{E8BD626E-9C84-4901-A301-633A0B5CF089}"/>
              </a:ext>
            </a:extLst>
          </p:cNvPr>
          <p:cNvSpPr>
            <a:spLocks xmlns:a="http://schemas.openxmlformats.org/drawingml/2006/main" noGrp="1"/>
          </p:cNvSpPr>
          <p:nvPr/>
        </p:nvSpPr>
        <p:spPr>
          <a:xfrm xmlns:a="http://schemas.openxmlformats.org/drawingml/2006/main">
            <a:off x="5334000" y="3790950"/>
            <a:ext cx="9334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Gezinnen betalen meer:</a:t>
            </a:r>
          </a:p>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€ 10 wordt € 15 per jas.</a:t>
            </a:r>
          </a:p>
        </p:txBody>
      </p:sp>
      <p:sp>
        <p:nvSpPr>
          <p:cNvPr id="10" name="">
            <a:extLst xmlns:a="http://schemas.openxmlformats.org/drawingml/2006/main">
              <a:ext uri="{FF2B5EF4-FFF2-40B4-BE49-F238E27FC236}">
                <a16:creationId xmlns:a16="http://schemas.microsoft.com/office/drawing/2014/main" id="{C309043D-59D9-486C-86D9-E733B3D4B903}"/>
              </a:ext>
            </a:extLst>
          </p:cNvPr>
          <p:cNvSpPr>
            <a:spLocks xmlns:a="http://schemas.openxmlformats.org/drawingml/2006/main" noGrp="1"/>
          </p:cNvSpPr>
          <p:nvPr/>
        </p:nvSpPr>
        <p:spPr>
          <a:xfrm xmlns:a="http://schemas.openxmlformats.org/drawingml/2006/main">
            <a:off x="571500" y="5619750"/>
            <a:ext cx="14097000" cy="0"/>
          </a:xfrm>
          <a:prstGeom xmlns:a="http://schemas.openxmlformats.org/drawingml/2006/main" prst="line">
            <a:avLst/>
          </a:prstGeom>
          <a:ln xmlns:a="http://schemas.openxmlformats.org/drawingml/2006/main" w="19050">
            <a:solidFill>
              <a:srgbClr val="C6D2DB"/>
            </a:solidFill>
          </a:ln>
        </p:spPr>
      </p:sp>
      <p:sp>
        <p:nvSpPr>
          <p:cNvPr id="11" name="De heffing ondersteunt het behoud van binnenlandse productie">
            <a:extLst xmlns:a="http://schemas.openxmlformats.org/drawingml/2006/main">
              <a:ext uri="{FF2B5EF4-FFF2-40B4-BE49-F238E27FC236}">
                <a16:creationId xmlns:a16="http://schemas.microsoft.com/office/drawing/2014/main" id="{1E5AF146-94A4-48A2-AA53-318BE3A253B2}"/>
              </a:ext>
            </a:extLst>
          </p:cNvPr>
          <p:cNvSpPr>
            <a:spLocks xmlns:a="http://schemas.openxmlformats.org/drawingml/2006/main" noGrp="1"/>
          </p:cNvSpPr>
          <p:nvPr/>
        </p:nvSpPr>
        <p:spPr>
          <a:xfrm xmlns:a="http://schemas.openxmlformats.org/drawingml/2006/main">
            <a:off x="571500" y="6143625"/>
            <a:ext cx="14097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658A"/>
                </a:solidFill>
                <a:latin typeface="Arial"/>
                <a:ea typeface="Arial"/>
                <a:cs typeface="Arial"/>
              </a:defRPr>
            </a:pPr>
            <a:r>
              <a:rPr sz="3150" b="1">
                <a:solidFill>
                  <a:srgbClr val="17658A"/>
                </a:solidFill>
                <a:latin typeface="Arial"/>
                <a:ea typeface="Arial"/>
                <a:cs typeface="Arial"/>
              </a:rPr>
              <a:t>De heffing ondersteunt het behoud van binnenlandse productie.</a:t>
            </a:r>
          </a:p>
          <a:p xmlns:a="http://schemas.openxmlformats.org/drawingml/2006/main">
            <a:pPr algn="l">
              <a:defRPr sz="3150" b="1">
                <a:solidFill>
                  <a:srgbClr val="17658A"/>
                </a:solidFill>
                <a:latin typeface="Arial"/>
                <a:ea typeface="Arial"/>
                <a:cs typeface="Arial"/>
              </a:defRPr>
            </a:pPr>
            <a:r>
              <a:rPr sz="3150" b="1">
                <a:solidFill>
                  <a:srgbClr val="17658A"/>
                </a:solidFill>
                <a:latin typeface="Arial"/>
                <a:ea typeface="Arial"/>
                <a:cs typeface="Arial"/>
              </a:rPr>
              <a:t>De uitspraak “voor alle inwoners gunstig” is te breed.</a:t>
            </a:r>
          </a:p>
        </p:txBody>
      </p:sp>
    </p:spTree>
    <p:extLst>
      <p:ext uri="{BB962C8B-B14F-4D97-AF65-F5344CB8AC3E}">
        <p14:creationId xmlns:p14="http://schemas.microsoft.com/office/powerpoint/2010/main" val="446868272"/>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overview-title">
            <a:extLst xmlns:a="http://schemas.openxmlformats.org/drawingml/2006/main">
              <a:ext uri="{FF2B5EF4-FFF2-40B4-BE49-F238E27FC236}">
                <a16:creationId xmlns:a16="http://schemas.microsoft.com/office/drawing/2014/main" id="{A7434246-C070-448D-932E-AE519E9196CB}"/>
              </a:ext>
            </a:extLst>
          </p:cNvPr>
          <p:cNvSpPr>
            <a:spLocks xmlns:a="http://schemas.openxmlformats.org/drawingml/2006/main" noGrp="1"/>
          </p:cNvSpPr>
          <p:nvPr/>
        </p:nvSpPr>
        <p:spPr>
          <a:xfrm xmlns:a="http://schemas.openxmlformats.org/drawingml/2006/main">
            <a:off x="571500" y="285750"/>
            <a:ext cx="1409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3247"/>
                </a:solidFill>
                <a:latin typeface="Arial"/>
                <a:ea typeface="Arial"/>
                <a:cs typeface="Arial"/>
              </a:defRPr>
            </a:pPr>
            <a:r>
              <a:rPr sz="3450" b="1">
                <a:solidFill>
                  <a:srgbClr val="183247"/>
                </a:solidFill>
                <a:latin typeface="Arial"/>
                <a:ea typeface="Arial"/>
                <a:cs typeface="Arial"/>
              </a:rPr>
              <a:t>Deze les: §3.3.4 Gemengde opgaven</a:t>
            </a:r>
          </a:p>
          <a:p xmlns:a="http://schemas.openxmlformats.org/drawingml/2006/main">
            <a:pPr algn="l">
              <a:defRPr sz="3450" b="1">
                <a:solidFill>
                  <a:srgbClr val="183247"/>
                </a:solidFill>
                <a:latin typeface="Arial"/>
                <a:ea typeface="Arial"/>
                <a:cs typeface="Arial"/>
              </a:defRPr>
            </a:pPr>
            <a:r>
              <a:rPr sz="3450" b="1">
                <a:solidFill>
                  <a:srgbClr val="183247"/>
                </a:solidFill>
                <a:latin typeface="Arial"/>
                <a:ea typeface="Arial"/>
                <a:cs typeface="Arial"/>
              </a:rPr>
              <a:t>internationale handel</a:t>
            </a:r>
          </a:p>
        </p:txBody>
      </p:sp>
      <p:sp>
        <p:nvSpPr>
          <p:cNvPr id="2" name="phase">
            <a:extLst xmlns:a="http://schemas.openxmlformats.org/drawingml/2006/main">
              <a:ext uri="{FF2B5EF4-FFF2-40B4-BE49-F238E27FC236}">
                <a16:creationId xmlns:a16="http://schemas.microsoft.com/office/drawing/2014/main" id="{C1AD908B-DB41-4093-8C42-B536D32FC732}"/>
              </a:ext>
            </a:extLst>
          </p:cNvPr>
          <p:cNvSpPr>
            <a:spLocks xmlns:a="http://schemas.openxmlformats.org/drawingml/2006/main" noGrp="1"/>
          </p:cNvSpPr>
          <p:nvPr/>
        </p:nvSpPr>
        <p:spPr>
          <a:xfrm xmlns:a="http://schemas.openxmlformats.org/drawingml/2006/main">
            <a:off x="571500" y="1438275"/>
            <a:ext cx="1409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Afsluiting en huiswerk</a:t>
            </a:r>
          </a:p>
        </p:txBody>
      </p:sp>
      <p:sp>
        <p:nvSpPr>
          <p:cNvPr id="3" name="">
            <a:extLst xmlns:a="http://schemas.openxmlformats.org/drawingml/2006/main">
              <a:ext uri="{FF2B5EF4-FFF2-40B4-BE49-F238E27FC236}">
                <a16:creationId xmlns:a16="http://schemas.microsoft.com/office/drawing/2014/main" id="{08D3A6A1-A184-4E68-B248-A4A51B6D3358}"/>
              </a:ext>
            </a:extLst>
          </p:cNvPr>
          <p:cNvSpPr>
            <a:spLocks xmlns:a="http://schemas.openxmlformats.org/drawingml/2006/main" noGrp="1"/>
          </p:cNvSpPr>
          <p:nvPr/>
        </p:nvSpPr>
        <p:spPr>
          <a:xfrm xmlns:a="http://schemas.openxmlformats.org/drawingml/2006/main">
            <a:off x="571500" y="1924050"/>
            <a:ext cx="14097000" cy="0"/>
          </a:xfrm>
          <a:prstGeom xmlns:a="http://schemas.openxmlformats.org/drawingml/2006/main" prst="line">
            <a:avLst/>
          </a:prstGeom>
          <a:ln xmlns:a="http://schemas.openxmlformats.org/drawingml/2006/main" w="19050">
            <a:solidFill>
              <a:srgbClr val="C6D2DB"/>
            </a:solidFill>
          </a:ln>
        </p:spPr>
      </p:sp>
      <p:sp>
        <p:nvSpPr>
          <p:cNvPr id="4" name="Lesroute">
            <a:extLst xmlns:a="http://schemas.openxmlformats.org/drawingml/2006/main">
              <a:ext uri="{FF2B5EF4-FFF2-40B4-BE49-F238E27FC236}">
                <a16:creationId xmlns:a16="http://schemas.microsoft.com/office/drawing/2014/main" id="{3EA7B439-BD5F-4638-8E11-5C0D590609BE}"/>
              </a:ext>
            </a:extLst>
          </p:cNvPr>
          <p:cNvSpPr>
            <a:spLocks xmlns:a="http://schemas.openxmlformats.org/drawingml/2006/main" noGrp="1"/>
          </p:cNvSpPr>
          <p:nvPr/>
        </p:nvSpPr>
        <p:spPr>
          <a:xfrm xmlns:a="http://schemas.openxmlformats.org/drawingml/2006/main">
            <a:off x="571500" y="2190750"/>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5" name="route-number-1">
            <a:extLst xmlns:a="http://schemas.openxmlformats.org/drawingml/2006/main">
              <a:ext uri="{FF2B5EF4-FFF2-40B4-BE49-F238E27FC236}">
                <a16:creationId xmlns:a16="http://schemas.microsoft.com/office/drawing/2014/main" id="{821F5B70-F736-46F5-A22F-6997199D1B2B}"/>
              </a:ext>
            </a:extLst>
          </p:cNvPr>
          <p:cNvSpPr>
            <a:spLocks xmlns:a="http://schemas.openxmlformats.org/drawingml/2006/main" noGrp="1"/>
          </p:cNvSpPr>
          <p:nvPr/>
        </p:nvSpPr>
        <p:spPr>
          <a:xfrm xmlns:a="http://schemas.openxmlformats.org/drawingml/2006/main">
            <a:off x="571500" y="2771775"/>
            <a:ext cx="4572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6" name="route-1">
            <a:extLst xmlns:a="http://schemas.openxmlformats.org/drawingml/2006/main">
              <a:ext uri="{FF2B5EF4-FFF2-40B4-BE49-F238E27FC236}">
                <a16:creationId xmlns:a16="http://schemas.microsoft.com/office/drawing/2014/main" id="{6B8FF5CF-B32A-49AB-83E9-FEA7F4A298F7}"/>
              </a:ext>
            </a:extLst>
          </p:cNvPr>
          <p:cNvSpPr>
            <a:spLocks xmlns:a="http://schemas.openxmlformats.org/drawingml/2006/main" noGrp="1"/>
          </p:cNvSpPr>
          <p:nvPr/>
        </p:nvSpPr>
        <p:spPr>
          <a:xfrm xmlns:a="http://schemas.openxmlformats.org/drawingml/2006/main">
            <a:off x="1104900" y="2771775"/>
            <a:ext cx="74199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7" name="route-number-2">
            <a:extLst xmlns:a="http://schemas.openxmlformats.org/drawingml/2006/main">
              <a:ext uri="{FF2B5EF4-FFF2-40B4-BE49-F238E27FC236}">
                <a16:creationId xmlns:a16="http://schemas.microsoft.com/office/drawing/2014/main" id="{2C650490-E898-4314-B22D-535CA7A4F984}"/>
              </a:ext>
            </a:extLst>
          </p:cNvPr>
          <p:cNvSpPr>
            <a:spLocks xmlns:a="http://schemas.openxmlformats.org/drawingml/2006/main" noGrp="1"/>
          </p:cNvSpPr>
          <p:nvPr/>
        </p:nvSpPr>
        <p:spPr>
          <a:xfrm xmlns:a="http://schemas.openxmlformats.org/drawingml/2006/main">
            <a:off x="571500" y="3629025"/>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8" name="route-2">
            <a:extLst xmlns:a="http://schemas.openxmlformats.org/drawingml/2006/main">
              <a:ext uri="{FF2B5EF4-FFF2-40B4-BE49-F238E27FC236}">
                <a16:creationId xmlns:a16="http://schemas.microsoft.com/office/drawing/2014/main" id="{55683F2D-1F7C-4E09-8E7F-F711174752ED}"/>
              </a:ext>
            </a:extLst>
          </p:cNvPr>
          <p:cNvSpPr>
            <a:spLocks xmlns:a="http://schemas.openxmlformats.org/drawingml/2006/main" noGrp="1"/>
          </p:cNvSpPr>
          <p:nvPr/>
        </p:nvSpPr>
        <p:spPr>
          <a:xfrm xmlns:a="http://schemas.openxmlformats.org/drawingml/2006/main">
            <a:off x="1104900" y="3629025"/>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9" name="route-number-3">
            <a:extLst xmlns:a="http://schemas.openxmlformats.org/drawingml/2006/main">
              <a:ext uri="{FF2B5EF4-FFF2-40B4-BE49-F238E27FC236}">
                <a16:creationId xmlns:a16="http://schemas.microsoft.com/office/drawing/2014/main" id="{03C2B649-B9C1-4528-96D5-C3D757E507AA}"/>
              </a:ext>
            </a:extLst>
          </p:cNvPr>
          <p:cNvSpPr>
            <a:spLocks xmlns:a="http://schemas.openxmlformats.org/drawingml/2006/main" noGrp="1"/>
          </p:cNvSpPr>
          <p:nvPr/>
        </p:nvSpPr>
        <p:spPr>
          <a:xfrm xmlns:a="http://schemas.openxmlformats.org/drawingml/2006/main">
            <a:off x="571500" y="41719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0" name="route-3">
            <a:extLst xmlns:a="http://schemas.openxmlformats.org/drawingml/2006/main">
              <a:ext uri="{FF2B5EF4-FFF2-40B4-BE49-F238E27FC236}">
                <a16:creationId xmlns:a16="http://schemas.microsoft.com/office/drawing/2014/main" id="{1DC963AA-4BDF-469F-8D9A-AC11CE10A744}"/>
              </a:ext>
            </a:extLst>
          </p:cNvPr>
          <p:cNvSpPr>
            <a:spLocks xmlns:a="http://schemas.openxmlformats.org/drawingml/2006/main" noGrp="1"/>
          </p:cNvSpPr>
          <p:nvPr/>
        </p:nvSpPr>
        <p:spPr>
          <a:xfrm xmlns:a="http://schemas.openxmlformats.org/drawingml/2006/main">
            <a:off x="1104900" y="41719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Korte herhaling en aanpak.</a:t>
            </a:r>
          </a:p>
        </p:txBody>
      </p:sp>
      <p:sp>
        <p:nvSpPr>
          <p:cNvPr id="11" name="route-number-4">
            <a:extLst xmlns:a="http://schemas.openxmlformats.org/drawingml/2006/main">
              <a:ext uri="{FF2B5EF4-FFF2-40B4-BE49-F238E27FC236}">
                <a16:creationId xmlns:a16="http://schemas.microsoft.com/office/drawing/2014/main" id="{5B0DA61B-38EF-4BB5-BFB2-59CCD8E48A14}"/>
              </a:ext>
            </a:extLst>
          </p:cNvPr>
          <p:cNvSpPr>
            <a:spLocks xmlns:a="http://schemas.openxmlformats.org/drawingml/2006/main" noGrp="1"/>
          </p:cNvSpPr>
          <p:nvPr/>
        </p:nvSpPr>
        <p:spPr>
          <a:xfrm xmlns:a="http://schemas.openxmlformats.org/drawingml/2006/main">
            <a:off x="571500" y="4714875"/>
            <a:ext cx="4572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2" name="route-4">
            <a:extLst xmlns:a="http://schemas.openxmlformats.org/drawingml/2006/main">
              <a:ext uri="{FF2B5EF4-FFF2-40B4-BE49-F238E27FC236}">
                <a16:creationId xmlns:a16="http://schemas.microsoft.com/office/drawing/2014/main" id="{BF71B098-FAE6-4F21-8951-41BE35A8BF62}"/>
              </a:ext>
            </a:extLst>
          </p:cNvPr>
          <p:cNvSpPr>
            <a:spLocks xmlns:a="http://schemas.openxmlformats.org/drawingml/2006/main" noGrp="1"/>
          </p:cNvSpPr>
          <p:nvPr/>
        </p:nvSpPr>
        <p:spPr>
          <a:xfrm xmlns:a="http://schemas.openxmlformats.org/drawingml/2006/main">
            <a:off x="1104900" y="4714875"/>
            <a:ext cx="74199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Werk verder aan de gemengde opgaven, stel vragen en kijk je antwoorden na.</a:t>
            </a:r>
          </a:p>
        </p:txBody>
      </p:sp>
      <p:sp>
        <p:nvSpPr>
          <p:cNvPr id="13" name="route-number-5">
            <a:extLst xmlns:a="http://schemas.openxmlformats.org/drawingml/2006/main">
              <a:ext uri="{FF2B5EF4-FFF2-40B4-BE49-F238E27FC236}">
                <a16:creationId xmlns:a16="http://schemas.microsoft.com/office/drawing/2014/main" id="{1EB4A25D-FEE5-4118-AB80-FD35BB41136D}"/>
              </a:ext>
            </a:extLst>
          </p:cNvPr>
          <p:cNvSpPr>
            <a:spLocks xmlns:a="http://schemas.openxmlformats.org/drawingml/2006/main" noGrp="1"/>
          </p:cNvSpPr>
          <p:nvPr/>
        </p:nvSpPr>
        <p:spPr>
          <a:xfrm xmlns:a="http://schemas.openxmlformats.org/drawingml/2006/main">
            <a:off x="571500" y="573405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4" name="route-5">
            <a:extLst xmlns:a="http://schemas.openxmlformats.org/drawingml/2006/main">
              <a:ext uri="{FF2B5EF4-FFF2-40B4-BE49-F238E27FC236}">
                <a16:creationId xmlns:a16="http://schemas.microsoft.com/office/drawing/2014/main" id="{2B377E0D-3683-4A88-ADDC-4E0244C9F280}"/>
              </a:ext>
            </a:extLst>
          </p:cNvPr>
          <p:cNvSpPr>
            <a:spLocks xmlns:a="http://schemas.openxmlformats.org/drawingml/2006/main" noGrp="1"/>
          </p:cNvSpPr>
          <p:nvPr/>
        </p:nvSpPr>
        <p:spPr>
          <a:xfrm xmlns:a="http://schemas.openxmlformats.org/drawingml/2006/main">
            <a:off x="1104900" y="573405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5" name="route-number-6">
            <a:extLst xmlns:a="http://schemas.openxmlformats.org/drawingml/2006/main">
              <a:ext uri="{FF2B5EF4-FFF2-40B4-BE49-F238E27FC236}">
                <a16:creationId xmlns:a16="http://schemas.microsoft.com/office/drawing/2014/main" id="{35FB87BE-8CA1-4F39-BF11-ADBEF4357BB6}"/>
              </a:ext>
            </a:extLst>
          </p:cNvPr>
          <p:cNvSpPr>
            <a:spLocks xmlns:a="http://schemas.openxmlformats.org/drawingml/2006/main" noGrp="1"/>
          </p:cNvSpPr>
          <p:nvPr/>
        </p:nvSpPr>
        <p:spPr>
          <a:xfrm xmlns:a="http://schemas.openxmlformats.org/drawingml/2006/main">
            <a:off x="571500" y="6629400"/>
            <a:ext cx="457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6" name="route-6">
            <a:extLst xmlns:a="http://schemas.openxmlformats.org/drawingml/2006/main">
              <a:ext uri="{FF2B5EF4-FFF2-40B4-BE49-F238E27FC236}">
                <a16:creationId xmlns:a16="http://schemas.microsoft.com/office/drawing/2014/main" id="{A636F3E2-1A61-4D95-BC7E-EC0CD4847D35}"/>
              </a:ext>
            </a:extLst>
          </p:cNvPr>
          <p:cNvSpPr>
            <a:spLocks xmlns:a="http://schemas.openxmlformats.org/drawingml/2006/main" noGrp="1"/>
          </p:cNvSpPr>
          <p:nvPr/>
        </p:nvSpPr>
        <p:spPr>
          <a:xfrm xmlns:a="http://schemas.openxmlformats.org/drawingml/2006/main">
            <a:off x="1104900" y="6629400"/>
            <a:ext cx="74199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35.</a:t>
            </a:r>
          </a:p>
        </p:txBody>
      </p:sp>
      <p:sp>
        <p:nvSpPr>
          <p:cNvPr id="17" name="route-number-7">
            <a:extLst xmlns:a="http://schemas.openxmlformats.org/drawingml/2006/main">
              <a:ext uri="{FF2B5EF4-FFF2-40B4-BE49-F238E27FC236}">
                <a16:creationId xmlns:a16="http://schemas.microsoft.com/office/drawing/2014/main" id="{53663FFA-0D47-40AF-9628-9CC831521F8C}"/>
              </a:ext>
            </a:extLst>
          </p:cNvPr>
          <p:cNvSpPr>
            <a:spLocks xmlns:a="http://schemas.openxmlformats.org/drawingml/2006/main" noGrp="1"/>
          </p:cNvSpPr>
          <p:nvPr/>
        </p:nvSpPr>
        <p:spPr>
          <a:xfrm xmlns:a="http://schemas.openxmlformats.org/drawingml/2006/main">
            <a:off x="571500" y="7362825"/>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7.</a:t>
            </a:r>
          </a:p>
        </p:txBody>
      </p:sp>
      <p:sp>
        <p:nvSpPr>
          <p:cNvPr id="18" name="route-7">
            <a:extLst xmlns:a="http://schemas.openxmlformats.org/drawingml/2006/main">
              <a:ext uri="{FF2B5EF4-FFF2-40B4-BE49-F238E27FC236}">
                <a16:creationId xmlns:a16="http://schemas.microsoft.com/office/drawing/2014/main" id="{A3DC5FBD-584E-466E-8405-2AE7891238E2}"/>
              </a:ext>
            </a:extLst>
          </p:cNvPr>
          <p:cNvSpPr>
            <a:spLocks xmlns:a="http://schemas.openxmlformats.org/drawingml/2006/main" noGrp="1"/>
          </p:cNvSpPr>
          <p:nvPr/>
        </p:nvSpPr>
        <p:spPr>
          <a:xfrm xmlns:a="http://schemas.openxmlformats.org/drawingml/2006/main">
            <a:off x="1104900" y="7362825"/>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Zet je huiswerk in je agenda.</a:t>
            </a:r>
          </a:p>
        </p:txBody>
      </p:sp>
      <p:sp>
        <p:nvSpPr>
          <p:cNvPr id="19" name="Lesdoelen">
            <a:extLst xmlns:a="http://schemas.openxmlformats.org/drawingml/2006/main">
              <a:ext uri="{FF2B5EF4-FFF2-40B4-BE49-F238E27FC236}">
                <a16:creationId xmlns:a16="http://schemas.microsoft.com/office/drawing/2014/main" id="{05A58293-BB31-4991-9880-00F56277073C}"/>
              </a:ext>
            </a:extLst>
          </p:cNvPr>
          <p:cNvSpPr>
            <a:spLocks xmlns:a="http://schemas.openxmlformats.org/drawingml/2006/main" noGrp="1"/>
          </p:cNvSpPr>
          <p:nvPr/>
        </p:nvSpPr>
        <p:spPr>
          <a:xfrm xmlns:a="http://schemas.openxmlformats.org/drawingml/2006/main">
            <a:off x="9258300" y="21907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0" name="overview-goals">
            <a:extLst xmlns:a="http://schemas.openxmlformats.org/drawingml/2006/main">
              <a:ext uri="{FF2B5EF4-FFF2-40B4-BE49-F238E27FC236}">
                <a16:creationId xmlns:a16="http://schemas.microsoft.com/office/drawing/2014/main" id="{628AE9BD-4EAD-4D9B-B285-A2F815AC4742}"/>
              </a:ext>
            </a:extLst>
          </p:cNvPr>
          <p:cNvSpPr>
            <a:spLocks xmlns:a="http://schemas.openxmlformats.org/drawingml/2006/main" noGrp="1"/>
          </p:cNvSpPr>
          <p:nvPr/>
        </p:nvSpPr>
        <p:spPr>
          <a:xfrm xmlns:a="http://schemas.openxmlformats.org/drawingml/2006/main">
            <a:off x="9258300" y="2752725"/>
            <a:ext cx="5410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Bronnen kiezen, comparatief voordeel</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uitleggen, import en opbrengst</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berekenen, conclusies onderbouwen.</a:t>
            </a:r>
          </a:p>
        </p:txBody>
      </p:sp>
      <p:sp>
        <p:nvSpPr>
          <p:cNvPr id="21" name="">
            <a:extLst xmlns:a="http://schemas.openxmlformats.org/drawingml/2006/main">
              <a:ext uri="{FF2B5EF4-FFF2-40B4-BE49-F238E27FC236}">
                <a16:creationId xmlns:a16="http://schemas.microsoft.com/office/drawing/2014/main" id="{11589F06-8782-4FEA-BC8A-6B521FF050A2}"/>
              </a:ext>
            </a:extLst>
          </p:cNvPr>
          <p:cNvSpPr>
            <a:spLocks xmlns:a="http://schemas.openxmlformats.org/drawingml/2006/main" noGrp="1"/>
          </p:cNvSpPr>
          <p:nvPr/>
        </p:nvSpPr>
        <p:spPr>
          <a:xfrm xmlns:a="http://schemas.openxmlformats.org/drawingml/2006/main">
            <a:off x="9258300" y="4000500"/>
            <a:ext cx="5410200" cy="0"/>
          </a:xfrm>
          <a:prstGeom xmlns:a="http://schemas.openxmlformats.org/drawingml/2006/main" prst="line">
            <a:avLst/>
          </a:prstGeom>
          <a:ln xmlns:a="http://schemas.openxmlformats.org/drawingml/2006/main" w="19050">
            <a:solidFill>
              <a:srgbClr val="C6D2DB"/>
            </a:solidFill>
          </a:ln>
        </p:spPr>
      </p:sp>
      <p:sp>
        <p:nvSpPr>
          <p:cNvPr id="22" name="Startopdracht">
            <a:extLst xmlns:a="http://schemas.openxmlformats.org/drawingml/2006/main">
              <a:ext uri="{FF2B5EF4-FFF2-40B4-BE49-F238E27FC236}">
                <a16:creationId xmlns:a16="http://schemas.microsoft.com/office/drawing/2014/main" id="{47CB09B7-112F-48D9-B19E-8353589704E7}"/>
              </a:ext>
            </a:extLst>
          </p:cNvPr>
          <p:cNvSpPr>
            <a:spLocks xmlns:a="http://schemas.openxmlformats.org/drawingml/2006/main" noGrp="1"/>
          </p:cNvSpPr>
          <p:nvPr/>
        </p:nvSpPr>
        <p:spPr>
          <a:xfrm xmlns:a="http://schemas.openxmlformats.org/drawingml/2006/main">
            <a:off x="9258300" y="42386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3" name="overview-start">
            <a:extLst xmlns:a="http://schemas.openxmlformats.org/drawingml/2006/main">
              <a:ext uri="{FF2B5EF4-FFF2-40B4-BE49-F238E27FC236}">
                <a16:creationId xmlns:a16="http://schemas.microsoft.com/office/drawing/2014/main" id="{C4B4EB60-3C85-4126-B4C1-4DD390D4E3BF}"/>
              </a:ext>
            </a:extLst>
          </p:cNvPr>
          <p:cNvSpPr>
            <a:spLocks xmlns:a="http://schemas.openxmlformats.org/drawingml/2006/main" noGrp="1"/>
          </p:cNvSpPr>
          <p:nvPr/>
        </p:nvSpPr>
        <p:spPr>
          <a:xfrm xmlns:a="http://schemas.openxmlformats.org/drawingml/2006/main">
            <a:off x="9258300" y="4762500"/>
            <a:ext cx="53816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117 · Opgave 31</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Eerste gemengde opgave</a:t>
            </a:r>
          </a:p>
        </p:txBody>
      </p:sp>
      <p:sp>
        <p:nvSpPr>
          <p:cNvPr id="24" name="">
            <a:extLst xmlns:a="http://schemas.openxmlformats.org/drawingml/2006/main">
              <a:ext uri="{FF2B5EF4-FFF2-40B4-BE49-F238E27FC236}">
                <a16:creationId xmlns:a16="http://schemas.microsoft.com/office/drawing/2014/main" id="{8F7ECF06-C6DA-495B-87DC-A67E11DD11AB}"/>
              </a:ext>
            </a:extLst>
          </p:cNvPr>
          <p:cNvSpPr>
            <a:spLocks xmlns:a="http://schemas.openxmlformats.org/drawingml/2006/main" noGrp="1"/>
          </p:cNvSpPr>
          <p:nvPr/>
        </p:nvSpPr>
        <p:spPr>
          <a:xfrm xmlns:a="http://schemas.openxmlformats.org/drawingml/2006/main">
            <a:off x="9258300" y="5676900"/>
            <a:ext cx="5410200" cy="0"/>
          </a:xfrm>
          <a:prstGeom xmlns:a="http://schemas.openxmlformats.org/drawingml/2006/main" prst="line">
            <a:avLst/>
          </a:prstGeom>
          <a:ln xmlns:a="http://schemas.openxmlformats.org/drawingml/2006/main" w="19050">
            <a:solidFill>
              <a:srgbClr val="C6D2DB"/>
            </a:solidFill>
          </a:ln>
        </p:spPr>
      </p:sp>
      <p:sp>
        <p:nvSpPr>
          <p:cNvPr id="25" name="Huiswerk">
            <a:extLst xmlns:a="http://schemas.openxmlformats.org/drawingml/2006/main">
              <a:ext uri="{FF2B5EF4-FFF2-40B4-BE49-F238E27FC236}">
                <a16:creationId xmlns:a16="http://schemas.microsoft.com/office/drawing/2014/main" id="{E21E4323-07A5-4003-AC3F-D00471660ED6}"/>
              </a:ext>
            </a:extLst>
          </p:cNvPr>
          <p:cNvSpPr>
            <a:spLocks xmlns:a="http://schemas.openxmlformats.org/drawingml/2006/main" noGrp="1"/>
          </p:cNvSpPr>
          <p:nvPr/>
        </p:nvSpPr>
        <p:spPr>
          <a:xfrm xmlns:a="http://schemas.openxmlformats.org/drawingml/2006/main">
            <a:off x="9258300" y="586740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Huiswerk</a:t>
            </a:r>
          </a:p>
        </p:txBody>
      </p:sp>
      <p:sp>
        <p:nvSpPr>
          <p:cNvPr id="26" name="overview-homework">
            <a:extLst xmlns:a="http://schemas.openxmlformats.org/drawingml/2006/main">
              <a:ext uri="{FF2B5EF4-FFF2-40B4-BE49-F238E27FC236}">
                <a16:creationId xmlns:a16="http://schemas.microsoft.com/office/drawing/2014/main" id="{40120E51-6D94-4FB6-ABD5-8F02CFF15043}"/>
              </a:ext>
            </a:extLst>
          </p:cNvPr>
          <p:cNvSpPr>
            <a:spLocks xmlns:a="http://schemas.openxmlformats.org/drawingml/2006/main" noGrp="1"/>
          </p:cNvSpPr>
          <p:nvPr/>
        </p:nvSpPr>
        <p:spPr>
          <a:xfrm xmlns:a="http://schemas.openxmlformats.org/drawingml/2006/main">
            <a:off x="9258300" y="6457950"/>
            <a:ext cx="5381625"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§3.3.4 · Opgaven 31–38</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Voorbereiding: 31–34 · Doel: 35</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Bonus: 36 · Herhaling: 37–38</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Maken en nakijken</a:t>
            </a:r>
          </a:p>
        </p:txBody>
      </p:sp>
      <p:sp>
        <p:nvSpPr>
          <p:cNvPr id="27" name="§3.3.4 · Boekpagina’s 117–123">
            <a:extLst xmlns:a="http://schemas.openxmlformats.org/drawingml/2006/main">
              <a:ext uri="{FF2B5EF4-FFF2-40B4-BE49-F238E27FC236}">
                <a16:creationId xmlns:a16="http://schemas.microsoft.com/office/drawing/2014/main" id="{22D25C50-C5D0-475E-B7CB-9BBC98318AEE}"/>
              </a:ext>
            </a:extLst>
          </p:cNvPr>
          <p:cNvSpPr>
            <a:spLocks xmlns:a="http://schemas.openxmlformats.org/drawingml/2006/main" noGrp="1"/>
          </p:cNvSpPr>
          <p:nvPr/>
        </p:nvSpPr>
        <p:spPr>
          <a:xfrm xmlns:a="http://schemas.openxmlformats.org/drawingml/2006/main">
            <a:off x="571500" y="8077200"/>
            <a:ext cx="1285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§3.3.4 · Boekpagina’s 117–123</a:t>
            </a:r>
          </a:p>
        </p:txBody>
      </p:sp>
      <p:sp>
        <p:nvSpPr>
          <p:cNvPr id="28" name="21">
            <a:extLst xmlns:a="http://schemas.openxmlformats.org/drawingml/2006/main">
              <a:ext uri="{FF2B5EF4-FFF2-40B4-BE49-F238E27FC236}">
                <a16:creationId xmlns:a16="http://schemas.microsoft.com/office/drawing/2014/main" id="{3A9B71AA-E492-4970-96A5-9B31E56F17B9}"/>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21</a:t>
            </a:r>
          </a:p>
        </p:txBody>
      </p:sp>
    </p:spTree>
    <p:extLst>
      <p:ext uri="{BB962C8B-B14F-4D97-AF65-F5344CB8AC3E}">
        <p14:creationId xmlns:p14="http://schemas.microsoft.com/office/powerpoint/2010/main" val="164808568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2026-10-01T11:21:10.6300000Z</dcterms:created>
  <dcterms:modified xsi:type="dcterms:W3CDTF">2026-10-01T11:21:10.6300000Z</dcterms:modified>
</coreProperties>
</file>