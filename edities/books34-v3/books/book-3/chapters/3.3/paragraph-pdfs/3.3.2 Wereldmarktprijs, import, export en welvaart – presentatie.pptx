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5.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6.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536a9dd90724308" /><Relationship Type="http://schemas.openxmlformats.org/officeDocument/2006/relationships/extended-properties" Target="/docProps/app.xml" Id="R2ddb5b1112044477" /><Relationship Type="http://schemas.openxmlformats.org/officeDocument/2006/relationships/officeDocument" Target="/ppt/presentation.xml" Id="R662312328baf4e8d" /></Relationships>
</file>

<file path=ppt/presentation.xml><?xml version="1.0" encoding="utf-8"?>
<p:presentation xmlns:p="http://schemas.openxmlformats.org/presentationml/2006/main">
  <p:sldMasterIdLst>
    <p:sldMasterId xmlns:r="http://schemas.openxmlformats.org/officeDocument/2006/relationships" id="2147483648" r:id="R5f20b80077554468"/>
  </p:sldMasterIdLst>
  <p:notesMasterIdLst>
    <p:notesMasterId xmlns:r="http://schemas.openxmlformats.org/officeDocument/2006/relationships" r:id="R6e8037ec4fc64acd"/>
  </p:notesMasterIdLst>
  <p:sldIdLst>
    <p:sldId xmlns:r="http://schemas.openxmlformats.org/officeDocument/2006/relationships" id="256" r:id="Rc191bd05ff7848ef"/>
    <p:sldId xmlns:r="http://schemas.openxmlformats.org/officeDocument/2006/relationships" id="257" r:id="Rf3c83907beaa4220"/>
    <p:sldId xmlns:r="http://schemas.openxmlformats.org/officeDocument/2006/relationships" id="258" r:id="R81a0253360de4077"/>
    <p:sldId xmlns:r="http://schemas.openxmlformats.org/officeDocument/2006/relationships" id="259" r:id="Rf769eb07081e4feb"/>
    <p:sldId xmlns:r="http://schemas.openxmlformats.org/officeDocument/2006/relationships" id="260" r:id="R3a8b7fa5e2124d80"/>
    <p:sldId xmlns:r="http://schemas.openxmlformats.org/officeDocument/2006/relationships" id="261" r:id="R6a61d7ec855f4a0a"/>
    <p:sldId xmlns:r="http://schemas.openxmlformats.org/officeDocument/2006/relationships" id="262" r:id="Ra2e1c06d40194bf8"/>
    <p:sldId xmlns:r="http://schemas.openxmlformats.org/officeDocument/2006/relationships" id="263" r:id="R6783fb366b4e4281"/>
    <p:sldId xmlns:r="http://schemas.openxmlformats.org/officeDocument/2006/relationships" id="264" r:id="R3c34231c34ee4a18"/>
    <p:sldId xmlns:r="http://schemas.openxmlformats.org/officeDocument/2006/relationships" id="265" r:id="R61e5d8f4a27f4c62"/>
    <p:sldId xmlns:r="http://schemas.openxmlformats.org/officeDocument/2006/relationships" id="266" r:id="Rf5ba17da307e4924"/>
    <p:sldId xmlns:r="http://schemas.openxmlformats.org/officeDocument/2006/relationships" id="267" r:id="R16ad4be229504f71"/>
    <p:sldId xmlns:r="http://schemas.openxmlformats.org/officeDocument/2006/relationships" id="268" r:id="R197a3a9e5c184cea"/>
    <p:sldId xmlns:r="http://schemas.openxmlformats.org/officeDocument/2006/relationships" id="269" r:id="Rdd7b0b615e6d4a69"/>
    <p:sldId xmlns:r="http://schemas.openxmlformats.org/officeDocument/2006/relationships" id="270" r:id="R58a3c18953e3409a"/>
    <p:sldId xmlns:r="http://schemas.openxmlformats.org/officeDocument/2006/relationships" id="271" r:id="Red75cb43307145c7"/>
    <p:sldId xmlns:r="http://schemas.openxmlformats.org/officeDocument/2006/relationships" id="272" r:id="R1d324134103841e6"/>
    <p:sldId xmlns:r="http://schemas.openxmlformats.org/officeDocument/2006/relationships" id="273" r:id="Rf10d7e87c21b4ab5"/>
    <p:sldId xmlns:r="http://schemas.openxmlformats.org/officeDocument/2006/relationships" id="274" r:id="R0c1d87a910b24e91"/>
    <p:sldId xmlns:r="http://schemas.openxmlformats.org/officeDocument/2006/relationships" id="275" r:id="R6dba67d631e8451b"/>
    <p:sldId xmlns:r="http://schemas.openxmlformats.org/officeDocument/2006/relationships" id="276" r:id="Reb18dae6a9d14347"/>
    <p:sldId xmlns:r="http://schemas.openxmlformats.org/officeDocument/2006/relationships" id="277" r:id="R8d568ae84ccf489e"/>
    <p:sldId xmlns:r="http://schemas.openxmlformats.org/officeDocument/2006/relationships" id="278" r:id="R86c7d7ccae054cd1"/>
    <p:sldId xmlns:r="http://schemas.openxmlformats.org/officeDocument/2006/relationships" id="279" r:id="R0c25596888ae43bf"/>
    <p:sldId xmlns:r="http://schemas.openxmlformats.org/officeDocument/2006/relationships" id="280" r:id="Refd00b2f678a4cd0"/>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8af653e6ebf4d83" /><Relationship Type="http://schemas.openxmlformats.org/officeDocument/2006/relationships/slideMaster" Target="/ppt/slideMasters/slideMaster1.xml" Id="R5f20b80077554468" /><Relationship Type="http://schemas.openxmlformats.org/officeDocument/2006/relationships/notesMaster" Target="/ppt/notesMasters/notesMaster1.xml" Id="R6e8037ec4fc64acd" /><Relationship Type="http://schemas.openxmlformats.org/officeDocument/2006/relationships/presProps" Target="/ppt/presProps.xml" Id="Rd9f056dabcc04746" /><Relationship Type="http://schemas.openxmlformats.org/officeDocument/2006/relationships/tableStyles" Target="/ppt/tableStyles.xml" Id="Rbe1abf931dde456d" /><Relationship Type="http://schemas.openxmlformats.org/officeDocument/2006/relationships/slide" Target="/ppt/slides/slide1.xml" Id="Rc191bd05ff7848ef" /><Relationship Type="http://schemas.openxmlformats.org/officeDocument/2006/relationships/slide" Target="/ppt/slides/slide2.xml" Id="Rf3c83907beaa4220" /><Relationship Type="http://schemas.openxmlformats.org/officeDocument/2006/relationships/slide" Target="/ppt/slides/slide3.xml" Id="R81a0253360de4077" /><Relationship Type="http://schemas.openxmlformats.org/officeDocument/2006/relationships/slide" Target="/ppt/slides/slide4.xml" Id="Rf769eb07081e4feb" /><Relationship Type="http://schemas.openxmlformats.org/officeDocument/2006/relationships/slide" Target="/ppt/slides/slide5.xml" Id="R3a8b7fa5e2124d80" /><Relationship Type="http://schemas.openxmlformats.org/officeDocument/2006/relationships/slide" Target="/ppt/slides/slide6.xml" Id="R6a61d7ec855f4a0a" /><Relationship Type="http://schemas.openxmlformats.org/officeDocument/2006/relationships/slide" Target="/ppt/slides/slide7.xml" Id="Ra2e1c06d40194bf8" /><Relationship Type="http://schemas.openxmlformats.org/officeDocument/2006/relationships/slide" Target="/ppt/slides/slide8.xml" Id="R6783fb366b4e4281" /><Relationship Type="http://schemas.openxmlformats.org/officeDocument/2006/relationships/slide" Target="/ppt/slides/slide9.xml" Id="R3c34231c34ee4a18" /><Relationship Type="http://schemas.openxmlformats.org/officeDocument/2006/relationships/slide" Target="/ppt/slides/slide10.xml" Id="R61e5d8f4a27f4c62" /><Relationship Type="http://schemas.openxmlformats.org/officeDocument/2006/relationships/slide" Target="/ppt/slides/slide11.xml" Id="Rf5ba17da307e4924" /><Relationship Type="http://schemas.openxmlformats.org/officeDocument/2006/relationships/slide" Target="/ppt/slides/slide12.xml" Id="R16ad4be229504f71" /><Relationship Type="http://schemas.openxmlformats.org/officeDocument/2006/relationships/slide" Target="/ppt/slides/slide13.xml" Id="R197a3a9e5c184cea" /><Relationship Type="http://schemas.openxmlformats.org/officeDocument/2006/relationships/slide" Target="/ppt/slides/slide14.xml" Id="Rdd7b0b615e6d4a69" /><Relationship Type="http://schemas.openxmlformats.org/officeDocument/2006/relationships/slide" Target="/ppt/slides/slide15.xml" Id="R58a3c18953e3409a" /><Relationship Type="http://schemas.openxmlformats.org/officeDocument/2006/relationships/slide" Target="/ppt/slides/slide16.xml" Id="Red75cb43307145c7" /><Relationship Type="http://schemas.openxmlformats.org/officeDocument/2006/relationships/slide" Target="/ppt/slides/slide17.xml" Id="R1d324134103841e6" /><Relationship Type="http://schemas.openxmlformats.org/officeDocument/2006/relationships/slide" Target="/ppt/slides/slide18.xml" Id="Rf10d7e87c21b4ab5" /><Relationship Type="http://schemas.openxmlformats.org/officeDocument/2006/relationships/slide" Target="/ppt/slides/slide19.xml" Id="R0c1d87a910b24e91" /><Relationship Type="http://schemas.openxmlformats.org/officeDocument/2006/relationships/slide" Target="/ppt/slides/slide20.xml" Id="R6dba67d631e8451b" /><Relationship Type="http://schemas.openxmlformats.org/officeDocument/2006/relationships/slide" Target="/ppt/slides/slide21.xml" Id="Reb18dae6a9d14347" /><Relationship Type="http://schemas.openxmlformats.org/officeDocument/2006/relationships/slide" Target="/ppt/slides/slide22.xml" Id="R8d568ae84ccf489e" /><Relationship Type="http://schemas.openxmlformats.org/officeDocument/2006/relationships/slide" Target="/ppt/slides/slide23.xml" Id="R86c7d7ccae054cd1" /><Relationship Type="http://schemas.openxmlformats.org/officeDocument/2006/relationships/slide" Target="/ppt/slides/slide24.xml" Id="R0c25596888ae43bf" /><Relationship Type="http://schemas.openxmlformats.org/officeDocument/2006/relationships/slide" Target="/ppt/slides/slide25.xml" Id="Refd00b2f678a4c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ab4caab01740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bb33561eb34cea" /><Relationship Type="http://schemas.openxmlformats.org/officeDocument/2006/relationships/notesMaster" Target="/ppt/notesMasters/notesMaster1.xml" Id="R744a63d466164d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db61274daf48be" /><Relationship Type="http://schemas.openxmlformats.org/officeDocument/2006/relationships/notesMaster" Target="/ppt/notesMasters/notesMaster1.xml" Id="R872c0cf70ac24a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45a52d9ac24423" /><Relationship Type="http://schemas.openxmlformats.org/officeDocument/2006/relationships/notesMaster" Target="/ppt/notesMasters/notesMaster1.xml" Id="R6715986fb8f742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01a9252c184a84" /><Relationship Type="http://schemas.openxmlformats.org/officeDocument/2006/relationships/notesMaster" Target="/ppt/notesMasters/notesMaster1.xml" Id="R8eeeeb0ec8564d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44afd67a8e455f" /><Relationship Type="http://schemas.openxmlformats.org/officeDocument/2006/relationships/notesMaster" Target="/ppt/notesMasters/notesMaster1.xml" Id="R3beb4439999149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53da616a6a4185" /><Relationship Type="http://schemas.openxmlformats.org/officeDocument/2006/relationships/notesMaster" Target="/ppt/notesMasters/notesMaster1.xml" Id="R63fd61bdd585491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f9134f9ceb4745" /><Relationship Type="http://schemas.openxmlformats.org/officeDocument/2006/relationships/notesMaster" Target="/ppt/notesMasters/notesMaster1.xml" Id="R2d9bdbaf31d543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05683b2fd744a45" /><Relationship Type="http://schemas.openxmlformats.org/officeDocument/2006/relationships/notesMaster" Target="/ppt/notesMasters/notesMaster1.xml" Id="R97a65c8e57da40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c2ce6c86084fef" /><Relationship Type="http://schemas.openxmlformats.org/officeDocument/2006/relationships/notesMaster" Target="/ppt/notesMasters/notesMaster1.xml" Id="Rc3455b092b82459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70ae17e43c94d1e" /><Relationship Type="http://schemas.openxmlformats.org/officeDocument/2006/relationships/notesMaster" Target="/ppt/notesMasters/notesMaster1.xml" Id="R7fe9284ca504438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fbef63a914a43e0" /><Relationship Type="http://schemas.openxmlformats.org/officeDocument/2006/relationships/notesMaster" Target="/ppt/notesMasters/notesMaster1.xml" Id="Rbfff1997fda74b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2eaf6d1b1e240ef" /><Relationship Type="http://schemas.openxmlformats.org/officeDocument/2006/relationships/notesMaster" Target="/ppt/notesMasters/notesMaster1.xml" Id="R506788dc7beb4e1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7cc994f93084b32" /><Relationship Type="http://schemas.openxmlformats.org/officeDocument/2006/relationships/notesMaster" Target="/ppt/notesMasters/notesMaster1.xml" Id="Rb2a224200ad8476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37b4d37c90a46ce" /><Relationship Type="http://schemas.openxmlformats.org/officeDocument/2006/relationships/notesMaster" Target="/ppt/notesMasters/notesMaster1.xml" Id="R572eea219fe745a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876444eb91b461b" /><Relationship Type="http://schemas.openxmlformats.org/officeDocument/2006/relationships/notesMaster" Target="/ppt/notesMasters/notesMaster1.xml" Id="R32a72d10a676421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43f44d7c2cf4e50" /><Relationship Type="http://schemas.openxmlformats.org/officeDocument/2006/relationships/notesMaster" Target="/ppt/notesMasters/notesMaster1.xml" Id="R2058576c0754426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587e14024674e5a" /><Relationship Type="http://schemas.openxmlformats.org/officeDocument/2006/relationships/notesMaster" Target="/ppt/notesMasters/notesMaster1.xml" Id="Rd429f329c3d547d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cab36914f0043b6" /><Relationship Type="http://schemas.openxmlformats.org/officeDocument/2006/relationships/notesMaster" Target="/ppt/notesMasters/notesMaster1.xml" Id="R72e1bdeca6fa4eb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7693691608e49aa" /><Relationship Type="http://schemas.openxmlformats.org/officeDocument/2006/relationships/notesMaster" Target="/ppt/notesMasters/notesMaster1.xml" Id="R9d253db39f874ba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a45b2ee4cb148be" /><Relationship Type="http://schemas.openxmlformats.org/officeDocument/2006/relationships/notesMaster" Target="/ppt/notesMasters/notesMaster1.xml" Id="R3c90d7013f1e44e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70204dc88934111" /><Relationship Type="http://schemas.openxmlformats.org/officeDocument/2006/relationships/notesMaster" Target="/ppt/notesMasters/notesMaster1.xml" Id="Re665fc4c986042f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e4dc0855b71470e" /><Relationship Type="http://schemas.openxmlformats.org/officeDocument/2006/relationships/notesMaster" Target="/ppt/notesMasters/notesMaster1.xml" Id="R027b279595484f0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3b426020988424a" /><Relationship Type="http://schemas.openxmlformats.org/officeDocument/2006/relationships/notesMaster" Target="/ppt/notesMasters/notesMaster1.xml" Id="Rd60fd3dda433409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b3ffe209ed949c3" /><Relationship Type="http://schemas.openxmlformats.org/officeDocument/2006/relationships/notesMaster" Target="/ppt/notesMasters/notesMaster1.xml" Id="Ra1709448aafb44e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e57103a01c74baa" /><Relationship Type="http://schemas.openxmlformats.org/officeDocument/2006/relationships/notesMaster" Target="/ppt/notesMasters/notesMaster1.xml" Id="R38e9ccd9e52743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uitleg op p. 97–98 helpt je bij opgave 12?</a:t>
            </a:r>
          </a:p>
          <a:p xmlns:a="http://schemas.openxmlformats.org/drawingml/2006/main">
            <a:r>
              <a:rPr sz="1400"/>
              <a:t/>
            </a:r>
          </a:p>
          <a:p xmlns:a="http://schemas.openxmlformats.org/drawingml/2006/main">
            <a:r>
              <a:rPr sz="1400"/>
              <a:t>Uitleg: Laat dit overzicht staan tijdens startopdracht. Start 11–12 staat op p. 102, basis 13 op p. 102 en 14 op p. 103, zelfstandig 15–16 op p. 104 en doel 17 op p. 105. Huiswerk is 13, 14, 15, 16 en 17 maken en nakijken. Bonus 18 en herhaling 19–20 zijn extra. Opgave 11 haalt invullen in een formule terug. Opgave 12 vraagt de nieuwe koppeling van verbruik en productie aan import. Laat leerlingen daarvoor p. 97–98 lezen en de betekenissen bij Qa, Qv en het verschil aanwijzen. Laat twijfel staan; dit is verkennen. Keer vóór de basisopgaven terug naar 12 en laat de leerling het antwoord met de nieuwe werkwijze verbeteren. Startantwoorden voor eventuele feedback na een poging: 11a Qv=60, Qa=20 producten per week, 11b Qv kopers en Qa producenten. 12a 40 kratten per week, 12b 70 is het verbruik inclusief binnenlandse productie. Het docentadvies reserveert voorlopig twee lessen van 55 minuten voor de volledige route; de tijd is niet gemeten. Schuif de lesgrens zo nodig, behoud alle basisopgaven.</a:t>
            </a:r>
          </a:p>
          <a:p xmlns:a="http://schemas.openxmlformats.org/drawingml/2006/main">
            <a:r>
              <a:rPr sz="1400"/>
              <a:t/>
            </a:r>
          </a:p>
          <a:p xmlns:a="http://schemas.openxmlformats.org/drawingml/2006/main">
            <a:r>
              <a:rPr sz="1400"/>
              <a:t>Misvatting: De start is geen bewijs dat de nieuwe importbewerking al wordt beheerst.</a:t>
            </a:r>
          </a:p>
          <a:p xmlns:a="http://schemas.openxmlformats.org/drawingml/2006/main">
            <a:r>
              <a:rPr sz="1400"/>
              <a:t/>
            </a:r>
          </a:p>
          <a:p xmlns:a="http://schemas.openxmlformats.org/drawingml/2006/main">
            <a:r>
              <a:rPr sz="1400"/>
              <a:t>Overgang: Ga verder met de passende lesfase.</a:t>
            </a:r>
          </a:p>
          <a:p xmlns:a="http://schemas.openxmlformats.org/drawingml/2006/main">
            <a:r>
              <a:rPr sz="1400"/>
              <a:t/>
            </a:r>
          </a:p>
          <a:p xmlns:a="http://schemas.openxmlformats.org/drawingml/2006/main">
            <a:r>
              <a:rPr sz="1400"/>
              <a:t>Bron: Boek 3, actuele v3-uitgave, gedrukte boekpagina 97–105.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kan het verschil zijn tussen wat een land maakt en wat het gebruikt?</a:t>
            </a:r>
          </a:p>
          <a:p xmlns:a="http://schemas.openxmlformats.org/drawingml/2006/main">
            <a:r>
              <a:rPr sz="1400"/>
              <a:t/>
            </a:r>
          </a:p>
          <a:p xmlns:a="http://schemas.openxmlformats.org/drawingml/2006/main">
            <a:r>
              <a:rPr sz="1400"/>
              <a:t>Uitleg: De bestemming is opgave 17, inclusief de redenering per groep en de kleine-landaanname. Voor opgave 16 is ook export nodig. De betekenis van import en export is behandeld in §3.3.1 p. 88. We herhalen kort de techniek van een gegeven prijs invullen en het lezen van twee lijnen.</a:t>
            </a:r>
          </a:p>
          <a:p xmlns:a="http://schemas.openxmlformats.org/drawingml/2006/main">
            <a:r>
              <a:rPr sz="1400"/>
              <a:t/>
            </a:r>
          </a:p>
          <a:p xmlns:a="http://schemas.openxmlformats.org/drawingml/2006/main">
            <a:r>
              <a:rPr sz="1400"/>
              <a:t>Misvatting: Vraag en aanbod hoeven bij een gegeven wereldprijs niet binnenlands gelijk te zijn.</a:t>
            </a:r>
          </a:p>
          <a:p xmlns:a="http://schemas.openxmlformats.org/drawingml/2006/main">
            <a:r>
              <a:rPr sz="1400"/>
              <a:t/>
            </a:r>
          </a:p>
          <a:p xmlns:a="http://schemas.openxmlformats.org/drawingml/2006/main">
            <a:r>
              <a:rPr sz="1400"/>
              <a:t>Overgang: Baken het model af.</a:t>
            </a:r>
          </a:p>
          <a:p xmlns:a="http://schemas.openxmlformats.org/drawingml/2006/main">
            <a:r>
              <a:rPr sz="1400"/>
              <a:t/>
            </a:r>
          </a:p>
          <a:p xmlns:a="http://schemas.openxmlformats.org/drawingml/2006/main">
            <a:r>
              <a:rPr sz="1400"/>
              <a:t>Bron: Boek 3, actuele v3-uitgave, gedrukte boekpagina 97.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kan een kleine importeur de wereldprijs niet zelf bepalen?</a:t>
            </a:r>
          </a:p>
          <a:p xmlns:a="http://schemas.openxmlformats.org/drawingml/2006/main">
            <a:r>
              <a:rPr sz="1400"/>
              <a:t/>
            </a:r>
          </a:p>
          <a:p xmlns:a="http://schemas.openxmlformats.org/drawingml/2006/main">
            <a:r>
              <a:rPr sz="1400"/>
              <a:t>Uitleg: Bij §3.2.1 was één onderneming prijsnemer. Nu is het land klein ten opzichte van de wereldmarkt. Dat is een extra schaalniveau en een expliciete aanname. De binnenlandse vraaglijn blijft dalend. Een horizontale wereldprijslijn toont de gegeven handelsprijs. Alle volgende voorbeelden gebruiken deze voorwaarden.</a:t>
            </a:r>
          </a:p>
          <a:p xmlns:a="http://schemas.openxmlformats.org/drawingml/2006/main">
            <a:r>
              <a:rPr sz="1400"/>
              <a:t/>
            </a:r>
          </a:p>
          <a:p xmlns:a="http://schemas.openxmlformats.org/drawingml/2006/main">
            <a:r>
              <a:rPr sz="1400"/>
              <a:t>Misvatting: Klein gaat hier om invloed op de wereldmarkt, niet om landoppervlak. Pw is geen horizontale binnenlandse vraaglijn.</a:t>
            </a:r>
          </a:p>
          <a:p xmlns:a="http://schemas.openxmlformats.org/drawingml/2006/main">
            <a:r>
              <a:rPr sz="1400"/>
              <a:t/>
            </a:r>
          </a:p>
          <a:p xmlns:a="http://schemas.openxmlformats.org/drawingml/2006/main">
            <a:r>
              <a:rPr sz="1400"/>
              <a:t>Overgang: Bekijk één aparte oefenmarkt.</a:t>
            </a:r>
          </a:p>
          <a:p xmlns:a="http://schemas.openxmlformats.org/drawingml/2006/main">
            <a:r>
              <a:rPr sz="1400"/>
              <a:t/>
            </a:r>
          </a:p>
          <a:p xmlns:a="http://schemas.openxmlformats.org/drawingml/2006/main">
            <a:r>
              <a:rPr sz="1400"/>
              <a:t>Bron: Boek 3, actuele v3-uitgave, gedrukte boekpagina 97.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hoeveelheden zijn zonder handel gelijk?</a:t>
            </a:r>
          </a:p>
          <a:p xmlns:a="http://schemas.openxmlformats.org/drawingml/2006/main">
            <a:r>
              <a:rPr sz="1400"/>
              <a:t/>
            </a:r>
          </a:p>
          <a:p xmlns:a="http://schemas.openxmlformats.org/drawingml/2006/main">
            <a:r>
              <a:rPr sz="1400"/>
              <a:t>Uitleg: Mira verkoopt regenjassen. Dit is een nieuw uitlegvoorbeeld met eigen gegevens. P is euro per jas en Q regenjassen per week. Het model van de vorige dia geldt. Zonder handel: 180−5P=5P−60, dus 240=10P, P=24 en Q=60. De vraag wordt nul bij P=36; aanbod start bij P=12. De grafiek toont uitsluitend niet-negatieve hoeveelheden.</a:t>
            </a:r>
          </a:p>
          <a:p xmlns:a="http://schemas.openxmlformats.org/drawingml/2006/main">
            <a:r>
              <a:rPr sz="1400"/>
              <a:t/>
            </a:r>
          </a:p>
          <a:p xmlns:a="http://schemas.openxmlformats.org/drawingml/2006/main">
            <a:r>
              <a:rPr sz="1400"/>
              <a:t>Misvatting: Gebruik Qv voor verbruik en Qa voor productie; dezelfde uitkomst zonder handel maakt de betekenissen niet gelijk.</a:t>
            </a:r>
          </a:p>
          <a:p xmlns:a="http://schemas.openxmlformats.org/drawingml/2006/main">
            <a:r>
              <a:rPr sz="1400"/>
              <a:t/>
            </a:r>
          </a:p>
          <a:p xmlns:a="http://schemas.openxmlformats.org/drawingml/2006/main">
            <a:r>
              <a:rPr sz="1400"/>
              <a:t>Overgang: Voeg een lagere wereldprijs toe.</a:t>
            </a:r>
          </a:p>
          <a:p xmlns:a="http://schemas.openxmlformats.org/drawingml/2006/main">
            <a:r>
              <a:rPr sz="1400"/>
              <a:t/>
            </a:r>
          </a:p>
          <a:p xmlns:a="http://schemas.openxmlformats.org/drawingml/2006/main">
            <a:r>
              <a:rPr sz="1400"/>
              <a:t>Bron: Boek 3, actuele v3-uitgave, gedrukte boekpagina 97–98.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Uitlegvoorbeeld — niet uit het boek. Regenjassen in Mira, inclusief functies en getallen, zijn voor deze presentatie gemaakt. Het boek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lees je nu productie en verbruik af?</a:t>
            </a:r>
          </a:p>
          <a:p xmlns:a="http://schemas.openxmlformats.org/drawingml/2006/main">
            <a:r>
              <a:rPr sz="1400"/>
              <a:t/>
            </a:r>
          </a:p>
          <a:p xmlns:a="http://schemas.openxmlformats.org/drawingml/2006/main">
            <a:r>
              <a:rPr sz="1400"/>
              <a:t>Uitleg: De gegeven wereldprijs is lager dan de prijs zonder handel. Binnenlandse kopers kunnen gelijkwaardige jassen voor 18 euro importeren. Binnenlandse aanbieders kunnen onder de aannames geen hogere prijs handhaven. Dezelfde binnenlandse lijnen blijven gelden.</a:t>
            </a:r>
          </a:p>
          <a:p xmlns:a="http://schemas.openxmlformats.org/drawingml/2006/main">
            <a:r>
              <a:rPr sz="1400"/>
              <a:t/>
            </a:r>
          </a:p>
          <a:p xmlns:a="http://schemas.openxmlformats.org/drawingml/2006/main">
            <a:r>
              <a:rPr sz="1400"/>
              <a:t>Misvatting: Los Qv=Qa niet opnieuw op voor de binnenlandse markt met handel. Zoek beide hoeveelheden bij de gegeven P.</a:t>
            </a:r>
          </a:p>
          <a:p xmlns:a="http://schemas.openxmlformats.org/drawingml/2006/main">
            <a:r>
              <a:rPr sz="1400"/>
              <a:t/>
            </a:r>
          </a:p>
          <a:p xmlns:a="http://schemas.openxmlformats.org/drawingml/2006/main">
            <a:r>
              <a:rPr sz="1400"/>
              <a:t>Overgang: Lees de twee snijpunten met de prijslijn.</a:t>
            </a:r>
          </a:p>
          <a:p xmlns:a="http://schemas.openxmlformats.org/drawingml/2006/main">
            <a:r>
              <a:rPr sz="1400"/>
              <a:t/>
            </a:r>
          </a:p>
          <a:p xmlns:a="http://schemas.openxmlformats.org/drawingml/2006/main">
            <a:r>
              <a:rPr sz="1400"/>
              <a:t>Bron: Boek 3, actuele v3-uitgave, gedrukte boekpagina 97–98.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Uitlegvoorbeeld — niet uit het boek. Regenjassen in Mira, inclusief functies en getallen, zijn voor deze presentatie gemaakt. Het boek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lijn hoort bij wat Mira zelf maakt?</a:t>
            </a:r>
          </a:p>
          <a:p xmlns:a="http://schemas.openxmlformats.org/drawingml/2006/main">
            <a:r>
              <a:rPr sz="1400"/>
              <a:t/>
            </a:r>
          </a:p>
          <a:p xmlns:a="http://schemas.openxmlformats.org/drawingml/2006/main">
            <a:r>
              <a:rPr sz="1400"/>
              <a:t>Uitleg: Volg de lijn op 18 euro eerst naar A, dan verticaal naar de hoeveelheidsas: 30. Doe hetzelfde bij V: 90. Deze horizontale afstand moet van buiten het land komen. Benoem eerst grootheid en eenheid, daarna de uitkomst.</a:t>
            </a:r>
          </a:p>
          <a:p xmlns:a="http://schemas.openxmlformats.org/drawingml/2006/main">
            <a:r>
              <a:rPr sz="1400"/>
              <a:t/>
            </a:r>
          </a:p>
          <a:p xmlns:a="http://schemas.openxmlformats.org/drawingml/2006/main">
            <a:r>
              <a:rPr sz="1400"/>
              <a:t>Misvatting: Het rechter snijpunt is in deze importgrafiek het verbruik. Het is niet de binnenlandse productie.</a:t>
            </a:r>
          </a:p>
          <a:p xmlns:a="http://schemas.openxmlformats.org/drawingml/2006/main">
            <a:r>
              <a:rPr sz="1400"/>
              <a:t/>
            </a:r>
          </a:p>
          <a:p xmlns:a="http://schemas.openxmlformats.org/drawingml/2006/main">
            <a:r>
              <a:rPr sz="1400"/>
              <a:t>Overgang: Controleer het aflezen met de functies.</a:t>
            </a:r>
          </a:p>
          <a:p xmlns:a="http://schemas.openxmlformats.org/drawingml/2006/main">
            <a:r>
              <a:rPr sz="1400"/>
              <a:t/>
            </a:r>
          </a:p>
          <a:p xmlns:a="http://schemas.openxmlformats.org/drawingml/2006/main">
            <a:r>
              <a:rPr sz="1400"/>
              <a:t>Bron: Boek 3, actuele v3-uitgave, gedrukte boekpagina 97–98.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Uitlegvoorbeeld — niet uit het boek. Regenjassen in Mira, inclusief functies en getallen, zijn voor deze presentatie gemaakt. Het boek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tel je import bij de binnenlandse productie op?</a:t>
            </a:r>
          </a:p>
          <a:p xmlns:a="http://schemas.openxmlformats.org/drawingml/2006/main">
            <a:r>
              <a:rPr sz="1400"/>
              <a:t/>
            </a:r>
          </a:p>
          <a:p xmlns:a="http://schemas.openxmlformats.org/drawingml/2006/main">
            <a:r>
              <a:rPr sz="1400"/>
              <a:t>Uitleg: Modelleer het invullen expliciet: eerst 5×18, daarna optellen of aftrekken. Leg naast iedere berekening dezelfde hoeveelheid uit de grafiek. Import is het verschil, niet het totale verbruik. De controle verbindt de goederenstromen. Deze eigen voorbeeldcijfers werken geen van de toegewezen boekopgaven uit.</a:t>
            </a:r>
          </a:p>
          <a:p xmlns:a="http://schemas.openxmlformats.org/drawingml/2006/main">
            <a:r>
              <a:rPr sz="1400"/>
              <a:t/>
            </a:r>
          </a:p>
          <a:p xmlns:a="http://schemas.openxmlformats.org/drawingml/2006/main">
            <a:r>
              <a:rPr sz="1400"/>
              <a:t>Misvatting: Een uitkomst in regenjassen per week is geen eurobedrag.</a:t>
            </a:r>
          </a:p>
          <a:p xmlns:a="http://schemas.openxmlformats.org/drawingml/2006/main">
            <a:r>
              <a:rPr sz="1400"/>
              <a:t/>
            </a:r>
          </a:p>
          <a:p xmlns:a="http://schemas.openxmlformats.org/drawingml/2006/main">
            <a:r>
              <a:rPr sz="1400"/>
              <a:t>Overgang: Herhaal de betekenis van surplus voordat je het gevolg beoordeelt.</a:t>
            </a:r>
          </a:p>
          <a:p xmlns:a="http://schemas.openxmlformats.org/drawingml/2006/main">
            <a:r>
              <a:rPr sz="1400"/>
              <a:t/>
            </a:r>
          </a:p>
          <a:p xmlns:a="http://schemas.openxmlformats.org/drawingml/2006/main">
            <a:r>
              <a:rPr sz="1400"/>
              <a:t>Bron: Boek 3, actuele v3-uitgave, gedrukte boekpagina 98 en 101.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Uitlegvoorbeeld — niet uit het boek. Regenjassen in Mira, inclusief functies en getallen, zijn voor deze presentatie gemaakt. Het boek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Tot welke hoeveelheid hoort CS, en tot welke hoeveelheid PS?</a:t>
            </a:r>
          </a:p>
          <a:p xmlns:a="http://schemas.openxmlformats.org/drawingml/2006/main">
            <a:r>
              <a:rPr sz="1400"/>
              <a:t/>
            </a:r>
          </a:p>
          <a:p xmlns:a="http://schemas.openxmlformats.org/drawingml/2006/main">
            <a:r>
              <a:rPr sz="1400"/>
              <a:t>Uitleg: Haal Boek 2 §§2.3.1–2.3.2 terug: CS is het verschil tussen betalingsbereidheid en prijs; PS is het verschil tussen prijs en marginale kosten van de geleverde binnenlandse eenheden. Bij handel hebben CS en PS verschillende rechtergrenzen. Bespreek de richting, een volledige oppervlakterekening is hier geen doel. Wie dit moeilijk vindt, laat eerst de prijs en bijbehorende Q aanwijzen in de vorige grafiek.</a:t>
            </a:r>
          </a:p>
          <a:p xmlns:a="http://schemas.openxmlformats.org/drawingml/2006/main">
            <a:r>
              <a:rPr sz="1400"/>
              <a:t/>
            </a:r>
          </a:p>
          <a:p xmlns:a="http://schemas.openxmlformats.org/drawingml/2006/main">
            <a:r>
              <a:rPr sz="1400"/>
              <a:t>Misvatting: CS is geen teruggave van geld. PS is niet de volledige omzet of automatisch winst.</a:t>
            </a:r>
          </a:p>
          <a:p xmlns:a="http://schemas.openxmlformats.org/drawingml/2006/main">
            <a:r>
              <a:rPr sz="1400"/>
              <a:t/>
            </a:r>
          </a:p>
          <a:p xmlns:a="http://schemas.openxmlformats.org/drawingml/2006/main">
            <a:r>
              <a:rPr sz="1400"/>
              <a:t>Overgang: Vergelijk Mira met en zonder import.</a:t>
            </a:r>
          </a:p>
          <a:p xmlns:a="http://schemas.openxmlformats.org/drawingml/2006/main">
            <a:r>
              <a:rPr sz="1400"/>
              <a:t/>
            </a:r>
          </a:p>
          <a:p xmlns:a="http://schemas.openxmlformats.org/drawingml/2006/main">
            <a:r>
              <a:rPr sz="1400"/>
              <a:t>Bron: Boek 3, actuele v3-uitgave, gedrukte boekpagina 100.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gegevens onderbouwen het nadeel voor producenten?</a:t>
            </a:r>
          </a:p>
          <a:p xmlns:a="http://schemas.openxmlformats.org/drawingml/2006/main">
            <a:r>
              <a:rPr sz="1400"/>
              <a:t/>
            </a:r>
          </a:p>
          <a:p xmlns:a="http://schemas.openxmlformats.org/drawingml/2006/main">
            <a:r>
              <a:rPr sz="1400"/>
              <a:t>Uitleg: Vergelijk telkens met dezelfde beginsituatie zonder handel. Voor kopers wordt het verschil tussen betalingsbereidheid en prijs groter en komen aankopen erbij. Binnenlandse producenten ontvangen minder en leveren minder. De prijsverandering geeft bewegingen langs de lijnen, geen verschuiving.</a:t>
            </a:r>
          </a:p>
          <a:p xmlns:a="http://schemas.openxmlformats.org/drawingml/2006/main">
            <a:r>
              <a:rPr sz="1400"/>
              <a:t/>
            </a:r>
          </a:p>
          <a:p xmlns:a="http://schemas.openxmlformats.org/drawingml/2006/main">
            <a:r>
              <a:rPr sz="1400"/>
              <a:t>Misvatting: Meer totaal verbruik betekent niet dat binnenlandse producenten meer verkopen.</a:t>
            </a:r>
          </a:p>
          <a:p xmlns:a="http://schemas.openxmlformats.org/drawingml/2006/main">
            <a:r>
              <a:rPr sz="1400"/>
              <a:t/>
            </a:r>
          </a:p>
          <a:p xmlns:a="http://schemas.openxmlformats.org/drawingml/2006/main">
            <a:r>
              <a:rPr sz="1400"/>
              <a:t>Overgang: Bekijk een alternatief met een hogere wereldprijs.</a:t>
            </a:r>
          </a:p>
          <a:p xmlns:a="http://schemas.openxmlformats.org/drawingml/2006/main">
            <a:r>
              <a:rPr sz="1400"/>
              <a:t/>
            </a:r>
          </a:p>
          <a:p xmlns:a="http://schemas.openxmlformats.org/drawingml/2006/main">
            <a:r>
              <a:rPr sz="1400"/>
              <a:t>Bron: Boek 3, actuele v3-uitgave, gedrukte boekpagina 98 en 100.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Uitlegvoorbeeld — niet uit het boek. Regenjassen in Mira, inclusief functies en getallen, zijn voor deze presentatie gemaakt. Het boek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hoeveelheid staat bij export rechts: productie of verbruik?</a:t>
            </a:r>
          </a:p>
          <a:p xmlns:a="http://schemas.openxmlformats.org/drawingml/2006/main">
            <a:r>
              <a:rPr sz="1400"/>
              <a:t/>
            </a:r>
          </a:p>
          <a:p xmlns:a="http://schemas.openxmlformats.org/drawingml/2006/main">
            <a:r>
              <a:rPr sz="1400"/>
              <a:t>Uitleg: Begin opnieuw bij Mira zonder handel: P=24 en Q=60. De wereldprijs van 30 euro is een alternatief voor de importvariant, geen volgende stap op een tijdlijn. Qa=5×30−60=90; Qv=180−5×30=30. Export=90−30=60. Controle: 30 binnenlands verbruik plus 60 export is 90 productie. Buitenlandse vraag is voldoende. Binnenlandse kopers moeten dezelfde hogere prijs betalen.</a:t>
            </a:r>
          </a:p>
          <a:p xmlns:a="http://schemas.openxmlformats.org/drawingml/2006/main">
            <a:r>
              <a:rPr sz="1400"/>
              <a:t/>
            </a:r>
          </a:p>
          <a:p xmlns:a="http://schemas.openxmlformats.org/drawingml/2006/main">
            <a:r>
              <a:rPr sz="1400"/>
              <a:t>Misvatting: De importformule levert hier een negatief getal. Benoem de richting en bereken export als Qa−Qv.</a:t>
            </a:r>
          </a:p>
          <a:p xmlns:a="http://schemas.openxmlformats.org/drawingml/2006/main">
            <a:r>
              <a:rPr sz="1400"/>
              <a:t/>
            </a:r>
          </a:p>
          <a:p xmlns:a="http://schemas.openxmlformats.org/drawingml/2006/main">
            <a:r>
              <a:rPr sz="1400"/>
              <a:t>Overgang: Vergelijk de gevolgen per groep.</a:t>
            </a:r>
          </a:p>
          <a:p xmlns:a="http://schemas.openxmlformats.org/drawingml/2006/main">
            <a:r>
              <a:rPr sz="1400"/>
              <a:t/>
            </a:r>
          </a:p>
          <a:p xmlns:a="http://schemas.openxmlformats.org/drawingml/2006/main">
            <a:r>
              <a:rPr sz="1400"/>
              <a:t>Bron: Boek 3, actuele v3-uitgave, gedrukte boekpagina 99.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Uitlegvoorbeeld — niet uit het boek. Regenjassen in Mira, inclusief functies en getallen, zijn voor deze presentatie gemaakt. Het boek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betalen ook de binnenlandse kopers 30 euro?</a:t>
            </a:r>
          </a:p>
          <a:p xmlns:a="http://schemas.openxmlformats.org/drawingml/2006/main">
            <a:r>
              <a:rPr sz="1400"/>
              <a:t/>
            </a:r>
          </a:p>
          <a:p xmlns:a="http://schemas.openxmlformats.org/drawingml/2006/main">
            <a:r>
              <a:rPr sz="1400"/>
              <a:t>Uitleg: Export vergroot afzetmogelijkheden voor binnenlandse producenten, maar de hogere prijs geldt ook voor binnenlandse kopers. Leg het verband met de vorige grafiek en de voorwaarden van de handel.</a:t>
            </a:r>
          </a:p>
          <a:p xmlns:a="http://schemas.openxmlformats.org/drawingml/2006/main">
            <a:r>
              <a:rPr sz="1400"/>
              <a:t/>
            </a:r>
          </a:p>
          <a:p xmlns:a="http://schemas.openxmlformats.org/drawingml/2006/main">
            <a:r>
              <a:rPr sz="1400"/>
              <a:t>Misvatting: Export is geen bewijs dat iedere inwoner voordeliger kan kopen.</a:t>
            </a:r>
          </a:p>
          <a:p xmlns:a="http://schemas.openxmlformats.org/drawingml/2006/main">
            <a:r>
              <a:rPr sz="1400"/>
              <a:t/>
            </a:r>
          </a:p>
          <a:p xmlns:a="http://schemas.openxmlformats.org/drawingml/2006/main">
            <a:r>
              <a:rPr sz="1400"/>
              <a:t>Overgang: Maak onderscheid tussen het totaal en de afzonderlijke groepen.</a:t>
            </a:r>
          </a:p>
          <a:p xmlns:a="http://schemas.openxmlformats.org/drawingml/2006/main">
            <a:r>
              <a:rPr sz="1400"/>
              <a:t/>
            </a:r>
          </a:p>
          <a:p xmlns:a="http://schemas.openxmlformats.org/drawingml/2006/main">
            <a:r>
              <a:rPr sz="1400"/>
              <a:t>Bron: Boek 3, actuele v3-uitgave, gedrukte boekpagina 99–100.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Uitlegvoorbeeld — niet uit het boek. Regenjassen in Mira, inclusief functies en getallen, zijn voor deze presentatie gemaakt. Het boek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groep kan verliezen terwijl CS+PS stijgt?</a:t>
            </a:r>
          </a:p>
          <a:p xmlns:a="http://schemas.openxmlformats.org/drawingml/2006/main">
            <a:r>
              <a:rPr sz="1400"/>
              <a:t/>
            </a:r>
          </a:p>
          <a:p xmlns:a="http://schemas.openxmlformats.org/drawingml/2006/main">
            <a:r>
              <a:rPr sz="1400"/>
              <a:t>Uitleg: Onder de genoemde modelaannames weegt het voordeel van de ene binnenlandse groep zwaarder dan het verlies van de andere. Dit is de surplusmaatstaf uit het boek, geen totale meting van welzijn, banen of eerlijkheid. Er is geen compensatie afgesproken. Deze beperking sluit aan op §3.3.1 p. 90.</a:t>
            </a:r>
          </a:p>
          <a:p xmlns:a="http://schemas.openxmlformats.org/drawingml/2006/main">
            <a:r>
              <a:rPr sz="1400"/>
              <a:t/>
            </a:r>
          </a:p>
          <a:p xmlns:a="http://schemas.openxmlformats.org/drawingml/2006/main">
            <a:r>
              <a:rPr sz="1400"/>
              <a:t>Misvatting: Tel richtingen niet mechanisch op zonder model: het totale resultaat volgt hier uit de genoemde concurrentie- en handelsaannames.</a:t>
            </a:r>
          </a:p>
          <a:p xmlns:a="http://schemas.openxmlformats.org/drawingml/2006/main">
            <a:r>
              <a:rPr sz="1400"/>
              <a:t/>
            </a:r>
          </a:p>
          <a:p xmlns:a="http://schemas.openxmlformats.org/drawingml/2006/main">
            <a:r>
              <a:rPr sz="1400"/>
              <a:t>Overgang: Controleer de grenssituatie met dezelfde voorbeeldmarkt.</a:t>
            </a:r>
          </a:p>
          <a:p xmlns:a="http://schemas.openxmlformats.org/drawingml/2006/main">
            <a:r>
              <a:rPr sz="1400"/>
              <a:t/>
            </a:r>
          </a:p>
          <a:p xmlns:a="http://schemas.openxmlformats.org/drawingml/2006/main">
            <a:r>
              <a:rPr sz="1400"/>
              <a:t>Bron: Boek 3, actuele v3-uitgave, gedrukte boekpagina 100.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betekent een verschil van nul?</a:t>
            </a:r>
          </a:p>
          <a:p xmlns:a="http://schemas.openxmlformats.org/drawingml/2006/main">
            <a:r>
              <a:rPr sz="1400"/>
              <a:t/>
            </a:r>
          </a:p>
          <a:p xmlns:a="http://schemas.openxmlformats.org/drawingml/2006/main">
            <a:r>
              <a:rPr sz="1400"/>
              <a:t>Uitleg: Geef denktijd. Bij P=24: Qv=180−120=60 en Qa=120−60=60 per week. Het verschil is nul, dus geen import of export in dit model. Laat de uitleg horen, niet alleen de getallen. Ga terug naar de afleesstap als leerlingen Qa en Qv verwisselen.</a:t>
            </a:r>
          </a:p>
          <a:p xmlns:a="http://schemas.openxmlformats.org/drawingml/2006/main">
            <a:r>
              <a:rPr sz="1400"/>
              <a:t/>
            </a:r>
          </a:p>
          <a:p xmlns:a="http://schemas.openxmlformats.org/drawingml/2006/main">
            <a:r>
              <a:rPr sz="1400"/>
              <a:t>Misvatting: Een land dat kan handelen hoeft op deze markt niet per se een positieve handelsstroom te hebben.</a:t>
            </a:r>
          </a:p>
          <a:p xmlns:a="http://schemas.openxmlformats.org/drawingml/2006/main">
            <a:r>
              <a:rPr sz="1400"/>
              <a:t/>
            </a:r>
          </a:p>
          <a:p xmlns:a="http://schemas.openxmlformats.org/drawingml/2006/main">
            <a:r>
              <a:rPr sz="1400"/>
              <a:t>Overgang: Keer op het overzicht terug naar startopgave 12, daarna basis 13–14.</a:t>
            </a:r>
          </a:p>
          <a:p xmlns:a="http://schemas.openxmlformats.org/drawingml/2006/main">
            <a:r>
              <a:rPr sz="1400"/>
              <a:t/>
            </a:r>
          </a:p>
          <a:p xmlns:a="http://schemas.openxmlformats.org/drawingml/2006/main">
            <a:r>
              <a:rPr sz="1400"/>
              <a:t>Bron: Boek 3, actuele v3-uitgave, gedrukte boekpagina 97–101.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Uitlegvoorbeeld — niet uit het boek. Regenjassen in Mira, inclusief functies en getallen, zijn voor deze presentatie gemaakt. Het boek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uit je eigen werk kun je nu verbeteren?</a:t>
            </a:r>
          </a:p>
          <a:p xmlns:a="http://schemas.openxmlformats.org/drawingml/2006/main">
            <a:r>
              <a:rPr sz="1400"/>
              <a:t/>
            </a:r>
          </a:p>
          <a:p xmlns:a="http://schemas.openxmlformats.org/drawingml/2006/main">
            <a:r>
              <a:rPr sz="1400"/>
              <a:t>Uitleg: Laat dit overzicht staan tijdens oefenen en nakijken. Start 11–12 staat op p. 102, basis 13 op p. 102 en 14 op p. 103, zelfstandig 15–16 op p. 104 en doel 17 op p. 105. Huiswerk is 13, 14, 15, 16 en 17 maken en nakijken. Bonus 18 en herhaling 19–20 zijn extra. Opgave 11 haalt invullen in een formule terug. Opgave 12 vraagt de nieuwe koppeling van verbruik en productie aan import. Laat leerlingen daarvoor p. 97–98 lezen en de betekenissen bij Qa, Qv en het verschil aanwijzen. Laat twijfel staan; dit is verkennen. Keer vóór de basisopgaven terug naar 12 en laat de leerling het antwoord met de nieuwe werkwijze verbeteren. Startantwoorden voor eventuele feedback na een poging: 11a Qv=60, Qa=20 producten per week, 11b Qv kopers en Qa producenten. 12a 40 kratten per week, 12b 70 is het verbruik inclusief binnenlandse productie. Het docentadvies reserveert voorlopig twee lessen van 55 minuten voor de volledige route; de tijd is niet gemeten. Schuif de lesgrens zo nodig, behoud alle basisopgaven.</a:t>
            </a:r>
          </a:p>
          <a:p xmlns:a="http://schemas.openxmlformats.org/drawingml/2006/main">
            <a:r>
              <a:rPr sz="1400"/>
              <a:t/>
            </a:r>
          </a:p>
          <a:p xmlns:a="http://schemas.openxmlformats.org/drawingml/2006/main">
            <a:r>
              <a:rPr sz="1400"/>
              <a:t>Misvatting: De start is geen bewijs dat de nieuwe importbewerking al wordt beheerst.</a:t>
            </a:r>
          </a:p>
          <a:p xmlns:a="http://schemas.openxmlformats.org/drawingml/2006/main">
            <a:r>
              <a:rPr sz="1400"/>
              <a:t/>
            </a:r>
          </a:p>
          <a:p xmlns:a="http://schemas.openxmlformats.org/drawingml/2006/main">
            <a:r>
              <a:rPr sz="1400"/>
              <a:t>Overgang: Ga verder met de passende lesfase.</a:t>
            </a:r>
          </a:p>
          <a:p xmlns:a="http://schemas.openxmlformats.org/drawingml/2006/main">
            <a:r>
              <a:rPr sz="1400"/>
              <a:t/>
            </a:r>
          </a:p>
          <a:p xmlns:a="http://schemas.openxmlformats.org/drawingml/2006/main">
            <a:r>
              <a:rPr sz="1400"/>
              <a:t>Bron: Boek 3, actuele v3-uitgave, gedrukte boekpagina 97–105.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aannames noemt deze bron?</a:t>
            </a:r>
          </a:p>
          <a:p xmlns:a="http://schemas.openxmlformats.org/drawingml/2006/main">
            <a:r>
              <a:rPr sz="1400"/>
              <a:t/>
            </a:r>
          </a:p>
          <a:p xmlns:a="http://schemas.openxmlformats.org/drawingml/2006/main">
            <a:r>
              <a:rPr sz="1400"/>
              <a:t>Uitleg: Dit is de complete, echte lesbron bij opgave 17. Leerlingen hebben hun eigen poging gemaakt. Toon eerst bron, figuur en alle vragen zonder antwoorden. De markt en de eenheid veranderen van regenjassen naar kampeermatten.</a:t>
            </a:r>
          </a:p>
          <a:p xmlns:a="http://schemas.openxmlformats.org/drawingml/2006/main">
            <a:r>
              <a:rPr sz="1400"/>
              <a:t/>
            </a:r>
          </a:p>
          <a:p xmlns:a="http://schemas.openxmlformats.org/drawingml/2006/main">
            <a:r>
              <a:rPr sz="1400"/>
              <a:t>Misvatting: Gegevens van Mira gelden hier niet.</a:t>
            </a:r>
          </a:p>
          <a:p xmlns:a="http://schemas.openxmlformats.org/drawingml/2006/main">
            <a:r>
              <a:rPr sz="1400"/>
              <a:t/>
            </a:r>
          </a:p>
          <a:p xmlns:a="http://schemas.openxmlformats.org/drawingml/2006/main">
            <a:r>
              <a:rPr sz="1400"/>
              <a:t>Overgang: Toon de gegeven grafiek en vraag a.</a:t>
            </a:r>
          </a:p>
          <a:p xmlns:a="http://schemas.openxmlformats.org/drawingml/2006/main">
            <a:r>
              <a:rPr sz="1400"/>
              <a:t/>
            </a:r>
          </a:p>
          <a:p xmlns:a="http://schemas.openxmlformats.org/drawingml/2006/main">
            <a:r>
              <a:rPr sz="1400"/>
              <a:t>Bron: Boek 3, actuele v3-uitgave, gedrukte boekpagina 105.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gegeven moet je gebruiken voor het aflezen?</a:t>
            </a:r>
          </a:p>
          <a:p xmlns:a="http://schemas.openxmlformats.org/drawingml/2006/main">
            <a:r>
              <a:rPr sz="1400"/>
              <a:t/>
            </a:r>
          </a:p>
          <a:p xmlns:a="http://schemas.openxmlformats.org/drawingml/2006/main">
            <a:r>
              <a:rPr sz="1400"/>
              <a:t>Uitleg: Figuur 7 is bewerkbaar nagemaakt met dezelfde asschalen, lijnen en wereldprijs als de gedrukte opgave. De oorspronkelijke figuur toont geen afleeslijnen of importpijl. Ze zijn hier eveneens nog afwezig. Q is matten per week. Gebruik de gegeven prijslijn en asschalen.</a:t>
            </a:r>
          </a:p>
          <a:p xmlns:a="http://schemas.openxmlformats.org/drawingml/2006/main">
            <a:r>
              <a:rPr sz="1400"/>
              <a:t/>
            </a:r>
          </a:p>
          <a:p xmlns:a="http://schemas.openxmlformats.org/drawingml/2006/main">
            <a:r>
              <a:rPr sz="1400"/>
              <a:t>Misvatting: Lees geen getallen uit de voorgaande voorbeeldmarkt over.</a:t>
            </a:r>
          </a:p>
          <a:p xmlns:a="http://schemas.openxmlformats.org/drawingml/2006/main">
            <a:r>
              <a:rPr sz="1400"/>
              <a:t/>
            </a:r>
          </a:p>
          <a:p xmlns:a="http://schemas.openxmlformats.org/drawingml/2006/main">
            <a:r>
              <a:rPr sz="1400"/>
              <a:t>Overgang: Toon eerst ook b tot en met e; nog geen antwoorden.</a:t>
            </a:r>
          </a:p>
          <a:p xmlns:a="http://schemas.openxmlformats.org/drawingml/2006/main">
            <a:r>
              <a:rPr sz="1400"/>
              <a:t/>
            </a:r>
          </a:p>
          <a:p xmlns:a="http://schemas.openxmlformats.org/drawingml/2006/main">
            <a:r>
              <a:rPr sz="1400"/>
              <a:t>Bron: Boek 3, actuele v3-uitgave, gedrukte boekpagina 105.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gevraagde redenering ontbreekt nog in je eigen antwoord?</a:t>
            </a:r>
          </a:p>
          <a:p xmlns:a="http://schemas.openxmlformats.org/drawingml/2006/main">
            <a:r>
              <a:rPr sz="1400"/>
              <a:t/>
            </a:r>
          </a:p>
          <a:p xmlns:a="http://schemas.openxmlformats.org/drawingml/2006/main">
            <a:r>
              <a:rPr sz="1400"/>
              <a:t>Uitleg: Alle vijf deelvragen zijn nu beschikbaar zonder antwoorden. Laat leerlingen zo nodig hun werk erbij leggen. b vraagt prijs én productie, c vraagt CS, d vraagt een oordeel met een concrete groep, e vraagt de prijsnemende aanname.</a:t>
            </a:r>
          </a:p>
          <a:p xmlns:a="http://schemas.openxmlformats.org/drawingml/2006/main">
            <a:r>
              <a:rPr sz="1400"/>
              <a:t/>
            </a:r>
          </a:p>
          <a:p xmlns:a="http://schemas.openxmlformats.org/drawingml/2006/main">
            <a:r>
              <a:rPr sz="1400"/>
              <a:t>Misvatting: Een los getal is geen volledige verklaring.</a:t>
            </a:r>
          </a:p>
          <a:p xmlns:a="http://schemas.openxmlformats.org/drawingml/2006/main">
            <a:r>
              <a:rPr sz="1400"/>
              <a:t/>
            </a:r>
          </a:p>
          <a:p xmlns:a="http://schemas.openxmlformats.org/drawingml/2006/main">
            <a:r>
              <a:rPr sz="1400"/>
              <a:t>Overgang: Begin daarna pas de stapsgewijze bespreking van a.</a:t>
            </a:r>
          </a:p>
          <a:p xmlns:a="http://schemas.openxmlformats.org/drawingml/2006/main">
            <a:r>
              <a:rPr sz="1400"/>
              <a:t/>
            </a:r>
          </a:p>
          <a:p xmlns:a="http://schemas.openxmlformats.org/drawingml/2006/main">
            <a:r>
              <a:rPr sz="1400"/>
              <a:t>Bron: Boek 3, actuele v3-uitgave, gedrukte boekpagina 105.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 je dezelfde prijs bij beide lijnen?</a:t>
            </a:r>
          </a:p>
          <a:p xmlns:a="http://schemas.openxmlformats.org/drawingml/2006/main">
            <a:r>
              <a:rPr sz="1400"/>
              <a:t/>
            </a:r>
          </a:p>
          <a:p xmlns:a="http://schemas.openxmlformats.org/drawingml/2006/main">
            <a:r>
              <a:rPr sz="1400"/>
              <a:t>Uitleg: Volg Pw=30 naar A en vervolgens naar Q: 60 matten per week. Volg dezelfde prijs naar V: 100. Bij aflezen heeft elk snijpunt zijn eigen betekenis. Deze lijnen corresponderen met P=0,5Q en P=80−0,5Q, maar de opgave vraagt aflezen, niet het afleiden van functies.</a:t>
            </a:r>
          </a:p>
          <a:p xmlns:a="http://schemas.openxmlformats.org/drawingml/2006/main">
            <a:r>
              <a:rPr sz="1400"/>
              <a:t/>
            </a:r>
          </a:p>
          <a:p xmlns:a="http://schemas.openxmlformats.org/drawingml/2006/main">
            <a:r>
              <a:rPr sz="1400"/>
              <a:t>Misvatting: De 100 matten zijn het totale binnenlandse verbruik, niet de import.</a:t>
            </a:r>
          </a:p>
          <a:p xmlns:a="http://schemas.openxmlformats.org/drawingml/2006/main">
            <a:r>
              <a:rPr sz="1400"/>
              <a:t/>
            </a:r>
          </a:p>
          <a:p xmlns:a="http://schemas.openxmlformats.org/drawingml/2006/main">
            <a:r>
              <a:rPr sz="1400"/>
              <a:t>Overgang: Bereken het verschil en controleer de goederenstroom.</a:t>
            </a:r>
          </a:p>
          <a:p xmlns:a="http://schemas.openxmlformats.org/drawingml/2006/main">
            <a:r>
              <a:rPr sz="1400"/>
              <a:t/>
            </a:r>
          </a:p>
          <a:p xmlns:a="http://schemas.openxmlformats.org/drawingml/2006/main">
            <a:r>
              <a:rPr sz="1400"/>
              <a:t>Bron: Boek 3, actuele v3-uitgave, gedrukte boekpagina 105.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zie je aan de controle dat het antwoord klopt?</a:t>
            </a:r>
          </a:p>
          <a:p xmlns:a="http://schemas.openxmlformats.org/drawingml/2006/main">
            <a:r>
              <a:rPr sz="1400"/>
              <a:t/>
            </a:r>
          </a:p>
          <a:p xmlns:a="http://schemas.openxmlformats.org/drawingml/2006/main">
            <a:r>
              <a:rPr sz="1400"/>
              <a:t>Uitleg: Antwoordmodel 17a: Qa=60, Qv=100, import 40 matten per week. Benoem de twee aflezingen, de aftrekking en de eenheid. Een import van 100 zou de binnenlandse productie negeren.</a:t>
            </a:r>
          </a:p>
          <a:p xmlns:a="http://schemas.openxmlformats.org/drawingml/2006/main">
            <a:r>
              <a:rPr sz="1400"/>
              <a:t/>
            </a:r>
          </a:p>
          <a:p xmlns:a="http://schemas.openxmlformats.org/drawingml/2006/main">
            <a:r>
              <a:rPr sz="1400"/>
              <a:t>Misvatting: Import is geen verschil tussen twee prijzen.</a:t>
            </a:r>
          </a:p>
          <a:p xmlns:a="http://schemas.openxmlformats.org/drawingml/2006/main">
            <a:r>
              <a:rPr sz="1400"/>
              <a:t/>
            </a:r>
          </a:p>
          <a:p xmlns:a="http://schemas.openxmlformats.org/drawingml/2006/main">
            <a:r>
              <a:rPr sz="1400"/>
              <a:t>Overgang: Vergelijk nu de binnenlandse producenten met de situatie zonder handel.</a:t>
            </a:r>
          </a:p>
          <a:p xmlns:a="http://schemas.openxmlformats.org/drawingml/2006/main">
            <a:r>
              <a:rPr sz="1400"/>
              <a:t/>
            </a:r>
          </a:p>
          <a:p xmlns:a="http://schemas.openxmlformats.org/drawingml/2006/main">
            <a:r>
              <a:rPr sz="1400"/>
              <a:t>Bron: Boek 3, actuele v3-uitgave, gedrukte boekpagina 105.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lees je de productie zonder handel af?</a:t>
            </a:r>
          </a:p>
          <a:p xmlns:a="http://schemas.openxmlformats.org/drawingml/2006/main">
            <a:r>
              <a:rPr sz="1400"/>
              <a:t/>
            </a:r>
          </a:p>
          <a:p xmlns:a="http://schemas.openxmlformats.org/drawingml/2006/main">
            <a:r>
              <a:rPr sz="1400"/>
              <a:t>Uitleg: Zonder handel lees je het snijpunt van V en A: P=40, Q=80. Met import zijn P=30 en Qa=60. Producenten ontvangen dus minder per mat en leveren minder matten per week. Dat is een beweging langs dezelfde aanbodlijn. Hun PS daalt. Prijs en productie zijn allebei nodig voor deze deelvraag.</a:t>
            </a:r>
          </a:p>
          <a:p xmlns:a="http://schemas.openxmlformats.org/drawingml/2006/main">
            <a:r>
              <a:rPr sz="1400"/>
              <a:t/>
            </a:r>
          </a:p>
          <a:p xmlns:a="http://schemas.openxmlformats.org/drawingml/2006/main">
            <a:r>
              <a:rPr sz="1400"/>
              <a:t>Misvatting: Bij de vergelijking na import gebruik je Qa=60, niet Qv=100.</a:t>
            </a:r>
          </a:p>
          <a:p xmlns:a="http://schemas.openxmlformats.org/drawingml/2006/main">
            <a:r>
              <a:rPr sz="1400"/>
              <a:t/>
            </a:r>
          </a:p>
          <a:p xmlns:a="http://schemas.openxmlformats.org/drawingml/2006/main">
            <a:r>
              <a:rPr sz="1400"/>
              <a:t>Overgang: Bekijk de binnenlandse kopers.</a:t>
            </a:r>
          </a:p>
          <a:p xmlns:a="http://schemas.openxmlformats.org/drawingml/2006/main">
            <a:r>
              <a:rPr sz="1400"/>
              <a:t/>
            </a:r>
          </a:p>
          <a:p xmlns:a="http://schemas.openxmlformats.org/drawingml/2006/main">
            <a:r>
              <a:rPr sz="1400"/>
              <a:t>Bron: Boek 3, actuele v3-uitgave, gedrukte boekpagina 105.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verband leg je tussen de betaalde prijs en betalingsbereidheid?</a:t>
            </a:r>
          </a:p>
          <a:p xmlns:a="http://schemas.openxmlformats.org/drawingml/2006/main">
            <a:r>
              <a:rPr sz="1400"/>
              <a:t/>
            </a:r>
          </a:p>
          <a:p xmlns:a="http://schemas.openxmlformats.org/drawingml/2006/main">
            <a:r>
              <a:rPr sz="1400"/>
              <a:t>Uitleg: CS stijgt. Bestaande kopers betalen 10 euro minder per mat en er komen aankopen tussen 80 en 100 matten bij. Het gebied onder V en boven de prijs wordt groter. Het surplus hoort bij het binnenlands verbruik van 100, ook al worden 40 matten ingevoerd. Een oppervlakterekening is niet gevraagd.</a:t>
            </a:r>
          </a:p>
          <a:p xmlns:a="http://schemas.openxmlformats.org/drawingml/2006/main">
            <a:r>
              <a:rPr sz="1400"/>
              <a:t/>
            </a:r>
          </a:p>
          <a:p xmlns:a="http://schemas.openxmlformats.org/drawingml/2006/main">
            <a:r>
              <a:rPr sz="1400"/>
              <a:t>Misvatting: Een lagere prijs verlaagt hier de betaalde uitgaven per mat, niet de betalingsbereidheid zelf.</a:t>
            </a:r>
          </a:p>
          <a:p xmlns:a="http://schemas.openxmlformats.org/drawingml/2006/main">
            <a:r>
              <a:rPr sz="1400"/>
              <a:t/>
            </a:r>
          </a:p>
          <a:p xmlns:a="http://schemas.openxmlformats.org/drawingml/2006/main">
            <a:r>
              <a:rPr sz="1400"/>
              <a:t>Overgang: Beoordeel vervolgens de uitspraak over alle groepen.</a:t>
            </a:r>
          </a:p>
          <a:p xmlns:a="http://schemas.openxmlformats.org/drawingml/2006/main">
            <a:r>
              <a:rPr sz="1400"/>
              <a:t/>
            </a:r>
          </a:p>
          <a:p xmlns:a="http://schemas.openxmlformats.org/drawingml/2006/main">
            <a:r>
              <a:rPr sz="1400"/>
              <a:t>Bron: Boek 3, actuele v3-uitgave, gedrukte boekpagina 105.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concrete groep weerlegt de uitspraak?</a:t>
            </a:r>
          </a:p>
          <a:p xmlns:a="http://schemas.openxmlformats.org/drawingml/2006/main">
            <a:r>
              <a:rPr sz="1400"/>
              <a:t/>
            </a:r>
          </a:p>
          <a:p xmlns:a="http://schemas.openxmlformats.org/drawingml/2006/main">
            <a:r>
              <a:rPr sz="1400"/>
              <a:t>Uitleg: Beoordeel expliciet: de leerling heeft ongelijk. Binnenlandse producenten vormen het concrete tegenvoorbeeld. Hun nadeel verdwijnt niet doordat het voordeel van kopers groter is. Noem dus zowel oordeel als groep en reden. Er volgt ook geen compensatie uit deze optelling.</a:t>
            </a:r>
          </a:p>
          <a:p xmlns:a="http://schemas.openxmlformats.org/drawingml/2006/main">
            <a:r>
              <a:rPr sz="1400"/>
              <a:t/>
            </a:r>
          </a:p>
          <a:p xmlns:a="http://schemas.openxmlformats.org/drawingml/2006/main">
            <a:r>
              <a:rPr sz="1400"/>
              <a:t>Misvatting: Een hoger totaal is geen garantie dat elk onderdeel stijgt.</a:t>
            </a:r>
          </a:p>
          <a:p xmlns:a="http://schemas.openxmlformats.org/drawingml/2006/main">
            <a:r>
              <a:rPr sz="1400"/>
              <a:t/>
            </a:r>
          </a:p>
          <a:p xmlns:a="http://schemas.openxmlformats.org/drawingml/2006/main">
            <a:r>
              <a:rPr sz="1400"/>
              <a:t>Overgang: Verklaar ten slotte de vaste wereldmarktprijs.</a:t>
            </a:r>
          </a:p>
          <a:p xmlns:a="http://schemas.openxmlformats.org/drawingml/2006/main">
            <a:r>
              <a:rPr sz="1400"/>
              <a:t/>
            </a:r>
          </a:p>
          <a:p xmlns:a="http://schemas.openxmlformats.org/drawingml/2006/main">
            <a:r>
              <a:rPr sz="1400"/>
              <a:t>Bron: Boek 3, actuele v3-uitgave, gedrukte boekpagina 105.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zinsdeel uit de bron onderbouwt dit antwoord?</a:t>
            </a:r>
          </a:p>
          <a:p xmlns:a="http://schemas.openxmlformats.org/drawingml/2006/main">
            <a:r>
              <a:rPr sz="1400"/>
              <a:t/>
            </a:r>
          </a:p>
          <a:p xmlns:a="http://schemas.openxmlformats.org/drawingml/2006/main">
            <a:r>
              <a:rPr sz="1400"/>
              <a:t>Uitleg: Noro is volgens de bron klein en prijsnemend. De handelsomvang van Noro is te klein om de gegeven wereldmarktprijs te beïnvloeden. Verwijs expliciet naar de bron. De redenering is geen algemeen bewijs voor elk land of elke wereldmarkt.</a:t>
            </a:r>
          </a:p>
          <a:p xmlns:a="http://schemas.openxmlformats.org/drawingml/2006/main">
            <a:r>
              <a:rPr sz="1400"/>
              <a:t/>
            </a:r>
          </a:p>
          <a:p xmlns:a="http://schemas.openxmlformats.org/drawingml/2006/main">
            <a:r>
              <a:rPr sz="1400"/>
              <a:t>Misvatting: Concludeer niet dat extra wereldwijde vraag nooit invloed op een wereldprijs heeft.</a:t>
            </a:r>
          </a:p>
          <a:p xmlns:a="http://schemas.openxmlformats.org/drawingml/2006/main">
            <a:r>
              <a:rPr sz="1400"/>
              <a:t/>
            </a:r>
          </a:p>
          <a:p xmlns:a="http://schemas.openxmlformats.org/drawingml/2006/main">
            <a:r>
              <a:rPr sz="1400"/>
              <a:t>Overgang: Controleer de volledigheid van het eigen antwoord.</a:t>
            </a:r>
          </a:p>
          <a:p xmlns:a="http://schemas.openxmlformats.org/drawingml/2006/main">
            <a:r>
              <a:rPr sz="1400"/>
              <a:t/>
            </a:r>
          </a:p>
          <a:p xmlns:a="http://schemas.openxmlformats.org/drawingml/2006/main">
            <a:r>
              <a:rPr sz="1400"/>
              <a:t>Bron: Boek 3, actuele v3-uitgave, gedrukte boekpagina 105.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verbetering kun je nu zelf aanbrengen?</a:t>
            </a:r>
          </a:p>
          <a:p xmlns:a="http://schemas.openxmlformats.org/drawingml/2006/main">
            <a:r>
              <a:rPr sz="1400"/>
              <a:t/>
            </a:r>
          </a:p>
          <a:p xmlns:a="http://schemas.openxmlformats.org/drawingml/2006/main">
            <a:r>
              <a:rPr sz="1400"/>
              <a:t>Uitleg: Laat leerlingen hun eigen aflezing, eenheden en verklaringen controleren. Een correct eindgetal is niet genoeg wanneer de redenering ontbreekt. Gebruik gerichte feedback per deelvraag en laat de leerling die zelf verwerken.</a:t>
            </a:r>
          </a:p>
          <a:p xmlns:a="http://schemas.openxmlformats.org/drawingml/2006/main">
            <a:r>
              <a:rPr sz="1400"/>
              <a:t/>
            </a:r>
          </a:p>
          <a:p xmlns:a="http://schemas.openxmlformats.org/drawingml/2006/main">
            <a:r>
              <a:rPr sz="1400"/>
              <a:t>Misvatting: Antwoorden overschrijven toont nog geen begrip.</a:t>
            </a:r>
          </a:p>
          <a:p xmlns:a="http://schemas.openxmlformats.org/drawingml/2006/main">
            <a:r>
              <a:rPr sz="1400"/>
              <a:t/>
            </a:r>
          </a:p>
          <a:p xmlns:a="http://schemas.openxmlformats.org/drawingml/2006/main">
            <a:r>
              <a:rPr sz="1400"/>
              <a:t>Overgang: Laat het afsluitende overzicht staan.</a:t>
            </a:r>
          </a:p>
          <a:p xmlns:a="http://schemas.openxmlformats.org/drawingml/2006/main">
            <a:r>
              <a:rPr sz="1400"/>
              <a:t/>
            </a:r>
          </a:p>
          <a:p xmlns:a="http://schemas.openxmlformats.org/drawingml/2006/main">
            <a:r>
              <a:rPr sz="1400"/>
              <a:t>Bron: Boek 3, actuele v3-uitgave, gedrukte boekpagina 105.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uit je eigen werk kun je nu verbeteren?</a:t>
            </a:r>
          </a:p>
          <a:p xmlns:a="http://schemas.openxmlformats.org/drawingml/2006/main">
            <a:r>
              <a:rPr sz="1400"/>
              <a:t/>
            </a:r>
          </a:p>
          <a:p xmlns:a="http://schemas.openxmlformats.org/drawingml/2006/main">
            <a:r>
              <a:rPr sz="1400"/>
              <a:t>Uitleg: Laat dit overzicht staan tijdens afsluiting en huiswerk. Start 11–12 staat op p. 102, basis 13 op p. 102 en 14 op p. 103, zelfstandig 15–16 op p. 104 en doel 17 op p. 105. Huiswerk is 13, 14, 15, 16 en 17 maken en nakijken. Bonus 18 en herhaling 19–20 zijn extra. Opgave 11 haalt invullen in een formule terug. Opgave 12 vraagt de nieuwe koppeling van verbruik en productie aan import. Laat leerlingen daarvoor p. 97–98 lezen en de betekenissen bij Qa, Qv en het verschil aanwijzen. Laat twijfel staan; dit is verkennen. Keer vóór de basisopgaven terug naar 12 en laat de leerling het antwoord met de nieuwe werkwijze verbeteren. Startantwoorden voor eventuele feedback na een poging: 11a Qv=60, Qa=20 producten per week, 11b Qv kopers en Qa producenten. 12a 40 kratten per week, 12b 70 is het verbruik inclusief binnenlandse productie. Het docentadvies reserveert voorlopig twee lessen van 55 minuten voor de volledige route; de tijd is niet gemeten. Schuif de lesgrens zo nodig, behoud alle basisopgaven.</a:t>
            </a:r>
          </a:p>
          <a:p xmlns:a="http://schemas.openxmlformats.org/drawingml/2006/main">
            <a:r>
              <a:rPr sz="1400"/>
              <a:t/>
            </a:r>
          </a:p>
          <a:p xmlns:a="http://schemas.openxmlformats.org/drawingml/2006/main">
            <a:r>
              <a:rPr sz="1400"/>
              <a:t>Misvatting: De start is geen bewijs dat de nieuwe importbewerking al wordt beheerst.</a:t>
            </a:r>
          </a:p>
          <a:p xmlns:a="http://schemas.openxmlformats.org/drawingml/2006/main">
            <a:r>
              <a:rPr sz="1400"/>
              <a:t/>
            </a:r>
          </a:p>
          <a:p xmlns:a="http://schemas.openxmlformats.org/drawingml/2006/main">
            <a:r>
              <a:rPr sz="1400"/>
              <a:t>Overgang: Laat het huiswerk noteren.</a:t>
            </a:r>
          </a:p>
          <a:p xmlns:a="http://schemas.openxmlformats.org/drawingml/2006/main">
            <a:r>
              <a:rPr sz="1400"/>
              <a:t/>
            </a:r>
          </a:p>
          <a:p xmlns:a="http://schemas.openxmlformats.org/drawingml/2006/main">
            <a:r>
              <a:rPr sz="1400"/>
              <a:t>Bron: Boek 3, actuele v3-uitgave, gedrukte boekpagina 97–105. https://github.com/meijer1973/4veco-lessen/blob/9b8304d5031cafac936a56281e144573a25fbbc9/edities/books34-v3/books/book-3/output/Boek_3_Compleet_v3.pdf</a:t>
            </a:r>
          </a:p>
          <a:p xmlns:a="http://schemas.openxmlformats.org/drawingml/2006/main">
            <a:r>
              <a:rPr sz="1400"/>
              <a:t>Manuscript en antwoordmodel: https://github.com/meijer1973/4veco-lessen/blob/9b8304d5031cafac936a56281e144573a25fbbc9/edities/books34-v3/books/book-3/chapters/3.3/3.3.2%20manuscript.md en https://github.com/meijer1973/4veco-lessen/blob/9b8304d5031cafac936a56281e144573a25fbbc9/edities/books34-v3/books/book-3/chapters/3.3/Antwoorden.md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15b0c8a36149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74a75aaa7a4273" /><Relationship Type="http://schemas.openxmlformats.org/officeDocument/2006/relationships/slideLayout" Target="/ppt/slideLayouts/slideLayout1.xml" Id="R01f3c18d2d5a49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f3c18d2d5a49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cecc7b5ed149dc" /><Relationship Type="http://schemas.openxmlformats.org/officeDocument/2006/relationships/notesSlide" Target="/ppt/notesSlides/notesSlide1.xml" Id="Re69ccf51996b49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e377508a532476f" /><Relationship Type="http://schemas.openxmlformats.org/officeDocument/2006/relationships/notesSlide" Target="/ppt/notesSlides/notesSlide2.xml" Id="R22d7064cf28b46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66c25c1d7bf41ec" /><Relationship Type="http://schemas.openxmlformats.org/officeDocument/2006/relationships/notesSlide" Target="/ppt/notesSlides/notesSlide3.xml" Id="R8404673d346741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f730cadcfa3450f" /><Relationship Type="http://schemas.openxmlformats.org/officeDocument/2006/relationships/chart" Target="/ppt/slides/charts/chart1.xml" Id="R007714ed477a4f58" /><Relationship Type="http://schemas.openxmlformats.org/officeDocument/2006/relationships/notesSlide" Target="/ppt/notesSlides/notesSlide4.xml" Id="Rce709bca7eb242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332f02a7d440a1" /><Relationship Type="http://schemas.openxmlformats.org/officeDocument/2006/relationships/chart" Target="/ppt/slides/charts/chart2.xml" Id="R2a04b1ff87c64647" /><Relationship Type="http://schemas.openxmlformats.org/officeDocument/2006/relationships/notesSlide" Target="/ppt/notesSlides/notesSlide5.xml" Id="R7c3173cfc42d4a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e3200ef3ba5432d" /><Relationship Type="http://schemas.openxmlformats.org/officeDocument/2006/relationships/chart" Target="/ppt/slides/charts/chart3.xml" Id="R918b002647e740e3" /><Relationship Type="http://schemas.openxmlformats.org/officeDocument/2006/relationships/notesSlide" Target="/ppt/notesSlides/notesSlide6.xml" Id="R61c1fd01e1dc4d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99a0855599143c7" /><Relationship Type="http://schemas.openxmlformats.org/officeDocument/2006/relationships/notesSlide" Target="/ppt/notesSlides/notesSlide7.xml" Id="R09aba6b7d14f49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e96743d25364f24" /><Relationship Type="http://schemas.openxmlformats.org/officeDocument/2006/relationships/notesSlide" Target="/ppt/notesSlides/notesSlide8.xml" Id="R5b8039d7e238408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c3677f7a35a4f5f" /><Relationship Type="http://schemas.openxmlformats.org/officeDocument/2006/relationships/notesSlide" Target="/ppt/notesSlides/notesSlide9.xml" Id="Rf74bc3af6ebe4db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9d18244b5a74f1b" /><Relationship Type="http://schemas.openxmlformats.org/officeDocument/2006/relationships/chart" Target="/ppt/slides/charts/chart4.xml" Id="R1e48a5f1ca1f427d" /><Relationship Type="http://schemas.openxmlformats.org/officeDocument/2006/relationships/notesSlide" Target="/ppt/notesSlides/notesSlide10.xml" Id="R98e4ad433f68497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3d8420977f84d85" /><Relationship Type="http://schemas.openxmlformats.org/officeDocument/2006/relationships/notesSlide" Target="/ppt/notesSlides/notesSlide11.xml" Id="R7000689ec05b444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08f381000b34398" /><Relationship Type="http://schemas.openxmlformats.org/officeDocument/2006/relationships/notesSlide" Target="/ppt/notesSlides/notesSlide12.xml" Id="R84a64e331fde43d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b9c674363f84034" /><Relationship Type="http://schemas.openxmlformats.org/officeDocument/2006/relationships/notesSlide" Target="/ppt/notesSlides/notesSlide13.xml" Id="R06a68b06a6774db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f6047d5a7654fc6" /><Relationship Type="http://schemas.openxmlformats.org/officeDocument/2006/relationships/notesSlide" Target="/ppt/notesSlides/notesSlide14.xml" Id="R2146d667a6c448b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dd07d4cf74240d8" /><Relationship Type="http://schemas.openxmlformats.org/officeDocument/2006/relationships/notesSlide" Target="/ppt/notesSlides/notesSlide15.xml" Id="Rcb45a730ac4641e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f570a1ef91c4b9f" /><Relationship Type="http://schemas.openxmlformats.org/officeDocument/2006/relationships/chart" Target="/ppt/slides/charts/chart5.xml" Id="R8fa3770f49034175" /><Relationship Type="http://schemas.openxmlformats.org/officeDocument/2006/relationships/notesSlide" Target="/ppt/notesSlides/notesSlide16.xml" Id="R7b6a24a6a09145a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6e62155bc9f44ad" /><Relationship Type="http://schemas.openxmlformats.org/officeDocument/2006/relationships/notesSlide" Target="/ppt/notesSlides/notesSlide17.xml" Id="R0f71809c372c42a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6a135c60fa74248" /><Relationship Type="http://schemas.openxmlformats.org/officeDocument/2006/relationships/chart" Target="/ppt/slides/charts/chart6.xml" Id="Rf7bd58316cd44938" /><Relationship Type="http://schemas.openxmlformats.org/officeDocument/2006/relationships/notesSlide" Target="/ppt/notesSlides/notesSlide18.xml" Id="R8bdcbce1f5894e4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67436bef90d4b78" /><Relationship Type="http://schemas.openxmlformats.org/officeDocument/2006/relationships/notesSlide" Target="/ppt/notesSlides/notesSlide19.xml" Id="Re4cf941ec7b7486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c04fb867f4c4ae1" /><Relationship Type="http://schemas.openxmlformats.org/officeDocument/2006/relationships/notesSlide" Target="/ppt/notesSlides/notesSlide20.xml" Id="R205dc19a79704ac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4c98b02629a414e" /><Relationship Type="http://schemas.openxmlformats.org/officeDocument/2006/relationships/notesSlide" Target="/ppt/notesSlides/notesSlide21.xml" Id="R26aaa2d1e5a9450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bc6d8068d4d4c1d" /><Relationship Type="http://schemas.openxmlformats.org/officeDocument/2006/relationships/notesSlide" Target="/ppt/notesSlides/notesSlide22.xml" Id="R0c082a7b817b4a3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1dacf5975a04335" /><Relationship Type="http://schemas.openxmlformats.org/officeDocument/2006/relationships/notesSlide" Target="/ppt/notesSlides/notesSlide23.xml" Id="R6e50359a5bd546b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1876f6ab1ab43a1" /><Relationship Type="http://schemas.openxmlformats.org/officeDocument/2006/relationships/notesSlide" Target="/ppt/notesSlides/notesSlide24.xml" Id="R975ccbee03cf4de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1df52bf8a784878" /><Relationship Type="http://schemas.openxmlformats.org/officeDocument/2006/relationships/notesSlide" Target="/ppt/notesSlides/notesSlide25.xml" Id="Rf132e3a136654a7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75" b="1">
                      <a:solidFill>
                        <a:srgbClr val="1A5276"/>
                      </a:solidFill>
                      <a:latin typeface="Arial"/>
                      <a:ea typeface="Arial"/>
                      <a:cs typeface="Arial"/>
                    </a:defRPr>
                  </a:pPr>
                </a:p>
              </c:txPr>
              <c:dLblPos val="t"/>
              <c:showLegendKey val="0"/>
              <c:showVal val="0"/>
              <c:showCatName val="0"/>
              <c:showSerName val="0"/>
              <c:showPercent val="0"/>
              <c:showBubbleSize val="0"/>
            </c:dLbl>
            <c:dLbl>
              <c:idx val="2"/>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21.6</c:v>
                </c:pt>
                <c:pt idx="2">
                  <c:v>180</c:v>
                </c:pt>
              </c:numCache>
            </c:numRef>
          </c:xVal>
          <c:yVal>
            <c:numRef>
              <c:f>'Chart Data'!$B$2:$B$4</c:f>
              <c:numCache>
                <c:formatCode>0</c:formatCode>
                <c:ptCount val="3"/>
                <c:pt idx="0">
                  <c:v>36</c:v>
                </c:pt>
                <c:pt idx="1">
                  <c:v>31.68</c:v>
                </c:pt>
                <c:pt idx="2">
                  <c:v>0</c:v>
                </c:pt>
              </c:numCache>
            </c:numRef>
          </c:yVal>
          <c:smooth val="0"/>
        </c:ser>
        <c:ser>
          <c:idx val="1"/>
          <c:order val="1"/>
          <c:tx>
            <c:v>A</c:v>
          </c:tx>
          <c:spPr>
            <a:ln xmlns:a="http://schemas.openxmlformats.org/drawingml/2006/main" w="38100">
              <a:solidFill>
                <a:srgbClr val="1E8449"/>
              </a:solidFill>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E8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75" b="1">
                      <a:solidFill>
                        <a:srgbClr val="1E8449"/>
                      </a:solidFill>
                      <a:latin typeface="Arial"/>
                      <a:ea typeface="Arial"/>
                      <a:cs typeface="Arial"/>
                    </a:defRPr>
                  </a:pPr>
                </a:p>
              </c:txPr>
              <c:dLblPos val="t"/>
              <c:showLegendKey val="0"/>
              <c:showVal val="0"/>
              <c:showCatName val="0"/>
              <c:showSerName val="0"/>
              <c:showPercent val="0"/>
              <c:showBubbleSize val="0"/>
            </c:dLbl>
            <c:dLbl>
              <c:idx val="2"/>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158.4</c:v>
                </c:pt>
                <c:pt idx="2">
                  <c:v>180</c:v>
                </c:pt>
              </c:numCache>
            </c:numRef>
          </c:xVal>
          <c:yVal>
            <c:numRef>
              <c:f>'Chart Data'!$D$2:$D$4</c:f>
              <c:numCache>
                <c:formatCode>0</c:formatCode>
                <c:ptCount val="3"/>
                <c:pt idx="0">
                  <c:v>12</c:v>
                </c:pt>
                <c:pt idx="1">
                  <c:v>43.68</c:v>
                </c:pt>
                <c:pt idx="2">
                  <c:v>48</c:v>
                </c:pt>
              </c:numCache>
            </c:numRef>
          </c:yVal>
          <c:smooth val="0"/>
        </c:ser>
        <c:ser>
          <c:idx val="2"/>
          <c:order val="2"/>
          <c:tx>
            <c:v>Evenwichtshoeveelheid</c:v>
          </c:tx>
          <c:spPr>
            <a:ln xmlns:a="http://schemas.openxmlformats.org/drawingml/2006/main" w="19050">
              <a:solidFill>
                <a:srgbClr val="445B6B"/>
              </a:solidFill>
              <a:prstDash val="dash"/>
            </a:ln>
          </c:spPr>
          <c:marker>
            <c:symbol val="none"/>
          </c:marker>
          <c:xVal>
            <c:numRef>
              <c:f>'Chart Data'!$E$2:$E$3</c:f>
              <c:numCache>
                <c:formatCode>General</c:formatCode>
                <c:ptCount val="2"/>
                <c:pt idx="0">
                  <c:v>60</c:v>
                </c:pt>
                <c:pt idx="1">
                  <c:v>60</c:v>
                </c:pt>
              </c:numCache>
            </c:numRef>
          </c:xVal>
          <c:yVal>
            <c:numRef>
              <c:f>'Chart Data'!$F$2:$F$3</c:f>
              <c:numCache>
                <c:formatCode>0</c:formatCode>
                <c:ptCount val="2"/>
                <c:pt idx="0">
                  <c:v>0</c:v>
                </c:pt>
                <c:pt idx="1">
                  <c:v>24</c:v>
                </c:pt>
              </c:numCache>
            </c:numRef>
          </c:yVal>
          <c:smooth val="0"/>
        </c:ser>
        <c:ser>
          <c:idx val="3"/>
          <c:order val="3"/>
          <c:tx>
            <c:v>Evenwichtsprijs</c:v>
          </c:tx>
          <c:spPr>
            <a:ln xmlns:a="http://schemas.openxmlformats.org/drawingml/2006/main" w="19050">
              <a:solidFill>
                <a:srgbClr val="445B6B"/>
              </a:solidFill>
              <a:prstDash val="dash"/>
            </a:ln>
          </c:spPr>
          <c:marker>
            <c:symbol val="none"/>
          </c:marker>
          <c:xVal>
            <c:numRef>
              <c:f>'Chart Data'!$G$2:$G$3</c:f>
              <c:numCache>
                <c:formatCode>General</c:formatCode>
                <c:ptCount val="2"/>
                <c:pt idx="0">
                  <c:v>0</c:v>
                </c:pt>
                <c:pt idx="1">
                  <c:v>60</c:v>
                </c:pt>
              </c:numCache>
            </c:numRef>
          </c:xVal>
          <c:yVal>
            <c:numRef>
              <c:f>'Chart Data'!$H$2:$H$3</c:f>
              <c:numCache>
                <c:formatCode>0</c:formatCode>
                <c:ptCount val="2"/>
                <c:pt idx="0">
                  <c:v>24</c:v>
                </c:pt>
                <c:pt idx="1">
                  <c:v>24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regenjas)</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6"/>
      </c:valAx>
      <c:valAx>
        <c:axId val="48650112"/>
        <c:scaling>
          <c:orientation val="minMax"/>
          <c:max val="180"/>
          <c:min val="0"/>
        </c:scaling>
        <c:delete val="0"/>
        <c:axPos val="b"/>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(regenjassen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3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75" b="1">
                      <a:solidFill>
                        <a:srgbClr val="1A5276"/>
                      </a:solidFill>
                      <a:latin typeface="Arial"/>
                      <a:ea typeface="Arial"/>
                      <a:cs typeface="Arial"/>
                    </a:defRPr>
                  </a:pPr>
                </a:p>
              </c:txPr>
              <c:dLblPos val="t"/>
              <c:showLegendKey val="0"/>
              <c:showVal val="0"/>
              <c:showCatName val="0"/>
              <c:showSerName val="0"/>
              <c:showPercent val="0"/>
              <c:showBubbleSize val="0"/>
            </c:dLbl>
            <c:dLbl>
              <c:idx val="2"/>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21.6</c:v>
                </c:pt>
                <c:pt idx="2">
                  <c:v>180</c:v>
                </c:pt>
              </c:numCache>
            </c:numRef>
          </c:xVal>
          <c:yVal>
            <c:numRef>
              <c:f>'Chart Data'!$B$2:$B$4</c:f>
              <c:numCache>
                <c:formatCode>0</c:formatCode>
                <c:ptCount val="3"/>
                <c:pt idx="0">
                  <c:v>36</c:v>
                </c:pt>
                <c:pt idx="1">
                  <c:v>31.68</c:v>
                </c:pt>
                <c:pt idx="2">
                  <c:v>0</c:v>
                </c:pt>
              </c:numCache>
            </c:numRef>
          </c:yVal>
          <c:smooth val="0"/>
        </c:ser>
        <c:ser>
          <c:idx val="1"/>
          <c:order val="1"/>
          <c:tx>
            <c:v>A</c:v>
          </c:tx>
          <c:spPr>
            <a:ln xmlns:a="http://schemas.openxmlformats.org/drawingml/2006/main" w="38100">
              <a:solidFill>
                <a:srgbClr val="1E8449"/>
              </a:solidFill>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E8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75" b="1">
                      <a:solidFill>
                        <a:srgbClr val="1E8449"/>
                      </a:solidFill>
                      <a:latin typeface="Arial"/>
                      <a:ea typeface="Arial"/>
                      <a:cs typeface="Arial"/>
                    </a:defRPr>
                  </a:pPr>
                </a:p>
              </c:txPr>
              <c:dLblPos val="t"/>
              <c:showLegendKey val="0"/>
              <c:showVal val="0"/>
              <c:showCatName val="0"/>
              <c:showSerName val="0"/>
              <c:showPercent val="0"/>
              <c:showBubbleSize val="0"/>
            </c:dLbl>
            <c:dLbl>
              <c:idx val="2"/>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158.4</c:v>
                </c:pt>
                <c:pt idx="2">
                  <c:v>180</c:v>
                </c:pt>
              </c:numCache>
            </c:numRef>
          </c:xVal>
          <c:yVal>
            <c:numRef>
              <c:f>'Chart Data'!$D$2:$D$4</c:f>
              <c:numCache>
                <c:formatCode>0</c:formatCode>
                <c:ptCount val="3"/>
                <c:pt idx="0">
                  <c:v>12</c:v>
                </c:pt>
                <c:pt idx="1">
                  <c:v>43.68</c:v>
                </c:pt>
                <c:pt idx="2">
                  <c:v>48</c:v>
                </c:pt>
              </c:numCache>
            </c:numRef>
          </c:yVal>
          <c:smooth val="0"/>
        </c:ser>
        <c:ser>
          <c:idx val="2"/>
          <c:order val="2"/>
          <c:tx>
            <c:v>Wereldmarktprijs</c:v>
          </c:tx>
          <c:spPr>
            <a:ln xmlns:a="http://schemas.openxmlformats.org/drawingml/2006/main" w="28575">
              <a:solidFill>
                <a:srgbClr val="A94D16"/>
              </a:solidFill>
              <a:prstDash val="dash"/>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Pw = 18</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Data'!$E$2:$E$3</c:f>
              <c:numCache>
                <c:formatCode>General</c:formatCode>
                <c:ptCount val="2"/>
                <c:pt idx="0">
                  <c:v>0</c:v>
                </c:pt>
                <c:pt idx="1">
                  <c:v>180</c:v>
                </c:pt>
              </c:numCache>
            </c:numRef>
          </c:xVal>
          <c:yVal>
            <c:numRef>
              <c:f>'Chart Data'!$F$2:$F$3</c:f>
              <c:numCache>
                <c:formatCode>0</c:formatCode>
                <c:ptCount val="2"/>
                <c:pt idx="0">
                  <c:v>18</c:v>
                </c:pt>
                <c:pt idx="1">
                  <c:v>18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regenjas)</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6"/>
      </c:valAx>
      <c:valAx>
        <c:axId val="48650112"/>
        <c:scaling>
          <c:orientation val="minMax"/>
          <c:max val="180"/>
          <c:min val="0"/>
        </c:scaling>
        <c:delete val="0"/>
        <c:axPos val="b"/>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(regenjassen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3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75" b="1">
                      <a:solidFill>
                        <a:srgbClr val="1A5276"/>
                      </a:solidFill>
                      <a:latin typeface="Arial"/>
                      <a:ea typeface="Arial"/>
                      <a:cs typeface="Arial"/>
                    </a:defRPr>
                  </a:pPr>
                </a:p>
              </c:txPr>
              <c:dLblPos val="t"/>
              <c:showLegendKey val="0"/>
              <c:showVal val="0"/>
              <c:showCatName val="0"/>
              <c:showSerName val="0"/>
              <c:showPercent val="0"/>
              <c:showBubbleSize val="0"/>
            </c:dLbl>
            <c:dLbl>
              <c:idx val="2"/>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21.6</c:v>
                </c:pt>
                <c:pt idx="2">
                  <c:v>180</c:v>
                </c:pt>
              </c:numCache>
            </c:numRef>
          </c:xVal>
          <c:yVal>
            <c:numRef>
              <c:f>'Chart Data'!$B$2:$B$4</c:f>
              <c:numCache>
                <c:formatCode>0</c:formatCode>
                <c:ptCount val="3"/>
                <c:pt idx="0">
                  <c:v>36</c:v>
                </c:pt>
                <c:pt idx="1">
                  <c:v>31.68</c:v>
                </c:pt>
                <c:pt idx="2">
                  <c:v>0</c:v>
                </c:pt>
              </c:numCache>
            </c:numRef>
          </c:yVal>
          <c:smooth val="0"/>
        </c:ser>
        <c:ser>
          <c:idx val="1"/>
          <c:order val="1"/>
          <c:tx>
            <c:v>A</c:v>
          </c:tx>
          <c:spPr>
            <a:ln xmlns:a="http://schemas.openxmlformats.org/drawingml/2006/main" w="38100">
              <a:solidFill>
                <a:srgbClr val="1E8449"/>
              </a:solidFill>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E8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75" b="1">
                      <a:solidFill>
                        <a:srgbClr val="1E8449"/>
                      </a:solidFill>
                      <a:latin typeface="Arial"/>
                      <a:ea typeface="Arial"/>
                      <a:cs typeface="Arial"/>
                    </a:defRPr>
                  </a:pPr>
                </a:p>
              </c:txPr>
              <c:dLblPos val="t"/>
              <c:showLegendKey val="0"/>
              <c:showVal val="0"/>
              <c:showCatName val="0"/>
              <c:showSerName val="0"/>
              <c:showPercent val="0"/>
              <c:showBubbleSize val="0"/>
            </c:dLbl>
            <c:dLbl>
              <c:idx val="2"/>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158.4</c:v>
                </c:pt>
                <c:pt idx="2">
                  <c:v>180</c:v>
                </c:pt>
              </c:numCache>
            </c:numRef>
          </c:xVal>
          <c:yVal>
            <c:numRef>
              <c:f>'Chart Data'!$D$2:$D$4</c:f>
              <c:numCache>
                <c:formatCode>0</c:formatCode>
                <c:ptCount val="3"/>
                <c:pt idx="0">
                  <c:v>12</c:v>
                </c:pt>
                <c:pt idx="1">
                  <c:v>43.68</c:v>
                </c:pt>
                <c:pt idx="2">
                  <c:v>48</c:v>
                </c:pt>
              </c:numCache>
            </c:numRef>
          </c:yVal>
          <c:smooth val="0"/>
        </c:ser>
        <c:ser>
          <c:idx val="2"/>
          <c:order val="2"/>
          <c:tx>
            <c:v>Wereldmarktprijs</c:v>
          </c:tx>
          <c:spPr>
            <a:ln xmlns:a="http://schemas.openxmlformats.org/drawingml/2006/main" w="28575">
              <a:solidFill>
                <a:srgbClr val="A94D16"/>
              </a:solidFill>
              <a:prstDash val="dash"/>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Pw = 18</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Data'!$E$2:$E$3</c:f>
              <c:numCache>
                <c:formatCode>General</c:formatCode>
                <c:ptCount val="2"/>
                <c:pt idx="0">
                  <c:v>0</c:v>
                </c:pt>
                <c:pt idx="1">
                  <c:v>180</c:v>
                </c:pt>
              </c:numCache>
            </c:numRef>
          </c:xVal>
          <c:yVal>
            <c:numRef>
              <c:f>'Chart Data'!$F$2:$F$3</c:f>
              <c:numCache>
                <c:formatCode>0</c:formatCode>
                <c:ptCount val="2"/>
                <c:pt idx="0">
                  <c:v>18</c:v>
                </c:pt>
                <c:pt idx="1">
                  <c:v>18</c:v>
                </c:pt>
              </c:numCache>
            </c:numRef>
          </c:yVal>
          <c:smooth val="0"/>
        </c:ser>
        <c:ser>
          <c:idx val="3"/>
          <c:order val="3"/>
          <c:tx>
            <c:v>Productie</c:v>
          </c:tx>
          <c:spPr>
            <a:ln xmlns:a="http://schemas.openxmlformats.org/drawingml/2006/main" w="19050">
              <a:solidFill>
                <a:srgbClr val="1E8449"/>
              </a:solidFill>
              <a:prstDash val="dash"/>
            </a:ln>
          </c:spPr>
          <c:marker>
            <c:symbol val="none"/>
          </c:marker>
          <c:xVal>
            <c:numRef>
              <c:f>'Chart Data'!$G$2:$G$3</c:f>
              <c:numCache>
                <c:formatCode>General</c:formatCode>
                <c:ptCount val="2"/>
                <c:pt idx="0">
                  <c:v>30</c:v>
                </c:pt>
                <c:pt idx="1">
                  <c:v>30</c:v>
                </c:pt>
              </c:numCache>
            </c:numRef>
          </c:xVal>
          <c:yVal>
            <c:numRef>
              <c:f>'Chart Data'!$H$2:$H$3</c:f>
              <c:numCache>
                <c:formatCode>0</c:formatCode>
                <c:ptCount val="2"/>
                <c:pt idx="0">
                  <c:v>0</c:v>
                </c:pt>
                <c:pt idx="1">
                  <c:v>18</c:v>
                </c:pt>
              </c:numCache>
            </c:numRef>
          </c:yVal>
          <c:smooth val="0"/>
        </c:ser>
        <c:ser>
          <c:idx val="4"/>
          <c:order val="4"/>
          <c:tx>
            <c:v>Verbruik</c:v>
          </c:tx>
          <c:spPr>
            <a:ln xmlns:a="http://schemas.openxmlformats.org/drawingml/2006/main" w="19050">
              <a:solidFill>
                <a:srgbClr val="1A5276"/>
              </a:solidFill>
              <a:prstDash val="dash"/>
            </a:ln>
          </c:spPr>
          <c:marker>
            <c:symbol val="none"/>
          </c:marker>
          <c:xVal>
            <c:numRef>
              <c:f>'Chart Data'!$I$2:$I$3</c:f>
              <c:numCache>
                <c:formatCode>General</c:formatCode>
                <c:ptCount val="2"/>
                <c:pt idx="0">
                  <c:v>90</c:v>
                </c:pt>
                <c:pt idx="1">
                  <c:v>90</c:v>
                </c:pt>
              </c:numCache>
            </c:numRef>
          </c:xVal>
          <c:yVal>
            <c:numRef>
              <c:f>'Chart Data'!$J$2:$J$3</c:f>
              <c:numCache>
                <c:formatCode>0</c:formatCode>
                <c:ptCount val="2"/>
                <c:pt idx="0">
                  <c:v>0</c:v>
                </c:pt>
                <c:pt idx="1">
                  <c:v>18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regenjas)</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6"/>
      </c:valAx>
      <c:valAx>
        <c:axId val="48650112"/>
        <c:scaling>
          <c:orientation val="minMax"/>
          <c:max val="180"/>
          <c:min val="0"/>
        </c:scaling>
        <c:delete val="0"/>
        <c:axPos val="b"/>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(regenjassen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3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75" b="1">
                      <a:solidFill>
                        <a:srgbClr val="1A5276"/>
                      </a:solidFill>
                      <a:latin typeface="Arial"/>
                      <a:ea typeface="Arial"/>
                      <a:cs typeface="Arial"/>
                    </a:defRPr>
                  </a:pPr>
                </a:p>
              </c:txPr>
              <c:dLblPos val="t"/>
              <c:showLegendKey val="0"/>
              <c:showVal val="0"/>
              <c:showCatName val="0"/>
              <c:showSerName val="0"/>
              <c:showPercent val="0"/>
              <c:showBubbleSize val="0"/>
            </c:dLbl>
            <c:dLbl>
              <c:idx val="2"/>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21.6</c:v>
                </c:pt>
                <c:pt idx="2">
                  <c:v>180</c:v>
                </c:pt>
              </c:numCache>
            </c:numRef>
          </c:xVal>
          <c:yVal>
            <c:numRef>
              <c:f>'Chart Data'!$B$2:$B$4</c:f>
              <c:numCache>
                <c:formatCode>0</c:formatCode>
                <c:ptCount val="3"/>
                <c:pt idx="0">
                  <c:v>36</c:v>
                </c:pt>
                <c:pt idx="1">
                  <c:v>31.68</c:v>
                </c:pt>
                <c:pt idx="2">
                  <c:v>0</c:v>
                </c:pt>
              </c:numCache>
            </c:numRef>
          </c:yVal>
          <c:smooth val="0"/>
        </c:ser>
        <c:ser>
          <c:idx val="1"/>
          <c:order val="1"/>
          <c:tx>
            <c:v>A</c:v>
          </c:tx>
          <c:spPr>
            <a:ln xmlns:a="http://schemas.openxmlformats.org/drawingml/2006/main" w="38100">
              <a:solidFill>
                <a:srgbClr val="1E8449"/>
              </a:solidFill>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E8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75" b="1">
                      <a:solidFill>
                        <a:srgbClr val="1E8449"/>
                      </a:solidFill>
                      <a:latin typeface="Arial"/>
                      <a:ea typeface="Arial"/>
                      <a:cs typeface="Arial"/>
                    </a:defRPr>
                  </a:pPr>
                </a:p>
              </c:txPr>
              <c:dLblPos val="t"/>
              <c:showLegendKey val="0"/>
              <c:showVal val="0"/>
              <c:showCatName val="0"/>
              <c:showSerName val="0"/>
              <c:showPercent val="0"/>
              <c:showBubbleSize val="0"/>
            </c:dLbl>
            <c:dLbl>
              <c:idx val="2"/>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158.4</c:v>
                </c:pt>
                <c:pt idx="2">
                  <c:v>180</c:v>
                </c:pt>
              </c:numCache>
            </c:numRef>
          </c:xVal>
          <c:yVal>
            <c:numRef>
              <c:f>'Chart Data'!$D$2:$D$4</c:f>
              <c:numCache>
                <c:formatCode>0</c:formatCode>
                <c:ptCount val="3"/>
                <c:pt idx="0">
                  <c:v>12</c:v>
                </c:pt>
                <c:pt idx="1">
                  <c:v>43.68</c:v>
                </c:pt>
                <c:pt idx="2">
                  <c:v>48</c:v>
                </c:pt>
              </c:numCache>
            </c:numRef>
          </c:yVal>
          <c:smooth val="0"/>
        </c:ser>
        <c:ser>
          <c:idx val="2"/>
          <c:order val="2"/>
          <c:tx>
            <c:v>Wereldmarktprijs</c:v>
          </c:tx>
          <c:spPr>
            <a:ln xmlns:a="http://schemas.openxmlformats.org/drawingml/2006/main" w="28575">
              <a:solidFill>
                <a:srgbClr val="A94D16"/>
              </a:solidFill>
              <a:prstDash val="dash"/>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Pw = 30</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Data'!$E$2:$E$3</c:f>
              <c:numCache>
                <c:formatCode>General</c:formatCode>
                <c:ptCount val="2"/>
                <c:pt idx="0">
                  <c:v>0</c:v>
                </c:pt>
                <c:pt idx="1">
                  <c:v>180</c:v>
                </c:pt>
              </c:numCache>
            </c:numRef>
          </c:xVal>
          <c:yVal>
            <c:numRef>
              <c:f>'Chart Data'!$F$2:$F$3</c:f>
              <c:numCache>
                <c:formatCode>0</c:formatCode>
                <c:ptCount val="2"/>
                <c:pt idx="0">
                  <c:v>30</c:v>
                </c:pt>
                <c:pt idx="1">
                  <c:v>30</c:v>
                </c:pt>
              </c:numCache>
            </c:numRef>
          </c:yVal>
          <c:smooth val="0"/>
        </c:ser>
        <c:ser>
          <c:idx val="3"/>
          <c:order val="3"/>
          <c:tx>
            <c:v>Productie</c:v>
          </c:tx>
          <c:spPr>
            <a:ln xmlns:a="http://schemas.openxmlformats.org/drawingml/2006/main" w="19050">
              <a:solidFill>
                <a:srgbClr val="1E8449"/>
              </a:solidFill>
              <a:prstDash val="dash"/>
            </a:ln>
          </c:spPr>
          <c:marker>
            <c:symbol val="none"/>
          </c:marker>
          <c:xVal>
            <c:numRef>
              <c:f>'Chart Data'!$G$2:$G$3</c:f>
              <c:numCache>
                <c:formatCode>General</c:formatCode>
                <c:ptCount val="2"/>
                <c:pt idx="0">
                  <c:v>90</c:v>
                </c:pt>
                <c:pt idx="1">
                  <c:v>90</c:v>
                </c:pt>
              </c:numCache>
            </c:numRef>
          </c:xVal>
          <c:yVal>
            <c:numRef>
              <c:f>'Chart Data'!$H$2:$H$3</c:f>
              <c:numCache>
                <c:formatCode>0</c:formatCode>
                <c:ptCount val="2"/>
                <c:pt idx="0">
                  <c:v>0</c:v>
                </c:pt>
                <c:pt idx="1">
                  <c:v>30</c:v>
                </c:pt>
              </c:numCache>
            </c:numRef>
          </c:yVal>
          <c:smooth val="0"/>
        </c:ser>
        <c:ser>
          <c:idx val="4"/>
          <c:order val="4"/>
          <c:tx>
            <c:v>Verbruik</c:v>
          </c:tx>
          <c:spPr>
            <a:ln xmlns:a="http://schemas.openxmlformats.org/drawingml/2006/main" w="19050">
              <a:solidFill>
                <a:srgbClr val="1A5276"/>
              </a:solidFill>
              <a:prstDash val="dash"/>
            </a:ln>
          </c:spPr>
          <c:marker>
            <c:symbol val="none"/>
          </c:marker>
          <c:xVal>
            <c:numRef>
              <c:f>'Chart Data'!$I$2:$I$3</c:f>
              <c:numCache>
                <c:formatCode>General</c:formatCode>
                <c:ptCount val="2"/>
                <c:pt idx="0">
                  <c:v>30</c:v>
                </c:pt>
                <c:pt idx="1">
                  <c:v>30</c:v>
                </c:pt>
              </c:numCache>
            </c:numRef>
          </c:xVal>
          <c:yVal>
            <c:numRef>
              <c:f>'Chart Data'!$J$2:$J$3</c:f>
              <c:numCache>
                <c:formatCode>0</c:formatCode>
                <c:ptCount val="2"/>
                <c:pt idx="0">
                  <c:v>0</c:v>
                </c:pt>
                <c:pt idx="1">
                  <c:v>30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regenjas)</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6"/>
      </c:valAx>
      <c:valAx>
        <c:axId val="48650112"/>
        <c:scaling>
          <c:orientation val="minMax"/>
          <c:max val="180"/>
          <c:min val="0"/>
        </c:scaling>
        <c:delete val="0"/>
        <c:axPos val="b"/>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(regenjassen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3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75" b="1">
                      <a:solidFill>
                        <a:srgbClr val="1A5276"/>
                      </a:solidFill>
                      <a:latin typeface="Arial"/>
                      <a:ea typeface="Arial"/>
                      <a:cs typeface="Arial"/>
                    </a:defRPr>
                  </a:pPr>
                </a:p>
              </c:txPr>
              <c:dLblPos val="t"/>
              <c:showLegendKey val="0"/>
              <c:showVal val="0"/>
              <c:showCatName val="0"/>
              <c:showSerName val="0"/>
              <c:showPercent val="0"/>
              <c:showBubbleSize val="0"/>
            </c:dLbl>
            <c:dLbl>
              <c:idx val="2"/>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19.2</c:v>
                </c:pt>
                <c:pt idx="2">
                  <c:v>160</c:v>
                </c:pt>
              </c:numCache>
            </c:numRef>
          </c:xVal>
          <c:yVal>
            <c:numRef>
              <c:f>'Chart Data'!$B$2:$B$4</c:f>
              <c:numCache>
                <c:formatCode>0</c:formatCode>
                <c:ptCount val="3"/>
                <c:pt idx="0">
                  <c:v>80</c:v>
                </c:pt>
                <c:pt idx="1">
                  <c:v>70.4</c:v>
                </c:pt>
                <c:pt idx="2">
                  <c:v>0</c:v>
                </c:pt>
              </c:numCache>
            </c:numRef>
          </c:yVal>
          <c:smooth val="0"/>
        </c:ser>
        <c:ser>
          <c:idx val="1"/>
          <c:order val="1"/>
          <c:tx>
            <c:v>A</c:v>
          </c:tx>
          <c:spPr>
            <a:ln xmlns:a="http://schemas.openxmlformats.org/drawingml/2006/main" w="38100">
              <a:solidFill>
                <a:srgbClr val="1E8449"/>
              </a:solidFill>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E8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75" b="1">
                      <a:solidFill>
                        <a:srgbClr val="1E8449"/>
                      </a:solidFill>
                      <a:latin typeface="Arial"/>
                      <a:ea typeface="Arial"/>
                      <a:cs typeface="Arial"/>
                    </a:defRPr>
                  </a:pPr>
                </a:p>
              </c:txPr>
              <c:dLblPos val="t"/>
              <c:showLegendKey val="0"/>
              <c:showVal val="0"/>
              <c:showCatName val="0"/>
              <c:showSerName val="0"/>
              <c:showPercent val="0"/>
              <c:showBubbleSize val="0"/>
            </c:dLbl>
            <c:dLbl>
              <c:idx val="2"/>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140.8</c:v>
                </c:pt>
                <c:pt idx="2">
                  <c:v>160</c:v>
                </c:pt>
              </c:numCache>
            </c:numRef>
          </c:xVal>
          <c:yVal>
            <c:numRef>
              <c:f>'Chart Data'!$D$2:$D$4</c:f>
              <c:numCache>
                <c:formatCode>0</c:formatCode>
                <c:ptCount val="3"/>
                <c:pt idx="0">
                  <c:v>0</c:v>
                </c:pt>
                <c:pt idx="1">
                  <c:v>70.4</c:v>
                </c:pt>
                <c:pt idx="2">
                  <c:v>80</c:v>
                </c:pt>
              </c:numCache>
            </c:numRef>
          </c:yVal>
          <c:smooth val="0"/>
        </c:ser>
        <c:ser>
          <c:idx val="2"/>
          <c:order val="2"/>
          <c:tx>
            <c:v>Wereldmarktprijs</c:v>
          </c:tx>
          <c:spPr>
            <a:ln xmlns:a="http://schemas.openxmlformats.org/drawingml/2006/main" w="28575">
              <a:solidFill>
                <a:srgbClr val="A94D16"/>
              </a:solidFill>
              <a:prstDash val="dash"/>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Pw = 30</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Data'!$E$2:$E$3</c:f>
              <c:numCache>
                <c:formatCode>General</c:formatCode>
                <c:ptCount val="2"/>
                <c:pt idx="0">
                  <c:v>0</c:v>
                </c:pt>
                <c:pt idx="1">
                  <c:v>160</c:v>
                </c:pt>
              </c:numCache>
            </c:numRef>
          </c:xVal>
          <c:yVal>
            <c:numRef>
              <c:f>'Chart Data'!$F$2:$F$3</c:f>
              <c:numCache>
                <c:formatCode>0</c:formatCode>
                <c:ptCount val="2"/>
                <c:pt idx="0">
                  <c:v>30</c:v>
                </c:pt>
                <c:pt idx="1">
                  <c:v>30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mat)</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160"/>
          <c:min val="0"/>
        </c:scaling>
        <c:delete val="0"/>
        <c:axPos val="b"/>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(matten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75" b="1">
                      <a:solidFill>
                        <a:srgbClr val="1A5276"/>
                      </a:solidFill>
                      <a:latin typeface="Arial"/>
                      <a:ea typeface="Arial"/>
                      <a:cs typeface="Arial"/>
                    </a:defRPr>
                  </a:pPr>
                </a:p>
              </c:txPr>
              <c:dLblPos val="t"/>
              <c:showLegendKey val="0"/>
              <c:showVal val="0"/>
              <c:showCatName val="0"/>
              <c:showSerName val="0"/>
              <c:showPercent val="0"/>
              <c:showBubbleSize val="0"/>
            </c:dLbl>
            <c:dLbl>
              <c:idx val="2"/>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19.2</c:v>
                </c:pt>
                <c:pt idx="2">
                  <c:v>160</c:v>
                </c:pt>
              </c:numCache>
            </c:numRef>
          </c:xVal>
          <c:yVal>
            <c:numRef>
              <c:f>'Chart Data'!$B$2:$B$4</c:f>
              <c:numCache>
                <c:formatCode>0</c:formatCode>
                <c:ptCount val="3"/>
                <c:pt idx="0">
                  <c:v>80</c:v>
                </c:pt>
                <c:pt idx="1">
                  <c:v>70.4</c:v>
                </c:pt>
                <c:pt idx="2">
                  <c:v>0</c:v>
                </c:pt>
              </c:numCache>
            </c:numRef>
          </c:yVal>
          <c:smooth val="0"/>
        </c:ser>
        <c:ser>
          <c:idx val="1"/>
          <c:order val="1"/>
          <c:tx>
            <c:v>A</c:v>
          </c:tx>
          <c:spPr>
            <a:ln xmlns:a="http://schemas.openxmlformats.org/drawingml/2006/main" w="38100">
              <a:solidFill>
                <a:srgbClr val="1E8449"/>
              </a:solidFill>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75" b="1">
                        <a:solidFill>
                          <a:srgbClr val="1E8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75" b="1">
                      <a:solidFill>
                        <a:srgbClr val="1E8449"/>
                      </a:solidFill>
                      <a:latin typeface="Arial"/>
                      <a:ea typeface="Arial"/>
                      <a:cs typeface="Arial"/>
                    </a:defRPr>
                  </a:pPr>
                </a:p>
              </c:txPr>
              <c:dLblPos val="t"/>
              <c:showLegendKey val="0"/>
              <c:showVal val="0"/>
              <c:showCatName val="0"/>
              <c:showSerName val="0"/>
              <c:showPercent val="0"/>
              <c:showBubbleSize val="0"/>
            </c:dLbl>
            <c:dLbl>
              <c:idx val="2"/>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140.8</c:v>
                </c:pt>
                <c:pt idx="2">
                  <c:v>160</c:v>
                </c:pt>
              </c:numCache>
            </c:numRef>
          </c:xVal>
          <c:yVal>
            <c:numRef>
              <c:f>'Chart Data'!$D$2:$D$4</c:f>
              <c:numCache>
                <c:formatCode>0</c:formatCode>
                <c:ptCount val="3"/>
                <c:pt idx="0">
                  <c:v>0</c:v>
                </c:pt>
                <c:pt idx="1">
                  <c:v>70.4</c:v>
                </c:pt>
                <c:pt idx="2">
                  <c:v>80</c:v>
                </c:pt>
              </c:numCache>
            </c:numRef>
          </c:yVal>
          <c:smooth val="0"/>
        </c:ser>
        <c:ser>
          <c:idx val="2"/>
          <c:order val="2"/>
          <c:tx>
            <c:v>Wereldmarktprijs</c:v>
          </c:tx>
          <c:spPr>
            <a:ln xmlns:a="http://schemas.openxmlformats.org/drawingml/2006/main" w="28575">
              <a:solidFill>
                <a:srgbClr val="A94D16"/>
              </a:solidFill>
              <a:prstDash val="dash"/>
            </a:ln>
          </c:spPr>
          <c:marker>
            <c:symbol val="none"/>
          </c:marker>
          <c:dLbls>
            <c:dLbl>
              <c:idx val="0"/>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Pw = 30</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Data'!$E$2:$E$3</c:f>
              <c:numCache>
                <c:formatCode>General</c:formatCode>
                <c:ptCount val="2"/>
                <c:pt idx="0">
                  <c:v>0</c:v>
                </c:pt>
                <c:pt idx="1">
                  <c:v>160</c:v>
                </c:pt>
              </c:numCache>
            </c:numRef>
          </c:xVal>
          <c:yVal>
            <c:numRef>
              <c:f>'Chart Data'!$F$2:$F$3</c:f>
              <c:numCache>
                <c:formatCode>0</c:formatCode>
                <c:ptCount val="2"/>
                <c:pt idx="0">
                  <c:v>30</c:v>
                </c:pt>
                <c:pt idx="1">
                  <c:v>30</c:v>
                </c:pt>
              </c:numCache>
            </c:numRef>
          </c:yVal>
          <c:smooth val="0"/>
        </c:ser>
        <c:ser>
          <c:idx val="3"/>
          <c:order val="3"/>
          <c:tx>
            <c:v>Productie</c:v>
          </c:tx>
          <c:spPr>
            <a:ln xmlns:a="http://schemas.openxmlformats.org/drawingml/2006/main" w="19050">
              <a:solidFill>
                <a:srgbClr val="1E8449"/>
              </a:solidFill>
              <a:prstDash val="dash"/>
            </a:ln>
          </c:spPr>
          <c:marker>
            <c:symbol val="none"/>
          </c:marker>
          <c:xVal>
            <c:numRef>
              <c:f>'Chart Data'!$G$2:$G$3</c:f>
              <c:numCache>
                <c:formatCode>General</c:formatCode>
                <c:ptCount val="2"/>
                <c:pt idx="0">
                  <c:v>60</c:v>
                </c:pt>
                <c:pt idx="1">
                  <c:v>60</c:v>
                </c:pt>
              </c:numCache>
            </c:numRef>
          </c:xVal>
          <c:yVal>
            <c:numRef>
              <c:f>'Chart Data'!$H$2:$H$3</c:f>
              <c:numCache>
                <c:formatCode>0</c:formatCode>
                <c:ptCount val="2"/>
                <c:pt idx="0">
                  <c:v>0</c:v>
                </c:pt>
                <c:pt idx="1">
                  <c:v>30</c:v>
                </c:pt>
              </c:numCache>
            </c:numRef>
          </c:yVal>
          <c:smooth val="0"/>
        </c:ser>
        <c:ser>
          <c:idx val="4"/>
          <c:order val="4"/>
          <c:tx>
            <c:v>Verbruik</c:v>
          </c:tx>
          <c:spPr>
            <a:ln xmlns:a="http://schemas.openxmlformats.org/drawingml/2006/main" w="19050">
              <a:solidFill>
                <a:srgbClr val="1A5276"/>
              </a:solidFill>
              <a:prstDash val="dash"/>
            </a:ln>
          </c:spPr>
          <c:marker>
            <c:symbol val="none"/>
          </c:marker>
          <c:xVal>
            <c:numRef>
              <c:f>'Chart Data'!$I$2:$I$3</c:f>
              <c:numCache>
                <c:formatCode>General</c:formatCode>
                <c:ptCount val="2"/>
                <c:pt idx="0">
                  <c:v>100</c:v>
                </c:pt>
                <c:pt idx="1">
                  <c:v>100</c:v>
                </c:pt>
              </c:numCache>
            </c:numRef>
          </c:xVal>
          <c:yVal>
            <c:numRef>
              <c:f>'Chart Data'!$J$2:$J$3</c:f>
              <c:numCache>
                <c:formatCode>0</c:formatCode>
                <c:ptCount val="2"/>
                <c:pt idx="0">
                  <c:v>0</c:v>
                </c:pt>
                <c:pt idx="1">
                  <c:v>30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mat)</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160"/>
          <c:min val="0"/>
        </c:scaling>
        <c:delete val="0"/>
        <c:axPos val="b"/>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(matten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overview-title">
            <a:extLst xmlns:a="http://schemas.openxmlformats.org/drawingml/2006/main">
              <a:ext uri="{FF2B5EF4-FFF2-40B4-BE49-F238E27FC236}">
                <a16:creationId xmlns:a16="http://schemas.microsoft.com/office/drawing/2014/main" id="{D3BF17D1-8250-44A9-BA5A-495030CF107A}"/>
              </a:ext>
            </a:extLst>
          </p:cNvPr>
          <p:cNvSpPr>
            <a:spLocks xmlns:a="http://schemas.openxmlformats.org/drawingml/2006/main" noGrp="1"/>
          </p:cNvSpPr>
          <p:nvPr/>
        </p:nvSpPr>
        <p:spPr>
          <a:xfrm xmlns:a="http://schemas.openxmlformats.org/drawingml/2006/main">
            <a:off x="571500" y="285750"/>
            <a:ext cx="1409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Deze les: §3.3.2 Wereldmarktprijs,</a:t>
            </a:r>
          </a:p>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import, export en welvaart</a:t>
            </a:r>
          </a:p>
        </p:txBody>
      </p:sp>
      <p:sp>
        <p:nvSpPr>
          <p:cNvPr id="2" name="phase">
            <a:extLst xmlns:a="http://schemas.openxmlformats.org/drawingml/2006/main">
              <a:ext uri="{FF2B5EF4-FFF2-40B4-BE49-F238E27FC236}">
                <a16:creationId xmlns:a16="http://schemas.microsoft.com/office/drawing/2014/main" id="{8316EE91-8275-471D-9F3B-E73DF284856D}"/>
              </a:ext>
            </a:extLst>
          </p:cNvPr>
          <p:cNvSpPr>
            <a:spLocks xmlns:a="http://schemas.openxmlformats.org/drawingml/2006/main" noGrp="1"/>
          </p:cNvSpPr>
          <p:nvPr/>
        </p:nvSpPr>
        <p:spPr>
          <a:xfrm xmlns:a="http://schemas.openxmlformats.org/drawingml/2006/main">
            <a:off x="571500" y="14478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Startopdracht</a:t>
            </a:r>
          </a:p>
        </p:txBody>
      </p:sp>
      <p:sp>
        <p:nvSpPr>
          <p:cNvPr id="3" name="">
            <a:extLst xmlns:a="http://schemas.openxmlformats.org/drawingml/2006/main">
              <a:ext uri="{FF2B5EF4-FFF2-40B4-BE49-F238E27FC236}">
                <a16:creationId xmlns:a16="http://schemas.microsoft.com/office/drawing/2014/main" id="{D754B550-C1AB-487C-97E2-AF0AE9D7CD7E}"/>
              </a:ext>
            </a:extLst>
          </p:cNvPr>
          <p:cNvSpPr>
            <a:spLocks xmlns:a="http://schemas.openxmlformats.org/drawingml/2006/main" noGrp="1"/>
          </p:cNvSpPr>
          <p:nvPr/>
        </p:nvSpPr>
        <p:spPr>
          <a:xfrm xmlns:a="http://schemas.openxmlformats.org/drawingml/2006/main">
            <a:off x="571500" y="1885950"/>
            <a:ext cx="14097000" cy="0"/>
          </a:xfrm>
          <a:prstGeom xmlns:a="http://schemas.openxmlformats.org/drawingml/2006/main" prst="line">
            <a:avLst/>
          </a:prstGeom>
          <a:ln xmlns:a="http://schemas.openxmlformats.org/drawingml/2006/main" w="19050">
            <a:solidFill>
              <a:srgbClr val="C6D2DB"/>
            </a:solidFill>
          </a:ln>
        </p:spPr>
      </p:sp>
      <p:sp>
        <p:nvSpPr>
          <p:cNvPr id="4" name="Lesroute">
            <a:extLst xmlns:a="http://schemas.openxmlformats.org/drawingml/2006/main">
              <a:ext uri="{FF2B5EF4-FFF2-40B4-BE49-F238E27FC236}">
                <a16:creationId xmlns:a16="http://schemas.microsoft.com/office/drawing/2014/main" id="{8C75283E-210C-441D-B6CD-0A4231D94ABB}"/>
              </a:ext>
            </a:extLst>
          </p:cNvPr>
          <p:cNvSpPr>
            <a:spLocks xmlns:a="http://schemas.openxmlformats.org/drawingml/2006/main" noGrp="1"/>
          </p:cNvSpPr>
          <p:nvPr/>
        </p:nvSpPr>
        <p:spPr>
          <a:xfrm xmlns:a="http://schemas.openxmlformats.org/drawingml/2006/main">
            <a:off x="571500" y="2095500"/>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Lesroute</a:t>
            </a:r>
          </a:p>
        </p:txBody>
      </p:sp>
      <p:sp>
        <p:nvSpPr>
          <p:cNvPr id="5" name="route-number-1">
            <a:extLst xmlns:a="http://schemas.openxmlformats.org/drawingml/2006/main">
              <a:ext uri="{FF2B5EF4-FFF2-40B4-BE49-F238E27FC236}">
                <a16:creationId xmlns:a16="http://schemas.microsoft.com/office/drawing/2014/main" id="{94A95D87-EAF0-48C6-8170-3471F08CDC4A}"/>
              </a:ext>
            </a:extLst>
          </p:cNvPr>
          <p:cNvSpPr>
            <a:spLocks xmlns:a="http://schemas.openxmlformats.org/drawingml/2006/main" noGrp="1"/>
          </p:cNvSpPr>
          <p:nvPr/>
        </p:nvSpPr>
        <p:spPr>
          <a:xfrm xmlns:a="http://schemas.openxmlformats.org/drawingml/2006/main">
            <a:off x="571500" y="26289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6" name="route-1">
            <a:extLst xmlns:a="http://schemas.openxmlformats.org/drawingml/2006/main">
              <a:ext uri="{FF2B5EF4-FFF2-40B4-BE49-F238E27FC236}">
                <a16:creationId xmlns:a16="http://schemas.microsoft.com/office/drawing/2014/main" id="{6279975C-A556-430B-BC37-6540262C919D}"/>
              </a:ext>
            </a:extLst>
          </p:cNvPr>
          <p:cNvSpPr>
            <a:spLocks xmlns:a="http://schemas.openxmlformats.org/drawingml/2006/main" noGrp="1"/>
          </p:cNvSpPr>
          <p:nvPr/>
        </p:nvSpPr>
        <p:spPr>
          <a:xfrm xmlns:a="http://schemas.openxmlformats.org/drawingml/2006/main">
            <a:off x="1104900" y="26289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7" name="route-number-2">
            <a:extLst xmlns:a="http://schemas.openxmlformats.org/drawingml/2006/main">
              <a:ext uri="{FF2B5EF4-FFF2-40B4-BE49-F238E27FC236}">
                <a16:creationId xmlns:a16="http://schemas.microsoft.com/office/drawing/2014/main" id="{258D6AE0-8DF0-4F4E-BE8F-7D952F59C411}"/>
              </a:ext>
            </a:extLst>
          </p:cNvPr>
          <p:cNvSpPr>
            <a:spLocks xmlns:a="http://schemas.openxmlformats.org/drawingml/2006/main" noGrp="1"/>
          </p:cNvSpPr>
          <p:nvPr/>
        </p:nvSpPr>
        <p:spPr>
          <a:xfrm xmlns:a="http://schemas.openxmlformats.org/drawingml/2006/main">
            <a:off x="571500" y="34575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2.</a:t>
            </a:r>
          </a:p>
        </p:txBody>
      </p:sp>
      <p:sp>
        <p:nvSpPr>
          <p:cNvPr id="8" name="route-2">
            <a:extLst xmlns:a="http://schemas.openxmlformats.org/drawingml/2006/main">
              <a:ext uri="{FF2B5EF4-FFF2-40B4-BE49-F238E27FC236}">
                <a16:creationId xmlns:a16="http://schemas.microsoft.com/office/drawing/2014/main" id="{3619E29A-7D2B-4A10-87A6-C1CB920592FF}"/>
              </a:ext>
            </a:extLst>
          </p:cNvPr>
          <p:cNvSpPr>
            <a:spLocks xmlns:a="http://schemas.openxmlformats.org/drawingml/2006/main" noGrp="1"/>
          </p:cNvSpPr>
          <p:nvPr/>
        </p:nvSpPr>
        <p:spPr>
          <a:xfrm xmlns:a="http://schemas.openxmlformats.org/drawingml/2006/main">
            <a:off x="1104900" y="3457575"/>
            <a:ext cx="7419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Maak de startopdracht.</a:t>
            </a:r>
          </a:p>
        </p:txBody>
      </p:sp>
      <p:sp>
        <p:nvSpPr>
          <p:cNvPr id="9" name="route-number-3">
            <a:extLst xmlns:a="http://schemas.openxmlformats.org/drawingml/2006/main">
              <a:ext uri="{FF2B5EF4-FFF2-40B4-BE49-F238E27FC236}">
                <a16:creationId xmlns:a16="http://schemas.microsoft.com/office/drawing/2014/main" id="{8E8B2D41-88F4-4A01-A06C-E89302183D6E}"/>
              </a:ext>
            </a:extLst>
          </p:cNvPr>
          <p:cNvSpPr>
            <a:spLocks xmlns:a="http://schemas.openxmlformats.org/drawingml/2006/main" noGrp="1"/>
          </p:cNvSpPr>
          <p:nvPr/>
        </p:nvSpPr>
        <p:spPr>
          <a:xfrm xmlns:a="http://schemas.openxmlformats.org/drawingml/2006/main">
            <a:off x="571500" y="3905250"/>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0" name="route-3">
            <a:extLst xmlns:a="http://schemas.openxmlformats.org/drawingml/2006/main">
              <a:ext uri="{FF2B5EF4-FFF2-40B4-BE49-F238E27FC236}">
                <a16:creationId xmlns:a16="http://schemas.microsoft.com/office/drawing/2014/main" id="{C64481FB-8D6B-406A-AC27-A57CE03CD7F0}"/>
              </a:ext>
            </a:extLst>
          </p:cNvPr>
          <p:cNvSpPr>
            <a:spLocks xmlns:a="http://schemas.openxmlformats.org/drawingml/2006/main" noGrp="1"/>
          </p:cNvSpPr>
          <p:nvPr/>
        </p:nvSpPr>
        <p:spPr>
          <a:xfrm xmlns:a="http://schemas.openxmlformats.org/drawingml/2006/main">
            <a:off x="1104900" y="3905250"/>
            <a:ext cx="7419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1" name="route-number-4">
            <a:extLst xmlns:a="http://schemas.openxmlformats.org/drawingml/2006/main">
              <a:ext uri="{FF2B5EF4-FFF2-40B4-BE49-F238E27FC236}">
                <a16:creationId xmlns:a16="http://schemas.microsoft.com/office/drawing/2014/main" id="{958B91B8-52CA-4E18-A277-1A3464F3DE10}"/>
              </a:ext>
            </a:extLst>
          </p:cNvPr>
          <p:cNvSpPr>
            <a:spLocks xmlns:a="http://schemas.openxmlformats.org/drawingml/2006/main" noGrp="1"/>
          </p:cNvSpPr>
          <p:nvPr/>
        </p:nvSpPr>
        <p:spPr>
          <a:xfrm xmlns:a="http://schemas.openxmlformats.org/drawingml/2006/main">
            <a:off x="571500" y="4352925"/>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2" name="route-4">
            <a:extLst xmlns:a="http://schemas.openxmlformats.org/drawingml/2006/main">
              <a:ext uri="{FF2B5EF4-FFF2-40B4-BE49-F238E27FC236}">
                <a16:creationId xmlns:a16="http://schemas.microsoft.com/office/drawing/2014/main" id="{5863EF7B-E88B-4604-80F6-8D763A7B3224}"/>
              </a:ext>
            </a:extLst>
          </p:cNvPr>
          <p:cNvSpPr>
            <a:spLocks xmlns:a="http://schemas.openxmlformats.org/drawingml/2006/main" noGrp="1"/>
          </p:cNvSpPr>
          <p:nvPr/>
        </p:nvSpPr>
        <p:spPr>
          <a:xfrm xmlns:a="http://schemas.openxmlformats.org/drawingml/2006/main">
            <a:off x="1104900" y="4352925"/>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3" name="route-number-5">
            <a:extLst xmlns:a="http://schemas.openxmlformats.org/drawingml/2006/main">
              <a:ext uri="{FF2B5EF4-FFF2-40B4-BE49-F238E27FC236}">
                <a16:creationId xmlns:a16="http://schemas.microsoft.com/office/drawing/2014/main" id="{0A72DC4F-B436-46B0-8FB0-18ADE2ABA9DE}"/>
              </a:ext>
            </a:extLst>
          </p:cNvPr>
          <p:cNvSpPr>
            <a:spLocks xmlns:a="http://schemas.openxmlformats.org/drawingml/2006/main" noGrp="1"/>
          </p:cNvSpPr>
          <p:nvPr/>
        </p:nvSpPr>
        <p:spPr>
          <a:xfrm xmlns:a="http://schemas.openxmlformats.org/drawingml/2006/main">
            <a:off x="571500" y="6143625"/>
            <a:ext cx="457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4" name="route-5">
            <a:extLst xmlns:a="http://schemas.openxmlformats.org/drawingml/2006/main">
              <a:ext uri="{FF2B5EF4-FFF2-40B4-BE49-F238E27FC236}">
                <a16:creationId xmlns:a16="http://schemas.microsoft.com/office/drawing/2014/main" id="{7D289D12-6AED-42A0-BE42-F9F21BFE819C}"/>
              </a:ext>
            </a:extLst>
          </p:cNvPr>
          <p:cNvSpPr>
            <a:spLocks xmlns:a="http://schemas.openxmlformats.org/drawingml/2006/main" noGrp="1"/>
          </p:cNvSpPr>
          <p:nvPr/>
        </p:nvSpPr>
        <p:spPr>
          <a:xfrm xmlns:a="http://schemas.openxmlformats.org/drawingml/2006/main">
            <a:off x="1104900" y="6143625"/>
            <a:ext cx="74199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5" name="route-number-6">
            <a:extLst xmlns:a="http://schemas.openxmlformats.org/drawingml/2006/main">
              <a:ext uri="{FF2B5EF4-FFF2-40B4-BE49-F238E27FC236}">
                <a16:creationId xmlns:a16="http://schemas.microsoft.com/office/drawing/2014/main" id="{89B305EC-B58C-4A08-A0EE-62DEC528489C}"/>
              </a:ext>
            </a:extLst>
          </p:cNvPr>
          <p:cNvSpPr>
            <a:spLocks xmlns:a="http://schemas.openxmlformats.org/drawingml/2006/main" noGrp="1"/>
          </p:cNvSpPr>
          <p:nvPr/>
        </p:nvSpPr>
        <p:spPr>
          <a:xfrm xmlns:a="http://schemas.openxmlformats.org/drawingml/2006/main">
            <a:off x="571500" y="682942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6" name="route-6">
            <a:extLst xmlns:a="http://schemas.openxmlformats.org/drawingml/2006/main">
              <a:ext uri="{FF2B5EF4-FFF2-40B4-BE49-F238E27FC236}">
                <a16:creationId xmlns:a16="http://schemas.microsoft.com/office/drawing/2014/main" id="{B1FA0B54-87B1-45A0-A435-4819EF35A368}"/>
              </a:ext>
            </a:extLst>
          </p:cNvPr>
          <p:cNvSpPr>
            <a:spLocks xmlns:a="http://schemas.openxmlformats.org/drawingml/2006/main" noGrp="1"/>
          </p:cNvSpPr>
          <p:nvPr/>
        </p:nvSpPr>
        <p:spPr>
          <a:xfrm xmlns:a="http://schemas.openxmlformats.org/drawingml/2006/main">
            <a:off x="1104900" y="6829425"/>
            <a:ext cx="7419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17.</a:t>
            </a:r>
          </a:p>
        </p:txBody>
      </p:sp>
      <p:sp>
        <p:nvSpPr>
          <p:cNvPr id="17" name="route-number-7">
            <a:extLst xmlns:a="http://schemas.openxmlformats.org/drawingml/2006/main">
              <a:ext uri="{FF2B5EF4-FFF2-40B4-BE49-F238E27FC236}">
                <a16:creationId xmlns:a16="http://schemas.microsoft.com/office/drawing/2014/main" id="{925A9888-8F88-499A-9F02-BCBFD570F191}"/>
              </a:ext>
            </a:extLst>
          </p:cNvPr>
          <p:cNvSpPr>
            <a:spLocks xmlns:a="http://schemas.openxmlformats.org/drawingml/2006/main" noGrp="1"/>
          </p:cNvSpPr>
          <p:nvPr/>
        </p:nvSpPr>
        <p:spPr>
          <a:xfrm xmlns:a="http://schemas.openxmlformats.org/drawingml/2006/main">
            <a:off x="571500" y="740092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18" name="route-7">
            <a:extLst xmlns:a="http://schemas.openxmlformats.org/drawingml/2006/main">
              <a:ext uri="{FF2B5EF4-FFF2-40B4-BE49-F238E27FC236}">
                <a16:creationId xmlns:a16="http://schemas.microsoft.com/office/drawing/2014/main" id="{1FAE9BD8-973B-4109-BA65-682A563E251A}"/>
              </a:ext>
            </a:extLst>
          </p:cNvPr>
          <p:cNvSpPr>
            <a:spLocks xmlns:a="http://schemas.openxmlformats.org/drawingml/2006/main" noGrp="1"/>
          </p:cNvSpPr>
          <p:nvPr/>
        </p:nvSpPr>
        <p:spPr>
          <a:xfrm xmlns:a="http://schemas.openxmlformats.org/drawingml/2006/main">
            <a:off x="1104900" y="7400925"/>
            <a:ext cx="7419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19" name="Lesdoelen">
            <a:extLst xmlns:a="http://schemas.openxmlformats.org/drawingml/2006/main">
              <a:ext uri="{FF2B5EF4-FFF2-40B4-BE49-F238E27FC236}">
                <a16:creationId xmlns:a16="http://schemas.microsoft.com/office/drawing/2014/main" id="{337453D9-5490-4266-AB3B-F79D650337FC}"/>
              </a:ext>
            </a:extLst>
          </p:cNvPr>
          <p:cNvSpPr>
            <a:spLocks xmlns:a="http://schemas.openxmlformats.org/drawingml/2006/main" noGrp="1"/>
          </p:cNvSpPr>
          <p:nvPr/>
        </p:nvSpPr>
        <p:spPr>
          <a:xfrm xmlns:a="http://schemas.openxmlformats.org/drawingml/2006/main">
            <a:off x="9258300" y="2095500"/>
            <a:ext cx="5410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Lesdoelen</a:t>
            </a:r>
          </a:p>
        </p:txBody>
      </p:sp>
      <p:sp>
        <p:nvSpPr>
          <p:cNvPr id="20" name="overview-goals">
            <a:extLst xmlns:a="http://schemas.openxmlformats.org/drawingml/2006/main">
              <a:ext uri="{FF2B5EF4-FFF2-40B4-BE49-F238E27FC236}">
                <a16:creationId xmlns:a16="http://schemas.microsoft.com/office/drawing/2014/main" id="{DA268519-8021-4A32-9228-BAD82EA3DF29}"/>
              </a:ext>
            </a:extLst>
          </p:cNvPr>
          <p:cNvSpPr>
            <a:spLocks xmlns:a="http://schemas.openxmlformats.org/drawingml/2006/main" noGrp="1"/>
          </p:cNvSpPr>
          <p:nvPr/>
        </p:nvSpPr>
        <p:spPr>
          <a:xfrm xmlns:a="http://schemas.openxmlformats.org/drawingml/2006/main">
            <a:off x="9258300" y="2628900"/>
            <a:ext cx="5410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Prijzen vergelijken, productie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verbruik bepalen, handelsstromen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en gevolgen voor groepen uitleggen.</a:t>
            </a:r>
          </a:p>
        </p:txBody>
      </p:sp>
      <p:sp>
        <p:nvSpPr>
          <p:cNvPr id="21" name="">
            <a:extLst xmlns:a="http://schemas.openxmlformats.org/drawingml/2006/main">
              <a:ext uri="{FF2B5EF4-FFF2-40B4-BE49-F238E27FC236}">
                <a16:creationId xmlns:a16="http://schemas.microsoft.com/office/drawing/2014/main" id="{C895C454-322E-4462-9E95-819E40D6BD19}"/>
              </a:ext>
            </a:extLst>
          </p:cNvPr>
          <p:cNvSpPr>
            <a:spLocks xmlns:a="http://schemas.openxmlformats.org/drawingml/2006/main" noGrp="1"/>
          </p:cNvSpPr>
          <p:nvPr/>
        </p:nvSpPr>
        <p:spPr>
          <a:xfrm xmlns:a="http://schemas.openxmlformats.org/drawingml/2006/main">
            <a:off x="9258300" y="3857625"/>
            <a:ext cx="5410200" cy="0"/>
          </a:xfrm>
          <a:prstGeom xmlns:a="http://schemas.openxmlformats.org/drawingml/2006/main" prst="line">
            <a:avLst/>
          </a:prstGeom>
          <a:ln xmlns:a="http://schemas.openxmlformats.org/drawingml/2006/main" w="19050">
            <a:solidFill>
              <a:srgbClr val="C6D2DB"/>
            </a:solidFill>
          </a:ln>
        </p:spPr>
      </p:sp>
      <p:sp>
        <p:nvSpPr>
          <p:cNvPr id="22" name="Startopdracht">
            <a:extLst xmlns:a="http://schemas.openxmlformats.org/drawingml/2006/main">
              <a:ext uri="{FF2B5EF4-FFF2-40B4-BE49-F238E27FC236}">
                <a16:creationId xmlns:a16="http://schemas.microsoft.com/office/drawing/2014/main" id="{62A119D5-B38C-424E-9EBA-2563561C29B4}"/>
              </a:ext>
            </a:extLst>
          </p:cNvPr>
          <p:cNvSpPr>
            <a:spLocks xmlns:a="http://schemas.openxmlformats.org/drawingml/2006/main" noGrp="1"/>
          </p:cNvSpPr>
          <p:nvPr/>
        </p:nvSpPr>
        <p:spPr>
          <a:xfrm xmlns:a="http://schemas.openxmlformats.org/drawingml/2006/main">
            <a:off x="9258300" y="4057650"/>
            <a:ext cx="5410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Startopdracht</a:t>
            </a:r>
          </a:p>
        </p:txBody>
      </p:sp>
      <p:sp>
        <p:nvSpPr>
          <p:cNvPr id="23" name="overview-start">
            <a:extLst xmlns:a="http://schemas.openxmlformats.org/drawingml/2006/main">
              <a:ext uri="{FF2B5EF4-FFF2-40B4-BE49-F238E27FC236}">
                <a16:creationId xmlns:a16="http://schemas.microsoft.com/office/drawing/2014/main" id="{017DDCD7-12B6-4005-B811-B05322AE1192}"/>
              </a:ext>
            </a:extLst>
          </p:cNvPr>
          <p:cNvSpPr>
            <a:spLocks xmlns:a="http://schemas.openxmlformats.org/drawingml/2006/main" noGrp="1"/>
          </p:cNvSpPr>
          <p:nvPr/>
        </p:nvSpPr>
        <p:spPr>
          <a:xfrm xmlns:a="http://schemas.openxmlformats.org/drawingml/2006/main">
            <a:off x="9258300" y="4581525"/>
            <a:ext cx="54102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102 · Opgaven 11 en 12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12: verkennen met de theorie,</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 97–98</a:t>
            </a:r>
          </a:p>
        </p:txBody>
      </p:sp>
      <p:sp>
        <p:nvSpPr>
          <p:cNvPr id="24" name="">
            <a:extLst xmlns:a="http://schemas.openxmlformats.org/drawingml/2006/main">
              <a:ext uri="{FF2B5EF4-FFF2-40B4-BE49-F238E27FC236}">
                <a16:creationId xmlns:a16="http://schemas.microsoft.com/office/drawing/2014/main" id="{37309A6C-109E-4E09-8DB0-64E3FECC1956}"/>
              </a:ext>
            </a:extLst>
          </p:cNvPr>
          <p:cNvSpPr>
            <a:spLocks xmlns:a="http://schemas.openxmlformats.org/drawingml/2006/main" noGrp="1"/>
          </p:cNvSpPr>
          <p:nvPr/>
        </p:nvSpPr>
        <p:spPr>
          <a:xfrm xmlns:a="http://schemas.openxmlformats.org/drawingml/2006/main">
            <a:off x="9258300" y="5791200"/>
            <a:ext cx="5410200" cy="0"/>
          </a:xfrm>
          <a:prstGeom xmlns:a="http://schemas.openxmlformats.org/drawingml/2006/main" prst="line">
            <a:avLst/>
          </a:prstGeom>
          <a:ln xmlns:a="http://schemas.openxmlformats.org/drawingml/2006/main" w="19050">
            <a:solidFill>
              <a:srgbClr val="C6D2DB"/>
            </a:solidFill>
          </a:ln>
        </p:spPr>
      </p:sp>
      <p:sp>
        <p:nvSpPr>
          <p:cNvPr id="25" name="Huiswerk">
            <a:extLst xmlns:a="http://schemas.openxmlformats.org/drawingml/2006/main">
              <a:ext uri="{FF2B5EF4-FFF2-40B4-BE49-F238E27FC236}">
                <a16:creationId xmlns:a16="http://schemas.microsoft.com/office/drawing/2014/main" id="{6EA00FA5-7864-4203-9C76-3A34B604C388}"/>
              </a:ext>
            </a:extLst>
          </p:cNvPr>
          <p:cNvSpPr>
            <a:spLocks xmlns:a="http://schemas.openxmlformats.org/drawingml/2006/main" noGrp="1"/>
          </p:cNvSpPr>
          <p:nvPr/>
        </p:nvSpPr>
        <p:spPr>
          <a:xfrm xmlns:a="http://schemas.openxmlformats.org/drawingml/2006/main">
            <a:off x="9258300" y="5972175"/>
            <a:ext cx="5410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Huiswerk</a:t>
            </a:r>
          </a:p>
        </p:txBody>
      </p:sp>
      <p:sp>
        <p:nvSpPr>
          <p:cNvPr id="26" name="overview-homework">
            <a:extLst xmlns:a="http://schemas.openxmlformats.org/drawingml/2006/main">
              <a:ext uri="{FF2B5EF4-FFF2-40B4-BE49-F238E27FC236}">
                <a16:creationId xmlns:a16="http://schemas.microsoft.com/office/drawing/2014/main" id="{22B27FC2-1AA0-4D4E-8647-2CF1FDDA623F}"/>
              </a:ext>
            </a:extLst>
          </p:cNvPr>
          <p:cNvSpPr>
            <a:spLocks xmlns:a="http://schemas.openxmlformats.org/drawingml/2006/main" noGrp="1"/>
          </p:cNvSpPr>
          <p:nvPr/>
        </p:nvSpPr>
        <p:spPr>
          <a:xfrm xmlns:a="http://schemas.openxmlformats.org/drawingml/2006/main">
            <a:off x="9258300" y="6486525"/>
            <a:ext cx="54102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3247"/>
                </a:solidFill>
                <a:latin typeface="Arial"/>
                <a:ea typeface="Arial"/>
                <a:cs typeface="Arial"/>
              </a:defRPr>
            </a:pPr>
            <a:r>
              <a:rPr sz="2175" b="0">
                <a:solidFill>
                  <a:srgbClr val="183247"/>
                </a:solidFill>
                <a:latin typeface="Arial"/>
                <a:ea typeface="Arial"/>
                <a:cs typeface="Arial"/>
              </a:rPr>
              <a:t>§3.3.2 · Opgaven 13 t/m 17</a:t>
            </a:r>
          </a:p>
          <a:p xmlns:a="http://schemas.openxmlformats.org/drawingml/2006/main">
            <a:pPr algn="l">
              <a:defRPr sz="2175" b="0">
                <a:solidFill>
                  <a:srgbClr val="183247"/>
                </a:solidFill>
                <a:latin typeface="Arial"/>
                <a:ea typeface="Arial"/>
                <a:cs typeface="Arial"/>
              </a:defRPr>
            </a:pPr>
            <a:r>
              <a:rPr sz="2175" b="0">
                <a:solidFill>
                  <a:srgbClr val="183247"/>
                </a:solidFill>
                <a:latin typeface="Arial"/>
                <a:ea typeface="Arial"/>
                <a:cs typeface="Arial"/>
              </a:rPr>
              <a:t>Basis: 13 en 14</a:t>
            </a:r>
          </a:p>
          <a:p xmlns:a="http://schemas.openxmlformats.org/drawingml/2006/main">
            <a:pPr algn="l">
              <a:defRPr sz="2175" b="0">
                <a:solidFill>
                  <a:srgbClr val="183247"/>
                </a:solidFill>
                <a:latin typeface="Arial"/>
                <a:ea typeface="Arial"/>
                <a:cs typeface="Arial"/>
              </a:defRPr>
            </a:pPr>
            <a:r>
              <a:rPr sz="2175" b="0">
                <a:solidFill>
                  <a:srgbClr val="183247"/>
                </a:solidFill>
                <a:latin typeface="Arial"/>
                <a:ea typeface="Arial"/>
                <a:cs typeface="Arial"/>
              </a:rPr>
              <a:t>Zelfstandig: 15 en 16</a:t>
            </a:r>
          </a:p>
          <a:p xmlns:a="http://schemas.openxmlformats.org/drawingml/2006/main">
            <a:pPr algn="l">
              <a:defRPr sz="2175" b="0">
                <a:solidFill>
                  <a:srgbClr val="183247"/>
                </a:solidFill>
                <a:latin typeface="Arial"/>
                <a:ea typeface="Arial"/>
                <a:cs typeface="Arial"/>
              </a:defRPr>
            </a:pPr>
            <a:r>
              <a:rPr sz="2175" b="0">
                <a:solidFill>
                  <a:srgbClr val="183247"/>
                </a:solidFill>
                <a:latin typeface="Arial"/>
                <a:ea typeface="Arial"/>
                <a:cs typeface="Arial"/>
              </a:rPr>
              <a:t>Doelopgave: 17</a:t>
            </a:r>
          </a:p>
          <a:p xmlns:a="http://schemas.openxmlformats.org/drawingml/2006/main">
            <a:pPr algn="l">
              <a:defRPr sz="2175" b="0">
                <a:solidFill>
                  <a:srgbClr val="183247"/>
                </a:solidFill>
                <a:latin typeface="Arial"/>
                <a:ea typeface="Arial"/>
                <a:cs typeface="Arial"/>
              </a:defRPr>
            </a:pPr>
            <a:r>
              <a:rPr sz="2175" b="0">
                <a:solidFill>
                  <a:srgbClr val="183247"/>
                </a:solidFill>
                <a:latin typeface="Arial"/>
                <a:ea typeface="Arial"/>
                <a:cs typeface="Arial"/>
              </a:rPr>
              <a:t>Maken en nakijken</a:t>
            </a:r>
          </a:p>
        </p:txBody>
      </p:sp>
      <p:sp>
        <p:nvSpPr>
          <p:cNvPr id="27" name="footer">
            <a:extLst xmlns:a="http://schemas.openxmlformats.org/drawingml/2006/main">
              <a:ext uri="{FF2B5EF4-FFF2-40B4-BE49-F238E27FC236}">
                <a16:creationId xmlns:a16="http://schemas.microsoft.com/office/drawing/2014/main" id="{62FD9704-9F3B-49C5-9C26-1AF1D7F047B7}"/>
              </a:ext>
            </a:extLst>
          </p:cNvPr>
          <p:cNvSpPr>
            <a:spLocks xmlns:a="http://schemas.openxmlformats.org/drawingml/2006/main" noGrp="1"/>
          </p:cNvSpPr>
          <p:nvPr/>
        </p:nvSpPr>
        <p:spPr>
          <a:xfrm xmlns:a="http://schemas.openxmlformats.org/drawingml/2006/main">
            <a:off x="571500" y="8153400"/>
            <a:ext cx="1314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Boek 3 · v3 · Gedrukte boekpagina’s</a:t>
            </a:r>
          </a:p>
        </p:txBody>
      </p:sp>
      <p:sp>
        <p:nvSpPr>
          <p:cNvPr id="28" name="slide-number">
            <a:extLst xmlns:a="http://schemas.openxmlformats.org/drawingml/2006/main">
              <a:ext uri="{FF2B5EF4-FFF2-40B4-BE49-F238E27FC236}">
                <a16:creationId xmlns:a16="http://schemas.microsoft.com/office/drawing/2014/main" id="{4D9E4DB8-0467-4721-BEB9-E2C0F5A16B70}"/>
              </a:ext>
            </a:extLst>
          </p:cNvPr>
          <p:cNvSpPr>
            <a:spLocks xmlns:a="http://schemas.openxmlformats.org/drawingml/2006/main" noGrp="1"/>
          </p:cNvSpPr>
          <p:nvPr/>
        </p:nvSpPr>
        <p:spPr>
          <a:xfrm xmlns:a="http://schemas.openxmlformats.org/drawingml/2006/main">
            <a:off x="14001750" y="8115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Tree>
    <p:extLst>
      <p:ext uri="{BB962C8B-B14F-4D97-AF65-F5344CB8AC3E}">
        <p14:creationId xmlns:p14="http://schemas.microsoft.com/office/powerpoint/2010/main" val="908483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Wat kun je na deze les?">
            <a:extLst xmlns:a="http://schemas.openxmlformats.org/drawingml/2006/main">
              <a:ext uri="{FF2B5EF4-FFF2-40B4-BE49-F238E27FC236}">
                <a16:creationId xmlns:a16="http://schemas.microsoft.com/office/drawing/2014/main" id="{99FDC04F-D4B5-46B1-B150-0FB99099A62C}"/>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D94F5DD5-78C5-4DE8-BE99-933F25D4157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3D62734-2683-4685-95F2-6CE72DFCE8EC}"/>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§3.3.2 Wereldmarktprijs, import, export en welvaart</a:t>
            </a:r>
          </a:p>
        </p:txBody>
      </p:sp>
      <p:sp>
        <p:nvSpPr>
          <p:cNvPr id="4" name="slide-number">
            <a:extLst xmlns:a="http://schemas.openxmlformats.org/drawingml/2006/main">
              <a:ext uri="{FF2B5EF4-FFF2-40B4-BE49-F238E27FC236}">
                <a16:creationId xmlns:a16="http://schemas.microsoft.com/office/drawing/2014/main" id="{BAE00E58-535C-4951-B94A-1005895457F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De prijs vergelijken">
            <a:extLst xmlns:a="http://schemas.openxmlformats.org/drawingml/2006/main">
              <a:ext uri="{FF2B5EF4-FFF2-40B4-BE49-F238E27FC236}">
                <a16:creationId xmlns:a16="http://schemas.microsoft.com/office/drawing/2014/main" id="{1866BCA8-0323-47E1-80EF-A08C804FF95E}"/>
              </a:ext>
            </a:extLst>
          </p:cNvPr>
          <p:cNvSpPr>
            <a:spLocks xmlns:a="http://schemas.openxmlformats.org/drawingml/2006/main" noGrp="1"/>
          </p:cNvSpPr>
          <p:nvPr/>
        </p:nvSpPr>
        <p:spPr>
          <a:xfrm xmlns:a="http://schemas.openxmlformats.org/drawingml/2006/main">
            <a:off x="571500" y="2124075"/>
            <a:ext cx="609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De prijs vergelijken</a:t>
            </a:r>
          </a:p>
        </p:txBody>
      </p:sp>
      <p:sp>
        <p:nvSpPr>
          <p:cNvPr id="6" name="Wereldmarktprijs en prijs zonder handel.">
            <a:extLst xmlns:a="http://schemas.openxmlformats.org/drawingml/2006/main">
              <a:ext uri="{FF2B5EF4-FFF2-40B4-BE49-F238E27FC236}">
                <a16:creationId xmlns:a16="http://schemas.microsoft.com/office/drawing/2014/main" id="{3526E7CD-D56A-41B9-8CCE-0ECEFF000343}"/>
              </a:ext>
            </a:extLst>
          </p:cNvPr>
          <p:cNvSpPr>
            <a:spLocks xmlns:a="http://schemas.openxmlformats.org/drawingml/2006/main" noGrp="1"/>
          </p:cNvSpPr>
          <p:nvPr/>
        </p:nvSpPr>
        <p:spPr>
          <a:xfrm xmlns:a="http://schemas.openxmlformats.org/drawingml/2006/main">
            <a:off x="7143750" y="2124075"/>
            <a:ext cx="7524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Wereldmarktprijs en prijs zonder handel.</a:t>
            </a:r>
          </a:p>
        </p:txBody>
      </p:sp>
      <p:sp>
        <p:nvSpPr>
          <p:cNvPr id="7" name="">
            <a:extLst xmlns:a="http://schemas.openxmlformats.org/drawingml/2006/main">
              <a:ext uri="{FF2B5EF4-FFF2-40B4-BE49-F238E27FC236}">
                <a16:creationId xmlns:a16="http://schemas.microsoft.com/office/drawing/2014/main" id="{EA044F8E-3FCF-465E-A620-CBED6BD98D7F}"/>
              </a:ext>
            </a:extLst>
          </p:cNvPr>
          <p:cNvSpPr>
            <a:spLocks xmlns:a="http://schemas.openxmlformats.org/drawingml/2006/main" noGrp="1"/>
          </p:cNvSpPr>
          <p:nvPr/>
        </p:nvSpPr>
        <p:spPr>
          <a:xfrm xmlns:a="http://schemas.openxmlformats.org/drawingml/2006/main">
            <a:off x="571500" y="3495675"/>
            <a:ext cx="14097000" cy="0"/>
          </a:xfrm>
          <a:prstGeom xmlns:a="http://schemas.openxmlformats.org/drawingml/2006/main" prst="line">
            <a:avLst/>
          </a:prstGeom>
          <a:ln xmlns:a="http://schemas.openxmlformats.org/drawingml/2006/main" w="19050">
            <a:solidFill>
              <a:srgbClr val="C6D2DB"/>
            </a:solidFill>
          </a:ln>
        </p:spPr>
      </p:sp>
      <p:sp>
        <p:nvSpPr>
          <p:cNvPr id="8" name="Drie hoeveelheden onderscheiden">
            <a:extLst xmlns:a="http://schemas.openxmlformats.org/drawingml/2006/main">
              <a:ext uri="{FF2B5EF4-FFF2-40B4-BE49-F238E27FC236}">
                <a16:creationId xmlns:a16="http://schemas.microsoft.com/office/drawing/2014/main" id="{F28E5B95-DC7D-4975-8C3B-CBA9B10C3456}"/>
              </a:ext>
            </a:extLst>
          </p:cNvPr>
          <p:cNvSpPr>
            <a:spLocks xmlns:a="http://schemas.openxmlformats.org/drawingml/2006/main" noGrp="1"/>
          </p:cNvSpPr>
          <p:nvPr/>
        </p:nvSpPr>
        <p:spPr>
          <a:xfrm xmlns:a="http://schemas.openxmlformats.org/drawingml/2006/main">
            <a:off x="571500" y="3867150"/>
            <a:ext cx="609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Drie hoeveelheden onderscheiden</a:t>
            </a:r>
          </a:p>
        </p:txBody>
      </p:sp>
      <p:sp>
        <p:nvSpPr>
          <p:cNvPr id="9" name="Binnenlandse productie, verbruik en handelsstroom.">
            <a:extLst xmlns:a="http://schemas.openxmlformats.org/drawingml/2006/main">
              <a:ext uri="{FF2B5EF4-FFF2-40B4-BE49-F238E27FC236}">
                <a16:creationId xmlns:a16="http://schemas.microsoft.com/office/drawing/2014/main" id="{0F17CEB1-AAEB-4363-BA60-11CD6F053FA9}"/>
              </a:ext>
            </a:extLst>
          </p:cNvPr>
          <p:cNvSpPr>
            <a:spLocks xmlns:a="http://schemas.openxmlformats.org/drawingml/2006/main" noGrp="1"/>
          </p:cNvSpPr>
          <p:nvPr/>
        </p:nvSpPr>
        <p:spPr>
          <a:xfrm xmlns:a="http://schemas.openxmlformats.org/drawingml/2006/main">
            <a:off x="7143750" y="3867150"/>
            <a:ext cx="7524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Binnenlandse productie, verbruik en handelsstroom.</a:t>
            </a:r>
          </a:p>
        </p:txBody>
      </p:sp>
      <p:sp>
        <p:nvSpPr>
          <p:cNvPr id="10" name="">
            <a:extLst xmlns:a="http://schemas.openxmlformats.org/drawingml/2006/main">
              <a:ext uri="{FF2B5EF4-FFF2-40B4-BE49-F238E27FC236}">
                <a16:creationId xmlns:a16="http://schemas.microsoft.com/office/drawing/2014/main" id="{1E1BCAA4-B56D-43B8-BBEB-8A85F9EBBFCC}"/>
              </a:ext>
            </a:extLst>
          </p:cNvPr>
          <p:cNvSpPr>
            <a:spLocks xmlns:a="http://schemas.openxmlformats.org/drawingml/2006/main" noGrp="1"/>
          </p:cNvSpPr>
          <p:nvPr/>
        </p:nvSpPr>
        <p:spPr>
          <a:xfrm xmlns:a="http://schemas.openxmlformats.org/drawingml/2006/main">
            <a:off x="571500" y="5238750"/>
            <a:ext cx="14097000" cy="0"/>
          </a:xfrm>
          <a:prstGeom xmlns:a="http://schemas.openxmlformats.org/drawingml/2006/main" prst="line">
            <a:avLst/>
          </a:prstGeom>
          <a:ln xmlns:a="http://schemas.openxmlformats.org/drawingml/2006/main" w="19050">
            <a:solidFill>
              <a:srgbClr val="C6D2DB"/>
            </a:solidFill>
          </a:ln>
        </p:spPr>
      </p:sp>
      <p:sp>
        <p:nvSpPr>
          <p:cNvPr id="11" name="Gevolgen uitleggen">
            <a:extLst xmlns:a="http://schemas.openxmlformats.org/drawingml/2006/main">
              <a:ext uri="{FF2B5EF4-FFF2-40B4-BE49-F238E27FC236}">
                <a16:creationId xmlns:a16="http://schemas.microsoft.com/office/drawing/2014/main" id="{6747D696-8F9A-4C66-8EF6-C73226FAA698}"/>
              </a:ext>
            </a:extLst>
          </p:cNvPr>
          <p:cNvSpPr>
            <a:spLocks xmlns:a="http://schemas.openxmlformats.org/drawingml/2006/main" noGrp="1"/>
          </p:cNvSpPr>
          <p:nvPr/>
        </p:nvSpPr>
        <p:spPr>
          <a:xfrm xmlns:a="http://schemas.openxmlformats.org/drawingml/2006/main">
            <a:off x="571500" y="5610225"/>
            <a:ext cx="609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Gevolgen uitleggen</a:t>
            </a:r>
          </a:p>
        </p:txBody>
      </p:sp>
      <p:sp>
        <p:nvSpPr>
          <p:cNvPr id="12" name="Prijs, hoeveelheid en surplus van elke binnenlandse groep.">
            <a:extLst xmlns:a="http://schemas.openxmlformats.org/drawingml/2006/main">
              <a:ext uri="{FF2B5EF4-FFF2-40B4-BE49-F238E27FC236}">
                <a16:creationId xmlns:a16="http://schemas.microsoft.com/office/drawing/2014/main" id="{1F8693FB-3019-4615-8D0F-25DEFFCE55F8}"/>
              </a:ext>
            </a:extLst>
          </p:cNvPr>
          <p:cNvSpPr>
            <a:spLocks xmlns:a="http://schemas.openxmlformats.org/drawingml/2006/main" noGrp="1"/>
          </p:cNvSpPr>
          <p:nvPr/>
        </p:nvSpPr>
        <p:spPr>
          <a:xfrm xmlns:a="http://schemas.openxmlformats.org/drawingml/2006/main">
            <a:off x="7143750" y="5610225"/>
            <a:ext cx="7524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Prijs, hoeveelheid en surplus van elke binnenlandse groep.</a:t>
            </a:r>
          </a:p>
        </p:txBody>
      </p:sp>
    </p:spTree>
    <p:extLst>
      <p:ext uri="{BB962C8B-B14F-4D97-AF65-F5344CB8AC3E}">
        <p14:creationId xmlns:p14="http://schemas.microsoft.com/office/powerpoint/2010/main" val="191094650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Een klein land neemt de wereldprijs over">
            <a:extLst xmlns:a="http://schemas.openxmlformats.org/drawingml/2006/main">
              <a:ext uri="{FF2B5EF4-FFF2-40B4-BE49-F238E27FC236}">
                <a16:creationId xmlns:a16="http://schemas.microsoft.com/office/drawing/2014/main" id="{A50D3587-2E98-4E63-96B2-3010BC30976C}"/>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klein land neemt de wereldprijs over</a:t>
            </a:r>
          </a:p>
        </p:txBody>
      </p:sp>
      <p:sp>
        <p:nvSpPr>
          <p:cNvPr id="2" name="">
            <a:extLst xmlns:a="http://schemas.openxmlformats.org/drawingml/2006/main">
              <a:ext uri="{FF2B5EF4-FFF2-40B4-BE49-F238E27FC236}">
                <a16:creationId xmlns:a16="http://schemas.microsoft.com/office/drawing/2014/main" id="{7DA6AA2C-B1D5-49D4-9A07-7B3F421BC94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0D9DFBE5-1319-4B57-8639-CF5AC9C200F4}"/>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§3.3.2 Wereldmarktprijs, import, export en welvaart</a:t>
            </a:r>
          </a:p>
        </p:txBody>
      </p:sp>
      <p:sp>
        <p:nvSpPr>
          <p:cNvPr id="4" name="slide-number">
            <a:extLst xmlns:a="http://schemas.openxmlformats.org/drawingml/2006/main">
              <a:ext uri="{FF2B5EF4-FFF2-40B4-BE49-F238E27FC236}">
                <a16:creationId xmlns:a16="http://schemas.microsoft.com/office/drawing/2014/main" id="{9BE94AD3-5180-40E0-A9E1-CFEA8E8EBFC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Pw = gegeven prijs op de wereldmarkt">
            <a:extLst xmlns:a="http://schemas.openxmlformats.org/drawingml/2006/main">
              <a:ext uri="{FF2B5EF4-FFF2-40B4-BE49-F238E27FC236}">
                <a16:creationId xmlns:a16="http://schemas.microsoft.com/office/drawing/2014/main" id="{1357067D-D79C-4642-AF0C-EC6AEAE313F4}"/>
              </a:ext>
            </a:extLst>
          </p:cNvPr>
          <p:cNvSpPr>
            <a:spLocks xmlns:a="http://schemas.openxmlformats.org/drawingml/2006/main" noGrp="1"/>
          </p:cNvSpPr>
          <p:nvPr/>
        </p:nvSpPr>
        <p:spPr>
          <a:xfrm xmlns:a="http://schemas.openxmlformats.org/drawingml/2006/main">
            <a:off x="571500" y="18097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A5276"/>
                </a:solidFill>
                <a:latin typeface="Arial"/>
                <a:ea typeface="Arial"/>
                <a:cs typeface="Arial"/>
              </a:defRPr>
            </a:pPr>
            <a:r>
              <a:rPr sz="3300" b="1">
                <a:solidFill>
                  <a:srgbClr val="1A5276"/>
                </a:solidFill>
                <a:latin typeface="Arial"/>
                <a:ea typeface="Arial"/>
                <a:cs typeface="Arial"/>
              </a:rPr>
              <a:t>Pw = gegeven prijs op de wereldmarkt</a:t>
            </a:r>
          </a:p>
        </p:txBody>
      </p:sp>
      <p:graphicFrame>
        <p:nvGraphicFramePr>
          <p:cNvPr id="13" name=""/>
          <p:cNvGraphicFramePr/>
          <p:nvPr/>
        </p:nvGraphicFramePr>
        <p:xfrm>
          <a:off xmlns:a="http://schemas.openxmlformats.org/drawingml/2006/main" x="571500" y="2762250"/>
          <a:ext xmlns:a="http://schemas.openxmlformats.org/drawingml/2006/main" cx="14097000" cy="4048125"/>
        </p:xfrm>
        <a:graphic xmlns:a="http://schemas.openxmlformats.org/drawingml/2006/main">
          <a:graphicData uri="http://schemas.openxmlformats.org/drawingml/2006/table">
            <a:tbl>
              <a:tblPr/>
              <a:tblGrid>
                <a:gridCol w="4905375"/>
                <a:gridCol w="9191625"/>
              </a:tblGrid>
              <a:tr h="809625">
                <a:tc>
                  <a:txBody>
                    <a:bodyPr lIns="171450" tIns="95250" rIns="152400" bIns="95250"/>
                    <a:lstStyle/>
                    <a:p>
                      <a:r>
                        <a:rPr sz="2325" b="1">
                          <a:solidFill>
                            <a:srgbClr val="FFFFFF"/>
                          </a:solidFill>
                          <a:latin typeface="Arial"/>
                          <a:ea typeface="Arial"/>
                          <a:cs typeface="Arial"/>
                        </a:rPr>
                        <a:t>Voorwaarde</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Betekenis in dit model</a:t>
                      </a:r>
                    </a:p>
                  </a:txBody>
                  <a:tcPr marL="91440" marR="91440" marT="45720" marB="45720" anchor="ctr">
                    <a:solidFill>
                      <a:srgbClr val="183247"/>
                    </a:solidFill>
                  </a:tcPr>
                </a:tc>
              </a:tr>
              <a:tr h="809625">
                <a:tc>
                  <a:txBody>
                    <a:bodyPr lIns="171450" tIns="95250" rIns="152400" bIns="95250"/>
                    <a:lstStyle/>
                    <a:p>
                      <a:r>
                        <a:rPr sz="2325" b="0">
                          <a:solidFill>
                            <a:srgbClr val="183247"/>
                          </a:solidFill>
                          <a:latin typeface="Arial"/>
                          <a:ea typeface="Arial"/>
                          <a:cs typeface="Arial"/>
                        </a:rPr>
                        <a:t>Klein en prijsnemend</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De handel van dit land verandert Pw niet.</a:t>
                      </a:r>
                    </a:p>
                  </a:txBody>
                  <a:tcPr marL="91440" marR="91440" marT="45720" marB="45720" anchor="ctr">
                    <a:solidFill>
                      <a:srgbClr val="FFFFFF"/>
                    </a:solidFill>
                  </a:tcPr>
                </a:tc>
              </a:tr>
              <a:tr h="809625">
                <a:tc>
                  <a:txBody>
                    <a:bodyPr lIns="171450" tIns="95250" rIns="152400" bIns="95250"/>
                    <a:lstStyle/>
                    <a:p>
                      <a:r>
                        <a:rPr sz="2325" b="0">
                          <a:solidFill>
                            <a:srgbClr val="183247"/>
                          </a:solidFill>
                          <a:latin typeface="Arial"/>
                          <a:ea typeface="Arial"/>
                          <a:cs typeface="Arial"/>
                        </a:rPr>
                        <a:t>Concurrerende markt</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Veel kopers en verkopers, gelijkwaardige producten.</a:t>
                      </a:r>
                    </a:p>
                  </a:txBody>
                  <a:tcPr marL="91440" marR="91440" marT="45720" marB="45720" anchor="ctr">
                    <a:solidFill>
                      <a:srgbClr val="EFF4F7"/>
                    </a:solidFill>
                  </a:tcPr>
                </a:tc>
              </a:tr>
              <a:tr h="809625">
                <a:tc>
                  <a:txBody>
                    <a:bodyPr lIns="171450" tIns="95250" rIns="152400" bIns="95250"/>
                    <a:lstStyle/>
                    <a:p>
                      <a:r>
                        <a:rPr sz="2325" b="0">
                          <a:solidFill>
                            <a:srgbClr val="183247"/>
                          </a:solidFill>
                          <a:latin typeface="Arial"/>
                          <a:ea typeface="Arial"/>
                          <a:cs typeface="Arial"/>
                        </a:rPr>
                        <a:t>Handel is beschikbaar</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Voldoende buitenlands aanbod én buitenlandse vraag.</a:t>
                      </a:r>
                    </a:p>
                  </a:txBody>
                  <a:tcPr marL="91440" marR="91440" marT="45720" marB="45720" anchor="ctr">
                    <a:solidFill>
                      <a:srgbClr val="FFFFFF"/>
                    </a:solidFill>
                  </a:tcPr>
                </a:tc>
              </a:tr>
              <a:tr h="809625">
                <a:tc>
                  <a:txBody>
                    <a:bodyPr lIns="171450" tIns="95250" rIns="152400" bIns="95250"/>
                    <a:lstStyle/>
                    <a:p>
                      <a:r>
                        <a:rPr sz="2325" b="0">
                          <a:solidFill>
                            <a:srgbClr val="183247"/>
                          </a:solidFill>
                          <a:latin typeface="Arial"/>
                          <a:ea typeface="Arial"/>
                          <a:cs typeface="Arial"/>
                        </a:rPr>
                        <a:t>Vaste overige omstandigheden</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Euro’s, geen transportkosten of handelsbelemmeringen.</a:t>
                      </a:r>
                    </a:p>
                  </a:txBody>
                  <a:tcPr marL="91440" marR="91440" marT="45720" marB="45720" anchor="ctr">
                    <a:solidFill>
                      <a:srgbClr val="EFF4F7"/>
                    </a:solidFill>
                  </a:tcPr>
                </a:tc>
              </a:tr>
            </a:tbl>
          </a:graphicData>
        </a:graphic>
      </p:graphicFrame>
      <p:sp>
        <p:nvSpPr>
          <p:cNvPr id="7" name="Welvaartsvergelijking: binnenlandse kopers en producenten, z">
            <a:extLst xmlns:a="http://schemas.openxmlformats.org/drawingml/2006/main">
              <a:ext uri="{FF2B5EF4-FFF2-40B4-BE49-F238E27FC236}">
                <a16:creationId xmlns:a16="http://schemas.microsoft.com/office/drawing/2014/main" id="{AEFBE54A-F7B9-49A3-8447-2A050780C1FD}"/>
              </a:ext>
            </a:extLst>
          </p:cNvPr>
          <p:cNvSpPr>
            <a:spLocks xmlns:a="http://schemas.openxmlformats.org/drawingml/2006/main" noGrp="1"/>
          </p:cNvSpPr>
          <p:nvPr/>
        </p:nvSpPr>
        <p:spPr>
          <a:xfrm xmlns:a="http://schemas.openxmlformats.org/drawingml/2006/main">
            <a:off x="571500" y="7172325"/>
            <a:ext cx="14097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Welvaartsvergelijking: binnenlandse kopers en producenten, zonder effecten op derden.</a:t>
            </a:r>
          </a:p>
        </p:txBody>
      </p:sp>
    </p:spTree>
    <p:extLst>
      <p:ext uri="{BB962C8B-B14F-4D97-AF65-F5344CB8AC3E}">
        <p14:creationId xmlns:p14="http://schemas.microsoft.com/office/powerpoint/2010/main" val="9318534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genjassen in Mira: zonder handel">
            <a:extLst xmlns:a="http://schemas.openxmlformats.org/drawingml/2006/main">
              <a:ext uri="{FF2B5EF4-FFF2-40B4-BE49-F238E27FC236}">
                <a16:creationId xmlns:a16="http://schemas.microsoft.com/office/drawing/2014/main" id="{8DD94FA9-E8E8-4EF2-9D37-FC9BC3133518}"/>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Regenjassen in Mira: zonder handel</a:t>
            </a:r>
          </a:p>
        </p:txBody>
      </p:sp>
      <p:sp>
        <p:nvSpPr>
          <p:cNvPr id="2" name="">
            <a:extLst xmlns:a="http://schemas.openxmlformats.org/drawingml/2006/main">
              <a:ext uri="{FF2B5EF4-FFF2-40B4-BE49-F238E27FC236}">
                <a16:creationId xmlns:a16="http://schemas.microsoft.com/office/drawing/2014/main" id="{48856B29-B4EF-403E-86A6-A5A7457EA9A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80283C5E-D8A8-41AB-9A7A-FB4BD86FF783}"/>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§3.3.2 Wereldmarktprijs, import, export en welvaart</a:t>
            </a:r>
          </a:p>
        </p:txBody>
      </p:sp>
      <p:sp>
        <p:nvSpPr>
          <p:cNvPr id="4" name="slide-number">
            <a:extLst xmlns:a="http://schemas.openxmlformats.org/drawingml/2006/main">
              <a:ext uri="{FF2B5EF4-FFF2-40B4-BE49-F238E27FC236}">
                <a16:creationId xmlns:a16="http://schemas.microsoft.com/office/drawing/2014/main" id="{B23DE8E6-EDC7-4BD9-9457-3ABCBFCDB8C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945CE033-1568-4E09-A138-2987987F5DAF}"/>
              </a:ext>
            </a:extLst>
          </p:cNvPr>
          <p:cNvSpPr>
            <a:spLocks xmlns:a="http://schemas.openxmlformats.org/drawingml/2006/main" noGrp="1"/>
          </p:cNvSpPr>
          <p:nvPr/>
        </p:nvSpPr>
        <p:spPr>
          <a:xfrm xmlns:a="http://schemas.openxmlformats.org/drawingml/2006/main">
            <a:off x="571500" y="16859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333625"/>
          <a:ext xmlns:a="http://schemas.openxmlformats.org/drawingml/2006/main" cx="9810750" cy="5238750"/>
        </p:xfrm>
        <a:graphic xmlns:a="http://schemas.openxmlformats.org/drawingml/2006/main">
          <a:graphicData uri="http://schemas.openxmlformats.org/drawingml/2006/chart">
            <c:chart xmlns:r="http://schemas.openxmlformats.org/officeDocument/2006/relationships" xmlns:c="http://schemas.openxmlformats.org/drawingml/2006/chart" r:id="R007714ed477a4f58"/>
          </a:graphicData>
        </a:graphic>
      </p:graphicFrame>
      <p:sp>
        <p:nvSpPr>
          <p:cNvPr id="7" name="Qv = 180 − 5P&#10;Qa = 5P − 60">
            <a:extLst xmlns:a="http://schemas.openxmlformats.org/drawingml/2006/main">
              <a:ext uri="{FF2B5EF4-FFF2-40B4-BE49-F238E27FC236}">
                <a16:creationId xmlns:a16="http://schemas.microsoft.com/office/drawing/2014/main" id="{FC2909A9-0C65-4C5C-9F4A-FA5312F2C1CE}"/>
              </a:ext>
            </a:extLst>
          </p:cNvPr>
          <p:cNvSpPr>
            <a:spLocks xmlns:a="http://schemas.openxmlformats.org/drawingml/2006/main" noGrp="1"/>
          </p:cNvSpPr>
          <p:nvPr/>
        </p:nvSpPr>
        <p:spPr>
          <a:xfrm xmlns:a="http://schemas.openxmlformats.org/drawingml/2006/main">
            <a:off x="10763250" y="2476500"/>
            <a:ext cx="3905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Qv = 180 − 5P</a:t>
            </a:r>
          </a:p>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Qa = 5P − 60</a:t>
            </a:r>
          </a:p>
        </p:txBody>
      </p:sp>
      <p:sp>
        <p:nvSpPr>
          <p:cNvPr id="8" name="Zonder handel&#10;P = € 24&#10;Q = 60 per week">
            <a:extLst xmlns:a="http://schemas.openxmlformats.org/drawingml/2006/main">
              <a:ext uri="{FF2B5EF4-FFF2-40B4-BE49-F238E27FC236}">
                <a16:creationId xmlns:a16="http://schemas.microsoft.com/office/drawing/2014/main" id="{E56FB6C5-4E56-4756-ACA3-53C7A7AC75E3}"/>
              </a:ext>
            </a:extLst>
          </p:cNvPr>
          <p:cNvSpPr>
            <a:spLocks xmlns:a="http://schemas.openxmlformats.org/drawingml/2006/main" noGrp="1"/>
          </p:cNvSpPr>
          <p:nvPr/>
        </p:nvSpPr>
        <p:spPr>
          <a:xfrm xmlns:a="http://schemas.openxmlformats.org/drawingml/2006/main">
            <a:off x="10763250" y="3981450"/>
            <a:ext cx="3905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Zonder handel</a:t>
            </a:r>
          </a:p>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P = € 24</a:t>
            </a:r>
          </a:p>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Q = 60 per week</a:t>
            </a:r>
          </a:p>
        </p:txBody>
      </p:sp>
      <p:sp>
        <p:nvSpPr>
          <p:cNvPr id="9" name="Productie = verbruik">
            <a:extLst xmlns:a="http://schemas.openxmlformats.org/drawingml/2006/main">
              <a:ext uri="{FF2B5EF4-FFF2-40B4-BE49-F238E27FC236}">
                <a16:creationId xmlns:a16="http://schemas.microsoft.com/office/drawing/2014/main" id="{61C87B43-903D-48F1-B7D5-631AFD33B4EF}"/>
              </a:ext>
            </a:extLst>
          </p:cNvPr>
          <p:cNvSpPr>
            <a:spLocks xmlns:a="http://schemas.openxmlformats.org/drawingml/2006/main" noGrp="1"/>
          </p:cNvSpPr>
          <p:nvPr/>
        </p:nvSpPr>
        <p:spPr>
          <a:xfrm xmlns:a="http://schemas.openxmlformats.org/drawingml/2006/main">
            <a:off x="10763250" y="6210300"/>
            <a:ext cx="390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Productie = verbruik</a:t>
            </a:r>
          </a:p>
        </p:txBody>
      </p:sp>
    </p:spTree>
    <p:extLst>
      <p:ext uri="{BB962C8B-B14F-4D97-AF65-F5344CB8AC3E}">
        <p14:creationId xmlns:p14="http://schemas.microsoft.com/office/powerpoint/2010/main" val="20050379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Een wereldmarktprijs onder € 24">
            <a:extLst xmlns:a="http://schemas.openxmlformats.org/drawingml/2006/main">
              <a:ext uri="{FF2B5EF4-FFF2-40B4-BE49-F238E27FC236}">
                <a16:creationId xmlns:a16="http://schemas.microsoft.com/office/drawing/2014/main" id="{CAF6E0EB-F351-4DF1-B94E-69CE45348BE1}"/>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wereldmarktprijs onder € 24</a:t>
            </a:r>
          </a:p>
        </p:txBody>
      </p:sp>
      <p:sp>
        <p:nvSpPr>
          <p:cNvPr id="2" name="">
            <a:extLst xmlns:a="http://schemas.openxmlformats.org/drawingml/2006/main">
              <a:ext uri="{FF2B5EF4-FFF2-40B4-BE49-F238E27FC236}">
                <a16:creationId xmlns:a16="http://schemas.microsoft.com/office/drawing/2014/main" id="{6C24C9CA-D0B1-43E9-942F-50D5FF2A6CB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747E8571-B148-4892-BC62-FB094B94F9E8}"/>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§3.3.2 Wereldmarktprijs, import, export en welvaart</a:t>
            </a:r>
          </a:p>
        </p:txBody>
      </p:sp>
      <p:sp>
        <p:nvSpPr>
          <p:cNvPr id="4" name="slide-number">
            <a:extLst xmlns:a="http://schemas.openxmlformats.org/drawingml/2006/main">
              <a:ext uri="{FF2B5EF4-FFF2-40B4-BE49-F238E27FC236}">
                <a16:creationId xmlns:a16="http://schemas.microsoft.com/office/drawing/2014/main" id="{C5DB62E5-B684-4EA9-A8C5-92F9B3064EB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7DBB3FA2-CE68-4979-BBCD-08A6D087CDFF}"/>
              </a:ext>
            </a:extLst>
          </p:cNvPr>
          <p:cNvSpPr>
            <a:spLocks xmlns:a="http://schemas.openxmlformats.org/drawingml/2006/main" noGrp="1"/>
          </p:cNvSpPr>
          <p:nvPr/>
        </p:nvSpPr>
        <p:spPr>
          <a:xfrm xmlns:a="http://schemas.openxmlformats.org/drawingml/2006/main">
            <a:off x="571500" y="16859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Uitlegvoorbeeld — niet uit het boek</a:t>
            </a:r>
          </a:p>
        </p:txBody>
      </p:sp>
      <p:graphicFrame>
        <p:nvGraphicFramePr>
          <p:cNvPr id="16" name="Chart"/>
          <p:cNvGraphicFramePr/>
          <p:nvPr/>
        </p:nvGraphicFramePr>
        <p:xfrm>
          <a:off xmlns:a="http://schemas.openxmlformats.org/drawingml/2006/main" x="571500" y="2333625"/>
          <a:ext xmlns:a="http://schemas.openxmlformats.org/drawingml/2006/main" cx="9810750" cy="5238750"/>
        </p:xfrm>
        <a:graphic xmlns:a="http://schemas.openxmlformats.org/drawingml/2006/main">
          <a:graphicData uri="http://schemas.openxmlformats.org/drawingml/2006/chart">
            <c:chart xmlns:r="http://schemas.openxmlformats.org/officeDocument/2006/relationships" xmlns:c="http://schemas.openxmlformats.org/drawingml/2006/chart" r:id="R2a04b1ff87c64647"/>
          </a:graphicData>
        </a:graphic>
      </p:graphicFrame>
      <p:sp>
        <p:nvSpPr>
          <p:cNvPr id="7" name="Pw = € 18">
            <a:extLst xmlns:a="http://schemas.openxmlformats.org/drawingml/2006/main">
              <a:ext uri="{FF2B5EF4-FFF2-40B4-BE49-F238E27FC236}">
                <a16:creationId xmlns:a16="http://schemas.microsoft.com/office/drawing/2014/main" id="{E1D88B7E-D6DF-477F-ABD5-BA7B3AC19738}"/>
              </a:ext>
            </a:extLst>
          </p:cNvPr>
          <p:cNvSpPr>
            <a:spLocks xmlns:a="http://schemas.openxmlformats.org/drawingml/2006/main" noGrp="1"/>
          </p:cNvSpPr>
          <p:nvPr/>
        </p:nvSpPr>
        <p:spPr>
          <a:xfrm xmlns:a="http://schemas.openxmlformats.org/drawingml/2006/main">
            <a:off x="10763250" y="2524125"/>
            <a:ext cx="3905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A94D16"/>
                </a:solidFill>
                <a:latin typeface="Arial"/>
                <a:ea typeface="Arial"/>
                <a:cs typeface="Arial"/>
              </a:defRPr>
            </a:pPr>
            <a:r>
              <a:rPr sz="3300" b="1">
                <a:solidFill>
                  <a:srgbClr val="A94D16"/>
                </a:solidFill>
                <a:latin typeface="Arial"/>
                <a:ea typeface="Arial"/>
                <a:cs typeface="Arial"/>
              </a:rPr>
              <a:t>Pw = € 18</a:t>
            </a:r>
          </a:p>
        </p:txBody>
      </p:sp>
      <p:sp>
        <p:nvSpPr>
          <p:cNvPr id="8" name="€ 18 &lt; € 24">
            <a:extLst xmlns:a="http://schemas.openxmlformats.org/drawingml/2006/main">
              <a:ext uri="{FF2B5EF4-FFF2-40B4-BE49-F238E27FC236}">
                <a16:creationId xmlns:a16="http://schemas.microsoft.com/office/drawing/2014/main" id="{3BF1AD7C-EA02-4E04-9835-E4CFD939222C}"/>
              </a:ext>
            </a:extLst>
          </p:cNvPr>
          <p:cNvSpPr>
            <a:spLocks xmlns:a="http://schemas.openxmlformats.org/drawingml/2006/main" noGrp="1"/>
          </p:cNvSpPr>
          <p:nvPr/>
        </p:nvSpPr>
        <p:spPr>
          <a:xfrm xmlns:a="http://schemas.openxmlformats.org/drawingml/2006/main">
            <a:off x="10763250" y="3714750"/>
            <a:ext cx="3905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€ 18 &lt; € 24</a:t>
            </a:r>
          </a:p>
        </p:txBody>
      </p:sp>
      <p:sp>
        <p:nvSpPr>
          <p:cNvPr id="9" name="Binnenlandse prijs:&#10;€ 18 per regenjas">
            <a:extLst xmlns:a="http://schemas.openxmlformats.org/drawingml/2006/main">
              <a:ext uri="{FF2B5EF4-FFF2-40B4-BE49-F238E27FC236}">
                <a16:creationId xmlns:a16="http://schemas.microsoft.com/office/drawing/2014/main" id="{AD40C7CE-591F-436F-9854-23B1EC1FB5AF}"/>
              </a:ext>
            </a:extLst>
          </p:cNvPr>
          <p:cNvSpPr>
            <a:spLocks xmlns:a="http://schemas.openxmlformats.org/drawingml/2006/main" noGrp="1"/>
          </p:cNvSpPr>
          <p:nvPr/>
        </p:nvSpPr>
        <p:spPr>
          <a:xfrm xmlns:a="http://schemas.openxmlformats.org/drawingml/2006/main">
            <a:off x="10763250" y="4905375"/>
            <a:ext cx="3905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Binnenlandse prijs:</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€ 18 per regenjas</a:t>
            </a:r>
          </a:p>
        </p:txBody>
      </p:sp>
      <p:sp>
        <p:nvSpPr>
          <p:cNvPr id="10" name="De lijnen blijven gelijk.">
            <a:extLst xmlns:a="http://schemas.openxmlformats.org/drawingml/2006/main">
              <a:ext uri="{FF2B5EF4-FFF2-40B4-BE49-F238E27FC236}">
                <a16:creationId xmlns:a16="http://schemas.microsoft.com/office/drawing/2014/main" id="{EF192AF7-714D-4872-ADB4-76E8BC06C706}"/>
              </a:ext>
            </a:extLst>
          </p:cNvPr>
          <p:cNvSpPr>
            <a:spLocks xmlns:a="http://schemas.openxmlformats.org/drawingml/2006/main" noGrp="1"/>
          </p:cNvSpPr>
          <p:nvPr/>
        </p:nvSpPr>
        <p:spPr>
          <a:xfrm xmlns:a="http://schemas.openxmlformats.org/drawingml/2006/main">
            <a:off x="10763250" y="6591300"/>
            <a:ext cx="3905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De lijnen blijven gelijk.</a:t>
            </a:r>
          </a:p>
        </p:txBody>
      </p:sp>
    </p:spTree>
    <p:extLst>
      <p:ext uri="{BB962C8B-B14F-4D97-AF65-F5344CB8AC3E}">
        <p14:creationId xmlns:p14="http://schemas.microsoft.com/office/powerpoint/2010/main" val="73258619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ij één prijs horen twee hoeveelheden">
            <a:extLst xmlns:a="http://schemas.openxmlformats.org/drawingml/2006/main">
              <a:ext uri="{FF2B5EF4-FFF2-40B4-BE49-F238E27FC236}">
                <a16:creationId xmlns:a16="http://schemas.microsoft.com/office/drawing/2014/main" id="{965F7A48-7FF4-4B36-9231-23C8D7D83C3E}"/>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Bij één prijs horen twee hoeveelheden</a:t>
            </a:r>
          </a:p>
        </p:txBody>
      </p:sp>
      <p:sp>
        <p:nvSpPr>
          <p:cNvPr id="2" name="">
            <a:extLst xmlns:a="http://schemas.openxmlformats.org/drawingml/2006/main">
              <a:ext uri="{FF2B5EF4-FFF2-40B4-BE49-F238E27FC236}">
                <a16:creationId xmlns:a16="http://schemas.microsoft.com/office/drawing/2014/main" id="{0AEBBD08-A61D-421D-A4BB-E099936746E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52EA4435-FF54-4E0D-9F4B-A7D4B739F602}"/>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§3.3.2 Wereldmarktprijs, import, export en welvaart</a:t>
            </a:r>
          </a:p>
        </p:txBody>
      </p:sp>
      <p:sp>
        <p:nvSpPr>
          <p:cNvPr id="4" name="slide-number">
            <a:extLst xmlns:a="http://schemas.openxmlformats.org/drawingml/2006/main">
              <a:ext uri="{FF2B5EF4-FFF2-40B4-BE49-F238E27FC236}">
                <a16:creationId xmlns:a16="http://schemas.microsoft.com/office/drawing/2014/main" id="{AE28CCA1-0B5A-4084-B4C1-02EB711741F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a:extLst xmlns:a="http://schemas.openxmlformats.org/drawingml/2006/main">
              <a:ext uri="{FF2B5EF4-FFF2-40B4-BE49-F238E27FC236}">
                <a16:creationId xmlns:a16="http://schemas.microsoft.com/office/drawing/2014/main" id="{D6402426-1A38-4CD2-9C38-9A3741F4DA7E}"/>
              </a:ext>
            </a:extLst>
          </p:cNvPr>
          <p:cNvSpPr>
            <a:spLocks xmlns:a="http://schemas.openxmlformats.org/drawingml/2006/main" noGrp="1"/>
          </p:cNvSpPr>
          <p:nvPr/>
        </p:nvSpPr>
        <p:spPr>
          <a:xfrm xmlns:a="http://schemas.openxmlformats.org/drawingml/2006/main">
            <a:off x="571500" y="16859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Uitlegvoorbeeld — niet uit het boek</a:t>
            </a:r>
          </a:p>
        </p:txBody>
      </p:sp>
      <p:graphicFrame>
        <p:nvGraphicFramePr>
          <p:cNvPr id="17" name="Chart"/>
          <p:cNvGraphicFramePr/>
          <p:nvPr/>
        </p:nvGraphicFramePr>
        <p:xfrm>
          <a:off xmlns:a="http://schemas.openxmlformats.org/drawingml/2006/main" x="571500" y="2333625"/>
          <a:ext xmlns:a="http://schemas.openxmlformats.org/drawingml/2006/main" cx="9810750" cy="5238750"/>
        </p:xfrm>
        <a:graphic xmlns:a="http://schemas.openxmlformats.org/drawingml/2006/main">
          <a:graphicData uri="http://schemas.openxmlformats.org/drawingml/2006/chart">
            <c:chart xmlns:r="http://schemas.openxmlformats.org/officeDocument/2006/relationships" xmlns:c="http://schemas.openxmlformats.org/drawingml/2006/chart" r:id="R918b002647e740e3"/>
          </a:graphicData>
        </a:graphic>
      </p:graphicFrame>
      <p:sp>
        <p:nvSpPr>
          <p:cNvPr id="7" name="Op A: productie">
            <a:extLst xmlns:a="http://schemas.openxmlformats.org/drawingml/2006/main">
              <a:ext uri="{FF2B5EF4-FFF2-40B4-BE49-F238E27FC236}">
                <a16:creationId xmlns:a16="http://schemas.microsoft.com/office/drawing/2014/main" id="{5E828B17-E8C7-47B0-B4E4-220B66E6AE3E}"/>
              </a:ext>
            </a:extLst>
          </p:cNvPr>
          <p:cNvSpPr>
            <a:spLocks xmlns:a="http://schemas.openxmlformats.org/drawingml/2006/main" noGrp="1"/>
          </p:cNvSpPr>
          <p:nvPr/>
        </p:nvSpPr>
        <p:spPr>
          <a:xfrm xmlns:a="http://schemas.openxmlformats.org/drawingml/2006/main">
            <a:off x="10763250" y="2495550"/>
            <a:ext cx="3905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E8449"/>
                </a:solidFill>
                <a:latin typeface="Arial"/>
                <a:ea typeface="Arial"/>
                <a:cs typeface="Arial"/>
              </a:defRPr>
            </a:pPr>
            <a:r>
              <a:rPr sz="2700" b="1">
                <a:solidFill>
                  <a:srgbClr val="1E8449"/>
                </a:solidFill>
                <a:latin typeface="Arial"/>
                <a:ea typeface="Arial"/>
                <a:cs typeface="Arial"/>
              </a:rPr>
              <a:t>Op A: productie</a:t>
            </a:r>
          </a:p>
        </p:txBody>
      </p:sp>
      <p:sp>
        <p:nvSpPr>
          <p:cNvPr id="8" name="Qa = 30">
            <a:extLst xmlns:a="http://schemas.openxmlformats.org/drawingml/2006/main">
              <a:ext uri="{FF2B5EF4-FFF2-40B4-BE49-F238E27FC236}">
                <a16:creationId xmlns:a16="http://schemas.microsoft.com/office/drawing/2014/main" id="{8ADA0C36-CD05-4FEE-8BA7-076F945B938A}"/>
              </a:ext>
            </a:extLst>
          </p:cNvPr>
          <p:cNvSpPr>
            <a:spLocks xmlns:a="http://schemas.openxmlformats.org/drawingml/2006/main" noGrp="1"/>
          </p:cNvSpPr>
          <p:nvPr/>
        </p:nvSpPr>
        <p:spPr>
          <a:xfrm xmlns:a="http://schemas.openxmlformats.org/drawingml/2006/main">
            <a:off x="10763250" y="3095625"/>
            <a:ext cx="3905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Qa = 30</a:t>
            </a:r>
          </a:p>
        </p:txBody>
      </p:sp>
      <p:sp>
        <p:nvSpPr>
          <p:cNvPr id="9" name="Op V: verbruik">
            <a:extLst xmlns:a="http://schemas.openxmlformats.org/drawingml/2006/main">
              <a:ext uri="{FF2B5EF4-FFF2-40B4-BE49-F238E27FC236}">
                <a16:creationId xmlns:a16="http://schemas.microsoft.com/office/drawing/2014/main" id="{82BFF278-2F58-4C4C-89E1-793CAB9CE2CB}"/>
              </a:ext>
            </a:extLst>
          </p:cNvPr>
          <p:cNvSpPr>
            <a:spLocks xmlns:a="http://schemas.openxmlformats.org/drawingml/2006/main" noGrp="1"/>
          </p:cNvSpPr>
          <p:nvPr/>
        </p:nvSpPr>
        <p:spPr>
          <a:xfrm xmlns:a="http://schemas.openxmlformats.org/drawingml/2006/main">
            <a:off x="10763250" y="4352925"/>
            <a:ext cx="3905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5276"/>
                </a:solidFill>
                <a:latin typeface="Arial"/>
                <a:ea typeface="Arial"/>
                <a:cs typeface="Arial"/>
              </a:defRPr>
            </a:pPr>
            <a:r>
              <a:rPr sz="2700" b="1">
                <a:solidFill>
                  <a:srgbClr val="1A5276"/>
                </a:solidFill>
                <a:latin typeface="Arial"/>
                <a:ea typeface="Arial"/>
                <a:cs typeface="Arial"/>
              </a:rPr>
              <a:t>Op V: verbruik</a:t>
            </a:r>
          </a:p>
        </p:txBody>
      </p:sp>
      <p:sp>
        <p:nvSpPr>
          <p:cNvPr id="10" name="Qv = 90">
            <a:extLst xmlns:a="http://schemas.openxmlformats.org/drawingml/2006/main">
              <a:ext uri="{FF2B5EF4-FFF2-40B4-BE49-F238E27FC236}">
                <a16:creationId xmlns:a16="http://schemas.microsoft.com/office/drawing/2014/main" id="{F531E4A7-9436-41B9-B6E1-107DB65502C7}"/>
              </a:ext>
            </a:extLst>
          </p:cNvPr>
          <p:cNvSpPr>
            <a:spLocks xmlns:a="http://schemas.openxmlformats.org/drawingml/2006/main" noGrp="1"/>
          </p:cNvSpPr>
          <p:nvPr/>
        </p:nvSpPr>
        <p:spPr>
          <a:xfrm xmlns:a="http://schemas.openxmlformats.org/drawingml/2006/main">
            <a:off x="10763250" y="4953000"/>
            <a:ext cx="3905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Qv = 90</a:t>
            </a:r>
          </a:p>
        </p:txBody>
      </p:sp>
      <p:sp>
        <p:nvSpPr>
          <p:cNvPr id="11" name="Regenjassen per week">
            <a:extLst xmlns:a="http://schemas.openxmlformats.org/drawingml/2006/main">
              <a:ext uri="{FF2B5EF4-FFF2-40B4-BE49-F238E27FC236}">
                <a16:creationId xmlns:a16="http://schemas.microsoft.com/office/drawing/2014/main" id="{5F11E3E2-E3D5-4B88-B293-302983406E89}"/>
              </a:ext>
            </a:extLst>
          </p:cNvPr>
          <p:cNvSpPr>
            <a:spLocks xmlns:a="http://schemas.openxmlformats.org/drawingml/2006/main" noGrp="1"/>
          </p:cNvSpPr>
          <p:nvPr/>
        </p:nvSpPr>
        <p:spPr>
          <a:xfrm xmlns:a="http://schemas.openxmlformats.org/drawingml/2006/main">
            <a:off x="10763250" y="6572250"/>
            <a:ext cx="3905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Regenjassen per week</a:t>
            </a:r>
          </a:p>
        </p:txBody>
      </p:sp>
    </p:spTree>
    <p:extLst>
      <p:ext uri="{BB962C8B-B14F-4D97-AF65-F5344CB8AC3E}">
        <p14:creationId xmlns:p14="http://schemas.microsoft.com/office/powerpoint/2010/main" val="13541135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mport is het ontbrekende deel">
            <a:extLst xmlns:a="http://schemas.openxmlformats.org/drawingml/2006/main">
              <a:ext uri="{FF2B5EF4-FFF2-40B4-BE49-F238E27FC236}">
                <a16:creationId xmlns:a16="http://schemas.microsoft.com/office/drawing/2014/main" id="{69BD41DA-5595-447E-939B-9C4A0F23DBCA}"/>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Import is het ontbrekende deel</a:t>
            </a:r>
          </a:p>
        </p:txBody>
      </p:sp>
      <p:sp>
        <p:nvSpPr>
          <p:cNvPr id="2" name="">
            <a:extLst xmlns:a="http://schemas.openxmlformats.org/drawingml/2006/main">
              <a:ext uri="{FF2B5EF4-FFF2-40B4-BE49-F238E27FC236}">
                <a16:creationId xmlns:a16="http://schemas.microsoft.com/office/drawing/2014/main" id="{FE62D525-3FF1-4564-9457-D0D47172A80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B02973F-CE77-4F9D-9F08-FC2BCC28628B}"/>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§3.3.2 Wereldmarktprijs, import, export en welvaart</a:t>
            </a:r>
          </a:p>
        </p:txBody>
      </p:sp>
      <p:sp>
        <p:nvSpPr>
          <p:cNvPr id="4" name="slide-number">
            <a:extLst xmlns:a="http://schemas.openxmlformats.org/drawingml/2006/main">
              <a:ext uri="{FF2B5EF4-FFF2-40B4-BE49-F238E27FC236}">
                <a16:creationId xmlns:a16="http://schemas.microsoft.com/office/drawing/2014/main" id="{179D6C32-E4FB-452A-88BC-6EC8480EB01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a:extLst xmlns:a="http://schemas.openxmlformats.org/drawingml/2006/main">
              <a:ext uri="{FF2B5EF4-FFF2-40B4-BE49-F238E27FC236}">
                <a16:creationId xmlns:a16="http://schemas.microsoft.com/office/drawing/2014/main" id="{C83256AC-1A4B-401F-997A-81B49CB2A35D}"/>
              </a:ext>
            </a:extLst>
          </p:cNvPr>
          <p:cNvSpPr>
            <a:spLocks xmlns:a="http://schemas.openxmlformats.org/drawingml/2006/main" noGrp="1"/>
          </p:cNvSpPr>
          <p:nvPr/>
        </p:nvSpPr>
        <p:spPr>
          <a:xfrm xmlns:a="http://schemas.openxmlformats.org/drawingml/2006/main">
            <a:off x="571500" y="16859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Uitlegvoorbeeld — niet uit het boek</a:t>
            </a:r>
          </a:p>
        </p:txBody>
      </p:sp>
      <p:graphicFrame>
        <p:nvGraphicFramePr>
          <p:cNvPr id="13" name=""/>
          <p:cNvGraphicFramePr/>
          <p:nvPr/>
        </p:nvGraphicFramePr>
        <p:xfrm>
          <a:off xmlns:a="http://schemas.openxmlformats.org/drawingml/2006/main" x="571500" y="2667000"/>
          <a:ext xmlns:a="http://schemas.openxmlformats.org/drawingml/2006/main" cx="14097000" cy="3333750"/>
        </p:xfrm>
        <a:graphic xmlns:a="http://schemas.openxmlformats.org/drawingml/2006/main">
          <a:graphicData uri="http://schemas.openxmlformats.org/drawingml/2006/table">
            <a:tbl>
              <a:tblPr/>
              <a:tblGrid>
                <a:gridCol w="4476750"/>
                <a:gridCol w="5381625"/>
                <a:gridCol w="4238625"/>
              </a:tblGrid>
              <a:tr h="833438">
                <a:tc>
                  <a:txBody>
                    <a:bodyPr lIns="171450" tIns="95250" rIns="152400" bIns="95250"/>
                    <a:lstStyle/>
                    <a:p>
                      <a:r>
                        <a:rPr sz="2550" b="1">
                          <a:solidFill>
                            <a:srgbClr val="FFFFFF"/>
                          </a:solidFill>
                          <a:latin typeface="Arial"/>
                          <a:ea typeface="Arial"/>
                          <a:cs typeface="Arial"/>
                        </a:rPr>
                        <a:t>Grootheid</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Invullen bij P = 18</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Per week</a:t>
                      </a:r>
                    </a:p>
                  </a:txBody>
                  <a:tcPr marL="91440" marR="91440" marT="45720" marB="45720" anchor="ctr">
                    <a:solidFill>
                      <a:srgbClr val="183247"/>
                    </a:solidFill>
                  </a:tcPr>
                </a:tc>
              </a:tr>
              <a:tr h="833438">
                <a:tc>
                  <a:txBody>
                    <a:bodyPr lIns="171450" tIns="95250" rIns="152400" bIns="95250"/>
                    <a:lstStyle/>
                    <a:p>
                      <a:r>
                        <a:rPr sz="2550" b="0">
                          <a:solidFill>
                            <a:srgbClr val="183247"/>
                          </a:solidFill>
                          <a:latin typeface="Arial"/>
                          <a:ea typeface="Arial"/>
                          <a:cs typeface="Arial"/>
                        </a:rPr>
                        <a:t>Productie Qa</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5 × 18 − 60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30 regenjassen</a:t>
                      </a:r>
                    </a:p>
                  </a:txBody>
                  <a:tcPr marL="91440" marR="91440" marT="45720" marB="45720" anchor="ctr">
                    <a:solidFill>
                      <a:srgbClr val="FFFFFF"/>
                    </a:solidFill>
                  </a:tcPr>
                </a:tc>
              </a:tr>
              <a:tr h="833438">
                <a:tc>
                  <a:txBody>
                    <a:bodyPr lIns="171450" tIns="95250" rIns="152400" bIns="95250"/>
                    <a:lstStyle/>
                    <a:p>
                      <a:r>
                        <a:rPr sz="2550" b="0">
                          <a:solidFill>
                            <a:srgbClr val="183247"/>
                          </a:solidFill>
                          <a:latin typeface="Arial"/>
                          <a:ea typeface="Arial"/>
                          <a:cs typeface="Arial"/>
                        </a:rPr>
                        <a:t>Verbruik Qv</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180 − 5 × 18</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90 regenjassen</a:t>
                      </a:r>
                    </a:p>
                  </a:txBody>
                  <a:tcPr marL="91440" marR="91440" marT="45720" marB="45720" anchor="ctr">
                    <a:solidFill>
                      <a:srgbClr val="EFF4F7"/>
                    </a:solidFill>
                  </a:tcPr>
                </a:tc>
              </a:tr>
              <a:tr h="833438">
                <a:tc>
                  <a:txBody>
                    <a:bodyPr lIns="171450" tIns="95250" rIns="152400" bIns="95250"/>
                    <a:lstStyle/>
                    <a:p>
                      <a:r>
                        <a:rPr sz="2550" b="0">
                          <a:solidFill>
                            <a:srgbClr val="183247"/>
                          </a:solidFill>
                          <a:latin typeface="Arial"/>
                          <a:ea typeface="Arial"/>
                          <a:cs typeface="Arial"/>
                        </a:rPr>
                        <a:t>Import</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Qv − Qa = 90 − 30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60 regenjassen</a:t>
                      </a:r>
                    </a:p>
                  </a:txBody>
                  <a:tcPr marL="91440" marR="91440" marT="45720" marB="45720" anchor="ctr">
                    <a:solidFill>
                      <a:srgbClr val="FFFFFF"/>
                    </a:solidFill>
                  </a:tcPr>
                </a:tc>
              </a:tr>
            </a:tbl>
          </a:graphicData>
        </a:graphic>
      </p:graphicFrame>
      <p:sp>
        <p:nvSpPr>
          <p:cNvPr id="7" name="Controle: 30 productie + 60 import = 90 verbruik">
            <a:extLst xmlns:a="http://schemas.openxmlformats.org/drawingml/2006/main">
              <a:ext uri="{FF2B5EF4-FFF2-40B4-BE49-F238E27FC236}">
                <a16:creationId xmlns:a16="http://schemas.microsoft.com/office/drawing/2014/main" id="{9A2D0AB2-5B11-4D4D-85E7-E75AAB9D1428}"/>
              </a:ext>
            </a:extLst>
          </p:cNvPr>
          <p:cNvSpPr>
            <a:spLocks xmlns:a="http://schemas.openxmlformats.org/drawingml/2006/main" noGrp="1"/>
          </p:cNvSpPr>
          <p:nvPr/>
        </p:nvSpPr>
        <p:spPr>
          <a:xfrm xmlns:a="http://schemas.openxmlformats.org/drawingml/2006/main">
            <a:off x="571500" y="6638925"/>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A5276"/>
                </a:solidFill>
                <a:latin typeface="Arial"/>
                <a:ea typeface="Arial"/>
                <a:cs typeface="Arial"/>
              </a:defRPr>
            </a:pPr>
            <a:r>
              <a:rPr sz="3150" b="1">
                <a:solidFill>
                  <a:srgbClr val="1A5276"/>
                </a:solidFill>
                <a:latin typeface="Arial"/>
                <a:ea typeface="Arial"/>
                <a:cs typeface="Arial"/>
              </a:rPr>
              <a:t>Controle: 30 productie + 60 import = 90 verbruik</a:t>
            </a:r>
          </a:p>
        </p:txBody>
      </p:sp>
    </p:spTree>
    <p:extLst>
      <p:ext uri="{BB962C8B-B14F-4D97-AF65-F5344CB8AC3E}">
        <p14:creationId xmlns:p14="http://schemas.microsoft.com/office/powerpoint/2010/main" val="8380637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urplus: welk voordeel meten we?">
            <a:extLst xmlns:a="http://schemas.openxmlformats.org/drawingml/2006/main">
              <a:ext uri="{FF2B5EF4-FFF2-40B4-BE49-F238E27FC236}">
                <a16:creationId xmlns:a16="http://schemas.microsoft.com/office/drawing/2014/main" id="{CE512B84-8609-4E0B-96FF-9C965D7E5C2C}"/>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Surplus: welk voordeel meten we?</a:t>
            </a:r>
          </a:p>
        </p:txBody>
      </p:sp>
      <p:sp>
        <p:nvSpPr>
          <p:cNvPr id="2" name="">
            <a:extLst xmlns:a="http://schemas.openxmlformats.org/drawingml/2006/main">
              <a:ext uri="{FF2B5EF4-FFF2-40B4-BE49-F238E27FC236}">
                <a16:creationId xmlns:a16="http://schemas.microsoft.com/office/drawing/2014/main" id="{670BED88-56E8-4260-A5F8-F7C8D56CAD5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DE20B6D1-CDEA-4A4D-B042-12E4FD85E390}"/>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§3.3.2 Wereldmarktprijs, import, export en welvaart</a:t>
            </a:r>
          </a:p>
        </p:txBody>
      </p:sp>
      <p:sp>
        <p:nvSpPr>
          <p:cNvPr id="4" name="slide-number">
            <a:extLst xmlns:a="http://schemas.openxmlformats.org/drawingml/2006/main">
              <a:ext uri="{FF2B5EF4-FFF2-40B4-BE49-F238E27FC236}">
                <a16:creationId xmlns:a16="http://schemas.microsoft.com/office/drawing/2014/main" id="{892A618E-2218-414D-88EC-B8F22EBF425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graphicFrame>
        <p:nvGraphicFramePr>
          <p:cNvPr id="11" name=""/>
          <p:cNvGraphicFramePr/>
          <p:nvPr/>
        </p:nvGraphicFramePr>
        <p:xfrm>
          <a:off xmlns:a="http://schemas.openxmlformats.org/drawingml/2006/main" x="571500" y="2371725"/>
          <a:ext xmlns:a="http://schemas.openxmlformats.org/drawingml/2006/main" cx="14097000" cy="3305175"/>
        </p:xfrm>
        <a:graphic xmlns:a="http://schemas.openxmlformats.org/drawingml/2006/main">
          <a:graphicData uri="http://schemas.openxmlformats.org/drawingml/2006/table">
            <a:tbl>
              <a:tblPr/>
              <a:tblGrid>
                <a:gridCol w="4000500"/>
                <a:gridCol w="6143625"/>
                <a:gridCol w="3952875"/>
              </a:tblGrid>
              <a:tr h="1101725">
                <a:tc>
                  <a:txBody>
                    <a:bodyPr lIns="171450" tIns="95250" rIns="152400" bIns="95250"/>
                    <a:lstStyle/>
                    <a:p>
                      <a:r>
                        <a:rPr sz="2475" b="1">
                          <a:solidFill>
                            <a:srgbClr val="FFFFFF"/>
                          </a:solidFill>
                          <a:latin typeface="Arial"/>
                          <a:ea typeface="Arial"/>
                          <a:cs typeface="Arial"/>
                        </a:rPr>
                        <a:t>Groep</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Surplus in de marktgrafiek</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Hoort bij</a:t>
                      </a:r>
                    </a:p>
                  </a:txBody>
                  <a:tcPr marL="91440" marR="91440" marT="45720" marB="45720" anchor="ctr">
                    <a:solidFill>
                      <a:srgbClr val="183247"/>
                    </a:solidFill>
                  </a:tcPr>
                </a:tc>
              </a:tr>
              <a:tr h="1101725">
                <a:tc>
                  <a:txBody>
                    <a:bodyPr lIns="171450" tIns="95250" rIns="152400" bIns="95250"/>
                    <a:lstStyle/>
                    <a:p>
                      <a:r>
                        <a:rPr sz="2475" b="0">
                          <a:solidFill>
                            <a:srgbClr val="183247"/>
                          </a:solidFill>
                          <a:latin typeface="Arial"/>
                          <a:ea typeface="Arial"/>
                          <a:cs typeface="Arial"/>
                        </a:rPr>
                        <a:t>Binnenlandse kopers</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CS: onder V en boven de betaalde prijs</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Binnenlands verbruik Qv</a:t>
                      </a:r>
                    </a:p>
                  </a:txBody>
                  <a:tcPr marL="91440" marR="91440" marT="45720" marB="45720" anchor="ctr">
                    <a:solidFill>
                      <a:srgbClr val="FFFFFF"/>
                    </a:solidFill>
                  </a:tcPr>
                </a:tc>
              </a:tr>
              <a:tr h="1101725">
                <a:tc>
                  <a:txBody>
                    <a:bodyPr lIns="171450" tIns="95250" rIns="152400" bIns="95250"/>
                    <a:lstStyle/>
                    <a:p>
                      <a:r>
                        <a:rPr sz="2475" b="0">
                          <a:solidFill>
                            <a:srgbClr val="183247"/>
                          </a:solidFill>
                          <a:latin typeface="Arial"/>
                          <a:ea typeface="Arial"/>
                          <a:cs typeface="Arial"/>
                        </a:rPr>
                        <a:t>Binnenlandse producenten</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PS: boven A en onder de ontvangen prijs</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Binnenlandse productie Qa</a:t>
                      </a:r>
                    </a:p>
                  </a:txBody>
                  <a:tcPr marL="91440" marR="91440" marT="45720" marB="45720" anchor="ctr">
                    <a:solidFill>
                      <a:srgbClr val="EFF4F7"/>
                    </a:solidFill>
                  </a:tcPr>
                </a:tc>
              </a:tr>
            </a:tbl>
          </a:graphicData>
        </a:graphic>
      </p:graphicFrame>
      <p:sp>
        <p:nvSpPr>
          <p:cNvPr id="6" name="Totaal binnenlands surplus = CS + PS">
            <a:extLst xmlns:a="http://schemas.openxmlformats.org/drawingml/2006/main">
              <a:ext uri="{FF2B5EF4-FFF2-40B4-BE49-F238E27FC236}">
                <a16:creationId xmlns:a16="http://schemas.microsoft.com/office/drawing/2014/main" id="{D686121A-9563-486F-BB9E-8D71689DDA1E}"/>
              </a:ext>
            </a:extLst>
          </p:cNvPr>
          <p:cNvSpPr>
            <a:spLocks xmlns:a="http://schemas.openxmlformats.org/drawingml/2006/main" noGrp="1"/>
          </p:cNvSpPr>
          <p:nvPr/>
        </p:nvSpPr>
        <p:spPr>
          <a:xfrm xmlns:a="http://schemas.openxmlformats.org/drawingml/2006/main">
            <a:off x="571500" y="63817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A5276"/>
                </a:solidFill>
                <a:latin typeface="Arial"/>
                <a:ea typeface="Arial"/>
                <a:cs typeface="Arial"/>
              </a:defRPr>
            </a:pPr>
            <a:r>
              <a:rPr sz="3300" b="1">
                <a:solidFill>
                  <a:srgbClr val="1A5276"/>
                </a:solidFill>
                <a:latin typeface="Arial"/>
                <a:ea typeface="Arial"/>
                <a:cs typeface="Arial"/>
              </a:rPr>
              <a:t>Totaal binnenlands surplus = CS + PS</a:t>
            </a:r>
          </a:p>
        </p:txBody>
      </p:sp>
    </p:spTree>
    <p:extLst>
      <p:ext uri="{BB962C8B-B14F-4D97-AF65-F5344CB8AC3E}">
        <p14:creationId xmlns:p14="http://schemas.microsoft.com/office/powerpoint/2010/main" val="18773033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mport: kopers winnen, producenten verliezen">
            <a:extLst xmlns:a="http://schemas.openxmlformats.org/drawingml/2006/main">
              <a:ext uri="{FF2B5EF4-FFF2-40B4-BE49-F238E27FC236}">
                <a16:creationId xmlns:a16="http://schemas.microsoft.com/office/drawing/2014/main" id="{32487542-5FA8-4CDC-9677-545CE0A1FF7F}"/>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Import: kopers winnen, producenten verliezen</a:t>
            </a:r>
          </a:p>
        </p:txBody>
      </p:sp>
      <p:sp>
        <p:nvSpPr>
          <p:cNvPr id="2" name="">
            <a:extLst xmlns:a="http://schemas.openxmlformats.org/drawingml/2006/main">
              <a:ext uri="{FF2B5EF4-FFF2-40B4-BE49-F238E27FC236}">
                <a16:creationId xmlns:a16="http://schemas.microsoft.com/office/drawing/2014/main" id="{FCA4151B-AB70-4EDE-98F3-E9C54E6E7C3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D881EB47-B5DA-4633-AC2B-86F560E3AD50}"/>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§3.3.2 Wereldmarktprijs, import, export en welvaart</a:t>
            </a:r>
          </a:p>
        </p:txBody>
      </p:sp>
      <p:sp>
        <p:nvSpPr>
          <p:cNvPr id="4" name="slide-number">
            <a:extLst xmlns:a="http://schemas.openxmlformats.org/drawingml/2006/main">
              <a:ext uri="{FF2B5EF4-FFF2-40B4-BE49-F238E27FC236}">
                <a16:creationId xmlns:a16="http://schemas.microsoft.com/office/drawing/2014/main" id="{9D54D092-9509-4557-9A62-95EFB1765F9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a:extLst xmlns:a="http://schemas.openxmlformats.org/drawingml/2006/main">
              <a:ext uri="{FF2B5EF4-FFF2-40B4-BE49-F238E27FC236}">
                <a16:creationId xmlns:a16="http://schemas.microsoft.com/office/drawing/2014/main" id="{95971596-0767-4567-889D-2D04CDB36D85}"/>
              </a:ext>
            </a:extLst>
          </p:cNvPr>
          <p:cNvSpPr>
            <a:spLocks xmlns:a="http://schemas.openxmlformats.org/drawingml/2006/main" noGrp="1"/>
          </p:cNvSpPr>
          <p:nvPr/>
        </p:nvSpPr>
        <p:spPr>
          <a:xfrm xmlns:a="http://schemas.openxmlformats.org/drawingml/2006/main">
            <a:off x="571500" y="16859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Uitlegvoorbeeld — niet uit het boek</a:t>
            </a:r>
          </a:p>
        </p:txBody>
      </p:sp>
      <p:graphicFrame>
        <p:nvGraphicFramePr>
          <p:cNvPr id="14" name=""/>
          <p:cNvGraphicFramePr/>
          <p:nvPr/>
        </p:nvGraphicFramePr>
        <p:xfrm>
          <a:off xmlns:a="http://schemas.openxmlformats.org/drawingml/2006/main" x="571500" y="2638425"/>
          <a:ext xmlns:a="http://schemas.openxmlformats.org/drawingml/2006/main" cx="14097000" cy="3314700"/>
        </p:xfrm>
        <a:graphic xmlns:a="http://schemas.openxmlformats.org/drawingml/2006/main">
          <a:graphicData uri="http://schemas.openxmlformats.org/drawingml/2006/table">
            <a:tbl>
              <a:tblPr/>
              <a:tblGrid>
                <a:gridCol w="6667500"/>
                <a:gridCol w="3714750"/>
                <a:gridCol w="3714750"/>
              </a:tblGrid>
              <a:tr h="828675">
                <a:tc>
                  <a:txBody>
                    <a:bodyPr lIns="171450" tIns="95250" rIns="152400" bIns="95250"/>
                    <a:lstStyle/>
                    <a:p>
                      <a:r>
                        <a:rPr sz="2550" b="1">
                          <a:solidFill>
                            <a:srgbClr val="FFFFFF"/>
                          </a:solidFill>
                          <a:latin typeface="Arial"/>
                          <a:ea typeface="Arial"/>
                          <a:cs typeface="Arial"/>
                        </a:rPr>
                        <a:t>Mira</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Zonder handel</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Met import</a:t>
                      </a:r>
                    </a:p>
                  </a:txBody>
                  <a:tcPr marL="91440" marR="91440" marT="45720" marB="45720" anchor="ctr">
                    <a:solidFill>
                      <a:srgbClr val="183247"/>
                    </a:solidFill>
                  </a:tcPr>
                </a:tc>
              </a:tr>
              <a:tr h="828675">
                <a:tc>
                  <a:txBody>
                    <a:bodyPr lIns="171450" tIns="95250" rIns="152400" bIns="95250"/>
                    <a:lstStyle/>
                    <a:p>
                      <a:r>
                        <a:rPr sz="2550" b="0">
                          <a:solidFill>
                            <a:srgbClr val="183247"/>
                          </a:solidFill>
                          <a:latin typeface="Arial"/>
                          <a:ea typeface="Arial"/>
                          <a:cs typeface="Arial"/>
                        </a:rPr>
                        <a:t>Prijs per regenjas</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€ 24</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€ 18</a:t>
                      </a:r>
                    </a:p>
                  </a:txBody>
                  <a:tcPr marL="91440" marR="91440" marT="45720" marB="45720" anchor="ctr">
                    <a:solidFill>
                      <a:srgbClr val="FFFFFF"/>
                    </a:solidFill>
                  </a:tcPr>
                </a:tc>
              </a:tr>
              <a:tr h="828675">
                <a:tc>
                  <a:txBody>
                    <a:bodyPr lIns="171450" tIns="95250" rIns="152400" bIns="95250"/>
                    <a:lstStyle/>
                    <a:p>
                      <a:r>
                        <a:rPr sz="2550" b="0">
                          <a:solidFill>
                            <a:srgbClr val="183247"/>
                          </a:solidFill>
                          <a:latin typeface="Arial"/>
                          <a:ea typeface="Arial"/>
                          <a:cs typeface="Arial"/>
                        </a:rPr>
                        <a:t>Binnenlands verbruik</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60 per week</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90 per week</a:t>
                      </a:r>
                    </a:p>
                  </a:txBody>
                  <a:tcPr marL="91440" marR="91440" marT="45720" marB="45720" anchor="ctr">
                    <a:solidFill>
                      <a:srgbClr val="EFF4F7"/>
                    </a:solidFill>
                  </a:tcPr>
                </a:tc>
              </a:tr>
              <a:tr h="828675">
                <a:tc>
                  <a:txBody>
                    <a:bodyPr lIns="171450" tIns="95250" rIns="152400" bIns="95250"/>
                    <a:lstStyle/>
                    <a:p>
                      <a:r>
                        <a:rPr sz="2550" b="0">
                          <a:solidFill>
                            <a:srgbClr val="183247"/>
                          </a:solidFill>
                          <a:latin typeface="Arial"/>
                          <a:ea typeface="Arial"/>
                          <a:cs typeface="Arial"/>
                        </a:rPr>
                        <a:t>Binnenlandse productie</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60 per week</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30 per week</a:t>
                      </a:r>
                    </a:p>
                  </a:txBody>
                  <a:tcPr marL="91440" marR="91440" marT="45720" marB="45720" anchor="ctr">
                    <a:solidFill>
                      <a:srgbClr val="FFFFFF"/>
                    </a:solidFill>
                  </a:tcPr>
                </a:tc>
              </a:tr>
            </a:tbl>
          </a:graphicData>
        </a:graphic>
      </p:graphicFrame>
      <p:sp>
        <p:nvSpPr>
          <p:cNvPr id="7" name="Kopers: lagere prijs, meer verbruik. CS stijgt.">
            <a:extLst xmlns:a="http://schemas.openxmlformats.org/drawingml/2006/main">
              <a:ext uri="{FF2B5EF4-FFF2-40B4-BE49-F238E27FC236}">
                <a16:creationId xmlns:a16="http://schemas.microsoft.com/office/drawing/2014/main" id="{92CF151A-AD56-4D0F-B1D3-D93FAB5E5B21}"/>
              </a:ext>
            </a:extLst>
          </p:cNvPr>
          <p:cNvSpPr>
            <a:spLocks xmlns:a="http://schemas.openxmlformats.org/drawingml/2006/main" noGrp="1"/>
          </p:cNvSpPr>
          <p:nvPr/>
        </p:nvSpPr>
        <p:spPr>
          <a:xfrm xmlns:a="http://schemas.openxmlformats.org/drawingml/2006/main">
            <a:off x="571500" y="6496050"/>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Kopers: lagere prijs, meer verbruik. CS stijgt.</a:t>
            </a:r>
          </a:p>
        </p:txBody>
      </p:sp>
      <p:sp>
        <p:nvSpPr>
          <p:cNvPr id="8" name="Producenten: lagere prijs, minder productie. PS daalt.">
            <a:extLst xmlns:a="http://schemas.openxmlformats.org/drawingml/2006/main">
              <a:ext uri="{FF2B5EF4-FFF2-40B4-BE49-F238E27FC236}">
                <a16:creationId xmlns:a16="http://schemas.microsoft.com/office/drawing/2014/main" id="{AF4691EA-09E4-421D-B4E4-9B2CBD29FA2D}"/>
              </a:ext>
            </a:extLst>
          </p:cNvPr>
          <p:cNvSpPr>
            <a:spLocks xmlns:a="http://schemas.openxmlformats.org/drawingml/2006/main" noGrp="1"/>
          </p:cNvSpPr>
          <p:nvPr/>
        </p:nvSpPr>
        <p:spPr>
          <a:xfrm xmlns:a="http://schemas.openxmlformats.org/drawingml/2006/main">
            <a:off x="571500" y="7200900"/>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E8449"/>
                </a:solidFill>
                <a:latin typeface="Arial"/>
                <a:ea typeface="Arial"/>
                <a:cs typeface="Arial"/>
              </a:defRPr>
            </a:pPr>
            <a:r>
              <a:rPr sz="2850" b="1">
                <a:solidFill>
                  <a:srgbClr val="1E8449"/>
                </a:solidFill>
                <a:latin typeface="Arial"/>
                <a:ea typeface="Arial"/>
                <a:cs typeface="Arial"/>
              </a:rPr>
              <a:t>Producenten: lagere prijs, minder productie. PS daalt.</a:t>
            </a:r>
          </a:p>
        </p:txBody>
      </p:sp>
    </p:spTree>
    <p:extLst>
      <p:ext uri="{BB962C8B-B14F-4D97-AF65-F5344CB8AC3E}">
        <p14:creationId xmlns:p14="http://schemas.microsoft.com/office/powerpoint/2010/main" val="17764675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xport bij een hogere wereldmarktprijs">
            <a:extLst xmlns:a="http://schemas.openxmlformats.org/drawingml/2006/main">
              <a:ext uri="{FF2B5EF4-FFF2-40B4-BE49-F238E27FC236}">
                <a16:creationId xmlns:a16="http://schemas.microsoft.com/office/drawing/2014/main" id="{7A6269E7-A0C5-47E9-8DFF-6C4C56236566}"/>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Export bij een hogere wereldmarktprijs</a:t>
            </a:r>
          </a:p>
        </p:txBody>
      </p:sp>
      <p:sp>
        <p:nvSpPr>
          <p:cNvPr id="2" name="">
            <a:extLst xmlns:a="http://schemas.openxmlformats.org/drawingml/2006/main">
              <a:ext uri="{FF2B5EF4-FFF2-40B4-BE49-F238E27FC236}">
                <a16:creationId xmlns:a16="http://schemas.microsoft.com/office/drawing/2014/main" id="{E5981144-D6D8-4655-B818-86F4CE2FB11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88BEDC2-6F71-40D9-877C-BFEDF1346A24}"/>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§3.3.2 Wereldmarktprijs, import, export en welvaart</a:t>
            </a:r>
          </a:p>
        </p:txBody>
      </p:sp>
      <p:sp>
        <p:nvSpPr>
          <p:cNvPr id="4" name="slide-number">
            <a:extLst xmlns:a="http://schemas.openxmlformats.org/drawingml/2006/main">
              <a:ext uri="{FF2B5EF4-FFF2-40B4-BE49-F238E27FC236}">
                <a16:creationId xmlns:a16="http://schemas.microsoft.com/office/drawing/2014/main" id="{809BADD6-95AE-4449-A4AF-43ECB9F08F4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Uitlegvoorbeeld — niet uit het boek">
            <a:extLst xmlns:a="http://schemas.openxmlformats.org/drawingml/2006/main">
              <a:ext uri="{FF2B5EF4-FFF2-40B4-BE49-F238E27FC236}">
                <a16:creationId xmlns:a16="http://schemas.microsoft.com/office/drawing/2014/main" id="{05FDA276-4230-42B1-A691-811E6F364DFF}"/>
              </a:ext>
            </a:extLst>
          </p:cNvPr>
          <p:cNvSpPr>
            <a:spLocks xmlns:a="http://schemas.openxmlformats.org/drawingml/2006/main" noGrp="1"/>
          </p:cNvSpPr>
          <p:nvPr/>
        </p:nvSpPr>
        <p:spPr>
          <a:xfrm xmlns:a="http://schemas.openxmlformats.org/drawingml/2006/main">
            <a:off x="571500" y="16859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333625"/>
          <a:ext xmlns:a="http://schemas.openxmlformats.org/drawingml/2006/main" cx="9810750" cy="5238750"/>
        </p:xfrm>
        <a:graphic xmlns:a="http://schemas.openxmlformats.org/drawingml/2006/main">
          <a:graphicData uri="http://schemas.openxmlformats.org/drawingml/2006/chart">
            <c:chart xmlns:r="http://schemas.openxmlformats.org/officeDocument/2006/relationships" xmlns:c="http://schemas.openxmlformats.org/drawingml/2006/chart" r:id="R1e48a5f1ca1f427d"/>
          </a:graphicData>
        </a:graphic>
      </p:graphicFrame>
      <p:sp>
        <p:nvSpPr>
          <p:cNvPr id="7" name="Nieuwe situatie:&#10;Pw = € 30 &gt; € 24">
            <a:extLst xmlns:a="http://schemas.openxmlformats.org/drawingml/2006/main">
              <a:ext uri="{FF2B5EF4-FFF2-40B4-BE49-F238E27FC236}">
                <a16:creationId xmlns:a16="http://schemas.microsoft.com/office/drawing/2014/main" id="{E73A52E6-BDF4-4C8A-B84E-D3D03F7C3394}"/>
              </a:ext>
            </a:extLst>
          </p:cNvPr>
          <p:cNvSpPr>
            <a:spLocks xmlns:a="http://schemas.openxmlformats.org/drawingml/2006/main" noGrp="1"/>
          </p:cNvSpPr>
          <p:nvPr/>
        </p:nvSpPr>
        <p:spPr>
          <a:xfrm xmlns:a="http://schemas.openxmlformats.org/drawingml/2006/main">
            <a:off x="10763250" y="2476500"/>
            <a:ext cx="3905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Nieuwe situatie:</a:t>
            </a:r>
          </a:p>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Pw = € 30 &gt; € 24</a:t>
            </a:r>
          </a:p>
        </p:txBody>
      </p:sp>
      <p:sp>
        <p:nvSpPr>
          <p:cNvPr id="8" name="Qa = 90&#10;Qv = 30">
            <a:extLst xmlns:a="http://schemas.openxmlformats.org/drawingml/2006/main">
              <a:ext uri="{FF2B5EF4-FFF2-40B4-BE49-F238E27FC236}">
                <a16:creationId xmlns:a16="http://schemas.microsoft.com/office/drawing/2014/main" id="{A8E82538-A947-4B0C-B268-F34B6C37A78B}"/>
              </a:ext>
            </a:extLst>
          </p:cNvPr>
          <p:cNvSpPr>
            <a:spLocks xmlns:a="http://schemas.openxmlformats.org/drawingml/2006/main" noGrp="1"/>
          </p:cNvSpPr>
          <p:nvPr/>
        </p:nvSpPr>
        <p:spPr>
          <a:xfrm xmlns:a="http://schemas.openxmlformats.org/drawingml/2006/main">
            <a:off x="10763250" y="4086225"/>
            <a:ext cx="3905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Qa = 90</a:t>
            </a:r>
          </a:p>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Qv = 30</a:t>
            </a:r>
          </a:p>
        </p:txBody>
      </p:sp>
      <p:sp>
        <p:nvSpPr>
          <p:cNvPr id="9" name="Export = Qa − Qv&#10;= 90 − 30 = 60&#10;regenjassen per week">
            <a:extLst xmlns:a="http://schemas.openxmlformats.org/drawingml/2006/main">
              <a:ext uri="{FF2B5EF4-FFF2-40B4-BE49-F238E27FC236}">
                <a16:creationId xmlns:a16="http://schemas.microsoft.com/office/drawing/2014/main" id="{099D8259-58EC-4B82-8C53-6029ACEAD2AE}"/>
              </a:ext>
            </a:extLst>
          </p:cNvPr>
          <p:cNvSpPr>
            <a:spLocks xmlns:a="http://schemas.openxmlformats.org/drawingml/2006/main" noGrp="1"/>
          </p:cNvSpPr>
          <p:nvPr/>
        </p:nvSpPr>
        <p:spPr>
          <a:xfrm xmlns:a="http://schemas.openxmlformats.org/drawingml/2006/main">
            <a:off x="10763250" y="5895975"/>
            <a:ext cx="39052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Export = Qa − Qv</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 90 − 30 = 60</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regenjassen per week</a:t>
            </a:r>
          </a:p>
        </p:txBody>
      </p:sp>
    </p:spTree>
    <p:extLst>
      <p:ext uri="{BB962C8B-B14F-4D97-AF65-F5344CB8AC3E}">
        <p14:creationId xmlns:p14="http://schemas.microsoft.com/office/powerpoint/2010/main" val="14592869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xport: producenten winnen, kopers verliezen">
            <a:extLst xmlns:a="http://schemas.openxmlformats.org/drawingml/2006/main">
              <a:ext uri="{FF2B5EF4-FFF2-40B4-BE49-F238E27FC236}">
                <a16:creationId xmlns:a16="http://schemas.microsoft.com/office/drawing/2014/main" id="{6AB29998-8939-40CF-A7A4-807467D26170}"/>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Export: producenten winnen, kopers verliezen</a:t>
            </a:r>
          </a:p>
        </p:txBody>
      </p:sp>
      <p:sp>
        <p:nvSpPr>
          <p:cNvPr id="2" name="">
            <a:extLst xmlns:a="http://schemas.openxmlformats.org/drawingml/2006/main">
              <a:ext uri="{FF2B5EF4-FFF2-40B4-BE49-F238E27FC236}">
                <a16:creationId xmlns:a16="http://schemas.microsoft.com/office/drawing/2014/main" id="{8C9B8316-AA91-40A2-9C68-B52CC496377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24F71603-2AC3-4A15-876D-4D13C36F48B3}"/>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§3.3.2 Wereldmarktprijs, import, export en welvaart</a:t>
            </a:r>
          </a:p>
        </p:txBody>
      </p:sp>
      <p:sp>
        <p:nvSpPr>
          <p:cNvPr id="4" name="slide-number">
            <a:extLst xmlns:a="http://schemas.openxmlformats.org/drawingml/2006/main">
              <a:ext uri="{FF2B5EF4-FFF2-40B4-BE49-F238E27FC236}">
                <a16:creationId xmlns:a16="http://schemas.microsoft.com/office/drawing/2014/main" id="{7C90828E-846C-4AE5-9E8A-908854EA13D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a:extLst xmlns:a="http://schemas.openxmlformats.org/drawingml/2006/main">
              <a:ext uri="{FF2B5EF4-FFF2-40B4-BE49-F238E27FC236}">
                <a16:creationId xmlns:a16="http://schemas.microsoft.com/office/drawing/2014/main" id="{826EEC2D-4C1B-41BF-BDBE-204E9BF4C2D6}"/>
              </a:ext>
            </a:extLst>
          </p:cNvPr>
          <p:cNvSpPr>
            <a:spLocks xmlns:a="http://schemas.openxmlformats.org/drawingml/2006/main" noGrp="1"/>
          </p:cNvSpPr>
          <p:nvPr/>
        </p:nvSpPr>
        <p:spPr>
          <a:xfrm xmlns:a="http://schemas.openxmlformats.org/drawingml/2006/main">
            <a:off x="571500" y="16859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Uitlegvoorbeeld — niet uit het boek</a:t>
            </a:r>
          </a:p>
        </p:txBody>
      </p:sp>
      <p:graphicFrame>
        <p:nvGraphicFramePr>
          <p:cNvPr id="14" name=""/>
          <p:cNvGraphicFramePr/>
          <p:nvPr/>
        </p:nvGraphicFramePr>
        <p:xfrm>
          <a:off xmlns:a="http://schemas.openxmlformats.org/drawingml/2006/main" x="571500" y="2638425"/>
          <a:ext xmlns:a="http://schemas.openxmlformats.org/drawingml/2006/main" cx="14097000" cy="3314700"/>
        </p:xfrm>
        <a:graphic xmlns:a="http://schemas.openxmlformats.org/drawingml/2006/main">
          <a:graphicData uri="http://schemas.openxmlformats.org/drawingml/2006/table">
            <a:tbl>
              <a:tblPr/>
              <a:tblGrid>
                <a:gridCol w="6667500"/>
                <a:gridCol w="3714750"/>
                <a:gridCol w="3714750"/>
              </a:tblGrid>
              <a:tr h="828675">
                <a:tc>
                  <a:txBody>
                    <a:bodyPr lIns="171450" tIns="95250" rIns="152400" bIns="95250"/>
                    <a:lstStyle/>
                    <a:p>
                      <a:r>
                        <a:rPr sz="2550" b="1">
                          <a:solidFill>
                            <a:srgbClr val="FFFFFF"/>
                          </a:solidFill>
                          <a:latin typeface="Arial"/>
                          <a:ea typeface="Arial"/>
                          <a:cs typeface="Arial"/>
                        </a:rPr>
                        <a:t>Mira</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Zonder handel</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Met export</a:t>
                      </a:r>
                    </a:p>
                  </a:txBody>
                  <a:tcPr marL="91440" marR="91440" marT="45720" marB="45720" anchor="ctr">
                    <a:solidFill>
                      <a:srgbClr val="183247"/>
                    </a:solidFill>
                  </a:tcPr>
                </a:tc>
              </a:tr>
              <a:tr h="828675">
                <a:tc>
                  <a:txBody>
                    <a:bodyPr lIns="171450" tIns="95250" rIns="152400" bIns="95250"/>
                    <a:lstStyle/>
                    <a:p>
                      <a:r>
                        <a:rPr sz="2550" b="0">
                          <a:solidFill>
                            <a:srgbClr val="183247"/>
                          </a:solidFill>
                          <a:latin typeface="Arial"/>
                          <a:ea typeface="Arial"/>
                          <a:cs typeface="Arial"/>
                        </a:rPr>
                        <a:t>Prijs per regenjas</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€ 24</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€ 30</a:t>
                      </a:r>
                    </a:p>
                  </a:txBody>
                  <a:tcPr marL="91440" marR="91440" marT="45720" marB="45720" anchor="ctr">
                    <a:solidFill>
                      <a:srgbClr val="FFFFFF"/>
                    </a:solidFill>
                  </a:tcPr>
                </a:tc>
              </a:tr>
              <a:tr h="828675">
                <a:tc>
                  <a:txBody>
                    <a:bodyPr lIns="171450" tIns="95250" rIns="152400" bIns="95250"/>
                    <a:lstStyle/>
                    <a:p>
                      <a:r>
                        <a:rPr sz="2550" b="0">
                          <a:solidFill>
                            <a:srgbClr val="183247"/>
                          </a:solidFill>
                          <a:latin typeface="Arial"/>
                          <a:ea typeface="Arial"/>
                          <a:cs typeface="Arial"/>
                        </a:rPr>
                        <a:t>Binnenlandse productie</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60 per week</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90 per week</a:t>
                      </a:r>
                    </a:p>
                  </a:txBody>
                  <a:tcPr marL="91440" marR="91440" marT="45720" marB="45720" anchor="ctr">
                    <a:solidFill>
                      <a:srgbClr val="EFF4F7"/>
                    </a:solidFill>
                  </a:tcPr>
                </a:tc>
              </a:tr>
              <a:tr h="828675">
                <a:tc>
                  <a:txBody>
                    <a:bodyPr lIns="171450" tIns="95250" rIns="152400" bIns="95250"/>
                    <a:lstStyle/>
                    <a:p>
                      <a:r>
                        <a:rPr sz="2550" b="0">
                          <a:solidFill>
                            <a:srgbClr val="183247"/>
                          </a:solidFill>
                          <a:latin typeface="Arial"/>
                          <a:ea typeface="Arial"/>
                          <a:cs typeface="Arial"/>
                        </a:rPr>
                        <a:t>Binnenlands verbruik</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60 per week</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30 per week</a:t>
                      </a:r>
                    </a:p>
                  </a:txBody>
                  <a:tcPr marL="91440" marR="91440" marT="45720" marB="45720" anchor="ctr">
                    <a:solidFill>
                      <a:srgbClr val="FFFFFF"/>
                    </a:solidFill>
                  </a:tcPr>
                </a:tc>
              </a:tr>
            </a:tbl>
          </a:graphicData>
        </a:graphic>
      </p:graphicFrame>
      <p:sp>
        <p:nvSpPr>
          <p:cNvPr id="7" name="Producenten: hogere prijs, meer productie. PS stijgt.">
            <a:extLst xmlns:a="http://schemas.openxmlformats.org/drawingml/2006/main">
              <a:ext uri="{FF2B5EF4-FFF2-40B4-BE49-F238E27FC236}">
                <a16:creationId xmlns:a16="http://schemas.microsoft.com/office/drawing/2014/main" id="{0F8FD5B9-AE49-44AF-9515-E2A86842B75E}"/>
              </a:ext>
            </a:extLst>
          </p:cNvPr>
          <p:cNvSpPr>
            <a:spLocks xmlns:a="http://schemas.openxmlformats.org/drawingml/2006/main" noGrp="1"/>
          </p:cNvSpPr>
          <p:nvPr/>
        </p:nvSpPr>
        <p:spPr>
          <a:xfrm xmlns:a="http://schemas.openxmlformats.org/drawingml/2006/main">
            <a:off x="571500" y="6496050"/>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E8449"/>
                </a:solidFill>
                <a:latin typeface="Arial"/>
                <a:ea typeface="Arial"/>
                <a:cs typeface="Arial"/>
              </a:defRPr>
            </a:pPr>
            <a:r>
              <a:rPr sz="2850" b="1">
                <a:solidFill>
                  <a:srgbClr val="1E8449"/>
                </a:solidFill>
                <a:latin typeface="Arial"/>
                <a:ea typeface="Arial"/>
                <a:cs typeface="Arial"/>
              </a:rPr>
              <a:t>Producenten: hogere prijs, meer productie. PS stijgt.</a:t>
            </a:r>
          </a:p>
        </p:txBody>
      </p:sp>
      <p:sp>
        <p:nvSpPr>
          <p:cNvPr id="8" name="Kopers: hogere prijs, minder verbruik. CS daalt.">
            <a:extLst xmlns:a="http://schemas.openxmlformats.org/drawingml/2006/main">
              <a:ext uri="{FF2B5EF4-FFF2-40B4-BE49-F238E27FC236}">
                <a16:creationId xmlns:a16="http://schemas.microsoft.com/office/drawing/2014/main" id="{02A0C40A-91C6-47DC-B184-956CE18938CF}"/>
              </a:ext>
            </a:extLst>
          </p:cNvPr>
          <p:cNvSpPr>
            <a:spLocks xmlns:a="http://schemas.openxmlformats.org/drawingml/2006/main" noGrp="1"/>
          </p:cNvSpPr>
          <p:nvPr/>
        </p:nvSpPr>
        <p:spPr>
          <a:xfrm xmlns:a="http://schemas.openxmlformats.org/drawingml/2006/main">
            <a:off x="571500" y="7200900"/>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Kopers: hogere prijs, minder verbruik. CS daalt.</a:t>
            </a:r>
          </a:p>
        </p:txBody>
      </p:sp>
    </p:spTree>
    <p:extLst>
      <p:ext uri="{BB962C8B-B14F-4D97-AF65-F5344CB8AC3E}">
        <p14:creationId xmlns:p14="http://schemas.microsoft.com/office/powerpoint/2010/main" val="108991718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Een hoger totaal kan samengaan met verlies">
            <a:extLst xmlns:a="http://schemas.openxmlformats.org/drawingml/2006/main">
              <a:ext uri="{FF2B5EF4-FFF2-40B4-BE49-F238E27FC236}">
                <a16:creationId xmlns:a16="http://schemas.microsoft.com/office/drawing/2014/main" id="{80DF9248-5246-4A68-A09B-88B0FBDB2F1D}"/>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hoger totaal kan samengaan met verlies</a:t>
            </a:r>
          </a:p>
        </p:txBody>
      </p:sp>
      <p:sp>
        <p:nvSpPr>
          <p:cNvPr id="2" name="">
            <a:extLst xmlns:a="http://schemas.openxmlformats.org/drawingml/2006/main">
              <a:ext uri="{FF2B5EF4-FFF2-40B4-BE49-F238E27FC236}">
                <a16:creationId xmlns:a16="http://schemas.microsoft.com/office/drawing/2014/main" id="{E9559742-E0B1-4282-978F-F9EDEE58604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79F2E9BD-6709-428F-85EF-2C969E0530AC}"/>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§3.3.2 Wereldmarktprijs, import, export en welvaart</a:t>
            </a:r>
          </a:p>
        </p:txBody>
      </p:sp>
      <p:sp>
        <p:nvSpPr>
          <p:cNvPr id="4" name="slide-number">
            <a:extLst xmlns:a="http://schemas.openxmlformats.org/drawingml/2006/main">
              <a:ext uri="{FF2B5EF4-FFF2-40B4-BE49-F238E27FC236}">
                <a16:creationId xmlns:a16="http://schemas.microsoft.com/office/drawing/2014/main" id="{CA077B65-4DE8-4C21-9BE0-F38E2AC6DE7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graphicFrame>
        <p:nvGraphicFramePr>
          <p:cNvPr id="11" name=""/>
          <p:cNvGraphicFramePr/>
          <p:nvPr/>
        </p:nvGraphicFramePr>
        <p:xfrm>
          <a:off xmlns:a="http://schemas.openxmlformats.org/drawingml/2006/main" x="571500" y="2333625"/>
          <a:ext xmlns:a="http://schemas.openxmlformats.org/drawingml/2006/main" cx="14097000" cy="3705225"/>
        </p:xfrm>
        <a:graphic xmlns:a="http://schemas.openxmlformats.org/drawingml/2006/main">
          <a:graphicData uri="http://schemas.openxmlformats.org/drawingml/2006/table">
            <a:tbl>
              <a:tblPr/>
              <a:tblGrid>
                <a:gridCol w="6572250"/>
                <a:gridCol w="3762375"/>
                <a:gridCol w="3762375"/>
              </a:tblGrid>
              <a:tr h="926306">
                <a:tc>
                  <a:txBody>
                    <a:bodyPr lIns="171450" tIns="95250" rIns="152400" bIns="95250"/>
                    <a:lstStyle/>
                    <a:p>
                      <a:r>
                        <a:rPr sz="2400" b="1">
                          <a:solidFill>
                            <a:srgbClr val="FFFFFF"/>
                          </a:solidFill>
                          <a:latin typeface="Arial"/>
                          <a:ea typeface="Arial"/>
                          <a:cs typeface="Arial"/>
                        </a:rPr>
                        <a:t>Vergeleken met geen handel</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Import bij lagere Pw</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Export bij hogere Pw</a:t>
                      </a:r>
                    </a:p>
                  </a:txBody>
                  <a:tcPr marL="91440" marR="91440" marT="45720" marB="45720" anchor="ctr">
                    <a:solidFill>
                      <a:srgbClr val="183247"/>
                    </a:solidFill>
                  </a:tcPr>
                </a:tc>
              </a:tr>
              <a:tr h="926306">
                <a:tc>
                  <a:txBody>
                    <a:bodyPr lIns="171450" tIns="95250" rIns="152400" bIns="95250"/>
                    <a:lstStyle/>
                    <a:p>
                      <a:r>
                        <a:rPr sz="2400" b="0">
                          <a:solidFill>
                            <a:srgbClr val="183247"/>
                          </a:solidFill>
                          <a:latin typeface="Arial"/>
                          <a:ea typeface="Arial"/>
                          <a:cs typeface="Arial"/>
                        </a:rPr>
                        <a:t>Binnenlands CS</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Stijgt</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Daalt</a:t>
                      </a:r>
                    </a:p>
                  </a:txBody>
                  <a:tcPr marL="91440" marR="91440" marT="45720" marB="45720" anchor="ctr">
                    <a:solidFill>
                      <a:srgbClr val="FFFFFF"/>
                    </a:solidFill>
                  </a:tcPr>
                </a:tc>
              </a:tr>
              <a:tr h="926306">
                <a:tc>
                  <a:txBody>
                    <a:bodyPr lIns="171450" tIns="95250" rIns="152400" bIns="95250"/>
                    <a:lstStyle/>
                    <a:p>
                      <a:r>
                        <a:rPr sz="2400" b="0">
                          <a:solidFill>
                            <a:srgbClr val="183247"/>
                          </a:solidFill>
                          <a:latin typeface="Arial"/>
                          <a:ea typeface="Arial"/>
                          <a:cs typeface="Arial"/>
                        </a:rPr>
                        <a:t>Binnenlands PS</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Daalt</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Stijgt</a:t>
                      </a:r>
                    </a:p>
                  </a:txBody>
                  <a:tcPr marL="91440" marR="91440" marT="45720" marB="45720" anchor="ctr">
                    <a:solidFill>
                      <a:srgbClr val="EFF4F7"/>
                    </a:solidFill>
                  </a:tcPr>
                </a:tc>
              </a:tr>
              <a:tr h="926306">
                <a:tc>
                  <a:txBody>
                    <a:bodyPr lIns="171450" tIns="95250" rIns="152400" bIns="95250"/>
                    <a:lstStyle/>
                    <a:p>
                      <a:r>
                        <a:rPr sz="2400" b="0">
                          <a:solidFill>
                            <a:srgbClr val="183247"/>
                          </a:solidFill>
                          <a:latin typeface="Arial"/>
                          <a:ea typeface="Arial"/>
                          <a:cs typeface="Arial"/>
                        </a:rPr>
                        <a:t>Binnenlands CS + PS</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Stijgt in dit model</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Stijgt in dit model</a:t>
                      </a:r>
                    </a:p>
                  </a:txBody>
                  <a:tcPr marL="91440" marR="91440" marT="45720" marB="45720" anchor="ctr">
                    <a:solidFill>
                      <a:srgbClr val="FFFFFF"/>
                    </a:solidFill>
                  </a:tcPr>
                </a:tc>
              </a:tr>
            </a:tbl>
          </a:graphicData>
        </a:graphic>
      </p:graphicFrame>
      <p:sp>
        <p:nvSpPr>
          <p:cNvPr id="6" name="Een gezamenlijke winst zegt niet dat iedere groep wint.">
            <a:extLst xmlns:a="http://schemas.openxmlformats.org/drawingml/2006/main">
              <a:ext uri="{FF2B5EF4-FFF2-40B4-BE49-F238E27FC236}">
                <a16:creationId xmlns:a16="http://schemas.microsoft.com/office/drawing/2014/main" id="{11D88487-1C75-4EED-82C1-0E484E3FAA89}"/>
              </a:ext>
            </a:extLst>
          </p:cNvPr>
          <p:cNvSpPr>
            <a:spLocks xmlns:a="http://schemas.openxmlformats.org/drawingml/2006/main" noGrp="1"/>
          </p:cNvSpPr>
          <p:nvPr/>
        </p:nvSpPr>
        <p:spPr>
          <a:xfrm xmlns:a="http://schemas.openxmlformats.org/drawingml/2006/main">
            <a:off x="571500" y="6734175"/>
            <a:ext cx="14097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A5276"/>
                </a:solidFill>
                <a:latin typeface="Arial"/>
                <a:ea typeface="Arial"/>
                <a:cs typeface="Arial"/>
              </a:defRPr>
            </a:pPr>
            <a:r>
              <a:rPr sz="3225" b="1">
                <a:solidFill>
                  <a:srgbClr val="1A5276"/>
                </a:solidFill>
                <a:latin typeface="Arial"/>
                <a:ea typeface="Arial"/>
                <a:cs typeface="Arial"/>
              </a:rPr>
              <a:t>Een gezamenlijke winst zegt niet dat iedere groep wint.</a:t>
            </a:r>
          </a:p>
        </p:txBody>
      </p:sp>
    </p:spTree>
    <p:extLst>
      <p:ext uri="{BB962C8B-B14F-4D97-AF65-F5344CB8AC3E}">
        <p14:creationId xmlns:p14="http://schemas.microsoft.com/office/powerpoint/2010/main" val="22448850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orte check: Pw is precies € 24">
            <a:extLst xmlns:a="http://schemas.openxmlformats.org/drawingml/2006/main">
              <a:ext uri="{FF2B5EF4-FFF2-40B4-BE49-F238E27FC236}">
                <a16:creationId xmlns:a16="http://schemas.microsoft.com/office/drawing/2014/main" id="{97FBACB5-8F8B-4F3B-BA53-7638F8847845}"/>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Korte check: Pw is precies € 24</a:t>
            </a:r>
          </a:p>
        </p:txBody>
      </p:sp>
      <p:sp>
        <p:nvSpPr>
          <p:cNvPr id="2" name="">
            <a:extLst xmlns:a="http://schemas.openxmlformats.org/drawingml/2006/main">
              <a:ext uri="{FF2B5EF4-FFF2-40B4-BE49-F238E27FC236}">
                <a16:creationId xmlns:a16="http://schemas.microsoft.com/office/drawing/2014/main" id="{1EA53AC0-783E-4EAF-828F-35E357984D5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0372219A-788E-4233-ABF2-808063ED44D6}"/>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§3.3.2 Wereldmarktprijs, import, export en welvaart</a:t>
            </a:r>
          </a:p>
        </p:txBody>
      </p:sp>
      <p:sp>
        <p:nvSpPr>
          <p:cNvPr id="4" name="slide-number">
            <a:extLst xmlns:a="http://schemas.openxmlformats.org/drawingml/2006/main">
              <a:ext uri="{FF2B5EF4-FFF2-40B4-BE49-F238E27FC236}">
                <a16:creationId xmlns:a16="http://schemas.microsoft.com/office/drawing/2014/main" id="{A47CBBFE-5FFB-4A55-B5CE-2DC6536A0CD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Uitlegvoorbeeld — niet uit het boek">
            <a:extLst xmlns:a="http://schemas.openxmlformats.org/drawingml/2006/main">
              <a:ext uri="{FF2B5EF4-FFF2-40B4-BE49-F238E27FC236}">
                <a16:creationId xmlns:a16="http://schemas.microsoft.com/office/drawing/2014/main" id="{47250E43-44A5-419D-9AFA-87B6B8F7F670}"/>
              </a:ext>
            </a:extLst>
          </p:cNvPr>
          <p:cNvSpPr>
            <a:spLocks xmlns:a="http://schemas.openxmlformats.org/drawingml/2006/main" noGrp="1"/>
          </p:cNvSpPr>
          <p:nvPr/>
        </p:nvSpPr>
        <p:spPr>
          <a:xfrm xmlns:a="http://schemas.openxmlformats.org/drawingml/2006/main">
            <a:off x="571500" y="168592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Uitlegvoorbeeld — niet uit het boek</a:t>
            </a:r>
          </a:p>
        </p:txBody>
      </p:sp>
      <p:sp>
        <p:nvSpPr>
          <p:cNvPr id="6" name="Mira: Qv = 180 − 5P en Qa = 5P − 60">
            <a:extLst xmlns:a="http://schemas.openxmlformats.org/drawingml/2006/main">
              <a:ext uri="{FF2B5EF4-FFF2-40B4-BE49-F238E27FC236}">
                <a16:creationId xmlns:a16="http://schemas.microsoft.com/office/drawing/2014/main" id="{FBB60A8D-D9D7-4BC2-BDC5-034AA0B695DD}"/>
              </a:ext>
            </a:extLst>
          </p:cNvPr>
          <p:cNvSpPr>
            <a:spLocks xmlns:a="http://schemas.openxmlformats.org/drawingml/2006/main" noGrp="1"/>
          </p:cNvSpPr>
          <p:nvPr/>
        </p:nvSpPr>
        <p:spPr>
          <a:xfrm xmlns:a="http://schemas.openxmlformats.org/drawingml/2006/main">
            <a:off x="571500" y="2524125"/>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Mira: Qv = 180 − 5P en Qa = 5P − 60</a:t>
            </a:r>
          </a:p>
        </p:txBody>
      </p:sp>
      <p:sp>
        <p:nvSpPr>
          <p:cNvPr id="7" name="Hoeveel produceert en verbruikt Mira per week?">
            <a:extLst xmlns:a="http://schemas.openxmlformats.org/drawingml/2006/main">
              <a:ext uri="{FF2B5EF4-FFF2-40B4-BE49-F238E27FC236}">
                <a16:creationId xmlns:a16="http://schemas.microsoft.com/office/drawing/2014/main" id="{B753826B-F3C3-4EA0-892F-57F670D9045E}"/>
              </a:ext>
            </a:extLst>
          </p:cNvPr>
          <p:cNvSpPr>
            <a:spLocks xmlns:a="http://schemas.openxmlformats.org/drawingml/2006/main" noGrp="1"/>
          </p:cNvSpPr>
          <p:nvPr/>
        </p:nvSpPr>
        <p:spPr>
          <a:xfrm xmlns:a="http://schemas.openxmlformats.org/drawingml/2006/main">
            <a:off x="571500" y="3905250"/>
            <a:ext cx="1409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Hoeveel produceert en verbruikt Mira per week?</a:t>
            </a:r>
          </a:p>
        </p:txBody>
      </p:sp>
      <p:sp>
        <p:nvSpPr>
          <p:cNvPr id="8" name="Is er import of export?">
            <a:extLst xmlns:a="http://schemas.openxmlformats.org/drawingml/2006/main">
              <a:ext uri="{FF2B5EF4-FFF2-40B4-BE49-F238E27FC236}">
                <a16:creationId xmlns:a16="http://schemas.microsoft.com/office/drawing/2014/main" id="{D4F4669A-A719-441B-8CBA-77BC5B9E1BB0}"/>
              </a:ext>
            </a:extLst>
          </p:cNvPr>
          <p:cNvSpPr>
            <a:spLocks xmlns:a="http://schemas.openxmlformats.org/drawingml/2006/main" noGrp="1"/>
          </p:cNvSpPr>
          <p:nvPr/>
        </p:nvSpPr>
        <p:spPr>
          <a:xfrm xmlns:a="http://schemas.openxmlformats.org/drawingml/2006/main">
            <a:off x="571500" y="5457825"/>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A5276"/>
                </a:solidFill>
                <a:latin typeface="Arial"/>
                <a:ea typeface="Arial"/>
                <a:cs typeface="Arial"/>
              </a:defRPr>
            </a:pPr>
            <a:r>
              <a:rPr sz="3225" b="1">
                <a:solidFill>
                  <a:srgbClr val="1A5276"/>
                </a:solidFill>
                <a:latin typeface="Arial"/>
                <a:ea typeface="Arial"/>
                <a:cs typeface="Arial"/>
              </a:rPr>
              <a:t>Is er import of export?</a:t>
            </a:r>
          </a:p>
        </p:txBody>
      </p:sp>
      <p:sp>
        <p:nvSpPr>
          <p:cNvPr id="9" name="Leg je antwoord uit met de twee hoeveelheden.">
            <a:extLst xmlns:a="http://schemas.openxmlformats.org/drawingml/2006/main">
              <a:ext uri="{FF2B5EF4-FFF2-40B4-BE49-F238E27FC236}">
                <a16:creationId xmlns:a16="http://schemas.microsoft.com/office/drawing/2014/main" id="{5AA68ADD-4E50-4310-A072-C83753D8BF9E}"/>
              </a:ext>
            </a:extLst>
          </p:cNvPr>
          <p:cNvSpPr>
            <a:spLocks xmlns:a="http://schemas.openxmlformats.org/drawingml/2006/main" noGrp="1"/>
          </p:cNvSpPr>
          <p:nvPr/>
        </p:nvSpPr>
        <p:spPr>
          <a:xfrm xmlns:a="http://schemas.openxmlformats.org/drawingml/2006/main">
            <a:off x="571500" y="6962775"/>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Leg je antwoord uit met de twee hoeveelheden.</a:t>
            </a:r>
          </a:p>
        </p:txBody>
      </p:sp>
    </p:spTree>
    <p:extLst>
      <p:ext uri="{BB962C8B-B14F-4D97-AF65-F5344CB8AC3E}">
        <p14:creationId xmlns:p14="http://schemas.microsoft.com/office/powerpoint/2010/main" val="146275973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overview-title">
            <a:extLst xmlns:a="http://schemas.openxmlformats.org/drawingml/2006/main">
              <a:ext uri="{FF2B5EF4-FFF2-40B4-BE49-F238E27FC236}">
                <a16:creationId xmlns:a16="http://schemas.microsoft.com/office/drawing/2014/main" id="{E2DFAC8C-A4D0-4FA2-88CA-B6E39A577C06}"/>
              </a:ext>
            </a:extLst>
          </p:cNvPr>
          <p:cNvSpPr>
            <a:spLocks xmlns:a="http://schemas.openxmlformats.org/drawingml/2006/main" noGrp="1"/>
          </p:cNvSpPr>
          <p:nvPr/>
        </p:nvSpPr>
        <p:spPr>
          <a:xfrm xmlns:a="http://schemas.openxmlformats.org/drawingml/2006/main">
            <a:off x="571500" y="285750"/>
            <a:ext cx="1409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Deze les: §3.3.2 Wereldmarktprijs,</a:t>
            </a:r>
          </a:p>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import, export en welvaart</a:t>
            </a:r>
          </a:p>
        </p:txBody>
      </p:sp>
      <p:sp>
        <p:nvSpPr>
          <p:cNvPr id="2" name="phase">
            <a:extLst xmlns:a="http://schemas.openxmlformats.org/drawingml/2006/main">
              <a:ext uri="{FF2B5EF4-FFF2-40B4-BE49-F238E27FC236}">
                <a16:creationId xmlns:a16="http://schemas.microsoft.com/office/drawing/2014/main" id="{D1207D70-0BCB-4612-8631-EDCD0B79162F}"/>
              </a:ext>
            </a:extLst>
          </p:cNvPr>
          <p:cNvSpPr>
            <a:spLocks xmlns:a="http://schemas.openxmlformats.org/drawingml/2006/main" noGrp="1"/>
          </p:cNvSpPr>
          <p:nvPr/>
        </p:nvSpPr>
        <p:spPr>
          <a:xfrm xmlns:a="http://schemas.openxmlformats.org/drawingml/2006/main">
            <a:off x="571500" y="14478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Oefenen en nakijken</a:t>
            </a:r>
          </a:p>
        </p:txBody>
      </p:sp>
      <p:sp>
        <p:nvSpPr>
          <p:cNvPr id="3" name="">
            <a:extLst xmlns:a="http://schemas.openxmlformats.org/drawingml/2006/main">
              <a:ext uri="{FF2B5EF4-FFF2-40B4-BE49-F238E27FC236}">
                <a16:creationId xmlns:a16="http://schemas.microsoft.com/office/drawing/2014/main" id="{8594612F-B6EA-44DD-811A-6C8AB3A360D0}"/>
              </a:ext>
            </a:extLst>
          </p:cNvPr>
          <p:cNvSpPr>
            <a:spLocks xmlns:a="http://schemas.openxmlformats.org/drawingml/2006/main" noGrp="1"/>
          </p:cNvSpPr>
          <p:nvPr/>
        </p:nvSpPr>
        <p:spPr>
          <a:xfrm xmlns:a="http://schemas.openxmlformats.org/drawingml/2006/main">
            <a:off x="571500" y="1885950"/>
            <a:ext cx="14097000" cy="0"/>
          </a:xfrm>
          <a:prstGeom xmlns:a="http://schemas.openxmlformats.org/drawingml/2006/main" prst="line">
            <a:avLst/>
          </a:prstGeom>
          <a:ln xmlns:a="http://schemas.openxmlformats.org/drawingml/2006/main" w="19050">
            <a:solidFill>
              <a:srgbClr val="C6D2DB"/>
            </a:solidFill>
          </a:ln>
        </p:spPr>
      </p:sp>
      <p:sp>
        <p:nvSpPr>
          <p:cNvPr id="4" name="Lesroute">
            <a:extLst xmlns:a="http://schemas.openxmlformats.org/drawingml/2006/main">
              <a:ext uri="{FF2B5EF4-FFF2-40B4-BE49-F238E27FC236}">
                <a16:creationId xmlns:a16="http://schemas.microsoft.com/office/drawing/2014/main" id="{04439D1E-C630-408A-A21D-ED7368526DF8}"/>
              </a:ext>
            </a:extLst>
          </p:cNvPr>
          <p:cNvSpPr>
            <a:spLocks xmlns:a="http://schemas.openxmlformats.org/drawingml/2006/main" noGrp="1"/>
          </p:cNvSpPr>
          <p:nvPr/>
        </p:nvSpPr>
        <p:spPr>
          <a:xfrm xmlns:a="http://schemas.openxmlformats.org/drawingml/2006/main">
            <a:off x="571500" y="2095500"/>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Lesroute</a:t>
            </a:r>
          </a:p>
        </p:txBody>
      </p:sp>
      <p:sp>
        <p:nvSpPr>
          <p:cNvPr id="5" name="route-number-1">
            <a:extLst xmlns:a="http://schemas.openxmlformats.org/drawingml/2006/main">
              <a:ext uri="{FF2B5EF4-FFF2-40B4-BE49-F238E27FC236}">
                <a16:creationId xmlns:a16="http://schemas.microsoft.com/office/drawing/2014/main" id="{A04856D7-E217-4637-AB9F-D07311D6794C}"/>
              </a:ext>
            </a:extLst>
          </p:cNvPr>
          <p:cNvSpPr>
            <a:spLocks xmlns:a="http://schemas.openxmlformats.org/drawingml/2006/main" noGrp="1"/>
          </p:cNvSpPr>
          <p:nvPr/>
        </p:nvSpPr>
        <p:spPr>
          <a:xfrm xmlns:a="http://schemas.openxmlformats.org/drawingml/2006/main">
            <a:off x="571500" y="26289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6" name="route-1">
            <a:extLst xmlns:a="http://schemas.openxmlformats.org/drawingml/2006/main">
              <a:ext uri="{FF2B5EF4-FFF2-40B4-BE49-F238E27FC236}">
                <a16:creationId xmlns:a16="http://schemas.microsoft.com/office/drawing/2014/main" id="{74DC948E-DBEF-4FC2-A668-F07B56C33FDF}"/>
              </a:ext>
            </a:extLst>
          </p:cNvPr>
          <p:cNvSpPr>
            <a:spLocks xmlns:a="http://schemas.openxmlformats.org/drawingml/2006/main" noGrp="1"/>
          </p:cNvSpPr>
          <p:nvPr/>
        </p:nvSpPr>
        <p:spPr>
          <a:xfrm xmlns:a="http://schemas.openxmlformats.org/drawingml/2006/main">
            <a:off x="1104900" y="26289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7" name="route-number-2">
            <a:extLst xmlns:a="http://schemas.openxmlformats.org/drawingml/2006/main">
              <a:ext uri="{FF2B5EF4-FFF2-40B4-BE49-F238E27FC236}">
                <a16:creationId xmlns:a16="http://schemas.microsoft.com/office/drawing/2014/main" id="{391E3A6A-75B7-4DF6-947A-C53751488724}"/>
              </a:ext>
            </a:extLst>
          </p:cNvPr>
          <p:cNvSpPr>
            <a:spLocks xmlns:a="http://schemas.openxmlformats.org/drawingml/2006/main" noGrp="1"/>
          </p:cNvSpPr>
          <p:nvPr/>
        </p:nvSpPr>
        <p:spPr>
          <a:xfrm xmlns:a="http://schemas.openxmlformats.org/drawingml/2006/main">
            <a:off x="571500" y="34575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8" name="route-2">
            <a:extLst xmlns:a="http://schemas.openxmlformats.org/drawingml/2006/main">
              <a:ext uri="{FF2B5EF4-FFF2-40B4-BE49-F238E27FC236}">
                <a16:creationId xmlns:a16="http://schemas.microsoft.com/office/drawing/2014/main" id="{050FEB11-FDEA-46BE-88C2-36EBF2134255}"/>
              </a:ext>
            </a:extLst>
          </p:cNvPr>
          <p:cNvSpPr>
            <a:spLocks xmlns:a="http://schemas.openxmlformats.org/drawingml/2006/main" noGrp="1"/>
          </p:cNvSpPr>
          <p:nvPr/>
        </p:nvSpPr>
        <p:spPr>
          <a:xfrm xmlns:a="http://schemas.openxmlformats.org/drawingml/2006/main">
            <a:off x="1104900" y="3457575"/>
            <a:ext cx="7419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9" name="route-number-3">
            <a:extLst xmlns:a="http://schemas.openxmlformats.org/drawingml/2006/main">
              <a:ext uri="{FF2B5EF4-FFF2-40B4-BE49-F238E27FC236}">
                <a16:creationId xmlns:a16="http://schemas.microsoft.com/office/drawing/2014/main" id="{0F85FC55-3F44-4414-A48B-4C40E5BAA924}"/>
              </a:ext>
            </a:extLst>
          </p:cNvPr>
          <p:cNvSpPr>
            <a:spLocks xmlns:a="http://schemas.openxmlformats.org/drawingml/2006/main" noGrp="1"/>
          </p:cNvSpPr>
          <p:nvPr/>
        </p:nvSpPr>
        <p:spPr>
          <a:xfrm xmlns:a="http://schemas.openxmlformats.org/drawingml/2006/main">
            <a:off x="571500" y="3905250"/>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0" name="route-3">
            <a:extLst xmlns:a="http://schemas.openxmlformats.org/drawingml/2006/main">
              <a:ext uri="{FF2B5EF4-FFF2-40B4-BE49-F238E27FC236}">
                <a16:creationId xmlns:a16="http://schemas.microsoft.com/office/drawing/2014/main" id="{3C92732D-3565-4C16-A88D-3A2CA809D204}"/>
              </a:ext>
            </a:extLst>
          </p:cNvPr>
          <p:cNvSpPr>
            <a:spLocks xmlns:a="http://schemas.openxmlformats.org/drawingml/2006/main" noGrp="1"/>
          </p:cNvSpPr>
          <p:nvPr/>
        </p:nvSpPr>
        <p:spPr>
          <a:xfrm xmlns:a="http://schemas.openxmlformats.org/drawingml/2006/main">
            <a:off x="1104900" y="3905250"/>
            <a:ext cx="7419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1" name="route-number-4">
            <a:extLst xmlns:a="http://schemas.openxmlformats.org/drawingml/2006/main">
              <a:ext uri="{FF2B5EF4-FFF2-40B4-BE49-F238E27FC236}">
                <a16:creationId xmlns:a16="http://schemas.microsoft.com/office/drawing/2014/main" id="{54FEAA3A-F550-417B-9CBD-F8903D4C5AF4}"/>
              </a:ext>
            </a:extLst>
          </p:cNvPr>
          <p:cNvSpPr>
            <a:spLocks xmlns:a="http://schemas.openxmlformats.org/drawingml/2006/main" noGrp="1"/>
          </p:cNvSpPr>
          <p:nvPr/>
        </p:nvSpPr>
        <p:spPr>
          <a:xfrm xmlns:a="http://schemas.openxmlformats.org/drawingml/2006/main">
            <a:off x="571500" y="4352925"/>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4.</a:t>
            </a:r>
          </a:p>
        </p:txBody>
      </p:sp>
      <p:sp>
        <p:nvSpPr>
          <p:cNvPr id="12" name="route-4">
            <a:extLst xmlns:a="http://schemas.openxmlformats.org/drawingml/2006/main">
              <a:ext uri="{FF2B5EF4-FFF2-40B4-BE49-F238E27FC236}">
                <a16:creationId xmlns:a16="http://schemas.microsoft.com/office/drawing/2014/main" id="{1B886801-81CD-4388-B3A2-64CA07AB35A4}"/>
              </a:ext>
            </a:extLst>
          </p:cNvPr>
          <p:cNvSpPr>
            <a:spLocks xmlns:a="http://schemas.openxmlformats.org/drawingml/2006/main" noGrp="1"/>
          </p:cNvSpPr>
          <p:nvPr/>
        </p:nvSpPr>
        <p:spPr>
          <a:xfrm xmlns:a="http://schemas.openxmlformats.org/drawingml/2006/main">
            <a:off x="1104900" y="4352925"/>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Begin bij de basisopgaven en stel vragen. Lukt dat goed, ga dan naar de zelfstandige oefening. Maak daarna de doelopgave en kijk vervolgens je antwoorden na.</a:t>
            </a:r>
          </a:p>
        </p:txBody>
      </p:sp>
      <p:sp>
        <p:nvSpPr>
          <p:cNvPr id="13" name="route-number-5">
            <a:extLst xmlns:a="http://schemas.openxmlformats.org/drawingml/2006/main">
              <a:ext uri="{FF2B5EF4-FFF2-40B4-BE49-F238E27FC236}">
                <a16:creationId xmlns:a16="http://schemas.microsoft.com/office/drawing/2014/main" id="{D4F02417-D230-416E-B8FF-9F037AEE503B}"/>
              </a:ext>
            </a:extLst>
          </p:cNvPr>
          <p:cNvSpPr>
            <a:spLocks xmlns:a="http://schemas.openxmlformats.org/drawingml/2006/main" noGrp="1"/>
          </p:cNvSpPr>
          <p:nvPr/>
        </p:nvSpPr>
        <p:spPr>
          <a:xfrm xmlns:a="http://schemas.openxmlformats.org/drawingml/2006/main">
            <a:off x="571500" y="6143625"/>
            <a:ext cx="457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4" name="route-5">
            <a:extLst xmlns:a="http://schemas.openxmlformats.org/drawingml/2006/main">
              <a:ext uri="{FF2B5EF4-FFF2-40B4-BE49-F238E27FC236}">
                <a16:creationId xmlns:a16="http://schemas.microsoft.com/office/drawing/2014/main" id="{8B2E3656-22BE-4CCC-ACBD-EFEF308139F4}"/>
              </a:ext>
            </a:extLst>
          </p:cNvPr>
          <p:cNvSpPr>
            <a:spLocks xmlns:a="http://schemas.openxmlformats.org/drawingml/2006/main" noGrp="1"/>
          </p:cNvSpPr>
          <p:nvPr/>
        </p:nvSpPr>
        <p:spPr>
          <a:xfrm xmlns:a="http://schemas.openxmlformats.org/drawingml/2006/main">
            <a:off x="1104900" y="6143625"/>
            <a:ext cx="74199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5" name="route-number-6">
            <a:extLst xmlns:a="http://schemas.openxmlformats.org/drawingml/2006/main">
              <a:ext uri="{FF2B5EF4-FFF2-40B4-BE49-F238E27FC236}">
                <a16:creationId xmlns:a16="http://schemas.microsoft.com/office/drawing/2014/main" id="{430B1B62-B7A8-4FC6-84CB-B2F1C48513E5}"/>
              </a:ext>
            </a:extLst>
          </p:cNvPr>
          <p:cNvSpPr>
            <a:spLocks xmlns:a="http://schemas.openxmlformats.org/drawingml/2006/main" noGrp="1"/>
          </p:cNvSpPr>
          <p:nvPr/>
        </p:nvSpPr>
        <p:spPr>
          <a:xfrm xmlns:a="http://schemas.openxmlformats.org/drawingml/2006/main">
            <a:off x="571500" y="682942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6" name="route-6">
            <a:extLst xmlns:a="http://schemas.openxmlformats.org/drawingml/2006/main">
              <a:ext uri="{FF2B5EF4-FFF2-40B4-BE49-F238E27FC236}">
                <a16:creationId xmlns:a16="http://schemas.microsoft.com/office/drawing/2014/main" id="{ACDE5253-F213-45DD-AEA0-98C8AE3D17CE}"/>
              </a:ext>
            </a:extLst>
          </p:cNvPr>
          <p:cNvSpPr>
            <a:spLocks xmlns:a="http://schemas.openxmlformats.org/drawingml/2006/main" noGrp="1"/>
          </p:cNvSpPr>
          <p:nvPr/>
        </p:nvSpPr>
        <p:spPr>
          <a:xfrm xmlns:a="http://schemas.openxmlformats.org/drawingml/2006/main">
            <a:off x="1104900" y="6829425"/>
            <a:ext cx="7419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17.</a:t>
            </a:r>
          </a:p>
        </p:txBody>
      </p:sp>
      <p:sp>
        <p:nvSpPr>
          <p:cNvPr id="17" name="route-number-7">
            <a:extLst xmlns:a="http://schemas.openxmlformats.org/drawingml/2006/main">
              <a:ext uri="{FF2B5EF4-FFF2-40B4-BE49-F238E27FC236}">
                <a16:creationId xmlns:a16="http://schemas.microsoft.com/office/drawing/2014/main" id="{B62C2D6D-1EB5-450C-A08F-2551DEF11B27}"/>
              </a:ext>
            </a:extLst>
          </p:cNvPr>
          <p:cNvSpPr>
            <a:spLocks xmlns:a="http://schemas.openxmlformats.org/drawingml/2006/main" noGrp="1"/>
          </p:cNvSpPr>
          <p:nvPr/>
        </p:nvSpPr>
        <p:spPr>
          <a:xfrm xmlns:a="http://schemas.openxmlformats.org/drawingml/2006/main">
            <a:off x="571500" y="740092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18" name="route-7">
            <a:extLst xmlns:a="http://schemas.openxmlformats.org/drawingml/2006/main">
              <a:ext uri="{FF2B5EF4-FFF2-40B4-BE49-F238E27FC236}">
                <a16:creationId xmlns:a16="http://schemas.microsoft.com/office/drawing/2014/main" id="{3AF234A6-A649-44A6-B7D6-C5684CE2B9A3}"/>
              </a:ext>
            </a:extLst>
          </p:cNvPr>
          <p:cNvSpPr>
            <a:spLocks xmlns:a="http://schemas.openxmlformats.org/drawingml/2006/main" noGrp="1"/>
          </p:cNvSpPr>
          <p:nvPr/>
        </p:nvSpPr>
        <p:spPr>
          <a:xfrm xmlns:a="http://schemas.openxmlformats.org/drawingml/2006/main">
            <a:off x="1104900" y="7400925"/>
            <a:ext cx="7419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19" name="Lesdoelen">
            <a:extLst xmlns:a="http://schemas.openxmlformats.org/drawingml/2006/main">
              <a:ext uri="{FF2B5EF4-FFF2-40B4-BE49-F238E27FC236}">
                <a16:creationId xmlns:a16="http://schemas.microsoft.com/office/drawing/2014/main" id="{2C6C73C6-C485-4233-B06D-7ACE1AB797B6}"/>
              </a:ext>
            </a:extLst>
          </p:cNvPr>
          <p:cNvSpPr>
            <a:spLocks xmlns:a="http://schemas.openxmlformats.org/drawingml/2006/main" noGrp="1"/>
          </p:cNvSpPr>
          <p:nvPr/>
        </p:nvSpPr>
        <p:spPr>
          <a:xfrm xmlns:a="http://schemas.openxmlformats.org/drawingml/2006/main">
            <a:off x="9258300" y="2095500"/>
            <a:ext cx="5410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Lesdoelen</a:t>
            </a:r>
          </a:p>
        </p:txBody>
      </p:sp>
      <p:sp>
        <p:nvSpPr>
          <p:cNvPr id="20" name="overview-goals">
            <a:extLst xmlns:a="http://schemas.openxmlformats.org/drawingml/2006/main">
              <a:ext uri="{FF2B5EF4-FFF2-40B4-BE49-F238E27FC236}">
                <a16:creationId xmlns:a16="http://schemas.microsoft.com/office/drawing/2014/main" id="{3CECA5CD-E4FF-443F-8778-9F2131CF6ACF}"/>
              </a:ext>
            </a:extLst>
          </p:cNvPr>
          <p:cNvSpPr>
            <a:spLocks xmlns:a="http://schemas.openxmlformats.org/drawingml/2006/main" noGrp="1"/>
          </p:cNvSpPr>
          <p:nvPr/>
        </p:nvSpPr>
        <p:spPr>
          <a:xfrm xmlns:a="http://schemas.openxmlformats.org/drawingml/2006/main">
            <a:off x="9258300" y="2628900"/>
            <a:ext cx="5410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Prijzen vergelijken, productie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verbruik bepalen, handelsstromen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en gevolgen voor groepen uitleggen.</a:t>
            </a:r>
          </a:p>
        </p:txBody>
      </p:sp>
      <p:sp>
        <p:nvSpPr>
          <p:cNvPr id="21" name="">
            <a:extLst xmlns:a="http://schemas.openxmlformats.org/drawingml/2006/main">
              <a:ext uri="{FF2B5EF4-FFF2-40B4-BE49-F238E27FC236}">
                <a16:creationId xmlns:a16="http://schemas.microsoft.com/office/drawing/2014/main" id="{9716F41A-BF8C-4EF2-8E0E-7CD6F6FDD224}"/>
              </a:ext>
            </a:extLst>
          </p:cNvPr>
          <p:cNvSpPr>
            <a:spLocks xmlns:a="http://schemas.openxmlformats.org/drawingml/2006/main" noGrp="1"/>
          </p:cNvSpPr>
          <p:nvPr/>
        </p:nvSpPr>
        <p:spPr>
          <a:xfrm xmlns:a="http://schemas.openxmlformats.org/drawingml/2006/main">
            <a:off x="9258300" y="3857625"/>
            <a:ext cx="5410200" cy="0"/>
          </a:xfrm>
          <a:prstGeom xmlns:a="http://schemas.openxmlformats.org/drawingml/2006/main" prst="line">
            <a:avLst/>
          </a:prstGeom>
          <a:ln xmlns:a="http://schemas.openxmlformats.org/drawingml/2006/main" w="19050">
            <a:solidFill>
              <a:srgbClr val="C6D2DB"/>
            </a:solidFill>
          </a:ln>
        </p:spPr>
      </p:sp>
      <p:sp>
        <p:nvSpPr>
          <p:cNvPr id="22" name="Startopdracht">
            <a:extLst xmlns:a="http://schemas.openxmlformats.org/drawingml/2006/main">
              <a:ext uri="{FF2B5EF4-FFF2-40B4-BE49-F238E27FC236}">
                <a16:creationId xmlns:a16="http://schemas.microsoft.com/office/drawing/2014/main" id="{8DE64AB5-0036-4386-A98C-25041273D661}"/>
              </a:ext>
            </a:extLst>
          </p:cNvPr>
          <p:cNvSpPr>
            <a:spLocks xmlns:a="http://schemas.openxmlformats.org/drawingml/2006/main" noGrp="1"/>
          </p:cNvSpPr>
          <p:nvPr/>
        </p:nvSpPr>
        <p:spPr>
          <a:xfrm xmlns:a="http://schemas.openxmlformats.org/drawingml/2006/main">
            <a:off x="9258300" y="4057650"/>
            <a:ext cx="5410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Startopdracht</a:t>
            </a:r>
          </a:p>
        </p:txBody>
      </p:sp>
      <p:sp>
        <p:nvSpPr>
          <p:cNvPr id="23" name="overview-start">
            <a:extLst xmlns:a="http://schemas.openxmlformats.org/drawingml/2006/main">
              <a:ext uri="{FF2B5EF4-FFF2-40B4-BE49-F238E27FC236}">
                <a16:creationId xmlns:a16="http://schemas.microsoft.com/office/drawing/2014/main" id="{83E8F3A7-8A7F-4384-85AD-0A3B31167E09}"/>
              </a:ext>
            </a:extLst>
          </p:cNvPr>
          <p:cNvSpPr>
            <a:spLocks xmlns:a="http://schemas.openxmlformats.org/drawingml/2006/main" noGrp="1"/>
          </p:cNvSpPr>
          <p:nvPr/>
        </p:nvSpPr>
        <p:spPr>
          <a:xfrm xmlns:a="http://schemas.openxmlformats.org/drawingml/2006/main">
            <a:off x="9258300" y="4581525"/>
            <a:ext cx="54102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102 · Opgaven 11 en 12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12: verkennen met de theorie,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 97–98</a:t>
            </a:r>
          </a:p>
        </p:txBody>
      </p:sp>
      <p:sp>
        <p:nvSpPr>
          <p:cNvPr id="24" name="">
            <a:extLst xmlns:a="http://schemas.openxmlformats.org/drawingml/2006/main">
              <a:ext uri="{FF2B5EF4-FFF2-40B4-BE49-F238E27FC236}">
                <a16:creationId xmlns:a16="http://schemas.microsoft.com/office/drawing/2014/main" id="{40FCD714-FD1F-43F1-830C-AF7765B4EF06}"/>
              </a:ext>
            </a:extLst>
          </p:cNvPr>
          <p:cNvSpPr>
            <a:spLocks xmlns:a="http://schemas.openxmlformats.org/drawingml/2006/main" noGrp="1"/>
          </p:cNvSpPr>
          <p:nvPr/>
        </p:nvSpPr>
        <p:spPr>
          <a:xfrm xmlns:a="http://schemas.openxmlformats.org/drawingml/2006/main">
            <a:off x="9258300" y="5791200"/>
            <a:ext cx="5410200" cy="0"/>
          </a:xfrm>
          <a:prstGeom xmlns:a="http://schemas.openxmlformats.org/drawingml/2006/main" prst="line">
            <a:avLst/>
          </a:prstGeom>
          <a:ln xmlns:a="http://schemas.openxmlformats.org/drawingml/2006/main" w="19050">
            <a:solidFill>
              <a:srgbClr val="C6D2DB"/>
            </a:solidFill>
          </a:ln>
        </p:spPr>
      </p:sp>
      <p:sp>
        <p:nvSpPr>
          <p:cNvPr id="25" name="Huiswerk">
            <a:extLst xmlns:a="http://schemas.openxmlformats.org/drawingml/2006/main">
              <a:ext uri="{FF2B5EF4-FFF2-40B4-BE49-F238E27FC236}">
                <a16:creationId xmlns:a16="http://schemas.microsoft.com/office/drawing/2014/main" id="{F67DA8E0-E3F7-4202-9638-5A70B8B2135E}"/>
              </a:ext>
            </a:extLst>
          </p:cNvPr>
          <p:cNvSpPr>
            <a:spLocks xmlns:a="http://schemas.openxmlformats.org/drawingml/2006/main" noGrp="1"/>
          </p:cNvSpPr>
          <p:nvPr/>
        </p:nvSpPr>
        <p:spPr>
          <a:xfrm xmlns:a="http://schemas.openxmlformats.org/drawingml/2006/main">
            <a:off x="9258300" y="5972175"/>
            <a:ext cx="5410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Huiswerk</a:t>
            </a:r>
          </a:p>
        </p:txBody>
      </p:sp>
      <p:sp>
        <p:nvSpPr>
          <p:cNvPr id="26" name="overview-homework">
            <a:extLst xmlns:a="http://schemas.openxmlformats.org/drawingml/2006/main">
              <a:ext uri="{FF2B5EF4-FFF2-40B4-BE49-F238E27FC236}">
                <a16:creationId xmlns:a16="http://schemas.microsoft.com/office/drawing/2014/main" id="{B95FC193-8286-4615-9DB5-9BDF44A2893D}"/>
              </a:ext>
            </a:extLst>
          </p:cNvPr>
          <p:cNvSpPr>
            <a:spLocks xmlns:a="http://schemas.openxmlformats.org/drawingml/2006/main" noGrp="1"/>
          </p:cNvSpPr>
          <p:nvPr/>
        </p:nvSpPr>
        <p:spPr>
          <a:xfrm xmlns:a="http://schemas.openxmlformats.org/drawingml/2006/main">
            <a:off x="9258300" y="6486525"/>
            <a:ext cx="54102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3247"/>
                </a:solidFill>
                <a:latin typeface="Arial"/>
                <a:ea typeface="Arial"/>
                <a:cs typeface="Arial"/>
              </a:defRPr>
            </a:pPr>
            <a:r>
              <a:rPr sz="2175" b="0">
                <a:solidFill>
                  <a:srgbClr val="183247"/>
                </a:solidFill>
                <a:latin typeface="Arial"/>
                <a:ea typeface="Arial"/>
                <a:cs typeface="Arial"/>
              </a:rPr>
              <a:t>§3.3.2 · Opgaven 13 t/m 17</a:t>
            </a:r>
          </a:p>
          <a:p xmlns:a="http://schemas.openxmlformats.org/drawingml/2006/main">
            <a:pPr algn="l">
              <a:defRPr sz="2175" b="0">
                <a:solidFill>
                  <a:srgbClr val="183247"/>
                </a:solidFill>
                <a:latin typeface="Arial"/>
                <a:ea typeface="Arial"/>
                <a:cs typeface="Arial"/>
              </a:defRPr>
            </a:pPr>
            <a:r>
              <a:rPr sz="2175" b="0">
                <a:solidFill>
                  <a:srgbClr val="183247"/>
                </a:solidFill>
                <a:latin typeface="Arial"/>
                <a:ea typeface="Arial"/>
                <a:cs typeface="Arial"/>
              </a:rPr>
              <a:t>Basis: 13 en 14</a:t>
            </a:r>
          </a:p>
          <a:p xmlns:a="http://schemas.openxmlformats.org/drawingml/2006/main">
            <a:pPr algn="l">
              <a:defRPr sz="2175" b="0">
                <a:solidFill>
                  <a:srgbClr val="183247"/>
                </a:solidFill>
                <a:latin typeface="Arial"/>
                <a:ea typeface="Arial"/>
                <a:cs typeface="Arial"/>
              </a:defRPr>
            </a:pPr>
            <a:r>
              <a:rPr sz="2175" b="0">
                <a:solidFill>
                  <a:srgbClr val="183247"/>
                </a:solidFill>
                <a:latin typeface="Arial"/>
                <a:ea typeface="Arial"/>
                <a:cs typeface="Arial"/>
              </a:rPr>
              <a:t>Zelfstandig: 15 en 16</a:t>
            </a:r>
          </a:p>
          <a:p xmlns:a="http://schemas.openxmlformats.org/drawingml/2006/main">
            <a:pPr algn="l">
              <a:defRPr sz="2175" b="0">
                <a:solidFill>
                  <a:srgbClr val="183247"/>
                </a:solidFill>
                <a:latin typeface="Arial"/>
                <a:ea typeface="Arial"/>
                <a:cs typeface="Arial"/>
              </a:defRPr>
            </a:pPr>
            <a:r>
              <a:rPr sz="2175" b="0">
                <a:solidFill>
                  <a:srgbClr val="183247"/>
                </a:solidFill>
                <a:latin typeface="Arial"/>
                <a:ea typeface="Arial"/>
                <a:cs typeface="Arial"/>
              </a:rPr>
              <a:t>Doelopgave: 17</a:t>
            </a:r>
          </a:p>
          <a:p xmlns:a="http://schemas.openxmlformats.org/drawingml/2006/main">
            <a:pPr algn="l">
              <a:defRPr sz="2175" b="0">
                <a:solidFill>
                  <a:srgbClr val="183247"/>
                </a:solidFill>
                <a:latin typeface="Arial"/>
                <a:ea typeface="Arial"/>
                <a:cs typeface="Arial"/>
              </a:defRPr>
            </a:pPr>
            <a:r>
              <a:rPr sz="2175" b="0">
                <a:solidFill>
                  <a:srgbClr val="183247"/>
                </a:solidFill>
                <a:latin typeface="Arial"/>
                <a:ea typeface="Arial"/>
                <a:cs typeface="Arial"/>
              </a:rPr>
              <a:t>Maken en nakijken</a:t>
            </a:r>
          </a:p>
        </p:txBody>
      </p:sp>
      <p:sp>
        <p:nvSpPr>
          <p:cNvPr id="27" name="footer">
            <a:extLst xmlns:a="http://schemas.openxmlformats.org/drawingml/2006/main">
              <a:ext uri="{FF2B5EF4-FFF2-40B4-BE49-F238E27FC236}">
                <a16:creationId xmlns:a16="http://schemas.microsoft.com/office/drawing/2014/main" id="{A2EB2627-27D1-4142-82E5-944183D35C58}"/>
              </a:ext>
            </a:extLst>
          </p:cNvPr>
          <p:cNvSpPr>
            <a:spLocks xmlns:a="http://schemas.openxmlformats.org/drawingml/2006/main" noGrp="1"/>
          </p:cNvSpPr>
          <p:nvPr/>
        </p:nvSpPr>
        <p:spPr>
          <a:xfrm xmlns:a="http://schemas.openxmlformats.org/drawingml/2006/main">
            <a:off x="571500" y="8153400"/>
            <a:ext cx="1314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Boek 3 · v3 · Gedrukte boekpagina’s</a:t>
            </a:r>
          </a:p>
        </p:txBody>
      </p:sp>
      <p:sp>
        <p:nvSpPr>
          <p:cNvPr id="28" name="slide-number">
            <a:extLst xmlns:a="http://schemas.openxmlformats.org/drawingml/2006/main">
              <a:ext uri="{FF2B5EF4-FFF2-40B4-BE49-F238E27FC236}">
                <a16:creationId xmlns:a16="http://schemas.microsoft.com/office/drawing/2014/main" id="{4D3CFF18-DC0B-4149-ABB4-AD3F789ED108}"/>
              </a:ext>
            </a:extLst>
          </p:cNvPr>
          <p:cNvSpPr>
            <a:spLocks xmlns:a="http://schemas.openxmlformats.org/drawingml/2006/main" noGrp="1"/>
          </p:cNvSpPr>
          <p:nvPr/>
        </p:nvSpPr>
        <p:spPr>
          <a:xfrm xmlns:a="http://schemas.openxmlformats.org/drawingml/2006/main">
            <a:off x="14001750" y="8115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Tree>
    <p:extLst>
      <p:ext uri="{BB962C8B-B14F-4D97-AF65-F5344CB8AC3E}">
        <p14:creationId xmlns:p14="http://schemas.microsoft.com/office/powerpoint/2010/main" val="140358785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17: kampeermatten in Noro">
            <a:extLst xmlns:a="http://schemas.openxmlformats.org/drawingml/2006/main">
              <a:ext uri="{FF2B5EF4-FFF2-40B4-BE49-F238E27FC236}">
                <a16:creationId xmlns:a16="http://schemas.microsoft.com/office/drawing/2014/main" id="{E4C11D9E-44BA-4A20-BBEB-6AA86C0256C7}"/>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17: kampeermatten in Noro</a:t>
            </a:r>
          </a:p>
        </p:txBody>
      </p:sp>
      <p:sp>
        <p:nvSpPr>
          <p:cNvPr id="2" name="">
            <a:extLst xmlns:a="http://schemas.openxmlformats.org/drawingml/2006/main">
              <a:ext uri="{FF2B5EF4-FFF2-40B4-BE49-F238E27FC236}">
                <a16:creationId xmlns:a16="http://schemas.microsoft.com/office/drawing/2014/main" id="{3C70CAF0-F6F5-4AAE-9DFF-22FB03CA436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9EEBA459-A82A-44FF-A995-29762324C05E}"/>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§3.3.2 · Doelopgave 17 · Boekpagina 105</a:t>
            </a:r>
          </a:p>
        </p:txBody>
      </p:sp>
      <p:sp>
        <p:nvSpPr>
          <p:cNvPr id="4" name="slide-number">
            <a:extLst xmlns:a="http://schemas.openxmlformats.org/drawingml/2006/main">
              <a:ext uri="{FF2B5EF4-FFF2-40B4-BE49-F238E27FC236}">
                <a16:creationId xmlns:a16="http://schemas.microsoft.com/office/drawing/2014/main" id="{F7C3F798-3741-4F61-B928-1DF254DCE0D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Lesbron · Kampeermatten in Noro">
            <a:extLst xmlns:a="http://schemas.openxmlformats.org/drawingml/2006/main">
              <a:ext uri="{FF2B5EF4-FFF2-40B4-BE49-F238E27FC236}">
                <a16:creationId xmlns:a16="http://schemas.microsoft.com/office/drawing/2014/main" id="{1AABD0E7-9B04-46C3-BB10-814EF5950688}"/>
              </a:ext>
            </a:extLst>
          </p:cNvPr>
          <p:cNvSpPr>
            <a:spLocks xmlns:a="http://schemas.openxmlformats.org/drawingml/2006/main" noGrp="1"/>
          </p:cNvSpPr>
          <p:nvPr/>
        </p:nvSpPr>
        <p:spPr>
          <a:xfrm xmlns:a="http://schemas.openxmlformats.org/drawingml/2006/main">
            <a:off x="571500" y="1809750"/>
            <a:ext cx="1409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Lesbron · Kampeermatten in Noro</a:t>
            </a:r>
          </a:p>
        </p:txBody>
      </p:sp>
      <p:sp>
        <p:nvSpPr>
          <p:cNvPr id="6" name="Noro is een klein land met concurrerende aanbieders. Binnenl">
            <a:extLst xmlns:a="http://schemas.openxmlformats.org/drawingml/2006/main">
              <a:ext uri="{FF2B5EF4-FFF2-40B4-BE49-F238E27FC236}">
                <a16:creationId xmlns:a16="http://schemas.microsoft.com/office/drawing/2014/main" id="{BB65C2F4-1565-45F4-A8F3-1141E333B524}"/>
              </a:ext>
            </a:extLst>
          </p:cNvPr>
          <p:cNvSpPr>
            <a:spLocks xmlns:a="http://schemas.openxmlformats.org/drawingml/2006/main" noGrp="1"/>
          </p:cNvSpPr>
          <p:nvPr/>
        </p:nvSpPr>
        <p:spPr>
          <a:xfrm xmlns:a="http://schemas.openxmlformats.org/drawingml/2006/main">
            <a:off x="571500" y="2676525"/>
            <a:ext cx="14097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Noro is een klein land met concurrerende aanbieders. Binnenlandse en buitenlandse matten zijn gelijkwaardig.</a:t>
            </a:r>
          </a:p>
        </p:txBody>
      </p:sp>
      <p:sp>
        <p:nvSpPr>
          <p:cNvPr id="7" name="Buitenlandse aanbieders leveren voldoende tegen € 30 per mat">
            <a:extLst xmlns:a="http://schemas.openxmlformats.org/drawingml/2006/main">
              <a:ext uri="{FF2B5EF4-FFF2-40B4-BE49-F238E27FC236}">
                <a16:creationId xmlns:a16="http://schemas.microsoft.com/office/drawing/2014/main" id="{1C1CEDDE-A0A6-4039-BAD7-AF9B5EF6A6FE}"/>
              </a:ext>
            </a:extLst>
          </p:cNvPr>
          <p:cNvSpPr>
            <a:spLocks xmlns:a="http://schemas.openxmlformats.org/drawingml/2006/main" noGrp="1"/>
          </p:cNvSpPr>
          <p:nvPr/>
        </p:nvSpPr>
        <p:spPr>
          <a:xfrm xmlns:a="http://schemas.openxmlformats.org/drawingml/2006/main">
            <a:off x="571500" y="4067175"/>
            <a:ext cx="14097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Buitenlandse aanbieders leveren voldoende tegen € 30 per mat; Noro beïnvloedt die prijs niet.</a:t>
            </a:r>
          </a:p>
        </p:txBody>
      </p:sp>
      <p:sp>
        <p:nvSpPr>
          <p:cNvPr id="8" name="Er zijn geen transportkosten, handelsbelemmeringen of effect">
            <a:extLst xmlns:a="http://schemas.openxmlformats.org/drawingml/2006/main">
              <a:ext uri="{FF2B5EF4-FFF2-40B4-BE49-F238E27FC236}">
                <a16:creationId xmlns:a16="http://schemas.microsoft.com/office/drawing/2014/main" id="{09A24495-1A56-4DAD-BD52-42CF78440A52}"/>
              </a:ext>
            </a:extLst>
          </p:cNvPr>
          <p:cNvSpPr>
            <a:spLocks xmlns:a="http://schemas.openxmlformats.org/drawingml/2006/main" noGrp="1"/>
          </p:cNvSpPr>
          <p:nvPr/>
        </p:nvSpPr>
        <p:spPr>
          <a:xfrm xmlns:a="http://schemas.openxmlformats.org/drawingml/2006/main">
            <a:off x="571500" y="5457825"/>
            <a:ext cx="14097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Er zijn geen transportkosten, handelsbelemmeringen of effecten op derden. Alle prijzen zijn in euro.</a:t>
            </a:r>
          </a:p>
        </p:txBody>
      </p:sp>
      <p:sp>
        <p:nvSpPr>
          <p:cNvPr id="9" name="Zonder handel kosten de matten € 40.">
            <a:extLst xmlns:a="http://schemas.openxmlformats.org/drawingml/2006/main">
              <a:ext uri="{FF2B5EF4-FFF2-40B4-BE49-F238E27FC236}">
                <a16:creationId xmlns:a16="http://schemas.microsoft.com/office/drawing/2014/main" id="{97E1C480-EBAA-4169-94C3-04C2F838B831}"/>
              </a:ext>
            </a:extLst>
          </p:cNvPr>
          <p:cNvSpPr>
            <a:spLocks xmlns:a="http://schemas.openxmlformats.org/drawingml/2006/main" noGrp="1"/>
          </p:cNvSpPr>
          <p:nvPr/>
        </p:nvSpPr>
        <p:spPr>
          <a:xfrm xmlns:a="http://schemas.openxmlformats.org/drawingml/2006/main">
            <a:off x="571500" y="6905625"/>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Zonder handel kosten de matten € 40.</a:t>
            </a:r>
          </a:p>
        </p:txBody>
      </p:sp>
    </p:spTree>
    <p:extLst>
      <p:ext uri="{BB962C8B-B14F-4D97-AF65-F5344CB8AC3E}">
        <p14:creationId xmlns:p14="http://schemas.microsoft.com/office/powerpoint/2010/main" val="113245940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17a: figuur 7 en de vraag">
            <a:extLst xmlns:a="http://schemas.openxmlformats.org/drawingml/2006/main">
              <a:ext uri="{FF2B5EF4-FFF2-40B4-BE49-F238E27FC236}">
                <a16:creationId xmlns:a16="http://schemas.microsoft.com/office/drawing/2014/main" id="{BC57334E-44C9-43CA-9605-3CEFF987F9D8}"/>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17a: figuur 7 en de vraag</a:t>
            </a:r>
          </a:p>
        </p:txBody>
      </p:sp>
      <p:sp>
        <p:nvSpPr>
          <p:cNvPr id="2" name="">
            <a:extLst xmlns:a="http://schemas.openxmlformats.org/drawingml/2006/main">
              <a:ext uri="{FF2B5EF4-FFF2-40B4-BE49-F238E27FC236}">
                <a16:creationId xmlns:a16="http://schemas.microsoft.com/office/drawing/2014/main" id="{1E6000A7-A375-4D3E-A356-E3743732B0D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50CC1ADE-63E0-439B-ABFE-8A10D4FF0E14}"/>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§3.3.2 · Doelopgave 17 · Boekpagina 105</a:t>
            </a:r>
          </a:p>
        </p:txBody>
      </p:sp>
      <p:sp>
        <p:nvSpPr>
          <p:cNvPr id="4" name="slide-number">
            <a:extLst xmlns:a="http://schemas.openxmlformats.org/drawingml/2006/main">
              <a:ext uri="{FF2B5EF4-FFF2-40B4-BE49-F238E27FC236}">
                <a16:creationId xmlns:a16="http://schemas.microsoft.com/office/drawing/2014/main" id="{CF19520E-9BA7-481F-A384-3830FF48E93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Lees bij de wereldmarktprijs de binnenlandse productie en he">
            <a:extLst xmlns:a="http://schemas.openxmlformats.org/drawingml/2006/main">
              <a:ext uri="{FF2B5EF4-FFF2-40B4-BE49-F238E27FC236}">
                <a16:creationId xmlns:a16="http://schemas.microsoft.com/office/drawing/2014/main" id="{94A9DB8D-3B1D-40B0-9264-B125B8ED2DE9}"/>
              </a:ext>
            </a:extLst>
          </p:cNvPr>
          <p:cNvSpPr>
            <a:spLocks xmlns:a="http://schemas.openxmlformats.org/drawingml/2006/main" noGrp="1"/>
          </p:cNvSpPr>
          <p:nvPr/>
        </p:nvSpPr>
        <p:spPr>
          <a:xfrm xmlns:a="http://schemas.openxmlformats.org/drawingml/2006/main">
            <a:off x="571500" y="1695450"/>
            <a:ext cx="1409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Lees bij de wereldmarktprijs de binnenlandse productie en het binnenlandse verbruik af. Bereken de import per week. (3p)</a:t>
            </a:r>
          </a:p>
        </p:txBody>
      </p:sp>
      <p:graphicFrame>
        <p:nvGraphicFramePr>
          <p:cNvPr id="12" name="Chart"/>
          <p:cNvGraphicFramePr/>
          <p:nvPr/>
        </p:nvGraphicFramePr>
        <p:xfrm>
          <a:off xmlns:a="http://schemas.openxmlformats.org/drawingml/2006/main" x="571500" y="3048000"/>
          <a:ext xmlns:a="http://schemas.openxmlformats.org/drawingml/2006/main" cx="14097000" cy="4524375"/>
        </p:xfrm>
        <a:graphic xmlns:a="http://schemas.openxmlformats.org/drawingml/2006/main">
          <a:graphicData uri="http://schemas.openxmlformats.org/drawingml/2006/chart">
            <c:chart xmlns:r="http://schemas.openxmlformats.org/officeDocument/2006/relationships" xmlns:c="http://schemas.openxmlformats.org/drawingml/2006/chart" r:id="R8fa3770f49034175"/>
          </a:graphicData>
        </a:graphic>
      </p:graphicFrame>
    </p:spTree>
    <p:extLst>
      <p:ext uri="{BB962C8B-B14F-4D97-AF65-F5344CB8AC3E}">
        <p14:creationId xmlns:p14="http://schemas.microsoft.com/office/powerpoint/2010/main" val="42113225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pgave 17b–e: alle vervolgvragen">
            <a:extLst xmlns:a="http://schemas.openxmlformats.org/drawingml/2006/main">
              <a:ext uri="{FF2B5EF4-FFF2-40B4-BE49-F238E27FC236}">
                <a16:creationId xmlns:a16="http://schemas.microsoft.com/office/drawing/2014/main" id="{AF95CDF3-C7A3-40DC-9108-EAB744011F26}"/>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17b–e: alle vervolgvragen</a:t>
            </a:r>
          </a:p>
        </p:txBody>
      </p:sp>
      <p:sp>
        <p:nvSpPr>
          <p:cNvPr id="2" name="">
            <a:extLst xmlns:a="http://schemas.openxmlformats.org/drawingml/2006/main">
              <a:ext uri="{FF2B5EF4-FFF2-40B4-BE49-F238E27FC236}">
                <a16:creationId xmlns:a16="http://schemas.microsoft.com/office/drawing/2014/main" id="{DEAB55EC-8A9D-4EBF-AF7F-AA72EE104A8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21D48E1-F9BB-4901-AD66-A697C5E21D3C}"/>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§3.3.2 · Doelopgave 17 · Boekpagina 105</a:t>
            </a:r>
          </a:p>
        </p:txBody>
      </p:sp>
      <p:sp>
        <p:nvSpPr>
          <p:cNvPr id="4" name="slide-number">
            <a:extLst xmlns:a="http://schemas.openxmlformats.org/drawingml/2006/main">
              <a:ext uri="{FF2B5EF4-FFF2-40B4-BE49-F238E27FC236}">
                <a16:creationId xmlns:a16="http://schemas.microsoft.com/office/drawing/2014/main" id="{74FC880F-4162-4151-868B-D42263048B6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b.">
            <a:extLst xmlns:a="http://schemas.openxmlformats.org/drawingml/2006/main">
              <a:ext uri="{FF2B5EF4-FFF2-40B4-BE49-F238E27FC236}">
                <a16:creationId xmlns:a16="http://schemas.microsoft.com/office/drawing/2014/main" id="{2515CEAA-9FD0-49FA-9E77-DE460647B677}"/>
              </a:ext>
            </a:extLst>
          </p:cNvPr>
          <p:cNvSpPr>
            <a:spLocks xmlns:a="http://schemas.openxmlformats.org/drawingml/2006/main" noGrp="1"/>
          </p:cNvSpPr>
          <p:nvPr/>
        </p:nvSpPr>
        <p:spPr>
          <a:xfrm xmlns:a="http://schemas.openxmlformats.org/drawingml/2006/main">
            <a:off x="571500" y="1876425"/>
            <a:ext cx="571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5276"/>
                </a:solidFill>
                <a:latin typeface="Arial"/>
                <a:ea typeface="Arial"/>
                <a:cs typeface="Arial"/>
              </a:defRPr>
            </a:pPr>
            <a:r>
              <a:rPr sz="2700" b="1">
                <a:solidFill>
                  <a:srgbClr val="1A5276"/>
                </a:solidFill>
                <a:latin typeface="Arial"/>
                <a:ea typeface="Arial"/>
                <a:cs typeface="Arial"/>
              </a:rPr>
              <a:t>b.</a:t>
            </a:r>
          </a:p>
        </p:txBody>
      </p:sp>
      <p:sp>
        <p:nvSpPr>
          <p:cNvPr id="6" name="Leg uit wat binnenlandse producenten merken ten opzichte van">
            <a:extLst xmlns:a="http://schemas.openxmlformats.org/drawingml/2006/main">
              <a:ext uri="{FF2B5EF4-FFF2-40B4-BE49-F238E27FC236}">
                <a16:creationId xmlns:a16="http://schemas.microsoft.com/office/drawing/2014/main" id="{D230A76F-9EDA-4ED9-8152-BCD22AFAC9A7}"/>
              </a:ext>
            </a:extLst>
          </p:cNvPr>
          <p:cNvSpPr>
            <a:spLocks xmlns:a="http://schemas.openxmlformats.org/drawingml/2006/main" noGrp="1"/>
          </p:cNvSpPr>
          <p:nvPr/>
        </p:nvSpPr>
        <p:spPr>
          <a:xfrm xmlns:a="http://schemas.openxmlformats.org/drawingml/2006/main">
            <a:off x="1333500" y="1876425"/>
            <a:ext cx="13239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Leg uit wat binnenlandse producenten merken ten opzichte van de situatie zonder handel. Gebruik prijs én productie. (2p)</a:t>
            </a:r>
          </a:p>
        </p:txBody>
      </p:sp>
      <p:sp>
        <p:nvSpPr>
          <p:cNvPr id="7" name="c.">
            <a:extLst xmlns:a="http://schemas.openxmlformats.org/drawingml/2006/main">
              <a:ext uri="{FF2B5EF4-FFF2-40B4-BE49-F238E27FC236}">
                <a16:creationId xmlns:a16="http://schemas.microsoft.com/office/drawing/2014/main" id="{FB611555-56AA-4159-9F1D-DE31130013D5}"/>
              </a:ext>
            </a:extLst>
          </p:cNvPr>
          <p:cNvSpPr>
            <a:spLocks xmlns:a="http://schemas.openxmlformats.org/drawingml/2006/main" noGrp="1"/>
          </p:cNvSpPr>
          <p:nvPr/>
        </p:nvSpPr>
        <p:spPr>
          <a:xfrm xmlns:a="http://schemas.openxmlformats.org/drawingml/2006/main">
            <a:off x="571500" y="3305175"/>
            <a:ext cx="571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5276"/>
                </a:solidFill>
                <a:latin typeface="Arial"/>
                <a:ea typeface="Arial"/>
                <a:cs typeface="Arial"/>
              </a:defRPr>
            </a:pPr>
            <a:r>
              <a:rPr sz="2700" b="1">
                <a:solidFill>
                  <a:srgbClr val="1A5276"/>
                </a:solidFill>
                <a:latin typeface="Arial"/>
                <a:ea typeface="Arial"/>
                <a:cs typeface="Arial"/>
              </a:rPr>
              <a:t>c.</a:t>
            </a:r>
          </a:p>
        </p:txBody>
      </p:sp>
      <p:sp>
        <p:nvSpPr>
          <p:cNvPr id="8" name="Leg uit wat er met het consumentensurplus van binnenlandse k">
            <a:extLst xmlns:a="http://schemas.openxmlformats.org/drawingml/2006/main">
              <a:ext uri="{FF2B5EF4-FFF2-40B4-BE49-F238E27FC236}">
                <a16:creationId xmlns:a16="http://schemas.microsoft.com/office/drawing/2014/main" id="{18CD4F12-61C3-4F46-8117-A02A220A3B0C}"/>
              </a:ext>
            </a:extLst>
          </p:cNvPr>
          <p:cNvSpPr>
            <a:spLocks xmlns:a="http://schemas.openxmlformats.org/drawingml/2006/main" noGrp="1"/>
          </p:cNvSpPr>
          <p:nvPr/>
        </p:nvSpPr>
        <p:spPr>
          <a:xfrm xmlns:a="http://schemas.openxmlformats.org/drawingml/2006/main">
            <a:off x="1333500" y="3305175"/>
            <a:ext cx="13239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Leg uit wat er met het consumentensurplus van binnenlandse kopers gebeurt. (2p)</a:t>
            </a:r>
          </a:p>
        </p:txBody>
      </p:sp>
      <p:sp>
        <p:nvSpPr>
          <p:cNvPr id="9" name="d.">
            <a:extLst xmlns:a="http://schemas.openxmlformats.org/drawingml/2006/main">
              <a:ext uri="{FF2B5EF4-FFF2-40B4-BE49-F238E27FC236}">
                <a16:creationId xmlns:a16="http://schemas.microsoft.com/office/drawing/2014/main" id="{F98F8365-90D2-47F1-963A-8EF559046196}"/>
              </a:ext>
            </a:extLst>
          </p:cNvPr>
          <p:cNvSpPr>
            <a:spLocks xmlns:a="http://schemas.openxmlformats.org/drawingml/2006/main" noGrp="1"/>
          </p:cNvSpPr>
          <p:nvPr/>
        </p:nvSpPr>
        <p:spPr>
          <a:xfrm xmlns:a="http://schemas.openxmlformats.org/drawingml/2006/main">
            <a:off x="571500" y="4572000"/>
            <a:ext cx="571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5276"/>
                </a:solidFill>
                <a:latin typeface="Arial"/>
                <a:ea typeface="Arial"/>
                <a:cs typeface="Arial"/>
              </a:defRPr>
            </a:pPr>
            <a:r>
              <a:rPr sz="2700" b="1">
                <a:solidFill>
                  <a:srgbClr val="1A5276"/>
                </a:solidFill>
                <a:latin typeface="Arial"/>
                <a:ea typeface="Arial"/>
                <a:cs typeface="Arial"/>
              </a:rPr>
              <a:t>d.</a:t>
            </a:r>
          </a:p>
        </p:txBody>
      </p:sp>
      <p:sp>
        <p:nvSpPr>
          <p:cNvPr id="10" name="Een leerling zegt: “Het totale surplus stijgt, dus alle groe">
            <a:extLst xmlns:a="http://schemas.openxmlformats.org/drawingml/2006/main">
              <a:ext uri="{FF2B5EF4-FFF2-40B4-BE49-F238E27FC236}">
                <a16:creationId xmlns:a16="http://schemas.microsoft.com/office/drawing/2014/main" id="{9803E35F-73FA-44E3-95FC-F148098D86DD}"/>
              </a:ext>
            </a:extLst>
          </p:cNvPr>
          <p:cNvSpPr>
            <a:spLocks xmlns:a="http://schemas.openxmlformats.org/drawingml/2006/main" noGrp="1"/>
          </p:cNvSpPr>
          <p:nvPr/>
        </p:nvSpPr>
        <p:spPr>
          <a:xfrm xmlns:a="http://schemas.openxmlformats.org/drawingml/2006/main">
            <a:off x="1333500" y="4572000"/>
            <a:ext cx="132397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Een leerling zegt: “Het totale surplus stijgt, dus alle groepen gaan erop vooruit.” Beoordeel met een concrete groep. (2p)</a:t>
            </a:r>
          </a:p>
        </p:txBody>
      </p:sp>
      <p:sp>
        <p:nvSpPr>
          <p:cNvPr id="11" name="e.">
            <a:extLst xmlns:a="http://schemas.openxmlformats.org/drawingml/2006/main">
              <a:ext uri="{FF2B5EF4-FFF2-40B4-BE49-F238E27FC236}">
                <a16:creationId xmlns:a16="http://schemas.microsoft.com/office/drawing/2014/main" id="{E465F3C7-A53E-4C03-9ED3-9BEB60FC57BD}"/>
              </a:ext>
            </a:extLst>
          </p:cNvPr>
          <p:cNvSpPr>
            <a:spLocks xmlns:a="http://schemas.openxmlformats.org/drawingml/2006/main" noGrp="1"/>
          </p:cNvSpPr>
          <p:nvPr/>
        </p:nvSpPr>
        <p:spPr>
          <a:xfrm xmlns:a="http://schemas.openxmlformats.org/drawingml/2006/main">
            <a:off x="571500" y="6419850"/>
            <a:ext cx="571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5276"/>
                </a:solidFill>
                <a:latin typeface="Arial"/>
                <a:ea typeface="Arial"/>
                <a:cs typeface="Arial"/>
              </a:defRPr>
            </a:pPr>
            <a:r>
              <a:rPr sz="2700" b="1">
                <a:solidFill>
                  <a:srgbClr val="1A5276"/>
                </a:solidFill>
                <a:latin typeface="Arial"/>
                <a:ea typeface="Arial"/>
                <a:cs typeface="Arial"/>
              </a:rPr>
              <a:t>e.</a:t>
            </a:r>
          </a:p>
        </p:txBody>
      </p:sp>
      <p:sp>
        <p:nvSpPr>
          <p:cNvPr id="12" name="Waarom verandert de wereldmarktprijs in dit model niet als N">
            <a:extLst xmlns:a="http://schemas.openxmlformats.org/drawingml/2006/main">
              <a:ext uri="{FF2B5EF4-FFF2-40B4-BE49-F238E27FC236}">
                <a16:creationId xmlns:a16="http://schemas.microsoft.com/office/drawing/2014/main" id="{42670640-98FA-4217-9932-86999323FBA8}"/>
              </a:ext>
            </a:extLst>
          </p:cNvPr>
          <p:cNvSpPr>
            <a:spLocks xmlns:a="http://schemas.openxmlformats.org/drawingml/2006/main" noGrp="1"/>
          </p:cNvSpPr>
          <p:nvPr/>
        </p:nvSpPr>
        <p:spPr>
          <a:xfrm xmlns:a="http://schemas.openxmlformats.org/drawingml/2006/main">
            <a:off x="1333500" y="6419850"/>
            <a:ext cx="13239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Waarom verandert de wereldmarktprijs in dit model niet als Noro meer importeert? (1p)</a:t>
            </a:r>
          </a:p>
        </p:txBody>
      </p:sp>
    </p:spTree>
    <p:extLst>
      <p:ext uri="{BB962C8B-B14F-4D97-AF65-F5344CB8AC3E}">
        <p14:creationId xmlns:p14="http://schemas.microsoft.com/office/powerpoint/2010/main" val="144718985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17a: aflezen bij € 30">
            <a:extLst xmlns:a="http://schemas.openxmlformats.org/drawingml/2006/main">
              <a:ext uri="{FF2B5EF4-FFF2-40B4-BE49-F238E27FC236}">
                <a16:creationId xmlns:a16="http://schemas.microsoft.com/office/drawing/2014/main" id="{61D4510C-B9C5-4C60-9012-FDE581C515FE}"/>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17a: aflezen bij € 30</a:t>
            </a:r>
          </a:p>
        </p:txBody>
      </p:sp>
      <p:sp>
        <p:nvSpPr>
          <p:cNvPr id="2" name="">
            <a:extLst xmlns:a="http://schemas.openxmlformats.org/drawingml/2006/main">
              <a:ext uri="{FF2B5EF4-FFF2-40B4-BE49-F238E27FC236}">
                <a16:creationId xmlns:a16="http://schemas.microsoft.com/office/drawing/2014/main" id="{66FA38D1-06A6-4F65-A919-EF662A2A333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B7B76CB4-B0B6-4D1B-AB86-362FF8F4E7E5}"/>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§3.3.2 · Antwoord op 17a · Boekpagina 105</a:t>
            </a:r>
          </a:p>
        </p:txBody>
      </p:sp>
      <p:sp>
        <p:nvSpPr>
          <p:cNvPr id="4" name="slide-number">
            <a:extLst xmlns:a="http://schemas.openxmlformats.org/drawingml/2006/main">
              <a:ext uri="{FF2B5EF4-FFF2-40B4-BE49-F238E27FC236}">
                <a16:creationId xmlns:a16="http://schemas.microsoft.com/office/drawing/2014/main" id="{AE52A578-700F-4B8C-B967-03C64901BEF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graphicFrame>
        <p:nvGraphicFramePr>
          <p:cNvPr id="15" name="Chart"/>
          <p:cNvGraphicFramePr/>
          <p:nvPr/>
        </p:nvGraphicFramePr>
        <p:xfrm>
          <a:off xmlns:a="http://schemas.openxmlformats.org/drawingml/2006/main" x="571500" y="2333625"/>
          <a:ext xmlns:a="http://schemas.openxmlformats.org/drawingml/2006/main" cx="9810750" cy="5238750"/>
        </p:xfrm>
        <a:graphic xmlns:a="http://schemas.openxmlformats.org/drawingml/2006/main">
          <a:graphicData uri="http://schemas.openxmlformats.org/drawingml/2006/chart">
            <c:chart xmlns:r="http://schemas.openxmlformats.org/officeDocument/2006/relationships" xmlns:c="http://schemas.openxmlformats.org/drawingml/2006/chart" r:id="Rf7bd58316cd44938"/>
          </a:graphicData>
        </a:graphic>
      </p:graphicFrame>
      <p:sp>
        <p:nvSpPr>
          <p:cNvPr id="6" name="Productie op A">
            <a:extLst xmlns:a="http://schemas.openxmlformats.org/drawingml/2006/main">
              <a:ext uri="{FF2B5EF4-FFF2-40B4-BE49-F238E27FC236}">
                <a16:creationId xmlns:a16="http://schemas.microsoft.com/office/drawing/2014/main" id="{9B8A241A-1C25-418C-B6AC-0707F56B577D}"/>
              </a:ext>
            </a:extLst>
          </p:cNvPr>
          <p:cNvSpPr>
            <a:spLocks xmlns:a="http://schemas.openxmlformats.org/drawingml/2006/main" noGrp="1"/>
          </p:cNvSpPr>
          <p:nvPr/>
        </p:nvSpPr>
        <p:spPr>
          <a:xfrm xmlns:a="http://schemas.openxmlformats.org/drawingml/2006/main">
            <a:off x="10763250" y="2466975"/>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E8449"/>
                </a:solidFill>
                <a:latin typeface="Arial"/>
                <a:ea typeface="Arial"/>
                <a:cs typeface="Arial"/>
              </a:defRPr>
            </a:pPr>
            <a:r>
              <a:rPr sz="2775" b="1">
                <a:solidFill>
                  <a:srgbClr val="1E8449"/>
                </a:solidFill>
                <a:latin typeface="Arial"/>
                <a:ea typeface="Arial"/>
                <a:cs typeface="Arial"/>
              </a:rPr>
              <a:t>Productie op A</a:t>
            </a:r>
          </a:p>
        </p:txBody>
      </p:sp>
      <p:sp>
        <p:nvSpPr>
          <p:cNvPr id="7" name="Qa = 60">
            <a:extLst xmlns:a="http://schemas.openxmlformats.org/drawingml/2006/main">
              <a:ext uri="{FF2B5EF4-FFF2-40B4-BE49-F238E27FC236}">
                <a16:creationId xmlns:a16="http://schemas.microsoft.com/office/drawing/2014/main" id="{C3516626-7B60-46D3-A8FB-2032BA8893C7}"/>
              </a:ext>
            </a:extLst>
          </p:cNvPr>
          <p:cNvSpPr>
            <a:spLocks xmlns:a="http://schemas.openxmlformats.org/drawingml/2006/main" noGrp="1"/>
          </p:cNvSpPr>
          <p:nvPr/>
        </p:nvSpPr>
        <p:spPr>
          <a:xfrm xmlns:a="http://schemas.openxmlformats.org/drawingml/2006/main">
            <a:off x="10763250" y="3171825"/>
            <a:ext cx="390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Qa = 60</a:t>
            </a:r>
          </a:p>
        </p:txBody>
      </p:sp>
      <p:sp>
        <p:nvSpPr>
          <p:cNvPr id="8" name="Verbruik op V">
            <a:extLst xmlns:a="http://schemas.openxmlformats.org/drawingml/2006/main">
              <a:ext uri="{FF2B5EF4-FFF2-40B4-BE49-F238E27FC236}">
                <a16:creationId xmlns:a16="http://schemas.microsoft.com/office/drawing/2014/main" id="{ECA1FB87-108D-4C7E-A91D-5BFBD273E14B}"/>
              </a:ext>
            </a:extLst>
          </p:cNvPr>
          <p:cNvSpPr>
            <a:spLocks xmlns:a="http://schemas.openxmlformats.org/drawingml/2006/main" noGrp="1"/>
          </p:cNvSpPr>
          <p:nvPr/>
        </p:nvSpPr>
        <p:spPr>
          <a:xfrm xmlns:a="http://schemas.openxmlformats.org/drawingml/2006/main">
            <a:off x="10763250" y="4572000"/>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Verbruik op V</a:t>
            </a:r>
          </a:p>
        </p:txBody>
      </p:sp>
      <p:sp>
        <p:nvSpPr>
          <p:cNvPr id="9" name="Qv = 100">
            <a:extLst xmlns:a="http://schemas.openxmlformats.org/drawingml/2006/main">
              <a:ext uri="{FF2B5EF4-FFF2-40B4-BE49-F238E27FC236}">
                <a16:creationId xmlns:a16="http://schemas.microsoft.com/office/drawing/2014/main" id="{9F84E680-C10B-4818-9528-19A6DA380F62}"/>
              </a:ext>
            </a:extLst>
          </p:cNvPr>
          <p:cNvSpPr>
            <a:spLocks xmlns:a="http://schemas.openxmlformats.org/drawingml/2006/main" noGrp="1"/>
          </p:cNvSpPr>
          <p:nvPr/>
        </p:nvSpPr>
        <p:spPr>
          <a:xfrm xmlns:a="http://schemas.openxmlformats.org/drawingml/2006/main">
            <a:off x="10763250" y="5276850"/>
            <a:ext cx="390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Qv = 100</a:t>
            </a:r>
          </a:p>
        </p:txBody>
      </p:sp>
      <p:sp>
        <p:nvSpPr>
          <p:cNvPr id="10" name="Matten per week">
            <a:extLst xmlns:a="http://schemas.openxmlformats.org/drawingml/2006/main">
              <a:ext uri="{FF2B5EF4-FFF2-40B4-BE49-F238E27FC236}">
                <a16:creationId xmlns:a16="http://schemas.microsoft.com/office/drawing/2014/main" id="{68C1E984-B90D-47A4-997D-73C1C0390935}"/>
              </a:ext>
            </a:extLst>
          </p:cNvPr>
          <p:cNvSpPr>
            <a:spLocks xmlns:a="http://schemas.openxmlformats.org/drawingml/2006/main" noGrp="1"/>
          </p:cNvSpPr>
          <p:nvPr/>
        </p:nvSpPr>
        <p:spPr>
          <a:xfrm xmlns:a="http://schemas.openxmlformats.org/drawingml/2006/main">
            <a:off x="10763250" y="6838950"/>
            <a:ext cx="3905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Matten per week</a:t>
            </a:r>
          </a:p>
        </p:txBody>
      </p:sp>
    </p:spTree>
    <p:extLst>
      <p:ext uri="{BB962C8B-B14F-4D97-AF65-F5344CB8AC3E}">
        <p14:creationId xmlns:p14="http://schemas.microsoft.com/office/powerpoint/2010/main" val="179955283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17a: import en controle">
            <a:extLst xmlns:a="http://schemas.openxmlformats.org/drawingml/2006/main">
              <a:ext uri="{FF2B5EF4-FFF2-40B4-BE49-F238E27FC236}">
                <a16:creationId xmlns:a16="http://schemas.microsoft.com/office/drawing/2014/main" id="{5C38CCEC-A8AC-4F46-A054-35CF7CE658ED}"/>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17a: import en controle</a:t>
            </a:r>
          </a:p>
        </p:txBody>
      </p:sp>
      <p:sp>
        <p:nvSpPr>
          <p:cNvPr id="2" name="">
            <a:extLst xmlns:a="http://schemas.openxmlformats.org/drawingml/2006/main">
              <a:ext uri="{FF2B5EF4-FFF2-40B4-BE49-F238E27FC236}">
                <a16:creationId xmlns:a16="http://schemas.microsoft.com/office/drawing/2014/main" id="{18899F2D-B1FD-40EB-9AAD-B56CF562192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B4258805-AEC4-48B9-A4B3-75F69EA776E7}"/>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§3.3.2 · Antwoord op 17a · Boekpagina 105</a:t>
            </a:r>
          </a:p>
        </p:txBody>
      </p:sp>
      <p:sp>
        <p:nvSpPr>
          <p:cNvPr id="4" name="slide-number">
            <a:extLst xmlns:a="http://schemas.openxmlformats.org/drawingml/2006/main">
              <a:ext uri="{FF2B5EF4-FFF2-40B4-BE49-F238E27FC236}">
                <a16:creationId xmlns:a16="http://schemas.microsoft.com/office/drawing/2014/main" id="{5502E960-5277-4447-9BD0-CD0FEBDF0B8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graphicFrame>
        <p:nvGraphicFramePr>
          <p:cNvPr id="11" name=""/>
          <p:cNvGraphicFramePr/>
          <p:nvPr/>
        </p:nvGraphicFramePr>
        <p:xfrm>
          <a:off xmlns:a="http://schemas.openxmlformats.org/drawingml/2006/main" x="571500" y="2333625"/>
          <a:ext xmlns:a="http://schemas.openxmlformats.org/drawingml/2006/main" cx="14097000" cy="4267200"/>
        </p:xfrm>
        <a:graphic xmlns:a="http://schemas.openxmlformats.org/drawingml/2006/main">
          <a:graphicData uri="http://schemas.openxmlformats.org/drawingml/2006/table">
            <a:tbl>
              <a:tblPr/>
              <a:tblGrid>
                <a:gridCol w="4095750"/>
                <a:gridCol w="10001250"/>
              </a:tblGrid>
              <a:tr h="853440">
                <a:tc>
                  <a:txBody>
                    <a:bodyPr lIns="171450" tIns="95250" rIns="152400" bIns="95250"/>
                    <a:lstStyle/>
                    <a:p>
                      <a:r>
                        <a:rPr sz="2775" b="1">
                          <a:solidFill>
                            <a:srgbClr val="FFFFFF"/>
                          </a:solidFill>
                          <a:latin typeface="Arial"/>
                          <a:ea typeface="Arial"/>
                          <a:cs typeface="Arial"/>
                        </a:rPr>
                        <a:t>Stap</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Uitwerking</a:t>
                      </a:r>
                    </a:p>
                  </a:txBody>
                  <a:tcPr marL="91440" marR="91440" marT="45720" marB="45720" anchor="ctr">
                    <a:solidFill>
                      <a:srgbClr val="183247"/>
                    </a:solidFill>
                  </a:tcPr>
                </a:tc>
              </a:tr>
              <a:tr h="853440">
                <a:tc>
                  <a:txBody>
                    <a:bodyPr lIns="171450" tIns="95250" rIns="152400" bIns="95250"/>
                    <a:lstStyle/>
                    <a:p>
                      <a:r>
                        <a:rPr sz="2775" b="0">
                          <a:solidFill>
                            <a:srgbClr val="183247"/>
                          </a:solidFill>
                          <a:latin typeface="Arial"/>
                          <a:ea typeface="Arial"/>
                          <a:cs typeface="Arial"/>
                        </a:rPr>
                        <a:t>Opzet</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Import = Qv − Qa</a:t>
                      </a:r>
                    </a:p>
                  </a:txBody>
                  <a:tcPr marL="91440" marR="91440" marT="45720" marB="45720" anchor="ctr">
                    <a:solidFill>
                      <a:srgbClr val="FFFFFF"/>
                    </a:solidFill>
                  </a:tcPr>
                </a:tc>
              </a:tr>
              <a:tr h="853440">
                <a:tc>
                  <a:txBody>
                    <a:bodyPr lIns="171450" tIns="95250" rIns="152400" bIns="95250"/>
                    <a:lstStyle/>
                    <a:p>
                      <a:r>
                        <a:rPr sz="2775" b="0">
                          <a:solidFill>
                            <a:srgbClr val="183247"/>
                          </a:solidFill>
                          <a:latin typeface="Arial"/>
                          <a:ea typeface="Arial"/>
                          <a:cs typeface="Arial"/>
                        </a:rPr>
                        <a:t>Invullen</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Import = 100 − 60</a:t>
                      </a:r>
                    </a:p>
                  </a:txBody>
                  <a:tcPr marL="91440" marR="91440" marT="45720" marB="45720" anchor="ctr">
                    <a:solidFill>
                      <a:srgbClr val="EFF4F7"/>
                    </a:solidFill>
                  </a:tcPr>
                </a:tc>
              </a:tr>
              <a:tr h="853440">
                <a:tc>
                  <a:txBody>
                    <a:bodyPr lIns="171450" tIns="95250" rIns="152400" bIns="95250"/>
                    <a:lstStyle/>
                    <a:p>
                      <a:r>
                        <a:rPr sz="2775" b="0">
                          <a:solidFill>
                            <a:srgbClr val="183247"/>
                          </a:solidFill>
                          <a:latin typeface="Arial"/>
                          <a:ea typeface="Arial"/>
                          <a:cs typeface="Arial"/>
                        </a:rPr>
                        <a:t>Uitkomst</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40 matten per week</a:t>
                      </a:r>
                    </a:p>
                  </a:txBody>
                  <a:tcPr marL="91440" marR="91440" marT="45720" marB="45720" anchor="ctr">
                    <a:solidFill>
                      <a:srgbClr val="FFFFFF"/>
                    </a:solidFill>
                  </a:tcPr>
                </a:tc>
              </a:tr>
              <a:tr h="853440">
                <a:tc>
                  <a:txBody>
                    <a:bodyPr lIns="171450" tIns="95250" rIns="152400" bIns="95250"/>
                    <a:lstStyle/>
                    <a:p>
                      <a:r>
                        <a:rPr sz="2775" b="0">
                          <a:solidFill>
                            <a:srgbClr val="183247"/>
                          </a:solidFill>
                          <a:latin typeface="Arial"/>
                          <a:ea typeface="Arial"/>
                          <a:cs typeface="Arial"/>
                        </a:rPr>
                        <a:t>Controle</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60 productie + 40 import = 100 verbruik</a:t>
                      </a:r>
                    </a:p>
                  </a:txBody>
                  <a:tcPr marL="91440" marR="91440" marT="45720" marB="45720" anchor="ctr">
                    <a:solidFill>
                      <a:srgbClr val="EFF4F7"/>
                    </a:solidFill>
                  </a:tcPr>
                </a:tc>
              </a:tr>
            </a:tbl>
          </a:graphicData>
        </a:graphic>
      </p:graphicFrame>
      <p:sp>
        <p:nvSpPr>
          <p:cNvPr id="6" name="De wereldmarkt levert het verschil.">
            <a:extLst xmlns:a="http://schemas.openxmlformats.org/drawingml/2006/main">
              <a:ext uri="{FF2B5EF4-FFF2-40B4-BE49-F238E27FC236}">
                <a16:creationId xmlns:a16="http://schemas.microsoft.com/office/drawing/2014/main" id="{40E3DFE4-5B26-410A-980F-B8AFAB2CAC24}"/>
              </a:ext>
            </a:extLst>
          </p:cNvPr>
          <p:cNvSpPr>
            <a:spLocks xmlns:a="http://schemas.openxmlformats.org/drawingml/2006/main" noGrp="1"/>
          </p:cNvSpPr>
          <p:nvPr/>
        </p:nvSpPr>
        <p:spPr>
          <a:xfrm xmlns:a="http://schemas.openxmlformats.org/drawingml/2006/main">
            <a:off x="571500" y="70961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De wereldmarkt levert het verschil.</a:t>
            </a:r>
          </a:p>
        </p:txBody>
      </p:sp>
    </p:spTree>
    <p:extLst>
      <p:ext uri="{BB962C8B-B14F-4D97-AF65-F5344CB8AC3E}">
        <p14:creationId xmlns:p14="http://schemas.microsoft.com/office/powerpoint/2010/main" val="190052008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17b: gevolgen voor binnenlandse producenten">
            <a:extLst xmlns:a="http://schemas.openxmlformats.org/drawingml/2006/main">
              <a:ext uri="{FF2B5EF4-FFF2-40B4-BE49-F238E27FC236}">
                <a16:creationId xmlns:a16="http://schemas.microsoft.com/office/drawing/2014/main" id="{5843D976-72F3-44EF-A194-37C93E23226E}"/>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17b: gevolgen voor binnenlandse producenten</a:t>
            </a:r>
          </a:p>
        </p:txBody>
      </p:sp>
      <p:sp>
        <p:nvSpPr>
          <p:cNvPr id="2" name="">
            <a:extLst xmlns:a="http://schemas.openxmlformats.org/drawingml/2006/main">
              <a:ext uri="{FF2B5EF4-FFF2-40B4-BE49-F238E27FC236}">
                <a16:creationId xmlns:a16="http://schemas.microsoft.com/office/drawing/2014/main" id="{BE58CB05-E32C-4948-9F6B-1E2238E0D8F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55252399-1E02-4863-805E-876F6A170868}"/>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§3.3.2 · Antwoord op 17b · Boekpagina 105</a:t>
            </a:r>
          </a:p>
        </p:txBody>
      </p:sp>
      <p:sp>
        <p:nvSpPr>
          <p:cNvPr id="4" name="slide-number">
            <a:extLst xmlns:a="http://schemas.openxmlformats.org/drawingml/2006/main">
              <a:ext uri="{FF2B5EF4-FFF2-40B4-BE49-F238E27FC236}">
                <a16:creationId xmlns:a16="http://schemas.microsoft.com/office/drawing/2014/main" id="{F8B4AB5A-9C3F-451B-AB75-74C289226AA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graphicFrame>
        <p:nvGraphicFramePr>
          <p:cNvPr id="11" name=""/>
          <p:cNvGraphicFramePr/>
          <p:nvPr/>
        </p:nvGraphicFramePr>
        <p:xfrm>
          <a:off xmlns:a="http://schemas.openxmlformats.org/drawingml/2006/main" x="571500" y="2667000"/>
          <a:ext xmlns:a="http://schemas.openxmlformats.org/drawingml/2006/main" cx="14097000" cy="2857500"/>
        </p:xfrm>
        <a:graphic xmlns:a="http://schemas.openxmlformats.org/drawingml/2006/main">
          <a:graphicData uri="http://schemas.openxmlformats.org/drawingml/2006/table">
            <a:tbl>
              <a:tblPr/>
              <a:tblGrid>
                <a:gridCol w="6667500"/>
                <a:gridCol w="3714750"/>
                <a:gridCol w="3714750"/>
              </a:tblGrid>
              <a:tr h="952500">
                <a:tc>
                  <a:txBody>
                    <a:bodyPr lIns="171450" tIns="95250" rIns="152400" bIns="95250"/>
                    <a:lstStyle/>
                    <a:p>
                      <a:r>
                        <a:rPr sz="2625" b="1">
                          <a:solidFill>
                            <a:srgbClr val="FFFFFF"/>
                          </a:solidFill>
                          <a:latin typeface="Arial"/>
                          <a:ea typeface="Arial"/>
                          <a:cs typeface="Arial"/>
                        </a:rPr>
                        <a:t>Noro</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Zonder handel</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Met import</a:t>
                      </a:r>
                    </a:p>
                  </a:txBody>
                  <a:tcPr marL="91440" marR="91440" marT="45720" marB="45720" anchor="ctr">
                    <a:solidFill>
                      <a:srgbClr val="183247"/>
                    </a:solidFill>
                  </a:tcPr>
                </a:tc>
              </a:tr>
              <a:tr h="952500">
                <a:tc>
                  <a:txBody>
                    <a:bodyPr lIns="171450" tIns="95250" rIns="152400" bIns="95250"/>
                    <a:lstStyle/>
                    <a:p>
                      <a:r>
                        <a:rPr sz="2625" b="0">
                          <a:solidFill>
                            <a:srgbClr val="183247"/>
                          </a:solidFill>
                          <a:latin typeface="Arial"/>
                          <a:ea typeface="Arial"/>
                          <a:cs typeface="Arial"/>
                        </a:rPr>
                        <a:t>Ontvangen prijs per mat</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€ 40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€ 30</a:t>
                      </a:r>
                    </a:p>
                  </a:txBody>
                  <a:tcPr marL="91440" marR="91440" marT="45720" marB="45720" anchor="ctr">
                    <a:solidFill>
                      <a:srgbClr val="FFFFFF"/>
                    </a:solidFill>
                  </a:tcPr>
                </a:tc>
              </a:tr>
              <a:tr h="952500">
                <a:tc>
                  <a:txBody>
                    <a:bodyPr lIns="171450" tIns="95250" rIns="152400" bIns="95250"/>
                    <a:lstStyle/>
                    <a:p>
                      <a:r>
                        <a:rPr sz="2625" b="0">
                          <a:solidFill>
                            <a:srgbClr val="183247"/>
                          </a:solidFill>
                          <a:latin typeface="Arial"/>
                          <a:ea typeface="Arial"/>
                          <a:cs typeface="Arial"/>
                        </a:rPr>
                        <a:t>Binnenlandse productie</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80 per week</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60 per week</a:t>
                      </a:r>
                    </a:p>
                  </a:txBody>
                  <a:tcPr marL="91440" marR="91440" marT="45720" marB="45720" anchor="ctr">
                    <a:solidFill>
                      <a:srgbClr val="EFF4F7"/>
                    </a:solidFill>
                  </a:tcPr>
                </a:tc>
              </a:tr>
            </a:tbl>
          </a:graphicData>
        </a:graphic>
      </p:graphicFrame>
      <p:sp>
        <p:nvSpPr>
          <p:cNvPr id="6" name="Een lagere prijs leidt tot minder binnenlandse productie.">
            <a:extLst xmlns:a="http://schemas.openxmlformats.org/drawingml/2006/main">
              <a:ext uri="{FF2B5EF4-FFF2-40B4-BE49-F238E27FC236}">
                <a16:creationId xmlns:a16="http://schemas.microsoft.com/office/drawing/2014/main" id="{DFFA5414-28F9-4DB7-B234-B1B1454A4DE9}"/>
              </a:ext>
            </a:extLst>
          </p:cNvPr>
          <p:cNvSpPr>
            <a:spLocks xmlns:a="http://schemas.openxmlformats.org/drawingml/2006/main" noGrp="1"/>
          </p:cNvSpPr>
          <p:nvPr/>
        </p:nvSpPr>
        <p:spPr>
          <a:xfrm xmlns:a="http://schemas.openxmlformats.org/drawingml/2006/main">
            <a:off x="571500" y="6324600"/>
            <a:ext cx="14097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E8449"/>
                </a:solidFill>
                <a:latin typeface="Arial"/>
                <a:ea typeface="Arial"/>
                <a:cs typeface="Arial"/>
              </a:defRPr>
            </a:pPr>
            <a:r>
              <a:rPr sz="3150" b="1">
                <a:solidFill>
                  <a:srgbClr val="1E8449"/>
                </a:solidFill>
                <a:latin typeface="Arial"/>
                <a:ea typeface="Arial"/>
                <a:cs typeface="Arial"/>
              </a:rPr>
              <a:t>Een lagere prijs leidt tot minder binnenlandse productie.</a:t>
            </a:r>
          </a:p>
        </p:txBody>
      </p:sp>
    </p:spTree>
    <p:extLst>
      <p:ext uri="{BB962C8B-B14F-4D97-AF65-F5344CB8AC3E}">
        <p14:creationId xmlns:p14="http://schemas.microsoft.com/office/powerpoint/2010/main" val="85956897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17c: consumentensurplus stijgt">
            <a:extLst xmlns:a="http://schemas.openxmlformats.org/drawingml/2006/main">
              <a:ext uri="{FF2B5EF4-FFF2-40B4-BE49-F238E27FC236}">
                <a16:creationId xmlns:a16="http://schemas.microsoft.com/office/drawing/2014/main" id="{2F3E9B2E-C6ED-4CF0-B2BE-7F597AB28616}"/>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17c: consumentensurplus stijgt</a:t>
            </a:r>
          </a:p>
        </p:txBody>
      </p:sp>
      <p:sp>
        <p:nvSpPr>
          <p:cNvPr id="2" name="">
            <a:extLst xmlns:a="http://schemas.openxmlformats.org/drawingml/2006/main">
              <a:ext uri="{FF2B5EF4-FFF2-40B4-BE49-F238E27FC236}">
                <a16:creationId xmlns:a16="http://schemas.microsoft.com/office/drawing/2014/main" id="{84CA19F9-71BE-47A8-B4D0-BEA141EA830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9A03AAA4-2D2F-4C4A-8972-0C7751149832}"/>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§3.3.2 · Antwoord op 17c · Boekpagina 105</a:t>
            </a:r>
          </a:p>
        </p:txBody>
      </p:sp>
      <p:sp>
        <p:nvSpPr>
          <p:cNvPr id="4" name="slide-number">
            <a:extLst xmlns:a="http://schemas.openxmlformats.org/drawingml/2006/main">
              <a:ext uri="{FF2B5EF4-FFF2-40B4-BE49-F238E27FC236}">
                <a16:creationId xmlns:a16="http://schemas.microsoft.com/office/drawing/2014/main" id="{C535A735-295C-4D92-BCD8-0AD1CE88A1A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graphicFrame>
        <p:nvGraphicFramePr>
          <p:cNvPr id="11" name=""/>
          <p:cNvGraphicFramePr/>
          <p:nvPr/>
        </p:nvGraphicFramePr>
        <p:xfrm>
          <a:off xmlns:a="http://schemas.openxmlformats.org/drawingml/2006/main" x="571500" y="2457450"/>
          <a:ext xmlns:a="http://schemas.openxmlformats.org/drawingml/2006/main" cx="14097000" cy="2943225"/>
        </p:xfrm>
        <a:graphic xmlns:a="http://schemas.openxmlformats.org/drawingml/2006/main">
          <a:graphicData uri="http://schemas.openxmlformats.org/drawingml/2006/table">
            <a:tbl>
              <a:tblPr/>
              <a:tblGrid>
                <a:gridCol w="6667500"/>
                <a:gridCol w="3714750"/>
                <a:gridCol w="3714750"/>
              </a:tblGrid>
              <a:tr h="981075">
                <a:tc>
                  <a:txBody>
                    <a:bodyPr lIns="171450" tIns="95250" rIns="152400" bIns="95250"/>
                    <a:lstStyle/>
                    <a:p>
                      <a:r>
                        <a:rPr sz="2625" b="1">
                          <a:solidFill>
                            <a:srgbClr val="FFFFFF"/>
                          </a:solidFill>
                          <a:latin typeface="Arial"/>
                          <a:ea typeface="Arial"/>
                          <a:cs typeface="Arial"/>
                        </a:rPr>
                        <a:t>Binnenlandse kopers</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Zonder handel</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Met import</a:t>
                      </a:r>
                    </a:p>
                  </a:txBody>
                  <a:tcPr marL="91440" marR="91440" marT="45720" marB="45720" anchor="ctr">
                    <a:solidFill>
                      <a:srgbClr val="183247"/>
                    </a:solidFill>
                  </a:tcPr>
                </a:tc>
              </a:tr>
              <a:tr h="981075">
                <a:tc>
                  <a:txBody>
                    <a:bodyPr lIns="171450" tIns="95250" rIns="152400" bIns="95250"/>
                    <a:lstStyle/>
                    <a:p>
                      <a:r>
                        <a:rPr sz="2625" b="0">
                          <a:solidFill>
                            <a:srgbClr val="183247"/>
                          </a:solidFill>
                          <a:latin typeface="Arial"/>
                          <a:ea typeface="Arial"/>
                          <a:cs typeface="Arial"/>
                        </a:rPr>
                        <a:t>Betaalde prijs per mat</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€ 40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€ 30</a:t>
                      </a:r>
                    </a:p>
                  </a:txBody>
                  <a:tcPr marL="91440" marR="91440" marT="45720" marB="45720" anchor="ctr">
                    <a:solidFill>
                      <a:srgbClr val="FFFFFF"/>
                    </a:solidFill>
                  </a:tcPr>
                </a:tc>
              </a:tr>
              <a:tr h="981075">
                <a:tc>
                  <a:txBody>
                    <a:bodyPr lIns="171450" tIns="95250" rIns="152400" bIns="95250"/>
                    <a:lstStyle/>
                    <a:p>
                      <a:r>
                        <a:rPr sz="2625" b="0">
                          <a:solidFill>
                            <a:srgbClr val="183247"/>
                          </a:solidFill>
                          <a:latin typeface="Arial"/>
                          <a:ea typeface="Arial"/>
                          <a:cs typeface="Arial"/>
                        </a:rPr>
                        <a:t>Verbruik</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80 per week</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100 per week</a:t>
                      </a:r>
                    </a:p>
                  </a:txBody>
                  <a:tcPr marL="91440" marR="91440" marT="45720" marB="45720" anchor="ctr">
                    <a:solidFill>
                      <a:srgbClr val="EFF4F7"/>
                    </a:solidFill>
                  </a:tcPr>
                </a:tc>
              </a:tr>
            </a:tbl>
          </a:graphicData>
        </a:graphic>
      </p:graphicFrame>
      <p:sp>
        <p:nvSpPr>
          <p:cNvPr id="6" name="Lagere prijs: meer voordeel ten opzichte van de betalingsber">
            <a:extLst xmlns:a="http://schemas.openxmlformats.org/drawingml/2006/main">
              <a:ext uri="{FF2B5EF4-FFF2-40B4-BE49-F238E27FC236}">
                <a16:creationId xmlns:a16="http://schemas.microsoft.com/office/drawing/2014/main" id="{FB18E99C-D33D-4627-A53F-0E5F12B057B3}"/>
              </a:ext>
            </a:extLst>
          </p:cNvPr>
          <p:cNvSpPr>
            <a:spLocks xmlns:a="http://schemas.openxmlformats.org/drawingml/2006/main" noGrp="1"/>
          </p:cNvSpPr>
          <p:nvPr/>
        </p:nvSpPr>
        <p:spPr>
          <a:xfrm xmlns:a="http://schemas.openxmlformats.org/drawingml/2006/main">
            <a:off x="571500" y="6153150"/>
            <a:ext cx="1409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A5276"/>
                </a:solidFill>
                <a:latin typeface="Arial"/>
                <a:ea typeface="Arial"/>
                <a:cs typeface="Arial"/>
              </a:defRPr>
            </a:pPr>
            <a:r>
              <a:rPr sz="3075" b="1">
                <a:solidFill>
                  <a:srgbClr val="1A5276"/>
                </a:solidFill>
                <a:latin typeface="Arial"/>
                <a:ea typeface="Arial"/>
                <a:cs typeface="Arial"/>
              </a:rPr>
              <a:t>Lagere prijs: meer voordeel ten opzichte van de betalingsbereidheid.</a:t>
            </a:r>
          </a:p>
        </p:txBody>
      </p:sp>
    </p:spTree>
    <p:extLst>
      <p:ext uri="{BB962C8B-B14F-4D97-AF65-F5344CB8AC3E}">
        <p14:creationId xmlns:p14="http://schemas.microsoft.com/office/powerpoint/2010/main" val="133432425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17d: de conclusie over alle groepen is onjuist">
            <a:extLst xmlns:a="http://schemas.openxmlformats.org/drawingml/2006/main">
              <a:ext uri="{FF2B5EF4-FFF2-40B4-BE49-F238E27FC236}">
                <a16:creationId xmlns:a16="http://schemas.microsoft.com/office/drawing/2014/main" id="{A4E8891E-CF46-4386-9DF8-384CCE86CF06}"/>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17d: de conclusie over alle groepen is onjuist</a:t>
            </a:r>
          </a:p>
        </p:txBody>
      </p:sp>
      <p:sp>
        <p:nvSpPr>
          <p:cNvPr id="2" name="">
            <a:extLst xmlns:a="http://schemas.openxmlformats.org/drawingml/2006/main">
              <a:ext uri="{FF2B5EF4-FFF2-40B4-BE49-F238E27FC236}">
                <a16:creationId xmlns:a16="http://schemas.microsoft.com/office/drawing/2014/main" id="{7CD8A32B-F63C-4D9C-B333-90EF42CA7F2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3A27300F-DC64-4D3B-8560-0AEC110E6C5F}"/>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§3.3.2 · Antwoord op 17d · Boekpagina 105</a:t>
            </a:r>
          </a:p>
        </p:txBody>
      </p:sp>
      <p:sp>
        <p:nvSpPr>
          <p:cNvPr id="4" name="slide-number">
            <a:extLst xmlns:a="http://schemas.openxmlformats.org/drawingml/2006/main">
              <a:ext uri="{FF2B5EF4-FFF2-40B4-BE49-F238E27FC236}">
                <a16:creationId xmlns:a16="http://schemas.microsoft.com/office/drawing/2014/main" id="{0E9411BF-F716-4C9A-BEAC-541FF2234A6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graphicFrame>
        <p:nvGraphicFramePr>
          <p:cNvPr id="11" name=""/>
          <p:cNvGraphicFramePr/>
          <p:nvPr/>
        </p:nvGraphicFramePr>
        <p:xfrm>
          <a:off xmlns:a="http://schemas.openxmlformats.org/drawingml/2006/main" x="571500" y="2457450"/>
          <a:ext xmlns:a="http://schemas.openxmlformats.org/drawingml/2006/main" cx="14097000" cy="3067050"/>
        </p:xfrm>
        <a:graphic xmlns:a="http://schemas.openxmlformats.org/drawingml/2006/main">
          <a:graphicData uri="http://schemas.openxmlformats.org/drawingml/2006/table">
            <a:tbl>
              <a:tblPr/>
              <a:tblGrid>
                <a:gridCol w="5334000"/>
                <a:gridCol w="8763000"/>
              </a:tblGrid>
              <a:tr h="1022350">
                <a:tc>
                  <a:txBody>
                    <a:bodyPr lIns="171450" tIns="95250" rIns="152400" bIns="95250"/>
                    <a:lstStyle/>
                    <a:p>
                      <a:r>
                        <a:rPr sz="2775" b="1">
                          <a:solidFill>
                            <a:srgbClr val="FFFFFF"/>
                          </a:solidFill>
                          <a:latin typeface="Arial"/>
                          <a:ea typeface="Arial"/>
                          <a:cs typeface="Arial"/>
                        </a:rPr>
                        <a:t>Binnenlandse groep</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Gevolg van import in Noro</a:t>
                      </a:r>
                    </a:p>
                  </a:txBody>
                  <a:tcPr marL="91440" marR="91440" marT="45720" marB="45720" anchor="ctr">
                    <a:solidFill>
                      <a:srgbClr val="183247"/>
                    </a:solidFill>
                  </a:tcPr>
                </a:tc>
              </a:tr>
              <a:tr h="1022350">
                <a:tc>
                  <a:txBody>
                    <a:bodyPr lIns="171450" tIns="95250" rIns="152400" bIns="95250"/>
                    <a:lstStyle/>
                    <a:p>
                      <a:r>
                        <a:rPr sz="2775" b="0">
                          <a:solidFill>
                            <a:srgbClr val="183247"/>
                          </a:solidFill>
                          <a:latin typeface="Arial"/>
                          <a:ea typeface="Arial"/>
                          <a:cs typeface="Arial"/>
                        </a:rPr>
                        <a:t>Kopers</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CS stijgt.</a:t>
                      </a:r>
                    </a:p>
                  </a:txBody>
                  <a:tcPr marL="91440" marR="91440" marT="45720" marB="45720" anchor="ctr">
                    <a:solidFill>
                      <a:srgbClr val="FFFFFF"/>
                    </a:solidFill>
                  </a:tcPr>
                </a:tc>
              </a:tr>
              <a:tr h="1022350">
                <a:tc>
                  <a:txBody>
                    <a:bodyPr lIns="171450" tIns="95250" rIns="152400" bIns="95250"/>
                    <a:lstStyle/>
                    <a:p>
                      <a:r>
                        <a:rPr sz="2775" b="0">
                          <a:solidFill>
                            <a:srgbClr val="183247"/>
                          </a:solidFill>
                          <a:latin typeface="Arial"/>
                          <a:ea typeface="Arial"/>
                          <a:cs typeface="Arial"/>
                        </a:rPr>
                        <a:t>Producenten</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PS daalt: een lagere prijs en minder productie.</a:t>
                      </a:r>
                    </a:p>
                  </a:txBody>
                  <a:tcPr marL="91440" marR="91440" marT="45720" marB="45720" anchor="ctr">
                    <a:solidFill>
                      <a:srgbClr val="EFF4F7"/>
                    </a:solidFill>
                  </a:tcPr>
                </a:tc>
              </a:tr>
            </a:tbl>
          </a:graphicData>
        </a:graphic>
      </p:graphicFrame>
      <p:sp>
        <p:nvSpPr>
          <p:cNvPr id="6" name="CS + PS stijgt, maar producenten verliezen surplus.">
            <a:extLst xmlns:a="http://schemas.openxmlformats.org/drawingml/2006/main">
              <a:ext uri="{FF2B5EF4-FFF2-40B4-BE49-F238E27FC236}">
                <a16:creationId xmlns:a16="http://schemas.microsoft.com/office/drawing/2014/main" id="{73B247BE-87E5-4BFF-9035-8EB06DC01344}"/>
              </a:ext>
            </a:extLst>
          </p:cNvPr>
          <p:cNvSpPr>
            <a:spLocks xmlns:a="http://schemas.openxmlformats.org/drawingml/2006/main" noGrp="1"/>
          </p:cNvSpPr>
          <p:nvPr/>
        </p:nvSpPr>
        <p:spPr>
          <a:xfrm xmlns:a="http://schemas.openxmlformats.org/drawingml/2006/main">
            <a:off x="571500" y="6400800"/>
            <a:ext cx="1409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CS + PS stijgt, maar producenten verliezen surplus.</a:t>
            </a:r>
          </a:p>
        </p:txBody>
      </p:sp>
    </p:spTree>
    <p:extLst>
      <p:ext uri="{BB962C8B-B14F-4D97-AF65-F5344CB8AC3E}">
        <p14:creationId xmlns:p14="http://schemas.microsoft.com/office/powerpoint/2010/main" val="193429174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17e: Noro is klein en prijsnemend">
            <a:extLst xmlns:a="http://schemas.openxmlformats.org/drawingml/2006/main">
              <a:ext uri="{FF2B5EF4-FFF2-40B4-BE49-F238E27FC236}">
                <a16:creationId xmlns:a16="http://schemas.microsoft.com/office/drawing/2014/main" id="{B9FD2519-6E1D-4EE9-B05D-23CFCA1A699F}"/>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17e: Noro is klein en prijsnemend</a:t>
            </a:r>
          </a:p>
        </p:txBody>
      </p:sp>
      <p:sp>
        <p:nvSpPr>
          <p:cNvPr id="2" name="">
            <a:extLst xmlns:a="http://schemas.openxmlformats.org/drawingml/2006/main">
              <a:ext uri="{FF2B5EF4-FFF2-40B4-BE49-F238E27FC236}">
                <a16:creationId xmlns:a16="http://schemas.microsoft.com/office/drawing/2014/main" id="{9392DCE7-CA38-4581-8108-9D4B8A0B7B6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2FA2AB87-EF13-485C-BAFF-3596DC2F79E7}"/>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§3.3.2 · Antwoord op 17e · Boekpagina 105</a:t>
            </a:r>
          </a:p>
        </p:txBody>
      </p:sp>
      <p:sp>
        <p:nvSpPr>
          <p:cNvPr id="4" name="slide-number">
            <a:extLst xmlns:a="http://schemas.openxmlformats.org/drawingml/2006/main">
              <a:ext uri="{FF2B5EF4-FFF2-40B4-BE49-F238E27FC236}">
                <a16:creationId xmlns:a16="http://schemas.microsoft.com/office/drawing/2014/main" id="{E3DF4FD5-3A1D-4927-8E9E-9C408A3D7F3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Brongegeven">
            <a:extLst xmlns:a="http://schemas.openxmlformats.org/drawingml/2006/main">
              <a:ext uri="{FF2B5EF4-FFF2-40B4-BE49-F238E27FC236}">
                <a16:creationId xmlns:a16="http://schemas.microsoft.com/office/drawing/2014/main" id="{6A1ACF0E-23B5-4904-B2B0-69410401E91F}"/>
              </a:ext>
            </a:extLst>
          </p:cNvPr>
          <p:cNvSpPr>
            <a:spLocks xmlns:a="http://schemas.openxmlformats.org/drawingml/2006/main" noGrp="1"/>
          </p:cNvSpPr>
          <p:nvPr/>
        </p:nvSpPr>
        <p:spPr>
          <a:xfrm xmlns:a="http://schemas.openxmlformats.org/drawingml/2006/main">
            <a:off x="571500" y="2286000"/>
            <a:ext cx="514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Brongegeven</a:t>
            </a:r>
          </a:p>
        </p:txBody>
      </p:sp>
      <p:sp>
        <p:nvSpPr>
          <p:cNvPr id="6" name="Noro beïnvloedt de wereldprijs niet.">
            <a:extLst xmlns:a="http://schemas.openxmlformats.org/drawingml/2006/main">
              <a:ext uri="{FF2B5EF4-FFF2-40B4-BE49-F238E27FC236}">
                <a16:creationId xmlns:a16="http://schemas.microsoft.com/office/drawing/2014/main" id="{49D0ABC9-B086-4F97-BCD3-2FFDDAB8AB62}"/>
              </a:ext>
            </a:extLst>
          </p:cNvPr>
          <p:cNvSpPr>
            <a:spLocks xmlns:a="http://schemas.openxmlformats.org/drawingml/2006/main" noGrp="1"/>
          </p:cNvSpPr>
          <p:nvPr/>
        </p:nvSpPr>
        <p:spPr>
          <a:xfrm xmlns:a="http://schemas.openxmlformats.org/drawingml/2006/main">
            <a:off x="6191250" y="2286000"/>
            <a:ext cx="847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Noro beïnvloedt de wereldprijs niet.</a:t>
            </a:r>
          </a:p>
        </p:txBody>
      </p:sp>
      <p:sp>
        <p:nvSpPr>
          <p:cNvPr id="7" name="">
            <a:extLst xmlns:a="http://schemas.openxmlformats.org/drawingml/2006/main">
              <a:ext uri="{FF2B5EF4-FFF2-40B4-BE49-F238E27FC236}">
                <a16:creationId xmlns:a16="http://schemas.microsoft.com/office/drawing/2014/main" id="{0F2282E9-1832-40CA-B4D7-FAAA9421B572}"/>
              </a:ext>
            </a:extLst>
          </p:cNvPr>
          <p:cNvSpPr>
            <a:spLocks xmlns:a="http://schemas.openxmlformats.org/drawingml/2006/main" noGrp="1"/>
          </p:cNvSpPr>
          <p:nvPr/>
        </p:nvSpPr>
        <p:spPr>
          <a:xfrm xmlns:a="http://schemas.openxmlformats.org/drawingml/2006/main">
            <a:off x="571500" y="3800475"/>
            <a:ext cx="14097000" cy="0"/>
          </a:xfrm>
          <a:prstGeom xmlns:a="http://schemas.openxmlformats.org/drawingml/2006/main" prst="line">
            <a:avLst/>
          </a:prstGeom>
          <a:ln xmlns:a="http://schemas.openxmlformats.org/drawingml/2006/main" w="19050">
            <a:solidFill>
              <a:srgbClr val="C6D2DB"/>
            </a:solidFill>
          </a:ln>
        </p:spPr>
      </p:sp>
      <p:sp>
        <p:nvSpPr>
          <p:cNvPr id="8" name="Gevolg">
            <a:extLst xmlns:a="http://schemas.openxmlformats.org/drawingml/2006/main">
              <a:ext uri="{FF2B5EF4-FFF2-40B4-BE49-F238E27FC236}">
                <a16:creationId xmlns:a16="http://schemas.microsoft.com/office/drawing/2014/main" id="{4F72F7FB-4D8B-4C25-8267-664E70DE343D}"/>
              </a:ext>
            </a:extLst>
          </p:cNvPr>
          <p:cNvSpPr>
            <a:spLocks xmlns:a="http://schemas.openxmlformats.org/drawingml/2006/main" noGrp="1"/>
          </p:cNvSpPr>
          <p:nvPr/>
        </p:nvSpPr>
        <p:spPr>
          <a:xfrm xmlns:a="http://schemas.openxmlformats.org/drawingml/2006/main">
            <a:off x="571500" y="4333875"/>
            <a:ext cx="514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Gevolg</a:t>
            </a:r>
          </a:p>
        </p:txBody>
      </p:sp>
      <p:sp>
        <p:nvSpPr>
          <p:cNvPr id="9" name="Meer import door Noro verandert Pw in dit model niet.">
            <a:extLst xmlns:a="http://schemas.openxmlformats.org/drawingml/2006/main">
              <a:ext uri="{FF2B5EF4-FFF2-40B4-BE49-F238E27FC236}">
                <a16:creationId xmlns:a16="http://schemas.microsoft.com/office/drawing/2014/main" id="{059D575E-DD92-4CE3-BFF6-F3753DD92DAC}"/>
              </a:ext>
            </a:extLst>
          </p:cNvPr>
          <p:cNvSpPr>
            <a:spLocks xmlns:a="http://schemas.openxmlformats.org/drawingml/2006/main" noGrp="1"/>
          </p:cNvSpPr>
          <p:nvPr/>
        </p:nvSpPr>
        <p:spPr>
          <a:xfrm xmlns:a="http://schemas.openxmlformats.org/drawingml/2006/main">
            <a:off x="6191250" y="4333875"/>
            <a:ext cx="8477250"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Meer import door Noro verandert Pw in dit model niet.</a:t>
            </a:r>
          </a:p>
        </p:txBody>
      </p:sp>
      <p:sp>
        <p:nvSpPr>
          <p:cNvPr id="10" name="Dit is een modelaanname voor dit land.">
            <a:extLst xmlns:a="http://schemas.openxmlformats.org/drawingml/2006/main">
              <a:ext uri="{FF2B5EF4-FFF2-40B4-BE49-F238E27FC236}">
                <a16:creationId xmlns:a16="http://schemas.microsoft.com/office/drawing/2014/main" id="{4F88BDFE-7296-432A-A183-4FFE26AE46AE}"/>
              </a:ext>
            </a:extLst>
          </p:cNvPr>
          <p:cNvSpPr>
            <a:spLocks xmlns:a="http://schemas.openxmlformats.org/drawingml/2006/main" noGrp="1"/>
          </p:cNvSpPr>
          <p:nvPr/>
        </p:nvSpPr>
        <p:spPr>
          <a:xfrm xmlns:a="http://schemas.openxmlformats.org/drawingml/2006/main">
            <a:off x="571500" y="7019925"/>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Dit is een modelaanname voor dit land.</a:t>
            </a:r>
          </a:p>
        </p:txBody>
      </p:sp>
    </p:spTree>
    <p:extLst>
      <p:ext uri="{BB962C8B-B14F-4D97-AF65-F5344CB8AC3E}">
        <p14:creationId xmlns:p14="http://schemas.microsoft.com/office/powerpoint/2010/main" val="206714049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Antwoordcontrole bij opgave 17">
            <a:extLst xmlns:a="http://schemas.openxmlformats.org/drawingml/2006/main">
              <a:ext uri="{FF2B5EF4-FFF2-40B4-BE49-F238E27FC236}">
                <a16:creationId xmlns:a16="http://schemas.microsoft.com/office/drawing/2014/main" id="{1514D298-0249-42AB-9E73-D3DEBE514B65}"/>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Antwoordcontrole bij opgave 17</a:t>
            </a:r>
          </a:p>
        </p:txBody>
      </p:sp>
      <p:sp>
        <p:nvSpPr>
          <p:cNvPr id="2" name="">
            <a:extLst xmlns:a="http://schemas.openxmlformats.org/drawingml/2006/main">
              <a:ext uri="{FF2B5EF4-FFF2-40B4-BE49-F238E27FC236}">
                <a16:creationId xmlns:a16="http://schemas.microsoft.com/office/drawing/2014/main" id="{CFF0A3BE-74C2-4718-8863-A172688B949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D2AF7B2F-F4E9-464E-97BE-7E2A2A4DBD44}"/>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§3.3.2 Wereldmarktprijs, import, export en welvaart</a:t>
            </a:r>
          </a:p>
        </p:txBody>
      </p:sp>
      <p:sp>
        <p:nvSpPr>
          <p:cNvPr id="4" name="slide-number">
            <a:extLst xmlns:a="http://schemas.openxmlformats.org/drawingml/2006/main">
              <a:ext uri="{FF2B5EF4-FFF2-40B4-BE49-F238E27FC236}">
                <a16:creationId xmlns:a16="http://schemas.microsoft.com/office/drawing/2014/main" id="{2C262A09-D5FC-4AB5-91BD-5409D8134D8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a.">
            <a:extLst xmlns:a="http://schemas.openxmlformats.org/drawingml/2006/main">
              <a:ext uri="{FF2B5EF4-FFF2-40B4-BE49-F238E27FC236}">
                <a16:creationId xmlns:a16="http://schemas.microsoft.com/office/drawing/2014/main" id="{FE57C95E-F614-42A8-9F6A-77F92D9ADCAE}"/>
              </a:ext>
            </a:extLst>
          </p:cNvPr>
          <p:cNvSpPr>
            <a:spLocks xmlns:a="http://schemas.openxmlformats.org/drawingml/2006/main" noGrp="1"/>
          </p:cNvSpPr>
          <p:nvPr/>
        </p:nvSpPr>
        <p:spPr>
          <a:xfrm xmlns:a="http://schemas.openxmlformats.org/drawingml/2006/main">
            <a:off x="571500" y="1914525"/>
            <a:ext cx="666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a.</a:t>
            </a:r>
          </a:p>
        </p:txBody>
      </p:sp>
      <p:sp>
        <p:nvSpPr>
          <p:cNvPr id="6" name="Productie 60, verbruik 100, import 40 matten per week.">
            <a:extLst xmlns:a="http://schemas.openxmlformats.org/drawingml/2006/main">
              <a:ext uri="{FF2B5EF4-FFF2-40B4-BE49-F238E27FC236}">
                <a16:creationId xmlns:a16="http://schemas.microsoft.com/office/drawing/2014/main" id="{9FD568D5-CA66-4B31-ACDD-8A0F382A097B}"/>
              </a:ext>
            </a:extLst>
          </p:cNvPr>
          <p:cNvSpPr>
            <a:spLocks xmlns:a="http://schemas.openxmlformats.org/drawingml/2006/main" noGrp="1"/>
          </p:cNvSpPr>
          <p:nvPr/>
        </p:nvSpPr>
        <p:spPr>
          <a:xfrm xmlns:a="http://schemas.openxmlformats.org/drawingml/2006/main">
            <a:off x="1476375" y="1914525"/>
            <a:ext cx="1314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Productie 60, verbruik 100, import 40 matten per week.</a:t>
            </a:r>
          </a:p>
        </p:txBody>
      </p:sp>
      <p:sp>
        <p:nvSpPr>
          <p:cNvPr id="7" name="b.">
            <a:extLst xmlns:a="http://schemas.openxmlformats.org/drawingml/2006/main">
              <a:ext uri="{FF2B5EF4-FFF2-40B4-BE49-F238E27FC236}">
                <a16:creationId xmlns:a16="http://schemas.microsoft.com/office/drawing/2014/main" id="{3AF05077-AE87-408B-A52F-C9195897FEE5}"/>
              </a:ext>
            </a:extLst>
          </p:cNvPr>
          <p:cNvSpPr>
            <a:spLocks xmlns:a="http://schemas.openxmlformats.org/drawingml/2006/main" noGrp="1"/>
          </p:cNvSpPr>
          <p:nvPr/>
        </p:nvSpPr>
        <p:spPr>
          <a:xfrm xmlns:a="http://schemas.openxmlformats.org/drawingml/2006/main">
            <a:off x="571500" y="2990850"/>
            <a:ext cx="666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b.</a:t>
            </a:r>
          </a:p>
        </p:txBody>
      </p:sp>
      <p:sp>
        <p:nvSpPr>
          <p:cNvPr id="8" name="Prijs € 40 naar € 30, productie 80 naar 60 per week.">
            <a:extLst xmlns:a="http://schemas.openxmlformats.org/drawingml/2006/main">
              <a:ext uri="{FF2B5EF4-FFF2-40B4-BE49-F238E27FC236}">
                <a16:creationId xmlns:a16="http://schemas.microsoft.com/office/drawing/2014/main" id="{222879D0-1AB0-4EF3-BF9C-06624C66ED71}"/>
              </a:ext>
            </a:extLst>
          </p:cNvPr>
          <p:cNvSpPr>
            <a:spLocks xmlns:a="http://schemas.openxmlformats.org/drawingml/2006/main" noGrp="1"/>
          </p:cNvSpPr>
          <p:nvPr/>
        </p:nvSpPr>
        <p:spPr>
          <a:xfrm xmlns:a="http://schemas.openxmlformats.org/drawingml/2006/main">
            <a:off x="1476375" y="2990850"/>
            <a:ext cx="1314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Prijs € 40 naar € 30, productie 80 naar 60 per week.</a:t>
            </a:r>
          </a:p>
        </p:txBody>
      </p:sp>
      <p:sp>
        <p:nvSpPr>
          <p:cNvPr id="9" name="c.">
            <a:extLst xmlns:a="http://schemas.openxmlformats.org/drawingml/2006/main">
              <a:ext uri="{FF2B5EF4-FFF2-40B4-BE49-F238E27FC236}">
                <a16:creationId xmlns:a16="http://schemas.microsoft.com/office/drawing/2014/main" id="{3710EB4E-AFC7-461C-9258-BB46327C8D8B}"/>
              </a:ext>
            </a:extLst>
          </p:cNvPr>
          <p:cNvSpPr>
            <a:spLocks xmlns:a="http://schemas.openxmlformats.org/drawingml/2006/main" noGrp="1"/>
          </p:cNvSpPr>
          <p:nvPr/>
        </p:nvSpPr>
        <p:spPr>
          <a:xfrm xmlns:a="http://schemas.openxmlformats.org/drawingml/2006/main">
            <a:off x="571500" y="4067175"/>
            <a:ext cx="666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c.</a:t>
            </a:r>
          </a:p>
        </p:txBody>
      </p:sp>
      <p:sp>
        <p:nvSpPr>
          <p:cNvPr id="10" name="CS stijgt: lagere prijs en meer binnenlands verbruik.">
            <a:extLst xmlns:a="http://schemas.openxmlformats.org/drawingml/2006/main">
              <a:ext uri="{FF2B5EF4-FFF2-40B4-BE49-F238E27FC236}">
                <a16:creationId xmlns:a16="http://schemas.microsoft.com/office/drawing/2014/main" id="{25D63329-A848-4C25-8E4C-3514C1E3044E}"/>
              </a:ext>
            </a:extLst>
          </p:cNvPr>
          <p:cNvSpPr>
            <a:spLocks xmlns:a="http://schemas.openxmlformats.org/drawingml/2006/main" noGrp="1"/>
          </p:cNvSpPr>
          <p:nvPr/>
        </p:nvSpPr>
        <p:spPr>
          <a:xfrm xmlns:a="http://schemas.openxmlformats.org/drawingml/2006/main">
            <a:off x="1476375" y="4067175"/>
            <a:ext cx="1314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CS stijgt: lagere prijs en meer binnenlands verbruik.</a:t>
            </a:r>
          </a:p>
        </p:txBody>
      </p:sp>
      <p:sp>
        <p:nvSpPr>
          <p:cNvPr id="11" name="d.">
            <a:extLst xmlns:a="http://schemas.openxmlformats.org/drawingml/2006/main">
              <a:ext uri="{FF2B5EF4-FFF2-40B4-BE49-F238E27FC236}">
                <a16:creationId xmlns:a16="http://schemas.microsoft.com/office/drawing/2014/main" id="{EA0DD420-67D4-4556-B425-FB34464CDC52}"/>
              </a:ext>
            </a:extLst>
          </p:cNvPr>
          <p:cNvSpPr>
            <a:spLocks xmlns:a="http://schemas.openxmlformats.org/drawingml/2006/main" noGrp="1"/>
          </p:cNvSpPr>
          <p:nvPr/>
        </p:nvSpPr>
        <p:spPr>
          <a:xfrm xmlns:a="http://schemas.openxmlformats.org/drawingml/2006/main">
            <a:off x="571500" y="5143500"/>
            <a:ext cx="666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d.</a:t>
            </a:r>
          </a:p>
        </p:txBody>
      </p:sp>
      <p:sp>
        <p:nvSpPr>
          <p:cNvPr id="12" name="Producenten verliezen PS, ondanks een hoger totaal.">
            <a:extLst xmlns:a="http://schemas.openxmlformats.org/drawingml/2006/main">
              <a:ext uri="{FF2B5EF4-FFF2-40B4-BE49-F238E27FC236}">
                <a16:creationId xmlns:a16="http://schemas.microsoft.com/office/drawing/2014/main" id="{FDF83B8C-0C9A-4BCC-B24B-9007CBD2EAD6}"/>
              </a:ext>
            </a:extLst>
          </p:cNvPr>
          <p:cNvSpPr>
            <a:spLocks xmlns:a="http://schemas.openxmlformats.org/drawingml/2006/main" noGrp="1"/>
          </p:cNvSpPr>
          <p:nvPr/>
        </p:nvSpPr>
        <p:spPr>
          <a:xfrm xmlns:a="http://schemas.openxmlformats.org/drawingml/2006/main">
            <a:off x="1476375" y="5143500"/>
            <a:ext cx="1314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Producenten verliezen PS, ondanks een hoger totaal.</a:t>
            </a:r>
          </a:p>
        </p:txBody>
      </p:sp>
      <p:sp>
        <p:nvSpPr>
          <p:cNvPr id="13" name="e.">
            <a:extLst xmlns:a="http://schemas.openxmlformats.org/drawingml/2006/main">
              <a:ext uri="{FF2B5EF4-FFF2-40B4-BE49-F238E27FC236}">
                <a16:creationId xmlns:a16="http://schemas.microsoft.com/office/drawing/2014/main" id="{993DD4C3-D2B5-479C-84F5-4968BC2F4B87}"/>
              </a:ext>
            </a:extLst>
          </p:cNvPr>
          <p:cNvSpPr>
            <a:spLocks xmlns:a="http://schemas.openxmlformats.org/drawingml/2006/main" noGrp="1"/>
          </p:cNvSpPr>
          <p:nvPr/>
        </p:nvSpPr>
        <p:spPr>
          <a:xfrm xmlns:a="http://schemas.openxmlformats.org/drawingml/2006/main">
            <a:off x="571500" y="6219825"/>
            <a:ext cx="666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e.</a:t>
            </a:r>
          </a:p>
        </p:txBody>
      </p:sp>
      <p:sp>
        <p:nvSpPr>
          <p:cNvPr id="14" name="Noro is volgens de bron klein en prijsnemend.">
            <a:extLst xmlns:a="http://schemas.openxmlformats.org/drawingml/2006/main">
              <a:ext uri="{FF2B5EF4-FFF2-40B4-BE49-F238E27FC236}">
                <a16:creationId xmlns:a16="http://schemas.microsoft.com/office/drawing/2014/main" id="{895C1173-FFA4-4A0B-B6CE-7B9C541085F8}"/>
              </a:ext>
            </a:extLst>
          </p:cNvPr>
          <p:cNvSpPr>
            <a:spLocks xmlns:a="http://schemas.openxmlformats.org/drawingml/2006/main" noGrp="1"/>
          </p:cNvSpPr>
          <p:nvPr/>
        </p:nvSpPr>
        <p:spPr>
          <a:xfrm xmlns:a="http://schemas.openxmlformats.org/drawingml/2006/main">
            <a:off x="1476375" y="6219825"/>
            <a:ext cx="1314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Noro is volgens de bron klein en prijsnemend.</a:t>
            </a:r>
          </a:p>
        </p:txBody>
      </p:sp>
      <p:sp>
        <p:nvSpPr>
          <p:cNvPr id="15" name="Verbeter een ontbrekende stap in je eigen antwoord.">
            <a:extLst xmlns:a="http://schemas.openxmlformats.org/drawingml/2006/main">
              <a:ext uri="{FF2B5EF4-FFF2-40B4-BE49-F238E27FC236}">
                <a16:creationId xmlns:a16="http://schemas.microsoft.com/office/drawing/2014/main" id="{651A6B69-922D-486F-89D6-52A0369EB5D9}"/>
              </a:ext>
            </a:extLst>
          </p:cNvPr>
          <p:cNvSpPr>
            <a:spLocks xmlns:a="http://schemas.openxmlformats.org/drawingml/2006/main" noGrp="1"/>
          </p:cNvSpPr>
          <p:nvPr/>
        </p:nvSpPr>
        <p:spPr>
          <a:xfrm xmlns:a="http://schemas.openxmlformats.org/drawingml/2006/main">
            <a:off x="571500" y="7429500"/>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Verbeter een ontbrekende stap in je eigen antwoord.</a:t>
            </a:r>
          </a:p>
        </p:txBody>
      </p:sp>
    </p:spTree>
    <p:extLst>
      <p:ext uri="{BB962C8B-B14F-4D97-AF65-F5344CB8AC3E}">
        <p14:creationId xmlns:p14="http://schemas.microsoft.com/office/powerpoint/2010/main" val="121642227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overview-title">
            <a:extLst xmlns:a="http://schemas.openxmlformats.org/drawingml/2006/main">
              <a:ext uri="{FF2B5EF4-FFF2-40B4-BE49-F238E27FC236}">
                <a16:creationId xmlns:a16="http://schemas.microsoft.com/office/drawing/2014/main" id="{781A7531-8F80-44DB-BED2-DC53EC6FC354}"/>
              </a:ext>
            </a:extLst>
          </p:cNvPr>
          <p:cNvSpPr>
            <a:spLocks xmlns:a="http://schemas.openxmlformats.org/drawingml/2006/main" noGrp="1"/>
          </p:cNvSpPr>
          <p:nvPr/>
        </p:nvSpPr>
        <p:spPr>
          <a:xfrm xmlns:a="http://schemas.openxmlformats.org/drawingml/2006/main">
            <a:off x="571500" y="285750"/>
            <a:ext cx="1409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Deze les: §3.3.2 Wereldmarktprijs,</a:t>
            </a:r>
          </a:p>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import, export en welvaart</a:t>
            </a:r>
          </a:p>
        </p:txBody>
      </p:sp>
      <p:sp>
        <p:nvSpPr>
          <p:cNvPr id="2" name="phase">
            <a:extLst xmlns:a="http://schemas.openxmlformats.org/drawingml/2006/main">
              <a:ext uri="{FF2B5EF4-FFF2-40B4-BE49-F238E27FC236}">
                <a16:creationId xmlns:a16="http://schemas.microsoft.com/office/drawing/2014/main" id="{0264D9C2-8C09-42EA-AE5C-6768503AD5C4}"/>
              </a:ext>
            </a:extLst>
          </p:cNvPr>
          <p:cNvSpPr>
            <a:spLocks xmlns:a="http://schemas.openxmlformats.org/drawingml/2006/main" noGrp="1"/>
          </p:cNvSpPr>
          <p:nvPr/>
        </p:nvSpPr>
        <p:spPr>
          <a:xfrm xmlns:a="http://schemas.openxmlformats.org/drawingml/2006/main">
            <a:off x="571500" y="14478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Afsluiting en huiswerk</a:t>
            </a:r>
          </a:p>
        </p:txBody>
      </p:sp>
      <p:sp>
        <p:nvSpPr>
          <p:cNvPr id="3" name="">
            <a:extLst xmlns:a="http://schemas.openxmlformats.org/drawingml/2006/main">
              <a:ext uri="{FF2B5EF4-FFF2-40B4-BE49-F238E27FC236}">
                <a16:creationId xmlns:a16="http://schemas.microsoft.com/office/drawing/2014/main" id="{D18861A7-C9EC-462B-A887-755AFDA6E948}"/>
              </a:ext>
            </a:extLst>
          </p:cNvPr>
          <p:cNvSpPr>
            <a:spLocks xmlns:a="http://schemas.openxmlformats.org/drawingml/2006/main" noGrp="1"/>
          </p:cNvSpPr>
          <p:nvPr/>
        </p:nvSpPr>
        <p:spPr>
          <a:xfrm xmlns:a="http://schemas.openxmlformats.org/drawingml/2006/main">
            <a:off x="571500" y="1885950"/>
            <a:ext cx="14097000" cy="0"/>
          </a:xfrm>
          <a:prstGeom xmlns:a="http://schemas.openxmlformats.org/drawingml/2006/main" prst="line">
            <a:avLst/>
          </a:prstGeom>
          <a:ln xmlns:a="http://schemas.openxmlformats.org/drawingml/2006/main" w="19050">
            <a:solidFill>
              <a:srgbClr val="C6D2DB"/>
            </a:solidFill>
          </a:ln>
        </p:spPr>
      </p:sp>
      <p:sp>
        <p:nvSpPr>
          <p:cNvPr id="4" name="Lesroute">
            <a:extLst xmlns:a="http://schemas.openxmlformats.org/drawingml/2006/main">
              <a:ext uri="{FF2B5EF4-FFF2-40B4-BE49-F238E27FC236}">
                <a16:creationId xmlns:a16="http://schemas.microsoft.com/office/drawing/2014/main" id="{71439985-D82A-4AF2-AFD5-68AF1541E685}"/>
              </a:ext>
            </a:extLst>
          </p:cNvPr>
          <p:cNvSpPr>
            <a:spLocks xmlns:a="http://schemas.openxmlformats.org/drawingml/2006/main" noGrp="1"/>
          </p:cNvSpPr>
          <p:nvPr/>
        </p:nvSpPr>
        <p:spPr>
          <a:xfrm xmlns:a="http://schemas.openxmlformats.org/drawingml/2006/main">
            <a:off x="571500" y="2095500"/>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Lesroute</a:t>
            </a:r>
          </a:p>
        </p:txBody>
      </p:sp>
      <p:sp>
        <p:nvSpPr>
          <p:cNvPr id="5" name="route-number-1">
            <a:extLst xmlns:a="http://schemas.openxmlformats.org/drawingml/2006/main">
              <a:ext uri="{FF2B5EF4-FFF2-40B4-BE49-F238E27FC236}">
                <a16:creationId xmlns:a16="http://schemas.microsoft.com/office/drawing/2014/main" id="{946E6DC1-EC18-43EB-BE2A-0266F81D29DD}"/>
              </a:ext>
            </a:extLst>
          </p:cNvPr>
          <p:cNvSpPr>
            <a:spLocks xmlns:a="http://schemas.openxmlformats.org/drawingml/2006/main" noGrp="1"/>
          </p:cNvSpPr>
          <p:nvPr/>
        </p:nvSpPr>
        <p:spPr>
          <a:xfrm xmlns:a="http://schemas.openxmlformats.org/drawingml/2006/main">
            <a:off x="571500" y="26289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6" name="route-1">
            <a:extLst xmlns:a="http://schemas.openxmlformats.org/drawingml/2006/main">
              <a:ext uri="{FF2B5EF4-FFF2-40B4-BE49-F238E27FC236}">
                <a16:creationId xmlns:a16="http://schemas.microsoft.com/office/drawing/2014/main" id="{67D50055-E732-4002-B8FC-11C2494DD145}"/>
              </a:ext>
            </a:extLst>
          </p:cNvPr>
          <p:cNvSpPr>
            <a:spLocks xmlns:a="http://schemas.openxmlformats.org/drawingml/2006/main" noGrp="1"/>
          </p:cNvSpPr>
          <p:nvPr/>
        </p:nvSpPr>
        <p:spPr>
          <a:xfrm xmlns:a="http://schemas.openxmlformats.org/drawingml/2006/main">
            <a:off x="1104900" y="26289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7" name="route-number-2">
            <a:extLst xmlns:a="http://schemas.openxmlformats.org/drawingml/2006/main">
              <a:ext uri="{FF2B5EF4-FFF2-40B4-BE49-F238E27FC236}">
                <a16:creationId xmlns:a16="http://schemas.microsoft.com/office/drawing/2014/main" id="{B9BA24F3-BC25-430F-AE6D-4916A95754F5}"/>
              </a:ext>
            </a:extLst>
          </p:cNvPr>
          <p:cNvSpPr>
            <a:spLocks xmlns:a="http://schemas.openxmlformats.org/drawingml/2006/main" noGrp="1"/>
          </p:cNvSpPr>
          <p:nvPr/>
        </p:nvSpPr>
        <p:spPr>
          <a:xfrm xmlns:a="http://schemas.openxmlformats.org/drawingml/2006/main">
            <a:off x="571500" y="34575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8" name="route-2">
            <a:extLst xmlns:a="http://schemas.openxmlformats.org/drawingml/2006/main">
              <a:ext uri="{FF2B5EF4-FFF2-40B4-BE49-F238E27FC236}">
                <a16:creationId xmlns:a16="http://schemas.microsoft.com/office/drawing/2014/main" id="{1B9731B9-7EF0-4A78-8249-58CF8CBB9402}"/>
              </a:ext>
            </a:extLst>
          </p:cNvPr>
          <p:cNvSpPr>
            <a:spLocks xmlns:a="http://schemas.openxmlformats.org/drawingml/2006/main" noGrp="1"/>
          </p:cNvSpPr>
          <p:nvPr/>
        </p:nvSpPr>
        <p:spPr>
          <a:xfrm xmlns:a="http://schemas.openxmlformats.org/drawingml/2006/main">
            <a:off x="1104900" y="3457575"/>
            <a:ext cx="7419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9" name="route-number-3">
            <a:extLst xmlns:a="http://schemas.openxmlformats.org/drawingml/2006/main">
              <a:ext uri="{FF2B5EF4-FFF2-40B4-BE49-F238E27FC236}">
                <a16:creationId xmlns:a16="http://schemas.microsoft.com/office/drawing/2014/main" id="{994630A9-8A37-4340-97F0-F14E3CC6E822}"/>
              </a:ext>
            </a:extLst>
          </p:cNvPr>
          <p:cNvSpPr>
            <a:spLocks xmlns:a="http://schemas.openxmlformats.org/drawingml/2006/main" noGrp="1"/>
          </p:cNvSpPr>
          <p:nvPr/>
        </p:nvSpPr>
        <p:spPr>
          <a:xfrm xmlns:a="http://schemas.openxmlformats.org/drawingml/2006/main">
            <a:off x="571500" y="3905250"/>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0" name="route-3">
            <a:extLst xmlns:a="http://schemas.openxmlformats.org/drawingml/2006/main">
              <a:ext uri="{FF2B5EF4-FFF2-40B4-BE49-F238E27FC236}">
                <a16:creationId xmlns:a16="http://schemas.microsoft.com/office/drawing/2014/main" id="{4E704784-537E-4E2B-A71B-3A562F9481A2}"/>
              </a:ext>
            </a:extLst>
          </p:cNvPr>
          <p:cNvSpPr>
            <a:spLocks xmlns:a="http://schemas.openxmlformats.org/drawingml/2006/main" noGrp="1"/>
          </p:cNvSpPr>
          <p:nvPr/>
        </p:nvSpPr>
        <p:spPr>
          <a:xfrm xmlns:a="http://schemas.openxmlformats.org/drawingml/2006/main">
            <a:off x="1104900" y="3905250"/>
            <a:ext cx="7419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1" name="route-number-4">
            <a:extLst xmlns:a="http://schemas.openxmlformats.org/drawingml/2006/main">
              <a:ext uri="{FF2B5EF4-FFF2-40B4-BE49-F238E27FC236}">
                <a16:creationId xmlns:a16="http://schemas.microsoft.com/office/drawing/2014/main" id="{3220C6DA-1A02-422F-A460-A1F73A94F39C}"/>
              </a:ext>
            </a:extLst>
          </p:cNvPr>
          <p:cNvSpPr>
            <a:spLocks xmlns:a="http://schemas.openxmlformats.org/drawingml/2006/main" noGrp="1"/>
          </p:cNvSpPr>
          <p:nvPr/>
        </p:nvSpPr>
        <p:spPr>
          <a:xfrm xmlns:a="http://schemas.openxmlformats.org/drawingml/2006/main">
            <a:off x="571500" y="4352925"/>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2" name="route-4">
            <a:extLst xmlns:a="http://schemas.openxmlformats.org/drawingml/2006/main">
              <a:ext uri="{FF2B5EF4-FFF2-40B4-BE49-F238E27FC236}">
                <a16:creationId xmlns:a16="http://schemas.microsoft.com/office/drawing/2014/main" id="{47B7A4C6-815D-4270-BD8B-6013E849A5F9}"/>
              </a:ext>
            </a:extLst>
          </p:cNvPr>
          <p:cNvSpPr>
            <a:spLocks xmlns:a="http://schemas.openxmlformats.org/drawingml/2006/main" noGrp="1"/>
          </p:cNvSpPr>
          <p:nvPr/>
        </p:nvSpPr>
        <p:spPr>
          <a:xfrm xmlns:a="http://schemas.openxmlformats.org/drawingml/2006/main">
            <a:off x="1104900" y="4352925"/>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3" name="route-number-5">
            <a:extLst xmlns:a="http://schemas.openxmlformats.org/drawingml/2006/main">
              <a:ext uri="{FF2B5EF4-FFF2-40B4-BE49-F238E27FC236}">
                <a16:creationId xmlns:a16="http://schemas.microsoft.com/office/drawing/2014/main" id="{BED4B3AF-2751-4FFD-ADEA-3611C3C5586D}"/>
              </a:ext>
            </a:extLst>
          </p:cNvPr>
          <p:cNvSpPr>
            <a:spLocks xmlns:a="http://schemas.openxmlformats.org/drawingml/2006/main" noGrp="1"/>
          </p:cNvSpPr>
          <p:nvPr/>
        </p:nvSpPr>
        <p:spPr>
          <a:xfrm xmlns:a="http://schemas.openxmlformats.org/drawingml/2006/main">
            <a:off x="571500" y="6143625"/>
            <a:ext cx="457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4" name="route-5">
            <a:extLst xmlns:a="http://schemas.openxmlformats.org/drawingml/2006/main">
              <a:ext uri="{FF2B5EF4-FFF2-40B4-BE49-F238E27FC236}">
                <a16:creationId xmlns:a16="http://schemas.microsoft.com/office/drawing/2014/main" id="{F9B5E843-0528-416D-BB5A-B9C6653E9FF7}"/>
              </a:ext>
            </a:extLst>
          </p:cNvPr>
          <p:cNvSpPr>
            <a:spLocks xmlns:a="http://schemas.openxmlformats.org/drawingml/2006/main" noGrp="1"/>
          </p:cNvSpPr>
          <p:nvPr/>
        </p:nvSpPr>
        <p:spPr>
          <a:xfrm xmlns:a="http://schemas.openxmlformats.org/drawingml/2006/main">
            <a:off x="1104900" y="6143625"/>
            <a:ext cx="74199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5" name="route-number-6">
            <a:extLst xmlns:a="http://schemas.openxmlformats.org/drawingml/2006/main">
              <a:ext uri="{FF2B5EF4-FFF2-40B4-BE49-F238E27FC236}">
                <a16:creationId xmlns:a16="http://schemas.microsoft.com/office/drawing/2014/main" id="{9974ACF9-4123-43B6-AAF1-D3CF1F078989}"/>
              </a:ext>
            </a:extLst>
          </p:cNvPr>
          <p:cNvSpPr>
            <a:spLocks xmlns:a="http://schemas.openxmlformats.org/drawingml/2006/main" noGrp="1"/>
          </p:cNvSpPr>
          <p:nvPr/>
        </p:nvSpPr>
        <p:spPr>
          <a:xfrm xmlns:a="http://schemas.openxmlformats.org/drawingml/2006/main">
            <a:off x="571500" y="682942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6" name="route-6">
            <a:extLst xmlns:a="http://schemas.openxmlformats.org/drawingml/2006/main">
              <a:ext uri="{FF2B5EF4-FFF2-40B4-BE49-F238E27FC236}">
                <a16:creationId xmlns:a16="http://schemas.microsoft.com/office/drawing/2014/main" id="{48F887A3-4CB4-4D79-86A6-7E6F9E60F919}"/>
              </a:ext>
            </a:extLst>
          </p:cNvPr>
          <p:cNvSpPr>
            <a:spLocks xmlns:a="http://schemas.openxmlformats.org/drawingml/2006/main" noGrp="1"/>
          </p:cNvSpPr>
          <p:nvPr/>
        </p:nvSpPr>
        <p:spPr>
          <a:xfrm xmlns:a="http://schemas.openxmlformats.org/drawingml/2006/main">
            <a:off x="1104900" y="6829425"/>
            <a:ext cx="7419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17.</a:t>
            </a:r>
          </a:p>
        </p:txBody>
      </p:sp>
      <p:sp>
        <p:nvSpPr>
          <p:cNvPr id="17" name="route-number-7">
            <a:extLst xmlns:a="http://schemas.openxmlformats.org/drawingml/2006/main">
              <a:ext uri="{FF2B5EF4-FFF2-40B4-BE49-F238E27FC236}">
                <a16:creationId xmlns:a16="http://schemas.microsoft.com/office/drawing/2014/main" id="{95DFABDC-AF5F-45E7-9F72-29BE5F4BFDC6}"/>
              </a:ext>
            </a:extLst>
          </p:cNvPr>
          <p:cNvSpPr>
            <a:spLocks xmlns:a="http://schemas.openxmlformats.org/drawingml/2006/main" noGrp="1"/>
          </p:cNvSpPr>
          <p:nvPr/>
        </p:nvSpPr>
        <p:spPr>
          <a:xfrm xmlns:a="http://schemas.openxmlformats.org/drawingml/2006/main">
            <a:off x="571500" y="740092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7.</a:t>
            </a:r>
          </a:p>
        </p:txBody>
      </p:sp>
      <p:sp>
        <p:nvSpPr>
          <p:cNvPr id="18" name="route-7">
            <a:extLst xmlns:a="http://schemas.openxmlformats.org/drawingml/2006/main">
              <a:ext uri="{FF2B5EF4-FFF2-40B4-BE49-F238E27FC236}">
                <a16:creationId xmlns:a16="http://schemas.microsoft.com/office/drawing/2014/main" id="{84DE8C57-0900-49B1-A3F6-BBC3231F98E7}"/>
              </a:ext>
            </a:extLst>
          </p:cNvPr>
          <p:cNvSpPr>
            <a:spLocks xmlns:a="http://schemas.openxmlformats.org/drawingml/2006/main" noGrp="1"/>
          </p:cNvSpPr>
          <p:nvPr/>
        </p:nvSpPr>
        <p:spPr>
          <a:xfrm xmlns:a="http://schemas.openxmlformats.org/drawingml/2006/main">
            <a:off x="1104900" y="7400925"/>
            <a:ext cx="7419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Zet je huiswerk in je agenda.</a:t>
            </a:r>
          </a:p>
        </p:txBody>
      </p:sp>
      <p:sp>
        <p:nvSpPr>
          <p:cNvPr id="19" name="Lesdoelen">
            <a:extLst xmlns:a="http://schemas.openxmlformats.org/drawingml/2006/main">
              <a:ext uri="{FF2B5EF4-FFF2-40B4-BE49-F238E27FC236}">
                <a16:creationId xmlns:a16="http://schemas.microsoft.com/office/drawing/2014/main" id="{79B05C69-7CAC-4241-AC7F-897F71376585}"/>
              </a:ext>
            </a:extLst>
          </p:cNvPr>
          <p:cNvSpPr>
            <a:spLocks xmlns:a="http://schemas.openxmlformats.org/drawingml/2006/main" noGrp="1"/>
          </p:cNvSpPr>
          <p:nvPr/>
        </p:nvSpPr>
        <p:spPr>
          <a:xfrm xmlns:a="http://schemas.openxmlformats.org/drawingml/2006/main">
            <a:off x="9258300" y="2095500"/>
            <a:ext cx="5410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Lesdoelen</a:t>
            </a:r>
          </a:p>
        </p:txBody>
      </p:sp>
      <p:sp>
        <p:nvSpPr>
          <p:cNvPr id="20" name="overview-goals">
            <a:extLst xmlns:a="http://schemas.openxmlformats.org/drawingml/2006/main">
              <a:ext uri="{FF2B5EF4-FFF2-40B4-BE49-F238E27FC236}">
                <a16:creationId xmlns:a16="http://schemas.microsoft.com/office/drawing/2014/main" id="{211A0ABF-72D3-4235-847A-6088BDE95DD0}"/>
              </a:ext>
            </a:extLst>
          </p:cNvPr>
          <p:cNvSpPr>
            <a:spLocks xmlns:a="http://schemas.openxmlformats.org/drawingml/2006/main" noGrp="1"/>
          </p:cNvSpPr>
          <p:nvPr/>
        </p:nvSpPr>
        <p:spPr>
          <a:xfrm xmlns:a="http://schemas.openxmlformats.org/drawingml/2006/main">
            <a:off x="9258300" y="2628900"/>
            <a:ext cx="5410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Prijzen vergelijken, productie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verbruik bepalen, handelsstromen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en gevolgen voor groepen uitleggen.</a:t>
            </a:r>
          </a:p>
        </p:txBody>
      </p:sp>
      <p:sp>
        <p:nvSpPr>
          <p:cNvPr id="21" name="">
            <a:extLst xmlns:a="http://schemas.openxmlformats.org/drawingml/2006/main">
              <a:ext uri="{FF2B5EF4-FFF2-40B4-BE49-F238E27FC236}">
                <a16:creationId xmlns:a16="http://schemas.microsoft.com/office/drawing/2014/main" id="{F4BC3836-89A0-4BB4-A175-7F6721F2DE5D}"/>
              </a:ext>
            </a:extLst>
          </p:cNvPr>
          <p:cNvSpPr>
            <a:spLocks xmlns:a="http://schemas.openxmlformats.org/drawingml/2006/main" noGrp="1"/>
          </p:cNvSpPr>
          <p:nvPr/>
        </p:nvSpPr>
        <p:spPr>
          <a:xfrm xmlns:a="http://schemas.openxmlformats.org/drawingml/2006/main">
            <a:off x="9258300" y="3857625"/>
            <a:ext cx="5410200" cy="0"/>
          </a:xfrm>
          <a:prstGeom xmlns:a="http://schemas.openxmlformats.org/drawingml/2006/main" prst="line">
            <a:avLst/>
          </a:prstGeom>
          <a:ln xmlns:a="http://schemas.openxmlformats.org/drawingml/2006/main" w="19050">
            <a:solidFill>
              <a:srgbClr val="C6D2DB"/>
            </a:solidFill>
          </a:ln>
        </p:spPr>
      </p:sp>
      <p:sp>
        <p:nvSpPr>
          <p:cNvPr id="22" name="Startopdracht">
            <a:extLst xmlns:a="http://schemas.openxmlformats.org/drawingml/2006/main">
              <a:ext uri="{FF2B5EF4-FFF2-40B4-BE49-F238E27FC236}">
                <a16:creationId xmlns:a16="http://schemas.microsoft.com/office/drawing/2014/main" id="{B8FF4FCE-2244-4129-B8C6-984309B21E47}"/>
              </a:ext>
            </a:extLst>
          </p:cNvPr>
          <p:cNvSpPr>
            <a:spLocks xmlns:a="http://schemas.openxmlformats.org/drawingml/2006/main" noGrp="1"/>
          </p:cNvSpPr>
          <p:nvPr/>
        </p:nvSpPr>
        <p:spPr>
          <a:xfrm xmlns:a="http://schemas.openxmlformats.org/drawingml/2006/main">
            <a:off x="9258300" y="4057650"/>
            <a:ext cx="5410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Startopdracht</a:t>
            </a:r>
          </a:p>
        </p:txBody>
      </p:sp>
      <p:sp>
        <p:nvSpPr>
          <p:cNvPr id="23" name="overview-start">
            <a:extLst xmlns:a="http://schemas.openxmlformats.org/drawingml/2006/main">
              <a:ext uri="{FF2B5EF4-FFF2-40B4-BE49-F238E27FC236}">
                <a16:creationId xmlns:a16="http://schemas.microsoft.com/office/drawing/2014/main" id="{91373AF6-C8E6-48C4-B7DA-6B1E14F73DEA}"/>
              </a:ext>
            </a:extLst>
          </p:cNvPr>
          <p:cNvSpPr>
            <a:spLocks xmlns:a="http://schemas.openxmlformats.org/drawingml/2006/main" noGrp="1"/>
          </p:cNvSpPr>
          <p:nvPr/>
        </p:nvSpPr>
        <p:spPr>
          <a:xfrm xmlns:a="http://schemas.openxmlformats.org/drawingml/2006/main">
            <a:off x="9258300" y="4581525"/>
            <a:ext cx="54102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102 · Opgaven 11 en 12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12: verkennen met de theorie,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 97–98</a:t>
            </a:r>
          </a:p>
        </p:txBody>
      </p:sp>
      <p:sp>
        <p:nvSpPr>
          <p:cNvPr id="24" name="">
            <a:extLst xmlns:a="http://schemas.openxmlformats.org/drawingml/2006/main">
              <a:ext uri="{FF2B5EF4-FFF2-40B4-BE49-F238E27FC236}">
                <a16:creationId xmlns:a16="http://schemas.microsoft.com/office/drawing/2014/main" id="{48216531-9630-4E44-85B2-27C2BC2E901B}"/>
              </a:ext>
            </a:extLst>
          </p:cNvPr>
          <p:cNvSpPr>
            <a:spLocks xmlns:a="http://schemas.openxmlformats.org/drawingml/2006/main" noGrp="1"/>
          </p:cNvSpPr>
          <p:nvPr/>
        </p:nvSpPr>
        <p:spPr>
          <a:xfrm xmlns:a="http://schemas.openxmlformats.org/drawingml/2006/main">
            <a:off x="9258300" y="5791200"/>
            <a:ext cx="5410200" cy="0"/>
          </a:xfrm>
          <a:prstGeom xmlns:a="http://schemas.openxmlformats.org/drawingml/2006/main" prst="line">
            <a:avLst/>
          </a:prstGeom>
          <a:ln xmlns:a="http://schemas.openxmlformats.org/drawingml/2006/main" w="19050">
            <a:solidFill>
              <a:srgbClr val="C6D2DB"/>
            </a:solidFill>
          </a:ln>
        </p:spPr>
      </p:sp>
      <p:sp>
        <p:nvSpPr>
          <p:cNvPr id="25" name="Huiswerk">
            <a:extLst xmlns:a="http://schemas.openxmlformats.org/drawingml/2006/main">
              <a:ext uri="{FF2B5EF4-FFF2-40B4-BE49-F238E27FC236}">
                <a16:creationId xmlns:a16="http://schemas.microsoft.com/office/drawing/2014/main" id="{6AC47F69-51AE-4A2F-A64E-2074D70DC927}"/>
              </a:ext>
            </a:extLst>
          </p:cNvPr>
          <p:cNvSpPr>
            <a:spLocks xmlns:a="http://schemas.openxmlformats.org/drawingml/2006/main" noGrp="1"/>
          </p:cNvSpPr>
          <p:nvPr/>
        </p:nvSpPr>
        <p:spPr>
          <a:xfrm xmlns:a="http://schemas.openxmlformats.org/drawingml/2006/main">
            <a:off x="9258300" y="5972175"/>
            <a:ext cx="5410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Huiswerk</a:t>
            </a:r>
          </a:p>
        </p:txBody>
      </p:sp>
      <p:sp>
        <p:nvSpPr>
          <p:cNvPr id="26" name="overview-homework">
            <a:extLst xmlns:a="http://schemas.openxmlformats.org/drawingml/2006/main">
              <a:ext uri="{FF2B5EF4-FFF2-40B4-BE49-F238E27FC236}">
                <a16:creationId xmlns:a16="http://schemas.microsoft.com/office/drawing/2014/main" id="{2B8155ED-F98A-47B3-8288-FAF5605CBB9A}"/>
              </a:ext>
            </a:extLst>
          </p:cNvPr>
          <p:cNvSpPr>
            <a:spLocks xmlns:a="http://schemas.openxmlformats.org/drawingml/2006/main" noGrp="1"/>
          </p:cNvSpPr>
          <p:nvPr/>
        </p:nvSpPr>
        <p:spPr>
          <a:xfrm xmlns:a="http://schemas.openxmlformats.org/drawingml/2006/main">
            <a:off x="9258300" y="6486525"/>
            <a:ext cx="54102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3247"/>
                </a:solidFill>
                <a:latin typeface="Arial"/>
                <a:ea typeface="Arial"/>
                <a:cs typeface="Arial"/>
              </a:defRPr>
            </a:pPr>
            <a:r>
              <a:rPr sz="2175" b="1">
                <a:solidFill>
                  <a:srgbClr val="183247"/>
                </a:solidFill>
                <a:latin typeface="Arial"/>
                <a:ea typeface="Arial"/>
                <a:cs typeface="Arial"/>
              </a:rPr>
              <a:t>§3.3.2 · Opgaven 13 t/m 17</a:t>
            </a:r>
          </a:p>
          <a:p xmlns:a="http://schemas.openxmlformats.org/drawingml/2006/main">
            <a:pPr algn="l">
              <a:defRPr sz="2175" b="1">
                <a:solidFill>
                  <a:srgbClr val="183247"/>
                </a:solidFill>
                <a:latin typeface="Arial"/>
                <a:ea typeface="Arial"/>
                <a:cs typeface="Arial"/>
              </a:defRPr>
            </a:pPr>
            <a:r>
              <a:rPr sz="2175" b="1">
                <a:solidFill>
                  <a:srgbClr val="183247"/>
                </a:solidFill>
                <a:latin typeface="Arial"/>
                <a:ea typeface="Arial"/>
                <a:cs typeface="Arial"/>
              </a:rPr>
              <a:t>Basis: 13 en 14</a:t>
            </a:r>
          </a:p>
          <a:p xmlns:a="http://schemas.openxmlformats.org/drawingml/2006/main">
            <a:pPr algn="l">
              <a:defRPr sz="2175" b="1">
                <a:solidFill>
                  <a:srgbClr val="183247"/>
                </a:solidFill>
                <a:latin typeface="Arial"/>
                <a:ea typeface="Arial"/>
                <a:cs typeface="Arial"/>
              </a:defRPr>
            </a:pPr>
            <a:r>
              <a:rPr sz="2175" b="1">
                <a:solidFill>
                  <a:srgbClr val="183247"/>
                </a:solidFill>
                <a:latin typeface="Arial"/>
                <a:ea typeface="Arial"/>
                <a:cs typeface="Arial"/>
              </a:rPr>
              <a:t>Zelfstandig: 15 en 16</a:t>
            </a:r>
          </a:p>
          <a:p xmlns:a="http://schemas.openxmlformats.org/drawingml/2006/main">
            <a:pPr algn="l">
              <a:defRPr sz="2175" b="1">
                <a:solidFill>
                  <a:srgbClr val="183247"/>
                </a:solidFill>
                <a:latin typeface="Arial"/>
                <a:ea typeface="Arial"/>
                <a:cs typeface="Arial"/>
              </a:defRPr>
            </a:pPr>
            <a:r>
              <a:rPr sz="2175" b="1">
                <a:solidFill>
                  <a:srgbClr val="183247"/>
                </a:solidFill>
                <a:latin typeface="Arial"/>
                <a:ea typeface="Arial"/>
                <a:cs typeface="Arial"/>
              </a:rPr>
              <a:t>Doelopgave: 17</a:t>
            </a:r>
          </a:p>
          <a:p xmlns:a="http://schemas.openxmlformats.org/drawingml/2006/main">
            <a:pPr algn="l">
              <a:defRPr sz="2175" b="1">
                <a:solidFill>
                  <a:srgbClr val="183247"/>
                </a:solidFill>
                <a:latin typeface="Arial"/>
                <a:ea typeface="Arial"/>
                <a:cs typeface="Arial"/>
              </a:defRPr>
            </a:pPr>
            <a:r>
              <a:rPr sz="2175" b="1">
                <a:solidFill>
                  <a:srgbClr val="183247"/>
                </a:solidFill>
                <a:latin typeface="Arial"/>
                <a:ea typeface="Arial"/>
                <a:cs typeface="Arial"/>
              </a:rPr>
              <a:t>Maken en nakijken</a:t>
            </a:r>
          </a:p>
        </p:txBody>
      </p:sp>
      <p:sp>
        <p:nvSpPr>
          <p:cNvPr id="27" name="footer">
            <a:extLst xmlns:a="http://schemas.openxmlformats.org/drawingml/2006/main">
              <a:ext uri="{FF2B5EF4-FFF2-40B4-BE49-F238E27FC236}">
                <a16:creationId xmlns:a16="http://schemas.microsoft.com/office/drawing/2014/main" id="{F1835538-5F5E-48C9-9A9A-08B7A7955FDA}"/>
              </a:ext>
            </a:extLst>
          </p:cNvPr>
          <p:cNvSpPr>
            <a:spLocks xmlns:a="http://schemas.openxmlformats.org/drawingml/2006/main" noGrp="1"/>
          </p:cNvSpPr>
          <p:nvPr/>
        </p:nvSpPr>
        <p:spPr>
          <a:xfrm xmlns:a="http://schemas.openxmlformats.org/drawingml/2006/main">
            <a:off x="571500" y="8153400"/>
            <a:ext cx="1314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Boek 3 · v3 · Gedrukte boekpagina’s</a:t>
            </a:r>
          </a:p>
        </p:txBody>
      </p:sp>
      <p:sp>
        <p:nvSpPr>
          <p:cNvPr id="28" name="slide-number">
            <a:extLst xmlns:a="http://schemas.openxmlformats.org/drawingml/2006/main">
              <a:ext uri="{FF2B5EF4-FFF2-40B4-BE49-F238E27FC236}">
                <a16:creationId xmlns:a16="http://schemas.microsoft.com/office/drawing/2014/main" id="{9DCADA8E-7A4A-4817-AD9C-58F072B25358}"/>
              </a:ext>
            </a:extLst>
          </p:cNvPr>
          <p:cNvSpPr>
            <a:spLocks xmlns:a="http://schemas.openxmlformats.org/drawingml/2006/main" noGrp="1"/>
          </p:cNvSpPr>
          <p:nvPr/>
        </p:nvSpPr>
        <p:spPr>
          <a:xfrm xmlns:a="http://schemas.openxmlformats.org/drawingml/2006/main">
            <a:off x="14001750" y="8115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spTree>
    <p:extLst>
      <p:ext uri="{BB962C8B-B14F-4D97-AF65-F5344CB8AC3E}">
        <p14:creationId xmlns:p14="http://schemas.microsoft.com/office/powerpoint/2010/main" val="15899499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2026-10-01T11:13:15.5200000Z</dcterms:created>
  <dcterms:modified xsi:type="dcterms:W3CDTF">2026-10-01T11:13:15.5210000Z</dcterms:modified>
</coreProperties>
</file>