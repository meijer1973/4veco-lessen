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3f6b80c053495b" /><Relationship Type="http://schemas.openxmlformats.org/officeDocument/2006/relationships/extended-properties" Target="/docProps/app.xml" Id="R6eafacbfd7d04268" /><Relationship Type="http://schemas.openxmlformats.org/officeDocument/2006/relationships/officeDocument" Target="/ppt/presentation.xml" Id="R744b8ea42098486a" /></Relationships>
</file>

<file path=ppt/presentation.xml><?xml version="1.0" encoding="utf-8"?>
<p:presentation xmlns:p="http://schemas.openxmlformats.org/presentationml/2006/main">
  <p:sldMasterIdLst>
    <p:sldMasterId xmlns:r="http://schemas.openxmlformats.org/officeDocument/2006/relationships" id="2147483648" r:id="R16d6b2187c304d87"/>
  </p:sldMasterIdLst>
  <p:notesMasterIdLst>
    <p:notesMasterId xmlns:r="http://schemas.openxmlformats.org/officeDocument/2006/relationships" r:id="Rf6e1c906423d4762"/>
  </p:notesMasterIdLst>
  <p:sldIdLst>
    <p:sldId xmlns:r="http://schemas.openxmlformats.org/officeDocument/2006/relationships" id="256" r:id="R072b766a81714c21"/>
    <p:sldId xmlns:r="http://schemas.openxmlformats.org/officeDocument/2006/relationships" id="257" r:id="R5c47ee3c134644c3"/>
    <p:sldId xmlns:r="http://schemas.openxmlformats.org/officeDocument/2006/relationships" id="258" r:id="Re8f7ce011fdc4067"/>
    <p:sldId xmlns:r="http://schemas.openxmlformats.org/officeDocument/2006/relationships" id="259" r:id="R672eb2edaa8348b8"/>
    <p:sldId xmlns:r="http://schemas.openxmlformats.org/officeDocument/2006/relationships" id="260" r:id="R91f6e1bf95f64f9d"/>
    <p:sldId xmlns:r="http://schemas.openxmlformats.org/officeDocument/2006/relationships" id="261" r:id="R5372fa85e5554c75"/>
    <p:sldId xmlns:r="http://schemas.openxmlformats.org/officeDocument/2006/relationships" id="262" r:id="R03e36d28bd6c4bb9"/>
    <p:sldId xmlns:r="http://schemas.openxmlformats.org/officeDocument/2006/relationships" id="263" r:id="R4e31d911f09e4120"/>
    <p:sldId xmlns:r="http://schemas.openxmlformats.org/officeDocument/2006/relationships" id="264" r:id="Rd2061f607e584a02"/>
    <p:sldId xmlns:r="http://schemas.openxmlformats.org/officeDocument/2006/relationships" id="265" r:id="R8d45b93c15e84c42"/>
    <p:sldId xmlns:r="http://schemas.openxmlformats.org/officeDocument/2006/relationships" id="266" r:id="R44b43b0abe7e46ae"/>
    <p:sldId xmlns:r="http://schemas.openxmlformats.org/officeDocument/2006/relationships" id="267" r:id="Rede476ab05ce42a6"/>
    <p:sldId xmlns:r="http://schemas.openxmlformats.org/officeDocument/2006/relationships" id="268" r:id="Rd35d7b11c5ea4bbc"/>
    <p:sldId xmlns:r="http://schemas.openxmlformats.org/officeDocument/2006/relationships" id="269" r:id="R8a233c58271b4eaa"/>
    <p:sldId xmlns:r="http://schemas.openxmlformats.org/officeDocument/2006/relationships" id="270" r:id="R4313ed1e519a4835"/>
    <p:sldId xmlns:r="http://schemas.openxmlformats.org/officeDocument/2006/relationships" id="271" r:id="R5bae344143514a34"/>
    <p:sldId xmlns:r="http://schemas.openxmlformats.org/officeDocument/2006/relationships" id="272" r:id="Rc537d46bd0464982"/>
    <p:sldId xmlns:r="http://schemas.openxmlformats.org/officeDocument/2006/relationships" id="273" r:id="Refd1b2aa60b148c2"/>
    <p:sldId xmlns:r="http://schemas.openxmlformats.org/officeDocument/2006/relationships" id="274" r:id="R08c60b5c90e24c71"/>
    <p:sldId xmlns:r="http://schemas.openxmlformats.org/officeDocument/2006/relationships" id="275" r:id="Rcabf78f9c7d447da"/>
    <p:sldId xmlns:r="http://schemas.openxmlformats.org/officeDocument/2006/relationships" id="276" r:id="R5ad74d277215464e"/>
    <p:sldId xmlns:r="http://schemas.openxmlformats.org/officeDocument/2006/relationships" id="277" r:id="R59615e258f9f498e"/>
    <p:sldId xmlns:r="http://schemas.openxmlformats.org/officeDocument/2006/relationships" id="278" r:id="R88a3f97782d6430e"/>
    <p:sldId xmlns:r="http://schemas.openxmlformats.org/officeDocument/2006/relationships" id="279" r:id="R5c43c3b10a434adb"/>
    <p:sldId xmlns:r="http://schemas.openxmlformats.org/officeDocument/2006/relationships" id="280" r:id="Rdbf2f5e8ee544917"/>
    <p:sldId xmlns:r="http://schemas.openxmlformats.org/officeDocument/2006/relationships" id="281" r:id="R26978a604498490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833346f97b4942" /><Relationship Type="http://schemas.openxmlformats.org/officeDocument/2006/relationships/slideMaster" Target="/ppt/slideMasters/slideMaster1.xml" Id="R16d6b2187c304d87" /><Relationship Type="http://schemas.openxmlformats.org/officeDocument/2006/relationships/notesMaster" Target="/ppt/notesMasters/notesMaster1.xml" Id="Rf6e1c906423d4762" /><Relationship Type="http://schemas.openxmlformats.org/officeDocument/2006/relationships/presProps" Target="/ppt/presProps.xml" Id="Rda70994adb364bb3" /><Relationship Type="http://schemas.openxmlformats.org/officeDocument/2006/relationships/tableStyles" Target="/ppt/tableStyles.xml" Id="R6bb9405a01214ad6" /><Relationship Type="http://schemas.openxmlformats.org/officeDocument/2006/relationships/slide" Target="/ppt/slides/slide1.xml" Id="R072b766a81714c21" /><Relationship Type="http://schemas.openxmlformats.org/officeDocument/2006/relationships/slide" Target="/ppt/slides/slide2.xml" Id="R5c47ee3c134644c3" /><Relationship Type="http://schemas.openxmlformats.org/officeDocument/2006/relationships/slide" Target="/ppt/slides/slide3.xml" Id="Re8f7ce011fdc4067" /><Relationship Type="http://schemas.openxmlformats.org/officeDocument/2006/relationships/slide" Target="/ppt/slides/slide4.xml" Id="R672eb2edaa8348b8" /><Relationship Type="http://schemas.openxmlformats.org/officeDocument/2006/relationships/slide" Target="/ppt/slides/slide5.xml" Id="R91f6e1bf95f64f9d" /><Relationship Type="http://schemas.openxmlformats.org/officeDocument/2006/relationships/slide" Target="/ppt/slides/slide6.xml" Id="R5372fa85e5554c75" /><Relationship Type="http://schemas.openxmlformats.org/officeDocument/2006/relationships/slide" Target="/ppt/slides/slide7.xml" Id="R03e36d28bd6c4bb9" /><Relationship Type="http://schemas.openxmlformats.org/officeDocument/2006/relationships/slide" Target="/ppt/slides/slide8.xml" Id="R4e31d911f09e4120" /><Relationship Type="http://schemas.openxmlformats.org/officeDocument/2006/relationships/slide" Target="/ppt/slides/slide9.xml" Id="Rd2061f607e584a02" /><Relationship Type="http://schemas.openxmlformats.org/officeDocument/2006/relationships/slide" Target="/ppt/slides/slide10.xml" Id="R8d45b93c15e84c42" /><Relationship Type="http://schemas.openxmlformats.org/officeDocument/2006/relationships/slide" Target="/ppt/slides/slide11.xml" Id="R44b43b0abe7e46ae" /><Relationship Type="http://schemas.openxmlformats.org/officeDocument/2006/relationships/slide" Target="/ppt/slides/slide12.xml" Id="Rede476ab05ce42a6" /><Relationship Type="http://schemas.openxmlformats.org/officeDocument/2006/relationships/slide" Target="/ppt/slides/slide13.xml" Id="Rd35d7b11c5ea4bbc" /><Relationship Type="http://schemas.openxmlformats.org/officeDocument/2006/relationships/slide" Target="/ppt/slides/slide14.xml" Id="R8a233c58271b4eaa" /><Relationship Type="http://schemas.openxmlformats.org/officeDocument/2006/relationships/slide" Target="/ppt/slides/slide15.xml" Id="R4313ed1e519a4835" /><Relationship Type="http://schemas.openxmlformats.org/officeDocument/2006/relationships/slide" Target="/ppt/slides/slide16.xml" Id="R5bae344143514a34" /><Relationship Type="http://schemas.openxmlformats.org/officeDocument/2006/relationships/slide" Target="/ppt/slides/slide17.xml" Id="Rc537d46bd0464982" /><Relationship Type="http://schemas.openxmlformats.org/officeDocument/2006/relationships/slide" Target="/ppt/slides/slide18.xml" Id="Refd1b2aa60b148c2" /><Relationship Type="http://schemas.openxmlformats.org/officeDocument/2006/relationships/slide" Target="/ppt/slides/slide19.xml" Id="R08c60b5c90e24c71" /><Relationship Type="http://schemas.openxmlformats.org/officeDocument/2006/relationships/slide" Target="/ppt/slides/slide20.xml" Id="Rcabf78f9c7d447da" /><Relationship Type="http://schemas.openxmlformats.org/officeDocument/2006/relationships/slide" Target="/ppt/slides/slide21.xml" Id="R5ad74d277215464e" /><Relationship Type="http://schemas.openxmlformats.org/officeDocument/2006/relationships/slide" Target="/ppt/slides/slide22.xml" Id="R59615e258f9f498e" /><Relationship Type="http://schemas.openxmlformats.org/officeDocument/2006/relationships/slide" Target="/ppt/slides/slide23.xml" Id="R88a3f97782d6430e" /><Relationship Type="http://schemas.openxmlformats.org/officeDocument/2006/relationships/slide" Target="/ppt/slides/slide24.xml" Id="R5c43c3b10a434adb" /><Relationship Type="http://schemas.openxmlformats.org/officeDocument/2006/relationships/slide" Target="/ppt/slides/slide25.xml" Id="Rdbf2f5e8ee544917" /><Relationship Type="http://schemas.openxmlformats.org/officeDocument/2006/relationships/slide" Target="/ppt/slides/slide26.xml" Id="R26978a60449849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014082999d49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53fb850d094ac8" /><Relationship Type="http://schemas.openxmlformats.org/officeDocument/2006/relationships/notesMaster" Target="/ppt/notesMasters/notesMaster1.xml" Id="R789ce97f23fd4d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b99fb89c224d8d" /><Relationship Type="http://schemas.openxmlformats.org/officeDocument/2006/relationships/notesMaster" Target="/ppt/notesMasters/notesMaster1.xml" Id="R59435b5d5fae47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0d82a3603e4606" /><Relationship Type="http://schemas.openxmlformats.org/officeDocument/2006/relationships/notesMaster" Target="/ppt/notesMasters/notesMaster1.xml" Id="Rc194b5fe452048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7baac458084b4e" /><Relationship Type="http://schemas.openxmlformats.org/officeDocument/2006/relationships/notesMaster" Target="/ppt/notesMasters/notesMaster1.xml" Id="Rc5027a5bf80440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c2adc22a7a42e7" /><Relationship Type="http://schemas.openxmlformats.org/officeDocument/2006/relationships/notesMaster" Target="/ppt/notesMasters/notesMaster1.xml" Id="R1475ac8528454b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6aa543c6d9416a" /><Relationship Type="http://schemas.openxmlformats.org/officeDocument/2006/relationships/notesMaster" Target="/ppt/notesMasters/notesMaster1.xml" Id="R207995c8c33f49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479c7541ad4b3b" /><Relationship Type="http://schemas.openxmlformats.org/officeDocument/2006/relationships/notesMaster" Target="/ppt/notesMasters/notesMaster1.xml" Id="R804406f7034c4e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06539e39f6474f" /><Relationship Type="http://schemas.openxmlformats.org/officeDocument/2006/relationships/notesMaster" Target="/ppt/notesMasters/notesMaster1.xml" Id="R896282bab77643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1c5cfe34184bd1" /><Relationship Type="http://schemas.openxmlformats.org/officeDocument/2006/relationships/notesMaster" Target="/ppt/notesMasters/notesMaster1.xml" Id="Rb6bb2e4ee15244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bd51f78bb74550" /><Relationship Type="http://schemas.openxmlformats.org/officeDocument/2006/relationships/notesMaster" Target="/ppt/notesMasters/notesMaster1.xml" Id="Rd7c0c58225e1467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b8fe6a48274062" /><Relationship Type="http://schemas.openxmlformats.org/officeDocument/2006/relationships/notesMaster" Target="/ppt/notesMasters/notesMaster1.xml" Id="Rd298d0bd3b214d2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59f6e87a6f4fb3" /><Relationship Type="http://schemas.openxmlformats.org/officeDocument/2006/relationships/notesMaster" Target="/ppt/notesMasters/notesMaster1.xml" Id="R0ef0195e410f4f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e9ea75807e44f9" /><Relationship Type="http://schemas.openxmlformats.org/officeDocument/2006/relationships/notesMaster" Target="/ppt/notesMasters/notesMaster1.xml" Id="R788df369b2c94b5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1044de0ed549e3" /><Relationship Type="http://schemas.openxmlformats.org/officeDocument/2006/relationships/notesMaster" Target="/ppt/notesMasters/notesMaster1.xml" Id="Rf9243a9a00fe45c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e7e9f298f9a4b39" /><Relationship Type="http://schemas.openxmlformats.org/officeDocument/2006/relationships/notesMaster" Target="/ppt/notesMasters/notesMaster1.xml" Id="Rd959f69ba64c491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fdb5be0446d4d8b" /><Relationship Type="http://schemas.openxmlformats.org/officeDocument/2006/relationships/notesMaster" Target="/ppt/notesMasters/notesMaster1.xml" Id="R4e0626a0ab254ed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9a1cb899a644a99" /><Relationship Type="http://schemas.openxmlformats.org/officeDocument/2006/relationships/notesMaster" Target="/ppt/notesMasters/notesMaster1.xml" Id="R6aaa46748b424fe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6c0deafdf524bba" /><Relationship Type="http://schemas.openxmlformats.org/officeDocument/2006/relationships/notesMaster" Target="/ppt/notesMasters/notesMaster1.xml" Id="R3ef4c04d3ff74f6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38880d112114ecc" /><Relationship Type="http://schemas.openxmlformats.org/officeDocument/2006/relationships/notesMaster" Target="/ppt/notesMasters/notesMaster1.xml" Id="R8ec01133bfa7460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38e6fcaff47478e" /><Relationship Type="http://schemas.openxmlformats.org/officeDocument/2006/relationships/notesMaster" Target="/ppt/notesMasters/notesMaster1.xml" Id="R576dc5cab8fd43a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9d66968acc34b2a" /><Relationship Type="http://schemas.openxmlformats.org/officeDocument/2006/relationships/notesMaster" Target="/ppt/notesMasters/notesMaster1.xml" Id="Ra6b97a4362de4bc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5397553080d495c" /><Relationship Type="http://schemas.openxmlformats.org/officeDocument/2006/relationships/notesMaster" Target="/ppt/notesMasters/notesMaster1.xml" Id="R8e05566e65d24e4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36176c3296141e0" /><Relationship Type="http://schemas.openxmlformats.org/officeDocument/2006/relationships/notesMaster" Target="/ppt/notesMasters/notesMaster1.xml" Id="R4def06cf63fd4fe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984651c12e5498d" /><Relationship Type="http://schemas.openxmlformats.org/officeDocument/2006/relationships/notesMaster" Target="/ppt/notesMasters/notesMaster1.xml" Id="R929b7eb290e84c2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8684002aa2b48aa" /><Relationship Type="http://schemas.openxmlformats.org/officeDocument/2006/relationships/notesMaster" Target="/ppt/notesMasters/notesMaster1.xml" Id="R2ec85da26741492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a889e74f9c74370" /><Relationship Type="http://schemas.openxmlformats.org/officeDocument/2006/relationships/notesMaster" Target="/ppt/notesMasters/notesMaster1.xml" Id="R45f144311bf449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bronzin helpt je bij een nieuwe term?</a:t>
            </a:r>
          </a:p>
          <a:p xmlns:a="http://schemas.openxmlformats.org/drawingml/2006/main">
            <a:r>
              <a:rPr sz="1400"/>
              <a:t/>
            </a:r>
          </a:p>
          <a:p xmlns:a="http://schemas.openxmlformats.org/drawingml/2006/main">
            <a:r>
              <a:rPr sz="1400"/>
              <a:t>Uitleg: Laat deze dia staan tijdens startopdracht. Start: 1–2 op p. 92. Basis: 3 op p. 92 en 4 op p. 93; zelfstandig: 5–6 op p. 94; doel: 7 op p. 95. Huiswerk: 3, 4, 5, 6 en 7 maken en nakijken. Bonus 8 en herhaling 9–10 zijn extra. Opgave 1 haalt alternatieve kosten op uit §1.1.1; help de transfer van lokaal naar productiemiddelen door te vragen wat niet tegelijk kan. Opgave 2 introduceert import/export en vooral het bewijs voor comparatief voordeel. Laat leerlingen voor 2a p. 88 lezen en voor 2b de begripsvergelijking op p. 89 en concurrentiepositie op p. 90 gebruiken. Laat hen hun gebruikte bronzin en twijfel noteren. Beoordeel dit als verkennen met steun. Bij terugkeer naar dit overzicht vóór het basiswerk: laat opgave 2 opnieuw proberen, bespreek de gebruikte bron en geef zo nodig extra steun. De docenthandleiding reserveert voorlopig twee lessen van 55 minuten; de fit is niet gemeten. Voltooi de route in een volgende les of als huiswerk als dat nodig is.</a:t>
            </a:r>
          </a:p>
          <a:p xmlns:a="http://schemas.openxmlformats.org/drawingml/2006/main">
            <a:r>
              <a:rPr sz="1400"/>
              <a:t/>
            </a:r>
          </a:p>
          <a:p xmlns:a="http://schemas.openxmlformats.org/drawingml/2006/main">
            <a:r>
              <a:rPr sz="1400"/>
              <a:t>Misvatting: De complete boekpaginering is gebruikt: hoofdstukpagina 6 is boekpagina 92. Startopgaven bewijzen geen beheersing van nieuwe stof.</a:t>
            </a:r>
          </a:p>
          <a:p xmlns:a="http://schemas.openxmlformats.org/drawingml/2006/main">
            <a:r>
              <a:rPr sz="1400"/>
              <a:t/>
            </a:r>
          </a:p>
          <a:p xmlns:a="http://schemas.openxmlformats.org/drawingml/2006/main">
            <a:r>
              <a:rPr sz="1400"/>
              <a:t>Overgang: Bij zelfstandig werken: eerst terug naar startopgave 2, daarna basis 3 en 4.</a:t>
            </a:r>
          </a:p>
          <a:p xmlns:a="http://schemas.openxmlformats.org/drawingml/2006/main">
            <a:r>
              <a:rPr sz="1400"/>
              <a:t/>
            </a:r>
          </a:p>
          <a:p xmlns:a="http://schemas.openxmlformats.org/drawingml/2006/main">
            <a:r>
              <a:rPr sz="1400"/>
              <a:t>Bron: Boek 3, geselecteerde editie books34-v3, revisie book34-lesson-balance-v3-20260915, leerlingboek gedrukte pagina 88–95.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vergelijking hoort bij relatief minder opofferen?</a:t>
            </a:r>
          </a:p>
          <a:p xmlns:a="http://schemas.openxmlformats.org/drawingml/2006/main">
            <a:r>
              <a:rPr sz="1400"/>
              <a:t/>
            </a:r>
          </a:p>
          <a:p xmlns:a="http://schemas.openxmlformats.org/drawingml/2006/main">
            <a:r>
              <a:rPr sz="1400"/>
              <a:t>Uitleg: Verbind de lesdoelen aan de targetbewerkingen: een bronfeit selecteren, het juiste voordeel benoemen, passende specialisatie en handelsstroom verklaren, de ruilvoorwaarde noemen en een algemene claim met een concrete groep beoordelen. Er worden geen productieverhoudingen uitgerekend.</a:t>
            </a:r>
          </a:p>
          <a:p xmlns:a="http://schemas.openxmlformats.org/drawingml/2006/main">
            <a:r>
              <a:rPr sz="1400"/>
              <a:t/>
            </a:r>
          </a:p>
          <a:p xmlns:a="http://schemas.openxmlformats.org/drawingml/2006/main">
            <a:r>
              <a:rPr sz="1400"/>
              <a:t>Misvatting: Een lagere verkoopprijs is geen bewijs van lagere alternatieve kosten.</a:t>
            </a:r>
          </a:p>
          <a:p xmlns:a="http://schemas.openxmlformats.org/drawingml/2006/main">
            <a:r>
              <a:rPr sz="1400"/>
              <a:t/>
            </a:r>
          </a:p>
          <a:p xmlns:a="http://schemas.openxmlformats.org/drawingml/2006/main">
            <a:r>
              <a:rPr sz="1400"/>
              <a:t>Overgang: Herhaal eerst de schaarste achter alternatieve kosten.</a:t>
            </a:r>
          </a:p>
          <a:p xmlns:a="http://schemas.openxmlformats.org/drawingml/2006/main">
            <a:r>
              <a:rPr sz="1400"/>
              <a:t/>
            </a:r>
          </a:p>
          <a:p xmlns:a="http://schemas.openxmlformats.org/drawingml/2006/main">
            <a:r>
              <a:rPr sz="1400"/>
              <a:t>Bron: Boek 3, geselecteerde editie books34-v3, revisie book34-lesson-balance-v3-20260915, leerlingboek gedrukte pagina 88–91.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kan de werkplaats met dezelfde werktijd niet tegelijk maken?</a:t>
            </a:r>
          </a:p>
          <a:p xmlns:a="http://schemas.openxmlformats.org/drawingml/2006/main">
            <a:r>
              <a:rPr sz="1400"/>
              <a:t/>
            </a:r>
          </a:p>
          <a:p xmlns:a="http://schemas.openxmlformats.org/drawingml/2006/main">
            <a:r>
              <a:rPr sz="1400"/>
              <a:t>Uitleg: Herhaal de betekenis van de beste niet-gekozen mogelijkheid uit Boek 1 §1.1.1, kop Alternatieve kosten. In deze les gaat het om twee activiteiten met dezelfde schaarse middelen. Meer meubels betekent speelgoedproductie opgeven. Noem geen verzonnen geldwaarde of aantallen. Deze verandering van persoonlijke keuze naar een productieafweging maakt de landenvergelijking mogelijk.</a:t>
            </a:r>
          </a:p>
          <a:p xmlns:a="http://schemas.openxmlformats.org/drawingml/2006/main">
            <a:r>
              <a:rPr sz="1400"/>
              <a:t/>
            </a:r>
          </a:p>
          <a:p xmlns:a="http://schemas.openxmlformats.org/drawingml/2006/main">
            <a:r>
              <a:rPr sz="1400"/>
              <a:t>Misvatting: Alternatieve kosten zijn niet automatisch een betaalde rekening.</a:t>
            </a:r>
          </a:p>
          <a:p xmlns:a="http://schemas.openxmlformats.org/drawingml/2006/main">
            <a:r>
              <a:rPr sz="1400"/>
              <a:t/>
            </a:r>
          </a:p>
          <a:p xmlns:a="http://schemas.openxmlformats.org/drawingml/2006/main">
            <a:r>
              <a:rPr sz="1400"/>
              <a:t>Overgang: Volg een levering van die meubels over de grens.</a:t>
            </a:r>
          </a:p>
          <a:p xmlns:a="http://schemas.openxmlformats.org/drawingml/2006/main">
            <a:r>
              <a:rPr sz="1400"/>
              <a:t/>
            </a:r>
          </a:p>
          <a:p xmlns:a="http://schemas.openxmlformats.org/drawingml/2006/main">
            <a:r>
              <a:rPr sz="1400"/>
              <a:t>Bron: Boek 3, geselecteerde editie books34-v3, revisie book34-lesson-balance-v3-20260915, leerlingboek gedrukte pagina 88–89.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Uitlegvoorbeeld — niet uit het boek. Elara, Vesta en hun producenten zijn door de presentatieauteur bedachte context en kwalitatieve gegevens. De boekpagina ondersteunt alleen de methode. Geen toegewezen boekopgave wordt hier uitgewerkt.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Vanuit welk land benoem je de stroom?</a:t>
            </a:r>
          </a:p>
          <a:p xmlns:a="http://schemas.openxmlformats.org/drawingml/2006/main">
            <a:r>
              <a:rPr sz="1400"/>
              <a:t/>
            </a:r>
          </a:p>
          <a:p xmlns:a="http://schemas.openxmlformats.org/drawingml/2006/main">
            <a:r>
              <a:rPr sz="1400"/>
              <a:t>Uitleg: Wijs eerst de richting van de goederen aan. Voor het verkopende Elara gaan de meubels naar buiten: export. Voor Vesta komen zij binnen: import. De begrippen gelden ook voor diensten. Een land of onderneming kan tegelijk andere producten importeren en exporteren. De pijl toont goederen, niet geld.</a:t>
            </a:r>
          </a:p>
          <a:p xmlns:a="http://schemas.openxmlformats.org/drawingml/2006/main">
            <a:r>
              <a:rPr sz="1400"/>
              <a:t/>
            </a:r>
          </a:p>
          <a:p xmlns:a="http://schemas.openxmlformats.org/drawingml/2006/main">
            <a:r>
              <a:rPr sz="1400"/>
              <a:t>Misvatting: Een levering is niet voor beide landen export. De betaling loopt in de andere richting.</a:t>
            </a:r>
          </a:p>
          <a:p xmlns:a="http://schemas.openxmlformats.org/drawingml/2006/main">
            <a:r>
              <a:rPr sz="1400"/>
              <a:t/>
            </a:r>
          </a:p>
          <a:p xmlns:a="http://schemas.openxmlformats.org/drawingml/2006/main">
            <a:r>
              <a:rPr sz="1400"/>
              <a:t>Overgang: Vergelijk nu hoe de landen produceren.</a:t>
            </a:r>
          </a:p>
          <a:p xmlns:a="http://schemas.openxmlformats.org/drawingml/2006/main">
            <a:r>
              <a:rPr sz="1400"/>
              <a:t/>
            </a:r>
          </a:p>
          <a:p xmlns:a="http://schemas.openxmlformats.org/drawingml/2006/main">
            <a:r>
              <a:rPr sz="1400"/>
              <a:t>Bron: Boek 3, geselecteerde editie books34-v3, revisie book34-lesson-balance-v3-20260915, leerlingboek gedrukte pagina 88.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Uitlegvoorbeeld — niet uit het boek. Elara, Vesta en hun producenten zijn door de presentatieauteur bedachte context en kwalitatieve gegevens. De boekpagina ondersteunt alleen de methode. Geen toegewezen boekopgave wordt hier uitgewerkt.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houden we gelijk als we de middelen vergelijken?</a:t>
            </a:r>
          </a:p>
          <a:p xmlns:a="http://schemas.openxmlformats.org/drawingml/2006/main">
            <a:r>
              <a:rPr sz="1400"/>
              <a:t/>
            </a:r>
          </a:p>
          <a:p xmlns:a="http://schemas.openxmlformats.org/drawingml/2006/main">
            <a:r>
              <a:rPr sz="1400"/>
              <a:t>Uitleg: Dit is een eigen kwalitatieve bron. Houd kwaliteit en product gelijk bij de vergelijking. Minder middelen voor hetzelfde product betekent een absoluut voordeel. Gelijkwaardig is: met dezelfde middelen meer produceren. Dit bepaalt nog niet welke activiteit relatief gunstig is.</a:t>
            </a:r>
          </a:p>
          <a:p xmlns:a="http://schemas.openxmlformats.org/drawingml/2006/main">
            <a:r>
              <a:rPr sz="1400"/>
              <a:t/>
            </a:r>
          </a:p>
          <a:p xmlns:a="http://schemas.openxmlformats.org/drawingml/2006/main">
            <a:r>
              <a:rPr sz="1400"/>
              <a:t>Misvatting: In beide activiteiten absoluut beter zijn betekent niet dat alle productie zelf maken het meest gunstig is.</a:t>
            </a:r>
          </a:p>
          <a:p xmlns:a="http://schemas.openxmlformats.org/drawingml/2006/main">
            <a:r>
              <a:rPr sz="1400"/>
              <a:t/>
            </a:r>
          </a:p>
          <a:p xmlns:a="http://schemas.openxmlformats.org/drawingml/2006/main">
            <a:r>
              <a:rPr sz="1400"/>
              <a:t>Overgang: De volgende vergelijking gaat over wat de landen opgeven.</a:t>
            </a:r>
          </a:p>
          <a:p xmlns:a="http://schemas.openxmlformats.org/drawingml/2006/main">
            <a:r>
              <a:rPr sz="1400"/>
              <a:t/>
            </a:r>
          </a:p>
          <a:p xmlns:a="http://schemas.openxmlformats.org/drawingml/2006/main">
            <a:r>
              <a:rPr sz="1400"/>
              <a:t>Bron: Boek 3, geselecteerde editie books34-v3, revisie book34-lesson-balance-v3-20260915, leerlingboek gedrukte pagina 89.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Uitlegvoorbeeld — niet uit het boek. Elara, Vesta en hun producenten zijn door de presentatieauteur bedachte context en kwalitatieve gegevens. De boekpagina ondersteunt alleen de methode. Geen toegewezen boekopgave wordt hier uitgewerkt.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kan Vesta toch een voordeel hebben terwijl Elara beide producten efficiënter maakt?</a:t>
            </a:r>
          </a:p>
          <a:p xmlns:a="http://schemas.openxmlformats.org/drawingml/2006/main">
            <a:r>
              <a:rPr sz="1400"/>
              <a:t/>
            </a:r>
          </a:p>
          <a:p xmlns:a="http://schemas.openxmlformats.org/drawingml/2006/main">
            <a:r>
              <a:rPr sz="1400"/>
              <a:t>Uitleg: De eigen bron zegt expliciet dat Vesta voor extra speelgoed relatief minder meubels opgeeft dan Elara. Dus Vesta heeft het comparatieve voordeel bij speelgoed. In deze vergelijking van twee activiteiten ligt Elara’s relatieve voordeel bij meubels: daarvoor geeft Elara relatief minder speelgoed op. Dit is kwalitatief gegeven; er zijn geen productiegetallen of verhoudingen te berekenen. Laat de leerling telkens het opgegeven andere product noemen.</a:t>
            </a:r>
          </a:p>
          <a:p xmlns:a="http://schemas.openxmlformats.org/drawingml/2006/main">
            <a:r>
              <a:rPr sz="1400"/>
              <a:t/>
            </a:r>
          </a:p>
          <a:p xmlns:a="http://schemas.openxmlformats.org/drawingml/2006/main">
            <a:r>
              <a:rPr sz="1400"/>
              <a:t>Misvatting: Vergelijk voor comparatief voordeel alternatieve kosten, niet alleen de middelen voor één product.</a:t>
            </a:r>
          </a:p>
          <a:p xmlns:a="http://schemas.openxmlformats.org/drawingml/2006/main">
            <a:r>
              <a:rPr sz="1400"/>
              <a:t/>
            </a:r>
          </a:p>
          <a:p xmlns:a="http://schemas.openxmlformats.org/drawingml/2006/main">
            <a:r>
              <a:rPr sz="1400"/>
              <a:t>Overgang: Gebruik die vergelijking voor de richting van specialisatie.</a:t>
            </a:r>
          </a:p>
          <a:p xmlns:a="http://schemas.openxmlformats.org/drawingml/2006/main">
            <a:r>
              <a:rPr sz="1400"/>
              <a:t/>
            </a:r>
          </a:p>
          <a:p xmlns:a="http://schemas.openxmlformats.org/drawingml/2006/main">
            <a:r>
              <a:rPr sz="1400"/>
              <a:t>Bron: Boek 3, geselecteerde editie books34-v3, revisie book34-lesson-balance-v3-20260915, leerlingboek gedrukte pagina 89.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Uitlegvoorbeeld — niet uit het boek. Elara, Vesta en hun producenten zijn door de presentatieauteur bedachte context en kwalitatieve gegevens. De boekpagina ondersteunt alleen de methode. Geen toegewezen boekopgave wordt hier uitgewerkt.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stroom past bij Vesta’s relatieve voordeel?</a:t>
            </a:r>
          </a:p>
          <a:p xmlns:a="http://schemas.openxmlformats.org/drawingml/2006/main">
            <a:r>
              <a:rPr sz="1400"/>
              <a:t/>
            </a:r>
          </a:p>
          <a:p xmlns:a="http://schemas.openxmlformats.org/drawingml/2006/main">
            <a:r>
              <a:rPr sz="1400"/>
              <a:t>Uitleg: Specialisatie betekent zich sterker toeleggen op bepaalde activiteiten. Zij hoeft niet volledig te zijn. Elara kan meer meubels maken en aan Vesta verkopen; Vesta meer speelgoed en aan Elara verkopen. Benoem bij beide leveringen uitvoer voor de verkoper en invoer voor de koper. Beiden willen beide producten gebruiken.</a:t>
            </a:r>
          </a:p>
          <a:p xmlns:a="http://schemas.openxmlformats.org/drawingml/2006/main">
            <a:r>
              <a:rPr sz="1400"/>
              <a:t/>
            </a:r>
          </a:p>
          <a:p xmlns:a="http://schemas.openxmlformats.org/drawingml/2006/main">
            <a:r>
              <a:rPr sz="1400"/>
              <a:t>Misvatting: Absoluut voordeel en comparatief voordeel geven niet dezelfde specialisatierichtlijn.</a:t>
            </a:r>
          </a:p>
          <a:p xmlns:a="http://schemas.openxmlformats.org/drawingml/2006/main">
            <a:r>
              <a:rPr sz="1400"/>
              <a:t/>
            </a:r>
          </a:p>
          <a:p xmlns:a="http://schemas.openxmlformats.org/drawingml/2006/main">
            <a:r>
              <a:rPr sz="1400"/>
              <a:t>Overgang: Specialisatie alleen garandeert nog geen voor beide gunstige ruil.</a:t>
            </a:r>
          </a:p>
          <a:p xmlns:a="http://schemas.openxmlformats.org/drawingml/2006/main">
            <a:r>
              <a:rPr sz="1400"/>
              <a:t/>
            </a:r>
          </a:p>
          <a:p xmlns:a="http://schemas.openxmlformats.org/drawingml/2006/main">
            <a:r>
              <a:rPr sz="1400"/>
              <a:t>Bron: Boek 3, geselecteerde editie books34-v3, revisie book34-lesson-balance-v3-20260915, leerlingboek gedrukte pagina 90.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Uitlegvoorbeeld — niet uit het boek. Elara, Vesta en hun producenten zijn door de presentatieauteur bedachte context en kwalitatieve gegevens. De boekpagina ondersteunt alleen de methode. Geen toegewezen boekopgave wordt hier uitgewerkt.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Waarmee vergelijk je of de ruil aantrekkelijk is?</a:t>
            </a:r>
          </a:p>
          <a:p xmlns:a="http://schemas.openxmlformats.org/drawingml/2006/main">
            <a:r>
              <a:rPr sz="1400"/>
              <a:t/>
            </a:r>
          </a:p>
          <a:p xmlns:a="http://schemas.openxmlformats.org/drawingml/2006/main">
            <a:r>
              <a:rPr sz="1400"/>
              <a:t>Uitleg: Bij specialisatie naar lagere alternatieve kosten kan gezamenlijk voordeel ontstaan. De afspraken over wat partijen voor hun producten terugkrijgen moeten elk land beter uitkomen dan zelf produceren. Transport en andere handelskosten kunnen het voordeel verkleinen. Er zijn geen gegevens voor een berekende ruilvoet; vraag die hier niet.</a:t>
            </a:r>
          </a:p>
          <a:p xmlns:a="http://schemas.openxmlformats.org/drawingml/2006/main">
            <a:r>
              <a:rPr sz="1400"/>
              <a:t/>
            </a:r>
          </a:p>
          <a:p xmlns:a="http://schemas.openxmlformats.org/drawingml/2006/main">
            <a:r>
              <a:rPr sz="1400"/>
              <a:t>Misvatting: Mogelijk gezamenlijk voordeel is geen garantie voor elke ruilafspraak of voor iedere inwoner.</a:t>
            </a:r>
          </a:p>
          <a:p xmlns:a="http://schemas.openxmlformats.org/drawingml/2006/main">
            <a:r>
              <a:rPr sz="1400"/>
              <a:t/>
            </a:r>
          </a:p>
          <a:p xmlns:a="http://schemas.openxmlformats.org/drawingml/2006/main">
            <a:r>
              <a:rPr sz="1400"/>
              <a:t>Overgang: Kijk nu waarom een buitenlandse klant juist deze producent kiest.</a:t>
            </a:r>
          </a:p>
          <a:p xmlns:a="http://schemas.openxmlformats.org/drawingml/2006/main">
            <a:r>
              <a:rPr sz="1400"/>
              <a:t/>
            </a:r>
          </a:p>
          <a:p xmlns:a="http://schemas.openxmlformats.org/drawingml/2006/main">
            <a:r>
              <a:rPr sz="1400"/>
              <a:t>Bron: Boek 3, geselecteerde editie books34-v3, revisie book34-lesson-balance-v3-20260915, leerlingboek gedrukte pagina 90–91.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Uitlegvoorbeeld — niet uit het boek. Elara, Vesta en hun producenten zijn door de presentatieauteur bedachte context en kwalitatieve gegevens. De boekpagina ondersteunt alleen de methode. Geen toegewezen boekopgave wordt hier uitgewerkt.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extra informatie heb je nodig voor een conclusie over de order?</a:t>
            </a:r>
          </a:p>
          <a:p xmlns:a="http://schemas.openxmlformats.org/drawingml/2006/main">
            <a:r>
              <a:rPr sz="1400"/>
              <a:t/>
            </a:r>
          </a:p>
          <a:p xmlns:a="http://schemas.openxmlformats.org/drawingml/2006/main">
            <a:r>
              <a:rPr sz="1400"/>
              <a:t>Uitleg: Dit is een nieuwe situatie bij één verkoper. De eerdere landenvergelijking hield kwaliteit gelijk; die aanname trekken we niet door naar deze verandering bij een meubelmaker. Concurrentiepositie is het vermogen om met andere aanbieders te concurreren. De klant kan letten op prijs, kwaliteit en betrouwbare levering. Werk beide veranderingen apart uit. Betere kwaliteit kan de producent aantrekkelijker maken, maar de hogere prijs kan kopers afschrikken. Zonder te weten wat de inkoper belangrijk vindt, volgt geen zekere nettoconclusie. Deze bron bevat geen vergelijking van opgegeven andere productie en bewijst dus geen comparatief voordeel. Dit eigen voorbeeld gebruikt andere veranderingen dan basisopgave 4.</a:t>
            </a:r>
          </a:p>
          <a:p xmlns:a="http://schemas.openxmlformats.org/drawingml/2006/main">
            <a:r>
              <a:rPr sz="1400"/>
              <a:t/>
            </a:r>
          </a:p>
          <a:p xmlns:a="http://schemas.openxmlformats.org/drawingml/2006/main">
            <a:r>
              <a:rPr sz="1400"/>
              <a:t>Misvatting: Een productkenmerk en een vergelijking van alternatieve kosten zijn verschillende soorten bewijs.</a:t>
            </a:r>
          </a:p>
          <a:p xmlns:a="http://schemas.openxmlformats.org/drawingml/2006/main">
            <a:r>
              <a:rPr sz="1400"/>
              <a:t/>
            </a:r>
          </a:p>
          <a:p xmlns:a="http://schemas.openxmlformats.org/drawingml/2006/main">
            <a:r>
              <a:rPr sz="1400"/>
              <a:t>Overgang: Bouw nu een volledige, begrensde bronredenering.</a:t>
            </a:r>
          </a:p>
          <a:p xmlns:a="http://schemas.openxmlformats.org/drawingml/2006/main">
            <a:r>
              <a:rPr sz="1400"/>
              <a:t/>
            </a:r>
          </a:p>
          <a:p xmlns:a="http://schemas.openxmlformats.org/drawingml/2006/main">
            <a:r>
              <a:rPr sz="1400"/>
              <a:t>Bron: Boek 3, geselecteerde editie books34-v3, revisie book34-lesson-balance-v3-20260915, leerlingboek gedrukte pagina 90, 93–94.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Uitlegvoorbeeld — niet uit het boek. Elara, Vesta en hun producenten zijn door de presentatieauteur bedachte context en kwalitatieve gegevens. De boekpagina ondersteunt alleen de methode. Geen toegewezen boekopgave wordt hier uitgewerkt.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ontbreekt als je alleen “betere afwerking” schrijft?</a:t>
            </a:r>
          </a:p>
          <a:p xmlns:a="http://schemas.openxmlformats.org/drawingml/2006/main">
            <a:r>
              <a:rPr sz="1400"/>
              <a:t/>
            </a:r>
          </a:p>
          <a:p xmlns:a="http://schemas.openxmlformats.org/drawingml/2006/main">
            <a:r>
              <a:rPr sz="1400"/>
              <a:t>Uitleg: Doe voor hoe een antwoord meer doet dan een bronzin overschrijven. Noem een feit, verklaar waarom het economisch relevant is en geef aan wat je niet zeker weet. Pas dit toe op de eigen meubelmaker. Het woord per saldo vraagt om het onderlinge gewicht van beide effecten. Dezezelfde antwoordbouw gebruiken leerlingen bij basis 4, zelfstandig 5–6 en doel 7.</a:t>
            </a:r>
          </a:p>
          <a:p xmlns:a="http://schemas.openxmlformats.org/drawingml/2006/main">
            <a:r>
              <a:rPr sz="1400"/>
              <a:t/>
            </a:r>
          </a:p>
          <a:p xmlns:a="http://schemas.openxmlformats.org/drawingml/2006/main">
            <a:r>
              <a:rPr sz="1400"/>
              <a:t>Misvatting: Een reden geven maakt een onbewezen algemene conclusie nog niet waar.</a:t>
            </a:r>
          </a:p>
          <a:p xmlns:a="http://schemas.openxmlformats.org/drawingml/2006/main">
            <a:r>
              <a:rPr sz="1400"/>
              <a:t/>
            </a:r>
          </a:p>
          <a:p xmlns:a="http://schemas.openxmlformats.org/drawingml/2006/main">
            <a:r>
              <a:rPr sz="1400"/>
              <a:t>Overgang: Onderzoek vervolgens welke groepen wel en niet kunnen winnen.</a:t>
            </a:r>
          </a:p>
          <a:p xmlns:a="http://schemas.openxmlformats.org/drawingml/2006/main">
            <a:r>
              <a:rPr sz="1400"/>
              <a:t/>
            </a:r>
          </a:p>
          <a:p xmlns:a="http://schemas.openxmlformats.org/drawingml/2006/main">
            <a:r>
              <a:rPr sz="1400"/>
              <a:t>Bron: Boek 3, geselecteerde editie books34-v3, revisie book34-lesson-balance-v3-20260915, leerlingboek gedrukte pagina 93.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Uitlegvoorbeeld — niet uit het boek. Elara, Vesta en hun producenten zijn door de presentatieauteur bedachte context en kwalitatieve gegevens. De boekpagina ondersteunt alleen de methode. Geen toegewezen boekopgave wordt hier uitgewerkt.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concrete groep past niet bij de uitspraak dat iedereen wint?</a:t>
            </a:r>
          </a:p>
          <a:p xmlns:a="http://schemas.openxmlformats.org/drawingml/2006/main">
            <a:r>
              <a:rPr sz="1400"/>
              <a:t/>
            </a:r>
          </a:p>
          <a:p xmlns:a="http://schemas.openxmlformats.org/drawingml/2006/main">
            <a:r>
              <a:rPr sz="1400"/>
              <a:t>Uitleg: De eigen context voegt toe dat speelgoedmakers in Elara klanten aan import kunnen verliezen. Een land bestaat uit verschillende groepen. Kopers kunnen profiteren en concurrerende makers kunnen afzet verliezen. Voor werknemers zijn gevolgen mogelijk, maar zonder cijfers is niet bewezen hoeveel banen veranderen. Gebruik kan bij mogelijke gevolgen.</a:t>
            </a:r>
          </a:p>
          <a:p xmlns:a="http://schemas.openxmlformats.org/drawingml/2006/main">
            <a:r>
              <a:rPr sz="1400"/>
              <a:t/>
            </a:r>
          </a:p>
          <a:p xmlns:a="http://schemas.openxmlformats.org/drawingml/2006/main">
            <a:r>
              <a:rPr sz="1400"/>
              <a:t>Misvatting: Een winstgevende exportorder bewijst niets over alle binnenlandse bedrijven of banen.</a:t>
            </a:r>
          </a:p>
          <a:p xmlns:a="http://schemas.openxmlformats.org/drawingml/2006/main">
            <a:r>
              <a:rPr sz="1400"/>
              <a:t/>
            </a:r>
          </a:p>
          <a:p xmlns:a="http://schemas.openxmlformats.org/drawingml/2006/main">
            <a:r>
              <a:rPr sz="1400"/>
              <a:t>Overgang: Controleer kort of absoluut en comparatief voordeel nog uit elkaar blijven.</a:t>
            </a:r>
          </a:p>
          <a:p xmlns:a="http://schemas.openxmlformats.org/drawingml/2006/main">
            <a:r>
              <a:rPr sz="1400"/>
              <a:t/>
            </a:r>
          </a:p>
          <a:p xmlns:a="http://schemas.openxmlformats.org/drawingml/2006/main">
            <a:r>
              <a:rPr sz="1400"/>
              <a:t>Bron: Boek 3, geselecteerde editie books34-v3, revisie book34-lesson-balance-v3-20260915, leerlingboek gedrukte pagina 90–91.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Uitlegvoorbeeld — niet uit het boek. Elara, Vesta en hun producenten zijn door de presentatieauteur bedachte context en kwalitatieve gegevens. De boekpagina ondersteunt alleen de methode. Geen toegewezen boekopgave wordt hier uitgewerkt.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informatie uit de eerdere vergelijking beslist hier?</a:t>
            </a:r>
          </a:p>
          <a:p xmlns:a="http://schemas.openxmlformats.org/drawingml/2006/main">
            <a:r>
              <a:rPr sz="1400"/>
              <a:t/>
            </a:r>
          </a:p>
          <a:p xmlns:a="http://schemas.openxmlformats.org/drawingml/2006/main">
            <a:r>
              <a:rPr sz="1400"/>
              <a:t>Uitleg: Laat leerlingen kort denken en hun redenering geven. Gebruik alleen het eigen voorbeeld. Het antwoord staat op de volgende dia; dit is een begripcheck en geen extra huiswerk.</a:t>
            </a:r>
          </a:p>
          <a:p xmlns:a="http://schemas.openxmlformats.org/drawingml/2006/main">
            <a:r>
              <a:rPr sz="1400"/>
              <a:t/>
            </a:r>
          </a:p>
          <a:p xmlns:a="http://schemas.openxmlformats.org/drawingml/2006/main">
            <a:r>
              <a:rPr sz="1400"/>
              <a:t>Misvatting: Absoluut minder productief betekent niet comparatief ongunstig in alles.</a:t>
            </a:r>
          </a:p>
          <a:p xmlns:a="http://schemas.openxmlformats.org/drawingml/2006/main">
            <a:r>
              <a:rPr sz="1400"/>
              <a:t/>
            </a:r>
          </a:p>
          <a:p xmlns:a="http://schemas.openxmlformats.org/drawingml/2006/main">
            <a:r>
              <a:rPr sz="1400"/>
              <a:t>Overgang: Bespreek de vergelijking.</a:t>
            </a:r>
          </a:p>
          <a:p xmlns:a="http://schemas.openxmlformats.org/drawingml/2006/main">
            <a:r>
              <a:rPr sz="1400"/>
              <a:t/>
            </a:r>
          </a:p>
          <a:p xmlns:a="http://schemas.openxmlformats.org/drawingml/2006/main">
            <a:r>
              <a:rPr sz="1400"/>
              <a:t>Bron: Boek 3, geselecteerde editie books34-v3, revisie book34-lesson-balance-v3-20260915, leerlingboek gedrukte pagina 89.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Uitlegvoorbeeld — niet uit het boek. Elara, Vesta en hun producenten zijn door de presentatieauteur bedachte context en kwalitatieve gegevens. De boekpagina ondersteunt alleen de methode. Geen toegewezen boekopgave wordt hier uitgewerkt.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informatie uit de eerdere vergelijking beslist hier?</a:t>
            </a:r>
          </a:p>
          <a:p xmlns:a="http://schemas.openxmlformats.org/drawingml/2006/main">
            <a:r>
              <a:rPr sz="1400"/>
              <a:t/>
            </a:r>
          </a:p>
          <a:p xmlns:a="http://schemas.openxmlformats.org/drawingml/2006/main">
            <a:r>
              <a:rPr sz="1400"/>
              <a:t>Uitleg: Het bronfeit is absoluut: Elara heeft minder middelen nodig bij beide producten. De conclusie over Vesta volgt daar niet uit. Vesta’s lagere alternatieve kosten maken juist een comparatief voordeel mogelijk. Laat leerlingen het opgegeven product hardop noemen.</a:t>
            </a:r>
          </a:p>
          <a:p xmlns:a="http://schemas.openxmlformats.org/drawingml/2006/main">
            <a:r>
              <a:rPr sz="1400"/>
              <a:t/>
            </a:r>
          </a:p>
          <a:p xmlns:a="http://schemas.openxmlformats.org/drawingml/2006/main">
            <a:r>
              <a:rPr sz="1400"/>
              <a:t>Misvatting: Absoluut minder productief betekent niet comparatief ongunstig in alles.</a:t>
            </a:r>
          </a:p>
          <a:p xmlns:a="http://schemas.openxmlformats.org/drawingml/2006/main">
            <a:r>
              <a:rPr sz="1400"/>
              <a:t/>
            </a:r>
          </a:p>
          <a:p xmlns:a="http://schemas.openxmlformats.org/drawingml/2006/main">
            <a:r>
              <a:rPr sz="1400"/>
              <a:t>Overgang: Terug naar startopgave 2 en dan oefenen.</a:t>
            </a:r>
          </a:p>
          <a:p xmlns:a="http://schemas.openxmlformats.org/drawingml/2006/main">
            <a:r>
              <a:rPr sz="1400"/>
              <a:t/>
            </a:r>
          </a:p>
          <a:p xmlns:a="http://schemas.openxmlformats.org/drawingml/2006/main">
            <a:r>
              <a:rPr sz="1400"/>
              <a:t>Bron: Boek 3, geselecteerde editie books34-v3, revisie book34-lesson-balance-v3-20260915, leerlingboek gedrukte pagina 89.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Uitlegvoorbeeld — niet uit het boek. Elara, Vesta en hun producenten zijn door de presentatieauteur bedachte context en kwalitatieve gegevens. De boekpagina ondersteunt alleen de methode. Geen toegewezen boekopgave wordt hier uitgewerkt.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redenering wil je nog verbeteren?</a:t>
            </a:r>
          </a:p>
          <a:p xmlns:a="http://schemas.openxmlformats.org/drawingml/2006/main">
            <a:r>
              <a:rPr sz="1400"/>
              <a:t/>
            </a:r>
          </a:p>
          <a:p xmlns:a="http://schemas.openxmlformats.org/drawingml/2006/main">
            <a:r>
              <a:rPr sz="1400"/>
              <a:t>Uitleg: Laat deze dia staan tijdens zelfstandig werken. Start: 1–2 op p. 92. Basis: 3 op p. 92 en 4 op p. 93; zelfstandig: 5–6 op p. 94; doel: 7 op p. 95. Huiswerk: 3, 4, 5, 6 en 7 maken en nakijken. Bonus 8 en herhaling 9–10 zijn extra. Opgave 1 haalt alternatieve kosten op uit §1.1.1; help de transfer van lokaal naar productiemiddelen door te vragen wat niet tegelijk kan. Opgave 2 introduceert import/export en vooral het bewijs voor comparatief voordeel. Laat leerlingen voor 2a p. 88 lezen en voor 2b de begripsvergelijking op p. 89 en concurrentiepositie op p. 90 gebruiken. Laat hen hun gebruikte bronzin en twijfel noteren. Beoordeel dit als verkennen met steun. Bij terugkeer naar dit overzicht vóór het basiswerk: laat opgave 2 opnieuw proberen, bespreek de gebruikte bron en geef zo nodig extra steun. De docenthandleiding reserveert voorlopig twee lessen van 55 minuten; de fit is niet gemeten. Voltooi de route in een volgende les of als huiswerk als dat nodig is.</a:t>
            </a:r>
          </a:p>
          <a:p xmlns:a="http://schemas.openxmlformats.org/drawingml/2006/main">
            <a:r>
              <a:rPr sz="1400"/>
              <a:t/>
            </a:r>
          </a:p>
          <a:p xmlns:a="http://schemas.openxmlformats.org/drawingml/2006/main">
            <a:r>
              <a:rPr sz="1400"/>
              <a:t>Misvatting: De complete boekpaginering is gebruikt: hoofdstukpagina 6 is boekpagina 92. Startopgaven bewijzen geen beheersing van nieuwe stof.</a:t>
            </a:r>
          </a:p>
          <a:p xmlns:a="http://schemas.openxmlformats.org/drawingml/2006/main">
            <a:r>
              <a:rPr sz="1400"/>
              <a:t/>
            </a:r>
          </a:p>
          <a:p xmlns:a="http://schemas.openxmlformats.org/drawingml/2006/main">
            <a:r>
              <a:rPr sz="1400"/>
              <a:t>Overgang: Bij zelfstandig werken: eerst terug naar startopgave 2, daarna basis 3 en 4.</a:t>
            </a:r>
          </a:p>
          <a:p xmlns:a="http://schemas.openxmlformats.org/drawingml/2006/main">
            <a:r>
              <a:rPr sz="1400"/>
              <a:t/>
            </a:r>
          </a:p>
          <a:p xmlns:a="http://schemas.openxmlformats.org/drawingml/2006/main">
            <a:r>
              <a:rPr sz="1400"/>
              <a:t>Bron: Boek 3, geselecteerde editie books34-v3, revisie book34-lesson-balance-v3-20260915, leerlingboek gedrukte pagina 88–95.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vergelijkingen staan in deze bron?</a:t>
            </a:r>
          </a:p>
          <a:p xmlns:a="http://schemas.openxmlformats.org/drawingml/2006/main">
            <a:r>
              <a:rPr sz="1400"/>
              <a:t/>
            </a:r>
          </a:p>
          <a:p xmlns:a="http://schemas.openxmlformats.org/drawingml/2006/main">
            <a:r>
              <a:rPr sz="1400"/>
              <a:t>Uitleg: Dit is de volledige eerste alinea van de echte doelbron. Laat leerlingen hun eigen werk erbij nemen. Er worden nog geen voordelen benoemd in de oplossing; wijs alleen de bronzinnen aan die zij nodig kunnen hebben. De bron heeft geen figuur of productiegetallen.</a:t>
            </a:r>
          </a:p>
          <a:p xmlns:a="http://schemas.openxmlformats.org/drawingml/2006/main">
            <a:r>
              <a:rPr sz="1400"/>
              <a:t/>
            </a:r>
          </a:p>
          <a:p xmlns:a="http://schemas.openxmlformats.org/drawingml/2006/main">
            <a:r>
              <a:rPr sz="1400"/>
              <a:t>Misvatting: Een titel of bronzin is nog niet een volledig beargumenteerd antwoord.</a:t>
            </a:r>
          </a:p>
          <a:p xmlns:a="http://schemas.openxmlformats.org/drawingml/2006/main">
            <a:r>
              <a:rPr sz="1400"/>
              <a:t/>
            </a:r>
          </a:p>
          <a:p xmlns:a="http://schemas.openxmlformats.org/drawingml/2006/main">
            <a:r>
              <a:rPr sz="1400"/>
              <a:t>Overgang: Toon ook de tweede alinea van de bron.</a:t>
            </a:r>
          </a:p>
          <a:p xmlns:a="http://schemas.openxmlformats.org/drawingml/2006/main">
            <a:r>
              <a:rPr sz="1400"/>
              <a:t/>
            </a:r>
          </a:p>
          <a:p xmlns:a="http://schemas.openxmlformats.org/drawingml/2006/main">
            <a:r>
              <a:rPr sz="1400"/>
              <a:t>Bron: Boek 3, geselecteerde editie books34-v3, revisie book34-lesson-balance-v3-20260915, leerlingboek gedrukte pagina 95.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geeft de bron informatie over klanten en groepen?</a:t>
            </a:r>
          </a:p>
          <a:p xmlns:a="http://schemas.openxmlformats.org/drawingml/2006/main">
            <a:r>
              <a:rPr sz="1400"/>
              <a:t/>
            </a:r>
          </a:p>
          <a:p xmlns:a="http://schemas.openxmlformats.org/drawingml/2006/main">
            <a:r>
              <a:rPr sz="1400"/>
              <a:t>Uitleg: Dit is de volledige tweede alinea en de werkinstructie van opgave 7. Het belang van tijdige levering en de mogelijke verliezende groep blijven expliciet zichtbaar. De volgende twee dia’s tonen alle vragen a–e voordat een antwoord wordt gegeven.</a:t>
            </a:r>
          </a:p>
          <a:p xmlns:a="http://schemas.openxmlformats.org/drawingml/2006/main">
            <a:r>
              <a:rPr sz="1400"/>
              <a:t/>
            </a:r>
          </a:p>
          <a:p xmlns:a="http://schemas.openxmlformats.org/drawingml/2006/main">
            <a:r>
              <a:rPr sz="1400"/>
              <a:t>Misvatting: Zonder hoge transportkosten betekent niet dat iedere ruilafspraak automatisch voordeel geeft.</a:t>
            </a:r>
          </a:p>
          <a:p xmlns:a="http://schemas.openxmlformats.org/drawingml/2006/main">
            <a:r>
              <a:rPr sz="1400"/>
              <a:t/>
            </a:r>
          </a:p>
          <a:p xmlns:a="http://schemas.openxmlformats.org/drawingml/2006/main">
            <a:r>
              <a:rPr sz="1400"/>
              <a:t>Overgang: Toon alle deelvragen zonder antwoorden.</a:t>
            </a:r>
          </a:p>
          <a:p xmlns:a="http://schemas.openxmlformats.org/drawingml/2006/main">
            <a:r>
              <a:rPr sz="1400"/>
              <a:t/>
            </a:r>
          </a:p>
          <a:p xmlns:a="http://schemas.openxmlformats.org/drawingml/2006/main">
            <a:r>
              <a:rPr sz="1400"/>
              <a:t>Bron: Boek 3, geselecteerde editie books34-v3, revisie book34-lesson-balance-v3-20260915, leerlingboek gedrukte pagina 95.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onderdelen vraagt c allemaal?</a:t>
            </a:r>
          </a:p>
          <a:p xmlns:a="http://schemas.openxmlformats.org/drawingml/2006/main">
            <a:r>
              <a:rPr sz="1400"/>
              <a:t/>
            </a:r>
          </a:p>
          <a:p xmlns:a="http://schemas.openxmlformats.org/drawingml/2006/main">
            <a:r>
              <a:rPr sz="1400"/>
              <a:t>Uitleg: De vragen zijn letterlijk uit de gedrukte doelopgave overgenomen. Laat nog geen uitwerkingen zien. Bij c zijn een richting van specialisatie én een goederenstroom vanuit twee gezichtspunten vereist.</a:t>
            </a:r>
          </a:p>
          <a:p xmlns:a="http://schemas.openxmlformats.org/drawingml/2006/main">
            <a:r>
              <a:rPr sz="1400"/>
              <a:t/>
            </a:r>
          </a:p>
          <a:p xmlns:a="http://schemas.openxmlformats.org/drawingml/2006/main">
            <a:r>
              <a:rPr sz="1400"/>
              <a:t>Misvatting: Alleen het product noemen beantwoordt c nog niet.</a:t>
            </a:r>
          </a:p>
          <a:p xmlns:a="http://schemas.openxmlformats.org/drawingml/2006/main">
            <a:r>
              <a:rPr sz="1400"/>
              <a:t/>
            </a:r>
          </a:p>
          <a:p xmlns:a="http://schemas.openxmlformats.org/drawingml/2006/main">
            <a:r>
              <a:rPr sz="1400"/>
              <a:t>Overgang: Toon ook d en e voordat de bespreking begint.</a:t>
            </a:r>
          </a:p>
          <a:p xmlns:a="http://schemas.openxmlformats.org/drawingml/2006/main">
            <a:r>
              <a:rPr sz="1400"/>
              <a:t/>
            </a:r>
          </a:p>
          <a:p xmlns:a="http://schemas.openxmlformats.org/drawingml/2006/main">
            <a:r>
              <a:rPr sz="1400"/>
              <a:t>Bron: Boek 3, geselecteerde editie books34-v3, revisie book34-lesson-balance-v3-20260915, leerlingboek gedrukte pagina 95.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verschillende verklaringen vraagt d?</a:t>
            </a:r>
          </a:p>
          <a:p xmlns:a="http://schemas.openxmlformats.org/drawingml/2006/main">
            <a:r>
              <a:rPr sz="1400"/>
              <a:t/>
            </a:r>
          </a:p>
          <a:p xmlns:a="http://schemas.openxmlformats.org/drawingml/2006/main">
            <a:r>
              <a:rPr sz="1400"/>
              <a:t>Uitleg: Nu zijn de hele bron en alle vijf subvragen beschikbaar. De controlezin onderaan bewaart beide checks uit de boekopgave. Vraag d heeft twee onderdelen: ruilvoorwaarde en concurrentiepositie. E vraagt een oordeel met een concrete groep. De oplossingen volgen pas hierna.</a:t>
            </a:r>
          </a:p>
          <a:p xmlns:a="http://schemas.openxmlformats.org/drawingml/2006/main">
            <a:r>
              <a:rPr sz="1400"/>
              <a:t/>
            </a:r>
          </a:p>
          <a:p xmlns:a="http://schemas.openxmlformats.org/drawingml/2006/main">
            <a:r>
              <a:rPr sz="1400"/>
              <a:t>Misvatting: Een algemene zin dat handel goed is beantwoordt d en e niet.</a:t>
            </a:r>
          </a:p>
          <a:p xmlns:a="http://schemas.openxmlformats.org/drawingml/2006/main">
            <a:r>
              <a:rPr sz="1400"/>
              <a:t/>
            </a:r>
          </a:p>
          <a:p xmlns:a="http://schemas.openxmlformats.org/drawingml/2006/main">
            <a:r>
              <a:rPr sz="1400"/>
              <a:t>Overgang: Begin met het brongegeven voor a.</a:t>
            </a:r>
          </a:p>
          <a:p xmlns:a="http://schemas.openxmlformats.org/drawingml/2006/main">
            <a:r>
              <a:rPr sz="1400"/>
              <a:t/>
            </a:r>
          </a:p>
          <a:p xmlns:a="http://schemas.openxmlformats.org/drawingml/2006/main">
            <a:r>
              <a:rPr sz="1400"/>
              <a:t>Bron: Boek 3, geselecteerde editie books34-v3, revisie book34-lesson-balance-v3-20260915, leerlingboek gedrukte pagina 95.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hoort “dezelfde kwaliteit” bij de vergelijking?</a:t>
            </a:r>
          </a:p>
          <a:p xmlns:a="http://schemas.openxmlformats.org/drawingml/2006/main">
            <a:r>
              <a:rPr sz="1400"/>
              <a:t/>
            </a:r>
          </a:p>
          <a:p xmlns:a="http://schemas.openxmlformats.org/drawingml/2006/main">
            <a:r>
              <a:rPr sz="1400"/>
              <a:t>Uitleg: Volledig antwoord: Aster heeft voor pompen en jassen minder productiemiddelen nodig bij dezelfde kwaliteit. Dat voldoet aan de definitie van absoluut voordeel. Geef zowel het land als het juiste bronfeit. Deze uitwerking dekt de twee gevraagde elementen van a.</a:t>
            </a:r>
          </a:p>
          <a:p xmlns:a="http://schemas.openxmlformats.org/drawingml/2006/main">
            <a:r>
              <a:rPr sz="1400"/>
              <a:t/>
            </a:r>
          </a:p>
          <a:p xmlns:a="http://schemas.openxmlformats.org/drawingml/2006/main">
            <a:r>
              <a:rPr sz="1400"/>
              <a:t>Misvatting: De grootte van de voorsprong bepaalt hier niet of er een absoluut voordeel is.</a:t>
            </a:r>
          </a:p>
          <a:p xmlns:a="http://schemas.openxmlformats.org/drawingml/2006/main">
            <a:r>
              <a:rPr sz="1400"/>
              <a:t/>
            </a:r>
          </a:p>
          <a:p xmlns:a="http://schemas.openxmlformats.org/drawingml/2006/main">
            <a:r>
              <a:rPr sz="1400"/>
              <a:t>Overgang: Vergelijk voor b de opgegeven productie.</a:t>
            </a:r>
          </a:p>
          <a:p xmlns:a="http://schemas.openxmlformats.org/drawingml/2006/main">
            <a:r>
              <a:rPr sz="1400"/>
              <a:t/>
            </a:r>
          </a:p>
          <a:p xmlns:a="http://schemas.openxmlformats.org/drawingml/2006/main">
            <a:r>
              <a:rPr sz="1400"/>
              <a:t>Bron: Boek 3, geselecteerde editie books34-v3, revisie book34-lesson-balance-v3-20260915, leerlingboek gedrukte pagina 95.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ander product offert Brin op als het jassen maakt?</a:t>
            </a:r>
          </a:p>
          <a:p xmlns:a="http://schemas.openxmlformats.org/drawingml/2006/main">
            <a:r>
              <a:rPr sz="1400"/>
              <a:t/>
            </a:r>
          </a:p>
          <a:p xmlns:a="http://schemas.openxmlformats.org/drawingml/2006/main">
            <a:r>
              <a:rPr sz="1400"/>
              <a:t>Uitleg: De bron zegt direct dat Brin minder pompen opgeeft voor een extra jas. Dat zijn lagere alternatieve kosten van jassen en dus een comparatief voordeel van Brin. In deze twee-productenvergelijking is Asters relatieve kracht pompen: Aster geeft relatief minder jassen op voor pompen. Benoem beide landen en producten en koppel het begrip alternatieve kosten aan de opgegeven productie. Geen productieverhoudingen berekenen.</a:t>
            </a:r>
          </a:p>
          <a:p xmlns:a="http://schemas.openxmlformats.org/drawingml/2006/main">
            <a:r>
              <a:rPr sz="1400"/>
              <a:t/>
            </a:r>
          </a:p>
          <a:p xmlns:a="http://schemas.openxmlformats.org/drawingml/2006/main">
            <a:r>
              <a:rPr sz="1400"/>
              <a:t>Misvatting: “Brin is goedkoper” is geen brongebonden uitleg van alternatieve kosten.</a:t>
            </a:r>
          </a:p>
          <a:p xmlns:a="http://schemas.openxmlformats.org/drawingml/2006/main">
            <a:r>
              <a:rPr sz="1400"/>
              <a:t/>
            </a:r>
          </a:p>
          <a:p xmlns:a="http://schemas.openxmlformats.org/drawingml/2006/main">
            <a:r>
              <a:rPr sz="1400"/>
              <a:t>Overgang: Gebruik die voordelen voor c.</a:t>
            </a:r>
          </a:p>
          <a:p xmlns:a="http://schemas.openxmlformats.org/drawingml/2006/main">
            <a:r>
              <a:rPr sz="1400"/>
              <a:t/>
            </a:r>
          </a:p>
          <a:p xmlns:a="http://schemas.openxmlformats.org/drawingml/2006/main">
            <a:r>
              <a:rPr sz="1400"/>
              <a:t>Bron: Boek 3, geselecteerde editie books34-v3, revisie book34-lesson-balance-v3-20260915, leerlingboek gedrukte pagina 95.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noem je dezelfde jassenstroom vanuit Aster?</a:t>
            </a:r>
          </a:p>
          <a:p xmlns:a="http://schemas.openxmlformats.org/drawingml/2006/main">
            <a:r>
              <a:rPr sz="1400"/>
              <a:t/>
            </a:r>
          </a:p>
          <a:p xmlns:a="http://schemas.openxmlformats.org/drawingml/2006/main">
            <a:r>
              <a:rPr sz="1400"/>
              <a:t>Uitleg: Brin richt zich meer op jassen en Aster op pompen. Een passende goederenstroom is jassen van Brin naar Aster: export van Brin en import van Aster. Ook pompen van Aster naar Brin is correct mits beide gezichtspunten worden genoemd. Het gekozen voorbeeld toont één stroom volledig. Specialisatie hoeft niet volledig te zijn.</a:t>
            </a:r>
          </a:p>
          <a:p xmlns:a="http://schemas.openxmlformats.org/drawingml/2006/main">
            <a:r>
              <a:rPr sz="1400"/>
              <a:t/>
            </a:r>
          </a:p>
          <a:p xmlns:a="http://schemas.openxmlformats.org/drawingml/2006/main">
            <a:r>
              <a:rPr sz="1400"/>
              <a:t>Misvatting: Verwissel handelsstroom en geldstroom niet.</a:t>
            </a:r>
          </a:p>
          <a:p xmlns:a="http://schemas.openxmlformats.org/drawingml/2006/main">
            <a:r>
              <a:rPr sz="1400"/>
              <a:t/>
            </a:r>
          </a:p>
          <a:p xmlns:a="http://schemas.openxmlformats.org/drawingml/2006/main">
            <a:r>
              <a:rPr sz="1400"/>
              <a:t>Overgang: Welke voorwaarde stelt d aan deze ruil?</a:t>
            </a:r>
          </a:p>
          <a:p xmlns:a="http://schemas.openxmlformats.org/drawingml/2006/main">
            <a:r>
              <a:rPr sz="1400"/>
              <a:t/>
            </a:r>
          </a:p>
          <a:p xmlns:a="http://schemas.openxmlformats.org/drawingml/2006/main">
            <a:r>
              <a:rPr sz="1400"/>
              <a:t>Bron: Boek 3, geselecteerde editie books34-v3, revisie book34-lesson-balance-v3-20260915, leerlingboek gedrukte pagina 95.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Is weinig transportkosten op zichzelf genoeg voor voordeel voor beiden?</a:t>
            </a:r>
          </a:p>
          <a:p xmlns:a="http://schemas.openxmlformats.org/drawingml/2006/main">
            <a:r>
              <a:rPr sz="1400"/>
              <a:t/>
            </a:r>
          </a:p>
          <a:p xmlns:a="http://schemas.openxmlformats.org/drawingml/2006/main">
            <a:r>
              <a:rPr sz="1400"/>
              <a:t>Uitleg: Eerste deel d: de ruilafspraken moeten voor beide partijen aantrekkelijk zijn ten opzichte van zelf produceren. De bron maakt duidelijk dat beide landen beide producten willen en zonder hoge transportkosten kunnen handelen. Dat ondersteunt de mogelijkheid van voordeel, maar vervangt de ruilvoorwaarde niet.</a:t>
            </a:r>
          </a:p>
          <a:p xmlns:a="http://schemas.openxmlformats.org/drawingml/2006/main">
            <a:r>
              <a:rPr sz="1400"/>
              <a:t/>
            </a:r>
          </a:p>
          <a:p xmlns:a="http://schemas.openxmlformats.org/drawingml/2006/main">
            <a:r>
              <a:rPr sz="1400"/>
              <a:t>Misvatting: Een gunstige specialisatierichting garandeert niet dat elke verdeling van de handelswinst aanvaardbaar is.</a:t>
            </a:r>
          </a:p>
          <a:p xmlns:a="http://schemas.openxmlformats.org/drawingml/2006/main">
            <a:r>
              <a:rPr sz="1400"/>
              <a:t/>
            </a:r>
          </a:p>
          <a:p xmlns:a="http://schemas.openxmlformats.org/drawingml/2006/main">
            <a:r>
              <a:rPr sz="1400"/>
              <a:t>Overgang: Beantwoord nu ook het tweede deel van d.</a:t>
            </a:r>
          </a:p>
          <a:p xmlns:a="http://schemas.openxmlformats.org/drawingml/2006/main">
            <a:r>
              <a:rPr sz="1400"/>
              <a:t/>
            </a:r>
          </a:p>
          <a:p xmlns:a="http://schemas.openxmlformats.org/drawingml/2006/main">
            <a:r>
              <a:rPr sz="1400"/>
              <a:t>Bron: Boek 3, geselecteerde editie books34-v3, revisie book34-lesson-balance-v3-20260915, leerlingboek gedrukte pagina 95.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koopcriterium noemt de bron expliciet?</a:t>
            </a:r>
          </a:p>
          <a:p xmlns:a="http://schemas.openxmlformats.org/drawingml/2006/main">
            <a:r>
              <a:rPr sz="1400"/>
              <a:t/>
            </a:r>
          </a:p>
          <a:p xmlns:a="http://schemas.openxmlformats.org/drawingml/2006/main">
            <a:r>
              <a:rPr sz="1400"/>
              <a:t>Uitleg: Tweede deel d: op tijd leveren maakt Asters pompen aantrekkelijk voor buitenlandse kopers, die betrouwbaarheid waarderen. Verbind het bronfeit dus aan de concurrentiepositie. Een prijsverlaging of kwaliteitsverschil is hier niet gegeven. Kwaliteit is juist gelijk in de landenvergelijking.</a:t>
            </a:r>
          </a:p>
          <a:p xmlns:a="http://schemas.openxmlformats.org/drawingml/2006/main">
            <a:r>
              <a:rPr sz="1400"/>
              <a:t/>
            </a:r>
          </a:p>
          <a:p xmlns:a="http://schemas.openxmlformats.org/drawingml/2006/main">
            <a:r>
              <a:rPr sz="1400"/>
              <a:t>Misvatting: Verzin geen goedkopere pompen of betere kwaliteit.</a:t>
            </a:r>
          </a:p>
          <a:p xmlns:a="http://schemas.openxmlformats.org/drawingml/2006/main">
            <a:r>
              <a:rPr sz="1400"/>
              <a:t/>
            </a:r>
          </a:p>
          <a:p xmlns:a="http://schemas.openxmlformats.org/drawingml/2006/main">
            <a:r>
              <a:rPr sz="1400"/>
              <a:t>Overgang: Toets de brede conclusie van de adviseur aan de genoemde verliezende groep.</a:t>
            </a:r>
          </a:p>
          <a:p xmlns:a="http://schemas.openxmlformats.org/drawingml/2006/main">
            <a:r>
              <a:rPr sz="1400"/>
              <a:t/>
            </a:r>
          </a:p>
          <a:p xmlns:a="http://schemas.openxmlformats.org/drawingml/2006/main">
            <a:r>
              <a:rPr sz="1400"/>
              <a:t>Bron: Boek 3, geselecteerde editie books34-v3, revisie book34-lesson-balance-v3-20260915, leerlingboek gedrukte pagina 95.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deel van de uitspraak klopt, en welke conclusie gaat te ver?</a:t>
            </a:r>
          </a:p>
          <a:p xmlns:a="http://schemas.openxmlformats.org/drawingml/2006/main">
            <a:r>
              <a:rPr sz="1400"/>
              <a:t/>
            </a:r>
          </a:p>
          <a:p xmlns:a="http://schemas.openxmlformats.org/drawingml/2006/main">
            <a:r>
              <a:rPr sz="1400"/>
              <a:t>Uitleg: Beoordeel de gevolgtrekking, niet het correcte eerste bronfeit. Aster produceert beide producten met minder middelen, maar uit dat absolute voordeel volgt niet dat iedereen wint door handel. De bron noemt jassenmakers die klanten kunnen verliezen aan Brin. Met die concrete groep is de algemene uitspraak weerlegd. Claim geen aantallen verloren banen, want die geeft de bron niet.</a:t>
            </a:r>
          </a:p>
          <a:p xmlns:a="http://schemas.openxmlformats.org/drawingml/2006/main">
            <a:r>
              <a:rPr sz="1400"/>
              <a:t/>
            </a:r>
          </a:p>
          <a:p xmlns:a="http://schemas.openxmlformats.org/drawingml/2006/main">
            <a:r>
              <a:rPr sz="1400"/>
              <a:t>Misvatting: “Handel is altijd slecht” is evenmin onderbouwd. Onderscheid groepen.</a:t>
            </a:r>
          </a:p>
          <a:p xmlns:a="http://schemas.openxmlformats.org/drawingml/2006/main">
            <a:r>
              <a:rPr sz="1400"/>
              <a:t/>
            </a:r>
          </a:p>
          <a:p xmlns:a="http://schemas.openxmlformats.org/drawingml/2006/main">
            <a:r>
              <a:rPr sz="1400"/>
              <a:t>Overgang: Laat leerlingen hun eigen antwoord controleren en verbeteren.</a:t>
            </a:r>
          </a:p>
          <a:p xmlns:a="http://schemas.openxmlformats.org/drawingml/2006/main">
            <a:r>
              <a:rPr sz="1400"/>
              <a:t/>
            </a:r>
          </a:p>
          <a:p xmlns:a="http://schemas.openxmlformats.org/drawingml/2006/main">
            <a:r>
              <a:rPr sz="1400"/>
              <a:t>Bron: Boek 3, geselecteerde editie books34-v3, revisie book34-lesson-balance-v3-20260915, leerlingboek gedrukte pagina 95.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ontbrak in jouw eigen antwoord?</a:t>
            </a:r>
          </a:p>
          <a:p xmlns:a="http://schemas.openxmlformats.org/drawingml/2006/main">
            <a:r>
              <a:rPr sz="1400"/>
              <a:t/>
            </a:r>
          </a:p>
          <a:p xmlns:a="http://schemas.openxmlformats.org/drawingml/2006/main">
            <a:r>
              <a:rPr sz="1400"/>
              <a:t>Uitleg: Laat elke leerling het eigen antwoord aanvullen, niet alleen de conclusie overschrijven. Controleer alle vijf onderdelen en vooral beide delen van d. Het antwoordmodel staat gelijkwaardige formuleringen toe. Deze les introduceert de groepen die in §3.3.2 terugkomen bij wereldmarktprijs, binnenlandse productie en verbruik.</a:t>
            </a:r>
          </a:p>
          <a:p xmlns:a="http://schemas.openxmlformats.org/drawingml/2006/main">
            <a:r>
              <a:rPr sz="1400"/>
              <a:t/>
            </a:r>
          </a:p>
          <a:p xmlns:a="http://schemas.openxmlformats.org/drawingml/2006/main">
            <a:r>
              <a:rPr sz="1400"/>
              <a:t>Misvatting: Alleen de juiste landen of producten noemen is onvoldoende als de vraag een uitleg verlangt.</a:t>
            </a:r>
          </a:p>
          <a:p xmlns:a="http://schemas.openxmlformats.org/drawingml/2006/main">
            <a:r>
              <a:rPr sz="1400"/>
              <a:t/>
            </a:r>
          </a:p>
          <a:p xmlns:a="http://schemas.openxmlformats.org/drawingml/2006/main">
            <a:r>
              <a:rPr sz="1400"/>
              <a:t>Overgang: Laat de laatste overzichtsdia staan en noteer het huiswerk.</a:t>
            </a:r>
          </a:p>
          <a:p xmlns:a="http://schemas.openxmlformats.org/drawingml/2006/main">
            <a:r>
              <a:rPr sz="1400"/>
              <a:t/>
            </a:r>
          </a:p>
          <a:p xmlns:a="http://schemas.openxmlformats.org/drawingml/2006/main">
            <a:r>
              <a:rPr sz="1400"/>
              <a:t>Bron: Boek 3, geselecteerde editie books34-v3, revisie book34-lesson-balance-v3-20260915, leerlingboek gedrukte pagina 95.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redenering wil je nog verbeteren?</a:t>
            </a:r>
          </a:p>
          <a:p xmlns:a="http://schemas.openxmlformats.org/drawingml/2006/main">
            <a:r>
              <a:rPr sz="1400"/>
              <a:t/>
            </a:r>
          </a:p>
          <a:p xmlns:a="http://schemas.openxmlformats.org/drawingml/2006/main">
            <a:r>
              <a:rPr sz="1400"/>
              <a:t>Uitleg: Laat deze dia staan tijdens afsluiting / huiswerk. Start: 1–2 op p. 92. Basis: 3 op p. 92 en 4 op p. 93; zelfstandig: 5–6 op p. 94; doel: 7 op p. 95. Huiswerk: 3, 4, 5, 6 en 7 maken en nakijken. Bonus 8 en herhaling 9–10 zijn extra. Opgave 1 haalt alternatieve kosten op uit §1.1.1; help de transfer van lokaal naar productiemiddelen door te vragen wat niet tegelijk kan. Opgave 2 introduceert import/export en vooral het bewijs voor comparatief voordeel. Laat leerlingen voor 2a p. 88 lezen en voor 2b de begripsvergelijking op p. 89 en concurrentiepositie op p. 90 gebruiken. Laat hen hun gebruikte bronzin en twijfel noteren. Beoordeel dit als verkennen met steun. Bij terugkeer naar dit overzicht vóór het basiswerk: laat opgave 2 opnieuw proberen, bespreek de gebruikte bron en geef zo nodig extra steun. De docenthandleiding reserveert voorlopig twee lessen van 55 minuten; de fit is niet gemeten. Voltooi de route in een volgende les of als huiswerk als dat nodig is.</a:t>
            </a:r>
          </a:p>
          <a:p xmlns:a="http://schemas.openxmlformats.org/drawingml/2006/main">
            <a:r>
              <a:rPr sz="1400"/>
              <a:t/>
            </a:r>
          </a:p>
          <a:p xmlns:a="http://schemas.openxmlformats.org/drawingml/2006/main">
            <a:r>
              <a:rPr sz="1400"/>
              <a:t>Misvatting: De complete boekpaginering is gebruikt: hoofdstukpagina 6 is boekpagina 92. Startopgaven bewijzen geen beheersing van nieuwe stof.</a:t>
            </a:r>
          </a:p>
          <a:p xmlns:a="http://schemas.openxmlformats.org/drawingml/2006/main">
            <a:r>
              <a:rPr sz="1400"/>
              <a:t/>
            </a:r>
          </a:p>
          <a:p xmlns:a="http://schemas.openxmlformats.org/drawingml/2006/main">
            <a:r>
              <a:rPr sz="1400"/>
              <a:t>Overgang: Huiswerk in de agenda. In §3.3.2 onderzoeken we de marktprijs.</a:t>
            </a:r>
          </a:p>
          <a:p xmlns:a="http://schemas.openxmlformats.org/drawingml/2006/main">
            <a:r>
              <a:rPr sz="1400"/>
              <a:t/>
            </a:r>
          </a:p>
          <a:p xmlns:a="http://schemas.openxmlformats.org/drawingml/2006/main">
            <a:r>
              <a:rPr sz="1400"/>
              <a:t>Bron: Boek 3, geselecteerde editie books34-v3, revisie book34-lesson-balance-v3-20260915, leerlingboek gedrukte pagina 88–95. https://github.com/meijer1973/4veco-lessen/blob/9b8304d5031cafac936a56281e144573a25fbbc9/edities/books34-v3/books/book-3/output/Boek_3_Compleet_v3.pdf</a:t>
            </a:r>
          </a:p>
          <a:p xmlns:a="http://schemas.openxmlformats.org/drawingml/2006/main">
            <a:r>
              <a:rPr sz="1400"/>
              <a:t>Methode: https://github.com/meijer1973/4veco-lessen/blob/9b8304d5031cafac936a56281e144573a25fbbc9/edities/books34-v3/books/book-3/chapters/3.3/3.3.1%20manuscript.md</a:t>
            </a:r>
          </a:p>
          <a:p xmlns:a="http://schemas.openxmlformats.org/drawingml/2006/main">
            <a:r>
              <a:rPr sz="1400"/>
              <a:t>Antwoordmodel: https://github.com/meijer1973/4veco-lessen/blob/9b8304d5031cafac936a56281e144573a25fbbc9/edities/books34-v3/books/book-3/chapters/3.3/Antwoorden.md (opgaven 1–7).</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a24d5bd2024a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29ac835f47431c" /><Relationship Type="http://schemas.openxmlformats.org/officeDocument/2006/relationships/slideLayout" Target="/ppt/slideLayouts/slideLayout1.xml" Id="Racf4c46e327348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f4c46e327348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c92fcf7475f4060" /><Relationship Type="http://schemas.openxmlformats.org/officeDocument/2006/relationships/notesSlide" Target="/ppt/notesSlides/notesSlide1.xml" Id="R238d0b19374449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80e693a593544aa" /><Relationship Type="http://schemas.openxmlformats.org/officeDocument/2006/relationships/notesSlide" Target="/ppt/notesSlides/notesSlide2.xml" Id="Re56d4d13929245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0386eab9bc54739" /><Relationship Type="http://schemas.openxmlformats.org/officeDocument/2006/relationships/notesSlide" Target="/ppt/notesSlides/notesSlide3.xml" Id="R88465175d19b42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9a030119d149fe" /><Relationship Type="http://schemas.openxmlformats.org/officeDocument/2006/relationships/notesSlide" Target="/ppt/notesSlides/notesSlide4.xml" Id="Rbb1458ab99cd41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dace6973b543fd" /><Relationship Type="http://schemas.openxmlformats.org/officeDocument/2006/relationships/notesSlide" Target="/ppt/notesSlides/notesSlide5.xml" Id="R22b5c7a0e47244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789e829253c4d15" /><Relationship Type="http://schemas.openxmlformats.org/officeDocument/2006/relationships/notesSlide" Target="/ppt/notesSlides/notesSlide6.xml" Id="R141b590a8d0f4f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8450f4230004e33" /><Relationship Type="http://schemas.openxmlformats.org/officeDocument/2006/relationships/notesSlide" Target="/ppt/notesSlides/notesSlide7.xml" Id="Rf17ea417dca54a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215c22669d7490e" /><Relationship Type="http://schemas.openxmlformats.org/officeDocument/2006/relationships/notesSlide" Target="/ppt/notesSlides/notesSlide8.xml" Id="R3ac0bc84c62d43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e1e14c7bcac4288" /><Relationship Type="http://schemas.openxmlformats.org/officeDocument/2006/relationships/notesSlide" Target="/ppt/notesSlides/notesSlide9.xml" Id="R1b01c08aae084c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b541b379a2b426f" /><Relationship Type="http://schemas.openxmlformats.org/officeDocument/2006/relationships/notesSlide" Target="/ppt/notesSlides/notesSlide10.xml" Id="R1a178ffc5ce0473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af1e26250ae41aa" /><Relationship Type="http://schemas.openxmlformats.org/officeDocument/2006/relationships/notesSlide" Target="/ppt/notesSlides/notesSlide11.xml" Id="Re1f627cee5e84f7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c89a2c54daf497d" /><Relationship Type="http://schemas.openxmlformats.org/officeDocument/2006/relationships/notesSlide" Target="/ppt/notesSlides/notesSlide12.xml" Id="R9b9e2a8a2a4d46b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586ee7c95854f84" /><Relationship Type="http://schemas.openxmlformats.org/officeDocument/2006/relationships/notesSlide" Target="/ppt/notesSlides/notesSlide13.xml" Id="Rfb1dabb5d0b6445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3b6d8c84d014a27" /><Relationship Type="http://schemas.openxmlformats.org/officeDocument/2006/relationships/notesSlide" Target="/ppt/notesSlides/notesSlide14.xml" Id="R8ba3a8880ec849b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8e63ff521624411" /><Relationship Type="http://schemas.openxmlformats.org/officeDocument/2006/relationships/notesSlide" Target="/ppt/notesSlides/notesSlide15.xml" Id="R12a42f6d502b422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14c5fa92f644e15" /><Relationship Type="http://schemas.openxmlformats.org/officeDocument/2006/relationships/notesSlide" Target="/ppt/notesSlides/notesSlide16.xml" Id="Rda48a7f3fd19418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5b46210758646ee" /><Relationship Type="http://schemas.openxmlformats.org/officeDocument/2006/relationships/notesSlide" Target="/ppt/notesSlides/notesSlide17.xml" Id="R807d3f56567f45e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4fe453965164d47" /><Relationship Type="http://schemas.openxmlformats.org/officeDocument/2006/relationships/notesSlide" Target="/ppt/notesSlides/notesSlide18.xml" Id="Rda92a90725fd43a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9923fca39964c93" /><Relationship Type="http://schemas.openxmlformats.org/officeDocument/2006/relationships/notesSlide" Target="/ppt/notesSlides/notesSlide19.xml" Id="R4dd99d16b8a0464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5d30a7b810e4a45" /><Relationship Type="http://schemas.openxmlformats.org/officeDocument/2006/relationships/notesSlide" Target="/ppt/notesSlides/notesSlide20.xml" Id="R00f880462d5b448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6302d1244034929" /><Relationship Type="http://schemas.openxmlformats.org/officeDocument/2006/relationships/notesSlide" Target="/ppt/notesSlides/notesSlide21.xml" Id="Rd1e92b8e8bae4db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dee6545123842da" /><Relationship Type="http://schemas.openxmlformats.org/officeDocument/2006/relationships/notesSlide" Target="/ppt/notesSlides/notesSlide22.xml" Id="Rd6622a0629eb4aa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4d41cfcd4c8499b" /><Relationship Type="http://schemas.openxmlformats.org/officeDocument/2006/relationships/notesSlide" Target="/ppt/notesSlides/notesSlide23.xml" Id="R5c627f3ce6d9441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f2b9ceee1dd4420" /><Relationship Type="http://schemas.openxmlformats.org/officeDocument/2006/relationships/notesSlide" Target="/ppt/notesSlides/notesSlide24.xml" Id="R1efd024c67114bb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96f21f570ce4bfb" /><Relationship Type="http://schemas.openxmlformats.org/officeDocument/2006/relationships/notesSlide" Target="/ppt/notesSlides/notesSlide25.xml" Id="R30b4ef82ac3447b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ac2d82fba0d49dd" /><Relationship Type="http://schemas.openxmlformats.org/officeDocument/2006/relationships/notesSlide" Target="/ppt/notesSlides/notesSlide26.xml" Id="Ra420c96cdc8a4a4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lide-title">
            <a:extLst xmlns:a="http://schemas.openxmlformats.org/drawingml/2006/main">
              <a:ext uri="{FF2B5EF4-FFF2-40B4-BE49-F238E27FC236}">
                <a16:creationId xmlns:a16="http://schemas.microsoft.com/office/drawing/2014/main" id="{3F333838-422E-4962-BBD8-7FE56D4F7925}"/>
              </a:ext>
            </a:extLst>
          </p:cNvPr>
          <p:cNvSpPr>
            <a:spLocks xmlns:a="http://schemas.openxmlformats.org/drawingml/2006/main" noGrp="1"/>
          </p:cNvSpPr>
          <p:nvPr/>
        </p:nvSpPr>
        <p:spPr>
          <a:xfrm xmlns:a="http://schemas.openxmlformats.org/drawingml/2006/main">
            <a:off x="571500" y="266700"/>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§3.3.1 Waarom landen handelen:</a:t>
            </a:r>
          </a:p>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specialisatie en concurrentiepositie</a:t>
            </a:r>
          </a:p>
        </p:txBody>
      </p:sp>
      <p:sp>
        <p:nvSpPr>
          <p:cNvPr id="2" name="phase">
            <a:extLst xmlns:a="http://schemas.openxmlformats.org/drawingml/2006/main">
              <a:ext uri="{FF2B5EF4-FFF2-40B4-BE49-F238E27FC236}">
                <a16:creationId xmlns:a16="http://schemas.microsoft.com/office/drawing/2014/main" id="{B7AB699A-0A67-4679-B947-4458875CE120}"/>
              </a:ext>
            </a:extLst>
          </p:cNvPr>
          <p:cNvSpPr>
            <a:spLocks xmlns:a="http://schemas.openxmlformats.org/drawingml/2006/main" noGrp="1"/>
          </p:cNvSpPr>
          <p:nvPr/>
        </p:nvSpPr>
        <p:spPr>
          <a:xfrm xmlns:a="http://schemas.openxmlformats.org/drawingml/2006/main">
            <a:off x="571500" y="137160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3" name="">
            <a:extLst xmlns:a="http://schemas.openxmlformats.org/drawingml/2006/main">
              <a:ext uri="{FF2B5EF4-FFF2-40B4-BE49-F238E27FC236}">
                <a16:creationId xmlns:a16="http://schemas.microsoft.com/office/drawing/2014/main" id="{9087F42A-F4B3-4ABC-B338-70268B7F2827}"/>
              </a:ext>
            </a:extLst>
          </p:cNvPr>
          <p:cNvSpPr>
            <a:spLocks xmlns:a="http://schemas.openxmlformats.org/drawingml/2006/main" noGrp="1"/>
          </p:cNvSpPr>
          <p:nvPr/>
        </p:nvSpPr>
        <p:spPr>
          <a:xfrm xmlns:a="http://schemas.openxmlformats.org/drawingml/2006/main">
            <a:off x="571500" y="1847850"/>
            <a:ext cx="14097000" cy="0"/>
          </a:xfrm>
          <a:prstGeom xmlns:a="http://schemas.openxmlformats.org/drawingml/2006/main" prst="line">
            <a:avLst/>
          </a:prstGeom>
          <a:ln xmlns:a="http://schemas.openxmlformats.org/drawingml/2006/main" w="19050">
            <a:solidFill>
              <a:srgbClr val="C6D2DB"/>
            </a:solidFill>
          </a:ln>
        </p:spPr>
      </p:sp>
      <p:sp>
        <p:nvSpPr>
          <p:cNvPr id="4" name="Lesroute">
            <a:extLst xmlns:a="http://schemas.openxmlformats.org/drawingml/2006/main">
              <a:ext uri="{FF2B5EF4-FFF2-40B4-BE49-F238E27FC236}">
                <a16:creationId xmlns:a16="http://schemas.microsoft.com/office/drawing/2014/main" id="{329206B3-7217-404E-95F3-F4D81B79C5EE}"/>
              </a:ext>
            </a:extLst>
          </p:cNvPr>
          <p:cNvSpPr>
            <a:spLocks xmlns:a="http://schemas.openxmlformats.org/drawingml/2006/main" noGrp="1"/>
          </p:cNvSpPr>
          <p:nvPr/>
        </p:nvSpPr>
        <p:spPr>
          <a:xfrm xmlns:a="http://schemas.openxmlformats.org/drawingml/2006/main">
            <a:off x="571500" y="2076450"/>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5" name="route-number-1">
            <a:extLst xmlns:a="http://schemas.openxmlformats.org/drawingml/2006/main">
              <a:ext uri="{FF2B5EF4-FFF2-40B4-BE49-F238E27FC236}">
                <a16:creationId xmlns:a16="http://schemas.microsoft.com/office/drawing/2014/main" id="{12E9AE20-3436-4164-A3C8-DBD4F1F92963}"/>
              </a:ext>
            </a:extLst>
          </p:cNvPr>
          <p:cNvSpPr>
            <a:spLocks xmlns:a="http://schemas.openxmlformats.org/drawingml/2006/main" noGrp="1"/>
          </p:cNvSpPr>
          <p:nvPr/>
        </p:nvSpPr>
        <p:spPr>
          <a:xfrm xmlns:a="http://schemas.openxmlformats.org/drawingml/2006/main">
            <a:off x="571500" y="2638425"/>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6" name="route-1">
            <a:extLst xmlns:a="http://schemas.openxmlformats.org/drawingml/2006/main">
              <a:ext uri="{FF2B5EF4-FFF2-40B4-BE49-F238E27FC236}">
                <a16:creationId xmlns:a16="http://schemas.microsoft.com/office/drawing/2014/main" id="{27A647E0-FD77-40C4-BF05-0DA16E74AF54}"/>
              </a:ext>
            </a:extLst>
          </p:cNvPr>
          <p:cNvSpPr>
            <a:spLocks xmlns:a="http://schemas.openxmlformats.org/drawingml/2006/main" noGrp="1"/>
          </p:cNvSpPr>
          <p:nvPr/>
        </p:nvSpPr>
        <p:spPr>
          <a:xfrm xmlns:a="http://schemas.openxmlformats.org/drawingml/2006/main">
            <a:off x="1104900" y="2638425"/>
            <a:ext cx="7667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7" name="route-number-2">
            <a:extLst xmlns:a="http://schemas.openxmlformats.org/drawingml/2006/main">
              <a:ext uri="{FF2B5EF4-FFF2-40B4-BE49-F238E27FC236}">
                <a16:creationId xmlns:a16="http://schemas.microsoft.com/office/drawing/2014/main" id="{841E2514-CFAE-4363-BBA1-A003276FCA04}"/>
              </a:ext>
            </a:extLst>
          </p:cNvPr>
          <p:cNvSpPr>
            <a:spLocks xmlns:a="http://schemas.openxmlformats.org/drawingml/2006/main" noGrp="1"/>
          </p:cNvSpPr>
          <p:nvPr/>
        </p:nvSpPr>
        <p:spPr>
          <a:xfrm xmlns:a="http://schemas.openxmlformats.org/drawingml/2006/main">
            <a:off x="571500" y="34766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8" name="route-2">
            <a:extLst xmlns:a="http://schemas.openxmlformats.org/drawingml/2006/main">
              <a:ext uri="{FF2B5EF4-FFF2-40B4-BE49-F238E27FC236}">
                <a16:creationId xmlns:a16="http://schemas.microsoft.com/office/drawing/2014/main" id="{5BDCBAE8-32D8-43D0-829B-E7D56FFB98DB}"/>
              </a:ext>
            </a:extLst>
          </p:cNvPr>
          <p:cNvSpPr>
            <a:spLocks xmlns:a="http://schemas.openxmlformats.org/drawingml/2006/main" noGrp="1"/>
          </p:cNvSpPr>
          <p:nvPr/>
        </p:nvSpPr>
        <p:spPr>
          <a:xfrm xmlns:a="http://schemas.openxmlformats.org/drawingml/2006/main">
            <a:off x="1104900" y="3476625"/>
            <a:ext cx="766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9" name="route-number-3">
            <a:extLst xmlns:a="http://schemas.openxmlformats.org/drawingml/2006/main">
              <a:ext uri="{FF2B5EF4-FFF2-40B4-BE49-F238E27FC236}">
                <a16:creationId xmlns:a16="http://schemas.microsoft.com/office/drawing/2014/main" id="{E91705BB-222E-4C47-AC37-877A90D4D6B0}"/>
              </a:ext>
            </a:extLst>
          </p:cNvPr>
          <p:cNvSpPr>
            <a:spLocks xmlns:a="http://schemas.openxmlformats.org/drawingml/2006/main" noGrp="1"/>
          </p:cNvSpPr>
          <p:nvPr/>
        </p:nvSpPr>
        <p:spPr>
          <a:xfrm xmlns:a="http://schemas.openxmlformats.org/drawingml/2006/main">
            <a:off x="571500" y="39719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0" name="route-3">
            <a:extLst xmlns:a="http://schemas.openxmlformats.org/drawingml/2006/main">
              <a:ext uri="{FF2B5EF4-FFF2-40B4-BE49-F238E27FC236}">
                <a16:creationId xmlns:a16="http://schemas.microsoft.com/office/drawing/2014/main" id="{DCD0CF02-A27D-4C28-B7DD-B1F437A54827}"/>
              </a:ext>
            </a:extLst>
          </p:cNvPr>
          <p:cNvSpPr>
            <a:spLocks xmlns:a="http://schemas.openxmlformats.org/drawingml/2006/main" noGrp="1"/>
          </p:cNvSpPr>
          <p:nvPr/>
        </p:nvSpPr>
        <p:spPr>
          <a:xfrm xmlns:a="http://schemas.openxmlformats.org/drawingml/2006/main">
            <a:off x="1104900" y="3971925"/>
            <a:ext cx="766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1" name="route-number-4">
            <a:extLst xmlns:a="http://schemas.openxmlformats.org/drawingml/2006/main">
              <a:ext uri="{FF2B5EF4-FFF2-40B4-BE49-F238E27FC236}">
                <a16:creationId xmlns:a16="http://schemas.microsoft.com/office/drawing/2014/main" id="{A9F63D42-8303-42FB-80DE-09912C097E6D}"/>
              </a:ext>
            </a:extLst>
          </p:cNvPr>
          <p:cNvSpPr>
            <a:spLocks xmlns:a="http://schemas.openxmlformats.org/drawingml/2006/main" noGrp="1"/>
          </p:cNvSpPr>
          <p:nvPr/>
        </p:nvSpPr>
        <p:spPr>
          <a:xfrm xmlns:a="http://schemas.openxmlformats.org/drawingml/2006/main">
            <a:off x="571500" y="4467225"/>
            <a:ext cx="4572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2" name="route-4">
            <a:extLst xmlns:a="http://schemas.openxmlformats.org/drawingml/2006/main">
              <a:ext uri="{FF2B5EF4-FFF2-40B4-BE49-F238E27FC236}">
                <a16:creationId xmlns:a16="http://schemas.microsoft.com/office/drawing/2014/main" id="{D0BA7CEC-CE45-4608-8884-8D10238A32D6}"/>
              </a:ext>
            </a:extLst>
          </p:cNvPr>
          <p:cNvSpPr>
            <a:spLocks xmlns:a="http://schemas.openxmlformats.org/drawingml/2006/main" noGrp="1"/>
          </p:cNvSpPr>
          <p:nvPr/>
        </p:nvSpPr>
        <p:spPr>
          <a:xfrm xmlns:a="http://schemas.openxmlformats.org/drawingml/2006/main">
            <a:off x="1104900" y="4467225"/>
            <a:ext cx="76676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Lukt dat goed, ga dan naar de zelfstandige oefening.</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daarna de doelopgave en kijk vervolgens je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antwoorden na.</a:t>
            </a:r>
          </a:p>
        </p:txBody>
      </p:sp>
      <p:sp>
        <p:nvSpPr>
          <p:cNvPr id="13" name="route-number-5">
            <a:extLst xmlns:a="http://schemas.openxmlformats.org/drawingml/2006/main">
              <a:ext uri="{FF2B5EF4-FFF2-40B4-BE49-F238E27FC236}">
                <a16:creationId xmlns:a16="http://schemas.microsoft.com/office/drawing/2014/main" id="{5E0DE2DB-F3EA-490C-B026-256F17552F99}"/>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4" name="route-5">
            <a:extLst xmlns:a="http://schemas.openxmlformats.org/drawingml/2006/main">
              <a:ext uri="{FF2B5EF4-FFF2-40B4-BE49-F238E27FC236}">
                <a16:creationId xmlns:a16="http://schemas.microsoft.com/office/drawing/2014/main" id="{FAD05E7C-9C36-4052-8262-F65101339BBB}"/>
              </a:ext>
            </a:extLst>
          </p:cNvPr>
          <p:cNvSpPr>
            <a:spLocks xmlns:a="http://schemas.openxmlformats.org/drawingml/2006/main" noGrp="1"/>
          </p:cNvSpPr>
          <p:nvPr/>
        </p:nvSpPr>
        <p:spPr>
          <a:xfrm xmlns:a="http://schemas.openxmlformats.org/drawingml/2006/main">
            <a:off x="1104900" y="6057900"/>
            <a:ext cx="7667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5" name="route-number-6">
            <a:extLst xmlns:a="http://schemas.openxmlformats.org/drawingml/2006/main">
              <a:ext uri="{FF2B5EF4-FFF2-40B4-BE49-F238E27FC236}">
                <a16:creationId xmlns:a16="http://schemas.microsoft.com/office/drawing/2014/main" id="{651DBB62-BD01-46DB-8C56-0EE53C169E1F}"/>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6" name="route-6">
            <a:extLst xmlns:a="http://schemas.openxmlformats.org/drawingml/2006/main">
              <a:ext uri="{FF2B5EF4-FFF2-40B4-BE49-F238E27FC236}">
                <a16:creationId xmlns:a16="http://schemas.microsoft.com/office/drawing/2014/main" id="{62097876-78D7-44CA-ADBB-ABA2F60E5C4C}"/>
              </a:ext>
            </a:extLst>
          </p:cNvPr>
          <p:cNvSpPr>
            <a:spLocks xmlns:a="http://schemas.openxmlformats.org/drawingml/2006/main" noGrp="1"/>
          </p:cNvSpPr>
          <p:nvPr/>
        </p:nvSpPr>
        <p:spPr>
          <a:xfrm xmlns:a="http://schemas.openxmlformats.org/drawingml/2006/main">
            <a:off x="1104900" y="6819900"/>
            <a:ext cx="7667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7" name="route-number-7">
            <a:extLst xmlns:a="http://schemas.openxmlformats.org/drawingml/2006/main">
              <a:ext uri="{FF2B5EF4-FFF2-40B4-BE49-F238E27FC236}">
                <a16:creationId xmlns:a16="http://schemas.microsoft.com/office/drawing/2014/main" id="{DAB32C5E-2304-41F0-A275-A58F380E3768}"/>
              </a:ext>
            </a:extLst>
          </p:cNvPr>
          <p:cNvSpPr>
            <a:spLocks xmlns:a="http://schemas.openxmlformats.org/drawingml/2006/main" noGrp="1"/>
          </p:cNvSpPr>
          <p:nvPr/>
        </p:nvSpPr>
        <p:spPr>
          <a:xfrm xmlns:a="http://schemas.openxmlformats.org/drawingml/2006/main">
            <a:off x="571500" y="74104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18" name="route-7">
            <a:extLst xmlns:a="http://schemas.openxmlformats.org/drawingml/2006/main">
              <a:ext uri="{FF2B5EF4-FFF2-40B4-BE49-F238E27FC236}">
                <a16:creationId xmlns:a16="http://schemas.microsoft.com/office/drawing/2014/main" id="{D343E915-53BE-489C-B2B0-814772D5864E}"/>
              </a:ext>
            </a:extLst>
          </p:cNvPr>
          <p:cNvSpPr>
            <a:spLocks xmlns:a="http://schemas.openxmlformats.org/drawingml/2006/main" noGrp="1"/>
          </p:cNvSpPr>
          <p:nvPr/>
        </p:nvSpPr>
        <p:spPr>
          <a:xfrm xmlns:a="http://schemas.openxmlformats.org/drawingml/2006/main">
            <a:off x="1104900" y="7410450"/>
            <a:ext cx="7667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19" name="Lesdoelen">
            <a:extLst xmlns:a="http://schemas.openxmlformats.org/drawingml/2006/main">
              <a:ext uri="{FF2B5EF4-FFF2-40B4-BE49-F238E27FC236}">
                <a16:creationId xmlns:a16="http://schemas.microsoft.com/office/drawing/2014/main" id="{2192C004-AF37-494D-A3F5-418E1851A250}"/>
              </a:ext>
            </a:extLst>
          </p:cNvPr>
          <p:cNvSpPr>
            <a:spLocks xmlns:a="http://schemas.openxmlformats.org/drawingml/2006/main" noGrp="1"/>
          </p:cNvSpPr>
          <p:nvPr/>
        </p:nvSpPr>
        <p:spPr>
          <a:xfrm xmlns:a="http://schemas.openxmlformats.org/drawingml/2006/main">
            <a:off x="9258300" y="20764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0" name="overview-goals">
            <a:extLst xmlns:a="http://schemas.openxmlformats.org/drawingml/2006/main">
              <a:ext uri="{FF2B5EF4-FFF2-40B4-BE49-F238E27FC236}">
                <a16:creationId xmlns:a16="http://schemas.microsoft.com/office/drawing/2014/main" id="{3F9EBCEF-D8AB-4870-BB32-60ADE58743CB}"/>
              </a:ext>
            </a:extLst>
          </p:cNvPr>
          <p:cNvSpPr>
            <a:spLocks xmlns:a="http://schemas.openxmlformats.org/drawingml/2006/main" noGrp="1"/>
          </p:cNvSpPr>
          <p:nvPr/>
        </p:nvSpPr>
        <p:spPr>
          <a:xfrm xmlns:a="http://schemas.openxmlformats.org/drawingml/2006/main">
            <a:off x="9258300" y="2638425"/>
            <a:ext cx="54102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Handelsstromen benoemen,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voordelen onderscheiden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specialisatie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Bronuitspraken beoordelen.</a:t>
            </a:r>
          </a:p>
        </p:txBody>
      </p:sp>
      <p:sp>
        <p:nvSpPr>
          <p:cNvPr id="21" name="">
            <a:extLst xmlns:a="http://schemas.openxmlformats.org/drawingml/2006/main">
              <a:ext uri="{FF2B5EF4-FFF2-40B4-BE49-F238E27FC236}">
                <a16:creationId xmlns:a16="http://schemas.microsoft.com/office/drawing/2014/main" id="{02E2EAD0-FEA8-44C7-977A-DC9AF7D94D18}"/>
              </a:ext>
            </a:extLst>
          </p:cNvPr>
          <p:cNvSpPr>
            <a:spLocks xmlns:a="http://schemas.openxmlformats.org/drawingml/2006/main" noGrp="1"/>
          </p:cNvSpPr>
          <p:nvPr/>
        </p:nvSpPr>
        <p:spPr>
          <a:xfrm xmlns:a="http://schemas.openxmlformats.org/drawingml/2006/main">
            <a:off x="9258300" y="4143375"/>
            <a:ext cx="5410200" cy="0"/>
          </a:xfrm>
          <a:prstGeom xmlns:a="http://schemas.openxmlformats.org/drawingml/2006/main" prst="line">
            <a:avLst/>
          </a:prstGeom>
          <a:ln xmlns:a="http://schemas.openxmlformats.org/drawingml/2006/main" w="19050">
            <a:solidFill>
              <a:srgbClr val="C6D2DB"/>
            </a:solidFill>
          </a:ln>
        </p:spPr>
      </p:sp>
      <p:sp>
        <p:nvSpPr>
          <p:cNvPr id="22" name="Startopdracht">
            <a:extLst xmlns:a="http://schemas.openxmlformats.org/drawingml/2006/main">
              <a:ext uri="{FF2B5EF4-FFF2-40B4-BE49-F238E27FC236}">
                <a16:creationId xmlns:a16="http://schemas.microsoft.com/office/drawing/2014/main" id="{959F643B-584C-4B8C-B38F-05FBFAB96686}"/>
              </a:ext>
            </a:extLst>
          </p:cNvPr>
          <p:cNvSpPr>
            <a:spLocks xmlns:a="http://schemas.openxmlformats.org/drawingml/2006/main" noGrp="1"/>
          </p:cNvSpPr>
          <p:nvPr/>
        </p:nvSpPr>
        <p:spPr>
          <a:xfrm xmlns:a="http://schemas.openxmlformats.org/drawingml/2006/main">
            <a:off x="9258300" y="43910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3" name="overview-start">
            <a:extLst xmlns:a="http://schemas.openxmlformats.org/drawingml/2006/main">
              <a:ext uri="{FF2B5EF4-FFF2-40B4-BE49-F238E27FC236}">
                <a16:creationId xmlns:a16="http://schemas.microsoft.com/office/drawing/2014/main" id="{7CBDAFAB-2C9E-4850-A8EF-34FAD66A46AB}"/>
              </a:ext>
            </a:extLst>
          </p:cNvPr>
          <p:cNvSpPr>
            <a:spLocks xmlns:a="http://schemas.openxmlformats.org/drawingml/2006/main" noGrp="1"/>
          </p:cNvSpPr>
          <p:nvPr/>
        </p:nvSpPr>
        <p:spPr>
          <a:xfrm xmlns:a="http://schemas.openxmlformats.org/drawingml/2006/main">
            <a:off x="9258300" y="4933950"/>
            <a:ext cx="54102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92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met theorie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 p. 88–90</a:t>
            </a:r>
          </a:p>
        </p:txBody>
      </p:sp>
      <p:sp>
        <p:nvSpPr>
          <p:cNvPr id="24" name="">
            <a:extLst xmlns:a="http://schemas.openxmlformats.org/drawingml/2006/main">
              <a:ext uri="{FF2B5EF4-FFF2-40B4-BE49-F238E27FC236}">
                <a16:creationId xmlns:a16="http://schemas.microsoft.com/office/drawing/2014/main" id="{1D6C4448-4D9A-4638-B2AB-0581AADA7633}"/>
              </a:ext>
            </a:extLst>
          </p:cNvPr>
          <p:cNvSpPr>
            <a:spLocks xmlns:a="http://schemas.openxmlformats.org/drawingml/2006/main" noGrp="1"/>
          </p:cNvSpPr>
          <p:nvPr/>
        </p:nvSpPr>
        <p:spPr>
          <a:xfrm xmlns:a="http://schemas.openxmlformats.org/drawingml/2006/main">
            <a:off x="9258300" y="6086475"/>
            <a:ext cx="5410200" cy="0"/>
          </a:xfrm>
          <a:prstGeom xmlns:a="http://schemas.openxmlformats.org/drawingml/2006/main" prst="line">
            <a:avLst/>
          </a:prstGeom>
          <a:ln xmlns:a="http://schemas.openxmlformats.org/drawingml/2006/main" w="19050">
            <a:solidFill>
              <a:srgbClr val="C6D2DB"/>
            </a:solidFill>
          </a:ln>
        </p:spPr>
      </p:sp>
      <p:sp>
        <p:nvSpPr>
          <p:cNvPr id="25" name="Huiswerk">
            <a:extLst xmlns:a="http://schemas.openxmlformats.org/drawingml/2006/main">
              <a:ext uri="{FF2B5EF4-FFF2-40B4-BE49-F238E27FC236}">
                <a16:creationId xmlns:a16="http://schemas.microsoft.com/office/drawing/2014/main" id="{B432B278-0C38-44EA-BC0A-FA0E28CA2A95}"/>
              </a:ext>
            </a:extLst>
          </p:cNvPr>
          <p:cNvSpPr>
            <a:spLocks xmlns:a="http://schemas.openxmlformats.org/drawingml/2006/main" noGrp="1"/>
          </p:cNvSpPr>
          <p:nvPr/>
        </p:nvSpPr>
        <p:spPr>
          <a:xfrm xmlns:a="http://schemas.openxmlformats.org/drawingml/2006/main">
            <a:off x="9258300" y="61722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6" name="overview-homework">
            <a:extLst xmlns:a="http://schemas.openxmlformats.org/drawingml/2006/main">
              <a:ext uri="{FF2B5EF4-FFF2-40B4-BE49-F238E27FC236}">
                <a16:creationId xmlns:a16="http://schemas.microsoft.com/office/drawing/2014/main" id="{13DF284A-7D09-42E4-8334-BF68AB6B8279}"/>
              </a:ext>
            </a:extLst>
          </p:cNvPr>
          <p:cNvSpPr>
            <a:spLocks xmlns:a="http://schemas.openxmlformats.org/drawingml/2006/main" noGrp="1"/>
          </p:cNvSpPr>
          <p:nvPr/>
        </p:nvSpPr>
        <p:spPr>
          <a:xfrm xmlns:a="http://schemas.openxmlformats.org/drawingml/2006/main">
            <a:off x="9258300" y="6667500"/>
            <a:ext cx="54102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§3.3.1 · Maken en nakijken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p:txBody>
      </p:sp>
      <p:sp>
        <p:nvSpPr>
          <p:cNvPr id="27" name="§3.3.1 Waarom landen handelen">
            <a:extLst xmlns:a="http://schemas.openxmlformats.org/drawingml/2006/main">
              <a:ext uri="{FF2B5EF4-FFF2-40B4-BE49-F238E27FC236}">
                <a16:creationId xmlns:a16="http://schemas.microsoft.com/office/drawing/2014/main" id="{39CA41C5-B88D-434A-A197-D5ACE834C280}"/>
              </a:ext>
            </a:extLst>
          </p:cNvPr>
          <p:cNvSpPr>
            <a:spLocks xmlns:a="http://schemas.openxmlformats.org/drawingml/2006/main" noGrp="1"/>
          </p:cNvSpPr>
          <p:nvPr/>
        </p:nvSpPr>
        <p:spPr>
          <a:xfrm xmlns:a="http://schemas.openxmlformats.org/drawingml/2006/main">
            <a:off x="571500" y="813435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Waarom landen handelen</a:t>
            </a:r>
          </a:p>
        </p:txBody>
      </p:sp>
      <p:sp>
        <p:nvSpPr>
          <p:cNvPr id="28" name="slide-number">
            <a:extLst xmlns:a="http://schemas.openxmlformats.org/drawingml/2006/main">
              <a:ext uri="{FF2B5EF4-FFF2-40B4-BE49-F238E27FC236}">
                <a16:creationId xmlns:a16="http://schemas.microsoft.com/office/drawing/2014/main" id="{E9FEBD81-D9F0-4CC9-819F-2B09FF9AF8FB}"/>
              </a:ext>
            </a:extLst>
          </p:cNvPr>
          <p:cNvSpPr>
            <a:spLocks xmlns:a="http://schemas.openxmlformats.org/drawingml/2006/main" noGrp="1"/>
          </p:cNvSpPr>
          <p:nvPr/>
        </p:nvSpPr>
        <p:spPr>
          <a:xfrm xmlns:a="http://schemas.openxmlformats.org/drawingml/2006/main">
            <a:off x="14001750" y="81057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Tree>
    <p:extLst>
      <p:ext uri="{BB962C8B-B14F-4D97-AF65-F5344CB8AC3E}">
        <p14:creationId xmlns:p14="http://schemas.microsoft.com/office/powerpoint/2010/main" val="14768975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BF1958AC-0B08-4D55-B011-AB5FA5E1C792}"/>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Lesdoelen</a:t>
            </a:r>
          </a:p>
        </p:txBody>
      </p:sp>
      <p:sp>
        <p:nvSpPr>
          <p:cNvPr id="2" name="">
            <a:extLst xmlns:a="http://schemas.openxmlformats.org/drawingml/2006/main">
              <a:ext uri="{FF2B5EF4-FFF2-40B4-BE49-F238E27FC236}">
                <a16:creationId xmlns:a16="http://schemas.microsoft.com/office/drawing/2014/main" id="{9F393A81-5C34-439D-B87C-CD7369F36567}"/>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Waarom landen handelen">
            <a:extLst xmlns:a="http://schemas.openxmlformats.org/drawingml/2006/main">
              <a:ext uri="{FF2B5EF4-FFF2-40B4-BE49-F238E27FC236}">
                <a16:creationId xmlns:a16="http://schemas.microsoft.com/office/drawing/2014/main" id="{83BAFC1C-60A2-4B65-8F4D-BC1F31618191}"/>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Waarom landen handelen</a:t>
            </a:r>
          </a:p>
        </p:txBody>
      </p:sp>
      <p:sp>
        <p:nvSpPr>
          <p:cNvPr id="4" name="slide-number">
            <a:extLst xmlns:a="http://schemas.openxmlformats.org/drawingml/2006/main">
              <a:ext uri="{FF2B5EF4-FFF2-40B4-BE49-F238E27FC236}">
                <a16:creationId xmlns:a16="http://schemas.microsoft.com/office/drawing/2014/main" id="{348414BF-0313-4056-91EA-9CEFEEBF7DA4}"/>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Handelsstromen">
            <a:extLst xmlns:a="http://schemas.openxmlformats.org/drawingml/2006/main">
              <a:ext uri="{FF2B5EF4-FFF2-40B4-BE49-F238E27FC236}">
                <a16:creationId xmlns:a16="http://schemas.microsoft.com/office/drawing/2014/main" id="{7F99A196-5916-4B89-9FC6-58205F67E35C}"/>
              </a:ext>
            </a:extLst>
          </p:cNvPr>
          <p:cNvSpPr>
            <a:spLocks xmlns:a="http://schemas.openxmlformats.org/drawingml/2006/main" noGrp="1"/>
          </p:cNvSpPr>
          <p:nvPr/>
        </p:nvSpPr>
        <p:spPr>
          <a:xfrm xmlns:a="http://schemas.openxmlformats.org/drawingml/2006/main">
            <a:off x="571500" y="1971675"/>
            <a:ext cx="428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Handelsstromen</a:t>
            </a:r>
          </a:p>
        </p:txBody>
      </p:sp>
      <p:sp>
        <p:nvSpPr>
          <p:cNvPr id="6" name="Je benoemt import en export vanuit beide landen.">
            <a:extLst xmlns:a="http://schemas.openxmlformats.org/drawingml/2006/main">
              <a:ext uri="{FF2B5EF4-FFF2-40B4-BE49-F238E27FC236}">
                <a16:creationId xmlns:a16="http://schemas.microsoft.com/office/drawing/2014/main" id="{1F73D51C-BE16-4534-A72E-5D7089D2983E}"/>
              </a:ext>
            </a:extLst>
          </p:cNvPr>
          <p:cNvSpPr>
            <a:spLocks xmlns:a="http://schemas.openxmlformats.org/drawingml/2006/main" noGrp="1"/>
          </p:cNvSpPr>
          <p:nvPr/>
        </p:nvSpPr>
        <p:spPr>
          <a:xfrm xmlns:a="http://schemas.openxmlformats.org/drawingml/2006/main">
            <a:off x="5143500" y="1971675"/>
            <a:ext cx="9477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Je benoemt import en export vanuit beide landen.</a:t>
            </a:r>
          </a:p>
        </p:txBody>
      </p:sp>
      <p:sp>
        <p:nvSpPr>
          <p:cNvPr id="7" name="">
            <a:extLst xmlns:a="http://schemas.openxmlformats.org/drawingml/2006/main">
              <a:ext uri="{FF2B5EF4-FFF2-40B4-BE49-F238E27FC236}">
                <a16:creationId xmlns:a16="http://schemas.microsoft.com/office/drawing/2014/main" id="{9E797F61-4EBA-4A59-90FE-B9D83CF13466}"/>
              </a:ext>
            </a:extLst>
          </p:cNvPr>
          <p:cNvSpPr>
            <a:spLocks xmlns:a="http://schemas.openxmlformats.org/drawingml/2006/main" noGrp="1"/>
          </p:cNvSpPr>
          <p:nvPr/>
        </p:nvSpPr>
        <p:spPr>
          <a:xfrm xmlns:a="http://schemas.openxmlformats.org/drawingml/2006/main">
            <a:off x="571500" y="3105150"/>
            <a:ext cx="14097000" cy="0"/>
          </a:xfrm>
          <a:prstGeom xmlns:a="http://schemas.openxmlformats.org/drawingml/2006/main" prst="line">
            <a:avLst/>
          </a:prstGeom>
          <a:ln xmlns:a="http://schemas.openxmlformats.org/drawingml/2006/main" w="19050">
            <a:solidFill>
              <a:srgbClr val="C6D2DB"/>
            </a:solidFill>
          </a:ln>
        </p:spPr>
      </p:sp>
      <p:sp>
        <p:nvSpPr>
          <p:cNvPr id="8" name="Voordelen">
            <a:extLst xmlns:a="http://schemas.openxmlformats.org/drawingml/2006/main">
              <a:ext uri="{FF2B5EF4-FFF2-40B4-BE49-F238E27FC236}">
                <a16:creationId xmlns:a16="http://schemas.microsoft.com/office/drawing/2014/main" id="{5DB13C53-7D12-43F3-8DA3-2A6FCCEC7D16}"/>
              </a:ext>
            </a:extLst>
          </p:cNvPr>
          <p:cNvSpPr>
            <a:spLocks xmlns:a="http://schemas.openxmlformats.org/drawingml/2006/main" noGrp="1"/>
          </p:cNvSpPr>
          <p:nvPr/>
        </p:nvSpPr>
        <p:spPr>
          <a:xfrm xmlns:a="http://schemas.openxmlformats.org/drawingml/2006/main">
            <a:off x="571500" y="3400425"/>
            <a:ext cx="428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Voordelen</a:t>
            </a:r>
          </a:p>
        </p:txBody>
      </p:sp>
      <p:sp>
        <p:nvSpPr>
          <p:cNvPr id="9" name="Je vergelijkt middelen en alternatieve kosten.">
            <a:extLst xmlns:a="http://schemas.openxmlformats.org/drawingml/2006/main">
              <a:ext uri="{FF2B5EF4-FFF2-40B4-BE49-F238E27FC236}">
                <a16:creationId xmlns:a16="http://schemas.microsoft.com/office/drawing/2014/main" id="{093A4B04-BB1B-4325-AAE8-ED576AC272B7}"/>
              </a:ext>
            </a:extLst>
          </p:cNvPr>
          <p:cNvSpPr>
            <a:spLocks xmlns:a="http://schemas.openxmlformats.org/drawingml/2006/main" noGrp="1"/>
          </p:cNvSpPr>
          <p:nvPr/>
        </p:nvSpPr>
        <p:spPr>
          <a:xfrm xmlns:a="http://schemas.openxmlformats.org/drawingml/2006/main">
            <a:off x="5143500" y="3400425"/>
            <a:ext cx="9477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Je vergelijkt middelen en alternatieve kosten.</a:t>
            </a:r>
          </a:p>
        </p:txBody>
      </p:sp>
      <p:sp>
        <p:nvSpPr>
          <p:cNvPr id="10" name="">
            <a:extLst xmlns:a="http://schemas.openxmlformats.org/drawingml/2006/main">
              <a:ext uri="{FF2B5EF4-FFF2-40B4-BE49-F238E27FC236}">
                <a16:creationId xmlns:a16="http://schemas.microsoft.com/office/drawing/2014/main" id="{2365FB7E-F4AE-42A9-BE46-F28FB50FA114}"/>
              </a:ext>
            </a:extLst>
          </p:cNvPr>
          <p:cNvSpPr>
            <a:spLocks xmlns:a="http://schemas.openxmlformats.org/drawingml/2006/main" noGrp="1"/>
          </p:cNvSpPr>
          <p:nvPr/>
        </p:nvSpPr>
        <p:spPr>
          <a:xfrm xmlns:a="http://schemas.openxmlformats.org/drawingml/2006/main">
            <a:off x="571500" y="4533900"/>
            <a:ext cx="14097000" cy="0"/>
          </a:xfrm>
          <a:prstGeom xmlns:a="http://schemas.openxmlformats.org/drawingml/2006/main" prst="line">
            <a:avLst/>
          </a:prstGeom>
          <a:ln xmlns:a="http://schemas.openxmlformats.org/drawingml/2006/main" w="19050">
            <a:solidFill>
              <a:srgbClr val="C6D2DB"/>
            </a:solidFill>
          </a:ln>
        </p:spPr>
      </p:sp>
      <p:sp>
        <p:nvSpPr>
          <p:cNvPr id="11" name="Specialisatie">
            <a:extLst xmlns:a="http://schemas.openxmlformats.org/drawingml/2006/main">
              <a:ext uri="{FF2B5EF4-FFF2-40B4-BE49-F238E27FC236}">
                <a16:creationId xmlns:a16="http://schemas.microsoft.com/office/drawing/2014/main" id="{261B9131-DB4C-4961-91CC-4E2EA761512B}"/>
              </a:ext>
            </a:extLst>
          </p:cNvPr>
          <p:cNvSpPr>
            <a:spLocks xmlns:a="http://schemas.openxmlformats.org/drawingml/2006/main" noGrp="1"/>
          </p:cNvSpPr>
          <p:nvPr/>
        </p:nvSpPr>
        <p:spPr>
          <a:xfrm xmlns:a="http://schemas.openxmlformats.org/drawingml/2006/main">
            <a:off x="571500" y="4829175"/>
            <a:ext cx="428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Specialisatie</a:t>
            </a:r>
          </a:p>
        </p:txBody>
      </p:sp>
      <p:sp>
        <p:nvSpPr>
          <p:cNvPr id="12" name="Je verklaart waarom ook een minder productief land kan meedo">
            <a:extLst xmlns:a="http://schemas.openxmlformats.org/drawingml/2006/main">
              <a:ext uri="{FF2B5EF4-FFF2-40B4-BE49-F238E27FC236}">
                <a16:creationId xmlns:a16="http://schemas.microsoft.com/office/drawing/2014/main" id="{F8AAEB78-85AF-486B-B929-F66882A06CBD}"/>
              </a:ext>
            </a:extLst>
          </p:cNvPr>
          <p:cNvSpPr>
            <a:spLocks xmlns:a="http://schemas.openxmlformats.org/drawingml/2006/main" noGrp="1"/>
          </p:cNvSpPr>
          <p:nvPr/>
        </p:nvSpPr>
        <p:spPr>
          <a:xfrm xmlns:a="http://schemas.openxmlformats.org/drawingml/2006/main">
            <a:off x="5143500" y="4829175"/>
            <a:ext cx="9477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Je verklaart waarom ook een minder productief land kan meedoen.</a:t>
            </a:r>
          </a:p>
        </p:txBody>
      </p:sp>
      <p:sp>
        <p:nvSpPr>
          <p:cNvPr id="13" name="">
            <a:extLst xmlns:a="http://schemas.openxmlformats.org/drawingml/2006/main">
              <a:ext uri="{FF2B5EF4-FFF2-40B4-BE49-F238E27FC236}">
                <a16:creationId xmlns:a16="http://schemas.microsoft.com/office/drawing/2014/main" id="{01CE9C2F-DD01-4F30-BD68-9FC3ACE6CDE0}"/>
              </a:ext>
            </a:extLst>
          </p:cNvPr>
          <p:cNvSpPr>
            <a:spLocks xmlns:a="http://schemas.openxmlformats.org/drawingml/2006/main" noGrp="1"/>
          </p:cNvSpPr>
          <p:nvPr/>
        </p:nvSpPr>
        <p:spPr>
          <a:xfrm xmlns:a="http://schemas.openxmlformats.org/drawingml/2006/main">
            <a:off x="571500" y="5962650"/>
            <a:ext cx="14097000" cy="0"/>
          </a:xfrm>
          <a:prstGeom xmlns:a="http://schemas.openxmlformats.org/drawingml/2006/main" prst="line">
            <a:avLst/>
          </a:prstGeom>
          <a:ln xmlns:a="http://schemas.openxmlformats.org/drawingml/2006/main" w="19050">
            <a:solidFill>
              <a:srgbClr val="C6D2DB"/>
            </a:solidFill>
          </a:ln>
        </p:spPr>
      </p:sp>
      <p:sp>
        <p:nvSpPr>
          <p:cNvPr id="14" name="Bronnen beoordelen">
            <a:extLst xmlns:a="http://schemas.openxmlformats.org/drawingml/2006/main">
              <a:ext uri="{FF2B5EF4-FFF2-40B4-BE49-F238E27FC236}">
                <a16:creationId xmlns:a16="http://schemas.microsoft.com/office/drawing/2014/main" id="{E0572686-36D4-4AEE-A03B-DFC69C170C12}"/>
              </a:ext>
            </a:extLst>
          </p:cNvPr>
          <p:cNvSpPr>
            <a:spLocks xmlns:a="http://schemas.openxmlformats.org/drawingml/2006/main" noGrp="1"/>
          </p:cNvSpPr>
          <p:nvPr/>
        </p:nvSpPr>
        <p:spPr>
          <a:xfrm xmlns:a="http://schemas.openxmlformats.org/drawingml/2006/main">
            <a:off x="571500" y="6257925"/>
            <a:ext cx="428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Bronnen beoordelen</a:t>
            </a:r>
          </a:p>
        </p:txBody>
      </p:sp>
      <p:sp>
        <p:nvSpPr>
          <p:cNvPr id="15" name="Je onderbouwt concurrentiepositie en begrenst uitspraken ove">
            <a:extLst xmlns:a="http://schemas.openxmlformats.org/drawingml/2006/main">
              <a:ext uri="{FF2B5EF4-FFF2-40B4-BE49-F238E27FC236}">
                <a16:creationId xmlns:a16="http://schemas.microsoft.com/office/drawing/2014/main" id="{68011D51-5E40-478D-B536-061D68F85E19}"/>
              </a:ext>
            </a:extLst>
          </p:cNvPr>
          <p:cNvSpPr>
            <a:spLocks xmlns:a="http://schemas.openxmlformats.org/drawingml/2006/main" noGrp="1"/>
          </p:cNvSpPr>
          <p:nvPr/>
        </p:nvSpPr>
        <p:spPr>
          <a:xfrm xmlns:a="http://schemas.openxmlformats.org/drawingml/2006/main">
            <a:off x="5143500" y="6257925"/>
            <a:ext cx="9477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Je onderbouwt concurrentiepositie en begrenst uitspraken over winnaars.</a:t>
            </a:r>
          </a:p>
        </p:txBody>
      </p:sp>
    </p:spTree>
    <p:extLst>
      <p:ext uri="{BB962C8B-B14F-4D97-AF65-F5344CB8AC3E}">
        <p14:creationId xmlns:p14="http://schemas.microsoft.com/office/powerpoint/2010/main" val="8671764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87516ACE-C70C-4F29-BCC6-D6630E270037}"/>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Alternatieve kosten: opgegeven productie</a:t>
            </a:r>
          </a:p>
        </p:txBody>
      </p:sp>
      <p:sp>
        <p:nvSpPr>
          <p:cNvPr id="2" name="">
            <a:extLst xmlns:a="http://schemas.openxmlformats.org/drawingml/2006/main">
              <a:ext uri="{FF2B5EF4-FFF2-40B4-BE49-F238E27FC236}">
                <a16:creationId xmlns:a16="http://schemas.microsoft.com/office/drawing/2014/main" id="{18B0CAA4-A2B9-4CC2-AC71-90557F998213}"/>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Waarom landen handelen">
            <a:extLst xmlns:a="http://schemas.openxmlformats.org/drawingml/2006/main">
              <a:ext uri="{FF2B5EF4-FFF2-40B4-BE49-F238E27FC236}">
                <a16:creationId xmlns:a16="http://schemas.microsoft.com/office/drawing/2014/main" id="{E9B2216C-8575-426D-BF9C-3DF90455AAED}"/>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Waarom landen handelen</a:t>
            </a:r>
          </a:p>
        </p:txBody>
      </p:sp>
      <p:sp>
        <p:nvSpPr>
          <p:cNvPr id="4" name="slide-number">
            <a:extLst xmlns:a="http://schemas.openxmlformats.org/drawingml/2006/main">
              <a:ext uri="{FF2B5EF4-FFF2-40B4-BE49-F238E27FC236}">
                <a16:creationId xmlns:a16="http://schemas.microsoft.com/office/drawing/2014/main" id="{111EF873-60B1-4065-9C8F-489294FA6401}"/>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3442B4E2-61C5-4239-9C11-659DBA1AB2CA}"/>
              </a:ext>
            </a:extLst>
          </p:cNvPr>
          <p:cNvSpPr>
            <a:spLocks xmlns:a="http://schemas.openxmlformats.org/drawingml/2006/main" noGrp="1"/>
          </p:cNvSpPr>
          <p:nvPr/>
        </p:nvSpPr>
        <p:spPr>
          <a:xfrm xmlns:a="http://schemas.openxmlformats.org/drawingml/2006/main">
            <a:off x="571500" y="165735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445B6B"/>
                </a:solidFill>
                <a:latin typeface="Arial"/>
                <a:ea typeface="Arial"/>
                <a:cs typeface="Arial"/>
              </a:defRPr>
            </a:pPr>
            <a:r>
              <a:rPr sz="2025" b="0">
                <a:solidFill>
                  <a:srgbClr val="445B6B"/>
                </a:solidFill>
                <a:latin typeface="Arial"/>
                <a:ea typeface="Arial"/>
                <a:cs typeface="Arial"/>
              </a:rPr>
              <a:t>Uitlegvoorbeeld — niet uit het boek</a:t>
            </a:r>
          </a:p>
        </p:txBody>
      </p:sp>
      <p:sp>
        <p:nvSpPr>
          <p:cNvPr id="6" name="Een werkplaats in Elara gebruikt hetzelfde hout en dezelfde ">
            <a:extLst xmlns:a="http://schemas.openxmlformats.org/drawingml/2006/main">
              <a:ext uri="{FF2B5EF4-FFF2-40B4-BE49-F238E27FC236}">
                <a16:creationId xmlns:a16="http://schemas.microsoft.com/office/drawing/2014/main" id="{C18C57CD-0BD5-4685-BE28-41A7C24F902F}"/>
              </a:ext>
            </a:extLst>
          </p:cNvPr>
          <p:cNvSpPr>
            <a:spLocks xmlns:a="http://schemas.openxmlformats.org/drawingml/2006/main" noGrp="1"/>
          </p:cNvSpPr>
          <p:nvPr/>
        </p:nvSpPr>
        <p:spPr>
          <a:xfrm xmlns:a="http://schemas.openxmlformats.org/drawingml/2006/main">
            <a:off x="571500" y="237172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Een werkplaats in Elara gebruikt hetzelfde hout en dezelfde werktijd.</a:t>
            </a:r>
          </a:p>
        </p:txBody>
      </p:sp>
      <p:graphicFrame>
        <p:nvGraphicFramePr>
          <p:cNvPr id="15" name=""/>
          <p:cNvGraphicFramePr/>
          <p:nvPr/>
        </p:nvGraphicFramePr>
        <p:xfrm>
          <a:off xmlns:a="http://schemas.openxmlformats.org/drawingml/2006/main" x="571500" y="3838575"/>
          <a:ext xmlns:a="http://schemas.openxmlformats.org/drawingml/2006/main" cx="14097000" cy="2238375"/>
        </p:xfrm>
        <a:graphic xmlns:a="http://schemas.openxmlformats.org/drawingml/2006/main">
          <a:graphicData uri="http://schemas.openxmlformats.org/drawingml/2006/table">
            <a:tbl>
              <a:tblPr/>
              <a:tblGrid>
                <a:gridCol w="6858000"/>
                <a:gridCol w="7239000"/>
              </a:tblGrid>
              <a:tr h="1119188">
                <a:tc>
                  <a:txBody>
                    <a:bodyPr lIns="171450" tIns="95250" rIns="152400" bIns="95250"/>
                    <a:lstStyle/>
                    <a:p>
                      <a:r>
                        <a:rPr sz="2925" b="1">
                          <a:solidFill>
                            <a:srgbClr val="FFFFFF"/>
                          </a:solidFill>
                          <a:latin typeface="Arial"/>
                          <a:ea typeface="Arial"/>
                          <a:cs typeface="Arial"/>
                        </a:rPr>
                        <a:t>Keuze</a:t>
                      </a:r>
                    </a:p>
                  </a:txBody>
                  <a:tcPr marL="91440" marR="91440" marT="45720" marB="45720" anchor="ctr">
                    <a:solidFill>
                      <a:srgbClr val="183247"/>
                    </a:solidFill>
                  </a:tcPr>
                </a:tc>
                <a:tc>
                  <a:txBody>
                    <a:bodyPr lIns="171450" tIns="95250" rIns="152400" bIns="95250"/>
                    <a:lstStyle/>
                    <a:p>
                      <a:r>
                        <a:rPr sz="2925" b="1">
                          <a:solidFill>
                            <a:srgbClr val="FFFFFF"/>
                          </a:solidFill>
                          <a:latin typeface="Arial"/>
                          <a:ea typeface="Arial"/>
                          <a:cs typeface="Arial"/>
                        </a:rPr>
                        <a:t>Daardoor minder mogelijk</a:t>
                      </a:r>
                    </a:p>
                  </a:txBody>
                  <a:tcPr marL="91440" marR="91440" marT="45720" marB="45720" anchor="ctr">
                    <a:solidFill>
                      <a:srgbClr val="183247"/>
                    </a:solidFill>
                  </a:tcPr>
                </a:tc>
              </a:tr>
              <a:tr h="1119188">
                <a:tc>
                  <a:txBody>
                    <a:bodyPr lIns="171450" tIns="95250" rIns="152400" bIns="95250"/>
                    <a:lstStyle/>
                    <a:p>
                      <a:r>
                        <a:rPr sz="2925" b="0">
                          <a:solidFill>
                            <a:srgbClr val="183247"/>
                          </a:solidFill>
                          <a:latin typeface="Arial"/>
                          <a:ea typeface="Arial"/>
                          <a:cs typeface="Arial"/>
                        </a:rPr>
                        <a:t>Meer meubels maken</a:t>
                      </a:r>
                    </a:p>
                  </a:txBody>
                  <a:tcPr marL="91440" marR="91440" marT="45720" marB="45720" anchor="ctr">
                    <a:solidFill>
                      <a:srgbClr val="FFFFFF"/>
                    </a:solidFill>
                  </a:tcPr>
                </a:tc>
                <a:tc>
                  <a:txBody>
                    <a:bodyPr lIns="171450" tIns="95250" rIns="152400" bIns="95250"/>
                    <a:lstStyle/>
                    <a:p>
                      <a:r>
                        <a:rPr sz="2925" b="0">
                          <a:solidFill>
                            <a:srgbClr val="183247"/>
                          </a:solidFill>
                          <a:latin typeface="Arial"/>
                          <a:ea typeface="Arial"/>
                          <a:cs typeface="Arial"/>
                        </a:rPr>
                        <a:t>Speelgoed maken</a:t>
                      </a:r>
                    </a:p>
                  </a:txBody>
                  <a:tcPr marL="91440" marR="91440" marT="45720" marB="45720" anchor="ctr">
                    <a:solidFill>
                      <a:srgbClr val="FFFFFF"/>
                    </a:solidFill>
                  </a:tcPr>
                </a:tc>
              </a:tr>
            </a:tbl>
          </a:graphicData>
        </a:graphic>
      </p:graphicFrame>
      <p:sp>
        <p:nvSpPr>
          <p:cNvPr id="8" name="De alternatieve kosten zijn de opgegeven andere productie.">
            <a:extLst xmlns:a="http://schemas.openxmlformats.org/drawingml/2006/main">
              <a:ext uri="{FF2B5EF4-FFF2-40B4-BE49-F238E27FC236}">
                <a16:creationId xmlns:a16="http://schemas.microsoft.com/office/drawing/2014/main" id="{E84EB381-CC6C-46D4-BD38-4C2E208F8C24}"/>
              </a:ext>
            </a:extLst>
          </p:cNvPr>
          <p:cNvSpPr>
            <a:spLocks xmlns:a="http://schemas.openxmlformats.org/drawingml/2006/main" noGrp="1"/>
          </p:cNvSpPr>
          <p:nvPr/>
        </p:nvSpPr>
        <p:spPr>
          <a:xfrm xmlns:a="http://schemas.openxmlformats.org/drawingml/2006/main">
            <a:off x="571500" y="69151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De alternatieve kosten zijn de opgegeven andere productie.</a:t>
            </a:r>
          </a:p>
        </p:txBody>
      </p:sp>
    </p:spTree>
    <p:extLst>
      <p:ext uri="{BB962C8B-B14F-4D97-AF65-F5344CB8AC3E}">
        <p14:creationId xmlns:p14="http://schemas.microsoft.com/office/powerpoint/2010/main" val="5867826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198BE750-B803-40A3-B485-7A3E6FE1DBDE}"/>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Dezelfde levering, twee gezichtspunten</a:t>
            </a:r>
          </a:p>
        </p:txBody>
      </p:sp>
      <p:sp>
        <p:nvSpPr>
          <p:cNvPr id="2" name="">
            <a:extLst xmlns:a="http://schemas.openxmlformats.org/drawingml/2006/main">
              <a:ext uri="{FF2B5EF4-FFF2-40B4-BE49-F238E27FC236}">
                <a16:creationId xmlns:a16="http://schemas.microsoft.com/office/drawing/2014/main" id="{5C9D26FA-5DD8-4866-8874-03756C2D875D}"/>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Waarom landen handelen">
            <a:extLst xmlns:a="http://schemas.openxmlformats.org/drawingml/2006/main">
              <a:ext uri="{FF2B5EF4-FFF2-40B4-BE49-F238E27FC236}">
                <a16:creationId xmlns:a16="http://schemas.microsoft.com/office/drawing/2014/main" id="{4D8E7552-5D88-4CFA-91D2-967DBD932AB4}"/>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Waarom landen handelen</a:t>
            </a:r>
          </a:p>
        </p:txBody>
      </p:sp>
      <p:sp>
        <p:nvSpPr>
          <p:cNvPr id="4" name="slide-number">
            <a:extLst xmlns:a="http://schemas.openxmlformats.org/drawingml/2006/main">
              <a:ext uri="{FF2B5EF4-FFF2-40B4-BE49-F238E27FC236}">
                <a16:creationId xmlns:a16="http://schemas.microsoft.com/office/drawing/2014/main" id="{29FB006A-58DB-43BE-964E-E5308E140759}"/>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70940734-94EA-4FDD-A630-5342798641EC}"/>
              </a:ext>
            </a:extLst>
          </p:cNvPr>
          <p:cNvSpPr>
            <a:spLocks xmlns:a="http://schemas.openxmlformats.org/drawingml/2006/main" noGrp="1"/>
          </p:cNvSpPr>
          <p:nvPr/>
        </p:nvSpPr>
        <p:spPr>
          <a:xfrm xmlns:a="http://schemas.openxmlformats.org/drawingml/2006/main">
            <a:off x="571500" y="165735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445B6B"/>
                </a:solidFill>
                <a:latin typeface="Arial"/>
                <a:ea typeface="Arial"/>
                <a:cs typeface="Arial"/>
              </a:defRPr>
            </a:pPr>
            <a:r>
              <a:rPr sz="2025" b="0">
                <a:solidFill>
                  <a:srgbClr val="445B6B"/>
                </a:solidFill>
                <a:latin typeface="Arial"/>
                <a:ea typeface="Arial"/>
                <a:cs typeface="Arial"/>
              </a:rPr>
              <a:t>Uitlegvoorbeeld — niet uit het boek</a:t>
            </a:r>
          </a:p>
        </p:txBody>
      </p:sp>
      <p:sp>
        <p:nvSpPr>
          <p:cNvPr id="6" name="Een bedrijf in Elara verkoopt meubels aan een koper in Vesta">
            <a:extLst xmlns:a="http://schemas.openxmlformats.org/drawingml/2006/main">
              <a:ext uri="{FF2B5EF4-FFF2-40B4-BE49-F238E27FC236}">
                <a16:creationId xmlns:a16="http://schemas.microsoft.com/office/drawing/2014/main" id="{7E515D6E-75D3-406A-9678-7CB1C0F13B42}"/>
              </a:ext>
            </a:extLst>
          </p:cNvPr>
          <p:cNvSpPr>
            <a:spLocks xmlns:a="http://schemas.openxmlformats.org/drawingml/2006/main" noGrp="1"/>
          </p:cNvSpPr>
          <p:nvPr/>
        </p:nvSpPr>
        <p:spPr>
          <a:xfrm xmlns:a="http://schemas.openxmlformats.org/drawingml/2006/main">
            <a:off x="571500" y="2333625"/>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Een bedrijf in Elara verkoopt meubels aan een koper in Vesta.</a:t>
            </a:r>
          </a:p>
        </p:txBody>
      </p:sp>
      <p:sp>
        <p:nvSpPr>
          <p:cNvPr id="7" name="Elara">
            <a:extLst xmlns:a="http://schemas.openxmlformats.org/drawingml/2006/main">
              <a:ext uri="{FF2B5EF4-FFF2-40B4-BE49-F238E27FC236}">
                <a16:creationId xmlns:a16="http://schemas.microsoft.com/office/drawing/2014/main" id="{6197D4F0-F427-4147-B7C9-6666AD124BB7}"/>
              </a:ext>
            </a:extLst>
          </p:cNvPr>
          <p:cNvSpPr>
            <a:spLocks xmlns:a="http://schemas.openxmlformats.org/drawingml/2006/main" noGrp="1"/>
          </p:cNvSpPr>
          <p:nvPr/>
        </p:nvSpPr>
        <p:spPr>
          <a:xfrm xmlns:a="http://schemas.openxmlformats.org/drawingml/2006/main">
            <a:off x="857250" y="3571875"/>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525" b="1">
                <a:solidFill>
                  <a:srgbClr val="17658A"/>
                </a:solidFill>
                <a:latin typeface="Arial"/>
                <a:ea typeface="Arial"/>
                <a:cs typeface="Arial"/>
              </a:defRPr>
            </a:pPr>
            <a:r>
              <a:rPr sz="3525" b="1">
                <a:solidFill>
                  <a:srgbClr val="17658A"/>
                </a:solidFill>
                <a:latin typeface="Arial"/>
                <a:ea typeface="Arial"/>
                <a:cs typeface="Arial"/>
              </a:rPr>
              <a:t>Elara</a:t>
            </a:r>
          </a:p>
        </p:txBody>
      </p:sp>
      <p:sp>
        <p:nvSpPr>
          <p:cNvPr id="8" name="Vesta">
            <a:extLst xmlns:a="http://schemas.openxmlformats.org/drawingml/2006/main">
              <a:ext uri="{FF2B5EF4-FFF2-40B4-BE49-F238E27FC236}">
                <a16:creationId xmlns:a16="http://schemas.microsoft.com/office/drawing/2014/main" id="{98D4B9BB-D74E-40B2-881D-3D138EDD2305}"/>
              </a:ext>
            </a:extLst>
          </p:cNvPr>
          <p:cNvSpPr>
            <a:spLocks xmlns:a="http://schemas.openxmlformats.org/drawingml/2006/main" noGrp="1"/>
          </p:cNvSpPr>
          <p:nvPr/>
        </p:nvSpPr>
        <p:spPr>
          <a:xfrm xmlns:a="http://schemas.openxmlformats.org/drawingml/2006/main">
            <a:off x="10572750" y="3571875"/>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525" b="1">
                <a:solidFill>
                  <a:srgbClr val="20665B"/>
                </a:solidFill>
                <a:latin typeface="Arial"/>
                <a:ea typeface="Arial"/>
                <a:cs typeface="Arial"/>
              </a:defRPr>
            </a:pPr>
            <a:r>
              <a:rPr sz="3525" b="1">
                <a:solidFill>
                  <a:srgbClr val="20665B"/>
                </a:solidFill>
                <a:latin typeface="Arial"/>
                <a:ea typeface="Arial"/>
                <a:cs typeface="Arial"/>
              </a:rPr>
              <a:t>Vesta</a:t>
            </a:r>
          </a:p>
        </p:txBody>
      </p:sp>
      <p:sp>
        <p:nvSpPr>
          <p:cNvPr id="9" name="meubels">
            <a:extLst xmlns:a="http://schemas.openxmlformats.org/drawingml/2006/main">
              <a:ext uri="{FF2B5EF4-FFF2-40B4-BE49-F238E27FC236}">
                <a16:creationId xmlns:a16="http://schemas.microsoft.com/office/drawing/2014/main" id="{A8A13422-75E4-4649-8304-9C476DDFB9E4}"/>
              </a:ext>
            </a:extLst>
          </p:cNvPr>
          <p:cNvSpPr>
            <a:spLocks xmlns:a="http://schemas.openxmlformats.org/drawingml/2006/main" noGrp="1"/>
          </p:cNvSpPr>
          <p:nvPr/>
        </p:nvSpPr>
        <p:spPr>
          <a:xfrm xmlns:a="http://schemas.openxmlformats.org/drawingml/2006/main">
            <a:off x="4857750" y="3190875"/>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183247"/>
                </a:solidFill>
                <a:latin typeface="Arial"/>
                <a:ea typeface="Arial"/>
                <a:cs typeface="Arial"/>
              </a:defRPr>
            </a:pPr>
            <a:r>
              <a:rPr sz="2700" b="1">
                <a:solidFill>
                  <a:srgbClr val="183247"/>
                </a:solidFill>
                <a:latin typeface="Arial"/>
                <a:ea typeface="Arial"/>
                <a:cs typeface="Arial"/>
              </a:rPr>
              <a:t>meubels</a:t>
            </a:r>
          </a:p>
        </p:txBody>
      </p:sp>
      <p:sp>
        <p:nvSpPr>
          <p:cNvPr id="10" name="">
            <a:extLst xmlns:a="http://schemas.openxmlformats.org/drawingml/2006/main">
              <a:ext uri="{FF2B5EF4-FFF2-40B4-BE49-F238E27FC236}">
                <a16:creationId xmlns:a16="http://schemas.microsoft.com/office/drawing/2014/main" id="{5BA63483-7DE3-4C2C-9446-CE6D96262EB3}"/>
              </a:ext>
            </a:extLst>
          </p:cNvPr>
          <p:cNvSpPr>
            <a:spLocks xmlns:a="http://schemas.openxmlformats.org/drawingml/2006/main" noGrp="1"/>
          </p:cNvSpPr>
          <p:nvPr/>
        </p:nvSpPr>
        <p:spPr>
          <a:xfrm xmlns:a="http://schemas.openxmlformats.org/drawingml/2006/main">
            <a:off x="4953000" y="3857625"/>
            <a:ext cx="5334000" cy="419100"/>
          </a:xfrm>
          <a:prstGeom xmlns:a="http://schemas.openxmlformats.org/drawingml/2006/main" prst="rightArrow">
            <a:avLst/>
          </a:prstGeom>
          <a:solidFill xmlns:a="http://schemas.openxmlformats.org/drawingml/2006/main">
            <a:srgbClr val="17658A"/>
          </a:solidFill>
          <a:ln xmlns:a="http://schemas.openxmlformats.org/drawingml/2006/main" w="0">
            <a:noFill/>
          </a:ln>
        </p:spPr>
      </p:sp>
      <p:sp>
        <p:nvSpPr>
          <p:cNvPr id="11" name="export / uitvoer">
            <a:extLst xmlns:a="http://schemas.openxmlformats.org/drawingml/2006/main">
              <a:ext uri="{FF2B5EF4-FFF2-40B4-BE49-F238E27FC236}">
                <a16:creationId xmlns:a16="http://schemas.microsoft.com/office/drawing/2014/main" id="{59702712-B895-4D2F-98F4-8830D845F911}"/>
              </a:ext>
            </a:extLst>
          </p:cNvPr>
          <p:cNvSpPr>
            <a:spLocks xmlns:a="http://schemas.openxmlformats.org/drawingml/2006/main" noGrp="1"/>
          </p:cNvSpPr>
          <p:nvPr/>
        </p:nvSpPr>
        <p:spPr>
          <a:xfrm xmlns:a="http://schemas.openxmlformats.org/drawingml/2006/main">
            <a:off x="666750" y="4676775"/>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850" b="1">
                <a:solidFill>
                  <a:srgbClr val="17658A"/>
                </a:solidFill>
                <a:latin typeface="Arial"/>
                <a:ea typeface="Arial"/>
                <a:cs typeface="Arial"/>
              </a:defRPr>
            </a:pPr>
            <a:r>
              <a:rPr sz="2850" b="1">
                <a:solidFill>
                  <a:srgbClr val="17658A"/>
                </a:solidFill>
                <a:latin typeface="Arial"/>
                <a:ea typeface="Arial"/>
                <a:cs typeface="Arial"/>
              </a:rPr>
              <a:t>export / uitvoer</a:t>
            </a:r>
          </a:p>
        </p:txBody>
      </p:sp>
      <p:sp>
        <p:nvSpPr>
          <p:cNvPr id="12" name="import / invoer">
            <a:extLst xmlns:a="http://schemas.openxmlformats.org/drawingml/2006/main">
              <a:ext uri="{FF2B5EF4-FFF2-40B4-BE49-F238E27FC236}">
                <a16:creationId xmlns:a16="http://schemas.microsoft.com/office/drawing/2014/main" id="{46410EB3-FDA5-473D-A62A-78BC6005755A}"/>
              </a:ext>
            </a:extLst>
          </p:cNvPr>
          <p:cNvSpPr>
            <a:spLocks xmlns:a="http://schemas.openxmlformats.org/drawingml/2006/main" noGrp="1"/>
          </p:cNvSpPr>
          <p:nvPr/>
        </p:nvSpPr>
        <p:spPr>
          <a:xfrm xmlns:a="http://schemas.openxmlformats.org/drawingml/2006/main">
            <a:off x="10382250" y="4676775"/>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850" b="1">
                <a:solidFill>
                  <a:srgbClr val="20665B"/>
                </a:solidFill>
                <a:latin typeface="Arial"/>
                <a:ea typeface="Arial"/>
                <a:cs typeface="Arial"/>
              </a:defRPr>
            </a:pPr>
            <a:r>
              <a:rPr sz="2850" b="1">
                <a:solidFill>
                  <a:srgbClr val="20665B"/>
                </a:solidFill>
                <a:latin typeface="Arial"/>
                <a:ea typeface="Arial"/>
                <a:cs typeface="Arial"/>
              </a:rPr>
              <a:t>import / invoer</a:t>
            </a:r>
          </a:p>
        </p:txBody>
      </p:sp>
      <p:sp>
        <p:nvSpPr>
          <p:cNvPr id="13" name="landsgrens">
            <a:extLst xmlns:a="http://schemas.openxmlformats.org/drawingml/2006/main">
              <a:ext uri="{FF2B5EF4-FFF2-40B4-BE49-F238E27FC236}">
                <a16:creationId xmlns:a16="http://schemas.microsoft.com/office/drawing/2014/main" id="{48327646-A4A8-43C0-8A7A-2C7727852CA4}"/>
              </a:ext>
            </a:extLst>
          </p:cNvPr>
          <p:cNvSpPr>
            <a:spLocks xmlns:a="http://schemas.openxmlformats.org/drawingml/2006/main" noGrp="1"/>
          </p:cNvSpPr>
          <p:nvPr/>
        </p:nvSpPr>
        <p:spPr>
          <a:xfrm xmlns:a="http://schemas.openxmlformats.org/drawingml/2006/main">
            <a:off x="6096000" y="53816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0">
                <a:solidFill>
                  <a:srgbClr val="445B6B"/>
                </a:solidFill>
                <a:latin typeface="Arial"/>
                <a:ea typeface="Arial"/>
                <a:cs typeface="Arial"/>
              </a:defRPr>
            </a:pPr>
            <a:r>
              <a:rPr sz="2100" b="0">
                <a:solidFill>
                  <a:srgbClr val="445B6B"/>
                </a:solidFill>
                <a:latin typeface="Arial"/>
                <a:ea typeface="Arial"/>
                <a:cs typeface="Arial"/>
              </a:rPr>
              <a:t>landsgrens</a:t>
            </a:r>
          </a:p>
        </p:txBody>
      </p:sp>
      <p:sp>
        <p:nvSpPr>
          <p:cNvPr id="14" name="">
            <a:extLst xmlns:a="http://schemas.openxmlformats.org/drawingml/2006/main">
              <a:ext uri="{FF2B5EF4-FFF2-40B4-BE49-F238E27FC236}">
                <a16:creationId xmlns:a16="http://schemas.microsoft.com/office/drawing/2014/main" id="{78E4A02D-4D55-4792-AE6C-C4395694EFA5}"/>
              </a:ext>
            </a:extLst>
          </p:cNvPr>
          <p:cNvSpPr>
            <a:spLocks xmlns:a="http://schemas.openxmlformats.org/drawingml/2006/main" noGrp="1"/>
          </p:cNvSpPr>
          <p:nvPr/>
        </p:nvSpPr>
        <p:spPr>
          <a:xfrm xmlns:a="http://schemas.openxmlformats.org/drawingml/2006/main">
            <a:off x="7620000" y="4467225"/>
            <a:ext cx="0" cy="781050"/>
          </a:xfrm>
          <a:prstGeom xmlns:a="http://schemas.openxmlformats.org/drawingml/2006/main" prst="line">
            <a:avLst/>
          </a:prstGeom>
          <a:ln xmlns:a="http://schemas.openxmlformats.org/drawingml/2006/main" w="28575">
            <a:solidFill>
              <a:srgbClr val="C6D2DB"/>
            </a:solidFill>
          </a:ln>
        </p:spPr>
      </p:sp>
      <p:sp>
        <p:nvSpPr>
          <p:cNvPr id="15" name="Import: kopen uit het buitenland. Export: verkopen aan het b">
            <a:extLst xmlns:a="http://schemas.openxmlformats.org/drawingml/2006/main">
              <a:ext uri="{FF2B5EF4-FFF2-40B4-BE49-F238E27FC236}">
                <a16:creationId xmlns:a16="http://schemas.microsoft.com/office/drawing/2014/main" id="{FA69E75E-C15E-4C28-8F38-1688435B6808}"/>
              </a:ext>
            </a:extLst>
          </p:cNvPr>
          <p:cNvSpPr>
            <a:spLocks xmlns:a="http://schemas.openxmlformats.org/drawingml/2006/main" noGrp="1"/>
          </p:cNvSpPr>
          <p:nvPr/>
        </p:nvSpPr>
        <p:spPr>
          <a:xfrm xmlns:a="http://schemas.openxmlformats.org/drawingml/2006/main">
            <a:off x="571500" y="6905625"/>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Import: kopen uit het buitenland. Export: verkopen aan het buitenland.</a:t>
            </a:r>
          </a:p>
        </p:txBody>
      </p:sp>
    </p:spTree>
    <p:extLst>
      <p:ext uri="{BB962C8B-B14F-4D97-AF65-F5344CB8AC3E}">
        <p14:creationId xmlns:p14="http://schemas.microsoft.com/office/powerpoint/2010/main" val="18374422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0916967A-3F04-4805-8316-A0EACB56E1EA}"/>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Absoluut voordeel: middelen per product</a:t>
            </a:r>
          </a:p>
        </p:txBody>
      </p:sp>
      <p:sp>
        <p:nvSpPr>
          <p:cNvPr id="2" name="">
            <a:extLst xmlns:a="http://schemas.openxmlformats.org/drawingml/2006/main">
              <a:ext uri="{FF2B5EF4-FFF2-40B4-BE49-F238E27FC236}">
                <a16:creationId xmlns:a16="http://schemas.microsoft.com/office/drawing/2014/main" id="{E1B2639E-05C6-4940-9F03-13A3C0979F39}"/>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Waarom landen handelen">
            <a:extLst xmlns:a="http://schemas.openxmlformats.org/drawingml/2006/main">
              <a:ext uri="{FF2B5EF4-FFF2-40B4-BE49-F238E27FC236}">
                <a16:creationId xmlns:a16="http://schemas.microsoft.com/office/drawing/2014/main" id="{AA2B0E6C-BA73-43BA-80A4-81A9E2120B80}"/>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Waarom landen handelen</a:t>
            </a:r>
          </a:p>
        </p:txBody>
      </p:sp>
      <p:sp>
        <p:nvSpPr>
          <p:cNvPr id="4" name="slide-number">
            <a:extLst xmlns:a="http://schemas.openxmlformats.org/drawingml/2006/main">
              <a:ext uri="{FF2B5EF4-FFF2-40B4-BE49-F238E27FC236}">
                <a16:creationId xmlns:a16="http://schemas.microsoft.com/office/drawing/2014/main" id="{626747F6-7A4B-45DB-8867-81E43B92CFAD}"/>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D4CB3A11-81BE-4E71-8C47-5AEC9D2CD7EB}"/>
              </a:ext>
            </a:extLst>
          </p:cNvPr>
          <p:cNvSpPr>
            <a:spLocks xmlns:a="http://schemas.openxmlformats.org/drawingml/2006/main" noGrp="1"/>
          </p:cNvSpPr>
          <p:nvPr/>
        </p:nvSpPr>
        <p:spPr>
          <a:xfrm xmlns:a="http://schemas.openxmlformats.org/drawingml/2006/main">
            <a:off x="571500" y="165735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445B6B"/>
                </a:solidFill>
                <a:latin typeface="Arial"/>
                <a:ea typeface="Arial"/>
                <a:cs typeface="Arial"/>
              </a:defRPr>
            </a:pPr>
            <a:r>
              <a:rPr sz="2025" b="0">
                <a:solidFill>
                  <a:srgbClr val="445B6B"/>
                </a:solidFill>
                <a:latin typeface="Arial"/>
                <a:ea typeface="Arial"/>
                <a:cs typeface="Arial"/>
              </a:rPr>
              <a:t>Uitlegvoorbeeld — niet uit het boek</a:t>
            </a:r>
          </a:p>
        </p:txBody>
      </p:sp>
      <p:sp>
        <p:nvSpPr>
          <p:cNvPr id="6" name="Elara en Vesta maken meubels en speelgoed van dezelfde kwali">
            <a:extLst xmlns:a="http://schemas.openxmlformats.org/drawingml/2006/main">
              <a:ext uri="{FF2B5EF4-FFF2-40B4-BE49-F238E27FC236}">
                <a16:creationId xmlns:a16="http://schemas.microsoft.com/office/drawing/2014/main" id="{767A144A-827C-43B4-9BA2-B2935D3643A7}"/>
              </a:ext>
            </a:extLst>
          </p:cNvPr>
          <p:cNvSpPr>
            <a:spLocks xmlns:a="http://schemas.openxmlformats.org/drawingml/2006/main" noGrp="1"/>
          </p:cNvSpPr>
          <p:nvPr/>
        </p:nvSpPr>
        <p:spPr>
          <a:xfrm xmlns:a="http://schemas.openxmlformats.org/drawingml/2006/main">
            <a:off x="571500" y="2343150"/>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Elara en Vesta maken meubels en speelgoed van dezelfde kwaliteit.</a:t>
            </a:r>
          </a:p>
        </p:txBody>
      </p:sp>
      <p:graphicFrame>
        <p:nvGraphicFramePr>
          <p:cNvPr id="15" name=""/>
          <p:cNvGraphicFramePr/>
          <p:nvPr/>
        </p:nvGraphicFramePr>
        <p:xfrm>
          <a:off xmlns:a="http://schemas.openxmlformats.org/drawingml/2006/main" x="571500" y="3743325"/>
          <a:ext xmlns:a="http://schemas.openxmlformats.org/drawingml/2006/main" cx="14097000" cy="2800350"/>
        </p:xfrm>
        <a:graphic xmlns:a="http://schemas.openxmlformats.org/drawingml/2006/main">
          <a:graphicData uri="http://schemas.openxmlformats.org/drawingml/2006/table">
            <a:tbl>
              <a:tblPr/>
              <a:tblGrid>
                <a:gridCol w="5048250"/>
                <a:gridCol w="9048750"/>
              </a:tblGrid>
              <a:tr h="933450">
                <a:tc>
                  <a:txBody>
                    <a:bodyPr lIns="171450" tIns="95250" rIns="152400" bIns="95250"/>
                    <a:lstStyle/>
                    <a:p>
                      <a:r>
                        <a:rPr sz="2700" b="1">
                          <a:solidFill>
                            <a:srgbClr val="FFFFFF"/>
                          </a:solidFill>
                          <a:latin typeface="Arial"/>
                          <a:ea typeface="Arial"/>
                          <a:cs typeface="Arial"/>
                        </a:rPr>
                        <a:t>Product</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Benodigde middelen</a:t>
                      </a:r>
                    </a:p>
                  </a:txBody>
                  <a:tcPr marL="91440" marR="91440" marT="45720" marB="45720" anchor="ctr">
                    <a:solidFill>
                      <a:srgbClr val="183247"/>
                    </a:solidFill>
                  </a:tcPr>
                </a:tc>
              </a:tr>
              <a:tr h="933450">
                <a:tc>
                  <a:txBody>
                    <a:bodyPr lIns="171450" tIns="95250" rIns="152400" bIns="95250"/>
                    <a:lstStyle/>
                    <a:p>
                      <a:r>
                        <a:rPr sz="2700" b="0">
                          <a:solidFill>
                            <a:srgbClr val="183247"/>
                          </a:solidFill>
                          <a:latin typeface="Arial"/>
                          <a:ea typeface="Arial"/>
                          <a:cs typeface="Arial"/>
                        </a:rPr>
                        <a:t>Meubels</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Elara gebruikt minder dan Vesta.</a:t>
                      </a:r>
                    </a:p>
                  </a:txBody>
                  <a:tcPr marL="91440" marR="91440" marT="45720" marB="45720" anchor="ctr">
                    <a:solidFill>
                      <a:srgbClr val="FFFFFF"/>
                    </a:solidFill>
                  </a:tcPr>
                </a:tc>
              </a:tr>
              <a:tr h="933450">
                <a:tc>
                  <a:txBody>
                    <a:bodyPr lIns="171450" tIns="95250" rIns="152400" bIns="95250"/>
                    <a:lstStyle/>
                    <a:p>
                      <a:r>
                        <a:rPr sz="2700" b="0">
                          <a:solidFill>
                            <a:srgbClr val="183247"/>
                          </a:solidFill>
                          <a:latin typeface="Arial"/>
                          <a:ea typeface="Arial"/>
                          <a:cs typeface="Arial"/>
                        </a:rPr>
                        <a:t>Speelgoed</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Elara gebruikt minder dan Vesta.</a:t>
                      </a:r>
                    </a:p>
                  </a:txBody>
                  <a:tcPr marL="91440" marR="91440" marT="45720" marB="45720" anchor="ctr">
                    <a:solidFill>
                      <a:srgbClr val="EFF4F7"/>
                    </a:solidFill>
                  </a:tcPr>
                </a:tc>
              </a:tr>
            </a:tbl>
          </a:graphicData>
        </a:graphic>
      </p:graphicFrame>
      <p:sp>
        <p:nvSpPr>
          <p:cNvPr id="8" name="Elara heeft bij beide producten een absoluut voordeel.">
            <a:extLst xmlns:a="http://schemas.openxmlformats.org/drawingml/2006/main">
              <a:ext uri="{FF2B5EF4-FFF2-40B4-BE49-F238E27FC236}">
                <a16:creationId xmlns:a16="http://schemas.microsoft.com/office/drawing/2014/main" id="{46536270-6A4B-49C7-BD03-456A5BEC9ED1}"/>
              </a:ext>
            </a:extLst>
          </p:cNvPr>
          <p:cNvSpPr>
            <a:spLocks xmlns:a="http://schemas.openxmlformats.org/drawingml/2006/main" noGrp="1"/>
          </p:cNvSpPr>
          <p:nvPr/>
        </p:nvSpPr>
        <p:spPr>
          <a:xfrm xmlns:a="http://schemas.openxmlformats.org/drawingml/2006/main">
            <a:off x="571500" y="71628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Elara heeft bij beide producten een absoluut voordeel.</a:t>
            </a:r>
          </a:p>
        </p:txBody>
      </p:sp>
    </p:spTree>
    <p:extLst>
      <p:ext uri="{BB962C8B-B14F-4D97-AF65-F5344CB8AC3E}">
        <p14:creationId xmlns:p14="http://schemas.microsoft.com/office/powerpoint/2010/main" val="3589531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54067969-16EC-47E7-836E-3588743ED6BC}"/>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Comparatief voordeel: relatief minder opofferen</a:t>
            </a:r>
          </a:p>
        </p:txBody>
      </p:sp>
      <p:sp>
        <p:nvSpPr>
          <p:cNvPr id="2" name="">
            <a:extLst xmlns:a="http://schemas.openxmlformats.org/drawingml/2006/main">
              <a:ext uri="{FF2B5EF4-FFF2-40B4-BE49-F238E27FC236}">
                <a16:creationId xmlns:a16="http://schemas.microsoft.com/office/drawing/2014/main" id="{54B7A88E-9017-4DAB-BD38-5AFAF5AF02A5}"/>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Waarom landen handelen">
            <a:extLst xmlns:a="http://schemas.openxmlformats.org/drawingml/2006/main">
              <a:ext uri="{FF2B5EF4-FFF2-40B4-BE49-F238E27FC236}">
                <a16:creationId xmlns:a16="http://schemas.microsoft.com/office/drawing/2014/main" id="{84B1FBE1-5B10-49B8-A54C-752B82289496}"/>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Waarom landen handelen</a:t>
            </a:r>
          </a:p>
        </p:txBody>
      </p:sp>
      <p:sp>
        <p:nvSpPr>
          <p:cNvPr id="4" name="slide-number">
            <a:extLst xmlns:a="http://schemas.openxmlformats.org/drawingml/2006/main">
              <a:ext uri="{FF2B5EF4-FFF2-40B4-BE49-F238E27FC236}">
                <a16:creationId xmlns:a16="http://schemas.microsoft.com/office/drawing/2014/main" id="{95B4722C-BC31-4BE2-AF36-1D636B785676}"/>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82991872-B3C9-4A2F-95C2-E97542DC534D}"/>
              </a:ext>
            </a:extLst>
          </p:cNvPr>
          <p:cNvSpPr>
            <a:spLocks xmlns:a="http://schemas.openxmlformats.org/drawingml/2006/main" noGrp="1"/>
          </p:cNvSpPr>
          <p:nvPr/>
        </p:nvSpPr>
        <p:spPr>
          <a:xfrm xmlns:a="http://schemas.openxmlformats.org/drawingml/2006/main">
            <a:off x="571500" y="165735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445B6B"/>
                </a:solidFill>
                <a:latin typeface="Arial"/>
                <a:ea typeface="Arial"/>
                <a:cs typeface="Arial"/>
              </a:defRPr>
            </a:pPr>
            <a:r>
              <a:rPr sz="2025" b="0">
                <a:solidFill>
                  <a:srgbClr val="445B6B"/>
                </a:solidFill>
                <a:latin typeface="Arial"/>
                <a:ea typeface="Arial"/>
                <a:cs typeface="Arial"/>
              </a:rPr>
              <a:t>Uitlegvoorbeeld — niet uit het boek</a:t>
            </a:r>
          </a:p>
        </p:txBody>
      </p:sp>
      <p:sp>
        <p:nvSpPr>
          <p:cNvPr id="6" name="Elara’s voorsprong is groot bij meubels en klein bij speelgo">
            <a:extLst xmlns:a="http://schemas.openxmlformats.org/drawingml/2006/main">
              <a:ext uri="{FF2B5EF4-FFF2-40B4-BE49-F238E27FC236}">
                <a16:creationId xmlns:a16="http://schemas.microsoft.com/office/drawing/2014/main" id="{8CC3B604-9B59-470C-BCFC-C31E888D4D9D}"/>
              </a:ext>
            </a:extLst>
          </p:cNvPr>
          <p:cNvSpPr>
            <a:spLocks xmlns:a="http://schemas.openxmlformats.org/drawingml/2006/main" noGrp="1"/>
          </p:cNvSpPr>
          <p:nvPr/>
        </p:nvSpPr>
        <p:spPr>
          <a:xfrm xmlns:a="http://schemas.openxmlformats.org/drawingml/2006/main">
            <a:off x="571500" y="232410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Elara’s voorsprong is groot bij meubels en klein bij speelgoed.</a:t>
            </a:r>
          </a:p>
        </p:txBody>
      </p:sp>
      <p:graphicFrame>
        <p:nvGraphicFramePr>
          <p:cNvPr id="15" name=""/>
          <p:cNvGraphicFramePr/>
          <p:nvPr/>
        </p:nvGraphicFramePr>
        <p:xfrm>
          <a:off xmlns:a="http://schemas.openxmlformats.org/drawingml/2006/main" x="571500" y="3590925"/>
          <a:ext xmlns:a="http://schemas.openxmlformats.org/drawingml/2006/main" cx="14097000" cy="2667000"/>
        </p:xfrm>
        <a:graphic xmlns:a="http://schemas.openxmlformats.org/drawingml/2006/main">
          <a:graphicData uri="http://schemas.openxmlformats.org/drawingml/2006/table">
            <a:tbl>
              <a:tblPr/>
              <a:tblGrid>
                <a:gridCol w="6858000"/>
                <a:gridCol w="7239000"/>
              </a:tblGrid>
              <a:tr h="889000">
                <a:tc>
                  <a:txBody>
                    <a:bodyPr lIns="171450" tIns="95250" rIns="152400" bIns="95250"/>
                    <a:lstStyle/>
                    <a:p>
                      <a:r>
                        <a:rPr sz="2775" b="1">
                          <a:solidFill>
                            <a:srgbClr val="FFFFFF"/>
                          </a:solidFill>
                          <a:latin typeface="Arial"/>
                          <a:ea typeface="Arial"/>
                          <a:cs typeface="Arial"/>
                        </a:rPr>
                        <a:t>Extra speelgoed maken</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Opgegeven meubelproductie</a:t>
                      </a:r>
                    </a:p>
                  </a:txBody>
                  <a:tcPr marL="91440" marR="91440" marT="45720" marB="45720" anchor="ctr">
                    <a:solidFill>
                      <a:srgbClr val="183247"/>
                    </a:solidFill>
                  </a:tcPr>
                </a:tc>
              </a:tr>
              <a:tr h="889000">
                <a:tc>
                  <a:txBody>
                    <a:bodyPr lIns="171450" tIns="95250" rIns="152400" bIns="95250"/>
                    <a:lstStyle/>
                    <a:p>
                      <a:r>
                        <a:rPr sz="2775" b="0">
                          <a:solidFill>
                            <a:srgbClr val="183247"/>
                          </a:solidFill>
                          <a:latin typeface="Arial"/>
                          <a:ea typeface="Arial"/>
                          <a:cs typeface="Arial"/>
                        </a:rPr>
                        <a:t>Elara</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Relatief veel</a:t>
                      </a:r>
                    </a:p>
                  </a:txBody>
                  <a:tcPr marL="91440" marR="91440" marT="45720" marB="45720" anchor="ctr">
                    <a:solidFill>
                      <a:srgbClr val="FFFFFF"/>
                    </a:solidFill>
                  </a:tcPr>
                </a:tc>
              </a:tr>
              <a:tr h="889000">
                <a:tc>
                  <a:txBody>
                    <a:bodyPr lIns="171450" tIns="95250" rIns="152400" bIns="95250"/>
                    <a:lstStyle/>
                    <a:p>
                      <a:r>
                        <a:rPr sz="2775" b="0">
                          <a:solidFill>
                            <a:srgbClr val="183247"/>
                          </a:solidFill>
                          <a:latin typeface="Arial"/>
                          <a:ea typeface="Arial"/>
                          <a:cs typeface="Arial"/>
                        </a:rPr>
                        <a:t>Vesta</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Relatief weinig</a:t>
                      </a:r>
                    </a:p>
                  </a:txBody>
                  <a:tcPr marL="91440" marR="91440" marT="45720" marB="45720" anchor="ctr">
                    <a:solidFill>
                      <a:srgbClr val="EFF4F7"/>
                    </a:solidFill>
                  </a:tcPr>
                </a:tc>
              </a:tr>
            </a:tbl>
          </a:graphicData>
        </a:graphic>
      </p:graphicFrame>
      <p:sp>
        <p:nvSpPr>
          <p:cNvPr id="8" name="Vesta: lagere alternatieve kosten van speelgoed.&#10;Elara: lage">
            <a:extLst xmlns:a="http://schemas.openxmlformats.org/drawingml/2006/main">
              <a:ext uri="{FF2B5EF4-FFF2-40B4-BE49-F238E27FC236}">
                <a16:creationId xmlns:a16="http://schemas.microsoft.com/office/drawing/2014/main" id="{28B9C5AA-F11C-4FA5-B13C-1C03A8F666AB}"/>
              </a:ext>
            </a:extLst>
          </p:cNvPr>
          <p:cNvSpPr>
            <a:spLocks xmlns:a="http://schemas.openxmlformats.org/drawingml/2006/main" noGrp="1"/>
          </p:cNvSpPr>
          <p:nvPr/>
        </p:nvSpPr>
        <p:spPr>
          <a:xfrm xmlns:a="http://schemas.openxmlformats.org/drawingml/2006/main">
            <a:off x="571500" y="6762750"/>
            <a:ext cx="1409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20665B"/>
                </a:solidFill>
                <a:latin typeface="Arial"/>
                <a:ea typeface="Arial"/>
                <a:cs typeface="Arial"/>
              </a:defRPr>
            </a:pPr>
            <a:r>
              <a:rPr sz="2925" b="1">
                <a:solidFill>
                  <a:srgbClr val="20665B"/>
                </a:solidFill>
                <a:latin typeface="Arial"/>
                <a:ea typeface="Arial"/>
                <a:cs typeface="Arial"/>
              </a:rPr>
              <a:t>Vesta: lagere alternatieve kosten van speelgoed.</a:t>
            </a:r>
          </a:p>
          <a:p xmlns:a="http://schemas.openxmlformats.org/drawingml/2006/main">
            <a:pPr algn="l">
              <a:defRPr sz="2925" b="1">
                <a:solidFill>
                  <a:srgbClr val="20665B"/>
                </a:solidFill>
                <a:latin typeface="Arial"/>
                <a:ea typeface="Arial"/>
                <a:cs typeface="Arial"/>
              </a:defRPr>
            </a:pPr>
            <a:r>
              <a:rPr sz="2925" b="1">
                <a:solidFill>
                  <a:srgbClr val="20665B"/>
                </a:solidFill>
                <a:latin typeface="Arial"/>
                <a:ea typeface="Arial"/>
                <a:cs typeface="Arial"/>
              </a:rPr>
              <a:t>Elara: lagere alternatieve kosten van meubels.</a:t>
            </a:r>
          </a:p>
        </p:txBody>
      </p:sp>
    </p:spTree>
    <p:extLst>
      <p:ext uri="{BB962C8B-B14F-4D97-AF65-F5344CB8AC3E}">
        <p14:creationId xmlns:p14="http://schemas.microsoft.com/office/powerpoint/2010/main" val="13803561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767B755-8C6E-46FD-8312-2E568F586FEA}"/>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Specialisatie en handel</a:t>
            </a:r>
          </a:p>
        </p:txBody>
      </p:sp>
      <p:sp>
        <p:nvSpPr>
          <p:cNvPr id="2" name="">
            <a:extLst xmlns:a="http://schemas.openxmlformats.org/drawingml/2006/main">
              <a:ext uri="{FF2B5EF4-FFF2-40B4-BE49-F238E27FC236}">
                <a16:creationId xmlns:a16="http://schemas.microsoft.com/office/drawing/2014/main" id="{67121C17-E2EF-4C03-BB8C-AF42BD422DBC}"/>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Waarom landen handelen">
            <a:extLst xmlns:a="http://schemas.openxmlformats.org/drawingml/2006/main">
              <a:ext uri="{FF2B5EF4-FFF2-40B4-BE49-F238E27FC236}">
                <a16:creationId xmlns:a16="http://schemas.microsoft.com/office/drawing/2014/main" id="{D6BDD4A9-C553-439B-A0D6-DE3BC9E87FCA}"/>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Waarom landen handelen</a:t>
            </a:r>
          </a:p>
        </p:txBody>
      </p:sp>
      <p:sp>
        <p:nvSpPr>
          <p:cNvPr id="4" name="slide-number">
            <a:extLst xmlns:a="http://schemas.openxmlformats.org/drawingml/2006/main">
              <a:ext uri="{FF2B5EF4-FFF2-40B4-BE49-F238E27FC236}">
                <a16:creationId xmlns:a16="http://schemas.microsoft.com/office/drawing/2014/main" id="{20454A0E-4512-4397-BAE6-D1AB7216C031}"/>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5AD7AE0F-927F-4B68-8A8A-C72DBECC7D59}"/>
              </a:ext>
            </a:extLst>
          </p:cNvPr>
          <p:cNvSpPr>
            <a:spLocks xmlns:a="http://schemas.openxmlformats.org/drawingml/2006/main" noGrp="1"/>
          </p:cNvSpPr>
          <p:nvPr/>
        </p:nvSpPr>
        <p:spPr>
          <a:xfrm xmlns:a="http://schemas.openxmlformats.org/drawingml/2006/main">
            <a:off x="571500" y="165735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445B6B"/>
                </a:solidFill>
                <a:latin typeface="Arial"/>
                <a:ea typeface="Arial"/>
                <a:cs typeface="Arial"/>
              </a:defRPr>
            </a:pPr>
            <a:r>
              <a:rPr sz="2025" b="0">
                <a:solidFill>
                  <a:srgbClr val="445B6B"/>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590800"/>
          <a:ext xmlns:a="http://schemas.openxmlformats.org/drawingml/2006/main" cx="14097000" cy="3238500"/>
        </p:xfrm>
        <a:graphic xmlns:a="http://schemas.openxmlformats.org/drawingml/2006/main">
          <a:graphicData uri="http://schemas.openxmlformats.org/drawingml/2006/table">
            <a:tbl>
              <a:tblPr/>
              <a:tblGrid>
                <a:gridCol w="3333750"/>
                <a:gridCol w="3905250"/>
                <a:gridCol w="6858000"/>
              </a:tblGrid>
              <a:tr h="1079500">
                <a:tc>
                  <a:txBody>
                    <a:bodyPr lIns="171450" tIns="95250" rIns="152400" bIns="95250"/>
                    <a:lstStyle/>
                    <a:p>
                      <a:r>
                        <a:rPr sz="2625" b="1">
                          <a:solidFill>
                            <a:srgbClr val="FFFFFF"/>
                          </a:solidFill>
                          <a:latin typeface="Arial"/>
                          <a:ea typeface="Arial"/>
                          <a:cs typeface="Arial"/>
                        </a:rPr>
                        <a:t>Land</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Richt zich meer op</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Reden</a:t>
                      </a:r>
                    </a:p>
                  </a:txBody>
                  <a:tcPr marL="91440" marR="91440" marT="45720" marB="45720" anchor="ctr">
                    <a:solidFill>
                      <a:srgbClr val="183247"/>
                    </a:solidFill>
                  </a:tcPr>
                </a:tc>
              </a:tr>
              <a:tr h="1079500">
                <a:tc>
                  <a:txBody>
                    <a:bodyPr lIns="171450" tIns="95250" rIns="152400" bIns="95250"/>
                    <a:lstStyle/>
                    <a:p>
                      <a:r>
                        <a:rPr sz="2625" b="0">
                          <a:solidFill>
                            <a:srgbClr val="183247"/>
                          </a:solidFill>
                          <a:latin typeface="Arial"/>
                          <a:ea typeface="Arial"/>
                          <a:cs typeface="Arial"/>
                        </a:rPr>
                        <a:t>Elara</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Meubels</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Lagere alternatieve kosten</a:t>
                      </a:r>
                    </a:p>
                    <a:p>
                      <a:r>
                        <a:rPr sz="2625" b="0">
                          <a:solidFill>
                            <a:srgbClr val="183247"/>
                          </a:solidFill>
                          <a:latin typeface="Arial"/>
                          <a:ea typeface="Arial"/>
                          <a:cs typeface="Arial"/>
                        </a:rPr>
                        <a:t>van meubels</a:t>
                      </a:r>
                    </a:p>
                  </a:txBody>
                  <a:tcPr marL="91440" marR="91440" marT="45720" marB="45720" anchor="ctr">
                    <a:solidFill>
                      <a:srgbClr val="FFFFFF"/>
                    </a:solidFill>
                  </a:tcPr>
                </a:tc>
              </a:tr>
              <a:tr h="1079500">
                <a:tc>
                  <a:txBody>
                    <a:bodyPr lIns="171450" tIns="95250" rIns="152400" bIns="95250"/>
                    <a:lstStyle/>
                    <a:p>
                      <a:r>
                        <a:rPr sz="2625" b="0">
                          <a:solidFill>
                            <a:srgbClr val="183247"/>
                          </a:solidFill>
                          <a:latin typeface="Arial"/>
                          <a:ea typeface="Arial"/>
                          <a:cs typeface="Arial"/>
                        </a:rPr>
                        <a:t>Vesta</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Speelgoed</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Lagere alternatieve kosten</a:t>
                      </a:r>
                    </a:p>
                    <a:p>
                      <a:r>
                        <a:rPr sz="2625" b="0">
                          <a:solidFill>
                            <a:srgbClr val="183247"/>
                          </a:solidFill>
                          <a:latin typeface="Arial"/>
                          <a:ea typeface="Arial"/>
                          <a:cs typeface="Arial"/>
                        </a:rPr>
                        <a:t>van speelgoed</a:t>
                      </a:r>
                    </a:p>
                  </a:txBody>
                  <a:tcPr marL="91440" marR="91440" marT="45720" marB="45720" anchor="ctr">
                    <a:solidFill>
                      <a:srgbClr val="EFF4F7"/>
                    </a:solidFill>
                  </a:tcPr>
                </a:tc>
              </a:tr>
            </a:tbl>
          </a:graphicData>
        </a:graphic>
      </p:graphicFrame>
      <p:sp>
        <p:nvSpPr>
          <p:cNvPr id="7" name="Een deel van de productie wordt geruild.">
            <a:extLst xmlns:a="http://schemas.openxmlformats.org/drawingml/2006/main">
              <a:ext uri="{FF2B5EF4-FFF2-40B4-BE49-F238E27FC236}">
                <a16:creationId xmlns:a16="http://schemas.microsoft.com/office/drawing/2014/main" id="{2E67BF3B-1013-4FB0-A0FD-84BB00F54C26}"/>
              </a:ext>
            </a:extLst>
          </p:cNvPr>
          <p:cNvSpPr>
            <a:spLocks xmlns:a="http://schemas.openxmlformats.org/drawingml/2006/main" noGrp="1"/>
          </p:cNvSpPr>
          <p:nvPr/>
        </p:nvSpPr>
        <p:spPr>
          <a:xfrm xmlns:a="http://schemas.openxmlformats.org/drawingml/2006/main">
            <a:off x="571500" y="643890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Een deel van de productie wordt geruild.</a:t>
            </a:r>
          </a:p>
        </p:txBody>
      </p:sp>
      <p:sp>
        <p:nvSpPr>
          <p:cNvPr id="8" name="Meer toeleggen op een activiteit kan ook zonder volledige sp">
            <a:extLst xmlns:a="http://schemas.openxmlformats.org/drawingml/2006/main">
              <a:ext uri="{FF2B5EF4-FFF2-40B4-BE49-F238E27FC236}">
                <a16:creationId xmlns:a16="http://schemas.microsoft.com/office/drawing/2014/main" id="{447EA921-EEEE-4105-9FBD-F3F5E4285F8D}"/>
              </a:ext>
            </a:extLst>
          </p:cNvPr>
          <p:cNvSpPr>
            <a:spLocks xmlns:a="http://schemas.openxmlformats.org/drawingml/2006/main" noGrp="1"/>
          </p:cNvSpPr>
          <p:nvPr/>
        </p:nvSpPr>
        <p:spPr>
          <a:xfrm xmlns:a="http://schemas.openxmlformats.org/drawingml/2006/main">
            <a:off x="571500" y="73818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Meer toeleggen op een activiteit kan ook zonder volledige specialisatie.</a:t>
            </a:r>
          </a:p>
        </p:txBody>
      </p:sp>
    </p:spTree>
    <p:extLst>
      <p:ext uri="{BB962C8B-B14F-4D97-AF65-F5344CB8AC3E}">
        <p14:creationId xmlns:p14="http://schemas.microsoft.com/office/powerpoint/2010/main" val="21221919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20BD807E-FA03-45BC-A312-D4EBCF302521}"/>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voorwaarde voor wederzijds voordeel</a:t>
            </a:r>
          </a:p>
        </p:txBody>
      </p:sp>
      <p:sp>
        <p:nvSpPr>
          <p:cNvPr id="2" name="">
            <a:extLst xmlns:a="http://schemas.openxmlformats.org/drawingml/2006/main">
              <a:ext uri="{FF2B5EF4-FFF2-40B4-BE49-F238E27FC236}">
                <a16:creationId xmlns:a16="http://schemas.microsoft.com/office/drawing/2014/main" id="{E71D7239-3DAE-4707-A0F0-6A04CFB97026}"/>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Waarom landen handelen">
            <a:extLst xmlns:a="http://schemas.openxmlformats.org/drawingml/2006/main">
              <a:ext uri="{FF2B5EF4-FFF2-40B4-BE49-F238E27FC236}">
                <a16:creationId xmlns:a16="http://schemas.microsoft.com/office/drawing/2014/main" id="{EDB7D7C5-527D-45BA-B7AC-CF96F10E874A}"/>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Waarom landen handelen</a:t>
            </a:r>
          </a:p>
        </p:txBody>
      </p:sp>
      <p:sp>
        <p:nvSpPr>
          <p:cNvPr id="4" name="slide-number">
            <a:extLst xmlns:a="http://schemas.openxmlformats.org/drawingml/2006/main">
              <a:ext uri="{FF2B5EF4-FFF2-40B4-BE49-F238E27FC236}">
                <a16:creationId xmlns:a16="http://schemas.microsoft.com/office/drawing/2014/main" id="{416BFE6B-F8EF-4382-8674-1BD501D012B7}"/>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822598D6-E1D8-4BBB-B9A1-0D648BFD8F91}"/>
              </a:ext>
            </a:extLst>
          </p:cNvPr>
          <p:cNvSpPr>
            <a:spLocks xmlns:a="http://schemas.openxmlformats.org/drawingml/2006/main" noGrp="1"/>
          </p:cNvSpPr>
          <p:nvPr/>
        </p:nvSpPr>
        <p:spPr>
          <a:xfrm xmlns:a="http://schemas.openxmlformats.org/drawingml/2006/main">
            <a:off x="571500" y="165735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445B6B"/>
                </a:solidFill>
                <a:latin typeface="Arial"/>
                <a:ea typeface="Arial"/>
                <a:cs typeface="Arial"/>
              </a:defRPr>
            </a:pPr>
            <a:r>
              <a:rPr sz="2025" b="0">
                <a:solidFill>
                  <a:srgbClr val="445B6B"/>
                </a:solidFill>
                <a:latin typeface="Arial"/>
                <a:ea typeface="Arial"/>
                <a:cs typeface="Arial"/>
              </a:rPr>
              <a:t>Uitlegvoorbeeld — niet uit het boek</a:t>
            </a:r>
          </a:p>
        </p:txBody>
      </p:sp>
      <p:sp>
        <p:nvSpPr>
          <p:cNvPr id="6" name="Vergelijk ruilen met zelf produceren">
            <a:extLst xmlns:a="http://schemas.openxmlformats.org/drawingml/2006/main">
              <a:ext uri="{FF2B5EF4-FFF2-40B4-BE49-F238E27FC236}">
                <a16:creationId xmlns:a16="http://schemas.microsoft.com/office/drawing/2014/main" id="{F3A96BCF-2250-48AA-8FDE-EFA8E51A53B0}"/>
              </a:ext>
            </a:extLst>
          </p:cNvPr>
          <p:cNvSpPr>
            <a:spLocks xmlns:a="http://schemas.openxmlformats.org/drawingml/2006/main" noGrp="1"/>
          </p:cNvSpPr>
          <p:nvPr/>
        </p:nvSpPr>
        <p:spPr>
          <a:xfrm xmlns:a="http://schemas.openxmlformats.org/drawingml/2006/main">
            <a:off x="571500" y="254317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7658A"/>
                </a:solidFill>
                <a:latin typeface="Arial"/>
                <a:ea typeface="Arial"/>
                <a:cs typeface="Arial"/>
              </a:defRPr>
            </a:pPr>
            <a:r>
              <a:rPr sz="3525" b="1">
                <a:solidFill>
                  <a:srgbClr val="17658A"/>
                </a:solidFill>
                <a:latin typeface="Arial"/>
                <a:ea typeface="Arial"/>
                <a:cs typeface="Arial"/>
              </a:rPr>
              <a:t>Vergelijk ruilen met zelf produceren</a:t>
            </a:r>
          </a:p>
        </p:txBody>
      </p:sp>
      <p:graphicFrame>
        <p:nvGraphicFramePr>
          <p:cNvPr id="15" name=""/>
          <p:cNvGraphicFramePr/>
          <p:nvPr/>
        </p:nvGraphicFramePr>
        <p:xfrm>
          <a:off xmlns:a="http://schemas.openxmlformats.org/drawingml/2006/main" x="571500" y="3829050"/>
          <a:ext xmlns:a="http://schemas.openxmlformats.org/drawingml/2006/main" cx="14097000" cy="2228850"/>
        </p:xfrm>
        <a:graphic xmlns:a="http://schemas.openxmlformats.org/drawingml/2006/main">
          <a:graphicData uri="http://schemas.openxmlformats.org/drawingml/2006/table">
            <a:tbl>
              <a:tblPr/>
              <a:tblGrid>
                <a:gridCol w="7048500"/>
                <a:gridCol w="7048500"/>
              </a:tblGrid>
              <a:tr h="1114425">
                <a:tc>
                  <a:txBody>
                    <a:bodyPr lIns="171450" tIns="95250" rIns="152400" bIns="95250"/>
                    <a:lstStyle/>
                    <a:p>
                      <a:r>
                        <a:rPr sz="2775" b="1">
                          <a:solidFill>
                            <a:srgbClr val="FFFFFF"/>
                          </a:solidFill>
                          <a:latin typeface="Arial"/>
                          <a:ea typeface="Arial"/>
                          <a:cs typeface="Arial"/>
                        </a:rPr>
                        <a:t>Elara beoordeelt</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Vesta beoordeelt</a:t>
                      </a:r>
                    </a:p>
                  </a:txBody>
                  <a:tcPr marL="91440" marR="91440" marT="45720" marB="45720" anchor="ctr">
                    <a:solidFill>
                      <a:srgbClr val="183247"/>
                    </a:solidFill>
                  </a:tcPr>
                </a:tc>
              </a:tr>
              <a:tr h="1114425">
                <a:tc>
                  <a:txBody>
                    <a:bodyPr lIns="171450" tIns="95250" rIns="152400" bIns="95250"/>
                    <a:lstStyle/>
                    <a:p>
                      <a:r>
                        <a:rPr sz="2775" b="0">
                          <a:solidFill>
                            <a:srgbClr val="183247"/>
                          </a:solidFill>
                          <a:latin typeface="Arial"/>
                          <a:ea typeface="Arial"/>
                          <a:cs typeface="Arial"/>
                        </a:rPr>
                        <a:t>Wat levert ruilen mij op</a:t>
                      </a:r>
                    </a:p>
                    <a:p>
                      <a:r>
                        <a:rPr sz="2775" b="0">
                          <a:solidFill>
                            <a:srgbClr val="183247"/>
                          </a:solidFill>
                          <a:latin typeface="Arial"/>
                          <a:ea typeface="Arial"/>
                          <a:cs typeface="Arial"/>
                        </a:rPr>
                        <a:t>ten opzichte van zelf maken?</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Wat levert ruilen mij op</a:t>
                      </a:r>
                    </a:p>
                    <a:p>
                      <a:r>
                        <a:rPr sz="2775" b="0">
                          <a:solidFill>
                            <a:srgbClr val="183247"/>
                          </a:solidFill>
                          <a:latin typeface="Arial"/>
                          <a:ea typeface="Arial"/>
                          <a:cs typeface="Arial"/>
                        </a:rPr>
                        <a:t>ten opzichte van zelf maken?</a:t>
                      </a:r>
                    </a:p>
                  </a:txBody>
                  <a:tcPr marL="91440" marR="91440" marT="45720" marB="45720" anchor="ctr">
                    <a:solidFill>
                      <a:srgbClr val="FFFFFF"/>
                    </a:solidFill>
                  </a:tcPr>
                </a:tc>
              </a:tr>
            </a:tbl>
          </a:graphicData>
        </a:graphic>
      </p:graphicFrame>
      <p:sp>
        <p:nvSpPr>
          <p:cNvPr id="8" name="De ruilafspraken moeten voor beide partijen aantrekkelijk zi">
            <a:extLst xmlns:a="http://schemas.openxmlformats.org/drawingml/2006/main">
              <a:ext uri="{FF2B5EF4-FFF2-40B4-BE49-F238E27FC236}">
                <a16:creationId xmlns:a16="http://schemas.microsoft.com/office/drawing/2014/main" id="{F1499365-1D9C-49E0-8A3C-11645FFCD037}"/>
              </a:ext>
            </a:extLst>
          </p:cNvPr>
          <p:cNvSpPr>
            <a:spLocks xmlns:a="http://schemas.openxmlformats.org/drawingml/2006/main" noGrp="1"/>
          </p:cNvSpPr>
          <p:nvPr/>
        </p:nvSpPr>
        <p:spPr>
          <a:xfrm xmlns:a="http://schemas.openxmlformats.org/drawingml/2006/main">
            <a:off x="571500" y="694372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0665B"/>
                </a:solidFill>
                <a:latin typeface="Arial"/>
                <a:ea typeface="Arial"/>
                <a:cs typeface="Arial"/>
              </a:defRPr>
            </a:pPr>
            <a:r>
              <a:rPr sz="3225" b="1">
                <a:solidFill>
                  <a:srgbClr val="20665B"/>
                </a:solidFill>
                <a:latin typeface="Arial"/>
                <a:ea typeface="Arial"/>
                <a:cs typeface="Arial"/>
              </a:rPr>
              <a:t>De ruilafspraken moeten voor beide partijen aantrekkelijk zijn.</a:t>
            </a:r>
          </a:p>
        </p:txBody>
      </p:sp>
    </p:spTree>
    <p:extLst>
      <p:ext uri="{BB962C8B-B14F-4D97-AF65-F5344CB8AC3E}">
        <p14:creationId xmlns:p14="http://schemas.microsoft.com/office/powerpoint/2010/main" val="108252130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AE99BB1B-08E7-40A0-A1E5-602F01C37A77}"/>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Concurrentiepositie: wat waardeert de klant?</a:t>
            </a:r>
          </a:p>
        </p:txBody>
      </p:sp>
      <p:sp>
        <p:nvSpPr>
          <p:cNvPr id="2" name="">
            <a:extLst xmlns:a="http://schemas.openxmlformats.org/drawingml/2006/main">
              <a:ext uri="{FF2B5EF4-FFF2-40B4-BE49-F238E27FC236}">
                <a16:creationId xmlns:a16="http://schemas.microsoft.com/office/drawing/2014/main" id="{AFCA7502-1C19-46E2-B277-417DBDE63055}"/>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Waarom landen handelen">
            <a:extLst xmlns:a="http://schemas.openxmlformats.org/drawingml/2006/main">
              <a:ext uri="{FF2B5EF4-FFF2-40B4-BE49-F238E27FC236}">
                <a16:creationId xmlns:a16="http://schemas.microsoft.com/office/drawing/2014/main" id="{3F841C28-3713-4C99-B284-1E2FF30946E7}"/>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Waarom landen handelen</a:t>
            </a:r>
          </a:p>
        </p:txBody>
      </p:sp>
      <p:sp>
        <p:nvSpPr>
          <p:cNvPr id="4" name="slide-number">
            <a:extLst xmlns:a="http://schemas.openxmlformats.org/drawingml/2006/main">
              <a:ext uri="{FF2B5EF4-FFF2-40B4-BE49-F238E27FC236}">
                <a16:creationId xmlns:a16="http://schemas.microsoft.com/office/drawing/2014/main" id="{B1951CA8-1B6F-4CF6-9455-A05A0156BCAC}"/>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EC6E70E8-0082-45C2-B575-281DC385AF63}"/>
              </a:ext>
            </a:extLst>
          </p:cNvPr>
          <p:cNvSpPr>
            <a:spLocks xmlns:a="http://schemas.openxmlformats.org/drawingml/2006/main" noGrp="1"/>
          </p:cNvSpPr>
          <p:nvPr/>
        </p:nvSpPr>
        <p:spPr>
          <a:xfrm xmlns:a="http://schemas.openxmlformats.org/drawingml/2006/main">
            <a:off x="571500" y="165735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445B6B"/>
                </a:solidFill>
                <a:latin typeface="Arial"/>
                <a:ea typeface="Arial"/>
                <a:cs typeface="Arial"/>
              </a:defRPr>
            </a:pPr>
            <a:r>
              <a:rPr sz="2025" b="0">
                <a:solidFill>
                  <a:srgbClr val="445B6B"/>
                </a:solidFill>
                <a:latin typeface="Arial"/>
                <a:ea typeface="Arial"/>
                <a:cs typeface="Arial"/>
              </a:rPr>
              <a:t>Uitlegvoorbeeld — niet uit het boek</a:t>
            </a:r>
          </a:p>
        </p:txBody>
      </p:sp>
      <p:sp>
        <p:nvSpPr>
          <p:cNvPr id="6" name="Nieuwe situatie: een meubelmaker in Elara verbetert de afwer">
            <a:extLst xmlns:a="http://schemas.openxmlformats.org/drawingml/2006/main">
              <a:ext uri="{FF2B5EF4-FFF2-40B4-BE49-F238E27FC236}">
                <a16:creationId xmlns:a16="http://schemas.microsoft.com/office/drawing/2014/main" id="{4233640A-96C4-494D-8C52-07EFBC75F022}"/>
              </a:ext>
            </a:extLst>
          </p:cNvPr>
          <p:cNvSpPr>
            <a:spLocks xmlns:a="http://schemas.openxmlformats.org/drawingml/2006/main" noGrp="1"/>
          </p:cNvSpPr>
          <p:nvPr/>
        </p:nvSpPr>
        <p:spPr>
          <a:xfrm xmlns:a="http://schemas.openxmlformats.org/drawingml/2006/main">
            <a:off x="571500" y="2343150"/>
            <a:ext cx="1409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Nieuwe situatie: een meubelmaker in Elara verbetert de afwerking, maar verhoogt de prijs.</a:t>
            </a:r>
          </a:p>
        </p:txBody>
      </p:sp>
      <p:graphicFrame>
        <p:nvGraphicFramePr>
          <p:cNvPr id="15" name=""/>
          <p:cNvGraphicFramePr/>
          <p:nvPr/>
        </p:nvGraphicFramePr>
        <p:xfrm>
          <a:off xmlns:a="http://schemas.openxmlformats.org/drawingml/2006/main" x="571500" y="3848100"/>
          <a:ext xmlns:a="http://schemas.openxmlformats.org/drawingml/2006/main" cx="14097000" cy="2876550"/>
        </p:xfrm>
        <a:graphic xmlns:a="http://schemas.openxmlformats.org/drawingml/2006/main">
          <a:graphicData uri="http://schemas.openxmlformats.org/drawingml/2006/table">
            <a:tbl>
              <a:tblPr/>
              <a:tblGrid>
                <a:gridCol w="5810250"/>
                <a:gridCol w="8286750"/>
              </a:tblGrid>
              <a:tr h="958850">
                <a:tc>
                  <a:txBody>
                    <a:bodyPr lIns="171450" tIns="95250" rIns="152400" bIns="95250"/>
                    <a:lstStyle/>
                    <a:p>
                      <a:r>
                        <a:rPr sz="2550" b="1">
                          <a:solidFill>
                            <a:srgbClr val="FFFFFF"/>
                          </a:solidFill>
                          <a:latin typeface="Arial"/>
                          <a:ea typeface="Arial"/>
                          <a:cs typeface="Arial"/>
                        </a:rPr>
                        <a:t>Bronfeit</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Mogelijk gevolg voor de verkoop</a:t>
                      </a:r>
                    </a:p>
                  </a:txBody>
                  <a:tcPr marL="91440" marR="91440" marT="45720" marB="45720" anchor="ctr">
                    <a:solidFill>
                      <a:srgbClr val="183247"/>
                    </a:solidFill>
                  </a:tcPr>
                </a:tc>
              </a:tr>
              <a:tr h="958850">
                <a:tc>
                  <a:txBody>
                    <a:bodyPr lIns="171450" tIns="95250" rIns="152400" bIns="95250"/>
                    <a:lstStyle/>
                    <a:p>
                      <a:r>
                        <a:rPr sz="2550" b="0">
                          <a:solidFill>
                            <a:srgbClr val="183247"/>
                          </a:solidFill>
                          <a:latin typeface="Arial"/>
                          <a:ea typeface="Arial"/>
                          <a:cs typeface="Arial"/>
                        </a:rPr>
                        <a:t>Betere afwerking</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Aantrekkelijker voor een kwaliteitsbewuste koper</a:t>
                      </a:r>
                    </a:p>
                  </a:txBody>
                  <a:tcPr marL="91440" marR="91440" marT="45720" marB="45720" anchor="ctr">
                    <a:solidFill>
                      <a:srgbClr val="FFFFFF"/>
                    </a:solidFill>
                  </a:tcPr>
                </a:tc>
              </a:tr>
              <a:tr h="958850">
                <a:tc>
                  <a:txBody>
                    <a:bodyPr lIns="171450" tIns="95250" rIns="152400" bIns="95250"/>
                    <a:lstStyle/>
                    <a:p>
                      <a:r>
                        <a:rPr sz="2550" b="0">
                          <a:solidFill>
                            <a:srgbClr val="183247"/>
                          </a:solidFill>
                          <a:latin typeface="Arial"/>
                          <a:ea typeface="Arial"/>
                          <a:cs typeface="Arial"/>
                        </a:rPr>
                        <a:t>Hogere prijs</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Minder aantrekkelijk voor een prijsbewuste koper</a:t>
                      </a:r>
                    </a:p>
                  </a:txBody>
                  <a:tcPr marL="91440" marR="91440" marT="45720" marB="45720" anchor="ctr">
                    <a:solidFill>
                      <a:srgbClr val="EFF4F7"/>
                    </a:solidFill>
                  </a:tcPr>
                </a:tc>
              </a:tr>
            </a:tbl>
          </a:graphicData>
        </a:graphic>
      </p:graphicFrame>
      <p:sp>
        <p:nvSpPr>
          <p:cNvPr id="8" name="Per saldo? Dat hangt af van de voorkeuren van de koper.">
            <a:extLst xmlns:a="http://schemas.openxmlformats.org/drawingml/2006/main">
              <a:ext uri="{FF2B5EF4-FFF2-40B4-BE49-F238E27FC236}">
                <a16:creationId xmlns:a16="http://schemas.microsoft.com/office/drawing/2014/main" id="{11C54703-633D-4C9C-BBDF-05A1B63E15E0}"/>
              </a:ext>
            </a:extLst>
          </p:cNvPr>
          <p:cNvSpPr>
            <a:spLocks xmlns:a="http://schemas.openxmlformats.org/drawingml/2006/main" noGrp="1"/>
          </p:cNvSpPr>
          <p:nvPr/>
        </p:nvSpPr>
        <p:spPr>
          <a:xfrm xmlns:a="http://schemas.openxmlformats.org/drawingml/2006/main">
            <a:off x="571500" y="725805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Per saldo? Dat hangt af van de voorkeuren van de koper.</a:t>
            </a:r>
          </a:p>
        </p:txBody>
      </p:sp>
    </p:spTree>
    <p:extLst>
      <p:ext uri="{BB962C8B-B14F-4D97-AF65-F5344CB8AC3E}">
        <p14:creationId xmlns:p14="http://schemas.microsoft.com/office/powerpoint/2010/main" val="10562801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14930ABC-6AD2-4E11-B24C-38DD44D2EE2E}"/>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bronredenering in drie stappen</a:t>
            </a:r>
          </a:p>
        </p:txBody>
      </p:sp>
      <p:sp>
        <p:nvSpPr>
          <p:cNvPr id="2" name="">
            <a:extLst xmlns:a="http://schemas.openxmlformats.org/drawingml/2006/main">
              <a:ext uri="{FF2B5EF4-FFF2-40B4-BE49-F238E27FC236}">
                <a16:creationId xmlns:a16="http://schemas.microsoft.com/office/drawing/2014/main" id="{40BB92C5-7B53-4D2B-ABCC-71F93A2D2C87}"/>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Waarom landen handelen">
            <a:extLst xmlns:a="http://schemas.openxmlformats.org/drawingml/2006/main">
              <a:ext uri="{FF2B5EF4-FFF2-40B4-BE49-F238E27FC236}">
                <a16:creationId xmlns:a16="http://schemas.microsoft.com/office/drawing/2014/main" id="{D69AF533-3E0F-4116-A346-0E713CE298F6}"/>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Waarom landen handelen</a:t>
            </a:r>
          </a:p>
        </p:txBody>
      </p:sp>
      <p:sp>
        <p:nvSpPr>
          <p:cNvPr id="4" name="slide-number">
            <a:extLst xmlns:a="http://schemas.openxmlformats.org/drawingml/2006/main">
              <a:ext uri="{FF2B5EF4-FFF2-40B4-BE49-F238E27FC236}">
                <a16:creationId xmlns:a16="http://schemas.microsoft.com/office/drawing/2014/main" id="{91C6FE55-55BE-46CF-AD2B-70A7A1EB2BBB}"/>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a:extLst xmlns:a="http://schemas.openxmlformats.org/drawingml/2006/main">
              <a:ext uri="{FF2B5EF4-FFF2-40B4-BE49-F238E27FC236}">
                <a16:creationId xmlns:a16="http://schemas.microsoft.com/office/drawing/2014/main" id="{C8C7E750-C882-4624-8BA7-FC9560148EF0}"/>
              </a:ext>
            </a:extLst>
          </p:cNvPr>
          <p:cNvSpPr>
            <a:spLocks xmlns:a="http://schemas.openxmlformats.org/drawingml/2006/main" noGrp="1"/>
          </p:cNvSpPr>
          <p:nvPr/>
        </p:nvSpPr>
        <p:spPr>
          <a:xfrm xmlns:a="http://schemas.openxmlformats.org/drawingml/2006/main">
            <a:off x="571500" y="165735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445B6B"/>
                </a:solidFill>
                <a:latin typeface="Arial"/>
                <a:ea typeface="Arial"/>
                <a:cs typeface="Arial"/>
              </a:defRPr>
            </a:pPr>
            <a:r>
              <a:rPr sz="2025" b="0">
                <a:solidFill>
                  <a:srgbClr val="445B6B"/>
                </a:solidFill>
                <a:latin typeface="Arial"/>
                <a:ea typeface="Arial"/>
                <a:cs typeface="Arial"/>
              </a:rPr>
              <a:t>Uitlegvoorbeeld — niet uit het boek</a:t>
            </a:r>
          </a:p>
        </p:txBody>
      </p:sp>
      <p:sp>
        <p:nvSpPr>
          <p:cNvPr id="6" name="Bronfeit">
            <a:extLst xmlns:a="http://schemas.openxmlformats.org/drawingml/2006/main">
              <a:ext uri="{FF2B5EF4-FFF2-40B4-BE49-F238E27FC236}">
                <a16:creationId xmlns:a16="http://schemas.microsoft.com/office/drawing/2014/main" id="{0B9FB5AC-EB17-4D1A-BFF1-593E59857186}"/>
              </a:ext>
            </a:extLst>
          </p:cNvPr>
          <p:cNvSpPr>
            <a:spLocks xmlns:a="http://schemas.openxmlformats.org/drawingml/2006/main" noGrp="1"/>
          </p:cNvSpPr>
          <p:nvPr/>
        </p:nvSpPr>
        <p:spPr>
          <a:xfrm xmlns:a="http://schemas.openxmlformats.org/drawingml/2006/main">
            <a:off x="571500" y="2619375"/>
            <a:ext cx="428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Bronfeit</a:t>
            </a:r>
          </a:p>
        </p:txBody>
      </p:sp>
      <p:sp>
        <p:nvSpPr>
          <p:cNvPr id="7" name="De afwerking is beter, de prijs hoger.">
            <a:extLst xmlns:a="http://schemas.openxmlformats.org/drawingml/2006/main">
              <a:ext uri="{FF2B5EF4-FFF2-40B4-BE49-F238E27FC236}">
                <a16:creationId xmlns:a16="http://schemas.microsoft.com/office/drawing/2014/main" id="{9D6FD1CB-E96B-490E-8101-571F6F748C4F}"/>
              </a:ext>
            </a:extLst>
          </p:cNvPr>
          <p:cNvSpPr>
            <a:spLocks xmlns:a="http://schemas.openxmlformats.org/drawingml/2006/main" noGrp="1"/>
          </p:cNvSpPr>
          <p:nvPr/>
        </p:nvSpPr>
        <p:spPr>
          <a:xfrm xmlns:a="http://schemas.openxmlformats.org/drawingml/2006/main">
            <a:off x="5476875" y="2619375"/>
            <a:ext cx="9144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De afwerking is beter, de prijs hoger.</a:t>
            </a:r>
          </a:p>
        </p:txBody>
      </p:sp>
      <p:sp>
        <p:nvSpPr>
          <p:cNvPr id="8" name="">
            <a:extLst xmlns:a="http://schemas.openxmlformats.org/drawingml/2006/main">
              <a:ext uri="{FF2B5EF4-FFF2-40B4-BE49-F238E27FC236}">
                <a16:creationId xmlns:a16="http://schemas.microsoft.com/office/drawing/2014/main" id="{1EFCC95C-E865-4E43-843B-DF704F894C5A}"/>
              </a:ext>
            </a:extLst>
          </p:cNvPr>
          <p:cNvSpPr>
            <a:spLocks xmlns:a="http://schemas.openxmlformats.org/drawingml/2006/main" noGrp="1"/>
          </p:cNvSpPr>
          <p:nvPr/>
        </p:nvSpPr>
        <p:spPr>
          <a:xfrm xmlns:a="http://schemas.openxmlformats.org/drawingml/2006/main">
            <a:off x="571500" y="3952875"/>
            <a:ext cx="14097000" cy="0"/>
          </a:xfrm>
          <a:prstGeom xmlns:a="http://schemas.openxmlformats.org/drawingml/2006/main" prst="line">
            <a:avLst/>
          </a:prstGeom>
          <a:ln xmlns:a="http://schemas.openxmlformats.org/drawingml/2006/main" w="19050">
            <a:solidFill>
              <a:srgbClr val="C6D2DB"/>
            </a:solidFill>
          </a:ln>
        </p:spPr>
      </p:sp>
      <p:sp>
        <p:nvSpPr>
          <p:cNvPr id="9" name="Economisch verband">
            <a:extLst xmlns:a="http://schemas.openxmlformats.org/drawingml/2006/main">
              <a:ext uri="{FF2B5EF4-FFF2-40B4-BE49-F238E27FC236}">
                <a16:creationId xmlns:a16="http://schemas.microsoft.com/office/drawing/2014/main" id="{9A613B78-53F0-4DE5-A568-788A65A36F01}"/>
              </a:ext>
            </a:extLst>
          </p:cNvPr>
          <p:cNvSpPr>
            <a:spLocks xmlns:a="http://schemas.openxmlformats.org/drawingml/2006/main" noGrp="1"/>
          </p:cNvSpPr>
          <p:nvPr/>
        </p:nvSpPr>
        <p:spPr>
          <a:xfrm xmlns:a="http://schemas.openxmlformats.org/drawingml/2006/main">
            <a:off x="571500" y="4314825"/>
            <a:ext cx="428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Economisch verband</a:t>
            </a:r>
          </a:p>
        </p:txBody>
      </p:sp>
      <p:sp>
        <p:nvSpPr>
          <p:cNvPr id="10" name="Kwaliteit kan kopers aantrekken;&#10;een hogere prijs kan kopers">
            <a:extLst xmlns:a="http://schemas.openxmlformats.org/drawingml/2006/main">
              <a:ext uri="{FF2B5EF4-FFF2-40B4-BE49-F238E27FC236}">
                <a16:creationId xmlns:a16="http://schemas.microsoft.com/office/drawing/2014/main" id="{1A1525C6-9EDA-4D7F-9C51-8D8A24F6C3E1}"/>
              </a:ext>
            </a:extLst>
          </p:cNvPr>
          <p:cNvSpPr>
            <a:spLocks xmlns:a="http://schemas.openxmlformats.org/drawingml/2006/main" noGrp="1"/>
          </p:cNvSpPr>
          <p:nvPr/>
        </p:nvSpPr>
        <p:spPr>
          <a:xfrm xmlns:a="http://schemas.openxmlformats.org/drawingml/2006/main">
            <a:off x="5476875" y="4314825"/>
            <a:ext cx="9144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Kwaliteit kan kopers aantrekken;</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een hogere prijs kan kopers afschrikken.</a:t>
            </a:r>
          </a:p>
        </p:txBody>
      </p:sp>
      <p:sp>
        <p:nvSpPr>
          <p:cNvPr id="11" name="">
            <a:extLst xmlns:a="http://schemas.openxmlformats.org/drawingml/2006/main">
              <a:ext uri="{FF2B5EF4-FFF2-40B4-BE49-F238E27FC236}">
                <a16:creationId xmlns:a16="http://schemas.microsoft.com/office/drawing/2014/main" id="{8108F139-1E28-48BF-9B96-91AD21029174}"/>
              </a:ext>
            </a:extLst>
          </p:cNvPr>
          <p:cNvSpPr>
            <a:spLocks xmlns:a="http://schemas.openxmlformats.org/drawingml/2006/main" noGrp="1"/>
          </p:cNvSpPr>
          <p:nvPr/>
        </p:nvSpPr>
        <p:spPr>
          <a:xfrm xmlns:a="http://schemas.openxmlformats.org/drawingml/2006/main">
            <a:off x="571500" y="5648325"/>
            <a:ext cx="14097000" cy="0"/>
          </a:xfrm>
          <a:prstGeom xmlns:a="http://schemas.openxmlformats.org/drawingml/2006/main" prst="line">
            <a:avLst/>
          </a:prstGeom>
          <a:ln xmlns:a="http://schemas.openxmlformats.org/drawingml/2006/main" w="19050">
            <a:solidFill>
              <a:srgbClr val="C6D2DB"/>
            </a:solidFill>
          </a:ln>
        </p:spPr>
      </p:sp>
      <p:sp>
        <p:nvSpPr>
          <p:cNvPr id="12" name="Grens van de conclusie">
            <a:extLst xmlns:a="http://schemas.openxmlformats.org/drawingml/2006/main">
              <a:ext uri="{FF2B5EF4-FFF2-40B4-BE49-F238E27FC236}">
                <a16:creationId xmlns:a16="http://schemas.microsoft.com/office/drawing/2014/main" id="{C5DB0C23-F7EC-4B73-AB8A-0857FC98DE99}"/>
              </a:ext>
            </a:extLst>
          </p:cNvPr>
          <p:cNvSpPr>
            <a:spLocks xmlns:a="http://schemas.openxmlformats.org/drawingml/2006/main" noGrp="1"/>
          </p:cNvSpPr>
          <p:nvPr/>
        </p:nvSpPr>
        <p:spPr>
          <a:xfrm xmlns:a="http://schemas.openxmlformats.org/drawingml/2006/main">
            <a:off x="571500" y="6010275"/>
            <a:ext cx="428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Grens van de conclusie</a:t>
            </a:r>
          </a:p>
        </p:txBody>
      </p:sp>
      <p:sp>
        <p:nvSpPr>
          <p:cNvPr id="13" name="Zonder voorkeuren van de koper&#10;is de uitkomst niet zeker.">
            <a:extLst xmlns:a="http://schemas.openxmlformats.org/drawingml/2006/main">
              <a:ext uri="{FF2B5EF4-FFF2-40B4-BE49-F238E27FC236}">
                <a16:creationId xmlns:a16="http://schemas.microsoft.com/office/drawing/2014/main" id="{07338CA9-FA51-417A-BA33-58E1FDFDEF4F}"/>
              </a:ext>
            </a:extLst>
          </p:cNvPr>
          <p:cNvSpPr>
            <a:spLocks xmlns:a="http://schemas.openxmlformats.org/drawingml/2006/main" noGrp="1"/>
          </p:cNvSpPr>
          <p:nvPr/>
        </p:nvSpPr>
        <p:spPr>
          <a:xfrm xmlns:a="http://schemas.openxmlformats.org/drawingml/2006/main">
            <a:off x="5476875" y="6010275"/>
            <a:ext cx="9144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Zonder voorkeuren van de koper</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is de uitkomst niet zeker.</a:t>
            </a:r>
          </a:p>
        </p:txBody>
      </p:sp>
    </p:spTree>
    <p:extLst>
      <p:ext uri="{BB962C8B-B14F-4D97-AF65-F5344CB8AC3E}">
        <p14:creationId xmlns:p14="http://schemas.microsoft.com/office/powerpoint/2010/main" val="113769856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227BF335-C08B-4AAC-987D-969DD2FC5FFA}"/>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Handelsvoordeel verschilt per groep</a:t>
            </a:r>
          </a:p>
        </p:txBody>
      </p:sp>
      <p:sp>
        <p:nvSpPr>
          <p:cNvPr id="2" name="">
            <a:extLst xmlns:a="http://schemas.openxmlformats.org/drawingml/2006/main">
              <a:ext uri="{FF2B5EF4-FFF2-40B4-BE49-F238E27FC236}">
                <a16:creationId xmlns:a16="http://schemas.microsoft.com/office/drawing/2014/main" id="{EDC2CE06-A4F8-47CB-9343-FFE5C072E543}"/>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Waarom landen handelen">
            <a:extLst xmlns:a="http://schemas.openxmlformats.org/drawingml/2006/main">
              <a:ext uri="{FF2B5EF4-FFF2-40B4-BE49-F238E27FC236}">
                <a16:creationId xmlns:a16="http://schemas.microsoft.com/office/drawing/2014/main" id="{CA82F6F0-AEBC-4137-B079-7151C9F406ED}"/>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Waarom landen handelen</a:t>
            </a:r>
          </a:p>
        </p:txBody>
      </p:sp>
      <p:sp>
        <p:nvSpPr>
          <p:cNvPr id="4" name="slide-number">
            <a:extLst xmlns:a="http://schemas.openxmlformats.org/drawingml/2006/main">
              <a:ext uri="{FF2B5EF4-FFF2-40B4-BE49-F238E27FC236}">
                <a16:creationId xmlns:a16="http://schemas.microsoft.com/office/drawing/2014/main" id="{79FDC4AF-2D2B-4908-999F-3FE9D5A7AB9D}"/>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35B91FD1-CE4B-4595-9AEF-A4B01902F313}"/>
              </a:ext>
            </a:extLst>
          </p:cNvPr>
          <p:cNvSpPr>
            <a:spLocks xmlns:a="http://schemas.openxmlformats.org/drawingml/2006/main" noGrp="1"/>
          </p:cNvSpPr>
          <p:nvPr/>
        </p:nvSpPr>
        <p:spPr>
          <a:xfrm xmlns:a="http://schemas.openxmlformats.org/drawingml/2006/main">
            <a:off x="571500" y="165735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445B6B"/>
                </a:solidFill>
                <a:latin typeface="Arial"/>
                <a:ea typeface="Arial"/>
                <a:cs typeface="Arial"/>
              </a:defRPr>
            </a:pPr>
            <a:r>
              <a:rPr sz="2025" b="0">
                <a:solidFill>
                  <a:srgbClr val="445B6B"/>
                </a:solidFill>
                <a:latin typeface="Arial"/>
                <a:ea typeface="Arial"/>
                <a:cs typeface="Arial"/>
              </a:rPr>
              <a:t>Uitlegvoorbeeld — niet uit het boek</a:t>
            </a:r>
          </a:p>
        </p:txBody>
      </p:sp>
      <p:sp>
        <p:nvSpPr>
          <p:cNvPr id="6" name="Vesta verkoopt speelgoed aan Elara.">
            <a:extLst xmlns:a="http://schemas.openxmlformats.org/drawingml/2006/main">
              <a:ext uri="{FF2B5EF4-FFF2-40B4-BE49-F238E27FC236}">
                <a16:creationId xmlns:a16="http://schemas.microsoft.com/office/drawing/2014/main" id="{0310A32D-EEB9-44C0-B63C-86D57A1905F1}"/>
              </a:ext>
            </a:extLst>
          </p:cNvPr>
          <p:cNvSpPr>
            <a:spLocks xmlns:a="http://schemas.openxmlformats.org/drawingml/2006/main" noGrp="1"/>
          </p:cNvSpPr>
          <p:nvPr/>
        </p:nvSpPr>
        <p:spPr>
          <a:xfrm xmlns:a="http://schemas.openxmlformats.org/drawingml/2006/main">
            <a:off x="571500" y="248602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Vesta verkoopt speelgoed aan Elara.</a:t>
            </a:r>
          </a:p>
        </p:txBody>
      </p:sp>
      <p:graphicFrame>
        <p:nvGraphicFramePr>
          <p:cNvPr id="15" name=""/>
          <p:cNvGraphicFramePr/>
          <p:nvPr/>
        </p:nvGraphicFramePr>
        <p:xfrm>
          <a:off xmlns:a="http://schemas.openxmlformats.org/drawingml/2006/main" x="571500" y="3629025"/>
          <a:ext xmlns:a="http://schemas.openxmlformats.org/drawingml/2006/main" cx="14097000" cy="3371850"/>
        </p:xfrm>
        <a:graphic xmlns:a="http://schemas.openxmlformats.org/drawingml/2006/main">
          <a:graphicData uri="http://schemas.openxmlformats.org/drawingml/2006/table">
            <a:tbl>
              <a:tblPr/>
              <a:tblGrid>
                <a:gridCol w="6191250"/>
                <a:gridCol w="7905750"/>
              </a:tblGrid>
              <a:tr h="842963">
                <a:tc>
                  <a:txBody>
                    <a:bodyPr lIns="171450" tIns="95250" rIns="152400" bIns="95250"/>
                    <a:lstStyle/>
                    <a:p>
                      <a:r>
                        <a:rPr sz="2625" b="1">
                          <a:solidFill>
                            <a:srgbClr val="FFFFFF"/>
                          </a:solidFill>
                          <a:latin typeface="Arial"/>
                          <a:ea typeface="Arial"/>
                          <a:cs typeface="Arial"/>
                        </a:rPr>
                        <a:t>Groep in Elara</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Mogelijk gevolg</a:t>
                      </a:r>
                    </a:p>
                  </a:txBody>
                  <a:tcPr marL="91440" marR="91440" marT="45720" marB="45720" anchor="ctr">
                    <a:solidFill>
                      <a:srgbClr val="183247"/>
                    </a:solidFill>
                  </a:tcPr>
                </a:tc>
              </a:tr>
              <a:tr h="842963">
                <a:tc>
                  <a:txBody>
                    <a:bodyPr lIns="171450" tIns="95250" rIns="152400" bIns="95250"/>
                    <a:lstStyle/>
                    <a:p>
                      <a:r>
                        <a:rPr sz="2625" b="0">
                          <a:solidFill>
                            <a:srgbClr val="183247"/>
                          </a:solidFill>
                          <a:latin typeface="Arial"/>
                          <a:ea typeface="Arial"/>
                          <a:cs typeface="Arial"/>
                        </a:rPr>
                        <a:t>Kopers van speelgoed</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Meer keuze of een aantrekkelijker aanbod</a:t>
                      </a:r>
                    </a:p>
                  </a:txBody>
                  <a:tcPr marL="91440" marR="91440" marT="45720" marB="45720" anchor="ctr">
                    <a:solidFill>
                      <a:srgbClr val="FFFFFF"/>
                    </a:solidFill>
                  </a:tcPr>
                </a:tc>
              </a:tr>
              <a:tr h="842963">
                <a:tc>
                  <a:txBody>
                    <a:bodyPr lIns="171450" tIns="95250" rIns="152400" bIns="95250"/>
                    <a:lstStyle/>
                    <a:p>
                      <a:r>
                        <a:rPr sz="2625" b="0">
                          <a:solidFill>
                            <a:srgbClr val="183247"/>
                          </a:solidFill>
                          <a:latin typeface="Arial"/>
                          <a:ea typeface="Arial"/>
                          <a:cs typeface="Arial"/>
                        </a:rPr>
                        <a:t>Speelgoedmakers</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Klanten verliezen aan import</a:t>
                      </a:r>
                    </a:p>
                  </a:txBody>
                  <a:tcPr marL="91440" marR="91440" marT="45720" marB="45720" anchor="ctr">
                    <a:solidFill>
                      <a:srgbClr val="EFF4F7"/>
                    </a:solidFill>
                  </a:tcPr>
                </a:tc>
              </a:tr>
              <a:tr h="842963">
                <a:tc>
                  <a:txBody>
                    <a:bodyPr lIns="171450" tIns="95250" rIns="152400" bIns="95250"/>
                    <a:lstStyle/>
                    <a:p>
                      <a:r>
                        <a:rPr sz="2625" b="0">
                          <a:solidFill>
                            <a:srgbClr val="183247"/>
                          </a:solidFill>
                          <a:latin typeface="Arial"/>
                          <a:ea typeface="Arial"/>
                          <a:cs typeface="Arial"/>
                        </a:rPr>
                        <a:t>Werknemers bij die makers</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Mogelijk ander werk moeten zoeken</a:t>
                      </a:r>
                    </a:p>
                  </a:txBody>
                  <a:tcPr marL="91440" marR="91440" marT="45720" marB="45720" anchor="ctr">
                    <a:solidFill>
                      <a:srgbClr val="FFFFFF"/>
                    </a:solidFill>
                  </a:tcPr>
                </a:tc>
              </a:tr>
            </a:tbl>
          </a:graphicData>
        </a:graphic>
      </p:graphicFrame>
      <p:sp>
        <p:nvSpPr>
          <p:cNvPr id="8" name="Gezamenlijk voordeel bewijst niet dat iedereen wint.">
            <a:extLst xmlns:a="http://schemas.openxmlformats.org/drawingml/2006/main">
              <a:ext uri="{FF2B5EF4-FFF2-40B4-BE49-F238E27FC236}">
                <a16:creationId xmlns:a16="http://schemas.microsoft.com/office/drawing/2014/main" id="{98C7FBF6-44D5-475B-BE74-4FF3CE007999}"/>
              </a:ext>
            </a:extLst>
          </p:cNvPr>
          <p:cNvSpPr>
            <a:spLocks xmlns:a="http://schemas.openxmlformats.org/drawingml/2006/main" noGrp="1"/>
          </p:cNvSpPr>
          <p:nvPr/>
        </p:nvSpPr>
        <p:spPr>
          <a:xfrm xmlns:a="http://schemas.openxmlformats.org/drawingml/2006/main">
            <a:off x="571500" y="735330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A94D16"/>
                </a:solidFill>
                <a:latin typeface="Arial"/>
                <a:ea typeface="Arial"/>
                <a:cs typeface="Arial"/>
              </a:defRPr>
            </a:pPr>
            <a:r>
              <a:rPr sz="3150" b="1">
                <a:solidFill>
                  <a:srgbClr val="A94D16"/>
                </a:solidFill>
                <a:latin typeface="Arial"/>
                <a:ea typeface="Arial"/>
                <a:cs typeface="Arial"/>
              </a:rPr>
              <a:t>Gezamenlijk voordeel bewijst niet dat iedereen wint.</a:t>
            </a:r>
          </a:p>
        </p:txBody>
      </p:sp>
    </p:spTree>
    <p:extLst>
      <p:ext uri="{BB962C8B-B14F-4D97-AF65-F5344CB8AC3E}">
        <p14:creationId xmlns:p14="http://schemas.microsoft.com/office/powerpoint/2010/main" val="178393839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6F710CEB-DCC4-4AB3-AE9F-8DDFDB07C5D9}"/>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begripscheck</a:t>
            </a:r>
          </a:p>
        </p:txBody>
      </p:sp>
      <p:sp>
        <p:nvSpPr>
          <p:cNvPr id="2" name="">
            <a:extLst xmlns:a="http://schemas.openxmlformats.org/drawingml/2006/main">
              <a:ext uri="{FF2B5EF4-FFF2-40B4-BE49-F238E27FC236}">
                <a16:creationId xmlns:a16="http://schemas.microsoft.com/office/drawing/2014/main" id="{5F992292-A14A-4EFC-AA50-5FD6FBFB2A83}"/>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Waarom landen handelen">
            <a:extLst xmlns:a="http://schemas.openxmlformats.org/drawingml/2006/main">
              <a:ext uri="{FF2B5EF4-FFF2-40B4-BE49-F238E27FC236}">
                <a16:creationId xmlns:a16="http://schemas.microsoft.com/office/drawing/2014/main" id="{BD725FE5-8259-468F-A4CB-F669333B0BBD}"/>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Waarom landen handelen</a:t>
            </a:r>
          </a:p>
        </p:txBody>
      </p:sp>
      <p:sp>
        <p:nvSpPr>
          <p:cNvPr id="4" name="slide-number">
            <a:extLst xmlns:a="http://schemas.openxmlformats.org/drawingml/2006/main">
              <a:ext uri="{FF2B5EF4-FFF2-40B4-BE49-F238E27FC236}">
                <a16:creationId xmlns:a16="http://schemas.microsoft.com/office/drawing/2014/main" id="{507713B3-D5A7-484E-85FA-3D85899B8F62}"/>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a:extLst xmlns:a="http://schemas.openxmlformats.org/drawingml/2006/main">
              <a:ext uri="{FF2B5EF4-FFF2-40B4-BE49-F238E27FC236}">
                <a16:creationId xmlns:a16="http://schemas.microsoft.com/office/drawing/2014/main" id="{7DEA9E9F-254D-4784-979C-38025BE1EBD6}"/>
              </a:ext>
            </a:extLst>
          </p:cNvPr>
          <p:cNvSpPr>
            <a:spLocks xmlns:a="http://schemas.openxmlformats.org/drawingml/2006/main" noGrp="1"/>
          </p:cNvSpPr>
          <p:nvPr/>
        </p:nvSpPr>
        <p:spPr>
          <a:xfrm xmlns:a="http://schemas.openxmlformats.org/drawingml/2006/main">
            <a:off x="571500" y="165735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445B6B"/>
                </a:solidFill>
                <a:latin typeface="Arial"/>
                <a:ea typeface="Arial"/>
                <a:cs typeface="Arial"/>
              </a:defRPr>
            </a:pPr>
            <a:r>
              <a:rPr sz="2025" b="0">
                <a:solidFill>
                  <a:srgbClr val="445B6B"/>
                </a:solidFill>
                <a:latin typeface="Arial"/>
                <a:ea typeface="Arial"/>
                <a:cs typeface="Arial"/>
              </a:rPr>
              <a:t>Uitlegvoorbeeld — niet uit het boek</a:t>
            </a:r>
          </a:p>
        </p:txBody>
      </p:sp>
      <p:sp>
        <p:nvSpPr>
          <p:cNvPr id="6" name="“Elara gebruikt voor beide producten minder middelen.&#10;Vesta ">
            <a:extLst xmlns:a="http://schemas.openxmlformats.org/drawingml/2006/main">
              <a:ext uri="{FF2B5EF4-FFF2-40B4-BE49-F238E27FC236}">
                <a16:creationId xmlns:a16="http://schemas.microsoft.com/office/drawing/2014/main" id="{05B457A2-6781-4C96-B416-BC7CAEF783F3}"/>
              </a:ext>
            </a:extLst>
          </p:cNvPr>
          <p:cNvSpPr>
            <a:spLocks xmlns:a="http://schemas.openxmlformats.org/drawingml/2006/main" noGrp="1"/>
          </p:cNvSpPr>
          <p:nvPr/>
        </p:nvSpPr>
        <p:spPr>
          <a:xfrm xmlns:a="http://schemas.openxmlformats.org/drawingml/2006/main">
            <a:off x="571500" y="2695575"/>
            <a:ext cx="1409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“Elara gebruikt voor beide producten minder middelen.</a:t>
            </a:r>
          </a:p>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Vesta kan dus geen voordeel hebben bij speelgoed.”</a:t>
            </a:r>
          </a:p>
        </p:txBody>
      </p:sp>
      <p:sp>
        <p:nvSpPr>
          <p:cNvPr id="7" name="Klopt de conclusie?&#10;Benoem het verschil tussen middelen en a">
            <a:extLst xmlns:a="http://schemas.openxmlformats.org/drawingml/2006/main">
              <a:ext uri="{FF2B5EF4-FFF2-40B4-BE49-F238E27FC236}">
                <a16:creationId xmlns:a16="http://schemas.microsoft.com/office/drawing/2014/main" id="{FAF8BD48-C50F-4299-9BFF-870FEE5D0093}"/>
              </a:ext>
            </a:extLst>
          </p:cNvPr>
          <p:cNvSpPr>
            <a:spLocks xmlns:a="http://schemas.openxmlformats.org/drawingml/2006/main" noGrp="1"/>
          </p:cNvSpPr>
          <p:nvPr/>
        </p:nvSpPr>
        <p:spPr>
          <a:xfrm xmlns:a="http://schemas.openxmlformats.org/drawingml/2006/main">
            <a:off x="571500" y="5457825"/>
            <a:ext cx="14097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Klopt de conclusie?</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Benoem het verschil tussen middelen en alternatieve kosten.</a:t>
            </a:r>
          </a:p>
        </p:txBody>
      </p:sp>
    </p:spTree>
    <p:extLst>
      <p:ext uri="{BB962C8B-B14F-4D97-AF65-F5344CB8AC3E}">
        <p14:creationId xmlns:p14="http://schemas.microsoft.com/office/powerpoint/2010/main" val="198699923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50834369-F6B0-4C05-8806-80055CBE70BA}"/>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begripscheck</a:t>
            </a:r>
          </a:p>
        </p:txBody>
      </p:sp>
      <p:sp>
        <p:nvSpPr>
          <p:cNvPr id="2" name="">
            <a:extLst xmlns:a="http://schemas.openxmlformats.org/drawingml/2006/main">
              <a:ext uri="{FF2B5EF4-FFF2-40B4-BE49-F238E27FC236}">
                <a16:creationId xmlns:a16="http://schemas.microsoft.com/office/drawing/2014/main" id="{3EB2AD8B-40AD-4E3E-8F62-1435748B9346}"/>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Waarom landen handelen">
            <a:extLst xmlns:a="http://schemas.openxmlformats.org/drawingml/2006/main">
              <a:ext uri="{FF2B5EF4-FFF2-40B4-BE49-F238E27FC236}">
                <a16:creationId xmlns:a16="http://schemas.microsoft.com/office/drawing/2014/main" id="{52FFAB11-E759-4F5D-81F4-0EF522C79C42}"/>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Waarom landen handelen</a:t>
            </a:r>
          </a:p>
        </p:txBody>
      </p:sp>
      <p:sp>
        <p:nvSpPr>
          <p:cNvPr id="4" name="slide-number">
            <a:extLst xmlns:a="http://schemas.openxmlformats.org/drawingml/2006/main">
              <a:ext uri="{FF2B5EF4-FFF2-40B4-BE49-F238E27FC236}">
                <a16:creationId xmlns:a16="http://schemas.microsoft.com/office/drawing/2014/main" id="{914195DD-AEA3-4933-9CC9-097E117E93CA}"/>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a:extLst xmlns:a="http://schemas.openxmlformats.org/drawingml/2006/main">
              <a:ext uri="{FF2B5EF4-FFF2-40B4-BE49-F238E27FC236}">
                <a16:creationId xmlns:a16="http://schemas.microsoft.com/office/drawing/2014/main" id="{FAC34949-1E85-4864-98DE-7AA185751EA6}"/>
              </a:ext>
            </a:extLst>
          </p:cNvPr>
          <p:cNvSpPr>
            <a:spLocks xmlns:a="http://schemas.openxmlformats.org/drawingml/2006/main" noGrp="1"/>
          </p:cNvSpPr>
          <p:nvPr/>
        </p:nvSpPr>
        <p:spPr>
          <a:xfrm xmlns:a="http://schemas.openxmlformats.org/drawingml/2006/main">
            <a:off x="571500" y="165735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445B6B"/>
                </a:solidFill>
                <a:latin typeface="Arial"/>
                <a:ea typeface="Arial"/>
                <a:cs typeface="Arial"/>
              </a:defRPr>
            </a:pPr>
            <a:r>
              <a:rPr sz="2025" b="0">
                <a:solidFill>
                  <a:srgbClr val="445B6B"/>
                </a:solidFill>
                <a:latin typeface="Arial"/>
                <a:ea typeface="Arial"/>
                <a:cs typeface="Arial"/>
              </a:rPr>
              <a:t>Uitlegvoorbeeld — niet uit het boek</a:t>
            </a:r>
          </a:p>
        </p:txBody>
      </p:sp>
      <p:sp>
        <p:nvSpPr>
          <p:cNvPr id="6" name="“Elara gebruikt voor beide producten minder middelen.&#10;Vesta ">
            <a:extLst xmlns:a="http://schemas.openxmlformats.org/drawingml/2006/main">
              <a:ext uri="{FF2B5EF4-FFF2-40B4-BE49-F238E27FC236}">
                <a16:creationId xmlns:a16="http://schemas.microsoft.com/office/drawing/2014/main" id="{746F3F29-9A1A-43C7-A6F5-CC7EADC40A0A}"/>
              </a:ext>
            </a:extLst>
          </p:cNvPr>
          <p:cNvSpPr>
            <a:spLocks xmlns:a="http://schemas.openxmlformats.org/drawingml/2006/main" noGrp="1"/>
          </p:cNvSpPr>
          <p:nvPr/>
        </p:nvSpPr>
        <p:spPr>
          <a:xfrm xmlns:a="http://schemas.openxmlformats.org/drawingml/2006/main">
            <a:off x="571500" y="2695575"/>
            <a:ext cx="1409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“Elara gebruikt voor beide producten minder middelen.</a:t>
            </a:r>
          </a:p>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Vesta kan dus geen voordeel hebben bij speelgoed.”</a:t>
            </a:r>
          </a:p>
        </p:txBody>
      </p:sp>
      <p:sp>
        <p:nvSpPr>
          <p:cNvPr id="7" name="De conclusie klopt niet.">
            <a:extLst xmlns:a="http://schemas.openxmlformats.org/drawingml/2006/main">
              <a:ext uri="{FF2B5EF4-FFF2-40B4-BE49-F238E27FC236}">
                <a16:creationId xmlns:a16="http://schemas.microsoft.com/office/drawing/2014/main" id="{F4E0311E-EC84-4370-8F4C-66B5B62A58B1}"/>
              </a:ext>
            </a:extLst>
          </p:cNvPr>
          <p:cNvSpPr>
            <a:spLocks xmlns:a="http://schemas.openxmlformats.org/drawingml/2006/main" noGrp="1"/>
          </p:cNvSpPr>
          <p:nvPr/>
        </p:nvSpPr>
        <p:spPr>
          <a:xfrm xmlns:a="http://schemas.openxmlformats.org/drawingml/2006/main">
            <a:off x="571500" y="48958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De conclusie klopt niet.</a:t>
            </a:r>
          </a:p>
        </p:txBody>
      </p:sp>
      <p:sp>
        <p:nvSpPr>
          <p:cNvPr id="8" name="Vesta offert voor speelgoed relatief minder meubels op.&#10;Dat ">
            <a:extLst xmlns:a="http://schemas.openxmlformats.org/drawingml/2006/main">
              <a:ext uri="{FF2B5EF4-FFF2-40B4-BE49-F238E27FC236}">
                <a16:creationId xmlns:a16="http://schemas.microsoft.com/office/drawing/2014/main" id="{7C4E38EA-F2AA-4A84-99AF-63CF42EBA1DA}"/>
              </a:ext>
            </a:extLst>
          </p:cNvPr>
          <p:cNvSpPr>
            <a:spLocks xmlns:a="http://schemas.openxmlformats.org/drawingml/2006/main" noGrp="1"/>
          </p:cNvSpPr>
          <p:nvPr/>
        </p:nvSpPr>
        <p:spPr>
          <a:xfrm xmlns:a="http://schemas.openxmlformats.org/drawingml/2006/main">
            <a:off x="571500" y="5972175"/>
            <a:ext cx="14097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Vesta offert voor speelgoed relatief minder meubels op.</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Dat geeft Vesta een comparatief voordeel.</a:t>
            </a:r>
          </a:p>
        </p:txBody>
      </p:sp>
    </p:spTree>
    <p:extLst>
      <p:ext uri="{BB962C8B-B14F-4D97-AF65-F5344CB8AC3E}">
        <p14:creationId xmlns:p14="http://schemas.microsoft.com/office/powerpoint/2010/main" val="80839330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lide-title">
            <a:extLst xmlns:a="http://schemas.openxmlformats.org/drawingml/2006/main">
              <a:ext uri="{FF2B5EF4-FFF2-40B4-BE49-F238E27FC236}">
                <a16:creationId xmlns:a16="http://schemas.microsoft.com/office/drawing/2014/main" id="{8326F4F4-03EF-4CE2-A387-69E8F1506186}"/>
              </a:ext>
            </a:extLst>
          </p:cNvPr>
          <p:cNvSpPr>
            <a:spLocks xmlns:a="http://schemas.openxmlformats.org/drawingml/2006/main" noGrp="1"/>
          </p:cNvSpPr>
          <p:nvPr/>
        </p:nvSpPr>
        <p:spPr>
          <a:xfrm xmlns:a="http://schemas.openxmlformats.org/drawingml/2006/main">
            <a:off x="571500" y="266700"/>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§3.3.1 Waarom landen handelen:</a:t>
            </a:r>
          </a:p>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specialisatie en concurrentiepositie</a:t>
            </a:r>
          </a:p>
        </p:txBody>
      </p:sp>
      <p:sp>
        <p:nvSpPr>
          <p:cNvPr id="2" name="phase">
            <a:extLst xmlns:a="http://schemas.openxmlformats.org/drawingml/2006/main">
              <a:ext uri="{FF2B5EF4-FFF2-40B4-BE49-F238E27FC236}">
                <a16:creationId xmlns:a16="http://schemas.microsoft.com/office/drawing/2014/main" id="{95503FA3-62F0-4B6C-8CCE-F9D9404CC2FB}"/>
              </a:ext>
            </a:extLst>
          </p:cNvPr>
          <p:cNvSpPr>
            <a:spLocks xmlns:a="http://schemas.openxmlformats.org/drawingml/2006/main" noGrp="1"/>
          </p:cNvSpPr>
          <p:nvPr/>
        </p:nvSpPr>
        <p:spPr>
          <a:xfrm xmlns:a="http://schemas.openxmlformats.org/drawingml/2006/main">
            <a:off x="571500" y="137160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3" name="">
            <a:extLst xmlns:a="http://schemas.openxmlformats.org/drawingml/2006/main">
              <a:ext uri="{FF2B5EF4-FFF2-40B4-BE49-F238E27FC236}">
                <a16:creationId xmlns:a16="http://schemas.microsoft.com/office/drawing/2014/main" id="{DCF08474-6086-43D4-8842-F7D5B9FDA14A}"/>
              </a:ext>
            </a:extLst>
          </p:cNvPr>
          <p:cNvSpPr>
            <a:spLocks xmlns:a="http://schemas.openxmlformats.org/drawingml/2006/main" noGrp="1"/>
          </p:cNvSpPr>
          <p:nvPr/>
        </p:nvSpPr>
        <p:spPr>
          <a:xfrm xmlns:a="http://schemas.openxmlformats.org/drawingml/2006/main">
            <a:off x="571500" y="1847850"/>
            <a:ext cx="14097000" cy="0"/>
          </a:xfrm>
          <a:prstGeom xmlns:a="http://schemas.openxmlformats.org/drawingml/2006/main" prst="line">
            <a:avLst/>
          </a:prstGeom>
          <a:ln xmlns:a="http://schemas.openxmlformats.org/drawingml/2006/main" w="19050">
            <a:solidFill>
              <a:srgbClr val="C6D2DB"/>
            </a:solidFill>
          </a:ln>
        </p:spPr>
      </p:sp>
      <p:sp>
        <p:nvSpPr>
          <p:cNvPr id="4" name="Lesroute">
            <a:extLst xmlns:a="http://schemas.openxmlformats.org/drawingml/2006/main">
              <a:ext uri="{FF2B5EF4-FFF2-40B4-BE49-F238E27FC236}">
                <a16:creationId xmlns:a16="http://schemas.microsoft.com/office/drawing/2014/main" id="{3F67B633-13AF-42B9-A3E8-FCFA2E746B87}"/>
              </a:ext>
            </a:extLst>
          </p:cNvPr>
          <p:cNvSpPr>
            <a:spLocks xmlns:a="http://schemas.openxmlformats.org/drawingml/2006/main" noGrp="1"/>
          </p:cNvSpPr>
          <p:nvPr/>
        </p:nvSpPr>
        <p:spPr>
          <a:xfrm xmlns:a="http://schemas.openxmlformats.org/drawingml/2006/main">
            <a:off x="571500" y="2076450"/>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5" name="route-number-1">
            <a:extLst xmlns:a="http://schemas.openxmlformats.org/drawingml/2006/main">
              <a:ext uri="{FF2B5EF4-FFF2-40B4-BE49-F238E27FC236}">
                <a16:creationId xmlns:a16="http://schemas.microsoft.com/office/drawing/2014/main" id="{EBFFB22E-644D-4DBC-AB81-3202D3A5003C}"/>
              </a:ext>
            </a:extLst>
          </p:cNvPr>
          <p:cNvSpPr>
            <a:spLocks xmlns:a="http://schemas.openxmlformats.org/drawingml/2006/main" noGrp="1"/>
          </p:cNvSpPr>
          <p:nvPr/>
        </p:nvSpPr>
        <p:spPr>
          <a:xfrm xmlns:a="http://schemas.openxmlformats.org/drawingml/2006/main">
            <a:off x="571500" y="2638425"/>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6" name="route-1">
            <a:extLst xmlns:a="http://schemas.openxmlformats.org/drawingml/2006/main">
              <a:ext uri="{FF2B5EF4-FFF2-40B4-BE49-F238E27FC236}">
                <a16:creationId xmlns:a16="http://schemas.microsoft.com/office/drawing/2014/main" id="{46B81B39-859A-4594-9918-61D4BAC16A68}"/>
              </a:ext>
            </a:extLst>
          </p:cNvPr>
          <p:cNvSpPr>
            <a:spLocks xmlns:a="http://schemas.openxmlformats.org/drawingml/2006/main" noGrp="1"/>
          </p:cNvSpPr>
          <p:nvPr/>
        </p:nvSpPr>
        <p:spPr>
          <a:xfrm xmlns:a="http://schemas.openxmlformats.org/drawingml/2006/main">
            <a:off x="1104900" y="2638425"/>
            <a:ext cx="7667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7" name="route-number-2">
            <a:extLst xmlns:a="http://schemas.openxmlformats.org/drawingml/2006/main">
              <a:ext uri="{FF2B5EF4-FFF2-40B4-BE49-F238E27FC236}">
                <a16:creationId xmlns:a16="http://schemas.microsoft.com/office/drawing/2014/main" id="{90633E8F-50E9-4A61-BE81-DA92027221FF}"/>
              </a:ext>
            </a:extLst>
          </p:cNvPr>
          <p:cNvSpPr>
            <a:spLocks xmlns:a="http://schemas.openxmlformats.org/drawingml/2006/main" noGrp="1"/>
          </p:cNvSpPr>
          <p:nvPr/>
        </p:nvSpPr>
        <p:spPr>
          <a:xfrm xmlns:a="http://schemas.openxmlformats.org/drawingml/2006/main">
            <a:off x="571500" y="34766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8" name="route-2">
            <a:extLst xmlns:a="http://schemas.openxmlformats.org/drawingml/2006/main">
              <a:ext uri="{FF2B5EF4-FFF2-40B4-BE49-F238E27FC236}">
                <a16:creationId xmlns:a16="http://schemas.microsoft.com/office/drawing/2014/main" id="{BB1BCC81-1032-4A71-82AE-C2F261A603D1}"/>
              </a:ext>
            </a:extLst>
          </p:cNvPr>
          <p:cNvSpPr>
            <a:spLocks xmlns:a="http://schemas.openxmlformats.org/drawingml/2006/main" noGrp="1"/>
          </p:cNvSpPr>
          <p:nvPr/>
        </p:nvSpPr>
        <p:spPr>
          <a:xfrm xmlns:a="http://schemas.openxmlformats.org/drawingml/2006/main">
            <a:off x="1104900" y="3476625"/>
            <a:ext cx="766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9" name="route-number-3">
            <a:extLst xmlns:a="http://schemas.openxmlformats.org/drawingml/2006/main">
              <a:ext uri="{FF2B5EF4-FFF2-40B4-BE49-F238E27FC236}">
                <a16:creationId xmlns:a16="http://schemas.microsoft.com/office/drawing/2014/main" id="{F8D12074-CCF9-4C7D-852A-5A83BCF113B1}"/>
              </a:ext>
            </a:extLst>
          </p:cNvPr>
          <p:cNvSpPr>
            <a:spLocks xmlns:a="http://schemas.openxmlformats.org/drawingml/2006/main" noGrp="1"/>
          </p:cNvSpPr>
          <p:nvPr/>
        </p:nvSpPr>
        <p:spPr>
          <a:xfrm xmlns:a="http://schemas.openxmlformats.org/drawingml/2006/main">
            <a:off x="571500" y="39719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0" name="route-3">
            <a:extLst xmlns:a="http://schemas.openxmlformats.org/drawingml/2006/main">
              <a:ext uri="{FF2B5EF4-FFF2-40B4-BE49-F238E27FC236}">
                <a16:creationId xmlns:a16="http://schemas.microsoft.com/office/drawing/2014/main" id="{BABB3645-A037-423B-8113-A8BEC47298F0}"/>
              </a:ext>
            </a:extLst>
          </p:cNvPr>
          <p:cNvSpPr>
            <a:spLocks xmlns:a="http://schemas.openxmlformats.org/drawingml/2006/main" noGrp="1"/>
          </p:cNvSpPr>
          <p:nvPr/>
        </p:nvSpPr>
        <p:spPr>
          <a:xfrm xmlns:a="http://schemas.openxmlformats.org/drawingml/2006/main">
            <a:off x="1104900" y="3971925"/>
            <a:ext cx="766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1" name="route-number-4">
            <a:extLst xmlns:a="http://schemas.openxmlformats.org/drawingml/2006/main">
              <a:ext uri="{FF2B5EF4-FFF2-40B4-BE49-F238E27FC236}">
                <a16:creationId xmlns:a16="http://schemas.microsoft.com/office/drawing/2014/main" id="{3D607664-400F-4F1E-8275-DA3C0FE9C265}"/>
              </a:ext>
            </a:extLst>
          </p:cNvPr>
          <p:cNvSpPr>
            <a:spLocks xmlns:a="http://schemas.openxmlformats.org/drawingml/2006/main" noGrp="1"/>
          </p:cNvSpPr>
          <p:nvPr/>
        </p:nvSpPr>
        <p:spPr>
          <a:xfrm xmlns:a="http://schemas.openxmlformats.org/drawingml/2006/main">
            <a:off x="571500" y="4467225"/>
            <a:ext cx="4572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2" name="route-4">
            <a:extLst xmlns:a="http://schemas.openxmlformats.org/drawingml/2006/main">
              <a:ext uri="{FF2B5EF4-FFF2-40B4-BE49-F238E27FC236}">
                <a16:creationId xmlns:a16="http://schemas.microsoft.com/office/drawing/2014/main" id="{CC33A91D-07A8-4B77-AC0D-60151158D88C}"/>
              </a:ext>
            </a:extLst>
          </p:cNvPr>
          <p:cNvSpPr>
            <a:spLocks xmlns:a="http://schemas.openxmlformats.org/drawingml/2006/main" noGrp="1"/>
          </p:cNvSpPr>
          <p:nvPr/>
        </p:nvSpPr>
        <p:spPr>
          <a:xfrm xmlns:a="http://schemas.openxmlformats.org/drawingml/2006/main">
            <a:off x="1104900" y="4467225"/>
            <a:ext cx="76676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a:t>
            </a:r>
          </a:p>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Lukt dat goed, ga dan naar de zelfstandige oefening.</a:t>
            </a:r>
          </a:p>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daarna de doelopgave en kijk vervolgens je</a:t>
            </a:r>
          </a:p>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antwoorden na.</a:t>
            </a:r>
          </a:p>
        </p:txBody>
      </p:sp>
      <p:sp>
        <p:nvSpPr>
          <p:cNvPr id="13" name="route-number-5">
            <a:extLst xmlns:a="http://schemas.openxmlformats.org/drawingml/2006/main">
              <a:ext uri="{FF2B5EF4-FFF2-40B4-BE49-F238E27FC236}">
                <a16:creationId xmlns:a16="http://schemas.microsoft.com/office/drawing/2014/main" id="{0DFC5AA2-6F02-4D69-B966-2220704116D3}"/>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4" name="route-5">
            <a:extLst xmlns:a="http://schemas.openxmlformats.org/drawingml/2006/main">
              <a:ext uri="{FF2B5EF4-FFF2-40B4-BE49-F238E27FC236}">
                <a16:creationId xmlns:a16="http://schemas.microsoft.com/office/drawing/2014/main" id="{79313FB3-5F2F-4444-B8F4-E21F2A747CF3}"/>
              </a:ext>
            </a:extLst>
          </p:cNvPr>
          <p:cNvSpPr>
            <a:spLocks xmlns:a="http://schemas.openxmlformats.org/drawingml/2006/main" noGrp="1"/>
          </p:cNvSpPr>
          <p:nvPr/>
        </p:nvSpPr>
        <p:spPr>
          <a:xfrm xmlns:a="http://schemas.openxmlformats.org/drawingml/2006/main">
            <a:off x="1104900" y="6057900"/>
            <a:ext cx="7667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5" name="route-number-6">
            <a:extLst xmlns:a="http://schemas.openxmlformats.org/drawingml/2006/main">
              <a:ext uri="{FF2B5EF4-FFF2-40B4-BE49-F238E27FC236}">
                <a16:creationId xmlns:a16="http://schemas.microsoft.com/office/drawing/2014/main" id="{13952CF3-1555-428B-8594-B2D1F1744231}"/>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6" name="route-6">
            <a:extLst xmlns:a="http://schemas.openxmlformats.org/drawingml/2006/main">
              <a:ext uri="{FF2B5EF4-FFF2-40B4-BE49-F238E27FC236}">
                <a16:creationId xmlns:a16="http://schemas.microsoft.com/office/drawing/2014/main" id="{4FD0F5B6-CF59-4DBF-9A6D-CFBBEAEBA381}"/>
              </a:ext>
            </a:extLst>
          </p:cNvPr>
          <p:cNvSpPr>
            <a:spLocks xmlns:a="http://schemas.openxmlformats.org/drawingml/2006/main" noGrp="1"/>
          </p:cNvSpPr>
          <p:nvPr/>
        </p:nvSpPr>
        <p:spPr>
          <a:xfrm xmlns:a="http://schemas.openxmlformats.org/drawingml/2006/main">
            <a:off x="1104900" y="6819900"/>
            <a:ext cx="7667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7" name="route-number-7">
            <a:extLst xmlns:a="http://schemas.openxmlformats.org/drawingml/2006/main">
              <a:ext uri="{FF2B5EF4-FFF2-40B4-BE49-F238E27FC236}">
                <a16:creationId xmlns:a16="http://schemas.microsoft.com/office/drawing/2014/main" id="{60EA3273-133D-4A6D-A5C7-CE0969407BE7}"/>
              </a:ext>
            </a:extLst>
          </p:cNvPr>
          <p:cNvSpPr>
            <a:spLocks xmlns:a="http://schemas.openxmlformats.org/drawingml/2006/main" noGrp="1"/>
          </p:cNvSpPr>
          <p:nvPr/>
        </p:nvSpPr>
        <p:spPr>
          <a:xfrm xmlns:a="http://schemas.openxmlformats.org/drawingml/2006/main">
            <a:off x="571500" y="74104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18" name="route-7">
            <a:extLst xmlns:a="http://schemas.openxmlformats.org/drawingml/2006/main">
              <a:ext uri="{FF2B5EF4-FFF2-40B4-BE49-F238E27FC236}">
                <a16:creationId xmlns:a16="http://schemas.microsoft.com/office/drawing/2014/main" id="{0637B504-86FC-409E-8471-9CBC183047E9}"/>
              </a:ext>
            </a:extLst>
          </p:cNvPr>
          <p:cNvSpPr>
            <a:spLocks xmlns:a="http://schemas.openxmlformats.org/drawingml/2006/main" noGrp="1"/>
          </p:cNvSpPr>
          <p:nvPr/>
        </p:nvSpPr>
        <p:spPr>
          <a:xfrm xmlns:a="http://schemas.openxmlformats.org/drawingml/2006/main">
            <a:off x="1104900" y="7410450"/>
            <a:ext cx="7667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19" name="Lesdoelen">
            <a:extLst xmlns:a="http://schemas.openxmlformats.org/drawingml/2006/main">
              <a:ext uri="{FF2B5EF4-FFF2-40B4-BE49-F238E27FC236}">
                <a16:creationId xmlns:a16="http://schemas.microsoft.com/office/drawing/2014/main" id="{6908E7EE-A7D1-4EFE-B04A-4176429024E3}"/>
              </a:ext>
            </a:extLst>
          </p:cNvPr>
          <p:cNvSpPr>
            <a:spLocks xmlns:a="http://schemas.openxmlformats.org/drawingml/2006/main" noGrp="1"/>
          </p:cNvSpPr>
          <p:nvPr/>
        </p:nvSpPr>
        <p:spPr>
          <a:xfrm xmlns:a="http://schemas.openxmlformats.org/drawingml/2006/main">
            <a:off x="9258300" y="20764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0" name="overview-goals">
            <a:extLst xmlns:a="http://schemas.openxmlformats.org/drawingml/2006/main">
              <a:ext uri="{FF2B5EF4-FFF2-40B4-BE49-F238E27FC236}">
                <a16:creationId xmlns:a16="http://schemas.microsoft.com/office/drawing/2014/main" id="{C0CB00A9-0C71-407C-9516-B575419617BA}"/>
              </a:ext>
            </a:extLst>
          </p:cNvPr>
          <p:cNvSpPr>
            <a:spLocks xmlns:a="http://schemas.openxmlformats.org/drawingml/2006/main" noGrp="1"/>
          </p:cNvSpPr>
          <p:nvPr/>
        </p:nvSpPr>
        <p:spPr>
          <a:xfrm xmlns:a="http://schemas.openxmlformats.org/drawingml/2006/main">
            <a:off x="9258300" y="2638425"/>
            <a:ext cx="54102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Handelsstromen benoemen,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voordelen onderscheiden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specialisatie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Bronuitspraken beoordelen.</a:t>
            </a:r>
          </a:p>
        </p:txBody>
      </p:sp>
      <p:sp>
        <p:nvSpPr>
          <p:cNvPr id="21" name="">
            <a:extLst xmlns:a="http://schemas.openxmlformats.org/drawingml/2006/main">
              <a:ext uri="{FF2B5EF4-FFF2-40B4-BE49-F238E27FC236}">
                <a16:creationId xmlns:a16="http://schemas.microsoft.com/office/drawing/2014/main" id="{F5BE3057-6DA5-4CF2-A16C-9945438E335C}"/>
              </a:ext>
            </a:extLst>
          </p:cNvPr>
          <p:cNvSpPr>
            <a:spLocks xmlns:a="http://schemas.openxmlformats.org/drawingml/2006/main" noGrp="1"/>
          </p:cNvSpPr>
          <p:nvPr/>
        </p:nvSpPr>
        <p:spPr>
          <a:xfrm xmlns:a="http://schemas.openxmlformats.org/drawingml/2006/main">
            <a:off x="9258300" y="4143375"/>
            <a:ext cx="5410200" cy="0"/>
          </a:xfrm>
          <a:prstGeom xmlns:a="http://schemas.openxmlformats.org/drawingml/2006/main" prst="line">
            <a:avLst/>
          </a:prstGeom>
          <a:ln xmlns:a="http://schemas.openxmlformats.org/drawingml/2006/main" w="19050">
            <a:solidFill>
              <a:srgbClr val="C6D2DB"/>
            </a:solidFill>
          </a:ln>
        </p:spPr>
      </p:sp>
      <p:sp>
        <p:nvSpPr>
          <p:cNvPr id="22" name="Startopdracht">
            <a:extLst xmlns:a="http://schemas.openxmlformats.org/drawingml/2006/main">
              <a:ext uri="{FF2B5EF4-FFF2-40B4-BE49-F238E27FC236}">
                <a16:creationId xmlns:a16="http://schemas.microsoft.com/office/drawing/2014/main" id="{07A35C37-4411-4983-BB1A-773C47CA6C0C}"/>
              </a:ext>
            </a:extLst>
          </p:cNvPr>
          <p:cNvSpPr>
            <a:spLocks xmlns:a="http://schemas.openxmlformats.org/drawingml/2006/main" noGrp="1"/>
          </p:cNvSpPr>
          <p:nvPr/>
        </p:nvSpPr>
        <p:spPr>
          <a:xfrm xmlns:a="http://schemas.openxmlformats.org/drawingml/2006/main">
            <a:off x="9258300" y="43910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3" name="overview-start">
            <a:extLst xmlns:a="http://schemas.openxmlformats.org/drawingml/2006/main">
              <a:ext uri="{FF2B5EF4-FFF2-40B4-BE49-F238E27FC236}">
                <a16:creationId xmlns:a16="http://schemas.microsoft.com/office/drawing/2014/main" id="{03272ECB-AC29-4BE6-9EB0-6546CD8ECBF0}"/>
              </a:ext>
            </a:extLst>
          </p:cNvPr>
          <p:cNvSpPr>
            <a:spLocks xmlns:a="http://schemas.openxmlformats.org/drawingml/2006/main" noGrp="1"/>
          </p:cNvSpPr>
          <p:nvPr/>
        </p:nvSpPr>
        <p:spPr>
          <a:xfrm xmlns:a="http://schemas.openxmlformats.org/drawingml/2006/main">
            <a:off x="9258300" y="4933950"/>
            <a:ext cx="54102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92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met theorie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 p. 88–90</a:t>
            </a:r>
          </a:p>
        </p:txBody>
      </p:sp>
      <p:sp>
        <p:nvSpPr>
          <p:cNvPr id="24" name="">
            <a:extLst xmlns:a="http://schemas.openxmlformats.org/drawingml/2006/main">
              <a:ext uri="{FF2B5EF4-FFF2-40B4-BE49-F238E27FC236}">
                <a16:creationId xmlns:a16="http://schemas.microsoft.com/office/drawing/2014/main" id="{588B936A-9EB1-478C-9612-9C37B188551D}"/>
              </a:ext>
            </a:extLst>
          </p:cNvPr>
          <p:cNvSpPr>
            <a:spLocks xmlns:a="http://schemas.openxmlformats.org/drawingml/2006/main" noGrp="1"/>
          </p:cNvSpPr>
          <p:nvPr/>
        </p:nvSpPr>
        <p:spPr>
          <a:xfrm xmlns:a="http://schemas.openxmlformats.org/drawingml/2006/main">
            <a:off x="9258300" y="6086475"/>
            <a:ext cx="5410200" cy="0"/>
          </a:xfrm>
          <a:prstGeom xmlns:a="http://schemas.openxmlformats.org/drawingml/2006/main" prst="line">
            <a:avLst/>
          </a:prstGeom>
          <a:ln xmlns:a="http://schemas.openxmlformats.org/drawingml/2006/main" w="19050">
            <a:solidFill>
              <a:srgbClr val="C6D2DB"/>
            </a:solidFill>
          </a:ln>
        </p:spPr>
      </p:sp>
      <p:sp>
        <p:nvSpPr>
          <p:cNvPr id="25" name="Huiswerk">
            <a:extLst xmlns:a="http://schemas.openxmlformats.org/drawingml/2006/main">
              <a:ext uri="{FF2B5EF4-FFF2-40B4-BE49-F238E27FC236}">
                <a16:creationId xmlns:a16="http://schemas.microsoft.com/office/drawing/2014/main" id="{87507348-2769-4428-B175-5961063B64F2}"/>
              </a:ext>
            </a:extLst>
          </p:cNvPr>
          <p:cNvSpPr>
            <a:spLocks xmlns:a="http://schemas.openxmlformats.org/drawingml/2006/main" noGrp="1"/>
          </p:cNvSpPr>
          <p:nvPr/>
        </p:nvSpPr>
        <p:spPr>
          <a:xfrm xmlns:a="http://schemas.openxmlformats.org/drawingml/2006/main">
            <a:off x="9258300" y="61722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6" name="overview-homework">
            <a:extLst xmlns:a="http://schemas.openxmlformats.org/drawingml/2006/main">
              <a:ext uri="{FF2B5EF4-FFF2-40B4-BE49-F238E27FC236}">
                <a16:creationId xmlns:a16="http://schemas.microsoft.com/office/drawing/2014/main" id="{D7D216A2-C008-45F3-9372-A2342755BF73}"/>
              </a:ext>
            </a:extLst>
          </p:cNvPr>
          <p:cNvSpPr>
            <a:spLocks xmlns:a="http://schemas.openxmlformats.org/drawingml/2006/main" noGrp="1"/>
          </p:cNvSpPr>
          <p:nvPr/>
        </p:nvSpPr>
        <p:spPr>
          <a:xfrm xmlns:a="http://schemas.openxmlformats.org/drawingml/2006/main">
            <a:off x="9258300" y="6667500"/>
            <a:ext cx="54102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§3.3.1 · Maken en nakijken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p:txBody>
      </p:sp>
      <p:sp>
        <p:nvSpPr>
          <p:cNvPr id="27" name="§3.3.1 Waarom landen handelen">
            <a:extLst xmlns:a="http://schemas.openxmlformats.org/drawingml/2006/main">
              <a:ext uri="{FF2B5EF4-FFF2-40B4-BE49-F238E27FC236}">
                <a16:creationId xmlns:a16="http://schemas.microsoft.com/office/drawing/2014/main" id="{AA4A03F9-A220-4C3A-AFB5-7A7FB2A87214}"/>
              </a:ext>
            </a:extLst>
          </p:cNvPr>
          <p:cNvSpPr>
            <a:spLocks xmlns:a="http://schemas.openxmlformats.org/drawingml/2006/main" noGrp="1"/>
          </p:cNvSpPr>
          <p:nvPr/>
        </p:nvSpPr>
        <p:spPr>
          <a:xfrm xmlns:a="http://schemas.openxmlformats.org/drawingml/2006/main">
            <a:off x="571500" y="813435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Waarom landen handelen</a:t>
            </a:r>
          </a:p>
        </p:txBody>
      </p:sp>
      <p:sp>
        <p:nvSpPr>
          <p:cNvPr id="28" name="slide-number">
            <a:extLst xmlns:a="http://schemas.openxmlformats.org/drawingml/2006/main">
              <a:ext uri="{FF2B5EF4-FFF2-40B4-BE49-F238E27FC236}">
                <a16:creationId xmlns:a16="http://schemas.microsoft.com/office/drawing/2014/main" id="{C32B695D-A370-4FF7-BCEB-F2AAD8D5FD03}"/>
              </a:ext>
            </a:extLst>
          </p:cNvPr>
          <p:cNvSpPr>
            <a:spLocks xmlns:a="http://schemas.openxmlformats.org/drawingml/2006/main" noGrp="1"/>
          </p:cNvSpPr>
          <p:nvPr/>
        </p:nvSpPr>
        <p:spPr>
          <a:xfrm xmlns:a="http://schemas.openxmlformats.org/drawingml/2006/main">
            <a:off x="14001750" y="81057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Tree>
    <p:extLst>
      <p:ext uri="{BB962C8B-B14F-4D97-AF65-F5344CB8AC3E}">
        <p14:creationId xmlns:p14="http://schemas.microsoft.com/office/powerpoint/2010/main" val="103030706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E3E136C8-8E60-48AB-8965-EADD09E76059}"/>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Aster en Brin (1/2)</a:t>
            </a:r>
          </a:p>
        </p:txBody>
      </p:sp>
      <p:sp>
        <p:nvSpPr>
          <p:cNvPr id="2" name="">
            <a:extLst xmlns:a="http://schemas.openxmlformats.org/drawingml/2006/main">
              <a:ext uri="{FF2B5EF4-FFF2-40B4-BE49-F238E27FC236}">
                <a16:creationId xmlns:a16="http://schemas.microsoft.com/office/drawing/2014/main" id="{1194F79E-EECA-4C50-848E-8FAA042F1BB1}"/>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 Opgave 7 · Boekpagina 95">
            <a:extLst xmlns:a="http://schemas.openxmlformats.org/drawingml/2006/main">
              <a:ext uri="{FF2B5EF4-FFF2-40B4-BE49-F238E27FC236}">
                <a16:creationId xmlns:a16="http://schemas.microsoft.com/office/drawing/2014/main" id="{E6B50B95-F9AA-4EE0-B287-45E20398B4E3}"/>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 Opgave 7 · Boekpagina 95</a:t>
            </a:r>
          </a:p>
        </p:txBody>
      </p:sp>
      <p:sp>
        <p:nvSpPr>
          <p:cNvPr id="4" name="slide-number">
            <a:extLst xmlns:a="http://schemas.openxmlformats.org/drawingml/2006/main">
              <a:ext uri="{FF2B5EF4-FFF2-40B4-BE49-F238E27FC236}">
                <a16:creationId xmlns:a16="http://schemas.microsoft.com/office/drawing/2014/main" id="{69C199C8-CC11-4ADE-81D8-4CD3401022F4}"/>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Handelen ondanks twee absolute voordelen">
            <a:extLst xmlns:a="http://schemas.openxmlformats.org/drawingml/2006/main">
              <a:ext uri="{FF2B5EF4-FFF2-40B4-BE49-F238E27FC236}">
                <a16:creationId xmlns:a16="http://schemas.microsoft.com/office/drawing/2014/main" id="{86068FF3-71BD-4188-A3F7-1B93A553CDC6}"/>
              </a:ext>
            </a:extLst>
          </p:cNvPr>
          <p:cNvSpPr>
            <a:spLocks xmlns:a="http://schemas.openxmlformats.org/drawingml/2006/main" noGrp="1"/>
          </p:cNvSpPr>
          <p:nvPr/>
        </p:nvSpPr>
        <p:spPr>
          <a:xfrm xmlns:a="http://schemas.openxmlformats.org/drawingml/2006/main">
            <a:off x="571500" y="184785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Handelen ondanks twee absolute voordelen</a:t>
            </a:r>
          </a:p>
        </p:txBody>
      </p:sp>
      <p:sp>
        <p:nvSpPr>
          <p:cNvPr id="6" name="Werkplaatsen in Aster en Brin maken pompen en jassen van dez">
            <a:extLst xmlns:a="http://schemas.openxmlformats.org/drawingml/2006/main">
              <a:ext uri="{FF2B5EF4-FFF2-40B4-BE49-F238E27FC236}">
                <a16:creationId xmlns:a16="http://schemas.microsoft.com/office/drawing/2014/main" id="{4500773D-45C2-4D50-B435-E8EDC8556204}"/>
              </a:ext>
            </a:extLst>
          </p:cNvPr>
          <p:cNvSpPr>
            <a:spLocks xmlns:a="http://schemas.openxmlformats.org/drawingml/2006/main" noGrp="1"/>
          </p:cNvSpPr>
          <p:nvPr/>
        </p:nvSpPr>
        <p:spPr>
          <a:xfrm xmlns:a="http://schemas.openxmlformats.org/drawingml/2006/main">
            <a:off x="571500" y="2876550"/>
            <a:ext cx="1409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Werkplaatsen in Aster en Brin maken pompen en jassen van dezelfde kwaliteit. Dezelfde productiemiddelen kunnen voor beide activiteiten worden ingezet.</a:t>
            </a:r>
          </a:p>
        </p:txBody>
      </p:sp>
      <p:sp>
        <p:nvSpPr>
          <p:cNvPr id="7" name="Aster heeft voor beide producten minder middelen nodig dan B">
            <a:extLst xmlns:a="http://schemas.openxmlformats.org/drawingml/2006/main">
              <a:ext uri="{FF2B5EF4-FFF2-40B4-BE49-F238E27FC236}">
                <a16:creationId xmlns:a16="http://schemas.microsoft.com/office/drawing/2014/main" id="{6DE5B35E-7663-4788-B5F7-B9EBA52A7A21}"/>
              </a:ext>
            </a:extLst>
          </p:cNvPr>
          <p:cNvSpPr>
            <a:spLocks xmlns:a="http://schemas.openxmlformats.org/drawingml/2006/main" noGrp="1"/>
          </p:cNvSpPr>
          <p:nvPr/>
        </p:nvSpPr>
        <p:spPr>
          <a:xfrm xmlns:a="http://schemas.openxmlformats.org/drawingml/2006/main">
            <a:off x="571500" y="4838700"/>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Aster heeft voor beide producten minder middelen nodig dan Brin. Zijn voorsprong is groot bij pompen en klein bij jassen.</a:t>
            </a:r>
          </a:p>
        </p:txBody>
      </p:sp>
      <p:sp>
        <p:nvSpPr>
          <p:cNvPr id="8" name="Voor een extra jas offert Aster relatief veel pompen op. Bri">
            <a:extLst xmlns:a="http://schemas.openxmlformats.org/drawingml/2006/main">
              <a:ext uri="{FF2B5EF4-FFF2-40B4-BE49-F238E27FC236}">
                <a16:creationId xmlns:a16="http://schemas.microsoft.com/office/drawing/2014/main" id="{7931A01A-5A9B-458A-9173-0EFEDBA645B9}"/>
              </a:ext>
            </a:extLst>
          </p:cNvPr>
          <p:cNvSpPr>
            <a:spLocks xmlns:a="http://schemas.openxmlformats.org/drawingml/2006/main" noGrp="1"/>
          </p:cNvSpPr>
          <p:nvPr/>
        </p:nvSpPr>
        <p:spPr>
          <a:xfrm xmlns:a="http://schemas.openxmlformats.org/drawingml/2006/main">
            <a:off x="571500" y="6524625"/>
            <a:ext cx="140970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Voor een extra jas offert Aster relatief veel pompen op. Brin offert daarvoor minder pompen op.</a:t>
            </a:r>
          </a:p>
        </p:txBody>
      </p:sp>
    </p:spTree>
    <p:extLst>
      <p:ext uri="{BB962C8B-B14F-4D97-AF65-F5344CB8AC3E}">
        <p14:creationId xmlns:p14="http://schemas.microsoft.com/office/powerpoint/2010/main" val="120444814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0E8F91C-AA41-4A1D-82B8-D40AC1755435}"/>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Aster en Brin (2/2)</a:t>
            </a:r>
          </a:p>
        </p:txBody>
      </p:sp>
      <p:sp>
        <p:nvSpPr>
          <p:cNvPr id="2" name="">
            <a:extLst xmlns:a="http://schemas.openxmlformats.org/drawingml/2006/main">
              <a:ext uri="{FF2B5EF4-FFF2-40B4-BE49-F238E27FC236}">
                <a16:creationId xmlns:a16="http://schemas.microsoft.com/office/drawing/2014/main" id="{FB55D692-E1C2-41E3-9A31-23D198A3644B}"/>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 Opgave 7 · Boekpagina 95">
            <a:extLst xmlns:a="http://schemas.openxmlformats.org/drawingml/2006/main">
              <a:ext uri="{FF2B5EF4-FFF2-40B4-BE49-F238E27FC236}">
                <a16:creationId xmlns:a16="http://schemas.microsoft.com/office/drawing/2014/main" id="{F8BF9ADA-53C1-43E6-887B-21BF06CF8875}"/>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 Opgave 7 · Boekpagina 95</a:t>
            </a:r>
          </a:p>
        </p:txBody>
      </p:sp>
      <p:sp>
        <p:nvSpPr>
          <p:cNvPr id="4" name="slide-number">
            <a:extLst xmlns:a="http://schemas.openxmlformats.org/drawingml/2006/main">
              <a:ext uri="{FF2B5EF4-FFF2-40B4-BE49-F238E27FC236}">
                <a16:creationId xmlns:a16="http://schemas.microsoft.com/office/drawing/2014/main" id="{82350665-D349-4F7E-A0A7-B7DCAE2A6FB5}"/>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Beide landen willen pompen én jassen. Zij kunnen zonder hoge">
            <a:extLst xmlns:a="http://schemas.openxmlformats.org/drawingml/2006/main">
              <a:ext uri="{FF2B5EF4-FFF2-40B4-BE49-F238E27FC236}">
                <a16:creationId xmlns:a16="http://schemas.microsoft.com/office/drawing/2014/main" id="{4FA95A1B-13C7-4411-BCA4-D75DA4282AD3}"/>
              </a:ext>
            </a:extLst>
          </p:cNvPr>
          <p:cNvSpPr>
            <a:spLocks xmlns:a="http://schemas.openxmlformats.org/drawingml/2006/main" noGrp="1"/>
          </p:cNvSpPr>
          <p:nvPr/>
        </p:nvSpPr>
        <p:spPr>
          <a:xfrm xmlns:a="http://schemas.openxmlformats.org/drawingml/2006/main">
            <a:off x="571500" y="2076450"/>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Beide landen willen pompen én jassen. Zij kunnen zonder hoge transportkosten handelen.</a:t>
            </a:r>
          </a:p>
        </p:txBody>
      </p:sp>
      <p:sp>
        <p:nvSpPr>
          <p:cNvPr id="6" name="Asters pompen worden op tijd geleverd; buitenlandse kopers w">
            <a:extLst xmlns:a="http://schemas.openxmlformats.org/drawingml/2006/main">
              <a:ext uri="{FF2B5EF4-FFF2-40B4-BE49-F238E27FC236}">
                <a16:creationId xmlns:a16="http://schemas.microsoft.com/office/drawing/2014/main" id="{64FC82AF-CA18-46BA-830F-EAA290C145B0}"/>
              </a:ext>
            </a:extLst>
          </p:cNvPr>
          <p:cNvSpPr>
            <a:spLocks xmlns:a="http://schemas.openxmlformats.org/drawingml/2006/main" noGrp="1"/>
          </p:cNvSpPr>
          <p:nvPr/>
        </p:nvSpPr>
        <p:spPr>
          <a:xfrm xmlns:a="http://schemas.openxmlformats.org/drawingml/2006/main">
            <a:off x="571500" y="3800475"/>
            <a:ext cx="1409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Asters pompen worden op tijd geleverd; buitenlandse kopers waarderen dat.</a:t>
            </a:r>
          </a:p>
        </p:txBody>
      </p:sp>
      <p:sp>
        <p:nvSpPr>
          <p:cNvPr id="7" name="Jassenmakers in Aster verwachten klanten te verliezen aan ja">
            <a:extLst xmlns:a="http://schemas.openxmlformats.org/drawingml/2006/main">
              <a:ext uri="{FF2B5EF4-FFF2-40B4-BE49-F238E27FC236}">
                <a16:creationId xmlns:a16="http://schemas.microsoft.com/office/drawing/2014/main" id="{C5230AA6-488E-4F4B-A2B8-C9856D09683D}"/>
              </a:ext>
            </a:extLst>
          </p:cNvPr>
          <p:cNvSpPr>
            <a:spLocks xmlns:a="http://schemas.openxmlformats.org/drawingml/2006/main" noGrp="1"/>
          </p:cNvSpPr>
          <p:nvPr/>
        </p:nvSpPr>
        <p:spPr>
          <a:xfrm xmlns:a="http://schemas.openxmlformats.org/drawingml/2006/main">
            <a:off x="571500" y="5314950"/>
            <a:ext cx="14097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Jassenmakers in Aster verwachten klanten te verliezen aan jassen uit Brin.</a:t>
            </a:r>
          </a:p>
        </p:txBody>
      </p:sp>
      <p:sp>
        <p:nvSpPr>
          <p:cNvPr id="8" name="Gebruik alleen de lesbron. Reken geen productieverhoudingen ">
            <a:extLst xmlns:a="http://schemas.openxmlformats.org/drawingml/2006/main">
              <a:ext uri="{FF2B5EF4-FFF2-40B4-BE49-F238E27FC236}">
                <a16:creationId xmlns:a16="http://schemas.microsoft.com/office/drawing/2014/main" id="{64DABF49-E643-419E-9D86-1E837141AD94}"/>
              </a:ext>
            </a:extLst>
          </p:cNvPr>
          <p:cNvSpPr>
            <a:spLocks xmlns:a="http://schemas.openxmlformats.org/drawingml/2006/main" noGrp="1"/>
          </p:cNvSpPr>
          <p:nvPr/>
        </p:nvSpPr>
        <p:spPr>
          <a:xfrm xmlns:a="http://schemas.openxmlformats.org/drawingml/2006/main">
            <a:off x="571500" y="720090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Gebruik alleen de lesbron. Reken geen productieverhoudingen uit.</a:t>
            </a:r>
          </a:p>
        </p:txBody>
      </p:sp>
    </p:spTree>
    <p:extLst>
      <p:ext uri="{BB962C8B-B14F-4D97-AF65-F5344CB8AC3E}">
        <p14:creationId xmlns:p14="http://schemas.microsoft.com/office/powerpoint/2010/main" val="196064118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A4A4F024-88A9-4DC0-82F1-4C778A09FCC5}"/>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Deelvragen a, b en c</a:t>
            </a:r>
          </a:p>
        </p:txBody>
      </p:sp>
      <p:sp>
        <p:nvSpPr>
          <p:cNvPr id="2" name="">
            <a:extLst xmlns:a="http://schemas.openxmlformats.org/drawingml/2006/main">
              <a:ext uri="{FF2B5EF4-FFF2-40B4-BE49-F238E27FC236}">
                <a16:creationId xmlns:a16="http://schemas.microsoft.com/office/drawing/2014/main" id="{15BF52C7-043F-4BB6-ABD1-886F2529639F}"/>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 Opgave 7 · Boekpagina 95">
            <a:extLst xmlns:a="http://schemas.openxmlformats.org/drawingml/2006/main">
              <a:ext uri="{FF2B5EF4-FFF2-40B4-BE49-F238E27FC236}">
                <a16:creationId xmlns:a16="http://schemas.microsoft.com/office/drawing/2014/main" id="{1C395CAA-4764-4173-96EF-6891F8EE9A3E}"/>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 Opgave 7 · Boekpagina 95</a:t>
            </a:r>
          </a:p>
        </p:txBody>
      </p:sp>
      <p:sp>
        <p:nvSpPr>
          <p:cNvPr id="4" name="slide-number">
            <a:extLst xmlns:a="http://schemas.openxmlformats.org/drawingml/2006/main">
              <a:ext uri="{FF2B5EF4-FFF2-40B4-BE49-F238E27FC236}">
                <a16:creationId xmlns:a16="http://schemas.microsoft.com/office/drawing/2014/main" id="{2F4DE597-CD43-4CC5-BC7B-51A2B587DD3B}"/>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a · 2p">
            <a:extLst xmlns:a="http://schemas.openxmlformats.org/drawingml/2006/main">
              <a:ext uri="{FF2B5EF4-FFF2-40B4-BE49-F238E27FC236}">
                <a16:creationId xmlns:a16="http://schemas.microsoft.com/office/drawing/2014/main" id="{9B0B3CF7-63A4-4DCD-8882-34B15298B191}"/>
              </a:ext>
            </a:extLst>
          </p:cNvPr>
          <p:cNvSpPr>
            <a:spLocks xmlns:a="http://schemas.openxmlformats.org/drawingml/2006/main" noGrp="1"/>
          </p:cNvSpPr>
          <p:nvPr/>
        </p:nvSpPr>
        <p:spPr>
          <a:xfrm xmlns:a="http://schemas.openxmlformats.org/drawingml/2006/main">
            <a:off x="571500" y="1952625"/>
            <a:ext cx="1762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a · 2p</a:t>
            </a:r>
          </a:p>
        </p:txBody>
      </p:sp>
      <p:sp>
        <p:nvSpPr>
          <p:cNvPr id="6" name="Welk land heeft een absoluut voordeel bij beide producten? N">
            <a:extLst xmlns:a="http://schemas.openxmlformats.org/drawingml/2006/main">
              <a:ext uri="{FF2B5EF4-FFF2-40B4-BE49-F238E27FC236}">
                <a16:creationId xmlns:a16="http://schemas.microsoft.com/office/drawing/2014/main" id="{367B777E-288A-4F8E-BC98-B3B5EF8CCCBE}"/>
              </a:ext>
            </a:extLst>
          </p:cNvPr>
          <p:cNvSpPr>
            <a:spLocks xmlns:a="http://schemas.openxmlformats.org/drawingml/2006/main" noGrp="1"/>
          </p:cNvSpPr>
          <p:nvPr/>
        </p:nvSpPr>
        <p:spPr>
          <a:xfrm xmlns:a="http://schemas.openxmlformats.org/drawingml/2006/main">
            <a:off x="2571750" y="1952625"/>
            <a:ext cx="1204912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Welk land heeft een absoluut voordeel bij beide producten? Noem het brongegeven waarop je dat baseert.</a:t>
            </a:r>
          </a:p>
        </p:txBody>
      </p:sp>
      <p:sp>
        <p:nvSpPr>
          <p:cNvPr id="7" name="">
            <a:extLst xmlns:a="http://schemas.openxmlformats.org/drawingml/2006/main">
              <a:ext uri="{FF2B5EF4-FFF2-40B4-BE49-F238E27FC236}">
                <a16:creationId xmlns:a16="http://schemas.microsoft.com/office/drawing/2014/main" id="{663015C1-C40F-455D-92EC-59848D9ACD10}"/>
              </a:ext>
            </a:extLst>
          </p:cNvPr>
          <p:cNvSpPr>
            <a:spLocks xmlns:a="http://schemas.openxmlformats.org/drawingml/2006/main" noGrp="1"/>
          </p:cNvSpPr>
          <p:nvPr/>
        </p:nvSpPr>
        <p:spPr>
          <a:xfrm xmlns:a="http://schemas.openxmlformats.org/drawingml/2006/main">
            <a:off x="571500" y="3590925"/>
            <a:ext cx="14097000" cy="0"/>
          </a:xfrm>
          <a:prstGeom xmlns:a="http://schemas.openxmlformats.org/drawingml/2006/main" prst="line">
            <a:avLst/>
          </a:prstGeom>
          <a:ln xmlns:a="http://schemas.openxmlformats.org/drawingml/2006/main" w="19050">
            <a:solidFill>
              <a:srgbClr val="C6D2DB"/>
            </a:solidFill>
          </a:ln>
        </p:spPr>
      </p:sp>
      <p:sp>
        <p:nvSpPr>
          <p:cNvPr id="8" name="b · 3p">
            <a:extLst xmlns:a="http://schemas.openxmlformats.org/drawingml/2006/main">
              <a:ext uri="{FF2B5EF4-FFF2-40B4-BE49-F238E27FC236}">
                <a16:creationId xmlns:a16="http://schemas.microsoft.com/office/drawing/2014/main" id="{9B650CB4-1A07-465F-B359-74256B6F578B}"/>
              </a:ext>
            </a:extLst>
          </p:cNvPr>
          <p:cNvSpPr>
            <a:spLocks xmlns:a="http://schemas.openxmlformats.org/drawingml/2006/main" noGrp="1"/>
          </p:cNvSpPr>
          <p:nvPr/>
        </p:nvSpPr>
        <p:spPr>
          <a:xfrm xmlns:a="http://schemas.openxmlformats.org/drawingml/2006/main">
            <a:off x="571500" y="3895725"/>
            <a:ext cx="1762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b · 3p</a:t>
            </a:r>
          </a:p>
        </p:txBody>
      </p:sp>
      <p:sp>
        <p:nvSpPr>
          <p:cNvPr id="9" name="Leg uit bij welk product elk land een comparatief voordeel h">
            <a:extLst xmlns:a="http://schemas.openxmlformats.org/drawingml/2006/main">
              <a:ext uri="{FF2B5EF4-FFF2-40B4-BE49-F238E27FC236}">
                <a16:creationId xmlns:a16="http://schemas.microsoft.com/office/drawing/2014/main" id="{0D7BEED5-85EC-4FB5-AE9D-657DE9C44A3E}"/>
              </a:ext>
            </a:extLst>
          </p:cNvPr>
          <p:cNvSpPr>
            <a:spLocks xmlns:a="http://schemas.openxmlformats.org/drawingml/2006/main" noGrp="1"/>
          </p:cNvSpPr>
          <p:nvPr/>
        </p:nvSpPr>
        <p:spPr>
          <a:xfrm xmlns:a="http://schemas.openxmlformats.org/drawingml/2006/main">
            <a:off x="2571750" y="3895725"/>
            <a:ext cx="1204912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Leg uit bij welk product elk land een comparatief voordeel heeft. Gebruik het begrip alternatieve kosten.</a:t>
            </a:r>
          </a:p>
        </p:txBody>
      </p:sp>
      <p:sp>
        <p:nvSpPr>
          <p:cNvPr id="10" name="">
            <a:extLst xmlns:a="http://schemas.openxmlformats.org/drawingml/2006/main">
              <a:ext uri="{FF2B5EF4-FFF2-40B4-BE49-F238E27FC236}">
                <a16:creationId xmlns:a16="http://schemas.microsoft.com/office/drawing/2014/main" id="{96B1AEBB-2E31-4C09-94FD-42B15C45FF13}"/>
              </a:ext>
            </a:extLst>
          </p:cNvPr>
          <p:cNvSpPr>
            <a:spLocks xmlns:a="http://schemas.openxmlformats.org/drawingml/2006/main" noGrp="1"/>
          </p:cNvSpPr>
          <p:nvPr/>
        </p:nvSpPr>
        <p:spPr>
          <a:xfrm xmlns:a="http://schemas.openxmlformats.org/drawingml/2006/main">
            <a:off x="571500" y="5534025"/>
            <a:ext cx="14097000" cy="0"/>
          </a:xfrm>
          <a:prstGeom xmlns:a="http://schemas.openxmlformats.org/drawingml/2006/main" prst="line">
            <a:avLst/>
          </a:prstGeom>
          <a:ln xmlns:a="http://schemas.openxmlformats.org/drawingml/2006/main" w="19050">
            <a:solidFill>
              <a:srgbClr val="C6D2DB"/>
            </a:solidFill>
          </a:ln>
        </p:spPr>
      </p:sp>
      <p:sp>
        <p:nvSpPr>
          <p:cNvPr id="11" name="c · 2p">
            <a:extLst xmlns:a="http://schemas.openxmlformats.org/drawingml/2006/main">
              <a:ext uri="{FF2B5EF4-FFF2-40B4-BE49-F238E27FC236}">
                <a16:creationId xmlns:a16="http://schemas.microsoft.com/office/drawing/2014/main" id="{0A65F576-61E4-4C25-B272-7CA813FE8C2D}"/>
              </a:ext>
            </a:extLst>
          </p:cNvPr>
          <p:cNvSpPr>
            <a:spLocks xmlns:a="http://schemas.openxmlformats.org/drawingml/2006/main" noGrp="1"/>
          </p:cNvSpPr>
          <p:nvPr/>
        </p:nvSpPr>
        <p:spPr>
          <a:xfrm xmlns:a="http://schemas.openxmlformats.org/drawingml/2006/main">
            <a:off x="571500" y="5838825"/>
            <a:ext cx="1762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c · 2p</a:t>
            </a:r>
          </a:p>
        </p:txBody>
      </p:sp>
      <p:sp>
        <p:nvSpPr>
          <p:cNvPr id="12" name="Beschrijf een passende richting van specialisatie en een bij">
            <a:extLst xmlns:a="http://schemas.openxmlformats.org/drawingml/2006/main">
              <a:ext uri="{FF2B5EF4-FFF2-40B4-BE49-F238E27FC236}">
                <a16:creationId xmlns:a16="http://schemas.microsoft.com/office/drawing/2014/main" id="{97ECC931-F71A-4F61-BEEF-9AC2C005D91B}"/>
              </a:ext>
            </a:extLst>
          </p:cNvPr>
          <p:cNvSpPr>
            <a:spLocks xmlns:a="http://schemas.openxmlformats.org/drawingml/2006/main" noGrp="1"/>
          </p:cNvSpPr>
          <p:nvPr/>
        </p:nvSpPr>
        <p:spPr>
          <a:xfrm xmlns:a="http://schemas.openxmlformats.org/drawingml/2006/main">
            <a:off x="2571750" y="5838825"/>
            <a:ext cx="1204912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Beschrijf een passende richting van specialisatie en een bijbehorende handelsstroom. Benoem import en export vanuit de twee landen.</a:t>
            </a:r>
          </a:p>
        </p:txBody>
      </p:sp>
    </p:spTree>
    <p:extLst>
      <p:ext uri="{BB962C8B-B14F-4D97-AF65-F5344CB8AC3E}">
        <p14:creationId xmlns:p14="http://schemas.microsoft.com/office/powerpoint/2010/main" val="21004877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F4151052-4B73-4192-8AE8-8968A3FD307A}"/>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Deelvragen d en e</a:t>
            </a:r>
          </a:p>
        </p:txBody>
      </p:sp>
      <p:sp>
        <p:nvSpPr>
          <p:cNvPr id="2" name="">
            <a:extLst xmlns:a="http://schemas.openxmlformats.org/drawingml/2006/main">
              <a:ext uri="{FF2B5EF4-FFF2-40B4-BE49-F238E27FC236}">
                <a16:creationId xmlns:a16="http://schemas.microsoft.com/office/drawing/2014/main" id="{50AF32F1-39F6-4666-89FC-393249692666}"/>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 Opgave 7 · Boekpagina 95">
            <a:extLst xmlns:a="http://schemas.openxmlformats.org/drawingml/2006/main">
              <a:ext uri="{FF2B5EF4-FFF2-40B4-BE49-F238E27FC236}">
                <a16:creationId xmlns:a16="http://schemas.microsoft.com/office/drawing/2014/main" id="{3F6977E8-2812-464C-9CF5-3677C3C6AD52}"/>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 Opgave 7 · Boekpagina 95</a:t>
            </a:r>
          </a:p>
        </p:txBody>
      </p:sp>
      <p:sp>
        <p:nvSpPr>
          <p:cNvPr id="4" name="slide-number">
            <a:extLst xmlns:a="http://schemas.openxmlformats.org/drawingml/2006/main">
              <a:ext uri="{FF2B5EF4-FFF2-40B4-BE49-F238E27FC236}">
                <a16:creationId xmlns:a16="http://schemas.microsoft.com/office/drawing/2014/main" id="{06C094AC-CF1A-4927-A4A7-0B042E49F3DF}"/>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d · 2p">
            <a:extLst xmlns:a="http://schemas.openxmlformats.org/drawingml/2006/main">
              <a:ext uri="{FF2B5EF4-FFF2-40B4-BE49-F238E27FC236}">
                <a16:creationId xmlns:a16="http://schemas.microsoft.com/office/drawing/2014/main" id="{9F3DDF92-3C19-4351-A5DC-909839A8E5D0}"/>
              </a:ext>
            </a:extLst>
          </p:cNvPr>
          <p:cNvSpPr>
            <a:spLocks xmlns:a="http://schemas.openxmlformats.org/drawingml/2006/main" noGrp="1"/>
          </p:cNvSpPr>
          <p:nvPr/>
        </p:nvSpPr>
        <p:spPr>
          <a:xfrm xmlns:a="http://schemas.openxmlformats.org/drawingml/2006/main">
            <a:off x="571500" y="1971675"/>
            <a:ext cx="1762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d · 2p</a:t>
            </a:r>
          </a:p>
        </p:txBody>
      </p:sp>
      <p:sp>
        <p:nvSpPr>
          <p:cNvPr id="6" name="Leg uit onder welke voorwaarde de ruil beide landen voordeel">
            <a:extLst xmlns:a="http://schemas.openxmlformats.org/drawingml/2006/main">
              <a:ext uri="{FF2B5EF4-FFF2-40B4-BE49-F238E27FC236}">
                <a16:creationId xmlns:a16="http://schemas.microsoft.com/office/drawing/2014/main" id="{8B105DD3-7B3A-4220-B500-715972F1F7AC}"/>
              </a:ext>
            </a:extLst>
          </p:cNvPr>
          <p:cNvSpPr>
            <a:spLocks xmlns:a="http://schemas.openxmlformats.org/drawingml/2006/main" noGrp="1"/>
          </p:cNvSpPr>
          <p:nvPr/>
        </p:nvSpPr>
        <p:spPr>
          <a:xfrm xmlns:a="http://schemas.openxmlformats.org/drawingml/2006/main">
            <a:off x="2571750" y="1971675"/>
            <a:ext cx="1204912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Leg uit onder welke voorwaarde de ruil beide landen voordeel kan opleveren. Gebruik daarnaast één bronfeit om Asters concurrentiepositie bij pompen te verklaren.</a:t>
            </a:r>
          </a:p>
        </p:txBody>
      </p:sp>
      <p:sp>
        <p:nvSpPr>
          <p:cNvPr id="7" name="">
            <a:extLst xmlns:a="http://schemas.openxmlformats.org/drawingml/2006/main">
              <a:ext uri="{FF2B5EF4-FFF2-40B4-BE49-F238E27FC236}">
                <a16:creationId xmlns:a16="http://schemas.microsoft.com/office/drawing/2014/main" id="{EC403342-BAF4-43B3-A197-506D8CCC134D}"/>
              </a:ext>
            </a:extLst>
          </p:cNvPr>
          <p:cNvSpPr>
            <a:spLocks xmlns:a="http://schemas.openxmlformats.org/drawingml/2006/main" noGrp="1"/>
          </p:cNvSpPr>
          <p:nvPr/>
        </p:nvSpPr>
        <p:spPr>
          <a:xfrm xmlns:a="http://schemas.openxmlformats.org/drawingml/2006/main">
            <a:off x="571500" y="4286250"/>
            <a:ext cx="14097000" cy="0"/>
          </a:xfrm>
          <a:prstGeom xmlns:a="http://schemas.openxmlformats.org/drawingml/2006/main" prst="line">
            <a:avLst/>
          </a:prstGeom>
          <a:ln xmlns:a="http://schemas.openxmlformats.org/drawingml/2006/main" w="19050">
            <a:solidFill>
              <a:srgbClr val="C6D2DB"/>
            </a:solidFill>
          </a:ln>
        </p:spPr>
      </p:sp>
      <p:sp>
        <p:nvSpPr>
          <p:cNvPr id="8" name="e · 2p">
            <a:extLst xmlns:a="http://schemas.openxmlformats.org/drawingml/2006/main">
              <a:ext uri="{FF2B5EF4-FFF2-40B4-BE49-F238E27FC236}">
                <a16:creationId xmlns:a16="http://schemas.microsoft.com/office/drawing/2014/main" id="{D5BD4FDF-E4EC-47D1-B415-2C7D4E48FF46}"/>
              </a:ext>
            </a:extLst>
          </p:cNvPr>
          <p:cNvSpPr>
            <a:spLocks xmlns:a="http://schemas.openxmlformats.org/drawingml/2006/main" noGrp="1"/>
          </p:cNvSpPr>
          <p:nvPr/>
        </p:nvSpPr>
        <p:spPr>
          <a:xfrm xmlns:a="http://schemas.openxmlformats.org/drawingml/2006/main">
            <a:off x="571500" y="4695825"/>
            <a:ext cx="1762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e · 2p</a:t>
            </a:r>
          </a:p>
        </p:txBody>
      </p:sp>
      <p:sp>
        <p:nvSpPr>
          <p:cNvPr id="9" name="Een adviseur zegt: “Aster produceert beide goederen efficiën">
            <a:extLst xmlns:a="http://schemas.openxmlformats.org/drawingml/2006/main">
              <a:ext uri="{FF2B5EF4-FFF2-40B4-BE49-F238E27FC236}">
                <a16:creationId xmlns:a16="http://schemas.microsoft.com/office/drawing/2014/main" id="{FC38C965-C54A-4725-9A88-F1CFBFA64032}"/>
              </a:ext>
            </a:extLst>
          </p:cNvPr>
          <p:cNvSpPr>
            <a:spLocks xmlns:a="http://schemas.openxmlformats.org/drawingml/2006/main" noGrp="1"/>
          </p:cNvSpPr>
          <p:nvPr/>
        </p:nvSpPr>
        <p:spPr>
          <a:xfrm xmlns:a="http://schemas.openxmlformats.org/drawingml/2006/main">
            <a:off x="2571750" y="4695825"/>
            <a:ext cx="12049125"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Een adviseur zegt: “Aster produceert beide goederen efficiënter, dus handel maakt alle inwoners van Aster beter af.” Beoordeel de uitspraak met een concrete groep uit de bron.</a:t>
            </a:r>
          </a:p>
        </p:txBody>
      </p:sp>
      <p:sp>
        <p:nvSpPr>
          <p:cNvPr id="10" name="Controle: middelen en alternatieve kosten onderscheiden? Con">
            <a:extLst xmlns:a="http://schemas.openxmlformats.org/drawingml/2006/main">
              <a:ext uri="{FF2B5EF4-FFF2-40B4-BE49-F238E27FC236}">
                <a16:creationId xmlns:a16="http://schemas.microsoft.com/office/drawing/2014/main" id="{D169CA1A-8739-4656-9371-16D1E983E933}"/>
              </a:ext>
            </a:extLst>
          </p:cNvPr>
          <p:cNvSpPr>
            <a:spLocks xmlns:a="http://schemas.openxmlformats.org/drawingml/2006/main" noGrp="1"/>
          </p:cNvSpPr>
          <p:nvPr/>
        </p:nvSpPr>
        <p:spPr>
          <a:xfrm xmlns:a="http://schemas.openxmlformats.org/drawingml/2006/main">
            <a:off x="571500" y="7286625"/>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Controle: middelen en alternatieve kosten onderscheiden? Concrete groep genoemd?</a:t>
            </a:r>
          </a:p>
        </p:txBody>
      </p:sp>
    </p:spTree>
    <p:extLst>
      <p:ext uri="{BB962C8B-B14F-4D97-AF65-F5344CB8AC3E}">
        <p14:creationId xmlns:p14="http://schemas.microsoft.com/office/powerpoint/2010/main" val="204639075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45B57471-5F0B-4449-B550-E46B033EB1F9}"/>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7a · Het absolute voordeel</a:t>
            </a:r>
          </a:p>
        </p:txBody>
      </p:sp>
      <p:sp>
        <p:nvSpPr>
          <p:cNvPr id="2" name="">
            <a:extLst xmlns:a="http://schemas.openxmlformats.org/drawingml/2006/main">
              <a:ext uri="{FF2B5EF4-FFF2-40B4-BE49-F238E27FC236}">
                <a16:creationId xmlns:a16="http://schemas.microsoft.com/office/drawing/2014/main" id="{80F00F88-D56D-4EEF-8870-9AC2D608C5FE}"/>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 Opgave 7 · Boekpagina 95">
            <a:extLst xmlns:a="http://schemas.openxmlformats.org/drawingml/2006/main">
              <a:ext uri="{FF2B5EF4-FFF2-40B4-BE49-F238E27FC236}">
                <a16:creationId xmlns:a16="http://schemas.microsoft.com/office/drawing/2014/main" id="{055AE261-F967-4637-ABBE-5D2BA0F171F5}"/>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 Opgave 7 · Boekpagina 95</a:t>
            </a:r>
          </a:p>
        </p:txBody>
      </p:sp>
      <p:sp>
        <p:nvSpPr>
          <p:cNvPr id="4" name="slide-number">
            <a:extLst xmlns:a="http://schemas.openxmlformats.org/drawingml/2006/main">
              <a:ext uri="{FF2B5EF4-FFF2-40B4-BE49-F238E27FC236}">
                <a16:creationId xmlns:a16="http://schemas.microsoft.com/office/drawing/2014/main" id="{6FC3DABA-090E-4390-A3CA-FDB414103921}"/>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Bronfeit">
            <a:extLst xmlns:a="http://schemas.openxmlformats.org/drawingml/2006/main">
              <a:ext uri="{FF2B5EF4-FFF2-40B4-BE49-F238E27FC236}">
                <a16:creationId xmlns:a16="http://schemas.microsoft.com/office/drawing/2014/main" id="{025675D1-496F-44A0-910A-1C4667ADFCE7}"/>
              </a:ext>
            </a:extLst>
          </p:cNvPr>
          <p:cNvSpPr>
            <a:spLocks xmlns:a="http://schemas.openxmlformats.org/drawingml/2006/main" noGrp="1"/>
          </p:cNvSpPr>
          <p:nvPr/>
        </p:nvSpPr>
        <p:spPr>
          <a:xfrm xmlns:a="http://schemas.openxmlformats.org/drawingml/2006/main">
            <a:off x="571500" y="2200275"/>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Bronfeit</a:t>
            </a:r>
          </a:p>
        </p:txBody>
      </p:sp>
      <p:sp>
        <p:nvSpPr>
          <p:cNvPr id="6" name="Aster heeft voor beide producten minder middelen nodig.">
            <a:extLst xmlns:a="http://schemas.openxmlformats.org/drawingml/2006/main">
              <a:ext uri="{FF2B5EF4-FFF2-40B4-BE49-F238E27FC236}">
                <a16:creationId xmlns:a16="http://schemas.microsoft.com/office/drawing/2014/main" id="{BC6FD014-EC63-46C4-99A0-7724283745A6}"/>
              </a:ext>
            </a:extLst>
          </p:cNvPr>
          <p:cNvSpPr>
            <a:spLocks xmlns:a="http://schemas.openxmlformats.org/drawingml/2006/main" noGrp="1"/>
          </p:cNvSpPr>
          <p:nvPr/>
        </p:nvSpPr>
        <p:spPr>
          <a:xfrm xmlns:a="http://schemas.openxmlformats.org/drawingml/2006/main">
            <a:off x="4762500" y="2200275"/>
            <a:ext cx="9906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Aster heeft voor beide producten minder middelen nodig.</a:t>
            </a:r>
          </a:p>
        </p:txBody>
      </p:sp>
      <p:sp>
        <p:nvSpPr>
          <p:cNvPr id="7" name="">
            <a:extLst xmlns:a="http://schemas.openxmlformats.org/drawingml/2006/main">
              <a:ext uri="{FF2B5EF4-FFF2-40B4-BE49-F238E27FC236}">
                <a16:creationId xmlns:a16="http://schemas.microsoft.com/office/drawing/2014/main" id="{DB536F05-9B68-4B04-AAB9-2630327AFD97}"/>
              </a:ext>
            </a:extLst>
          </p:cNvPr>
          <p:cNvSpPr>
            <a:spLocks xmlns:a="http://schemas.openxmlformats.org/drawingml/2006/main" noGrp="1"/>
          </p:cNvSpPr>
          <p:nvPr/>
        </p:nvSpPr>
        <p:spPr>
          <a:xfrm xmlns:a="http://schemas.openxmlformats.org/drawingml/2006/main">
            <a:off x="571500" y="4095750"/>
            <a:ext cx="14097000" cy="0"/>
          </a:xfrm>
          <a:prstGeom xmlns:a="http://schemas.openxmlformats.org/drawingml/2006/main" prst="line">
            <a:avLst/>
          </a:prstGeom>
          <a:ln xmlns:a="http://schemas.openxmlformats.org/drawingml/2006/main" w="19050">
            <a:solidFill>
              <a:srgbClr val="C6D2DB"/>
            </a:solidFill>
          </a:ln>
        </p:spPr>
      </p:sp>
      <p:sp>
        <p:nvSpPr>
          <p:cNvPr id="8" name="Vergelijking">
            <a:extLst xmlns:a="http://schemas.openxmlformats.org/drawingml/2006/main">
              <a:ext uri="{FF2B5EF4-FFF2-40B4-BE49-F238E27FC236}">
                <a16:creationId xmlns:a16="http://schemas.microsoft.com/office/drawing/2014/main" id="{58E3258E-A57C-423E-9745-4AAF83991CB6}"/>
              </a:ext>
            </a:extLst>
          </p:cNvPr>
          <p:cNvSpPr>
            <a:spLocks xmlns:a="http://schemas.openxmlformats.org/drawingml/2006/main" noGrp="1"/>
          </p:cNvSpPr>
          <p:nvPr/>
        </p:nvSpPr>
        <p:spPr>
          <a:xfrm xmlns:a="http://schemas.openxmlformats.org/drawingml/2006/main">
            <a:off x="571500" y="4533900"/>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Vergelijking</a:t>
            </a:r>
          </a:p>
        </p:txBody>
      </p:sp>
      <p:sp>
        <p:nvSpPr>
          <p:cNvPr id="9" name="Hetzelfde product en dezelfde kwaliteit">
            <a:extLst xmlns:a="http://schemas.openxmlformats.org/drawingml/2006/main">
              <a:ext uri="{FF2B5EF4-FFF2-40B4-BE49-F238E27FC236}">
                <a16:creationId xmlns:a16="http://schemas.microsoft.com/office/drawing/2014/main" id="{4D86AB82-A858-42EE-BB48-E10DE927DDB6}"/>
              </a:ext>
            </a:extLst>
          </p:cNvPr>
          <p:cNvSpPr>
            <a:spLocks xmlns:a="http://schemas.openxmlformats.org/drawingml/2006/main" noGrp="1"/>
          </p:cNvSpPr>
          <p:nvPr/>
        </p:nvSpPr>
        <p:spPr>
          <a:xfrm xmlns:a="http://schemas.openxmlformats.org/drawingml/2006/main">
            <a:off x="4762500" y="4533900"/>
            <a:ext cx="9906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Hetzelfde product en dezelfde kwaliteit</a:t>
            </a:r>
          </a:p>
        </p:txBody>
      </p:sp>
      <p:sp>
        <p:nvSpPr>
          <p:cNvPr id="10" name="Aster heeft een absoluut voordeel bij pompen én jassen.">
            <a:extLst xmlns:a="http://schemas.openxmlformats.org/drawingml/2006/main">
              <a:ext uri="{FF2B5EF4-FFF2-40B4-BE49-F238E27FC236}">
                <a16:creationId xmlns:a16="http://schemas.microsoft.com/office/drawing/2014/main" id="{716C90FE-5F42-43D2-B8B6-7161112E3247}"/>
              </a:ext>
            </a:extLst>
          </p:cNvPr>
          <p:cNvSpPr>
            <a:spLocks xmlns:a="http://schemas.openxmlformats.org/drawingml/2006/main" noGrp="1"/>
          </p:cNvSpPr>
          <p:nvPr/>
        </p:nvSpPr>
        <p:spPr>
          <a:xfrm xmlns:a="http://schemas.openxmlformats.org/drawingml/2006/main">
            <a:off x="571500" y="6762750"/>
            <a:ext cx="1409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665B"/>
                </a:solidFill>
                <a:latin typeface="Arial"/>
                <a:ea typeface="Arial"/>
                <a:cs typeface="Arial"/>
              </a:defRPr>
            </a:pPr>
            <a:r>
              <a:rPr sz="3375" b="1">
                <a:solidFill>
                  <a:srgbClr val="20665B"/>
                </a:solidFill>
                <a:latin typeface="Arial"/>
                <a:ea typeface="Arial"/>
                <a:cs typeface="Arial"/>
              </a:rPr>
              <a:t>Aster heeft een absoluut voordeel bij pompen én jassen.</a:t>
            </a:r>
          </a:p>
        </p:txBody>
      </p:sp>
    </p:spTree>
    <p:extLst>
      <p:ext uri="{BB962C8B-B14F-4D97-AF65-F5344CB8AC3E}">
        <p14:creationId xmlns:p14="http://schemas.microsoft.com/office/powerpoint/2010/main" val="37828970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7E55BB75-4872-42AB-A41F-DE81D2C02968}"/>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7b · De comparatieve voordelen</a:t>
            </a:r>
          </a:p>
        </p:txBody>
      </p:sp>
      <p:sp>
        <p:nvSpPr>
          <p:cNvPr id="2" name="">
            <a:extLst xmlns:a="http://schemas.openxmlformats.org/drawingml/2006/main">
              <a:ext uri="{FF2B5EF4-FFF2-40B4-BE49-F238E27FC236}">
                <a16:creationId xmlns:a16="http://schemas.microsoft.com/office/drawing/2014/main" id="{A1D24585-3CAC-43EB-992E-1BC7167986D6}"/>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 Opgave 7 · Boekpagina 95">
            <a:extLst xmlns:a="http://schemas.openxmlformats.org/drawingml/2006/main">
              <a:ext uri="{FF2B5EF4-FFF2-40B4-BE49-F238E27FC236}">
                <a16:creationId xmlns:a16="http://schemas.microsoft.com/office/drawing/2014/main" id="{02EADC43-F8B0-4564-8C0E-C490EBF55F13}"/>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 Opgave 7 · Boekpagina 95</a:t>
            </a:r>
          </a:p>
        </p:txBody>
      </p:sp>
      <p:sp>
        <p:nvSpPr>
          <p:cNvPr id="4" name="slide-number">
            <a:extLst xmlns:a="http://schemas.openxmlformats.org/drawingml/2006/main">
              <a:ext uri="{FF2B5EF4-FFF2-40B4-BE49-F238E27FC236}">
                <a16:creationId xmlns:a16="http://schemas.microsoft.com/office/drawing/2014/main" id="{BDEEB544-4154-4E8B-85C7-B01207D68CB9}"/>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graphicFrame>
        <p:nvGraphicFramePr>
          <p:cNvPr id="11" name=""/>
          <p:cNvGraphicFramePr/>
          <p:nvPr/>
        </p:nvGraphicFramePr>
        <p:xfrm>
          <a:off xmlns:a="http://schemas.openxmlformats.org/drawingml/2006/main" x="571500" y="2305050"/>
          <a:ext xmlns:a="http://schemas.openxmlformats.org/drawingml/2006/main" cx="14097000" cy="3771900"/>
        </p:xfrm>
        <a:graphic xmlns:a="http://schemas.openxmlformats.org/drawingml/2006/main">
          <a:graphicData uri="http://schemas.openxmlformats.org/drawingml/2006/table">
            <a:tbl>
              <a:tblPr/>
              <a:tblGrid>
                <a:gridCol w="2381250"/>
                <a:gridCol w="5381625"/>
                <a:gridCol w="6334125"/>
              </a:tblGrid>
              <a:tr h="1257300">
                <a:tc>
                  <a:txBody>
                    <a:bodyPr lIns="171450" tIns="95250" rIns="152400" bIns="95250"/>
                    <a:lstStyle/>
                    <a:p>
                      <a:r>
                        <a:rPr sz="2550" b="1">
                          <a:solidFill>
                            <a:srgbClr val="FFFFFF"/>
                          </a:solidFill>
                          <a:latin typeface="Arial"/>
                          <a:ea typeface="Arial"/>
                          <a:cs typeface="Arial"/>
                        </a:rPr>
                        <a:t>Land</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Lagere alternatieve kosten van</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Economische verklaring</a:t>
                      </a:r>
                    </a:p>
                  </a:txBody>
                  <a:tcPr marL="91440" marR="91440" marT="45720" marB="45720" anchor="ctr">
                    <a:solidFill>
                      <a:srgbClr val="183247"/>
                    </a:solidFill>
                  </a:tcPr>
                </a:tc>
              </a:tr>
              <a:tr h="1257300">
                <a:tc>
                  <a:txBody>
                    <a:bodyPr lIns="171450" tIns="95250" rIns="152400" bIns="95250"/>
                    <a:lstStyle/>
                    <a:p>
                      <a:r>
                        <a:rPr sz="2550" b="0">
                          <a:solidFill>
                            <a:srgbClr val="183247"/>
                          </a:solidFill>
                          <a:latin typeface="Arial"/>
                          <a:ea typeface="Arial"/>
                          <a:cs typeface="Arial"/>
                        </a:rPr>
                        <a:t>Brin</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Jassen</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Voor een extra jas geeft het</a:t>
                      </a:r>
                    </a:p>
                    <a:p>
                      <a:r>
                        <a:rPr sz="2550" b="0">
                          <a:solidFill>
                            <a:srgbClr val="183247"/>
                          </a:solidFill>
                          <a:latin typeface="Arial"/>
                          <a:ea typeface="Arial"/>
                          <a:cs typeface="Arial"/>
                        </a:rPr>
                        <a:t>relatief minder pompen op.</a:t>
                      </a:r>
                    </a:p>
                  </a:txBody>
                  <a:tcPr marL="91440" marR="91440" marT="45720" marB="45720" anchor="ctr">
                    <a:solidFill>
                      <a:srgbClr val="FFFFFF"/>
                    </a:solidFill>
                  </a:tcPr>
                </a:tc>
              </a:tr>
              <a:tr h="1257300">
                <a:tc>
                  <a:txBody>
                    <a:bodyPr lIns="171450" tIns="95250" rIns="152400" bIns="95250"/>
                    <a:lstStyle/>
                    <a:p>
                      <a:r>
                        <a:rPr sz="2550" b="0">
                          <a:solidFill>
                            <a:srgbClr val="183247"/>
                          </a:solidFill>
                          <a:latin typeface="Arial"/>
                          <a:ea typeface="Arial"/>
                          <a:cs typeface="Arial"/>
                        </a:rPr>
                        <a:t>Aster</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Pompen</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Voor extra pompen geeft het</a:t>
                      </a:r>
                    </a:p>
                    <a:p>
                      <a:r>
                        <a:rPr sz="2550" b="0">
                          <a:solidFill>
                            <a:srgbClr val="183247"/>
                          </a:solidFill>
                          <a:latin typeface="Arial"/>
                          <a:ea typeface="Arial"/>
                          <a:cs typeface="Arial"/>
                        </a:rPr>
                        <a:t>relatief minder jassen op.</a:t>
                      </a:r>
                    </a:p>
                  </a:txBody>
                  <a:tcPr marL="91440" marR="91440" marT="45720" marB="45720" anchor="ctr">
                    <a:solidFill>
                      <a:srgbClr val="EFF4F7"/>
                    </a:solidFill>
                  </a:tcPr>
                </a:tc>
              </a:tr>
            </a:tbl>
          </a:graphicData>
        </a:graphic>
      </p:graphicFrame>
      <p:sp>
        <p:nvSpPr>
          <p:cNvPr id="6" name="Brins absolute nadeel sluit een comparatief voordeel niet ui">
            <a:extLst xmlns:a="http://schemas.openxmlformats.org/drawingml/2006/main">
              <a:ext uri="{FF2B5EF4-FFF2-40B4-BE49-F238E27FC236}">
                <a16:creationId xmlns:a16="http://schemas.microsoft.com/office/drawing/2014/main" id="{17152700-CC5F-4F92-BB2A-7951024E5F80}"/>
              </a:ext>
            </a:extLst>
          </p:cNvPr>
          <p:cNvSpPr>
            <a:spLocks xmlns:a="http://schemas.openxmlformats.org/drawingml/2006/main" noGrp="1"/>
          </p:cNvSpPr>
          <p:nvPr/>
        </p:nvSpPr>
        <p:spPr>
          <a:xfrm xmlns:a="http://schemas.openxmlformats.org/drawingml/2006/main">
            <a:off x="571500" y="6867525"/>
            <a:ext cx="1409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0665B"/>
                </a:solidFill>
                <a:latin typeface="Arial"/>
                <a:ea typeface="Arial"/>
                <a:cs typeface="Arial"/>
              </a:defRPr>
            </a:pPr>
            <a:r>
              <a:rPr sz="3150" b="1">
                <a:solidFill>
                  <a:srgbClr val="20665B"/>
                </a:solidFill>
                <a:latin typeface="Arial"/>
                <a:ea typeface="Arial"/>
                <a:cs typeface="Arial"/>
              </a:rPr>
              <a:t>Brins absolute nadeel sluit een comparatief voordeel niet uit.</a:t>
            </a:r>
          </a:p>
        </p:txBody>
      </p:sp>
    </p:spTree>
    <p:extLst>
      <p:ext uri="{BB962C8B-B14F-4D97-AF65-F5344CB8AC3E}">
        <p14:creationId xmlns:p14="http://schemas.microsoft.com/office/powerpoint/2010/main" val="130989958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4DEC7B82-2703-421D-9FF8-6153E78B52B6}"/>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7c · Specialisatie en goederenstroom</a:t>
            </a:r>
          </a:p>
        </p:txBody>
      </p:sp>
      <p:sp>
        <p:nvSpPr>
          <p:cNvPr id="2" name="">
            <a:extLst xmlns:a="http://schemas.openxmlformats.org/drawingml/2006/main">
              <a:ext uri="{FF2B5EF4-FFF2-40B4-BE49-F238E27FC236}">
                <a16:creationId xmlns:a16="http://schemas.microsoft.com/office/drawing/2014/main" id="{738054A0-DAA6-4E54-B0DD-4B28D08B023D}"/>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 Opgave 7 · Boekpagina 95">
            <a:extLst xmlns:a="http://schemas.openxmlformats.org/drawingml/2006/main">
              <a:ext uri="{FF2B5EF4-FFF2-40B4-BE49-F238E27FC236}">
                <a16:creationId xmlns:a16="http://schemas.microsoft.com/office/drawing/2014/main" id="{EA658041-FAB7-46CE-8379-1F9ADB0E2E14}"/>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 Opgave 7 · Boekpagina 95</a:t>
            </a:r>
          </a:p>
        </p:txBody>
      </p:sp>
      <p:sp>
        <p:nvSpPr>
          <p:cNvPr id="4" name="slide-number">
            <a:extLst xmlns:a="http://schemas.openxmlformats.org/drawingml/2006/main">
              <a:ext uri="{FF2B5EF4-FFF2-40B4-BE49-F238E27FC236}">
                <a16:creationId xmlns:a16="http://schemas.microsoft.com/office/drawing/2014/main" id="{2031D5F9-A081-47D8-9EAD-3ADD24BAF81F}"/>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Brin: meer jassen. Aster: meer pompen.">
            <a:extLst xmlns:a="http://schemas.openxmlformats.org/drawingml/2006/main">
              <a:ext uri="{FF2B5EF4-FFF2-40B4-BE49-F238E27FC236}">
                <a16:creationId xmlns:a16="http://schemas.microsoft.com/office/drawing/2014/main" id="{421DED10-D120-4C0F-827E-67D2B68BF7EC}"/>
              </a:ext>
            </a:extLst>
          </p:cNvPr>
          <p:cNvSpPr>
            <a:spLocks xmlns:a="http://schemas.openxmlformats.org/drawingml/2006/main" noGrp="1"/>
          </p:cNvSpPr>
          <p:nvPr/>
        </p:nvSpPr>
        <p:spPr>
          <a:xfrm xmlns:a="http://schemas.openxmlformats.org/drawingml/2006/main">
            <a:off x="571500" y="220027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Brin: meer jassen. Aster: meer pompen.</a:t>
            </a:r>
          </a:p>
        </p:txBody>
      </p:sp>
      <p:sp>
        <p:nvSpPr>
          <p:cNvPr id="6" name="Brin">
            <a:extLst xmlns:a="http://schemas.openxmlformats.org/drawingml/2006/main">
              <a:ext uri="{FF2B5EF4-FFF2-40B4-BE49-F238E27FC236}">
                <a16:creationId xmlns:a16="http://schemas.microsoft.com/office/drawing/2014/main" id="{349DBC33-244D-4CC4-A26F-109B857EE21E}"/>
              </a:ext>
            </a:extLst>
          </p:cNvPr>
          <p:cNvSpPr>
            <a:spLocks xmlns:a="http://schemas.openxmlformats.org/drawingml/2006/main" noGrp="1"/>
          </p:cNvSpPr>
          <p:nvPr/>
        </p:nvSpPr>
        <p:spPr>
          <a:xfrm xmlns:a="http://schemas.openxmlformats.org/drawingml/2006/main">
            <a:off x="857250" y="3476625"/>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525" b="1">
                <a:solidFill>
                  <a:srgbClr val="17658A"/>
                </a:solidFill>
                <a:latin typeface="Arial"/>
                <a:ea typeface="Arial"/>
                <a:cs typeface="Arial"/>
              </a:defRPr>
            </a:pPr>
            <a:r>
              <a:rPr sz="3525" b="1">
                <a:solidFill>
                  <a:srgbClr val="17658A"/>
                </a:solidFill>
                <a:latin typeface="Arial"/>
                <a:ea typeface="Arial"/>
                <a:cs typeface="Arial"/>
              </a:rPr>
              <a:t>Brin</a:t>
            </a:r>
          </a:p>
        </p:txBody>
      </p:sp>
      <p:sp>
        <p:nvSpPr>
          <p:cNvPr id="7" name="Aster">
            <a:extLst xmlns:a="http://schemas.openxmlformats.org/drawingml/2006/main">
              <a:ext uri="{FF2B5EF4-FFF2-40B4-BE49-F238E27FC236}">
                <a16:creationId xmlns:a16="http://schemas.microsoft.com/office/drawing/2014/main" id="{4F12980A-3EB1-4DEE-A647-FE9117EB457F}"/>
              </a:ext>
            </a:extLst>
          </p:cNvPr>
          <p:cNvSpPr>
            <a:spLocks xmlns:a="http://schemas.openxmlformats.org/drawingml/2006/main" noGrp="1"/>
          </p:cNvSpPr>
          <p:nvPr/>
        </p:nvSpPr>
        <p:spPr>
          <a:xfrm xmlns:a="http://schemas.openxmlformats.org/drawingml/2006/main">
            <a:off x="10572750" y="3476625"/>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525" b="1">
                <a:solidFill>
                  <a:srgbClr val="20665B"/>
                </a:solidFill>
                <a:latin typeface="Arial"/>
                <a:ea typeface="Arial"/>
                <a:cs typeface="Arial"/>
              </a:defRPr>
            </a:pPr>
            <a:r>
              <a:rPr sz="3525" b="1">
                <a:solidFill>
                  <a:srgbClr val="20665B"/>
                </a:solidFill>
                <a:latin typeface="Arial"/>
                <a:ea typeface="Arial"/>
                <a:cs typeface="Arial"/>
              </a:rPr>
              <a:t>Aster</a:t>
            </a:r>
          </a:p>
        </p:txBody>
      </p:sp>
      <p:sp>
        <p:nvSpPr>
          <p:cNvPr id="8" name="jassen">
            <a:extLst xmlns:a="http://schemas.openxmlformats.org/drawingml/2006/main">
              <a:ext uri="{FF2B5EF4-FFF2-40B4-BE49-F238E27FC236}">
                <a16:creationId xmlns:a16="http://schemas.microsoft.com/office/drawing/2014/main" id="{38E298EF-62BB-49D9-86DE-29BAF1BA3A59}"/>
              </a:ext>
            </a:extLst>
          </p:cNvPr>
          <p:cNvSpPr>
            <a:spLocks xmlns:a="http://schemas.openxmlformats.org/drawingml/2006/main" noGrp="1"/>
          </p:cNvSpPr>
          <p:nvPr/>
        </p:nvSpPr>
        <p:spPr>
          <a:xfrm xmlns:a="http://schemas.openxmlformats.org/drawingml/2006/main">
            <a:off x="4857750" y="3095625"/>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183247"/>
                </a:solidFill>
                <a:latin typeface="Arial"/>
                <a:ea typeface="Arial"/>
                <a:cs typeface="Arial"/>
              </a:defRPr>
            </a:pPr>
            <a:r>
              <a:rPr sz="2700" b="1">
                <a:solidFill>
                  <a:srgbClr val="183247"/>
                </a:solidFill>
                <a:latin typeface="Arial"/>
                <a:ea typeface="Arial"/>
                <a:cs typeface="Arial"/>
              </a:rPr>
              <a:t>jassen</a:t>
            </a:r>
          </a:p>
        </p:txBody>
      </p:sp>
      <p:sp>
        <p:nvSpPr>
          <p:cNvPr id="9" name="">
            <a:extLst xmlns:a="http://schemas.openxmlformats.org/drawingml/2006/main">
              <a:ext uri="{FF2B5EF4-FFF2-40B4-BE49-F238E27FC236}">
                <a16:creationId xmlns:a16="http://schemas.microsoft.com/office/drawing/2014/main" id="{707E0BF7-751F-42B0-862A-C7615BBA0FCB}"/>
              </a:ext>
            </a:extLst>
          </p:cNvPr>
          <p:cNvSpPr>
            <a:spLocks xmlns:a="http://schemas.openxmlformats.org/drawingml/2006/main" noGrp="1"/>
          </p:cNvSpPr>
          <p:nvPr/>
        </p:nvSpPr>
        <p:spPr>
          <a:xfrm xmlns:a="http://schemas.openxmlformats.org/drawingml/2006/main">
            <a:off x="4953000" y="3762375"/>
            <a:ext cx="5334000" cy="419100"/>
          </a:xfrm>
          <a:prstGeom xmlns:a="http://schemas.openxmlformats.org/drawingml/2006/main" prst="rightArrow">
            <a:avLst/>
          </a:prstGeom>
          <a:solidFill xmlns:a="http://schemas.openxmlformats.org/drawingml/2006/main">
            <a:srgbClr val="17658A"/>
          </a:solidFill>
          <a:ln xmlns:a="http://schemas.openxmlformats.org/drawingml/2006/main" w="0">
            <a:noFill/>
          </a:ln>
        </p:spPr>
      </p:sp>
      <p:sp>
        <p:nvSpPr>
          <p:cNvPr id="10" name="export / uitvoer">
            <a:extLst xmlns:a="http://schemas.openxmlformats.org/drawingml/2006/main">
              <a:ext uri="{FF2B5EF4-FFF2-40B4-BE49-F238E27FC236}">
                <a16:creationId xmlns:a16="http://schemas.microsoft.com/office/drawing/2014/main" id="{AA835183-9D7B-4591-8361-C35C841B938F}"/>
              </a:ext>
            </a:extLst>
          </p:cNvPr>
          <p:cNvSpPr>
            <a:spLocks xmlns:a="http://schemas.openxmlformats.org/drawingml/2006/main" noGrp="1"/>
          </p:cNvSpPr>
          <p:nvPr/>
        </p:nvSpPr>
        <p:spPr>
          <a:xfrm xmlns:a="http://schemas.openxmlformats.org/drawingml/2006/main">
            <a:off x="666750" y="4581525"/>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850" b="1">
                <a:solidFill>
                  <a:srgbClr val="17658A"/>
                </a:solidFill>
                <a:latin typeface="Arial"/>
                <a:ea typeface="Arial"/>
                <a:cs typeface="Arial"/>
              </a:defRPr>
            </a:pPr>
            <a:r>
              <a:rPr sz="2850" b="1">
                <a:solidFill>
                  <a:srgbClr val="17658A"/>
                </a:solidFill>
                <a:latin typeface="Arial"/>
                <a:ea typeface="Arial"/>
                <a:cs typeface="Arial"/>
              </a:rPr>
              <a:t>export / uitvoer</a:t>
            </a:r>
          </a:p>
        </p:txBody>
      </p:sp>
      <p:sp>
        <p:nvSpPr>
          <p:cNvPr id="11" name="import / invoer">
            <a:extLst xmlns:a="http://schemas.openxmlformats.org/drawingml/2006/main">
              <a:ext uri="{FF2B5EF4-FFF2-40B4-BE49-F238E27FC236}">
                <a16:creationId xmlns:a16="http://schemas.microsoft.com/office/drawing/2014/main" id="{EF3F8588-C974-472F-970F-C19FC4D19F61}"/>
              </a:ext>
            </a:extLst>
          </p:cNvPr>
          <p:cNvSpPr>
            <a:spLocks xmlns:a="http://schemas.openxmlformats.org/drawingml/2006/main" noGrp="1"/>
          </p:cNvSpPr>
          <p:nvPr/>
        </p:nvSpPr>
        <p:spPr>
          <a:xfrm xmlns:a="http://schemas.openxmlformats.org/drawingml/2006/main">
            <a:off x="10382250" y="4581525"/>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850" b="1">
                <a:solidFill>
                  <a:srgbClr val="20665B"/>
                </a:solidFill>
                <a:latin typeface="Arial"/>
                <a:ea typeface="Arial"/>
                <a:cs typeface="Arial"/>
              </a:defRPr>
            </a:pPr>
            <a:r>
              <a:rPr sz="2850" b="1">
                <a:solidFill>
                  <a:srgbClr val="20665B"/>
                </a:solidFill>
                <a:latin typeface="Arial"/>
                <a:ea typeface="Arial"/>
                <a:cs typeface="Arial"/>
              </a:rPr>
              <a:t>import / invoer</a:t>
            </a:r>
          </a:p>
        </p:txBody>
      </p:sp>
      <p:sp>
        <p:nvSpPr>
          <p:cNvPr id="12" name="landsgrens">
            <a:extLst xmlns:a="http://schemas.openxmlformats.org/drawingml/2006/main">
              <a:ext uri="{FF2B5EF4-FFF2-40B4-BE49-F238E27FC236}">
                <a16:creationId xmlns:a16="http://schemas.microsoft.com/office/drawing/2014/main" id="{0C5E6083-6874-4549-AA80-6D6196E81C87}"/>
              </a:ext>
            </a:extLst>
          </p:cNvPr>
          <p:cNvSpPr>
            <a:spLocks xmlns:a="http://schemas.openxmlformats.org/drawingml/2006/main" noGrp="1"/>
          </p:cNvSpPr>
          <p:nvPr/>
        </p:nvSpPr>
        <p:spPr>
          <a:xfrm xmlns:a="http://schemas.openxmlformats.org/drawingml/2006/main">
            <a:off x="6096000" y="52863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0">
                <a:solidFill>
                  <a:srgbClr val="445B6B"/>
                </a:solidFill>
                <a:latin typeface="Arial"/>
                <a:ea typeface="Arial"/>
                <a:cs typeface="Arial"/>
              </a:defRPr>
            </a:pPr>
            <a:r>
              <a:rPr sz="2100" b="0">
                <a:solidFill>
                  <a:srgbClr val="445B6B"/>
                </a:solidFill>
                <a:latin typeface="Arial"/>
                <a:ea typeface="Arial"/>
                <a:cs typeface="Arial"/>
              </a:rPr>
              <a:t>landsgrens</a:t>
            </a:r>
          </a:p>
        </p:txBody>
      </p:sp>
      <p:sp>
        <p:nvSpPr>
          <p:cNvPr id="13" name="">
            <a:extLst xmlns:a="http://schemas.openxmlformats.org/drawingml/2006/main">
              <a:ext uri="{FF2B5EF4-FFF2-40B4-BE49-F238E27FC236}">
                <a16:creationId xmlns:a16="http://schemas.microsoft.com/office/drawing/2014/main" id="{34E0BD65-9A66-47C9-96DC-DA397AB5D3A3}"/>
              </a:ext>
            </a:extLst>
          </p:cNvPr>
          <p:cNvSpPr>
            <a:spLocks xmlns:a="http://schemas.openxmlformats.org/drawingml/2006/main" noGrp="1"/>
          </p:cNvSpPr>
          <p:nvPr/>
        </p:nvSpPr>
        <p:spPr>
          <a:xfrm xmlns:a="http://schemas.openxmlformats.org/drawingml/2006/main">
            <a:off x="7620000" y="4371975"/>
            <a:ext cx="0" cy="781050"/>
          </a:xfrm>
          <a:prstGeom xmlns:a="http://schemas.openxmlformats.org/drawingml/2006/main" prst="line">
            <a:avLst/>
          </a:prstGeom>
          <a:ln xmlns:a="http://schemas.openxmlformats.org/drawingml/2006/main" w="28575">
            <a:solidFill>
              <a:srgbClr val="C6D2DB"/>
            </a:solidFill>
          </a:ln>
        </p:spPr>
      </p:sp>
      <p:sp>
        <p:nvSpPr>
          <p:cNvPr id="14" name="Omgekeerd kunnen pompen van Aster naar Brin gaan.">
            <a:extLst xmlns:a="http://schemas.openxmlformats.org/drawingml/2006/main">
              <a:ext uri="{FF2B5EF4-FFF2-40B4-BE49-F238E27FC236}">
                <a16:creationId xmlns:a16="http://schemas.microsoft.com/office/drawing/2014/main" id="{11B1F4F6-EA97-403C-8317-4EF52C33CB54}"/>
              </a:ext>
            </a:extLst>
          </p:cNvPr>
          <p:cNvSpPr>
            <a:spLocks xmlns:a="http://schemas.openxmlformats.org/drawingml/2006/main" noGrp="1"/>
          </p:cNvSpPr>
          <p:nvPr/>
        </p:nvSpPr>
        <p:spPr>
          <a:xfrm xmlns:a="http://schemas.openxmlformats.org/drawingml/2006/main">
            <a:off x="571500" y="6962775"/>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Omgekeerd kunnen pompen van Aster naar Brin gaan.</a:t>
            </a:r>
          </a:p>
        </p:txBody>
      </p:sp>
    </p:spTree>
    <p:extLst>
      <p:ext uri="{BB962C8B-B14F-4D97-AF65-F5344CB8AC3E}">
        <p14:creationId xmlns:p14="http://schemas.microsoft.com/office/powerpoint/2010/main" val="168134258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C31E47BE-9E84-4DC2-87CA-4DD1AD70EBD1}"/>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7d · De ruilvoorwaarde</a:t>
            </a:r>
          </a:p>
        </p:txBody>
      </p:sp>
      <p:sp>
        <p:nvSpPr>
          <p:cNvPr id="2" name="">
            <a:extLst xmlns:a="http://schemas.openxmlformats.org/drawingml/2006/main">
              <a:ext uri="{FF2B5EF4-FFF2-40B4-BE49-F238E27FC236}">
                <a16:creationId xmlns:a16="http://schemas.microsoft.com/office/drawing/2014/main" id="{AB906C32-A257-4C5D-9091-61F7E74BBD01}"/>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 Opgave 7 · Boekpagina 95">
            <a:extLst xmlns:a="http://schemas.openxmlformats.org/drawingml/2006/main">
              <a:ext uri="{FF2B5EF4-FFF2-40B4-BE49-F238E27FC236}">
                <a16:creationId xmlns:a16="http://schemas.microsoft.com/office/drawing/2014/main" id="{8BD37E45-7CFD-4E6E-9962-46D044E5DE33}"/>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 Opgave 7 · Boekpagina 95</a:t>
            </a:r>
          </a:p>
        </p:txBody>
      </p:sp>
      <p:sp>
        <p:nvSpPr>
          <p:cNvPr id="4" name="slide-number">
            <a:extLst xmlns:a="http://schemas.openxmlformats.org/drawingml/2006/main">
              <a:ext uri="{FF2B5EF4-FFF2-40B4-BE49-F238E27FC236}">
                <a16:creationId xmlns:a16="http://schemas.microsoft.com/office/drawing/2014/main" id="{81EDC9D7-B76E-4DB4-910E-957A4C1EB938}"/>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Ruilen vergeleken met zelf produceren">
            <a:extLst xmlns:a="http://schemas.openxmlformats.org/drawingml/2006/main">
              <a:ext uri="{FF2B5EF4-FFF2-40B4-BE49-F238E27FC236}">
                <a16:creationId xmlns:a16="http://schemas.microsoft.com/office/drawing/2014/main" id="{5B81C601-8EF0-41EF-B60D-84B11E26A0BF}"/>
              </a:ext>
            </a:extLst>
          </p:cNvPr>
          <p:cNvSpPr>
            <a:spLocks xmlns:a="http://schemas.openxmlformats.org/drawingml/2006/main" noGrp="1"/>
          </p:cNvSpPr>
          <p:nvPr/>
        </p:nvSpPr>
        <p:spPr>
          <a:xfrm xmlns:a="http://schemas.openxmlformats.org/drawingml/2006/main">
            <a:off x="571500" y="2228850"/>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7658A"/>
                </a:solidFill>
                <a:latin typeface="Arial"/>
                <a:ea typeface="Arial"/>
                <a:cs typeface="Arial"/>
              </a:defRPr>
            </a:pPr>
            <a:r>
              <a:rPr sz="3525" b="1">
                <a:solidFill>
                  <a:srgbClr val="17658A"/>
                </a:solidFill>
                <a:latin typeface="Arial"/>
                <a:ea typeface="Arial"/>
                <a:cs typeface="Arial"/>
              </a:rPr>
              <a:t>Ruilen vergeleken met zelf produceren</a:t>
            </a:r>
          </a:p>
        </p:txBody>
      </p:sp>
      <p:graphicFrame>
        <p:nvGraphicFramePr>
          <p:cNvPr id="13" name=""/>
          <p:cNvGraphicFramePr/>
          <p:nvPr/>
        </p:nvGraphicFramePr>
        <p:xfrm>
          <a:off xmlns:a="http://schemas.openxmlformats.org/drawingml/2006/main" x="571500" y="3838575"/>
          <a:ext xmlns:a="http://schemas.openxmlformats.org/drawingml/2006/main" cx="14097000" cy="2257425"/>
        </p:xfrm>
        <a:graphic xmlns:a="http://schemas.openxmlformats.org/drawingml/2006/main">
          <a:graphicData uri="http://schemas.openxmlformats.org/drawingml/2006/table">
            <a:tbl>
              <a:tblPr/>
              <a:tblGrid>
                <a:gridCol w="7048500"/>
                <a:gridCol w="7048500"/>
              </a:tblGrid>
              <a:tr h="1128713">
                <a:tc>
                  <a:txBody>
                    <a:bodyPr lIns="171450" tIns="95250" rIns="152400" bIns="95250"/>
                    <a:lstStyle/>
                    <a:p>
                      <a:r>
                        <a:rPr sz="2925" b="1">
                          <a:solidFill>
                            <a:srgbClr val="FFFFFF"/>
                          </a:solidFill>
                          <a:latin typeface="Arial"/>
                          <a:ea typeface="Arial"/>
                          <a:cs typeface="Arial"/>
                        </a:rPr>
                        <a:t>Aster</a:t>
                      </a:r>
                    </a:p>
                  </a:txBody>
                  <a:tcPr marL="91440" marR="91440" marT="45720" marB="45720" anchor="ctr">
                    <a:solidFill>
                      <a:srgbClr val="183247"/>
                    </a:solidFill>
                  </a:tcPr>
                </a:tc>
                <a:tc>
                  <a:txBody>
                    <a:bodyPr lIns="171450" tIns="95250" rIns="152400" bIns="95250"/>
                    <a:lstStyle/>
                    <a:p>
                      <a:r>
                        <a:rPr sz="2925" b="1">
                          <a:solidFill>
                            <a:srgbClr val="FFFFFF"/>
                          </a:solidFill>
                          <a:latin typeface="Arial"/>
                          <a:ea typeface="Arial"/>
                          <a:cs typeface="Arial"/>
                        </a:rPr>
                        <a:t>Brin</a:t>
                      </a:r>
                    </a:p>
                  </a:txBody>
                  <a:tcPr marL="91440" marR="91440" marT="45720" marB="45720" anchor="ctr">
                    <a:solidFill>
                      <a:srgbClr val="183247"/>
                    </a:solidFill>
                  </a:tcPr>
                </a:tc>
              </a:tr>
              <a:tr h="1128713">
                <a:tc>
                  <a:txBody>
                    <a:bodyPr lIns="171450" tIns="95250" rIns="152400" bIns="95250"/>
                    <a:lstStyle/>
                    <a:p>
                      <a:r>
                        <a:rPr sz="2925" b="0">
                          <a:solidFill>
                            <a:srgbClr val="183247"/>
                          </a:solidFill>
                          <a:latin typeface="Arial"/>
                          <a:ea typeface="Arial"/>
                          <a:cs typeface="Arial"/>
                        </a:rPr>
                        <a:t>De afgesproken ruil is</a:t>
                      </a:r>
                    </a:p>
                    <a:p>
                      <a:r>
                        <a:rPr sz="2925" b="0">
                          <a:solidFill>
                            <a:srgbClr val="183247"/>
                          </a:solidFill>
                          <a:latin typeface="Arial"/>
                          <a:ea typeface="Arial"/>
                          <a:cs typeface="Arial"/>
                        </a:rPr>
                        <a:t>aantrekkelijker dan zelf maken.</a:t>
                      </a:r>
                    </a:p>
                  </a:txBody>
                  <a:tcPr marL="91440" marR="91440" marT="45720" marB="45720" anchor="ctr">
                    <a:solidFill>
                      <a:srgbClr val="FFFFFF"/>
                    </a:solidFill>
                  </a:tcPr>
                </a:tc>
                <a:tc>
                  <a:txBody>
                    <a:bodyPr lIns="171450" tIns="95250" rIns="152400" bIns="95250"/>
                    <a:lstStyle/>
                    <a:p>
                      <a:r>
                        <a:rPr sz="2925" b="0">
                          <a:solidFill>
                            <a:srgbClr val="183247"/>
                          </a:solidFill>
                          <a:latin typeface="Arial"/>
                          <a:ea typeface="Arial"/>
                          <a:cs typeface="Arial"/>
                        </a:rPr>
                        <a:t>De afgesproken ruil is</a:t>
                      </a:r>
                    </a:p>
                    <a:p>
                      <a:r>
                        <a:rPr sz="2925" b="0">
                          <a:solidFill>
                            <a:srgbClr val="183247"/>
                          </a:solidFill>
                          <a:latin typeface="Arial"/>
                          <a:ea typeface="Arial"/>
                          <a:cs typeface="Arial"/>
                        </a:rPr>
                        <a:t>aantrekkelijker dan zelf maken.</a:t>
                      </a:r>
                    </a:p>
                  </a:txBody>
                  <a:tcPr marL="91440" marR="91440" marT="45720" marB="45720" anchor="ctr">
                    <a:solidFill>
                      <a:srgbClr val="FFFFFF"/>
                    </a:solidFill>
                  </a:tcPr>
                </a:tc>
              </a:tr>
            </a:tbl>
          </a:graphicData>
        </a:graphic>
      </p:graphicFrame>
      <p:sp>
        <p:nvSpPr>
          <p:cNvPr id="7" name="Gunstige ruilafspraken voor beide partijen zijn nodig.">
            <a:extLst xmlns:a="http://schemas.openxmlformats.org/drawingml/2006/main">
              <a:ext uri="{FF2B5EF4-FFF2-40B4-BE49-F238E27FC236}">
                <a16:creationId xmlns:a16="http://schemas.microsoft.com/office/drawing/2014/main" id="{12177100-5EEE-4902-A406-50C0EC4BE2D1}"/>
              </a:ext>
            </a:extLst>
          </p:cNvPr>
          <p:cNvSpPr>
            <a:spLocks xmlns:a="http://schemas.openxmlformats.org/drawingml/2006/main" noGrp="1"/>
          </p:cNvSpPr>
          <p:nvPr/>
        </p:nvSpPr>
        <p:spPr>
          <a:xfrm xmlns:a="http://schemas.openxmlformats.org/drawingml/2006/main">
            <a:off x="571500" y="702945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0665B"/>
                </a:solidFill>
                <a:latin typeface="Arial"/>
                <a:ea typeface="Arial"/>
                <a:cs typeface="Arial"/>
              </a:defRPr>
            </a:pPr>
            <a:r>
              <a:rPr sz="3225" b="1">
                <a:solidFill>
                  <a:srgbClr val="20665B"/>
                </a:solidFill>
                <a:latin typeface="Arial"/>
                <a:ea typeface="Arial"/>
                <a:cs typeface="Arial"/>
              </a:rPr>
              <a:t>Gunstige ruilafspraken voor beide partijen zijn nodig.</a:t>
            </a:r>
          </a:p>
        </p:txBody>
      </p:sp>
    </p:spTree>
    <p:extLst>
      <p:ext uri="{BB962C8B-B14F-4D97-AF65-F5344CB8AC3E}">
        <p14:creationId xmlns:p14="http://schemas.microsoft.com/office/powerpoint/2010/main" val="40323491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F7A02290-5D62-41F2-A1C5-D1724A182DCC}"/>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7d · Concurrentiepositie bij pompen</a:t>
            </a:r>
          </a:p>
        </p:txBody>
      </p:sp>
      <p:sp>
        <p:nvSpPr>
          <p:cNvPr id="2" name="">
            <a:extLst xmlns:a="http://schemas.openxmlformats.org/drawingml/2006/main">
              <a:ext uri="{FF2B5EF4-FFF2-40B4-BE49-F238E27FC236}">
                <a16:creationId xmlns:a16="http://schemas.microsoft.com/office/drawing/2014/main" id="{6DB2316D-8B84-4224-B266-D2B8A633E8AF}"/>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 Opgave 7 · Boekpagina 95">
            <a:extLst xmlns:a="http://schemas.openxmlformats.org/drawingml/2006/main">
              <a:ext uri="{FF2B5EF4-FFF2-40B4-BE49-F238E27FC236}">
                <a16:creationId xmlns:a16="http://schemas.microsoft.com/office/drawing/2014/main" id="{1C50FDF5-8525-411E-9486-AD04ADCAF890}"/>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 Opgave 7 · Boekpagina 95</a:t>
            </a:r>
          </a:p>
        </p:txBody>
      </p:sp>
      <p:sp>
        <p:nvSpPr>
          <p:cNvPr id="4" name="slide-number">
            <a:extLst xmlns:a="http://schemas.openxmlformats.org/drawingml/2006/main">
              <a:ext uri="{FF2B5EF4-FFF2-40B4-BE49-F238E27FC236}">
                <a16:creationId xmlns:a16="http://schemas.microsoft.com/office/drawing/2014/main" id="{E774B229-24EC-4E31-A34F-B06FBBEECD70}"/>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Bronfeit">
            <a:extLst xmlns:a="http://schemas.openxmlformats.org/drawingml/2006/main">
              <a:ext uri="{FF2B5EF4-FFF2-40B4-BE49-F238E27FC236}">
                <a16:creationId xmlns:a16="http://schemas.microsoft.com/office/drawing/2014/main" id="{3359F62A-98E5-41E8-B9E1-0F32DE4D3E36}"/>
              </a:ext>
            </a:extLst>
          </p:cNvPr>
          <p:cNvSpPr>
            <a:spLocks xmlns:a="http://schemas.openxmlformats.org/drawingml/2006/main" noGrp="1"/>
          </p:cNvSpPr>
          <p:nvPr/>
        </p:nvSpPr>
        <p:spPr>
          <a:xfrm xmlns:a="http://schemas.openxmlformats.org/drawingml/2006/main">
            <a:off x="571500" y="2257425"/>
            <a:ext cx="4286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Bronfeit</a:t>
            </a:r>
          </a:p>
        </p:txBody>
      </p:sp>
      <p:sp>
        <p:nvSpPr>
          <p:cNvPr id="6" name="Asters pompen komen op tijd.">
            <a:extLst xmlns:a="http://schemas.openxmlformats.org/drawingml/2006/main">
              <a:ext uri="{FF2B5EF4-FFF2-40B4-BE49-F238E27FC236}">
                <a16:creationId xmlns:a16="http://schemas.microsoft.com/office/drawing/2014/main" id="{BE88D45E-4F49-457B-A004-8AF9C1FA581A}"/>
              </a:ext>
            </a:extLst>
          </p:cNvPr>
          <p:cNvSpPr>
            <a:spLocks xmlns:a="http://schemas.openxmlformats.org/drawingml/2006/main" noGrp="1"/>
          </p:cNvSpPr>
          <p:nvPr/>
        </p:nvSpPr>
        <p:spPr>
          <a:xfrm xmlns:a="http://schemas.openxmlformats.org/drawingml/2006/main">
            <a:off x="5476875" y="2257425"/>
            <a:ext cx="91440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Asters pompen komen op tijd.</a:t>
            </a:r>
          </a:p>
        </p:txBody>
      </p:sp>
      <p:sp>
        <p:nvSpPr>
          <p:cNvPr id="7" name="">
            <a:extLst xmlns:a="http://schemas.openxmlformats.org/drawingml/2006/main">
              <a:ext uri="{FF2B5EF4-FFF2-40B4-BE49-F238E27FC236}">
                <a16:creationId xmlns:a16="http://schemas.microsoft.com/office/drawing/2014/main" id="{9D54E8AE-FEE0-4A5D-AA5B-D93435504A02}"/>
              </a:ext>
            </a:extLst>
          </p:cNvPr>
          <p:cNvSpPr>
            <a:spLocks xmlns:a="http://schemas.openxmlformats.org/drawingml/2006/main" noGrp="1"/>
          </p:cNvSpPr>
          <p:nvPr/>
        </p:nvSpPr>
        <p:spPr>
          <a:xfrm xmlns:a="http://schemas.openxmlformats.org/drawingml/2006/main">
            <a:off x="571500" y="3629025"/>
            <a:ext cx="14097000" cy="0"/>
          </a:xfrm>
          <a:prstGeom xmlns:a="http://schemas.openxmlformats.org/drawingml/2006/main" prst="line">
            <a:avLst/>
          </a:prstGeom>
          <a:ln xmlns:a="http://schemas.openxmlformats.org/drawingml/2006/main" w="19050">
            <a:solidFill>
              <a:srgbClr val="C6D2DB"/>
            </a:solidFill>
          </a:ln>
        </p:spPr>
      </p:sp>
      <p:sp>
        <p:nvSpPr>
          <p:cNvPr id="8" name="Belang van de klant">
            <a:extLst xmlns:a="http://schemas.openxmlformats.org/drawingml/2006/main">
              <a:ext uri="{FF2B5EF4-FFF2-40B4-BE49-F238E27FC236}">
                <a16:creationId xmlns:a16="http://schemas.microsoft.com/office/drawing/2014/main" id="{98B83613-8EB9-45B3-A018-5B14907156E1}"/>
              </a:ext>
            </a:extLst>
          </p:cNvPr>
          <p:cNvSpPr>
            <a:spLocks xmlns:a="http://schemas.openxmlformats.org/drawingml/2006/main" noGrp="1"/>
          </p:cNvSpPr>
          <p:nvPr/>
        </p:nvSpPr>
        <p:spPr>
          <a:xfrm xmlns:a="http://schemas.openxmlformats.org/drawingml/2006/main">
            <a:off x="571500" y="4029075"/>
            <a:ext cx="4286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Belang van de klant</a:t>
            </a:r>
          </a:p>
        </p:txBody>
      </p:sp>
      <p:sp>
        <p:nvSpPr>
          <p:cNvPr id="9" name="Buitenlandse kopers waarderen dat.">
            <a:extLst xmlns:a="http://schemas.openxmlformats.org/drawingml/2006/main">
              <a:ext uri="{FF2B5EF4-FFF2-40B4-BE49-F238E27FC236}">
                <a16:creationId xmlns:a16="http://schemas.microsoft.com/office/drawing/2014/main" id="{DADE1657-1897-4661-A8A9-C7D5909854A5}"/>
              </a:ext>
            </a:extLst>
          </p:cNvPr>
          <p:cNvSpPr>
            <a:spLocks xmlns:a="http://schemas.openxmlformats.org/drawingml/2006/main" noGrp="1"/>
          </p:cNvSpPr>
          <p:nvPr/>
        </p:nvSpPr>
        <p:spPr>
          <a:xfrm xmlns:a="http://schemas.openxmlformats.org/drawingml/2006/main">
            <a:off x="5476875" y="4029075"/>
            <a:ext cx="91440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Buitenlandse kopers waarderen dat.</a:t>
            </a:r>
          </a:p>
        </p:txBody>
      </p:sp>
      <p:sp>
        <p:nvSpPr>
          <p:cNvPr id="10" name="">
            <a:extLst xmlns:a="http://schemas.openxmlformats.org/drawingml/2006/main">
              <a:ext uri="{FF2B5EF4-FFF2-40B4-BE49-F238E27FC236}">
                <a16:creationId xmlns:a16="http://schemas.microsoft.com/office/drawing/2014/main" id="{EF72CE97-3517-40A3-88F8-062E7DF00C25}"/>
              </a:ext>
            </a:extLst>
          </p:cNvPr>
          <p:cNvSpPr>
            <a:spLocks xmlns:a="http://schemas.openxmlformats.org/drawingml/2006/main" noGrp="1"/>
          </p:cNvSpPr>
          <p:nvPr/>
        </p:nvSpPr>
        <p:spPr>
          <a:xfrm xmlns:a="http://schemas.openxmlformats.org/drawingml/2006/main">
            <a:off x="571500" y="5400675"/>
            <a:ext cx="14097000" cy="0"/>
          </a:xfrm>
          <a:prstGeom xmlns:a="http://schemas.openxmlformats.org/drawingml/2006/main" prst="line">
            <a:avLst/>
          </a:prstGeom>
          <a:ln xmlns:a="http://schemas.openxmlformats.org/drawingml/2006/main" w="19050">
            <a:solidFill>
              <a:srgbClr val="C6D2DB"/>
            </a:solidFill>
          </a:ln>
        </p:spPr>
      </p:sp>
      <p:sp>
        <p:nvSpPr>
          <p:cNvPr id="11" name="Gevolg">
            <a:extLst xmlns:a="http://schemas.openxmlformats.org/drawingml/2006/main">
              <a:ext uri="{FF2B5EF4-FFF2-40B4-BE49-F238E27FC236}">
                <a16:creationId xmlns:a16="http://schemas.microsoft.com/office/drawing/2014/main" id="{A0856775-9273-4809-A3FF-AB5D3145FDEB}"/>
              </a:ext>
            </a:extLst>
          </p:cNvPr>
          <p:cNvSpPr>
            <a:spLocks xmlns:a="http://schemas.openxmlformats.org/drawingml/2006/main" noGrp="1"/>
          </p:cNvSpPr>
          <p:nvPr/>
        </p:nvSpPr>
        <p:spPr>
          <a:xfrm xmlns:a="http://schemas.openxmlformats.org/drawingml/2006/main">
            <a:off x="571500" y="5800725"/>
            <a:ext cx="4286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Gevolg</a:t>
            </a:r>
          </a:p>
        </p:txBody>
      </p:sp>
      <p:sp>
        <p:nvSpPr>
          <p:cNvPr id="12" name="De betrouwbare levering maakt&#10;Asters aanbod aantrekkelijk.">
            <a:extLst xmlns:a="http://schemas.openxmlformats.org/drawingml/2006/main">
              <a:ext uri="{FF2B5EF4-FFF2-40B4-BE49-F238E27FC236}">
                <a16:creationId xmlns:a16="http://schemas.microsoft.com/office/drawing/2014/main" id="{EFA116B6-ED1E-46AE-A147-CA4F68722B53}"/>
              </a:ext>
            </a:extLst>
          </p:cNvPr>
          <p:cNvSpPr>
            <a:spLocks xmlns:a="http://schemas.openxmlformats.org/drawingml/2006/main" noGrp="1"/>
          </p:cNvSpPr>
          <p:nvPr/>
        </p:nvSpPr>
        <p:spPr>
          <a:xfrm xmlns:a="http://schemas.openxmlformats.org/drawingml/2006/main">
            <a:off x="5476875" y="5800725"/>
            <a:ext cx="91440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De betrouwbare levering maakt</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Asters aanbod aantrekkelijk.</a:t>
            </a:r>
          </a:p>
        </p:txBody>
      </p:sp>
    </p:spTree>
    <p:extLst>
      <p:ext uri="{BB962C8B-B14F-4D97-AF65-F5344CB8AC3E}">
        <p14:creationId xmlns:p14="http://schemas.microsoft.com/office/powerpoint/2010/main" val="180307665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28D625AB-A981-4C2E-B77A-D4115F81FAE6}"/>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7e · Niet alle inwoners winnen</a:t>
            </a:r>
          </a:p>
        </p:txBody>
      </p:sp>
      <p:sp>
        <p:nvSpPr>
          <p:cNvPr id="2" name="">
            <a:extLst xmlns:a="http://schemas.openxmlformats.org/drawingml/2006/main">
              <a:ext uri="{FF2B5EF4-FFF2-40B4-BE49-F238E27FC236}">
                <a16:creationId xmlns:a16="http://schemas.microsoft.com/office/drawing/2014/main" id="{9FC81080-710F-4A13-A079-71FBAD12BF79}"/>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 Opgave 7 · Boekpagina 95">
            <a:extLst xmlns:a="http://schemas.openxmlformats.org/drawingml/2006/main">
              <a:ext uri="{FF2B5EF4-FFF2-40B4-BE49-F238E27FC236}">
                <a16:creationId xmlns:a16="http://schemas.microsoft.com/office/drawing/2014/main" id="{06F3A232-7CA8-4793-8CA8-CEA251F2D8DB}"/>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 Opgave 7 · Boekpagina 95</a:t>
            </a:r>
          </a:p>
        </p:txBody>
      </p:sp>
      <p:sp>
        <p:nvSpPr>
          <p:cNvPr id="4" name="slide-number">
            <a:extLst xmlns:a="http://schemas.openxmlformats.org/drawingml/2006/main">
              <a:ext uri="{FF2B5EF4-FFF2-40B4-BE49-F238E27FC236}">
                <a16:creationId xmlns:a16="http://schemas.microsoft.com/office/drawing/2014/main" id="{DDB58F4C-C681-4CFF-B70F-2C86668DE457}"/>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Oordeel: de algemene conclusie is onjuist.">
            <a:extLst xmlns:a="http://schemas.openxmlformats.org/drawingml/2006/main">
              <a:ext uri="{FF2B5EF4-FFF2-40B4-BE49-F238E27FC236}">
                <a16:creationId xmlns:a16="http://schemas.microsoft.com/office/drawing/2014/main" id="{49428736-AD7B-44AC-968D-B6A43C0C457E}"/>
              </a:ext>
            </a:extLst>
          </p:cNvPr>
          <p:cNvSpPr>
            <a:spLocks xmlns:a="http://schemas.openxmlformats.org/drawingml/2006/main" noGrp="1"/>
          </p:cNvSpPr>
          <p:nvPr/>
        </p:nvSpPr>
        <p:spPr>
          <a:xfrm xmlns:a="http://schemas.openxmlformats.org/drawingml/2006/main">
            <a:off x="571500" y="21526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A94D16"/>
                </a:solidFill>
                <a:latin typeface="Arial"/>
                <a:ea typeface="Arial"/>
                <a:cs typeface="Arial"/>
              </a:defRPr>
            </a:pPr>
            <a:r>
              <a:rPr sz="3375" b="1">
                <a:solidFill>
                  <a:srgbClr val="A94D16"/>
                </a:solidFill>
                <a:latin typeface="Arial"/>
                <a:ea typeface="Arial"/>
                <a:cs typeface="Arial"/>
              </a:rPr>
              <a:t>Oordeel: de algemene conclusie is onjuist.</a:t>
            </a:r>
          </a:p>
        </p:txBody>
      </p:sp>
      <p:graphicFrame>
        <p:nvGraphicFramePr>
          <p:cNvPr id="13" name=""/>
          <p:cNvGraphicFramePr/>
          <p:nvPr/>
        </p:nvGraphicFramePr>
        <p:xfrm>
          <a:off xmlns:a="http://schemas.openxmlformats.org/drawingml/2006/main" x="571500" y="3895725"/>
          <a:ext xmlns:a="http://schemas.openxmlformats.org/drawingml/2006/main" cx="14097000" cy="2352675"/>
        </p:xfrm>
        <a:graphic xmlns:a="http://schemas.openxmlformats.org/drawingml/2006/main">
          <a:graphicData uri="http://schemas.openxmlformats.org/drawingml/2006/table">
            <a:tbl>
              <a:tblPr/>
              <a:tblGrid>
                <a:gridCol w="5715000"/>
                <a:gridCol w="8382000"/>
              </a:tblGrid>
              <a:tr h="1176338">
                <a:tc>
                  <a:txBody>
                    <a:bodyPr lIns="171450" tIns="95250" rIns="152400" bIns="95250"/>
                    <a:lstStyle/>
                    <a:p>
                      <a:r>
                        <a:rPr sz="2925" b="1">
                          <a:solidFill>
                            <a:srgbClr val="FFFFFF"/>
                          </a:solidFill>
                          <a:latin typeface="Arial"/>
                          <a:ea typeface="Arial"/>
                          <a:cs typeface="Arial"/>
                        </a:rPr>
                        <a:t>Concrete groep</a:t>
                      </a:r>
                    </a:p>
                  </a:txBody>
                  <a:tcPr marL="91440" marR="91440" marT="45720" marB="45720" anchor="ctr">
                    <a:solidFill>
                      <a:srgbClr val="183247"/>
                    </a:solidFill>
                  </a:tcPr>
                </a:tc>
                <a:tc>
                  <a:txBody>
                    <a:bodyPr lIns="171450" tIns="95250" rIns="152400" bIns="95250"/>
                    <a:lstStyle/>
                    <a:p>
                      <a:r>
                        <a:rPr sz="2925" b="1">
                          <a:solidFill>
                            <a:srgbClr val="FFFFFF"/>
                          </a:solidFill>
                          <a:latin typeface="Arial"/>
                          <a:ea typeface="Arial"/>
                          <a:cs typeface="Arial"/>
                        </a:rPr>
                        <a:t>Brongegeven</a:t>
                      </a:r>
                    </a:p>
                  </a:txBody>
                  <a:tcPr marL="91440" marR="91440" marT="45720" marB="45720" anchor="ctr">
                    <a:solidFill>
                      <a:srgbClr val="183247"/>
                    </a:solidFill>
                  </a:tcPr>
                </a:tc>
              </a:tr>
              <a:tr h="1176338">
                <a:tc>
                  <a:txBody>
                    <a:bodyPr lIns="171450" tIns="95250" rIns="152400" bIns="95250"/>
                    <a:lstStyle/>
                    <a:p>
                      <a:r>
                        <a:rPr sz="2925" b="0">
                          <a:solidFill>
                            <a:srgbClr val="183247"/>
                          </a:solidFill>
                          <a:latin typeface="Arial"/>
                          <a:ea typeface="Arial"/>
                          <a:cs typeface="Arial"/>
                        </a:rPr>
                        <a:t>Jassenmakers in Aster</a:t>
                      </a:r>
                    </a:p>
                  </a:txBody>
                  <a:tcPr marL="91440" marR="91440" marT="45720" marB="45720" anchor="ctr">
                    <a:solidFill>
                      <a:srgbClr val="FFFFFF"/>
                    </a:solidFill>
                  </a:tcPr>
                </a:tc>
                <a:tc>
                  <a:txBody>
                    <a:bodyPr lIns="171450" tIns="95250" rIns="152400" bIns="95250"/>
                    <a:lstStyle/>
                    <a:p>
                      <a:r>
                        <a:rPr sz="2925" b="0">
                          <a:solidFill>
                            <a:srgbClr val="183247"/>
                          </a:solidFill>
                          <a:latin typeface="Arial"/>
                          <a:ea typeface="Arial"/>
                          <a:cs typeface="Arial"/>
                        </a:rPr>
                        <a:t>Zij verwachten klanten te verliezen</a:t>
                      </a:r>
                    </a:p>
                    <a:p>
                      <a:r>
                        <a:rPr sz="2925" b="0">
                          <a:solidFill>
                            <a:srgbClr val="183247"/>
                          </a:solidFill>
                          <a:latin typeface="Arial"/>
                          <a:ea typeface="Arial"/>
                          <a:cs typeface="Arial"/>
                        </a:rPr>
                        <a:t>aan import uit Brin.</a:t>
                      </a:r>
                    </a:p>
                  </a:txBody>
                  <a:tcPr marL="91440" marR="91440" marT="45720" marB="45720" anchor="ctr">
                    <a:solidFill>
                      <a:srgbClr val="FFFFFF"/>
                    </a:solidFill>
                  </a:tcPr>
                </a:tc>
              </a:tr>
            </a:tbl>
          </a:graphicData>
        </a:graphic>
      </p:graphicFrame>
      <p:sp>
        <p:nvSpPr>
          <p:cNvPr id="7" name="Efficiënter produceren bewijst geen voordeel voor elke inwon">
            <a:extLst xmlns:a="http://schemas.openxmlformats.org/drawingml/2006/main">
              <a:ext uri="{FF2B5EF4-FFF2-40B4-BE49-F238E27FC236}">
                <a16:creationId xmlns:a16="http://schemas.microsoft.com/office/drawing/2014/main" id="{1C15B566-4065-4B57-A0CD-D8AE463E6003}"/>
              </a:ext>
            </a:extLst>
          </p:cNvPr>
          <p:cNvSpPr>
            <a:spLocks xmlns:a="http://schemas.openxmlformats.org/drawingml/2006/main" noGrp="1"/>
          </p:cNvSpPr>
          <p:nvPr/>
        </p:nvSpPr>
        <p:spPr>
          <a:xfrm xmlns:a="http://schemas.openxmlformats.org/drawingml/2006/main">
            <a:off x="571500" y="70675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Efficiënter produceren bewijst geen voordeel voor elke inwoner.</a:t>
            </a:r>
          </a:p>
        </p:txBody>
      </p:sp>
    </p:spTree>
    <p:extLst>
      <p:ext uri="{BB962C8B-B14F-4D97-AF65-F5344CB8AC3E}">
        <p14:creationId xmlns:p14="http://schemas.microsoft.com/office/powerpoint/2010/main" val="204970676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C7ACA4E9-9C86-4930-A1C8-40B69A7785FA}"/>
              </a:ext>
            </a:extLst>
          </p:cNvPr>
          <p:cNvSpPr>
            <a:spLocks xmlns:a="http://schemas.openxmlformats.org/drawingml/2006/main" noGrp="1"/>
          </p:cNvSpPr>
          <p:nvPr/>
        </p:nvSpPr>
        <p:spPr>
          <a:xfrm xmlns:a="http://schemas.openxmlformats.org/drawingml/2006/main">
            <a:off x="571500" y="3619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Antwoordcontrole bij opgave 7</a:t>
            </a:r>
          </a:p>
        </p:txBody>
      </p:sp>
      <p:sp>
        <p:nvSpPr>
          <p:cNvPr id="2" name="">
            <a:extLst xmlns:a="http://schemas.openxmlformats.org/drawingml/2006/main">
              <a:ext uri="{FF2B5EF4-FFF2-40B4-BE49-F238E27FC236}">
                <a16:creationId xmlns:a16="http://schemas.microsoft.com/office/drawing/2014/main" id="{B5AC6B75-A326-4C76-85F2-E417027853E6}"/>
              </a:ext>
            </a:extLst>
          </p:cNvPr>
          <p:cNvSpPr>
            <a:spLocks xmlns:a="http://schemas.openxmlformats.org/drawingml/2006/main" noGrp="1"/>
          </p:cNvSpPr>
          <p:nvPr/>
        </p:nvSpPr>
        <p:spPr>
          <a:xfrm xmlns:a="http://schemas.openxmlformats.org/drawingml/2006/main">
            <a:off x="571500" y="1428750"/>
            <a:ext cx="14097000" cy="0"/>
          </a:xfrm>
          <a:prstGeom xmlns:a="http://schemas.openxmlformats.org/drawingml/2006/main" prst="line">
            <a:avLst/>
          </a:prstGeom>
          <a:ln xmlns:a="http://schemas.openxmlformats.org/drawingml/2006/main" w="19050">
            <a:solidFill>
              <a:srgbClr val="C6D2DB"/>
            </a:solidFill>
          </a:ln>
        </p:spPr>
      </p:sp>
      <p:sp>
        <p:nvSpPr>
          <p:cNvPr id="3" name="§3.3.1 Waarom landen handelen">
            <a:extLst xmlns:a="http://schemas.openxmlformats.org/drawingml/2006/main">
              <a:ext uri="{FF2B5EF4-FFF2-40B4-BE49-F238E27FC236}">
                <a16:creationId xmlns:a16="http://schemas.microsoft.com/office/drawing/2014/main" id="{56DB4425-07FC-48C4-B2D6-F27478EDBAC4}"/>
              </a:ext>
            </a:extLst>
          </p:cNvPr>
          <p:cNvSpPr>
            <a:spLocks xmlns:a="http://schemas.openxmlformats.org/drawingml/2006/main" noGrp="1"/>
          </p:cNvSpPr>
          <p:nvPr/>
        </p:nvSpPr>
        <p:spPr>
          <a:xfrm xmlns:a="http://schemas.openxmlformats.org/drawingml/2006/main">
            <a:off x="571500" y="810577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Waarom landen handelen</a:t>
            </a:r>
          </a:p>
        </p:txBody>
      </p:sp>
      <p:sp>
        <p:nvSpPr>
          <p:cNvPr id="4" name="slide-number">
            <a:extLst xmlns:a="http://schemas.openxmlformats.org/drawingml/2006/main">
              <a:ext uri="{FF2B5EF4-FFF2-40B4-BE49-F238E27FC236}">
                <a16:creationId xmlns:a16="http://schemas.microsoft.com/office/drawing/2014/main" id="{DA1D121D-127B-4613-8DD0-F3DEAFB2331B}"/>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a en b">
            <a:extLst xmlns:a="http://schemas.openxmlformats.org/drawingml/2006/main">
              <a:ext uri="{FF2B5EF4-FFF2-40B4-BE49-F238E27FC236}">
                <a16:creationId xmlns:a16="http://schemas.microsoft.com/office/drawing/2014/main" id="{1F0A4B3A-98AD-4CB0-9E58-631FF48639ED}"/>
              </a:ext>
            </a:extLst>
          </p:cNvPr>
          <p:cNvSpPr>
            <a:spLocks xmlns:a="http://schemas.openxmlformats.org/drawingml/2006/main" noGrp="1"/>
          </p:cNvSpPr>
          <p:nvPr/>
        </p:nvSpPr>
        <p:spPr>
          <a:xfrm xmlns:a="http://schemas.openxmlformats.org/drawingml/2006/main">
            <a:off x="571500" y="20097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a en b</a:t>
            </a:r>
          </a:p>
        </p:txBody>
      </p:sp>
      <p:sp>
        <p:nvSpPr>
          <p:cNvPr id="6" name="Middelen én alternatieve kosten duidelijk onderscheiden">
            <a:extLst xmlns:a="http://schemas.openxmlformats.org/drawingml/2006/main">
              <a:ext uri="{FF2B5EF4-FFF2-40B4-BE49-F238E27FC236}">
                <a16:creationId xmlns:a16="http://schemas.microsoft.com/office/drawing/2014/main" id="{926EB39D-C7C6-41B6-82C4-9408C2DE9E0B}"/>
              </a:ext>
            </a:extLst>
          </p:cNvPr>
          <p:cNvSpPr>
            <a:spLocks xmlns:a="http://schemas.openxmlformats.org/drawingml/2006/main" noGrp="1"/>
          </p:cNvSpPr>
          <p:nvPr/>
        </p:nvSpPr>
        <p:spPr>
          <a:xfrm xmlns:a="http://schemas.openxmlformats.org/drawingml/2006/main">
            <a:off x="3429000" y="2009775"/>
            <a:ext cx="111918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Middelen én alternatieve kosten duidelijk onderscheiden</a:t>
            </a:r>
          </a:p>
        </p:txBody>
      </p:sp>
      <p:sp>
        <p:nvSpPr>
          <p:cNvPr id="7" name="c">
            <a:extLst xmlns:a="http://schemas.openxmlformats.org/drawingml/2006/main">
              <a:ext uri="{FF2B5EF4-FFF2-40B4-BE49-F238E27FC236}">
                <a16:creationId xmlns:a16="http://schemas.microsoft.com/office/drawing/2014/main" id="{74F7776E-B670-4CD6-931C-C15E264E613F}"/>
              </a:ext>
            </a:extLst>
          </p:cNvPr>
          <p:cNvSpPr>
            <a:spLocks xmlns:a="http://schemas.openxmlformats.org/drawingml/2006/main" noGrp="1"/>
          </p:cNvSpPr>
          <p:nvPr/>
        </p:nvSpPr>
        <p:spPr>
          <a:xfrm xmlns:a="http://schemas.openxmlformats.org/drawingml/2006/main">
            <a:off x="571500" y="33337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c</a:t>
            </a:r>
          </a:p>
        </p:txBody>
      </p:sp>
      <p:sp>
        <p:nvSpPr>
          <p:cNvPr id="8" name="Specialisatie plus export en import vanuit beide landen">
            <a:extLst xmlns:a="http://schemas.openxmlformats.org/drawingml/2006/main">
              <a:ext uri="{FF2B5EF4-FFF2-40B4-BE49-F238E27FC236}">
                <a16:creationId xmlns:a16="http://schemas.microsoft.com/office/drawing/2014/main" id="{AEB4498B-1346-499D-B7F6-991B0CD09F31}"/>
              </a:ext>
            </a:extLst>
          </p:cNvPr>
          <p:cNvSpPr>
            <a:spLocks xmlns:a="http://schemas.openxmlformats.org/drawingml/2006/main" noGrp="1"/>
          </p:cNvSpPr>
          <p:nvPr/>
        </p:nvSpPr>
        <p:spPr>
          <a:xfrm xmlns:a="http://schemas.openxmlformats.org/drawingml/2006/main">
            <a:off x="3429000" y="3333750"/>
            <a:ext cx="111918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Specialisatie plus export en import vanuit beide landen</a:t>
            </a:r>
          </a:p>
        </p:txBody>
      </p:sp>
      <p:sp>
        <p:nvSpPr>
          <p:cNvPr id="9" name="d">
            <a:extLst xmlns:a="http://schemas.openxmlformats.org/drawingml/2006/main">
              <a:ext uri="{FF2B5EF4-FFF2-40B4-BE49-F238E27FC236}">
                <a16:creationId xmlns:a16="http://schemas.microsoft.com/office/drawing/2014/main" id="{AD61733F-5C1B-4A64-BC0C-5984047157FF}"/>
              </a:ext>
            </a:extLst>
          </p:cNvPr>
          <p:cNvSpPr>
            <a:spLocks xmlns:a="http://schemas.openxmlformats.org/drawingml/2006/main" noGrp="1"/>
          </p:cNvSpPr>
          <p:nvPr/>
        </p:nvSpPr>
        <p:spPr>
          <a:xfrm xmlns:a="http://schemas.openxmlformats.org/drawingml/2006/main">
            <a:off x="571500" y="46577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d</a:t>
            </a:r>
          </a:p>
        </p:txBody>
      </p:sp>
      <p:sp>
        <p:nvSpPr>
          <p:cNvPr id="10" name="Ruilvoorwaarde én betrouwbare levering uitgelegd">
            <a:extLst xmlns:a="http://schemas.openxmlformats.org/drawingml/2006/main">
              <a:ext uri="{FF2B5EF4-FFF2-40B4-BE49-F238E27FC236}">
                <a16:creationId xmlns:a16="http://schemas.microsoft.com/office/drawing/2014/main" id="{B6FB6FE8-DD8E-4FC2-915F-4E562F834BB8}"/>
              </a:ext>
            </a:extLst>
          </p:cNvPr>
          <p:cNvSpPr>
            <a:spLocks xmlns:a="http://schemas.openxmlformats.org/drawingml/2006/main" noGrp="1"/>
          </p:cNvSpPr>
          <p:nvPr/>
        </p:nvSpPr>
        <p:spPr>
          <a:xfrm xmlns:a="http://schemas.openxmlformats.org/drawingml/2006/main">
            <a:off x="3429000" y="4657725"/>
            <a:ext cx="111918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Ruilvoorwaarde én betrouwbare levering uitgelegd</a:t>
            </a:r>
          </a:p>
        </p:txBody>
      </p:sp>
      <p:sp>
        <p:nvSpPr>
          <p:cNvPr id="11" name="e">
            <a:extLst xmlns:a="http://schemas.openxmlformats.org/drawingml/2006/main">
              <a:ext uri="{FF2B5EF4-FFF2-40B4-BE49-F238E27FC236}">
                <a16:creationId xmlns:a16="http://schemas.microsoft.com/office/drawing/2014/main" id="{ED13135D-4230-49A2-AD04-DC1613A5416C}"/>
              </a:ext>
            </a:extLst>
          </p:cNvPr>
          <p:cNvSpPr>
            <a:spLocks xmlns:a="http://schemas.openxmlformats.org/drawingml/2006/main" noGrp="1"/>
          </p:cNvSpPr>
          <p:nvPr/>
        </p:nvSpPr>
        <p:spPr>
          <a:xfrm xmlns:a="http://schemas.openxmlformats.org/drawingml/2006/main">
            <a:off x="571500" y="598170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e</a:t>
            </a:r>
          </a:p>
        </p:txBody>
      </p:sp>
      <p:sp>
        <p:nvSpPr>
          <p:cNvPr id="12" name="Oordeel met de jassenmakers in Aster onderbouwd">
            <a:extLst xmlns:a="http://schemas.openxmlformats.org/drawingml/2006/main">
              <a:ext uri="{FF2B5EF4-FFF2-40B4-BE49-F238E27FC236}">
                <a16:creationId xmlns:a16="http://schemas.microsoft.com/office/drawing/2014/main" id="{33B7C037-4CC8-4173-9458-797E35059624}"/>
              </a:ext>
            </a:extLst>
          </p:cNvPr>
          <p:cNvSpPr>
            <a:spLocks xmlns:a="http://schemas.openxmlformats.org/drawingml/2006/main" noGrp="1"/>
          </p:cNvSpPr>
          <p:nvPr/>
        </p:nvSpPr>
        <p:spPr>
          <a:xfrm xmlns:a="http://schemas.openxmlformats.org/drawingml/2006/main">
            <a:off x="3429000" y="5981700"/>
            <a:ext cx="111918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Oordeel met de jassenmakers in Aster onderbouwd</a:t>
            </a:r>
          </a:p>
        </p:txBody>
      </p:sp>
      <p:sp>
        <p:nvSpPr>
          <p:cNvPr id="13" name="Verbeter één ontbrekend bronfeit of één ontbrekende verklari">
            <a:extLst xmlns:a="http://schemas.openxmlformats.org/drawingml/2006/main">
              <a:ext uri="{FF2B5EF4-FFF2-40B4-BE49-F238E27FC236}">
                <a16:creationId xmlns:a16="http://schemas.microsoft.com/office/drawing/2014/main" id="{42B7F3EE-211A-4708-9C27-323949DC6E53}"/>
              </a:ext>
            </a:extLst>
          </p:cNvPr>
          <p:cNvSpPr>
            <a:spLocks xmlns:a="http://schemas.openxmlformats.org/drawingml/2006/main" noGrp="1"/>
          </p:cNvSpPr>
          <p:nvPr/>
        </p:nvSpPr>
        <p:spPr>
          <a:xfrm xmlns:a="http://schemas.openxmlformats.org/drawingml/2006/main">
            <a:off x="571500" y="741045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Verbeter één ontbrekend bronfeit of één ontbrekende verklaring.</a:t>
            </a:r>
          </a:p>
        </p:txBody>
      </p:sp>
    </p:spTree>
    <p:extLst>
      <p:ext uri="{BB962C8B-B14F-4D97-AF65-F5344CB8AC3E}">
        <p14:creationId xmlns:p14="http://schemas.microsoft.com/office/powerpoint/2010/main" val="39644570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lide-title">
            <a:extLst xmlns:a="http://schemas.openxmlformats.org/drawingml/2006/main">
              <a:ext uri="{FF2B5EF4-FFF2-40B4-BE49-F238E27FC236}">
                <a16:creationId xmlns:a16="http://schemas.microsoft.com/office/drawing/2014/main" id="{E31972AE-2E21-4303-94FB-4FD01316CB8A}"/>
              </a:ext>
            </a:extLst>
          </p:cNvPr>
          <p:cNvSpPr>
            <a:spLocks xmlns:a="http://schemas.openxmlformats.org/drawingml/2006/main" noGrp="1"/>
          </p:cNvSpPr>
          <p:nvPr/>
        </p:nvSpPr>
        <p:spPr>
          <a:xfrm xmlns:a="http://schemas.openxmlformats.org/drawingml/2006/main">
            <a:off x="571500" y="266700"/>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§3.3.1 Waarom landen handelen:</a:t>
            </a:r>
          </a:p>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specialisatie en concurrentiepositie</a:t>
            </a:r>
          </a:p>
        </p:txBody>
      </p:sp>
      <p:sp>
        <p:nvSpPr>
          <p:cNvPr id="2" name="phase">
            <a:extLst xmlns:a="http://schemas.openxmlformats.org/drawingml/2006/main">
              <a:ext uri="{FF2B5EF4-FFF2-40B4-BE49-F238E27FC236}">
                <a16:creationId xmlns:a16="http://schemas.microsoft.com/office/drawing/2014/main" id="{E60DF6E2-5E24-4BA2-8748-5D303E2AFD94}"/>
              </a:ext>
            </a:extLst>
          </p:cNvPr>
          <p:cNvSpPr>
            <a:spLocks xmlns:a="http://schemas.openxmlformats.org/drawingml/2006/main" noGrp="1"/>
          </p:cNvSpPr>
          <p:nvPr/>
        </p:nvSpPr>
        <p:spPr>
          <a:xfrm xmlns:a="http://schemas.openxmlformats.org/drawingml/2006/main">
            <a:off x="571500" y="137160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3" name="">
            <a:extLst xmlns:a="http://schemas.openxmlformats.org/drawingml/2006/main">
              <a:ext uri="{FF2B5EF4-FFF2-40B4-BE49-F238E27FC236}">
                <a16:creationId xmlns:a16="http://schemas.microsoft.com/office/drawing/2014/main" id="{CAC0A2F8-AE69-485C-A4B0-A451E8CA7965}"/>
              </a:ext>
            </a:extLst>
          </p:cNvPr>
          <p:cNvSpPr>
            <a:spLocks xmlns:a="http://schemas.openxmlformats.org/drawingml/2006/main" noGrp="1"/>
          </p:cNvSpPr>
          <p:nvPr/>
        </p:nvSpPr>
        <p:spPr>
          <a:xfrm xmlns:a="http://schemas.openxmlformats.org/drawingml/2006/main">
            <a:off x="571500" y="1847850"/>
            <a:ext cx="14097000" cy="0"/>
          </a:xfrm>
          <a:prstGeom xmlns:a="http://schemas.openxmlformats.org/drawingml/2006/main" prst="line">
            <a:avLst/>
          </a:prstGeom>
          <a:ln xmlns:a="http://schemas.openxmlformats.org/drawingml/2006/main" w="19050">
            <a:solidFill>
              <a:srgbClr val="C6D2DB"/>
            </a:solidFill>
          </a:ln>
        </p:spPr>
      </p:sp>
      <p:sp>
        <p:nvSpPr>
          <p:cNvPr id="4" name="Lesroute">
            <a:extLst xmlns:a="http://schemas.openxmlformats.org/drawingml/2006/main">
              <a:ext uri="{FF2B5EF4-FFF2-40B4-BE49-F238E27FC236}">
                <a16:creationId xmlns:a16="http://schemas.microsoft.com/office/drawing/2014/main" id="{467829D2-A142-4353-BEBB-8F91619EDC1B}"/>
              </a:ext>
            </a:extLst>
          </p:cNvPr>
          <p:cNvSpPr>
            <a:spLocks xmlns:a="http://schemas.openxmlformats.org/drawingml/2006/main" noGrp="1"/>
          </p:cNvSpPr>
          <p:nvPr/>
        </p:nvSpPr>
        <p:spPr>
          <a:xfrm xmlns:a="http://schemas.openxmlformats.org/drawingml/2006/main">
            <a:off x="571500" y="2076450"/>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5" name="route-number-1">
            <a:extLst xmlns:a="http://schemas.openxmlformats.org/drawingml/2006/main">
              <a:ext uri="{FF2B5EF4-FFF2-40B4-BE49-F238E27FC236}">
                <a16:creationId xmlns:a16="http://schemas.microsoft.com/office/drawing/2014/main" id="{C15C511F-4BC8-4B9D-8F9D-C010CE169E9C}"/>
              </a:ext>
            </a:extLst>
          </p:cNvPr>
          <p:cNvSpPr>
            <a:spLocks xmlns:a="http://schemas.openxmlformats.org/drawingml/2006/main" noGrp="1"/>
          </p:cNvSpPr>
          <p:nvPr/>
        </p:nvSpPr>
        <p:spPr>
          <a:xfrm xmlns:a="http://schemas.openxmlformats.org/drawingml/2006/main">
            <a:off x="571500" y="2638425"/>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6" name="route-1">
            <a:extLst xmlns:a="http://schemas.openxmlformats.org/drawingml/2006/main">
              <a:ext uri="{FF2B5EF4-FFF2-40B4-BE49-F238E27FC236}">
                <a16:creationId xmlns:a16="http://schemas.microsoft.com/office/drawing/2014/main" id="{A4D201AE-52C4-483B-B875-5E12D5E924EC}"/>
              </a:ext>
            </a:extLst>
          </p:cNvPr>
          <p:cNvSpPr>
            <a:spLocks xmlns:a="http://schemas.openxmlformats.org/drawingml/2006/main" noGrp="1"/>
          </p:cNvSpPr>
          <p:nvPr/>
        </p:nvSpPr>
        <p:spPr>
          <a:xfrm xmlns:a="http://schemas.openxmlformats.org/drawingml/2006/main">
            <a:off x="1104900" y="2638425"/>
            <a:ext cx="7667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7" name="route-number-2">
            <a:extLst xmlns:a="http://schemas.openxmlformats.org/drawingml/2006/main">
              <a:ext uri="{FF2B5EF4-FFF2-40B4-BE49-F238E27FC236}">
                <a16:creationId xmlns:a16="http://schemas.microsoft.com/office/drawing/2014/main" id="{223960A8-E6D7-4527-A8F4-7724D5DE2DBB}"/>
              </a:ext>
            </a:extLst>
          </p:cNvPr>
          <p:cNvSpPr>
            <a:spLocks xmlns:a="http://schemas.openxmlformats.org/drawingml/2006/main" noGrp="1"/>
          </p:cNvSpPr>
          <p:nvPr/>
        </p:nvSpPr>
        <p:spPr>
          <a:xfrm xmlns:a="http://schemas.openxmlformats.org/drawingml/2006/main">
            <a:off x="571500" y="34766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8" name="route-2">
            <a:extLst xmlns:a="http://schemas.openxmlformats.org/drawingml/2006/main">
              <a:ext uri="{FF2B5EF4-FFF2-40B4-BE49-F238E27FC236}">
                <a16:creationId xmlns:a16="http://schemas.microsoft.com/office/drawing/2014/main" id="{82D45BEB-E1BA-4196-82C2-CEAAB3EF96F0}"/>
              </a:ext>
            </a:extLst>
          </p:cNvPr>
          <p:cNvSpPr>
            <a:spLocks xmlns:a="http://schemas.openxmlformats.org/drawingml/2006/main" noGrp="1"/>
          </p:cNvSpPr>
          <p:nvPr/>
        </p:nvSpPr>
        <p:spPr>
          <a:xfrm xmlns:a="http://schemas.openxmlformats.org/drawingml/2006/main">
            <a:off x="1104900" y="3476625"/>
            <a:ext cx="766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9" name="route-number-3">
            <a:extLst xmlns:a="http://schemas.openxmlformats.org/drawingml/2006/main">
              <a:ext uri="{FF2B5EF4-FFF2-40B4-BE49-F238E27FC236}">
                <a16:creationId xmlns:a16="http://schemas.microsoft.com/office/drawing/2014/main" id="{6B032A3D-2023-4645-8C76-934EF2C5AEBE}"/>
              </a:ext>
            </a:extLst>
          </p:cNvPr>
          <p:cNvSpPr>
            <a:spLocks xmlns:a="http://schemas.openxmlformats.org/drawingml/2006/main" noGrp="1"/>
          </p:cNvSpPr>
          <p:nvPr/>
        </p:nvSpPr>
        <p:spPr>
          <a:xfrm xmlns:a="http://schemas.openxmlformats.org/drawingml/2006/main">
            <a:off x="571500" y="39719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0" name="route-3">
            <a:extLst xmlns:a="http://schemas.openxmlformats.org/drawingml/2006/main">
              <a:ext uri="{FF2B5EF4-FFF2-40B4-BE49-F238E27FC236}">
                <a16:creationId xmlns:a16="http://schemas.microsoft.com/office/drawing/2014/main" id="{0896FEC5-E27C-4D5A-BF0E-97630982D53C}"/>
              </a:ext>
            </a:extLst>
          </p:cNvPr>
          <p:cNvSpPr>
            <a:spLocks xmlns:a="http://schemas.openxmlformats.org/drawingml/2006/main" noGrp="1"/>
          </p:cNvSpPr>
          <p:nvPr/>
        </p:nvSpPr>
        <p:spPr>
          <a:xfrm xmlns:a="http://schemas.openxmlformats.org/drawingml/2006/main">
            <a:off x="1104900" y="3971925"/>
            <a:ext cx="766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1" name="route-number-4">
            <a:extLst xmlns:a="http://schemas.openxmlformats.org/drawingml/2006/main">
              <a:ext uri="{FF2B5EF4-FFF2-40B4-BE49-F238E27FC236}">
                <a16:creationId xmlns:a16="http://schemas.microsoft.com/office/drawing/2014/main" id="{6A61BBA7-ABAA-448C-896D-1210651D3C19}"/>
              </a:ext>
            </a:extLst>
          </p:cNvPr>
          <p:cNvSpPr>
            <a:spLocks xmlns:a="http://schemas.openxmlformats.org/drawingml/2006/main" noGrp="1"/>
          </p:cNvSpPr>
          <p:nvPr/>
        </p:nvSpPr>
        <p:spPr>
          <a:xfrm xmlns:a="http://schemas.openxmlformats.org/drawingml/2006/main">
            <a:off x="571500" y="4467225"/>
            <a:ext cx="4572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2" name="route-4">
            <a:extLst xmlns:a="http://schemas.openxmlformats.org/drawingml/2006/main">
              <a:ext uri="{FF2B5EF4-FFF2-40B4-BE49-F238E27FC236}">
                <a16:creationId xmlns:a16="http://schemas.microsoft.com/office/drawing/2014/main" id="{6E0CA136-1199-42D9-ADB3-6FC1369DD45A}"/>
              </a:ext>
            </a:extLst>
          </p:cNvPr>
          <p:cNvSpPr>
            <a:spLocks xmlns:a="http://schemas.openxmlformats.org/drawingml/2006/main" noGrp="1"/>
          </p:cNvSpPr>
          <p:nvPr/>
        </p:nvSpPr>
        <p:spPr>
          <a:xfrm xmlns:a="http://schemas.openxmlformats.org/drawingml/2006/main">
            <a:off x="1104900" y="4467225"/>
            <a:ext cx="76676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Lukt dat goed, ga dan naar de zelfstandige oefening.</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daarna de doelopgave en kijk vervolgens je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antwoorden na.</a:t>
            </a:r>
          </a:p>
        </p:txBody>
      </p:sp>
      <p:sp>
        <p:nvSpPr>
          <p:cNvPr id="13" name="route-number-5">
            <a:extLst xmlns:a="http://schemas.openxmlformats.org/drawingml/2006/main">
              <a:ext uri="{FF2B5EF4-FFF2-40B4-BE49-F238E27FC236}">
                <a16:creationId xmlns:a16="http://schemas.microsoft.com/office/drawing/2014/main" id="{3CF6BBAA-72F8-46FA-9B80-6E379B6A9F26}"/>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4" name="route-5">
            <a:extLst xmlns:a="http://schemas.openxmlformats.org/drawingml/2006/main">
              <a:ext uri="{FF2B5EF4-FFF2-40B4-BE49-F238E27FC236}">
                <a16:creationId xmlns:a16="http://schemas.microsoft.com/office/drawing/2014/main" id="{18A26DF3-3819-4FFD-A0BF-BF0C1C950F70}"/>
              </a:ext>
            </a:extLst>
          </p:cNvPr>
          <p:cNvSpPr>
            <a:spLocks xmlns:a="http://schemas.openxmlformats.org/drawingml/2006/main" noGrp="1"/>
          </p:cNvSpPr>
          <p:nvPr/>
        </p:nvSpPr>
        <p:spPr>
          <a:xfrm xmlns:a="http://schemas.openxmlformats.org/drawingml/2006/main">
            <a:off x="1104900" y="6057900"/>
            <a:ext cx="7667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5" name="route-number-6">
            <a:extLst xmlns:a="http://schemas.openxmlformats.org/drawingml/2006/main">
              <a:ext uri="{FF2B5EF4-FFF2-40B4-BE49-F238E27FC236}">
                <a16:creationId xmlns:a16="http://schemas.microsoft.com/office/drawing/2014/main" id="{74FE818F-69A7-48B1-9B8E-02EB0311467B}"/>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6" name="route-6">
            <a:extLst xmlns:a="http://schemas.openxmlformats.org/drawingml/2006/main">
              <a:ext uri="{FF2B5EF4-FFF2-40B4-BE49-F238E27FC236}">
                <a16:creationId xmlns:a16="http://schemas.microsoft.com/office/drawing/2014/main" id="{70E1744F-1BD8-4719-8B82-F67D7FF51E3B}"/>
              </a:ext>
            </a:extLst>
          </p:cNvPr>
          <p:cNvSpPr>
            <a:spLocks xmlns:a="http://schemas.openxmlformats.org/drawingml/2006/main" noGrp="1"/>
          </p:cNvSpPr>
          <p:nvPr/>
        </p:nvSpPr>
        <p:spPr>
          <a:xfrm xmlns:a="http://schemas.openxmlformats.org/drawingml/2006/main">
            <a:off x="1104900" y="6819900"/>
            <a:ext cx="7667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7" name="route-number-7">
            <a:extLst xmlns:a="http://schemas.openxmlformats.org/drawingml/2006/main">
              <a:ext uri="{FF2B5EF4-FFF2-40B4-BE49-F238E27FC236}">
                <a16:creationId xmlns:a16="http://schemas.microsoft.com/office/drawing/2014/main" id="{242ED52C-09BA-4A91-B767-D96D93AA7D9F}"/>
              </a:ext>
            </a:extLst>
          </p:cNvPr>
          <p:cNvSpPr>
            <a:spLocks xmlns:a="http://schemas.openxmlformats.org/drawingml/2006/main" noGrp="1"/>
          </p:cNvSpPr>
          <p:nvPr/>
        </p:nvSpPr>
        <p:spPr>
          <a:xfrm xmlns:a="http://schemas.openxmlformats.org/drawingml/2006/main">
            <a:off x="571500" y="74104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18" name="route-7">
            <a:extLst xmlns:a="http://schemas.openxmlformats.org/drawingml/2006/main">
              <a:ext uri="{FF2B5EF4-FFF2-40B4-BE49-F238E27FC236}">
                <a16:creationId xmlns:a16="http://schemas.microsoft.com/office/drawing/2014/main" id="{9B2B3469-16A0-466C-8C4B-AE2FE672746A}"/>
              </a:ext>
            </a:extLst>
          </p:cNvPr>
          <p:cNvSpPr>
            <a:spLocks xmlns:a="http://schemas.openxmlformats.org/drawingml/2006/main" noGrp="1"/>
          </p:cNvSpPr>
          <p:nvPr/>
        </p:nvSpPr>
        <p:spPr>
          <a:xfrm xmlns:a="http://schemas.openxmlformats.org/drawingml/2006/main">
            <a:off x="1104900" y="7410450"/>
            <a:ext cx="7667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19" name="Lesdoelen">
            <a:extLst xmlns:a="http://schemas.openxmlformats.org/drawingml/2006/main">
              <a:ext uri="{FF2B5EF4-FFF2-40B4-BE49-F238E27FC236}">
                <a16:creationId xmlns:a16="http://schemas.microsoft.com/office/drawing/2014/main" id="{D1A38A92-B3DB-4DF5-A088-D2DAC87150FB}"/>
              </a:ext>
            </a:extLst>
          </p:cNvPr>
          <p:cNvSpPr>
            <a:spLocks xmlns:a="http://schemas.openxmlformats.org/drawingml/2006/main" noGrp="1"/>
          </p:cNvSpPr>
          <p:nvPr/>
        </p:nvSpPr>
        <p:spPr>
          <a:xfrm xmlns:a="http://schemas.openxmlformats.org/drawingml/2006/main">
            <a:off x="9258300" y="20764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0" name="overview-goals">
            <a:extLst xmlns:a="http://schemas.openxmlformats.org/drawingml/2006/main">
              <a:ext uri="{FF2B5EF4-FFF2-40B4-BE49-F238E27FC236}">
                <a16:creationId xmlns:a16="http://schemas.microsoft.com/office/drawing/2014/main" id="{5E43B166-8F0A-407E-B0C0-A63B5473B585}"/>
              </a:ext>
            </a:extLst>
          </p:cNvPr>
          <p:cNvSpPr>
            <a:spLocks xmlns:a="http://schemas.openxmlformats.org/drawingml/2006/main" noGrp="1"/>
          </p:cNvSpPr>
          <p:nvPr/>
        </p:nvSpPr>
        <p:spPr>
          <a:xfrm xmlns:a="http://schemas.openxmlformats.org/drawingml/2006/main">
            <a:off x="9258300" y="2638425"/>
            <a:ext cx="54102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Handelsstromen benoemen,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voordelen onderscheiden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specialisatie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Bronuitspraken beoordelen.</a:t>
            </a:r>
          </a:p>
        </p:txBody>
      </p:sp>
      <p:sp>
        <p:nvSpPr>
          <p:cNvPr id="21" name="">
            <a:extLst xmlns:a="http://schemas.openxmlformats.org/drawingml/2006/main">
              <a:ext uri="{FF2B5EF4-FFF2-40B4-BE49-F238E27FC236}">
                <a16:creationId xmlns:a16="http://schemas.microsoft.com/office/drawing/2014/main" id="{4D86EB98-6DDC-4FBF-95DF-08A4A72CE0FA}"/>
              </a:ext>
            </a:extLst>
          </p:cNvPr>
          <p:cNvSpPr>
            <a:spLocks xmlns:a="http://schemas.openxmlformats.org/drawingml/2006/main" noGrp="1"/>
          </p:cNvSpPr>
          <p:nvPr/>
        </p:nvSpPr>
        <p:spPr>
          <a:xfrm xmlns:a="http://schemas.openxmlformats.org/drawingml/2006/main">
            <a:off x="9258300" y="4143375"/>
            <a:ext cx="5410200" cy="0"/>
          </a:xfrm>
          <a:prstGeom xmlns:a="http://schemas.openxmlformats.org/drawingml/2006/main" prst="line">
            <a:avLst/>
          </a:prstGeom>
          <a:ln xmlns:a="http://schemas.openxmlformats.org/drawingml/2006/main" w="19050">
            <a:solidFill>
              <a:srgbClr val="C6D2DB"/>
            </a:solidFill>
          </a:ln>
        </p:spPr>
      </p:sp>
      <p:sp>
        <p:nvSpPr>
          <p:cNvPr id="22" name="Startopdracht">
            <a:extLst xmlns:a="http://schemas.openxmlformats.org/drawingml/2006/main">
              <a:ext uri="{FF2B5EF4-FFF2-40B4-BE49-F238E27FC236}">
                <a16:creationId xmlns:a16="http://schemas.microsoft.com/office/drawing/2014/main" id="{90393055-28C0-470E-BDD5-2A8A88251A18}"/>
              </a:ext>
            </a:extLst>
          </p:cNvPr>
          <p:cNvSpPr>
            <a:spLocks xmlns:a="http://schemas.openxmlformats.org/drawingml/2006/main" noGrp="1"/>
          </p:cNvSpPr>
          <p:nvPr/>
        </p:nvSpPr>
        <p:spPr>
          <a:xfrm xmlns:a="http://schemas.openxmlformats.org/drawingml/2006/main">
            <a:off x="9258300" y="43910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3" name="overview-start">
            <a:extLst xmlns:a="http://schemas.openxmlformats.org/drawingml/2006/main">
              <a:ext uri="{FF2B5EF4-FFF2-40B4-BE49-F238E27FC236}">
                <a16:creationId xmlns:a16="http://schemas.microsoft.com/office/drawing/2014/main" id="{3020DC5F-DEEF-4402-8210-FDEACE7EE97D}"/>
              </a:ext>
            </a:extLst>
          </p:cNvPr>
          <p:cNvSpPr>
            <a:spLocks xmlns:a="http://schemas.openxmlformats.org/drawingml/2006/main" noGrp="1"/>
          </p:cNvSpPr>
          <p:nvPr/>
        </p:nvSpPr>
        <p:spPr>
          <a:xfrm xmlns:a="http://schemas.openxmlformats.org/drawingml/2006/main">
            <a:off x="9258300" y="4933950"/>
            <a:ext cx="54102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92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met theorie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 p. 88–90</a:t>
            </a:r>
          </a:p>
        </p:txBody>
      </p:sp>
      <p:sp>
        <p:nvSpPr>
          <p:cNvPr id="24" name="">
            <a:extLst xmlns:a="http://schemas.openxmlformats.org/drawingml/2006/main">
              <a:ext uri="{FF2B5EF4-FFF2-40B4-BE49-F238E27FC236}">
                <a16:creationId xmlns:a16="http://schemas.microsoft.com/office/drawing/2014/main" id="{93829D7E-DE29-4BDF-AB55-DA9985F59A31}"/>
              </a:ext>
            </a:extLst>
          </p:cNvPr>
          <p:cNvSpPr>
            <a:spLocks xmlns:a="http://schemas.openxmlformats.org/drawingml/2006/main" noGrp="1"/>
          </p:cNvSpPr>
          <p:nvPr/>
        </p:nvSpPr>
        <p:spPr>
          <a:xfrm xmlns:a="http://schemas.openxmlformats.org/drawingml/2006/main">
            <a:off x="9258300" y="6086475"/>
            <a:ext cx="5410200" cy="0"/>
          </a:xfrm>
          <a:prstGeom xmlns:a="http://schemas.openxmlformats.org/drawingml/2006/main" prst="line">
            <a:avLst/>
          </a:prstGeom>
          <a:ln xmlns:a="http://schemas.openxmlformats.org/drawingml/2006/main" w="19050">
            <a:solidFill>
              <a:srgbClr val="C6D2DB"/>
            </a:solidFill>
          </a:ln>
        </p:spPr>
      </p:sp>
      <p:sp>
        <p:nvSpPr>
          <p:cNvPr id="25" name="Huiswerk">
            <a:extLst xmlns:a="http://schemas.openxmlformats.org/drawingml/2006/main">
              <a:ext uri="{FF2B5EF4-FFF2-40B4-BE49-F238E27FC236}">
                <a16:creationId xmlns:a16="http://schemas.microsoft.com/office/drawing/2014/main" id="{042B38A2-59C6-42F9-A318-90259FAAC68C}"/>
              </a:ext>
            </a:extLst>
          </p:cNvPr>
          <p:cNvSpPr>
            <a:spLocks xmlns:a="http://schemas.openxmlformats.org/drawingml/2006/main" noGrp="1"/>
          </p:cNvSpPr>
          <p:nvPr/>
        </p:nvSpPr>
        <p:spPr>
          <a:xfrm xmlns:a="http://schemas.openxmlformats.org/drawingml/2006/main">
            <a:off x="9258300" y="61722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6" name="overview-homework">
            <a:extLst xmlns:a="http://schemas.openxmlformats.org/drawingml/2006/main">
              <a:ext uri="{FF2B5EF4-FFF2-40B4-BE49-F238E27FC236}">
                <a16:creationId xmlns:a16="http://schemas.microsoft.com/office/drawing/2014/main" id="{7AAA4941-F899-4CF5-9614-08EA99AEA4BF}"/>
              </a:ext>
            </a:extLst>
          </p:cNvPr>
          <p:cNvSpPr>
            <a:spLocks xmlns:a="http://schemas.openxmlformats.org/drawingml/2006/main" noGrp="1"/>
          </p:cNvSpPr>
          <p:nvPr/>
        </p:nvSpPr>
        <p:spPr>
          <a:xfrm xmlns:a="http://schemas.openxmlformats.org/drawingml/2006/main">
            <a:off x="9258300" y="6667500"/>
            <a:ext cx="54102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§3.3.1 · Maken en nakijken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p:txBody>
      </p:sp>
      <p:sp>
        <p:nvSpPr>
          <p:cNvPr id="27" name="§3.3.1 Waarom landen handelen">
            <a:extLst xmlns:a="http://schemas.openxmlformats.org/drawingml/2006/main">
              <a:ext uri="{FF2B5EF4-FFF2-40B4-BE49-F238E27FC236}">
                <a16:creationId xmlns:a16="http://schemas.microsoft.com/office/drawing/2014/main" id="{D31013AC-D665-42D0-825C-5361BA421223}"/>
              </a:ext>
            </a:extLst>
          </p:cNvPr>
          <p:cNvSpPr>
            <a:spLocks xmlns:a="http://schemas.openxmlformats.org/drawingml/2006/main" noGrp="1"/>
          </p:cNvSpPr>
          <p:nvPr/>
        </p:nvSpPr>
        <p:spPr>
          <a:xfrm xmlns:a="http://schemas.openxmlformats.org/drawingml/2006/main">
            <a:off x="571500" y="813435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§3.3.1 Waarom landen handelen</a:t>
            </a:r>
          </a:p>
        </p:txBody>
      </p:sp>
      <p:sp>
        <p:nvSpPr>
          <p:cNvPr id="28" name="slide-number">
            <a:extLst xmlns:a="http://schemas.openxmlformats.org/drawingml/2006/main">
              <a:ext uri="{FF2B5EF4-FFF2-40B4-BE49-F238E27FC236}">
                <a16:creationId xmlns:a16="http://schemas.microsoft.com/office/drawing/2014/main" id="{A1C2E5A3-5A50-4470-898D-487D3004B3FD}"/>
              </a:ext>
            </a:extLst>
          </p:cNvPr>
          <p:cNvSpPr>
            <a:spLocks xmlns:a="http://schemas.openxmlformats.org/drawingml/2006/main" noGrp="1"/>
          </p:cNvSpPr>
          <p:nvPr/>
        </p:nvSpPr>
        <p:spPr>
          <a:xfrm xmlns:a="http://schemas.openxmlformats.org/drawingml/2006/main">
            <a:off x="14001750" y="81057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spTree>
    <p:extLst>
      <p:ext uri="{BB962C8B-B14F-4D97-AF65-F5344CB8AC3E}">
        <p14:creationId xmlns:p14="http://schemas.microsoft.com/office/powerpoint/2010/main" val="10176150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2026-10-01T10:36:19.1950000Z</dcterms:created>
  <dcterms:modified xsi:type="dcterms:W3CDTF">2026-10-01T10:36:19.1950000Z</dcterms:modified>
</coreProperties>
</file>