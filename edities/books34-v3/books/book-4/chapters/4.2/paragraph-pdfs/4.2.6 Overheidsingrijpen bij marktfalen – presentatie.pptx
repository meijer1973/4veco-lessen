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322c11c4c9499d" /><Relationship Type="http://schemas.openxmlformats.org/officeDocument/2006/relationships/extended-properties" Target="/docProps/app.xml" Id="R6de8e39b5029417a" /><Relationship Type="http://schemas.openxmlformats.org/officeDocument/2006/relationships/officeDocument" Target="/ppt/presentation.xml" Id="Rf2fd1aefad1a47bc" /></Relationships>
</file>

<file path=ppt/presentation.xml><?xml version="1.0" encoding="utf-8"?>
<p:presentation xmlns:p="http://schemas.openxmlformats.org/presentationml/2006/main">
  <p:sldMasterIdLst>
    <p:sldMasterId xmlns:r="http://schemas.openxmlformats.org/officeDocument/2006/relationships" id="2147483648" r:id="Rf26e6b1efd0341f3"/>
  </p:sldMasterIdLst>
  <p:notesMasterIdLst>
    <p:notesMasterId xmlns:r="http://schemas.openxmlformats.org/officeDocument/2006/relationships" r:id="R199a97140ed34672"/>
  </p:notesMasterIdLst>
  <p:sldIdLst>
    <p:sldId xmlns:r="http://schemas.openxmlformats.org/officeDocument/2006/relationships" id="256" r:id="R15405c7810064d1a"/>
    <p:sldId xmlns:r="http://schemas.openxmlformats.org/officeDocument/2006/relationships" id="257" r:id="R0a64216d806b4c74"/>
    <p:sldId xmlns:r="http://schemas.openxmlformats.org/officeDocument/2006/relationships" id="258" r:id="R26fafc3229294eb8"/>
    <p:sldId xmlns:r="http://schemas.openxmlformats.org/officeDocument/2006/relationships" id="259" r:id="R94870b48dfcc4f89"/>
    <p:sldId xmlns:r="http://schemas.openxmlformats.org/officeDocument/2006/relationships" id="260" r:id="Rc802248415514a4f"/>
    <p:sldId xmlns:r="http://schemas.openxmlformats.org/officeDocument/2006/relationships" id="261" r:id="R441e1824397343c6"/>
    <p:sldId xmlns:r="http://schemas.openxmlformats.org/officeDocument/2006/relationships" id="262" r:id="R8192fc38ddd845d9"/>
    <p:sldId xmlns:r="http://schemas.openxmlformats.org/officeDocument/2006/relationships" id="263" r:id="R38e5dbf0168a4079"/>
    <p:sldId xmlns:r="http://schemas.openxmlformats.org/officeDocument/2006/relationships" id="264" r:id="R0f8d9098c4544b2d"/>
    <p:sldId xmlns:r="http://schemas.openxmlformats.org/officeDocument/2006/relationships" id="265" r:id="Rd8cbc2d9fad14688"/>
    <p:sldId xmlns:r="http://schemas.openxmlformats.org/officeDocument/2006/relationships" id="266" r:id="R39d82c40880c4e93"/>
    <p:sldId xmlns:r="http://schemas.openxmlformats.org/officeDocument/2006/relationships" id="267" r:id="R6d081d2a04b94e92"/>
    <p:sldId xmlns:r="http://schemas.openxmlformats.org/officeDocument/2006/relationships" id="268" r:id="R0453ddb2d9ca4ced"/>
    <p:sldId xmlns:r="http://schemas.openxmlformats.org/officeDocument/2006/relationships" id="269" r:id="R23ea9811a05d4efb"/>
    <p:sldId xmlns:r="http://schemas.openxmlformats.org/officeDocument/2006/relationships" id="270" r:id="Re59b2c34ea1d45f8"/>
    <p:sldId xmlns:r="http://schemas.openxmlformats.org/officeDocument/2006/relationships" id="271" r:id="R13e76e9b642a43cb"/>
    <p:sldId xmlns:r="http://schemas.openxmlformats.org/officeDocument/2006/relationships" id="272" r:id="R4b2a7e7806e14813"/>
    <p:sldId xmlns:r="http://schemas.openxmlformats.org/officeDocument/2006/relationships" id="273" r:id="Raebf37ed48d84929"/>
    <p:sldId xmlns:r="http://schemas.openxmlformats.org/officeDocument/2006/relationships" id="274" r:id="R86ef2335c6a84647"/>
    <p:sldId xmlns:r="http://schemas.openxmlformats.org/officeDocument/2006/relationships" id="275" r:id="Rc8a4a8e90d8c4d6d"/>
    <p:sldId xmlns:r="http://schemas.openxmlformats.org/officeDocument/2006/relationships" id="276" r:id="R683a997c03ab4d89"/>
    <p:sldId xmlns:r="http://schemas.openxmlformats.org/officeDocument/2006/relationships" id="277" r:id="R2b0dc45a96cb4cb9"/>
    <p:sldId xmlns:r="http://schemas.openxmlformats.org/officeDocument/2006/relationships" id="278" r:id="R4290d7f4854c433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746a3d142b4814" /><Relationship Type="http://schemas.openxmlformats.org/officeDocument/2006/relationships/slideMaster" Target="/ppt/slideMasters/slideMaster1.xml" Id="Rf26e6b1efd0341f3" /><Relationship Type="http://schemas.openxmlformats.org/officeDocument/2006/relationships/notesMaster" Target="/ppt/notesMasters/notesMaster1.xml" Id="R199a97140ed34672" /><Relationship Type="http://schemas.openxmlformats.org/officeDocument/2006/relationships/presProps" Target="/ppt/presProps.xml" Id="R56ce9081747d475d" /><Relationship Type="http://schemas.openxmlformats.org/officeDocument/2006/relationships/tableStyles" Target="/ppt/tableStyles.xml" Id="Rbc752e95ccb142c8" /><Relationship Type="http://schemas.openxmlformats.org/officeDocument/2006/relationships/slide" Target="/ppt/slides/slide1.xml" Id="R15405c7810064d1a" /><Relationship Type="http://schemas.openxmlformats.org/officeDocument/2006/relationships/slide" Target="/ppt/slides/slide2.xml" Id="R0a64216d806b4c74" /><Relationship Type="http://schemas.openxmlformats.org/officeDocument/2006/relationships/slide" Target="/ppt/slides/slide3.xml" Id="R26fafc3229294eb8" /><Relationship Type="http://schemas.openxmlformats.org/officeDocument/2006/relationships/slide" Target="/ppt/slides/slide4.xml" Id="R94870b48dfcc4f89" /><Relationship Type="http://schemas.openxmlformats.org/officeDocument/2006/relationships/slide" Target="/ppt/slides/slide5.xml" Id="Rc802248415514a4f" /><Relationship Type="http://schemas.openxmlformats.org/officeDocument/2006/relationships/slide" Target="/ppt/slides/slide6.xml" Id="R441e1824397343c6" /><Relationship Type="http://schemas.openxmlformats.org/officeDocument/2006/relationships/slide" Target="/ppt/slides/slide7.xml" Id="R8192fc38ddd845d9" /><Relationship Type="http://schemas.openxmlformats.org/officeDocument/2006/relationships/slide" Target="/ppt/slides/slide8.xml" Id="R38e5dbf0168a4079" /><Relationship Type="http://schemas.openxmlformats.org/officeDocument/2006/relationships/slide" Target="/ppt/slides/slide9.xml" Id="R0f8d9098c4544b2d" /><Relationship Type="http://schemas.openxmlformats.org/officeDocument/2006/relationships/slide" Target="/ppt/slides/slide10.xml" Id="Rd8cbc2d9fad14688" /><Relationship Type="http://schemas.openxmlformats.org/officeDocument/2006/relationships/slide" Target="/ppt/slides/slide11.xml" Id="R39d82c40880c4e93" /><Relationship Type="http://schemas.openxmlformats.org/officeDocument/2006/relationships/slide" Target="/ppt/slides/slide12.xml" Id="R6d081d2a04b94e92" /><Relationship Type="http://schemas.openxmlformats.org/officeDocument/2006/relationships/slide" Target="/ppt/slides/slide13.xml" Id="R0453ddb2d9ca4ced" /><Relationship Type="http://schemas.openxmlformats.org/officeDocument/2006/relationships/slide" Target="/ppt/slides/slide14.xml" Id="R23ea9811a05d4efb" /><Relationship Type="http://schemas.openxmlformats.org/officeDocument/2006/relationships/slide" Target="/ppt/slides/slide15.xml" Id="Re59b2c34ea1d45f8" /><Relationship Type="http://schemas.openxmlformats.org/officeDocument/2006/relationships/slide" Target="/ppt/slides/slide16.xml" Id="R13e76e9b642a43cb" /><Relationship Type="http://schemas.openxmlformats.org/officeDocument/2006/relationships/slide" Target="/ppt/slides/slide17.xml" Id="R4b2a7e7806e14813" /><Relationship Type="http://schemas.openxmlformats.org/officeDocument/2006/relationships/slide" Target="/ppt/slides/slide18.xml" Id="Raebf37ed48d84929" /><Relationship Type="http://schemas.openxmlformats.org/officeDocument/2006/relationships/slide" Target="/ppt/slides/slide19.xml" Id="R86ef2335c6a84647" /><Relationship Type="http://schemas.openxmlformats.org/officeDocument/2006/relationships/slide" Target="/ppt/slides/slide20.xml" Id="Rc8a4a8e90d8c4d6d" /><Relationship Type="http://schemas.openxmlformats.org/officeDocument/2006/relationships/slide" Target="/ppt/slides/slide21.xml" Id="R683a997c03ab4d89" /><Relationship Type="http://schemas.openxmlformats.org/officeDocument/2006/relationships/slide" Target="/ppt/slides/slide22.xml" Id="R2b0dc45a96cb4cb9" /><Relationship Type="http://schemas.openxmlformats.org/officeDocument/2006/relationships/slide" Target="/ppt/slides/slide23.xml" Id="R4290d7f4854c43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ff6443cd3942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6e4d1e2cc04edf" /><Relationship Type="http://schemas.openxmlformats.org/officeDocument/2006/relationships/notesMaster" Target="/ppt/notesMasters/notesMaster1.xml" Id="Rbcfabbbec71e43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c5fb64426142af" /><Relationship Type="http://schemas.openxmlformats.org/officeDocument/2006/relationships/notesMaster" Target="/ppt/notesMasters/notesMaster1.xml" Id="Rdb71e23f573240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3a1330ffef419a" /><Relationship Type="http://schemas.openxmlformats.org/officeDocument/2006/relationships/notesMaster" Target="/ppt/notesMasters/notesMaster1.xml" Id="Rce79f880d22c45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fdfd424d214d19" /><Relationship Type="http://schemas.openxmlformats.org/officeDocument/2006/relationships/notesMaster" Target="/ppt/notesMasters/notesMaster1.xml" Id="R31a3adc9c5ad40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f503d7aa2e41a4" /><Relationship Type="http://schemas.openxmlformats.org/officeDocument/2006/relationships/notesMaster" Target="/ppt/notesMasters/notesMaster1.xml" Id="Rab5812b638124d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0c90ac25eb4ded" /><Relationship Type="http://schemas.openxmlformats.org/officeDocument/2006/relationships/notesMaster" Target="/ppt/notesMasters/notesMaster1.xml" Id="R0d2bf929d3c946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5b282784c8463b" /><Relationship Type="http://schemas.openxmlformats.org/officeDocument/2006/relationships/notesMaster" Target="/ppt/notesMasters/notesMaster1.xml" Id="Rc698ab4805b641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1789dddb91462e" /><Relationship Type="http://schemas.openxmlformats.org/officeDocument/2006/relationships/notesMaster" Target="/ppt/notesMasters/notesMaster1.xml" Id="Rc766648c5d2544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6f9c38f1bf4873" /><Relationship Type="http://schemas.openxmlformats.org/officeDocument/2006/relationships/notesMaster" Target="/ppt/notesMasters/notesMaster1.xml" Id="Re245c93fbf7041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7d79558317498d" /><Relationship Type="http://schemas.openxmlformats.org/officeDocument/2006/relationships/notesMaster" Target="/ppt/notesMasters/notesMaster1.xml" Id="Ra789df2299f943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6362247594405e" /><Relationship Type="http://schemas.openxmlformats.org/officeDocument/2006/relationships/notesMaster" Target="/ppt/notesMasters/notesMaster1.xml" Id="Rc34e361cbd7545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530c20f1494ca1" /><Relationship Type="http://schemas.openxmlformats.org/officeDocument/2006/relationships/notesMaster" Target="/ppt/notesMasters/notesMaster1.xml" Id="Rc4a00f995aa940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db52a7d84745a7" /><Relationship Type="http://schemas.openxmlformats.org/officeDocument/2006/relationships/notesMaster" Target="/ppt/notesMasters/notesMaster1.xml" Id="R54f4935ae23d431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e3e5c4d8a642b2" /><Relationship Type="http://schemas.openxmlformats.org/officeDocument/2006/relationships/notesMaster" Target="/ppt/notesMasters/notesMaster1.xml" Id="Rc72856470df245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2948bbc3ff46fa" /><Relationship Type="http://schemas.openxmlformats.org/officeDocument/2006/relationships/notesMaster" Target="/ppt/notesMasters/notesMaster1.xml" Id="R750b9d6ed5b7459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ca2b70c05f4eea" /><Relationship Type="http://schemas.openxmlformats.org/officeDocument/2006/relationships/notesMaster" Target="/ppt/notesMasters/notesMaster1.xml" Id="R60d00f1e8aa44b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f9cfd9e5f14103" /><Relationship Type="http://schemas.openxmlformats.org/officeDocument/2006/relationships/notesMaster" Target="/ppt/notesMasters/notesMaster1.xml" Id="Recfe850d8e934e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e2524079fa46d7" /><Relationship Type="http://schemas.openxmlformats.org/officeDocument/2006/relationships/notesMaster" Target="/ppt/notesMasters/notesMaster1.xml" Id="R622b586bdda24e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4b73acb1734e98" /><Relationship Type="http://schemas.openxmlformats.org/officeDocument/2006/relationships/notesMaster" Target="/ppt/notesMasters/notesMaster1.xml" Id="Rd45d8efad54a473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f707d3102944dc" /><Relationship Type="http://schemas.openxmlformats.org/officeDocument/2006/relationships/notesMaster" Target="/ppt/notesMasters/notesMaster1.xml" Id="Rd16757fbe5474b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5bdf6fff51949e6" /><Relationship Type="http://schemas.openxmlformats.org/officeDocument/2006/relationships/notesMaster" Target="/ppt/notesMasters/notesMaster1.xml" Id="R21652e633f4f4b5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d62f7972a84440b" /><Relationship Type="http://schemas.openxmlformats.org/officeDocument/2006/relationships/notesMaster" Target="/ppt/notesMasters/notesMaster1.xml" Id="R08de997b9b9f427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c72b43187764773" /><Relationship Type="http://schemas.openxmlformats.org/officeDocument/2006/relationships/notesMaster" Target="/ppt/notesMasters/notesMaster1.xml" Id="R25b6f1c63a7e46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uitleggen, en waar gebruik je de theorie?</a:t>
            </a:r>
          </a:p>
          <a:p xmlns:a="http://schemas.openxmlformats.org/drawingml/2006/main">
            <a:r>
              <a:rPr sz="1400"/>
              <a:t/>
            </a:r>
          </a:p>
          <a:p xmlns:a="http://schemas.openxmlformats.org/drawingml/2006/main">
            <a:r>
              <a:rPr sz="1400"/>
              <a:t>Uitleg: Laat dit overzicht staan tijdens startopdracht. Start 46–47 op p. 101; basis 48 op p. 101 en 49 op p. 102; zelfstandig 50–51 op p. 102; doel 52 op p. 103. Huiswerk is 48, 49, 50, 51 en 52 maken en nakijken. Bonus 53 en herhaling 54 zijn extra. Bij 46 is de bekende rekening uit §4.2.4 uitgebreid met echte uitvoeringskosten: laat de uitleg op p. 100 gebruiken. Bij 47 is de stap van instrument naar expliciet criterium nieuw: laat p. 99 gebruiken. Vraag leerlingen de gebruikte steun en hun twijfel te noteren; dit is verkennen, geen toets van beheersing. Vóór het basiswerk: laat 46–47 opnieuw proberen, laat leerlingen uitleggen welke stap is veranderd en geef zo nodig extra steun. De volledige route mag in een volgende les of als huiswerk worden voltooid.</a:t>
            </a:r>
          </a:p>
          <a:p xmlns:a="http://schemas.openxmlformats.org/drawingml/2006/main">
            <a:r>
              <a:rPr sz="1400"/>
              <a:t/>
            </a:r>
          </a:p>
          <a:p xmlns:a="http://schemas.openxmlformats.org/drawingml/2006/main">
            <a:r>
              <a:rPr sz="1400"/>
              <a:t>Misvatting: De handleiding noemt hoofdstukpagina’s 47–52; het complete boek heeft hier gedrukte pagina’s 99–104.</a:t>
            </a:r>
          </a:p>
          <a:p xmlns:a="http://schemas.openxmlformats.org/drawingml/2006/main">
            <a:r>
              <a:rPr sz="1400"/>
              <a:t/>
            </a:r>
          </a:p>
          <a:p xmlns:a="http://schemas.openxmlformats.org/drawingml/2006/main">
            <a:r>
              <a:rPr sz="1400"/>
              <a:t>Overgang: Ga naar de volgende lesfase wanneer de klas eraan toe is.</a:t>
            </a:r>
          </a:p>
          <a:p xmlns:a="http://schemas.openxmlformats.org/drawingml/2006/main">
            <a:r>
              <a:rPr sz="1400"/>
              <a:t/>
            </a:r>
          </a:p>
          <a:p xmlns:a="http://schemas.openxmlformats.org/drawingml/2006/main">
            <a:r>
              <a:rPr sz="1400"/>
              <a:t>Bron: Boek 4, books34-v3, gedrukte boekpagina 99–103.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probleem verandert een subsidie wel, en welk probleem niet vanzelf?</a:t>
            </a:r>
          </a:p>
          <a:p xmlns:a="http://schemas.openxmlformats.org/drawingml/2006/main">
            <a:r>
              <a:rPr sz="1400"/>
              <a:t/>
            </a:r>
          </a:p>
          <a:p xmlns:a="http://schemas.openxmlformats.org/drawingml/2006/main">
            <a:r>
              <a:rPr sz="1400"/>
              <a:t>Uitleg: Verbind iedere rij aan het mechanisme. Marktmacht kan afzetbeperking opleveren; een hoge prijs door schaarste bewijst op zichzelf geen misbruik. Bij externe effecten ontbreken kosten of baten van derden in de private keuze. Een heffing maakt schade onderdeel van de afweging; een nageleefde grens beperkt activiteit rechtstreeks. Een passende subsidie stimuleert activiteit met externe baten. Of een maatregel werkt hangt van de bronvoorwaarden af.</a:t>
            </a:r>
          </a:p>
          <a:p xmlns:a="http://schemas.openxmlformats.org/drawingml/2006/main">
            <a:r>
              <a:rPr sz="1400"/>
              <a:t/>
            </a:r>
          </a:p>
          <a:p xmlns:a="http://schemas.openxmlformats.org/drawingml/2006/main">
            <a:r>
              <a:rPr sz="1400"/>
              <a:t>Misvatting: Een instrument is geen doel. Een subsidie haalt een toetredingsbarrière niet automatisch weg.</a:t>
            </a:r>
          </a:p>
          <a:p xmlns:a="http://schemas.openxmlformats.org/drawingml/2006/main">
            <a:r>
              <a:rPr sz="1400"/>
              <a:t/>
            </a:r>
          </a:p>
          <a:p xmlns:a="http://schemas.openxmlformats.org/drawingml/2006/main">
            <a:r>
              <a:rPr sz="1400"/>
              <a:t>Overgang: Kies nu waarop je de maatregelen wilt beoordelen.</a:t>
            </a:r>
          </a:p>
          <a:p xmlns:a="http://schemas.openxmlformats.org/drawingml/2006/main">
            <a:r>
              <a:rPr sz="1400"/>
              <a:t/>
            </a:r>
          </a:p>
          <a:p xmlns:a="http://schemas.openxmlformats.org/drawingml/2006/main">
            <a:r>
              <a:rPr sz="1400"/>
              <a:t>Bron: Boek 4, books34-v3, gedrukte boekpagina 99.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een producent een ander plan verkiezen dan de raad?</a:t>
            </a:r>
          </a:p>
          <a:p xmlns:a="http://schemas.openxmlformats.org/drawingml/2006/main">
            <a:r>
              <a:rPr sz="1400"/>
              <a:t/>
            </a:r>
          </a:p>
          <a:p xmlns:a="http://schemas.openxmlformats.org/drawingml/2006/main">
            <a:r>
              <a:rPr sz="1400"/>
              <a:t>Uitleg: Gebruik dezelfde uitkomsten met drie verschillende vragen. Het maatschappelijk surplus telt het voordeel voor iedereen samen binnen het model. Een groepsbelang gaat over de verdeling van dat voordeel. Een budgetbedrag is een geldstroom voor de overheid. Een plan kan op die criteria verschillend scoren. Voor een verandering vergelijk je bovendien met een passende beginsituatie; alleen ontvangsten geven geen welvaartsverandering.</a:t>
            </a:r>
          </a:p>
          <a:p xmlns:a="http://schemas.openxmlformats.org/drawingml/2006/main">
            <a:r>
              <a:rPr sz="1400"/>
              <a:t/>
            </a:r>
          </a:p>
          <a:p xmlns:a="http://schemas.openxmlformats.org/drawingml/2006/main">
            <a:r>
              <a:rPr sz="1400"/>
              <a:t>Misvatting: Een beter resultaat voor één groep bewijst geen groter maatschappelijk surplus.</a:t>
            </a:r>
          </a:p>
          <a:p xmlns:a="http://schemas.openxmlformats.org/drawingml/2006/main">
            <a:r>
              <a:rPr sz="1400"/>
              <a:t/>
            </a:r>
          </a:p>
          <a:p xmlns:a="http://schemas.openxmlformats.org/drawingml/2006/main">
            <a:r>
              <a:rPr sz="1400"/>
              <a:t>Overgang: Breid de bekende surplusrekening uit met uitvoering.</a:t>
            </a:r>
          </a:p>
          <a:p xmlns:a="http://schemas.openxmlformats.org/drawingml/2006/main">
            <a:r>
              <a:rPr sz="1400"/>
              <a:t/>
            </a:r>
          </a:p>
          <a:p xmlns:a="http://schemas.openxmlformats.org/drawingml/2006/main">
            <a:r>
              <a:rPr sz="1400"/>
              <a:t>Bron: Boek 4, books34-v3, gedrukte boekpagina 99–100.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krijgt belastingopbrengst een plus en uitvoering een min?</a:t>
            </a:r>
          </a:p>
          <a:p xmlns:a="http://schemas.openxmlformats.org/drawingml/2006/main">
            <a:r>
              <a:rPr sz="1400"/>
              <a:t/>
            </a:r>
          </a:p>
          <a:p xmlns:a="http://schemas.openxmlformats.org/drawingml/2006/main">
            <a:r>
              <a:rPr sz="1400"/>
              <a:t>Uitleg: De heffing is al verwerkt in wat kopers betalen en producenten ontvangen. Daarom voegen we de overheidsontvangst toe aan CS en PS. Schade voor derden en echte uitvoering verbruiken welvaart en worden afgetrokken. Inspecteurs en materieel zijn elders niet inzetbaar: het zijn maatschappelijke kosten, geen gewone overdracht. Gebruik de posten die de bron noemt. Zonder externe effecten vervalt de schadepost; bij subsidie en externe baten geldt de bekende rekening CS + PS − subsidie-uitgaven + externe baten, daarna eventuele uitvoering.</a:t>
            </a:r>
          </a:p>
          <a:p xmlns:a="http://schemas.openxmlformats.org/drawingml/2006/main">
            <a:r>
              <a:rPr sz="1400"/>
              <a:t/>
            </a:r>
          </a:p>
          <a:p xmlns:a="http://schemas.openxmlformats.org/drawingml/2006/main">
            <a:r>
              <a:rPr sz="1400"/>
              <a:t>Misvatting: Als de bron surplus ná uitvoering geeft, trek je die kosten niet opnieuw af.</a:t>
            </a:r>
          </a:p>
          <a:p xmlns:a="http://schemas.openxmlformats.org/drawingml/2006/main">
            <a:r>
              <a:rPr sz="1400"/>
              <a:t/>
            </a:r>
          </a:p>
          <a:p xmlns:a="http://schemas.openxmlformats.org/drawingml/2006/main">
            <a:r>
              <a:rPr sz="1400"/>
              <a:t>Overgang: Pas dit toe op een apart onderwijsvoorbeeld.</a:t>
            </a:r>
          </a:p>
          <a:p xmlns:a="http://schemas.openxmlformats.org/drawingml/2006/main">
            <a:r>
              <a:rPr sz="1400"/>
              <a:t/>
            </a:r>
          </a:p>
          <a:p xmlns:a="http://schemas.openxmlformats.org/drawingml/2006/main">
            <a:r>
              <a:rPr sz="1400"/>
              <a:t>Bron: Boek 4, books34-v3, gedrukte boekpagina 100; voorkennis §4.2.4 p. 79 en 82.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ondervindt nadeel zonder partij bij de reiniging te zijn?</a:t>
            </a:r>
          </a:p>
          <a:p xmlns:a="http://schemas.openxmlformats.org/drawingml/2006/main">
            <a:r>
              <a:rPr sz="1400"/>
              <a:t/>
            </a:r>
          </a:p>
          <a:p xmlns:a="http://schemas.openxmlformats.org/drawingml/2006/main">
            <a:r>
              <a:rPr sz="1400"/>
              <a:t>Uitleg: Alle getallen horen bij dit aparte model. De derde partij bestaat uit vissers die niet worden vergoed. Het relevante probleem is schade die kopers en reinigingsbedrijven niet volledig in hun keuze opnemen. T verandert de private afweging en M begrenst de hoeveelheid. Voor dit voorbeeld worden beide regels nageleefd; bij M handelen kopers met de hoogste betalingsbereidheid en aanbieders met de laagste kosten en wordt toestemming gratis toegewezen. Andere kosten of baten ontbreken. Deze aannamen komen bij de vergelijking terug.</a:t>
            </a:r>
          </a:p>
          <a:p xmlns:a="http://schemas.openxmlformats.org/drawingml/2006/main">
            <a:r>
              <a:rPr sz="1400"/>
              <a:t/>
            </a:r>
          </a:p>
          <a:p xmlns:a="http://schemas.openxmlformats.org/drawingml/2006/main">
            <a:r>
              <a:rPr sz="1400"/>
              <a:t>Misvatting: De € 6 schade is geen ontvangen betaling voor de vissers.</a:t>
            </a:r>
          </a:p>
          <a:p xmlns:a="http://schemas.openxmlformats.org/drawingml/2006/main">
            <a:r>
              <a:rPr sz="1400"/>
              <a:t/>
            </a:r>
          </a:p>
          <a:p xmlns:a="http://schemas.openxmlformats.org/drawingml/2006/main">
            <a:r>
              <a:rPr sz="1400"/>
              <a:t>Overgang: Bereken eerst wat de heffing doet met Q.</a:t>
            </a:r>
          </a:p>
          <a:p xmlns:a="http://schemas.openxmlformats.org/drawingml/2006/main">
            <a:r>
              <a:rPr sz="1400"/>
              <a:t/>
            </a:r>
          </a:p>
          <a:p xmlns:a="http://schemas.openxmlformats.org/drawingml/2006/main">
            <a:r>
              <a:rPr sz="1400"/>
              <a:t>Bron: Boek 4, books34-v3, gedrukte boekpagina 99–100 (methode).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Eigen geconstrueerd uitlegvoorbeeld Bootreiniging, geen boekopgave. De getallen en context zijn voor deze presentatie gemaakt; de methode volgt §4.2.6 p. 99–100 en §4.2.4 p. 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ligt bij een producentenheffing hoger?</a:t>
            </a:r>
          </a:p>
          <a:p xmlns:a="http://schemas.openxmlformats.org/drawingml/2006/main">
            <a:r>
              <a:rPr sz="1400"/>
              <a:t/>
            </a:r>
          </a:p>
          <a:p xmlns:a="http://schemas.openxmlformats.org/drawingml/2006/main">
            <a:r>
              <a:rPr sz="1400"/>
              <a:t>Uitleg: Haal de heffingsroute uit §4.2.4 terug. De koper betaalt de prijs op de vraaglijn, de producent houdt de prijs op de oorspronkelijke aanbodlijn over. De € 6 wordt opgeteld bij Pp. Verzamel de Q-termen: 48 − 12 = 2Q, dus Q = 18. Het ongereguleerde evenwicht zou 21 beurten zijn; de heffing vermindert activiteit. M stelt dezelfde bovengrens, maar de verdeling van de opbrengst hoeft niet gelijk te zijn.</a:t>
            </a:r>
          </a:p>
          <a:p xmlns:a="http://schemas.openxmlformats.org/drawingml/2006/main">
            <a:r>
              <a:rPr sz="1400"/>
              <a:t/>
            </a:r>
          </a:p>
          <a:p xmlns:a="http://schemas.openxmlformats.org/drawingml/2006/main">
            <a:r>
              <a:rPr sz="1400"/>
              <a:t>Misvatting: Gebruik geen MO = MK: dit is een concurrerende markt, geen monopolist.</a:t>
            </a:r>
          </a:p>
          <a:p xmlns:a="http://schemas.openxmlformats.org/drawingml/2006/main">
            <a:r>
              <a:rPr sz="1400"/>
              <a:t/>
            </a:r>
          </a:p>
          <a:p xmlns:a="http://schemas.openxmlformats.org/drawingml/2006/main">
            <a:r>
              <a:rPr sz="1400"/>
              <a:t>Overgang: Vul de hoeveelheid in beide oorspronkelijke functies in.</a:t>
            </a:r>
          </a:p>
          <a:p xmlns:a="http://schemas.openxmlformats.org/drawingml/2006/main">
            <a:r>
              <a:rPr sz="1400"/>
              <a:t/>
            </a:r>
          </a:p>
          <a:p xmlns:a="http://schemas.openxmlformats.org/drawingml/2006/main">
            <a:r>
              <a:rPr sz="1400"/>
              <a:t>Bron: Boek 4, books34-v3, gedrukte boekpagina 99–100 (methode).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Eigen geconstrueerd uitlegvoorbeeld Bootreiniging, geen boekopgave. De getallen en context zijn voor deze presentatie gemaakt; de methode volgt §4.2.6 p. 99–100 en §4.2.4 p. 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vermenigvuldig je met 18 en niet alleen met de afname van Q?</a:t>
            </a:r>
          </a:p>
          <a:p xmlns:a="http://schemas.openxmlformats.org/drawingml/2006/main">
            <a:r>
              <a:rPr sz="1400"/>
              <a:t/>
            </a:r>
          </a:p>
          <a:p xmlns:a="http://schemas.openxmlformats.org/drawingml/2006/main">
            <a:r>
              <a:rPr sz="1400"/>
              <a:t>Uitleg: De producent ontvangt hier netto 24 euro, niet de kopersbetaling van 30 euro. De overheid ontvangt 6 euro op elk van de 18 uitgevoerde beurten: 108 euro per dag. Dat is een overdracht. De schade is 6 × 18 = 108 euro per dag, maar betreft een andere post; de twee vallen alleen numeriek gelijk uit door de gekozen bedragen.</a:t>
            </a:r>
          </a:p>
          <a:p xmlns:a="http://schemas.openxmlformats.org/drawingml/2006/main">
            <a:r>
              <a:rPr sz="1400"/>
              <a:t/>
            </a:r>
          </a:p>
          <a:p xmlns:a="http://schemas.openxmlformats.org/drawingml/2006/main">
            <a:r>
              <a:rPr sz="1400"/>
              <a:t>Misvatting: Euro per beurt en euro per dag zijn verschillende eenheden.</a:t>
            </a:r>
          </a:p>
          <a:p xmlns:a="http://schemas.openxmlformats.org/drawingml/2006/main">
            <a:r>
              <a:rPr sz="1400"/>
              <a:t/>
            </a:r>
          </a:p>
          <a:p xmlns:a="http://schemas.openxmlformats.org/drawingml/2006/main">
            <a:r>
              <a:rPr sz="1400"/>
              <a:t>Overgang: Vul nu alle partijen en uitvoering in één rekening in.</a:t>
            </a:r>
          </a:p>
          <a:p xmlns:a="http://schemas.openxmlformats.org/drawingml/2006/main">
            <a:r>
              <a:rPr sz="1400"/>
              <a:t/>
            </a:r>
          </a:p>
          <a:p xmlns:a="http://schemas.openxmlformats.org/drawingml/2006/main">
            <a:r>
              <a:rPr sz="1400"/>
              <a:t>Bron: Boek 4, books34-v3, gedrukte boekpagina 99–100 (methode).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Eigen geconstrueerd uitlegvoorbeeld Bootreiniging, geen boekopgave. De getallen en context zijn voor deze presentatie gemaakt; de methode volgt §4.2.6 p. 99–100 en §4.2.4 p. 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rij maakt het verschil in het gezamenlijke resultaat?</a:t>
            </a:r>
          </a:p>
          <a:p xmlns:a="http://schemas.openxmlformats.org/drawingml/2006/main">
            <a:r>
              <a:rPr sz="1400"/>
              <a:t/>
            </a:r>
          </a:p>
          <a:p xmlns:a="http://schemas.openxmlformats.org/drawingml/2006/main">
            <a:r>
              <a:rPr sz="1400"/>
              <a:t>Uitleg: De CS- en PS-bedragen zijn voor dit voorbeeld gegeven en passen bij de functies: CS = ½ × 18 × 18 = 162; bij T is PS = ½ × 18 × 18 = 162. Bij M krijgen producenten ook 6 × 18 = 108 erbij: PS = 270. Voor uitvoering is T: 162 + 162 + 108 − 108 = 324; M: 162 + 270 − 108 = 324. Uitvoering gebruikt 12 respectievelijk 30 euro per dag aan middelen. Dus 324 − 12 = 312 en 324 − 30 = 294. Alle relevante posten staan in de tabel; trek geen tweede keer uitvoeringskosten af.</a:t>
            </a:r>
          </a:p>
          <a:p xmlns:a="http://schemas.openxmlformats.org/drawingml/2006/main">
            <a:r>
              <a:rPr sz="1400"/>
              <a:t/>
            </a:r>
          </a:p>
          <a:p xmlns:a="http://schemas.openxmlformats.org/drawingml/2006/main">
            <a:r>
              <a:rPr sz="1400"/>
              <a:t>Misvatting: Meer PS bij M betekent hier niet meer maatschappelijk surplus vóór uitvoering.</a:t>
            </a:r>
          </a:p>
          <a:p xmlns:a="http://schemas.openxmlformats.org/drawingml/2006/main">
            <a:r>
              <a:rPr sz="1400"/>
              <a:t/>
            </a:r>
          </a:p>
          <a:p xmlns:a="http://schemas.openxmlformats.org/drawingml/2006/main">
            <a:r>
              <a:rPr sz="1400"/>
              <a:t>Overgang: Gebruik de uitkomst voor een begrensd advies.</a:t>
            </a:r>
          </a:p>
          <a:p xmlns:a="http://schemas.openxmlformats.org/drawingml/2006/main">
            <a:r>
              <a:rPr sz="1400"/>
              <a:t/>
            </a:r>
          </a:p>
          <a:p xmlns:a="http://schemas.openxmlformats.org/drawingml/2006/main">
            <a:r>
              <a:rPr sz="1400"/>
              <a:t>Bron: Boek 4, books34-v3, gedrukte boekpagina 99–100 (methode).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Eigen geconstrueerd uitlegvoorbeeld Bootreiniging, geen boekopgave. De getallen en context zijn voor deze presentatie gemaakt; de methode volgt §4.2.6 p. 99–100 en §4.2.4 p. 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concrete aanname zou je controleren voordat je het advies gebruikt?</a:t>
            </a:r>
          </a:p>
          <a:p xmlns:a="http://schemas.openxmlformats.org/drawingml/2006/main">
            <a:r>
              <a:rPr sz="1400"/>
              <a:t/>
            </a:r>
          </a:p>
          <a:p xmlns:a="http://schemas.openxmlformats.org/drawingml/2006/main">
            <a:r>
              <a:rPr sz="1400"/>
              <a:t>Uitleg: Formuleer het advies in één redenering: bij het criterium maximaal maatschappelijk surplus na uitvoering kies ik T, want de opbrengst is 18 euro per dag groter. Dat komt door lagere uitvoeringskosten; de vergelijking vóór uitvoering was gelijk. Een producent kan M verkiezen vanwege het grotere PS. Dat is een ander criterium, geen rekenfout van de raad. Als uitvoering duurder blijkt of de grens slecht wordt nageleefd, kan het advies veranderen.</a:t>
            </a:r>
          </a:p>
          <a:p xmlns:a="http://schemas.openxmlformats.org/drawingml/2006/main">
            <a:r>
              <a:rPr sz="1400"/>
              <a:t/>
            </a:r>
          </a:p>
          <a:p xmlns:a="http://schemas.openxmlformats.org/drawingml/2006/main">
            <a:r>
              <a:rPr sz="1400"/>
              <a:t>Misvatting: Zeg niet dat T altijd beter is of iedere groep beter af maakt.</a:t>
            </a:r>
          </a:p>
          <a:p xmlns:a="http://schemas.openxmlformats.org/drawingml/2006/main">
            <a:r>
              <a:rPr sz="1400"/>
              <a:t/>
            </a:r>
          </a:p>
          <a:p xmlns:a="http://schemas.openxmlformats.org/drawingml/2006/main">
            <a:r>
              <a:rPr sz="1400"/>
              <a:t>Overgang: Fris voor zelfstandig werk het onderscheid tussen gevraagde en uitgevoerde transacties op.</a:t>
            </a:r>
          </a:p>
          <a:p xmlns:a="http://schemas.openxmlformats.org/drawingml/2006/main">
            <a:r>
              <a:rPr sz="1400"/>
              <a:t/>
            </a:r>
          </a:p>
          <a:p xmlns:a="http://schemas.openxmlformats.org/drawingml/2006/main">
            <a:r>
              <a:rPr sz="1400"/>
              <a:t>Bron: Boek 4, books34-v3, gedrukte boekpagina 99–100 (methode).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Eigen geconstrueerd uitlegvoorbeeld Bootreiniging, geen boekopgave. De getallen en context zijn voor deze presentatie gemaakt; de methode volgt §4.2.6 p. 99–100 en §4.2.4 p. 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Gebruik je voor de schade 36, 24 of 12? Waarom?</a:t>
            </a:r>
          </a:p>
          <a:p xmlns:a="http://schemas.openxmlformats.org/drawingml/2006/main">
            <a:r>
              <a:rPr sz="1400"/>
              <a:t/>
            </a:r>
          </a:p>
          <a:p xmlns:a="http://schemas.openxmlformats.org/drawingml/2006/main">
            <a:r>
              <a:rPr sz="1400"/>
              <a:t>Uitleg: Dit aparte, korte herhaalvoorbeeld ondersteunt de overstap naar opgave 51. Lees de vraag en het aanbod apart. De korte kant bepaalt het aantal mogelijke transacties zonder aanvullende voorraad; de context garandeert hier verkoop van het aanbod. Bereken het tekort met vraag min aanbod, maar de schade met uitgevoerde ritten. Niet alle vragers krijgen een rit en de schade aan buren blijft bestaan. Een volledige welvaartsvergelijking vraagt daarnaast om toewijzing en overige surplusposten.</a:t>
            </a:r>
          </a:p>
          <a:p xmlns:a="http://schemas.openxmlformats.org/drawingml/2006/main">
            <a:r>
              <a:rPr sz="1400"/>
              <a:t/>
            </a:r>
          </a:p>
          <a:p xmlns:a="http://schemas.openxmlformats.org/drawingml/2006/main">
            <a:r>
              <a:rPr sz="1400"/>
              <a:t>Misvatting: Een lage prijs is geen schadeloosstelling, en vraag is niet hetzelfde als verkoop.</a:t>
            </a:r>
          </a:p>
          <a:p xmlns:a="http://schemas.openxmlformats.org/drawingml/2006/main">
            <a:r>
              <a:rPr sz="1400"/>
              <a:t/>
            </a:r>
          </a:p>
          <a:p xmlns:a="http://schemas.openxmlformats.org/drawingml/2006/main">
            <a:r>
              <a:rPr sz="1400"/>
              <a:t>Overgang: Maak de antwoordroute expliciet voordat de leerlingen oefenen.</a:t>
            </a:r>
          </a:p>
          <a:p xmlns:a="http://schemas.openxmlformats.org/drawingml/2006/main">
            <a:r>
              <a:rPr sz="1400"/>
              <a:t/>
            </a:r>
          </a:p>
          <a:p xmlns:a="http://schemas.openxmlformats.org/drawingml/2006/main">
            <a:r>
              <a:rPr sz="1400"/>
              <a:t>Bron: Boek 4, books34-v3, gedrukte boekpagina 102 (toepassing); §4.2.4 p. 77–79.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Eigen mini-voorbeeld: ritten, 36/24, € 5. Geen boekopgave of extra huiswerk. Voorkennis: Boek 3 v3 §3.1.4, manuscript “De korte kant bepaalt wat er kan worden verkocht” (hoofdstukpagina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broninformatie heb je nodig om een stellige conclusie te vermijden?</a:t>
            </a:r>
          </a:p>
          <a:p xmlns:a="http://schemas.openxmlformats.org/drawingml/2006/main">
            <a:r>
              <a:rPr sz="1400"/>
              <a:t/>
            </a:r>
          </a:p>
          <a:p xmlns:a="http://schemas.openxmlformats.org/drawingml/2006/main">
            <a:r>
              <a:rPr sz="1400"/>
              <a:t>Uitleg: Laat leerlingen kort de keten hardop toepassen op het uitlegvoorbeeld. Een ontbrekend gegeven is gericht te benoemen: effect op Q, schade per eenheid, surplus, naleving of uitvoering. Bij een vergelijking oud/nieuw bereken je eerst de volledige rekening per situatie en pas daarna het verschil. Gebruik geen effect waarvoor de bron geen steun geeft. Keer nu terug naar start 46–47: laat eerst de eigen redenering verbeteren met de gegeven theorie.</a:t>
            </a:r>
          </a:p>
          <a:p xmlns:a="http://schemas.openxmlformats.org/drawingml/2006/main">
            <a:r>
              <a:rPr sz="1400"/>
              <a:t/>
            </a:r>
          </a:p>
          <a:p xmlns:a="http://schemas.openxmlformats.org/drawingml/2006/main">
            <a:r>
              <a:rPr sz="1400"/>
              <a:t>Misvatting: Een losse voorkeur zonder berekening of criterium is geen onderbouwd advies.</a:t>
            </a:r>
          </a:p>
          <a:p xmlns:a="http://schemas.openxmlformats.org/drawingml/2006/main">
            <a:r>
              <a:rPr sz="1400"/>
              <a:t/>
            </a:r>
          </a:p>
          <a:p xmlns:a="http://schemas.openxmlformats.org/drawingml/2006/main">
            <a:r>
              <a:rPr sz="1400"/>
              <a:t>Overgang: Laat het overzicht staan tijdens het oefenen.</a:t>
            </a:r>
          </a:p>
          <a:p xmlns:a="http://schemas.openxmlformats.org/drawingml/2006/main">
            <a:r>
              <a:rPr sz="1400"/>
              <a:t/>
            </a:r>
          </a:p>
          <a:p xmlns:a="http://schemas.openxmlformats.org/drawingml/2006/main">
            <a:r>
              <a:rPr sz="1400"/>
              <a:t>Bron: Boek 4, books34-v3, gedrukte boekpagina 99–102.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uitleggen, en waar gebruik je de theorie?</a:t>
            </a:r>
          </a:p>
          <a:p xmlns:a="http://schemas.openxmlformats.org/drawingml/2006/main">
            <a:r>
              <a:rPr sz="1400"/>
              <a:t/>
            </a:r>
          </a:p>
          <a:p xmlns:a="http://schemas.openxmlformats.org/drawingml/2006/main">
            <a:r>
              <a:rPr sz="1400"/>
              <a:t>Uitleg: Laat dit overzicht staan tijdens zelfstandig werken. Start 46–47 op p. 101; basis 48 op p. 101 en 49 op p. 102; zelfstandig 50–51 op p. 102; doel 52 op p. 103. Huiswerk is 48, 49, 50, 51 en 52 maken en nakijken. Bonus 53 en herhaling 54 zijn extra. Bij 46 is de bekende rekening uit §4.2.4 uitgebreid met echte uitvoeringskosten: laat de uitleg op p. 100 gebruiken. Bij 47 is de stap van instrument naar expliciet criterium nieuw: laat p. 99 gebruiken. Vraag leerlingen de gebruikte steun en hun twijfel te noteren; dit is verkennen, geen toets van beheersing. Vóór het basiswerk: laat 46–47 opnieuw proberen, laat leerlingen uitleggen welke stap is veranderd en geef zo nodig extra steun. De volledige route mag in een volgende les of als huiswerk worden voltooid.</a:t>
            </a:r>
          </a:p>
          <a:p xmlns:a="http://schemas.openxmlformats.org/drawingml/2006/main">
            <a:r>
              <a:rPr sz="1400"/>
              <a:t/>
            </a:r>
          </a:p>
          <a:p xmlns:a="http://schemas.openxmlformats.org/drawingml/2006/main">
            <a:r>
              <a:rPr sz="1400"/>
              <a:t>Misvatting: De handleiding noemt hoofdstukpagina’s 47–52; het complete boek heeft hier gedrukte pagina’s 99–104.</a:t>
            </a:r>
          </a:p>
          <a:p xmlns:a="http://schemas.openxmlformats.org/drawingml/2006/main">
            <a:r>
              <a:rPr sz="1400"/>
              <a:t/>
            </a:r>
          </a:p>
          <a:p xmlns:a="http://schemas.openxmlformats.org/drawingml/2006/main">
            <a:r>
              <a:rPr sz="1400"/>
              <a:t>Overgang: Ga naar de volgende lesfase wanneer de klas eraan toe is.</a:t>
            </a:r>
          </a:p>
          <a:p xmlns:a="http://schemas.openxmlformats.org/drawingml/2006/main">
            <a:r>
              <a:rPr sz="1400"/>
              <a:t/>
            </a:r>
          </a:p>
          <a:p xmlns:a="http://schemas.openxmlformats.org/drawingml/2006/main">
            <a:r>
              <a:rPr sz="1400"/>
              <a:t>Bron: Boek 4, books34-v3, gedrukte boekpagina 99–103.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horen bij de markt, en welke bij het beleid?</a:t>
            </a:r>
          </a:p>
          <a:p xmlns:a="http://schemas.openxmlformats.org/drawingml/2006/main">
            <a:r>
              <a:rPr sz="1400"/>
              <a:t/>
            </a:r>
          </a:p>
          <a:p xmlns:a="http://schemas.openxmlformats.org/drawingml/2006/main">
            <a:r>
              <a:rPr sz="1400"/>
              <a:t>Uitleg: Lees de volledige bron A voordat je naar B gaat. Pc is wat kopers betalen, Pp wat producenten na de heffing overhouden. De heffing, grens, externe schade en aannamen zijn brongegevens. Laat de leerlingen de twee plannen herkennen zonder de vragen al uit te werken.</a:t>
            </a:r>
          </a:p>
          <a:p xmlns:a="http://schemas.openxmlformats.org/drawingml/2006/main">
            <a:r>
              <a:rPr sz="1400"/>
              <a:t/>
            </a:r>
          </a:p>
          <a:p xmlns:a="http://schemas.openxmlformats.org/drawingml/2006/main">
            <a:r>
              <a:rPr sz="1400"/>
              <a:t>Misvatting: De 30 is hier de gegeven grens van G; het antwoord voor H moet nog worden berekend.</a:t>
            </a:r>
          </a:p>
          <a:p xmlns:a="http://schemas.openxmlformats.org/drawingml/2006/main">
            <a:r>
              <a:rPr sz="1400"/>
              <a:t/>
            </a:r>
          </a:p>
          <a:p xmlns:a="http://schemas.openxmlformats.org/drawingml/2006/main">
            <a:r>
              <a:rPr sz="1400"/>
              <a:t>Overgang: Lees bron B en de vergelijkingstabel.</a:t>
            </a:r>
          </a:p>
          <a:p xmlns:a="http://schemas.openxmlformats.org/drawingml/2006/main">
            <a:r>
              <a:rPr sz="1400"/>
              <a:t/>
            </a:r>
          </a:p>
          <a:p xmlns:a="http://schemas.openxmlformats.org/drawingml/2006/main">
            <a:r>
              <a:rPr sz="1400"/>
              <a:t>Bron: Boek 4, books34-v3, gedrukte boekpagina 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post ontbreekt nog, en welk criterium staat in de bron?</a:t>
            </a:r>
          </a:p>
          <a:p xmlns:a="http://schemas.openxmlformats.org/drawingml/2006/main">
            <a:r>
              <a:rPr sz="1400"/>
              <a:t/>
            </a:r>
          </a:p>
          <a:p xmlns:a="http://schemas.openxmlformats.org/drawingml/2006/main">
            <a:r>
              <a:rPr sz="1400"/>
              <a:t>Uitleg: Alle tabelwaarden zijn letterlijk uit bron B overgenomen. De open cel blijft open tot de antwoordbespreking. De uitvoeringskosten staan buiten de tabel van surplusposten; leerlingen moeten ze straks afzonderlijk verwerken. Het voorlopige criterium van de raad betreft het maatschappelijk surplus na uitvoering.</a:t>
            </a:r>
          </a:p>
          <a:p xmlns:a="http://schemas.openxmlformats.org/drawingml/2006/main">
            <a:r>
              <a:rPr sz="1400"/>
              <a:t/>
            </a:r>
          </a:p>
          <a:p xmlns:a="http://schemas.openxmlformats.org/drawingml/2006/main">
            <a:r>
              <a:rPr sz="1400"/>
              <a:t>Misvatting: De tabel geeft nog niet het eindresultaat na uitvoering.</a:t>
            </a:r>
          </a:p>
          <a:p xmlns:a="http://schemas.openxmlformats.org/drawingml/2006/main">
            <a:r>
              <a:rPr sz="1400"/>
              <a:t/>
            </a:r>
          </a:p>
          <a:p xmlns:a="http://schemas.openxmlformats.org/drawingml/2006/main">
            <a:r>
              <a:rPr sz="1400"/>
              <a:t>Overgang: Laat alle vijf deelvragen zien vóór antwoorden worden besproken.</a:t>
            </a:r>
          </a:p>
          <a:p xmlns:a="http://schemas.openxmlformats.org/drawingml/2006/main">
            <a:r>
              <a:rPr sz="1400"/>
              <a:t/>
            </a:r>
          </a:p>
          <a:p xmlns:a="http://schemas.openxmlformats.org/drawingml/2006/main">
            <a:r>
              <a:rPr sz="1400"/>
              <a:t>Bron: Boek 4, books34-v3, gedrukte boekpagina 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deelvraag wil je jouw redenering vergelijken?</a:t>
            </a:r>
          </a:p>
          <a:p xmlns:a="http://schemas.openxmlformats.org/drawingml/2006/main">
            <a:r>
              <a:rPr sz="1400"/>
              <a:t/>
            </a:r>
          </a:p>
          <a:p xmlns:a="http://schemas.openxmlformats.org/drawingml/2006/main">
            <a:r>
              <a:rPr sz="1400"/>
              <a:t>Uitleg: Dit zijn alle deelvragen en punten uit het boek. Laat de klas eerst eigen antwoorden beschikbaar hebben en geef zo nodig tijd om de bronnen op de voorgaande dia’s opnieuw te lezen. Bespreek a tot en met e pas nadat alle vragen toegankelijk zijn geweest.</a:t>
            </a:r>
          </a:p>
          <a:p xmlns:a="http://schemas.openxmlformats.org/drawingml/2006/main">
            <a:r>
              <a:rPr sz="1400"/>
              <a:t/>
            </a:r>
          </a:p>
          <a:p xmlns:a="http://schemas.openxmlformats.org/drawingml/2006/main">
            <a:r>
              <a:rPr sz="1400"/>
              <a:t>Misvatting: Ga niet meteen van een beleidsvoorkeur uit; het criterium ligt vast in bron B.</a:t>
            </a:r>
          </a:p>
          <a:p xmlns:a="http://schemas.openxmlformats.org/drawingml/2006/main">
            <a:r>
              <a:rPr sz="1400"/>
              <a:t/>
            </a:r>
          </a:p>
          <a:p xmlns:a="http://schemas.openxmlformats.org/drawingml/2006/main">
            <a:r>
              <a:rPr sz="1400"/>
              <a:t>Overgang: Begin de antwoordbespreking met het probleem en het mechanisme.</a:t>
            </a:r>
          </a:p>
          <a:p xmlns:a="http://schemas.openxmlformats.org/drawingml/2006/main">
            <a:r>
              <a:rPr sz="1400"/>
              <a:t/>
            </a:r>
          </a:p>
          <a:p xmlns:a="http://schemas.openxmlformats.org/drawingml/2006/main">
            <a:r>
              <a:rPr sz="1400"/>
              <a:t>Bron: Boek 4, books34-v3, gedrukte boekpagina 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valt buiten de markttransactie?</a:t>
            </a:r>
          </a:p>
          <a:p xmlns:a="http://schemas.openxmlformats.org/drawingml/2006/main">
            <a:r>
              <a:rPr sz="1400"/>
              <a:t/>
            </a:r>
          </a:p>
          <a:p xmlns:a="http://schemas.openxmlformats.org/drawingml/2006/main">
            <a:r>
              <a:rPr sz="1400"/>
              <a:t>Uitleg: Noem de schade én de derde partij. De private keuzes verwerken de niet-vergoede hinder niet volledig: dat is het marktfalen. H brengt via een heffing kosten in de private afweging; G beperkt het aantal diensten direct. Onder de gegeven naleving leveren beide minder schadelijke activiteit op. Ze nemen niet alle resterende schade weg.</a:t>
            </a:r>
          </a:p>
          <a:p xmlns:a="http://schemas.openxmlformats.org/drawingml/2006/main">
            <a:r>
              <a:rPr sz="1400"/>
              <a:t/>
            </a:r>
          </a:p>
          <a:p xmlns:a="http://schemas.openxmlformats.org/drawingml/2006/main">
            <a:r>
              <a:rPr sz="1400"/>
              <a:t>Misvatting: Een heffing is niet vanzelf een vergoeding voor omwonenden.</a:t>
            </a:r>
          </a:p>
          <a:p xmlns:a="http://schemas.openxmlformats.org/drawingml/2006/main">
            <a:r>
              <a:rPr sz="1400"/>
              <a:t/>
            </a:r>
          </a:p>
          <a:p xmlns:a="http://schemas.openxmlformats.org/drawingml/2006/main">
            <a:r>
              <a:rPr sz="1400"/>
              <a:t>Overgang: Bereken de marktuitkomst bij H.</a:t>
            </a:r>
          </a:p>
          <a:p xmlns:a="http://schemas.openxmlformats.org/drawingml/2006/main">
            <a:r>
              <a:rPr sz="1400"/>
              <a:t/>
            </a:r>
          </a:p>
          <a:p xmlns:a="http://schemas.openxmlformats.org/drawingml/2006/main">
            <a:r>
              <a:rPr sz="1400"/>
              <a:t>Bron: Boek 4, books34-v3, gedrukte boekpagina 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de 10 bij de producentenprijs opgeteld?</a:t>
            </a:r>
          </a:p>
          <a:p xmlns:a="http://schemas.openxmlformats.org/drawingml/2006/main">
            <a:r>
              <a:rPr sz="1400"/>
              <a:t/>
            </a:r>
          </a:p>
          <a:p xmlns:a="http://schemas.openxmlformats.org/drawingml/2006/main">
            <a:r>
              <a:rPr sz="1400"/>
              <a:t>Uitleg: Schrijf eerst de relatie tussen de twee prijzen. Vul beide oorspronkelijke functies in. Breng de constanten en Q-termen bijeen: 30 = Q. Dit is de berekende hoeveelheid bij H. Dezelfde 30 staat bij G als hoeveelheidgrens in de bron, maar die gelijkheid vervangt deze berekening niet.</a:t>
            </a:r>
          </a:p>
          <a:p xmlns:a="http://schemas.openxmlformats.org/drawingml/2006/main">
            <a:r>
              <a:rPr sz="1400"/>
              <a:t/>
            </a:r>
          </a:p>
          <a:p xmlns:a="http://schemas.openxmlformats.org/drawingml/2006/main">
            <a:r>
              <a:rPr sz="1400"/>
              <a:t>Misvatting: Een verkeerde tekenkeuze beschrijft een subsidie.</a:t>
            </a:r>
          </a:p>
          <a:p xmlns:a="http://schemas.openxmlformats.org/drawingml/2006/main">
            <a:r>
              <a:rPr sz="1400"/>
              <a:t/>
            </a:r>
          </a:p>
          <a:p xmlns:a="http://schemas.openxmlformats.org/drawingml/2006/main">
            <a:r>
              <a:rPr sz="1400"/>
              <a:t>Overgang: Bereken beide prijzen en de ontvangsten.</a:t>
            </a:r>
          </a:p>
          <a:p xmlns:a="http://schemas.openxmlformats.org/drawingml/2006/main">
            <a:r>
              <a:rPr sz="1400"/>
              <a:t/>
            </a:r>
          </a:p>
          <a:p xmlns:a="http://schemas.openxmlformats.org/drawingml/2006/main">
            <a:r>
              <a:rPr sz="1400"/>
              <a:t>Bron: Boek 4, books34-v3, gedrukte boekpagina 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hoort bij de 300?</a:t>
            </a:r>
          </a:p>
          <a:p xmlns:a="http://schemas.openxmlformats.org/drawingml/2006/main">
            <a:r>
              <a:rPr sz="1400"/>
              <a:t/>
            </a:r>
          </a:p>
          <a:p xmlns:a="http://schemas.openxmlformats.org/drawingml/2006/main">
            <a:r>
              <a:rPr sz="1400"/>
              <a:t>Uitleg: Vul Q in beide oorspronkelijke functies in. Pc is 35 en Pp is 25 euro per dienst. De overheid ontvangt 10 euro op elk van de 30 diensten: 300 euro per dag. De prijscontrole levert de heffing op. De schade is eveneens 300 euro per dag, maar is een afzonderlijke bronpost.</a:t>
            </a:r>
          </a:p>
          <a:p xmlns:a="http://schemas.openxmlformats.org/drawingml/2006/main">
            <a:r>
              <a:rPr sz="1400"/>
              <a:t/>
            </a:r>
          </a:p>
          <a:p xmlns:a="http://schemas.openxmlformats.org/drawingml/2006/main">
            <a:r>
              <a:rPr sz="1400"/>
              <a:t>Misvatting: De producent houdt niet de volledige 35 euro over.</a:t>
            </a:r>
          </a:p>
          <a:p xmlns:a="http://schemas.openxmlformats.org/drawingml/2006/main">
            <a:r>
              <a:rPr sz="1400"/>
              <a:t/>
            </a:r>
          </a:p>
          <a:p xmlns:a="http://schemas.openxmlformats.org/drawingml/2006/main">
            <a:r>
              <a:rPr sz="1400"/>
              <a:t>Overgang: Neem de 300 over in de complete maatschappelijke rekening.</a:t>
            </a:r>
          </a:p>
          <a:p xmlns:a="http://schemas.openxmlformats.org/drawingml/2006/main">
            <a:r>
              <a:rPr sz="1400"/>
              <a:t/>
            </a:r>
          </a:p>
          <a:p xmlns:a="http://schemas.openxmlformats.org/drawingml/2006/main">
            <a:r>
              <a:rPr sz="1400"/>
              <a:t>Bron: Boek 4, books34-v3, gedrukte boekpagina 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het verschil vóór uitvoering nul?</a:t>
            </a:r>
          </a:p>
          <a:p xmlns:a="http://schemas.openxmlformats.org/drawingml/2006/main">
            <a:r>
              <a:rPr sz="1400"/>
              <a:t/>
            </a:r>
          </a:p>
          <a:p xmlns:a="http://schemas.openxmlformats.org/drawingml/2006/main">
            <a:r>
              <a:rPr sz="1400"/>
              <a:t>Uitleg: Loop per kolom alle posten langs. H: 225 + 225 + 300 − 300 = 450 vóór uitvoering, minus 20 is 430. G: 225 + 525 + 0 − 300 = 450 vóór uitvoering, minus 40 is 410. Controleer het verschil op twee manieren: beide hebben 450 vóór uitvoering en G gebruikt 20 meer middelen, dus H moet 20 hoger eindigen. Alle bedragen zijn per dag.</a:t>
            </a:r>
          </a:p>
          <a:p xmlns:a="http://schemas.openxmlformats.org/drawingml/2006/main">
            <a:r>
              <a:rPr sz="1400"/>
              <a:t/>
            </a:r>
          </a:p>
          <a:p xmlns:a="http://schemas.openxmlformats.org/drawingml/2006/main">
            <a:r>
              <a:rPr sz="1400"/>
              <a:t>Misvatting: Overheidsontvangsten en uitvoering zijn geen onderling uitwisselbare posten.</a:t>
            </a:r>
          </a:p>
          <a:p xmlns:a="http://schemas.openxmlformats.org/drawingml/2006/main">
            <a:r>
              <a:rPr sz="1400"/>
              <a:t/>
            </a:r>
          </a:p>
          <a:p xmlns:a="http://schemas.openxmlformats.org/drawingml/2006/main">
            <a:r>
              <a:rPr sz="1400"/>
              <a:t>Overgang: Vergelijk de uitkomsten met het expliciete criterium.</a:t>
            </a:r>
          </a:p>
          <a:p xmlns:a="http://schemas.openxmlformats.org/drawingml/2006/main">
            <a:r>
              <a:rPr sz="1400"/>
              <a:t/>
            </a:r>
          </a:p>
          <a:p xmlns:a="http://schemas.openxmlformats.org/drawingml/2006/main">
            <a:r>
              <a:rPr sz="1400"/>
              <a:t>Bron: Boek 4, books34-v3, gedrukte boekpagina 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aanname koppel jij aan jouw conclusie?</a:t>
            </a:r>
          </a:p>
          <a:p xmlns:a="http://schemas.openxmlformats.org/drawingml/2006/main">
            <a:r>
              <a:rPr sz="1400"/>
              <a:t/>
            </a:r>
          </a:p>
          <a:p xmlns:a="http://schemas.openxmlformats.org/drawingml/2006/main">
            <a:r>
              <a:rPr sz="1400"/>
              <a:t>Uitleg: Geef advies, rekenonderbouwing en aanname in samenhang. H levert 20 euro per dag meer surplus volgens het genoemde criterium. Een relevante aanname is de gegeven naleving. Ook efficiënte toewijzing bij G of juiste schatting van uitvoering zijn goede antwoorden. Licht toe dat andere naleving de aantallen en daarmee schade en surplus kan veranderen. Het model rechtvaardigt geen onvoorwaardelijk advies.</a:t>
            </a:r>
          </a:p>
          <a:p xmlns:a="http://schemas.openxmlformats.org/drawingml/2006/main">
            <a:r>
              <a:rPr sz="1400"/>
              <a:t/>
            </a:r>
          </a:p>
          <a:p xmlns:a="http://schemas.openxmlformats.org/drawingml/2006/main">
            <a:r>
              <a:rPr sz="1400"/>
              <a:t>Misvatting: Alleen “H is beter” zonder criterium, verschil en aanname is onvolledig.</a:t>
            </a:r>
          </a:p>
          <a:p xmlns:a="http://schemas.openxmlformats.org/drawingml/2006/main">
            <a:r>
              <a:rPr sz="1400"/>
              <a:t/>
            </a:r>
          </a:p>
          <a:p xmlns:a="http://schemas.openxmlformats.org/drawingml/2006/main">
            <a:r>
              <a:rPr sz="1400"/>
              <a:t>Overgang: Bekijk waarom een producent toch G kan kiezen.</a:t>
            </a:r>
          </a:p>
          <a:p xmlns:a="http://schemas.openxmlformats.org/drawingml/2006/main">
            <a:r>
              <a:rPr sz="1400"/>
              <a:t/>
            </a:r>
          </a:p>
          <a:p xmlns:a="http://schemas.openxmlformats.org/drawingml/2006/main">
            <a:r>
              <a:rPr sz="1400"/>
              <a:t>Bron: Boek 4, books34-v3, gedrukte boekpagina 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een berekening kloppen terwijl partijen verschillende voorkeuren hebben?</a:t>
            </a:r>
          </a:p>
          <a:p xmlns:a="http://schemas.openxmlformats.org/drawingml/2006/main">
            <a:r>
              <a:rPr sz="1400"/>
              <a:t/>
            </a:r>
          </a:p>
          <a:p xmlns:a="http://schemas.openxmlformats.org/drawingml/2006/main">
            <a:r>
              <a:rPr sz="1400"/>
              <a:t>Uitleg: Bij G krijgen producenten 525 − 225 = 300 euro per dag meer PS. Bij H vloeit die 300 naar de overheid. Vóór uitvoering is het maatschappelijk surplus gelijk, maar de verdeling verschilt. Dat producenten G aantrekkelijker vinden is dus begrijpelijk. De raad gebruikt het gegeven criterium inclusief uitvoering; een andere voorkeur bewijst geen rekenfout. PS is bovendien niet automatisch winst als er constante kosten zijn.</a:t>
            </a:r>
          </a:p>
          <a:p xmlns:a="http://schemas.openxmlformats.org/drawingml/2006/main">
            <a:r>
              <a:rPr sz="1400"/>
              <a:t/>
            </a:r>
          </a:p>
          <a:p xmlns:a="http://schemas.openxmlformats.org/drawingml/2006/main">
            <a:r>
              <a:rPr sz="1400"/>
              <a:t>Misvatting: Noem het hogere PS niet automatisch een maatschappelijke winst of winst na alle vaste kosten.</a:t>
            </a:r>
          </a:p>
          <a:p xmlns:a="http://schemas.openxmlformats.org/drawingml/2006/main">
            <a:r>
              <a:rPr sz="1400"/>
              <a:t/>
            </a:r>
          </a:p>
          <a:p xmlns:a="http://schemas.openxmlformats.org/drawingml/2006/main">
            <a:r>
              <a:rPr sz="1400"/>
              <a:t>Overgang: Laat leerlingen hun antwoord langs de vijf deelvragen controleren.</a:t>
            </a:r>
          </a:p>
          <a:p xmlns:a="http://schemas.openxmlformats.org/drawingml/2006/main">
            <a:r>
              <a:rPr sz="1400"/>
              <a:t/>
            </a:r>
          </a:p>
          <a:p xmlns:a="http://schemas.openxmlformats.org/drawingml/2006/main">
            <a:r>
              <a:rPr sz="1400"/>
              <a:t>Bron: Boek 4, books34-v3, gedrukte boekpagina 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ontbrekende stap maakt jouw antwoord nu vollediger?</a:t>
            </a:r>
          </a:p>
          <a:p xmlns:a="http://schemas.openxmlformats.org/drawingml/2006/main">
            <a:r>
              <a:rPr sz="1400"/>
              <a:t/>
            </a:r>
          </a:p>
          <a:p xmlns:a="http://schemas.openxmlformats.org/drawingml/2006/main">
            <a:r>
              <a:rPr sz="1400"/>
              <a:t>Uitleg: Laat leerlingen de controle gebruiken om hun eigen antwoorden te verbeteren. Bij b zijn tussenstappen en eenheden nodig; bij c alle posten met hun juiste teken. Bij d moet een bronaanname expliciet verbonden zijn aan de conclusie. Bij e moeten het producentenbelang en de maatschappelijke rekening afzonderlijk benoemd worden.</a:t>
            </a:r>
          </a:p>
          <a:p xmlns:a="http://schemas.openxmlformats.org/drawingml/2006/main">
            <a:r>
              <a:rPr sz="1400"/>
              <a:t/>
            </a:r>
          </a:p>
          <a:p xmlns:a="http://schemas.openxmlformats.org/drawingml/2006/main">
            <a:r>
              <a:rPr sz="1400"/>
              <a:t>Misvatting: Een eindgetal zonder de gevraagde uitleg is geen volledig antwoord.</a:t>
            </a:r>
          </a:p>
          <a:p xmlns:a="http://schemas.openxmlformats.org/drawingml/2006/main">
            <a:r>
              <a:rPr sz="1400"/>
              <a:t/>
            </a:r>
          </a:p>
          <a:p xmlns:a="http://schemas.openxmlformats.org/drawingml/2006/main">
            <a:r>
              <a:rPr sz="1400"/>
              <a:t>Overgang: Keer terug naar het overzicht voor het huiswerk.</a:t>
            </a:r>
          </a:p>
          <a:p xmlns:a="http://schemas.openxmlformats.org/drawingml/2006/main">
            <a:r>
              <a:rPr sz="1400"/>
              <a:t/>
            </a:r>
          </a:p>
          <a:p xmlns:a="http://schemas.openxmlformats.org/drawingml/2006/main">
            <a:r>
              <a:rPr sz="1400"/>
              <a:t>Bron: Boek 4, books34-v3, gedrukte boekpagina 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uitleggen, en waar gebruik je de theorie?</a:t>
            </a:r>
          </a:p>
          <a:p xmlns:a="http://schemas.openxmlformats.org/drawingml/2006/main">
            <a:r>
              <a:rPr sz="1400"/>
              <a:t/>
            </a:r>
          </a:p>
          <a:p xmlns:a="http://schemas.openxmlformats.org/drawingml/2006/main">
            <a:r>
              <a:rPr sz="1400"/>
              <a:t>Uitleg: Laat dit overzicht staan tijdens afsluiting / huiswerk. Start 46–47 op p. 101; basis 48 op p. 101 en 49 op p. 102; zelfstandig 50–51 op p. 102; doel 52 op p. 103. Huiswerk is 48, 49, 50, 51 en 52 maken en nakijken. Bonus 53 en herhaling 54 zijn extra. Bij 46 is de bekende rekening uit §4.2.4 uitgebreid met echte uitvoeringskosten: laat de uitleg op p. 100 gebruiken. Bij 47 is de stap van instrument naar expliciet criterium nieuw: laat p. 99 gebruiken. Vraag leerlingen de gebruikte steun en hun twijfel te noteren; dit is verkennen, geen toets van beheersing. Vóór het basiswerk: laat 46–47 opnieuw proberen, laat leerlingen uitleggen welke stap is veranderd en geef zo nodig extra steun. De volledige route mag in een volgende les of als huiswerk worden voltooid.</a:t>
            </a:r>
          </a:p>
          <a:p xmlns:a="http://schemas.openxmlformats.org/drawingml/2006/main">
            <a:r>
              <a:rPr sz="1400"/>
              <a:t/>
            </a:r>
          </a:p>
          <a:p xmlns:a="http://schemas.openxmlformats.org/drawingml/2006/main">
            <a:r>
              <a:rPr sz="1400"/>
              <a:t>Misvatting: De handleiding noemt hoofdstukpagina’s 47–52; het complete boek heeft hier gedrukte pagina’s 99–104.</a:t>
            </a:r>
          </a:p>
          <a:p xmlns:a="http://schemas.openxmlformats.org/drawingml/2006/main">
            <a:r>
              <a:rPr sz="1400"/>
              <a:t/>
            </a:r>
          </a:p>
          <a:p xmlns:a="http://schemas.openxmlformats.org/drawingml/2006/main">
            <a:r>
              <a:rPr sz="1400"/>
              <a:t>Overgang: Laat het huiswerk in de agenda zetten.</a:t>
            </a:r>
          </a:p>
          <a:p xmlns:a="http://schemas.openxmlformats.org/drawingml/2006/main">
            <a:r>
              <a:rPr sz="1400"/>
              <a:t/>
            </a:r>
          </a:p>
          <a:p xmlns:a="http://schemas.openxmlformats.org/drawingml/2006/main">
            <a:r>
              <a:rPr sz="1400"/>
              <a:t>Bron: Boek 4, books34-v3, gedrukte boekpagina 99–103.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https://github.com/meijer1973/4veco-lessen/blob/e734532a42b27732ac25ce990fc9448b12309d28/edities/books34-v3/books/book-4/chapters/4.2/4.2.6%20manuscript.md</a:t>
            </a:r>
          </a:p>
          <a:p xmlns:a="http://schemas.openxmlformats.org/drawingml/2006/main">
            <a:r>
              <a:rPr sz="1400"/>
              <a:t>Antwoordmodel: https://github.com/meijer1973/4veco-lessen/blob/e734532a42b27732ac25ce990fc9448b12309d28/edities/books34-v3/books/book-4/chapters/4.2/Antwoorden.md#antwoord52</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83b09d20984d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9c9120c5d64477" /><Relationship Type="http://schemas.openxmlformats.org/officeDocument/2006/relationships/slideLayout" Target="/ppt/slideLayouts/slideLayout1.xml" Id="R03a041348b3f47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a041348b3f47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c8fd415e3640c6" /><Relationship Type="http://schemas.openxmlformats.org/officeDocument/2006/relationships/notesSlide" Target="/ppt/notesSlides/notesSlide1.xml" Id="Re1bf968f49d042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9f0fd146694d32" /><Relationship Type="http://schemas.openxmlformats.org/officeDocument/2006/relationships/notesSlide" Target="/ppt/notesSlides/notesSlide2.xml" Id="Raf843c71093e44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992d49e808426d" /><Relationship Type="http://schemas.openxmlformats.org/officeDocument/2006/relationships/notesSlide" Target="/ppt/notesSlides/notesSlide3.xml" Id="Rd4b784d808d942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d80119e9cf478a" /><Relationship Type="http://schemas.openxmlformats.org/officeDocument/2006/relationships/notesSlide" Target="/ppt/notesSlides/notesSlide4.xml" Id="Rc9a0f5b3b87d4a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ebff677b4a450e" /><Relationship Type="http://schemas.openxmlformats.org/officeDocument/2006/relationships/notesSlide" Target="/ppt/notesSlides/notesSlide5.xml" Id="Re5903940d22744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da7ffd95454158" /><Relationship Type="http://schemas.openxmlformats.org/officeDocument/2006/relationships/notesSlide" Target="/ppt/notesSlides/notesSlide6.xml" Id="R706559483c6f4c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cdb1e4740648c4" /><Relationship Type="http://schemas.openxmlformats.org/officeDocument/2006/relationships/notesSlide" Target="/ppt/notesSlides/notesSlide7.xml" Id="R549efadf6f5d43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055bb912be4db3" /><Relationship Type="http://schemas.openxmlformats.org/officeDocument/2006/relationships/notesSlide" Target="/ppt/notesSlides/notesSlide8.xml" Id="Rc604e1979d3a4f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97ee6fb52054ff6" /><Relationship Type="http://schemas.openxmlformats.org/officeDocument/2006/relationships/notesSlide" Target="/ppt/notesSlides/notesSlide9.xml" Id="Rffd4b3e6652646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7cd201cbe4b48ce" /><Relationship Type="http://schemas.openxmlformats.org/officeDocument/2006/relationships/notesSlide" Target="/ppt/notesSlides/notesSlide10.xml" Id="Rcff2cc249b4f4e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3a49158f4d24049" /><Relationship Type="http://schemas.openxmlformats.org/officeDocument/2006/relationships/notesSlide" Target="/ppt/notesSlides/notesSlide11.xml" Id="R6dcd15d555454b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1ba90c889524f15" /><Relationship Type="http://schemas.openxmlformats.org/officeDocument/2006/relationships/notesSlide" Target="/ppt/notesSlides/notesSlide12.xml" Id="R55497f9aa3b84e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ee3da096b534583" /><Relationship Type="http://schemas.openxmlformats.org/officeDocument/2006/relationships/notesSlide" Target="/ppt/notesSlides/notesSlide13.xml" Id="R0c39293f0f5147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4868e96efe54d7c" /><Relationship Type="http://schemas.openxmlformats.org/officeDocument/2006/relationships/notesSlide" Target="/ppt/notesSlides/notesSlide14.xml" Id="R91eaa64a13ac4e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626e7d7461d425c" /><Relationship Type="http://schemas.openxmlformats.org/officeDocument/2006/relationships/notesSlide" Target="/ppt/notesSlides/notesSlide15.xml" Id="R962015e20ae946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8b2485de264f1f" /><Relationship Type="http://schemas.openxmlformats.org/officeDocument/2006/relationships/notesSlide" Target="/ppt/notesSlides/notesSlide16.xml" Id="R6babc2a23106484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2238aa3fba84546" /><Relationship Type="http://schemas.openxmlformats.org/officeDocument/2006/relationships/notesSlide" Target="/ppt/notesSlides/notesSlide17.xml" Id="Re7c65f3c69a244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fd823a7df044de4" /><Relationship Type="http://schemas.openxmlformats.org/officeDocument/2006/relationships/notesSlide" Target="/ppt/notesSlides/notesSlide18.xml" Id="Ra762229f88814a6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c8682e9c0e24b48" /><Relationship Type="http://schemas.openxmlformats.org/officeDocument/2006/relationships/notesSlide" Target="/ppt/notesSlides/notesSlide19.xml" Id="R1c0de5932739454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40a6d72da3a412f" /><Relationship Type="http://schemas.openxmlformats.org/officeDocument/2006/relationships/notesSlide" Target="/ppt/notesSlides/notesSlide20.xml" Id="Rdb84a8b18db140e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75bf71ec32342a2" /><Relationship Type="http://schemas.openxmlformats.org/officeDocument/2006/relationships/notesSlide" Target="/ppt/notesSlides/notesSlide21.xml" Id="Rca884280db174d2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2cdc32de09640b7" /><Relationship Type="http://schemas.openxmlformats.org/officeDocument/2006/relationships/notesSlide" Target="/ppt/notesSlides/notesSlide22.xml" Id="R22e541ee28124a6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1fa60841cc9481b" /><Relationship Type="http://schemas.openxmlformats.org/officeDocument/2006/relationships/notesSlide" Target="/ppt/notesSlides/notesSlide23.xml" Id="Re03ec2d7967d42e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6 Overheidsingrijpen bij marktfalen">
            <a:extLst xmlns:a="http://schemas.openxmlformats.org/drawingml/2006/main">
              <a:ext uri="{FF2B5EF4-FFF2-40B4-BE49-F238E27FC236}">
                <a16:creationId xmlns:a16="http://schemas.microsoft.com/office/drawing/2014/main" id="{2FF610DF-BF81-4A30-A159-976B9E24502E}"/>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§4.2.6 Overheidsingrijpen bij marktfalen</a:t>
            </a:r>
          </a:p>
        </p:txBody>
      </p:sp>
      <p:sp>
        <p:nvSpPr>
          <p:cNvPr id="2" name="">
            <a:extLst xmlns:a="http://schemas.openxmlformats.org/drawingml/2006/main">
              <a:ext uri="{FF2B5EF4-FFF2-40B4-BE49-F238E27FC236}">
                <a16:creationId xmlns:a16="http://schemas.microsoft.com/office/drawing/2014/main" id="{0A71EBFA-D11C-4C36-9004-4F2A44654A8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E0A98DA-F491-4892-90D0-DCA14658D2A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Overheidsingrijpen bij marktfalen</a:t>
            </a:r>
          </a:p>
        </p:txBody>
      </p:sp>
      <p:sp>
        <p:nvSpPr>
          <p:cNvPr id="4" name="slide-number">
            <a:extLst xmlns:a="http://schemas.openxmlformats.org/drawingml/2006/main">
              <a:ext uri="{FF2B5EF4-FFF2-40B4-BE49-F238E27FC236}">
                <a16:creationId xmlns:a16="http://schemas.microsoft.com/office/drawing/2014/main" id="{1E926046-9FE6-4084-BF90-4F751669113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8CBAA59A-A8F6-4801-9F77-4E5D8B8908FE}"/>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358B520D-D400-4D2D-A844-C7FE674BE8BB}"/>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0BAB3EE0-B5C6-4185-B71C-A6B55336DEB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6B6C9380-B5A4-4516-8726-62B51C879B29}"/>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91890A59-5763-4EA8-A574-DA167640ED2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E9E79B57-83A0-45AF-A5FD-221FEC9B41F1}"/>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507A62A-803B-44C5-B3A7-2B0976670A1D}"/>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7288CDD4-5759-463E-9445-8A930D4B7116}"/>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603D5063-EE24-4C91-9C3B-60AB3FF67DEE}"/>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61834F1C-8866-46BA-B2FD-3BEB045B5C7A}"/>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7FCA7C94-F4F7-4C8B-968C-C7274E55B334}"/>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D040C4B1-381B-48EF-B662-024F88A56D0A}"/>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7E063D6B-9EB9-4CFF-A0CB-DF71E0D4FCD6}"/>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63400C7D-8A4B-4FCC-B114-0BEFAF4DDE41}"/>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52.</a:t>
            </a:r>
          </a:p>
        </p:txBody>
      </p:sp>
      <p:sp>
        <p:nvSpPr>
          <p:cNvPr id="19" name="route-number-7">
            <a:extLst xmlns:a="http://schemas.openxmlformats.org/drawingml/2006/main">
              <a:ext uri="{FF2B5EF4-FFF2-40B4-BE49-F238E27FC236}">
                <a16:creationId xmlns:a16="http://schemas.microsoft.com/office/drawing/2014/main" id="{F75A368E-F2DA-46DD-BF06-497FC6E330A4}"/>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773412EC-BE88-4EEC-9D89-9E3ECEF8511E}"/>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4C11E30-30E8-4B25-BB87-D65B00A00C80}"/>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1A18C25-1A59-4608-9F22-E56ADEFD169E}"/>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Beleid aan het probleem koppelen;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plannen doorrekenen; efficiëntie,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verdeling en uitvoering afwegen.</a:t>
            </a:r>
          </a:p>
        </p:txBody>
      </p:sp>
      <p:sp>
        <p:nvSpPr>
          <p:cNvPr id="23" name="">
            <a:extLst xmlns:a="http://schemas.openxmlformats.org/drawingml/2006/main">
              <a:ext uri="{FF2B5EF4-FFF2-40B4-BE49-F238E27FC236}">
                <a16:creationId xmlns:a16="http://schemas.microsoft.com/office/drawing/2014/main" id="{AC9AD933-7489-47DA-9373-79CB0B4CE308}"/>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B839B4CB-581A-4573-8AD8-4278EF4C7EA8}"/>
              </a:ext>
            </a:extLst>
          </p:cNvPr>
          <p:cNvSpPr>
            <a:spLocks xmlns:a="http://schemas.openxmlformats.org/drawingml/2006/main" noGrp="1"/>
          </p:cNvSpPr>
          <p:nvPr/>
        </p:nvSpPr>
        <p:spPr>
          <a:xfrm xmlns:a="http://schemas.openxmlformats.org/drawingml/2006/main">
            <a:off x="9258300" y="3790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DA338499-421C-4D64-9249-57BC56BFD58A}"/>
              </a:ext>
            </a:extLst>
          </p:cNvPr>
          <p:cNvSpPr>
            <a:spLocks xmlns:a="http://schemas.openxmlformats.org/drawingml/2006/main" noGrp="1"/>
          </p:cNvSpPr>
          <p:nvPr/>
        </p:nvSpPr>
        <p:spPr>
          <a:xfrm xmlns:a="http://schemas.openxmlformats.org/drawingml/2006/main">
            <a:off x="9258300" y="4295775"/>
            <a:ext cx="5381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101 · Opgaven 46 en 47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46: verkennen met theorie p. 100</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47: verkennen met theorie p. 99</a:t>
            </a:r>
          </a:p>
        </p:txBody>
      </p:sp>
      <p:sp>
        <p:nvSpPr>
          <p:cNvPr id="26" name="">
            <a:extLst xmlns:a="http://schemas.openxmlformats.org/drawingml/2006/main">
              <a:ext uri="{FF2B5EF4-FFF2-40B4-BE49-F238E27FC236}">
                <a16:creationId xmlns:a16="http://schemas.microsoft.com/office/drawing/2014/main" id="{CBA605AC-CA95-4911-BB5A-25894F3BF95A}"/>
              </a:ext>
            </a:extLst>
          </p:cNvPr>
          <p:cNvSpPr>
            <a:spLocks xmlns:a="http://schemas.openxmlformats.org/drawingml/2006/main" noGrp="1"/>
          </p:cNvSpPr>
          <p:nvPr/>
        </p:nvSpPr>
        <p:spPr>
          <a:xfrm xmlns:a="http://schemas.openxmlformats.org/drawingml/2006/main">
            <a:off x="9258300" y="553402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4C613BD6-7751-45E4-BBB1-6DA15D2421D7}"/>
              </a:ext>
            </a:extLst>
          </p:cNvPr>
          <p:cNvSpPr>
            <a:spLocks xmlns:a="http://schemas.openxmlformats.org/drawingml/2006/main" noGrp="1"/>
          </p:cNvSpPr>
          <p:nvPr/>
        </p:nvSpPr>
        <p:spPr>
          <a:xfrm xmlns:a="http://schemas.openxmlformats.org/drawingml/2006/main">
            <a:off x="9258300" y="57531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C85F05D8-57C9-436B-8D79-AFA24EC60D9E}"/>
              </a:ext>
            </a:extLst>
          </p:cNvPr>
          <p:cNvSpPr>
            <a:spLocks xmlns:a="http://schemas.openxmlformats.org/drawingml/2006/main" noGrp="1"/>
          </p:cNvSpPr>
          <p:nvPr/>
        </p:nvSpPr>
        <p:spPr>
          <a:xfrm xmlns:a="http://schemas.openxmlformats.org/drawingml/2006/main">
            <a:off x="9258300" y="6286500"/>
            <a:ext cx="53816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§4.2.6 · Opgaven 48 t/m 52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48 en 49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50 en 51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52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7713998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robleem, oorzaak en instrument">
            <a:extLst xmlns:a="http://schemas.openxmlformats.org/drawingml/2006/main">
              <a:ext uri="{FF2B5EF4-FFF2-40B4-BE49-F238E27FC236}">
                <a16:creationId xmlns:a16="http://schemas.microsoft.com/office/drawing/2014/main" id="{A7C4A9CC-2A03-4153-B1E0-F6E7C3E30BDA}"/>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Probleem, oorzaak en instrument</a:t>
            </a:r>
          </a:p>
        </p:txBody>
      </p:sp>
      <p:sp>
        <p:nvSpPr>
          <p:cNvPr id="2" name="">
            <a:extLst xmlns:a="http://schemas.openxmlformats.org/drawingml/2006/main">
              <a:ext uri="{FF2B5EF4-FFF2-40B4-BE49-F238E27FC236}">
                <a16:creationId xmlns:a16="http://schemas.microsoft.com/office/drawing/2014/main" id="{C12D9951-38ED-4931-82E8-84D475E8EA3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4FF9E14-8905-4764-8C87-B2F082AFFC5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Overheidsingrijpen bij marktfalen</a:t>
            </a:r>
          </a:p>
        </p:txBody>
      </p:sp>
      <p:sp>
        <p:nvSpPr>
          <p:cNvPr id="4" name="slide-number">
            <a:extLst xmlns:a="http://schemas.openxmlformats.org/drawingml/2006/main">
              <a:ext uri="{FF2B5EF4-FFF2-40B4-BE49-F238E27FC236}">
                <a16:creationId xmlns:a16="http://schemas.microsoft.com/office/drawing/2014/main" id="{5F1F12A0-FFCA-47FA-B948-6A4A98A5B83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1" name=""/>
          <p:cNvGraphicFramePr/>
          <p:nvPr/>
        </p:nvGraphicFramePr>
        <p:xfrm>
          <a:off xmlns:a="http://schemas.openxmlformats.org/drawingml/2006/main" x="571500" y="2047875"/>
          <a:ext xmlns:a="http://schemas.openxmlformats.org/drawingml/2006/main" cx="14097000" cy="4381500"/>
        </p:xfrm>
        <a:graphic xmlns:a="http://schemas.openxmlformats.org/drawingml/2006/main">
          <a:graphicData uri="http://schemas.openxmlformats.org/drawingml/2006/table">
            <a:tbl>
              <a:tblPr/>
              <a:tblGrid>
                <a:gridCol w="3905250"/>
                <a:gridCol w="5191125"/>
                <a:gridCol w="5000625"/>
              </a:tblGrid>
              <a:tr h="1095375">
                <a:tc>
                  <a:txBody>
                    <a:bodyPr lIns="171450" tIns="95250" rIns="152400" bIns="95250"/>
                    <a:lstStyle/>
                    <a:p>
                      <a:r>
                        <a:rPr sz="2400" b="1">
                          <a:solidFill>
                            <a:srgbClr val="FFFFFF"/>
                          </a:solidFill>
                          <a:latin typeface="Arial"/>
                          <a:ea typeface="Arial"/>
                          <a:cs typeface="Arial"/>
                        </a:rPr>
                        <a:t>Marktprobleem</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Oorzaak</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Mogelijk instrument</a:t>
                      </a:r>
                    </a:p>
                  </a:txBody>
                  <a:tcPr marL="91440" marR="91440" marT="45720" marB="45720" anchor="ctr">
                    <a:solidFill>
                      <a:srgbClr val="183247"/>
                    </a:solidFill>
                  </a:tcPr>
                </a:tc>
              </a:tr>
              <a:tr h="1095375">
                <a:tc>
                  <a:txBody>
                    <a:bodyPr lIns="171450" tIns="95250" rIns="152400" bIns="95250"/>
                    <a:lstStyle/>
                    <a:p>
                      <a:r>
                        <a:rPr sz="2400" b="0">
                          <a:solidFill>
                            <a:srgbClr val="183247"/>
                          </a:solidFill>
                          <a:latin typeface="Arial"/>
                          <a:ea typeface="Arial"/>
                          <a:cs typeface="Arial"/>
                        </a:rPr>
                        <a:t>Marktmacht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Afzet beperken voor meer winst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Toetreding mogelijk maken</a:t>
                      </a:r>
                    </a:p>
                    <a:p>
                      <a:r>
                        <a:rPr sz="2400" b="0">
                          <a:solidFill>
                            <a:srgbClr val="183247"/>
                          </a:solidFill>
                          <a:latin typeface="Arial"/>
                          <a:ea typeface="Arial"/>
                          <a:cs typeface="Arial"/>
                        </a:rPr>
                        <a:t>of prijskeuze begrenzen</a:t>
                      </a:r>
                    </a:p>
                  </a:txBody>
                  <a:tcPr marL="91440" marR="91440" marT="45720" marB="45720" anchor="ctr">
                    <a:solidFill>
                      <a:srgbClr val="FFFFFF"/>
                    </a:solidFill>
                  </a:tcPr>
                </a:tc>
              </a:tr>
              <a:tr h="1095375">
                <a:tc>
                  <a:txBody>
                    <a:bodyPr lIns="171450" tIns="95250" rIns="152400" bIns="95250"/>
                    <a:lstStyle/>
                    <a:p>
                      <a:r>
                        <a:rPr sz="2400" b="0">
                          <a:solidFill>
                            <a:srgbClr val="183247"/>
                          </a:solidFill>
                          <a:latin typeface="Arial"/>
                          <a:ea typeface="Arial"/>
                          <a:cs typeface="Arial"/>
                        </a:rPr>
                        <a:t>Negatief extern effect</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Schade aan derden telt</a:t>
                      </a:r>
                    </a:p>
                    <a:p>
                      <a:r>
                        <a:rPr sz="2400" b="0">
                          <a:solidFill>
                            <a:srgbClr val="183247"/>
                          </a:solidFill>
                          <a:latin typeface="Arial"/>
                          <a:ea typeface="Arial"/>
                          <a:cs typeface="Arial"/>
                        </a:rPr>
                        <a:t>onvoldoende mee</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Heffing of hoeveelheidseis</a:t>
                      </a:r>
                    </a:p>
                  </a:txBody>
                  <a:tcPr marL="91440" marR="91440" marT="45720" marB="45720" anchor="ctr">
                    <a:solidFill>
                      <a:srgbClr val="EFF4F7"/>
                    </a:solidFill>
                  </a:tcPr>
                </a:tc>
              </a:tr>
              <a:tr h="1095375">
                <a:tc>
                  <a:txBody>
                    <a:bodyPr lIns="171450" tIns="95250" rIns="152400" bIns="95250"/>
                    <a:lstStyle/>
                    <a:p>
                      <a:r>
                        <a:rPr sz="2400" b="0">
                          <a:solidFill>
                            <a:srgbClr val="183247"/>
                          </a:solidFill>
                          <a:latin typeface="Arial"/>
                          <a:ea typeface="Arial"/>
                          <a:cs typeface="Arial"/>
                        </a:rPr>
                        <a:t>Positief extern effect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Baten voor derden tellen</a:t>
                      </a:r>
                    </a:p>
                    <a:p>
                      <a:r>
                        <a:rPr sz="2400" b="0">
                          <a:solidFill>
                            <a:srgbClr val="183247"/>
                          </a:solidFill>
                          <a:latin typeface="Arial"/>
                          <a:ea typeface="Arial"/>
                          <a:cs typeface="Arial"/>
                        </a:rPr>
                        <a:t>onvoldoende mee</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Subsidie</a:t>
                      </a:r>
                    </a:p>
                  </a:txBody>
                  <a:tcPr marL="91440" marR="91440" marT="45720" marB="45720" anchor="ctr">
                    <a:solidFill>
                      <a:srgbClr val="FFFFFF"/>
                    </a:solidFill>
                  </a:tcPr>
                </a:tc>
              </a:tr>
            </a:tbl>
          </a:graphicData>
        </a:graphic>
      </p:graphicFrame>
      <p:sp>
        <p:nvSpPr>
          <p:cNvPr id="6" name="Een instrument moet de beschreven oorzaak veranderen.">
            <a:extLst xmlns:a="http://schemas.openxmlformats.org/drawingml/2006/main">
              <a:ext uri="{FF2B5EF4-FFF2-40B4-BE49-F238E27FC236}">
                <a16:creationId xmlns:a16="http://schemas.microsoft.com/office/drawing/2014/main" id="{30A2864D-3084-45B6-A627-69F75ED92CD7}"/>
              </a:ext>
            </a:extLst>
          </p:cNvPr>
          <p:cNvSpPr>
            <a:spLocks xmlns:a="http://schemas.openxmlformats.org/drawingml/2006/main" noGrp="1"/>
          </p:cNvSpPr>
          <p:nvPr/>
        </p:nvSpPr>
        <p:spPr>
          <a:xfrm xmlns:a="http://schemas.openxmlformats.org/drawingml/2006/main">
            <a:off x="571500" y="69627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Een instrument moet de beschreven oorzaak veranderen.</a:t>
            </a:r>
          </a:p>
        </p:txBody>
      </p:sp>
    </p:spTree>
    <p:extLst>
      <p:ext uri="{BB962C8B-B14F-4D97-AF65-F5344CB8AC3E}">
        <p14:creationId xmlns:p14="http://schemas.microsoft.com/office/powerpoint/2010/main" val="5813046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fficiëntie, verdeling en budget">
            <a:extLst xmlns:a="http://schemas.openxmlformats.org/drawingml/2006/main">
              <a:ext uri="{FF2B5EF4-FFF2-40B4-BE49-F238E27FC236}">
                <a16:creationId xmlns:a16="http://schemas.microsoft.com/office/drawing/2014/main" id="{D03B1CAD-BA95-4EB2-9407-3945D8C82EEE}"/>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Efficiëntie, verdeling en budget</a:t>
            </a:r>
          </a:p>
        </p:txBody>
      </p:sp>
      <p:sp>
        <p:nvSpPr>
          <p:cNvPr id="2" name="">
            <a:extLst xmlns:a="http://schemas.openxmlformats.org/drawingml/2006/main">
              <a:ext uri="{FF2B5EF4-FFF2-40B4-BE49-F238E27FC236}">
                <a16:creationId xmlns:a16="http://schemas.microsoft.com/office/drawing/2014/main" id="{FAE02674-DC9A-4CCD-811E-AF1EDEF1398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7336D1C-9E80-4585-99B6-CA41D5C3CDC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Overheidsingrijpen bij marktfalen</a:t>
            </a:r>
          </a:p>
        </p:txBody>
      </p:sp>
      <p:sp>
        <p:nvSpPr>
          <p:cNvPr id="4" name="slide-number">
            <a:extLst xmlns:a="http://schemas.openxmlformats.org/drawingml/2006/main">
              <a:ext uri="{FF2B5EF4-FFF2-40B4-BE49-F238E27FC236}">
                <a16:creationId xmlns:a16="http://schemas.microsoft.com/office/drawing/2014/main" id="{81D7D9B2-1313-4D3A-8A5B-FEB63F0B461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Efficiëntie">
            <a:extLst xmlns:a="http://schemas.openxmlformats.org/drawingml/2006/main">
              <a:ext uri="{FF2B5EF4-FFF2-40B4-BE49-F238E27FC236}">
                <a16:creationId xmlns:a16="http://schemas.microsoft.com/office/drawing/2014/main" id="{C4350B84-7403-4E6F-BCDB-B98B2C126F67}"/>
              </a:ext>
            </a:extLst>
          </p:cNvPr>
          <p:cNvSpPr>
            <a:spLocks xmlns:a="http://schemas.openxmlformats.org/drawingml/2006/main" noGrp="1"/>
          </p:cNvSpPr>
          <p:nvPr/>
        </p:nvSpPr>
        <p:spPr>
          <a:xfrm xmlns:a="http://schemas.openxmlformats.org/drawingml/2006/main">
            <a:off x="571500" y="20764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Efficiëntie</a:t>
            </a:r>
          </a:p>
        </p:txBody>
      </p:sp>
      <p:sp>
        <p:nvSpPr>
          <p:cNvPr id="6" name="Hoe groot is het maatschappelijk surplus&#10;na alle relevante kosten">
            <a:extLst xmlns:a="http://schemas.openxmlformats.org/drawingml/2006/main">
              <a:ext uri="{FF2B5EF4-FFF2-40B4-BE49-F238E27FC236}">
                <a16:creationId xmlns:a16="http://schemas.microsoft.com/office/drawing/2014/main" id="{9D0488D6-0EAB-453E-B413-86CCD760A255}"/>
              </a:ext>
            </a:extLst>
          </p:cNvPr>
          <p:cNvSpPr>
            <a:spLocks xmlns:a="http://schemas.openxmlformats.org/drawingml/2006/main" noGrp="1"/>
          </p:cNvSpPr>
          <p:nvPr/>
        </p:nvSpPr>
        <p:spPr>
          <a:xfrm xmlns:a="http://schemas.openxmlformats.org/drawingml/2006/main">
            <a:off x="5619750" y="207645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Hoe groot is het maatschappelijk surplus</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na alle relevante kosten?</a:t>
            </a:r>
          </a:p>
        </p:txBody>
      </p:sp>
      <p:sp>
        <p:nvSpPr>
          <p:cNvPr id="7" name="">
            <a:extLst xmlns:a="http://schemas.openxmlformats.org/drawingml/2006/main">
              <a:ext uri="{FF2B5EF4-FFF2-40B4-BE49-F238E27FC236}">
                <a16:creationId xmlns:a16="http://schemas.microsoft.com/office/drawing/2014/main" id="{50774A5C-E4FF-4D14-84E5-D8168D75A87E}"/>
              </a:ext>
            </a:extLst>
          </p:cNvPr>
          <p:cNvSpPr>
            <a:spLocks xmlns:a="http://schemas.openxmlformats.org/drawingml/2006/main" noGrp="1"/>
          </p:cNvSpPr>
          <p:nvPr/>
        </p:nvSpPr>
        <p:spPr>
          <a:xfrm xmlns:a="http://schemas.openxmlformats.org/drawingml/2006/main">
            <a:off x="571500" y="3429000"/>
            <a:ext cx="14097000" cy="0"/>
          </a:xfrm>
          <a:prstGeom xmlns:a="http://schemas.openxmlformats.org/drawingml/2006/main" prst="line">
            <a:avLst/>
          </a:prstGeom>
          <a:ln xmlns:a="http://schemas.openxmlformats.org/drawingml/2006/main" w="19050">
            <a:solidFill>
              <a:srgbClr val="C6D2DB"/>
            </a:solidFill>
          </a:ln>
        </p:spPr>
      </p:sp>
      <p:sp>
        <p:nvSpPr>
          <p:cNvPr id="8" name="Verdeling">
            <a:extLst xmlns:a="http://schemas.openxmlformats.org/drawingml/2006/main">
              <a:ext uri="{FF2B5EF4-FFF2-40B4-BE49-F238E27FC236}">
                <a16:creationId xmlns:a16="http://schemas.microsoft.com/office/drawing/2014/main" id="{1E60C4A9-141D-4AF5-8AB3-87C8E8E95C6F}"/>
              </a:ext>
            </a:extLst>
          </p:cNvPr>
          <p:cNvSpPr>
            <a:spLocks xmlns:a="http://schemas.openxmlformats.org/drawingml/2006/main" noGrp="1"/>
          </p:cNvSpPr>
          <p:nvPr/>
        </p:nvSpPr>
        <p:spPr>
          <a:xfrm xmlns:a="http://schemas.openxmlformats.org/drawingml/2006/main">
            <a:off x="571500" y="366712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Verdeling</a:t>
            </a:r>
          </a:p>
        </p:txBody>
      </p:sp>
      <p:sp>
        <p:nvSpPr>
          <p:cNvPr id="9" name="Welke groepen krijgen of verliezen voordeel?">
            <a:extLst xmlns:a="http://schemas.openxmlformats.org/drawingml/2006/main">
              <a:ext uri="{FF2B5EF4-FFF2-40B4-BE49-F238E27FC236}">
                <a16:creationId xmlns:a16="http://schemas.microsoft.com/office/drawing/2014/main" id="{E80F8C1E-EAA4-4508-940C-3D0C3EFBD6BC}"/>
              </a:ext>
            </a:extLst>
          </p:cNvPr>
          <p:cNvSpPr>
            <a:spLocks xmlns:a="http://schemas.openxmlformats.org/drawingml/2006/main" noGrp="1"/>
          </p:cNvSpPr>
          <p:nvPr/>
        </p:nvSpPr>
        <p:spPr>
          <a:xfrm xmlns:a="http://schemas.openxmlformats.org/drawingml/2006/main">
            <a:off x="5619750" y="3667125"/>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Welke groepen krijgen of verliezen voordeel?</a:t>
            </a:r>
          </a:p>
        </p:txBody>
      </p:sp>
      <p:sp>
        <p:nvSpPr>
          <p:cNvPr id="10" name="">
            <a:extLst xmlns:a="http://schemas.openxmlformats.org/drawingml/2006/main">
              <a:ext uri="{FF2B5EF4-FFF2-40B4-BE49-F238E27FC236}">
                <a16:creationId xmlns:a16="http://schemas.microsoft.com/office/drawing/2014/main" id="{E4FEDAB3-61DD-435C-B089-75127ED89301}"/>
              </a:ext>
            </a:extLst>
          </p:cNvPr>
          <p:cNvSpPr>
            <a:spLocks xmlns:a="http://schemas.openxmlformats.org/drawingml/2006/main" noGrp="1"/>
          </p:cNvSpPr>
          <p:nvPr/>
        </p:nvSpPr>
        <p:spPr>
          <a:xfrm xmlns:a="http://schemas.openxmlformats.org/drawingml/2006/main">
            <a:off x="571500" y="5019675"/>
            <a:ext cx="14097000" cy="0"/>
          </a:xfrm>
          <a:prstGeom xmlns:a="http://schemas.openxmlformats.org/drawingml/2006/main" prst="line">
            <a:avLst/>
          </a:prstGeom>
          <a:ln xmlns:a="http://schemas.openxmlformats.org/drawingml/2006/main" w="19050">
            <a:solidFill>
              <a:srgbClr val="C6D2DB"/>
            </a:solidFill>
          </a:ln>
        </p:spPr>
      </p:sp>
      <p:sp>
        <p:nvSpPr>
          <p:cNvPr id="11" name="Budget">
            <a:extLst xmlns:a="http://schemas.openxmlformats.org/drawingml/2006/main">
              <a:ext uri="{FF2B5EF4-FFF2-40B4-BE49-F238E27FC236}">
                <a16:creationId xmlns:a16="http://schemas.microsoft.com/office/drawing/2014/main" id="{7FAC60A7-235F-4F98-9B11-113B08DCCD61}"/>
              </a:ext>
            </a:extLst>
          </p:cNvPr>
          <p:cNvSpPr>
            <a:spLocks xmlns:a="http://schemas.openxmlformats.org/drawingml/2006/main" noGrp="1"/>
          </p:cNvSpPr>
          <p:nvPr/>
        </p:nvSpPr>
        <p:spPr>
          <a:xfrm xmlns:a="http://schemas.openxmlformats.org/drawingml/2006/main">
            <a:off x="571500" y="52578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Budget</a:t>
            </a:r>
          </a:p>
        </p:txBody>
      </p:sp>
      <p:sp>
        <p:nvSpPr>
          <p:cNvPr id="12" name="Hoeveel ontvangt of betaalt de overheid?">
            <a:extLst xmlns:a="http://schemas.openxmlformats.org/drawingml/2006/main">
              <a:ext uri="{FF2B5EF4-FFF2-40B4-BE49-F238E27FC236}">
                <a16:creationId xmlns:a16="http://schemas.microsoft.com/office/drawing/2014/main" id="{6E61CF95-8765-4E6B-8FDA-8DA05336C9DB}"/>
              </a:ext>
            </a:extLst>
          </p:cNvPr>
          <p:cNvSpPr>
            <a:spLocks xmlns:a="http://schemas.openxmlformats.org/drawingml/2006/main" noGrp="1"/>
          </p:cNvSpPr>
          <p:nvPr/>
        </p:nvSpPr>
        <p:spPr>
          <a:xfrm xmlns:a="http://schemas.openxmlformats.org/drawingml/2006/main">
            <a:off x="5619750" y="525780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Hoeveel ontvangt of betaalt de overheid?</a:t>
            </a:r>
          </a:p>
        </p:txBody>
      </p:sp>
      <p:sp>
        <p:nvSpPr>
          <p:cNvPr id="13" name="Spreek het criterium af vóór je een plan kiest.">
            <a:extLst xmlns:a="http://schemas.openxmlformats.org/drawingml/2006/main">
              <a:ext uri="{FF2B5EF4-FFF2-40B4-BE49-F238E27FC236}">
                <a16:creationId xmlns:a16="http://schemas.microsoft.com/office/drawing/2014/main" id="{DCC78F5E-1CF4-497B-B811-19B9085CD67D}"/>
              </a:ext>
            </a:extLst>
          </p:cNvPr>
          <p:cNvSpPr>
            <a:spLocks xmlns:a="http://schemas.openxmlformats.org/drawingml/2006/main" noGrp="1"/>
          </p:cNvSpPr>
          <p:nvPr/>
        </p:nvSpPr>
        <p:spPr>
          <a:xfrm xmlns:a="http://schemas.openxmlformats.org/drawingml/2006/main">
            <a:off x="571500" y="72771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Spreek het criterium af vóór je een plan kiest.</a:t>
            </a:r>
          </a:p>
        </p:txBody>
      </p:sp>
    </p:spTree>
    <p:extLst>
      <p:ext uri="{BB962C8B-B14F-4D97-AF65-F5344CB8AC3E}">
        <p14:creationId xmlns:p14="http://schemas.microsoft.com/office/powerpoint/2010/main" val="9001932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Uitvoering gebruikt echte middelen">
            <a:extLst xmlns:a="http://schemas.openxmlformats.org/drawingml/2006/main">
              <a:ext uri="{FF2B5EF4-FFF2-40B4-BE49-F238E27FC236}">
                <a16:creationId xmlns:a16="http://schemas.microsoft.com/office/drawing/2014/main" id="{740806B0-F2BF-4EC3-AA88-F49B3BD07D93}"/>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Uitvoering gebruikt echte middelen</a:t>
            </a:r>
          </a:p>
        </p:txBody>
      </p:sp>
      <p:sp>
        <p:nvSpPr>
          <p:cNvPr id="2" name="">
            <a:extLst xmlns:a="http://schemas.openxmlformats.org/drawingml/2006/main">
              <a:ext uri="{FF2B5EF4-FFF2-40B4-BE49-F238E27FC236}">
                <a16:creationId xmlns:a16="http://schemas.microsoft.com/office/drawing/2014/main" id="{50D9BC5C-C957-4A82-8C9B-8F9B329233B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5247657-37C9-4BF1-8386-00BADB309C2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Overheidsingrijpen bij marktfalen</a:t>
            </a:r>
          </a:p>
        </p:txBody>
      </p:sp>
      <p:sp>
        <p:nvSpPr>
          <p:cNvPr id="4" name="slide-number">
            <a:extLst xmlns:a="http://schemas.openxmlformats.org/drawingml/2006/main">
              <a:ext uri="{FF2B5EF4-FFF2-40B4-BE49-F238E27FC236}">
                <a16:creationId xmlns:a16="http://schemas.microsoft.com/office/drawing/2014/main" id="{02DB1972-D967-447F-96F0-34C0D47873F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graphicFrame>
        <p:nvGraphicFramePr>
          <p:cNvPr id="11" name=""/>
          <p:cNvGraphicFramePr/>
          <p:nvPr/>
        </p:nvGraphicFramePr>
        <p:xfrm>
          <a:off xmlns:a="http://schemas.openxmlformats.org/drawingml/2006/main" x="571500" y="2009775"/>
          <a:ext xmlns:a="http://schemas.openxmlformats.org/drawingml/2006/main" cx="14097000" cy="4514850"/>
        </p:xfrm>
        <a:graphic xmlns:a="http://schemas.openxmlformats.org/drawingml/2006/main">
          <a:graphicData uri="http://schemas.openxmlformats.org/drawingml/2006/table">
            <a:tbl>
              <a:tblPr/>
              <a:tblGrid>
                <a:gridCol w="7191375"/>
                <a:gridCol w="6905625"/>
              </a:tblGrid>
              <a:tr h="902970">
                <a:tc>
                  <a:txBody>
                    <a:bodyPr lIns="171450" tIns="95250" rIns="152400" bIns="95250"/>
                    <a:lstStyle/>
                    <a:p>
                      <a:r>
                        <a:rPr sz="2475" b="1">
                          <a:solidFill>
                            <a:srgbClr val="FFFFFF"/>
                          </a:solidFill>
                          <a:latin typeface="Arial"/>
                          <a:ea typeface="Arial"/>
                          <a:cs typeface="Arial"/>
                        </a:rPr>
                        <a:t>Post bij heffing en externe schade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In de maatschappelijke rekening</a:t>
                      </a:r>
                    </a:p>
                  </a:txBody>
                  <a:tcPr marL="91440" marR="91440" marT="45720" marB="45720" anchor="ctr">
                    <a:solidFill>
                      <a:srgbClr val="183247"/>
                    </a:solidFill>
                  </a:tcPr>
                </a:tc>
              </a:tr>
              <a:tr h="902970">
                <a:tc>
                  <a:txBody>
                    <a:bodyPr lIns="171450" tIns="95250" rIns="152400" bIns="95250"/>
                    <a:lstStyle/>
                    <a:p>
                      <a:r>
                        <a:rPr sz="2475" b="0">
                          <a:solidFill>
                            <a:srgbClr val="183247"/>
                          </a:solidFill>
                          <a:latin typeface="Arial"/>
                          <a:ea typeface="Arial"/>
                          <a:cs typeface="Arial"/>
                        </a:rPr>
                        <a:t>CS + PS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Voordeel van kopers en producenten</a:t>
                      </a:r>
                    </a:p>
                  </a:txBody>
                  <a:tcPr marL="91440" marR="91440" marT="45720" marB="45720" anchor="ctr">
                    <a:solidFill>
                      <a:srgbClr val="FFFFFF"/>
                    </a:solidFill>
                  </a:tcPr>
                </a:tc>
              </a:tr>
              <a:tr h="902970">
                <a:tc>
                  <a:txBody>
                    <a:bodyPr lIns="171450" tIns="95250" rIns="152400" bIns="95250"/>
                    <a:lstStyle/>
                    <a:p>
                      <a:r>
                        <a:rPr sz="2475" b="0">
                          <a:solidFill>
                            <a:srgbClr val="183247"/>
                          </a:solidFill>
                          <a:latin typeface="Arial"/>
                          <a:ea typeface="Arial"/>
                          <a:cs typeface="Arial"/>
                        </a:rPr>
                        <a:t>+ overheidsontvangsten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Overdracht naar de overheid</a:t>
                      </a:r>
                    </a:p>
                  </a:txBody>
                  <a:tcPr marL="91440" marR="91440" marT="45720" marB="45720" anchor="ctr">
                    <a:solidFill>
                      <a:srgbClr val="EFF4F7"/>
                    </a:solidFill>
                  </a:tcPr>
                </a:tc>
              </a:tr>
              <a:tr h="902970">
                <a:tc>
                  <a:txBody>
                    <a:bodyPr lIns="171450" tIns="95250" rIns="152400" bIns="95250"/>
                    <a:lstStyle/>
                    <a:p>
                      <a:r>
                        <a:rPr sz="2475" b="0">
                          <a:solidFill>
                            <a:srgbClr val="183247"/>
                          </a:solidFill>
                          <a:latin typeface="Arial"/>
                          <a:ea typeface="Arial"/>
                          <a:cs typeface="Arial"/>
                        </a:rPr>
                        <a:t>− externe schade</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Kosten voor derden</a:t>
                      </a:r>
                    </a:p>
                  </a:txBody>
                  <a:tcPr marL="91440" marR="91440" marT="45720" marB="45720" anchor="ctr">
                    <a:solidFill>
                      <a:srgbClr val="FFFFFF"/>
                    </a:solidFill>
                  </a:tcPr>
                </a:tc>
              </a:tr>
              <a:tr h="902970">
                <a:tc>
                  <a:txBody>
                    <a:bodyPr lIns="171450" tIns="95250" rIns="152400" bIns="95250"/>
                    <a:lstStyle/>
                    <a:p>
                      <a:r>
                        <a:rPr sz="2475" b="0">
                          <a:solidFill>
                            <a:srgbClr val="183247"/>
                          </a:solidFill>
                          <a:latin typeface="Arial"/>
                          <a:ea typeface="Arial"/>
                          <a:cs typeface="Arial"/>
                        </a:rPr>
                        <a:t>− uitvoeringskosten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Verbruik van mensen en middelen</a:t>
                      </a:r>
                    </a:p>
                  </a:txBody>
                  <a:tcPr marL="91440" marR="91440" marT="45720" marB="45720" anchor="ctr">
                    <a:solidFill>
                      <a:srgbClr val="EFF4F7"/>
                    </a:solidFill>
                  </a:tcPr>
                </a:tc>
              </a:tr>
            </a:tbl>
          </a:graphicData>
        </a:graphic>
      </p:graphicFrame>
      <p:sp>
        <p:nvSpPr>
          <p:cNvPr id="6" name="Trek uitvoeringskosten één keer af.">
            <a:extLst xmlns:a="http://schemas.openxmlformats.org/drawingml/2006/main">
              <a:ext uri="{FF2B5EF4-FFF2-40B4-BE49-F238E27FC236}">
                <a16:creationId xmlns:a16="http://schemas.microsoft.com/office/drawing/2014/main" id="{DD64FB11-91DE-47B5-878C-A3D4FADD3EEA}"/>
              </a:ext>
            </a:extLst>
          </p:cNvPr>
          <p:cNvSpPr>
            <a:spLocks xmlns:a="http://schemas.openxmlformats.org/drawingml/2006/main" noGrp="1"/>
          </p:cNvSpPr>
          <p:nvPr/>
        </p:nvSpPr>
        <p:spPr>
          <a:xfrm xmlns:a="http://schemas.openxmlformats.org/drawingml/2006/main">
            <a:off x="571500" y="70008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Trek uitvoeringskosten één keer af.</a:t>
            </a:r>
          </a:p>
        </p:txBody>
      </p:sp>
    </p:spTree>
    <p:extLst>
      <p:ext uri="{BB962C8B-B14F-4D97-AF65-F5344CB8AC3E}">
        <p14:creationId xmlns:p14="http://schemas.microsoft.com/office/powerpoint/2010/main" val="10162527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ootreiniging · Twee beleidsplannen">
            <a:extLst xmlns:a="http://schemas.openxmlformats.org/drawingml/2006/main">
              <a:ext uri="{FF2B5EF4-FFF2-40B4-BE49-F238E27FC236}">
                <a16:creationId xmlns:a16="http://schemas.microsoft.com/office/drawing/2014/main" id="{91DA57E1-AFF0-42E1-B507-B63A27AF5295}"/>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Bootreiniging · Twee beleidsplannen</a:t>
            </a:r>
          </a:p>
        </p:txBody>
      </p:sp>
      <p:sp>
        <p:nvSpPr>
          <p:cNvPr id="2" name="">
            <a:extLst xmlns:a="http://schemas.openxmlformats.org/drawingml/2006/main">
              <a:ext uri="{FF2B5EF4-FFF2-40B4-BE49-F238E27FC236}">
                <a16:creationId xmlns:a16="http://schemas.microsoft.com/office/drawing/2014/main" id="{795657C3-AD30-48BE-951C-181A589A2FC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78DCC80-7C0B-440B-BA37-04C2CF2D109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9F1C7640-844C-4316-B0BA-19EA6D5038D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Een concurrerende markt voor reinigingsbeurten veroorzaakt&#10;€ 6 ni">
            <a:extLst xmlns:a="http://schemas.openxmlformats.org/drawingml/2006/main">
              <a:ext uri="{FF2B5EF4-FFF2-40B4-BE49-F238E27FC236}">
                <a16:creationId xmlns:a16="http://schemas.microsoft.com/office/drawing/2014/main" id="{8A769425-92EA-4882-9950-3A072990A9BB}"/>
              </a:ext>
            </a:extLst>
          </p:cNvPr>
          <p:cNvSpPr>
            <a:spLocks xmlns:a="http://schemas.openxmlformats.org/drawingml/2006/main" noGrp="1"/>
          </p:cNvSpPr>
          <p:nvPr/>
        </p:nvSpPr>
        <p:spPr>
          <a:xfrm xmlns:a="http://schemas.openxmlformats.org/drawingml/2006/main">
            <a:off x="571500" y="1952625"/>
            <a:ext cx="1409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Een concurrerende markt voor reinigingsbeurten veroorzaakt</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€ 6 niet-vergoede schade aan vissers per beurt.</a:t>
            </a:r>
          </a:p>
        </p:txBody>
      </p:sp>
      <p:graphicFrame>
        <p:nvGraphicFramePr>
          <p:cNvPr id="13" name=""/>
          <p:cNvGraphicFramePr/>
          <p:nvPr/>
        </p:nvGraphicFramePr>
        <p:xfrm>
          <a:off xmlns:a="http://schemas.openxmlformats.org/drawingml/2006/main" x="571500" y="3448050"/>
          <a:ext xmlns:a="http://schemas.openxmlformats.org/drawingml/2006/main" cx="14097000" cy="3238500"/>
        </p:xfrm>
        <a:graphic xmlns:a="http://schemas.openxmlformats.org/drawingml/2006/main">
          <a:graphicData uri="http://schemas.openxmlformats.org/drawingml/2006/table">
            <a:tbl>
              <a:tblPr/>
              <a:tblGrid>
                <a:gridCol w="4000500"/>
                <a:gridCol w="10096500"/>
              </a:tblGrid>
              <a:tr h="647700">
                <a:tc>
                  <a:txBody>
                    <a:bodyPr lIns="171450" tIns="95250" rIns="152400" bIns="95250"/>
                    <a:lstStyle/>
                    <a:p>
                      <a:r>
                        <a:rPr sz="2325" b="1">
                          <a:solidFill>
                            <a:srgbClr val="FFFFFF"/>
                          </a:solidFill>
                          <a:latin typeface="Arial"/>
                          <a:ea typeface="Arial"/>
                          <a:cs typeface="Arial"/>
                        </a:rPr>
                        <a:t>Model</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Gegeven</a:t>
                      </a:r>
                    </a:p>
                  </a:txBody>
                  <a:tcPr marL="91440" marR="91440" marT="45720" marB="45720" anchor="ctr">
                    <a:solidFill>
                      <a:srgbClr val="183247"/>
                    </a:solidFill>
                  </a:tcPr>
                </a:tc>
              </a:tr>
              <a:tr h="647700">
                <a:tc>
                  <a:txBody>
                    <a:bodyPr lIns="171450" tIns="95250" rIns="152400" bIns="95250"/>
                    <a:lstStyle/>
                    <a:p>
                      <a:r>
                        <a:rPr sz="2325" b="0">
                          <a:solidFill>
                            <a:srgbClr val="183247"/>
                          </a:solidFill>
                          <a:latin typeface="Arial"/>
                          <a:ea typeface="Arial"/>
                          <a:cs typeface="Arial"/>
                        </a:rPr>
                        <a:t>Vraag / aanbod</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Pc = 48 − Q      Pp = 6 + Q</a:t>
                      </a:r>
                    </a:p>
                  </a:txBody>
                  <a:tcPr marL="91440" marR="91440" marT="45720" marB="45720" anchor="ctr">
                    <a:solidFill>
                      <a:srgbClr val="FFFFFF"/>
                    </a:solidFill>
                  </a:tcPr>
                </a:tc>
              </a:tr>
              <a:tr h="647700">
                <a:tc>
                  <a:txBody>
                    <a:bodyPr lIns="171450" tIns="95250" rIns="152400" bIns="95250"/>
                    <a:lstStyle/>
                    <a:p>
                      <a:r>
                        <a:rPr sz="2325" b="0">
                          <a:solidFill>
                            <a:srgbClr val="183247"/>
                          </a:solidFill>
                          <a:latin typeface="Arial"/>
                          <a:ea typeface="Arial"/>
                          <a:cs typeface="Arial"/>
                        </a:rPr>
                        <a:t>Eenheden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Q: beurten per dag · prijzen: € per beurt</a:t>
                      </a:r>
                    </a:p>
                  </a:txBody>
                  <a:tcPr marL="91440" marR="91440" marT="45720" marB="45720" anchor="ctr">
                    <a:solidFill>
                      <a:srgbClr val="EFF4F7"/>
                    </a:solidFill>
                  </a:tcPr>
                </a:tc>
              </a:tr>
              <a:tr h="647700">
                <a:tc>
                  <a:txBody>
                    <a:bodyPr lIns="171450" tIns="95250" rIns="152400" bIns="95250"/>
                    <a:lstStyle/>
                    <a:p>
                      <a:r>
                        <a:rPr sz="2325" b="0">
                          <a:solidFill>
                            <a:srgbClr val="183247"/>
                          </a:solidFill>
                          <a:latin typeface="Arial"/>
                          <a:ea typeface="Arial"/>
                          <a:cs typeface="Arial"/>
                        </a:rPr>
                        <a:t>Plan T</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Producenten dragen € 6 per beurt af.</a:t>
                      </a:r>
                    </a:p>
                  </a:txBody>
                  <a:tcPr marL="91440" marR="91440" marT="45720" marB="45720" anchor="ctr">
                    <a:solidFill>
                      <a:srgbClr val="FFFFFF"/>
                    </a:solidFill>
                  </a:tcPr>
                </a:tc>
              </a:tr>
              <a:tr h="647700">
                <a:tc>
                  <a:txBody>
                    <a:bodyPr lIns="171450" tIns="95250" rIns="152400" bIns="95250"/>
                    <a:lstStyle/>
                    <a:p>
                      <a:r>
                        <a:rPr sz="2325" b="0">
                          <a:solidFill>
                            <a:srgbClr val="183247"/>
                          </a:solidFill>
                          <a:latin typeface="Arial"/>
                          <a:ea typeface="Arial"/>
                          <a:cs typeface="Arial"/>
                        </a:rPr>
                        <a:t>Plan M</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Hoogstens 18 beurten per dag.</a:t>
                      </a:r>
                    </a:p>
                  </a:txBody>
                  <a:tcPr marL="91440" marR="91440" marT="45720" marB="45720" anchor="ctr">
                    <a:solidFill>
                      <a:srgbClr val="EFF4F7"/>
                    </a:solidFill>
                  </a:tcPr>
                </a:tc>
              </a:tr>
            </a:tbl>
          </a:graphicData>
        </a:graphic>
      </p:graphicFrame>
      <p:sp>
        <p:nvSpPr>
          <p:cNvPr id="7" name="Criterium: maximaal maatschappelijk surplus na uitvoering.">
            <a:extLst xmlns:a="http://schemas.openxmlformats.org/drawingml/2006/main">
              <a:ext uri="{FF2B5EF4-FFF2-40B4-BE49-F238E27FC236}">
                <a16:creationId xmlns:a16="http://schemas.microsoft.com/office/drawing/2014/main" id="{93E02D22-CA98-4901-94E6-90A00D743D5B}"/>
              </a:ext>
            </a:extLst>
          </p:cNvPr>
          <p:cNvSpPr>
            <a:spLocks xmlns:a="http://schemas.openxmlformats.org/drawingml/2006/main" noGrp="1"/>
          </p:cNvSpPr>
          <p:nvPr/>
        </p:nvSpPr>
        <p:spPr>
          <a:xfrm xmlns:a="http://schemas.openxmlformats.org/drawingml/2006/main">
            <a:off x="571500" y="72009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Criterium: maximaal maatschappelijk surplus na uitvoering.</a:t>
            </a:r>
          </a:p>
        </p:txBody>
      </p:sp>
    </p:spTree>
    <p:extLst>
      <p:ext uri="{BB962C8B-B14F-4D97-AF65-F5344CB8AC3E}">
        <p14:creationId xmlns:p14="http://schemas.microsoft.com/office/powerpoint/2010/main" val="9955771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ootreiniging · De heffingswig">
            <a:extLst xmlns:a="http://schemas.openxmlformats.org/drawingml/2006/main">
              <a:ext uri="{FF2B5EF4-FFF2-40B4-BE49-F238E27FC236}">
                <a16:creationId xmlns:a16="http://schemas.microsoft.com/office/drawing/2014/main" id="{EC192059-4BFC-4F8C-AC80-027B5201D8BF}"/>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Bootreiniging · De heffingswig</a:t>
            </a:r>
          </a:p>
        </p:txBody>
      </p:sp>
      <p:sp>
        <p:nvSpPr>
          <p:cNvPr id="2" name="">
            <a:extLst xmlns:a="http://schemas.openxmlformats.org/drawingml/2006/main">
              <a:ext uri="{FF2B5EF4-FFF2-40B4-BE49-F238E27FC236}">
                <a16:creationId xmlns:a16="http://schemas.microsoft.com/office/drawing/2014/main" id="{5E929B6E-E1F9-43E1-AAF7-3D42877C9EA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623FC80-B06F-4F22-9D70-2DC1B505EAF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26B39DFA-564E-47A9-9D15-2E57EBFFAA4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Relatie tussen prijzen">
            <a:extLst xmlns:a="http://schemas.openxmlformats.org/drawingml/2006/main">
              <a:ext uri="{FF2B5EF4-FFF2-40B4-BE49-F238E27FC236}">
                <a16:creationId xmlns:a16="http://schemas.microsoft.com/office/drawing/2014/main" id="{754D8694-81CE-48BC-A8FF-0CBEFBAB7C15}"/>
              </a:ext>
            </a:extLst>
          </p:cNvPr>
          <p:cNvSpPr>
            <a:spLocks xmlns:a="http://schemas.openxmlformats.org/drawingml/2006/main" noGrp="1"/>
          </p:cNvSpPr>
          <p:nvPr/>
        </p:nvSpPr>
        <p:spPr>
          <a:xfrm xmlns:a="http://schemas.openxmlformats.org/drawingml/2006/main">
            <a:off x="571500" y="20383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Relatie tussen prijzen</a:t>
            </a:r>
          </a:p>
        </p:txBody>
      </p:sp>
      <p:sp>
        <p:nvSpPr>
          <p:cNvPr id="6" name="Pc = Pp + 6">
            <a:extLst xmlns:a="http://schemas.openxmlformats.org/drawingml/2006/main">
              <a:ext uri="{FF2B5EF4-FFF2-40B4-BE49-F238E27FC236}">
                <a16:creationId xmlns:a16="http://schemas.microsoft.com/office/drawing/2014/main" id="{5DEC22DE-87AC-4AA2-8104-10F1A25AF31E}"/>
              </a:ext>
            </a:extLst>
          </p:cNvPr>
          <p:cNvSpPr>
            <a:spLocks xmlns:a="http://schemas.openxmlformats.org/drawingml/2006/main" noGrp="1"/>
          </p:cNvSpPr>
          <p:nvPr/>
        </p:nvSpPr>
        <p:spPr>
          <a:xfrm xmlns:a="http://schemas.openxmlformats.org/drawingml/2006/main">
            <a:off x="5619750" y="203835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Pc = Pp + 6</a:t>
            </a:r>
          </a:p>
        </p:txBody>
      </p:sp>
      <p:sp>
        <p:nvSpPr>
          <p:cNvPr id="7" name="">
            <a:extLst xmlns:a="http://schemas.openxmlformats.org/drawingml/2006/main">
              <a:ext uri="{FF2B5EF4-FFF2-40B4-BE49-F238E27FC236}">
                <a16:creationId xmlns:a16="http://schemas.microsoft.com/office/drawing/2014/main" id="{12080311-DD8C-4CB7-8D0C-C48AA81A13C2}"/>
              </a:ext>
            </a:extLst>
          </p:cNvPr>
          <p:cNvSpPr>
            <a:spLocks xmlns:a="http://schemas.openxmlformats.org/drawingml/2006/main" noGrp="1"/>
          </p:cNvSpPr>
          <p:nvPr/>
        </p:nvSpPr>
        <p:spPr>
          <a:xfrm xmlns:a="http://schemas.openxmlformats.org/drawingml/2006/main">
            <a:off x="571500" y="3381375"/>
            <a:ext cx="14097000" cy="0"/>
          </a:xfrm>
          <a:prstGeom xmlns:a="http://schemas.openxmlformats.org/drawingml/2006/main" prst="line">
            <a:avLst/>
          </a:prstGeom>
          <a:ln xmlns:a="http://schemas.openxmlformats.org/drawingml/2006/main" w="19050">
            <a:solidFill>
              <a:srgbClr val="C6D2DB"/>
            </a:solidFill>
          </a:ln>
        </p:spPr>
      </p:sp>
      <p:sp>
        <p:nvSpPr>
          <p:cNvPr id="8" name="Functies invullen">
            <a:extLst xmlns:a="http://schemas.openxmlformats.org/drawingml/2006/main">
              <a:ext uri="{FF2B5EF4-FFF2-40B4-BE49-F238E27FC236}">
                <a16:creationId xmlns:a16="http://schemas.microsoft.com/office/drawing/2014/main" id="{6BA33737-7409-4F33-90F3-CEA4243D1027}"/>
              </a:ext>
            </a:extLst>
          </p:cNvPr>
          <p:cNvSpPr>
            <a:spLocks xmlns:a="http://schemas.openxmlformats.org/drawingml/2006/main" noGrp="1"/>
          </p:cNvSpPr>
          <p:nvPr/>
        </p:nvSpPr>
        <p:spPr>
          <a:xfrm xmlns:a="http://schemas.openxmlformats.org/drawingml/2006/main">
            <a:off x="571500" y="36195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Functies invullen</a:t>
            </a:r>
          </a:p>
        </p:txBody>
      </p:sp>
      <p:sp>
        <p:nvSpPr>
          <p:cNvPr id="9" name="48 − Q = 6 + Q + 6">
            <a:extLst xmlns:a="http://schemas.openxmlformats.org/drawingml/2006/main">
              <a:ext uri="{FF2B5EF4-FFF2-40B4-BE49-F238E27FC236}">
                <a16:creationId xmlns:a16="http://schemas.microsoft.com/office/drawing/2014/main" id="{C4669A54-32FD-4EC3-8B61-38B357DDE13C}"/>
              </a:ext>
            </a:extLst>
          </p:cNvPr>
          <p:cNvSpPr>
            <a:spLocks xmlns:a="http://schemas.openxmlformats.org/drawingml/2006/main" noGrp="1"/>
          </p:cNvSpPr>
          <p:nvPr/>
        </p:nvSpPr>
        <p:spPr>
          <a:xfrm xmlns:a="http://schemas.openxmlformats.org/drawingml/2006/main">
            <a:off x="5619750" y="361950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48 − Q = 6 + Q + 6</a:t>
            </a:r>
          </a:p>
        </p:txBody>
      </p:sp>
      <p:sp>
        <p:nvSpPr>
          <p:cNvPr id="10" name="">
            <a:extLst xmlns:a="http://schemas.openxmlformats.org/drawingml/2006/main">
              <a:ext uri="{FF2B5EF4-FFF2-40B4-BE49-F238E27FC236}">
                <a16:creationId xmlns:a16="http://schemas.microsoft.com/office/drawing/2014/main" id="{803F6385-C0E5-45B7-8B22-3A26FBD958E0}"/>
              </a:ext>
            </a:extLst>
          </p:cNvPr>
          <p:cNvSpPr>
            <a:spLocks xmlns:a="http://schemas.openxmlformats.org/drawingml/2006/main" noGrp="1"/>
          </p:cNvSpPr>
          <p:nvPr/>
        </p:nvSpPr>
        <p:spPr>
          <a:xfrm xmlns:a="http://schemas.openxmlformats.org/drawingml/2006/main">
            <a:off x="571500" y="4962525"/>
            <a:ext cx="14097000" cy="0"/>
          </a:xfrm>
          <a:prstGeom xmlns:a="http://schemas.openxmlformats.org/drawingml/2006/main" prst="line">
            <a:avLst/>
          </a:prstGeom>
          <a:ln xmlns:a="http://schemas.openxmlformats.org/drawingml/2006/main" w="19050">
            <a:solidFill>
              <a:srgbClr val="C6D2DB"/>
            </a:solidFill>
          </a:ln>
        </p:spPr>
      </p:sp>
      <p:sp>
        <p:nvSpPr>
          <p:cNvPr id="11" name="Oplossen">
            <a:extLst xmlns:a="http://schemas.openxmlformats.org/drawingml/2006/main">
              <a:ext uri="{FF2B5EF4-FFF2-40B4-BE49-F238E27FC236}">
                <a16:creationId xmlns:a16="http://schemas.microsoft.com/office/drawing/2014/main" id="{9D3C9A6B-FE42-4B5B-8284-AFF404357ABD}"/>
              </a:ext>
            </a:extLst>
          </p:cNvPr>
          <p:cNvSpPr>
            <a:spLocks xmlns:a="http://schemas.openxmlformats.org/drawingml/2006/main" noGrp="1"/>
          </p:cNvSpPr>
          <p:nvPr/>
        </p:nvSpPr>
        <p:spPr>
          <a:xfrm xmlns:a="http://schemas.openxmlformats.org/drawingml/2006/main">
            <a:off x="571500" y="52006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Oplossen</a:t>
            </a:r>
          </a:p>
        </p:txBody>
      </p:sp>
      <p:sp>
        <p:nvSpPr>
          <p:cNvPr id="12" name="36 = 2Q&#10;Q = 18 beurten per dag">
            <a:extLst xmlns:a="http://schemas.openxmlformats.org/drawingml/2006/main">
              <a:ext uri="{FF2B5EF4-FFF2-40B4-BE49-F238E27FC236}">
                <a16:creationId xmlns:a16="http://schemas.microsoft.com/office/drawing/2014/main" id="{7ECD3372-760C-4B16-8798-8096FF760807}"/>
              </a:ext>
            </a:extLst>
          </p:cNvPr>
          <p:cNvSpPr>
            <a:spLocks xmlns:a="http://schemas.openxmlformats.org/drawingml/2006/main" noGrp="1"/>
          </p:cNvSpPr>
          <p:nvPr/>
        </p:nvSpPr>
        <p:spPr>
          <a:xfrm xmlns:a="http://schemas.openxmlformats.org/drawingml/2006/main">
            <a:off x="5619750" y="520065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36 = 2Q</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 = 18 beurten per dag</a:t>
            </a:r>
          </a:p>
        </p:txBody>
      </p:sp>
    </p:spTree>
    <p:extLst>
      <p:ext uri="{BB962C8B-B14F-4D97-AF65-F5344CB8AC3E}">
        <p14:creationId xmlns:p14="http://schemas.microsoft.com/office/powerpoint/2010/main" val="16372435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ootreiniging · Prijzen en ontvangsten">
            <a:extLst xmlns:a="http://schemas.openxmlformats.org/drawingml/2006/main">
              <a:ext uri="{FF2B5EF4-FFF2-40B4-BE49-F238E27FC236}">
                <a16:creationId xmlns:a16="http://schemas.microsoft.com/office/drawing/2014/main" id="{724BC4BC-BECB-42E7-8723-B03F7D038992}"/>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Bootreiniging · Prijzen en ontvangsten</a:t>
            </a:r>
          </a:p>
        </p:txBody>
      </p:sp>
      <p:sp>
        <p:nvSpPr>
          <p:cNvPr id="2" name="">
            <a:extLst xmlns:a="http://schemas.openxmlformats.org/drawingml/2006/main">
              <a:ext uri="{FF2B5EF4-FFF2-40B4-BE49-F238E27FC236}">
                <a16:creationId xmlns:a16="http://schemas.microsoft.com/office/drawing/2014/main" id="{80E45667-3098-47D3-9E7B-E3974293944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118FED0-29F8-4990-8E66-F5C48D09BBC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2911873B-E8D6-47F2-9006-7B86C391804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Kopersprijs">
            <a:extLst xmlns:a="http://schemas.openxmlformats.org/drawingml/2006/main">
              <a:ext uri="{FF2B5EF4-FFF2-40B4-BE49-F238E27FC236}">
                <a16:creationId xmlns:a16="http://schemas.microsoft.com/office/drawing/2014/main" id="{2BE4E85B-D2FE-489D-AADF-26E829D8ED7F}"/>
              </a:ext>
            </a:extLst>
          </p:cNvPr>
          <p:cNvSpPr>
            <a:spLocks xmlns:a="http://schemas.openxmlformats.org/drawingml/2006/main" noGrp="1"/>
          </p:cNvSpPr>
          <p:nvPr/>
        </p:nvSpPr>
        <p:spPr>
          <a:xfrm xmlns:a="http://schemas.openxmlformats.org/drawingml/2006/main">
            <a:off x="571500" y="20383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Kopersprijs</a:t>
            </a:r>
          </a:p>
        </p:txBody>
      </p:sp>
      <p:sp>
        <p:nvSpPr>
          <p:cNvPr id="6" name="Pc = 48 − 18 = € 30 per beurt">
            <a:extLst xmlns:a="http://schemas.openxmlformats.org/drawingml/2006/main">
              <a:ext uri="{FF2B5EF4-FFF2-40B4-BE49-F238E27FC236}">
                <a16:creationId xmlns:a16="http://schemas.microsoft.com/office/drawing/2014/main" id="{9F62D6A8-BAC7-4EA9-BD3A-287629D800AD}"/>
              </a:ext>
            </a:extLst>
          </p:cNvPr>
          <p:cNvSpPr>
            <a:spLocks xmlns:a="http://schemas.openxmlformats.org/drawingml/2006/main" noGrp="1"/>
          </p:cNvSpPr>
          <p:nvPr/>
        </p:nvSpPr>
        <p:spPr>
          <a:xfrm xmlns:a="http://schemas.openxmlformats.org/drawingml/2006/main">
            <a:off x="5619750" y="203835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Pc = 48 − 18 = € 30 per beurt</a:t>
            </a:r>
          </a:p>
        </p:txBody>
      </p:sp>
      <p:sp>
        <p:nvSpPr>
          <p:cNvPr id="7" name="">
            <a:extLst xmlns:a="http://schemas.openxmlformats.org/drawingml/2006/main">
              <a:ext uri="{FF2B5EF4-FFF2-40B4-BE49-F238E27FC236}">
                <a16:creationId xmlns:a16="http://schemas.microsoft.com/office/drawing/2014/main" id="{13A5F952-6A9B-4894-ABDA-18D5BA5FF22A}"/>
              </a:ext>
            </a:extLst>
          </p:cNvPr>
          <p:cNvSpPr>
            <a:spLocks xmlns:a="http://schemas.openxmlformats.org/drawingml/2006/main" noGrp="1"/>
          </p:cNvSpPr>
          <p:nvPr/>
        </p:nvSpPr>
        <p:spPr>
          <a:xfrm xmlns:a="http://schemas.openxmlformats.org/drawingml/2006/main">
            <a:off x="571500" y="3381375"/>
            <a:ext cx="14097000" cy="0"/>
          </a:xfrm>
          <a:prstGeom xmlns:a="http://schemas.openxmlformats.org/drawingml/2006/main" prst="line">
            <a:avLst/>
          </a:prstGeom>
          <a:ln xmlns:a="http://schemas.openxmlformats.org/drawingml/2006/main" w="19050">
            <a:solidFill>
              <a:srgbClr val="C6D2DB"/>
            </a:solidFill>
          </a:ln>
        </p:spPr>
      </p:sp>
      <p:sp>
        <p:nvSpPr>
          <p:cNvPr id="8" name="Producentenprijs">
            <a:extLst xmlns:a="http://schemas.openxmlformats.org/drawingml/2006/main">
              <a:ext uri="{FF2B5EF4-FFF2-40B4-BE49-F238E27FC236}">
                <a16:creationId xmlns:a16="http://schemas.microsoft.com/office/drawing/2014/main" id="{7BB6CE1F-3C49-4B52-BEBA-7BE9EBC7BFFF}"/>
              </a:ext>
            </a:extLst>
          </p:cNvPr>
          <p:cNvSpPr>
            <a:spLocks xmlns:a="http://schemas.openxmlformats.org/drawingml/2006/main" noGrp="1"/>
          </p:cNvSpPr>
          <p:nvPr/>
        </p:nvSpPr>
        <p:spPr>
          <a:xfrm xmlns:a="http://schemas.openxmlformats.org/drawingml/2006/main">
            <a:off x="571500" y="36195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Producentenprijs</a:t>
            </a:r>
          </a:p>
        </p:txBody>
      </p:sp>
      <p:sp>
        <p:nvSpPr>
          <p:cNvPr id="9" name="Pp = 6 + 18 = € 24 per beurt">
            <a:extLst xmlns:a="http://schemas.openxmlformats.org/drawingml/2006/main">
              <a:ext uri="{FF2B5EF4-FFF2-40B4-BE49-F238E27FC236}">
                <a16:creationId xmlns:a16="http://schemas.microsoft.com/office/drawing/2014/main" id="{30380F9F-80F4-48BF-BA2F-7CD52648D714}"/>
              </a:ext>
            </a:extLst>
          </p:cNvPr>
          <p:cNvSpPr>
            <a:spLocks xmlns:a="http://schemas.openxmlformats.org/drawingml/2006/main" noGrp="1"/>
          </p:cNvSpPr>
          <p:nvPr/>
        </p:nvSpPr>
        <p:spPr>
          <a:xfrm xmlns:a="http://schemas.openxmlformats.org/drawingml/2006/main">
            <a:off x="5619750" y="361950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Pp = 6 + 18 = € 24 per beurt</a:t>
            </a:r>
          </a:p>
        </p:txBody>
      </p:sp>
      <p:sp>
        <p:nvSpPr>
          <p:cNvPr id="10" name="">
            <a:extLst xmlns:a="http://schemas.openxmlformats.org/drawingml/2006/main">
              <a:ext uri="{FF2B5EF4-FFF2-40B4-BE49-F238E27FC236}">
                <a16:creationId xmlns:a16="http://schemas.microsoft.com/office/drawing/2014/main" id="{29D79058-FFAE-44E1-BA92-7AF9D73AC3F0}"/>
              </a:ext>
            </a:extLst>
          </p:cNvPr>
          <p:cNvSpPr>
            <a:spLocks xmlns:a="http://schemas.openxmlformats.org/drawingml/2006/main" noGrp="1"/>
          </p:cNvSpPr>
          <p:nvPr/>
        </p:nvSpPr>
        <p:spPr>
          <a:xfrm xmlns:a="http://schemas.openxmlformats.org/drawingml/2006/main">
            <a:off x="571500" y="4962525"/>
            <a:ext cx="14097000" cy="0"/>
          </a:xfrm>
          <a:prstGeom xmlns:a="http://schemas.openxmlformats.org/drawingml/2006/main" prst="line">
            <a:avLst/>
          </a:prstGeom>
          <a:ln xmlns:a="http://schemas.openxmlformats.org/drawingml/2006/main" w="19050">
            <a:solidFill>
              <a:srgbClr val="C6D2DB"/>
            </a:solidFill>
          </a:ln>
        </p:spPr>
      </p:sp>
      <p:sp>
        <p:nvSpPr>
          <p:cNvPr id="11" name="Overheidsontvangsten">
            <a:extLst xmlns:a="http://schemas.openxmlformats.org/drawingml/2006/main">
              <a:ext uri="{FF2B5EF4-FFF2-40B4-BE49-F238E27FC236}">
                <a16:creationId xmlns:a16="http://schemas.microsoft.com/office/drawing/2014/main" id="{5A8275C7-7FA6-4835-BD1C-07D41293526B}"/>
              </a:ext>
            </a:extLst>
          </p:cNvPr>
          <p:cNvSpPr>
            <a:spLocks xmlns:a="http://schemas.openxmlformats.org/drawingml/2006/main" noGrp="1"/>
          </p:cNvSpPr>
          <p:nvPr/>
        </p:nvSpPr>
        <p:spPr>
          <a:xfrm xmlns:a="http://schemas.openxmlformats.org/drawingml/2006/main">
            <a:off x="571500" y="52006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Overheidsontvangsten</a:t>
            </a:r>
          </a:p>
        </p:txBody>
      </p:sp>
      <p:sp>
        <p:nvSpPr>
          <p:cNvPr id="12" name="6 × 18 = € 108 per dag">
            <a:extLst xmlns:a="http://schemas.openxmlformats.org/drawingml/2006/main">
              <a:ext uri="{FF2B5EF4-FFF2-40B4-BE49-F238E27FC236}">
                <a16:creationId xmlns:a16="http://schemas.microsoft.com/office/drawing/2014/main" id="{8D6CAB68-5530-4322-A903-A8ABAB993A5C}"/>
              </a:ext>
            </a:extLst>
          </p:cNvPr>
          <p:cNvSpPr>
            <a:spLocks xmlns:a="http://schemas.openxmlformats.org/drawingml/2006/main" noGrp="1"/>
          </p:cNvSpPr>
          <p:nvPr/>
        </p:nvSpPr>
        <p:spPr>
          <a:xfrm xmlns:a="http://schemas.openxmlformats.org/drawingml/2006/main">
            <a:off x="5619750" y="520065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6 × 18 = € 108 per dag</a:t>
            </a:r>
          </a:p>
        </p:txBody>
      </p:sp>
      <p:sp>
        <p:nvSpPr>
          <p:cNvPr id="13" name="Controle: 30 − 24 = € 6 per beurt.">
            <a:extLst xmlns:a="http://schemas.openxmlformats.org/drawingml/2006/main">
              <a:ext uri="{FF2B5EF4-FFF2-40B4-BE49-F238E27FC236}">
                <a16:creationId xmlns:a16="http://schemas.microsoft.com/office/drawing/2014/main" id="{3C1DDC7E-965E-4254-A9C0-92F4B2009C12}"/>
              </a:ext>
            </a:extLst>
          </p:cNvPr>
          <p:cNvSpPr>
            <a:spLocks xmlns:a="http://schemas.openxmlformats.org/drawingml/2006/main" noGrp="1"/>
          </p:cNvSpPr>
          <p:nvPr/>
        </p:nvSpPr>
        <p:spPr>
          <a:xfrm xmlns:a="http://schemas.openxmlformats.org/drawingml/2006/main">
            <a:off x="571500" y="736282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Controle: 30 − 24 = € 6 per beurt.</a:t>
            </a:r>
          </a:p>
        </p:txBody>
      </p:sp>
    </p:spTree>
    <p:extLst>
      <p:ext uri="{BB962C8B-B14F-4D97-AF65-F5344CB8AC3E}">
        <p14:creationId xmlns:p14="http://schemas.microsoft.com/office/powerpoint/2010/main" val="6901851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ootreiniging · De volledige rekening">
            <a:extLst xmlns:a="http://schemas.openxmlformats.org/drawingml/2006/main">
              <a:ext uri="{FF2B5EF4-FFF2-40B4-BE49-F238E27FC236}">
                <a16:creationId xmlns:a16="http://schemas.microsoft.com/office/drawing/2014/main" id="{7CB5AA92-B099-41C1-A08C-6B49FDF91ED3}"/>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Bootreiniging · De volledige rekening</a:t>
            </a:r>
          </a:p>
        </p:txBody>
      </p:sp>
      <p:sp>
        <p:nvSpPr>
          <p:cNvPr id="2" name="">
            <a:extLst xmlns:a="http://schemas.openxmlformats.org/drawingml/2006/main">
              <a:ext uri="{FF2B5EF4-FFF2-40B4-BE49-F238E27FC236}">
                <a16:creationId xmlns:a16="http://schemas.microsoft.com/office/drawing/2014/main" id="{BD7F60B4-38CD-4612-BCAF-7657301B9A8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1EE010B-F67A-4DA4-AE6D-BFF844B5F23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FE9495D9-A452-466B-BF1C-5215C7FB042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Gegeven: naleving; bij M efficiënte toewijzing en gratis toestemm">
            <a:extLst xmlns:a="http://schemas.openxmlformats.org/drawingml/2006/main">
              <a:ext uri="{FF2B5EF4-FFF2-40B4-BE49-F238E27FC236}">
                <a16:creationId xmlns:a16="http://schemas.microsoft.com/office/drawing/2014/main" id="{E099BD67-BF65-4F0D-90D2-661FA1342311}"/>
              </a:ext>
            </a:extLst>
          </p:cNvPr>
          <p:cNvSpPr>
            <a:spLocks xmlns:a="http://schemas.openxmlformats.org/drawingml/2006/main" noGrp="1"/>
          </p:cNvSpPr>
          <p:nvPr/>
        </p:nvSpPr>
        <p:spPr>
          <a:xfrm xmlns:a="http://schemas.openxmlformats.org/drawingml/2006/main">
            <a:off x="571500" y="17811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7658A"/>
                </a:solidFill>
                <a:latin typeface="Arial"/>
                <a:ea typeface="Arial"/>
                <a:cs typeface="Arial"/>
              </a:defRPr>
            </a:pPr>
            <a:r>
              <a:rPr sz="2400" b="0">
                <a:solidFill>
                  <a:srgbClr val="17658A"/>
                </a:solidFill>
                <a:latin typeface="Arial"/>
                <a:ea typeface="Arial"/>
                <a:cs typeface="Arial"/>
              </a:rPr>
              <a:t>Gegeven: naleving; bij M efficiënte toewijzing en gratis toestemming.</a:t>
            </a:r>
          </a:p>
        </p:txBody>
      </p:sp>
      <p:graphicFrame>
        <p:nvGraphicFramePr>
          <p:cNvPr id="12" name=""/>
          <p:cNvGraphicFramePr/>
          <p:nvPr/>
        </p:nvGraphicFramePr>
        <p:xfrm>
          <a:off xmlns:a="http://schemas.openxmlformats.org/drawingml/2006/main" x="571500" y="2724150"/>
          <a:ext xmlns:a="http://schemas.openxmlformats.org/drawingml/2006/main" cx="14097000" cy="4648200"/>
        </p:xfrm>
        <a:graphic xmlns:a="http://schemas.openxmlformats.org/drawingml/2006/main">
          <a:graphicData uri="http://schemas.openxmlformats.org/drawingml/2006/table">
            <a:tbl>
              <a:tblPr/>
              <a:tblGrid>
                <a:gridCol w="7429500"/>
                <a:gridCol w="3333750"/>
                <a:gridCol w="3333750"/>
              </a:tblGrid>
              <a:tr h="581025">
                <a:tc>
                  <a:txBody>
                    <a:bodyPr lIns="171450" tIns="95250" rIns="152400" bIns="95250"/>
                    <a:lstStyle/>
                    <a:p>
                      <a:r>
                        <a:rPr sz="2400" b="1">
                          <a:solidFill>
                            <a:srgbClr val="FFFFFF"/>
                          </a:solidFill>
                          <a:latin typeface="Arial"/>
                          <a:ea typeface="Arial"/>
                          <a:cs typeface="Arial"/>
                        </a:rPr>
                        <a:t>Post (€ per dag)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Plan 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Plan M</a:t>
                      </a:r>
                    </a:p>
                  </a:txBody>
                  <a:tcPr marL="91440" marR="91440" marT="45720" marB="45720" anchor="ctr">
                    <a:solidFill>
                      <a:srgbClr val="183247"/>
                    </a:solidFill>
                  </a:tcPr>
                </a:tc>
              </a:tr>
              <a:tr h="581025">
                <a:tc>
                  <a:txBody>
                    <a:bodyPr lIns="171450" tIns="95250" rIns="152400" bIns="95250"/>
                    <a:lstStyle/>
                    <a:p>
                      <a:r>
                        <a:rPr sz="2400"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162</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162</a:t>
                      </a:r>
                    </a:p>
                  </a:txBody>
                  <a:tcPr marL="91440" marR="91440" marT="45720" marB="45720" anchor="ctr">
                    <a:solidFill>
                      <a:srgbClr val="FFFFFF"/>
                    </a:solidFill>
                  </a:tcPr>
                </a:tc>
              </a:tr>
              <a:tr h="581025">
                <a:tc>
                  <a:txBody>
                    <a:bodyPr lIns="171450" tIns="95250" rIns="152400" bIns="95250"/>
                    <a:lstStyle/>
                    <a:p>
                      <a:r>
                        <a:rPr sz="2400"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162</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270</a:t>
                      </a:r>
                    </a:p>
                  </a:txBody>
                  <a:tcPr marL="91440" marR="91440" marT="45720" marB="45720" anchor="ctr">
                    <a:solidFill>
                      <a:srgbClr val="EFF4F7"/>
                    </a:solidFill>
                  </a:tcPr>
                </a:tc>
              </a:tr>
              <a:tr h="581025">
                <a:tc>
                  <a:txBody>
                    <a:bodyPr lIns="171450" tIns="95250" rIns="152400" bIns="95250"/>
                    <a:lstStyle/>
                    <a:p>
                      <a:r>
                        <a:rPr sz="2400" b="0">
                          <a:solidFill>
                            <a:srgbClr val="183247"/>
                          </a:solidFill>
                          <a:latin typeface="Arial"/>
                          <a:ea typeface="Arial"/>
                          <a:cs typeface="Arial"/>
                        </a:rPr>
                        <a:t>+ overheidsontvangsten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108</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0</a:t>
                      </a:r>
                    </a:p>
                  </a:txBody>
                  <a:tcPr marL="91440" marR="91440" marT="45720" marB="45720" anchor="ctr">
                    <a:solidFill>
                      <a:srgbClr val="FFFFFF"/>
                    </a:solidFill>
                  </a:tcPr>
                </a:tc>
              </a:tr>
              <a:tr h="581025">
                <a:tc>
                  <a:txBody>
                    <a:bodyPr lIns="171450" tIns="95250" rIns="152400" bIns="95250"/>
                    <a:lstStyle/>
                    <a:p>
                      <a:r>
                        <a:rPr sz="2400" b="0">
                          <a:solidFill>
                            <a:srgbClr val="183247"/>
                          </a:solidFill>
                          <a:latin typeface="Arial"/>
                          <a:ea typeface="Arial"/>
                          <a:cs typeface="Arial"/>
                        </a:rPr>
                        <a:t>− externe schade</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108</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108</a:t>
                      </a:r>
                    </a:p>
                  </a:txBody>
                  <a:tcPr marL="91440" marR="91440" marT="45720" marB="45720" anchor="ctr">
                    <a:solidFill>
                      <a:srgbClr val="EFF4F7"/>
                    </a:solidFill>
                  </a:tcPr>
                </a:tc>
              </a:tr>
              <a:tr h="581025">
                <a:tc>
                  <a:txBody>
                    <a:bodyPr lIns="171450" tIns="95250" rIns="152400" bIns="95250"/>
                    <a:lstStyle/>
                    <a:p>
                      <a:r>
                        <a:rPr sz="2400" b="0">
                          <a:solidFill>
                            <a:srgbClr val="183247"/>
                          </a:solidFill>
                          <a:latin typeface="Arial"/>
                          <a:ea typeface="Arial"/>
                          <a:cs typeface="Arial"/>
                        </a:rPr>
                        <a:t>Surplus vóór uitvoering</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324</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324</a:t>
                      </a:r>
                    </a:p>
                  </a:txBody>
                  <a:tcPr marL="91440" marR="91440" marT="45720" marB="45720" anchor="ctr">
                    <a:solidFill>
                      <a:srgbClr val="FFFFFF"/>
                    </a:solidFill>
                  </a:tcPr>
                </a:tc>
              </a:tr>
              <a:tr h="581025">
                <a:tc>
                  <a:txBody>
                    <a:bodyPr lIns="171450" tIns="95250" rIns="152400" bIns="95250"/>
                    <a:lstStyle/>
                    <a:p>
                      <a:r>
                        <a:rPr sz="2400" b="0">
                          <a:solidFill>
                            <a:srgbClr val="183247"/>
                          </a:solidFill>
                          <a:latin typeface="Arial"/>
                          <a:ea typeface="Arial"/>
                          <a:cs typeface="Arial"/>
                        </a:rPr>
                        <a:t>− echte uitvoeringskosten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12</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30</a:t>
                      </a:r>
                    </a:p>
                  </a:txBody>
                  <a:tcPr marL="91440" marR="91440" marT="45720" marB="45720" anchor="ctr">
                    <a:solidFill>
                      <a:srgbClr val="EFF4F7"/>
                    </a:solidFill>
                  </a:tcPr>
                </a:tc>
              </a:tr>
              <a:tr h="581025">
                <a:tc>
                  <a:txBody>
                    <a:bodyPr lIns="171450" tIns="95250" rIns="152400" bIns="95250"/>
                    <a:lstStyle/>
                    <a:p>
                      <a:r>
                        <a:rPr sz="2400" b="0">
                          <a:solidFill>
                            <a:srgbClr val="183247"/>
                          </a:solidFill>
                          <a:latin typeface="Arial"/>
                          <a:ea typeface="Arial"/>
                          <a:cs typeface="Arial"/>
                        </a:rPr>
                        <a:t>Surplus na uitvoering</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312</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294</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7665366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ootreiniging · Advies en beperking">
            <a:extLst xmlns:a="http://schemas.openxmlformats.org/drawingml/2006/main">
              <a:ext uri="{FF2B5EF4-FFF2-40B4-BE49-F238E27FC236}">
                <a16:creationId xmlns:a16="http://schemas.microsoft.com/office/drawing/2014/main" id="{A8969683-43A2-400D-9552-05CB3B69184F}"/>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Bootreiniging · Advies en beperking</a:t>
            </a:r>
          </a:p>
        </p:txBody>
      </p:sp>
      <p:sp>
        <p:nvSpPr>
          <p:cNvPr id="2" name="">
            <a:extLst xmlns:a="http://schemas.openxmlformats.org/drawingml/2006/main">
              <a:ext uri="{FF2B5EF4-FFF2-40B4-BE49-F238E27FC236}">
                <a16:creationId xmlns:a16="http://schemas.microsoft.com/office/drawing/2014/main" id="{67CEB667-24B7-43ED-A23F-6803031BA13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A8E925B-1974-4491-84CF-80F15AB5225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0E5D4847-329E-45CD-A898-737FB5804C7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Advies bij efficiëntie">
            <a:extLst xmlns:a="http://schemas.openxmlformats.org/drawingml/2006/main">
              <a:ext uri="{FF2B5EF4-FFF2-40B4-BE49-F238E27FC236}">
                <a16:creationId xmlns:a16="http://schemas.microsoft.com/office/drawing/2014/main" id="{DBEFE9F8-2032-4605-BEB6-5E09B9A93920}"/>
              </a:ext>
            </a:extLst>
          </p:cNvPr>
          <p:cNvSpPr>
            <a:spLocks xmlns:a="http://schemas.openxmlformats.org/drawingml/2006/main" noGrp="1"/>
          </p:cNvSpPr>
          <p:nvPr/>
        </p:nvSpPr>
        <p:spPr>
          <a:xfrm xmlns:a="http://schemas.openxmlformats.org/drawingml/2006/main">
            <a:off x="571500" y="20574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Advies bij efficiëntie</a:t>
            </a:r>
          </a:p>
        </p:txBody>
      </p:sp>
      <p:sp>
        <p:nvSpPr>
          <p:cNvPr id="6" name="Plan T: € 312 in plaats van € 294 per dag.&#10;Voordeel: € 18 per dag">
            <a:extLst xmlns:a="http://schemas.openxmlformats.org/drawingml/2006/main">
              <a:ext uri="{FF2B5EF4-FFF2-40B4-BE49-F238E27FC236}">
                <a16:creationId xmlns:a16="http://schemas.microsoft.com/office/drawing/2014/main" id="{45A3B50C-091E-4DDA-841A-9953223F4932}"/>
              </a:ext>
            </a:extLst>
          </p:cNvPr>
          <p:cNvSpPr>
            <a:spLocks xmlns:a="http://schemas.openxmlformats.org/drawingml/2006/main" noGrp="1"/>
          </p:cNvSpPr>
          <p:nvPr/>
        </p:nvSpPr>
        <p:spPr>
          <a:xfrm xmlns:a="http://schemas.openxmlformats.org/drawingml/2006/main">
            <a:off x="5619750" y="205740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Plan T: € 312 in plaats van € 294 per dag.</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Voordeel: € 18 per dag.</a:t>
            </a:r>
          </a:p>
        </p:txBody>
      </p:sp>
      <p:sp>
        <p:nvSpPr>
          <p:cNvPr id="7" name="">
            <a:extLst xmlns:a="http://schemas.openxmlformats.org/drawingml/2006/main">
              <a:ext uri="{FF2B5EF4-FFF2-40B4-BE49-F238E27FC236}">
                <a16:creationId xmlns:a16="http://schemas.microsoft.com/office/drawing/2014/main" id="{51723668-8B68-455A-AD9D-BA79D611ED1C}"/>
              </a:ext>
            </a:extLst>
          </p:cNvPr>
          <p:cNvSpPr>
            <a:spLocks xmlns:a="http://schemas.openxmlformats.org/drawingml/2006/main" noGrp="1"/>
          </p:cNvSpPr>
          <p:nvPr/>
        </p:nvSpPr>
        <p:spPr>
          <a:xfrm xmlns:a="http://schemas.openxmlformats.org/drawingml/2006/main">
            <a:off x="571500" y="3390900"/>
            <a:ext cx="14097000" cy="0"/>
          </a:xfrm>
          <a:prstGeom xmlns:a="http://schemas.openxmlformats.org/drawingml/2006/main" prst="line">
            <a:avLst/>
          </a:prstGeom>
          <a:ln xmlns:a="http://schemas.openxmlformats.org/drawingml/2006/main" w="19050">
            <a:solidFill>
              <a:srgbClr val="C6D2DB"/>
            </a:solidFill>
          </a:ln>
        </p:spPr>
      </p:sp>
      <p:sp>
        <p:nvSpPr>
          <p:cNvPr id="8" name="Verdeling">
            <a:extLst xmlns:a="http://schemas.openxmlformats.org/drawingml/2006/main">
              <a:ext uri="{FF2B5EF4-FFF2-40B4-BE49-F238E27FC236}">
                <a16:creationId xmlns:a16="http://schemas.microsoft.com/office/drawing/2014/main" id="{D3F86B4D-2090-41D0-9974-77496ECF3F54}"/>
              </a:ext>
            </a:extLst>
          </p:cNvPr>
          <p:cNvSpPr>
            <a:spLocks xmlns:a="http://schemas.openxmlformats.org/drawingml/2006/main" noGrp="1"/>
          </p:cNvSpPr>
          <p:nvPr/>
        </p:nvSpPr>
        <p:spPr>
          <a:xfrm xmlns:a="http://schemas.openxmlformats.org/drawingml/2006/main">
            <a:off x="571500" y="362902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Verdeling</a:t>
            </a:r>
          </a:p>
        </p:txBody>
      </p:sp>
      <p:sp>
        <p:nvSpPr>
          <p:cNvPr id="9" name="Producenten hebben meer PS bij plan M.">
            <a:extLst xmlns:a="http://schemas.openxmlformats.org/drawingml/2006/main">
              <a:ext uri="{FF2B5EF4-FFF2-40B4-BE49-F238E27FC236}">
                <a16:creationId xmlns:a16="http://schemas.microsoft.com/office/drawing/2014/main" id="{AD0B5C8C-9F34-4CF3-938F-062196C08DD4}"/>
              </a:ext>
            </a:extLst>
          </p:cNvPr>
          <p:cNvSpPr>
            <a:spLocks xmlns:a="http://schemas.openxmlformats.org/drawingml/2006/main" noGrp="1"/>
          </p:cNvSpPr>
          <p:nvPr/>
        </p:nvSpPr>
        <p:spPr>
          <a:xfrm xmlns:a="http://schemas.openxmlformats.org/drawingml/2006/main">
            <a:off x="5619750" y="3629025"/>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Producenten hebben meer PS bij plan M.</a:t>
            </a:r>
          </a:p>
        </p:txBody>
      </p:sp>
      <p:sp>
        <p:nvSpPr>
          <p:cNvPr id="10" name="">
            <a:extLst xmlns:a="http://schemas.openxmlformats.org/drawingml/2006/main">
              <a:ext uri="{FF2B5EF4-FFF2-40B4-BE49-F238E27FC236}">
                <a16:creationId xmlns:a16="http://schemas.microsoft.com/office/drawing/2014/main" id="{9FD32C37-91DE-4A23-954A-43A681E8299E}"/>
              </a:ext>
            </a:extLst>
          </p:cNvPr>
          <p:cNvSpPr>
            <a:spLocks xmlns:a="http://schemas.openxmlformats.org/drawingml/2006/main" noGrp="1"/>
          </p:cNvSpPr>
          <p:nvPr/>
        </p:nvSpPr>
        <p:spPr>
          <a:xfrm xmlns:a="http://schemas.openxmlformats.org/drawingml/2006/main">
            <a:off x="571500" y="4962525"/>
            <a:ext cx="14097000" cy="0"/>
          </a:xfrm>
          <a:prstGeom xmlns:a="http://schemas.openxmlformats.org/drawingml/2006/main" prst="line">
            <a:avLst/>
          </a:prstGeom>
          <a:ln xmlns:a="http://schemas.openxmlformats.org/drawingml/2006/main" w="19050">
            <a:solidFill>
              <a:srgbClr val="C6D2DB"/>
            </a:solidFill>
          </a:ln>
        </p:spPr>
      </p:sp>
      <p:sp>
        <p:nvSpPr>
          <p:cNvPr id="11" name="Voorwaarde">
            <a:extLst xmlns:a="http://schemas.openxmlformats.org/drawingml/2006/main">
              <a:ext uri="{FF2B5EF4-FFF2-40B4-BE49-F238E27FC236}">
                <a16:creationId xmlns:a16="http://schemas.microsoft.com/office/drawing/2014/main" id="{B029CF93-A004-47A8-AEDE-9001DD328D80}"/>
              </a:ext>
            </a:extLst>
          </p:cNvPr>
          <p:cNvSpPr>
            <a:spLocks xmlns:a="http://schemas.openxmlformats.org/drawingml/2006/main" noGrp="1"/>
          </p:cNvSpPr>
          <p:nvPr/>
        </p:nvSpPr>
        <p:spPr>
          <a:xfrm xmlns:a="http://schemas.openxmlformats.org/drawingml/2006/main">
            <a:off x="571500" y="52006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Voorwaarde</a:t>
            </a:r>
          </a:p>
        </p:txBody>
      </p:sp>
      <p:sp>
        <p:nvSpPr>
          <p:cNvPr id="12" name="Dit advies geldt bij de gegeven naleving,&#10;toewijzing en uitvoerin">
            <a:extLst xmlns:a="http://schemas.openxmlformats.org/drawingml/2006/main">
              <a:ext uri="{FF2B5EF4-FFF2-40B4-BE49-F238E27FC236}">
                <a16:creationId xmlns:a16="http://schemas.microsoft.com/office/drawing/2014/main" id="{1C20A2B6-56AA-4D3A-8AE3-F604FA16DD95}"/>
              </a:ext>
            </a:extLst>
          </p:cNvPr>
          <p:cNvSpPr>
            <a:spLocks xmlns:a="http://schemas.openxmlformats.org/drawingml/2006/main" noGrp="1"/>
          </p:cNvSpPr>
          <p:nvPr/>
        </p:nvSpPr>
        <p:spPr>
          <a:xfrm xmlns:a="http://schemas.openxmlformats.org/drawingml/2006/main">
            <a:off x="5619750" y="520065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Dit advies geldt bij de gegeven naleving,</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toewijzing en uitvoeringskosten.</a:t>
            </a:r>
          </a:p>
        </p:txBody>
      </p:sp>
    </p:spTree>
    <p:extLst>
      <p:ext uri="{BB962C8B-B14F-4D97-AF65-F5344CB8AC3E}">
        <p14:creationId xmlns:p14="http://schemas.microsoft.com/office/powerpoint/2010/main" val="6746407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aximumprijs · Werkelijke transacties">
            <a:extLst xmlns:a="http://schemas.openxmlformats.org/drawingml/2006/main">
              <a:ext uri="{FF2B5EF4-FFF2-40B4-BE49-F238E27FC236}">
                <a16:creationId xmlns:a16="http://schemas.microsoft.com/office/drawing/2014/main" id="{E2D9A014-74BC-48E5-A9B1-430AC7F3B44B}"/>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Maximumprijs · Werkelijke transacties</a:t>
            </a:r>
          </a:p>
        </p:txBody>
      </p:sp>
      <p:sp>
        <p:nvSpPr>
          <p:cNvPr id="2" name="">
            <a:extLst xmlns:a="http://schemas.openxmlformats.org/drawingml/2006/main">
              <a:ext uri="{FF2B5EF4-FFF2-40B4-BE49-F238E27FC236}">
                <a16:creationId xmlns:a16="http://schemas.microsoft.com/office/drawing/2014/main" id="{5AF7EB46-DC0B-4BDA-A434-52B00F7779B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D154640-EDC3-4B75-8864-C99F90824AC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F1C3E52E-86A2-4ACF-A364-5B07B80B1C5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Apart voorbeeld: Qv = 36 en Qa = 24 ritten per dag.&#10;Geen extra vo">
            <a:extLst xmlns:a="http://schemas.openxmlformats.org/drawingml/2006/main">
              <a:ext uri="{FF2B5EF4-FFF2-40B4-BE49-F238E27FC236}">
                <a16:creationId xmlns:a16="http://schemas.microsoft.com/office/drawing/2014/main" id="{D8F9582E-E543-4322-AE25-2DA6BAE43980}"/>
              </a:ext>
            </a:extLst>
          </p:cNvPr>
          <p:cNvSpPr>
            <a:spLocks xmlns:a="http://schemas.openxmlformats.org/drawingml/2006/main" noGrp="1"/>
          </p:cNvSpPr>
          <p:nvPr/>
        </p:nvSpPr>
        <p:spPr>
          <a:xfrm xmlns:a="http://schemas.openxmlformats.org/drawingml/2006/main">
            <a:off x="571500" y="1857375"/>
            <a:ext cx="14097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Apart voorbeeld: Qv = 36 en Qa = 24 ritten per dag.</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Geen extra voorraad; alle aangeboden ritten worden uitgevoerd.</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Elke rit veroorzaakt € 5 niet-vergoede schade aan buren.</a:t>
            </a:r>
          </a:p>
        </p:txBody>
      </p:sp>
      <p:graphicFrame>
        <p:nvGraphicFramePr>
          <p:cNvPr id="13" name=""/>
          <p:cNvGraphicFramePr/>
          <p:nvPr/>
        </p:nvGraphicFramePr>
        <p:xfrm>
          <a:off xmlns:a="http://schemas.openxmlformats.org/drawingml/2006/main" x="571500" y="3724275"/>
          <a:ext xmlns:a="http://schemas.openxmlformats.org/drawingml/2006/main" cx="14097000" cy="3009900"/>
        </p:xfrm>
        <a:graphic xmlns:a="http://schemas.openxmlformats.org/drawingml/2006/main">
          <a:graphicData uri="http://schemas.openxmlformats.org/drawingml/2006/table">
            <a:tbl>
              <a:tblPr/>
              <a:tblGrid>
                <a:gridCol w="6572250"/>
                <a:gridCol w="7524750"/>
              </a:tblGrid>
              <a:tr h="752475">
                <a:tc>
                  <a:txBody>
                    <a:bodyPr lIns="171450" tIns="95250" rIns="152400" bIns="95250"/>
                    <a:lstStyle/>
                    <a:p>
                      <a:r>
                        <a:rPr sz="2475"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Berekening</a:t>
                      </a:r>
                    </a:p>
                  </a:txBody>
                  <a:tcPr marL="91440" marR="91440" marT="45720" marB="45720" anchor="ctr">
                    <a:solidFill>
                      <a:srgbClr val="183247"/>
                    </a:solidFill>
                  </a:tcPr>
                </a:tc>
              </a:tr>
              <a:tr h="752475">
                <a:tc>
                  <a:txBody>
                    <a:bodyPr lIns="171450" tIns="95250" rIns="152400" bIns="95250"/>
                    <a:lstStyle/>
                    <a:p>
                      <a:r>
                        <a:rPr sz="2475" b="0">
                          <a:solidFill>
                            <a:srgbClr val="183247"/>
                          </a:solidFill>
                          <a:latin typeface="Arial"/>
                          <a:ea typeface="Arial"/>
                          <a:cs typeface="Arial"/>
                        </a:rPr>
                        <a:t>Tekort</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36 − 24 = 12 ritten per dag</a:t>
                      </a:r>
                    </a:p>
                  </a:txBody>
                  <a:tcPr marL="91440" marR="91440" marT="45720" marB="45720" anchor="ctr">
                    <a:solidFill>
                      <a:srgbClr val="FFFFFF"/>
                    </a:solidFill>
                  </a:tcPr>
                </a:tc>
              </a:tr>
              <a:tr h="752475">
                <a:tc>
                  <a:txBody>
                    <a:bodyPr lIns="171450" tIns="95250" rIns="152400" bIns="95250"/>
                    <a:lstStyle/>
                    <a:p>
                      <a:r>
                        <a:rPr sz="2475" b="0">
                          <a:solidFill>
                            <a:srgbClr val="183247"/>
                          </a:solidFill>
                          <a:latin typeface="Arial"/>
                          <a:ea typeface="Arial"/>
                          <a:cs typeface="Arial"/>
                        </a:rPr>
                        <a:t>Werkelijke transacties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24 ritten per dag</a:t>
                      </a:r>
                    </a:p>
                  </a:txBody>
                  <a:tcPr marL="91440" marR="91440" marT="45720" marB="45720" anchor="ctr">
                    <a:solidFill>
                      <a:srgbClr val="EFF4F7"/>
                    </a:solidFill>
                  </a:tcPr>
                </a:tc>
              </a:tr>
              <a:tr h="752475">
                <a:tc>
                  <a:txBody>
                    <a:bodyPr lIns="171450" tIns="95250" rIns="152400" bIns="95250"/>
                    <a:lstStyle/>
                    <a:p>
                      <a:r>
                        <a:rPr sz="2475" b="0">
                          <a:solidFill>
                            <a:srgbClr val="183247"/>
                          </a:solidFill>
                          <a:latin typeface="Arial"/>
                          <a:ea typeface="Arial"/>
                          <a:cs typeface="Arial"/>
                        </a:rPr>
                        <a:t>Resterende schade</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24 × 5 = € 120 per dag</a:t>
                      </a:r>
                    </a:p>
                  </a:txBody>
                  <a:tcPr marL="91440" marR="91440" marT="45720" marB="45720" anchor="ctr">
                    <a:solidFill>
                      <a:srgbClr val="FFFFFF"/>
                    </a:solidFill>
                  </a:tcPr>
                </a:tc>
              </a:tr>
            </a:tbl>
          </a:graphicData>
        </a:graphic>
      </p:graphicFrame>
      <p:sp>
        <p:nvSpPr>
          <p:cNvPr id="7" name="Een lagere prijs vergoedt de buren niet.">
            <a:extLst xmlns:a="http://schemas.openxmlformats.org/drawingml/2006/main">
              <a:ext uri="{FF2B5EF4-FFF2-40B4-BE49-F238E27FC236}">
                <a16:creationId xmlns:a16="http://schemas.microsoft.com/office/drawing/2014/main" id="{36D1C0E8-89EA-4EF6-8839-9BE225B144DF}"/>
              </a:ext>
            </a:extLst>
          </p:cNvPr>
          <p:cNvSpPr>
            <a:spLocks xmlns:a="http://schemas.openxmlformats.org/drawingml/2006/main" noGrp="1"/>
          </p:cNvSpPr>
          <p:nvPr/>
        </p:nvSpPr>
        <p:spPr>
          <a:xfrm xmlns:a="http://schemas.openxmlformats.org/drawingml/2006/main">
            <a:off x="571500" y="72485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Een lagere prijs vergoedt de buren niet.</a:t>
            </a:r>
          </a:p>
        </p:txBody>
      </p:sp>
    </p:spTree>
    <p:extLst>
      <p:ext uri="{BB962C8B-B14F-4D97-AF65-F5344CB8AC3E}">
        <p14:creationId xmlns:p14="http://schemas.microsoft.com/office/powerpoint/2010/main" val="3148608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en beleidsadvies onderbouwen">
            <a:extLst xmlns:a="http://schemas.openxmlformats.org/drawingml/2006/main">
              <a:ext uri="{FF2B5EF4-FFF2-40B4-BE49-F238E27FC236}">
                <a16:creationId xmlns:a16="http://schemas.microsoft.com/office/drawing/2014/main" id="{33555715-C8A3-44B5-8EF5-9C9ED7234898}"/>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beleidsadvies onderbouwen</a:t>
            </a:r>
          </a:p>
        </p:txBody>
      </p:sp>
      <p:sp>
        <p:nvSpPr>
          <p:cNvPr id="2" name="">
            <a:extLst xmlns:a="http://schemas.openxmlformats.org/drawingml/2006/main">
              <a:ext uri="{FF2B5EF4-FFF2-40B4-BE49-F238E27FC236}">
                <a16:creationId xmlns:a16="http://schemas.microsoft.com/office/drawing/2014/main" id="{EE5E6B28-AA95-4E3A-8EF5-84604BCE66E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B7FF4A8-C72C-41E3-9F04-8C81C2F49A7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Overheidsingrijpen bij marktfalen</a:t>
            </a:r>
          </a:p>
        </p:txBody>
      </p:sp>
      <p:sp>
        <p:nvSpPr>
          <p:cNvPr id="4" name="slide-number">
            <a:extLst xmlns:a="http://schemas.openxmlformats.org/drawingml/2006/main">
              <a:ext uri="{FF2B5EF4-FFF2-40B4-BE49-F238E27FC236}">
                <a16:creationId xmlns:a16="http://schemas.microsoft.com/office/drawing/2014/main" id="{40818F31-A66A-4903-B9FB-A17FAEDD9A7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Probleem en mechanisme">
            <a:extLst xmlns:a="http://schemas.openxmlformats.org/drawingml/2006/main">
              <a:ext uri="{FF2B5EF4-FFF2-40B4-BE49-F238E27FC236}">
                <a16:creationId xmlns:a16="http://schemas.microsoft.com/office/drawing/2014/main" id="{5EA39F83-E70D-4432-9CEF-B2F3C74E5BC2}"/>
              </a:ext>
            </a:extLst>
          </p:cNvPr>
          <p:cNvSpPr>
            <a:spLocks xmlns:a="http://schemas.openxmlformats.org/drawingml/2006/main" noGrp="1"/>
          </p:cNvSpPr>
          <p:nvPr/>
        </p:nvSpPr>
        <p:spPr>
          <a:xfrm xmlns:a="http://schemas.openxmlformats.org/drawingml/2006/main">
            <a:off x="571500" y="20002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Probleem en mechanisme</a:t>
            </a:r>
          </a:p>
        </p:txBody>
      </p:sp>
      <p:sp>
        <p:nvSpPr>
          <p:cNvPr id="6" name="Wie ondervindt schade of mist voordeel?&#10;Hoe grijpt het instrument">
            <a:extLst xmlns:a="http://schemas.openxmlformats.org/drawingml/2006/main">
              <a:ext uri="{FF2B5EF4-FFF2-40B4-BE49-F238E27FC236}">
                <a16:creationId xmlns:a16="http://schemas.microsoft.com/office/drawing/2014/main" id="{313E307E-A92F-4F7A-A534-B37C2235B706}"/>
              </a:ext>
            </a:extLst>
          </p:cNvPr>
          <p:cNvSpPr>
            <a:spLocks xmlns:a="http://schemas.openxmlformats.org/drawingml/2006/main" noGrp="1"/>
          </p:cNvSpPr>
          <p:nvPr/>
        </p:nvSpPr>
        <p:spPr>
          <a:xfrm xmlns:a="http://schemas.openxmlformats.org/drawingml/2006/main">
            <a:off x="5619750" y="200025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Wie ondervindt schade of mist voordeel?</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Hoe grijpt het instrument daarop aan?</a:t>
            </a:r>
          </a:p>
        </p:txBody>
      </p:sp>
      <p:sp>
        <p:nvSpPr>
          <p:cNvPr id="7" name="">
            <a:extLst xmlns:a="http://schemas.openxmlformats.org/drawingml/2006/main">
              <a:ext uri="{FF2B5EF4-FFF2-40B4-BE49-F238E27FC236}">
                <a16:creationId xmlns:a16="http://schemas.microsoft.com/office/drawing/2014/main" id="{D7B05B6D-08F2-4C04-B285-4F982C34C3DD}"/>
              </a:ext>
            </a:extLst>
          </p:cNvPr>
          <p:cNvSpPr>
            <a:spLocks xmlns:a="http://schemas.openxmlformats.org/drawingml/2006/main" noGrp="1"/>
          </p:cNvSpPr>
          <p:nvPr/>
        </p:nvSpPr>
        <p:spPr>
          <a:xfrm xmlns:a="http://schemas.openxmlformats.org/drawingml/2006/main">
            <a:off x="571500" y="3390900"/>
            <a:ext cx="14097000" cy="0"/>
          </a:xfrm>
          <a:prstGeom xmlns:a="http://schemas.openxmlformats.org/drawingml/2006/main" prst="line">
            <a:avLst/>
          </a:prstGeom>
          <a:ln xmlns:a="http://schemas.openxmlformats.org/drawingml/2006/main" w="19050">
            <a:solidFill>
              <a:srgbClr val="C6D2DB"/>
            </a:solidFill>
          </a:ln>
        </p:spPr>
      </p:sp>
      <p:sp>
        <p:nvSpPr>
          <p:cNvPr id="8" name="Berekening en criterium">
            <a:extLst xmlns:a="http://schemas.openxmlformats.org/drawingml/2006/main">
              <a:ext uri="{FF2B5EF4-FFF2-40B4-BE49-F238E27FC236}">
                <a16:creationId xmlns:a16="http://schemas.microsoft.com/office/drawing/2014/main" id="{08BFACC4-A79F-48AE-BDC2-D7DCFA11E3F0}"/>
              </a:ext>
            </a:extLst>
          </p:cNvPr>
          <p:cNvSpPr>
            <a:spLocks xmlns:a="http://schemas.openxmlformats.org/drawingml/2006/main" noGrp="1"/>
          </p:cNvSpPr>
          <p:nvPr/>
        </p:nvSpPr>
        <p:spPr>
          <a:xfrm xmlns:a="http://schemas.openxmlformats.org/drawingml/2006/main">
            <a:off x="571500" y="362902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Berekening en criterium</a:t>
            </a:r>
          </a:p>
        </p:txBody>
      </p:sp>
      <p:sp>
        <p:nvSpPr>
          <p:cNvPr id="9" name="Vergelijk dezelfde periode en relevante posten.&#10;Past de uitkomst ">
            <a:extLst xmlns:a="http://schemas.openxmlformats.org/drawingml/2006/main">
              <a:ext uri="{FF2B5EF4-FFF2-40B4-BE49-F238E27FC236}">
                <a16:creationId xmlns:a16="http://schemas.microsoft.com/office/drawing/2014/main" id="{960FA222-5324-44D9-A5D9-5C6DC97A836F}"/>
              </a:ext>
            </a:extLst>
          </p:cNvPr>
          <p:cNvSpPr>
            <a:spLocks xmlns:a="http://schemas.openxmlformats.org/drawingml/2006/main" noGrp="1"/>
          </p:cNvSpPr>
          <p:nvPr/>
        </p:nvSpPr>
        <p:spPr>
          <a:xfrm xmlns:a="http://schemas.openxmlformats.org/drawingml/2006/main">
            <a:off x="5619750" y="3629025"/>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Vergelijk dezelfde periode en relevante posten.</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Past de uitkomst bij het gekozen criterium?</a:t>
            </a:r>
          </a:p>
        </p:txBody>
      </p:sp>
      <p:sp>
        <p:nvSpPr>
          <p:cNvPr id="10" name="">
            <a:extLst xmlns:a="http://schemas.openxmlformats.org/drawingml/2006/main">
              <a:ext uri="{FF2B5EF4-FFF2-40B4-BE49-F238E27FC236}">
                <a16:creationId xmlns:a16="http://schemas.microsoft.com/office/drawing/2014/main" id="{EAC1135E-8D86-4FB2-88EB-1B7A2E9F7A5B}"/>
              </a:ext>
            </a:extLst>
          </p:cNvPr>
          <p:cNvSpPr>
            <a:spLocks xmlns:a="http://schemas.openxmlformats.org/drawingml/2006/main" noGrp="1"/>
          </p:cNvSpPr>
          <p:nvPr/>
        </p:nvSpPr>
        <p:spPr>
          <a:xfrm xmlns:a="http://schemas.openxmlformats.org/drawingml/2006/main">
            <a:off x="571500" y="5019675"/>
            <a:ext cx="14097000" cy="0"/>
          </a:xfrm>
          <a:prstGeom xmlns:a="http://schemas.openxmlformats.org/drawingml/2006/main" prst="line">
            <a:avLst/>
          </a:prstGeom>
          <a:ln xmlns:a="http://schemas.openxmlformats.org/drawingml/2006/main" w="19050">
            <a:solidFill>
              <a:srgbClr val="C6D2DB"/>
            </a:solidFill>
          </a:ln>
        </p:spPr>
      </p:sp>
      <p:sp>
        <p:nvSpPr>
          <p:cNvPr id="11" name="Conclusie en beperking">
            <a:extLst xmlns:a="http://schemas.openxmlformats.org/drawingml/2006/main">
              <a:ext uri="{FF2B5EF4-FFF2-40B4-BE49-F238E27FC236}">
                <a16:creationId xmlns:a16="http://schemas.microsoft.com/office/drawing/2014/main" id="{3579D3B8-AD61-423D-8C76-BB3CD63990E1}"/>
              </a:ext>
            </a:extLst>
          </p:cNvPr>
          <p:cNvSpPr>
            <a:spLocks xmlns:a="http://schemas.openxmlformats.org/drawingml/2006/main" noGrp="1"/>
          </p:cNvSpPr>
          <p:nvPr/>
        </p:nvSpPr>
        <p:spPr>
          <a:xfrm xmlns:a="http://schemas.openxmlformats.org/drawingml/2006/main">
            <a:off x="571500" y="52578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Conclusie en beperking</a:t>
            </a:r>
          </a:p>
        </p:txBody>
      </p:sp>
      <p:sp>
        <p:nvSpPr>
          <p:cNvPr id="12" name="Kies een plan met een reden.&#10;Noem een aanname én een verdelingsef">
            <a:extLst xmlns:a="http://schemas.openxmlformats.org/drawingml/2006/main">
              <a:ext uri="{FF2B5EF4-FFF2-40B4-BE49-F238E27FC236}">
                <a16:creationId xmlns:a16="http://schemas.microsoft.com/office/drawing/2014/main" id="{D3818992-9882-4DAB-9796-6CAAB9B07283}"/>
              </a:ext>
            </a:extLst>
          </p:cNvPr>
          <p:cNvSpPr>
            <a:spLocks xmlns:a="http://schemas.openxmlformats.org/drawingml/2006/main" noGrp="1"/>
          </p:cNvSpPr>
          <p:nvPr/>
        </p:nvSpPr>
        <p:spPr>
          <a:xfrm xmlns:a="http://schemas.openxmlformats.org/drawingml/2006/main">
            <a:off x="5619750" y="525780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Kies een plan met een reden.</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Noem een aanname én een verdelingseffect.</a:t>
            </a:r>
          </a:p>
        </p:txBody>
      </p:sp>
    </p:spTree>
    <p:extLst>
      <p:ext uri="{BB962C8B-B14F-4D97-AF65-F5344CB8AC3E}">
        <p14:creationId xmlns:p14="http://schemas.microsoft.com/office/powerpoint/2010/main" val="1196614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6 Overheidsingrijpen bij marktfalen">
            <a:extLst xmlns:a="http://schemas.openxmlformats.org/drawingml/2006/main">
              <a:ext uri="{FF2B5EF4-FFF2-40B4-BE49-F238E27FC236}">
                <a16:creationId xmlns:a16="http://schemas.microsoft.com/office/drawing/2014/main" id="{41D7C87F-2A50-4484-8F4E-3DEB0079B5C2}"/>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§4.2.6 Overheidsingrijpen bij marktfalen</a:t>
            </a:r>
          </a:p>
        </p:txBody>
      </p:sp>
      <p:sp>
        <p:nvSpPr>
          <p:cNvPr id="2" name="">
            <a:extLst xmlns:a="http://schemas.openxmlformats.org/drawingml/2006/main">
              <a:ext uri="{FF2B5EF4-FFF2-40B4-BE49-F238E27FC236}">
                <a16:creationId xmlns:a16="http://schemas.microsoft.com/office/drawing/2014/main" id="{4FC49C2F-2DE8-460B-AEE0-8106CE8FB01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231DAB8-7925-4BC5-8CCB-6F281CC6336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Overheidsingrijpen bij marktfalen</a:t>
            </a:r>
          </a:p>
        </p:txBody>
      </p:sp>
      <p:sp>
        <p:nvSpPr>
          <p:cNvPr id="4" name="slide-number">
            <a:extLst xmlns:a="http://schemas.openxmlformats.org/drawingml/2006/main">
              <a:ext uri="{FF2B5EF4-FFF2-40B4-BE49-F238E27FC236}">
                <a16:creationId xmlns:a16="http://schemas.microsoft.com/office/drawing/2014/main" id="{58D77CFE-B778-4C18-AB21-4C880EC0AAF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phase">
            <a:extLst xmlns:a="http://schemas.openxmlformats.org/drawingml/2006/main">
              <a:ext uri="{FF2B5EF4-FFF2-40B4-BE49-F238E27FC236}">
                <a16:creationId xmlns:a16="http://schemas.microsoft.com/office/drawing/2014/main" id="{93850158-1761-4F7C-9122-493BE97F6001}"/>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9EC7BE39-9C73-4045-A9B8-803F13F24180}"/>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56A51780-5768-450B-8108-D3C976647C27}"/>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3C732158-2F7E-4979-AA97-C6EC0BFA5D7E}"/>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AF91DB3-F166-470F-A602-61B2D071596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010616C4-A0BD-41F8-AA5A-C677D10D8E89}"/>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36719ADB-3D60-4241-8C33-DEA16A52F79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A0A68099-0DB4-48EE-968D-239DEBE5F8E2}"/>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F4DD09EC-52ED-41DC-8EB2-F985932918C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D7A941B9-A360-46DA-8077-C1CB7B195DB9}"/>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25FE25E4-D277-4904-91E6-E6E0539DD24D}"/>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F2116841-670A-41FF-972C-EFBD966EFDFE}"/>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CE4AA97-369F-42D4-B756-29C03F3F61A8}"/>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4F799AC-FEAA-4102-9989-AD9032B65628}"/>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52.</a:t>
            </a:r>
          </a:p>
        </p:txBody>
      </p:sp>
      <p:sp>
        <p:nvSpPr>
          <p:cNvPr id="19" name="route-number-7">
            <a:extLst xmlns:a="http://schemas.openxmlformats.org/drawingml/2006/main">
              <a:ext uri="{FF2B5EF4-FFF2-40B4-BE49-F238E27FC236}">
                <a16:creationId xmlns:a16="http://schemas.microsoft.com/office/drawing/2014/main" id="{9A9FEA62-079E-4965-BA15-B7784F814FD7}"/>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FB080A49-3574-47EB-8896-A4089493FEBD}"/>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76B50D1-F9E0-4550-90F9-0223A819AF54}"/>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15370236-D5B1-4B62-B10F-AF120899BF3D}"/>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Beleid aan het probleem koppelen;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plannen doorrekenen; efficiëntie,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verdeling en uitvoering afwegen.</a:t>
            </a:r>
          </a:p>
        </p:txBody>
      </p:sp>
      <p:sp>
        <p:nvSpPr>
          <p:cNvPr id="23" name="">
            <a:extLst xmlns:a="http://schemas.openxmlformats.org/drawingml/2006/main">
              <a:ext uri="{FF2B5EF4-FFF2-40B4-BE49-F238E27FC236}">
                <a16:creationId xmlns:a16="http://schemas.microsoft.com/office/drawing/2014/main" id="{774CA8DE-2E6F-47D4-9CED-577AF779BF47}"/>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D4446F0-BE1A-4F60-BCDD-6F51F753CF46}"/>
              </a:ext>
            </a:extLst>
          </p:cNvPr>
          <p:cNvSpPr>
            <a:spLocks xmlns:a="http://schemas.openxmlformats.org/drawingml/2006/main" noGrp="1"/>
          </p:cNvSpPr>
          <p:nvPr/>
        </p:nvSpPr>
        <p:spPr>
          <a:xfrm xmlns:a="http://schemas.openxmlformats.org/drawingml/2006/main">
            <a:off x="9258300" y="3790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59688C21-3118-43A5-8600-07834D7FD5A1}"/>
              </a:ext>
            </a:extLst>
          </p:cNvPr>
          <p:cNvSpPr>
            <a:spLocks xmlns:a="http://schemas.openxmlformats.org/drawingml/2006/main" noGrp="1"/>
          </p:cNvSpPr>
          <p:nvPr/>
        </p:nvSpPr>
        <p:spPr>
          <a:xfrm xmlns:a="http://schemas.openxmlformats.org/drawingml/2006/main">
            <a:off x="9258300" y="4295775"/>
            <a:ext cx="5381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101 · Opgaven 46 en 47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46: verkennen met theorie p. 100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47: verkennen met theorie p. 99</a:t>
            </a:r>
          </a:p>
        </p:txBody>
      </p:sp>
      <p:sp>
        <p:nvSpPr>
          <p:cNvPr id="26" name="">
            <a:extLst xmlns:a="http://schemas.openxmlformats.org/drawingml/2006/main">
              <a:ext uri="{FF2B5EF4-FFF2-40B4-BE49-F238E27FC236}">
                <a16:creationId xmlns:a16="http://schemas.microsoft.com/office/drawing/2014/main" id="{90B90C8E-A487-4D0F-A8F8-0C56B562E704}"/>
              </a:ext>
            </a:extLst>
          </p:cNvPr>
          <p:cNvSpPr>
            <a:spLocks xmlns:a="http://schemas.openxmlformats.org/drawingml/2006/main" noGrp="1"/>
          </p:cNvSpPr>
          <p:nvPr/>
        </p:nvSpPr>
        <p:spPr>
          <a:xfrm xmlns:a="http://schemas.openxmlformats.org/drawingml/2006/main">
            <a:off x="9258300" y="553402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B1C9EB7-E36F-4AE1-A571-3F8DDBA64C71}"/>
              </a:ext>
            </a:extLst>
          </p:cNvPr>
          <p:cNvSpPr>
            <a:spLocks xmlns:a="http://schemas.openxmlformats.org/drawingml/2006/main" noGrp="1"/>
          </p:cNvSpPr>
          <p:nvPr/>
        </p:nvSpPr>
        <p:spPr>
          <a:xfrm xmlns:a="http://schemas.openxmlformats.org/drawingml/2006/main">
            <a:off x="9258300" y="57531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376D17F6-422D-4840-8813-07BD7E520180}"/>
              </a:ext>
            </a:extLst>
          </p:cNvPr>
          <p:cNvSpPr>
            <a:spLocks xmlns:a="http://schemas.openxmlformats.org/drawingml/2006/main" noGrp="1"/>
          </p:cNvSpPr>
          <p:nvPr/>
        </p:nvSpPr>
        <p:spPr>
          <a:xfrm xmlns:a="http://schemas.openxmlformats.org/drawingml/2006/main">
            <a:off x="9258300" y="6286500"/>
            <a:ext cx="53816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§4.2.6 · Opgaven 48 t/m 52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48 en 49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50 en 51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52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91259245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52 · Bron A: Geluid in een wijk">
            <a:extLst xmlns:a="http://schemas.openxmlformats.org/drawingml/2006/main">
              <a:ext uri="{FF2B5EF4-FFF2-40B4-BE49-F238E27FC236}">
                <a16:creationId xmlns:a16="http://schemas.microsoft.com/office/drawing/2014/main" id="{84B8E0B2-664B-47FB-9A79-7213BFEEA666}"/>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52 · Bron A: Geluid in een wijk</a:t>
            </a:r>
          </a:p>
        </p:txBody>
      </p:sp>
      <p:sp>
        <p:nvSpPr>
          <p:cNvPr id="2" name="">
            <a:extLst xmlns:a="http://schemas.openxmlformats.org/drawingml/2006/main">
              <a:ext uri="{FF2B5EF4-FFF2-40B4-BE49-F238E27FC236}">
                <a16:creationId xmlns:a16="http://schemas.microsoft.com/office/drawing/2014/main" id="{AE7911FA-6C0A-441C-B454-7DE6F8A11B0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A90DD4F-9018-4921-880D-DEF777DFAD5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 Opgave 52 · Boekpagina 103</a:t>
            </a:r>
          </a:p>
        </p:txBody>
      </p:sp>
      <p:sp>
        <p:nvSpPr>
          <p:cNvPr id="4" name="slide-number">
            <a:extLst xmlns:a="http://schemas.openxmlformats.org/drawingml/2006/main">
              <a:ext uri="{FF2B5EF4-FFF2-40B4-BE49-F238E27FC236}">
                <a16:creationId xmlns:a16="http://schemas.microsoft.com/office/drawing/2014/main" id="{B0A98635-D938-4A1E-900B-EBE88795FF2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Een concurrerende dienstenmarkt">
            <a:extLst xmlns:a="http://schemas.openxmlformats.org/drawingml/2006/main">
              <a:ext uri="{FF2B5EF4-FFF2-40B4-BE49-F238E27FC236}">
                <a16:creationId xmlns:a16="http://schemas.microsoft.com/office/drawing/2014/main" id="{84E3CDFC-3425-469E-BCFA-E0C370A1AEBD}"/>
              </a:ext>
            </a:extLst>
          </p:cNvPr>
          <p:cNvSpPr>
            <a:spLocks xmlns:a="http://schemas.openxmlformats.org/drawingml/2006/main" noGrp="1"/>
          </p:cNvSpPr>
          <p:nvPr/>
        </p:nvSpPr>
        <p:spPr>
          <a:xfrm xmlns:a="http://schemas.openxmlformats.org/drawingml/2006/main">
            <a:off x="571500" y="1781175"/>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Een concurrerende dienstenmarkt</a:t>
            </a:r>
          </a:p>
        </p:txBody>
      </p:sp>
      <p:sp>
        <p:nvSpPr>
          <p:cNvPr id="6" name="Pc = 50 − 0,5Q           Pp = 10 + 0,5Q">
            <a:extLst xmlns:a="http://schemas.openxmlformats.org/drawingml/2006/main">
              <a:ext uri="{FF2B5EF4-FFF2-40B4-BE49-F238E27FC236}">
                <a16:creationId xmlns:a16="http://schemas.microsoft.com/office/drawing/2014/main" id="{0F1DBDDD-256F-4C88-A11F-CFA87739F461}"/>
              </a:ext>
            </a:extLst>
          </p:cNvPr>
          <p:cNvSpPr>
            <a:spLocks xmlns:a="http://schemas.openxmlformats.org/drawingml/2006/main" noGrp="1"/>
          </p:cNvSpPr>
          <p:nvPr/>
        </p:nvSpPr>
        <p:spPr>
          <a:xfrm xmlns:a="http://schemas.openxmlformats.org/drawingml/2006/main">
            <a:off x="571500" y="24765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Pc = 50 − 0,5Q           Pp = 10 + 0,5Q</a:t>
            </a:r>
          </a:p>
        </p:txBody>
      </p:sp>
      <p:sp>
        <p:nvSpPr>
          <p:cNvPr id="7" name="Q is diensten per dag; prijzen zijn euro per dienst.&#10;Elke dienst ">
            <a:extLst xmlns:a="http://schemas.openxmlformats.org/drawingml/2006/main">
              <a:ext uri="{FF2B5EF4-FFF2-40B4-BE49-F238E27FC236}">
                <a16:creationId xmlns:a16="http://schemas.microsoft.com/office/drawing/2014/main" id="{01EBA492-872C-46EE-A98C-1537DA480FA3}"/>
              </a:ext>
            </a:extLst>
          </p:cNvPr>
          <p:cNvSpPr>
            <a:spLocks xmlns:a="http://schemas.openxmlformats.org/drawingml/2006/main" noGrp="1"/>
          </p:cNvSpPr>
          <p:nvPr/>
        </p:nvSpPr>
        <p:spPr>
          <a:xfrm xmlns:a="http://schemas.openxmlformats.org/drawingml/2006/main">
            <a:off x="571500" y="32861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 is diensten per dag; prijzen zijn euro per dienst.</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Elke dienst veroorzaakt € 10 externe schade.</a:t>
            </a:r>
          </a:p>
        </p:txBody>
      </p:sp>
      <p:sp>
        <p:nvSpPr>
          <p:cNvPr id="8" name="Plan H: producenten dragen € 10 per dienst af.&#10;Plan G: hoogstens ">
            <a:extLst xmlns:a="http://schemas.openxmlformats.org/drawingml/2006/main">
              <a:ext uri="{FF2B5EF4-FFF2-40B4-BE49-F238E27FC236}">
                <a16:creationId xmlns:a16="http://schemas.microsoft.com/office/drawing/2014/main" id="{A842A404-77F1-4F84-9216-77ED10A0A08D}"/>
              </a:ext>
            </a:extLst>
          </p:cNvPr>
          <p:cNvSpPr>
            <a:spLocks xmlns:a="http://schemas.openxmlformats.org/drawingml/2006/main" noGrp="1"/>
          </p:cNvSpPr>
          <p:nvPr/>
        </p:nvSpPr>
        <p:spPr>
          <a:xfrm xmlns:a="http://schemas.openxmlformats.org/drawingml/2006/main">
            <a:off x="571500" y="457200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Plan H: producenten dragen € 10 per dienst af.</a:t>
            </a:r>
          </a:p>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Plan G: hoogstens 30 diensten per dag.</a:t>
            </a:r>
          </a:p>
        </p:txBody>
      </p:sp>
      <p:sp>
        <p:nvSpPr>
          <p:cNvPr id="9" name="Bij G krijgen de kopers met de hoogste betalingsbereidheid de die">
            <a:extLst xmlns:a="http://schemas.openxmlformats.org/drawingml/2006/main">
              <a:ext uri="{FF2B5EF4-FFF2-40B4-BE49-F238E27FC236}">
                <a16:creationId xmlns:a16="http://schemas.microsoft.com/office/drawing/2014/main" id="{A908866E-0FAD-421B-B5CF-FD6317149933}"/>
              </a:ext>
            </a:extLst>
          </p:cNvPr>
          <p:cNvSpPr>
            <a:spLocks xmlns:a="http://schemas.openxmlformats.org/drawingml/2006/main" noGrp="1"/>
          </p:cNvSpPr>
          <p:nvPr/>
        </p:nvSpPr>
        <p:spPr>
          <a:xfrm xmlns:a="http://schemas.openxmlformats.org/drawingml/2006/main">
            <a:off x="571500" y="6076950"/>
            <a:ext cx="14097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Bij G krijgen de kopers met de hoogste betalingsbereidheid de diensten,</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geleverd door de aanbieders met de laagste kosten;</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toestemming wordt gratis toegewezen. Beide regels worden nageleefd.</a:t>
            </a:r>
          </a:p>
        </p:txBody>
      </p:sp>
    </p:spTree>
    <p:extLst>
      <p:ext uri="{BB962C8B-B14F-4D97-AF65-F5344CB8AC3E}">
        <p14:creationId xmlns:p14="http://schemas.microsoft.com/office/powerpoint/2010/main" val="10111616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52 · Bron B: Vergelijking per dag">
            <a:extLst xmlns:a="http://schemas.openxmlformats.org/drawingml/2006/main">
              <a:ext uri="{FF2B5EF4-FFF2-40B4-BE49-F238E27FC236}">
                <a16:creationId xmlns:a16="http://schemas.microsoft.com/office/drawing/2014/main" id="{C552119E-BAB4-448A-B0C3-77524D946397}"/>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52 · Bron B: Vergelijking per dag</a:t>
            </a:r>
          </a:p>
        </p:txBody>
      </p:sp>
      <p:sp>
        <p:nvSpPr>
          <p:cNvPr id="2" name="">
            <a:extLst xmlns:a="http://schemas.openxmlformats.org/drawingml/2006/main">
              <a:ext uri="{FF2B5EF4-FFF2-40B4-BE49-F238E27FC236}">
                <a16:creationId xmlns:a16="http://schemas.microsoft.com/office/drawing/2014/main" id="{60709794-F93E-4121-8AA3-02465D60E2C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C432017-A7F6-409C-873D-E13DF7B2EF2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 Opgave 52 · Boekpagina 103</a:t>
            </a:r>
          </a:p>
        </p:txBody>
      </p:sp>
      <p:sp>
        <p:nvSpPr>
          <p:cNvPr id="4" name="slide-number">
            <a:extLst xmlns:a="http://schemas.openxmlformats.org/drawingml/2006/main">
              <a:ext uri="{FF2B5EF4-FFF2-40B4-BE49-F238E27FC236}">
                <a16:creationId xmlns:a16="http://schemas.microsoft.com/office/drawing/2014/main" id="{B16334C3-A7FC-4D0A-9803-2DFB5E06457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De tabel geeft de berekende surplusposten vóór uitvoering.&#10;Contro">
            <a:extLst xmlns:a="http://schemas.openxmlformats.org/drawingml/2006/main">
              <a:ext uri="{FF2B5EF4-FFF2-40B4-BE49-F238E27FC236}">
                <a16:creationId xmlns:a16="http://schemas.microsoft.com/office/drawing/2014/main" id="{FDCBFA67-65CA-4E7B-9279-95B2219FC4A0}"/>
              </a:ext>
            </a:extLst>
          </p:cNvPr>
          <p:cNvSpPr>
            <a:spLocks xmlns:a="http://schemas.openxmlformats.org/drawingml/2006/main" noGrp="1"/>
          </p:cNvSpPr>
          <p:nvPr/>
        </p:nvSpPr>
        <p:spPr>
          <a:xfrm xmlns:a="http://schemas.openxmlformats.org/drawingml/2006/main">
            <a:off x="571500" y="1790700"/>
            <a:ext cx="14097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tabel geeft de berekende surplusposten vóór uitvoering.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Controle en uitvoering gebruiken bij H € 20 per dag aan middelen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en bij G € 40. Er zijn geen andere kosten of baten.</a:t>
            </a:r>
          </a:p>
        </p:txBody>
      </p:sp>
      <p:graphicFrame>
        <p:nvGraphicFramePr>
          <p:cNvPr id="13" name=""/>
          <p:cNvGraphicFramePr/>
          <p:nvPr/>
        </p:nvGraphicFramePr>
        <p:xfrm>
          <a:off xmlns:a="http://schemas.openxmlformats.org/drawingml/2006/main" x="571500" y="3476625"/>
          <a:ext xmlns:a="http://schemas.openxmlformats.org/drawingml/2006/main" cx="14097000" cy="3238500"/>
        </p:xfrm>
        <a:graphic xmlns:a="http://schemas.openxmlformats.org/drawingml/2006/main">
          <a:graphicData uri="http://schemas.openxmlformats.org/drawingml/2006/table">
            <a:tbl>
              <a:tblPr/>
              <a:tblGrid>
                <a:gridCol w="7239000"/>
                <a:gridCol w="3429000"/>
                <a:gridCol w="3429000"/>
              </a:tblGrid>
              <a:tr h="647700">
                <a:tc>
                  <a:txBody>
                    <a:bodyPr lIns="171450" tIns="95250" rIns="152400" bIns="95250"/>
                    <a:lstStyle/>
                    <a:p>
                      <a:r>
                        <a:rPr sz="2475" b="1">
                          <a:solidFill>
                            <a:srgbClr val="FFFFFF"/>
                          </a:solidFill>
                          <a:latin typeface="Arial"/>
                          <a:ea typeface="Arial"/>
                          <a:cs typeface="Arial"/>
                        </a:rPr>
                        <a:t>Post (€ per dag)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Plan H</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Plan G</a:t>
                      </a:r>
                    </a:p>
                  </a:txBody>
                  <a:tcPr marL="91440" marR="91440" marT="45720" marB="45720" anchor="ctr">
                    <a:solidFill>
                      <a:srgbClr val="183247"/>
                    </a:solidFill>
                  </a:tcPr>
                </a:tc>
              </a:tr>
              <a:tr h="647700">
                <a:tc>
                  <a:txBody>
                    <a:bodyPr lIns="171450" tIns="95250" rIns="152400" bIns="95250"/>
                    <a:lstStyle/>
                    <a:p>
                      <a:r>
                        <a:rPr sz="247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225</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225</a:t>
                      </a:r>
                    </a:p>
                  </a:txBody>
                  <a:tcPr marL="91440" marR="91440" marT="45720" marB="45720" anchor="ctr">
                    <a:solidFill>
                      <a:srgbClr val="FFFFFF"/>
                    </a:solidFill>
                  </a:tcPr>
                </a:tc>
              </a:tr>
              <a:tr h="647700">
                <a:tc>
                  <a:txBody>
                    <a:bodyPr lIns="171450" tIns="95250" rIns="152400" bIns="95250"/>
                    <a:lstStyle/>
                    <a:p>
                      <a:r>
                        <a:rPr sz="2475"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225</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525</a:t>
                      </a:r>
                    </a:p>
                  </a:txBody>
                  <a:tcPr marL="91440" marR="91440" marT="45720" marB="45720" anchor="ctr">
                    <a:solidFill>
                      <a:srgbClr val="EFF4F7"/>
                    </a:solidFill>
                  </a:tcPr>
                </a:tc>
              </a:tr>
              <a:tr h="647700">
                <a:tc>
                  <a:txBody>
                    <a:bodyPr lIns="171450" tIns="95250" rIns="152400" bIns="95250"/>
                    <a:lstStyle/>
                    <a:p>
                      <a:r>
                        <a:rPr sz="2475" b="0">
                          <a:solidFill>
                            <a:srgbClr val="183247"/>
                          </a:solidFill>
                          <a:latin typeface="Arial"/>
                          <a:ea typeface="Arial"/>
                          <a:cs typeface="Arial"/>
                        </a:rPr>
                        <a:t>Overheidsontvangsten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Bereken zelf</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0</a:t>
                      </a:r>
                    </a:p>
                  </a:txBody>
                  <a:tcPr marL="91440" marR="91440" marT="45720" marB="45720" anchor="ctr">
                    <a:solidFill>
                      <a:srgbClr val="FFFFFF"/>
                    </a:solidFill>
                  </a:tcPr>
                </a:tc>
              </a:tr>
              <a:tr h="647700">
                <a:tc>
                  <a:txBody>
                    <a:bodyPr lIns="171450" tIns="95250" rIns="152400" bIns="95250"/>
                    <a:lstStyle/>
                    <a:p>
                      <a:r>
                        <a:rPr sz="2475" b="0">
                          <a:solidFill>
                            <a:srgbClr val="183247"/>
                          </a:solidFill>
                          <a:latin typeface="Arial"/>
                          <a:ea typeface="Arial"/>
                          <a:cs typeface="Arial"/>
                        </a:rPr>
                        <a:t>Externe schade</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300</a:t>
                      </a:r>
                    </a:p>
                  </a:txBody>
                  <a:tcPr marL="91440" marR="91440" marT="45720" marB="45720" anchor="ctr">
                    <a:solidFill>
                      <a:srgbClr val="EFF4F7"/>
                    </a:solidFill>
                  </a:tcPr>
                </a:tc>
              </a:tr>
            </a:tbl>
          </a:graphicData>
        </a:graphic>
      </p:graphicFrame>
      <p:sp>
        <p:nvSpPr>
          <p:cNvPr id="7" name="De raad kiest voorlopig het plan met het grootste&#10;maatschappelijk">
            <a:extLst xmlns:a="http://schemas.openxmlformats.org/drawingml/2006/main">
              <a:ext uri="{FF2B5EF4-FFF2-40B4-BE49-F238E27FC236}">
                <a16:creationId xmlns:a16="http://schemas.microsoft.com/office/drawing/2014/main" id="{3088FFD2-4385-4011-8B04-6F6FADE6AAFF}"/>
              </a:ext>
            </a:extLst>
          </p:cNvPr>
          <p:cNvSpPr>
            <a:spLocks xmlns:a="http://schemas.openxmlformats.org/drawingml/2006/main" noGrp="1"/>
          </p:cNvSpPr>
          <p:nvPr/>
        </p:nvSpPr>
        <p:spPr>
          <a:xfrm xmlns:a="http://schemas.openxmlformats.org/drawingml/2006/main">
            <a:off x="571500" y="712470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De raad kiest voorlopig het plan met het grootste</a:t>
            </a:r>
          </a:p>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maatschappelijk surplus na uitvoering.</a:t>
            </a:r>
          </a:p>
        </p:txBody>
      </p:sp>
    </p:spTree>
    <p:extLst>
      <p:ext uri="{BB962C8B-B14F-4D97-AF65-F5344CB8AC3E}">
        <p14:creationId xmlns:p14="http://schemas.microsoft.com/office/powerpoint/2010/main" val="21117706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Opgave 52 · Twee plannen voor hetzelfde probleem">
            <a:extLst xmlns:a="http://schemas.openxmlformats.org/drawingml/2006/main">
              <a:ext uri="{FF2B5EF4-FFF2-40B4-BE49-F238E27FC236}">
                <a16:creationId xmlns:a16="http://schemas.microsoft.com/office/drawing/2014/main" id="{D0E3F1A4-0544-433D-8CE2-33A5F05A4363}"/>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Opgave 52 · Twee plannen voor hetzelfde probleem</a:t>
            </a:r>
          </a:p>
        </p:txBody>
      </p:sp>
      <p:sp>
        <p:nvSpPr>
          <p:cNvPr id="2" name="">
            <a:extLst xmlns:a="http://schemas.openxmlformats.org/drawingml/2006/main">
              <a:ext uri="{FF2B5EF4-FFF2-40B4-BE49-F238E27FC236}">
                <a16:creationId xmlns:a16="http://schemas.microsoft.com/office/drawing/2014/main" id="{A3AF2402-9D2C-4D12-9D69-B86C00A4150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8EE051E-D53D-45BE-81C2-FF275ED7D02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 Opgave 52 · Boekpagina 103</a:t>
            </a:r>
          </a:p>
        </p:txBody>
      </p:sp>
      <p:sp>
        <p:nvSpPr>
          <p:cNvPr id="4" name="slide-number">
            <a:extLst xmlns:a="http://schemas.openxmlformats.org/drawingml/2006/main">
              <a:ext uri="{FF2B5EF4-FFF2-40B4-BE49-F238E27FC236}">
                <a16:creationId xmlns:a16="http://schemas.microsoft.com/office/drawing/2014/main" id="{82F4D4AA-3A48-4168-83A4-4178A9DA020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Gebruik de bronnen. Het criterium staat in bron B.">
            <a:extLst xmlns:a="http://schemas.openxmlformats.org/drawingml/2006/main">
              <a:ext uri="{FF2B5EF4-FFF2-40B4-BE49-F238E27FC236}">
                <a16:creationId xmlns:a16="http://schemas.microsoft.com/office/drawing/2014/main" id="{9A153B73-853B-4BFE-864B-4D0B1DD0CF8A}"/>
              </a:ext>
            </a:extLst>
          </p:cNvPr>
          <p:cNvSpPr>
            <a:spLocks xmlns:a="http://schemas.openxmlformats.org/drawingml/2006/main" noGrp="1"/>
          </p:cNvSpPr>
          <p:nvPr/>
        </p:nvSpPr>
        <p:spPr>
          <a:xfrm xmlns:a="http://schemas.openxmlformats.org/drawingml/2006/main">
            <a:off x="571500" y="17811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Gebruik de bronnen. Het criterium staat in bron B.</a:t>
            </a:r>
          </a:p>
        </p:txBody>
      </p:sp>
      <p:sp>
        <p:nvSpPr>
          <p:cNvPr id="6" name="a. (2p)">
            <a:extLst xmlns:a="http://schemas.openxmlformats.org/drawingml/2006/main">
              <a:ext uri="{FF2B5EF4-FFF2-40B4-BE49-F238E27FC236}">
                <a16:creationId xmlns:a16="http://schemas.microsoft.com/office/drawing/2014/main" id="{E25B3AF8-CEBE-4A4F-BBD4-064A8CA97596}"/>
              </a:ext>
            </a:extLst>
          </p:cNvPr>
          <p:cNvSpPr>
            <a:spLocks xmlns:a="http://schemas.openxmlformats.org/drawingml/2006/main" noGrp="1"/>
          </p:cNvSpPr>
          <p:nvPr/>
        </p:nvSpPr>
        <p:spPr>
          <a:xfrm xmlns:a="http://schemas.openxmlformats.org/drawingml/2006/main">
            <a:off x="571500" y="2562225"/>
            <a:ext cx="152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a. (2p)</a:t>
            </a:r>
          </a:p>
        </p:txBody>
      </p:sp>
      <p:sp>
        <p:nvSpPr>
          <p:cNvPr id="7" name="Benoem het marktfalen en leg kort uit hoe elk plan erop aangrijpt">
            <a:extLst xmlns:a="http://schemas.openxmlformats.org/drawingml/2006/main">
              <a:ext uri="{FF2B5EF4-FFF2-40B4-BE49-F238E27FC236}">
                <a16:creationId xmlns:a16="http://schemas.microsoft.com/office/drawing/2014/main" id="{9C9CA9BC-F572-47E2-869F-91C19F48024C}"/>
              </a:ext>
            </a:extLst>
          </p:cNvPr>
          <p:cNvSpPr>
            <a:spLocks xmlns:a="http://schemas.openxmlformats.org/drawingml/2006/main" noGrp="1"/>
          </p:cNvSpPr>
          <p:nvPr/>
        </p:nvSpPr>
        <p:spPr>
          <a:xfrm xmlns:a="http://schemas.openxmlformats.org/drawingml/2006/main">
            <a:off x="2238375" y="2562225"/>
            <a:ext cx="1243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Benoem het marktfalen en leg kort uit hoe elk plan erop aangrijpt.</a:t>
            </a:r>
          </a:p>
        </p:txBody>
      </p:sp>
      <p:sp>
        <p:nvSpPr>
          <p:cNvPr id="8" name="b. (3p)">
            <a:extLst xmlns:a="http://schemas.openxmlformats.org/drawingml/2006/main">
              <a:ext uri="{FF2B5EF4-FFF2-40B4-BE49-F238E27FC236}">
                <a16:creationId xmlns:a16="http://schemas.microsoft.com/office/drawing/2014/main" id="{193CAB51-43F5-4455-B5D9-98D718EA3F34}"/>
              </a:ext>
            </a:extLst>
          </p:cNvPr>
          <p:cNvSpPr>
            <a:spLocks xmlns:a="http://schemas.openxmlformats.org/drawingml/2006/main" noGrp="1"/>
          </p:cNvSpPr>
          <p:nvPr/>
        </p:nvSpPr>
        <p:spPr>
          <a:xfrm xmlns:a="http://schemas.openxmlformats.org/drawingml/2006/main">
            <a:off x="571500" y="3629025"/>
            <a:ext cx="152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b. (3p)</a:t>
            </a:r>
          </a:p>
        </p:txBody>
      </p:sp>
      <p:sp>
        <p:nvSpPr>
          <p:cNvPr id="9" name="Bereken voor H Q, Pc, Pp en de overheidsontvangsten.">
            <a:extLst xmlns:a="http://schemas.openxmlformats.org/drawingml/2006/main">
              <a:ext uri="{FF2B5EF4-FFF2-40B4-BE49-F238E27FC236}">
                <a16:creationId xmlns:a16="http://schemas.microsoft.com/office/drawing/2014/main" id="{67D17AE2-3CDD-4D95-84E2-74843F83F069}"/>
              </a:ext>
            </a:extLst>
          </p:cNvPr>
          <p:cNvSpPr>
            <a:spLocks xmlns:a="http://schemas.openxmlformats.org/drawingml/2006/main" noGrp="1"/>
          </p:cNvSpPr>
          <p:nvPr/>
        </p:nvSpPr>
        <p:spPr>
          <a:xfrm xmlns:a="http://schemas.openxmlformats.org/drawingml/2006/main">
            <a:off x="2238375" y="3629025"/>
            <a:ext cx="1243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Bereken voor H Q, Pc, Pp en de overheidsontvangsten.</a:t>
            </a:r>
          </a:p>
        </p:txBody>
      </p:sp>
      <p:sp>
        <p:nvSpPr>
          <p:cNvPr id="10" name="c. (3p)">
            <a:extLst xmlns:a="http://schemas.openxmlformats.org/drawingml/2006/main">
              <a:ext uri="{FF2B5EF4-FFF2-40B4-BE49-F238E27FC236}">
                <a16:creationId xmlns:a16="http://schemas.microsoft.com/office/drawing/2014/main" id="{72AED34B-846B-473D-B560-83768E586084}"/>
              </a:ext>
            </a:extLst>
          </p:cNvPr>
          <p:cNvSpPr>
            <a:spLocks xmlns:a="http://schemas.openxmlformats.org/drawingml/2006/main" noGrp="1"/>
          </p:cNvSpPr>
          <p:nvPr/>
        </p:nvSpPr>
        <p:spPr>
          <a:xfrm xmlns:a="http://schemas.openxmlformats.org/drawingml/2006/main">
            <a:off x="571500" y="4695825"/>
            <a:ext cx="152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c. (3p)</a:t>
            </a:r>
          </a:p>
        </p:txBody>
      </p:sp>
      <p:sp>
        <p:nvSpPr>
          <p:cNvPr id="11" name="Bereken voor beide plannen het maatschappelijk surplus na uitvoer">
            <a:extLst xmlns:a="http://schemas.openxmlformats.org/drawingml/2006/main">
              <a:ext uri="{FF2B5EF4-FFF2-40B4-BE49-F238E27FC236}">
                <a16:creationId xmlns:a16="http://schemas.microsoft.com/office/drawing/2014/main" id="{52BA851E-23DE-47F3-B49C-61DCD61680DD}"/>
              </a:ext>
            </a:extLst>
          </p:cNvPr>
          <p:cNvSpPr>
            <a:spLocks xmlns:a="http://schemas.openxmlformats.org/drawingml/2006/main" noGrp="1"/>
          </p:cNvSpPr>
          <p:nvPr/>
        </p:nvSpPr>
        <p:spPr>
          <a:xfrm xmlns:a="http://schemas.openxmlformats.org/drawingml/2006/main">
            <a:off x="2238375" y="4695825"/>
            <a:ext cx="1243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Bereken voor beide plannen het maatschappelijk surplus na uitvoering.</a:t>
            </a:r>
          </a:p>
        </p:txBody>
      </p:sp>
      <p:sp>
        <p:nvSpPr>
          <p:cNvPr id="12" name="d. (2p)">
            <a:extLst xmlns:a="http://schemas.openxmlformats.org/drawingml/2006/main">
              <a:ext uri="{FF2B5EF4-FFF2-40B4-BE49-F238E27FC236}">
                <a16:creationId xmlns:a16="http://schemas.microsoft.com/office/drawing/2014/main" id="{CACAD447-08B7-417C-AB79-21CB3DB0D397}"/>
              </a:ext>
            </a:extLst>
          </p:cNvPr>
          <p:cNvSpPr>
            <a:spLocks xmlns:a="http://schemas.openxmlformats.org/drawingml/2006/main" noGrp="1"/>
          </p:cNvSpPr>
          <p:nvPr/>
        </p:nvSpPr>
        <p:spPr>
          <a:xfrm xmlns:a="http://schemas.openxmlformats.org/drawingml/2006/main">
            <a:off x="571500" y="5762625"/>
            <a:ext cx="152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d. (2p)</a:t>
            </a:r>
          </a:p>
        </p:txBody>
      </p:sp>
      <p:sp>
        <p:nvSpPr>
          <p:cNvPr id="13" name="Adviseer een plan volgens het genoemde criterium. Noem één aannam">
            <a:extLst xmlns:a="http://schemas.openxmlformats.org/drawingml/2006/main">
              <a:ext uri="{FF2B5EF4-FFF2-40B4-BE49-F238E27FC236}">
                <a16:creationId xmlns:a16="http://schemas.microsoft.com/office/drawing/2014/main" id="{37259F21-FB32-446B-99E5-7A2DB8679D37}"/>
              </a:ext>
            </a:extLst>
          </p:cNvPr>
          <p:cNvSpPr>
            <a:spLocks xmlns:a="http://schemas.openxmlformats.org/drawingml/2006/main" noGrp="1"/>
          </p:cNvSpPr>
          <p:nvPr/>
        </p:nvSpPr>
        <p:spPr>
          <a:xfrm xmlns:a="http://schemas.openxmlformats.org/drawingml/2006/main">
            <a:off x="2238375" y="5762625"/>
            <a:ext cx="1243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Adviseer een plan volgens het genoemde criterium. Noem één aanname</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die voor dit advies belangrijk is.</a:t>
            </a:r>
          </a:p>
        </p:txBody>
      </p:sp>
      <p:sp>
        <p:nvSpPr>
          <p:cNvPr id="14" name="e. (2p)">
            <a:extLst xmlns:a="http://schemas.openxmlformats.org/drawingml/2006/main">
              <a:ext uri="{FF2B5EF4-FFF2-40B4-BE49-F238E27FC236}">
                <a16:creationId xmlns:a16="http://schemas.microsoft.com/office/drawing/2014/main" id="{29922C00-08DB-4866-B4D7-1AE4540F6A68}"/>
              </a:ext>
            </a:extLst>
          </p:cNvPr>
          <p:cNvSpPr>
            <a:spLocks xmlns:a="http://schemas.openxmlformats.org/drawingml/2006/main" noGrp="1"/>
          </p:cNvSpPr>
          <p:nvPr/>
        </p:nvSpPr>
        <p:spPr>
          <a:xfrm xmlns:a="http://schemas.openxmlformats.org/drawingml/2006/main">
            <a:off x="571500" y="6829425"/>
            <a:ext cx="152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e. (2p)</a:t>
            </a:r>
          </a:p>
        </p:txBody>
      </p:sp>
      <p:sp>
        <p:nvSpPr>
          <p:cNvPr id="15" name="Waarom kan een producent toch voorkeur hebben voor G?&#10;Betekent da">
            <a:extLst xmlns:a="http://schemas.openxmlformats.org/drawingml/2006/main">
              <a:ext uri="{FF2B5EF4-FFF2-40B4-BE49-F238E27FC236}">
                <a16:creationId xmlns:a16="http://schemas.microsoft.com/office/drawing/2014/main" id="{701CA229-98BF-4E10-A934-54BF350A20B3}"/>
              </a:ext>
            </a:extLst>
          </p:cNvPr>
          <p:cNvSpPr>
            <a:spLocks xmlns:a="http://schemas.openxmlformats.org/drawingml/2006/main" noGrp="1"/>
          </p:cNvSpPr>
          <p:nvPr/>
        </p:nvSpPr>
        <p:spPr>
          <a:xfrm xmlns:a="http://schemas.openxmlformats.org/drawingml/2006/main">
            <a:off x="2238375" y="6829425"/>
            <a:ext cx="1243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Waarom kan een producent toch voorkeur hebben voor G?</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Betekent dat dat de raad verkeerd rekent?</a:t>
            </a:r>
          </a:p>
        </p:txBody>
      </p:sp>
    </p:spTree>
    <p:extLst>
      <p:ext uri="{BB962C8B-B14F-4D97-AF65-F5344CB8AC3E}">
        <p14:creationId xmlns:p14="http://schemas.microsoft.com/office/powerpoint/2010/main" val="12904233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52a · Probleem en werking">
            <a:extLst xmlns:a="http://schemas.openxmlformats.org/drawingml/2006/main">
              <a:ext uri="{FF2B5EF4-FFF2-40B4-BE49-F238E27FC236}">
                <a16:creationId xmlns:a16="http://schemas.microsoft.com/office/drawing/2014/main" id="{A512ACF2-C754-414E-A67E-835317C7771F}"/>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52a · Probleem en werking</a:t>
            </a:r>
          </a:p>
        </p:txBody>
      </p:sp>
      <p:sp>
        <p:nvSpPr>
          <p:cNvPr id="2" name="">
            <a:extLst xmlns:a="http://schemas.openxmlformats.org/drawingml/2006/main">
              <a:ext uri="{FF2B5EF4-FFF2-40B4-BE49-F238E27FC236}">
                <a16:creationId xmlns:a16="http://schemas.microsoft.com/office/drawing/2014/main" id="{C2C746FB-B240-4443-9FB8-E5DBED5085F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CF37976-E6E3-4588-8FD5-36F7A3E2D3E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 Opgave 52 · Boekpagina 103</a:t>
            </a:r>
          </a:p>
        </p:txBody>
      </p:sp>
      <p:sp>
        <p:nvSpPr>
          <p:cNvPr id="4" name="slide-number">
            <a:extLst xmlns:a="http://schemas.openxmlformats.org/drawingml/2006/main">
              <a:ext uri="{FF2B5EF4-FFF2-40B4-BE49-F238E27FC236}">
                <a16:creationId xmlns:a16="http://schemas.microsoft.com/office/drawing/2014/main" id="{8EEBD59E-9B58-498B-B223-F61D67D9235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Niet-vergoede geluidsschade aan derden">
            <a:extLst xmlns:a="http://schemas.openxmlformats.org/drawingml/2006/main">
              <a:ext uri="{FF2B5EF4-FFF2-40B4-BE49-F238E27FC236}">
                <a16:creationId xmlns:a16="http://schemas.microsoft.com/office/drawing/2014/main" id="{346B360C-94CD-4647-8F96-0A17C6787202}"/>
              </a:ext>
            </a:extLst>
          </p:cNvPr>
          <p:cNvSpPr>
            <a:spLocks xmlns:a="http://schemas.openxmlformats.org/drawingml/2006/main" noGrp="1"/>
          </p:cNvSpPr>
          <p:nvPr/>
        </p:nvSpPr>
        <p:spPr>
          <a:xfrm xmlns:a="http://schemas.openxmlformats.org/drawingml/2006/main">
            <a:off x="571500" y="19621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Niet-vergoede geluidsschade aan derden</a:t>
            </a:r>
          </a:p>
        </p:txBody>
      </p:sp>
      <p:sp>
        <p:nvSpPr>
          <p:cNvPr id="6" name="Plan H: heffing">
            <a:extLst xmlns:a="http://schemas.openxmlformats.org/drawingml/2006/main">
              <a:ext uri="{FF2B5EF4-FFF2-40B4-BE49-F238E27FC236}">
                <a16:creationId xmlns:a16="http://schemas.microsoft.com/office/drawing/2014/main" id="{335DFF33-FE07-4D86-8533-2891FD3BC81F}"/>
              </a:ext>
            </a:extLst>
          </p:cNvPr>
          <p:cNvSpPr>
            <a:spLocks xmlns:a="http://schemas.openxmlformats.org/drawingml/2006/main" noGrp="1"/>
          </p:cNvSpPr>
          <p:nvPr/>
        </p:nvSpPr>
        <p:spPr>
          <a:xfrm xmlns:a="http://schemas.openxmlformats.org/drawingml/2006/main">
            <a:off x="571500" y="34671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Plan H: heffing</a:t>
            </a:r>
          </a:p>
        </p:txBody>
      </p:sp>
      <p:sp>
        <p:nvSpPr>
          <p:cNvPr id="7" name="De heffingswig maakt de activiteit&#10;minder aantrekkelijk.">
            <a:extLst xmlns:a="http://schemas.openxmlformats.org/drawingml/2006/main">
              <a:ext uri="{FF2B5EF4-FFF2-40B4-BE49-F238E27FC236}">
                <a16:creationId xmlns:a16="http://schemas.microsoft.com/office/drawing/2014/main" id="{2FCA7F22-4369-4D7E-85F6-59E870145845}"/>
              </a:ext>
            </a:extLst>
          </p:cNvPr>
          <p:cNvSpPr>
            <a:spLocks xmlns:a="http://schemas.openxmlformats.org/drawingml/2006/main" noGrp="1"/>
          </p:cNvSpPr>
          <p:nvPr/>
        </p:nvSpPr>
        <p:spPr>
          <a:xfrm xmlns:a="http://schemas.openxmlformats.org/drawingml/2006/main">
            <a:off x="5619750" y="346710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heffingswig maakt de activiteit</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minder aantrekkelijk.</a:t>
            </a:r>
          </a:p>
        </p:txBody>
      </p:sp>
      <p:sp>
        <p:nvSpPr>
          <p:cNvPr id="8" name="">
            <a:extLst xmlns:a="http://schemas.openxmlformats.org/drawingml/2006/main">
              <a:ext uri="{FF2B5EF4-FFF2-40B4-BE49-F238E27FC236}">
                <a16:creationId xmlns:a16="http://schemas.microsoft.com/office/drawing/2014/main" id="{9D2C8AE0-ABC1-44B3-86AD-31F2C5F57121}"/>
              </a:ext>
            </a:extLst>
          </p:cNvPr>
          <p:cNvSpPr>
            <a:spLocks xmlns:a="http://schemas.openxmlformats.org/drawingml/2006/main" noGrp="1"/>
          </p:cNvSpPr>
          <p:nvPr/>
        </p:nvSpPr>
        <p:spPr>
          <a:xfrm xmlns:a="http://schemas.openxmlformats.org/drawingml/2006/main">
            <a:off x="571500" y="4810125"/>
            <a:ext cx="14097000" cy="0"/>
          </a:xfrm>
          <a:prstGeom xmlns:a="http://schemas.openxmlformats.org/drawingml/2006/main" prst="line">
            <a:avLst/>
          </a:prstGeom>
          <a:ln xmlns:a="http://schemas.openxmlformats.org/drawingml/2006/main" w="19050">
            <a:solidFill>
              <a:srgbClr val="C6D2DB"/>
            </a:solidFill>
          </a:ln>
        </p:spPr>
      </p:sp>
      <p:sp>
        <p:nvSpPr>
          <p:cNvPr id="9" name="Plan G: grens">
            <a:extLst xmlns:a="http://schemas.openxmlformats.org/drawingml/2006/main">
              <a:ext uri="{FF2B5EF4-FFF2-40B4-BE49-F238E27FC236}">
                <a16:creationId xmlns:a16="http://schemas.microsoft.com/office/drawing/2014/main" id="{E4C9B45F-0013-457D-AC30-EAAE1079DA21}"/>
              </a:ext>
            </a:extLst>
          </p:cNvPr>
          <p:cNvSpPr>
            <a:spLocks xmlns:a="http://schemas.openxmlformats.org/drawingml/2006/main" noGrp="1"/>
          </p:cNvSpPr>
          <p:nvPr/>
        </p:nvSpPr>
        <p:spPr>
          <a:xfrm xmlns:a="http://schemas.openxmlformats.org/drawingml/2006/main">
            <a:off x="571500" y="50482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Plan G: grens</a:t>
            </a:r>
          </a:p>
        </p:txBody>
      </p:sp>
      <p:sp>
        <p:nvSpPr>
          <p:cNvPr id="10" name="De hoeveelheid wordt rechtstreeks begrensd.">
            <a:extLst xmlns:a="http://schemas.openxmlformats.org/drawingml/2006/main">
              <a:ext uri="{FF2B5EF4-FFF2-40B4-BE49-F238E27FC236}">
                <a16:creationId xmlns:a16="http://schemas.microsoft.com/office/drawing/2014/main" id="{98DB3D2C-5D25-497A-B4D1-3D29EAA654D9}"/>
              </a:ext>
            </a:extLst>
          </p:cNvPr>
          <p:cNvSpPr>
            <a:spLocks xmlns:a="http://schemas.openxmlformats.org/drawingml/2006/main" noGrp="1"/>
          </p:cNvSpPr>
          <p:nvPr/>
        </p:nvSpPr>
        <p:spPr>
          <a:xfrm xmlns:a="http://schemas.openxmlformats.org/drawingml/2006/main">
            <a:off x="5619750" y="504825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hoeveelheid wordt rechtstreeks begrensd.</a:t>
            </a:r>
          </a:p>
        </p:txBody>
      </p:sp>
      <p:sp>
        <p:nvSpPr>
          <p:cNvPr id="11" name="Beide beperken het aantal schadelijke diensten onder de bronvoorw">
            <a:extLst xmlns:a="http://schemas.openxmlformats.org/drawingml/2006/main">
              <a:ext uri="{FF2B5EF4-FFF2-40B4-BE49-F238E27FC236}">
                <a16:creationId xmlns:a16="http://schemas.microsoft.com/office/drawing/2014/main" id="{35404942-D134-4DF2-B6FC-EE98592CFCD3}"/>
              </a:ext>
            </a:extLst>
          </p:cNvPr>
          <p:cNvSpPr>
            <a:spLocks xmlns:a="http://schemas.openxmlformats.org/drawingml/2006/main" noGrp="1"/>
          </p:cNvSpPr>
          <p:nvPr/>
        </p:nvSpPr>
        <p:spPr>
          <a:xfrm xmlns:a="http://schemas.openxmlformats.org/drawingml/2006/main">
            <a:off x="571500" y="721995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Beide beperken het aantal schadelijke diensten onder de bronvoorwaarden.</a:t>
            </a:r>
          </a:p>
        </p:txBody>
      </p:sp>
    </p:spTree>
    <p:extLst>
      <p:ext uri="{BB962C8B-B14F-4D97-AF65-F5344CB8AC3E}">
        <p14:creationId xmlns:p14="http://schemas.microsoft.com/office/powerpoint/2010/main" val="185442349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52b · Hoeveelheid bij H">
            <a:extLst xmlns:a="http://schemas.openxmlformats.org/drawingml/2006/main">
              <a:ext uri="{FF2B5EF4-FFF2-40B4-BE49-F238E27FC236}">
                <a16:creationId xmlns:a16="http://schemas.microsoft.com/office/drawing/2014/main" id="{85B62C69-6EE5-4470-A5BD-678A471E7006}"/>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52b · Hoeveelheid bij H</a:t>
            </a:r>
          </a:p>
        </p:txBody>
      </p:sp>
      <p:sp>
        <p:nvSpPr>
          <p:cNvPr id="2" name="">
            <a:extLst xmlns:a="http://schemas.openxmlformats.org/drawingml/2006/main">
              <a:ext uri="{FF2B5EF4-FFF2-40B4-BE49-F238E27FC236}">
                <a16:creationId xmlns:a16="http://schemas.microsoft.com/office/drawing/2014/main" id="{47DF1D8B-B15D-4BF9-8FAD-9DAA9C77AC7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7EB6E05-ADE7-42F4-B8BE-E3F6526F9FA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 Opgave 52 · Boekpagina 103</a:t>
            </a:r>
          </a:p>
        </p:txBody>
      </p:sp>
      <p:sp>
        <p:nvSpPr>
          <p:cNvPr id="4" name="slide-number">
            <a:extLst xmlns:a="http://schemas.openxmlformats.org/drawingml/2006/main">
              <a:ext uri="{FF2B5EF4-FFF2-40B4-BE49-F238E27FC236}">
                <a16:creationId xmlns:a16="http://schemas.microsoft.com/office/drawing/2014/main" id="{98B482C3-8974-4E54-8459-20B1CC862F0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Heffingswig">
            <a:extLst xmlns:a="http://schemas.openxmlformats.org/drawingml/2006/main">
              <a:ext uri="{FF2B5EF4-FFF2-40B4-BE49-F238E27FC236}">
                <a16:creationId xmlns:a16="http://schemas.microsoft.com/office/drawing/2014/main" id="{C19EFF81-B117-483F-BA95-6674A8B41533}"/>
              </a:ext>
            </a:extLst>
          </p:cNvPr>
          <p:cNvSpPr>
            <a:spLocks xmlns:a="http://schemas.openxmlformats.org/drawingml/2006/main" noGrp="1"/>
          </p:cNvSpPr>
          <p:nvPr/>
        </p:nvSpPr>
        <p:spPr>
          <a:xfrm xmlns:a="http://schemas.openxmlformats.org/drawingml/2006/main">
            <a:off x="571500" y="20955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Heffingswig</a:t>
            </a:r>
          </a:p>
        </p:txBody>
      </p:sp>
      <p:sp>
        <p:nvSpPr>
          <p:cNvPr id="6" name="Pc = Pp + 10">
            <a:extLst xmlns:a="http://schemas.openxmlformats.org/drawingml/2006/main">
              <a:ext uri="{FF2B5EF4-FFF2-40B4-BE49-F238E27FC236}">
                <a16:creationId xmlns:a16="http://schemas.microsoft.com/office/drawing/2014/main" id="{94515165-6546-48BF-8A48-23E7F4DE7203}"/>
              </a:ext>
            </a:extLst>
          </p:cNvPr>
          <p:cNvSpPr>
            <a:spLocks xmlns:a="http://schemas.openxmlformats.org/drawingml/2006/main" noGrp="1"/>
          </p:cNvSpPr>
          <p:nvPr/>
        </p:nvSpPr>
        <p:spPr>
          <a:xfrm xmlns:a="http://schemas.openxmlformats.org/drawingml/2006/main">
            <a:off x="5619750" y="209550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Pc = Pp + 10</a:t>
            </a:r>
          </a:p>
        </p:txBody>
      </p:sp>
      <p:sp>
        <p:nvSpPr>
          <p:cNvPr id="7" name="">
            <a:extLst xmlns:a="http://schemas.openxmlformats.org/drawingml/2006/main">
              <a:ext uri="{FF2B5EF4-FFF2-40B4-BE49-F238E27FC236}">
                <a16:creationId xmlns:a16="http://schemas.microsoft.com/office/drawing/2014/main" id="{06D77A91-BF2E-40C7-ABDA-DC76B57CC794}"/>
              </a:ext>
            </a:extLst>
          </p:cNvPr>
          <p:cNvSpPr>
            <a:spLocks xmlns:a="http://schemas.openxmlformats.org/drawingml/2006/main" noGrp="1"/>
          </p:cNvSpPr>
          <p:nvPr/>
        </p:nvSpPr>
        <p:spPr>
          <a:xfrm xmlns:a="http://schemas.openxmlformats.org/drawingml/2006/main">
            <a:off x="571500" y="3467100"/>
            <a:ext cx="14097000" cy="0"/>
          </a:xfrm>
          <a:prstGeom xmlns:a="http://schemas.openxmlformats.org/drawingml/2006/main" prst="line">
            <a:avLst/>
          </a:prstGeom>
          <a:ln xmlns:a="http://schemas.openxmlformats.org/drawingml/2006/main" w="19050">
            <a:solidFill>
              <a:srgbClr val="C6D2DB"/>
            </a:solidFill>
          </a:ln>
        </p:spPr>
      </p:sp>
      <p:sp>
        <p:nvSpPr>
          <p:cNvPr id="8" name="Invullen">
            <a:extLst xmlns:a="http://schemas.openxmlformats.org/drawingml/2006/main">
              <a:ext uri="{FF2B5EF4-FFF2-40B4-BE49-F238E27FC236}">
                <a16:creationId xmlns:a16="http://schemas.microsoft.com/office/drawing/2014/main" id="{A9258DD9-83F2-4FF6-9786-8A266CE50BE5}"/>
              </a:ext>
            </a:extLst>
          </p:cNvPr>
          <p:cNvSpPr>
            <a:spLocks xmlns:a="http://schemas.openxmlformats.org/drawingml/2006/main" noGrp="1"/>
          </p:cNvSpPr>
          <p:nvPr/>
        </p:nvSpPr>
        <p:spPr>
          <a:xfrm xmlns:a="http://schemas.openxmlformats.org/drawingml/2006/main">
            <a:off x="571500" y="370522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Invullen</a:t>
            </a:r>
          </a:p>
        </p:txBody>
      </p:sp>
      <p:sp>
        <p:nvSpPr>
          <p:cNvPr id="9" name="50 − 0,5Q = 10 + 0,5Q + 10">
            <a:extLst xmlns:a="http://schemas.openxmlformats.org/drawingml/2006/main">
              <a:ext uri="{FF2B5EF4-FFF2-40B4-BE49-F238E27FC236}">
                <a16:creationId xmlns:a16="http://schemas.microsoft.com/office/drawing/2014/main" id="{A0297558-F79B-46A6-B7FB-2D2532AC4128}"/>
              </a:ext>
            </a:extLst>
          </p:cNvPr>
          <p:cNvSpPr>
            <a:spLocks xmlns:a="http://schemas.openxmlformats.org/drawingml/2006/main" noGrp="1"/>
          </p:cNvSpPr>
          <p:nvPr/>
        </p:nvSpPr>
        <p:spPr>
          <a:xfrm xmlns:a="http://schemas.openxmlformats.org/drawingml/2006/main">
            <a:off x="5619750" y="3705225"/>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50 − 0,5Q = 10 + 0,5Q + 10</a:t>
            </a:r>
          </a:p>
        </p:txBody>
      </p:sp>
      <p:sp>
        <p:nvSpPr>
          <p:cNvPr id="10" name="">
            <a:extLst xmlns:a="http://schemas.openxmlformats.org/drawingml/2006/main">
              <a:ext uri="{FF2B5EF4-FFF2-40B4-BE49-F238E27FC236}">
                <a16:creationId xmlns:a16="http://schemas.microsoft.com/office/drawing/2014/main" id="{5B0320D6-2A43-4E54-B941-7CC2049593B5}"/>
              </a:ext>
            </a:extLst>
          </p:cNvPr>
          <p:cNvSpPr>
            <a:spLocks xmlns:a="http://schemas.openxmlformats.org/drawingml/2006/main" noGrp="1"/>
          </p:cNvSpPr>
          <p:nvPr/>
        </p:nvSpPr>
        <p:spPr>
          <a:xfrm xmlns:a="http://schemas.openxmlformats.org/drawingml/2006/main">
            <a:off x="571500" y="5076825"/>
            <a:ext cx="14097000" cy="0"/>
          </a:xfrm>
          <a:prstGeom xmlns:a="http://schemas.openxmlformats.org/drawingml/2006/main" prst="line">
            <a:avLst/>
          </a:prstGeom>
          <a:ln xmlns:a="http://schemas.openxmlformats.org/drawingml/2006/main" w="19050">
            <a:solidFill>
              <a:srgbClr val="C6D2DB"/>
            </a:solidFill>
          </a:ln>
        </p:spPr>
      </p:sp>
      <p:sp>
        <p:nvSpPr>
          <p:cNvPr id="11" name="Oplossen">
            <a:extLst xmlns:a="http://schemas.openxmlformats.org/drawingml/2006/main">
              <a:ext uri="{FF2B5EF4-FFF2-40B4-BE49-F238E27FC236}">
                <a16:creationId xmlns:a16="http://schemas.microsoft.com/office/drawing/2014/main" id="{51CB45A1-DB6A-430A-9C1B-D7DB37F1E822}"/>
              </a:ext>
            </a:extLst>
          </p:cNvPr>
          <p:cNvSpPr>
            <a:spLocks xmlns:a="http://schemas.openxmlformats.org/drawingml/2006/main" noGrp="1"/>
          </p:cNvSpPr>
          <p:nvPr/>
        </p:nvSpPr>
        <p:spPr>
          <a:xfrm xmlns:a="http://schemas.openxmlformats.org/drawingml/2006/main">
            <a:off x="571500" y="53149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Oplossen</a:t>
            </a:r>
          </a:p>
        </p:txBody>
      </p:sp>
      <p:sp>
        <p:nvSpPr>
          <p:cNvPr id="12" name="50 − 20 = 0,5Q + 0,5Q&#10;Q = 30 diensten per dag">
            <a:extLst xmlns:a="http://schemas.openxmlformats.org/drawingml/2006/main">
              <a:ext uri="{FF2B5EF4-FFF2-40B4-BE49-F238E27FC236}">
                <a16:creationId xmlns:a16="http://schemas.microsoft.com/office/drawing/2014/main" id="{835CEF2E-848B-46C5-9265-38158C6FE3C9}"/>
              </a:ext>
            </a:extLst>
          </p:cNvPr>
          <p:cNvSpPr>
            <a:spLocks xmlns:a="http://schemas.openxmlformats.org/drawingml/2006/main" noGrp="1"/>
          </p:cNvSpPr>
          <p:nvPr/>
        </p:nvSpPr>
        <p:spPr>
          <a:xfrm xmlns:a="http://schemas.openxmlformats.org/drawingml/2006/main">
            <a:off x="5619750" y="531495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50 − 20 = 0,5Q + 0,5Q</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 = 30 diensten per dag</a:t>
            </a:r>
          </a:p>
        </p:txBody>
      </p:sp>
    </p:spTree>
    <p:extLst>
      <p:ext uri="{BB962C8B-B14F-4D97-AF65-F5344CB8AC3E}">
        <p14:creationId xmlns:p14="http://schemas.microsoft.com/office/powerpoint/2010/main" val="62427851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pgave 52b · Prijzen en ontvangsten">
            <a:extLst xmlns:a="http://schemas.openxmlformats.org/drawingml/2006/main">
              <a:ext uri="{FF2B5EF4-FFF2-40B4-BE49-F238E27FC236}">
                <a16:creationId xmlns:a16="http://schemas.microsoft.com/office/drawing/2014/main" id="{40F6FFB1-AE9D-4E95-ADC0-90726CC1B043}"/>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52b · Prijzen en ontvangsten</a:t>
            </a:r>
          </a:p>
        </p:txBody>
      </p:sp>
      <p:sp>
        <p:nvSpPr>
          <p:cNvPr id="2" name="">
            <a:extLst xmlns:a="http://schemas.openxmlformats.org/drawingml/2006/main">
              <a:ext uri="{FF2B5EF4-FFF2-40B4-BE49-F238E27FC236}">
                <a16:creationId xmlns:a16="http://schemas.microsoft.com/office/drawing/2014/main" id="{147FBDA9-A03F-4251-84AE-E1F2EF50486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F1358661-ABC1-451E-8DCA-CF9E8BFE868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 Opgave 52 · Boekpagina 103</a:t>
            </a:r>
          </a:p>
        </p:txBody>
      </p:sp>
      <p:sp>
        <p:nvSpPr>
          <p:cNvPr id="4" name="slide-number">
            <a:extLst xmlns:a="http://schemas.openxmlformats.org/drawingml/2006/main">
              <a:ext uri="{FF2B5EF4-FFF2-40B4-BE49-F238E27FC236}">
                <a16:creationId xmlns:a16="http://schemas.microsoft.com/office/drawing/2014/main" id="{1CC0F47B-F272-4E99-B597-8A1D7B3C23D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Kopersprijs">
            <a:extLst xmlns:a="http://schemas.openxmlformats.org/drawingml/2006/main">
              <a:ext uri="{FF2B5EF4-FFF2-40B4-BE49-F238E27FC236}">
                <a16:creationId xmlns:a16="http://schemas.microsoft.com/office/drawing/2014/main" id="{74BDBE03-F200-41A8-8BE0-253DDC4E0640}"/>
              </a:ext>
            </a:extLst>
          </p:cNvPr>
          <p:cNvSpPr>
            <a:spLocks xmlns:a="http://schemas.openxmlformats.org/drawingml/2006/main" noGrp="1"/>
          </p:cNvSpPr>
          <p:nvPr/>
        </p:nvSpPr>
        <p:spPr>
          <a:xfrm xmlns:a="http://schemas.openxmlformats.org/drawingml/2006/main">
            <a:off x="571500" y="20002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Kopersprijs</a:t>
            </a:r>
          </a:p>
        </p:txBody>
      </p:sp>
      <p:sp>
        <p:nvSpPr>
          <p:cNvPr id="6" name="Pc = 50 − 0,5 × 30 = € 35 per dienst">
            <a:extLst xmlns:a="http://schemas.openxmlformats.org/drawingml/2006/main">
              <a:ext uri="{FF2B5EF4-FFF2-40B4-BE49-F238E27FC236}">
                <a16:creationId xmlns:a16="http://schemas.microsoft.com/office/drawing/2014/main" id="{5E1417C3-16D4-4F7F-AE26-8771A3A5FA90}"/>
              </a:ext>
            </a:extLst>
          </p:cNvPr>
          <p:cNvSpPr>
            <a:spLocks xmlns:a="http://schemas.openxmlformats.org/drawingml/2006/main" noGrp="1"/>
          </p:cNvSpPr>
          <p:nvPr/>
        </p:nvSpPr>
        <p:spPr>
          <a:xfrm xmlns:a="http://schemas.openxmlformats.org/drawingml/2006/main">
            <a:off x="5619750" y="200025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Pc = 50 − 0,5 × 30 = € 35 per dienst</a:t>
            </a:r>
          </a:p>
        </p:txBody>
      </p:sp>
      <p:sp>
        <p:nvSpPr>
          <p:cNvPr id="7" name="">
            <a:extLst xmlns:a="http://schemas.openxmlformats.org/drawingml/2006/main">
              <a:ext uri="{FF2B5EF4-FFF2-40B4-BE49-F238E27FC236}">
                <a16:creationId xmlns:a16="http://schemas.microsoft.com/office/drawing/2014/main" id="{254AF318-6833-4D92-B07A-C6E574FAA5E0}"/>
              </a:ext>
            </a:extLst>
          </p:cNvPr>
          <p:cNvSpPr>
            <a:spLocks xmlns:a="http://schemas.openxmlformats.org/drawingml/2006/main" noGrp="1"/>
          </p:cNvSpPr>
          <p:nvPr/>
        </p:nvSpPr>
        <p:spPr>
          <a:xfrm xmlns:a="http://schemas.openxmlformats.org/drawingml/2006/main">
            <a:off x="571500" y="3371850"/>
            <a:ext cx="14097000" cy="0"/>
          </a:xfrm>
          <a:prstGeom xmlns:a="http://schemas.openxmlformats.org/drawingml/2006/main" prst="line">
            <a:avLst/>
          </a:prstGeom>
          <a:ln xmlns:a="http://schemas.openxmlformats.org/drawingml/2006/main" w="19050">
            <a:solidFill>
              <a:srgbClr val="C6D2DB"/>
            </a:solidFill>
          </a:ln>
        </p:spPr>
      </p:sp>
      <p:sp>
        <p:nvSpPr>
          <p:cNvPr id="8" name="Producentenprijs">
            <a:extLst xmlns:a="http://schemas.openxmlformats.org/drawingml/2006/main">
              <a:ext uri="{FF2B5EF4-FFF2-40B4-BE49-F238E27FC236}">
                <a16:creationId xmlns:a16="http://schemas.microsoft.com/office/drawing/2014/main" id="{F0229DBE-EAE1-4292-858A-761F8679AA91}"/>
              </a:ext>
            </a:extLst>
          </p:cNvPr>
          <p:cNvSpPr>
            <a:spLocks xmlns:a="http://schemas.openxmlformats.org/drawingml/2006/main" noGrp="1"/>
          </p:cNvSpPr>
          <p:nvPr/>
        </p:nvSpPr>
        <p:spPr>
          <a:xfrm xmlns:a="http://schemas.openxmlformats.org/drawingml/2006/main">
            <a:off x="571500" y="36099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Producentenprijs</a:t>
            </a:r>
          </a:p>
        </p:txBody>
      </p:sp>
      <p:sp>
        <p:nvSpPr>
          <p:cNvPr id="9" name="Pp = 10 + 0,5 × 30 = € 25 per dienst">
            <a:extLst xmlns:a="http://schemas.openxmlformats.org/drawingml/2006/main">
              <a:ext uri="{FF2B5EF4-FFF2-40B4-BE49-F238E27FC236}">
                <a16:creationId xmlns:a16="http://schemas.microsoft.com/office/drawing/2014/main" id="{2EC5E7DE-A920-40E0-A2DA-4B097FAC1EF1}"/>
              </a:ext>
            </a:extLst>
          </p:cNvPr>
          <p:cNvSpPr>
            <a:spLocks xmlns:a="http://schemas.openxmlformats.org/drawingml/2006/main" noGrp="1"/>
          </p:cNvSpPr>
          <p:nvPr/>
        </p:nvSpPr>
        <p:spPr>
          <a:xfrm xmlns:a="http://schemas.openxmlformats.org/drawingml/2006/main">
            <a:off x="5619750" y="3609975"/>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Pp = 10 + 0,5 × 30 = € 25 per dienst</a:t>
            </a:r>
          </a:p>
        </p:txBody>
      </p:sp>
      <p:sp>
        <p:nvSpPr>
          <p:cNvPr id="10" name="">
            <a:extLst xmlns:a="http://schemas.openxmlformats.org/drawingml/2006/main">
              <a:ext uri="{FF2B5EF4-FFF2-40B4-BE49-F238E27FC236}">
                <a16:creationId xmlns:a16="http://schemas.microsoft.com/office/drawing/2014/main" id="{8674D830-E420-46E3-A91F-0D003D78E6C8}"/>
              </a:ext>
            </a:extLst>
          </p:cNvPr>
          <p:cNvSpPr>
            <a:spLocks xmlns:a="http://schemas.openxmlformats.org/drawingml/2006/main" noGrp="1"/>
          </p:cNvSpPr>
          <p:nvPr/>
        </p:nvSpPr>
        <p:spPr>
          <a:xfrm xmlns:a="http://schemas.openxmlformats.org/drawingml/2006/main">
            <a:off x="571500" y="4981575"/>
            <a:ext cx="14097000" cy="0"/>
          </a:xfrm>
          <a:prstGeom xmlns:a="http://schemas.openxmlformats.org/drawingml/2006/main" prst="line">
            <a:avLst/>
          </a:prstGeom>
          <a:ln xmlns:a="http://schemas.openxmlformats.org/drawingml/2006/main" w="19050">
            <a:solidFill>
              <a:srgbClr val="C6D2DB"/>
            </a:solidFill>
          </a:ln>
        </p:spPr>
      </p:sp>
      <p:sp>
        <p:nvSpPr>
          <p:cNvPr id="11" name="Overheidsontvangsten">
            <a:extLst xmlns:a="http://schemas.openxmlformats.org/drawingml/2006/main">
              <a:ext uri="{FF2B5EF4-FFF2-40B4-BE49-F238E27FC236}">
                <a16:creationId xmlns:a16="http://schemas.microsoft.com/office/drawing/2014/main" id="{42B798D7-0A92-4AC6-8FDB-C02943EAD17D}"/>
              </a:ext>
            </a:extLst>
          </p:cNvPr>
          <p:cNvSpPr>
            <a:spLocks xmlns:a="http://schemas.openxmlformats.org/drawingml/2006/main" noGrp="1"/>
          </p:cNvSpPr>
          <p:nvPr/>
        </p:nvSpPr>
        <p:spPr>
          <a:xfrm xmlns:a="http://schemas.openxmlformats.org/drawingml/2006/main">
            <a:off x="571500" y="52197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Overheidsontvangsten</a:t>
            </a:r>
          </a:p>
        </p:txBody>
      </p:sp>
      <p:sp>
        <p:nvSpPr>
          <p:cNvPr id="12" name="10 × 30 = € 300 per dag">
            <a:extLst xmlns:a="http://schemas.openxmlformats.org/drawingml/2006/main">
              <a:ext uri="{FF2B5EF4-FFF2-40B4-BE49-F238E27FC236}">
                <a16:creationId xmlns:a16="http://schemas.microsoft.com/office/drawing/2014/main" id="{08603C24-D4C9-42E4-9458-2C326C7E520E}"/>
              </a:ext>
            </a:extLst>
          </p:cNvPr>
          <p:cNvSpPr>
            <a:spLocks xmlns:a="http://schemas.openxmlformats.org/drawingml/2006/main" noGrp="1"/>
          </p:cNvSpPr>
          <p:nvPr/>
        </p:nvSpPr>
        <p:spPr>
          <a:xfrm xmlns:a="http://schemas.openxmlformats.org/drawingml/2006/main">
            <a:off x="5619750" y="5219700"/>
            <a:ext cx="900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10 × 30 = € 300 per dag</a:t>
            </a:r>
          </a:p>
        </p:txBody>
      </p:sp>
      <p:sp>
        <p:nvSpPr>
          <p:cNvPr id="13" name="Controle: 35 − 25 = € 10 per dienst.">
            <a:extLst xmlns:a="http://schemas.openxmlformats.org/drawingml/2006/main">
              <a:ext uri="{FF2B5EF4-FFF2-40B4-BE49-F238E27FC236}">
                <a16:creationId xmlns:a16="http://schemas.microsoft.com/office/drawing/2014/main" id="{BB4305B8-019A-4062-9C2B-E759EBB10D04}"/>
              </a:ext>
            </a:extLst>
          </p:cNvPr>
          <p:cNvSpPr>
            <a:spLocks xmlns:a="http://schemas.openxmlformats.org/drawingml/2006/main" noGrp="1"/>
          </p:cNvSpPr>
          <p:nvPr/>
        </p:nvSpPr>
        <p:spPr>
          <a:xfrm xmlns:a="http://schemas.openxmlformats.org/drawingml/2006/main">
            <a:off x="571500" y="7410450"/>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Controle: 35 − 25 = € 10 per dienst.</a:t>
            </a:r>
          </a:p>
        </p:txBody>
      </p:sp>
    </p:spTree>
    <p:extLst>
      <p:ext uri="{BB962C8B-B14F-4D97-AF65-F5344CB8AC3E}">
        <p14:creationId xmlns:p14="http://schemas.microsoft.com/office/powerpoint/2010/main" val="18153050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52c · Surplus na uitvoering">
            <a:extLst xmlns:a="http://schemas.openxmlformats.org/drawingml/2006/main">
              <a:ext uri="{FF2B5EF4-FFF2-40B4-BE49-F238E27FC236}">
                <a16:creationId xmlns:a16="http://schemas.microsoft.com/office/drawing/2014/main" id="{360D7F79-E88A-4E07-AAA0-A519FC3401A2}"/>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52c · Surplus na uitvoering</a:t>
            </a:r>
          </a:p>
        </p:txBody>
      </p:sp>
      <p:sp>
        <p:nvSpPr>
          <p:cNvPr id="2" name="">
            <a:extLst xmlns:a="http://schemas.openxmlformats.org/drawingml/2006/main">
              <a:ext uri="{FF2B5EF4-FFF2-40B4-BE49-F238E27FC236}">
                <a16:creationId xmlns:a16="http://schemas.microsoft.com/office/drawing/2014/main" id="{1407C9D5-6022-4558-8B47-B727B6AD0C5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F826C27D-6116-4EBE-B4E4-ABC0C4677D5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 Opgave 52 · Boekpagina 103</a:t>
            </a:r>
          </a:p>
        </p:txBody>
      </p:sp>
      <p:sp>
        <p:nvSpPr>
          <p:cNvPr id="4" name="slide-number">
            <a:extLst xmlns:a="http://schemas.openxmlformats.org/drawingml/2006/main">
              <a:ext uri="{FF2B5EF4-FFF2-40B4-BE49-F238E27FC236}">
                <a16:creationId xmlns:a16="http://schemas.microsoft.com/office/drawing/2014/main" id="{77470DE2-0C2F-4B1F-BE11-39AFD6A1CD1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1" name=""/>
          <p:cNvGraphicFramePr/>
          <p:nvPr/>
        </p:nvGraphicFramePr>
        <p:xfrm>
          <a:off xmlns:a="http://schemas.openxmlformats.org/drawingml/2006/main" x="571500" y="1952625"/>
          <a:ext xmlns:a="http://schemas.openxmlformats.org/drawingml/2006/main" cx="14097000" cy="4933950"/>
        </p:xfrm>
        <a:graphic xmlns:a="http://schemas.openxmlformats.org/drawingml/2006/main">
          <a:graphicData uri="http://schemas.openxmlformats.org/drawingml/2006/table">
            <a:tbl>
              <a:tblPr/>
              <a:tblGrid>
                <a:gridCol w="7429500"/>
                <a:gridCol w="3333750"/>
                <a:gridCol w="3333750"/>
              </a:tblGrid>
              <a:tr h="616744">
                <a:tc>
                  <a:txBody>
                    <a:bodyPr lIns="171450" tIns="95250" rIns="152400" bIns="95250"/>
                    <a:lstStyle/>
                    <a:p>
                      <a:r>
                        <a:rPr sz="2475" b="1">
                          <a:solidFill>
                            <a:srgbClr val="FFFFFF"/>
                          </a:solidFill>
                          <a:latin typeface="Arial"/>
                          <a:ea typeface="Arial"/>
                          <a:cs typeface="Arial"/>
                        </a:rPr>
                        <a:t>Rekening (€ per dag)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Plan H</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Plan G</a:t>
                      </a:r>
                    </a:p>
                  </a:txBody>
                  <a:tcPr marL="91440" marR="91440" marT="45720" marB="45720" anchor="ctr">
                    <a:solidFill>
                      <a:srgbClr val="183247"/>
                    </a:solidFill>
                  </a:tcPr>
                </a:tc>
              </a:tr>
              <a:tr h="616744">
                <a:tc>
                  <a:txBody>
                    <a:bodyPr lIns="171450" tIns="95250" rIns="152400" bIns="95250"/>
                    <a:lstStyle/>
                    <a:p>
                      <a:r>
                        <a:rPr sz="247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225</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225</a:t>
                      </a:r>
                    </a:p>
                  </a:txBody>
                  <a:tcPr marL="91440" marR="91440" marT="45720" marB="45720" anchor="ctr">
                    <a:solidFill>
                      <a:srgbClr val="FFFFFF"/>
                    </a:solidFill>
                  </a:tcPr>
                </a:tc>
              </a:tr>
              <a:tr h="616744">
                <a:tc>
                  <a:txBody>
                    <a:bodyPr lIns="171450" tIns="95250" rIns="152400" bIns="95250"/>
                    <a:lstStyle/>
                    <a:p>
                      <a:r>
                        <a:rPr sz="2475" b="0">
                          <a:solidFill>
                            <a:srgbClr val="183247"/>
                          </a:solidFill>
                          <a:latin typeface="Arial"/>
                          <a:ea typeface="Arial"/>
                          <a:cs typeface="Arial"/>
                        </a:rPr>
                        <a:t>+ PS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225</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525</a:t>
                      </a:r>
                    </a:p>
                  </a:txBody>
                  <a:tcPr marL="91440" marR="91440" marT="45720" marB="45720" anchor="ctr">
                    <a:solidFill>
                      <a:srgbClr val="EFF4F7"/>
                    </a:solidFill>
                  </a:tcPr>
                </a:tc>
              </a:tr>
              <a:tr h="616744">
                <a:tc>
                  <a:txBody>
                    <a:bodyPr lIns="171450" tIns="95250" rIns="152400" bIns="95250"/>
                    <a:lstStyle/>
                    <a:p>
                      <a:r>
                        <a:rPr sz="2475" b="0">
                          <a:solidFill>
                            <a:srgbClr val="183247"/>
                          </a:solidFill>
                          <a:latin typeface="Arial"/>
                          <a:ea typeface="Arial"/>
                          <a:cs typeface="Arial"/>
                        </a:rPr>
                        <a:t>+ overheidsontvangsten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300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0</a:t>
                      </a:r>
                    </a:p>
                  </a:txBody>
                  <a:tcPr marL="91440" marR="91440" marT="45720" marB="45720" anchor="ctr">
                    <a:solidFill>
                      <a:srgbClr val="FFFFFF"/>
                    </a:solidFill>
                  </a:tcPr>
                </a:tc>
              </a:tr>
              <a:tr h="616744">
                <a:tc>
                  <a:txBody>
                    <a:bodyPr lIns="171450" tIns="95250" rIns="152400" bIns="95250"/>
                    <a:lstStyle/>
                    <a:p>
                      <a:r>
                        <a:rPr sz="2475" b="0">
                          <a:solidFill>
                            <a:srgbClr val="183247"/>
                          </a:solidFill>
                          <a:latin typeface="Arial"/>
                          <a:ea typeface="Arial"/>
                          <a:cs typeface="Arial"/>
                        </a:rPr>
                        <a:t>− externe schade</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300</a:t>
                      </a:r>
                    </a:p>
                  </a:txBody>
                  <a:tcPr marL="91440" marR="91440" marT="45720" marB="45720" anchor="ctr">
                    <a:solidFill>
                      <a:srgbClr val="EFF4F7"/>
                    </a:solidFill>
                  </a:tcPr>
                </a:tc>
              </a:tr>
              <a:tr h="616744">
                <a:tc>
                  <a:txBody>
                    <a:bodyPr lIns="171450" tIns="95250" rIns="152400" bIns="95250"/>
                    <a:lstStyle/>
                    <a:p>
                      <a:r>
                        <a:rPr sz="2475" b="0">
                          <a:solidFill>
                            <a:srgbClr val="183247"/>
                          </a:solidFill>
                          <a:latin typeface="Arial"/>
                          <a:ea typeface="Arial"/>
                          <a:cs typeface="Arial"/>
                        </a:rPr>
                        <a:t>Vóór uitvoering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450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450</a:t>
                      </a:r>
                    </a:p>
                  </a:txBody>
                  <a:tcPr marL="91440" marR="91440" marT="45720" marB="45720" anchor="ctr">
                    <a:solidFill>
                      <a:srgbClr val="FFFFFF"/>
                    </a:solidFill>
                  </a:tcPr>
                </a:tc>
              </a:tr>
              <a:tr h="616744">
                <a:tc>
                  <a:txBody>
                    <a:bodyPr lIns="171450" tIns="95250" rIns="152400" bIns="95250"/>
                    <a:lstStyle/>
                    <a:p>
                      <a:r>
                        <a:rPr sz="2475" b="0">
                          <a:solidFill>
                            <a:srgbClr val="183247"/>
                          </a:solidFill>
                          <a:latin typeface="Arial"/>
                          <a:ea typeface="Arial"/>
                          <a:cs typeface="Arial"/>
                        </a:rPr>
                        <a:t>− uitvoeringskosten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40</a:t>
                      </a:r>
                    </a:p>
                  </a:txBody>
                  <a:tcPr marL="91440" marR="91440" marT="45720" marB="45720" anchor="ctr">
                    <a:solidFill>
                      <a:srgbClr val="EFF4F7"/>
                    </a:solidFill>
                  </a:tcPr>
                </a:tc>
              </a:tr>
              <a:tr h="616744">
                <a:tc>
                  <a:txBody>
                    <a:bodyPr lIns="171450" tIns="95250" rIns="152400" bIns="95250"/>
                    <a:lstStyle/>
                    <a:p>
                      <a:r>
                        <a:rPr sz="2475" b="0">
                          <a:solidFill>
                            <a:srgbClr val="183247"/>
                          </a:solidFill>
                          <a:latin typeface="Arial"/>
                          <a:ea typeface="Arial"/>
                          <a:cs typeface="Arial"/>
                        </a:rPr>
                        <a:t>Na uitvoering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430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410</a:t>
                      </a:r>
                    </a:p>
                  </a:txBody>
                  <a:tcPr marL="91440" marR="91440" marT="45720" marB="45720" anchor="ctr">
                    <a:solidFill>
                      <a:srgbClr val="FFFFFF"/>
                    </a:solidFill>
                  </a:tcPr>
                </a:tc>
              </a:tr>
            </a:tbl>
          </a:graphicData>
        </a:graphic>
      </p:graphicFrame>
      <p:sp>
        <p:nvSpPr>
          <p:cNvPr id="6" name="H: 225 + 225 + 300 − 300 − 20 = € 430 per dag&#10;G: 225 + 525 + 0 − ">
            <a:extLst xmlns:a="http://schemas.openxmlformats.org/drawingml/2006/main">
              <a:ext uri="{FF2B5EF4-FFF2-40B4-BE49-F238E27FC236}">
                <a16:creationId xmlns:a16="http://schemas.microsoft.com/office/drawing/2014/main" id="{9DB4C131-9189-4615-BA93-C1958B95DE91}"/>
              </a:ext>
            </a:extLst>
          </p:cNvPr>
          <p:cNvSpPr>
            <a:spLocks xmlns:a="http://schemas.openxmlformats.org/drawingml/2006/main" noGrp="1"/>
          </p:cNvSpPr>
          <p:nvPr/>
        </p:nvSpPr>
        <p:spPr>
          <a:xfrm xmlns:a="http://schemas.openxmlformats.org/drawingml/2006/main">
            <a:off x="571500" y="71056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H: 225 + 225 + 300 − 300 − 20 = € 430 per dag</a:t>
            </a:r>
          </a:p>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G: 225 + 525 + 0 − 300 − 40 = € 410 per dag</a:t>
            </a:r>
          </a:p>
        </p:txBody>
      </p:sp>
    </p:spTree>
    <p:extLst>
      <p:ext uri="{BB962C8B-B14F-4D97-AF65-F5344CB8AC3E}">
        <p14:creationId xmlns:p14="http://schemas.microsoft.com/office/powerpoint/2010/main" val="1951663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2d · Een begrensd advies">
            <a:extLst xmlns:a="http://schemas.openxmlformats.org/drawingml/2006/main">
              <a:ext uri="{FF2B5EF4-FFF2-40B4-BE49-F238E27FC236}">
                <a16:creationId xmlns:a16="http://schemas.microsoft.com/office/drawing/2014/main" id="{B0734F79-FBEB-46CE-AF7C-C1AB3B42F59E}"/>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52d · Een begrensd advies</a:t>
            </a:r>
          </a:p>
        </p:txBody>
      </p:sp>
      <p:sp>
        <p:nvSpPr>
          <p:cNvPr id="2" name="">
            <a:extLst xmlns:a="http://schemas.openxmlformats.org/drawingml/2006/main">
              <a:ext uri="{FF2B5EF4-FFF2-40B4-BE49-F238E27FC236}">
                <a16:creationId xmlns:a16="http://schemas.microsoft.com/office/drawing/2014/main" id="{DA619AEB-A3A4-4D74-A832-AF3061778DE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BD6055E7-202F-427E-9B4A-36A72B19CAF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 Opgave 52 · Boekpagina 103</a:t>
            </a:r>
          </a:p>
        </p:txBody>
      </p:sp>
      <p:sp>
        <p:nvSpPr>
          <p:cNvPr id="4" name="slide-number">
            <a:extLst xmlns:a="http://schemas.openxmlformats.org/drawingml/2006/main">
              <a:ext uri="{FF2B5EF4-FFF2-40B4-BE49-F238E27FC236}">
                <a16:creationId xmlns:a16="http://schemas.microsoft.com/office/drawing/2014/main" id="{5B07F36A-EAA5-4E7E-A0A5-F09AD368BE2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Kies H bij maximaal maatschappelijk surplus na uitvoering.">
            <a:extLst xmlns:a="http://schemas.openxmlformats.org/drawingml/2006/main">
              <a:ext uri="{FF2B5EF4-FFF2-40B4-BE49-F238E27FC236}">
                <a16:creationId xmlns:a16="http://schemas.microsoft.com/office/drawing/2014/main" id="{3E3D4CF7-A54E-44D2-9E00-64A1E99F820A}"/>
              </a:ext>
            </a:extLst>
          </p:cNvPr>
          <p:cNvSpPr>
            <a:spLocks xmlns:a="http://schemas.openxmlformats.org/drawingml/2006/main" noGrp="1"/>
          </p:cNvSpPr>
          <p:nvPr/>
        </p:nvSpPr>
        <p:spPr>
          <a:xfrm xmlns:a="http://schemas.openxmlformats.org/drawingml/2006/main">
            <a:off x="571500" y="1971675"/>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Kies H bij maximaal maatschappelijk surplus na uitvoering.</a:t>
            </a:r>
          </a:p>
        </p:txBody>
      </p:sp>
      <p:sp>
        <p:nvSpPr>
          <p:cNvPr id="6" name="€ 430 − € 410 = € 20 meer per dag">
            <a:extLst xmlns:a="http://schemas.openxmlformats.org/drawingml/2006/main">
              <a:ext uri="{FF2B5EF4-FFF2-40B4-BE49-F238E27FC236}">
                <a16:creationId xmlns:a16="http://schemas.microsoft.com/office/drawing/2014/main" id="{E2F7B6C3-B2CC-49AD-BAA1-A9DAFF34D2F6}"/>
              </a:ext>
            </a:extLst>
          </p:cNvPr>
          <p:cNvSpPr>
            <a:spLocks xmlns:a="http://schemas.openxmlformats.org/drawingml/2006/main" noGrp="1"/>
          </p:cNvSpPr>
          <p:nvPr/>
        </p:nvSpPr>
        <p:spPr>
          <a:xfrm xmlns:a="http://schemas.openxmlformats.org/drawingml/2006/main">
            <a:off x="571500" y="342900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20665B"/>
                </a:solidFill>
                <a:latin typeface="Arial"/>
                <a:ea typeface="Arial"/>
                <a:cs typeface="Arial"/>
              </a:defRPr>
            </a:pPr>
            <a:r>
              <a:rPr sz="3900" b="1">
                <a:solidFill>
                  <a:srgbClr val="20665B"/>
                </a:solidFill>
                <a:latin typeface="Arial"/>
                <a:ea typeface="Arial"/>
                <a:cs typeface="Arial"/>
              </a:rPr>
              <a:t>€ 430 − € 410 = € 20 meer per dag</a:t>
            </a:r>
          </a:p>
        </p:txBody>
      </p:sp>
      <p:sp>
        <p:nvSpPr>
          <p:cNvPr id="7" name="Bijvoorbeeld: dit advies veronderstelt dat beide regels&#10;worden na">
            <a:extLst xmlns:a="http://schemas.openxmlformats.org/drawingml/2006/main">
              <a:ext uri="{FF2B5EF4-FFF2-40B4-BE49-F238E27FC236}">
                <a16:creationId xmlns:a16="http://schemas.microsoft.com/office/drawing/2014/main" id="{C757FE2E-F31E-499D-AA31-2E347FE4C958}"/>
              </a:ext>
            </a:extLst>
          </p:cNvPr>
          <p:cNvSpPr>
            <a:spLocks xmlns:a="http://schemas.openxmlformats.org/drawingml/2006/main" noGrp="1"/>
          </p:cNvSpPr>
          <p:nvPr/>
        </p:nvSpPr>
        <p:spPr>
          <a:xfrm xmlns:a="http://schemas.openxmlformats.org/drawingml/2006/main">
            <a:off x="571500" y="4924425"/>
            <a:ext cx="1409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Bijvoorbeeld: dit advies veronderstelt dat beide regels</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worden nageleefd, zoals de bron aangeeft.</a:t>
            </a:r>
          </a:p>
        </p:txBody>
      </p:sp>
      <p:sp>
        <p:nvSpPr>
          <p:cNvPr id="8" name="Bij andere naleving of uitvoeringskosten kan de rangorde verander">
            <a:extLst xmlns:a="http://schemas.openxmlformats.org/drawingml/2006/main">
              <a:ext uri="{FF2B5EF4-FFF2-40B4-BE49-F238E27FC236}">
                <a16:creationId xmlns:a16="http://schemas.microsoft.com/office/drawing/2014/main" id="{973CC70B-2617-4323-81B3-137044630C06}"/>
              </a:ext>
            </a:extLst>
          </p:cNvPr>
          <p:cNvSpPr>
            <a:spLocks xmlns:a="http://schemas.openxmlformats.org/drawingml/2006/main" noGrp="1"/>
          </p:cNvSpPr>
          <p:nvPr/>
        </p:nvSpPr>
        <p:spPr>
          <a:xfrm xmlns:a="http://schemas.openxmlformats.org/drawingml/2006/main">
            <a:off x="571500" y="6838950"/>
            <a:ext cx="14097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A94D16"/>
                </a:solidFill>
                <a:latin typeface="Arial"/>
                <a:ea typeface="Arial"/>
                <a:cs typeface="Arial"/>
              </a:defRPr>
            </a:pPr>
            <a:r>
              <a:rPr sz="2700" b="0">
                <a:solidFill>
                  <a:srgbClr val="A94D16"/>
                </a:solidFill>
                <a:latin typeface="Arial"/>
                <a:ea typeface="Arial"/>
                <a:cs typeface="Arial"/>
              </a:rPr>
              <a:t>Bij andere naleving of uitvoeringskosten kan de rangorde veranderen.</a:t>
            </a:r>
          </a:p>
        </p:txBody>
      </p:sp>
    </p:spTree>
    <p:extLst>
      <p:ext uri="{BB962C8B-B14F-4D97-AF65-F5344CB8AC3E}">
        <p14:creationId xmlns:p14="http://schemas.microsoft.com/office/powerpoint/2010/main" val="174698703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52e · Het belang van producenten">
            <a:extLst xmlns:a="http://schemas.openxmlformats.org/drawingml/2006/main">
              <a:ext uri="{FF2B5EF4-FFF2-40B4-BE49-F238E27FC236}">
                <a16:creationId xmlns:a16="http://schemas.microsoft.com/office/drawing/2014/main" id="{85DE4C3C-34F2-4B11-9C1E-D68BAF3A9138}"/>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52e · Het belang van producenten</a:t>
            </a:r>
          </a:p>
        </p:txBody>
      </p:sp>
      <p:sp>
        <p:nvSpPr>
          <p:cNvPr id="2" name="">
            <a:extLst xmlns:a="http://schemas.openxmlformats.org/drawingml/2006/main">
              <a:ext uri="{FF2B5EF4-FFF2-40B4-BE49-F238E27FC236}">
                <a16:creationId xmlns:a16="http://schemas.microsoft.com/office/drawing/2014/main" id="{B3EF1874-19BE-4C88-BFAF-0E5F3E83AF4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7347B3A-6754-4BAA-B585-3D2B91A0E95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 Opgave 52 · Boekpagina 103</a:t>
            </a:r>
          </a:p>
        </p:txBody>
      </p:sp>
      <p:sp>
        <p:nvSpPr>
          <p:cNvPr id="4" name="slide-number">
            <a:extLst xmlns:a="http://schemas.openxmlformats.org/drawingml/2006/main">
              <a:ext uri="{FF2B5EF4-FFF2-40B4-BE49-F238E27FC236}">
                <a16:creationId xmlns:a16="http://schemas.microsoft.com/office/drawing/2014/main" id="{44EF4483-4CC5-4790-9D16-E8CE2CBE9EA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2" name=""/>
          <p:cNvGraphicFramePr/>
          <p:nvPr/>
        </p:nvGraphicFramePr>
        <p:xfrm>
          <a:off xmlns:a="http://schemas.openxmlformats.org/drawingml/2006/main" x="571500" y="2171700"/>
          <a:ext xmlns:a="http://schemas.openxmlformats.org/drawingml/2006/main" cx="14097000" cy="2638425"/>
        </p:xfrm>
        <a:graphic xmlns:a="http://schemas.openxmlformats.org/drawingml/2006/main">
          <a:graphicData uri="http://schemas.openxmlformats.org/drawingml/2006/table">
            <a:tbl>
              <a:tblPr/>
              <a:tblGrid>
                <a:gridCol w="7429500"/>
                <a:gridCol w="3333750"/>
                <a:gridCol w="3333750"/>
              </a:tblGrid>
              <a:tr h="879475">
                <a:tc>
                  <a:txBody>
                    <a:bodyPr lIns="171450" tIns="95250" rIns="152400" bIns="95250"/>
                    <a:lstStyle/>
                    <a:p>
                      <a:r>
                        <a:rPr sz="2775" b="1">
                          <a:solidFill>
                            <a:srgbClr val="FFFFFF"/>
                          </a:solidFill>
                          <a:latin typeface="Arial"/>
                          <a:ea typeface="Arial"/>
                          <a:cs typeface="Arial"/>
                        </a:rPr>
                        <a:t>Post (€ per dag)</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Plan H</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Plan G</a:t>
                      </a:r>
                    </a:p>
                  </a:txBody>
                  <a:tcPr marL="91440" marR="91440" marT="45720" marB="45720" anchor="ctr">
                    <a:solidFill>
                      <a:srgbClr val="183247"/>
                    </a:solidFill>
                  </a:tcPr>
                </a:tc>
              </a:tr>
              <a:tr h="879475">
                <a:tc>
                  <a:txBody>
                    <a:bodyPr lIns="171450" tIns="95250" rIns="152400" bIns="95250"/>
                    <a:lstStyle/>
                    <a:p>
                      <a:r>
                        <a:rPr sz="2775" b="0">
                          <a:solidFill>
                            <a:srgbClr val="183247"/>
                          </a:solidFill>
                          <a:latin typeface="Arial"/>
                          <a:ea typeface="Arial"/>
                          <a:cs typeface="Arial"/>
                        </a:rPr>
                        <a:t>Producentensurplus</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225</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525</a:t>
                      </a:r>
                    </a:p>
                  </a:txBody>
                  <a:tcPr marL="91440" marR="91440" marT="45720" marB="45720" anchor="ctr">
                    <a:solidFill>
                      <a:srgbClr val="FFFFFF"/>
                    </a:solidFill>
                  </a:tcPr>
                </a:tc>
              </a:tr>
              <a:tr h="879475">
                <a:tc>
                  <a:txBody>
                    <a:bodyPr lIns="171450" tIns="95250" rIns="152400" bIns="95250"/>
                    <a:lstStyle/>
                    <a:p>
                      <a:r>
                        <a:rPr sz="2775" b="0">
                          <a:solidFill>
                            <a:srgbClr val="183247"/>
                          </a:solidFill>
                          <a:latin typeface="Arial"/>
                          <a:ea typeface="Arial"/>
                          <a:cs typeface="Arial"/>
                        </a:rPr>
                        <a:t>Overheidsontvangsten</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300</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0</a:t>
                      </a:r>
                    </a:p>
                  </a:txBody>
                  <a:tcPr marL="91440" marR="91440" marT="45720" marB="45720" anchor="ctr">
                    <a:solidFill>
                      <a:srgbClr val="EFF4F7"/>
                    </a:solidFill>
                  </a:tcPr>
                </a:tc>
              </a:tr>
            </a:tbl>
          </a:graphicData>
        </a:graphic>
      </p:graphicFrame>
      <p:sp>
        <p:nvSpPr>
          <p:cNvPr id="6" name="G geeft producenten € 300 meer surplus per dag.">
            <a:extLst xmlns:a="http://schemas.openxmlformats.org/drawingml/2006/main">
              <a:ext uri="{FF2B5EF4-FFF2-40B4-BE49-F238E27FC236}">
                <a16:creationId xmlns:a16="http://schemas.microsoft.com/office/drawing/2014/main" id="{33066F4D-CD2A-4598-AF7A-A83A8D2D32E0}"/>
              </a:ext>
            </a:extLst>
          </p:cNvPr>
          <p:cNvSpPr>
            <a:spLocks xmlns:a="http://schemas.openxmlformats.org/drawingml/2006/main" noGrp="1"/>
          </p:cNvSpPr>
          <p:nvPr/>
        </p:nvSpPr>
        <p:spPr>
          <a:xfrm xmlns:a="http://schemas.openxmlformats.org/drawingml/2006/main">
            <a:off x="571500" y="534352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G geeft producenten € 300 meer surplus per dag.</a:t>
            </a:r>
          </a:p>
        </p:txBody>
      </p:sp>
      <p:sp>
        <p:nvSpPr>
          <p:cNvPr id="7" name="Hun verdelingsbelang verschilt van het maatschappelijke criterium">
            <a:extLst xmlns:a="http://schemas.openxmlformats.org/drawingml/2006/main">
              <a:ext uri="{FF2B5EF4-FFF2-40B4-BE49-F238E27FC236}">
                <a16:creationId xmlns:a16="http://schemas.microsoft.com/office/drawing/2014/main" id="{C227E45A-6636-4D89-AADC-1D9A878A778B}"/>
              </a:ext>
            </a:extLst>
          </p:cNvPr>
          <p:cNvSpPr>
            <a:spLocks xmlns:a="http://schemas.openxmlformats.org/drawingml/2006/main" noGrp="1"/>
          </p:cNvSpPr>
          <p:nvPr/>
        </p:nvSpPr>
        <p:spPr>
          <a:xfrm xmlns:a="http://schemas.openxmlformats.org/drawingml/2006/main">
            <a:off x="571500" y="6638925"/>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Hun verdelingsbelang verschilt van het maatschappelijke criterium.</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raad rekent daardoor niet verkeerd.</a:t>
            </a:r>
          </a:p>
        </p:txBody>
      </p:sp>
    </p:spTree>
    <p:extLst>
      <p:ext uri="{BB962C8B-B14F-4D97-AF65-F5344CB8AC3E}">
        <p14:creationId xmlns:p14="http://schemas.microsoft.com/office/powerpoint/2010/main" val="9786779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ntwoordcontrole bij opgave 52">
            <a:extLst xmlns:a="http://schemas.openxmlformats.org/drawingml/2006/main">
              <a:ext uri="{FF2B5EF4-FFF2-40B4-BE49-F238E27FC236}">
                <a16:creationId xmlns:a16="http://schemas.microsoft.com/office/drawing/2014/main" id="{A3933FFE-3346-4B04-8909-CFB70FDCA221}"/>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opgave 52</a:t>
            </a:r>
          </a:p>
        </p:txBody>
      </p:sp>
      <p:sp>
        <p:nvSpPr>
          <p:cNvPr id="2" name="">
            <a:extLst xmlns:a="http://schemas.openxmlformats.org/drawingml/2006/main">
              <a:ext uri="{FF2B5EF4-FFF2-40B4-BE49-F238E27FC236}">
                <a16:creationId xmlns:a16="http://schemas.microsoft.com/office/drawing/2014/main" id="{AC9DB161-F312-4F1C-AEC9-E9CFD1D6004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D924381-A9F5-4498-9995-66BEC682A19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Overheidsingrijpen bij marktfalen</a:t>
            </a:r>
          </a:p>
        </p:txBody>
      </p:sp>
      <p:sp>
        <p:nvSpPr>
          <p:cNvPr id="4" name="slide-number">
            <a:extLst xmlns:a="http://schemas.openxmlformats.org/drawingml/2006/main">
              <a:ext uri="{FF2B5EF4-FFF2-40B4-BE49-F238E27FC236}">
                <a16:creationId xmlns:a16="http://schemas.microsoft.com/office/drawing/2014/main" id="{EA7F5ABD-5827-467D-8DC4-CDD1360B502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a · Mechanisme">
            <a:extLst xmlns:a="http://schemas.openxmlformats.org/drawingml/2006/main">
              <a:ext uri="{FF2B5EF4-FFF2-40B4-BE49-F238E27FC236}">
                <a16:creationId xmlns:a16="http://schemas.microsoft.com/office/drawing/2014/main" id="{D6D27BDA-5D1C-4EC0-B5A1-B1E3128DE7EF}"/>
              </a:ext>
            </a:extLst>
          </p:cNvPr>
          <p:cNvSpPr>
            <a:spLocks xmlns:a="http://schemas.openxmlformats.org/drawingml/2006/main" noGrp="1"/>
          </p:cNvSpPr>
          <p:nvPr/>
        </p:nvSpPr>
        <p:spPr>
          <a:xfrm xmlns:a="http://schemas.openxmlformats.org/drawingml/2006/main">
            <a:off x="571500" y="1952625"/>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a · Mechanisme</a:t>
            </a:r>
          </a:p>
        </p:txBody>
      </p:sp>
      <p:sp>
        <p:nvSpPr>
          <p:cNvPr id="6" name="Derden + schade; leg de werking van H én G uit.">
            <a:extLst xmlns:a="http://schemas.openxmlformats.org/drawingml/2006/main">
              <a:ext uri="{FF2B5EF4-FFF2-40B4-BE49-F238E27FC236}">
                <a16:creationId xmlns:a16="http://schemas.microsoft.com/office/drawing/2014/main" id="{45DE6FC5-7F05-4A32-9A23-D4D63C80B8CA}"/>
              </a:ext>
            </a:extLst>
          </p:cNvPr>
          <p:cNvSpPr>
            <a:spLocks xmlns:a="http://schemas.openxmlformats.org/drawingml/2006/main" noGrp="1"/>
          </p:cNvSpPr>
          <p:nvPr/>
        </p:nvSpPr>
        <p:spPr>
          <a:xfrm xmlns:a="http://schemas.openxmlformats.org/drawingml/2006/main">
            <a:off x="4143375" y="1952625"/>
            <a:ext cx="1052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Derden + schade; leg de werking van H én G uit.</a:t>
            </a:r>
          </a:p>
        </p:txBody>
      </p:sp>
      <p:sp>
        <p:nvSpPr>
          <p:cNvPr id="7" name="b · Rekenroute">
            <a:extLst xmlns:a="http://schemas.openxmlformats.org/drawingml/2006/main">
              <a:ext uri="{FF2B5EF4-FFF2-40B4-BE49-F238E27FC236}">
                <a16:creationId xmlns:a16="http://schemas.microsoft.com/office/drawing/2014/main" id="{514E5CF9-4F3D-4306-891D-01A5F57899BB}"/>
              </a:ext>
            </a:extLst>
          </p:cNvPr>
          <p:cNvSpPr>
            <a:spLocks xmlns:a="http://schemas.openxmlformats.org/drawingml/2006/main" noGrp="1"/>
          </p:cNvSpPr>
          <p:nvPr/>
        </p:nvSpPr>
        <p:spPr>
          <a:xfrm xmlns:a="http://schemas.openxmlformats.org/drawingml/2006/main">
            <a:off x="571500" y="2981325"/>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b · Rekenroute</a:t>
            </a:r>
          </a:p>
        </p:txBody>
      </p:sp>
      <p:sp>
        <p:nvSpPr>
          <p:cNvPr id="8" name="Q = 30; Pc = € 35; Pp = € 25; ontvangsten € 300 per dag.">
            <a:extLst xmlns:a="http://schemas.openxmlformats.org/drawingml/2006/main">
              <a:ext uri="{FF2B5EF4-FFF2-40B4-BE49-F238E27FC236}">
                <a16:creationId xmlns:a16="http://schemas.microsoft.com/office/drawing/2014/main" id="{9E4CEDCB-E62C-49D1-9701-CE434A9F07C3}"/>
              </a:ext>
            </a:extLst>
          </p:cNvPr>
          <p:cNvSpPr>
            <a:spLocks xmlns:a="http://schemas.openxmlformats.org/drawingml/2006/main" noGrp="1"/>
          </p:cNvSpPr>
          <p:nvPr/>
        </p:nvSpPr>
        <p:spPr>
          <a:xfrm xmlns:a="http://schemas.openxmlformats.org/drawingml/2006/main">
            <a:off x="4143375" y="2981325"/>
            <a:ext cx="1052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 = 30; Pc = € 35; Pp = € 25; ontvangsten € 300 per dag.</a:t>
            </a:r>
          </a:p>
        </p:txBody>
      </p:sp>
      <p:sp>
        <p:nvSpPr>
          <p:cNvPr id="9" name="c · Hele rekening">
            <a:extLst xmlns:a="http://schemas.openxmlformats.org/drawingml/2006/main">
              <a:ext uri="{FF2B5EF4-FFF2-40B4-BE49-F238E27FC236}">
                <a16:creationId xmlns:a16="http://schemas.microsoft.com/office/drawing/2014/main" id="{11BAF65A-248A-4ACC-AF42-CE1E862562F2}"/>
              </a:ext>
            </a:extLst>
          </p:cNvPr>
          <p:cNvSpPr>
            <a:spLocks xmlns:a="http://schemas.openxmlformats.org/drawingml/2006/main" noGrp="1"/>
          </p:cNvSpPr>
          <p:nvPr/>
        </p:nvSpPr>
        <p:spPr>
          <a:xfrm xmlns:a="http://schemas.openxmlformats.org/drawingml/2006/main">
            <a:off x="571500" y="4010025"/>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c · Hele rekening</a:t>
            </a:r>
          </a:p>
        </p:txBody>
      </p:sp>
      <p:sp>
        <p:nvSpPr>
          <p:cNvPr id="10" name="H: € 430; G: € 410 per dag, inclusief uitvoering.">
            <a:extLst xmlns:a="http://schemas.openxmlformats.org/drawingml/2006/main">
              <a:ext uri="{FF2B5EF4-FFF2-40B4-BE49-F238E27FC236}">
                <a16:creationId xmlns:a16="http://schemas.microsoft.com/office/drawing/2014/main" id="{5CDF1F33-61EB-4240-8E82-1C39658D14EA}"/>
              </a:ext>
            </a:extLst>
          </p:cNvPr>
          <p:cNvSpPr>
            <a:spLocks xmlns:a="http://schemas.openxmlformats.org/drawingml/2006/main" noGrp="1"/>
          </p:cNvSpPr>
          <p:nvPr/>
        </p:nvSpPr>
        <p:spPr>
          <a:xfrm xmlns:a="http://schemas.openxmlformats.org/drawingml/2006/main">
            <a:off x="4143375" y="4010025"/>
            <a:ext cx="1052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H: € 430; G: € 410 per dag, inclusief uitvoering.</a:t>
            </a:r>
          </a:p>
        </p:txBody>
      </p:sp>
      <p:sp>
        <p:nvSpPr>
          <p:cNvPr id="11" name="d · Advies">
            <a:extLst xmlns:a="http://schemas.openxmlformats.org/drawingml/2006/main">
              <a:ext uri="{FF2B5EF4-FFF2-40B4-BE49-F238E27FC236}">
                <a16:creationId xmlns:a16="http://schemas.microsoft.com/office/drawing/2014/main" id="{1C2669E3-AEC8-4F93-A016-34871AEB909C}"/>
              </a:ext>
            </a:extLst>
          </p:cNvPr>
          <p:cNvSpPr>
            <a:spLocks xmlns:a="http://schemas.openxmlformats.org/drawingml/2006/main" noGrp="1"/>
          </p:cNvSpPr>
          <p:nvPr/>
        </p:nvSpPr>
        <p:spPr>
          <a:xfrm xmlns:a="http://schemas.openxmlformats.org/drawingml/2006/main">
            <a:off x="571500" y="5038725"/>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d · Advies</a:t>
            </a:r>
          </a:p>
        </p:txBody>
      </p:sp>
      <p:sp>
        <p:nvSpPr>
          <p:cNvPr id="12" name="H: € 20 meer per dag; noem een relevante aanname.">
            <a:extLst xmlns:a="http://schemas.openxmlformats.org/drawingml/2006/main">
              <a:ext uri="{FF2B5EF4-FFF2-40B4-BE49-F238E27FC236}">
                <a16:creationId xmlns:a16="http://schemas.microsoft.com/office/drawing/2014/main" id="{E7839203-BDBC-4CD9-9498-A73FC3C4BD1C}"/>
              </a:ext>
            </a:extLst>
          </p:cNvPr>
          <p:cNvSpPr>
            <a:spLocks xmlns:a="http://schemas.openxmlformats.org/drawingml/2006/main" noGrp="1"/>
          </p:cNvSpPr>
          <p:nvPr/>
        </p:nvSpPr>
        <p:spPr>
          <a:xfrm xmlns:a="http://schemas.openxmlformats.org/drawingml/2006/main">
            <a:off x="4143375" y="5038725"/>
            <a:ext cx="1052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H: € 20 meer per dag; noem een relevante aanname.</a:t>
            </a:r>
          </a:p>
        </p:txBody>
      </p:sp>
      <p:sp>
        <p:nvSpPr>
          <p:cNvPr id="13" name="e · Verdeling">
            <a:extLst xmlns:a="http://schemas.openxmlformats.org/drawingml/2006/main">
              <a:ext uri="{FF2B5EF4-FFF2-40B4-BE49-F238E27FC236}">
                <a16:creationId xmlns:a16="http://schemas.microsoft.com/office/drawing/2014/main" id="{D5646EC2-AE36-4833-812F-B96B2A9DB48E}"/>
              </a:ext>
            </a:extLst>
          </p:cNvPr>
          <p:cNvSpPr>
            <a:spLocks xmlns:a="http://schemas.openxmlformats.org/drawingml/2006/main" noGrp="1"/>
          </p:cNvSpPr>
          <p:nvPr/>
        </p:nvSpPr>
        <p:spPr>
          <a:xfrm xmlns:a="http://schemas.openxmlformats.org/drawingml/2006/main">
            <a:off x="571500" y="6067425"/>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e · Verdeling</a:t>
            </a:r>
          </a:p>
        </p:txBody>
      </p:sp>
      <p:sp>
        <p:nvSpPr>
          <p:cNvPr id="14" name="G geeft € 300 meer PS; ander belang, geen rekenfout.">
            <a:extLst xmlns:a="http://schemas.openxmlformats.org/drawingml/2006/main">
              <a:ext uri="{FF2B5EF4-FFF2-40B4-BE49-F238E27FC236}">
                <a16:creationId xmlns:a16="http://schemas.microsoft.com/office/drawing/2014/main" id="{C3CC0B42-C37E-434B-A705-CCE02A8AFDD8}"/>
              </a:ext>
            </a:extLst>
          </p:cNvPr>
          <p:cNvSpPr>
            <a:spLocks xmlns:a="http://schemas.openxmlformats.org/drawingml/2006/main" noGrp="1"/>
          </p:cNvSpPr>
          <p:nvPr/>
        </p:nvSpPr>
        <p:spPr>
          <a:xfrm xmlns:a="http://schemas.openxmlformats.org/drawingml/2006/main">
            <a:off x="4143375" y="6067425"/>
            <a:ext cx="1052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G geeft € 300 meer PS; ander belang, geen rekenfout.</a:t>
            </a:r>
          </a:p>
        </p:txBody>
      </p:sp>
      <p:sp>
        <p:nvSpPr>
          <p:cNvPr id="15" name="Verbeter één ontbrekende stap of onderbouwing in je eigen antwoor">
            <a:extLst xmlns:a="http://schemas.openxmlformats.org/drawingml/2006/main">
              <a:ext uri="{FF2B5EF4-FFF2-40B4-BE49-F238E27FC236}">
                <a16:creationId xmlns:a16="http://schemas.microsoft.com/office/drawing/2014/main" id="{9623958C-48EA-4740-97EC-566095E18C49}"/>
              </a:ext>
            </a:extLst>
          </p:cNvPr>
          <p:cNvSpPr>
            <a:spLocks xmlns:a="http://schemas.openxmlformats.org/drawingml/2006/main" noGrp="1"/>
          </p:cNvSpPr>
          <p:nvPr/>
        </p:nvSpPr>
        <p:spPr>
          <a:xfrm xmlns:a="http://schemas.openxmlformats.org/drawingml/2006/main">
            <a:off x="571500" y="743902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Verbeter één ontbrekende stap of onderbouwing in je eigen antwoord.</a:t>
            </a:r>
          </a:p>
        </p:txBody>
      </p:sp>
    </p:spTree>
    <p:extLst>
      <p:ext uri="{BB962C8B-B14F-4D97-AF65-F5344CB8AC3E}">
        <p14:creationId xmlns:p14="http://schemas.microsoft.com/office/powerpoint/2010/main" val="19453010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6 Overheidsingrijpen bij marktfalen">
            <a:extLst xmlns:a="http://schemas.openxmlformats.org/drawingml/2006/main">
              <a:ext uri="{FF2B5EF4-FFF2-40B4-BE49-F238E27FC236}">
                <a16:creationId xmlns:a16="http://schemas.microsoft.com/office/drawing/2014/main" id="{A540E412-D570-4C72-894F-311FD1228E7D}"/>
              </a:ext>
            </a:extLst>
          </p:cNvPr>
          <p:cNvSpPr>
            <a:spLocks xmlns:a="http://schemas.openxmlformats.org/drawingml/2006/main" noGrp="1"/>
          </p:cNvSpPr>
          <p:nvPr/>
        </p:nvSpPr>
        <p:spPr>
          <a:xfrm xmlns:a="http://schemas.openxmlformats.org/drawingml/2006/main">
            <a:off x="571500" y="400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§4.2.6 Overheidsingrijpen bij marktfalen</a:t>
            </a:r>
          </a:p>
        </p:txBody>
      </p:sp>
      <p:sp>
        <p:nvSpPr>
          <p:cNvPr id="2" name="">
            <a:extLst xmlns:a="http://schemas.openxmlformats.org/drawingml/2006/main">
              <a:ext uri="{FF2B5EF4-FFF2-40B4-BE49-F238E27FC236}">
                <a16:creationId xmlns:a16="http://schemas.microsoft.com/office/drawing/2014/main" id="{1A5BF141-D57A-40BC-AC69-335FE4C4F92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D5C7926-E85E-42F3-9B37-490B6435A30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§4.2.6 Overheidsingrijpen bij marktfalen</a:t>
            </a:r>
          </a:p>
        </p:txBody>
      </p:sp>
      <p:sp>
        <p:nvSpPr>
          <p:cNvPr id="4" name="slide-number">
            <a:extLst xmlns:a="http://schemas.openxmlformats.org/drawingml/2006/main">
              <a:ext uri="{FF2B5EF4-FFF2-40B4-BE49-F238E27FC236}">
                <a16:creationId xmlns:a16="http://schemas.microsoft.com/office/drawing/2014/main" id="{B646C676-5CA0-4158-B8C5-50904EFFA1A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phase">
            <a:extLst xmlns:a="http://schemas.openxmlformats.org/drawingml/2006/main">
              <a:ext uri="{FF2B5EF4-FFF2-40B4-BE49-F238E27FC236}">
                <a16:creationId xmlns:a16="http://schemas.microsoft.com/office/drawing/2014/main" id="{1A8CC931-387F-42F4-92D2-8E66DBDCD69A}"/>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AE9CD094-0354-4F20-B122-CABDC5FBBC56}"/>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653BFDFE-DF25-47BD-83EA-EFB83C2000A3}"/>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79F436B2-5A4F-43B1-94BA-7BBE8C5130AC}"/>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7459D3F2-9243-4F6C-AD0A-AD8E71D0AFA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3875D06-8E62-40EE-81F1-5D4E14FAE0B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1C240EDE-24AF-438A-A863-449FDD8A905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2A3F2E12-1383-4958-877A-3C3D4136322B}"/>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222FC450-59A6-4D42-85CA-4FE0EBA2373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AE60B22D-0DE1-4770-B43A-E1E678913D33}"/>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E76354FA-A115-4113-87C2-02CEC547734E}"/>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EBF2F7DF-5F4E-4775-9CFC-9F359502548B}"/>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55DACD05-2B32-4971-BAFE-A4F6A7C48BE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487ACB51-4DD7-4CA0-ACD2-99B7B894BFE2}"/>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52.</a:t>
            </a:r>
          </a:p>
        </p:txBody>
      </p:sp>
      <p:sp>
        <p:nvSpPr>
          <p:cNvPr id="19" name="route-number-7">
            <a:extLst xmlns:a="http://schemas.openxmlformats.org/drawingml/2006/main">
              <a:ext uri="{FF2B5EF4-FFF2-40B4-BE49-F238E27FC236}">
                <a16:creationId xmlns:a16="http://schemas.microsoft.com/office/drawing/2014/main" id="{A4780509-D3E5-4A7A-96C9-CE1A025B79B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99A2EC9A-FB89-46FA-822F-F06C9848CF83}"/>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E936777-3221-4F72-9EED-EF95DB80EAD9}"/>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2E341C1C-9A32-4E1B-83CC-43357429E716}"/>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Beleid aan het probleem koppelen;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plannen doorrekenen; efficiëntie,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verdeling en uitvoering afwegen.</a:t>
            </a:r>
          </a:p>
        </p:txBody>
      </p:sp>
      <p:sp>
        <p:nvSpPr>
          <p:cNvPr id="23" name="">
            <a:extLst xmlns:a="http://schemas.openxmlformats.org/drawingml/2006/main">
              <a:ext uri="{FF2B5EF4-FFF2-40B4-BE49-F238E27FC236}">
                <a16:creationId xmlns:a16="http://schemas.microsoft.com/office/drawing/2014/main" id="{51E4EC12-6956-4DC5-912C-FD3432199630}"/>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166ECEF-F3CF-410D-AA12-21C0ACC03180}"/>
              </a:ext>
            </a:extLst>
          </p:cNvPr>
          <p:cNvSpPr>
            <a:spLocks xmlns:a="http://schemas.openxmlformats.org/drawingml/2006/main" noGrp="1"/>
          </p:cNvSpPr>
          <p:nvPr/>
        </p:nvSpPr>
        <p:spPr>
          <a:xfrm xmlns:a="http://schemas.openxmlformats.org/drawingml/2006/main">
            <a:off x="9258300" y="3790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2FEC1AF-A73B-4FDF-AECF-E932A8905164}"/>
              </a:ext>
            </a:extLst>
          </p:cNvPr>
          <p:cNvSpPr>
            <a:spLocks xmlns:a="http://schemas.openxmlformats.org/drawingml/2006/main" noGrp="1"/>
          </p:cNvSpPr>
          <p:nvPr/>
        </p:nvSpPr>
        <p:spPr>
          <a:xfrm xmlns:a="http://schemas.openxmlformats.org/drawingml/2006/main">
            <a:off x="9258300" y="4295775"/>
            <a:ext cx="5381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101 · Opgaven 46 en 47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46: verkennen met theorie p. 100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47: verkennen met theorie p. 99</a:t>
            </a:r>
          </a:p>
        </p:txBody>
      </p:sp>
      <p:sp>
        <p:nvSpPr>
          <p:cNvPr id="26" name="">
            <a:extLst xmlns:a="http://schemas.openxmlformats.org/drawingml/2006/main">
              <a:ext uri="{FF2B5EF4-FFF2-40B4-BE49-F238E27FC236}">
                <a16:creationId xmlns:a16="http://schemas.microsoft.com/office/drawing/2014/main" id="{04A5A12A-B340-48C8-9D53-AB65E41DB5A4}"/>
              </a:ext>
            </a:extLst>
          </p:cNvPr>
          <p:cNvSpPr>
            <a:spLocks xmlns:a="http://schemas.openxmlformats.org/drawingml/2006/main" noGrp="1"/>
          </p:cNvSpPr>
          <p:nvPr/>
        </p:nvSpPr>
        <p:spPr>
          <a:xfrm xmlns:a="http://schemas.openxmlformats.org/drawingml/2006/main">
            <a:off x="9258300" y="553402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F020C542-84F5-43A7-AC7F-B5197244A4ED}"/>
              </a:ext>
            </a:extLst>
          </p:cNvPr>
          <p:cNvSpPr>
            <a:spLocks xmlns:a="http://schemas.openxmlformats.org/drawingml/2006/main" noGrp="1"/>
          </p:cNvSpPr>
          <p:nvPr/>
        </p:nvSpPr>
        <p:spPr>
          <a:xfrm xmlns:a="http://schemas.openxmlformats.org/drawingml/2006/main">
            <a:off x="9258300" y="57531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1BCFEE10-115F-4882-BC1D-24254E08F585}"/>
              </a:ext>
            </a:extLst>
          </p:cNvPr>
          <p:cNvSpPr>
            <a:spLocks xmlns:a="http://schemas.openxmlformats.org/drawingml/2006/main" noGrp="1"/>
          </p:cNvSpPr>
          <p:nvPr/>
        </p:nvSpPr>
        <p:spPr>
          <a:xfrm xmlns:a="http://schemas.openxmlformats.org/drawingml/2006/main">
            <a:off x="9258300" y="6286500"/>
            <a:ext cx="53816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§4.2.6 · Opgaven 48 t/m 52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48 en 49</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50 en 51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52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9233771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2026-10-01T17:48:43.5860000Z</dcterms:created>
  <dcterms:modified xsi:type="dcterms:W3CDTF">2026-10-01T17:48:43.5860000Z</dcterms:modified>
</coreProperties>
</file>