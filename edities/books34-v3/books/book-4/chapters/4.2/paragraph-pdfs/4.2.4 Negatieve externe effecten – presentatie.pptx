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6.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7.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159b8bbffc748ee" /><Relationship Type="http://schemas.openxmlformats.org/officeDocument/2006/relationships/extended-properties" Target="/docProps/app.xml" Id="Rc57edcf736be483c" /><Relationship Type="http://schemas.openxmlformats.org/officeDocument/2006/relationships/officeDocument" Target="/ppt/presentation.xml" Id="Rd4fc74e367d54917" /></Relationships>
</file>

<file path=ppt/presentation.xml><?xml version="1.0" encoding="utf-8"?>
<p:presentation xmlns:p="http://schemas.openxmlformats.org/presentationml/2006/main">
  <p:sldMasterIdLst>
    <p:sldMasterId xmlns:r="http://schemas.openxmlformats.org/officeDocument/2006/relationships" id="2147483648" r:id="Ra5091fbaa7c04421"/>
  </p:sldMasterIdLst>
  <p:notesMasterIdLst>
    <p:notesMasterId xmlns:r="http://schemas.openxmlformats.org/officeDocument/2006/relationships" r:id="R7f2e2aece48c4f53"/>
  </p:notesMasterIdLst>
  <p:sldIdLst>
    <p:sldId xmlns:r="http://schemas.openxmlformats.org/officeDocument/2006/relationships" id="256" r:id="R27aa6cfe8fff4044"/>
    <p:sldId xmlns:r="http://schemas.openxmlformats.org/officeDocument/2006/relationships" id="257" r:id="R90b127e6fa6c4d3b"/>
    <p:sldId xmlns:r="http://schemas.openxmlformats.org/officeDocument/2006/relationships" id="258" r:id="R962648d54c864a49"/>
    <p:sldId xmlns:r="http://schemas.openxmlformats.org/officeDocument/2006/relationships" id="259" r:id="R23ffa544cec74613"/>
    <p:sldId xmlns:r="http://schemas.openxmlformats.org/officeDocument/2006/relationships" id="260" r:id="Rcea4b62dcc0f4217"/>
    <p:sldId xmlns:r="http://schemas.openxmlformats.org/officeDocument/2006/relationships" id="261" r:id="R59a90c4d5d11475a"/>
    <p:sldId xmlns:r="http://schemas.openxmlformats.org/officeDocument/2006/relationships" id="262" r:id="Rc49e0abbaeb74e14"/>
    <p:sldId xmlns:r="http://schemas.openxmlformats.org/officeDocument/2006/relationships" id="263" r:id="R75b6edcffb3941b7"/>
    <p:sldId xmlns:r="http://schemas.openxmlformats.org/officeDocument/2006/relationships" id="264" r:id="R191ea45dfa63478d"/>
    <p:sldId xmlns:r="http://schemas.openxmlformats.org/officeDocument/2006/relationships" id="265" r:id="Rf84c2b959f5f424c"/>
    <p:sldId xmlns:r="http://schemas.openxmlformats.org/officeDocument/2006/relationships" id="266" r:id="Rb81d351174604d80"/>
    <p:sldId xmlns:r="http://schemas.openxmlformats.org/officeDocument/2006/relationships" id="267" r:id="R5aee94fb97d44dc4"/>
    <p:sldId xmlns:r="http://schemas.openxmlformats.org/officeDocument/2006/relationships" id="268" r:id="R5f03f01300e449e4"/>
    <p:sldId xmlns:r="http://schemas.openxmlformats.org/officeDocument/2006/relationships" id="269" r:id="Rce5f56b90b784a37"/>
    <p:sldId xmlns:r="http://schemas.openxmlformats.org/officeDocument/2006/relationships" id="270" r:id="Re1a23f65a0904bd4"/>
    <p:sldId xmlns:r="http://schemas.openxmlformats.org/officeDocument/2006/relationships" id="271" r:id="R0056382e4b894d8a"/>
    <p:sldId xmlns:r="http://schemas.openxmlformats.org/officeDocument/2006/relationships" id="272" r:id="R2c445f8b7a1b4081"/>
    <p:sldId xmlns:r="http://schemas.openxmlformats.org/officeDocument/2006/relationships" id="273" r:id="Rabfb8263dd11466a"/>
    <p:sldId xmlns:r="http://schemas.openxmlformats.org/officeDocument/2006/relationships" id="274" r:id="Ree0076f7848e417a"/>
    <p:sldId xmlns:r="http://schemas.openxmlformats.org/officeDocument/2006/relationships" id="275" r:id="Rf9b61545aa5c4114"/>
    <p:sldId xmlns:r="http://schemas.openxmlformats.org/officeDocument/2006/relationships" id="276" r:id="Re1f6c03988004ad1"/>
    <p:sldId xmlns:r="http://schemas.openxmlformats.org/officeDocument/2006/relationships" id="277" r:id="R5a8fc21c0a0c400c"/>
    <p:sldId xmlns:r="http://schemas.openxmlformats.org/officeDocument/2006/relationships" id="278" r:id="R60955ea10c1d4a82"/>
    <p:sldId xmlns:r="http://schemas.openxmlformats.org/officeDocument/2006/relationships" id="279" r:id="Rb34a43f74eb54e2e"/>
    <p:sldId xmlns:r="http://schemas.openxmlformats.org/officeDocument/2006/relationships" id="280" r:id="R08a0948110ee441c"/>
    <p:sldId xmlns:r="http://schemas.openxmlformats.org/officeDocument/2006/relationships" id="281" r:id="R5ee0cd9881cf4d1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07425108bd4bdb" /><Relationship Type="http://schemas.openxmlformats.org/officeDocument/2006/relationships/slideMaster" Target="/ppt/slideMasters/slideMaster1.xml" Id="Ra5091fbaa7c04421" /><Relationship Type="http://schemas.openxmlformats.org/officeDocument/2006/relationships/notesMaster" Target="/ppt/notesMasters/notesMaster1.xml" Id="R7f2e2aece48c4f53" /><Relationship Type="http://schemas.openxmlformats.org/officeDocument/2006/relationships/presProps" Target="/ppt/presProps.xml" Id="Rd6f15d51eff843d4" /><Relationship Type="http://schemas.openxmlformats.org/officeDocument/2006/relationships/tableStyles" Target="/ppt/tableStyles.xml" Id="R2b19e2599d1243de" /><Relationship Type="http://schemas.openxmlformats.org/officeDocument/2006/relationships/slide" Target="/ppt/slides/slide1.xml" Id="R27aa6cfe8fff4044" /><Relationship Type="http://schemas.openxmlformats.org/officeDocument/2006/relationships/slide" Target="/ppt/slides/slide2.xml" Id="R90b127e6fa6c4d3b" /><Relationship Type="http://schemas.openxmlformats.org/officeDocument/2006/relationships/slide" Target="/ppt/slides/slide3.xml" Id="R962648d54c864a49" /><Relationship Type="http://schemas.openxmlformats.org/officeDocument/2006/relationships/slide" Target="/ppt/slides/slide4.xml" Id="R23ffa544cec74613" /><Relationship Type="http://schemas.openxmlformats.org/officeDocument/2006/relationships/slide" Target="/ppt/slides/slide5.xml" Id="Rcea4b62dcc0f4217" /><Relationship Type="http://schemas.openxmlformats.org/officeDocument/2006/relationships/slide" Target="/ppt/slides/slide6.xml" Id="R59a90c4d5d11475a" /><Relationship Type="http://schemas.openxmlformats.org/officeDocument/2006/relationships/slide" Target="/ppt/slides/slide7.xml" Id="Rc49e0abbaeb74e14" /><Relationship Type="http://schemas.openxmlformats.org/officeDocument/2006/relationships/slide" Target="/ppt/slides/slide8.xml" Id="R75b6edcffb3941b7" /><Relationship Type="http://schemas.openxmlformats.org/officeDocument/2006/relationships/slide" Target="/ppt/slides/slide9.xml" Id="R191ea45dfa63478d" /><Relationship Type="http://schemas.openxmlformats.org/officeDocument/2006/relationships/slide" Target="/ppt/slides/slide10.xml" Id="Rf84c2b959f5f424c" /><Relationship Type="http://schemas.openxmlformats.org/officeDocument/2006/relationships/slide" Target="/ppt/slides/slide11.xml" Id="Rb81d351174604d80" /><Relationship Type="http://schemas.openxmlformats.org/officeDocument/2006/relationships/slide" Target="/ppt/slides/slide12.xml" Id="R5aee94fb97d44dc4" /><Relationship Type="http://schemas.openxmlformats.org/officeDocument/2006/relationships/slide" Target="/ppt/slides/slide13.xml" Id="R5f03f01300e449e4" /><Relationship Type="http://schemas.openxmlformats.org/officeDocument/2006/relationships/slide" Target="/ppt/slides/slide14.xml" Id="Rce5f56b90b784a37" /><Relationship Type="http://schemas.openxmlformats.org/officeDocument/2006/relationships/slide" Target="/ppt/slides/slide15.xml" Id="Re1a23f65a0904bd4" /><Relationship Type="http://schemas.openxmlformats.org/officeDocument/2006/relationships/slide" Target="/ppt/slides/slide16.xml" Id="R0056382e4b894d8a" /><Relationship Type="http://schemas.openxmlformats.org/officeDocument/2006/relationships/slide" Target="/ppt/slides/slide17.xml" Id="R2c445f8b7a1b4081" /><Relationship Type="http://schemas.openxmlformats.org/officeDocument/2006/relationships/slide" Target="/ppt/slides/slide18.xml" Id="Rabfb8263dd11466a" /><Relationship Type="http://schemas.openxmlformats.org/officeDocument/2006/relationships/slide" Target="/ppt/slides/slide19.xml" Id="Ree0076f7848e417a" /><Relationship Type="http://schemas.openxmlformats.org/officeDocument/2006/relationships/slide" Target="/ppt/slides/slide20.xml" Id="Rf9b61545aa5c4114" /><Relationship Type="http://schemas.openxmlformats.org/officeDocument/2006/relationships/slide" Target="/ppt/slides/slide21.xml" Id="Re1f6c03988004ad1" /><Relationship Type="http://schemas.openxmlformats.org/officeDocument/2006/relationships/slide" Target="/ppt/slides/slide22.xml" Id="R5a8fc21c0a0c400c" /><Relationship Type="http://schemas.openxmlformats.org/officeDocument/2006/relationships/slide" Target="/ppt/slides/slide23.xml" Id="R60955ea10c1d4a82" /><Relationship Type="http://schemas.openxmlformats.org/officeDocument/2006/relationships/slide" Target="/ppt/slides/slide24.xml" Id="Rb34a43f74eb54e2e" /><Relationship Type="http://schemas.openxmlformats.org/officeDocument/2006/relationships/slide" Target="/ppt/slides/slide25.xml" Id="R08a0948110ee441c" /><Relationship Type="http://schemas.openxmlformats.org/officeDocument/2006/relationships/slide" Target="/ppt/slides/slide26.xml" Id="R5ee0cd9881cf4d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5ee0fe39e043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4e2835c824cae" /><Relationship Type="http://schemas.openxmlformats.org/officeDocument/2006/relationships/notesMaster" Target="/ppt/notesMasters/notesMaster1.xml" Id="R2fb291f0e08344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fa46e90dcf4c43" /><Relationship Type="http://schemas.openxmlformats.org/officeDocument/2006/relationships/notesMaster" Target="/ppt/notesMasters/notesMaster1.xml" Id="R1ab3d8a1c93048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f294256fcc4a1c" /><Relationship Type="http://schemas.openxmlformats.org/officeDocument/2006/relationships/notesMaster" Target="/ppt/notesMasters/notesMaster1.xml" Id="R3e15ccbef8eb41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f68ba771d44b8b" /><Relationship Type="http://schemas.openxmlformats.org/officeDocument/2006/relationships/notesMaster" Target="/ppt/notesMasters/notesMaster1.xml" Id="R61eb5826a4374f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69350c5d2d4e9f" /><Relationship Type="http://schemas.openxmlformats.org/officeDocument/2006/relationships/notesMaster" Target="/ppt/notesMasters/notesMaster1.xml" Id="R70f69376972844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c64f162bb34523" /><Relationship Type="http://schemas.openxmlformats.org/officeDocument/2006/relationships/notesMaster" Target="/ppt/notesMasters/notesMaster1.xml" Id="R15c4d1e6299346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7e8d50d1a44cd9" /><Relationship Type="http://schemas.openxmlformats.org/officeDocument/2006/relationships/notesMaster" Target="/ppt/notesMasters/notesMaster1.xml" Id="Ra2f8957edbf545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3bc8f993764386" /><Relationship Type="http://schemas.openxmlformats.org/officeDocument/2006/relationships/notesMaster" Target="/ppt/notesMasters/notesMaster1.xml" Id="Ree42c642130544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de1ace476b4785" /><Relationship Type="http://schemas.openxmlformats.org/officeDocument/2006/relationships/notesMaster" Target="/ppt/notesMasters/notesMaster1.xml" Id="R94ddb012512443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4c37cbc7204dd7" /><Relationship Type="http://schemas.openxmlformats.org/officeDocument/2006/relationships/notesMaster" Target="/ppt/notesMasters/notesMaster1.xml" Id="Rd59ddb45a8f947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c13d769c6a4b5b" /><Relationship Type="http://schemas.openxmlformats.org/officeDocument/2006/relationships/notesMaster" Target="/ppt/notesMasters/notesMaster1.xml" Id="R58a4a6bce1864b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d7352afa4849fb" /><Relationship Type="http://schemas.openxmlformats.org/officeDocument/2006/relationships/notesMaster" Target="/ppt/notesMasters/notesMaster1.xml" Id="Rddfab69d44b146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f95df686394c9c" /><Relationship Type="http://schemas.openxmlformats.org/officeDocument/2006/relationships/notesMaster" Target="/ppt/notesMasters/notesMaster1.xml" Id="Rddf42c1c9a7349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f8e92c5fc64e48" /><Relationship Type="http://schemas.openxmlformats.org/officeDocument/2006/relationships/notesMaster" Target="/ppt/notesMasters/notesMaster1.xml" Id="Rcce39021808440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234f5bcb6c492e" /><Relationship Type="http://schemas.openxmlformats.org/officeDocument/2006/relationships/notesMaster" Target="/ppt/notesMasters/notesMaster1.xml" Id="R75a69264a88f40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6a3b64dafb4d8c" /><Relationship Type="http://schemas.openxmlformats.org/officeDocument/2006/relationships/notesMaster" Target="/ppt/notesMasters/notesMaster1.xml" Id="R286ebcaaafd248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ba821a0550b4082" /><Relationship Type="http://schemas.openxmlformats.org/officeDocument/2006/relationships/notesMaster" Target="/ppt/notesMasters/notesMaster1.xml" Id="R03c59e204cd546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5eeec1c8ea4f9b" /><Relationship Type="http://schemas.openxmlformats.org/officeDocument/2006/relationships/notesMaster" Target="/ppt/notesMasters/notesMaster1.xml" Id="R9d3af603741d4a1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f8cc0baa234e3e" /><Relationship Type="http://schemas.openxmlformats.org/officeDocument/2006/relationships/notesMaster" Target="/ppt/notesMasters/notesMaster1.xml" Id="Rd221dcfc631746e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dd909ebfbd54571" /><Relationship Type="http://schemas.openxmlformats.org/officeDocument/2006/relationships/notesMaster" Target="/ppt/notesMasters/notesMaster1.xml" Id="R9bbe324bc4ab41d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335b0d285847da" /><Relationship Type="http://schemas.openxmlformats.org/officeDocument/2006/relationships/notesMaster" Target="/ppt/notesMasters/notesMaster1.xml" Id="R94e26338270d432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e25469146d245d7" /><Relationship Type="http://schemas.openxmlformats.org/officeDocument/2006/relationships/notesMaster" Target="/ppt/notesMasters/notesMaster1.xml" Id="Rd60f232eb5f341a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bc9fd46a3d4f88" /><Relationship Type="http://schemas.openxmlformats.org/officeDocument/2006/relationships/notesMaster" Target="/ppt/notesMasters/notesMaster1.xml" Id="R95907e40d269468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c98e927b8694d2f" /><Relationship Type="http://schemas.openxmlformats.org/officeDocument/2006/relationships/notesMaster" Target="/ppt/notesMasters/notesMaster1.xml" Id="R43b522aa870f4f3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4f74305dcda4223" /><Relationship Type="http://schemas.openxmlformats.org/officeDocument/2006/relationships/notesMaster" Target="/ppt/notesMasters/notesMaster1.xml" Id="R715567127a0d418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d27f7a091af48cc" /><Relationship Type="http://schemas.openxmlformats.org/officeDocument/2006/relationships/notesMaster" Target="/ppt/notesMasters/notesMaster1.xml" Id="Rc0f46f5917de4a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wil je met de uitleg kunnen verbeteren?</a:t>
            </a:r>
          </a:p>
          <a:p xmlns:a="http://schemas.openxmlformats.org/drawingml/2006/main">
            <a:r>
              <a:rPr sz="1400"/>
              <a:t/>
            </a:r>
          </a:p>
          <a:p xmlns:a="http://schemas.openxmlformats.org/drawingml/2006/main">
            <a:r>
              <a:rPr sz="1400"/>
              <a:t>Uitleg: Laat het overzicht staan tijdens startopdracht. Start 28 is herhaling van de heffingswig uit Boek 3 §3.1.1 en de ontvangsten uit §3.1.2. Laat leerlingen Pc=Pp+t en O=t×Q terughalen. Start 29 verkent het nieuwe begrip: lees eerst de definitie en de waarschuwing op p.77, wijs de derde partij aan en noteer twijfel. Verwacht nog geen zelfstandige beheersing. Keer vóór het basiswerk terug naar 29 en laat de redenering verbeteren met de inmiddels besproken begrippen. Basis 30 staat op p.83, 31 op p.84; zelfstandig 32 op p.84, 33 op p.85; doel 34 op p.86. Huiswerk 30–34 maken en nakijken. Bonus 35 en herhaling 36 blijven extra. Docenteninformatie adviseert voorlopig twee lessen van 55 minuten met flexibele grens en uitloop; ook 110 minuten is niet bewezen. Rond in de volgende les zo nodig basiswerk af vóór zelfstandig werk.</a:t>
            </a:r>
          </a:p>
          <a:p xmlns:a="http://schemas.openxmlformats.org/drawingml/2006/main">
            <a:r>
              <a:rPr sz="1400"/>
              <a:t/>
            </a:r>
          </a:p>
          <a:p xmlns:a="http://schemas.openxmlformats.org/drawingml/2006/main">
            <a:r>
              <a:rPr sz="1400"/>
              <a:t>Misvatting: De manuscript- en docenteninformatiepagina’s 25–35 zijn lokaal; gebruik in het complete boek 77–87. Start 29 is verkennen met steun.</a:t>
            </a:r>
          </a:p>
          <a:p xmlns:a="http://schemas.openxmlformats.org/drawingml/2006/main">
            <a:r>
              <a:rPr sz="1400"/>
              <a:t/>
            </a:r>
          </a:p>
          <a:p xmlns:a="http://schemas.openxmlformats.org/drawingml/2006/main">
            <a:r>
              <a:rPr sz="1400"/>
              <a:t>Overgang: Ga door naar de passende lesfase.</a:t>
            </a:r>
          </a:p>
          <a:p xmlns:a="http://schemas.openxmlformats.org/drawingml/2006/main">
            <a:r>
              <a:rPr sz="1400"/>
              <a:t/>
            </a:r>
          </a:p>
          <a:p xmlns:a="http://schemas.openxmlformats.org/drawingml/2006/main">
            <a:r>
              <a:rPr sz="1400"/>
              <a:t>Bron: Boek 4, editie books34-v3, gedrukte boekpagina 77, 83–86.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staat buiten de koop en verkoop?</a:t>
            </a:r>
          </a:p>
          <a:p xmlns:a="http://schemas.openxmlformats.org/drawingml/2006/main">
            <a:r>
              <a:rPr sz="1400"/>
              <a:t/>
            </a:r>
          </a:p>
          <a:p xmlns:a="http://schemas.openxmlformats.org/drawingml/2006/main">
            <a:r>
              <a:rPr sz="1400"/>
              <a:t>Uitleg: Gebruik de zelf ontworpen metaalcoatingmarkt. Bedrijven laten metalen onderdelen coaten. Coatingbedrijven verkopen de dienst. De omwonenden kopen of verkopen in deze transactie niets, maar dragen niet-vergoede geurhinder. Leg de woorden productie of consumptie en niet verwerkt in prijs of vergoeding uit. De rekening van de koper en de eigen productiekosten zijn op zichzelf geen externe kosten.</a:t>
            </a:r>
          </a:p>
          <a:p xmlns:a="http://schemas.openxmlformats.org/drawingml/2006/main">
            <a:r>
              <a:rPr sz="1400"/>
              <a:t/>
            </a:r>
          </a:p>
          <a:p xmlns:a="http://schemas.openxmlformats.org/drawingml/2006/main">
            <a:r>
              <a:rPr sz="1400"/>
              <a:t>Misvatting: Een hoge prijs of een hoge materiaalrekening is op zichzelf geen extern effect.</a:t>
            </a:r>
          </a:p>
          <a:p xmlns:a="http://schemas.openxmlformats.org/drawingml/2006/main">
            <a:r>
              <a:rPr sz="1400"/>
              <a:t/>
            </a:r>
          </a:p>
          <a:p xmlns:a="http://schemas.openxmlformats.org/drawingml/2006/main">
            <a:r>
              <a:rPr sz="1400"/>
              <a:t>Overgang: Geef de voorbeeldmarkt concrete functies.</a:t>
            </a:r>
          </a:p>
          <a:p xmlns:a="http://schemas.openxmlformats.org/drawingml/2006/main">
            <a:r>
              <a:rPr sz="1400"/>
              <a:t/>
            </a:r>
          </a:p>
          <a:p xmlns:a="http://schemas.openxmlformats.org/drawingml/2006/main">
            <a:r>
              <a:rPr sz="1400"/>
              <a:t>Bron: Boek 4, editie books34-v3, gedrukte boekpagina 77.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wegen aanbieders in hun eigen beslissing mee?</a:t>
            </a:r>
          </a:p>
          <a:p xmlns:a="http://schemas.openxmlformats.org/drawingml/2006/main">
            <a:r>
              <a:rPr sz="1400"/>
              <a:t/>
            </a:r>
          </a:p>
          <a:p xmlns:a="http://schemas.openxmlformats.org/drawingml/2006/main">
            <a:r>
              <a:rPr sz="1400"/>
              <a:t>Uitleg: Eigen context en eigen data: concurrerende coatingmarkt met vraag Pc=80−Q en aanbod Pp=16+Q. De constante externe schade bedraagt 16 euro per beurt. De functies gelden voor Q van 0 tot 64. Geen vaste kosten, uitvoeringskosten of andere externe effecten. Voorlopig geen heffing. De aanbodlijn geeft de marginale private kosten. We bepalen eerst de marktuitkomst en daarna wat voor alle betrokkenen samen zinvol is.</a:t>
            </a:r>
          </a:p>
          <a:p xmlns:a="http://schemas.openxmlformats.org/drawingml/2006/main">
            <a:r>
              <a:rPr sz="1400"/>
              <a:t/>
            </a:r>
          </a:p>
          <a:p xmlns:a="http://schemas.openxmlformats.org/drawingml/2006/main">
            <a:r>
              <a:rPr sz="1400"/>
              <a:t>Misvatting: De externe schade zit nog niet in de oorspronkelijke aanbodfunctie.</a:t>
            </a:r>
          </a:p>
          <a:p xmlns:a="http://schemas.openxmlformats.org/drawingml/2006/main">
            <a:r>
              <a:rPr sz="1400"/>
              <a:t/>
            </a:r>
          </a:p>
          <a:p xmlns:a="http://schemas.openxmlformats.org/drawingml/2006/main">
            <a:r>
              <a:rPr sz="1400"/>
              <a:t>Overgang: Los de markt zonder heffing op.</a:t>
            </a:r>
          </a:p>
          <a:p xmlns:a="http://schemas.openxmlformats.org/drawingml/2006/main">
            <a:r>
              <a:rPr sz="1400"/>
              <a:t/>
            </a:r>
          </a:p>
          <a:p xmlns:a="http://schemas.openxmlformats.org/drawingml/2006/main">
            <a:r>
              <a:rPr sz="1400"/>
              <a:t>Bron: Boek 4, editie books34-v3, gedrukte boekpagina 78–82.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gebruiken bedrijven hier de private kostenlijn?</a:t>
            </a:r>
          </a:p>
          <a:p xmlns:a="http://schemas.openxmlformats.org/drawingml/2006/main">
            <a:r>
              <a:rPr sz="1400"/>
              <a:t/>
            </a:r>
          </a:p>
          <a:p xmlns:a="http://schemas.openxmlformats.org/drawingml/2006/main">
            <a:r>
              <a:rPr sz="1400"/>
              <a:t>Uitleg: Stel bij de ongereguleerde markt vraag gelijk aan private aanbodkosten. 80−Q=16+Q geeft 2 Q=64, Q 0=32 per dag en P 0=80−32=48 euro per beurt. Controle 16+32=48. E 0 ligt bij 32,48 en de hulplijnen horen bij dezelfde hoeveelheid.</a:t>
            </a:r>
          </a:p>
          <a:p xmlns:a="http://schemas.openxmlformats.org/drawingml/2006/main">
            <a:r>
              <a:rPr sz="1400"/>
              <a:t/>
            </a:r>
          </a:p>
          <a:p xmlns:a="http://schemas.openxmlformats.org/drawingml/2006/main">
            <a:r>
              <a:rPr sz="1400"/>
              <a:t>Misvatting: De markt verwerkt niet vanzelf de niet-vergoede geurhinder.</a:t>
            </a:r>
          </a:p>
          <a:p xmlns:a="http://schemas.openxmlformats.org/drawingml/2006/main">
            <a:r>
              <a:rPr sz="1400"/>
              <a:t/>
            </a:r>
          </a:p>
          <a:p xmlns:a="http://schemas.openxmlformats.org/drawingml/2006/main">
            <a:r>
              <a:rPr sz="1400"/>
              <a:t>Overgang: Voeg de ontbrekende maatschappelijke kosten toe.</a:t>
            </a:r>
          </a:p>
          <a:p xmlns:a="http://schemas.openxmlformats.org/drawingml/2006/main">
            <a:r>
              <a:rPr sz="1400"/>
              <a:t/>
            </a:r>
          </a:p>
          <a:p xmlns:a="http://schemas.openxmlformats.org/drawingml/2006/main">
            <a:r>
              <a:rPr sz="1400"/>
              <a:t>Bron: Boek 4, editie books34-v3, gedrukte boekpagina 78.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 je bij dezelfde hoeveelheid?</a:t>
            </a:r>
          </a:p>
          <a:p xmlns:a="http://schemas.openxmlformats.org/drawingml/2006/main">
            <a:r>
              <a:rPr sz="1400"/>
              <a:t/>
            </a:r>
          </a:p>
          <a:p xmlns:a="http://schemas.openxmlformats.org/drawingml/2006/main">
            <a:r>
              <a:rPr sz="1400"/>
              <a:t>Uitleg: Tel bij dezelfde Q de 16 euro schade op bij 16+Q. Maatschappelijke MK=32+Q. De verticale afstand is 16 euro per extra beurt. Bij Q 16 is de private MK 32 en maatschappelijke MK 48 euro. Deze lijn beschrijft echte maatschappelijke kosten. Er is nog geen belasting; de private aanbodbeslissing verandert nog niet.</a:t>
            </a:r>
          </a:p>
          <a:p xmlns:a="http://schemas.openxmlformats.org/drawingml/2006/main">
            <a:r>
              <a:rPr sz="1400"/>
              <a:t/>
            </a:r>
          </a:p>
          <a:p xmlns:a="http://schemas.openxmlformats.org/drawingml/2006/main">
            <a:r>
              <a:rPr sz="1400"/>
              <a:t>Misvatting: De lijn met maatschappelijke MK is zonder nieuwe prikkel nog niet de feitelijke aanbodlijn.</a:t>
            </a:r>
          </a:p>
          <a:p xmlns:a="http://schemas.openxmlformats.org/drawingml/2006/main">
            <a:r>
              <a:rPr sz="1400"/>
              <a:t/>
            </a:r>
          </a:p>
          <a:p xmlns:a="http://schemas.openxmlformats.org/drawingml/2006/main">
            <a:r>
              <a:rPr sz="1400"/>
              <a:t>Overgang: Bepaal welke hoeveelheid gezamenlijk zinvol is.</a:t>
            </a:r>
          </a:p>
          <a:p xmlns:a="http://schemas.openxmlformats.org/drawingml/2006/main">
            <a:r>
              <a:rPr sz="1400"/>
              <a:t/>
            </a:r>
          </a:p>
          <a:p xmlns:a="http://schemas.openxmlformats.org/drawingml/2006/main">
            <a:r>
              <a:rPr sz="1400"/>
              <a:t>Bron: Boek 4, editie books34-v3, gedrukte boekpagina 78.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zegt de vergelijking52 tegenover60 over die extra beurt?</a:t>
            </a:r>
          </a:p>
          <a:p xmlns:a="http://schemas.openxmlformats.org/drawingml/2006/main">
            <a:r>
              <a:rPr sz="1400"/>
              <a:t/>
            </a:r>
          </a:p>
          <a:p xmlns:a="http://schemas.openxmlformats.org/drawingml/2006/main">
            <a:r>
              <a:rPr sz="1400"/>
              <a:t>Uitleg: De marginale baten volgen uit de vraag. Stel ze gelijk aan maatschappelijke MK: Qe 24. Bij Q 28 is de betalingsbereidheid 52, private MK 44 en maatschappelijke MK 60. Privaat kan de beurt voordeel geven, maar maatschappelijk kost hij 8 euro meer dan hij oplevert. Daarom is de marktuitkomst 32 hoger dan de efficiënte 24. Sommige beurten blijven wel maatschappelijk zinvol.</a:t>
            </a:r>
          </a:p>
          <a:p xmlns:a="http://schemas.openxmlformats.org/drawingml/2006/main">
            <a:r>
              <a:rPr sz="1400"/>
              <a:t/>
            </a:r>
          </a:p>
          <a:p xmlns:a="http://schemas.openxmlformats.org/drawingml/2006/main">
            <a:r>
              <a:rPr sz="1400"/>
              <a:t>Misvatting: Efficiëntie betekent niet dat elke activiteit en elke externe schade verdwijnt.</a:t>
            </a:r>
          </a:p>
          <a:p xmlns:a="http://schemas.openxmlformats.org/drawingml/2006/main">
            <a:r>
              <a:rPr sz="1400"/>
              <a:t/>
            </a:r>
          </a:p>
          <a:p xmlns:a="http://schemas.openxmlformats.org/drawingml/2006/main">
            <a:r>
              <a:rPr sz="1400"/>
              <a:t>Overgang: Teken het gebied van het verloren surplus.</a:t>
            </a:r>
          </a:p>
          <a:p xmlns:a="http://schemas.openxmlformats.org/drawingml/2006/main">
            <a:r>
              <a:rPr sz="1400"/>
              <a:t/>
            </a:r>
          </a:p>
          <a:p xmlns:a="http://schemas.openxmlformats.org/drawingml/2006/main">
            <a:r>
              <a:rPr sz="1400"/>
              <a:t>Bron: Boek 4, editie books34-v3, gedrukte boekpagina 78–79.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loopt de driehoek niet vanaf Q=0?</a:t>
            </a:r>
          </a:p>
          <a:p xmlns:a="http://schemas.openxmlformats.org/drawingml/2006/main">
            <a:r>
              <a:rPr sz="1400"/>
              <a:t/>
            </a:r>
          </a:p>
          <a:p xmlns:a="http://schemas.openxmlformats.org/drawingml/2006/main">
            <a:r>
              <a:rPr sz="1400"/>
              <a:t>Uitleg: De arcering loopt uitsluitend tussen de vraag en maatschappelijke MK, van 24 tot 32. Het punt bij 24 is 24,56. Bij 32 is vraag 48 en maatschappelijke MK 64, dus hoogte 16. De basis is 8 beurten per dag en de oppervlakte 64 euro per dag. Deze driehoek is het vermijdbare maatschappelijke verlies, niet alle externe schade.</a:t>
            </a:r>
          </a:p>
          <a:p xmlns:a="http://schemas.openxmlformats.org/drawingml/2006/main">
            <a:r>
              <a:rPr sz="1400"/>
              <a:t/>
            </a:r>
          </a:p>
          <a:p xmlns:a="http://schemas.openxmlformats.org/drawingml/2006/main">
            <a:r>
              <a:rPr sz="1400"/>
              <a:t>Misvatting: Totale schade is16 maal alle beurten; welvaartsverlies vergelijkt marginale baten en maatschappelijke kosten op de te veel uitgevoerde beurten.</a:t>
            </a:r>
          </a:p>
          <a:p xmlns:a="http://schemas.openxmlformats.org/drawingml/2006/main">
            <a:r>
              <a:rPr sz="1400"/>
              <a:t/>
            </a:r>
          </a:p>
          <a:p xmlns:a="http://schemas.openxmlformats.org/drawingml/2006/main">
            <a:r>
              <a:rPr sz="1400"/>
              <a:t>Overgang: Bereken nu het maatschappelijke surplus met alle posten.</a:t>
            </a:r>
          </a:p>
          <a:p xmlns:a="http://schemas.openxmlformats.org/drawingml/2006/main">
            <a:r>
              <a:rPr sz="1400"/>
              <a:t/>
            </a:r>
          </a:p>
          <a:p xmlns:a="http://schemas.openxmlformats.org/drawingml/2006/main">
            <a:r>
              <a:rPr sz="1400"/>
              <a:t>Bron: Boek 4, editie books34-v3, gedrukte boekpagina 79,82.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aantal gebruik je voor de totale externe schade?</a:t>
            </a:r>
          </a:p>
          <a:p xmlns:a="http://schemas.openxmlformats.org/drawingml/2006/main">
            <a:r>
              <a:rPr sz="1400"/>
              <a:t/>
            </a:r>
          </a:p>
          <a:p xmlns:a="http://schemas.openxmlformats.org/drawingml/2006/main">
            <a:r>
              <a:rPr sz="1400"/>
              <a:t>Uitleg: Herhaal kort de driehoeken: CS ligt onder vraag boven prijs 48 en PS boven oorspronkelijke aanbodlijn onder prijs 48. De hoogten zijn beide 32, de basis is 32. Daarom zijn CS en PS elk 512. Trek schade af over alle 32 beurten,16×32=512. Maatschappelijk surplus 512 per dag. Overheidsontvangst is hier nul.</a:t>
            </a:r>
          </a:p>
          <a:p xmlns:a="http://schemas.openxmlformats.org/drawingml/2006/main">
            <a:r>
              <a:rPr sz="1400"/>
              <a:t/>
            </a:r>
          </a:p>
          <a:p xmlns:a="http://schemas.openxmlformats.org/drawingml/2006/main">
            <a:r>
              <a:rPr sz="1400"/>
              <a:t>Misvatting: Gebruik niet alleen de acht te veel uitgevoerde beurten voor totale schade.</a:t>
            </a:r>
          </a:p>
          <a:p xmlns:a="http://schemas.openxmlformats.org/drawingml/2006/main">
            <a:r>
              <a:rPr sz="1400"/>
              <a:t/>
            </a:r>
          </a:p>
          <a:p xmlns:a="http://schemas.openxmlformats.org/drawingml/2006/main">
            <a:r>
              <a:rPr sz="1400"/>
              <a:t>Overgang: Onderscheid veranderingen in beide kostencomponenten.</a:t>
            </a:r>
          </a:p>
          <a:p xmlns:a="http://schemas.openxmlformats.org/drawingml/2006/main">
            <a:r>
              <a:rPr sz="1400"/>
              <a:t/>
            </a:r>
          </a:p>
          <a:p xmlns:a="http://schemas.openxmlformats.org/drawingml/2006/main">
            <a:r>
              <a:rPr sz="1400"/>
              <a:t>Bron: Boek 4, editie books34-v3, gedrukte boekpagina 79,82.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verandering is groter, en wat betekent dat voor de som?</a:t>
            </a:r>
          </a:p>
          <a:p xmlns:a="http://schemas.openxmlformats.org/drawingml/2006/main">
            <a:r>
              <a:rPr sz="1400"/>
              <a:t/>
            </a:r>
          </a:p>
          <a:p xmlns:a="http://schemas.openxmlformats.org/drawingml/2006/main">
            <a:r>
              <a:rPr sz="1400"/>
              <a:t>Uitleg: Dit is een apart variatiescenario met eigen cijfers op dezelfde coatingmarkt. Bij iedere vaste Q stijgt private MK van 16+Q naar 20+Q. De externe schade daalt van 16 naar 9. Nieuwe maatschappelijke MK=29+Q, drie euro lager dan 32+Q. Isoleer eerst iedere verandering, tel daarna de effecten op. Voor de volgende dia keren we terug naar de oorspronkelijke kosten en schade 16.</a:t>
            </a:r>
          </a:p>
          <a:p xmlns:a="http://schemas.openxmlformats.org/drawingml/2006/main">
            <a:r>
              <a:rPr sz="1400"/>
              <a:t/>
            </a:r>
          </a:p>
          <a:p xmlns:a="http://schemas.openxmlformats.org/drawingml/2006/main">
            <a:r>
              <a:rPr sz="1400"/>
              <a:t>Misvatting: Een stijging van eigen kosten bewijst geen stijging van maatschappelijke kosten wanneer externe schade tegelijk verandert.</a:t>
            </a:r>
          </a:p>
          <a:p xmlns:a="http://schemas.openxmlformats.org/drawingml/2006/main">
            <a:r>
              <a:rPr sz="1400"/>
              <a:t/>
            </a:r>
          </a:p>
          <a:p xmlns:a="http://schemas.openxmlformats.org/drawingml/2006/main">
            <a:r>
              <a:rPr sz="1400"/>
              <a:t>Overgang: Terug naar het oorspronkelijke voorbeeld, nu met een heffing van16 euro.</a:t>
            </a:r>
          </a:p>
          <a:p xmlns:a="http://schemas.openxmlformats.org/drawingml/2006/main">
            <a:r>
              <a:rPr sz="1400"/>
              <a:t/>
            </a:r>
          </a:p>
          <a:p xmlns:a="http://schemas.openxmlformats.org/drawingml/2006/main">
            <a:r>
              <a:rPr sz="1400"/>
              <a:t>Bron: Boek 4, editie books34-v3, gedrukte boekpagina 78.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Op welke lijn vind je wat de producent overhoudt na afdracht?</a:t>
            </a:r>
          </a:p>
          <a:p xmlns:a="http://schemas.openxmlformats.org/drawingml/2006/main">
            <a:r>
              <a:rPr sz="1400"/>
              <a:t/>
            </a:r>
          </a:p>
          <a:p xmlns:a="http://schemas.openxmlformats.org/drawingml/2006/main">
            <a:r>
              <a:rPr sz="1400"/>
              <a:t>Uitleg: Herstel expliciet de oorspronkelijke schade 16 en private MK 16+Q na het aparte variatiescenario. De producent draagt 16 euro per verkochte beurt af. Herhaal de bekende wig uit Boek 3. Vraag en aanbod in kopersprijzen geven Q 24; op vraag Pc 56 en op oorspronkelijke aanbod Pp 40. Controle 56−40=16. Pp is ontvangst na afdracht maar vóór productiekosten.</a:t>
            </a:r>
          </a:p>
          <a:p xmlns:a="http://schemas.openxmlformats.org/drawingml/2006/main">
            <a:r>
              <a:rPr sz="1400"/>
              <a:t/>
            </a:r>
          </a:p>
          <a:p xmlns:a="http://schemas.openxmlformats.org/drawingml/2006/main">
            <a:r>
              <a:rPr sz="1400"/>
              <a:t>Misvatting: Tel de heffing niet simpelweg op bij de oude evenwichtsprijs.</a:t>
            </a:r>
          </a:p>
          <a:p xmlns:a="http://schemas.openxmlformats.org/drawingml/2006/main">
            <a:r>
              <a:rPr sz="1400"/>
              <a:t/>
            </a:r>
          </a:p>
          <a:p xmlns:a="http://schemas.openxmlformats.org/drawingml/2006/main">
            <a:r>
              <a:rPr sz="1400"/>
              <a:t>Overgang: Lees de twee prijzen en de aanbodverschuiving in de grafiek.</a:t>
            </a:r>
          </a:p>
          <a:p xmlns:a="http://schemas.openxmlformats.org/drawingml/2006/main">
            <a:r>
              <a:rPr sz="1400"/>
              <a:t/>
            </a:r>
          </a:p>
          <a:p xmlns:a="http://schemas.openxmlformats.org/drawingml/2006/main">
            <a:r>
              <a:rPr sz="1400"/>
              <a:t>Bron: Boek 4, editie books34-v3, gedrukte boekpagina 80–82.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houdt de horizontale pijl constant, en wat de verticale wig?</a:t>
            </a:r>
          </a:p>
          <a:p xmlns:a="http://schemas.openxmlformats.org/drawingml/2006/main">
            <a:r>
              <a:rPr sz="1400"/>
              <a:t/>
            </a:r>
          </a:p>
          <a:p xmlns:a="http://schemas.openxmlformats.org/drawingml/2006/main">
            <a:r>
              <a:rPr sz="1400"/>
              <a:t>Uitleg: De horizontale pijl vergelijkt aanbodhoeveelheden bij dezelfde kopersprijs 80: zonder heffing Q 64 en met heffing Q 48. De verticale wig vergelijkt prijzen bij dezelfde Q 24:40 naar 56. Dit zijn verschillende vergelijkingen. Omdat belasting 16 precies gelijk is aan de constante marginale schade, valt A+t samen met maatschappelijke MK en wordt Q 24 bereikt. De private aanbodlijn blijft 16+Q.</a:t>
            </a:r>
          </a:p>
          <a:p xmlns:a="http://schemas.openxmlformats.org/drawingml/2006/main">
            <a:r>
              <a:rPr sz="1400"/>
              <a:t/>
            </a:r>
          </a:p>
          <a:p xmlns:a="http://schemas.openxmlformats.org/drawingml/2006/main">
            <a:r>
              <a:rPr sz="1400"/>
              <a:t>Misvatting: Belasting is een betaling; de maatschappelijke kostenlijn beschrijft echte kosten. Hun samenvallen is hier een gevolg van de gekozen gelijke bedragen.</a:t>
            </a:r>
          </a:p>
          <a:p xmlns:a="http://schemas.openxmlformats.org/drawingml/2006/main">
            <a:r>
              <a:rPr sz="1400"/>
              <a:t/>
            </a:r>
          </a:p>
          <a:p xmlns:a="http://schemas.openxmlformats.org/drawingml/2006/main">
            <a:r>
              <a:rPr sz="1400"/>
              <a:t>Overgang: Bereken de ontvangst én de resterende schade.</a:t>
            </a:r>
          </a:p>
          <a:p xmlns:a="http://schemas.openxmlformats.org/drawingml/2006/main">
            <a:r>
              <a:rPr sz="1400"/>
              <a:t/>
            </a:r>
          </a:p>
          <a:p xmlns:a="http://schemas.openxmlformats.org/drawingml/2006/main">
            <a:r>
              <a:rPr sz="1400"/>
              <a:t>Bron: Boek 4, editie books34-v3, gedrukte boekpagina 80.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de belastingontvangst bewijs dat omwonenden zijn gecompenseerd?</a:t>
            </a:r>
          </a:p>
          <a:p xmlns:a="http://schemas.openxmlformats.org/drawingml/2006/main">
            <a:r>
              <a:rPr sz="1400"/>
              <a:t/>
            </a:r>
          </a:p>
          <a:p xmlns:a="http://schemas.openxmlformats.org/drawingml/2006/main">
            <a:r>
              <a:rPr sz="1400"/>
              <a:t>Uitleg: De overheid krijgt t×Q=384. Omwonenden ondervinden nog 16×24=384 schade. Dat beide bedragen gelijk zijn, volgt uit gelijke belasting en constante marginale schade. Het zegt niet dat de overheid schadevergoeding uitkeert. Bij de surplusberekening tellen we ontvangst op omdat CS en PS die afdracht niet meer bevatten, en schade trekken we afzonderlijk af.</a:t>
            </a:r>
          </a:p>
          <a:p xmlns:a="http://schemas.openxmlformats.org/drawingml/2006/main">
            <a:r>
              <a:rPr sz="1400"/>
              <a:t/>
            </a:r>
          </a:p>
          <a:p xmlns:a="http://schemas.openxmlformats.org/drawingml/2006/main">
            <a:r>
              <a:rPr sz="1400"/>
              <a:t>Misvatting: Streep ontvangst en schade niet weg omdat ze hetzelfde begrip zouden zijn. Alleen de bedragen zijn hier gelijk.</a:t>
            </a:r>
          </a:p>
          <a:p xmlns:a="http://schemas.openxmlformats.org/drawingml/2006/main">
            <a:r>
              <a:rPr sz="1400"/>
              <a:t/>
            </a:r>
          </a:p>
          <a:p xmlns:a="http://schemas.openxmlformats.org/drawingml/2006/main">
            <a:r>
              <a:rPr sz="1400"/>
              <a:t>Overgang: Vergelijk het maatschappelijke saldo vóór en na.</a:t>
            </a:r>
          </a:p>
          <a:p xmlns:a="http://schemas.openxmlformats.org/drawingml/2006/main">
            <a:r>
              <a:rPr sz="1400"/>
              <a:t/>
            </a:r>
          </a:p>
          <a:p xmlns:a="http://schemas.openxmlformats.org/drawingml/2006/main">
            <a:r>
              <a:rPr sz="1400"/>
              <a:t>Bron: Boek 4, editie books34-v3, gedrukte boekpagina 80–82.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bij PS de oorspronkelijke private aanbodlijn?</a:t>
            </a:r>
          </a:p>
          <a:p xmlns:a="http://schemas.openxmlformats.org/drawingml/2006/main">
            <a:r>
              <a:rPr sz="1400"/>
              <a:t/>
            </a:r>
          </a:p>
          <a:p xmlns:a="http://schemas.openxmlformats.org/drawingml/2006/main">
            <a:r>
              <a:rPr sz="1400"/>
              <a:t>Uitleg: Bereken CS met kopersprijs 56, dus hoogte 24 tot vraagintercept 80. PS gebruikt producentenontvangst 40 en het private intercept 16, dus eveneens hoogte 24. De basis is 24. Beide zijn 288. De vier posten leveren 576. Controle: toename 64 is exact de oorspronkelijke verliesdriehoek. De heffing bereikt hier Qe, gegeven alle gemaakte aannames.</a:t>
            </a:r>
          </a:p>
          <a:p xmlns:a="http://schemas.openxmlformats.org/drawingml/2006/main">
            <a:r>
              <a:rPr sz="1400"/>
              <a:t/>
            </a:r>
          </a:p>
          <a:p xmlns:a="http://schemas.openxmlformats.org/drawingml/2006/main">
            <a:r>
              <a:rPr sz="1400"/>
              <a:t>Misvatting: PS berekenen onder Pc zou de belastingontvangst dubbel tellen.</a:t>
            </a:r>
          </a:p>
          <a:p xmlns:a="http://schemas.openxmlformats.org/drawingml/2006/main">
            <a:r>
              <a:rPr sz="1400"/>
              <a:t/>
            </a:r>
          </a:p>
          <a:p xmlns:a="http://schemas.openxmlformats.org/drawingml/2006/main">
            <a:r>
              <a:rPr sz="1400"/>
              <a:t>Overgang: Leg uit waarom dalend privaat surplus toch een maatschappelijk voordeel kan geven.</a:t>
            </a:r>
          </a:p>
          <a:p xmlns:a="http://schemas.openxmlformats.org/drawingml/2006/main">
            <a:r>
              <a:rPr sz="1400"/>
              <a:t/>
            </a:r>
          </a:p>
          <a:p xmlns:a="http://schemas.openxmlformats.org/drawingml/2006/main">
            <a:r>
              <a:rPr sz="1400"/>
              <a:t>Bron: Boek 4, editie books34-v3, gedrukte boekpagina 79–82.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posten mis je als je alleen naar kopers en verkopers kijkt?</a:t>
            </a:r>
          </a:p>
          <a:p xmlns:a="http://schemas.openxmlformats.org/drawingml/2006/main">
            <a:r>
              <a:rPr sz="1400"/>
              <a:t/>
            </a:r>
          </a:p>
          <a:p xmlns:a="http://schemas.openxmlformats.org/drawingml/2006/main">
            <a:r>
              <a:rPr sz="1400"/>
              <a:t>Uitleg: De daling van CS+PS is 448. Hiervan verschuift 384 naar de overheid. Daarnaast verdwijnt 128 echte schade. Netto−448+384+128=64. Vergelijk met Boek 3: daar waren externe effecten uitgesloten, hier worden te schadelijke transacties verminderd. De maatstaf telt euro’s zonder verdelingsgewichten. Niet iedere persoon hoeft te winnen en niet iedere belasting is goed.</a:t>
            </a:r>
          </a:p>
          <a:p xmlns:a="http://schemas.openxmlformats.org/drawingml/2006/main">
            <a:r>
              <a:rPr sz="1400"/>
              <a:t/>
            </a:r>
          </a:p>
          <a:p xmlns:a="http://schemas.openxmlformats.org/drawingml/2006/main">
            <a:r>
              <a:rPr sz="1400"/>
              <a:t>Misvatting: Een positief totaal bewijst geen verbetering voor ieder individu.</a:t>
            </a:r>
          </a:p>
          <a:p xmlns:a="http://schemas.openxmlformats.org/drawingml/2006/main">
            <a:r>
              <a:rPr sz="1400"/>
              <a:t/>
            </a:r>
          </a:p>
          <a:p xmlns:a="http://schemas.openxmlformats.org/drawingml/2006/main">
            <a:r>
              <a:rPr sz="1400"/>
              <a:t>Overgang: Keer terug naar start29 en ga daarna naar basis30–31 en zelfstandig32–33.</a:t>
            </a:r>
          </a:p>
          <a:p xmlns:a="http://schemas.openxmlformats.org/drawingml/2006/main">
            <a:r>
              <a:rPr sz="1400"/>
              <a:t/>
            </a:r>
          </a:p>
          <a:p xmlns:a="http://schemas.openxmlformats.org/drawingml/2006/main">
            <a:r>
              <a:rPr sz="1400"/>
              <a:t>Bron: Boek 4, editie books34-v3, gedrukte boekpagina 80–82.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Uitlegvoorbeeld: zelf ontworpen metaalcoatingmarkt en data, niet uit het boek. De boekverwijzing ondersteunt uitsluitend de gebruikte methode.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wil je met de uitleg kunnen verbeteren?</a:t>
            </a:r>
          </a:p>
          <a:p xmlns:a="http://schemas.openxmlformats.org/drawingml/2006/main">
            <a:r>
              <a:rPr sz="1400"/>
              <a:t/>
            </a:r>
          </a:p>
          <a:p xmlns:a="http://schemas.openxmlformats.org/drawingml/2006/main">
            <a:r>
              <a:rPr sz="1400"/>
              <a:t>Uitleg: Laat het overzicht staan tijdens zelfstandig werken. Start 28 is herhaling van de heffingswig uit Boek 3 §3.1.1 en de ontvangsten uit §3.1.2. Laat leerlingen Pc=Pp+t en O=t×Q terughalen. Start 29 verkent het nieuwe begrip: lees eerst de definitie en de waarschuwing op p.77, wijs de derde partij aan en noteer twijfel. Verwacht nog geen zelfstandige beheersing. Keer vóór het basiswerk terug naar 29 en laat de redenering verbeteren met de inmiddels besproken begrippen. Basis 30 staat op p.83, 31 op p.84; zelfstandig 32 op p.84, 33 op p.85; doel 34 op p.86. Huiswerk 30–34 maken en nakijken. Bonus 35 en herhaling 36 blijven extra. Docenteninformatie adviseert voorlopig twee lessen van 55 minuten met flexibele grens en uitloop; ook 110 minuten is niet bewezen. Rond in de volgende les zo nodig basiswerk af vóór zelfstandig werk.</a:t>
            </a:r>
          </a:p>
          <a:p xmlns:a="http://schemas.openxmlformats.org/drawingml/2006/main">
            <a:r>
              <a:rPr sz="1400"/>
              <a:t/>
            </a:r>
          </a:p>
          <a:p xmlns:a="http://schemas.openxmlformats.org/drawingml/2006/main">
            <a:r>
              <a:rPr sz="1400"/>
              <a:t>Misvatting: De manuscript- en docenteninformatiepagina’s 25–35 zijn lokaal; gebruik in het complete boek 77–87. Start 29 is verkennen met steun.</a:t>
            </a:r>
          </a:p>
          <a:p xmlns:a="http://schemas.openxmlformats.org/drawingml/2006/main">
            <a:r>
              <a:rPr sz="1400"/>
              <a:t/>
            </a:r>
          </a:p>
          <a:p xmlns:a="http://schemas.openxmlformats.org/drawingml/2006/main">
            <a:r>
              <a:rPr sz="1400"/>
              <a:t>Overgang: Ga door naar de passende lesfase.</a:t>
            </a:r>
          </a:p>
          <a:p xmlns:a="http://schemas.openxmlformats.org/drawingml/2006/main">
            <a:r>
              <a:rPr sz="1400"/>
              <a:t/>
            </a:r>
          </a:p>
          <a:p xmlns:a="http://schemas.openxmlformats.org/drawingml/2006/main">
            <a:r>
              <a:rPr sz="1400"/>
              <a:t>Bron: Boek 4, editie books34-v3, gedrukte boekpagina 77, 83–86.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zijn anders dan in het uitlegvoorbeeld?</a:t>
            </a:r>
          </a:p>
          <a:p xmlns:a="http://schemas.openxmlformats.org/drawingml/2006/main">
            <a:r>
              <a:rPr sz="1400"/>
              <a:t/>
            </a:r>
          </a:p>
          <a:p xmlns:a="http://schemas.openxmlformats.org/drawingml/2006/main">
            <a:r>
              <a:rPr sz="1400"/>
              <a:t>Uitleg: Lees de volledige boekbron. Dit is een nieuwe markt met eigen functies, intercepten en schade 20. Het voorgaande coatingvoorbeeld is afgesloten. Gebruik de bron en de basisgrafiek op de volgende dia. Geef nog geen uitkomsten. Alle deelvragen volgen vóór de eerste uitwerking.</a:t>
            </a:r>
          </a:p>
          <a:p xmlns:a="http://schemas.openxmlformats.org/drawingml/2006/main">
            <a:r>
              <a:rPr sz="1400"/>
              <a:t/>
            </a:r>
          </a:p>
          <a:p xmlns:a="http://schemas.openxmlformats.org/drawingml/2006/main">
            <a:r>
              <a:rPr sz="1400"/>
              <a:t>Misvatting: Neem geen getal of aanbodintercept uit de coatingmarkt over.</a:t>
            </a:r>
          </a:p>
          <a:p xmlns:a="http://schemas.openxmlformats.org/drawingml/2006/main">
            <a:r>
              <a:rPr sz="1400"/>
              <a:t/>
            </a:r>
          </a:p>
          <a:p xmlns:a="http://schemas.openxmlformats.org/drawingml/2006/main">
            <a:r>
              <a:rPr sz="1400"/>
              <a:t>Overgang: Bekijk de basisgrafiek en de vragen a en b.</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oorspronkelijke lijn heb je straks voor Pp nodig?</a:t>
            </a:r>
          </a:p>
          <a:p xmlns:a="http://schemas.openxmlformats.org/drawingml/2006/main">
            <a:r>
              <a:rPr sz="1400"/>
              <a:t/>
            </a:r>
          </a:p>
          <a:p xmlns:a="http://schemas.openxmlformats.org/drawingml/2006/main">
            <a:r>
              <a:rPr sz="1400"/>
              <a:t>Uitleg: De basisgrafiek reproduceert de drie gegeven lijnen uit figuur 20 met native XY-reeksen: V=60−Q, A=Q en maatschappelijke MK=20+Q, op Q 0–60 en P 0–80. Er zijn nog geen uitkomsten, hulplijnen of antwoorden toegevoegd. Laat leerlingen de opdracht lezen.</a:t>
            </a:r>
          </a:p>
          <a:p xmlns:a="http://schemas.openxmlformats.org/drawingml/2006/main">
            <a:r>
              <a:rPr sz="1400"/>
              <a:t/>
            </a:r>
          </a:p>
          <a:p xmlns:a="http://schemas.openxmlformats.org/drawingml/2006/main">
            <a:r>
              <a:rPr sz="1400"/>
              <a:t>Misvatting: De maatschappelijke lijn is al een brongegeven; een markering van Qe is nog door de leerling te maken.</a:t>
            </a:r>
          </a:p>
          <a:p xmlns:a="http://schemas.openxmlformats.org/drawingml/2006/main">
            <a:r>
              <a:rPr sz="1400"/>
              <a:t/>
            </a:r>
          </a:p>
          <a:p xmlns:a="http://schemas.openxmlformats.org/drawingml/2006/main">
            <a:r>
              <a:rPr sz="1400"/>
              <a:t>Overgang: Lees ook c, d en e voordat we de antwoorden bespreken.</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vier posten moeten zichtbaar zijn bij c?</a:t>
            </a:r>
          </a:p>
          <a:p xmlns:a="http://schemas.openxmlformats.org/drawingml/2006/main">
            <a:r>
              <a:rPr sz="1400"/>
              <a:t/>
            </a:r>
          </a:p>
          <a:p xmlns:a="http://schemas.openxmlformats.org/drawingml/2006/main">
            <a:r>
              <a:rPr sz="1400"/>
              <a:t>Uitleg: Alle vijf deelvragen zijn nu getoond zonder oplossingen. De bron en figuur blijven beschikbaar via het boek. Geef tijd om het eigen werk te controleren voordat de bespreking start. De punten tellen op tot 14.</a:t>
            </a:r>
          </a:p>
          <a:p xmlns:a="http://schemas.openxmlformats.org/drawingml/2006/main">
            <a:r>
              <a:rPr sz="1400"/>
              <a:t/>
            </a:r>
          </a:p>
          <a:p xmlns:a="http://schemas.openxmlformats.org/drawingml/2006/main">
            <a:r>
              <a:rPr sz="1400"/>
              <a:t>Misvatting: Een juist eindgetal is onvoldoende wanneer de berekening en vier posten gevraagd zijn.</a:t>
            </a:r>
          </a:p>
          <a:p xmlns:a="http://schemas.openxmlformats.org/drawingml/2006/main">
            <a:r>
              <a:rPr sz="1400"/>
              <a:t/>
            </a:r>
          </a:p>
          <a:p xmlns:a="http://schemas.openxmlformats.org/drawingml/2006/main">
            <a:r>
              <a:rPr sz="1400"/>
              <a:t>Overgang: Start pas daarna de uitwerking van a.</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vermenigvuldig je20 met30?</a:t>
            </a:r>
          </a:p>
          <a:p xmlns:a="http://schemas.openxmlformats.org/drawingml/2006/main">
            <a:r>
              <a:rPr sz="1400"/>
              <a:t/>
            </a:r>
          </a:p>
          <a:p xmlns:a="http://schemas.openxmlformats.org/drawingml/2006/main">
            <a:r>
              <a:rPr sz="1400"/>
              <a:t>Uitleg: Omwonenden ondervinden niet-vergoede overlast buiten de koop en verkoop. Zonder heffing zijn beide prijzen gelijk. Los 60−Q=Q op: Q 30. Controle op aanbod geeft eveneens P 30. Totale schade 20×30=600 per dag, over alle diensten.</a:t>
            </a:r>
          </a:p>
          <a:p xmlns:a="http://schemas.openxmlformats.org/drawingml/2006/main">
            <a:r>
              <a:rPr sz="1400"/>
              <a:t/>
            </a:r>
          </a:p>
          <a:p xmlns:a="http://schemas.openxmlformats.org/drawingml/2006/main">
            <a:r>
              <a:rPr sz="1400"/>
              <a:t>Misvatting: Twintig euro is schade per dienst;600 euro is de totale dagschade.</a:t>
            </a:r>
          </a:p>
          <a:p xmlns:a="http://schemas.openxmlformats.org/drawingml/2006/main">
            <a:r>
              <a:rPr sz="1400"/>
              <a:t/>
            </a:r>
          </a:p>
          <a:p xmlns:a="http://schemas.openxmlformats.org/drawingml/2006/main">
            <a:r>
              <a:rPr sz="1400"/>
              <a:t>Overgang: Voer nu de heffing in.</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gebruik je voor de belastingontvangst?</a:t>
            </a:r>
          </a:p>
          <a:p xmlns:a="http://schemas.openxmlformats.org/drawingml/2006/main">
            <a:r>
              <a:rPr sz="1400"/>
              <a:t/>
            </a:r>
          </a:p>
          <a:p xmlns:a="http://schemas.openxmlformats.org/drawingml/2006/main">
            <a:r>
              <a:rPr sz="1400"/>
              <a:t>Uitleg: Begin met de wig, stel de functies gelijk in kopersprijzen en bereken eerst de hoeveelheid. Substitueer Q 20 op de vraag voor Pc 40 en oorspronkelijke aanbod voor Pp 20. De overheid krijgt t×Q 1=400 per dag. Controleer de wig 20 en dat vraag en aanbod dezelfde Q gebruiken.</a:t>
            </a:r>
          </a:p>
          <a:p xmlns:a="http://schemas.openxmlformats.org/drawingml/2006/main">
            <a:r>
              <a:rPr sz="1400"/>
              <a:t/>
            </a:r>
          </a:p>
          <a:p xmlns:a="http://schemas.openxmlformats.org/drawingml/2006/main">
            <a:r>
              <a:rPr sz="1400"/>
              <a:t>Misvatting: De oude hoeveelheid30 levert niet de nieuwe ontvangst op.</a:t>
            </a:r>
          </a:p>
          <a:p xmlns:a="http://schemas.openxmlformats.org/drawingml/2006/main">
            <a:r>
              <a:rPr sz="1400"/>
              <a:t/>
            </a:r>
          </a:p>
          <a:p xmlns:a="http://schemas.openxmlformats.org/drawingml/2006/main">
            <a:r>
              <a:rPr sz="1400"/>
              <a:t>Overgang: Lees dezelfde uitkomst in de grafiek.</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lees je de producentenontvangst af?</a:t>
            </a:r>
          </a:p>
          <a:p xmlns:a="http://schemas.openxmlformats.org/drawingml/2006/main">
            <a:r>
              <a:rPr sz="1400"/>
              <a:t/>
            </a:r>
          </a:p>
          <a:p xmlns:a="http://schemas.openxmlformats.org/drawingml/2006/main">
            <a:r>
              <a:rPr sz="1400"/>
              <a:t>Uitleg: De nieuwe hoeveelheid 20 hoort bij Pc 40 op vraag en Pp 20 op A. De horizontale verschuiving vergelijkt de kopersprijs 60: A geeft Q 60 en A+t Q 40. De verticale wig bij Q 20 is 20. A+t en maatschappelijke MK vallen samen omdat beide opslagbedragen 20 zijn.</a:t>
            </a:r>
          </a:p>
          <a:p xmlns:a="http://schemas.openxmlformats.org/drawingml/2006/main">
            <a:r>
              <a:rPr sz="1400"/>
              <a:t/>
            </a:r>
          </a:p>
          <a:p xmlns:a="http://schemas.openxmlformats.org/drawingml/2006/main">
            <a:r>
              <a:rPr sz="1400"/>
              <a:t>Misvatting: Pp is geen winst per dienst; productiekosten moeten nog betaald worden.</a:t>
            </a:r>
          </a:p>
          <a:p xmlns:a="http://schemas.openxmlformats.org/drawingml/2006/main">
            <a:r>
              <a:rPr sz="1400"/>
              <a:t/>
            </a:r>
          </a:p>
          <a:p xmlns:a="http://schemas.openxmlformats.org/drawingml/2006/main">
            <a:r>
              <a:rPr sz="1400"/>
              <a:t>Overgang: Vul de welvaartsrekening zonder heffing.</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hoogte van PS hier30?</a:t>
            </a:r>
          </a:p>
          <a:p xmlns:a="http://schemas.openxmlformats.org/drawingml/2006/main">
            <a:r>
              <a:rPr sz="1400"/>
              <a:t/>
            </a:r>
          </a:p>
          <a:p xmlns:a="http://schemas.openxmlformats.org/drawingml/2006/main">
            <a:r>
              <a:rPr sz="1400"/>
              <a:t>Uitleg: Bij Q 30 en P 30 hebben CS en PS basis 30 en hoogte 30. De oorspronkelijke aanbodlijn begint hier bij 0. Overheidsontvangst is 0 en schade 600. Het maatschappelijke surplus is 300 euro per dag. Houd de externe kosten als aparte aftrekpost zichtbaar.</a:t>
            </a:r>
          </a:p>
          <a:p xmlns:a="http://schemas.openxmlformats.org/drawingml/2006/main">
            <a:r>
              <a:rPr sz="1400"/>
              <a:t/>
            </a:r>
          </a:p>
          <a:p xmlns:a="http://schemas.openxmlformats.org/drawingml/2006/main">
            <a:r>
              <a:rPr sz="1400"/>
              <a:t>Misvatting: Het aanbodintercept is nul in deze boekopgave, niet16 zoals in het eigen voorbeeld.</a:t>
            </a:r>
          </a:p>
          <a:p xmlns:a="http://schemas.openxmlformats.org/drawingml/2006/main">
            <a:r>
              <a:rPr sz="1400"/>
              <a:t/>
            </a:r>
          </a:p>
          <a:p xmlns:a="http://schemas.openxmlformats.org/drawingml/2006/main">
            <a:r>
              <a:rPr sz="1400"/>
              <a:t>Overgang: Bereken dezelfde vier posten na ingrijpen.</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gebruik je voor de hoogte van CS, en welke voor PS?</a:t>
            </a:r>
          </a:p>
          <a:p xmlns:a="http://schemas.openxmlformats.org/drawingml/2006/main">
            <a:r>
              <a:rPr sz="1400"/>
              <a:t/>
            </a:r>
          </a:p>
          <a:p xmlns:a="http://schemas.openxmlformats.org/drawingml/2006/main">
            <a:r>
              <a:rPr sz="1400"/>
              <a:t>Uitleg: CS gebruikt Pc 40, PS gebruikt Pp 20. Beide driehoeken hebben basis 20 en hoogte 20, dus 200. Tel overheidsontvangst 400 erbij en trek resterende schade 400 af: maatschappelijk surplus 400. De toename is 100 per dag. De overheid heeft niet noodzakelijk de omwonenden betaald.</a:t>
            </a:r>
          </a:p>
          <a:p xmlns:a="http://schemas.openxmlformats.org/drawingml/2006/main">
            <a:r>
              <a:rPr sz="1400"/>
              <a:t/>
            </a:r>
          </a:p>
          <a:p xmlns:a="http://schemas.openxmlformats.org/drawingml/2006/main">
            <a:r>
              <a:rPr sz="1400"/>
              <a:t>Misvatting: Het bestaan van overheidsontvangsten maakt de resterende externe schade niet nul.</a:t>
            </a:r>
          </a:p>
          <a:p xmlns:a="http://schemas.openxmlformats.org/drawingml/2006/main">
            <a:r>
              <a:rPr sz="1400"/>
              <a:t/>
            </a:r>
          </a:p>
          <a:p xmlns:a="http://schemas.openxmlformats.org/drawingml/2006/main">
            <a:r>
              <a:rPr sz="1400"/>
              <a:t>Overgang: Controleer de verbetering met de verliesdriehoek.</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Tussen welke lijnen ligt deze verliesdriehoek?</a:t>
            </a:r>
          </a:p>
          <a:p xmlns:a="http://schemas.openxmlformats.org/drawingml/2006/main">
            <a:r>
              <a:rPr sz="1400"/>
              <a:t/>
            </a:r>
          </a:p>
          <a:p xmlns:a="http://schemas.openxmlformats.org/drawingml/2006/main">
            <a:r>
              <a:rPr sz="1400"/>
              <a:t>Uitleg: Efficiënte hoeveelheid volgt uit vraag gelijk aan maatschappelijke MK:60−Q=Q+20, dus 20. Arceer tussen vraag en maatschappelijke MK van Q 20 tot 30. Bij Q 30 is maatschappelijke MK 50 en vraag 30, hoogte 20 euro per dienst. Basis 10 diensten per dag. De oppervlakte 100 euro per dag stemt overeen met de berekende verbetering.</a:t>
            </a:r>
          </a:p>
          <a:p xmlns:a="http://schemas.openxmlformats.org/drawingml/2006/main">
            <a:r>
              <a:rPr sz="1400"/>
              <a:t/>
            </a:r>
          </a:p>
          <a:p xmlns:a="http://schemas.openxmlformats.org/drawingml/2006/main">
            <a:r>
              <a:rPr sz="1400"/>
              <a:t>Misvatting: Gebruik niet de driehoek tussen vraag en private aanbodlijn. Die zou de externe kosten negeren.</a:t>
            </a:r>
          </a:p>
          <a:p xmlns:a="http://schemas.openxmlformats.org/drawingml/2006/main">
            <a:r>
              <a:rPr sz="1400"/>
              <a:t/>
            </a:r>
          </a:p>
          <a:p xmlns:a="http://schemas.openxmlformats.org/drawingml/2006/main">
            <a:r>
              <a:rPr sz="1400"/>
              <a:t>Overgang: Beoordeel de uitspraak over CS en PS.</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ontbrekende posten maken de uitspraak onjuist?</a:t>
            </a:r>
          </a:p>
          <a:p xmlns:a="http://schemas.openxmlformats.org/drawingml/2006/main">
            <a:r>
              <a:rPr sz="1400"/>
              <a:t/>
            </a:r>
          </a:p>
          <a:p xmlns:a="http://schemas.openxmlformats.org/drawingml/2006/main">
            <a:r>
              <a:rPr sz="1400"/>
              <a:t>Uitleg: De uitspraak negeert zowel overheidsontvangsten als afgenomen externe schade. CS+PS daalt 500, de overheid krijgt 400 en de schade daalt 200. Saldo+100. Dit is geen bewijs dat ieder individu wint of iedere belasting juist is. Het tarief valt hier samen met bekende constante marginale schade; uitvoeringskosten en overige effecten ontbreken. Laat leerlingen één ontbrekende stap of uitleg in hun antwoord verbeteren.</a:t>
            </a:r>
          </a:p>
          <a:p xmlns:a="http://schemas.openxmlformats.org/drawingml/2006/main">
            <a:r>
              <a:rPr sz="1400"/>
              <a:t/>
            </a:r>
          </a:p>
          <a:p xmlns:a="http://schemas.openxmlformats.org/drawingml/2006/main">
            <a:r>
              <a:rPr sz="1400"/>
              <a:t>Misvatting: Vergelijk maatschappelijk surplus en verdeling niet alsof het dezelfde vraag is.</a:t>
            </a:r>
          </a:p>
          <a:p xmlns:a="http://schemas.openxmlformats.org/drawingml/2006/main">
            <a:r>
              <a:rPr sz="1400"/>
              <a:t/>
            </a:r>
          </a:p>
          <a:p xmlns:a="http://schemas.openxmlformats.org/drawingml/2006/main">
            <a:r>
              <a:rPr sz="1400"/>
              <a:t>Overgang: Noteer het resterende huiswerk op het overzicht.</a:t>
            </a:r>
          </a:p>
          <a:p xmlns:a="http://schemas.openxmlformats.org/drawingml/2006/main">
            <a:r>
              <a:rPr sz="1400"/>
              <a:t/>
            </a:r>
          </a:p>
          <a:p xmlns:a="http://schemas.openxmlformats.org/drawingml/2006/main">
            <a:r>
              <a:rPr sz="1400"/>
              <a:t>Bron: Boek 4, editie books34-v3, gedrukte boekpagina 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wil je met de uitleg kunnen verbeteren?</a:t>
            </a:r>
          </a:p>
          <a:p xmlns:a="http://schemas.openxmlformats.org/drawingml/2006/main">
            <a:r>
              <a:rPr sz="1400"/>
              <a:t/>
            </a:r>
          </a:p>
          <a:p xmlns:a="http://schemas.openxmlformats.org/drawingml/2006/main">
            <a:r>
              <a:rPr sz="1400"/>
              <a:t>Uitleg: Laat het overzicht staan tijdens afsluiting / huiswerk. Start 28 is herhaling van de heffingswig uit Boek 3 §3.1.1 en de ontvangsten uit §3.1.2. Laat leerlingen Pc=Pp+t en O=t×Q terughalen. Start 29 verkent het nieuwe begrip: lees eerst de definitie en de waarschuwing op p.77, wijs de derde partij aan en noteer twijfel. Verwacht nog geen zelfstandige beheersing. Keer vóór het basiswerk terug naar 29 en laat de redenering verbeteren met de inmiddels besproken begrippen. Basis 30 staat op p.83, 31 op p.84; zelfstandig 32 op p.84, 33 op p.85; doel 34 op p.86. Huiswerk 30–34 maken en nakijken. Bonus 35 en herhaling 36 blijven extra. Docenteninformatie adviseert voorlopig twee lessen van 55 minuten met flexibele grens en uitloop; ook 110 minuten is niet bewezen. Rond in de volgende les zo nodig basiswerk af vóór zelfstandig werk.</a:t>
            </a:r>
          </a:p>
          <a:p xmlns:a="http://schemas.openxmlformats.org/drawingml/2006/main">
            <a:r>
              <a:rPr sz="1400"/>
              <a:t/>
            </a:r>
          </a:p>
          <a:p xmlns:a="http://schemas.openxmlformats.org/drawingml/2006/main">
            <a:r>
              <a:rPr sz="1400"/>
              <a:t>Misvatting: De manuscript- en docenteninformatiepagina’s 25–35 zijn lokaal; gebruik in het complete boek 77–87. Start 29 is verkennen met steun.</a:t>
            </a:r>
          </a:p>
          <a:p xmlns:a="http://schemas.openxmlformats.org/drawingml/2006/main">
            <a:r>
              <a:rPr sz="1400"/>
              <a:t/>
            </a:r>
          </a:p>
          <a:p xmlns:a="http://schemas.openxmlformats.org/drawingml/2006/main">
            <a:r>
              <a:rPr sz="1400"/>
              <a:t>Overgang: Noteer het resterende werk in de agenda.</a:t>
            </a:r>
          </a:p>
          <a:p xmlns:a="http://schemas.openxmlformats.org/drawingml/2006/main">
            <a:r>
              <a:rPr sz="1400"/>
              <a:t/>
            </a:r>
          </a:p>
          <a:p xmlns:a="http://schemas.openxmlformats.org/drawingml/2006/main">
            <a:r>
              <a:rPr sz="1400"/>
              <a:t>Bron: Boek 4, editie books34-v3, gedrukte boekpagina 77, 83–86.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https://github.com/meijer1973/4veco-lessen/blob/e734532a42b27732ac25ce990fc9448b12309d28/edities/books34-v3/books/book-4/chapters/4.2/4.2.4%20manuscript.md</a:t>
            </a:r>
          </a:p>
          <a:p xmlns:a="http://schemas.openxmlformats.org/drawingml/2006/main">
            <a:r>
              <a:rPr sz="1400"/>
              <a:t>Antwoordmodel: https://github.com/meijer1973/4veco-lessen/blob/e734532a42b27732ac25ce990fc9448b12309d28/edities/books34-v3/books/book-4/chapters/4.2/Antwoorden.md#antwoord34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506a7fe2194c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c48c98cdf043b3" /><Relationship Type="http://schemas.openxmlformats.org/officeDocument/2006/relationships/slideLayout" Target="/ppt/slideLayouts/slideLayout1.xml" Id="Re01f265bd81540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1f265bd81540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156a9da1654119" /><Relationship Type="http://schemas.openxmlformats.org/officeDocument/2006/relationships/notesSlide" Target="/ppt/notesSlides/notesSlide1.xml" Id="R9dfceed107fb44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4d90614ff14c1b" /><Relationship Type="http://schemas.openxmlformats.org/officeDocument/2006/relationships/notesSlide" Target="/ppt/notesSlides/notesSlide2.xml" Id="R518ceee316a04b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bbf929c6774ffd" /><Relationship Type="http://schemas.openxmlformats.org/officeDocument/2006/relationships/notesSlide" Target="/ppt/notesSlides/notesSlide3.xml" Id="Ra9343f1b67ca46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02d9b20be64562" /><Relationship Type="http://schemas.openxmlformats.org/officeDocument/2006/relationships/chart" Target="/ppt/slides/charts/chart1.xml" Id="Rdf4545836bc940c2" /><Relationship Type="http://schemas.openxmlformats.org/officeDocument/2006/relationships/notesSlide" Target="/ppt/notesSlides/notesSlide4.xml" Id="R738bf13e30ba48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04cb1481ed4d59" /><Relationship Type="http://schemas.openxmlformats.org/officeDocument/2006/relationships/chart" Target="/ppt/slides/charts/chart2.xml" Id="R5f1da5377d8f4d58" /><Relationship Type="http://schemas.openxmlformats.org/officeDocument/2006/relationships/notesSlide" Target="/ppt/notesSlides/notesSlide5.xml" Id="R84a718e40ff74d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67e6cfb1c84f4b" /><Relationship Type="http://schemas.openxmlformats.org/officeDocument/2006/relationships/notesSlide" Target="/ppt/notesSlides/notesSlide6.xml" Id="R9d6b98ecc9994b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4619a19fda407c" /><Relationship Type="http://schemas.openxmlformats.org/officeDocument/2006/relationships/chart" Target="/ppt/slides/charts/chart3.xml" Id="Ra24f510c84134de1" /><Relationship Type="http://schemas.openxmlformats.org/officeDocument/2006/relationships/notesSlide" Target="/ppt/notesSlides/notesSlide7.xml" Id="R70670717a15047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d9927c62c74c28" /><Relationship Type="http://schemas.openxmlformats.org/officeDocument/2006/relationships/notesSlide" Target="/ppt/notesSlides/notesSlide8.xml" Id="R454aa9e527ec43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4358ac5add44ed" /><Relationship Type="http://schemas.openxmlformats.org/officeDocument/2006/relationships/notesSlide" Target="/ppt/notesSlides/notesSlide9.xml" Id="R6eccaf02989f40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5622909b164f2d" /><Relationship Type="http://schemas.openxmlformats.org/officeDocument/2006/relationships/notesSlide" Target="/ppt/notesSlides/notesSlide10.xml" Id="R93546035f84a4e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c3e246886c422e" /><Relationship Type="http://schemas.openxmlformats.org/officeDocument/2006/relationships/chart" Target="/ppt/slides/charts/chart4.xml" Id="R820cb00a3c894fca" /><Relationship Type="http://schemas.openxmlformats.org/officeDocument/2006/relationships/notesSlide" Target="/ppt/notesSlides/notesSlide11.xml" Id="R2b3eab381cc647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1fe521298c4339" /><Relationship Type="http://schemas.openxmlformats.org/officeDocument/2006/relationships/notesSlide" Target="/ppt/notesSlides/notesSlide12.xml" Id="R27ab05ad27114b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439cbcd1deb48c3" /><Relationship Type="http://schemas.openxmlformats.org/officeDocument/2006/relationships/notesSlide" Target="/ppt/notesSlides/notesSlide13.xml" Id="R20fb3631aae741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0a941e2698490b" /><Relationship Type="http://schemas.openxmlformats.org/officeDocument/2006/relationships/notesSlide" Target="/ppt/notesSlides/notesSlide14.xml" Id="R84257e8be14b46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87648ae56f44a1b" /><Relationship Type="http://schemas.openxmlformats.org/officeDocument/2006/relationships/notesSlide" Target="/ppt/notesSlides/notesSlide15.xml" Id="R6239afac5d2a45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0e02a7306448d6" /><Relationship Type="http://schemas.openxmlformats.org/officeDocument/2006/relationships/notesSlide" Target="/ppt/notesSlides/notesSlide16.xml" Id="R71b18eb75f2a4b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07a46fcc33e42bd" /><Relationship Type="http://schemas.openxmlformats.org/officeDocument/2006/relationships/chart" Target="/ppt/slides/charts/chart5.xml" Id="Rf281a9e9f475495e" /><Relationship Type="http://schemas.openxmlformats.org/officeDocument/2006/relationships/notesSlide" Target="/ppt/notesSlides/notesSlide17.xml" Id="R1efb5eb2be3b43f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17926c7e0984068" /><Relationship Type="http://schemas.openxmlformats.org/officeDocument/2006/relationships/notesSlide" Target="/ppt/notesSlides/notesSlide18.xml" Id="R0f143966ca744a3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8bf5c7276fe40f2" /><Relationship Type="http://schemas.openxmlformats.org/officeDocument/2006/relationships/notesSlide" Target="/ppt/notesSlides/notesSlide19.xml" Id="Ra1a1b23de362449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eb45cb69bb04bd6" /><Relationship Type="http://schemas.openxmlformats.org/officeDocument/2006/relationships/notesSlide" Target="/ppt/notesSlides/notesSlide20.xml" Id="R6f3708842aee43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4f219b885bf4c1f" /><Relationship Type="http://schemas.openxmlformats.org/officeDocument/2006/relationships/chart" Target="/ppt/slides/charts/chart6.xml" Id="Rf06c42270e9a463f" /><Relationship Type="http://schemas.openxmlformats.org/officeDocument/2006/relationships/notesSlide" Target="/ppt/notesSlides/notesSlide21.xml" Id="R18cead958c8c48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7b3894865f24de0" /><Relationship Type="http://schemas.openxmlformats.org/officeDocument/2006/relationships/notesSlide" Target="/ppt/notesSlides/notesSlide22.xml" Id="Rfdd54f68daf443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7326abfd2494747" /><Relationship Type="http://schemas.openxmlformats.org/officeDocument/2006/relationships/notesSlide" Target="/ppt/notesSlides/notesSlide23.xml" Id="R76826b51a7df42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4f993a9368448ad" /><Relationship Type="http://schemas.openxmlformats.org/officeDocument/2006/relationships/chart" Target="/ppt/slides/charts/chart7.xml" Id="R7c7b4bc800104f46" /><Relationship Type="http://schemas.openxmlformats.org/officeDocument/2006/relationships/notesSlide" Target="/ppt/notesSlides/notesSlide24.xml" Id="R71a7757ae682446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cfbb6001e204894" /><Relationship Type="http://schemas.openxmlformats.org/officeDocument/2006/relationships/notesSlide" Target="/ppt/notesSlides/notesSlide25.xml" Id="R1c56aafaef4f482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5b5ae1dba5441ea" /><Relationship Type="http://schemas.openxmlformats.org/officeDocument/2006/relationships/notesSlide" Target="/ppt/notesSlides/notesSlide26.xml" Id="R75c9858c91e148c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Q0-hulplijn</c:v>
          </c:tx>
          <c:spPr>
            <a:ln xmlns:a="http://schemas.openxmlformats.org/drawingml/2006/main" w="14288">
              <a:solidFill>
                <a:srgbClr val="445B6B"/>
              </a:solidFill>
              <a:prstDash val="dash"/>
            </a:ln>
          </c:spPr>
          <c:marker>
            <c:symbol val="none"/>
          </c:marker>
          <c:xVal>
            <c:numRef>
              <c:f>'Chart Data'!$A$2:$A$3</c:f>
              <c:numCache>
                <c:formatCode>General</c:formatCode>
                <c:ptCount val="2"/>
                <c:pt idx="0">
                  <c:v>32</c:v>
                </c:pt>
                <c:pt idx="1">
                  <c:v>32</c:v>
                </c:pt>
              </c:numCache>
            </c:numRef>
          </c:xVal>
          <c:yVal>
            <c:numRef>
              <c:f>'Chart Data'!$B$2:$B$3</c:f>
              <c:numCache>
                <c:formatCode>General</c:formatCode>
                <c:ptCount val="2"/>
                <c:pt idx="0">
                  <c:v>0</c:v>
                </c:pt>
                <c:pt idx="1">
                  <c:v>48</c:v>
                </c:pt>
              </c:numCache>
            </c:numRef>
          </c:yVal>
          <c:smooth val="0"/>
        </c:ser>
        <c:ser>
          <c:idx val="1"/>
          <c:order val="1"/>
          <c:tx>
            <c:v>P0-hulplijn</c:v>
          </c:tx>
          <c:spPr>
            <a:ln xmlns:a="http://schemas.openxmlformats.org/drawingml/2006/main" w="14288">
              <a:solidFill>
                <a:srgbClr val="445B6B"/>
              </a:solidFill>
              <a:prstDash val="dash"/>
            </a:ln>
          </c:spPr>
          <c:marker>
            <c:symbol val="none"/>
          </c:marker>
          <c:xVal>
            <c:numRef>
              <c:f>'Chart Data'!$C$2:$C$3</c:f>
              <c:numCache>
                <c:formatCode>General</c:formatCode>
                <c:ptCount val="2"/>
                <c:pt idx="0">
                  <c:v>0</c:v>
                </c:pt>
                <c:pt idx="1">
                  <c:v>32</c:v>
                </c:pt>
              </c:numCache>
            </c:numRef>
          </c:xVal>
          <c:yVal>
            <c:numRef>
              <c:f>'Chart Data'!$D$2:$D$3</c:f>
              <c:numCache>
                <c:formatCode>General</c:formatCode>
                <c:ptCount val="2"/>
                <c:pt idx="0">
                  <c:v>48</c:v>
                </c:pt>
                <c:pt idx="1">
                  <c:v>48</c:v>
                </c:pt>
              </c:numCache>
            </c:numRef>
          </c:yVal>
          <c:smooth val="0"/>
        </c:ser>
        <c:ser>
          <c:idx val="2"/>
          <c:order val="2"/>
          <c:tx>
            <c:v>V</c:v>
          </c:tx>
          <c:spPr>
            <a:ln xmlns:a="http://schemas.openxmlformats.org/drawingml/2006/main" w="38100">
              <a:solidFill>
                <a:srgbClr val="1A5276"/>
              </a:solidFill>
            </a:ln>
          </c:spPr>
          <c:marker>
            <c:symbol val="none"/>
          </c:marker>
          <c:xVal>
            <c:numRef>
              <c:f>'Chart Data'!$E$2:$E$3</c:f>
              <c:numCache>
                <c:formatCode>General</c:formatCode>
                <c:ptCount val="2"/>
                <c:pt idx="0">
                  <c:v>0</c:v>
                </c:pt>
                <c:pt idx="1">
                  <c:v>64</c:v>
                </c:pt>
              </c:numCache>
            </c:numRef>
          </c:xVal>
          <c:yVal>
            <c:numRef>
              <c:f>'Chart Data'!$F$2:$F$3</c:f>
              <c:numCache>
                <c:formatCode>General</c:formatCode>
                <c:ptCount val="2"/>
                <c:pt idx="0">
                  <c:v>80</c:v>
                </c:pt>
                <c:pt idx="1">
                  <c:v>16</c:v>
                </c:pt>
              </c:numCache>
            </c:numRef>
          </c:yVal>
          <c:smooth val="0"/>
        </c:ser>
        <c:ser>
          <c:idx val="3"/>
          <c:order val="3"/>
          <c:tx>
            <c:v>A</c:v>
          </c:tx>
          <c:spPr>
            <a:ln xmlns:a="http://schemas.openxmlformats.org/drawingml/2006/main" w="38100">
              <a:solidFill>
                <a:srgbClr val="1E8449"/>
              </a:solidFill>
            </a:ln>
          </c:spPr>
          <c:marker>
            <c:symbol val="none"/>
          </c:marker>
          <c:xVal>
            <c:numRef>
              <c:f>'Chart Data'!$G$2:$G$3</c:f>
              <c:numCache>
                <c:formatCode>General</c:formatCode>
                <c:ptCount val="2"/>
                <c:pt idx="0">
                  <c:v>0</c:v>
                </c:pt>
                <c:pt idx="1">
                  <c:v>64</c:v>
                </c:pt>
              </c:numCache>
            </c:numRef>
          </c:xVal>
          <c:yVal>
            <c:numRef>
              <c:f>'Chart Data'!$H$2:$H$3</c:f>
              <c:numCache>
                <c:formatCode>General</c:formatCode>
                <c:ptCount val="2"/>
                <c:pt idx="0">
                  <c:v>16</c:v>
                </c:pt>
                <c:pt idx="1">
                  <c:v>80</c:v>
                </c:pt>
              </c:numCache>
            </c:numRef>
          </c:yVal>
          <c:smooth val="0"/>
        </c:ser>
        <c:ser>
          <c:idx val="4"/>
          <c:order val="4"/>
          <c:tx>
            <c:v>label V</c:v>
          </c:tx>
          <c:spPr>
            <a:ln xmlns:a="http://schemas.openxmlformats.org/drawingml/2006/main" w="0">
              <a:solidFill>
                <a:srgbClr val="1A527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53.76</c:v>
                </c:pt>
              </c:numCache>
            </c:numRef>
          </c:xVal>
          <c:yVal>
            <c:numRef>
              <c:f>'Chart Data'!$J$2:$J$2</c:f>
              <c:numCache>
                <c:formatCode>General</c:formatCode>
                <c:ptCount val="1"/>
                <c:pt idx="0">
                  <c:v>21.24</c:v>
                </c:pt>
              </c:numCache>
            </c:numRef>
          </c:yVal>
          <c:smooth val="0"/>
        </c:ser>
        <c:ser>
          <c:idx val="5"/>
          <c:order val="5"/>
          <c:tx>
            <c:v>label A</c:v>
          </c:tx>
          <c:spPr>
            <a:ln xmlns:a="http://schemas.openxmlformats.org/drawingml/2006/main" w="0">
              <a:solidFill>
                <a:srgbClr val="1E8449"/>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E8449"/>
                        </a:solidFill>
                        <a:latin typeface="Arial"/>
                        <a:ea typeface="Arial"/>
                        <a:cs typeface="Arial"/>
                      </a:rPr>
                      <a:t>A = MK privé</a:t>
                    </a:r>
                  </a:p>
                </c:rich>
              </c:tx>
              <c:txPr>
                <a:bodyPr xmlns:a="http://schemas.openxmlformats.org/drawingml/2006/main" anchorCtr="1"/>
                <a:lstStyle xmlns:a="http://schemas.openxmlformats.org/drawingml/2006/main"/>
                <a:p xmlns:a="http://schemas.openxmlformats.org/drawingml/2006/main">
                  <a:pPr>
                    <a:defRPr sz="1875" b="1">
                      <a:solidFill>
                        <a:srgbClr val="1E8449"/>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51.84</c:v>
                </c:pt>
              </c:numCache>
            </c:numRef>
          </c:xVal>
          <c:yVal>
            <c:numRef>
              <c:f>'Chart Data'!$L$2:$L$2</c:f>
              <c:numCache>
                <c:formatCode>General</c:formatCode>
                <c:ptCount val="1"/>
                <c:pt idx="0">
                  <c:v>59.84</c:v>
                </c:pt>
              </c:numCache>
            </c:numRef>
          </c:yVal>
          <c:smooth val="0"/>
        </c:ser>
        <c:ser>
          <c:idx val="6"/>
          <c:order val="6"/>
          <c:tx>
            <c:v>E0</c:v>
          </c:tx>
          <c:spPr>
            <a:ln xmlns:a="http://schemas.openxmlformats.org/drawingml/2006/main" w="0">
              <a:solidFill>
                <a:srgbClr val="183247"/>
              </a:solidFill>
            </a:ln>
          </c:spPr>
          <c:marker>
            <c:symbol val="circle"/>
            <c:size val="8"/>
            <c:spPr>
              <a:solidFill xmlns:a="http://schemas.openxmlformats.org/drawingml/2006/main">
                <a:srgbClr val="183247"/>
              </a:solidFill>
            </c:spPr>
          </c:marker>
          <c:xVal>
            <c:numRef>
              <c:f>'Chart Data'!$M$2:$M$2</c:f>
              <c:numCache>
                <c:formatCode>General</c:formatCode>
                <c:ptCount val="1"/>
                <c:pt idx="0">
                  <c:v>32</c:v>
                </c:pt>
              </c:numCache>
            </c:numRef>
          </c:xVal>
          <c:yVal>
            <c:numRef>
              <c:f>'Chart Data'!$N$2:$N$2</c:f>
              <c:numCache>
                <c:formatCode>General</c:formatCode>
                <c:ptCount val="1"/>
                <c:pt idx="0">
                  <c:v>48</c:v>
                </c:pt>
              </c:numCache>
            </c:numRef>
          </c:yVal>
          <c:smooth val="0"/>
        </c:ser>
        <c:ser>
          <c:idx val="7"/>
          <c:order val="7"/>
          <c:tx>
            <c:v>label E0</c:v>
          </c:tx>
          <c:spPr>
            <a:ln xmlns:a="http://schemas.openxmlformats.org/drawingml/2006/main" w="0">
              <a:solidFill>
                <a:srgbClr val="183247"/>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34.7</c:v>
                </c:pt>
              </c:numCache>
            </c:numRef>
          </c:xVal>
          <c:yVal>
            <c:numRef>
              <c:f>'Chart Data'!$P$2:$P$2</c:f>
              <c:numCache>
                <c:formatCode>General</c:formatCode>
                <c:ptCount val="1"/>
                <c:pt idx="0">
                  <c:v>40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9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en MK (€ per coatingbeurt)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6"/>
      </c:valAx>
      <c:valAx>
        <c:axId val="48650112"/>
        <c:scaling>
          <c:orientation val="minMax"/>
          <c:max val="64"/>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(coatingbeurten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xVal>
            <c:numRef>
              <c:f>'Chart Data'!$A$2:$A$3</c:f>
              <c:numCache>
                <c:formatCode>General</c:formatCode>
                <c:ptCount val="2"/>
                <c:pt idx="0">
                  <c:v>0</c:v>
                </c:pt>
                <c:pt idx="1">
                  <c:v>64</c:v>
                </c:pt>
              </c:numCache>
            </c:numRef>
          </c:xVal>
          <c:yVal>
            <c:numRef>
              <c:f>'Chart Data'!$B$2:$B$3</c:f>
              <c:numCache>
                <c:formatCode>General</c:formatCode>
                <c:ptCount val="2"/>
                <c:pt idx="0">
                  <c:v>80</c:v>
                </c:pt>
                <c:pt idx="1">
                  <c:v>16</c:v>
                </c:pt>
              </c:numCache>
            </c:numRef>
          </c:yVal>
          <c:smooth val="0"/>
        </c:ser>
        <c:ser>
          <c:idx val="1"/>
          <c:order val="1"/>
          <c:tx>
            <c:v>A</c:v>
          </c:tx>
          <c:spPr>
            <a:ln xmlns:a="http://schemas.openxmlformats.org/drawingml/2006/main" w="38100">
              <a:solidFill>
                <a:srgbClr val="1E8449"/>
              </a:solidFill>
            </a:ln>
          </c:spPr>
          <c:marker>
            <c:symbol val="none"/>
          </c:marker>
          <c:xVal>
            <c:numRef>
              <c:f>'Chart Data'!$C$2:$C$3</c:f>
              <c:numCache>
                <c:formatCode>General</c:formatCode>
                <c:ptCount val="2"/>
                <c:pt idx="0">
                  <c:v>0</c:v>
                </c:pt>
                <c:pt idx="1">
                  <c:v>64</c:v>
                </c:pt>
              </c:numCache>
            </c:numRef>
          </c:xVal>
          <c:yVal>
            <c:numRef>
              <c:f>'Chart Data'!$D$2:$D$3</c:f>
              <c:numCache>
                <c:formatCode>General</c:formatCode>
                <c:ptCount val="2"/>
                <c:pt idx="0">
                  <c:v>16</c:v>
                </c:pt>
                <c:pt idx="1">
                  <c:v>80</c:v>
                </c:pt>
              </c:numCache>
            </c:numRef>
          </c:yVal>
          <c:smooth val="0"/>
        </c:ser>
        <c:ser>
          <c:idx val="2"/>
          <c:order val="2"/>
          <c:tx>
            <c:v>M</c:v>
          </c:tx>
          <c:spPr>
            <a:ln xmlns:a="http://schemas.openxmlformats.org/drawingml/2006/main" w="38100">
              <a:solidFill>
                <a:srgbClr val="A94D16"/>
              </a:solidFill>
            </a:ln>
          </c:spPr>
          <c:marker>
            <c:symbol val="none"/>
          </c:marker>
          <c:xVal>
            <c:numRef>
              <c:f>'Chart Data'!$E$2:$E$3</c:f>
              <c:numCache>
                <c:formatCode>General</c:formatCode>
                <c:ptCount val="2"/>
                <c:pt idx="0">
                  <c:v>0</c:v>
                </c:pt>
                <c:pt idx="1">
                  <c:v>64</c:v>
                </c:pt>
              </c:numCache>
            </c:numRef>
          </c:xVal>
          <c:yVal>
            <c:numRef>
              <c:f>'Chart Data'!$F$2:$F$3</c:f>
              <c:numCache>
                <c:formatCode>General</c:formatCode>
                <c:ptCount val="2"/>
                <c:pt idx="0">
                  <c:v>32</c:v>
                </c:pt>
                <c:pt idx="1">
                  <c:v>96</c:v>
                </c:pt>
              </c:numCache>
            </c:numRef>
          </c:yVal>
          <c:smooth val="0"/>
        </c:ser>
        <c:ser>
          <c:idx val="3"/>
          <c:order val="3"/>
          <c:tx>
            <c:v>label V</c:v>
          </c:tx>
          <c:spPr>
            <a:ln xmlns:a="http://schemas.openxmlformats.org/drawingml/2006/main" w="0">
              <a:solidFill>
                <a:srgbClr val="1A527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53.76</c:v>
                </c:pt>
              </c:numCache>
            </c:numRef>
          </c:xVal>
          <c:yVal>
            <c:numRef>
              <c:f>'Chart Data'!$H$2:$H$2</c:f>
              <c:numCache>
                <c:formatCode>General</c:formatCode>
                <c:ptCount val="1"/>
                <c:pt idx="0">
                  <c:v>21.24</c:v>
                </c:pt>
              </c:numCache>
            </c:numRef>
          </c:yVal>
          <c:smooth val="0"/>
        </c:ser>
        <c:ser>
          <c:idx val="4"/>
          <c:order val="4"/>
          <c:tx>
            <c:v>label A</c:v>
          </c:tx>
          <c:spPr>
            <a:ln xmlns:a="http://schemas.openxmlformats.org/drawingml/2006/main" w="0">
              <a:solidFill>
                <a:srgbClr val="1E8449"/>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E8449"/>
                        </a:solidFill>
                        <a:latin typeface="Arial"/>
                        <a:ea typeface="Arial"/>
                        <a:cs typeface="Arial"/>
                      </a:rPr>
                      <a:t>A = MK privé</a:t>
                    </a:r>
                  </a:p>
                </c:rich>
              </c:tx>
              <c:txPr>
                <a:bodyPr xmlns:a="http://schemas.openxmlformats.org/drawingml/2006/main" anchorCtr="1"/>
                <a:lstStyle xmlns:a="http://schemas.openxmlformats.org/drawingml/2006/main"/>
                <a:p xmlns:a="http://schemas.openxmlformats.org/drawingml/2006/main">
                  <a:pPr>
                    <a:defRPr sz="1875" b="1">
                      <a:solidFill>
                        <a:srgbClr val="1E8449"/>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51.84</c:v>
                </c:pt>
              </c:numCache>
            </c:numRef>
          </c:xVal>
          <c:yVal>
            <c:numRef>
              <c:f>'Chart Data'!$J$2:$J$2</c:f>
              <c:numCache>
                <c:formatCode>General</c:formatCode>
                <c:ptCount val="1"/>
                <c:pt idx="0">
                  <c:v>59.84</c:v>
                </c:pt>
              </c:numCache>
            </c:numRef>
          </c:yVal>
          <c:smooth val="0"/>
        </c:ser>
        <c:ser>
          <c:idx val="5"/>
          <c:order val="5"/>
          <c:tx>
            <c:v>label M</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 maatschappelijk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41.6</c:v>
                </c:pt>
              </c:numCache>
            </c:numRef>
          </c:xVal>
          <c:yVal>
            <c:numRef>
              <c:f>'Chart Data'!$L$2:$L$2</c:f>
              <c:numCache>
                <c:formatCode>General</c:formatCode>
                <c:ptCount val="1"/>
                <c:pt idx="0">
                  <c:v>85.6</c:v>
                </c:pt>
              </c:numCache>
            </c:numRef>
          </c:yVal>
          <c:smooth val="0"/>
        </c:ser>
        <c:ser>
          <c:idx val="6"/>
          <c:order val="6"/>
          <c:tx>
            <c:v>externe kosten per extra eenheid</c:v>
          </c:tx>
          <c:spPr>
            <a:ln xmlns:a="http://schemas.openxmlformats.org/drawingml/2006/main" w="47625">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€ 16</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l"/>
              <c:showLegendKey val="0"/>
              <c:showVal val="0"/>
              <c:showCatName val="0"/>
              <c:showSerName val="0"/>
              <c:showPercent val="0"/>
              <c:showBubbleSize val="0"/>
            </c:dLbl>
            <c:showLegendKey val="0"/>
            <c:showVal val="0"/>
            <c:showCatName val="0"/>
            <c:showSerName val="0"/>
            <c:showPercent val="0"/>
            <c:showBubbleSize val="0"/>
          </c:dLbls>
          <c:xVal>
            <c:numRef>
              <c:f>'Chart Data'!$M$2:$M$4</c:f>
              <c:numCache>
                <c:formatCode>General</c:formatCode>
                <c:ptCount val="3"/>
                <c:pt idx="0">
                  <c:v>16</c:v>
                </c:pt>
                <c:pt idx="1">
                  <c:v>16</c:v>
                </c:pt>
                <c:pt idx="2">
                  <c:v>16</c:v>
                </c:pt>
              </c:numCache>
            </c:numRef>
          </c:xVal>
          <c:yVal>
            <c:numRef>
              <c:f>'Chart Data'!$N$2:$N$4</c:f>
              <c:numCache>
                <c:formatCode>General</c:formatCode>
                <c:ptCount val="3"/>
                <c:pt idx="0">
                  <c:v>32</c:v>
                </c:pt>
                <c:pt idx="1">
                  <c:v>40</c:v>
                </c:pt>
                <c:pt idx="2">
                  <c:v>48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9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en MK (€ per coatingbeurt)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6"/>
      </c:valAx>
      <c:valAx>
        <c:axId val="48650112"/>
        <c:scaling>
          <c:orientation val="minMax"/>
          <c:max val="64"/>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(coatingbeurten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arcering</c:v>
          </c:tx>
          <c:spPr>
            <a:ln xmlns:a="http://schemas.openxmlformats.org/drawingml/2006/main" w="19050">
              <a:solidFill>
                <a:srgbClr val="B4473C"/>
              </a:solidFill>
            </a:ln>
          </c:spPr>
          <c:marker>
            <c:symbol val="none"/>
          </c:marker>
          <c:xVal>
            <c:numRef>
              <c:f>'Chart Data'!$A$2:$A$3</c:f>
              <c:numCache>
                <c:formatCode>General</c:formatCode>
                <c:ptCount val="2"/>
                <c:pt idx="0">
                  <c:v>24.5</c:v>
                </c:pt>
                <c:pt idx="1">
                  <c:v>24.5</c:v>
                </c:pt>
              </c:numCache>
            </c:numRef>
          </c:xVal>
          <c:yVal>
            <c:numRef>
              <c:f>'Chart Data'!$B$2:$B$3</c:f>
              <c:numCache>
                <c:formatCode>General</c:formatCode>
                <c:ptCount val="2"/>
                <c:pt idx="0">
                  <c:v>55.5</c:v>
                </c:pt>
                <c:pt idx="1">
                  <c:v>56.5</c:v>
                </c:pt>
              </c:numCache>
            </c:numRef>
          </c:yVal>
          <c:smooth val="0"/>
        </c:ser>
        <c:ser>
          <c:idx val="1"/>
          <c:order val="1"/>
          <c:tx>
            <c:v>arcering</c:v>
          </c:tx>
          <c:spPr>
            <a:ln xmlns:a="http://schemas.openxmlformats.org/drawingml/2006/main" w="19050">
              <a:solidFill>
                <a:srgbClr val="B4473C"/>
              </a:solidFill>
            </a:ln>
          </c:spPr>
          <c:marker>
            <c:symbol val="none"/>
          </c:marker>
          <c:xVal>
            <c:numRef>
              <c:f>'Chart Data'!$C$2:$C$3</c:f>
              <c:numCache>
                <c:formatCode>General</c:formatCode>
                <c:ptCount val="2"/>
                <c:pt idx="0">
                  <c:v>25.2</c:v>
                </c:pt>
                <c:pt idx="1">
                  <c:v>25.2</c:v>
                </c:pt>
              </c:numCache>
            </c:numRef>
          </c:xVal>
          <c:yVal>
            <c:numRef>
              <c:f>'Chart Data'!$D$2:$D$3</c:f>
              <c:numCache>
                <c:formatCode>General</c:formatCode>
                <c:ptCount val="2"/>
                <c:pt idx="0">
                  <c:v>54.8</c:v>
                </c:pt>
                <c:pt idx="1">
                  <c:v>57.2</c:v>
                </c:pt>
              </c:numCache>
            </c:numRef>
          </c:yVal>
          <c:smooth val="0"/>
        </c:ser>
        <c:ser>
          <c:idx val="2"/>
          <c:order val="2"/>
          <c:tx>
            <c:v>arcering</c:v>
          </c:tx>
          <c:spPr>
            <a:ln xmlns:a="http://schemas.openxmlformats.org/drawingml/2006/main" w="19050">
              <a:solidFill>
                <a:srgbClr val="B4473C"/>
              </a:solidFill>
            </a:ln>
          </c:spPr>
          <c:marker>
            <c:symbol val="none"/>
          </c:marker>
          <c:xVal>
            <c:numRef>
              <c:f>'Chart Data'!$E$2:$E$3</c:f>
              <c:numCache>
                <c:formatCode>General</c:formatCode>
                <c:ptCount val="2"/>
                <c:pt idx="0">
                  <c:v>25.9</c:v>
                </c:pt>
                <c:pt idx="1">
                  <c:v>25.9</c:v>
                </c:pt>
              </c:numCache>
            </c:numRef>
          </c:xVal>
          <c:yVal>
            <c:numRef>
              <c:f>'Chart Data'!$F$2:$F$3</c:f>
              <c:numCache>
                <c:formatCode>General</c:formatCode>
                <c:ptCount val="2"/>
                <c:pt idx="0">
                  <c:v>54.1</c:v>
                </c:pt>
                <c:pt idx="1">
                  <c:v>57.9</c:v>
                </c:pt>
              </c:numCache>
            </c:numRef>
          </c:yVal>
          <c:smooth val="0"/>
        </c:ser>
        <c:ser>
          <c:idx val="3"/>
          <c:order val="3"/>
          <c:tx>
            <c:v>arcering</c:v>
          </c:tx>
          <c:spPr>
            <a:ln xmlns:a="http://schemas.openxmlformats.org/drawingml/2006/main" w="19050">
              <a:solidFill>
                <a:srgbClr val="B4473C"/>
              </a:solidFill>
            </a:ln>
          </c:spPr>
          <c:marker>
            <c:symbol val="none"/>
          </c:marker>
          <c:xVal>
            <c:numRef>
              <c:f>'Chart Data'!$G$2:$G$3</c:f>
              <c:numCache>
                <c:formatCode>General</c:formatCode>
                <c:ptCount val="2"/>
                <c:pt idx="0">
                  <c:v>26.6</c:v>
                </c:pt>
                <c:pt idx="1">
                  <c:v>26.6</c:v>
                </c:pt>
              </c:numCache>
            </c:numRef>
          </c:xVal>
          <c:yVal>
            <c:numRef>
              <c:f>'Chart Data'!$H$2:$H$3</c:f>
              <c:numCache>
                <c:formatCode>General</c:formatCode>
                <c:ptCount val="2"/>
                <c:pt idx="0">
                  <c:v>53.4</c:v>
                </c:pt>
                <c:pt idx="1">
                  <c:v>58.6</c:v>
                </c:pt>
              </c:numCache>
            </c:numRef>
          </c:yVal>
          <c:smooth val="0"/>
        </c:ser>
        <c:ser>
          <c:idx val="4"/>
          <c:order val="4"/>
          <c:tx>
            <c:v>arcering</c:v>
          </c:tx>
          <c:spPr>
            <a:ln xmlns:a="http://schemas.openxmlformats.org/drawingml/2006/main" w="19050">
              <a:solidFill>
                <a:srgbClr val="B4473C"/>
              </a:solidFill>
            </a:ln>
          </c:spPr>
          <c:marker>
            <c:symbol val="none"/>
          </c:marker>
          <c:xVal>
            <c:numRef>
              <c:f>'Chart Data'!$I$2:$I$3</c:f>
              <c:numCache>
                <c:formatCode>General</c:formatCode>
                <c:ptCount val="2"/>
                <c:pt idx="0">
                  <c:v>27.3</c:v>
                </c:pt>
                <c:pt idx="1">
                  <c:v>27.3</c:v>
                </c:pt>
              </c:numCache>
            </c:numRef>
          </c:xVal>
          <c:yVal>
            <c:numRef>
              <c:f>'Chart Data'!$J$2:$J$3</c:f>
              <c:numCache>
                <c:formatCode>General</c:formatCode>
                <c:ptCount val="2"/>
                <c:pt idx="0">
                  <c:v>52.7</c:v>
                </c:pt>
                <c:pt idx="1">
                  <c:v>59.3</c:v>
                </c:pt>
              </c:numCache>
            </c:numRef>
          </c:yVal>
          <c:smooth val="0"/>
        </c:ser>
        <c:ser>
          <c:idx val="5"/>
          <c:order val="5"/>
          <c:tx>
            <c:v>arcering</c:v>
          </c:tx>
          <c:spPr>
            <a:ln xmlns:a="http://schemas.openxmlformats.org/drawingml/2006/main" w="19050">
              <a:solidFill>
                <a:srgbClr val="B4473C"/>
              </a:solidFill>
            </a:ln>
          </c:spPr>
          <c:marker>
            <c:symbol val="none"/>
          </c:marker>
          <c:xVal>
            <c:numRef>
              <c:f>'Chart Data'!$K$2:$K$3</c:f>
              <c:numCache>
                <c:formatCode>General</c:formatCode>
                <c:ptCount val="2"/>
                <c:pt idx="0">
                  <c:v>28</c:v>
                </c:pt>
                <c:pt idx="1">
                  <c:v>28</c:v>
                </c:pt>
              </c:numCache>
            </c:numRef>
          </c:xVal>
          <c:yVal>
            <c:numRef>
              <c:f>'Chart Data'!$L$2:$L$3</c:f>
              <c:numCache>
                <c:formatCode>General</c:formatCode>
                <c:ptCount val="2"/>
                <c:pt idx="0">
                  <c:v>52</c:v>
                </c:pt>
                <c:pt idx="1">
                  <c:v>60</c:v>
                </c:pt>
              </c:numCache>
            </c:numRef>
          </c:yVal>
          <c:smooth val="0"/>
        </c:ser>
        <c:ser>
          <c:idx val="6"/>
          <c:order val="6"/>
          <c:tx>
            <c:v>arcering</c:v>
          </c:tx>
          <c:spPr>
            <a:ln xmlns:a="http://schemas.openxmlformats.org/drawingml/2006/main" w="19050">
              <a:solidFill>
                <a:srgbClr val="B4473C"/>
              </a:solidFill>
            </a:ln>
          </c:spPr>
          <c:marker>
            <c:symbol val="none"/>
          </c:marker>
          <c:xVal>
            <c:numRef>
              <c:f>'Chart Data'!$M$2:$M$3</c:f>
              <c:numCache>
                <c:formatCode>General</c:formatCode>
                <c:ptCount val="2"/>
                <c:pt idx="0">
                  <c:v>28.7</c:v>
                </c:pt>
                <c:pt idx="1">
                  <c:v>28.7</c:v>
                </c:pt>
              </c:numCache>
            </c:numRef>
          </c:xVal>
          <c:yVal>
            <c:numRef>
              <c:f>'Chart Data'!$N$2:$N$3</c:f>
              <c:numCache>
                <c:formatCode>General</c:formatCode>
                <c:ptCount val="2"/>
                <c:pt idx="0">
                  <c:v>51.3</c:v>
                </c:pt>
                <c:pt idx="1">
                  <c:v>60.7</c:v>
                </c:pt>
              </c:numCache>
            </c:numRef>
          </c:yVal>
          <c:smooth val="0"/>
        </c:ser>
        <c:ser>
          <c:idx val="7"/>
          <c:order val="7"/>
          <c:tx>
            <c:v>arcering</c:v>
          </c:tx>
          <c:spPr>
            <a:ln xmlns:a="http://schemas.openxmlformats.org/drawingml/2006/main" w="19050">
              <a:solidFill>
                <a:srgbClr val="B4473C"/>
              </a:solidFill>
            </a:ln>
          </c:spPr>
          <c:marker>
            <c:symbol val="none"/>
          </c:marker>
          <c:xVal>
            <c:numRef>
              <c:f>'Chart Data'!$O$2:$O$3</c:f>
              <c:numCache>
                <c:formatCode>General</c:formatCode>
                <c:ptCount val="2"/>
                <c:pt idx="0">
                  <c:v>29.4</c:v>
                </c:pt>
                <c:pt idx="1">
                  <c:v>29.4</c:v>
                </c:pt>
              </c:numCache>
            </c:numRef>
          </c:xVal>
          <c:yVal>
            <c:numRef>
              <c:f>'Chart Data'!$P$2:$P$3</c:f>
              <c:numCache>
                <c:formatCode>General</c:formatCode>
                <c:ptCount val="2"/>
                <c:pt idx="0">
                  <c:v>50.6</c:v>
                </c:pt>
                <c:pt idx="1">
                  <c:v>61.4</c:v>
                </c:pt>
              </c:numCache>
            </c:numRef>
          </c:yVal>
          <c:smooth val="0"/>
        </c:ser>
        <c:ser>
          <c:idx val="8"/>
          <c:order val="8"/>
          <c:tx>
            <c:v>arcering</c:v>
          </c:tx>
          <c:spPr>
            <a:ln xmlns:a="http://schemas.openxmlformats.org/drawingml/2006/main" w="19050">
              <a:solidFill>
                <a:srgbClr val="B4473C"/>
              </a:solidFill>
            </a:ln>
          </c:spPr>
          <c:marker>
            <c:symbol val="none"/>
          </c:marker>
          <c:xVal>
            <c:numRef>
              <c:f>'Chart Data'!$Q$2:$Q$3</c:f>
              <c:numCache>
                <c:formatCode>General</c:formatCode>
                <c:ptCount val="2"/>
                <c:pt idx="0">
                  <c:v>30.1</c:v>
                </c:pt>
                <c:pt idx="1">
                  <c:v>30.1</c:v>
                </c:pt>
              </c:numCache>
            </c:numRef>
          </c:xVal>
          <c:yVal>
            <c:numRef>
              <c:f>'Chart Data'!$R$2:$R$3</c:f>
              <c:numCache>
                <c:formatCode>General</c:formatCode>
                <c:ptCount val="2"/>
                <c:pt idx="0">
                  <c:v>49.9</c:v>
                </c:pt>
                <c:pt idx="1">
                  <c:v>62.1</c:v>
                </c:pt>
              </c:numCache>
            </c:numRef>
          </c:yVal>
          <c:smooth val="0"/>
        </c:ser>
        <c:ser>
          <c:idx val="9"/>
          <c:order val="9"/>
          <c:tx>
            <c:v>arcering</c:v>
          </c:tx>
          <c:spPr>
            <a:ln xmlns:a="http://schemas.openxmlformats.org/drawingml/2006/main" w="19050">
              <a:solidFill>
                <a:srgbClr val="B4473C"/>
              </a:solidFill>
            </a:ln>
          </c:spPr>
          <c:marker>
            <c:symbol val="none"/>
          </c:marker>
          <c:xVal>
            <c:numRef>
              <c:f>'Chart Data'!$S$2:$S$3</c:f>
              <c:numCache>
                <c:formatCode>General</c:formatCode>
                <c:ptCount val="2"/>
                <c:pt idx="0">
                  <c:v>30.8</c:v>
                </c:pt>
                <c:pt idx="1">
                  <c:v>30.8</c:v>
                </c:pt>
              </c:numCache>
            </c:numRef>
          </c:xVal>
          <c:yVal>
            <c:numRef>
              <c:f>'Chart Data'!$T$2:$T$3</c:f>
              <c:numCache>
                <c:formatCode>General</c:formatCode>
                <c:ptCount val="2"/>
                <c:pt idx="0">
                  <c:v>49.2</c:v>
                </c:pt>
                <c:pt idx="1">
                  <c:v>62.8</c:v>
                </c:pt>
              </c:numCache>
            </c:numRef>
          </c:yVal>
          <c:smooth val="0"/>
        </c:ser>
        <c:ser>
          <c:idx val="10"/>
          <c:order val="10"/>
          <c:tx>
            <c:v>arcering</c:v>
          </c:tx>
          <c:spPr>
            <a:ln xmlns:a="http://schemas.openxmlformats.org/drawingml/2006/main" w="19050">
              <a:solidFill>
                <a:srgbClr val="B4473C"/>
              </a:solidFill>
            </a:ln>
          </c:spPr>
          <c:marker>
            <c:symbol val="none"/>
          </c:marker>
          <c:xVal>
            <c:numRef>
              <c:f>'Chart Data'!$U$2:$U$3</c:f>
              <c:numCache>
                <c:formatCode>General</c:formatCode>
                <c:ptCount val="2"/>
                <c:pt idx="0">
                  <c:v>31.5</c:v>
                </c:pt>
                <c:pt idx="1">
                  <c:v>31.5</c:v>
                </c:pt>
              </c:numCache>
            </c:numRef>
          </c:xVal>
          <c:yVal>
            <c:numRef>
              <c:f>'Chart Data'!$V$2:$V$3</c:f>
              <c:numCache>
                <c:formatCode>General</c:formatCode>
                <c:ptCount val="2"/>
                <c:pt idx="0">
                  <c:v>48.5</c:v>
                </c:pt>
                <c:pt idx="1">
                  <c:v>63.5</c:v>
                </c:pt>
              </c:numCache>
            </c:numRef>
          </c:yVal>
          <c:smooth val="0"/>
        </c:ser>
        <c:ser>
          <c:idx val="11"/>
          <c:order val="11"/>
          <c:tx>
            <c:v>verliesgrens</c:v>
          </c:tx>
          <c:spPr>
            <a:ln xmlns:a="http://schemas.openxmlformats.org/drawingml/2006/main" w="28575">
              <a:solidFill>
                <a:srgbClr val="B4473C"/>
              </a:solidFill>
            </a:ln>
          </c:spPr>
          <c:marker>
            <c:symbol val="none"/>
          </c:marker>
          <c:xVal>
            <c:numRef>
              <c:f>'Chart Data'!$W$2:$W$5</c:f>
              <c:numCache>
                <c:formatCode>General</c:formatCode>
                <c:ptCount val="4"/>
                <c:pt idx="0">
                  <c:v>24</c:v>
                </c:pt>
                <c:pt idx="1">
                  <c:v>32</c:v>
                </c:pt>
                <c:pt idx="2">
                  <c:v>32</c:v>
                </c:pt>
                <c:pt idx="3">
                  <c:v>24</c:v>
                </c:pt>
              </c:numCache>
            </c:numRef>
          </c:xVal>
          <c:yVal>
            <c:numRef>
              <c:f>'Chart Data'!$X$2:$X$5</c:f>
              <c:numCache>
                <c:formatCode>General</c:formatCode>
                <c:ptCount val="4"/>
                <c:pt idx="0">
                  <c:v>56</c:v>
                </c:pt>
                <c:pt idx="1">
                  <c:v>48</c:v>
                </c:pt>
                <c:pt idx="2">
                  <c:v>64</c:v>
                </c:pt>
                <c:pt idx="3">
                  <c:v>56</c:v>
                </c:pt>
              </c:numCache>
            </c:numRef>
          </c:yVal>
          <c:smooth val="0"/>
        </c:ser>
        <c:ser>
          <c:idx val="12"/>
          <c:order val="12"/>
          <c:tx>
            <c:v>Q0-hulplijn</c:v>
          </c:tx>
          <c:spPr>
            <a:ln xmlns:a="http://schemas.openxmlformats.org/drawingml/2006/main" w="14288">
              <a:solidFill>
                <a:srgbClr val="445B6B"/>
              </a:solidFill>
              <a:prstDash val="dash"/>
            </a:ln>
          </c:spPr>
          <c:marker>
            <c:symbol val="none"/>
          </c:marker>
          <c:xVal>
            <c:numRef>
              <c:f>'Chart Data'!$Y$2:$Y$3</c:f>
              <c:numCache>
                <c:formatCode>General</c:formatCode>
                <c:ptCount val="2"/>
                <c:pt idx="0">
                  <c:v>32</c:v>
                </c:pt>
                <c:pt idx="1">
                  <c:v>32</c:v>
                </c:pt>
              </c:numCache>
            </c:numRef>
          </c:xVal>
          <c:yVal>
            <c:numRef>
              <c:f>'Chart Data'!$Z$2:$Z$3</c:f>
              <c:numCache>
                <c:formatCode>General</c:formatCode>
                <c:ptCount val="2"/>
                <c:pt idx="0">
                  <c:v>0</c:v>
                </c:pt>
                <c:pt idx="1">
                  <c:v>48</c:v>
                </c:pt>
              </c:numCache>
            </c:numRef>
          </c:yVal>
          <c:smooth val="0"/>
        </c:ser>
        <c:ser>
          <c:idx val="13"/>
          <c:order val="13"/>
          <c:tx>
            <c:v>P0-hulplijn</c:v>
          </c:tx>
          <c:spPr>
            <a:ln xmlns:a="http://schemas.openxmlformats.org/drawingml/2006/main" w="14288">
              <a:solidFill>
                <a:srgbClr val="445B6B"/>
              </a:solidFill>
              <a:prstDash val="dash"/>
            </a:ln>
          </c:spPr>
          <c:marker>
            <c:symbol val="none"/>
          </c:marker>
          <c:xVal>
            <c:numRef>
              <c:f>'Chart Data'!$AA$2:$AA$3</c:f>
              <c:numCache>
                <c:formatCode>General</c:formatCode>
                <c:ptCount val="2"/>
                <c:pt idx="0">
                  <c:v>0</c:v>
                </c:pt>
                <c:pt idx="1">
                  <c:v>32</c:v>
                </c:pt>
              </c:numCache>
            </c:numRef>
          </c:xVal>
          <c:yVal>
            <c:numRef>
              <c:f>'Chart Data'!$AB$2:$AB$3</c:f>
              <c:numCache>
                <c:formatCode>General</c:formatCode>
                <c:ptCount val="2"/>
                <c:pt idx="0">
                  <c:v>48</c:v>
                </c:pt>
                <c:pt idx="1">
                  <c:v>48</c:v>
                </c:pt>
              </c:numCache>
            </c:numRef>
          </c:yVal>
          <c:smooth val="0"/>
        </c:ser>
        <c:ser>
          <c:idx val="14"/>
          <c:order val="14"/>
          <c:tx>
            <c:v>Qe-hulplijn</c:v>
          </c:tx>
          <c:spPr>
            <a:ln xmlns:a="http://schemas.openxmlformats.org/drawingml/2006/main" w="14288">
              <a:solidFill>
                <a:srgbClr val="445B6B"/>
              </a:solidFill>
              <a:prstDash val="dash"/>
            </a:ln>
          </c:spPr>
          <c:marker>
            <c:symbol val="none"/>
          </c:marker>
          <c:xVal>
            <c:numRef>
              <c:f>'Chart Data'!$AC$2:$AC$3</c:f>
              <c:numCache>
                <c:formatCode>General</c:formatCode>
                <c:ptCount val="2"/>
                <c:pt idx="0">
                  <c:v>24</c:v>
                </c:pt>
                <c:pt idx="1">
                  <c:v>24</c:v>
                </c:pt>
              </c:numCache>
            </c:numRef>
          </c:xVal>
          <c:yVal>
            <c:numRef>
              <c:f>'Chart Data'!$AD$2:$AD$3</c:f>
              <c:numCache>
                <c:formatCode>General</c:formatCode>
                <c:ptCount val="2"/>
                <c:pt idx="0">
                  <c:v>0</c:v>
                </c:pt>
                <c:pt idx="1">
                  <c:v>56</c:v>
                </c:pt>
              </c:numCache>
            </c:numRef>
          </c:yVal>
          <c:smooth val="0"/>
        </c:ser>
        <c:ser>
          <c:idx val="15"/>
          <c:order val="15"/>
          <c:tx>
            <c:v>V</c:v>
          </c:tx>
          <c:spPr>
            <a:ln xmlns:a="http://schemas.openxmlformats.org/drawingml/2006/main" w="38100">
              <a:solidFill>
                <a:srgbClr val="1A5276"/>
              </a:solidFill>
            </a:ln>
          </c:spPr>
          <c:marker>
            <c:symbol val="none"/>
          </c:marker>
          <c:xVal>
            <c:numRef>
              <c:f>'Chart Data'!$AE$2:$AE$3</c:f>
              <c:numCache>
                <c:formatCode>General</c:formatCode>
                <c:ptCount val="2"/>
                <c:pt idx="0">
                  <c:v>0</c:v>
                </c:pt>
                <c:pt idx="1">
                  <c:v>64</c:v>
                </c:pt>
              </c:numCache>
            </c:numRef>
          </c:xVal>
          <c:yVal>
            <c:numRef>
              <c:f>'Chart Data'!$AF$2:$AF$3</c:f>
              <c:numCache>
                <c:formatCode>General</c:formatCode>
                <c:ptCount val="2"/>
                <c:pt idx="0">
                  <c:v>80</c:v>
                </c:pt>
                <c:pt idx="1">
                  <c:v>16</c:v>
                </c:pt>
              </c:numCache>
            </c:numRef>
          </c:yVal>
          <c:smooth val="0"/>
        </c:ser>
        <c:ser>
          <c:idx val="16"/>
          <c:order val="16"/>
          <c:tx>
            <c:v>A</c:v>
          </c:tx>
          <c:spPr>
            <a:ln xmlns:a="http://schemas.openxmlformats.org/drawingml/2006/main" w="38100">
              <a:solidFill>
                <a:srgbClr val="1E8449"/>
              </a:solidFill>
            </a:ln>
          </c:spPr>
          <c:marker>
            <c:symbol val="none"/>
          </c:marker>
          <c:xVal>
            <c:numRef>
              <c:f>'Chart Data'!$AG$2:$AG$3</c:f>
              <c:numCache>
                <c:formatCode>General</c:formatCode>
                <c:ptCount val="2"/>
                <c:pt idx="0">
                  <c:v>0</c:v>
                </c:pt>
                <c:pt idx="1">
                  <c:v>64</c:v>
                </c:pt>
              </c:numCache>
            </c:numRef>
          </c:xVal>
          <c:yVal>
            <c:numRef>
              <c:f>'Chart Data'!$AH$2:$AH$3</c:f>
              <c:numCache>
                <c:formatCode>General</c:formatCode>
                <c:ptCount val="2"/>
                <c:pt idx="0">
                  <c:v>16</c:v>
                </c:pt>
                <c:pt idx="1">
                  <c:v>80</c:v>
                </c:pt>
              </c:numCache>
            </c:numRef>
          </c:yVal>
          <c:smooth val="0"/>
        </c:ser>
        <c:ser>
          <c:idx val="17"/>
          <c:order val="17"/>
          <c:tx>
            <c:v>M</c:v>
          </c:tx>
          <c:spPr>
            <a:ln xmlns:a="http://schemas.openxmlformats.org/drawingml/2006/main" w="38100">
              <a:solidFill>
                <a:srgbClr val="A94D16"/>
              </a:solidFill>
            </a:ln>
          </c:spPr>
          <c:marker>
            <c:symbol val="none"/>
          </c:marker>
          <c:xVal>
            <c:numRef>
              <c:f>'Chart Data'!$AI$2:$AI$3</c:f>
              <c:numCache>
                <c:formatCode>General</c:formatCode>
                <c:ptCount val="2"/>
                <c:pt idx="0">
                  <c:v>0</c:v>
                </c:pt>
                <c:pt idx="1">
                  <c:v>64</c:v>
                </c:pt>
              </c:numCache>
            </c:numRef>
          </c:xVal>
          <c:yVal>
            <c:numRef>
              <c:f>'Chart Data'!$AJ$2:$AJ$3</c:f>
              <c:numCache>
                <c:formatCode>General</c:formatCode>
                <c:ptCount val="2"/>
                <c:pt idx="0">
                  <c:v>32</c:v>
                </c:pt>
                <c:pt idx="1">
                  <c:v>96</c:v>
                </c:pt>
              </c:numCache>
            </c:numRef>
          </c:yVal>
          <c:smooth val="0"/>
        </c:ser>
        <c:ser>
          <c:idx val="18"/>
          <c:order val="18"/>
          <c:tx>
            <c:v>label V</c:v>
          </c:tx>
          <c:spPr>
            <a:ln xmlns:a="http://schemas.openxmlformats.org/drawingml/2006/main" w="0">
              <a:solidFill>
                <a:srgbClr val="1A527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Data'!$AK$2:$AK$2</c:f>
              <c:numCache>
                <c:formatCode>General</c:formatCode>
                <c:ptCount val="1"/>
                <c:pt idx="0">
                  <c:v>53.76</c:v>
                </c:pt>
              </c:numCache>
            </c:numRef>
          </c:xVal>
          <c:yVal>
            <c:numRef>
              <c:f>'Chart Data'!$AL$2:$AL$2</c:f>
              <c:numCache>
                <c:formatCode>General</c:formatCode>
                <c:ptCount val="1"/>
                <c:pt idx="0">
                  <c:v>21.24</c:v>
                </c:pt>
              </c:numCache>
            </c:numRef>
          </c:yVal>
          <c:smooth val="0"/>
        </c:ser>
        <c:ser>
          <c:idx val="19"/>
          <c:order val="19"/>
          <c:tx>
            <c:v>label A</c:v>
          </c:tx>
          <c:spPr>
            <a:ln xmlns:a="http://schemas.openxmlformats.org/drawingml/2006/main" w="0">
              <a:solidFill>
                <a:srgbClr val="1E8449"/>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E8449"/>
                        </a:solidFill>
                        <a:latin typeface="Arial"/>
                        <a:ea typeface="Arial"/>
                        <a:cs typeface="Arial"/>
                      </a:rPr>
                      <a:t>A = MK privé</a:t>
                    </a:r>
                  </a:p>
                </c:rich>
              </c:tx>
              <c:txPr>
                <a:bodyPr xmlns:a="http://schemas.openxmlformats.org/drawingml/2006/main" anchorCtr="1"/>
                <a:lstStyle xmlns:a="http://schemas.openxmlformats.org/drawingml/2006/main"/>
                <a:p xmlns:a="http://schemas.openxmlformats.org/drawingml/2006/main">
                  <a:pPr>
                    <a:defRPr sz="1875" b="1">
                      <a:solidFill>
                        <a:srgbClr val="1E8449"/>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Data'!$AM$2:$AM$2</c:f>
              <c:numCache>
                <c:formatCode>General</c:formatCode>
                <c:ptCount val="1"/>
                <c:pt idx="0">
                  <c:v>51.84</c:v>
                </c:pt>
              </c:numCache>
            </c:numRef>
          </c:xVal>
          <c:yVal>
            <c:numRef>
              <c:f>'Chart Data'!$AN$2:$AN$2</c:f>
              <c:numCache>
                <c:formatCode>General</c:formatCode>
                <c:ptCount val="1"/>
                <c:pt idx="0">
                  <c:v>59.84</c:v>
                </c:pt>
              </c:numCache>
            </c:numRef>
          </c:yVal>
          <c:smooth val="0"/>
        </c:ser>
        <c:ser>
          <c:idx val="20"/>
          <c:order val="20"/>
          <c:tx>
            <c:v>label M</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 maatschappelijk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Data'!$AO$2:$AO$2</c:f>
              <c:numCache>
                <c:formatCode>General</c:formatCode>
                <c:ptCount val="1"/>
                <c:pt idx="0">
                  <c:v>41.6</c:v>
                </c:pt>
              </c:numCache>
            </c:numRef>
          </c:xVal>
          <c:yVal>
            <c:numRef>
              <c:f>'Chart Data'!$AP$2:$AP$2</c:f>
              <c:numCache>
                <c:formatCode>General</c:formatCode>
                <c:ptCount val="1"/>
                <c:pt idx="0">
                  <c:v>85.6</c:v>
                </c:pt>
              </c:numCache>
            </c:numRef>
          </c:yVal>
          <c:smooth val="0"/>
        </c:ser>
        <c:ser>
          <c:idx val="21"/>
          <c:order val="21"/>
          <c:tx>
            <c:v>E0</c:v>
          </c:tx>
          <c:spPr>
            <a:ln xmlns:a="http://schemas.openxmlformats.org/drawingml/2006/main" w="0">
              <a:solidFill>
                <a:srgbClr val="183247"/>
              </a:solidFill>
            </a:ln>
          </c:spPr>
          <c:marker>
            <c:symbol val="circle"/>
            <c:size val="8"/>
            <c:spPr>
              <a:solidFill xmlns:a="http://schemas.openxmlformats.org/drawingml/2006/main">
                <a:srgbClr val="183247"/>
              </a:solidFill>
            </c:spPr>
          </c:marker>
          <c:xVal>
            <c:numRef>
              <c:f>'Chart Data'!$AQ$2:$AQ$2</c:f>
              <c:numCache>
                <c:formatCode>General</c:formatCode>
                <c:ptCount val="1"/>
                <c:pt idx="0">
                  <c:v>32</c:v>
                </c:pt>
              </c:numCache>
            </c:numRef>
          </c:xVal>
          <c:yVal>
            <c:numRef>
              <c:f>'Chart Data'!$AR$2:$AR$2</c:f>
              <c:numCache>
                <c:formatCode>General</c:formatCode>
                <c:ptCount val="1"/>
                <c:pt idx="0">
                  <c:v>48</c:v>
                </c:pt>
              </c:numCache>
            </c:numRef>
          </c:yVal>
          <c:smooth val="0"/>
        </c:ser>
        <c:ser>
          <c:idx val="22"/>
          <c:order val="22"/>
          <c:tx>
            <c:v>label E0</c:v>
          </c:tx>
          <c:spPr>
            <a:ln xmlns:a="http://schemas.openxmlformats.org/drawingml/2006/main" w="0">
              <a:solidFill>
                <a:srgbClr val="183247"/>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Data'!$AS$2:$AS$2</c:f>
              <c:numCache>
                <c:formatCode>General</c:formatCode>
                <c:ptCount val="1"/>
                <c:pt idx="0">
                  <c:v>34.7</c:v>
                </c:pt>
              </c:numCache>
            </c:numRef>
          </c:xVal>
          <c:yVal>
            <c:numRef>
              <c:f>'Chart Data'!$AT$2:$AT$2</c:f>
              <c:numCache>
                <c:formatCode>General</c:formatCode>
                <c:ptCount val="1"/>
                <c:pt idx="0">
                  <c:v>40</c:v>
                </c:pt>
              </c:numCache>
            </c:numRef>
          </c:yVal>
          <c:smooth val="0"/>
        </c:ser>
        <c:ser>
          <c:idx val="23"/>
          <c:order val="23"/>
          <c:tx>
            <c:v>Ee</c:v>
          </c:tx>
          <c:spPr>
            <a:ln xmlns:a="http://schemas.openxmlformats.org/drawingml/2006/main" w="0">
              <a:solidFill>
                <a:srgbClr val="A94D16"/>
              </a:solidFill>
            </a:ln>
          </c:spPr>
          <c:marker>
            <c:symbol val="circle"/>
            <c:size val="8"/>
            <c:spPr>
              <a:solidFill xmlns:a="http://schemas.openxmlformats.org/drawingml/2006/main">
                <a:srgbClr val="A94D16"/>
              </a:solidFill>
            </c:spPr>
          </c:marker>
          <c:xVal>
            <c:numRef>
              <c:f>'Chart Data'!$AU$2:$AU$2</c:f>
              <c:numCache>
                <c:formatCode>General</c:formatCode>
                <c:ptCount val="1"/>
                <c:pt idx="0">
                  <c:v>24</c:v>
                </c:pt>
              </c:numCache>
            </c:numRef>
          </c:xVal>
          <c:yVal>
            <c:numRef>
              <c:f>'Chart Data'!$AV$2:$AV$2</c:f>
              <c:numCache>
                <c:formatCode>General</c:formatCode>
                <c:ptCount val="1"/>
                <c:pt idx="0">
                  <c:v>56</c:v>
                </c:pt>
              </c:numCache>
            </c:numRef>
          </c:yVal>
          <c:smooth val="0"/>
        </c:ser>
        <c:ser>
          <c:idx val="24"/>
          <c:order val="24"/>
          <c:tx>
            <c:v>label Ee</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Eₑ</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Data'!$AW$2:$AW$2</c:f>
              <c:numCache>
                <c:formatCode>General</c:formatCode>
                <c:ptCount val="1"/>
                <c:pt idx="0">
                  <c:v>22</c:v>
                </c:pt>
              </c:numCache>
            </c:numRef>
          </c:xVal>
          <c:yVal>
            <c:numRef>
              <c:f>'Chart Data'!$AX$2:$AX$2</c:f>
              <c:numCache>
                <c:formatCode>General</c:formatCode>
                <c:ptCount val="1"/>
                <c:pt idx="0">
                  <c:v>67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9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en MK (€ per coatingbeurt)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6"/>
      </c:valAx>
      <c:valAx>
        <c:axId val="48650112"/>
        <c:scaling>
          <c:orientation val="minMax"/>
          <c:max val="64"/>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(coatingbeurten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Qe-hulplijn</c:v>
          </c:tx>
          <c:spPr>
            <a:ln xmlns:a="http://schemas.openxmlformats.org/drawingml/2006/main" w="14288">
              <a:solidFill>
                <a:srgbClr val="445B6B"/>
              </a:solidFill>
              <a:prstDash val="dash"/>
            </a:ln>
          </c:spPr>
          <c:marker>
            <c:symbol val="none"/>
          </c:marker>
          <c:xVal>
            <c:numRef>
              <c:f>'Chart Data'!$A$2:$A$3</c:f>
              <c:numCache>
                <c:formatCode>General</c:formatCode>
                <c:ptCount val="2"/>
                <c:pt idx="0">
                  <c:v>24</c:v>
                </c:pt>
                <c:pt idx="1">
                  <c:v>24</c:v>
                </c:pt>
              </c:numCache>
            </c:numRef>
          </c:xVal>
          <c:yVal>
            <c:numRef>
              <c:f>'Chart Data'!$B$2:$B$3</c:f>
              <c:numCache>
                <c:formatCode>General</c:formatCode>
                <c:ptCount val="2"/>
                <c:pt idx="0">
                  <c:v>0</c:v>
                </c:pt>
                <c:pt idx="1">
                  <c:v>56</c:v>
                </c:pt>
              </c:numCache>
            </c:numRef>
          </c:yVal>
          <c:smooth val="0"/>
        </c:ser>
        <c:ser>
          <c:idx val="1"/>
          <c:order val="1"/>
          <c:tx>
            <c:v>Pc-hulplijn</c:v>
          </c:tx>
          <c:spPr>
            <a:ln xmlns:a="http://schemas.openxmlformats.org/drawingml/2006/main" w="14288">
              <a:solidFill>
                <a:srgbClr val="445B6B"/>
              </a:solidFill>
              <a:prstDash val="dash"/>
            </a:ln>
          </c:spPr>
          <c:marker>
            <c:symbol val="none"/>
          </c:marker>
          <c:xVal>
            <c:numRef>
              <c:f>'Chart Data'!$C$2:$C$3</c:f>
              <c:numCache>
                <c:formatCode>General</c:formatCode>
                <c:ptCount val="2"/>
                <c:pt idx="0">
                  <c:v>0</c:v>
                </c:pt>
                <c:pt idx="1">
                  <c:v>24</c:v>
                </c:pt>
              </c:numCache>
            </c:numRef>
          </c:xVal>
          <c:yVal>
            <c:numRef>
              <c:f>'Chart Data'!$D$2:$D$3</c:f>
              <c:numCache>
                <c:formatCode>General</c:formatCode>
                <c:ptCount val="2"/>
                <c:pt idx="0">
                  <c:v>56</c:v>
                </c:pt>
                <c:pt idx="1">
                  <c:v>56</c:v>
                </c:pt>
              </c:numCache>
            </c:numRef>
          </c:yVal>
          <c:smooth val="0"/>
        </c:ser>
        <c:ser>
          <c:idx val="2"/>
          <c:order val="2"/>
          <c:tx>
            <c:v>Pp-hulplijn</c:v>
          </c:tx>
          <c:spPr>
            <a:ln xmlns:a="http://schemas.openxmlformats.org/drawingml/2006/main" w="14288">
              <a:solidFill>
                <a:srgbClr val="445B6B"/>
              </a:solidFill>
              <a:prstDash val="dash"/>
            </a:ln>
          </c:spPr>
          <c:marker>
            <c:symbol val="none"/>
          </c:marker>
          <c:xVal>
            <c:numRef>
              <c:f>'Chart Data'!$E$2:$E$3</c:f>
              <c:numCache>
                <c:formatCode>General</c:formatCode>
                <c:ptCount val="2"/>
                <c:pt idx="0">
                  <c:v>0</c:v>
                </c:pt>
                <c:pt idx="1">
                  <c:v>24</c:v>
                </c:pt>
              </c:numCache>
            </c:numRef>
          </c:xVal>
          <c:yVal>
            <c:numRef>
              <c:f>'Chart Data'!$F$2:$F$3</c:f>
              <c:numCache>
                <c:formatCode>General</c:formatCode>
                <c:ptCount val="2"/>
                <c:pt idx="0">
                  <c:v>40</c:v>
                </c:pt>
                <c:pt idx="1">
                  <c:v>40</c:v>
                </c:pt>
              </c:numCache>
            </c:numRef>
          </c:yVal>
          <c:smooth val="0"/>
        </c:ser>
        <c:ser>
          <c:idx val="3"/>
          <c:order val="3"/>
          <c:tx>
            <c:v>belastingwig</c:v>
          </c:tx>
          <c:spPr>
            <a:ln xmlns:a="http://schemas.openxmlformats.org/drawingml/2006/main" w="47625">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t = 16</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Data'!$G$2:$G$4</c:f>
              <c:numCache>
                <c:formatCode>General</c:formatCode>
                <c:ptCount val="3"/>
                <c:pt idx="0">
                  <c:v>24</c:v>
                </c:pt>
                <c:pt idx="1">
                  <c:v>24</c:v>
                </c:pt>
                <c:pt idx="2">
                  <c:v>24</c:v>
                </c:pt>
              </c:numCache>
            </c:numRef>
          </c:xVal>
          <c:yVal>
            <c:numRef>
              <c:f>'Chart Data'!$H$2:$H$4</c:f>
              <c:numCache>
                <c:formatCode>General</c:formatCode>
                <c:ptCount val="3"/>
                <c:pt idx="0">
                  <c:v>40</c:v>
                </c:pt>
                <c:pt idx="1">
                  <c:v>48</c:v>
                </c:pt>
                <c:pt idx="2">
                  <c:v>56</c:v>
                </c:pt>
              </c:numCache>
            </c:numRef>
          </c:yVal>
          <c:smooth val="0"/>
        </c:ser>
        <c:ser>
          <c:idx val="4"/>
          <c:order val="4"/>
          <c:tx>
            <c:v>aanbodverschuiving</c:v>
          </c:tx>
          <c:spPr>
            <a:ln xmlns:a="http://schemas.openxmlformats.org/drawingml/2006/main" w="28575">
              <a:solidFill>
                <a:srgbClr val="A94D16"/>
              </a:solidFill>
            </a:ln>
          </c:spPr>
          <c:marker>
            <c:symbol val="none"/>
          </c:marker>
          <c:xVal>
            <c:numRef>
              <c:f>'Chart Data'!$I$2:$I$3</c:f>
              <c:numCache>
                <c:formatCode>General</c:formatCode>
                <c:ptCount val="2"/>
                <c:pt idx="0">
                  <c:v>64</c:v>
                </c:pt>
                <c:pt idx="1">
                  <c:v>48</c:v>
                </c:pt>
              </c:numCache>
            </c:numRef>
          </c:xVal>
          <c:yVal>
            <c:numRef>
              <c:f>'Chart Data'!$J$2:$J$3</c:f>
              <c:numCache>
                <c:formatCode>General</c:formatCode>
                <c:ptCount val="2"/>
                <c:pt idx="0">
                  <c:v>80</c:v>
                </c:pt>
                <c:pt idx="1">
                  <c:v>80</c:v>
                </c:pt>
              </c:numCache>
            </c:numRef>
          </c:yVal>
          <c:smooth val="0"/>
        </c:ser>
        <c:ser>
          <c:idx val="5"/>
          <c:order val="5"/>
          <c:tx>
            <c:v>pijlpunt links</c:v>
          </c:tx>
          <c:spPr>
            <a:ln xmlns:a="http://schemas.openxmlformats.org/drawingml/2006/main" w="28575">
              <a:solidFill>
                <a:srgbClr val="A94D16"/>
              </a:solidFill>
            </a:ln>
          </c:spPr>
          <c:marker>
            <c:symbol val="none"/>
          </c:marker>
          <c:xVal>
            <c:numRef>
              <c:f>'Chart Data'!$K$2:$K$4</c:f>
              <c:numCache>
                <c:formatCode>General</c:formatCode>
                <c:ptCount val="3"/>
                <c:pt idx="0">
                  <c:v>50</c:v>
                </c:pt>
                <c:pt idx="1">
                  <c:v>48</c:v>
                </c:pt>
                <c:pt idx="2">
                  <c:v>50</c:v>
                </c:pt>
              </c:numCache>
            </c:numRef>
          </c:xVal>
          <c:yVal>
            <c:numRef>
              <c:f>'Chart Data'!$L$2:$L$4</c:f>
              <c:numCache>
                <c:formatCode>General</c:formatCode>
                <c:ptCount val="3"/>
                <c:pt idx="0">
                  <c:v>82</c:v>
                </c:pt>
                <c:pt idx="1">
                  <c:v>80</c:v>
                </c:pt>
                <c:pt idx="2">
                  <c:v>78</c:v>
                </c:pt>
              </c:numCache>
            </c:numRef>
          </c:yVal>
          <c:smooth val="0"/>
        </c:ser>
        <c:ser>
          <c:idx val="6"/>
          <c:order val="6"/>
          <c:tx>
            <c:v>V</c:v>
          </c:tx>
          <c:spPr>
            <a:ln xmlns:a="http://schemas.openxmlformats.org/drawingml/2006/main" w="38100">
              <a:solidFill>
                <a:srgbClr val="1A5276"/>
              </a:solidFill>
            </a:ln>
          </c:spPr>
          <c:marker>
            <c:symbol val="none"/>
          </c:marker>
          <c:xVal>
            <c:numRef>
              <c:f>'Chart Data'!$M$2:$M$3</c:f>
              <c:numCache>
                <c:formatCode>General</c:formatCode>
                <c:ptCount val="2"/>
                <c:pt idx="0">
                  <c:v>0</c:v>
                </c:pt>
                <c:pt idx="1">
                  <c:v>64</c:v>
                </c:pt>
              </c:numCache>
            </c:numRef>
          </c:xVal>
          <c:yVal>
            <c:numRef>
              <c:f>'Chart Data'!$N$2:$N$3</c:f>
              <c:numCache>
                <c:formatCode>General</c:formatCode>
                <c:ptCount val="2"/>
                <c:pt idx="0">
                  <c:v>80</c:v>
                </c:pt>
                <c:pt idx="1">
                  <c:v>16</c:v>
                </c:pt>
              </c:numCache>
            </c:numRef>
          </c:yVal>
          <c:smooth val="0"/>
        </c:ser>
        <c:ser>
          <c:idx val="7"/>
          <c:order val="7"/>
          <c:tx>
            <c:v>A</c:v>
          </c:tx>
          <c:spPr>
            <a:ln xmlns:a="http://schemas.openxmlformats.org/drawingml/2006/main" w="38100">
              <a:solidFill>
                <a:srgbClr val="1E8449"/>
              </a:solidFill>
            </a:ln>
          </c:spPr>
          <c:marker>
            <c:symbol val="none"/>
          </c:marker>
          <c:xVal>
            <c:numRef>
              <c:f>'Chart Data'!$O$2:$O$3</c:f>
              <c:numCache>
                <c:formatCode>General</c:formatCode>
                <c:ptCount val="2"/>
                <c:pt idx="0">
                  <c:v>0</c:v>
                </c:pt>
                <c:pt idx="1">
                  <c:v>64</c:v>
                </c:pt>
              </c:numCache>
            </c:numRef>
          </c:xVal>
          <c:yVal>
            <c:numRef>
              <c:f>'Chart Data'!$P$2:$P$3</c:f>
              <c:numCache>
                <c:formatCode>General</c:formatCode>
                <c:ptCount val="2"/>
                <c:pt idx="0">
                  <c:v>16</c:v>
                </c:pt>
                <c:pt idx="1">
                  <c:v>80</c:v>
                </c:pt>
              </c:numCache>
            </c:numRef>
          </c:yVal>
          <c:smooth val="0"/>
        </c:ser>
        <c:ser>
          <c:idx val="8"/>
          <c:order val="8"/>
          <c:tx>
            <c:v>M</c:v>
          </c:tx>
          <c:spPr>
            <a:ln xmlns:a="http://schemas.openxmlformats.org/drawingml/2006/main" w="38100">
              <a:solidFill>
                <a:srgbClr val="A94D16"/>
              </a:solidFill>
            </a:ln>
          </c:spPr>
          <c:marker>
            <c:symbol val="none"/>
          </c:marker>
          <c:xVal>
            <c:numRef>
              <c:f>'Chart Data'!$Q$2:$Q$3</c:f>
              <c:numCache>
                <c:formatCode>General</c:formatCode>
                <c:ptCount val="2"/>
                <c:pt idx="0">
                  <c:v>0</c:v>
                </c:pt>
                <c:pt idx="1">
                  <c:v>64</c:v>
                </c:pt>
              </c:numCache>
            </c:numRef>
          </c:xVal>
          <c:yVal>
            <c:numRef>
              <c:f>'Chart Data'!$R$2:$R$3</c:f>
              <c:numCache>
                <c:formatCode>General</c:formatCode>
                <c:ptCount val="2"/>
                <c:pt idx="0">
                  <c:v>32</c:v>
                </c:pt>
                <c:pt idx="1">
                  <c:v>96</c:v>
                </c:pt>
              </c:numCache>
            </c:numRef>
          </c:yVal>
          <c:smooth val="0"/>
        </c:ser>
        <c:ser>
          <c:idx val="9"/>
          <c:order val="9"/>
          <c:tx>
            <c:v>label V</c:v>
          </c:tx>
          <c:spPr>
            <a:ln xmlns:a="http://schemas.openxmlformats.org/drawingml/2006/main" w="0">
              <a:solidFill>
                <a:srgbClr val="1A527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53.76</c:v>
                </c:pt>
              </c:numCache>
            </c:numRef>
          </c:xVal>
          <c:yVal>
            <c:numRef>
              <c:f>'Chart Data'!$T$2:$T$2</c:f>
              <c:numCache>
                <c:formatCode>General</c:formatCode>
                <c:ptCount val="1"/>
                <c:pt idx="0">
                  <c:v>21.24</c:v>
                </c:pt>
              </c:numCache>
            </c:numRef>
          </c:yVal>
          <c:smooth val="0"/>
        </c:ser>
        <c:ser>
          <c:idx val="10"/>
          <c:order val="10"/>
          <c:tx>
            <c:v>label A</c:v>
          </c:tx>
          <c:spPr>
            <a:ln xmlns:a="http://schemas.openxmlformats.org/drawingml/2006/main" w="0">
              <a:solidFill>
                <a:srgbClr val="1E8449"/>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E8449"/>
                        </a:solidFill>
                        <a:latin typeface="Arial"/>
                        <a:ea typeface="Arial"/>
                        <a:cs typeface="Arial"/>
                      </a:rPr>
                      <a:t>A = MK privé</a:t>
                    </a:r>
                  </a:p>
                </c:rich>
              </c:tx>
              <c:txPr>
                <a:bodyPr xmlns:a="http://schemas.openxmlformats.org/drawingml/2006/main" anchorCtr="1"/>
                <a:lstStyle xmlns:a="http://schemas.openxmlformats.org/drawingml/2006/main"/>
                <a:p xmlns:a="http://schemas.openxmlformats.org/drawingml/2006/main">
                  <a:pPr>
                    <a:defRPr sz="1875" b="1">
                      <a:solidFill>
                        <a:srgbClr val="1E8449"/>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Data'!$U$2:$U$2</c:f>
              <c:numCache>
                <c:formatCode>General</c:formatCode>
                <c:ptCount val="1"/>
                <c:pt idx="0">
                  <c:v>51.84</c:v>
                </c:pt>
              </c:numCache>
            </c:numRef>
          </c:xVal>
          <c:yVal>
            <c:numRef>
              <c:f>'Chart Data'!$V$2:$V$2</c:f>
              <c:numCache>
                <c:formatCode>General</c:formatCode>
                <c:ptCount val="1"/>
                <c:pt idx="0">
                  <c:v>59.84</c:v>
                </c:pt>
              </c:numCache>
            </c:numRef>
          </c:yVal>
          <c:smooth val="0"/>
        </c:ser>
        <c:ser>
          <c:idx val="11"/>
          <c:order val="11"/>
          <c:tx>
            <c:v>label M</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 maatschappelijk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41.6</c:v>
                </c:pt>
              </c:numCache>
            </c:numRef>
          </c:xVal>
          <c:yVal>
            <c:numRef>
              <c:f>'Chart Data'!$X$2:$X$2</c:f>
              <c:numCache>
                <c:formatCode>General</c:formatCode>
                <c:ptCount val="1"/>
                <c:pt idx="0">
                  <c:v>85.6</c:v>
                </c:pt>
              </c:numCache>
            </c:numRef>
          </c:yVal>
          <c:smooth val="0"/>
        </c:ser>
        <c:ser>
          <c:idx val="12"/>
          <c:order val="12"/>
          <c:tx>
            <c:v>Ee</c:v>
          </c:tx>
          <c:spPr>
            <a:ln xmlns:a="http://schemas.openxmlformats.org/drawingml/2006/main" w="0">
              <a:solidFill>
                <a:srgbClr val="A94D16"/>
              </a:solidFill>
            </a:ln>
          </c:spPr>
          <c:marker>
            <c:symbol val="circle"/>
            <c:size val="8"/>
            <c:spPr>
              <a:solidFill xmlns:a="http://schemas.openxmlformats.org/drawingml/2006/main">
                <a:srgbClr val="A94D16"/>
              </a:solidFill>
            </c:spPr>
          </c:marker>
          <c:xVal>
            <c:numRef>
              <c:f>'Chart Data'!$Y$2:$Y$2</c:f>
              <c:numCache>
                <c:formatCode>General</c:formatCode>
                <c:ptCount val="1"/>
                <c:pt idx="0">
                  <c:v>24</c:v>
                </c:pt>
              </c:numCache>
            </c:numRef>
          </c:xVal>
          <c:yVal>
            <c:numRef>
              <c:f>'Chart Data'!$Z$2:$Z$2</c:f>
              <c:numCache>
                <c:formatCode>General</c:formatCode>
                <c:ptCount val="1"/>
                <c:pt idx="0">
                  <c:v>56</c:v>
                </c:pt>
              </c:numCache>
            </c:numRef>
          </c:yVal>
          <c:smooth val="0"/>
        </c:ser>
        <c:ser>
          <c:idx val="13"/>
          <c:order val="13"/>
          <c:tx>
            <c:v>label Ee</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Eₑ</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22</c:v>
                </c:pt>
              </c:numCache>
            </c:numRef>
          </c:xVal>
          <c:yVal>
            <c:numRef>
              <c:f>'Chart Data'!$AB$2:$AB$2</c:f>
              <c:numCache>
                <c:formatCode>General</c:formatCode>
                <c:ptCount val="1"/>
                <c:pt idx="0">
                  <c:v>67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9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en MK (€ per coatingbeurt)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6"/>
      </c:valAx>
      <c:valAx>
        <c:axId val="48650112"/>
        <c:scaling>
          <c:orientation val="minMax"/>
          <c:max val="64"/>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(coatingbeurten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xVal>
            <c:numRef>
              <c:f>'Chart Data'!$A$2:$A$3</c:f>
              <c:numCache>
                <c:formatCode>General</c:formatCode>
                <c:ptCount val="2"/>
                <c:pt idx="0">
                  <c:v>0</c:v>
                </c:pt>
                <c:pt idx="1">
                  <c:v>60</c:v>
                </c:pt>
              </c:numCache>
            </c:numRef>
          </c:xVal>
          <c:yVal>
            <c:numRef>
              <c:f>'Chart Data'!$B$2:$B$3</c:f>
              <c:numCache>
                <c:formatCode>General</c:formatCode>
                <c:ptCount val="2"/>
                <c:pt idx="0">
                  <c:v>60</c:v>
                </c:pt>
                <c:pt idx="1">
                  <c:v>0</c:v>
                </c:pt>
              </c:numCache>
            </c:numRef>
          </c:yVal>
          <c:smooth val="0"/>
        </c:ser>
        <c:ser>
          <c:idx val="1"/>
          <c:order val="1"/>
          <c:tx>
            <c:v>A</c:v>
          </c:tx>
          <c:spPr>
            <a:ln xmlns:a="http://schemas.openxmlformats.org/drawingml/2006/main" w="38100">
              <a:solidFill>
                <a:srgbClr val="1E8449"/>
              </a:solidFill>
            </a:ln>
          </c:spPr>
          <c:marker>
            <c:symbol val="none"/>
          </c:marker>
          <c:xVal>
            <c:numRef>
              <c:f>'Chart Data'!$C$2:$C$3</c:f>
              <c:numCache>
                <c:formatCode>General</c:formatCode>
                <c:ptCount val="2"/>
                <c:pt idx="0">
                  <c:v>0</c:v>
                </c:pt>
                <c:pt idx="1">
                  <c:v>60</c:v>
                </c:pt>
              </c:numCache>
            </c:numRef>
          </c:xVal>
          <c:yVal>
            <c:numRef>
              <c:f>'Chart Data'!$D$2:$D$3</c:f>
              <c:numCache>
                <c:formatCode>General</c:formatCode>
                <c:ptCount val="2"/>
                <c:pt idx="0">
                  <c:v>0</c:v>
                </c:pt>
                <c:pt idx="1">
                  <c:v>60</c:v>
                </c:pt>
              </c:numCache>
            </c:numRef>
          </c:yVal>
          <c:smooth val="0"/>
        </c:ser>
        <c:ser>
          <c:idx val="2"/>
          <c:order val="2"/>
          <c:tx>
            <c:v>M</c:v>
          </c:tx>
          <c:spPr>
            <a:ln xmlns:a="http://schemas.openxmlformats.org/drawingml/2006/main" w="38100">
              <a:solidFill>
                <a:srgbClr val="A94D16"/>
              </a:solidFill>
            </a:ln>
          </c:spPr>
          <c:marker>
            <c:symbol val="none"/>
          </c:marker>
          <c:xVal>
            <c:numRef>
              <c:f>'Chart Data'!$E$2:$E$3</c:f>
              <c:numCache>
                <c:formatCode>General</c:formatCode>
                <c:ptCount val="2"/>
                <c:pt idx="0">
                  <c:v>0</c:v>
                </c:pt>
                <c:pt idx="1">
                  <c:v>60</c:v>
                </c:pt>
              </c:numCache>
            </c:numRef>
          </c:xVal>
          <c:yVal>
            <c:numRef>
              <c:f>'Chart Data'!$F$2:$F$3</c:f>
              <c:numCache>
                <c:formatCode>General</c:formatCode>
                <c:ptCount val="2"/>
                <c:pt idx="0">
                  <c:v>20</c:v>
                </c:pt>
                <c:pt idx="1">
                  <c:v>80</c:v>
                </c:pt>
              </c:numCache>
            </c:numRef>
          </c:yVal>
          <c:smooth val="0"/>
        </c:ser>
        <c:ser>
          <c:idx val="3"/>
          <c:order val="3"/>
          <c:tx>
            <c:v>label V</c:v>
          </c:tx>
          <c:spPr>
            <a:ln xmlns:a="http://schemas.openxmlformats.org/drawingml/2006/main" w="0">
              <a:solidFill>
                <a:srgbClr val="1A527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50.4</c:v>
                </c:pt>
              </c:numCache>
            </c:numRef>
          </c:xVal>
          <c:yVal>
            <c:numRef>
              <c:f>'Chart Data'!$H$2:$H$2</c:f>
              <c:numCache>
                <c:formatCode>General</c:formatCode>
                <c:ptCount val="1"/>
                <c:pt idx="0">
                  <c:v>4.6</c:v>
                </c:pt>
              </c:numCache>
            </c:numRef>
          </c:yVal>
          <c:smooth val="0"/>
        </c:ser>
        <c:ser>
          <c:idx val="4"/>
          <c:order val="4"/>
          <c:tx>
            <c:v>label A</c:v>
          </c:tx>
          <c:spPr>
            <a:ln xmlns:a="http://schemas.openxmlformats.org/drawingml/2006/main" w="0">
              <a:solidFill>
                <a:srgbClr val="1E8449"/>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E8449"/>
                        </a:solidFill>
                        <a:latin typeface="Arial"/>
                        <a:ea typeface="Arial"/>
                        <a:cs typeface="Arial"/>
                      </a:rPr>
                      <a:t>A = MK privé</a:t>
                    </a:r>
                  </a:p>
                </c:rich>
              </c:tx>
              <c:txPr>
                <a:bodyPr xmlns:a="http://schemas.openxmlformats.org/drawingml/2006/main" anchorCtr="1"/>
                <a:lstStyle xmlns:a="http://schemas.openxmlformats.org/drawingml/2006/main"/>
                <a:p xmlns:a="http://schemas.openxmlformats.org/drawingml/2006/main">
                  <a:pPr>
                    <a:defRPr sz="1875" b="1">
                      <a:solidFill>
                        <a:srgbClr val="1E8449"/>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48.6</c:v>
                </c:pt>
              </c:numCache>
            </c:numRef>
          </c:xVal>
          <c:yVal>
            <c:numRef>
              <c:f>'Chart Data'!$J$2:$J$2</c:f>
              <c:numCache>
                <c:formatCode>General</c:formatCode>
                <c:ptCount val="1"/>
                <c:pt idx="0">
                  <c:v>40.6</c:v>
                </c:pt>
              </c:numCache>
            </c:numRef>
          </c:yVal>
          <c:smooth val="0"/>
        </c:ser>
        <c:ser>
          <c:idx val="5"/>
          <c:order val="5"/>
          <c:tx>
            <c:v>label M</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 maatschappelijk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39</c:v>
                </c:pt>
              </c:numCache>
            </c:numRef>
          </c:xVal>
          <c:yVal>
            <c:numRef>
              <c:f>'Chart Data'!$L$2:$L$2</c:f>
              <c:numCache>
                <c:formatCode>General</c:formatCode>
                <c:ptCount val="1"/>
                <c:pt idx="0">
                  <c:v>71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en MK (€ per dienst)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(diensten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Qe-hulplijn</c:v>
          </c:tx>
          <c:spPr>
            <a:ln xmlns:a="http://schemas.openxmlformats.org/drawingml/2006/main" w="14288">
              <a:solidFill>
                <a:srgbClr val="445B6B"/>
              </a:solidFill>
              <a:prstDash val="dash"/>
            </a:ln>
          </c:spPr>
          <c:marker>
            <c:symbol val="none"/>
          </c:marker>
          <c:xVal>
            <c:numRef>
              <c:f>'Chart Data'!$A$2:$A$3</c:f>
              <c:numCache>
                <c:formatCode>General</c:formatCode>
                <c:ptCount val="2"/>
                <c:pt idx="0">
                  <c:v>20</c:v>
                </c:pt>
                <c:pt idx="1">
                  <c:v>20</c:v>
                </c:pt>
              </c:numCache>
            </c:numRef>
          </c:xVal>
          <c:yVal>
            <c:numRef>
              <c:f>'Chart Data'!$B$2:$B$3</c:f>
              <c:numCache>
                <c:formatCode>General</c:formatCode>
                <c:ptCount val="2"/>
                <c:pt idx="0">
                  <c:v>0</c:v>
                </c:pt>
                <c:pt idx="1">
                  <c:v>40</c:v>
                </c:pt>
              </c:numCache>
            </c:numRef>
          </c:yVal>
          <c:smooth val="0"/>
        </c:ser>
        <c:ser>
          <c:idx val="1"/>
          <c:order val="1"/>
          <c:tx>
            <c:v>Pc-hulplijn</c:v>
          </c:tx>
          <c:spPr>
            <a:ln xmlns:a="http://schemas.openxmlformats.org/drawingml/2006/main" w="14288">
              <a:solidFill>
                <a:srgbClr val="445B6B"/>
              </a:solidFill>
              <a:prstDash val="dash"/>
            </a:ln>
          </c:spPr>
          <c:marker>
            <c:symbol val="none"/>
          </c:marker>
          <c:xVal>
            <c:numRef>
              <c:f>'Chart Data'!$C$2:$C$3</c:f>
              <c:numCache>
                <c:formatCode>General</c:formatCode>
                <c:ptCount val="2"/>
                <c:pt idx="0">
                  <c:v>0</c:v>
                </c:pt>
                <c:pt idx="1">
                  <c:v>20</c:v>
                </c:pt>
              </c:numCache>
            </c:numRef>
          </c:xVal>
          <c:yVal>
            <c:numRef>
              <c:f>'Chart Data'!$D$2:$D$3</c:f>
              <c:numCache>
                <c:formatCode>General</c:formatCode>
                <c:ptCount val="2"/>
                <c:pt idx="0">
                  <c:v>40</c:v>
                </c:pt>
                <c:pt idx="1">
                  <c:v>40</c:v>
                </c:pt>
              </c:numCache>
            </c:numRef>
          </c:yVal>
          <c:smooth val="0"/>
        </c:ser>
        <c:ser>
          <c:idx val="2"/>
          <c:order val="2"/>
          <c:tx>
            <c:v>Pp-hulplijn</c:v>
          </c:tx>
          <c:spPr>
            <a:ln xmlns:a="http://schemas.openxmlformats.org/drawingml/2006/main" w="14288">
              <a:solidFill>
                <a:srgbClr val="445B6B"/>
              </a:solidFill>
              <a:prstDash val="dash"/>
            </a:ln>
          </c:spPr>
          <c:marker>
            <c:symbol val="none"/>
          </c:marker>
          <c:xVal>
            <c:numRef>
              <c:f>'Chart Data'!$E$2:$E$3</c:f>
              <c:numCache>
                <c:formatCode>General</c:formatCode>
                <c:ptCount val="2"/>
                <c:pt idx="0">
                  <c:v>0</c:v>
                </c:pt>
                <c:pt idx="1">
                  <c:v>20</c:v>
                </c:pt>
              </c:numCache>
            </c:numRef>
          </c:xVal>
          <c:yVal>
            <c:numRef>
              <c:f>'Chart Data'!$F$2:$F$3</c:f>
              <c:numCache>
                <c:formatCode>General</c:formatCode>
                <c:ptCount val="2"/>
                <c:pt idx="0">
                  <c:v>20</c:v>
                </c:pt>
                <c:pt idx="1">
                  <c:v>20</c:v>
                </c:pt>
              </c:numCache>
            </c:numRef>
          </c:yVal>
          <c:smooth val="0"/>
        </c:ser>
        <c:ser>
          <c:idx val="3"/>
          <c:order val="3"/>
          <c:tx>
            <c:v>belastingwig</c:v>
          </c:tx>
          <c:spPr>
            <a:ln xmlns:a="http://schemas.openxmlformats.org/drawingml/2006/main" w="47625">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t = 20</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Data'!$G$2:$G$4</c:f>
              <c:numCache>
                <c:formatCode>General</c:formatCode>
                <c:ptCount val="3"/>
                <c:pt idx="0">
                  <c:v>20</c:v>
                </c:pt>
                <c:pt idx="1">
                  <c:v>20</c:v>
                </c:pt>
                <c:pt idx="2">
                  <c:v>20</c:v>
                </c:pt>
              </c:numCache>
            </c:numRef>
          </c:xVal>
          <c:yVal>
            <c:numRef>
              <c:f>'Chart Data'!$H$2:$H$4</c:f>
              <c:numCache>
                <c:formatCode>General</c:formatCode>
                <c:ptCount val="3"/>
                <c:pt idx="0">
                  <c:v>20</c:v>
                </c:pt>
                <c:pt idx="1">
                  <c:v>30</c:v>
                </c:pt>
                <c:pt idx="2">
                  <c:v>40</c:v>
                </c:pt>
              </c:numCache>
            </c:numRef>
          </c:yVal>
          <c:smooth val="0"/>
        </c:ser>
        <c:ser>
          <c:idx val="4"/>
          <c:order val="4"/>
          <c:tx>
            <c:v>aanbodverschuiving</c:v>
          </c:tx>
          <c:spPr>
            <a:ln xmlns:a="http://schemas.openxmlformats.org/drawingml/2006/main" w="28575">
              <a:solidFill>
                <a:srgbClr val="A94D16"/>
              </a:solidFill>
            </a:ln>
          </c:spPr>
          <c:marker>
            <c:symbol val="none"/>
          </c:marker>
          <c:xVal>
            <c:numRef>
              <c:f>'Chart Data'!$I$2:$I$3</c:f>
              <c:numCache>
                <c:formatCode>General</c:formatCode>
                <c:ptCount val="2"/>
                <c:pt idx="0">
                  <c:v>60</c:v>
                </c:pt>
                <c:pt idx="1">
                  <c:v>40</c:v>
                </c:pt>
              </c:numCache>
            </c:numRef>
          </c:xVal>
          <c:yVal>
            <c:numRef>
              <c:f>'Chart Data'!$J$2:$J$3</c:f>
              <c:numCache>
                <c:formatCode>General</c:formatCode>
                <c:ptCount val="2"/>
                <c:pt idx="0">
                  <c:v>60</c:v>
                </c:pt>
                <c:pt idx="1">
                  <c:v>60</c:v>
                </c:pt>
              </c:numCache>
            </c:numRef>
          </c:yVal>
          <c:smooth val="0"/>
        </c:ser>
        <c:ser>
          <c:idx val="5"/>
          <c:order val="5"/>
          <c:tx>
            <c:v>pijlpunt links</c:v>
          </c:tx>
          <c:spPr>
            <a:ln xmlns:a="http://schemas.openxmlformats.org/drawingml/2006/main" w="28575">
              <a:solidFill>
                <a:srgbClr val="A94D16"/>
              </a:solidFill>
            </a:ln>
          </c:spPr>
          <c:marker>
            <c:symbol val="none"/>
          </c:marker>
          <c:xVal>
            <c:numRef>
              <c:f>'Chart Data'!$K$2:$K$4</c:f>
              <c:numCache>
                <c:formatCode>General</c:formatCode>
                <c:ptCount val="3"/>
                <c:pt idx="0">
                  <c:v>42</c:v>
                </c:pt>
                <c:pt idx="1">
                  <c:v>40</c:v>
                </c:pt>
                <c:pt idx="2">
                  <c:v>42</c:v>
                </c:pt>
              </c:numCache>
            </c:numRef>
          </c:xVal>
          <c:yVal>
            <c:numRef>
              <c:f>'Chart Data'!$L$2:$L$4</c:f>
              <c:numCache>
                <c:formatCode>General</c:formatCode>
                <c:ptCount val="3"/>
                <c:pt idx="0">
                  <c:v>62</c:v>
                </c:pt>
                <c:pt idx="1">
                  <c:v>60</c:v>
                </c:pt>
                <c:pt idx="2">
                  <c:v>58</c:v>
                </c:pt>
              </c:numCache>
            </c:numRef>
          </c:yVal>
          <c:smooth val="0"/>
        </c:ser>
        <c:ser>
          <c:idx val="6"/>
          <c:order val="6"/>
          <c:tx>
            <c:v>V</c:v>
          </c:tx>
          <c:spPr>
            <a:ln xmlns:a="http://schemas.openxmlformats.org/drawingml/2006/main" w="38100">
              <a:solidFill>
                <a:srgbClr val="1A5276"/>
              </a:solidFill>
            </a:ln>
          </c:spPr>
          <c:marker>
            <c:symbol val="none"/>
          </c:marker>
          <c:xVal>
            <c:numRef>
              <c:f>'Chart Data'!$M$2:$M$3</c:f>
              <c:numCache>
                <c:formatCode>General</c:formatCode>
                <c:ptCount val="2"/>
                <c:pt idx="0">
                  <c:v>0</c:v>
                </c:pt>
                <c:pt idx="1">
                  <c:v>60</c:v>
                </c:pt>
              </c:numCache>
            </c:numRef>
          </c:xVal>
          <c:yVal>
            <c:numRef>
              <c:f>'Chart Data'!$N$2:$N$3</c:f>
              <c:numCache>
                <c:formatCode>General</c:formatCode>
                <c:ptCount val="2"/>
                <c:pt idx="0">
                  <c:v>60</c:v>
                </c:pt>
                <c:pt idx="1">
                  <c:v>0</c:v>
                </c:pt>
              </c:numCache>
            </c:numRef>
          </c:yVal>
          <c:smooth val="0"/>
        </c:ser>
        <c:ser>
          <c:idx val="7"/>
          <c:order val="7"/>
          <c:tx>
            <c:v>A</c:v>
          </c:tx>
          <c:spPr>
            <a:ln xmlns:a="http://schemas.openxmlformats.org/drawingml/2006/main" w="38100">
              <a:solidFill>
                <a:srgbClr val="1E8449"/>
              </a:solidFill>
            </a:ln>
          </c:spPr>
          <c:marker>
            <c:symbol val="none"/>
          </c:marker>
          <c:xVal>
            <c:numRef>
              <c:f>'Chart Data'!$O$2:$O$3</c:f>
              <c:numCache>
                <c:formatCode>General</c:formatCode>
                <c:ptCount val="2"/>
                <c:pt idx="0">
                  <c:v>0</c:v>
                </c:pt>
                <c:pt idx="1">
                  <c:v>60</c:v>
                </c:pt>
              </c:numCache>
            </c:numRef>
          </c:xVal>
          <c:yVal>
            <c:numRef>
              <c:f>'Chart Data'!$P$2:$P$3</c:f>
              <c:numCache>
                <c:formatCode>General</c:formatCode>
                <c:ptCount val="2"/>
                <c:pt idx="0">
                  <c:v>0</c:v>
                </c:pt>
                <c:pt idx="1">
                  <c:v>60</c:v>
                </c:pt>
              </c:numCache>
            </c:numRef>
          </c:yVal>
          <c:smooth val="0"/>
        </c:ser>
        <c:ser>
          <c:idx val="8"/>
          <c:order val="8"/>
          <c:tx>
            <c:v>M</c:v>
          </c:tx>
          <c:spPr>
            <a:ln xmlns:a="http://schemas.openxmlformats.org/drawingml/2006/main" w="38100">
              <a:solidFill>
                <a:srgbClr val="A94D16"/>
              </a:solidFill>
            </a:ln>
          </c:spPr>
          <c:marker>
            <c:symbol val="none"/>
          </c:marker>
          <c:xVal>
            <c:numRef>
              <c:f>'Chart Data'!$Q$2:$Q$3</c:f>
              <c:numCache>
                <c:formatCode>General</c:formatCode>
                <c:ptCount val="2"/>
                <c:pt idx="0">
                  <c:v>0</c:v>
                </c:pt>
                <c:pt idx="1">
                  <c:v>60</c:v>
                </c:pt>
              </c:numCache>
            </c:numRef>
          </c:xVal>
          <c:yVal>
            <c:numRef>
              <c:f>'Chart Data'!$R$2:$R$3</c:f>
              <c:numCache>
                <c:formatCode>General</c:formatCode>
                <c:ptCount val="2"/>
                <c:pt idx="0">
                  <c:v>20</c:v>
                </c:pt>
                <c:pt idx="1">
                  <c:v>80</c:v>
                </c:pt>
              </c:numCache>
            </c:numRef>
          </c:yVal>
          <c:smooth val="0"/>
        </c:ser>
        <c:ser>
          <c:idx val="9"/>
          <c:order val="9"/>
          <c:tx>
            <c:v>label V</c:v>
          </c:tx>
          <c:spPr>
            <a:ln xmlns:a="http://schemas.openxmlformats.org/drawingml/2006/main" w="0">
              <a:solidFill>
                <a:srgbClr val="1A527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50.4</c:v>
                </c:pt>
              </c:numCache>
            </c:numRef>
          </c:xVal>
          <c:yVal>
            <c:numRef>
              <c:f>'Chart Data'!$T$2:$T$2</c:f>
              <c:numCache>
                <c:formatCode>General</c:formatCode>
                <c:ptCount val="1"/>
                <c:pt idx="0">
                  <c:v>4.6</c:v>
                </c:pt>
              </c:numCache>
            </c:numRef>
          </c:yVal>
          <c:smooth val="0"/>
        </c:ser>
        <c:ser>
          <c:idx val="10"/>
          <c:order val="10"/>
          <c:tx>
            <c:v>label A</c:v>
          </c:tx>
          <c:spPr>
            <a:ln xmlns:a="http://schemas.openxmlformats.org/drawingml/2006/main" w="0">
              <a:solidFill>
                <a:srgbClr val="1E8449"/>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E8449"/>
                        </a:solidFill>
                        <a:latin typeface="Arial"/>
                        <a:ea typeface="Arial"/>
                        <a:cs typeface="Arial"/>
                      </a:rPr>
                      <a:t>A = MK privé</a:t>
                    </a:r>
                  </a:p>
                </c:rich>
              </c:tx>
              <c:txPr>
                <a:bodyPr xmlns:a="http://schemas.openxmlformats.org/drawingml/2006/main" anchorCtr="1"/>
                <a:lstStyle xmlns:a="http://schemas.openxmlformats.org/drawingml/2006/main"/>
                <a:p xmlns:a="http://schemas.openxmlformats.org/drawingml/2006/main">
                  <a:pPr>
                    <a:defRPr sz="1875" b="1">
                      <a:solidFill>
                        <a:srgbClr val="1E8449"/>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Data'!$U$2:$U$2</c:f>
              <c:numCache>
                <c:formatCode>General</c:formatCode>
                <c:ptCount val="1"/>
                <c:pt idx="0">
                  <c:v>48.6</c:v>
                </c:pt>
              </c:numCache>
            </c:numRef>
          </c:xVal>
          <c:yVal>
            <c:numRef>
              <c:f>'Chart Data'!$V$2:$V$2</c:f>
              <c:numCache>
                <c:formatCode>General</c:formatCode>
                <c:ptCount val="1"/>
                <c:pt idx="0">
                  <c:v>40.6</c:v>
                </c:pt>
              </c:numCache>
            </c:numRef>
          </c:yVal>
          <c:smooth val="0"/>
        </c:ser>
        <c:ser>
          <c:idx val="11"/>
          <c:order val="11"/>
          <c:tx>
            <c:v>label M</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 maatschappelijk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39</c:v>
                </c:pt>
              </c:numCache>
            </c:numRef>
          </c:xVal>
          <c:yVal>
            <c:numRef>
              <c:f>'Chart Data'!$X$2:$X$2</c:f>
              <c:numCache>
                <c:formatCode>General</c:formatCode>
                <c:ptCount val="1"/>
                <c:pt idx="0">
                  <c:v>71</c:v>
                </c:pt>
              </c:numCache>
            </c:numRef>
          </c:yVal>
          <c:smooth val="0"/>
        </c:ser>
        <c:ser>
          <c:idx val="12"/>
          <c:order val="12"/>
          <c:tx>
            <c:v>Ee</c:v>
          </c:tx>
          <c:spPr>
            <a:ln xmlns:a="http://schemas.openxmlformats.org/drawingml/2006/main" w="0">
              <a:solidFill>
                <a:srgbClr val="A94D16"/>
              </a:solidFill>
            </a:ln>
          </c:spPr>
          <c:marker>
            <c:symbol val="circle"/>
            <c:size val="8"/>
            <c:spPr>
              <a:solidFill xmlns:a="http://schemas.openxmlformats.org/drawingml/2006/main">
                <a:srgbClr val="A94D16"/>
              </a:solidFill>
            </c:spPr>
          </c:marker>
          <c:xVal>
            <c:numRef>
              <c:f>'Chart Data'!$Y$2:$Y$2</c:f>
              <c:numCache>
                <c:formatCode>General</c:formatCode>
                <c:ptCount val="1"/>
                <c:pt idx="0">
                  <c:v>20</c:v>
                </c:pt>
              </c:numCache>
            </c:numRef>
          </c:xVal>
          <c:yVal>
            <c:numRef>
              <c:f>'Chart Data'!$Z$2:$Z$2</c:f>
              <c:numCache>
                <c:formatCode>General</c:formatCode>
                <c:ptCount val="1"/>
                <c:pt idx="0">
                  <c:v>40</c:v>
                </c:pt>
              </c:numCache>
            </c:numRef>
          </c:yVal>
          <c:smooth val="0"/>
        </c:ser>
        <c:ser>
          <c:idx val="13"/>
          <c:order val="13"/>
          <c:tx>
            <c:v>label Ee</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Eₑ</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18</c:v>
                </c:pt>
              </c:numCache>
            </c:numRef>
          </c:xVal>
          <c:yVal>
            <c:numRef>
              <c:f>'Chart Data'!$AB$2:$AB$2</c:f>
              <c:numCache>
                <c:formatCode>General</c:formatCode>
                <c:ptCount val="1"/>
                <c:pt idx="0">
                  <c:v>51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en MK (€ per dienst)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(diensten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arcering</c:v>
          </c:tx>
          <c:spPr>
            <a:ln xmlns:a="http://schemas.openxmlformats.org/drawingml/2006/main" w="19050">
              <a:solidFill>
                <a:srgbClr val="B4473C"/>
              </a:solidFill>
            </a:ln>
          </c:spPr>
          <c:marker>
            <c:symbol val="none"/>
          </c:marker>
          <c:xVal>
            <c:numRef>
              <c:f>'Chart Data'!$A$2:$A$3</c:f>
              <c:numCache>
                <c:formatCode>General</c:formatCode>
                <c:ptCount val="2"/>
                <c:pt idx="0">
                  <c:v>20.5</c:v>
                </c:pt>
                <c:pt idx="1">
                  <c:v>20.5</c:v>
                </c:pt>
              </c:numCache>
            </c:numRef>
          </c:xVal>
          <c:yVal>
            <c:numRef>
              <c:f>'Chart Data'!$B$2:$B$3</c:f>
              <c:numCache>
                <c:formatCode>General</c:formatCode>
                <c:ptCount val="2"/>
                <c:pt idx="0">
                  <c:v>39.5</c:v>
                </c:pt>
                <c:pt idx="1">
                  <c:v>40.5</c:v>
                </c:pt>
              </c:numCache>
            </c:numRef>
          </c:yVal>
          <c:smooth val="0"/>
        </c:ser>
        <c:ser>
          <c:idx val="1"/>
          <c:order val="1"/>
          <c:tx>
            <c:v>arcering</c:v>
          </c:tx>
          <c:spPr>
            <a:ln xmlns:a="http://schemas.openxmlformats.org/drawingml/2006/main" w="19050">
              <a:solidFill>
                <a:srgbClr val="B4473C"/>
              </a:solidFill>
            </a:ln>
          </c:spPr>
          <c:marker>
            <c:symbol val="none"/>
          </c:marker>
          <c:xVal>
            <c:numRef>
              <c:f>'Chart Data'!$C$2:$C$3</c:f>
              <c:numCache>
                <c:formatCode>General</c:formatCode>
                <c:ptCount val="2"/>
                <c:pt idx="0">
                  <c:v>21.2</c:v>
                </c:pt>
                <c:pt idx="1">
                  <c:v>21.2</c:v>
                </c:pt>
              </c:numCache>
            </c:numRef>
          </c:xVal>
          <c:yVal>
            <c:numRef>
              <c:f>'Chart Data'!$D$2:$D$3</c:f>
              <c:numCache>
                <c:formatCode>General</c:formatCode>
                <c:ptCount val="2"/>
                <c:pt idx="0">
                  <c:v>38.8</c:v>
                </c:pt>
                <c:pt idx="1">
                  <c:v>41.2</c:v>
                </c:pt>
              </c:numCache>
            </c:numRef>
          </c:yVal>
          <c:smooth val="0"/>
        </c:ser>
        <c:ser>
          <c:idx val="2"/>
          <c:order val="2"/>
          <c:tx>
            <c:v>arcering</c:v>
          </c:tx>
          <c:spPr>
            <a:ln xmlns:a="http://schemas.openxmlformats.org/drawingml/2006/main" w="19050">
              <a:solidFill>
                <a:srgbClr val="B4473C"/>
              </a:solidFill>
            </a:ln>
          </c:spPr>
          <c:marker>
            <c:symbol val="none"/>
          </c:marker>
          <c:xVal>
            <c:numRef>
              <c:f>'Chart Data'!$E$2:$E$3</c:f>
              <c:numCache>
                <c:formatCode>General</c:formatCode>
                <c:ptCount val="2"/>
                <c:pt idx="0">
                  <c:v>21.9</c:v>
                </c:pt>
                <c:pt idx="1">
                  <c:v>21.9</c:v>
                </c:pt>
              </c:numCache>
            </c:numRef>
          </c:xVal>
          <c:yVal>
            <c:numRef>
              <c:f>'Chart Data'!$F$2:$F$3</c:f>
              <c:numCache>
                <c:formatCode>General</c:formatCode>
                <c:ptCount val="2"/>
                <c:pt idx="0">
                  <c:v>38.1</c:v>
                </c:pt>
                <c:pt idx="1">
                  <c:v>41.9</c:v>
                </c:pt>
              </c:numCache>
            </c:numRef>
          </c:yVal>
          <c:smooth val="0"/>
        </c:ser>
        <c:ser>
          <c:idx val="3"/>
          <c:order val="3"/>
          <c:tx>
            <c:v>arcering</c:v>
          </c:tx>
          <c:spPr>
            <a:ln xmlns:a="http://schemas.openxmlformats.org/drawingml/2006/main" w="19050">
              <a:solidFill>
                <a:srgbClr val="B4473C"/>
              </a:solidFill>
            </a:ln>
          </c:spPr>
          <c:marker>
            <c:symbol val="none"/>
          </c:marker>
          <c:xVal>
            <c:numRef>
              <c:f>'Chart Data'!$G$2:$G$3</c:f>
              <c:numCache>
                <c:formatCode>General</c:formatCode>
                <c:ptCount val="2"/>
                <c:pt idx="0">
                  <c:v>22.6</c:v>
                </c:pt>
                <c:pt idx="1">
                  <c:v>22.6</c:v>
                </c:pt>
              </c:numCache>
            </c:numRef>
          </c:xVal>
          <c:yVal>
            <c:numRef>
              <c:f>'Chart Data'!$H$2:$H$3</c:f>
              <c:numCache>
                <c:formatCode>General</c:formatCode>
                <c:ptCount val="2"/>
                <c:pt idx="0">
                  <c:v>37.4</c:v>
                </c:pt>
                <c:pt idx="1">
                  <c:v>42.6</c:v>
                </c:pt>
              </c:numCache>
            </c:numRef>
          </c:yVal>
          <c:smooth val="0"/>
        </c:ser>
        <c:ser>
          <c:idx val="4"/>
          <c:order val="4"/>
          <c:tx>
            <c:v>arcering</c:v>
          </c:tx>
          <c:spPr>
            <a:ln xmlns:a="http://schemas.openxmlformats.org/drawingml/2006/main" w="19050">
              <a:solidFill>
                <a:srgbClr val="B4473C"/>
              </a:solidFill>
            </a:ln>
          </c:spPr>
          <c:marker>
            <c:symbol val="none"/>
          </c:marker>
          <c:xVal>
            <c:numRef>
              <c:f>'Chart Data'!$I$2:$I$3</c:f>
              <c:numCache>
                <c:formatCode>General</c:formatCode>
                <c:ptCount val="2"/>
                <c:pt idx="0">
                  <c:v>23.3</c:v>
                </c:pt>
                <c:pt idx="1">
                  <c:v>23.3</c:v>
                </c:pt>
              </c:numCache>
            </c:numRef>
          </c:xVal>
          <c:yVal>
            <c:numRef>
              <c:f>'Chart Data'!$J$2:$J$3</c:f>
              <c:numCache>
                <c:formatCode>General</c:formatCode>
                <c:ptCount val="2"/>
                <c:pt idx="0">
                  <c:v>36.7</c:v>
                </c:pt>
                <c:pt idx="1">
                  <c:v>43.3</c:v>
                </c:pt>
              </c:numCache>
            </c:numRef>
          </c:yVal>
          <c:smooth val="0"/>
        </c:ser>
        <c:ser>
          <c:idx val="5"/>
          <c:order val="5"/>
          <c:tx>
            <c:v>arcering</c:v>
          </c:tx>
          <c:spPr>
            <a:ln xmlns:a="http://schemas.openxmlformats.org/drawingml/2006/main" w="19050">
              <a:solidFill>
                <a:srgbClr val="B4473C"/>
              </a:solidFill>
            </a:ln>
          </c:spPr>
          <c:marker>
            <c:symbol val="none"/>
          </c:marker>
          <c:xVal>
            <c:numRef>
              <c:f>'Chart Data'!$K$2:$K$3</c:f>
              <c:numCache>
                <c:formatCode>General</c:formatCode>
                <c:ptCount val="2"/>
                <c:pt idx="0">
                  <c:v>24</c:v>
                </c:pt>
                <c:pt idx="1">
                  <c:v>24</c:v>
                </c:pt>
              </c:numCache>
            </c:numRef>
          </c:xVal>
          <c:yVal>
            <c:numRef>
              <c:f>'Chart Data'!$L$2:$L$3</c:f>
              <c:numCache>
                <c:formatCode>General</c:formatCode>
                <c:ptCount val="2"/>
                <c:pt idx="0">
                  <c:v>36</c:v>
                </c:pt>
                <c:pt idx="1">
                  <c:v>44</c:v>
                </c:pt>
              </c:numCache>
            </c:numRef>
          </c:yVal>
          <c:smooth val="0"/>
        </c:ser>
        <c:ser>
          <c:idx val="6"/>
          <c:order val="6"/>
          <c:tx>
            <c:v>arcering</c:v>
          </c:tx>
          <c:spPr>
            <a:ln xmlns:a="http://schemas.openxmlformats.org/drawingml/2006/main" w="19050">
              <a:solidFill>
                <a:srgbClr val="B4473C"/>
              </a:solidFill>
            </a:ln>
          </c:spPr>
          <c:marker>
            <c:symbol val="none"/>
          </c:marker>
          <c:xVal>
            <c:numRef>
              <c:f>'Chart Data'!$M$2:$M$3</c:f>
              <c:numCache>
                <c:formatCode>General</c:formatCode>
                <c:ptCount val="2"/>
                <c:pt idx="0">
                  <c:v>24.7</c:v>
                </c:pt>
                <c:pt idx="1">
                  <c:v>24.7</c:v>
                </c:pt>
              </c:numCache>
            </c:numRef>
          </c:xVal>
          <c:yVal>
            <c:numRef>
              <c:f>'Chart Data'!$N$2:$N$3</c:f>
              <c:numCache>
                <c:formatCode>General</c:formatCode>
                <c:ptCount val="2"/>
                <c:pt idx="0">
                  <c:v>35.3</c:v>
                </c:pt>
                <c:pt idx="1">
                  <c:v>44.7</c:v>
                </c:pt>
              </c:numCache>
            </c:numRef>
          </c:yVal>
          <c:smooth val="0"/>
        </c:ser>
        <c:ser>
          <c:idx val="7"/>
          <c:order val="7"/>
          <c:tx>
            <c:v>arcering</c:v>
          </c:tx>
          <c:spPr>
            <a:ln xmlns:a="http://schemas.openxmlformats.org/drawingml/2006/main" w="19050">
              <a:solidFill>
                <a:srgbClr val="B4473C"/>
              </a:solidFill>
            </a:ln>
          </c:spPr>
          <c:marker>
            <c:symbol val="none"/>
          </c:marker>
          <c:xVal>
            <c:numRef>
              <c:f>'Chart Data'!$O$2:$O$3</c:f>
              <c:numCache>
                <c:formatCode>General</c:formatCode>
                <c:ptCount val="2"/>
                <c:pt idx="0">
                  <c:v>25.4</c:v>
                </c:pt>
                <c:pt idx="1">
                  <c:v>25.4</c:v>
                </c:pt>
              </c:numCache>
            </c:numRef>
          </c:xVal>
          <c:yVal>
            <c:numRef>
              <c:f>'Chart Data'!$P$2:$P$3</c:f>
              <c:numCache>
                <c:formatCode>General</c:formatCode>
                <c:ptCount val="2"/>
                <c:pt idx="0">
                  <c:v>34.6</c:v>
                </c:pt>
                <c:pt idx="1">
                  <c:v>45.4</c:v>
                </c:pt>
              </c:numCache>
            </c:numRef>
          </c:yVal>
          <c:smooth val="0"/>
        </c:ser>
        <c:ser>
          <c:idx val="8"/>
          <c:order val="8"/>
          <c:tx>
            <c:v>arcering</c:v>
          </c:tx>
          <c:spPr>
            <a:ln xmlns:a="http://schemas.openxmlformats.org/drawingml/2006/main" w="19050">
              <a:solidFill>
                <a:srgbClr val="B4473C"/>
              </a:solidFill>
            </a:ln>
          </c:spPr>
          <c:marker>
            <c:symbol val="none"/>
          </c:marker>
          <c:xVal>
            <c:numRef>
              <c:f>'Chart Data'!$Q$2:$Q$3</c:f>
              <c:numCache>
                <c:formatCode>General</c:formatCode>
                <c:ptCount val="2"/>
                <c:pt idx="0">
                  <c:v>26.1</c:v>
                </c:pt>
                <c:pt idx="1">
                  <c:v>26.1</c:v>
                </c:pt>
              </c:numCache>
            </c:numRef>
          </c:xVal>
          <c:yVal>
            <c:numRef>
              <c:f>'Chart Data'!$R$2:$R$3</c:f>
              <c:numCache>
                <c:formatCode>General</c:formatCode>
                <c:ptCount val="2"/>
                <c:pt idx="0">
                  <c:v>33.9</c:v>
                </c:pt>
                <c:pt idx="1">
                  <c:v>46.1</c:v>
                </c:pt>
              </c:numCache>
            </c:numRef>
          </c:yVal>
          <c:smooth val="0"/>
        </c:ser>
        <c:ser>
          <c:idx val="9"/>
          <c:order val="9"/>
          <c:tx>
            <c:v>arcering</c:v>
          </c:tx>
          <c:spPr>
            <a:ln xmlns:a="http://schemas.openxmlformats.org/drawingml/2006/main" w="19050">
              <a:solidFill>
                <a:srgbClr val="B4473C"/>
              </a:solidFill>
            </a:ln>
          </c:spPr>
          <c:marker>
            <c:symbol val="none"/>
          </c:marker>
          <c:xVal>
            <c:numRef>
              <c:f>'Chart Data'!$S$2:$S$3</c:f>
              <c:numCache>
                <c:formatCode>General</c:formatCode>
                <c:ptCount val="2"/>
                <c:pt idx="0">
                  <c:v>26.8</c:v>
                </c:pt>
                <c:pt idx="1">
                  <c:v>26.8</c:v>
                </c:pt>
              </c:numCache>
            </c:numRef>
          </c:xVal>
          <c:yVal>
            <c:numRef>
              <c:f>'Chart Data'!$T$2:$T$3</c:f>
              <c:numCache>
                <c:formatCode>General</c:formatCode>
                <c:ptCount val="2"/>
                <c:pt idx="0">
                  <c:v>33.2</c:v>
                </c:pt>
                <c:pt idx="1">
                  <c:v>46.8</c:v>
                </c:pt>
              </c:numCache>
            </c:numRef>
          </c:yVal>
          <c:smooth val="0"/>
        </c:ser>
        <c:ser>
          <c:idx val="10"/>
          <c:order val="10"/>
          <c:tx>
            <c:v>arcering</c:v>
          </c:tx>
          <c:spPr>
            <a:ln xmlns:a="http://schemas.openxmlformats.org/drawingml/2006/main" w="19050">
              <a:solidFill>
                <a:srgbClr val="B4473C"/>
              </a:solidFill>
            </a:ln>
          </c:spPr>
          <c:marker>
            <c:symbol val="none"/>
          </c:marker>
          <c:xVal>
            <c:numRef>
              <c:f>'Chart Data'!$U$2:$U$3</c:f>
              <c:numCache>
                <c:formatCode>General</c:formatCode>
                <c:ptCount val="2"/>
                <c:pt idx="0">
                  <c:v>27.5</c:v>
                </c:pt>
                <c:pt idx="1">
                  <c:v>27.5</c:v>
                </c:pt>
              </c:numCache>
            </c:numRef>
          </c:xVal>
          <c:yVal>
            <c:numRef>
              <c:f>'Chart Data'!$V$2:$V$3</c:f>
              <c:numCache>
                <c:formatCode>General</c:formatCode>
                <c:ptCount val="2"/>
                <c:pt idx="0">
                  <c:v>32.5</c:v>
                </c:pt>
                <c:pt idx="1">
                  <c:v>47.5</c:v>
                </c:pt>
              </c:numCache>
            </c:numRef>
          </c:yVal>
          <c:smooth val="0"/>
        </c:ser>
        <c:ser>
          <c:idx val="11"/>
          <c:order val="11"/>
          <c:tx>
            <c:v>arcering</c:v>
          </c:tx>
          <c:spPr>
            <a:ln xmlns:a="http://schemas.openxmlformats.org/drawingml/2006/main" w="19050">
              <a:solidFill>
                <a:srgbClr val="B4473C"/>
              </a:solidFill>
            </a:ln>
          </c:spPr>
          <c:marker>
            <c:symbol val="none"/>
          </c:marker>
          <c:xVal>
            <c:numRef>
              <c:f>'Chart Data'!$W$2:$W$3</c:f>
              <c:numCache>
                <c:formatCode>General</c:formatCode>
                <c:ptCount val="2"/>
                <c:pt idx="0">
                  <c:v>28.2</c:v>
                </c:pt>
                <c:pt idx="1">
                  <c:v>28.2</c:v>
                </c:pt>
              </c:numCache>
            </c:numRef>
          </c:xVal>
          <c:yVal>
            <c:numRef>
              <c:f>'Chart Data'!$X$2:$X$3</c:f>
              <c:numCache>
                <c:formatCode>General</c:formatCode>
                <c:ptCount val="2"/>
                <c:pt idx="0">
                  <c:v>31.8</c:v>
                </c:pt>
                <c:pt idx="1">
                  <c:v>48.2</c:v>
                </c:pt>
              </c:numCache>
            </c:numRef>
          </c:yVal>
          <c:smooth val="0"/>
        </c:ser>
        <c:ser>
          <c:idx val="12"/>
          <c:order val="12"/>
          <c:tx>
            <c:v>arcering</c:v>
          </c:tx>
          <c:spPr>
            <a:ln xmlns:a="http://schemas.openxmlformats.org/drawingml/2006/main" w="19050">
              <a:solidFill>
                <a:srgbClr val="B4473C"/>
              </a:solidFill>
            </a:ln>
          </c:spPr>
          <c:marker>
            <c:symbol val="none"/>
          </c:marker>
          <c:xVal>
            <c:numRef>
              <c:f>'Chart Data'!$Y$2:$Y$3</c:f>
              <c:numCache>
                <c:formatCode>General</c:formatCode>
                <c:ptCount val="2"/>
                <c:pt idx="0">
                  <c:v>28.9</c:v>
                </c:pt>
                <c:pt idx="1">
                  <c:v>28.9</c:v>
                </c:pt>
              </c:numCache>
            </c:numRef>
          </c:xVal>
          <c:yVal>
            <c:numRef>
              <c:f>'Chart Data'!$Z$2:$Z$3</c:f>
              <c:numCache>
                <c:formatCode>General</c:formatCode>
                <c:ptCount val="2"/>
                <c:pt idx="0">
                  <c:v>31.1</c:v>
                </c:pt>
                <c:pt idx="1">
                  <c:v>48.9</c:v>
                </c:pt>
              </c:numCache>
            </c:numRef>
          </c:yVal>
          <c:smooth val="0"/>
        </c:ser>
        <c:ser>
          <c:idx val="13"/>
          <c:order val="13"/>
          <c:tx>
            <c:v>arcering</c:v>
          </c:tx>
          <c:spPr>
            <a:ln xmlns:a="http://schemas.openxmlformats.org/drawingml/2006/main" w="19050">
              <a:solidFill>
                <a:srgbClr val="B4473C"/>
              </a:solidFill>
            </a:ln>
          </c:spPr>
          <c:marker>
            <c:symbol val="none"/>
          </c:marker>
          <c:xVal>
            <c:numRef>
              <c:f>'Chart Data'!$AA$2:$AA$3</c:f>
              <c:numCache>
                <c:formatCode>General</c:formatCode>
                <c:ptCount val="2"/>
                <c:pt idx="0">
                  <c:v>29.6</c:v>
                </c:pt>
                <c:pt idx="1">
                  <c:v>29.6</c:v>
                </c:pt>
              </c:numCache>
            </c:numRef>
          </c:xVal>
          <c:yVal>
            <c:numRef>
              <c:f>'Chart Data'!$AB$2:$AB$3</c:f>
              <c:numCache>
                <c:formatCode>General</c:formatCode>
                <c:ptCount val="2"/>
                <c:pt idx="0">
                  <c:v>30.4</c:v>
                </c:pt>
                <c:pt idx="1">
                  <c:v>49.6</c:v>
                </c:pt>
              </c:numCache>
            </c:numRef>
          </c:yVal>
          <c:smooth val="0"/>
        </c:ser>
        <c:ser>
          <c:idx val="14"/>
          <c:order val="14"/>
          <c:tx>
            <c:v>verliesgrens</c:v>
          </c:tx>
          <c:spPr>
            <a:ln xmlns:a="http://schemas.openxmlformats.org/drawingml/2006/main" w="28575">
              <a:solidFill>
                <a:srgbClr val="B4473C"/>
              </a:solidFill>
            </a:ln>
          </c:spPr>
          <c:marker>
            <c:symbol val="none"/>
          </c:marker>
          <c:xVal>
            <c:numRef>
              <c:f>'Chart Data'!$AC$2:$AC$5</c:f>
              <c:numCache>
                <c:formatCode>General</c:formatCode>
                <c:ptCount val="4"/>
                <c:pt idx="0">
                  <c:v>20</c:v>
                </c:pt>
                <c:pt idx="1">
                  <c:v>30</c:v>
                </c:pt>
                <c:pt idx="2">
                  <c:v>30</c:v>
                </c:pt>
                <c:pt idx="3">
                  <c:v>20</c:v>
                </c:pt>
              </c:numCache>
            </c:numRef>
          </c:xVal>
          <c:yVal>
            <c:numRef>
              <c:f>'Chart Data'!$AD$2:$AD$5</c:f>
              <c:numCache>
                <c:formatCode>General</c:formatCode>
                <c:ptCount val="4"/>
                <c:pt idx="0">
                  <c:v>40</c:v>
                </c:pt>
                <c:pt idx="1">
                  <c:v>30</c:v>
                </c:pt>
                <c:pt idx="2">
                  <c:v>50</c:v>
                </c:pt>
                <c:pt idx="3">
                  <c:v>40</c:v>
                </c:pt>
              </c:numCache>
            </c:numRef>
          </c:yVal>
          <c:smooth val="0"/>
        </c:ser>
        <c:ser>
          <c:idx val="15"/>
          <c:order val="15"/>
          <c:tx>
            <c:v>Q0-hulplijn</c:v>
          </c:tx>
          <c:spPr>
            <a:ln xmlns:a="http://schemas.openxmlformats.org/drawingml/2006/main" w="14288">
              <a:solidFill>
                <a:srgbClr val="445B6B"/>
              </a:solidFill>
              <a:prstDash val="dash"/>
            </a:ln>
          </c:spPr>
          <c:marker>
            <c:symbol val="none"/>
          </c:marker>
          <c:xVal>
            <c:numRef>
              <c:f>'Chart Data'!$AE$2:$AE$3</c:f>
              <c:numCache>
                <c:formatCode>General</c:formatCode>
                <c:ptCount val="2"/>
                <c:pt idx="0">
                  <c:v>30</c:v>
                </c:pt>
                <c:pt idx="1">
                  <c:v>30</c:v>
                </c:pt>
              </c:numCache>
            </c:numRef>
          </c:xVal>
          <c:yVal>
            <c:numRef>
              <c:f>'Chart Data'!$AF$2:$AF$3</c:f>
              <c:numCache>
                <c:formatCode>General</c:formatCode>
                <c:ptCount val="2"/>
                <c:pt idx="0">
                  <c:v>0</c:v>
                </c:pt>
                <c:pt idx="1">
                  <c:v>30</c:v>
                </c:pt>
              </c:numCache>
            </c:numRef>
          </c:yVal>
          <c:smooth val="0"/>
        </c:ser>
        <c:ser>
          <c:idx val="16"/>
          <c:order val="16"/>
          <c:tx>
            <c:v>P0-hulplijn</c:v>
          </c:tx>
          <c:spPr>
            <a:ln xmlns:a="http://schemas.openxmlformats.org/drawingml/2006/main" w="14288">
              <a:solidFill>
                <a:srgbClr val="445B6B"/>
              </a:solidFill>
              <a:prstDash val="dash"/>
            </a:ln>
          </c:spPr>
          <c:marker>
            <c:symbol val="none"/>
          </c:marker>
          <c:xVal>
            <c:numRef>
              <c:f>'Chart Data'!$AG$2:$AG$3</c:f>
              <c:numCache>
                <c:formatCode>General</c:formatCode>
                <c:ptCount val="2"/>
                <c:pt idx="0">
                  <c:v>0</c:v>
                </c:pt>
                <c:pt idx="1">
                  <c:v>30</c:v>
                </c:pt>
              </c:numCache>
            </c:numRef>
          </c:xVal>
          <c:yVal>
            <c:numRef>
              <c:f>'Chart Data'!$AH$2:$AH$3</c:f>
              <c:numCache>
                <c:formatCode>General</c:formatCode>
                <c:ptCount val="2"/>
                <c:pt idx="0">
                  <c:v>30</c:v>
                </c:pt>
                <c:pt idx="1">
                  <c:v>30</c:v>
                </c:pt>
              </c:numCache>
            </c:numRef>
          </c:yVal>
          <c:smooth val="0"/>
        </c:ser>
        <c:ser>
          <c:idx val="17"/>
          <c:order val="17"/>
          <c:tx>
            <c:v>Qe-hulplijn</c:v>
          </c:tx>
          <c:spPr>
            <a:ln xmlns:a="http://schemas.openxmlformats.org/drawingml/2006/main" w="14288">
              <a:solidFill>
                <a:srgbClr val="445B6B"/>
              </a:solidFill>
              <a:prstDash val="dash"/>
            </a:ln>
          </c:spPr>
          <c:marker>
            <c:symbol val="none"/>
          </c:marker>
          <c:xVal>
            <c:numRef>
              <c:f>'Chart Data'!$AI$2:$AI$3</c:f>
              <c:numCache>
                <c:formatCode>General</c:formatCode>
                <c:ptCount val="2"/>
                <c:pt idx="0">
                  <c:v>20</c:v>
                </c:pt>
                <c:pt idx="1">
                  <c:v>20</c:v>
                </c:pt>
              </c:numCache>
            </c:numRef>
          </c:xVal>
          <c:yVal>
            <c:numRef>
              <c:f>'Chart Data'!$AJ$2:$AJ$3</c:f>
              <c:numCache>
                <c:formatCode>General</c:formatCode>
                <c:ptCount val="2"/>
                <c:pt idx="0">
                  <c:v>0</c:v>
                </c:pt>
                <c:pt idx="1">
                  <c:v>40</c:v>
                </c:pt>
              </c:numCache>
            </c:numRef>
          </c:yVal>
          <c:smooth val="0"/>
        </c:ser>
        <c:ser>
          <c:idx val="18"/>
          <c:order val="18"/>
          <c:tx>
            <c:v>V</c:v>
          </c:tx>
          <c:spPr>
            <a:ln xmlns:a="http://schemas.openxmlformats.org/drawingml/2006/main" w="38100">
              <a:solidFill>
                <a:srgbClr val="1A5276"/>
              </a:solidFill>
            </a:ln>
          </c:spPr>
          <c:marker>
            <c:symbol val="none"/>
          </c:marker>
          <c:xVal>
            <c:numRef>
              <c:f>'Chart Data'!$AK$2:$AK$3</c:f>
              <c:numCache>
                <c:formatCode>General</c:formatCode>
                <c:ptCount val="2"/>
                <c:pt idx="0">
                  <c:v>0</c:v>
                </c:pt>
                <c:pt idx="1">
                  <c:v>60</c:v>
                </c:pt>
              </c:numCache>
            </c:numRef>
          </c:xVal>
          <c:yVal>
            <c:numRef>
              <c:f>'Chart Data'!$AL$2:$AL$3</c:f>
              <c:numCache>
                <c:formatCode>General</c:formatCode>
                <c:ptCount val="2"/>
                <c:pt idx="0">
                  <c:v>60</c:v>
                </c:pt>
                <c:pt idx="1">
                  <c:v>0</c:v>
                </c:pt>
              </c:numCache>
            </c:numRef>
          </c:yVal>
          <c:smooth val="0"/>
        </c:ser>
        <c:ser>
          <c:idx val="19"/>
          <c:order val="19"/>
          <c:tx>
            <c:v>A</c:v>
          </c:tx>
          <c:spPr>
            <a:ln xmlns:a="http://schemas.openxmlformats.org/drawingml/2006/main" w="38100">
              <a:solidFill>
                <a:srgbClr val="1E8449"/>
              </a:solidFill>
            </a:ln>
          </c:spPr>
          <c:marker>
            <c:symbol val="none"/>
          </c:marker>
          <c:xVal>
            <c:numRef>
              <c:f>'Chart Data'!$AM$2:$AM$3</c:f>
              <c:numCache>
                <c:formatCode>General</c:formatCode>
                <c:ptCount val="2"/>
                <c:pt idx="0">
                  <c:v>0</c:v>
                </c:pt>
                <c:pt idx="1">
                  <c:v>60</c:v>
                </c:pt>
              </c:numCache>
            </c:numRef>
          </c:xVal>
          <c:yVal>
            <c:numRef>
              <c:f>'Chart Data'!$AN$2:$AN$3</c:f>
              <c:numCache>
                <c:formatCode>General</c:formatCode>
                <c:ptCount val="2"/>
                <c:pt idx="0">
                  <c:v>0</c:v>
                </c:pt>
                <c:pt idx="1">
                  <c:v>60</c:v>
                </c:pt>
              </c:numCache>
            </c:numRef>
          </c:yVal>
          <c:smooth val="0"/>
        </c:ser>
        <c:ser>
          <c:idx val="20"/>
          <c:order val="20"/>
          <c:tx>
            <c:v>M</c:v>
          </c:tx>
          <c:spPr>
            <a:ln xmlns:a="http://schemas.openxmlformats.org/drawingml/2006/main" w="38100">
              <a:solidFill>
                <a:srgbClr val="A94D16"/>
              </a:solidFill>
            </a:ln>
          </c:spPr>
          <c:marker>
            <c:symbol val="none"/>
          </c:marker>
          <c:xVal>
            <c:numRef>
              <c:f>'Chart Data'!$AO$2:$AO$3</c:f>
              <c:numCache>
                <c:formatCode>General</c:formatCode>
                <c:ptCount val="2"/>
                <c:pt idx="0">
                  <c:v>0</c:v>
                </c:pt>
                <c:pt idx="1">
                  <c:v>60</c:v>
                </c:pt>
              </c:numCache>
            </c:numRef>
          </c:xVal>
          <c:yVal>
            <c:numRef>
              <c:f>'Chart Data'!$AP$2:$AP$3</c:f>
              <c:numCache>
                <c:formatCode>General</c:formatCode>
                <c:ptCount val="2"/>
                <c:pt idx="0">
                  <c:v>20</c:v>
                </c:pt>
                <c:pt idx="1">
                  <c:v>80</c:v>
                </c:pt>
              </c:numCache>
            </c:numRef>
          </c:yVal>
          <c:smooth val="0"/>
        </c:ser>
        <c:ser>
          <c:idx val="21"/>
          <c:order val="21"/>
          <c:tx>
            <c:v>label V</c:v>
          </c:tx>
          <c:spPr>
            <a:ln xmlns:a="http://schemas.openxmlformats.org/drawingml/2006/main" w="0">
              <a:solidFill>
                <a:srgbClr val="1A527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Data'!$AQ$2:$AQ$2</c:f>
              <c:numCache>
                <c:formatCode>General</c:formatCode>
                <c:ptCount val="1"/>
                <c:pt idx="0">
                  <c:v>50.4</c:v>
                </c:pt>
              </c:numCache>
            </c:numRef>
          </c:xVal>
          <c:yVal>
            <c:numRef>
              <c:f>'Chart Data'!$AR$2:$AR$2</c:f>
              <c:numCache>
                <c:formatCode>General</c:formatCode>
                <c:ptCount val="1"/>
                <c:pt idx="0">
                  <c:v>4.6</c:v>
                </c:pt>
              </c:numCache>
            </c:numRef>
          </c:yVal>
          <c:smooth val="0"/>
        </c:ser>
        <c:ser>
          <c:idx val="22"/>
          <c:order val="22"/>
          <c:tx>
            <c:v>label A</c:v>
          </c:tx>
          <c:spPr>
            <a:ln xmlns:a="http://schemas.openxmlformats.org/drawingml/2006/main" w="0">
              <a:solidFill>
                <a:srgbClr val="1E8449"/>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E8449"/>
                        </a:solidFill>
                        <a:latin typeface="Arial"/>
                        <a:ea typeface="Arial"/>
                        <a:cs typeface="Arial"/>
                      </a:rPr>
                      <a:t>A = MK privé</a:t>
                    </a:r>
                  </a:p>
                </c:rich>
              </c:tx>
              <c:txPr>
                <a:bodyPr xmlns:a="http://schemas.openxmlformats.org/drawingml/2006/main" anchorCtr="1"/>
                <a:lstStyle xmlns:a="http://schemas.openxmlformats.org/drawingml/2006/main"/>
                <a:p xmlns:a="http://schemas.openxmlformats.org/drawingml/2006/main">
                  <a:pPr>
                    <a:defRPr sz="1875" b="1">
                      <a:solidFill>
                        <a:srgbClr val="1E8449"/>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Data'!$AS$2:$AS$2</c:f>
              <c:numCache>
                <c:formatCode>General</c:formatCode>
                <c:ptCount val="1"/>
                <c:pt idx="0">
                  <c:v>48.6</c:v>
                </c:pt>
              </c:numCache>
            </c:numRef>
          </c:xVal>
          <c:yVal>
            <c:numRef>
              <c:f>'Chart Data'!$AT$2:$AT$2</c:f>
              <c:numCache>
                <c:formatCode>General</c:formatCode>
                <c:ptCount val="1"/>
                <c:pt idx="0">
                  <c:v>40.6</c:v>
                </c:pt>
              </c:numCache>
            </c:numRef>
          </c:yVal>
          <c:smooth val="0"/>
        </c:ser>
        <c:ser>
          <c:idx val="23"/>
          <c:order val="23"/>
          <c:tx>
            <c:v>label M</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MK maatschappelijk</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Data'!$AU$2:$AU$2</c:f>
              <c:numCache>
                <c:formatCode>General</c:formatCode>
                <c:ptCount val="1"/>
                <c:pt idx="0">
                  <c:v>39</c:v>
                </c:pt>
              </c:numCache>
            </c:numRef>
          </c:xVal>
          <c:yVal>
            <c:numRef>
              <c:f>'Chart Data'!$AV$2:$AV$2</c:f>
              <c:numCache>
                <c:formatCode>General</c:formatCode>
                <c:ptCount val="1"/>
                <c:pt idx="0">
                  <c:v>71</c:v>
                </c:pt>
              </c:numCache>
            </c:numRef>
          </c:yVal>
          <c:smooth val="0"/>
        </c:ser>
        <c:ser>
          <c:idx val="24"/>
          <c:order val="24"/>
          <c:tx>
            <c:v>E0</c:v>
          </c:tx>
          <c:spPr>
            <a:ln xmlns:a="http://schemas.openxmlformats.org/drawingml/2006/main" w="0">
              <a:solidFill>
                <a:srgbClr val="183247"/>
              </a:solidFill>
            </a:ln>
          </c:spPr>
          <c:marker>
            <c:symbol val="circle"/>
            <c:size val="8"/>
            <c:spPr>
              <a:solidFill xmlns:a="http://schemas.openxmlformats.org/drawingml/2006/main">
                <a:srgbClr val="183247"/>
              </a:solidFill>
            </c:spPr>
          </c:marker>
          <c:xVal>
            <c:numRef>
              <c:f>'Chart Data'!$AW$2:$AW$2</c:f>
              <c:numCache>
                <c:formatCode>General</c:formatCode>
                <c:ptCount val="1"/>
                <c:pt idx="0">
                  <c:v>30</c:v>
                </c:pt>
              </c:numCache>
            </c:numRef>
          </c:xVal>
          <c:yVal>
            <c:numRef>
              <c:f>'Chart Data'!$AX$2:$AX$2</c:f>
              <c:numCache>
                <c:formatCode>General</c:formatCode>
                <c:ptCount val="1"/>
                <c:pt idx="0">
                  <c:v>30</c:v>
                </c:pt>
              </c:numCache>
            </c:numRef>
          </c:yVal>
          <c:smooth val="0"/>
        </c:ser>
        <c:ser>
          <c:idx val="25"/>
          <c:order val="25"/>
          <c:tx>
            <c:v>label E0</c:v>
          </c:tx>
          <c:spPr>
            <a:ln xmlns:a="http://schemas.openxmlformats.org/drawingml/2006/main" w="0">
              <a:solidFill>
                <a:srgbClr val="183247"/>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Data'!$AY$2:$AY$2</c:f>
              <c:numCache>
                <c:formatCode>General</c:formatCode>
                <c:ptCount val="1"/>
                <c:pt idx="0">
                  <c:v>32.7</c:v>
                </c:pt>
              </c:numCache>
            </c:numRef>
          </c:xVal>
          <c:yVal>
            <c:numRef>
              <c:f>'Chart Data'!$AZ$2:$AZ$2</c:f>
              <c:numCache>
                <c:formatCode>General</c:formatCode>
                <c:ptCount val="1"/>
                <c:pt idx="0">
                  <c:v>22</c:v>
                </c:pt>
              </c:numCache>
            </c:numRef>
          </c:yVal>
          <c:smooth val="0"/>
        </c:ser>
        <c:ser>
          <c:idx val="26"/>
          <c:order val="26"/>
          <c:tx>
            <c:v>Ee</c:v>
          </c:tx>
          <c:spPr>
            <a:ln xmlns:a="http://schemas.openxmlformats.org/drawingml/2006/main" w="0">
              <a:solidFill>
                <a:srgbClr val="A94D16"/>
              </a:solidFill>
            </a:ln>
          </c:spPr>
          <c:marker>
            <c:symbol val="circle"/>
            <c:size val="8"/>
            <c:spPr>
              <a:solidFill xmlns:a="http://schemas.openxmlformats.org/drawingml/2006/main">
                <a:srgbClr val="A94D16"/>
              </a:solidFill>
            </c:spPr>
          </c:marker>
          <c:xVal>
            <c:numRef>
              <c:f>'Chart Data'!$BA$2:$BA$2</c:f>
              <c:numCache>
                <c:formatCode>General</c:formatCode>
                <c:ptCount val="1"/>
                <c:pt idx="0">
                  <c:v>20</c:v>
                </c:pt>
              </c:numCache>
            </c:numRef>
          </c:xVal>
          <c:yVal>
            <c:numRef>
              <c:f>'Chart Data'!$BB$2:$BB$2</c:f>
              <c:numCache>
                <c:formatCode>General</c:formatCode>
                <c:ptCount val="1"/>
                <c:pt idx="0">
                  <c:v>40</c:v>
                </c:pt>
              </c:numCache>
            </c:numRef>
          </c:yVal>
          <c:smooth val="0"/>
        </c:ser>
        <c:ser>
          <c:idx val="27"/>
          <c:order val="27"/>
          <c:tx>
            <c:v>label Ee</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Eₑ</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Data'!$BC$2:$BC$2</c:f>
              <c:numCache>
                <c:formatCode>General</c:formatCode>
                <c:ptCount val="1"/>
                <c:pt idx="0">
                  <c:v>18</c:v>
                </c:pt>
              </c:numCache>
            </c:numRef>
          </c:xVal>
          <c:yVal>
            <c:numRef>
              <c:f>'Chart Data'!$BD$2:$BD$2</c:f>
              <c:numCache>
                <c:formatCode>General</c:formatCode>
                <c:ptCount val="1"/>
                <c:pt idx="0">
                  <c:v>51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en MK (€ per dienst)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(diensten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General"/>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4 Negatieve externe effecten">
            <a:extLst xmlns:a="http://schemas.openxmlformats.org/drawingml/2006/main">
              <a:ext uri="{FF2B5EF4-FFF2-40B4-BE49-F238E27FC236}">
                <a16:creationId xmlns:a16="http://schemas.microsoft.com/office/drawing/2014/main" id="{E9D45BD1-D0C4-45B2-BB11-09F513A77A9E}"/>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§4.2.4 Negatieve externe effecten</a:t>
            </a:r>
          </a:p>
        </p:txBody>
      </p:sp>
      <p:sp>
        <p:nvSpPr>
          <p:cNvPr id="2" name="">
            <a:extLst xmlns:a="http://schemas.openxmlformats.org/drawingml/2006/main">
              <a:ext uri="{FF2B5EF4-FFF2-40B4-BE49-F238E27FC236}">
                <a16:creationId xmlns:a16="http://schemas.microsoft.com/office/drawing/2014/main" id="{55CA2B4E-5BBC-4B94-81E1-7B1A4897307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2DACE546-FEC2-439F-998D-9A044FD50EC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1">
            <a:extLst xmlns:a="http://schemas.openxmlformats.org/drawingml/2006/main">
              <a:ext uri="{FF2B5EF4-FFF2-40B4-BE49-F238E27FC236}">
                <a16:creationId xmlns:a16="http://schemas.microsoft.com/office/drawing/2014/main" id="{11862438-2696-49E8-A79D-93DF2C066B9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68274D71-34C2-42D6-8E63-8F7F91F2DADA}"/>
              </a:ext>
            </a:extLst>
          </p:cNvPr>
          <p:cNvSpPr>
            <a:spLocks xmlns:a="http://schemas.openxmlformats.org/drawingml/2006/main" noGrp="1"/>
          </p:cNvSpPr>
          <p:nvPr/>
        </p:nvSpPr>
        <p:spPr>
          <a:xfrm xmlns:a="http://schemas.openxmlformats.org/drawingml/2006/main">
            <a:off x="571500" y="10287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6050E1DF-95DF-46E2-9099-7EBA04C76009}"/>
              </a:ext>
            </a:extLst>
          </p:cNvPr>
          <p:cNvSpPr>
            <a:spLocks xmlns:a="http://schemas.openxmlformats.org/drawingml/2006/main" noGrp="1"/>
          </p:cNvSpPr>
          <p:nvPr/>
        </p:nvSpPr>
        <p:spPr>
          <a:xfrm xmlns:a="http://schemas.openxmlformats.org/drawingml/2006/main">
            <a:off x="571500" y="1695450"/>
            <a:ext cx="7953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CC0484FE-FCA9-4331-AE03-FA85A066BBFC}"/>
              </a:ext>
            </a:extLst>
          </p:cNvPr>
          <p:cNvSpPr>
            <a:spLocks xmlns:a="http://schemas.openxmlformats.org/drawingml/2006/main" noGrp="1"/>
          </p:cNvSpPr>
          <p:nvPr/>
        </p:nvSpPr>
        <p:spPr>
          <a:xfrm xmlns:a="http://schemas.openxmlformats.org/drawingml/2006/main">
            <a:off x="571500" y="2276475"/>
            <a:ext cx="457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5B37595A-FA94-49BC-A3C2-504873BD0FD7}"/>
              </a:ext>
            </a:extLst>
          </p:cNvPr>
          <p:cNvSpPr>
            <a:spLocks xmlns:a="http://schemas.openxmlformats.org/drawingml/2006/main" noGrp="1"/>
          </p:cNvSpPr>
          <p:nvPr/>
        </p:nvSpPr>
        <p:spPr>
          <a:xfrm xmlns:a="http://schemas.openxmlformats.org/drawingml/2006/main">
            <a:off x="1104900" y="2276475"/>
            <a:ext cx="7419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75351CF-250D-48AE-A3B8-073C4E053864}"/>
              </a:ext>
            </a:extLst>
          </p:cNvPr>
          <p:cNvSpPr>
            <a:spLocks xmlns:a="http://schemas.openxmlformats.org/drawingml/2006/main" noGrp="1"/>
          </p:cNvSpPr>
          <p:nvPr/>
        </p:nvSpPr>
        <p:spPr>
          <a:xfrm xmlns:a="http://schemas.openxmlformats.org/drawingml/2006/main">
            <a:off x="571500" y="31527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1DE3D96-6908-4543-AF2B-C7ECAAEAB62F}"/>
              </a:ext>
            </a:extLst>
          </p:cNvPr>
          <p:cNvSpPr>
            <a:spLocks xmlns:a="http://schemas.openxmlformats.org/drawingml/2006/main" noGrp="1"/>
          </p:cNvSpPr>
          <p:nvPr/>
        </p:nvSpPr>
        <p:spPr>
          <a:xfrm xmlns:a="http://schemas.openxmlformats.org/drawingml/2006/main">
            <a:off x="1104900" y="315277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8ECB891-B750-4733-A374-5CAB1BE3D42C}"/>
              </a:ext>
            </a:extLst>
          </p:cNvPr>
          <p:cNvSpPr>
            <a:spLocks xmlns:a="http://schemas.openxmlformats.org/drawingml/2006/main" noGrp="1"/>
          </p:cNvSpPr>
          <p:nvPr/>
        </p:nvSpPr>
        <p:spPr>
          <a:xfrm xmlns:a="http://schemas.openxmlformats.org/drawingml/2006/main">
            <a:off x="571500" y="36671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5A886432-AFFB-4074-81C2-68463C233EA2}"/>
              </a:ext>
            </a:extLst>
          </p:cNvPr>
          <p:cNvSpPr>
            <a:spLocks xmlns:a="http://schemas.openxmlformats.org/drawingml/2006/main" noGrp="1"/>
          </p:cNvSpPr>
          <p:nvPr/>
        </p:nvSpPr>
        <p:spPr>
          <a:xfrm xmlns:a="http://schemas.openxmlformats.org/drawingml/2006/main">
            <a:off x="1104900" y="36671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F25119BC-4972-4675-8E12-D06D378CCB5A}"/>
              </a:ext>
            </a:extLst>
          </p:cNvPr>
          <p:cNvSpPr>
            <a:spLocks xmlns:a="http://schemas.openxmlformats.org/drawingml/2006/main" noGrp="1"/>
          </p:cNvSpPr>
          <p:nvPr/>
        </p:nvSpPr>
        <p:spPr>
          <a:xfrm xmlns:a="http://schemas.openxmlformats.org/drawingml/2006/main">
            <a:off x="571500" y="4200525"/>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FE9390A4-9599-4215-AC96-F65CF5C77F53}"/>
              </a:ext>
            </a:extLst>
          </p:cNvPr>
          <p:cNvSpPr>
            <a:spLocks xmlns:a="http://schemas.openxmlformats.org/drawingml/2006/main" noGrp="1"/>
          </p:cNvSpPr>
          <p:nvPr/>
        </p:nvSpPr>
        <p:spPr>
          <a:xfrm xmlns:a="http://schemas.openxmlformats.org/drawingml/2006/main">
            <a:off x="1104900" y="4200525"/>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49F3692D-28E3-4362-8F8F-BBA9E2F736B0}"/>
              </a:ext>
            </a:extLst>
          </p:cNvPr>
          <p:cNvSpPr>
            <a:spLocks xmlns:a="http://schemas.openxmlformats.org/drawingml/2006/main" noGrp="1"/>
          </p:cNvSpPr>
          <p:nvPr/>
        </p:nvSpPr>
        <p:spPr>
          <a:xfrm xmlns:a="http://schemas.openxmlformats.org/drawingml/2006/main">
            <a:off x="571500" y="6010275"/>
            <a:ext cx="457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A65C77D6-0E08-4ADA-B9F4-8C853BCC33B7}"/>
              </a:ext>
            </a:extLst>
          </p:cNvPr>
          <p:cNvSpPr>
            <a:spLocks xmlns:a="http://schemas.openxmlformats.org/drawingml/2006/main" noGrp="1"/>
          </p:cNvSpPr>
          <p:nvPr/>
        </p:nvSpPr>
        <p:spPr>
          <a:xfrm xmlns:a="http://schemas.openxmlformats.org/drawingml/2006/main">
            <a:off x="1104900" y="6010275"/>
            <a:ext cx="74199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28333DE-5268-4061-B69E-62548EB86FB1}"/>
              </a:ext>
            </a:extLst>
          </p:cNvPr>
          <p:cNvSpPr>
            <a:spLocks xmlns:a="http://schemas.openxmlformats.org/drawingml/2006/main" noGrp="1"/>
          </p:cNvSpPr>
          <p:nvPr/>
        </p:nvSpPr>
        <p:spPr>
          <a:xfrm xmlns:a="http://schemas.openxmlformats.org/drawingml/2006/main">
            <a:off x="571500" y="67627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7F3F9F1-7646-4CE8-A5FB-B4DACF37B940}"/>
              </a:ext>
            </a:extLst>
          </p:cNvPr>
          <p:cNvSpPr>
            <a:spLocks xmlns:a="http://schemas.openxmlformats.org/drawingml/2006/main" noGrp="1"/>
          </p:cNvSpPr>
          <p:nvPr/>
        </p:nvSpPr>
        <p:spPr>
          <a:xfrm xmlns:a="http://schemas.openxmlformats.org/drawingml/2006/main">
            <a:off x="1104900" y="67627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34.</a:t>
            </a:r>
          </a:p>
        </p:txBody>
      </p:sp>
      <p:sp>
        <p:nvSpPr>
          <p:cNvPr id="19" name="route-number-7">
            <a:extLst xmlns:a="http://schemas.openxmlformats.org/drawingml/2006/main">
              <a:ext uri="{FF2B5EF4-FFF2-40B4-BE49-F238E27FC236}">
                <a16:creationId xmlns:a16="http://schemas.microsoft.com/office/drawing/2014/main" id="{DE01EDD4-BD7E-4B55-A39B-9B90DCFC9C19}"/>
              </a:ext>
            </a:extLst>
          </p:cNvPr>
          <p:cNvSpPr>
            <a:spLocks xmlns:a="http://schemas.openxmlformats.org/drawingml/2006/main" noGrp="1"/>
          </p:cNvSpPr>
          <p:nvPr/>
        </p:nvSpPr>
        <p:spPr>
          <a:xfrm xmlns:a="http://schemas.openxmlformats.org/drawingml/2006/main">
            <a:off x="571500" y="73342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D0EBC55-851D-4130-B833-CEABAE698BF8}"/>
              </a:ext>
            </a:extLst>
          </p:cNvPr>
          <p:cNvSpPr>
            <a:spLocks xmlns:a="http://schemas.openxmlformats.org/drawingml/2006/main" noGrp="1"/>
          </p:cNvSpPr>
          <p:nvPr/>
        </p:nvSpPr>
        <p:spPr>
          <a:xfrm xmlns:a="http://schemas.openxmlformats.org/drawingml/2006/main">
            <a:off x="1104900" y="73342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EE79C2F-0673-4C9A-AB78-A7F23858C5A4}"/>
              </a:ext>
            </a:extLst>
          </p:cNvPr>
          <p:cNvSpPr>
            <a:spLocks xmlns:a="http://schemas.openxmlformats.org/drawingml/2006/main" noGrp="1"/>
          </p:cNvSpPr>
          <p:nvPr/>
        </p:nvSpPr>
        <p:spPr>
          <a:xfrm xmlns:a="http://schemas.openxmlformats.org/drawingml/2006/main">
            <a:off x="9258300" y="1695450"/>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D296A5CC-5099-4216-B663-898E8FC85B77}"/>
              </a:ext>
            </a:extLst>
          </p:cNvPr>
          <p:cNvSpPr>
            <a:spLocks xmlns:a="http://schemas.openxmlformats.org/drawingml/2006/main" noGrp="1"/>
          </p:cNvSpPr>
          <p:nvPr/>
        </p:nvSpPr>
        <p:spPr>
          <a:xfrm xmlns:a="http://schemas.openxmlformats.org/drawingml/2006/main">
            <a:off x="9258300" y="2276475"/>
            <a:ext cx="53816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Derden en kosten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Heffing, maatschappelijk surplus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welvaartsverlies berekenen.</a:t>
            </a:r>
          </a:p>
        </p:txBody>
      </p:sp>
      <p:sp>
        <p:nvSpPr>
          <p:cNvPr id="23" name="">
            <a:extLst xmlns:a="http://schemas.openxmlformats.org/drawingml/2006/main">
              <a:ext uri="{FF2B5EF4-FFF2-40B4-BE49-F238E27FC236}">
                <a16:creationId xmlns:a16="http://schemas.microsoft.com/office/drawing/2014/main" id="{446F5B49-38A7-46A7-829C-C4F303320DA5}"/>
              </a:ext>
            </a:extLst>
          </p:cNvPr>
          <p:cNvSpPr>
            <a:spLocks xmlns:a="http://schemas.openxmlformats.org/drawingml/2006/main" noGrp="1"/>
          </p:cNvSpPr>
          <p:nvPr/>
        </p:nvSpPr>
        <p:spPr>
          <a:xfrm xmlns:a="http://schemas.openxmlformats.org/drawingml/2006/main">
            <a:off x="9258300" y="35718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48AD50F-B21A-43E5-A5D6-020C56255F27}"/>
              </a:ext>
            </a:extLst>
          </p:cNvPr>
          <p:cNvSpPr>
            <a:spLocks xmlns:a="http://schemas.openxmlformats.org/drawingml/2006/main" noGrp="1"/>
          </p:cNvSpPr>
          <p:nvPr/>
        </p:nvSpPr>
        <p:spPr>
          <a:xfrm xmlns:a="http://schemas.openxmlformats.org/drawingml/2006/main">
            <a:off x="9258300" y="3800475"/>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BE4279A7-BE4D-44CF-93AE-A0337E615E32}"/>
              </a:ext>
            </a:extLst>
          </p:cNvPr>
          <p:cNvSpPr>
            <a:spLocks xmlns:a="http://schemas.openxmlformats.org/drawingml/2006/main" noGrp="1"/>
          </p:cNvSpPr>
          <p:nvPr/>
        </p:nvSpPr>
        <p:spPr>
          <a:xfrm xmlns:a="http://schemas.openxmlformats.org/drawingml/2006/main">
            <a:off x="9258300" y="4324350"/>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83 · Opgaven 28 en 29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29: verkennen, theorie p. 77</a:t>
            </a:r>
          </a:p>
        </p:txBody>
      </p:sp>
      <p:sp>
        <p:nvSpPr>
          <p:cNvPr id="26" name="">
            <a:extLst xmlns:a="http://schemas.openxmlformats.org/drawingml/2006/main">
              <a:ext uri="{FF2B5EF4-FFF2-40B4-BE49-F238E27FC236}">
                <a16:creationId xmlns:a16="http://schemas.microsoft.com/office/drawing/2014/main" id="{4D746627-23F8-4AF5-8986-4AD2A8FED803}"/>
              </a:ext>
            </a:extLst>
          </p:cNvPr>
          <p:cNvSpPr>
            <a:spLocks xmlns:a="http://schemas.openxmlformats.org/drawingml/2006/main" noGrp="1"/>
          </p:cNvSpPr>
          <p:nvPr/>
        </p:nvSpPr>
        <p:spPr>
          <a:xfrm xmlns:a="http://schemas.openxmlformats.org/drawingml/2006/main">
            <a:off x="9258300" y="54006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7877BCB-5179-464E-88D7-84B4B2E13258}"/>
              </a:ext>
            </a:extLst>
          </p:cNvPr>
          <p:cNvSpPr>
            <a:spLocks xmlns:a="http://schemas.openxmlformats.org/drawingml/2006/main" noGrp="1"/>
          </p:cNvSpPr>
          <p:nvPr/>
        </p:nvSpPr>
        <p:spPr>
          <a:xfrm xmlns:a="http://schemas.openxmlformats.org/drawingml/2006/main">
            <a:off x="9258300" y="5619750"/>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FFF4B1F-1778-4CC8-9D80-4090114AAA5B}"/>
              </a:ext>
            </a:extLst>
          </p:cNvPr>
          <p:cNvSpPr>
            <a:spLocks xmlns:a="http://schemas.openxmlformats.org/drawingml/2006/main" noGrp="1"/>
          </p:cNvSpPr>
          <p:nvPr/>
        </p:nvSpPr>
        <p:spPr>
          <a:xfrm xmlns:a="http://schemas.openxmlformats.org/drawingml/2006/main">
            <a:off x="9258300" y="6143625"/>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§4.2.4 · Opgaven 30 t/m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30 en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32 en 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0791742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 derde partij">
            <a:extLst xmlns:a="http://schemas.openxmlformats.org/drawingml/2006/main">
              <a:ext uri="{FF2B5EF4-FFF2-40B4-BE49-F238E27FC236}">
                <a16:creationId xmlns:a16="http://schemas.microsoft.com/office/drawing/2014/main" id="{894A451B-8427-4973-B79B-C5E2F9056B43}"/>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derde partij</a:t>
            </a:r>
          </a:p>
        </p:txBody>
      </p:sp>
      <p:sp>
        <p:nvSpPr>
          <p:cNvPr id="2" name="">
            <a:extLst xmlns:a="http://schemas.openxmlformats.org/drawingml/2006/main">
              <a:ext uri="{FF2B5EF4-FFF2-40B4-BE49-F238E27FC236}">
                <a16:creationId xmlns:a16="http://schemas.microsoft.com/office/drawing/2014/main" id="{FC220FA8-46F2-4611-A34B-90E5B12AA2C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DD645145-3793-476D-A13D-6F399D42AE7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2">
            <a:extLst xmlns:a="http://schemas.openxmlformats.org/drawingml/2006/main">
              <a:ext uri="{FF2B5EF4-FFF2-40B4-BE49-F238E27FC236}">
                <a16:creationId xmlns:a16="http://schemas.microsoft.com/office/drawing/2014/main" id="{99E54F93-5CB7-4248-8E11-6058153B3EE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Uitlegvoorbeeld — niet uit het boek">
            <a:extLst xmlns:a="http://schemas.openxmlformats.org/drawingml/2006/main">
              <a:ext uri="{FF2B5EF4-FFF2-40B4-BE49-F238E27FC236}">
                <a16:creationId xmlns:a16="http://schemas.microsoft.com/office/drawing/2014/main" id="{78742ACA-B8DE-44BC-81E0-CA6CE0D769E1}"/>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343150"/>
          <a:ext xmlns:a="http://schemas.openxmlformats.org/drawingml/2006/main" cx="14097000" cy="3752850"/>
        </p:xfrm>
        <a:graphic xmlns:a="http://schemas.openxmlformats.org/drawingml/2006/main">
          <a:graphicData uri="http://schemas.openxmlformats.org/drawingml/2006/table">
            <a:tbl>
              <a:tblPr/>
              <a:tblGrid>
                <a:gridCol w="4476750"/>
                <a:gridCol w="9620250"/>
              </a:tblGrid>
              <a:tr h="938213">
                <a:tc>
                  <a:txBody>
                    <a:bodyPr lIns="171450" tIns="85725" rIns="152400" bIns="85725"/>
                    <a:lstStyle/>
                    <a:p>
                      <a:r>
                        <a:rPr sz="2700" b="1">
                          <a:solidFill>
                            <a:srgbClr val="FFFFFF"/>
                          </a:solidFill>
                          <a:latin typeface="Arial"/>
                          <a:ea typeface="Arial"/>
                          <a:cs typeface="Arial"/>
                        </a:rPr>
                        <a:t>Betrokkene</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Wat gebeurt er?</a:t>
                      </a:r>
                    </a:p>
                  </a:txBody>
                  <a:tcPr marL="91440" marR="91440" marT="45720" marB="45720" anchor="ctr">
                    <a:solidFill>
                      <a:srgbClr val="183247"/>
                    </a:solidFill>
                  </a:tcPr>
                </a:tc>
              </a:tr>
              <a:tr h="938213">
                <a:tc>
                  <a:txBody>
                    <a:bodyPr lIns="171450" tIns="85725" rIns="152400" bIns="85725"/>
                    <a:lstStyle/>
                    <a:p>
                      <a:r>
                        <a:rPr sz="2700" b="0">
                          <a:solidFill>
                            <a:srgbClr val="183247"/>
                          </a:solidFill>
                          <a:latin typeface="Arial"/>
                          <a:ea typeface="Arial"/>
                          <a:cs typeface="Arial"/>
                        </a:rPr>
                        <a:t>Koper</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Betaalt voor de coating</a:t>
                      </a:r>
                    </a:p>
                  </a:txBody>
                  <a:tcPr marL="91440" marR="91440" marT="45720" marB="45720" anchor="ctr">
                    <a:solidFill>
                      <a:srgbClr val="FFFFFF"/>
                    </a:solidFill>
                  </a:tcPr>
                </a:tc>
              </a:tr>
              <a:tr h="938213">
                <a:tc>
                  <a:txBody>
                    <a:bodyPr lIns="171450" tIns="85725" rIns="152400" bIns="85725"/>
                    <a:lstStyle/>
                    <a:p>
                      <a:r>
                        <a:rPr sz="2700" b="0">
                          <a:solidFill>
                            <a:srgbClr val="183247"/>
                          </a:solidFill>
                          <a:latin typeface="Arial"/>
                          <a:ea typeface="Arial"/>
                          <a:cs typeface="Arial"/>
                        </a:rPr>
                        <a:t>Verkoper</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Ontvangt geld en maakt eigen kosten</a:t>
                      </a:r>
                    </a:p>
                  </a:txBody>
                  <a:tcPr marL="91440" marR="91440" marT="45720" marB="45720" anchor="ctr">
                    <a:solidFill>
                      <a:srgbClr val="EFF4F7"/>
                    </a:solidFill>
                  </a:tcPr>
                </a:tc>
              </a:tr>
              <a:tr h="938213">
                <a:tc>
                  <a:txBody>
                    <a:bodyPr lIns="171450" tIns="85725" rIns="152400" bIns="85725"/>
                    <a:lstStyle/>
                    <a:p>
                      <a:r>
                        <a:rPr sz="2700" b="0">
                          <a:solidFill>
                            <a:srgbClr val="183247"/>
                          </a:solidFill>
                          <a:latin typeface="Arial"/>
                          <a:ea typeface="Arial"/>
                          <a:cs typeface="Arial"/>
                        </a:rPr>
                        <a:t>Omwonenden</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Ondervinden geurhinder zonder vergoeding</a:t>
                      </a:r>
                    </a:p>
                  </a:txBody>
                  <a:tcPr marL="91440" marR="91440" marT="45720" marB="45720" anchor="ctr">
                    <a:solidFill>
                      <a:srgbClr val="FFFFFF"/>
                    </a:solidFill>
                  </a:tcPr>
                </a:tc>
              </a:tr>
            </a:tbl>
          </a:graphicData>
        </a:graphic>
      </p:graphicFrame>
      <p:sp>
        <p:nvSpPr>
          <p:cNvPr id="7" name="Negatief extern effect: niet-vergoed nadeel buiten de transactie">
            <a:extLst xmlns:a="http://schemas.openxmlformats.org/drawingml/2006/main">
              <a:ext uri="{FF2B5EF4-FFF2-40B4-BE49-F238E27FC236}">
                <a16:creationId xmlns:a16="http://schemas.microsoft.com/office/drawing/2014/main" id="{74C0AC57-C7BA-4174-B73C-2063E07AA5A0}"/>
              </a:ext>
            </a:extLst>
          </p:cNvPr>
          <p:cNvSpPr>
            <a:spLocks xmlns:a="http://schemas.openxmlformats.org/drawingml/2006/main" noGrp="1"/>
          </p:cNvSpPr>
          <p:nvPr/>
        </p:nvSpPr>
        <p:spPr>
          <a:xfrm xmlns:a="http://schemas.openxmlformats.org/drawingml/2006/main">
            <a:off x="571500" y="67151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Negatief extern effect: niet-vergoed nadeel buiten de transactie.</a:t>
            </a:r>
          </a:p>
        </p:txBody>
      </p:sp>
    </p:spTree>
    <p:extLst>
      <p:ext uri="{BB962C8B-B14F-4D97-AF65-F5344CB8AC3E}">
        <p14:creationId xmlns:p14="http://schemas.microsoft.com/office/powerpoint/2010/main" val="6318329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etaalcoating: de voorbeeldmarkt">
            <a:extLst xmlns:a="http://schemas.openxmlformats.org/drawingml/2006/main">
              <a:ext uri="{FF2B5EF4-FFF2-40B4-BE49-F238E27FC236}">
                <a16:creationId xmlns:a16="http://schemas.microsoft.com/office/drawing/2014/main" id="{F7CC07B2-C5B6-40EA-B69D-109A59A75FB8}"/>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Metaalcoating: de voorbeeldmarkt</a:t>
            </a:r>
          </a:p>
        </p:txBody>
      </p:sp>
      <p:sp>
        <p:nvSpPr>
          <p:cNvPr id="2" name="">
            <a:extLst xmlns:a="http://schemas.openxmlformats.org/drawingml/2006/main">
              <a:ext uri="{FF2B5EF4-FFF2-40B4-BE49-F238E27FC236}">
                <a16:creationId xmlns:a16="http://schemas.microsoft.com/office/drawing/2014/main" id="{4CBD1AB9-7725-4823-9C11-52F89E23EA3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D279A07C-02C3-4D8F-8072-E5531C30868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3">
            <a:extLst xmlns:a="http://schemas.openxmlformats.org/drawingml/2006/main">
              <a:ext uri="{FF2B5EF4-FFF2-40B4-BE49-F238E27FC236}">
                <a16:creationId xmlns:a16="http://schemas.microsoft.com/office/drawing/2014/main" id="{30DAD5B9-17F2-4EF3-8FE1-5F289BD21C1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F27E2073-5AF1-463E-B617-C21A84F8BC5B}"/>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343150"/>
          <a:ext xmlns:a="http://schemas.openxmlformats.org/drawingml/2006/main" cx="14097000" cy="3333750"/>
        </p:xfrm>
        <a:graphic xmlns:a="http://schemas.openxmlformats.org/drawingml/2006/main">
          <a:graphicData uri="http://schemas.openxmlformats.org/drawingml/2006/table">
            <a:tbl>
              <a:tblPr/>
              <a:tblGrid>
                <a:gridCol w="6000750"/>
                <a:gridCol w="8096250"/>
              </a:tblGrid>
              <a:tr h="833438">
                <a:tc>
                  <a:txBody>
                    <a:bodyPr lIns="171450" tIns="85725" rIns="152400" bIns="85725"/>
                    <a:lstStyle/>
                    <a:p>
                      <a:r>
                        <a:rPr sz="2700" b="1">
                          <a:solidFill>
                            <a:srgbClr val="FFFFFF"/>
                          </a:solidFill>
                          <a:latin typeface="Arial"/>
                          <a:ea typeface="Arial"/>
                          <a:cs typeface="Arial"/>
                        </a:rPr>
                        <a:t>Grootheid</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Gegeven</a:t>
                      </a:r>
                    </a:p>
                  </a:txBody>
                  <a:tcPr marL="91440" marR="91440" marT="45720" marB="45720" anchor="ctr">
                    <a:solidFill>
                      <a:srgbClr val="183247"/>
                    </a:solidFill>
                  </a:tcPr>
                </a:tc>
              </a:tr>
              <a:tr h="833438">
                <a:tc>
                  <a:txBody>
                    <a:bodyPr lIns="171450" tIns="85725" rIns="152400" bIns="85725"/>
                    <a:lstStyle/>
                    <a:p>
                      <a:r>
                        <a:rPr sz="2700" b="0">
                          <a:solidFill>
                            <a:srgbClr val="183247"/>
                          </a:solidFill>
                          <a:latin typeface="Arial"/>
                          <a:ea typeface="Arial"/>
                          <a:cs typeface="Arial"/>
                        </a:rPr>
                        <a:t>Vraag</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Pc = 80 − Q</a:t>
                      </a:r>
                    </a:p>
                  </a:txBody>
                  <a:tcPr marL="91440" marR="91440" marT="45720" marB="45720" anchor="ctr">
                    <a:solidFill>
                      <a:srgbClr val="FFFFFF"/>
                    </a:solidFill>
                  </a:tcPr>
                </a:tc>
              </a:tr>
              <a:tr h="833438">
                <a:tc>
                  <a:txBody>
                    <a:bodyPr lIns="171450" tIns="85725" rIns="152400" bIns="85725"/>
                    <a:lstStyle/>
                    <a:p>
                      <a:r>
                        <a:rPr sz="2700" b="0">
                          <a:solidFill>
                            <a:srgbClr val="183247"/>
                          </a:solidFill>
                          <a:latin typeface="Arial"/>
                          <a:ea typeface="Arial"/>
                          <a:cs typeface="Arial"/>
                        </a:rPr>
                        <a:t>Private kosten / aanbod</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Pp = 16 + Q</a:t>
                      </a:r>
                    </a:p>
                  </a:txBody>
                  <a:tcPr marL="91440" marR="91440" marT="45720" marB="45720" anchor="ctr">
                    <a:solidFill>
                      <a:srgbClr val="EFF4F7"/>
                    </a:solidFill>
                  </a:tcPr>
                </a:tc>
              </a:tr>
              <a:tr h="833438">
                <a:tc>
                  <a:txBody>
                    <a:bodyPr lIns="171450" tIns="85725" rIns="152400" bIns="85725"/>
                    <a:lstStyle/>
                    <a:p>
                      <a:r>
                        <a:rPr sz="2700" b="0">
                          <a:solidFill>
                            <a:srgbClr val="183247"/>
                          </a:solidFill>
                          <a:latin typeface="Arial"/>
                          <a:ea typeface="Arial"/>
                          <a:cs typeface="Arial"/>
                        </a:rPr>
                        <a:t>Niet-vergoede geurhinder</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€ 16 per coatingbeurt</a:t>
                      </a:r>
                    </a:p>
                  </a:txBody>
                  <a:tcPr marL="91440" marR="91440" marT="45720" marB="45720" anchor="ctr">
                    <a:solidFill>
                      <a:srgbClr val="FFFFFF"/>
                    </a:solidFill>
                  </a:tcPr>
                </a:tc>
              </a:tr>
            </a:tbl>
          </a:graphicData>
        </a:graphic>
      </p:graphicFrame>
      <p:sp>
        <p:nvSpPr>
          <p:cNvPr id="7" name="Q: coatingbeurten per dag, van 0 tot en met 64.&#10;Pc en Pp: euro p">
            <a:extLst xmlns:a="http://schemas.openxmlformats.org/drawingml/2006/main">
              <a:ext uri="{FF2B5EF4-FFF2-40B4-BE49-F238E27FC236}">
                <a16:creationId xmlns:a16="http://schemas.microsoft.com/office/drawing/2014/main" id="{2640B895-EF3C-4CAB-BFA7-8B95137102BD}"/>
              </a:ext>
            </a:extLst>
          </p:cNvPr>
          <p:cNvSpPr>
            <a:spLocks xmlns:a="http://schemas.openxmlformats.org/drawingml/2006/main" noGrp="1"/>
          </p:cNvSpPr>
          <p:nvPr/>
        </p:nvSpPr>
        <p:spPr>
          <a:xfrm xmlns:a="http://schemas.openxmlformats.org/drawingml/2006/main">
            <a:off x="571500" y="61150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coatingbeurten per dag, van 0 tot en met 64.</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Pc en Pp: euro per coatingbeurt.</a:t>
            </a:r>
          </a:p>
        </p:txBody>
      </p:sp>
      <p:sp>
        <p:nvSpPr>
          <p:cNvPr id="8" name="Veel aanbieders · overige omstandigheden gelijk">
            <a:extLst xmlns:a="http://schemas.openxmlformats.org/drawingml/2006/main">
              <a:ext uri="{FF2B5EF4-FFF2-40B4-BE49-F238E27FC236}">
                <a16:creationId xmlns:a16="http://schemas.microsoft.com/office/drawing/2014/main" id="{69D76E6A-9F3E-4323-9115-DCC6085AC8FD}"/>
              </a:ext>
            </a:extLst>
          </p:cNvPr>
          <p:cNvSpPr>
            <a:spLocks xmlns:a="http://schemas.openxmlformats.org/drawingml/2006/main" noGrp="1"/>
          </p:cNvSpPr>
          <p:nvPr/>
        </p:nvSpPr>
        <p:spPr>
          <a:xfrm xmlns:a="http://schemas.openxmlformats.org/drawingml/2006/main">
            <a:off x="571500" y="741997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45B6B"/>
                </a:solidFill>
                <a:latin typeface="Arial"/>
                <a:ea typeface="Arial"/>
                <a:cs typeface="Arial"/>
              </a:defRPr>
            </a:pPr>
            <a:r>
              <a:rPr sz="2250" b="0">
                <a:solidFill>
                  <a:srgbClr val="445B6B"/>
                </a:solidFill>
                <a:latin typeface="Arial"/>
                <a:ea typeface="Arial"/>
                <a:cs typeface="Arial"/>
              </a:rPr>
              <a:t>Veel aanbieders · overige omstandigheden gelijk</a:t>
            </a:r>
          </a:p>
        </p:txBody>
      </p:sp>
    </p:spTree>
    <p:extLst>
      <p:ext uri="{BB962C8B-B14F-4D97-AF65-F5344CB8AC3E}">
        <p14:creationId xmlns:p14="http://schemas.microsoft.com/office/powerpoint/2010/main" val="16651806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ongereguleerde evenwicht">
            <a:extLst xmlns:a="http://schemas.openxmlformats.org/drawingml/2006/main">
              <a:ext uri="{FF2B5EF4-FFF2-40B4-BE49-F238E27FC236}">
                <a16:creationId xmlns:a16="http://schemas.microsoft.com/office/drawing/2014/main" id="{3331AF39-7125-4D36-A1FD-0F0999CBA4AE}"/>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ongereguleerde evenwicht</a:t>
            </a:r>
          </a:p>
        </p:txBody>
      </p:sp>
      <p:sp>
        <p:nvSpPr>
          <p:cNvPr id="2" name="">
            <a:extLst xmlns:a="http://schemas.openxmlformats.org/drawingml/2006/main">
              <a:ext uri="{FF2B5EF4-FFF2-40B4-BE49-F238E27FC236}">
                <a16:creationId xmlns:a16="http://schemas.microsoft.com/office/drawing/2014/main" id="{D283E08A-9A44-4DA1-8AE8-3067FC25D71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AEB3E3DC-E29D-4C60-B174-2BE8060CC79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4">
            <a:extLst xmlns:a="http://schemas.openxmlformats.org/drawingml/2006/main">
              <a:ext uri="{FF2B5EF4-FFF2-40B4-BE49-F238E27FC236}">
                <a16:creationId xmlns:a16="http://schemas.microsoft.com/office/drawing/2014/main" id="{49370C0F-19FB-4C19-A041-F84D3933F18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ADC14D55-4889-4B7A-87F7-2C9489934F59}"/>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57425"/>
          <a:ext xmlns:a="http://schemas.openxmlformats.org/drawingml/2006/main" cx="9906000" cy="5553075"/>
        </p:xfrm>
        <a:graphic xmlns:a="http://schemas.openxmlformats.org/drawingml/2006/main">
          <a:graphicData uri="http://schemas.openxmlformats.org/drawingml/2006/chart">
            <c:chart xmlns:r="http://schemas.openxmlformats.org/officeDocument/2006/relationships" xmlns:c="http://schemas.openxmlformats.org/drawingml/2006/chart" r:id="Rdf4545836bc940c2"/>
          </a:graphicData>
        </a:graphic>
      </p:graphicFrame>
      <p:sp>
        <p:nvSpPr>
          <p:cNvPr id="7" name="80 − Q = 16 + Q">
            <a:extLst xmlns:a="http://schemas.openxmlformats.org/drawingml/2006/main">
              <a:ext uri="{FF2B5EF4-FFF2-40B4-BE49-F238E27FC236}">
                <a16:creationId xmlns:a16="http://schemas.microsoft.com/office/drawing/2014/main" id="{DBFC88E2-BEE1-4895-8873-AAA013CC22D5}"/>
              </a:ext>
            </a:extLst>
          </p:cNvPr>
          <p:cNvSpPr>
            <a:spLocks xmlns:a="http://schemas.openxmlformats.org/drawingml/2006/main" noGrp="1"/>
          </p:cNvSpPr>
          <p:nvPr/>
        </p:nvSpPr>
        <p:spPr>
          <a:xfrm xmlns:a="http://schemas.openxmlformats.org/drawingml/2006/main">
            <a:off x="10953750" y="2524125"/>
            <a:ext cx="371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80 − Q = 16 + Q</a:t>
            </a:r>
          </a:p>
        </p:txBody>
      </p:sp>
      <p:sp>
        <p:nvSpPr>
          <p:cNvPr id="8" name="64 = 2Q">
            <a:extLst xmlns:a="http://schemas.openxmlformats.org/drawingml/2006/main">
              <a:ext uri="{FF2B5EF4-FFF2-40B4-BE49-F238E27FC236}">
                <a16:creationId xmlns:a16="http://schemas.microsoft.com/office/drawing/2014/main" id="{221FF77F-8CC6-4E6F-9C34-47E162453329}"/>
              </a:ext>
            </a:extLst>
          </p:cNvPr>
          <p:cNvSpPr>
            <a:spLocks xmlns:a="http://schemas.openxmlformats.org/drawingml/2006/main" noGrp="1"/>
          </p:cNvSpPr>
          <p:nvPr/>
        </p:nvSpPr>
        <p:spPr>
          <a:xfrm xmlns:a="http://schemas.openxmlformats.org/drawingml/2006/main">
            <a:off x="10953750" y="4048125"/>
            <a:ext cx="371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64 = 2Q</a:t>
            </a:r>
          </a:p>
        </p:txBody>
      </p:sp>
      <p:sp>
        <p:nvSpPr>
          <p:cNvPr id="9" name="Q₀ = 32&#10;P₀ = € 48">
            <a:extLst xmlns:a="http://schemas.openxmlformats.org/drawingml/2006/main">
              <a:ext uri="{FF2B5EF4-FFF2-40B4-BE49-F238E27FC236}">
                <a16:creationId xmlns:a16="http://schemas.microsoft.com/office/drawing/2014/main" id="{E2339744-0297-4A92-BD1C-180B9AB462F3}"/>
              </a:ext>
            </a:extLst>
          </p:cNvPr>
          <p:cNvSpPr>
            <a:spLocks xmlns:a="http://schemas.openxmlformats.org/drawingml/2006/main" noGrp="1"/>
          </p:cNvSpPr>
          <p:nvPr/>
        </p:nvSpPr>
        <p:spPr>
          <a:xfrm xmlns:a="http://schemas.openxmlformats.org/drawingml/2006/main">
            <a:off x="10953750" y="5572125"/>
            <a:ext cx="371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Q₀ = 32</a:t>
            </a:r>
          </a:p>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P₀ = € 48</a:t>
            </a:r>
          </a:p>
        </p:txBody>
      </p:sp>
    </p:spTree>
    <p:extLst>
      <p:ext uri="{BB962C8B-B14F-4D97-AF65-F5344CB8AC3E}">
        <p14:creationId xmlns:p14="http://schemas.microsoft.com/office/powerpoint/2010/main" val="18532969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aatschappelijke kosten per extra beurt">
            <a:extLst xmlns:a="http://schemas.openxmlformats.org/drawingml/2006/main">
              <a:ext uri="{FF2B5EF4-FFF2-40B4-BE49-F238E27FC236}">
                <a16:creationId xmlns:a16="http://schemas.microsoft.com/office/drawing/2014/main" id="{B5B22085-5ABB-44C2-BEEA-EF3D58F6277D}"/>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Maatschappelijke kosten per extra beurt</a:t>
            </a:r>
          </a:p>
        </p:txBody>
      </p:sp>
      <p:sp>
        <p:nvSpPr>
          <p:cNvPr id="2" name="">
            <a:extLst xmlns:a="http://schemas.openxmlformats.org/drawingml/2006/main">
              <a:ext uri="{FF2B5EF4-FFF2-40B4-BE49-F238E27FC236}">
                <a16:creationId xmlns:a16="http://schemas.microsoft.com/office/drawing/2014/main" id="{C99842D5-AB5E-4DDB-87DD-FE4002F06DC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BC9D5B41-151B-428B-9CFF-57CF97283F1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5">
            <a:extLst xmlns:a="http://schemas.openxmlformats.org/drawingml/2006/main">
              <a:ext uri="{FF2B5EF4-FFF2-40B4-BE49-F238E27FC236}">
                <a16:creationId xmlns:a16="http://schemas.microsoft.com/office/drawing/2014/main" id="{46A87127-9054-4457-A5CD-EF686EE915B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AC01E8D0-FD1B-4AF0-8495-FDFB81EACDFE}"/>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Chart"/>
          <p:cNvGraphicFramePr/>
          <p:nvPr/>
        </p:nvGraphicFramePr>
        <p:xfrm>
          <a:off xmlns:a="http://schemas.openxmlformats.org/drawingml/2006/main" x="571500" y="2257425"/>
          <a:ext xmlns:a="http://schemas.openxmlformats.org/drawingml/2006/main" cx="9906000" cy="5553075"/>
        </p:xfrm>
        <a:graphic xmlns:a="http://schemas.openxmlformats.org/drawingml/2006/main">
          <a:graphicData uri="http://schemas.openxmlformats.org/drawingml/2006/chart">
            <c:chart xmlns:r="http://schemas.openxmlformats.org/officeDocument/2006/relationships" xmlns:c="http://schemas.openxmlformats.org/drawingml/2006/chart" r:id="R5f1da5377d8f4d58"/>
          </a:graphicData>
        </a:graphic>
      </p:graphicFrame>
      <p:sp>
        <p:nvSpPr>
          <p:cNvPr id="7" name="MK maatschappelijk&#10;= MK privé + schade&#10;= 32 + Q">
            <a:extLst xmlns:a="http://schemas.openxmlformats.org/drawingml/2006/main">
              <a:ext uri="{FF2B5EF4-FFF2-40B4-BE49-F238E27FC236}">
                <a16:creationId xmlns:a16="http://schemas.microsoft.com/office/drawing/2014/main" id="{53452CDD-B7FA-4657-8DD6-D2BF9CD1D1DB}"/>
              </a:ext>
            </a:extLst>
          </p:cNvPr>
          <p:cNvSpPr>
            <a:spLocks xmlns:a="http://schemas.openxmlformats.org/drawingml/2006/main" noGrp="1"/>
          </p:cNvSpPr>
          <p:nvPr/>
        </p:nvSpPr>
        <p:spPr>
          <a:xfrm xmlns:a="http://schemas.openxmlformats.org/drawingml/2006/main">
            <a:off x="10953750" y="2447925"/>
            <a:ext cx="371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MK maatschappelijk</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 MK privé + schade</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 32 + Q</a:t>
            </a:r>
          </a:p>
        </p:txBody>
      </p:sp>
      <p:sp>
        <p:nvSpPr>
          <p:cNvPr id="8" name="Bij Q = 16&#10;Privé: € 32&#10;Maatschappelijk: € 48">
            <a:extLst xmlns:a="http://schemas.openxmlformats.org/drawingml/2006/main">
              <a:ext uri="{FF2B5EF4-FFF2-40B4-BE49-F238E27FC236}">
                <a16:creationId xmlns:a16="http://schemas.microsoft.com/office/drawing/2014/main" id="{D7350EE2-1BC9-4111-96C4-E5D1AB854C8D}"/>
              </a:ext>
            </a:extLst>
          </p:cNvPr>
          <p:cNvSpPr>
            <a:spLocks xmlns:a="http://schemas.openxmlformats.org/drawingml/2006/main" noGrp="1"/>
          </p:cNvSpPr>
          <p:nvPr/>
        </p:nvSpPr>
        <p:spPr>
          <a:xfrm xmlns:a="http://schemas.openxmlformats.org/drawingml/2006/main">
            <a:off x="10953750" y="5095875"/>
            <a:ext cx="3714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Bij Q = 16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Privé: € 32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Maatschappelijk: € 48</a:t>
            </a:r>
          </a:p>
        </p:txBody>
      </p:sp>
    </p:spTree>
    <p:extLst>
      <p:ext uri="{BB962C8B-B14F-4D97-AF65-F5344CB8AC3E}">
        <p14:creationId xmlns:p14="http://schemas.microsoft.com/office/powerpoint/2010/main" val="14522293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efficiënte hoeveelheid">
            <a:extLst xmlns:a="http://schemas.openxmlformats.org/drawingml/2006/main">
              <a:ext uri="{FF2B5EF4-FFF2-40B4-BE49-F238E27FC236}">
                <a16:creationId xmlns:a16="http://schemas.microsoft.com/office/drawing/2014/main" id="{64E28BC3-1F43-47E2-B547-1E2044D47245}"/>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efficiënte hoeveelheid</a:t>
            </a:r>
          </a:p>
        </p:txBody>
      </p:sp>
      <p:sp>
        <p:nvSpPr>
          <p:cNvPr id="2" name="">
            <a:extLst xmlns:a="http://schemas.openxmlformats.org/drawingml/2006/main">
              <a:ext uri="{FF2B5EF4-FFF2-40B4-BE49-F238E27FC236}">
                <a16:creationId xmlns:a16="http://schemas.microsoft.com/office/drawing/2014/main" id="{2221F9E4-ACEA-49B2-862A-F2D83A9BB9C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36C53B06-1437-4BF6-BBDC-3AEA4F52C696}"/>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6">
            <a:extLst xmlns:a="http://schemas.openxmlformats.org/drawingml/2006/main">
              <a:ext uri="{FF2B5EF4-FFF2-40B4-BE49-F238E27FC236}">
                <a16:creationId xmlns:a16="http://schemas.microsoft.com/office/drawing/2014/main" id="{28B7B824-F75B-4783-9D4F-1EA65454982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37A640B7-5035-4B86-AF61-C986E6CAD68B}"/>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Betalingsbereidheid = maatschappelijke MK">
            <a:extLst xmlns:a="http://schemas.openxmlformats.org/drawingml/2006/main">
              <a:ext uri="{FF2B5EF4-FFF2-40B4-BE49-F238E27FC236}">
                <a16:creationId xmlns:a16="http://schemas.microsoft.com/office/drawing/2014/main" id="{0F3D5AD8-DC9B-41AB-BC28-38C523C2B09A}"/>
              </a:ext>
            </a:extLst>
          </p:cNvPr>
          <p:cNvSpPr>
            <a:spLocks xmlns:a="http://schemas.openxmlformats.org/drawingml/2006/main" noGrp="1"/>
          </p:cNvSpPr>
          <p:nvPr/>
        </p:nvSpPr>
        <p:spPr>
          <a:xfrm xmlns:a="http://schemas.openxmlformats.org/drawingml/2006/main">
            <a:off x="571500" y="23336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Betalingsbereidheid = maatschappelijke MK</a:t>
            </a:r>
          </a:p>
        </p:txBody>
      </p:sp>
      <p:sp>
        <p:nvSpPr>
          <p:cNvPr id="7" name="80 − Q = 32 + Q">
            <a:extLst xmlns:a="http://schemas.openxmlformats.org/drawingml/2006/main">
              <a:ext uri="{FF2B5EF4-FFF2-40B4-BE49-F238E27FC236}">
                <a16:creationId xmlns:a16="http://schemas.microsoft.com/office/drawing/2014/main" id="{0B9BF514-7D99-4919-9644-787353CAFE0F}"/>
              </a:ext>
            </a:extLst>
          </p:cNvPr>
          <p:cNvSpPr>
            <a:spLocks xmlns:a="http://schemas.openxmlformats.org/drawingml/2006/main" noGrp="1"/>
          </p:cNvSpPr>
          <p:nvPr/>
        </p:nvSpPr>
        <p:spPr>
          <a:xfrm xmlns:a="http://schemas.openxmlformats.org/drawingml/2006/main">
            <a:off x="571500" y="35909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80 − Q = 32 + Q</a:t>
            </a:r>
          </a:p>
        </p:txBody>
      </p:sp>
      <p:sp>
        <p:nvSpPr>
          <p:cNvPr id="8" name="48 = 2Q      Qₑ = 24 coatingbeurten per dag">
            <a:extLst xmlns:a="http://schemas.openxmlformats.org/drawingml/2006/main">
              <a:ext uri="{FF2B5EF4-FFF2-40B4-BE49-F238E27FC236}">
                <a16:creationId xmlns:a16="http://schemas.microsoft.com/office/drawing/2014/main" id="{03745099-B035-4347-ACEF-67052EFDC964}"/>
              </a:ext>
            </a:extLst>
          </p:cNvPr>
          <p:cNvSpPr>
            <a:spLocks xmlns:a="http://schemas.openxmlformats.org/drawingml/2006/main" noGrp="1"/>
          </p:cNvSpPr>
          <p:nvPr/>
        </p:nvSpPr>
        <p:spPr>
          <a:xfrm xmlns:a="http://schemas.openxmlformats.org/drawingml/2006/main">
            <a:off x="571500" y="48482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48 = 2Q      Qₑ = 24 coatingbeurten per dag</a:t>
            </a:r>
          </a:p>
        </p:txBody>
      </p:sp>
      <p:graphicFrame>
        <p:nvGraphicFramePr>
          <p:cNvPr id="18" name=""/>
          <p:cNvGraphicFramePr/>
          <p:nvPr/>
        </p:nvGraphicFramePr>
        <p:xfrm>
          <a:off xmlns:a="http://schemas.openxmlformats.org/drawingml/2006/main" x="571500" y="6191250"/>
          <a:ext xmlns:a="http://schemas.openxmlformats.org/drawingml/2006/main" cx="14097000" cy="1628775"/>
        </p:xfrm>
        <a:graphic xmlns:a="http://schemas.openxmlformats.org/drawingml/2006/main">
          <a:graphicData uri="http://schemas.openxmlformats.org/drawingml/2006/table">
            <a:tbl>
              <a:tblPr/>
              <a:tblGrid>
                <a:gridCol w="9239250"/>
                <a:gridCol w="4857750"/>
              </a:tblGrid>
              <a:tr h="542925">
                <a:tc>
                  <a:txBody>
                    <a:bodyPr lIns="171450" tIns="85725" rIns="152400" bIns="85725"/>
                    <a:lstStyle/>
                    <a:p>
                      <a:r>
                        <a:rPr sz="2175" b="1">
                          <a:solidFill>
                            <a:srgbClr val="FFFFFF"/>
                          </a:solidFill>
                          <a:latin typeface="Arial"/>
                          <a:ea typeface="Arial"/>
                          <a:cs typeface="Arial"/>
                        </a:rPr>
                        <a:t>Extra beurt bij Q = 28</a:t>
                      </a:r>
                    </a:p>
                  </a:txBody>
                  <a:tcPr marL="91440" marR="91440" marT="45720" marB="45720" anchor="ctr">
                    <a:solidFill>
                      <a:srgbClr val="183247"/>
                    </a:solidFill>
                  </a:tcPr>
                </a:tc>
                <a:tc>
                  <a:txBody>
                    <a:bodyPr lIns="171450" tIns="85725" rIns="152400" bIns="85725"/>
                    <a:lstStyle/>
                    <a:p>
                      <a:r>
                        <a:rPr sz="2175" b="1">
                          <a:solidFill>
                            <a:srgbClr val="FFFFFF"/>
                          </a:solidFill>
                          <a:latin typeface="Arial"/>
                          <a:ea typeface="Arial"/>
                          <a:cs typeface="Arial"/>
                        </a:rPr>
                        <a:t>Waarde (€ per beurt)</a:t>
                      </a:r>
                    </a:p>
                  </a:txBody>
                  <a:tcPr marL="91440" marR="91440" marT="45720" marB="45720" anchor="ctr">
                    <a:solidFill>
                      <a:srgbClr val="183247"/>
                    </a:solidFill>
                  </a:tcPr>
                </a:tc>
              </a:tr>
              <a:tr h="542925">
                <a:tc>
                  <a:txBody>
                    <a:bodyPr lIns="171450" tIns="85725" rIns="152400" bIns="85725"/>
                    <a:lstStyle/>
                    <a:p>
                      <a:r>
                        <a:rPr sz="2175" b="0">
                          <a:solidFill>
                            <a:srgbClr val="183247"/>
                          </a:solidFill>
                          <a:latin typeface="Arial"/>
                          <a:ea typeface="Arial"/>
                          <a:cs typeface="Arial"/>
                        </a:rPr>
                        <a:t>Betalingsbereidheid</a:t>
                      </a:r>
                    </a:p>
                  </a:txBody>
                  <a:tcPr marL="91440" marR="91440" marT="45720" marB="45720" anchor="ctr">
                    <a:solidFill>
                      <a:srgbClr val="FFFFFF"/>
                    </a:solidFill>
                  </a:tcPr>
                </a:tc>
                <a:tc>
                  <a:txBody>
                    <a:bodyPr lIns="171450" tIns="85725" rIns="152400" bIns="85725"/>
                    <a:lstStyle/>
                    <a:p>
                      <a:r>
                        <a:rPr sz="2175" b="0">
                          <a:solidFill>
                            <a:srgbClr val="183247"/>
                          </a:solidFill>
                          <a:latin typeface="Arial"/>
                          <a:ea typeface="Arial"/>
                          <a:cs typeface="Arial"/>
                        </a:rPr>
                        <a:t>80 − 28 = 52</a:t>
                      </a:r>
                    </a:p>
                  </a:txBody>
                  <a:tcPr marL="91440" marR="91440" marT="45720" marB="45720" anchor="ctr">
                    <a:solidFill>
                      <a:srgbClr val="FFFFFF"/>
                    </a:solidFill>
                  </a:tcPr>
                </a:tc>
              </a:tr>
              <a:tr h="542925">
                <a:tc>
                  <a:txBody>
                    <a:bodyPr lIns="171450" tIns="85725" rIns="152400" bIns="85725"/>
                    <a:lstStyle/>
                    <a:p>
                      <a:r>
                        <a:rPr sz="2175" b="0">
                          <a:solidFill>
                            <a:srgbClr val="183247"/>
                          </a:solidFill>
                          <a:latin typeface="Arial"/>
                          <a:ea typeface="Arial"/>
                          <a:cs typeface="Arial"/>
                        </a:rPr>
                        <a:t>Maatschappelijke MK</a:t>
                      </a:r>
                    </a:p>
                  </a:txBody>
                  <a:tcPr marL="91440" marR="91440" marT="45720" marB="45720" anchor="ctr">
                    <a:solidFill>
                      <a:srgbClr val="EFF4F7"/>
                    </a:solidFill>
                  </a:tcPr>
                </a:tc>
                <a:tc>
                  <a:txBody>
                    <a:bodyPr lIns="171450" tIns="85725" rIns="152400" bIns="85725"/>
                    <a:lstStyle/>
                    <a:p>
                      <a:r>
                        <a:rPr sz="2175" b="0">
                          <a:solidFill>
                            <a:srgbClr val="183247"/>
                          </a:solidFill>
                          <a:latin typeface="Arial"/>
                          <a:ea typeface="Arial"/>
                          <a:cs typeface="Arial"/>
                        </a:rPr>
                        <a:t>32 + 28 = 60</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3398433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oorspronkelijke welvaartsverlies">
            <a:extLst xmlns:a="http://schemas.openxmlformats.org/drawingml/2006/main">
              <a:ext uri="{FF2B5EF4-FFF2-40B4-BE49-F238E27FC236}">
                <a16:creationId xmlns:a16="http://schemas.microsoft.com/office/drawing/2014/main" id="{DF0D19CF-16B5-43C4-B173-E08B784161E2}"/>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oorspronkelijke welvaartsverlies</a:t>
            </a:r>
          </a:p>
        </p:txBody>
      </p:sp>
      <p:sp>
        <p:nvSpPr>
          <p:cNvPr id="2" name="">
            <a:extLst xmlns:a="http://schemas.openxmlformats.org/drawingml/2006/main">
              <a:ext uri="{FF2B5EF4-FFF2-40B4-BE49-F238E27FC236}">
                <a16:creationId xmlns:a16="http://schemas.microsoft.com/office/drawing/2014/main" id="{2BBCAA89-648D-4E8C-BDE9-BDA3213EDFC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BA5FA6FF-533D-4229-AF09-31201FDDFEE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7">
            <a:extLst xmlns:a="http://schemas.openxmlformats.org/drawingml/2006/main">
              <a:ext uri="{FF2B5EF4-FFF2-40B4-BE49-F238E27FC236}">
                <a16:creationId xmlns:a16="http://schemas.microsoft.com/office/drawing/2014/main" id="{6353CA0F-A235-425A-8EAE-74FF6CC876D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7F7639C4-51DA-4EAB-9E1F-878B02BB2CEA}"/>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Chart"/>
          <p:cNvGraphicFramePr/>
          <p:nvPr/>
        </p:nvGraphicFramePr>
        <p:xfrm>
          <a:off xmlns:a="http://schemas.openxmlformats.org/drawingml/2006/main" x="571500" y="2257425"/>
          <a:ext xmlns:a="http://schemas.openxmlformats.org/drawingml/2006/main" cx="9906000" cy="5553075"/>
        </p:xfrm>
        <a:graphic xmlns:a="http://schemas.openxmlformats.org/drawingml/2006/main">
          <a:graphicData uri="http://schemas.openxmlformats.org/drawingml/2006/chart">
            <c:chart xmlns:r="http://schemas.openxmlformats.org/officeDocument/2006/relationships" xmlns:c="http://schemas.openxmlformats.org/drawingml/2006/chart" r:id="Ra24f510c84134de1"/>
          </a:graphicData>
        </a:graphic>
      </p:graphicFrame>
      <p:sp>
        <p:nvSpPr>
          <p:cNvPr id="7" name="Tussen Qₑ en Q₀">
            <a:extLst xmlns:a="http://schemas.openxmlformats.org/drawingml/2006/main">
              <a:ext uri="{FF2B5EF4-FFF2-40B4-BE49-F238E27FC236}">
                <a16:creationId xmlns:a16="http://schemas.microsoft.com/office/drawing/2014/main" id="{0208ACA8-791C-4573-BDAC-D7320E0FE678}"/>
              </a:ext>
            </a:extLst>
          </p:cNvPr>
          <p:cNvSpPr>
            <a:spLocks xmlns:a="http://schemas.openxmlformats.org/drawingml/2006/main" noGrp="1"/>
          </p:cNvSpPr>
          <p:nvPr/>
        </p:nvSpPr>
        <p:spPr>
          <a:xfrm xmlns:a="http://schemas.openxmlformats.org/drawingml/2006/main">
            <a:off x="10953750" y="24574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Tussen Qₑ en Q₀</a:t>
            </a:r>
          </a:p>
        </p:txBody>
      </p:sp>
      <p:sp>
        <p:nvSpPr>
          <p:cNvPr id="8" name="Basis: 32 − 24 = 8&#10;Hoogte: € 16&#10;&#10;½ × 8 × 16&#10;= € 64 per dag">
            <a:extLst xmlns:a="http://schemas.openxmlformats.org/drawingml/2006/main">
              <a:ext uri="{FF2B5EF4-FFF2-40B4-BE49-F238E27FC236}">
                <a16:creationId xmlns:a16="http://schemas.microsoft.com/office/drawing/2014/main" id="{36B8A7D3-C825-4CEE-A2FD-0EEA8F9B20C5}"/>
              </a:ext>
            </a:extLst>
          </p:cNvPr>
          <p:cNvSpPr>
            <a:spLocks xmlns:a="http://schemas.openxmlformats.org/drawingml/2006/main" noGrp="1"/>
          </p:cNvSpPr>
          <p:nvPr/>
        </p:nvSpPr>
        <p:spPr>
          <a:xfrm xmlns:a="http://schemas.openxmlformats.org/drawingml/2006/main">
            <a:off x="10953750" y="3409950"/>
            <a:ext cx="3714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B4473C"/>
                </a:solidFill>
                <a:latin typeface="Arial"/>
                <a:ea typeface="Arial"/>
                <a:cs typeface="Arial"/>
              </a:defRPr>
            </a:pPr>
            <a:r>
              <a:rPr sz="2625" b="1">
                <a:solidFill>
                  <a:srgbClr val="B4473C"/>
                </a:solidFill>
                <a:latin typeface="Arial"/>
                <a:ea typeface="Arial"/>
                <a:cs typeface="Arial"/>
              </a:rPr>
              <a:t>Basis: 32 − 24 = 8</a:t>
            </a:r>
          </a:p>
          <a:p xmlns:a="http://schemas.openxmlformats.org/drawingml/2006/main">
            <a:pPr algn="l">
              <a:defRPr sz="2625" b="1">
                <a:solidFill>
                  <a:srgbClr val="B4473C"/>
                </a:solidFill>
                <a:latin typeface="Arial"/>
                <a:ea typeface="Arial"/>
                <a:cs typeface="Arial"/>
              </a:defRPr>
            </a:pPr>
            <a:r>
              <a:rPr sz="2625" b="1">
                <a:solidFill>
                  <a:srgbClr val="B4473C"/>
                </a:solidFill>
                <a:latin typeface="Arial"/>
                <a:ea typeface="Arial"/>
                <a:cs typeface="Arial"/>
              </a:rPr>
              <a:t>Hoogte: € 16</a:t>
            </a:r>
          </a:p>
          <a:p xmlns:a="http://schemas.openxmlformats.org/drawingml/2006/main">
            <a:r>
              <a:t/>
            </a:r>
          </a:p>
          <a:p xmlns:a="http://schemas.openxmlformats.org/drawingml/2006/main">
            <a:pPr algn="l">
              <a:defRPr sz="2625" b="1">
                <a:solidFill>
                  <a:srgbClr val="B4473C"/>
                </a:solidFill>
                <a:latin typeface="Arial"/>
                <a:ea typeface="Arial"/>
                <a:cs typeface="Arial"/>
              </a:defRPr>
            </a:pPr>
            <a:r>
              <a:rPr sz="2625" b="1">
                <a:solidFill>
                  <a:srgbClr val="B4473C"/>
                </a:solidFill>
                <a:latin typeface="Arial"/>
                <a:ea typeface="Arial"/>
                <a:cs typeface="Arial"/>
              </a:rPr>
              <a:t>½ × 8 × 16</a:t>
            </a:r>
          </a:p>
          <a:p xmlns:a="http://schemas.openxmlformats.org/drawingml/2006/main">
            <a:pPr algn="l">
              <a:defRPr sz="2625" b="1">
                <a:solidFill>
                  <a:srgbClr val="B4473C"/>
                </a:solidFill>
                <a:latin typeface="Arial"/>
                <a:ea typeface="Arial"/>
                <a:cs typeface="Arial"/>
              </a:defRPr>
            </a:pPr>
            <a:r>
              <a:rPr sz="2625" b="1">
                <a:solidFill>
                  <a:srgbClr val="B4473C"/>
                </a:solidFill>
                <a:latin typeface="Arial"/>
                <a:ea typeface="Arial"/>
                <a:cs typeface="Arial"/>
              </a:rPr>
              <a:t>= € 64 per dag</a:t>
            </a:r>
          </a:p>
        </p:txBody>
      </p:sp>
    </p:spTree>
    <p:extLst>
      <p:ext uri="{BB962C8B-B14F-4D97-AF65-F5344CB8AC3E}">
        <p14:creationId xmlns:p14="http://schemas.microsoft.com/office/powerpoint/2010/main" val="6793882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aatschappelijk surplus zonder heffing">
            <a:extLst xmlns:a="http://schemas.openxmlformats.org/drawingml/2006/main">
              <a:ext uri="{FF2B5EF4-FFF2-40B4-BE49-F238E27FC236}">
                <a16:creationId xmlns:a16="http://schemas.microsoft.com/office/drawing/2014/main" id="{4B353175-FB9A-4325-AE59-6D6C745661C1}"/>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Maatschappelijk surplus zonder heffing</a:t>
            </a:r>
          </a:p>
        </p:txBody>
      </p:sp>
      <p:sp>
        <p:nvSpPr>
          <p:cNvPr id="2" name="">
            <a:extLst xmlns:a="http://schemas.openxmlformats.org/drawingml/2006/main">
              <a:ext uri="{FF2B5EF4-FFF2-40B4-BE49-F238E27FC236}">
                <a16:creationId xmlns:a16="http://schemas.microsoft.com/office/drawing/2014/main" id="{DB1430AA-FB5C-4081-ACB6-73FB12F3EAF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15D5C001-95CE-45DB-B31A-3D57E73F67B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8">
            <a:extLst xmlns:a="http://schemas.openxmlformats.org/drawingml/2006/main">
              <a:ext uri="{FF2B5EF4-FFF2-40B4-BE49-F238E27FC236}">
                <a16:creationId xmlns:a16="http://schemas.microsoft.com/office/drawing/2014/main" id="{CC1C52CC-0B7C-4AAC-95CE-B24DBE20384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FEEFE237-5B5F-4BA9-9330-B734CE24689D}"/>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371725"/>
          <a:ext xmlns:a="http://schemas.openxmlformats.org/drawingml/2006/main" cx="14097000" cy="4476750"/>
        </p:xfrm>
        <a:graphic xmlns:a="http://schemas.openxmlformats.org/drawingml/2006/main">
          <a:graphicData uri="http://schemas.openxmlformats.org/drawingml/2006/table">
            <a:tbl>
              <a:tblPr/>
              <a:tblGrid>
                <a:gridCol w="5715000"/>
                <a:gridCol w="8382000"/>
              </a:tblGrid>
              <a:tr h="895350">
                <a:tc>
                  <a:txBody>
                    <a:bodyPr lIns="171450" tIns="85725" rIns="152400" bIns="85725"/>
                    <a:lstStyle/>
                    <a:p>
                      <a:r>
                        <a:rPr sz="2550" b="1">
                          <a:solidFill>
                            <a:srgbClr val="FFFFFF"/>
                          </a:solidFill>
                          <a:latin typeface="Arial"/>
                          <a:ea typeface="Arial"/>
                          <a:cs typeface="Arial"/>
                        </a:rPr>
                        <a:t>Post (€ per dag)</a:t>
                      </a:r>
                    </a:p>
                  </a:txBody>
                  <a:tcPr marL="91440" marR="91440" marT="45720" marB="45720" anchor="ctr">
                    <a:solidFill>
                      <a:srgbClr val="183247"/>
                    </a:solidFill>
                  </a:tcPr>
                </a:tc>
                <a:tc>
                  <a:txBody>
                    <a:bodyPr lIns="171450" tIns="85725" rIns="152400" bIns="85725"/>
                    <a:lstStyle/>
                    <a:p>
                      <a:r>
                        <a:rPr sz="2550" b="1">
                          <a:solidFill>
                            <a:srgbClr val="FFFFFF"/>
                          </a:solidFill>
                          <a:latin typeface="Arial"/>
                          <a:ea typeface="Arial"/>
                          <a:cs typeface="Arial"/>
                        </a:rPr>
                        <a:t>Berekening</a:t>
                      </a:r>
                    </a:p>
                  </a:txBody>
                  <a:tcPr marL="91440" marR="91440" marT="45720" marB="45720" anchor="ctr">
                    <a:solidFill>
                      <a:srgbClr val="183247"/>
                    </a:solidFill>
                  </a:tcPr>
                </a:tc>
              </a:tr>
              <a:tr h="895350">
                <a:tc>
                  <a:txBody>
                    <a:bodyPr lIns="171450" tIns="85725" rIns="152400" bIns="85725"/>
                    <a:lstStyle/>
                    <a:p>
                      <a:r>
                        <a:rPr sz="2550" b="0">
                          <a:solidFill>
                            <a:srgbClr val="183247"/>
                          </a:solidFill>
                          <a:latin typeface="Arial"/>
                          <a:ea typeface="Arial"/>
                          <a:cs typeface="Arial"/>
                        </a:rPr>
                        <a:t>CS</a:t>
                      </a:r>
                    </a:p>
                  </a:txBody>
                  <a:tcPr marL="91440" marR="91440" marT="45720" marB="45720" anchor="ctr">
                    <a:solidFill>
                      <a:srgbClr val="FFFFFF"/>
                    </a:solidFill>
                  </a:tcPr>
                </a:tc>
                <a:tc>
                  <a:txBody>
                    <a:bodyPr lIns="171450" tIns="85725" rIns="152400" bIns="85725"/>
                    <a:lstStyle/>
                    <a:p>
                      <a:r>
                        <a:rPr sz="2550" b="0">
                          <a:solidFill>
                            <a:srgbClr val="183247"/>
                          </a:solidFill>
                          <a:latin typeface="Arial"/>
                          <a:ea typeface="Arial"/>
                          <a:cs typeface="Arial"/>
                        </a:rPr>
                        <a:t>½ × 32 × (80 − 48) = 512</a:t>
                      </a:r>
                    </a:p>
                  </a:txBody>
                  <a:tcPr marL="91440" marR="91440" marT="45720" marB="45720" anchor="ctr">
                    <a:solidFill>
                      <a:srgbClr val="FFFFFF"/>
                    </a:solidFill>
                  </a:tcPr>
                </a:tc>
              </a:tr>
              <a:tr h="895350">
                <a:tc>
                  <a:txBody>
                    <a:bodyPr lIns="171450" tIns="85725" rIns="152400" bIns="85725"/>
                    <a:lstStyle/>
                    <a:p>
                      <a:r>
                        <a:rPr sz="2550" b="0">
                          <a:solidFill>
                            <a:srgbClr val="183247"/>
                          </a:solidFill>
                          <a:latin typeface="Arial"/>
                          <a:ea typeface="Arial"/>
                          <a:cs typeface="Arial"/>
                        </a:rPr>
                        <a:t>PS</a:t>
                      </a:r>
                    </a:p>
                  </a:txBody>
                  <a:tcPr marL="91440" marR="91440" marT="45720" marB="45720" anchor="ctr">
                    <a:solidFill>
                      <a:srgbClr val="EFF4F7"/>
                    </a:solidFill>
                  </a:tcPr>
                </a:tc>
                <a:tc>
                  <a:txBody>
                    <a:bodyPr lIns="171450" tIns="85725" rIns="152400" bIns="85725"/>
                    <a:lstStyle/>
                    <a:p>
                      <a:r>
                        <a:rPr sz="2550" b="0">
                          <a:solidFill>
                            <a:srgbClr val="183247"/>
                          </a:solidFill>
                          <a:latin typeface="Arial"/>
                          <a:ea typeface="Arial"/>
                          <a:cs typeface="Arial"/>
                        </a:rPr>
                        <a:t>½ × 32 × (48 − 16) = 512</a:t>
                      </a:r>
                    </a:p>
                  </a:txBody>
                  <a:tcPr marL="91440" marR="91440" marT="45720" marB="45720" anchor="ctr">
                    <a:solidFill>
                      <a:srgbClr val="EFF4F7"/>
                    </a:solidFill>
                  </a:tcPr>
                </a:tc>
              </a:tr>
              <a:tr h="895350">
                <a:tc>
                  <a:txBody>
                    <a:bodyPr lIns="171450" tIns="85725" rIns="152400" bIns="85725"/>
                    <a:lstStyle/>
                    <a:p>
                      <a:r>
                        <a:rPr sz="2550" b="0">
                          <a:solidFill>
                            <a:srgbClr val="183247"/>
                          </a:solidFill>
                          <a:latin typeface="Arial"/>
                          <a:ea typeface="Arial"/>
                          <a:cs typeface="Arial"/>
                        </a:rPr>
                        <a:t>Externe kosten</a:t>
                      </a:r>
                    </a:p>
                  </a:txBody>
                  <a:tcPr marL="91440" marR="91440" marT="45720" marB="45720" anchor="ctr">
                    <a:solidFill>
                      <a:srgbClr val="FFFFFF"/>
                    </a:solidFill>
                  </a:tcPr>
                </a:tc>
                <a:tc>
                  <a:txBody>
                    <a:bodyPr lIns="171450" tIns="85725" rIns="152400" bIns="85725"/>
                    <a:lstStyle/>
                    <a:p>
                      <a:r>
                        <a:rPr sz="2550" b="0">
                          <a:solidFill>
                            <a:srgbClr val="183247"/>
                          </a:solidFill>
                          <a:latin typeface="Arial"/>
                          <a:ea typeface="Arial"/>
                          <a:cs typeface="Arial"/>
                        </a:rPr>
                        <a:t>16 × 32 = 512</a:t>
                      </a:r>
                    </a:p>
                  </a:txBody>
                  <a:tcPr marL="91440" marR="91440" marT="45720" marB="45720" anchor="ctr">
                    <a:solidFill>
                      <a:srgbClr val="FFFFFF"/>
                    </a:solidFill>
                  </a:tcPr>
                </a:tc>
              </a:tr>
              <a:tr h="895350">
                <a:tc>
                  <a:txBody>
                    <a:bodyPr lIns="171450" tIns="85725" rIns="152400" bIns="85725"/>
                    <a:lstStyle/>
                    <a:p>
                      <a:r>
                        <a:rPr sz="2550" b="0">
                          <a:solidFill>
                            <a:srgbClr val="183247"/>
                          </a:solidFill>
                          <a:latin typeface="Arial"/>
                          <a:ea typeface="Arial"/>
                          <a:cs typeface="Arial"/>
                        </a:rPr>
                        <a:t>Maatschappelijk surplus</a:t>
                      </a:r>
                    </a:p>
                  </a:txBody>
                  <a:tcPr marL="91440" marR="91440" marT="45720" marB="45720" anchor="ctr">
                    <a:solidFill>
                      <a:srgbClr val="EFF4F7"/>
                    </a:solidFill>
                  </a:tcPr>
                </a:tc>
                <a:tc>
                  <a:txBody>
                    <a:bodyPr lIns="171450" tIns="85725" rIns="152400" bIns="85725"/>
                    <a:lstStyle/>
                    <a:p>
                      <a:r>
                        <a:rPr sz="2550" b="0">
                          <a:solidFill>
                            <a:srgbClr val="183247"/>
                          </a:solidFill>
                          <a:latin typeface="Arial"/>
                          <a:ea typeface="Arial"/>
                          <a:cs typeface="Arial"/>
                        </a:rPr>
                        <a:t>512 + 512 − 512 = 512</a:t>
                      </a:r>
                    </a:p>
                  </a:txBody>
                  <a:tcPr marL="91440" marR="91440" marT="45720" marB="45720" anchor="ctr">
                    <a:solidFill>
                      <a:srgbClr val="EFF4F7"/>
                    </a:solidFill>
                  </a:tcPr>
                </a:tc>
              </a:tr>
            </a:tbl>
          </a:graphicData>
        </a:graphic>
      </p:graphicFrame>
      <p:sp>
        <p:nvSpPr>
          <p:cNvPr id="7" name="CS + PS − totale externe kosten">
            <a:extLst xmlns:a="http://schemas.openxmlformats.org/drawingml/2006/main">
              <a:ext uri="{FF2B5EF4-FFF2-40B4-BE49-F238E27FC236}">
                <a16:creationId xmlns:a16="http://schemas.microsoft.com/office/drawing/2014/main" id="{724424F4-4012-4112-ACC5-5271E46342FE}"/>
              </a:ext>
            </a:extLst>
          </p:cNvPr>
          <p:cNvSpPr>
            <a:spLocks xmlns:a="http://schemas.openxmlformats.org/drawingml/2006/main" noGrp="1"/>
          </p:cNvSpPr>
          <p:nvPr/>
        </p:nvSpPr>
        <p:spPr>
          <a:xfrm xmlns:a="http://schemas.openxmlformats.org/drawingml/2006/main">
            <a:off x="571500" y="72485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CS + PS − totale externe kosten</a:t>
            </a:r>
          </a:p>
        </p:txBody>
      </p:sp>
    </p:spTree>
    <p:extLst>
      <p:ext uri="{BB962C8B-B14F-4D97-AF65-F5344CB8AC3E}">
        <p14:creationId xmlns:p14="http://schemas.microsoft.com/office/powerpoint/2010/main" val="3474027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wee kostenveranderingen bij dezelfde Q">
            <a:extLst xmlns:a="http://schemas.openxmlformats.org/drawingml/2006/main">
              <a:ext uri="{FF2B5EF4-FFF2-40B4-BE49-F238E27FC236}">
                <a16:creationId xmlns:a16="http://schemas.microsoft.com/office/drawing/2014/main" id="{849436BB-29D8-4D94-B5C9-BD5C06BD7834}"/>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kostenveranderingen bij dezelfde Q</a:t>
            </a:r>
          </a:p>
        </p:txBody>
      </p:sp>
      <p:sp>
        <p:nvSpPr>
          <p:cNvPr id="2" name="">
            <a:extLst xmlns:a="http://schemas.openxmlformats.org/drawingml/2006/main">
              <a:ext uri="{FF2B5EF4-FFF2-40B4-BE49-F238E27FC236}">
                <a16:creationId xmlns:a16="http://schemas.microsoft.com/office/drawing/2014/main" id="{915D3A30-77E1-46C6-A9ED-1F52E295697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4EC0A1AE-EEFA-4864-8BE9-FF6D530D102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9">
            <a:extLst xmlns:a="http://schemas.openxmlformats.org/drawingml/2006/main">
              <a:ext uri="{FF2B5EF4-FFF2-40B4-BE49-F238E27FC236}">
                <a16:creationId xmlns:a16="http://schemas.microsoft.com/office/drawing/2014/main" id="{6BB73243-0C8E-46D4-8685-E0D2541D327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971D4E65-3133-4427-BD85-29368B686A41}"/>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419350"/>
          <a:ext xmlns:a="http://schemas.openxmlformats.org/drawingml/2006/main" cx="14097000" cy="3790950"/>
        </p:xfrm>
        <a:graphic xmlns:a="http://schemas.openxmlformats.org/drawingml/2006/main">
          <a:graphicData uri="http://schemas.openxmlformats.org/drawingml/2006/table">
            <a:tbl>
              <a:tblPr/>
              <a:tblGrid>
                <a:gridCol w="8001000"/>
                <a:gridCol w="6096000"/>
              </a:tblGrid>
              <a:tr h="947738">
                <a:tc>
                  <a:txBody>
                    <a:bodyPr lIns="171450" tIns="85725" rIns="152400" bIns="85725"/>
                    <a:lstStyle/>
                    <a:p>
                      <a:r>
                        <a:rPr sz="2550" b="1">
                          <a:solidFill>
                            <a:srgbClr val="FFFFFF"/>
                          </a:solidFill>
                          <a:latin typeface="Arial"/>
                          <a:ea typeface="Arial"/>
                          <a:cs typeface="Arial"/>
                        </a:rPr>
                        <a:t>Verandering</a:t>
                      </a:r>
                    </a:p>
                  </a:txBody>
                  <a:tcPr marL="91440" marR="91440" marT="45720" marB="45720" anchor="ctr">
                    <a:solidFill>
                      <a:srgbClr val="183247"/>
                    </a:solidFill>
                  </a:tcPr>
                </a:tc>
                <a:tc>
                  <a:txBody>
                    <a:bodyPr lIns="171450" tIns="85725" rIns="152400" bIns="85725"/>
                    <a:lstStyle/>
                    <a:p>
                      <a:r>
                        <a:rPr sz="2550" b="1">
                          <a:solidFill>
                            <a:srgbClr val="FFFFFF"/>
                          </a:solidFill>
                          <a:latin typeface="Arial"/>
                          <a:ea typeface="Arial"/>
                          <a:cs typeface="Arial"/>
                        </a:rPr>
                        <a:t>Effect op maatschappelijke MK</a:t>
                      </a:r>
                    </a:p>
                  </a:txBody>
                  <a:tcPr marL="91440" marR="91440" marT="45720" marB="45720" anchor="ctr">
                    <a:solidFill>
                      <a:srgbClr val="183247"/>
                    </a:solidFill>
                  </a:tcPr>
                </a:tc>
              </a:tr>
              <a:tr h="947738">
                <a:tc>
                  <a:txBody>
                    <a:bodyPr lIns="171450" tIns="85725" rIns="152400" bIns="85725"/>
                    <a:lstStyle/>
                    <a:p>
                      <a:r>
                        <a:rPr sz="2550" b="0">
                          <a:solidFill>
                            <a:srgbClr val="183247"/>
                          </a:solidFill>
                          <a:latin typeface="Arial"/>
                          <a:ea typeface="Arial"/>
                          <a:cs typeface="Arial"/>
                        </a:rPr>
                        <a:t>Duurder materiaal: eigen MK + € 4</a:t>
                      </a:r>
                    </a:p>
                  </a:txBody>
                  <a:tcPr marL="91440" marR="91440" marT="45720" marB="45720" anchor="ctr">
                    <a:solidFill>
                      <a:srgbClr val="FFFFFF"/>
                    </a:solidFill>
                  </a:tcPr>
                </a:tc>
                <a:tc>
                  <a:txBody>
                    <a:bodyPr lIns="171450" tIns="85725" rIns="152400" bIns="85725"/>
                    <a:lstStyle/>
                    <a:p>
                      <a:r>
                        <a:rPr sz="2550" b="0">
                          <a:solidFill>
                            <a:srgbClr val="183247"/>
                          </a:solidFill>
                          <a:latin typeface="Arial"/>
                          <a:ea typeface="Arial"/>
                          <a:cs typeface="Arial"/>
                        </a:rPr>
                        <a:t>+ € 4 per beurt</a:t>
                      </a:r>
                    </a:p>
                  </a:txBody>
                  <a:tcPr marL="91440" marR="91440" marT="45720" marB="45720" anchor="ctr">
                    <a:solidFill>
                      <a:srgbClr val="FFFFFF"/>
                    </a:solidFill>
                  </a:tcPr>
                </a:tc>
              </a:tr>
              <a:tr h="947738">
                <a:tc>
                  <a:txBody>
                    <a:bodyPr lIns="171450" tIns="85725" rIns="152400" bIns="85725"/>
                    <a:lstStyle/>
                    <a:p>
                      <a:r>
                        <a:rPr sz="2550" b="0">
                          <a:solidFill>
                            <a:srgbClr val="183247"/>
                          </a:solidFill>
                          <a:latin typeface="Arial"/>
                          <a:ea typeface="Arial"/>
                          <a:cs typeface="Arial"/>
                        </a:rPr>
                        <a:t>Schonere techniek: schade − € 7</a:t>
                      </a:r>
                    </a:p>
                  </a:txBody>
                  <a:tcPr marL="91440" marR="91440" marT="45720" marB="45720" anchor="ctr">
                    <a:solidFill>
                      <a:srgbClr val="EFF4F7"/>
                    </a:solidFill>
                  </a:tcPr>
                </a:tc>
                <a:tc>
                  <a:txBody>
                    <a:bodyPr lIns="171450" tIns="85725" rIns="152400" bIns="85725"/>
                    <a:lstStyle/>
                    <a:p>
                      <a:r>
                        <a:rPr sz="2550" b="0">
                          <a:solidFill>
                            <a:srgbClr val="183247"/>
                          </a:solidFill>
                          <a:latin typeface="Arial"/>
                          <a:ea typeface="Arial"/>
                          <a:cs typeface="Arial"/>
                        </a:rPr>
                        <a:t>− € 7 per beurt</a:t>
                      </a:r>
                    </a:p>
                  </a:txBody>
                  <a:tcPr marL="91440" marR="91440" marT="45720" marB="45720" anchor="ctr">
                    <a:solidFill>
                      <a:srgbClr val="EFF4F7"/>
                    </a:solidFill>
                  </a:tcPr>
                </a:tc>
              </a:tr>
              <a:tr h="947738">
                <a:tc>
                  <a:txBody>
                    <a:bodyPr lIns="171450" tIns="85725" rIns="152400" bIns="85725"/>
                    <a:lstStyle/>
                    <a:p>
                      <a:r>
                        <a:rPr sz="2550" b="0">
                          <a:solidFill>
                            <a:srgbClr val="183247"/>
                          </a:solidFill>
                          <a:latin typeface="Arial"/>
                          <a:ea typeface="Arial"/>
                          <a:cs typeface="Arial"/>
                        </a:rPr>
                        <a:t>Samen</a:t>
                      </a:r>
                    </a:p>
                  </a:txBody>
                  <a:tcPr marL="91440" marR="91440" marT="45720" marB="45720" anchor="ctr">
                    <a:solidFill>
                      <a:srgbClr val="FFFFFF"/>
                    </a:solidFill>
                  </a:tcPr>
                </a:tc>
                <a:tc>
                  <a:txBody>
                    <a:bodyPr lIns="171450" tIns="85725" rIns="152400" bIns="85725"/>
                    <a:lstStyle/>
                    <a:p>
                      <a:r>
                        <a:rPr sz="2550" b="0">
                          <a:solidFill>
                            <a:srgbClr val="183247"/>
                          </a:solidFill>
                          <a:latin typeface="Arial"/>
                          <a:ea typeface="Arial"/>
                          <a:cs typeface="Arial"/>
                        </a:rPr>
                        <a:t>+ 4 − 7 = − € 3 per beurt</a:t>
                      </a:r>
                    </a:p>
                  </a:txBody>
                  <a:tcPr marL="91440" marR="91440" marT="45720" marB="45720" anchor="ctr">
                    <a:solidFill>
                      <a:srgbClr val="FFFFFF"/>
                    </a:solidFill>
                  </a:tcPr>
                </a:tc>
              </a:tr>
            </a:tbl>
          </a:graphicData>
        </a:graphic>
      </p:graphicFrame>
      <p:sp>
        <p:nvSpPr>
          <p:cNvPr id="7" name="Maatschappelijke MK telt beide veranderingen bij elkaar op.">
            <a:extLst xmlns:a="http://schemas.openxmlformats.org/drawingml/2006/main">
              <a:ext uri="{FF2B5EF4-FFF2-40B4-BE49-F238E27FC236}">
                <a16:creationId xmlns:a16="http://schemas.microsoft.com/office/drawing/2014/main" id="{C420A312-4B96-4372-BD10-18EF5203A024}"/>
              </a:ext>
            </a:extLst>
          </p:cNvPr>
          <p:cNvSpPr>
            <a:spLocks xmlns:a="http://schemas.openxmlformats.org/drawingml/2006/main" noGrp="1"/>
          </p:cNvSpPr>
          <p:nvPr/>
        </p:nvSpPr>
        <p:spPr>
          <a:xfrm xmlns:a="http://schemas.openxmlformats.org/drawingml/2006/main">
            <a:off x="571500" y="680085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Maatschappelijke MK telt beide veranderingen bij elkaar op.</a:t>
            </a:r>
          </a:p>
        </p:txBody>
      </p:sp>
    </p:spTree>
    <p:extLst>
      <p:ext uri="{BB962C8B-B14F-4D97-AF65-F5344CB8AC3E}">
        <p14:creationId xmlns:p14="http://schemas.microsoft.com/office/powerpoint/2010/main" val="11954669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heffing van € 16 per coatingbeurt">
            <a:extLst xmlns:a="http://schemas.openxmlformats.org/drawingml/2006/main">
              <a:ext uri="{FF2B5EF4-FFF2-40B4-BE49-F238E27FC236}">
                <a16:creationId xmlns:a16="http://schemas.microsoft.com/office/drawing/2014/main" id="{4AF3537D-A35D-4264-B0EA-669FB4A41F8B}"/>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heffing van € 16 per coatingbeurt</a:t>
            </a:r>
          </a:p>
        </p:txBody>
      </p:sp>
      <p:sp>
        <p:nvSpPr>
          <p:cNvPr id="2" name="">
            <a:extLst xmlns:a="http://schemas.openxmlformats.org/drawingml/2006/main">
              <a:ext uri="{FF2B5EF4-FFF2-40B4-BE49-F238E27FC236}">
                <a16:creationId xmlns:a16="http://schemas.microsoft.com/office/drawing/2014/main" id="{882E0609-F10B-4EB7-AD8C-4360863CDD4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9A99B28B-EE35-4527-A8C5-4A1893AEBBB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10">
            <a:extLst xmlns:a="http://schemas.openxmlformats.org/drawingml/2006/main">
              <a:ext uri="{FF2B5EF4-FFF2-40B4-BE49-F238E27FC236}">
                <a16:creationId xmlns:a16="http://schemas.microsoft.com/office/drawing/2014/main" id="{90352BFD-AADD-4ADB-9170-744FC7CA298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36713F39-91E7-41D4-A71B-B72720844B4C}"/>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Pc = Pp + t">
            <a:extLst xmlns:a="http://schemas.openxmlformats.org/drawingml/2006/main">
              <a:ext uri="{FF2B5EF4-FFF2-40B4-BE49-F238E27FC236}">
                <a16:creationId xmlns:a16="http://schemas.microsoft.com/office/drawing/2014/main" id="{8C28794F-6D4C-4FE3-BD36-A8632ED3D136}"/>
              </a:ext>
            </a:extLst>
          </p:cNvPr>
          <p:cNvSpPr>
            <a:spLocks xmlns:a="http://schemas.openxmlformats.org/drawingml/2006/main" noGrp="1"/>
          </p:cNvSpPr>
          <p:nvPr/>
        </p:nvSpPr>
        <p:spPr>
          <a:xfrm xmlns:a="http://schemas.openxmlformats.org/drawingml/2006/main">
            <a:off x="571500" y="23241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Pc = Pp + t</a:t>
            </a:r>
          </a:p>
        </p:txBody>
      </p:sp>
      <p:sp>
        <p:nvSpPr>
          <p:cNvPr id="7" name="80 − Q = (16 + Q) + 16">
            <a:extLst xmlns:a="http://schemas.openxmlformats.org/drawingml/2006/main">
              <a:ext uri="{FF2B5EF4-FFF2-40B4-BE49-F238E27FC236}">
                <a16:creationId xmlns:a16="http://schemas.microsoft.com/office/drawing/2014/main" id="{9804F242-D325-4452-8DC9-F56DB4A5374E}"/>
              </a:ext>
            </a:extLst>
          </p:cNvPr>
          <p:cNvSpPr>
            <a:spLocks xmlns:a="http://schemas.openxmlformats.org/drawingml/2006/main" noGrp="1"/>
          </p:cNvSpPr>
          <p:nvPr/>
        </p:nvSpPr>
        <p:spPr>
          <a:xfrm xmlns:a="http://schemas.openxmlformats.org/drawingml/2006/main">
            <a:off x="571500" y="36766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80 − Q = (16 + Q) + 16</a:t>
            </a:r>
          </a:p>
        </p:txBody>
      </p:sp>
      <p:sp>
        <p:nvSpPr>
          <p:cNvPr id="8" name="48 = 2Q      Q₁ = 24 coatingbeurten per dag">
            <a:extLst xmlns:a="http://schemas.openxmlformats.org/drawingml/2006/main">
              <a:ext uri="{FF2B5EF4-FFF2-40B4-BE49-F238E27FC236}">
                <a16:creationId xmlns:a16="http://schemas.microsoft.com/office/drawing/2014/main" id="{ED642698-8DCA-496B-BF5E-F951072B4D40}"/>
              </a:ext>
            </a:extLst>
          </p:cNvPr>
          <p:cNvSpPr>
            <a:spLocks xmlns:a="http://schemas.openxmlformats.org/drawingml/2006/main" noGrp="1"/>
          </p:cNvSpPr>
          <p:nvPr/>
        </p:nvSpPr>
        <p:spPr>
          <a:xfrm xmlns:a="http://schemas.openxmlformats.org/drawingml/2006/main">
            <a:off x="571500" y="50292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48 = 2Q      Q₁ = 24 coatingbeurten per dag</a:t>
            </a:r>
          </a:p>
        </p:txBody>
      </p:sp>
      <p:sp>
        <p:nvSpPr>
          <p:cNvPr id="9" name="Pc = € 56      Pp = € 40      56 − 40 = 16">
            <a:extLst xmlns:a="http://schemas.openxmlformats.org/drawingml/2006/main">
              <a:ext uri="{FF2B5EF4-FFF2-40B4-BE49-F238E27FC236}">
                <a16:creationId xmlns:a16="http://schemas.microsoft.com/office/drawing/2014/main" id="{CD298CD7-A07F-4D57-A419-381D0D41D3C1}"/>
              </a:ext>
            </a:extLst>
          </p:cNvPr>
          <p:cNvSpPr>
            <a:spLocks xmlns:a="http://schemas.openxmlformats.org/drawingml/2006/main" noGrp="1"/>
          </p:cNvSpPr>
          <p:nvPr/>
        </p:nvSpPr>
        <p:spPr>
          <a:xfrm xmlns:a="http://schemas.openxmlformats.org/drawingml/2006/main">
            <a:off x="571500" y="63817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Pc = € 56      Pp = € 40      56 − 40 = 16</a:t>
            </a:r>
          </a:p>
        </p:txBody>
      </p:sp>
    </p:spTree>
    <p:extLst>
      <p:ext uri="{BB962C8B-B14F-4D97-AF65-F5344CB8AC3E}">
        <p14:creationId xmlns:p14="http://schemas.microsoft.com/office/powerpoint/2010/main" val="91077165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heffing en de twee prijzen">
            <a:extLst xmlns:a="http://schemas.openxmlformats.org/drawingml/2006/main">
              <a:ext uri="{FF2B5EF4-FFF2-40B4-BE49-F238E27FC236}">
                <a16:creationId xmlns:a16="http://schemas.microsoft.com/office/drawing/2014/main" id="{92533A7F-9A41-484F-B6E8-783E66E287E5}"/>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heffing en de twee prijzen</a:t>
            </a:r>
          </a:p>
        </p:txBody>
      </p:sp>
      <p:sp>
        <p:nvSpPr>
          <p:cNvPr id="2" name="">
            <a:extLst xmlns:a="http://schemas.openxmlformats.org/drawingml/2006/main">
              <a:ext uri="{FF2B5EF4-FFF2-40B4-BE49-F238E27FC236}">
                <a16:creationId xmlns:a16="http://schemas.microsoft.com/office/drawing/2014/main" id="{27E0830A-D4CE-4F4F-BD2C-75C96954C5E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41C7F39D-FE79-4C2D-B917-4AD34C4027CA}"/>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11">
            <a:extLst xmlns:a="http://schemas.openxmlformats.org/drawingml/2006/main">
              <a:ext uri="{FF2B5EF4-FFF2-40B4-BE49-F238E27FC236}">
                <a16:creationId xmlns:a16="http://schemas.microsoft.com/office/drawing/2014/main" id="{8409FB4B-1C98-43F9-978F-660AEA35749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8F5F6998-E0F5-4014-935C-5942BFC37543}"/>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57425"/>
          <a:ext xmlns:a="http://schemas.openxmlformats.org/drawingml/2006/main" cx="9906000" cy="5553075"/>
        </p:xfrm>
        <a:graphic xmlns:a="http://schemas.openxmlformats.org/drawingml/2006/main">
          <a:graphicData uri="http://schemas.openxmlformats.org/drawingml/2006/chart">
            <c:chart xmlns:r="http://schemas.openxmlformats.org/officeDocument/2006/relationships" xmlns:c="http://schemas.openxmlformats.org/drawingml/2006/chart" r:id="R820cb00a3c894fca"/>
          </a:graphicData>
        </a:graphic>
      </p:graphicFrame>
      <p:sp>
        <p:nvSpPr>
          <p:cNvPr id="7" name="A + t valt hier samen&#10;met maatschappelijke MK.">
            <a:extLst xmlns:a="http://schemas.openxmlformats.org/drawingml/2006/main">
              <a:ext uri="{FF2B5EF4-FFF2-40B4-BE49-F238E27FC236}">
                <a16:creationId xmlns:a16="http://schemas.microsoft.com/office/drawing/2014/main" id="{E105CE24-892C-4CA9-9356-C7F70E88835F}"/>
              </a:ext>
            </a:extLst>
          </p:cNvPr>
          <p:cNvSpPr>
            <a:spLocks xmlns:a="http://schemas.openxmlformats.org/drawingml/2006/main" noGrp="1"/>
          </p:cNvSpPr>
          <p:nvPr/>
        </p:nvSpPr>
        <p:spPr>
          <a:xfrm xmlns:a="http://schemas.openxmlformats.org/drawingml/2006/main">
            <a:off x="10953750" y="2476500"/>
            <a:ext cx="3714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A + t valt hier samen</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met maatschappelijke MK.</a:t>
            </a:r>
          </a:p>
        </p:txBody>
      </p:sp>
      <p:sp>
        <p:nvSpPr>
          <p:cNvPr id="8" name="Q₁ = 24&#10;Pc = € 56&#10;Pp = € 40">
            <a:extLst xmlns:a="http://schemas.openxmlformats.org/drawingml/2006/main">
              <a:ext uri="{FF2B5EF4-FFF2-40B4-BE49-F238E27FC236}">
                <a16:creationId xmlns:a16="http://schemas.microsoft.com/office/drawing/2014/main" id="{3097058B-4EB7-429E-9504-98259371B963}"/>
              </a:ext>
            </a:extLst>
          </p:cNvPr>
          <p:cNvSpPr>
            <a:spLocks xmlns:a="http://schemas.openxmlformats.org/drawingml/2006/main" noGrp="1"/>
          </p:cNvSpPr>
          <p:nvPr/>
        </p:nvSpPr>
        <p:spPr>
          <a:xfrm xmlns:a="http://schemas.openxmlformats.org/drawingml/2006/main">
            <a:off x="10953750" y="4591050"/>
            <a:ext cx="37147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Q₁ = 24</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Pc = € 56</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Pp = € 40</a:t>
            </a:r>
          </a:p>
        </p:txBody>
      </p:sp>
      <p:sp>
        <p:nvSpPr>
          <p:cNvPr id="9" name="Alleen omdat t = schade&#10;per extra beurt.">
            <a:extLst xmlns:a="http://schemas.openxmlformats.org/drawingml/2006/main">
              <a:ext uri="{FF2B5EF4-FFF2-40B4-BE49-F238E27FC236}">
                <a16:creationId xmlns:a16="http://schemas.microsoft.com/office/drawing/2014/main" id="{11A5A7E2-50E5-4F9A-9CA1-32B0964A90F9}"/>
              </a:ext>
            </a:extLst>
          </p:cNvPr>
          <p:cNvSpPr>
            <a:spLocks xmlns:a="http://schemas.openxmlformats.org/drawingml/2006/main" noGrp="1"/>
          </p:cNvSpPr>
          <p:nvPr/>
        </p:nvSpPr>
        <p:spPr>
          <a:xfrm xmlns:a="http://schemas.openxmlformats.org/drawingml/2006/main">
            <a:off x="10953750" y="6772275"/>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Alleen omdat t = schade</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per extra beurt.</a:t>
            </a:r>
          </a:p>
        </p:txBody>
      </p:sp>
    </p:spTree>
    <p:extLst>
      <p:ext uri="{BB962C8B-B14F-4D97-AF65-F5344CB8AC3E}">
        <p14:creationId xmlns:p14="http://schemas.microsoft.com/office/powerpoint/2010/main" val="14796672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verdracht en resterende schade">
            <a:extLst xmlns:a="http://schemas.openxmlformats.org/drawingml/2006/main">
              <a:ext uri="{FF2B5EF4-FFF2-40B4-BE49-F238E27FC236}">
                <a16:creationId xmlns:a16="http://schemas.microsoft.com/office/drawing/2014/main" id="{1C9E95AA-FE26-439A-A927-0062245A8907}"/>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Overdracht en resterende schade</a:t>
            </a:r>
          </a:p>
        </p:txBody>
      </p:sp>
      <p:sp>
        <p:nvSpPr>
          <p:cNvPr id="2" name="">
            <a:extLst xmlns:a="http://schemas.openxmlformats.org/drawingml/2006/main">
              <a:ext uri="{FF2B5EF4-FFF2-40B4-BE49-F238E27FC236}">
                <a16:creationId xmlns:a16="http://schemas.microsoft.com/office/drawing/2014/main" id="{A464E1C7-B361-4DF5-B966-9B2EB5E1DBB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47EF3895-78CC-4AF2-9EEC-6F976945D4A5}"/>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12">
            <a:extLst xmlns:a="http://schemas.openxmlformats.org/drawingml/2006/main">
              <a:ext uri="{FF2B5EF4-FFF2-40B4-BE49-F238E27FC236}">
                <a16:creationId xmlns:a16="http://schemas.microsoft.com/office/drawing/2014/main" id="{D729D88E-E352-4BA2-8525-1C8E99C1B96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87942C10-57BA-4FD2-9F53-CD6F779624EA}"/>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533650"/>
          <a:ext xmlns:a="http://schemas.openxmlformats.org/drawingml/2006/main" cx="14097000" cy="3286125"/>
        </p:xfrm>
        <a:graphic xmlns:a="http://schemas.openxmlformats.org/drawingml/2006/main">
          <a:graphicData uri="http://schemas.openxmlformats.org/drawingml/2006/table">
            <a:tbl>
              <a:tblPr/>
              <a:tblGrid>
                <a:gridCol w="6096000"/>
                <a:gridCol w="8001000"/>
              </a:tblGrid>
              <a:tr h="1095375">
                <a:tc>
                  <a:txBody>
                    <a:bodyPr lIns="171450" tIns="85725" rIns="152400" bIns="85725"/>
                    <a:lstStyle/>
                    <a:p>
                      <a:r>
                        <a:rPr sz="2700" b="1">
                          <a:solidFill>
                            <a:srgbClr val="FFFFFF"/>
                          </a:solidFill>
                          <a:latin typeface="Arial"/>
                          <a:ea typeface="Arial"/>
                          <a:cs typeface="Arial"/>
                        </a:rPr>
                        <a:t>Post</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Bij 24 coatingbeurten per dag</a:t>
                      </a:r>
                    </a:p>
                  </a:txBody>
                  <a:tcPr marL="91440" marR="91440" marT="45720" marB="45720" anchor="ctr">
                    <a:solidFill>
                      <a:srgbClr val="183247"/>
                    </a:solidFill>
                  </a:tcPr>
                </a:tc>
              </a:tr>
              <a:tr h="1095375">
                <a:tc>
                  <a:txBody>
                    <a:bodyPr lIns="171450" tIns="85725" rIns="152400" bIns="85725"/>
                    <a:lstStyle/>
                    <a:p>
                      <a:r>
                        <a:rPr sz="2700" b="0">
                          <a:solidFill>
                            <a:srgbClr val="183247"/>
                          </a:solidFill>
                          <a:latin typeface="Arial"/>
                          <a:ea typeface="Arial"/>
                          <a:cs typeface="Arial"/>
                        </a:rPr>
                        <a:t>Overheidsontvangst</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16 × 24 = € 384 per dag</a:t>
                      </a:r>
                    </a:p>
                  </a:txBody>
                  <a:tcPr marL="91440" marR="91440" marT="45720" marB="45720" anchor="ctr">
                    <a:solidFill>
                      <a:srgbClr val="FFFFFF"/>
                    </a:solidFill>
                  </a:tcPr>
                </a:tc>
              </a:tr>
              <a:tr h="1095375">
                <a:tc>
                  <a:txBody>
                    <a:bodyPr lIns="171450" tIns="85725" rIns="152400" bIns="85725"/>
                    <a:lstStyle/>
                    <a:p>
                      <a:r>
                        <a:rPr sz="2700" b="0">
                          <a:solidFill>
                            <a:srgbClr val="183247"/>
                          </a:solidFill>
                          <a:latin typeface="Arial"/>
                          <a:ea typeface="Arial"/>
                          <a:cs typeface="Arial"/>
                        </a:rPr>
                        <a:t>Resterende externe schade</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16 × 24 = € 384 per dag</a:t>
                      </a:r>
                    </a:p>
                  </a:txBody>
                  <a:tcPr marL="91440" marR="91440" marT="45720" marB="45720" anchor="ctr">
                    <a:solidFill>
                      <a:srgbClr val="EFF4F7"/>
                    </a:solidFill>
                  </a:tcPr>
                </a:tc>
              </a:tr>
            </a:tbl>
          </a:graphicData>
        </a:graphic>
      </p:graphicFrame>
      <p:sp>
        <p:nvSpPr>
          <p:cNvPr id="7" name="De heffing verplaatst geld. De geurhinder blijft een echte kost.">
            <a:extLst xmlns:a="http://schemas.openxmlformats.org/drawingml/2006/main">
              <a:ext uri="{FF2B5EF4-FFF2-40B4-BE49-F238E27FC236}">
                <a16:creationId xmlns:a16="http://schemas.microsoft.com/office/drawing/2014/main" id="{1F299B87-CDCE-4F05-B04A-5DA57DAC2829}"/>
              </a:ext>
            </a:extLst>
          </p:cNvPr>
          <p:cNvSpPr>
            <a:spLocks xmlns:a="http://schemas.openxmlformats.org/drawingml/2006/main" noGrp="1"/>
          </p:cNvSpPr>
          <p:nvPr/>
        </p:nvSpPr>
        <p:spPr>
          <a:xfrm xmlns:a="http://schemas.openxmlformats.org/drawingml/2006/main">
            <a:off x="571500" y="6581775"/>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De heffing verplaatst geld. De geurhinder blijft een echte kost.</a:t>
            </a:r>
          </a:p>
        </p:txBody>
      </p:sp>
    </p:spTree>
    <p:extLst>
      <p:ext uri="{BB962C8B-B14F-4D97-AF65-F5344CB8AC3E}">
        <p14:creationId xmlns:p14="http://schemas.microsoft.com/office/powerpoint/2010/main" val="135239359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lle vier posten in de welvaartsvergelijking">
            <a:extLst xmlns:a="http://schemas.openxmlformats.org/drawingml/2006/main">
              <a:ext uri="{FF2B5EF4-FFF2-40B4-BE49-F238E27FC236}">
                <a16:creationId xmlns:a16="http://schemas.microsoft.com/office/drawing/2014/main" id="{4843CCF2-2BE0-4CC1-90D8-E2D09EB16331}"/>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Alle vier posten in de welvaartsvergelijking</a:t>
            </a:r>
          </a:p>
        </p:txBody>
      </p:sp>
      <p:sp>
        <p:nvSpPr>
          <p:cNvPr id="2" name="">
            <a:extLst xmlns:a="http://schemas.openxmlformats.org/drawingml/2006/main">
              <a:ext uri="{FF2B5EF4-FFF2-40B4-BE49-F238E27FC236}">
                <a16:creationId xmlns:a16="http://schemas.microsoft.com/office/drawing/2014/main" id="{87D49501-4408-4CDC-9B9D-88BE0C4A005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3C6D3A67-6670-4642-94E0-6D2A4741627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13">
            <a:extLst xmlns:a="http://schemas.openxmlformats.org/drawingml/2006/main">
              <a:ext uri="{FF2B5EF4-FFF2-40B4-BE49-F238E27FC236}">
                <a16:creationId xmlns:a16="http://schemas.microsoft.com/office/drawing/2014/main" id="{72AD6679-5B3E-401F-838C-28E7A652ED9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14EDD0A9-BDD3-4C3C-8BCA-4149775B524E}"/>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324100"/>
          <a:ext xmlns:a="http://schemas.openxmlformats.org/drawingml/2006/main" cx="14097000" cy="4591050"/>
        </p:xfrm>
        <a:graphic xmlns:a="http://schemas.openxmlformats.org/drawingml/2006/main">
          <a:graphicData uri="http://schemas.openxmlformats.org/drawingml/2006/table">
            <a:tbl>
              <a:tblPr/>
              <a:tblGrid>
                <a:gridCol w="4572000"/>
                <a:gridCol w="3048000"/>
                <a:gridCol w="6477000"/>
              </a:tblGrid>
              <a:tr h="765175">
                <a:tc>
                  <a:txBody>
                    <a:bodyPr lIns="171450" tIns="85725" rIns="152400" bIns="85725"/>
                    <a:lstStyle/>
                    <a:p>
                      <a:r>
                        <a:rPr sz="2250" b="1">
                          <a:solidFill>
                            <a:srgbClr val="FFFFFF"/>
                          </a:solidFill>
                          <a:latin typeface="Arial"/>
                          <a:ea typeface="Arial"/>
                          <a:cs typeface="Arial"/>
                        </a:rPr>
                        <a:t>Post (€ per dag)</a:t>
                      </a:r>
                    </a:p>
                  </a:txBody>
                  <a:tcPr marL="91440" marR="91440" marT="45720" marB="45720" anchor="ctr">
                    <a:solidFill>
                      <a:srgbClr val="183247"/>
                    </a:solidFill>
                  </a:tcPr>
                </a:tc>
                <a:tc>
                  <a:txBody>
                    <a:bodyPr lIns="171450" tIns="85725" rIns="152400" bIns="85725"/>
                    <a:lstStyle/>
                    <a:p>
                      <a:r>
                        <a:rPr sz="2250" b="1">
                          <a:solidFill>
                            <a:srgbClr val="FFFFFF"/>
                          </a:solidFill>
                          <a:latin typeface="Arial"/>
                          <a:ea typeface="Arial"/>
                          <a:cs typeface="Arial"/>
                        </a:rPr>
                        <a:t>Zonder heffing</a:t>
                      </a:r>
                    </a:p>
                  </a:txBody>
                  <a:tcPr marL="91440" marR="91440" marT="45720" marB="45720" anchor="ctr">
                    <a:solidFill>
                      <a:srgbClr val="183247"/>
                    </a:solidFill>
                  </a:tcPr>
                </a:tc>
                <a:tc>
                  <a:txBody>
                    <a:bodyPr lIns="171450" tIns="85725" rIns="152400" bIns="85725"/>
                    <a:lstStyle/>
                    <a:p>
                      <a:r>
                        <a:rPr sz="2250" b="1">
                          <a:solidFill>
                            <a:srgbClr val="FFFFFF"/>
                          </a:solidFill>
                          <a:latin typeface="Arial"/>
                          <a:ea typeface="Arial"/>
                          <a:cs typeface="Arial"/>
                        </a:rPr>
                        <a:t>Met heffing</a:t>
                      </a:r>
                    </a:p>
                  </a:txBody>
                  <a:tcPr marL="91440" marR="91440" marT="45720" marB="45720" anchor="ctr">
                    <a:solidFill>
                      <a:srgbClr val="183247"/>
                    </a:solidFill>
                  </a:tcPr>
                </a:tc>
              </a:tr>
              <a:tr h="765175">
                <a:tc>
                  <a:txBody>
                    <a:bodyPr lIns="171450" tIns="85725" rIns="152400" bIns="85725"/>
                    <a:lstStyle/>
                    <a:p>
                      <a:r>
                        <a:rPr sz="2250" b="0">
                          <a:solidFill>
                            <a:srgbClr val="183247"/>
                          </a:solidFill>
                          <a:latin typeface="Arial"/>
                          <a:ea typeface="Arial"/>
                          <a:cs typeface="Arial"/>
                        </a:rPr>
                        <a:t>CS</a:t>
                      </a:r>
                    </a:p>
                  </a:txBody>
                  <a:tcPr marL="91440" marR="91440" marT="45720" marB="45720" anchor="ctr">
                    <a:solidFill>
                      <a:srgbClr val="FFFFFF"/>
                    </a:solidFill>
                  </a:tcPr>
                </a:tc>
                <a:tc>
                  <a:txBody>
                    <a:bodyPr lIns="171450" tIns="85725" rIns="152400" bIns="85725"/>
                    <a:lstStyle/>
                    <a:p>
                      <a:r>
                        <a:rPr sz="2250" b="0">
                          <a:solidFill>
                            <a:srgbClr val="183247"/>
                          </a:solidFill>
                          <a:latin typeface="Arial"/>
                          <a:ea typeface="Arial"/>
                          <a:cs typeface="Arial"/>
                        </a:rPr>
                        <a:t>512</a:t>
                      </a:r>
                    </a:p>
                  </a:txBody>
                  <a:tcPr marL="91440" marR="91440" marT="45720" marB="45720" anchor="ctr">
                    <a:solidFill>
                      <a:srgbClr val="FFFFFF"/>
                    </a:solidFill>
                  </a:tcPr>
                </a:tc>
                <a:tc>
                  <a:txBody>
                    <a:bodyPr lIns="171450" tIns="85725" rIns="152400" bIns="85725"/>
                    <a:lstStyle/>
                    <a:p>
                      <a:r>
                        <a:rPr sz="2250" b="0">
                          <a:solidFill>
                            <a:srgbClr val="183247"/>
                          </a:solidFill>
                          <a:latin typeface="Arial"/>
                          <a:ea typeface="Arial"/>
                          <a:cs typeface="Arial"/>
                        </a:rPr>
                        <a:t>½ × 24 × (80 − 56) = 288</a:t>
                      </a:r>
                    </a:p>
                  </a:txBody>
                  <a:tcPr marL="91440" marR="91440" marT="45720" marB="45720" anchor="ctr">
                    <a:solidFill>
                      <a:srgbClr val="FFFFFF"/>
                    </a:solidFill>
                  </a:tcPr>
                </a:tc>
              </a:tr>
              <a:tr h="765175">
                <a:tc>
                  <a:txBody>
                    <a:bodyPr lIns="171450" tIns="85725" rIns="152400" bIns="85725"/>
                    <a:lstStyle/>
                    <a:p>
                      <a:r>
                        <a:rPr sz="2250" b="0">
                          <a:solidFill>
                            <a:srgbClr val="183247"/>
                          </a:solidFill>
                          <a:latin typeface="Arial"/>
                          <a:ea typeface="Arial"/>
                          <a:cs typeface="Arial"/>
                        </a:rPr>
                        <a:t>PS</a:t>
                      </a:r>
                    </a:p>
                  </a:txBody>
                  <a:tcPr marL="91440" marR="91440" marT="45720" marB="45720" anchor="ctr">
                    <a:solidFill>
                      <a:srgbClr val="EFF4F7"/>
                    </a:solidFill>
                  </a:tcPr>
                </a:tc>
                <a:tc>
                  <a:txBody>
                    <a:bodyPr lIns="171450" tIns="85725" rIns="152400" bIns="85725"/>
                    <a:lstStyle/>
                    <a:p>
                      <a:r>
                        <a:rPr sz="2250" b="0">
                          <a:solidFill>
                            <a:srgbClr val="183247"/>
                          </a:solidFill>
                          <a:latin typeface="Arial"/>
                          <a:ea typeface="Arial"/>
                          <a:cs typeface="Arial"/>
                        </a:rPr>
                        <a:t>512</a:t>
                      </a:r>
                    </a:p>
                  </a:txBody>
                  <a:tcPr marL="91440" marR="91440" marT="45720" marB="45720" anchor="ctr">
                    <a:solidFill>
                      <a:srgbClr val="EFF4F7"/>
                    </a:solidFill>
                  </a:tcPr>
                </a:tc>
                <a:tc>
                  <a:txBody>
                    <a:bodyPr lIns="171450" tIns="85725" rIns="152400" bIns="85725"/>
                    <a:lstStyle/>
                    <a:p>
                      <a:r>
                        <a:rPr sz="2250" b="0">
                          <a:solidFill>
                            <a:srgbClr val="183247"/>
                          </a:solidFill>
                          <a:latin typeface="Arial"/>
                          <a:ea typeface="Arial"/>
                          <a:cs typeface="Arial"/>
                        </a:rPr>
                        <a:t>½ × 24 × (40 − 16) = 288</a:t>
                      </a:r>
                    </a:p>
                  </a:txBody>
                  <a:tcPr marL="91440" marR="91440" marT="45720" marB="45720" anchor="ctr">
                    <a:solidFill>
                      <a:srgbClr val="EFF4F7"/>
                    </a:solidFill>
                  </a:tcPr>
                </a:tc>
              </a:tr>
              <a:tr h="765175">
                <a:tc>
                  <a:txBody>
                    <a:bodyPr lIns="171450" tIns="85725" rIns="152400" bIns="85725"/>
                    <a:lstStyle/>
                    <a:p>
                      <a:r>
                        <a:rPr sz="2250" b="0">
                          <a:solidFill>
                            <a:srgbClr val="183247"/>
                          </a:solidFill>
                          <a:latin typeface="Arial"/>
                          <a:ea typeface="Arial"/>
                          <a:cs typeface="Arial"/>
                        </a:rPr>
                        <a:t>Overheidsontvangst</a:t>
                      </a:r>
                    </a:p>
                  </a:txBody>
                  <a:tcPr marL="91440" marR="91440" marT="45720" marB="45720" anchor="ctr">
                    <a:solidFill>
                      <a:srgbClr val="FFFFFF"/>
                    </a:solidFill>
                  </a:tcPr>
                </a:tc>
                <a:tc>
                  <a:txBody>
                    <a:bodyPr lIns="171450" tIns="85725" rIns="152400" bIns="85725"/>
                    <a:lstStyle/>
                    <a:p>
                      <a:r>
                        <a:rPr sz="2250" b="0">
                          <a:solidFill>
                            <a:srgbClr val="183247"/>
                          </a:solidFill>
                          <a:latin typeface="Arial"/>
                          <a:ea typeface="Arial"/>
                          <a:cs typeface="Arial"/>
                        </a:rPr>
                        <a:t>0</a:t>
                      </a:r>
                    </a:p>
                  </a:txBody>
                  <a:tcPr marL="91440" marR="91440" marT="45720" marB="45720" anchor="ctr">
                    <a:solidFill>
                      <a:srgbClr val="FFFFFF"/>
                    </a:solidFill>
                  </a:tcPr>
                </a:tc>
                <a:tc>
                  <a:txBody>
                    <a:bodyPr lIns="171450" tIns="85725" rIns="152400" bIns="85725"/>
                    <a:lstStyle/>
                    <a:p>
                      <a:r>
                        <a:rPr sz="2250" b="0">
                          <a:solidFill>
                            <a:srgbClr val="183247"/>
                          </a:solidFill>
                          <a:latin typeface="Arial"/>
                          <a:ea typeface="Arial"/>
                          <a:cs typeface="Arial"/>
                        </a:rPr>
                        <a:t>16 × 24 = 384</a:t>
                      </a:r>
                    </a:p>
                  </a:txBody>
                  <a:tcPr marL="91440" marR="91440" marT="45720" marB="45720" anchor="ctr">
                    <a:solidFill>
                      <a:srgbClr val="FFFFFF"/>
                    </a:solidFill>
                  </a:tcPr>
                </a:tc>
              </a:tr>
              <a:tr h="765175">
                <a:tc>
                  <a:txBody>
                    <a:bodyPr lIns="171450" tIns="85725" rIns="152400" bIns="85725"/>
                    <a:lstStyle/>
                    <a:p>
                      <a:r>
                        <a:rPr sz="2250" b="0">
                          <a:solidFill>
                            <a:srgbClr val="183247"/>
                          </a:solidFill>
                          <a:latin typeface="Arial"/>
                          <a:ea typeface="Arial"/>
                          <a:cs typeface="Arial"/>
                        </a:rPr>
                        <a:t>Externe kosten</a:t>
                      </a:r>
                    </a:p>
                  </a:txBody>
                  <a:tcPr marL="91440" marR="91440" marT="45720" marB="45720" anchor="ctr">
                    <a:solidFill>
                      <a:srgbClr val="EFF4F7"/>
                    </a:solidFill>
                  </a:tcPr>
                </a:tc>
                <a:tc>
                  <a:txBody>
                    <a:bodyPr lIns="171450" tIns="85725" rIns="152400" bIns="85725"/>
                    <a:lstStyle/>
                    <a:p>
                      <a:r>
                        <a:rPr sz="2250" b="0">
                          <a:solidFill>
                            <a:srgbClr val="183247"/>
                          </a:solidFill>
                          <a:latin typeface="Arial"/>
                          <a:ea typeface="Arial"/>
                          <a:cs typeface="Arial"/>
                        </a:rPr>
                        <a:t>512</a:t>
                      </a:r>
                    </a:p>
                  </a:txBody>
                  <a:tcPr marL="91440" marR="91440" marT="45720" marB="45720" anchor="ctr">
                    <a:solidFill>
                      <a:srgbClr val="EFF4F7"/>
                    </a:solidFill>
                  </a:tcPr>
                </a:tc>
                <a:tc>
                  <a:txBody>
                    <a:bodyPr lIns="171450" tIns="85725" rIns="152400" bIns="85725"/>
                    <a:lstStyle/>
                    <a:p>
                      <a:r>
                        <a:rPr sz="2250" b="0">
                          <a:solidFill>
                            <a:srgbClr val="183247"/>
                          </a:solidFill>
                          <a:latin typeface="Arial"/>
                          <a:ea typeface="Arial"/>
                          <a:cs typeface="Arial"/>
                        </a:rPr>
                        <a:t>16 × 24 = 384</a:t>
                      </a:r>
                    </a:p>
                  </a:txBody>
                  <a:tcPr marL="91440" marR="91440" marT="45720" marB="45720" anchor="ctr">
                    <a:solidFill>
                      <a:srgbClr val="EFF4F7"/>
                    </a:solidFill>
                  </a:tcPr>
                </a:tc>
              </a:tr>
              <a:tr h="765175">
                <a:tc>
                  <a:txBody>
                    <a:bodyPr lIns="171450" tIns="85725" rIns="152400" bIns="85725"/>
                    <a:lstStyle/>
                    <a:p>
                      <a:r>
                        <a:rPr sz="2250" b="0">
                          <a:solidFill>
                            <a:srgbClr val="183247"/>
                          </a:solidFill>
                          <a:latin typeface="Arial"/>
                          <a:ea typeface="Arial"/>
                          <a:cs typeface="Arial"/>
                        </a:rPr>
                        <a:t>Maatschappelijk surplus</a:t>
                      </a:r>
                    </a:p>
                  </a:txBody>
                  <a:tcPr marL="91440" marR="91440" marT="45720" marB="45720" anchor="ctr">
                    <a:solidFill>
                      <a:srgbClr val="FFFFFF"/>
                    </a:solidFill>
                  </a:tcPr>
                </a:tc>
                <a:tc>
                  <a:txBody>
                    <a:bodyPr lIns="171450" tIns="85725" rIns="152400" bIns="85725"/>
                    <a:lstStyle/>
                    <a:p>
                      <a:r>
                        <a:rPr sz="2250" b="0">
                          <a:solidFill>
                            <a:srgbClr val="183247"/>
                          </a:solidFill>
                          <a:latin typeface="Arial"/>
                          <a:ea typeface="Arial"/>
                          <a:cs typeface="Arial"/>
                        </a:rPr>
                        <a:t>512</a:t>
                      </a:r>
                    </a:p>
                  </a:txBody>
                  <a:tcPr marL="91440" marR="91440" marT="45720" marB="45720" anchor="ctr">
                    <a:solidFill>
                      <a:srgbClr val="FFFFFF"/>
                    </a:solidFill>
                  </a:tcPr>
                </a:tc>
                <a:tc>
                  <a:txBody>
                    <a:bodyPr lIns="171450" tIns="85725" rIns="152400" bIns="85725"/>
                    <a:lstStyle/>
                    <a:p>
                      <a:r>
                        <a:rPr sz="2250" b="0">
                          <a:solidFill>
                            <a:srgbClr val="183247"/>
                          </a:solidFill>
                          <a:latin typeface="Arial"/>
                          <a:ea typeface="Arial"/>
                          <a:cs typeface="Arial"/>
                        </a:rPr>
                        <a:t>288 + 288 + 384 − 384 = 576</a:t>
                      </a:r>
                    </a:p>
                  </a:txBody>
                  <a:tcPr marL="91440" marR="91440" marT="45720" marB="45720" anchor="ctr">
                    <a:solidFill>
                      <a:srgbClr val="FFFFFF"/>
                    </a:solidFill>
                  </a:tcPr>
                </a:tc>
              </a:tr>
            </a:tbl>
          </a:graphicData>
        </a:graphic>
      </p:graphicFrame>
      <p:sp>
        <p:nvSpPr>
          <p:cNvPr id="7" name="Verbetering: € 576 − € 512 = € 64 per dag">
            <a:extLst xmlns:a="http://schemas.openxmlformats.org/drawingml/2006/main">
              <a:ext uri="{FF2B5EF4-FFF2-40B4-BE49-F238E27FC236}">
                <a16:creationId xmlns:a16="http://schemas.microsoft.com/office/drawing/2014/main" id="{4FA7F0ED-F813-4B1F-A36E-44079865690B}"/>
              </a:ext>
            </a:extLst>
          </p:cNvPr>
          <p:cNvSpPr>
            <a:spLocks xmlns:a="http://schemas.openxmlformats.org/drawingml/2006/main" noGrp="1"/>
          </p:cNvSpPr>
          <p:nvPr/>
        </p:nvSpPr>
        <p:spPr>
          <a:xfrm xmlns:a="http://schemas.openxmlformats.org/drawingml/2006/main">
            <a:off x="571500" y="72866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Verbetering: € 576 − € 512 = € 64 per dag</a:t>
            </a:r>
          </a:p>
        </p:txBody>
      </p:sp>
    </p:spTree>
    <p:extLst>
      <p:ext uri="{BB962C8B-B14F-4D97-AF65-F5344CB8AC3E}">
        <p14:creationId xmlns:p14="http://schemas.microsoft.com/office/powerpoint/2010/main" val="13138745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alend CS + PS en toch meer maatschappelijk surplus">
            <a:extLst xmlns:a="http://schemas.openxmlformats.org/drawingml/2006/main">
              <a:ext uri="{FF2B5EF4-FFF2-40B4-BE49-F238E27FC236}">
                <a16:creationId xmlns:a16="http://schemas.microsoft.com/office/drawing/2014/main" id="{392D0F84-9ED0-42F7-9E9C-7DE71250AC71}"/>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Dalend CS + PS en toch meer maatschappelijk surplus</a:t>
            </a:r>
          </a:p>
        </p:txBody>
      </p:sp>
      <p:sp>
        <p:nvSpPr>
          <p:cNvPr id="2" name="">
            <a:extLst xmlns:a="http://schemas.openxmlformats.org/drawingml/2006/main">
              <a:ext uri="{FF2B5EF4-FFF2-40B4-BE49-F238E27FC236}">
                <a16:creationId xmlns:a16="http://schemas.microsoft.com/office/drawing/2014/main" id="{776582E5-4CDE-4E25-9753-D961DF20A96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DF7C3FEC-1E35-4230-8763-C14FCAA3AA6A}"/>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14">
            <a:extLst xmlns:a="http://schemas.openxmlformats.org/drawingml/2006/main">
              <a:ext uri="{FF2B5EF4-FFF2-40B4-BE49-F238E27FC236}">
                <a16:creationId xmlns:a16="http://schemas.microsoft.com/office/drawing/2014/main" id="{4063FA76-1767-455D-9E4F-B6289E68582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a:extLst xmlns:a="http://schemas.openxmlformats.org/drawingml/2006/main">
              <a:ext uri="{FF2B5EF4-FFF2-40B4-BE49-F238E27FC236}">
                <a16:creationId xmlns:a16="http://schemas.microsoft.com/office/drawing/2014/main" id="{10D8760D-A241-4D94-931D-AB52804EBAD0}"/>
              </a:ext>
            </a:extLst>
          </p:cNvPr>
          <p:cNvSpPr>
            <a:spLocks xmlns:a="http://schemas.openxmlformats.org/drawingml/2006/main" noGrp="1"/>
          </p:cNvSpPr>
          <p:nvPr/>
        </p:nvSpPr>
        <p:spPr>
          <a:xfrm xmlns:a="http://schemas.openxmlformats.org/drawingml/2006/main">
            <a:off x="571500" y="16764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438400"/>
          <a:ext xmlns:a="http://schemas.openxmlformats.org/drawingml/2006/main" cx="14097000" cy="4286250"/>
        </p:xfrm>
        <a:graphic xmlns:a="http://schemas.openxmlformats.org/drawingml/2006/main">
          <a:graphicData uri="http://schemas.openxmlformats.org/drawingml/2006/table">
            <a:tbl>
              <a:tblPr/>
              <a:tblGrid>
                <a:gridCol w="10668000"/>
                <a:gridCol w="3429000"/>
              </a:tblGrid>
              <a:tr h="857250">
                <a:tc>
                  <a:txBody>
                    <a:bodyPr lIns="171450" tIns="85725" rIns="152400" bIns="85725"/>
                    <a:lstStyle/>
                    <a:p>
                      <a:r>
                        <a:rPr sz="2625" b="1">
                          <a:solidFill>
                            <a:srgbClr val="FFFFFF"/>
                          </a:solidFill>
                          <a:latin typeface="Arial"/>
                          <a:ea typeface="Arial"/>
                          <a:cs typeface="Arial"/>
                        </a:rPr>
                        <a:t>Verandering (€ per dag)</a:t>
                      </a:r>
                    </a:p>
                  </a:txBody>
                  <a:tcPr marL="91440" marR="91440" marT="45720" marB="45720" anchor="ctr">
                    <a:solidFill>
                      <a:srgbClr val="183247"/>
                    </a:solidFill>
                  </a:tcPr>
                </a:tc>
                <a:tc>
                  <a:txBody>
                    <a:bodyPr lIns="171450" tIns="85725" rIns="152400" bIns="85725"/>
                    <a:lstStyle/>
                    <a:p>
                      <a:r>
                        <a:rPr sz="2625" b="1">
                          <a:solidFill>
                            <a:srgbClr val="FFFFFF"/>
                          </a:solidFill>
                          <a:latin typeface="Arial"/>
                          <a:ea typeface="Arial"/>
                          <a:cs typeface="Arial"/>
                        </a:rPr>
                        <a:t>Bedrag</a:t>
                      </a:r>
                    </a:p>
                  </a:txBody>
                  <a:tcPr marL="91440" marR="91440" marT="45720" marB="45720" anchor="ctr">
                    <a:solidFill>
                      <a:srgbClr val="183247"/>
                    </a:solidFill>
                  </a:tcPr>
                </a:tc>
              </a:tr>
              <a:tr h="857250">
                <a:tc>
                  <a:txBody>
                    <a:bodyPr lIns="171450" tIns="85725" rIns="152400" bIns="85725"/>
                    <a:lstStyle/>
                    <a:p>
                      <a:r>
                        <a:rPr sz="2625" b="0">
                          <a:solidFill>
                            <a:srgbClr val="183247"/>
                          </a:solidFill>
                          <a:latin typeface="Arial"/>
                          <a:ea typeface="Arial"/>
                          <a:cs typeface="Arial"/>
                        </a:rPr>
                        <a:t>CS + PS: 576 − 1.024</a:t>
                      </a:r>
                    </a:p>
                  </a:txBody>
                  <a:tcPr marL="91440" marR="91440" marT="45720" marB="45720" anchor="ctr">
                    <a:solidFill>
                      <a:srgbClr val="FFFFFF"/>
                    </a:solidFill>
                  </a:tcPr>
                </a:tc>
                <a:tc>
                  <a:txBody>
                    <a:bodyPr lIns="171450" tIns="85725" rIns="152400" bIns="85725"/>
                    <a:lstStyle/>
                    <a:p>
                      <a:r>
                        <a:rPr sz="2625" b="0">
                          <a:solidFill>
                            <a:srgbClr val="183247"/>
                          </a:solidFill>
                          <a:latin typeface="Arial"/>
                          <a:ea typeface="Arial"/>
                          <a:cs typeface="Arial"/>
                        </a:rPr>
                        <a:t>−448</a:t>
                      </a:r>
                    </a:p>
                  </a:txBody>
                  <a:tcPr marL="91440" marR="91440" marT="45720" marB="45720" anchor="ctr">
                    <a:solidFill>
                      <a:srgbClr val="FFFFFF"/>
                    </a:solidFill>
                  </a:tcPr>
                </a:tc>
              </a:tr>
              <a:tr h="857250">
                <a:tc>
                  <a:txBody>
                    <a:bodyPr lIns="171450" tIns="85725" rIns="152400" bIns="85725"/>
                    <a:lstStyle/>
                    <a:p>
                      <a:r>
                        <a:rPr sz="2625" b="0">
                          <a:solidFill>
                            <a:srgbClr val="183247"/>
                          </a:solidFill>
                          <a:latin typeface="Arial"/>
                          <a:ea typeface="Arial"/>
                          <a:cs typeface="Arial"/>
                        </a:rPr>
                        <a:t>Ontvangst van de overheid</a:t>
                      </a:r>
                    </a:p>
                  </a:txBody>
                  <a:tcPr marL="91440" marR="91440" marT="45720" marB="45720" anchor="ctr">
                    <a:solidFill>
                      <a:srgbClr val="EFF4F7"/>
                    </a:solidFill>
                  </a:tcPr>
                </a:tc>
                <a:tc>
                  <a:txBody>
                    <a:bodyPr lIns="171450" tIns="85725" rIns="152400" bIns="85725"/>
                    <a:lstStyle/>
                    <a:p>
                      <a:r>
                        <a:rPr sz="2625" b="0">
                          <a:solidFill>
                            <a:srgbClr val="183247"/>
                          </a:solidFill>
                          <a:latin typeface="Arial"/>
                          <a:ea typeface="Arial"/>
                          <a:cs typeface="Arial"/>
                        </a:rPr>
                        <a:t>+384</a:t>
                      </a:r>
                    </a:p>
                  </a:txBody>
                  <a:tcPr marL="91440" marR="91440" marT="45720" marB="45720" anchor="ctr">
                    <a:solidFill>
                      <a:srgbClr val="EFF4F7"/>
                    </a:solidFill>
                  </a:tcPr>
                </a:tc>
              </a:tr>
              <a:tr h="857250">
                <a:tc>
                  <a:txBody>
                    <a:bodyPr lIns="171450" tIns="85725" rIns="152400" bIns="85725"/>
                    <a:lstStyle/>
                    <a:p>
                      <a:r>
                        <a:rPr sz="2625" b="0">
                          <a:solidFill>
                            <a:srgbClr val="183247"/>
                          </a:solidFill>
                          <a:latin typeface="Arial"/>
                          <a:ea typeface="Arial"/>
                          <a:cs typeface="Arial"/>
                        </a:rPr>
                        <a:t>Afname externe schade: 512 − 384</a:t>
                      </a:r>
                    </a:p>
                  </a:txBody>
                  <a:tcPr marL="91440" marR="91440" marT="45720" marB="45720" anchor="ctr">
                    <a:solidFill>
                      <a:srgbClr val="FFFFFF"/>
                    </a:solidFill>
                  </a:tcPr>
                </a:tc>
                <a:tc>
                  <a:txBody>
                    <a:bodyPr lIns="171450" tIns="85725" rIns="152400" bIns="85725"/>
                    <a:lstStyle/>
                    <a:p>
                      <a:r>
                        <a:rPr sz="2625" b="0">
                          <a:solidFill>
                            <a:srgbClr val="183247"/>
                          </a:solidFill>
                          <a:latin typeface="Arial"/>
                          <a:ea typeface="Arial"/>
                          <a:cs typeface="Arial"/>
                        </a:rPr>
                        <a:t>+128</a:t>
                      </a:r>
                    </a:p>
                  </a:txBody>
                  <a:tcPr marL="91440" marR="91440" marT="45720" marB="45720" anchor="ctr">
                    <a:solidFill>
                      <a:srgbClr val="FFFFFF"/>
                    </a:solidFill>
                  </a:tcPr>
                </a:tc>
              </a:tr>
              <a:tr h="857250">
                <a:tc>
                  <a:txBody>
                    <a:bodyPr lIns="171450" tIns="85725" rIns="152400" bIns="85725"/>
                    <a:lstStyle/>
                    <a:p>
                      <a:r>
                        <a:rPr sz="2625" b="0">
                          <a:solidFill>
                            <a:srgbClr val="183247"/>
                          </a:solidFill>
                          <a:latin typeface="Arial"/>
                          <a:ea typeface="Arial"/>
                          <a:cs typeface="Arial"/>
                        </a:rPr>
                        <a:t>Maatschappelijk saldo</a:t>
                      </a:r>
                    </a:p>
                  </a:txBody>
                  <a:tcPr marL="91440" marR="91440" marT="45720" marB="45720" anchor="ctr">
                    <a:solidFill>
                      <a:srgbClr val="EFF4F7"/>
                    </a:solidFill>
                  </a:tcPr>
                </a:tc>
                <a:tc>
                  <a:txBody>
                    <a:bodyPr lIns="171450" tIns="85725" rIns="152400" bIns="85725"/>
                    <a:lstStyle/>
                    <a:p>
                      <a:r>
                        <a:rPr sz="2625" b="0">
                          <a:solidFill>
                            <a:srgbClr val="183247"/>
                          </a:solidFill>
                          <a:latin typeface="Arial"/>
                          <a:ea typeface="Arial"/>
                          <a:cs typeface="Arial"/>
                        </a:rPr>
                        <a:t>+64</a:t>
                      </a:r>
                    </a:p>
                  </a:txBody>
                  <a:tcPr marL="91440" marR="91440" marT="45720" marB="45720" anchor="ctr">
                    <a:solidFill>
                      <a:srgbClr val="EFF4F7"/>
                    </a:solidFill>
                  </a:tcPr>
                </a:tc>
              </a:tr>
            </a:tbl>
          </a:graphicData>
        </a:graphic>
      </p:graphicFrame>
      <p:sp>
        <p:nvSpPr>
          <p:cNvPr id="7" name="Meer maatschappelijk surplus betekent niet dat iedereen wint.">
            <a:extLst xmlns:a="http://schemas.openxmlformats.org/drawingml/2006/main">
              <a:ext uri="{FF2B5EF4-FFF2-40B4-BE49-F238E27FC236}">
                <a16:creationId xmlns:a16="http://schemas.microsoft.com/office/drawing/2014/main" id="{1C4D38E3-DA76-4E71-A61C-7076F036B83F}"/>
              </a:ext>
            </a:extLst>
          </p:cNvPr>
          <p:cNvSpPr>
            <a:spLocks xmlns:a="http://schemas.openxmlformats.org/drawingml/2006/main" noGrp="1"/>
          </p:cNvSpPr>
          <p:nvPr/>
        </p:nvSpPr>
        <p:spPr>
          <a:xfrm xmlns:a="http://schemas.openxmlformats.org/drawingml/2006/main">
            <a:off x="571500" y="72199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Meer maatschappelijk surplus betekent niet dat iedereen wint.</a:t>
            </a:r>
          </a:p>
        </p:txBody>
      </p:sp>
    </p:spTree>
    <p:extLst>
      <p:ext uri="{BB962C8B-B14F-4D97-AF65-F5344CB8AC3E}">
        <p14:creationId xmlns:p14="http://schemas.microsoft.com/office/powerpoint/2010/main" val="7381318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4 Negatieve externe effecten">
            <a:extLst xmlns:a="http://schemas.openxmlformats.org/drawingml/2006/main">
              <a:ext uri="{FF2B5EF4-FFF2-40B4-BE49-F238E27FC236}">
                <a16:creationId xmlns:a16="http://schemas.microsoft.com/office/drawing/2014/main" id="{50B81C11-6502-42ED-B533-0F922E773DE7}"/>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§4.2.4 Negatieve externe effecten</a:t>
            </a:r>
          </a:p>
        </p:txBody>
      </p:sp>
      <p:sp>
        <p:nvSpPr>
          <p:cNvPr id="2" name="">
            <a:extLst xmlns:a="http://schemas.openxmlformats.org/drawingml/2006/main">
              <a:ext uri="{FF2B5EF4-FFF2-40B4-BE49-F238E27FC236}">
                <a16:creationId xmlns:a16="http://schemas.microsoft.com/office/drawing/2014/main" id="{85F4BF64-2E92-4680-A772-3C091FE4729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B6786F88-410B-453F-B786-54209AEF0C6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15">
            <a:extLst xmlns:a="http://schemas.openxmlformats.org/drawingml/2006/main">
              <a:ext uri="{FF2B5EF4-FFF2-40B4-BE49-F238E27FC236}">
                <a16:creationId xmlns:a16="http://schemas.microsoft.com/office/drawing/2014/main" id="{526F55E0-2F88-4E95-B3FE-89DF6B67342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C7FA1A63-6AD9-4077-9E01-0A16AF6B7BA2}"/>
              </a:ext>
            </a:extLst>
          </p:cNvPr>
          <p:cNvSpPr>
            <a:spLocks xmlns:a="http://schemas.openxmlformats.org/drawingml/2006/main" noGrp="1"/>
          </p:cNvSpPr>
          <p:nvPr/>
        </p:nvSpPr>
        <p:spPr>
          <a:xfrm xmlns:a="http://schemas.openxmlformats.org/drawingml/2006/main">
            <a:off x="571500" y="10287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C7DA80E3-D5C8-4E51-9471-786500AA582C}"/>
              </a:ext>
            </a:extLst>
          </p:cNvPr>
          <p:cNvSpPr>
            <a:spLocks xmlns:a="http://schemas.openxmlformats.org/drawingml/2006/main" noGrp="1"/>
          </p:cNvSpPr>
          <p:nvPr/>
        </p:nvSpPr>
        <p:spPr>
          <a:xfrm xmlns:a="http://schemas.openxmlformats.org/drawingml/2006/main">
            <a:off x="571500" y="1695450"/>
            <a:ext cx="7953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98F0796A-A8A8-4EF8-8300-494BADA681CE}"/>
              </a:ext>
            </a:extLst>
          </p:cNvPr>
          <p:cNvSpPr>
            <a:spLocks xmlns:a="http://schemas.openxmlformats.org/drawingml/2006/main" noGrp="1"/>
          </p:cNvSpPr>
          <p:nvPr/>
        </p:nvSpPr>
        <p:spPr>
          <a:xfrm xmlns:a="http://schemas.openxmlformats.org/drawingml/2006/main">
            <a:off x="571500" y="2276475"/>
            <a:ext cx="457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BDF5503B-445B-40BC-A0B0-409B3FDF2069}"/>
              </a:ext>
            </a:extLst>
          </p:cNvPr>
          <p:cNvSpPr>
            <a:spLocks xmlns:a="http://schemas.openxmlformats.org/drawingml/2006/main" noGrp="1"/>
          </p:cNvSpPr>
          <p:nvPr/>
        </p:nvSpPr>
        <p:spPr>
          <a:xfrm xmlns:a="http://schemas.openxmlformats.org/drawingml/2006/main">
            <a:off x="1104900" y="2276475"/>
            <a:ext cx="7419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66C05B63-8E45-46F5-9C64-992A0FDDEC77}"/>
              </a:ext>
            </a:extLst>
          </p:cNvPr>
          <p:cNvSpPr>
            <a:spLocks xmlns:a="http://schemas.openxmlformats.org/drawingml/2006/main" noGrp="1"/>
          </p:cNvSpPr>
          <p:nvPr/>
        </p:nvSpPr>
        <p:spPr>
          <a:xfrm xmlns:a="http://schemas.openxmlformats.org/drawingml/2006/main">
            <a:off x="571500" y="31527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F6D68DE-7FE1-4CC4-A721-9135ECD527E0}"/>
              </a:ext>
            </a:extLst>
          </p:cNvPr>
          <p:cNvSpPr>
            <a:spLocks xmlns:a="http://schemas.openxmlformats.org/drawingml/2006/main" noGrp="1"/>
          </p:cNvSpPr>
          <p:nvPr/>
        </p:nvSpPr>
        <p:spPr>
          <a:xfrm xmlns:a="http://schemas.openxmlformats.org/drawingml/2006/main">
            <a:off x="1104900" y="315277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524A22AB-E513-43EF-8FF6-6EBA1B2029A6}"/>
              </a:ext>
            </a:extLst>
          </p:cNvPr>
          <p:cNvSpPr>
            <a:spLocks xmlns:a="http://schemas.openxmlformats.org/drawingml/2006/main" noGrp="1"/>
          </p:cNvSpPr>
          <p:nvPr/>
        </p:nvSpPr>
        <p:spPr>
          <a:xfrm xmlns:a="http://schemas.openxmlformats.org/drawingml/2006/main">
            <a:off x="571500" y="36671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C9A4588D-5B00-4A45-981F-4090789C973D}"/>
              </a:ext>
            </a:extLst>
          </p:cNvPr>
          <p:cNvSpPr>
            <a:spLocks xmlns:a="http://schemas.openxmlformats.org/drawingml/2006/main" noGrp="1"/>
          </p:cNvSpPr>
          <p:nvPr/>
        </p:nvSpPr>
        <p:spPr>
          <a:xfrm xmlns:a="http://schemas.openxmlformats.org/drawingml/2006/main">
            <a:off x="1104900" y="36671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B49AEB3D-6EE1-497A-94F7-D9EC090C32C7}"/>
              </a:ext>
            </a:extLst>
          </p:cNvPr>
          <p:cNvSpPr>
            <a:spLocks xmlns:a="http://schemas.openxmlformats.org/drawingml/2006/main" noGrp="1"/>
          </p:cNvSpPr>
          <p:nvPr/>
        </p:nvSpPr>
        <p:spPr>
          <a:xfrm xmlns:a="http://schemas.openxmlformats.org/drawingml/2006/main">
            <a:off x="571500" y="4200525"/>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641532B8-A43F-48BF-BA0A-7A4193768353}"/>
              </a:ext>
            </a:extLst>
          </p:cNvPr>
          <p:cNvSpPr>
            <a:spLocks xmlns:a="http://schemas.openxmlformats.org/drawingml/2006/main" noGrp="1"/>
          </p:cNvSpPr>
          <p:nvPr/>
        </p:nvSpPr>
        <p:spPr>
          <a:xfrm xmlns:a="http://schemas.openxmlformats.org/drawingml/2006/main">
            <a:off x="1104900" y="4200525"/>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8B4F594D-2F8F-416B-A463-073BADE7C647}"/>
              </a:ext>
            </a:extLst>
          </p:cNvPr>
          <p:cNvSpPr>
            <a:spLocks xmlns:a="http://schemas.openxmlformats.org/drawingml/2006/main" noGrp="1"/>
          </p:cNvSpPr>
          <p:nvPr/>
        </p:nvSpPr>
        <p:spPr>
          <a:xfrm xmlns:a="http://schemas.openxmlformats.org/drawingml/2006/main">
            <a:off x="571500" y="6010275"/>
            <a:ext cx="457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A58BD096-7C13-4ECE-A671-D59DC5D6307C}"/>
              </a:ext>
            </a:extLst>
          </p:cNvPr>
          <p:cNvSpPr>
            <a:spLocks xmlns:a="http://schemas.openxmlformats.org/drawingml/2006/main" noGrp="1"/>
          </p:cNvSpPr>
          <p:nvPr/>
        </p:nvSpPr>
        <p:spPr>
          <a:xfrm xmlns:a="http://schemas.openxmlformats.org/drawingml/2006/main">
            <a:off x="1104900" y="6010275"/>
            <a:ext cx="74199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A2DC55B-919F-4919-8653-E9C7FEA21AE9}"/>
              </a:ext>
            </a:extLst>
          </p:cNvPr>
          <p:cNvSpPr>
            <a:spLocks xmlns:a="http://schemas.openxmlformats.org/drawingml/2006/main" noGrp="1"/>
          </p:cNvSpPr>
          <p:nvPr/>
        </p:nvSpPr>
        <p:spPr>
          <a:xfrm xmlns:a="http://schemas.openxmlformats.org/drawingml/2006/main">
            <a:off x="571500" y="67627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83243038-D463-42E0-ACB4-DB70A3DB39D2}"/>
              </a:ext>
            </a:extLst>
          </p:cNvPr>
          <p:cNvSpPr>
            <a:spLocks xmlns:a="http://schemas.openxmlformats.org/drawingml/2006/main" noGrp="1"/>
          </p:cNvSpPr>
          <p:nvPr/>
        </p:nvSpPr>
        <p:spPr>
          <a:xfrm xmlns:a="http://schemas.openxmlformats.org/drawingml/2006/main">
            <a:off x="1104900" y="67627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34.</a:t>
            </a:r>
          </a:p>
        </p:txBody>
      </p:sp>
      <p:sp>
        <p:nvSpPr>
          <p:cNvPr id="19" name="route-number-7">
            <a:extLst xmlns:a="http://schemas.openxmlformats.org/drawingml/2006/main">
              <a:ext uri="{FF2B5EF4-FFF2-40B4-BE49-F238E27FC236}">
                <a16:creationId xmlns:a16="http://schemas.microsoft.com/office/drawing/2014/main" id="{DECE1AF5-C5A9-4CA6-9D36-E88C71669E14}"/>
              </a:ext>
            </a:extLst>
          </p:cNvPr>
          <p:cNvSpPr>
            <a:spLocks xmlns:a="http://schemas.openxmlformats.org/drawingml/2006/main" noGrp="1"/>
          </p:cNvSpPr>
          <p:nvPr/>
        </p:nvSpPr>
        <p:spPr>
          <a:xfrm xmlns:a="http://schemas.openxmlformats.org/drawingml/2006/main">
            <a:off x="571500" y="73342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C8906C34-913A-425C-B1AE-8210A01760CD}"/>
              </a:ext>
            </a:extLst>
          </p:cNvPr>
          <p:cNvSpPr>
            <a:spLocks xmlns:a="http://schemas.openxmlformats.org/drawingml/2006/main" noGrp="1"/>
          </p:cNvSpPr>
          <p:nvPr/>
        </p:nvSpPr>
        <p:spPr>
          <a:xfrm xmlns:a="http://schemas.openxmlformats.org/drawingml/2006/main">
            <a:off x="1104900" y="73342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B30793C-6E93-4063-88CE-BC03EA3A2048}"/>
              </a:ext>
            </a:extLst>
          </p:cNvPr>
          <p:cNvSpPr>
            <a:spLocks xmlns:a="http://schemas.openxmlformats.org/drawingml/2006/main" noGrp="1"/>
          </p:cNvSpPr>
          <p:nvPr/>
        </p:nvSpPr>
        <p:spPr>
          <a:xfrm xmlns:a="http://schemas.openxmlformats.org/drawingml/2006/main">
            <a:off x="9258300" y="1695450"/>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6741E99-F7A3-41A3-91F4-313DEB0D287E}"/>
              </a:ext>
            </a:extLst>
          </p:cNvPr>
          <p:cNvSpPr>
            <a:spLocks xmlns:a="http://schemas.openxmlformats.org/drawingml/2006/main" noGrp="1"/>
          </p:cNvSpPr>
          <p:nvPr/>
        </p:nvSpPr>
        <p:spPr>
          <a:xfrm xmlns:a="http://schemas.openxmlformats.org/drawingml/2006/main">
            <a:off x="9258300" y="2276475"/>
            <a:ext cx="53816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Derden en kosten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Heffing, maatschappelijk surplus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welvaartsverlies berekenen.</a:t>
            </a:r>
          </a:p>
        </p:txBody>
      </p:sp>
      <p:sp>
        <p:nvSpPr>
          <p:cNvPr id="23" name="">
            <a:extLst xmlns:a="http://schemas.openxmlformats.org/drawingml/2006/main">
              <a:ext uri="{FF2B5EF4-FFF2-40B4-BE49-F238E27FC236}">
                <a16:creationId xmlns:a16="http://schemas.microsoft.com/office/drawing/2014/main" id="{C576FF98-AA64-45F0-B0F1-869CB594863E}"/>
              </a:ext>
            </a:extLst>
          </p:cNvPr>
          <p:cNvSpPr>
            <a:spLocks xmlns:a="http://schemas.openxmlformats.org/drawingml/2006/main" noGrp="1"/>
          </p:cNvSpPr>
          <p:nvPr/>
        </p:nvSpPr>
        <p:spPr>
          <a:xfrm xmlns:a="http://schemas.openxmlformats.org/drawingml/2006/main">
            <a:off x="9258300" y="35718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81C6DDC-533B-42E1-B388-A99B9FFD864F}"/>
              </a:ext>
            </a:extLst>
          </p:cNvPr>
          <p:cNvSpPr>
            <a:spLocks xmlns:a="http://schemas.openxmlformats.org/drawingml/2006/main" noGrp="1"/>
          </p:cNvSpPr>
          <p:nvPr/>
        </p:nvSpPr>
        <p:spPr>
          <a:xfrm xmlns:a="http://schemas.openxmlformats.org/drawingml/2006/main">
            <a:off x="9258300" y="3800475"/>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AEDE834-A3F3-4EC6-B297-CC7C2607F21F}"/>
              </a:ext>
            </a:extLst>
          </p:cNvPr>
          <p:cNvSpPr>
            <a:spLocks xmlns:a="http://schemas.openxmlformats.org/drawingml/2006/main" noGrp="1"/>
          </p:cNvSpPr>
          <p:nvPr/>
        </p:nvSpPr>
        <p:spPr>
          <a:xfrm xmlns:a="http://schemas.openxmlformats.org/drawingml/2006/main">
            <a:off x="9258300" y="4324350"/>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83 · Opgaven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29: verkennen, theorie p. 77</a:t>
            </a:r>
          </a:p>
        </p:txBody>
      </p:sp>
      <p:sp>
        <p:nvSpPr>
          <p:cNvPr id="26" name="">
            <a:extLst xmlns:a="http://schemas.openxmlformats.org/drawingml/2006/main">
              <a:ext uri="{FF2B5EF4-FFF2-40B4-BE49-F238E27FC236}">
                <a16:creationId xmlns:a16="http://schemas.microsoft.com/office/drawing/2014/main" id="{A18FB98F-BEB5-4F83-B077-1A00BA22AFEF}"/>
              </a:ext>
            </a:extLst>
          </p:cNvPr>
          <p:cNvSpPr>
            <a:spLocks xmlns:a="http://schemas.openxmlformats.org/drawingml/2006/main" noGrp="1"/>
          </p:cNvSpPr>
          <p:nvPr/>
        </p:nvSpPr>
        <p:spPr>
          <a:xfrm xmlns:a="http://schemas.openxmlformats.org/drawingml/2006/main">
            <a:off x="9258300" y="54006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422FBD4-0DB3-4205-AAB4-403120817552}"/>
              </a:ext>
            </a:extLst>
          </p:cNvPr>
          <p:cNvSpPr>
            <a:spLocks xmlns:a="http://schemas.openxmlformats.org/drawingml/2006/main" noGrp="1"/>
          </p:cNvSpPr>
          <p:nvPr/>
        </p:nvSpPr>
        <p:spPr>
          <a:xfrm xmlns:a="http://schemas.openxmlformats.org/drawingml/2006/main">
            <a:off x="9258300" y="5619750"/>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EE831562-AE5B-474B-A699-6ED43224CFE1}"/>
              </a:ext>
            </a:extLst>
          </p:cNvPr>
          <p:cNvSpPr>
            <a:spLocks xmlns:a="http://schemas.openxmlformats.org/drawingml/2006/main" noGrp="1"/>
          </p:cNvSpPr>
          <p:nvPr/>
        </p:nvSpPr>
        <p:spPr>
          <a:xfrm xmlns:a="http://schemas.openxmlformats.org/drawingml/2006/main">
            <a:off x="9258300" y="6143625"/>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§4.2.4 · Opgaven 30 t/m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30 en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32 en 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2649606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 · Bron: Reinigingsdiensten">
            <a:extLst xmlns:a="http://schemas.openxmlformats.org/drawingml/2006/main">
              <a:ext uri="{FF2B5EF4-FFF2-40B4-BE49-F238E27FC236}">
                <a16:creationId xmlns:a16="http://schemas.microsoft.com/office/drawing/2014/main" id="{EB458BEC-2400-4929-9E78-989D2B2A7232}"/>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 · Bron: Reinigingsdiensten</a:t>
            </a:r>
          </a:p>
        </p:txBody>
      </p:sp>
      <p:sp>
        <p:nvSpPr>
          <p:cNvPr id="2" name="">
            <a:extLst xmlns:a="http://schemas.openxmlformats.org/drawingml/2006/main">
              <a:ext uri="{FF2B5EF4-FFF2-40B4-BE49-F238E27FC236}">
                <a16:creationId xmlns:a16="http://schemas.microsoft.com/office/drawing/2014/main" id="{8D0DE925-C3E5-4F19-9521-B0E02637E91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1EBC8BC4-8042-4FD3-9C7B-C32D7C59347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16">
            <a:extLst xmlns:a="http://schemas.openxmlformats.org/drawingml/2006/main">
              <a:ext uri="{FF2B5EF4-FFF2-40B4-BE49-F238E27FC236}">
                <a16:creationId xmlns:a16="http://schemas.microsoft.com/office/drawing/2014/main" id="{6616AE0E-1E1A-445C-A256-40F0DF32CC2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Veel bedrijven bieden dezelfde reinigingsdienst aan.">
            <a:extLst xmlns:a="http://schemas.openxmlformats.org/drawingml/2006/main">
              <a:ext uri="{FF2B5EF4-FFF2-40B4-BE49-F238E27FC236}">
                <a16:creationId xmlns:a16="http://schemas.microsoft.com/office/drawing/2014/main" id="{216E9498-3291-489B-A0C2-2FA5E98B57B3}"/>
              </a:ext>
            </a:extLst>
          </p:cNvPr>
          <p:cNvSpPr>
            <a:spLocks xmlns:a="http://schemas.openxmlformats.org/drawingml/2006/main" noGrp="1"/>
          </p:cNvSpPr>
          <p:nvPr/>
        </p:nvSpPr>
        <p:spPr>
          <a:xfrm xmlns:a="http://schemas.openxmlformats.org/drawingml/2006/main">
            <a:off x="571500" y="189547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Veel bedrijven bieden dezelfde reinigingsdienst aan.</a:t>
            </a:r>
          </a:p>
        </p:txBody>
      </p:sp>
      <p:graphicFrame>
        <p:nvGraphicFramePr>
          <p:cNvPr id="14" name=""/>
          <p:cNvGraphicFramePr/>
          <p:nvPr/>
        </p:nvGraphicFramePr>
        <p:xfrm>
          <a:off xmlns:a="http://schemas.openxmlformats.org/drawingml/2006/main" x="571500" y="2838450"/>
          <a:ext xmlns:a="http://schemas.openxmlformats.org/drawingml/2006/main" cx="14097000" cy="1628775"/>
        </p:xfrm>
        <a:graphic xmlns:a="http://schemas.openxmlformats.org/drawingml/2006/main">
          <a:graphicData uri="http://schemas.openxmlformats.org/drawingml/2006/table">
            <a:tbl>
              <a:tblPr/>
              <a:tblGrid>
                <a:gridCol w="4857750"/>
                <a:gridCol w="4857750"/>
                <a:gridCol w="4381500"/>
              </a:tblGrid>
              <a:tr h="814388">
                <a:tc>
                  <a:txBody>
                    <a:bodyPr lIns="171450" tIns="85725" rIns="152400" bIns="85725"/>
                    <a:lstStyle/>
                    <a:p>
                      <a:r>
                        <a:rPr sz="2700" b="1">
                          <a:solidFill>
                            <a:srgbClr val="FFFFFF"/>
                          </a:solidFill>
                          <a:latin typeface="Arial"/>
                          <a:ea typeface="Arial"/>
                          <a:cs typeface="Arial"/>
                        </a:rPr>
                        <a:t>Vraag</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Aanbod</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Heffing per dienst</a:t>
                      </a:r>
                    </a:p>
                  </a:txBody>
                  <a:tcPr marL="91440" marR="91440" marT="45720" marB="45720" anchor="ctr">
                    <a:solidFill>
                      <a:srgbClr val="183247"/>
                    </a:solidFill>
                  </a:tcPr>
                </a:tc>
              </a:tr>
              <a:tr h="814388">
                <a:tc>
                  <a:txBody>
                    <a:bodyPr lIns="171450" tIns="85725" rIns="152400" bIns="85725"/>
                    <a:lstStyle/>
                    <a:p>
                      <a:r>
                        <a:rPr sz="2700" b="0">
                          <a:solidFill>
                            <a:srgbClr val="183247"/>
                          </a:solidFill>
                          <a:latin typeface="Arial"/>
                          <a:ea typeface="Arial"/>
                          <a:cs typeface="Arial"/>
                        </a:rPr>
                        <a:t>Pc = 60 − Q</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Pp = Q</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t = € 20</a:t>
                      </a:r>
                    </a:p>
                  </a:txBody>
                  <a:tcPr marL="91440" marR="91440" marT="45720" marB="45720" anchor="ctr">
                    <a:solidFill>
                      <a:srgbClr val="FFFFFF"/>
                    </a:solidFill>
                  </a:tcPr>
                </a:tc>
              </a:tr>
            </a:tbl>
          </a:graphicData>
        </a:graphic>
      </p:graphicFrame>
      <p:sp>
        <p:nvSpPr>
          <p:cNvPr id="7" name="Q: diensten per dag, van 0 tot 60. Prijzen: euro per dienst.&#10;Elk">
            <a:extLst xmlns:a="http://schemas.openxmlformats.org/drawingml/2006/main">
              <a:ext uri="{FF2B5EF4-FFF2-40B4-BE49-F238E27FC236}">
                <a16:creationId xmlns:a16="http://schemas.microsoft.com/office/drawing/2014/main" id="{14701688-4AC4-4297-BA60-EA513D41735A}"/>
              </a:ext>
            </a:extLst>
          </p:cNvPr>
          <p:cNvSpPr>
            <a:spLocks xmlns:a="http://schemas.openxmlformats.org/drawingml/2006/main" noGrp="1"/>
          </p:cNvSpPr>
          <p:nvPr/>
        </p:nvSpPr>
        <p:spPr>
          <a:xfrm xmlns:a="http://schemas.openxmlformats.org/drawingml/2006/main">
            <a:off x="571500" y="4876800"/>
            <a:ext cx="1409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diensten per dag, van 0 tot 60. Prijzen: euro per dienst.</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Elke dienst veroorzaakt € 20 niet-vergoede overlast voor omwonenden.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 producenten dragen de heffing af.</a:t>
            </a:r>
          </a:p>
        </p:txBody>
      </p:sp>
      <p:sp>
        <p:nvSpPr>
          <p:cNvPr id="8" name="Geen uitvoeringskosten, vaste kosten of andere externe effecten.">
            <a:extLst xmlns:a="http://schemas.openxmlformats.org/drawingml/2006/main">
              <a:ext uri="{FF2B5EF4-FFF2-40B4-BE49-F238E27FC236}">
                <a16:creationId xmlns:a16="http://schemas.microsoft.com/office/drawing/2014/main" id="{40F33077-4A5E-4A78-AC6C-3552EBFA528A}"/>
              </a:ext>
            </a:extLst>
          </p:cNvPr>
          <p:cNvSpPr>
            <a:spLocks xmlns:a="http://schemas.openxmlformats.org/drawingml/2006/main" noGrp="1"/>
          </p:cNvSpPr>
          <p:nvPr/>
        </p:nvSpPr>
        <p:spPr>
          <a:xfrm xmlns:a="http://schemas.openxmlformats.org/drawingml/2006/main">
            <a:off x="571500" y="694372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Geen uitvoeringskosten, vaste kosten of andere externe effecten.</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Andere vraag- en aanbodfactoren veranderen niet.</a:t>
            </a:r>
          </a:p>
        </p:txBody>
      </p:sp>
    </p:spTree>
    <p:extLst>
      <p:ext uri="{BB962C8B-B14F-4D97-AF65-F5344CB8AC3E}">
        <p14:creationId xmlns:p14="http://schemas.microsoft.com/office/powerpoint/2010/main" val="2358657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4 · Basisgrafiek en vragen a–b">
            <a:extLst xmlns:a="http://schemas.openxmlformats.org/drawingml/2006/main">
              <a:ext uri="{FF2B5EF4-FFF2-40B4-BE49-F238E27FC236}">
                <a16:creationId xmlns:a16="http://schemas.microsoft.com/office/drawing/2014/main" id="{26931BBB-C31D-4131-B9A8-EFB5064927CC}"/>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 · Basisgrafiek en vragen a–b</a:t>
            </a:r>
          </a:p>
        </p:txBody>
      </p:sp>
      <p:sp>
        <p:nvSpPr>
          <p:cNvPr id="2" name="">
            <a:extLst xmlns:a="http://schemas.openxmlformats.org/drawingml/2006/main">
              <a:ext uri="{FF2B5EF4-FFF2-40B4-BE49-F238E27FC236}">
                <a16:creationId xmlns:a16="http://schemas.microsoft.com/office/drawing/2014/main" id="{484C68C7-54DF-44EF-9AA3-6671683C9B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847F1886-A37A-48CD-B4B5-3F325697D3F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17">
            <a:extLst xmlns:a="http://schemas.openxmlformats.org/drawingml/2006/main">
              <a:ext uri="{FF2B5EF4-FFF2-40B4-BE49-F238E27FC236}">
                <a16:creationId xmlns:a16="http://schemas.microsoft.com/office/drawing/2014/main" id="{D2D8DF6D-5470-4515-AB90-9EA22C504BD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graphicFrame>
        <p:nvGraphicFramePr>
          <p:cNvPr id="14" name="Chart"/>
          <p:cNvGraphicFramePr/>
          <p:nvPr/>
        </p:nvGraphicFramePr>
        <p:xfrm>
          <a:off xmlns:a="http://schemas.openxmlformats.org/drawingml/2006/main" x="571500" y="2257425"/>
          <a:ext xmlns:a="http://schemas.openxmlformats.org/drawingml/2006/main" cx="9906000" cy="5553075"/>
        </p:xfrm>
        <a:graphic xmlns:a="http://schemas.openxmlformats.org/drawingml/2006/main">
          <a:graphicData uri="http://schemas.openxmlformats.org/drawingml/2006/chart">
            <c:chart xmlns:r="http://schemas.openxmlformats.org/officeDocument/2006/relationships" xmlns:c="http://schemas.openxmlformats.org/drawingml/2006/chart" r:id="Rf281a9e9f475495e"/>
          </a:graphicData>
        </a:graphic>
      </p:graphicFrame>
      <p:sp>
        <p:nvSpPr>
          <p:cNvPr id="6" name="a (3p)">
            <a:extLst xmlns:a="http://schemas.openxmlformats.org/drawingml/2006/main">
              <a:ext uri="{FF2B5EF4-FFF2-40B4-BE49-F238E27FC236}">
                <a16:creationId xmlns:a16="http://schemas.microsoft.com/office/drawing/2014/main" id="{F7B0C041-1159-4A81-AA4E-5F718B3E5839}"/>
              </a:ext>
            </a:extLst>
          </p:cNvPr>
          <p:cNvSpPr>
            <a:spLocks xmlns:a="http://schemas.openxmlformats.org/drawingml/2006/main" noGrp="1"/>
          </p:cNvSpPr>
          <p:nvPr/>
        </p:nvSpPr>
        <p:spPr>
          <a:xfrm xmlns:a="http://schemas.openxmlformats.org/drawingml/2006/main">
            <a:off x="10858500" y="2209800"/>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a (3p)</a:t>
            </a:r>
          </a:p>
        </p:txBody>
      </p:sp>
      <p:sp>
        <p:nvSpPr>
          <p:cNvPr id="7" name="Noem de derde partij. Bereken de oorspronkelijke hoeveelheid en ">
            <a:extLst xmlns:a="http://schemas.openxmlformats.org/drawingml/2006/main">
              <a:ext uri="{FF2B5EF4-FFF2-40B4-BE49-F238E27FC236}">
                <a16:creationId xmlns:a16="http://schemas.microsoft.com/office/drawing/2014/main" id="{A731CF57-B4D7-474F-B763-5F6FF279ED28}"/>
              </a:ext>
            </a:extLst>
          </p:cNvPr>
          <p:cNvSpPr>
            <a:spLocks xmlns:a="http://schemas.openxmlformats.org/drawingml/2006/main" noGrp="1"/>
          </p:cNvSpPr>
          <p:nvPr/>
        </p:nvSpPr>
        <p:spPr>
          <a:xfrm xmlns:a="http://schemas.openxmlformats.org/drawingml/2006/main">
            <a:off x="10858500" y="2847975"/>
            <a:ext cx="38100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Noem de derde partij. Bereken de oorspronkelijke hoeveelheid en prijs, en de totale externe schade.</a:t>
            </a:r>
          </a:p>
        </p:txBody>
      </p:sp>
      <p:sp>
        <p:nvSpPr>
          <p:cNvPr id="8" name="b (3p)">
            <a:extLst xmlns:a="http://schemas.openxmlformats.org/drawingml/2006/main">
              <a:ext uri="{FF2B5EF4-FFF2-40B4-BE49-F238E27FC236}">
                <a16:creationId xmlns:a16="http://schemas.microsoft.com/office/drawing/2014/main" id="{D5E3EE45-792B-42D3-899D-531D304230FB}"/>
              </a:ext>
            </a:extLst>
          </p:cNvPr>
          <p:cNvSpPr>
            <a:spLocks xmlns:a="http://schemas.openxmlformats.org/drawingml/2006/main" noGrp="1"/>
          </p:cNvSpPr>
          <p:nvPr/>
        </p:nvSpPr>
        <p:spPr>
          <a:xfrm xmlns:a="http://schemas.openxmlformats.org/drawingml/2006/main">
            <a:off x="10858500" y="5372100"/>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b (3p)</a:t>
            </a:r>
          </a:p>
        </p:txBody>
      </p:sp>
      <p:sp>
        <p:nvSpPr>
          <p:cNvPr id="9" name="Bereken met de heffingswig Q, Pc, Pp en de overheidsontvangst.">
            <a:extLst xmlns:a="http://schemas.openxmlformats.org/drawingml/2006/main">
              <a:ext uri="{FF2B5EF4-FFF2-40B4-BE49-F238E27FC236}">
                <a16:creationId xmlns:a16="http://schemas.microsoft.com/office/drawing/2014/main" id="{DE9117DD-DE82-45CF-A737-7BCA2E72E8FF}"/>
              </a:ext>
            </a:extLst>
          </p:cNvPr>
          <p:cNvSpPr>
            <a:spLocks xmlns:a="http://schemas.openxmlformats.org/drawingml/2006/main" noGrp="1"/>
          </p:cNvSpPr>
          <p:nvPr/>
        </p:nvSpPr>
        <p:spPr>
          <a:xfrm xmlns:a="http://schemas.openxmlformats.org/drawingml/2006/main">
            <a:off x="10715625" y="6000750"/>
            <a:ext cx="395287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Bereken met de heffingswig Q, Pc, Pp en de overheidsontvangst.</a:t>
            </a:r>
          </a:p>
        </p:txBody>
      </p:sp>
    </p:spTree>
    <p:extLst>
      <p:ext uri="{BB962C8B-B14F-4D97-AF65-F5344CB8AC3E}">
        <p14:creationId xmlns:p14="http://schemas.microsoft.com/office/powerpoint/2010/main" val="12453303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4 · Vragen c–e">
            <a:extLst xmlns:a="http://schemas.openxmlformats.org/drawingml/2006/main">
              <a:ext uri="{FF2B5EF4-FFF2-40B4-BE49-F238E27FC236}">
                <a16:creationId xmlns:a16="http://schemas.microsoft.com/office/drawing/2014/main" id="{5ABC0791-DB77-4C22-9889-3E64F6E57203}"/>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 · Vragen c–e</a:t>
            </a:r>
          </a:p>
        </p:txBody>
      </p:sp>
      <p:sp>
        <p:nvSpPr>
          <p:cNvPr id="2" name="">
            <a:extLst xmlns:a="http://schemas.openxmlformats.org/drawingml/2006/main">
              <a:ext uri="{FF2B5EF4-FFF2-40B4-BE49-F238E27FC236}">
                <a16:creationId xmlns:a16="http://schemas.microsoft.com/office/drawing/2014/main" id="{4DFADAA7-4DD3-477D-8D19-9003C2C0C22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D8C76281-FF02-479C-868A-A0A5EE12395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18">
            <a:extLst xmlns:a="http://schemas.openxmlformats.org/drawingml/2006/main">
              <a:ext uri="{FF2B5EF4-FFF2-40B4-BE49-F238E27FC236}">
                <a16:creationId xmlns:a16="http://schemas.microsoft.com/office/drawing/2014/main" id="{B599124C-090B-401B-887E-B932EDD03BA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c (4p)">
            <a:extLst xmlns:a="http://schemas.openxmlformats.org/drawingml/2006/main">
              <a:ext uri="{FF2B5EF4-FFF2-40B4-BE49-F238E27FC236}">
                <a16:creationId xmlns:a16="http://schemas.microsoft.com/office/drawing/2014/main" id="{D68C255C-47CE-4F0B-82ED-62031A000274}"/>
              </a:ext>
            </a:extLst>
          </p:cNvPr>
          <p:cNvSpPr>
            <a:spLocks xmlns:a="http://schemas.openxmlformats.org/drawingml/2006/main" noGrp="1"/>
          </p:cNvSpPr>
          <p:nvPr/>
        </p:nvSpPr>
        <p:spPr>
          <a:xfrm xmlns:a="http://schemas.openxmlformats.org/drawingml/2006/main">
            <a:off x="571500" y="2200275"/>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c (4p)</a:t>
            </a:r>
          </a:p>
        </p:txBody>
      </p:sp>
      <p:sp>
        <p:nvSpPr>
          <p:cNvPr id="6" name="Bereken het maatschappelijk surplus vóór en na ingrijpen. Laat a">
            <a:extLst xmlns:a="http://schemas.openxmlformats.org/drawingml/2006/main">
              <a:ext uri="{FF2B5EF4-FFF2-40B4-BE49-F238E27FC236}">
                <a16:creationId xmlns:a16="http://schemas.microsoft.com/office/drawing/2014/main" id="{9B839D0B-AE40-475C-BD76-DAF373226C60}"/>
              </a:ext>
            </a:extLst>
          </p:cNvPr>
          <p:cNvSpPr>
            <a:spLocks xmlns:a="http://schemas.openxmlformats.org/drawingml/2006/main" noGrp="1"/>
          </p:cNvSpPr>
          <p:nvPr/>
        </p:nvSpPr>
        <p:spPr>
          <a:xfrm xmlns:a="http://schemas.openxmlformats.org/drawingml/2006/main">
            <a:off x="2571750" y="2200275"/>
            <a:ext cx="1209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het maatschappelijk surplus vóór en na ingrijpen. Laat alle vier posten zien.</a:t>
            </a:r>
          </a:p>
        </p:txBody>
      </p:sp>
      <p:sp>
        <p:nvSpPr>
          <p:cNvPr id="7" name="d (2p)">
            <a:extLst xmlns:a="http://schemas.openxmlformats.org/drawingml/2006/main">
              <a:ext uri="{FF2B5EF4-FFF2-40B4-BE49-F238E27FC236}">
                <a16:creationId xmlns:a16="http://schemas.microsoft.com/office/drawing/2014/main" id="{9D1047BA-3EA3-4AF5-8B0A-A4FBE1D74CFC}"/>
              </a:ext>
            </a:extLst>
          </p:cNvPr>
          <p:cNvSpPr>
            <a:spLocks xmlns:a="http://schemas.openxmlformats.org/drawingml/2006/main" noGrp="1"/>
          </p:cNvSpPr>
          <p:nvPr/>
        </p:nvSpPr>
        <p:spPr>
          <a:xfrm xmlns:a="http://schemas.openxmlformats.org/drawingml/2006/main">
            <a:off x="571500" y="4067175"/>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d (2p)</a:t>
            </a:r>
          </a:p>
        </p:txBody>
      </p:sp>
      <p:sp>
        <p:nvSpPr>
          <p:cNvPr id="8" name="Markeer de efficiënte hoeveelheid en arceer het oorspronkelijke ">
            <a:extLst xmlns:a="http://schemas.openxmlformats.org/drawingml/2006/main">
              <a:ext uri="{FF2B5EF4-FFF2-40B4-BE49-F238E27FC236}">
                <a16:creationId xmlns:a16="http://schemas.microsoft.com/office/drawing/2014/main" id="{9F5899FC-C0D5-4BBC-9602-0C0A356B7EC3}"/>
              </a:ext>
            </a:extLst>
          </p:cNvPr>
          <p:cNvSpPr>
            <a:spLocks xmlns:a="http://schemas.openxmlformats.org/drawingml/2006/main" noGrp="1"/>
          </p:cNvSpPr>
          <p:nvPr/>
        </p:nvSpPr>
        <p:spPr>
          <a:xfrm xmlns:a="http://schemas.openxmlformats.org/drawingml/2006/main">
            <a:off x="2571750" y="4067175"/>
            <a:ext cx="1209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Markeer de efficiënte hoeveelheid en arceer het oorspronkelijke welvaartsverlies. Benoem basis en hoogte.</a:t>
            </a:r>
          </a:p>
        </p:txBody>
      </p:sp>
      <p:sp>
        <p:nvSpPr>
          <p:cNvPr id="9" name="e (2p)">
            <a:extLst xmlns:a="http://schemas.openxmlformats.org/drawingml/2006/main">
              <a:ext uri="{FF2B5EF4-FFF2-40B4-BE49-F238E27FC236}">
                <a16:creationId xmlns:a16="http://schemas.microsoft.com/office/drawing/2014/main" id="{776CF9B0-80E9-4229-A81D-94411B2FEB7E}"/>
              </a:ext>
            </a:extLst>
          </p:cNvPr>
          <p:cNvSpPr>
            <a:spLocks xmlns:a="http://schemas.openxmlformats.org/drawingml/2006/main" noGrp="1"/>
          </p:cNvSpPr>
          <p:nvPr/>
        </p:nvSpPr>
        <p:spPr>
          <a:xfrm xmlns:a="http://schemas.openxmlformats.org/drawingml/2006/main">
            <a:off x="571500" y="5934075"/>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e (2p)</a:t>
            </a:r>
          </a:p>
        </p:txBody>
      </p:sp>
      <p:sp>
        <p:nvSpPr>
          <p:cNvPr id="10" name="Beoordeel: “CS en PS dalen door de belasting, dus de maatschappi">
            <a:extLst xmlns:a="http://schemas.openxmlformats.org/drawingml/2006/main">
              <a:ext uri="{FF2B5EF4-FFF2-40B4-BE49-F238E27FC236}">
                <a16:creationId xmlns:a16="http://schemas.microsoft.com/office/drawing/2014/main" id="{403E441C-AFA2-40CD-9FCE-6B18EDAF4FC7}"/>
              </a:ext>
            </a:extLst>
          </p:cNvPr>
          <p:cNvSpPr>
            <a:spLocks xmlns:a="http://schemas.openxmlformats.org/drawingml/2006/main" noGrp="1"/>
          </p:cNvSpPr>
          <p:nvPr/>
        </p:nvSpPr>
        <p:spPr>
          <a:xfrm xmlns:a="http://schemas.openxmlformats.org/drawingml/2006/main">
            <a:off x="2571750" y="5934075"/>
            <a:ext cx="1209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Beoordeel: “CS en PS dalen door de belasting, dus de maatschappij verliest.”</a:t>
            </a:r>
          </a:p>
        </p:txBody>
      </p:sp>
    </p:spTree>
    <p:extLst>
      <p:ext uri="{BB962C8B-B14F-4D97-AF65-F5344CB8AC3E}">
        <p14:creationId xmlns:p14="http://schemas.microsoft.com/office/powerpoint/2010/main" val="8508429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a · De oorspronkelijke markt">
            <a:extLst xmlns:a="http://schemas.openxmlformats.org/drawingml/2006/main">
              <a:ext uri="{FF2B5EF4-FFF2-40B4-BE49-F238E27FC236}">
                <a16:creationId xmlns:a16="http://schemas.microsoft.com/office/drawing/2014/main" id="{63C35D71-85D5-4D6B-916C-D604C9BADBA2}"/>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34a · De oorspronkelijke markt</a:t>
            </a:r>
          </a:p>
        </p:txBody>
      </p:sp>
      <p:sp>
        <p:nvSpPr>
          <p:cNvPr id="2" name="">
            <a:extLst xmlns:a="http://schemas.openxmlformats.org/drawingml/2006/main">
              <a:ext uri="{FF2B5EF4-FFF2-40B4-BE49-F238E27FC236}">
                <a16:creationId xmlns:a16="http://schemas.microsoft.com/office/drawing/2014/main" id="{C57752FE-38C8-4422-BAA4-E6E18F24C97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2B87BB8B-16E9-4173-8442-2EF83A30444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19">
            <a:extLst xmlns:a="http://schemas.openxmlformats.org/drawingml/2006/main">
              <a:ext uri="{FF2B5EF4-FFF2-40B4-BE49-F238E27FC236}">
                <a16:creationId xmlns:a16="http://schemas.microsoft.com/office/drawing/2014/main" id="{3A5896A2-335F-4B2F-9477-31C9646ABED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Derde partij: omwonenden">
            <a:extLst xmlns:a="http://schemas.openxmlformats.org/drawingml/2006/main">
              <a:ext uri="{FF2B5EF4-FFF2-40B4-BE49-F238E27FC236}">
                <a16:creationId xmlns:a16="http://schemas.microsoft.com/office/drawing/2014/main" id="{84ED8C55-B8EB-40ED-B988-FF9EF592D1AA}"/>
              </a:ext>
            </a:extLst>
          </p:cNvPr>
          <p:cNvSpPr>
            <a:spLocks xmlns:a="http://schemas.openxmlformats.org/drawingml/2006/main" noGrp="1"/>
          </p:cNvSpPr>
          <p:nvPr/>
        </p:nvSpPr>
        <p:spPr>
          <a:xfrm xmlns:a="http://schemas.openxmlformats.org/drawingml/2006/main">
            <a:off x="571500" y="21145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Derde partij: omwonenden</a:t>
            </a:r>
          </a:p>
        </p:txBody>
      </p:sp>
      <p:sp>
        <p:nvSpPr>
          <p:cNvPr id="6" name="60 − Q = Q      60 = 2Q      Q₀ = 30 diensten per dag">
            <a:extLst xmlns:a="http://schemas.openxmlformats.org/drawingml/2006/main">
              <a:ext uri="{FF2B5EF4-FFF2-40B4-BE49-F238E27FC236}">
                <a16:creationId xmlns:a16="http://schemas.microsoft.com/office/drawing/2014/main" id="{6BAC56BA-5EDB-41E8-A8A8-0A1D10BAA103}"/>
              </a:ext>
            </a:extLst>
          </p:cNvPr>
          <p:cNvSpPr>
            <a:spLocks xmlns:a="http://schemas.openxmlformats.org/drawingml/2006/main" noGrp="1"/>
          </p:cNvSpPr>
          <p:nvPr/>
        </p:nvSpPr>
        <p:spPr>
          <a:xfrm xmlns:a="http://schemas.openxmlformats.org/drawingml/2006/main">
            <a:off x="571500" y="35242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60 − Q = Q      60 = 2Q      Q₀ = 30 diensten per dag</a:t>
            </a:r>
          </a:p>
        </p:txBody>
      </p:sp>
      <p:sp>
        <p:nvSpPr>
          <p:cNvPr id="7" name="P₀ = 60 − 30 = € 30 per dienst">
            <a:extLst xmlns:a="http://schemas.openxmlformats.org/drawingml/2006/main">
              <a:ext uri="{FF2B5EF4-FFF2-40B4-BE49-F238E27FC236}">
                <a16:creationId xmlns:a16="http://schemas.microsoft.com/office/drawing/2014/main" id="{4EA4138E-890A-4544-8888-81AD59635254}"/>
              </a:ext>
            </a:extLst>
          </p:cNvPr>
          <p:cNvSpPr>
            <a:spLocks xmlns:a="http://schemas.openxmlformats.org/drawingml/2006/main" noGrp="1"/>
          </p:cNvSpPr>
          <p:nvPr/>
        </p:nvSpPr>
        <p:spPr>
          <a:xfrm xmlns:a="http://schemas.openxmlformats.org/drawingml/2006/main">
            <a:off x="571500" y="49339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P₀ = 60 − 30 = € 30 per dienst</a:t>
            </a:r>
          </a:p>
        </p:txBody>
      </p:sp>
      <p:sp>
        <p:nvSpPr>
          <p:cNvPr id="8" name="Externe schade = 20 × 30 = € 600 per dag">
            <a:extLst xmlns:a="http://schemas.openxmlformats.org/drawingml/2006/main">
              <a:ext uri="{FF2B5EF4-FFF2-40B4-BE49-F238E27FC236}">
                <a16:creationId xmlns:a16="http://schemas.microsoft.com/office/drawing/2014/main" id="{44062193-78E7-4FFD-B5D9-8F20679BFB37}"/>
              </a:ext>
            </a:extLst>
          </p:cNvPr>
          <p:cNvSpPr>
            <a:spLocks xmlns:a="http://schemas.openxmlformats.org/drawingml/2006/main" noGrp="1"/>
          </p:cNvSpPr>
          <p:nvPr/>
        </p:nvSpPr>
        <p:spPr>
          <a:xfrm xmlns:a="http://schemas.openxmlformats.org/drawingml/2006/main">
            <a:off x="571500" y="63436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Externe schade = 20 × 30 = € 600 per dag</a:t>
            </a:r>
          </a:p>
        </p:txBody>
      </p:sp>
    </p:spTree>
    <p:extLst>
      <p:ext uri="{BB962C8B-B14F-4D97-AF65-F5344CB8AC3E}">
        <p14:creationId xmlns:p14="http://schemas.microsoft.com/office/powerpoint/2010/main" val="17364316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b · De heffingswig">
            <a:extLst xmlns:a="http://schemas.openxmlformats.org/drawingml/2006/main">
              <a:ext uri="{FF2B5EF4-FFF2-40B4-BE49-F238E27FC236}">
                <a16:creationId xmlns:a16="http://schemas.microsoft.com/office/drawing/2014/main" id="{85015D04-F5C8-41E7-B70B-7411702270EC}"/>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34b · De heffingswig</a:t>
            </a:r>
          </a:p>
        </p:txBody>
      </p:sp>
      <p:sp>
        <p:nvSpPr>
          <p:cNvPr id="2" name="">
            <a:extLst xmlns:a="http://schemas.openxmlformats.org/drawingml/2006/main">
              <a:ext uri="{FF2B5EF4-FFF2-40B4-BE49-F238E27FC236}">
                <a16:creationId xmlns:a16="http://schemas.microsoft.com/office/drawing/2014/main" id="{76FB1303-6E7E-4BF4-A0B4-98C77250B8F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A3C31A21-C4CE-4CA5-960E-ECDCD38B210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20">
            <a:extLst xmlns:a="http://schemas.openxmlformats.org/drawingml/2006/main">
              <a:ext uri="{FF2B5EF4-FFF2-40B4-BE49-F238E27FC236}">
                <a16:creationId xmlns:a16="http://schemas.microsoft.com/office/drawing/2014/main" id="{066194E6-7110-49FB-AF99-50063F19D68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Pc = Pp + 20      60 − Q = Q + 20">
            <a:extLst xmlns:a="http://schemas.openxmlformats.org/drawingml/2006/main">
              <a:ext uri="{FF2B5EF4-FFF2-40B4-BE49-F238E27FC236}">
                <a16:creationId xmlns:a16="http://schemas.microsoft.com/office/drawing/2014/main" id="{E276DCFF-EDAA-432E-A1A7-C2427DDF8D76}"/>
              </a:ext>
            </a:extLst>
          </p:cNvPr>
          <p:cNvSpPr>
            <a:spLocks xmlns:a="http://schemas.openxmlformats.org/drawingml/2006/main" noGrp="1"/>
          </p:cNvSpPr>
          <p:nvPr/>
        </p:nvSpPr>
        <p:spPr>
          <a:xfrm xmlns:a="http://schemas.openxmlformats.org/drawingml/2006/main">
            <a:off x="571500" y="22098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Pc = Pp + 20      60 − Q = Q + 20</a:t>
            </a:r>
          </a:p>
        </p:txBody>
      </p:sp>
      <p:sp>
        <p:nvSpPr>
          <p:cNvPr id="6" name="40 = 2Q      Q₁ = 20 diensten per dag">
            <a:extLst xmlns:a="http://schemas.openxmlformats.org/drawingml/2006/main">
              <a:ext uri="{FF2B5EF4-FFF2-40B4-BE49-F238E27FC236}">
                <a16:creationId xmlns:a16="http://schemas.microsoft.com/office/drawing/2014/main" id="{E9055B7A-2ABB-471B-8A64-BF8556E704F2}"/>
              </a:ext>
            </a:extLst>
          </p:cNvPr>
          <p:cNvSpPr>
            <a:spLocks xmlns:a="http://schemas.openxmlformats.org/drawingml/2006/main" noGrp="1"/>
          </p:cNvSpPr>
          <p:nvPr/>
        </p:nvSpPr>
        <p:spPr>
          <a:xfrm xmlns:a="http://schemas.openxmlformats.org/drawingml/2006/main">
            <a:off x="571500" y="35814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40 = 2Q      Q₁ = 20 diensten per dag</a:t>
            </a:r>
          </a:p>
        </p:txBody>
      </p:sp>
      <p:sp>
        <p:nvSpPr>
          <p:cNvPr id="7" name="Pc = 60 − 20 = € 40      Pp = € 20 per dienst">
            <a:extLst xmlns:a="http://schemas.openxmlformats.org/drawingml/2006/main">
              <a:ext uri="{FF2B5EF4-FFF2-40B4-BE49-F238E27FC236}">
                <a16:creationId xmlns:a16="http://schemas.microsoft.com/office/drawing/2014/main" id="{4B75376C-8415-43B0-B73E-41B955837CE0}"/>
              </a:ext>
            </a:extLst>
          </p:cNvPr>
          <p:cNvSpPr>
            <a:spLocks xmlns:a="http://schemas.openxmlformats.org/drawingml/2006/main" noGrp="1"/>
          </p:cNvSpPr>
          <p:nvPr/>
        </p:nvSpPr>
        <p:spPr>
          <a:xfrm xmlns:a="http://schemas.openxmlformats.org/drawingml/2006/main">
            <a:off x="571500" y="49530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Pc = 60 − 20 = € 40      Pp = € 20 per dienst</a:t>
            </a:r>
          </a:p>
        </p:txBody>
      </p:sp>
      <p:sp>
        <p:nvSpPr>
          <p:cNvPr id="8" name="Controle: 40 − 20 = 20      Ontvangst: 20 × 20 = € 400 per dag">
            <a:extLst xmlns:a="http://schemas.openxmlformats.org/drawingml/2006/main">
              <a:ext uri="{FF2B5EF4-FFF2-40B4-BE49-F238E27FC236}">
                <a16:creationId xmlns:a16="http://schemas.microsoft.com/office/drawing/2014/main" id="{0C25D748-4948-4C04-8D93-8F3D65E7DFA8}"/>
              </a:ext>
            </a:extLst>
          </p:cNvPr>
          <p:cNvSpPr>
            <a:spLocks xmlns:a="http://schemas.openxmlformats.org/drawingml/2006/main" noGrp="1"/>
          </p:cNvSpPr>
          <p:nvPr/>
        </p:nvSpPr>
        <p:spPr>
          <a:xfrm xmlns:a="http://schemas.openxmlformats.org/drawingml/2006/main">
            <a:off x="571500" y="63246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Controle: 40 − 20 = 20      Ontvangst: 20 × 20 = € 400 per dag</a:t>
            </a:r>
          </a:p>
        </p:txBody>
      </p:sp>
    </p:spTree>
    <p:extLst>
      <p:ext uri="{BB962C8B-B14F-4D97-AF65-F5344CB8AC3E}">
        <p14:creationId xmlns:p14="http://schemas.microsoft.com/office/powerpoint/2010/main" val="209214623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4b · Beide prijzen bij Q = 20">
            <a:extLst xmlns:a="http://schemas.openxmlformats.org/drawingml/2006/main">
              <a:ext uri="{FF2B5EF4-FFF2-40B4-BE49-F238E27FC236}">
                <a16:creationId xmlns:a16="http://schemas.microsoft.com/office/drawing/2014/main" id="{DE71A51E-4899-4935-9683-01386BE28EA0}"/>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34b · Beide prijzen bij Q = 20</a:t>
            </a:r>
          </a:p>
        </p:txBody>
      </p:sp>
      <p:sp>
        <p:nvSpPr>
          <p:cNvPr id="2" name="">
            <a:extLst xmlns:a="http://schemas.openxmlformats.org/drawingml/2006/main">
              <a:ext uri="{FF2B5EF4-FFF2-40B4-BE49-F238E27FC236}">
                <a16:creationId xmlns:a16="http://schemas.microsoft.com/office/drawing/2014/main" id="{BB2C65C6-8BE4-4C07-98BD-81FCD115CA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10B23B4B-0630-4086-AE48-A6B4A0754771}"/>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21">
            <a:extLst xmlns:a="http://schemas.openxmlformats.org/drawingml/2006/main">
              <a:ext uri="{FF2B5EF4-FFF2-40B4-BE49-F238E27FC236}">
                <a16:creationId xmlns:a16="http://schemas.microsoft.com/office/drawing/2014/main" id="{1075D960-FB70-4B33-9151-5EEC0B6B4C8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2" name="Chart"/>
          <p:cNvGraphicFramePr/>
          <p:nvPr/>
        </p:nvGraphicFramePr>
        <p:xfrm>
          <a:off xmlns:a="http://schemas.openxmlformats.org/drawingml/2006/main" x="571500" y="2257425"/>
          <a:ext xmlns:a="http://schemas.openxmlformats.org/drawingml/2006/main" cx="9906000" cy="5553075"/>
        </p:xfrm>
        <a:graphic xmlns:a="http://schemas.openxmlformats.org/drawingml/2006/main">
          <a:graphicData uri="http://schemas.openxmlformats.org/drawingml/2006/chart">
            <c:chart xmlns:r="http://schemas.openxmlformats.org/officeDocument/2006/relationships" xmlns:c="http://schemas.openxmlformats.org/drawingml/2006/chart" r:id="Rf06c42270e9a463f"/>
          </a:graphicData>
        </a:graphic>
      </p:graphicFrame>
      <p:sp>
        <p:nvSpPr>
          <p:cNvPr id="6" name="Pc = € 40&#10;Pp = € 20&#10;Wig = € 20">
            <a:extLst xmlns:a="http://schemas.openxmlformats.org/drawingml/2006/main">
              <a:ext uri="{FF2B5EF4-FFF2-40B4-BE49-F238E27FC236}">
                <a16:creationId xmlns:a16="http://schemas.microsoft.com/office/drawing/2014/main" id="{8BBCA3C7-E85E-4581-95AC-880DC075A7F3}"/>
              </a:ext>
            </a:extLst>
          </p:cNvPr>
          <p:cNvSpPr>
            <a:spLocks xmlns:a="http://schemas.openxmlformats.org/drawingml/2006/main" noGrp="1"/>
          </p:cNvSpPr>
          <p:nvPr/>
        </p:nvSpPr>
        <p:spPr>
          <a:xfrm xmlns:a="http://schemas.openxmlformats.org/drawingml/2006/main">
            <a:off x="10953750" y="2667000"/>
            <a:ext cx="3714750" cy="2066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Pc = € 40</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Pp = € 20</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Wig = € 20</a:t>
            </a:r>
          </a:p>
        </p:txBody>
      </p:sp>
      <p:sp>
        <p:nvSpPr>
          <p:cNvPr id="7" name="A + t = Q + 20&#10;= MK maatschappelijk">
            <a:extLst xmlns:a="http://schemas.openxmlformats.org/drawingml/2006/main">
              <a:ext uri="{FF2B5EF4-FFF2-40B4-BE49-F238E27FC236}">
                <a16:creationId xmlns:a16="http://schemas.microsoft.com/office/drawing/2014/main" id="{28F670C3-C3AA-4783-B79C-7C509DA1BABA}"/>
              </a:ext>
            </a:extLst>
          </p:cNvPr>
          <p:cNvSpPr>
            <a:spLocks xmlns:a="http://schemas.openxmlformats.org/drawingml/2006/main" noGrp="1"/>
          </p:cNvSpPr>
          <p:nvPr/>
        </p:nvSpPr>
        <p:spPr>
          <a:xfrm xmlns:a="http://schemas.openxmlformats.org/drawingml/2006/main">
            <a:off x="10953750" y="56578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A + t = Q + 20</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 MK maatschappelijk</a:t>
            </a:r>
          </a:p>
        </p:txBody>
      </p:sp>
    </p:spTree>
    <p:extLst>
      <p:ext uri="{BB962C8B-B14F-4D97-AF65-F5344CB8AC3E}">
        <p14:creationId xmlns:p14="http://schemas.microsoft.com/office/powerpoint/2010/main" val="40424602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Opgave 34c · Vóór de heffing">
            <a:extLst xmlns:a="http://schemas.openxmlformats.org/drawingml/2006/main">
              <a:ext uri="{FF2B5EF4-FFF2-40B4-BE49-F238E27FC236}">
                <a16:creationId xmlns:a16="http://schemas.microsoft.com/office/drawing/2014/main" id="{0B101B78-9D31-47DB-AD18-04E843480F87}"/>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34c · Vóór de heffing</a:t>
            </a:r>
          </a:p>
        </p:txBody>
      </p:sp>
      <p:sp>
        <p:nvSpPr>
          <p:cNvPr id="2" name="">
            <a:extLst xmlns:a="http://schemas.openxmlformats.org/drawingml/2006/main">
              <a:ext uri="{FF2B5EF4-FFF2-40B4-BE49-F238E27FC236}">
                <a16:creationId xmlns:a16="http://schemas.microsoft.com/office/drawing/2014/main" id="{708C7A3C-2EF6-44C5-9B32-7821586D79D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B008D383-490F-4E98-903F-C30298BF5EC2}"/>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22">
            <a:extLst xmlns:a="http://schemas.openxmlformats.org/drawingml/2006/main">
              <a:ext uri="{FF2B5EF4-FFF2-40B4-BE49-F238E27FC236}">
                <a16:creationId xmlns:a16="http://schemas.microsoft.com/office/drawing/2014/main" id="{03C5481D-A999-47A8-8B5D-AA358EFDCDD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0" name=""/>
          <p:cNvGraphicFramePr/>
          <p:nvPr/>
        </p:nvGraphicFramePr>
        <p:xfrm>
          <a:off xmlns:a="http://schemas.openxmlformats.org/drawingml/2006/main" x="571500" y="2076450"/>
          <a:ext xmlns:a="http://schemas.openxmlformats.org/drawingml/2006/main" cx="14097000" cy="5286375"/>
        </p:xfrm>
        <a:graphic xmlns:a="http://schemas.openxmlformats.org/drawingml/2006/main">
          <a:graphicData uri="http://schemas.openxmlformats.org/drawingml/2006/table">
            <a:tbl>
              <a:tblPr/>
              <a:tblGrid>
                <a:gridCol w="5524500"/>
                <a:gridCol w="8572500"/>
              </a:tblGrid>
              <a:tr h="881063">
                <a:tc>
                  <a:txBody>
                    <a:bodyPr lIns="171450" tIns="85725" rIns="152400" bIns="85725"/>
                    <a:lstStyle/>
                    <a:p>
                      <a:r>
                        <a:rPr sz="2625" b="1">
                          <a:solidFill>
                            <a:srgbClr val="FFFFFF"/>
                          </a:solidFill>
                          <a:latin typeface="Arial"/>
                          <a:ea typeface="Arial"/>
                          <a:cs typeface="Arial"/>
                        </a:rPr>
                        <a:t>Post (€ per dag)</a:t>
                      </a:r>
                    </a:p>
                  </a:txBody>
                  <a:tcPr marL="91440" marR="91440" marT="45720" marB="45720" anchor="ctr">
                    <a:solidFill>
                      <a:srgbClr val="183247"/>
                    </a:solidFill>
                  </a:tcPr>
                </a:tc>
                <a:tc>
                  <a:txBody>
                    <a:bodyPr lIns="171450" tIns="85725" rIns="152400" bIns="85725"/>
                    <a:lstStyle/>
                    <a:p>
                      <a:r>
                        <a:rPr sz="2625" b="1">
                          <a:solidFill>
                            <a:srgbClr val="FFFFFF"/>
                          </a:solidFill>
                          <a:latin typeface="Arial"/>
                          <a:ea typeface="Arial"/>
                          <a:cs typeface="Arial"/>
                        </a:rPr>
                        <a:t>Berekening</a:t>
                      </a:r>
                    </a:p>
                  </a:txBody>
                  <a:tcPr marL="91440" marR="91440" marT="45720" marB="45720" anchor="ctr">
                    <a:solidFill>
                      <a:srgbClr val="183247"/>
                    </a:solidFill>
                  </a:tcPr>
                </a:tc>
              </a:tr>
              <a:tr h="881063">
                <a:tc>
                  <a:txBody>
                    <a:bodyPr lIns="171450" tIns="85725" rIns="152400" bIns="85725"/>
                    <a:lstStyle/>
                    <a:p>
                      <a:r>
                        <a:rPr sz="2625" b="0">
                          <a:solidFill>
                            <a:srgbClr val="183247"/>
                          </a:solidFill>
                          <a:latin typeface="Arial"/>
                          <a:ea typeface="Arial"/>
                          <a:cs typeface="Arial"/>
                        </a:rPr>
                        <a:t>CS</a:t>
                      </a:r>
                    </a:p>
                  </a:txBody>
                  <a:tcPr marL="91440" marR="91440" marT="45720" marB="45720" anchor="ctr">
                    <a:solidFill>
                      <a:srgbClr val="FFFFFF"/>
                    </a:solidFill>
                  </a:tcPr>
                </a:tc>
                <a:tc>
                  <a:txBody>
                    <a:bodyPr lIns="171450" tIns="85725" rIns="152400" bIns="85725"/>
                    <a:lstStyle/>
                    <a:p>
                      <a:r>
                        <a:rPr sz="2625" b="0">
                          <a:solidFill>
                            <a:srgbClr val="183247"/>
                          </a:solidFill>
                          <a:latin typeface="Arial"/>
                          <a:ea typeface="Arial"/>
                          <a:cs typeface="Arial"/>
                        </a:rPr>
                        <a:t>½ × 30 × (60 − 30) = 450</a:t>
                      </a:r>
                    </a:p>
                  </a:txBody>
                  <a:tcPr marL="91440" marR="91440" marT="45720" marB="45720" anchor="ctr">
                    <a:solidFill>
                      <a:srgbClr val="FFFFFF"/>
                    </a:solidFill>
                  </a:tcPr>
                </a:tc>
              </a:tr>
              <a:tr h="881063">
                <a:tc>
                  <a:txBody>
                    <a:bodyPr lIns="171450" tIns="85725" rIns="152400" bIns="85725"/>
                    <a:lstStyle/>
                    <a:p>
                      <a:r>
                        <a:rPr sz="2625" b="0">
                          <a:solidFill>
                            <a:srgbClr val="183247"/>
                          </a:solidFill>
                          <a:latin typeface="Arial"/>
                          <a:ea typeface="Arial"/>
                          <a:cs typeface="Arial"/>
                        </a:rPr>
                        <a:t>PS</a:t>
                      </a:r>
                    </a:p>
                  </a:txBody>
                  <a:tcPr marL="91440" marR="91440" marT="45720" marB="45720" anchor="ctr">
                    <a:solidFill>
                      <a:srgbClr val="EFF4F7"/>
                    </a:solidFill>
                  </a:tcPr>
                </a:tc>
                <a:tc>
                  <a:txBody>
                    <a:bodyPr lIns="171450" tIns="85725" rIns="152400" bIns="85725"/>
                    <a:lstStyle/>
                    <a:p>
                      <a:r>
                        <a:rPr sz="2625" b="0">
                          <a:solidFill>
                            <a:srgbClr val="183247"/>
                          </a:solidFill>
                          <a:latin typeface="Arial"/>
                          <a:ea typeface="Arial"/>
                          <a:cs typeface="Arial"/>
                        </a:rPr>
                        <a:t>½ × 30 × (30 − 0) = 450</a:t>
                      </a:r>
                    </a:p>
                  </a:txBody>
                  <a:tcPr marL="91440" marR="91440" marT="45720" marB="45720" anchor="ctr">
                    <a:solidFill>
                      <a:srgbClr val="EFF4F7"/>
                    </a:solidFill>
                  </a:tcPr>
                </a:tc>
              </a:tr>
              <a:tr h="881063">
                <a:tc>
                  <a:txBody>
                    <a:bodyPr lIns="171450" tIns="85725" rIns="152400" bIns="85725"/>
                    <a:lstStyle/>
                    <a:p>
                      <a:r>
                        <a:rPr sz="2625" b="0">
                          <a:solidFill>
                            <a:srgbClr val="183247"/>
                          </a:solidFill>
                          <a:latin typeface="Arial"/>
                          <a:ea typeface="Arial"/>
                          <a:cs typeface="Arial"/>
                        </a:rPr>
                        <a:t>Overheidsontvangst</a:t>
                      </a:r>
                    </a:p>
                  </a:txBody>
                  <a:tcPr marL="91440" marR="91440" marT="45720" marB="45720" anchor="ctr">
                    <a:solidFill>
                      <a:srgbClr val="FFFFFF"/>
                    </a:solidFill>
                  </a:tcPr>
                </a:tc>
                <a:tc>
                  <a:txBody>
                    <a:bodyPr lIns="171450" tIns="85725" rIns="152400" bIns="85725"/>
                    <a:lstStyle/>
                    <a:p>
                      <a:r>
                        <a:rPr sz="2625" b="0">
                          <a:solidFill>
                            <a:srgbClr val="183247"/>
                          </a:solidFill>
                          <a:latin typeface="Arial"/>
                          <a:ea typeface="Arial"/>
                          <a:cs typeface="Arial"/>
                        </a:rPr>
                        <a:t>0</a:t>
                      </a:r>
                    </a:p>
                  </a:txBody>
                  <a:tcPr marL="91440" marR="91440" marT="45720" marB="45720" anchor="ctr">
                    <a:solidFill>
                      <a:srgbClr val="FFFFFF"/>
                    </a:solidFill>
                  </a:tcPr>
                </a:tc>
              </a:tr>
              <a:tr h="881063">
                <a:tc>
                  <a:txBody>
                    <a:bodyPr lIns="171450" tIns="85725" rIns="152400" bIns="85725"/>
                    <a:lstStyle/>
                    <a:p>
                      <a:r>
                        <a:rPr sz="2625" b="0">
                          <a:solidFill>
                            <a:srgbClr val="183247"/>
                          </a:solidFill>
                          <a:latin typeface="Arial"/>
                          <a:ea typeface="Arial"/>
                          <a:cs typeface="Arial"/>
                        </a:rPr>
                        <a:t>Externe kosten</a:t>
                      </a:r>
                    </a:p>
                  </a:txBody>
                  <a:tcPr marL="91440" marR="91440" marT="45720" marB="45720" anchor="ctr">
                    <a:solidFill>
                      <a:srgbClr val="EFF4F7"/>
                    </a:solidFill>
                  </a:tcPr>
                </a:tc>
                <a:tc>
                  <a:txBody>
                    <a:bodyPr lIns="171450" tIns="85725" rIns="152400" bIns="85725"/>
                    <a:lstStyle/>
                    <a:p>
                      <a:r>
                        <a:rPr sz="2625" b="0">
                          <a:solidFill>
                            <a:srgbClr val="183247"/>
                          </a:solidFill>
                          <a:latin typeface="Arial"/>
                          <a:ea typeface="Arial"/>
                          <a:cs typeface="Arial"/>
                        </a:rPr>
                        <a:t>20 × 30 = 600</a:t>
                      </a:r>
                    </a:p>
                  </a:txBody>
                  <a:tcPr marL="91440" marR="91440" marT="45720" marB="45720" anchor="ctr">
                    <a:solidFill>
                      <a:srgbClr val="EFF4F7"/>
                    </a:solidFill>
                  </a:tcPr>
                </a:tc>
              </a:tr>
              <a:tr h="881063">
                <a:tc>
                  <a:txBody>
                    <a:bodyPr lIns="171450" tIns="85725" rIns="152400" bIns="85725"/>
                    <a:lstStyle/>
                    <a:p>
                      <a:r>
                        <a:rPr sz="2625" b="0">
                          <a:solidFill>
                            <a:srgbClr val="183247"/>
                          </a:solidFill>
                          <a:latin typeface="Arial"/>
                          <a:ea typeface="Arial"/>
                          <a:cs typeface="Arial"/>
                        </a:rPr>
                        <a:t>Maatschappelijk surplus</a:t>
                      </a:r>
                    </a:p>
                  </a:txBody>
                  <a:tcPr marL="91440" marR="91440" marT="45720" marB="45720" anchor="ctr">
                    <a:solidFill>
                      <a:srgbClr val="FFFFFF"/>
                    </a:solidFill>
                  </a:tcPr>
                </a:tc>
                <a:tc>
                  <a:txBody>
                    <a:bodyPr lIns="171450" tIns="85725" rIns="152400" bIns="85725"/>
                    <a:lstStyle/>
                    <a:p>
                      <a:r>
                        <a:rPr sz="2625" b="0">
                          <a:solidFill>
                            <a:srgbClr val="183247"/>
                          </a:solidFill>
                          <a:latin typeface="Arial"/>
                          <a:ea typeface="Arial"/>
                          <a:cs typeface="Arial"/>
                        </a:rPr>
                        <a:t>450 + 450 + 0 − 600 = 300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63300697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34c · Na de heffing">
            <a:extLst xmlns:a="http://schemas.openxmlformats.org/drawingml/2006/main">
              <a:ext uri="{FF2B5EF4-FFF2-40B4-BE49-F238E27FC236}">
                <a16:creationId xmlns:a16="http://schemas.microsoft.com/office/drawing/2014/main" id="{577E56AA-C218-4619-B9FB-9BE5EDC9C106}"/>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34c · Na de heffing</a:t>
            </a:r>
          </a:p>
        </p:txBody>
      </p:sp>
      <p:sp>
        <p:nvSpPr>
          <p:cNvPr id="2" name="">
            <a:extLst xmlns:a="http://schemas.openxmlformats.org/drawingml/2006/main">
              <a:ext uri="{FF2B5EF4-FFF2-40B4-BE49-F238E27FC236}">
                <a16:creationId xmlns:a16="http://schemas.microsoft.com/office/drawing/2014/main" id="{3EFF8AD7-D825-489A-94EA-DAC10BA5F6D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D2C7A7DE-478D-499B-802A-9C843C0F807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23">
            <a:extLst xmlns:a="http://schemas.openxmlformats.org/drawingml/2006/main">
              <a:ext uri="{FF2B5EF4-FFF2-40B4-BE49-F238E27FC236}">
                <a16:creationId xmlns:a16="http://schemas.microsoft.com/office/drawing/2014/main" id="{DD2A1B43-A534-41DC-98E1-572E2EA6C5B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1" name=""/>
          <p:cNvGraphicFramePr/>
          <p:nvPr/>
        </p:nvGraphicFramePr>
        <p:xfrm>
          <a:off xmlns:a="http://schemas.openxmlformats.org/drawingml/2006/main" x="571500" y="2076450"/>
          <a:ext xmlns:a="http://schemas.openxmlformats.org/drawingml/2006/main" cx="14097000" cy="4781550"/>
        </p:xfrm>
        <a:graphic xmlns:a="http://schemas.openxmlformats.org/drawingml/2006/main">
          <a:graphicData uri="http://schemas.openxmlformats.org/drawingml/2006/table">
            <a:tbl>
              <a:tblPr/>
              <a:tblGrid>
                <a:gridCol w="5524500"/>
                <a:gridCol w="8572500"/>
              </a:tblGrid>
              <a:tr h="796925">
                <a:tc>
                  <a:txBody>
                    <a:bodyPr lIns="171450" tIns="85725" rIns="152400" bIns="85725"/>
                    <a:lstStyle/>
                    <a:p>
                      <a:r>
                        <a:rPr sz="2550" b="1">
                          <a:solidFill>
                            <a:srgbClr val="FFFFFF"/>
                          </a:solidFill>
                          <a:latin typeface="Arial"/>
                          <a:ea typeface="Arial"/>
                          <a:cs typeface="Arial"/>
                        </a:rPr>
                        <a:t>Post (€ per dag)</a:t>
                      </a:r>
                    </a:p>
                  </a:txBody>
                  <a:tcPr marL="91440" marR="91440" marT="45720" marB="45720" anchor="ctr">
                    <a:solidFill>
                      <a:srgbClr val="183247"/>
                    </a:solidFill>
                  </a:tcPr>
                </a:tc>
                <a:tc>
                  <a:txBody>
                    <a:bodyPr lIns="171450" tIns="85725" rIns="152400" bIns="85725"/>
                    <a:lstStyle/>
                    <a:p>
                      <a:r>
                        <a:rPr sz="2550" b="1">
                          <a:solidFill>
                            <a:srgbClr val="FFFFFF"/>
                          </a:solidFill>
                          <a:latin typeface="Arial"/>
                          <a:ea typeface="Arial"/>
                          <a:cs typeface="Arial"/>
                        </a:rPr>
                        <a:t>Berekening</a:t>
                      </a:r>
                    </a:p>
                  </a:txBody>
                  <a:tcPr marL="91440" marR="91440" marT="45720" marB="45720" anchor="ctr">
                    <a:solidFill>
                      <a:srgbClr val="183247"/>
                    </a:solidFill>
                  </a:tcPr>
                </a:tc>
              </a:tr>
              <a:tr h="796925">
                <a:tc>
                  <a:txBody>
                    <a:bodyPr lIns="171450" tIns="85725" rIns="152400" bIns="85725"/>
                    <a:lstStyle/>
                    <a:p>
                      <a:r>
                        <a:rPr sz="2550" b="0">
                          <a:solidFill>
                            <a:srgbClr val="183247"/>
                          </a:solidFill>
                          <a:latin typeface="Arial"/>
                          <a:ea typeface="Arial"/>
                          <a:cs typeface="Arial"/>
                        </a:rPr>
                        <a:t>CS</a:t>
                      </a:r>
                    </a:p>
                  </a:txBody>
                  <a:tcPr marL="91440" marR="91440" marT="45720" marB="45720" anchor="ctr">
                    <a:solidFill>
                      <a:srgbClr val="FFFFFF"/>
                    </a:solidFill>
                  </a:tcPr>
                </a:tc>
                <a:tc>
                  <a:txBody>
                    <a:bodyPr lIns="171450" tIns="85725" rIns="152400" bIns="85725"/>
                    <a:lstStyle/>
                    <a:p>
                      <a:r>
                        <a:rPr sz="2550" b="0">
                          <a:solidFill>
                            <a:srgbClr val="183247"/>
                          </a:solidFill>
                          <a:latin typeface="Arial"/>
                          <a:ea typeface="Arial"/>
                          <a:cs typeface="Arial"/>
                        </a:rPr>
                        <a:t>½ × 20 × (60 − 40) = 200</a:t>
                      </a:r>
                    </a:p>
                  </a:txBody>
                  <a:tcPr marL="91440" marR="91440" marT="45720" marB="45720" anchor="ctr">
                    <a:solidFill>
                      <a:srgbClr val="FFFFFF"/>
                    </a:solidFill>
                  </a:tcPr>
                </a:tc>
              </a:tr>
              <a:tr h="796925">
                <a:tc>
                  <a:txBody>
                    <a:bodyPr lIns="171450" tIns="85725" rIns="152400" bIns="85725"/>
                    <a:lstStyle/>
                    <a:p>
                      <a:r>
                        <a:rPr sz="2550" b="0">
                          <a:solidFill>
                            <a:srgbClr val="183247"/>
                          </a:solidFill>
                          <a:latin typeface="Arial"/>
                          <a:ea typeface="Arial"/>
                          <a:cs typeface="Arial"/>
                        </a:rPr>
                        <a:t>PS</a:t>
                      </a:r>
                    </a:p>
                  </a:txBody>
                  <a:tcPr marL="91440" marR="91440" marT="45720" marB="45720" anchor="ctr">
                    <a:solidFill>
                      <a:srgbClr val="EFF4F7"/>
                    </a:solidFill>
                  </a:tcPr>
                </a:tc>
                <a:tc>
                  <a:txBody>
                    <a:bodyPr lIns="171450" tIns="85725" rIns="152400" bIns="85725"/>
                    <a:lstStyle/>
                    <a:p>
                      <a:r>
                        <a:rPr sz="2550" b="0">
                          <a:solidFill>
                            <a:srgbClr val="183247"/>
                          </a:solidFill>
                          <a:latin typeface="Arial"/>
                          <a:ea typeface="Arial"/>
                          <a:cs typeface="Arial"/>
                        </a:rPr>
                        <a:t>½ × 20 × (20 − 0) = 200</a:t>
                      </a:r>
                    </a:p>
                  </a:txBody>
                  <a:tcPr marL="91440" marR="91440" marT="45720" marB="45720" anchor="ctr">
                    <a:solidFill>
                      <a:srgbClr val="EFF4F7"/>
                    </a:solidFill>
                  </a:tcPr>
                </a:tc>
              </a:tr>
              <a:tr h="796925">
                <a:tc>
                  <a:txBody>
                    <a:bodyPr lIns="171450" tIns="85725" rIns="152400" bIns="85725"/>
                    <a:lstStyle/>
                    <a:p>
                      <a:r>
                        <a:rPr sz="2550" b="0">
                          <a:solidFill>
                            <a:srgbClr val="183247"/>
                          </a:solidFill>
                          <a:latin typeface="Arial"/>
                          <a:ea typeface="Arial"/>
                          <a:cs typeface="Arial"/>
                        </a:rPr>
                        <a:t>Overheidsontvangst</a:t>
                      </a:r>
                    </a:p>
                  </a:txBody>
                  <a:tcPr marL="91440" marR="91440" marT="45720" marB="45720" anchor="ctr">
                    <a:solidFill>
                      <a:srgbClr val="FFFFFF"/>
                    </a:solidFill>
                  </a:tcPr>
                </a:tc>
                <a:tc>
                  <a:txBody>
                    <a:bodyPr lIns="171450" tIns="85725" rIns="152400" bIns="85725"/>
                    <a:lstStyle/>
                    <a:p>
                      <a:r>
                        <a:rPr sz="2550" b="0">
                          <a:solidFill>
                            <a:srgbClr val="183247"/>
                          </a:solidFill>
                          <a:latin typeface="Arial"/>
                          <a:ea typeface="Arial"/>
                          <a:cs typeface="Arial"/>
                        </a:rPr>
                        <a:t>20 × 20 = 400</a:t>
                      </a:r>
                    </a:p>
                  </a:txBody>
                  <a:tcPr marL="91440" marR="91440" marT="45720" marB="45720" anchor="ctr">
                    <a:solidFill>
                      <a:srgbClr val="FFFFFF"/>
                    </a:solidFill>
                  </a:tcPr>
                </a:tc>
              </a:tr>
              <a:tr h="796925">
                <a:tc>
                  <a:txBody>
                    <a:bodyPr lIns="171450" tIns="85725" rIns="152400" bIns="85725"/>
                    <a:lstStyle/>
                    <a:p>
                      <a:r>
                        <a:rPr sz="2550" b="0">
                          <a:solidFill>
                            <a:srgbClr val="183247"/>
                          </a:solidFill>
                          <a:latin typeface="Arial"/>
                          <a:ea typeface="Arial"/>
                          <a:cs typeface="Arial"/>
                        </a:rPr>
                        <a:t>Externe kosten</a:t>
                      </a:r>
                    </a:p>
                  </a:txBody>
                  <a:tcPr marL="91440" marR="91440" marT="45720" marB="45720" anchor="ctr">
                    <a:solidFill>
                      <a:srgbClr val="EFF4F7"/>
                    </a:solidFill>
                  </a:tcPr>
                </a:tc>
                <a:tc>
                  <a:txBody>
                    <a:bodyPr lIns="171450" tIns="85725" rIns="152400" bIns="85725"/>
                    <a:lstStyle/>
                    <a:p>
                      <a:r>
                        <a:rPr sz="2550" b="0">
                          <a:solidFill>
                            <a:srgbClr val="183247"/>
                          </a:solidFill>
                          <a:latin typeface="Arial"/>
                          <a:ea typeface="Arial"/>
                          <a:cs typeface="Arial"/>
                        </a:rPr>
                        <a:t>20 × 20 = 400</a:t>
                      </a:r>
                    </a:p>
                  </a:txBody>
                  <a:tcPr marL="91440" marR="91440" marT="45720" marB="45720" anchor="ctr">
                    <a:solidFill>
                      <a:srgbClr val="EFF4F7"/>
                    </a:solidFill>
                  </a:tcPr>
                </a:tc>
              </a:tr>
              <a:tr h="796925">
                <a:tc>
                  <a:txBody>
                    <a:bodyPr lIns="171450" tIns="85725" rIns="152400" bIns="85725"/>
                    <a:lstStyle/>
                    <a:p>
                      <a:r>
                        <a:rPr sz="2550" b="0">
                          <a:solidFill>
                            <a:srgbClr val="183247"/>
                          </a:solidFill>
                          <a:latin typeface="Arial"/>
                          <a:ea typeface="Arial"/>
                          <a:cs typeface="Arial"/>
                        </a:rPr>
                        <a:t>Maatschappelijk surplus</a:t>
                      </a:r>
                    </a:p>
                  </a:txBody>
                  <a:tcPr marL="91440" marR="91440" marT="45720" marB="45720" anchor="ctr">
                    <a:solidFill>
                      <a:srgbClr val="FFFFFF"/>
                    </a:solidFill>
                  </a:tcPr>
                </a:tc>
                <a:tc>
                  <a:txBody>
                    <a:bodyPr lIns="171450" tIns="85725" rIns="152400" bIns="85725"/>
                    <a:lstStyle/>
                    <a:p>
                      <a:r>
                        <a:rPr sz="2550" b="0">
                          <a:solidFill>
                            <a:srgbClr val="183247"/>
                          </a:solidFill>
                          <a:latin typeface="Arial"/>
                          <a:ea typeface="Arial"/>
                          <a:cs typeface="Arial"/>
                        </a:rPr>
                        <a:t>200 + 200 + 400 − 400 = 400</a:t>
                      </a:r>
                    </a:p>
                  </a:txBody>
                  <a:tcPr marL="91440" marR="91440" marT="45720" marB="45720" anchor="ctr">
                    <a:solidFill>
                      <a:srgbClr val="FFFFFF"/>
                    </a:solidFill>
                  </a:tcPr>
                </a:tc>
              </a:tr>
            </a:tbl>
          </a:graphicData>
        </a:graphic>
      </p:graphicFrame>
      <p:sp>
        <p:nvSpPr>
          <p:cNvPr id="6" name="€ 400 − € 300 = € 100 meer maatschappelijk surplus per dag">
            <a:extLst xmlns:a="http://schemas.openxmlformats.org/drawingml/2006/main">
              <a:ext uri="{FF2B5EF4-FFF2-40B4-BE49-F238E27FC236}">
                <a16:creationId xmlns:a16="http://schemas.microsoft.com/office/drawing/2014/main" id="{587B8AF5-6B64-467F-9C1D-2CAE0FC5BA65}"/>
              </a:ext>
            </a:extLst>
          </p:cNvPr>
          <p:cNvSpPr>
            <a:spLocks xmlns:a="http://schemas.openxmlformats.org/drawingml/2006/main" noGrp="1"/>
          </p:cNvSpPr>
          <p:nvPr/>
        </p:nvSpPr>
        <p:spPr>
          <a:xfrm xmlns:a="http://schemas.openxmlformats.org/drawingml/2006/main">
            <a:off x="571500" y="72580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€ 400 − € 300 = € 100 meer maatschappelijk surplus per dag</a:t>
            </a:r>
          </a:p>
        </p:txBody>
      </p:sp>
    </p:spTree>
    <p:extLst>
      <p:ext uri="{BB962C8B-B14F-4D97-AF65-F5344CB8AC3E}">
        <p14:creationId xmlns:p14="http://schemas.microsoft.com/office/powerpoint/2010/main" val="54133484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d · Efficiëntie en verliesgebied">
            <a:extLst xmlns:a="http://schemas.openxmlformats.org/drawingml/2006/main">
              <a:ext uri="{FF2B5EF4-FFF2-40B4-BE49-F238E27FC236}">
                <a16:creationId xmlns:a16="http://schemas.microsoft.com/office/drawing/2014/main" id="{CD344BEA-BDD8-4A08-B9B3-8CBE13EFB9B0}"/>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34d · Efficiëntie en verliesgebied</a:t>
            </a:r>
          </a:p>
        </p:txBody>
      </p:sp>
      <p:sp>
        <p:nvSpPr>
          <p:cNvPr id="2" name="">
            <a:extLst xmlns:a="http://schemas.openxmlformats.org/drawingml/2006/main">
              <a:ext uri="{FF2B5EF4-FFF2-40B4-BE49-F238E27FC236}">
                <a16:creationId xmlns:a16="http://schemas.microsoft.com/office/drawing/2014/main" id="{2E8B86D8-DA2B-4953-B9A0-642587B2590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0D815B4F-572B-48A4-95A8-86FB29D5960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24">
            <a:extLst xmlns:a="http://schemas.openxmlformats.org/drawingml/2006/main">
              <a:ext uri="{FF2B5EF4-FFF2-40B4-BE49-F238E27FC236}">
                <a16:creationId xmlns:a16="http://schemas.microsoft.com/office/drawing/2014/main" id="{6B833FE3-0671-4D85-BD71-F85FC5D8C4A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3" name="Chart"/>
          <p:cNvGraphicFramePr/>
          <p:nvPr/>
        </p:nvGraphicFramePr>
        <p:xfrm>
          <a:off xmlns:a="http://schemas.openxmlformats.org/drawingml/2006/main" x="571500" y="2257425"/>
          <a:ext xmlns:a="http://schemas.openxmlformats.org/drawingml/2006/main" cx="9906000" cy="5553075"/>
        </p:xfrm>
        <a:graphic xmlns:a="http://schemas.openxmlformats.org/drawingml/2006/main">
          <a:graphicData uri="http://schemas.openxmlformats.org/drawingml/2006/chart">
            <c:chart xmlns:r="http://schemas.openxmlformats.org/officeDocument/2006/relationships" xmlns:c="http://schemas.openxmlformats.org/drawingml/2006/chart" r:id="R7c7b4bc800104f46"/>
          </a:graphicData>
        </a:graphic>
      </p:graphicFrame>
      <p:sp>
        <p:nvSpPr>
          <p:cNvPr id="6" name="60 − Q = Q + 20&#10;Qₑ = 20 per dag">
            <a:extLst xmlns:a="http://schemas.openxmlformats.org/drawingml/2006/main">
              <a:ext uri="{FF2B5EF4-FFF2-40B4-BE49-F238E27FC236}">
                <a16:creationId xmlns:a16="http://schemas.microsoft.com/office/drawing/2014/main" id="{A78B06C2-A66E-4F62-B5A0-321BE32DB9E2}"/>
              </a:ext>
            </a:extLst>
          </p:cNvPr>
          <p:cNvSpPr>
            <a:spLocks xmlns:a="http://schemas.openxmlformats.org/drawingml/2006/main" noGrp="1"/>
          </p:cNvSpPr>
          <p:nvPr/>
        </p:nvSpPr>
        <p:spPr>
          <a:xfrm xmlns:a="http://schemas.openxmlformats.org/drawingml/2006/main">
            <a:off x="10858500" y="2362200"/>
            <a:ext cx="3810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60 − Q = Q + 20</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Qₑ = 20 per dag</a:t>
            </a:r>
          </a:p>
        </p:txBody>
      </p:sp>
      <p:sp>
        <p:nvSpPr>
          <p:cNvPr id="7" name="Basis: 30 − 20 = 10&#10;Hoogte: 50 − 30 = € 20">
            <a:extLst xmlns:a="http://schemas.openxmlformats.org/drawingml/2006/main">
              <a:ext uri="{FF2B5EF4-FFF2-40B4-BE49-F238E27FC236}">
                <a16:creationId xmlns:a16="http://schemas.microsoft.com/office/drawing/2014/main" id="{683BA683-CE95-432B-8971-E5654C6D8EC6}"/>
              </a:ext>
            </a:extLst>
          </p:cNvPr>
          <p:cNvSpPr>
            <a:spLocks xmlns:a="http://schemas.openxmlformats.org/drawingml/2006/main" noGrp="1"/>
          </p:cNvSpPr>
          <p:nvPr/>
        </p:nvSpPr>
        <p:spPr>
          <a:xfrm xmlns:a="http://schemas.openxmlformats.org/drawingml/2006/main">
            <a:off x="10858500" y="4210050"/>
            <a:ext cx="3810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Basis: 30 − 20 = 10</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Hoogte: 50 − 30 = € 20</a:t>
            </a:r>
          </a:p>
        </p:txBody>
      </p:sp>
      <p:sp>
        <p:nvSpPr>
          <p:cNvPr id="8" name="½ × 10 × 20&#10;= € 100 per dag">
            <a:extLst xmlns:a="http://schemas.openxmlformats.org/drawingml/2006/main">
              <a:ext uri="{FF2B5EF4-FFF2-40B4-BE49-F238E27FC236}">
                <a16:creationId xmlns:a16="http://schemas.microsoft.com/office/drawing/2014/main" id="{F36082C2-89AD-4C4C-AA1A-07BD660CE9B9}"/>
              </a:ext>
            </a:extLst>
          </p:cNvPr>
          <p:cNvSpPr>
            <a:spLocks xmlns:a="http://schemas.openxmlformats.org/drawingml/2006/main" noGrp="1"/>
          </p:cNvSpPr>
          <p:nvPr/>
        </p:nvSpPr>
        <p:spPr>
          <a:xfrm xmlns:a="http://schemas.openxmlformats.org/drawingml/2006/main">
            <a:off x="10858500" y="6353175"/>
            <a:ext cx="3810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B4473C"/>
                </a:solidFill>
                <a:latin typeface="Arial"/>
                <a:ea typeface="Arial"/>
                <a:cs typeface="Arial"/>
              </a:defRPr>
            </a:pPr>
            <a:r>
              <a:rPr sz="2775" b="1">
                <a:solidFill>
                  <a:srgbClr val="B4473C"/>
                </a:solidFill>
                <a:latin typeface="Arial"/>
                <a:ea typeface="Arial"/>
                <a:cs typeface="Arial"/>
              </a:rPr>
              <a:t>½ × 10 × 20</a:t>
            </a:r>
          </a:p>
          <a:p xmlns:a="http://schemas.openxmlformats.org/drawingml/2006/main">
            <a:pPr algn="l">
              <a:defRPr sz="2775" b="1">
                <a:solidFill>
                  <a:srgbClr val="B4473C"/>
                </a:solidFill>
                <a:latin typeface="Arial"/>
                <a:ea typeface="Arial"/>
                <a:cs typeface="Arial"/>
              </a:defRPr>
            </a:pPr>
            <a:r>
              <a:rPr sz="2775" b="1">
                <a:solidFill>
                  <a:srgbClr val="B4473C"/>
                </a:solidFill>
                <a:latin typeface="Arial"/>
                <a:ea typeface="Arial"/>
                <a:cs typeface="Arial"/>
              </a:rPr>
              <a:t>= € 100 per dag</a:t>
            </a:r>
          </a:p>
        </p:txBody>
      </p:sp>
    </p:spTree>
    <p:extLst>
      <p:ext uri="{BB962C8B-B14F-4D97-AF65-F5344CB8AC3E}">
        <p14:creationId xmlns:p14="http://schemas.microsoft.com/office/powerpoint/2010/main" val="173365139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34e · Wie telt mee?">
            <a:extLst xmlns:a="http://schemas.openxmlformats.org/drawingml/2006/main">
              <a:ext uri="{FF2B5EF4-FFF2-40B4-BE49-F238E27FC236}">
                <a16:creationId xmlns:a16="http://schemas.microsoft.com/office/drawing/2014/main" id="{21C71108-D5E6-458B-8990-87D57390CBF8}"/>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34e · Wie telt mee?</a:t>
            </a:r>
          </a:p>
        </p:txBody>
      </p:sp>
      <p:sp>
        <p:nvSpPr>
          <p:cNvPr id="2" name="">
            <a:extLst xmlns:a="http://schemas.openxmlformats.org/drawingml/2006/main">
              <a:ext uri="{FF2B5EF4-FFF2-40B4-BE49-F238E27FC236}">
                <a16:creationId xmlns:a16="http://schemas.microsoft.com/office/drawing/2014/main" id="{176F7811-CC8E-4109-BB3E-5A4AAFA8CD3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 Boekpagina 86">
            <a:extLst xmlns:a="http://schemas.openxmlformats.org/drawingml/2006/main">
              <a:ext uri="{FF2B5EF4-FFF2-40B4-BE49-F238E27FC236}">
                <a16:creationId xmlns:a16="http://schemas.microsoft.com/office/drawing/2014/main" id="{C42A8EB8-3CEE-4D11-812B-EF90F7172312}"/>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 · Boekpagina 86</a:t>
            </a:r>
          </a:p>
        </p:txBody>
      </p:sp>
      <p:sp>
        <p:nvSpPr>
          <p:cNvPr id="4" name="25">
            <a:extLst xmlns:a="http://schemas.openxmlformats.org/drawingml/2006/main">
              <a:ext uri="{FF2B5EF4-FFF2-40B4-BE49-F238E27FC236}">
                <a16:creationId xmlns:a16="http://schemas.microsoft.com/office/drawing/2014/main" id="{30831801-77FA-4900-BCB7-4D93C843291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1" name=""/>
          <p:cNvGraphicFramePr/>
          <p:nvPr/>
        </p:nvGraphicFramePr>
        <p:xfrm>
          <a:off xmlns:a="http://schemas.openxmlformats.org/drawingml/2006/main" x="571500" y="2238375"/>
          <a:ext xmlns:a="http://schemas.openxmlformats.org/drawingml/2006/main" cx="14097000" cy="4124325"/>
        </p:xfrm>
        <a:graphic xmlns:a="http://schemas.openxmlformats.org/drawingml/2006/main">
          <a:graphicData uri="http://schemas.openxmlformats.org/drawingml/2006/table">
            <a:tbl>
              <a:tblPr/>
              <a:tblGrid>
                <a:gridCol w="10668000"/>
                <a:gridCol w="3429000"/>
              </a:tblGrid>
              <a:tr h="824865">
                <a:tc>
                  <a:txBody>
                    <a:bodyPr lIns="171450" tIns="85725" rIns="152400" bIns="85725"/>
                    <a:lstStyle/>
                    <a:p>
                      <a:r>
                        <a:rPr sz="2625" b="1">
                          <a:solidFill>
                            <a:srgbClr val="FFFFFF"/>
                          </a:solidFill>
                          <a:latin typeface="Arial"/>
                          <a:ea typeface="Arial"/>
                          <a:cs typeface="Arial"/>
                        </a:rPr>
                        <a:t>Verandering (€ per dag)</a:t>
                      </a:r>
                    </a:p>
                  </a:txBody>
                  <a:tcPr marL="91440" marR="91440" marT="45720" marB="45720" anchor="ctr">
                    <a:solidFill>
                      <a:srgbClr val="183247"/>
                    </a:solidFill>
                  </a:tcPr>
                </a:tc>
                <a:tc>
                  <a:txBody>
                    <a:bodyPr lIns="171450" tIns="85725" rIns="152400" bIns="85725"/>
                    <a:lstStyle/>
                    <a:p>
                      <a:r>
                        <a:rPr sz="2625" b="1">
                          <a:solidFill>
                            <a:srgbClr val="FFFFFF"/>
                          </a:solidFill>
                          <a:latin typeface="Arial"/>
                          <a:ea typeface="Arial"/>
                          <a:cs typeface="Arial"/>
                        </a:rPr>
                        <a:t>Bedrag</a:t>
                      </a:r>
                    </a:p>
                  </a:txBody>
                  <a:tcPr marL="91440" marR="91440" marT="45720" marB="45720" anchor="ctr">
                    <a:solidFill>
                      <a:srgbClr val="183247"/>
                    </a:solidFill>
                  </a:tcPr>
                </a:tc>
              </a:tr>
              <a:tr h="824865">
                <a:tc>
                  <a:txBody>
                    <a:bodyPr lIns="171450" tIns="85725" rIns="152400" bIns="85725"/>
                    <a:lstStyle/>
                    <a:p>
                      <a:r>
                        <a:rPr sz="2625" b="0">
                          <a:solidFill>
                            <a:srgbClr val="183247"/>
                          </a:solidFill>
                          <a:latin typeface="Arial"/>
                          <a:ea typeface="Arial"/>
                          <a:cs typeface="Arial"/>
                        </a:rPr>
                        <a:t>CS + PS: 400 − 900</a:t>
                      </a:r>
                    </a:p>
                  </a:txBody>
                  <a:tcPr marL="91440" marR="91440" marT="45720" marB="45720" anchor="ctr">
                    <a:solidFill>
                      <a:srgbClr val="FFFFFF"/>
                    </a:solidFill>
                  </a:tcPr>
                </a:tc>
                <a:tc>
                  <a:txBody>
                    <a:bodyPr lIns="171450" tIns="85725" rIns="152400" bIns="85725"/>
                    <a:lstStyle/>
                    <a:p>
                      <a:r>
                        <a:rPr sz="2625" b="0">
                          <a:solidFill>
                            <a:srgbClr val="183247"/>
                          </a:solidFill>
                          <a:latin typeface="Arial"/>
                          <a:ea typeface="Arial"/>
                          <a:cs typeface="Arial"/>
                        </a:rPr>
                        <a:t>−500</a:t>
                      </a:r>
                    </a:p>
                  </a:txBody>
                  <a:tcPr marL="91440" marR="91440" marT="45720" marB="45720" anchor="ctr">
                    <a:solidFill>
                      <a:srgbClr val="FFFFFF"/>
                    </a:solidFill>
                  </a:tcPr>
                </a:tc>
              </a:tr>
              <a:tr h="824865">
                <a:tc>
                  <a:txBody>
                    <a:bodyPr lIns="171450" tIns="85725" rIns="152400" bIns="85725"/>
                    <a:lstStyle/>
                    <a:p>
                      <a:r>
                        <a:rPr sz="2625" b="0">
                          <a:solidFill>
                            <a:srgbClr val="183247"/>
                          </a:solidFill>
                          <a:latin typeface="Arial"/>
                          <a:ea typeface="Arial"/>
                          <a:cs typeface="Arial"/>
                        </a:rPr>
                        <a:t>Overheidsontvangst</a:t>
                      </a:r>
                    </a:p>
                  </a:txBody>
                  <a:tcPr marL="91440" marR="91440" marT="45720" marB="45720" anchor="ctr">
                    <a:solidFill>
                      <a:srgbClr val="EFF4F7"/>
                    </a:solidFill>
                  </a:tcPr>
                </a:tc>
                <a:tc>
                  <a:txBody>
                    <a:bodyPr lIns="171450" tIns="85725" rIns="152400" bIns="85725"/>
                    <a:lstStyle/>
                    <a:p>
                      <a:r>
                        <a:rPr sz="2625" b="0">
                          <a:solidFill>
                            <a:srgbClr val="183247"/>
                          </a:solidFill>
                          <a:latin typeface="Arial"/>
                          <a:ea typeface="Arial"/>
                          <a:cs typeface="Arial"/>
                        </a:rPr>
                        <a:t>+400</a:t>
                      </a:r>
                    </a:p>
                  </a:txBody>
                  <a:tcPr marL="91440" marR="91440" marT="45720" marB="45720" anchor="ctr">
                    <a:solidFill>
                      <a:srgbClr val="EFF4F7"/>
                    </a:solidFill>
                  </a:tcPr>
                </a:tc>
              </a:tr>
              <a:tr h="824865">
                <a:tc>
                  <a:txBody>
                    <a:bodyPr lIns="171450" tIns="85725" rIns="152400" bIns="85725"/>
                    <a:lstStyle/>
                    <a:p>
                      <a:r>
                        <a:rPr sz="2625" b="0">
                          <a:solidFill>
                            <a:srgbClr val="183247"/>
                          </a:solidFill>
                          <a:latin typeface="Arial"/>
                          <a:ea typeface="Arial"/>
                          <a:cs typeface="Arial"/>
                        </a:rPr>
                        <a:t>Minder externe schade: 600 − 400</a:t>
                      </a:r>
                    </a:p>
                  </a:txBody>
                  <a:tcPr marL="91440" marR="91440" marT="45720" marB="45720" anchor="ctr">
                    <a:solidFill>
                      <a:srgbClr val="FFFFFF"/>
                    </a:solidFill>
                  </a:tcPr>
                </a:tc>
                <a:tc>
                  <a:txBody>
                    <a:bodyPr lIns="171450" tIns="85725" rIns="152400" bIns="85725"/>
                    <a:lstStyle/>
                    <a:p>
                      <a:r>
                        <a:rPr sz="2625" b="0">
                          <a:solidFill>
                            <a:srgbClr val="183247"/>
                          </a:solidFill>
                          <a:latin typeface="Arial"/>
                          <a:ea typeface="Arial"/>
                          <a:cs typeface="Arial"/>
                        </a:rPr>
                        <a:t>+200</a:t>
                      </a:r>
                    </a:p>
                  </a:txBody>
                  <a:tcPr marL="91440" marR="91440" marT="45720" marB="45720" anchor="ctr">
                    <a:solidFill>
                      <a:srgbClr val="FFFFFF"/>
                    </a:solidFill>
                  </a:tcPr>
                </a:tc>
              </a:tr>
              <a:tr h="824865">
                <a:tc>
                  <a:txBody>
                    <a:bodyPr lIns="171450" tIns="85725" rIns="152400" bIns="85725"/>
                    <a:lstStyle/>
                    <a:p>
                      <a:r>
                        <a:rPr sz="2625" b="0">
                          <a:solidFill>
                            <a:srgbClr val="183247"/>
                          </a:solidFill>
                          <a:latin typeface="Arial"/>
                          <a:ea typeface="Arial"/>
                          <a:cs typeface="Arial"/>
                        </a:rPr>
                        <a:t>Maatschappelijk saldo</a:t>
                      </a:r>
                    </a:p>
                  </a:txBody>
                  <a:tcPr marL="91440" marR="91440" marT="45720" marB="45720" anchor="ctr">
                    <a:solidFill>
                      <a:srgbClr val="EFF4F7"/>
                    </a:solidFill>
                  </a:tcPr>
                </a:tc>
                <a:tc>
                  <a:txBody>
                    <a:bodyPr lIns="171450" tIns="85725" rIns="152400" bIns="85725"/>
                    <a:lstStyle/>
                    <a:p>
                      <a:r>
                        <a:rPr sz="2625" b="0">
                          <a:solidFill>
                            <a:srgbClr val="183247"/>
                          </a:solidFill>
                          <a:latin typeface="Arial"/>
                          <a:ea typeface="Arial"/>
                          <a:cs typeface="Arial"/>
                        </a:rPr>
                        <a:t>+100</a:t>
                      </a:r>
                    </a:p>
                  </a:txBody>
                  <a:tcPr marL="91440" marR="91440" marT="45720" marB="45720" anchor="ctr">
                    <a:solidFill>
                      <a:srgbClr val="EFF4F7"/>
                    </a:solidFill>
                  </a:tcPr>
                </a:tc>
              </a:tr>
            </a:tbl>
          </a:graphicData>
        </a:graphic>
      </p:graphicFrame>
      <p:sp>
        <p:nvSpPr>
          <p:cNvPr id="6" name="De uitspraak is onjuist in deze case.&#10;Maatschappelijk surplus st">
            <a:extLst xmlns:a="http://schemas.openxmlformats.org/drawingml/2006/main">
              <a:ext uri="{FF2B5EF4-FFF2-40B4-BE49-F238E27FC236}">
                <a16:creationId xmlns:a16="http://schemas.microsoft.com/office/drawing/2014/main" id="{7B3CC646-87F1-48A2-A877-08FDA8AB6160}"/>
              </a:ext>
            </a:extLst>
          </p:cNvPr>
          <p:cNvSpPr>
            <a:spLocks xmlns:a="http://schemas.openxmlformats.org/drawingml/2006/main" noGrp="1"/>
          </p:cNvSpPr>
          <p:nvPr/>
        </p:nvSpPr>
        <p:spPr>
          <a:xfrm xmlns:a="http://schemas.openxmlformats.org/drawingml/2006/main">
            <a:off x="571500" y="6762750"/>
            <a:ext cx="14097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De uitspraak is onjuist in deze case.</a:t>
            </a:r>
          </a:p>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Maatschappelijk surplus stijgt van € 300 naar € 400 per dag.</a:t>
            </a:r>
          </a:p>
        </p:txBody>
      </p:sp>
    </p:spTree>
    <p:extLst>
      <p:ext uri="{BB962C8B-B14F-4D97-AF65-F5344CB8AC3E}">
        <p14:creationId xmlns:p14="http://schemas.microsoft.com/office/powerpoint/2010/main" val="118847744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4 Negatieve externe effecten">
            <a:extLst xmlns:a="http://schemas.openxmlformats.org/drawingml/2006/main">
              <a:ext uri="{FF2B5EF4-FFF2-40B4-BE49-F238E27FC236}">
                <a16:creationId xmlns:a16="http://schemas.microsoft.com/office/drawing/2014/main" id="{FEE1E1C7-8C5E-4A1E-BA0E-3B34FCFFB450}"/>
              </a:ext>
            </a:extLst>
          </p:cNvPr>
          <p:cNvSpPr>
            <a:spLocks xmlns:a="http://schemas.openxmlformats.org/drawingml/2006/main" noGrp="1"/>
          </p:cNvSpPr>
          <p:nvPr/>
        </p:nvSpPr>
        <p:spPr>
          <a:xfrm xmlns:a="http://schemas.openxmlformats.org/drawingml/2006/main">
            <a:off x="571500" y="3619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§4.2.4 Negatieve externe effecten</a:t>
            </a:r>
          </a:p>
        </p:txBody>
      </p:sp>
      <p:sp>
        <p:nvSpPr>
          <p:cNvPr id="2" name="">
            <a:extLst xmlns:a="http://schemas.openxmlformats.org/drawingml/2006/main">
              <a:ext uri="{FF2B5EF4-FFF2-40B4-BE49-F238E27FC236}">
                <a16:creationId xmlns:a16="http://schemas.microsoft.com/office/drawing/2014/main" id="{76344D15-39C2-4F54-88DD-45288EE51FC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4 Negatieve externe effecten">
            <a:extLst xmlns:a="http://schemas.openxmlformats.org/drawingml/2006/main">
              <a:ext uri="{FF2B5EF4-FFF2-40B4-BE49-F238E27FC236}">
                <a16:creationId xmlns:a16="http://schemas.microsoft.com/office/drawing/2014/main" id="{A6D75C29-CC62-4469-9BBA-4DEF92734DD1}"/>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§4.2.4 Negatieve externe effecten</a:t>
            </a:r>
          </a:p>
        </p:txBody>
      </p:sp>
      <p:sp>
        <p:nvSpPr>
          <p:cNvPr id="4" name="26">
            <a:extLst xmlns:a="http://schemas.openxmlformats.org/drawingml/2006/main">
              <a:ext uri="{FF2B5EF4-FFF2-40B4-BE49-F238E27FC236}">
                <a16:creationId xmlns:a16="http://schemas.microsoft.com/office/drawing/2014/main" id="{E4B5D4F4-40D3-4A87-B612-7C22760EB8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phase">
            <a:extLst xmlns:a="http://schemas.openxmlformats.org/drawingml/2006/main">
              <a:ext uri="{FF2B5EF4-FFF2-40B4-BE49-F238E27FC236}">
                <a16:creationId xmlns:a16="http://schemas.microsoft.com/office/drawing/2014/main" id="{94F5B69A-619A-4C7C-A2F3-15E337444BDF}"/>
              </a:ext>
            </a:extLst>
          </p:cNvPr>
          <p:cNvSpPr>
            <a:spLocks xmlns:a="http://schemas.openxmlformats.org/drawingml/2006/main" noGrp="1"/>
          </p:cNvSpPr>
          <p:nvPr/>
        </p:nvSpPr>
        <p:spPr>
          <a:xfrm xmlns:a="http://schemas.openxmlformats.org/drawingml/2006/main">
            <a:off x="571500" y="10287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FA285F71-BC2D-4939-85B7-9875A7EDA0EB}"/>
              </a:ext>
            </a:extLst>
          </p:cNvPr>
          <p:cNvSpPr>
            <a:spLocks xmlns:a="http://schemas.openxmlformats.org/drawingml/2006/main" noGrp="1"/>
          </p:cNvSpPr>
          <p:nvPr/>
        </p:nvSpPr>
        <p:spPr>
          <a:xfrm xmlns:a="http://schemas.openxmlformats.org/drawingml/2006/main">
            <a:off x="571500" y="1695450"/>
            <a:ext cx="7953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7A59B8C-8C3F-4109-B91B-6829F4DF0B3F}"/>
              </a:ext>
            </a:extLst>
          </p:cNvPr>
          <p:cNvSpPr>
            <a:spLocks xmlns:a="http://schemas.openxmlformats.org/drawingml/2006/main" noGrp="1"/>
          </p:cNvSpPr>
          <p:nvPr/>
        </p:nvSpPr>
        <p:spPr>
          <a:xfrm xmlns:a="http://schemas.openxmlformats.org/drawingml/2006/main">
            <a:off x="571500" y="2276475"/>
            <a:ext cx="457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D86FFDC-FBB6-42A5-A78B-6990F032486F}"/>
              </a:ext>
            </a:extLst>
          </p:cNvPr>
          <p:cNvSpPr>
            <a:spLocks xmlns:a="http://schemas.openxmlformats.org/drawingml/2006/main" noGrp="1"/>
          </p:cNvSpPr>
          <p:nvPr/>
        </p:nvSpPr>
        <p:spPr>
          <a:xfrm xmlns:a="http://schemas.openxmlformats.org/drawingml/2006/main">
            <a:off x="1104900" y="2276475"/>
            <a:ext cx="7419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051EA0FF-C211-465E-9B2F-3CA035A4925C}"/>
              </a:ext>
            </a:extLst>
          </p:cNvPr>
          <p:cNvSpPr>
            <a:spLocks xmlns:a="http://schemas.openxmlformats.org/drawingml/2006/main" noGrp="1"/>
          </p:cNvSpPr>
          <p:nvPr/>
        </p:nvSpPr>
        <p:spPr>
          <a:xfrm xmlns:a="http://schemas.openxmlformats.org/drawingml/2006/main">
            <a:off x="571500" y="31527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2C123C9B-2318-498F-B22D-B9CCBD5B1B19}"/>
              </a:ext>
            </a:extLst>
          </p:cNvPr>
          <p:cNvSpPr>
            <a:spLocks xmlns:a="http://schemas.openxmlformats.org/drawingml/2006/main" noGrp="1"/>
          </p:cNvSpPr>
          <p:nvPr/>
        </p:nvSpPr>
        <p:spPr>
          <a:xfrm xmlns:a="http://schemas.openxmlformats.org/drawingml/2006/main">
            <a:off x="1104900" y="315277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84FFA29D-EC7C-4A8A-B999-A8A2F3E85DCE}"/>
              </a:ext>
            </a:extLst>
          </p:cNvPr>
          <p:cNvSpPr>
            <a:spLocks xmlns:a="http://schemas.openxmlformats.org/drawingml/2006/main" noGrp="1"/>
          </p:cNvSpPr>
          <p:nvPr/>
        </p:nvSpPr>
        <p:spPr>
          <a:xfrm xmlns:a="http://schemas.openxmlformats.org/drawingml/2006/main">
            <a:off x="571500" y="36671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F543D8F-0FC7-4DE1-82E0-69862677BF02}"/>
              </a:ext>
            </a:extLst>
          </p:cNvPr>
          <p:cNvSpPr>
            <a:spLocks xmlns:a="http://schemas.openxmlformats.org/drawingml/2006/main" noGrp="1"/>
          </p:cNvSpPr>
          <p:nvPr/>
        </p:nvSpPr>
        <p:spPr>
          <a:xfrm xmlns:a="http://schemas.openxmlformats.org/drawingml/2006/main">
            <a:off x="1104900" y="36671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A540B5AB-10FF-4F02-90F8-3E21AEA21CDE}"/>
              </a:ext>
            </a:extLst>
          </p:cNvPr>
          <p:cNvSpPr>
            <a:spLocks xmlns:a="http://schemas.openxmlformats.org/drawingml/2006/main" noGrp="1"/>
          </p:cNvSpPr>
          <p:nvPr/>
        </p:nvSpPr>
        <p:spPr>
          <a:xfrm xmlns:a="http://schemas.openxmlformats.org/drawingml/2006/main">
            <a:off x="571500" y="4200525"/>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FF06098-54A8-463C-B1C2-A59B74C755BF}"/>
              </a:ext>
            </a:extLst>
          </p:cNvPr>
          <p:cNvSpPr>
            <a:spLocks xmlns:a="http://schemas.openxmlformats.org/drawingml/2006/main" noGrp="1"/>
          </p:cNvSpPr>
          <p:nvPr/>
        </p:nvSpPr>
        <p:spPr>
          <a:xfrm xmlns:a="http://schemas.openxmlformats.org/drawingml/2006/main">
            <a:off x="1104900" y="4200525"/>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1DC9B0EB-62F1-406C-843A-3A9E322AEAE9}"/>
              </a:ext>
            </a:extLst>
          </p:cNvPr>
          <p:cNvSpPr>
            <a:spLocks xmlns:a="http://schemas.openxmlformats.org/drawingml/2006/main" noGrp="1"/>
          </p:cNvSpPr>
          <p:nvPr/>
        </p:nvSpPr>
        <p:spPr>
          <a:xfrm xmlns:a="http://schemas.openxmlformats.org/drawingml/2006/main">
            <a:off x="571500" y="6010275"/>
            <a:ext cx="457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310CB574-21F0-465E-8186-92AEE20D7F9D}"/>
              </a:ext>
            </a:extLst>
          </p:cNvPr>
          <p:cNvSpPr>
            <a:spLocks xmlns:a="http://schemas.openxmlformats.org/drawingml/2006/main" noGrp="1"/>
          </p:cNvSpPr>
          <p:nvPr/>
        </p:nvSpPr>
        <p:spPr>
          <a:xfrm xmlns:a="http://schemas.openxmlformats.org/drawingml/2006/main">
            <a:off x="1104900" y="6010275"/>
            <a:ext cx="74199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806F768-C6C6-4333-9064-5A9DE84537F4}"/>
              </a:ext>
            </a:extLst>
          </p:cNvPr>
          <p:cNvSpPr>
            <a:spLocks xmlns:a="http://schemas.openxmlformats.org/drawingml/2006/main" noGrp="1"/>
          </p:cNvSpPr>
          <p:nvPr/>
        </p:nvSpPr>
        <p:spPr>
          <a:xfrm xmlns:a="http://schemas.openxmlformats.org/drawingml/2006/main">
            <a:off x="571500" y="67627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59ADDEE8-B700-46E7-BA62-8896249D5D5B}"/>
              </a:ext>
            </a:extLst>
          </p:cNvPr>
          <p:cNvSpPr>
            <a:spLocks xmlns:a="http://schemas.openxmlformats.org/drawingml/2006/main" noGrp="1"/>
          </p:cNvSpPr>
          <p:nvPr/>
        </p:nvSpPr>
        <p:spPr>
          <a:xfrm xmlns:a="http://schemas.openxmlformats.org/drawingml/2006/main">
            <a:off x="1104900" y="67627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34.</a:t>
            </a:r>
          </a:p>
        </p:txBody>
      </p:sp>
      <p:sp>
        <p:nvSpPr>
          <p:cNvPr id="19" name="route-number-7">
            <a:extLst xmlns:a="http://schemas.openxmlformats.org/drawingml/2006/main">
              <a:ext uri="{FF2B5EF4-FFF2-40B4-BE49-F238E27FC236}">
                <a16:creationId xmlns:a16="http://schemas.microsoft.com/office/drawing/2014/main" id="{82E94F44-2DC1-4D8F-8A95-923C6E69CB1F}"/>
              </a:ext>
            </a:extLst>
          </p:cNvPr>
          <p:cNvSpPr>
            <a:spLocks xmlns:a="http://schemas.openxmlformats.org/drawingml/2006/main" noGrp="1"/>
          </p:cNvSpPr>
          <p:nvPr/>
        </p:nvSpPr>
        <p:spPr>
          <a:xfrm xmlns:a="http://schemas.openxmlformats.org/drawingml/2006/main">
            <a:off x="571500" y="73342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5D057E91-4FF4-49AC-BAD6-D75581E609EF}"/>
              </a:ext>
            </a:extLst>
          </p:cNvPr>
          <p:cNvSpPr>
            <a:spLocks xmlns:a="http://schemas.openxmlformats.org/drawingml/2006/main" noGrp="1"/>
          </p:cNvSpPr>
          <p:nvPr/>
        </p:nvSpPr>
        <p:spPr>
          <a:xfrm xmlns:a="http://schemas.openxmlformats.org/drawingml/2006/main">
            <a:off x="1104900" y="73342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A81D0CCF-B8D3-427B-916F-5D4EC42E7818}"/>
              </a:ext>
            </a:extLst>
          </p:cNvPr>
          <p:cNvSpPr>
            <a:spLocks xmlns:a="http://schemas.openxmlformats.org/drawingml/2006/main" noGrp="1"/>
          </p:cNvSpPr>
          <p:nvPr/>
        </p:nvSpPr>
        <p:spPr>
          <a:xfrm xmlns:a="http://schemas.openxmlformats.org/drawingml/2006/main">
            <a:off x="9258300" y="1695450"/>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4142EDCC-AE25-4366-A314-8C68986A6B4A}"/>
              </a:ext>
            </a:extLst>
          </p:cNvPr>
          <p:cNvSpPr>
            <a:spLocks xmlns:a="http://schemas.openxmlformats.org/drawingml/2006/main" noGrp="1"/>
          </p:cNvSpPr>
          <p:nvPr/>
        </p:nvSpPr>
        <p:spPr>
          <a:xfrm xmlns:a="http://schemas.openxmlformats.org/drawingml/2006/main">
            <a:off x="9258300" y="2276475"/>
            <a:ext cx="53816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Derden en kosten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Heffing, maatschappelijk surplus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welvaartsverlies berekenen.</a:t>
            </a:r>
          </a:p>
        </p:txBody>
      </p:sp>
      <p:sp>
        <p:nvSpPr>
          <p:cNvPr id="23" name="">
            <a:extLst xmlns:a="http://schemas.openxmlformats.org/drawingml/2006/main">
              <a:ext uri="{FF2B5EF4-FFF2-40B4-BE49-F238E27FC236}">
                <a16:creationId xmlns:a16="http://schemas.microsoft.com/office/drawing/2014/main" id="{74D9B65C-CECE-4956-930C-5030A644416E}"/>
              </a:ext>
            </a:extLst>
          </p:cNvPr>
          <p:cNvSpPr>
            <a:spLocks xmlns:a="http://schemas.openxmlformats.org/drawingml/2006/main" noGrp="1"/>
          </p:cNvSpPr>
          <p:nvPr/>
        </p:nvSpPr>
        <p:spPr>
          <a:xfrm xmlns:a="http://schemas.openxmlformats.org/drawingml/2006/main">
            <a:off x="9258300" y="35718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E285E21-2122-44C7-A058-5C24F3BB5179}"/>
              </a:ext>
            </a:extLst>
          </p:cNvPr>
          <p:cNvSpPr>
            <a:spLocks xmlns:a="http://schemas.openxmlformats.org/drawingml/2006/main" noGrp="1"/>
          </p:cNvSpPr>
          <p:nvPr/>
        </p:nvSpPr>
        <p:spPr>
          <a:xfrm xmlns:a="http://schemas.openxmlformats.org/drawingml/2006/main">
            <a:off x="9258300" y="3800475"/>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D5874F6-5B10-4AFB-9636-CFA927B425F1}"/>
              </a:ext>
            </a:extLst>
          </p:cNvPr>
          <p:cNvSpPr>
            <a:spLocks xmlns:a="http://schemas.openxmlformats.org/drawingml/2006/main" noGrp="1"/>
          </p:cNvSpPr>
          <p:nvPr/>
        </p:nvSpPr>
        <p:spPr>
          <a:xfrm xmlns:a="http://schemas.openxmlformats.org/drawingml/2006/main">
            <a:off x="9258300" y="4324350"/>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83 · Opgaven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29: verkennen, theorie p. 77</a:t>
            </a:r>
          </a:p>
        </p:txBody>
      </p:sp>
      <p:sp>
        <p:nvSpPr>
          <p:cNvPr id="26" name="">
            <a:extLst xmlns:a="http://schemas.openxmlformats.org/drawingml/2006/main">
              <a:ext uri="{FF2B5EF4-FFF2-40B4-BE49-F238E27FC236}">
                <a16:creationId xmlns:a16="http://schemas.microsoft.com/office/drawing/2014/main" id="{24B9B386-8C71-4921-A72C-5F229BC1F3E3}"/>
              </a:ext>
            </a:extLst>
          </p:cNvPr>
          <p:cNvSpPr>
            <a:spLocks xmlns:a="http://schemas.openxmlformats.org/drawingml/2006/main" noGrp="1"/>
          </p:cNvSpPr>
          <p:nvPr/>
        </p:nvSpPr>
        <p:spPr>
          <a:xfrm xmlns:a="http://schemas.openxmlformats.org/drawingml/2006/main">
            <a:off x="9258300" y="54006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4BD8768-29AC-4B66-AC58-F122E1E9D9A0}"/>
              </a:ext>
            </a:extLst>
          </p:cNvPr>
          <p:cNvSpPr>
            <a:spLocks xmlns:a="http://schemas.openxmlformats.org/drawingml/2006/main" noGrp="1"/>
          </p:cNvSpPr>
          <p:nvPr/>
        </p:nvSpPr>
        <p:spPr>
          <a:xfrm xmlns:a="http://schemas.openxmlformats.org/drawingml/2006/main">
            <a:off x="9258300" y="5619750"/>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E674B4E-1233-498A-8CA5-29702FCE931D}"/>
              </a:ext>
            </a:extLst>
          </p:cNvPr>
          <p:cNvSpPr>
            <a:spLocks xmlns:a="http://schemas.openxmlformats.org/drawingml/2006/main" noGrp="1"/>
          </p:cNvSpPr>
          <p:nvPr/>
        </p:nvSpPr>
        <p:spPr>
          <a:xfrm xmlns:a="http://schemas.openxmlformats.org/drawingml/2006/main">
            <a:off x="9258300" y="6143625"/>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§4.2.4 · Opgaven 30 t/m 34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30 en 31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32 en 33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34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6811655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2026-10-01T17:24:48.7250000Z</dcterms:created>
  <dcterms:modified xsi:type="dcterms:W3CDTF">2026-10-01T17:24:48.7250000Z</dcterms:modified>
</coreProperties>
</file>