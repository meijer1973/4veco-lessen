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2.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3.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4.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5.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79236c6d40d4a5b" /><Relationship Type="http://schemas.openxmlformats.org/officeDocument/2006/relationships/extended-properties" Target="/docProps/app.xml" Id="R7cfe7e3269dc4aef" /><Relationship Type="http://schemas.openxmlformats.org/officeDocument/2006/relationships/officeDocument" Target="/ppt/presentation.xml" Id="Rf051446ccba2485a" /></Relationships>
</file>

<file path=ppt/presentation.xml><?xml version="1.0" encoding="utf-8"?>
<p:presentation xmlns:p="http://schemas.openxmlformats.org/presentationml/2006/main">
  <p:sldMasterIdLst>
    <p:sldMasterId xmlns:r="http://schemas.openxmlformats.org/officeDocument/2006/relationships" id="2147483648" r:id="R55d9d48ab7654b2c"/>
  </p:sldMasterIdLst>
  <p:notesMasterIdLst>
    <p:notesMasterId xmlns:r="http://schemas.openxmlformats.org/officeDocument/2006/relationships" r:id="Rf15f935ce8564990"/>
  </p:notesMasterIdLst>
  <p:sldIdLst>
    <p:sldId xmlns:r="http://schemas.openxmlformats.org/officeDocument/2006/relationships" id="256" r:id="R601e49a9af9e49ad"/>
    <p:sldId xmlns:r="http://schemas.openxmlformats.org/officeDocument/2006/relationships" id="257" r:id="R59b35246b6164f1e"/>
    <p:sldId xmlns:r="http://schemas.openxmlformats.org/officeDocument/2006/relationships" id="258" r:id="R4a83282b53254148"/>
    <p:sldId xmlns:r="http://schemas.openxmlformats.org/officeDocument/2006/relationships" id="259" r:id="R8b5b8421884f4fed"/>
    <p:sldId xmlns:r="http://schemas.openxmlformats.org/officeDocument/2006/relationships" id="260" r:id="R128659056ea84df9"/>
    <p:sldId xmlns:r="http://schemas.openxmlformats.org/officeDocument/2006/relationships" id="261" r:id="R053ff675aa30469d"/>
    <p:sldId xmlns:r="http://schemas.openxmlformats.org/officeDocument/2006/relationships" id="262" r:id="Rf147f28120a34bb4"/>
    <p:sldId xmlns:r="http://schemas.openxmlformats.org/officeDocument/2006/relationships" id="263" r:id="Rf0f8ffb9975f4389"/>
    <p:sldId xmlns:r="http://schemas.openxmlformats.org/officeDocument/2006/relationships" id="264" r:id="R28867301cee84b2c"/>
    <p:sldId xmlns:r="http://schemas.openxmlformats.org/officeDocument/2006/relationships" id="265" r:id="Rc36b1e1127654233"/>
    <p:sldId xmlns:r="http://schemas.openxmlformats.org/officeDocument/2006/relationships" id="266" r:id="R676d384816c941a9"/>
    <p:sldId xmlns:r="http://schemas.openxmlformats.org/officeDocument/2006/relationships" id="267" r:id="Rf16e6e05535f449f"/>
    <p:sldId xmlns:r="http://schemas.openxmlformats.org/officeDocument/2006/relationships" id="268" r:id="R853d275eb26a421b"/>
    <p:sldId xmlns:r="http://schemas.openxmlformats.org/officeDocument/2006/relationships" id="269" r:id="Rac7c6c7f1ace4468"/>
    <p:sldId xmlns:r="http://schemas.openxmlformats.org/officeDocument/2006/relationships" id="270" r:id="Red57ce4e4c6a4426"/>
    <p:sldId xmlns:r="http://schemas.openxmlformats.org/officeDocument/2006/relationships" id="271" r:id="Rb13de63895e04804"/>
    <p:sldId xmlns:r="http://schemas.openxmlformats.org/officeDocument/2006/relationships" id="272" r:id="R1119334cf72c4291"/>
    <p:sldId xmlns:r="http://schemas.openxmlformats.org/officeDocument/2006/relationships" id="273" r:id="Rb0ea6ad20a4b47e6"/>
    <p:sldId xmlns:r="http://schemas.openxmlformats.org/officeDocument/2006/relationships" id="274" r:id="Rf0b90426bd174b1f"/>
    <p:sldId xmlns:r="http://schemas.openxmlformats.org/officeDocument/2006/relationships" id="275" r:id="Rb0f167bf533b487d"/>
    <p:sldId xmlns:r="http://schemas.openxmlformats.org/officeDocument/2006/relationships" id="276" r:id="R099829378279435f"/>
    <p:sldId xmlns:r="http://schemas.openxmlformats.org/officeDocument/2006/relationships" id="277" r:id="Rb8071b9646a14ee7"/>
    <p:sldId xmlns:r="http://schemas.openxmlformats.org/officeDocument/2006/relationships" id="278" r:id="R944706fa094343a3"/>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bba43a0c5274119" /><Relationship Type="http://schemas.openxmlformats.org/officeDocument/2006/relationships/slideMaster" Target="/ppt/slideMasters/slideMaster1.xml" Id="R55d9d48ab7654b2c" /><Relationship Type="http://schemas.openxmlformats.org/officeDocument/2006/relationships/notesMaster" Target="/ppt/notesMasters/notesMaster1.xml" Id="Rf15f935ce8564990" /><Relationship Type="http://schemas.openxmlformats.org/officeDocument/2006/relationships/presProps" Target="/ppt/presProps.xml" Id="R55d916c459be4f98" /><Relationship Type="http://schemas.openxmlformats.org/officeDocument/2006/relationships/tableStyles" Target="/ppt/tableStyles.xml" Id="R0e6aefb407c04af7" /><Relationship Type="http://schemas.openxmlformats.org/officeDocument/2006/relationships/slide" Target="/ppt/slides/slide1.xml" Id="R601e49a9af9e49ad" /><Relationship Type="http://schemas.openxmlformats.org/officeDocument/2006/relationships/slide" Target="/ppt/slides/slide2.xml" Id="R59b35246b6164f1e" /><Relationship Type="http://schemas.openxmlformats.org/officeDocument/2006/relationships/slide" Target="/ppt/slides/slide3.xml" Id="R4a83282b53254148" /><Relationship Type="http://schemas.openxmlformats.org/officeDocument/2006/relationships/slide" Target="/ppt/slides/slide4.xml" Id="R8b5b8421884f4fed" /><Relationship Type="http://schemas.openxmlformats.org/officeDocument/2006/relationships/slide" Target="/ppt/slides/slide5.xml" Id="R128659056ea84df9" /><Relationship Type="http://schemas.openxmlformats.org/officeDocument/2006/relationships/slide" Target="/ppt/slides/slide6.xml" Id="R053ff675aa30469d" /><Relationship Type="http://schemas.openxmlformats.org/officeDocument/2006/relationships/slide" Target="/ppt/slides/slide7.xml" Id="Rf147f28120a34bb4" /><Relationship Type="http://schemas.openxmlformats.org/officeDocument/2006/relationships/slide" Target="/ppt/slides/slide8.xml" Id="Rf0f8ffb9975f4389" /><Relationship Type="http://schemas.openxmlformats.org/officeDocument/2006/relationships/slide" Target="/ppt/slides/slide9.xml" Id="R28867301cee84b2c" /><Relationship Type="http://schemas.openxmlformats.org/officeDocument/2006/relationships/slide" Target="/ppt/slides/slide10.xml" Id="Rc36b1e1127654233" /><Relationship Type="http://schemas.openxmlformats.org/officeDocument/2006/relationships/slide" Target="/ppt/slides/slide11.xml" Id="R676d384816c941a9" /><Relationship Type="http://schemas.openxmlformats.org/officeDocument/2006/relationships/slide" Target="/ppt/slides/slide12.xml" Id="Rf16e6e05535f449f" /><Relationship Type="http://schemas.openxmlformats.org/officeDocument/2006/relationships/slide" Target="/ppt/slides/slide13.xml" Id="R853d275eb26a421b" /><Relationship Type="http://schemas.openxmlformats.org/officeDocument/2006/relationships/slide" Target="/ppt/slides/slide14.xml" Id="Rac7c6c7f1ace4468" /><Relationship Type="http://schemas.openxmlformats.org/officeDocument/2006/relationships/slide" Target="/ppt/slides/slide15.xml" Id="Red57ce4e4c6a4426" /><Relationship Type="http://schemas.openxmlformats.org/officeDocument/2006/relationships/slide" Target="/ppt/slides/slide16.xml" Id="Rb13de63895e04804" /><Relationship Type="http://schemas.openxmlformats.org/officeDocument/2006/relationships/slide" Target="/ppt/slides/slide17.xml" Id="R1119334cf72c4291" /><Relationship Type="http://schemas.openxmlformats.org/officeDocument/2006/relationships/slide" Target="/ppt/slides/slide18.xml" Id="Rb0ea6ad20a4b47e6" /><Relationship Type="http://schemas.openxmlformats.org/officeDocument/2006/relationships/slide" Target="/ppt/slides/slide19.xml" Id="Rf0b90426bd174b1f" /><Relationship Type="http://schemas.openxmlformats.org/officeDocument/2006/relationships/slide" Target="/ppt/slides/slide20.xml" Id="Rb0f167bf533b487d" /><Relationship Type="http://schemas.openxmlformats.org/officeDocument/2006/relationships/slide" Target="/ppt/slides/slide21.xml" Id="R099829378279435f" /><Relationship Type="http://schemas.openxmlformats.org/officeDocument/2006/relationships/slide" Target="/ppt/slides/slide22.xml" Id="Rb8071b9646a14ee7" /><Relationship Type="http://schemas.openxmlformats.org/officeDocument/2006/relationships/slide" Target="/ppt/slides/slide23.xml" Id="R944706fa094343a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fecfc9b14564b3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4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913eb2e81ac47da" /><Relationship Type="http://schemas.openxmlformats.org/officeDocument/2006/relationships/notesMaster" Target="/ppt/notesMasters/notesMaster1.xml" Id="Raf71732b7a374c6a" /></Relationships>
</file>

<file path=ppt/notesSlides/_rels/notesSlide2.xml.rels>&#65279;<?xml version="1.0" encoding="utf-8"?><Relationships xmlns="http://schemas.openxmlformats.org/package/2006/relationships"><Relationship Type="http://schemas.openxmlformats.org/officeDocument/2006/relationships/slide" Target="/ppt/slides/slide2.xml" Id="R0b28c24708c649da" /><Relationship Type="http://schemas.openxmlformats.org/officeDocument/2006/relationships/notesMaster" Target="/ppt/notesMasters/notesMaster1.xml" Id="Rf0185be430e14268" /></Relationships>
</file>

<file path=ppt/notesSlides/_rels/notesSlide3.xml.rels>&#65279;<?xml version="1.0" encoding="utf-8"?><Relationships xmlns="http://schemas.openxmlformats.org/package/2006/relationships"><Relationship Type="http://schemas.openxmlformats.org/officeDocument/2006/relationships/slide" Target="/ppt/slides/slide3.xml" Id="Rd24f5ae248544ab6" /><Relationship Type="http://schemas.openxmlformats.org/officeDocument/2006/relationships/notesMaster" Target="/ppt/notesMasters/notesMaster1.xml" Id="R6374eddef64a4e17" /></Relationships>
</file>

<file path=ppt/notesSlides/_rels/notesSlide4.xml.rels>&#65279;<?xml version="1.0" encoding="utf-8"?><Relationships xmlns="http://schemas.openxmlformats.org/package/2006/relationships"><Relationship Type="http://schemas.openxmlformats.org/officeDocument/2006/relationships/slide" Target="/ppt/slides/slide4.xml" Id="R2b859cb9b4cd4b85" /><Relationship Type="http://schemas.openxmlformats.org/officeDocument/2006/relationships/notesMaster" Target="/ppt/notesMasters/notesMaster1.xml" Id="Rc86324509e334d75" /></Relationships>
</file>

<file path=ppt/notesSlides/_rels/notesSlide5.xml.rels>&#65279;<?xml version="1.0" encoding="utf-8"?><Relationships xmlns="http://schemas.openxmlformats.org/package/2006/relationships"><Relationship Type="http://schemas.openxmlformats.org/officeDocument/2006/relationships/slide" Target="/ppt/slides/slide5.xml" Id="R4b36f1d747ca41c9" /><Relationship Type="http://schemas.openxmlformats.org/officeDocument/2006/relationships/notesMaster" Target="/ppt/notesMasters/notesMaster1.xml" Id="R60c53edcbcfd4893" /></Relationships>
</file>

<file path=ppt/notesSlides/_rels/notesSlide6.xml.rels>&#65279;<?xml version="1.0" encoding="utf-8"?><Relationships xmlns="http://schemas.openxmlformats.org/package/2006/relationships"><Relationship Type="http://schemas.openxmlformats.org/officeDocument/2006/relationships/slide" Target="/ppt/slides/slide6.xml" Id="R756097774a1a4212" /><Relationship Type="http://schemas.openxmlformats.org/officeDocument/2006/relationships/notesMaster" Target="/ppt/notesMasters/notesMaster1.xml" Id="Re08ba044357c4b22" /></Relationships>
</file>

<file path=ppt/notesSlides/_rels/notesSlide7.xml.rels>&#65279;<?xml version="1.0" encoding="utf-8"?><Relationships xmlns="http://schemas.openxmlformats.org/package/2006/relationships"><Relationship Type="http://schemas.openxmlformats.org/officeDocument/2006/relationships/slide" Target="/ppt/slides/slide7.xml" Id="R2246bdd3507b4844" /><Relationship Type="http://schemas.openxmlformats.org/officeDocument/2006/relationships/notesMaster" Target="/ppt/notesMasters/notesMaster1.xml" Id="Rf5297c63bac24293" /></Relationships>
</file>

<file path=ppt/notesSlides/_rels/notesSlide8.xml.rels>&#65279;<?xml version="1.0" encoding="utf-8"?><Relationships xmlns="http://schemas.openxmlformats.org/package/2006/relationships"><Relationship Type="http://schemas.openxmlformats.org/officeDocument/2006/relationships/slide" Target="/ppt/slides/slide8.xml" Id="R77b1a4e0f0f047f3" /><Relationship Type="http://schemas.openxmlformats.org/officeDocument/2006/relationships/notesMaster" Target="/ppt/notesMasters/notesMaster1.xml" Id="R4fafa8b685824d5d" /></Relationships>
</file>

<file path=ppt/notesSlides/_rels/notesSlide9.xml.rels>&#65279;<?xml version="1.0" encoding="utf-8"?><Relationships xmlns="http://schemas.openxmlformats.org/package/2006/relationships"><Relationship Type="http://schemas.openxmlformats.org/officeDocument/2006/relationships/slide" Target="/ppt/slides/slide9.xml" Id="Rc29afed1b7f04f8a" /><Relationship Type="http://schemas.openxmlformats.org/officeDocument/2006/relationships/notesMaster" Target="/ppt/notesMasters/notesMaster1.xml" Id="R3146dc6d3d6a466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db8e47f27f34106" /><Relationship Type="http://schemas.openxmlformats.org/officeDocument/2006/relationships/notesMaster" Target="/ppt/notesMasters/notesMaster1.xml" Id="R5c358e925d5e429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d48d4d4fb064164" /><Relationship Type="http://schemas.openxmlformats.org/officeDocument/2006/relationships/notesMaster" Target="/ppt/notesMasters/notesMaster1.xml" Id="R39995a6917434e0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bfb3ca57f5d4570" /><Relationship Type="http://schemas.openxmlformats.org/officeDocument/2006/relationships/notesMaster" Target="/ppt/notesMasters/notesMaster1.xml" Id="Re500e98e04dc4ab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1fb180951034fa9" /><Relationship Type="http://schemas.openxmlformats.org/officeDocument/2006/relationships/notesMaster" Target="/ppt/notesMasters/notesMaster1.xml" Id="R02f4b45d9b7a417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eb0876529da40db" /><Relationship Type="http://schemas.openxmlformats.org/officeDocument/2006/relationships/notesMaster" Target="/ppt/notesMasters/notesMaster1.xml" Id="Rec7fe89207af4aa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f181a9f75fc4431" /><Relationship Type="http://schemas.openxmlformats.org/officeDocument/2006/relationships/notesMaster" Target="/ppt/notesMasters/notesMaster1.xml" Id="Re0431352805d4b1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904bc04bc0245bf" /><Relationship Type="http://schemas.openxmlformats.org/officeDocument/2006/relationships/notesMaster" Target="/ppt/notesMasters/notesMaster1.xml" Id="R26a666f57f2a46b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c87d44e478c4c01" /><Relationship Type="http://schemas.openxmlformats.org/officeDocument/2006/relationships/notesMaster" Target="/ppt/notesMasters/notesMaster1.xml" Id="Rb0113fb43f9c4fe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3e85275514640d0" /><Relationship Type="http://schemas.openxmlformats.org/officeDocument/2006/relationships/notesMaster" Target="/ppt/notesMasters/notesMaster1.xml" Id="Rd0ddc83ad3ca4a7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15028ced6444b68" /><Relationship Type="http://schemas.openxmlformats.org/officeDocument/2006/relationships/notesMaster" Target="/ppt/notesMasters/notesMaster1.xml" Id="R87b163ae685e46f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f8a0ec03653429f" /><Relationship Type="http://schemas.openxmlformats.org/officeDocument/2006/relationships/notesMaster" Target="/ppt/notesMasters/notesMaster1.xml" Id="Rf4bd4da2de3b4d5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7dec40fdb204db6" /><Relationship Type="http://schemas.openxmlformats.org/officeDocument/2006/relationships/notesMaster" Target="/ppt/notesMasters/notesMaster1.xml" Id="Red459d0efe1646e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bfa1d7420274b45" /><Relationship Type="http://schemas.openxmlformats.org/officeDocument/2006/relationships/notesMaster" Target="/ppt/notesMasters/notesMaster1.xml" Id="Rb91c48e7af9a421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c50a21e3bea44e2" /><Relationship Type="http://schemas.openxmlformats.org/officeDocument/2006/relationships/notesMaster" Target="/ppt/notesMasters/notesMaster1.xml" Id="Rda028932f941487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bronzin bepaalt jouw aanpak?</a:t>
            </a:r>
          </a:p>
          <a:p xmlns:a="http://schemas.openxmlformats.org/drawingml/2006/main">
            <a:r>
              <a:rPr sz="1400"/>
              <a:t/>
            </a:r>
          </a:p>
          <a:p xmlns:a="http://schemas.openxmlformats.org/drawingml/2006/main">
            <a:r>
              <a:rPr sz="1400"/>
              <a:t>Uitleg: Laat staan tijdens startopdracht. Start 55 is de eerste echte opgave. Er zijn geen aparte basisopgaven. Voorbereiding 55–57, doel 58, extra gemengd 59 en herhaling 60. De classroomroute wijst alle opgaven 55–60 aan als huiswerk, inclusief 60 met behoud van het bronlabel Herhaling. De docentroute noemt 60 aanvullend; hier is hij dus expliciet toegewezen. Geen bonussectie. Opgave 58 is gekozen omdat modelkeuze, berekening, arcering en een begrensde beleidsconclusie samenkomen. De volledige route heeft geen gemeten één-les-fit. Start 55 vraagt eerder onderwezen methoden: monopolie versus efficiënte uitkomst (§4.2.1 p.55–58), externe kosten en wig (§4.2.4 p.78–82), groepsscheiding en doorverkoop (§4.2.2 p.63–65). Laat leerlingen die uitleg bij twijfel gebruiken. Vraag vóór zelfstandig werk welke startstap nog hulp nodig heeft. Beheersing wordt niet verondersteld op grond van eerdere behandeling.</a:t>
            </a:r>
          </a:p>
          <a:p xmlns:a="http://schemas.openxmlformats.org/drawingml/2006/main">
            <a:r>
              <a:rPr sz="1400"/>
              <a:t/>
            </a:r>
          </a:p>
          <a:p xmlns:a="http://schemas.openxmlformats.org/drawingml/2006/main">
            <a:r>
              <a:rPr sz="1400"/>
              <a:t>Misvatting: De lokale hoofdstukpagina’s 53–58 zijn in het volledige boek 105–110.</a:t>
            </a:r>
          </a:p>
          <a:p xmlns:a="http://schemas.openxmlformats.org/drawingml/2006/main">
            <a:r>
              <a:rPr sz="1400"/>
              <a:t/>
            </a:r>
          </a:p>
          <a:p xmlns:a="http://schemas.openxmlformats.org/drawingml/2006/main">
            <a:r>
              <a:rPr sz="1400"/>
              <a:t>Overgang: Volg de aangegeven lesfase.</a:t>
            </a:r>
          </a:p>
          <a:p xmlns:a="http://schemas.openxmlformats.org/drawingml/2006/main">
            <a:r>
              <a:rPr sz="1400"/>
              <a:t/>
            </a:r>
          </a:p>
          <a:p xmlns:a="http://schemas.openxmlformats.org/drawingml/2006/main">
            <a:r>
              <a:rPr sz="1400"/>
              <a:t>Bron: Boek 4, books34-v3, gedrukte boekpagina 105–110. https://github.com/meijer1973/4veco-lessen/blob/e734532a42b27732ac25ce990fc9448b12309d28/edities/books34-v3/books/book-4/output/Boek_4_Compleet_v3.pdf</a:t>
            </a:r>
          </a:p>
          <a:p xmlns:a="http://schemas.openxmlformats.org/drawingml/2006/main">
            <a:r>
              <a:rPr sz="1400"/>
              <a:t>Manuscript en antwoordmodel: https://github.com/meijer1973/4veco-lessen/blob/e734532a42b27732ac25ce990fc9448b12309d28/edities/books34-v3/books/book-4/chapters/4.2/4.2.7%20manuscript.md en https://github.com/meijer1973/4veco-lessen/blob/e734532a42b27732ac25ce990fc9448b12309d28/edities/books34-v3/books/book-4/chapters/4.2/Antwoorden.md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partij ontbreekt als je alleen CS en PS telt?</a:t>
            </a:r>
          </a:p>
          <a:p xmlns:a="http://schemas.openxmlformats.org/drawingml/2006/main">
            <a:r>
              <a:rPr sz="1400"/>
              <a:t/>
            </a:r>
          </a:p>
          <a:p xmlns:a="http://schemas.openxmlformats.org/drawingml/2006/main">
            <a:r>
              <a:rPr sz="1400"/>
              <a:t>Uitleg: Korte herhaling. Monopolie: TS=CS+PS, winst=PS−TCK bij dezelfde vaste kosten. Prijsdiscriminatie vraagt marktmacht, herkenbare groepen en verhindering van doorverkoop; gelijke totale afzet bewijst geen gelijke verdeling. Een dalende eigen vraag is ook mogelijk bij monopolistische concurrentie, dus gebruik kenmerken van aanbieders, product en toetreding. Negatieve externe effecten: CS+PS+heffingsopbrengst−totale schade−echte uitvoering. Positieve: CS+PS−subsidie-uitgaven+externe baten−uitvoering. Heffing Pc=Pp+t; subsidie Pp=Pc+s. Bedragen per eenheid vermenigvuldigen met alle gerealiseerde eenheden. Gebruik de eerdere uitleg bij onzekerheid.</a:t>
            </a:r>
          </a:p>
          <a:p xmlns:a="http://schemas.openxmlformats.org/drawingml/2006/main">
            <a:r>
              <a:rPr sz="1400"/>
              <a:t/>
            </a:r>
          </a:p>
          <a:p xmlns:a="http://schemas.openxmlformats.org/drawingml/2006/main">
            <a:r>
              <a:rPr sz="1400"/>
              <a:t>Misvatting: Winst, overheidsbudget en maatschappelijk surplus beantwoorden verschillende vragen.</a:t>
            </a:r>
          </a:p>
          <a:p xmlns:a="http://schemas.openxmlformats.org/drawingml/2006/main">
            <a:r>
              <a:rPr sz="1400"/>
              <a:t/>
            </a:r>
          </a:p>
          <a:p xmlns:a="http://schemas.openxmlformats.org/drawingml/2006/main">
            <a:r>
              <a:rPr sz="1400"/>
              <a:t>Overgang: Herhaal de monopolieprocedure met nieuwe gegevens.</a:t>
            </a:r>
          </a:p>
          <a:p xmlns:a="http://schemas.openxmlformats.org/drawingml/2006/main">
            <a:r>
              <a:rPr sz="1400"/>
              <a:t/>
            </a:r>
          </a:p>
          <a:p xmlns:a="http://schemas.openxmlformats.org/drawingml/2006/main">
            <a:r>
              <a:rPr sz="1400"/>
              <a:t>Bron: Boek 4, books34-v3, gedrukte boekpagina 55–58, 63–65, 71–72, 78–82, 88–91, 99–100. https://github.com/meijer1973/4veco-lessen/blob/e734532a42b27732ac25ce990fc9448b12309d28/edities/books34-v3/books/book-4/output/Boek_4_Compleet_v3.pdf</a:t>
            </a:r>
          </a:p>
          <a:p xmlns:a="http://schemas.openxmlformats.org/drawingml/2006/main">
            <a:r>
              <a:rPr sz="1400"/>
              <a:t>Manuscript en antwoordmodel: https://github.com/meijer1973/4veco-lessen/blob/e734532a42b27732ac25ce990fc9448b12309d28/edities/books34-v3/books/book-4/chapters/4.2/4.2.7%20manuscript.md en https://github.com/meijer1973/4veco-lessen/blob/e734532a42b27732ac25ce990fc9448b12309d28/edities/books34-v3/books/book-4/chapters/4.2/Antwoorden.md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Op welke lijn staat de prijs die bezoekers betalen?</a:t>
            </a:r>
          </a:p>
          <a:p xmlns:a="http://schemas.openxmlformats.org/drawingml/2006/main">
            <a:r>
              <a:rPr sz="1400"/>
              <a:t/>
            </a:r>
          </a:p>
          <a:p xmlns:a="http://schemas.openxmlformats.org/drawingml/2006/main">
            <a:r>
              <a:rPr sz="1400"/>
              <a:t>Uitleg: Eigen fictieve Filmzaal, niet een boekopgave. TO=54Q−Q², dus MO=54−2Q; MK=6+Q. Uit 48=3Q volgt 16. MO gaat van boven naar onder MK en 16≤40. Prijs 38 lees je uit de vraag, niet uit MO. TVK=6×16+0,5×256=224; TK=264, TO=608. Winst=344 euro per week. Dit voorbeeld onthult geen toegewezen antwoord.</a:t>
            </a:r>
          </a:p>
          <a:p xmlns:a="http://schemas.openxmlformats.org/drawingml/2006/main">
            <a:r>
              <a:rPr sz="1400"/>
              <a:t/>
            </a:r>
          </a:p>
          <a:p xmlns:a="http://schemas.openxmlformats.org/drawingml/2006/main">
            <a:r>
              <a:rPr sz="1400"/>
              <a:t>Misvatting: MO=MK geeft de hoeveelheid; dat snijpunt geeft niet de verkoopprijs.</a:t>
            </a:r>
          </a:p>
          <a:p xmlns:a="http://schemas.openxmlformats.org/drawingml/2006/main">
            <a:r>
              <a:rPr sz="1400"/>
              <a:t/>
            </a:r>
          </a:p>
          <a:p xmlns:a="http://schemas.openxmlformats.org/drawingml/2006/main">
            <a:r>
              <a:rPr sz="1400"/>
              <a:t>Overgang: Kijk met dezelfde gegevens naar surplus.</a:t>
            </a:r>
          </a:p>
          <a:p xmlns:a="http://schemas.openxmlformats.org/drawingml/2006/main">
            <a:r>
              <a:rPr sz="1400"/>
              <a:t/>
            </a:r>
          </a:p>
          <a:p xmlns:a="http://schemas.openxmlformats.org/drawingml/2006/main">
            <a:r>
              <a:rPr sz="1400"/>
              <a:t>Bron: Boek 4, books34-v3, gedrukte boekpagina 55–58. https://github.com/meijer1973/4veco-lessen/blob/e734532a42b27732ac25ce990fc9448b12309d28/edities/books34-v3/books/book-4/output/Boek_4_Compleet_v3.pdf</a:t>
            </a:r>
          </a:p>
          <a:p xmlns:a="http://schemas.openxmlformats.org/drawingml/2006/main">
            <a:r>
              <a:rPr sz="1400"/>
              <a:t>Manuscript en antwoordmodel: https://github.com/meijer1973/4veco-lessen/blob/e734532a42b27732ac25ce990fc9448b12309d28/edities/books34-v3/books/book-4/chapters/4.2/4.2.7%20manuscript.md en https://github.com/meijer1973/4veco-lessen/blob/e734532a42b27732ac25ce990fc9448b12309d28/edities/books34-v3/books/book-4/chapters/4.2/Antwoorden.md</a:t>
            </a:r>
          </a:p>
          <a:p xmlns:a="http://schemas.openxmlformats.org/drawingml/2006/main">
            <a:r>
              <a:rPr sz="1400"/>
              <a:t>Uitlegvoorbeeld — niet uit het boek. Context en gegevens zijn voor deze presentatie gemaakt. De genoemde boekpagina’s ondersteunen alleen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verschilt PS van winst met € 40?</a:t>
            </a:r>
          </a:p>
          <a:p xmlns:a="http://schemas.openxmlformats.org/drawingml/2006/main">
            <a:r>
              <a:rPr sz="1400"/>
              <a:t/>
            </a:r>
          </a:p>
          <a:p xmlns:a="http://schemas.openxmlformats.org/drawingml/2006/main">
            <a:r>
              <a:rPr sz="1400"/>
              <a:t>Uitleg: Eigen Filmzaal. Efficiënte vergelijking dezelfde vraag, kosten, vaste kosten en capaciteit; P=30 bij Q=24. TVK=6×24+0,5×24²=432; TO=720. PS=288. Bij monopolie is PS384 en winst344, verschil TCK40. Controle verliesdriehoek: basis24−16=8 en hoogte vraag(16)−MK(16)=38−22=16; helft×8×16=64. Die ligt tussen vraag en MK over de gemiste bezoeken. Toon de exacte arcering later bij het echte doel.</a:t>
            </a:r>
          </a:p>
          <a:p xmlns:a="http://schemas.openxmlformats.org/drawingml/2006/main">
            <a:r>
              <a:rPr sz="1400"/>
              <a:t/>
            </a:r>
          </a:p>
          <a:p xmlns:a="http://schemas.openxmlformats.org/drawingml/2006/main">
            <a:r>
              <a:rPr sz="1400"/>
              <a:t>Misvatting: Hoger producentensurplus bewijst geen hoger totaal surplus.</a:t>
            </a:r>
          </a:p>
          <a:p xmlns:a="http://schemas.openxmlformats.org/drawingml/2006/main">
            <a:r>
              <a:rPr sz="1400"/>
              <a:t/>
            </a:r>
          </a:p>
          <a:p xmlns:a="http://schemas.openxmlformats.org/drawingml/2006/main">
            <a:r>
              <a:rPr sz="1400"/>
              <a:t>Overgang: Herhaal één volledige rekening met derden.</a:t>
            </a:r>
          </a:p>
          <a:p xmlns:a="http://schemas.openxmlformats.org/drawingml/2006/main">
            <a:r>
              <a:rPr sz="1400"/>
              <a:t/>
            </a:r>
          </a:p>
          <a:p xmlns:a="http://schemas.openxmlformats.org/drawingml/2006/main">
            <a:r>
              <a:rPr sz="1400"/>
              <a:t>Bron: Boek 4, books34-v3, gedrukte boekpagina 55–58. https://github.com/meijer1973/4veco-lessen/blob/e734532a42b27732ac25ce990fc9448b12309d28/edities/books34-v3/books/book-4/output/Boek_4_Compleet_v3.pdf</a:t>
            </a:r>
          </a:p>
          <a:p xmlns:a="http://schemas.openxmlformats.org/drawingml/2006/main">
            <a:r>
              <a:rPr sz="1400"/>
              <a:t>Manuscript en antwoordmodel: https://github.com/meijer1973/4veco-lessen/blob/e734532a42b27732ac25ce990fc9448b12309d28/edities/books34-v3/books/book-4/chapters/4.2/4.2.7%20manuscript.md en https://github.com/meijer1973/4veco-lessen/blob/e734532a42b27732ac25ce990fc9448b12309d28/edities/books34-v3/books/book-4/chapters/4.2/Antwoorden.md</a:t>
            </a:r>
          </a:p>
          <a:p xmlns:a="http://schemas.openxmlformats.org/drawingml/2006/main">
            <a:r>
              <a:rPr sz="1400"/>
              <a:t>Uitlegvoorbeeld — niet uit het boek. Context en gegevens zijn voor deze presentatie gemaakt. De genoemde boekpagina’s ondersteunen alleen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trek je uitvoering af, maar tel je ontvangst op?</a:t>
            </a:r>
          </a:p>
          <a:p xmlns:a="http://schemas.openxmlformats.org/drawingml/2006/main">
            <a:r>
              <a:rPr sz="1400"/>
              <a:t/>
            </a:r>
          </a:p>
          <a:p xmlns:a="http://schemas.openxmlformats.org/drawingml/2006/main">
            <a:r>
              <a:rPr sz="1400"/>
              <a:t>Uitleg: Eigen fictieve concurrerende bezorgmarkt. De uitkomsten zijn gegeven. Ter controle voor de docent komen ze uit Pc = 19 − 0,75Q en Pp = 4 + 0,75Q, met Q in bezorgingen per week. Zonder heffing: Q = 10, P = 11,50, CS en PS elk 37,50. Met heffing van 3: Q = 8, Pc = 13, Pp = 10, CS en PS elk 24. Leerlingen hoeven deze onderliggende functies hier niet op te lossen. De maatschappelijke rekening heeft geen andere posten. Bereken ontvangst en schade over alle acht bezorgingen. €24 ontvangst is een overdracht, €24 schade treft derden, €2 uitvoering gebruikt middelen. De gelijke bedragen ontvangst/schade volgen hier uit de gegevens, niet uit de definitie. Een verbetering van één euro betekent niet dat omwonenden zijn gecompenseerd. Controleer bij subsidie hetzelfde schema met overheidsuitgaven negatief en externe baten positief.</a:t>
            </a:r>
          </a:p>
          <a:p xmlns:a="http://schemas.openxmlformats.org/drawingml/2006/main">
            <a:r>
              <a:rPr sz="1400"/>
              <a:t/>
            </a:r>
          </a:p>
          <a:p xmlns:a="http://schemas.openxmlformats.org/drawingml/2006/main">
            <a:r>
              <a:rPr sz="1400"/>
              <a:t>Misvatting: Een betaling is niet automatisch extra voordeel of verbruik van middelen.</a:t>
            </a:r>
          </a:p>
          <a:p xmlns:a="http://schemas.openxmlformats.org/drawingml/2006/main">
            <a:r>
              <a:rPr sz="1400"/>
              <a:t/>
            </a:r>
          </a:p>
          <a:p xmlns:a="http://schemas.openxmlformats.org/drawingml/2006/main">
            <a:r>
              <a:rPr sz="1400"/>
              <a:t>Overgang: Ga terug naar de startpoging en werk verder aan de gemengde opgaven.</a:t>
            </a:r>
          </a:p>
          <a:p xmlns:a="http://schemas.openxmlformats.org/drawingml/2006/main">
            <a:r>
              <a:rPr sz="1400"/>
              <a:t/>
            </a:r>
          </a:p>
          <a:p xmlns:a="http://schemas.openxmlformats.org/drawingml/2006/main">
            <a:r>
              <a:rPr sz="1400"/>
              <a:t>Bron: Boek 4, books34-v3, gedrukte boekpagina 78–82, 99–100. https://github.com/meijer1973/4veco-lessen/blob/e734532a42b27732ac25ce990fc9448b12309d28/edities/books34-v3/books/book-4/output/Boek_4_Compleet_v3.pdf</a:t>
            </a:r>
          </a:p>
          <a:p xmlns:a="http://schemas.openxmlformats.org/drawingml/2006/main">
            <a:r>
              <a:rPr sz="1400"/>
              <a:t>Manuscript en antwoordmodel: https://github.com/meijer1973/4veco-lessen/blob/e734532a42b27732ac25ce990fc9448b12309d28/edities/books34-v3/books/book-4/chapters/4.2/4.2.7%20manuscript.md en https://github.com/meijer1973/4veco-lessen/blob/e734532a42b27732ac25ce990fc9448b12309d28/edities/books34-v3/books/book-4/chapters/4.2/Antwoorden.md</a:t>
            </a:r>
          </a:p>
          <a:p xmlns:a="http://schemas.openxmlformats.org/drawingml/2006/main">
            <a:r>
              <a:rPr sz="1400"/>
              <a:t>Uitlegvoorbeeld — niet uit het boek. Context en gegevens zijn voor deze presentatie gemaakt. De genoemde boekpagina’s ondersteunen alleen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bronzin bepaalt jouw aanpak?</a:t>
            </a:r>
          </a:p>
          <a:p xmlns:a="http://schemas.openxmlformats.org/drawingml/2006/main">
            <a:r>
              <a:rPr sz="1400"/>
              <a:t/>
            </a:r>
          </a:p>
          <a:p xmlns:a="http://schemas.openxmlformats.org/drawingml/2006/main">
            <a:r>
              <a:rPr sz="1400"/>
              <a:t>Uitleg: Laat staan tijdens zelfstandig werken. Start 55 is de eerste echte opgave. Er zijn geen aparte basisopgaven. Voorbereiding 55–57, doel 58, extra gemengd 59 en herhaling 60. De classroomroute wijst alle opgaven 55–60 aan als huiswerk, inclusief 60 met behoud van het bronlabel Herhaling. De docentroute noemt 60 aanvullend; hier is hij dus expliciet toegewezen. Geen bonussectie. Opgave 58 is gekozen omdat modelkeuze, berekening, arcering en een begrensde beleidsconclusie samenkomen. De volledige route heeft geen gemeten één-les-fit. Start 55 vraagt eerder onderwezen methoden: monopolie versus efficiënte uitkomst (§4.2.1 p.55–58), externe kosten en wig (§4.2.4 p.78–82), groepsscheiding en doorverkoop (§4.2.2 p.63–65). Laat leerlingen die uitleg bij twijfel gebruiken. Vraag vóór zelfstandig werk welke startstap nog hulp nodig heeft. Beheersing wordt niet verondersteld op grond van eerdere behandeling.</a:t>
            </a:r>
          </a:p>
          <a:p xmlns:a="http://schemas.openxmlformats.org/drawingml/2006/main">
            <a:r>
              <a:rPr sz="1400"/>
              <a:t/>
            </a:r>
          </a:p>
          <a:p xmlns:a="http://schemas.openxmlformats.org/drawingml/2006/main">
            <a:r>
              <a:rPr sz="1400"/>
              <a:t>Misvatting: De lokale hoofdstukpagina’s 53–58 zijn in het volledige boek 105–110.</a:t>
            </a:r>
          </a:p>
          <a:p xmlns:a="http://schemas.openxmlformats.org/drawingml/2006/main">
            <a:r>
              <a:rPr sz="1400"/>
              <a:t/>
            </a:r>
          </a:p>
          <a:p xmlns:a="http://schemas.openxmlformats.org/drawingml/2006/main">
            <a:r>
              <a:rPr sz="1400"/>
              <a:t>Overgang: Volg de aangegeven lesfase.</a:t>
            </a:r>
          </a:p>
          <a:p xmlns:a="http://schemas.openxmlformats.org/drawingml/2006/main">
            <a:r>
              <a:rPr sz="1400"/>
              <a:t/>
            </a:r>
          </a:p>
          <a:p xmlns:a="http://schemas.openxmlformats.org/drawingml/2006/main">
            <a:r>
              <a:rPr sz="1400"/>
              <a:t>Bron: Boek 4, books34-v3, gedrukte boekpagina 105–110. https://github.com/meijer1973/4veco-lessen/blob/e734532a42b27732ac25ce990fc9448b12309d28/edities/books34-v3/books/book-4/output/Boek_4_Compleet_v3.pdf</a:t>
            </a:r>
          </a:p>
          <a:p xmlns:a="http://schemas.openxmlformats.org/drawingml/2006/main">
            <a:r>
              <a:rPr sz="1400"/>
              <a:t>Manuscript en antwoordmodel: https://github.com/meijer1973/4veco-lessen/blob/e734532a42b27732ac25ce990fc9448b12309d28/edities/books34-v3/books/book-4/chapters/4.2/4.2.7%20manuscript.md en https://github.com/meijer1973/4veco-lessen/blob/e734532a42b27732ac25ce990fc9448b12309d28/edities/books34-v3/books/book-4/chapters/4.2/Antwoorden.md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voorwaarden blijven bij de vergelijking gelijk?</a:t>
            </a:r>
          </a:p>
          <a:p xmlns:a="http://schemas.openxmlformats.org/drawingml/2006/main">
            <a:r>
              <a:rPr sz="1400"/>
              <a:t/>
            </a:r>
          </a:p>
          <a:p xmlns:a="http://schemas.openxmlformats.org/drawingml/2006/main">
            <a:r>
              <a:rPr sz="1400"/>
              <a:t>Uitleg: Volledige bron A, gesplitst van de bijbehorende figuur. De gegeven efficiënte vergelijking is broninformatie, geen onthuld antwoord. Alle marktomvang-, kosten-, capaciteit- en periodeaannames blijven behouden.</a:t>
            </a:r>
          </a:p>
          <a:p xmlns:a="http://schemas.openxmlformats.org/drawingml/2006/main">
            <a:r>
              <a:rPr sz="1400"/>
              <a:t/>
            </a:r>
          </a:p>
          <a:p xmlns:a="http://schemas.openxmlformats.org/drawingml/2006/main">
            <a:r>
              <a:rPr sz="1400"/>
              <a:t>Misvatting: De efficiënte uitkomst betreft dezelfde markt en kosten.</a:t>
            </a:r>
          </a:p>
          <a:p xmlns:a="http://schemas.openxmlformats.org/drawingml/2006/main">
            <a:r>
              <a:rPr sz="1400"/>
              <a:t/>
            </a:r>
          </a:p>
          <a:p xmlns:a="http://schemas.openxmlformats.org/drawingml/2006/main">
            <a:r>
              <a:rPr sz="1400"/>
              <a:t>Overgang: Bekijk de oningevulde bronfiguur A.</a:t>
            </a:r>
          </a:p>
          <a:p xmlns:a="http://schemas.openxmlformats.org/drawingml/2006/main">
            <a:r>
              <a:rPr sz="1400"/>
              <a:t/>
            </a:r>
          </a:p>
          <a:p xmlns:a="http://schemas.openxmlformats.org/drawingml/2006/main">
            <a:r>
              <a:rPr sz="1400"/>
              <a:t>Bron: Boek 4, books34-v3, gedrukte boekpagina 108. https://github.com/meijer1973/4veco-lessen/blob/e734532a42b27732ac25ce990fc9448b12309d28/edities/books34-v3/books/book-4/output/Boek_4_Compleet_v3.pdf</a:t>
            </a:r>
          </a:p>
          <a:p xmlns:a="http://schemas.openxmlformats.org/drawingml/2006/main">
            <a:r>
              <a:rPr sz="1400"/>
              <a:t>Manuscript en antwoordmodel: https://github.com/meijer1973/4veco-lessen/blob/e734532a42b27732ac25ce990fc9448b12309d28/edities/books34-v3/books/book-4/chapters/4.2/4.2.7%20manuscript.md en https://github.com/meijer1973/4veco-lessen/blob/e734532a42b27732ac25ce990fc9448b12309d28/edities/books34-v3/books/book-4/chapters/4.2/Antwoorden.md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lijn hoort bij de verkoopprijs?</a:t>
            </a:r>
          </a:p>
          <a:p xmlns:a="http://schemas.openxmlformats.org/drawingml/2006/main">
            <a:r>
              <a:rPr sz="1400"/>
              <a:t/>
            </a:r>
          </a:p>
          <a:p xmlns:a="http://schemas.openxmlformats.org/drawingml/2006/main">
            <a:r>
              <a:rPr sz="1400"/>
              <a:t>Uitleg: Figuur31 opnieuw als bewerkbare XY-grafiek. Zelfde domeinen en schaal als bron: Q0–50, verticale as0–80. Vraag70−Q; MO70−2Q tot Q35 op P0; MK10+Q. De bron toont MO al. Geen monopoliepunt, guides of verliesgebied vóór alle vragen.</a:t>
            </a:r>
          </a:p>
          <a:p xmlns:a="http://schemas.openxmlformats.org/drawingml/2006/main">
            <a:r>
              <a:rPr sz="1400"/>
              <a:t/>
            </a:r>
          </a:p>
          <a:p xmlns:a="http://schemas.openxmlformats.org/drawingml/2006/main">
            <a:r>
              <a:rPr sz="1400"/>
              <a:t>Misvatting: De hoeveelheid volgt later uit MO/MK.</a:t>
            </a:r>
          </a:p>
          <a:p xmlns:a="http://schemas.openxmlformats.org/drawingml/2006/main">
            <a:r>
              <a:rPr sz="1400"/>
              <a:t/>
            </a:r>
          </a:p>
          <a:p xmlns:a="http://schemas.openxmlformats.org/drawingml/2006/main">
            <a:r>
              <a:rPr sz="1400"/>
              <a:t>Overgang: Lees nu bron B als een afzonderlijke markt.</a:t>
            </a:r>
          </a:p>
          <a:p xmlns:a="http://schemas.openxmlformats.org/drawingml/2006/main">
            <a:r>
              <a:rPr sz="1400"/>
              <a:t/>
            </a:r>
          </a:p>
          <a:p xmlns:a="http://schemas.openxmlformats.org/drawingml/2006/main">
            <a:r>
              <a:rPr sz="1400"/>
              <a:t>Bron: Boek 4, books34-v3, gedrukte boekpagina 108. https://github.com/meijer1973/4veco-lessen/blob/e734532a42b27732ac25ce990fc9448b12309d28/edities/books34-v3/books/book-4/output/Boek_4_Compleet_v3.pdf</a:t>
            </a:r>
          </a:p>
          <a:p xmlns:a="http://schemas.openxmlformats.org/drawingml/2006/main">
            <a:r>
              <a:rPr sz="1400"/>
              <a:t>Manuscript en antwoordmodel: https://github.com/meijer1973/4veco-lessen/blob/e734532a42b27732ac25ce990fc9448b12309d28/edities/books34-v3/books/book-4/chapters/4.2/4.2.7%20manuscript.md en https://github.com/meijer1973/4veco-lessen/blob/e734532a42b27732ac25ce990fc9448b12309d28/edities/books34-v3/books/book-4/chapters/4.2/Antwoorden.md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post hoort bij de omwonenden?</a:t>
            </a:r>
          </a:p>
          <a:p xmlns:a="http://schemas.openxmlformats.org/drawingml/2006/main">
            <a:r>
              <a:rPr sz="1400"/>
              <a:t/>
            </a:r>
          </a:p>
          <a:p xmlns:a="http://schemas.openxmlformats.org/drawingml/2006/main">
            <a:r>
              <a:rPr sz="1400"/>
              <a:t>Uitleg: Volledige bron B. Benoem veel aanbieders, dezelfde dienst en de omwonenden als derde partij. CS/PS na heffing en het maatschappelijk surplus vóór zijn gegeven. Wissel expliciet van sessies per week naar diensten per dag.</a:t>
            </a:r>
          </a:p>
          <a:p xmlns:a="http://schemas.openxmlformats.org/drawingml/2006/main">
            <a:r>
              <a:rPr sz="1400"/>
              <a:t/>
            </a:r>
          </a:p>
          <a:p xmlns:a="http://schemas.openxmlformats.org/drawingml/2006/main">
            <a:r>
              <a:rPr sz="1400"/>
              <a:t>Misvatting: Tel de geldbedragen van bron A en B nooit bij elkaar op.</a:t>
            </a:r>
          </a:p>
          <a:p xmlns:a="http://schemas.openxmlformats.org/drawingml/2006/main">
            <a:r>
              <a:rPr sz="1400"/>
              <a:t/>
            </a:r>
          </a:p>
          <a:p xmlns:a="http://schemas.openxmlformats.org/drawingml/2006/main">
            <a:r>
              <a:rPr sz="1400"/>
              <a:t>Overgang: Bekijk figuur B zonder opgeloste punten.</a:t>
            </a:r>
          </a:p>
          <a:p xmlns:a="http://schemas.openxmlformats.org/drawingml/2006/main">
            <a:r>
              <a:rPr sz="1400"/>
              <a:t/>
            </a:r>
          </a:p>
          <a:p xmlns:a="http://schemas.openxmlformats.org/drawingml/2006/main">
            <a:r>
              <a:rPr sz="1400"/>
              <a:t>Bron: Boek 4, books34-v3, gedrukte boekpagina 108. https://github.com/meijer1973/4veco-lessen/blob/e734532a42b27732ac25ce990fc9448b12309d28/edities/books34-v3/books/book-4/output/Boek_4_Compleet_v3.pdf</a:t>
            </a:r>
          </a:p>
          <a:p xmlns:a="http://schemas.openxmlformats.org/drawingml/2006/main">
            <a:r>
              <a:rPr sz="1400"/>
              <a:t>Manuscript en antwoordmodel: https://github.com/meijer1973/4veco-lessen/blob/e734532a42b27732ac25ce990fc9448b12309d28/edities/books34-v3/books/book-4/chapters/4.2/4.2.7%20manuscript.md en https://github.com/meijer1973/4veco-lessen/blob/e734532a42b27732ac25ce990fc9448b12309d28/edities/books34-v3/books/book-4/chapters/4.2/Antwoorden.md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liggen maatschappelijke kosten hoger?</a:t>
            </a:r>
          </a:p>
          <a:p xmlns:a="http://schemas.openxmlformats.org/drawingml/2006/main">
            <a:r>
              <a:rPr sz="1400"/>
              <a:t/>
            </a:r>
          </a:p>
          <a:p xmlns:a="http://schemas.openxmlformats.org/drawingml/2006/main">
            <a:r>
              <a:rPr sz="1400"/>
              <a:t>Uitleg: Figuur32 opnieuw als bewerkbare XY-grafiek met dezelfde Q0–60 en verticale schaal0–80. De maatschappelijke marginale kosten zijn eigen kosten plus €20 niet-vergoede schade per extra dienst. Geen belaste hoeveelheid of twee prijzen gemarkeerd.</a:t>
            </a:r>
          </a:p>
          <a:p xmlns:a="http://schemas.openxmlformats.org/drawingml/2006/main">
            <a:r>
              <a:rPr sz="1400"/>
              <a:t/>
            </a:r>
          </a:p>
          <a:p xmlns:a="http://schemas.openxmlformats.org/drawingml/2006/main">
            <a:r>
              <a:rPr sz="1400"/>
              <a:t>Misvatting: De maatschappelijke-kostenlijn is niet automatisch het ongereguleerde aanbod.</a:t>
            </a:r>
          </a:p>
          <a:p xmlns:a="http://schemas.openxmlformats.org/drawingml/2006/main">
            <a:r>
              <a:rPr sz="1400"/>
              <a:t/>
            </a:r>
          </a:p>
          <a:p xmlns:a="http://schemas.openxmlformats.org/drawingml/2006/main">
            <a:r>
              <a:rPr sz="1400"/>
              <a:t>Overgang: Toon alle zes deelvragen voordat antwoorden verschijnen.</a:t>
            </a:r>
          </a:p>
          <a:p xmlns:a="http://schemas.openxmlformats.org/drawingml/2006/main">
            <a:r>
              <a:rPr sz="1400"/>
              <a:t/>
            </a:r>
          </a:p>
          <a:p xmlns:a="http://schemas.openxmlformats.org/drawingml/2006/main">
            <a:r>
              <a:rPr sz="1400"/>
              <a:t>Bron: Boek 4, books34-v3, gedrukte boekpagina 108. https://github.com/meijer1973/4veco-lessen/blob/e734532a42b27732ac25ce990fc9448b12309d28/edities/books34-v3/books/book-4/output/Boek_4_Compleet_v3.pdf</a:t>
            </a:r>
          </a:p>
          <a:p xmlns:a="http://schemas.openxmlformats.org/drawingml/2006/main">
            <a:r>
              <a:rPr sz="1400"/>
              <a:t>Manuscript en antwoordmodel: https://github.com/meijer1973/4veco-lessen/blob/e734532a42b27732ac25ce990fc9448b12309d28/edities/books34-v3/books/book-4/chapters/4.2/4.2.7%20manuscript.md en https://github.com/meijer1973/4veco-lessen/blob/e734532a42b27732ac25ce990fc9448b12309d28/edities/books34-v3/books/book-4/chapters/4.2/Antwoorden.md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Heb je zowel berekeningen als arcering voorbereid?</a:t>
            </a:r>
          </a:p>
          <a:p xmlns:a="http://schemas.openxmlformats.org/drawingml/2006/main">
            <a:r>
              <a:rPr sz="1400"/>
              <a:t/>
            </a:r>
          </a:p>
          <a:p xmlns:a="http://schemas.openxmlformats.org/drawingml/2006/main">
            <a:r>
              <a:rPr sz="1400"/>
              <a:t>Uitleg: Alle tekst en punten van a en b; antwoorden volgen pas na c–f. De bron staat in het boek en op de vorige dia’s.</a:t>
            </a:r>
          </a:p>
          <a:p xmlns:a="http://schemas.openxmlformats.org/drawingml/2006/main">
            <a:r>
              <a:rPr sz="1400"/>
              <a:t/>
            </a:r>
          </a:p>
          <a:p xmlns:a="http://schemas.openxmlformats.org/drawingml/2006/main">
            <a:r>
              <a:rPr sz="1400"/>
              <a:t>Misvatting: PS is niet hetzelfde als winst.</a:t>
            </a:r>
          </a:p>
          <a:p xmlns:a="http://schemas.openxmlformats.org/drawingml/2006/main">
            <a:r>
              <a:rPr sz="1400"/>
              <a:t/>
            </a:r>
          </a:p>
          <a:p xmlns:a="http://schemas.openxmlformats.org/drawingml/2006/main">
            <a:r>
              <a:rPr sz="1400"/>
              <a:t>Overgang: Toon c en d.</a:t>
            </a:r>
          </a:p>
          <a:p xmlns:a="http://schemas.openxmlformats.org/drawingml/2006/main">
            <a:r>
              <a:rPr sz="1400"/>
              <a:t/>
            </a:r>
          </a:p>
          <a:p xmlns:a="http://schemas.openxmlformats.org/drawingml/2006/main">
            <a:r>
              <a:rPr sz="1400"/>
              <a:t>Bron: Boek 4, books34-v3, gedrukte boekpagina 109. https://github.com/meijer1973/4veco-lessen/blob/e734532a42b27732ac25ce990fc9448b12309d28/edities/books34-v3/books/book-4/output/Boek_4_Compleet_v3.pdf</a:t>
            </a:r>
          </a:p>
          <a:p xmlns:a="http://schemas.openxmlformats.org/drawingml/2006/main">
            <a:r>
              <a:rPr sz="1400"/>
              <a:t>Manuscript en antwoordmodel: https://github.com/meijer1973/4veco-lessen/blob/e734532a42b27732ac25ce990fc9448b12309d28/edities/books34-v3/books/book-4/chapters/4.2/4.2.7%20manuscript.md en https://github.com/meijer1973/4veco-lessen/blob/e734532a42b27732ac25ce990fc9448b12309d28/edities/books34-v3/books/book-4/chapters/4.2/Antwoorden.md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periode hoort bij elk bedrag?</a:t>
            </a:r>
          </a:p>
          <a:p xmlns:a="http://schemas.openxmlformats.org/drawingml/2006/main">
            <a:r>
              <a:rPr sz="1400"/>
              <a:t/>
            </a:r>
          </a:p>
          <a:p xmlns:a="http://schemas.openxmlformats.org/drawingml/2006/main">
            <a:r>
              <a:rPr sz="1400"/>
              <a:t>Uitleg: Volledige vragen c en d, zonder antwoorden. Vraag c vraagt vier uitkomsten; vraag d vraagt zowel het niveau na als het verschil met vóór.</a:t>
            </a:r>
          </a:p>
          <a:p xmlns:a="http://schemas.openxmlformats.org/drawingml/2006/main">
            <a:r>
              <a:rPr sz="1400"/>
              <a:t/>
            </a:r>
          </a:p>
          <a:p xmlns:a="http://schemas.openxmlformats.org/drawingml/2006/main">
            <a:r>
              <a:rPr sz="1400"/>
              <a:t>Misvatting: Heffingsopbrengst is geen volledige welvaartsverandering.</a:t>
            </a:r>
          </a:p>
          <a:p xmlns:a="http://schemas.openxmlformats.org/drawingml/2006/main">
            <a:r>
              <a:rPr sz="1400"/>
              <a:t/>
            </a:r>
          </a:p>
          <a:p xmlns:a="http://schemas.openxmlformats.org/drawingml/2006/main">
            <a:r>
              <a:rPr sz="1400"/>
              <a:t>Overgang: Toon de verklarings- en beoordelingsvragen.</a:t>
            </a:r>
          </a:p>
          <a:p xmlns:a="http://schemas.openxmlformats.org/drawingml/2006/main">
            <a:r>
              <a:rPr sz="1400"/>
              <a:t/>
            </a:r>
          </a:p>
          <a:p xmlns:a="http://schemas.openxmlformats.org/drawingml/2006/main">
            <a:r>
              <a:rPr sz="1400"/>
              <a:t>Bron: Boek 4, books34-v3, gedrukte boekpagina 109. https://github.com/meijer1973/4veco-lessen/blob/e734532a42b27732ac25ce990fc9448b12309d28/edities/books34-v3/books/book-4/output/Boek_4_Compleet_v3.pdf</a:t>
            </a:r>
          </a:p>
          <a:p xmlns:a="http://schemas.openxmlformats.org/drawingml/2006/main">
            <a:r>
              <a:rPr sz="1400"/>
              <a:t>Manuscript en antwoordmodel: https://github.com/meijer1973/4veco-lessen/blob/e734532a42b27732ac25ce990fc9448b12309d28/edities/books34-v3/books/book-4/chapters/4.2/4.2.7%20manuscript.md en https://github.com/meijer1973/4veco-lessen/blob/e734532a42b27732ac25ce990fc9448b12309d28/edities/books34-v3/books/book-4/chapters/4.2/Antwoorden.md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oorzaak verschilt tussen de twee markten?</a:t>
            </a:r>
          </a:p>
          <a:p xmlns:a="http://schemas.openxmlformats.org/drawingml/2006/main">
            <a:r>
              <a:rPr sz="1400"/>
              <a:t/>
            </a:r>
          </a:p>
          <a:p xmlns:a="http://schemas.openxmlformats.org/drawingml/2006/main">
            <a:r>
              <a:rPr sz="1400"/>
              <a:t>Uitleg: Hiermee zijn beide complete bronnen, hun grafieken en alle a–f getoond zonder uitwerking. Begin de bespreking alleen nadat leerlingen zelf hebben gewerkt.</a:t>
            </a:r>
          </a:p>
          <a:p xmlns:a="http://schemas.openxmlformats.org/drawingml/2006/main">
            <a:r>
              <a:rPr sz="1400"/>
              <a:t/>
            </a:r>
          </a:p>
          <a:p xmlns:a="http://schemas.openxmlformats.org/drawingml/2006/main">
            <a:r>
              <a:rPr sz="1400"/>
              <a:t>Misvatting: Dezelfde maatregel overnemen zonder oorzaak te onderzoeken is geen onderbouwd advies.</a:t>
            </a:r>
          </a:p>
          <a:p xmlns:a="http://schemas.openxmlformats.org/drawingml/2006/main">
            <a:r>
              <a:rPr sz="1400"/>
              <a:t/>
            </a:r>
          </a:p>
          <a:p xmlns:a="http://schemas.openxmlformats.org/drawingml/2006/main">
            <a:r>
              <a:rPr sz="1400"/>
              <a:t>Overgang: Begin de antwoorden bij Solo: hoeveelheid en prijs.</a:t>
            </a:r>
          </a:p>
          <a:p xmlns:a="http://schemas.openxmlformats.org/drawingml/2006/main">
            <a:r>
              <a:rPr sz="1400"/>
              <a:t/>
            </a:r>
          </a:p>
          <a:p xmlns:a="http://schemas.openxmlformats.org/drawingml/2006/main">
            <a:r>
              <a:rPr sz="1400"/>
              <a:t>Bron: Boek 4, books34-v3, gedrukte boekpagina 109. https://github.com/meijer1973/4veco-lessen/blob/e734532a42b27732ac25ce990fc9448b12309d28/edities/books34-v3/books/book-4/output/Boek_4_Compleet_v3.pdf</a:t>
            </a:r>
          </a:p>
          <a:p xmlns:a="http://schemas.openxmlformats.org/drawingml/2006/main">
            <a:r>
              <a:rPr sz="1400"/>
              <a:t>Manuscript en antwoordmodel: https://github.com/meijer1973/4veco-lessen/blob/e734532a42b27732ac25ce990fc9448b12309d28/edities/books34-v3/books/book-4/chapters/4.2/4.2.7%20manuscript.md en https://github.com/meijer1973/4veco-lessen/blob/e734532a42b27732ac25ce990fc9448b12309d28/edities/books34-v3/books/book-4/chapters/4.2/Antwoorden.md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is de verkoopprijs geen €30?</a:t>
            </a:r>
          </a:p>
          <a:p xmlns:a="http://schemas.openxmlformats.org/drawingml/2006/main">
            <a:r>
              <a:rPr sz="1400"/>
              <a:t/>
            </a:r>
          </a:p>
          <a:p xmlns:a="http://schemas.openxmlformats.org/drawingml/2006/main">
            <a:r>
              <a:rPr sz="1400"/>
              <a:t>Uitleg: TO=70Q−Q²; MO=70−2Q. MO gaat van boven naar onder MK; het snijpunt geeft een winstmaximum. Capaciteit50 bindt niet. Bij Q20 is MK30, maar de prijs50 op vraag. M=(20,50). De horizontale lijn op30 markeert MK, geen verkoopprijs.</a:t>
            </a:r>
          </a:p>
          <a:p xmlns:a="http://schemas.openxmlformats.org/drawingml/2006/main">
            <a:r>
              <a:rPr sz="1400"/>
              <a:t/>
            </a:r>
          </a:p>
          <a:p xmlns:a="http://schemas.openxmlformats.org/drawingml/2006/main">
            <a:r>
              <a:rPr sz="1400"/>
              <a:t>Misvatting: MO is extra opbrengst, niet de prijs van elke sessie.</a:t>
            </a:r>
          </a:p>
          <a:p xmlns:a="http://schemas.openxmlformats.org/drawingml/2006/main">
            <a:r>
              <a:rPr sz="1400"/>
              <a:t/>
            </a:r>
          </a:p>
          <a:p xmlns:a="http://schemas.openxmlformats.org/drawingml/2006/main">
            <a:r>
              <a:rPr sz="1400"/>
              <a:t>Overgang: Bereken omzet en totale kosten bij deze hoeveelheid.</a:t>
            </a:r>
          </a:p>
          <a:p xmlns:a="http://schemas.openxmlformats.org/drawingml/2006/main">
            <a:r>
              <a:rPr sz="1400"/>
              <a:t/>
            </a:r>
          </a:p>
          <a:p xmlns:a="http://schemas.openxmlformats.org/drawingml/2006/main">
            <a:r>
              <a:rPr sz="1400"/>
              <a:t>Bron: Boek 4, books34-v3, gedrukte boekpagina 108–109. https://github.com/meijer1973/4veco-lessen/blob/e734532a42b27732ac25ce990fc9448b12309d28/edities/books34-v3/books/book-4/output/Boek_4_Compleet_v3.pdf</a:t>
            </a:r>
          </a:p>
          <a:p xmlns:a="http://schemas.openxmlformats.org/drawingml/2006/main">
            <a:r>
              <a:rPr sz="1400"/>
              <a:t>Manuscript en antwoordmodel: https://github.com/meijer1973/4veco-lessen/blob/e734532a42b27732ac25ce990fc9448b12309d28/edities/books34-v3/books/book-4/chapters/4.2/4.2.7%20manuscript.md en https://github.com/meijer1973/4veco-lessen/blob/e734532a42b27732ac25ce990fc9448b12309d28/edities/books34-v3/books/book-4/chapters/4.2/Antwoorden.md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kosten zijn al van het producentensurplus af?</a:t>
            </a:r>
          </a:p>
          <a:p xmlns:a="http://schemas.openxmlformats.org/drawingml/2006/main">
            <a:r>
              <a:rPr sz="1400"/>
              <a:t/>
            </a:r>
          </a:p>
          <a:p xmlns:a="http://schemas.openxmlformats.org/drawingml/2006/main">
            <a:r>
              <a:rPr sz="1400"/>
              <a:t>Uitleg: Vul Q = 20 in de gegeven kostenfunctie in. Kwadrateer eerst: 0,5 × 400 = 200. TK = 100 + 200 + 200 = 500. De winst is 500. TVK = 400 en PS = 600. Trek de constante kosten van 100 alleen bij de stap van PS naar winst af. Alle totalen zijn euro per week.</a:t>
            </a:r>
          </a:p>
          <a:p xmlns:a="http://schemas.openxmlformats.org/drawingml/2006/main">
            <a:r>
              <a:rPr sz="1400"/>
              <a:t/>
            </a:r>
          </a:p>
          <a:p xmlns:a="http://schemas.openxmlformats.org/drawingml/2006/main">
            <a:r>
              <a:rPr sz="1400"/>
              <a:t>Misvatting: Trek constante kosten niet tweemaal af.</a:t>
            </a:r>
          </a:p>
          <a:p xmlns:a="http://schemas.openxmlformats.org/drawingml/2006/main">
            <a:r>
              <a:rPr sz="1400"/>
              <a:t/>
            </a:r>
          </a:p>
          <a:p xmlns:a="http://schemas.openxmlformats.org/drawingml/2006/main">
            <a:r>
              <a:rPr sz="1400"/>
              <a:t>Overgang: Bereken nu het voordeel voor kopers en producent samen.</a:t>
            </a:r>
          </a:p>
          <a:p xmlns:a="http://schemas.openxmlformats.org/drawingml/2006/main">
            <a:r>
              <a:rPr sz="1400"/>
              <a:t/>
            </a:r>
          </a:p>
          <a:p xmlns:a="http://schemas.openxmlformats.org/drawingml/2006/main">
            <a:r>
              <a:rPr sz="1400"/>
              <a:t>Bron: Boek 4, books34-v3, gedrukte boekpagina 108–109. https://github.com/meijer1973/4veco-lessen/blob/e734532a42b27732ac25ce990fc9448b12309d28/edities/books34-v3/books/book-4/output/Boek_4_Compleet_v3.pdf</a:t>
            </a:r>
          </a:p>
          <a:p xmlns:a="http://schemas.openxmlformats.org/drawingml/2006/main">
            <a:r>
              <a:rPr sz="1400"/>
              <a:t>Manuscript en antwoordmodel: https://github.com/meijer1973/4veco-lessen/blob/e734532a42b27732ac25ce990fc9448b12309d28/edities/books34-v3/books/book-4/chapters/4.2/4.2.7%20manuscript.md en https://github.com/meijer1973/4veco-lessen/blob/e734532a42b27732ac25ce990fc9448b12309d28/edities/books34-v3/books/book-4/chapters/4.2/Antwoorden.md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heeft het PS hier twee eenvoudige deelgebieden?</a:t>
            </a:r>
          </a:p>
          <a:p xmlns:a="http://schemas.openxmlformats.org/drawingml/2006/main">
            <a:r>
              <a:rPr sz="1400"/>
              <a:t/>
            </a:r>
          </a:p>
          <a:p xmlns:a="http://schemas.openxmlformats.org/drawingml/2006/main">
            <a:r>
              <a:rPr sz="1400"/>
              <a:t>Uitleg: CS ligt onder de vraag en boven de prijs van 50 tot Q = 20. De driehoek heeft hoogte 20. PS ligt boven MK = 10 + Q en onder de prijs van 50 tot Q = 20. Het bestaat uit een rechthoek van 20 bij 20 en een driehoek met basis 20 en hoogte 20: samen 600. Controle: TO − TVK = 1.000 − 400 = 600. Dezelfde constante kosten gelden in beide situaties, zodat de verandering van TS bruikbaar is. Het efficiënte TS van 900 is gegeven.</a:t>
            </a:r>
          </a:p>
          <a:p xmlns:a="http://schemas.openxmlformats.org/drawingml/2006/main">
            <a:r>
              <a:rPr sz="1400"/>
              <a:t/>
            </a:r>
          </a:p>
          <a:p xmlns:a="http://schemas.openxmlformats.org/drawingml/2006/main">
            <a:r>
              <a:rPr sz="1400"/>
              <a:t>Misvatting: Alleen de driehoek onder de prijs gebruiken zou het rechthoekige deel missen.</a:t>
            </a:r>
          </a:p>
          <a:p xmlns:a="http://schemas.openxmlformats.org/drawingml/2006/main">
            <a:r>
              <a:rPr sz="1400"/>
              <a:t/>
            </a:r>
          </a:p>
          <a:p xmlns:a="http://schemas.openxmlformats.org/drawingml/2006/main">
            <a:r>
              <a:rPr sz="1400"/>
              <a:t>Overgang: Laat zien waar de ontbrekende100 in figuur A ligt.</a:t>
            </a:r>
          </a:p>
          <a:p xmlns:a="http://schemas.openxmlformats.org/drawingml/2006/main">
            <a:r>
              <a:rPr sz="1400"/>
              <a:t/>
            </a:r>
          </a:p>
          <a:p xmlns:a="http://schemas.openxmlformats.org/drawingml/2006/main">
            <a:r>
              <a:rPr sz="1400"/>
              <a:t>Bron: Boek 4, books34-v3, gedrukte boekpagina 108–109. https://github.com/meijer1973/4veco-lessen/blob/e734532a42b27732ac25ce990fc9448b12309d28/edities/books34-v3/books/book-4/output/Boek_4_Compleet_v3.pdf</a:t>
            </a:r>
          </a:p>
          <a:p xmlns:a="http://schemas.openxmlformats.org/drawingml/2006/main">
            <a:r>
              <a:rPr sz="1400"/>
              <a:t>Manuscript en antwoordmodel: https://github.com/meijer1973/4veco-lessen/blob/e734532a42b27732ac25ce990fc9448b12309d28/edities/books34-v3/books/book-4/chapters/4.2/4.2.7%20manuscript.md en https://github.com/meijer1973/4veco-lessen/blob/e734532a42b27732ac25ce990fc9448b12309d28/edities/books34-v3/books/book-4/chapters/4.2/Antwoorden.md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gemiste sessies leveren samen nog voordeel op?</a:t>
            </a:r>
          </a:p>
          <a:p xmlns:a="http://schemas.openxmlformats.org/drawingml/2006/main">
            <a:r>
              <a:rPr sz="1400"/>
              <a:t/>
            </a:r>
          </a:p>
          <a:p xmlns:a="http://schemas.openxmlformats.org/drawingml/2006/main">
            <a:r>
              <a:rPr sz="1400"/>
              <a:t>Uitleg: Arceer de driehoek met hoekpunten (20,50), (30,40) en (20,30). De basis is 10 sessies per week en de hoogte 20 euro per sessie. M ligt op (20,50), E op (30,40). Tussen Q = 20 en Q = 30 is de betalingsbereidheid groter dan MK. Deze voordelige transacties ontbreken bij monopolie. Het verlies van 100 klopt met 900 − 800.</a:t>
            </a:r>
          </a:p>
          <a:p xmlns:a="http://schemas.openxmlformats.org/drawingml/2006/main">
            <a:r>
              <a:rPr sz="1400"/>
              <a:t/>
            </a:r>
          </a:p>
          <a:p xmlns:a="http://schemas.openxmlformats.org/drawingml/2006/main">
            <a:r>
              <a:rPr sz="1400"/>
              <a:t>Misvatting: De hele daling van CS is niet verloren surplus; een deel verschuift naar de producent.</a:t>
            </a:r>
          </a:p>
          <a:p xmlns:a="http://schemas.openxmlformats.org/drawingml/2006/main">
            <a:r>
              <a:rPr sz="1400"/>
              <a:t/>
            </a:r>
          </a:p>
          <a:p xmlns:a="http://schemas.openxmlformats.org/drawingml/2006/main">
            <a:r>
              <a:rPr sz="1400"/>
              <a:t>Overgang: Reset naar de andere markt en de andere periode: reiniging per dag.</a:t>
            </a:r>
          </a:p>
          <a:p xmlns:a="http://schemas.openxmlformats.org/drawingml/2006/main">
            <a:r>
              <a:rPr sz="1400"/>
              <a:t/>
            </a:r>
          </a:p>
          <a:p xmlns:a="http://schemas.openxmlformats.org/drawingml/2006/main">
            <a:r>
              <a:rPr sz="1400"/>
              <a:t>Bron: Boek 4, books34-v3, gedrukte boekpagina 108–109. https://github.com/meijer1973/4veco-lessen/blob/e734532a42b27732ac25ce990fc9448b12309d28/edities/books34-v3/books/book-4/output/Boek_4_Compleet_v3.pdf</a:t>
            </a:r>
          </a:p>
          <a:p xmlns:a="http://schemas.openxmlformats.org/drawingml/2006/main">
            <a:r>
              <a:rPr sz="1400"/>
              <a:t>Manuscript en antwoordmodel: https://github.com/meijer1973/4veco-lessen/blob/e734532a42b27732ac25ce990fc9448b12309d28/edities/books34-v3/books/book-4/chapters/4.2/4.2.7%20manuscript.md en https://github.com/meijer1973/4veco-lessen/blob/e734532a42b27732ac25ce990fc9448b12309d28/edities/books34-v3/books/book-4/chapters/4.2/Antwoorden.md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Op welke lijn lees je de ontvangst van de producent af?</a:t>
            </a:r>
          </a:p>
          <a:p xmlns:a="http://schemas.openxmlformats.org/drawingml/2006/main">
            <a:r>
              <a:rPr sz="1400"/>
              <a:t/>
            </a:r>
          </a:p>
          <a:p xmlns:a="http://schemas.openxmlformats.org/drawingml/2006/main">
            <a:r>
              <a:rPr sz="1400"/>
              <a:t>Uitleg: De inverse vraag geeft Pc en het oorspronkelijke aanbod geeft Pp. Vul ze in Pc = Pp + 20 in en los 40 = 2Q op. Controleer: aanbod geeft 20 en vraag geeft 40, dus de wig is 20. Zonder ingrijpen geeft 60 − Q = Q de uitkomst Q = 30 en P = 30. Gebruik die vergelijking bij e.</a:t>
            </a:r>
          </a:p>
          <a:p xmlns:a="http://schemas.openxmlformats.org/drawingml/2006/main">
            <a:r>
              <a:rPr sz="1400"/>
              <a:t/>
            </a:r>
          </a:p>
          <a:p xmlns:a="http://schemas.openxmlformats.org/drawingml/2006/main">
            <a:r>
              <a:rPr sz="1400"/>
              <a:t>Misvatting: Niet op het aanbod inclusief heffing, want dat geeft de kopersprijs.</a:t>
            </a:r>
          </a:p>
          <a:p xmlns:a="http://schemas.openxmlformats.org/drawingml/2006/main">
            <a:r>
              <a:rPr sz="1400"/>
              <a:t/>
            </a:r>
          </a:p>
          <a:p xmlns:a="http://schemas.openxmlformats.org/drawingml/2006/main">
            <a:r>
              <a:rPr sz="1400"/>
              <a:t>Overgang: Verbind beide prijzen met de grafiek en de overheidsontvangst.</a:t>
            </a:r>
          </a:p>
          <a:p xmlns:a="http://schemas.openxmlformats.org/drawingml/2006/main">
            <a:r>
              <a:rPr sz="1400"/>
              <a:t/>
            </a:r>
          </a:p>
          <a:p xmlns:a="http://schemas.openxmlformats.org/drawingml/2006/main">
            <a:r>
              <a:rPr sz="1400"/>
              <a:t>Bron: Boek 4, books34-v3, gedrukte boekpagina 108–109. https://github.com/meijer1973/4veco-lessen/blob/e734532a42b27732ac25ce990fc9448b12309d28/edities/books34-v3/books/book-4/output/Boek_4_Compleet_v3.pdf</a:t>
            </a:r>
          </a:p>
          <a:p xmlns:a="http://schemas.openxmlformats.org/drawingml/2006/main">
            <a:r>
              <a:rPr sz="1400"/>
              <a:t>Manuscript en antwoordmodel: https://github.com/meijer1973/4veco-lessen/blob/e734532a42b27732ac25ce990fc9448b12309d28/edities/books34-v3/books/book-4/chapters/4.2/4.2.7%20manuscript.md en https://github.com/meijer1973/4veco-lessen/blob/e734532a42b27732ac25ce990fc9448b12309d28/edities/books34-v3/books/book-4/chapters/4.2/Antwoorden.md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vermenigvuldig je met20 en niet met de daling10?</a:t>
            </a:r>
          </a:p>
          <a:p xmlns:a="http://schemas.openxmlformats.org/drawingml/2006/main">
            <a:r>
              <a:rPr sz="1400"/>
              <a:t/>
            </a:r>
          </a:p>
          <a:p xmlns:a="http://schemas.openxmlformats.org/drawingml/2006/main">
            <a:r>
              <a:rPr sz="1400"/>
              <a:t>Uitleg: Het aanbod in kopersprijzen is Q + 20. Hier valt het samen met MK maatschappelijk, doordat de heffing en de externe schade per extra dienst beide 20 zijn. Onderscheid de horizontale verschuiving bij dezelfde Pc van 60: het oorspronkelijke aanbod geeft Q = 60, het belaste aanbod Q = 40. De verticale wig bij dezelfde Q van 20 loopt van Pp = 20 tot Pc = 40. De markthoeveelheid daalt van 30 naar 20. De heffingsopbrengst van 400 is een overdracht en is niet automatisch schadevergoeding.</a:t>
            </a:r>
          </a:p>
          <a:p xmlns:a="http://schemas.openxmlformats.org/drawingml/2006/main">
            <a:r>
              <a:rPr sz="1400"/>
              <a:t/>
            </a:r>
          </a:p>
          <a:p xmlns:a="http://schemas.openxmlformats.org/drawingml/2006/main">
            <a:r>
              <a:rPr sz="1400"/>
              <a:t>Misvatting: Een heffing per product geldt ook voor verkopen die zonder heffing al plaatsvonden.</a:t>
            </a:r>
          </a:p>
          <a:p xmlns:a="http://schemas.openxmlformats.org/drawingml/2006/main">
            <a:r>
              <a:rPr sz="1400"/>
              <a:t/>
            </a:r>
          </a:p>
          <a:p xmlns:a="http://schemas.openxmlformats.org/drawingml/2006/main">
            <a:r>
              <a:rPr sz="1400"/>
              <a:t>Overgang: Neem omwonenden mee in de volledige maatschappelijke rekening.</a:t>
            </a:r>
          </a:p>
          <a:p xmlns:a="http://schemas.openxmlformats.org/drawingml/2006/main">
            <a:r>
              <a:rPr sz="1400"/>
              <a:t/>
            </a:r>
          </a:p>
          <a:p xmlns:a="http://schemas.openxmlformats.org/drawingml/2006/main">
            <a:r>
              <a:rPr sz="1400"/>
              <a:t>Bron: Boek 4, books34-v3, gedrukte boekpagina 108–109. https://github.com/meijer1973/4veco-lessen/blob/e734532a42b27732ac25ce990fc9448b12309d28/edities/books34-v3/books/book-4/output/Boek_4_Compleet_v3.pdf</a:t>
            </a:r>
          </a:p>
          <a:p xmlns:a="http://schemas.openxmlformats.org/drawingml/2006/main">
            <a:r>
              <a:rPr sz="1400"/>
              <a:t>Manuscript en antwoordmodel: https://github.com/meijer1973/4veco-lessen/blob/e734532a42b27732ac25ce990fc9448b12309d28/edities/books34-v3/books/book-4/chapters/4.2/4.2.7%20manuscript.md en https://github.com/meijer1973/4veco-lessen/blob/e734532a42b27732ac25ce990fc9448b12309d28/edities/books34-v3/books/book-4/chapters/4.2/Antwoorden.md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schade blijft na het ingrijpen bestaan?</a:t>
            </a:r>
          </a:p>
          <a:p xmlns:a="http://schemas.openxmlformats.org/drawingml/2006/main">
            <a:r>
              <a:rPr sz="1400"/>
              <a:t/>
            </a:r>
          </a:p>
          <a:p xmlns:a="http://schemas.openxmlformats.org/drawingml/2006/main">
            <a:r>
              <a:rPr sz="1400"/>
              <a:t>Uitleg: Elke resterende dienst veroorzaakt nog 20 schade, samen 400. De bron geeft CS en PS van elk 200. Tel de overheidsontvangst van 400 op en trek de externe schade van 400 af. De bron sluit uitvoeringskosten en andere effecten uit. Vóór was het surplus 300, na is het 400: een verbetering van 100 per dag. De twee posten van 400 hebben een verschillende betekenis en bewijzen geen schadevergoeding.</a:t>
            </a:r>
          </a:p>
          <a:p xmlns:a="http://schemas.openxmlformats.org/drawingml/2006/main">
            <a:r>
              <a:rPr sz="1400"/>
              <a:t/>
            </a:r>
          </a:p>
          <a:p xmlns:a="http://schemas.openxmlformats.org/drawingml/2006/main">
            <a:r>
              <a:rPr sz="1400"/>
              <a:t>Misvatting: De ontvangst en schade numeriek wegstrepen zonder beide te noemen verbergt de maatschappelijke rekening.</a:t>
            </a:r>
          </a:p>
          <a:p xmlns:a="http://schemas.openxmlformats.org/drawingml/2006/main">
            <a:r>
              <a:rPr sz="1400"/>
              <a:t/>
            </a:r>
          </a:p>
          <a:p xmlns:a="http://schemas.openxmlformats.org/drawingml/2006/main">
            <a:r>
              <a:rPr sz="1400"/>
              <a:t>Overgang: Vergelijk nu waarom de lagere hoeveelheid anders uitwerkt.</a:t>
            </a:r>
          </a:p>
          <a:p xmlns:a="http://schemas.openxmlformats.org/drawingml/2006/main">
            <a:r>
              <a:rPr sz="1400"/>
              <a:t/>
            </a:r>
          </a:p>
          <a:p xmlns:a="http://schemas.openxmlformats.org/drawingml/2006/main">
            <a:r>
              <a:rPr sz="1400"/>
              <a:t>Bron: Boek 4, books34-v3, gedrukte boekpagina 108–109. https://github.com/meijer1973/4veco-lessen/blob/e734532a42b27732ac25ce990fc9448b12309d28/edities/books34-v3/books/book-4/output/Boek_4_Compleet_v3.pdf</a:t>
            </a:r>
          </a:p>
          <a:p xmlns:a="http://schemas.openxmlformats.org/drawingml/2006/main">
            <a:r>
              <a:rPr sz="1400"/>
              <a:t>Manuscript en antwoordmodel: https://github.com/meijer1973/4veco-lessen/blob/e734532a42b27732ac25ce990fc9448b12309d28/edities/books34-v3/books/book-4/chapters/4.2/4.2.7%20manuscript.md en https://github.com/meijer1973/4veco-lessen/blob/e734532a42b27732ac25ce990fc9448b12309d28/edities/books34-v3/books/book-4/chapters/4.2/Antwoorden.md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kosten bepalen of een extra transactie zinvol is?</a:t>
            </a:r>
          </a:p>
          <a:p xmlns:a="http://schemas.openxmlformats.org/drawingml/2006/main">
            <a:r>
              <a:rPr sz="1400"/>
              <a:t/>
            </a:r>
          </a:p>
          <a:p xmlns:a="http://schemas.openxmlformats.org/drawingml/2006/main">
            <a:r>
              <a:rPr sz="1400"/>
              <a:t>Uitleg: Vergelijk Solo met de efficiënte hoeveelheid. Tussen 20 en 30 overtreft de betalingsbereidheid de marginale kosten. Door afzet te beperken gaat dat voordeel verloren. In B zijn de maatschappelijke marginale kosten Q + 20 tussen 20 en 30 hoger dan de betalingsbereidheid 60 − Q. Als die diensten vervallen, verbetert het maatschappelijke saldo. Controleer bij Q = 25: in A is de betalingsbereidheid 45 en MK 35; in B zijn ze 35 en 45. De twee markten hebben afzonderlijke eenheden en perioden. Tel hun totalen niet bij elkaar op.</a:t>
            </a:r>
          </a:p>
          <a:p xmlns:a="http://schemas.openxmlformats.org/drawingml/2006/main">
            <a:r>
              <a:rPr sz="1400"/>
              <a:t/>
            </a:r>
          </a:p>
          <a:p xmlns:a="http://schemas.openxmlformats.org/drawingml/2006/main">
            <a:r>
              <a:rPr sz="1400"/>
              <a:t>Misvatting: De conclusie is nooit dat minder of meer transacties op zichzelf altijd beter is.</a:t>
            </a:r>
          </a:p>
          <a:p xmlns:a="http://schemas.openxmlformats.org/drawingml/2006/main">
            <a:r>
              <a:rPr sz="1400"/>
              <a:t/>
            </a:r>
          </a:p>
          <a:p xmlns:a="http://schemas.openxmlformats.org/drawingml/2006/main">
            <a:r>
              <a:rPr sz="1400"/>
              <a:t>Overgang: Beoordeel of hetzelfde instrument bij de andere oorzaak past.</a:t>
            </a:r>
          </a:p>
          <a:p xmlns:a="http://schemas.openxmlformats.org/drawingml/2006/main">
            <a:r>
              <a:rPr sz="1400"/>
              <a:t/>
            </a:r>
          </a:p>
          <a:p xmlns:a="http://schemas.openxmlformats.org/drawingml/2006/main">
            <a:r>
              <a:rPr sz="1400"/>
              <a:t>Bron: Boek 4, books34-v3, gedrukte boekpagina 108–109. https://github.com/meijer1973/4veco-lessen/blob/e734532a42b27732ac25ce990fc9448b12309d28/edities/books34-v3/books/book-4/output/Boek_4_Compleet_v3.pdf</a:t>
            </a:r>
          </a:p>
          <a:p xmlns:a="http://schemas.openxmlformats.org/drawingml/2006/main">
            <a:r>
              <a:rPr sz="1400"/>
              <a:t>Manuscript en antwoordmodel: https://github.com/meijer1973/4veco-lessen/blob/e734532a42b27732ac25ce990fc9448b12309d28/edities/books34-v3/books/book-4/chapters/4.2/4.2.7%20manuscript.md en https://github.com/meijer1973/4veco-lessen/blob/e734532a42b27732ac25ce990fc9448b12309d28/edities/books34-v3/books/book-4/chapters/4.2/Antwoorden.md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 brongegeven rechtvaardigt in B juist20 euro?</a:t>
            </a:r>
          </a:p>
          <a:p xmlns:a="http://schemas.openxmlformats.org/drawingml/2006/main">
            <a:r>
              <a:rPr sz="1400"/>
              <a:t/>
            </a:r>
          </a:p>
          <a:p xmlns:a="http://schemas.openxmlformats.org/drawingml/2006/main">
            <a:r>
              <a:rPr sz="1400"/>
              <a:t>Uitleg: De heffing van 20 past in B bij 20 externe schade per extra dienst onder de gegeven concurrentievoorwaarden. Solo heeft die schade niet. De beperkte afzet komt daar door marktmacht. Dezelfde heffing overnemen is niet onderbouwd. Voor een uitspraak over het beste beleid zijn passende alternatieven en de gedragsreacties nodig. Deze analyse bewijst geen universele vervangende maatregel. Laat leerlingen hun a–f controleren op berekening, eenheid, arcering, oorzaak en begrenzing en één tekort verbeteren.</a:t>
            </a:r>
          </a:p>
          <a:p xmlns:a="http://schemas.openxmlformats.org/drawingml/2006/main">
            <a:r>
              <a:rPr sz="1400"/>
              <a:t/>
            </a:r>
          </a:p>
          <a:p xmlns:a="http://schemas.openxmlformats.org/drawingml/2006/main">
            <a:r>
              <a:rPr sz="1400"/>
              <a:t>Misvatting: Succes in één markt bewijst geen geschiktheid in een andere.</a:t>
            </a:r>
          </a:p>
          <a:p xmlns:a="http://schemas.openxmlformats.org/drawingml/2006/main">
            <a:r>
              <a:rPr sz="1400"/>
              <a:t/>
            </a:r>
          </a:p>
          <a:p xmlns:a="http://schemas.openxmlformats.org/drawingml/2006/main">
            <a:r>
              <a:rPr sz="1400"/>
              <a:t>Overgang: Noteer het huiswerk en rond het nakijken af.</a:t>
            </a:r>
          </a:p>
          <a:p xmlns:a="http://schemas.openxmlformats.org/drawingml/2006/main">
            <a:r>
              <a:rPr sz="1400"/>
              <a:t/>
            </a:r>
          </a:p>
          <a:p xmlns:a="http://schemas.openxmlformats.org/drawingml/2006/main">
            <a:r>
              <a:rPr sz="1400"/>
              <a:t>Bron: Boek 4, books34-v3, gedrukte boekpagina 108–109, 99–100. https://github.com/meijer1973/4veco-lessen/blob/e734532a42b27732ac25ce990fc9448b12309d28/edities/books34-v3/books/book-4/output/Boek_4_Compleet_v3.pdf</a:t>
            </a:r>
          </a:p>
          <a:p xmlns:a="http://schemas.openxmlformats.org/drawingml/2006/main">
            <a:r>
              <a:rPr sz="1400"/>
              <a:t>Manuscript en antwoordmodel: https://github.com/meijer1973/4veco-lessen/blob/e734532a42b27732ac25ce990fc9448b12309d28/edities/books34-v3/books/book-4/chapters/4.2/4.2.7%20manuscript.md en https://github.com/meijer1973/4veco-lessen/blob/e734532a42b27732ac25ce990fc9448b12309d28/edities/books34-v3/books/book-4/chapters/4.2/Antwoorden.md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bronzin bepaalt jouw aanpak?</a:t>
            </a:r>
          </a:p>
          <a:p xmlns:a="http://schemas.openxmlformats.org/drawingml/2006/main">
            <a:r>
              <a:rPr sz="1400"/>
              <a:t/>
            </a:r>
          </a:p>
          <a:p xmlns:a="http://schemas.openxmlformats.org/drawingml/2006/main">
            <a:r>
              <a:rPr sz="1400"/>
              <a:t>Uitleg: Laat staan tijdens afsluiting / huiswerk. Start 55 is de eerste echte opgave. Er zijn geen aparte basisopgaven. Voorbereiding 55–57, doel 58, extra gemengd 59 en herhaling 60. De classroomroute wijst alle opgaven 55–60 aan als huiswerk, inclusief 60 met behoud van het bronlabel Herhaling. De docentroute noemt 60 aanvullend; hier is hij dus expliciet toegewezen. Geen bonussectie. Opgave 58 is gekozen omdat modelkeuze, berekening, arcering en een begrensde beleidsconclusie samenkomen. De volledige route heeft geen gemeten één-les-fit. Start 55 vraagt eerder onderwezen methoden: monopolie versus efficiënte uitkomst (§4.2.1 p.55–58), externe kosten en wig (§4.2.4 p.78–82), groepsscheiding en doorverkoop (§4.2.2 p.63–65). Laat leerlingen die uitleg bij twijfel gebruiken. Vraag vóór zelfstandig werk welke startstap nog hulp nodig heeft. Beheersing wordt niet verondersteld op grond van eerdere behandeling.</a:t>
            </a:r>
          </a:p>
          <a:p xmlns:a="http://schemas.openxmlformats.org/drawingml/2006/main">
            <a:r>
              <a:rPr sz="1400"/>
              <a:t/>
            </a:r>
          </a:p>
          <a:p xmlns:a="http://schemas.openxmlformats.org/drawingml/2006/main">
            <a:r>
              <a:rPr sz="1400"/>
              <a:t>Misvatting: De lokale hoofdstukpagina’s 53–58 zijn in het volledige boek 105–110.</a:t>
            </a:r>
          </a:p>
          <a:p xmlns:a="http://schemas.openxmlformats.org/drawingml/2006/main">
            <a:r>
              <a:rPr sz="1400"/>
              <a:t/>
            </a:r>
          </a:p>
          <a:p xmlns:a="http://schemas.openxmlformats.org/drawingml/2006/main">
            <a:r>
              <a:rPr sz="1400"/>
              <a:t>Overgang: Noteer alle opgaven en rond het nakijken af.</a:t>
            </a:r>
          </a:p>
          <a:p xmlns:a="http://schemas.openxmlformats.org/drawingml/2006/main">
            <a:r>
              <a:rPr sz="1400"/>
              <a:t/>
            </a:r>
          </a:p>
          <a:p xmlns:a="http://schemas.openxmlformats.org/drawingml/2006/main">
            <a:r>
              <a:rPr sz="1400"/>
              <a:t>Bron: Boek 4, books34-v3, gedrukte boekpagina 105–110. https://github.com/meijer1973/4veco-lessen/blob/e734532a42b27732ac25ce990fc9448b12309d28/edities/books34-v3/books/book-4/output/Boek_4_Compleet_v3.pdf</a:t>
            </a:r>
          </a:p>
          <a:p xmlns:a="http://schemas.openxmlformats.org/drawingml/2006/main">
            <a:r>
              <a:rPr sz="1400"/>
              <a:t>Manuscript en antwoordmodel: https://github.com/meijer1973/4veco-lessen/blob/e734532a42b27732ac25ce990fc9448b12309d28/edities/books34-v3/books/book-4/chapters/4.2/4.2.7%20manuscript.md en https://github.com/meijer1973/4veco-lessen/blob/e734532a42b27732ac25ce990fc9448b12309d28/edities/books34-v3/books/book-4/chapters/4.2/Antwoorden.md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052a238966c46c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c1082846f574ae3" /><Relationship Type="http://schemas.openxmlformats.org/officeDocument/2006/relationships/slideLayout" Target="/ppt/slideLayouts/slideLayout1.xml" Id="Rfd5cb2ddc1754d4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d5cb2ddc1754d4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32b0f7ba6dd4cf0" /><Relationship Type="http://schemas.openxmlformats.org/officeDocument/2006/relationships/notesSlide" Target="/ppt/notesSlides/notesSlide1.xml" Id="R8144038c6c71498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9a0c524db01402c" /><Relationship Type="http://schemas.openxmlformats.org/officeDocument/2006/relationships/notesSlide" Target="/ppt/notesSlides/notesSlide2.xml" Id="R71ad1e52514d4fc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7af9c4813fd49b2" /><Relationship Type="http://schemas.openxmlformats.org/officeDocument/2006/relationships/notesSlide" Target="/ppt/notesSlides/notesSlide3.xml" Id="Rf753e7de24974c4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1baa7fb2724462c" /><Relationship Type="http://schemas.openxmlformats.org/officeDocument/2006/relationships/notesSlide" Target="/ppt/notesSlides/notesSlide4.xml" Id="Rfeca0c0d962e40c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4f365ca671e4dd0" /><Relationship Type="http://schemas.openxmlformats.org/officeDocument/2006/relationships/notesSlide" Target="/ppt/notesSlides/notesSlide5.xml" Id="Re512dc6328c24cd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1efca1310e94cdb" /><Relationship Type="http://schemas.openxmlformats.org/officeDocument/2006/relationships/notesSlide" Target="/ppt/notesSlides/notesSlide6.xml" Id="R675453051df645f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fdd980811424eb6" /><Relationship Type="http://schemas.openxmlformats.org/officeDocument/2006/relationships/notesSlide" Target="/ppt/notesSlides/notesSlide7.xml" Id="R1f1aae3361334bb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47113759c3a4737" /><Relationship Type="http://schemas.openxmlformats.org/officeDocument/2006/relationships/chart" Target="/ppt/slides/charts/chart1.xml" Id="Rced54dd868e840f0" /><Relationship Type="http://schemas.openxmlformats.org/officeDocument/2006/relationships/notesSlide" Target="/ppt/notesSlides/notesSlide8.xml" Id="R90e146a599db417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62f8511ef634af6" /><Relationship Type="http://schemas.openxmlformats.org/officeDocument/2006/relationships/notesSlide" Target="/ppt/notesSlides/notesSlide9.xml" Id="R5a8e1b2c945b438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b402d378f8e484e" /><Relationship Type="http://schemas.openxmlformats.org/officeDocument/2006/relationships/chart" Target="/ppt/slides/charts/chart2.xml" Id="R30600f1aa1e04b22" /><Relationship Type="http://schemas.openxmlformats.org/officeDocument/2006/relationships/notesSlide" Target="/ppt/notesSlides/notesSlide10.xml" Id="R135e8c34f20640e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c2e5daa4e394e4f" /><Relationship Type="http://schemas.openxmlformats.org/officeDocument/2006/relationships/notesSlide" Target="/ppt/notesSlides/notesSlide11.xml" Id="Rbd691a605b424bc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cbe1b54e8664f14" /><Relationship Type="http://schemas.openxmlformats.org/officeDocument/2006/relationships/notesSlide" Target="/ppt/notesSlides/notesSlide12.xml" Id="Rb18fb9f0ca4a425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1d5a2dcf6ea4932" /><Relationship Type="http://schemas.openxmlformats.org/officeDocument/2006/relationships/notesSlide" Target="/ppt/notesSlides/notesSlide13.xml" Id="R6d731bd10dca4ba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db436c81df54f78" /><Relationship Type="http://schemas.openxmlformats.org/officeDocument/2006/relationships/chart" Target="/ppt/slides/charts/chart3.xml" Id="Rd5f916a74d634b64" /><Relationship Type="http://schemas.openxmlformats.org/officeDocument/2006/relationships/notesSlide" Target="/ppt/notesSlides/notesSlide14.xml" Id="Re943819f8a23489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ed617d3e2af41c5" /><Relationship Type="http://schemas.openxmlformats.org/officeDocument/2006/relationships/notesSlide" Target="/ppt/notesSlides/notesSlide15.xml" Id="R8abedb3de78b4ce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7277df155244e0b" /><Relationship Type="http://schemas.openxmlformats.org/officeDocument/2006/relationships/notesSlide" Target="/ppt/notesSlides/notesSlide16.xml" Id="R7e55d1614ca042b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092188803b94592" /><Relationship Type="http://schemas.openxmlformats.org/officeDocument/2006/relationships/chart" Target="/ppt/slides/charts/chart4.xml" Id="Rb366c8d482344bc6" /><Relationship Type="http://schemas.openxmlformats.org/officeDocument/2006/relationships/notesSlide" Target="/ppt/notesSlides/notesSlide17.xml" Id="R352525a1cb0144e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2aa7ed8f102c4f18" /><Relationship Type="http://schemas.openxmlformats.org/officeDocument/2006/relationships/notesSlide" Target="/ppt/notesSlides/notesSlide18.xml" Id="Rb7de73c989114f0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ec25b7505bf04074" /><Relationship Type="http://schemas.openxmlformats.org/officeDocument/2006/relationships/chart" Target="/ppt/slides/charts/chart5.xml" Id="R5208c1aa762a4dcd" /><Relationship Type="http://schemas.openxmlformats.org/officeDocument/2006/relationships/notesSlide" Target="/ppt/notesSlides/notesSlide19.xml" Id="Rca9e507bb9044ce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bfa3516e17c34b3f" /><Relationship Type="http://schemas.openxmlformats.org/officeDocument/2006/relationships/notesSlide" Target="/ppt/notesSlides/notesSlide20.xml" Id="R5e382a6e3737494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f2130ce837fe48f2" /><Relationship Type="http://schemas.openxmlformats.org/officeDocument/2006/relationships/notesSlide" Target="/ppt/notesSlides/notesSlide21.xml" Id="R9ad41eccc0c347d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7999890e0c4f4351" /><Relationship Type="http://schemas.openxmlformats.org/officeDocument/2006/relationships/notesSlide" Target="/ppt/notesSlides/notesSlide22.xml" Id="R68c359ddd055427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db249675d3a145e0" /><Relationship Type="http://schemas.openxmlformats.org/officeDocument/2006/relationships/notesSlide" Target="/ppt/notesSlides/notesSlide23.xml" Id="R9c97e1e98747490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ns1="http://schemas.openxmlformats.org/drawingml/2006/main" xmlns:r="http://schemas.openxmlformats.org/officeDocument/2006/relationships">
  <c:lang val="en-US"/>
  <c:chart>
    <c:plotArea>
      <c:layout>
        <c:manualLayout>
          <c:layoutTarget val="inner"/>
          <c:xMode val="edge"/>
          <c:yMode val="edge"/>
          <c:wMode val="factor"/>
          <c:hMode val="factor"/>
          <c:x val="0.14"/>
          <c:y val="0.06"/>
          <c:w val="0.82"/>
          <c:h val="0.8"/>
        </c:manualLayout>
      </c:layout>
      <c:scatterChart>
        <c:scatterStyle val="line"/>
        <c:ser>
          <c:idx val="0"/>
          <c:order val="0"/>
          <c:tx>
            <c:v>Vraag = GO</c:v>
          </c:tx>
          <c:spPr>
            <ns1:ln w="38100">
              <ns1:solidFill>
                <ns1:srgbClr val="1A5276"/>
              </ns1:solidFill>
            </ns1:ln>
          </c:spPr>
          <c:marker>
            <c:symbol val="none"/>
          </c:marker>
          <c:xVal>
            <c:numRef>
              <c:f>'Chart Data'!$A$2:$A$3</c:f>
              <c:numCache>
                <c:formatCode>General</c:formatCode>
                <c:ptCount val="2"/>
                <c:pt idx="0">
                  <c:v>0</c:v>
                </c:pt>
                <c:pt idx="1">
                  <c:v>50</c:v>
                </c:pt>
              </c:numCache>
            </c:numRef>
          </c:xVal>
          <c:yVal>
            <c:numRef>
              <c:f>'Chart Data'!$B$2:$B$3</c:f>
              <c:numCache>
                <c:formatCode>0</c:formatCode>
                <c:ptCount val="2"/>
                <c:pt idx="0">
                  <c:v>70</c:v>
                </c:pt>
                <c:pt idx="1">
                  <c:v>20</c:v>
                </c:pt>
              </c:numCache>
            </c:numRef>
          </c:yVal>
          <c:smooth val="0"/>
        </c:ser>
        <c:ser>
          <c:idx val="1"/>
          <c:order val="1"/>
          <c:tx>
            <c:v>MO</c:v>
          </c:tx>
          <c:spPr>
            <ns1:ln w="38100">
              <ns1:solidFill>
                <ns1:srgbClr val="7B2D8E"/>
              </ns1:solidFill>
              <ns1:prstDash val="dash"/>
            </ns1:ln>
          </c:spPr>
          <c:marker>
            <c:symbol val="none"/>
          </c:marker>
          <c:xVal>
            <c:numRef>
              <c:f>'Chart Data'!$C$2:$C$3</c:f>
              <c:numCache>
                <c:formatCode>General</c:formatCode>
                <c:ptCount val="2"/>
                <c:pt idx="0">
                  <c:v>0</c:v>
                </c:pt>
                <c:pt idx="1">
                  <c:v>35</c:v>
                </c:pt>
              </c:numCache>
            </c:numRef>
          </c:xVal>
          <c:yVal>
            <c:numRef>
              <c:f>'Chart Data'!$D$2:$D$3</c:f>
              <c:numCache>
                <c:formatCode>0</c:formatCode>
                <c:ptCount val="2"/>
                <c:pt idx="0">
                  <c:v>70</c:v>
                </c:pt>
                <c:pt idx="1">
                  <c:v>0</c:v>
                </c:pt>
              </c:numCache>
            </c:numRef>
          </c:yVal>
          <c:smooth val="0"/>
        </c:ser>
        <c:ser>
          <c:idx val="2"/>
          <c:order val="2"/>
          <c:tx>
            <c:v>MK</c:v>
          </c:tx>
          <c:spPr>
            <ns1:ln w="38100">
              <ns1:solidFill>
                <ns1:srgbClr val="A94D16"/>
              </ns1:solidFill>
            </ns1:ln>
          </c:spPr>
          <c:marker>
            <c:symbol val="none"/>
          </c:marker>
          <c:xVal>
            <c:numRef>
              <c:f>'Chart Data'!$E$2:$E$3</c:f>
              <c:numCache>
                <c:formatCode>General</c:formatCode>
                <c:ptCount val="2"/>
                <c:pt idx="0">
                  <c:v>0</c:v>
                </c:pt>
                <c:pt idx="1">
                  <c:v>50</c:v>
                </c:pt>
              </c:numCache>
            </c:numRef>
          </c:xVal>
          <c:yVal>
            <c:numRef>
              <c:f>'Chart Data'!$F$2:$F$3</c:f>
              <c:numCache>
                <c:formatCode>0</c:formatCode>
                <c:ptCount val="2"/>
                <c:pt idx="0">
                  <c:v>10</c:v>
                </c:pt>
                <c:pt idx="1">
                  <c:v>60</c:v>
                </c:pt>
              </c:numCache>
            </c:numRef>
          </c:yVal>
          <c:smooth val="0"/>
        </c:ser>
        <c:dLbls>
          <c:txPr>
            <ns1:bodyPr anchorCtr="1"/>
            <ns1:lstStyle/>
            <ns1:p>
              <ns1:pPr>
                <ns1:defRPr>
                  <ns1:latin typeface="Arial"/>
                  <ns1:ea typeface="Arial"/>
                  <ns1:cs typeface="Arial"/>
                </ns1:defRPr>
              </ns1:pPr>
            </ns1:p>
          </c:txPr>
          <c:showLegendKey val="0"/>
          <c:showVal val="0"/>
          <c:showCatName val="0"/>
          <c:showSerName val="0"/>
          <c:showPercent val="0"/>
          <c:showBubbleSize val="0"/>
          <c:showLeaderLines val="0"/>
        </c:dLbls>
        <c:axId val="48650112"/>
        <c:axId val="48672768"/>
      </c:scatterChart>
      <c:valAx>
        <c:axId val="48672768"/>
        <c:scaling>
          <c:orientation val="minMax"/>
          <c:max val="80"/>
          <c:min val="0"/>
        </c:scaling>
        <c:delete val="0"/>
        <c:axPos val="l"/>
        <c:majorGridlines>
          <c:spPr>
            <ns1:ln w="5715">
              <ns1:solidFill>
                <ns1:srgbClr val="C6D2DB"/>
              </ns1:solidFill>
            </ns1:ln>
          </c:spPr>
        </c:majorGridlines>
        <c:title>
          <c:tx>
            <c:rich>
              <ns1:bodyPr/>
              <ns1:lstStyle/>
              <ns1:p>
                <ns1:r>
                  <ns1:rPr sz="1875">
                    <ns1:solidFill>
                      <ns1:srgbClr val="183247"/>
                    </ns1:solidFill>
                    <ns1:latin typeface="Arial"/>
                    <ns1:ea typeface="Arial"/>
                    <ns1:cs typeface="Arial"/>
                  </ns1:rPr>
                  <ns1:t>P, MO en MK (€ per sessie)</ns1:t>
                </ns1:r>
              </ns1:p>
            </c:rich>
          </c:tx>
          <c:overlay val="0"/>
          <c:txPr>
            <ns1:bodyPr anchorCtr="1"/>
            <ns1:lstStyle/>
            <ns1:p>
              <ns1:pPr>
                <ns1:defRPr sz="1875">
                  <ns1:solidFill>
                    <ns1:srgbClr val="183247"/>
                  </ns1:solidFill>
                  <ns1:latin typeface="Arial"/>
                  <ns1:ea typeface="Arial"/>
                  <ns1:cs typeface="Arial"/>
                </ns1:defRPr>
              </ns1:pPr>
            </ns1:p>
          </c:txPr>
        </c:title>
        <c:numFmt formatCode="0"/>
        <c:majorTickMark val="none"/>
        <c:minorTickMark val="none"/>
        <c:spPr>
          <ns1:ln w="14288">
            <ns1:solidFill>
              <ns1:srgbClr val="183247"/>
            </ns1:solidFill>
          </ns1:ln>
        </c:spPr>
        <c:txPr>
          <ns1:bodyPr anchorCtr="1"/>
          <ns1:lstStyle/>
          <ns1:p>
            <ns1:pPr>
              <ns1:defRPr sz="1800">
                <ns1:solidFill>
                  <ns1:srgbClr val="183247"/>
                </ns1:solidFill>
                <ns1:latin typeface="Arial"/>
                <ns1:ea typeface="Arial"/>
                <ns1:cs typeface="Arial"/>
              </ns1:defRPr>
            </ns1:pPr>
          </ns1:p>
        </c:txPr>
        <c:crossAx val="48650112"/>
        <c:majorUnit val="10"/>
      </c:valAx>
      <c:valAx>
        <c:axId val="48650112"/>
        <c:scaling>
          <c:orientation val="minMax"/>
          <c:max val="50"/>
          <c:min val="0"/>
        </c:scaling>
        <c:delete val="0"/>
        <c:axPos val="b"/>
        <c:title>
          <c:tx>
            <c:rich>
              <ns1:bodyPr/>
              <ns1:lstStyle/>
              <ns1:p>
                <ns1:r>
                  <ns1:rPr sz="1875">
                    <ns1:solidFill>
                      <ns1:srgbClr val="183247"/>
                    </ns1:solidFill>
                    <ns1:latin typeface="Arial"/>
                    <ns1:ea typeface="Arial"/>
                    <ns1:cs typeface="Arial"/>
                  </ns1:rPr>
                  <ns1:t>Q (sessies per week)</ns1:t>
                </ns1:r>
              </ns1:p>
            </c:rich>
          </c:tx>
          <c:overlay val="0"/>
          <c:txPr>
            <ns1:bodyPr anchorCtr="1"/>
            <ns1:lstStyle/>
            <ns1:p>
              <ns1:pPr>
                <ns1:defRPr sz="1875">
                  <ns1:solidFill>
                    <ns1:srgbClr val="183247"/>
                  </ns1:solidFill>
                  <ns1:latin typeface="Arial"/>
                  <ns1:ea typeface="Arial"/>
                  <ns1:cs typeface="Arial"/>
                </ns1:defRPr>
              </ns1:pPr>
            </ns1:p>
          </c:txPr>
        </c:title>
        <c:numFmt formatCode="0"/>
        <c:majorTickMark val="none"/>
        <c:minorTickMark val="none"/>
        <c:spPr>
          <ns1:ln w="14288">
            <ns1:solidFill>
              <ns1:srgbClr val="183247"/>
            </ns1:solidFill>
          </ns1:ln>
        </c:spPr>
        <c:txPr>
          <ns1:bodyPr anchorCtr="1"/>
          <ns1:lstStyle/>
          <ns1:p>
            <ns1:pPr>
              <ns1:defRPr sz="1800">
                <ns1:solidFill>
                  <ns1:srgbClr val="183247"/>
                </ns1:solidFill>
                <ns1:latin typeface="Arial"/>
                <ns1:ea typeface="Arial"/>
                <ns1:cs typeface="Arial"/>
              </ns1:defRPr>
            </ns1:pPr>
          </ns1:p>
        </c:txPr>
        <c:crossAx val="48672768"/>
        <c:majorUnit val="10"/>
      </c:valAx>
      <c:spPr>
        <ns1:noFill/>
      </c:spPr>
    </c:plotArea>
    <c:plotVisOnly val="1"/>
  </c:chart>
  <c:spPr>
    <ns1:noFill/>
  </c:spPr>
  <c:externalData r:id="rIdChartSnapshot1">
    <c:autoUpdate val="0"/>
  </c:externalData>
</c:chartSpace>
</file>

<file path=ppt/slides/charts/chart2.xml><?xml version="1.0" encoding="utf-8"?>
<c:chartSpace xmlns:c="http://schemas.openxmlformats.org/drawingml/2006/chart" xmlns:ns1="http://schemas.openxmlformats.org/drawingml/2006/main" xmlns:r="http://schemas.openxmlformats.org/officeDocument/2006/relationships">
  <c:lang val="en-US"/>
  <c:chart>
    <c:plotArea>
      <c:layout>
        <c:manualLayout>
          <c:layoutTarget val="inner"/>
          <c:xMode val="edge"/>
          <c:yMode val="edge"/>
          <c:wMode val="factor"/>
          <c:hMode val="factor"/>
          <c:x val="0.14"/>
          <c:y val="0.06"/>
          <c:w val="0.82"/>
          <c:h val="0.8"/>
        </c:manualLayout>
      </c:layout>
      <c:scatterChart>
        <c:scatterStyle val="line"/>
        <c:ser>
          <c:idx val="0"/>
          <c:order val="0"/>
          <c:tx>
            <c:v>Vraag</c:v>
          </c:tx>
          <c:spPr>
            <ns1:ln w="38100">
              <ns1:solidFill>
                <ns1:srgbClr val="1A5276"/>
              </ns1:solidFill>
            </ns1:ln>
          </c:spPr>
          <c:marker>
            <c:symbol val="none"/>
          </c:marker>
          <c:xVal>
            <c:numRef>
              <c:f>'Chart Data'!$A$2:$A$3</c:f>
              <c:numCache>
                <c:formatCode>General</c:formatCode>
                <c:ptCount val="2"/>
                <c:pt idx="0">
                  <c:v>0</c:v>
                </c:pt>
                <c:pt idx="1">
                  <c:v>60</c:v>
                </c:pt>
              </c:numCache>
            </c:numRef>
          </c:xVal>
          <c:yVal>
            <c:numRef>
              <c:f>'Chart Data'!$B$2:$B$3</c:f>
              <c:numCache>
                <c:formatCode>0</c:formatCode>
                <c:ptCount val="2"/>
                <c:pt idx="0">
                  <c:v>60</c:v>
                </c:pt>
                <c:pt idx="1">
                  <c:v>0</c:v>
                </c:pt>
              </c:numCache>
            </c:numRef>
          </c:yVal>
          <c:smooth val="0"/>
        </c:ser>
        <c:ser>
          <c:idx val="1"/>
          <c:order val="1"/>
          <c:tx>
            <c:v>A = MK privé</c:v>
          </c:tx>
          <c:spPr>
            <ns1:ln w="38100">
              <ns1:solidFill>
                <ns1:srgbClr val="20665B"/>
              </ns1:solidFill>
            </ns1:ln>
          </c:spPr>
          <c:marker>
            <c:symbol val="none"/>
          </c:marker>
          <c:xVal>
            <c:numRef>
              <c:f>'Chart Data'!$C$2:$C$3</c:f>
              <c:numCache>
                <c:formatCode>General</c:formatCode>
                <c:ptCount val="2"/>
                <c:pt idx="0">
                  <c:v>0</c:v>
                </c:pt>
                <c:pt idx="1">
                  <c:v>60</c:v>
                </c:pt>
              </c:numCache>
            </c:numRef>
          </c:xVal>
          <c:yVal>
            <c:numRef>
              <c:f>'Chart Data'!$D$2:$D$3</c:f>
              <c:numCache>
                <c:formatCode>0</c:formatCode>
                <c:ptCount val="2"/>
                <c:pt idx="0">
                  <c:v>0</c:v>
                </c:pt>
                <c:pt idx="1">
                  <c:v>60</c:v>
                </c:pt>
              </c:numCache>
            </c:numRef>
          </c:yVal>
          <c:smooth val="0"/>
        </c:ser>
        <c:ser>
          <c:idx val="2"/>
          <c:order val="2"/>
          <c:tx>
            <c:v>MK maatschappelijk</c:v>
          </c:tx>
          <c:spPr>
            <ns1:ln w="38100">
              <ns1:solidFill>
                <ns1:srgbClr val="A94D16"/>
              </ns1:solidFill>
              <ns1:prstDash val="dash"/>
            </ns1:ln>
          </c:spPr>
          <c:marker>
            <c:symbol val="none"/>
          </c:marker>
          <c:xVal>
            <c:numRef>
              <c:f>'Chart Data'!$E$2:$E$3</c:f>
              <c:numCache>
                <c:formatCode>General</c:formatCode>
                <c:ptCount val="2"/>
                <c:pt idx="0">
                  <c:v>0</c:v>
                </c:pt>
                <c:pt idx="1">
                  <c:v>60</c:v>
                </c:pt>
              </c:numCache>
            </c:numRef>
          </c:xVal>
          <c:yVal>
            <c:numRef>
              <c:f>'Chart Data'!$F$2:$F$3</c:f>
              <c:numCache>
                <c:formatCode>0</c:formatCode>
                <c:ptCount val="2"/>
                <c:pt idx="0">
                  <c:v>20</c:v>
                </c:pt>
                <c:pt idx="1">
                  <c:v>80</c:v>
                </c:pt>
              </c:numCache>
            </c:numRef>
          </c:yVal>
          <c:smooth val="0"/>
        </c:ser>
        <c:dLbls>
          <c:txPr>
            <ns1:bodyPr anchorCtr="1"/>
            <ns1:lstStyle/>
            <ns1:p>
              <ns1:pPr>
                <ns1:defRPr>
                  <ns1:latin typeface="Arial"/>
                  <ns1:ea typeface="Arial"/>
                  <ns1:cs typeface="Arial"/>
                </ns1:defRPr>
              </ns1:pPr>
            </ns1:p>
          </c:txPr>
          <c:showLegendKey val="0"/>
          <c:showVal val="0"/>
          <c:showCatName val="0"/>
          <c:showSerName val="0"/>
          <c:showPercent val="0"/>
          <c:showBubbleSize val="0"/>
          <c:showLeaderLines val="0"/>
        </c:dLbls>
        <c:axId val="48650112"/>
        <c:axId val="48672768"/>
      </c:scatterChart>
      <c:valAx>
        <c:axId val="48672768"/>
        <c:scaling>
          <c:orientation val="minMax"/>
          <c:max val="80"/>
          <c:min val="0"/>
        </c:scaling>
        <c:delete val="0"/>
        <c:axPos val="l"/>
        <c:majorGridlines>
          <c:spPr>
            <ns1:ln w="5715">
              <ns1:solidFill>
                <ns1:srgbClr val="C6D2DB"/>
              </ns1:solidFill>
            </ns1:ln>
          </c:spPr>
        </c:majorGridlines>
        <c:title>
          <c:tx>
            <c:rich>
              <ns1:bodyPr/>
              <ns1:lstStyle/>
              <ns1:p>
                <ns1:r>
                  <ns1:rPr sz="1875">
                    <ns1:solidFill>
                      <ns1:srgbClr val="183247"/>
                    </ns1:solidFill>
                    <ns1:latin typeface="Arial"/>
                    <ns1:ea typeface="Arial"/>
                    <ns1:cs typeface="Arial"/>
                  </ns1:rPr>
                  <ns1:t>P en kosten (€ per dienst)</ns1:t>
                </ns1:r>
              </ns1:p>
            </c:rich>
          </c:tx>
          <c:overlay val="0"/>
          <c:txPr>
            <ns1:bodyPr anchorCtr="1"/>
            <ns1:lstStyle/>
            <ns1:p>
              <ns1:pPr>
                <ns1:defRPr sz="1875">
                  <ns1:solidFill>
                    <ns1:srgbClr val="183247"/>
                  </ns1:solidFill>
                  <ns1:latin typeface="Arial"/>
                  <ns1:ea typeface="Arial"/>
                  <ns1:cs typeface="Arial"/>
                </ns1:defRPr>
              </ns1:pPr>
            </ns1:p>
          </c:txPr>
        </c:title>
        <c:numFmt formatCode="0"/>
        <c:majorTickMark val="none"/>
        <c:minorTickMark val="none"/>
        <c:spPr>
          <ns1:ln w="14288">
            <ns1:solidFill>
              <ns1:srgbClr val="183247"/>
            </ns1:solidFill>
          </ns1:ln>
        </c:spPr>
        <c:txPr>
          <ns1:bodyPr anchorCtr="1"/>
          <ns1:lstStyle/>
          <ns1:p>
            <ns1:pPr>
              <ns1:defRPr sz="1800">
                <ns1:solidFill>
                  <ns1:srgbClr val="183247"/>
                </ns1:solidFill>
                <ns1:latin typeface="Arial"/>
                <ns1:ea typeface="Arial"/>
                <ns1:cs typeface="Arial"/>
              </ns1:defRPr>
            </ns1:pPr>
          </ns1:p>
        </c:txPr>
        <c:crossAx val="48650112"/>
        <c:majorUnit val="10"/>
      </c:valAx>
      <c:valAx>
        <c:axId val="48650112"/>
        <c:scaling>
          <c:orientation val="minMax"/>
          <c:max val="60"/>
          <c:min val="0"/>
        </c:scaling>
        <c:delete val="0"/>
        <c:axPos val="b"/>
        <c:title>
          <c:tx>
            <c:rich>
              <ns1:bodyPr/>
              <ns1:lstStyle/>
              <ns1:p>
                <ns1:r>
                  <ns1:rPr sz="1875">
                    <ns1:solidFill>
                      <ns1:srgbClr val="183247"/>
                    </ns1:solidFill>
                    <ns1:latin typeface="Arial"/>
                    <ns1:ea typeface="Arial"/>
                    <ns1:cs typeface="Arial"/>
                  </ns1:rPr>
                  <ns1:t>Q (diensten per dag)</ns1:t>
                </ns1:r>
              </ns1:p>
            </c:rich>
          </c:tx>
          <c:overlay val="0"/>
          <c:txPr>
            <ns1:bodyPr anchorCtr="1"/>
            <ns1:lstStyle/>
            <ns1:p>
              <ns1:pPr>
                <ns1:defRPr sz="1875">
                  <ns1:solidFill>
                    <ns1:srgbClr val="183247"/>
                  </ns1:solidFill>
                  <ns1:latin typeface="Arial"/>
                  <ns1:ea typeface="Arial"/>
                  <ns1:cs typeface="Arial"/>
                </ns1:defRPr>
              </ns1:pPr>
            </ns1:p>
          </c:txPr>
        </c:title>
        <c:numFmt formatCode="0"/>
        <c:majorTickMark val="none"/>
        <c:minorTickMark val="none"/>
        <c:spPr>
          <ns1:ln w="14288">
            <ns1:solidFill>
              <ns1:srgbClr val="183247"/>
            </ns1:solidFill>
          </ns1:ln>
        </c:spPr>
        <c:txPr>
          <ns1:bodyPr anchorCtr="1"/>
          <ns1:lstStyle/>
          <ns1:p>
            <ns1:pPr>
              <ns1:defRPr sz="1800">
                <ns1:solidFill>
                  <ns1:srgbClr val="183247"/>
                </ns1:solidFill>
                <ns1:latin typeface="Arial"/>
                <ns1:ea typeface="Arial"/>
                <ns1:cs typeface="Arial"/>
              </ns1:defRPr>
            </ns1:pPr>
          </ns1:p>
        </c:txPr>
        <c:crossAx val="48672768"/>
        <c:majorUnit val="10"/>
      </c:valAx>
      <c:spPr>
        <ns1:noFill/>
      </c:spPr>
    </c:plotArea>
    <c:plotVisOnly val="1"/>
  </c:chart>
  <c:spPr>
    <ns1:noFill/>
  </c:spPr>
  <c:externalData r:id="rIdChartSnapshot1">
    <c:autoUpdate val="0"/>
  </c:externalData>
</c:chartSpace>
</file>

<file path=ppt/slides/charts/chart3.xml><?xml version="1.0" encoding="utf-8"?>
<c:chartSpace xmlns:c="http://schemas.openxmlformats.org/drawingml/2006/chart" xmlns:ns1="http://schemas.openxmlformats.org/drawingml/2006/main" xmlns:r="http://schemas.openxmlformats.org/officeDocument/2006/relationships">
  <c:lang val="en-US"/>
  <c:chart>
    <c:plotArea>
      <c:layout>
        <c:manualLayout>
          <c:layoutTarget val="inner"/>
          <c:xMode val="edge"/>
          <c:yMode val="edge"/>
          <c:wMode val="factor"/>
          <c:hMode val="factor"/>
          <c:x val="0.14"/>
          <c:y val="0.06"/>
          <c:w val="0.82"/>
          <c:h val="0.8"/>
        </c:manualLayout>
      </c:layout>
      <c:scatterChart>
        <c:scatterStyle val="line"/>
        <c:ser>
          <c:idx val="0"/>
          <c:order val="0"/>
          <c:tx>
            <c:v>Vraag = GO</c:v>
          </c:tx>
          <c:spPr>
            <ns1:ln w="38100">
              <ns1:solidFill>
                <ns1:srgbClr val="1A5276"/>
              </ns1:solidFill>
            </ns1:ln>
          </c:spPr>
          <c:marker>
            <c:symbol val="none"/>
          </c:marker>
          <c:xVal>
            <c:numRef>
              <c:f>'Chart Data'!$A$2:$A$3</c:f>
              <c:numCache>
                <c:formatCode>General</c:formatCode>
                <c:ptCount val="2"/>
                <c:pt idx="0">
                  <c:v>0</c:v>
                </c:pt>
                <c:pt idx="1">
                  <c:v>50</c:v>
                </c:pt>
              </c:numCache>
            </c:numRef>
          </c:xVal>
          <c:yVal>
            <c:numRef>
              <c:f>'Chart Data'!$B$2:$B$3</c:f>
              <c:numCache>
                <c:formatCode>0</c:formatCode>
                <c:ptCount val="2"/>
                <c:pt idx="0">
                  <c:v>70</c:v>
                </c:pt>
                <c:pt idx="1">
                  <c:v>20</c:v>
                </c:pt>
              </c:numCache>
            </c:numRef>
          </c:yVal>
          <c:smooth val="0"/>
        </c:ser>
        <c:ser>
          <c:idx val="1"/>
          <c:order val="1"/>
          <c:tx>
            <c:v>MO</c:v>
          </c:tx>
          <c:spPr>
            <ns1:ln w="38100">
              <ns1:solidFill>
                <ns1:srgbClr val="7B2D8E"/>
              </ns1:solidFill>
              <ns1:prstDash val="dash"/>
            </ns1:ln>
          </c:spPr>
          <c:marker>
            <c:symbol val="none"/>
          </c:marker>
          <c:xVal>
            <c:numRef>
              <c:f>'Chart Data'!$C$2:$C$3</c:f>
              <c:numCache>
                <c:formatCode>General</c:formatCode>
                <c:ptCount val="2"/>
                <c:pt idx="0">
                  <c:v>0</c:v>
                </c:pt>
                <c:pt idx="1">
                  <c:v>35</c:v>
                </c:pt>
              </c:numCache>
            </c:numRef>
          </c:xVal>
          <c:yVal>
            <c:numRef>
              <c:f>'Chart Data'!$D$2:$D$3</c:f>
              <c:numCache>
                <c:formatCode>0</c:formatCode>
                <c:ptCount val="2"/>
                <c:pt idx="0">
                  <c:v>70</c:v>
                </c:pt>
                <c:pt idx="1">
                  <c:v>0</c:v>
                </c:pt>
              </c:numCache>
            </c:numRef>
          </c:yVal>
          <c:smooth val="0"/>
        </c:ser>
        <c:ser>
          <c:idx val="2"/>
          <c:order val="2"/>
          <c:tx>
            <c:v>MK</c:v>
          </c:tx>
          <c:spPr>
            <ns1:ln w="38100">
              <ns1:solidFill>
                <ns1:srgbClr val="A94D16"/>
              </ns1:solidFill>
            </ns1:ln>
          </c:spPr>
          <c:marker>
            <c:symbol val="none"/>
          </c:marker>
          <c:xVal>
            <c:numRef>
              <c:f>'Chart Data'!$E$2:$E$3</c:f>
              <c:numCache>
                <c:formatCode>General</c:formatCode>
                <c:ptCount val="2"/>
                <c:pt idx="0">
                  <c:v>0</c:v>
                </c:pt>
                <c:pt idx="1">
                  <c:v>50</c:v>
                </c:pt>
              </c:numCache>
            </c:numRef>
          </c:xVal>
          <c:yVal>
            <c:numRef>
              <c:f>'Chart Data'!$F$2:$F$3</c:f>
              <c:numCache>
                <c:formatCode>0</c:formatCode>
                <c:ptCount val="2"/>
                <c:pt idx="0">
                  <c:v>10</c:v>
                </c:pt>
                <c:pt idx="1">
                  <c:v>60</c:v>
                </c:pt>
              </c:numCache>
            </c:numRef>
          </c:yVal>
          <c:smooth val="0"/>
        </c:ser>
        <c:ser>
          <c:idx val="3"/>
          <c:order val="3"/>
          <c:tx>
            <c:v>hoeveelheid</c:v>
          </c:tx>
          <c:spPr>
            <ns1:ln w="14288">
              <ns1:solidFill>
                <ns1:srgbClr val="445B6B"/>
              </ns1:solidFill>
              <ns1:prstDash val="dash"/>
            </ns1:ln>
          </c:spPr>
          <c:marker>
            <c:symbol val="none"/>
          </c:marker>
          <c:xVal>
            <c:numRef>
              <c:f>'Chart Data'!$G$2:$G$3</c:f>
              <c:numCache>
                <c:formatCode>General</c:formatCode>
                <c:ptCount val="2"/>
                <c:pt idx="0">
                  <c:v>20</c:v>
                </c:pt>
                <c:pt idx="1">
                  <c:v>20</c:v>
                </c:pt>
              </c:numCache>
            </c:numRef>
          </c:xVal>
          <c:yVal>
            <c:numRef>
              <c:f>'Chart Data'!$H$2:$H$3</c:f>
              <c:numCache>
                <c:formatCode>0</c:formatCode>
                <c:ptCount val="2"/>
                <c:pt idx="0">
                  <c:v>0</c:v>
                </c:pt>
                <c:pt idx="1">
                  <c:v>50</c:v>
                </c:pt>
              </c:numCache>
            </c:numRef>
          </c:yVal>
          <c:smooth val="0"/>
        </c:ser>
        <c:ser>
          <c:idx val="4"/>
          <c:order val="4"/>
          <c:tx>
            <c:v>hoge prijs</c:v>
          </c:tx>
          <c:spPr>
            <ns1:ln w="14288">
              <ns1:solidFill>
                <ns1:srgbClr val="445B6B"/>
              </ns1:solidFill>
              <ns1:prstDash val="dash"/>
            </ns1:ln>
          </c:spPr>
          <c:marker>
            <c:symbol val="none"/>
          </c:marker>
          <c:xVal>
            <c:numRef>
              <c:f>'Chart Data'!$I$2:$I$3</c:f>
              <c:numCache>
                <c:formatCode>General</c:formatCode>
                <c:ptCount val="2"/>
                <c:pt idx="0">
                  <c:v>0</c:v>
                </c:pt>
                <c:pt idx="1">
                  <c:v>20</c:v>
                </c:pt>
              </c:numCache>
            </c:numRef>
          </c:xVal>
          <c:yVal>
            <c:numRef>
              <c:f>'Chart Data'!$J$2:$J$3</c:f>
              <c:numCache>
                <c:formatCode>0</c:formatCode>
                <c:ptCount val="2"/>
                <c:pt idx="0">
                  <c:v>50</c:v>
                </c:pt>
                <c:pt idx="1">
                  <c:v>50</c:v>
                </c:pt>
              </c:numCache>
            </c:numRef>
          </c:yVal>
          <c:smooth val="0"/>
        </c:ser>
        <c:ser>
          <c:idx val="5"/>
          <c:order val="5"/>
          <c:tx>
            <c:v>lage prijs</c:v>
          </c:tx>
          <c:spPr>
            <ns1:ln w="14288">
              <ns1:solidFill>
                <ns1:srgbClr val="445B6B"/>
              </ns1:solidFill>
              <ns1:prstDash val="dash"/>
            </ns1:ln>
          </c:spPr>
          <c:marker>
            <c:symbol val="none"/>
          </c:marker>
          <c:xVal>
            <c:numRef>
              <c:f>'Chart Data'!$K$2:$K$3</c:f>
              <c:numCache>
                <c:formatCode>General</c:formatCode>
                <c:ptCount val="2"/>
                <c:pt idx="0">
                  <c:v>0</c:v>
                </c:pt>
                <c:pt idx="1">
                  <c:v>20</c:v>
                </c:pt>
              </c:numCache>
            </c:numRef>
          </c:xVal>
          <c:yVal>
            <c:numRef>
              <c:f>'Chart Data'!$L$2:$L$3</c:f>
              <c:numCache>
                <c:formatCode>0</c:formatCode>
                <c:ptCount val="2"/>
                <c:pt idx="0">
                  <c:v>30</c:v>
                </c:pt>
                <c:pt idx="1">
                  <c:v>30</c:v>
                </c:pt>
              </c:numCache>
            </c:numRef>
          </c:yVal>
          <c:smooth val="0"/>
        </c:ser>
        <c:dLbls>
          <c:txPr>
            <ns1:bodyPr anchorCtr="1"/>
            <ns1:lstStyle/>
            <ns1:p>
              <ns1:pPr>
                <ns1:defRPr>
                  <ns1:latin typeface="Arial"/>
                  <ns1:ea typeface="Arial"/>
                  <ns1:cs typeface="Arial"/>
                </ns1:defRPr>
              </ns1:pPr>
            </ns1:p>
          </c:txPr>
          <c:showLegendKey val="0"/>
          <c:showVal val="0"/>
          <c:showCatName val="0"/>
          <c:showSerName val="0"/>
          <c:showPercent val="0"/>
          <c:showBubbleSize val="0"/>
          <c:showLeaderLines val="0"/>
        </c:dLbls>
        <c:axId val="48650112"/>
        <c:axId val="48672768"/>
      </c:scatterChart>
      <c:valAx>
        <c:axId val="48672768"/>
        <c:scaling>
          <c:orientation val="minMax"/>
          <c:max val="80"/>
          <c:min val="0"/>
        </c:scaling>
        <c:delete val="0"/>
        <c:axPos val="l"/>
        <c:majorGridlines>
          <c:spPr>
            <ns1:ln w="5715">
              <ns1:solidFill>
                <ns1:srgbClr val="C6D2DB"/>
              </ns1:solidFill>
            </ns1:ln>
          </c:spPr>
        </c:majorGridlines>
        <c:title>
          <c:tx>
            <c:rich>
              <ns1:bodyPr/>
              <ns1:lstStyle/>
              <ns1:p>
                <ns1:r>
                  <ns1:rPr sz="1875">
                    <ns1:solidFill>
                      <ns1:srgbClr val="183247"/>
                    </ns1:solidFill>
                    <ns1:latin typeface="Arial"/>
                    <ns1:ea typeface="Arial"/>
                    <ns1:cs typeface="Arial"/>
                  </ns1:rPr>
                  <ns1:t>P, MO en MK (€ per sessie)</ns1:t>
                </ns1:r>
              </ns1:p>
            </c:rich>
          </c:tx>
          <c:overlay val="0"/>
          <c:txPr>
            <ns1:bodyPr anchorCtr="1"/>
            <ns1:lstStyle/>
            <ns1:p>
              <ns1:pPr>
                <ns1:defRPr sz="1875">
                  <ns1:solidFill>
                    <ns1:srgbClr val="183247"/>
                  </ns1:solidFill>
                  <ns1:latin typeface="Arial"/>
                  <ns1:ea typeface="Arial"/>
                  <ns1:cs typeface="Arial"/>
                </ns1:defRPr>
              </ns1:pPr>
            </ns1:p>
          </c:txPr>
        </c:title>
        <c:numFmt formatCode="0"/>
        <c:majorTickMark val="none"/>
        <c:minorTickMark val="none"/>
        <c:spPr>
          <ns1:ln w="14288">
            <ns1:solidFill>
              <ns1:srgbClr val="183247"/>
            </ns1:solidFill>
          </ns1:ln>
        </c:spPr>
        <c:txPr>
          <ns1:bodyPr anchorCtr="1"/>
          <ns1:lstStyle/>
          <ns1:p>
            <ns1:pPr>
              <ns1:defRPr sz="1800">
                <ns1:solidFill>
                  <ns1:srgbClr val="183247"/>
                </ns1:solidFill>
                <ns1:latin typeface="Arial"/>
                <ns1:ea typeface="Arial"/>
                <ns1:cs typeface="Arial"/>
              </ns1:defRPr>
            </ns1:pPr>
          </ns1:p>
        </c:txPr>
        <c:crossAx val="48650112"/>
        <c:majorUnit val="10"/>
      </c:valAx>
      <c:valAx>
        <c:axId val="48650112"/>
        <c:scaling>
          <c:orientation val="minMax"/>
          <c:max val="50"/>
          <c:min val="0"/>
        </c:scaling>
        <c:delete val="0"/>
        <c:axPos val="b"/>
        <c:title>
          <c:tx>
            <c:rich>
              <ns1:bodyPr/>
              <ns1:lstStyle/>
              <ns1:p>
                <ns1:r>
                  <ns1:rPr sz="1875">
                    <ns1:solidFill>
                      <ns1:srgbClr val="183247"/>
                    </ns1:solidFill>
                    <ns1:latin typeface="Arial"/>
                    <ns1:ea typeface="Arial"/>
                    <ns1:cs typeface="Arial"/>
                  </ns1:rPr>
                  <ns1:t>Q (sessies per week)</ns1:t>
                </ns1:r>
              </ns1:p>
            </c:rich>
          </c:tx>
          <c:overlay val="0"/>
          <c:txPr>
            <ns1:bodyPr anchorCtr="1"/>
            <ns1:lstStyle/>
            <ns1:p>
              <ns1:pPr>
                <ns1:defRPr sz="1875">
                  <ns1:solidFill>
                    <ns1:srgbClr val="183247"/>
                  </ns1:solidFill>
                  <ns1:latin typeface="Arial"/>
                  <ns1:ea typeface="Arial"/>
                  <ns1:cs typeface="Arial"/>
                </ns1:defRPr>
              </ns1:pPr>
            </ns1:p>
          </c:txPr>
        </c:title>
        <c:numFmt formatCode="0"/>
        <c:majorTickMark val="none"/>
        <c:minorTickMark val="none"/>
        <c:spPr>
          <ns1:ln w="14288">
            <ns1:solidFill>
              <ns1:srgbClr val="183247"/>
            </ns1:solidFill>
          </ns1:ln>
        </c:spPr>
        <c:txPr>
          <ns1:bodyPr anchorCtr="1"/>
          <ns1:lstStyle/>
          <ns1:p>
            <ns1:pPr>
              <ns1:defRPr sz="1800">
                <ns1:solidFill>
                  <ns1:srgbClr val="183247"/>
                </ns1:solidFill>
                <ns1:latin typeface="Arial"/>
                <ns1:ea typeface="Arial"/>
                <ns1:cs typeface="Arial"/>
              </ns1:defRPr>
            </ns1:pPr>
          </ns1:p>
        </c:txPr>
        <c:crossAx val="48672768"/>
        <c:majorUnit val="10"/>
      </c:valAx>
      <c:spPr>
        <ns1:noFill/>
      </c:spPr>
    </c:plotArea>
    <c:plotVisOnly val="1"/>
  </c:chart>
  <c:spPr>
    <ns1:noFill/>
  </c:spPr>
  <c:externalData r:id="rIdChartSnapshot1">
    <c:autoUpdate val="0"/>
  </c:externalData>
</c:chartSpace>
</file>

<file path=ppt/slides/charts/chart4.xml><?xml version="1.0" encoding="utf-8"?>
<c:chartSpace xmlns:c="http://schemas.openxmlformats.org/drawingml/2006/chart" xmlns:ns1="http://schemas.openxmlformats.org/drawingml/2006/main" xmlns:r="http://schemas.openxmlformats.org/officeDocument/2006/relationships">
  <c:lang val="en-US"/>
  <c:chart>
    <c:plotArea>
      <c:layout>
        <c:manualLayout>
          <c:layoutTarget val="inner"/>
          <c:xMode val="edge"/>
          <c:yMode val="edge"/>
          <c:wMode val="factor"/>
          <c:hMode val="factor"/>
          <c:x val="0.14"/>
          <c:y val="0.06"/>
          <c:w val="0.82"/>
          <c:h val="0.8"/>
        </c:manualLayout>
      </c:layout>
      <c:scatterChart>
        <c:scatterStyle val="line"/>
        <c:ser>
          <c:idx val="0"/>
          <c:order val="0"/>
          <c:tx>
            <c:v>Vraag = GO</c:v>
          </c:tx>
          <c:spPr>
            <ns1:ln w="38100">
              <ns1:solidFill>
                <ns1:srgbClr val="1A5276"/>
              </ns1:solidFill>
            </ns1:ln>
          </c:spPr>
          <c:marker>
            <c:symbol val="none"/>
          </c:marker>
          <c:xVal>
            <c:numRef>
              <c:f>'Chart Data'!$A$2:$A$3</c:f>
              <c:numCache>
                <c:formatCode>General</c:formatCode>
                <c:ptCount val="2"/>
                <c:pt idx="0">
                  <c:v>0</c:v>
                </c:pt>
                <c:pt idx="1">
                  <c:v>50</c:v>
                </c:pt>
              </c:numCache>
            </c:numRef>
          </c:xVal>
          <c:yVal>
            <c:numRef>
              <c:f>'Chart Data'!$B$2:$B$3</c:f>
              <c:numCache>
                <c:formatCode>0</c:formatCode>
                <c:ptCount val="2"/>
                <c:pt idx="0">
                  <c:v>70</c:v>
                </c:pt>
                <c:pt idx="1">
                  <c:v>20</c:v>
                </c:pt>
              </c:numCache>
            </c:numRef>
          </c:yVal>
          <c:smooth val="0"/>
        </c:ser>
        <c:ser>
          <c:idx val="1"/>
          <c:order val="1"/>
          <c:tx>
            <c:v>MO</c:v>
          </c:tx>
          <c:spPr>
            <ns1:ln w="38100">
              <ns1:solidFill>
                <ns1:srgbClr val="7B2D8E"/>
              </ns1:solidFill>
              <ns1:prstDash val="dash"/>
            </ns1:ln>
          </c:spPr>
          <c:marker>
            <c:symbol val="none"/>
          </c:marker>
          <c:xVal>
            <c:numRef>
              <c:f>'Chart Data'!$C$2:$C$3</c:f>
              <c:numCache>
                <c:formatCode>General</c:formatCode>
                <c:ptCount val="2"/>
                <c:pt idx="0">
                  <c:v>0</c:v>
                </c:pt>
                <c:pt idx="1">
                  <c:v>35</c:v>
                </c:pt>
              </c:numCache>
            </c:numRef>
          </c:xVal>
          <c:yVal>
            <c:numRef>
              <c:f>'Chart Data'!$D$2:$D$3</c:f>
              <c:numCache>
                <c:formatCode>0</c:formatCode>
                <c:ptCount val="2"/>
                <c:pt idx="0">
                  <c:v>70</c:v>
                </c:pt>
                <c:pt idx="1">
                  <c:v>0</c:v>
                </c:pt>
              </c:numCache>
            </c:numRef>
          </c:yVal>
          <c:smooth val="0"/>
        </c:ser>
        <c:ser>
          <c:idx val="2"/>
          <c:order val="2"/>
          <c:tx>
            <c:v>MK</c:v>
          </c:tx>
          <c:spPr>
            <ns1:ln w="38100">
              <ns1:solidFill>
                <ns1:srgbClr val="A94D16"/>
              </ns1:solidFill>
            </ns1:ln>
          </c:spPr>
          <c:marker>
            <c:symbol val="none"/>
          </c:marker>
          <c:xVal>
            <c:numRef>
              <c:f>'Chart Data'!$E$2:$E$3</c:f>
              <c:numCache>
                <c:formatCode>General</c:formatCode>
                <c:ptCount val="2"/>
                <c:pt idx="0">
                  <c:v>0</c:v>
                </c:pt>
                <c:pt idx="1">
                  <c:v>50</c:v>
                </c:pt>
              </c:numCache>
            </c:numRef>
          </c:xVal>
          <c:yVal>
            <c:numRef>
              <c:f>'Chart Data'!$F$2:$F$3</c:f>
              <c:numCache>
                <c:formatCode>0</c:formatCode>
                <c:ptCount val="2"/>
                <c:pt idx="0">
                  <c:v>10</c:v>
                </c:pt>
                <c:pt idx="1">
                  <c:v>60</c:v>
                </c:pt>
              </c:numCache>
            </c:numRef>
          </c:yVal>
          <c:smooth val="0"/>
        </c:ser>
        <c:ser>
          <c:idx val="3"/>
          <c:order val="3"/>
          <c:tx>
            <c:v>hoeveelheid</c:v>
          </c:tx>
          <c:spPr>
            <ns1:ln w="14288">
              <ns1:solidFill>
                <ns1:srgbClr val="445B6B"/>
              </ns1:solidFill>
              <ns1:prstDash val="dash"/>
            </ns1:ln>
          </c:spPr>
          <c:marker>
            <c:symbol val="none"/>
          </c:marker>
          <c:xVal>
            <c:numRef>
              <c:f>'Chart Data'!$G$2:$G$3</c:f>
              <c:numCache>
                <c:formatCode>General</c:formatCode>
                <c:ptCount val="2"/>
                <c:pt idx="0">
                  <c:v>20</c:v>
                </c:pt>
                <c:pt idx="1">
                  <c:v>20</c:v>
                </c:pt>
              </c:numCache>
            </c:numRef>
          </c:xVal>
          <c:yVal>
            <c:numRef>
              <c:f>'Chart Data'!$H$2:$H$3</c:f>
              <c:numCache>
                <c:formatCode>0</c:formatCode>
                <c:ptCount val="2"/>
                <c:pt idx="0">
                  <c:v>0</c:v>
                </c:pt>
                <c:pt idx="1">
                  <c:v>50</c:v>
                </c:pt>
              </c:numCache>
            </c:numRef>
          </c:yVal>
          <c:smooth val="0"/>
        </c:ser>
        <c:ser>
          <c:idx val="4"/>
          <c:order val="4"/>
          <c:tx>
            <c:v>hoge prijs</c:v>
          </c:tx>
          <c:spPr>
            <ns1:ln w="14288">
              <ns1:solidFill>
                <ns1:srgbClr val="445B6B"/>
              </ns1:solidFill>
              <ns1:prstDash val="dash"/>
            </ns1:ln>
          </c:spPr>
          <c:marker>
            <c:symbol val="none"/>
          </c:marker>
          <c:xVal>
            <c:numRef>
              <c:f>'Chart Data'!$I$2:$I$3</c:f>
              <c:numCache>
                <c:formatCode>General</c:formatCode>
                <c:ptCount val="2"/>
                <c:pt idx="0">
                  <c:v>0</c:v>
                </c:pt>
                <c:pt idx="1">
                  <c:v>20</c:v>
                </c:pt>
              </c:numCache>
            </c:numRef>
          </c:xVal>
          <c:yVal>
            <c:numRef>
              <c:f>'Chart Data'!$J$2:$J$3</c:f>
              <c:numCache>
                <c:formatCode>0</c:formatCode>
                <c:ptCount val="2"/>
                <c:pt idx="0">
                  <c:v>50</c:v>
                </c:pt>
                <c:pt idx="1">
                  <c:v>50</c:v>
                </c:pt>
              </c:numCache>
            </c:numRef>
          </c:yVal>
          <c:smooth val="0"/>
        </c:ser>
        <c:ser>
          <c:idx val="5"/>
          <c:order val="5"/>
          <c:tx>
            <c:v>lage prijs</c:v>
          </c:tx>
          <c:spPr>
            <ns1:ln w="14288">
              <ns1:solidFill>
                <ns1:srgbClr val="445B6B"/>
              </ns1:solidFill>
              <ns1:prstDash val="dash"/>
            </ns1:ln>
          </c:spPr>
          <c:marker>
            <c:symbol val="none"/>
          </c:marker>
          <c:xVal>
            <c:numRef>
              <c:f>'Chart Data'!$K$2:$K$3</c:f>
              <c:numCache>
                <c:formatCode>General</c:formatCode>
                <c:ptCount val="2"/>
                <c:pt idx="0">
                  <c:v>0</c:v>
                </c:pt>
                <c:pt idx="1">
                  <c:v>20</c:v>
                </c:pt>
              </c:numCache>
            </c:numRef>
          </c:xVal>
          <c:yVal>
            <c:numRef>
              <c:f>'Chart Data'!$L$2:$L$3</c:f>
              <c:numCache>
                <c:formatCode>0</c:formatCode>
                <c:ptCount val="2"/>
                <c:pt idx="0">
                  <c:v>30</c:v>
                </c:pt>
                <c:pt idx="1">
                  <c:v>30</c:v>
                </c:pt>
              </c:numCache>
            </c:numRef>
          </c:yVal>
          <c:smooth val="0"/>
        </c:ser>
        <c:ser>
          <c:idx val="6"/>
          <c:order val="6"/>
          <c:tx>
            <c:v>efficiënt</c:v>
          </c:tx>
          <c:spPr>
            <ns1:ln w="14288">
              <ns1:solidFill>
                <ns1:srgbClr val="445B6B"/>
              </ns1:solidFill>
              <ns1:prstDash val="dash"/>
            </ns1:ln>
          </c:spPr>
          <c:marker>
            <c:symbol val="none"/>
          </c:marker>
          <c:xVal>
            <c:numRef>
              <c:f>'Chart Data'!$M$2:$M$3</c:f>
              <c:numCache>
                <c:formatCode>General</c:formatCode>
                <c:ptCount val="2"/>
                <c:pt idx="0">
                  <c:v>30</c:v>
                </c:pt>
                <c:pt idx="1">
                  <c:v>30</c:v>
                </c:pt>
              </c:numCache>
            </c:numRef>
          </c:xVal>
          <c:yVal>
            <c:numRef>
              <c:f>'Chart Data'!$N$2:$N$3</c:f>
              <c:numCache>
                <c:formatCode>0</c:formatCode>
                <c:ptCount val="2"/>
                <c:pt idx="0">
                  <c:v>0</c:v>
                </c:pt>
                <c:pt idx="1">
                  <c:v>40</c:v>
                </c:pt>
              </c:numCache>
            </c:numRef>
          </c:yVal>
          <c:smooth val="0"/>
        </c:ser>
        <c:dLbls>
          <c:txPr>
            <ns1:bodyPr anchorCtr="1"/>
            <ns1:lstStyle/>
            <ns1:p>
              <ns1:pPr>
                <ns1:defRPr>
                  <ns1:latin typeface="Arial"/>
                  <ns1:ea typeface="Arial"/>
                  <ns1:cs typeface="Arial"/>
                </ns1:defRPr>
              </ns1:pPr>
            </ns1:p>
          </c:txPr>
          <c:showLegendKey val="0"/>
          <c:showVal val="0"/>
          <c:showCatName val="0"/>
          <c:showSerName val="0"/>
          <c:showPercent val="0"/>
          <c:showBubbleSize val="0"/>
          <c:showLeaderLines val="0"/>
        </c:dLbls>
        <c:axId val="48650112"/>
        <c:axId val="48672768"/>
      </c:scatterChart>
      <c:valAx>
        <c:axId val="48672768"/>
        <c:scaling>
          <c:orientation val="minMax"/>
          <c:max val="80"/>
          <c:min val="0"/>
        </c:scaling>
        <c:delete val="0"/>
        <c:axPos val="l"/>
        <c:majorGridlines>
          <c:spPr>
            <ns1:ln w="5715">
              <ns1:solidFill>
                <ns1:srgbClr val="C6D2DB"/>
              </ns1:solidFill>
            </ns1:ln>
          </c:spPr>
        </c:majorGridlines>
        <c:title>
          <c:tx>
            <c:rich>
              <ns1:bodyPr/>
              <ns1:lstStyle/>
              <ns1:p>
                <ns1:r>
                  <ns1:rPr sz="1875">
                    <ns1:solidFill>
                      <ns1:srgbClr val="183247"/>
                    </ns1:solidFill>
                    <ns1:latin typeface="Arial"/>
                    <ns1:ea typeface="Arial"/>
                    <ns1:cs typeface="Arial"/>
                  </ns1:rPr>
                  <ns1:t>P, MO en MK (€ per sessie)</ns1:t>
                </ns1:r>
              </ns1:p>
            </c:rich>
          </c:tx>
          <c:overlay val="0"/>
          <c:txPr>
            <ns1:bodyPr anchorCtr="1"/>
            <ns1:lstStyle/>
            <ns1:p>
              <ns1:pPr>
                <ns1:defRPr sz="1875">
                  <ns1:solidFill>
                    <ns1:srgbClr val="183247"/>
                  </ns1:solidFill>
                  <ns1:latin typeface="Arial"/>
                  <ns1:ea typeface="Arial"/>
                  <ns1:cs typeface="Arial"/>
                </ns1:defRPr>
              </ns1:pPr>
            </ns1:p>
          </c:txPr>
        </c:title>
        <c:numFmt formatCode="0"/>
        <c:majorTickMark val="none"/>
        <c:minorTickMark val="none"/>
        <c:spPr>
          <ns1:ln w="14288">
            <ns1:solidFill>
              <ns1:srgbClr val="183247"/>
            </ns1:solidFill>
          </ns1:ln>
        </c:spPr>
        <c:txPr>
          <ns1:bodyPr anchorCtr="1"/>
          <ns1:lstStyle/>
          <ns1:p>
            <ns1:pPr>
              <ns1:defRPr sz="1800">
                <ns1:solidFill>
                  <ns1:srgbClr val="183247"/>
                </ns1:solidFill>
                <ns1:latin typeface="Arial"/>
                <ns1:ea typeface="Arial"/>
                <ns1:cs typeface="Arial"/>
              </ns1:defRPr>
            </ns1:pPr>
          </ns1:p>
        </c:txPr>
        <c:crossAx val="48650112"/>
        <c:majorUnit val="10"/>
      </c:valAx>
      <c:valAx>
        <c:axId val="48650112"/>
        <c:scaling>
          <c:orientation val="minMax"/>
          <c:max val="50"/>
          <c:min val="0"/>
        </c:scaling>
        <c:delete val="0"/>
        <c:axPos val="b"/>
        <c:title>
          <c:tx>
            <c:rich>
              <ns1:bodyPr/>
              <ns1:lstStyle/>
              <ns1:p>
                <ns1:r>
                  <ns1:rPr sz="1875">
                    <ns1:solidFill>
                      <ns1:srgbClr val="183247"/>
                    </ns1:solidFill>
                    <ns1:latin typeface="Arial"/>
                    <ns1:ea typeface="Arial"/>
                    <ns1:cs typeface="Arial"/>
                  </ns1:rPr>
                  <ns1:t>Q (sessies per week)</ns1:t>
                </ns1:r>
              </ns1:p>
            </c:rich>
          </c:tx>
          <c:overlay val="0"/>
          <c:txPr>
            <ns1:bodyPr anchorCtr="1"/>
            <ns1:lstStyle/>
            <ns1:p>
              <ns1:pPr>
                <ns1:defRPr sz="1875">
                  <ns1:solidFill>
                    <ns1:srgbClr val="183247"/>
                  </ns1:solidFill>
                  <ns1:latin typeface="Arial"/>
                  <ns1:ea typeface="Arial"/>
                  <ns1:cs typeface="Arial"/>
                </ns1:defRPr>
              </ns1:pPr>
            </ns1:p>
          </c:txPr>
        </c:title>
        <c:numFmt formatCode="0"/>
        <c:majorTickMark val="none"/>
        <c:minorTickMark val="none"/>
        <c:spPr>
          <ns1:ln w="14288">
            <ns1:solidFill>
              <ns1:srgbClr val="183247"/>
            </ns1:solidFill>
          </ns1:ln>
        </c:spPr>
        <c:txPr>
          <ns1:bodyPr anchorCtr="1"/>
          <ns1:lstStyle/>
          <ns1:p>
            <ns1:pPr>
              <ns1:defRPr sz="1800">
                <ns1:solidFill>
                  <ns1:srgbClr val="183247"/>
                </ns1:solidFill>
                <ns1:latin typeface="Arial"/>
                <ns1:ea typeface="Arial"/>
                <ns1:cs typeface="Arial"/>
              </ns1:defRPr>
            </ns1:pPr>
          </ns1:p>
        </c:txPr>
        <c:crossAx val="48672768"/>
        <c:majorUnit val="10"/>
      </c:valAx>
      <c:spPr>
        <ns1:noFill/>
      </c:spPr>
    </c:plotArea>
    <c:plotVisOnly val="1"/>
  </c:chart>
  <c:spPr>
    <ns1:noFill/>
  </c:spPr>
  <c:externalData r:id="rIdChartSnapshot1">
    <c:autoUpdate val="0"/>
  </c:externalData>
</c:chartSpace>
</file>

<file path=ppt/slides/charts/chart5.xml><?xml version="1.0" encoding="utf-8"?>
<c:chartSpace xmlns:c="http://schemas.openxmlformats.org/drawingml/2006/chart" xmlns:ns1="http://schemas.openxmlformats.org/drawingml/2006/main" xmlns:r="http://schemas.openxmlformats.org/officeDocument/2006/relationships">
  <c:lang val="en-US"/>
  <c:chart>
    <c:plotArea>
      <c:layout>
        <c:manualLayout>
          <c:layoutTarget val="inner"/>
          <c:xMode val="edge"/>
          <c:yMode val="edge"/>
          <c:wMode val="factor"/>
          <c:hMode val="factor"/>
          <c:x val="0.14"/>
          <c:y val="0.06"/>
          <c:w val="0.82"/>
          <c:h val="0.8"/>
        </c:manualLayout>
      </c:layout>
      <c:scatterChart>
        <c:scatterStyle val="line"/>
        <c:ser>
          <c:idx val="0"/>
          <c:order val="0"/>
          <c:tx>
            <c:v>Vraag</c:v>
          </c:tx>
          <c:spPr>
            <ns1:ln w="38100">
              <ns1:solidFill>
                <ns1:srgbClr val="1A5276"/>
              </ns1:solidFill>
            </ns1:ln>
          </c:spPr>
          <c:marker>
            <c:symbol val="none"/>
          </c:marker>
          <c:xVal>
            <c:numRef>
              <c:f>'Chart Data'!$A$2:$A$3</c:f>
              <c:numCache>
                <c:formatCode>General</c:formatCode>
                <c:ptCount val="2"/>
                <c:pt idx="0">
                  <c:v>0</c:v>
                </c:pt>
                <c:pt idx="1">
                  <c:v>60</c:v>
                </c:pt>
              </c:numCache>
            </c:numRef>
          </c:xVal>
          <c:yVal>
            <c:numRef>
              <c:f>'Chart Data'!$B$2:$B$3</c:f>
              <c:numCache>
                <c:formatCode>0</c:formatCode>
                <c:ptCount val="2"/>
                <c:pt idx="0">
                  <c:v>60</c:v>
                </c:pt>
                <c:pt idx="1">
                  <c:v>0</c:v>
                </c:pt>
              </c:numCache>
            </c:numRef>
          </c:yVal>
          <c:smooth val="0"/>
        </c:ser>
        <c:ser>
          <c:idx val="1"/>
          <c:order val="1"/>
          <c:tx>
            <c:v>A = MK privé</c:v>
          </c:tx>
          <c:spPr>
            <ns1:ln w="38100">
              <ns1:solidFill>
                <ns1:srgbClr val="20665B"/>
              </ns1:solidFill>
            </ns1:ln>
          </c:spPr>
          <c:marker>
            <c:symbol val="none"/>
          </c:marker>
          <c:xVal>
            <c:numRef>
              <c:f>'Chart Data'!$C$2:$C$3</c:f>
              <c:numCache>
                <c:formatCode>General</c:formatCode>
                <c:ptCount val="2"/>
                <c:pt idx="0">
                  <c:v>0</c:v>
                </c:pt>
                <c:pt idx="1">
                  <c:v>60</c:v>
                </c:pt>
              </c:numCache>
            </c:numRef>
          </c:xVal>
          <c:yVal>
            <c:numRef>
              <c:f>'Chart Data'!$D$2:$D$3</c:f>
              <c:numCache>
                <c:formatCode>0</c:formatCode>
                <c:ptCount val="2"/>
                <c:pt idx="0">
                  <c:v>0</c:v>
                </c:pt>
                <c:pt idx="1">
                  <c:v>60</c:v>
                </c:pt>
              </c:numCache>
            </c:numRef>
          </c:yVal>
          <c:smooth val="0"/>
        </c:ser>
        <c:ser>
          <c:idx val="2"/>
          <c:order val="2"/>
          <c:tx>
            <c:v>MK maatschappelijk</c:v>
          </c:tx>
          <c:spPr>
            <ns1:ln w="38100">
              <ns1:solidFill>
                <ns1:srgbClr val="A94D16"/>
              </ns1:solidFill>
              <ns1:prstDash val="dash"/>
            </ns1:ln>
          </c:spPr>
          <c:marker>
            <c:symbol val="none"/>
          </c:marker>
          <c:xVal>
            <c:numRef>
              <c:f>'Chart Data'!$E$2:$E$3</c:f>
              <c:numCache>
                <c:formatCode>General</c:formatCode>
                <c:ptCount val="2"/>
                <c:pt idx="0">
                  <c:v>0</c:v>
                </c:pt>
                <c:pt idx="1">
                  <c:v>60</c:v>
                </c:pt>
              </c:numCache>
            </c:numRef>
          </c:xVal>
          <c:yVal>
            <c:numRef>
              <c:f>'Chart Data'!$F$2:$F$3</c:f>
              <c:numCache>
                <c:formatCode>0</c:formatCode>
                <c:ptCount val="2"/>
                <c:pt idx="0">
                  <c:v>20</c:v>
                </c:pt>
                <c:pt idx="1">
                  <c:v>80</c:v>
                </c:pt>
              </c:numCache>
            </c:numRef>
          </c:yVal>
          <c:smooth val="0"/>
        </c:ser>
        <c:ser>
          <c:idx val="3"/>
          <c:order val="3"/>
          <c:tx>
            <c:v>hoeveelheid</c:v>
          </c:tx>
          <c:spPr>
            <ns1:ln w="14288">
              <ns1:solidFill>
                <ns1:srgbClr val="445B6B"/>
              </ns1:solidFill>
              <ns1:prstDash val="dash"/>
            </ns1:ln>
          </c:spPr>
          <c:marker>
            <c:symbol val="none"/>
          </c:marker>
          <c:xVal>
            <c:numRef>
              <c:f>'Chart Data'!$G$2:$G$3</c:f>
              <c:numCache>
                <c:formatCode>General</c:formatCode>
                <c:ptCount val="2"/>
                <c:pt idx="0">
                  <c:v>20</c:v>
                </c:pt>
                <c:pt idx="1">
                  <c:v>20</c:v>
                </c:pt>
              </c:numCache>
            </c:numRef>
          </c:xVal>
          <c:yVal>
            <c:numRef>
              <c:f>'Chart Data'!$H$2:$H$3</c:f>
              <c:numCache>
                <c:formatCode>0</c:formatCode>
                <c:ptCount val="2"/>
                <c:pt idx="0">
                  <c:v>0</c:v>
                </c:pt>
                <c:pt idx="1">
                  <c:v>40</c:v>
                </c:pt>
              </c:numCache>
            </c:numRef>
          </c:yVal>
          <c:smooth val="0"/>
        </c:ser>
        <c:ser>
          <c:idx val="4"/>
          <c:order val="4"/>
          <c:tx>
            <c:v>hoge prijs</c:v>
          </c:tx>
          <c:spPr>
            <ns1:ln w="14288">
              <ns1:solidFill>
                <ns1:srgbClr val="445B6B"/>
              </ns1:solidFill>
              <ns1:prstDash val="dash"/>
            </ns1:ln>
          </c:spPr>
          <c:marker>
            <c:symbol val="none"/>
          </c:marker>
          <c:xVal>
            <c:numRef>
              <c:f>'Chart Data'!$I$2:$I$3</c:f>
              <c:numCache>
                <c:formatCode>General</c:formatCode>
                <c:ptCount val="2"/>
                <c:pt idx="0">
                  <c:v>0</c:v>
                </c:pt>
                <c:pt idx="1">
                  <c:v>20</c:v>
                </c:pt>
              </c:numCache>
            </c:numRef>
          </c:xVal>
          <c:yVal>
            <c:numRef>
              <c:f>'Chart Data'!$J$2:$J$3</c:f>
              <c:numCache>
                <c:formatCode>0</c:formatCode>
                <c:ptCount val="2"/>
                <c:pt idx="0">
                  <c:v>40</c:v>
                </c:pt>
                <c:pt idx="1">
                  <c:v>40</c:v>
                </c:pt>
              </c:numCache>
            </c:numRef>
          </c:yVal>
          <c:smooth val="0"/>
        </c:ser>
        <c:ser>
          <c:idx val="5"/>
          <c:order val="5"/>
          <c:tx>
            <c:v>lage prijs</c:v>
          </c:tx>
          <c:spPr>
            <ns1:ln w="14288">
              <ns1:solidFill>
                <ns1:srgbClr val="445B6B"/>
              </ns1:solidFill>
              <ns1:prstDash val="dash"/>
            </ns1:ln>
          </c:spPr>
          <c:marker>
            <c:symbol val="none"/>
          </c:marker>
          <c:xVal>
            <c:numRef>
              <c:f>'Chart Data'!$K$2:$K$3</c:f>
              <c:numCache>
                <c:formatCode>General</c:formatCode>
                <c:ptCount val="2"/>
                <c:pt idx="0">
                  <c:v>0</c:v>
                </c:pt>
                <c:pt idx="1">
                  <c:v>20</c:v>
                </c:pt>
              </c:numCache>
            </c:numRef>
          </c:xVal>
          <c:yVal>
            <c:numRef>
              <c:f>'Chart Data'!$L$2:$L$3</c:f>
              <c:numCache>
                <c:formatCode>0</c:formatCode>
                <c:ptCount val="2"/>
                <c:pt idx="0">
                  <c:v>20</c:v>
                </c:pt>
                <c:pt idx="1">
                  <c:v>20</c:v>
                </c:pt>
              </c:numCache>
            </c:numRef>
          </c:yVal>
          <c:smooth val="0"/>
        </c:ser>
        <c:ser>
          <c:idx val="6"/>
          <c:order val="6"/>
          <c:tx>
            <c:v>belastingwig</c:v>
          </c:tx>
          <c:spPr>
            <ns1:ln w="47625">
              <ns1:solidFill>
                <ns1:srgbClr val="A94D16"/>
              </ns1:solidFill>
            </ns1:ln>
          </c:spPr>
          <c:marker>
            <c:symbol val="none"/>
          </c:marker>
          <c:xVal>
            <c:numRef>
              <c:f>'Chart Data'!$M$2:$M$3</c:f>
              <c:numCache>
                <c:formatCode>General</c:formatCode>
                <c:ptCount val="2"/>
                <c:pt idx="0">
                  <c:v>20</c:v>
                </c:pt>
                <c:pt idx="1">
                  <c:v>20</c:v>
                </c:pt>
              </c:numCache>
            </c:numRef>
          </c:xVal>
          <c:yVal>
            <c:numRef>
              <c:f>'Chart Data'!$N$2:$N$3</c:f>
              <c:numCache>
                <c:formatCode>0</c:formatCode>
                <c:ptCount val="2"/>
                <c:pt idx="0">
                  <c:v>20</c:v>
                </c:pt>
                <c:pt idx="1">
                  <c:v>40</c:v>
                </c:pt>
              </c:numCache>
            </c:numRef>
          </c:yVal>
          <c:smooth val="0"/>
        </c:ser>
        <c:ser>
          <c:idx val="7"/>
          <c:order val="7"/>
          <c:tx>
            <c:v>oude hoeveelheid</c:v>
          </c:tx>
          <c:spPr>
            <ns1:ln w="14288">
              <ns1:solidFill>
                <ns1:srgbClr val="445B6B"/>
              </ns1:solidFill>
              <ns1:prstDash val="dash"/>
            </ns1:ln>
          </c:spPr>
          <c:marker>
            <c:symbol val="none"/>
          </c:marker>
          <c:xVal>
            <c:numRef>
              <c:f>'Chart Data'!$O$2:$O$3</c:f>
              <c:numCache>
                <c:formatCode>General</c:formatCode>
                <c:ptCount val="2"/>
                <c:pt idx="0">
                  <c:v>30</c:v>
                </c:pt>
                <c:pt idx="1">
                  <c:v>30</c:v>
                </c:pt>
              </c:numCache>
            </c:numRef>
          </c:xVal>
          <c:yVal>
            <c:numRef>
              <c:f>'Chart Data'!$P$2:$P$3</c:f>
              <c:numCache>
                <c:formatCode>0</c:formatCode>
                <c:ptCount val="2"/>
                <c:pt idx="0">
                  <c:v>0</c:v>
                </c:pt>
                <c:pt idx="1">
                  <c:v>30</c:v>
                </c:pt>
              </c:numCache>
            </c:numRef>
          </c:yVal>
          <c:smooth val="0"/>
        </c:ser>
        <c:dLbls>
          <c:txPr>
            <ns1:bodyPr anchorCtr="1"/>
            <ns1:lstStyle/>
            <ns1:p>
              <ns1:pPr>
                <ns1:defRPr>
                  <ns1:latin typeface="Arial"/>
                  <ns1:ea typeface="Arial"/>
                  <ns1:cs typeface="Arial"/>
                </ns1:defRPr>
              </ns1:pPr>
            </ns1:p>
          </c:txPr>
          <c:showLegendKey val="0"/>
          <c:showVal val="0"/>
          <c:showCatName val="0"/>
          <c:showSerName val="0"/>
          <c:showPercent val="0"/>
          <c:showBubbleSize val="0"/>
          <c:showLeaderLines val="0"/>
        </c:dLbls>
        <c:axId val="48650112"/>
        <c:axId val="48672768"/>
      </c:scatterChart>
      <c:valAx>
        <c:axId val="48672768"/>
        <c:scaling>
          <c:orientation val="minMax"/>
          <c:max val="80"/>
          <c:min val="0"/>
        </c:scaling>
        <c:delete val="0"/>
        <c:axPos val="l"/>
        <c:majorGridlines>
          <c:spPr>
            <ns1:ln w="5715">
              <ns1:solidFill>
                <ns1:srgbClr val="C6D2DB"/>
              </ns1:solidFill>
            </ns1:ln>
          </c:spPr>
        </c:majorGridlines>
        <c:title>
          <c:tx>
            <c:rich>
              <ns1:bodyPr/>
              <ns1:lstStyle/>
              <ns1:p>
                <ns1:r>
                  <ns1:rPr sz="1875">
                    <ns1:solidFill>
                      <ns1:srgbClr val="183247"/>
                    </ns1:solidFill>
                    <ns1:latin typeface="Arial"/>
                    <ns1:ea typeface="Arial"/>
                    <ns1:cs typeface="Arial"/>
                  </ns1:rPr>
                  <ns1:t>P en kosten (€ per dienst)</ns1:t>
                </ns1:r>
              </ns1:p>
            </c:rich>
          </c:tx>
          <c:overlay val="0"/>
          <c:txPr>
            <ns1:bodyPr anchorCtr="1"/>
            <ns1:lstStyle/>
            <ns1:p>
              <ns1:pPr>
                <ns1:defRPr sz="1875">
                  <ns1:solidFill>
                    <ns1:srgbClr val="183247"/>
                  </ns1:solidFill>
                  <ns1:latin typeface="Arial"/>
                  <ns1:ea typeface="Arial"/>
                  <ns1:cs typeface="Arial"/>
                </ns1:defRPr>
              </ns1:pPr>
            </ns1:p>
          </c:txPr>
        </c:title>
        <c:numFmt formatCode="0"/>
        <c:majorTickMark val="none"/>
        <c:minorTickMark val="none"/>
        <c:spPr>
          <ns1:ln w="14288">
            <ns1:solidFill>
              <ns1:srgbClr val="183247"/>
            </ns1:solidFill>
          </ns1:ln>
        </c:spPr>
        <c:txPr>
          <ns1:bodyPr anchorCtr="1"/>
          <ns1:lstStyle/>
          <ns1:p>
            <ns1:pPr>
              <ns1:defRPr sz="1800">
                <ns1:solidFill>
                  <ns1:srgbClr val="183247"/>
                </ns1:solidFill>
                <ns1:latin typeface="Arial"/>
                <ns1:ea typeface="Arial"/>
                <ns1:cs typeface="Arial"/>
              </ns1:defRPr>
            </ns1:pPr>
          </ns1:p>
        </c:txPr>
        <c:crossAx val="48650112"/>
        <c:majorUnit val="10"/>
      </c:valAx>
      <c:valAx>
        <c:axId val="48650112"/>
        <c:scaling>
          <c:orientation val="minMax"/>
          <c:max val="60"/>
          <c:min val="0"/>
        </c:scaling>
        <c:delete val="0"/>
        <c:axPos val="b"/>
        <c:title>
          <c:tx>
            <c:rich>
              <ns1:bodyPr/>
              <ns1:lstStyle/>
              <ns1:p>
                <ns1:r>
                  <ns1:rPr sz="1875">
                    <ns1:solidFill>
                      <ns1:srgbClr val="183247"/>
                    </ns1:solidFill>
                    <ns1:latin typeface="Arial"/>
                    <ns1:ea typeface="Arial"/>
                    <ns1:cs typeface="Arial"/>
                  </ns1:rPr>
                  <ns1:t>Q (diensten per dag)</ns1:t>
                </ns1:r>
              </ns1:p>
            </c:rich>
          </c:tx>
          <c:overlay val="0"/>
          <c:txPr>
            <ns1:bodyPr anchorCtr="1"/>
            <ns1:lstStyle/>
            <ns1:p>
              <ns1:pPr>
                <ns1:defRPr sz="1875">
                  <ns1:solidFill>
                    <ns1:srgbClr val="183247"/>
                  </ns1:solidFill>
                  <ns1:latin typeface="Arial"/>
                  <ns1:ea typeface="Arial"/>
                  <ns1:cs typeface="Arial"/>
                </ns1:defRPr>
              </ns1:pPr>
            </ns1:p>
          </c:txPr>
        </c:title>
        <c:numFmt formatCode="0"/>
        <c:majorTickMark val="none"/>
        <c:minorTickMark val="none"/>
        <c:spPr>
          <ns1:ln w="14288">
            <ns1:solidFill>
              <ns1:srgbClr val="183247"/>
            </ns1:solidFill>
          </ns1:ln>
        </c:spPr>
        <c:txPr>
          <ns1:bodyPr anchorCtr="1"/>
          <ns1:lstStyle/>
          <ns1:p>
            <ns1:pPr>
              <ns1:defRPr sz="1800">
                <ns1:solidFill>
                  <ns1:srgbClr val="183247"/>
                </ns1:solidFill>
                <ns1:latin typeface="Arial"/>
                <ns1:ea typeface="Arial"/>
                <ns1:cs typeface="Arial"/>
              </ns1:defRPr>
            </ns1:pPr>
          </ns1:p>
        </c:txPr>
        <c:crossAx val="48672768"/>
        <c:majorUnit val="10"/>
      </c:valAx>
      <c:spPr>
        <ns1:noFill/>
      </c:spPr>
    </c:plotArea>
    <c:plotVisOnly val="1"/>
  </c:chart>
  <c:spPr>
    <ns1:no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4.2.7 Gemengde opgaven">
            <a:extLst xmlns:a="http://schemas.openxmlformats.org/drawingml/2006/main">
              <a:ext uri="{FF2B5EF4-FFF2-40B4-BE49-F238E27FC236}">
                <a16:creationId xmlns:a16="http://schemas.microsoft.com/office/drawing/2014/main" id="{1611E428-002F-4BB3-8680-E1E66477BA4D}"/>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Deze les: §4.2.7 Gemengde opgaven</a:t>
            </a:r>
          </a:p>
        </p:txBody>
      </p:sp>
      <p:sp>
        <p:nvSpPr>
          <p:cNvPr id="2" name="">
            <a:extLst xmlns:a="http://schemas.openxmlformats.org/drawingml/2006/main">
              <a:ext uri="{FF2B5EF4-FFF2-40B4-BE49-F238E27FC236}">
                <a16:creationId xmlns:a16="http://schemas.microsoft.com/office/drawing/2014/main" id="{3AE82E96-3A64-4029-BB8D-CAE1287A3977}"/>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7 Gemengde opgaven: marktvormen en marktfalen">
            <a:extLst xmlns:a="http://schemas.openxmlformats.org/drawingml/2006/main">
              <a:ext uri="{FF2B5EF4-FFF2-40B4-BE49-F238E27FC236}">
                <a16:creationId xmlns:a16="http://schemas.microsoft.com/office/drawing/2014/main" id="{97640086-37A1-412E-A5C4-22B71B6F15FB}"/>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§4.2.7 Gemengde opgaven: marktvormen en marktfalen</a:t>
            </a:r>
          </a:p>
        </p:txBody>
      </p:sp>
      <p:sp>
        <p:nvSpPr>
          <p:cNvPr id="4" name="slide-number">
            <a:extLst xmlns:a="http://schemas.openxmlformats.org/drawingml/2006/main">
              <a:ext uri="{FF2B5EF4-FFF2-40B4-BE49-F238E27FC236}">
                <a16:creationId xmlns:a16="http://schemas.microsoft.com/office/drawing/2014/main" id="{B15D2A44-DCC8-46D8-9BB7-91E91A59FA9E}"/>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a:t>
            </a:r>
          </a:p>
        </p:txBody>
      </p:sp>
      <p:sp>
        <p:nvSpPr>
          <p:cNvPr id="5" name="phase">
            <a:extLst xmlns:a="http://schemas.openxmlformats.org/drawingml/2006/main">
              <a:ext uri="{FF2B5EF4-FFF2-40B4-BE49-F238E27FC236}">
                <a16:creationId xmlns:a16="http://schemas.microsoft.com/office/drawing/2014/main" id="{FA264B4D-AB89-4369-8FBC-C5F86AAF5538}"/>
              </a:ext>
            </a:extLst>
          </p:cNvPr>
          <p:cNvSpPr>
            <a:spLocks xmlns:a="http://schemas.openxmlformats.org/drawingml/2006/main" noGrp="1"/>
          </p:cNvSpPr>
          <p:nvPr/>
        </p:nvSpPr>
        <p:spPr>
          <a:xfrm xmlns:a="http://schemas.openxmlformats.org/drawingml/2006/main">
            <a:off x="571500" y="1066800"/>
            <a:ext cx="1381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Nu: Startopdracht</a:t>
            </a:r>
          </a:p>
        </p:txBody>
      </p:sp>
      <p:sp>
        <p:nvSpPr>
          <p:cNvPr id="6" name="Lesroute">
            <a:extLst xmlns:a="http://schemas.openxmlformats.org/drawingml/2006/main">
              <a:ext uri="{FF2B5EF4-FFF2-40B4-BE49-F238E27FC236}">
                <a16:creationId xmlns:a16="http://schemas.microsoft.com/office/drawing/2014/main" id="{5B3922F0-8A94-4DE0-8620-4347BFEAC56C}"/>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9AFD10CD-416D-4E74-A09A-D5CE375353CB}"/>
              </a:ext>
            </a:extLst>
          </p:cNvPr>
          <p:cNvSpPr>
            <a:spLocks xmlns:a="http://schemas.openxmlformats.org/drawingml/2006/main" noGrp="1"/>
          </p:cNvSpPr>
          <p:nvPr/>
        </p:nvSpPr>
        <p:spPr>
          <a:xfrm xmlns:a="http://schemas.openxmlformats.org/drawingml/2006/main">
            <a:off x="571500" y="2324100"/>
            <a:ext cx="457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7A7ED6FA-F991-48BA-A520-00F0332CA85E}"/>
              </a:ext>
            </a:extLst>
          </p:cNvPr>
          <p:cNvSpPr>
            <a:spLocks xmlns:a="http://schemas.openxmlformats.org/drawingml/2006/main" noGrp="1"/>
          </p:cNvSpPr>
          <p:nvPr/>
        </p:nvSpPr>
        <p:spPr>
          <a:xfrm xmlns:a="http://schemas.openxmlformats.org/drawingml/2006/main">
            <a:off x="1104900" y="2324100"/>
            <a:ext cx="74199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3C869AEF-779F-4BA6-AFEF-12FFAA5F158F}"/>
              </a:ext>
            </a:extLst>
          </p:cNvPr>
          <p:cNvSpPr>
            <a:spLocks xmlns:a="http://schemas.openxmlformats.org/drawingml/2006/main" noGrp="1"/>
          </p:cNvSpPr>
          <p:nvPr/>
        </p:nvSpPr>
        <p:spPr>
          <a:xfrm xmlns:a="http://schemas.openxmlformats.org/drawingml/2006/main">
            <a:off x="571500" y="3305175"/>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3BF17DFA-2178-4D2A-9F3A-E865CC0FD461}"/>
              </a:ext>
            </a:extLst>
          </p:cNvPr>
          <p:cNvSpPr>
            <a:spLocks xmlns:a="http://schemas.openxmlformats.org/drawingml/2006/main" noGrp="1"/>
          </p:cNvSpPr>
          <p:nvPr/>
        </p:nvSpPr>
        <p:spPr>
          <a:xfrm xmlns:a="http://schemas.openxmlformats.org/drawingml/2006/main">
            <a:off x="1104900" y="3305175"/>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1DDEE6F0-F252-480B-A66A-BF38727C57E3}"/>
              </a:ext>
            </a:extLst>
          </p:cNvPr>
          <p:cNvSpPr>
            <a:spLocks xmlns:a="http://schemas.openxmlformats.org/drawingml/2006/main" noGrp="1"/>
          </p:cNvSpPr>
          <p:nvPr/>
        </p:nvSpPr>
        <p:spPr>
          <a:xfrm xmlns:a="http://schemas.openxmlformats.org/drawingml/2006/main">
            <a:off x="571500" y="3895725"/>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E011BF2E-8826-456A-80DD-B300E7F27370}"/>
              </a:ext>
            </a:extLst>
          </p:cNvPr>
          <p:cNvSpPr>
            <a:spLocks xmlns:a="http://schemas.openxmlformats.org/drawingml/2006/main" noGrp="1"/>
          </p:cNvSpPr>
          <p:nvPr/>
        </p:nvSpPr>
        <p:spPr>
          <a:xfrm xmlns:a="http://schemas.openxmlformats.org/drawingml/2006/main">
            <a:off x="1104900" y="3895725"/>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Korte herhaling en aanpak.</a:t>
            </a:r>
          </a:p>
        </p:txBody>
      </p:sp>
      <p:sp>
        <p:nvSpPr>
          <p:cNvPr id="13" name="route-number-4">
            <a:extLst xmlns:a="http://schemas.openxmlformats.org/drawingml/2006/main">
              <a:ext uri="{FF2B5EF4-FFF2-40B4-BE49-F238E27FC236}">
                <a16:creationId xmlns:a16="http://schemas.microsoft.com/office/drawing/2014/main" id="{E6A05421-458B-49AF-88AC-1E8582739AE7}"/>
              </a:ext>
            </a:extLst>
          </p:cNvPr>
          <p:cNvSpPr>
            <a:spLocks xmlns:a="http://schemas.openxmlformats.org/drawingml/2006/main" noGrp="1"/>
          </p:cNvSpPr>
          <p:nvPr/>
        </p:nvSpPr>
        <p:spPr>
          <a:xfrm xmlns:a="http://schemas.openxmlformats.org/drawingml/2006/main">
            <a:off x="571500" y="4533900"/>
            <a:ext cx="4572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28BB79B5-1D7F-409D-9E6A-B51273EC9B96}"/>
              </a:ext>
            </a:extLst>
          </p:cNvPr>
          <p:cNvSpPr>
            <a:spLocks xmlns:a="http://schemas.openxmlformats.org/drawingml/2006/main" noGrp="1"/>
          </p:cNvSpPr>
          <p:nvPr/>
        </p:nvSpPr>
        <p:spPr>
          <a:xfrm xmlns:a="http://schemas.openxmlformats.org/drawingml/2006/main">
            <a:off x="1104900" y="4533900"/>
            <a:ext cx="741997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Werk verder aan de gemengde opgaven, stel vragen en kijk je antwoorden na.</a:t>
            </a:r>
          </a:p>
        </p:txBody>
      </p:sp>
      <p:sp>
        <p:nvSpPr>
          <p:cNvPr id="15" name="route-number-5">
            <a:extLst xmlns:a="http://schemas.openxmlformats.org/drawingml/2006/main">
              <a:ext uri="{FF2B5EF4-FFF2-40B4-BE49-F238E27FC236}">
                <a16:creationId xmlns:a16="http://schemas.microsoft.com/office/drawing/2014/main" id="{C2E71AB1-3873-4554-B4DF-5BA8D79725AF}"/>
              </a:ext>
            </a:extLst>
          </p:cNvPr>
          <p:cNvSpPr>
            <a:spLocks xmlns:a="http://schemas.openxmlformats.org/drawingml/2006/main" noGrp="1"/>
          </p:cNvSpPr>
          <p:nvPr/>
        </p:nvSpPr>
        <p:spPr>
          <a:xfrm xmlns:a="http://schemas.openxmlformats.org/drawingml/2006/main">
            <a:off x="571500" y="5743575"/>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A6C92092-3F82-413F-B122-30DCFB28B51F}"/>
              </a:ext>
            </a:extLst>
          </p:cNvPr>
          <p:cNvSpPr>
            <a:spLocks xmlns:a="http://schemas.openxmlformats.org/drawingml/2006/main" noGrp="1"/>
          </p:cNvSpPr>
          <p:nvPr/>
        </p:nvSpPr>
        <p:spPr>
          <a:xfrm xmlns:a="http://schemas.openxmlformats.org/drawingml/2006/main">
            <a:off x="1104900" y="5743575"/>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84DF3BF6-62FB-42BB-8930-648C1008D977}"/>
              </a:ext>
            </a:extLst>
          </p:cNvPr>
          <p:cNvSpPr>
            <a:spLocks xmlns:a="http://schemas.openxmlformats.org/drawingml/2006/main" noGrp="1"/>
          </p:cNvSpPr>
          <p:nvPr/>
        </p:nvSpPr>
        <p:spPr>
          <a:xfrm xmlns:a="http://schemas.openxmlformats.org/drawingml/2006/main">
            <a:off x="571500" y="6629400"/>
            <a:ext cx="457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7CD48699-1044-42F3-9780-D0C1D8566DA3}"/>
              </a:ext>
            </a:extLst>
          </p:cNvPr>
          <p:cNvSpPr>
            <a:spLocks xmlns:a="http://schemas.openxmlformats.org/drawingml/2006/main" noGrp="1"/>
          </p:cNvSpPr>
          <p:nvPr/>
        </p:nvSpPr>
        <p:spPr>
          <a:xfrm xmlns:a="http://schemas.openxmlformats.org/drawingml/2006/main">
            <a:off x="1104900" y="6629400"/>
            <a:ext cx="74199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58.</a:t>
            </a:r>
          </a:p>
        </p:txBody>
      </p:sp>
      <p:sp>
        <p:nvSpPr>
          <p:cNvPr id="19" name="route-number-7">
            <a:extLst xmlns:a="http://schemas.openxmlformats.org/drawingml/2006/main">
              <a:ext uri="{FF2B5EF4-FFF2-40B4-BE49-F238E27FC236}">
                <a16:creationId xmlns:a16="http://schemas.microsoft.com/office/drawing/2014/main" id="{0886475D-9C0F-44F6-8318-248028459621}"/>
              </a:ext>
            </a:extLst>
          </p:cNvPr>
          <p:cNvSpPr>
            <a:spLocks xmlns:a="http://schemas.openxmlformats.org/drawingml/2006/main" noGrp="1"/>
          </p:cNvSpPr>
          <p:nvPr/>
        </p:nvSpPr>
        <p:spPr>
          <a:xfrm xmlns:a="http://schemas.openxmlformats.org/drawingml/2006/main">
            <a:off x="571500" y="737235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06BEFF88-2C8F-4B21-B68F-95341699B78F}"/>
              </a:ext>
            </a:extLst>
          </p:cNvPr>
          <p:cNvSpPr>
            <a:spLocks xmlns:a="http://schemas.openxmlformats.org/drawingml/2006/main" noGrp="1"/>
          </p:cNvSpPr>
          <p:nvPr/>
        </p:nvSpPr>
        <p:spPr>
          <a:xfrm xmlns:a="http://schemas.openxmlformats.org/drawingml/2006/main">
            <a:off x="1104900" y="737235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C17BBE28-2816-4F89-A688-3E6F89ADC9A8}"/>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13DC0A2E-6968-4E11-AEC6-793229E4A9B9}"/>
              </a:ext>
            </a:extLst>
          </p:cNvPr>
          <p:cNvSpPr>
            <a:spLocks xmlns:a="http://schemas.openxmlformats.org/drawingml/2006/main" noGrp="1"/>
          </p:cNvSpPr>
          <p:nvPr/>
        </p:nvSpPr>
        <p:spPr>
          <a:xfrm xmlns:a="http://schemas.openxmlformats.org/drawingml/2006/main">
            <a:off x="9258300" y="2324100"/>
            <a:ext cx="5381625"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Model uit de bron kiezen.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Surplus en derden meewegen.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Een beleidsconclusie begrenzen.</a:t>
            </a:r>
          </a:p>
        </p:txBody>
      </p:sp>
      <p:sp>
        <p:nvSpPr>
          <p:cNvPr id="23" name="">
            <a:extLst xmlns:a="http://schemas.openxmlformats.org/drawingml/2006/main">
              <a:ext uri="{FF2B5EF4-FFF2-40B4-BE49-F238E27FC236}">
                <a16:creationId xmlns:a16="http://schemas.microsoft.com/office/drawing/2014/main" id="{33CB3DDC-585E-4C4B-AAC4-3055947F1BF6}"/>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1BB0B2A1-F593-467C-8F30-FCC490D96967}"/>
              </a:ext>
            </a:extLst>
          </p:cNvPr>
          <p:cNvSpPr>
            <a:spLocks xmlns:a="http://schemas.openxmlformats.org/drawingml/2006/main" noGrp="1"/>
          </p:cNvSpPr>
          <p:nvPr/>
        </p:nvSpPr>
        <p:spPr>
          <a:xfrm xmlns:a="http://schemas.openxmlformats.org/drawingml/2006/main">
            <a:off x="9258300" y="38195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A5276"/>
                </a:solidFill>
                <a:latin typeface="Arial"/>
                <a:ea typeface="Arial"/>
                <a:cs typeface="Arial"/>
              </a:defRPr>
            </a:pPr>
            <a:r>
              <a:rPr sz="2625" b="1">
                <a:solidFill>
                  <a:srgbClr val="1A5276"/>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7F9155B1-C752-4922-83D9-C617185CD0DA}"/>
              </a:ext>
            </a:extLst>
          </p:cNvPr>
          <p:cNvSpPr>
            <a:spLocks xmlns:a="http://schemas.openxmlformats.org/drawingml/2006/main" noGrp="1"/>
          </p:cNvSpPr>
          <p:nvPr/>
        </p:nvSpPr>
        <p:spPr>
          <a:xfrm xmlns:a="http://schemas.openxmlformats.org/drawingml/2006/main">
            <a:off x="9258300" y="4333875"/>
            <a:ext cx="5381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Pagina 105 · Opgave 55</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Steun: uitleg §§4.2.1–4.2.6</a:t>
            </a:r>
          </a:p>
        </p:txBody>
      </p:sp>
      <p:sp>
        <p:nvSpPr>
          <p:cNvPr id="26" name="">
            <a:extLst xmlns:a="http://schemas.openxmlformats.org/drawingml/2006/main">
              <a:ext uri="{FF2B5EF4-FFF2-40B4-BE49-F238E27FC236}">
                <a16:creationId xmlns:a16="http://schemas.microsoft.com/office/drawing/2014/main" id="{7B47689B-C45B-458B-9D3F-FBAA9DF37415}"/>
              </a:ext>
            </a:extLst>
          </p:cNvPr>
          <p:cNvSpPr>
            <a:spLocks xmlns:a="http://schemas.openxmlformats.org/drawingml/2006/main" noGrp="1"/>
          </p:cNvSpPr>
          <p:nvPr/>
        </p:nvSpPr>
        <p:spPr>
          <a:xfrm xmlns:a="http://schemas.openxmlformats.org/drawingml/2006/main">
            <a:off x="9258300" y="5400675"/>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D7A5DD47-EF5E-48D3-8A48-7BE691D242E8}"/>
              </a:ext>
            </a:extLst>
          </p:cNvPr>
          <p:cNvSpPr>
            <a:spLocks xmlns:a="http://schemas.openxmlformats.org/drawingml/2006/main" noGrp="1"/>
          </p:cNvSpPr>
          <p:nvPr/>
        </p:nvSpPr>
        <p:spPr>
          <a:xfrm xmlns:a="http://schemas.openxmlformats.org/drawingml/2006/main">
            <a:off x="9258300" y="56673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B295B62A-F705-4D3A-8E8D-35E2BFB6E0AE}"/>
              </a:ext>
            </a:extLst>
          </p:cNvPr>
          <p:cNvSpPr>
            <a:spLocks xmlns:a="http://schemas.openxmlformats.org/drawingml/2006/main" noGrp="1"/>
          </p:cNvSpPr>
          <p:nvPr/>
        </p:nvSpPr>
        <p:spPr>
          <a:xfrm xmlns:a="http://schemas.openxmlformats.org/drawingml/2006/main">
            <a:off x="9258300" y="6229350"/>
            <a:ext cx="5381625"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§4.2.7 · Opgaven 55–60</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Verder: 56–57 · Doel: 58</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Extra gemengd: 59 · Herhaling: 60</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Tree>
    <p:extLst>
      <p:ext uri="{BB962C8B-B14F-4D97-AF65-F5344CB8AC3E}">
        <p14:creationId xmlns:p14="http://schemas.microsoft.com/office/powerpoint/2010/main" val="86244429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Modelkeuze en welvaartsrekening">
            <a:extLst xmlns:a="http://schemas.openxmlformats.org/drawingml/2006/main">
              <a:ext uri="{FF2B5EF4-FFF2-40B4-BE49-F238E27FC236}">
                <a16:creationId xmlns:a16="http://schemas.microsoft.com/office/drawing/2014/main" id="{7B53A479-4706-489E-8F97-8C9229E429E5}"/>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Modelkeuze en welvaartsrekening</a:t>
            </a:r>
          </a:p>
        </p:txBody>
      </p:sp>
      <p:sp>
        <p:nvSpPr>
          <p:cNvPr id="2" name="">
            <a:extLst xmlns:a="http://schemas.openxmlformats.org/drawingml/2006/main">
              <a:ext uri="{FF2B5EF4-FFF2-40B4-BE49-F238E27FC236}">
                <a16:creationId xmlns:a16="http://schemas.microsoft.com/office/drawing/2014/main" id="{90B09ED5-4D80-4F23-BD1A-85C73E914DA7}"/>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7 Gemengde opgaven: marktvormen en marktfalen">
            <a:extLst xmlns:a="http://schemas.openxmlformats.org/drawingml/2006/main">
              <a:ext uri="{FF2B5EF4-FFF2-40B4-BE49-F238E27FC236}">
                <a16:creationId xmlns:a16="http://schemas.microsoft.com/office/drawing/2014/main" id="{51BBA02C-4F63-49AB-A08E-99936F01A94C}"/>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§4.2.7 Gemengde opgaven: marktvormen en marktfalen</a:t>
            </a:r>
          </a:p>
        </p:txBody>
      </p:sp>
      <p:sp>
        <p:nvSpPr>
          <p:cNvPr id="4" name="slide-number">
            <a:extLst xmlns:a="http://schemas.openxmlformats.org/drawingml/2006/main">
              <a:ext uri="{FF2B5EF4-FFF2-40B4-BE49-F238E27FC236}">
                <a16:creationId xmlns:a16="http://schemas.microsoft.com/office/drawing/2014/main" id="{F591245B-E22E-4878-A63B-B4CDF73DC11E}"/>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a:t>
            </a:r>
          </a:p>
        </p:txBody>
      </p:sp>
      <p:graphicFrame>
        <p:nvGraphicFramePr>
          <p:cNvPr id="11" name=""/>
          <p:cNvGraphicFramePr/>
          <p:nvPr/>
        </p:nvGraphicFramePr>
        <p:xfrm>
          <a:off xmlns:a="http://schemas.openxmlformats.org/drawingml/2006/main" x="571500" y="1990725"/>
          <a:ext xmlns:a="http://schemas.openxmlformats.org/drawingml/2006/main" cx="14097000" cy="3905250"/>
        </p:xfrm>
        <a:graphic xmlns:a="http://schemas.openxmlformats.org/drawingml/2006/main">
          <a:graphicData uri="http://schemas.openxmlformats.org/drawingml/2006/table">
            <a:tbl>
              <a:tblPr/>
              <a:tblGrid>
                <a:gridCol w="5334000"/>
                <a:gridCol w="8763000"/>
              </a:tblGrid>
              <a:tr h="976313">
                <a:tc>
                  <a:txBody>
                    <a:bodyPr lIns="171450" tIns="95250" rIns="152400" bIns="95250"/>
                    <a:lstStyle/>
                    <a:p>
                      <a:r>
                        <a:rPr sz="2475" b="1">
                          <a:solidFill>
                            <a:srgbClr val="FFFFFF"/>
                          </a:solidFill>
                          <a:latin typeface="Arial"/>
                          <a:ea typeface="Arial"/>
                          <a:cs typeface="Arial"/>
                        </a:rPr>
                        <a:t>Bron gaat over…</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Bekende aanpak</a:t>
                      </a:r>
                    </a:p>
                  </a:txBody>
                  <a:tcPr marL="91440" marR="91440" marT="45720" marB="45720" anchor="ctr">
                    <a:solidFill>
                      <a:srgbClr val="183247"/>
                    </a:solidFill>
                  </a:tcPr>
                </a:tc>
              </a:tr>
              <a:tr h="976313">
                <a:tc>
                  <a:txBody>
                    <a:bodyPr lIns="171450" tIns="95250" rIns="152400" bIns="95250"/>
                    <a:lstStyle/>
                    <a:p>
                      <a:r>
                        <a:rPr sz="2475" b="0">
                          <a:solidFill>
                            <a:srgbClr val="183247"/>
                          </a:solidFill>
                          <a:latin typeface="Arial"/>
                          <a:ea typeface="Arial"/>
                          <a:cs typeface="Arial"/>
                        </a:rPr>
                        <a:t>Marktmacht zonder externe effecten</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MO = MK; prijs op vraag; vergelijk TS</a:t>
                      </a:r>
                    </a:p>
                  </a:txBody>
                  <a:tcPr marL="91440" marR="91440" marT="45720" marB="45720" anchor="ctr">
                    <a:solidFill>
                      <a:srgbClr val="FFFFFF"/>
                    </a:solidFill>
                  </a:tcPr>
                </a:tc>
              </a:tr>
              <a:tr h="976313">
                <a:tc>
                  <a:txBody>
                    <a:bodyPr lIns="171450" tIns="95250" rIns="152400" bIns="95250"/>
                    <a:lstStyle/>
                    <a:p>
                      <a:r>
                        <a:rPr sz="2475" b="0">
                          <a:solidFill>
                            <a:srgbClr val="183247"/>
                          </a:solidFill>
                          <a:latin typeface="Arial"/>
                          <a:ea typeface="Arial"/>
                          <a:cs typeface="Arial"/>
                        </a:rPr>
                        <a:t>Gescheiden klantgroepen</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Controleer voorwaarden; tel gezamenlijke kosten eenmaal</a:t>
                      </a:r>
                    </a:p>
                  </a:txBody>
                  <a:tcPr marL="91440" marR="91440" marT="45720" marB="45720" anchor="ctr">
                    <a:solidFill>
                      <a:srgbClr val="EFF4F7"/>
                    </a:solidFill>
                  </a:tcPr>
                </a:tc>
              </a:tr>
              <a:tr h="976313">
                <a:tc>
                  <a:txBody>
                    <a:bodyPr lIns="171450" tIns="95250" rIns="152400" bIns="95250"/>
                    <a:lstStyle/>
                    <a:p>
                      <a:r>
                        <a:rPr sz="2475" b="0">
                          <a:solidFill>
                            <a:srgbClr val="183247"/>
                          </a:solidFill>
                          <a:latin typeface="Arial"/>
                          <a:ea typeface="Arial"/>
                          <a:cs typeface="Arial"/>
                        </a:rPr>
                        <a:t>Schade of voordeel voor derden</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Gebruik de wig; neem overheid én derden mee</a:t>
                      </a:r>
                    </a:p>
                  </a:txBody>
                  <a:tcPr marL="91440" marR="91440" marT="45720" marB="45720" anchor="ctr">
                    <a:solidFill>
                      <a:srgbClr val="FFFFFF"/>
                    </a:solidFill>
                  </a:tcPr>
                </a:tc>
              </a:tr>
            </a:tbl>
          </a:graphicData>
        </a:graphic>
      </p:graphicFrame>
      <p:sp>
        <p:nvSpPr>
          <p:cNvPr id="6" name="Conclusie: brongegeven + berekening + criterium + beperking">
            <a:extLst xmlns:a="http://schemas.openxmlformats.org/drawingml/2006/main">
              <a:ext uri="{FF2B5EF4-FFF2-40B4-BE49-F238E27FC236}">
                <a16:creationId xmlns:a16="http://schemas.microsoft.com/office/drawing/2014/main" id="{59E428E0-9236-401E-B419-8AF0BF4A9613}"/>
              </a:ext>
            </a:extLst>
          </p:cNvPr>
          <p:cNvSpPr>
            <a:spLocks xmlns:a="http://schemas.openxmlformats.org/drawingml/2006/main" noGrp="1"/>
          </p:cNvSpPr>
          <p:nvPr/>
        </p:nvSpPr>
        <p:spPr>
          <a:xfrm xmlns:a="http://schemas.openxmlformats.org/drawingml/2006/main">
            <a:off x="571500" y="6553200"/>
            <a:ext cx="1409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A5276"/>
                </a:solidFill>
                <a:latin typeface="Arial"/>
                <a:ea typeface="Arial"/>
                <a:cs typeface="Arial"/>
              </a:defRPr>
            </a:pPr>
            <a:r>
              <a:rPr sz="2850" b="1">
                <a:solidFill>
                  <a:srgbClr val="1A5276"/>
                </a:solidFill>
                <a:latin typeface="Arial"/>
                <a:ea typeface="Arial"/>
                <a:cs typeface="Arial"/>
              </a:rPr>
              <a:t>Conclusie: brongegeven + berekening + criterium + beperking</a:t>
            </a:r>
          </a:p>
        </p:txBody>
      </p:sp>
    </p:spTree>
    <p:extLst>
      <p:ext uri="{BB962C8B-B14F-4D97-AF65-F5344CB8AC3E}">
        <p14:creationId xmlns:p14="http://schemas.microsoft.com/office/powerpoint/2010/main" val="141157874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ilmzaal · Hoeveelheid, prijs en winst">
            <a:extLst xmlns:a="http://schemas.openxmlformats.org/drawingml/2006/main">
              <a:ext uri="{FF2B5EF4-FFF2-40B4-BE49-F238E27FC236}">
                <a16:creationId xmlns:a16="http://schemas.microsoft.com/office/drawing/2014/main" id="{92E85638-84B1-4C71-828E-5B06D9869FF4}"/>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Filmzaal · Hoeveelheid, prijs en winst</a:t>
            </a:r>
          </a:p>
        </p:txBody>
      </p:sp>
      <p:sp>
        <p:nvSpPr>
          <p:cNvPr id="2" name="">
            <a:extLst xmlns:a="http://schemas.openxmlformats.org/drawingml/2006/main">
              <a:ext uri="{FF2B5EF4-FFF2-40B4-BE49-F238E27FC236}">
                <a16:creationId xmlns:a16="http://schemas.microsoft.com/office/drawing/2014/main" id="{D6EE2889-7407-4031-A98F-81823B91CB4C}"/>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 Filmzaal">
            <a:extLst xmlns:a="http://schemas.openxmlformats.org/drawingml/2006/main">
              <a:ext uri="{FF2B5EF4-FFF2-40B4-BE49-F238E27FC236}">
                <a16:creationId xmlns:a16="http://schemas.microsoft.com/office/drawing/2014/main" id="{5D224282-919F-432A-9DB8-98718B596D69}"/>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 · Filmzaal</a:t>
            </a:r>
          </a:p>
        </p:txBody>
      </p:sp>
      <p:sp>
        <p:nvSpPr>
          <p:cNvPr id="4" name="slide-number">
            <a:extLst xmlns:a="http://schemas.openxmlformats.org/drawingml/2006/main">
              <a:ext uri="{FF2B5EF4-FFF2-40B4-BE49-F238E27FC236}">
                <a16:creationId xmlns:a16="http://schemas.microsoft.com/office/drawing/2014/main" id="{461E9799-9D80-40B0-AAD6-0D1034F997B3}"/>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3</a:t>
            </a:r>
          </a:p>
        </p:txBody>
      </p:sp>
      <p:sp>
        <p:nvSpPr>
          <p:cNvPr id="5" name="Eén aanbieder · P = 54 − Q · TK = 40 + 6Q + 0,5Q²">
            <a:extLst xmlns:a="http://schemas.openxmlformats.org/drawingml/2006/main">
              <a:ext uri="{FF2B5EF4-FFF2-40B4-BE49-F238E27FC236}">
                <a16:creationId xmlns:a16="http://schemas.microsoft.com/office/drawing/2014/main" id="{E55B0A36-42EC-4068-B208-4DC6641317AF}"/>
              </a:ext>
            </a:extLst>
          </p:cNvPr>
          <p:cNvSpPr>
            <a:spLocks xmlns:a="http://schemas.openxmlformats.org/drawingml/2006/main" noGrp="1"/>
          </p:cNvSpPr>
          <p:nvPr/>
        </p:nvSpPr>
        <p:spPr>
          <a:xfrm xmlns:a="http://schemas.openxmlformats.org/drawingml/2006/main">
            <a:off x="571500" y="1762125"/>
            <a:ext cx="14097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A5276"/>
                </a:solidFill>
                <a:latin typeface="Arial"/>
                <a:ea typeface="Arial"/>
                <a:cs typeface="Arial"/>
              </a:defRPr>
            </a:pPr>
            <a:r>
              <a:rPr sz="2850" b="1">
                <a:solidFill>
                  <a:srgbClr val="1A5276"/>
                </a:solidFill>
                <a:latin typeface="Arial"/>
                <a:ea typeface="Arial"/>
                <a:cs typeface="Arial"/>
              </a:rPr>
              <a:t>Eén aanbieder · P = 54 − Q · TK = 40 + 6Q + 0,5Q²</a:t>
            </a:r>
          </a:p>
        </p:txBody>
      </p:sp>
      <p:sp>
        <p:nvSpPr>
          <p:cNvPr id="6" name="Q: bezoeken per week · P: € per bezoek · capaciteit 40&#10;Geen exter">
            <a:extLst xmlns:a="http://schemas.openxmlformats.org/drawingml/2006/main">
              <a:ext uri="{FF2B5EF4-FFF2-40B4-BE49-F238E27FC236}">
                <a16:creationId xmlns:a16="http://schemas.microsoft.com/office/drawing/2014/main" id="{E0516E75-0BE0-4252-8501-EE1E01AC43C5}"/>
              </a:ext>
            </a:extLst>
          </p:cNvPr>
          <p:cNvSpPr>
            <a:spLocks xmlns:a="http://schemas.openxmlformats.org/drawingml/2006/main" noGrp="1"/>
          </p:cNvSpPr>
          <p:nvPr/>
        </p:nvSpPr>
        <p:spPr>
          <a:xfrm xmlns:a="http://schemas.openxmlformats.org/drawingml/2006/main">
            <a:off x="571500" y="2562225"/>
            <a:ext cx="140970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Q: bezoeken per week · P: € per bezoek · capaciteit 40</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Geen externe effecten; dezelfde € 40 constante kosten.</a:t>
            </a:r>
          </a:p>
        </p:txBody>
      </p:sp>
      <p:graphicFrame>
        <p:nvGraphicFramePr>
          <p:cNvPr id="14" name=""/>
          <p:cNvGraphicFramePr/>
          <p:nvPr/>
        </p:nvGraphicFramePr>
        <p:xfrm>
          <a:off xmlns:a="http://schemas.openxmlformats.org/drawingml/2006/main" x="571500" y="3971925"/>
          <a:ext xmlns:a="http://schemas.openxmlformats.org/drawingml/2006/main" cx="14097000" cy="3248025"/>
        </p:xfrm>
        <a:graphic xmlns:a="http://schemas.openxmlformats.org/drawingml/2006/main">
          <a:graphicData uri="http://schemas.openxmlformats.org/drawingml/2006/table">
            <a:tbl>
              <a:tblPr/>
              <a:tblGrid>
                <a:gridCol w="4476750"/>
                <a:gridCol w="9620250"/>
              </a:tblGrid>
              <a:tr h="649605">
                <a:tc>
                  <a:txBody>
                    <a:bodyPr lIns="171450" tIns="95250" rIns="152400" bIns="95250"/>
                    <a:lstStyle/>
                    <a:p>
                      <a:r>
                        <a:rPr sz="2400" b="1">
                          <a:solidFill>
                            <a:srgbClr val="FFFFFF"/>
                          </a:solidFill>
                          <a:latin typeface="Arial"/>
                          <a:ea typeface="Arial"/>
                          <a:cs typeface="Arial"/>
                        </a:rPr>
                        <a:t>Stap</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Berekening</a:t>
                      </a:r>
                    </a:p>
                  </a:txBody>
                  <a:tcPr marL="91440" marR="91440" marT="45720" marB="45720" anchor="ctr">
                    <a:solidFill>
                      <a:srgbClr val="183247"/>
                    </a:solidFill>
                  </a:tcPr>
                </a:tc>
              </a:tr>
              <a:tr h="649605">
                <a:tc>
                  <a:txBody>
                    <a:bodyPr lIns="171450" tIns="95250" rIns="152400" bIns="95250"/>
                    <a:lstStyle/>
                    <a:p>
                      <a:r>
                        <a:rPr sz="2400" b="0">
                          <a:solidFill>
                            <a:srgbClr val="183247"/>
                          </a:solidFill>
                          <a:latin typeface="Arial"/>
                          <a:ea typeface="Arial"/>
                          <a:cs typeface="Arial"/>
                        </a:rPr>
                        <a:t>Hoeveelheid via MO = MK</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54 − 2Q = 6 + Q   ⇒   Qm = 16 bezoeken per week</a:t>
                      </a:r>
                    </a:p>
                  </a:txBody>
                  <a:tcPr marL="91440" marR="91440" marT="45720" marB="45720" anchor="ctr">
                    <a:solidFill>
                      <a:srgbClr val="FFFFFF"/>
                    </a:solidFill>
                  </a:tcPr>
                </a:tc>
              </a:tr>
              <a:tr h="649605">
                <a:tc>
                  <a:txBody>
                    <a:bodyPr lIns="171450" tIns="95250" rIns="152400" bIns="95250"/>
                    <a:lstStyle/>
                    <a:p>
                      <a:r>
                        <a:rPr sz="2400" b="0">
                          <a:solidFill>
                            <a:srgbClr val="183247"/>
                          </a:solidFill>
                          <a:latin typeface="Arial"/>
                          <a:ea typeface="Arial"/>
                          <a:cs typeface="Arial"/>
                        </a:rPr>
                        <a:t>Prijs op de vraaglijn</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Pm = 54 − 16 = € 38 per bezoek</a:t>
                      </a:r>
                    </a:p>
                  </a:txBody>
                  <a:tcPr marL="91440" marR="91440" marT="45720" marB="45720" anchor="ctr">
                    <a:solidFill>
                      <a:srgbClr val="EFF4F7"/>
                    </a:solidFill>
                  </a:tcPr>
                </a:tc>
              </a:tr>
              <a:tr h="649605">
                <a:tc>
                  <a:txBody>
                    <a:bodyPr lIns="171450" tIns="95250" rIns="152400" bIns="95250"/>
                    <a:lstStyle/>
                    <a:p>
                      <a:r>
                        <a:rPr sz="2400" b="0">
                          <a:solidFill>
                            <a:srgbClr val="183247"/>
                          </a:solidFill>
                          <a:latin typeface="Arial"/>
                          <a:ea typeface="Arial"/>
                          <a:cs typeface="Arial"/>
                        </a:rPr>
                        <a:t>Omzet en kosten</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TO = 38 × 16 = 608; TK = 40 + 96 + 128 = 264</a:t>
                      </a:r>
                    </a:p>
                  </a:txBody>
                  <a:tcPr marL="91440" marR="91440" marT="45720" marB="45720" anchor="ctr">
                    <a:solidFill>
                      <a:srgbClr val="FFFFFF"/>
                    </a:solidFill>
                  </a:tcPr>
                </a:tc>
              </a:tr>
              <a:tr h="649605">
                <a:tc>
                  <a:txBody>
                    <a:bodyPr lIns="171450" tIns="95250" rIns="152400" bIns="95250"/>
                    <a:lstStyle/>
                    <a:p>
                      <a:r>
                        <a:rPr sz="2400" b="0">
                          <a:solidFill>
                            <a:srgbClr val="183247"/>
                          </a:solidFill>
                          <a:latin typeface="Arial"/>
                          <a:ea typeface="Arial"/>
                          <a:cs typeface="Arial"/>
                        </a:rPr>
                        <a:t>Winst</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608 − 264 = € 344 per week</a:t>
                      </a:r>
                    </a:p>
                  </a:txBody>
                  <a:tcPr marL="91440" marR="91440" marT="45720" marB="45720" anchor="ctr">
                    <a:solidFill>
                      <a:srgbClr val="EFF4F7"/>
                    </a:solidFill>
                  </a:tcPr>
                </a:tc>
              </a:tr>
            </a:tbl>
          </a:graphicData>
        </a:graphic>
      </p:graphicFrame>
    </p:spTree>
    <p:extLst>
      <p:ext uri="{BB962C8B-B14F-4D97-AF65-F5344CB8AC3E}">
        <p14:creationId xmlns:p14="http://schemas.microsoft.com/office/powerpoint/2010/main" val="196115101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ilmzaal · Surplus en efficiënte vergelijking">
            <a:extLst xmlns:a="http://schemas.openxmlformats.org/drawingml/2006/main">
              <a:ext uri="{FF2B5EF4-FFF2-40B4-BE49-F238E27FC236}">
                <a16:creationId xmlns:a16="http://schemas.microsoft.com/office/drawing/2014/main" id="{58CC3DE7-CAF2-4BA0-8B9A-6216392ABD06}"/>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Filmzaal · Surplus en efficiënte vergelijking</a:t>
            </a:r>
          </a:p>
        </p:txBody>
      </p:sp>
      <p:sp>
        <p:nvSpPr>
          <p:cNvPr id="2" name="">
            <a:extLst xmlns:a="http://schemas.openxmlformats.org/drawingml/2006/main">
              <a:ext uri="{FF2B5EF4-FFF2-40B4-BE49-F238E27FC236}">
                <a16:creationId xmlns:a16="http://schemas.microsoft.com/office/drawing/2014/main" id="{9AB5C6E5-43AD-401A-A21D-C158DDA6F84C}"/>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 Filmzaal">
            <a:extLst xmlns:a="http://schemas.openxmlformats.org/drawingml/2006/main">
              <a:ext uri="{FF2B5EF4-FFF2-40B4-BE49-F238E27FC236}">
                <a16:creationId xmlns:a16="http://schemas.microsoft.com/office/drawing/2014/main" id="{2B1341BD-D816-41BC-A80D-44B686A14149}"/>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 · Filmzaal</a:t>
            </a:r>
          </a:p>
        </p:txBody>
      </p:sp>
      <p:sp>
        <p:nvSpPr>
          <p:cNvPr id="4" name="slide-number">
            <a:extLst xmlns:a="http://schemas.openxmlformats.org/drawingml/2006/main">
              <a:ext uri="{FF2B5EF4-FFF2-40B4-BE49-F238E27FC236}">
                <a16:creationId xmlns:a16="http://schemas.microsoft.com/office/drawing/2014/main" id="{D7767AAC-446E-41FC-A9B0-407DFFC113E6}"/>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4</a:t>
            </a:r>
          </a:p>
        </p:txBody>
      </p:sp>
      <p:graphicFrame>
        <p:nvGraphicFramePr>
          <p:cNvPr id="12" name=""/>
          <p:cNvGraphicFramePr/>
          <p:nvPr/>
        </p:nvGraphicFramePr>
        <p:xfrm>
          <a:off xmlns:a="http://schemas.openxmlformats.org/drawingml/2006/main" x="571500" y="2085975"/>
          <a:ext xmlns:a="http://schemas.openxmlformats.org/drawingml/2006/main" cx="14097000" cy="3524250"/>
        </p:xfrm>
        <a:graphic xmlns:a="http://schemas.openxmlformats.org/drawingml/2006/main">
          <a:graphicData uri="http://schemas.openxmlformats.org/drawingml/2006/table">
            <a:tbl>
              <a:tblPr/>
              <a:tblGrid>
                <a:gridCol w="4191000"/>
                <a:gridCol w="4953000"/>
                <a:gridCol w="4953000"/>
              </a:tblGrid>
              <a:tr h="881063">
                <a:tc>
                  <a:txBody>
                    <a:bodyPr lIns="171450" tIns="95250" rIns="152400" bIns="95250"/>
                    <a:lstStyle/>
                    <a:p>
                      <a:r>
                        <a:rPr sz="2325" b="1">
                          <a:solidFill>
                            <a:srgbClr val="FFFFFF"/>
                          </a:solidFill>
                          <a:latin typeface="Arial"/>
                          <a:ea typeface="Arial"/>
                          <a:cs typeface="Arial"/>
                        </a:rPr>
                        <a:t>€ per week</a:t>
                      </a:r>
                    </a:p>
                  </a:txBody>
                  <a:tcPr marL="91440" marR="91440" marT="45720" marB="45720" anchor="ctr">
                    <a:solidFill>
                      <a:srgbClr val="183247"/>
                    </a:solidFill>
                  </a:tcPr>
                </a:tc>
                <a:tc>
                  <a:txBody>
                    <a:bodyPr lIns="171450" tIns="95250" rIns="152400" bIns="95250"/>
                    <a:lstStyle/>
                    <a:p>
                      <a:r>
                        <a:rPr sz="2325" b="1">
                          <a:solidFill>
                            <a:srgbClr val="FFFFFF"/>
                          </a:solidFill>
                          <a:latin typeface="Arial"/>
                          <a:ea typeface="Arial"/>
                          <a:cs typeface="Arial"/>
                        </a:rPr>
                        <a:t>Monopolie: Qm = 16</a:t>
                      </a:r>
                    </a:p>
                  </a:txBody>
                  <a:tcPr marL="91440" marR="91440" marT="45720" marB="45720" anchor="ctr">
                    <a:solidFill>
                      <a:srgbClr val="183247"/>
                    </a:solidFill>
                  </a:tcPr>
                </a:tc>
                <a:tc>
                  <a:txBody>
                    <a:bodyPr lIns="171450" tIns="95250" rIns="152400" bIns="95250"/>
                    <a:lstStyle/>
                    <a:p>
                      <a:r>
                        <a:rPr sz="2325" b="1">
                          <a:solidFill>
                            <a:srgbClr val="FFFFFF"/>
                          </a:solidFill>
                          <a:latin typeface="Arial"/>
                          <a:ea typeface="Arial"/>
                          <a:cs typeface="Arial"/>
                        </a:rPr>
                        <a:t>Efficiënt: Qe = 24</a:t>
                      </a:r>
                    </a:p>
                  </a:txBody>
                  <a:tcPr marL="91440" marR="91440" marT="45720" marB="45720" anchor="ctr">
                    <a:solidFill>
                      <a:srgbClr val="183247"/>
                    </a:solidFill>
                  </a:tcPr>
                </a:tc>
              </a:tr>
              <a:tr h="881063">
                <a:tc>
                  <a:txBody>
                    <a:bodyPr lIns="171450" tIns="95250" rIns="152400" bIns="95250"/>
                    <a:lstStyle/>
                    <a:p>
                      <a:r>
                        <a:rPr sz="2325" b="0">
                          <a:solidFill>
                            <a:srgbClr val="183247"/>
                          </a:solidFill>
                          <a:latin typeface="Arial"/>
                          <a:ea typeface="Arial"/>
                          <a:cs typeface="Arial"/>
                        </a:rPr>
                        <a:t>CS</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½ × 16 × (54 − 38) = 128</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½ × 24 × (54 − 30) = 288</a:t>
                      </a:r>
                    </a:p>
                  </a:txBody>
                  <a:tcPr marL="91440" marR="91440" marT="45720" marB="45720" anchor="ctr">
                    <a:solidFill>
                      <a:srgbClr val="FFFFFF"/>
                    </a:solidFill>
                  </a:tcPr>
                </a:tc>
              </a:tr>
              <a:tr h="881063">
                <a:tc>
                  <a:txBody>
                    <a:bodyPr lIns="171450" tIns="95250" rIns="152400" bIns="95250"/>
                    <a:lstStyle/>
                    <a:p>
                      <a:r>
                        <a:rPr sz="2325" b="0">
                          <a:solidFill>
                            <a:srgbClr val="183247"/>
                          </a:solidFill>
                          <a:latin typeface="Arial"/>
                          <a:ea typeface="Arial"/>
                          <a:cs typeface="Arial"/>
                        </a:rPr>
                        <a:t>PS = TO − TVK</a:t>
                      </a:r>
                    </a:p>
                  </a:txBody>
                  <a:tcPr marL="91440" marR="91440" marT="45720" marB="45720" anchor="ctr">
                    <a:solidFill>
                      <a:srgbClr val="EFF4F7"/>
                    </a:solidFill>
                  </a:tcPr>
                </a:tc>
                <a:tc>
                  <a:txBody>
                    <a:bodyPr lIns="171450" tIns="95250" rIns="152400" bIns="95250"/>
                    <a:lstStyle/>
                    <a:p>
                      <a:r>
                        <a:rPr sz="2325" b="0">
                          <a:solidFill>
                            <a:srgbClr val="183247"/>
                          </a:solidFill>
                          <a:latin typeface="Arial"/>
                          <a:ea typeface="Arial"/>
                          <a:cs typeface="Arial"/>
                        </a:rPr>
                        <a:t>608 − 224 = 384</a:t>
                      </a:r>
                    </a:p>
                  </a:txBody>
                  <a:tcPr marL="91440" marR="91440" marT="45720" marB="45720" anchor="ctr">
                    <a:solidFill>
                      <a:srgbClr val="EFF4F7"/>
                    </a:solidFill>
                  </a:tcPr>
                </a:tc>
                <a:tc>
                  <a:txBody>
                    <a:bodyPr lIns="171450" tIns="95250" rIns="152400" bIns="95250"/>
                    <a:lstStyle/>
                    <a:p>
                      <a:r>
                        <a:rPr sz="2325" b="0">
                          <a:solidFill>
                            <a:srgbClr val="183247"/>
                          </a:solidFill>
                          <a:latin typeface="Arial"/>
                          <a:ea typeface="Arial"/>
                          <a:cs typeface="Arial"/>
                        </a:rPr>
                        <a:t>720 − 432 = 288</a:t>
                      </a:r>
                    </a:p>
                  </a:txBody>
                  <a:tcPr marL="91440" marR="91440" marT="45720" marB="45720" anchor="ctr">
                    <a:solidFill>
                      <a:srgbClr val="EFF4F7"/>
                    </a:solidFill>
                  </a:tcPr>
                </a:tc>
              </a:tr>
              <a:tr h="881063">
                <a:tc>
                  <a:txBody>
                    <a:bodyPr lIns="171450" tIns="95250" rIns="152400" bIns="95250"/>
                    <a:lstStyle/>
                    <a:p>
                      <a:r>
                        <a:rPr sz="2325" b="0">
                          <a:solidFill>
                            <a:srgbClr val="183247"/>
                          </a:solidFill>
                          <a:latin typeface="Arial"/>
                          <a:ea typeface="Arial"/>
                          <a:cs typeface="Arial"/>
                        </a:rPr>
                        <a:t>TS = CS + PS</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512</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576</a:t>
                      </a:r>
                    </a:p>
                  </a:txBody>
                  <a:tcPr marL="91440" marR="91440" marT="45720" marB="45720" anchor="ctr">
                    <a:solidFill>
                      <a:srgbClr val="FFFFFF"/>
                    </a:solidFill>
                  </a:tcPr>
                </a:tc>
              </a:tr>
            </a:tbl>
          </a:graphicData>
        </a:graphic>
      </p:graphicFrame>
      <p:sp>
        <p:nvSpPr>
          <p:cNvPr id="6" name="Efficiënt: P = MK   ⇒   54 − Q = 6 + Q   ⇒   Qe = 24">
            <a:extLst xmlns:a="http://schemas.openxmlformats.org/drawingml/2006/main">
              <a:ext uri="{FF2B5EF4-FFF2-40B4-BE49-F238E27FC236}">
                <a16:creationId xmlns:a16="http://schemas.microsoft.com/office/drawing/2014/main" id="{15936EB1-4CFB-4AA4-8199-72BE8E9683CC}"/>
              </a:ext>
            </a:extLst>
          </p:cNvPr>
          <p:cNvSpPr>
            <a:spLocks xmlns:a="http://schemas.openxmlformats.org/drawingml/2006/main" noGrp="1"/>
          </p:cNvSpPr>
          <p:nvPr/>
        </p:nvSpPr>
        <p:spPr>
          <a:xfrm xmlns:a="http://schemas.openxmlformats.org/drawingml/2006/main">
            <a:off x="571500" y="6191250"/>
            <a:ext cx="14097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20665B"/>
                </a:solidFill>
                <a:latin typeface="Arial"/>
                <a:ea typeface="Arial"/>
                <a:cs typeface="Arial"/>
              </a:defRPr>
            </a:pPr>
            <a:r>
              <a:rPr sz="2850" b="1">
                <a:solidFill>
                  <a:srgbClr val="20665B"/>
                </a:solidFill>
                <a:latin typeface="Arial"/>
                <a:ea typeface="Arial"/>
                <a:cs typeface="Arial"/>
              </a:rPr>
              <a:t>Efficiënt: P = MK   ⇒   54 − Q = 6 + Q   ⇒   Qe = 24</a:t>
            </a:r>
          </a:p>
        </p:txBody>
      </p:sp>
      <p:sp>
        <p:nvSpPr>
          <p:cNvPr id="7" name="Welvaartsverlies = 576 − 512 = € 64 per week">
            <a:extLst xmlns:a="http://schemas.openxmlformats.org/drawingml/2006/main">
              <a:ext uri="{FF2B5EF4-FFF2-40B4-BE49-F238E27FC236}">
                <a16:creationId xmlns:a16="http://schemas.microsoft.com/office/drawing/2014/main" id="{9F172F99-7FC7-4AFA-BF40-A8EC1C5CB5F8}"/>
              </a:ext>
            </a:extLst>
          </p:cNvPr>
          <p:cNvSpPr>
            <a:spLocks xmlns:a="http://schemas.openxmlformats.org/drawingml/2006/main" noGrp="1"/>
          </p:cNvSpPr>
          <p:nvPr/>
        </p:nvSpPr>
        <p:spPr>
          <a:xfrm xmlns:a="http://schemas.openxmlformats.org/drawingml/2006/main">
            <a:off x="571500" y="7153275"/>
            <a:ext cx="14097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A94D16"/>
                </a:solidFill>
                <a:latin typeface="Arial"/>
                <a:ea typeface="Arial"/>
                <a:cs typeface="Arial"/>
              </a:defRPr>
            </a:pPr>
            <a:r>
              <a:rPr sz="3150" b="1">
                <a:solidFill>
                  <a:srgbClr val="A94D16"/>
                </a:solidFill>
                <a:latin typeface="Arial"/>
                <a:ea typeface="Arial"/>
                <a:cs typeface="Arial"/>
              </a:rPr>
              <a:t>Welvaartsverlies = 576 − 512 = € 64 per week</a:t>
            </a:r>
          </a:p>
        </p:txBody>
      </p:sp>
    </p:spTree>
    <p:extLst>
      <p:ext uri="{BB962C8B-B14F-4D97-AF65-F5344CB8AC3E}">
        <p14:creationId xmlns:p14="http://schemas.microsoft.com/office/powerpoint/2010/main" val="102205343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Maaltijdbezorging · De volledige rekening">
            <a:extLst xmlns:a="http://schemas.openxmlformats.org/drawingml/2006/main">
              <a:ext uri="{FF2B5EF4-FFF2-40B4-BE49-F238E27FC236}">
                <a16:creationId xmlns:a16="http://schemas.microsoft.com/office/drawing/2014/main" id="{987E1744-0269-47DF-AE58-38FE608743A4}"/>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Maaltijdbezorging · De volledige rekening</a:t>
            </a:r>
          </a:p>
        </p:txBody>
      </p:sp>
      <p:sp>
        <p:nvSpPr>
          <p:cNvPr id="2" name="">
            <a:extLst xmlns:a="http://schemas.openxmlformats.org/drawingml/2006/main">
              <a:ext uri="{FF2B5EF4-FFF2-40B4-BE49-F238E27FC236}">
                <a16:creationId xmlns:a16="http://schemas.microsoft.com/office/drawing/2014/main" id="{9BAC84A9-6F97-4A64-B142-6086513ED3AF}"/>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 Maaltijdbezorging">
            <a:extLst xmlns:a="http://schemas.openxmlformats.org/drawingml/2006/main">
              <a:ext uri="{FF2B5EF4-FFF2-40B4-BE49-F238E27FC236}">
                <a16:creationId xmlns:a16="http://schemas.microsoft.com/office/drawing/2014/main" id="{3BEF7257-2360-4D86-9BBC-D7F43BBDF9FC}"/>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 · Maaltijdbezorging</a:t>
            </a:r>
          </a:p>
        </p:txBody>
      </p:sp>
      <p:sp>
        <p:nvSpPr>
          <p:cNvPr id="4" name="slide-number">
            <a:extLst xmlns:a="http://schemas.openxmlformats.org/drawingml/2006/main">
              <a:ext uri="{FF2B5EF4-FFF2-40B4-BE49-F238E27FC236}">
                <a16:creationId xmlns:a16="http://schemas.microsoft.com/office/drawing/2014/main" id="{77506CBF-35CC-4CEB-9ED3-4C0D77896A95}"/>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5</a:t>
            </a:r>
          </a:p>
        </p:txBody>
      </p:sp>
      <p:sp>
        <p:nvSpPr>
          <p:cNvPr id="5" name="Gegeven weekuitkomsten · schade € 3 per bezorging · heffing € 3">
            <a:extLst xmlns:a="http://schemas.openxmlformats.org/drawingml/2006/main">
              <a:ext uri="{FF2B5EF4-FFF2-40B4-BE49-F238E27FC236}">
                <a16:creationId xmlns:a16="http://schemas.microsoft.com/office/drawing/2014/main" id="{9D58AF8F-1249-4757-9D29-CDD286070731}"/>
              </a:ext>
            </a:extLst>
          </p:cNvPr>
          <p:cNvSpPr>
            <a:spLocks xmlns:a="http://schemas.openxmlformats.org/drawingml/2006/main" noGrp="1"/>
          </p:cNvSpPr>
          <p:nvPr/>
        </p:nvSpPr>
        <p:spPr>
          <a:xfrm xmlns:a="http://schemas.openxmlformats.org/drawingml/2006/main">
            <a:off x="571500" y="1743075"/>
            <a:ext cx="1409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A5276"/>
                </a:solidFill>
                <a:latin typeface="Arial"/>
                <a:ea typeface="Arial"/>
                <a:cs typeface="Arial"/>
              </a:defRPr>
            </a:pPr>
            <a:r>
              <a:rPr sz="2625" b="1">
                <a:solidFill>
                  <a:srgbClr val="1A5276"/>
                </a:solidFill>
                <a:latin typeface="Arial"/>
                <a:ea typeface="Arial"/>
                <a:cs typeface="Arial"/>
              </a:rPr>
              <a:t>Gegeven weekuitkomsten · schade € 3 per bezorging · heffing € 3</a:t>
            </a:r>
          </a:p>
        </p:txBody>
      </p:sp>
      <p:graphicFrame>
        <p:nvGraphicFramePr>
          <p:cNvPr id="13" name=""/>
          <p:cNvGraphicFramePr/>
          <p:nvPr/>
        </p:nvGraphicFramePr>
        <p:xfrm>
          <a:off xmlns:a="http://schemas.openxmlformats.org/drawingml/2006/main" x="571500" y="2800350"/>
          <a:ext xmlns:a="http://schemas.openxmlformats.org/drawingml/2006/main" cx="14097000" cy="4010025"/>
        </p:xfrm>
        <a:graphic xmlns:a="http://schemas.openxmlformats.org/drawingml/2006/main">
          <a:graphicData uri="http://schemas.openxmlformats.org/drawingml/2006/table">
            <a:tbl>
              <a:tblPr/>
              <a:tblGrid>
                <a:gridCol w="5524500"/>
                <a:gridCol w="3714750"/>
                <a:gridCol w="4857750"/>
              </a:tblGrid>
              <a:tr h="572861">
                <a:tc>
                  <a:txBody>
                    <a:bodyPr lIns="171450" tIns="95250" rIns="152400" bIns="95250"/>
                    <a:lstStyle/>
                    <a:p>
                      <a:r>
                        <a:rPr sz="2250" b="1">
                          <a:solidFill>
                            <a:srgbClr val="FFFFFF"/>
                          </a:solidFill>
                          <a:latin typeface="Arial"/>
                          <a:ea typeface="Arial"/>
                          <a:cs typeface="Arial"/>
                        </a:rPr>
                        <a:t>Post</a:t>
                      </a:r>
                    </a:p>
                  </a:txBody>
                  <a:tcPr marL="91440" marR="91440" marT="45720" marB="45720" anchor="ctr">
                    <a:solidFill>
                      <a:srgbClr val="183247"/>
                    </a:solidFill>
                  </a:tcPr>
                </a:tc>
                <a:tc>
                  <a:txBody>
                    <a:bodyPr lIns="171450" tIns="95250" rIns="152400" bIns="95250"/>
                    <a:lstStyle/>
                    <a:p>
                      <a:r>
                        <a:rPr sz="2250" b="1">
                          <a:solidFill>
                            <a:srgbClr val="FFFFFF"/>
                          </a:solidFill>
                          <a:latin typeface="Arial"/>
                          <a:ea typeface="Arial"/>
                          <a:cs typeface="Arial"/>
                        </a:rPr>
                        <a:t>Zonder heffing</a:t>
                      </a:r>
                    </a:p>
                  </a:txBody>
                  <a:tcPr marL="91440" marR="91440" marT="45720" marB="45720" anchor="ctr">
                    <a:solidFill>
                      <a:srgbClr val="183247"/>
                    </a:solidFill>
                  </a:tcPr>
                </a:tc>
                <a:tc>
                  <a:txBody>
                    <a:bodyPr lIns="171450" tIns="95250" rIns="152400" bIns="95250"/>
                    <a:lstStyle/>
                    <a:p>
                      <a:r>
                        <a:rPr sz="2250" b="1">
                          <a:solidFill>
                            <a:srgbClr val="FFFFFF"/>
                          </a:solidFill>
                          <a:latin typeface="Arial"/>
                          <a:ea typeface="Arial"/>
                          <a:cs typeface="Arial"/>
                        </a:rPr>
                        <a:t>Met heffing</a:t>
                      </a:r>
                    </a:p>
                  </a:txBody>
                  <a:tcPr marL="91440" marR="91440" marT="45720" marB="45720" anchor="ctr">
                    <a:solidFill>
                      <a:srgbClr val="183247"/>
                    </a:solidFill>
                  </a:tcPr>
                </a:tc>
              </a:tr>
              <a:tr h="572861">
                <a:tc>
                  <a:txBody>
                    <a:bodyPr lIns="171450" tIns="95250" rIns="152400" bIns="95250"/>
                    <a:lstStyle/>
                    <a:p>
                      <a:r>
                        <a:rPr sz="2250" b="0">
                          <a:solidFill>
                            <a:srgbClr val="183247"/>
                          </a:solidFill>
                          <a:latin typeface="Arial"/>
                          <a:ea typeface="Arial"/>
                          <a:cs typeface="Arial"/>
                        </a:rPr>
                        <a:t>Bezorgingen per week</a:t>
                      </a:r>
                    </a:p>
                  </a:txBody>
                  <a:tcPr marL="91440" marR="91440" marT="45720" marB="45720" anchor="ctr">
                    <a:solidFill>
                      <a:srgbClr val="FFFFFF"/>
                    </a:solidFill>
                  </a:tcPr>
                </a:tc>
                <a:tc>
                  <a:txBody>
                    <a:bodyPr lIns="171450" tIns="95250" rIns="152400" bIns="95250"/>
                    <a:lstStyle/>
                    <a:p>
                      <a:r>
                        <a:rPr sz="2250" b="0">
                          <a:solidFill>
                            <a:srgbClr val="183247"/>
                          </a:solidFill>
                          <a:latin typeface="Arial"/>
                          <a:ea typeface="Arial"/>
                          <a:cs typeface="Arial"/>
                        </a:rPr>
                        <a:t>10</a:t>
                      </a:r>
                    </a:p>
                  </a:txBody>
                  <a:tcPr marL="91440" marR="91440" marT="45720" marB="45720" anchor="ctr">
                    <a:solidFill>
                      <a:srgbClr val="FFFFFF"/>
                    </a:solidFill>
                  </a:tcPr>
                </a:tc>
                <a:tc>
                  <a:txBody>
                    <a:bodyPr lIns="171450" tIns="95250" rIns="152400" bIns="95250"/>
                    <a:lstStyle/>
                    <a:p>
                      <a:r>
                        <a:rPr sz="2250" b="0">
                          <a:solidFill>
                            <a:srgbClr val="183247"/>
                          </a:solidFill>
                          <a:latin typeface="Arial"/>
                          <a:ea typeface="Arial"/>
                          <a:cs typeface="Arial"/>
                        </a:rPr>
                        <a:t>8</a:t>
                      </a:r>
                    </a:p>
                  </a:txBody>
                  <a:tcPr marL="91440" marR="91440" marT="45720" marB="45720" anchor="ctr">
                    <a:solidFill>
                      <a:srgbClr val="FFFFFF"/>
                    </a:solidFill>
                  </a:tcPr>
                </a:tc>
              </a:tr>
              <a:tr h="572861">
                <a:tc>
                  <a:txBody>
                    <a:bodyPr lIns="171450" tIns="95250" rIns="152400" bIns="95250"/>
                    <a:lstStyle/>
                    <a:p>
                      <a:r>
                        <a:rPr sz="2250" b="0">
                          <a:solidFill>
                            <a:srgbClr val="183247"/>
                          </a:solidFill>
                          <a:latin typeface="Arial"/>
                          <a:ea typeface="Arial"/>
                          <a:cs typeface="Arial"/>
                        </a:rPr>
                        <a:t>CS + PS (€ per week)</a:t>
                      </a:r>
                    </a:p>
                  </a:txBody>
                  <a:tcPr marL="91440" marR="91440" marT="45720" marB="45720" anchor="ctr">
                    <a:solidFill>
                      <a:srgbClr val="EFF4F7"/>
                    </a:solidFill>
                  </a:tcPr>
                </a:tc>
                <a:tc>
                  <a:txBody>
                    <a:bodyPr lIns="171450" tIns="95250" rIns="152400" bIns="95250"/>
                    <a:lstStyle/>
                    <a:p>
                      <a:r>
                        <a:rPr sz="2250" b="0">
                          <a:solidFill>
                            <a:srgbClr val="183247"/>
                          </a:solidFill>
                          <a:latin typeface="Arial"/>
                          <a:ea typeface="Arial"/>
                          <a:cs typeface="Arial"/>
                        </a:rPr>
                        <a:t>75</a:t>
                      </a:r>
                    </a:p>
                  </a:txBody>
                  <a:tcPr marL="91440" marR="91440" marT="45720" marB="45720" anchor="ctr">
                    <a:solidFill>
                      <a:srgbClr val="EFF4F7"/>
                    </a:solidFill>
                  </a:tcPr>
                </a:tc>
                <a:tc>
                  <a:txBody>
                    <a:bodyPr lIns="171450" tIns="95250" rIns="152400" bIns="95250"/>
                    <a:lstStyle/>
                    <a:p>
                      <a:r>
                        <a:rPr sz="2250" b="0">
                          <a:solidFill>
                            <a:srgbClr val="183247"/>
                          </a:solidFill>
                          <a:latin typeface="Arial"/>
                          <a:ea typeface="Arial"/>
                          <a:cs typeface="Arial"/>
                        </a:rPr>
                        <a:t>48</a:t>
                      </a:r>
                    </a:p>
                  </a:txBody>
                  <a:tcPr marL="91440" marR="91440" marT="45720" marB="45720" anchor="ctr">
                    <a:solidFill>
                      <a:srgbClr val="EFF4F7"/>
                    </a:solidFill>
                  </a:tcPr>
                </a:tc>
              </a:tr>
              <a:tr h="572861">
                <a:tc>
                  <a:txBody>
                    <a:bodyPr lIns="171450" tIns="95250" rIns="152400" bIns="95250"/>
                    <a:lstStyle/>
                    <a:p>
                      <a:r>
                        <a:rPr sz="2250" b="0">
                          <a:solidFill>
                            <a:srgbClr val="183247"/>
                          </a:solidFill>
                          <a:latin typeface="Arial"/>
                          <a:ea typeface="Arial"/>
                          <a:cs typeface="Arial"/>
                        </a:rPr>
                        <a:t>+ Overheidsontvangsten</a:t>
                      </a:r>
                    </a:p>
                  </a:txBody>
                  <a:tcPr marL="91440" marR="91440" marT="45720" marB="45720" anchor="ctr">
                    <a:solidFill>
                      <a:srgbClr val="FFFFFF"/>
                    </a:solidFill>
                  </a:tcPr>
                </a:tc>
                <a:tc>
                  <a:txBody>
                    <a:bodyPr lIns="171450" tIns="95250" rIns="152400" bIns="95250"/>
                    <a:lstStyle/>
                    <a:p>
                      <a:r>
                        <a:rPr sz="2250" b="0">
                          <a:solidFill>
                            <a:srgbClr val="183247"/>
                          </a:solidFill>
                          <a:latin typeface="Arial"/>
                          <a:ea typeface="Arial"/>
                          <a:cs typeface="Arial"/>
                        </a:rPr>
                        <a:t>0</a:t>
                      </a:r>
                    </a:p>
                  </a:txBody>
                  <a:tcPr marL="91440" marR="91440" marT="45720" marB="45720" anchor="ctr">
                    <a:solidFill>
                      <a:srgbClr val="FFFFFF"/>
                    </a:solidFill>
                  </a:tcPr>
                </a:tc>
                <a:tc>
                  <a:txBody>
                    <a:bodyPr lIns="171450" tIns="95250" rIns="152400" bIns="95250"/>
                    <a:lstStyle/>
                    <a:p>
                      <a:r>
                        <a:rPr sz="2250" b="0">
                          <a:solidFill>
                            <a:srgbClr val="183247"/>
                          </a:solidFill>
                          <a:latin typeface="Arial"/>
                          <a:ea typeface="Arial"/>
                          <a:cs typeface="Arial"/>
                        </a:rPr>
                        <a:t>3 × 8 = 24</a:t>
                      </a:r>
                    </a:p>
                  </a:txBody>
                  <a:tcPr marL="91440" marR="91440" marT="45720" marB="45720" anchor="ctr">
                    <a:solidFill>
                      <a:srgbClr val="FFFFFF"/>
                    </a:solidFill>
                  </a:tcPr>
                </a:tc>
              </a:tr>
              <a:tr h="572861">
                <a:tc>
                  <a:txBody>
                    <a:bodyPr lIns="171450" tIns="95250" rIns="152400" bIns="95250"/>
                    <a:lstStyle/>
                    <a:p>
                      <a:r>
                        <a:rPr sz="2250" b="0">
                          <a:solidFill>
                            <a:srgbClr val="183247"/>
                          </a:solidFill>
                          <a:latin typeface="Arial"/>
                          <a:ea typeface="Arial"/>
                          <a:cs typeface="Arial"/>
                        </a:rPr>
                        <a:t>− Externe schade</a:t>
                      </a:r>
                    </a:p>
                  </a:txBody>
                  <a:tcPr marL="91440" marR="91440" marT="45720" marB="45720" anchor="ctr">
                    <a:solidFill>
                      <a:srgbClr val="EFF4F7"/>
                    </a:solidFill>
                  </a:tcPr>
                </a:tc>
                <a:tc>
                  <a:txBody>
                    <a:bodyPr lIns="171450" tIns="95250" rIns="152400" bIns="95250"/>
                    <a:lstStyle/>
                    <a:p>
                      <a:r>
                        <a:rPr sz="2250" b="0">
                          <a:solidFill>
                            <a:srgbClr val="183247"/>
                          </a:solidFill>
                          <a:latin typeface="Arial"/>
                          <a:ea typeface="Arial"/>
                          <a:cs typeface="Arial"/>
                        </a:rPr>
                        <a:t>3 × 10 = 30</a:t>
                      </a:r>
                    </a:p>
                  </a:txBody>
                  <a:tcPr marL="91440" marR="91440" marT="45720" marB="45720" anchor="ctr">
                    <a:solidFill>
                      <a:srgbClr val="EFF4F7"/>
                    </a:solidFill>
                  </a:tcPr>
                </a:tc>
                <a:tc>
                  <a:txBody>
                    <a:bodyPr lIns="171450" tIns="95250" rIns="152400" bIns="95250"/>
                    <a:lstStyle/>
                    <a:p>
                      <a:r>
                        <a:rPr sz="2250" b="0">
                          <a:solidFill>
                            <a:srgbClr val="183247"/>
                          </a:solidFill>
                          <a:latin typeface="Arial"/>
                          <a:ea typeface="Arial"/>
                          <a:cs typeface="Arial"/>
                        </a:rPr>
                        <a:t>3 × 8 = 24</a:t>
                      </a:r>
                    </a:p>
                  </a:txBody>
                  <a:tcPr marL="91440" marR="91440" marT="45720" marB="45720" anchor="ctr">
                    <a:solidFill>
                      <a:srgbClr val="EFF4F7"/>
                    </a:solidFill>
                  </a:tcPr>
                </a:tc>
              </a:tr>
              <a:tr h="572861">
                <a:tc>
                  <a:txBody>
                    <a:bodyPr lIns="171450" tIns="95250" rIns="152400" bIns="95250"/>
                    <a:lstStyle/>
                    <a:p>
                      <a:r>
                        <a:rPr sz="2250" b="0">
                          <a:solidFill>
                            <a:srgbClr val="183247"/>
                          </a:solidFill>
                          <a:latin typeface="Arial"/>
                          <a:ea typeface="Arial"/>
                          <a:cs typeface="Arial"/>
                        </a:rPr>
                        <a:t>− Uitvoeringskosten</a:t>
                      </a:r>
                    </a:p>
                  </a:txBody>
                  <a:tcPr marL="91440" marR="91440" marT="45720" marB="45720" anchor="ctr">
                    <a:solidFill>
                      <a:srgbClr val="FFFFFF"/>
                    </a:solidFill>
                  </a:tcPr>
                </a:tc>
                <a:tc>
                  <a:txBody>
                    <a:bodyPr lIns="171450" tIns="95250" rIns="152400" bIns="95250"/>
                    <a:lstStyle/>
                    <a:p>
                      <a:r>
                        <a:rPr sz="2250" b="0">
                          <a:solidFill>
                            <a:srgbClr val="183247"/>
                          </a:solidFill>
                          <a:latin typeface="Arial"/>
                          <a:ea typeface="Arial"/>
                          <a:cs typeface="Arial"/>
                        </a:rPr>
                        <a:t>0</a:t>
                      </a:r>
                    </a:p>
                  </a:txBody>
                  <a:tcPr marL="91440" marR="91440" marT="45720" marB="45720" anchor="ctr">
                    <a:solidFill>
                      <a:srgbClr val="FFFFFF"/>
                    </a:solidFill>
                  </a:tcPr>
                </a:tc>
                <a:tc>
                  <a:txBody>
                    <a:bodyPr lIns="171450" tIns="95250" rIns="152400" bIns="95250"/>
                    <a:lstStyle/>
                    <a:p>
                      <a:r>
                        <a:rPr sz="2250" b="0">
                          <a:solidFill>
                            <a:srgbClr val="183247"/>
                          </a:solidFill>
                          <a:latin typeface="Arial"/>
                          <a:ea typeface="Arial"/>
                          <a:cs typeface="Arial"/>
                        </a:rPr>
                        <a:t>2</a:t>
                      </a:r>
                    </a:p>
                  </a:txBody>
                  <a:tcPr marL="91440" marR="91440" marT="45720" marB="45720" anchor="ctr">
                    <a:solidFill>
                      <a:srgbClr val="FFFFFF"/>
                    </a:solidFill>
                  </a:tcPr>
                </a:tc>
              </a:tr>
              <a:tr h="572861">
                <a:tc>
                  <a:txBody>
                    <a:bodyPr lIns="171450" tIns="95250" rIns="152400" bIns="95250"/>
                    <a:lstStyle/>
                    <a:p>
                      <a:r>
                        <a:rPr sz="2250" b="0">
                          <a:solidFill>
                            <a:srgbClr val="183247"/>
                          </a:solidFill>
                          <a:latin typeface="Arial"/>
                          <a:ea typeface="Arial"/>
                          <a:cs typeface="Arial"/>
                        </a:rPr>
                        <a:t>Maatschappelijk surplus</a:t>
                      </a:r>
                    </a:p>
                  </a:txBody>
                  <a:tcPr marL="91440" marR="91440" marT="45720" marB="45720" anchor="ctr">
                    <a:solidFill>
                      <a:srgbClr val="EFF4F7"/>
                    </a:solidFill>
                  </a:tcPr>
                </a:tc>
                <a:tc>
                  <a:txBody>
                    <a:bodyPr lIns="171450" tIns="95250" rIns="152400" bIns="95250"/>
                    <a:lstStyle/>
                    <a:p>
                      <a:r>
                        <a:rPr sz="2250" b="0">
                          <a:solidFill>
                            <a:srgbClr val="183247"/>
                          </a:solidFill>
                          <a:latin typeface="Arial"/>
                          <a:ea typeface="Arial"/>
                          <a:cs typeface="Arial"/>
                        </a:rPr>
                        <a:t>75 − 30 = 45</a:t>
                      </a:r>
                    </a:p>
                  </a:txBody>
                  <a:tcPr marL="91440" marR="91440" marT="45720" marB="45720" anchor="ctr">
                    <a:solidFill>
                      <a:srgbClr val="EFF4F7"/>
                    </a:solidFill>
                  </a:tcPr>
                </a:tc>
                <a:tc>
                  <a:txBody>
                    <a:bodyPr lIns="171450" tIns="95250" rIns="152400" bIns="95250"/>
                    <a:lstStyle/>
                    <a:p>
                      <a:r>
                        <a:rPr sz="2250" b="0">
                          <a:solidFill>
                            <a:srgbClr val="183247"/>
                          </a:solidFill>
                          <a:latin typeface="Arial"/>
                          <a:ea typeface="Arial"/>
                          <a:cs typeface="Arial"/>
                        </a:rPr>
                        <a:t>48 + 24 − 24 − 2 = 46</a:t>
                      </a:r>
                    </a:p>
                  </a:txBody>
                  <a:tcPr marL="91440" marR="91440" marT="45720" marB="45720" anchor="ctr">
                    <a:solidFill>
                      <a:srgbClr val="EFF4F7"/>
                    </a:solidFill>
                  </a:tcPr>
                </a:tc>
              </a:tr>
            </a:tbl>
          </a:graphicData>
        </a:graphic>
      </p:graphicFrame>
      <p:sp>
        <p:nvSpPr>
          <p:cNvPr id="7" name="Verandering: 46 − 45 = € 1 per week">
            <a:extLst xmlns:a="http://schemas.openxmlformats.org/drawingml/2006/main">
              <a:ext uri="{FF2B5EF4-FFF2-40B4-BE49-F238E27FC236}">
                <a16:creationId xmlns:a16="http://schemas.microsoft.com/office/drawing/2014/main" id="{EE970B45-C005-4DD1-8186-4136769404DF}"/>
              </a:ext>
            </a:extLst>
          </p:cNvPr>
          <p:cNvSpPr>
            <a:spLocks xmlns:a="http://schemas.openxmlformats.org/drawingml/2006/main" noGrp="1"/>
          </p:cNvSpPr>
          <p:nvPr/>
        </p:nvSpPr>
        <p:spPr>
          <a:xfrm xmlns:a="http://schemas.openxmlformats.org/drawingml/2006/main">
            <a:off x="571500" y="7239000"/>
            <a:ext cx="14097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20665B"/>
                </a:solidFill>
                <a:latin typeface="Arial"/>
                <a:ea typeface="Arial"/>
                <a:cs typeface="Arial"/>
              </a:defRPr>
            </a:pPr>
            <a:r>
              <a:rPr sz="3075" b="1">
                <a:solidFill>
                  <a:srgbClr val="20665B"/>
                </a:solidFill>
                <a:latin typeface="Arial"/>
                <a:ea typeface="Arial"/>
                <a:cs typeface="Arial"/>
              </a:rPr>
              <a:t>Verandering: 46 − 45 = € 1 per week</a:t>
            </a:r>
          </a:p>
        </p:txBody>
      </p:sp>
    </p:spTree>
    <p:extLst>
      <p:ext uri="{BB962C8B-B14F-4D97-AF65-F5344CB8AC3E}">
        <p14:creationId xmlns:p14="http://schemas.microsoft.com/office/powerpoint/2010/main" val="8014095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4.2.7 Gemengde opgaven">
            <a:extLst xmlns:a="http://schemas.openxmlformats.org/drawingml/2006/main">
              <a:ext uri="{FF2B5EF4-FFF2-40B4-BE49-F238E27FC236}">
                <a16:creationId xmlns:a16="http://schemas.microsoft.com/office/drawing/2014/main" id="{6983BEB8-8851-45F7-BF0C-E520034ACF8F}"/>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Deze les: §4.2.7 Gemengde opgaven</a:t>
            </a:r>
          </a:p>
        </p:txBody>
      </p:sp>
      <p:sp>
        <p:nvSpPr>
          <p:cNvPr id="2" name="">
            <a:extLst xmlns:a="http://schemas.openxmlformats.org/drawingml/2006/main">
              <a:ext uri="{FF2B5EF4-FFF2-40B4-BE49-F238E27FC236}">
                <a16:creationId xmlns:a16="http://schemas.microsoft.com/office/drawing/2014/main" id="{70F1AD9D-11DF-4605-A9CE-1CBE783CCF73}"/>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7 Gemengde opgaven: marktvormen en marktfalen">
            <a:extLst xmlns:a="http://schemas.openxmlformats.org/drawingml/2006/main">
              <a:ext uri="{FF2B5EF4-FFF2-40B4-BE49-F238E27FC236}">
                <a16:creationId xmlns:a16="http://schemas.microsoft.com/office/drawing/2014/main" id="{DD51248A-17B6-4419-9945-483D69B725C1}"/>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§4.2.7 Gemengde opgaven: marktvormen en marktfalen</a:t>
            </a:r>
          </a:p>
        </p:txBody>
      </p:sp>
      <p:sp>
        <p:nvSpPr>
          <p:cNvPr id="4" name="slide-number">
            <a:extLst xmlns:a="http://schemas.openxmlformats.org/drawingml/2006/main">
              <a:ext uri="{FF2B5EF4-FFF2-40B4-BE49-F238E27FC236}">
                <a16:creationId xmlns:a16="http://schemas.microsoft.com/office/drawing/2014/main" id="{A2198845-75D7-471E-B249-089137D639FB}"/>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6</a:t>
            </a:r>
          </a:p>
        </p:txBody>
      </p:sp>
      <p:sp>
        <p:nvSpPr>
          <p:cNvPr id="5" name="phase">
            <a:extLst xmlns:a="http://schemas.openxmlformats.org/drawingml/2006/main">
              <a:ext uri="{FF2B5EF4-FFF2-40B4-BE49-F238E27FC236}">
                <a16:creationId xmlns:a16="http://schemas.microsoft.com/office/drawing/2014/main" id="{65106338-C243-4D37-BCAA-5791B34CD148}"/>
              </a:ext>
            </a:extLst>
          </p:cNvPr>
          <p:cNvSpPr>
            <a:spLocks xmlns:a="http://schemas.openxmlformats.org/drawingml/2006/main" noGrp="1"/>
          </p:cNvSpPr>
          <p:nvPr/>
        </p:nvSpPr>
        <p:spPr>
          <a:xfrm xmlns:a="http://schemas.openxmlformats.org/drawingml/2006/main">
            <a:off x="571500" y="1066800"/>
            <a:ext cx="1381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Nu: Zelfstandig werken</a:t>
            </a:r>
          </a:p>
        </p:txBody>
      </p:sp>
      <p:sp>
        <p:nvSpPr>
          <p:cNvPr id="6" name="Lesroute">
            <a:extLst xmlns:a="http://schemas.openxmlformats.org/drawingml/2006/main">
              <a:ext uri="{FF2B5EF4-FFF2-40B4-BE49-F238E27FC236}">
                <a16:creationId xmlns:a16="http://schemas.microsoft.com/office/drawing/2014/main" id="{75F13DCF-D563-4A19-B342-DF1604310AE0}"/>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E8394810-DAD5-4D13-98A7-3FA5B6298E8E}"/>
              </a:ext>
            </a:extLst>
          </p:cNvPr>
          <p:cNvSpPr>
            <a:spLocks xmlns:a="http://schemas.openxmlformats.org/drawingml/2006/main" noGrp="1"/>
          </p:cNvSpPr>
          <p:nvPr/>
        </p:nvSpPr>
        <p:spPr>
          <a:xfrm xmlns:a="http://schemas.openxmlformats.org/drawingml/2006/main">
            <a:off x="571500" y="2324100"/>
            <a:ext cx="457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668BF6C9-1D32-42B1-B8DB-2B92FFFA7738}"/>
              </a:ext>
            </a:extLst>
          </p:cNvPr>
          <p:cNvSpPr>
            <a:spLocks xmlns:a="http://schemas.openxmlformats.org/drawingml/2006/main" noGrp="1"/>
          </p:cNvSpPr>
          <p:nvPr/>
        </p:nvSpPr>
        <p:spPr>
          <a:xfrm xmlns:a="http://schemas.openxmlformats.org/drawingml/2006/main">
            <a:off x="1104900" y="2324100"/>
            <a:ext cx="74199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FD073628-4725-4889-9761-9DCFAE11E543}"/>
              </a:ext>
            </a:extLst>
          </p:cNvPr>
          <p:cNvSpPr>
            <a:spLocks xmlns:a="http://schemas.openxmlformats.org/drawingml/2006/main" noGrp="1"/>
          </p:cNvSpPr>
          <p:nvPr/>
        </p:nvSpPr>
        <p:spPr>
          <a:xfrm xmlns:a="http://schemas.openxmlformats.org/drawingml/2006/main">
            <a:off x="571500" y="3305175"/>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D52A8F64-AF06-46A1-8163-0C378C5A1461}"/>
              </a:ext>
            </a:extLst>
          </p:cNvPr>
          <p:cNvSpPr>
            <a:spLocks xmlns:a="http://schemas.openxmlformats.org/drawingml/2006/main" noGrp="1"/>
          </p:cNvSpPr>
          <p:nvPr/>
        </p:nvSpPr>
        <p:spPr>
          <a:xfrm xmlns:a="http://schemas.openxmlformats.org/drawingml/2006/main">
            <a:off x="1104900" y="3305175"/>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072A7F4A-2DEF-4838-83AE-03E82046716D}"/>
              </a:ext>
            </a:extLst>
          </p:cNvPr>
          <p:cNvSpPr>
            <a:spLocks xmlns:a="http://schemas.openxmlformats.org/drawingml/2006/main" noGrp="1"/>
          </p:cNvSpPr>
          <p:nvPr/>
        </p:nvSpPr>
        <p:spPr>
          <a:xfrm xmlns:a="http://schemas.openxmlformats.org/drawingml/2006/main">
            <a:off x="571500" y="3895725"/>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21FF7722-1D0D-4BB6-B95D-00080CB55AF5}"/>
              </a:ext>
            </a:extLst>
          </p:cNvPr>
          <p:cNvSpPr>
            <a:spLocks xmlns:a="http://schemas.openxmlformats.org/drawingml/2006/main" noGrp="1"/>
          </p:cNvSpPr>
          <p:nvPr/>
        </p:nvSpPr>
        <p:spPr>
          <a:xfrm xmlns:a="http://schemas.openxmlformats.org/drawingml/2006/main">
            <a:off x="1104900" y="3895725"/>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Korte herhaling en aanpak.</a:t>
            </a:r>
          </a:p>
        </p:txBody>
      </p:sp>
      <p:sp>
        <p:nvSpPr>
          <p:cNvPr id="13" name="route-number-4">
            <a:extLst xmlns:a="http://schemas.openxmlformats.org/drawingml/2006/main">
              <a:ext uri="{FF2B5EF4-FFF2-40B4-BE49-F238E27FC236}">
                <a16:creationId xmlns:a16="http://schemas.microsoft.com/office/drawing/2014/main" id="{B71D9308-092F-42BC-9405-0232F5C0AC26}"/>
              </a:ext>
            </a:extLst>
          </p:cNvPr>
          <p:cNvSpPr>
            <a:spLocks xmlns:a="http://schemas.openxmlformats.org/drawingml/2006/main" noGrp="1"/>
          </p:cNvSpPr>
          <p:nvPr/>
        </p:nvSpPr>
        <p:spPr>
          <a:xfrm xmlns:a="http://schemas.openxmlformats.org/drawingml/2006/main">
            <a:off x="571500" y="4533900"/>
            <a:ext cx="4572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A7341388-6F6A-4AB8-8AAE-89030D5920B2}"/>
              </a:ext>
            </a:extLst>
          </p:cNvPr>
          <p:cNvSpPr>
            <a:spLocks xmlns:a="http://schemas.openxmlformats.org/drawingml/2006/main" noGrp="1"/>
          </p:cNvSpPr>
          <p:nvPr/>
        </p:nvSpPr>
        <p:spPr>
          <a:xfrm xmlns:a="http://schemas.openxmlformats.org/drawingml/2006/main">
            <a:off x="1104900" y="4533900"/>
            <a:ext cx="741997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Werk verder aan de gemengde opgaven, stel vragen en kijk je antwoorden na.</a:t>
            </a:r>
          </a:p>
        </p:txBody>
      </p:sp>
      <p:sp>
        <p:nvSpPr>
          <p:cNvPr id="15" name="route-number-5">
            <a:extLst xmlns:a="http://schemas.openxmlformats.org/drawingml/2006/main">
              <a:ext uri="{FF2B5EF4-FFF2-40B4-BE49-F238E27FC236}">
                <a16:creationId xmlns:a16="http://schemas.microsoft.com/office/drawing/2014/main" id="{87498EAC-0B33-4060-850F-B2EE328F0E11}"/>
              </a:ext>
            </a:extLst>
          </p:cNvPr>
          <p:cNvSpPr>
            <a:spLocks xmlns:a="http://schemas.openxmlformats.org/drawingml/2006/main" noGrp="1"/>
          </p:cNvSpPr>
          <p:nvPr/>
        </p:nvSpPr>
        <p:spPr>
          <a:xfrm xmlns:a="http://schemas.openxmlformats.org/drawingml/2006/main">
            <a:off x="571500" y="5743575"/>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4A59DAF4-2DC2-4D1B-B97F-A7F7288BEF55}"/>
              </a:ext>
            </a:extLst>
          </p:cNvPr>
          <p:cNvSpPr>
            <a:spLocks xmlns:a="http://schemas.openxmlformats.org/drawingml/2006/main" noGrp="1"/>
          </p:cNvSpPr>
          <p:nvPr/>
        </p:nvSpPr>
        <p:spPr>
          <a:xfrm xmlns:a="http://schemas.openxmlformats.org/drawingml/2006/main">
            <a:off x="1104900" y="5743575"/>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B53103DF-FD13-4E06-A9F6-5677156A29B9}"/>
              </a:ext>
            </a:extLst>
          </p:cNvPr>
          <p:cNvSpPr>
            <a:spLocks xmlns:a="http://schemas.openxmlformats.org/drawingml/2006/main" noGrp="1"/>
          </p:cNvSpPr>
          <p:nvPr/>
        </p:nvSpPr>
        <p:spPr>
          <a:xfrm xmlns:a="http://schemas.openxmlformats.org/drawingml/2006/main">
            <a:off x="571500" y="6629400"/>
            <a:ext cx="457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FF8EBEDA-9F44-402D-AE83-61071B9BF59B}"/>
              </a:ext>
            </a:extLst>
          </p:cNvPr>
          <p:cNvSpPr>
            <a:spLocks xmlns:a="http://schemas.openxmlformats.org/drawingml/2006/main" noGrp="1"/>
          </p:cNvSpPr>
          <p:nvPr/>
        </p:nvSpPr>
        <p:spPr>
          <a:xfrm xmlns:a="http://schemas.openxmlformats.org/drawingml/2006/main">
            <a:off x="1104900" y="6629400"/>
            <a:ext cx="74199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58.</a:t>
            </a:r>
          </a:p>
        </p:txBody>
      </p:sp>
      <p:sp>
        <p:nvSpPr>
          <p:cNvPr id="19" name="route-number-7">
            <a:extLst xmlns:a="http://schemas.openxmlformats.org/drawingml/2006/main">
              <a:ext uri="{FF2B5EF4-FFF2-40B4-BE49-F238E27FC236}">
                <a16:creationId xmlns:a16="http://schemas.microsoft.com/office/drawing/2014/main" id="{A0B5A4C8-9A78-4A16-99F2-1CE4C976F8AC}"/>
              </a:ext>
            </a:extLst>
          </p:cNvPr>
          <p:cNvSpPr>
            <a:spLocks xmlns:a="http://schemas.openxmlformats.org/drawingml/2006/main" noGrp="1"/>
          </p:cNvSpPr>
          <p:nvPr/>
        </p:nvSpPr>
        <p:spPr>
          <a:xfrm xmlns:a="http://schemas.openxmlformats.org/drawingml/2006/main">
            <a:off x="571500" y="737235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F8AA6958-5251-4963-9891-AA0E4C893D7E}"/>
              </a:ext>
            </a:extLst>
          </p:cNvPr>
          <p:cNvSpPr>
            <a:spLocks xmlns:a="http://schemas.openxmlformats.org/drawingml/2006/main" noGrp="1"/>
          </p:cNvSpPr>
          <p:nvPr/>
        </p:nvSpPr>
        <p:spPr>
          <a:xfrm xmlns:a="http://schemas.openxmlformats.org/drawingml/2006/main">
            <a:off x="1104900" y="737235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4C7FCBB0-093A-4394-AF71-05AC1832CEB9}"/>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74C42E23-BFAC-4882-B234-E4F35D8210AD}"/>
              </a:ext>
            </a:extLst>
          </p:cNvPr>
          <p:cNvSpPr>
            <a:spLocks xmlns:a="http://schemas.openxmlformats.org/drawingml/2006/main" noGrp="1"/>
          </p:cNvSpPr>
          <p:nvPr/>
        </p:nvSpPr>
        <p:spPr>
          <a:xfrm xmlns:a="http://schemas.openxmlformats.org/drawingml/2006/main">
            <a:off x="9258300" y="2324100"/>
            <a:ext cx="5381625"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Model uit de bron kiezen.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Surplus en derden meewegen.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Een beleidsconclusie begrenzen.</a:t>
            </a:r>
          </a:p>
        </p:txBody>
      </p:sp>
      <p:sp>
        <p:nvSpPr>
          <p:cNvPr id="23" name="">
            <a:extLst xmlns:a="http://schemas.openxmlformats.org/drawingml/2006/main">
              <a:ext uri="{FF2B5EF4-FFF2-40B4-BE49-F238E27FC236}">
                <a16:creationId xmlns:a16="http://schemas.microsoft.com/office/drawing/2014/main" id="{21EA7C03-F44B-482C-B64D-E6F1200C66CD}"/>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72E52C87-72A1-4B3A-A42A-0A6AEB696C9D}"/>
              </a:ext>
            </a:extLst>
          </p:cNvPr>
          <p:cNvSpPr>
            <a:spLocks xmlns:a="http://schemas.openxmlformats.org/drawingml/2006/main" noGrp="1"/>
          </p:cNvSpPr>
          <p:nvPr/>
        </p:nvSpPr>
        <p:spPr>
          <a:xfrm xmlns:a="http://schemas.openxmlformats.org/drawingml/2006/main">
            <a:off x="9258300" y="38195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A115677E-5AF4-4F3B-8D3A-6B97E881B7B9}"/>
              </a:ext>
            </a:extLst>
          </p:cNvPr>
          <p:cNvSpPr>
            <a:spLocks xmlns:a="http://schemas.openxmlformats.org/drawingml/2006/main" noGrp="1"/>
          </p:cNvSpPr>
          <p:nvPr/>
        </p:nvSpPr>
        <p:spPr>
          <a:xfrm xmlns:a="http://schemas.openxmlformats.org/drawingml/2006/main">
            <a:off x="9258300" y="4333875"/>
            <a:ext cx="5381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105 · Opgave 55</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Steun: uitleg §§4.2.1–4.2.6</a:t>
            </a:r>
          </a:p>
        </p:txBody>
      </p:sp>
      <p:sp>
        <p:nvSpPr>
          <p:cNvPr id="26" name="">
            <a:extLst xmlns:a="http://schemas.openxmlformats.org/drawingml/2006/main">
              <a:ext uri="{FF2B5EF4-FFF2-40B4-BE49-F238E27FC236}">
                <a16:creationId xmlns:a16="http://schemas.microsoft.com/office/drawing/2014/main" id="{F523117E-204C-4F28-B7A2-D3607A7DF6F5}"/>
              </a:ext>
            </a:extLst>
          </p:cNvPr>
          <p:cNvSpPr>
            <a:spLocks xmlns:a="http://schemas.openxmlformats.org/drawingml/2006/main" noGrp="1"/>
          </p:cNvSpPr>
          <p:nvPr/>
        </p:nvSpPr>
        <p:spPr>
          <a:xfrm xmlns:a="http://schemas.openxmlformats.org/drawingml/2006/main">
            <a:off x="9258300" y="5400675"/>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DCA370B8-0C71-40E8-949E-46E8E2ADFA11}"/>
              </a:ext>
            </a:extLst>
          </p:cNvPr>
          <p:cNvSpPr>
            <a:spLocks xmlns:a="http://schemas.openxmlformats.org/drawingml/2006/main" noGrp="1"/>
          </p:cNvSpPr>
          <p:nvPr/>
        </p:nvSpPr>
        <p:spPr>
          <a:xfrm xmlns:a="http://schemas.openxmlformats.org/drawingml/2006/main">
            <a:off x="9258300" y="56673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6594E399-8AD8-4D4E-ACDB-F716430BC97C}"/>
              </a:ext>
            </a:extLst>
          </p:cNvPr>
          <p:cNvSpPr>
            <a:spLocks xmlns:a="http://schemas.openxmlformats.org/drawingml/2006/main" noGrp="1"/>
          </p:cNvSpPr>
          <p:nvPr/>
        </p:nvSpPr>
        <p:spPr>
          <a:xfrm xmlns:a="http://schemas.openxmlformats.org/drawingml/2006/main">
            <a:off x="9258300" y="6229350"/>
            <a:ext cx="5381625"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§4.2.7 · Opgaven 55–60</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Verder: 56–57 · Doel: 58</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Extra gemengd: 59 · Herhaling: 60</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Tree>
    <p:extLst>
      <p:ext uri="{BB962C8B-B14F-4D97-AF65-F5344CB8AC3E}">
        <p14:creationId xmlns:p14="http://schemas.microsoft.com/office/powerpoint/2010/main" val="114633368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58 · Bron A: Studio Solo">
            <a:extLst xmlns:a="http://schemas.openxmlformats.org/drawingml/2006/main">
              <a:ext uri="{FF2B5EF4-FFF2-40B4-BE49-F238E27FC236}">
                <a16:creationId xmlns:a16="http://schemas.microsoft.com/office/drawing/2014/main" id="{1FACF6FA-6EF6-43EE-AC96-40BE1E158C7A}"/>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58 · Bron A: Studio Solo</a:t>
            </a:r>
          </a:p>
        </p:txBody>
      </p:sp>
      <p:sp>
        <p:nvSpPr>
          <p:cNvPr id="2" name="">
            <a:extLst xmlns:a="http://schemas.openxmlformats.org/drawingml/2006/main">
              <a:ext uri="{FF2B5EF4-FFF2-40B4-BE49-F238E27FC236}">
                <a16:creationId xmlns:a16="http://schemas.microsoft.com/office/drawing/2014/main" id="{C133D4DC-5255-4286-8B82-F197A86C6ED0}"/>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7 Gemengde opgaven: marktvormen en marktfalen · Opgave 58 · ">
            <a:extLst xmlns:a="http://schemas.openxmlformats.org/drawingml/2006/main">
              <a:ext uri="{FF2B5EF4-FFF2-40B4-BE49-F238E27FC236}">
                <a16:creationId xmlns:a16="http://schemas.microsoft.com/office/drawing/2014/main" id="{AF2E0808-EDA3-403E-8167-DC5DDCDD7927}"/>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§4.2.7 Gemengde opgaven: marktvormen en marktfalen · Opgave 58 · Boekpagina 108–109</a:t>
            </a:r>
          </a:p>
        </p:txBody>
      </p:sp>
      <p:sp>
        <p:nvSpPr>
          <p:cNvPr id="4" name="slide-number">
            <a:extLst xmlns:a="http://schemas.openxmlformats.org/drawingml/2006/main">
              <a:ext uri="{FF2B5EF4-FFF2-40B4-BE49-F238E27FC236}">
                <a16:creationId xmlns:a16="http://schemas.microsoft.com/office/drawing/2014/main" id="{F98F559D-C981-4DB5-8151-238375124032}"/>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7</a:t>
            </a:r>
          </a:p>
        </p:txBody>
      </p:sp>
      <p:sp>
        <p:nvSpPr>
          <p:cNvPr id="5" name="Eén aanbieder verhuurt de hele afgebakende markt voor studiosessi">
            <a:extLst xmlns:a="http://schemas.openxmlformats.org/drawingml/2006/main">
              <a:ext uri="{FF2B5EF4-FFF2-40B4-BE49-F238E27FC236}">
                <a16:creationId xmlns:a16="http://schemas.microsoft.com/office/drawing/2014/main" id="{F73B9291-AD3D-4746-91BE-A000A21AD45E}"/>
              </a:ext>
            </a:extLst>
          </p:cNvPr>
          <p:cNvSpPr>
            <a:spLocks xmlns:a="http://schemas.openxmlformats.org/drawingml/2006/main" noGrp="1"/>
          </p:cNvSpPr>
          <p:nvPr/>
        </p:nvSpPr>
        <p:spPr>
          <a:xfrm xmlns:a="http://schemas.openxmlformats.org/drawingml/2006/main">
            <a:off x="571500" y="1771650"/>
            <a:ext cx="14097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Eén aanbieder verhuurt de hele afgebakende markt voor studiosessies.</a:t>
            </a:r>
          </a:p>
        </p:txBody>
      </p:sp>
      <p:sp>
        <p:nvSpPr>
          <p:cNvPr id="6" name="Vraag: P = 70 − Q&#10;TK = 100 + 10Q + 0,5Q²&#10;MK = 10 + Q">
            <a:extLst xmlns:a="http://schemas.openxmlformats.org/drawingml/2006/main">
              <a:ext uri="{FF2B5EF4-FFF2-40B4-BE49-F238E27FC236}">
                <a16:creationId xmlns:a16="http://schemas.microsoft.com/office/drawing/2014/main" id="{25EB6CEE-D207-4745-9168-E2401403DC0A}"/>
              </a:ext>
            </a:extLst>
          </p:cNvPr>
          <p:cNvSpPr>
            <a:spLocks xmlns:a="http://schemas.openxmlformats.org/drawingml/2006/main" noGrp="1"/>
          </p:cNvSpPr>
          <p:nvPr/>
        </p:nvSpPr>
        <p:spPr>
          <a:xfrm xmlns:a="http://schemas.openxmlformats.org/drawingml/2006/main">
            <a:off x="571500" y="3219450"/>
            <a:ext cx="14097000" cy="1971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A5276"/>
                </a:solidFill>
                <a:latin typeface="Arial"/>
                <a:ea typeface="Arial"/>
                <a:cs typeface="Arial"/>
              </a:defRPr>
            </a:pPr>
            <a:r>
              <a:rPr sz="3225" b="1">
                <a:solidFill>
                  <a:srgbClr val="1A5276"/>
                </a:solidFill>
                <a:latin typeface="Arial"/>
                <a:ea typeface="Arial"/>
                <a:cs typeface="Arial"/>
              </a:rPr>
              <a:t>Vraag: P = 70 − Q</a:t>
            </a:r>
          </a:p>
          <a:p xmlns:a="http://schemas.openxmlformats.org/drawingml/2006/main">
            <a:pPr algn="l">
              <a:defRPr sz="3225" b="1">
                <a:solidFill>
                  <a:srgbClr val="1A5276"/>
                </a:solidFill>
                <a:latin typeface="Arial"/>
                <a:ea typeface="Arial"/>
                <a:cs typeface="Arial"/>
              </a:defRPr>
            </a:pPr>
            <a:r>
              <a:rPr sz="3225" b="1">
                <a:solidFill>
                  <a:srgbClr val="1A5276"/>
                </a:solidFill>
                <a:latin typeface="Arial"/>
                <a:ea typeface="Arial"/>
                <a:cs typeface="Arial"/>
              </a:rPr>
              <a:t>TK = 100 + 10Q + 0,5Q²</a:t>
            </a:r>
          </a:p>
          <a:p xmlns:a="http://schemas.openxmlformats.org/drawingml/2006/main">
            <a:pPr algn="l">
              <a:defRPr sz="3225" b="1">
                <a:solidFill>
                  <a:srgbClr val="1A5276"/>
                </a:solidFill>
                <a:latin typeface="Arial"/>
                <a:ea typeface="Arial"/>
                <a:cs typeface="Arial"/>
              </a:defRPr>
            </a:pPr>
            <a:r>
              <a:rPr sz="3225" b="1">
                <a:solidFill>
                  <a:srgbClr val="1A5276"/>
                </a:solidFill>
                <a:latin typeface="Arial"/>
                <a:ea typeface="Arial"/>
                <a:cs typeface="Arial"/>
              </a:rPr>
              <a:t>MK = 10 + Q</a:t>
            </a:r>
          </a:p>
        </p:txBody>
      </p:sp>
      <p:sp>
        <p:nvSpPr>
          <p:cNvPr id="7" name="Q: sessies per week · P: euro per sessie · capaciteit: 50 sessies">
            <a:extLst xmlns:a="http://schemas.openxmlformats.org/drawingml/2006/main">
              <a:ext uri="{FF2B5EF4-FFF2-40B4-BE49-F238E27FC236}">
                <a16:creationId xmlns:a16="http://schemas.microsoft.com/office/drawing/2014/main" id="{E3C5E9E2-5A43-4F28-B90B-E4BE3B7FECBD}"/>
              </a:ext>
            </a:extLst>
          </p:cNvPr>
          <p:cNvSpPr>
            <a:spLocks xmlns:a="http://schemas.openxmlformats.org/drawingml/2006/main" noGrp="1"/>
          </p:cNvSpPr>
          <p:nvPr/>
        </p:nvSpPr>
        <p:spPr>
          <a:xfrm xmlns:a="http://schemas.openxmlformats.org/drawingml/2006/main">
            <a:off x="571500" y="5600700"/>
            <a:ext cx="1409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Q: sessies per week · P: euro per sessie · capaciteit: 50 sessies</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Constante kosten blijven deze week gelijk. Geen externe effecten.</a:t>
            </a:r>
          </a:p>
        </p:txBody>
      </p:sp>
      <p:sp>
        <p:nvSpPr>
          <p:cNvPr id="8" name="Efficiënt bij dezelfde vraag en kosten:&#10;Qe = 30 · Pe = € 40 · TSe">
            <a:extLst xmlns:a="http://schemas.openxmlformats.org/drawingml/2006/main">
              <a:ext uri="{FF2B5EF4-FFF2-40B4-BE49-F238E27FC236}">
                <a16:creationId xmlns:a16="http://schemas.microsoft.com/office/drawing/2014/main" id="{D1CEA826-3CF5-4133-ADB2-4CE67AFE1B02}"/>
              </a:ext>
            </a:extLst>
          </p:cNvPr>
          <p:cNvSpPr>
            <a:spLocks xmlns:a="http://schemas.openxmlformats.org/drawingml/2006/main" noGrp="1"/>
          </p:cNvSpPr>
          <p:nvPr/>
        </p:nvSpPr>
        <p:spPr>
          <a:xfrm xmlns:a="http://schemas.openxmlformats.org/drawingml/2006/main">
            <a:off x="571500" y="7000875"/>
            <a:ext cx="14097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20665B"/>
                </a:solidFill>
                <a:latin typeface="Arial"/>
                <a:ea typeface="Arial"/>
                <a:cs typeface="Arial"/>
              </a:defRPr>
            </a:pPr>
            <a:r>
              <a:rPr sz="2625" b="1">
                <a:solidFill>
                  <a:srgbClr val="20665B"/>
                </a:solidFill>
                <a:latin typeface="Arial"/>
                <a:ea typeface="Arial"/>
                <a:cs typeface="Arial"/>
              </a:rPr>
              <a:t>Efficiënt bij dezelfde vraag en kosten:</a:t>
            </a:r>
          </a:p>
          <a:p xmlns:a="http://schemas.openxmlformats.org/drawingml/2006/main">
            <a:pPr algn="l">
              <a:defRPr sz="2625" b="1">
                <a:solidFill>
                  <a:srgbClr val="20665B"/>
                </a:solidFill>
                <a:latin typeface="Arial"/>
                <a:ea typeface="Arial"/>
                <a:cs typeface="Arial"/>
              </a:defRPr>
            </a:pPr>
            <a:r>
              <a:rPr sz="2625" b="1">
                <a:solidFill>
                  <a:srgbClr val="20665B"/>
                </a:solidFill>
                <a:latin typeface="Arial"/>
                <a:ea typeface="Arial"/>
                <a:cs typeface="Arial"/>
              </a:rPr>
              <a:t>Qe = 30 · Pe = € 40 · TSe = € 900 per week</a:t>
            </a:r>
          </a:p>
        </p:txBody>
      </p:sp>
    </p:spTree>
    <p:extLst>
      <p:ext uri="{BB962C8B-B14F-4D97-AF65-F5344CB8AC3E}">
        <p14:creationId xmlns:p14="http://schemas.microsoft.com/office/powerpoint/2010/main" val="201923467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Opgave 58 · Figuur A">
            <a:extLst xmlns:a="http://schemas.openxmlformats.org/drawingml/2006/main">
              <a:ext uri="{FF2B5EF4-FFF2-40B4-BE49-F238E27FC236}">
                <a16:creationId xmlns:a16="http://schemas.microsoft.com/office/drawing/2014/main" id="{CAF5A870-FD7C-4822-AD86-6672CAECAD8E}"/>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58 · Figuur A</a:t>
            </a:r>
          </a:p>
        </p:txBody>
      </p:sp>
      <p:sp>
        <p:nvSpPr>
          <p:cNvPr id="2" name="">
            <a:extLst xmlns:a="http://schemas.openxmlformats.org/drawingml/2006/main">
              <a:ext uri="{FF2B5EF4-FFF2-40B4-BE49-F238E27FC236}">
                <a16:creationId xmlns:a16="http://schemas.microsoft.com/office/drawing/2014/main" id="{E61C87B1-3567-47AE-99FF-85F837B3EFA2}"/>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7 Gemengde opgaven: marktvormen en marktfalen · Opgave 58 · ">
            <a:extLst xmlns:a="http://schemas.openxmlformats.org/drawingml/2006/main">
              <a:ext uri="{FF2B5EF4-FFF2-40B4-BE49-F238E27FC236}">
                <a16:creationId xmlns:a16="http://schemas.microsoft.com/office/drawing/2014/main" id="{E4F38817-1B7F-45AD-8AB1-F71AA89A8390}"/>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§4.2.7 Gemengde opgaven: marktvormen en marktfalen · Opgave 58 · Boekpagina 108–109</a:t>
            </a:r>
          </a:p>
        </p:txBody>
      </p:sp>
      <p:sp>
        <p:nvSpPr>
          <p:cNvPr id="4" name="slide-number">
            <a:extLst xmlns:a="http://schemas.openxmlformats.org/drawingml/2006/main">
              <a:ext uri="{FF2B5EF4-FFF2-40B4-BE49-F238E27FC236}">
                <a16:creationId xmlns:a16="http://schemas.microsoft.com/office/drawing/2014/main" id="{0FE35CC2-397E-43E5-8DEE-66B9B27F9149}"/>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8</a:t>
            </a:r>
          </a:p>
        </p:txBody>
      </p:sp>
      <p:graphicFrame>
        <p:nvGraphicFramePr>
          <p:cNvPr id="16" name="Chart"/>
          <p:cNvGraphicFramePr/>
          <p:nvPr/>
        </p:nvGraphicFramePr>
        <p:xfrm>
          <a:off xmlns:a="http://schemas.openxmlformats.org/drawingml/2006/main" x="571500" y="2114550"/>
          <a:ext xmlns:a="http://schemas.openxmlformats.org/drawingml/2006/main" cx="9144000" cy="5619750"/>
        </p:xfrm>
        <a:graphic xmlns:a="http://schemas.openxmlformats.org/drawingml/2006/main">
          <a:graphicData uri="http://schemas.openxmlformats.org/drawingml/2006/chart">
            <c:chart xmlns:r="http://schemas.openxmlformats.org/officeDocument/2006/relationships" xmlns:c="http://schemas.openxmlformats.org/drawingml/2006/chart" r:id="Rced54dd868e840f0"/>
          </a:graphicData>
        </a:graphic>
      </p:graphicFrame>
      <p:sp>
        <p:nvSpPr>
          <p:cNvPr id="6" name="Vraag = GO">
            <a:extLst xmlns:a="http://schemas.openxmlformats.org/drawingml/2006/main">
              <a:ext uri="{FF2B5EF4-FFF2-40B4-BE49-F238E27FC236}">
                <a16:creationId xmlns:a16="http://schemas.microsoft.com/office/drawing/2014/main" id="{85CD50A0-9992-4AB8-BB35-964BAF1DEC75}"/>
              </a:ext>
            </a:extLst>
          </p:cNvPr>
          <p:cNvSpPr>
            <a:spLocks xmlns:a="http://schemas.openxmlformats.org/drawingml/2006/main" noGrp="1"/>
          </p:cNvSpPr>
          <p:nvPr/>
        </p:nvSpPr>
        <p:spPr>
          <a:xfrm xmlns:a="http://schemas.openxmlformats.org/drawingml/2006/main">
            <a:off x="7250278" y="4560570"/>
            <a:ext cx="1952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A5276"/>
                </a:solidFill>
                <a:latin typeface="Arial"/>
                <a:ea typeface="Arial"/>
                <a:cs typeface="Arial"/>
              </a:defRPr>
            </a:pPr>
            <a:r>
              <a:rPr sz="2025" b="1">
                <a:solidFill>
                  <a:srgbClr val="1A5276"/>
                </a:solidFill>
                <a:latin typeface="Arial"/>
                <a:ea typeface="Arial"/>
                <a:cs typeface="Arial"/>
              </a:rPr>
              <a:t>Vraag = GO</a:t>
            </a:r>
          </a:p>
        </p:txBody>
      </p:sp>
      <p:sp>
        <p:nvSpPr>
          <p:cNvPr id="7" name="MK">
            <a:extLst xmlns:a="http://schemas.openxmlformats.org/drawingml/2006/main">
              <a:ext uri="{FF2B5EF4-FFF2-40B4-BE49-F238E27FC236}">
                <a16:creationId xmlns:a16="http://schemas.microsoft.com/office/drawing/2014/main" id="{90FAA74E-A18D-4DDC-99FB-F936B8FC8798}"/>
              </a:ext>
            </a:extLst>
          </p:cNvPr>
          <p:cNvSpPr>
            <a:spLocks xmlns:a="http://schemas.openxmlformats.org/drawingml/2006/main" noGrp="1"/>
          </p:cNvSpPr>
          <p:nvPr/>
        </p:nvSpPr>
        <p:spPr>
          <a:xfrm xmlns:a="http://schemas.openxmlformats.org/drawingml/2006/main">
            <a:off x="8449970" y="3446145"/>
            <a:ext cx="809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A94D16"/>
                </a:solidFill>
                <a:latin typeface="Arial"/>
                <a:ea typeface="Arial"/>
                <a:cs typeface="Arial"/>
              </a:defRPr>
            </a:pPr>
            <a:r>
              <a:rPr sz="2025" b="1">
                <a:solidFill>
                  <a:srgbClr val="A94D16"/>
                </a:solidFill>
                <a:latin typeface="Arial"/>
                <a:ea typeface="Arial"/>
                <a:cs typeface="Arial"/>
              </a:rPr>
              <a:t>MK</a:t>
            </a:r>
          </a:p>
        </p:txBody>
      </p:sp>
      <p:sp>
        <p:nvSpPr>
          <p:cNvPr id="8" name="MO">
            <a:extLst xmlns:a="http://schemas.openxmlformats.org/drawingml/2006/main">
              <a:ext uri="{FF2B5EF4-FFF2-40B4-BE49-F238E27FC236}">
                <a16:creationId xmlns:a16="http://schemas.microsoft.com/office/drawing/2014/main" id="{422E6D6E-D8B2-4B95-888F-A16FF2A3DB30}"/>
              </a:ext>
            </a:extLst>
          </p:cNvPr>
          <p:cNvSpPr>
            <a:spLocks xmlns:a="http://schemas.openxmlformats.org/drawingml/2006/main" noGrp="1"/>
          </p:cNvSpPr>
          <p:nvPr/>
        </p:nvSpPr>
        <p:spPr>
          <a:xfrm xmlns:a="http://schemas.openxmlformats.org/drawingml/2006/main">
            <a:off x="2901391" y="4561523"/>
            <a:ext cx="781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7B2D8E"/>
                </a:solidFill>
                <a:latin typeface="Arial"/>
                <a:ea typeface="Arial"/>
                <a:cs typeface="Arial"/>
              </a:defRPr>
            </a:pPr>
            <a:r>
              <a:rPr sz="2025" b="1">
                <a:solidFill>
                  <a:srgbClr val="7B2D8E"/>
                </a:solidFill>
                <a:latin typeface="Arial"/>
                <a:ea typeface="Arial"/>
                <a:cs typeface="Arial"/>
              </a:rPr>
              <a:t>MO</a:t>
            </a:r>
          </a:p>
        </p:txBody>
      </p:sp>
      <p:sp>
        <p:nvSpPr>
          <p:cNvPr id="9" name="Studio Solo">
            <a:extLst xmlns:a="http://schemas.openxmlformats.org/drawingml/2006/main">
              <a:ext uri="{FF2B5EF4-FFF2-40B4-BE49-F238E27FC236}">
                <a16:creationId xmlns:a16="http://schemas.microsoft.com/office/drawing/2014/main" id="{D6281D01-93CD-442E-8889-71243F978253}"/>
              </a:ext>
            </a:extLst>
          </p:cNvPr>
          <p:cNvSpPr>
            <a:spLocks xmlns:a="http://schemas.openxmlformats.org/drawingml/2006/main" noGrp="1"/>
          </p:cNvSpPr>
          <p:nvPr/>
        </p:nvSpPr>
        <p:spPr>
          <a:xfrm xmlns:a="http://schemas.openxmlformats.org/drawingml/2006/main">
            <a:off x="10287000" y="2009775"/>
            <a:ext cx="4381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A5276"/>
                </a:solidFill>
                <a:latin typeface="Arial"/>
                <a:ea typeface="Arial"/>
                <a:cs typeface="Arial"/>
              </a:defRPr>
            </a:pPr>
            <a:r>
              <a:rPr sz="2775" b="1">
                <a:solidFill>
                  <a:srgbClr val="1A5276"/>
                </a:solidFill>
                <a:latin typeface="Arial"/>
                <a:ea typeface="Arial"/>
                <a:cs typeface="Arial"/>
              </a:rPr>
              <a:t>Studio Solo</a:t>
            </a:r>
          </a:p>
        </p:txBody>
      </p:sp>
      <p:sp>
        <p:nvSpPr>
          <p:cNvPr id="10" name="Vraag = GO&#10;MO = 70 − 2Q&#10;MK = 10 + Q">
            <a:extLst xmlns:a="http://schemas.openxmlformats.org/drawingml/2006/main">
              <a:ext uri="{FF2B5EF4-FFF2-40B4-BE49-F238E27FC236}">
                <a16:creationId xmlns:a16="http://schemas.microsoft.com/office/drawing/2014/main" id="{55591D4D-7B70-4232-BDD4-D3BFB10C2B4F}"/>
              </a:ext>
            </a:extLst>
          </p:cNvPr>
          <p:cNvSpPr>
            <a:spLocks xmlns:a="http://schemas.openxmlformats.org/drawingml/2006/main" noGrp="1"/>
          </p:cNvSpPr>
          <p:nvPr/>
        </p:nvSpPr>
        <p:spPr>
          <a:xfrm xmlns:a="http://schemas.openxmlformats.org/drawingml/2006/main">
            <a:off x="10287000" y="3209925"/>
            <a:ext cx="43815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Vraag = GO</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MO = 70 − 2Q</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MK = 10 + Q</a:t>
            </a:r>
          </a:p>
        </p:txBody>
      </p:sp>
      <p:sp>
        <p:nvSpPr>
          <p:cNvPr id="11" name="De monopolie-uitkomst&#10;is nog niet gemarkeerd.">
            <a:extLst xmlns:a="http://schemas.openxmlformats.org/drawingml/2006/main">
              <a:ext uri="{FF2B5EF4-FFF2-40B4-BE49-F238E27FC236}">
                <a16:creationId xmlns:a16="http://schemas.microsoft.com/office/drawing/2014/main" id="{C303761D-E66B-4222-8511-C8D64D3CA774}"/>
              </a:ext>
            </a:extLst>
          </p:cNvPr>
          <p:cNvSpPr>
            <a:spLocks xmlns:a="http://schemas.openxmlformats.org/drawingml/2006/main" noGrp="1"/>
          </p:cNvSpPr>
          <p:nvPr/>
        </p:nvSpPr>
        <p:spPr>
          <a:xfrm xmlns:a="http://schemas.openxmlformats.org/drawingml/2006/main">
            <a:off x="10287000" y="6391275"/>
            <a:ext cx="438150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1A5276"/>
                </a:solidFill>
                <a:latin typeface="Arial"/>
                <a:ea typeface="Arial"/>
                <a:cs typeface="Arial"/>
              </a:defRPr>
            </a:pPr>
            <a:r>
              <a:rPr sz="2475" b="1">
                <a:solidFill>
                  <a:srgbClr val="1A5276"/>
                </a:solidFill>
                <a:latin typeface="Arial"/>
                <a:ea typeface="Arial"/>
                <a:cs typeface="Arial"/>
              </a:rPr>
              <a:t>De monopolie-uitkomst</a:t>
            </a:r>
          </a:p>
          <a:p xmlns:a="http://schemas.openxmlformats.org/drawingml/2006/main">
            <a:pPr algn="l">
              <a:defRPr sz="2475" b="1">
                <a:solidFill>
                  <a:srgbClr val="1A5276"/>
                </a:solidFill>
                <a:latin typeface="Arial"/>
                <a:ea typeface="Arial"/>
                <a:cs typeface="Arial"/>
              </a:defRPr>
            </a:pPr>
            <a:r>
              <a:rPr sz="2475" b="1">
                <a:solidFill>
                  <a:srgbClr val="1A5276"/>
                </a:solidFill>
                <a:latin typeface="Arial"/>
                <a:ea typeface="Arial"/>
                <a:cs typeface="Arial"/>
              </a:rPr>
              <a:t>is nog niet gemarkeerd.</a:t>
            </a:r>
          </a:p>
        </p:txBody>
      </p:sp>
    </p:spTree>
    <p:extLst>
      <p:ext uri="{BB962C8B-B14F-4D97-AF65-F5344CB8AC3E}">
        <p14:creationId xmlns:p14="http://schemas.microsoft.com/office/powerpoint/2010/main" val="61746411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58 · Bron B: Reiniging bij woningen">
            <a:extLst xmlns:a="http://schemas.openxmlformats.org/drawingml/2006/main">
              <a:ext uri="{FF2B5EF4-FFF2-40B4-BE49-F238E27FC236}">
                <a16:creationId xmlns:a16="http://schemas.microsoft.com/office/drawing/2014/main" id="{006CDF95-3C36-49D5-8021-80066D7BC7DD}"/>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58 · Bron B: Reiniging bij woningen</a:t>
            </a:r>
          </a:p>
        </p:txBody>
      </p:sp>
      <p:sp>
        <p:nvSpPr>
          <p:cNvPr id="2" name="">
            <a:extLst xmlns:a="http://schemas.openxmlformats.org/drawingml/2006/main">
              <a:ext uri="{FF2B5EF4-FFF2-40B4-BE49-F238E27FC236}">
                <a16:creationId xmlns:a16="http://schemas.microsoft.com/office/drawing/2014/main" id="{78693F5E-23F9-4E3A-B491-178BDBF4652B}"/>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7 Gemengde opgaven: marktvormen en marktfalen · Opgave 58 · ">
            <a:extLst xmlns:a="http://schemas.openxmlformats.org/drawingml/2006/main">
              <a:ext uri="{FF2B5EF4-FFF2-40B4-BE49-F238E27FC236}">
                <a16:creationId xmlns:a16="http://schemas.microsoft.com/office/drawing/2014/main" id="{5464B89C-210B-4BB3-A319-544DCD49D538}"/>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§4.2.7 Gemengde opgaven: marktvormen en marktfalen · Opgave 58 · Boekpagina 108–109</a:t>
            </a:r>
          </a:p>
        </p:txBody>
      </p:sp>
      <p:sp>
        <p:nvSpPr>
          <p:cNvPr id="4" name="slide-number">
            <a:extLst xmlns:a="http://schemas.openxmlformats.org/drawingml/2006/main">
              <a:ext uri="{FF2B5EF4-FFF2-40B4-BE49-F238E27FC236}">
                <a16:creationId xmlns:a16="http://schemas.microsoft.com/office/drawing/2014/main" id="{7E1AF103-0E9E-4C5A-ABAD-4CDECE55088B}"/>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9</a:t>
            </a:r>
          </a:p>
        </p:txBody>
      </p:sp>
      <p:sp>
        <p:nvSpPr>
          <p:cNvPr id="5" name="Veel aanbieders leveren dezelfde dienst.">
            <a:extLst xmlns:a="http://schemas.openxmlformats.org/drawingml/2006/main">
              <a:ext uri="{FF2B5EF4-FFF2-40B4-BE49-F238E27FC236}">
                <a16:creationId xmlns:a16="http://schemas.microsoft.com/office/drawing/2014/main" id="{BEFC2B42-5B3F-40A8-BDF2-1A8FF60BA66A}"/>
              </a:ext>
            </a:extLst>
          </p:cNvPr>
          <p:cNvSpPr>
            <a:spLocks xmlns:a="http://schemas.openxmlformats.org/drawingml/2006/main" noGrp="1"/>
          </p:cNvSpPr>
          <p:nvPr/>
        </p:nvSpPr>
        <p:spPr>
          <a:xfrm xmlns:a="http://schemas.openxmlformats.org/drawingml/2006/main">
            <a:off x="571500" y="1781175"/>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Veel aanbieders leveren dezelfde dienst.</a:t>
            </a:r>
          </a:p>
        </p:txBody>
      </p:sp>
      <p:sp>
        <p:nvSpPr>
          <p:cNvPr id="6" name="Vraag: Pc = 60 − Q&#10;Aanbod: Pp = Q">
            <a:extLst xmlns:a="http://schemas.openxmlformats.org/drawingml/2006/main">
              <a:ext uri="{FF2B5EF4-FFF2-40B4-BE49-F238E27FC236}">
                <a16:creationId xmlns:a16="http://schemas.microsoft.com/office/drawing/2014/main" id="{577668A0-16D5-4BDB-9CB0-B3A377F1CC65}"/>
              </a:ext>
            </a:extLst>
          </p:cNvPr>
          <p:cNvSpPr>
            <a:spLocks xmlns:a="http://schemas.openxmlformats.org/drawingml/2006/main" noGrp="1"/>
          </p:cNvSpPr>
          <p:nvPr/>
        </p:nvSpPr>
        <p:spPr>
          <a:xfrm xmlns:a="http://schemas.openxmlformats.org/drawingml/2006/main">
            <a:off x="571500" y="2781300"/>
            <a:ext cx="140970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A5276"/>
                </a:solidFill>
                <a:latin typeface="Arial"/>
                <a:ea typeface="Arial"/>
                <a:cs typeface="Arial"/>
              </a:defRPr>
            </a:pPr>
            <a:r>
              <a:rPr sz="3300" b="1">
                <a:solidFill>
                  <a:srgbClr val="1A5276"/>
                </a:solidFill>
                <a:latin typeface="Arial"/>
                <a:ea typeface="Arial"/>
                <a:cs typeface="Arial"/>
              </a:rPr>
              <a:t>Vraag: Pc = 60 − Q</a:t>
            </a:r>
          </a:p>
          <a:p xmlns:a="http://schemas.openxmlformats.org/drawingml/2006/main">
            <a:pPr algn="l">
              <a:defRPr sz="3300" b="1">
                <a:solidFill>
                  <a:srgbClr val="1A5276"/>
                </a:solidFill>
                <a:latin typeface="Arial"/>
                <a:ea typeface="Arial"/>
                <a:cs typeface="Arial"/>
              </a:defRPr>
            </a:pPr>
            <a:r>
              <a:rPr sz="3300" b="1">
                <a:solidFill>
                  <a:srgbClr val="1A5276"/>
                </a:solidFill>
                <a:latin typeface="Arial"/>
                <a:ea typeface="Arial"/>
                <a:cs typeface="Arial"/>
              </a:rPr>
              <a:t>Aanbod: Pp = Q</a:t>
            </a:r>
          </a:p>
        </p:txBody>
      </p:sp>
      <p:sp>
        <p:nvSpPr>
          <p:cNvPr id="7" name="Q: diensten per dag · prijzen: euro per dienst&#10;Elke dienst veroor">
            <a:extLst xmlns:a="http://schemas.openxmlformats.org/drawingml/2006/main">
              <a:ext uri="{FF2B5EF4-FFF2-40B4-BE49-F238E27FC236}">
                <a16:creationId xmlns:a16="http://schemas.microsoft.com/office/drawing/2014/main" id="{4ECFC01D-6B00-42A0-B17A-52F7A3EB125C}"/>
              </a:ext>
            </a:extLst>
          </p:cNvPr>
          <p:cNvSpPr>
            <a:spLocks xmlns:a="http://schemas.openxmlformats.org/drawingml/2006/main" noGrp="1"/>
          </p:cNvSpPr>
          <p:nvPr/>
        </p:nvSpPr>
        <p:spPr>
          <a:xfrm xmlns:a="http://schemas.openxmlformats.org/drawingml/2006/main">
            <a:off x="571500" y="4524375"/>
            <a:ext cx="14097000" cy="1733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Q: diensten per dag · prijzen: euro per dienst</a:t>
            </a:r>
          </a:p>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Elke dienst veroorzaakt € 20 niet-vergoede schade aan omwonenden.</a:t>
            </a:r>
          </a:p>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Producenten gaan € 20 per dienst afdragen.</a:t>
            </a:r>
          </a:p>
        </p:txBody>
      </p:sp>
      <p:sp>
        <p:nvSpPr>
          <p:cNvPr id="8" name="Na heffing: CS en PS elk € 200 per dag&#10;Zonder ingrijpen: maatscha">
            <a:extLst xmlns:a="http://schemas.openxmlformats.org/drawingml/2006/main">
              <a:ext uri="{FF2B5EF4-FFF2-40B4-BE49-F238E27FC236}">
                <a16:creationId xmlns:a16="http://schemas.microsoft.com/office/drawing/2014/main" id="{2668B14D-4321-4BBD-B07E-50C3F6476FE9}"/>
              </a:ext>
            </a:extLst>
          </p:cNvPr>
          <p:cNvSpPr>
            <a:spLocks xmlns:a="http://schemas.openxmlformats.org/drawingml/2006/main" noGrp="1"/>
          </p:cNvSpPr>
          <p:nvPr/>
        </p:nvSpPr>
        <p:spPr>
          <a:xfrm xmlns:a="http://schemas.openxmlformats.org/drawingml/2006/main">
            <a:off x="571500" y="6553200"/>
            <a:ext cx="14097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20665B"/>
                </a:solidFill>
                <a:latin typeface="Arial"/>
                <a:ea typeface="Arial"/>
                <a:cs typeface="Arial"/>
              </a:defRPr>
            </a:pPr>
            <a:r>
              <a:rPr sz="2475" b="1">
                <a:solidFill>
                  <a:srgbClr val="20665B"/>
                </a:solidFill>
                <a:latin typeface="Arial"/>
                <a:ea typeface="Arial"/>
                <a:cs typeface="Arial"/>
              </a:rPr>
              <a:t>Na heffing: CS en PS elk € 200 per dag</a:t>
            </a:r>
          </a:p>
          <a:p xmlns:a="http://schemas.openxmlformats.org/drawingml/2006/main">
            <a:pPr algn="l">
              <a:defRPr sz="2475" b="1">
                <a:solidFill>
                  <a:srgbClr val="20665B"/>
                </a:solidFill>
                <a:latin typeface="Arial"/>
                <a:ea typeface="Arial"/>
                <a:cs typeface="Arial"/>
              </a:defRPr>
            </a:pPr>
            <a:r>
              <a:rPr sz="2475" b="1">
                <a:solidFill>
                  <a:srgbClr val="20665B"/>
                </a:solidFill>
                <a:latin typeface="Arial"/>
                <a:ea typeface="Arial"/>
                <a:cs typeface="Arial"/>
              </a:rPr>
              <a:t>Zonder ingrijpen: maatschappelijk surplus € 300 per dag</a:t>
            </a:r>
          </a:p>
          <a:p xmlns:a="http://schemas.openxmlformats.org/drawingml/2006/main">
            <a:pPr algn="l">
              <a:defRPr sz="2475" b="1">
                <a:solidFill>
                  <a:srgbClr val="20665B"/>
                </a:solidFill>
                <a:latin typeface="Arial"/>
                <a:ea typeface="Arial"/>
                <a:cs typeface="Arial"/>
              </a:defRPr>
            </a:pPr>
            <a:r>
              <a:rPr sz="2475" b="1">
                <a:solidFill>
                  <a:srgbClr val="20665B"/>
                </a:solidFill>
                <a:latin typeface="Arial"/>
                <a:ea typeface="Arial"/>
                <a:cs typeface="Arial"/>
              </a:rPr>
              <a:t>Geen uitvoeringskosten of andere externe effecten.</a:t>
            </a:r>
          </a:p>
        </p:txBody>
      </p:sp>
    </p:spTree>
    <p:extLst>
      <p:ext uri="{BB962C8B-B14F-4D97-AF65-F5344CB8AC3E}">
        <p14:creationId xmlns:p14="http://schemas.microsoft.com/office/powerpoint/2010/main" val="189925820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Opgave 58 · Figuur B">
            <a:extLst xmlns:a="http://schemas.openxmlformats.org/drawingml/2006/main">
              <a:ext uri="{FF2B5EF4-FFF2-40B4-BE49-F238E27FC236}">
                <a16:creationId xmlns:a16="http://schemas.microsoft.com/office/drawing/2014/main" id="{DDF7EB38-4CF8-434A-BD7D-FA0352F78ECF}"/>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58 · Figuur B</a:t>
            </a:r>
          </a:p>
        </p:txBody>
      </p:sp>
      <p:sp>
        <p:nvSpPr>
          <p:cNvPr id="2" name="">
            <a:extLst xmlns:a="http://schemas.openxmlformats.org/drawingml/2006/main">
              <a:ext uri="{FF2B5EF4-FFF2-40B4-BE49-F238E27FC236}">
                <a16:creationId xmlns:a16="http://schemas.microsoft.com/office/drawing/2014/main" id="{CD39CFE5-6607-4CB2-B02C-865B0F475A7C}"/>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7 Gemengde opgaven: marktvormen en marktfalen · Opgave 58 · ">
            <a:extLst xmlns:a="http://schemas.openxmlformats.org/drawingml/2006/main">
              <a:ext uri="{FF2B5EF4-FFF2-40B4-BE49-F238E27FC236}">
                <a16:creationId xmlns:a16="http://schemas.microsoft.com/office/drawing/2014/main" id="{E1A4297C-BB0E-429E-9ED5-385FF038AA1D}"/>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§4.2.7 Gemengde opgaven: marktvormen en marktfalen · Opgave 58 · Boekpagina 108–109</a:t>
            </a:r>
          </a:p>
        </p:txBody>
      </p:sp>
      <p:sp>
        <p:nvSpPr>
          <p:cNvPr id="4" name="slide-number">
            <a:extLst xmlns:a="http://schemas.openxmlformats.org/drawingml/2006/main">
              <a:ext uri="{FF2B5EF4-FFF2-40B4-BE49-F238E27FC236}">
                <a16:creationId xmlns:a16="http://schemas.microsoft.com/office/drawing/2014/main" id="{2066AC95-95F4-4EB1-96F7-769E912ED8F2}"/>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10</a:t>
            </a:r>
          </a:p>
        </p:txBody>
      </p:sp>
      <p:graphicFrame>
        <p:nvGraphicFramePr>
          <p:cNvPr id="16" name="Chart"/>
          <p:cNvGraphicFramePr/>
          <p:nvPr/>
        </p:nvGraphicFramePr>
        <p:xfrm>
          <a:off xmlns:a="http://schemas.openxmlformats.org/drawingml/2006/main" x="571500" y="2114550"/>
          <a:ext xmlns:a="http://schemas.openxmlformats.org/drawingml/2006/main" cx="9144000" cy="5619750"/>
        </p:xfrm>
        <a:graphic xmlns:a="http://schemas.openxmlformats.org/drawingml/2006/main">
          <a:graphicData uri="http://schemas.openxmlformats.org/drawingml/2006/chart">
            <c:chart xmlns:r="http://schemas.openxmlformats.org/officeDocument/2006/relationships" xmlns:c="http://schemas.openxmlformats.org/drawingml/2006/chart" r:id="R30600f1aa1e04b22"/>
          </a:graphicData>
        </a:graphic>
      </p:graphicFrame>
      <p:sp>
        <p:nvSpPr>
          <p:cNvPr id="6" name="Vraag">
            <a:extLst xmlns:a="http://schemas.openxmlformats.org/drawingml/2006/main">
              <a:ext uri="{FF2B5EF4-FFF2-40B4-BE49-F238E27FC236}">
                <a16:creationId xmlns:a16="http://schemas.microsoft.com/office/drawing/2014/main" id="{84883001-9C7E-4DED-BF88-55634A62F966}"/>
              </a:ext>
            </a:extLst>
          </p:cNvPr>
          <p:cNvSpPr>
            <a:spLocks xmlns:a="http://schemas.openxmlformats.org/drawingml/2006/main" noGrp="1"/>
          </p:cNvSpPr>
          <p:nvPr/>
        </p:nvSpPr>
        <p:spPr>
          <a:xfrm xmlns:a="http://schemas.openxmlformats.org/drawingml/2006/main">
            <a:off x="7600188" y="5684520"/>
            <a:ext cx="1000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A5276"/>
                </a:solidFill>
                <a:latin typeface="Arial"/>
                <a:ea typeface="Arial"/>
                <a:cs typeface="Arial"/>
              </a:defRPr>
            </a:pPr>
            <a:r>
              <a:rPr sz="2025" b="1">
                <a:solidFill>
                  <a:srgbClr val="1A5276"/>
                </a:solidFill>
                <a:latin typeface="Arial"/>
                <a:ea typeface="Arial"/>
                <a:cs typeface="Arial"/>
              </a:rPr>
              <a:t>Vraag</a:t>
            </a:r>
          </a:p>
        </p:txBody>
      </p:sp>
      <p:sp>
        <p:nvSpPr>
          <p:cNvPr id="7" name="A = MK privé">
            <a:extLst xmlns:a="http://schemas.openxmlformats.org/drawingml/2006/main">
              <a:ext uri="{FF2B5EF4-FFF2-40B4-BE49-F238E27FC236}">
                <a16:creationId xmlns:a16="http://schemas.microsoft.com/office/drawing/2014/main" id="{CD6CB8B9-E53C-42E5-933E-92780B1D146E}"/>
              </a:ext>
            </a:extLst>
          </p:cNvPr>
          <p:cNvSpPr>
            <a:spLocks xmlns:a="http://schemas.openxmlformats.org/drawingml/2006/main" noGrp="1"/>
          </p:cNvSpPr>
          <p:nvPr/>
        </p:nvSpPr>
        <p:spPr>
          <a:xfrm xmlns:a="http://schemas.openxmlformats.org/drawingml/2006/main">
            <a:off x="7225284" y="4721543"/>
            <a:ext cx="200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0665B"/>
                </a:solidFill>
                <a:latin typeface="Arial"/>
                <a:ea typeface="Arial"/>
                <a:cs typeface="Arial"/>
              </a:defRPr>
            </a:pPr>
            <a:r>
              <a:rPr sz="2025" b="1">
                <a:solidFill>
                  <a:srgbClr val="20665B"/>
                </a:solidFill>
                <a:latin typeface="Arial"/>
                <a:ea typeface="Arial"/>
                <a:cs typeface="Arial"/>
              </a:rPr>
              <a:t>A = MK privé</a:t>
            </a:r>
          </a:p>
        </p:txBody>
      </p:sp>
      <p:sp>
        <p:nvSpPr>
          <p:cNvPr id="8" name="MK maatschappelijk">
            <a:extLst xmlns:a="http://schemas.openxmlformats.org/drawingml/2006/main">
              <a:ext uri="{FF2B5EF4-FFF2-40B4-BE49-F238E27FC236}">
                <a16:creationId xmlns:a16="http://schemas.microsoft.com/office/drawing/2014/main" id="{A62F0B3C-72E9-4AC9-AF69-DBEAF68F8EE9}"/>
              </a:ext>
            </a:extLst>
          </p:cNvPr>
          <p:cNvSpPr>
            <a:spLocks xmlns:a="http://schemas.openxmlformats.org/drawingml/2006/main" noGrp="1"/>
          </p:cNvSpPr>
          <p:nvPr/>
        </p:nvSpPr>
        <p:spPr>
          <a:xfrm xmlns:a="http://schemas.openxmlformats.org/drawingml/2006/main">
            <a:off x="5600700" y="2527935"/>
            <a:ext cx="428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A94D16"/>
                </a:solidFill>
                <a:latin typeface="Arial"/>
                <a:ea typeface="Arial"/>
                <a:cs typeface="Arial"/>
              </a:defRPr>
            </a:pPr>
            <a:r>
              <a:rPr sz="2025" b="1">
                <a:solidFill>
                  <a:srgbClr val="A94D16"/>
                </a:solidFill>
                <a:latin typeface="Arial"/>
                <a:ea typeface="Arial"/>
                <a:cs typeface="Arial"/>
              </a:rPr>
              <a:t>MK maatschappelijk</a:t>
            </a:r>
          </a:p>
        </p:txBody>
      </p:sp>
      <p:sp>
        <p:nvSpPr>
          <p:cNvPr id="9" name="Reiniging">
            <a:extLst xmlns:a="http://schemas.openxmlformats.org/drawingml/2006/main">
              <a:ext uri="{FF2B5EF4-FFF2-40B4-BE49-F238E27FC236}">
                <a16:creationId xmlns:a16="http://schemas.microsoft.com/office/drawing/2014/main" id="{63A7B61A-3A37-4699-BE6A-9300D00F4CE5}"/>
              </a:ext>
            </a:extLst>
          </p:cNvPr>
          <p:cNvSpPr>
            <a:spLocks xmlns:a="http://schemas.openxmlformats.org/drawingml/2006/main" noGrp="1"/>
          </p:cNvSpPr>
          <p:nvPr/>
        </p:nvSpPr>
        <p:spPr>
          <a:xfrm xmlns:a="http://schemas.openxmlformats.org/drawingml/2006/main">
            <a:off x="10287000" y="2009775"/>
            <a:ext cx="4381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A5276"/>
                </a:solidFill>
                <a:latin typeface="Arial"/>
                <a:ea typeface="Arial"/>
                <a:cs typeface="Arial"/>
              </a:defRPr>
            </a:pPr>
            <a:r>
              <a:rPr sz="2775" b="1">
                <a:solidFill>
                  <a:srgbClr val="1A5276"/>
                </a:solidFill>
                <a:latin typeface="Arial"/>
                <a:ea typeface="Arial"/>
                <a:cs typeface="Arial"/>
              </a:rPr>
              <a:t>Reiniging</a:t>
            </a:r>
          </a:p>
        </p:txBody>
      </p:sp>
      <p:sp>
        <p:nvSpPr>
          <p:cNvPr id="10" name="Vraag: Pc = 60 − Q&#10;A = MK privé = Q&#10;MK maatschappelijk&#10;= Q + 20">
            <a:extLst xmlns:a="http://schemas.openxmlformats.org/drawingml/2006/main">
              <a:ext uri="{FF2B5EF4-FFF2-40B4-BE49-F238E27FC236}">
                <a16:creationId xmlns:a16="http://schemas.microsoft.com/office/drawing/2014/main" id="{EC042D38-C5AA-4B25-8D71-62CDE4920B7C}"/>
              </a:ext>
            </a:extLst>
          </p:cNvPr>
          <p:cNvSpPr>
            <a:spLocks xmlns:a="http://schemas.openxmlformats.org/drawingml/2006/main" noGrp="1"/>
          </p:cNvSpPr>
          <p:nvPr/>
        </p:nvSpPr>
        <p:spPr>
          <a:xfrm xmlns:a="http://schemas.openxmlformats.org/drawingml/2006/main">
            <a:off x="10287000" y="3209925"/>
            <a:ext cx="43815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Vraag: Pc = 60 − Q</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A = MK privé = Q</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MK maatschappelijk</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 Q + 20</a:t>
            </a:r>
          </a:p>
        </p:txBody>
      </p:sp>
      <p:sp>
        <p:nvSpPr>
          <p:cNvPr id="11" name="Andere markt.&#10;Andere periode: per dag.">
            <a:extLst xmlns:a="http://schemas.openxmlformats.org/drawingml/2006/main">
              <a:ext uri="{FF2B5EF4-FFF2-40B4-BE49-F238E27FC236}">
                <a16:creationId xmlns:a16="http://schemas.microsoft.com/office/drawing/2014/main" id="{26DFF758-A833-4CDC-99E3-7831983E1A0D}"/>
              </a:ext>
            </a:extLst>
          </p:cNvPr>
          <p:cNvSpPr>
            <a:spLocks xmlns:a="http://schemas.openxmlformats.org/drawingml/2006/main" noGrp="1"/>
          </p:cNvSpPr>
          <p:nvPr/>
        </p:nvSpPr>
        <p:spPr>
          <a:xfrm xmlns:a="http://schemas.openxmlformats.org/drawingml/2006/main">
            <a:off x="10287000" y="6391275"/>
            <a:ext cx="438150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1A5276"/>
                </a:solidFill>
                <a:latin typeface="Arial"/>
                <a:ea typeface="Arial"/>
                <a:cs typeface="Arial"/>
              </a:defRPr>
            </a:pPr>
            <a:r>
              <a:rPr sz="2475" b="1">
                <a:solidFill>
                  <a:srgbClr val="1A5276"/>
                </a:solidFill>
                <a:latin typeface="Arial"/>
                <a:ea typeface="Arial"/>
                <a:cs typeface="Arial"/>
              </a:rPr>
              <a:t>Andere markt.</a:t>
            </a:r>
          </a:p>
          <a:p xmlns:a="http://schemas.openxmlformats.org/drawingml/2006/main">
            <a:pPr algn="l">
              <a:defRPr sz="2475" b="1">
                <a:solidFill>
                  <a:srgbClr val="1A5276"/>
                </a:solidFill>
                <a:latin typeface="Arial"/>
                <a:ea typeface="Arial"/>
                <a:cs typeface="Arial"/>
              </a:defRPr>
            </a:pPr>
            <a:r>
              <a:rPr sz="2475" b="1">
                <a:solidFill>
                  <a:srgbClr val="1A5276"/>
                </a:solidFill>
                <a:latin typeface="Arial"/>
                <a:ea typeface="Arial"/>
                <a:cs typeface="Arial"/>
              </a:rPr>
              <a:t>Andere periode: per dag.</a:t>
            </a:r>
          </a:p>
        </p:txBody>
      </p:sp>
    </p:spTree>
    <p:extLst>
      <p:ext uri="{BB962C8B-B14F-4D97-AF65-F5344CB8AC3E}">
        <p14:creationId xmlns:p14="http://schemas.microsoft.com/office/powerpoint/2010/main" val="80975380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58 · Vragen a en b">
            <a:extLst xmlns:a="http://schemas.openxmlformats.org/drawingml/2006/main">
              <a:ext uri="{FF2B5EF4-FFF2-40B4-BE49-F238E27FC236}">
                <a16:creationId xmlns:a16="http://schemas.microsoft.com/office/drawing/2014/main" id="{54A950A4-CFBE-4196-838A-2ADFD660230E}"/>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58 · Vragen a en b</a:t>
            </a:r>
          </a:p>
        </p:txBody>
      </p:sp>
      <p:sp>
        <p:nvSpPr>
          <p:cNvPr id="2" name="">
            <a:extLst xmlns:a="http://schemas.openxmlformats.org/drawingml/2006/main">
              <a:ext uri="{FF2B5EF4-FFF2-40B4-BE49-F238E27FC236}">
                <a16:creationId xmlns:a16="http://schemas.microsoft.com/office/drawing/2014/main" id="{CF017281-66DF-402C-8F7C-B53180C7C748}"/>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7 Gemengde opgaven: marktvormen en marktfalen · Opgave 58 · ">
            <a:extLst xmlns:a="http://schemas.openxmlformats.org/drawingml/2006/main">
              <a:ext uri="{FF2B5EF4-FFF2-40B4-BE49-F238E27FC236}">
                <a16:creationId xmlns:a16="http://schemas.microsoft.com/office/drawing/2014/main" id="{220161B8-C8F3-468C-BFEC-BC5D46646BCF}"/>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§4.2.7 Gemengde opgaven: marktvormen en marktfalen · Opgave 58 · Boekpagina 108–109</a:t>
            </a:r>
          </a:p>
        </p:txBody>
      </p:sp>
      <p:sp>
        <p:nvSpPr>
          <p:cNvPr id="4" name="slide-number">
            <a:extLst xmlns:a="http://schemas.openxmlformats.org/drawingml/2006/main">
              <a:ext uri="{FF2B5EF4-FFF2-40B4-BE49-F238E27FC236}">
                <a16:creationId xmlns:a16="http://schemas.microsoft.com/office/drawing/2014/main" id="{A6E611A4-0E6D-40A1-A159-B14419A4C306}"/>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11</a:t>
            </a:r>
          </a:p>
        </p:txBody>
      </p:sp>
      <p:sp>
        <p:nvSpPr>
          <p:cNvPr id="5" name="Gebruik de bronnen op boekpagina 108. Onderbouw berekeningen&#10;met ">
            <a:extLst xmlns:a="http://schemas.openxmlformats.org/drawingml/2006/main">
              <a:ext uri="{FF2B5EF4-FFF2-40B4-BE49-F238E27FC236}">
                <a16:creationId xmlns:a16="http://schemas.microsoft.com/office/drawing/2014/main" id="{307AF798-C8EF-4206-BDC5-E60527C95B6D}"/>
              </a:ext>
            </a:extLst>
          </p:cNvPr>
          <p:cNvSpPr>
            <a:spLocks xmlns:a="http://schemas.openxmlformats.org/drawingml/2006/main" noGrp="1"/>
          </p:cNvSpPr>
          <p:nvPr/>
        </p:nvSpPr>
        <p:spPr>
          <a:xfrm xmlns:a="http://schemas.openxmlformats.org/drawingml/2006/main">
            <a:off x="571500" y="1762125"/>
            <a:ext cx="140970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445B6B"/>
                </a:solidFill>
                <a:latin typeface="Arial"/>
                <a:ea typeface="Arial"/>
                <a:cs typeface="Arial"/>
              </a:defRPr>
            </a:pPr>
            <a:r>
              <a:rPr sz="2475" b="0">
                <a:solidFill>
                  <a:srgbClr val="445B6B"/>
                </a:solidFill>
                <a:latin typeface="Arial"/>
                <a:ea typeface="Arial"/>
                <a:cs typeface="Arial"/>
              </a:rPr>
              <a:t>Gebruik de bronnen op boekpagina 108. Onderbouw berekeningen</a:t>
            </a:r>
          </a:p>
          <a:p xmlns:a="http://schemas.openxmlformats.org/drawingml/2006/main">
            <a:pPr algn="l">
              <a:defRPr sz="2475" b="0">
                <a:solidFill>
                  <a:srgbClr val="445B6B"/>
                </a:solidFill>
                <a:latin typeface="Arial"/>
                <a:ea typeface="Arial"/>
                <a:cs typeface="Arial"/>
              </a:defRPr>
            </a:pPr>
            <a:r>
              <a:rPr sz="2475" b="0">
                <a:solidFill>
                  <a:srgbClr val="445B6B"/>
                </a:solidFill>
                <a:latin typeface="Arial"/>
                <a:ea typeface="Arial"/>
                <a:cs typeface="Arial"/>
              </a:rPr>
              <a:t>met eenheden en conclusies met brongegevens.</a:t>
            </a:r>
          </a:p>
        </p:txBody>
      </p:sp>
      <p:sp>
        <p:nvSpPr>
          <p:cNvPr id="6" name="a. (3p) Bepaal voor Studio Solo de winstmaximale hoeveelheid en v">
            <a:extLst xmlns:a="http://schemas.openxmlformats.org/drawingml/2006/main">
              <a:ext uri="{FF2B5EF4-FFF2-40B4-BE49-F238E27FC236}">
                <a16:creationId xmlns:a16="http://schemas.microsoft.com/office/drawing/2014/main" id="{F3FBF9F4-748B-4C3E-8A89-90F420BF68D2}"/>
              </a:ext>
            </a:extLst>
          </p:cNvPr>
          <p:cNvSpPr>
            <a:spLocks xmlns:a="http://schemas.openxmlformats.org/drawingml/2006/main" noGrp="1"/>
          </p:cNvSpPr>
          <p:nvPr/>
        </p:nvSpPr>
        <p:spPr>
          <a:xfrm xmlns:a="http://schemas.openxmlformats.org/drawingml/2006/main">
            <a:off x="571500" y="3486150"/>
            <a:ext cx="14097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a. (3p) Bepaal voor Studio Solo de winstmaximale hoeveelheid en verkoopprijs. Bereken ook de winst.</a:t>
            </a:r>
          </a:p>
        </p:txBody>
      </p:sp>
      <p:sp>
        <p:nvSpPr>
          <p:cNvPr id="7" name="b. (4p) Bereken CS, PS en TS bij Solo en vergelijk met het gegeve">
            <a:extLst xmlns:a="http://schemas.openxmlformats.org/drawingml/2006/main">
              <a:ext uri="{FF2B5EF4-FFF2-40B4-BE49-F238E27FC236}">
                <a16:creationId xmlns:a16="http://schemas.microsoft.com/office/drawing/2014/main" id="{26F21E38-BF8F-4675-B7BB-82F10C1B8946}"/>
              </a:ext>
            </a:extLst>
          </p:cNvPr>
          <p:cNvSpPr>
            <a:spLocks xmlns:a="http://schemas.openxmlformats.org/drawingml/2006/main" noGrp="1"/>
          </p:cNvSpPr>
          <p:nvPr/>
        </p:nvSpPr>
        <p:spPr>
          <a:xfrm xmlns:a="http://schemas.openxmlformats.org/drawingml/2006/main">
            <a:off x="571500" y="5857875"/>
            <a:ext cx="140970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b. (4p) Bereken CS, PS en TS bij Solo en vergelijk met het gegeven TSe. Arceer het welvaartsverlies in figuur A.</a:t>
            </a:r>
          </a:p>
        </p:txBody>
      </p:sp>
    </p:spTree>
    <p:extLst>
      <p:ext uri="{BB962C8B-B14F-4D97-AF65-F5344CB8AC3E}">
        <p14:creationId xmlns:p14="http://schemas.microsoft.com/office/powerpoint/2010/main" val="187694396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Opgave 58 · Vragen c en d">
            <a:extLst xmlns:a="http://schemas.openxmlformats.org/drawingml/2006/main">
              <a:ext uri="{FF2B5EF4-FFF2-40B4-BE49-F238E27FC236}">
                <a16:creationId xmlns:a16="http://schemas.microsoft.com/office/drawing/2014/main" id="{B4121115-E551-44D6-B693-3F777F45FEC9}"/>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58 · Vragen c en d</a:t>
            </a:r>
          </a:p>
        </p:txBody>
      </p:sp>
      <p:sp>
        <p:nvSpPr>
          <p:cNvPr id="2" name="">
            <a:extLst xmlns:a="http://schemas.openxmlformats.org/drawingml/2006/main">
              <a:ext uri="{FF2B5EF4-FFF2-40B4-BE49-F238E27FC236}">
                <a16:creationId xmlns:a16="http://schemas.microsoft.com/office/drawing/2014/main" id="{05375EEC-7825-48B4-81D5-51A269D29415}"/>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7 Gemengde opgaven: marktvormen en marktfalen · Opgave 58 · ">
            <a:extLst xmlns:a="http://schemas.openxmlformats.org/drawingml/2006/main">
              <a:ext uri="{FF2B5EF4-FFF2-40B4-BE49-F238E27FC236}">
                <a16:creationId xmlns:a16="http://schemas.microsoft.com/office/drawing/2014/main" id="{F56109D3-4B42-486E-B851-C18AEDE47C51}"/>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§4.2.7 Gemengde opgaven: marktvormen en marktfalen · Opgave 58 · Boekpagina 108–109</a:t>
            </a:r>
          </a:p>
        </p:txBody>
      </p:sp>
      <p:sp>
        <p:nvSpPr>
          <p:cNvPr id="4" name="slide-number">
            <a:extLst xmlns:a="http://schemas.openxmlformats.org/drawingml/2006/main">
              <a:ext uri="{FF2B5EF4-FFF2-40B4-BE49-F238E27FC236}">
                <a16:creationId xmlns:a16="http://schemas.microsoft.com/office/drawing/2014/main" id="{8A3F2155-37EE-447B-BDE7-D7F8E48A3CFC}"/>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12</a:t>
            </a:r>
          </a:p>
        </p:txBody>
      </p:sp>
      <p:sp>
        <p:nvSpPr>
          <p:cNvPr id="5" name="c. (3p) Bereken in bron B de belaste hoeveelheid, Pc, Pp en de he">
            <a:extLst xmlns:a="http://schemas.openxmlformats.org/drawingml/2006/main">
              <a:ext uri="{FF2B5EF4-FFF2-40B4-BE49-F238E27FC236}">
                <a16:creationId xmlns:a16="http://schemas.microsoft.com/office/drawing/2014/main" id="{B71F799A-8B93-4710-AF83-DFF8C6360038}"/>
              </a:ext>
            </a:extLst>
          </p:cNvPr>
          <p:cNvSpPr>
            <a:spLocks xmlns:a="http://schemas.openxmlformats.org/drawingml/2006/main" noGrp="1"/>
          </p:cNvSpPr>
          <p:nvPr/>
        </p:nvSpPr>
        <p:spPr>
          <a:xfrm xmlns:a="http://schemas.openxmlformats.org/drawingml/2006/main">
            <a:off x="571500" y="2381250"/>
            <a:ext cx="14097000" cy="1628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0">
                <a:solidFill>
                  <a:srgbClr val="183247"/>
                </a:solidFill>
                <a:latin typeface="Arial"/>
                <a:ea typeface="Arial"/>
                <a:cs typeface="Arial"/>
              </a:defRPr>
            </a:pPr>
            <a:r>
              <a:rPr sz="3075" b="0">
                <a:solidFill>
                  <a:srgbClr val="183247"/>
                </a:solidFill>
                <a:latin typeface="Arial"/>
                <a:ea typeface="Arial"/>
                <a:cs typeface="Arial"/>
              </a:rPr>
              <a:t>c. (3p) Bereken in bron B de belaste hoeveelheid, Pc, Pp en de heffingsopbrengst.</a:t>
            </a:r>
          </a:p>
        </p:txBody>
      </p:sp>
      <p:sp>
        <p:nvSpPr>
          <p:cNvPr id="6" name="d. (2p) Bereken met bron B het maatschappelijk surplus na de heff">
            <a:extLst xmlns:a="http://schemas.openxmlformats.org/drawingml/2006/main">
              <a:ext uri="{FF2B5EF4-FFF2-40B4-BE49-F238E27FC236}">
                <a16:creationId xmlns:a16="http://schemas.microsoft.com/office/drawing/2014/main" id="{8A48A3EB-F103-4152-A441-7462446FC9C4}"/>
              </a:ext>
            </a:extLst>
          </p:cNvPr>
          <p:cNvSpPr>
            <a:spLocks xmlns:a="http://schemas.openxmlformats.org/drawingml/2006/main" noGrp="1"/>
          </p:cNvSpPr>
          <p:nvPr/>
        </p:nvSpPr>
        <p:spPr>
          <a:xfrm xmlns:a="http://schemas.openxmlformats.org/drawingml/2006/main">
            <a:off x="571500" y="5105400"/>
            <a:ext cx="14097000" cy="2066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0">
                <a:solidFill>
                  <a:srgbClr val="183247"/>
                </a:solidFill>
                <a:latin typeface="Arial"/>
                <a:ea typeface="Arial"/>
                <a:cs typeface="Arial"/>
              </a:defRPr>
            </a:pPr>
            <a:r>
              <a:rPr sz="3075" b="0">
                <a:solidFill>
                  <a:srgbClr val="183247"/>
                </a:solidFill>
                <a:latin typeface="Arial"/>
                <a:ea typeface="Arial"/>
                <a:cs typeface="Arial"/>
              </a:rPr>
              <a:t>d. (2p) Bereken met bron B het maatschappelijk surplus na de heffing en de verandering ten opzichte van de beginsituatie.</a:t>
            </a:r>
          </a:p>
        </p:txBody>
      </p:sp>
    </p:spTree>
    <p:extLst>
      <p:ext uri="{BB962C8B-B14F-4D97-AF65-F5344CB8AC3E}">
        <p14:creationId xmlns:p14="http://schemas.microsoft.com/office/powerpoint/2010/main" val="156682342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Opgave 58 · Vragen e en f">
            <a:extLst xmlns:a="http://schemas.openxmlformats.org/drawingml/2006/main">
              <a:ext uri="{FF2B5EF4-FFF2-40B4-BE49-F238E27FC236}">
                <a16:creationId xmlns:a16="http://schemas.microsoft.com/office/drawing/2014/main" id="{40AF3D1B-32D8-4BA9-8D1F-0A3F0BA0172C}"/>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58 · Vragen e en f</a:t>
            </a:r>
          </a:p>
        </p:txBody>
      </p:sp>
      <p:sp>
        <p:nvSpPr>
          <p:cNvPr id="2" name="">
            <a:extLst xmlns:a="http://schemas.openxmlformats.org/drawingml/2006/main">
              <a:ext uri="{FF2B5EF4-FFF2-40B4-BE49-F238E27FC236}">
                <a16:creationId xmlns:a16="http://schemas.microsoft.com/office/drawing/2014/main" id="{05D2AEEF-AFCE-4414-B69E-8F06BC987098}"/>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7 Gemengde opgaven: marktvormen en marktfalen · Opgave 58 · ">
            <a:extLst xmlns:a="http://schemas.openxmlformats.org/drawingml/2006/main">
              <a:ext uri="{FF2B5EF4-FFF2-40B4-BE49-F238E27FC236}">
                <a16:creationId xmlns:a16="http://schemas.microsoft.com/office/drawing/2014/main" id="{2664C202-2D03-4954-9B7B-6AC22D89B130}"/>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§4.2.7 Gemengde opgaven: marktvormen en marktfalen · Opgave 58 · Boekpagina 108–109</a:t>
            </a:r>
          </a:p>
        </p:txBody>
      </p:sp>
      <p:sp>
        <p:nvSpPr>
          <p:cNvPr id="4" name="slide-number">
            <a:extLst xmlns:a="http://schemas.openxmlformats.org/drawingml/2006/main">
              <a:ext uri="{FF2B5EF4-FFF2-40B4-BE49-F238E27FC236}">
                <a16:creationId xmlns:a16="http://schemas.microsoft.com/office/drawing/2014/main" id="{796855F5-DFBC-466B-B18C-26D221A05E24}"/>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13</a:t>
            </a:r>
          </a:p>
        </p:txBody>
      </p:sp>
      <p:sp>
        <p:nvSpPr>
          <p:cNvPr id="5" name="e. (2p) Leg uit waarom minder verkopen bij Solo welvaartsverlies ">
            <a:extLst xmlns:a="http://schemas.openxmlformats.org/drawingml/2006/main">
              <a:ext uri="{FF2B5EF4-FFF2-40B4-BE49-F238E27FC236}">
                <a16:creationId xmlns:a16="http://schemas.microsoft.com/office/drawing/2014/main" id="{6D2AD675-52F9-4A9F-B62D-5AC05CD69733}"/>
              </a:ext>
            </a:extLst>
          </p:cNvPr>
          <p:cNvSpPr>
            <a:spLocks xmlns:a="http://schemas.openxmlformats.org/drawingml/2006/main" noGrp="1"/>
          </p:cNvSpPr>
          <p:nvPr/>
        </p:nvSpPr>
        <p:spPr>
          <a:xfrm xmlns:a="http://schemas.openxmlformats.org/drawingml/2006/main">
            <a:off x="571500" y="2247900"/>
            <a:ext cx="14097000" cy="1876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e. (2p) Leg uit waarom minder verkopen bij Solo welvaartsverlies geeft, maar minder diensten in bron B juist verbetering kan geven.</a:t>
            </a:r>
          </a:p>
        </p:txBody>
      </p:sp>
      <p:sp>
        <p:nvSpPr>
          <p:cNvPr id="6" name="f. (2p) Beoordeel: “Een heffing van € 20 is dus ook vanzelf de be">
            <a:extLst xmlns:a="http://schemas.openxmlformats.org/drawingml/2006/main">
              <a:ext uri="{FF2B5EF4-FFF2-40B4-BE49-F238E27FC236}">
                <a16:creationId xmlns:a16="http://schemas.microsoft.com/office/drawing/2014/main" id="{8B42061E-4629-4E66-99B3-3C0396EEFE57}"/>
              </a:ext>
            </a:extLst>
          </p:cNvPr>
          <p:cNvSpPr>
            <a:spLocks xmlns:a="http://schemas.openxmlformats.org/drawingml/2006/main" noGrp="1"/>
          </p:cNvSpPr>
          <p:nvPr/>
        </p:nvSpPr>
        <p:spPr>
          <a:xfrm xmlns:a="http://schemas.openxmlformats.org/drawingml/2006/main">
            <a:off x="571500" y="5238750"/>
            <a:ext cx="140970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f. (2p) Beoordeel: “Een heffing van € 20 is dus ook vanzelf de beste oplossing voor Studio Solo.”</a:t>
            </a:r>
          </a:p>
        </p:txBody>
      </p:sp>
    </p:spTree>
    <p:extLst>
      <p:ext uri="{BB962C8B-B14F-4D97-AF65-F5344CB8AC3E}">
        <p14:creationId xmlns:p14="http://schemas.microsoft.com/office/powerpoint/2010/main" val="148053550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58a · Hoeveelheid en verkoopprijs">
            <a:extLst xmlns:a="http://schemas.openxmlformats.org/drawingml/2006/main">
              <a:ext uri="{FF2B5EF4-FFF2-40B4-BE49-F238E27FC236}">
                <a16:creationId xmlns:a16="http://schemas.microsoft.com/office/drawing/2014/main" id="{70C38BD1-1EAA-49DE-86C0-FF8221FD3448}"/>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58a · Hoeveelheid en verkoopprijs</a:t>
            </a:r>
          </a:p>
        </p:txBody>
      </p:sp>
      <p:sp>
        <p:nvSpPr>
          <p:cNvPr id="2" name="">
            <a:extLst xmlns:a="http://schemas.openxmlformats.org/drawingml/2006/main">
              <a:ext uri="{FF2B5EF4-FFF2-40B4-BE49-F238E27FC236}">
                <a16:creationId xmlns:a16="http://schemas.microsoft.com/office/drawing/2014/main" id="{2A454D5C-AFE9-4D50-9CA9-5D81209B90F0}"/>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7 Gemengde opgaven: marktvormen en marktfalen · Opgave 58 · ">
            <a:extLst xmlns:a="http://schemas.openxmlformats.org/drawingml/2006/main">
              <a:ext uri="{FF2B5EF4-FFF2-40B4-BE49-F238E27FC236}">
                <a16:creationId xmlns:a16="http://schemas.microsoft.com/office/drawing/2014/main" id="{A4D9CA12-4889-4C72-A621-702023F9619B}"/>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§4.2.7 Gemengde opgaven: marktvormen en marktfalen · Opgave 58 · Boekpagina 108–109</a:t>
            </a:r>
          </a:p>
        </p:txBody>
      </p:sp>
      <p:sp>
        <p:nvSpPr>
          <p:cNvPr id="4" name="slide-number">
            <a:extLst xmlns:a="http://schemas.openxmlformats.org/drawingml/2006/main">
              <a:ext uri="{FF2B5EF4-FFF2-40B4-BE49-F238E27FC236}">
                <a16:creationId xmlns:a16="http://schemas.microsoft.com/office/drawing/2014/main" id="{094DAE6C-D86B-4601-8F85-BF7DFA166183}"/>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14</a:t>
            </a:r>
          </a:p>
        </p:txBody>
      </p:sp>
      <p:graphicFrame>
        <p:nvGraphicFramePr>
          <p:cNvPr id="19" name="Chart"/>
          <p:cNvGraphicFramePr/>
          <p:nvPr/>
        </p:nvGraphicFramePr>
        <p:xfrm>
          <a:off xmlns:a="http://schemas.openxmlformats.org/drawingml/2006/main" x="571500" y="2114550"/>
          <a:ext xmlns:a="http://schemas.openxmlformats.org/drawingml/2006/main" cx="9144000" cy="5619750"/>
        </p:xfrm>
        <a:graphic xmlns:a="http://schemas.openxmlformats.org/drawingml/2006/main">
          <a:graphicData uri="http://schemas.openxmlformats.org/drawingml/2006/chart">
            <c:chart xmlns:r="http://schemas.openxmlformats.org/officeDocument/2006/relationships" xmlns:c="http://schemas.openxmlformats.org/drawingml/2006/chart" r:id="Rd5f916a74d634b64"/>
          </a:graphicData>
        </a:graphic>
      </p:graphicFrame>
      <p:sp>
        <p:nvSpPr>
          <p:cNvPr id="6" name="Vraag = GO">
            <a:extLst xmlns:a="http://schemas.openxmlformats.org/drawingml/2006/main">
              <a:ext uri="{FF2B5EF4-FFF2-40B4-BE49-F238E27FC236}">
                <a16:creationId xmlns:a16="http://schemas.microsoft.com/office/drawing/2014/main" id="{21D53964-A8E8-4E92-990B-99D229B62F2A}"/>
              </a:ext>
            </a:extLst>
          </p:cNvPr>
          <p:cNvSpPr>
            <a:spLocks xmlns:a="http://schemas.openxmlformats.org/drawingml/2006/main" noGrp="1"/>
          </p:cNvSpPr>
          <p:nvPr/>
        </p:nvSpPr>
        <p:spPr>
          <a:xfrm xmlns:a="http://schemas.openxmlformats.org/drawingml/2006/main">
            <a:off x="7250278" y="4560570"/>
            <a:ext cx="1952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A5276"/>
                </a:solidFill>
                <a:latin typeface="Arial"/>
                <a:ea typeface="Arial"/>
                <a:cs typeface="Arial"/>
              </a:defRPr>
            </a:pPr>
            <a:r>
              <a:rPr sz="2025" b="1">
                <a:solidFill>
                  <a:srgbClr val="1A5276"/>
                </a:solidFill>
                <a:latin typeface="Arial"/>
                <a:ea typeface="Arial"/>
                <a:cs typeface="Arial"/>
              </a:rPr>
              <a:t>Vraag = GO</a:t>
            </a:r>
          </a:p>
        </p:txBody>
      </p:sp>
      <p:sp>
        <p:nvSpPr>
          <p:cNvPr id="7" name="MK">
            <a:extLst xmlns:a="http://schemas.openxmlformats.org/drawingml/2006/main">
              <a:ext uri="{FF2B5EF4-FFF2-40B4-BE49-F238E27FC236}">
                <a16:creationId xmlns:a16="http://schemas.microsoft.com/office/drawing/2014/main" id="{748D7EAC-DD8A-4DC1-8421-B5572E1F28D9}"/>
              </a:ext>
            </a:extLst>
          </p:cNvPr>
          <p:cNvSpPr>
            <a:spLocks xmlns:a="http://schemas.openxmlformats.org/drawingml/2006/main" noGrp="1"/>
          </p:cNvSpPr>
          <p:nvPr/>
        </p:nvSpPr>
        <p:spPr>
          <a:xfrm xmlns:a="http://schemas.openxmlformats.org/drawingml/2006/main">
            <a:off x="8449970" y="3446145"/>
            <a:ext cx="809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A94D16"/>
                </a:solidFill>
                <a:latin typeface="Arial"/>
                <a:ea typeface="Arial"/>
                <a:cs typeface="Arial"/>
              </a:defRPr>
            </a:pPr>
            <a:r>
              <a:rPr sz="2025" b="1">
                <a:solidFill>
                  <a:srgbClr val="A94D16"/>
                </a:solidFill>
                <a:latin typeface="Arial"/>
                <a:ea typeface="Arial"/>
                <a:cs typeface="Arial"/>
              </a:rPr>
              <a:t>MK</a:t>
            </a:r>
          </a:p>
        </p:txBody>
      </p:sp>
      <p:sp>
        <p:nvSpPr>
          <p:cNvPr id="8" name="MO">
            <a:extLst xmlns:a="http://schemas.openxmlformats.org/drawingml/2006/main">
              <a:ext uri="{FF2B5EF4-FFF2-40B4-BE49-F238E27FC236}">
                <a16:creationId xmlns:a16="http://schemas.microsoft.com/office/drawing/2014/main" id="{D066A86B-00FA-4A0B-9C2C-43CF627E76E9}"/>
              </a:ext>
            </a:extLst>
          </p:cNvPr>
          <p:cNvSpPr>
            <a:spLocks xmlns:a="http://schemas.openxmlformats.org/drawingml/2006/main" noGrp="1"/>
          </p:cNvSpPr>
          <p:nvPr/>
        </p:nvSpPr>
        <p:spPr>
          <a:xfrm xmlns:a="http://schemas.openxmlformats.org/drawingml/2006/main">
            <a:off x="2901391" y="4561523"/>
            <a:ext cx="781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7B2D8E"/>
                </a:solidFill>
                <a:latin typeface="Arial"/>
                <a:ea typeface="Arial"/>
                <a:cs typeface="Arial"/>
              </a:defRPr>
            </a:pPr>
            <a:r>
              <a:rPr sz="2025" b="1">
                <a:solidFill>
                  <a:srgbClr val="7B2D8E"/>
                </a:solidFill>
                <a:latin typeface="Arial"/>
                <a:ea typeface="Arial"/>
                <a:cs typeface="Arial"/>
              </a:rPr>
              <a:t>MO</a:t>
            </a:r>
          </a:p>
        </p:txBody>
      </p:sp>
      <p:sp>
        <p:nvSpPr>
          <p:cNvPr id="9" name="Pm = 50">
            <a:extLst xmlns:a="http://schemas.openxmlformats.org/drawingml/2006/main">
              <a:ext uri="{FF2B5EF4-FFF2-40B4-BE49-F238E27FC236}">
                <a16:creationId xmlns:a16="http://schemas.microsoft.com/office/drawing/2014/main" id="{2FB5D7BF-4B99-4CA3-8D91-F9A713374A8C}"/>
              </a:ext>
            </a:extLst>
          </p:cNvPr>
          <p:cNvSpPr>
            <a:spLocks xmlns:a="http://schemas.openxmlformats.org/drawingml/2006/main" noGrp="1"/>
          </p:cNvSpPr>
          <p:nvPr/>
        </p:nvSpPr>
        <p:spPr>
          <a:xfrm xmlns:a="http://schemas.openxmlformats.org/drawingml/2006/main">
            <a:off x="2001622" y="3756660"/>
            <a:ext cx="1476375" cy="3333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83247"/>
                </a:solidFill>
                <a:latin typeface="Arial"/>
                <a:ea typeface="Arial"/>
                <a:cs typeface="Arial"/>
              </a:defRPr>
            </a:pPr>
            <a:r>
              <a:rPr sz="1950" b="1">
                <a:solidFill>
                  <a:srgbClr val="183247"/>
                </a:solidFill>
                <a:latin typeface="Arial"/>
                <a:ea typeface="Arial"/>
                <a:cs typeface="Arial"/>
              </a:rPr>
              <a:t>Pm = 50</a:t>
            </a:r>
          </a:p>
        </p:txBody>
      </p:sp>
      <p:sp>
        <p:nvSpPr>
          <p:cNvPr id="10" name="MK = 30">
            <a:extLst xmlns:a="http://schemas.openxmlformats.org/drawingml/2006/main">
              <a:ext uri="{FF2B5EF4-FFF2-40B4-BE49-F238E27FC236}">
                <a16:creationId xmlns:a16="http://schemas.microsoft.com/office/drawing/2014/main" id="{F8CC377B-826E-4468-BFCE-FAF00B79E649}"/>
              </a:ext>
            </a:extLst>
          </p:cNvPr>
          <p:cNvSpPr>
            <a:spLocks xmlns:a="http://schemas.openxmlformats.org/drawingml/2006/main" noGrp="1"/>
          </p:cNvSpPr>
          <p:nvPr/>
        </p:nvSpPr>
        <p:spPr>
          <a:xfrm xmlns:a="http://schemas.openxmlformats.org/drawingml/2006/main">
            <a:off x="2001622" y="5309235"/>
            <a:ext cx="1476375" cy="3333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83247"/>
                </a:solidFill>
                <a:latin typeface="Arial"/>
                <a:ea typeface="Arial"/>
                <a:cs typeface="Arial"/>
              </a:defRPr>
            </a:pPr>
            <a:r>
              <a:rPr sz="1950" b="1">
                <a:solidFill>
                  <a:srgbClr val="183247"/>
                </a:solidFill>
                <a:latin typeface="Arial"/>
                <a:ea typeface="Arial"/>
                <a:cs typeface="Arial"/>
              </a:rPr>
              <a:t>MK = 30</a:t>
            </a:r>
          </a:p>
        </p:txBody>
      </p:sp>
      <p:sp>
        <p:nvSpPr>
          <p:cNvPr id="11" name="M">
            <a:extLst xmlns:a="http://schemas.openxmlformats.org/drawingml/2006/main">
              <a:ext uri="{FF2B5EF4-FFF2-40B4-BE49-F238E27FC236}">
                <a16:creationId xmlns:a16="http://schemas.microsoft.com/office/drawing/2014/main" id="{51EC804F-B129-4E0A-8EF1-F3A815DEB359}"/>
              </a:ext>
            </a:extLst>
          </p:cNvPr>
          <p:cNvSpPr>
            <a:spLocks xmlns:a="http://schemas.openxmlformats.org/drawingml/2006/main" noGrp="1"/>
          </p:cNvSpPr>
          <p:nvPr/>
        </p:nvSpPr>
        <p:spPr>
          <a:xfrm xmlns:a="http://schemas.openxmlformats.org/drawingml/2006/main">
            <a:off x="4965192" y="3632835"/>
            <a:ext cx="619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83247"/>
                </a:solidFill>
                <a:latin typeface="Arial"/>
                <a:ea typeface="Arial"/>
                <a:cs typeface="Arial"/>
              </a:defRPr>
            </a:pPr>
            <a:r>
              <a:rPr sz="2100" b="1">
                <a:solidFill>
                  <a:srgbClr val="183247"/>
                </a:solidFill>
                <a:latin typeface="Arial"/>
                <a:ea typeface="Arial"/>
                <a:cs typeface="Arial"/>
              </a:rPr>
              <a:t>M</a:t>
            </a:r>
          </a:p>
        </p:txBody>
      </p:sp>
      <p:sp>
        <p:nvSpPr>
          <p:cNvPr id="12" name="MO = MK">
            <a:extLst xmlns:a="http://schemas.openxmlformats.org/drawingml/2006/main">
              <a:ext uri="{FF2B5EF4-FFF2-40B4-BE49-F238E27FC236}">
                <a16:creationId xmlns:a16="http://schemas.microsoft.com/office/drawing/2014/main" id="{E0C335F5-061F-449D-9DAF-38CB22AAB068}"/>
              </a:ext>
            </a:extLst>
          </p:cNvPr>
          <p:cNvSpPr>
            <a:spLocks xmlns:a="http://schemas.openxmlformats.org/drawingml/2006/main" noGrp="1"/>
          </p:cNvSpPr>
          <p:nvPr/>
        </p:nvSpPr>
        <p:spPr>
          <a:xfrm xmlns:a="http://schemas.openxmlformats.org/drawingml/2006/main">
            <a:off x="10287000" y="2009775"/>
            <a:ext cx="4381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A5276"/>
                </a:solidFill>
                <a:latin typeface="Arial"/>
                <a:ea typeface="Arial"/>
                <a:cs typeface="Arial"/>
              </a:defRPr>
            </a:pPr>
            <a:r>
              <a:rPr sz="2775" b="1">
                <a:solidFill>
                  <a:srgbClr val="1A5276"/>
                </a:solidFill>
                <a:latin typeface="Arial"/>
                <a:ea typeface="Arial"/>
                <a:cs typeface="Arial"/>
              </a:rPr>
              <a:t>MO = MK</a:t>
            </a:r>
          </a:p>
        </p:txBody>
      </p:sp>
      <p:sp>
        <p:nvSpPr>
          <p:cNvPr id="13" name="70 − 2Q = 10 + Q&#10;60 = 3Q&#10;Qm = 20 sessies/week&#10;&#10;Pm = 70 − 20&#10;= € 5">
            <a:extLst xmlns:a="http://schemas.openxmlformats.org/drawingml/2006/main">
              <a:ext uri="{FF2B5EF4-FFF2-40B4-BE49-F238E27FC236}">
                <a16:creationId xmlns:a16="http://schemas.microsoft.com/office/drawing/2014/main" id="{509A5152-5D1C-4A87-A2C1-267DE6AC88E7}"/>
              </a:ext>
            </a:extLst>
          </p:cNvPr>
          <p:cNvSpPr>
            <a:spLocks xmlns:a="http://schemas.openxmlformats.org/drawingml/2006/main" noGrp="1"/>
          </p:cNvSpPr>
          <p:nvPr/>
        </p:nvSpPr>
        <p:spPr>
          <a:xfrm xmlns:a="http://schemas.openxmlformats.org/drawingml/2006/main">
            <a:off x="10287000" y="3209925"/>
            <a:ext cx="43815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70 − 2Q = 10 + Q</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60 = 3Q</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Qm = 20 sessies/week</a:t>
            </a:r>
          </a:p>
          <a:p xmlns:a="http://schemas.openxmlformats.org/drawingml/2006/main">
            <a:r>
              <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Pm = 70 − 20</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 € 50 per sessie</a:t>
            </a:r>
          </a:p>
        </p:txBody>
      </p:sp>
      <p:sp>
        <p:nvSpPr>
          <p:cNvPr id="14" name="20 ≤ capaciteit 50&#10;Prijs op de vraaglijn.">
            <a:extLst xmlns:a="http://schemas.openxmlformats.org/drawingml/2006/main">
              <a:ext uri="{FF2B5EF4-FFF2-40B4-BE49-F238E27FC236}">
                <a16:creationId xmlns:a16="http://schemas.microsoft.com/office/drawing/2014/main" id="{0B6262BD-10A6-456B-BF90-E5DC2C063F70}"/>
              </a:ext>
            </a:extLst>
          </p:cNvPr>
          <p:cNvSpPr>
            <a:spLocks xmlns:a="http://schemas.openxmlformats.org/drawingml/2006/main" noGrp="1"/>
          </p:cNvSpPr>
          <p:nvPr/>
        </p:nvSpPr>
        <p:spPr>
          <a:xfrm xmlns:a="http://schemas.openxmlformats.org/drawingml/2006/main">
            <a:off x="10287000" y="6391275"/>
            <a:ext cx="438150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1A5276"/>
                </a:solidFill>
                <a:latin typeface="Arial"/>
                <a:ea typeface="Arial"/>
                <a:cs typeface="Arial"/>
              </a:defRPr>
            </a:pPr>
            <a:r>
              <a:rPr sz="2475" b="1">
                <a:solidFill>
                  <a:srgbClr val="1A5276"/>
                </a:solidFill>
                <a:latin typeface="Arial"/>
                <a:ea typeface="Arial"/>
                <a:cs typeface="Arial"/>
              </a:rPr>
              <a:t>20 ≤ capaciteit 50</a:t>
            </a:r>
          </a:p>
          <a:p xmlns:a="http://schemas.openxmlformats.org/drawingml/2006/main">
            <a:pPr algn="l">
              <a:defRPr sz="2475" b="1">
                <a:solidFill>
                  <a:srgbClr val="1A5276"/>
                </a:solidFill>
                <a:latin typeface="Arial"/>
                <a:ea typeface="Arial"/>
                <a:cs typeface="Arial"/>
              </a:defRPr>
            </a:pPr>
            <a:r>
              <a:rPr sz="2475" b="1">
                <a:solidFill>
                  <a:srgbClr val="1A5276"/>
                </a:solidFill>
                <a:latin typeface="Arial"/>
                <a:ea typeface="Arial"/>
                <a:cs typeface="Arial"/>
              </a:rPr>
              <a:t>Prijs op de vraaglijn.</a:t>
            </a:r>
          </a:p>
        </p:txBody>
      </p:sp>
    </p:spTree>
    <p:extLst>
      <p:ext uri="{BB962C8B-B14F-4D97-AF65-F5344CB8AC3E}">
        <p14:creationId xmlns:p14="http://schemas.microsoft.com/office/powerpoint/2010/main" val="101227812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58a · Winst van Studio Solo">
            <a:extLst xmlns:a="http://schemas.openxmlformats.org/drawingml/2006/main">
              <a:ext uri="{FF2B5EF4-FFF2-40B4-BE49-F238E27FC236}">
                <a16:creationId xmlns:a16="http://schemas.microsoft.com/office/drawing/2014/main" id="{8351884E-A768-406F-B5C9-87055965920A}"/>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58a · Winst van Studio Solo</a:t>
            </a:r>
          </a:p>
        </p:txBody>
      </p:sp>
      <p:sp>
        <p:nvSpPr>
          <p:cNvPr id="2" name="">
            <a:extLst xmlns:a="http://schemas.openxmlformats.org/drawingml/2006/main">
              <a:ext uri="{FF2B5EF4-FFF2-40B4-BE49-F238E27FC236}">
                <a16:creationId xmlns:a16="http://schemas.microsoft.com/office/drawing/2014/main" id="{6F2168E5-4325-432F-97D6-1527D996565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7 Gemengde opgaven: marktvormen en marktfalen · Opgave 58 · ">
            <a:extLst xmlns:a="http://schemas.openxmlformats.org/drawingml/2006/main">
              <a:ext uri="{FF2B5EF4-FFF2-40B4-BE49-F238E27FC236}">
                <a16:creationId xmlns:a16="http://schemas.microsoft.com/office/drawing/2014/main" id="{C5FD6D6C-603E-44DA-9183-70E38737554B}"/>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§4.2.7 Gemengde opgaven: marktvormen en marktfalen · Opgave 58 · Boekpagina 108–109</a:t>
            </a:r>
          </a:p>
        </p:txBody>
      </p:sp>
      <p:sp>
        <p:nvSpPr>
          <p:cNvPr id="4" name="slide-number">
            <a:extLst xmlns:a="http://schemas.openxmlformats.org/drawingml/2006/main">
              <a:ext uri="{FF2B5EF4-FFF2-40B4-BE49-F238E27FC236}">
                <a16:creationId xmlns:a16="http://schemas.microsoft.com/office/drawing/2014/main" id="{20260C1E-1F2D-445D-868E-89E871991167}"/>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15</a:t>
            </a:r>
          </a:p>
        </p:txBody>
      </p:sp>
      <p:graphicFrame>
        <p:nvGraphicFramePr>
          <p:cNvPr id="12" name=""/>
          <p:cNvGraphicFramePr/>
          <p:nvPr/>
        </p:nvGraphicFramePr>
        <p:xfrm>
          <a:off xmlns:a="http://schemas.openxmlformats.org/drawingml/2006/main" x="571500" y="2343150"/>
          <a:ext xmlns:a="http://schemas.openxmlformats.org/drawingml/2006/main" cx="14097000" cy="3295650"/>
        </p:xfrm>
        <a:graphic xmlns:a="http://schemas.openxmlformats.org/drawingml/2006/main">
          <a:graphicData uri="http://schemas.openxmlformats.org/drawingml/2006/table">
            <a:tbl>
              <a:tblPr/>
              <a:tblGrid>
                <a:gridCol w="4476750"/>
                <a:gridCol w="6667500"/>
                <a:gridCol w="2952750"/>
              </a:tblGrid>
              <a:tr h="823913">
                <a:tc>
                  <a:txBody>
                    <a:bodyPr lIns="171450" tIns="95250" rIns="152400" bIns="95250"/>
                    <a:lstStyle/>
                    <a:p>
                      <a:r>
                        <a:rPr sz="2550" b="1">
                          <a:solidFill>
                            <a:srgbClr val="FFFFFF"/>
                          </a:solidFill>
                          <a:latin typeface="Arial"/>
                          <a:ea typeface="Arial"/>
                          <a:cs typeface="Arial"/>
                        </a:rPr>
                        <a:t>Grootheid</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Berekening</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 per week</a:t>
                      </a:r>
                    </a:p>
                  </a:txBody>
                  <a:tcPr marL="91440" marR="91440" marT="45720" marB="45720" anchor="ctr">
                    <a:solidFill>
                      <a:srgbClr val="183247"/>
                    </a:solidFill>
                  </a:tcPr>
                </a:tc>
              </a:tr>
              <a:tr h="823913">
                <a:tc>
                  <a:txBody>
                    <a:bodyPr lIns="171450" tIns="95250" rIns="152400" bIns="95250"/>
                    <a:lstStyle/>
                    <a:p>
                      <a:r>
                        <a:rPr sz="2550" b="0">
                          <a:solidFill>
                            <a:srgbClr val="183247"/>
                          </a:solidFill>
                          <a:latin typeface="Arial"/>
                          <a:ea typeface="Arial"/>
                          <a:cs typeface="Arial"/>
                        </a:rPr>
                        <a:t>Totale opbrengst</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50 × 20</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1.000</a:t>
                      </a:r>
                    </a:p>
                  </a:txBody>
                  <a:tcPr marL="91440" marR="91440" marT="45720" marB="45720" anchor="ctr">
                    <a:solidFill>
                      <a:srgbClr val="FFFFFF"/>
                    </a:solidFill>
                  </a:tcPr>
                </a:tc>
              </a:tr>
              <a:tr h="823913">
                <a:tc>
                  <a:txBody>
                    <a:bodyPr lIns="171450" tIns="95250" rIns="152400" bIns="95250"/>
                    <a:lstStyle/>
                    <a:p>
                      <a:r>
                        <a:rPr sz="2550" b="0">
                          <a:solidFill>
                            <a:srgbClr val="183247"/>
                          </a:solidFill>
                          <a:latin typeface="Arial"/>
                          <a:ea typeface="Arial"/>
                          <a:cs typeface="Arial"/>
                        </a:rPr>
                        <a:t>Totale kosten</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100 + 10 × 20 + 0,5 × 20²</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500</a:t>
                      </a:r>
                    </a:p>
                  </a:txBody>
                  <a:tcPr marL="91440" marR="91440" marT="45720" marB="45720" anchor="ctr">
                    <a:solidFill>
                      <a:srgbClr val="EFF4F7"/>
                    </a:solidFill>
                  </a:tcPr>
                </a:tc>
              </a:tr>
              <a:tr h="823913">
                <a:tc>
                  <a:txBody>
                    <a:bodyPr lIns="171450" tIns="95250" rIns="152400" bIns="95250"/>
                    <a:lstStyle/>
                    <a:p>
                      <a:r>
                        <a:rPr sz="2550" b="0">
                          <a:solidFill>
                            <a:srgbClr val="183247"/>
                          </a:solidFill>
                          <a:latin typeface="Arial"/>
                          <a:ea typeface="Arial"/>
                          <a:cs typeface="Arial"/>
                        </a:rPr>
                        <a:t>Winst = TO − TK</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1.000 − 500</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500</a:t>
                      </a:r>
                    </a:p>
                  </a:txBody>
                  <a:tcPr marL="91440" marR="91440" marT="45720" marB="45720" anchor="ctr">
                    <a:solidFill>
                      <a:srgbClr val="FFFFFF"/>
                    </a:solidFill>
                  </a:tcPr>
                </a:tc>
              </a:tr>
            </a:tbl>
          </a:graphicData>
        </a:graphic>
      </p:graphicFrame>
      <p:sp>
        <p:nvSpPr>
          <p:cNvPr id="6" name="TVK = 200 + 200 = € 400 per week">
            <a:extLst xmlns:a="http://schemas.openxmlformats.org/drawingml/2006/main">
              <a:ext uri="{FF2B5EF4-FFF2-40B4-BE49-F238E27FC236}">
                <a16:creationId xmlns:a16="http://schemas.microsoft.com/office/drawing/2014/main" id="{994DF933-9DAA-4D5B-9FA7-EEFA11A22CE1}"/>
              </a:ext>
            </a:extLst>
          </p:cNvPr>
          <p:cNvSpPr>
            <a:spLocks xmlns:a="http://schemas.openxmlformats.org/drawingml/2006/main" noGrp="1"/>
          </p:cNvSpPr>
          <p:nvPr/>
        </p:nvSpPr>
        <p:spPr>
          <a:xfrm xmlns:a="http://schemas.openxmlformats.org/drawingml/2006/main">
            <a:off x="571500" y="6305550"/>
            <a:ext cx="14097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20665B"/>
                </a:solidFill>
                <a:latin typeface="Arial"/>
                <a:ea typeface="Arial"/>
                <a:cs typeface="Arial"/>
              </a:defRPr>
            </a:pPr>
            <a:r>
              <a:rPr sz="3000" b="1">
                <a:solidFill>
                  <a:srgbClr val="20665B"/>
                </a:solidFill>
                <a:latin typeface="Arial"/>
                <a:ea typeface="Arial"/>
                <a:cs typeface="Arial"/>
              </a:rPr>
              <a:t>TVK = 200 + 200 = € 400 per week</a:t>
            </a:r>
          </a:p>
        </p:txBody>
      </p:sp>
      <p:sp>
        <p:nvSpPr>
          <p:cNvPr id="7" name="Controle: PS = 1.000 − 400 = 600; winst = 600 − 100">
            <a:extLst xmlns:a="http://schemas.openxmlformats.org/drawingml/2006/main">
              <a:ext uri="{FF2B5EF4-FFF2-40B4-BE49-F238E27FC236}">
                <a16:creationId xmlns:a16="http://schemas.microsoft.com/office/drawing/2014/main" id="{4146DE21-2303-495F-BD1A-AFF550F24593}"/>
              </a:ext>
            </a:extLst>
          </p:cNvPr>
          <p:cNvSpPr>
            <a:spLocks xmlns:a="http://schemas.openxmlformats.org/drawingml/2006/main" noGrp="1"/>
          </p:cNvSpPr>
          <p:nvPr/>
        </p:nvSpPr>
        <p:spPr>
          <a:xfrm xmlns:a="http://schemas.openxmlformats.org/drawingml/2006/main">
            <a:off x="571500" y="7267575"/>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83247"/>
                </a:solidFill>
                <a:latin typeface="Arial"/>
                <a:ea typeface="Arial"/>
                <a:cs typeface="Arial"/>
              </a:defRPr>
            </a:pPr>
            <a:r>
              <a:rPr sz="2775" b="1">
                <a:solidFill>
                  <a:srgbClr val="183247"/>
                </a:solidFill>
                <a:latin typeface="Arial"/>
                <a:ea typeface="Arial"/>
                <a:cs typeface="Arial"/>
              </a:rPr>
              <a:t>Controle: PS = 1.000 − 400 = 600; winst = 600 − 100</a:t>
            </a:r>
          </a:p>
        </p:txBody>
      </p:sp>
    </p:spTree>
    <p:extLst>
      <p:ext uri="{BB962C8B-B14F-4D97-AF65-F5344CB8AC3E}">
        <p14:creationId xmlns:p14="http://schemas.microsoft.com/office/powerpoint/2010/main" val="163092967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58b · Consumenten- en producentensurplus">
            <a:extLst xmlns:a="http://schemas.openxmlformats.org/drawingml/2006/main">
              <a:ext uri="{FF2B5EF4-FFF2-40B4-BE49-F238E27FC236}">
                <a16:creationId xmlns:a16="http://schemas.microsoft.com/office/drawing/2014/main" id="{18B7461C-41E9-4BA8-BBBB-7EA25B0132FB}"/>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58b · Consumenten- en producentensurplus</a:t>
            </a:r>
          </a:p>
        </p:txBody>
      </p:sp>
      <p:sp>
        <p:nvSpPr>
          <p:cNvPr id="2" name="">
            <a:extLst xmlns:a="http://schemas.openxmlformats.org/drawingml/2006/main">
              <a:ext uri="{FF2B5EF4-FFF2-40B4-BE49-F238E27FC236}">
                <a16:creationId xmlns:a16="http://schemas.microsoft.com/office/drawing/2014/main" id="{4F48E61E-A52C-4114-8941-A2DB6EDBFE07}"/>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7 Gemengde opgaven: marktvormen en marktfalen · Opgave 58 · ">
            <a:extLst xmlns:a="http://schemas.openxmlformats.org/drawingml/2006/main">
              <a:ext uri="{FF2B5EF4-FFF2-40B4-BE49-F238E27FC236}">
                <a16:creationId xmlns:a16="http://schemas.microsoft.com/office/drawing/2014/main" id="{C1803D7D-E73F-4579-AABF-994CE20E59A7}"/>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§4.2.7 Gemengde opgaven: marktvormen en marktfalen · Opgave 58 · Boekpagina 108–109</a:t>
            </a:r>
          </a:p>
        </p:txBody>
      </p:sp>
      <p:sp>
        <p:nvSpPr>
          <p:cNvPr id="4" name="slide-number">
            <a:extLst xmlns:a="http://schemas.openxmlformats.org/drawingml/2006/main">
              <a:ext uri="{FF2B5EF4-FFF2-40B4-BE49-F238E27FC236}">
                <a16:creationId xmlns:a16="http://schemas.microsoft.com/office/drawing/2014/main" id="{734FFE91-319E-4682-A1D9-9D7E99904E6D}"/>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16</a:t>
            </a:r>
          </a:p>
        </p:txBody>
      </p:sp>
      <p:graphicFrame>
        <p:nvGraphicFramePr>
          <p:cNvPr id="12" name=""/>
          <p:cNvGraphicFramePr/>
          <p:nvPr/>
        </p:nvGraphicFramePr>
        <p:xfrm>
          <a:off xmlns:a="http://schemas.openxmlformats.org/drawingml/2006/main" x="571500" y="2238375"/>
          <a:ext xmlns:a="http://schemas.openxmlformats.org/drawingml/2006/main" cx="14097000" cy="3381375"/>
        </p:xfrm>
        <a:graphic xmlns:a="http://schemas.openxmlformats.org/drawingml/2006/main">
          <a:graphicData uri="http://schemas.openxmlformats.org/drawingml/2006/table">
            <a:tbl>
              <a:tblPr/>
              <a:tblGrid>
                <a:gridCol w="4857750"/>
                <a:gridCol w="6667500"/>
                <a:gridCol w="2571750"/>
              </a:tblGrid>
              <a:tr h="845344">
                <a:tc>
                  <a:txBody>
                    <a:bodyPr lIns="171450" tIns="95250" rIns="152400" bIns="95250"/>
                    <a:lstStyle/>
                    <a:p>
                      <a:r>
                        <a:rPr sz="2325" b="1">
                          <a:solidFill>
                            <a:srgbClr val="FFFFFF"/>
                          </a:solidFill>
                          <a:latin typeface="Arial"/>
                          <a:ea typeface="Arial"/>
                          <a:cs typeface="Arial"/>
                        </a:rPr>
                        <a:t>Gebied</a:t>
                      </a:r>
                    </a:p>
                  </a:txBody>
                  <a:tcPr marL="91440" marR="91440" marT="45720" marB="45720" anchor="ctr">
                    <a:solidFill>
                      <a:srgbClr val="183247"/>
                    </a:solidFill>
                  </a:tcPr>
                </a:tc>
                <a:tc>
                  <a:txBody>
                    <a:bodyPr lIns="171450" tIns="95250" rIns="152400" bIns="95250"/>
                    <a:lstStyle/>
                    <a:p>
                      <a:r>
                        <a:rPr sz="2325" b="1">
                          <a:solidFill>
                            <a:srgbClr val="FFFFFF"/>
                          </a:solidFill>
                          <a:latin typeface="Arial"/>
                          <a:ea typeface="Arial"/>
                          <a:cs typeface="Arial"/>
                        </a:rPr>
                        <a:t>Berekening</a:t>
                      </a:r>
                    </a:p>
                  </a:txBody>
                  <a:tcPr marL="91440" marR="91440" marT="45720" marB="45720" anchor="ctr">
                    <a:solidFill>
                      <a:srgbClr val="183247"/>
                    </a:solidFill>
                  </a:tcPr>
                </a:tc>
                <a:tc>
                  <a:txBody>
                    <a:bodyPr lIns="171450" tIns="95250" rIns="152400" bIns="95250"/>
                    <a:lstStyle/>
                    <a:p>
                      <a:r>
                        <a:rPr sz="2325" b="1">
                          <a:solidFill>
                            <a:srgbClr val="FFFFFF"/>
                          </a:solidFill>
                          <a:latin typeface="Arial"/>
                          <a:ea typeface="Arial"/>
                          <a:cs typeface="Arial"/>
                        </a:rPr>
                        <a:t>€ per week</a:t>
                      </a:r>
                    </a:p>
                  </a:txBody>
                  <a:tcPr marL="91440" marR="91440" marT="45720" marB="45720" anchor="ctr">
                    <a:solidFill>
                      <a:srgbClr val="183247"/>
                    </a:solidFill>
                  </a:tcPr>
                </a:tc>
              </a:tr>
              <a:tr h="845344">
                <a:tc>
                  <a:txBody>
                    <a:bodyPr lIns="171450" tIns="95250" rIns="152400" bIns="95250"/>
                    <a:lstStyle/>
                    <a:p>
                      <a:r>
                        <a:rPr sz="2325" b="0">
                          <a:solidFill>
                            <a:srgbClr val="183247"/>
                          </a:solidFill>
                          <a:latin typeface="Arial"/>
                          <a:ea typeface="Arial"/>
                          <a:cs typeface="Arial"/>
                        </a:rPr>
                        <a:t>CS</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½ × 20 × (70 − 50)</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200</a:t>
                      </a:r>
                    </a:p>
                  </a:txBody>
                  <a:tcPr marL="91440" marR="91440" marT="45720" marB="45720" anchor="ctr">
                    <a:solidFill>
                      <a:srgbClr val="FFFFFF"/>
                    </a:solidFill>
                  </a:tcPr>
                </a:tc>
              </a:tr>
              <a:tr h="845344">
                <a:tc>
                  <a:txBody>
                    <a:bodyPr lIns="171450" tIns="95250" rIns="152400" bIns="95250"/>
                    <a:lstStyle/>
                    <a:p>
                      <a:r>
                        <a:rPr sz="2325" b="0">
                          <a:solidFill>
                            <a:srgbClr val="183247"/>
                          </a:solidFill>
                          <a:latin typeface="Arial"/>
                          <a:ea typeface="Arial"/>
                          <a:cs typeface="Arial"/>
                        </a:rPr>
                        <a:t>PS: rechthoek + driehoek</a:t>
                      </a:r>
                    </a:p>
                  </a:txBody>
                  <a:tcPr marL="91440" marR="91440" marT="45720" marB="45720" anchor="ctr">
                    <a:solidFill>
                      <a:srgbClr val="EFF4F7"/>
                    </a:solidFill>
                  </a:tcPr>
                </a:tc>
                <a:tc>
                  <a:txBody>
                    <a:bodyPr lIns="171450" tIns="95250" rIns="152400" bIns="95250"/>
                    <a:lstStyle/>
                    <a:p>
                      <a:r>
                        <a:rPr sz="2325" b="0">
                          <a:solidFill>
                            <a:srgbClr val="183247"/>
                          </a:solidFill>
                          <a:latin typeface="Arial"/>
                          <a:ea typeface="Arial"/>
                          <a:cs typeface="Arial"/>
                        </a:rPr>
                        <a:t>20 × (50 − 30) + ½ × 20 × (30 − 10)</a:t>
                      </a:r>
                    </a:p>
                  </a:txBody>
                  <a:tcPr marL="91440" marR="91440" marT="45720" marB="45720" anchor="ctr">
                    <a:solidFill>
                      <a:srgbClr val="EFF4F7"/>
                    </a:solidFill>
                  </a:tcPr>
                </a:tc>
                <a:tc>
                  <a:txBody>
                    <a:bodyPr lIns="171450" tIns="95250" rIns="152400" bIns="95250"/>
                    <a:lstStyle/>
                    <a:p>
                      <a:r>
                        <a:rPr sz="2325" b="0">
                          <a:solidFill>
                            <a:srgbClr val="183247"/>
                          </a:solidFill>
                          <a:latin typeface="Arial"/>
                          <a:ea typeface="Arial"/>
                          <a:cs typeface="Arial"/>
                        </a:rPr>
                        <a:t>600</a:t>
                      </a:r>
                    </a:p>
                  </a:txBody>
                  <a:tcPr marL="91440" marR="91440" marT="45720" marB="45720" anchor="ctr">
                    <a:solidFill>
                      <a:srgbClr val="EFF4F7"/>
                    </a:solidFill>
                  </a:tcPr>
                </a:tc>
              </a:tr>
              <a:tr h="845344">
                <a:tc>
                  <a:txBody>
                    <a:bodyPr lIns="171450" tIns="95250" rIns="152400" bIns="95250"/>
                    <a:lstStyle/>
                    <a:p>
                      <a:r>
                        <a:rPr sz="2325" b="0">
                          <a:solidFill>
                            <a:srgbClr val="183247"/>
                          </a:solidFill>
                          <a:latin typeface="Arial"/>
                          <a:ea typeface="Arial"/>
                          <a:cs typeface="Arial"/>
                        </a:rPr>
                        <a:t>TS = CS + PS</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200 + 600</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800</a:t>
                      </a:r>
                    </a:p>
                  </a:txBody>
                  <a:tcPr marL="91440" marR="91440" marT="45720" marB="45720" anchor="ctr">
                    <a:solidFill>
                      <a:srgbClr val="FFFFFF"/>
                    </a:solidFill>
                  </a:tcPr>
                </a:tc>
              </a:tr>
            </a:tbl>
          </a:graphicData>
        </a:graphic>
      </p:graphicFrame>
      <p:sp>
        <p:nvSpPr>
          <p:cNvPr id="6" name="MK(20) = € 30 · PS is het gebied boven MK, onder Pm">
            <a:extLst xmlns:a="http://schemas.openxmlformats.org/drawingml/2006/main">
              <a:ext uri="{FF2B5EF4-FFF2-40B4-BE49-F238E27FC236}">
                <a16:creationId xmlns:a16="http://schemas.microsoft.com/office/drawing/2014/main" id="{725810A5-3AE9-44B5-872E-8332695E7019}"/>
              </a:ext>
            </a:extLst>
          </p:cNvPr>
          <p:cNvSpPr>
            <a:spLocks xmlns:a="http://schemas.openxmlformats.org/drawingml/2006/main" noGrp="1"/>
          </p:cNvSpPr>
          <p:nvPr/>
        </p:nvSpPr>
        <p:spPr>
          <a:xfrm xmlns:a="http://schemas.openxmlformats.org/drawingml/2006/main">
            <a:off x="571500" y="6210300"/>
            <a:ext cx="140970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20665B"/>
                </a:solidFill>
                <a:latin typeface="Arial"/>
                <a:ea typeface="Arial"/>
                <a:cs typeface="Arial"/>
              </a:defRPr>
            </a:pPr>
            <a:r>
              <a:rPr sz="2850" b="1">
                <a:solidFill>
                  <a:srgbClr val="20665B"/>
                </a:solidFill>
                <a:latin typeface="Arial"/>
                <a:ea typeface="Arial"/>
                <a:cs typeface="Arial"/>
              </a:rPr>
              <a:t>MK(20) = € 30 · PS is het gebied boven MK, onder Pm</a:t>
            </a:r>
          </a:p>
        </p:txBody>
      </p:sp>
      <p:sp>
        <p:nvSpPr>
          <p:cNvPr id="7" name="TSe − TSm = 900 − 800 = € 100 per week">
            <a:extLst xmlns:a="http://schemas.openxmlformats.org/drawingml/2006/main">
              <a:ext uri="{FF2B5EF4-FFF2-40B4-BE49-F238E27FC236}">
                <a16:creationId xmlns:a16="http://schemas.microsoft.com/office/drawing/2014/main" id="{B3FF38E1-ADA0-4655-A82F-AC0A916E1DA5}"/>
              </a:ext>
            </a:extLst>
          </p:cNvPr>
          <p:cNvSpPr>
            <a:spLocks xmlns:a="http://schemas.openxmlformats.org/drawingml/2006/main" noGrp="1"/>
          </p:cNvSpPr>
          <p:nvPr/>
        </p:nvSpPr>
        <p:spPr>
          <a:xfrm xmlns:a="http://schemas.openxmlformats.org/drawingml/2006/main">
            <a:off x="571500" y="7286625"/>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A94D16"/>
                </a:solidFill>
                <a:latin typeface="Arial"/>
                <a:ea typeface="Arial"/>
                <a:cs typeface="Arial"/>
              </a:defRPr>
            </a:pPr>
            <a:r>
              <a:rPr sz="3150" b="1">
                <a:solidFill>
                  <a:srgbClr val="A94D16"/>
                </a:solidFill>
                <a:latin typeface="Arial"/>
                <a:ea typeface="Arial"/>
                <a:cs typeface="Arial"/>
              </a:rPr>
              <a:t>TSe − TSm = 900 − 800 = € 100 per week</a:t>
            </a:r>
          </a:p>
        </p:txBody>
      </p:sp>
    </p:spTree>
    <p:extLst>
      <p:ext uri="{BB962C8B-B14F-4D97-AF65-F5344CB8AC3E}">
        <p14:creationId xmlns:p14="http://schemas.microsoft.com/office/powerpoint/2010/main" val="45945963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58b · Welvaartsverlies in figuur A">
            <a:extLst xmlns:a="http://schemas.openxmlformats.org/drawingml/2006/main">
              <a:ext uri="{FF2B5EF4-FFF2-40B4-BE49-F238E27FC236}">
                <a16:creationId xmlns:a16="http://schemas.microsoft.com/office/drawing/2014/main" id="{A5456291-03D1-441C-BD31-FE612C21E45D}"/>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58b · Welvaartsverlies in figuur A</a:t>
            </a:r>
          </a:p>
        </p:txBody>
      </p:sp>
      <p:sp>
        <p:nvSpPr>
          <p:cNvPr id="2" name="">
            <a:extLst xmlns:a="http://schemas.openxmlformats.org/drawingml/2006/main">
              <a:ext uri="{FF2B5EF4-FFF2-40B4-BE49-F238E27FC236}">
                <a16:creationId xmlns:a16="http://schemas.microsoft.com/office/drawing/2014/main" id="{5138C58D-12D9-445B-A4D2-7DCE701802A9}"/>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7 Gemengde opgaven: marktvormen en marktfalen · Opgave 58 · ">
            <a:extLst xmlns:a="http://schemas.openxmlformats.org/drawingml/2006/main">
              <a:ext uri="{FF2B5EF4-FFF2-40B4-BE49-F238E27FC236}">
                <a16:creationId xmlns:a16="http://schemas.microsoft.com/office/drawing/2014/main" id="{D6ED6542-906A-431E-8817-D2912706AA35}"/>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§4.2.7 Gemengde opgaven: marktvormen en marktfalen · Opgave 58 · Boekpagina 108–109</a:t>
            </a:r>
          </a:p>
        </p:txBody>
      </p:sp>
      <p:sp>
        <p:nvSpPr>
          <p:cNvPr id="4" name="slide-number">
            <a:extLst xmlns:a="http://schemas.openxmlformats.org/drawingml/2006/main">
              <a:ext uri="{FF2B5EF4-FFF2-40B4-BE49-F238E27FC236}">
                <a16:creationId xmlns:a16="http://schemas.microsoft.com/office/drawing/2014/main" id="{E2E381C4-2FF5-472B-AB4B-DE2F22B61044}"/>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17</a:t>
            </a:r>
          </a:p>
        </p:txBody>
      </p:sp>
      <p:sp>
        <p:nvSpPr>
          <p:cNvPr id="5" name="area-welvaartsverlies">
            <a:extLst xmlns:a="http://schemas.openxmlformats.org/drawingml/2006/main">
              <a:ext uri="{FF2B5EF4-FFF2-40B4-BE49-F238E27FC236}">
                <a16:creationId xmlns:a16="http://schemas.microsoft.com/office/drawing/2014/main" id="{D5B8B014-31FD-4B90-8B76-1D2B2D4E6A66}"/>
              </a:ext>
            </a:extLst>
          </p:cNvPr>
          <p:cNvSpPr>
            <a:spLocks xmlns:a="http://schemas.openxmlformats.org/drawingml/2006/main" noGrp="1"/>
          </p:cNvSpPr>
          <p:nvPr/>
        </p:nvSpPr>
        <p:spPr>
          <a:xfrm xmlns:a="http://schemas.openxmlformats.org/drawingml/2006/main">
            <a:off x="4850892" y="4137660"/>
            <a:ext cx="1499616" cy="1123950"/>
          </a:xfrm>
          <a:custGeom xmlns:a="http://schemas.openxmlformats.org/drawingml/2006/main">
            <a:pathLst>
              <a:path w="1499616" h="1123950">
                <a:moveTo>
                  <a:pt x="0" y="0"/>
                </a:moveTo>
                <a:lnTo>
                  <a:pt x="1499616" y="561975"/>
                </a:lnTo>
                <a:lnTo>
                  <a:pt x="0" y="1123950"/>
                </a:lnTo>
                <a:close/>
              </a:path>
            </a:pathLst>
          </a:custGeom>
          <a:solidFill xmlns:a="http://schemas.openxmlformats.org/drawingml/2006/main">
            <a:srgbClr val="F1948A"/>
          </a:solidFill>
          <a:ln xmlns:a="http://schemas.openxmlformats.org/drawingml/2006/main" w="0">
            <a:noFill/>
          </a:ln>
        </p:spPr>
      </p:sp>
      <p:graphicFrame>
        <p:nvGraphicFramePr>
          <p:cNvPr id="36" name="Chart"/>
          <p:cNvGraphicFramePr/>
          <p:nvPr/>
        </p:nvGraphicFramePr>
        <p:xfrm>
          <a:off xmlns:a="http://schemas.openxmlformats.org/drawingml/2006/main" x="571500" y="2114550"/>
          <a:ext xmlns:a="http://schemas.openxmlformats.org/drawingml/2006/main" cx="9144000" cy="5619750"/>
        </p:xfrm>
        <a:graphic xmlns:a="http://schemas.openxmlformats.org/drawingml/2006/main">
          <a:graphicData uri="http://schemas.openxmlformats.org/drawingml/2006/chart">
            <c:chart xmlns:r="http://schemas.openxmlformats.org/officeDocument/2006/relationships" xmlns:c="http://schemas.openxmlformats.org/drawingml/2006/chart" r:id="Rb366c8d482344bc6"/>
          </a:graphicData>
        </a:graphic>
      </p:graphicFrame>
      <p:sp>
        <p:nvSpPr>
          <p:cNvPr id="7" name="Vraag = GO">
            <a:extLst xmlns:a="http://schemas.openxmlformats.org/drawingml/2006/main">
              <a:ext uri="{FF2B5EF4-FFF2-40B4-BE49-F238E27FC236}">
                <a16:creationId xmlns:a16="http://schemas.microsoft.com/office/drawing/2014/main" id="{C4D4EC29-BFB6-4C8E-9B52-82C3356AC5EC}"/>
              </a:ext>
            </a:extLst>
          </p:cNvPr>
          <p:cNvSpPr>
            <a:spLocks xmlns:a="http://schemas.openxmlformats.org/drawingml/2006/main" noGrp="1"/>
          </p:cNvSpPr>
          <p:nvPr/>
        </p:nvSpPr>
        <p:spPr>
          <a:xfrm xmlns:a="http://schemas.openxmlformats.org/drawingml/2006/main">
            <a:off x="7250278" y="4560570"/>
            <a:ext cx="1952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A5276"/>
                </a:solidFill>
                <a:latin typeface="Arial"/>
                <a:ea typeface="Arial"/>
                <a:cs typeface="Arial"/>
              </a:defRPr>
            </a:pPr>
            <a:r>
              <a:rPr sz="2025" b="1">
                <a:solidFill>
                  <a:srgbClr val="1A5276"/>
                </a:solidFill>
                <a:latin typeface="Arial"/>
                <a:ea typeface="Arial"/>
                <a:cs typeface="Arial"/>
              </a:rPr>
              <a:t>Vraag = GO</a:t>
            </a:r>
          </a:p>
        </p:txBody>
      </p:sp>
      <p:sp>
        <p:nvSpPr>
          <p:cNvPr id="8" name="MK">
            <a:extLst xmlns:a="http://schemas.openxmlformats.org/drawingml/2006/main">
              <a:ext uri="{FF2B5EF4-FFF2-40B4-BE49-F238E27FC236}">
                <a16:creationId xmlns:a16="http://schemas.microsoft.com/office/drawing/2014/main" id="{874A09D6-962E-41F2-BA82-6D47F343BB40}"/>
              </a:ext>
            </a:extLst>
          </p:cNvPr>
          <p:cNvSpPr>
            <a:spLocks xmlns:a="http://schemas.openxmlformats.org/drawingml/2006/main" noGrp="1"/>
          </p:cNvSpPr>
          <p:nvPr/>
        </p:nvSpPr>
        <p:spPr>
          <a:xfrm xmlns:a="http://schemas.openxmlformats.org/drawingml/2006/main">
            <a:off x="8449970" y="3446145"/>
            <a:ext cx="809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A94D16"/>
                </a:solidFill>
                <a:latin typeface="Arial"/>
                <a:ea typeface="Arial"/>
                <a:cs typeface="Arial"/>
              </a:defRPr>
            </a:pPr>
            <a:r>
              <a:rPr sz="2025" b="1">
                <a:solidFill>
                  <a:srgbClr val="A94D16"/>
                </a:solidFill>
                <a:latin typeface="Arial"/>
                <a:ea typeface="Arial"/>
                <a:cs typeface="Arial"/>
              </a:rPr>
              <a:t>MK</a:t>
            </a:r>
          </a:p>
        </p:txBody>
      </p:sp>
      <p:sp>
        <p:nvSpPr>
          <p:cNvPr id="9" name="MO">
            <a:extLst xmlns:a="http://schemas.openxmlformats.org/drawingml/2006/main">
              <a:ext uri="{FF2B5EF4-FFF2-40B4-BE49-F238E27FC236}">
                <a16:creationId xmlns:a16="http://schemas.microsoft.com/office/drawing/2014/main" id="{E4BACD0D-3D72-45A8-B7F5-9C70178AA26C}"/>
              </a:ext>
            </a:extLst>
          </p:cNvPr>
          <p:cNvSpPr>
            <a:spLocks xmlns:a="http://schemas.openxmlformats.org/drawingml/2006/main" noGrp="1"/>
          </p:cNvSpPr>
          <p:nvPr/>
        </p:nvSpPr>
        <p:spPr>
          <a:xfrm xmlns:a="http://schemas.openxmlformats.org/drawingml/2006/main">
            <a:off x="2901391" y="4561523"/>
            <a:ext cx="781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7B2D8E"/>
                </a:solidFill>
                <a:latin typeface="Arial"/>
                <a:ea typeface="Arial"/>
                <a:cs typeface="Arial"/>
              </a:defRPr>
            </a:pPr>
            <a:r>
              <a:rPr sz="2025" b="1">
                <a:solidFill>
                  <a:srgbClr val="7B2D8E"/>
                </a:solidFill>
                <a:latin typeface="Arial"/>
                <a:ea typeface="Arial"/>
                <a:cs typeface="Arial"/>
              </a:rPr>
              <a:t>MO</a:t>
            </a:r>
          </a:p>
        </p:txBody>
      </p:sp>
      <p:sp>
        <p:nvSpPr>
          <p:cNvPr id="10" name="Pm = 50">
            <a:extLst xmlns:a="http://schemas.openxmlformats.org/drawingml/2006/main">
              <a:ext uri="{FF2B5EF4-FFF2-40B4-BE49-F238E27FC236}">
                <a16:creationId xmlns:a16="http://schemas.microsoft.com/office/drawing/2014/main" id="{0133C849-9114-4387-A033-778B9ACD2186}"/>
              </a:ext>
            </a:extLst>
          </p:cNvPr>
          <p:cNvSpPr>
            <a:spLocks xmlns:a="http://schemas.openxmlformats.org/drawingml/2006/main" noGrp="1"/>
          </p:cNvSpPr>
          <p:nvPr/>
        </p:nvSpPr>
        <p:spPr>
          <a:xfrm xmlns:a="http://schemas.openxmlformats.org/drawingml/2006/main">
            <a:off x="2001622" y="3756660"/>
            <a:ext cx="1476375" cy="3333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83247"/>
                </a:solidFill>
                <a:latin typeface="Arial"/>
                <a:ea typeface="Arial"/>
                <a:cs typeface="Arial"/>
              </a:defRPr>
            </a:pPr>
            <a:r>
              <a:rPr sz="1950" b="1">
                <a:solidFill>
                  <a:srgbClr val="183247"/>
                </a:solidFill>
                <a:latin typeface="Arial"/>
                <a:ea typeface="Arial"/>
                <a:cs typeface="Arial"/>
              </a:rPr>
              <a:t>Pm = 50</a:t>
            </a:r>
          </a:p>
        </p:txBody>
      </p:sp>
      <p:sp>
        <p:nvSpPr>
          <p:cNvPr id="11" name="MK = 30">
            <a:extLst xmlns:a="http://schemas.openxmlformats.org/drawingml/2006/main">
              <a:ext uri="{FF2B5EF4-FFF2-40B4-BE49-F238E27FC236}">
                <a16:creationId xmlns:a16="http://schemas.microsoft.com/office/drawing/2014/main" id="{2CF22387-B43A-4D29-9738-DBDE6F92D909}"/>
              </a:ext>
            </a:extLst>
          </p:cNvPr>
          <p:cNvSpPr>
            <a:spLocks xmlns:a="http://schemas.openxmlformats.org/drawingml/2006/main" noGrp="1"/>
          </p:cNvSpPr>
          <p:nvPr/>
        </p:nvSpPr>
        <p:spPr>
          <a:xfrm xmlns:a="http://schemas.openxmlformats.org/drawingml/2006/main">
            <a:off x="2001622" y="5309235"/>
            <a:ext cx="1476375" cy="3333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83247"/>
                </a:solidFill>
                <a:latin typeface="Arial"/>
                <a:ea typeface="Arial"/>
                <a:cs typeface="Arial"/>
              </a:defRPr>
            </a:pPr>
            <a:r>
              <a:rPr sz="1950" b="1">
                <a:solidFill>
                  <a:srgbClr val="183247"/>
                </a:solidFill>
                <a:latin typeface="Arial"/>
                <a:ea typeface="Arial"/>
                <a:cs typeface="Arial"/>
              </a:rPr>
              <a:t>MK = 30</a:t>
            </a:r>
          </a:p>
        </p:txBody>
      </p:sp>
      <p:sp>
        <p:nvSpPr>
          <p:cNvPr id="12" name="M">
            <a:extLst xmlns:a="http://schemas.openxmlformats.org/drawingml/2006/main">
              <a:ext uri="{FF2B5EF4-FFF2-40B4-BE49-F238E27FC236}">
                <a16:creationId xmlns:a16="http://schemas.microsoft.com/office/drawing/2014/main" id="{667304F1-BFB0-4EA8-AC4E-7F03C2F59D20}"/>
              </a:ext>
            </a:extLst>
          </p:cNvPr>
          <p:cNvSpPr>
            <a:spLocks xmlns:a="http://schemas.openxmlformats.org/drawingml/2006/main" noGrp="1"/>
          </p:cNvSpPr>
          <p:nvPr/>
        </p:nvSpPr>
        <p:spPr>
          <a:xfrm xmlns:a="http://schemas.openxmlformats.org/drawingml/2006/main">
            <a:off x="4965192" y="3632835"/>
            <a:ext cx="619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83247"/>
                </a:solidFill>
                <a:latin typeface="Arial"/>
                <a:ea typeface="Arial"/>
                <a:cs typeface="Arial"/>
              </a:defRPr>
            </a:pPr>
            <a:r>
              <a:rPr sz="2100" b="1">
                <a:solidFill>
                  <a:srgbClr val="183247"/>
                </a:solidFill>
                <a:latin typeface="Arial"/>
                <a:ea typeface="Arial"/>
                <a:cs typeface="Arial"/>
              </a:rPr>
              <a:t>M</a:t>
            </a:r>
          </a:p>
        </p:txBody>
      </p:sp>
      <p:sp>
        <p:nvSpPr>
          <p:cNvPr id="13" name="hatch-loss-31">
            <a:extLst xmlns:a="http://schemas.openxmlformats.org/drawingml/2006/main">
              <a:ext uri="{FF2B5EF4-FFF2-40B4-BE49-F238E27FC236}">
                <a16:creationId xmlns:a16="http://schemas.microsoft.com/office/drawing/2014/main" id="{D424FC4F-A242-4E29-AB75-3F1C41C840DE}"/>
              </a:ext>
            </a:extLst>
          </p:cNvPr>
          <p:cNvSpPr>
            <a:spLocks xmlns:a="http://schemas.openxmlformats.org/drawingml/2006/main" noGrp="1"/>
          </p:cNvSpPr>
          <p:nvPr/>
        </p:nvSpPr>
        <p:spPr>
          <a:xfrm xmlns:a="http://schemas.openxmlformats.org/drawingml/2006/main">
            <a:off x="4850892" y="5205413"/>
            <a:ext cx="149962" cy="0"/>
          </a:xfrm>
          <a:prstGeom xmlns:a="http://schemas.openxmlformats.org/drawingml/2006/main" prst="line">
            <a:avLst/>
          </a:prstGeom>
          <a:ln xmlns:a="http://schemas.openxmlformats.org/drawingml/2006/main" w="11430">
            <a:solidFill>
              <a:srgbClr val="9C3529"/>
            </a:solidFill>
          </a:ln>
        </p:spPr>
      </p:sp>
      <p:sp>
        <p:nvSpPr>
          <p:cNvPr id="14" name="hatch-loss-32.5">
            <a:extLst xmlns:a="http://schemas.openxmlformats.org/drawingml/2006/main">
              <a:ext uri="{FF2B5EF4-FFF2-40B4-BE49-F238E27FC236}">
                <a16:creationId xmlns:a16="http://schemas.microsoft.com/office/drawing/2014/main" id="{E3702E32-5AAD-4CA1-B2E2-8BDE2214200F}"/>
              </a:ext>
            </a:extLst>
          </p:cNvPr>
          <p:cNvSpPr>
            <a:spLocks xmlns:a="http://schemas.openxmlformats.org/drawingml/2006/main" noGrp="1"/>
          </p:cNvSpPr>
          <p:nvPr/>
        </p:nvSpPr>
        <p:spPr>
          <a:xfrm xmlns:a="http://schemas.openxmlformats.org/drawingml/2006/main">
            <a:off x="4850892" y="5121116"/>
            <a:ext cx="374904" cy="0"/>
          </a:xfrm>
          <a:prstGeom xmlns:a="http://schemas.openxmlformats.org/drawingml/2006/main" prst="line">
            <a:avLst/>
          </a:prstGeom>
          <a:ln xmlns:a="http://schemas.openxmlformats.org/drawingml/2006/main" w="11430">
            <a:solidFill>
              <a:srgbClr val="9C3529"/>
            </a:solidFill>
          </a:ln>
        </p:spPr>
      </p:sp>
      <p:sp>
        <p:nvSpPr>
          <p:cNvPr id="15" name="hatch-loss-34">
            <a:extLst xmlns:a="http://schemas.openxmlformats.org/drawingml/2006/main">
              <a:ext uri="{FF2B5EF4-FFF2-40B4-BE49-F238E27FC236}">
                <a16:creationId xmlns:a16="http://schemas.microsoft.com/office/drawing/2014/main" id="{DC562BA5-96A5-4614-9029-4C0E83AF8BBC}"/>
              </a:ext>
            </a:extLst>
          </p:cNvPr>
          <p:cNvSpPr>
            <a:spLocks xmlns:a="http://schemas.openxmlformats.org/drawingml/2006/main" noGrp="1"/>
          </p:cNvSpPr>
          <p:nvPr/>
        </p:nvSpPr>
        <p:spPr>
          <a:xfrm xmlns:a="http://schemas.openxmlformats.org/drawingml/2006/main">
            <a:off x="4850892" y="5036820"/>
            <a:ext cx="599846" cy="0"/>
          </a:xfrm>
          <a:prstGeom xmlns:a="http://schemas.openxmlformats.org/drawingml/2006/main" prst="line">
            <a:avLst/>
          </a:prstGeom>
          <a:ln xmlns:a="http://schemas.openxmlformats.org/drawingml/2006/main" w="11430">
            <a:solidFill>
              <a:srgbClr val="9C3529"/>
            </a:solidFill>
          </a:ln>
        </p:spPr>
      </p:sp>
      <p:sp>
        <p:nvSpPr>
          <p:cNvPr id="16" name="hatch-loss-35.5">
            <a:extLst xmlns:a="http://schemas.openxmlformats.org/drawingml/2006/main">
              <a:ext uri="{FF2B5EF4-FFF2-40B4-BE49-F238E27FC236}">
                <a16:creationId xmlns:a16="http://schemas.microsoft.com/office/drawing/2014/main" id="{EB234B24-974F-4227-B24E-F362F55B2EA7}"/>
              </a:ext>
            </a:extLst>
          </p:cNvPr>
          <p:cNvSpPr>
            <a:spLocks xmlns:a="http://schemas.openxmlformats.org/drawingml/2006/main" noGrp="1"/>
          </p:cNvSpPr>
          <p:nvPr/>
        </p:nvSpPr>
        <p:spPr>
          <a:xfrm xmlns:a="http://schemas.openxmlformats.org/drawingml/2006/main">
            <a:off x="4850892" y="4952524"/>
            <a:ext cx="824789" cy="0"/>
          </a:xfrm>
          <a:prstGeom xmlns:a="http://schemas.openxmlformats.org/drawingml/2006/main" prst="line">
            <a:avLst/>
          </a:prstGeom>
          <a:ln xmlns:a="http://schemas.openxmlformats.org/drawingml/2006/main" w="11430">
            <a:solidFill>
              <a:srgbClr val="9C3529"/>
            </a:solidFill>
          </a:ln>
        </p:spPr>
      </p:sp>
      <p:sp>
        <p:nvSpPr>
          <p:cNvPr id="17" name="hatch-loss-37">
            <a:extLst xmlns:a="http://schemas.openxmlformats.org/drawingml/2006/main">
              <a:ext uri="{FF2B5EF4-FFF2-40B4-BE49-F238E27FC236}">
                <a16:creationId xmlns:a16="http://schemas.microsoft.com/office/drawing/2014/main" id="{61899965-C13B-4576-AB9F-7325775F2EEC}"/>
              </a:ext>
            </a:extLst>
          </p:cNvPr>
          <p:cNvSpPr>
            <a:spLocks xmlns:a="http://schemas.openxmlformats.org/drawingml/2006/main" noGrp="1"/>
          </p:cNvSpPr>
          <p:nvPr/>
        </p:nvSpPr>
        <p:spPr>
          <a:xfrm xmlns:a="http://schemas.openxmlformats.org/drawingml/2006/main">
            <a:off x="4850892" y="4868228"/>
            <a:ext cx="1049731" cy="0"/>
          </a:xfrm>
          <a:prstGeom xmlns:a="http://schemas.openxmlformats.org/drawingml/2006/main" prst="line">
            <a:avLst/>
          </a:prstGeom>
          <a:ln xmlns:a="http://schemas.openxmlformats.org/drawingml/2006/main" w="11430">
            <a:solidFill>
              <a:srgbClr val="9C3529"/>
            </a:solidFill>
          </a:ln>
        </p:spPr>
      </p:sp>
      <p:sp>
        <p:nvSpPr>
          <p:cNvPr id="18" name="hatch-loss-38.5">
            <a:extLst xmlns:a="http://schemas.openxmlformats.org/drawingml/2006/main">
              <a:ext uri="{FF2B5EF4-FFF2-40B4-BE49-F238E27FC236}">
                <a16:creationId xmlns:a16="http://schemas.microsoft.com/office/drawing/2014/main" id="{5F301020-90D8-4EFD-A31D-A428B4F1BF47}"/>
              </a:ext>
            </a:extLst>
          </p:cNvPr>
          <p:cNvSpPr>
            <a:spLocks xmlns:a="http://schemas.openxmlformats.org/drawingml/2006/main" noGrp="1"/>
          </p:cNvSpPr>
          <p:nvPr/>
        </p:nvSpPr>
        <p:spPr>
          <a:xfrm xmlns:a="http://schemas.openxmlformats.org/drawingml/2006/main">
            <a:off x="4850892" y="4783931"/>
            <a:ext cx="1274674" cy="0"/>
          </a:xfrm>
          <a:prstGeom xmlns:a="http://schemas.openxmlformats.org/drawingml/2006/main" prst="line">
            <a:avLst/>
          </a:prstGeom>
          <a:ln xmlns:a="http://schemas.openxmlformats.org/drawingml/2006/main" w="11430">
            <a:solidFill>
              <a:srgbClr val="9C3529"/>
            </a:solidFill>
          </a:ln>
        </p:spPr>
      </p:sp>
      <p:sp>
        <p:nvSpPr>
          <p:cNvPr id="19" name="hatch-loss-40">
            <a:extLst xmlns:a="http://schemas.openxmlformats.org/drawingml/2006/main">
              <a:ext uri="{FF2B5EF4-FFF2-40B4-BE49-F238E27FC236}">
                <a16:creationId xmlns:a16="http://schemas.microsoft.com/office/drawing/2014/main" id="{0B7BE628-934F-463E-A306-AEA9ABCF922A}"/>
              </a:ext>
            </a:extLst>
          </p:cNvPr>
          <p:cNvSpPr>
            <a:spLocks xmlns:a="http://schemas.openxmlformats.org/drawingml/2006/main" noGrp="1"/>
          </p:cNvSpPr>
          <p:nvPr/>
        </p:nvSpPr>
        <p:spPr>
          <a:xfrm xmlns:a="http://schemas.openxmlformats.org/drawingml/2006/main">
            <a:off x="4850892" y="4699635"/>
            <a:ext cx="1499616" cy="0"/>
          </a:xfrm>
          <a:prstGeom xmlns:a="http://schemas.openxmlformats.org/drawingml/2006/main" prst="line">
            <a:avLst/>
          </a:prstGeom>
          <a:ln xmlns:a="http://schemas.openxmlformats.org/drawingml/2006/main" w="11430">
            <a:solidFill>
              <a:srgbClr val="9C3529"/>
            </a:solidFill>
          </a:ln>
        </p:spPr>
      </p:sp>
      <p:sp>
        <p:nvSpPr>
          <p:cNvPr id="20" name="hatch-loss-41.5">
            <a:extLst xmlns:a="http://schemas.openxmlformats.org/drawingml/2006/main">
              <a:ext uri="{FF2B5EF4-FFF2-40B4-BE49-F238E27FC236}">
                <a16:creationId xmlns:a16="http://schemas.microsoft.com/office/drawing/2014/main" id="{23064454-CF3B-45B2-9810-5D69EA4C15FA}"/>
              </a:ext>
            </a:extLst>
          </p:cNvPr>
          <p:cNvSpPr>
            <a:spLocks xmlns:a="http://schemas.openxmlformats.org/drawingml/2006/main" noGrp="1"/>
          </p:cNvSpPr>
          <p:nvPr/>
        </p:nvSpPr>
        <p:spPr>
          <a:xfrm xmlns:a="http://schemas.openxmlformats.org/drawingml/2006/main">
            <a:off x="4850892" y="4615339"/>
            <a:ext cx="1274674" cy="0"/>
          </a:xfrm>
          <a:prstGeom xmlns:a="http://schemas.openxmlformats.org/drawingml/2006/main" prst="line">
            <a:avLst/>
          </a:prstGeom>
          <a:ln xmlns:a="http://schemas.openxmlformats.org/drawingml/2006/main" w="11430">
            <a:solidFill>
              <a:srgbClr val="9C3529"/>
            </a:solidFill>
          </a:ln>
        </p:spPr>
      </p:sp>
      <p:sp>
        <p:nvSpPr>
          <p:cNvPr id="21" name="hatch-loss-43">
            <a:extLst xmlns:a="http://schemas.openxmlformats.org/drawingml/2006/main">
              <a:ext uri="{FF2B5EF4-FFF2-40B4-BE49-F238E27FC236}">
                <a16:creationId xmlns:a16="http://schemas.microsoft.com/office/drawing/2014/main" id="{6D6413EE-D427-4874-A13D-3C9A896ECBD4}"/>
              </a:ext>
            </a:extLst>
          </p:cNvPr>
          <p:cNvSpPr>
            <a:spLocks xmlns:a="http://schemas.openxmlformats.org/drawingml/2006/main" noGrp="1"/>
          </p:cNvSpPr>
          <p:nvPr/>
        </p:nvSpPr>
        <p:spPr>
          <a:xfrm xmlns:a="http://schemas.openxmlformats.org/drawingml/2006/main">
            <a:off x="4850892" y="4531043"/>
            <a:ext cx="1049731" cy="0"/>
          </a:xfrm>
          <a:prstGeom xmlns:a="http://schemas.openxmlformats.org/drawingml/2006/main" prst="line">
            <a:avLst/>
          </a:prstGeom>
          <a:ln xmlns:a="http://schemas.openxmlformats.org/drawingml/2006/main" w="11430">
            <a:solidFill>
              <a:srgbClr val="9C3529"/>
            </a:solidFill>
          </a:ln>
        </p:spPr>
      </p:sp>
      <p:sp>
        <p:nvSpPr>
          <p:cNvPr id="22" name="hatch-loss-44.5">
            <a:extLst xmlns:a="http://schemas.openxmlformats.org/drawingml/2006/main">
              <a:ext uri="{FF2B5EF4-FFF2-40B4-BE49-F238E27FC236}">
                <a16:creationId xmlns:a16="http://schemas.microsoft.com/office/drawing/2014/main" id="{5835974B-4F59-4E71-8604-7EE91A30C75F}"/>
              </a:ext>
            </a:extLst>
          </p:cNvPr>
          <p:cNvSpPr>
            <a:spLocks xmlns:a="http://schemas.openxmlformats.org/drawingml/2006/main" noGrp="1"/>
          </p:cNvSpPr>
          <p:nvPr/>
        </p:nvSpPr>
        <p:spPr>
          <a:xfrm xmlns:a="http://schemas.openxmlformats.org/drawingml/2006/main">
            <a:off x="4850892" y="4446746"/>
            <a:ext cx="824789" cy="0"/>
          </a:xfrm>
          <a:prstGeom xmlns:a="http://schemas.openxmlformats.org/drawingml/2006/main" prst="line">
            <a:avLst/>
          </a:prstGeom>
          <a:ln xmlns:a="http://schemas.openxmlformats.org/drawingml/2006/main" w="11430">
            <a:solidFill>
              <a:srgbClr val="9C3529"/>
            </a:solidFill>
          </a:ln>
        </p:spPr>
      </p:sp>
      <p:sp>
        <p:nvSpPr>
          <p:cNvPr id="23" name="hatch-loss-46">
            <a:extLst xmlns:a="http://schemas.openxmlformats.org/drawingml/2006/main">
              <a:ext uri="{FF2B5EF4-FFF2-40B4-BE49-F238E27FC236}">
                <a16:creationId xmlns:a16="http://schemas.microsoft.com/office/drawing/2014/main" id="{3593EAC3-D75C-471B-A535-006716FFA879}"/>
              </a:ext>
            </a:extLst>
          </p:cNvPr>
          <p:cNvSpPr>
            <a:spLocks xmlns:a="http://schemas.openxmlformats.org/drawingml/2006/main" noGrp="1"/>
          </p:cNvSpPr>
          <p:nvPr/>
        </p:nvSpPr>
        <p:spPr>
          <a:xfrm xmlns:a="http://schemas.openxmlformats.org/drawingml/2006/main">
            <a:off x="4850892" y="4362450"/>
            <a:ext cx="599846" cy="0"/>
          </a:xfrm>
          <a:prstGeom xmlns:a="http://schemas.openxmlformats.org/drawingml/2006/main" prst="line">
            <a:avLst/>
          </a:prstGeom>
          <a:ln xmlns:a="http://schemas.openxmlformats.org/drawingml/2006/main" w="11430">
            <a:solidFill>
              <a:srgbClr val="9C3529"/>
            </a:solidFill>
          </a:ln>
        </p:spPr>
      </p:sp>
      <p:sp>
        <p:nvSpPr>
          <p:cNvPr id="24" name="hatch-loss-47.5">
            <a:extLst xmlns:a="http://schemas.openxmlformats.org/drawingml/2006/main">
              <a:ext uri="{FF2B5EF4-FFF2-40B4-BE49-F238E27FC236}">
                <a16:creationId xmlns:a16="http://schemas.microsoft.com/office/drawing/2014/main" id="{952E549C-9E15-4B7D-A8EA-9D9E18883E80}"/>
              </a:ext>
            </a:extLst>
          </p:cNvPr>
          <p:cNvSpPr>
            <a:spLocks xmlns:a="http://schemas.openxmlformats.org/drawingml/2006/main" noGrp="1"/>
          </p:cNvSpPr>
          <p:nvPr/>
        </p:nvSpPr>
        <p:spPr>
          <a:xfrm xmlns:a="http://schemas.openxmlformats.org/drawingml/2006/main">
            <a:off x="4850892" y="4278154"/>
            <a:ext cx="374904" cy="0"/>
          </a:xfrm>
          <a:prstGeom xmlns:a="http://schemas.openxmlformats.org/drawingml/2006/main" prst="line">
            <a:avLst/>
          </a:prstGeom>
          <a:ln xmlns:a="http://schemas.openxmlformats.org/drawingml/2006/main" w="11430">
            <a:solidFill>
              <a:srgbClr val="9C3529"/>
            </a:solidFill>
          </a:ln>
        </p:spPr>
      </p:sp>
      <p:sp>
        <p:nvSpPr>
          <p:cNvPr id="25" name="hatch-loss-49">
            <a:extLst xmlns:a="http://schemas.openxmlformats.org/drawingml/2006/main">
              <a:ext uri="{FF2B5EF4-FFF2-40B4-BE49-F238E27FC236}">
                <a16:creationId xmlns:a16="http://schemas.microsoft.com/office/drawing/2014/main" id="{F0C6A0F4-2B45-4FAA-AA5F-14D1120F9BB1}"/>
              </a:ext>
            </a:extLst>
          </p:cNvPr>
          <p:cNvSpPr>
            <a:spLocks xmlns:a="http://schemas.openxmlformats.org/drawingml/2006/main" noGrp="1"/>
          </p:cNvSpPr>
          <p:nvPr/>
        </p:nvSpPr>
        <p:spPr>
          <a:xfrm xmlns:a="http://schemas.openxmlformats.org/drawingml/2006/main">
            <a:off x="4850892" y="4193857"/>
            <a:ext cx="149962" cy="0"/>
          </a:xfrm>
          <a:prstGeom xmlns:a="http://schemas.openxmlformats.org/drawingml/2006/main" prst="line">
            <a:avLst/>
          </a:prstGeom>
          <a:ln xmlns:a="http://schemas.openxmlformats.org/drawingml/2006/main" w="11430">
            <a:solidFill>
              <a:srgbClr val="9C3529"/>
            </a:solidFill>
          </a:ln>
        </p:spPr>
      </p:sp>
      <p:sp>
        <p:nvSpPr>
          <p:cNvPr id="26" name="E">
            <a:extLst xmlns:a="http://schemas.openxmlformats.org/drawingml/2006/main">
              <a:ext uri="{FF2B5EF4-FFF2-40B4-BE49-F238E27FC236}">
                <a16:creationId xmlns:a16="http://schemas.microsoft.com/office/drawing/2014/main" id="{64DA5E5B-6AE8-4DC3-8C01-A646DE09DA6C}"/>
              </a:ext>
            </a:extLst>
          </p:cNvPr>
          <p:cNvSpPr>
            <a:spLocks xmlns:a="http://schemas.openxmlformats.org/drawingml/2006/main" noGrp="1"/>
          </p:cNvSpPr>
          <p:nvPr/>
        </p:nvSpPr>
        <p:spPr>
          <a:xfrm xmlns:a="http://schemas.openxmlformats.org/drawingml/2006/main">
            <a:off x="6464808" y="4147185"/>
            <a:ext cx="47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83247"/>
                </a:solidFill>
                <a:latin typeface="Arial"/>
                <a:ea typeface="Arial"/>
                <a:cs typeface="Arial"/>
              </a:defRPr>
            </a:pPr>
            <a:r>
              <a:rPr sz="2100" b="1">
                <a:solidFill>
                  <a:srgbClr val="183247"/>
                </a:solidFill>
                <a:latin typeface="Arial"/>
                <a:ea typeface="Arial"/>
                <a:cs typeface="Arial"/>
              </a:rPr>
              <a:t>E</a:t>
            </a:r>
          </a:p>
        </p:txBody>
      </p:sp>
      <p:sp>
        <p:nvSpPr>
          <p:cNvPr id="27" name="W">
            <a:extLst xmlns:a="http://schemas.openxmlformats.org/drawingml/2006/main">
              <a:ext uri="{FF2B5EF4-FFF2-40B4-BE49-F238E27FC236}">
                <a16:creationId xmlns:a16="http://schemas.microsoft.com/office/drawing/2014/main" id="{E3609406-4D59-4EF0-8DB1-06F90696759B}"/>
              </a:ext>
            </a:extLst>
          </p:cNvPr>
          <p:cNvSpPr>
            <a:spLocks xmlns:a="http://schemas.openxmlformats.org/drawingml/2006/main" noGrp="1"/>
          </p:cNvSpPr>
          <p:nvPr/>
        </p:nvSpPr>
        <p:spPr>
          <a:xfrm xmlns:a="http://schemas.openxmlformats.org/drawingml/2006/main">
            <a:off x="5000854" y="4531043"/>
            <a:ext cx="47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74291F"/>
                </a:solidFill>
                <a:latin typeface="Arial"/>
                <a:ea typeface="Arial"/>
                <a:cs typeface="Arial"/>
              </a:defRPr>
            </a:pPr>
            <a:r>
              <a:rPr sz="1950" b="1">
                <a:solidFill>
                  <a:srgbClr val="74291F"/>
                </a:solidFill>
                <a:latin typeface="Arial"/>
                <a:ea typeface="Arial"/>
                <a:cs typeface="Arial"/>
              </a:rPr>
              <a:t>W</a:t>
            </a:r>
          </a:p>
        </p:txBody>
      </p:sp>
      <p:sp>
        <p:nvSpPr>
          <p:cNvPr id="28" name="W: verloren surplus">
            <a:extLst xmlns:a="http://schemas.openxmlformats.org/drawingml/2006/main">
              <a:ext uri="{FF2B5EF4-FFF2-40B4-BE49-F238E27FC236}">
                <a16:creationId xmlns:a16="http://schemas.microsoft.com/office/drawing/2014/main" id="{D1B80F9C-27DA-4384-8828-7169C963FCF1}"/>
              </a:ext>
            </a:extLst>
          </p:cNvPr>
          <p:cNvSpPr>
            <a:spLocks xmlns:a="http://schemas.openxmlformats.org/drawingml/2006/main" noGrp="1"/>
          </p:cNvSpPr>
          <p:nvPr/>
        </p:nvSpPr>
        <p:spPr>
          <a:xfrm xmlns:a="http://schemas.openxmlformats.org/drawingml/2006/main">
            <a:off x="10287000" y="2009775"/>
            <a:ext cx="4381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A94D16"/>
                </a:solidFill>
                <a:latin typeface="Arial"/>
                <a:ea typeface="Arial"/>
                <a:cs typeface="Arial"/>
              </a:defRPr>
            </a:pPr>
            <a:r>
              <a:rPr sz="2775" b="1">
                <a:solidFill>
                  <a:srgbClr val="A94D16"/>
                </a:solidFill>
                <a:latin typeface="Arial"/>
                <a:ea typeface="Arial"/>
                <a:cs typeface="Arial"/>
              </a:rPr>
              <a:t>W: verloren surplus</a:t>
            </a:r>
          </a:p>
        </p:txBody>
      </p:sp>
      <p:sp>
        <p:nvSpPr>
          <p:cNvPr id="29" name="Tussen vraag en MK&#10;Q: 20 tot 30&#10;&#10;½ × (30 − 20)&#10;   × (50 − 30)&#10;= €">
            <a:extLst xmlns:a="http://schemas.openxmlformats.org/drawingml/2006/main">
              <a:ext uri="{FF2B5EF4-FFF2-40B4-BE49-F238E27FC236}">
                <a16:creationId xmlns:a16="http://schemas.microsoft.com/office/drawing/2014/main" id="{E6C16FBF-53E9-44BE-95DE-4D3A95E3288C}"/>
              </a:ext>
            </a:extLst>
          </p:cNvPr>
          <p:cNvSpPr>
            <a:spLocks xmlns:a="http://schemas.openxmlformats.org/drawingml/2006/main" noGrp="1"/>
          </p:cNvSpPr>
          <p:nvPr/>
        </p:nvSpPr>
        <p:spPr>
          <a:xfrm xmlns:a="http://schemas.openxmlformats.org/drawingml/2006/main">
            <a:off x="10287000" y="3209925"/>
            <a:ext cx="43815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Tussen vraag en MK</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Q: 20 tot 30</a:t>
            </a:r>
          </a:p>
          <a:p xmlns:a="http://schemas.openxmlformats.org/drawingml/2006/main">
            <a:r>
              <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½ × (30 − 20)</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   × (50 − 30)</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 € 100 per week</a:t>
            </a:r>
          </a:p>
        </p:txBody>
      </p:sp>
      <p:sp>
        <p:nvSpPr>
          <p:cNvPr id="30" name="Geen betaling aan&#10;een andere partij.">
            <a:extLst xmlns:a="http://schemas.openxmlformats.org/drawingml/2006/main">
              <a:ext uri="{FF2B5EF4-FFF2-40B4-BE49-F238E27FC236}">
                <a16:creationId xmlns:a16="http://schemas.microsoft.com/office/drawing/2014/main" id="{3C2690CC-706D-499B-ABCB-EBB8BF4E5983}"/>
              </a:ext>
            </a:extLst>
          </p:cNvPr>
          <p:cNvSpPr>
            <a:spLocks xmlns:a="http://schemas.openxmlformats.org/drawingml/2006/main" noGrp="1"/>
          </p:cNvSpPr>
          <p:nvPr/>
        </p:nvSpPr>
        <p:spPr>
          <a:xfrm xmlns:a="http://schemas.openxmlformats.org/drawingml/2006/main">
            <a:off x="10287000" y="6391275"/>
            <a:ext cx="438150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A94D16"/>
                </a:solidFill>
                <a:latin typeface="Arial"/>
                <a:ea typeface="Arial"/>
                <a:cs typeface="Arial"/>
              </a:defRPr>
            </a:pPr>
            <a:r>
              <a:rPr sz="2475" b="1">
                <a:solidFill>
                  <a:srgbClr val="A94D16"/>
                </a:solidFill>
                <a:latin typeface="Arial"/>
                <a:ea typeface="Arial"/>
                <a:cs typeface="Arial"/>
              </a:rPr>
              <a:t>Geen betaling aan</a:t>
            </a:r>
          </a:p>
          <a:p xmlns:a="http://schemas.openxmlformats.org/drawingml/2006/main">
            <a:pPr algn="l">
              <a:defRPr sz="2475" b="1">
                <a:solidFill>
                  <a:srgbClr val="A94D16"/>
                </a:solidFill>
                <a:latin typeface="Arial"/>
                <a:ea typeface="Arial"/>
                <a:cs typeface="Arial"/>
              </a:defRPr>
            </a:pPr>
            <a:r>
              <a:rPr sz="2475" b="1">
                <a:solidFill>
                  <a:srgbClr val="A94D16"/>
                </a:solidFill>
                <a:latin typeface="Arial"/>
                <a:ea typeface="Arial"/>
                <a:cs typeface="Arial"/>
              </a:rPr>
              <a:t>een andere partij.</a:t>
            </a:r>
          </a:p>
        </p:txBody>
      </p:sp>
    </p:spTree>
    <p:extLst>
      <p:ext uri="{BB962C8B-B14F-4D97-AF65-F5344CB8AC3E}">
        <p14:creationId xmlns:p14="http://schemas.microsoft.com/office/powerpoint/2010/main" val="210735495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58c · De heffingswig in bron B">
            <a:extLst xmlns:a="http://schemas.openxmlformats.org/drawingml/2006/main">
              <a:ext uri="{FF2B5EF4-FFF2-40B4-BE49-F238E27FC236}">
                <a16:creationId xmlns:a16="http://schemas.microsoft.com/office/drawing/2014/main" id="{EED55699-EAC2-4131-8A42-2B095D1F6362}"/>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58c · De heffingswig in bron B</a:t>
            </a:r>
          </a:p>
        </p:txBody>
      </p:sp>
      <p:sp>
        <p:nvSpPr>
          <p:cNvPr id="2" name="">
            <a:extLst xmlns:a="http://schemas.openxmlformats.org/drawingml/2006/main">
              <a:ext uri="{FF2B5EF4-FFF2-40B4-BE49-F238E27FC236}">
                <a16:creationId xmlns:a16="http://schemas.microsoft.com/office/drawing/2014/main" id="{2CA3200C-F9AF-4C0D-B17E-BD4C1413F899}"/>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7 Gemengde opgaven: marktvormen en marktfalen · Opgave 58 · ">
            <a:extLst xmlns:a="http://schemas.openxmlformats.org/drawingml/2006/main">
              <a:ext uri="{FF2B5EF4-FFF2-40B4-BE49-F238E27FC236}">
                <a16:creationId xmlns:a16="http://schemas.microsoft.com/office/drawing/2014/main" id="{0166B015-1286-4DD1-8E65-D1713FCAB3AA}"/>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§4.2.7 Gemengde opgaven: marktvormen en marktfalen · Opgave 58 · Boekpagina 108–109</a:t>
            </a:r>
          </a:p>
        </p:txBody>
      </p:sp>
      <p:sp>
        <p:nvSpPr>
          <p:cNvPr id="4" name="slide-number">
            <a:extLst xmlns:a="http://schemas.openxmlformats.org/drawingml/2006/main">
              <a:ext uri="{FF2B5EF4-FFF2-40B4-BE49-F238E27FC236}">
                <a16:creationId xmlns:a16="http://schemas.microsoft.com/office/drawing/2014/main" id="{9441ABEB-6CD9-4AFE-B0FF-1E116992B1A3}"/>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18</a:t>
            </a:r>
          </a:p>
        </p:txBody>
      </p:sp>
      <p:sp>
        <p:nvSpPr>
          <p:cNvPr id="5" name="Pc = Pp + 20">
            <a:extLst xmlns:a="http://schemas.openxmlformats.org/drawingml/2006/main">
              <a:ext uri="{FF2B5EF4-FFF2-40B4-BE49-F238E27FC236}">
                <a16:creationId xmlns:a16="http://schemas.microsoft.com/office/drawing/2014/main" id="{B306A896-24B1-4512-BE78-68323007DFE9}"/>
              </a:ext>
            </a:extLst>
          </p:cNvPr>
          <p:cNvSpPr>
            <a:spLocks xmlns:a="http://schemas.openxmlformats.org/drawingml/2006/main" noGrp="1"/>
          </p:cNvSpPr>
          <p:nvPr/>
        </p:nvSpPr>
        <p:spPr>
          <a:xfrm xmlns:a="http://schemas.openxmlformats.org/drawingml/2006/main">
            <a:off x="571500" y="1952625"/>
            <a:ext cx="1409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1">
                <a:solidFill>
                  <a:srgbClr val="1A5276"/>
                </a:solidFill>
                <a:latin typeface="Arial"/>
                <a:ea typeface="Arial"/>
                <a:cs typeface="Arial"/>
              </a:defRPr>
            </a:pPr>
            <a:r>
              <a:rPr sz="3525" b="1">
                <a:solidFill>
                  <a:srgbClr val="1A5276"/>
                </a:solidFill>
                <a:latin typeface="Arial"/>
                <a:ea typeface="Arial"/>
                <a:cs typeface="Arial"/>
              </a:rPr>
              <a:t>Pc = Pp + 20</a:t>
            </a:r>
          </a:p>
        </p:txBody>
      </p:sp>
      <p:sp>
        <p:nvSpPr>
          <p:cNvPr id="6" name="60 − Q = Q + 20&#10;40 = 2Q">
            <a:extLst xmlns:a="http://schemas.openxmlformats.org/drawingml/2006/main">
              <a:ext uri="{FF2B5EF4-FFF2-40B4-BE49-F238E27FC236}">
                <a16:creationId xmlns:a16="http://schemas.microsoft.com/office/drawing/2014/main" id="{C9FEBDE5-5369-45EE-A532-D8A8AD6D4B07}"/>
              </a:ext>
            </a:extLst>
          </p:cNvPr>
          <p:cNvSpPr>
            <a:spLocks xmlns:a="http://schemas.openxmlformats.org/drawingml/2006/main" noGrp="1"/>
          </p:cNvSpPr>
          <p:nvPr/>
        </p:nvSpPr>
        <p:spPr>
          <a:xfrm xmlns:a="http://schemas.openxmlformats.org/drawingml/2006/main">
            <a:off x="571500" y="3114675"/>
            <a:ext cx="14097000"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0">
                <a:solidFill>
                  <a:srgbClr val="183247"/>
                </a:solidFill>
                <a:latin typeface="Arial"/>
                <a:ea typeface="Arial"/>
                <a:cs typeface="Arial"/>
              </a:defRPr>
            </a:pPr>
            <a:r>
              <a:rPr sz="3450" b="0">
                <a:solidFill>
                  <a:srgbClr val="183247"/>
                </a:solidFill>
                <a:latin typeface="Arial"/>
                <a:ea typeface="Arial"/>
                <a:cs typeface="Arial"/>
              </a:rPr>
              <a:t>60 − Q = Q + 20</a:t>
            </a:r>
          </a:p>
          <a:p xmlns:a="http://schemas.openxmlformats.org/drawingml/2006/main">
            <a:pPr algn="l">
              <a:defRPr sz="3450" b="0">
                <a:solidFill>
                  <a:srgbClr val="183247"/>
                </a:solidFill>
                <a:latin typeface="Arial"/>
                <a:ea typeface="Arial"/>
                <a:cs typeface="Arial"/>
              </a:defRPr>
            </a:pPr>
            <a:r>
              <a:rPr sz="3450" b="0">
                <a:solidFill>
                  <a:srgbClr val="183247"/>
                </a:solidFill>
                <a:latin typeface="Arial"/>
                <a:ea typeface="Arial"/>
                <a:cs typeface="Arial"/>
              </a:rPr>
              <a:t>40 = 2Q</a:t>
            </a:r>
          </a:p>
        </p:txBody>
      </p:sp>
      <p:sp>
        <p:nvSpPr>
          <p:cNvPr id="7" name="Q = 20 diensten per dag">
            <a:extLst xmlns:a="http://schemas.openxmlformats.org/drawingml/2006/main">
              <a:ext uri="{FF2B5EF4-FFF2-40B4-BE49-F238E27FC236}">
                <a16:creationId xmlns:a16="http://schemas.microsoft.com/office/drawing/2014/main" id="{DD21B72B-886C-42E8-9581-567ED94D2372}"/>
              </a:ext>
            </a:extLst>
          </p:cNvPr>
          <p:cNvSpPr>
            <a:spLocks xmlns:a="http://schemas.openxmlformats.org/drawingml/2006/main" noGrp="1"/>
          </p:cNvSpPr>
          <p:nvPr/>
        </p:nvSpPr>
        <p:spPr>
          <a:xfrm xmlns:a="http://schemas.openxmlformats.org/drawingml/2006/main">
            <a:off x="571500" y="4895850"/>
            <a:ext cx="14097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3247"/>
                </a:solidFill>
                <a:latin typeface="Arial"/>
                <a:ea typeface="Arial"/>
                <a:cs typeface="Arial"/>
              </a:defRPr>
            </a:pPr>
            <a:r>
              <a:rPr sz="3450" b="1">
                <a:solidFill>
                  <a:srgbClr val="183247"/>
                </a:solidFill>
                <a:latin typeface="Arial"/>
                <a:ea typeface="Arial"/>
                <a:cs typeface="Arial"/>
              </a:rPr>
              <a:t>Q = 20 diensten per dag</a:t>
            </a:r>
          </a:p>
        </p:txBody>
      </p:sp>
      <p:sp>
        <p:nvSpPr>
          <p:cNvPr id="8" name="Pc = 60 − 20 = € 40 per dienst&#10;Pp = 20 = € 20 per dienst">
            <a:extLst xmlns:a="http://schemas.openxmlformats.org/drawingml/2006/main">
              <a:ext uri="{FF2B5EF4-FFF2-40B4-BE49-F238E27FC236}">
                <a16:creationId xmlns:a16="http://schemas.microsoft.com/office/drawing/2014/main" id="{E50E403C-02AA-40DD-990E-EFA0AD44C831}"/>
              </a:ext>
            </a:extLst>
          </p:cNvPr>
          <p:cNvSpPr>
            <a:spLocks xmlns:a="http://schemas.openxmlformats.org/drawingml/2006/main" noGrp="1"/>
          </p:cNvSpPr>
          <p:nvPr/>
        </p:nvSpPr>
        <p:spPr>
          <a:xfrm xmlns:a="http://schemas.openxmlformats.org/drawingml/2006/main">
            <a:off x="571500" y="5915025"/>
            <a:ext cx="14097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20665B"/>
                </a:solidFill>
                <a:latin typeface="Arial"/>
                <a:ea typeface="Arial"/>
                <a:cs typeface="Arial"/>
              </a:defRPr>
            </a:pPr>
            <a:r>
              <a:rPr sz="3075" b="1">
                <a:solidFill>
                  <a:srgbClr val="20665B"/>
                </a:solidFill>
                <a:latin typeface="Arial"/>
                <a:ea typeface="Arial"/>
                <a:cs typeface="Arial"/>
              </a:rPr>
              <a:t>Pc = 60 − 20 = € 40 per dienst</a:t>
            </a:r>
          </a:p>
          <a:p xmlns:a="http://schemas.openxmlformats.org/drawingml/2006/main">
            <a:pPr algn="l">
              <a:defRPr sz="3075" b="1">
                <a:solidFill>
                  <a:srgbClr val="20665B"/>
                </a:solidFill>
                <a:latin typeface="Arial"/>
                <a:ea typeface="Arial"/>
                <a:cs typeface="Arial"/>
              </a:defRPr>
            </a:pPr>
            <a:r>
              <a:rPr sz="3075" b="1">
                <a:solidFill>
                  <a:srgbClr val="20665B"/>
                </a:solidFill>
                <a:latin typeface="Arial"/>
                <a:ea typeface="Arial"/>
                <a:cs typeface="Arial"/>
              </a:rPr>
              <a:t>Pp = 20 = € 20 per dienst</a:t>
            </a:r>
          </a:p>
        </p:txBody>
      </p:sp>
      <p:sp>
        <p:nvSpPr>
          <p:cNvPr id="9" name="Controle: Pc − Pp = 40 − 20 = € 20 per dienst">
            <a:extLst xmlns:a="http://schemas.openxmlformats.org/drawingml/2006/main">
              <a:ext uri="{FF2B5EF4-FFF2-40B4-BE49-F238E27FC236}">
                <a16:creationId xmlns:a16="http://schemas.microsoft.com/office/drawing/2014/main" id="{FA33C4D8-462D-4FAD-8455-9C17B70A3A74}"/>
              </a:ext>
            </a:extLst>
          </p:cNvPr>
          <p:cNvSpPr>
            <a:spLocks xmlns:a="http://schemas.openxmlformats.org/drawingml/2006/main" noGrp="1"/>
          </p:cNvSpPr>
          <p:nvPr/>
        </p:nvSpPr>
        <p:spPr>
          <a:xfrm xmlns:a="http://schemas.openxmlformats.org/drawingml/2006/main">
            <a:off x="571500" y="7419975"/>
            <a:ext cx="1409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Controle: Pc − Pp = 40 − 20 = € 20 per dienst</a:t>
            </a:r>
          </a:p>
        </p:txBody>
      </p:sp>
    </p:spTree>
    <p:extLst>
      <p:ext uri="{BB962C8B-B14F-4D97-AF65-F5344CB8AC3E}">
        <p14:creationId xmlns:p14="http://schemas.microsoft.com/office/powerpoint/2010/main" val="53598667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58c · Twee prijzen en de heffingsopbrengst">
            <a:extLst xmlns:a="http://schemas.openxmlformats.org/drawingml/2006/main">
              <a:ext uri="{FF2B5EF4-FFF2-40B4-BE49-F238E27FC236}">
                <a16:creationId xmlns:a16="http://schemas.microsoft.com/office/drawing/2014/main" id="{D25901C1-D845-452C-B9B3-DA7F738CA69B}"/>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58c · Twee prijzen en de heffingsopbrengst</a:t>
            </a:r>
          </a:p>
        </p:txBody>
      </p:sp>
      <p:sp>
        <p:nvSpPr>
          <p:cNvPr id="2" name="">
            <a:extLst xmlns:a="http://schemas.openxmlformats.org/drawingml/2006/main">
              <a:ext uri="{FF2B5EF4-FFF2-40B4-BE49-F238E27FC236}">
                <a16:creationId xmlns:a16="http://schemas.microsoft.com/office/drawing/2014/main" id="{3A9FCF07-9D09-4C59-9154-6862401C559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7 Gemengde opgaven: marktvormen en marktfalen · Opgave 58 · ">
            <a:extLst xmlns:a="http://schemas.openxmlformats.org/drawingml/2006/main">
              <a:ext uri="{FF2B5EF4-FFF2-40B4-BE49-F238E27FC236}">
                <a16:creationId xmlns:a16="http://schemas.microsoft.com/office/drawing/2014/main" id="{7FDA16C9-D8E8-47BA-AE5D-18C0B96B40CF}"/>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§4.2.7 Gemengde opgaven: marktvormen en marktfalen · Opgave 58 · Boekpagina 108–109</a:t>
            </a:r>
          </a:p>
        </p:txBody>
      </p:sp>
      <p:sp>
        <p:nvSpPr>
          <p:cNvPr id="4" name="slide-number">
            <a:extLst xmlns:a="http://schemas.openxmlformats.org/drawingml/2006/main">
              <a:ext uri="{FF2B5EF4-FFF2-40B4-BE49-F238E27FC236}">
                <a16:creationId xmlns:a16="http://schemas.microsoft.com/office/drawing/2014/main" id="{CD4BD327-E82A-4B82-8C74-631E79E8E195}"/>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19</a:t>
            </a:r>
          </a:p>
        </p:txBody>
      </p:sp>
      <p:graphicFrame>
        <p:nvGraphicFramePr>
          <p:cNvPr id="22" name="Chart"/>
          <p:cNvGraphicFramePr/>
          <p:nvPr/>
        </p:nvGraphicFramePr>
        <p:xfrm>
          <a:off xmlns:a="http://schemas.openxmlformats.org/drawingml/2006/main" x="571500" y="2114550"/>
          <a:ext xmlns:a="http://schemas.openxmlformats.org/drawingml/2006/main" cx="9144000" cy="5619750"/>
        </p:xfrm>
        <a:graphic xmlns:a="http://schemas.openxmlformats.org/drawingml/2006/main">
          <a:graphicData uri="http://schemas.openxmlformats.org/drawingml/2006/chart">
            <c:chart xmlns:r="http://schemas.openxmlformats.org/officeDocument/2006/relationships" xmlns:c="http://schemas.openxmlformats.org/drawingml/2006/chart" r:id="R5208c1aa762a4dcd"/>
          </a:graphicData>
        </a:graphic>
      </p:graphicFrame>
      <p:sp>
        <p:nvSpPr>
          <p:cNvPr id="6" name="Vraag">
            <a:extLst xmlns:a="http://schemas.openxmlformats.org/drawingml/2006/main">
              <a:ext uri="{FF2B5EF4-FFF2-40B4-BE49-F238E27FC236}">
                <a16:creationId xmlns:a16="http://schemas.microsoft.com/office/drawing/2014/main" id="{6A43C15A-2C09-4D39-85B3-865EC8DB9827}"/>
              </a:ext>
            </a:extLst>
          </p:cNvPr>
          <p:cNvSpPr>
            <a:spLocks xmlns:a="http://schemas.openxmlformats.org/drawingml/2006/main" noGrp="1"/>
          </p:cNvSpPr>
          <p:nvPr/>
        </p:nvSpPr>
        <p:spPr>
          <a:xfrm xmlns:a="http://schemas.openxmlformats.org/drawingml/2006/main">
            <a:off x="7600188" y="5684520"/>
            <a:ext cx="1000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A5276"/>
                </a:solidFill>
                <a:latin typeface="Arial"/>
                <a:ea typeface="Arial"/>
                <a:cs typeface="Arial"/>
              </a:defRPr>
            </a:pPr>
            <a:r>
              <a:rPr sz="2025" b="1">
                <a:solidFill>
                  <a:srgbClr val="1A5276"/>
                </a:solidFill>
                <a:latin typeface="Arial"/>
                <a:ea typeface="Arial"/>
                <a:cs typeface="Arial"/>
              </a:rPr>
              <a:t>Vraag</a:t>
            </a:r>
          </a:p>
        </p:txBody>
      </p:sp>
      <p:sp>
        <p:nvSpPr>
          <p:cNvPr id="7" name="A = MK privé">
            <a:extLst xmlns:a="http://schemas.openxmlformats.org/drawingml/2006/main">
              <a:ext uri="{FF2B5EF4-FFF2-40B4-BE49-F238E27FC236}">
                <a16:creationId xmlns:a16="http://schemas.microsoft.com/office/drawing/2014/main" id="{A2A8EC19-0426-4A9F-A2C8-9C1200548D18}"/>
              </a:ext>
            </a:extLst>
          </p:cNvPr>
          <p:cNvSpPr>
            <a:spLocks xmlns:a="http://schemas.openxmlformats.org/drawingml/2006/main" noGrp="1"/>
          </p:cNvSpPr>
          <p:nvPr/>
        </p:nvSpPr>
        <p:spPr>
          <a:xfrm xmlns:a="http://schemas.openxmlformats.org/drawingml/2006/main">
            <a:off x="7225284" y="4721543"/>
            <a:ext cx="200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0665B"/>
                </a:solidFill>
                <a:latin typeface="Arial"/>
                <a:ea typeface="Arial"/>
                <a:cs typeface="Arial"/>
              </a:defRPr>
            </a:pPr>
            <a:r>
              <a:rPr sz="2025" b="1">
                <a:solidFill>
                  <a:srgbClr val="20665B"/>
                </a:solidFill>
                <a:latin typeface="Arial"/>
                <a:ea typeface="Arial"/>
                <a:cs typeface="Arial"/>
              </a:rPr>
              <a:t>A = MK privé</a:t>
            </a:r>
          </a:p>
        </p:txBody>
      </p:sp>
      <p:sp>
        <p:nvSpPr>
          <p:cNvPr id="8" name="A + t = MK maatschappelijk">
            <a:extLst xmlns:a="http://schemas.openxmlformats.org/drawingml/2006/main">
              <a:ext uri="{FF2B5EF4-FFF2-40B4-BE49-F238E27FC236}">
                <a16:creationId xmlns:a16="http://schemas.microsoft.com/office/drawing/2014/main" id="{33C5C882-EEC8-45E1-829B-D2856EB33DB1}"/>
              </a:ext>
            </a:extLst>
          </p:cNvPr>
          <p:cNvSpPr>
            <a:spLocks xmlns:a="http://schemas.openxmlformats.org/drawingml/2006/main" noGrp="1"/>
          </p:cNvSpPr>
          <p:nvPr/>
        </p:nvSpPr>
        <p:spPr>
          <a:xfrm xmlns:a="http://schemas.openxmlformats.org/drawingml/2006/main">
            <a:off x="4975860" y="1952625"/>
            <a:ext cx="428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A94D16"/>
                </a:solidFill>
                <a:latin typeface="Arial"/>
                <a:ea typeface="Arial"/>
                <a:cs typeface="Arial"/>
              </a:defRPr>
            </a:pPr>
            <a:r>
              <a:rPr sz="2025" b="1">
                <a:solidFill>
                  <a:srgbClr val="A94D16"/>
                </a:solidFill>
                <a:latin typeface="Arial"/>
                <a:ea typeface="Arial"/>
                <a:cs typeface="Arial"/>
              </a:rPr>
              <a:t>A + t = MK maatschappelijk</a:t>
            </a:r>
          </a:p>
        </p:txBody>
      </p:sp>
      <p:sp>
        <p:nvSpPr>
          <p:cNvPr id="9" name="Pc = 40">
            <a:extLst xmlns:a="http://schemas.openxmlformats.org/drawingml/2006/main">
              <a:ext uri="{FF2B5EF4-FFF2-40B4-BE49-F238E27FC236}">
                <a16:creationId xmlns:a16="http://schemas.microsoft.com/office/drawing/2014/main" id="{D0980496-E4C9-4ECA-871C-3A0894FA16B3}"/>
              </a:ext>
            </a:extLst>
          </p:cNvPr>
          <p:cNvSpPr>
            <a:spLocks xmlns:a="http://schemas.openxmlformats.org/drawingml/2006/main" noGrp="1"/>
          </p:cNvSpPr>
          <p:nvPr/>
        </p:nvSpPr>
        <p:spPr>
          <a:xfrm xmlns:a="http://schemas.openxmlformats.org/drawingml/2006/main">
            <a:off x="1976628" y="4318635"/>
            <a:ext cx="1476375" cy="3333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83247"/>
                </a:solidFill>
                <a:latin typeface="Arial"/>
                <a:ea typeface="Arial"/>
                <a:cs typeface="Arial"/>
              </a:defRPr>
            </a:pPr>
            <a:r>
              <a:rPr sz="1950" b="1">
                <a:solidFill>
                  <a:srgbClr val="183247"/>
                </a:solidFill>
                <a:latin typeface="Arial"/>
                <a:ea typeface="Arial"/>
                <a:cs typeface="Arial"/>
              </a:rPr>
              <a:t>Pc = 40</a:t>
            </a:r>
          </a:p>
        </p:txBody>
      </p:sp>
      <p:sp>
        <p:nvSpPr>
          <p:cNvPr id="10" name="Pp = 20">
            <a:extLst xmlns:a="http://schemas.openxmlformats.org/drawingml/2006/main">
              <a:ext uri="{FF2B5EF4-FFF2-40B4-BE49-F238E27FC236}">
                <a16:creationId xmlns:a16="http://schemas.microsoft.com/office/drawing/2014/main" id="{0F35A654-7A9C-40C2-943E-AD430C982A4D}"/>
              </a:ext>
            </a:extLst>
          </p:cNvPr>
          <p:cNvSpPr>
            <a:spLocks xmlns:a="http://schemas.openxmlformats.org/drawingml/2006/main" noGrp="1"/>
          </p:cNvSpPr>
          <p:nvPr/>
        </p:nvSpPr>
        <p:spPr>
          <a:xfrm xmlns:a="http://schemas.openxmlformats.org/drawingml/2006/main">
            <a:off x="1976628" y="5871210"/>
            <a:ext cx="1476375" cy="3333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83247"/>
                </a:solidFill>
                <a:latin typeface="Arial"/>
                <a:ea typeface="Arial"/>
                <a:cs typeface="Arial"/>
              </a:defRPr>
            </a:pPr>
            <a:r>
              <a:rPr sz="1950" b="1">
                <a:solidFill>
                  <a:srgbClr val="183247"/>
                </a:solidFill>
                <a:latin typeface="Arial"/>
                <a:ea typeface="Arial"/>
                <a:cs typeface="Arial"/>
              </a:rPr>
              <a:t>Pp = 20</a:t>
            </a:r>
          </a:p>
        </p:txBody>
      </p:sp>
      <p:sp>
        <p:nvSpPr>
          <p:cNvPr id="11" name="E₁">
            <a:extLst xmlns:a="http://schemas.openxmlformats.org/drawingml/2006/main">
              <a:ext uri="{FF2B5EF4-FFF2-40B4-BE49-F238E27FC236}">
                <a16:creationId xmlns:a16="http://schemas.microsoft.com/office/drawing/2014/main" id="{400CCD43-634D-4EC4-8572-06CCCFA22E36}"/>
              </a:ext>
            </a:extLst>
          </p:cNvPr>
          <p:cNvSpPr>
            <a:spLocks xmlns:a="http://schemas.openxmlformats.org/drawingml/2006/main" noGrp="1"/>
          </p:cNvSpPr>
          <p:nvPr/>
        </p:nvSpPr>
        <p:spPr>
          <a:xfrm xmlns:a="http://schemas.openxmlformats.org/drawingml/2006/main">
            <a:off x="4465320" y="4194810"/>
            <a:ext cx="619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83247"/>
                </a:solidFill>
                <a:latin typeface="Arial"/>
                <a:ea typeface="Arial"/>
                <a:cs typeface="Arial"/>
              </a:defRPr>
            </a:pPr>
            <a:r>
              <a:rPr sz="2100" b="1">
                <a:solidFill>
                  <a:srgbClr val="183247"/>
                </a:solidFill>
                <a:latin typeface="Arial"/>
                <a:ea typeface="Arial"/>
                <a:cs typeface="Arial"/>
              </a:rPr>
              <a:t>E₁</a:t>
            </a:r>
          </a:p>
        </p:txBody>
      </p:sp>
      <p:sp>
        <p:nvSpPr>
          <p:cNvPr id="12" name="horizontal-shift-arrow">
            <a:extLst xmlns:a="http://schemas.openxmlformats.org/drawingml/2006/main">
              <a:ext uri="{FF2B5EF4-FFF2-40B4-BE49-F238E27FC236}">
                <a16:creationId xmlns:a16="http://schemas.microsoft.com/office/drawing/2014/main" id="{3094B8E2-AE28-4E25-848E-B50A49C8DC55}"/>
              </a:ext>
            </a:extLst>
          </p:cNvPr>
          <p:cNvSpPr>
            <a:spLocks xmlns:a="http://schemas.openxmlformats.org/drawingml/2006/main" noGrp="1"/>
          </p:cNvSpPr>
          <p:nvPr/>
        </p:nvSpPr>
        <p:spPr>
          <a:xfrm xmlns:a="http://schemas.openxmlformats.org/drawingml/2006/main">
            <a:off x="6850380" y="3575685"/>
            <a:ext cx="2499360" cy="0"/>
          </a:xfrm>
          <a:prstGeom xmlns:a="http://schemas.openxmlformats.org/drawingml/2006/main" prst="line">
            <a:avLst/>
          </a:prstGeom>
          <a:ln xmlns:a="http://schemas.openxmlformats.org/drawingml/2006/main" w="28575">
            <a:solidFill>
              <a:srgbClr val="A94D16"/>
            </a:solidFill>
          </a:ln>
        </p:spPr>
      </p:sp>
      <p:sp>
        <p:nvSpPr>
          <p:cNvPr id="13" name="shift-arrowhead">
            <a:extLst xmlns:a="http://schemas.openxmlformats.org/drawingml/2006/main">
              <a:ext uri="{FF2B5EF4-FFF2-40B4-BE49-F238E27FC236}">
                <a16:creationId xmlns:a16="http://schemas.microsoft.com/office/drawing/2014/main" id="{989B8436-D2DD-4E55-8F10-3F8534A89D8D}"/>
              </a:ext>
            </a:extLst>
          </p:cNvPr>
          <p:cNvSpPr>
            <a:spLocks xmlns:a="http://schemas.openxmlformats.org/drawingml/2006/main" noGrp="1"/>
          </p:cNvSpPr>
          <p:nvPr/>
        </p:nvSpPr>
        <p:spPr>
          <a:xfrm xmlns:a="http://schemas.openxmlformats.org/drawingml/2006/main">
            <a:off x="6850380" y="3499485"/>
            <a:ext cx="123825" cy="152400"/>
          </a:xfrm>
          <a:custGeom xmlns:a="http://schemas.openxmlformats.org/drawingml/2006/main">
            <a:pathLst>
              <a:path w="123825" h="152400">
                <a:moveTo>
                  <a:pt x="123825" y="0"/>
                </a:moveTo>
                <a:lnTo>
                  <a:pt x="0" y="76200"/>
                </a:lnTo>
                <a:lnTo>
                  <a:pt x="123825" y="152400"/>
                </a:lnTo>
              </a:path>
            </a:pathLst>
          </a:custGeom>
          <a:noFill xmlns:a="http://schemas.openxmlformats.org/drawingml/2006/main"/>
          <a:ln xmlns:a="http://schemas.openxmlformats.org/drawingml/2006/main" w="28575">
            <a:solidFill>
              <a:srgbClr val="A94D16"/>
            </a:solidFill>
          </a:ln>
        </p:spPr>
      </p:sp>
      <p:sp>
        <p:nvSpPr>
          <p:cNvPr id="14" name="Pc = € 60">
            <a:extLst xmlns:a="http://schemas.openxmlformats.org/drawingml/2006/main">
              <a:ext uri="{FF2B5EF4-FFF2-40B4-BE49-F238E27FC236}">
                <a16:creationId xmlns:a16="http://schemas.microsoft.com/office/drawing/2014/main" id="{CADA09FB-E3FE-4851-BA16-3609F584B2A7}"/>
              </a:ext>
            </a:extLst>
          </p:cNvPr>
          <p:cNvSpPr>
            <a:spLocks xmlns:a="http://schemas.openxmlformats.org/drawingml/2006/main" noGrp="1"/>
          </p:cNvSpPr>
          <p:nvPr/>
        </p:nvSpPr>
        <p:spPr>
          <a:xfrm xmlns:a="http://schemas.openxmlformats.org/drawingml/2006/main">
            <a:off x="6975348" y="3661410"/>
            <a:ext cx="1476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A94D16"/>
                </a:solidFill>
                <a:latin typeface="Arial"/>
                <a:ea typeface="Arial"/>
                <a:cs typeface="Arial"/>
              </a:defRPr>
            </a:pPr>
            <a:r>
              <a:rPr sz="1800" b="1">
                <a:solidFill>
                  <a:srgbClr val="A94D16"/>
                </a:solidFill>
                <a:latin typeface="Arial"/>
                <a:ea typeface="Arial"/>
                <a:cs typeface="Arial"/>
              </a:rPr>
              <a:t>Pc = € 60</a:t>
            </a:r>
          </a:p>
        </p:txBody>
      </p:sp>
      <p:sp>
        <p:nvSpPr>
          <p:cNvPr id="15" name="Overheid ontvangt">
            <a:extLst xmlns:a="http://schemas.openxmlformats.org/drawingml/2006/main">
              <a:ext uri="{FF2B5EF4-FFF2-40B4-BE49-F238E27FC236}">
                <a16:creationId xmlns:a16="http://schemas.microsoft.com/office/drawing/2014/main" id="{F33F6167-F140-46E5-A2E3-D43BFA977720}"/>
              </a:ext>
            </a:extLst>
          </p:cNvPr>
          <p:cNvSpPr>
            <a:spLocks xmlns:a="http://schemas.openxmlformats.org/drawingml/2006/main" noGrp="1"/>
          </p:cNvSpPr>
          <p:nvPr/>
        </p:nvSpPr>
        <p:spPr>
          <a:xfrm xmlns:a="http://schemas.openxmlformats.org/drawingml/2006/main">
            <a:off x="10287000" y="2009775"/>
            <a:ext cx="4381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A94D16"/>
                </a:solidFill>
                <a:latin typeface="Arial"/>
                <a:ea typeface="Arial"/>
                <a:cs typeface="Arial"/>
              </a:defRPr>
            </a:pPr>
            <a:r>
              <a:rPr sz="2775" b="1">
                <a:solidFill>
                  <a:srgbClr val="A94D16"/>
                </a:solidFill>
                <a:latin typeface="Arial"/>
                <a:ea typeface="Arial"/>
                <a:cs typeface="Arial"/>
              </a:rPr>
              <a:t>Overheid ontvangt</a:t>
            </a:r>
          </a:p>
        </p:txBody>
      </p:sp>
      <p:sp>
        <p:nvSpPr>
          <p:cNvPr id="16" name="t × Q = 20 × 20&#10;= € 400 per dag&#10;&#10;Pc = € 40 per dienst&#10;Pp = € 20 p">
            <a:extLst xmlns:a="http://schemas.openxmlformats.org/drawingml/2006/main">
              <a:ext uri="{FF2B5EF4-FFF2-40B4-BE49-F238E27FC236}">
                <a16:creationId xmlns:a16="http://schemas.microsoft.com/office/drawing/2014/main" id="{6272C8A4-21C7-4988-B158-DF3FA43A28B8}"/>
              </a:ext>
            </a:extLst>
          </p:cNvPr>
          <p:cNvSpPr>
            <a:spLocks xmlns:a="http://schemas.openxmlformats.org/drawingml/2006/main" noGrp="1"/>
          </p:cNvSpPr>
          <p:nvPr/>
        </p:nvSpPr>
        <p:spPr>
          <a:xfrm xmlns:a="http://schemas.openxmlformats.org/drawingml/2006/main">
            <a:off x="10287000" y="3209925"/>
            <a:ext cx="43815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t × Q = 20 × 20</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 € 400 per dag</a:t>
            </a:r>
          </a:p>
          <a:p xmlns:a="http://schemas.openxmlformats.org/drawingml/2006/main">
            <a:r>
              <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Pc = € 40 per dienst</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Pp = € 20 per dienst</a:t>
            </a:r>
          </a:p>
        </p:txBody>
      </p:sp>
      <p:sp>
        <p:nvSpPr>
          <p:cNvPr id="17" name="Alle 20 verkochte&#10;diensten tellen mee.">
            <a:extLst xmlns:a="http://schemas.openxmlformats.org/drawingml/2006/main">
              <a:ext uri="{FF2B5EF4-FFF2-40B4-BE49-F238E27FC236}">
                <a16:creationId xmlns:a16="http://schemas.microsoft.com/office/drawing/2014/main" id="{BD3E3444-059F-4304-A4C7-C08605935677}"/>
              </a:ext>
            </a:extLst>
          </p:cNvPr>
          <p:cNvSpPr>
            <a:spLocks xmlns:a="http://schemas.openxmlformats.org/drawingml/2006/main" noGrp="1"/>
          </p:cNvSpPr>
          <p:nvPr/>
        </p:nvSpPr>
        <p:spPr>
          <a:xfrm xmlns:a="http://schemas.openxmlformats.org/drawingml/2006/main">
            <a:off x="10287000" y="6391275"/>
            <a:ext cx="438150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A94D16"/>
                </a:solidFill>
                <a:latin typeface="Arial"/>
                <a:ea typeface="Arial"/>
                <a:cs typeface="Arial"/>
              </a:defRPr>
            </a:pPr>
            <a:r>
              <a:rPr sz="2475" b="1">
                <a:solidFill>
                  <a:srgbClr val="A94D16"/>
                </a:solidFill>
                <a:latin typeface="Arial"/>
                <a:ea typeface="Arial"/>
                <a:cs typeface="Arial"/>
              </a:rPr>
              <a:t>Alle 20 verkochte</a:t>
            </a:r>
          </a:p>
          <a:p xmlns:a="http://schemas.openxmlformats.org/drawingml/2006/main">
            <a:pPr algn="l">
              <a:defRPr sz="2475" b="1">
                <a:solidFill>
                  <a:srgbClr val="A94D16"/>
                </a:solidFill>
                <a:latin typeface="Arial"/>
                <a:ea typeface="Arial"/>
                <a:cs typeface="Arial"/>
              </a:defRPr>
            </a:pPr>
            <a:r>
              <a:rPr sz="2475" b="1">
                <a:solidFill>
                  <a:srgbClr val="A94D16"/>
                </a:solidFill>
                <a:latin typeface="Arial"/>
                <a:ea typeface="Arial"/>
                <a:cs typeface="Arial"/>
              </a:rPr>
              <a:t>diensten tellen mee.</a:t>
            </a:r>
          </a:p>
        </p:txBody>
      </p:sp>
    </p:spTree>
    <p:extLst>
      <p:ext uri="{BB962C8B-B14F-4D97-AF65-F5344CB8AC3E}">
        <p14:creationId xmlns:p14="http://schemas.microsoft.com/office/powerpoint/2010/main" val="18333768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58d · Maatschappelijk surplus na de heffing">
            <a:extLst xmlns:a="http://schemas.openxmlformats.org/drawingml/2006/main">
              <a:ext uri="{FF2B5EF4-FFF2-40B4-BE49-F238E27FC236}">
                <a16:creationId xmlns:a16="http://schemas.microsoft.com/office/drawing/2014/main" id="{D545E8BD-EC82-4007-80B5-2579A2BD14A0}"/>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58d · Maatschappelijk surplus na de heffing</a:t>
            </a:r>
          </a:p>
        </p:txBody>
      </p:sp>
      <p:sp>
        <p:nvSpPr>
          <p:cNvPr id="2" name="">
            <a:extLst xmlns:a="http://schemas.openxmlformats.org/drawingml/2006/main">
              <a:ext uri="{FF2B5EF4-FFF2-40B4-BE49-F238E27FC236}">
                <a16:creationId xmlns:a16="http://schemas.microsoft.com/office/drawing/2014/main" id="{E57B6A1A-75A1-46FF-B6AB-8197FDEAF483}"/>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7 Gemengde opgaven: marktvormen en marktfalen · Opgave 58 · ">
            <a:extLst xmlns:a="http://schemas.openxmlformats.org/drawingml/2006/main">
              <a:ext uri="{FF2B5EF4-FFF2-40B4-BE49-F238E27FC236}">
                <a16:creationId xmlns:a16="http://schemas.microsoft.com/office/drawing/2014/main" id="{721967F6-F7C6-40CC-993F-4A7A53767DFD}"/>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§4.2.7 Gemengde opgaven: marktvormen en marktfalen · Opgave 58 · Boekpagina 108–109</a:t>
            </a:r>
          </a:p>
        </p:txBody>
      </p:sp>
      <p:sp>
        <p:nvSpPr>
          <p:cNvPr id="4" name="slide-number">
            <a:extLst xmlns:a="http://schemas.openxmlformats.org/drawingml/2006/main">
              <a:ext uri="{FF2B5EF4-FFF2-40B4-BE49-F238E27FC236}">
                <a16:creationId xmlns:a16="http://schemas.microsoft.com/office/drawing/2014/main" id="{B18BE5F9-CCD9-4AB6-80BE-74E0A7478D96}"/>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20</a:t>
            </a:r>
          </a:p>
        </p:txBody>
      </p:sp>
      <p:graphicFrame>
        <p:nvGraphicFramePr>
          <p:cNvPr id="11" name=""/>
          <p:cNvGraphicFramePr/>
          <p:nvPr/>
        </p:nvGraphicFramePr>
        <p:xfrm>
          <a:off xmlns:a="http://schemas.openxmlformats.org/drawingml/2006/main" x="571500" y="2047875"/>
          <a:ext xmlns:a="http://schemas.openxmlformats.org/drawingml/2006/main" cx="14097000" cy="4314825"/>
        </p:xfrm>
        <a:graphic xmlns:a="http://schemas.openxmlformats.org/drawingml/2006/main">
          <a:graphicData uri="http://schemas.openxmlformats.org/drawingml/2006/table">
            <a:tbl>
              <a:tblPr/>
              <a:tblGrid>
                <a:gridCol w="5715000"/>
                <a:gridCol w="5524500"/>
                <a:gridCol w="2857500"/>
              </a:tblGrid>
              <a:tr h="719138">
                <a:tc>
                  <a:txBody>
                    <a:bodyPr lIns="171450" tIns="95250" rIns="152400" bIns="95250"/>
                    <a:lstStyle/>
                    <a:p>
                      <a:r>
                        <a:rPr sz="2400" b="1">
                          <a:solidFill>
                            <a:srgbClr val="FFFFFF"/>
                          </a:solidFill>
                          <a:latin typeface="Arial"/>
                          <a:ea typeface="Arial"/>
                          <a:cs typeface="Arial"/>
                        </a:rPr>
                        <a:t>Post</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Berekening</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 per dag</a:t>
                      </a:r>
                    </a:p>
                  </a:txBody>
                  <a:tcPr marL="91440" marR="91440" marT="45720" marB="45720" anchor="ctr">
                    <a:solidFill>
                      <a:srgbClr val="183247"/>
                    </a:solidFill>
                  </a:tcPr>
                </a:tc>
              </a:tr>
              <a:tr h="719138">
                <a:tc>
                  <a:txBody>
                    <a:bodyPr lIns="171450" tIns="95250" rIns="152400" bIns="95250"/>
                    <a:lstStyle/>
                    <a:p>
                      <a:r>
                        <a:rPr sz="2400" b="0">
                          <a:solidFill>
                            <a:srgbClr val="183247"/>
                          </a:solidFill>
                          <a:latin typeface="Arial"/>
                          <a:ea typeface="Arial"/>
                          <a:cs typeface="Arial"/>
                        </a:rPr>
                        <a:t>Consumentensurplus</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Gegeven</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200</a:t>
                      </a:r>
                    </a:p>
                  </a:txBody>
                  <a:tcPr marL="91440" marR="91440" marT="45720" marB="45720" anchor="ctr">
                    <a:solidFill>
                      <a:srgbClr val="FFFFFF"/>
                    </a:solidFill>
                  </a:tcPr>
                </a:tc>
              </a:tr>
              <a:tr h="719138">
                <a:tc>
                  <a:txBody>
                    <a:bodyPr lIns="171450" tIns="95250" rIns="152400" bIns="95250"/>
                    <a:lstStyle/>
                    <a:p>
                      <a:r>
                        <a:rPr sz="2400" b="0">
                          <a:solidFill>
                            <a:srgbClr val="183247"/>
                          </a:solidFill>
                          <a:latin typeface="Arial"/>
                          <a:ea typeface="Arial"/>
                          <a:cs typeface="Arial"/>
                        </a:rPr>
                        <a:t>Producentensurplus</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Gegeven</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200</a:t>
                      </a:r>
                    </a:p>
                  </a:txBody>
                  <a:tcPr marL="91440" marR="91440" marT="45720" marB="45720" anchor="ctr">
                    <a:solidFill>
                      <a:srgbClr val="EFF4F7"/>
                    </a:solidFill>
                  </a:tcPr>
                </a:tc>
              </a:tr>
              <a:tr h="719138">
                <a:tc>
                  <a:txBody>
                    <a:bodyPr lIns="171450" tIns="95250" rIns="152400" bIns="95250"/>
                    <a:lstStyle/>
                    <a:p>
                      <a:r>
                        <a:rPr sz="2400" b="0">
                          <a:solidFill>
                            <a:srgbClr val="183247"/>
                          </a:solidFill>
                          <a:latin typeface="Arial"/>
                          <a:ea typeface="Arial"/>
                          <a:cs typeface="Arial"/>
                        </a:rPr>
                        <a:t>+ Heffingsopbrengst</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20 × 20</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400</a:t>
                      </a:r>
                    </a:p>
                  </a:txBody>
                  <a:tcPr marL="91440" marR="91440" marT="45720" marB="45720" anchor="ctr">
                    <a:solidFill>
                      <a:srgbClr val="FFFFFF"/>
                    </a:solidFill>
                  </a:tcPr>
                </a:tc>
              </a:tr>
              <a:tr h="719138">
                <a:tc>
                  <a:txBody>
                    <a:bodyPr lIns="171450" tIns="95250" rIns="152400" bIns="95250"/>
                    <a:lstStyle/>
                    <a:p>
                      <a:r>
                        <a:rPr sz="2400" b="0">
                          <a:solidFill>
                            <a:srgbClr val="183247"/>
                          </a:solidFill>
                          <a:latin typeface="Arial"/>
                          <a:ea typeface="Arial"/>
                          <a:cs typeface="Arial"/>
                        </a:rPr>
                        <a:t>− Externe schade</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20 × 20</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−400</a:t>
                      </a:r>
                    </a:p>
                  </a:txBody>
                  <a:tcPr marL="91440" marR="91440" marT="45720" marB="45720" anchor="ctr">
                    <a:solidFill>
                      <a:srgbClr val="EFF4F7"/>
                    </a:solidFill>
                  </a:tcPr>
                </a:tc>
              </a:tr>
              <a:tr h="719138">
                <a:tc>
                  <a:txBody>
                    <a:bodyPr lIns="171450" tIns="95250" rIns="152400" bIns="95250"/>
                    <a:lstStyle/>
                    <a:p>
                      <a:r>
                        <a:rPr sz="2400" b="0">
                          <a:solidFill>
                            <a:srgbClr val="183247"/>
                          </a:solidFill>
                          <a:latin typeface="Arial"/>
                          <a:ea typeface="Arial"/>
                          <a:cs typeface="Arial"/>
                        </a:rPr>
                        <a:t>Maatschappelijk surplus</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200 + 200 + 400 − 400</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400</a:t>
                      </a:r>
                    </a:p>
                  </a:txBody>
                  <a:tcPr marL="91440" marR="91440" marT="45720" marB="45720" anchor="ctr">
                    <a:solidFill>
                      <a:srgbClr val="FFFFFF"/>
                    </a:solidFill>
                  </a:tcPr>
                </a:tc>
              </a:tr>
            </a:tbl>
          </a:graphicData>
        </a:graphic>
      </p:graphicFrame>
      <p:sp>
        <p:nvSpPr>
          <p:cNvPr id="6" name="Verandering: 400 − 300 = + € 100 per dag">
            <a:extLst xmlns:a="http://schemas.openxmlformats.org/drawingml/2006/main">
              <a:ext uri="{FF2B5EF4-FFF2-40B4-BE49-F238E27FC236}">
                <a16:creationId xmlns:a16="http://schemas.microsoft.com/office/drawing/2014/main" id="{EE269FFE-32DA-4469-841C-79FA77AC6C04}"/>
              </a:ext>
            </a:extLst>
          </p:cNvPr>
          <p:cNvSpPr>
            <a:spLocks xmlns:a="http://schemas.openxmlformats.org/drawingml/2006/main" noGrp="1"/>
          </p:cNvSpPr>
          <p:nvPr/>
        </p:nvSpPr>
        <p:spPr>
          <a:xfrm xmlns:a="http://schemas.openxmlformats.org/drawingml/2006/main">
            <a:off x="571500" y="706755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20665B"/>
                </a:solidFill>
                <a:latin typeface="Arial"/>
                <a:ea typeface="Arial"/>
                <a:cs typeface="Arial"/>
              </a:defRPr>
            </a:pPr>
            <a:r>
              <a:rPr sz="3300" b="1">
                <a:solidFill>
                  <a:srgbClr val="20665B"/>
                </a:solidFill>
                <a:latin typeface="Arial"/>
                <a:ea typeface="Arial"/>
                <a:cs typeface="Arial"/>
              </a:rPr>
              <a:t>Verandering: 400 − 300 = + € 100 per dag</a:t>
            </a:r>
          </a:p>
        </p:txBody>
      </p:sp>
    </p:spTree>
    <p:extLst>
      <p:ext uri="{BB962C8B-B14F-4D97-AF65-F5344CB8AC3E}">
        <p14:creationId xmlns:p14="http://schemas.microsoft.com/office/powerpoint/2010/main" val="1919672014"/>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58e · Minder transacties, een ander welvaartseffect">
            <a:extLst xmlns:a="http://schemas.openxmlformats.org/drawingml/2006/main">
              <a:ext uri="{FF2B5EF4-FFF2-40B4-BE49-F238E27FC236}">
                <a16:creationId xmlns:a16="http://schemas.microsoft.com/office/drawing/2014/main" id="{7435C81E-460F-46E2-85DE-78CEE5F5D68B}"/>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58e · Minder transacties, een ander welvaartseffect</a:t>
            </a:r>
          </a:p>
        </p:txBody>
      </p:sp>
      <p:sp>
        <p:nvSpPr>
          <p:cNvPr id="2" name="">
            <a:extLst xmlns:a="http://schemas.openxmlformats.org/drawingml/2006/main">
              <a:ext uri="{FF2B5EF4-FFF2-40B4-BE49-F238E27FC236}">
                <a16:creationId xmlns:a16="http://schemas.microsoft.com/office/drawing/2014/main" id="{16AC00F6-A7F7-4E63-9DB8-76EA7DE756A4}"/>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7 Gemengde opgaven: marktvormen en marktfalen · Opgave 58 · ">
            <a:extLst xmlns:a="http://schemas.openxmlformats.org/drawingml/2006/main">
              <a:ext uri="{FF2B5EF4-FFF2-40B4-BE49-F238E27FC236}">
                <a16:creationId xmlns:a16="http://schemas.microsoft.com/office/drawing/2014/main" id="{E4B2B313-CC15-4EB5-8546-C89C89347739}"/>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§4.2.7 Gemengde opgaven: marktvormen en marktfalen · Opgave 58 · Boekpagina 108–109</a:t>
            </a:r>
          </a:p>
        </p:txBody>
      </p:sp>
      <p:sp>
        <p:nvSpPr>
          <p:cNvPr id="4" name="slide-number">
            <a:extLst xmlns:a="http://schemas.openxmlformats.org/drawingml/2006/main">
              <a:ext uri="{FF2B5EF4-FFF2-40B4-BE49-F238E27FC236}">
                <a16:creationId xmlns:a16="http://schemas.microsoft.com/office/drawing/2014/main" id="{59975AEA-84DD-4CC4-A45F-FD45E10D7DDB}"/>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21</a:t>
            </a:r>
          </a:p>
        </p:txBody>
      </p:sp>
      <p:graphicFrame>
        <p:nvGraphicFramePr>
          <p:cNvPr id="11" name=""/>
          <p:cNvGraphicFramePr/>
          <p:nvPr/>
        </p:nvGraphicFramePr>
        <p:xfrm>
          <a:off xmlns:a="http://schemas.openxmlformats.org/drawingml/2006/main" x="571500" y="2171700"/>
          <a:ext xmlns:a="http://schemas.openxmlformats.org/drawingml/2006/main" cx="14097000" cy="4048125"/>
        </p:xfrm>
        <a:graphic xmlns:a="http://schemas.openxmlformats.org/drawingml/2006/main">
          <a:graphicData uri="http://schemas.openxmlformats.org/drawingml/2006/table">
            <a:tbl>
              <a:tblPr/>
              <a:tblGrid>
                <a:gridCol w="3143250"/>
                <a:gridCol w="5476875"/>
                <a:gridCol w="5476875"/>
              </a:tblGrid>
              <a:tr h="809625">
                <a:tc>
                  <a:txBody>
                    <a:bodyPr lIns="171450" tIns="95250" rIns="152400" bIns="95250"/>
                    <a:lstStyle/>
                    <a:p>
                      <a:r>
                        <a:rPr sz="2325" b="1">
                          <a:solidFill>
                            <a:srgbClr val="FFFFFF"/>
                          </a:solidFill>
                          <a:latin typeface="Arial"/>
                          <a:ea typeface="Arial"/>
                          <a:cs typeface="Arial"/>
                        </a:rPr>
                        <a:t/>
                      </a:r>
                    </a:p>
                  </a:txBody>
                  <a:tcPr marL="91440" marR="91440" marT="45720" marB="45720" anchor="ctr">
                    <a:solidFill>
                      <a:srgbClr val="183247"/>
                    </a:solidFill>
                  </a:tcPr>
                </a:tc>
                <a:tc>
                  <a:txBody>
                    <a:bodyPr lIns="171450" tIns="95250" rIns="152400" bIns="95250"/>
                    <a:lstStyle/>
                    <a:p>
                      <a:r>
                        <a:rPr sz="2325" b="1">
                          <a:solidFill>
                            <a:srgbClr val="FFFFFF"/>
                          </a:solidFill>
                          <a:latin typeface="Arial"/>
                          <a:ea typeface="Arial"/>
                          <a:cs typeface="Arial"/>
                        </a:rPr>
                        <a:t>A · Studio Solo</a:t>
                      </a:r>
                    </a:p>
                  </a:txBody>
                  <a:tcPr marL="91440" marR="91440" marT="45720" marB="45720" anchor="ctr">
                    <a:solidFill>
                      <a:srgbClr val="183247"/>
                    </a:solidFill>
                  </a:tcPr>
                </a:tc>
                <a:tc>
                  <a:txBody>
                    <a:bodyPr lIns="171450" tIns="95250" rIns="152400" bIns="95250"/>
                    <a:lstStyle/>
                    <a:p>
                      <a:r>
                        <a:rPr sz="2325" b="1">
                          <a:solidFill>
                            <a:srgbClr val="FFFFFF"/>
                          </a:solidFill>
                          <a:latin typeface="Arial"/>
                          <a:ea typeface="Arial"/>
                          <a:cs typeface="Arial"/>
                        </a:rPr>
                        <a:t>B · Reiniging</a:t>
                      </a:r>
                    </a:p>
                  </a:txBody>
                  <a:tcPr marL="91440" marR="91440" marT="45720" marB="45720" anchor="ctr">
                    <a:solidFill>
                      <a:srgbClr val="183247"/>
                    </a:solidFill>
                  </a:tcPr>
                </a:tc>
              </a:tr>
              <a:tr h="809625">
                <a:tc>
                  <a:txBody>
                    <a:bodyPr lIns="171450" tIns="95250" rIns="152400" bIns="95250"/>
                    <a:lstStyle/>
                    <a:p>
                      <a:r>
                        <a:rPr sz="2325" b="0">
                          <a:solidFill>
                            <a:srgbClr val="183247"/>
                          </a:solidFill>
                          <a:latin typeface="Arial"/>
                          <a:ea typeface="Arial"/>
                          <a:cs typeface="Arial"/>
                        </a:rPr>
                        <a:t>Oorzaak</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Marktmacht; geen externe effecten</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Niet-vergoede schade aan derden</a:t>
                      </a:r>
                    </a:p>
                  </a:txBody>
                  <a:tcPr marL="91440" marR="91440" marT="45720" marB="45720" anchor="ctr">
                    <a:solidFill>
                      <a:srgbClr val="FFFFFF"/>
                    </a:solidFill>
                  </a:tcPr>
                </a:tc>
              </a:tr>
              <a:tr h="809625">
                <a:tc>
                  <a:txBody>
                    <a:bodyPr lIns="171450" tIns="95250" rIns="152400" bIns="95250"/>
                    <a:lstStyle/>
                    <a:p>
                      <a:r>
                        <a:rPr sz="2325" b="0">
                          <a:solidFill>
                            <a:srgbClr val="183247"/>
                          </a:solidFill>
                          <a:latin typeface="Arial"/>
                          <a:ea typeface="Arial"/>
                          <a:cs typeface="Arial"/>
                        </a:rPr>
                        <a:t>Vergelijking</a:t>
                      </a:r>
                    </a:p>
                  </a:txBody>
                  <a:tcPr marL="91440" marR="91440" marT="45720" marB="45720" anchor="ctr">
                    <a:solidFill>
                      <a:srgbClr val="EFF4F7"/>
                    </a:solidFill>
                  </a:tcPr>
                </a:tc>
                <a:tc>
                  <a:txBody>
                    <a:bodyPr lIns="171450" tIns="95250" rIns="152400" bIns="95250"/>
                    <a:lstStyle/>
                    <a:p>
                      <a:r>
                        <a:rPr sz="2325" b="0">
                          <a:solidFill>
                            <a:srgbClr val="183247"/>
                          </a:solidFill>
                          <a:latin typeface="Arial"/>
                          <a:ea typeface="Arial"/>
                          <a:cs typeface="Arial"/>
                        </a:rPr>
                        <a:t>Qm = 20 tegenover Qe = 30</a:t>
                      </a:r>
                    </a:p>
                  </a:txBody>
                  <a:tcPr marL="91440" marR="91440" marT="45720" marB="45720" anchor="ctr">
                    <a:solidFill>
                      <a:srgbClr val="EFF4F7"/>
                    </a:solidFill>
                  </a:tcPr>
                </a:tc>
                <a:tc>
                  <a:txBody>
                    <a:bodyPr lIns="171450" tIns="95250" rIns="152400" bIns="95250"/>
                    <a:lstStyle/>
                    <a:p>
                      <a:r>
                        <a:rPr sz="2325" b="0">
                          <a:solidFill>
                            <a:srgbClr val="183247"/>
                          </a:solidFill>
                          <a:latin typeface="Arial"/>
                          <a:ea typeface="Arial"/>
                          <a:cs typeface="Arial"/>
                        </a:rPr>
                        <a:t>Q daalt van 30 naar 20</a:t>
                      </a:r>
                    </a:p>
                  </a:txBody>
                  <a:tcPr marL="91440" marR="91440" marT="45720" marB="45720" anchor="ctr">
                    <a:solidFill>
                      <a:srgbClr val="EFF4F7"/>
                    </a:solidFill>
                  </a:tcPr>
                </a:tc>
              </a:tr>
              <a:tr h="809625">
                <a:tc>
                  <a:txBody>
                    <a:bodyPr lIns="171450" tIns="95250" rIns="152400" bIns="95250"/>
                    <a:lstStyle/>
                    <a:p>
                      <a:r>
                        <a:rPr sz="2325" b="0">
                          <a:solidFill>
                            <a:srgbClr val="183247"/>
                          </a:solidFill>
                          <a:latin typeface="Arial"/>
                          <a:ea typeface="Arial"/>
                          <a:cs typeface="Arial"/>
                        </a:rPr>
                        <a:t>Tussen Q = 20 en Q = 30</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Betalingsbereidheid &gt; MK</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Maatschappelijke MK &gt; betalingsbereidheid</a:t>
                      </a:r>
                    </a:p>
                  </a:txBody>
                  <a:tcPr marL="91440" marR="91440" marT="45720" marB="45720" anchor="ctr">
                    <a:solidFill>
                      <a:srgbClr val="FFFFFF"/>
                    </a:solidFill>
                  </a:tcPr>
                </a:tc>
              </a:tr>
              <a:tr h="809625">
                <a:tc>
                  <a:txBody>
                    <a:bodyPr lIns="171450" tIns="95250" rIns="152400" bIns="95250"/>
                    <a:lstStyle/>
                    <a:p>
                      <a:r>
                        <a:rPr sz="2325" b="0">
                          <a:solidFill>
                            <a:srgbClr val="183247"/>
                          </a:solidFill>
                          <a:latin typeface="Arial"/>
                          <a:ea typeface="Arial"/>
                          <a:cs typeface="Arial"/>
                        </a:rPr>
                        <a:t>Gevolg</a:t>
                      </a:r>
                    </a:p>
                  </a:txBody>
                  <a:tcPr marL="91440" marR="91440" marT="45720" marB="45720" anchor="ctr">
                    <a:solidFill>
                      <a:srgbClr val="EFF4F7"/>
                    </a:solidFill>
                  </a:tcPr>
                </a:tc>
                <a:tc>
                  <a:txBody>
                    <a:bodyPr lIns="171450" tIns="95250" rIns="152400" bIns="95250"/>
                    <a:lstStyle/>
                    <a:p>
                      <a:r>
                        <a:rPr sz="2325" b="0">
                          <a:solidFill>
                            <a:srgbClr val="183247"/>
                          </a:solidFill>
                          <a:latin typeface="Arial"/>
                          <a:ea typeface="Arial"/>
                          <a:cs typeface="Arial"/>
                        </a:rPr>
                        <a:t>Voordelige sessies ontbreken</a:t>
                      </a:r>
                    </a:p>
                  </a:txBody>
                  <a:tcPr marL="91440" marR="91440" marT="45720" marB="45720" anchor="ctr">
                    <a:solidFill>
                      <a:srgbClr val="EFF4F7"/>
                    </a:solidFill>
                  </a:tcPr>
                </a:tc>
                <a:tc>
                  <a:txBody>
                    <a:bodyPr lIns="171450" tIns="95250" rIns="152400" bIns="95250"/>
                    <a:lstStyle/>
                    <a:p>
                      <a:r>
                        <a:rPr sz="2325" b="0">
                          <a:solidFill>
                            <a:srgbClr val="183247"/>
                          </a:solidFill>
                          <a:latin typeface="Arial"/>
                          <a:ea typeface="Arial"/>
                          <a:cs typeface="Arial"/>
                        </a:rPr>
                        <a:t>Nadelige diensten vervallen</a:t>
                      </a:r>
                    </a:p>
                  </a:txBody>
                  <a:tcPr marL="91440" marR="91440" marT="45720" marB="45720" anchor="ctr">
                    <a:solidFill>
                      <a:srgbClr val="EFF4F7"/>
                    </a:solidFill>
                  </a:tcPr>
                </a:tc>
              </a:tr>
            </a:tbl>
          </a:graphicData>
        </a:graphic>
      </p:graphicFrame>
      <p:sp>
        <p:nvSpPr>
          <p:cNvPr id="6" name="A: € 100 verlies per week     B: € 100 verbetering per dag">
            <a:extLst xmlns:a="http://schemas.openxmlformats.org/drawingml/2006/main">
              <a:ext uri="{FF2B5EF4-FFF2-40B4-BE49-F238E27FC236}">
                <a16:creationId xmlns:a16="http://schemas.microsoft.com/office/drawing/2014/main" id="{5C19C642-63E4-4086-875C-BFC0CFA1A7D3}"/>
              </a:ext>
            </a:extLst>
          </p:cNvPr>
          <p:cNvSpPr>
            <a:spLocks xmlns:a="http://schemas.openxmlformats.org/drawingml/2006/main" noGrp="1"/>
          </p:cNvSpPr>
          <p:nvPr/>
        </p:nvSpPr>
        <p:spPr>
          <a:xfrm xmlns:a="http://schemas.openxmlformats.org/drawingml/2006/main">
            <a:off x="571500" y="6905625"/>
            <a:ext cx="14097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A5276"/>
                </a:solidFill>
                <a:latin typeface="Arial"/>
                <a:ea typeface="Arial"/>
                <a:cs typeface="Arial"/>
              </a:defRPr>
            </a:pPr>
            <a:r>
              <a:rPr sz="2925" b="1">
                <a:solidFill>
                  <a:srgbClr val="1A5276"/>
                </a:solidFill>
                <a:latin typeface="Arial"/>
                <a:ea typeface="Arial"/>
                <a:cs typeface="Arial"/>
              </a:rPr>
              <a:t>A: € 100 verlies per week     B: € 100 verbetering per dag</a:t>
            </a:r>
          </a:p>
        </p:txBody>
      </p:sp>
    </p:spTree>
    <p:extLst>
      <p:ext uri="{BB962C8B-B14F-4D97-AF65-F5344CB8AC3E}">
        <p14:creationId xmlns:p14="http://schemas.microsoft.com/office/powerpoint/2010/main" val="546521519"/>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58f · Past dezelfde heffing bij Studio Solo?">
            <a:extLst xmlns:a="http://schemas.openxmlformats.org/drawingml/2006/main">
              <a:ext uri="{FF2B5EF4-FFF2-40B4-BE49-F238E27FC236}">
                <a16:creationId xmlns:a16="http://schemas.microsoft.com/office/drawing/2014/main" id="{1C43784A-7F92-4774-9CAC-B6C4854C83C1}"/>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58f · Past dezelfde heffing bij Studio Solo?</a:t>
            </a:r>
          </a:p>
        </p:txBody>
      </p:sp>
      <p:sp>
        <p:nvSpPr>
          <p:cNvPr id="2" name="">
            <a:extLst xmlns:a="http://schemas.openxmlformats.org/drawingml/2006/main">
              <a:ext uri="{FF2B5EF4-FFF2-40B4-BE49-F238E27FC236}">
                <a16:creationId xmlns:a16="http://schemas.microsoft.com/office/drawing/2014/main" id="{615252DF-3173-4BA1-A8B3-8703BC57026F}"/>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7 Gemengde opgaven: marktvormen en marktfalen · Opgave 58 · ">
            <a:extLst xmlns:a="http://schemas.openxmlformats.org/drawingml/2006/main">
              <a:ext uri="{FF2B5EF4-FFF2-40B4-BE49-F238E27FC236}">
                <a16:creationId xmlns:a16="http://schemas.microsoft.com/office/drawing/2014/main" id="{1E96471A-DF0C-4324-B979-734C011DF795}"/>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§4.2.7 Gemengde opgaven: marktvormen en marktfalen · Opgave 58 · Boekpagina 108–109</a:t>
            </a:r>
          </a:p>
        </p:txBody>
      </p:sp>
      <p:sp>
        <p:nvSpPr>
          <p:cNvPr id="4" name="slide-number">
            <a:extLst xmlns:a="http://schemas.openxmlformats.org/drawingml/2006/main">
              <a:ext uri="{FF2B5EF4-FFF2-40B4-BE49-F238E27FC236}">
                <a16:creationId xmlns:a16="http://schemas.microsoft.com/office/drawing/2014/main" id="{AE7E243F-2743-45DD-A986-860AEC3EE0A4}"/>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22</a:t>
            </a:r>
          </a:p>
        </p:txBody>
      </p:sp>
      <p:sp>
        <p:nvSpPr>
          <p:cNvPr id="5" name="“Een heffing van € 20 is dus ook vanzelf de beste oplossing voor ">
            <a:extLst xmlns:a="http://schemas.openxmlformats.org/drawingml/2006/main">
              <a:ext uri="{FF2B5EF4-FFF2-40B4-BE49-F238E27FC236}">
                <a16:creationId xmlns:a16="http://schemas.microsoft.com/office/drawing/2014/main" id="{C3F336CD-DFDF-49EF-B1F2-E068BBDD07D5}"/>
              </a:ext>
            </a:extLst>
          </p:cNvPr>
          <p:cNvSpPr>
            <a:spLocks xmlns:a="http://schemas.openxmlformats.org/drawingml/2006/main" noGrp="1"/>
          </p:cNvSpPr>
          <p:nvPr/>
        </p:nvSpPr>
        <p:spPr>
          <a:xfrm xmlns:a="http://schemas.openxmlformats.org/drawingml/2006/main">
            <a:off x="571500" y="1952625"/>
            <a:ext cx="14097000"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“Een heffing van € 20 is dus ook vanzelf de beste oplossing voor Studio Solo.”</a:t>
            </a:r>
          </a:p>
        </p:txBody>
      </p:sp>
      <p:sp>
        <p:nvSpPr>
          <p:cNvPr id="6" name="Die conclusie volgt niet uit de bronnen.">
            <a:extLst xmlns:a="http://schemas.openxmlformats.org/drawingml/2006/main">
              <a:ext uri="{FF2B5EF4-FFF2-40B4-BE49-F238E27FC236}">
                <a16:creationId xmlns:a16="http://schemas.microsoft.com/office/drawing/2014/main" id="{D8561E4B-2EF5-45D1-A7F5-71941C8992DF}"/>
              </a:ext>
            </a:extLst>
          </p:cNvPr>
          <p:cNvSpPr>
            <a:spLocks xmlns:a="http://schemas.openxmlformats.org/drawingml/2006/main" noGrp="1"/>
          </p:cNvSpPr>
          <p:nvPr/>
        </p:nvSpPr>
        <p:spPr>
          <a:xfrm xmlns:a="http://schemas.openxmlformats.org/drawingml/2006/main">
            <a:off x="571500" y="3924300"/>
            <a:ext cx="14097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A94D16"/>
                </a:solidFill>
                <a:latin typeface="Arial"/>
                <a:ea typeface="Arial"/>
                <a:cs typeface="Arial"/>
              </a:defRPr>
            </a:pPr>
            <a:r>
              <a:rPr sz="3375" b="1">
                <a:solidFill>
                  <a:srgbClr val="A94D16"/>
                </a:solidFill>
                <a:latin typeface="Arial"/>
                <a:ea typeface="Arial"/>
                <a:cs typeface="Arial"/>
              </a:rPr>
              <a:t>Die conclusie volgt niet uit de bronnen.</a:t>
            </a:r>
          </a:p>
        </p:txBody>
      </p:sp>
      <p:sp>
        <p:nvSpPr>
          <p:cNvPr id="7" name="Bron B: € 20 externe schade per dienst, bij concurrentie.&#10;Bron A:">
            <a:extLst xmlns:a="http://schemas.openxmlformats.org/drawingml/2006/main">
              <a:ext uri="{FF2B5EF4-FFF2-40B4-BE49-F238E27FC236}">
                <a16:creationId xmlns:a16="http://schemas.microsoft.com/office/drawing/2014/main" id="{505ED155-77F0-44F3-8780-AF78B09EA83B}"/>
              </a:ext>
            </a:extLst>
          </p:cNvPr>
          <p:cNvSpPr>
            <a:spLocks xmlns:a="http://schemas.openxmlformats.org/drawingml/2006/main" noGrp="1"/>
          </p:cNvSpPr>
          <p:nvPr/>
        </p:nvSpPr>
        <p:spPr>
          <a:xfrm xmlns:a="http://schemas.openxmlformats.org/drawingml/2006/main">
            <a:off x="571500" y="5086350"/>
            <a:ext cx="140970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Bron B: € 20 externe schade per dienst, bij concurrentie.</a:t>
            </a:r>
          </a:p>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Bron A: marktmacht, zonder externe schade.</a:t>
            </a:r>
          </a:p>
        </p:txBody>
      </p:sp>
      <p:sp>
        <p:nvSpPr>
          <p:cNvPr id="8" name="Een beleidsadvies vraagt analyse van het eigen marktprobleem&#10;en v">
            <a:extLst xmlns:a="http://schemas.openxmlformats.org/drawingml/2006/main">
              <a:ext uri="{FF2B5EF4-FFF2-40B4-BE49-F238E27FC236}">
                <a16:creationId xmlns:a16="http://schemas.microsoft.com/office/drawing/2014/main" id="{5F40DCBE-89B3-4756-9186-24AF98D82897}"/>
              </a:ext>
            </a:extLst>
          </p:cNvPr>
          <p:cNvSpPr>
            <a:spLocks xmlns:a="http://schemas.openxmlformats.org/drawingml/2006/main" noGrp="1"/>
          </p:cNvSpPr>
          <p:nvPr/>
        </p:nvSpPr>
        <p:spPr>
          <a:xfrm xmlns:a="http://schemas.openxmlformats.org/drawingml/2006/main">
            <a:off x="571500" y="6848475"/>
            <a:ext cx="140970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A5276"/>
                </a:solidFill>
                <a:latin typeface="Arial"/>
                <a:ea typeface="Arial"/>
                <a:cs typeface="Arial"/>
              </a:defRPr>
            </a:pPr>
            <a:r>
              <a:rPr sz="2775" b="1">
                <a:solidFill>
                  <a:srgbClr val="1A5276"/>
                </a:solidFill>
                <a:latin typeface="Arial"/>
                <a:ea typeface="Arial"/>
                <a:cs typeface="Arial"/>
              </a:rPr>
              <a:t>Een beleidsadvies vraagt analyse van het eigen marktprobleem</a:t>
            </a:r>
          </a:p>
          <a:p xmlns:a="http://schemas.openxmlformats.org/drawingml/2006/main">
            <a:pPr algn="l">
              <a:defRPr sz="2775" b="1">
                <a:solidFill>
                  <a:srgbClr val="1A5276"/>
                </a:solidFill>
                <a:latin typeface="Arial"/>
                <a:ea typeface="Arial"/>
                <a:cs typeface="Arial"/>
              </a:defRPr>
            </a:pPr>
            <a:r>
              <a:rPr sz="2775" b="1">
                <a:solidFill>
                  <a:srgbClr val="1A5276"/>
                </a:solidFill>
                <a:latin typeface="Arial"/>
                <a:ea typeface="Arial"/>
                <a:cs typeface="Arial"/>
              </a:rPr>
              <a:t>en van de reactie op de maatregel.</a:t>
            </a:r>
          </a:p>
        </p:txBody>
      </p:sp>
    </p:spTree>
    <p:extLst>
      <p:ext uri="{BB962C8B-B14F-4D97-AF65-F5344CB8AC3E}">
        <p14:creationId xmlns:p14="http://schemas.microsoft.com/office/powerpoint/2010/main" val="1400326658"/>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4.2.7 Gemengde opgaven">
            <a:extLst xmlns:a="http://schemas.openxmlformats.org/drawingml/2006/main">
              <a:ext uri="{FF2B5EF4-FFF2-40B4-BE49-F238E27FC236}">
                <a16:creationId xmlns:a16="http://schemas.microsoft.com/office/drawing/2014/main" id="{DD6ED0B2-7197-4F99-8B17-54256EC19E67}"/>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Deze les: §4.2.7 Gemengde opgaven</a:t>
            </a:r>
          </a:p>
        </p:txBody>
      </p:sp>
      <p:sp>
        <p:nvSpPr>
          <p:cNvPr id="2" name="">
            <a:extLst xmlns:a="http://schemas.openxmlformats.org/drawingml/2006/main">
              <a:ext uri="{FF2B5EF4-FFF2-40B4-BE49-F238E27FC236}">
                <a16:creationId xmlns:a16="http://schemas.microsoft.com/office/drawing/2014/main" id="{202012F1-8665-472C-9001-7B2A0B44FB4F}"/>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2.7 Gemengde opgaven: marktvormen en marktfalen">
            <a:extLst xmlns:a="http://schemas.openxmlformats.org/drawingml/2006/main">
              <a:ext uri="{FF2B5EF4-FFF2-40B4-BE49-F238E27FC236}">
                <a16:creationId xmlns:a16="http://schemas.microsoft.com/office/drawing/2014/main" id="{3FAC327A-E031-441E-B21E-DAFBC1F7CA0C}"/>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§4.2.7 Gemengde opgaven: marktvormen en marktfalen</a:t>
            </a:r>
          </a:p>
        </p:txBody>
      </p:sp>
      <p:sp>
        <p:nvSpPr>
          <p:cNvPr id="4" name="slide-number">
            <a:extLst xmlns:a="http://schemas.openxmlformats.org/drawingml/2006/main">
              <a:ext uri="{FF2B5EF4-FFF2-40B4-BE49-F238E27FC236}">
                <a16:creationId xmlns:a16="http://schemas.microsoft.com/office/drawing/2014/main" id="{E5E9F633-E2E9-4D98-ADC5-B57F08A027F9}"/>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23</a:t>
            </a:r>
          </a:p>
        </p:txBody>
      </p:sp>
      <p:sp>
        <p:nvSpPr>
          <p:cNvPr id="5" name="phase">
            <a:extLst xmlns:a="http://schemas.openxmlformats.org/drawingml/2006/main">
              <a:ext uri="{FF2B5EF4-FFF2-40B4-BE49-F238E27FC236}">
                <a16:creationId xmlns:a16="http://schemas.microsoft.com/office/drawing/2014/main" id="{7F35EF77-A16F-484E-ADA8-C5BFE8E813C3}"/>
              </a:ext>
            </a:extLst>
          </p:cNvPr>
          <p:cNvSpPr>
            <a:spLocks xmlns:a="http://schemas.openxmlformats.org/drawingml/2006/main" noGrp="1"/>
          </p:cNvSpPr>
          <p:nvPr/>
        </p:nvSpPr>
        <p:spPr>
          <a:xfrm xmlns:a="http://schemas.openxmlformats.org/drawingml/2006/main">
            <a:off x="571500" y="1066800"/>
            <a:ext cx="1381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Nu: Afsluiting / huiswerk</a:t>
            </a:r>
          </a:p>
        </p:txBody>
      </p:sp>
      <p:sp>
        <p:nvSpPr>
          <p:cNvPr id="6" name="Lesroute">
            <a:extLst xmlns:a="http://schemas.openxmlformats.org/drawingml/2006/main">
              <a:ext uri="{FF2B5EF4-FFF2-40B4-BE49-F238E27FC236}">
                <a16:creationId xmlns:a16="http://schemas.microsoft.com/office/drawing/2014/main" id="{4FFE16C0-D99F-47D2-9039-E9A7A293D054}"/>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8AF24B76-5EBD-4504-9AE9-2BD0B443AED1}"/>
              </a:ext>
            </a:extLst>
          </p:cNvPr>
          <p:cNvSpPr>
            <a:spLocks xmlns:a="http://schemas.openxmlformats.org/drawingml/2006/main" noGrp="1"/>
          </p:cNvSpPr>
          <p:nvPr/>
        </p:nvSpPr>
        <p:spPr>
          <a:xfrm xmlns:a="http://schemas.openxmlformats.org/drawingml/2006/main">
            <a:off x="571500" y="2324100"/>
            <a:ext cx="457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AB800645-08A1-49CF-AD18-832B2A586F2B}"/>
              </a:ext>
            </a:extLst>
          </p:cNvPr>
          <p:cNvSpPr>
            <a:spLocks xmlns:a="http://schemas.openxmlformats.org/drawingml/2006/main" noGrp="1"/>
          </p:cNvSpPr>
          <p:nvPr/>
        </p:nvSpPr>
        <p:spPr>
          <a:xfrm xmlns:a="http://schemas.openxmlformats.org/drawingml/2006/main">
            <a:off x="1104900" y="2324100"/>
            <a:ext cx="74199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485318B4-EA40-4E07-9064-A1F342AC29BA}"/>
              </a:ext>
            </a:extLst>
          </p:cNvPr>
          <p:cNvSpPr>
            <a:spLocks xmlns:a="http://schemas.openxmlformats.org/drawingml/2006/main" noGrp="1"/>
          </p:cNvSpPr>
          <p:nvPr/>
        </p:nvSpPr>
        <p:spPr>
          <a:xfrm xmlns:a="http://schemas.openxmlformats.org/drawingml/2006/main">
            <a:off x="571500" y="3305175"/>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898430F3-F5BC-446A-9794-1E6657716CE3}"/>
              </a:ext>
            </a:extLst>
          </p:cNvPr>
          <p:cNvSpPr>
            <a:spLocks xmlns:a="http://schemas.openxmlformats.org/drawingml/2006/main" noGrp="1"/>
          </p:cNvSpPr>
          <p:nvPr/>
        </p:nvSpPr>
        <p:spPr>
          <a:xfrm xmlns:a="http://schemas.openxmlformats.org/drawingml/2006/main">
            <a:off x="1104900" y="3305175"/>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A6CDDE1B-1CE5-42D7-B49E-0898478BED2D}"/>
              </a:ext>
            </a:extLst>
          </p:cNvPr>
          <p:cNvSpPr>
            <a:spLocks xmlns:a="http://schemas.openxmlformats.org/drawingml/2006/main" noGrp="1"/>
          </p:cNvSpPr>
          <p:nvPr/>
        </p:nvSpPr>
        <p:spPr>
          <a:xfrm xmlns:a="http://schemas.openxmlformats.org/drawingml/2006/main">
            <a:off x="571500" y="3895725"/>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F8965396-61A4-490D-9D12-337C8C575547}"/>
              </a:ext>
            </a:extLst>
          </p:cNvPr>
          <p:cNvSpPr>
            <a:spLocks xmlns:a="http://schemas.openxmlformats.org/drawingml/2006/main" noGrp="1"/>
          </p:cNvSpPr>
          <p:nvPr/>
        </p:nvSpPr>
        <p:spPr>
          <a:xfrm xmlns:a="http://schemas.openxmlformats.org/drawingml/2006/main">
            <a:off x="1104900" y="3895725"/>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Korte herhaling en aanpak.</a:t>
            </a:r>
          </a:p>
        </p:txBody>
      </p:sp>
      <p:sp>
        <p:nvSpPr>
          <p:cNvPr id="13" name="route-number-4">
            <a:extLst xmlns:a="http://schemas.openxmlformats.org/drawingml/2006/main">
              <a:ext uri="{FF2B5EF4-FFF2-40B4-BE49-F238E27FC236}">
                <a16:creationId xmlns:a16="http://schemas.microsoft.com/office/drawing/2014/main" id="{A201BD0B-6E1B-4D67-AA71-CE6E646EB06E}"/>
              </a:ext>
            </a:extLst>
          </p:cNvPr>
          <p:cNvSpPr>
            <a:spLocks xmlns:a="http://schemas.openxmlformats.org/drawingml/2006/main" noGrp="1"/>
          </p:cNvSpPr>
          <p:nvPr/>
        </p:nvSpPr>
        <p:spPr>
          <a:xfrm xmlns:a="http://schemas.openxmlformats.org/drawingml/2006/main">
            <a:off x="571500" y="4533900"/>
            <a:ext cx="4572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6897C517-B7AA-4624-B335-E6768754E2A9}"/>
              </a:ext>
            </a:extLst>
          </p:cNvPr>
          <p:cNvSpPr>
            <a:spLocks xmlns:a="http://schemas.openxmlformats.org/drawingml/2006/main" noGrp="1"/>
          </p:cNvSpPr>
          <p:nvPr/>
        </p:nvSpPr>
        <p:spPr>
          <a:xfrm xmlns:a="http://schemas.openxmlformats.org/drawingml/2006/main">
            <a:off x="1104900" y="4533900"/>
            <a:ext cx="741997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Werk verder aan de gemengde opgaven, stel vragen en kijk je antwoorden na.</a:t>
            </a:r>
          </a:p>
        </p:txBody>
      </p:sp>
      <p:sp>
        <p:nvSpPr>
          <p:cNvPr id="15" name="route-number-5">
            <a:extLst xmlns:a="http://schemas.openxmlformats.org/drawingml/2006/main">
              <a:ext uri="{FF2B5EF4-FFF2-40B4-BE49-F238E27FC236}">
                <a16:creationId xmlns:a16="http://schemas.microsoft.com/office/drawing/2014/main" id="{EAB6EB23-D4B4-447D-BB5D-D9F37D05AD5A}"/>
              </a:ext>
            </a:extLst>
          </p:cNvPr>
          <p:cNvSpPr>
            <a:spLocks xmlns:a="http://schemas.openxmlformats.org/drawingml/2006/main" noGrp="1"/>
          </p:cNvSpPr>
          <p:nvPr/>
        </p:nvSpPr>
        <p:spPr>
          <a:xfrm xmlns:a="http://schemas.openxmlformats.org/drawingml/2006/main">
            <a:off x="571500" y="5743575"/>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1E2A837C-41C1-4F6E-8C24-7C140E2797A5}"/>
              </a:ext>
            </a:extLst>
          </p:cNvPr>
          <p:cNvSpPr>
            <a:spLocks xmlns:a="http://schemas.openxmlformats.org/drawingml/2006/main" noGrp="1"/>
          </p:cNvSpPr>
          <p:nvPr/>
        </p:nvSpPr>
        <p:spPr>
          <a:xfrm xmlns:a="http://schemas.openxmlformats.org/drawingml/2006/main">
            <a:off x="1104900" y="5743575"/>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EF1D4F92-2F4C-4667-8D12-278731829615}"/>
              </a:ext>
            </a:extLst>
          </p:cNvPr>
          <p:cNvSpPr>
            <a:spLocks xmlns:a="http://schemas.openxmlformats.org/drawingml/2006/main" noGrp="1"/>
          </p:cNvSpPr>
          <p:nvPr/>
        </p:nvSpPr>
        <p:spPr>
          <a:xfrm xmlns:a="http://schemas.openxmlformats.org/drawingml/2006/main">
            <a:off x="571500" y="6629400"/>
            <a:ext cx="457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97460C74-CB88-4754-9B45-217C915C4691}"/>
              </a:ext>
            </a:extLst>
          </p:cNvPr>
          <p:cNvSpPr>
            <a:spLocks xmlns:a="http://schemas.openxmlformats.org/drawingml/2006/main" noGrp="1"/>
          </p:cNvSpPr>
          <p:nvPr/>
        </p:nvSpPr>
        <p:spPr>
          <a:xfrm xmlns:a="http://schemas.openxmlformats.org/drawingml/2006/main">
            <a:off x="1104900" y="6629400"/>
            <a:ext cx="74199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58.</a:t>
            </a:r>
          </a:p>
        </p:txBody>
      </p:sp>
      <p:sp>
        <p:nvSpPr>
          <p:cNvPr id="19" name="route-number-7">
            <a:extLst xmlns:a="http://schemas.openxmlformats.org/drawingml/2006/main">
              <a:ext uri="{FF2B5EF4-FFF2-40B4-BE49-F238E27FC236}">
                <a16:creationId xmlns:a16="http://schemas.microsoft.com/office/drawing/2014/main" id="{2889144A-0232-4B05-9EEE-6D163D9D6DD2}"/>
              </a:ext>
            </a:extLst>
          </p:cNvPr>
          <p:cNvSpPr>
            <a:spLocks xmlns:a="http://schemas.openxmlformats.org/drawingml/2006/main" noGrp="1"/>
          </p:cNvSpPr>
          <p:nvPr/>
        </p:nvSpPr>
        <p:spPr>
          <a:xfrm xmlns:a="http://schemas.openxmlformats.org/drawingml/2006/main">
            <a:off x="571500" y="737235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E7A584C3-61DA-436C-9BB4-BF18DACAB6F1}"/>
              </a:ext>
            </a:extLst>
          </p:cNvPr>
          <p:cNvSpPr>
            <a:spLocks xmlns:a="http://schemas.openxmlformats.org/drawingml/2006/main" noGrp="1"/>
          </p:cNvSpPr>
          <p:nvPr/>
        </p:nvSpPr>
        <p:spPr>
          <a:xfrm xmlns:a="http://schemas.openxmlformats.org/drawingml/2006/main">
            <a:off x="1104900" y="737235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79A3845F-92ED-4C5A-936C-5AE986D822E0}"/>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145956C8-D382-4611-9991-28E7DB42ACA0}"/>
              </a:ext>
            </a:extLst>
          </p:cNvPr>
          <p:cNvSpPr>
            <a:spLocks xmlns:a="http://schemas.openxmlformats.org/drawingml/2006/main" noGrp="1"/>
          </p:cNvSpPr>
          <p:nvPr/>
        </p:nvSpPr>
        <p:spPr>
          <a:xfrm xmlns:a="http://schemas.openxmlformats.org/drawingml/2006/main">
            <a:off x="9258300" y="2324100"/>
            <a:ext cx="5381625"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Model uit de bron kiezen.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Surplus en derden meewegen.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Een beleidsconclusie begrenzen.</a:t>
            </a:r>
          </a:p>
        </p:txBody>
      </p:sp>
      <p:sp>
        <p:nvSpPr>
          <p:cNvPr id="23" name="">
            <a:extLst xmlns:a="http://schemas.openxmlformats.org/drawingml/2006/main">
              <a:ext uri="{FF2B5EF4-FFF2-40B4-BE49-F238E27FC236}">
                <a16:creationId xmlns:a16="http://schemas.microsoft.com/office/drawing/2014/main" id="{A64EB0EF-1170-4358-AF47-440DD49FD675}"/>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7E7B055F-A22D-4ECB-999B-FA0436D2953E}"/>
              </a:ext>
            </a:extLst>
          </p:cNvPr>
          <p:cNvSpPr>
            <a:spLocks xmlns:a="http://schemas.openxmlformats.org/drawingml/2006/main" noGrp="1"/>
          </p:cNvSpPr>
          <p:nvPr/>
        </p:nvSpPr>
        <p:spPr>
          <a:xfrm xmlns:a="http://schemas.openxmlformats.org/drawingml/2006/main">
            <a:off x="9258300" y="38195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45FC81FD-3132-4D2D-8F19-0F1E483606FA}"/>
              </a:ext>
            </a:extLst>
          </p:cNvPr>
          <p:cNvSpPr>
            <a:spLocks xmlns:a="http://schemas.openxmlformats.org/drawingml/2006/main" noGrp="1"/>
          </p:cNvSpPr>
          <p:nvPr/>
        </p:nvSpPr>
        <p:spPr>
          <a:xfrm xmlns:a="http://schemas.openxmlformats.org/drawingml/2006/main">
            <a:off x="9258300" y="4333875"/>
            <a:ext cx="5381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105 · Opgave 55</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Steun: uitleg §§4.2.1–4.2.6</a:t>
            </a:r>
          </a:p>
        </p:txBody>
      </p:sp>
      <p:sp>
        <p:nvSpPr>
          <p:cNvPr id="26" name="">
            <a:extLst xmlns:a="http://schemas.openxmlformats.org/drawingml/2006/main">
              <a:ext uri="{FF2B5EF4-FFF2-40B4-BE49-F238E27FC236}">
                <a16:creationId xmlns:a16="http://schemas.microsoft.com/office/drawing/2014/main" id="{39D8CC55-FDDF-47B4-B438-B576B2189AA9}"/>
              </a:ext>
            </a:extLst>
          </p:cNvPr>
          <p:cNvSpPr>
            <a:spLocks xmlns:a="http://schemas.openxmlformats.org/drawingml/2006/main" noGrp="1"/>
          </p:cNvSpPr>
          <p:nvPr/>
        </p:nvSpPr>
        <p:spPr>
          <a:xfrm xmlns:a="http://schemas.openxmlformats.org/drawingml/2006/main">
            <a:off x="9258300" y="5400675"/>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5B683510-C96F-4AC8-A3A3-879F446006EA}"/>
              </a:ext>
            </a:extLst>
          </p:cNvPr>
          <p:cNvSpPr>
            <a:spLocks xmlns:a="http://schemas.openxmlformats.org/drawingml/2006/main" noGrp="1"/>
          </p:cNvSpPr>
          <p:nvPr/>
        </p:nvSpPr>
        <p:spPr>
          <a:xfrm xmlns:a="http://schemas.openxmlformats.org/drawingml/2006/main">
            <a:off x="9258300" y="56673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A5276"/>
                </a:solidFill>
                <a:latin typeface="Arial"/>
                <a:ea typeface="Arial"/>
                <a:cs typeface="Arial"/>
              </a:defRPr>
            </a:pPr>
            <a:r>
              <a:rPr sz="2625" b="1">
                <a:solidFill>
                  <a:srgbClr val="1A5276"/>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90F1EDAE-35C4-4863-AD70-3F54DE1E7E8A}"/>
              </a:ext>
            </a:extLst>
          </p:cNvPr>
          <p:cNvSpPr>
            <a:spLocks xmlns:a="http://schemas.openxmlformats.org/drawingml/2006/main" noGrp="1"/>
          </p:cNvSpPr>
          <p:nvPr/>
        </p:nvSpPr>
        <p:spPr>
          <a:xfrm xmlns:a="http://schemas.openxmlformats.org/drawingml/2006/main">
            <a:off x="9258300" y="6229350"/>
            <a:ext cx="5381625"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§4.2.7 · Opgaven 55–60</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Verder: 56–57 · Doel: 58</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Extra gemengd: 59 · Herhaling: 60</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Maken en nakijken</a:t>
            </a:r>
          </a:p>
        </p:txBody>
      </p:sp>
    </p:spTree>
    <p:extLst>
      <p:ext uri="{BB962C8B-B14F-4D97-AF65-F5344CB8AC3E}">
        <p14:creationId xmlns:p14="http://schemas.microsoft.com/office/powerpoint/2010/main" val="100486030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2026-10-01T17:56:12.2720000Z</dcterms:created>
  <dcterms:modified xsi:type="dcterms:W3CDTF">2026-10-01T17:56:12.2720000Z</dcterms:modified>
</coreProperties>
</file>