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7.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3b5475ddc8452f" /><Relationship Type="http://schemas.openxmlformats.org/officeDocument/2006/relationships/extended-properties" Target="/docProps/app.xml" Id="Ra94a4e3502134591" /><Relationship Type="http://schemas.openxmlformats.org/officeDocument/2006/relationships/officeDocument" Target="/ppt/presentation.xml" Id="Rccb2e8e04e8d4b33" /></Relationships>
</file>

<file path=ppt/presentation.xml><?xml version="1.0" encoding="utf-8"?>
<p:presentation xmlns:p="http://schemas.openxmlformats.org/presentationml/2006/main">
  <p:sldMasterIdLst>
    <p:sldMasterId xmlns:r="http://schemas.openxmlformats.org/officeDocument/2006/relationships" id="2147483648" r:id="Rd117643a121c4eb3"/>
  </p:sldMasterIdLst>
  <p:notesMasterIdLst>
    <p:notesMasterId xmlns:r="http://schemas.openxmlformats.org/officeDocument/2006/relationships" r:id="R5ba228824df74ff3"/>
  </p:notesMasterIdLst>
  <p:sldIdLst>
    <p:sldId xmlns:r="http://schemas.openxmlformats.org/officeDocument/2006/relationships" id="256" r:id="R85ba76d98ac94692"/>
    <p:sldId xmlns:r="http://schemas.openxmlformats.org/officeDocument/2006/relationships" id="257" r:id="Re98d843b5dc44a73"/>
    <p:sldId xmlns:r="http://schemas.openxmlformats.org/officeDocument/2006/relationships" id="258" r:id="R42c294137e0c471e"/>
    <p:sldId xmlns:r="http://schemas.openxmlformats.org/officeDocument/2006/relationships" id="259" r:id="R9cc4c63c4d0f4ed9"/>
    <p:sldId xmlns:r="http://schemas.openxmlformats.org/officeDocument/2006/relationships" id="260" r:id="R914418e6e8974467"/>
    <p:sldId xmlns:r="http://schemas.openxmlformats.org/officeDocument/2006/relationships" id="261" r:id="Rd8983b1515384f01"/>
    <p:sldId xmlns:r="http://schemas.openxmlformats.org/officeDocument/2006/relationships" id="262" r:id="Red9160ad61234872"/>
    <p:sldId xmlns:r="http://schemas.openxmlformats.org/officeDocument/2006/relationships" id="263" r:id="R6a9c2a1ff937424b"/>
    <p:sldId xmlns:r="http://schemas.openxmlformats.org/officeDocument/2006/relationships" id="264" r:id="R81952846bb594f67"/>
    <p:sldId xmlns:r="http://schemas.openxmlformats.org/officeDocument/2006/relationships" id="265" r:id="Rd9f8a5cbce2d4e8a"/>
    <p:sldId xmlns:r="http://schemas.openxmlformats.org/officeDocument/2006/relationships" id="266" r:id="Ra7485972261c4f90"/>
    <p:sldId xmlns:r="http://schemas.openxmlformats.org/officeDocument/2006/relationships" id="267" r:id="Rc6eec7990d844cb4"/>
    <p:sldId xmlns:r="http://schemas.openxmlformats.org/officeDocument/2006/relationships" id="268" r:id="Re06367f0a95d4708"/>
    <p:sldId xmlns:r="http://schemas.openxmlformats.org/officeDocument/2006/relationships" id="269" r:id="R2ff8491f82e84f08"/>
    <p:sldId xmlns:r="http://schemas.openxmlformats.org/officeDocument/2006/relationships" id="270" r:id="Rd998fb8dae704691"/>
    <p:sldId xmlns:r="http://schemas.openxmlformats.org/officeDocument/2006/relationships" id="271" r:id="Rd48d024f65584996"/>
    <p:sldId xmlns:r="http://schemas.openxmlformats.org/officeDocument/2006/relationships" id="272" r:id="Rf8392648f8154b55"/>
    <p:sldId xmlns:r="http://schemas.openxmlformats.org/officeDocument/2006/relationships" id="273" r:id="Rce15e3dafa224106"/>
    <p:sldId xmlns:r="http://schemas.openxmlformats.org/officeDocument/2006/relationships" id="274" r:id="Rc552037c2d774c2a"/>
    <p:sldId xmlns:r="http://schemas.openxmlformats.org/officeDocument/2006/relationships" id="275" r:id="R03f6811260a54a7f"/>
    <p:sldId xmlns:r="http://schemas.openxmlformats.org/officeDocument/2006/relationships" id="276" r:id="R9f8c2298e1ce494e"/>
    <p:sldId xmlns:r="http://schemas.openxmlformats.org/officeDocument/2006/relationships" id="277" r:id="R2a82ef24fbf847ea"/>
    <p:sldId xmlns:r="http://schemas.openxmlformats.org/officeDocument/2006/relationships" id="278" r:id="R0e3969db32974b42"/>
    <p:sldId xmlns:r="http://schemas.openxmlformats.org/officeDocument/2006/relationships" id="279" r:id="Rc85ef0a552b440eb"/>
    <p:sldId xmlns:r="http://schemas.openxmlformats.org/officeDocument/2006/relationships" id="280" r:id="R07fec7b72cda440f"/>
    <p:sldId xmlns:r="http://schemas.openxmlformats.org/officeDocument/2006/relationships" id="281" r:id="Ra4e6abfee4fb428d"/>
    <p:sldId xmlns:r="http://schemas.openxmlformats.org/officeDocument/2006/relationships" id="282" r:id="Rb7ccc484756043a0"/>
    <p:sldId xmlns:r="http://schemas.openxmlformats.org/officeDocument/2006/relationships" id="283" r:id="R5e0e50a4c363463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832afcce324c5a" /><Relationship Type="http://schemas.openxmlformats.org/officeDocument/2006/relationships/slideMaster" Target="/ppt/slideMasters/slideMaster1.xml" Id="Rd117643a121c4eb3" /><Relationship Type="http://schemas.openxmlformats.org/officeDocument/2006/relationships/notesMaster" Target="/ppt/notesMasters/notesMaster1.xml" Id="R5ba228824df74ff3" /><Relationship Type="http://schemas.openxmlformats.org/officeDocument/2006/relationships/presProps" Target="/ppt/presProps.xml" Id="Re4fc8245ca024292" /><Relationship Type="http://schemas.openxmlformats.org/officeDocument/2006/relationships/tableStyles" Target="/ppt/tableStyles.xml" Id="R176001f811274c32" /><Relationship Type="http://schemas.openxmlformats.org/officeDocument/2006/relationships/slide" Target="/ppt/slides/slide1.xml" Id="R85ba76d98ac94692" /><Relationship Type="http://schemas.openxmlformats.org/officeDocument/2006/relationships/slide" Target="/ppt/slides/slide2.xml" Id="Re98d843b5dc44a73" /><Relationship Type="http://schemas.openxmlformats.org/officeDocument/2006/relationships/slide" Target="/ppt/slides/slide3.xml" Id="R42c294137e0c471e" /><Relationship Type="http://schemas.openxmlformats.org/officeDocument/2006/relationships/slide" Target="/ppt/slides/slide4.xml" Id="R9cc4c63c4d0f4ed9" /><Relationship Type="http://schemas.openxmlformats.org/officeDocument/2006/relationships/slide" Target="/ppt/slides/slide5.xml" Id="R914418e6e8974467" /><Relationship Type="http://schemas.openxmlformats.org/officeDocument/2006/relationships/slide" Target="/ppt/slides/slide6.xml" Id="Rd8983b1515384f01" /><Relationship Type="http://schemas.openxmlformats.org/officeDocument/2006/relationships/slide" Target="/ppt/slides/slide7.xml" Id="Red9160ad61234872" /><Relationship Type="http://schemas.openxmlformats.org/officeDocument/2006/relationships/slide" Target="/ppt/slides/slide8.xml" Id="R6a9c2a1ff937424b" /><Relationship Type="http://schemas.openxmlformats.org/officeDocument/2006/relationships/slide" Target="/ppt/slides/slide9.xml" Id="R81952846bb594f67" /><Relationship Type="http://schemas.openxmlformats.org/officeDocument/2006/relationships/slide" Target="/ppt/slides/slide10.xml" Id="Rd9f8a5cbce2d4e8a" /><Relationship Type="http://schemas.openxmlformats.org/officeDocument/2006/relationships/slide" Target="/ppt/slides/slide11.xml" Id="Ra7485972261c4f90" /><Relationship Type="http://schemas.openxmlformats.org/officeDocument/2006/relationships/slide" Target="/ppt/slides/slide12.xml" Id="Rc6eec7990d844cb4" /><Relationship Type="http://schemas.openxmlformats.org/officeDocument/2006/relationships/slide" Target="/ppt/slides/slide13.xml" Id="Re06367f0a95d4708" /><Relationship Type="http://schemas.openxmlformats.org/officeDocument/2006/relationships/slide" Target="/ppt/slides/slide14.xml" Id="R2ff8491f82e84f08" /><Relationship Type="http://schemas.openxmlformats.org/officeDocument/2006/relationships/slide" Target="/ppt/slides/slide15.xml" Id="Rd998fb8dae704691" /><Relationship Type="http://schemas.openxmlformats.org/officeDocument/2006/relationships/slide" Target="/ppt/slides/slide16.xml" Id="Rd48d024f65584996" /><Relationship Type="http://schemas.openxmlformats.org/officeDocument/2006/relationships/slide" Target="/ppt/slides/slide17.xml" Id="Rf8392648f8154b55" /><Relationship Type="http://schemas.openxmlformats.org/officeDocument/2006/relationships/slide" Target="/ppt/slides/slide18.xml" Id="Rce15e3dafa224106" /><Relationship Type="http://schemas.openxmlformats.org/officeDocument/2006/relationships/slide" Target="/ppt/slides/slide19.xml" Id="Rc552037c2d774c2a" /><Relationship Type="http://schemas.openxmlformats.org/officeDocument/2006/relationships/slide" Target="/ppt/slides/slide20.xml" Id="R03f6811260a54a7f" /><Relationship Type="http://schemas.openxmlformats.org/officeDocument/2006/relationships/slide" Target="/ppt/slides/slide21.xml" Id="R9f8c2298e1ce494e" /><Relationship Type="http://schemas.openxmlformats.org/officeDocument/2006/relationships/slide" Target="/ppt/slides/slide22.xml" Id="R2a82ef24fbf847ea" /><Relationship Type="http://schemas.openxmlformats.org/officeDocument/2006/relationships/slide" Target="/ppt/slides/slide23.xml" Id="R0e3969db32974b42" /><Relationship Type="http://schemas.openxmlformats.org/officeDocument/2006/relationships/slide" Target="/ppt/slides/slide24.xml" Id="Rc85ef0a552b440eb" /><Relationship Type="http://schemas.openxmlformats.org/officeDocument/2006/relationships/slide" Target="/ppt/slides/slide25.xml" Id="R07fec7b72cda440f" /><Relationship Type="http://schemas.openxmlformats.org/officeDocument/2006/relationships/slide" Target="/ppt/slides/slide26.xml" Id="Ra4e6abfee4fb428d" /><Relationship Type="http://schemas.openxmlformats.org/officeDocument/2006/relationships/slide" Target="/ppt/slides/slide27.xml" Id="Rb7ccc484756043a0" /><Relationship Type="http://schemas.openxmlformats.org/officeDocument/2006/relationships/slide" Target="/ppt/slides/slide28.xml" Id="R5e0e50a4c36346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9fabab2e2745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83810328864364" /><Relationship Type="http://schemas.openxmlformats.org/officeDocument/2006/relationships/notesMaster" Target="/ppt/notesMasters/notesMaster1.xml" Id="R273f474ada6e4e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f34a9cda3a4211" /><Relationship Type="http://schemas.openxmlformats.org/officeDocument/2006/relationships/notesMaster" Target="/ppt/notesMasters/notesMaster1.xml" Id="R4c56d69f8b2141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83d974bafe44b5" /><Relationship Type="http://schemas.openxmlformats.org/officeDocument/2006/relationships/notesMaster" Target="/ppt/notesMasters/notesMaster1.xml" Id="Redccc5c48ce149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a73ae11eea428b" /><Relationship Type="http://schemas.openxmlformats.org/officeDocument/2006/relationships/notesMaster" Target="/ppt/notesMasters/notesMaster1.xml" Id="Rd9b2adbe7f5747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af6fc5ef034a5e" /><Relationship Type="http://schemas.openxmlformats.org/officeDocument/2006/relationships/notesMaster" Target="/ppt/notesMasters/notesMaster1.xml" Id="R8214666771764f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3e865be82141c1" /><Relationship Type="http://schemas.openxmlformats.org/officeDocument/2006/relationships/notesMaster" Target="/ppt/notesMasters/notesMaster1.xml" Id="R33d82410118848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9df5ce40414dd5" /><Relationship Type="http://schemas.openxmlformats.org/officeDocument/2006/relationships/notesMaster" Target="/ppt/notesMasters/notesMaster1.xml" Id="Rfe5b278bcce142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4aa9d176294fd3" /><Relationship Type="http://schemas.openxmlformats.org/officeDocument/2006/relationships/notesMaster" Target="/ppt/notesMasters/notesMaster1.xml" Id="R1655c95e2a084f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3a1da2978a4899" /><Relationship Type="http://schemas.openxmlformats.org/officeDocument/2006/relationships/notesMaster" Target="/ppt/notesMasters/notesMaster1.xml" Id="Rcbef6c4042714b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21f58fca794c84" /><Relationship Type="http://schemas.openxmlformats.org/officeDocument/2006/relationships/notesMaster" Target="/ppt/notesMasters/notesMaster1.xml" Id="R83c79be98d2849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c5f0a2eea4438a" /><Relationship Type="http://schemas.openxmlformats.org/officeDocument/2006/relationships/notesMaster" Target="/ppt/notesMasters/notesMaster1.xml" Id="R551f78b8cefd45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7e7499135846ea" /><Relationship Type="http://schemas.openxmlformats.org/officeDocument/2006/relationships/notesMaster" Target="/ppt/notesMasters/notesMaster1.xml" Id="R7fc372fe1a8d43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f60a6a53364c97" /><Relationship Type="http://schemas.openxmlformats.org/officeDocument/2006/relationships/notesMaster" Target="/ppt/notesMasters/notesMaster1.xml" Id="Rba8c570806614e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55bf236a19403c" /><Relationship Type="http://schemas.openxmlformats.org/officeDocument/2006/relationships/notesMaster" Target="/ppt/notesMasters/notesMaster1.xml" Id="Rcf39bf3cfbdb41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b9eb4dcfc74576" /><Relationship Type="http://schemas.openxmlformats.org/officeDocument/2006/relationships/notesMaster" Target="/ppt/notesMasters/notesMaster1.xml" Id="R14b7adaf0c754f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fe815789ee450a" /><Relationship Type="http://schemas.openxmlformats.org/officeDocument/2006/relationships/notesMaster" Target="/ppt/notesMasters/notesMaster1.xml" Id="R88b1ccb85cfe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9f53f41d73438c" /><Relationship Type="http://schemas.openxmlformats.org/officeDocument/2006/relationships/notesMaster" Target="/ppt/notesMasters/notesMaster1.xml" Id="Rcf8735c47a8844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70da6c51ff40cf" /><Relationship Type="http://schemas.openxmlformats.org/officeDocument/2006/relationships/notesMaster" Target="/ppt/notesMasters/notesMaster1.xml" Id="Rfa10e8f7e8314d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930c8e20874c28" /><Relationship Type="http://schemas.openxmlformats.org/officeDocument/2006/relationships/notesMaster" Target="/ppt/notesMasters/notesMaster1.xml" Id="R82ecaa5f18a044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72bcf1c3984669" /><Relationship Type="http://schemas.openxmlformats.org/officeDocument/2006/relationships/notesMaster" Target="/ppt/notesMasters/notesMaster1.xml" Id="R31bc335d622041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590c3e3d0a41f9" /><Relationship Type="http://schemas.openxmlformats.org/officeDocument/2006/relationships/notesMaster" Target="/ppt/notesMasters/notesMaster1.xml" Id="R0442cf40c0c54e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05e2854e37b476e" /><Relationship Type="http://schemas.openxmlformats.org/officeDocument/2006/relationships/notesMaster" Target="/ppt/notesMasters/notesMaster1.xml" Id="R9806a91a5c5b4b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668fa234c3a415a" /><Relationship Type="http://schemas.openxmlformats.org/officeDocument/2006/relationships/notesMaster" Target="/ppt/notesMasters/notesMaster1.xml" Id="R1e142a89713f4e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d76ded5f31e4b06" /><Relationship Type="http://schemas.openxmlformats.org/officeDocument/2006/relationships/notesMaster" Target="/ppt/notesMasters/notesMaster1.xml" Id="R2b9755e0da954a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a722fafd664879" /><Relationship Type="http://schemas.openxmlformats.org/officeDocument/2006/relationships/notesMaster" Target="/ppt/notesMasters/notesMaster1.xml" Id="R83f4ad9cbbb4457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ba8f4f4e79c46dc" /><Relationship Type="http://schemas.openxmlformats.org/officeDocument/2006/relationships/notesMaster" Target="/ppt/notesMasters/notesMaster1.xml" Id="R0a95d575dfcd47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4bcc2913bc49cf" /><Relationship Type="http://schemas.openxmlformats.org/officeDocument/2006/relationships/notesMaster" Target="/ppt/notesMasters/notesMaster1.xml" Id="R6cc5022e096249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98acea3497944ac" /><Relationship Type="http://schemas.openxmlformats.org/officeDocument/2006/relationships/notesMaster" Target="/ppt/notesMasters/notesMaster1.xml" Id="R7aeef53ecccb4a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waar helpt de theorie?</a:t>
            </a:r>
          </a:p>
          <a:p xmlns:a="http://schemas.openxmlformats.org/drawingml/2006/main">
            <a:r>
              <a:rPr sz="1400"/>
              <a:t/>
            </a:r>
          </a:p>
          <a:p xmlns:a="http://schemas.openxmlformats.org/drawingml/2006/main">
            <a:r>
              <a:rPr sz="1400"/>
              <a:t>Uitleg: Laat dit overzicht staan tijdens Startopdracht. Start 37–38 staat op gedrukte boekpagina 94 (hoofdstukpagina 42). Opgave 37 herhaalt de subsidiewig uit Boek 3 §3.1.3, boek p.23–26: Pp = Pc + s, invullen in beide oorspronkelijke functies en uitgaven over alle verkopen. Geef bij vastlopen deze procedure als hint. Bij 38 is het positieve effect nieuw: laat eerst de definitie en het onderscheid tussen koper, aanbieder en derden op p.88 lezen. Dit is ondersteunde verkenning, geen toets van nieuwe beheersing. Keer na de uitleg en vóór basiswerk terug naar beide startitems, laat leerlingen hun antwoord verbeteren en bespreek de bron voor hun keuze. Startantwoorden uitsluitend voor die nabespreking: 37 Q=10 stuks per dag, Pc=€10, Pp=€14, uitgaven €40 per dag; 38 onbetaald voordeel voor andere buurtbewoners is extern, eigen leren is privaat en lesgeld is een marktbetaling. Basis 39 p.94, 40 p.95; zelfstandig 41 p.95 en 42 p.96; doel 43 p.97. Huiswerk 39–43 maken en nakijken. Bonus 44 en herhaling 45 p.98 zijn extra. Docenteninformatie reserveert voorlopig twee lessen van 55 minuten plus mogelijke uitloop. Volledige tijdsfit en leerlingbeheersing zijn niet gemeten.</a:t>
            </a:r>
          </a:p>
          <a:p xmlns:a="http://schemas.openxmlformats.org/drawingml/2006/main">
            <a:r>
              <a:rPr sz="1400"/>
              <a:t/>
            </a:r>
          </a:p>
          <a:p xmlns:a="http://schemas.openxmlformats.org/drawingml/2006/main">
            <a:r>
              <a:rPr sz="1400"/>
              <a:t>Misvatting: Hoofdstukpagina 42 is boekpagina 94. Positief extern voordeel is bij de start nog geen veronderstelde voorkennis.</a:t>
            </a:r>
          </a:p>
          <a:p xmlns:a="http://schemas.openxmlformats.org/drawingml/2006/main">
            <a:r>
              <a:rPr sz="1400"/>
              <a:t/>
            </a:r>
          </a:p>
          <a:p xmlns:a="http://schemas.openxmlformats.org/drawingml/2006/main">
            <a:r>
              <a:rPr sz="1400"/>
              <a:t>Overgang: Ga verder zodra de klas klaar is voor de volgende fase.</a:t>
            </a:r>
          </a:p>
          <a:p xmlns:a="http://schemas.openxmlformats.org/drawingml/2006/main">
            <a:r>
              <a:rPr sz="1400"/>
              <a:t/>
            </a:r>
          </a:p>
          <a:p xmlns:a="http://schemas.openxmlformats.org/drawingml/2006/main">
            <a:r>
              <a:rPr sz="1400"/>
              <a:t>Bron: Boek 4, books34-v3, gedrukte boekpagina 88–98.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profiteert zonder partij te zijn bij de koop?</a:t>
            </a:r>
          </a:p>
          <a:p xmlns:a="http://schemas.openxmlformats.org/drawingml/2006/main">
            <a:r>
              <a:rPr sz="1400"/>
              <a:t/>
            </a:r>
          </a:p>
          <a:p xmlns:a="http://schemas.openxmlformats.org/drawingml/2006/main">
            <a:r>
              <a:rPr sz="1400"/>
              <a:t>Uitleg: Definieer een positief extern effect: voordeel voor een derde door productie of consumptie, niet verwerkt in een betaling of vergoeding. In deze verzonnen case neemt de bron onbetaalde verkoeling voor omwonenden aan. Het voordeel van het eigen dak hoort bij de koper. De aanbieder levert een betaalde dienst. Het bestaan of de omvang van baten in een echte dakmarkt volgt niet uit deze onderwijsdata. Verbind met de derde partij uit §4.2.4 en keer na alle uitleg terug naar start 38.</a:t>
            </a:r>
          </a:p>
          <a:p xmlns:a="http://schemas.openxmlformats.org/drawingml/2006/main">
            <a:r>
              <a:rPr sz="1400"/>
              <a:t/>
            </a:r>
          </a:p>
          <a:p xmlns:a="http://schemas.openxmlformats.org/drawingml/2006/main">
            <a:r>
              <a:rPr sz="1400"/>
              <a:t>Misvatting: Een betaling aan de aanbieder is geen externe baat.</a:t>
            </a:r>
          </a:p>
          <a:p xmlns:a="http://schemas.openxmlformats.org/drawingml/2006/main">
            <a:r>
              <a:rPr sz="1400"/>
              <a:t/>
            </a:r>
          </a:p>
          <a:p xmlns:a="http://schemas.openxmlformats.org/drawingml/2006/main">
            <a:r>
              <a:rPr sz="1400"/>
              <a:t>Overgang: Koppel het onderscheid aan functies en bedragen.</a:t>
            </a:r>
          </a:p>
          <a:p xmlns:a="http://schemas.openxmlformats.org/drawingml/2006/main">
            <a:r>
              <a:rPr sz="1400"/>
              <a:t/>
            </a:r>
          </a:p>
          <a:p xmlns:a="http://schemas.openxmlformats.org/drawingml/2006/main">
            <a:r>
              <a:rPr sz="1400"/>
              <a:t>Bron: Boek 4, books34-v3, gedrukte boekpagina 88.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beschrijven een betaling en welke een echt voordeel?</a:t>
            </a:r>
          </a:p>
          <a:p xmlns:a="http://schemas.openxmlformats.org/drawingml/2006/main">
            <a:r>
              <a:rPr sz="1400"/>
              <a:t/>
            </a:r>
          </a:p>
          <a:p xmlns:a="http://schemas.openxmlformats.org/drawingml/2006/main">
            <a:r>
              <a:rPr sz="1400"/>
              <a:t>Uitleg: Alle getallen en de context Dakgroen zijn apart geschreven voor de uitleg. Geen toegewezen oefening wordt hiermee opgelost. Veronderstel concurrentie, gelijkblijvende overige omstandigheden, geen andere externe effecten, geen vaste kosten en geen financierings- of uitvoeringskosten. De aanbodlijn geeft marginale kosten. De baten voor derden zijn constant per dienst. Begin nog zonder subsidie.</a:t>
            </a:r>
          </a:p>
          <a:p xmlns:a="http://schemas.openxmlformats.org/drawingml/2006/main">
            <a:r>
              <a:rPr sz="1400"/>
              <a:t/>
            </a:r>
          </a:p>
          <a:p xmlns:a="http://schemas.openxmlformats.org/drawingml/2006/main">
            <a:r>
              <a:rPr sz="1400"/>
              <a:t>Misvatting: Een bedrag per dienst is nog geen maandtotaal.</a:t>
            </a:r>
          </a:p>
          <a:p xmlns:a="http://schemas.openxmlformats.org/drawingml/2006/main">
            <a:r>
              <a:rPr sz="1400"/>
              <a:t/>
            </a:r>
          </a:p>
          <a:p xmlns:a="http://schemas.openxmlformats.org/drawingml/2006/main">
            <a:r>
              <a:rPr sz="1400"/>
              <a:t>Overgang: Bereken eerst de ongereguleerde markt.</a:t>
            </a:r>
          </a:p>
          <a:p xmlns:a="http://schemas.openxmlformats.org/drawingml/2006/main">
            <a:r>
              <a:rPr sz="1400"/>
              <a:t/>
            </a:r>
          </a:p>
          <a:p xmlns:a="http://schemas.openxmlformats.org/drawingml/2006/main">
            <a:r>
              <a:rPr sz="1400"/>
              <a:t>Bron: Boek 4, books34-v3, gedrukte boekpagina 89–93.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baten ontbreken in deze marktvergelijking?</a:t>
            </a:r>
          </a:p>
          <a:p xmlns:a="http://schemas.openxmlformats.org/drawingml/2006/main">
            <a:r>
              <a:rPr sz="1400"/>
              <a:t/>
            </a:r>
          </a:p>
          <a:p xmlns:a="http://schemas.openxmlformats.org/drawingml/2006/main">
            <a:r>
              <a:rPr sz="1400"/>
              <a:t>Uitleg: Gelijkstellen geeft 36 = Q. Invullen in beide functies geeft 26 euro per dakdienst. De vraag weerspiegelt private betalingsbereidheid. De ongereguleerde markt neemt de onbetaalde 12 euro voor derden niet in de keuze mee. De grafiek heeft Q per maand en bedragen per dienst, geen maandtotalen op de verticale as.</a:t>
            </a:r>
          </a:p>
          <a:p xmlns:a="http://schemas.openxmlformats.org/drawingml/2006/main">
            <a:r>
              <a:rPr sz="1400"/>
              <a:t/>
            </a:r>
          </a:p>
          <a:p xmlns:a="http://schemas.openxmlformats.org/drawingml/2006/main">
            <a:r>
              <a:rPr sz="1400"/>
              <a:t>Misvatting: De vraaglijn bevat niet vanzelf het voordeel voor omwonenden.</a:t>
            </a:r>
          </a:p>
          <a:p xmlns:a="http://schemas.openxmlformats.org/drawingml/2006/main">
            <a:r>
              <a:rPr sz="1400"/>
              <a:t/>
            </a:r>
          </a:p>
          <a:p xmlns:a="http://schemas.openxmlformats.org/drawingml/2006/main">
            <a:r>
              <a:rPr sz="1400"/>
              <a:t>Overgang: Voeg het ontbrekende voordeel toe op dezelfde assen.</a:t>
            </a:r>
          </a:p>
          <a:p xmlns:a="http://schemas.openxmlformats.org/drawingml/2006/main">
            <a:r>
              <a:rPr sz="1400"/>
              <a:t/>
            </a:r>
          </a:p>
          <a:p xmlns:a="http://schemas.openxmlformats.org/drawingml/2006/main">
            <a:r>
              <a:rPr sz="1400"/>
              <a:t>Bron: Boek 4, books34-v3, gedrukte boekpagina 89.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een extra dienst rond Q=40 maatschappelijk zinvol?</a:t>
            </a:r>
          </a:p>
          <a:p xmlns:a="http://schemas.openxmlformats.org/drawingml/2006/main">
            <a:r>
              <a:rPr sz="1400"/>
              <a:t/>
            </a:r>
          </a:p>
          <a:p xmlns:a="http://schemas.openxmlformats.org/drawingml/2006/main">
            <a:r>
              <a:rPr sz="1400"/>
              <a:t>Uitleg: Lees op dezelfde verticale lijn bij Q=40. Private betalingsbereidheid 24 is lager dan kosten 28, maar maatschappelijke baten 36 zijn hoger. Daarom kan extra activiteit voor alle betrokkenen samen voordeel geven. De groene lijn ligt exact 12 euro boven de vraag, bij elke hoeveelheid. Zij is niet de prijs die kopers willen betalen.</a:t>
            </a:r>
          </a:p>
          <a:p xmlns:a="http://schemas.openxmlformats.org/drawingml/2006/main">
            <a:r>
              <a:rPr sz="1400"/>
              <a:t/>
            </a:r>
          </a:p>
          <a:p xmlns:a="http://schemas.openxmlformats.org/drawingml/2006/main">
            <a:r>
              <a:rPr sz="1400"/>
              <a:t>Misvatting: Maatschappelijke baten zijn privaat plus extern, niet alleen extern.</a:t>
            </a:r>
          </a:p>
          <a:p xmlns:a="http://schemas.openxmlformats.org/drawingml/2006/main">
            <a:r>
              <a:rPr sz="1400"/>
              <a:t/>
            </a:r>
          </a:p>
          <a:p xmlns:a="http://schemas.openxmlformats.org/drawingml/2006/main">
            <a:r>
              <a:rPr sz="1400"/>
              <a:t>Overgang: Bepaal tot welke hoeveelheid de extra baten de kosten dekken.</a:t>
            </a:r>
          </a:p>
          <a:p xmlns:a="http://schemas.openxmlformats.org/drawingml/2006/main">
            <a:r>
              <a:rPr sz="1400"/>
              <a:t/>
            </a:r>
          </a:p>
          <a:p xmlns:a="http://schemas.openxmlformats.org/drawingml/2006/main">
            <a:r>
              <a:rPr sz="1400"/>
              <a:t>Bron: Boek 4, books34-v3, gedrukte boekpagina 89.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stopt de winstgevende uitbreiding bij 48?</a:t>
            </a:r>
          </a:p>
          <a:p xmlns:a="http://schemas.openxmlformats.org/drawingml/2006/main">
            <a:r>
              <a:rPr sz="1400"/>
              <a:t/>
            </a:r>
          </a:p>
          <a:p xmlns:a="http://schemas.openxmlformats.org/drawingml/2006/main">
            <a:r>
              <a:rPr sz="1400"/>
              <a:t>Uitleg: De efficiënte hoeveelheid is 48. Tussen 36 en 48 zijn maatschappelijke baten groter dan marginale kosten. De arcering is de gemiste netto-opbrengst, begrensd door (36;26), (36;38) en (48;32). Basis 12 diensten per maand, hoogte 12 euro per dienst, oppervlakte 72 euro per maand. Boven 48 overtreffen de extra kosten de extra baten. Demonstreer aanwijzen van beide grenslijnen, begin- en eindhoeveelheid en daarna de driehoeksformule.</a:t>
            </a:r>
          </a:p>
          <a:p xmlns:a="http://schemas.openxmlformats.org/drawingml/2006/main">
            <a:r>
              <a:rPr sz="1400"/>
              <a:t/>
            </a:r>
          </a:p>
          <a:p xmlns:a="http://schemas.openxmlformats.org/drawingml/2006/main">
            <a:r>
              <a:rPr sz="1400"/>
              <a:t>Misvatting: Meer productie is niet onbeperkt beter. Gebruik de maatschappelijke-batenlijn, niet de private vraag, als bovengrens.</a:t>
            </a:r>
          </a:p>
          <a:p xmlns:a="http://schemas.openxmlformats.org/drawingml/2006/main">
            <a:r>
              <a:rPr sz="1400"/>
              <a:t/>
            </a:r>
          </a:p>
          <a:p xmlns:a="http://schemas.openxmlformats.org/drawingml/2006/main">
            <a:r>
              <a:rPr sz="1400"/>
              <a:t>Overgang: Laat zien hoe subsidie de private keuze kan veranderen.</a:t>
            </a:r>
          </a:p>
          <a:p xmlns:a="http://schemas.openxmlformats.org/drawingml/2006/main">
            <a:r>
              <a:rPr sz="1400"/>
              <a:t/>
            </a:r>
          </a:p>
          <a:p xmlns:a="http://schemas.openxmlformats.org/drawingml/2006/main">
            <a:r>
              <a:rPr sz="1400"/>
              <a:t>Bron: Boek 4, books34-v3, gedrukte boekpagina 89, 91, 93.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gebruik je bij de oorspronkelijke aanbodlijn?</a:t>
            </a:r>
          </a:p>
          <a:p xmlns:a="http://schemas.openxmlformats.org/drawingml/2006/main">
            <a:r>
              <a:rPr sz="1400"/>
              <a:t/>
            </a:r>
          </a:p>
          <a:p xmlns:a="http://schemas.openxmlformats.org/drawingml/2006/main">
            <a:r>
              <a:rPr sz="1400"/>
              <a:t>Uitleg: Haal §3.1.3 uit Boek 3 terug: producenten ontvangen de kopersbetaling plus subsidie. Invullen van vraag en aanbod in die prijsrelatie geeft de hoeveelheid. Bereken vervolgens Pc in de oorspronkelijke vraag en Pp in het oorspronkelijke aanbod. Controle: 32−20=12. De hoeveelheid is hier toevallig dezelfde als Qe doordat s gelijk is aan het constante externe voordeel.</a:t>
            </a:r>
          </a:p>
          <a:p xmlns:a="http://schemas.openxmlformats.org/drawingml/2006/main">
            <a:r>
              <a:rPr sz="1400"/>
              <a:t/>
            </a:r>
          </a:p>
          <a:p xmlns:a="http://schemas.openxmlformats.org/drawingml/2006/main">
            <a:r>
              <a:rPr sz="1400"/>
              <a:t>Misvatting: Pp is ontvangst inclusief subsidie, geen winst.</a:t>
            </a:r>
          </a:p>
          <a:p xmlns:a="http://schemas.openxmlformats.org/drawingml/2006/main">
            <a:r>
              <a:rPr sz="1400"/>
              <a:t/>
            </a:r>
          </a:p>
          <a:p xmlns:a="http://schemas.openxmlformats.org/drawingml/2006/main">
            <a:r>
              <a:rPr sz="1400"/>
              <a:t>Overgang: Vertaal de subsidie ook naar de aanbodlijn in kopersprijzen.</a:t>
            </a:r>
          </a:p>
          <a:p xmlns:a="http://schemas.openxmlformats.org/drawingml/2006/main">
            <a:r>
              <a:rPr sz="1400"/>
              <a:t/>
            </a:r>
          </a:p>
          <a:p xmlns:a="http://schemas.openxmlformats.org/drawingml/2006/main">
            <a:r>
              <a:rPr sz="1400"/>
              <a:t>Bron: Boek 4, books34-v3, gedrukte boekpagina 90, 92.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houden we gelijk bij de horizontale verschuivingspijl?</a:t>
            </a:r>
          </a:p>
          <a:p xmlns:a="http://schemas.openxmlformats.org/drawingml/2006/main">
            <a:r>
              <a:rPr sz="1400"/>
              <a:t/>
            </a:r>
          </a:p>
          <a:p xmlns:a="http://schemas.openxmlformats.org/drawingml/2006/main">
            <a:r>
              <a:rPr sz="1400"/>
              <a:t>Uitleg: Subsidie verlaagt de benodigde kopersbetaling. Bij Pc=12 levert de oorspronkelijke aanbodfunctie Q=8; A−s levert Q=32. De horizontale pijl loopt dus van (8;12) naar (32;12). De neerwaartse afstand bij eenzelfde Q is 12 euro. Het negatieve intercept van A−s is een algebraïsche uitkomst, geen waargenomen negatieve marktprijs; de grafiek toont het niet-negatieve prijsbereik vanaf Q=8. De oorspronkelijke A blijft de kostenlijn.</a:t>
            </a:r>
          </a:p>
          <a:p xmlns:a="http://schemas.openxmlformats.org/drawingml/2006/main">
            <a:r>
              <a:rPr sz="1400"/>
              <a:t/>
            </a:r>
          </a:p>
          <a:p xmlns:a="http://schemas.openxmlformats.org/drawingml/2006/main">
            <a:r>
              <a:rPr sz="1400"/>
              <a:t>Misvatting: Een verschuiving van aanbod is iets anders dan bewegen langs de vraag.</a:t>
            </a:r>
          </a:p>
          <a:p xmlns:a="http://schemas.openxmlformats.org/drawingml/2006/main">
            <a:r>
              <a:rPr sz="1400"/>
              <a:t/>
            </a:r>
          </a:p>
          <a:p xmlns:a="http://schemas.openxmlformats.org/drawingml/2006/main">
            <a:r>
              <a:rPr sz="1400"/>
              <a:t>Overgang: Lees nu beide prijzen bij dezelfde nieuwe hoeveelheid.</a:t>
            </a:r>
          </a:p>
          <a:p xmlns:a="http://schemas.openxmlformats.org/drawingml/2006/main">
            <a:r>
              <a:rPr sz="1400"/>
              <a:t/>
            </a:r>
          </a:p>
          <a:p xmlns:a="http://schemas.openxmlformats.org/drawingml/2006/main">
            <a:r>
              <a:rPr sz="1400"/>
              <a:t>Bron: Boek 4, books34-v3, gedrukte boekpagina 90.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12 × (48 − 36) geen juiste begrotingsrekening?</a:t>
            </a:r>
          </a:p>
          <a:p xmlns:a="http://schemas.openxmlformats.org/drawingml/2006/main">
            <a:r>
              <a:rPr sz="1400"/>
              <a:t/>
            </a:r>
          </a:p>
          <a:p xmlns:a="http://schemas.openxmlformats.org/drawingml/2006/main">
            <a:r>
              <a:rPr sz="1400"/>
              <a:t>Uitleg: Het snijpunt van V met A−s is (48;20). Lees bij dezelfde Q op de oorspronkelijke A de ontvangst 32. De verticale oranje wig is 12. Reken de uitgaven over alle 48 uitgevoerde diensten, niet alleen de twaalf extra. Totaal extern voordeel is óók 12×48, maar berust op een andere bronpost.</a:t>
            </a:r>
          </a:p>
          <a:p xmlns:a="http://schemas.openxmlformats.org/drawingml/2006/main">
            <a:r>
              <a:rPr sz="1400"/>
              <a:t/>
            </a:r>
          </a:p>
          <a:p xmlns:a="http://schemas.openxmlformats.org/drawingml/2006/main">
            <a:r>
              <a:rPr sz="1400"/>
              <a:t>Misvatting: Dezelfde waarde van subsidie en externe baten maakt die posten niet hetzelfde.</a:t>
            </a:r>
          </a:p>
          <a:p xmlns:a="http://schemas.openxmlformats.org/drawingml/2006/main">
            <a:r>
              <a:rPr sz="1400"/>
              <a:t/>
            </a:r>
          </a:p>
          <a:p xmlns:a="http://schemas.openxmlformats.org/drawingml/2006/main">
            <a:r>
              <a:rPr sz="1400"/>
              <a:t>Overgang: Bereken de voordelen van kopers en aanbieders.</a:t>
            </a:r>
          </a:p>
          <a:p xmlns:a="http://schemas.openxmlformats.org/drawingml/2006/main">
            <a:r>
              <a:rPr sz="1400"/>
              <a:t/>
            </a:r>
          </a:p>
          <a:p xmlns:a="http://schemas.openxmlformats.org/drawingml/2006/main">
            <a:r>
              <a:rPr sz="1400"/>
              <a:t>Bron: Boek 4, books34-v3, gedrukte boekpagina 90, 92.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bedragen bepalen de hoogte van de PS-driehoek?</a:t>
            </a:r>
          </a:p>
          <a:p xmlns:a="http://schemas.openxmlformats.org/drawingml/2006/main">
            <a:r>
              <a:rPr sz="1400"/>
              <a:t/>
            </a:r>
          </a:p>
          <a:p xmlns:a="http://schemas.openxmlformats.org/drawingml/2006/main">
            <a:r>
              <a:rPr sz="1400"/>
              <a:t>Uitleg: Herhaal de driehoeksoppervlakte uit Boek 3 §3.1.3. CS gebruikt de intercept 44 en kopersprijs. PS gebruikt de oorspronkelijke aanbodintercept 8 en producentenontvangst inclusief subsidie. Laat de hoogte telkens als verschil benoemen. De 576 euro PS bevat de overheidsoverdracht al, daarom moet die uitgave straks uit de maatschappelijke rekening.</a:t>
            </a:r>
          </a:p>
          <a:p xmlns:a="http://schemas.openxmlformats.org/drawingml/2006/main">
            <a:r>
              <a:rPr sz="1400"/>
              <a:t/>
            </a:r>
          </a:p>
          <a:p xmlns:a="http://schemas.openxmlformats.org/drawingml/2006/main">
            <a:r>
              <a:rPr sz="1400"/>
              <a:t>Misvatting: PS berekenen met Pc vergeet de subsidie die aanbieders ontvangen.</a:t>
            </a:r>
          </a:p>
          <a:p xmlns:a="http://schemas.openxmlformats.org/drawingml/2006/main">
            <a:r>
              <a:rPr sz="1400"/>
              <a:t/>
            </a:r>
          </a:p>
          <a:p xmlns:a="http://schemas.openxmlformats.org/drawingml/2006/main">
            <a:r>
              <a:rPr sz="1400"/>
              <a:t>Overgang: Breid de twee marktvoordelen uit met overheid en derden.</a:t>
            </a:r>
          </a:p>
          <a:p xmlns:a="http://schemas.openxmlformats.org/drawingml/2006/main">
            <a:r>
              <a:rPr sz="1400"/>
              <a:t/>
            </a:r>
          </a:p>
          <a:p xmlns:a="http://schemas.openxmlformats.org/drawingml/2006/main">
            <a:r>
              <a:rPr sz="1400"/>
              <a:t>Bron: Boek 4, books34-v3, gedrukte boekpagina 91, 93.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posten ontbreken als je alleen CS en PS optelt?</a:t>
            </a:r>
          </a:p>
          <a:p xmlns:a="http://schemas.openxmlformats.org/drawingml/2006/main">
            <a:r>
              <a:rPr sz="1400"/>
              <a:t/>
            </a:r>
          </a:p>
          <a:p xmlns:a="http://schemas.openxmlformats.org/drawingml/2006/main">
            <a:r>
              <a:rPr sz="1400"/>
              <a:t>Uitleg: Zonder: 324+324+432=1080. Met: 576+576−576+576=1152. De uitgaven zijn een overdracht die in PS zit en bij de overheid ontbreekt. De externe baten zijn echt derdenvoordeel. De verbetering is 72, overeenkomstig de verliesdriehoek, niet de hele 576 subsidie of de 144 extra externe baten. Die extra diensten hebben ook private baten en productiekosten.</a:t>
            </a:r>
          </a:p>
          <a:p xmlns:a="http://schemas.openxmlformats.org/drawingml/2006/main">
            <a:r>
              <a:rPr sz="1400"/>
              <a:t/>
            </a:r>
          </a:p>
          <a:p xmlns:a="http://schemas.openxmlformats.org/drawingml/2006/main">
            <a:r>
              <a:rPr sz="1400"/>
              <a:t>Misvatting: Subsidie betalen creëert niet automatisch een even groot echt voordeel.</a:t>
            </a:r>
          </a:p>
          <a:p xmlns:a="http://schemas.openxmlformats.org/drawingml/2006/main">
            <a:r>
              <a:rPr sz="1400"/>
              <a:t/>
            </a:r>
          </a:p>
          <a:p xmlns:a="http://schemas.openxmlformats.org/drawingml/2006/main">
            <a:r>
              <a:rPr sz="1400"/>
              <a:t>Overgang: Controleer dat met een lagere subsidie.</a:t>
            </a:r>
          </a:p>
          <a:p xmlns:a="http://schemas.openxmlformats.org/drawingml/2006/main">
            <a:r>
              <a:rPr sz="1400"/>
              <a:t/>
            </a:r>
          </a:p>
          <a:p xmlns:a="http://schemas.openxmlformats.org/drawingml/2006/main">
            <a:r>
              <a:rPr sz="1400"/>
              <a:t>Bron: Boek 4, books34-v3, gedrukte boekpagina 91, 93.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 je de twee posten nu niet wegstrepen?</a:t>
            </a:r>
          </a:p>
          <a:p xmlns:a="http://schemas.openxmlformats.org/drawingml/2006/main">
            <a:r>
              <a:rPr sz="1400"/>
              <a:t/>
            </a:r>
          </a:p>
          <a:p xmlns:a="http://schemas.openxmlformats.org/drawingml/2006/main">
            <a:r>
              <a:rPr sz="1400"/>
              <a:t>Uitleg: Verander alleen de subsidie, niet de externe bate. Q=42; Pc=23, Pp=29. CS=½×42×(44−23)=441, PS=½×42×(29−8)=441. Uitgaven 252 en baten 504 vallen niet weg. Maatschappelijk surplus 1134 is 54 hoger dan zonder steun (1080), maar 18 lager dan bij s=12 (1152). Dit oefent het onderscheid vóór basisopgave 40 met eigen cijfers.</a:t>
            </a:r>
          </a:p>
          <a:p xmlns:a="http://schemas.openxmlformats.org/drawingml/2006/main">
            <a:r>
              <a:rPr sz="1400"/>
              <a:t/>
            </a:r>
          </a:p>
          <a:p xmlns:a="http://schemas.openxmlformats.org/drawingml/2006/main">
            <a:r>
              <a:rPr sz="1400"/>
              <a:t>Misvatting: De subsidiehoogte bepaalt de uitgaven, de bronwaardering bepaalt de externe baten.</a:t>
            </a:r>
          </a:p>
          <a:p xmlns:a="http://schemas.openxmlformats.org/drawingml/2006/main">
            <a:r>
              <a:rPr sz="1400"/>
              <a:t/>
            </a:r>
          </a:p>
          <a:p xmlns:a="http://schemas.openxmlformats.org/drawingml/2006/main">
            <a:r>
              <a:rPr sz="1400"/>
              <a:t>Overgang: Bekijk ook hoe twee batencomponenten tegelijk kunnen veranderen.</a:t>
            </a:r>
          </a:p>
          <a:p xmlns:a="http://schemas.openxmlformats.org/drawingml/2006/main">
            <a:r>
              <a:rPr sz="1400"/>
              <a:t/>
            </a:r>
          </a:p>
          <a:p xmlns:a="http://schemas.openxmlformats.org/drawingml/2006/main">
            <a:r>
              <a:rPr sz="1400"/>
              <a:t>Bron: Boek 4, books34-v3, gedrukte boekpagina 90–93.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veranderingen tel je bij elkaar op?</a:t>
            </a:r>
          </a:p>
          <a:p xmlns:a="http://schemas.openxmlformats.org/drawingml/2006/main">
            <a:r>
              <a:rPr sz="1400"/>
              <a:t/>
            </a:r>
          </a:p>
          <a:p xmlns:a="http://schemas.openxmlformats.org/drawingml/2006/main">
            <a:r>
              <a:rPr sz="1400"/>
              <a:t>Uitleg: Aparte korte begripscontrole met zelfgeschreven cijfers. Houd Q gelijk en kosten constant. Laat leerlingen beide componenten apart benoemen en samenvoegen. Deze vraag bereidt de bewerking van opgave 41 voor zonder die opgave te beantwoorden.</a:t>
            </a:r>
          </a:p>
          <a:p xmlns:a="http://schemas.openxmlformats.org/drawingml/2006/main">
            <a:r>
              <a:rPr sz="1400"/>
              <a:t/>
            </a:r>
          </a:p>
          <a:p xmlns:a="http://schemas.openxmlformats.org/drawingml/2006/main">
            <a:r>
              <a:rPr sz="1400"/>
              <a:t>Misvatting: Een hoger privaat voordeel garandeert geen hoger gezamenlijk voordeel.</a:t>
            </a:r>
          </a:p>
          <a:p xmlns:a="http://schemas.openxmlformats.org/drawingml/2006/main">
            <a:r>
              <a:rPr sz="1400"/>
              <a:t/>
            </a:r>
          </a:p>
          <a:p xmlns:a="http://schemas.openxmlformats.org/drawingml/2006/main">
            <a:r>
              <a:rPr sz="1400"/>
              <a:t>Overgang: Onthul pas na de leerlingreacties de berekening.</a:t>
            </a:r>
          </a:p>
          <a:p xmlns:a="http://schemas.openxmlformats.org/drawingml/2006/main">
            <a:r>
              <a:rPr sz="1400"/>
              <a:t/>
            </a:r>
          </a:p>
          <a:p xmlns:a="http://schemas.openxmlformats.org/drawingml/2006/main">
            <a:r>
              <a:rPr sz="1400"/>
              <a:t>Bron: Boek 4, books34-v3, gedrukte boekpagina 89, 95.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hielden we gelijk bij deze optelsom?</a:t>
            </a:r>
          </a:p>
          <a:p xmlns:a="http://schemas.openxmlformats.org/drawingml/2006/main">
            <a:r>
              <a:rPr sz="1400"/>
              <a:t/>
            </a:r>
          </a:p>
          <a:p xmlns:a="http://schemas.openxmlformats.org/drawingml/2006/main">
            <a:r>
              <a:rPr sz="1400"/>
              <a:t>Uitleg: De maatschappelijke baten zijn de som van de twee afzonderlijke componenten. De daling voor derden is groter dan de stijging bij kopers. Dit is een vergelijking bij dezelfde hoeveelheid, geen berekening van een nieuw marktevenwicht. Laat de leerlingen nu start 38 opnieuw beantwoorden met de definitie.</a:t>
            </a:r>
          </a:p>
          <a:p xmlns:a="http://schemas.openxmlformats.org/drawingml/2006/main">
            <a:r>
              <a:rPr sz="1400"/>
              <a:t/>
            </a:r>
          </a:p>
          <a:p xmlns:a="http://schemas.openxmlformats.org/drawingml/2006/main">
            <a:r>
              <a:rPr sz="1400"/>
              <a:t>Misvatting: Bedragen per extra dienst mag je niet zonder Q als maandtotalen beschrijven.</a:t>
            </a:r>
          </a:p>
          <a:p xmlns:a="http://schemas.openxmlformats.org/drawingml/2006/main">
            <a:r>
              <a:rPr sz="1400"/>
              <a:t/>
            </a:r>
          </a:p>
          <a:p xmlns:a="http://schemas.openxmlformats.org/drawingml/2006/main">
            <a:r>
              <a:rPr sz="1400"/>
              <a:t>Overgang: Keer terug naar de startitems en begin daarna het basiswerk.</a:t>
            </a:r>
          </a:p>
          <a:p xmlns:a="http://schemas.openxmlformats.org/drawingml/2006/main">
            <a:r>
              <a:rPr sz="1400"/>
              <a:t/>
            </a:r>
          </a:p>
          <a:p xmlns:a="http://schemas.openxmlformats.org/drawingml/2006/main">
            <a:r>
              <a:rPr sz="1400"/>
              <a:t>Bron: Boek 4, books34-v3, gedrukte boekpagina 89, 95.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Uitlegvoorbeeld — niet uit het boek. Dakgroen en alle bijbehorende gegevens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waar helpt de theorie?</a:t>
            </a:r>
          </a:p>
          <a:p xmlns:a="http://schemas.openxmlformats.org/drawingml/2006/main">
            <a:r>
              <a:rPr sz="1400"/>
              <a:t/>
            </a:r>
          </a:p>
          <a:p xmlns:a="http://schemas.openxmlformats.org/drawingml/2006/main">
            <a:r>
              <a:rPr sz="1400"/>
              <a:t>Uitleg: Laat dit overzicht staan tijdens Zelfstandig werken. Start 37–38 staat op gedrukte boekpagina 94 (hoofdstukpagina 42). Opgave 37 herhaalt de subsidiewig uit Boek 3 §3.1.3, boek p.23–26: Pp = Pc + s, invullen in beide oorspronkelijke functies en uitgaven over alle verkopen. Geef bij vastlopen deze procedure als hint. Bij 38 is het positieve effect nieuw: laat eerst de definitie en het onderscheid tussen koper, aanbieder en derden op p.88 lezen. Dit is ondersteunde verkenning, geen toets van nieuwe beheersing. Keer na de uitleg en vóór basiswerk terug naar beide startitems, laat leerlingen hun antwoord verbeteren en bespreek de bron voor hun keuze. Startantwoorden uitsluitend voor die nabespreking: 37 Q=10 stuks per dag, Pc=€10, Pp=€14, uitgaven €40 per dag; 38 onbetaald voordeel voor andere buurtbewoners is extern, eigen leren is privaat en lesgeld is een marktbetaling. Basis 39 p.94, 40 p.95; zelfstandig 41 p.95 en 42 p.96; doel 43 p.97. Huiswerk 39–43 maken en nakijken. Bonus 44 en herhaling 45 p.98 zijn extra. Docenteninformatie reserveert voorlopig twee lessen van 55 minuten plus mogelijke uitloop. Volledige tijdsfit en leerlingbeheersing zijn niet gemeten.</a:t>
            </a:r>
          </a:p>
          <a:p xmlns:a="http://schemas.openxmlformats.org/drawingml/2006/main">
            <a:r>
              <a:rPr sz="1400"/>
              <a:t/>
            </a:r>
          </a:p>
          <a:p xmlns:a="http://schemas.openxmlformats.org/drawingml/2006/main">
            <a:r>
              <a:rPr sz="1400"/>
              <a:t>Misvatting: Hoofdstukpagina 42 is boekpagina 94. Positief extern voordeel is bij de start nog geen veronderstelde voorkennis.</a:t>
            </a:r>
          </a:p>
          <a:p xmlns:a="http://schemas.openxmlformats.org/drawingml/2006/main">
            <a:r>
              <a:rPr sz="1400"/>
              <a:t/>
            </a:r>
          </a:p>
          <a:p xmlns:a="http://schemas.openxmlformats.org/drawingml/2006/main">
            <a:r>
              <a:rPr sz="1400"/>
              <a:t>Overgang: Ga verder zodra de klas klaar is voor de volgende fase.</a:t>
            </a:r>
          </a:p>
          <a:p xmlns:a="http://schemas.openxmlformats.org/drawingml/2006/main">
            <a:r>
              <a:rPr sz="1400"/>
              <a:t/>
            </a:r>
          </a:p>
          <a:p xmlns:a="http://schemas.openxmlformats.org/drawingml/2006/main">
            <a:r>
              <a:rPr sz="1400"/>
              <a:t>Bron: Boek 4, books34-v3, gedrukte boekpagina 88–98.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zijn anders dan in het uitlegvoorbeeld?</a:t>
            </a:r>
          </a:p>
          <a:p xmlns:a="http://schemas.openxmlformats.org/drawingml/2006/main">
            <a:r>
              <a:rPr sz="1400"/>
              <a:t/>
            </a:r>
          </a:p>
          <a:p xmlns:a="http://schemas.openxmlformats.org/drawingml/2006/main">
            <a:r>
              <a:rPr sz="1400"/>
              <a:t>Uitleg: Dit is de echte bron bij doelopgave 43, geen vervolg van Dakgroen. De vraagintercept is nu 60, de aanbodintercept 20 en extern voordeel 10. Lees de context en eenheden. De volgende dia bevat alle overige bronvoorwaarden. Toon eerst alle brongegevens, figuur en deelvragen, nog geen antwoorden.</a:t>
            </a:r>
          </a:p>
          <a:p xmlns:a="http://schemas.openxmlformats.org/drawingml/2006/main">
            <a:r>
              <a:rPr sz="1400"/>
              <a:t/>
            </a:r>
          </a:p>
          <a:p xmlns:a="http://schemas.openxmlformats.org/drawingml/2006/main">
            <a:r>
              <a:rPr sz="1400"/>
              <a:t>Misvatting: Gebruik geen functies of uitkomsten uit Dakgroen.</a:t>
            </a:r>
          </a:p>
          <a:p xmlns:a="http://schemas.openxmlformats.org/drawingml/2006/main">
            <a:r>
              <a:rPr sz="1400"/>
              <a:t/>
            </a:r>
          </a:p>
          <a:p xmlns:a="http://schemas.openxmlformats.org/drawingml/2006/main">
            <a:r>
              <a:rPr sz="1400"/>
              <a:t>Overgang: Maak de bron volledig met de subsidie en aannames.</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Voor welke cursusplaatsen betaalt de overheid?</a:t>
            </a:r>
          </a:p>
          <a:p xmlns:a="http://schemas.openxmlformats.org/drawingml/2006/main">
            <a:r>
              <a:rPr sz="1400"/>
              <a:t/>
            </a:r>
          </a:p>
          <a:p xmlns:a="http://schemas.openxmlformats.org/drawingml/2006/main">
            <a:r>
              <a:rPr sz="1400"/>
              <a:t>Uitleg: Vervolg van de volledige bron. De subsidie gaat naar aanbieders voor elke gebruikte plaats. Concurrentie en het ontbreken van andere kosten/baten maken de getekende aanbodlijn geschikt voor de marginale maatschappelijke-kostenvergelijking. Deze voorwaarden begrenzen de beleidsconclusie.</a:t>
            </a:r>
          </a:p>
          <a:p xmlns:a="http://schemas.openxmlformats.org/drawingml/2006/main">
            <a:r>
              <a:rPr sz="1400"/>
              <a:t/>
            </a:r>
          </a:p>
          <a:p xmlns:a="http://schemas.openxmlformats.org/drawingml/2006/main">
            <a:r>
              <a:rPr sz="1400"/>
              <a:t>Misvatting: Andere kosten ontbreken in dit model, niet automatisch in de werkelijkheid.</a:t>
            </a:r>
          </a:p>
          <a:p xmlns:a="http://schemas.openxmlformats.org/drawingml/2006/main">
            <a:r>
              <a:rPr sz="1400"/>
              <a:t/>
            </a:r>
          </a:p>
          <a:p xmlns:a="http://schemas.openxmlformats.org/drawingml/2006/main">
            <a:r>
              <a:rPr sz="1400"/>
              <a:t>Overgang: Toon de oorspronkelijke basisgrafiek.</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beschrijft wat de koper zelf voor een extra plaats over heeft?</a:t>
            </a:r>
          </a:p>
          <a:p xmlns:a="http://schemas.openxmlformats.org/drawingml/2006/main">
            <a:r>
              <a:rPr sz="1400"/>
              <a:t/>
            </a:r>
          </a:p>
          <a:p xmlns:a="http://schemas.openxmlformats.org/drawingml/2006/main">
            <a:r>
              <a:rPr sz="1400"/>
              <a:t>Uitleg: Bewerkbare reconstructie van Figuur 28 met hetzelfde domein 0–100 en dezelfde schaal 0–70. Vraag 60−0,5Q, maatschappelijke baten 70−0,5Q, oorspronkelijk aanbod 20+0,5Q. Er zijn geen uitkomsten, hulplijnen of verliesarcering toegevoegd in deze vragensectie. De subsidie staat los van de gegeven 10 euro externe bate.</a:t>
            </a:r>
          </a:p>
          <a:p xmlns:a="http://schemas.openxmlformats.org/drawingml/2006/main">
            <a:r>
              <a:rPr sz="1400"/>
              <a:t/>
            </a:r>
          </a:p>
          <a:p xmlns:a="http://schemas.openxmlformats.org/drawingml/2006/main">
            <a:r>
              <a:rPr sz="1400"/>
              <a:t>Misvatting: De maatschappelijke-batenlijn is niet een hogere marktprijs.</a:t>
            </a:r>
          </a:p>
          <a:p xmlns:a="http://schemas.openxmlformats.org/drawingml/2006/main">
            <a:r>
              <a:rPr sz="1400"/>
              <a:t/>
            </a:r>
          </a:p>
          <a:p xmlns:a="http://schemas.openxmlformats.org/drawingml/2006/main">
            <a:r>
              <a:rPr sz="1400"/>
              <a:t>Overgang: Lees nu alle deelvragen voordat antwoorden volgen.</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moet je in twee situaties berekenen?</a:t>
            </a:r>
          </a:p>
          <a:p xmlns:a="http://schemas.openxmlformats.org/drawingml/2006/main">
            <a:r>
              <a:rPr sz="1400"/>
              <a:t/>
            </a:r>
          </a:p>
          <a:p xmlns:a="http://schemas.openxmlformats.org/drawingml/2006/main">
            <a:r>
              <a:rPr sz="1400"/>
              <a:t>Uitleg: Volledige deelvragen a–c uit opgave 43, inclusief de gevraagde vergelijking vóór en na. Geef nog geen berekeningen of eindantwoorden. Leerlingen moeten de doelopgave al zelfstandig hebben geprobeerd.</a:t>
            </a:r>
          </a:p>
          <a:p xmlns:a="http://schemas.openxmlformats.org/drawingml/2006/main">
            <a:r>
              <a:rPr sz="1400"/>
              <a:t/>
            </a:r>
          </a:p>
          <a:p xmlns:a="http://schemas.openxmlformats.org/drawingml/2006/main">
            <a:r>
              <a:rPr sz="1400"/>
              <a:t>Misvatting: Vraag c vraagt zowel afzonderlijke surplussen als maatschappelijk surplus.</a:t>
            </a:r>
          </a:p>
          <a:p xmlns:a="http://schemas.openxmlformats.org/drawingml/2006/main">
            <a:r>
              <a:rPr sz="1400"/>
              <a:t/>
            </a:r>
          </a:p>
          <a:p xmlns:a="http://schemas.openxmlformats.org/drawingml/2006/main">
            <a:r>
              <a:rPr sz="1400"/>
              <a:t>Overgang: Toon ook de grafische en verklarende deelvragen.</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situaties vergelijk je bij e?</a:t>
            </a:r>
          </a:p>
          <a:p xmlns:a="http://schemas.openxmlformats.org/drawingml/2006/main">
            <a:r>
              <a:rPr sz="1400"/>
              <a:t/>
            </a:r>
          </a:p>
          <a:p xmlns:a="http://schemas.openxmlformats.org/drawingml/2006/main">
            <a:r>
              <a:rPr sz="1400"/>
              <a:t>Uitleg: Dit voltooit alle brongegevens en alle vijf subvragen zonder antwoorden. Bij d hoort de basisgrafiek van twee dia’s terug. Bij e moeten leerlingen de andere maatschappelijke grens verklaren. Pas op de volgende dia start de stapsgewijze uitwerking.</a:t>
            </a:r>
          </a:p>
          <a:p xmlns:a="http://schemas.openxmlformats.org/drawingml/2006/main">
            <a:r>
              <a:rPr sz="1400"/>
              <a:t/>
            </a:r>
          </a:p>
          <a:p xmlns:a="http://schemas.openxmlformats.org/drawingml/2006/main">
            <a:r>
              <a:rPr sz="1400"/>
              <a:t>Misvatting: Dezelfde subsidie zonder externe baten is een andere welvaartsvergelijking, niet een ander subsidiebedrag.</a:t>
            </a:r>
          </a:p>
          <a:p xmlns:a="http://schemas.openxmlformats.org/drawingml/2006/main">
            <a:r>
              <a:rPr sz="1400"/>
              <a:t/>
            </a:r>
          </a:p>
          <a:p xmlns:a="http://schemas.openxmlformats.org/drawingml/2006/main">
            <a:r>
              <a:rPr sz="1400"/>
              <a:t>Overgang: Start de feedback met het onderscheid tussen eigen en extern voordeel.</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de oorspronkelijke prijs met de andere functie?</a:t>
            </a:r>
          </a:p>
          <a:p xmlns:a="http://schemas.openxmlformats.org/drawingml/2006/main">
            <a:r>
              <a:rPr sz="1400"/>
              <a:t/>
            </a:r>
          </a:p>
          <a:p xmlns:a="http://schemas.openxmlformats.org/drawingml/2006/main">
            <a:r>
              <a:rPr sz="1400"/>
              <a:t>Uitleg: Het eigen voordeel staat in de vraag, het bijkomende derdenvoordeel ontbreekt uit de private marktvergelijking. Gelijkstellen geeft 40=Q; controle via aanbod: 20+0,5×40=40 euro. Zonder subsidie zijn Pc en Pp gelijk. Beide inhoudelijke en beide numerieke onderdelen van a zijn nodig.</a:t>
            </a:r>
          </a:p>
          <a:p xmlns:a="http://schemas.openxmlformats.org/drawingml/2006/main">
            <a:r>
              <a:rPr sz="1400"/>
              <a:t/>
            </a:r>
          </a:p>
          <a:p xmlns:a="http://schemas.openxmlformats.org/drawingml/2006/main">
            <a:r>
              <a:rPr sz="1400"/>
              <a:t>Misvatting: De 10 euro externe bate tel je niet bij de prijs op om P0 te vinden.</a:t>
            </a:r>
          </a:p>
          <a:p xmlns:a="http://schemas.openxmlformats.org/drawingml/2006/main">
            <a:r>
              <a:rPr sz="1400"/>
              <a:t/>
            </a:r>
          </a:p>
          <a:p xmlns:a="http://schemas.openxmlformats.org/drawingml/2006/main">
            <a:r>
              <a:rPr sz="1400"/>
              <a:t>Overgang: Pas de subsidiewig toe.</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verbindt de twee gevonden prijzen?</a:t>
            </a:r>
          </a:p>
          <a:p xmlns:a="http://schemas.openxmlformats.org/drawingml/2006/main">
            <a:r>
              <a:rPr sz="1400"/>
              <a:t/>
            </a:r>
          </a:p>
          <a:p xmlns:a="http://schemas.openxmlformats.org/drawingml/2006/main">
            <a:r>
              <a:rPr sz="1400"/>
              <a:t>Uitleg: Gelijkstellen met de omgekeerde wig geeft 50=Q. Pc op vraag is 35; Pp op oorspronkelijk aanbod is 45. Controle 45−35=10 euro subsidie. De producentenontvangst is niet de winst. Dit is dezelfde methode als in het uitlegvoorbeeld maar met de echte bronfuncties.</a:t>
            </a:r>
          </a:p>
          <a:p xmlns:a="http://schemas.openxmlformats.org/drawingml/2006/main">
            <a:r>
              <a:rPr sz="1400"/>
              <a:t/>
            </a:r>
          </a:p>
          <a:p xmlns:a="http://schemas.openxmlformats.org/drawingml/2006/main">
            <a:r>
              <a:rPr sz="1400"/>
              <a:t>Misvatting: De subsidie wordt niet tweemaal toegevoegd.</a:t>
            </a:r>
          </a:p>
          <a:p xmlns:a="http://schemas.openxmlformats.org/drawingml/2006/main">
            <a:r>
              <a:rPr sz="1400"/>
              <a:t/>
            </a:r>
          </a:p>
          <a:p xmlns:a="http://schemas.openxmlformats.org/drawingml/2006/main">
            <a:r>
              <a:rPr sz="1400"/>
              <a:t>Overgang: Reken de uitgaven over alle gebruikte plaatsen.</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plaatsen ontbreken als je alleen de toename gebruikt?</a:t>
            </a:r>
          </a:p>
          <a:p xmlns:a="http://schemas.openxmlformats.org/drawingml/2006/main">
            <a:r>
              <a:rPr sz="1400"/>
              <a:t/>
            </a:r>
          </a:p>
          <a:p xmlns:a="http://schemas.openxmlformats.org/drawingml/2006/main">
            <a:r>
              <a:rPr sz="1400"/>
              <a:t>Uitleg: Iedere gebruikte plaats ontvangt subsidie. De berekening 10×(50−40)=100 vergeet 400 euro subsidie op de oorspronkelijke veertig plaatsen. De externe baten zijn afzonderlijk ook 10×50, omdat de bron 10 euro echt voordeel per deelnemer waardeert.</a:t>
            </a:r>
          </a:p>
          <a:p xmlns:a="http://schemas.openxmlformats.org/drawingml/2006/main">
            <a:r>
              <a:rPr sz="1400"/>
              <a:t/>
            </a:r>
          </a:p>
          <a:p xmlns:a="http://schemas.openxmlformats.org/drawingml/2006/main">
            <a:r>
              <a:rPr sz="1400"/>
              <a:t>Misvatting: 500 euro uitgaven is geen berekend welvaartsverlies.</a:t>
            </a:r>
          </a:p>
          <a:p xmlns:a="http://schemas.openxmlformats.org/drawingml/2006/main">
            <a:r>
              <a:rPr sz="1400"/>
              <a:t/>
            </a:r>
          </a:p>
          <a:p xmlns:a="http://schemas.openxmlformats.org/drawingml/2006/main">
            <a:r>
              <a:rPr sz="1400"/>
              <a:t>Overgang: Bereken CS en PS vóór en na.</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25 euro hoogte vandaan bij elk van de twee nieuwe driehoeken?</a:t>
            </a:r>
          </a:p>
          <a:p xmlns:a="http://schemas.openxmlformats.org/drawingml/2006/main">
            <a:r>
              <a:rPr sz="1400"/>
              <a:t/>
            </a:r>
          </a:p>
          <a:p xmlns:a="http://schemas.openxmlformats.org/drawingml/2006/main">
            <a:r>
              <a:rPr sz="1400"/>
              <a:t>Uitleg: Voor CS is de hoogte oorspronkelijk 60−40=20 en daarna 60−35=25. Voor PS is die 40−20=20 en daarna 45−20=25. Basis respectievelijk 40 en 50 deelnemers per maand. De oppervlakten hebben eenheid euro per maand. De gelijkheid van CS en PS volgt hier uit de symmetrische hellingen, niet uit een algemene regel.</a:t>
            </a:r>
          </a:p>
          <a:p xmlns:a="http://schemas.openxmlformats.org/drawingml/2006/main">
            <a:r>
              <a:rPr sz="1400"/>
              <a:t/>
            </a:r>
          </a:p>
          <a:p xmlns:a="http://schemas.openxmlformats.org/drawingml/2006/main">
            <a:r>
              <a:rPr sz="1400"/>
              <a:t>Misvatting: Een prijsniveau is niet hetzelfde als een prijsverschil.</a:t>
            </a:r>
          </a:p>
          <a:p xmlns:a="http://schemas.openxmlformats.org/drawingml/2006/main">
            <a:r>
              <a:rPr sz="1400"/>
              <a:t/>
            </a:r>
          </a:p>
          <a:p xmlns:a="http://schemas.openxmlformats.org/drawingml/2006/main">
            <a:r>
              <a:rPr sz="1400"/>
              <a:t>Overgang: Tel overheid en derden mee in de maatschappelijke vergelijking.</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hebben uitgaven en externe baten verschillende tekens?</a:t>
            </a:r>
          </a:p>
          <a:p xmlns:a="http://schemas.openxmlformats.org/drawingml/2006/main">
            <a:r>
              <a:rPr sz="1400"/>
              <a:t/>
            </a:r>
          </a:p>
          <a:p xmlns:a="http://schemas.openxmlformats.org/drawingml/2006/main">
            <a:r>
              <a:rPr sz="1400"/>
              <a:t>Uitleg: Vóór: 400+400+400=1200. Na: 625+625−500+500=1250. De uitgaven trek je af omdat de overheid de betaling doet die al in de voordelen van marktdeelnemers zit. Externe baten tel je op omdat die nog niet in CS of PS zitten. De volledige rekening bewijst een verbetering van 50.</a:t>
            </a:r>
          </a:p>
          <a:p xmlns:a="http://schemas.openxmlformats.org/drawingml/2006/main">
            <a:r>
              <a:rPr sz="1400"/>
              <a:t/>
            </a:r>
          </a:p>
          <a:p xmlns:a="http://schemas.openxmlformats.org/drawingml/2006/main">
            <a:r>
              <a:rPr sz="1400"/>
              <a:t>Misvatting: De twee posten zijn hier numeriek gelijk door s=extern voordeel; dat is geen algemene wegstreepregel.</a:t>
            </a:r>
          </a:p>
          <a:p xmlns:a="http://schemas.openxmlformats.org/drawingml/2006/main">
            <a:r>
              <a:rPr sz="1400"/>
              <a:t/>
            </a:r>
          </a:p>
          <a:p xmlns:a="http://schemas.openxmlformats.org/drawingml/2006/main">
            <a:r>
              <a:rPr sz="1400"/>
              <a:t>Overgang: Controleer de verbetering met de efficiënte hoeveelheid en verliesdriehoek.</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lijnen vormen de schuine zijden van het verliesgebied?</a:t>
            </a:r>
          </a:p>
          <a:p xmlns:a="http://schemas.openxmlformats.org/drawingml/2006/main">
            <a:r>
              <a:rPr sz="1400"/>
              <a:t/>
            </a:r>
          </a:p>
          <a:p xmlns:a="http://schemas.openxmlformats.org/drawingml/2006/main">
            <a:r>
              <a:rPr sz="1400"/>
              <a:t>Uitleg: Maatschappelijke baten zijn 60−0,5Q+10=70−0,5Q. Gelijkstellen aan MK=20+0,5Q geeft Qe=50. Het oorspronkelijke verlies heeft hoekpunten (40;40), (40;50), (50;45). De oorspronkelijke hoeveelheid is 40, de efficiënte 50. Basis tien deelnemers per maand en hoogte tien euro per deelnemer geven vijftig euro per maand. Die gemiste baten verdwijnen bij de gegeven subsidie.</a:t>
            </a:r>
          </a:p>
          <a:p xmlns:a="http://schemas.openxmlformats.org/drawingml/2006/main">
            <a:r>
              <a:rPr sz="1400"/>
              <a:t/>
            </a:r>
          </a:p>
          <a:p xmlns:a="http://schemas.openxmlformats.org/drawingml/2006/main">
            <a:r>
              <a:rPr sz="1400"/>
              <a:t>Misvatting: Het hele gebied tussen private en maatschappelijke baten is niet het welvaartsverlies.</a:t>
            </a:r>
          </a:p>
          <a:p xmlns:a="http://schemas.openxmlformats.org/drawingml/2006/main">
            <a:r>
              <a:rPr sz="1400"/>
              <a:t/>
            </a:r>
          </a:p>
          <a:p xmlns:a="http://schemas.openxmlformats.org/drawingml/2006/main">
            <a:r>
              <a:rPr sz="1400"/>
              <a:t>Overgang: Verklaar waarom hetzelfde instrument zonder derdenvoordeel anders uitpakt.</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bronaanname verandert het teken van de welvaartsconclusie?</a:t>
            </a:r>
          </a:p>
          <a:p xmlns:a="http://schemas.openxmlformats.org/drawingml/2006/main">
            <a:r>
              <a:rPr sz="1400"/>
              <a:t/>
            </a:r>
          </a:p>
          <a:p xmlns:a="http://schemas.openxmlformats.org/drawingml/2006/main">
            <a:r>
              <a:rPr sz="1400"/>
              <a:t>Uitleg: Zonder externe baten zijn de extra transacties tussen 40 en 50 maatschappelijk ongunstig: MK overtreft private betalingsbereidheid. Dan daalt het surplus 800 naar 750. Met de bronbaten levert uitbreiding honderd euro extra voordeel voor derden, terwijl de private netto-rekening vijftig daalt: samen vijftig winst. De rekenmethode blijft hetzelfde, de maatschappelijke grens verandert. Conclusie geldt bij de gegeven concurrentie, constante baten en ontbrekende overige kosten; een hogere subsidie of extra uitvoeringskosten vraagt opnieuw rekenen. Laat leerlingen een ontbrekende stap of eenheid verbeteren.</a:t>
            </a:r>
          </a:p>
          <a:p xmlns:a="http://schemas.openxmlformats.org/drawingml/2006/main">
            <a:r>
              <a:rPr sz="1400"/>
              <a:t/>
            </a:r>
          </a:p>
          <a:p xmlns:a="http://schemas.openxmlformats.org/drawingml/2006/main">
            <a:r>
              <a:rPr sz="1400"/>
              <a:t>Misvatting: De subsidie alleen bewijst geen welvaartswinst.</a:t>
            </a:r>
          </a:p>
          <a:p xmlns:a="http://schemas.openxmlformats.org/drawingml/2006/main">
            <a:r>
              <a:rPr sz="1400"/>
              <a:t/>
            </a:r>
          </a:p>
          <a:p xmlns:a="http://schemas.openxmlformats.org/drawingml/2006/main">
            <a:r>
              <a:rPr sz="1400"/>
              <a:t>Overgang: Sluit af met de vaste huiswerkroute.</a:t>
            </a:r>
          </a:p>
          <a:p xmlns:a="http://schemas.openxmlformats.org/drawingml/2006/main">
            <a:r>
              <a:rPr sz="1400"/>
              <a:t/>
            </a:r>
          </a:p>
          <a:p xmlns:a="http://schemas.openxmlformats.org/drawingml/2006/main">
            <a:r>
              <a:rPr sz="1400"/>
              <a:t>Bron: Boek 4, books34-v3, gedrukte boekpagina 97.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waar helpt de theorie?</a:t>
            </a:r>
          </a:p>
          <a:p xmlns:a="http://schemas.openxmlformats.org/drawingml/2006/main">
            <a:r>
              <a:rPr sz="1400"/>
              <a:t/>
            </a:r>
          </a:p>
          <a:p xmlns:a="http://schemas.openxmlformats.org/drawingml/2006/main">
            <a:r>
              <a:rPr sz="1400"/>
              <a:t>Uitleg: Laat dit overzicht staan tijdens Afsluiting / huiswerk. Start 37–38 staat op gedrukte boekpagina 94 (hoofdstukpagina 42). Opgave 37 herhaalt de subsidiewig uit Boek 3 §3.1.3, boek p.23–26: Pp = Pc + s, invullen in beide oorspronkelijke functies en uitgaven over alle verkopen. Geef bij vastlopen deze procedure als hint. Bij 38 is het positieve effect nieuw: laat eerst de definitie en het onderscheid tussen koper, aanbieder en derden op p.88 lezen. Dit is ondersteunde verkenning, geen toets van nieuwe beheersing. Keer na de uitleg en vóór basiswerk terug naar beide startitems, laat leerlingen hun antwoord verbeteren en bespreek de bron voor hun keuze. Startantwoorden uitsluitend voor die nabespreking: 37 Q=10 stuks per dag, Pc=€10, Pp=€14, uitgaven €40 per dag; 38 onbetaald voordeel voor andere buurtbewoners is extern, eigen leren is privaat en lesgeld is een marktbetaling. Basis 39 p.94, 40 p.95; zelfstandig 41 p.95 en 42 p.96; doel 43 p.97. Huiswerk 39–43 maken en nakijken. Bonus 44 en herhaling 45 p.98 zijn extra. Docenteninformatie reserveert voorlopig twee lessen van 55 minuten plus mogelijke uitloop. Volledige tijdsfit en leerlingbeheersing zijn niet gemeten.</a:t>
            </a:r>
          </a:p>
          <a:p xmlns:a="http://schemas.openxmlformats.org/drawingml/2006/main">
            <a:r>
              <a:rPr sz="1400"/>
              <a:t/>
            </a:r>
          </a:p>
          <a:p xmlns:a="http://schemas.openxmlformats.org/drawingml/2006/main">
            <a:r>
              <a:rPr sz="1400"/>
              <a:t>Misvatting: Hoofdstukpagina 42 is boekpagina 94. Positief extern voordeel is bij de start nog geen veronderstelde voorkennis.</a:t>
            </a:r>
          </a:p>
          <a:p xmlns:a="http://schemas.openxmlformats.org/drawingml/2006/main">
            <a:r>
              <a:rPr sz="1400"/>
              <a:t/>
            </a:r>
          </a:p>
          <a:p xmlns:a="http://schemas.openxmlformats.org/drawingml/2006/main">
            <a:r>
              <a:rPr sz="1400"/>
              <a:t>Overgang: Laat het huiswerk noteren.</a:t>
            </a:r>
          </a:p>
          <a:p xmlns:a="http://schemas.openxmlformats.org/drawingml/2006/main">
            <a:r>
              <a:rPr sz="1400"/>
              <a:t/>
            </a:r>
          </a:p>
          <a:p xmlns:a="http://schemas.openxmlformats.org/drawingml/2006/main">
            <a:r>
              <a:rPr sz="1400"/>
              <a:t>Bron: Boek 4, books34-v3, gedrukte boekpagina 88–98. https://github.com/meijer1973/4veco-lessen/blob/e734532a42b27732ac25ce990fc9448b12309d28/edities/books34-v3/books/book-4/output/Boek_4_Compleet_v3.pdf</a:t>
            </a:r>
          </a:p>
          <a:p xmlns:a="http://schemas.openxmlformats.org/drawingml/2006/main">
            <a:r>
              <a:rPr sz="1400"/>
              <a:t>Leerlingbron: https://github.com/meijer1973/4veco-lessen/blob/e734532a42b27732ac25ce990fc9448b12309d28/edities/books34-v3/books/book-4/chapters/4.2/4.2.5%20manuscript.md</a:t>
            </a:r>
          </a:p>
          <a:p xmlns:a="http://schemas.openxmlformats.org/drawingml/2006/main">
            <a:r>
              <a:rPr sz="1400"/>
              <a:t>Antwoordmodel: https://github.com/meijer1973/4veco-lessen/blob/e734532a42b27732ac25ce990fc9448b12309d28/edities/books34-v3/books/book-4/chapters/4.2/Antwoorden.md#antwoord43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122ea2edc64b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f2b869eb5342a1" /><Relationship Type="http://schemas.openxmlformats.org/officeDocument/2006/relationships/slideLayout" Target="/ppt/slideLayouts/slideLayout1.xml" Id="R57315d6f952c4a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315d6f952c4a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7debb50e904039" /><Relationship Type="http://schemas.openxmlformats.org/officeDocument/2006/relationships/notesSlide" Target="/ppt/notesSlides/notesSlide1.xml" Id="Raeb8ca9d49c844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10fd5f3194e9b" /><Relationship Type="http://schemas.openxmlformats.org/officeDocument/2006/relationships/notesSlide" Target="/ppt/notesSlides/notesSlide2.xml" Id="Rf23a00a349d444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9f807fa5704354" /><Relationship Type="http://schemas.openxmlformats.org/officeDocument/2006/relationships/notesSlide" Target="/ppt/notesSlides/notesSlide3.xml" Id="Rcf42a5baf5064d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8c8684833246d8" /><Relationship Type="http://schemas.openxmlformats.org/officeDocument/2006/relationships/chart" Target="/ppt/slides/charts/chart1.xml" Id="R34c2d95fd75a4dd4" /><Relationship Type="http://schemas.openxmlformats.org/officeDocument/2006/relationships/notesSlide" Target="/ppt/notesSlides/notesSlide4.xml" Id="R3a5654121c2145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1a309dc6764891" /><Relationship Type="http://schemas.openxmlformats.org/officeDocument/2006/relationships/chart" Target="/ppt/slides/charts/chart2.xml" Id="R04bd107df2024277" /><Relationship Type="http://schemas.openxmlformats.org/officeDocument/2006/relationships/notesSlide" Target="/ppt/notesSlides/notesSlide5.xml" Id="Rfcfd787ea6b24b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ca018fef384654" /><Relationship Type="http://schemas.openxmlformats.org/officeDocument/2006/relationships/chart" Target="/ppt/slides/charts/chart3.xml" Id="R8d3725621d854afd" /><Relationship Type="http://schemas.openxmlformats.org/officeDocument/2006/relationships/notesSlide" Target="/ppt/notesSlides/notesSlide6.xml" Id="Rbcf02f4eac194d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24c9444fb44d59" /><Relationship Type="http://schemas.openxmlformats.org/officeDocument/2006/relationships/notesSlide" Target="/ppt/notesSlides/notesSlide7.xml" Id="Rb9b38e2a5ca140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f2d698af124aa9" /><Relationship Type="http://schemas.openxmlformats.org/officeDocument/2006/relationships/chart" Target="/ppt/slides/charts/chart4.xml" Id="Reb3987355e584e52" /><Relationship Type="http://schemas.openxmlformats.org/officeDocument/2006/relationships/notesSlide" Target="/ppt/notesSlides/notesSlide8.xml" Id="R8d29bb11a03742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d63bdbc38a454f" /><Relationship Type="http://schemas.openxmlformats.org/officeDocument/2006/relationships/chart" Target="/ppt/slides/charts/chart5.xml" Id="R3a48bea7768f43e9" /><Relationship Type="http://schemas.openxmlformats.org/officeDocument/2006/relationships/notesSlide" Target="/ppt/notesSlides/notesSlide9.xml" Id="R7c4a3b7f247b40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4834e7179a4133" /><Relationship Type="http://schemas.openxmlformats.org/officeDocument/2006/relationships/notesSlide" Target="/ppt/notesSlides/notesSlide10.xml" Id="Rb960c77770b84a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63acee69ec401e" /><Relationship Type="http://schemas.openxmlformats.org/officeDocument/2006/relationships/notesSlide" Target="/ppt/notesSlides/notesSlide11.xml" Id="R494f1581f81243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f00c8ad76246ce" /><Relationship Type="http://schemas.openxmlformats.org/officeDocument/2006/relationships/notesSlide" Target="/ppt/notesSlides/notesSlide12.xml" Id="R8913528ff93248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15110918e44b49" /><Relationship Type="http://schemas.openxmlformats.org/officeDocument/2006/relationships/notesSlide" Target="/ppt/notesSlides/notesSlide13.xml" Id="R2e18fcf0221749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1cd6cc95d94153" /><Relationship Type="http://schemas.openxmlformats.org/officeDocument/2006/relationships/notesSlide" Target="/ppt/notesSlides/notesSlide14.xml" Id="R6be78afac7024f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6edcb51e434751" /><Relationship Type="http://schemas.openxmlformats.org/officeDocument/2006/relationships/notesSlide" Target="/ppt/notesSlides/notesSlide15.xml" Id="R8e2ff184fa4549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1b3347c44c4413c" /><Relationship Type="http://schemas.openxmlformats.org/officeDocument/2006/relationships/notesSlide" Target="/ppt/notesSlides/notesSlide16.xml" Id="Rd006c604a44e43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3275c41e89345cf" /><Relationship Type="http://schemas.openxmlformats.org/officeDocument/2006/relationships/notesSlide" Target="/ppt/notesSlides/notesSlide17.xml" Id="R6fa8975baa8548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1915a171d94670" /><Relationship Type="http://schemas.openxmlformats.org/officeDocument/2006/relationships/chart" Target="/ppt/slides/charts/chart6.xml" Id="R351522a1ec3641b8" /><Relationship Type="http://schemas.openxmlformats.org/officeDocument/2006/relationships/notesSlide" Target="/ppt/notesSlides/notesSlide18.xml" Id="R0b482dcea3d74a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8f2b9189c54939" /><Relationship Type="http://schemas.openxmlformats.org/officeDocument/2006/relationships/notesSlide" Target="/ppt/notesSlides/notesSlide19.xml" Id="R7ba5f7b6e13741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f9bd59105f4c54" /><Relationship Type="http://schemas.openxmlformats.org/officeDocument/2006/relationships/notesSlide" Target="/ppt/notesSlides/notesSlide20.xml" Id="R510432c6584b48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13b74dcb2414782" /><Relationship Type="http://schemas.openxmlformats.org/officeDocument/2006/relationships/notesSlide" Target="/ppt/notesSlides/notesSlide21.xml" Id="R13f683e6ff334f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483665b380b49e1" /><Relationship Type="http://schemas.openxmlformats.org/officeDocument/2006/relationships/notesSlide" Target="/ppt/notesSlides/notesSlide22.xml" Id="R159561f5091c40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24c292dceda4b45" /><Relationship Type="http://schemas.openxmlformats.org/officeDocument/2006/relationships/notesSlide" Target="/ppt/notesSlides/notesSlide23.xml" Id="R835413a630224f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2b6e84f30294c3e" /><Relationship Type="http://schemas.openxmlformats.org/officeDocument/2006/relationships/notesSlide" Target="/ppt/notesSlides/notesSlide24.xml" Id="R1b2917f6c7d949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e8aff8eaf914a20" /><Relationship Type="http://schemas.openxmlformats.org/officeDocument/2006/relationships/notesSlide" Target="/ppt/notesSlides/notesSlide25.xml" Id="Ra0dc68d4eda44a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fa544f1a3304497" /><Relationship Type="http://schemas.openxmlformats.org/officeDocument/2006/relationships/chart" Target="/ppt/slides/charts/chart7.xml" Id="R1e37fb07d2ae4825" /><Relationship Type="http://schemas.openxmlformats.org/officeDocument/2006/relationships/notesSlide" Target="/ppt/notesSlides/notesSlide26.xml" Id="R4d40b612cb91418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d25cc1f253b4e5f" /><Relationship Type="http://schemas.openxmlformats.org/officeDocument/2006/relationships/notesSlide" Target="/ppt/notesSlides/notesSlide27.xml" Id="R60989a212d8949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1753cdd0b53427b" /><Relationship Type="http://schemas.openxmlformats.org/officeDocument/2006/relationships/notesSlide" Target="/ppt/notesSlides/notesSlide28.xml" Id="Rbf5e5a03a19d44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64</c:v>
                </c:pt>
                <c:pt idx="2">
                  <c:v>80</c:v>
                </c:pt>
              </c:numCache>
            </c:numRef>
          </c:xVal>
          <c:yVal>
            <c:numRef>
              <c:f>'Chart Data'!$B$2:$B$4</c:f>
              <c:numCache>
                <c:formatCode>0</c:formatCode>
                <c:ptCount val="3"/>
                <c:pt idx="0">
                  <c:v>44</c:v>
                </c:pt>
                <c:pt idx="1">
                  <c:v>12</c:v>
                </c:pt>
                <c:pt idx="2">
                  <c:v>4</c:v>
                </c:pt>
              </c:numCache>
            </c:numRef>
          </c:yVal>
          <c:smooth val="0"/>
        </c:ser>
        <c:ser>
          <c:idx val="1"/>
          <c:order val="1"/>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64</c:v>
                </c:pt>
                <c:pt idx="2">
                  <c:v>80</c:v>
                </c:pt>
              </c:numCache>
            </c:numRef>
          </c:xVal>
          <c:yVal>
            <c:numRef>
              <c:f>'Chart Data'!$D$2:$D$4</c:f>
              <c:numCache>
                <c:formatCode>0</c:formatCode>
                <c:ptCount val="3"/>
                <c:pt idx="0">
                  <c:v>8</c:v>
                </c:pt>
                <c:pt idx="1">
                  <c:v>40</c:v>
                </c:pt>
                <c:pt idx="2">
                  <c:v>48</c:v>
                </c:pt>
              </c:numCache>
            </c:numRef>
          </c:yVal>
          <c:smooth val="0"/>
        </c:ser>
        <c:ser>
          <c:idx val="2"/>
          <c:order val="2"/>
          <c:tx>
            <c:v>Q0 en P0 hulplijnen</c:v>
          </c:tx>
          <c:spPr>
            <a:ln xmlns:a="http://schemas.openxmlformats.org/drawingml/2006/main" w="13335">
              <a:solidFill>
                <a:srgbClr val="445B6B"/>
              </a:solidFill>
            </a:ln>
          </c:spPr>
          <c:marker>
            <c:symbol val="none"/>
          </c:marker>
          <c:xVal>
            <c:numRef>
              <c:f>'Chart Data'!$E$2:$E$4</c:f>
              <c:numCache>
                <c:formatCode>General</c:formatCode>
                <c:ptCount val="3"/>
                <c:pt idx="0">
                  <c:v>0</c:v>
                </c:pt>
                <c:pt idx="1">
                  <c:v>36</c:v>
                </c:pt>
                <c:pt idx="2">
                  <c:v>36</c:v>
                </c:pt>
              </c:numCache>
            </c:numRef>
          </c:xVal>
          <c:yVal>
            <c:numRef>
              <c:f>'Chart Data'!$F$2:$F$4</c:f>
              <c:numCache>
                <c:formatCode>0</c:formatCode>
                <c:ptCount val="3"/>
                <c:pt idx="0">
                  <c:v>26</c:v>
                </c:pt>
                <c:pt idx="1">
                  <c:v>26</c:v>
                </c:pt>
                <c:pt idx="2">
                  <c:v>0</c:v>
                </c:pt>
              </c:numCache>
            </c:numRef>
          </c:yVal>
          <c:smooth val="0"/>
        </c:ser>
        <c:ser>
          <c:idx val="3"/>
          <c:order val="3"/>
          <c:tx>
            <c:v>Marktevenwicht</c:v>
          </c:tx>
          <c:spPr>
            <a:ln xmlns:a="http://schemas.openxmlformats.org/drawingml/2006/main" w="0">
              <a:solidFill>
                <a:srgbClr val="183247"/>
              </a:solidFill>
            </a:ln>
          </c:spPr>
          <c:marker>
            <c:symbol val="circle"/>
            <c:size val="9"/>
            <c:spPr>
              <a:solidFill xmlns:a="http://schemas.openxmlformats.org/drawingml/2006/main">
                <a:srgbClr val="183247"/>
              </a:solidFill>
            </c:spPr>
          </c:marker>
          <c:xVal>
            <c:numRef>
              <c:f>'Chart Data'!$G$2:$G$2</c:f>
              <c:numCache>
                <c:formatCode>General</c:formatCode>
                <c:ptCount val="1"/>
                <c:pt idx="0">
                  <c:v>36</c:v>
                </c:pt>
              </c:numCache>
            </c:numRef>
          </c:xVal>
          <c:yVal>
            <c:numRef>
              <c:f>'Chart Data'!$H$2:$H$2</c:f>
              <c:numCache>
                <c:formatCode>0</c:formatCode>
                <c:ptCount val="1"/>
                <c:pt idx="0">
                  <c:v>26</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dakdienst)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(dakdiensten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64</c:v>
                </c:pt>
                <c:pt idx="2">
                  <c:v>80</c:v>
                </c:pt>
              </c:numCache>
            </c:numRef>
          </c:xVal>
          <c:yVal>
            <c:numRef>
              <c:f>'Chart Data'!$B$2:$B$4</c:f>
              <c:numCache>
                <c:formatCode>0</c:formatCode>
                <c:ptCount val="3"/>
                <c:pt idx="0">
                  <c:v>44</c:v>
                </c:pt>
                <c:pt idx="1">
                  <c:v>12</c:v>
                </c:pt>
                <c:pt idx="2">
                  <c:v>4</c:v>
                </c:pt>
              </c:numCache>
            </c:numRef>
          </c:yVal>
          <c:smooth val="0"/>
        </c:ser>
        <c:ser>
          <c:idx val="1"/>
          <c:order val="1"/>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64</c:v>
                </c:pt>
                <c:pt idx="2">
                  <c:v>80</c:v>
                </c:pt>
              </c:numCache>
            </c:numRef>
          </c:xVal>
          <c:yVal>
            <c:numRef>
              <c:f>'Chart Data'!$D$2:$D$4</c:f>
              <c:numCache>
                <c:formatCode>0</c:formatCode>
                <c:ptCount val="3"/>
                <c:pt idx="0">
                  <c:v>8</c:v>
                </c:pt>
                <c:pt idx="1">
                  <c:v>40</c:v>
                </c:pt>
                <c:pt idx="2">
                  <c:v>48</c:v>
                </c:pt>
              </c:numCache>
            </c:numRef>
          </c:yVal>
          <c:smooth val="0"/>
        </c:ser>
        <c:ser>
          <c:idx val="2"/>
          <c:order val="2"/>
          <c:tx>
            <c:v>Baten maatschappelijk</c:v>
          </c:tx>
          <c:spPr>
            <a:ln xmlns:a="http://schemas.openxmlformats.org/drawingml/2006/main" w="38100">
              <a:solidFill>
                <a:srgbClr val="20665B"/>
              </a:solidFill>
            </a:ln>
          </c:spPr>
          <c:marker>
            <c:symbol val="none"/>
          </c:marker>
          <c:xVal>
            <c:numRef>
              <c:f>'Chart Data'!$E$2:$E$4</c:f>
              <c:numCache>
                <c:formatCode>General</c:formatCode>
                <c:ptCount val="3"/>
                <c:pt idx="0">
                  <c:v>0</c:v>
                </c:pt>
                <c:pt idx="1">
                  <c:v>64</c:v>
                </c:pt>
                <c:pt idx="2">
                  <c:v>80</c:v>
                </c:pt>
              </c:numCache>
            </c:numRef>
          </c:xVal>
          <c:yVal>
            <c:numRef>
              <c:f>'Chart Data'!$F$2:$F$4</c:f>
              <c:numCache>
                <c:formatCode>0</c:formatCode>
                <c:ptCount val="3"/>
                <c:pt idx="0">
                  <c:v>56</c:v>
                </c:pt>
                <c:pt idx="1">
                  <c:v>24</c:v>
                </c:pt>
                <c:pt idx="2">
                  <c:v>16</c:v>
                </c:pt>
              </c:numCache>
            </c:numRef>
          </c:yVal>
          <c:smooth val="0"/>
        </c:ser>
        <c:ser>
          <c:idx val="3"/>
          <c:order val="3"/>
          <c:tx>
            <c:v>Maatschappelijke baten label</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Baten maatschappelijk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24</c:v>
                </c:pt>
              </c:numCache>
            </c:numRef>
          </c:xVal>
          <c:yVal>
            <c:numRef>
              <c:f>'Chart Data'!$H$2:$H$2</c:f>
              <c:numCache>
                <c:formatCode>0</c:formatCode>
                <c:ptCount val="1"/>
                <c:pt idx="0">
                  <c:v>51</c:v>
                </c:pt>
              </c:numCache>
            </c:numRef>
          </c:yVal>
          <c:smooth val="0"/>
        </c:ser>
        <c:ser>
          <c:idx val="4"/>
          <c:order val="4"/>
          <c:tx>
            <c:v>Q0 en P0 hulplijnen</c:v>
          </c:tx>
          <c:spPr>
            <a:ln xmlns:a="http://schemas.openxmlformats.org/drawingml/2006/main" w="13335">
              <a:solidFill>
                <a:srgbClr val="445B6B"/>
              </a:solidFill>
            </a:ln>
          </c:spPr>
          <c:marker>
            <c:symbol val="none"/>
          </c:marker>
          <c:xVal>
            <c:numRef>
              <c:f>'Chart Data'!$I$2:$I$4</c:f>
              <c:numCache>
                <c:formatCode>General</c:formatCode>
                <c:ptCount val="3"/>
                <c:pt idx="0">
                  <c:v>0</c:v>
                </c:pt>
                <c:pt idx="1">
                  <c:v>36</c:v>
                </c:pt>
                <c:pt idx="2">
                  <c:v>36</c:v>
                </c:pt>
              </c:numCache>
            </c:numRef>
          </c:xVal>
          <c:yVal>
            <c:numRef>
              <c:f>'Chart Data'!$J$2:$J$4</c:f>
              <c:numCache>
                <c:formatCode>0</c:formatCode>
                <c:ptCount val="3"/>
                <c:pt idx="0">
                  <c:v>26</c:v>
                </c:pt>
                <c:pt idx="1">
                  <c:v>26</c:v>
                </c:pt>
                <c:pt idx="2">
                  <c:v>0</c:v>
                </c:pt>
              </c:numCache>
            </c:numRef>
          </c:yVal>
          <c:smooth val="0"/>
        </c:ser>
        <c:ser>
          <c:idx val="5"/>
          <c:order val="5"/>
          <c:tx>
            <c:v>Marktevenwicht</c:v>
          </c:tx>
          <c:spPr>
            <a:ln xmlns:a="http://schemas.openxmlformats.org/drawingml/2006/main" w="0">
              <a:solidFill>
                <a:srgbClr val="183247"/>
              </a:solidFill>
            </a:ln>
          </c:spPr>
          <c:marker>
            <c:symbol val="circle"/>
            <c:size val="9"/>
            <c:spPr>
              <a:solidFill xmlns:a="http://schemas.openxmlformats.org/drawingml/2006/main">
                <a:srgbClr val="183247"/>
              </a:solidFill>
            </c:spPr>
          </c:marker>
          <c:xVal>
            <c:numRef>
              <c:f>'Chart Data'!$K$2:$K$2</c:f>
              <c:numCache>
                <c:formatCode>General</c:formatCode>
                <c:ptCount val="1"/>
                <c:pt idx="0">
                  <c:v>36</c:v>
                </c:pt>
              </c:numCache>
            </c:numRef>
          </c:xVal>
          <c:yVal>
            <c:numRef>
              <c:f>'Chart Data'!$L$2:$L$2</c:f>
              <c:numCache>
                <c:formatCode>0</c:formatCode>
                <c:ptCount val="1"/>
                <c:pt idx="0">
                  <c:v>26</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dakdienst)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(dakdiensten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Arcering gemiste baten</c:v>
          </c:tx>
          <c:spPr>
            <a:ln xmlns:a="http://schemas.openxmlformats.org/drawingml/2006/main" w="11430">
              <a:solidFill>
                <a:srgbClr val="D6A099"/>
              </a:solidFill>
            </a:ln>
          </c:spPr>
          <c:marker>
            <c:symbol val="none"/>
          </c:marker>
          <c:xVal>
            <c:numRef>
              <c:f>'Chart Data'!$A$2:$A$83</c:f>
              <c:numCache>
                <c:formatCode>General</c:formatCode>
                <c:ptCount val="82"/>
                <c:pt idx="0">
                  <c:v>36</c:v>
                </c:pt>
                <c:pt idx="1">
                  <c:v>36</c:v>
                </c:pt>
                <c:pt idx="2">
                  <c:v>36.3</c:v>
                </c:pt>
                <c:pt idx="3">
                  <c:v>36.3</c:v>
                </c:pt>
                <c:pt idx="4">
                  <c:v>36.6</c:v>
                </c:pt>
                <c:pt idx="5">
                  <c:v>36.6</c:v>
                </c:pt>
                <c:pt idx="6">
                  <c:v>36.9</c:v>
                </c:pt>
                <c:pt idx="7">
                  <c:v>36.9</c:v>
                </c:pt>
                <c:pt idx="8">
                  <c:v>37.2</c:v>
                </c:pt>
                <c:pt idx="9">
                  <c:v>37.2</c:v>
                </c:pt>
                <c:pt idx="10">
                  <c:v>37.5</c:v>
                </c:pt>
                <c:pt idx="11">
                  <c:v>37.5</c:v>
                </c:pt>
                <c:pt idx="12">
                  <c:v>37.8</c:v>
                </c:pt>
                <c:pt idx="13">
                  <c:v>37.8</c:v>
                </c:pt>
                <c:pt idx="14">
                  <c:v>38.1</c:v>
                </c:pt>
                <c:pt idx="15">
                  <c:v>38.1</c:v>
                </c:pt>
                <c:pt idx="16">
                  <c:v>38.4</c:v>
                </c:pt>
                <c:pt idx="17">
                  <c:v>38.4</c:v>
                </c:pt>
                <c:pt idx="18">
                  <c:v>38.7</c:v>
                </c:pt>
                <c:pt idx="19">
                  <c:v>38.7</c:v>
                </c:pt>
                <c:pt idx="20">
                  <c:v>39</c:v>
                </c:pt>
                <c:pt idx="21">
                  <c:v>39</c:v>
                </c:pt>
                <c:pt idx="22">
                  <c:v>39.3</c:v>
                </c:pt>
                <c:pt idx="23">
                  <c:v>39.3</c:v>
                </c:pt>
                <c:pt idx="24">
                  <c:v>39.6</c:v>
                </c:pt>
                <c:pt idx="25">
                  <c:v>39.6</c:v>
                </c:pt>
                <c:pt idx="26">
                  <c:v>39.9</c:v>
                </c:pt>
                <c:pt idx="27">
                  <c:v>39.9</c:v>
                </c:pt>
                <c:pt idx="28">
                  <c:v>40.2</c:v>
                </c:pt>
                <c:pt idx="29">
                  <c:v>40.2</c:v>
                </c:pt>
                <c:pt idx="30">
                  <c:v>40.5</c:v>
                </c:pt>
                <c:pt idx="31">
                  <c:v>40.5</c:v>
                </c:pt>
                <c:pt idx="32">
                  <c:v>40.8</c:v>
                </c:pt>
                <c:pt idx="33">
                  <c:v>40.8</c:v>
                </c:pt>
                <c:pt idx="34">
                  <c:v>41.1</c:v>
                </c:pt>
                <c:pt idx="35">
                  <c:v>41.1</c:v>
                </c:pt>
                <c:pt idx="36">
                  <c:v>41.4</c:v>
                </c:pt>
                <c:pt idx="37">
                  <c:v>41.4</c:v>
                </c:pt>
                <c:pt idx="38">
                  <c:v>41.7</c:v>
                </c:pt>
                <c:pt idx="39">
                  <c:v>41.7</c:v>
                </c:pt>
                <c:pt idx="40">
                  <c:v>42</c:v>
                </c:pt>
                <c:pt idx="41">
                  <c:v>42</c:v>
                </c:pt>
                <c:pt idx="42">
                  <c:v>42.3</c:v>
                </c:pt>
                <c:pt idx="43">
                  <c:v>42.3</c:v>
                </c:pt>
                <c:pt idx="44">
                  <c:v>42.6</c:v>
                </c:pt>
                <c:pt idx="45">
                  <c:v>42.6</c:v>
                </c:pt>
                <c:pt idx="46">
                  <c:v>42.9</c:v>
                </c:pt>
                <c:pt idx="47">
                  <c:v>42.9</c:v>
                </c:pt>
                <c:pt idx="48">
                  <c:v>43.2</c:v>
                </c:pt>
                <c:pt idx="49">
                  <c:v>43.2</c:v>
                </c:pt>
                <c:pt idx="50">
                  <c:v>43.5</c:v>
                </c:pt>
                <c:pt idx="51">
                  <c:v>43.5</c:v>
                </c:pt>
                <c:pt idx="52">
                  <c:v>43.8</c:v>
                </c:pt>
                <c:pt idx="53">
                  <c:v>43.8</c:v>
                </c:pt>
                <c:pt idx="54">
                  <c:v>44.1</c:v>
                </c:pt>
                <c:pt idx="55">
                  <c:v>44.1</c:v>
                </c:pt>
                <c:pt idx="56">
                  <c:v>44.4</c:v>
                </c:pt>
                <c:pt idx="57">
                  <c:v>44.4</c:v>
                </c:pt>
                <c:pt idx="58">
                  <c:v>44.7</c:v>
                </c:pt>
                <c:pt idx="59">
                  <c:v>44.7</c:v>
                </c:pt>
                <c:pt idx="60">
                  <c:v>45</c:v>
                </c:pt>
                <c:pt idx="61">
                  <c:v>45</c:v>
                </c:pt>
                <c:pt idx="62">
                  <c:v>45.3</c:v>
                </c:pt>
                <c:pt idx="63">
                  <c:v>45.3</c:v>
                </c:pt>
                <c:pt idx="64">
                  <c:v>45.6</c:v>
                </c:pt>
                <c:pt idx="65">
                  <c:v>45.6</c:v>
                </c:pt>
                <c:pt idx="66">
                  <c:v>45.9</c:v>
                </c:pt>
                <c:pt idx="67">
                  <c:v>45.9</c:v>
                </c:pt>
                <c:pt idx="68">
                  <c:v>46.2</c:v>
                </c:pt>
                <c:pt idx="69">
                  <c:v>46.2</c:v>
                </c:pt>
                <c:pt idx="70">
                  <c:v>46.5</c:v>
                </c:pt>
                <c:pt idx="71">
                  <c:v>46.5</c:v>
                </c:pt>
                <c:pt idx="72">
                  <c:v>46.8</c:v>
                </c:pt>
                <c:pt idx="73">
                  <c:v>46.8</c:v>
                </c:pt>
                <c:pt idx="74">
                  <c:v>47.1</c:v>
                </c:pt>
                <c:pt idx="75">
                  <c:v>47.1</c:v>
                </c:pt>
                <c:pt idx="76">
                  <c:v>47.4</c:v>
                </c:pt>
                <c:pt idx="77">
                  <c:v>47.4</c:v>
                </c:pt>
                <c:pt idx="78">
                  <c:v>47.7</c:v>
                </c:pt>
                <c:pt idx="79">
                  <c:v>47.7</c:v>
                </c:pt>
                <c:pt idx="80">
                  <c:v>48</c:v>
                </c:pt>
                <c:pt idx="81">
                  <c:v>48</c:v>
                </c:pt>
              </c:numCache>
            </c:numRef>
          </c:xVal>
          <c:yVal>
            <c:numRef>
              <c:f>'Chart Data'!$B$2:$B$83</c:f>
              <c:numCache>
                <c:formatCode>0</c:formatCode>
                <c:ptCount val="82"/>
                <c:pt idx="0">
                  <c:v>26</c:v>
                </c:pt>
                <c:pt idx="1">
                  <c:v>38</c:v>
                </c:pt>
                <c:pt idx="2">
                  <c:v>37.85</c:v>
                </c:pt>
                <c:pt idx="3">
                  <c:v>26.15</c:v>
                </c:pt>
                <c:pt idx="4">
                  <c:v>26.3</c:v>
                </c:pt>
                <c:pt idx="5">
                  <c:v>37.7</c:v>
                </c:pt>
                <c:pt idx="6">
                  <c:v>37.55</c:v>
                </c:pt>
                <c:pt idx="7">
                  <c:v>26.45</c:v>
                </c:pt>
                <c:pt idx="8">
                  <c:v>26.6</c:v>
                </c:pt>
                <c:pt idx="9">
                  <c:v>37.4</c:v>
                </c:pt>
                <c:pt idx="10">
                  <c:v>37.25</c:v>
                </c:pt>
                <c:pt idx="11">
                  <c:v>26.75</c:v>
                </c:pt>
                <c:pt idx="12">
                  <c:v>26.9</c:v>
                </c:pt>
                <c:pt idx="13">
                  <c:v>37.1</c:v>
                </c:pt>
                <c:pt idx="14">
                  <c:v>36.95</c:v>
                </c:pt>
                <c:pt idx="15">
                  <c:v>27.05</c:v>
                </c:pt>
                <c:pt idx="16">
                  <c:v>27.2</c:v>
                </c:pt>
                <c:pt idx="17">
                  <c:v>36.8</c:v>
                </c:pt>
                <c:pt idx="18">
                  <c:v>36.65</c:v>
                </c:pt>
                <c:pt idx="19">
                  <c:v>27.35</c:v>
                </c:pt>
                <c:pt idx="20">
                  <c:v>27.5</c:v>
                </c:pt>
                <c:pt idx="21">
                  <c:v>36.5</c:v>
                </c:pt>
                <c:pt idx="22">
                  <c:v>36.35</c:v>
                </c:pt>
                <c:pt idx="23">
                  <c:v>27.65</c:v>
                </c:pt>
                <c:pt idx="24">
                  <c:v>27.8</c:v>
                </c:pt>
                <c:pt idx="25">
                  <c:v>36.2</c:v>
                </c:pt>
                <c:pt idx="26">
                  <c:v>36.05</c:v>
                </c:pt>
                <c:pt idx="27">
                  <c:v>27.95</c:v>
                </c:pt>
                <c:pt idx="28">
                  <c:v>28.1</c:v>
                </c:pt>
                <c:pt idx="29">
                  <c:v>35.9</c:v>
                </c:pt>
                <c:pt idx="30">
                  <c:v>35.75</c:v>
                </c:pt>
                <c:pt idx="31">
                  <c:v>28.25</c:v>
                </c:pt>
                <c:pt idx="32">
                  <c:v>28.4</c:v>
                </c:pt>
                <c:pt idx="33">
                  <c:v>35.6</c:v>
                </c:pt>
                <c:pt idx="34">
                  <c:v>35.45</c:v>
                </c:pt>
                <c:pt idx="35">
                  <c:v>28.55</c:v>
                </c:pt>
                <c:pt idx="36">
                  <c:v>28.7</c:v>
                </c:pt>
                <c:pt idx="37">
                  <c:v>35.3</c:v>
                </c:pt>
                <c:pt idx="38">
                  <c:v>35.15</c:v>
                </c:pt>
                <c:pt idx="39">
                  <c:v>28.85</c:v>
                </c:pt>
                <c:pt idx="40">
                  <c:v>29</c:v>
                </c:pt>
                <c:pt idx="41">
                  <c:v>35</c:v>
                </c:pt>
                <c:pt idx="42">
                  <c:v>34.85</c:v>
                </c:pt>
                <c:pt idx="43">
                  <c:v>29.15</c:v>
                </c:pt>
                <c:pt idx="44">
                  <c:v>29.3</c:v>
                </c:pt>
                <c:pt idx="45">
                  <c:v>34.7</c:v>
                </c:pt>
                <c:pt idx="46">
                  <c:v>34.55</c:v>
                </c:pt>
                <c:pt idx="47">
                  <c:v>29.45</c:v>
                </c:pt>
                <c:pt idx="48">
                  <c:v>29.6</c:v>
                </c:pt>
                <c:pt idx="49">
                  <c:v>34.4</c:v>
                </c:pt>
                <c:pt idx="50">
                  <c:v>34.25</c:v>
                </c:pt>
                <c:pt idx="51">
                  <c:v>29.75</c:v>
                </c:pt>
                <c:pt idx="52">
                  <c:v>29.9</c:v>
                </c:pt>
                <c:pt idx="53">
                  <c:v>34.1</c:v>
                </c:pt>
                <c:pt idx="54">
                  <c:v>33.95</c:v>
                </c:pt>
                <c:pt idx="55">
                  <c:v>30.05</c:v>
                </c:pt>
                <c:pt idx="56">
                  <c:v>30.2</c:v>
                </c:pt>
                <c:pt idx="57">
                  <c:v>33.8</c:v>
                </c:pt>
                <c:pt idx="58">
                  <c:v>33.65</c:v>
                </c:pt>
                <c:pt idx="59">
                  <c:v>30.35</c:v>
                </c:pt>
                <c:pt idx="60">
                  <c:v>30.5</c:v>
                </c:pt>
                <c:pt idx="61">
                  <c:v>33.5</c:v>
                </c:pt>
                <c:pt idx="62">
                  <c:v>33.35</c:v>
                </c:pt>
                <c:pt idx="63">
                  <c:v>30.65</c:v>
                </c:pt>
                <c:pt idx="64">
                  <c:v>30.8</c:v>
                </c:pt>
                <c:pt idx="65">
                  <c:v>33.2</c:v>
                </c:pt>
                <c:pt idx="66">
                  <c:v>33.05</c:v>
                </c:pt>
                <c:pt idx="67">
                  <c:v>30.95</c:v>
                </c:pt>
                <c:pt idx="68">
                  <c:v>31.1</c:v>
                </c:pt>
                <c:pt idx="69">
                  <c:v>32.9</c:v>
                </c:pt>
                <c:pt idx="70">
                  <c:v>32.75</c:v>
                </c:pt>
                <c:pt idx="71">
                  <c:v>31.25</c:v>
                </c:pt>
                <c:pt idx="72">
                  <c:v>31.4</c:v>
                </c:pt>
                <c:pt idx="73">
                  <c:v>32.6</c:v>
                </c:pt>
                <c:pt idx="74">
                  <c:v>32.45</c:v>
                </c:pt>
                <c:pt idx="75">
                  <c:v>31.55</c:v>
                </c:pt>
                <c:pt idx="76">
                  <c:v>31.7</c:v>
                </c:pt>
                <c:pt idx="77">
                  <c:v>32.3</c:v>
                </c:pt>
                <c:pt idx="78">
                  <c:v>32.15</c:v>
                </c:pt>
                <c:pt idx="79">
                  <c:v>31.85</c:v>
                </c:pt>
                <c:pt idx="80">
                  <c:v>32</c:v>
                </c:pt>
                <c:pt idx="81">
                  <c:v>32</c:v>
                </c:pt>
              </c:numCache>
            </c:numRef>
          </c:yVal>
          <c:smooth val="0"/>
        </c:ser>
        <c:ser>
          <c:idx val="1"/>
          <c:order val="1"/>
          <c:tx>
            <c:v>Grens verlies</c:v>
          </c:tx>
          <c:spPr>
            <a:ln xmlns:a="http://schemas.openxmlformats.org/drawingml/2006/main" w="23813">
              <a:solidFill>
                <a:srgbClr val="B7443E"/>
              </a:solidFill>
            </a:ln>
          </c:spPr>
          <c:marker>
            <c:symbol val="none"/>
          </c:marker>
          <c:xVal>
            <c:numRef>
              <c:f>'Chart Data'!$C$2:$C$5</c:f>
              <c:numCache>
                <c:formatCode>General</c:formatCode>
                <c:ptCount val="4"/>
                <c:pt idx="0">
                  <c:v>36</c:v>
                </c:pt>
                <c:pt idx="1">
                  <c:v>48</c:v>
                </c:pt>
                <c:pt idx="2">
                  <c:v>36</c:v>
                </c:pt>
                <c:pt idx="3">
                  <c:v>36</c:v>
                </c:pt>
              </c:numCache>
            </c:numRef>
          </c:xVal>
          <c:yVal>
            <c:numRef>
              <c:f>'Chart Data'!$D$2:$D$5</c:f>
              <c:numCache>
                <c:formatCode>0</c:formatCode>
                <c:ptCount val="4"/>
                <c:pt idx="0">
                  <c:v>26</c:v>
                </c:pt>
                <c:pt idx="1">
                  <c:v>32</c:v>
                </c:pt>
                <c:pt idx="2">
                  <c:v>38</c:v>
                </c:pt>
                <c:pt idx="3">
                  <c:v>26</c:v>
                </c:pt>
              </c:numCache>
            </c:numRef>
          </c:yVal>
          <c:smooth val="0"/>
        </c:ser>
        <c:ser>
          <c:idx val="2"/>
          <c:order val="2"/>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64</c:v>
                </c:pt>
                <c:pt idx="2">
                  <c:v>80</c:v>
                </c:pt>
              </c:numCache>
            </c:numRef>
          </c:xVal>
          <c:yVal>
            <c:numRef>
              <c:f>'Chart Data'!$F$2:$F$4</c:f>
              <c:numCache>
                <c:formatCode>0</c:formatCode>
                <c:ptCount val="3"/>
                <c:pt idx="0">
                  <c:v>44</c:v>
                </c:pt>
                <c:pt idx="1">
                  <c:v>12</c:v>
                </c:pt>
                <c:pt idx="2">
                  <c:v>4</c:v>
                </c:pt>
              </c:numCache>
            </c:numRef>
          </c:yVal>
          <c:smooth val="0"/>
        </c:ser>
        <c:ser>
          <c:idx val="3"/>
          <c:order val="3"/>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0</c:v>
                </c:pt>
                <c:pt idx="1">
                  <c:v>64</c:v>
                </c:pt>
                <c:pt idx="2">
                  <c:v>80</c:v>
                </c:pt>
              </c:numCache>
            </c:numRef>
          </c:xVal>
          <c:yVal>
            <c:numRef>
              <c:f>'Chart Data'!$H$2:$H$4</c:f>
              <c:numCache>
                <c:formatCode>0</c:formatCode>
                <c:ptCount val="3"/>
                <c:pt idx="0">
                  <c:v>8</c:v>
                </c:pt>
                <c:pt idx="1">
                  <c:v>40</c:v>
                </c:pt>
                <c:pt idx="2">
                  <c:v>48</c:v>
                </c:pt>
              </c:numCache>
            </c:numRef>
          </c:yVal>
          <c:smooth val="0"/>
        </c:ser>
        <c:ser>
          <c:idx val="4"/>
          <c:order val="4"/>
          <c:tx>
            <c:v>Baten maatschappelijk</c:v>
          </c:tx>
          <c:spPr>
            <a:ln xmlns:a="http://schemas.openxmlformats.org/drawingml/2006/main" w="38100">
              <a:solidFill>
                <a:srgbClr val="20665B"/>
              </a:solidFill>
            </a:ln>
          </c:spPr>
          <c:marker>
            <c:symbol val="none"/>
          </c:marker>
          <c:xVal>
            <c:numRef>
              <c:f>'Chart Data'!$I$2:$I$4</c:f>
              <c:numCache>
                <c:formatCode>General</c:formatCode>
                <c:ptCount val="3"/>
                <c:pt idx="0">
                  <c:v>0</c:v>
                </c:pt>
                <c:pt idx="1">
                  <c:v>64</c:v>
                </c:pt>
                <c:pt idx="2">
                  <c:v>80</c:v>
                </c:pt>
              </c:numCache>
            </c:numRef>
          </c:xVal>
          <c:yVal>
            <c:numRef>
              <c:f>'Chart Data'!$J$2:$J$4</c:f>
              <c:numCache>
                <c:formatCode>0</c:formatCode>
                <c:ptCount val="3"/>
                <c:pt idx="0">
                  <c:v>56</c:v>
                </c:pt>
                <c:pt idx="1">
                  <c:v>24</c:v>
                </c:pt>
                <c:pt idx="2">
                  <c:v>16</c:v>
                </c:pt>
              </c:numCache>
            </c:numRef>
          </c:yVal>
          <c:smooth val="0"/>
        </c:ser>
        <c:ser>
          <c:idx val="5"/>
          <c:order val="5"/>
          <c:tx>
            <c:v>Maatschappelijke baten label</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Baten maatschappelijk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24</c:v>
                </c:pt>
              </c:numCache>
            </c:numRef>
          </c:xVal>
          <c:yVal>
            <c:numRef>
              <c:f>'Chart Data'!$L$2:$L$2</c:f>
              <c:numCache>
                <c:formatCode>0</c:formatCode>
                <c:ptCount val="1"/>
                <c:pt idx="0">
                  <c:v>51</c:v>
                </c:pt>
              </c:numCache>
            </c:numRef>
          </c:yVal>
          <c:smooth val="0"/>
        </c:ser>
        <c:ser>
          <c:idx val="6"/>
          <c:order val="6"/>
          <c:tx>
            <c:v>Q0 en P0 hulplijnen</c:v>
          </c:tx>
          <c:spPr>
            <a:ln xmlns:a="http://schemas.openxmlformats.org/drawingml/2006/main" w="13335">
              <a:solidFill>
                <a:srgbClr val="445B6B"/>
              </a:solidFill>
            </a:ln>
          </c:spPr>
          <c:marker>
            <c:symbol val="none"/>
          </c:marker>
          <c:xVal>
            <c:numRef>
              <c:f>'Chart Data'!$M$2:$M$4</c:f>
              <c:numCache>
                <c:formatCode>General</c:formatCode>
                <c:ptCount val="3"/>
                <c:pt idx="0">
                  <c:v>0</c:v>
                </c:pt>
                <c:pt idx="1">
                  <c:v>36</c:v>
                </c:pt>
                <c:pt idx="2">
                  <c:v>36</c:v>
                </c:pt>
              </c:numCache>
            </c:numRef>
          </c:xVal>
          <c:yVal>
            <c:numRef>
              <c:f>'Chart Data'!$N$2:$N$4</c:f>
              <c:numCache>
                <c:formatCode>0</c:formatCode>
                <c:ptCount val="3"/>
                <c:pt idx="0">
                  <c:v>26</c:v>
                </c:pt>
                <c:pt idx="1">
                  <c:v>26</c:v>
                </c:pt>
                <c:pt idx="2">
                  <c:v>0</c:v>
                </c:pt>
              </c:numCache>
            </c:numRef>
          </c:yVal>
          <c:smooth val="0"/>
        </c:ser>
        <c:ser>
          <c:idx val="7"/>
          <c:order val="7"/>
          <c:tx>
            <c:v>Marktevenwicht</c:v>
          </c:tx>
          <c:spPr>
            <a:ln xmlns:a="http://schemas.openxmlformats.org/drawingml/2006/main" w="0">
              <a:solidFill>
                <a:srgbClr val="183247"/>
              </a:solidFill>
            </a:ln>
          </c:spPr>
          <c:marker>
            <c:symbol val="circle"/>
            <c:size val="9"/>
            <c:spPr>
              <a:solidFill xmlns:a="http://schemas.openxmlformats.org/drawingml/2006/main">
                <a:srgbClr val="183247"/>
              </a:solidFill>
            </c:spPr>
          </c:marker>
          <c:xVal>
            <c:numRef>
              <c:f>'Chart Data'!$O$2:$O$2</c:f>
              <c:numCache>
                <c:formatCode>General</c:formatCode>
                <c:ptCount val="1"/>
                <c:pt idx="0">
                  <c:v>36</c:v>
                </c:pt>
              </c:numCache>
            </c:numRef>
          </c:xVal>
          <c:yVal>
            <c:numRef>
              <c:f>'Chart Data'!$P$2:$P$2</c:f>
              <c:numCache>
                <c:formatCode>0</c:formatCode>
                <c:ptCount val="1"/>
                <c:pt idx="0">
                  <c:v>26</c:v>
                </c:pt>
              </c:numCache>
            </c:numRef>
          </c:yVal>
          <c:smooth val="0"/>
        </c:ser>
        <c:ser>
          <c:idx val="8"/>
          <c:order val="8"/>
          <c:tx>
            <c:v>Qe hulplijn</c:v>
          </c:tx>
          <c:spPr>
            <a:ln xmlns:a="http://schemas.openxmlformats.org/drawingml/2006/main" w="13335">
              <a:solidFill>
                <a:srgbClr val="445B6B"/>
              </a:solidFill>
            </a:ln>
          </c:spPr>
          <c:marker>
            <c:symbol val="none"/>
          </c:marker>
          <c:xVal>
            <c:numRef>
              <c:f>'Chart Data'!$Q$2:$Q$3</c:f>
              <c:numCache>
                <c:formatCode>General</c:formatCode>
                <c:ptCount val="2"/>
                <c:pt idx="0">
                  <c:v>48</c:v>
                </c:pt>
                <c:pt idx="1">
                  <c:v>48</c:v>
                </c:pt>
              </c:numCache>
            </c:numRef>
          </c:xVal>
          <c:yVal>
            <c:numRef>
              <c:f>'Chart Data'!$R$2:$R$3</c:f>
              <c:numCache>
                <c:formatCode>0</c:formatCode>
                <c:ptCount val="2"/>
                <c:pt idx="0">
                  <c:v>0</c:v>
                </c:pt>
                <c:pt idx="1">
                  <c:v>32</c:v>
                </c:pt>
              </c:numCache>
            </c:numRef>
          </c:yVal>
          <c:smooth val="0"/>
        </c:ser>
        <c:ser>
          <c:idx val="9"/>
          <c:order val="9"/>
          <c:tx>
            <c:v>Efficiënte hoeveelheid</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Data'!$S$2:$S$2</c:f>
              <c:numCache>
                <c:formatCode>General</c:formatCode>
                <c:ptCount val="1"/>
                <c:pt idx="0">
                  <c:v>48</c:v>
                </c:pt>
              </c:numCache>
            </c:numRef>
          </c:xVal>
          <c:yVal>
            <c:numRef>
              <c:f>'Chart Data'!$T$2:$T$2</c:f>
              <c:numCache>
                <c:formatCode>0</c:formatCode>
                <c:ptCount val="1"/>
                <c:pt idx="0">
                  <c:v>32</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dakdienst)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(dakdiensten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64</c:v>
                </c:pt>
                <c:pt idx="2">
                  <c:v>80</c:v>
                </c:pt>
              </c:numCache>
            </c:numRef>
          </c:xVal>
          <c:yVal>
            <c:numRef>
              <c:f>'Chart Data'!$B$2:$B$4</c:f>
              <c:numCache>
                <c:formatCode>0</c:formatCode>
                <c:ptCount val="3"/>
                <c:pt idx="0">
                  <c:v>44</c:v>
                </c:pt>
                <c:pt idx="1">
                  <c:v>12</c:v>
                </c:pt>
                <c:pt idx="2">
                  <c:v>4</c:v>
                </c:pt>
              </c:numCache>
            </c:numRef>
          </c:yVal>
          <c:smooth val="0"/>
        </c:ser>
        <c:ser>
          <c:idx val="1"/>
          <c:order val="1"/>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64</c:v>
                </c:pt>
                <c:pt idx="2">
                  <c:v>80</c:v>
                </c:pt>
              </c:numCache>
            </c:numRef>
          </c:xVal>
          <c:yVal>
            <c:numRef>
              <c:f>'Chart Data'!$D$2:$D$4</c:f>
              <c:numCache>
                <c:formatCode>0</c:formatCode>
                <c:ptCount val="3"/>
                <c:pt idx="0">
                  <c:v>8</c:v>
                </c:pt>
                <c:pt idx="1">
                  <c:v>40</c:v>
                </c:pt>
                <c:pt idx="2">
                  <c:v>48</c:v>
                </c:pt>
              </c:numCache>
            </c:numRef>
          </c:yVal>
          <c:smooth val="0"/>
        </c:ser>
        <c:ser>
          <c:idx val="2"/>
          <c:order val="2"/>
          <c:tx>
            <c:v>A − s</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A − s</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8</c:v>
                </c:pt>
                <c:pt idx="1">
                  <c:v>64</c:v>
                </c:pt>
                <c:pt idx="2">
                  <c:v>80</c:v>
                </c:pt>
              </c:numCache>
            </c:numRef>
          </c:xVal>
          <c:yVal>
            <c:numRef>
              <c:f>'Chart Data'!$F$2:$F$4</c:f>
              <c:numCache>
                <c:formatCode>0</c:formatCode>
                <c:ptCount val="3"/>
                <c:pt idx="0">
                  <c:v>0</c:v>
                </c:pt>
                <c:pt idx="1">
                  <c:v>28</c:v>
                </c:pt>
                <c:pt idx="2">
                  <c:v>36</c:v>
                </c:pt>
              </c:numCache>
            </c:numRef>
          </c:yVal>
          <c:smooth val="0"/>
        </c:ser>
        <c:ser>
          <c:idx val="3"/>
          <c:order val="3"/>
          <c:tx>
            <c:v>Horizontale verschuiving</c:v>
          </c:tx>
          <c:spPr>
            <a:ln xmlns:a="http://schemas.openxmlformats.org/drawingml/2006/main" w="28575">
              <a:solidFill>
                <a:srgbClr val="445B6B"/>
              </a:solidFill>
            </a:ln>
          </c:spPr>
          <c:marker>
            <c:symbol val="none"/>
          </c:marker>
          <c:xVal>
            <c:numRef>
              <c:f>'Chart Data'!$G$2:$G$3</c:f>
              <c:numCache>
                <c:formatCode>General</c:formatCode>
                <c:ptCount val="2"/>
                <c:pt idx="0">
                  <c:v>8</c:v>
                </c:pt>
                <c:pt idx="1">
                  <c:v>32</c:v>
                </c:pt>
              </c:numCache>
            </c:numRef>
          </c:xVal>
          <c:yVal>
            <c:numRef>
              <c:f>'Chart Data'!$H$2:$H$3</c:f>
              <c:numCache>
                <c:formatCode>0</c:formatCode>
                <c:ptCount val="2"/>
                <c:pt idx="0">
                  <c:v>12</c:v>
                </c:pt>
                <c:pt idx="1">
                  <c:v>12</c:v>
                </c:pt>
              </c:numCache>
            </c:numRef>
          </c:yVal>
          <c:smooth val="0"/>
        </c:ser>
        <c:ser>
          <c:idx val="4"/>
          <c:order val="4"/>
          <c:tx>
            <c:v>Pijlpunt verschuiving</c:v>
          </c:tx>
          <c:spPr>
            <a:ln xmlns:a="http://schemas.openxmlformats.org/drawingml/2006/main" w="28575">
              <a:solidFill>
                <a:srgbClr val="445B6B"/>
              </a:solidFill>
            </a:ln>
          </c:spPr>
          <c:marker>
            <c:symbol val="none"/>
          </c:marker>
          <c:xVal>
            <c:numRef>
              <c:f>'Chart Data'!$I$2:$I$4</c:f>
              <c:numCache>
                <c:formatCode>General</c:formatCode>
                <c:ptCount val="3"/>
                <c:pt idx="0">
                  <c:v>30</c:v>
                </c:pt>
                <c:pt idx="1">
                  <c:v>32</c:v>
                </c:pt>
                <c:pt idx="2">
                  <c:v>30</c:v>
                </c:pt>
              </c:numCache>
            </c:numRef>
          </c:xVal>
          <c:yVal>
            <c:numRef>
              <c:f>'Chart Data'!$J$2:$J$4</c:f>
              <c:numCache>
                <c:formatCode>0</c:formatCode>
                <c:ptCount val="3"/>
                <c:pt idx="0">
                  <c:v>13</c:v>
                </c:pt>
                <c:pt idx="1">
                  <c:v>12</c:v>
                </c:pt>
                <c:pt idx="2">
                  <c:v>11</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dakdienst)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(dakdiensten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64</c:v>
                </c:pt>
                <c:pt idx="2">
                  <c:v>80</c:v>
                </c:pt>
              </c:numCache>
            </c:numRef>
          </c:xVal>
          <c:yVal>
            <c:numRef>
              <c:f>'Chart Data'!$B$2:$B$4</c:f>
              <c:numCache>
                <c:formatCode>0</c:formatCode>
                <c:ptCount val="3"/>
                <c:pt idx="0">
                  <c:v>44</c:v>
                </c:pt>
                <c:pt idx="1">
                  <c:v>12</c:v>
                </c:pt>
                <c:pt idx="2">
                  <c:v>4</c:v>
                </c:pt>
              </c:numCache>
            </c:numRef>
          </c:yVal>
          <c:smooth val="0"/>
        </c:ser>
        <c:ser>
          <c:idx val="1"/>
          <c:order val="1"/>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64</c:v>
                </c:pt>
                <c:pt idx="2">
                  <c:v>80</c:v>
                </c:pt>
              </c:numCache>
            </c:numRef>
          </c:xVal>
          <c:yVal>
            <c:numRef>
              <c:f>'Chart Data'!$D$2:$D$4</c:f>
              <c:numCache>
                <c:formatCode>0</c:formatCode>
                <c:ptCount val="3"/>
                <c:pt idx="0">
                  <c:v>8</c:v>
                </c:pt>
                <c:pt idx="1">
                  <c:v>40</c:v>
                </c:pt>
                <c:pt idx="2">
                  <c:v>48</c:v>
                </c:pt>
              </c:numCache>
            </c:numRef>
          </c:yVal>
          <c:smooth val="0"/>
        </c:ser>
        <c:ser>
          <c:idx val="2"/>
          <c:order val="2"/>
          <c:tx>
            <c:v>A − s</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A − s</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8</c:v>
                </c:pt>
                <c:pt idx="1">
                  <c:v>64</c:v>
                </c:pt>
                <c:pt idx="2">
                  <c:v>80</c:v>
                </c:pt>
              </c:numCache>
            </c:numRef>
          </c:xVal>
          <c:yVal>
            <c:numRef>
              <c:f>'Chart Data'!$F$2:$F$4</c:f>
              <c:numCache>
                <c:formatCode>0</c:formatCode>
                <c:ptCount val="3"/>
                <c:pt idx="0">
                  <c:v>0</c:v>
                </c:pt>
                <c:pt idx="1">
                  <c:v>28</c:v>
                </c:pt>
                <c:pt idx="2">
                  <c:v>36</c:v>
                </c:pt>
              </c:numCache>
            </c:numRef>
          </c:yVal>
          <c:smooth val="0"/>
        </c:ser>
        <c:ser>
          <c:idx val="3"/>
          <c:order val="3"/>
          <c:tx>
            <c:v>Pc hulplijnen</c:v>
          </c:tx>
          <c:spPr>
            <a:ln xmlns:a="http://schemas.openxmlformats.org/drawingml/2006/main" w="13335">
              <a:solidFill>
                <a:srgbClr val="445B6B"/>
              </a:solidFill>
            </a:ln>
          </c:spPr>
          <c:marker>
            <c:symbol val="none"/>
          </c:marker>
          <c:xVal>
            <c:numRef>
              <c:f>'Chart Data'!$G$2:$G$4</c:f>
              <c:numCache>
                <c:formatCode>General</c:formatCode>
                <c:ptCount val="3"/>
                <c:pt idx="0">
                  <c:v>0</c:v>
                </c:pt>
                <c:pt idx="1">
                  <c:v>48</c:v>
                </c:pt>
                <c:pt idx="2">
                  <c:v>48</c:v>
                </c:pt>
              </c:numCache>
            </c:numRef>
          </c:xVal>
          <c:yVal>
            <c:numRef>
              <c:f>'Chart Data'!$H$2:$H$4</c:f>
              <c:numCache>
                <c:formatCode>0</c:formatCode>
                <c:ptCount val="3"/>
                <c:pt idx="0">
                  <c:v>20</c:v>
                </c:pt>
                <c:pt idx="1">
                  <c:v>20</c:v>
                </c:pt>
                <c:pt idx="2">
                  <c:v>0</c:v>
                </c:pt>
              </c:numCache>
            </c:numRef>
          </c:yVal>
          <c:smooth val="0"/>
        </c:ser>
        <c:ser>
          <c:idx val="4"/>
          <c:order val="4"/>
          <c:tx>
            <c:v>Pp hulplijn</c:v>
          </c:tx>
          <c:spPr>
            <a:ln xmlns:a="http://schemas.openxmlformats.org/drawingml/2006/main" w="13335">
              <a:solidFill>
                <a:srgbClr val="445B6B"/>
              </a:solidFill>
            </a:ln>
          </c:spPr>
          <c:marker>
            <c:symbol val="none"/>
          </c:marker>
          <c:xVal>
            <c:numRef>
              <c:f>'Chart Data'!$I$2:$I$3</c:f>
              <c:numCache>
                <c:formatCode>General</c:formatCode>
                <c:ptCount val="2"/>
                <c:pt idx="0">
                  <c:v>0</c:v>
                </c:pt>
                <c:pt idx="1">
                  <c:v>48</c:v>
                </c:pt>
              </c:numCache>
            </c:numRef>
          </c:xVal>
          <c:yVal>
            <c:numRef>
              <c:f>'Chart Data'!$J$2:$J$3</c:f>
              <c:numCache>
                <c:formatCode>0</c:formatCode>
                <c:ptCount val="2"/>
                <c:pt idx="0">
                  <c:v>32</c:v>
                </c:pt>
                <c:pt idx="1">
                  <c:v>32</c:v>
                </c:pt>
              </c:numCache>
            </c:numRef>
          </c:yVal>
          <c:smooth val="0"/>
        </c:ser>
        <c:ser>
          <c:idx val="5"/>
          <c:order val="5"/>
          <c:tx>
            <c:v>Subsidiewig</c:v>
          </c:tx>
          <c:spPr>
            <a:ln xmlns:a="http://schemas.openxmlformats.org/drawingml/2006/main" w="47625">
              <a:solidFill>
                <a:srgbClr val="A94D16"/>
              </a:solidFill>
            </a:ln>
          </c:spPr>
          <c:marker>
            <c:symbol val="none"/>
          </c:marker>
          <c:xVal>
            <c:numRef>
              <c:f>'Chart Data'!$K$2:$K$3</c:f>
              <c:numCache>
                <c:formatCode>General</c:formatCode>
                <c:ptCount val="2"/>
                <c:pt idx="0">
                  <c:v>48</c:v>
                </c:pt>
                <c:pt idx="1">
                  <c:v>48</c:v>
                </c:pt>
              </c:numCache>
            </c:numRef>
          </c:xVal>
          <c:yVal>
            <c:numRef>
              <c:f>'Chart Data'!$L$2:$L$3</c:f>
              <c:numCache>
                <c:formatCode>0</c:formatCode>
                <c:ptCount val="2"/>
                <c:pt idx="0">
                  <c:v>20</c:v>
                </c:pt>
                <c:pt idx="1">
                  <c:v>32</c:v>
                </c:pt>
              </c:numCache>
            </c:numRef>
          </c:yVal>
          <c:smooth val="0"/>
        </c:ser>
        <c:ser>
          <c:idx val="6"/>
          <c:order val="6"/>
          <c:tx>
            <c:v>Kopersprijs</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Data'!$M$2:$M$2</c:f>
              <c:numCache>
                <c:formatCode>General</c:formatCode>
                <c:ptCount val="1"/>
                <c:pt idx="0">
                  <c:v>48</c:v>
                </c:pt>
              </c:numCache>
            </c:numRef>
          </c:xVal>
          <c:yVal>
            <c:numRef>
              <c:f>'Chart Data'!$N$2:$N$2</c:f>
              <c:numCache>
                <c:formatCode>0</c:formatCode>
                <c:ptCount val="1"/>
                <c:pt idx="0">
                  <c:v>20</c:v>
                </c:pt>
              </c:numCache>
            </c:numRef>
          </c:yVal>
          <c:smooth val="0"/>
        </c:ser>
        <c:ser>
          <c:idx val="7"/>
          <c:order val="7"/>
          <c:tx>
            <c:v>Producentenontvangst</c:v>
          </c:tx>
          <c:spPr>
            <a:ln xmlns:a="http://schemas.openxmlformats.org/drawingml/2006/main" w="0">
              <a:solidFill>
                <a:srgbClr val="B7443E"/>
              </a:solidFill>
            </a:ln>
          </c:spPr>
          <c:marker>
            <c:symbol val="circle"/>
            <c:size val="9"/>
            <c:spPr>
              <a:solidFill xmlns:a="http://schemas.openxmlformats.org/drawingml/2006/main">
                <a:srgbClr val="B7443E"/>
              </a:solidFill>
            </c:spPr>
          </c:marker>
          <c:xVal>
            <c:numRef>
              <c:f>'Chart Data'!$O$2:$O$2</c:f>
              <c:numCache>
                <c:formatCode>General</c:formatCode>
                <c:ptCount val="1"/>
                <c:pt idx="0">
                  <c:v>48</c:v>
                </c:pt>
              </c:numCache>
            </c:numRef>
          </c:xVal>
          <c:yVal>
            <c:numRef>
              <c:f>'Chart Data'!$P$2:$P$2</c:f>
              <c:numCache>
                <c:formatCode>0</c:formatCode>
                <c:ptCount val="1"/>
                <c:pt idx="0">
                  <c:v>32</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dakdienst)</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(dakdiensten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80</c:v>
                </c:pt>
                <c:pt idx="2">
                  <c:v>100</c:v>
                </c:pt>
              </c:numCache>
            </c:numRef>
          </c:xVal>
          <c:yVal>
            <c:numRef>
              <c:f>'Chart Data'!$B$2:$B$4</c:f>
              <c:numCache>
                <c:formatCode>0</c:formatCode>
                <c:ptCount val="3"/>
                <c:pt idx="0">
                  <c:v>60</c:v>
                </c:pt>
                <c:pt idx="1">
                  <c:v>20</c:v>
                </c:pt>
                <c:pt idx="2">
                  <c:v>10</c:v>
                </c:pt>
              </c:numCache>
            </c:numRef>
          </c:yVal>
          <c:smooth val="0"/>
        </c:ser>
        <c:ser>
          <c:idx val="1"/>
          <c:order val="1"/>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80</c:v>
                </c:pt>
                <c:pt idx="2">
                  <c:v>100</c:v>
                </c:pt>
              </c:numCache>
            </c:numRef>
          </c:xVal>
          <c:yVal>
            <c:numRef>
              <c:f>'Chart Data'!$D$2:$D$4</c:f>
              <c:numCache>
                <c:formatCode>0</c:formatCode>
                <c:ptCount val="3"/>
                <c:pt idx="0">
                  <c:v>20</c:v>
                </c:pt>
                <c:pt idx="1">
                  <c:v>60</c:v>
                </c:pt>
                <c:pt idx="2">
                  <c:v>70</c:v>
                </c:pt>
              </c:numCache>
            </c:numRef>
          </c:yVal>
          <c:smooth val="0"/>
        </c:ser>
        <c:ser>
          <c:idx val="2"/>
          <c:order val="2"/>
          <c:tx>
            <c:v>Baten maatschappelijk</c:v>
          </c:tx>
          <c:spPr>
            <a:ln xmlns:a="http://schemas.openxmlformats.org/drawingml/2006/main" w="38100">
              <a:solidFill>
                <a:srgbClr val="20665B"/>
              </a:solidFill>
            </a:ln>
          </c:spPr>
          <c:marker>
            <c:symbol val="none"/>
          </c:marker>
          <c:xVal>
            <c:numRef>
              <c:f>'Chart Data'!$E$2:$E$4</c:f>
              <c:numCache>
                <c:formatCode>General</c:formatCode>
                <c:ptCount val="3"/>
                <c:pt idx="0">
                  <c:v>0</c:v>
                </c:pt>
                <c:pt idx="1">
                  <c:v>80</c:v>
                </c:pt>
                <c:pt idx="2">
                  <c:v>100</c:v>
                </c:pt>
              </c:numCache>
            </c:numRef>
          </c:xVal>
          <c:yVal>
            <c:numRef>
              <c:f>'Chart Data'!$F$2:$F$4</c:f>
              <c:numCache>
                <c:formatCode>0</c:formatCode>
                <c:ptCount val="3"/>
                <c:pt idx="0">
                  <c:v>70</c:v>
                </c:pt>
                <c:pt idx="1">
                  <c:v>30</c:v>
                </c:pt>
                <c:pt idx="2">
                  <c:v>20</c:v>
                </c:pt>
              </c:numCache>
            </c:numRef>
          </c:yVal>
          <c:smooth val="0"/>
        </c:ser>
        <c:ser>
          <c:idx val="3"/>
          <c:order val="3"/>
          <c:tx>
            <c:v>Maatschappelijke baten label</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Baten maatschappelijk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30</c:v>
                </c:pt>
              </c:numCache>
            </c:numRef>
          </c:xVal>
          <c:yVal>
            <c:numRef>
              <c:f>'Chart Data'!$H$2:$H$2</c:f>
              <c:numCache>
                <c:formatCode>0</c:formatCode>
                <c:ptCount val="1"/>
                <c:pt idx="0">
                  <c:v>62</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deelnemer)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(deelnemers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Arcering gemiste baten</c:v>
          </c:tx>
          <c:spPr>
            <a:ln xmlns:a="http://schemas.openxmlformats.org/drawingml/2006/main" w="11430">
              <a:solidFill>
                <a:srgbClr val="D6A099"/>
              </a:solidFill>
            </a:ln>
          </c:spPr>
          <c:marker>
            <c:symbol val="none"/>
          </c:marker>
          <c:xVal>
            <c:numRef>
              <c:f>'Chart Data'!$A$2:$A$83</c:f>
              <c:numCache>
                <c:formatCode>General</c:formatCode>
                <c:ptCount val="82"/>
                <c:pt idx="0">
                  <c:v>40</c:v>
                </c:pt>
                <c:pt idx="1">
                  <c:v>40</c:v>
                </c:pt>
                <c:pt idx="2">
                  <c:v>40.25</c:v>
                </c:pt>
                <c:pt idx="3">
                  <c:v>40.25</c:v>
                </c:pt>
                <c:pt idx="4">
                  <c:v>40.5</c:v>
                </c:pt>
                <c:pt idx="5">
                  <c:v>40.5</c:v>
                </c:pt>
                <c:pt idx="6">
                  <c:v>40.75</c:v>
                </c:pt>
                <c:pt idx="7">
                  <c:v>40.75</c:v>
                </c:pt>
                <c:pt idx="8">
                  <c:v>41</c:v>
                </c:pt>
                <c:pt idx="9">
                  <c:v>41</c:v>
                </c:pt>
                <c:pt idx="10">
                  <c:v>41.25</c:v>
                </c:pt>
                <c:pt idx="11">
                  <c:v>41.25</c:v>
                </c:pt>
                <c:pt idx="12">
                  <c:v>41.5</c:v>
                </c:pt>
                <c:pt idx="13">
                  <c:v>41.5</c:v>
                </c:pt>
                <c:pt idx="14">
                  <c:v>41.75</c:v>
                </c:pt>
                <c:pt idx="15">
                  <c:v>41.75</c:v>
                </c:pt>
                <c:pt idx="16">
                  <c:v>42</c:v>
                </c:pt>
                <c:pt idx="17">
                  <c:v>42</c:v>
                </c:pt>
                <c:pt idx="18">
                  <c:v>42.25</c:v>
                </c:pt>
                <c:pt idx="19">
                  <c:v>42.25</c:v>
                </c:pt>
                <c:pt idx="20">
                  <c:v>42.5</c:v>
                </c:pt>
                <c:pt idx="21">
                  <c:v>42.5</c:v>
                </c:pt>
                <c:pt idx="22">
                  <c:v>42.75</c:v>
                </c:pt>
                <c:pt idx="23">
                  <c:v>42.75</c:v>
                </c:pt>
                <c:pt idx="24">
                  <c:v>43</c:v>
                </c:pt>
                <c:pt idx="25">
                  <c:v>43</c:v>
                </c:pt>
                <c:pt idx="26">
                  <c:v>43.25</c:v>
                </c:pt>
                <c:pt idx="27">
                  <c:v>43.25</c:v>
                </c:pt>
                <c:pt idx="28">
                  <c:v>43.5</c:v>
                </c:pt>
                <c:pt idx="29">
                  <c:v>43.5</c:v>
                </c:pt>
                <c:pt idx="30">
                  <c:v>43.75</c:v>
                </c:pt>
                <c:pt idx="31">
                  <c:v>43.75</c:v>
                </c:pt>
                <c:pt idx="32">
                  <c:v>44</c:v>
                </c:pt>
                <c:pt idx="33">
                  <c:v>44</c:v>
                </c:pt>
                <c:pt idx="34">
                  <c:v>44.25</c:v>
                </c:pt>
                <c:pt idx="35">
                  <c:v>44.25</c:v>
                </c:pt>
                <c:pt idx="36">
                  <c:v>44.5</c:v>
                </c:pt>
                <c:pt idx="37">
                  <c:v>44.5</c:v>
                </c:pt>
                <c:pt idx="38">
                  <c:v>44.75</c:v>
                </c:pt>
                <c:pt idx="39">
                  <c:v>44.75</c:v>
                </c:pt>
                <c:pt idx="40">
                  <c:v>45</c:v>
                </c:pt>
                <c:pt idx="41">
                  <c:v>45</c:v>
                </c:pt>
                <c:pt idx="42">
                  <c:v>45.25</c:v>
                </c:pt>
                <c:pt idx="43">
                  <c:v>45.25</c:v>
                </c:pt>
                <c:pt idx="44">
                  <c:v>45.5</c:v>
                </c:pt>
                <c:pt idx="45">
                  <c:v>45.5</c:v>
                </c:pt>
                <c:pt idx="46">
                  <c:v>45.75</c:v>
                </c:pt>
                <c:pt idx="47">
                  <c:v>45.75</c:v>
                </c:pt>
                <c:pt idx="48">
                  <c:v>46</c:v>
                </c:pt>
                <c:pt idx="49">
                  <c:v>46</c:v>
                </c:pt>
                <c:pt idx="50">
                  <c:v>46.25</c:v>
                </c:pt>
                <c:pt idx="51">
                  <c:v>46.25</c:v>
                </c:pt>
                <c:pt idx="52">
                  <c:v>46.5</c:v>
                </c:pt>
                <c:pt idx="53">
                  <c:v>46.5</c:v>
                </c:pt>
                <c:pt idx="54">
                  <c:v>46.75</c:v>
                </c:pt>
                <c:pt idx="55">
                  <c:v>46.75</c:v>
                </c:pt>
                <c:pt idx="56">
                  <c:v>47</c:v>
                </c:pt>
                <c:pt idx="57">
                  <c:v>47</c:v>
                </c:pt>
                <c:pt idx="58">
                  <c:v>47.25</c:v>
                </c:pt>
                <c:pt idx="59">
                  <c:v>47.25</c:v>
                </c:pt>
                <c:pt idx="60">
                  <c:v>47.5</c:v>
                </c:pt>
                <c:pt idx="61">
                  <c:v>47.5</c:v>
                </c:pt>
                <c:pt idx="62">
                  <c:v>47.75</c:v>
                </c:pt>
                <c:pt idx="63">
                  <c:v>47.75</c:v>
                </c:pt>
                <c:pt idx="64">
                  <c:v>48</c:v>
                </c:pt>
                <c:pt idx="65">
                  <c:v>48</c:v>
                </c:pt>
                <c:pt idx="66">
                  <c:v>48.25</c:v>
                </c:pt>
                <c:pt idx="67">
                  <c:v>48.25</c:v>
                </c:pt>
                <c:pt idx="68">
                  <c:v>48.5</c:v>
                </c:pt>
                <c:pt idx="69">
                  <c:v>48.5</c:v>
                </c:pt>
                <c:pt idx="70">
                  <c:v>48.75</c:v>
                </c:pt>
                <c:pt idx="71">
                  <c:v>48.75</c:v>
                </c:pt>
                <c:pt idx="72">
                  <c:v>49</c:v>
                </c:pt>
                <c:pt idx="73">
                  <c:v>49</c:v>
                </c:pt>
                <c:pt idx="74">
                  <c:v>49.25</c:v>
                </c:pt>
                <c:pt idx="75">
                  <c:v>49.25</c:v>
                </c:pt>
                <c:pt idx="76">
                  <c:v>49.5</c:v>
                </c:pt>
                <c:pt idx="77">
                  <c:v>49.5</c:v>
                </c:pt>
                <c:pt idx="78">
                  <c:v>49.75</c:v>
                </c:pt>
                <c:pt idx="79">
                  <c:v>49.75</c:v>
                </c:pt>
                <c:pt idx="80">
                  <c:v>50</c:v>
                </c:pt>
                <c:pt idx="81">
                  <c:v>50</c:v>
                </c:pt>
              </c:numCache>
            </c:numRef>
          </c:xVal>
          <c:yVal>
            <c:numRef>
              <c:f>'Chart Data'!$B$2:$B$83</c:f>
              <c:numCache>
                <c:formatCode>0</c:formatCode>
                <c:ptCount val="82"/>
                <c:pt idx="0">
                  <c:v>40</c:v>
                </c:pt>
                <c:pt idx="1">
                  <c:v>50</c:v>
                </c:pt>
                <c:pt idx="2">
                  <c:v>49.875</c:v>
                </c:pt>
                <c:pt idx="3">
                  <c:v>40.125</c:v>
                </c:pt>
                <c:pt idx="4">
                  <c:v>40.25</c:v>
                </c:pt>
                <c:pt idx="5">
                  <c:v>49.75</c:v>
                </c:pt>
                <c:pt idx="6">
                  <c:v>49.625</c:v>
                </c:pt>
                <c:pt idx="7">
                  <c:v>40.375</c:v>
                </c:pt>
                <c:pt idx="8">
                  <c:v>40.5</c:v>
                </c:pt>
                <c:pt idx="9">
                  <c:v>49.5</c:v>
                </c:pt>
                <c:pt idx="10">
                  <c:v>49.375</c:v>
                </c:pt>
                <c:pt idx="11">
                  <c:v>40.625</c:v>
                </c:pt>
                <c:pt idx="12">
                  <c:v>40.75</c:v>
                </c:pt>
                <c:pt idx="13">
                  <c:v>49.25</c:v>
                </c:pt>
                <c:pt idx="14">
                  <c:v>49.125</c:v>
                </c:pt>
                <c:pt idx="15">
                  <c:v>40.875</c:v>
                </c:pt>
                <c:pt idx="16">
                  <c:v>41</c:v>
                </c:pt>
                <c:pt idx="17">
                  <c:v>49</c:v>
                </c:pt>
                <c:pt idx="18">
                  <c:v>48.875</c:v>
                </c:pt>
                <c:pt idx="19">
                  <c:v>41.125</c:v>
                </c:pt>
                <c:pt idx="20">
                  <c:v>41.25</c:v>
                </c:pt>
                <c:pt idx="21">
                  <c:v>48.75</c:v>
                </c:pt>
                <c:pt idx="22">
                  <c:v>48.625</c:v>
                </c:pt>
                <c:pt idx="23">
                  <c:v>41.375</c:v>
                </c:pt>
                <c:pt idx="24">
                  <c:v>41.5</c:v>
                </c:pt>
                <c:pt idx="25">
                  <c:v>48.5</c:v>
                </c:pt>
                <c:pt idx="26">
                  <c:v>48.375</c:v>
                </c:pt>
                <c:pt idx="27">
                  <c:v>41.625</c:v>
                </c:pt>
                <c:pt idx="28">
                  <c:v>41.75</c:v>
                </c:pt>
                <c:pt idx="29">
                  <c:v>48.25</c:v>
                </c:pt>
                <c:pt idx="30">
                  <c:v>48.125</c:v>
                </c:pt>
                <c:pt idx="31">
                  <c:v>41.875</c:v>
                </c:pt>
                <c:pt idx="32">
                  <c:v>42</c:v>
                </c:pt>
                <c:pt idx="33">
                  <c:v>48</c:v>
                </c:pt>
                <c:pt idx="34">
                  <c:v>47.875</c:v>
                </c:pt>
                <c:pt idx="35">
                  <c:v>42.125</c:v>
                </c:pt>
                <c:pt idx="36">
                  <c:v>42.25</c:v>
                </c:pt>
                <c:pt idx="37">
                  <c:v>47.75</c:v>
                </c:pt>
                <c:pt idx="38">
                  <c:v>47.625</c:v>
                </c:pt>
                <c:pt idx="39">
                  <c:v>42.375</c:v>
                </c:pt>
                <c:pt idx="40">
                  <c:v>42.5</c:v>
                </c:pt>
                <c:pt idx="41">
                  <c:v>47.5</c:v>
                </c:pt>
                <c:pt idx="42">
                  <c:v>47.375</c:v>
                </c:pt>
                <c:pt idx="43">
                  <c:v>42.625</c:v>
                </c:pt>
                <c:pt idx="44">
                  <c:v>42.75</c:v>
                </c:pt>
                <c:pt idx="45">
                  <c:v>47.25</c:v>
                </c:pt>
                <c:pt idx="46">
                  <c:v>47.125</c:v>
                </c:pt>
                <c:pt idx="47">
                  <c:v>42.875</c:v>
                </c:pt>
                <c:pt idx="48">
                  <c:v>43</c:v>
                </c:pt>
                <c:pt idx="49">
                  <c:v>47</c:v>
                </c:pt>
                <c:pt idx="50">
                  <c:v>46.875</c:v>
                </c:pt>
                <c:pt idx="51">
                  <c:v>43.125</c:v>
                </c:pt>
                <c:pt idx="52">
                  <c:v>43.25</c:v>
                </c:pt>
                <c:pt idx="53">
                  <c:v>46.75</c:v>
                </c:pt>
                <c:pt idx="54">
                  <c:v>46.625</c:v>
                </c:pt>
                <c:pt idx="55">
                  <c:v>43.375</c:v>
                </c:pt>
                <c:pt idx="56">
                  <c:v>43.5</c:v>
                </c:pt>
                <c:pt idx="57">
                  <c:v>46.5</c:v>
                </c:pt>
                <c:pt idx="58">
                  <c:v>46.375</c:v>
                </c:pt>
                <c:pt idx="59">
                  <c:v>43.625</c:v>
                </c:pt>
                <c:pt idx="60">
                  <c:v>43.75</c:v>
                </c:pt>
                <c:pt idx="61">
                  <c:v>46.25</c:v>
                </c:pt>
                <c:pt idx="62">
                  <c:v>46.125</c:v>
                </c:pt>
                <c:pt idx="63">
                  <c:v>43.875</c:v>
                </c:pt>
                <c:pt idx="64">
                  <c:v>44</c:v>
                </c:pt>
                <c:pt idx="65">
                  <c:v>46</c:v>
                </c:pt>
                <c:pt idx="66">
                  <c:v>45.875</c:v>
                </c:pt>
                <c:pt idx="67">
                  <c:v>44.125</c:v>
                </c:pt>
                <c:pt idx="68">
                  <c:v>44.25</c:v>
                </c:pt>
                <c:pt idx="69">
                  <c:v>45.75</c:v>
                </c:pt>
                <c:pt idx="70">
                  <c:v>45.625</c:v>
                </c:pt>
                <c:pt idx="71">
                  <c:v>44.375</c:v>
                </c:pt>
                <c:pt idx="72">
                  <c:v>44.5</c:v>
                </c:pt>
                <c:pt idx="73">
                  <c:v>45.5</c:v>
                </c:pt>
                <c:pt idx="74">
                  <c:v>45.375</c:v>
                </c:pt>
                <c:pt idx="75">
                  <c:v>44.625</c:v>
                </c:pt>
                <c:pt idx="76">
                  <c:v>44.75</c:v>
                </c:pt>
                <c:pt idx="77">
                  <c:v>45.25</c:v>
                </c:pt>
                <c:pt idx="78">
                  <c:v>45.125</c:v>
                </c:pt>
                <c:pt idx="79">
                  <c:v>44.875</c:v>
                </c:pt>
                <c:pt idx="80">
                  <c:v>45</c:v>
                </c:pt>
                <c:pt idx="81">
                  <c:v>45</c:v>
                </c:pt>
              </c:numCache>
            </c:numRef>
          </c:yVal>
          <c:smooth val="0"/>
        </c:ser>
        <c:ser>
          <c:idx val="1"/>
          <c:order val="1"/>
          <c:tx>
            <c:v>Grens verlies</c:v>
          </c:tx>
          <c:spPr>
            <a:ln xmlns:a="http://schemas.openxmlformats.org/drawingml/2006/main" w="23813">
              <a:solidFill>
                <a:srgbClr val="B7443E"/>
              </a:solidFill>
            </a:ln>
          </c:spPr>
          <c:marker>
            <c:symbol val="none"/>
          </c:marker>
          <c:xVal>
            <c:numRef>
              <c:f>'Chart Data'!$C$2:$C$5</c:f>
              <c:numCache>
                <c:formatCode>General</c:formatCode>
                <c:ptCount val="4"/>
                <c:pt idx="0">
                  <c:v>40</c:v>
                </c:pt>
                <c:pt idx="1">
                  <c:v>50</c:v>
                </c:pt>
                <c:pt idx="2">
                  <c:v>40</c:v>
                </c:pt>
                <c:pt idx="3">
                  <c:v>40</c:v>
                </c:pt>
              </c:numCache>
            </c:numRef>
          </c:xVal>
          <c:yVal>
            <c:numRef>
              <c:f>'Chart Data'!$D$2:$D$5</c:f>
              <c:numCache>
                <c:formatCode>0</c:formatCode>
                <c:ptCount val="4"/>
                <c:pt idx="0">
                  <c:v>40</c:v>
                </c:pt>
                <c:pt idx="1">
                  <c:v>45</c:v>
                </c:pt>
                <c:pt idx="2">
                  <c:v>50</c:v>
                </c:pt>
                <c:pt idx="3">
                  <c:v>40</c:v>
                </c:pt>
              </c:numCache>
            </c:numRef>
          </c:yVal>
          <c:smooth val="0"/>
        </c:ser>
        <c:ser>
          <c:idx val="2"/>
          <c:order val="2"/>
          <c:tx>
            <c:v>Vraag</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Vraag</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80</c:v>
                </c:pt>
                <c:pt idx="2">
                  <c:v>100</c:v>
                </c:pt>
              </c:numCache>
            </c:numRef>
          </c:xVal>
          <c:yVal>
            <c:numRef>
              <c:f>'Chart Data'!$F$2:$F$4</c:f>
              <c:numCache>
                <c:formatCode>0</c:formatCode>
                <c:ptCount val="3"/>
                <c:pt idx="0">
                  <c:v>60</c:v>
                </c:pt>
                <c:pt idx="1">
                  <c:v>20</c:v>
                </c:pt>
                <c:pt idx="2">
                  <c:v>10</c:v>
                </c:pt>
              </c:numCache>
            </c:numRef>
          </c:yVal>
          <c:smooth val="0"/>
        </c:ser>
        <c:ser>
          <c:idx val="3"/>
          <c:order val="3"/>
          <c:tx>
            <c:v>A = MK</c:v>
          </c:tx>
          <c:spPr>
            <a:ln xmlns:a="http://schemas.openxmlformats.org/drawingml/2006/main" w="38100">
              <a:solidFill>
                <a:srgbClr val="B7443E"/>
              </a:solidFill>
            </a:ln>
          </c:spPr>
          <c:marker>
            <c:symbol val="none"/>
          </c:marker>
          <c:dLbls>
            <c:dLbl>
              <c:idx val="1"/>
              <c:tx>
                <c:rich>
                  <a:bodyPr xmlns:a="http://schemas.openxmlformats.org/drawingml/2006/main"/>
                  <a:lstStyle xmlns:a="http://schemas.openxmlformats.org/drawingml/2006/main"/>
                  <a:p xmlns:a="http://schemas.openxmlformats.org/drawingml/2006/main">
                    <a:r>
                      <a:rPr sz="1875" b="1">
                        <a:solidFill>
                          <a:srgbClr val="B7443E"/>
                        </a:solidFill>
                        <a:latin typeface="Arial"/>
                        <a:ea typeface="Arial"/>
                        <a:cs typeface="Arial"/>
                      </a:rPr>
                      <a:t>A = MK</a:t>
                    </a:r>
                  </a:p>
                </c:rich>
              </c:tx>
              <c:txPr>
                <a:bodyPr xmlns:a="http://schemas.openxmlformats.org/drawingml/2006/main" anchorCtr="1"/>
                <a:lstStyle xmlns:a="http://schemas.openxmlformats.org/drawingml/2006/main"/>
                <a:p xmlns:a="http://schemas.openxmlformats.org/drawingml/2006/main">
                  <a:pPr>
                    <a:defRPr sz="1875" b="1">
                      <a:solidFill>
                        <a:srgbClr val="B7443E"/>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0</c:v>
                </c:pt>
                <c:pt idx="1">
                  <c:v>80</c:v>
                </c:pt>
                <c:pt idx="2">
                  <c:v>100</c:v>
                </c:pt>
              </c:numCache>
            </c:numRef>
          </c:xVal>
          <c:yVal>
            <c:numRef>
              <c:f>'Chart Data'!$H$2:$H$4</c:f>
              <c:numCache>
                <c:formatCode>0</c:formatCode>
                <c:ptCount val="3"/>
                <c:pt idx="0">
                  <c:v>20</c:v>
                </c:pt>
                <c:pt idx="1">
                  <c:v>60</c:v>
                </c:pt>
                <c:pt idx="2">
                  <c:v>70</c:v>
                </c:pt>
              </c:numCache>
            </c:numRef>
          </c:yVal>
          <c:smooth val="0"/>
        </c:ser>
        <c:ser>
          <c:idx val="4"/>
          <c:order val="4"/>
          <c:tx>
            <c:v>Baten maatschappelijk</c:v>
          </c:tx>
          <c:spPr>
            <a:ln xmlns:a="http://schemas.openxmlformats.org/drawingml/2006/main" w="38100">
              <a:solidFill>
                <a:srgbClr val="20665B"/>
              </a:solidFill>
            </a:ln>
          </c:spPr>
          <c:marker>
            <c:symbol val="none"/>
          </c:marker>
          <c:xVal>
            <c:numRef>
              <c:f>'Chart Data'!$I$2:$I$4</c:f>
              <c:numCache>
                <c:formatCode>General</c:formatCode>
                <c:ptCount val="3"/>
                <c:pt idx="0">
                  <c:v>0</c:v>
                </c:pt>
                <c:pt idx="1">
                  <c:v>80</c:v>
                </c:pt>
                <c:pt idx="2">
                  <c:v>100</c:v>
                </c:pt>
              </c:numCache>
            </c:numRef>
          </c:xVal>
          <c:yVal>
            <c:numRef>
              <c:f>'Chart Data'!$J$2:$J$4</c:f>
              <c:numCache>
                <c:formatCode>0</c:formatCode>
                <c:ptCount val="3"/>
                <c:pt idx="0">
                  <c:v>70</c:v>
                </c:pt>
                <c:pt idx="1">
                  <c:v>30</c:v>
                </c:pt>
                <c:pt idx="2">
                  <c:v>20</c:v>
                </c:pt>
              </c:numCache>
            </c:numRef>
          </c:yVal>
          <c:smooth val="0"/>
        </c:ser>
        <c:ser>
          <c:idx val="5"/>
          <c:order val="5"/>
          <c:tx>
            <c:v>Maatschappelijke baten label</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Baten maatschappelijk</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30</c:v>
                </c:pt>
              </c:numCache>
            </c:numRef>
          </c:xVal>
          <c:yVal>
            <c:numRef>
              <c:f>'Chart Data'!$L$2:$L$2</c:f>
              <c:numCache>
                <c:formatCode>0</c:formatCode>
                <c:ptCount val="1"/>
                <c:pt idx="0">
                  <c:v>62</c:v>
                </c:pt>
              </c:numCache>
            </c:numRef>
          </c:yVal>
          <c:smooth val="0"/>
        </c:ser>
        <c:ser>
          <c:idx val="6"/>
          <c:order val="6"/>
          <c:tx>
            <c:v>Q0 en P0 hulplijnen</c:v>
          </c:tx>
          <c:spPr>
            <a:ln xmlns:a="http://schemas.openxmlformats.org/drawingml/2006/main" w="13335">
              <a:solidFill>
                <a:srgbClr val="445B6B"/>
              </a:solidFill>
            </a:ln>
          </c:spPr>
          <c:marker>
            <c:symbol val="none"/>
          </c:marker>
          <c:xVal>
            <c:numRef>
              <c:f>'Chart Data'!$M$2:$M$4</c:f>
              <c:numCache>
                <c:formatCode>General</c:formatCode>
                <c:ptCount val="3"/>
                <c:pt idx="0">
                  <c:v>0</c:v>
                </c:pt>
                <c:pt idx="1">
                  <c:v>40</c:v>
                </c:pt>
                <c:pt idx="2">
                  <c:v>40</c:v>
                </c:pt>
              </c:numCache>
            </c:numRef>
          </c:xVal>
          <c:yVal>
            <c:numRef>
              <c:f>'Chart Data'!$N$2:$N$4</c:f>
              <c:numCache>
                <c:formatCode>0</c:formatCode>
                <c:ptCount val="3"/>
                <c:pt idx="0">
                  <c:v>40</c:v>
                </c:pt>
                <c:pt idx="1">
                  <c:v>40</c:v>
                </c:pt>
                <c:pt idx="2">
                  <c:v>0</c:v>
                </c:pt>
              </c:numCache>
            </c:numRef>
          </c:yVal>
          <c:smooth val="0"/>
        </c:ser>
        <c:ser>
          <c:idx val="7"/>
          <c:order val="7"/>
          <c:tx>
            <c:v>Marktevenwicht</c:v>
          </c:tx>
          <c:spPr>
            <a:ln xmlns:a="http://schemas.openxmlformats.org/drawingml/2006/main" w="0">
              <a:solidFill>
                <a:srgbClr val="183247"/>
              </a:solidFill>
            </a:ln>
          </c:spPr>
          <c:marker>
            <c:symbol val="circle"/>
            <c:size val="9"/>
            <c:spPr>
              <a:solidFill xmlns:a="http://schemas.openxmlformats.org/drawingml/2006/main">
                <a:srgbClr val="183247"/>
              </a:solidFill>
            </c:spPr>
          </c:marker>
          <c:xVal>
            <c:numRef>
              <c:f>'Chart Data'!$O$2:$O$2</c:f>
              <c:numCache>
                <c:formatCode>General</c:formatCode>
                <c:ptCount val="1"/>
                <c:pt idx="0">
                  <c:v>40</c:v>
                </c:pt>
              </c:numCache>
            </c:numRef>
          </c:xVal>
          <c:yVal>
            <c:numRef>
              <c:f>'Chart Data'!$P$2:$P$2</c:f>
              <c:numCache>
                <c:formatCode>0</c:formatCode>
                <c:ptCount val="1"/>
                <c:pt idx="0">
                  <c:v>40</c:v>
                </c:pt>
              </c:numCache>
            </c:numRef>
          </c:yVal>
          <c:smooth val="0"/>
        </c:ser>
        <c:ser>
          <c:idx val="8"/>
          <c:order val="8"/>
          <c:tx>
            <c:v>Qe hulplijn</c:v>
          </c:tx>
          <c:spPr>
            <a:ln xmlns:a="http://schemas.openxmlformats.org/drawingml/2006/main" w="13335">
              <a:solidFill>
                <a:srgbClr val="445B6B"/>
              </a:solidFill>
            </a:ln>
          </c:spPr>
          <c:marker>
            <c:symbol val="none"/>
          </c:marker>
          <c:xVal>
            <c:numRef>
              <c:f>'Chart Data'!$Q$2:$Q$3</c:f>
              <c:numCache>
                <c:formatCode>General</c:formatCode>
                <c:ptCount val="2"/>
                <c:pt idx="0">
                  <c:v>50</c:v>
                </c:pt>
                <c:pt idx="1">
                  <c:v>50</c:v>
                </c:pt>
              </c:numCache>
            </c:numRef>
          </c:xVal>
          <c:yVal>
            <c:numRef>
              <c:f>'Chart Data'!$R$2:$R$3</c:f>
              <c:numCache>
                <c:formatCode>0</c:formatCode>
                <c:ptCount val="2"/>
                <c:pt idx="0">
                  <c:v>0</c:v>
                </c:pt>
                <c:pt idx="1">
                  <c:v>45</c:v>
                </c:pt>
              </c:numCache>
            </c:numRef>
          </c:yVal>
          <c:smooth val="0"/>
        </c:ser>
        <c:ser>
          <c:idx val="9"/>
          <c:order val="9"/>
          <c:tx>
            <c:v>Efficiënte hoeveelheid</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Data'!$S$2:$S$2</c:f>
              <c:numCache>
                <c:formatCode>General</c:formatCode>
                <c:ptCount val="1"/>
                <c:pt idx="0">
                  <c:v>50</c:v>
                </c:pt>
              </c:numCache>
            </c:numRef>
          </c:xVal>
          <c:yVal>
            <c:numRef>
              <c:f>'Chart Data'!$T$2:$T$2</c:f>
              <c:numCache>
                <c:formatCode>0</c:formatCode>
                <c:ptCount val="1"/>
                <c:pt idx="0">
                  <c:v>45</c:v>
                </c:pt>
              </c:numCache>
            </c:numRef>
          </c:yVal>
          <c:smooth val="0"/>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kosten en baten (€ per deelnemer)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(deelnemers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5 Positieve externe effecten">
            <a:extLst xmlns:a="http://schemas.openxmlformats.org/drawingml/2006/main">
              <a:ext uri="{FF2B5EF4-FFF2-40B4-BE49-F238E27FC236}">
                <a16:creationId xmlns:a16="http://schemas.microsoft.com/office/drawing/2014/main" id="{8E25A9EF-1194-4A9B-80B0-9C457844489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§4.2.5 Positieve externe effecten</a:t>
            </a:r>
          </a:p>
        </p:txBody>
      </p:sp>
      <p:sp>
        <p:nvSpPr>
          <p:cNvPr id="2" name="">
            <a:extLst xmlns:a="http://schemas.openxmlformats.org/drawingml/2006/main">
              <a:ext uri="{FF2B5EF4-FFF2-40B4-BE49-F238E27FC236}">
                <a16:creationId xmlns:a16="http://schemas.microsoft.com/office/drawing/2014/main" id="{68BE484D-26EA-419C-BBA5-2105FE09A0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A9BE6944-4685-4716-89F0-7B5A723E91C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1">
            <a:extLst xmlns:a="http://schemas.openxmlformats.org/drawingml/2006/main">
              <a:ext uri="{FF2B5EF4-FFF2-40B4-BE49-F238E27FC236}">
                <a16:creationId xmlns:a16="http://schemas.microsoft.com/office/drawing/2014/main" id="{2439C898-F331-4690-914E-261DC135748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49921F9F-4051-4D80-BA79-A307DE15B82E}"/>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7A5450BE-519F-4526-94D3-7B1E95214CE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E20DB447-6263-4194-A5DD-11CDD4D37C39}"/>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39B87D1C-82E2-4699-94B7-C7B3A070C51D}"/>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B4C4212B-7A2A-4E37-B93D-F22B668634DD}"/>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58001B23-6F32-45B5-B700-ABE5BE40FCEF}"/>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B29917AD-AE38-44DD-87F9-A7429332B6F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D68FF3AE-D1C8-40AD-832F-491E804A4A03}"/>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D926A502-42D5-410D-917B-9C7D9906C91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E228FB60-F9EA-4DD1-8D51-99DDC7E870B4}"/>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37B86A47-717A-49A3-821C-AD35A0B73A6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93F0712A-5EAD-4D58-ABE6-E605E9D1AC7F}"/>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E5668B97-9D87-4AF1-AADE-173785606F9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0C215076-485E-4BC4-9857-DC8C6601B078}"/>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43.</a:t>
            </a:r>
          </a:p>
        </p:txBody>
      </p:sp>
      <p:sp>
        <p:nvSpPr>
          <p:cNvPr id="19" name="route-number-6">
            <a:extLst xmlns:a="http://schemas.openxmlformats.org/drawingml/2006/main">
              <a:ext uri="{FF2B5EF4-FFF2-40B4-BE49-F238E27FC236}">
                <a16:creationId xmlns:a16="http://schemas.microsoft.com/office/drawing/2014/main" id="{2FB612DD-0F2C-4C4D-872B-16330DAA38B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0AE2AB02-44D9-41F1-ADED-6D1CFB3BE994}"/>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5F5755E-7B9F-4ADF-9E5B-6B6DEB6C3D9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983010E-F288-46D0-B7A8-66E5256E065E}"/>
              </a:ext>
            </a:extLst>
          </p:cNvPr>
          <p:cNvSpPr>
            <a:spLocks xmlns:a="http://schemas.openxmlformats.org/drawingml/2006/main" noGrp="1"/>
          </p:cNvSpPr>
          <p:nvPr/>
        </p:nvSpPr>
        <p:spPr>
          <a:xfrm xmlns:a="http://schemas.openxmlformats.org/drawingml/2006/main">
            <a:off x="9258300" y="2286000"/>
            <a:ext cx="53816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Privaat en extern voordeel.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Subsidie en uitgaven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Maatschappelijk surplus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efficiënte hoeveelheid bepalen.</a:t>
            </a:r>
          </a:p>
        </p:txBody>
      </p:sp>
      <p:sp>
        <p:nvSpPr>
          <p:cNvPr id="23" name="">
            <a:extLst xmlns:a="http://schemas.openxmlformats.org/drawingml/2006/main">
              <a:ext uri="{FF2B5EF4-FFF2-40B4-BE49-F238E27FC236}">
                <a16:creationId xmlns:a16="http://schemas.microsoft.com/office/drawing/2014/main" id="{5EAFAEDB-F129-48B1-B11A-E98A027DFA25}"/>
              </a:ext>
            </a:extLst>
          </p:cNvPr>
          <p:cNvSpPr>
            <a:spLocks xmlns:a="http://schemas.openxmlformats.org/drawingml/2006/main" noGrp="1"/>
          </p:cNvSpPr>
          <p:nvPr/>
        </p:nvSpPr>
        <p:spPr>
          <a:xfrm xmlns:a="http://schemas.openxmlformats.org/drawingml/2006/main">
            <a:off x="9258300" y="370522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C620AC0-38B5-472B-9DD9-884E259465EA}"/>
              </a:ext>
            </a:extLst>
          </p:cNvPr>
          <p:cNvSpPr>
            <a:spLocks xmlns:a="http://schemas.openxmlformats.org/drawingml/2006/main" noGrp="1"/>
          </p:cNvSpPr>
          <p:nvPr/>
        </p:nvSpPr>
        <p:spPr>
          <a:xfrm xmlns:a="http://schemas.openxmlformats.org/drawingml/2006/main">
            <a:off x="9258300" y="3876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1B243AC-0E72-4761-B920-6CA020F7764C}"/>
              </a:ext>
            </a:extLst>
          </p:cNvPr>
          <p:cNvSpPr>
            <a:spLocks xmlns:a="http://schemas.openxmlformats.org/drawingml/2006/main" noGrp="1"/>
          </p:cNvSpPr>
          <p:nvPr/>
        </p:nvSpPr>
        <p:spPr>
          <a:xfrm xmlns:a="http://schemas.openxmlformats.org/drawingml/2006/main">
            <a:off x="9258300" y="439102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94 · Opgaven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38: verkennen, theorie p. 88</a:t>
            </a:r>
          </a:p>
        </p:txBody>
      </p:sp>
      <p:sp>
        <p:nvSpPr>
          <p:cNvPr id="26" name="">
            <a:extLst xmlns:a="http://schemas.openxmlformats.org/drawingml/2006/main">
              <a:ext uri="{FF2B5EF4-FFF2-40B4-BE49-F238E27FC236}">
                <a16:creationId xmlns:a16="http://schemas.microsoft.com/office/drawing/2014/main" id="{E6426430-4CE4-4F92-B26E-CCA5C5AEFB5A}"/>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8A9023A-4805-47B0-8C59-0AB7489EF4B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856BCAA-6970-4DF0-8424-6F26BF2A4AEA}"/>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39 en 40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41 en 42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55342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ivaat voordeel en voordeel voor derden">
            <a:extLst xmlns:a="http://schemas.openxmlformats.org/drawingml/2006/main">
              <a:ext uri="{FF2B5EF4-FFF2-40B4-BE49-F238E27FC236}">
                <a16:creationId xmlns:a16="http://schemas.microsoft.com/office/drawing/2014/main" id="{2A350BEA-D51C-4589-8659-72C5E5F51EC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Privaat voordeel en voordeel voor derden</a:t>
            </a:r>
          </a:p>
        </p:txBody>
      </p:sp>
      <p:sp>
        <p:nvSpPr>
          <p:cNvPr id="2" name="">
            <a:extLst xmlns:a="http://schemas.openxmlformats.org/drawingml/2006/main">
              <a:ext uri="{FF2B5EF4-FFF2-40B4-BE49-F238E27FC236}">
                <a16:creationId xmlns:a16="http://schemas.microsoft.com/office/drawing/2014/main" id="{5ACCCA16-92B6-4B70-8265-BFBA5BD71D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B73BB0D-B0BD-48E2-B320-B5DA112D751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2">
            <a:extLst xmlns:a="http://schemas.openxmlformats.org/drawingml/2006/main">
              <a:ext uri="{FF2B5EF4-FFF2-40B4-BE49-F238E27FC236}">
                <a16:creationId xmlns:a16="http://schemas.microsoft.com/office/drawing/2014/main" id="{6BA3B6F9-6427-4610-9D00-DC79D7C688D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Dakgroen: een fictieve markt voor groene-dakdiensten">
            <a:extLst xmlns:a="http://schemas.openxmlformats.org/drawingml/2006/main">
              <a:ext uri="{FF2B5EF4-FFF2-40B4-BE49-F238E27FC236}">
                <a16:creationId xmlns:a16="http://schemas.microsoft.com/office/drawing/2014/main" id="{36776EC2-7FAF-4A00-973F-4D631632A861}"/>
              </a:ext>
            </a:extLst>
          </p:cNvPr>
          <p:cNvSpPr>
            <a:spLocks xmlns:a="http://schemas.openxmlformats.org/drawingml/2006/main" noGrp="1"/>
          </p:cNvSpPr>
          <p:nvPr/>
        </p:nvSpPr>
        <p:spPr>
          <a:xfrm xmlns:a="http://schemas.openxmlformats.org/drawingml/2006/main">
            <a:off x="571500" y="18288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Dakgroen: een fictieve markt voor groene-dakdiensten</a:t>
            </a:r>
          </a:p>
        </p:txBody>
      </p:sp>
      <p:graphicFrame>
        <p:nvGraphicFramePr>
          <p:cNvPr id="13" name=""/>
          <p:cNvGraphicFramePr/>
          <p:nvPr/>
        </p:nvGraphicFramePr>
        <p:xfrm>
          <a:off xmlns:a="http://schemas.openxmlformats.org/drawingml/2006/main" x="571500" y="2857500"/>
          <a:ext xmlns:a="http://schemas.openxmlformats.org/drawingml/2006/main" cx="14097000" cy="3267075"/>
        </p:xfrm>
        <a:graphic xmlns:a="http://schemas.openxmlformats.org/drawingml/2006/main">
          <a:graphicData uri="http://schemas.openxmlformats.org/drawingml/2006/table">
            <a:tbl>
              <a:tblPr/>
              <a:tblGrid>
                <a:gridCol w="3524250"/>
                <a:gridCol w="5476875"/>
                <a:gridCol w="5095875"/>
              </a:tblGrid>
              <a:tr h="816769">
                <a:tc>
                  <a:txBody>
                    <a:bodyPr lIns="171450" tIns="95250" rIns="152400" bIns="95250"/>
                    <a:lstStyle/>
                    <a:p>
                      <a:r>
                        <a:rPr sz="2550" b="1">
                          <a:solidFill>
                            <a:srgbClr val="FFFFFF"/>
                          </a:solidFill>
                          <a:latin typeface="Arial"/>
                          <a:ea typeface="Arial"/>
                          <a:cs typeface="Arial"/>
                        </a:rPr>
                        <a:t>Betrokkene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Wat krijgt diegene?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Economische betekenis</a:t>
                      </a:r>
                    </a:p>
                  </a:txBody>
                  <a:tcPr marL="91440" marR="91440" marT="45720" marB="45720" anchor="ctr">
                    <a:solidFill>
                      <a:srgbClr val="183247"/>
                    </a:solidFill>
                  </a:tcPr>
                </a:tc>
              </a:tr>
              <a:tr h="816769">
                <a:tc>
                  <a:txBody>
                    <a:bodyPr lIns="171450" tIns="95250" rIns="152400" bIns="95250"/>
                    <a:lstStyle/>
                    <a:p>
                      <a:r>
                        <a:rPr sz="2550"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Een eigen groen dak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Privaat voordeel</a:t>
                      </a:r>
                    </a:p>
                  </a:txBody>
                  <a:tcPr marL="91440" marR="91440" marT="45720" marB="45720" anchor="ctr">
                    <a:solidFill>
                      <a:srgbClr val="FFFFFF"/>
                    </a:solidFill>
                  </a:tcPr>
                </a:tc>
              </a:tr>
              <a:tr h="816769">
                <a:tc>
                  <a:txBody>
                    <a:bodyPr lIns="171450" tIns="95250" rIns="152400" bIns="95250"/>
                    <a:lstStyle/>
                    <a:p>
                      <a:r>
                        <a:rPr sz="2550" b="0">
                          <a:solidFill>
                            <a:srgbClr val="183247"/>
                          </a:solidFill>
                          <a:latin typeface="Arial"/>
                          <a:ea typeface="Arial"/>
                          <a:cs typeface="Arial"/>
                        </a:rPr>
                        <a:t>Aanbieder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Betaling voor de dienst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Markttransactie</a:t>
                      </a:r>
                    </a:p>
                  </a:txBody>
                  <a:tcPr marL="91440" marR="91440" marT="45720" marB="45720" anchor="ctr">
                    <a:solidFill>
                      <a:srgbClr val="EFF4F7"/>
                    </a:solidFill>
                  </a:tcPr>
                </a:tc>
              </a:tr>
              <a:tr h="816769">
                <a:tc>
                  <a:txBody>
                    <a:bodyPr lIns="171450" tIns="95250" rIns="152400" bIns="95250"/>
                    <a:lstStyle/>
                    <a:p>
                      <a:r>
                        <a:rPr sz="2550" b="0">
                          <a:solidFill>
                            <a:srgbClr val="183247"/>
                          </a:solidFill>
                          <a:latin typeface="Arial"/>
                          <a:ea typeface="Arial"/>
                          <a:cs typeface="Arial"/>
                        </a:rPr>
                        <a:t>Omwonenden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Onbetaalde verkoeling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Positief extern effect</a:t>
                      </a:r>
                    </a:p>
                  </a:txBody>
                  <a:tcPr marL="91440" marR="91440" marT="45720" marB="45720" anchor="ctr">
                    <a:solidFill>
                      <a:srgbClr val="FFFFFF"/>
                    </a:solidFill>
                  </a:tcPr>
                </a:tc>
              </a:tr>
            </a:tbl>
          </a:graphicData>
        </a:graphic>
      </p:graphicFrame>
      <p:sp>
        <p:nvSpPr>
          <p:cNvPr id="7" name="De bron moet het voordeel voor derden afzonderlijk onde">
            <a:extLst xmlns:a="http://schemas.openxmlformats.org/drawingml/2006/main">
              <a:ext uri="{FF2B5EF4-FFF2-40B4-BE49-F238E27FC236}">
                <a16:creationId xmlns:a16="http://schemas.microsoft.com/office/drawing/2014/main" id="{AA337E4A-4F30-4A65-B637-918181E32F79}"/>
              </a:ext>
            </a:extLst>
          </p:cNvPr>
          <p:cNvSpPr>
            <a:spLocks xmlns:a="http://schemas.openxmlformats.org/drawingml/2006/main" noGrp="1"/>
          </p:cNvSpPr>
          <p:nvPr/>
        </p:nvSpPr>
        <p:spPr>
          <a:xfrm xmlns:a="http://schemas.openxmlformats.org/drawingml/2006/main">
            <a:off x="571500" y="684847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 bron moet het voordeel voor derden afzonderlijk onderbouwen.</a:t>
            </a:r>
          </a:p>
        </p:txBody>
      </p:sp>
    </p:spTree>
    <p:extLst>
      <p:ext uri="{BB962C8B-B14F-4D97-AF65-F5344CB8AC3E}">
        <p14:creationId xmlns:p14="http://schemas.microsoft.com/office/powerpoint/2010/main" val="19291529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kgroen: gegevens van het uitlegvoorbeeld">
            <a:extLst xmlns:a="http://schemas.openxmlformats.org/drawingml/2006/main">
              <a:ext uri="{FF2B5EF4-FFF2-40B4-BE49-F238E27FC236}">
                <a16:creationId xmlns:a16="http://schemas.microsoft.com/office/drawing/2014/main" id="{87AA2BB9-B7A5-423A-A498-AD9F5997325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Dakgroen: gegevens van het uitlegvoorbeeld</a:t>
            </a:r>
          </a:p>
        </p:txBody>
      </p:sp>
      <p:sp>
        <p:nvSpPr>
          <p:cNvPr id="2" name="">
            <a:extLst xmlns:a="http://schemas.openxmlformats.org/drawingml/2006/main">
              <a:ext uri="{FF2B5EF4-FFF2-40B4-BE49-F238E27FC236}">
                <a16:creationId xmlns:a16="http://schemas.microsoft.com/office/drawing/2014/main" id="{C659DE44-8F49-4ED4-895B-EFC0981660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1E40462-BB24-459E-B9B1-DAA9D43FD03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7372644A-0EF7-4514-A210-A8A4BD729D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1" name=""/>
          <p:cNvGraphicFramePr/>
          <p:nvPr/>
        </p:nvGraphicFramePr>
        <p:xfrm>
          <a:off xmlns:a="http://schemas.openxmlformats.org/drawingml/2006/main" x="571500" y="1885950"/>
          <a:ext xmlns:a="http://schemas.openxmlformats.org/drawingml/2006/main" cx="14097000" cy="4648200"/>
        </p:xfrm>
        <a:graphic xmlns:a="http://schemas.openxmlformats.org/drawingml/2006/main">
          <a:graphicData uri="http://schemas.openxmlformats.org/drawingml/2006/table">
            <a:tbl>
              <a:tblPr/>
              <a:tblGrid>
                <a:gridCol w="6191250"/>
                <a:gridCol w="7905750"/>
              </a:tblGrid>
              <a:tr h="774700">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r>
              <a:tr h="774700">
                <a:tc>
                  <a:txBody>
                    <a:bodyPr lIns="171450" tIns="95250" rIns="152400" bIns="95250"/>
                    <a:lstStyle/>
                    <a:p>
                      <a:r>
                        <a:rPr sz="2550" b="0">
                          <a:solidFill>
                            <a:srgbClr val="183247"/>
                          </a:solidFill>
                          <a:latin typeface="Arial"/>
                          <a:ea typeface="Arial"/>
                          <a:cs typeface="Arial"/>
                        </a:rPr>
                        <a:t>Private vraag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Pc = 44 − 0,5Q</a:t>
                      </a:r>
                    </a:p>
                  </a:txBody>
                  <a:tcPr marL="91440" marR="91440" marT="45720" marB="45720" anchor="ctr">
                    <a:solidFill>
                      <a:srgbClr val="FFFFFF"/>
                    </a:solidFill>
                  </a:tcPr>
                </a:tc>
              </a:tr>
              <a:tr h="774700">
                <a:tc>
                  <a:txBody>
                    <a:bodyPr lIns="171450" tIns="95250" rIns="152400" bIns="95250"/>
                    <a:lstStyle/>
                    <a:p>
                      <a:r>
                        <a:rPr sz="2550" b="0">
                          <a:solidFill>
                            <a:srgbClr val="183247"/>
                          </a:solidFill>
                          <a:latin typeface="Arial"/>
                          <a:ea typeface="Arial"/>
                          <a:cs typeface="Arial"/>
                        </a:rPr>
                        <a:t>Oorspronkelijk aanbod = MK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Pp = 8 + 0,5Q</a:t>
                      </a:r>
                    </a:p>
                  </a:txBody>
                  <a:tcPr marL="91440" marR="91440" marT="45720" marB="45720" anchor="ctr">
                    <a:solidFill>
                      <a:srgbClr val="EFF4F7"/>
                    </a:solidFill>
                  </a:tcPr>
                </a:tc>
              </a:tr>
              <a:tr h="774700">
                <a:tc>
                  <a:txBody>
                    <a:bodyPr lIns="171450" tIns="95250" rIns="152400" bIns="95250"/>
                    <a:lstStyle/>
                    <a:p>
                      <a:r>
                        <a:rPr sz="2550" b="0">
                          <a:solidFill>
                            <a:srgbClr val="183247"/>
                          </a:solidFill>
                          <a:latin typeface="Arial"/>
                          <a:ea typeface="Arial"/>
                          <a:cs typeface="Arial"/>
                        </a:rPr>
                        <a:t>Extern voordeel</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€ 12 per dakdienst</a:t>
                      </a:r>
                    </a:p>
                  </a:txBody>
                  <a:tcPr marL="91440" marR="91440" marT="45720" marB="45720" anchor="ctr">
                    <a:solidFill>
                      <a:srgbClr val="FFFFFF"/>
                    </a:solidFill>
                  </a:tcPr>
                </a:tc>
              </a:tr>
              <a:tr h="774700">
                <a:tc>
                  <a:txBody>
                    <a:bodyPr lIns="171450" tIns="95250" rIns="152400" bIns="95250"/>
                    <a:lstStyle/>
                    <a:p>
                      <a:r>
                        <a:rPr sz="2550" b="0">
                          <a:solidFill>
                            <a:srgbClr val="183247"/>
                          </a:solidFill>
                          <a:latin typeface="Arial"/>
                          <a:ea typeface="Arial"/>
                          <a:cs typeface="Arial"/>
                        </a:rPr>
                        <a:t>Subsidie aan aanbieders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€ 12 per uitgevoerde dakdienst</a:t>
                      </a:r>
                    </a:p>
                  </a:txBody>
                  <a:tcPr marL="91440" marR="91440" marT="45720" marB="45720" anchor="ctr">
                    <a:solidFill>
                      <a:srgbClr val="EFF4F7"/>
                    </a:solidFill>
                  </a:tcPr>
                </a:tc>
              </a:tr>
              <a:tr h="774700">
                <a:tc>
                  <a:txBody>
                    <a:bodyPr lIns="171450" tIns="95250" rIns="152400" bIns="95250"/>
                    <a:lstStyle/>
                    <a:p>
                      <a:r>
                        <a:rPr sz="2550" b="0">
                          <a:solidFill>
                            <a:srgbClr val="183247"/>
                          </a:solidFill>
                          <a:latin typeface="Arial"/>
                          <a:ea typeface="Arial"/>
                          <a:cs typeface="Arial"/>
                        </a:rPr>
                        <a:t>Eenheden en domein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per maand, 0–80; prijzen in € per dakdienst</a:t>
                      </a:r>
                    </a:p>
                  </a:txBody>
                  <a:tcPr marL="91440" marR="91440" marT="45720" marB="45720" anchor="ctr">
                    <a:solidFill>
                      <a:srgbClr val="FFFFFF"/>
                    </a:solidFill>
                  </a:tcPr>
                </a:tc>
              </a:tr>
            </a:tbl>
          </a:graphicData>
        </a:graphic>
      </p:graphicFrame>
      <p:sp>
        <p:nvSpPr>
          <p:cNvPr id="6" name="Veel aanbieders. Geen overige maatschappelijke kosten o">
            <a:extLst xmlns:a="http://schemas.openxmlformats.org/drawingml/2006/main">
              <a:ext uri="{FF2B5EF4-FFF2-40B4-BE49-F238E27FC236}">
                <a16:creationId xmlns:a16="http://schemas.microsoft.com/office/drawing/2014/main" id="{C21C921E-F63F-4F28-9587-7AC817C85676}"/>
              </a:ext>
            </a:extLst>
          </p:cNvPr>
          <p:cNvSpPr>
            <a:spLocks xmlns:a="http://schemas.openxmlformats.org/drawingml/2006/main" noGrp="1"/>
          </p:cNvSpPr>
          <p:nvPr/>
        </p:nvSpPr>
        <p:spPr>
          <a:xfrm xmlns:a="http://schemas.openxmlformats.org/drawingml/2006/main">
            <a:off x="571500" y="700087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Veel aanbieders. Geen overige maatschappelijke kosten of baten.</a:t>
            </a:r>
          </a:p>
        </p:txBody>
      </p:sp>
    </p:spTree>
    <p:extLst>
      <p:ext uri="{BB962C8B-B14F-4D97-AF65-F5344CB8AC3E}">
        <p14:creationId xmlns:p14="http://schemas.microsoft.com/office/powerpoint/2010/main" val="13431758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markt telt het private voordeel">
            <a:extLst xmlns:a="http://schemas.openxmlformats.org/drawingml/2006/main">
              <a:ext uri="{FF2B5EF4-FFF2-40B4-BE49-F238E27FC236}">
                <a16:creationId xmlns:a16="http://schemas.microsoft.com/office/drawing/2014/main" id="{99C5F4B8-D229-48CD-857F-D1A14EA1A42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markt telt het private voordeel</a:t>
            </a:r>
          </a:p>
        </p:txBody>
      </p:sp>
      <p:sp>
        <p:nvSpPr>
          <p:cNvPr id="2" name="">
            <a:extLst xmlns:a="http://schemas.openxmlformats.org/drawingml/2006/main">
              <a:ext uri="{FF2B5EF4-FFF2-40B4-BE49-F238E27FC236}">
                <a16:creationId xmlns:a16="http://schemas.microsoft.com/office/drawing/2014/main" id="{6E49788F-BB5C-4F5A-94C9-CFB94D42278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26DF75C6-961F-400A-888C-BD4985957E4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5ADBDC58-BFBE-4D67-80EE-9648B8358DB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34c2d95fd75a4dd4"/>
          </a:graphicData>
        </a:graphic>
      </p:graphicFrame>
      <p:sp>
        <p:nvSpPr>
          <p:cNvPr id="6" name="Vraag = aanbod">
            <a:extLst xmlns:a="http://schemas.openxmlformats.org/drawingml/2006/main">
              <a:ext uri="{FF2B5EF4-FFF2-40B4-BE49-F238E27FC236}">
                <a16:creationId xmlns:a16="http://schemas.microsoft.com/office/drawing/2014/main" id="{7D034BFD-96F4-4357-B446-6A03EB43F4C1}"/>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Vraag = aanbod</a:t>
            </a:r>
          </a:p>
        </p:txBody>
      </p:sp>
      <p:sp>
        <p:nvSpPr>
          <p:cNvPr id="7" name="44 − 0,5Q&#10;= 8 + 0,5Q&#10;&#10;Q₀ = 36&#10;P₀ = € 26">
            <a:extLst xmlns:a="http://schemas.openxmlformats.org/drawingml/2006/main">
              <a:ext uri="{FF2B5EF4-FFF2-40B4-BE49-F238E27FC236}">
                <a16:creationId xmlns:a16="http://schemas.microsoft.com/office/drawing/2014/main" id="{E970063E-0420-4963-821F-A8B953E24BC6}"/>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44 − 0,5Q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8 + 0,5Q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Q₀ = 36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P₀ = € 26</a:t>
            </a:r>
          </a:p>
        </p:txBody>
      </p:sp>
      <p:sp>
        <p:nvSpPr>
          <p:cNvPr id="8" name="36 dakdiensten&#10;per maand">
            <a:extLst xmlns:a="http://schemas.openxmlformats.org/drawingml/2006/main">
              <a:ext uri="{FF2B5EF4-FFF2-40B4-BE49-F238E27FC236}">
                <a16:creationId xmlns:a16="http://schemas.microsoft.com/office/drawing/2014/main" id="{C19AA18A-1F33-45D5-A836-2C4C849481F4}"/>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36 dakdiensten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per maand</a:t>
            </a:r>
          </a:p>
        </p:txBody>
      </p:sp>
    </p:spTree>
    <p:extLst>
      <p:ext uri="{BB962C8B-B14F-4D97-AF65-F5344CB8AC3E}">
        <p14:creationId xmlns:p14="http://schemas.microsoft.com/office/powerpoint/2010/main" val="5230890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aten voor iedereen per extra dakdienst">
            <a:extLst xmlns:a="http://schemas.openxmlformats.org/drawingml/2006/main">
              <a:ext uri="{FF2B5EF4-FFF2-40B4-BE49-F238E27FC236}">
                <a16:creationId xmlns:a16="http://schemas.microsoft.com/office/drawing/2014/main" id="{939E7AD5-47A2-4C19-923C-04F7766427E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Baten voor iedereen per extra dakdienst</a:t>
            </a:r>
          </a:p>
        </p:txBody>
      </p:sp>
      <p:sp>
        <p:nvSpPr>
          <p:cNvPr id="2" name="">
            <a:extLst xmlns:a="http://schemas.openxmlformats.org/drawingml/2006/main">
              <a:ext uri="{FF2B5EF4-FFF2-40B4-BE49-F238E27FC236}">
                <a16:creationId xmlns:a16="http://schemas.microsoft.com/office/drawing/2014/main" id="{A6D82F10-C6A9-4F00-902B-ED3261BA42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A8B715B-269F-48D5-800C-7A178618F00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A0E54577-D9DB-4211-9B42-B55C504459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04bd107df2024277"/>
          </a:graphicData>
        </a:graphic>
      </p:graphicFrame>
      <p:sp>
        <p:nvSpPr>
          <p:cNvPr id="6" name="Privaat + extern">
            <a:extLst xmlns:a="http://schemas.openxmlformats.org/drawingml/2006/main">
              <a:ext uri="{FF2B5EF4-FFF2-40B4-BE49-F238E27FC236}">
                <a16:creationId xmlns:a16="http://schemas.microsoft.com/office/drawing/2014/main" id="{09938015-5F19-42DF-A8FB-45728A163EB5}"/>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Privaat + extern</a:t>
            </a:r>
          </a:p>
        </p:txBody>
      </p:sp>
      <p:sp>
        <p:nvSpPr>
          <p:cNvPr id="7" name="44 − 0,5Q + 12&#10;= 56 − 0,5Q&#10;&#10;Bij Q = 40:&#10;privaat € 24&#10;ex">
            <a:extLst xmlns:a="http://schemas.openxmlformats.org/drawingml/2006/main">
              <a:ext uri="{FF2B5EF4-FFF2-40B4-BE49-F238E27FC236}">
                <a16:creationId xmlns:a16="http://schemas.microsoft.com/office/drawing/2014/main" id="{443EDC5F-41C1-4386-A97E-12EB78B461D1}"/>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44 − 0,5Q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56 − 0,5Q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Bij Q = 40: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privaat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extern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samen € 36</a:t>
            </a:r>
          </a:p>
        </p:txBody>
      </p:sp>
      <p:sp>
        <p:nvSpPr>
          <p:cNvPr id="8" name="MK bij Q = 40:&#10;€ 28 per dienst">
            <a:extLst xmlns:a="http://schemas.openxmlformats.org/drawingml/2006/main">
              <a:ext uri="{FF2B5EF4-FFF2-40B4-BE49-F238E27FC236}">
                <a16:creationId xmlns:a16="http://schemas.microsoft.com/office/drawing/2014/main" id="{66B4BF22-131C-4D43-B8D0-4DE03D710D82}"/>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MK bij Q = 40:</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€ 28 per dienst</a:t>
            </a:r>
          </a:p>
        </p:txBody>
      </p:sp>
    </p:spTree>
    <p:extLst>
      <p:ext uri="{BB962C8B-B14F-4D97-AF65-F5344CB8AC3E}">
        <p14:creationId xmlns:p14="http://schemas.microsoft.com/office/powerpoint/2010/main" val="6890963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fficiënte hoeveelheid en gemiste baten">
            <a:extLst xmlns:a="http://schemas.openxmlformats.org/drawingml/2006/main">
              <a:ext uri="{FF2B5EF4-FFF2-40B4-BE49-F238E27FC236}">
                <a16:creationId xmlns:a16="http://schemas.microsoft.com/office/drawing/2014/main" id="{ECE90F0E-0C62-4709-9AEA-43A4A542459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Efficiënte hoeveelheid en gemiste baten</a:t>
            </a:r>
          </a:p>
        </p:txBody>
      </p:sp>
      <p:sp>
        <p:nvSpPr>
          <p:cNvPr id="2" name="">
            <a:extLst xmlns:a="http://schemas.openxmlformats.org/drawingml/2006/main">
              <a:ext uri="{FF2B5EF4-FFF2-40B4-BE49-F238E27FC236}">
                <a16:creationId xmlns:a16="http://schemas.microsoft.com/office/drawing/2014/main" id="{6F7A0836-091A-4B0E-B28E-1B5C7DDA1D6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F67BD0E-298A-4027-BEBC-80E444892F0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25354129-4F0B-47E1-A577-A34045D860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8d3725621d854afd"/>
          </a:graphicData>
        </a:graphic>
      </p:graphicFrame>
      <p:sp>
        <p:nvSpPr>
          <p:cNvPr id="6" name="Baten = MK">
            <a:extLst xmlns:a="http://schemas.openxmlformats.org/drawingml/2006/main">
              <a:ext uri="{FF2B5EF4-FFF2-40B4-BE49-F238E27FC236}">
                <a16:creationId xmlns:a16="http://schemas.microsoft.com/office/drawing/2014/main" id="{BB06BEA4-C74C-4A99-82E2-2F9D6EE7285C}"/>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Baten = MK</a:t>
            </a:r>
          </a:p>
        </p:txBody>
      </p:sp>
      <p:sp>
        <p:nvSpPr>
          <p:cNvPr id="7" name="56 − 0,5Q&#10;= 8 + 0,5Q&#10;Qe = 48&#10;&#10;Verlies:&#10;½ × (48 − 36) × ">
            <a:extLst xmlns:a="http://schemas.openxmlformats.org/drawingml/2006/main">
              <a:ext uri="{FF2B5EF4-FFF2-40B4-BE49-F238E27FC236}">
                <a16:creationId xmlns:a16="http://schemas.microsoft.com/office/drawing/2014/main" id="{CF6315B3-2C87-4BFA-B67D-F42A9E1E5F8D}"/>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56 − 0,5Q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8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Qe = 48</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Verlies:</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(48 − 36)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€ 72 per maand</a:t>
            </a:r>
          </a:p>
        </p:txBody>
      </p:sp>
      <p:sp>
        <p:nvSpPr>
          <p:cNvPr id="8" name="Arcering tussen&#10;baten en MK,&#10;van 36 tot 48">
            <a:extLst xmlns:a="http://schemas.openxmlformats.org/drawingml/2006/main">
              <a:ext uri="{FF2B5EF4-FFF2-40B4-BE49-F238E27FC236}">
                <a16:creationId xmlns:a16="http://schemas.microsoft.com/office/drawing/2014/main" id="{AB7A2609-80F3-42CB-B9A9-2187C6AC4083}"/>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Arcering tussen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baten en MK,</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van 36 tot 48</a:t>
            </a:r>
          </a:p>
        </p:txBody>
      </p:sp>
    </p:spTree>
    <p:extLst>
      <p:ext uri="{BB962C8B-B14F-4D97-AF65-F5344CB8AC3E}">
        <p14:creationId xmlns:p14="http://schemas.microsoft.com/office/powerpoint/2010/main" val="2216428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bekende subsidiewig">
            <a:extLst xmlns:a="http://schemas.openxmlformats.org/drawingml/2006/main">
              <a:ext uri="{FF2B5EF4-FFF2-40B4-BE49-F238E27FC236}">
                <a16:creationId xmlns:a16="http://schemas.microsoft.com/office/drawing/2014/main" id="{F207C6FB-E95A-4C8A-A802-76525F438FA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bekende subsidiewig</a:t>
            </a:r>
          </a:p>
        </p:txBody>
      </p:sp>
      <p:sp>
        <p:nvSpPr>
          <p:cNvPr id="2" name="">
            <a:extLst xmlns:a="http://schemas.openxmlformats.org/drawingml/2006/main">
              <a:ext uri="{FF2B5EF4-FFF2-40B4-BE49-F238E27FC236}">
                <a16:creationId xmlns:a16="http://schemas.microsoft.com/office/drawing/2014/main" id="{63B7DFAB-5FF1-4667-9829-E758E676651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B0FA69E-6407-4E9F-A3A3-3EF379667AA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AC8ED2C6-92ED-404C-ACA5-370C462C5BB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Pp = Pc + s">
            <a:extLst xmlns:a="http://schemas.openxmlformats.org/drawingml/2006/main">
              <a:ext uri="{FF2B5EF4-FFF2-40B4-BE49-F238E27FC236}">
                <a16:creationId xmlns:a16="http://schemas.microsoft.com/office/drawing/2014/main" id="{479CAB01-D2E1-4F3B-AE6A-820BA28FE84C}"/>
              </a:ext>
            </a:extLst>
          </p:cNvPr>
          <p:cNvSpPr>
            <a:spLocks xmlns:a="http://schemas.openxmlformats.org/drawingml/2006/main" noGrp="1"/>
          </p:cNvSpPr>
          <p:nvPr/>
        </p:nvSpPr>
        <p:spPr>
          <a:xfrm xmlns:a="http://schemas.openxmlformats.org/drawingml/2006/main">
            <a:off x="571500" y="2047875"/>
            <a:ext cx="1409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Pp = Pc + s</a:t>
            </a:r>
          </a:p>
        </p:txBody>
      </p:sp>
      <p:sp>
        <p:nvSpPr>
          <p:cNvPr id="6" name="8 + 0,5Q = 44 − 0,5Q + 12">
            <a:extLst xmlns:a="http://schemas.openxmlformats.org/drawingml/2006/main">
              <a:ext uri="{FF2B5EF4-FFF2-40B4-BE49-F238E27FC236}">
                <a16:creationId xmlns:a16="http://schemas.microsoft.com/office/drawing/2014/main" id="{899057C6-CA50-47B7-84A5-29F87599357D}"/>
              </a:ext>
            </a:extLst>
          </p:cNvPr>
          <p:cNvSpPr>
            <a:spLocks xmlns:a="http://schemas.openxmlformats.org/drawingml/2006/main" noGrp="1"/>
          </p:cNvSpPr>
          <p:nvPr/>
        </p:nvSpPr>
        <p:spPr>
          <a:xfrm xmlns:a="http://schemas.openxmlformats.org/drawingml/2006/main">
            <a:off x="571500" y="3476625"/>
            <a:ext cx="1409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8 + 0,5Q = 44 − 0,5Q + 12</a:t>
            </a:r>
          </a:p>
        </p:txBody>
      </p:sp>
      <p:sp>
        <p:nvSpPr>
          <p:cNvPr id="7" name="Q = 48 dakdiensten per maand">
            <a:extLst xmlns:a="http://schemas.openxmlformats.org/drawingml/2006/main">
              <a:ext uri="{FF2B5EF4-FFF2-40B4-BE49-F238E27FC236}">
                <a16:creationId xmlns:a16="http://schemas.microsoft.com/office/drawing/2014/main" id="{89515471-3A11-4EDB-B2C4-7DE03491B704}"/>
              </a:ext>
            </a:extLst>
          </p:cNvPr>
          <p:cNvSpPr>
            <a:spLocks xmlns:a="http://schemas.openxmlformats.org/drawingml/2006/main" noGrp="1"/>
          </p:cNvSpPr>
          <p:nvPr/>
        </p:nvSpPr>
        <p:spPr>
          <a:xfrm xmlns:a="http://schemas.openxmlformats.org/drawingml/2006/main">
            <a:off x="571500" y="4905375"/>
            <a:ext cx="1409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Q = 48 dakdiensten per maand</a:t>
            </a:r>
          </a:p>
        </p:txBody>
      </p:sp>
      <p:sp>
        <p:nvSpPr>
          <p:cNvPr id="8" name="Pc = 44 − 0,5 × 48 = € 20 per dakdienst">
            <a:extLst xmlns:a="http://schemas.openxmlformats.org/drawingml/2006/main">
              <a:ext uri="{FF2B5EF4-FFF2-40B4-BE49-F238E27FC236}">
                <a16:creationId xmlns:a16="http://schemas.microsoft.com/office/drawing/2014/main" id="{911BC7D1-B8F0-4C81-AB70-12AEA734CDF9}"/>
              </a:ext>
            </a:extLst>
          </p:cNvPr>
          <p:cNvSpPr>
            <a:spLocks xmlns:a="http://schemas.openxmlformats.org/drawingml/2006/main" noGrp="1"/>
          </p:cNvSpPr>
          <p:nvPr/>
        </p:nvSpPr>
        <p:spPr>
          <a:xfrm xmlns:a="http://schemas.openxmlformats.org/drawingml/2006/main">
            <a:off x="571500" y="65246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Pc = 44 − 0,5 × 48 = € 20 per dakdienst</a:t>
            </a:r>
          </a:p>
        </p:txBody>
      </p:sp>
      <p:sp>
        <p:nvSpPr>
          <p:cNvPr id="9" name="Pp = 8 + 0,5 × 48 = € 32 per dakdienst">
            <a:extLst xmlns:a="http://schemas.openxmlformats.org/drawingml/2006/main">
              <a:ext uri="{FF2B5EF4-FFF2-40B4-BE49-F238E27FC236}">
                <a16:creationId xmlns:a16="http://schemas.microsoft.com/office/drawing/2014/main" id="{3CE78152-6DFA-490D-9B5A-6457A7B2A09A}"/>
              </a:ext>
            </a:extLst>
          </p:cNvPr>
          <p:cNvSpPr>
            <a:spLocks xmlns:a="http://schemas.openxmlformats.org/drawingml/2006/main" noGrp="1"/>
          </p:cNvSpPr>
          <p:nvPr/>
        </p:nvSpPr>
        <p:spPr>
          <a:xfrm xmlns:a="http://schemas.openxmlformats.org/drawingml/2006/main">
            <a:off x="571500" y="73342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Pp = 8 + 0,5 × 48 = € 32 per dakdienst</a:t>
            </a:r>
          </a:p>
        </p:txBody>
      </p:sp>
    </p:spTree>
    <p:extLst>
      <p:ext uri="{BB962C8B-B14F-4D97-AF65-F5344CB8AC3E}">
        <p14:creationId xmlns:p14="http://schemas.microsoft.com/office/powerpoint/2010/main" val="8150789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anbod in kopersprijzen">
            <a:extLst xmlns:a="http://schemas.openxmlformats.org/drawingml/2006/main">
              <a:ext uri="{FF2B5EF4-FFF2-40B4-BE49-F238E27FC236}">
                <a16:creationId xmlns:a16="http://schemas.microsoft.com/office/drawing/2014/main" id="{D1ED0FC9-0DF6-4006-8C4C-036C8C45A72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Aanbod in kopersprijzen</a:t>
            </a:r>
          </a:p>
        </p:txBody>
      </p:sp>
      <p:sp>
        <p:nvSpPr>
          <p:cNvPr id="2" name="">
            <a:extLst xmlns:a="http://schemas.openxmlformats.org/drawingml/2006/main">
              <a:ext uri="{FF2B5EF4-FFF2-40B4-BE49-F238E27FC236}">
                <a16:creationId xmlns:a16="http://schemas.microsoft.com/office/drawing/2014/main" id="{B7A48982-31F9-4199-ACFA-B07C86B51F4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1AE545FD-BEED-40DC-BF7D-701A0CCC363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C629A7AD-2DD7-4715-AAA5-BF8E8192A5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eb3987355e584e52"/>
          </a:graphicData>
        </a:graphic>
      </p:graphicFrame>
      <p:sp>
        <p:nvSpPr>
          <p:cNvPr id="6" name="Pc = Pp − s">
            <a:extLst xmlns:a="http://schemas.openxmlformats.org/drawingml/2006/main">
              <a:ext uri="{FF2B5EF4-FFF2-40B4-BE49-F238E27FC236}">
                <a16:creationId xmlns:a16="http://schemas.microsoft.com/office/drawing/2014/main" id="{4137F7A5-1614-443C-95C2-21268174BB7C}"/>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Pc = Pp − s</a:t>
            </a:r>
          </a:p>
        </p:txBody>
      </p:sp>
      <p:sp>
        <p:nvSpPr>
          <p:cNvPr id="7" name="Pc = 8 + 0,5Q − 12&#10;Pc = −4 + 0,5Q&#10;&#10;Bij Pc = € 12:&#10;zonde">
            <a:extLst xmlns:a="http://schemas.openxmlformats.org/drawingml/2006/main">
              <a:ext uri="{FF2B5EF4-FFF2-40B4-BE49-F238E27FC236}">
                <a16:creationId xmlns:a16="http://schemas.microsoft.com/office/drawing/2014/main" id="{97442A32-4ED5-457F-82C3-F305174F296E}"/>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Pc = 8 + 0,5Q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Pc = −4 + 0,5Q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Bij Pc =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zonder steun Q = 8</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met steun Q = 32</a:t>
            </a:r>
          </a:p>
        </p:txBody>
      </p:sp>
      <p:sp>
        <p:nvSpPr>
          <p:cNvPr id="8" name="De horizontale pijl&#10;vergelijkt aanbod&#10;bij dezelfde Pc.">
            <a:extLst xmlns:a="http://schemas.openxmlformats.org/drawingml/2006/main">
              <a:ext uri="{FF2B5EF4-FFF2-40B4-BE49-F238E27FC236}">
                <a16:creationId xmlns:a16="http://schemas.microsoft.com/office/drawing/2014/main" id="{DA792CF7-702A-46DE-84A0-907F92D3EF0F}"/>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De horizontale pijl</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vergelijkt aanbod</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bij dezelfde Pc.</a:t>
            </a:r>
          </a:p>
        </p:txBody>
      </p:sp>
    </p:spTree>
    <p:extLst>
      <p:ext uri="{BB962C8B-B14F-4D97-AF65-F5344CB8AC3E}">
        <p14:creationId xmlns:p14="http://schemas.microsoft.com/office/powerpoint/2010/main" val="18760992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én hoeveelheid, twee prijzen">
            <a:extLst xmlns:a="http://schemas.openxmlformats.org/drawingml/2006/main">
              <a:ext uri="{FF2B5EF4-FFF2-40B4-BE49-F238E27FC236}">
                <a16:creationId xmlns:a16="http://schemas.microsoft.com/office/drawing/2014/main" id="{43F94269-0CD3-4EFA-958F-F8E5F821928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Eén hoeveelheid, twee prijzen</a:t>
            </a:r>
          </a:p>
        </p:txBody>
      </p:sp>
      <p:sp>
        <p:nvSpPr>
          <p:cNvPr id="2" name="">
            <a:extLst xmlns:a="http://schemas.openxmlformats.org/drawingml/2006/main">
              <a:ext uri="{FF2B5EF4-FFF2-40B4-BE49-F238E27FC236}">
                <a16:creationId xmlns:a16="http://schemas.microsoft.com/office/drawing/2014/main" id="{19D79266-4F89-4556-B5F5-70F76AE2455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45BA814-ACCD-4D8B-A159-559F7923393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17DE00E6-CE74-41DF-A23F-B09502AC68B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3a48bea7768f43e9"/>
          </a:graphicData>
        </a:graphic>
      </p:graphicFrame>
      <p:sp>
        <p:nvSpPr>
          <p:cNvPr id="6" name="Bij Q = 48">
            <a:extLst xmlns:a="http://schemas.openxmlformats.org/drawingml/2006/main">
              <a:ext uri="{FF2B5EF4-FFF2-40B4-BE49-F238E27FC236}">
                <a16:creationId xmlns:a16="http://schemas.microsoft.com/office/drawing/2014/main" id="{4C2F7B25-C088-42D4-96A0-B571C231DA7C}"/>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Bij Q = 48</a:t>
            </a:r>
          </a:p>
        </p:txBody>
      </p:sp>
      <p:sp>
        <p:nvSpPr>
          <p:cNvPr id="7" name="Pc = € 20 op V&#10;Pp = € 32 op A&#10;&#10;Pp − Pc = € 12&#10;&#10;Uitgaven">
            <a:extLst xmlns:a="http://schemas.openxmlformats.org/drawingml/2006/main">
              <a:ext uri="{FF2B5EF4-FFF2-40B4-BE49-F238E27FC236}">
                <a16:creationId xmlns:a16="http://schemas.microsoft.com/office/drawing/2014/main" id="{A6A42A56-024B-4550-9318-893BDC58FD62}"/>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Pc = € 20 op V</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Pp = € 32 op A</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Pp − Pc = € 12</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Uitgaven: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12 × 48 = € 576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per maand</a:t>
            </a:r>
          </a:p>
        </p:txBody>
      </p:sp>
      <p:sp>
        <p:nvSpPr>
          <p:cNvPr id="8" name="Subsidie voor alle&#10;48 diensten, ook&#10;de eerdere 36.">
            <a:extLst xmlns:a="http://schemas.openxmlformats.org/drawingml/2006/main">
              <a:ext uri="{FF2B5EF4-FFF2-40B4-BE49-F238E27FC236}">
                <a16:creationId xmlns:a16="http://schemas.microsoft.com/office/drawing/2014/main" id="{7A67F698-8D7E-482A-99D7-9F8C364D349B}"/>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Subsidie voor alle</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48 diensten, ook</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de eerdere 36.</a:t>
            </a:r>
          </a:p>
        </p:txBody>
      </p:sp>
    </p:spTree>
    <p:extLst>
      <p:ext uri="{BB962C8B-B14F-4D97-AF65-F5344CB8AC3E}">
        <p14:creationId xmlns:p14="http://schemas.microsoft.com/office/powerpoint/2010/main" val="8099734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S en PS gebruiken hun eigen prijs">
            <a:extLst xmlns:a="http://schemas.openxmlformats.org/drawingml/2006/main">
              <a:ext uri="{FF2B5EF4-FFF2-40B4-BE49-F238E27FC236}">
                <a16:creationId xmlns:a16="http://schemas.microsoft.com/office/drawing/2014/main" id="{952A4D7E-5B51-47F6-A244-1B45D7B49C0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CS en PS gebruiken hun eigen prijs</a:t>
            </a:r>
          </a:p>
        </p:txBody>
      </p:sp>
      <p:sp>
        <p:nvSpPr>
          <p:cNvPr id="2" name="">
            <a:extLst xmlns:a="http://schemas.openxmlformats.org/drawingml/2006/main">
              <a:ext uri="{FF2B5EF4-FFF2-40B4-BE49-F238E27FC236}">
                <a16:creationId xmlns:a16="http://schemas.microsoft.com/office/drawing/2014/main" id="{40F0B791-14B6-4719-9EC3-EEBA58386A7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23093FC8-3B73-4C8C-82E4-35990B556CB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D26FF70B-4115-4488-BFFB-D97E590A4F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2" name=""/>
          <p:cNvGraphicFramePr/>
          <p:nvPr/>
        </p:nvGraphicFramePr>
        <p:xfrm>
          <a:off xmlns:a="http://schemas.openxmlformats.org/drawingml/2006/main" x="571500" y="2381250"/>
          <a:ext xmlns:a="http://schemas.openxmlformats.org/drawingml/2006/main" cx="14097000" cy="3143250"/>
        </p:xfrm>
        <a:graphic xmlns:a="http://schemas.openxmlformats.org/drawingml/2006/main">
          <a:graphicData uri="http://schemas.openxmlformats.org/drawingml/2006/table">
            <a:tbl>
              <a:tblPr/>
              <a:tblGrid>
                <a:gridCol w="2857500"/>
                <a:gridCol w="5619750"/>
                <a:gridCol w="5619750"/>
              </a:tblGrid>
              <a:tr h="1047750">
                <a:tc>
                  <a:txBody>
                    <a:bodyPr lIns="171450" tIns="95250" rIns="152400" bIns="95250"/>
                    <a:lstStyle/>
                    <a:p>
                      <a:r>
                        <a:rPr sz="2475" b="1">
                          <a:solidFill>
                            <a:srgbClr val="FFFFFF"/>
                          </a:solidFill>
                          <a:latin typeface="Arial"/>
                          <a:ea typeface="Arial"/>
                          <a:cs typeface="Arial"/>
                        </a:rPr>
                        <a:t>€ per maand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Zonder subsidie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Met subsidie</a:t>
                      </a:r>
                    </a:p>
                  </a:txBody>
                  <a:tcPr marL="91440" marR="91440" marT="45720" marB="45720" anchor="ctr">
                    <a:solidFill>
                      <a:srgbClr val="183247"/>
                    </a:solidFill>
                  </a:tcPr>
                </a:tc>
              </a:tr>
              <a:tr h="1047750">
                <a:tc>
                  <a:txBody>
                    <a:bodyPr lIns="171450" tIns="95250" rIns="152400" bIns="95250"/>
                    <a:lstStyle/>
                    <a:p>
                      <a:r>
                        <a:rPr sz="24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½ × 36 × (44 − 26) = 324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½ × 48 × (44 − 20) = 576</a:t>
                      </a:r>
                    </a:p>
                  </a:txBody>
                  <a:tcPr marL="91440" marR="91440" marT="45720" marB="45720" anchor="ctr">
                    <a:solidFill>
                      <a:srgbClr val="FFFFFF"/>
                    </a:solidFill>
                  </a:tcPr>
                </a:tc>
              </a:tr>
              <a:tr h="1047750">
                <a:tc>
                  <a:txBody>
                    <a:bodyPr lIns="171450" tIns="95250" rIns="152400" bIns="95250"/>
                    <a:lstStyle/>
                    <a:p>
                      <a:r>
                        <a:rPr sz="247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½ × 36 × (26 − 8) = 324</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½ × 48 × (32 − 8) = 576</a:t>
                      </a:r>
                    </a:p>
                  </a:txBody>
                  <a:tcPr marL="91440" marR="91440" marT="45720" marB="45720" anchor="ctr">
                    <a:solidFill>
                      <a:srgbClr val="EFF4F7"/>
                    </a:solidFill>
                  </a:tcPr>
                </a:tc>
              </a:tr>
            </a:tbl>
          </a:graphicData>
        </a:graphic>
      </p:graphicFrame>
      <p:sp>
        <p:nvSpPr>
          <p:cNvPr id="6" name="CS: vraag boven Pc. PS: Pp boven de oorspronkelijke aan">
            <a:extLst xmlns:a="http://schemas.openxmlformats.org/drawingml/2006/main">
              <a:ext uri="{FF2B5EF4-FFF2-40B4-BE49-F238E27FC236}">
                <a16:creationId xmlns:a16="http://schemas.microsoft.com/office/drawing/2014/main" id="{6D912F80-1C18-419E-B3C9-1959AF99E4B6}"/>
              </a:ext>
            </a:extLst>
          </p:cNvPr>
          <p:cNvSpPr>
            <a:spLocks xmlns:a="http://schemas.openxmlformats.org/drawingml/2006/main" noGrp="1"/>
          </p:cNvSpPr>
          <p:nvPr/>
        </p:nvSpPr>
        <p:spPr>
          <a:xfrm xmlns:a="http://schemas.openxmlformats.org/drawingml/2006/main">
            <a:off x="571500" y="61055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CS: vraag boven Pc. PS: Pp boven de oorspronkelijke aanbodlijn.</a:t>
            </a:r>
          </a:p>
        </p:txBody>
      </p:sp>
      <p:sp>
        <p:nvSpPr>
          <p:cNvPr id="7" name="Oppervlakte = ½ × hoeveelheid × prijsverschil">
            <a:extLst xmlns:a="http://schemas.openxmlformats.org/drawingml/2006/main">
              <a:ext uri="{FF2B5EF4-FFF2-40B4-BE49-F238E27FC236}">
                <a16:creationId xmlns:a16="http://schemas.microsoft.com/office/drawing/2014/main" id="{16CC29F2-CE40-4D46-B4DE-6C5F5A96D909}"/>
              </a:ext>
            </a:extLst>
          </p:cNvPr>
          <p:cNvSpPr>
            <a:spLocks xmlns:a="http://schemas.openxmlformats.org/drawingml/2006/main" noGrp="1"/>
          </p:cNvSpPr>
          <p:nvPr/>
        </p:nvSpPr>
        <p:spPr>
          <a:xfrm xmlns:a="http://schemas.openxmlformats.org/drawingml/2006/main">
            <a:off x="571500" y="740092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Oppervlakte = ½ × hoeveelheid × prijsverschil</a:t>
            </a:r>
          </a:p>
        </p:txBody>
      </p:sp>
    </p:spTree>
    <p:extLst>
      <p:ext uri="{BB962C8B-B14F-4D97-AF65-F5344CB8AC3E}">
        <p14:creationId xmlns:p14="http://schemas.microsoft.com/office/powerpoint/2010/main" val="3568413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volledige maatschappelijke rekening">
            <a:extLst xmlns:a="http://schemas.openxmlformats.org/drawingml/2006/main">
              <a:ext uri="{FF2B5EF4-FFF2-40B4-BE49-F238E27FC236}">
                <a16:creationId xmlns:a16="http://schemas.microsoft.com/office/drawing/2014/main" id="{C9A4088C-5AD8-4F01-9922-2EC7B18902C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volledige maatschappelijke rekening</a:t>
            </a:r>
          </a:p>
        </p:txBody>
      </p:sp>
      <p:sp>
        <p:nvSpPr>
          <p:cNvPr id="2" name="">
            <a:extLst xmlns:a="http://schemas.openxmlformats.org/drawingml/2006/main">
              <a:ext uri="{FF2B5EF4-FFF2-40B4-BE49-F238E27FC236}">
                <a16:creationId xmlns:a16="http://schemas.microsoft.com/office/drawing/2014/main" id="{D2FF60DC-E08F-4D8B-8779-0CDA9EC7FD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79BDD87-A996-4B1E-B10E-2F4D56F571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A1AAA1CE-50A0-46D6-AE63-74CA6A8AF54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CS + PS − subsidie-uitgaven + externe baten">
            <a:extLst xmlns:a="http://schemas.openxmlformats.org/drawingml/2006/main">
              <a:ext uri="{FF2B5EF4-FFF2-40B4-BE49-F238E27FC236}">
                <a16:creationId xmlns:a16="http://schemas.microsoft.com/office/drawing/2014/main" id="{8D669A7C-B896-41DF-A007-280C9AB55994}"/>
              </a:ext>
            </a:extLst>
          </p:cNvPr>
          <p:cNvSpPr>
            <a:spLocks xmlns:a="http://schemas.openxmlformats.org/drawingml/2006/main" noGrp="1"/>
          </p:cNvSpPr>
          <p:nvPr/>
        </p:nvSpPr>
        <p:spPr>
          <a:xfrm xmlns:a="http://schemas.openxmlformats.org/drawingml/2006/main">
            <a:off x="571500" y="1809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CS + PS − subsidie-uitgaven + externe baten</a:t>
            </a:r>
          </a:p>
        </p:txBody>
      </p:sp>
      <p:graphicFrame>
        <p:nvGraphicFramePr>
          <p:cNvPr id="13" name=""/>
          <p:cNvGraphicFramePr/>
          <p:nvPr/>
        </p:nvGraphicFramePr>
        <p:xfrm>
          <a:off xmlns:a="http://schemas.openxmlformats.org/drawingml/2006/main" x="571500" y="2714625"/>
          <a:ext xmlns:a="http://schemas.openxmlformats.org/drawingml/2006/main" cx="14097000" cy="3838575"/>
        </p:xfrm>
        <a:graphic xmlns:a="http://schemas.openxmlformats.org/drawingml/2006/main">
          <a:graphicData uri="http://schemas.openxmlformats.org/drawingml/2006/table">
            <a:tbl>
              <a:tblPr/>
              <a:tblGrid>
                <a:gridCol w="6191250"/>
                <a:gridCol w="3810000"/>
                <a:gridCol w="4095750"/>
              </a:tblGrid>
              <a:tr h="639763">
                <a:tc>
                  <a:txBody>
                    <a:bodyPr lIns="171450" tIns="95250" rIns="152400" bIns="95250"/>
                    <a:lstStyle/>
                    <a:p>
                      <a:r>
                        <a:rPr sz="2400" b="1">
                          <a:solidFill>
                            <a:srgbClr val="FFFFFF"/>
                          </a:solidFill>
                          <a:latin typeface="Arial"/>
                          <a:ea typeface="Arial"/>
                          <a:cs typeface="Arial"/>
                        </a:rPr>
                        <a:t>Post (€ per maand)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Zonder subsidie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Met € 12 subsidie</a:t>
                      </a:r>
                    </a:p>
                  </a:txBody>
                  <a:tcPr marL="91440" marR="91440" marT="45720" marB="45720" anchor="ctr">
                    <a:solidFill>
                      <a:srgbClr val="183247"/>
                    </a:solidFill>
                  </a:tcPr>
                </a:tc>
              </a:tr>
              <a:tr h="639763">
                <a:tc>
                  <a:txBody>
                    <a:bodyPr lIns="171450" tIns="95250" rIns="152400" bIns="95250"/>
                    <a:lstStyle/>
                    <a:p>
                      <a:r>
                        <a:rPr sz="2400"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324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576</a:t>
                      </a:r>
                    </a:p>
                  </a:txBody>
                  <a:tcPr marL="91440" marR="91440" marT="45720" marB="45720" anchor="ctr">
                    <a:solidFill>
                      <a:srgbClr val="FFFFFF"/>
                    </a:solidFill>
                  </a:tcPr>
                </a:tc>
              </a:tr>
              <a:tr h="639763">
                <a:tc>
                  <a:txBody>
                    <a:bodyPr lIns="171450" tIns="95250" rIns="152400" bIns="95250"/>
                    <a:lstStyle/>
                    <a:p>
                      <a:r>
                        <a:rPr sz="2400"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324</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576</a:t>
                      </a:r>
                    </a:p>
                  </a:txBody>
                  <a:tcPr marL="91440" marR="91440" marT="45720" marB="45720" anchor="ctr">
                    <a:solidFill>
                      <a:srgbClr val="EFF4F7"/>
                    </a:solidFill>
                  </a:tcPr>
                </a:tc>
              </a:tr>
              <a:tr h="639763">
                <a:tc>
                  <a:txBody>
                    <a:bodyPr lIns="171450" tIns="95250" rIns="152400" bIns="95250"/>
                    <a:lstStyle/>
                    <a:p>
                      <a:r>
                        <a:rPr sz="2400" b="0">
                          <a:solidFill>
                            <a:srgbClr val="183247"/>
                          </a:solidFill>
                          <a:latin typeface="Arial"/>
                          <a:ea typeface="Arial"/>
                          <a:cs typeface="Arial"/>
                        </a:rPr>
                        <a:t>Subsidie-uitgaven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12 × 48 = 576</a:t>
                      </a:r>
                    </a:p>
                  </a:txBody>
                  <a:tcPr marL="91440" marR="91440" marT="45720" marB="45720" anchor="ctr">
                    <a:solidFill>
                      <a:srgbClr val="FFFFFF"/>
                    </a:solidFill>
                  </a:tcPr>
                </a:tc>
              </a:tr>
              <a:tr h="639763">
                <a:tc>
                  <a:txBody>
                    <a:bodyPr lIns="171450" tIns="95250" rIns="152400" bIns="95250"/>
                    <a:lstStyle/>
                    <a:p>
                      <a:r>
                        <a:rPr sz="2400" b="0">
                          <a:solidFill>
                            <a:srgbClr val="183247"/>
                          </a:solidFill>
                          <a:latin typeface="Arial"/>
                          <a:ea typeface="Arial"/>
                          <a:cs typeface="Arial"/>
                        </a:rPr>
                        <a:t>Externe baten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 × 36 = 432</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 × 48 = 576</a:t>
                      </a:r>
                    </a:p>
                  </a:txBody>
                  <a:tcPr marL="91440" marR="91440" marT="45720" marB="45720" anchor="ctr">
                    <a:solidFill>
                      <a:srgbClr val="EFF4F7"/>
                    </a:solidFill>
                  </a:tcPr>
                </a:tc>
              </a:tr>
              <a:tr h="639763">
                <a:tc>
                  <a:txBody>
                    <a:bodyPr lIns="171450" tIns="95250" rIns="152400" bIns="95250"/>
                    <a:lstStyle/>
                    <a:p>
                      <a:r>
                        <a:rPr sz="2400" b="0">
                          <a:solidFill>
                            <a:srgbClr val="183247"/>
                          </a:solidFill>
                          <a:latin typeface="Arial"/>
                          <a:ea typeface="Arial"/>
                          <a:cs typeface="Arial"/>
                        </a:rPr>
                        <a:t>Maatschappelijk surplus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1.080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1.152</a:t>
                      </a:r>
                    </a:p>
                  </a:txBody>
                  <a:tcPr marL="91440" marR="91440" marT="45720" marB="45720" anchor="ctr">
                    <a:solidFill>
                      <a:srgbClr val="FFFFFF"/>
                    </a:solidFill>
                  </a:tcPr>
                </a:tc>
              </a:tr>
            </a:tbl>
          </a:graphicData>
        </a:graphic>
      </p:graphicFrame>
      <p:sp>
        <p:nvSpPr>
          <p:cNvPr id="7" name="Verbetering: € 1.152 − € 1.080 = € 72 per maand">
            <a:extLst xmlns:a="http://schemas.openxmlformats.org/drawingml/2006/main">
              <a:ext uri="{FF2B5EF4-FFF2-40B4-BE49-F238E27FC236}">
                <a16:creationId xmlns:a16="http://schemas.microsoft.com/office/drawing/2014/main" id="{87F5F883-1051-4CEE-AA6D-BEB2B81ECB40}"/>
              </a:ext>
            </a:extLst>
          </p:cNvPr>
          <p:cNvSpPr>
            <a:spLocks xmlns:a="http://schemas.openxmlformats.org/drawingml/2006/main" noGrp="1"/>
          </p:cNvSpPr>
          <p:nvPr/>
        </p:nvSpPr>
        <p:spPr>
          <a:xfrm xmlns:a="http://schemas.openxmlformats.org/drawingml/2006/main">
            <a:off x="571500" y="71437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Verbetering: € 1.152 − € 1.080 = € 72 per maand</a:t>
            </a:r>
          </a:p>
        </p:txBody>
      </p:sp>
    </p:spTree>
    <p:extLst>
      <p:ext uri="{BB962C8B-B14F-4D97-AF65-F5344CB8AC3E}">
        <p14:creationId xmlns:p14="http://schemas.microsoft.com/office/powerpoint/2010/main" val="9676367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lagere subsidie: verschillende bedragen">
            <a:extLst xmlns:a="http://schemas.openxmlformats.org/drawingml/2006/main">
              <a:ext uri="{FF2B5EF4-FFF2-40B4-BE49-F238E27FC236}">
                <a16:creationId xmlns:a16="http://schemas.microsoft.com/office/drawing/2014/main" id="{DE1ECC7C-21BB-4BEC-BAD2-B1FEF6E3221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lagere subsidie: verschillende bedragen</a:t>
            </a:r>
          </a:p>
        </p:txBody>
      </p:sp>
      <p:sp>
        <p:nvSpPr>
          <p:cNvPr id="2" name="">
            <a:extLst xmlns:a="http://schemas.openxmlformats.org/drawingml/2006/main">
              <a:ext uri="{FF2B5EF4-FFF2-40B4-BE49-F238E27FC236}">
                <a16:creationId xmlns:a16="http://schemas.microsoft.com/office/drawing/2014/main" id="{19F67771-C806-49AC-B631-17425DE45B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42C344FB-FEA4-4581-A993-62D868566DA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0AC0F7C7-F8D9-4872-8B5B-D4DC09034F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Zelfde Dakgroen-markt: s = € 6, extern voordeel blijft ">
            <a:extLst xmlns:a="http://schemas.openxmlformats.org/drawingml/2006/main">
              <a:ext uri="{FF2B5EF4-FFF2-40B4-BE49-F238E27FC236}">
                <a16:creationId xmlns:a16="http://schemas.microsoft.com/office/drawing/2014/main" id="{8315AFFC-A0A7-41EA-BE8C-42196FCB637B}"/>
              </a:ext>
            </a:extLst>
          </p:cNvPr>
          <p:cNvSpPr>
            <a:spLocks xmlns:a="http://schemas.openxmlformats.org/drawingml/2006/main" noGrp="1"/>
          </p:cNvSpPr>
          <p:nvPr/>
        </p:nvSpPr>
        <p:spPr>
          <a:xfrm xmlns:a="http://schemas.openxmlformats.org/drawingml/2006/main">
            <a:off x="571500" y="18192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Zelfde Dakgroen-markt: s = € 6, extern voordeel blijft € 12</a:t>
            </a:r>
          </a:p>
        </p:txBody>
      </p:sp>
      <p:sp>
        <p:nvSpPr>
          <p:cNvPr id="6" name="8 + 0,5Q = 44 − 0,5Q + 6 geeft Q = 42, Pc = € 23, Pp = ">
            <a:extLst xmlns:a="http://schemas.openxmlformats.org/drawingml/2006/main">
              <a:ext uri="{FF2B5EF4-FFF2-40B4-BE49-F238E27FC236}">
                <a16:creationId xmlns:a16="http://schemas.microsoft.com/office/drawing/2014/main" id="{5501CB1F-8F66-4638-AD69-09D69868F6F2}"/>
              </a:ext>
            </a:extLst>
          </p:cNvPr>
          <p:cNvSpPr>
            <a:spLocks xmlns:a="http://schemas.openxmlformats.org/drawingml/2006/main" noGrp="1"/>
          </p:cNvSpPr>
          <p:nvPr/>
        </p:nvSpPr>
        <p:spPr>
          <a:xfrm xmlns:a="http://schemas.openxmlformats.org/drawingml/2006/main">
            <a:off x="571500" y="2752725"/>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8 + 0,5Q = 44 − 0,5Q + 6 geeft Q = 42, Pc = € 23, Pp = € 29</a:t>
            </a:r>
          </a:p>
        </p:txBody>
      </p:sp>
      <p:graphicFrame>
        <p:nvGraphicFramePr>
          <p:cNvPr id="15" name=""/>
          <p:cNvGraphicFramePr/>
          <p:nvPr/>
        </p:nvGraphicFramePr>
        <p:xfrm>
          <a:off xmlns:a="http://schemas.openxmlformats.org/drawingml/2006/main" x="571500" y="3743325"/>
          <a:ext xmlns:a="http://schemas.openxmlformats.org/drawingml/2006/main" cx="14097000" cy="3143250"/>
        </p:xfrm>
        <a:graphic xmlns:a="http://schemas.openxmlformats.org/drawingml/2006/main">
          <a:graphicData uri="http://schemas.openxmlformats.org/drawingml/2006/table">
            <a:tbl>
              <a:tblPr/>
              <a:tblGrid>
                <a:gridCol w="6572250"/>
                <a:gridCol w="7524750"/>
              </a:tblGrid>
              <a:tr h="628650">
                <a:tc>
                  <a:txBody>
                    <a:bodyPr lIns="171450" tIns="95250" rIns="152400" bIns="95250"/>
                    <a:lstStyle/>
                    <a:p>
                      <a:r>
                        <a:rPr sz="2400" b="1">
                          <a:solidFill>
                            <a:srgbClr val="FFFFFF"/>
                          </a:solidFill>
                          <a:latin typeface="Arial"/>
                          <a:ea typeface="Arial"/>
                          <a:cs typeface="Arial"/>
                        </a:rPr>
                        <a:t>Post (€ per maand)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r>
              <a:tr h="628650">
                <a:tc>
                  <a:txBody>
                    <a:bodyPr lIns="171450" tIns="95250" rIns="152400" bIns="95250"/>
                    <a:lstStyle/>
                    <a:p>
                      <a:r>
                        <a:rPr sz="2400" b="0">
                          <a:solidFill>
                            <a:srgbClr val="183247"/>
                          </a:solidFill>
                          <a:latin typeface="Arial"/>
                          <a:ea typeface="Arial"/>
                          <a:cs typeface="Arial"/>
                        </a:rPr>
                        <a:t>CS + PS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441 + 441 = 882</a:t>
                      </a:r>
                    </a:p>
                  </a:txBody>
                  <a:tcPr marL="91440" marR="91440" marT="45720" marB="45720" anchor="ctr">
                    <a:solidFill>
                      <a:srgbClr val="FFFFFF"/>
                    </a:solidFill>
                  </a:tcPr>
                </a:tc>
              </a:tr>
              <a:tr h="628650">
                <a:tc>
                  <a:txBody>
                    <a:bodyPr lIns="171450" tIns="95250" rIns="152400" bIns="95250"/>
                    <a:lstStyle/>
                    <a:p>
                      <a:r>
                        <a:rPr sz="2400" b="0">
                          <a:solidFill>
                            <a:srgbClr val="183247"/>
                          </a:solidFill>
                          <a:latin typeface="Arial"/>
                          <a:ea typeface="Arial"/>
                          <a:cs typeface="Arial"/>
                        </a:rPr>
                        <a:t>Subsidie-uitgaven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6 × 42 = 252</a:t>
                      </a:r>
                    </a:p>
                  </a:txBody>
                  <a:tcPr marL="91440" marR="91440" marT="45720" marB="45720" anchor="ctr">
                    <a:solidFill>
                      <a:srgbClr val="EFF4F7"/>
                    </a:solidFill>
                  </a:tcPr>
                </a:tc>
              </a:tr>
              <a:tr h="628650">
                <a:tc>
                  <a:txBody>
                    <a:bodyPr lIns="171450" tIns="95250" rIns="152400" bIns="95250"/>
                    <a:lstStyle/>
                    <a:p>
                      <a:r>
                        <a:rPr sz="2400" b="0">
                          <a:solidFill>
                            <a:srgbClr val="183247"/>
                          </a:solidFill>
                          <a:latin typeface="Arial"/>
                          <a:ea typeface="Arial"/>
                          <a:cs typeface="Arial"/>
                        </a:rPr>
                        <a:t>Externe baten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12 × 42 = 504</a:t>
                      </a:r>
                    </a:p>
                  </a:txBody>
                  <a:tcPr marL="91440" marR="91440" marT="45720" marB="45720" anchor="ctr">
                    <a:solidFill>
                      <a:srgbClr val="FFFFFF"/>
                    </a:solidFill>
                  </a:tcPr>
                </a:tc>
              </a:tr>
              <a:tr h="628650">
                <a:tc>
                  <a:txBody>
                    <a:bodyPr lIns="171450" tIns="95250" rIns="152400" bIns="95250"/>
                    <a:lstStyle/>
                    <a:p>
                      <a:r>
                        <a:rPr sz="2400" b="0">
                          <a:solidFill>
                            <a:srgbClr val="183247"/>
                          </a:solidFill>
                          <a:latin typeface="Arial"/>
                          <a:ea typeface="Arial"/>
                          <a:cs typeface="Arial"/>
                        </a:rPr>
                        <a:t>Maatschappelijk surplus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882 − 252 + 504 = 1.134</a:t>
                      </a:r>
                    </a:p>
                  </a:txBody>
                  <a:tcPr marL="91440" marR="91440" marT="45720" marB="45720" anchor="ctr">
                    <a:solidFill>
                      <a:srgbClr val="EFF4F7"/>
                    </a:solidFill>
                  </a:tcPr>
                </a:tc>
              </a:tr>
            </a:tbl>
          </a:graphicData>
        </a:graphic>
      </p:graphicFrame>
      <p:sp>
        <p:nvSpPr>
          <p:cNvPr id="8" name="Uitgaven en externe baten blijven afzonderlijke posten.">
            <a:extLst xmlns:a="http://schemas.openxmlformats.org/drawingml/2006/main">
              <a:ext uri="{FF2B5EF4-FFF2-40B4-BE49-F238E27FC236}">
                <a16:creationId xmlns:a16="http://schemas.microsoft.com/office/drawing/2014/main" id="{D5D6EF8E-9E4D-4691-98D9-5D10C394F253}"/>
              </a:ext>
            </a:extLst>
          </p:cNvPr>
          <p:cNvSpPr>
            <a:spLocks xmlns:a="http://schemas.openxmlformats.org/drawingml/2006/main" noGrp="1"/>
          </p:cNvSpPr>
          <p:nvPr/>
        </p:nvSpPr>
        <p:spPr>
          <a:xfrm xmlns:a="http://schemas.openxmlformats.org/drawingml/2006/main">
            <a:off x="571500" y="72771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Uitgaven en externe baten blijven afzonderlijke posten.</a:t>
            </a:r>
          </a:p>
        </p:txBody>
      </p:sp>
    </p:spTree>
    <p:extLst>
      <p:ext uri="{BB962C8B-B14F-4D97-AF65-F5344CB8AC3E}">
        <p14:creationId xmlns:p14="http://schemas.microsoft.com/office/powerpoint/2010/main" val="1389177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twee baten veranderen">
            <a:extLst xmlns:a="http://schemas.openxmlformats.org/drawingml/2006/main">
              <a:ext uri="{FF2B5EF4-FFF2-40B4-BE49-F238E27FC236}">
                <a16:creationId xmlns:a16="http://schemas.microsoft.com/office/drawing/2014/main" id="{F0AEA6BE-6085-4C2F-B56E-A8754F3AD0B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twee baten veranderen</a:t>
            </a:r>
          </a:p>
        </p:txBody>
      </p:sp>
      <p:sp>
        <p:nvSpPr>
          <p:cNvPr id="2" name="">
            <a:extLst xmlns:a="http://schemas.openxmlformats.org/drawingml/2006/main">
              <a:ext uri="{FF2B5EF4-FFF2-40B4-BE49-F238E27FC236}">
                <a16:creationId xmlns:a16="http://schemas.microsoft.com/office/drawing/2014/main" id="{49256DE7-AF18-420B-8251-88FD077EA6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4BB761B-D84F-4163-999F-23154F4002F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EBF12954-E3C1-4487-9A43-ECD4E1DBEB7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Bij dezelfde hoeveelheid activiteit, met gelijke kosten">
            <a:extLst xmlns:a="http://schemas.openxmlformats.org/drawingml/2006/main">
              <a:ext uri="{FF2B5EF4-FFF2-40B4-BE49-F238E27FC236}">
                <a16:creationId xmlns:a16="http://schemas.microsoft.com/office/drawing/2014/main" id="{05FF62BF-E19F-4402-915B-EF53FD54B669}"/>
              </a:ext>
            </a:extLst>
          </p:cNvPr>
          <p:cNvSpPr>
            <a:spLocks xmlns:a="http://schemas.openxmlformats.org/drawingml/2006/main" noGrp="1"/>
          </p:cNvSpPr>
          <p:nvPr/>
        </p:nvSpPr>
        <p:spPr>
          <a:xfrm xmlns:a="http://schemas.openxmlformats.org/drawingml/2006/main">
            <a:off x="571500" y="197167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Bij dezelfde hoeveelheid activiteit, met gelijke kosten:</a:t>
            </a:r>
          </a:p>
        </p:txBody>
      </p:sp>
      <p:graphicFrame>
        <p:nvGraphicFramePr>
          <p:cNvPr id="13" name=""/>
          <p:cNvGraphicFramePr/>
          <p:nvPr/>
        </p:nvGraphicFramePr>
        <p:xfrm>
          <a:off xmlns:a="http://schemas.openxmlformats.org/drawingml/2006/main" x="571500" y="3238500"/>
          <a:ext xmlns:a="http://schemas.openxmlformats.org/drawingml/2006/main" cx="14097000" cy="2543175"/>
        </p:xfrm>
        <a:graphic xmlns:a="http://schemas.openxmlformats.org/drawingml/2006/main">
          <a:graphicData uri="http://schemas.openxmlformats.org/drawingml/2006/table">
            <a:tbl>
              <a:tblPr/>
              <a:tblGrid>
                <a:gridCol w="10668000"/>
                <a:gridCol w="3429000"/>
              </a:tblGrid>
              <a:tr h="847725">
                <a:tc>
                  <a:txBody>
                    <a:bodyPr lIns="171450" tIns="95250" rIns="152400" bIns="95250"/>
                    <a:lstStyle/>
                    <a:p>
                      <a:r>
                        <a:rPr sz="2850" b="1">
                          <a:solidFill>
                            <a:srgbClr val="FFFFFF"/>
                          </a:solidFill>
                          <a:latin typeface="Arial"/>
                          <a:ea typeface="Arial"/>
                          <a:cs typeface="Arial"/>
                        </a:rPr>
                        <a:t>Verandering per extra dakdienst</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Bedrag</a:t>
                      </a:r>
                    </a:p>
                  </a:txBody>
                  <a:tcPr marL="91440" marR="91440" marT="45720" marB="45720" anchor="ctr">
                    <a:solidFill>
                      <a:srgbClr val="183247"/>
                    </a:solidFill>
                  </a:tcPr>
                </a:tc>
              </a:tr>
              <a:tr h="847725">
                <a:tc>
                  <a:txBody>
                    <a:bodyPr lIns="171450" tIns="95250" rIns="152400" bIns="95250"/>
                    <a:lstStyle/>
                    <a:p>
                      <a:r>
                        <a:rPr sz="2850" b="0">
                          <a:solidFill>
                            <a:srgbClr val="183247"/>
                          </a:solidFill>
                          <a:latin typeface="Arial"/>
                          <a:ea typeface="Arial"/>
                          <a:cs typeface="Arial"/>
                        </a:rPr>
                        <a:t>Privaat voordeel</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€ 3 hoger</a:t>
                      </a:r>
                    </a:p>
                  </a:txBody>
                  <a:tcPr marL="91440" marR="91440" marT="45720" marB="45720" anchor="ctr">
                    <a:solidFill>
                      <a:srgbClr val="FFFFFF"/>
                    </a:solidFill>
                  </a:tcPr>
                </a:tc>
              </a:tr>
              <a:tr h="847725">
                <a:tc>
                  <a:txBody>
                    <a:bodyPr lIns="171450" tIns="95250" rIns="152400" bIns="95250"/>
                    <a:lstStyle/>
                    <a:p>
                      <a:r>
                        <a:rPr sz="2850" b="0">
                          <a:solidFill>
                            <a:srgbClr val="183247"/>
                          </a:solidFill>
                          <a:latin typeface="Arial"/>
                          <a:ea typeface="Arial"/>
                          <a:cs typeface="Arial"/>
                        </a:rPr>
                        <a:t>Extern voordeel</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€ 7 lager</a:t>
                      </a:r>
                    </a:p>
                  </a:txBody>
                  <a:tcPr marL="91440" marR="91440" marT="45720" marB="45720" anchor="ctr">
                    <a:solidFill>
                      <a:srgbClr val="EFF4F7"/>
                    </a:solidFill>
                  </a:tcPr>
                </a:tc>
              </a:tr>
            </a:tbl>
          </a:graphicData>
        </a:graphic>
      </p:graphicFrame>
      <p:sp>
        <p:nvSpPr>
          <p:cNvPr id="7" name="Hoe veranderen de maatschappelijke baten per extra dien">
            <a:extLst xmlns:a="http://schemas.openxmlformats.org/drawingml/2006/main">
              <a:ext uri="{FF2B5EF4-FFF2-40B4-BE49-F238E27FC236}">
                <a16:creationId xmlns:a16="http://schemas.microsoft.com/office/drawing/2014/main" id="{BD193C29-FAB4-4564-87BC-52F78A7832AC}"/>
              </a:ext>
            </a:extLst>
          </p:cNvPr>
          <p:cNvSpPr>
            <a:spLocks xmlns:a="http://schemas.openxmlformats.org/drawingml/2006/main" noGrp="1"/>
          </p:cNvSpPr>
          <p:nvPr/>
        </p:nvSpPr>
        <p:spPr>
          <a:xfrm xmlns:a="http://schemas.openxmlformats.org/drawingml/2006/main">
            <a:off x="571500" y="659130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Hoe veranderen de maatschappelijke baten per extra dienst?</a:t>
            </a:r>
          </a:p>
        </p:txBody>
      </p:sp>
    </p:spTree>
    <p:extLst>
      <p:ext uri="{BB962C8B-B14F-4D97-AF65-F5344CB8AC3E}">
        <p14:creationId xmlns:p14="http://schemas.microsoft.com/office/powerpoint/2010/main" val="11737853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het gezamenlijke effect">
            <a:extLst xmlns:a="http://schemas.openxmlformats.org/drawingml/2006/main">
              <a:ext uri="{FF2B5EF4-FFF2-40B4-BE49-F238E27FC236}">
                <a16:creationId xmlns:a16="http://schemas.microsoft.com/office/drawing/2014/main" id="{0880D097-7386-42EF-B65B-57CE0F2A708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het gezamenlijke effect</a:t>
            </a:r>
          </a:p>
        </p:txBody>
      </p:sp>
      <p:sp>
        <p:nvSpPr>
          <p:cNvPr id="2" name="">
            <a:extLst xmlns:a="http://schemas.openxmlformats.org/drawingml/2006/main">
              <a:ext uri="{FF2B5EF4-FFF2-40B4-BE49-F238E27FC236}">
                <a16:creationId xmlns:a16="http://schemas.microsoft.com/office/drawing/2014/main" id="{633232E2-A04A-48AE-A524-04D03071FC3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E26A5BF-FDD1-4448-BF72-EA685BE5E5A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4">
            <a:extLst xmlns:a="http://schemas.openxmlformats.org/drawingml/2006/main">
              <a:ext uri="{FF2B5EF4-FFF2-40B4-BE49-F238E27FC236}">
                <a16:creationId xmlns:a16="http://schemas.microsoft.com/office/drawing/2014/main" id="{FAF52623-7686-4BFA-ABDD-10F8FDFDBC0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Alleen privaat: maatschappelijke baten € 3 hoger">
            <a:extLst xmlns:a="http://schemas.openxmlformats.org/drawingml/2006/main">
              <a:ext uri="{FF2B5EF4-FFF2-40B4-BE49-F238E27FC236}">
                <a16:creationId xmlns:a16="http://schemas.microsoft.com/office/drawing/2014/main" id="{A5C40A1F-6DD1-4940-A1D3-99E9C9238BB3}"/>
              </a:ext>
            </a:extLst>
          </p:cNvPr>
          <p:cNvSpPr>
            <a:spLocks xmlns:a="http://schemas.openxmlformats.org/drawingml/2006/main" noGrp="1"/>
          </p:cNvSpPr>
          <p:nvPr/>
        </p:nvSpPr>
        <p:spPr>
          <a:xfrm xmlns:a="http://schemas.openxmlformats.org/drawingml/2006/main">
            <a:off x="571500" y="2352675"/>
            <a:ext cx="14097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Alleen privaat: maatschappelijke baten € 3 hoger</a:t>
            </a:r>
          </a:p>
        </p:txBody>
      </p:sp>
      <p:sp>
        <p:nvSpPr>
          <p:cNvPr id="6" name="Alleen extern: maatschappelijke baten € 7 lager">
            <a:extLst xmlns:a="http://schemas.openxmlformats.org/drawingml/2006/main">
              <a:ext uri="{FF2B5EF4-FFF2-40B4-BE49-F238E27FC236}">
                <a16:creationId xmlns:a16="http://schemas.microsoft.com/office/drawing/2014/main" id="{3FC726C0-8CBA-471C-92EC-B6924440AE74}"/>
              </a:ext>
            </a:extLst>
          </p:cNvPr>
          <p:cNvSpPr>
            <a:spLocks xmlns:a="http://schemas.openxmlformats.org/drawingml/2006/main" noGrp="1"/>
          </p:cNvSpPr>
          <p:nvPr/>
        </p:nvSpPr>
        <p:spPr>
          <a:xfrm xmlns:a="http://schemas.openxmlformats.org/drawingml/2006/main">
            <a:off x="571500" y="3905250"/>
            <a:ext cx="14097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Alleen extern: maatschappelijke baten € 7 lager</a:t>
            </a:r>
          </a:p>
        </p:txBody>
      </p:sp>
      <p:sp>
        <p:nvSpPr>
          <p:cNvPr id="7" name="Samen: + € 3 − € 7 = − € 4 per extra dakdienst">
            <a:extLst xmlns:a="http://schemas.openxmlformats.org/drawingml/2006/main">
              <a:ext uri="{FF2B5EF4-FFF2-40B4-BE49-F238E27FC236}">
                <a16:creationId xmlns:a16="http://schemas.microsoft.com/office/drawing/2014/main" id="{1C583FB5-54F6-492D-9110-EA592B762AF7}"/>
              </a:ext>
            </a:extLst>
          </p:cNvPr>
          <p:cNvSpPr>
            <a:spLocks xmlns:a="http://schemas.openxmlformats.org/drawingml/2006/main" noGrp="1"/>
          </p:cNvSpPr>
          <p:nvPr/>
        </p:nvSpPr>
        <p:spPr>
          <a:xfrm xmlns:a="http://schemas.openxmlformats.org/drawingml/2006/main">
            <a:off x="571500" y="5457825"/>
            <a:ext cx="14097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Samen: + € 3 − € 7 = − € 4 per extra dakdienst</a:t>
            </a:r>
          </a:p>
        </p:txBody>
      </p:sp>
      <p:sp>
        <p:nvSpPr>
          <p:cNvPr id="8" name="De maatschappelijke baten dalen hier ondanks hoger priv">
            <a:extLst xmlns:a="http://schemas.openxmlformats.org/drawingml/2006/main">
              <a:ext uri="{FF2B5EF4-FFF2-40B4-BE49-F238E27FC236}">
                <a16:creationId xmlns:a16="http://schemas.microsoft.com/office/drawing/2014/main" id="{79FE596A-2C4D-4212-A5D0-23A997F0B359}"/>
              </a:ext>
            </a:extLst>
          </p:cNvPr>
          <p:cNvSpPr>
            <a:spLocks xmlns:a="http://schemas.openxmlformats.org/drawingml/2006/main" noGrp="1"/>
          </p:cNvSpPr>
          <p:nvPr/>
        </p:nvSpPr>
        <p:spPr>
          <a:xfrm xmlns:a="http://schemas.openxmlformats.org/drawingml/2006/main">
            <a:off x="571500" y="72961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De maatschappelijke baten dalen hier ondanks hoger privaat voordeel.</a:t>
            </a:r>
          </a:p>
        </p:txBody>
      </p:sp>
    </p:spTree>
    <p:extLst>
      <p:ext uri="{BB962C8B-B14F-4D97-AF65-F5344CB8AC3E}">
        <p14:creationId xmlns:p14="http://schemas.microsoft.com/office/powerpoint/2010/main" val="10363299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5 Positieve externe effecten">
            <a:extLst xmlns:a="http://schemas.openxmlformats.org/drawingml/2006/main">
              <a:ext uri="{FF2B5EF4-FFF2-40B4-BE49-F238E27FC236}">
                <a16:creationId xmlns:a16="http://schemas.microsoft.com/office/drawing/2014/main" id="{4D3BC4C4-6021-454D-8757-3C9DF427362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§4.2.5 Positieve externe effecten</a:t>
            </a:r>
          </a:p>
        </p:txBody>
      </p:sp>
      <p:sp>
        <p:nvSpPr>
          <p:cNvPr id="2" name="">
            <a:extLst xmlns:a="http://schemas.openxmlformats.org/drawingml/2006/main">
              <a:ext uri="{FF2B5EF4-FFF2-40B4-BE49-F238E27FC236}">
                <a16:creationId xmlns:a16="http://schemas.microsoft.com/office/drawing/2014/main" id="{94DFA29A-3379-4333-B427-4B6660BD52A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78715263-0DD0-47BF-8589-9784851EB12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15">
            <a:extLst xmlns:a="http://schemas.openxmlformats.org/drawingml/2006/main">
              <a:ext uri="{FF2B5EF4-FFF2-40B4-BE49-F238E27FC236}">
                <a16:creationId xmlns:a16="http://schemas.microsoft.com/office/drawing/2014/main" id="{CC4CCD2F-D3F0-4EC2-9D79-69960E4401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918852A6-490A-4528-9C3C-4755AB332A7C}"/>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1C5359EB-0A87-46A1-B7AD-0598884438C3}"/>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5358003A-8250-4202-87C9-B6F37EDC76A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44BBFDA1-95E0-44AC-86EC-950AC4FEB72C}"/>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41515E7C-424D-4754-B6DE-9B1CEE34C6E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206534C0-533C-421C-AAB8-B316FB1BA23F}"/>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C2022D2C-FF91-4399-B560-F276F90ED25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9EAA45D6-FBD6-4026-938D-22B9325F3098}"/>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2D94B857-8AA0-4BD2-9CDA-C9996FFC752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A528DF70-53FF-4178-B7D8-92DC64BF8EEC}"/>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E3942174-69BB-457C-9CA2-457AD701EE9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9C8FBC45-BB7C-4A1D-AA97-91B060390004}"/>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AF05E854-AE89-421C-B836-EC42C9BC9DF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E65BC702-8BE1-49D1-8C4A-F4D181DB4443}"/>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43.</a:t>
            </a:r>
          </a:p>
        </p:txBody>
      </p:sp>
      <p:sp>
        <p:nvSpPr>
          <p:cNvPr id="19" name="route-number-6">
            <a:extLst xmlns:a="http://schemas.openxmlformats.org/drawingml/2006/main">
              <a:ext uri="{FF2B5EF4-FFF2-40B4-BE49-F238E27FC236}">
                <a16:creationId xmlns:a16="http://schemas.microsoft.com/office/drawing/2014/main" id="{B4952A22-4F01-4F45-968F-5B4BA7385E5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48E02293-DF00-4F37-824B-5478D8FF5025}"/>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8CA611F-9706-4FA1-B08E-3B710C980B6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26CD3EB-08A8-475F-BACC-29993E4C84FF}"/>
              </a:ext>
            </a:extLst>
          </p:cNvPr>
          <p:cNvSpPr>
            <a:spLocks xmlns:a="http://schemas.openxmlformats.org/drawingml/2006/main" noGrp="1"/>
          </p:cNvSpPr>
          <p:nvPr/>
        </p:nvSpPr>
        <p:spPr>
          <a:xfrm xmlns:a="http://schemas.openxmlformats.org/drawingml/2006/main">
            <a:off x="9258300" y="2286000"/>
            <a:ext cx="53816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Privaat en extern voordeel.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Subsidie en uitgaven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Maatschappelijk surplus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efficiënte hoeveelheid bepalen.</a:t>
            </a:r>
          </a:p>
        </p:txBody>
      </p:sp>
      <p:sp>
        <p:nvSpPr>
          <p:cNvPr id="23" name="">
            <a:extLst xmlns:a="http://schemas.openxmlformats.org/drawingml/2006/main">
              <a:ext uri="{FF2B5EF4-FFF2-40B4-BE49-F238E27FC236}">
                <a16:creationId xmlns:a16="http://schemas.microsoft.com/office/drawing/2014/main" id="{14139FA3-5D71-4C19-918F-8B022D00B392}"/>
              </a:ext>
            </a:extLst>
          </p:cNvPr>
          <p:cNvSpPr>
            <a:spLocks xmlns:a="http://schemas.openxmlformats.org/drawingml/2006/main" noGrp="1"/>
          </p:cNvSpPr>
          <p:nvPr/>
        </p:nvSpPr>
        <p:spPr>
          <a:xfrm xmlns:a="http://schemas.openxmlformats.org/drawingml/2006/main">
            <a:off x="9258300" y="370522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1D4BB38-5201-47C2-AB33-613DF25529DD}"/>
              </a:ext>
            </a:extLst>
          </p:cNvPr>
          <p:cNvSpPr>
            <a:spLocks xmlns:a="http://schemas.openxmlformats.org/drawingml/2006/main" noGrp="1"/>
          </p:cNvSpPr>
          <p:nvPr/>
        </p:nvSpPr>
        <p:spPr>
          <a:xfrm xmlns:a="http://schemas.openxmlformats.org/drawingml/2006/main">
            <a:off x="9258300" y="3876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EE1E5E3-02FE-4CD3-8D3B-87F0C9E58585}"/>
              </a:ext>
            </a:extLst>
          </p:cNvPr>
          <p:cNvSpPr>
            <a:spLocks xmlns:a="http://schemas.openxmlformats.org/drawingml/2006/main" noGrp="1"/>
          </p:cNvSpPr>
          <p:nvPr/>
        </p:nvSpPr>
        <p:spPr>
          <a:xfrm xmlns:a="http://schemas.openxmlformats.org/drawingml/2006/main">
            <a:off x="9258300" y="439102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94 · Opgaven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38: verkennen, theorie p. 88</a:t>
            </a:r>
          </a:p>
        </p:txBody>
      </p:sp>
      <p:sp>
        <p:nvSpPr>
          <p:cNvPr id="26" name="">
            <a:extLst xmlns:a="http://schemas.openxmlformats.org/drawingml/2006/main">
              <a:ext uri="{FF2B5EF4-FFF2-40B4-BE49-F238E27FC236}">
                <a16:creationId xmlns:a16="http://schemas.microsoft.com/office/drawing/2014/main" id="{4A288D28-C58E-4591-9D0A-41C11E0F66A2}"/>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658ACD4-3607-4E06-9391-7AB7AFB4F08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0087DAD-22A1-4AEB-9FF6-06690D5F8AE7}"/>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39 en 40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41 en 42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126505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3 · Bron: Buurtcursus">
            <a:extLst xmlns:a="http://schemas.openxmlformats.org/drawingml/2006/main">
              <a:ext uri="{FF2B5EF4-FFF2-40B4-BE49-F238E27FC236}">
                <a16:creationId xmlns:a16="http://schemas.microsoft.com/office/drawing/2014/main" id="{7587C50C-F240-49DC-9CDB-211F33EF92E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43 · Bron: Buurtcursus</a:t>
            </a:r>
          </a:p>
        </p:txBody>
      </p:sp>
      <p:sp>
        <p:nvSpPr>
          <p:cNvPr id="2" name="">
            <a:extLst xmlns:a="http://schemas.openxmlformats.org/drawingml/2006/main">
              <a:ext uri="{FF2B5EF4-FFF2-40B4-BE49-F238E27FC236}">
                <a16:creationId xmlns:a16="http://schemas.microsoft.com/office/drawing/2014/main" id="{AA5B2887-AA44-47A1-96D1-8B242D94C4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B2C4BD7A-07D7-4FD8-A1CB-E64D4A1DCCA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16">
            <a:extLst xmlns:a="http://schemas.openxmlformats.org/drawingml/2006/main">
              <a:ext uri="{FF2B5EF4-FFF2-40B4-BE49-F238E27FC236}">
                <a16:creationId xmlns:a16="http://schemas.microsoft.com/office/drawing/2014/main" id="{68157D8A-38A0-40E4-8A55-6AA31F26E20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Een cursus geeft deelnemers eigen voordeel én helpt and">
            <a:extLst xmlns:a="http://schemas.openxmlformats.org/drawingml/2006/main">
              <a:ext uri="{FF2B5EF4-FFF2-40B4-BE49-F238E27FC236}">
                <a16:creationId xmlns:a16="http://schemas.microsoft.com/office/drawing/2014/main" id="{8B6EF7F3-64A5-44C0-A312-3E5BF842F5EB}"/>
              </a:ext>
            </a:extLst>
          </p:cNvPr>
          <p:cNvSpPr>
            <a:spLocks xmlns:a="http://schemas.openxmlformats.org/drawingml/2006/main" noGrp="1"/>
          </p:cNvSpPr>
          <p:nvPr/>
        </p:nvSpPr>
        <p:spPr>
          <a:xfrm xmlns:a="http://schemas.openxmlformats.org/drawingml/2006/main">
            <a:off x="571500" y="1876425"/>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cursus geeft deelnemers eigen voordeel én helpt andere buurtbewoners. De bron waardeert uitsluitend dat bijkomende voordeel op € 10 per deelnemer.</a:t>
            </a:r>
          </a:p>
        </p:txBody>
      </p:sp>
      <p:graphicFrame>
        <p:nvGraphicFramePr>
          <p:cNvPr id="13" name=""/>
          <p:cNvGraphicFramePr/>
          <p:nvPr/>
        </p:nvGraphicFramePr>
        <p:xfrm>
          <a:off xmlns:a="http://schemas.openxmlformats.org/drawingml/2006/main" x="571500" y="3762375"/>
          <a:ext xmlns:a="http://schemas.openxmlformats.org/drawingml/2006/main" cx="14097000" cy="3190875"/>
        </p:xfrm>
        <a:graphic xmlns:a="http://schemas.openxmlformats.org/drawingml/2006/main">
          <a:graphicData uri="http://schemas.openxmlformats.org/drawingml/2006/table">
            <a:tbl>
              <a:tblPr/>
              <a:tblGrid>
                <a:gridCol w="3810000"/>
                <a:gridCol w="10287000"/>
              </a:tblGrid>
              <a:tr h="638175">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Waarde</a:t>
                      </a:r>
                    </a:p>
                  </a:txBody>
                  <a:tcPr marL="91440" marR="91440" marT="45720" marB="45720" anchor="ctr">
                    <a:solidFill>
                      <a:srgbClr val="183247"/>
                    </a:solidFill>
                  </a:tcPr>
                </a:tc>
              </a:tr>
              <a:tr h="638175">
                <a:tc>
                  <a:txBody>
                    <a:bodyPr lIns="171450" tIns="95250" rIns="152400" bIns="95250"/>
                    <a:lstStyle/>
                    <a:p>
                      <a:r>
                        <a:rPr sz="2550"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Pc = 60 − 0,5Q</a:t>
                      </a:r>
                    </a:p>
                  </a:txBody>
                  <a:tcPr marL="91440" marR="91440" marT="45720" marB="45720" anchor="ctr">
                    <a:solidFill>
                      <a:srgbClr val="FFFFFF"/>
                    </a:solidFill>
                  </a:tcPr>
                </a:tc>
              </a:tr>
              <a:tr h="638175">
                <a:tc>
                  <a:txBody>
                    <a:bodyPr lIns="171450" tIns="95250" rIns="152400" bIns="95250"/>
                    <a:lstStyle/>
                    <a:p>
                      <a:r>
                        <a:rPr sz="2550" b="0">
                          <a:solidFill>
                            <a:srgbClr val="183247"/>
                          </a:solidFill>
                          <a:latin typeface="Arial"/>
                          <a:ea typeface="Arial"/>
                          <a:cs typeface="Arial"/>
                        </a:rPr>
                        <a:t>Aanbod</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Pp = 20 + 0,5Q</a:t>
                      </a:r>
                    </a:p>
                  </a:txBody>
                  <a:tcPr marL="91440" marR="91440" marT="45720" marB="45720" anchor="ctr">
                    <a:solidFill>
                      <a:srgbClr val="EFF4F7"/>
                    </a:solidFill>
                  </a:tcPr>
                </a:tc>
              </a:tr>
              <a:tr h="638175">
                <a:tc>
                  <a:txBody>
                    <a:bodyPr lIns="171450" tIns="95250" rIns="152400" bIns="95250"/>
                    <a:lstStyle/>
                    <a:p>
                      <a:r>
                        <a:rPr sz="2550" b="0">
                          <a:solidFill>
                            <a:srgbClr val="183247"/>
                          </a:solidFill>
                          <a:latin typeface="Arial"/>
                          <a:ea typeface="Arial"/>
                          <a:cs typeface="Arial"/>
                        </a:rPr>
                        <a:t>Hoeveelheid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is deelnemers per maand, van 0 tot 100</a:t>
                      </a:r>
                    </a:p>
                  </a:txBody>
                  <a:tcPr marL="91440" marR="91440" marT="45720" marB="45720" anchor="ctr">
                    <a:solidFill>
                      <a:srgbClr val="FFFFFF"/>
                    </a:solidFill>
                  </a:tcPr>
                </a:tc>
              </a:tr>
              <a:tr h="638175">
                <a:tc>
                  <a:txBody>
                    <a:bodyPr lIns="171450" tIns="95250" rIns="152400" bIns="95250"/>
                    <a:lstStyle/>
                    <a:p>
                      <a:r>
                        <a:rPr sz="2550" b="0">
                          <a:solidFill>
                            <a:srgbClr val="183247"/>
                          </a:solidFill>
                          <a:latin typeface="Arial"/>
                          <a:ea typeface="Arial"/>
                          <a:cs typeface="Arial"/>
                        </a:rPr>
                        <a:t>Prijzen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Euro per deelnemer</a:t>
                      </a:r>
                    </a:p>
                  </a:txBody>
                  <a:tcPr marL="91440" marR="91440" marT="45720" marB="45720" anchor="ctr">
                    <a:solidFill>
                      <a:srgbClr val="EFF4F7"/>
                    </a:solidFill>
                  </a:tcPr>
                </a:tc>
              </a:tr>
            </a:tbl>
          </a:graphicData>
        </a:graphic>
      </p:graphicFrame>
      <p:sp>
        <p:nvSpPr>
          <p:cNvPr id="7" name="Boekpagina 97 · Eigen voordeel en voordeel voor anderen">
            <a:extLst xmlns:a="http://schemas.openxmlformats.org/drawingml/2006/main">
              <a:ext uri="{FF2B5EF4-FFF2-40B4-BE49-F238E27FC236}">
                <a16:creationId xmlns:a16="http://schemas.microsoft.com/office/drawing/2014/main" id="{CD66FF63-1882-43C0-B1F9-0D8B1D0A4ADD}"/>
              </a:ext>
            </a:extLst>
          </p:cNvPr>
          <p:cNvSpPr>
            <a:spLocks xmlns:a="http://schemas.openxmlformats.org/drawingml/2006/main" noGrp="1"/>
          </p:cNvSpPr>
          <p:nvPr/>
        </p:nvSpPr>
        <p:spPr>
          <a:xfrm xmlns:a="http://schemas.openxmlformats.org/drawingml/2006/main">
            <a:off x="571500" y="735330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Boekpagina 97 · Eigen voordeel en voordeel voor anderen</a:t>
            </a:r>
          </a:p>
        </p:txBody>
      </p:sp>
    </p:spTree>
    <p:extLst>
      <p:ext uri="{BB962C8B-B14F-4D97-AF65-F5344CB8AC3E}">
        <p14:creationId xmlns:p14="http://schemas.microsoft.com/office/powerpoint/2010/main" val="10089762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3 · Subsidie en voorwaarden">
            <a:extLst xmlns:a="http://schemas.openxmlformats.org/drawingml/2006/main">
              <a:ext uri="{FF2B5EF4-FFF2-40B4-BE49-F238E27FC236}">
                <a16:creationId xmlns:a16="http://schemas.microsoft.com/office/drawing/2014/main" id="{61EF1A85-3324-4D1A-AAAD-A4E07BBEF71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43 · Subsidie en voorwaarden</a:t>
            </a:r>
          </a:p>
        </p:txBody>
      </p:sp>
      <p:sp>
        <p:nvSpPr>
          <p:cNvPr id="2" name="">
            <a:extLst xmlns:a="http://schemas.openxmlformats.org/drawingml/2006/main">
              <a:ext uri="{FF2B5EF4-FFF2-40B4-BE49-F238E27FC236}">
                <a16:creationId xmlns:a16="http://schemas.microsoft.com/office/drawing/2014/main" id="{6D46086B-849F-4ADA-8F18-C2A8EC3CE2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40E96B2E-61C5-4D2C-BC96-92695DC0671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17">
            <a:extLst xmlns:a="http://schemas.openxmlformats.org/drawingml/2006/main">
              <a:ext uri="{FF2B5EF4-FFF2-40B4-BE49-F238E27FC236}">
                <a16:creationId xmlns:a16="http://schemas.microsoft.com/office/drawing/2014/main" id="{F8C4DA91-63F7-4B8B-8E52-7D0E784994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Er zijn veel aanbieders.">
            <a:extLst xmlns:a="http://schemas.openxmlformats.org/drawingml/2006/main">
              <a:ext uri="{FF2B5EF4-FFF2-40B4-BE49-F238E27FC236}">
                <a16:creationId xmlns:a16="http://schemas.microsoft.com/office/drawing/2014/main" id="{1B5EFED7-E074-4B58-97D1-CF18984D455C}"/>
              </a:ext>
            </a:extLst>
          </p:cNvPr>
          <p:cNvSpPr>
            <a:spLocks xmlns:a="http://schemas.openxmlformats.org/drawingml/2006/main" noGrp="1"/>
          </p:cNvSpPr>
          <p:nvPr/>
        </p:nvSpPr>
        <p:spPr>
          <a:xfrm xmlns:a="http://schemas.openxmlformats.org/drawingml/2006/main">
            <a:off x="571500" y="195262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Er zijn veel aanbieders.</a:t>
            </a:r>
          </a:p>
        </p:txBody>
      </p:sp>
      <p:sp>
        <p:nvSpPr>
          <p:cNvPr id="6" name="De overheid betaalt aanbieders € 10 subsidie&#10;voor elke ">
            <a:extLst xmlns:a="http://schemas.openxmlformats.org/drawingml/2006/main">
              <a:ext uri="{FF2B5EF4-FFF2-40B4-BE49-F238E27FC236}">
                <a16:creationId xmlns:a16="http://schemas.microsoft.com/office/drawing/2014/main" id="{C76FA00C-14AF-4803-BAA5-6CDEF9672233}"/>
              </a:ext>
            </a:extLst>
          </p:cNvPr>
          <p:cNvSpPr>
            <a:spLocks xmlns:a="http://schemas.openxmlformats.org/drawingml/2006/main" noGrp="1"/>
          </p:cNvSpPr>
          <p:nvPr/>
        </p:nvSpPr>
        <p:spPr>
          <a:xfrm xmlns:a="http://schemas.openxmlformats.org/drawingml/2006/main">
            <a:off x="571500" y="335280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overheid betaalt aanbieders € 10 subsidie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voor elke gebruikte cursusplaats.</a:t>
            </a:r>
          </a:p>
        </p:txBody>
      </p:sp>
      <p:sp>
        <p:nvSpPr>
          <p:cNvPr id="7" name="Andere omstandigheden blijven gelijk.">
            <a:extLst xmlns:a="http://schemas.openxmlformats.org/drawingml/2006/main">
              <a:ext uri="{FF2B5EF4-FFF2-40B4-BE49-F238E27FC236}">
                <a16:creationId xmlns:a16="http://schemas.microsoft.com/office/drawing/2014/main" id="{F66EF124-41F1-47A9-914D-C06F2937200B}"/>
              </a:ext>
            </a:extLst>
          </p:cNvPr>
          <p:cNvSpPr>
            <a:spLocks xmlns:a="http://schemas.openxmlformats.org/drawingml/2006/main" noGrp="1"/>
          </p:cNvSpPr>
          <p:nvPr/>
        </p:nvSpPr>
        <p:spPr>
          <a:xfrm xmlns:a="http://schemas.openxmlformats.org/drawingml/2006/main">
            <a:off x="571500" y="47529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Andere omstandigheden blijven gelijk.</a:t>
            </a:r>
          </a:p>
        </p:txBody>
      </p:sp>
      <p:sp>
        <p:nvSpPr>
          <p:cNvPr id="8" name="Er zijn geen andere externe effecten, vaste kosten,&#10;fin">
            <a:extLst xmlns:a="http://schemas.openxmlformats.org/drawingml/2006/main">
              <a:ext uri="{FF2B5EF4-FFF2-40B4-BE49-F238E27FC236}">
                <a16:creationId xmlns:a16="http://schemas.microsoft.com/office/drawing/2014/main" id="{5E6E6FE4-6560-4A7C-8558-46EA37B35B3E}"/>
              </a:ext>
            </a:extLst>
          </p:cNvPr>
          <p:cNvSpPr>
            <a:spLocks xmlns:a="http://schemas.openxmlformats.org/drawingml/2006/main" noGrp="1"/>
          </p:cNvSpPr>
          <p:nvPr/>
        </p:nvSpPr>
        <p:spPr>
          <a:xfrm xmlns:a="http://schemas.openxmlformats.org/drawingml/2006/main">
            <a:off x="571500" y="61531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Er zijn geen andere externe effecten, vaste kosten,</a:t>
            </a:r>
          </a:p>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financierings- of uitvoeringskosten.</a:t>
            </a:r>
          </a:p>
        </p:txBody>
      </p:sp>
    </p:spTree>
    <p:extLst>
      <p:ext uri="{BB962C8B-B14F-4D97-AF65-F5344CB8AC3E}">
        <p14:creationId xmlns:p14="http://schemas.microsoft.com/office/powerpoint/2010/main" val="9804575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3 · Basisgrafiek">
            <a:extLst xmlns:a="http://schemas.openxmlformats.org/drawingml/2006/main">
              <a:ext uri="{FF2B5EF4-FFF2-40B4-BE49-F238E27FC236}">
                <a16:creationId xmlns:a16="http://schemas.microsoft.com/office/drawing/2014/main" id="{110BF17C-00BC-47F1-9E71-96B8D345CB7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43 · Basisgrafiek</a:t>
            </a:r>
          </a:p>
        </p:txBody>
      </p:sp>
      <p:sp>
        <p:nvSpPr>
          <p:cNvPr id="2" name="">
            <a:extLst xmlns:a="http://schemas.openxmlformats.org/drawingml/2006/main">
              <a:ext uri="{FF2B5EF4-FFF2-40B4-BE49-F238E27FC236}">
                <a16:creationId xmlns:a16="http://schemas.microsoft.com/office/drawing/2014/main" id="{74162EA8-394C-4BE0-B149-041D8880132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EC36573D-1628-4E4C-A41B-F7A770177E2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18">
            <a:extLst xmlns:a="http://schemas.openxmlformats.org/drawingml/2006/main">
              <a:ext uri="{FF2B5EF4-FFF2-40B4-BE49-F238E27FC236}">
                <a16:creationId xmlns:a16="http://schemas.microsoft.com/office/drawing/2014/main" id="{1A7802B4-9AB8-49BD-9BF5-D759E237088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351522a1ec3641b8"/>
          </a:graphicData>
        </a:graphic>
      </p:graphicFrame>
      <p:sp>
        <p:nvSpPr>
          <p:cNvPr id="6" name="Gebruik de bron&#10;en de basisgrafiek">
            <a:extLst xmlns:a="http://schemas.openxmlformats.org/drawingml/2006/main">
              <a:ext uri="{FF2B5EF4-FFF2-40B4-BE49-F238E27FC236}">
                <a16:creationId xmlns:a16="http://schemas.microsoft.com/office/drawing/2014/main" id="{DD1EAEDA-4839-4219-83B6-DF08AC481767}"/>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Gebruik de bron</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en de basisgrafiek</a:t>
            </a:r>
          </a:p>
        </p:txBody>
      </p:sp>
      <p:sp>
        <p:nvSpPr>
          <p:cNvPr id="7" name="Private vraag&#10;Maatschappelijke baten&#10;Oorspronkelijk aan">
            <a:extLst xmlns:a="http://schemas.openxmlformats.org/drawingml/2006/main">
              <a:ext uri="{FF2B5EF4-FFF2-40B4-BE49-F238E27FC236}">
                <a16:creationId xmlns:a16="http://schemas.microsoft.com/office/drawing/2014/main" id="{AB9B8AA5-0967-45C9-940D-91499B4C81A6}"/>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Private vraag</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Maatschappelijke baten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Oorspronkelijk aanbod</a:t>
            </a:r>
          </a:p>
        </p:txBody>
      </p:sp>
      <p:sp>
        <p:nvSpPr>
          <p:cNvPr id="8" name="De subsidie is&#10;geen nieuwe&#10;externe baat.">
            <a:extLst xmlns:a="http://schemas.openxmlformats.org/drawingml/2006/main">
              <a:ext uri="{FF2B5EF4-FFF2-40B4-BE49-F238E27FC236}">
                <a16:creationId xmlns:a16="http://schemas.microsoft.com/office/drawing/2014/main" id="{56D26F1A-4F58-469C-B65D-93A33EDA653C}"/>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De subsidie is</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geen nieuwe</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externe baat.</a:t>
            </a:r>
          </a:p>
        </p:txBody>
      </p:sp>
    </p:spTree>
    <p:extLst>
      <p:ext uri="{BB962C8B-B14F-4D97-AF65-F5344CB8AC3E}">
        <p14:creationId xmlns:p14="http://schemas.microsoft.com/office/powerpoint/2010/main" val="951957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3 · Deelvragen a, b en c">
            <a:extLst xmlns:a="http://schemas.openxmlformats.org/drawingml/2006/main">
              <a:ext uri="{FF2B5EF4-FFF2-40B4-BE49-F238E27FC236}">
                <a16:creationId xmlns:a16="http://schemas.microsoft.com/office/drawing/2014/main" id="{5903D5DE-3480-4221-B6A2-319AF7DD232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43 · Deelvragen a, b en c</a:t>
            </a:r>
          </a:p>
        </p:txBody>
      </p:sp>
      <p:sp>
        <p:nvSpPr>
          <p:cNvPr id="2" name="">
            <a:extLst xmlns:a="http://schemas.openxmlformats.org/drawingml/2006/main">
              <a:ext uri="{FF2B5EF4-FFF2-40B4-BE49-F238E27FC236}">
                <a16:creationId xmlns:a16="http://schemas.microsoft.com/office/drawing/2014/main" id="{8D6A831D-1C01-4E1E-A321-CFF32ECACA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BDC8F5B2-193A-4A17-A8CA-A76FC41DD1A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19">
            <a:extLst xmlns:a="http://schemas.openxmlformats.org/drawingml/2006/main">
              <a:ext uri="{FF2B5EF4-FFF2-40B4-BE49-F238E27FC236}">
                <a16:creationId xmlns:a16="http://schemas.microsoft.com/office/drawing/2014/main" id="{90CAEB73-3854-40E2-9F3D-EFC7C68444E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a. (2p) Benoem het private en externe voordeel.&#10;Bereken">
            <a:extLst xmlns:a="http://schemas.openxmlformats.org/drawingml/2006/main">
              <a:ext uri="{FF2B5EF4-FFF2-40B4-BE49-F238E27FC236}">
                <a16:creationId xmlns:a16="http://schemas.microsoft.com/office/drawing/2014/main" id="{D66A0795-3F30-4326-86F5-57A1EA6174E1}"/>
              </a:ext>
            </a:extLst>
          </p:cNvPr>
          <p:cNvSpPr>
            <a:spLocks xmlns:a="http://schemas.openxmlformats.org/drawingml/2006/main" noGrp="1"/>
          </p:cNvSpPr>
          <p:nvPr/>
        </p:nvSpPr>
        <p:spPr>
          <a:xfrm xmlns:a="http://schemas.openxmlformats.org/drawingml/2006/main">
            <a:off x="571500" y="2162175"/>
            <a:ext cx="14097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 (2p) Benoem het private en externe voordeel.</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de oorspronkelijke hoeveelheid en prijs.</a:t>
            </a:r>
          </a:p>
        </p:txBody>
      </p:sp>
      <p:sp>
        <p:nvSpPr>
          <p:cNvPr id="6" name="b. (3p) Bereken na de subsidie Q, Pc, Pp&#10;en de overheid">
            <a:extLst xmlns:a="http://schemas.openxmlformats.org/drawingml/2006/main">
              <a:ext uri="{FF2B5EF4-FFF2-40B4-BE49-F238E27FC236}">
                <a16:creationId xmlns:a16="http://schemas.microsoft.com/office/drawing/2014/main" id="{E5533C65-FDA6-495D-9673-B4653B4460DB}"/>
              </a:ext>
            </a:extLst>
          </p:cNvPr>
          <p:cNvSpPr>
            <a:spLocks xmlns:a="http://schemas.openxmlformats.org/drawingml/2006/main" noGrp="1"/>
          </p:cNvSpPr>
          <p:nvPr/>
        </p:nvSpPr>
        <p:spPr>
          <a:xfrm xmlns:a="http://schemas.openxmlformats.org/drawingml/2006/main">
            <a:off x="571500" y="3981450"/>
            <a:ext cx="14097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 (3p) Bereken na de subsidie Q, Pc, Pp</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en de overheidsuitgaven.</a:t>
            </a:r>
          </a:p>
        </p:txBody>
      </p:sp>
      <p:sp>
        <p:nvSpPr>
          <p:cNvPr id="7" name="c. (4p) Bereken CS, PS en het maatschappelijk surplus&#10;v">
            <a:extLst xmlns:a="http://schemas.openxmlformats.org/drawingml/2006/main">
              <a:ext uri="{FF2B5EF4-FFF2-40B4-BE49-F238E27FC236}">
                <a16:creationId xmlns:a16="http://schemas.microsoft.com/office/drawing/2014/main" id="{64535FD8-10E6-4513-B558-88C7BD48CF88}"/>
              </a:ext>
            </a:extLst>
          </p:cNvPr>
          <p:cNvSpPr>
            <a:spLocks xmlns:a="http://schemas.openxmlformats.org/drawingml/2006/main" noGrp="1"/>
          </p:cNvSpPr>
          <p:nvPr/>
        </p:nvSpPr>
        <p:spPr>
          <a:xfrm xmlns:a="http://schemas.openxmlformats.org/drawingml/2006/main">
            <a:off x="571500" y="5800725"/>
            <a:ext cx="14097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 (4p) Bereken CS, PS en het maatschappelijk surplus</a:t>
            </a:r>
          </a:p>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vóór en na.</a:t>
            </a:r>
          </a:p>
        </p:txBody>
      </p:sp>
    </p:spTree>
    <p:extLst>
      <p:ext uri="{BB962C8B-B14F-4D97-AF65-F5344CB8AC3E}">
        <p14:creationId xmlns:p14="http://schemas.microsoft.com/office/powerpoint/2010/main" val="19819683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43 · Deelvragen d en e">
            <a:extLst xmlns:a="http://schemas.openxmlformats.org/drawingml/2006/main">
              <a:ext uri="{FF2B5EF4-FFF2-40B4-BE49-F238E27FC236}">
                <a16:creationId xmlns:a16="http://schemas.microsoft.com/office/drawing/2014/main" id="{17986286-7621-4C15-A875-96AA707DF0C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43 · Deelvragen d en e</a:t>
            </a:r>
          </a:p>
        </p:txBody>
      </p:sp>
      <p:sp>
        <p:nvSpPr>
          <p:cNvPr id="2" name="">
            <a:extLst xmlns:a="http://schemas.openxmlformats.org/drawingml/2006/main">
              <a:ext uri="{FF2B5EF4-FFF2-40B4-BE49-F238E27FC236}">
                <a16:creationId xmlns:a16="http://schemas.microsoft.com/office/drawing/2014/main" id="{235E3D16-ACE6-4A93-ABBB-AA8E1D260BA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AB261550-1BC9-4B85-B2AC-88B996D52C2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0">
            <a:extLst xmlns:a="http://schemas.openxmlformats.org/drawingml/2006/main">
              <a:ext uri="{FF2B5EF4-FFF2-40B4-BE49-F238E27FC236}">
                <a16:creationId xmlns:a16="http://schemas.microsoft.com/office/drawing/2014/main" id="{C3E76875-4529-4164-A15C-38A3C21538B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d. (2p) Bepaal de efficiënte hoeveelheid en arceer&#10;het ">
            <a:extLst xmlns:a="http://schemas.openxmlformats.org/drawingml/2006/main">
              <a:ext uri="{FF2B5EF4-FFF2-40B4-BE49-F238E27FC236}">
                <a16:creationId xmlns:a16="http://schemas.microsoft.com/office/drawing/2014/main" id="{196FD3B6-7108-43B0-882D-C7858799A437}"/>
              </a:ext>
            </a:extLst>
          </p:cNvPr>
          <p:cNvSpPr>
            <a:spLocks xmlns:a="http://schemas.openxmlformats.org/drawingml/2006/main" noGrp="1"/>
          </p:cNvSpPr>
          <p:nvPr/>
        </p:nvSpPr>
        <p:spPr>
          <a:xfrm xmlns:a="http://schemas.openxmlformats.org/drawingml/2006/main">
            <a:off x="571500" y="2571750"/>
            <a:ext cx="140970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d. (2p) Bepaal de efficiënte hoeveelheid en arceer</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het oorspronkelijke welvaartsverlies.</a:t>
            </a:r>
          </a:p>
        </p:txBody>
      </p:sp>
      <p:sp>
        <p:nvSpPr>
          <p:cNvPr id="6" name="e. (2p) Leg uit waarom dit anders uitpakt dan&#10;dezelfde ">
            <a:extLst xmlns:a="http://schemas.openxmlformats.org/drawingml/2006/main">
              <a:ext uri="{FF2B5EF4-FFF2-40B4-BE49-F238E27FC236}">
                <a16:creationId xmlns:a16="http://schemas.microsoft.com/office/drawing/2014/main" id="{67CB8758-A892-481A-B858-5CD72E86B45D}"/>
              </a:ext>
            </a:extLst>
          </p:cNvPr>
          <p:cNvSpPr>
            <a:spLocks xmlns:a="http://schemas.openxmlformats.org/drawingml/2006/main" noGrp="1"/>
          </p:cNvSpPr>
          <p:nvPr/>
        </p:nvSpPr>
        <p:spPr>
          <a:xfrm xmlns:a="http://schemas.openxmlformats.org/drawingml/2006/main">
            <a:off x="571500" y="4867275"/>
            <a:ext cx="140970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e. (2p) Leg uit waarom dit anders uitpakt dan</a:t>
            </a:r>
          </a:p>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dezelfde subsidie zonder externe baten.</a:t>
            </a:r>
          </a:p>
        </p:txBody>
      </p:sp>
    </p:spTree>
    <p:extLst>
      <p:ext uri="{BB962C8B-B14F-4D97-AF65-F5344CB8AC3E}">
        <p14:creationId xmlns:p14="http://schemas.microsoft.com/office/powerpoint/2010/main" val="1593757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43a · Voordelen en oorspronkelijke uitkomst">
            <a:extLst xmlns:a="http://schemas.openxmlformats.org/drawingml/2006/main">
              <a:ext uri="{FF2B5EF4-FFF2-40B4-BE49-F238E27FC236}">
                <a16:creationId xmlns:a16="http://schemas.microsoft.com/office/drawing/2014/main" id="{C4BF39C9-0153-4C41-B477-C47CBCB66F7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43a · Voordelen en oorspronkelijke uitkomst</a:t>
            </a:r>
          </a:p>
        </p:txBody>
      </p:sp>
      <p:sp>
        <p:nvSpPr>
          <p:cNvPr id="2" name="">
            <a:extLst xmlns:a="http://schemas.openxmlformats.org/drawingml/2006/main">
              <a:ext uri="{FF2B5EF4-FFF2-40B4-BE49-F238E27FC236}">
                <a16:creationId xmlns:a16="http://schemas.microsoft.com/office/drawing/2014/main" id="{FDB5C70F-D04E-4C9A-B1C7-6B4B28B198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3B2C7E02-A452-4182-9A97-657D81634D8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1">
            <a:extLst xmlns:a="http://schemas.openxmlformats.org/drawingml/2006/main">
              <a:ext uri="{FF2B5EF4-FFF2-40B4-BE49-F238E27FC236}">
                <a16:creationId xmlns:a16="http://schemas.microsoft.com/office/drawing/2014/main" id="{259D4E5B-1DE7-4650-A590-5A619B0810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Privaat: eigen voordeel van deelnemers.&#10;Extern: bijkome">
            <a:extLst xmlns:a="http://schemas.openxmlformats.org/drawingml/2006/main">
              <a:ext uri="{FF2B5EF4-FFF2-40B4-BE49-F238E27FC236}">
                <a16:creationId xmlns:a16="http://schemas.microsoft.com/office/drawing/2014/main" id="{1AB0225E-3A09-4FF7-B671-0F01F7C25866}"/>
              </a:ext>
            </a:extLst>
          </p:cNvPr>
          <p:cNvSpPr>
            <a:spLocks xmlns:a="http://schemas.openxmlformats.org/drawingml/2006/main" noGrp="1"/>
          </p:cNvSpPr>
          <p:nvPr/>
        </p:nvSpPr>
        <p:spPr>
          <a:xfrm xmlns:a="http://schemas.openxmlformats.org/drawingml/2006/main">
            <a:off x="571500" y="1885950"/>
            <a:ext cx="14097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Privaat: eigen voordeel van deelnemers.</a:t>
            </a:r>
          </a:p>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Extern: bijkomend onbetaald voordeel voor andere buurtbewoners.</a:t>
            </a:r>
          </a:p>
        </p:txBody>
      </p:sp>
      <p:sp>
        <p:nvSpPr>
          <p:cNvPr id="6" name="60 − 0,5Q = 20 + 0,5Q">
            <a:extLst xmlns:a="http://schemas.openxmlformats.org/drawingml/2006/main">
              <a:ext uri="{FF2B5EF4-FFF2-40B4-BE49-F238E27FC236}">
                <a16:creationId xmlns:a16="http://schemas.microsoft.com/office/drawing/2014/main" id="{58115291-2B7E-4A22-9798-E5BA72EC4D22}"/>
              </a:ext>
            </a:extLst>
          </p:cNvPr>
          <p:cNvSpPr>
            <a:spLocks xmlns:a="http://schemas.openxmlformats.org/drawingml/2006/main" noGrp="1"/>
          </p:cNvSpPr>
          <p:nvPr/>
        </p:nvSpPr>
        <p:spPr>
          <a:xfrm xmlns:a="http://schemas.openxmlformats.org/drawingml/2006/main">
            <a:off x="571500" y="3771900"/>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60 − 0,5Q = 20 + 0,5Q</a:t>
            </a:r>
          </a:p>
        </p:txBody>
      </p:sp>
      <p:sp>
        <p:nvSpPr>
          <p:cNvPr id="7" name="Q₀ = 40 deelnemers per maand">
            <a:extLst xmlns:a="http://schemas.openxmlformats.org/drawingml/2006/main">
              <a:ext uri="{FF2B5EF4-FFF2-40B4-BE49-F238E27FC236}">
                <a16:creationId xmlns:a16="http://schemas.microsoft.com/office/drawing/2014/main" id="{89265F3D-4AC8-4716-817E-C2463D9390E4}"/>
              </a:ext>
            </a:extLst>
          </p:cNvPr>
          <p:cNvSpPr>
            <a:spLocks xmlns:a="http://schemas.openxmlformats.org/drawingml/2006/main" noGrp="1"/>
          </p:cNvSpPr>
          <p:nvPr/>
        </p:nvSpPr>
        <p:spPr>
          <a:xfrm xmlns:a="http://schemas.openxmlformats.org/drawingml/2006/main">
            <a:off x="571500" y="5133975"/>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Q₀ = 40 deelnemers per maand</a:t>
            </a:r>
          </a:p>
        </p:txBody>
      </p:sp>
      <p:sp>
        <p:nvSpPr>
          <p:cNvPr id="8" name="P₀ = 60 − 0,5 × 40 = € 40 per deelnemer">
            <a:extLst xmlns:a="http://schemas.openxmlformats.org/drawingml/2006/main">
              <a:ext uri="{FF2B5EF4-FFF2-40B4-BE49-F238E27FC236}">
                <a16:creationId xmlns:a16="http://schemas.microsoft.com/office/drawing/2014/main" id="{DFE5DCAA-CC60-45D9-9D24-5615087410E8}"/>
              </a:ext>
            </a:extLst>
          </p:cNvPr>
          <p:cNvSpPr>
            <a:spLocks xmlns:a="http://schemas.openxmlformats.org/drawingml/2006/main" noGrp="1"/>
          </p:cNvSpPr>
          <p:nvPr/>
        </p:nvSpPr>
        <p:spPr>
          <a:xfrm xmlns:a="http://schemas.openxmlformats.org/drawingml/2006/main">
            <a:off x="571500" y="6496050"/>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P₀ = 60 − 0,5 × 40 = € 40 per deelnemer</a:t>
            </a:r>
          </a:p>
        </p:txBody>
      </p:sp>
    </p:spTree>
    <p:extLst>
      <p:ext uri="{BB962C8B-B14F-4D97-AF65-F5344CB8AC3E}">
        <p14:creationId xmlns:p14="http://schemas.microsoft.com/office/powerpoint/2010/main" val="10028156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43b · Hoeveelheid en beide prijzen">
            <a:extLst xmlns:a="http://schemas.openxmlformats.org/drawingml/2006/main">
              <a:ext uri="{FF2B5EF4-FFF2-40B4-BE49-F238E27FC236}">
                <a16:creationId xmlns:a16="http://schemas.microsoft.com/office/drawing/2014/main" id="{C092245B-ACCC-4CA5-B518-A1752F69015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43b · Hoeveelheid en beide prijzen</a:t>
            </a:r>
          </a:p>
        </p:txBody>
      </p:sp>
      <p:sp>
        <p:nvSpPr>
          <p:cNvPr id="2" name="">
            <a:extLst xmlns:a="http://schemas.openxmlformats.org/drawingml/2006/main">
              <a:ext uri="{FF2B5EF4-FFF2-40B4-BE49-F238E27FC236}">
                <a16:creationId xmlns:a16="http://schemas.microsoft.com/office/drawing/2014/main" id="{631C67B9-6EC4-4FA0-A730-EC53BA6DE7A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E6211662-3D7C-4A0F-8FDA-0E8B43A0337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2">
            <a:extLst xmlns:a="http://schemas.openxmlformats.org/drawingml/2006/main">
              <a:ext uri="{FF2B5EF4-FFF2-40B4-BE49-F238E27FC236}">
                <a16:creationId xmlns:a16="http://schemas.microsoft.com/office/drawing/2014/main" id="{11B73034-EC31-4BD9-81D8-D583F58D83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Pp = Pc + 10">
            <a:extLst xmlns:a="http://schemas.openxmlformats.org/drawingml/2006/main">
              <a:ext uri="{FF2B5EF4-FFF2-40B4-BE49-F238E27FC236}">
                <a16:creationId xmlns:a16="http://schemas.microsoft.com/office/drawing/2014/main" id="{62A98939-6773-4589-9006-E3B9F69E5DC5}"/>
              </a:ext>
            </a:extLst>
          </p:cNvPr>
          <p:cNvSpPr>
            <a:spLocks xmlns:a="http://schemas.openxmlformats.org/drawingml/2006/main" noGrp="1"/>
          </p:cNvSpPr>
          <p:nvPr/>
        </p:nvSpPr>
        <p:spPr>
          <a:xfrm xmlns:a="http://schemas.openxmlformats.org/drawingml/2006/main">
            <a:off x="571500" y="192405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Pp = Pc + 10</a:t>
            </a:r>
          </a:p>
        </p:txBody>
      </p:sp>
      <p:sp>
        <p:nvSpPr>
          <p:cNvPr id="6" name="20 + 0,5Q = 60 − 0,5Q + 10">
            <a:extLst xmlns:a="http://schemas.openxmlformats.org/drawingml/2006/main">
              <a:ext uri="{FF2B5EF4-FFF2-40B4-BE49-F238E27FC236}">
                <a16:creationId xmlns:a16="http://schemas.microsoft.com/office/drawing/2014/main" id="{64188A20-7239-4666-B98C-729DBB9BD9DC}"/>
              </a:ext>
            </a:extLst>
          </p:cNvPr>
          <p:cNvSpPr>
            <a:spLocks xmlns:a="http://schemas.openxmlformats.org/drawingml/2006/main" noGrp="1"/>
          </p:cNvSpPr>
          <p:nvPr/>
        </p:nvSpPr>
        <p:spPr>
          <a:xfrm xmlns:a="http://schemas.openxmlformats.org/drawingml/2006/main">
            <a:off x="571500" y="320040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20 + 0,5Q = 60 − 0,5Q + 10</a:t>
            </a:r>
          </a:p>
        </p:txBody>
      </p:sp>
      <p:sp>
        <p:nvSpPr>
          <p:cNvPr id="7" name="Q₁ = 50 deelnemers per maand">
            <a:extLst xmlns:a="http://schemas.openxmlformats.org/drawingml/2006/main">
              <a:ext uri="{FF2B5EF4-FFF2-40B4-BE49-F238E27FC236}">
                <a16:creationId xmlns:a16="http://schemas.microsoft.com/office/drawing/2014/main" id="{E9C95F7E-6029-4B1D-947F-AE26DEF54545}"/>
              </a:ext>
            </a:extLst>
          </p:cNvPr>
          <p:cNvSpPr>
            <a:spLocks xmlns:a="http://schemas.openxmlformats.org/drawingml/2006/main" noGrp="1"/>
          </p:cNvSpPr>
          <p:nvPr/>
        </p:nvSpPr>
        <p:spPr>
          <a:xfrm xmlns:a="http://schemas.openxmlformats.org/drawingml/2006/main">
            <a:off x="571500" y="4476750"/>
            <a:ext cx="1409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Q₁ = 50 deelnemers per maand</a:t>
            </a:r>
          </a:p>
        </p:txBody>
      </p:sp>
      <p:sp>
        <p:nvSpPr>
          <p:cNvPr id="8" name="Pc = 60 − 0,5 × 50 = € 35 per deelnemer">
            <a:extLst xmlns:a="http://schemas.openxmlformats.org/drawingml/2006/main">
              <a:ext uri="{FF2B5EF4-FFF2-40B4-BE49-F238E27FC236}">
                <a16:creationId xmlns:a16="http://schemas.microsoft.com/office/drawing/2014/main" id="{A114B596-473E-4802-AF03-F1699ABDCE74}"/>
              </a:ext>
            </a:extLst>
          </p:cNvPr>
          <p:cNvSpPr>
            <a:spLocks xmlns:a="http://schemas.openxmlformats.org/drawingml/2006/main" noGrp="1"/>
          </p:cNvSpPr>
          <p:nvPr/>
        </p:nvSpPr>
        <p:spPr>
          <a:xfrm xmlns:a="http://schemas.openxmlformats.org/drawingml/2006/main">
            <a:off x="571500" y="59626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Pc = 60 − 0,5 × 50 = € 35 per deelnemer</a:t>
            </a:r>
          </a:p>
        </p:txBody>
      </p:sp>
      <p:sp>
        <p:nvSpPr>
          <p:cNvPr id="9" name="Pp = 20 + 0,5 × 50 = € 45 per deelnemer">
            <a:extLst xmlns:a="http://schemas.openxmlformats.org/drawingml/2006/main">
              <a:ext uri="{FF2B5EF4-FFF2-40B4-BE49-F238E27FC236}">
                <a16:creationId xmlns:a16="http://schemas.microsoft.com/office/drawing/2014/main" id="{0EB1D094-5EEF-4E32-8641-288C155283E1}"/>
              </a:ext>
            </a:extLst>
          </p:cNvPr>
          <p:cNvSpPr>
            <a:spLocks xmlns:a="http://schemas.openxmlformats.org/drawingml/2006/main" noGrp="1"/>
          </p:cNvSpPr>
          <p:nvPr/>
        </p:nvSpPr>
        <p:spPr>
          <a:xfrm xmlns:a="http://schemas.openxmlformats.org/drawingml/2006/main">
            <a:off x="571500" y="677227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Pp = 20 + 0,5 × 50 = € 45 per deelnemer</a:t>
            </a:r>
          </a:p>
        </p:txBody>
      </p:sp>
    </p:spTree>
    <p:extLst>
      <p:ext uri="{BB962C8B-B14F-4D97-AF65-F5344CB8AC3E}">
        <p14:creationId xmlns:p14="http://schemas.microsoft.com/office/powerpoint/2010/main" val="9076623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43b · Uitgaven voor alle plaatsen">
            <a:extLst xmlns:a="http://schemas.openxmlformats.org/drawingml/2006/main">
              <a:ext uri="{FF2B5EF4-FFF2-40B4-BE49-F238E27FC236}">
                <a16:creationId xmlns:a16="http://schemas.microsoft.com/office/drawing/2014/main" id="{E44077B8-0763-4FE2-86EF-60153A3132C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43b · Uitgaven voor alle plaatsen</a:t>
            </a:r>
          </a:p>
        </p:txBody>
      </p:sp>
      <p:sp>
        <p:nvSpPr>
          <p:cNvPr id="2" name="">
            <a:extLst xmlns:a="http://schemas.openxmlformats.org/drawingml/2006/main">
              <a:ext uri="{FF2B5EF4-FFF2-40B4-BE49-F238E27FC236}">
                <a16:creationId xmlns:a16="http://schemas.microsoft.com/office/drawing/2014/main" id="{C029376E-A368-409A-AA5B-F71CF24654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60F269D6-808B-4714-9095-256FD29F9EE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3">
            <a:extLst xmlns:a="http://schemas.openxmlformats.org/drawingml/2006/main">
              <a:ext uri="{FF2B5EF4-FFF2-40B4-BE49-F238E27FC236}">
                <a16:creationId xmlns:a16="http://schemas.microsoft.com/office/drawing/2014/main" id="{560FE610-91E5-4441-B307-E5EBFED10A0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Overheidsuitgaven = s × Q₁">
            <a:extLst xmlns:a="http://schemas.openxmlformats.org/drawingml/2006/main">
              <a:ext uri="{FF2B5EF4-FFF2-40B4-BE49-F238E27FC236}">
                <a16:creationId xmlns:a16="http://schemas.microsoft.com/office/drawing/2014/main" id="{64297293-0757-4F52-97AB-C1B4988D4DAC}"/>
              </a:ext>
            </a:extLst>
          </p:cNvPr>
          <p:cNvSpPr>
            <a:spLocks xmlns:a="http://schemas.openxmlformats.org/drawingml/2006/main" noGrp="1"/>
          </p:cNvSpPr>
          <p:nvPr/>
        </p:nvSpPr>
        <p:spPr>
          <a:xfrm xmlns:a="http://schemas.openxmlformats.org/drawingml/2006/main">
            <a:off x="571500" y="218122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Overheidsuitgaven = s × Q₁</a:t>
            </a:r>
          </a:p>
        </p:txBody>
      </p:sp>
      <p:sp>
        <p:nvSpPr>
          <p:cNvPr id="6" name="€ 10 per plaats × 50 plaatsen per maand">
            <a:extLst xmlns:a="http://schemas.openxmlformats.org/drawingml/2006/main">
              <a:ext uri="{FF2B5EF4-FFF2-40B4-BE49-F238E27FC236}">
                <a16:creationId xmlns:a16="http://schemas.microsoft.com/office/drawing/2014/main" id="{9C6F5FE9-994A-4946-A833-63843D293BE3}"/>
              </a:ext>
            </a:extLst>
          </p:cNvPr>
          <p:cNvSpPr>
            <a:spLocks xmlns:a="http://schemas.openxmlformats.org/drawingml/2006/main" noGrp="1"/>
          </p:cNvSpPr>
          <p:nvPr/>
        </p:nvSpPr>
        <p:spPr>
          <a:xfrm xmlns:a="http://schemas.openxmlformats.org/drawingml/2006/main">
            <a:off x="571500" y="3619500"/>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€ 10 per plaats × 50 plaatsen per maand</a:t>
            </a:r>
          </a:p>
        </p:txBody>
      </p:sp>
      <p:sp>
        <p:nvSpPr>
          <p:cNvPr id="7" name="= € 500 per maand">
            <a:extLst xmlns:a="http://schemas.openxmlformats.org/drawingml/2006/main">
              <a:ext uri="{FF2B5EF4-FFF2-40B4-BE49-F238E27FC236}">
                <a16:creationId xmlns:a16="http://schemas.microsoft.com/office/drawing/2014/main" id="{BFB16292-F20E-4436-AF02-B5861090302F}"/>
              </a:ext>
            </a:extLst>
          </p:cNvPr>
          <p:cNvSpPr>
            <a:spLocks xmlns:a="http://schemas.openxmlformats.org/drawingml/2006/main" noGrp="1"/>
          </p:cNvSpPr>
          <p:nvPr/>
        </p:nvSpPr>
        <p:spPr>
          <a:xfrm xmlns:a="http://schemas.openxmlformats.org/drawingml/2006/main">
            <a:off x="571500" y="505777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 € 500 per maand</a:t>
            </a:r>
          </a:p>
        </p:txBody>
      </p:sp>
      <p:sp>
        <p:nvSpPr>
          <p:cNvPr id="8" name="Ook de 40 plaatsen die zonder subsidie zouden worden ge">
            <a:extLst xmlns:a="http://schemas.openxmlformats.org/drawingml/2006/main">
              <a:ext uri="{FF2B5EF4-FFF2-40B4-BE49-F238E27FC236}">
                <a16:creationId xmlns:a16="http://schemas.microsoft.com/office/drawing/2014/main" id="{9F168D36-3A9C-45AE-873C-12616A35D0E3}"/>
              </a:ext>
            </a:extLst>
          </p:cNvPr>
          <p:cNvSpPr>
            <a:spLocks xmlns:a="http://schemas.openxmlformats.org/drawingml/2006/main" noGrp="1"/>
          </p:cNvSpPr>
          <p:nvPr/>
        </p:nvSpPr>
        <p:spPr>
          <a:xfrm xmlns:a="http://schemas.openxmlformats.org/drawingml/2006/main">
            <a:off x="571500" y="700087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Ook de 40 plaatsen die zonder subsidie zouden worden gebruikt</a:t>
            </a:r>
          </a:p>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krijgen de subsidie.</a:t>
            </a:r>
          </a:p>
        </p:txBody>
      </p:sp>
    </p:spTree>
    <p:extLst>
      <p:ext uri="{BB962C8B-B14F-4D97-AF65-F5344CB8AC3E}">
        <p14:creationId xmlns:p14="http://schemas.microsoft.com/office/powerpoint/2010/main" val="20565529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43c · CS en PS vóór en na">
            <a:extLst xmlns:a="http://schemas.openxmlformats.org/drawingml/2006/main">
              <a:ext uri="{FF2B5EF4-FFF2-40B4-BE49-F238E27FC236}">
                <a16:creationId xmlns:a16="http://schemas.microsoft.com/office/drawing/2014/main" id="{1A121A21-1DDD-4595-A180-4403CC3AE89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43c · CS en PS vóór en na</a:t>
            </a:r>
          </a:p>
        </p:txBody>
      </p:sp>
      <p:sp>
        <p:nvSpPr>
          <p:cNvPr id="2" name="">
            <a:extLst xmlns:a="http://schemas.openxmlformats.org/drawingml/2006/main">
              <a:ext uri="{FF2B5EF4-FFF2-40B4-BE49-F238E27FC236}">
                <a16:creationId xmlns:a16="http://schemas.microsoft.com/office/drawing/2014/main" id="{EEF39382-B371-4FCD-B300-A17E3DE720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78BA6E09-1650-4C99-834A-9BF964B47AE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4">
            <a:extLst xmlns:a="http://schemas.openxmlformats.org/drawingml/2006/main">
              <a:ext uri="{FF2B5EF4-FFF2-40B4-BE49-F238E27FC236}">
                <a16:creationId xmlns:a16="http://schemas.microsoft.com/office/drawing/2014/main" id="{65D92666-A573-489F-9889-6054D0E8D2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1" name=""/>
          <p:cNvGraphicFramePr/>
          <p:nvPr/>
        </p:nvGraphicFramePr>
        <p:xfrm>
          <a:off xmlns:a="http://schemas.openxmlformats.org/drawingml/2006/main" x="571500" y="2343150"/>
          <a:ext xmlns:a="http://schemas.openxmlformats.org/drawingml/2006/main" cx="14097000" cy="3781425"/>
        </p:xfrm>
        <a:graphic xmlns:a="http://schemas.openxmlformats.org/drawingml/2006/main">
          <a:graphicData uri="http://schemas.openxmlformats.org/drawingml/2006/table">
            <a:tbl>
              <a:tblPr/>
              <a:tblGrid>
                <a:gridCol w="2381250"/>
                <a:gridCol w="5857875"/>
                <a:gridCol w="5857875"/>
              </a:tblGrid>
              <a:tr h="1260475">
                <a:tc>
                  <a:txBody>
                    <a:bodyPr lIns="171450" tIns="95250" rIns="152400" bIns="95250"/>
                    <a:lstStyle/>
                    <a:p>
                      <a:r>
                        <a:rPr sz="2625" b="1">
                          <a:solidFill>
                            <a:srgbClr val="FFFFFF"/>
                          </a:solidFill>
                          <a:latin typeface="Arial"/>
                          <a:ea typeface="Arial"/>
                          <a:cs typeface="Arial"/>
                        </a:rPr>
                        <a:t>€ per maand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Zonder subsidie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Met subsidie</a:t>
                      </a:r>
                    </a:p>
                  </a:txBody>
                  <a:tcPr marL="91440" marR="91440" marT="45720" marB="45720" anchor="ctr">
                    <a:solidFill>
                      <a:srgbClr val="183247"/>
                    </a:solidFill>
                  </a:tcPr>
                </a:tc>
              </a:tr>
              <a:tr h="1260475">
                <a:tc>
                  <a:txBody>
                    <a:bodyPr lIns="171450" tIns="95250" rIns="152400" bIns="95250"/>
                    <a:lstStyle/>
                    <a:p>
                      <a:r>
                        <a:rPr sz="262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½ × 40 × (60 − 40)</a:t>
                      </a:r>
                    </a:p>
                    <a:p>
                      <a:r>
                        <a:rPr sz="2625" b="0">
                          <a:solidFill>
                            <a:srgbClr val="183247"/>
                          </a:solidFill>
                          <a:latin typeface="Arial"/>
                          <a:ea typeface="Arial"/>
                          <a:cs typeface="Arial"/>
                        </a:rPr>
                        <a:t>= 400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½ × 50 × (60 − 35)</a:t>
                      </a:r>
                    </a:p>
                    <a:p>
                      <a:r>
                        <a:rPr sz="2625" b="0">
                          <a:solidFill>
                            <a:srgbClr val="183247"/>
                          </a:solidFill>
                          <a:latin typeface="Arial"/>
                          <a:ea typeface="Arial"/>
                          <a:cs typeface="Arial"/>
                        </a:rPr>
                        <a:t>= 625</a:t>
                      </a:r>
                    </a:p>
                  </a:txBody>
                  <a:tcPr marL="91440" marR="91440" marT="45720" marB="45720" anchor="ctr">
                    <a:solidFill>
                      <a:srgbClr val="FFFFFF"/>
                    </a:solidFill>
                  </a:tcPr>
                </a:tc>
              </a:tr>
              <a:tr h="1260475">
                <a:tc>
                  <a:txBody>
                    <a:bodyPr lIns="171450" tIns="95250" rIns="152400" bIns="95250"/>
                    <a:lstStyle/>
                    <a:p>
                      <a:r>
                        <a:rPr sz="262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½ × 40 × (40 − 20)</a:t>
                      </a:r>
                    </a:p>
                    <a:p>
                      <a:r>
                        <a:rPr sz="2625" b="0">
                          <a:solidFill>
                            <a:srgbClr val="183247"/>
                          </a:solidFill>
                          <a:latin typeface="Arial"/>
                          <a:ea typeface="Arial"/>
                          <a:cs typeface="Arial"/>
                        </a:rPr>
                        <a:t>= 400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½ × 50 × (45 − 20)</a:t>
                      </a:r>
                    </a:p>
                    <a:p>
                      <a:r>
                        <a:rPr sz="2625" b="0">
                          <a:solidFill>
                            <a:srgbClr val="183247"/>
                          </a:solidFill>
                          <a:latin typeface="Arial"/>
                          <a:ea typeface="Arial"/>
                          <a:cs typeface="Arial"/>
                        </a:rPr>
                        <a:t>= 625</a:t>
                      </a:r>
                    </a:p>
                  </a:txBody>
                  <a:tcPr marL="91440" marR="91440" marT="45720" marB="45720" anchor="ctr">
                    <a:solidFill>
                      <a:srgbClr val="EFF4F7"/>
                    </a:solidFill>
                  </a:tcPr>
                </a:tc>
              </a:tr>
            </a:tbl>
          </a:graphicData>
        </a:graphic>
      </p:graphicFrame>
      <p:sp>
        <p:nvSpPr>
          <p:cNvPr id="6" name="CS gebruikt Pc. PS gebruikt Pp. Beide gebruiken de werk">
            <a:extLst xmlns:a="http://schemas.openxmlformats.org/drawingml/2006/main">
              <a:ext uri="{FF2B5EF4-FFF2-40B4-BE49-F238E27FC236}">
                <a16:creationId xmlns:a16="http://schemas.microsoft.com/office/drawing/2014/main" id="{01E12570-8F5C-4330-AFAB-4A2081A27AA9}"/>
              </a:ext>
            </a:extLst>
          </p:cNvPr>
          <p:cNvSpPr>
            <a:spLocks xmlns:a="http://schemas.openxmlformats.org/drawingml/2006/main" noGrp="1"/>
          </p:cNvSpPr>
          <p:nvPr/>
        </p:nvSpPr>
        <p:spPr>
          <a:xfrm xmlns:a="http://schemas.openxmlformats.org/drawingml/2006/main">
            <a:off x="571500" y="67913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CS gebruikt Pc. PS gebruikt Pp. Beide gebruiken de werkelijke Q.</a:t>
            </a:r>
          </a:p>
        </p:txBody>
      </p:sp>
    </p:spTree>
    <p:extLst>
      <p:ext uri="{BB962C8B-B14F-4D97-AF65-F5344CB8AC3E}">
        <p14:creationId xmlns:p14="http://schemas.microsoft.com/office/powerpoint/2010/main" val="200155944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3c · Maatschappelijk surplus">
            <a:extLst xmlns:a="http://schemas.openxmlformats.org/drawingml/2006/main">
              <a:ext uri="{FF2B5EF4-FFF2-40B4-BE49-F238E27FC236}">
                <a16:creationId xmlns:a16="http://schemas.microsoft.com/office/drawing/2014/main" id="{2B2612DB-B4EC-4934-9267-CF02556EAC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43c · Maatschappelijk surplus</a:t>
            </a:r>
          </a:p>
        </p:txBody>
      </p:sp>
      <p:sp>
        <p:nvSpPr>
          <p:cNvPr id="2" name="">
            <a:extLst xmlns:a="http://schemas.openxmlformats.org/drawingml/2006/main">
              <a:ext uri="{FF2B5EF4-FFF2-40B4-BE49-F238E27FC236}">
                <a16:creationId xmlns:a16="http://schemas.microsoft.com/office/drawing/2014/main" id="{838353DD-56A3-40F8-AEA8-EA5D6B9179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064B3E78-1F58-4FD1-A6B3-95D3A73E529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5">
            <a:extLst xmlns:a="http://schemas.openxmlformats.org/drawingml/2006/main">
              <a:ext uri="{FF2B5EF4-FFF2-40B4-BE49-F238E27FC236}">
                <a16:creationId xmlns:a16="http://schemas.microsoft.com/office/drawing/2014/main" id="{0329A78E-729D-45FD-8EBD-64DB7D6CB9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CS + PS − subsidie-uitgaven + externe baten">
            <a:extLst xmlns:a="http://schemas.openxmlformats.org/drawingml/2006/main">
              <a:ext uri="{FF2B5EF4-FFF2-40B4-BE49-F238E27FC236}">
                <a16:creationId xmlns:a16="http://schemas.microsoft.com/office/drawing/2014/main" id="{F747357C-66DF-492E-B13D-8D80A40D6DED}"/>
              </a:ext>
            </a:extLst>
          </p:cNvPr>
          <p:cNvSpPr>
            <a:spLocks xmlns:a="http://schemas.openxmlformats.org/drawingml/2006/main" noGrp="1"/>
          </p:cNvSpPr>
          <p:nvPr/>
        </p:nvSpPr>
        <p:spPr>
          <a:xfrm xmlns:a="http://schemas.openxmlformats.org/drawingml/2006/main">
            <a:off x="571500" y="17621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CS + PS − subsidie-uitgaven + externe baten</a:t>
            </a:r>
          </a:p>
        </p:txBody>
      </p:sp>
      <p:graphicFrame>
        <p:nvGraphicFramePr>
          <p:cNvPr id="13" name=""/>
          <p:cNvGraphicFramePr/>
          <p:nvPr/>
        </p:nvGraphicFramePr>
        <p:xfrm>
          <a:off xmlns:a="http://schemas.openxmlformats.org/drawingml/2006/main" x="571500" y="2667000"/>
          <a:ext xmlns:a="http://schemas.openxmlformats.org/drawingml/2006/main" cx="14097000" cy="3905250"/>
        </p:xfrm>
        <a:graphic xmlns:a="http://schemas.openxmlformats.org/drawingml/2006/main">
          <a:graphicData uri="http://schemas.openxmlformats.org/drawingml/2006/table">
            <a:tbl>
              <a:tblPr/>
              <a:tblGrid>
                <a:gridCol w="6096000"/>
                <a:gridCol w="4000500"/>
                <a:gridCol w="4000500"/>
              </a:tblGrid>
              <a:tr h="650875">
                <a:tc>
                  <a:txBody>
                    <a:bodyPr lIns="171450" tIns="95250" rIns="152400" bIns="95250"/>
                    <a:lstStyle/>
                    <a:p>
                      <a:r>
                        <a:rPr sz="2475" b="1">
                          <a:solidFill>
                            <a:srgbClr val="FFFFFF"/>
                          </a:solidFill>
                          <a:latin typeface="Arial"/>
                          <a:ea typeface="Arial"/>
                          <a:cs typeface="Arial"/>
                        </a:rPr>
                        <a:t>Post (€ per maand)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Vóór</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Na</a:t>
                      </a:r>
                    </a:p>
                  </a:txBody>
                  <a:tcPr marL="91440" marR="91440" marT="45720" marB="45720" anchor="ctr">
                    <a:solidFill>
                      <a:srgbClr val="183247"/>
                    </a:solidFill>
                  </a:tcPr>
                </a:tc>
              </a:tr>
              <a:tr h="650875">
                <a:tc>
                  <a:txBody>
                    <a:bodyPr lIns="171450" tIns="95250" rIns="152400" bIns="95250"/>
                    <a:lstStyle/>
                    <a:p>
                      <a:r>
                        <a:rPr sz="24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625</a:t>
                      </a:r>
                    </a:p>
                  </a:txBody>
                  <a:tcPr marL="91440" marR="91440" marT="45720" marB="45720" anchor="ctr">
                    <a:solidFill>
                      <a:srgbClr val="FFFFFF"/>
                    </a:solidFill>
                  </a:tcPr>
                </a:tc>
              </a:tr>
              <a:tr h="650875">
                <a:tc>
                  <a:txBody>
                    <a:bodyPr lIns="171450" tIns="95250" rIns="152400" bIns="95250"/>
                    <a:lstStyle/>
                    <a:p>
                      <a:r>
                        <a:rPr sz="247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625</a:t>
                      </a:r>
                    </a:p>
                  </a:txBody>
                  <a:tcPr marL="91440" marR="91440" marT="45720" marB="45720" anchor="ctr">
                    <a:solidFill>
                      <a:srgbClr val="EFF4F7"/>
                    </a:solidFill>
                  </a:tcPr>
                </a:tc>
              </a:tr>
              <a:tr h="650875">
                <a:tc>
                  <a:txBody>
                    <a:bodyPr lIns="171450" tIns="95250" rIns="152400" bIns="95250"/>
                    <a:lstStyle/>
                    <a:p>
                      <a:r>
                        <a:rPr sz="2475" b="0">
                          <a:solidFill>
                            <a:srgbClr val="183247"/>
                          </a:solidFill>
                          <a:latin typeface="Arial"/>
                          <a:ea typeface="Arial"/>
                          <a:cs typeface="Arial"/>
                        </a:rPr>
                        <a:t>Subsidie-uitgaven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500</a:t>
                      </a:r>
                    </a:p>
                  </a:txBody>
                  <a:tcPr marL="91440" marR="91440" marT="45720" marB="45720" anchor="ctr">
                    <a:solidFill>
                      <a:srgbClr val="FFFFFF"/>
                    </a:solidFill>
                  </a:tcPr>
                </a:tc>
              </a:tr>
              <a:tr h="650875">
                <a:tc>
                  <a:txBody>
                    <a:bodyPr lIns="171450" tIns="95250" rIns="152400" bIns="95250"/>
                    <a:lstStyle/>
                    <a:p>
                      <a:r>
                        <a:rPr sz="2475" b="0">
                          <a:solidFill>
                            <a:srgbClr val="183247"/>
                          </a:solidFill>
                          <a:latin typeface="Arial"/>
                          <a:ea typeface="Arial"/>
                          <a:cs typeface="Arial"/>
                        </a:rPr>
                        <a:t>Externe baten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10 × 40 = 400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10 × 50 = 500</a:t>
                      </a:r>
                    </a:p>
                  </a:txBody>
                  <a:tcPr marL="91440" marR="91440" marT="45720" marB="45720" anchor="ctr">
                    <a:solidFill>
                      <a:srgbClr val="EFF4F7"/>
                    </a:solidFill>
                  </a:tcPr>
                </a:tc>
              </a:tr>
              <a:tr h="650875">
                <a:tc>
                  <a:txBody>
                    <a:bodyPr lIns="171450" tIns="95250" rIns="152400" bIns="95250"/>
                    <a:lstStyle/>
                    <a:p>
                      <a:r>
                        <a:rPr sz="2475" b="0">
                          <a:solidFill>
                            <a:srgbClr val="183247"/>
                          </a:solidFill>
                          <a:latin typeface="Arial"/>
                          <a:ea typeface="Arial"/>
                          <a:cs typeface="Arial"/>
                        </a:rPr>
                        <a:t>Maatschappelijk surplus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1.250</a:t>
                      </a:r>
                    </a:p>
                  </a:txBody>
                  <a:tcPr marL="91440" marR="91440" marT="45720" marB="45720" anchor="ctr">
                    <a:solidFill>
                      <a:srgbClr val="FFFFFF"/>
                    </a:solidFill>
                  </a:tcPr>
                </a:tc>
              </a:tr>
            </a:tbl>
          </a:graphicData>
        </a:graphic>
      </p:graphicFrame>
      <p:sp>
        <p:nvSpPr>
          <p:cNvPr id="7" name="Verbetering: € 1.250 − € 1.200 = € 50 per maand">
            <a:extLst xmlns:a="http://schemas.openxmlformats.org/drawingml/2006/main">
              <a:ext uri="{FF2B5EF4-FFF2-40B4-BE49-F238E27FC236}">
                <a16:creationId xmlns:a16="http://schemas.microsoft.com/office/drawing/2014/main" id="{EA94466B-142B-465C-B900-98B8D6457B91}"/>
              </a:ext>
            </a:extLst>
          </p:cNvPr>
          <p:cNvSpPr>
            <a:spLocks xmlns:a="http://schemas.openxmlformats.org/drawingml/2006/main" noGrp="1"/>
          </p:cNvSpPr>
          <p:nvPr/>
        </p:nvSpPr>
        <p:spPr>
          <a:xfrm xmlns:a="http://schemas.openxmlformats.org/drawingml/2006/main">
            <a:off x="571500" y="71628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Verbetering: € 1.250 − € 1.200 = € 50 per maand</a:t>
            </a:r>
          </a:p>
        </p:txBody>
      </p:sp>
    </p:spTree>
    <p:extLst>
      <p:ext uri="{BB962C8B-B14F-4D97-AF65-F5344CB8AC3E}">
        <p14:creationId xmlns:p14="http://schemas.microsoft.com/office/powerpoint/2010/main" val="438192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43d · Efficiënte hoeveelheid en verlies">
            <a:extLst xmlns:a="http://schemas.openxmlformats.org/drawingml/2006/main">
              <a:ext uri="{FF2B5EF4-FFF2-40B4-BE49-F238E27FC236}">
                <a16:creationId xmlns:a16="http://schemas.microsoft.com/office/drawing/2014/main" id="{78AA274C-C7C2-4CE0-B93C-37C3DB92A61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43d · Efficiënte hoeveelheid en verlies</a:t>
            </a:r>
          </a:p>
        </p:txBody>
      </p:sp>
      <p:sp>
        <p:nvSpPr>
          <p:cNvPr id="2" name="">
            <a:extLst xmlns:a="http://schemas.openxmlformats.org/drawingml/2006/main">
              <a:ext uri="{FF2B5EF4-FFF2-40B4-BE49-F238E27FC236}">
                <a16:creationId xmlns:a16="http://schemas.microsoft.com/office/drawing/2014/main" id="{3CDCCE8D-E355-47C9-BBB3-912C9EF1451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4F070596-BF01-4A5D-902F-AA2FCB042EF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6">
            <a:extLst xmlns:a="http://schemas.openxmlformats.org/drawingml/2006/main">
              <a:ext uri="{FF2B5EF4-FFF2-40B4-BE49-F238E27FC236}">
                <a16:creationId xmlns:a16="http://schemas.microsoft.com/office/drawing/2014/main" id="{96BDD874-CBE3-42C1-BB53-FCAED15428E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Chart"/>
          <p:cNvGraphicFramePr/>
          <p:nvPr/>
        </p:nvGraphicFramePr>
        <p:xfrm>
          <a:off xmlns:a="http://schemas.openxmlformats.org/drawingml/2006/main" x="428625" y="2019300"/>
          <a:ext xmlns:a="http://schemas.openxmlformats.org/drawingml/2006/main" cx="10382250" cy="5762625"/>
        </p:xfrm>
        <a:graphic xmlns:a="http://schemas.openxmlformats.org/drawingml/2006/main">
          <a:graphicData uri="http://schemas.openxmlformats.org/drawingml/2006/chart">
            <c:chart xmlns:r="http://schemas.openxmlformats.org/officeDocument/2006/relationships" xmlns:c="http://schemas.openxmlformats.org/drawingml/2006/chart" r:id="R1e37fb07d2ae4825"/>
          </a:graphicData>
        </a:graphic>
      </p:graphicFrame>
      <p:sp>
        <p:nvSpPr>
          <p:cNvPr id="6" name="Baten = MK">
            <a:extLst xmlns:a="http://schemas.openxmlformats.org/drawingml/2006/main">
              <a:ext uri="{FF2B5EF4-FFF2-40B4-BE49-F238E27FC236}">
                <a16:creationId xmlns:a16="http://schemas.microsoft.com/office/drawing/2014/main" id="{3587195B-DA11-4BA6-97F7-A2C216EA6F32}"/>
              </a:ext>
            </a:extLst>
          </p:cNvPr>
          <p:cNvSpPr>
            <a:spLocks xmlns:a="http://schemas.openxmlformats.org/drawingml/2006/main" noGrp="1"/>
          </p:cNvSpPr>
          <p:nvPr/>
        </p:nvSpPr>
        <p:spPr>
          <a:xfrm xmlns:a="http://schemas.openxmlformats.org/drawingml/2006/main">
            <a:off x="11144250" y="200977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Baten = MK</a:t>
            </a:r>
          </a:p>
        </p:txBody>
      </p:sp>
      <p:sp>
        <p:nvSpPr>
          <p:cNvPr id="7" name="70 − 0,5Q&#10;= 20 + 0,5Q&#10;Qe = 50&#10;&#10;Verlies vóór:&#10;½ × (50 − ">
            <a:extLst xmlns:a="http://schemas.openxmlformats.org/drawingml/2006/main">
              <a:ext uri="{FF2B5EF4-FFF2-40B4-BE49-F238E27FC236}">
                <a16:creationId xmlns:a16="http://schemas.microsoft.com/office/drawing/2014/main" id="{A6C5BC29-D3A2-41AC-9089-25CF80184629}"/>
              </a:ext>
            </a:extLst>
          </p:cNvPr>
          <p:cNvSpPr>
            <a:spLocks xmlns:a="http://schemas.openxmlformats.org/drawingml/2006/main" noGrp="1"/>
          </p:cNvSpPr>
          <p:nvPr/>
        </p:nvSpPr>
        <p:spPr>
          <a:xfrm xmlns:a="http://schemas.openxmlformats.org/drawingml/2006/main">
            <a:off x="11144250" y="3057525"/>
            <a:ext cx="3476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70 − 0,5Q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20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Qe = 50</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Verlies vóór:</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(50 − 40) × 10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€ 50 per maand</a:t>
            </a:r>
          </a:p>
        </p:txBody>
      </p:sp>
      <p:sp>
        <p:nvSpPr>
          <p:cNvPr id="8" name="Arceer tussen&#10;baten en MK,&#10;van Q = 40 tot 50.">
            <a:extLst xmlns:a="http://schemas.openxmlformats.org/drawingml/2006/main">
              <a:ext uri="{FF2B5EF4-FFF2-40B4-BE49-F238E27FC236}">
                <a16:creationId xmlns:a16="http://schemas.microsoft.com/office/drawing/2014/main" id="{E709EAED-C955-4885-863B-6BE89687C6B6}"/>
              </a:ext>
            </a:extLst>
          </p:cNvPr>
          <p:cNvSpPr>
            <a:spLocks xmlns:a="http://schemas.openxmlformats.org/drawingml/2006/main" noGrp="1"/>
          </p:cNvSpPr>
          <p:nvPr/>
        </p:nvSpPr>
        <p:spPr>
          <a:xfrm xmlns:a="http://schemas.openxmlformats.org/drawingml/2006/main">
            <a:off x="11144250" y="6391275"/>
            <a:ext cx="347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Arceer tussen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baten en MK,</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van Q = 40 tot 50.</a:t>
            </a:r>
          </a:p>
        </p:txBody>
      </p:sp>
    </p:spTree>
    <p:extLst>
      <p:ext uri="{BB962C8B-B14F-4D97-AF65-F5344CB8AC3E}">
        <p14:creationId xmlns:p14="http://schemas.microsoft.com/office/powerpoint/2010/main" val="88650688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43e · Dezelfde subsidie zonder externe baten">
            <a:extLst xmlns:a="http://schemas.openxmlformats.org/drawingml/2006/main">
              <a:ext uri="{FF2B5EF4-FFF2-40B4-BE49-F238E27FC236}">
                <a16:creationId xmlns:a16="http://schemas.microsoft.com/office/drawing/2014/main" id="{492E72F7-B3B8-45D4-8315-6E404E758F5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43e · Dezelfde subsidie zonder externe baten</a:t>
            </a:r>
          </a:p>
        </p:txBody>
      </p:sp>
      <p:sp>
        <p:nvSpPr>
          <p:cNvPr id="2" name="">
            <a:extLst xmlns:a="http://schemas.openxmlformats.org/drawingml/2006/main">
              <a:ext uri="{FF2B5EF4-FFF2-40B4-BE49-F238E27FC236}">
                <a16:creationId xmlns:a16="http://schemas.microsoft.com/office/drawing/2014/main" id="{4F79CCA6-3BD1-47B7-B100-25387CE533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04370F91-7853-4CE7-850A-1CA3AFA224C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7">
            <a:extLst xmlns:a="http://schemas.openxmlformats.org/drawingml/2006/main">
              <a:ext uri="{FF2B5EF4-FFF2-40B4-BE49-F238E27FC236}">
                <a16:creationId xmlns:a16="http://schemas.microsoft.com/office/drawing/2014/main" id="{C24F9307-B0F6-4377-8E2F-60EF30B22C1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graphicFrame>
        <p:nvGraphicFramePr>
          <p:cNvPr id="11" name=""/>
          <p:cNvGraphicFramePr/>
          <p:nvPr/>
        </p:nvGraphicFramePr>
        <p:xfrm>
          <a:off xmlns:a="http://schemas.openxmlformats.org/drawingml/2006/main" x="571500" y="2162175"/>
          <a:ext xmlns:a="http://schemas.openxmlformats.org/drawingml/2006/main" cx="14097000" cy="3448050"/>
        </p:xfrm>
        <a:graphic xmlns:a="http://schemas.openxmlformats.org/drawingml/2006/main">
          <a:graphicData uri="http://schemas.openxmlformats.org/drawingml/2006/table">
            <a:tbl>
              <a:tblPr/>
              <a:tblGrid>
                <a:gridCol w="4762500"/>
                <a:gridCol w="2857500"/>
                <a:gridCol w="3905250"/>
                <a:gridCol w="2571750"/>
              </a:tblGrid>
              <a:tr h="1149350">
                <a:tc>
                  <a:txBody>
                    <a:bodyPr lIns="171450" tIns="95250" rIns="152400" bIns="95250"/>
                    <a:lstStyle/>
                    <a:p>
                      <a:r>
                        <a:rPr sz="2400" b="1">
                          <a:solidFill>
                            <a:srgbClr val="FFFFFF"/>
                          </a:solidFill>
                          <a:latin typeface="Arial"/>
                          <a:ea typeface="Arial"/>
                          <a:cs typeface="Arial"/>
                        </a:rPr>
                        <a:t>Maatschappelijk surplus</a:t>
                      </a:r>
                    </a:p>
                    <a:p>
                      <a:r>
                        <a:rPr sz="2400" b="1">
                          <a:solidFill>
                            <a:srgbClr val="FFFFFF"/>
                          </a:solidFill>
                          <a:latin typeface="Arial"/>
                          <a:ea typeface="Arial"/>
                          <a:cs typeface="Arial"/>
                        </a:rPr>
                        <a:t>(€ per maand)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Zonder subsidie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Met € 10 subsidie</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Verandering</a:t>
                      </a:r>
                    </a:p>
                  </a:txBody>
                  <a:tcPr marL="91440" marR="91440" marT="45720" marB="45720" anchor="ctr">
                    <a:solidFill>
                      <a:srgbClr val="183247"/>
                    </a:solidFill>
                  </a:tcPr>
                </a:tc>
              </a:tr>
              <a:tr h="1149350">
                <a:tc>
                  <a:txBody>
                    <a:bodyPr lIns="171450" tIns="95250" rIns="152400" bIns="95250"/>
                    <a:lstStyle/>
                    <a:p>
                      <a:r>
                        <a:rPr sz="2400" b="0">
                          <a:solidFill>
                            <a:srgbClr val="183247"/>
                          </a:solidFill>
                          <a:latin typeface="Arial"/>
                          <a:ea typeface="Arial"/>
                          <a:cs typeface="Arial"/>
                        </a:rPr>
                        <a:t>Zonder externe baten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400 + 400</a:t>
                      </a:r>
                    </a:p>
                    <a:p>
                      <a:r>
                        <a:rPr sz="2400" b="0">
                          <a:solidFill>
                            <a:srgbClr val="183247"/>
                          </a:solidFill>
                          <a:latin typeface="Arial"/>
                          <a:ea typeface="Arial"/>
                          <a:cs typeface="Arial"/>
                        </a:rPr>
                        <a:t>= 800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625 + 625 − 500</a:t>
                      </a:r>
                    </a:p>
                    <a:p>
                      <a:r>
                        <a:rPr sz="2400" b="0">
                          <a:solidFill>
                            <a:srgbClr val="183247"/>
                          </a:solidFill>
                          <a:latin typeface="Arial"/>
                          <a:ea typeface="Arial"/>
                          <a:cs typeface="Arial"/>
                        </a:rPr>
                        <a:t>= 750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−50</a:t>
                      </a:r>
                    </a:p>
                  </a:txBody>
                  <a:tcPr marL="91440" marR="91440" marT="45720" marB="45720" anchor="ctr">
                    <a:solidFill>
                      <a:srgbClr val="FFFFFF"/>
                    </a:solidFill>
                  </a:tcPr>
                </a:tc>
              </a:tr>
              <a:tr h="1149350">
                <a:tc>
                  <a:txBody>
                    <a:bodyPr lIns="171450" tIns="95250" rIns="152400" bIns="95250"/>
                    <a:lstStyle/>
                    <a:p>
                      <a:r>
                        <a:rPr sz="2400" b="0">
                          <a:solidFill>
                            <a:srgbClr val="183247"/>
                          </a:solidFill>
                          <a:latin typeface="Arial"/>
                          <a:ea typeface="Arial"/>
                          <a:cs typeface="Arial"/>
                        </a:rPr>
                        <a:t>Met externe baten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800 + 400</a:t>
                      </a:r>
                    </a:p>
                    <a:p>
                      <a:r>
                        <a:rPr sz="2400" b="0">
                          <a:solidFill>
                            <a:srgbClr val="183247"/>
                          </a:solidFill>
                          <a:latin typeface="Arial"/>
                          <a:ea typeface="Arial"/>
                          <a:cs typeface="Arial"/>
                        </a:rPr>
                        <a:t>= 1.200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750 + 500</a:t>
                      </a:r>
                    </a:p>
                    <a:p>
                      <a:r>
                        <a:rPr sz="2400" b="0">
                          <a:solidFill>
                            <a:srgbClr val="183247"/>
                          </a:solidFill>
                          <a:latin typeface="Arial"/>
                          <a:ea typeface="Arial"/>
                          <a:cs typeface="Arial"/>
                        </a:rPr>
                        <a:t>= 1.250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+50</a:t>
                      </a:r>
                    </a:p>
                  </a:txBody>
                  <a:tcPr marL="91440" marR="91440" marT="45720" marB="45720" anchor="ctr">
                    <a:solidFill>
                      <a:srgbClr val="EFF4F7"/>
                    </a:solidFill>
                  </a:tcPr>
                </a:tc>
              </a:tr>
            </a:tbl>
          </a:graphicData>
        </a:graphic>
      </p:graphicFrame>
      <p:sp>
        <p:nvSpPr>
          <p:cNvPr id="6" name="De extra plaatsen kosten meer dan het private voordeel.">
            <a:extLst xmlns:a="http://schemas.openxmlformats.org/drawingml/2006/main">
              <a:ext uri="{FF2B5EF4-FFF2-40B4-BE49-F238E27FC236}">
                <a16:creationId xmlns:a16="http://schemas.microsoft.com/office/drawing/2014/main" id="{A87A1872-CD17-48CD-BECB-9AA8B61CBB64}"/>
              </a:ext>
            </a:extLst>
          </p:cNvPr>
          <p:cNvSpPr>
            <a:spLocks xmlns:a="http://schemas.openxmlformats.org/drawingml/2006/main" noGrp="1"/>
          </p:cNvSpPr>
          <p:nvPr/>
        </p:nvSpPr>
        <p:spPr>
          <a:xfrm xmlns:a="http://schemas.openxmlformats.org/drawingml/2006/main">
            <a:off x="571500" y="6372225"/>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De extra plaatsen kosten meer dan het private voordeel.</a:t>
            </a:r>
          </a:p>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Het voordeel voor derden maakt ze hier toch maatschappelijk zinvol.</a:t>
            </a:r>
          </a:p>
        </p:txBody>
      </p:sp>
    </p:spTree>
    <p:extLst>
      <p:ext uri="{BB962C8B-B14F-4D97-AF65-F5344CB8AC3E}">
        <p14:creationId xmlns:p14="http://schemas.microsoft.com/office/powerpoint/2010/main" val="5223409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5 Positieve externe effecten">
            <a:extLst xmlns:a="http://schemas.openxmlformats.org/drawingml/2006/main">
              <a:ext uri="{FF2B5EF4-FFF2-40B4-BE49-F238E27FC236}">
                <a16:creationId xmlns:a16="http://schemas.microsoft.com/office/drawing/2014/main" id="{46E0B764-4458-49CB-91C0-59AA7959E68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§4.2.5 Positieve externe effecten</a:t>
            </a:r>
          </a:p>
        </p:txBody>
      </p:sp>
      <p:sp>
        <p:nvSpPr>
          <p:cNvPr id="2" name="">
            <a:extLst xmlns:a="http://schemas.openxmlformats.org/drawingml/2006/main">
              <a:ext uri="{FF2B5EF4-FFF2-40B4-BE49-F238E27FC236}">
                <a16:creationId xmlns:a16="http://schemas.microsoft.com/office/drawing/2014/main" id="{4A8C573C-34AA-4772-B5B5-2BBE4B64D1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5 Positieve externe effecten">
            <a:extLst xmlns:a="http://schemas.openxmlformats.org/drawingml/2006/main">
              <a:ext uri="{FF2B5EF4-FFF2-40B4-BE49-F238E27FC236}">
                <a16:creationId xmlns:a16="http://schemas.microsoft.com/office/drawing/2014/main" id="{513B7417-8495-4D22-B2EA-617041201C7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§4.2.5 Positieve externe effecten</a:t>
            </a:r>
          </a:p>
        </p:txBody>
      </p:sp>
      <p:sp>
        <p:nvSpPr>
          <p:cNvPr id="4" name="28">
            <a:extLst xmlns:a="http://schemas.openxmlformats.org/drawingml/2006/main">
              <a:ext uri="{FF2B5EF4-FFF2-40B4-BE49-F238E27FC236}">
                <a16:creationId xmlns:a16="http://schemas.microsoft.com/office/drawing/2014/main" id="{A6242EA6-8924-4E1E-B1EC-C1D2695B58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phase">
            <a:extLst xmlns:a="http://schemas.openxmlformats.org/drawingml/2006/main">
              <a:ext uri="{FF2B5EF4-FFF2-40B4-BE49-F238E27FC236}">
                <a16:creationId xmlns:a16="http://schemas.microsoft.com/office/drawing/2014/main" id="{5F640C0B-A19C-484D-8009-112F279DAB3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BB23F4B8-FA92-49D1-B434-C2696CB98C0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3C0CA3B6-081D-4252-9375-87FB94A64F4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A5EA4AE8-0AE0-4DFB-9662-86F535C477EC}"/>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5C32E1D0-B51F-4572-A444-7D006A492B7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CFBC47D9-B06B-40FA-BD22-0E962131FC7E}"/>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1910C7CA-3986-404C-AC7E-5FD3495C304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88A2A6A4-ACB6-4D21-9370-A0AD213CF130}"/>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AA725332-C77A-4EA3-ABBB-4CBE0953587F}"/>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F99DE403-FBCB-4320-B0C5-CF64F2EDDD66}"/>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6B85C29C-3AD1-4108-AC90-4B7DE65174F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C5E4A91B-8165-4000-96F5-7B3BED8753F5}"/>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A532506A-8A75-430F-937B-D332F6FE99B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756E9D5A-4F15-4C1E-BC54-D761DB3A1FA2}"/>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43.</a:t>
            </a:r>
          </a:p>
        </p:txBody>
      </p:sp>
      <p:sp>
        <p:nvSpPr>
          <p:cNvPr id="19" name="route-number-6">
            <a:extLst xmlns:a="http://schemas.openxmlformats.org/drawingml/2006/main">
              <a:ext uri="{FF2B5EF4-FFF2-40B4-BE49-F238E27FC236}">
                <a16:creationId xmlns:a16="http://schemas.microsoft.com/office/drawing/2014/main" id="{C3863A32-0DB3-429B-975C-96124B17A93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7ADFF848-D813-40B7-919F-751AABF38343}"/>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01E0CD8-6420-4F39-92A4-D45A2269CB2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0369EAC-B8A0-4320-B8E6-79BC02FBC9DB}"/>
              </a:ext>
            </a:extLst>
          </p:cNvPr>
          <p:cNvSpPr>
            <a:spLocks xmlns:a="http://schemas.openxmlformats.org/drawingml/2006/main" noGrp="1"/>
          </p:cNvSpPr>
          <p:nvPr/>
        </p:nvSpPr>
        <p:spPr>
          <a:xfrm xmlns:a="http://schemas.openxmlformats.org/drawingml/2006/main">
            <a:off x="9258300" y="2286000"/>
            <a:ext cx="53816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Privaat en extern voordeel.</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Subsidie en uitgaven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Maatschappelijk surplus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efficiënte hoeveelheid bepalen.</a:t>
            </a:r>
          </a:p>
        </p:txBody>
      </p:sp>
      <p:sp>
        <p:nvSpPr>
          <p:cNvPr id="23" name="">
            <a:extLst xmlns:a="http://schemas.openxmlformats.org/drawingml/2006/main">
              <a:ext uri="{FF2B5EF4-FFF2-40B4-BE49-F238E27FC236}">
                <a16:creationId xmlns:a16="http://schemas.microsoft.com/office/drawing/2014/main" id="{49421BC3-075C-4881-A147-078CD4446F89}"/>
              </a:ext>
            </a:extLst>
          </p:cNvPr>
          <p:cNvSpPr>
            <a:spLocks xmlns:a="http://schemas.openxmlformats.org/drawingml/2006/main" noGrp="1"/>
          </p:cNvSpPr>
          <p:nvPr/>
        </p:nvSpPr>
        <p:spPr>
          <a:xfrm xmlns:a="http://schemas.openxmlformats.org/drawingml/2006/main">
            <a:off x="9258300" y="370522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A078C9F5-21DF-4B1D-ACF3-76B7BF5C7423}"/>
              </a:ext>
            </a:extLst>
          </p:cNvPr>
          <p:cNvSpPr>
            <a:spLocks xmlns:a="http://schemas.openxmlformats.org/drawingml/2006/main" noGrp="1"/>
          </p:cNvSpPr>
          <p:nvPr/>
        </p:nvSpPr>
        <p:spPr>
          <a:xfrm xmlns:a="http://schemas.openxmlformats.org/drawingml/2006/main">
            <a:off x="9258300" y="3876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AAD35FF-8E7B-48E1-9E6F-0CAFF571DFFD}"/>
              </a:ext>
            </a:extLst>
          </p:cNvPr>
          <p:cNvSpPr>
            <a:spLocks xmlns:a="http://schemas.openxmlformats.org/drawingml/2006/main" noGrp="1"/>
          </p:cNvSpPr>
          <p:nvPr/>
        </p:nvSpPr>
        <p:spPr>
          <a:xfrm xmlns:a="http://schemas.openxmlformats.org/drawingml/2006/main">
            <a:off x="9258300" y="439102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94 · Opgaven 37 en 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38: verkennen, theorie p. 88</a:t>
            </a:r>
          </a:p>
        </p:txBody>
      </p:sp>
      <p:sp>
        <p:nvSpPr>
          <p:cNvPr id="26" name="">
            <a:extLst xmlns:a="http://schemas.openxmlformats.org/drawingml/2006/main">
              <a:ext uri="{FF2B5EF4-FFF2-40B4-BE49-F238E27FC236}">
                <a16:creationId xmlns:a16="http://schemas.microsoft.com/office/drawing/2014/main" id="{A2D17E8E-E14C-4325-ADB4-06C6D925BB68}"/>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0D7A1A2-2B27-4B07-B176-CD850160B02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E70A323-872D-4C31-BB88-7EDF57B675B3}"/>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39 en 40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41 en 42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43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23367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2026-10-01T17:45:17.5490000Z</dcterms:created>
  <dcterms:modified xsi:type="dcterms:W3CDTF">2026-10-01T17:45:17.5490000Z</dcterms:modified>
</coreProperties>
</file>