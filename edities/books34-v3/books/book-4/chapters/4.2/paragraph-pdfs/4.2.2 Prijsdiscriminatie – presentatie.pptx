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308406107c4582" /><Relationship Type="http://schemas.openxmlformats.org/officeDocument/2006/relationships/extended-properties" Target="/docProps/app.xml" Id="R1f9b91c950dd4af9" /><Relationship Type="http://schemas.openxmlformats.org/officeDocument/2006/relationships/officeDocument" Target="/ppt/presentation.xml" Id="R2447e5408eae4786" /></Relationships>
</file>

<file path=ppt/presentation.xml><?xml version="1.0" encoding="utf-8"?>
<p:presentation xmlns:p="http://schemas.openxmlformats.org/presentationml/2006/main">
  <p:sldMasterIdLst>
    <p:sldMasterId xmlns:r="http://schemas.openxmlformats.org/officeDocument/2006/relationships" id="2147483648" r:id="R1c4b4c8c811144a9"/>
  </p:sldMasterIdLst>
  <p:notesMasterIdLst>
    <p:notesMasterId xmlns:r="http://schemas.openxmlformats.org/officeDocument/2006/relationships" r:id="Rc385efe674a14fd6"/>
  </p:notesMasterIdLst>
  <p:sldIdLst>
    <p:sldId xmlns:r="http://schemas.openxmlformats.org/officeDocument/2006/relationships" id="256" r:id="R9c533351cc4d461b"/>
    <p:sldId xmlns:r="http://schemas.openxmlformats.org/officeDocument/2006/relationships" id="257" r:id="R2ca093fddb9a4173"/>
    <p:sldId xmlns:r="http://schemas.openxmlformats.org/officeDocument/2006/relationships" id="258" r:id="R7323b3a8300c4fd6"/>
    <p:sldId xmlns:r="http://schemas.openxmlformats.org/officeDocument/2006/relationships" id="259" r:id="R14bb42a425df42e2"/>
    <p:sldId xmlns:r="http://schemas.openxmlformats.org/officeDocument/2006/relationships" id="260" r:id="R9fb94d97fc054619"/>
    <p:sldId xmlns:r="http://schemas.openxmlformats.org/officeDocument/2006/relationships" id="261" r:id="R2eb1ed79e9a145b8"/>
    <p:sldId xmlns:r="http://schemas.openxmlformats.org/officeDocument/2006/relationships" id="262" r:id="Rbbc5a10e27c749a8"/>
    <p:sldId xmlns:r="http://schemas.openxmlformats.org/officeDocument/2006/relationships" id="263" r:id="R55300f2a53ad429b"/>
    <p:sldId xmlns:r="http://schemas.openxmlformats.org/officeDocument/2006/relationships" id="264" r:id="R1a34debfbc5d4d39"/>
    <p:sldId xmlns:r="http://schemas.openxmlformats.org/officeDocument/2006/relationships" id="265" r:id="Rfde5535f31654958"/>
    <p:sldId xmlns:r="http://schemas.openxmlformats.org/officeDocument/2006/relationships" id="266" r:id="R10c4e55a78b74e4a"/>
    <p:sldId xmlns:r="http://schemas.openxmlformats.org/officeDocument/2006/relationships" id="267" r:id="Rc84de17a19934da9"/>
    <p:sldId xmlns:r="http://schemas.openxmlformats.org/officeDocument/2006/relationships" id="268" r:id="Rd2a187166f5b4726"/>
    <p:sldId xmlns:r="http://schemas.openxmlformats.org/officeDocument/2006/relationships" id="269" r:id="R9deba8bb834746b2"/>
    <p:sldId xmlns:r="http://schemas.openxmlformats.org/officeDocument/2006/relationships" id="270" r:id="Rbce4c243cae74ced"/>
    <p:sldId xmlns:r="http://schemas.openxmlformats.org/officeDocument/2006/relationships" id="271" r:id="Reb5f47dd90264441"/>
    <p:sldId xmlns:r="http://schemas.openxmlformats.org/officeDocument/2006/relationships" id="272" r:id="R139e4acb680e4cce"/>
    <p:sldId xmlns:r="http://schemas.openxmlformats.org/officeDocument/2006/relationships" id="273" r:id="Rbb65a2f7fab64a29"/>
    <p:sldId xmlns:r="http://schemas.openxmlformats.org/officeDocument/2006/relationships" id="274" r:id="R8b7c12e0209546b7"/>
    <p:sldId xmlns:r="http://schemas.openxmlformats.org/officeDocument/2006/relationships" id="275" r:id="R7523c2ab02e54ca6"/>
    <p:sldId xmlns:r="http://schemas.openxmlformats.org/officeDocument/2006/relationships" id="276" r:id="R0a758b52e1cb4878"/>
    <p:sldId xmlns:r="http://schemas.openxmlformats.org/officeDocument/2006/relationships" id="277" r:id="R26fa626e8e914656"/>
    <p:sldId xmlns:r="http://schemas.openxmlformats.org/officeDocument/2006/relationships" id="278" r:id="R93d0bb83b9534a29"/>
    <p:sldId xmlns:r="http://schemas.openxmlformats.org/officeDocument/2006/relationships" id="279" r:id="Rf66653b3817146e4"/>
    <p:sldId xmlns:r="http://schemas.openxmlformats.org/officeDocument/2006/relationships" id="280" r:id="Ra85de8fe3ad741a1"/>
    <p:sldId xmlns:r="http://schemas.openxmlformats.org/officeDocument/2006/relationships" id="281" r:id="R5a82e20a80b5470e"/>
    <p:sldId xmlns:r="http://schemas.openxmlformats.org/officeDocument/2006/relationships" id="282" r:id="Rb59960b4055c426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5e263ce7ec494f" /><Relationship Type="http://schemas.openxmlformats.org/officeDocument/2006/relationships/slideMaster" Target="/ppt/slideMasters/slideMaster1.xml" Id="R1c4b4c8c811144a9" /><Relationship Type="http://schemas.openxmlformats.org/officeDocument/2006/relationships/notesMaster" Target="/ppt/notesMasters/notesMaster1.xml" Id="Rc385efe674a14fd6" /><Relationship Type="http://schemas.openxmlformats.org/officeDocument/2006/relationships/presProps" Target="/ppt/presProps.xml" Id="R60e172915a5f4a43" /><Relationship Type="http://schemas.openxmlformats.org/officeDocument/2006/relationships/tableStyles" Target="/ppt/tableStyles.xml" Id="R687872fbd1a84d38" /><Relationship Type="http://schemas.openxmlformats.org/officeDocument/2006/relationships/slide" Target="/ppt/slides/slide1.xml" Id="R9c533351cc4d461b" /><Relationship Type="http://schemas.openxmlformats.org/officeDocument/2006/relationships/slide" Target="/ppt/slides/slide2.xml" Id="R2ca093fddb9a4173" /><Relationship Type="http://schemas.openxmlformats.org/officeDocument/2006/relationships/slide" Target="/ppt/slides/slide3.xml" Id="R7323b3a8300c4fd6" /><Relationship Type="http://schemas.openxmlformats.org/officeDocument/2006/relationships/slide" Target="/ppt/slides/slide4.xml" Id="R14bb42a425df42e2" /><Relationship Type="http://schemas.openxmlformats.org/officeDocument/2006/relationships/slide" Target="/ppt/slides/slide5.xml" Id="R9fb94d97fc054619" /><Relationship Type="http://schemas.openxmlformats.org/officeDocument/2006/relationships/slide" Target="/ppt/slides/slide6.xml" Id="R2eb1ed79e9a145b8" /><Relationship Type="http://schemas.openxmlformats.org/officeDocument/2006/relationships/slide" Target="/ppt/slides/slide7.xml" Id="Rbbc5a10e27c749a8" /><Relationship Type="http://schemas.openxmlformats.org/officeDocument/2006/relationships/slide" Target="/ppt/slides/slide8.xml" Id="R55300f2a53ad429b" /><Relationship Type="http://schemas.openxmlformats.org/officeDocument/2006/relationships/slide" Target="/ppt/slides/slide9.xml" Id="R1a34debfbc5d4d39" /><Relationship Type="http://schemas.openxmlformats.org/officeDocument/2006/relationships/slide" Target="/ppt/slides/slide10.xml" Id="Rfde5535f31654958" /><Relationship Type="http://schemas.openxmlformats.org/officeDocument/2006/relationships/slide" Target="/ppt/slides/slide11.xml" Id="R10c4e55a78b74e4a" /><Relationship Type="http://schemas.openxmlformats.org/officeDocument/2006/relationships/slide" Target="/ppt/slides/slide12.xml" Id="Rc84de17a19934da9" /><Relationship Type="http://schemas.openxmlformats.org/officeDocument/2006/relationships/slide" Target="/ppt/slides/slide13.xml" Id="Rd2a187166f5b4726" /><Relationship Type="http://schemas.openxmlformats.org/officeDocument/2006/relationships/slide" Target="/ppt/slides/slide14.xml" Id="R9deba8bb834746b2" /><Relationship Type="http://schemas.openxmlformats.org/officeDocument/2006/relationships/slide" Target="/ppt/slides/slide15.xml" Id="Rbce4c243cae74ced" /><Relationship Type="http://schemas.openxmlformats.org/officeDocument/2006/relationships/slide" Target="/ppt/slides/slide16.xml" Id="Reb5f47dd90264441" /><Relationship Type="http://schemas.openxmlformats.org/officeDocument/2006/relationships/slide" Target="/ppt/slides/slide17.xml" Id="R139e4acb680e4cce" /><Relationship Type="http://schemas.openxmlformats.org/officeDocument/2006/relationships/slide" Target="/ppt/slides/slide18.xml" Id="Rbb65a2f7fab64a29" /><Relationship Type="http://schemas.openxmlformats.org/officeDocument/2006/relationships/slide" Target="/ppt/slides/slide19.xml" Id="R8b7c12e0209546b7" /><Relationship Type="http://schemas.openxmlformats.org/officeDocument/2006/relationships/slide" Target="/ppt/slides/slide20.xml" Id="R7523c2ab02e54ca6" /><Relationship Type="http://schemas.openxmlformats.org/officeDocument/2006/relationships/slide" Target="/ppt/slides/slide21.xml" Id="R0a758b52e1cb4878" /><Relationship Type="http://schemas.openxmlformats.org/officeDocument/2006/relationships/slide" Target="/ppt/slides/slide22.xml" Id="R26fa626e8e914656" /><Relationship Type="http://schemas.openxmlformats.org/officeDocument/2006/relationships/slide" Target="/ppt/slides/slide23.xml" Id="R93d0bb83b9534a29" /><Relationship Type="http://schemas.openxmlformats.org/officeDocument/2006/relationships/slide" Target="/ppt/slides/slide24.xml" Id="Rf66653b3817146e4" /><Relationship Type="http://schemas.openxmlformats.org/officeDocument/2006/relationships/slide" Target="/ppt/slides/slide25.xml" Id="Ra85de8fe3ad741a1" /><Relationship Type="http://schemas.openxmlformats.org/officeDocument/2006/relationships/slide" Target="/ppt/slides/slide26.xml" Id="R5a82e20a80b5470e" /><Relationship Type="http://schemas.openxmlformats.org/officeDocument/2006/relationships/slide" Target="/ppt/slides/slide27.xml" Id="Rb59960b4055c42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208399a68443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2b7fb3a664cdb" /><Relationship Type="http://schemas.openxmlformats.org/officeDocument/2006/relationships/notesMaster" Target="/ppt/notesMasters/notesMaster1.xml" Id="R6c17d59d9f284c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5588d6a15144de" /><Relationship Type="http://schemas.openxmlformats.org/officeDocument/2006/relationships/notesMaster" Target="/ppt/notesMasters/notesMaster1.xml" Id="Rc6543806cab447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a6802543849da" /><Relationship Type="http://schemas.openxmlformats.org/officeDocument/2006/relationships/notesMaster" Target="/ppt/notesMasters/notesMaster1.xml" Id="Rd35102bc7c4340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0b8e2514a94ee3" /><Relationship Type="http://schemas.openxmlformats.org/officeDocument/2006/relationships/notesMaster" Target="/ppt/notesMasters/notesMaster1.xml" Id="Rbb4b18131fa342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bf19fcc65e46ff" /><Relationship Type="http://schemas.openxmlformats.org/officeDocument/2006/relationships/notesMaster" Target="/ppt/notesMasters/notesMaster1.xml" Id="Rbbe6c9c5eb384d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c4dfeb5d454122" /><Relationship Type="http://schemas.openxmlformats.org/officeDocument/2006/relationships/notesMaster" Target="/ppt/notesMasters/notesMaster1.xml" Id="R134c3790902a43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97738e0080403c" /><Relationship Type="http://schemas.openxmlformats.org/officeDocument/2006/relationships/notesMaster" Target="/ppt/notesMasters/notesMaster1.xml" Id="Re12a8707200549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c1f75028c4430b" /><Relationship Type="http://schemas.openxmlformats.org/officeDocument/2006/relationships/notesMaster" Target="/ppt/notesMasters/notesMaster1.xml" Id="R005842eb80014b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f33dd768444527" /><Relationship Type="http://schemas.openxmlformats.org/officeDocument/2006/relationships/notesMaster" Target="/ppt/notesMasters/notesMaster1.xml" Id="R39d5eaef50b142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9a8fab93914628" /><Relationship Type="http://schemas.openxmlformats.org/officeDocument/2006/relationships/notesMaster" Target="/ppt/notesMasters/notesMaster1.xml" Id="R92467c2b2e8948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2ea336471c40c1" /><Relationship Type="http://schemas.openxmlformats.org/officeDocument/2006/relationships/notesMaster" Target="/ppt/notesMasters/notesMaster1.xml" Id="Rf9a919f65e3e47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2fb46dfe2d49b4" /><Relationship Type="http://schemas.openxmlformats.org/officeDocument/2006/relationships/notesMaster" Target="/ppt/notesMasters/notesMaster1.xml" Id="Re1c071858e4140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304f53f91145a3" /><Relationship Type="http://schemas.openxmlformats.org/officeDocument/2006/relationships/notesMaster" Target="/ppt/notesMasters/notesMaster1.xml" Id="R09ee100e6cb940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9ec13be4114782" /><Relationship Type="http://schemas.openxmlformats.org/officeDocument/2006/relationships/notesMaster" Target="/ppt/notesMasters/notesMaster1.xml" Id="Rbdac1913ca0f4c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d66fa60c2f4363" /><Relationship Type="http://schemas.openxmlformats.org/officeDocument/2006/relationships/notesMaster" Target="/ppt/notesMasters/notesMaster1.xml" Id="R4b7d8322746240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caf514d23e4405" /><Relationship Type="http://schemas.openxmlformats.org/officeDocument/2006/relationships/notesMaster" Target="/ppt/notesMasters/notesMaster1.xml" Id="R7d45a4db92714b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0e2eafeb1c4d7f" /><Relationship Type="http://schemas.openxmlformats.org/officeDocument/2006/relationships/notesMaster" Target="/ppt/notesMasters/notesMaster1.xml" Id="Ra3c171dc5e0a4d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dab1f5fa80434c" /><Relationship Type="http://schemas.openxmlformats.org/officeDocument/2006/relationships/notesMaster" Target="/ppt/notesMasters/notesMaster1.xml" Id="R155c1b8e82e344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ec1d946e7140bc" /><Relationship Type="http://schemas.openxmlformats.org/officeDocument/2006/relationships/notesMaster" Target="/ppt/notesMasters/notesMaster1.xml" Id="Re38778cb8a7842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4250f99e14484e" /><Relationship Type="http://schemas.openxmlformats.org/officeDocument/2006/relationships/notesMaster" Target="/ppt/notesMasters/notesMaster1.xml" Id="R00bf2324d9f840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f906de58764e10" /><Relationship Type="http://schemas.openxmlformats.org/officeDocument/2006/relationships/notesMaster" Target="/ppt/notesMasters/notesMaster1.xml" Id="R6a21fca34ad343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8a563d623743d8" /><Relationship Type="http://schemas.openxmlformats.org/officeDocument/2006/relationships/notesMaster" Target="/ppt/notesMasters/notesMaster1.xml" Id="Rf321bcd70c5847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edf56d61534524" /><Relationship Type="http://schemas.openxmlformats.org/officeDocument/2006/relationships/notesMaster" Target="/ppt/notesMasters/notesMaster1.xml" Id="R6eecb2fa51cf4c9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05847b1e4a46cb" /><Relationship Type="http://schemas.openxmlformats.org/officeDocument/2006/relationships/notesMaster" Target="/ppt/notesMasters/notesMaster1.xml" Id="Rd04ce5d4d64943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9a148a995b4e8e" /><Relationship Type="http://schemas.openxmlformats.org/officeDocument/2006/relationships/notesMaster" Target="/ppt/notesMasters/notesMaster1.xml" Id="R8cf9037a3dae4cd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b187fee0c4a4ae8" /><Relationship Type="http://schemas.openxmlformats.org/officeDocument/2006/relationships/notesMaster" Target="/ppt/notesMasters/notesMaster1.xml" Id="R7efde73e667a41f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331f75ab9949e9" /><Relationship Type="http://schemas.openxmlformats.org/officeDocument/2006/relationships/notesMaster" Target="/ppt/notesMasters/notesMaster1.xml" Id="R20d6819edfa04d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heb je de theorie nodig?</a:t>
            </a:r>
          </a:p>
          <a:p xmlns:a="http://schemas.openxmlformats.org/drawingml/2006/main">
            <a:r>
              <a:rPr sz="1400"/>
              <a:t/>
            </a:r>
          </a:p>
          <a:p xmlns:a="http://schemas.openxmlformats.org/drawingml/2006/main">
            <a:r>
              <a:rPr sz="1400"/>
              <a:t>Uitleg: Laat deze dia staan tijdens startopdracht. Start 10–11 op p. 66, basis 12 op p. 66 en 13 op p. 67, zelfstandig 14 op p. 67 en 15 op p. 68, doel 16 op p. 69. Huiswerk: 12, 13, 14, 15 en 16 maken en nakijken. Bonus 17 en herhaling 18 zijn extra. Start 10 haalt TO, TK en winst uit §4.1.4 p. 38 op. Nieuw is twee omzetbedragen optellen bij één bedrijf: laat de formule op p. 64 gebruiken, zoals zichtbaar op het overzicht. Geef zo nodig de steun ‘tel ontvangsten op, tel alle bezoeken op, gebruik de gezamenlijke huur één keer’. Start 11 is verkennen: lees eerst definitie, voorwaarden en waarschuwing op p. 63. Leerlingen wijzen hun bewijs aan en noteren twijfel; dit is geen toets van al beheerste leerstof. Bij terugkeer vóór het basiswerk: laat de samenvoeging van 10 toelichten en laat 11 opnieuw proberen en leg uit waarom het product en kostenverschil tellen. Reserveer volgens de docentenhandleiding voorlopig twee lessen; geen gemeten tijdsfit. Rond zo nodig later af zonder basiswerk te schrappen.</a:t>
            </a:r>
          </a:p>
          <a:p xmlns:a="http://schemas.openxmlformats.org/drawingml/2006/main">
            <a:r>
              <a:rPr sz="1400"/>
              <a:t/>
            </a:r>
          </a:p>
          <a:p xmlns:a="http://schemas.openxmlformats.org/drawingml/2006/main">
            <a:r>
              <a:rPr sz="1400"/>
              <a:t>Misvatting: Een andere prijs alleen bewijst geen prijsdiscriminatie.</a:t>
            </a:r>
          </a:p>
          <a:p xmlns:a="http://schemas.openxmlformats.org/drawingml/2006/main">
            <a:r>
              <a:rPr sz="1400"/>
              <a:t/>
            </a:r>
          </a:p>
          <a:p xmlns:a="http://schemas.openxmlformats.org/drawingml/2006/main">
            <a:r>
              <a:rPr sz="1400"/>
              <a:t>Overgang: Ga door naar de volgende lesfase.</a:t>
            </a:r>
          </a:p>
          <a:p xmlns:a="http://schemas.openxmlformats.org/drawingml/2006/main">
            <a:r>
              <a:rPr sz="1400"/>
              <a:t/>
            </a:r>
          </a:p>
          <a:p xmlns:a="http://schemas.openxmlformats.org/drawingml/2006/main">
            <a:r>
              <a:rPr sz="1400"/>
              <a:t>Bron: Boek 4, editie books34-v3, gedrukte pagina 63–69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Docentenroute: https://github.com/meijer1973/4veco-lessen/blob/e734532a42b27732ac25ce990fc9448b12309d28/edities/books34-v3/books/book-4/chapters/4.2/Docenteninformatie.md. Eerdere methode: https://github.com/meijer1973/4veco-lessen/blob/e734532a42b27732ac25ce990fc9448b12309d28/edities/books34-v3/books/book-4/chapters/4.1/4.1.4%20manuscript.md, gedrukte p. 38. Startantwoorden voor feedback na de poging: 10a TO 520, TK 240, winst 280 euro per week; 10b gezamenlijke vaste kosten eenmaal. 11a situatie A; bij B verandert de rit en bij C de hoeveelheid opslag.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meer winst nog geen bewijs voor meer totale welvaart?</a:t>
            </a:r>
          </a:p>
          <a:p xmlns:a="http://schemas.openxmlformats.org/drawingml/2006/main">
            <a:r>
              <a:rPr sz="1400"/>
              <a:t/>
            </a:r>
          </a:p>
          <a:p xmlns:a="http://schemas.openxmlformats.org/drawingml/2006/main">
            <a:r>
              <a:rPr sz="1400"/>
              <a:t>Uitleg: Verbind de doelen met FilmLab, opgave 16. Herinner aan de monopolieprocedure: hoeveelheid kiezen, haalbaarheid controleren, prijs op GO lezen, totale bedragen berekenen. Daarna vergelijken we kopers en aanbieder samen.</a:t>
            </a:r>
          </a:p>
          <a:p xmlns:a="http://schemas.openxmlformats.org/drawingml/2006/main">
            <a:r>
              <a:rPr sz="1400"/>
              <a:t/>
            </a:r>
          </a:p>
          <a:p xmlns:a="http://schemas.openxmlformats.org/drawingml/2006/main">
            <a:r>
              <a:rPr sz="1400"/>
              <a:t>Misvatting: Winst en PS verschillen door de constante kosten.</a:t>
            </a:r>
          </a:p>
          <a:p xmlns:a="http://schemas.openxmlformats.org/drawingml/2006/main">
            <a:r>
              <a:rPr sz="1400"/>
              <a:t/>
            </a:r>
          </a:p>
          <a:p xmlns:a="http://schemas.openxmlformats.org/drawingml/2006/main">
            <a:r>
              <a:rPr sz="1400"/>
              <a:t>Overgang: Onderzoek eerst wanneer een prijsverschil prijsdiscriminatie is.</a:t>
            </a:r>
          </a:p>
          <a:p xmlns:a="http://schemas.openxmlformats.org/drawingml/2006/main">
            <a:r>
              <a:rPr sz="1400"/>
              <a:t/>
            </a:r>
          </a:p>
          <a:p xmlns:a="http://schemas.openxmlformats.org/drawingml/2006/main">
            <a:r>
              <a:rPr sz="1400"/>
              <a:t>Bron: Boek 4, editie books34-v3, gedrukte pagina 63–65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de aanbieder geen twee tarieven handhaven als iedereen de goedkope pas kan kiezen?</a:t>
            </a:r>
          </a:p>
          <a:p xmlns:a="http://schemas.openxmlformats.org/drawingml/2006/main">
            <a:r>
              <a:rPr sz="1400"/>
              <a:t/>
            </a:r>
          </a:p>
          <a:p xmlns:a="http://schemas.openxmlformats.org/drawingml/2006/main">
            <a:r>
              <a:rPr sz="1400"/>
              <a:t>Uitleg: Prijsdiscriminatie vereist hetzelfde product en een prijsverschil dat niet door kostenverschillen wordt verklaard. Bespreek alle drie voorwaarden. Verschil in prijsgevoeligheid moet blijken uit gedrag of gegevens; het etiket student bewijst geen elasticiteit, en alleen de helling ook niet.</a:t>
            </a:r>
          </a:p>
          <a:p xmlns:a="http://schemas.openxmlformats.org/drawingml/2006/main">
            <a:r>
              <a:rPr sz="1400"/>
              <a:t/>
            </a:r>
          </a:p>
          <a:p xmlns:a="http://schemas.openxmlformats.org/drawingml/2006/main">
            <a:r>
              <a:rPr sz="1400"/>
              <a:t>Misvatting: Een langere rit of luxer product is niet dezelfde dienst. Een andere prijs is op zichzelf onvoldoende bewijs.</a:t>
            </a:r>
          </a:p>
          <a:p xmlns:a="http://schemas.openxmlformats.org/drawingml/2006/main">
            <a:r>
              <a:rPr sz="1400"/>
              <a:t/>
            </a:r>
          </a:p>
          <a:p xmlns:a="http://schemas.openxmlformats.org/drawingml/2006/main">
            <a:r>
              <a:rPr sz="1400"/>
              <a:t>Overgang: Gebruik nu een afzonderlijk rekenvoorbeeld met twee herkenbare groepen.</a:t>
            </a:r>
          </a:p>
          <a:p xmlns:a="http://schemas.openxmlformats.org/drawingml/2006/main">
            <a:r>
              <a:rPr sz="1400"/>
              <a:t/>
            </a:r>
          </a:p>
          <a:p xmlns:a="http://schemas.openxmlformats.org/drawingml/2006/main">
            <a:r>
              <a:rPr sz="1400"/>
              <a:t>Bron: Boek 4, editie books34-v3, gedrukte pagina 63, 68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moeten we ook de gezamenlijke capaciteit kennen?</a:t>
            </a:r>
          </a:p>
          <a:p xmlns:a="http://schemas.openxmlformats.org/drawingml/2006/main">
            <a:r>
              <a:rPr sz="1400"/>
              <a:t/>
            </a:r>
          </a:p>
          <a:p xmlns:a="http://schemas.openxmlformats.org/drawingml/2006/main">
            <a:r>
              <a:rPr sz="1400"/>
              <a:t>Uitleg: Dit authored Speelatelier-voorbeeld staat niet in het boek en werkt geen toegewezen oefening uit. MK blijft 6 euro ongeacht de gezamenlijke afzet en capaciteit bindt niet. Daarom kunnen we de groepen apart optimaliseren. Dezelfde vaste kosten horen bij één bedrijf. De vergelijkingsprijs 15 is gegeven, niet een nieuw optimalisatieprobleem.</a:t>
            </a:r>
          </a:p>
          <a:p xmlns:a="http://schemas.openxmlformats.org/drawingml/2006/main">
            <a:r>
              <a:rPr sz="1400"/>
              <a:t/>
            </a:r>
          </a:p>
          <a:p xmlns:a="http://schemas.openxmlformats.org/drawingml/2006/main">
            <a:r>
              <a:rPr sz="1400"/>
              <a:t>Misvatting: Bij MK die van de totale afzet afhangt of een bindende capaciteit kunnen we de groepen niet zomaar los kiezen.</a:t>
            </a:r>
          </a:p>
          <a:p xmlns:a="http://schemas.openxmlformats.org/drawingml/2006/main">
            <a:r>
              <a:rPr sz="1400"/>
              <a:t/>
            </a:r>
          </a:p>
          <a:p xmlns:a="http://schemas.openxmlformats.org/drawingml/2006/main">
            <a:r>
              <a:rPr sz="1400"/>
              <a:t>Overgang: Haal de methode voor één groep op.</a:t>
            </a:r>
          </a:p>
          <a:p xmlns:a="http://schemas.openxmlformats.org/drawingml/2006/main">
            <a:r>
              <a:rPr sz="1400"/>
              <a:t/>
            </a:r>
          </a:p>
          <a:p xmlns:a="http://schemas.openxmlformats.org/drawingml/2006/main">
            <a:r>
              <a:rPr sz="1400"/>
              <a:t>Bron: Boek 4, editie books34-v3, gedrukte pagina 64–65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MO_A niet gelijk aan P_A?</a:t>
            </a:r>
          </a:p>
          <a:p xmlns:a="http://schemas.openxmlformats.org/drawingml/2006/main">
            <a:r>
              <a:rPr sz="1400"/>
              <a:t/>
            </a:r>
          </a:p>
          <a:p xmlns:a="http://schemas.openxmlformats.org/drawingml/2006/main">
            <a:r>
              <a:rPr sz="1400"/>
              <a:t>Uitleg: Herhaal de afleiding: omzet is prijs maal afzet. De afgeleide van 30Q is 30 en van −Q² is −2Q. Binnen groep A betaalt iedereen dezelfde prijs; daarom daalt MO sterker dan GO. §4.1.4 gedrukte p. 36 onderbouwt de afleiding, p. 37 het prijslezen, p. 38 TO minus TK. Deze p. 36–38 zijn in hoofdstuk 4.1, niet de hoofdstuklokale 22–24.</a:t>
            </a:r>
          </a:p>
          <a:p xmlns:a="http://schemas.openxmlformats.org/drawingml/2006/main">
            <a:r>
              <a:rPr sz="1400"/>
              <a:t/>
            </a:r>
          </a:p>
          <a:p xmlns:a="http://schemas.openxmlformats.org/drawingml/2006/main">
            <a:r>
              <a:rPr sz="1400"/>
              <a:t>Misvatting: Pas de afgeleide toe op TO, niet rechtstreeks op de vraagfunctie.</a:t>
            </a:r>
          </a:p>
          <a:p xmlns:a="http://schemas.openxmlformats.org/drawingml/2006/main">
            <a:r>
              <a:rPr sz="1400"/>
              <a:t/>
            </a:r>
          </a:p>
          <a:p xmlns:a="http://schemas.openxmlformats.org/drawingml/2006/main">
            <a:r>
              <a:rPr sz="1400"/>
              <a:t>Overgang: Kies de hoeveelheid met MO en MK.</a:t>
            </a:r>
          </a:p>
          <a:p xmlns:a="http://schemas.openxmlformats.org/drawingml/2006/main">
            <a:r>
              <a:rPr sz="1400"/>
              <a:t/>
            </a:r>
          </a:p>
          <a:p xmlns:a="http://schemas.openxmlformats.org/drawingml/2006/main">
            <a:r>
              <a:rPr sz="1400"/>
              <a:t>Bron: Boek 4, editie books34-v3, gedrukte pagina 36–38, 64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Eerdere methode: https://github.com/meijer1973/4veco-lessen/blob/e734532a42b27732ac25ce990fc9448b12309d28/edities/books34-v3/books/book-4/chapters/4.1/4.1.4%20manuscript.md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hoort bij het snijpunt?</a:t>
            </a:r>
          </a:p>
          <a:p xmlns:a="http://schemas.openxmlformats.org/drawingml/2006/main">
            <a:r>
              <a:rPr sz="1400"/>
              <a:t/>
            </a:r>
          </a:p>
          <a:p xmlns:a="http://schemas.openxmlformats.org/drawingml/2006/main">
            <a:r>
              <a:rPr sz="1400"/>
              <a:t>Uitleg: Winst neemt toe tot 12 en af daarna: bij 10 is MO 10 &gt; 6, bij 14 is MO 2 &lt; 6. Het horizontale bedrag 6 is MK en hier ook MO, nog niet de prijs. De volgende dia behoudt dezelfde assen.</a:t>
            </a:r>
          </a:p>
          <a:p xmlns:a="http://schemas.openxmlformats.org/drawingml/2006/main">
            <a:r>
              <a:rPr sz="1400"/>
              <a:t/>
            </a:r>
          </a:p>
          <a:p xmlns:a="http://schemas.openxmlformats.org/drawingml/2006/main">
            <a:r>
              <a:rPr sz="1400"/>
              <a:t>Misvatting: De hoogte van het snijpunt is geen verkoopprijs.</a:t>
            </a:r>
          </a:p>
          <a:p xmlns:a="http://schemas.openxmlformats.org/drawingml/2006/main">
            <a:r>
              <a:rPr sz="1400"/>
              <a:t/>
            </a:r>
          </a:p>
          <a:p xmlns:a="http://schemas.openxmlformats.org/drawingml/2006/main">
            <a:r>
              <a:rPr sz="1400"/>
              <a:t>Overgang: Voeg de vraaglijn toe en lees P bij dezelfde Q.</a:t>
            </a:r>
          </a:p>
          <a:p xmlns:a="http://schemas.openxmlformats.org/drawingml/2006/main">
            <a:r>
              <a:rPr sz="1400"/>
              <a:t/>
            </a:r>
          </a:p>
          <a:p xmlns:a="http://schemas.openxmlformats.org/drawingml/2006/main">
            <a:r>
              <a:rPr sz="1400"/>
              <a:t>Bron: Boek 4, editie books34-v3, gedrukte pagina 36, 64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de prijs af?</a:t>
            </a:r>
          </a:p>
          <a:p xmlns:a="http://schemas.openxmlformats.org/drawingml/2006/main">
            <a:r>
              <a:rPr sz="1400"/>
              <a:t/>
            </a:r>
          </a:p>
          <a:p xmlns:a="http://schemas.openxmlformats.org/drawingml/2006/main">
            <a:r>
              <a:rPr sz="1400"/>
              <a:t>Uitleg: Volg de verticale hulplijn bij 12 naar GO en daarna horizontaal naar P = 18. De prijs is hoger dan MO = MK = 6. Terugcontrole: 30 − 18 = 12. GO betekent gemiddelde opbrengst, hier dezelfde prijs per bezoek.</a:t>
            </a:r>
          </a:p>
          <a:p xmlns:a="http://schemas.openxmlformats.org/drawingml/2006/main">
            <a:r>
              <a:rPr sz="1400"/>
              <a:t/>
            </a:r>
          </a:p>
          <a:p xmlns:a="http://schemas.openxmlformats.org/drawingml/2006/main">
            <a:r>
              <a:rPr sz="1400"/>
              <a:t>Misvatting: Lees geen prijs op de MO-lijn.</a:t>
            </a:r>
          </a:p>
          <a:p xmlns:a="http://schemas.openxmlformats.org/drawingml/2006/main">
            <a:r>
              <a:rPr sz="1400"/>
              <a:t/>
            </a:r>
          </a:p>
          <a:p xmlns:a="http://schemas.openxmlformats.org/drawingml/2006/main">
            <a:r>
              <a:rPr sz="1400"/>
              <a:t>Overgang: Herhaal dezelfde methode voor B.</a:t>
            </a:r>
          </a:p>
          <a:p xmlns:a="http://schemas.openxmlformats.org/drawingml/2006/main">
            <a:r>
              <a:rPr sz="1400"/>
              <a:t/>
            </a:r>
          </a:p>
          <a:p xmlns:a="http://schemas.openxmlformats.org/drawingml/2006/main">
            <a:r>
              <a:rPr sz="1400"/>
              <a:t>Bron: Boek 4, editie books34-v3, gedrukte pagina 37, 64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groep B niet op een andere schaal?</a:t>
            </a:r>
          </a:p>
          <a:p xmlns:a="http://schemas.openxmlformats.org/drawingml/2006/main">
            <a:r>
              <a:rPr sz="1400"/>
              <a:t/>
            </a:r>
          </a:p>
          <a:p xmlns:a="http://schemas.openxmlformats.org/drawingml/2006/main">
            <a:r>
              <a:rPr sz="1400"/>
              <a:t>Uitleg: Bij B is Q 6 en P 12. MO is vóór 6 groter dan 6 en erna kleiner. Beide keuzes liggen in hun vraagdomein, samen binnen de capaciteit 48. De schaal is gelijk aan de vorige grafiek, ook al eindigt de vraag van B eerder.</a:t>
            </a:r>
          </a:p>
          <a:p xmlns:a="http://schemas.openxmlformats.org/drawingml/2006/main">
            <a:r>
              <a:rPr sz="1400"/>
              <a:t/>
            </a:r>
          </a:p>
          <a:p xmlns:a="http://schemas.openxmlformats.org/drawingml/2006/main">
            <a:r>
              <a:rPr sz="1400"/>
              <a:t>Misvatting: Het label van een klantgroep is geen bewijs van elasticiteit; de functies bepalen de rekenuitkomst.</a:t>
            </a:r>
          </a:p>
          <a:p xmlns:a="http://schemas.openxmlformats.org/drawingml/2006/main">
            <a:r>
              <a:rPr sz="1400"/>
              <a:t/>
            </a:r>
          </a:p>
          <a:p xmlns:a="http://schemas.openxmlformats.org/drawingml/2006/main">
            <a:r>
              <a:rPr sz="1400"/>
              <a:t>Overgang: Vergelijk de totale bedragen met de gegeven uniforme prijs.</a:t>
            </a:r>
          </a:p>
          <a:p xmlns:a="http://schemas.openxmlformats.org/drawingml/2006/main">
            <a:r>
              <a:rPr sz="1400"/>
              <a:t/>
            </a:r>
          </a:p>
          <a:p xmlns:a="http://schemas.openxmlformats.org/drawingml/2006/main">
            <a:r>
              <a:rPr sz="1400"/>
              <a:t>Bron: Boek 4, editie books34-v3, gedrukte pagina 64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zouden we dubbel tellen als we per groep de hele huur aftrekken?</a:t>
            </a:r>
          </a:p>
          <a:p xmlns:a="http://schemas.openxmlformats.org/drawingml/2006/main">
            <a:r>
              <a:rPr sz="1400"/>
              <a:t/>
            </a:r>
          </a:p>
          <a:p xmlns:a="http://schemas.openxmlformats.org/drawingml/2006/main">
            <a:r>
              <a:rPr sz="1400"/>
              <a:t>Uitleg: Reken de uniforme hoeveelheden uit de vraag terug. Tel de twee ontvangsten op voor TO. TVK is 6 maal de totale afzet, plus eenmaal TCK 36 geeft TK. Door dezelfde totale afzet zijn TK gelijk; dit hoeft in een andere case niet zo te zijn.</a:t>
            </a:r>
          </a:p>
          <a:p xmlns:a="http://schemas.openxmlformats.org/drawingml/2006/main">
            <a:r>
              <a:rPr sz="1400"/>
              <a:t/>
            </a:r>
          </a:p>
          <a:p xmlns:a="http://schemas.openxmlformats.org/drawingml/2006/main">
            <a:r>
              <a:rPr sz="1400"/>
              <a:t>Misvatting: TO − TCK vergeet variabele kosten. TO − TVK is PS, niet winst.</a:t>
            </a:r>
          </a:p>
          <a:p xmlns:a="http://schemas.openxmlformats.org/drawingml/2006/main">
            <a:r>
              <a:rPr sz="1400"/>
              <a:t/>
            </a:r>
          </a:p>
          <a:p xmlns:a="http://schemas.openxmlformats.org/drawingml/2006/main">
            <a:r>
              <a:rPr sz="1400"/>
              <a:t>Overgang: Bekijk de gevolgen voor de twee klantgroepen.</a:t>
            </a:r>
          </a:p>
          <a:p xmlns:a="http://schemas.openxmlformats.org/drawingml/2006/main">
            <a:r>
              <a:rPr sz="1400"/>
              <a:t/>
            </a:r>
          </a:p>
          <a:p xmlns:a="http://schemas.openxmlformats.org/drawingml/2006/main">
            <a:r>
              <a:rPr sz="1400"/>
              <a:t>Bron: Boek 4, editie books34-v3, gedrukte pagina 38, 64–65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wint en wie verliest als de tarieven veranderen?</a:t>
            </a:r>
          </a:p>
          <a:p xmlns:a="http://schemas.openxmlformats.org/drawingml/2006/main">
            <a:r>
              <a:rPr sz="1400"/>
              <a:t/>
            </a:r>
          </a:p>
          <a:p xmlns:a="http://schemas.openxmlformats.org/drawingml/2006/main">
            <a:r>
              <a:rPr sz="1400"/>
              <a:t>Uitleg: De driehoek ligt boven de prijs en onder de lineaire vraag tot de afzet. Bij A is de hoogte bij één prijs 30−15=15 en bij groepsprijzen 30−18=12. Bij B zijn de hoogtes 18−15=3 en 18−12=6. Totaal CS daalt met 27 euro. Benoem eerst elke groep, daarna de som.</a:t>
            </a:r>
          </a:p>
          <a:p xmlns:a="http://schemas.openxmlformats.org/drawingml/2006/main">
            <a:r>
              <a:rPr sz="1400"/>
              <a:t/>
            </a:r>
          </a:p>
          <a:p xmlns:a="http://schemas.openxmlformats.org/drawingml/2006/main">
            <a:r>
              <a:rPr sz="1400"/>
              <a:t>Misvatting: Korting voor B betekent niet dat alle klanten winnen.</a:t>
            </a:r>
          </a:p>
          <a:p xmlns:a="http://schemas.openxmlformats.org/drawingml/2006/main">
            <a:r>
              <a:rPr sz="1400"/>
              <a:t/>
            </a:r>
          </a:p>
          <a:p xmlns:a="http://schemas.openxmlformats.org/drawingml/2006/main">
            <a:r>
              <a:rPr sz="1400"/>
              <a:t>Overgang: Voeg het producentensurplus toe.</a:t>
            </a:r>
          </a:p>
          <a:p xmlns:a="http://schemas.openxmlformats.org/drawingml/2006/main">
            <a:r>
              <a:rPr sz="1400"/>
              <a:t/>
            </a:r>
          </a:p>
          <a:p xmlns:a="http://schemas.openxmlformats.org/drawingml/2006/main">
            <a:r>
              <a:rPr sz="1400"/>
              <a:t>Bron: Boek 4, editie books34-v3, gedrukte pagina 55, 65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vergelijken we ook TS?</a:t>
            </a:r>
          </a:p>
          <a:p xmlns:a="http://schemas.openxmlformats.org/drawingml/2006/main">
            <a:r>
              <a:rPr sz="1400"/>
              <a:t/>
            </a:r>
          </a:p>
          <a:p xmlns:a="http://schemas.openxmlformats.org/drawingml/2006/main">
            <a:r>
              <a:rPr sz="1400"/>
              <a:t>Uitleg: TVK is 108 in beide situaties. PS laat TCK buiten beschouwing; winst trekt 36 af. TS telt voordelen van kopers en aanbieder op. Hier blijft TCK gelijk en zijn er geen externe effecten, zodat ΔTS het verschil in gezamenlijk voordeel weergeeft. De afzet is gelijk maar minder A-bezoeken en meer B-bezoeken veranderen de waarde van de verkopen.</a:t>
            </a:r>
          </a:p>
          <a:p xmlns:a="http://schemas.openxmlformats.org/drawingml/2006/main">
            <a:r>
              <a:rPr sz="1400"/>
              <a:t/>
            </a:r>
          </a:p>
          <a:p xmlns:a="http://schemas.openxmlformats.org/drawingml/2006/main">
            <a:r>
              <a:rPr sz="1400"/>
              <a:t>Misvatting: Meer winst of dezelfde totale afzet garandeert geen hogere totale welvaart.</a:t>
            </a:r>
          </a:p>
          <a:p xmlns:a="http://schemas.openxmlformats.org/drawingml/2006/main">
            <a:r>
              <a:rPr sz="1400"/>
              <a:t/>
            </a:r>
          </a:p>
          <a:p xmlns:a="http://schemas.openxmlformats.org/drawingml/2006/main">
            <a:r>
              <a:rPr sz="1400"/>
              <a:t>Overgang: Controleer de redenering met één uitspraak.</a:t>
            </a:r>
          </a:p>
          <a:p xmlns:a="http://schemas.openxmlformats.org/drawingml/2006/main">
            <a:r>
              <a:rPr sz="1400"/>
              <a:t/>
            </a:r>
          </a:p>
          <a:p xmlns:a="http://schemas.openxmlformats.org/drawingml/2006/main">
            <a:r>
              <a:rPr sz="1400"/>
              <a:t>Bron: Boek 4, editie books34-v3, gedrukte pagina 55, 65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bedragen weerleggen de uitspraak?</a:t>
            </a:r>
          </a:p>
          <a:p xmlns:a="http://schemas.openxmlformats.org/drawingml/2006/main">
            <a:r>
              <a:rPr sz="1400"/>
              <a:t/>
            </a:r>
          </a:p>
          <a:p xmlns:a="http://schemas.openxmlformats.org/drawingml/2006/main">
            <a:r>
              <a:rPr sz="1400"/>
              <a:t>Uitleg: Laat leerlingen eerst zelf antwoorden, daarna kort hun bewijs noemen. Gebruik het aparte voorbeeld; dit voegt geen huiswerk toe.</a:t>
            </a:r>
          </a:p>
          <a:p xmlns:a="http://schemas.openxmlformats.org/drawingml/2006/main">
            <a:r>
              <a:rPr sz="1400"/>
              <a:t/>
            </a:r>
          </a:p>
          <a:p xmlns:a="http://schemas.openxmlformats.org/drawingml/2006/main">
            <a:r>
              <a:rPr sz="1400"/>
              <a:t>Misvatting: Een uitkomst in één case is geen algemene wet.</a:t>
            </a:r>
          </a:p>
          <a:p xmlns:a="http://schemas.openxmlformats.org/drawingml/2006/main">
            <a:r>
              <a:rPr sz="1400"/>
              <a:t/>
            </a:r>
          </a:p>
          <a:p xmlns:a="http://schemas.openxmlformats.org/drawingml/2006/main">
            <a:r>
              <a:rPr sz="1400"/>
              <a:t>Overgang: Bespreek na de reacties de twee bedragen.</a:t>
            </a:r>
          </a:p>
          <a:p xmlns:a="http://schemas.openxmlformats.org/drawingml/2006/main">
            <a:r>
              <a:rPr sz="1400"/>
              <a:t/>
            </a:r>
          </a:p>
          <a:p xmlns:a="http://schemas.openxmlformats.org/drawingml/2006/main">
            <a:r>
              <a:rPr sz="1400"/>
              <a:t>Bron: Boek 4, editie books34-v3, gedrukte pagina 65, 68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bedragen weerleggen de uitspraak?</a:t>
            </a:r>
          </a:p>
          <a:p xmlns:a="http://schemas.openxmlformats.org/drawingml/2006/main">
            <a:r>
              <a:rPr sz="1400"/>
              <a:t/>
            </a:r>
          </a:p>
          <a:p xmlns:a="http://schemas.openxmlformats.org/drawingml/2006/main">
            <a:r>
              <a:rPr sz="1400"/>
              <a:t>Uitleg: De uitspraak klopt niet: A verliest en het gezamenlijke surplus daalt. Het gaat om deze case; bereik van nieuwe kopers of andere kosten kan in een andere case een andere verandering geven.</a:t>
            </a:r>
          </a:p>
          <a:p xmlns:a="http://schemas.openxmlformats.org/drawingml/2006/main">
            <a:r>
              <a:rPr sz="1400"/>
              <a:t/>
            </a:r>
          </a:p>
          <a:p xmlns:a="http://schemas.openxmlformats.org/drawingml/2006/main">
            <a:r>
              <a:rPr sz="1400"/>
              <a:t>Misvatting: Een uitkomst in één case is geen algemene wet.</a:t>
            </a:r>
          </a:p>
          <a:p xmlns:a="http://schemas.openxmlformats.org/drawingml/2006/main">
            <a:r>
              <a:rPr sz="1400"/>
              <a:t/>
            </a:r>
          </a:p>
          <a:p xmlns:a="http://schemas.openxmlformats.org/drawingml/2006/main">
            <a:r>
              <a:rPr sz="1400"/>
              <a:t>Overgang: Keer terug naar start 11 en begin bij basis 12 en 13.</a:t>
            </a:r>
          </a:p>
          <a:p xmlns:a="http://schemas.openxmlformats.org/drawingml/2006/main">
            <a:r>
              <a:rPr sz="1400"/>
              <a:t/>
            </a:r>
          </a:p>
          <a:p xmlns:a="http://schemas.openxmlformats.org/drawingml/2006/main">
            <a:r>
              <a:rPr sz="1400"/>
              <a:t>Bron: Boek 4, editie books34-v3, gedrukte pagina 65, 68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Uitlegvoorbeeld — niet uit het boek. Speelatelier en alle bijbehorende getallen zijn afzonderlijk voor deze les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heb je de theorie nodig?</a:t>
            </a:r>
          </a:p>
          <a:p xmlns:a="http://schemas.openxmlformats.org/drawingml/2006/main">
            <a:r>
              <a:rPr sz="1400"/>
              <a:t/>
            </a:r>
          </a:p>
          <a:p xmlns:a="http://schemas.openxmlformats.org/drawingml/2006/main">
            <a:r>
              <a:rPr sz="1400"/>
              <a:t>Uitleg: Laat deze dia staan tijdens zelfstandig werken. Start 10–11 op p. 66, basis 12 op p. 66 en 13 op p. 67, zelfstandig 14 op p. 67 en 15 op p. 68, doel 16 op p. 69. Huiswerk: 12, 13, 14, 15 en 16 maken en nakijken. Bonus 17 en herhaling 18 zijn extra. Start 10 haalt TO, TK en winst uit §4.1.4 p. 38 op. Nieuw is twee omzetbedragen optellen bij één bedrijf: laat de formule op p. 64 gebruiken, zoals zichtbaar op het overzicht. Geef zo nodig de steun ‘tel ontvangsten op, tel alle bezoeken op, gebruik de gezamenlijke huur één keer’. Start 11 is verkennen: lees eerst definitie, voorwaarden en waarschuwing op p. 63. Leerlingen wijzen hun bewijs aan en noteren twijfel; dit is geen toets van al beheerste leerstof. Bij terugkeer vóór het basiswerk: laat de samenvoeging van 10 toelichten en laat 11 opnieuw proberen en leg uit waarom het product en kostenverschil tellen. Reserveer volgens de docentenhandleiding voorlopig twee lessen; geen gemeten tijdsfit. Rond zo nodig later af zonder basiswerk te schrappen.</a:t>
            </a:r>
          </a:p>
          <a:p xmlns:a="http://schemas.openxmlformats.org/drawingml/2006/main">
            <a:r>
              <a:rPr sz="1400"/>
              <a:t/>
            </a:r>
          </a:p>
          <a:p xmlns:a="http://schemas.openxmlformats.org/drawingml/2006/main">
            <a:r>
              <a:rPr sz="1400"/>
              <a:t>Misvatting: Een andere prijs alleen bewijst geen prijsdiscriminatie.</a:t>
            </a:r>
          </a:p>
          <a:p xmlns:a="http://schemas.openxmlformats.org/drawingml/2006/main">
            <a:r>
              <a:rPr sz="1400"/>
              <a:t/>
            </a:r>
          </a:p>
          <a:p xmlns:a="http://schemas.openxmlformats.org/drawingml/2006/main">
            <a:r>
              <a:rPr sz="1400"/>
              <a:t>Overgang: Ga door naar de volgende lesfase.</a:t>
            </a:r>
          </a:p>
          <a:p xmlns:a="http://schemas.openxmlformats.org/drawingml/2006/main">
            <a:r>
              <a:rPr sz="1400"/>
              <a:t/>
            </a:r>
          </a:p>
          <a:p xmlns:a="http://schemas.openxmlformats.org/drawingml/2006/main">
            <a:r>
              <a:rPr sz="1400"/>
              <a:t>Bron: Boek 4, editie books34-v3, gedrukte pagina 63–69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Docentenroute: https://github.com/meijer1973/4veco-lessen/blob/e734532a42b27732ac25ce990fc9448b12309d28/edities/books34-v3/books/book-4/chapters/4.2/Docenteninformatie.md. Eerdere methode: https://github.com/meijer1973/4veco-lessen/blob/e734532a42b27732ac25ce990fc9448b12309d28/edities/books34-v3/books/book-4/chapters/4.1/4.1.4%20manuscript.md, gedrukte p. 38. Startantwoorden voor feedback na de poging: 10a TO 520, TK 240, winst 280 euro per week; 10b gezamenlijke vaste kosten eenmaal. 11a situatie A; bij B verandert de rit en bij C de hoeveelheid opslag.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gelden voor beide groepen samen?</a:t>
            </a:r>
          </a:p>
          <a:p xmlns:a="http://schemas.openxmlformats.org/drawingml/2006/main">
            <a:r>
              <a:rPr sz="1400"/>
              <a:t/>
            </a:r>
          </a:p>
          <a:p xmlns:a="http://schemas.openxmlformats.org/drawingml/2006/main">
            <a:r>
              <a:rPr sz="1400"/>
              <a:t>Uitleg: Toon de echte doelopgave pas na de oefenfase. Dit is de volledige context van bron A, in tabelvorm. Geef nog geen uitkomsten. MK blijft voor alle bezoeken 8, TCK is gezamenlijk en capaciteit 64.</a:t>
            </a:r>
          </a:p>
          <a:p xmlns:a="http://schemas.openxmlformats.org/drawingml/2006/main">
            <a:r>
              <a:rPr sz="1400"/>
              <a:t/>
            </a:r>
          </a:p>
          <a:p xmlns:a="http://schemas.openxmlformats.org/drawingml/2006/main">
            <a:r>
              <a:rPr sz="1400"/>
              <a:t>Misvatting: Dezelfde aanbieder betekent niet dat de groepen dezelfde vraag hebben.</a:t>
            </a:r>
          </a:p>
          <a:p xmlns:a="http://schemas.openxmlformats.org/drawingml/2006/main">
            <a:r>
              <a:rPr sz="1400"/>
              <a:t/>
            </a:r>
          </a:p>
          <a:p xmlns:a="http://schemas.openxmlformats.org/drawingml/2006/main">
            <a:r>
              <a:rPr sz="1400"/>
              <a:t>Overgang: Toon bron B voordat de vragen worden besproken.</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surplus hoef je voor vraag d niet opnieuw af te leiden?</a:t>
            </a:r>
          </a:p>
          <a:p xmlns:a="http://schemas.openxmlformats.org/drawingml/2006/main">
            <a:r>
              <a:rPr sz="1400"/>
              <a:t/>
            </a:r>
          </a:p>
          <a:p xmlns:a="http://schemas.openxmlformats.org/drawingml/2006/main">
            <a:r>
              <a:rPr sz="1400"/>
              <a:t>Uitleg: Alle bedragen op deze dia zijn gegeven in bron B; het totale CS is hier dus geen prijsgegeven antwoord. Onderstreep dat de uniforme prijs gegeven is. De groepsprijzen moeten wel berekend worden.</a:t>
            </a:r>
          </a:p>
          <a:p xmlns:a="http://schemas.openxmlformats.org/drawingml/2006/main">
            <a:r>
              <a:rPr sz="1400"/>
              <a:t/>
            </a:r>
          </a:p>
          <a:p xmlns:a="http://schemas.openxmlformats.org/drawingml/2006/main">
            <a:r>
              <a:rPr sz="1400"/>
              <a:t>Misvatting: De € 208 in bron B is CS, niet een opgegeven winst.</a:t>
            </a:r>
          </a:p>
          <a:p xmlns:a="http://schemas.openxmlformats.org/drawingml/2006/main">
            <a:r>
              <a:rPr sz="1400"/>
              <a:t/>
            </a:r>
          </a:p>
          <a:p xmlns:a="http://schemas.openxmlformats.org/drawingml/2006/main">
            <a:r>
              <a:rPr sz="1400"/>
              <a:t>Overgang: Laat ook de oningevulde bronfiguur zien.</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komt straks de verkoopprijs?</a:t>
            </a:r>
          </a:p>
          <a:p xmlns:a="http://schemas.openxmlformats.org/drawingml/2006/main">
            <a:r>
              <a:rPr sz="1400"/>
              <a:t/>
            </a:r>
          </a:p>
          <a:p xmlns:a="http://schemas.openxmlformats.org/drawingml/2006/main">
            <a:r>
              <a:rPr sz="1400"/>
              <a:t>Uitleg: Dit zijn de twee grafieken uit figuur 10, opnieuw opgebouwd als bewerkbare XY-grafieken. Functies, domeinen en gelijke schaal zijn behouden. GO is de vraaglijn. Er staan nog geen optimale hoeveelheden of prijsmarkeringen.</a:t>
            </a:r>
          </a:p>
          <a:p xmlns:a="http://schemas.openxmlformats.org/drawingml/2006/main">
            <a:r>
              <a:rPr sz="1400"/>
              <a:t/>
            </a:r>
          </a:p>
          <a:p xmlns:a="http://schemas.openxmlformats.org/drawingml/2006/main">
            <a:r>
              <a:rPr sz="1400"/>
              <a:t>Misvatting: De MO/MK-kruising levert niet de prijs.</a:t>
            </a:r>
          </a:p>
          <a:p xmlns:a="http://schemas.openxmlformats.org/drawingml/2006/main">
            <a:r>
              <a:rPr sz="1400"/>
              <a:t/>
            </a:r>
          </a:p>
          <a:p xmlns:a="http://schemas.openxmlformats.org/drawingml/2006/main">
            <a:r>
              <a:rPr sz="1400"/>
              <a:t>Overgang: Toon eerst alle vijf deelvragen, zonder antwoorden.</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Bronfiguur: https://github.com/meijer1973/4veco-lessen/blob/e734532a42b27732ac25ce990fc9448b12309d28/edities/books34-v3/books/book-4/chapters/4.2/_assets/422_target.svg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tussenstappen vraagt a voordat je een prijs kunt geven?</a:t>
            </a:r>
          </a:p>
          <a:p xmlns:a="http://schemas.openxmlformats.org/drawingml/2006/main">
            <a:r>
              <a:rPr sz="1400"/>
              <a:t/>
            </a:r>
          </a:p>
          <a:p xmlns:a="http://schemas.openxmlformats.org/drawingml/2006/main">
            <a:r>
              <a:rPr sz="1400"/>
              <a:t>Uitleg: Lees de volledige vragen a–c zonder uitwerkingen. Leerlingen gebruiken beide bronnen en houden hun eigen werk erbij. De volgorde van de opdracht blijft behouden.</a:t>
            </a:r>
          </a:p>
          <a:p xmlns:a="http://schemas.openxmlformats.org/drawingml/2006/main">
            <a:r>
              <a:rPr sz="1400"/>
              <a:t/>
            </a:r>
          </a:p>
          <a:p xmlns:a="http://schemas.openxmlformats.org/drawingml/2006/main">
            <a:r>
              <a:rPr sz="1400"/>
              <a:t>Misvatting: Alleen Q en P zonder MO is niet de volledige vraag.</a:t>
            </a:r>
          </a:p>
          <a:p xmlns:a="http://schemas.openxmlformats.org/drawingml/2006/main">
            <a:r>
              <a:rPr sz="1400"/>
              <a:t/>
            </a:r>
          </a:p>
          <a:p xmlns:a="http://schemas.openxmlformats.org/drawingml/2006/main">
            <a:r>
              <a:rPr sz="1400"/>
              <a:t>Overgang: Toon ook d en e voordat je antwoorden onthult.</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berekenen om over totale welvaart te oordelen?</a:t>
            </a:r>
          </a:p>
          <a:p xmlns:a="http://schemas.openxmlformats.org/drawingml/2006/main">
            <a:r>
              <a:rPr sz="1400"/>
              <a:t/>
            </a:r>
          </a:p>
          <a:p xmlns:a="http://schemas.openxmlformats.org/drawingml/2006/main">
            <a:r>
              <a:rPr sz="1400"/>
              <a:t>Uitleg: Nu zijn alle vijf deelvragen en beide bronnen getoond zonder oplossingen. Geef leerlingen gelegenheid hun vergelijking af te maken. Begin de bespreking daarna bij a.</a:t>
            </a:r>
          </a:p>
          <a:p xmlns:a="http://schemas.openxmlformats.org/drawingml/2006/main">
            <a:r>
              <a:rPr sz="1400"/>
              <a:t/>
            </a:r>
          </a:p>
          <a:p xmlns:a="http://schemas.openxmlformats.org/drawingml/2006/main">
            <a:r>
              <a:rPr sz="1400"/>
              <a:t>Misvatting: De richting van de winst is geen antwoord op d.</a:t>
            </a:r>
          </a:p>
          <a:p xmlns:a="http://schemas.openxmlformats.org/drawingml/2006/main">
            <a:r>
              <a:rPr sz="1400"/>
              <a:t/>
            </a:r>
          </a:p>
          <a:p xmlns:a="http://schemas.openxmlformats.org/drawingml/2006/main">
            <a:r>
              <a:rPr sz="1400"/>
              <a:t>Overgang: Start de uitwerking met groep A.</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vul je 16 daarna nog in de vraag in?</a:t>
            </a:r>
          </a:p>
          <a:p xmlns:a="http://schemas.openxmlformats.org/drawingml/2006/main">
            <a:r>
              <a:rPr sz="1400"/>
              <a:t/>
            </a:r>
          </a:p>
          <a:p xmlns:a="http://schemas.openxmlformats.org/drawingml/2006/main">
            <a:r>
              <a:rPr sz="1400"/>
              <a:t>Uitleg: Stel TO op en leid MO af. Los MO = 8 op, daarna P op GO. Bij Q 15 is MO 10 &gt; 8, bij 17 is MO 6 &lt; 8. De winst stijgt eerst en daalt daarna. Q 16 ligt in 0–40. De grafische hulplijnen gebruiken dezelfde exacte waarden.</a:t>
            </a:r>
          </a:p>
          <a:p xmlns:a="http://schemas.openxmlformats.org/drawingml/2006/main">
            <a:r>
              <a:rPr sz="1400"/>
              <a:t/>
            </a:r>
          </a:p>
          <a:p xmlns:a="http://schemas.openxmlformats.org/drawingml/2006/main">
            <a:r>
              <a:rPr sz="1400"/>
              <a:t>Misvatting: € 8 is MO = MK, geen groepsprijs.</a:t>
            </a:r>
          </a:p>
          <a:p xmlns:a="http://schemas.openxmlformats.org/drawingml/2006/main">
            <a:r>
              <a:rPr sz="1400"/>
              <a:t/>
            </a:r>
          </a:p>
          <a:p xmlns:a="http://schemas.openxmlformats.org/drawingml/2006/main">
            <a:r>
              <a:rPr sz="1400"/>
              <a:t>Overgang: Voer dezelfde stappen uit bij B.</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kun je pas na beide groepen afronden?</a:t>
            </a:r>
          </a:p>
          <a:p xmlns:a="http://schemas.openxmlformats.org/drawingml/2006/main">
            <a:r>
              <a:rPr sz="1400"/>
              <a:t/>
            </a:r>
          </a:p>
          <a:p xmlns:a="http://schemas.openxmlformats.org/drawingml/2006/main">
            <a:r>
              <a:rPr sz="1400"/>
              <a:t>Uitleg: Voor B ligt Q 8 in 0–24. Bij 7 is MO 10 &gt; 8, bij 9 is MO 6 &lt; 8. Beide marginale lijnen dalen door MK. Gezamenlijke afzet 24 past binnen 64. Gelijke constante MK en niet-bindende capaciteit maken de afzonderlijke keuzes uitvoerbaar.</a:t>
            </a:r>
          </a:p>
          <a:p xmlns:a="http://schemas.openxmlformats.org/drawingml/2006/main">
            <a:r>
              <a:rPr sz="1400"/>
              <a:t/>
            </a:r>
          </a:p>
          <a:p xmlns:a="http://schemas.openxmlformats.org/drawingml/2006/main">
            <a:r>
              <a:rPr sz="1400"/>
              <a:t>Misvatting: Controleer niet alleen twee losse hoeveelheden, maar ook de gezamenlijke capaciteit.</a:t>
            </a:r>
          </a:p>
          <a:p xmlns:a="http://schemas.openxmlformats.org/drawingml/2006/main">
            <a:r>
              <a:rPr sz="1400"/>
              <a:t/>
            </a:r>
          </a:p>
          <a:p xmlns:a="http://schemas.openxmlformats.org/drawingml/2006/main">
            <a:r>
              <a:rPr sz="1400"/>
              <a:t>Overgang: Vergelijk nu omzet, totale kosten en winst.</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kostenpost hoort maar één keer in TK?</a:t>
            </a:r>
          </a:p>
          <a:p xmlns:a="http://schemas.openxmlformats.org/drawingml/2006/main">
            <a:r>
              <a:rPr sz="1400"/>
              <a:t/>
            </a:r>
          </a:p>
          <a:p xmlns:a="http://schemas.openxmlformats.org/drawingml/2006/main">
            <a:r>
              <a:rPr sz="1400"/>
              <a:t>Uitleg: Groepsomzet A 384 plus B 128 geeft 512. TVK zijn 8 × 24 = 192 en TCK is eenmaal 80. TK is 272. De winst stijgt 32, gelijk aan ΔTO omdat de totale afzet en kosten hier gelijk blijven.</a:t>
            </a:r>
          </a:p>
          <a:p xmlns:a="http://schemas.openxmlformats.org/drawingml/2006/main">
            <a:r>
              <a:rPr sz="1400"/>
              <a:t/>
            </a:r>
          </a:p>
          <a:p xmlns:a="http://schemas.openxmlformats.org/drawingml/2006/main">
            <a:r>
              <a:rPr sz="1400"/>
              <a:t>Misvatting: De 208 winst hier is toevallig gelijk aan het gegeven CS bij één prijs; het zijn verschillende grootheden.</a:t>
            </a:r>
          </a:p>
          <a:p xmlns:a="http://schemas.openxmlformats.org/drawingml/2006/main">
            <a:r>
              <a:rPr sz="1400"/>
              <a:t/>
            </a:r>
          </a:p>
          <a:p xmlns:a="http://schemas.openxmlformats.org/drawingml/2006/main">
            <a:r>
              <a:rPr sz="1400"/>
              <a:t>Overgang: Vergelijk wie welk tarief betaalt.</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zou gebeuren als een bezoeker van A eenvoudig een goedkope pas kon gebruiken?</a:t>
            </a:r>
          </a:p>
          <a:p xmlns:a="http://schemas.openxmlformats.org/drawingml/2006/main">
            <a:r>
              <a:rPr sz="1400"/>
              <a:t/>
            </a:r>
          </a:p>
          <a:p xmlns:a="http://schemas.openxmlformats.org/drawingml/2006/main">
            <a:r>
              <a:rPr sz="1400"/>
              <a:t>Uitleg: A betaalt meer en koopt minder, B betaalt minder en koopt meer. Eén noodzakelijke voorwaarde volstaat in c. Naast persoonlijke passen noemt bron A marktmacht; een goed verbonden formulering is toegestaan.</a:t>
            </a:r>
          </a:p>
          <a:p xmlns:a="http://schemas.openxmlformats.org/drawingml/2006/main">
            <a:r>
              <a:rPr sz="1400"/>
              <a:t/>
            </a:r>
          </a:p>
          <a:p xmlns:a="http://schemas.openxmlformats.org/drawingml/2006/main">
            <a:r>
              <a:rPr sz="1400"/>
              <a:t>Misvatting: De hogere prijs is geen bewijs op basis van een groepsetiket: de bronfuncties dragen de keuze.</a:t>
            </a:r>
          </a:p>
          <a:p xmlns:a="http://schemas.openxmlformats.org/drawingml/2006/main">
            <a:r>
              <a:rPr sz="1400"/>
              <a:t/>
            </a:r>
          </a:p>
          <a:p xmlns:a="http://schemas.openxmlformats.org/drawingml/2006/main">
            <a:r>
              <a:rPr sz="1400"/>
              <a:t>Overgang: Houd producentensurplus en winst apart.</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trekken we bij PS geen 80 af?</a:t>
            </a:r>
          </a:p>
          <a:p xmlns:a="http://schemas.openxmlformats.org/drawingml/2006/main">
            <a:r>
              <a:rPr sz="1400"/>
              <a:t/>
            </a:r>
          </a:p>
          <a:p xmlns:a="http://schemas.openxmlformats.org/drawingml/2006/main">
            <a:r>
              <a:rPr sz="1400"/>
              <a:t>Uitleg: Producentensurplus is opbrengst boven variabele kosten. Bij constante MK kan PS ook als Q maal het prijs-kostenverschil per groep worden berekend: één prijs 24×12=288, twee prijzen 16×16 + 8×8=320. Controleer door 80 af te trekken; dat geeft de eerder berekende winsten.</a:t>
            </a:r>
          </a:p>
          <a:p xmlns:a="http://schemas.openxmlformats.org/drawingml/2006/main">
            <a:r>
              <a:rPr sz="1400"/>
              <a:t/>
            </a:r>
          </a:p>
          <a:p xmlns:a="http://schemas.openxmlformats.org/drawingml/2006/main">
            <a:r>
              <a:rPr sz="1400"/>
              <a:t>Misvatting: PS verwarren met winst maakt de niveauvergelijking van TS fout.</a:t>
            </a:r>
          </a:p>
          <a:p xmlns:a="http://schemas.openxmlformats.org/drawingml/2006/main">
            <a:r>
              <a:rPr sz="1400"/>
              <a:t/>
            </a:r>
          </a:p>
          <a:p xmlns:a="http://schemas.openxmlformats.org/drawingml/2006/main">
            <a:r>
              <a:rPr sz="1400"/>
              <a:t>Overgang: Tel de gegeven consumentensurplussen uit bron B erbij op.</a:t>
            </a:r>
          </a:p>
          <a:p xmlns:a="http://schemas.openxmlformats.org/drawingml/2006/main">
            <a:r>
              <a:rPr sz="1400"/>
              <a:t/>
            </a:r>
          </a:p>
          <a:p xmlns:a="http://schemas.openxmlformats.org/drawingml/2006/main">
            <a:r>
              <a:rPr sz="1400"/>
              <a:t>Bron: Boek 4, editie books34-v3, gedrukte pagina 55,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verlies is groter dan de winst van de aanbieder?</a:t>
            </a:r>
          </a:p>
          <a:p xmlns:a="http://schemas.openxmlformats.org/drawingml/2006/main">
            <a:r>
              <a:rPr sz="1400"/>
              <a:t/>
            </a:r>
          </a:p>
          <a:p xmlns:a="http://schemas.openxmlformats.org/drawingml/2006/main">
            <a:r>
              <a:rPr sz="1400"/>
              <a:t>Uitleg: Controle met veranderingen: ΔCS = −48, ΔPS = +32, samen ΔTS = −16 euro per week. Vraag en kosten blijven gelijk, er zijn geen externe effecten en TCK blijft 80. Dus de hogere winst gaat hier samen met een lager totaal surplus. Hoewel totale afzet 24 blijft, verandert de verdeling van bezoeken.</a:t>
            </a:r>
          </a:p>
          <a:p xmlns:a="http://schemas.openxmlformats.org/drawingml/2006/main">
            <a:r>
              <a:rPr sz="1400"/>
              <a:t/>
            </a:r>
          </a:p>
          <a:p xmlns:a="http://schemas.openxmlformats.org/drawingml/2006/main">
            <a:r>
              <a:rPr sz="1400"/>
              <a:t>Misvatting: Gelijke totale afzet betekent niet dat dezelfde bezoeken bij dezelfde betalingsbereidheid plaatsvinden.</a:t>
            </a:r>
          </a:p>
          <a:p xmlns:a="http://schemas.openxmlformats.org/drawingml/2006/main">
            <a:r>
              <a:rPr sz="1400"/>
              <a:t/>
            </a:r>
          </a:p>
          <a:p xmlns:a="http://schemas.openxmlformats.org/drawingml/2006/main">
            <a:r>
              <a:rPr sz="1400"/>
              <a:t>Overgang: Begrens de conclusie tot de gegevens.</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informatie heb je nodig voor een andere case?</a:t>
            </a:r>
          </a:p>
          <a:p xmlns:a="http://schemas.openxmlformats.org/drawingml/2006/main">
            <a:r>
              <a:rPr sz="1400"/>
              <a:t/>
            </a:r>
          </a:p>
          <a:p xmlns:a="http://schemas.openxmlformats.org/drawingml/2006/main">
            <a:r>
              <a:rPr sz="1400"/>
              <a:t>Uitleg: De berekening bewijst geen algemene richting. Andere vraagverhoudingen, kosten en bereik van kopers kunnen TS anders veranderen. Extra kopers zijn een mogelijk mechanisme, geen bewezen uitkomst zonder data. Laat leerlingen hun antwoord in drie zinnen controleren: bedrijfsresultaat, verdeling, beperkte welvaartsconclusie.</a:t>
            </a:r>
          </a:p>
          <a:p xmlns:a="http://schemas.openxmlformats.org/drawingml/2006/main">
            <a:r>
              <a:rPr sz="1400"/>
              <a:t/>
            </a:r>
          </a:p>
          <a:p xmlns:a="http://schemas.openxmlformats.org/drawingml/2006/main">
            <a:r>
              <a:rPr sz="1400"/>
              <a:t>Misvatting: Zeg niet dat prijsdiscriminatie altijd welvaart verlaagt of altijd verhoogt.</a:t>
            </a:r>
          </a:p>
          <a:p xmlns:a="http://schemas.openxmlformats.org/drawingml/2006/main">
            <a:r>
              <a:rPr sz="1400"/>
              <a:t/>
            </a:r>
          </a:p>
          <a:p xmlns:a="http://schemas.openxmlformats.org/drawingml/2006/main">
            <a:r>
              <a:rPr sz="1400"/>
              <a:t>Overgang: Laat het overzicht staan voor afsluiting en huiswerk.</a:t>
            </a:r>
          </a:p>
          <a:p xmlns:a="http://schemas.openxmlformats.org/drawingml/2006/main">
            <a:r>
              <a:rPr sz="1400"/>
              <a:t/>
            </a:r>
          </a:p>
          <a:p xmlns:a="http://schemas.openxmlformats.org/drawingml/2006/main">
            <a:r>
              <a:rPr sz="1400"/>
              <a:t>Bron: Boek 4, editie books34-v3, gedrukte pagina 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heb je de theorie nodig?</a:t>
            </a:r>
          </a:p>
          <a:p xmlns:a="http://schemas.openxmlformats.org/drawingml/2006/main">
            <a:r>
              <a:rPr sz="1400"/>
              <a:t/>
            </a:r>
          </a:p>
          <a:p xmlns:a="http://schemas.openxmlformats.org/drawingml/2006/main">
            <a:r>
              <a:rPr sz="1400"/>
              <a:t>Uitleg: Laat deze dia staan tijdens afsluiting / huiswerk. Start 10–11 op p. 66, basis 12 op p. 66 en 13 op p. 67, zelfstandig 14 op p. 67 en 15 op p. 68, doel 16 op p. 69. Huiswerk: 12, 13, 14, 15 en 16 maken en nakijken. Bonus 17 en herhaling 18 zijn extra. Start 10 haalt TO, TK en winst uit §4.1.4 p. 38 op. Nieuw is twee omzetbedragen optellen bij één bedrijf: laat de formule op p. 64 gebruiken, zoals zichtbaar op het overzicht. Geef zo nodig de steun ‘tel ontvangsten op, tel alle bezoeken op, gebruik de gezamenlijke huur één keer’. Start 11 is verkennen: lees eerst definitie, voorwaarden en waarschuwing op p. 63. Leerlingen wijzen hun bewijs aan en noteren twijfel; dit is geen toets van al beheerste leerstof. Bij terugkeer vóór het basiswerk: laat de samenvoeging van 10 toelichten en laat 11 opnieuw proberen en leg uit waarom het product en kostenverschil tellen. Reserveer volgens de docentenhandleiding voorlopig twee lessen; geen gemeten tijdsfit. Rond zo nodig later af zonder basiswerk te schrappen.</a:t>
            </a:r>
          </a:p>
          <a:p xmlns:a="http://schemas.openxmlformats.org/drawingml/2006/main">
            <a:r>
              <a:rPr sz="1400"/>
              <a:t/>
            </a:r>
          </a:p>
          <a:p xmlns:a="http://schemas.openxmlformats.org/drawingml/2006/main">
            <a:r>
              <a:rPr sz="1400"/>
              <a:t>Misvatting: Een andere prijs alleen bewijst geen prijsdiscriminatie.</a:t>
            </a:r>
          </a:p>
          <a:p xmlns:a="http://schemas.openxmlformats.org/drawingml/2006/main">
            <a:r>
              <a:rPr sz="1400"/>
              <a:t/>
            </a:r>
          </a:p>
          <a:p xmlns:a="http://schemas.openxmlformats.org/drawingml/2006/main">
            <a:r>
              <a:rPr sz="1400"/>
              <a:t>Overgang: Laat het huiswerk noteren en inventariseer vragen.</a:t>
            </a:r>
          </a:p>
          <a:p xmlns:a="http://schemas.openxmlformats.org/drawingml/2006/main">
            <a:r>
              <a:rPr sz="1400"/>
              <a:t/>
            </a:r>
          </a:p>
          <a:p xmlns:a="http://schemas.openxmlformats.org/drawingml/2006/main">
            <a:r>
              <a:rPr sz="1400"/>
              <a:t>Bron: Boek 4, editie books34-v3, gedrukte pagina 63–69 in het complete leerlingenboek. https://github.com/meijer1973/4veco-lessen/blob/e734532a42b27732ac25ce990fc9448b12309d28/edities/books34-v3/books/book-4/output/Boek_4_Compleet_v3.pdf</a:t>
            </a:r>
          </a:p>
          <a:p xmlns:a="http://schemas.openxmlformats.org/drawingml/2006/main">
            <a:r>
              <a:rPr sz="1400"/>
              <a:t>Methode en opdrachten: https://github.com/meijer1973/4veco-lessen/blob/e734532a42b27732ac25ce990fc9448b12309d28/edities/books34-v3/books/book-4/chapters/4.2/4.2.2%20manuscript.md</a:t>
            </a:r>
          </a:p>
          <a:p xmlns:a="http://schemas.openxmlformats.org/drawingml/2006/main">
            <a:r>
              <a:rPr sz="1400"/>
              <a:t>Antwoordmodel: https://github.com/meijer1973/4veco-lessen/blob/e734532a42b27732ac25ce990fc9448b12309d28/edities/books34-v3/books/book-4/chapters/4.2/Antwoorden.md#antwoord16</a:t>
            </a:r>
          </a:p>
          <a:p xmlns:a="http://schemas.openxmlformats.org/drawingml/2006/main">
            <a:r>
              <a:rPr sz="1400"/>
              <a:t/>
            </a:r>
          </a:p>
          <a:p xmlns:a="http://schemas.openxmlformats.org/drawingml/2006/main">
            <a:r>
              <a:rPr sz="1400"/>
              <a:t>Docentenroute: https://github.com/meijer1973/4veco-lessen/blob/e734532a42b27732ac25ce990fc9448b12309d28/edities/books34-v3/books/book-4/chapters/4.2/Docenteninformatie.md. Eerdere methode: https://github.com/meijer1973/4veco-lessen/blob/e734532a42b27732ac25ce990fc9448b12309d28/edities/books34-v3/books/book-4/chapters/4.1/4.1.4%20manuscript.md, gedrukte p. 38. Startantwoorden voor feedback na de poging: 10a TO 520, TK 240, winst 280 euro per week; 10b gezamenlijke vaste kosten eenmaal. 11a situatie A; bij B verandert de rit en bij C de hoeveelheid opslag.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99bee719884a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24e67b14f74976" /><Relationship Type="http://schemas.openxmlformats.org/officeDocument/2006/relationships/slideLayout" Target="/ppt/slideLayouts/slideLayout1.xml" Id="R5890700ebf134c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90700ebf134c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dea07b95ad4436" /><Relationship Type="http://schemas.openxmlformats.org/officeDocument/2006/relationships/notesSlide" Target="/ppt/notesSlides/notesSlide1.xml" Id="Re1dd00038feb4e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053ad79c254615" /><Relationship Type="http://schemas.openxmlformats.org/officeDocument/2006/relationships/notesSlide" Target="/ppt/notesSlides/notesSlide2.xml" Id="R21200cd35b054a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084325736a4d42" /><Relationship Type="http://schemas.openxmlformats.org/officeDocument/2006/relationships/notesSlide" Target="/ppt/notesSlides/notesSlide3.xml" Id="Rec502abc74b749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09bd6defb34e08" /><Relationship Type="http://schemas.openxmlformats.org/officeDocument/2006/relationships/notesSlide" Target="/ppt/notesSlides/notesSlide4.xml" Id="Rad99fbc3d54445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2b027990fe413f" /><Relationship Type="http://schemas.openxmlformats.org/officeDocument/2006/relationships/notesSlide" Target="/ppt/notesSlides/notesSlide5.xml" Id="Rbe27c5875c234c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267fac7e734ba4" /><Relationship Type="http://schemas.openxmlformats.org/officeDocument/2006/relationships/chart" Target="/ppt/slides/charts/chart1.xml" Id="R68b7c328e2db48b4" /><Relationship Type="http://schemas.openxmlformats.org/officeDocument/2006/relationships/notesSlide" Target="/ppt/notesSlides/notesSlide6.xml" Id="Rf1bf3ffa005a4a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7a0841ed56431e" /><Relationship Type="http://schemas.openxmlformats.org/officeDocument/2006/relationships/chart" Target="/ppt/slides/charts/chart2.xml" Id="Ra058d158765044c0" /><Relationship Type="http://schemas.openxmlformats.org/officeDocument/2006/relationships/notesSlide" Target="/ppt/notesSlides/notesSlide7.xml" Id="Rdbfa88795fff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e8b20fff3c49cc" /><Relationship Type="http://schemas.openxmlformats.org/officeDocument/2006/relationships/chart" Target="/ppt/slides/charts/chart3.xml" Id="R46f8e4cdee2f4086" /><Relationship Type="http://schemas.openxmlformats.org/officeDocument/2006/relationships/notesSlide" Target="/ppt/notesSlides/notesSlide8.xml" Id="Rcd9b2c22ff8c47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9182c2462d4054" /><Relationship Type="http://schemas.openxmlformats.org/officeDocument/2006/relationships/notesSlide" Target="/ppt/notesSlides/notesSlide9.xml" Id="Re6ee8df9b2124c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d94714ae824cf9" /><Relationship Type="http://schemas.openxmlformats.org/officeDocument/2006/relationships/notesSlide" Target="/ppt/notesSlides/notesSlide10.xml" Id="R23368c6cad964c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19f43225944a5f" /><Relationship Type="http://schemas.openxmlformats.org/officeDocument/2006/relationships/notesSlide" Target="/ppt/notesSlides/notesSlide11.xml" Id="Rf19f68ae33b848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b79364c19744667" /><Relationship Type="http://schemas.openxmlformats.org/officeDocument/2006/relationships/notesSlide" Target="/ppt/notesSlides/notesSlide12.xml" Id="R2300d35cc3714f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0826b21c5540b2" /><Relationship Type="http://schemas.openxmlformats.org/officeDocument/2006/relationships/notesSlide" Target="/ppt/notesSlides/notesSlide13.xml" Id="R7365871d06e244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c9102082324c31" /><Relationship Type="http://schemas.openxmlformats.org/officeDocument/2006/relationships/notesSlide" Target="/ppt/notesSlides/notesSlide14.xml" Id="R34ad40ea8e6440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bbfbb18a6347e6" /><Relationship Type="http://schemas.openxmlformats.org/officeDocument/2006/relationships/notesSlide" Target="/ppt/notesSlides/notesSlide15.xml" Id="R47edbe0a223548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63ecbb9b044c9d" /><Relationship Type="http://schemas.openxmlformats.org/officeDocument/2006/relationships/notesSlide" Target="/ppt/notesSlides/notesSlide16.xml" Id="R6328f89c5f6245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2659b441454423a" /><Relationship Type="http://schemas.openxmlformats.org/officeDocument/2006/relationships/chart" Target="/ppt/slides/charts/chart4.xml" Id="R8285c99c7d79452c" /><Relationship Type="http://schemas.openxmlformats.org/officeDocument/2006/relationships/chart" Target="/ppt/slides/charts/chart5.xml" Id="Rac490332b4b74905" /><Relationship Type="http://schemas.openxmlformats.org/officeDocument/2006/relationships/notesSlide" Target="/ppt/notesSlides/notesSlide17.xml" Id="R45fbea2f13344a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30ae51cd5a4d1f" /><Relationship Type="http://schemas.openxmlformats.org/officeDocument/2006/relationships/notesSlide" Target="/ppt/notesSlides/notesSlide18.xml" Id="R72799e873f034d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bb85f56ea44a01" /><Relationship Type="http://schemas.openxmlformats.org/officeDocument/2006/relationships/notesSlide" Target="/ppt/notesSlides/notesSlide19.xml" Id="R6a421fe90b5248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6de7fff50146db" /><Relationship Type="http://schemas.openxmlformats.org/officeDocument/2006/relationships/chart" Target="/ppt/slides/charts/chart6.xml" Id="R82dc1fb79c9b4246" /><Relationship Type="http://schemas.openxmlformats.org/officeDocument/2006/relationships/notesSlide" Target="/ppt/notesSlides/notesSlide20.xml" Id="R4a2fc18819c64c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a54195a1424d98" /><Relationship Type="http://schemas.openxmlformats.org/officeDocument/2006/relationships/chart" Target="/ppt/slides/charts/chart7.xml" Id="Rc3970d732bff4e00" /><Relationship Type="http://schemas.openxmlformats.org/officeDocument/2006/relationships/notesSlide" Target="/ppt/notesSlides/notesSlide21.xml" Id="R0de10ce3bcee47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c5818a84fab4c00" /><Relationship Type="http://schemas.openxmlformats.org/officeDocument/2006/relationships/notesSlide" Target="/ppt/notesSlides/notesSlide22.xml" Id="R350fff75f6774c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ec6fe0afe33498d" /><Relationship Type="http://schemas.openxmlformats.org/officeDocument/2006/relationships/notesSlide" Target="/ppt/notesSlides/notesSlide23.xml" Id="R532022a97fe044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d34ecc871a84df2" /><Relationship Type="http://schemas.openxmlformats.org/officeDocument/2006/relationships/notesSlide" Target="/ppt/notesSlides/notesSlide24.xml" Id="R6086b5f6960e4f3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14160ff2884f8b" /><Relationship Type="http://schemas.openxmlformats.org/officeDocument/2006/relationships/notesSlide" Target="/ppt/notesSlides/notesSlide25.xml" Id="Re45dc58c72d642b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973d9465d244391" /><Relationship Type="http://schemas.openxmlformats.org/officeDocument/2006/relationships/notesSlide" Target="/ppt/notesSlides/notesSlide26.xml" Id="Re609bd0d6f3240c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168ff2c0b4642da" /><Relationship Type="http://schemas.openxmlformats.org/officeDocument/2006/relationships/notesSlide" Target="/ppt/notesSlides/notesSlide27.xml" Id="R0785c95a3a6e4c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MO</c:v>
          </c:tx>
          <c:spPr>
            <a:ln xmlns:a="http://schemas.openxmlformats.org/drawingml/2006/main" w="33338">
              <a:solidFill>
                <a:srgbClr val="7B2D8E"/>
              </a:solidFill>
              <a:prstDash val="dash"/>
            </a:ln>
          </c:spPr>
          <c:marker>
            <c:symbol val="none"/>
          </c:marker>
          <c:xVal>
            <c:numRef>
              <c:f>'Chart Data'!$A$2:$A$3</c:f>
              <c:numCache>
                <c:formatCode>General</c:formatCode>
                <c:ptCount val="2"/>
                <c:pt idx="0">
                  <c:v>0</c:v>
                </c:pt>
                <c:pt idx="1">
                  <c:v>15</c:v>
                </c:pt>
              </c:numCache>
            </c:numRef>
          </c:xVal>
          <c:yVal>
            <c:numRef>
              <c:f>'Chart Data'!$B$2:$B$3</c:f>
              <c:numCache>
                <c:formatCode>0</c:formatCode>
                <c:ptCount val="2"/>
                <c:pt idx="0">
                  <c:v>30</c:v>
                </c:pt>
                <c:pt idx="1">
                  <c:v>0</c:v>
                </c:pt>
              </c:numCache>
            </c:numRef>
          </c:yVal>
          <c:smooth val="0"/>
        </c:ser>
        <c:ser>
          <c:idx val="1"/>
          <c:order val="1"/>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26.24</c:v>
                </c:pt>
                <c:pt idx="2">
                  <c:v>32</c:v>
                </c:pt>
              </c:numCache>
            </c:numRef>
          </c:xVal>
          <c:yVal>
            <c:numRef>
              <c:f>'Chart Data'!$D$2:$D$4</c:f>
              <c:numCache>
                <c:formatCode>0</c:formatCode>
                <c:ptCount val="3"/>
                <c:pt idx="0">
                  <c:v>6</c:v>
                </c:pt>
                <c:pt idx="1">
                  <c:v>6</c:v>
                </c:pt>
                <c:pt idx="2">
                  <c:v>6</c:v>
                </c:pt>
              </c:numCache>
            </c:numRef>
          </c:yVal>
          <c:smooth val="0"/>
        </c:ser>
        <c:ser>
          <c:idx val="2"/>
          <c:order val="2"/>
          <c:tx>
            <c:v>Q gekozen</c:v>
          </c:tx>
          <c:spPr>
            <a:ln xmlns:a="http://schemas.openxmlformats.org/drawingml/2006/main" w="33338">
              <a:solidFill>
                <a:srgbClr val="445B6B"/>
              </a:solidFill>
              <a:prstDash val="dash"/>
            </a:ln>
          </c:spPr>
          <c:marker>
            <c:symbol val="none"/>
          </c:marker>
          <c:xVal>
            <c:numRef>
              <c:f>'Chart Data'!$E$2:$E$3</c:f>
              <c:numCache>
                <c:formatCode>General</c:formatCode>
                <c:ptCount val="2"/>
                <c:pt idx="0">
                  <c:v>12</c:v>
                </c:pt>
                <c:pt idx="1">
                  <c:v>12</c:v>
                </c:pt>
              </c:numCache>
            </c:numRef>
          </c:xVal>
          <c:yVal>
            <c:numRef>
              <c:f>'Chart Data'!$F$2:$F$3</c:f>
              <c:numCache>
                <c:formatCode>0</c:formatCode>
                <c:ptCount val="2"/>
                <c:pt idx="0">
                  <c:v>0</c:v>
                </c:pt>
                <c:pt idx="1">
                  <c:v>6</c:v>
                </c:pt>
              </c:numCache>
            </c:numRef>
          </c:yVal>
          <c:smooth val="0"/>
        </c:ser>
        <c:ser>
          <c:idx val="3"/>
          <c:order val="3"/>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4.56</c:v>
                </c:pt>
              </c:numCache>
            </c:numRef>
          </c:xVal>
          <c:yVal>
            <c:numRef>
              <c:f>'Chart Data'!$H$2:$H$2</c:f>
              <c:numCache>
                <c:formatCode>0</c:formatCode>
                <c:ptCount val="1"/>
                <c:pt idx="0">
                  <c:v>13.2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Q_A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18.6</c:v>
                </c:pt>
                <c:pt idx="2">
                  <c:v>30</c:v>
                </c:pt>
              </c:numCache>
            </c:numRef>
          </c:xVal>
          <c:yVal>
            <c:numRef>
              <c:f>'Chart Data'!$B$2:$B$4</c:f>
              <c:numCache>
                <c:formatCode>0</c:formatCode>
                <c:ptCount val="3"/>
                <c:pt idx="0">
                  <c:v>30</c:v>
                </c:pt>
                <c:pt idx="1">
                  <c:v>11.4</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15</c:v>
                </c:pt>
              </c:numCache>
            </c:numRef>
          </c:xVal>
          <c:yVal>
            <c:numRef>
              <c:f>'Chart Data'!$D$2:$D$3</c:f>
              <c:numCache>
                <c:formatCode>0</c:formatCode>
                <c:ptCount val="2"/>
                <c:pt idx="0">
                  <c:v>30</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26.24</c:v>
                </c:pt>
                <c:pt idx="2">
                  <c:v>32</c:v>
                </c:pt>
              </c:numCache>
            </c:numRef>
          </c:xVal>
          <c:yVal>
            <c:numRef>
              <c:f>'Chart Data'!$F$2:$F$4</c:f>
              <c:numCache>
                <c:formatCode>0</c:formatCode>
                <c:ptCount val="3"/>
                <c:pt idx="0">
                  <c:v>6</c:v>
                </c:pt>
                <c:pt idx="1">
                  <c:v>6</c:v>
                </c:pt>
                <c:pt idx="2">
                  <c:v>6</c:v>
                </c:pt>
              </c:numCache>
            </c:numRef>
          </c:yVal>
          <c:smooth val="0"/>
        </c:ser>
        <c:ser>
          <c:idx val="3"/>
          <c:order val="3"/>
          <c:tx>
            <c:v>Q gekozen</c:v>
          </c:tx>
          <c:spPr>
            <a:ln xmlns:a="http://schemas.openxmlformats.org/drawingml/2006/main" w="33338">
              <a:solidFill>
                <a:srgbClr val="445B6B"/>
              </a:solidFill>
              <a:prstDash val="dash"/>
            </a:ln>
          </c:spPr>
          <c:marker>
            <c:symbol val="none"/>
          </c:marker>
          <c:xVal>
            <c:numRef>
              <c:f>'Chart Data'!$G$2:$G$3</c:f>
              <c:numCache>
                <c:formatCode>General</c:formatCode>
                <c:ptCount val="2"/>
                <c:pt idx="0">
                  <c:v>12</c:v>
                </c:pt>
                <c:pt idx="1">
                  <c:v>12</c:v>
                </c:pt>
              </c:numCache>
            </c:numRef>
          </c:xVal>
          <c:yVal>
            <c:numRef>
              <c:f>'Chart Data'!$H$2:$H$3</c:f>
              <c:numCache>
                <c:formatCode>0</c:formatCode>
                <c:ptCount val="2"/>
                <c:pt idx="0">
                  <c:v>0</c:v>
                </c:pt>
                <c:pt idx="1">
                  <c:v>18</c:v>
                </c:pt>
              </c:numCache>
            </c:numRef>
          </c:yVal>
          <c:smooth val="0"/>
        </c:ser>
        <c:ser>
          <c:idx val="4"/>
          <c:order val="4"/>
          <c:tx>
            <c:v>P op GO</c:v>
          </c:tx>
          <c:spPr>
            <a:ln xmlns:a="http://schemas.openxmlformats.org/drawingml/2006/main" w="33338">
              <a:solidFill>
                <a:srgbClr val="445B6B"/>
              </a:solidFill>
              <a:prstDash val="dash"/>
            </a:ln>
          </c:spPr>
          <c:marker>
            <c:symbol val="none"/>
          </c:marker>
          <c:xVal>
            <c:numRef>
              <c:f>'Chart Data'!$I$2:$I$3</c:f>
              <c:numCache>
                <c:formatCode>General</c:formatCode>
                <c:ptCount val="2"/>
                <c:pt idx="0">
                  <c:v>0</c:v>
                </c:pt>
                <c:pt idx="1">
                  <c:v>12</c:v>
                </c:pt>
              </c:numCache>
            </c:numRef>
          </c:xVal>
          <c:yVal>
            <c:numRef>
              <c:f>'Chart Data'!$J$2:$J$3</c:f>
              <c:numCache>
                <c:formatCode>0</c:formatCode>
                <c:ptCount val="2"/>
                <c:pt idx="0">
                  <c:v>18</c:v>
                </c:pt>
                <c:pt idx="1">
                  <c:v>18</c:v>
                </c:pt>
              </c:numCache>
            </c:numRef>
          </c:yVal>
          <c:smooth val="0"/>
        </c:ser>
        <c:ser>
          <c:idx val="5"/>
          <c:order val="5"/>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4.56</c:v>
                </c:pt>
              </c:numCache>
            </c:numRef>
          </c:xVal>
          <c:yVal>
            <c:numRef>
              <c:f>'Chart Data'!$L$2:$L$2</c:f>
              <c:numCache>
                <c:formatCode>0</c:formatCode>
                <c:ptCount val="1"/>
                <c:pt idx="0">
                  <c:v>13.2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Q_A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11.16</c:v>
                </c:pt>
                <c:pt idx="2">
                  <c:v>18</c:v>
                </c:pt>
              </c:numCache>
            </c:numRef>
          </c:xVal>
          <c:yVal>
            <c:numRef>
              <c:f>'Chart Data'!$B$2:$B$4</c:f>
              <c:numCache>
                <c:formatCode>0</c:formatCode>
                <c:ptCount val="3"/>
                <c:pt idx="0">
                  <c:v>18</c:v>
                </c:pt>
                <c:pt idx="1">
                  <c:v>6.84</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9</c:v>
                </c:pt>
              </c:numCache>
            </c:numRef>
          </c:xVal>
          <c:yVal>
            <c:numRef>
              <c:f>'Chart Data'!$D$2:$D$3</c:f>
              <c:numCache>
                <c:formatCode>0</c:formatCode>
                <c:ptCount val="2"/>
                <c:pt idx="0">
                  <c:v>18</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26.24</c:v>
                </c:pt>
                <c:pt idx="2">
                  <c:v>32</c:v>
                </c:pt>
              </c:numCache>
            </c:numRef>
          </c:xVal>
          <c:yVal>
            <c:numRef>
              <c:f>'Chart Data'!$F$2:$F$4</c:f>
              <c:numCache>
                <c:formatCode>0</c:formatCode>
                <c:ptCount val="3"/>
                <c:pt idx="0">
                  <c:v>6</c:v>
                </c:pt>
                <c:pt idx="1">
                  <c:v>6</c:v>
                </c:pt>
                <c:pt idx="2">
                  <c:v>6</c:v>
                </c:pt>
              </c:numCache>
            </c:numRef>
          </c:yVal>
          <c:smooth val="0"/>
        </c:ser>
        <c:ser>
          <c:idx val="3"/>
          <c:order val="3"/>
          <c:tx>
            <c:v>Q gekozen</c:v>
          </c:tx>
          <c:spPr>
            <a:ln xmlns:a="http://schemas.openxmlformats.org/drawingml/2006/main" w="33338">
              <a:solidFill>
                <a:srgbClr val="445B6B"/>
              </a:solidFill>
              <a:prstDash val="dash"/>
            </a:ln>
          </c:spPr>
          <c:marker>
            <c:symbol val="none"/>
          </c:marker>
          <c:xVal>
            <c:numRef>
              <c:f>'Chart Data'!$G$2:$G$3</c:f>
              <c:numCache>
                <c:formatCode>General</c:formatCode>
                <c:ptCount val="2"/>
                <c:pt idx="0">
                  <c:v>6</c:v>
                </c:pt>
                <c:pt idx="1">
                  <c:v>6</c:v>
                </c:pt>
              </c:numCache>
            </c:numRef>
          </c:xVal>
          <c:yVal>
            <c:numRef>
              <c:f>'Chart Data'!$H$2:$H$3</c:f>
              <c:numCache>
                <c:formatCode>0</c:formatCode>
                <c:ptCount val="2"/>
                <c:pt idx="0">
                  <c:v>0</c:v>
                </c:pt>
                <c:pt idx="1">
                  <c:v>12</c:v>
                </c:pt>
              </c:numCache>
            </c:numRef>
          </c:yVal>
          <c:smooth val="0"/>
        </c:ser>
        <c:ser>
          <c:idx val="4"/>
          <c:order val="4"/>
          <c:tx>
            <c:v>P op GO</c:v>
          </c:tx>
          <c:spPr>
            <a:ln xmlns:a="http://schemas.openxmlformats.org/drawingml/2006/main" w="33338">
              <a:solidFill>
                <a:srgbClr val="445B6B"/>
              </a:solidFill>
              <a:prstDash val="dash"/>
            </a:ln>
          </c:spPr>
          <c:marker>
            <c:symbol val="none"/>
          </c:marker>
          <c:xVal>
            <c:numRef>
              <c:f>'Chart Data'!$I$2:$I$3</c:f>
              <c:numCache>
                <c:formatCode>General</c:formatCode>
                <c:ptCount val="2"/>
                <c:pt idx="0">
                  <c:v>0</c:v>
                </c:pt>
                <c:pt idx="1">
                  <c:v>6</c:v>
                </c:pt>
              </c:numCache>
            </c:numRef>
          </c:xVal>
          <c:yVal>
            <c:numRef>
              <c:f>'Chart Data'!$J$2:$J$3</c:f>
              <c:numCache>
                <c:formatCode>0</c:formatCode>
                <c:ptCount val="2"/>
                <c:pt idx="0">
                  <c:v>12</c:v>
                </c:pt>
                <c:pt idx="1">
                  <c:v>12</c:v>
                </c:pt>
              </c:numCache>
            </c:numRef>
          </c:yVal>
          <c:smooth val="0"/>
        </c:ser>
        <c:ser>
          <c:idx val="5"/>
          <c:order val="5"/>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1.2</c:v>
                </c:pt>
              </c:numCache>
            </c:numRef>
          </c:xVal>
          <c:yVal>
            <c:numRef>
              <c:f>'Chart Data'!$L$2:$L$2</c:f>
              <c:numCache>
                <c:formatCode>0</c:formatCode>
                <c:ptCount val="1"/>
                <c:pt idx="0">
                  <c:v>7.92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Q_B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24.8</c:v>
                </c:pt>
                <c:pt idx="2">
                  <c:v>40</c:v>
                </c:pt>
              </c:numCache>
            </c:numRef>
          </c:xVal>
          <c:yVal>
            <c:numRef>
              <c:f>'Chart Data'!$B$2:$B$4</c:f>
              <c:numCache>
                <c:formatCode>0</c:formatCode>
                <c:ptCount val="3"/>
                <c:pt idx="0">
                  <c:v>40</c:v>
                </c:pt>
                <c:pt idx="1">
                  <c:v>15.2</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20</c:v>
                </c:pt>
              </c:numCache>
            </c:numRef>
          </c:xVal>
          <c:yVal>
            <c:numRef>
              <c:f>'Chart Data'!$D$2:$D$3</c:f>
              <c:numCache>
                <c:formatCode>0</c:formatCode>
                <c:ptCount val="2"/>
                <c:pt idx="0">
                  <c:v>40</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32.8</c:v>
                </c:pt>
                <c:pt idx="2">
                  <c:v>40</c:v>
                </c:pt>
              </c:numCache>
            </c:numRef>
          </c:xVal>
          <c:yVal>
            <c:numRef>
              <c:f>'Chart Data'!$F$2:$F$4</c:f>
              <c:numCache>
                <c:formatCode>0</c:formatCode>
                <c:ptCount val="3"/>
                <c:pt idx="0">
                  <c:v>8</c:v>
                </c:pt>
                <c:pt idx="1">
                  <c:v>8</c:v>
                </c:pt>
                <c:pt idx="2">
                  <c:v>8</c:v>
                </c:pt>
              </c:numCache>
            </c:numRef>
          </c:yVal>
          <c:smooth val="0"/>
        </c:ser>
        <c:ser>
          <c:idx val="3"/>
          <c:order val="3"/>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6.4</c:v>
                </c:pt>
              </c:numCache>
            </c:numRef>
          </c:xVal>
          <c:yVal>
            <c:numRef>
              <c:f>'Chart Data'!$H$2:$H$2</c:f>
              <c:numCache>
                <c:formatCode>0</c:formatCode>
                <c:ptCount val="1"/>
                <c:pt idx="0">
                  <c:v>17.6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Q_A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14.88</c:v>
                </c:pt>
                <c:pt idx="2">
                  <c:v>24</c:v>
                </c:pt>
              </c:numCache>
            </c:numRef>
          </c:xVal>
          <c:yVal>
            <c:numRef>
              <c:f>'Chart Data'!$B$2:$B$4</c:f>
              <c:numCache>
                <c:formatCode>0</c:formatCode>
                <c:ptCount val="3"/>
                <c:pt idx="0">
                  <c:v>24</c:v>
                </c:pt>
                <c:pt idx="1">
                  <c:v>9.12</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12</c:v>
                </c:pt>
              </c:numCache>
            </c:numRef>
          </c:xVal>
          <c:yVal>
            <c:numRef>
              <c:f>'Chart Data'!$D$2:$D$3</c:f>
              <c:numCache>
                <c:formatCode>0</c:formatCode>
                <c:ptCount val="2"/>
                <c:pt idx="0">
                  <c:v>24</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32.8</c:v>
                </c:pt>
                <c:pt idx="2">
                  <c:v>40</c:v>
                </c:pt>
              </c:numCache>
            </c:numRef>
          </c:xVal>
          <c:yVal>
            <c:numRef>
              <c:f>'Chart Data'!$F$2:$F$4</c:f>
              <c:numCache>
                <c:formatCode>0</c:formatCode>
                <c:ptCount val="3"/>
                <c:pt idx="0">
                  <c:v>8</c:v>
                </c:pt>
                <c:pt idx="1">
                  <c:v>8</c:v>
                </c:pt>
                <c:pt idx="2">
                  <c:v>8</c:v>
                </c:pt>
              </c:numCache>
            </c:numRef>
          </c:yVal>
          <c:smooth val="0"/>
        </c:ser>
        <c:ser>
          <c:idx val="3"/>
          <c:order val="3"/>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1.92</c:v>
                </c:pt>
              </c:numCache>
            </c:numRef>
          </c:xVal>
          <c:yVal>
            <c:numRef>
              <c:f>'Chart Data'!$H$2:$H$2</c:f>
              <c:numCache>
                <c:formatCode>0</c:formatCode>
                <c:ptCount val="1"/>
                <c:pt idx="0">
                  <c:v>10.56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Q_B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24.8</c:v>
                </c:pt>
                <c:pt idx="2">
                  <c:v>40</c:v>
                </c:pt>
              </c:numCache>
            </c:numRef>
          </c:xVal>
          <c:yVal>
            <c:numRef>
              <c:f>'Chart Data'!$B$2:$B$4</c:f>
              <c:numCache>
                <c:formatCode>0</c:formatCode>
                <c:ptCount val="3"/>
                <c:pt idx="0">
                  <c:v>40</c:v>
                </c:pt>
                <c:pt idx="1">
                  <c:v>15.2</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20</c:v>
                </c:pt>
              </c:numCache>
            </c:numRef>
          </c:xVal>
          <c:yVal>
            <c:numRef>
              <c:f>'Chart Data'!$D$2:$D$3</c:f>
              <c:numCache>
                <c:formatCode>0</c:formatCode>
                <c:ptCount val="2"/>
                <c:pt idx="0">
                  <c:v>40</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32.8</c:v>
                </c:pt>
                <c:pt idx="2">
                  <c:v>40</c:v>
                </c:pt>
              </c:numCache>
            </c:numRef>
          </c:xVal>
          <c:yVal>
            <c:numRef>
              <c:f>'Chart Data'!$F$2:$F$4</c:f>
              <c:numCache>
                <c:formatCode>0</c:formatCode>
                <c:ptCount val="3"/>
                <c:pt idx="0">
                  <c:v>8</c:v>
                </c:pt>
                <c:pt idx="1">
                  <c:v>8</c:v>
                </c:pt>
                <c:pt idx="2">
                  <c:v>8</c:v>
                </c:pt>
              </c:numCache>
            </c:numRef>
          </c:yVal>
          <c:smooth val="0"/>
        </c:ser>
        <c:ser>
          <c:idx val="3"/>
          <c:order val="3"/>
          <c:tx>
            <c:v>Q gekozen</c:v>
          </c:tx>
          <c:spPr>
            <a:ln xmlns:a="http://schemas.openxmlformats.org/drawingml/2006/main" w="33338">
              <a:solidFill>
                <a:srgbClr val="445B6B"/>
              </a:solidFill>
              <a:prstDash val="dash"/>
            </a:ln>
          </c:spPr>
          <c:marker>
            <c:symbol val="none"/>
          </c:marker>
          <c:xVal>
            <c:numRef>
              <c:f>'Chart Data'!$G$2:$G$3</c:f>
              <c:numCache>
                <c:formatCode>General</c:formatCode>
                <c:ptCount val="2"/>
                <c:pt idx="0">
                  <c:v>16</c:v>
                </c:pt>
                <c:pt idx="1">
                  <c:v>16</c:v>
                </c:pt>
              </c:numCache>
            </c:numRef>
          </c:xVal>
          <c:yVal>
            <c:numRef>
              <c:f>'Chart Data'!$H$2:$H$3</c:f>
              <c:numCache>
                <c:formatCode>0</c:formatCode>
                <c:ptCount val="2"/>
                <c:pt idx="0">
                  <c:v>0</c:v>
                </c:pt>
                <c:pt idx="1">
                  <c:v>24</c:v>
                </c:pt>
              </c:numCache>
            </c:numRef>
          </c:yVal>
          <c:smooth val="0"/>
        </c:ser>
        <c:ser>
          <c:idx val="4"/>
          <c:order val="4"/>
          <c:tx>
            <c:v>P op GO</c:v>
          </c:tx>
          <c:spPr>
            <a:ln xmlns:a="http://schemas.openxmlformats.org/drawingml/2006/main" w="33338">
              <a:solidFill>
                <a:srgbClr val="445B6B"/>
              </a:solidFill>
              <a:prstDash val="dash"/>
            </a:ln>
          </c:spPr>
          <c:marker>
            <c:symbol val="none"/>
          </c:marker>
          <c:xVal>
            <c:numRef>
              <c:f>'Chart Data'!$I$2:$I$3</c:f>
              <c:numCache>
                <c:formatCode>General</c:formatCode>
                <c:ptCount val="2"/>
                <c:pt idx="0">
                  <c:v>0</c:v>
                </c:pt>
                <c:pt idx="1">
                  <c:v>16</c:v>
                </c:pt>
              </c:numCache>
            </c:numRef>
          </c:xVal>
          <c:yVal>
            <c:numRef>
              <c:f>'Chart Data'!$J$2:$J$3</c:f>
              <c:numCache>
                <c:formatCode>0</c:formatCode>
                <c:ptCount val="2"/>
                <c:pt idx="0">
                  <c:v>24</c:v>
                </c:pt>
                <c:pt idx="1">
                  <c:v>24</c:v>
                </c:pt>
              </c:numCache>
            </c:numRef>
          </c:yVal>
          <c:smooth val="0"/>
        </c:ser>
        <c:ser>
          <c:idx val="5"/>
          <c:order val="5"/>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6.4</c:v>
                </c:pt>
              </c:numCache>
            </c:numRef>
          </c:xVal>
          <c:yVal>
            <c:numRef>
              <c:f>'Chart Data'!$L$2:$L$2</c:f>
              <c:numCache>
                <c:formatCode>0</c:formatCode>
                <c:ptCount val="1"/>
                <c:pt idx="0">
                  <c:v>17.6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Q_A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3338">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14.88</c:v>
                </c:pt>
                <c:pt idx="2">
                  <c:v>24</c:v>
                </c:pt>
              </c:numCache>
            </c:numRef>
          </c:xVal>
          <c:yVal>
            <c:numRef>
              <c:f>'Chart Data'!$B$2:$B$4</c:f>
              <c:numCache>
                <c:formatCode>0</c:formatCode>
                <c:ptCount val="3"/>
                <c:pt idx="0">
                  <c:v>24</c:v>
                </c:pt>
                <c:pt idx="1">
                  <c:v>9.12</c:v>
                </c:pt>
                <c:pt idx="2">
                  <c:v>0</c:v>
                </c:pt>
              </c:numCache>
            </c:numRef>
          </c:yVal>
          <c:smooth val="0"/>
        </c:ser>
        <c:ser>
          <c:idx val="1"/>
          <c:order val="1"/>
          <c:tx>
            <c:v>MO</c:v>
          </c:tx>
          <c:spPr>
            <a:ln xmlns:a="http://schemas.openxmlformats.org/drawingml/2006/main" w="33338">
              <a:solidFill>
                <a:srgbClr val="7B2D8E"/>
              </a:solidFill>
              <a:prstDash val="dash"/>
            </a:ln>
          </c:spPr>
          <c:marker>
            <c:symbol val="none"/>
          </c:marker>
          <c:xVal>
            <c:numRef>
              <c:f>'Chart Data'!$C$2:$C$3</c:f>
              <c:numCache>
                <c:formatCode>General</c:formatCode>
                <c:ptCount val="2"/>
                <c:pt idx="0">
                  <c:v>0</c:v>
                </c:pt>
                <c:pt idx="1">
                  <c:v>12</c:v>
                </c:pt>
              </c:numCache>
            </c:numRef>
          </c:xVal>
          <c:yVal>
            <c:numRef>
              <c:f>'Chart Data'!$D$2:$D$3</c:f>
              <c:numCache>
                <c:formatCode>0</c:formatCode>
                <c:ptCount val="2"/>
                <c:pt idx="0">
                  <c:v>24</c:v>
                </c:pt>
                <c:pt idx="1">
                  <c:v>0</c:v>
                </c:pt>
              </c:numCache>
            </c:numRef>
          </c:yVal>
          <c:smooth val="0"/>
        </c:ser>
        <c:ser>
          <c:idx val="2"/>
          <c:order val="2"/>
          <c:tx>
            <c:v>MK</c:v>
          </c:tx>
          <c:spPr>
            <a:ln xmlns:a="http://schemas.openxmlformats.org/drawingml/2006/main" w="33338">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32.8</c:v>
                </c:pt>
                <c:pt idx="2">
                  <c:v>40</c:v>
                </c:pt>
              </c:numCache>
            </c:numRef>
          </c:xVal>
          <c:yVal>
            <c:numRef>
              <c:f>'Chart Data'!$F$2:$F$4</c:f>
              <c:numCache>
                <c:formatCode>0</c:formatCode>
                <c:ptCount val="3"/>
                <c:pt idx="0">
                  <c:v>8</c:v>
                </c:pt>
                <c:pt idx="1">
                  <c:v>8</c:v>
                </c:pt>
                <c:pt idx="2">
                  <c:v>8</c:v>
                </c:pt>
              </c:numCache>
            </c:numRef>
          </c:yVal>
          <c:smooth val="0"/>
        </c:ser>
        <c:ser>
          <c:idx val="3"/>
          <c:order val="3"/>
          <c:tx>
            <c:v>Q gekozen</c:v>
          </c:tx>
          <c:spPr>
            <a:ln xmlns:a="http://schemas.openxmlformats.org/drawingml/2006/main" w="33338">
              <a:solidFill>
                <a:srgbClr val="445B6B"/>
              </a:solidFill>
              <a:prstDash val="dash"/>
            </a:ln>
          </c:spPr>
          <c:marker>
            <c:symbol val="none"/>
          </c:marker>
          <c:xVal>
            <c:numRef>
              <c:f>'Chart Data'!$G$2:$G$3</c:f>
              <c:numCache>
                <c:formatCode>General</c:formatCode>
                <c:ptCount val="2"/>
                <c:pt idx="0">
                  <c:v>8</c:v>
                </c:pt>
                <c:pt idx="1">
                  <c:v>8</c:v>
                </c:pt>
              </c:numCache>
            </c:numRef>
          </c:xVal>
          <c:yVal>
            <c:numRef>
              <c:f>'Chart Data'!$H$2:$H$3</c:f>
              <c:numCache>
                <c:formatCode>0</c:formatCode>
                <c:ptCount val="2"/>
                <c:pt idx="0">
                  <c:v>0</c:v>
                </c:pt>
                <c:pt idx="1">
                  <c:v>16</c:v>
                </c:pt>
              </c:numCache>
            </c:numRef>
          </c:yVal>
          <c:smooth val="0"/>
        </c:ser>
        <c:ser>
          <c:idx val="4"/>
          <c:order val="4"/>
          <c:tx>
            <c:v>P op GO</c:v>
          </c:tx>
          <c:spPr>
            <a:ln xmlns:a="http://schemas.openxmlformats.org/drawingml/2006/main" w="33338">
              <a:solidFill>
                <a:srgbClr val="445B6B"/>
              </a:solidFill>
              <a:prstDash val="dash"/>
            </a:ln>
          </c:spPr>
          <c:marker>
            <c:symbol val="none"/>
          </c:marker>
          <c:xVal>
            <c:numRef>
              <c:f>'Chart Data'!$I$2:$I$3</c:f>
              <c:numCache>
                <c:formatCode>General</c:formatCode>
                <c:ptCount val="2"/>
                <c:pt idx="0">
                  <c:v>0</c:v>
                </c:pt>
                <c:pt idx="1">
                  <c:v>8</c:v>
                </c:pt>
              </c:numCache>
            </c:numRef>
          </c:xVal>
          <c:yVal>
            <c:numRef>
              <c:f>'Chart Data'!$J$2:$J$3</c:f>
              <c:numCache>
                <c:formatCode>0</c:formatCode>
                <c:ptCount val="2"/>
                <c:pt idx="0">
                  <c:v>16</c:v>
                </c:pt>
                <c:pt idx="1">
                  <c:v>16</c:v>
                </c:pt>
              </c:numCache>
            </c:numRef>
          </c:yVal>
          <c:smooth val="0"/>
        </c:ser>
        <c:ser>
          <c:idx val="5"/>
          <c:order val="5"/>
          <c:tx>
            <c:v>MO label</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1.92</c:v>
                </c:pt>
              </c:numCache>
            </c:numRef>
          </c:xVal>
          <c:yVal>
            <c:numRef>
              <c:f>'Chart Data'!$L$2:$L$2</c:f>
              <c:numCache>
                <c:formatCode>0</c:formatCode>
                <c:ptCount val="1"/>
                <c:pt idx="0">
                  <c:v>10.56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MO en MK (€ per bezoek)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Q_B (bezoeken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2 Prijsdiscriminatie">
            <a:extLst xmlns:a="http://schemas.openxmlformats.org/drawingml/2006/main">
              <a:ext uri="{FF2B5EF4-FFF2-40B4-BE49-F238E27FC236}">
                <a16:creationId xmlns:a16="http://schemas.microsoft.com/office/drawing/2014/main" id="{B32DCB68-53D1-4096-BC9D-255E08CF583B}"/>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§4.2.2 Prijsdiscriminatie</a:t>
            </a:r>
          </a:p>
        </p:txBody>
      </p:sp>
      <p:sp>
        <p:nvSpPr>
          <p:cNvPr id="2" name="">
            <a:extLst xmlns:a="http://schemas.openxmlformats.org/drawingml/2006/main">
              <a:ext uri="{FF2B5EF4-FFF2-40B4-BE49-F238E27FC236}">
                <a16:creationId xmlns:a16="http://schemas.microsoft.com/office/drawing/2014/main" id="{FAB77DD9-46C2-4EE6-BA0A-EE42AB8ACA0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a:extLst xmlns:a="http://schemas.openxmlformats.org/drawingml/2006/main">
              <a:ext uri="{FF2B5EF4-FFF2-40B4-BE49-F238E27FC236}">
                <a16:creationId xmlns:a16="http://schemas.microsoft.com/office/drawing/2014/main" id="{0C55825E-3AE1-439E-9D4C-00557669143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a:t>
            </a:r>
          </a:p>
        </p:txBody>
      </p:sp>
      <p:sp>
        <p:nvSpPr>
          <p:cNvPr id="4" name="1">
            <a:extLst xmlns:a="http://schemas.openxmlformats.org/drawingml/2006/main">
              <a:ext uri="{FF2B5EF4-FFF2-40B4-BE49-F238E27FC236}">
                <a16:creationId xmlns:a16="http://schemas.microsoft.com/office/drawing/2014/main" id="{E279B5BD-39F2-4819-B480-E1F9631FD6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C375ACD-3B5E-43A3-8AE2-E8B1DE3EFF8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9789CE20-DB13-4AE1-919D-C2C9A2E3915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A73C9DDD-7C85-454D-AC0B-B087CB4A824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0904E1A2-D01E-4AC3-AD22-66A429217695}"/>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783D23F5-072D-4364-9E8B-0B9DA648295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BBDE798E-415E-48F8-AEC9-CF2224CC4950}"/>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FD6D388E-6FF1-4BB6-A073-596669E9D980}"/>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8EC23FAF-C7F5-4F91-AD3D-6594AF9431F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99A1EF00-D48B-4B53-B093-FAF2831596B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80C4B360-AF85-40E7-8DC5-C84304D6774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06FC07D9-9B29-418F-A664-8C21901B59A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46D39E98-D392-4209-8D47-CB9995948CB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E206FC81-F1C8-4CC7-AAF1-67B873731E5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864E9E7-674D-48F1-BCC3-8FD316FB1787}"/>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308F128D-A39B-4775-B3EE-FB35F56CEBC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1FFB3ECE-CA09-4BB3-949D-0640960BF32A}"/>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AC0C5FC-04C5-4815-AA37-554BA1B1E15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C7AB30B-06F8-443C-B4EB-1C7A0C665DB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Prijsdiscriminatie herkennen,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groepsprijzen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en surplus vergelijken.</a:t>
            </a:r>
          </a:p>
        </p:txBody>
      </p:sp>
      <p:sp>
        <p:nvSpPr>
          <p:cNvPr id="23" name="">
            <a:extLst xmlns:a="http://schemas.openxmlformats.org/drawingml/2006/main">
              <a:ext uri="{FF2B5EF4-FFF2-40B4-BE49-F238E27FC236}">
                <a16:creationId xmlns:a16="http://schemas.microsoft.com/office/drawing/2014/main" id="{CB1C43B7-9A05-4124-9BD6-B8973F946C6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9FC8C97-36AE-464E-9D3A-CD8F9C1E0F19}"/>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56FDDC9-851F-4764-85E6-CE53D59BACB6}"/>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66 · Opgaven 10 en 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10: samenvoegen, steun p. 64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 verkennen, theorie p. 63</a:t>
            </a:r>
          </a:p>
        </p:txBody>
      </p:sp>
      <p:sp>
        <p:nvSpPr>
          <p:cNvPr id="26" name="">
            <a:extLst xmlns:a="http://schemas.openxmlformats.org/drawingml/2006/main">
              <a:ext uri="{FF2B5EF4-FFF2-40B4-BE49-F238E27FC236}">
                <a16:creationId xmlns:a16="http://schemas.microsoft.com/office/drawing/2014/main" id="{62983294-7F47-4CB8-B1C3-64CE10A022DD}"/>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E0ABA7E-4191-4D50-AD03-EB7D625F681C}"/>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C1DA991-7998-43BD-9AAB-2AC4951369CD}"/>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§4.2.2 Prijsdiscriminatie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541270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17A64FD4-1AD7-4E35-B12A-121A34178CE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F55FF1FC-1DEA-41DC-9E14-249A4EBA427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a:extLst xmlns:a="http://schemas.openxmlformats.org/drawingml/2006/main">
              <a:ext uri="{FF2B5EF4-FFF2-40B4-BE49-F238E27FC236}">
                <a16:creationId xmlns:a16="http://schemas.microsoft.com/office/drawing/2014/main" id="{1D28A1D8-1220-4AF2-8897-9F27BA573FF5}"/>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a:t>
            </a:r>
          </a:p>
        </p:txBody>
      </p:sp>
      <p:sp>
        <p:nvSpPr>
          <p:cNvPr id="4" name="2">
            <a:extLst xmlns:a="http://schemas.openxmlformats.org/drawingml/2006/main">
              <a:ext uri="{FF2B5EF4-FFF2-40B4-BE49-F238E27FC236}">
                <a16:creationId xmlns:a16="http://schemas.microsoft.com/office/drawing/2014/main" id="{2624B7EA-D04A-40E4-BECC-2E0E3B1299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Herkennen">
            <a:extLst xmlns:a="http://schemas.openxmlformats.org/drawingml/2006/main">
              <a:ext uri="{FF2B5EF4-FFF2-40B4-BE49-F238E27FC236}">
                <a16:creationId xmlns:a16="http://schemas.microsoft.com/office/drawing/2014/main" id="{A89D6D53-4795-4F76-A545-E32931267E60}"/>
              </a:ext>
            </a:extLst>
          </p:cNvPr>
          <p:cNvSpPr>
            <a:spLocks xmlns:a="http://schemas.openxmlformats.org/drawingml/2006/main" noGrp="1"/>
          </p:cNvSpPr>
          <p:nvPr/>
        </p:nvSpPr>
        <p:spPr>
          <a:xfrm xmlns:a="http://schemas.openxmlformats.org/drawingml/2006/main">
            <a:off x="571500" y="19812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Herkennen</a:t>
            </a:r>
          </a:p>
        </p:txBody>
      </p:sp>
      <p:sp>
        <p:nvSpPr>
          <p:cNvPr id="6" name="Dezelfde dienst, andere prijs: je onderzoekt de voorwaarden.">
            <a:extLst xmlns:a="http://schemas.openxmlformats.org/drawingml/2006/main">
              <a:ext uri="{FF2B5EF4-FFF2-40B4-BE49-F238E27FC236}">
                <a16:creationId xmlns:a16="http://schemas.microsoft.com/office/drawing/2014/main" id="{E5CBAFDA-A1BE-4FAA-8583-BD53DE1B90E9}"/>
              </a:ext>
            </a:extLst>
          </p:cNvPr>
          <p:cNvSpPr>
            <a:spLocks xmlns:a="http://schemas.openxmlformats.org/drawingml/2006/main" noGrp="1"/>
          </p:cNvSpPr>
          <p:nvPr/>
        </p:nvSpPr>
        <p:spPr>
          <a:xfrm xmlns:a="http://schemas.openxmlformats.org/drawingml/2006/main">
            <a:off x="5381625" y="198120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Dezelfde dienst, andere prijs: je onderzoekt de voorwaarden.</a:t>
            </a:r>
          </a:p>
        </p:txBody>
      </p:sp>
      <p:sp>
        <p:nvSpPr>
          <p:cNvPr id="7" name="">
            <a:extLst xmlns:a="http://schemas.openxmlformats.org/drawingml/2006/main">
              <a:ext uri="{FF2B5EF4-FFF2-40B4-BE49-F238E27FC236}">
                <a16:creationId xmlns:a16="http://schemas.microsoft.com/office/drawing/2014/main" id="{0B12A5DF-7758-445F-A85C-07ABB0F9E236}"/>
              </a:ext>
            </a:extLst>
          </p:cNvPr>
          <p:cNvSpPr>
            <a:spLocks xmlns:a="http://schemas.openxmlformats.org/drawingml/2006/main" noGrp="1"/>
          </p:cNvSpPr>
          <p:nvPr/>
        </p:nvSpPr>
        <p:spPr>
          <a:xfrm xmlns:a="http://schemas.openxmlformats.org/drawingml/2006/main">
            <a:off x="571500" y="3067050"/>
            <a:ext cx="14097000" cy="0"/>
          </a:xfrm>
          <a:prstGeom xmlns:a="http://schemas.openxmlformats.org/drawingml/2006/main" prst="line">
            <a:avLst/>
          </a:prstGeom>
          <a:ln xmlns:a="http://schemas.openxmlformats.org/drawingml/2006/main" w="19050">
            <a:solidFill>
              <a:srgbClr val="C6D2DB"/>
            </a:solidFill>
          </a:ln>
        </p:spPr>
      </p:sp>
      <p:sp>
        <p:nvSpPr>
          <p:cNvPr id="8" name="Kiezen per groep">
            <a:extLst xmlns:a="http://schemas.openxmlformats.org/drawingml/2006/main">
              <a:ext uri="{FF2B5EF4-FFF2-40B4-BE49-F238E27FC236}">
                <a16:creationId xmlns:a16="http://schemas.microsoft.com/office/drawing/2014/main" id="{01D13700-0E88-4546-A6F3-36903DAC4EC4}"/>
              </a:ext>
            </a:extLst>
          </p:cNvPr>
          <p:cNvSpPr>
            <a:spLocks xmlns:a="http://schemas.openxmlformats.org/drawingml/2006/main" noGrp="1"/>
          </p:cNvSpPr>
          <p:nvPr/>
        </p:nvSpPr>
        <p:spPr>
          <a:xfrm xmlns:a="http://schemas.openxmlformats.org/drawingml/2006/main">
            <a:off x="571500" y="33623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Kiezen per groep</a:t>
            </a:r>
          </a:p>
        </p:txBody>
      </p:sp>
      <p:sp>
        <p:nvSpPr>
          <p:cNvPr id="9" name="Je bepaalt Q met MO = MK en P met de eigen vraag.">
            <a:extLst xmlns:a="http://schemas.openxmlformats.org/drawingml/2006/main">
              <a:ext uri="{FF2B5EF4-FFF2-40B4-BE49-F238E27FC236}">
                <a16:creationId xmlns:a16="http://schemas.microsoft.com/office/drawing/2014/main" id="{D6481877-98CE-417E-875B-DF7B3C6FDDDB}"/>
              </a:ext>
            </a:extLst>
          </p:cNvPr>
          <p:cNvSpPr>
            <a:spLocks xmlns:a="http://schemas.openxmlformats.org/drawingml/2006/main" noGrp="1"/>
          </p:cNvSpPr>
          <p:nvPr/>
        </p:nvSpPr>
        <p:spPr>
          <a:xfrm xmlns:a="http://schemas.openxmlformats.org/drawingml/2006/main">
            <a:off x="5381625" y="336232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bepaalt Q met MO = MK en P met de eigen vraag.</a:t>
            </a:r>
          </a:p>
        </p:txBody>
      </p:sp>
      <p:sp>
        <p:nvSpPr>
          <p:cNvPr id="10" name="">
            <a:extLst xmlns:a="http://schemas.openxmlformats.org/drawingml/2006/main">
              <a:ext uri="{FF2B5EF4-FFF2-40B4-BE49-F238E27FC236}">
                <a16:creationId xmlns:a16="http://schemas.microsoft.com/office/drawing/2014/main" id="{47EE24F7-4015-4637-A4D1-9EB1D86E40FA}"/>
              </a:ext>
            </a:extLst>
          </p:cNvPr>
          <p:cNvSpPr>
            <a:spLocks xmlns:a="http://schemas.openxmlformats.org/drawingml/2006/main" noGrp="1"/>
          </p:cNvSpPr>
          <p:nvPr/>
        </p:nvSpPr>
        <p:spPr>
          <a:xfrm xmlns:a="http://schemas.openxmlformats.org/drawingml/2006/main">
            <a:off x="571500" y="4448175"/>
            <a:ext cx="14097000" cy="0"/>
          </a:xfrm>
          <a:prstGeom xmlns:a="http://schemas.openxmlformats.org/drawingml/2006/main" prst="line">
            <a:avLst/>
          </a:prstGeom>
          <a:ln xmlns:a="http://schemas.openxmlformats.org/drawingml/2006/main" w="19050">
            <a:solidFill>
              <a:srgbClr val="C6D2DB"/>
            </a:solidFill>
          </a:ln>
        </p:spPr>
      </p:sp>
      <p:sp>
        <p:nvSpPr>
          <p:cNvPr id="11" name="Bedrijf vergelijken">
            <a:extLst xmlns:a="http://schemas.openxmlformats.org/drawingml/2006/main">
              <a:ext uri="{FF2B5EF4-FFF2-40B4-BE49-F238E27FC236}">
                <a16:creationId xmlns:a16="http://schemas.microsoft.com/office/drawing/2014/main" id="{9CE1703A-1B7B-415F-BF78-E51AB0EAA98B}"/>
              </a:ext>
            </a:extLst>
          </p:cNvPr>
          <p:cNvSpPr>
            <a:spLocks xmlns:a="http://schemas.openxmlformats.org/drawingml/2006/main" noGrp="1"/>
          </p:cNvSpPr>
          <p:nvPr/>
        </p:nvSpPr>
        <p:spPr>
          <a:xfrm xmlns:a="http://schemas.openxmlformats.org/drawingml/2006/main">
            <a:off x="571500" y="47434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Bedrijf vergelijken</a:t>
            </a:r>
          </a:p>
        </p:txBody>
      </p:sp>
      <p:sp>
        <p:nvSpPr>
          <p:cNvPr id="12" name="Je berekent omzet en winst bij één en bij twee prijzen.">
            <a:extLst xmlns:a="http://schemas.openxmlformats.org/drawingml/2006/main">
              <a:ext uri="{FF2B5EF4-FFF2-40B4-BE49-F238E27FC236}">
                <a16:creationId xmlns:a16="http://schemas.microsoft.com/office/drawing/2014/main" id="{F177D7DE-4187-47AD-90DF-41C150874208}"/>
              </a:ext>
            </a:extLst>
          </p:cNvPr>
          <p:cNvSpPr>
            <a:spLocks xmlns:a="http://schemas.openxmlformats.org/drawingml/2006/main" noGrp="1"/>
          </p:cNvSpPr>
          <p:nvPr/>
        </p:nvSpPr>
        <p:spPr>
          <a:xfrm xmlns:a="http://schemas.openxmlformats.org/drawingml/2006/main">
            <a:off x="5381625" y="474345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berekent omzet en winst bij één en bij twee prijzen.</a:t>
            </a:r>
          </a:p>
        </p:txBody>
      </p:sp>
      <p:sp>
        <p:nvSpPr>
          <p:cNvPr id="13" name="">
            <a:extLst xmlns:a="http://schemas.openxmlformats.org/drawingml/2006/main">
              <a:ext uri="{FF2B5EF4-FFF2-40B4-BE49-F238E27FC236}">
                <a16:creationId xmlns:a16="http://schemas.microsoft.com/office/drawing/2014/main" id="{5A77AC22-0F99-42B8-8FAA-AFA0AF384763}"/>
              </a:ext>
            </a:extLst>
          </p:cNvPr>
          <p:cNvSpPr>
            <a:spLocks xmlns:a="http://schemas.openxmlformats.org/drawingml/2006/main" noGrp="1"/>
          </p:cNvSpPr>
          <p:nvPr/>
        </p:nvSpPr>
        <p:spPr>
          <a:xfrm xmlns:a="http://schemas.openxmlformats.org/drawingml/2006/main">
            <a:off x="571500" y="5829300"/>
            <a:ext cx="14097000" cy="0"/>
          </a:xfrm>
          <a:prstGeom xmlns:a="http://schemas.openxmlformats.org/drawingml/2006/main" prst="line">
            <a:avLst/>
          </a:prstGeom>
          <a:ln xmlns:a="http://schemas.openxmlformats.org/drawingml/2006/main" w="19050">
            <a:solidFill>
              <a:srgbClr val="C6D2DB"/>
            </a:solidFill>
          </a:ln>
        </p:spPr>
      </p:sp>
      <p:sp>
        <p:nvSpPr>
          <p:cNvPr id="14" name="Welvaart beoordelen">
            <a:extLst xmlns:a="http://schemas.openxmlformats.org/drawingml/2006/main">
              <a:ext uri="{FF2B5EF4-FFF2-40B4-BE49-F238E27FC236}">
                <a16:creationId xmlns:a16="http://schemas.microsoft.com/office/drawing/2014/main" id="{1556E874-B7E3-4FF6-999B-0E59573D19DF}"/>
              </a:ext>
            </a:extLst>
          </p:cNvPr>
          <p:cNvSpPr>
            <a:spLocks xmlns:a="http://schemas.openxmlformats.org/drawingml/2006/main" noGrp="1"/>
          </p:cNvSpPr>
          <p:nvPr/>
        </p:nvSpPr>
        <p:spPr>
          <a:xfrm xmlns:a="http://schemas.openxmlformats.org/drawingml/2006/main">
            <a:off x="571500" y="6124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Welvaart beoordelen</a:t>
            </a:r>
          </a:p>
        </p:txBody>
      </p:sp>
      <p:sp>
        <p:nvSpPr>
          <p:cNvPr id="15" name="Je vergelijkt CS, PS en TS en begrenst je conclusie.">
            <a:extLst xmlns:a="http://schemas.openxmlformats.org/drawingml/2006/main">
              <a:ext uri="{FF2B5EF4-FFF2-40B4-BE49-F238E27FC236}">
                <a16:creationId xmlns:a16="http://schemas.microsoft.com/office/drawing/2014/main" id="{8B734E75-CA10-4504-A2F5-37BF8715AA33}"/>
              </a:ext>
            </a:extLst>
          </p:cNvPr>
          <p:cNvSpPr>
            <a:spLocks xmlns:a="http://schemas.openxmlformats.org/drawingml/2006/main" noGrp="1"/>
          </p:cNvSpPr>
          <p:nvPr/>
        </p:nvSpPr>
        <p:spPr>
          <a:xfrm xmlns:a="http://schemas.openxmlformats.org/drawingml/2006/main">
            <a:off x="5381625" y="612457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vergelijkt CS, PS en TS en begrenst je conclusie.</a:t>
            </a:r>
          </a:p>
        </p:txBody>
      </p:sp>
    </p:spTree>
    <p:extLst>
      <p:ext uri="{BB962C8B-B14F-4D97-AF65-F5344CB8AC3E}">
        <p14:creationId xmlns:p14="http://schemas.microsoft.com/office/powerpoint/2010/main" val="1228976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ijsdiscriminatie en de voorwaarden">
            <a:extLst xmlns:a="http://schemas.openxmlformats.org/drawingml/2006/main">
              <a:ext uri="{FF2B5EF4-FFF2-40B4-BE49-F238E27FC236}">
                <a16:creationId xmlns:a16="http://schemas.microsoft.com/office/drawing/2014/main" id="{FF195AE8-6923-4C63-947E-7532AF747032}"/>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Prijsdiscriminatie en de voorwaarden</a:t>
            </a:r>
          </a:p>
        </p:txBody>
      </p:sp>
      <p:sp>
        <p:nvSpPr>
          <p:cNvPr id="2" name="">
            <a:extLst xmlns:a="http://schemas.openxmlformats.org/drawingml/2006/main">
              <a:ext uri="{FF2B5EF4-FFF2-40B4-BE49-F238E27FC236}">
                <a16:creationId xmlns:a16="http://schemas.microsoft.com/office/drawing/2014/main" id="{0EA44DF3-DFCC-47DB-B286-DCFD8F7097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a:extLst xmlns:a="http://schemas.openxmlformats.org/drawingml/2006/main">
              <a:ext uri="{FF2B5EF4-FFF2-40B4-BE49-F238E27FC236}">
                <a16:creationId xmlns:a16="http://schemas.microsoft.com/office/drawing/2014/main" id="{E03DB013-A5E7-48E8-BA1A-80A394920A0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a:t>
            </a:r>
          </a:p>
        </p:txBody>
      </p:sp>
      <p:sp>
        <p:nvSpPr>
          <p:cNvPr id="4" name="3">
            <a:extLst xmlns:a="http://schemas.openxmlformats.org/drawingml/2006/main">
              <a:ext uri="{FF2B5EF4-FFF2-40B4-BE49-F238E27FC236}">
                <a16:creationId xmlns:a16="http://schemas.microsoft.com/office/drawing/2014/main" id="{41019CE0-BEFC-4391-9C9A-6E7D298DAFF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Dezelfde dienst, verschillende prijzen, zonder kostenverklar">
            <a:extLst xmlns:a="http://schemas.openxmlformats.org/drawingml/2006/main">
              <a:ext uri="{FF2B5EF4-FFF2-40B4-BE49-F238E27FC236}">
                <a16:creationId xmlns:a16="http://schemas.microsoft.com/office/drawing/2014/main" id="{38D35168-424B-4DF3-AF36-A505507C778F}"/>
              </a:ext>
            </a:extLst>
          </p:cNvPr>
          <p:cNvSpPr>
            <a:spLocks xmlns:a="http://schemas.openxmlformats.org/drawingml/2006/main" noGrp="1"/>
          </p:cNvSpPr>
          <p:nvPr/>
        </p:nvSpPr>
        <p:spPr>
          <a:xfrm xmlns:a="http://schemas.openxmlformats.org/drawingml/2006/main">
            <a:off x="571500" y="1752600"/>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Dezelfde dienst, verschillende prijzen, zonder kostenverklaring</a:t>
            </a:r>
          </a:p>
        </p:txBody>
      </p:sp>
      <p:graphicFrame>
        <p:nvGraphicFramePr>
          <p:cNvPr id="13" name=""/>
          <p:cNvGraphicFramePr/>
          <p:nvPr/>
        </p:nvGraphicFramePr>
        <p:xfrm>
          <a:off xmlns:a="http://schemas.openxmlformats.org/drawingml/2006/main" x="571500" y="3209925"/>
          <a:ext xmlns:a="http://schemas.openxmlformats.org/drawingml/2006/main" cx="14097000" cy="3333750"/>
        </p:xfrm>
        <a:graphic xmlns:a="http://schemas.openxmlformats.org/drawingml/2006/main">
          <a:graphicData uri="http://schemas.openxmlformats.org/drawingml/2006/table">
            <a:tbl>
              <a:tblPr/>
              <a:tblGrid>
                <a:gridCol w="6286500"/>
                <a:gridCol w="7810500"/>
              </a:tblGrid>
              <a:tr h="833438">
                <a:tc>
                  <a:txBody>
                    <a:bodyPr lIns="171450" tIns="95250" rIns="152400" bIns="95250"/>
                    <a:lstStyle/>
                    <a:p>
                      <a:r>
                        <a:rPr sz="2400" b="1">
                          <a:solidFill>
                            <a:srgbClr val="FFFFFF"/>
                          </a:solidFill>
                          <a:latin typeface="Arial"/>
                          <a:ea typeface="Arial"/>
                          <a:cs typeface="Arial"/>
                        </a:rPr>
                        <a:t>Voorwaarde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Bij een persoonlijk toegangsbewijs</a:t>
                      </a:r>
                    </a:p>
                  </a:txBody>
                  <a:tcPr marL="91440" marR="91440" marT="45720" marB="45720" anchor="ctr">
                    <a:solidFill>
                      <a:srgbClr val="183247"/>
                    </a:solidFill>
                  </a:tcPr>
                </a:tc>
              </a:tr>
              <a:tr h="833438">
                <a:tc>
                  <a:txBody>
                    <a:bodyPr lIns="171450" tIns="95250" rIns="152400" bIns="95250"/>
                    <a:lstStyle/>
                    <a:p>
                      <a:r>
                        <a:rPr sz="2400" b="0">
                          <a:solidFill>
                            <a:srgbClr val="183247"/>
                          </a:solidFill>
                          <a:latin typeface="Arial"/>
                          <a:ea typeface="Arial"/>
                          <a:cs typeface="Arial"/>
                        </a:rPr>
                        <a:t>Marktmacht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De aanbieder kan de prijs beïnvloeden.</a:t>
                      </a:r>
                    </a:p>
                  </a:txBody>
                  <a:tcPr marL="91440" marR="91440" marT="45720" marB="45720" anchor="ctr">
                    <a:solidFill>
                      <a:srgbClr val="FFFFFF"/>
                    </a:solidFill>
                  </a:tcPr>
                </a:tc>
              </a:tr>
              <a:tr h="833438">
                <a:tc>
                  <a:txBody>
                    <a:bodyPr lIns="171450" tIns="95250" rIns="152400" bIns="95250"/>
                    <a:lstStyle/>
                    <a:p>
                      <a:r>
                        <a:rPr sz="2400" b="0">
                          <a:solidFill>
                            <a:srgbClr val="183247"/>
                          </a:solidFill>
                          <a:latin typeface="Arial"/>
                          <a:ea typeface="Arial"/>
                          <a:cs typeface="Arial"/>
                        </a:rPr>
                        <a:t>Groepen herkennen en apart behandelen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Controle bepaalt wie welk tarief krijgt.</a:t>
                      </a:r>
                    </a:p>
                  </a:txBody>
                  <a:tcPr marL="91440" marR="91440" marT="45720" marB="45720" anchor="ctr">
                    <a:solidFill>
                      <a:srgbClr val="EFF4F7"/>
                    </a:solidFill>
                  </a:tcPr>
                </a:tc>
              </a:tr>
              <a:tr h="833438">
                <a:tc>
                  <a:txBody>
                    <a:bodyPr lIns="171450" tIns="95250" rIns="152400" bIns="95250"/>
                    <a:lstStyle/>
                    <a:p>
                      <a:r>
                        <a:rPr sz="2400" b="0">
                          <a:solidFill>
                            <a:srgbClr val="183247"/>
                          </a:solidFill>
                          <a:latin typeface="Arial"/>
                          <a:ea typeface="Arial"/>
                          <a:cs typeface="Arial"/>
                        </a:rPr>
                        <a:t>Doorverkoop verhinderen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De pas is alleen door de houder te gebruiken.</a:t>
                      </a:r>
                    </a:p>
                  </a:txBody>
                  <a:tcPr marL="91440" marR="91440" marT="45720" marB="45720" anchor="ctr">
                    <a:solidFill>
                      <a:srgbClr val="FFFFFF"/>
                    </a:solidFill>
                  </a:tcPr>
                </a:tc>
              </a:tr>
            </a:tbl>
          </a:graphicData>
        </a:graphic>
      </p:graphicFrame>
      <p:sp>
        <p:nvSpPr>
          <p:cNvPr id="7" name="Een uitgebreidere dienst of extra bezorgkosten vraagt een an">
            <a:extLst xmlns:a="http://schemas.openxmlformats.org/drawingml/2006/main">
              <a:ext uri="{FF2B5EF4-FFF2-40B4-BE49-F238E27FC236}">
                <a16:creationId xmlns:a16="http://schemas.microsoft.com/office/drawing/2014/main" id="{661F3E86-3286-4099-8AE6-12A7C0F412F0}"/>
              </a:ext>
            </a:extLst>
          </p:cNvPr>
          <p:cNvSpPr>
            <a:spLocks xmlns:a="http://schemas.openxmlformats.org/drawingml/2006/main" noGrp="1"/>
          </p:cNvSpPr>
          <p:nvPr/>
        </p:nvSpPr>
        <p:spPr>
          <a:xfrm xmlns:a="http://schemas.openxmlformats.org/drawingml/2006/main">
            <a:off x="571500" y="70866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Een uitgebreidere dienst of extra bezorgkosten vraagt een andere beoordeling.</a:t>
            </a:r>
          </a:p>
        </p:txBody>
      </p:sp>
    </p:spTree>
    <p:extLst>
      <p:ext uri="{BB962C8B-B14F-4D97-AF65-F5344CB8AC3E}">
        <p14:creationId xmlns:p14="http://schemas.microsoft.com/office/powerpoint/2010/main" val="8005183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peelatelier: twee groepen, één bedrijf">
            <a:extLst xmlns:a="http://schemas.openxmlformats.org/drawingml/2006/main">
              <a:ext uri="{FF2B5EF4-FFF2-40B4-BE49-F238E27FC236}">
                <a16:creationId xmlns:a16="http://schemas.microsoft.com/office/drawing/2014/main" id="{2AC7893F-5012-4DFF-9211-152D9DA4D100}"/>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Speelatelier: twee groepen, één bedrijf</a:t>
            </a:r>
          </a:p>
        </p:txBody>
      </p:sp>
      <p:sp>
        <p:nvSpPr>
          <p:cNvPr id="2" name="">
            <a:extLst xmlns:a="http://schemas.openxmlformats.org/drawingml/2006/main">
              <a:ext uri="{FF2B5EF4-FFF2-40B4-BE49-F238E27FC236}">
                <a16:creationId xmlns:a16="http://schemas.microsoft.com/office/drawing/2014/main" id="{6DB6FAC5-61A6-4E38-9BD6-D5D477078B8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C68C893-03E2-477B-92B8-09359ED44F9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41F9D457-0FF9-4D94-8E9D-A11E5231F0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Dezelfde toegang, gecontroleerde persoonlijke passen, marktm">
            <a:extLst xmlns:a="http://schemas.openxmlformats.org/drawingml/2006/main">
              <a:ext uri="{FF2B5EF4-FFF2-40B4-BE49-F238E27FC236}">
                <a16:creationId xmlns:a16="http://schemas.microsoft.com/office/drawing/2014/main" id="{9265883F-A0C0-4178-924C-79BFE3625DEE}"/>
              </a:ext>
            </a:extLst>
          </p:cNvPr>
          <p:cNvSpPr>
            <a:spLocks xmlns:a="http://schemas.openxmlformats.org/drawingml/2006/main" noGrp="1"/>
          </p:cNvSpPr>
          <p:nvPr/>
        </p:nvSpPr>
        <p:spPr>
          <a:xfrm xmlns:a="http://schemas.openxmlformats.org/drawingml/2006/main">
            <a:off x="571500" y="18097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Dezelfde toegang, gecontroleerde persoonlijke passen, marktmacht</a:t>
            </a:r>
          </a:p>
        </p:txBody>
      </p:sp>
      <p:graphicFrame>
        <p:nvGraphicFramePr>
          <p:cNvPr id="13" name=""/>
          <p:cNvGraphicFramePr/>
          <p:nvPr/>
        </p:nvGraphicFramePr>
        <p:xfrm>
          <a:off xmlns:a="http://schemas.openxmlformats.org/drawingml/2006/main" x="571500" y="3038475"/>
          <a:ext xmlns:a="http://schemas.openxmlformats.org/drawingml/2006/main" cx="14097000" cy="2533650"/>
        </p:xfrm>
        <a:graphic xmlns:a="http://schemas.openxmlformats.org/drawingml/2006/main">
          <a:graphicData uri="http://schemas.openxmlformats.org/drawingml/2006/table">
            <a:tbl>
              <a:tblPr/>
              <a:tblGrid>
                <a:gridCol w="5905500"/>
                <a:gridCol w="4095750"/>
                <a:gridCol w="4095750"/>
              </a:tblGrid>
              <a:tr h="844550">
                <a:tc>
                  <a:txBody>
                    <a:bodyPr lIns="171450" tIns="95250" rIns="152400" bIns="95250"/>
                    <a:lstStyle/>
                    <a:p>
                      <a:r>
                        <a:rPr sz="240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 A</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 B</a:t>
                      </a:r>
                    </a:p>
                  </a:txBody>
                  <a:tcPr marL="91440" marR="91440" marT="45720" marB="45720" anchor="ctr">
                    <a:solidFill>
                      <a:srgbClr val="183247"/>
                    </a:solidFill>
                  </a:tcPr>
                </a:tc>
              </a:tr>
              <a:tr h="844550">
                <a:tc>
                  <a:txBody>
                    <a:bodyPr lIns="171450" tIns="95250" rIns="152400" bIns="95250"/>
                    <a:lstStyle/>
                    <a:p>
                      <a:r>
                        <a:rPr sz="2400" b="0">
                          <a:solidFill>
                            <a:srgbClr val="183247"/>
                          </a:solidFill>
                          <a:latin typeface="Arial"/>
                          <a:ea typeface="Arial"/>
                          <a:cs typeface="Arial"/>
                        </a:rPr>
                        <a:t>Vraag (€ per bezoek)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P_A = 30 − Q_A</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P_B = 18 − Q_B</a:t>
                      </a:r>
                    </a:p>
                  </a:txBody>
                  <a:tcPr marL="91440" marR="91440" marT="45720" marB="45720" anchor="ctr">
                    <a:solidFill>
                      <a:srgbClr val="FFFFFF"/>
                    </a:solidFill>
                  </a:tcPr>
                </a:tc>
              </a:tr>
              <a:tr h="844550">
                <a:tc>
                  <a:txBody>
                    <a:bodyPr lIns="171450" tIns="95250" rIns="152400" bIns="95250"/>
                    <a:lstStyle/>
                    <a:p>
                      <a:r>
                        <a:rPr sz="2400" b="0">
                          <a:solidFill>
                            <a:srgbClr val="183247"/>
                          </a:solidFill>
                          <a:latin typeface="Arial"/>
                          <a:ea typeface="Arial"/>
                          <a:cs typeface="Arial"/>
                        </a:rPr>
                        <a:t>Domein (bezoeken per 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 Q_A ≤ 30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 Q_B ≤ 18</a:t>
                      </a:r>
                    </a:p>
                  </a:txBody>
                  <a:tcPr marL="91440" marR="91440" marT="45720" marB="45720" anchor="ctr">
                    <a:solidFill>
                      <a:srgbClr val="EFF4F7"/>
                    </a:solidFill>
                  </a:tcPr>
                </a:tc>
              </a:tr>
            </a:tbl>
          </a:graphicData>
        </a:graphic>
      </p:graphicFrame>
      <p:sp>
        <p:nvSpPr>
          <p:cNvPr id="7" name="MK = € 6 per bezoek · TCK = € 36 per week&#10;Capaciteit: 48 bez">
            <a:extLst xmlns:a="http://schemas.openxmlformats.org/drawingml/2006/main">
              <a:ext uri="{FF2B5EF4-FFF2-40B4-BE49-F238E27FC236}">
                <a16:creationId xmlns:a16="http://schemas.microsoft.com/office/drawing/2014/main" id="{5CB674BF-BA1C-475A-9C0C-7ED57AB55236}"/>
              </a:ext>
            </a:extLst>
          </p:cNvPr>
          <p:cNvSpPr>
            <a:spLocks xmlns:a="http://schemas.openxmlformats.org/drawingml/2006/main" noGrp="1"/>
          </p:cNvSpPr>
          <p:nvPr/>
        </p:nvSpPr>
        <p:spPr>
          <a:xfrm xmlns:a="http://schemas.openxmlformats.org/drawingml/2006/main">
            <a:off x="571500" y="6086475"/>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€ 6 per bezoek · TCK = € 36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Capaciteit: 48 bezoeken. Vraag en kosten blijven gelijk.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Eén vergelijkingsprijs is gegeven: € 15. Geen externe effecten.</a:t>
            </a:r>
          </a:p>
        </p:txBody>
      </p:sp>
    </p:spTree>
    <p:extLst>
      <p:ext uri="{BB962C8B-B14F-4D97-AF65-F5344CB8AC3E}">
        <p14:creationId xmlns:p14="http://schemas.microsoft.com/office/powerpoint/2010/main" val="5486868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Groep A: de marginale opbrengst">
            <a:extLst xmlns:a="http://schemas.openxmlformats.org/drawingml/2006/main">
              <a:ext uri="{FF2B5EF4-FFF2-40B4-BE49-F238E27FC236}">
                <a16:creationId xmlns:a16="http://schemas.microsoft.com/office/drawing/2014/main" id="{A68D9F54-4E7D-4B43-8F62-8A4BAF251702}"/>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Groep A: de marginale opbrengst</a:t>
            </a:r>
          </a:p>
        </p:txBody>
      </p:sp>
      <p:sp>
        <p:nvSpPr>
          <p:cNvPr id="2" name="">
            <a:extLst xmlns:a="http://schemas.openxmlformats.org/drawingml/2006/main">
              <a:ext uri="{FF2B5EF4-FFF2-40B4-BE49-F238E27FC236}">
                <a16:creationId xmlns:a16="http://schemas.microsoft.com/office/drawing/2014/main" id="{2ED4B8D8-7CBD-4D83-9E0A-51C9F0186F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0D13F7E-699B-4A06-BBDE-CF683187348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7574EBC5-99B4-42A5-A501-6A8AE16061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Vraag">
            <a:extLst xmlns:a="http://schemas.openxmlformats.org/drawingml/2006/main">
              <a:ext uri="{FF2B5EF4-FFF2-40B4-BE49-F238E27FC236}">
                <a16:creationId xmlns:a16="http://schemas.microsoft.com/office/drawing/2014/main" id="{646DA72A-09FC-434D-AA53-4AAD4D6F41BE}"/>
              </a:ext>
            </a:extLst>
          </p:cNvPr>
          <p:cNvSpPr>
            <a:spLocks xmlns:a="http://schemas.openxmlformats.org/drawingml/2006/main" noGrp="1"/>
          </p:cNvSpPr>
          <p:nvPr/>
        </p:nvSpPr>
        <p:spPr>
          <a:xfrm xmlns:a="http://schemas.openxmlformats.org/drawingml/2006/main">
            <a:off x="571500" y="2238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Vraag</a:t>
            </a:r>
          </a:p>
        </p:txBody>
      </p:sp>
      <p:sp>
        <p:nvSpPr>
          <p:cNvPr id="6" name="P_A = 30 − Q_A">
            <a:extLst xmlns:a="http://schemas.openxmlformats.org/drawingml/2006/main">
              <a:ext uri="{FF2B5EF4-FFF2-40B4-BE49-F238E27FC236}">
                <a16:creationId xmlns:a16="http://schemas.microsoft.com/office/drawing/2014/main" id="{105FD7C2-398A-47DC-8101-AF708EB6035D}"/>
              </a:ext>
            </a:extLst>
          </p:cNvPr>
          <p:cNvSpPr>
            <a:spLocks xmlns:a="http://schemas.openxmlformats.org/drawingml/2006/main" noGrp="1"/>
          </p:cNvSpPr>
          <p:nvPr/>
        </p:nvSpPr>
        <p:spPr>
          <a:xfrm xmlns:a="http://schemas.openxmlformats.org/drawingml/2006/main">
            <a:off x="5381625" y="223837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P_A = 30 − Q_A</a:t>
            </a:r>
          </a:p>
        </p:txBody>
      </p:sp>
      <p:sp>
        <p:nvSpPr>
          <p:cNvPr id="7" name="">
            <a:extLst xmlns:a="http://schemas.openxmlformats.org/drawingml/2006/main">
              <a:ext uri="{FF2B5EF4-FFF2-40B4-BE49-F238E27FC236}">
                <a16:creationId xmlns:a16="http://schemas.microsoft.com/office/drawing/2014/main" id="{B2B84986-279C-409E-ADDB-72E3919C0B2D}"/>
              </a:ext>
            </a:extLst>
          </p:cNvPr>
          <p:cNvSpPr>
            <a:spLocks xmlns:a="http://schemas.openxmlformats.org/drawingml/2006/main" noGrp="1"/>
          </p:cNvSpPr>
          <p:nvPr/>
        </p:nvSpPr>
        <p:spPr>
          <a:xfrm xmlns:a="http://schemas.openxmlformats.org/drawingml/2006/main">
            <a:off x="571500" y="3324225"/>
            <a:ext cx="14097000" cy="0"/>
          </a:xfrm>
          <a:prstGeom xmlns:a="http://schemas.openxmlformats.org/drawingml/2006/main" prst="line">
            <a:avLst/>
          </a:prstGeom>
          <a:ln xmlns:a="http://schemas.openxmlformats.org/drawingml/2006/main" w="19050">
            <a:solidFill>
              <a:srgbClr val="C6D2DB"/>
            </a:solidFill>
          </a:ln>
        </p:spPr>
      </p:sp>
      <p:sp>
        <p:nvSpPr>
          <p:cNvPr id="8" name="Totale omzet">
            <a:extLst xmlns:a="http://schemas.openxmlformats.org/drawingml/2006/main">
              <a:ext uri="{FF2B5EF4-FFF2-40B4-BE49-F238E27FC236}">
                <a16:creationId xmlns:a16="http://schemas.microsoft.com/office/drawing/2014/main" id="{52D39D10-7B3B-4447-BCEC-565C9F97B8EB}"/>
              </a:ext>
            </a:extLst>
          </p:cNvPr>
          <p:cNvSpPr>
            <a:spLocks xmlns:a="http://schemas.openxmlformats.org/drawingml/2006/main" noGrp="1"/>
          </p:cNvSpPr>
          <p:nvPr/>
        </p:nvSpPr>
        <p:spPr>
          <a:xfrm xmlns:a="http://schemas.openxmlformats.org/drawingml/2006/main">
            <a:off x="571500" y="37719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Totale omzet</a:t>
            </a:r>
          </a:p>
        </p:txBody>
      </p:sp>
      <p:sp>
        <p:nvSpPr>
          <p:cNvPr id="9" name="TO_A = P_A × Q_A = 30Q_A − Q_A²">
            <a:extLst xmlns:a="http://schemas.openxmlformats.org/drawingml/2006/main">
              <a:ext uri="{FF2B5EF4-FFF2-40B4-BE49-F238E27FC236}">
                <a16:creationId xmlns:a16="http://schemas.microsoft.com/office/drawing/2014/main" id="{991AA592-9BA2-498C-B7A0-3D874D0F674E}"/>
              </a:ext>
            </a:extLst>
          </p:cNvPr>
          <p:cNvSpPr>
            <a:spLocks xmlns:a="http://schemas.openxmlformats.org/drawingml/2006/main" noGrp="1"/>
          </p:cNvSpPr>
          <p:nvPr/>
        </p:nvSpPr>
        <p:spPr>
          <a:xfrm xmlns:a="http://schemas.openxmlformats.org/drawingml/2006/main">
            <a:off x="5381625" y="377190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TO_A = P_A × Q_A = 30Q_A − Q_A²</a:t>
            </a:r>
          </a:p>
        </p:txBody>
      </p:sp>
      <p:sp>
        <p:nvSpPr>
          <p:cNvPr id="10" name="">
            <a:extLst xmlns:a="http://schemas.openxmlformats.org/drawingml/2006/main">
              <a:ext uri="{FF2B5EF4-FFF2-40B4-BE49-F238E27FC236}">
                <a16:creationId xmlns:a16="http://schemas.microsoft.com/office/drawing/2014/main" id="{8FA547D5-CBC6-472A-8D2E-502E1E07C13B}"/>
              </a:ext>
            </a:extLst>
          </p:cNvPr>
          <p:cNvSpPr>
            <a:spLocks xmlns:a="http://schemas.openxmlformats.org/drawingml/2006/main" noGrp="1"/>
          </p:cNvSpPr>
          <p:nvPr/>
        </p:nvSpPr>
        <p:spPr>
          <a:xfrm xmlns:a="http://schemas.openxmlformats.org/drawingml/2006/main">
            <a:off x="571500" y="4857750"/>
            <a:ext cx="14097000" cy="0"/>
          </a:xfrm>
          <a:prstGeom xmlns:a="http://schemas.openxmlformats.org/drawingml/2006/main" prst="line">
            <a:avLst/>
          </a:prstGeom>
          <a:ln xmlns:a="http://schemas.openxmlformats.org/drawingml/2006/main" w="19050">
            <a:solidFill>
              <a:srgbClr val="C6D2DB"/>
            </a:solidFill>
          </a:ln>
        </p:spPr>
      </p:sp>
      <p:sp>
        <p:nvSpPr>
          <p:cNvPr id="11" name="Afgeleide">
            <a:extLst xmlns:a="http://schemas.openxmlformats.org/drawingml/2006/main">
              <a:ext uri="{FF2B5EF4-FFF2-40B4-BE49-F238E27FC236}">
                <a16:creationId xmlns:a16="http://schemas.microsoft.com/office/drawing/2014/main" id="{A408445A-54DB-430B-B165-7E9E1D45B805}"/>
              </a:ext>
            </a:extLst>
          </p:cNvPr>
          <p:cNvSpPr>
            <a:spLocks xmlns:a="http://schemas.openxmlformats.org/drawingml/2006/main" noGrp="1"/>
          </p:cNvSpPr>
          <p:nvPr/>
        </p:nvSpPr>
        <p:spPr>
          <a:xfrm xmlns:a="http://schemas.openxmlformats.org/drawingml/2006/main">
            <a:off x="571500" y="53054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Afgeleide</a:t>
            </a:r>
          </a:p>
        </p:txBody>
      </p:sp>
      <p:sp>
        <p:nvSpPr>
          <p:cNvPr id="12" name="MO_A = 30 − 2Q_A">
            <a:extLst xmlns:a="http://schemas.openxmlformats.org/drawingml/2006/main">
              <a:ext uri="{FF2B5EF4-FFF2-40B4-BE49-F238E27FC236}">
                <a16:creationId xmlns:a16="http://schemas.microsoft.com/office/drawing/2014/main" id="{57421175-78DA-4161-9B78-19A03535F9B6}"/>
              </a:ext>
            </a:extLst>
          </p:cNvPr>
          <p:cNvSpPr>
            <a:spLocks xmlns:a="http://schemas.openxmlformats.org/drawingml/2006/main" noGrp="1"/>
          </p:cNvSpPr>
          <p:nvPr/>
        </p:nvSpPr>
        <p:spPr>
          <a:xfrm xmlns:a="http://schemas.openxmlformats.org/drawingml/2006/main">
            <a:off x="5381625" y="530542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MO_A = 30 − 2Q_A</a:t>
            </a:r>
          </a:p>
        </p:txBody>
      </p:sp>
      <p:sp>
        <p:nvSpPr>
          <p:cNvPr id="13" name="Een lagere uniforme groepsprijs geldt ook voor eerdere verko">
            <a:extLst xmlns:a="http://schemas.openxmlformats.org/drawingml/2006/main">
              <a:ext uri="{FF2B5EF4-FFF2-40B4-BE49-F238E27FC236}">
                <a16:creationId xmlns:a16="http://schemas.microsoft.com/office/drawing/2014/main" id="{9F37D8EF-9078-42EF-925D-652CF53D6562}"/>
              </a:ext>
            </a:extLst>
          </p:cNvPr>
          <p:cNvSpPr>
            <a:spLocks xmlns:a="http://schemas.openxmlformats.org/drawingml/2006/main" noGrp="1"/>
          </p:cNvSpPr>
          <p:nvPr/>
        </p:nvSpPr>
        <p:spPr>
          <a:xfrm xmlns:a="http://schemas.openxmlformats.org/drawingml/2006/main">
            <a:off x="571500" y="72390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Een lagere uniforme groepsprijs geldt ook voor eerdere verkopen.</a:t>
            </a:r>
          </a:p>
        </p:txBody>
      </p:sp>
    </p:spTree>
    <p:extLst>
      <p:ext uri="{BB962C8B-B14F-4D97-AF65-F5344CB8AC3E}">
        <p14:creationId xmlns:p14="http://schemas.microsoft.com/office/powerpoint/2010/main" val="17353010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roep A: eerst de hoeveelheid">
            <a:extLst xmlns:a="http://schemas.openxmlformats.org/drawingml/2006/main">
              <a:ext uri="{FF2B5EF4-FFF2-40B4-BE49-F238E27FC236}">
                <a16:creationId xmlns:a16="http://schemas.microsoft.com/office/drawing/2014/main" id="{36BA4C86-DD01-4950-A228-3C35C55A11E7}"/>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Groep A: eerst de hoeveelheid</a:t>
            </a:r>
          </a:p>
        </p:txBody>
      </p:sp>
      <p:sp>
        <p:nvSpPr>
          <p:cNvPr id="2" name="">
            <a:extLst xmlns:a="http://schemas.openxmlformats.org/drawingml/2006/main">
              <a:ext uri="{FF2B5EF4-FFF2-40B4-BE49-F238E27FC236}">
                <a16:creationId xmlns:a16="http://schemas.microsoft.com/office/drawing/2014/main" id="{7AEB372F-140F-40E4-90EE-BF4F53535A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E1C2FCE-B86A-4F86-90CD-E010D51CD8A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3AA405FD-5AAB-4C0A-A7B5-1F4D582C376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3" name="Chart"/>
          <p:cNvGraphicFramePr/>
          <p:nvPr/>
        </p:nvGraphicFramePr>
        <p:xfrm>
          <a:off xmlns:a="http://schemas.openxmlformats.org/drawingml/2006/main" x="571500" y="2209800"/>
          <a:ext xmlns:a="http://schemas.openxmlformats.org/drawingml/2006/main" cx="9525000" cy="5381625"/>
        </p:xfrm>
        <a:graphic xmlns:a="http://schemas.openxmlformats.org/drawingml/2006/main">
          <a:graphicData uri="http://schemas.openxmlformats.org/drawingml/2006/chart">
            <c:chart xmlns:r="http://schemas.openxmlformats.org/officeDocument/2006/relationships" xmlns:c="http://schemas.openxmlformats.org/drawingml/2006/chart" r:id="R68b7c328e2db48b4"/>
          </a:graphicData>
        </a:graphic>
      </p:graphicFrame>
      <p:sp>
        <p:nvSpPr>
          <p:cNvPr id="6" name="MO_A = MK">
            <a:extLst xmlns:a="http://schemas.openxmlformats.org/drawingml/2006/main">
              <a:ext uri="{FF2B5EF4-FFF2-40B4-BE49-F238E27FC236}">
                <a16:creationId xmlns:a16="http://schemas.microsoft.com/office/drawing/2014/main" id="{ECA2E704-3DDD-49AE-8C3D-7C6975B812E6}"/>
              </a:ext>
            </a:extLst>
          </p:cNvPr>
          <p:cNvSpPr>
            <a:spLocks xmlns:a="http://schemas.openxmlformats.org/drawingml/2006/main" noGrp="1"/>
          </p:cNvSpPr>
          <p:nvPr/>
        </p:nvSpPr>
        <p:spPr>
          <a:xfrm xmlns:a="http://schemas.openxmlformats.org/drawingml/2006/main">
            <a:off x="10572750" y="20478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7B2D8E"/>
                </a:solidFill>
                <a:latin typeface="Arial"/>
                <a:ea typeface="Arial"/>
                <a:cs typeface="Arial"/>
              </a:defRPr>
            </a:pPr>
            <a:r>
              <a:rPr sz="2700" b="1">
                <a:solidFill>
                  <a:srgbClr val="7B2D8E"/>
                </a:solidFill>
                <a:latin typeface="Arial"/>
                <a:ea typeface="Arial"/>
                <a:cs typeface="Arial"/>
              </a:rPr>
              <a:t>MO_A = MK</a:t>
            </a:r>
          </a:p>
        </p:txBody>
      </p:sp>
      <p:sp>
        <p:nvSpPr>
          <p:cNvPr id="7" name="30 − 2Q_A = 6&#10;24 = 2Q_A&#10;Q_A = 12">
            <a:extLst xmlns:a="http://schemas.openxmlformats.org/drawingml/2006/main">
              <a:ext uri="{FF2B5EF4-FFF2-40B4-BE49-F238E27FC236}">
                <a16:creationId xmlns:a16="http://schemas.microsoft.com/office/drawing/2014/main" id="{D02F85C2-71A0-42CC-BCB3-79AD3100FD46}"/>
              </a:ext>
            </a:extLst>
          </p:cNvPr>
          <p:cNvSpPr>
            <a:spLocks xmlns:a="http://schemas.openxmlformats.org/drawingml/2006/main" noGrp="1"/>
          </p:cNvSpPr>
          <p:nvPr/>
        </p:nvSpPr>
        <p:spPr>
          <a:xfrm xmlns:a="http://schemas.openxmlformats.org/drawingml/2006/main">
            <a:off x="10572750" y="2924175"/>
            <a:ext cx="40481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30 − 2Q_A = 6</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24 = 2Q_A</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Q_A = 12</a:t>
            </a:r>
          </a:p>
        </p:txBody>
      </p:sp>
      <p:sp>
        <p:nvSpPr>
          <p:cNvPr id="8" name="Vóór Q_A = 12:&#10;MO &gt; MK&#10;&#10;Erna: MO &lt; MK">
            <a:extLst xmlns:a="http://schemas.openxmlformats.org/drawingml/2006/main">
              <a:ext uri="{FF2B5EF4-FFF2-40B4-BE49-F238E27FC236}">
                <a16:creationId xmlns:a16="http://schemas.microsoft.com/office/drawing/2014/main" id="{BCE6D713-7530-42B0-B591-6A971616F730}"/>
              </a:ext>
            </a:extLst>
          </p:cNvPr>
          <p:cNvSpPr>
            <a:spLocks xmlns:a="http://schemas.openxmlformats.org/drawingml/2006/main" noGrp="1"/>
          </p:cNvSpPr>
          <p:nvPr/>
        </p:nvSpPr>
        <p:spPr>
          <a:xfrm xmlns:a="http://schemas.openxmlformats.org/drawingml/2006/main">
            <a:off x="10572750" y="5257800"/>
            <a:ext cx="4048125"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Vóór Q_A = 12:</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MO &gt; MK</a:t>
            </a:r>
          </a:p>
          <a:p xmlns:a="http://schemas.openxmlformats.org/drawingml/2006/main">
            <a:r>
              <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Erna: MO &lt; MK</a:t>
            </a:r>
          </a:p>
        </p:txBody>
      </p:sp>
    </p:spTree>
    <p:extLst>
      <p:ext uri="{BB962C8B-B14F-4D97-AF65-F5344CB8AC3E}">
        <p14:creationId xmlns:p14="http://schemas.microsoft.com/office/powerpoint/2010/main" val="13927155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roep A: de prijs op de vraaglijn">
            <a:extLst xmlns:a="http://schemas.openxmlformats.org/drawingml/2006/main">
              <a:ext uri="{FF2B5EF4-FFF2-40B4-BE49-F238E27FC236}">
                <a16:creationId xmlns:a16="http://schemas.microsoft.com/office/drawing/2014/main" id="{704D9089-828E-4DE2-B60D-355DD82C3F09}"/>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Groep A: de prijs op de vraaglijn</a:t>
            </a:r>
          </a:p>
        </p:txBody>
      </p:sp>
      <p:sp>
        <p:nvSpPr>
          <p:cNvPr id="2" name="">
            <a:extLst xmlns:a="http://schemas.openxmlformats.org/drawingml/2006/main">
              <a:ext uri="{FF2B5EF4-FFF2-40B4-BE49-F238E27FC236}">
                <a16:creationId xmlns:a16="http://schemas.microsoft.com/office/drawing/2014/main" id="{73CBC329-723C-42D8-B882-81D6C48EDCE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91C9A93D-1665-47EE-9F06-8AE2F34EE79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1EC5E494-FB1B-45DC-91E3-4027C30A3C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3" name="Chart"/>
          <p:cNvGraphicFramePr/>
          <p:nvPr/>
        </p:nvGraphicFramePr>
        <p:xfrm>
          <a:off xmlns:a="http://schemas.openxmlformats.org/drawingml/2006/main" x="571500" y="2209800"/>
          <a:ext xmlns:a="http://schemas.openxmlformats.org/drawingml/2006/main" cx="9525000" cy="5381625"/>
        </p:xfrm>
        <a:graphic xmlns:a="http://schemas.openxmlformats.org/drawingml/2006/main">
          <a:graphicData uri="http://schemas.openxmlformats.org/drawingml/2006/chart">
            <c:chart xmlns:r="http://schemas.openxmlformats.org/officeDocument/2006/relationships" xmlns:c="http://schemas.openxmlformats.org/drawingml/2006/chart" r:id="Ra058d158765044c0"/>
          </a:graphicData>
        </a:graphic>
      </p:graphicFrame>
      <p:sp>
        <p:nvSpPr>
          <p:cNvPr id="6" name="Q_A = 12">
            <a:extLst xmlns:a="http://schemas.openxmlformats.org/drawingml/2006/main">
              <a:ext uri="{FF2B5EF4-FFF2-40B4-BE49-F238E27FC236}">
                <a16:creationId xmlns:a16="http://schemas.microsoft.com/office/drawing/2014/main" id="{376C2055-8363-4E24-844C-A02C868DCDB0}"/>
              </a:ext>
            </a:extLst>
          </p:cNvPr>
          <p:cNvSpPr>
            <a:spLocks xmlns:a="http://schemas.openxmlformats.org/drawingml/2006/main" noGrp="1"/>
          </p:cNvSpPr>
          <p:nvPr/>
        </p:nvSpPr>
        <p:spPr>
          <a:xfrm xmlns:a="http://schemas.openxmlformats.org/drawingml/2006/main">
            <a:off x="10572750" y="22288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Q_A = 12</a:t>
            </a:r>
          </a:p>
        </p:txBody>
      </p:sp>
      <p:sp>
        <p:nvSpPr>
          <p:cNvPr id="7" name="P_A = 30 − 12&#10;P_A = € 18">
            <a:extLst xmlns:a="http://schemas.openxmlformats.org/drawingml/2006/main">
              <a:ext uri="{FF2B5EF4-FFF2-40B4-BE49-F238E27FC236}">
                <a16:creationId xmlns:a16="http://schemas.microsoft.com/office/drawing/2014/main" id="{D757FB81-2F53-47A8-8EAD-9FFADE3B06A9}"/>
              </a:ext>
            </a:extLst>
          </p:cNvPr>
          <p:cNvSpPr>
            <a:spLocks xmlns:a="http://schemas.openxmlformats.org/drawingml/2006/main" noGrp="1"/>
          </p:cNvSpPr>
          <p:nvPr/>
        </p:nvSpPr>
        <p:spPr>
          <a:xfrm xmlns:a="http://schemas.openxmlformats.org/drawingml/2006/main">
            <a:off x="10572750" y="3438525"/>
            <a:ext cx="40481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P_A = 30 − 12</a:t>
            </a:r>
          </a:p>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P_A = € 18</a:t>
            </a:r>
          </a:p>
        </p:txBody>
      </p:sp>
      <p:sp>
        <p:nvSpPr>
          <p:cNvPr id="8" name="12 bezoeken per week&#10;€ 18 per bezoek">
            <a:extLst xmlns:a="http://schemas.openxmlformats.org/drawingml/2006/main">
              <a:ext uri="{FF2B5EF4-FFF2-40B4-BE49-F238E27FC236}">
                <a16:creationId xmlns:a16="http://schemas.microsoft.com/office/drawing/2014/main" id="{F015B3DB-61C3-4333-B499-F658C73B546F}"/>
              </a:ext>
            </a:extLst>
          </p:cNvPr>
          <p:cNvSpPr>
            <a:spLocks xmlns:a="http://schemas.openxmlformats.org/drawingml/2006/main" noGrp="1"/>
          </p:cNvSpPr>
          <p:nvPr/>
        </p:nvSpPr>
        <p:spPr>
          <a:xfrm xmlns:a="http://schemas.openxmlformats.org/drawingml/2006/main">
            <a:off x="10572750" y="5619750"/>
            <a:ext cx="40481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12 bezoeken per week</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€ 18 per bezoek</a:t>
            </a:r>
          </a:p>
        </p:txBody>
      </p:sp>
    </p:spTree>
    <p:extLst>
      <p:ext uri="{BB962C8B-B14F-4D97-AF65-F5344CB8AC3E}">
        <p14:creationId xmlns:p14="http://schemas.microsoft.com/office/powerpoint/2010/main" val="4957090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roep B: dezelfde methode">
            <a:extLst xmlns:a="http://schemas.openxmlformats.org/drawingml/2006/main">
              <a:ext uri="{FF2B5EF4-FFF2-40B4-BE49-F238E27FC236}">
                <a16:creationId xmlns:a16="http://schemas.microsoft.com/office/drawing/2014/main" id="{7BA527E2-4531-4C14-B7AB-B80A34BE0D11}"/>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Groep B: dezelfde methode</a:t>
            </a:r>
          </a:p>
        </p:txBody>
      </p:sp>
      <p:sp>
        <p:nvSpPr>
          <p:cNvPr id="2" name="">
            <a:extLst xmlns:a="http://schemas.openxmlformats.org/drawingml/2006/main">
              <a:ext uri="{FF2B5EF4-FFF2-40B4-BE49-F238E27FC236}">
                <a16:creationId xmlns:a16="http://schemas.microsoft.com/office/drawing/2014/main" id="{A85010F4-A05E-4ACA-A910-0B20D6CF55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9BBEF8B-C026-44AB-80E0-BA942FA9D08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921B6BA6-D25D-41D3-B443-18DC02F5D2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571500" y="2209800"/>
          <a:ext xmlns:a="http://schemas.openxmlformats.org/drawingml/2006/main" cx="9525000" cy="5381625"/>
        </p:xfrm>
        <a:graphic xmlns:a="http://schemas.openxmlformats.org/drawingml/2006/main">
          <a:graphicData uri="http://schemas.openxmlformats.org/drawingml/2006/chart">
            <c:chart xmlns:r="http://schemas.openxmlformats.org/officeDocument/2006/relationships" xmlns:c="http://schemas.openxmlformats.org/drawingml/2006/chart" r:id="R46f8e4cdee2f4086"/>
          </a:graphicData>
        </a:graphic>
      </p:graphicFrame>
      <p:sp>
        <p:nvSpPr>
          <p:cNvPr id="6" name="TO_B = 18Q_B − Q_B²&#10;MO_B = 18 − 2Q_B">
            <a:extLst xmlns:a="http://schemas.openxmlformats.org/drawingml/2006/main">
              <a:ext uri="{FF2B5EF4-FFF2-40B4-BE49-F238E27FC236}">
                <a16:creationId xmlns:a16="http://schemas.microsoft.com/office/drawing/2014/main" id="{A63CB828-44AD-44D6-8198-75E576FEA8CC}"/>
              </a:ext>
            </a:extLst>
          </p:cNvPr>
          <p:cNvSpPr>
            <a:spLocks xmlns:a="http://schemas.openxmlformats.org/drawingml/2006/main" noGrp="1"/>
          </p:cNvSpPr>
          <p:nvPr/>
        </p:nvSpPr>
        <p:spPr>
          <a:xfrm xmlns:a="http://schemas.openxmlformats.org/drawingml/2006/main">
            <a:off x="10287000" y="1981200"/>
            <a:ext cx="4381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TO_B = 18Q_B − Q_B²</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MO_B = 18 − 2Q_B</a:t>
            </a:r>
          </a:p>
        </p:txBody>
      </p:sp>
      <p:sp>
        <p:nvSpPr>
          <p:cNvPr id="7" name="18 − 2Q_B = 6&#10;Q_B = 6&#10;P_B = 18 − 6 = € 12">
            <a:extLst xmlns:a="http://schemas.openxmlformats.org/drawingml/2006/main">
              <a:ext uri="{FF2B5EF4-FFF2-40B4-BE49-F238E27FC236}">
                <a16:creationId xmlns:a16="http://schemas.microsoft.com/office/drawing/2014/main" id="{333220D0-885D-43EB-ADB4-D71D902553B3}"/>
              </a:ext>
            </a:extLst>
          </p:cNvPr>
          <p:cNvSpPr>
            <a:spLocks xmlns:a="http://schemas.openxmlformats.org/drawingml/2006/main" noGrp="1"/>
          </p:cNvSpPr>
          <p:nvPr/>
        </p:nvSpPr>
        <p:spPr>
          <a:xfrm xmlns:a="http://schemas.openxmlformats.org/drawingml/2006/main">
            <a:off x="10287000" y="3638550"/>
            <a:ext cx="43815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18 − 2Q_B = 6</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Q_B = 6</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P_B = 18 − 6 = € 12</a:t>
            </a:r>
          </a:p>
        </p:txBody>
      </p:sp>
      <p:sp>
        <p:nvSpPr>
          <p:cNvPr id="8" name="Samen 12 + 6 = 18&#10;18 ≤ 48 bezoeken">
            <a:extLst xmlns:a="http://schemas.openxmlformats.org/drawingml/2006/main">
              <a:ext uri="{FF2B5EF4-FFF2-40B4-BE49-F238E27FC236}">
                <a16:creationId xmlns:a16="http://schemas.microsoft.com/office/drawing/2014/main" id="{9911F422-50D8-400D-80C5-A03DBAFD293A}"/>
              </a:ext>
            </a:extLst>
          </p:cNvPr>
          <p:cNvSpPr>
            <a:spLocks xmlns:a="http://schemas.openxmlformats.org/drawingml/2006/main" noGrp="1"/>
          </p:cNvSpPr>
          <p:nvPr/>
        </p:nvSpPr>
        <p:spPr>
          <a:xfrm xmlns:a="http://schemas.openxmlformats.org/drawingml/2006/main">
            <a:off x="10287000" y="6257925"/>
            <a:ext cx="4381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Samen 12 + 6 = 18</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18 ≤ 48 bezoeken</a:t>
            </a:r>
          </a:p>
        </p:txBody>
      </p:sp>
    </p:spTree>
    <p:extLst>
      <p:ext uri="{BB962C8B-B14F-4D97-AF65-F5344CB8AC3E}">
        <p14:creationId xmlns:p14="http://schemas.microsoft.com/office/powerpoint/2010/main" val="150585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peelatelier: omzet, kosten en winst">
            <a:extLst xmlns:a="http://schemas.openxmlformats.org/drawingml/2006/main">
              <a:ext uri="{FF2B5EF4-FFF2-40B4-BE49-F238E27FC236}">
                <a16:creationId xmlns:a16="http://schemas.microsoft.com/office/drawing/2014/main" id="{0757B172-F678-457E-828E-663D8D8CD666}"/>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Speelatelier: omzet, kosten en winst</a:t>
            </a:r>
          </a:p>
        </p:txBody>
      </p:sp>
      <p:sp>
        <p:nvSpPr>
          <p:cNvPr id="2" name="">
            <a:extLst xmlns:a="http://schemas.openxmlformats.org/drawingml/2006/main">
              <a:ext uri="{FF2B5EF4-FFF2-40B4-BE49-F238E27FC236}">
                <a16:creationId xmlns:a16="http://schemas.microsoft.com/office/drawing/2014/main" id="{87A01533-C70B-484F-B84B-3FF074D34C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449F117-2939-4C42-88C4-F10B0B9498E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C53FDABE-9B25-4095-A604-940A65C303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Bij P = € 15: Q_A = 30 − 15 = 15 en Q_B = 18 − 15 = 3">
            <a:extLst xmlns:a="http://schemas.openxmlformats.org/drawingml/2006/main">
              <a:ext uri="{FF2B5EF4-FFF2-40B4-BE49-F238E27FC236}">
                <a16:creationId xmlns:a16="http://schemas.microsoft.com/office/drawing/2014/main" id="{055A2C82-7FA0-4573-A44F-73960729A7CC}"/>
              </a:ext>
            </a:extLst>
          </p:cNvPr>
          <p:cNvSpPr>
            <a:spLocks xmlns:a="http://schemas.openxmlformats.org/drawingml/2006/main" noGrp="1"/>
          </p:cNvSpPr>
          <p:nvPr/>
        </p:nvSpPr>
        <p:spPr>
          <a:xfrm xmlns:a="http://schemas.openxmlformats.org/drawingml/2006/main">
            <a:off x="571500" y="18097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Bij P = € 15: Q_A = 30 − 15 = 15 en Q_B = 18 − 15 = 3</a:t>
            </a:r>
          </a:p>
        </p:txBody>
      </p:sp>
      <p:graphicFrame>
        <p:nvGraphicFramePr>
          <p:cNvPr id="13" name=""/>
          <p:cNvGraphicFramePr/>
          <p:nvPr/>
        </p:nvGraphicFramePr>
        <p:xfrm>
          <a:off xmlns:a="http://schemas.openxmlformats.org/drawingml/2006/main" x="571500" y="2914650"/>
          <a:ext xmlns:a="http://schemas.openxmlformats.org/drawingml/2006/main" cx="14097000" cy="3819525"/>
        </p:xfrm>
        <a:graphic xmlns:a="http://schemas.openxmlformats.org/drawingml/2006/main">
          <a:graphicData uri="http://schemas.openxmlformats.org/drawingml/2006/table">
            <a:tbl>
              <a:tblPr/>
              <a:tblGrid>
                <a:gridCol w="4953000"/>
                <a:gridCol w="4381500"/>
                <a:gridCol w="4762500"/>
              </a:tblGrid>
              <a:tr h="763905">
                <a:tc>
                  <a:txBody>
                    <a:bodyPr lIns="171450" tIns="95250" rIns="152400" bIns="95250"/>
                    <a:lstStyle/>
                    <a:p>
                      <a:r>
                        <a:rPr sz="2325" b="1">
                          <a:solidFill>
                            <a:srgbClr val="FFFFFF"/>
                          </a:solidFill>
                          <a:latin typeface="Arial"/>
                          <a:ea typeface="Arial"/>
                          <a:cs typeface="Arial"/>
                        </a:rPr>
                        <a:t>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Eén prijs: € 15</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Groepsprijzen</a:t>
                      </a:r>
                    </a:p>
                  </a:txBody>
                  <a:tcPr marL="91440" marR="91440" marT="45720" marB="45720" anchor="ctr">
                    <a:solidFill>
                      <a:srgbClr val="183247"/>
                    </a:solidFill>
                  </a:tcPr>
                </a:tc>
              </a:tr>
              <a:tr h="763905">
                <a:tc>
                  <a:txBody>
                    <a:bodyPr lIns="171450" tIns="95250" rIns="152400" bIns="95250"/>
                    <a:lstStyle/>
                    <a:p>
                      <a:r>
                        <a:rPr sz="2325" b="0">
                          <a:solidFill>
                            <a:srgbClr val="183247"/>
                          </a:solidFill>
                          <a:latin typeface="Arial"/>
                          <a:ea typeface="Arial"/>
                          <a:cs typeface="Arial"/>
                        </a:rPr>
                        <a:t>Afzet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15 + 3 = 18</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12 + 6 = 18</a:t>
                      </a:r>
                    </a:p>
                  </a:txBody>
                  <a:tcPr marL="91440" marR="91440" marT="45720" marB="45720" anchor="ctr">
                    <a:solidFill>
                      <a:srgbClr val="FFFFFF"/>
                    </a:solidFill>
                  </a:tcPr>
                </a:tc>
              </a:tr>
              <a:tr h="763905">
                <a:tc>
                  <a:txBody>
                    <a:bodyPr lIns="171450" tIns="95250" rIns="152400" bIns="95250"/>
                    <a:lstStyle/>
                    <a:p>
                      <a:r>
                        <a:rPr sz="2325" b="0">
                          <a:solidFill>
                            <a:srgbClr val="183247"/>
                          </a:solidFill>
                          <a:latin typeface="Arial"/>
                          <a:ea typeface="Arial"/>
                          <a:cs typeface="Arial"/>
                        </a:rPr>
                        <a:t>TO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15 × 18 = € 270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18 × 12 + 12 × 6 = € 288</a:t>
                      </a:r>
                    </a:p>
                  </a:txBody>
                  <a:tcPr marL="91440" marR="91440" marT="45720" marB="45720" anchor="ctr">
                    <a:solidFill>
                      <a:srgbClr val="EFF4F7"/>
                    </a:solidFill>
                  </a:tcPr>
                </a:tc>
              </a:tr>
              <a:tr h="763905">
                <a:tc>
                  <a:txBody>
                    <a:bodyPr lIns="171450" tIns="95250" rIns="152400" bIns="95250"/>
                    <a:lstStyle/>
                    <a:p>
                      <a:r>
                        <a:rPr sz="2325" b="0">
                          <a:solidFill>
                            <a:srgbClr val="183247"/>
                          </a:solidFill>
                          <a:latin typeface="Arial"/>
                          <a:ea typeface="Arial"/>
                          <a:cs typeface="Arial"/>
                        </a:rPr>
                        <a:t>TK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36 + 6 × 18 = € 144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36 + 6 × 18 = € 144</a:t>
                      </a:r>
                    </a:p>
                  </a:txBody>
                  <a:tcPr marL="91440" marR="91440" marT="45720" marB="45720" anchor="ctr">
                    <a:solidFill>
                      <a:srgbClr val="FFFFFF"/>
                    </a:solidFill>
                  </a:tcPr>
                </a:tc>
              </a:tr>
              <a:tr h="763905">
                <a:tc>
                  <a:txBody>
                    <a:bodyPr lIns="171450" tIns="95250" rIns="152400" bIns="95250"/>
                    <a:lstStyle/>
                    <a:p>
                      <a:r>
                        <a:rPr sz="2325" b="0">
                          <a:solidFill>
                            <a:srgbClr val="183247"/>
                          </a:solidFill>
                          <a:latin typeface="Arial"/>
                          <a:ea typeface="Arial"/>
                          <a:cs typeface="Arial"/>
                        </a:rPr>
                        <a:t>Winst = TO − TK</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270 − 144 = € 126</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288 − 144 = € 144</a:t>
                      </a:r>
                    </a:p>
                  </a:txBody>
                  <a:tcPr marL="91440" marR="91440" marT="45720" marB="45720" anchor="ctr">
                    <a:solidFill>
                      <a:srgbClr val="EFF4F7"/>
                    </a:solidFill>
                  </a:tcPr>
                </a:tc>
              </a:tr>
            </a:tbl>
          </a:graphicData>
        </a:graphic>
      </p:graphicFrame>
      <p:sp>
        <p:nvSpPr>
          <p:cNvPr id="7" name="TCK eenmaal. TVK over alle bezoeken samen.">
            <a:extLst xmlns:a="http://schemas.openxmlformats.org/drawingml/2006/main">
              <a:ext uri="{FF2B5EF4-FFF2-40B4-BE49-F238E27FC236}">
                <a16:creationId xmlns:a16="http://schemas.microsoft.com/office/drawing/2014/main" id="{536DA542-4798-4403-9C4B-97741AA96EC2}"/>
              </a:ext>
            </a:extLst>
          </p:cNvPr>
          <p:cNvSpPr>
            <a:spLocks xmlns:a="http://schemas.openxmlformats.org/drawingml/2006/main" noGrp="1"/>
          </p:cNvSpPr>
          <p:nvPr/>
        </p:nvSpPr>
        <p:spPr>
          <a:xfrm xmlns:a="http://schemas.openxmlformats.org/drawingml/2006/main">
            <a:off x="571500" y="72675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TCK eenmaal. TVK over alle bezoeken samen.</a:t>
            </a:r>
          </a:p>
        </p:txBody>
      </p:sp>
    </p:spTree>
    <p:extLst>
      <p:ext uri="{BB962C8B-B14F-4D97-AF65-F5344CB8AC3E}">
        <p14:creationId xmlns:p14="http://schemas.microsoft.com/office/powerpoint/2010/main" val="1509837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peelatelier: kopers krijgen een ander surplus">
            <a:extLst xmlns:a="http://schemas.openxmlformats.org/drawingml/2006/main">
              <a:ext uri="{FF2B5EF4-FFF2-40B4-BE49-F238E27FC236}">
                <a16:creationId xmlns:a16="http://schemas.microsoft.com/office/drawing/2014/main" id="{E3AD847D-7200-4E32-8991-88BA326FE311}"/>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Speelatelier: kopers krijgen een ander surplus</a:t>
            </a:r>
          </a:p>
        </p:txBody>
      </p:sp>
      <p:sp>
        <p:nvSpPr>
          <p:cNvPr id="2" name="">
            <a:extLst xmlns:a="http://schemas.openxmlformats.org/drawingml/2006/main">
              <a:ext uri="{FF2B5EF4-FFF2-40B4-BE49-F238E27FC236}">
                <a16:creationId xmlns:a16="http://schemas.microsoft.com/office/drawing/2014/main" id="{D96827B8-19EA-43E9-9D1A-4926D6C9F43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E5850AE-7FED-4D7F-9ADA-C9EA710A54D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52198E43-F6AA-4832-9B67-EBC4249149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CS per groep = ½ × afzet × (maximale betalingsbereidheid − p">
            <a:extLst xmlns:a="http://schemas.openxmlformats.org/drawingml/2006/main">
              <a:ext uri="{FF2B5EF4-FFF2-40B4-BE49-F238E27FC236}">
                <a16:creationId xmlns:a16="http://schemas.microsoft.com/office/drawing/2014/main" id="{2C7932EE-3DA4-4E7E-9765-ACA5D75B011E}"/>
              </a:ext>
            </a:extLst>
          </p:cNvPr>
          <p:cNvSpPr>
            <a:spLocks xmlns:a="http://schemas.openxmlformats.org/drawingml/2006/main" noGrp="1"/>
          </p:cNvSpPr>
          <p:nvPr/>
        </p:nvSpPr>
        <p:spPr>
          <a:xfrm xmlns:a="http://schemas.openxmlformats.org/drawingml/2006/main">
            <a:off x="571500" y="17811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CS per groep = ½ × afzet × (maximale betalingsbereidheid − prijs)</a:t>
            </a:r>
          </a:p>
        </p:txBody>
      </p:sp>
      <p:graphicFrame>
        <p:nvGraphicFramePr>
          <p:cNvPr id="13" name=""/>
          <p:cNvGraphicFramePr/>
          <p:nvPr/>
        </p:nvGraphicFramePr>
        <p:xfrm>
          <a:off xmlns:a="http://schemas.openxmlformats.org/drawingml/2006/main" x="571500" y="3086100"/>
          <a:ext xmlns:a="http://schemas.openxmlformats.org/drawingml/2006/main" cx="14097000" cy="3143250"/>
        </p:xfrm>
        <a:graphic xmlns:a="http://schemas.openxmlformats.org/drawingml/2006/main">
          <a:graphicData uri="http://schemas.openxmlformats.org/drawingml/2006/table">
            <a:tbl>
              <a:tblPr/>
              <a:tblGrid>
                <a:gridCol w="4381500"/>
                <a:gridCol w="4857750"/>
                <a:gridCol w="4857750"/>
              </a:tblGrid>
              <a:tr h="785813">
                <a:tc>
                  <a:txBody>
                    <a:bodyPr lIns="171450" tIns="95250" rIns="152400" bIns="95250"/>
                    <a:lstStyle/>
                    <a:p>
                      <a:r>
                        <a:rPr sz="2325" b="1">
                          <a:solidFill>
                            <a:srgbClr val="FFFFFF"/>
                          </a:solidFill>
                          <a:latin typeface="Arial"/>
                          <a:ea typeface="Arial"/>
                          <a:cs typeface="Arial"/>
                        </a:rPr>
                        <a:t>CS (€ 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Eén prijs</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Groepsprijzen</a:t>
                      </a:r>
                    </a:p>
                  </a:txBody>
                  <a:tcPr marL="91440" marR="91440" marT="45720" marB="45720" anchor="ctr">
                    <a:solidFill>
                      <a:srgbClr val="183247"/>
                    </a:solidFill>
                  </a:tcPr>
                </a:tc>
              </a:tr>
              <a:tr h="785813">
                <a:tc>
                  <a:txBody>
                    <a:bodyPr lIns="171450" tIns="95250" rIns="152400" bIns="95250"/>
                    <a:lstStyle/>
                    <a:p>
                      <a:r>
                        <a:rPr sz="2325" b="0">
                          <a:solidFill>
                            <a:srgbClr val="183247"/>
                          </a:solidFill>
                          <a:latin typeface="Arial"/>
                          <a:ea typeface="Arial"/>
                          <a:cs typeface="Arial"/>
                        </a:rPr>
                        <a:t>Groep A</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15 × 15 = 112,50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12 × 12 = 72</a:t>
                      </a:r>
                    </a:p>
                  </a:txBody>
                  <a:tcPr marL="91440" marR="91440" marT="45720" marB="45720" anchor="ctr">
                    <a:solidFill>
                      <a:srgbClr val="FFFFFF"/>
                    </a:solidFill>
                  </a:tcPr>
                </a:tc>
              </a:tr>
              <a:tr h="785813">
                <a:tc>
                  <a:txBody>
                    <a:bodyPr lIns="171450" tIns="95250" rIns="152400" bIns="95250"/>
                    <a:lstStyle/>
                    <a:p>
                      <a:r>
                        <a:rPr sz="2325" b="0">
                          <a:solidFill>
                            <a:srgbClr val="183247"/>
                          </a:solidFill>
                          <a:latin typeface="Arial"/>
                          <a:ea typeface="Arial"/>
                          <a:cs typeface="Arial"/>
                        </a:rPr>
                        <a:t>Groep B</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½ × 3 × 3 = 4,50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½ × 6 × 6 = 18</a:t>
                      </a:r>
                    </a:p>
                  </a:txBody>
                  <a:tcPr marL="91440" marR="91440" marT="45720" marB="45720" anchor="ctr">
                    <a:solidFill>
                      <a:srgbClr val="EFF4F7"/>
                    </a:solidFill>
                  </a:tcPr>
                </a:tc>
              </a:tr>
              <a:tr h="785813">
                <a:tc>
                  <a:txBody>
                    <a:bodyPr lIns="171450" tIns="95250" rIns="152400" bIns="95250"/>
                    <a:lstStyle/>
                    <a:p>
                      <a:r>
                        <a:rPr sz="2325" b="0">
                          <a:solidFill>
                            <a:srgbClr val="183247"/>
                          </a:solidFill>
                          <a:latin typeface="Arial"/>
                          <a:ea typeface="Arial"/>
                          <a:cs typeface="Arial"/>
                        </a:rPr>
                        <a:t>Totaal CS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117</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90</a:t>
                      </a:r>
                    </a:p>
                  </a:txBody>
                  <a:tcPr marL="91440" marR="91440" marT="45720" marB="45720" anchor="ctr">
                    <a:solidFill>
                      <a:srgbClr val="FFFFFF"/>
                    </a:solidFill>
                  </a:tcPr>
                </a:tc>
              </a:tr>
            </a:tbl>
          </a:graphicData>
        </a:graphic>
      </p:graphicFrame>
      <p:sp>
        <p:nvSpPr>
          <p:cNvPr id="7" name="A betaalt meer en verliest € 40,50 CS.&#10;B betaalt minder en w">
            <a:extLst xmlns:a="http://schemas.openxmlformats.org/drawingml/2006/main">
              <a:ext uri="{FF2B5EF4-FFF2-40B4-BE49-F238E27FC236}">
                <a16:creationId xmlns:a16="http://schemas.microsoft.com/office/drawing/2014/main" id="{CA069EFA-A6D6-444A-8A12-873B4D00412A}"/>
              </a:ext>
            </a:extLst>
          </p:cNvPr>
          <p:cNvSpPr>
            <a:spLocks xmlns:a="http://schemas.openxmlformats.org/drawingml/2006/main" noGrp="1"/>
          </p:cNvSpPr>
          <p:nvPr/>
        </p:nvSpPr>
        <p:spPr>
          <a:xfrm xmlns:a="http://schemas.openxmlformats.org/drawingml/2006/main">
            <a:off x="571500" y="676275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A betaalt meer en verliest € 40,50 CS.</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 betaalt minder en wint € 13,50 CS.</a:t>
            </a:r>
          </a:p>
        </p:txBody>
      </p:sp>
    </p:spTree>
    <p:extLst>
      <p:ext uri="{BB962C8B-B14F-4D97-AF65-F5344CB8AC3E}">
        <p14:creationId xmlns:p14="http://schemas.microsoft.com/office/powerpoint/2010/main" val="17185378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peelatelier: winst en totale welvaart">
            <a:extLst xmlns:a="http://schemas.openxmlformats.org/drawingml/2006/main">
              <a:ext uri="{FF2B5EF4-FFF2-40B4-BE49-F238E27FC236}">
                <a16:creationId xmlns:a16="http://schemas.microsoft.com/office/drawing/2014/main" id="{1E5524EA-5FBC-4FDB-AA96-7047C1748AC2}"/>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Speelatelier: winst en totale welvaart</a:t>
            </a:r>
          </a:p>
        </p:txBody>
      </p:sp>
      <p:sp>
        <p:nvSpPr>
          <p:cNvPr id="2" name="">
            <a:extLst xmlns:a="http://schemas.openxmlformats.org/drawingml/2006/main">
              <a:ext uri="{FF2B5EF4-FFF2-40B4-BE49-F238E27FC236}">
                <a16:creationId xmlns:a16="http://schemas.microsoft.com/office/drawing/2014/main" id="{A1AD5C86-D14C-4316-8C76-51B3C1019E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ECABDD1-7F2D-4EBE-A6AE-0BA57C439AB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975B308C-D9F3-406A-AFB2-925600235F4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2" name=""/>
          <p:cNvGraphicFramePr/>
          <p:nvPr/>
        </p:nvGraphicFramePr>
        <p:xfrm>
          <a:off xmlns:a="http://schemas.openxmlformats.org/drawingml/2006/main" x="571500" y="2181225"/>
          <a:ext xmlns:a="http://schemas.openxmlformats.org/drawingml/2006/main" cx="14097000" cy="3571875"/>
        </p:xfrm>
        <a:graphic xmlns:a="http://schemas.openxmlformats.org/drawingml/2006/main">
          <a:graphicData uri="http://schemas.openxmlformats.org/drawingml/2006/table">
            <a:tbl>
              <a:tblPr/>
              <a:tblGrid>
                <a:gridCol w="5143500"/>
                <a:gridCol w="4476750"/>
                <a:gridCol w="4476750"/>
              </a:tblGrid>
              <a:tr h="892969">
                <a:tc>
                  <a:txBody>
                    <a:bodyPr lIns="171450" tIns="95250" rIns="152400" bIns="95250"/>
                    <a:lstStyle/>
                    <a:p>
                      <a:r>
                        <a:rPr sz="2400"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Eén prijs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Groepsprijzen</a:t>
                      </a:r>
                    </a:p>
                  </a:txBody>
                  <a:tcPr marL="91440" marR="91440" marT="45720" marB="45720" anchor="ctr">
                    <a:solidFill>
                      <a:srgbClr val="183247"/>
                    </a:solidFill>
                  </a:tcPr>
                </a:tc>
              </a:tr>
              <a:tr h="892969">
                <a:tc>
                  <a:txBody>
                    <a:bodyPr lIns="171450" tIns="95250" rIns="152400" bIns="95250"/>
                    <a:lstStyle/>
                    <a:p>
                      <a:r>
                        <a:rPr sz="2400" b="0">
                          <a:solidFill>
                            <a:srgbClr val="183247"/>
                          </a:solidFill>
                          <a:latin typeface="Arial"/>
                          <a:ea typeface="Arial"/>
                          <a:cs typeface="Arial"/>
                        </a:rPr>
                        <a:t>PS = TO − TVK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270 − 108 = 162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288 − 108 = 180</a:t>
                      </a:r>
                    </a:p>
                  </a:txBody>
                  <a:tcPr marL="91440" marR="91440" marT="45720" marB="45720" anchor="ctr">
                    <a:solidFill>
                      <a:srgbClr val="FFFFFF"/>
                    </a:solidFill>
                  </a:tcPr>
                </a:tc>
              </a:tr>
              <a:tr h="892969">
                <a:tc>
                  <a:txBody>
                    <a:bodyPr lIns="171450" tIns="95250" rIns="152400" bIns="95250"/>
                    <a:lstStyle/>
                    <a:p>
                      <a:r>
                        <a:rPr sz="2400" b="0">
                          <a:solidFill>
                            <a:srgbClr val="183247"/>
                          </a:solidFill>
                          <a:latin typeface="Arial"/>
                          <a:ea typeface="Arial"/>
                          <a:cs typeface="Arial"/>
                        </a:rPr>
                        <a:t>Winst = PS − TCK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162 − 36 = 126</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180 − 36 = 144</a:t>
                      </a:r>
                    </a:p>
                  </a:txBody>
                  <a:tcPr marL="91440" marR="91440" marT="45720" marB="45720" anchor="ctr">
                    <a:solidFill>
                      <a:srgbClr val="EFF4F7"/>
                    </a:solidFill>
                  </a:tcPr>
                </a:tc>
              </a:tr>
              <a:tr h="892969">
                <a:tc>
                  <a:txBody>
                    <a:bodyPr lIns="171450" tIns="95250" rIns="152400" bIns="95250"/>
                    <a:lstStyle/>
                    <a:p>
                      <a:r>
                        <a:rPr sz="2400"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117 + 162 = 279</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90 + 180 = 270</a:t>
                      </a:r>
                    </a:p>
                  </a:txBody>
                  <a:tcPr marL="91440" marR="91440" marT="45720" marB="45720" anchor="ctr">
                    <a:solidFill>
                      <a:srgbClr val="FFFFFF"/>
                    </a:solidFill>
                  </a:tcPr>
                </a:tc>
              </a:tr>
            </a:tbl>
          </a:graphicData>
        </a:graphic>
      </p:graphicFrame>
      <p:sp>
        <p:nvSpPr>
          <p:cNvPr id="6" name="Winst stijgt € 18. TS daalt € 9.">
            <a:extLst xmlns:a="http://schemas.openxmlformats.org/drawingml/2006/main">
              <a:ext uri="{FF2B5EF4-FFF2-40B4-BE49-F238E27FC236}">
                <a16:creationId xmlns:a16="http://schemas.microsoft.com/office/drawing/2014/main" id="{EDF49DF7-0534-45F3-B958-E8F3599B005C}"/>
              </a:ext>
            </a:extLst>
          </p:cNvPr>
          <p:cNvSpPr>
            <a:spLocks xmlns:a="http://schemas.openxmlformats.org/drawingml/2006/main" noGrp="1"/>
          </p:cNvSpPr>
          <p:nvPr/>
        </p:nvSpPr>
        <p:spPr>
          <a:xfrm xmlns:a="http://schemas.openxmlformats.org/drawingml/2006/main">
            <a:off x="571500" y="62769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Winst stijgt € 18. TS daalt € 9.</a:t>
            </a:r>
          </a:p>
        </p:txBody>
      </p:sp>
      <p:sp>
        <p:nvSpPr>
          <p:cNvPr id="7" name="Gelijke totale afzet, andere verdeling van bezoeken.">
            <a:extLst xmlns:a="http://schemas.openxmlformats.org/drawingml/2006/main">
              <a:ext uri="{FF2B5EF4-FFF2-40B4-BE49-F238E27FC236}">
                <a16:creationId xmlns:a16="http://schemas.microsoft.com/office/drawing/2014/main" id="{98780F97-54B5-41B8-85D2-6BC8A2042267}"/>
              </a:ext>
            </a:extLst>
          </p:cNvPr>
          <p:cNvSpPr>
            <a:spLocks xmlns:a="http://schemas.openxmlformats.org/drawingml/2006/main" noGrp="1"/>
          </p:cNvSpPr>
          <p:nvPr/>
        </p:nvSpPr>
        <p:spPr>
          <a:xfrm xmlns:a="http://schemas.openxmlformats.org/drawingml/2006/main">
            <a:off x="571500" y="73152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Gelijke totale afzet, andere verdeling van bezoeken.</a:t>
            </a:r>
          </a:p>
        </p:txBody>
      </p:sp>
    </p:spTree>
    <p:extLst>
      <p:ext uri="{BB962C8B-B14F-4D97-AF65-F5344CB8AC3E}">
        <p14:creationId xmlns:p14="http://schemas.microsoft.com/office/powerpoint/2010/main" val="1356143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Korte controle">
            <a:extLst xmlns:a="http://schemas.openxmlformats.org/drawingml/2006/main">
              <a:ext uri="{FF2B5EF4-FFF2-40B4-BE49-F238E27FC236}">
                <a16:creationId xmlns:a16="http://schemas.microsoft.com/office/drawing/2014/main" id="{B2248ED6-3FCC-46FA-89CA-C64184B77667}"/>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4CFCB6FD-700C-48CD-BD5E-F30EAA69A9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5438CE0-1B85-46E4-9C53-A9664BB5645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4CF5AFD4-F6CD-4714-AEC4-239D6B11603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B krijgt korting en de winst stijgt.&#10;Dus iedereen gaat erop">
            <a:extLst xmlns:a="http://schemas.openxmlformats.org/drawingml/2006/main">
              <a:ext uri="{FF2B5EF4-FFF2-40B4-BE49-F238E27FC236}">
                <a16:creationId xmlns:a16="http://schemas.microsoft.com/office/drawing/2014/main" id="{7490FD19-3D4B-48B7-A0E8-EB338CB4BEF9}"/>
              </a:ext>
            </a:extLst>
          </p:cNvPr>
          <p:cNvSpPr>
            <a:spLocks xmlns:a="http://schemas.openxmlformats.org/drawingml/2006/main" noGrp="1"/>
          </p:cNvSpPr>
          <p:nvPr/>
        </p:nvSpPr>
        <p:spPr>
          <a:xfrm xmlns:a="http://schemas.openxmlformats.org/drawingml/2006/main">
            <a:off x="571500" y="2133600"/>
            <a:ext cx="1409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658A"/>
                </a:solidFill>
                <a:latin typeface="Arial"/>
                <a:ea typeface="Arial"/>
                <a:cs typeface="Arial"/>
              </a:defRPr>
            </a:pPr>
            <a:r>
              <a:rPr sz="3750" b="1">
                <a:solidFill>
                  <a:srgbClr val="17658A"/>
                </a:solidFill>
                <a:latin typeface="Arial"/>
                <a:ea typeface="Arial"/>
                <a:cs typeface="Arial"/>
              </a:rPr>
              <a:t>“B krijgt korting en de winst stijgt.</a:t>
            </a:r>
          </a:p>
          <a:p xmlns:a="http://schemas.openxmlformats.org/drawingml/2006/main">
            <a:pPr algn="l">
              <a:defRPr sz="3750" b="1">
                <a:solidFill>
                  <a:srgbClr val="17658A"/>
                </a:solidFill>
                <a:latin typeface="Arial"/>
                <a:ea typeface="Arial"/>
                <a:cs typeface="Arial"/>
              </a:defRPr>
            </a:pPr>
            <a:r>
              <a:rPr sz="3750" b="1">
                <a:solidFill>
                  <a:srgbClr val="17658A"/>
                </a:solidFill>
                <a:latin typeface="Arial"/>
                <a:ea typeface="Arial"/>
                <a:cs typeface="Arial"/>
              </a:rPr>
              <a:t>Dus iedereen gaat erop vooruit.”</a:t>
            </a:r>
          </a:p>
        </p:txBody>
      </p:sp>
      <p:sp>
        <p:nvSpPr>
          <p:cNvPr id="6" name="Klopt dit? Gebruik een bedrag voor een klantgroep&#10;en een bed">
            <a:extLst xmlns:a="http://schemas.openxmlformats.org/drawingml/2006/main">
              <a:ext uri="{FF2B5EF4-FFF2-40B4-BE49-F238E27FC236}">
                <a16:creationId xmlns:a16="http://schemas.microsoft.com/office/drawing/2014/main" id="{82F14230-DCB3-4936-9890-3157C45D1CA4}"/>
              </a:ext>
            </a:extLst>
          </p:cNvPr>
          <p:cNvSpPr>
            <a:spLocks xmlns:a="http://schemas.openxmlformats.org/drawingml/2006/main" noGrp="1"/>
          </p:cNvSpPr>
          <p:nvPr/>
        </p:nvSpPr>
        <p:spPr>
          <a:xfrm xmlns:a="http://schemas.openxmlformats.org/drawingml/2006/main">
            <a:off x="571500" y="5048250"/>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Klopt dit? Gebruik een bedrag voor een klantgroep</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en een bedrag voor alle partijen samen.</a:t>
            </a:r>
          </a:p>
        </p:txBody>
      </p:sp>
    </p:spTree>
    <p:extLst>
      <p:ext uri="{BB962C8B-B14F-4D97-AF65-F5344CB8AC3E}">
        <p14:creationId xmlns:p14="http://schemas.microsoft.com/office/powerpoint/2010/main" val="3464680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orte controle: de conclusie">
            <a:extLst xmlns:a="http://schemas.openxmlformats.org/drawingml/2006/main">
              <a:ext uri="{FF2B5EF4-FFF2-40B4-BE49-F238E27FC236}">
                <a16:creationId xmlns:a16="http://schemas.microsoft.com/office/drawing/2014/main" id="{8D50AD83-5B01-4A0D-B653-5136A34EF098}"/>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de conclusie</a:t>
            </a:r>
          </a:p>
        </p:txBody>
      </p:sp>
      <p:sp>
        <p:nvSpPr>
          <p:cNvPr id="2" name="">
            <a:extLst xmlns:a="http://schemas.openxmlformats.org/drawingml/2006/main">
              <a:ext uri="{FF2B5EF4-FFF2-40B4-BE49-F238E27FC236}">
                <a16:creationId xmlns:a16="http://schemas.microsoft.com/office/drawing/2014/main" id="{09952B2A-4F6A-4ECF-86CF-9E320B9A38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2E4CB3D2-D7EE-47BD-B71D-3552882A080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EAF164C7-4FB3-428B-A615-2D40AAF443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B krijgt korting en de winst stijgt.&#10;Dus iedereen gaat erop">
            <a:extLst xmlns:a="http://schemas.openxmlformats.org/drawingml/2006/main">
              <a:ext uri="{FF2B5EF4-FFF2-40B4-BE49-F238E27FC236}">
                <a16:creationId xmlns:a16="http://schemas.microsoft.com/office/drawing/2014/main" id="{6900947C-CC3F-4324-967D-C374548B2CC8}"/>
              </a:ext>
            </a:extLst>
          </p:cNvPr>
          <p:cNvSpPr>
            <a:spLocks xmlns:a="http://schemas.openxmlformats.org/drawingml/2006/main" noGrp="1"/>
          </p:cNvSpPr>
          <p:nvPr/>
        </p:nvSpPr>
        <p:spPr>
          <a:xfrm xmlns:a="http://schemas.openxmlformats.org/drawingml/2006/main">
            <a:off x="571500" y="2133600"/>
            <a:ext cx="1409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658A"/>
                </a:solidFill>
                <a:latin typeface="Arial"/>
                <a:ea typeface="Arial"/>
                <a:cs typeface="Arial"/>
              </a:defRPr>
            </a:pPr>
            <a:r>
              <a:rPr sz="3750" b="1">
                <a:solidFill>
                  <a:srgbClr val="17658A"/>
                </a:solidFill>
                <a:latin typeface="Arial"/>
                <a:ea typeface="Arial"/>
                <a:cs typeface="Arial"/>
              </a:rPr>
              <a:t>“B krijgt korting en de winst stijgt.</a:t>
            </a:r>
          </a:p>
          <a:p xmlns:a="http://schemas.openxmlformats.org/drawingml/2006/main">
            <a:pPr algn="l">
              <a:defRPr sz="3750" b="1">
                <a:solidFill>
                  <a:srgbClr val="17658A"/>
                </a:solidFill>
                <a:latin typeface="Arial"/>
                <a:ea typeface="Arial"/>
                <a:cs typeface="Arial"/>
              </a:defRPr>
            </a:pPr>
            <a:r>
              <a:rPr sz="3750" b="1">
                <a:solidFill>
                  <a:srgbClr val="17658A"/>
                </a:solidFill>
                <a:latin typeface="Arial"/>
                <a:ea typeface="Arial"/>
                <a:cs typeface="Arial"/>
              </a:rPr>
              <a:t>Dus iedereen gaat erop vooruit.”</a:t>
            </a:r>
          </a:p>
        </p:txBody>
      </p:sp>
      <p:sp>
        <p:nvSpPr>
          <p:cNvPr id="6" name="Groep A">
            <a:extLst xmlns:a="http://schemas.openxmlformats.org/drawingml/2006/main">
              <a:ext uri="{FF2B5EF4-FFF2-40B4-BE49-F238E27FC236}">
                <a16:creationId xmlns:a16="http://schemas.microsoft.com/office/drawing/2014/main" id="{EF6B1EAA-8F12-4544-943E-720D47EFEE45}"/>
              </a:ext>
            </a:extLst>
          </p:cNvPr>
          <p:cNvSpPr>
            <a:spLocks xmlns:a="http://schemas.openxmlformats.org/drawingml/2006/main" noGrp="1"/>
          </p:cNvSpPr>
          <p:nvPr/>
        </p:nvSpPr>
        <p:spPr>
          <a:xfrm xmlns:a="http://schemas.openxmlformats.org/drawingml/2006/main">
            <a:off x="571500" y="44100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Groep A</a:t>
            </a:r>
          </a:p>
        </p:txBody>
      </p:sp>
      <p:sp>
        <p:nvSpPr>
          <p:cNvPr id="7" name="CS daalt € 40,50 per week.">
            <a:extLst xmlns:a="http://schemas.openxmlformats.org/drawingml/2006/main">
              <a:ext uri="{FF2B5EF4-FFF2-40B4-BE49-F238E27FC236}">
                <a16:creationId xmlns:a16="http://schemas.microsoft.com/office/drawing/2014/main" id="{14E326C4-30ED-4666-8053-1CA5FDE88EB5}"/>
              </a:ext>
            </a:extLst>
          </p:cNvPr>
          <p:cNvSpPr>
            <a:spLocks xmlns:a="http://schemas.openxmlformats.org/drawingml/2006/main" noGrp="1"/>
          </p:cNvSpPr>
          <p:nvPr/>
        </p:nvSpPr>
        <p:spPr>
          <a:xfrm xmlns:a="http://schemas.openxmlformats.org/drawingml/2006/main">
            <a:off x="5381625" y="441007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CS daalt € 40,50 per week.</a:t>
            </a:r>
          </a:p>
        </p:txBody>
      </p:sp>
      <p:sp>
        <p:nvSpPr>
          <p:cNvPr id="8" name="">
            <a:extLst xmlns:a="http://schemas.openxmlformats.org/drawingml/2006/main">
              <a:ext uri="{FF2B5EF4-FFF2-40B4-BE49-F238E27FC236}">
                <a16:creationId xmlns:a16="http://schemas.microsoft.com/office/drawing/2014/main" id="{77CF813F-193D-4DD0-8082-C9C1ACA4E727}"/>
              </a:ext>
            </a:extLst>
          </p:cNvPr>
          <p:cNvSpPr>
            <a:spLocks xmlns:a="http://schemas.openxmlformats.org/drawingml/2006/main" noGrp="1"/>
          </p:cNvSpPr>
          <p:nvPr/>
        </p:nvSpPr>
        <p:spPr>
          <a:xfrm xmlns:a="http://schemas.openxmlformats.org/drawingml/2006/main">
            <a:off x="571500" y="5495925"/>
            <a:ext cx="14097000" cy="0"/>
          </a:xfrm>
          <a:prstGeom xmlns:a="http://schemas.openxmlformats.org/drawingml/2006/main" prst="line">
            <a:avLst/>
          </a:prstGeom>
          <a:ln xmlns:a="http://schemas.openxmlformats.org/drawingml/2006/main" w="19050">
            <a:solidFill>
              <a:srgbClr val="C6D2DB"/>
            </a:solidFill>
          </a:ln>
        </p:spPr>
      </p:sp>
      <p:sp>
        <p:nvSpPr>
          <p:cNvPr id="9" name="Alle partijen samen">
            <a:extLst xmlns:a="http://schemas.openxmlformats.org/drawingml/2006/main">
              <a:ext uri="{FF2B5EF4-FFF2-40B4-BE49-F238E27FC236}">
                <a16:creationId xmlns:a16="http://schemas.microsoft.com/office/drawing/2014/main" id="{9556E324-C890-4622-A45D-9F160DE5015D}"/>
              </a:ext>
            </a:extLst>
          </p:cNvPr>
          <p:cNvSpPr>
            <a:spLocks xmlns:a="http://schemas.openxmlformats.org/drawingml/2006/main" noGrp="1"/>
          </p:cNvSpPr>
          <p:nvPr/>
        </p:nvSpPr>
        <p:spPr>
          <a:xfrm xmlns:a="http://schemas.openxmlformats.org/drawingml/2006/main">
            <a:off x="571500" y="57150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Alle partijen samen</a:t>
            </a:r>
          </a:p>
        </p:txBody>
      </p:sp>
      <p:sp>
        <p:nvSpPr>
          <p:cNvPr id="10" name="TS daalt € 9 per week.">
            <a:extLst xmlns:a="http://schemas.openxmlformats.org/drawingml/2006/main">
              <a:ext uri="{FF2B5EF4-FFF2-40B4-BE49-F238E27FC236}">
                <a16:creationId xmlns:a16="http://schemas.microsoft.com/office/drawing/2014/main" id="{842513FD-FBCD-41DD-BE08-6C0C96965B81}"/>
              </a:ext>
            </a:extLst>
          </p:cNvPr>
          <p:cNvSpPr>
            <a:spLocks xmlns:a="http://schemas.openxmlformats.org/drawingml/2006/main" noGrp="1"/>
          </p:cNvSpPr>
          <p:nvPr/>
        </p:nvSpPr>
        <p:spPr>
          <a:xfrm xmlns:a="http://schemas.openxmlformats.org/drawingml/2006/main">
            <a:off x="5381625" y="571500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TS daalt € 9 per week.</a:t>
            </a:r>
          </a:p>
        </p:txBody>
      </p:sp>
      <p:sp>
        <p:nvSpPr>
          <p:cNvPr id="11" name="Dit resultaat geldt voor deze vraag, kosten en afzet.">
            <a:extLst xmlns:a="http://schemas.openxmlformats.org/drawingml/2006/main">
              <a:ext uri="{FF2B5EF4-FFF2-40B4-BE49-F238E27FC236}">
                <a16:creationId xmlns:a16="http://schemas.microsoft.com/office/drawing/2014/main" id="{7BBB2B77-65D9-49E5-B3F0-98504A345F0C}"/>
              </a:ext>
            </a:extLst>
          </p:cNvPr>
          <p:cNvSpPr>
            <a:spLocks xmlns:a="http://schemas.openxmlformats.org/drawingml/2006/main" noGrp="1"/>
          </p:cNvSpPr>
          <p:nvPr/>
        </p:nvSpPr>
        <p:spPr>
          <a:xfrm xmlns:a="http://schemas.openxmlformats.org/drawingml/2006/main">
            <a:off x="571500" y="72771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Dit resultaat geldt voor deze vraag, kosten en afzet.</a:t>
            </a:r>
          </a:p>
        </p:txBody>
      </p:sp>
    </p:spTree>
    <p:extLst>
      <p:ext uri="{BB962C8B-B14F-4D97-AF65-F5344CB8AC3E}">
        <p14:creationId xmlns:p14="http://schemas.microsoft.com/office/powerpoint/2010/main" val="3426724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2 Prijsdiscriminatie">
            <a:extLst xmlns:a="http://schemas.openxmlformats.org/drawingml/2006/main">
              <a:ext uri="{FF2B5EF4-FFF2-40B4-BE49-F238E27FC236}">
                <a16:creationId xmlns:a16="http://schemas.microsoft.com/office/drawing/2014/main" id="{1A42AB45-8538-4840-A1CA-EC9956C3EC35}"/>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§4.2.2 Prijsdiscriminatie</a:t>
            </a:r>
          </a:p>
        </p:txBody>
      </p:sp>
      <p:sp>
        <p:nvSpPr>
          <p:cNvPr id="2" name="">
            <a:extLst xmlns:a="http://schemas.openxmlformats.org/drawingml/2006/main">
              <a:ext uri="{FF2B5EF4-FFF2-40B4-BE49-F238E27FC236}">
                <a16:creationId xmlns:a16="http://schemas.microsoft.com/office/drawing/2014/main" id="{43B3BD79-1CD9-4A38-A4DC-7C5E9480254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a:extLst xmlns:a="http://schemas.openxmlformats.org/drawingml/2006/main">
              <a:ext uri="{FF2B5EF4-FFF2-40B4-BE49-F238E27FC236}">
                <a16:creationId xmlns:a16="http://schemas.microsoft.com/office/drawing/2014/main" id="{B932EE83-1468-4B0A-BE0F-7F509F7CD76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a:t>
            </a:r>
          </a:p>
        </p:txBody>
      </p:sp>
      <p:sp>
        <p:nvSpPr>
          <p:cNvPr id="4" name="14">
            <a:extLst xmlns:a="http://schemas.openxmlformats.org/drawingml/2006/main">
              <a:ext uri="{FF2B5EF4-FFF2-40B4-BE49-F238E27FC236}">
                <a16:creationId xmlns:a16="http://schemas.microsoft.com/office/drawing/2014/main" id="{FBDD318F-5068-4EAF-99D4-7083E26E14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0D143711-42D8-43FC-A3FE-C029C431511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18DCF4C3-1C00-4AC9-9898-58A61B986E3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DB76CC19-7652-4497-8071-F2CCB857FA9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CD771BC4-67BD-4059-BA7E-A0A785FFCD4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031F0130-1C89-4672-B233-EC618675A29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2391B222-9DAC-4D2B-AC72-AFCF62F2CD8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64E522DA-F4F2-484D-8026-86EB6ACA15C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DAD52F13-E947-4A99-9324-D349018D336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15815E41-6652-4E66-AF22-54DD50376CF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51534626-EDB3-4552-AB7B-D878BB8441F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41FF283C-EAAB-480A-BD5E-62F286E2F20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4F0FC09F-D63C-4224-8580-524ED2E0BC3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95C9BA96-470A-4173-B9F8-A897948B5E6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531CABE3-6C88-4B80-A1E7-BEB0BBB3DA6F}"/>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E79682CC-2C7E-43A7-9D4C-75A2C48B04B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FF4C2F4E-DA18-4464-B4A7-FB176B0AF27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A7D2BCB-B4DB-4E32-ADB5-3326DE74DAB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B8E09E3-9D85-44E4-A1E4-F552DB4C497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Prijsdiscriminatie herkennen,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groepsprijzen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en surplus vergelijken.</a:t>
            </a:r>
          </a:p>
        </p:txBody>
      </p:sp>
      <p:sp>
        <p:nvSpPr>
          <p:cNvPr id="23" name="">
            <a:extLst xmlns:a="http://schemas.openxmlformats.org/drawingml/2006/main">
              <a:ext uri="{FF2B5EF4-FFF2-40B4-BE49-F238E27FC236}">
                <a16:creationId xmlns:a16="http://schemas.microsoft.com/office/drawing/2014/main" id="{875711BA-5ABE-4991-8FFA-D4CE95D847B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6DE6323-2877-46AA-B5A5-687FD0F6A1A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48B9E11-46AE-4C10-A890-FEB2D9102F27}"/>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66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10: samenvoegen, steun p. 64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63</a:t>
            </a:r>
          </a:p>
        </p:txBody>
      </p:sp>
      <p:sp>
        <p:nvSpPr>
          <p:cNvPr id="26" name="">
            <a:extLst xmlns:a="http://schemas.openxmlformats.org/drawingml/2006/main">
              <a:ext uri="{FF2B5EF4-FFF2-40B4-BE49-F238E27FC236}">
                <a16:creationId xmlns:a16="http://schemas.microsoft.com/office/drawing/2014/main" id="{397598D6-1EE4-4124-865C-8CCFA0094864}"/>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987037E-1841-4AC2-AC35-789BB2F8DCEE}"/>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4972AB8-12AA-4FD7-89EC-AAC8B5D2A9F8}"/>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§4.2.2 Prijsdiscriminatie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2967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 · Bron A: FilmLab">
            <a:extLst xmlns:a="http://schemas.openxmlformats.org/drawingml/2006/main">
              <a:ext uri="{FF2B5EF4-FFF2-40B4-BE49-F238E27FC236}">
                <a16:creationId xmlns:a16="http://schemas.microsoft.com/office/drawing/2014/main" id="{C19870C8-EE3F-4A08-B669-FE156AFB21F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 · Bron A: FilmLab</a:t>
            </a:r>
          </a:p>
        </p:txBody>
      </p:sp>
      <p:sp>
        <p:nvSpPr>
          <p:cNvPr id="2" name="">
            <a:extLst xmlns:a="http://schemas.openxmlformats.org/drawingml/2006/main">
              <a:ext uri="{FF2B5EF4-FFF2-40B4-BE49-F238E27FC236}">
                <a16:creationId xmlns:a16="http://schemas.microsoft.com/office/drawing/2014/main" id="{B66C91F4-8FF6-4318-96C0-8ED860858F2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06EACB93-ED1D-445F-8AF2-A80659BD889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15">
            <a:extLst xmlns:a="http://schemas.openxmlformats.org/drawingml/2006/main">
              <a:ext uri="{FF2B5EF4-FFF2-40B4-BE49-F238E27FC236}">
                <a16:creationId xmlns:a16="http://schemas.microsoft.com/office/drawing/2014/main" id="{2CA584E6-5F23-40BE-99A0-9E653008A6C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Dezelfde toegangsdienst voor A en B. FilmLab heeft marktmach">
            <a:extLst xmlns:a="http://schemas.openxmlformats.org/drawingml/2006/main">
              <a:ext uri="{FF2B5EF4-FFF2-40B4-BE49-F238E27FC236}">
                <a16:creationId xmlns:a16="http://schemas.microsoft.com/office/drawing/2014/main" id="{9481A8CC-9FB4-4FCC-A79D-0048C14A41A9}"/>
              </a:ext>
            </a:extLst>
          </p:cNvPr>
          <p:cNvSpPr>
            <a:spLocks xmlns:a="http://schemas.openxmlformats.org/drawingml/2006/main" noGrp="1"/>
          </p:cNvSpPr>
          <p:nvPr/>
        </p:nvSpPr>
        <p:spPr>
          <a:xfrm xmlns:a="http://schemas.openxmlformats.org/drawingml/2006/main">
            <a:off x="571500" y="180975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Dezelfde toegangsdienst voor A en B. FilmLab heeft marktmacht.</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Persoonlijke passen, gecontroleerde groepen, geen doorverkoop.</a:t>
            </a:r>
          </a:p>
        </p:txBody>
      </p:sp>
      <p:graphicFrame>
        <p:nvGraphicFramePr>
          <p:cNvPr id="13" name=""/>
          <p:cNvGraphicFramePr/>
          <p:nvPr/>
        </p:nvGraphicFramePr>
        <p:xfrm>
          <a:off xmlns:a="http://schemas.openxmlformats.org/drawingml/2006/main" x="571500" y="3495675"/>
          <a:ext xmlns:a="http://schemas.openxmlformats.org/drawingml/2006/main" cx="14097000" cy="2457450"/>
        </p:xfrm>
        <a:graphic xmlns:a="http://schemas.openxmlformats.org/drawingml/2006/main">
          <a:graphicData uri="http://schemas.openxmlformats.org/drawingml/2006/table">
            <a:tbl>
              <a:tblPr/>
              <a:tblGrid>
                <a:gridCol w="5905500"/>
                <a:gridCol w="4095750"/>
                <a:gridCol w="4095750"/>
              </a:tblGrid>
              <a:tr h="819150">
                <a:tc>
                  <a:txBody>
                    <a:bodyPr lIns="171450" tIns="95250" rIns="152400" bIns="95250"/>
                    <a:lstStyle/>
                    <a:p>
                      <a:r>
                        <a:rPr sz="240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 A</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 B</a:t>
                      </a:r>
                    </a:p>
                  </a:txBody>
                  <a:tcPr marL="91440" marR="91440" marT="45720" marB="45720" anchor="ctr">
                    <a:solidFill>
                      <a:srgbClr val="183247"/>
                    </a:solidFill>
                  </a:tcPr>
                </a:tc>
              </a:tr>
              <a:tr h="819150">
                <a:tc>
                  <a:txBody>
                    <a:bodyPr lIns="171450" tIns="95250" rIns="152400" bIns="95250"/>
                    <a:lstStyle/>
                    <a:p>
                      <a:r>
                        <a:rPr sz="2400"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P_A = 40 − Q_A</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P_B = 24 − Q_B</a:t>
                      </a:r>
                    </a:p>
                  </a:txBody>
                  <a:tcPr marL="91440" marR="91440" marT="45720" marB="45720" anchor="ctr">
                    <a:solidFill>
                      <a:srgbClr val="FFFFFF"/>
                    </a:solidFill>
                  </a:tcPr>
                </a:tc>
              </a:tr>
              <a:tr h="819150">
                <a:tc>
                  <a:txBody>
                    <a:bodyPr lIns="171450" tIns="95250" rIns="152400" bIns="95250"/>
                    <a:lstStyle/>
                    <a:p>
                      <a:r>
                        <a:rPr sz="2400" b="0">
                          <a:solidFill>
                            <a:srgbClr val="183247"/>
                          </a:solidFill>
                          <a:latin typeface="Arial"/>
                          <a:ea typeface="Arial"/>
                          <a:cs typeface="Arial"/>
                        </a:rPr>
                        <a:t>Domein (bezoeken per 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 Q_A ≤ 40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 Q_B ≤ 24</a:t>
                      </a:r>
                    </a:p>
                  </a:txBody>
                  <a:tcPr marL="91440" marR="91440" marT="45720" marB="45720" anchor="ctr">
                    <a:solidFill>
                      <a:srgbClr val="EFF4F7"/>
                    </a:solidFill>
                  </a:tcPr>
                </a:tc>
              </a:tr>
            </a:tbl>
          </a:graphicData>
        </a:graphic>
      </p:graphicFrame>
      <p:sp>
        <p:nvSpPr>
          <p:cNvPr id="7" name="P: euro per bezoek. Q_A en Q_B: bezoeken per week.&#10;MK = € 8 ">
            <a:extLst xmlns:a="http://schemas.openxmlformats.org/drawingml/2006/main">
              <a:ext uri="{FF2B5EF4-FFF2-40B4-BE49-F238E27FC236}">
                <a16:creationId xmlns:a16="http://schemas.microsoft.com/office/drawing/2014/main" id="{B738ABF3-8878-4D22-879F-5528C95F442D}"/>
              </a:ext>
            </a:extLst>
          </p:cNvPr>
          <p:cNvSpPr>
            <a:spLocks xmlns:a="http://schemas.openxmlformats.org/drawingml/2006/main" noGrp="1"/>
          </p:cNvSpPr>
          <p:nvPr/>
        </p:nvSpPr>
        <p:spPr>
          <a:xfrm xmlns:a="http://schemas.openxmlformats.org/drawingml/2006/main">
            <a:off x="571500" y="6486525"/>
            <a:ext cx="14097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euro per bezoek. Q_A en Q_B: bezoeken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€ 8 voor elk bezoek. TCK = € 80 per week, samen.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Capaciteit: 64 bezoeken.</a:t>
            </a:r>
          </a:p>
        </p:txBody>
      </p:sp>
    </p:spTree>
    <p:extLst>
      <p:ext uri="{BB962C8B-B14F-4D97-AF65-F5344CB8AC3E}">
        <p14:creationId xmlns:p14="http://schemas.microsoft.com/office/powerpoint/2010/main" val="6058719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 · Bron B: de vergelijking">
            <a:extLst xmlns:a="http://schemas.openxmlformats.org/drawingml/2006/main">
              <a:ext uri="{FF2B5EF4-FFF2-40B4-BE49-F238E27FC236}">
                <a16:creationId xmlns:a16="http://schemas.microsoft.com/office/drawing/2014/main" id="{061043CD-9DFD-45CE-9395-755F83FC889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 · Bron B: de vergelijking</a:t>
            </a:r>
          </a:p>
        </p:txBody>
      </p:sp>
      <p:sp>
        <p:nvSpPr>
          <p:cNvPr id="2" name="">
            <a:extLst xmlns:a="http://schemas.openxmlformats.org/drawingml/2006/main">
              <a:ext uri="{FF2B5EF4-FFF2-40B4-BE49-F238E27FC236}">
                <a16:creationId xmlns:a16="http://schemas.microsoft.com/office/drawing/2014/main" id="{420C4129-AF9A-4B99-9478-BF40038F71B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7787E313-F6FE-4271-9C65-0FC09D2B0F7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16">
            <a:extLst xmlns:a="http://schemas.openxmlformats.org/drawingml/2006/main">
              <a:ext uri="{FF2B5EF4-FFF2-40B4-BE49-F238E27FC236}">
                <a16:creationId xmlns:a16="http://schemas.microsoft.com/office/drawing/2014/main" id="{393AE29B-7452-4D3B-936A-64D82DD6D9C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2" name=""/>
          <p:cNvGraphicFramePr/>
          <p:nvPr/>
        </p:nvGraphicFramePr>
        <p:xfrm>
          <a:off xmlns:a="http://schemas.openxmlformats.org/drawingml/2006/main" x="571500" y="2066925"/>
          <a:ext xmlns:a="http://schemas.openxmlformats.org/drawingml/2006/main" cx="14097000" cy="3419475"/>
        </p:xfrm>
        <a:graphic xmlns:a="http://schemas.openxmlformats.org/drawingml/2006/main">
          <a:graphicData uri="http://schemas.openxmlformats.org/drawingml/2006/table">
            <a:tbl>
              <a:tblPr/>
              <a:tblGrid>
                <a:gridCol w="5048250"/>
                <a:gridCol w="4524375"/>
                <a:gridCol w="4524375"/>
              </a:tblGrid>
              <a:tr h="854869">
                <a:tc>
                  <a:txBody>
                    <a:bodyPr lIns="171450" tIns="95250" rIns="152400" bIns="95250"/>
                    <a:lstStyle/>
                    <a:p>
                      <a:r>
                        <a:rPr sz="240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Eén prijs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Groepsprijzen</a:t>
                      </a:r>
                    </a:p>
                  </a:txBody>
                  <a:tcPr marL="91440" marR="91440" marT="45720" marB="45720" anchor="ctr">
                    <a:solidFill>
                      <a:srgbClr val="183247"/>
                    </a:solidFill>
                  </a:tcPr>
                </a:tc>
              </a:tr>
              <a:tr h="854869">
                <a:tc>
                  <a:txBody>
                    <a:bodyPr lIns="171450" tIns="95250" rIns="152400" bIns="95250"/>
                    <a:lstStyle/>
                    <a:p>
                      <a:r>
                        <a:rPr sz="2400" b="0">
                          <a:solidFill>
                            <a:srgbClr val="183247"/>
                          </a:solidFill>
                          <a:latin typeface="Arial"/>
                          <a:ea typeface="Arial"/>
                          <a:cs typeface="Arial"/>
                        </a:rPr>
                        <a:t>Gemeenschappelijke prijs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€ 20 per bezoek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Afzonderlijk winstmaximaal</a:t>
                      </a:r>
                    </a:p>
                  </a:txBody>
                  <a:tcPr marL="91440" marR="91440" marT="45720" marB="45720" anchor="ctr">
                    <a:solidFill>
                      <a:srgbClr val="FFFFFF"/>
                    </a:solidFill>
                  </a:tcPr>
                </a:tc>
              </a:tr>
              <a:tr h="854869">
                <a:tc>
                  <a:txBody>
                    <a:bodyPr lIns="171450" tIns="95250" rIns="152400" bIns="95250"/>
                    <a:lstStyle/>
                    <a:p>
                      <a:r>
                        <a:rPr sz="2400" b="0">
                          <a:solidFill>
                            <a:srgbClr val="183247"/>
                          </a:solidFill>
                          <a:latin typeface="Arial"/>
                          <a:ea typeface="Arial"/>
                          <a:cs typeface="Arial"/>
                        </a:rPr>
                        <a:t>Afzet bij de gegeven prijs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A: 20 bezoeken; B: 4</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Zelf te bepalen</a:t>
                      </a:r>
                    </a:p>
                  </a:txBody>
                  <a:tcPr marL="91440" marR="91440" marT="45720" marB="45720" anchor="ctr">
                    <a:solidFill>
                      <a:srgbClr val="EFF4F7"/>
                    </a:solidFill>
                  </a:tcPr>
                </a:tc>
              </a:tr>
              <a:tr h="854869">
                <a:tc>
                  <a:txBody>
                    <a:bodyPr lIns="171450" tIns="95250" rIns="152400" bIns="95250"/>
                    <a:lstStyle/>
                    <a:p>
                      <a:r>
                        <a:rPr sz="2400" b="0">
                          <a:solidFill>
                            <a:srgbClr val="183247"/>
                          </a:solidFill>
                          <a:latin typeface="Arial"/>
                          <a:ea typeface="Arial"/>
                          <a:cs typeface="Arial"/>
                        </a:rPr>
                        <a:t>Totaal CS (€ per 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160</a:t>
                      </a:r>
                    </a:p>
                  </a:txBody>
                  <a:tcPr marL="91440" marR="91440" marT="45720" marB="45720" anchor="ctr">
                    <a:solidFill>
                      <a:srgbClr val="FFFFFF"/>
                    </a:solidFill>
                  </a:tcPr>
                </a:tc>
              </a:tr>
            </a:tbl>
          </a:graphicData>
        </a:graphic>
      </p:graphicFrame>
      <p:sp>
        <p:nvSpPr>
          <p:cNvPr id="6" name="De vraag en kosten veranderen niet. Er zijn geen externe eff">
            <a:extLst xmlns:a="http://schemas.openxmlformats.org/drawingml/2006/main">
              <a:ext uri="{FF2B5EF4-FFF2-40B4-BE49-F238E27FC236}">
                <a16:creationId xmlns:a16="http://schemas.microsoft.com/office/drawing/2014/main" id="{DE9A34B3-A8B8-40F9-891E-2F4038A4972C}"/>
              </a:ext>
            </a:extLst>
          </p:cNvPr>
          <p:cNvSpPr>
            <a:spLocks xmlns:a="http://schemas.openxmlformats.org/drawingml/2006/main" noGrp="1"/>
          </p:cNvSpPr>
          <p:nvPr/>
        </p:nvSpPr>
        <p:spPr>
          <a:xfrm xmlns:a="http://schemas.openxmlformats.org/drawingml/2006/main">
            <a:off x="571500" y="60198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vraag en kosten veranderen niet. Er zijn geen externe effecten.</a:t>
            </a:r>
          </a:p>
        </p:txBody>
      </p:sp>
      <p:sp>
        <p:nvSpPr>
          <p:cNvPr id="7" name="Gebruik beide bronnen. Je hoeft de gemeenschappelijke prijs&#10;">
            <a:extLst xmlns:a="http://schemas.openxmlformats.org/drawingml/2006/main">
              <a:ext uri="{FF2B5EF4-FFF2-40B4-BE49-F238E27FC236}">
                <a16:creationId xmlns:a16="http://schemas.microsoft.com/office/drawing/2014/main" id="{FFA78EDA-D6AE-4DAD-99F6-D6B790EB4101}"/>
              </a:ext>
            </a:extLst>
          </p:cNvPr>
          <p:cNvSpPr>
            <a:spLocks xmlns:a="http://schemas.openxmlformats.org/drawingml/2006/main" noGrp="1"/>
          </p:cNvSpPr>
          <p:nvPr/>
        </p:nvSpPr>
        <p:spPr>
          <a:xfrm xmlns:a="http://schemas.openxmlformats.org/drawingml/2006/main">
            <a:off x="571500" y="71628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beide bronnen. Je hoeft de gemeenschappelijke prijs</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van € 20 niet opnieuw te bepalen.</a:t>
            </a:r>
          </a:p>
        </p:txBody>
      </p:sp>
    </p:spTree>
    <p:extLst>
      <p:ext uri="{BB962C8B-B14F-4D97-AF65-F5344CB8AC3E}">
        <p14:creationId xmlns:p14="http://schemas.microsoft.com/office/powerpoint/2010/main" val="20912593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 · De twee bronpanelen">
            <a:extLst xmlns:a="http://schemas.openxmlformats.org/drawingml/2006/main">
              <a:ext uri="{FF2B5EF4-FFF2-40B4-BE49-F238E27FC236}">
                <a16:creationId xmlns:a16="http://schemas.microsoft.com/office/drawing/2014/main" id="{94D0041F-1CBC-4BDB-AF1B-3AA969B34A9E}"/>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 · De twee bronpanelen</a:t>
            </a:r>
          </a:p>
        </p:txBody>
      </p:sp>
      <p:sp>
        <p:nvSpPr>
          <p:cNvPr id="2" name="">
            <a:extLst xmlns:a="http://schemas.openxmlformats.org/drawingml/2006/main">
              <a:ext uri="{FF2B5EF4-FFF2-40B4-BE49-F238E27FC236}">
                <a16:creationId xmlns:a16="http://schemas.microsoft.com/office/drawing/2014/main" id="{86727F22-4600-4CDF-A3DF-6885E068DF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E6AF1314-D4F6-4BF3-88C4-320E8766217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17">
            <a:extLst xmlns:a="http://schemas.openxmlformats.org/drawingml/2006/main">
              <a:ext uri="{FF2B5EF4-FFF2-40B4-BE49-F238E27FC236}">
                <a16:creationId xmlns:a16="http://schemas.microsoft.com/office/drawing/2014/main" id="{327ABC38-E6E5-4E8B-B911-5D30A87B43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Groep A">
            <a:extLst xmlns:a="http://schemas.openxmlformats.org/drawingml/2006/main">
              <a:ext uri="{FF2B5EF4-FFF2-40B4-BE49-F238E27FC236}">
                <a16:creationId xmlns:a16="http://schemas.microsoft.com/office/drawing/2014/main" id="{7701EA0F-DA85-4492-B514-BDDD519F82B7}"/>
              </a:ext>
            </a:extLst>
          </p:cNvPr>
          <p:cNvSpPr>
            <a:spLocks xmlns:a="http://schemas.openxmlformats.org/drawingml/2006/main" noGrp="1"/>
          </p:cNvSpPr>
          <p:nvPr/>
        </p:nvSpPr>
        <p:spPr>
          <a:xfrm xmlns:a="http://schemas.openxmlformats.org/drawingml/2006/main">
            <a:off x="571500" y="1685925"/>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Groep A</a:t>
            </a:r>
          </a:p>
        </p:txBody>
      </p:sp>
      <p:sp>
        <p:nvSpPr>
          <p:cNvPr id="6" name="Groep B">
            <a:extLst xmlns:a="http://schemas.openxmlformats.org/drawingml/2006/main">
              <a:ext uri="{FF2B5EF4-FFF2-40B4-BE49-F238E27FC236}">
                <a16:creationId xmlns:a16="http://schemas.microsoft.com/office/drawing/2014/main" id="{A8BB401B-A112-43CE-8147-8527011D046C}"/>
              </a:ext>
            </a:extLst>
          </p:cNvPr>
          <p:cNvSpPr>
            <a:spLocks xmlns:a="http://schemas.openxmlformats.org/drawingml/2006/main" noGrp="1"/>
          </p:cNvSpPr>
          <p:nvPr/>
        </p:nvSpPr>
        <p:spPr>
          <a:xfrm xmlns:a="http://schemas.openxmlformats.org/drawingml/2006/main">
            <a:off x="8001000" y="16859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Groep B</a:t>
            </a:r>
          </a:p>
        </p:txBody>
      </p:sp>
      <p:graphicFrame>
        <p:nvGraphicFramePr>
          <p:cNvPr id="16" name="Chart"/>
          <p:cNvGraphicFramePr/>
          <p:nvPr/>
        </p:nvGraphicFramePr>
        <p:xfrm>
          <a:off xmlns:a="http://schemas.openxmlformats.org/drawingml/2006/main" x="571500" y="2266950"/>
          <a:ext xmlns:a="http://schemas.openxmlformats.org/drawingml/2006/main" cx="6762750" cy="4953000"/>
        </p:xfrm>
        <a:graphic xmlns:a="http://schemas.openxmlformats.org/drawingml/2006/main">
          <a:graphicData uri="http://schemas.openxmlformats.org/drawingml/2006/chart">
            <c:chart xmlns:r="http://schemas.openxmlformats.org/officeDocument/2006/relationships" xmlns:c="http://schemas.openxmlformats.org/drawingml/2006/chart" r:id="R8285c99c7d79452c"/>
          </a:graphicData>
        </a:graphic>
      </p:graphicFrame>
      <p:graphicFrame>
        <p:nvGraphicFramePr>
          <p:cNvPr id="17" name="Chart"/>
          <p:cNvGraphicFramePr/>
          <p:nvPr/>
        </p:nvGraphicFramePr>
        <p:xfrm>
          <a:off xmlns:a="http://schemas.openxmlformats.org/drawingml/2006/main" x="8001000" y="2266950"/>
          <a:ext xmlns:a="http://schemas.openxmlformats.org/drawingml/2006/main" cx="6667500" cy="4953000"/>
        </p:xfrm>
        <a:graphic xmlns:a="http://schemas.openxmlformats.org/drawingml/2006/main">
          <a:graphicData uri="http://schemas.openxmlformats.org/drawingml/2006/chart">
            <c:chart xmlns:r="http://schemas.openxmlformats.org/officeDocument/2006/relationships" xmlns:c="http://schemas.openxmlformats.org/drawingml/2006/chart" r:id="Rac490332b4b74905"/>
          </a:graphicData>
        </a:graphic>
      </p:graphicFrame>
      <p:sp>
        <p:nvSpPr>
          <p:cNvPr id="9" name="Vul de benodigde hoeveelheden en prijzen aan.">
            <a:extLst xmlns:a="http://schemas.openxmlformats.org/drawingml/2006/main">
              <a:ext uri="{FF2B5EF4-FFF2-40B4-BE49-F238E27FC236}">
                <a16:creationId xmlns:a16="http://schemas.microsoft.com/office/drawing/2014/main" id="{2E538C51-9694-49DC-BA52-1C9DE7C77C42}"/>
              </a:ext>
            </a:extLst>
          </p:cNvPr>
          <p:cNvSpPr>
            <a:spLocks xmlns:a="http://schemas.openxmlformats.org/drawingml/2006/main" noGrp="1"/>
          </p:cNvSpPr>
          <p:nvPr/>
        </p:nvSpPr>
        <p:spPr>
          <a:xfrm xmlns:a="http://schemas.openxmlformats.org/drawingml/2006/main">
            <a:off x="571500" y="742950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Vul de benodigde hoeveelheden en prijzen aan.</a:t>
            </a:r>
          </a:p>
        </p:txBody>
      </p:sp>
    </p:spTree>
    <p:extLst>
      <p:ext uri="{BB962C8B-B14F-4D97-AF65-F5344CB8AC3E}">
        <p14:creationId xmlns:p14="http://schemas.microsoft.com/office/powerpoint/2010/main" val="197974378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16 · Deelvragen a, b en c">
            <a:extLst xmlns:a="http://schemas.openxmlformats.org/drawingml/2006/main">
              <a:ext uri="{FF2B5EF4-FFF2-40B4-BE49-F238E27FC236}">
                <a16:creationId xmlns:a16="http://schemas.microsoft.com/office/drawing/2014/main" id="{8EBD9A31-162D-46F0-94CC-874A95AE6971}"/>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 · Deelvragen a, b en c</a:t>
            </a:r>
          </a:p>
        </p:txBody>
      </p:sp>
      <p:sp>
        <p:nvSpPr>
          <p:cNvPr id="2" name="">
            <a:extLst xmlns:a="http://schemas.openxmlformats.org/drawingml/2006/main">
              <a:ext uri="{FF2B5EF4-FFF2-40B4-BE49-F238E27FC236}">
                <a16:creationId xmlns:a16="http://schemas.microsoft.com/office/drawing/2014/main" id="{8E9778FC-0157-4C4F-8ACD-6ADF032869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AE4E4064-14BA-41A8-9963-12BD7CB0EF6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18">
            <a:extLst xmlns:a="http://schemas.openxmlformats.org/drawingml/2006/main">
              <a:ext uri="{FF2B5EF4-FFF2-40B4-BE49-F238E27FC236}">
                <a16:creationId xmlns:a16="http://schemas.microsoft.com/office/drawing/2014/main" id="{C5AE5654-EF1A-40D2-BF93-BC1FB480D95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 3 punten">
            <a:extLst xmlns:a="http://schemas.openxmlformats.org/drawingml/2006/main">
              <a:ext uri="{FF2B5EF4-FFF2-40B4-BE49-F238E27FC236}">
                <a16:creationId xmlns:a16="http://schemas.microsoft.com/office/drawing/2014/main" id="{C323B0E4-1D50-4DA5-BF72-A6D96DF582C4}"/>
              </a:ext>
            </a:extLst>
          </p:cNvPr>
          <p:cNvSpPr>
            <a:spLocks xmlns:a="http://schemas.openxmlformats.org/drawingml/2006/main" noGrp="1"/>
          </p:cNvSpPr>
          <p:nvPr/>
        </p:nvSpPr>
        <p:spPr>
          <a:xfrm xmlns:a="http://schemas.openxmlformats.org/drawingml/2006/main">
            <a:off x="571500" y="21621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 · 3 punten</a:t>
            </a:r>
          </a:p>
        </p:txBody>
      </p:sp>
      <p:sp>
        <p:nvSpPr>
          <p:cNvPr id="6" name="Bereken per groep MO, de winstmaximale hoeveelheid en de gro">
            <a:extLst xmlns:a="http://schemas.openxmlformats.org/drawingml/2006/main">
              <a:ext uri="{FF2B5EF4-FFF2-40B4-BE49-F238E27FC236}">
                <a16:creationId xmlns:a16="http://schemas.microsoft.com/office/drawing/2014/main" id="{A9C71257-9231-4E24-9A44-03DF22164309}"/>
              </a:ext>
            </a:extLst>
          </p:cNvPr>
          <p:cNvSpPr>
            <a:spLocks xmlns:a="http://schemas.openxmlformats.org/drawingml/2006/main" noGrp="1"/>
          </p:cNvSpPr>
          <p:nvPr/>
        </p:nvSpPr>
        <p:spPr>
          <a:xfrm xmlns:a="http://schemas.openxmlformats.org/drawingml/2006/main">
            <a:off x="5381625" y="216217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per groep MO, de winstmaximale hoeveelheid en de groepsprijs.</a:t>
            </a:r>
          </a:p>
        </p:txBody>
      </p:sp>
      <p:sp>
        <p:nvSpPr>
          <p:cNvPr id="7" name="">
            <a:extLst xmlns:a="http://schemas.openxmlformats.org/drawingml/2006/main">
              <a:ext uri="{FF2B5EF4-FFF2-40B4-BE49-F238E27FC236}">
                <a16:creationId xmlns:a16="http://schemas.microsoft.com/office/drawing/2014/main" id="{56D1A7B5-77B4-4627-8B4E-EFC2EE6D5222}"/>
              </a:ext>
            </a:extLst>
          </p:cNvPr>
          <p:cNvSpPr>
            <a:spLocks xmlns:a="http://schemas.openxmlformats.org/drawingml/2006/main" noGrp="1"/>
          </p:cNvSpPr>
          <p:nvPr/>
        </p:nvSpPr>
        <p:spPr>
          <a:xfrm xmlns:a="http://schemas.openxmlformats.org/drawingml/2006/main">
            <a:off x="571500" y="3248025"/>
            <a:ext cx="14097000" cy="0"/>
          </a:xfrm>
          <a:prstGeom xmlns:a="http://schemas.openxmlformats.org/drawingml/2006/main" prst="line">
            <a:avLst/>
          </a:prstGeom>
          <a:ln xmlns:a="http://schemas.openxmlformats.org/drawingml/2006/main" w="19050">
            <a:solidFill>
              <a:srgbClr val="C6D2DB"/>
            </a:solidFill>
          </a:ln>
        </p:spPr>
      </p:sp>
      <p:sp>
        <p:nvSpPr>
          <p:cNvPr id="8" name="b · 3 punten">
            <a:extLst xmlns:a="http://schemas.openxmlformats.org/drawingml/2006/main">
              <a:ext uri="{FF2B5EF4-FFF2-40B4-BE49-F238E27FC236}">
                <a16:creationId xmlns:a16="http://schemas.microsoft.com/office/drawing/2014/main" id="{180A83F8-1CF0-4BEC-85A0-CA9C397FD08A}"/>
              </a:ext>
            </a:extLst>
          </p:cNvPr>
          <p:cNvSpPr>
            <a:spLocks xmlns:a="http://schemas.openxmlformats.org/drawingml/2006/main" noGrp="1"/>
          </p:cNvSpPr>
          <p:nvPr/>
        </p:nvSpPr>
        <p:spPr>
          <a:xfrm xmlns:a="http://schemas.openxmlformats.org/drawingml/2006/main">
            <a:off x="571500" y="39814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 · 3 punten</a:t>
            </a:r>
          </a:p>
        </p:txBody>
      </p:sp>
      <p:sp>
        <p:nvSpPr>
          <p:cNvPr id="9" name="Bereken TO en winst bij één prijs en bij de groepsprijzen.">
            <a:extLst xmlns:a="http://schemas.openxmlformats.org/drawingml/2006/main">
              <a:ext uri="{FF2B5EF4-FFF2-40B4-BE49-F238E27FC236}">
                <a16:creationId xmlns:a16="http://schemas.microsoft.com/office/drawing/2014/main" id="{AA9BBE49-F05E-4B42-A64C-AFA9D4047DA7}"/>
              </a:ext>
            </a:extLst>
          </p:cNvPr>
          <p:cNvSpPr>
            <a:spLocks xmlns:a="http://schemas.openxmlformats.org/drawingml/2006/main" noGrp="1"/>
          </p:cNvSpPr>
          <p:nvPr/>
        </p:nvSpPr>
        <p:spPr>
          <a:xfrm xmlns:a="http://schemas.openxmlformats.org/drawingml/2006/main">
            <a:off x="5381625" y="398145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TO en winst bij één prijs en bij de groepsprijzen.</a:t>
            </a:r>
          </a:p>
        </p:txBody>
      </p:sp>
      <p:sp>
        <p:nvSpPr>
          <p:cNvPr id="10" name="">
            <a:extLst xmlns:a="http://schemas.openxmlformats.org/drawingml/2006/main">
              <a:ext uri="{FF2B5EF4-FFF2-40B4-BE49-F238E27FC236}">
                <a16:creationId xmlns:a16="http://schemas.microsoft.com/office/drawing/2014/main" id="{8EA5D02F-4305-4D37-BD7D-2662ECFD44D7}"/>
              </a:ext>
            </a:extLst>
          </p:cNvPr>
          <p:cNvSpPr>
            <a:spLocks xmlns:a="http://schemas.openxmlformats.org/drawingml/2006/main" noGrp="1"/>
          </p:cNvSpPr>
          <p:nvPr/>
        </p:nvSpPr>
        <p:spPr>
          <a:xfrm xmlns:a="http://schemas.openxmlformats.org/drawingml/2006/main">
            <a:off x="571500" y="5067300"/>
            <a:ext cx="14097000" cy="0"/>
          </a:xfrm>
          <a:prstGeom xmlns:a="http://schemas.openxmlformats.org/drawingml/2006/main" prst="line">
            <a:avLst/>
          </a:prstGeom>
          <a:ln xmlns:a="http://schemas.openxmlformats.org/drawingml/2006/main" w="19050">
            <a:solidFill>
              <a:srgbClr val="C6D2DB"/>
            </a:solidFill>
          </a:ln>
        </p:spPr>
      </p:sp>
      <p:sp>
        <p:nvSpPr>
          <p:cNvPr id="11" name="c · 2 punten">
            <a:extLst xmlns:a="http://schemas.openxmlformats.org/drawingml/2006/main">
              <a:ext uri="{FF2B5EF4-FFF2-40B4-BE49-F238E27FC236}">
                <a16:creationId xmlns:a16="http://schemas.microsoft.com/office/drawing/2014/main" id="{E1B99082-AD09-4F06-B5B7-A303F3A672D5}"/>
              </a:ext>
            </a:extLst>
          </p:cNvPr>
          <p:cNvSpPr>
            <a:spLocks xmlns:a="http://schemas.openxmlformats.org/drawingml/2006/main" noGrp="1"/>
          </p:cNvSpPr>
          <p:nvPr/>
        </p:nvSpPr>
        <p:spPr>
          <a:xfrm xmlns:a="http://schemas.openxmlformats.org/drawingml/2006/main">
            <a:off x="571500" y="58007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 · 2 punten</a:t>
            </a:r>
          </a:p>
        </p:txBody>
      </p:sp>
      <p:sp>
        <p:nvSpPr>
          <p:cNvPr id="12" name="Welke groep betaalt meer en welke minder? Noem één noodzakel">
            <a:extLst xmlns:a="http://schemas.openxmlformats.org/drawingml/2006/main">
              <a:ext uri="{FF2B5EF4-FFF2-40B4-BE49-F238E27FC236}">
                <a16:creationId xmlns:a16="http://schemas.microsoft.com/office/drawing/2014/main" id="{D636C5AB-F49F-47A0-A8A4-1C7EC9DE8F2D}"/>
              </a:ext>
            </a:extLst>
          </p:cNvPr>
          <p:cNvSpPr>
            <a:spLocks xmlns:a="http://schemas.openxmlformats.org/drawingml/2006/main" noGrp="1"/>
          </p:cNvSpPr>
          <p:nvPr/>
        </p:nvSpPr>
        <p:spPr>
          <a:xfrm xmlns:a="http://schemas.openxmlformats.org/drawingml/2006/main">
            <a:off x="5381625" y="5800725"/>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Welke groep betaalt meer en welke minder? Noem één noodzakelijke voorwaarde uit bron A.</a:t>
            </a:r>
          </a:p>
        </p:txBody>
      </p:sp>
    </p:spTree>
    <p:extLst>
      <p:ext uri="{BB962C8B-B14F-4D97-AF65-F5344CB8AC3E}">
        <p14:creationId xmlns:p14="http://schemas.microsoft.com/office/powerpoint/2010/main" val="7109333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 · Deelvragen d en e">
            <a:extLst xmlns:a="http://schemas.openxmlformats.org/drawingml/2006/main">
              <a:ext uri="{FF2B5EF4-FFF2-40B4-BE49-F238E27FC236}">
                <a16:creationId xmlns:a16="http://schemas.microsoft.com/office/drawing/2014/main" id="{28704FFF-FB23-4325-AC1B-51AB7EB22C99}"/>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 · Deelvragen d en e</a:t>
            </a:r>
          </a:p>
        </p:txBody>
      </p:sp>
      <p:sp>
        <p:nvSpPr>
          <p:cNvPr id="2" name="">
            <a:extLst xmlns:a="http://schemas.openxmlformats.org/drawingml/2006/main">
              <a:ext uri="{FF2B5EF4-FFF2-40B4-BE49-F238E27FC236}">
                <a16:creationId xmlns:a16="http://schemas.microsoft.com/office/drawing/2014/main" id="{F7AC5DAA-3FB5-4E6A-85CE-71A083268FF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09C07F6C-BB3F-42DD-91E3-65947D1037A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19">
            <a:extLst xmlns:a="http://schemas.openxmlformats.org/drawingml/2006/main">
              <a:ext uri="{FF2B5EF4-FFF2-40B4-BE49-F238E27FC236}">
                <a16:creationId xmlns:a16="http://schemas.microsoft.com/office/drawing/2014/main" id="{A5CF2B07-3D68-471F-B9D4-CF46A0650D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 · 3 punten">
            <a:extLst xmlns:a="http://schemas.openxmlformats.org/drawingml/2006/main">
              <a:ext uri="{FF2B5EF4-FFF2-40B4-BE49-F238E27FC236}">
                <a16:creationId xmlns:a16="http://schemas.microsoft.com/office/drawing/2014/main" id="{991E7881-9436-4900-BF08-4CAB56C49443}"/>
              </a:ext>
            </a:extLst>
          </p:cNvPr>
          <p:cNvSpPr>
            <a:spLocks xmlns:a="http://schemas.openxmlformats.org/drawingml/2006/main" noGrp="1"/>
          </p:cNvSpPr>
          <p:nvPr/>
        </p:nvSpPr>
        <p:spPr>
          <a:xfrm xmlns:a="http://schemas.openxmlformats.org/drawingml/2006/main">
            <a:off x="571500" y="21240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 · 3 punten</a:t>
            </a:r>
          </a:p>
        </p:txBody>
      </p:sp>
      <p:sp>
        <p:nvSpPr>
          <p:cNvPr id="6" name="Bereken met bron B PS en TS in beide situaties.&#10;Is de hogere">
            <a:extLst xmlns:a="http://schemas.openxmlformats.org/drawingml/2006/main">
              <a:ext uri="{FF2B5EF4-FFF2-40B4-BE49-F238E27FC236}">
                <a16:creationId xmlns:a16="http://schemas.microsoft.com/office/drawing/2014/main" id="{EE853215-CC15-49DC-90B1-E8A785F313E2}"/>
              </a:ext>
            </a:extLst>
          </p:cNvPr>
          <p:cNvSpPr>
            <a:spLocks xmlns:a="http://schemas.openxmlformats.org/drawingml/2006/main" noGrp="1"/>
          </p:cNvSpPr>
          <p:nvPr/>
        </p:nvSpPr>
        <p:spPr>
          <a:xfrm xmlns:a="http://schemas.openxmlformats.org/drawingml/2006/main">
            <a:off x="4000500" y="2124075"/>
            <a:ext cx="10668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met bron B PS en TS in beide situaties.</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Is de hogere winst hier ook een hogere totale welvaart?</a:t>
            </a:r>
          </a:p>
        </p:txBody>
      </p:sp>
      <p:sp>
        <p:nvSpPr>
          <p:cNvPr id="7" name="">
            <a:extLst xmlns:a="http://schemas.openxmlformats.org/drawingml/2006/main">
              <a:ext uri="{FF2B5EF4-FFF2-40B4-BE49-F238E27FC236}">
                <a16:creationId xmlns:a16="http://schemas.microsoft.com/office/drawing/2014/main" id="{65C9A93D-9DBB-4DDB-9A46-8D22BAD67F3B}"/>
              </a:ext>
            </a:extLst>
          </p:cNvPr>
          <p:cNvSpPr>
            <a:spLocks xmlns:a="http://schemas.openxmlformats.org/drawingml/2006/main" noGrp="1"/>
          </p:cNvSpPr>
          <p:nvPr/>
        </p:nvSpPr>
        <p:spPr>
          <a:xfrm xmlns:a="http://schemas.openxmlformats.org/drawingml/2006/main">
            <a:off x="571500" y="4191000"/>
            <a:ext cx="14097000" cy="0"/>
          </a:xfrm>
          <a:prstGeom xmlns:a="http://schemas.openxmlformats.org/drawingml/2006/main" prst="line">
            <a:avLst/>
          </a:prstGeom>
          <a:ln xmlns:a="http://schemas.openxmlformats.org/drawingml/2006/main" w="19050">
            <a:solidFill>
              <a:srgbClr val="C6D2DB"/>
            </a:solidFill>
          </a:ln>
        </p:spPr>
      </p:sp>
      <p:sp>
        <p:nvSpPr>
          <p:cNvPr id="8" name="e · 2 punten">
            <a:extLst xmlns:a="http://schemas.openxmlformats.org/drawingml/2006/main">
              <a:ext uri="{FF2B5EF4-FFF2-40B4-BE49-F238E27FC236}">
                <a16:creationId xmlns:a16="http://schemas.microsoft.com/office/drawing/2014/main" id="{0CE45CB1-DFAE-4690-BA33-7BA4FEB9DCCB}"/>
              </a:ext>
            </a:extLst>
          </p:cNvPr>
          <p:cNvSpPr>
            <a:spLocks xmlns:a="http://schemas.openxmlformats.org/drawingml/2006/main" noGrp="1"/>
          </p:cNvSpPr>
          <p:nvPr/>
        </p:nvSpPr>
        <p:spPr>
          <a:xfrm xmlns:a="http://schemas.openxmlformats.org/drawingml/2006/main">
            <a:off x="571500" y="473392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 · 2 punten</a:t>
            </a:r>
          </a:p>
        </p:txBody>
      </p:sp>
      <p:sp>
        <p:nvSpPr>
          <p:cNvPr id="9" name="Waarom bewijst deze ene case niet dat prijsdiscriminatie&#10;alt">
            <a:extLst xmlns:a="http://schemas.openxmlformats.org/drawingml/2006/main">
              <a:ext uri="{FF2B5EF4-FFF2-40B4-BE49-F238E27FC236}">
                <a16:creationId xmlns:a16="http://schemas.microsoft.com/office/drawing/2014/main" id="{738F354F-564E-4E3F-8FB9-CD7B791EBD1D}"/>
              </a:ext>
            </a:extLst>
          </p:cNvPr>
          <p:cNvSpPr>
            <a:spLocks xmlns:a="http://schemas.openxmlformats.org/drawingml/2006/main" noGrp="1"/>
          </p:cNvSpPr>
          <p:nvPr/>
        </p:nvSpPr>
        <p:spPr>
          <a:xfrm xmlns:a="http://schemas.openxmlformats.org/drawingml/2006/main">
            <a:off x="4000500" y="473392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Waarom bewijst deze ene case niet dat prijsdiscriminatie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altijd welvaart verlaagt?</a:t>
            </a:r>
          </a:p>
        </p:txBody>
      </p:sp>
    </p:spTree>
    <p:extLst>
      <p:ext uri="{BB962C8B-B14F-4D97-AF65-F5344CB8AC3E}">
        <p14:creationId xmlns:p14="http://schemas.microsoft.com/office/powerpoint/2010/main" val="12456159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a · Groep A">
            <a:extLst xmlns:a="http://schemas.openxmlformats.org/drawingml/2006/main">
              <a:ext uri="{FF2B5EF4-FFF2-40B4-BE49-F238E27FC236}">
                <a16:creationId xmlns:a16="http://schemas.microsoft.com/office/drawing/2014/main" id="{103B0672-5867-43B4-8BEF-4F64B7AA2905}"/>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16a · Groep A</a:t>
            </a:r>
          </a:p>
        </p:txBody>
      </p:sp>
      <p:sp>
        <p:nvSpPr>
          <p:cNvPr id="2" name="">
            <a:extLst xmlns:a="http://schemas.openxmlformats.org/drawingml/2006/main">
              <a:ext uri="{FF2B5EF4-FFF2-40B4-BE49-F238E27FC236}">
                <a16:creationId xmlns:a16="http://schemas.microsoft.com/office/drawing/2014/main" id="{28375B17-E39F-400B-9518-5DA90630AE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51EE265D-54D7-47C0-9631-1CF66AFE193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0">
            <a:extLst xmlns:a="http://schemas.openxmlformats.org/drawingml/2006/main">
              <a:ext uri="{FF2B5EF4-FFF2-40B4-BE49-F238E27FC236}">
                <a16:creationId xmlns:a16="http://schemas.microsoft.com/office/drawing/2014/main" id="{C6B90675-E4F8-494E-8053-398EF0F697F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571500" y="2209800"/>
          <a:ext xmlns:a="http://schemas.openxmlformats.org/drawingml/2006/main" cx="8858250" cy="5381625"/>
        </p:xfrm>
        <a:graphic xmlns:a="http://schemas.openxmlformats.org/drawingml/2006/main">
          <a:graphicData uri="http://schemas.openxmlformats.org/drawingml/2006/chart">
            <c:chart xmlns:r="http://schemas.openxmlformats.org/officeDocument/2006/relationships" xmlns:c="http://schemas.openxmlformats.org/drawingml/2006/chart" r:id="R82dc1fb79c9b4246"/>
          </a:graphicData>
        </a:graphic>
      </p:graphicFrame>
      <p:sp>
        <p:nvSpPr>
          <p:cNvPr id="6" name="TO_A = 40Q_A − Q_A²&#10;MO_A = 40 − 2Q_A">
            <a:extLst xmlns:a="http://schemas.openxmlformats.org/drawingml/2006/main">
              <a:ext uri="{FF2B5EF4-FFF2-40B4-BE49-F238E27FC236}">
                <a16:creationId xmlns:a16="http://schemas.microsoft.com/office/drawing/2014/main" id="{6774AEFF-B6B8-4A7B-9696-3D230AD4848E}"/>
              </a:ext>
            </a:extLst>
          </p:cNvPr>
          <p:cNvSpPr>
            <a:spLocks xmlns:a="http://schemas.openxmlformats.org/drawingml/2006/main" noGrp="1"/>
          </p:cNvSpPr>
          <p:nvPr/>
        </p:nvSpPr>
        <p:spPr>
          <a:xfrm xmlns:a="http://schemas.openxmlformats.org/drawingml/2006/main">
            <a:off x="10001250" y="1952625"/>
            <a:ext cx="4667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TO_A = 40Q_A − Q_A²</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MO_A = 40 − 2Q_A</a:t>
            </a:r>
          </a:p>
        </p:txBody>
      </p:sp>
      <p:sp>
        <p:nvSpPr>
          <p:cNvPr id="7" name="40 − 2Q_A = 8&#10;32 = 2Q_A&#10;Q_A = 16 bezoeken">
            <a:extLst xmlns:a="http://schemas.openxmlformats.org/drawingml/2006/main">
              <a:ext uri="{FF2B5EF4-FFF2-40B4-BE49-F238E27FC236}">
                <a16:creationId xmlns:a16="http://schemas.microsoft.com/office/drawing/2014/main" id="{0284F27F-026D-47DA-A826-9243EC0B2CE4}"/>
              </a:ext>
            </a:extLst>
          </p:cNvPr>
          <p:cNvSpPr>
            <a:spLocks xmlns:a="http://schemas.openxmlformats.org/drawingml/2006/main" noGrp="1"/>
          </p:cNvSpPr>
          <p:nvPr/>
        </p:nvSpPr>
        <p:spPr>
          <a:xfrm xmlns:a="http://schemas.openxmlformats.org/drawingml/2006/main">
            <a:off x="10001250" y="3686175"/>
            <a:ext cx="46672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7B2D8E"/>
                </a:solidFill>
                <a:latin typeface="Arial"/>
                <a:ea typeface="Arial"/>
                <a:cs typeface="Arial"/>
              </a:defRPr>
            </a:pPr>
            <a:r>
              <a:rPr sz="2700" b="1">
                <a:solidFill>
                  <a:srgbClr val="7B2D8E"/>
                </a:solidFill>
                <a:latin typeface="Arial"/>
                <a:ea typeface="Arial"/>
                <a:cs typeface="Arial"/>
              </a:rPr>
              <a:t>40 − 2Q_A = 8</a:t>
            </a:r>
          </a:p>
          <a:p xmlns:a="http://schemas.openxmlformats.org/drawingml/2006/main">
            <a:pPr algn="l">
              <a:defRPr sz="2700" b="1">
                <a:solidFill>
                  <a:srgbClr val="7B2D8E"/>
                </a:solidFill>
                <a:latin typeface="Arial"/>
                <a:ea typeface="Arial"/>
                <a:cs typeface="Arial"/>
              </a:defRPr>
            </a:pPr>
            <a:r>
              <a:rPr sz="2700" b="1">
                <a:solidFill>
                  <a:srgbClr val="7B2D8E"/>
                </a:solidFill>
                <a:latin typeface="Arial"/>
                <a:ea typeface="Arial"/>
                <a:cs typeface="Arial"/>
              </a:rPr>
              <a:t>32 = 2Q_A</a:t>
            </a:r>
          </a:p>
          <a:p xmlns:a="http://schemas.openxmlformats.org/drawingml/2006/main">
            <a:pPr algn="l">
              <a:defRPr sz="2700" b="1">
                <a:solidFill>
                  <a:srgbClr val="7B2D8E"/>
                </a:solidFill>
                <a:latin typeface="Arial"/>
                <a:ea typeface="Arial"/>
                <a:cs typeface="Arial"/>
              </a:defRPr>
            </a:pPr>
            <a:r>
              <a:rPr sz="2700" b="1">
                <a:solidFill>
                  <a:srgbClr val="7B2D8E"/>
                </a:solidFill>
                <a:latin typeface="Arial"/>
                <a:ea typeface="Arial"/>
                <a:cs typeface="Arial"/>
              </a:rPr>
              <a:t>Q_A = 16 bezoeken</a:t>
            </a:r>
          </a:p>
        </p:txBody>
      </p:sp>
      <p:sp>
        <p:nvSpPr>
          <p:cNvPr id="8" name="P_A = 40 − 16&#10;P_A = € 24 per bezoek">
            <a:extLst xmlns:a="http://schemas.openxmlformats.org/drawingml/2006/main">
              <a:ext uri="{FF2B5EF4-FFF2-40B4-BE49-F238E27FC236}">
                <a16:creationId xmlns:a16="http://schemas.microsoft.com/office/drawing/2014/main" id="{EB8FC2A1-882C-4210-8F84-92DDA808C2BB}"/>
              </a:ext>
            </a:extLst>
          </p:cNvPr>
          <p:cNvSpPr>
            <a:spLocks xmlns:a="http://schemas.openxmlformats.org/drawingml/2006/main" noGrp="1"/>
          </p:cNvSpPr>
          <p:nvPr/>
        </p:nvSpPr>
        <p:spPr>
          <a:xfrm xmlns:a="http://schemas.openxmlformats.org/drawingml/2006/main">
            <a:off x="10001250" y="6238875"/>
            <a:ext cx="4667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P_A = 40 − 16</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P_A = € 24 per bezoek</a:t>
            </a:r>
          </a:p>
        </p:txBody>
      </p:sp>
    </p:spTree>
    <p:extLst>
      <p:ext uri="{BB962C8B-B14F-4D97-AF65-F5344CB8AC3E}">
        <p14:creationId xmlns:p14="http://schemas.microsoft.com/office/powerpoint/2010/main" val="7884361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a · Groep B en de controle">
            <a:extLst xmlns:a="http://schemas.openxmlformats.org/drawingml/2006/main">
              <a:ext uri="{FF2B5EF4-FFF2-40B4-BE49-F238E27FC236}">
                <a16:creationId xmlns:a16="http://schemas.microsoft.com/office/drawing/2014/main" id="{A31534DB-7689-45F2-8A27-AA01B4801226}"/>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16a · Groep B en de controle</a:t>
            </a:r>
          </a:p>
        </p:txBody>
      </p:sp>
      <p:sp>
        <p:nvSpPr>
          <p:cNvPr id="2" name="">
            <a:extLst xmlns:a="http://schemas.openxmlformats.org/drawingml/2006/main">
              <a:ext uri="{FF2B5EF4-FFF2-40B4-BE49-F238E27FC236}">
                <a16:creationId xmlns:a16="http://schemas.microsoft.com/office/drawing/2014/main" id="{8A36BE32-94AF-497D-BA90-BE63716FEE9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DED077A0-F47A-4763-845B-574616A2B00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1">
            <a:extLst xmlns:a="http://schemas.openxmlformats.org/drawingml/2006/main">
              <a:ext uri="{FF2B5EF4-FFF2-40B4-BE49-F238E27FC236}">
                <a16:creationId xmlns:a16="http://schemas.microsoft.com/office/drawing/2014/main" id="{A6B3464C-091D-42E2-ABC9-E25EB610E4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Chart"/>
          <p:cNvGraphicFramePr/>
          <p:nvPr/>
        </p:nvGraphicFramePr>
        <p:xfrm>
          <a:off xmlns:a="http://schemas.openxmlformats.org/drawingml/2006/main" x="571500" y="2209800"/>
          <a:ext xmlns:a="http://schemas.openxmlformats.org/drawingml/2006/main" cx="8858250" cy="5381625"/>
        </p:xfrm>
        <a:graphic xmlns:a="http://schemas.openxmlformats.org/drawingml/2006/main">
          <a:graphicData uri="http://schemas.openxmlformats.org/drawingml/2006/chart">
            <c:chart xmlns:r="http://schemas.openxmlformats.org/officeDocument/2006/relationships" xmlns:c="http://schemas.openxmlformats.org/drawingml/2006/chart" r:id="Rc3970d732bff4e00"/>
          </a:graphicData>
        </a:graphic>
      </p:graphicFrame>
      <p:sp>
        <p:nvSpPr>
          <p:cNvPr id="6" name="TO_B = 24Q_B − Q_B²&#10;MO_B = 24 − 2Q_B">
            <a:extLst xmlns:a="http://schemas.openxmlformats.org/drawingml/2006/main">
              <a:ext uri="{FF2B5EF4-FFF2-40B4-BE49-F238E27FC236}">
                <a16:creationId xmlns:a16="http://schemas.microsoft.com/office/drawing/2014/main" id="{0E811A96-45A3-49F5-8A06-079986AD2EEB}"/>
              </a:ext>
            </a:extLst>
          </p:cNvPr>
          <p:cNvSpPr>
            <a:spLocks xmlns:a="http://schemas.openxmlformats.org/drawingml/2006/main" noGrp="1"/>
          </p:cNvSpPr>
          <p:nvPr/>
        </p:nvSpPr>
        <p:spPr>
          <a:xfrm xmlns:a="http://schemas.openxmlformats.org/drawingml/2006/main">
            <a:off x="10001250" y="1933575"/>
            <a:ext cx="4667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TO_B = 24Q_B − Q_B²</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MO_B = 24 − 2Q_B</a:t>
            </a:r>
          </a:p>
        </p:txBody>
      </p:sp>
      <p:sp>
        <p:nvSpPr>
          <p:cNvPr id="7" name="24 − 2Q_B = 8&#10;Q_B = 8 bezoeken&#10;P_B = 24 − 8 = € 16">
            <a:extLst xmlns:a="http://schemas.openxmlformats.org/drawingml/2006/main">
              <a:ext uri="{FF2B5EF4-FFF2-40B4-BE49-F238E27FC236}">
                <a16:creationId xmlns:a16="http://schemas.microsoft.com/office/drawing/2014/main" id="{ED60329A-380E-4C19-A14E-DE1136BE21AA}"/>
              </a:ext>
            </a:extLst>
          </p:cNvPr>
          <p:cNvSpPr>
            <a:spLocks xmlns:a="http://schemas.openxmlformats.org/drawingml/2006/main" noGrp="1"/>
          </p:cNvSpPr>
          <p:nvPr/>
        </p:nvSpPr>
        <p:spPr>
          <a:xfrm xmlns:a="http://schemas.openxmlformats.org/drawingml/2006/main">
            <a:off x="10001250" y="3562350"/>
            <a:ext cx="4667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24 − 2Q_B = 8</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Q_B = 8 bezoeken</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P_B = 24 − 8 = € 16</a:t>
            </a:r>
          </a:p>
        </p:txBody>
      </p:sp>
      <p:sp>
        <p:nvSpPr>
          <p:cNvPr id="8" name="Samen: 16 + 8 = 24&#10;24 ≤ 64 bezoeken">
            <a:extLst xmlns:a="http://schemas.openxmlformats.org/drawingml/2006/main">
              <a:ext uri="{FF2B5EF4-FFF2-40B4-BE49-F238E27FC236}">
                <a16:creationId xmlns:a16="http://schemas.microsoft.com/office/drawing/2014/main" id="{E9BF2C67-7FE8-46C9-9B46-F9D37FD24D4D}"/>
              </a:ext>
            </a:extLst>
          </p:cNvPr>
          <p:cNvSpPr>
            <a:spLocks xmlns:a="http://schemas.openxmlformats.org/drawingml/2006/main" noGrp="1"/>
          </p:cNvSpPr>
          <p:nvPr/>
        </p:nvSpPr>
        <p:spPr>
          <a:xfrm xmlns:a="http://schemas.openxmlformats.org/drawingml/2006/main">
            <a:off x="10001250" y="6372225"/>
            <a:ext cx="4667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Samen: 16 + 8 = 24</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24 ≤ 64 bezoeken</a:t>
            </a:r>
          </a:p>
        </p:txBody>
      </p:sp>
    </p:spTree>
    <p:extLst>
      <p:ext uri="{BB962C8B-B14F-4D97-AF65-F5344CB8AC3E}">
        <p14:creationId xmlns:p14="http://schemas.microsoft.com/office/powerpoint/2010/main" val="13669584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16b · Omzet en winst">
            <a:extLst xmlns:a="http://schemas.openxmlformats.org/drawingml/2006/main">
              <a:ext uri="{FF2B5EF4-FFF2-40B4-BE49-F238E27FC236}">
                <a16:creationId xmlns:a16="http://schemas.microsoft.com/office/drawing/2014/main" id="{4C28AE6F-D913-45AB-9321-4C9CED72D189}"/>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16b · Omzet en winst</a:t>
            </a:r>
          </a:p>
        </p:txBody>
      </p:sp>
      <p:sp>
        <p:nvSpPr>
          <p:cNvPr id="2" name="">
            <a:extLst xmlns:a="http://schemas.openxmlformats.org/drawingml/2006/main">
              <a:ext uri="{FF2B5EF4-FFF2-40B4-BE49-F238E27FC236}">
                <a16:creationId xmlns:a16="http://schemas.microsoft.com/office/drawing/2014/main" id="{3B150A05-0341-4DEB-898D-E785B40229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4D83CAE9-A49C-4E4D-A255-0C8AF7D6017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2">
            <a:extLst xmlns:a="http://schemas.openxmlformats.org/drawingml/2006/main">
              <a:ext uri="{FF2B5EF4-FFF2-40B4-BE49-F238E27FC236}">
                <a16:creationId xmlns:a16="http://schemas.microsoft.com/office/drawing/2014/main" id="{2991BC44-4A45-4AEE-8018-6EB50920CA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1" name=""/>
          <p:cNvGraphicFramePr/>
          <p:nvPr/>
        </p:nvGraphicFramePr>
        <p:xfrm>
          <a:off xmlns:a="http://schemas.openxmlformats.org/drawingml/2006/main" x="571500" y="2124075"/>
          <a:ext xmlns:a="http://schemas.openxmlformats.org/drawingml/2006/main" cx="14097000" cy="4143375"/>
        </p:xfrm>
        <a:graphic xmlns:a="http://schemas.openxmlformats.org/drawingml/2006/main">
          <a:graphicData uri="http://schemas.openxmlformats.org/drawingml/2006/table">
            <a:tbl>
              <a:tblPr/>
              <a:tblGrid>
                <a:gridCol w="4857750"/>
                <a:gridCol w="4524375"/>
                <a:gridCol w="4714875"/>
              </a:tblGrid>
              <a:tr h="828675">
                <a:tc>
                  <a:txBody>
                    <a:bodyPr lIns="171450" tIns="95250" rIns="152400" bIns="95250"/>
                    <a:lstStyle/>
                    <a:p>
                      <a:r>
                        <a:rPr sz="2325" b="1">
                          <a:solidFill>
                            <a:srgbClr val="FFFFFF"/>
                          </a:solidFill>
                          <a:latin typeface="Arial"/>
                          <a:ea typeface="Arial"/>
                          <a:cs typeface="Arial"/>
                        </a:rPr>
                        <a:t>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Eén prijs: € 20</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Groepsprijzen</a:t>
                      </a:r>
                    </a:p>
                  </a:txBody>
                  <a:tcPr marL="91440" marR="91440" marT="45720" marB="45720" anchor="ctr">
                    <a:solidFill>
                      <a:srgbClr val="183247"/>
                    </a:solidFill>
                  </a:tcPr>
                </a:tc>
              </a:tr>
              <a:tr h="828675">
                <a:tc>
                  <a:txBody>
                    <a:bodyPr lIns="171450" tIns="95250" rIns="152400" bIns="95250"/>
                    <a:lstStyle/>
                    <a:p>
                      <a:r>
                        <a:rPr sz="2325" b="0">
                          <a:solidFill>
                            <a:srgbClr val="183247"/>
                          </a:solidFill>
                          <a:latin typeface="Arial"/>
                          <a:ea typeface="Arial"/>
                          <a:cs typeface="Arial"/>
                        </a:rPr>
                        <a:t>Totale afzet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 + 4 = 24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16 + 8 = 24</a:t>
                      </a:r>
                    </a:p>
                  </a:txBody>
                  <a:tcPr marL="91440" marR="91440" marT="45720" marB="45720" anchor="ctr">
                    <a:solidFill>
                      <a:srgbClr val="FFFFFF"/>
                    </a:solidFill>
                  </a:tcPr>
                </a:tc>
              </a:tr>
              <a:tr h="828675">
                <a:tc>
                  <a:txBody>
                    <a:bodyPr lIns="171450" tIns="95250" rIns="152400" bIns="95250"/>
                    <a:lstStyle/>
                    <a:p>
                      <a:r>
                        <a:rPr sz="2325" b="0">
                          <a:solidFill>
                            <a:srgbClr val="183247"/>
                          </a:solidFill>
                          <a:latin typeface="Arial"/>
                          <a:ea typeface="Arial"/>
                          <a:cs typeface="Arial"/>
                        </a:rPr>
                        <a:t>TO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20 × 24 = € 480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24 × 16 + 16 × 8 = € 512</a:t>
                      </a:r>
                    </a:p>
                  </a:txBody>
                  <a:tcPr marL="91440" marR="91440" marT="45720" marB="45720" anchor="ctr">
                    <a:solidFill>
                      <a:srgbClr val="EFF4F7"/>
                    </a:solidFill>
                  </a:tcPr>
                </a:tc>
              </a:tr>
              <a:tr h="828675">
                <a:tc>
                  <a:txBody>
                    <a:bodyPr lIns="171450" tIns="95250" rIns="152400" bIns="95250"/>
                    <a:lstStyle/>
                    <a:p>
                      <a:r>
                        <a:rPr sz="2325" b="0">
                          <a:solidFill>
                            <a:srgbClr val="183247"/>
                          </a:solidFill>
                          <a:latin typeface="Arial"/>
                          <a:ea typeface="Arial"/>
                          <a:cs typeface="Arial"/>
                        </a:rPr>
                        <a:t>TK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80 + 8 × 24 = € 272</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80 + 8 × 24 = € 272</a:t>
                      </a:r>
                    </a:p>
                  </a:txBody>
                  <a:tcPr marL="91440" marR="91440" marT="45720" marB="45720" anchor="ctr">
                    <a:solidFill>
                      <a:srgbClr val="FFFFFF"/>
                    </a:solidFill>
                  </a:tcPr>
                </a:tc>
              </a:tr>
              <a:tr h="828675">
                <a:tc>
                  <a:txBody>
                    <a:bodyPr lIns="171450" tIns="95250" rIns="152400" bIns="95250"/>
                    <a:lstStyle/>
                    <a:p>
                      <a:r>
                        <a:rPr sz="2325" b="0">
                          <a:solidFill>
                            <a:srgbClr val="183247"/>
                          </a:solidFill>
                          <a:latin typeface="Arial"/>
                          <a:ea typeface="Arial"/>
                          <a:cs typeface="Arial"/>
                        </a:rPr>
                        <a:t>Winst = TO − TK</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480 − 272 = € 208</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512 − 272 = € 240</a:t>
                      </a:r>
                    </a:p>
                  </a:txBody>
                  <a:tcPr marL="91440" marR="91440" marT="45720" marB="45720" anchor="ctr">
                    <a:solidFill>
                      <a:srgbClr val="EFF4F7"/>
                    </a:solidFill>
                  </a:tcPr>
                </a:tc>
              </a:tr>
            </a:tbl>
          </a:graphicData>
        </a:graphic>
      </p:graphicFrame>
      <p:sp>
        <p:nvSpPr>
          <p:cNvPr id="6" name="Winst stijgt met 240 − 208 = € 32 per week.">
            <a:extLst xmlns:a="http://schemas.openxmlformats.org/drawingml/2006/main">
              <a:ext uri="{FF2B5EF4-FFF2-40B4-BE49-F238E27FC236}">
                <a16:creationId xmlns:a16="http://schemas.microsoft.com/office/drawing/2014/main" id="{AABE768F-E828-40C1-B06C-C3C27BC8D31E}"/>
              </a:ext>
            </a:extLst>
          </p:cNvPr>
          <p:cNvSpPr>
            <a:spLocks xmlns:a="http://schemas.openxmlformats.org/drawingml/2006/main" noGrp="1"/>
          </p:cNvSpPr>
          <p:nvPr/>
        </p:nvSpPr>
        <p:spPr>
          <a:xfrm xmlns:a="http://schemas.openxmlformats.org/drawingml/2006/main">
            <a:off x="571500" y="677227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Winst stijgt met 240 − 208 = € 32 per week.</a:t>
            </a:r>
          </a:p>
        </p:txBody>
      </p:sp>
    </p:spTree>
    <p:extLst>
      <p:ext uri="{BB962C8B-B14F-4D97-AF65-F5344CB8AC3E}">
        <p14:creationId xmlns:p14="http://schemas.microsoft.com/office/powerpoint/2010/main" val="11176669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c · Prijzen en uitvoerbaarheid">
            <a:extLst xmlns:a="http://schemas.openxmlformats.org/drawingml/2006/main">
              <a:ext uri="{FF2B5EF4-FFF2-40B4-BE49-F238E27FC236}">
                <a16:creationId xmlns:a16="http://schemas.microsoft.com/office/drawing/2014/main" id="{7C05FB77-171E-4334-9D8B-7B2D6C7D873F}"/>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16c · Prijzen en uitvoerbaarheid</a:t>
            </a:r>
          </a:p>
        </p:txBody>
      </p:sp>
      <p:sp>
        <p:nvSpPr>
          <p:cNvPr id="2" name="">
            <a:extLst xmlns:a="http://schemas.openxmlformats.org/drawingml/2006/main">
              <a:ext uri="{FF2B5EF4-FFF2-40B4-BE49-F238E27FC236}">
                <a16:creationId xmlns:a16="http://schemas.microsoft.com/office/drawing/2014/main" id="{81283479-1F3B-4176-ADEA-14F5C9489B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6EB01BBE-2878-4EA6-BFD8-D77DD174D0B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3">
            <a:extLst xmlns:a="http://schemas.openxmlformats.org/drawingml/2006/main">
              <a:ext uri="{FF2B5EF4-FFF2-40B4-BE49-F238E27FC236}">
                <a16:creationId xmlns:a16="http://schemas.microsoft.com/office/drawing/2014/main" id="{2A2B4588-F6A3-4619-A067-E24119FAE6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2" name=""/>
          <p:cNvGraphicFramePr/>
          <p:nvPr/>
        </p:nvGraphicFramePr>
        <p:xfrm>
          <a:off xmlns:a="http://schemas.openxmlformats.org/drawingml/2006/main" x="571500" y="2228850"/>
          <a:ext xmlns:a="http://schemas.openxmlformats.org/drawingml/2006/main" cx="14097000" cy="2695575"/>
        </p:xfrm>
        <a:graphic xmlns:a="http://schemas.openxmlformats.org/drawingml/2006/main">
          <a:graphicData uri="http://schemas.openxmlformats.org/drawingml/2006/table">
            <a:tbl>
              <a:tblPr/>
              <a:tblGrid>
                <a:gridCol w="5905500"/>
                <a:gridCol w="4095750"/>
                <a:gridCol w="4095750"/>
              </a:tblGrid>
              <a:tr h="898525">
                <a:tc>
                  <a:txBody>
                    <a:bodyPr lIns="171450" tIns="95250" rIns="152400" bIns="95250"/>
                    <a:lstStyle/>
                    <a:p>
                      <a:r>
                        <a:rPr sz="2625" b="1">
                          <a:solidFill>
                            <a:srgbClr val="FFFFFF"/>
                          </a:solidFill>
                          <a:latin typeface="Arial"/>
                          <a:ea typeface="Arial"/>
                          <a:cs typeface="Arial"/>
                        </a:rPr>
                        <a:t>Prijs per bezoek</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Bij groepsprijzen</a:t>
                      </a:r>
                    </a:p>
                  </a:txBody>
                  <a:tcPr marL="91440" marR="91440" marT="45720" marB="45720" anchor="ctr">
                    <a:solidFill>
                      <a:srgbClr val="183247"/>
                    </a:solidFill>
                  </a:tcPr>
                </a:tc>
              </a:tr>
              <a:tr h="898525">
                <a:tc>
                  <a:txBody>
                    <a:bodyPr lIns="171450" tIns="95250" rIns="152400" bIns="95250"/>
                    <a:lstStyle/>
                    <a:p>
                      <a:r>
                        <a:rPr sz="2625" b="0">
                          <a:solidFill>
                            <a:srgbClr val="183247"/>
                          </a:solidFill>
                          <a:latin typeface="Arial"/>
                          <a:ea typeface="Arial"/>
                          <a:cs typeface="Arial"/>
                        </a:rPr>
                        <a:t>Groep 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€ 20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€ 24: € 4 meer</a:t>
                      </a:r>
                    </a:p>
                  </a:txBody>
                  <a:tcPr marL="91440" marR="91440" marT="45720" marB="45720" anchor="ctr">
                    <a:solidFill>
                      <a:srgbClr val="FFFFFF"/>
                    </a:solidFill>
                  </a:tcPr>
                </a:tc>
              </a:tr>
              <a:tr h="898525">
                <a:tc>
                  <a:txBody>
                    <a:bodyPr lIns="171450" tIns="95250" rIns="152400" bIns="95250"/>
                    <a:lstStyle/>
                    <a:p>
                      <a:r>
                        <a:rPr sz="2625" b="0">
                          <a:solidFill>
                            <a:srgbClr val="183247"/>
                          </a:solidFill>
                          <a:latin typeface="Arial"/>
                          <a:ea typeface="Arial"/>
                          <a:cs typeface="Arial"/>
                        </a:rPr>
                        <a:t>Groep B</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€ 20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€ 16: € 4 minder</a:t>
                      </a:r>
                    </a:p>
                  </a:txBody>
                  <a:tcPr marL="91440" marR="91440" marT="45720" marB="45720" anchor="ctr">
                    <a:solidFill>
                      <a:srgbClr val="EFF4F7"/>
                    </a:solidFill>
                  </a:tcPr>
                </a:tc>
              </a:tr>
            </a:tbl>
          </a:graphicData>
        </a:graphic>
      </p:graphicFrame>
      <p:sp>
        <p:nvSpPr>
          <p:cNvPr id="6" name="Noodzakelijke voorwaarde uit bron A">
            <a:extLst xmlns:a="http://schemas.openxmlformats.org/drawingml/2006/main">
              <a:ext uri="{FF2B5EF4-FFF2-40B4-BE49-F238E27FC236}">
                <a16:creationId xmlns:a16="http://schemas.microsoft.com/office/drawing/2014/main" id="{B4F87F49-F037-498F-A494-515F1214F8B9}"/>
              </a:ext>
            </a:extLst>
          </p:cNvPr>
          <p:cNvSpPr>
            <a:spLocks xmlns:a="http://schemas.openxmlformats.org/drawingml/2006/main" noGrp="1"/>
          </p:cNvSpPr>
          <p:nvPr/>
        </p:nvSpPr>
        <p:spPr>
          <a:xfrm xmlns:a="http://schemas.openxmlformats.org/drawingml/2006/main">
            <a:off x="571500" y="54864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Noodzakelijke voorwaarde uit bron A</a:t>
            </a:r>
          </a:p>
        </p:txBody>
      </p:sp>
      <p:sp>
        <p:nvSpPr>
          <p:cNvPr id="7" name="De persoonlijke, gecontroleerde passen houden de groepen&#10;ges">
            <a:extLst xmlns:a="http://schemas.openxmlformats.org/drawingml/2006/main">
              <a:ext uri="{FF2B5EF4-FFF2-40B4-BE49-F238E27FC236}">
                <a16:creationId xmlns:a16="http://schemas.microsoft.com/office/drawing/2014/main" id="{EAD8FFCD-2050-4801-A050-2A08E3C827C1}"/>
              </a:ext>
            </a:extLst>
          </p:cNvPr>
          <p:cNvSpPr>
            <a:spLocks xmlns:a="http://schemas.openxmlformats.org/drawingml/2006/main" noGrp="1"/>
          </p:cNvSpPr>
          <p:nvPr/>
        </p:nvSpPr>
        <p:spPr>
          <a:xfrm xmlns:a="http://schemas.openxmlformats.org/drawingml/2006/main">
            <a:off x="571500" y="64674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persoonlijke, gecontroleerde passen houden de groepen</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gescheiden en verhinderen doorverkoop.</a:t>
            </a:r>
          </a:p>
        </p:txBody>
      </p:sp>
    </p:spTree>
    <p:extLst>
      <p:ext uri="{BB962C8B-B14F-4D97-AF65-F5344CB8AC3E}">
        <p14:creationId xmlns:p14="http://schemas.microsoft.com/office/powerpoint/2010/main" val="946035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d · Eerst het producentensurplus">
            <a:extLst xmlns:a="http://schemas.openxmlformats.org/drawingml/2006/main">
              <a:ext uri="{FF2B5EF4-FFF2-40B4-BE49-F238E27FC236}">
                <a16:creationId xmlns:a16="http://schemas.microsoft.com/office/drawing/2014/main" id="{2E1D8E3D-8186-4486-8120-0D45FADAB160}"/>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16d · Eerst het producentensurplus</a:t>
            </a:r>
          </a:p>
        </p:txBody>
      </p:sp>
      <p:sp>
        <p:nvSpPr>
          <p:cNvPr id="2" name="">
            <a:extLst xmlns:a="http://schemas.openxmlformats.org/drawingml/2006/main">
              <a:ext uri="{FF2B5EF4-FFF2-40B4-BE49-F238E27FC236}">
                <a16:creationId xmlns:a16="http://schemas.microsoft.com/office/drawing/2014/main" id="{6EA0B47D-F2B5-4398-8410-BBD6BB361D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187749AF-BC5F-4F00-84CA-B89F4DAE33E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4">
            <a:extLst xmlns:a="http://schemas.openxmlformats.org/drawingml/2006/main">
              <a:ext uri="{FF2B5EF4-FFF2-40B4-BE49-F238E27FC236}">
                <a16:creationId xmlns:a16="http://schemas.microsoft.com/office/drawing/2014/main" id="{4C210A44-E14F-4393-9191-56B50B058F8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S = TO − TVK">
            <a:extLst xmlns:a="http://schemas.openxmlformats.org/drawingml/2006/main">
              <a:ext uri="{FF2B5EF4-FFF2-40B4-BE49-F238E27FC236}">
                <a16:creationId xmlns:a16="http://schemas.microsoft.com/office/drawing/2014/main" id="{B4FA23D1-EF08-4D5C-8A2A-CAAF1447774A}"/>
              </a:ext>
            </a:extLst>
          </p:cNvPr>
          <p:cNvSpPr>
            <a:spLocks xmlns:a="http://schemas.openxmlformats.org/drawingml/2006/main" noGrp="1"/>
          </p:cNvSpPr>
          <p:nvPr/>
        </p:nvSpPr>
        <p:spPr>
          <a:xfrm xmlns:a="http://schemas.openxmlformats.org/drawingml/2006/main">
            <a:off x="571500" y="183832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PS = TO − TVK</a:t>
            </a:r>
          </a:p>
        </p:txBody>
      </p:sp>
      <p:graphicFrame>
        <p:nvGraphicFramePr>
          <p:cNvPr id="13" name=""/>
          <p:cNvGraphicFramePr/>
          <p:nvPr/>
        </p:nvGraphicFramePr>
        <p:xfrm>
          <a:off xmlns:a="http://schemas.openxmlformats.org/drawingml/2006/main" x="571500" y="3190875"/>
          <a:ext xmlns:a="http://schemas.openxmlformats.org/drawingml/2006/main" cx="14097000" cy="3181350"/>
        </p:xfrm>
        <a:graphic xmlns:a="http://schemas.openxmlformats.org/drawingml/2006/main">
          <a:graphicData uri="http://schemas.openxmlformats.org/drawingml/2006/table">
            <a:tbl>
              <a:tblPr/>
              <a:tblGrid>
                <a:gridCol w="5143500"/>
                <a:gridCol w="4476750"/>
                <a:gridCol w="4476750"/>
              </a:tblGrid>
              <a:tr h="795338">
                <a:tc>
                  <a:txBody>
                    <a:bodyPr lIns="171450" tIns="95250" rIns="152400" bIns="95250"/>
                    <a:lstStyle/>
                    <a:p>
                      <a:r>
                        <a:rPr sz="2400"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Eén prijs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Groepsprijzen</a:t>
                      </a:r>
                    </a:p>
                  </a:txBody>
                  <a:tcPr marL="91440" marR="91440" marT="45720" marB="45720" anchor="ctr">
                    <a:solidFill>
                      <a:srgbClr val="183247"/>
                    </a:solidFill>
                  </a:tcPr>
                </a:tc>
              </a:tr>
              <a:tr h="795338">
                <a:tc>
                  <a:txBody>
                    <a:bodyPr lIns="171450" tIns="95250" rIns="152400" bIns="95250"/>
                    <a:lstStyle/>
                    <a:p>
                      <a:r>
                        <a:rPr sz="2400" b="0">
                          <a:solidFill>
                            <a:srgbClr val="183247"/>
                          </a:solidFill>
                          <a:latin typeface="Arial"/>
                          <a:ea typeface="Arial"/>
                          <a:cs typeface="Arial"/>
                        </a:rPr>
                        <a:t>TVK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8 × 24 = 192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8 × 24 = 192</a:t>
                      </a:r>
                    </a:p>
                  </a:txBody>
                  <a:tcPr marL="91440" marR="91440" marT="45720" marB="45720" anchor="ctr">
                    <a:solidFill>
                      <a:srgbClr val="FFFFFF"/>
                    </a:solidFill>
                  </a:tcPr>
                </a:tc>
              </a:tr>
              <a:tr h="795338">
                <a:tc>
                  <a:txBody>
                    <a:bodyPr lIns="171450" tIns="95250" rIns="152400" bIns="95250"/>
                    <a:lstStyle/>
                    <a:p>
                      <a:r>
                        <a:rPr sz="240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480 − 192 = 288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512 − 192 = 320</a:t>
                      </a:r>
                    </a:p>
                  </a:txBody>
                  <a:tcPr marL="91440" marR="91440" marT="45720" marB="45720" anchor="ctr">
                    <a:solidFill>
                      <a:srgbClr val="EFF4F7"/>
                    </a:solidFill>
                  </a:tcPr>
                </a:tc>
              </a:tr>
              <a:tr h="795338">
                <a:tc>
                  <a:txBody>
                    <a:bodyPr lIns="171450" tIns="95250" rIns="152400" bIns="95250"/>
                    <a:lstStyle/>
                    <a:p>
                      <a:r>
                        <a:rPr sz="2400" b="0">
                          <a:solidFill>
                            <a:srgbClr val="183247"/>
                          </a:solidFill>
                          <a:latin typeface="Arial"/>
                          <a:ea typeface="Arial"/>
                          <a:cs typeface="Arial"/>
                        </a:rPr>
                        <a:t>Controle: PS − TCK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288 − 80 = 208 winst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320 − 80 = 240 winst</a:t>
                      </a:r>
                    </a:p>
                  </a:txBody>
                  <a:tcPr marL="91440" marR="91440" marT="45720" marB="45720" anchor="ctr">
                    <a:solidFill>
                      <a:srgbClr val="FFFFFF"/>
                    </a:solidFill>
                  </a:tcPr>
                </a:tc>
              </a:tr>
            </a:tbl>
          </a:graphicData>
        </a:graphic>
      </p:graphicFrame>
      <p:sp>
        <p:nvSpPr>
          <p:cNvPr id="7" name="Voor de winst trek je de gezamenlijke € 80 van PS af.">
            <a:extLst xmlns:a="http://schemas.openxmlformats.org/drawingml/2006/main">
              <a:ext uri="{FF2B5EF4-FFF2-40B4-BE49-F238E27FC236}">
                <a16:creationId xmlns:a16="http://schemas.microsoft.com/office/drawing/2014/main" id="{63FB58F9-657C-44B4-982D-3D2F3D8DA5A3}"/>
              </a:ext>
            </a:extLst>
          </p:cNvPr>
          <p:cNvSpPr>
            <a:spLocks xmlns:a="http://schemas.openxmlformats.org/drawingml/2006/main" noGrp="1"/>
          </p:cNvSpPr>
          <p:nvPr/>
        </p:nvSpPr>
        <p:spPr>
          <a:xfrm xmlns:a="http://schemas.openxmlformats.org/drawingml/2006/main">
            <a:off x="571500" y="70008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Voor de winst trek je de gezamenlijke € 80 van PS af.</a:t>
            </a:r>
          </a:p>
        </p:txBody>
      </p:sp>
    </p:spTree>
    <p:extLst>
      <p:ext uri="{BB962C8B-B14F-4D97-AF65-F5344CB8AC3E}">
        <p14:creationId xmlns:p14="http://schemas.microsoft.com/office/powerpoint/2010/main" val="135691371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d · Dan het totale surplus">
            <a:extLst xmlns:a="http://schemas.openxmlformats.org/drawingml/2006/main">
              <a:ext uri="{FF2B5EF4-FFF2-40B4-BE49-F238E27FC236}">
                <a16:creationId xmlns:a16="http://schemas.microsoft.com/office/drawing/2014/main" id="{A4E17412-9BF0-4D59-9CC2-BF87C286E52A}"/>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16d · Dan het totale surplus</a:t>
            </a:r>
          </a:p>
        </p:txBody>
      </p:sp>
      <p:sp>
        <p:nvSpPr>
          <p:cNvPr id="2" name="">
            <a:extLst xmlns:a="http://schemas.openxmlformats.org/drawingml/2006/main">
              <a:ext uri="{FF2B5EF4-FFF2-40B4-BE49-F238E27FC236}">
                <a16:creationId xmlns:a16="http://schemas.microsoft.com/office/drawing/2014/main" id="{59043990-7745-4B65-9F3A-E9BF9DC576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31BE5A89-9239-4126-803B-5CBDE11E007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5">
            <a:extLst xmlns:a="http://schemas.openxmlformats.org/drawingml/2006/main">
              <a:ext uri="{FF2B5EF4-FFF2-40B4-BE49-F238E27FC236}">
                <a16:creationId xmlns:a16="http://schemas.microsoft.com/office/drawing/2014/main" id="{4894949A-2C38-4756-B88F-EBE4B1EFFFF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2" name=""/>
          <p:cNvGraphicFramePr/>
          <p:nvPr/>
        </p:nvGraphicFramePr>
        <p:xfrm>
          <a:off xmlns:a="http://schemas.openxmlformats.org/drawingml/2006/main" x="571500" y="2095500"/>
          <a:ext xmlns:a="http://schemas.openxmlformats.org/drawingml/2006/main" cx="14097000" cy="3533775"/>
        </p:xfrm>
        <a:graphic xmlns:a="http://schemas.openxmlformats.org/drawingml/2006/main">
          <a:graphicData uri="http://schemas.openxmlformats.org/drawingml/2006/table">
            <a:tbl>
              <a:tblPr/>
              <a:tblGrid>
                <a:gridCol w="5143500"/>
                <a:gridCol w="4476750"/>
                <a:gridCol w="4476750"/>
              </a:tblGrid>
              <a:tr h="883444">
                <a:tc>
                  <a:txBody>
                    <a:bodyPr lIns="171450" tIns="95250" rIns="152400" bIns="95250"/>
                    <a:lstStyle/>
                    <a:p>
                      <a:r>
                        <a:rPr sz="2625"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Eén prijs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Groepsprijzen</a:t>
                      </a:r>
                    </a:p>
                  </a:txBody>
                  <a:tcPr marL="91440" marR="91440" marT="45720" marB="45720" anchor="ctr">
                    <a:solidFill>
                      <a:srgbClr val="183247"/>
                    </a:solidFill>
                  </a:tcPr>
                </a:tc>
              </a:tr>
              <a:tr h="883444">
                <a:tc>
                  <a:txBody>
                    <a:bodyPr lIns="171450" tIns="95250" rIns="152400" bIns="95250"/>
                    <a:lstStyle/>
                    <a:p>
                      <a:r>
                        <a:rPr sz="2625" b="0">
                          <a:solidFill>
                            <a:srgbClr val="183247"/>
                          </a:solidFill>
                          <a:latin typeface="Arial"/>
                          <a:ea typeface="Arial"/>
                          <a:cs typeface="Arial"/>
                        </a:rPr>
                        <a:t>CS (bron B)</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208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160</a:t>
                      </a:r>
                    </a:p>
                  </a:txBody>
                  <a:tcPr marL="91440" marR="91440" marT="45720" marB="45720" anchor="ctr">
                    <a:solidFill>
                      <a:srgbClr val="FFFFFF"/>
                    </a:solidFill>
                  </a:tcPr>
                </a:tc>
              </a:tr>
              <a:tr h="883444">
                <a:tc>
                  <a:txBody>
                    <a:bodyPr lIns="171450" tIns="95250" rIns="152400" bIns="95250"/>
                    <a:lstStyle/>
                    <a:p>
                      <a:r>
                        <a:rPr sz="262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288</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320</a:t>
                      </a:r>
                    </a:p>
                  </a:txBody>
                  <a:tcPr marL="91440" marR="91440" marT="45720" marB="45720" anchor="ctr">
                    <a:solidFill>
                      <a:srgbClr val="EFF4F7"/>
                    </a:solidFill>
                  </a:tcPr>
                </a:tc>
              </a:tr>
              <a:tr h="883444">
                <a:tc>
                  <a:txBody>
                    <a:bodyPr lIns="171450" tIns="95250" rIns="152400" bIns="95250"/>
                    <a:lstStyle/>
                    <a:p>
                      <a:r>
                        <a:rPr sz="262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208 + 288 = 496</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160 + 320 = 480</a:t>
                      </a:r>
                    </a:p>
                  </a:txBody>
                  <a:tcPr marL="91440" marR="91440" marT="45720" marB="45720" anchor="ctr">
                    <a:solidFill>
                      <a:srgbClr val="FFFFFF"/>
                    </a:solidFill>
                  </a:tcPr>
                </a:tc>
              </a:tr>
            </a:tbl>
          </a:graphicData>
        </a:graphic>
      </p:graphicFrame>
      <p:sp>
        <p:nvSpPr>
          <p:cNvPr id="6" name="ΔTS = 480 − 496 = −€ 16 per week">
            <a:extLst xmlns:a="http://schemas.openxmlformats.org/drawingml/2006/main">
              <a:ext uri="{FF2B5EF4-FFF2-40B4-BE49-F238E27FC236}">
                <a16:creationId xmlns:a16="http://schemas.microsoft.com/office/drawing/2014/main" id="{D7A12A0A-5272-444C-8686-E18D329D07A2}"/>
              </a:ext>
            </a:extLst>
          </p:cNvPr>
          <p:cNvSpPr>
            <a:spLocks xmlns:a="http://schemas.openxmlformats.org/drawingml/2006/main" noGrp="1"/>
          </p:cNvSpPr>
          <p:nvPr/>
        </p:nvSpPr>
        <p:spPr>
          <a:xfrm xmlns:a="http://schemas.openxmlformats.org/drawingml/2006/main">
            <a:off x="571500" y="61341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ΔTS = 480 − 496 = −€ 16 per week</a:t>
            </a:r>
          </a:p>
        </p:txBody>
      </p:sp>
      <p:sp>
        <p:nvSpPr>
          <p:cNvPr id="7" name="De winst stijgt € 32. De totale welvaart daalt in deze case.">
            <a:extLst xmlns:a="http://schemas.openxmlformats.org/drawingml/2006/main">
              <a:ext uri="{FF2B5EF4-FFF2-40B4-BE49-F238E27FC236}">
                <a16:creationId xmlns:a16="http://schemas.microsoft.com/office/drawing/2014/main" id="{A25AE1B4-41B5-40F3-84AF-38E6207B1847}"/>
              </a:ext>
            </a:extLst>
          </p:cNvPr>
          <p:cNvSpPr>
            <a:spLocks xmlns:a="http://schemas.openxmlformats.org/drawingml/2006/main" noGrp="1"/>
          </p:cNvSpPr>
          <p:nvPr/>
        </p:nvSpPr>
        <p:spPr>
          <a:xfrm xmlns:a="http://schemas.openxmlformats.org/drawingml/2006/main">
            <a:off x="571500" y="72009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winst stijgt € 32. De totale welvaart daalt in deze case.</a:t>
            </a:r>
          </a:p>
        </p:txBody>
      </p:sp>
    </p:spTree>
    <p:extLst>
      <p:ext uri="{BB962C8B-B14F-4D97-AF65-F5344CB8AC3E}">
        <p14:creationId xmlns:p14="http://schemas.microsoft.com/office/powerpoint/2010/main" val="1055044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16e · De grens van deze conclusie">
            <a:extLst xmlns:a="http://schemas.openxmlformats.org/drawingml/2006/main">
              <a:ext uri="{FF2B5EF4-FFF2-40B4-BE49-F238E27FC236}">
                <a16:creationId xmlns:a16="http://schemas.microsoft.com/office/drawing/2014/main" id="{AA11160A-5038-4A28-AA88-270E576C3DCE}"/>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16e · De grens van deze conclusie</a:t>
            </a:r>
          </a:p>
        </p:txBody>
      </p:sp>
      <p:sp>
        <p:nvSpPr>
          <p:cNvPr id="2" name="">
            <a:extLst xmlns:a="http://schemas.openxmlformats.org/drawingml/2006/main">
              <a:ext uri="{FF2B5EF4-FFF2-40B4-BE49-F238E27FC236}">
                <a16:creationId xmlns:a16="http://schemas.microsoft.com/office/drawing/2014/main" id="{5A026F1B-11EA-4347-B04E-B1B7B9FC84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 Opgave 16 · Boekpagina 69">
            <a:extLst xmlns:a="http://schemas.openxmlformats.org/drawingml/2006/main">
              <a:ext uri="{FF2B5EF4-FFF2-40B4-BE49-F238E27FC236}">
                <a16:creationId xmlns:a16="http://schemas.microsoft.com/office/drawing/2014/main" id="{6DC60A71-5263-4D09-8344-5C0BE4835AF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 · Opgave 16 · Boekpagina 69</a:t>
            </a:r>
          </a:p>
        </p:txBody>
      </p:sp>
      <p:sp>
        <p:nvSpPr>
          <p:cNvPr id="4" name="26">
            <a:extLst xmlns:a="http://schemas.openxmlformats.org/drawingml/2006/main">
              <a:ext uri="{FF2B5EF4-FFF2-40B4-BE49-F238E27FC236}">
                <a16:creationId xmlns:a16="http://schemas.microsoft.com/office/drawing/2014/main" id="{ECC23AF6-4F72-4C1C-ABC9-65DA28F2B3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In FilmLab">
            <a:extLst xmlns:a="http://schemas.openxmlformats.org/drawingml/2006/main">
              <a:ext uri="{FF2B5EF4-FFF2-40B4-BE49-F238E27FC236}">
                <a16:creationId xmlns:a16="http://schemas.microsoft.com/office/drawing/2014/main" id="{A8FC611D-CABB-45E6-B603-1343F0E6263F}"/>
              </a:ext>
            </a:extLst>
          </p:cNvPr>
          <p:cNvSpPr>
            <a:spLocks xmlns:a="http://schemas.openxmlformats.org/drawingml/2006/main" noGrp="1"/>
          </p:cNvSpPr>
          <p:nvPr/>
        </p:nvSpPr>
        <p:spPr>
          <a:xfrm xmlns:a="http://schemas.openxmlformats.org/drawingml/2006/main">
            <a:off x="571500" y="22669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In FilmLab</a:t>
            </a:r>
          </a:p>
        </p:txBody>
      </p:sp>
      <p:sp>
        <p:nvSpPr>
          <p:cNvPr id="6" name="TS daalt € 16 bij deze vraag, kosten en afzet.">
            <a:extLst xmlns:a="http://schemas.openxmlformats.org/drawingml/2006/main">
              <a:ext uri="{FF2B5EF4-FFF2-40B4-BE49-F238E27FC236}">
                <a16:creationId xmlns:a16="http://schemas.microsoft.com/office/drawing/2014/main" id="{80D17F89-CF97-42A4-B2B0-CBE35BB6BE95}"/>
              </a:ext>
            </a:extLst>
          </p:cNvPr>
          <p:cNvSpPr>
            <a:spLocks xmlns:a="http://schemas.openxmlformats.org/drawingml/2006/main" noGrp="1"/>
          </p:cNvSpPr>
          <p:nvPr/>
        </p:nvSpPr>
        <p:spPr>
          <a:xfrm xmlns:a="http://schemas.openxmlformats.org/drawingml/2006/main">
            <a:off x="5381625" y="226695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TS daalt € 16 bij deze vraag, kosten en afzet.</a:t>
            </a:r>
          </a:p>
        </p:txBody>
      </p:sp>
      <p:sp>
        <p:nvSpPr>
          <p:cNvPr id="7" name="">
            <a:extLst xmlns:a="http://schemas.openxmlformats.org/drawingml/2006/main">
              <a:ext uri="{FF2B5EF4-FFF2-40B4-BE49-F238E27FC236}">
                <a16:creationId xmlns:a16="http://schemas.microsoft.com/office/drawing/2014/main" id="{2FD5C4D8-07C3-4526-8408-C486CF361651}"/>
              </a:ext>
            </a:extLst>
          </p:cNvPr>
          <p:cNvSpPr>
            <a:spLocks xmlns:a="http://schemas.openxmlformats.org/drawingml/2006/main" noGrp="1"/>
          </p:cNvSpPr>
          <p:nvPr/>
        </p:nvSpPr>
        <p:spPr>
          <a:xfrm xmlns:a="http://schemas.openxmlformats.org/drawingml/2006/main">
            <a:off x="571500" y="3352800"/>
            <a:ext cx="14097000" cy="0"/>
          </a:xfrm>
          <a:prstGeom xmlns:a="http://schemas.openxmlformats.org/drawingml/2006/main" prst="line">
            <a:avLst/>
          </a:prstGeom>
          <a:ln xmlns:a="http://schemas.openxmlformats.org/drawingml/2006/main" w="19050">
            <a:solidFill>
              <a:srgbClr val="C6D2DB"/>
            </a:solidFill>
          </a:ln>
        </p:spPr>
      </p:sp>
      <p:sp>
        <p:nvSpPr>
          <p:cNvPr id="8" name="Een andere case">
            <a:extLst xmlns:a="http://schemas.openxmlformats.org/drawingml/2006/main">
              <a:ext uri="{FF2B5EF4-FFF2-40B4-BE49-F238E27FC236}">
                <a16:creationId xmlns:a16="http://schemas.microsoft.com/office/drawing/2014/main" id="{70770A00-648B-4BB1-90CE-6166C6B05497}"/>
              </a:ext>
            </a:extLst>
          </p:cNvPr>
          <p:cNvSpPr>
            <a:spLocks xmlns:a="http://schemas.openxmlformats.org/drawingml/2006/main" noGrp="1"/>
          </p:cNvSpPr>
          <p:nvPr/>
        </p:nvSpPr>
        <p:spPr>
          <a:xfrm xmlns:a="http://schemas.openxmlformats.org/drawingml/2006/main">
            <a:off x="571500" y="39243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Een andere case</a:t>
            </a:r>
          </a:p>
        </p:txBody>
      </p:sp>
      <p:sp>
        <p:nvSpPr>
          <p:cNvPr id="9" name="Een lagere prijs kan kopers bereiken die eerst niets kochten">
            <a:extLst xmlns:a="http://schemas.openxmlformats.org/drawingml/2006/main">
              <a:ext uri="{FF2B5EF4-FFF2-40B4-BE49-F238E27FC236}">
                <a16:creationId xmlns:a16="http://schemas.microsoft.com/office/drawing/2014/main" id="{F05F5688-9C3F-4E53-9A4B-F994AF302922}"/>
              </a:ext>
            </a:extLst>
          </p:cNvPr>
          <p:cNvSpPr>
            <a:spLocks xmlns:a="http://schemas.openxmlformats.org/drawingml/2006/main" noGrp="1"/>
          </p:cNvSpPr>
          <p:nvPr/>
        </p:nvSpPr>
        <p:spPr>
          <a:xfrm xmlns:a="http://schemas.openxmlformats.org/drawingml/2006/main">
            <a:off x="5381625" y="392430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Een lagere prijs kan kopers bereiken die eerst niets kochten.</a:t>
            </a:r>
          </a:p>
        </p:txBody>
      </p:sp>
      <p:sp>
        <p:nvSpPr>
          <p:cNvPr id="10" name="">
            <a:extLst xmlns:a="http://schemas.openxmlformats.org/drawingml/2006/main">
              <a:ext uri="{FF2B5EF4-FFF2-40B4-BE49-F238E27FC236}">
                <a16:creationId xmlns:a16="http://schemas.microsoft.com/office/drawing/2014/main" id="{B324C621-DC03-4AD1-A70F-6A34610FA904}"/>
              </a:ext>
            </a:extLst>
          </p:cNvPr>
          <p:cNvSpPr>
            <a:spLocks xmlns:a="http://schemas.openxmlformats.org/drawingml/2006/main" noGrp="1"/>
          </p:cNvSpPr>
          <p:nvPr/>
        </p:nvSpPr>
        <p:spPr>
          <a:xfrm xmlns:a="http://schemas.openxmlformats.org/drawingml/2006/main">
            <a:off x="571500" y="5010150"/>
            <a:ext cx="14097000" cy="0"/>
          </a:xfrm>
          <a:prstGeom xmlns:a="http://schemas.openxmlformats.org/drawingml/2006/main" prst="line">
            <a:avLst/>
          </a:prstGeom>
          <a:ln xmlns:a="http://schemas.openxmlformats.org/drawingml/2006/main" w="19050">
            <a:solidFill>
              <a:srgbClr val="C6D2DB"/>
            </a:solidFill>
          </a:ln>
        </p:spPr>
      </p:sp>
      <p:sp>
        <p:nvSpPr>
          <p:cNvPr id="11" name="Voor een oordeel">
            <a:extLst xmlns:a="http://schemas.openxmlformats.org/drawingml/2006/main">
              <a:ext uri="{FF2B5EF4-FFF2-40B4-BE49-F238E27FC236}">
                <a16:creationId xmlns:a16="http://schemas.microsoft.com/office/drawing/2014/main" id="{8662AF32-48DB-44EB-AF39-F77F4B672F5D}"/>
              </a:ext>
            </a:extLst>
          </p:cNvPr>
          <p:cNvSpPr>
            <a:spLocks xmlns:a="http://schemas.openxmlformats.org/drawingml/2006/main" noGrp="1"/>
          </p:cNvSpPr>
          <p:nvPr/>
        </p:nvSpPr>
        <p:spPr>
          <a:xfrm xmlns:a="http://schemas.openxmlformats.org/drawingml/2006/main">
            <a:off x="571500" y="55816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Voor een oordeel</a:t>
            </a:r>
          </a:p>
        </p:txBody>
      </p:sp>
      <p:sp>
        <p:nvSpPr>
          <p:cNvPr id="12" name="Onderzoek opnieuw hoeveelheden, kosten en surplus.">
            <a:extLst xmlns:a="http://schemas.openxmlformats.org/drawingml/2006/main">
              <a:ext uri="{FF2B5EF4-FFF2-40B4-BE49-F238E27FC236}">
                <a16:creationId xmlns:a16="http://schemas.microsoft.com/office/drawing/2014/main" id="{64973CE0-8EF8-47E1-AA29-6E048934E5C0}"/>
              </a:ext>
            </a:extLst>
          </p:cNvPr>
          <p:cNvSpPr>
            <a:spLocks xmlns:a="http://schemas.openxmlformats.org/drawingml/2006/main" noGrp="1"/>
          </p:cNvSpPr>
          <p:nvPr/>
        </p:nvSpPr>
        <p:spPr>
          <a:xfrm xmlns:a="http://schemas.openxmlformats.org/drawingml/2006/main">
            <a:off x="5381625" y="5581650"/>
            <a:ext cx="923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Onderzoek opnieuw hoeveelheden, kosten en surplus.</a:t>
            </a:r>
          </a:p>
        </p:txBody>
      </p:sp>
    </p:spTree>
    <p:extLst>
      <p:ext uri="{BB962C8B-B14F-4D97-AF65-F5344CB8AC3E}">
        <p14:creationId xmlns:p14="http://schemas.microsoft.com/office/powerpoint/2010/main" val="101863752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2 Prijsdiscriminatie">
            <a:extLst xmlns:a="http://schemas.openxmlformats.org/drawingml/2006/main">
              <a:ext uri="{FF2B5EF4-FFF2-40B4-BE49-F238E27FC236}">
                <a16:creationId xmlns:a16="http://schemas.microsoft.com/office/drawing/2014/main" id="{1B7B098B-95F4-423B-AADD-223F43E159B0}"/>
              </a:ext>
            </a:extLst>
          </p:cNvPr>
          <p:cNvSpPr>
            <a:spLocks xmlns:a="http://schemas.openxmlformats.org/drawingml/2006/main" noGrp="1"/>
          </p:cNvSpPr>
          <p:nvPr/>
        </p:nvSpPr>
        <p:spPr>
          <a:xfrm xmlns:a="http://schemas.openxmlformats.org/drawingml/2006/main">
            <a:off x="571500" y="4000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§4.2.2 Prijsdiscriminatie</a:t>
            </a:r>
          </a:p>
        </p:txBody>
      </p:sp>
      <p:sp>
        <p:nvSpPr>
          <p:cNvPr id="2" name="">
            <a:extLst xmlns:a="http://schemas.openxmlformats.org/drawingml/2006/main">
              <a:ext uri="{FF2B5EF4-FFF2-40B4-BE49-F238E27FC236}">
                <a16:creationId xmlns:a16="http://schemas.microsoft.com/office/drawing/2014/main" id="{CA79A12B-0A85-410E-BC57-27656FA317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2 Prijsdiscriminatie">
            <a:extLst xmlns:a="http://schemas.openxmlformats.org/drawingml/2006/main">
              <a:ext uri="{FF2B5EF4-FFF2-40B4-BE49-F238E27FC236}">
                <a16:creationId xmlns:a16="http://schemas.microsoft.com/office/drawing/2014/main" id="{24410F43-9082-4A28-9CAB-BC0D9B517B3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§4.2.2 Prijsdiscriminatie</a:t>
            </a:r>
          </a:p>
        </p:txBody>
      </p:sp>
      <p:sp>
        <p:nvSpPr>
          <p:cNvPr id="4" name="27">
            <a:extLst xmlns:a="http://schemas.openxmlformats.org/drawingml/2006/main">
              <a:ext uri="{FF2B5EF4-FFF2-40B4-BE49-F238E27FC236}">
                <a16:creationId xmlns:a16="http://schemas.microsoft.com/office/drawing/2014/main" id="{B9137153-C66F-4BEA-B378-B3D9E8ACC3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B93A3ADD-256E-44A2-8492-DA10893ED8C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128C0E44-4AD1-42D8-B468-5C89464BBCE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7E6A7F1D-5BC0-49C3-9A19-05C2EFCDC15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2616BE8A-0C9E-48F8-9C60-B9B346AC4743}"/>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E888D74F-6D13-4F02-BF2E-8FBCA384550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4AFEF314-ABCA-4EA1-9AD3-0DB3A5C7A41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6E8566CE-6839-4F3A-9478-7CA9D21DC1B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6BAD5604-6E49-4FE2-A359-05693D1945FC}"/>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CB210959-1FCE-46EB-9C5D-8833B3C93E9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F41F37BA-5372-42BA-B379-83B6FBB42B6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3C356C83-BD88-4042-B91C-0F46C1685E1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DFEB9CF0-4DC7-4DF7-9D19-0606CB432CD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AA64D298-E0B6-4A2D-A401-FE762861ABB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EBF4B5D5-BA52-4161-8538-284D51487C88}"/>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C419FF04-2111-49B9-90E5-DD2FB0470216}"/>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5417FD37-64DE-4ECD-83F1-41BD7C95947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F2954D4-37BC-4908-A148-83A20FAE80C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24D5AEB-10F8-4ACB-A40B-3BED348E7B5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Prijsdiscriminatie herkennen,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groepsprijzen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en surplus vergelijken.</a:t>
            </a:r>
          </a:p>
        </p:txBody>
      </p:sp>
      <p:sp>
        <p:nvSpPr>
          <p:cNvPr id="23" name="">
            <a:extLst xmlns:a="http://schemas.openxmlformats.org/drawingml/2006/main">
              <a:ext uri="{FF2B5EF4-FFF2-40B4-BE49-F238E27FC236}">
                <a16:creationId xmlns:a16="http://schemas.microsoft.com/office/drawing/2014/main" id="{F657C555-37DB-4D7D-AFE4-DE974186FF8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22FB48E-0E49-4089-B2D2-9ED9E2F6965D}"/>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46025D8-F324-49B3-9417-0E2E3A82A02B}"/>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66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10: samenvoegen, steun p. 64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63</a:t>
            </a:r>
          </a:p>
        </p:txBody>
      </p:sp>
      <p:sp>
        <p:nvSpPr>
          <p:cNvPr id="26" name="">
            <a:extLst xmlns:a="http://schemas.openxmlformats.org/drawingml/2006/main">
              <a:ext uri="{FF2B5EF4-FFF2-40B4-BE49-F238E27FC236}">
                <a16:creationId xmlns:a16="http://schemas.microsoft.com/office/drawing/2014/main" id="{8F93F2BA-963B-4345-87E1-5A20DF01F9EA}"/>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E7A134F-88AC-4747-8003-350AA809679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A14F0D2-C335-4F09-B02D-B640844F73A9}"/>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§4.2.2 Prijsdiscriminatie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12 en 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14 en 15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8890486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2026-10-01T19:09:00.2360000Z</dcterms:created>
  <dcterms:modified xsi:type="dcterms:W3CDTF">2026-10-01T19:09:00.2360000Z</dcterms:modified>
</coreProperties>
</file>