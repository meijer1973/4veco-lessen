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1.xml" ContentType="application/vnd.openxmlformats-officedocument.drawingml.chart+xml"/>
  <Override PartName="/ppt/slides/charts/chart2.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3.xml" ContentType="application/vnd.openxmlformats-officedocument.drawingml.chart+xml"/>
  <Override PartName="/ppt/slides/charts/chart4.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slides/charts/chart5.xml" ContentType="application/vnd.openxmlformats-officedocument.drawingml.chart+xml"/>
  <Override PartName="/ppt/slides/charts/chart6.xml" ContentType="application/vnd.openxmlformats-officedocument.drawingml.chart+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slides/charts/chart7.xml" ContentType="application/vnd.openxmlformats-officedocument.drawingml.chart+xml"/>
  <Override PartName="/ppt/slides/charts/chart8.xml" ContentType="application/vnd.openxmlformats-officedocument.drawingml.chart+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57e9ea43b0d74b82" /><Relationship Type="http://schemas.openxmlformats.org/officeDocument/2006/relationships/extended-properties" Target="/docProps/app.xml" Id="Rc53f4727217f49e3" /><Relationship Type="http://schemas.openxmlformats.org/officeDocument/2006/relationships/officeDocument" Target="/ppt/presentation.xml" Id="R29536373f98c4870" /></Relationships>
</file>

<file path=ppt/presentation.xml><?xml version="1.0" encoding="utf-8"?>
<p:presentation xmlns:p="http://schemas.openxmlformats.org/presentationml/2006/main">
  <p:sldMasterIdLst>
    <p:sldMasterId xmlns:r="http://schemas.openxmlformats.org/officeDocument/2006/relationships" id="2147483648" r:id="Raf37b4e21ec942d0"/>
  </p:sldMasterIdLst>
  <p:notesMasterIdLst>
    <p:notesMasterId xmlns:r="http://schemas.openxmlformats.org/officeDocument/2006/relationships" r:id="Rc690e484032547c9"/>
  </p:notesMasterIdLst>
  <p:sldIdLst>
    <p:sldId xmlns:r="http://schemas.openxmlformats.org/officeDocument/2006/relationships" id="256" r:id="Rea122fdd018a451a"/>
    <p:sldId xmlns:r="http://schemas.openxmlformats.org/officeDocument/2006/relationships" id="257" r:id="R2f70c90f34db43c3"/>
    <p:sldId xmlns:r="http://schemas.openxmlformats.org/officeDocument/2006/relationships" id="258" r:id="R55da09dd2adb4ff6"/>
    <p:sldId xmlns:r="http://schemas.openxmlformats.org/officeDocument/2006/relationships" id="259" r:id="R7e236df89e32456b"/>
    <p:sldId xmlns:r="http://schemas.openxmlformats.org/officeDocument/2006/relationships" id="260" r:id="Ra809b5742c734528"/>
    <p:sldId xmlns:r="http://schemas.openxmlformats.org/officeDocument/2006/relationships" id="261" r:id="R8b0a771af4c04d42"/>
    <p:sldId xmlns:r="http://schemas.openxmlformats.org/officeDocument/2006/relationships" id="262" r:id="Rdc5f0556619a47bc"/>
    <p:sldId xmlns:r="http://schemas.openxmlformats.org/officeDocument/2006/relationships" id="263" r:id="R7c744b675b6c468e"/>
    <p:sldId xmlns:r="http://schemas.openxmlformats.org/officeDocument/2006/relationships" id="264" r:id="Re3ce22b0985a457e"/>
    <p:sldId xmlns:r="http://schemas.openxmlformats.org/officeDocument/2006/relationships" id="265" r:id="Rd474c4144f444a9b"/>
    <p:sldId xmlns:r="http://schemas.openxmlformats.org/officeDocument/2006/relationships" id="266" r:id="Rac2640cc0a8d442a"/>
    <p:sldId xmlns:r="http://schemas.openxmlformats.org/officeDocument/2006/relationships" id="267" r:id="R3e0d7ce671c14884"/>
    <p:sldId xmlns:r="http://schemas.openxmlformats.org/officeDocument/2006/relationships" id="268" r:id="Rb80d9c31ea354541"/>
    <p:sldId xmlns:r="http://schemas.openxmlformats.org/officeDocument/2006/relationships" id="269" r:id="Re41bfd01686749d7"/>
    <p:sldId xmlns:r="http://schemas.openxmlformats.org/officeDocument/2006/relationships" id="270" r:id="R3b0e2aa0911446b2"/>
    <p:sldId xmlns:r="http://schemas.openxmlformats.org/officeDocument/2006/relationships" id="271" r:id="R13ddddf6448b4819"/>
    <p:sldId xmlns:r="http://schemas.openxmlformats.org/officeDocument/2006/relationships" id="272" r:id="Rd84cde1143b14695"/>
    <p:sldId xmlns:r="http://schemas.openxmlformats.org/officeDocument/2006/relationships" id="273" r:id="R8a40883e50ad495f"/>
    <p:sldId xmlns:r="http://schemas.openxmlformats.org/officeDocument/2006/relationships" id="274" r:id="Raef2250d42d64a2f"/>
    <p:sldId xmlns:r="http://schemas.openxmlformats.org/officeDocument/2006/relationships" id="275" r:id="R89175acb948f4092"/>
    <p:sldId xmlns:r="http://schemas.openxmlformats.org/officeDocument/2006/relationships" id="276" r:id="R82e0ad25e7ec4a6a"/>
    <p:sldId xmlns:r="http://schemas.openxmlformats.org/officeDocument/2006/relationships" id="277" r:id="Rf8e496b1457048a5"/>
    <p:sldId xmlns:r="http://schemas.openxmlformats.org/officeDocument/2006/relationships" id="278" r:id="R43c1ec27b0f64cd3"/>
    <p:sldId xmlns:r="http://schemas.openxmlformats.org/officeDocument/2006/relationships" id="279" r:id="R3e0be24473c54ea5"/>
    <p:sldId xmlns:r="http://schemas.openxmlformats.org/officeDocument/2006/relationships" id="280" r:id="R79e14678a8d34170"/>
    <p:sldId xmlns:r="http://schemas.openxmlformats.org/officeDocument/2006/relationships" id="281" r:id="R6a0d8ee405cc45d8"/>
    <p:sldId xmlns:r="http://schemas.openxmlformats.org/officeDocument/2006/relationships" id="282" r:id="R0a7877ed6f5d41ce"/>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b07f03e2c7e4c20" /><Relationship Type="http://schemas.openxmlformats.org/officeDocument/2006/relationships/slideMaster" Target="/ppt/slideMasters/slideMaster1.xml" Id="Raf37b4e21ec942d0" /><Relationship Type="http://schemas.openxmlformats.org/officeDocument/2006/relationships/notesMaster" Target="/ppt/notesMasters/notesMaster1.xml" Id="Rc690e484032547c9" /><Relationship Type="http://schemas.openxmlformats.org/officeDocument/2006/relationships/presProps" Target="/ppt/presProps.xml" Id="Rf47a6cf5febf4ef7" /><Relationship Type="http://schemas.openxmlformats.org/officeDocument/2006/relationships/tableStyles" Target="/ppt/tableStyles.xml" Id="R4fc7b29d556d43d7" /><Relationship Type="http://schemas.openxmlformats.org/officeDocument/2006/relationships/slide" Target="/ppt/slides/slide1.xml" Id="Rea122fdd018a451a" /><Relationship Type="http://schemas.openxmlformats.org/officeDocument/2006/relationships/slide" Target="/ppt/slides/slide2.xml" Id="R2f70c90f34db43c3" /><Relationship Type="http://schemas.openxmlformats.org/officeDocument/2006/relationships/slide" Target="/ppt/slides/slide3.xml" Id="R55da09dd2adb4ff6" /><Relationship Type="http://schemas.openxmlformats.org/officeDocument/2006/relationships/slide" Target="/ppt/slides/slide4.xml" Id="R7e236df89e32456b" /><Relationship Type="http://schemas.openxmlformats.org/officeDocument/2006/relationships/slide" Target="/ppt/slides/slide5.xml" Id="Ra809b5742c734528" /><Relationship Type="http://schemas.openxmlformats.org/officeDocument/2006/relationships/slide" Target="/ppt/slides/slide6.xml" Id="R8b0a771af4c04d42" /><Relationship Type="http://schemas.openxmlformats.org/officeDocument/2006/relationships/slide" Target="/ppt/slides/slide7.xml" Id="Rdc5f0556619a47bc" /><Relationship Type="http://schemas.openxmlformats.org/officeDocument/2006/relationships/slide" Target="/ppt/slides/slide8.xml" Id="R7c744b675b6c468e" /><Relationship Type="http://schemas.openxmlformats.org/officeDocument/2006/relationships/slide" Target="/ppt/slides/slide9.xml" Id="Re3ce22b0985a457e" /><Relationship Type="http://schemas.openxmlformats.org/officeDocument/2006/relationships/slide" Target="/ppt/slides/slide10.xml" Id="Rd474c4144f444a9b" /><Relationship Type="http://schemas.openxmlformats.org/officeDocument/2006/relationships/slide" Target="/ppt/slides/slide11.xml" Id="Rac2640cc0a8d442a" /><Relationship Type="http://schemas.openxmlformats.org/officeDocument/2006/relationships/slide" Target="/ppt/slides/slide12.xml" Id="R3e0d7ce671c14884" /><Relationship Type="http://schemas.openxmlformats.org/officeDocument/2006/relationships/slide" Target="/ppt/slides/slide13.xml" Id="Rb80d9c31ea354541" /><Relationship Type="http://schemas.openxmlformats.org/officeDocument/2006/relationships/slide" Target="/ppt/slides/slide14.xml" Id="Re41bfd01686749d7" /><Relationship Type="http://schemas.openxmlformats.org/officeDocument/2006/relationships/slide" Target="/ppt/slides/slide15.xml" Id="R3b0e2aa0911446b2" /><Relationship Type="http://schemas.openxmlformats.org/officeDocument/2006/relationships/slide" Target="/ppt/slides/slide16.xml" Id="R13ddddf6448b4819" /><Relationship Type="http://schemas.openxmlformats.org/officeDocument/2006/relationships/slide" Target="/ppt/slides/slide17.xml" Id="Rd84cde1143b14695" /><Relationship Type="http://schemas.openxmlformats.org/officeDocument/2006/relationships/slide" Target="/ppt/slides/slide18.xml" Id="R8a40883e50ad495f" /><Relationship Type="http://schemas.openxmlformats.org/officeDocument/2006/relationships/slide" Target="/ppt/slides/slide19.xml" Id="Raef2250d42d64a2f" /><Relationship Type="http://schemas.openxmlformats.org/officeDocument/2006/relationships/slide" Target="/ppt/slides/slide20.xml" Id="R89175acb948f4092" /><Relationship Type="http://schemas.openxmlformats.org/officeDocument/2006/relationships/slide" Target="/ppt/slides/slide21.xml" Id="R82e0ad25e7ec4a6a" /><Relationship Type="http://schemas.openxmlformats.org/officeDocument/2006/relationships/slide" Target="/ppt/slides/slide22.xml" Id="Rf8e496b1457048a5" /><Relationship Type="http://schemas.openxmlformats.org/officeDocument/2006/relationships/slide" Target="/ppt/slides/slide23.xml" Id="R43c1ec27b0f64cd3" /><Relationship Type="http://schemas.openxmlformats.org/officeDocument/2006/relationships/slide" Target="/ppt/slides/slide24.xml" Id="R3e0be24473c54ea5" /><Relationship Type="http://schemas.openxmlformats.org/officeDocument/2006/relationships/slide" Target="/ppt/slides/slide25.xml" Id="R79e14678a8d34170" /><Relationship Type="http://schemas.openxmlformats.org/officeDocument/2006/relationships/slide" Target="/ppt/slides/slide26.xml" Id="R6a0d8ee405cc45d8" /><Relationship Type="http://schemas.openxmlformats.org/officeDocument/2006/relationships/slide" Target="/ppt/slides/slide27.xml" Id="R0a7877ed6f5d41c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4864e79b8f14df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4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c7abef6ac80406f" /><Relationship Type="http://schemas.openxmlformats.org/officeDocument/2006/relationships/notesMaster" Target="/ppt/notesMasters/notesMaster1.xml" Id="Rfb96941bc8b94a0f" /></Relationships>
</file>

<file path=ppt/notesSlides/_rels/notesSlide2.xml.rels>&#65279;<?xml version="1.0" encoding="utf-8"?><Relationships xmlns="http://schemas.openxmlformats.org/package/2006/relationships"><Relationship Type="http://schemas.openxmlformats.org/officeDocument/2006/relationships/slide" Target="/ppt/slides/slide2.xml" Id="R04df8b2922fd456b" /><Relationship Type="http://schemas.openxmlformats.org/officeDocument/2006/relationships/notesMaster" Target="/ppt/notesMasters/notesMaster1.xml" Id="R8815c789301140b5" /></Relationships>
</file>

<file path=ppt/notesSlides/_rels/notesSlide3.xml.rels>&#65279;<?xml version="1.0" encoding="utf-8"?><Relationships xmlns="http://schemas.openxmlformats.org/package/2006/relationships"><Relationship Type="http://schemas.openxmlformats.org/officeDocument/2006/relationships/slide" Target="/ppt/slides/slide3.xml" Id="R5ed8a97d3d454acc" /><Relationship Type="http://schemas.openxmlformats.org/officeDocument/2006/relationships/notesMaster" Target="/ppt/notesMasters/notesMaster1.xml" Id="Rfe7de7d2774142db" /></Relationships>
</file>

<file path=ppt/notesSlides/_rels/notesSlide4.xml.rels>&#65279;<?xml version="1.0" encoding="utf-8"?><Relationships xmlns="http://schemas.openxmlformats.org/package/2006/relationships"><Relationship Type="http://schemas.openxmlformats.org/officeDocument/2006/relationships/slide" Target="/ppt/slides/slide4.xml" Id="Re2c1d072b4ac4f39" /><Relationship Type="http://schemas.openxmlformats.org/officeDocument/2006/relationships/notesMaster" Target="/ppt/notesMasters/notesMaster1.xml" Id="Rf524436cf1ef4a9d" /></Relationships>
</file>

<file path=ppt/notesSlides/_rels/notesSlide5.xml.rels>&#65279;<?xml version="1.0" encoding="utf-8"?><Relationships xmlns="http://schemas.openxmlformats.org/package/2006/relationships"><Relationship Type="http://schemas.openxmlformats.org/officeDocument/2006/relationships/slide" Target="/ppt/slides/slide5.xml" Id="R8177fd5e8c59494b" /><Relationship Type="http://schemas.openxmlformats.org/officeDocument/2006/relationships/notesMaster" Target="/ppt/notesMasters/notesMaster1.xml" Id="R672c48c59a5f4af9" /></Relationships>
</file>

<file path=ppt/notesSlides/_rels/notesSlide6.xml.rels>&#65279;<?xml version="1.0" encoding="utf-8"?><Relationships xmlns="http://schemas.openxmlformats.org/package/2006/relationships"><Relationship Type="http://schemas.openxmlformats.org/officeDocument/2006/relationships/slide" Target="/ppt/slides/slide6.xml" Id="R0186b70019c8444c" /><Relationship Type="http://schemas.openxmlformats.org/officeDocument/2006/relationships/notesMaster" Target="/ppt/notesMasters/notesMaster1.xml" Id="Rd2f570e03c4344f8" /></Relationships>
</file>

<file path=ppt/notesSlides/_rels/notesSlide7.xml.rels>&#65279;<?xml version="1.0" encoding="utf-8"?><Relationships xmlns="http://schemas.openxmlformats.org/package/2006/relationships"><Relationship Type="http://schemas.openxmlformats.org/officeDocument/2006/relationships/slide" Target="/ppt/slides/slide7.xml" Id="R6105f6be10bf4ac3" /><Relationship Type="http://schemas.openxmlformats.org/officeDocument/2006/relationships/notesMaster" Target="/ppt/notesMasters/notesMaster1.xml" Id="R3a099cd90a6b43d0" /></Relationships>
</file>

<file path=ppt/notesSlides/_rels/notesSlide8.xml.rels>&#65279;<?xml version="1.0" encoding="utf-8"?><Relationships xmlns="http://schemas.openxmlformats.org/package/2006/relationships"><Relationship Type="http://schemas.openxmlformats.org/officeDocument/2006/relationships/slide" Target="/ppt/slides/slide8.xml" Id="R226e5cfb9d4d4d9d" /><Relationship Type="http://schemas.openxmlformats.org/officeDocument/2006/relationships/notesMaster" Target="/ppt/notesMasters/notesMaster1.xml" Id="R9134f9ef07984e5e" /></Relationships>
</file>

<file path=ppt/notesSlides/_rels/notesSlide9.xml.rels>&#65279;<?xml version="1.0" encoding="utf-8"?><Relationships xmlns="http://schemas.openxmlformats.org/package/2006/relationships"><Relationship Type="http://schemas.openxmlformats.org/officeDocument/2006/relationships/slide" Target="/ppt/slides/slide9.xml" Id="R4532860c562c4cd2" /><Relationship Type="http://schemas.openxmlformats.org/officeDocument/2006/relationships/notesMaster" Target="/ppt/notesMasters/notesMaster1.xml" Id="R9cd671f5a04d4bc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b092c0d40a343b6" /><Relationship Type="http://schemas.openxmlformats.org/officeDocument/2006/relationships/notesMaster" Target="/ppt/notesMasters/notesMaster1.xml" Id="R419721f7f3734be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5b9172292634ff4" /><Relationship Type="http://schemas.openxmlformats.org/officeDocument/2006/relationships/notesMaster" Target="/ppt/notesMasters/notesMaster1.xml" Id="R67af3f6f50cd4e8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7d8435f9acd471d" /><Relationship Type="http://schemas.openxmlformats.org/officeDocument/2006/relationships/notesMaster" Target="/ppt/notesMasters/notesMaster1.xml" Id="R39529f8ca8ce4d8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065bdf2b47b14628" /><Relationship Type="http://schemas.openxmlformats.org/officeDocument/2006/relationships/notesMaster" Target="/ppt/notesMasters/notesMaster1.xml" Id="R1ab9594790584138"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594cd9dce2a74900" /><Relationship Type="http://schemas.openxmlformats.org/officeDocument/2006/relationships/notesMaster" Target="/ppt/notesMasters/notesMaster1.xml" Id="R08425a0163cc471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986ae31b8ee44479" /><Relationship Type="http://schemas.openxmlformats.org/officeDocument/2006/relationships/notesMaster" Target="/ppt/notesMasters/notesMaster1.xml" Id="Rb1c192d754124f1b"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79559b8f059478d" /><Relationship Type="http://schemas.openxmlformats.org/officeDocument/2006/relationships/notesMaster" Target="/ppt/notesMasters/notesMaster1.xml" Id="R5cf11d781a65481d"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260d272b87674a85" /><Relationship Type="http://schemas.openxmlformats.org/officeDocument/2006/relationships/notesMaster" Target="/ppt/notesMasters/notesMaster1.xml" Id="R45d19c599c334ea8"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04aaad53d3654c5f" /><Relationship Type="http://schemas.openxmlformats.org/officeDocument/2006/relationships/notesMaster" Target="/ppt/notesMasters/notesMaster1.xml" Id="Rabc002f4e4ad4ba0"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ef9586af4de24d76" /><Relationship Type="http://schemas.openxmlformats.org/officeDocument/2006/relationships/notesMaster" Target="/ppt/notesMasters/notesMaster1.xml" Id="Rd3e370f8f62143d8"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16468fe95b304a4b" /><Relationship Type="http://schemas.openxmlformats.org/officeDocument/2006/relationships/notesMaster" Target="/ppt/notesMasters/notesMaster1.xml" Id="Rfe04600339aa4644"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c249ae11f2f44a4f" /><Relationship Type="http://schemas.openxmlformats.org/officeDocument/2006/relationships/notesMaster" Target="/ppt/notesMasters/notesMaster1.xml" Id="R9b34b533d20140a8"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b8695e1d80314f60" /><Relationship Type="http://schemas.openxmlformats.org/officeDocument/2006/relationships/notesMaster" Target="/ppt/notesMasters/notesMaster1.xml" Id="R9214f3a9550949cb"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c91d0888680b4ef0" /><Relationship Type="http://schemas.openxmlformats.org/officeDocument/2006/relationships/notesMaster" Target="/ppt/notesMasters/notesMaster1.xml" Id="Rc102ffc836914f1c"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71e41a2f09364588" /><Relationship Type="http://schemas.openxmlformats.org/officeDocument/2006/relationships/notesMaster" Target="/ppt/notesMasters/notesMaster1.xml" Id="R759f906b274c4716"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272335289b1e430c" /><Relationship Type="http://schemas.openxmlformats.org/officeDocument/2006/relationships/notesMaster" Target="/ppt/notesMasters/notesMaster1.xml" Id="Rcea6802b8b3c471d"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cb88dac7649a430a" /><Relationship Type="http://schemas.openxmlformats.org/officeDocument/2006/relationships/notesMaster" Target="/ppt/notesMasters/notesMaster1.xml" Id="Rfd1a83f8bfec4350"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c98bf0c21daa4541" /><Relationship Type="http://schemas.openxmlformats.org/officeDocument/2006/relationships/notesMaster" Target="/ppt/notesMasters/notesMaster1.xml" Id="Rd9a5907c508647b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theoriepassage helpt bij je twijfel?</a:t>
            </a:r>
          </a:p>
          <a:p xmlns:a="http://schemas.openxmlformats.org/drawingml/2006/main">
            <a:r>
              <a:rPr sz="1400"/>
              <a:t/>
            </a:r>
          </a:p>
          <a:p xmlns:a="http://schemas.openxmlformats.org/drawingml/2006/main">
            <a:r>
              <a:rPr sz="1400"/>
              <a:t>Uitleg: Laat het overzicht staan tijdens startopdracht. Start 10–11 op p. 66; basis 12 op p. 66 en 13 op p. 67; zelfstandig 14 op p. 67 en 15 op p. 68; doel 16 op p. 69. Huiswerk 12 t/m 16 maken en nakijken. Bonus 17 en herhaling 18 zijn extra. Start 10a herhaalt TO, TK en winst uit §4.1.4. Twee groepen als één bedrijf met één TCK is een nieuwe toepassing: verwijs voor 10b naar de formule en het kader op p. 64. Prijsdiscriminatie is nieuw bij 11: laat leerlingen de definitie en kostenwaarschuwing op p. 63 gebruiken. Dit is ondersteund verkennen, geen toets van beheerste nieuwe leerstof. Laat vóór basiswerk beide startvragen opnieuw bekijken en een twijfel verbeteren. De docent kan daarna de startantwoorden bespreken: 10 TO 520, TK 240, winst 280 euro per week; 11 alleen A. Geef die antwoorden niet vooraf. De handleiding reserveert voorlopig twee keer 55 minuten; de lesgrens is flexibel en de tijd is niet gemeten.</a:t>
            </a:r>
          </a:p>
          <a:p xmlns:a="http://schemas.openxmlformats.org/drawingml/2006/main">
            <a:r>
              <a:rPr sz="1400"/>
              <a:t/>
            </a:r>
          </a:p>
          <a:p xmlns:a="http://schemas.openxmlformats.org/drawingml/2006/main">
            <a:r>
              <a:rPr sz="1400"/>
              <a:t>Misvatting: Gebruik de gedrukte boekpagina; hoofdstukpagina 14 heet in het complete boek 66. Laat de nieuwe toepassing geen onbedoelde voorkennistoets worden.</a:t>
            </a:r>
          </a:p>
          <a:p xmlns:a="http://schemas.openxmlformats.org/drawingml/2006/main">
            <a:r>
              <a:rPr sz="1400"/>
              <a:t/>
            </a:r>
          </a:p>
          <a:p xmlns:a="http://schemas.openxmlformats.org/drawingml/2006/main">
            <a:r>
              <a:rPr sz="1400"/>
              <a:t>Overgang: Volg de fase van de klas; rond zo nodig het oefenen in een volgende les af.</a:t>
            </a:r>
          </a:p>
          <a:p xmlns:a="http://schemas.openxmlformats.org/drawingml/2006/main">
            <a:r>
              <a:rPr sz="1400"/>
              <a:t/>
            </a:r>
          </a:p>
          <a:p xmlns:a="http://schemas.openxmlformats.org/drawingml/2006/main">
            <a:r>
              <a:rPr sz="1400"/>
              <a:t>Bron: Boek 4 v3, gedrukte pagina 63–69 van het complete leerlingenboek.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https://github.com/meijer1973/4veco-lessen/blob/e734532a42b27732ac25ce990fc9448b12309d28/edities/books34-v3/books/book-4/chapters/4.2/4.2.2%20manuscript.md</a:t>
            </a:r>
          </a:p>
          <a:p xmlns:a="http://schemas.openxmlformats.org/drawingml/2006/main">
            <a:r>
              <a:rPr sz="1400"/>
              <a:t>Antwoordmodel: https://github.com/meijer1973/4veco-lessen/blob/e734532a42b27732ac25ce990fc9448b12309d28/edities/books34-v3/books/book-4/chapters/4.2/Antwoorden.md#antwoord16</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vergelijking moet je maken vóór je het woord prijsdiscriminatie gebruikt?</a:t>
            </a:r>
          </a:p>
          <a:p xmlns:a="http://schemas.openxmlformats.org/drawingml/2006/main">
            <a:r>
              <a:rPr sz="1400"/>
              <a:t/>
            </a:r>
          </a:p>
          <a:p xmlns:a="http://schemas.openxmlformats.org/drawingml/2006/main">
            <a:r>
              <a:rPr sz="1400"/>
              <a:t>Uitleg: Prijsdiscriminatie betekent verschillende prijzen voor dezelfde dienst zonder dat een verschil in kosten dat verklaart. De drie korte situaties zijn zelfgemaakte herkenningsvoorbeelden. De eerste kan prijsdiscriminatie zijn; de andere twee leveren daarvoor geen voldoende bewijs. De klantnaam of een kortingssticker alleen bewijst niets.</a:t>
            </a:r>
          </a:p>
          <a:p xmlns:a="http://schemas.openxmlformats.org/drawingml/2006/main">
            <a:r>
              <a:rPr sz="1400"/>
              <a:t/>
            </a:r>
          </a:p>
          <a:p xmlns:a="http://schemas.openxmlformats.org/drawingml/2006/main">
            <a:r>
              <a:rPr sz="1400"/>
              <a:t>Misvatting: Een hogere prijs voor een ander product is niet automatisch prijsdiscriminatie.</a:t>
            </a:r>
          </a:p>
          <a:p xmlns:a="http://schemas.openxmlformats.org/drawingml/2006/main">
            <a:r>
              <a:rPr sz="1400"/>
              <a:t/>
            </a:r>
          </a:p>
          <a:p xmlns:a="http://schemas.openxmlformats.org/drawingml/2006/main">
            <a:r>
              <a:rPr sz="1400"/>
              <a:t>Overgang: Bekijk of de aanbieder de verschillende tarieven kan uitvoeren.</a:t>
            </a:r>
          </a:p>
          <a:p xmlns:a="http://schemas.openxmlformats.org/drawingml/2006/main">
            <a:r>
              <a:rPr sz="1400"/>
              <a:t/>
            </a:r>
          </a:p>
          <a:p xmlns:a="http://schemas.openxmlformats.org/drawingml/2006/main">
            <a:r>
              <a:rPr sz="1400"/>
              <a:t>Bron: Boek 4 v3, gedrukte pagina 63 van het complete leerlingenboek.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https://github.com/meijer1973/4veco-lessen/blob/e734532a42b27732ac25ce990fc9448b12309d28/edities/books34-v3/books/book-4/chapters/4.2/4.2.2%20manuscript.md</a:t>
            </a:r>
          </a:p>
          <a:p xmlns:a="http://schemas.openxmlformats.org/drawingml/2006/main">
            <a:r>
              <a:rPr sz="1400"/>
              <a:t>Antwoordmodel: https://github.com/meijer1973/4veco-lessen/blob/e734532a42b27732ac25ce990fc9448b12309d28/edities/books34-v3/books/book-4/chapters/4.2/Antwoorden.md#antwoord16</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Wat gebeurt er als iedereen zonder controle de goedkope pas kan kopen?</a:t>
            </a:r>
          </a:p>
          <a:p xmlns:a="http://schemas.openxmlformats.org/drawingml/2006/main">
            <a:r>
              <a:rPr sz="1400"/>
              <a:t/>
            </a:r>
          </a:p>
          <a:p xmlns:a="http://schemas.openxmlformats.org/drawingml/2006/main">
            <a:r>
              <a:rPr sz="1400"/>
              <a:t>Uitleg: Alle drie voorwaarden zijn nodig. Een persoonlijk gecontroleerd toegangsbewijs helpt groepen te scheiden en doorverkoop te voorkomen. Marktmacht geeft ruimte voor een eigen prijs. Verschil in vraag maakt verschillende tarieven interessant. Een sticker student of volwassene toont niet op zichzelf een elasticiteit aan.</a:t>
            </a:r>
          </a:p>
          <a:p xmlns:a="http://schemas.openxmlformats.org/drawingml/2006/main">
            <a:r>
              <a:rPr sz="1400"/>
              <a:t/>
            </a:r>
          </a:p>
          <a:p xmlns:a="http://schemas.openxmlformats.org/drawingml/2006/main">
            <a:r>
              <a:rPr sz="1400"/>
              <a:t>Misvatting: Groepen een naam geven is niet hetzelfde als groepen werkelijk gescheiden houden.</a:t>
            </a:r>
          </a:p>
          <a:p xmlns:a="http://schemas.openxmlformats.org/drawingml/2006/main">
            <a:r>
              <a:rPr sz="1400"/>
              <a:t/>
            </a:r>
          </a:p>
          <a:p xmlns:a="http://schemas.openxmlformats.org/drawingml/2006/main">
            <a:r>
              <a:rPr sz="1400"/>
              <a:t>Overgang: Pas de bekende monopoliemethode toe op twee afzonderlijke vragen.</a:t>
            </a:r>
          </a:p>
          <a:p xmlns:a="http://schemas.openxmlformats.org/drawingml/2006/main">
            <a:r>
              <a:rPr sz="1400"/>
              <a:t/>
            </a:r>
          </a:p>
          <a:p xmlns:a="http://schemas.openxmlformats.org/drawingml/2006/main">
            <a:r>
              <a:rPr sz="1400"/>
              <a:t>Bron: Boek 4 v3, gedrukte pagina 63 van het complete leerlingenboek.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https://github.com/meijer1973/4veco-lessen/blob/e734532a42b27732ac25ce990fc9448b12309d28/edities/books34-v3/books/book-4/chapters/4.2/4.2.2%20manuscript.md</a:t>
            </a:r>
          </a:p>
          <a:p xmlns:a="http://schemas.openxmlformats.org/drawingml/2006/main">
            <a:r>
              <a:rPr sz="1400"/>
              <a:t>Antwoordmodel: https://github.com/meijer1973/4veco-lessen/blob/e734532a42b27732ac25ce990fc9448b12309d28/edities/books34-v3/books/book-4/chapters/4.2/Antwoorden.md#antwoord16</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kun je hier dezelfde MK gebruiken bij beide groepen?</a:t>
            </a:r>
          </a:p>
          <a:p xmlns:a="http://schemas.openxmlformats.org/drawingml/2006/main">
            <a:r>
              <a:rPr sz="1400"/>
              <a:t/>
            </a:r>
          </a:p>
          <a:p xmlns:a="http://schemas.openxmlformats.org/drawingml/2006/main">
            <a:r>
              <a:rPr sz="1400"/>
              <a:t>Uitleg: Dit is het eigen uitlegvoorbeeld. Beide groepen gebruiken dezelfde dienst tegen dezelfde kosten. Constante gemeenschappelijke MK en een capaciteit van 42 maken afzonderlijk optimaliseren mogelijk. Er zijn geen externe effecten; vraag en kosten blijven in de latere vergelijking gelijk. De domeinen volgen uit niet-negatieve prijzen. De groepsgrenzen zijn geen extra productiecapaciteit.</a:t>
            </a:r>
          </a:p>
          <a:p xmlns:a="http://schemas.openxmlformats.org/drawingml/2006/main">
            <a:r>
              <a:rPr sz="1400"/>
              <a:t/>
            </a:r>
          </a:p>
          <a:p xmlns:a="http://schemas.openxmlformats.org/drawingml/2006/main">
            <a:r>
              <a:rPr sz="1400"/>
              <a:t>Misvatting: Bij MK die afhangt van de totale afzet of een bindende gezamenlijke capaciteit zijn de twee keuzes niet onafhankelijk.</a:t>
            </a:r>
          </a:p>
          <a:p xmlns:a="http://schemas.openxmlformats.org/drawingml/2006/main">
            <a:r>
              <a:rPr sz="1400"/>
              <a:t/>
            </a:r>
          </a:p>
          <a:p xmlns:a="http://schemas.openxmlformats.org/drawingml/2006/main">
            <a:r>
              <a:rPr sz="1400"/>
              <a:t>Overgang: Stel voor elke groep TO en MO op.</a:t>
            </a:r>
          </a:p>
          <a:p xmlns:a="http://schemas.openxmlformats.org/drawingml/2006/main">
            <a:r>
              <a:rPr sz="1400"/>
              <a:t/>
            </a:r>
          </a:p>
          <a:p xmlns:a="http://schemas.openxmlformats.org/drawingml/2006/main">
            <a:r>
              <a:rPr sz="1400"/>
              <a:t>Bron: Boek 4 v3, gedrukte pagina 64–65 van het complete leerlingenboek.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https://github.com/meijer1973/4veco-lessen/blob/e734532a42b27732ac25ce990fc9448b12309d28/edities/books34-v3/books/book-4/chapters/4.2/4.2.2%20manuscript.md</a:t>
            </a:r>
          </a:p>
          <a:p xmlns:a="http://schemas.openxmlformats.org/drawingml/2006/main">
            <a:r>
              <a:rPr sz="1400"/>
              <a:t>Antwoordmodel: https://github.com/meijer1973/4veco-lessen/blob/e734532a42b27732ac25ce990fc9448b12309d28/edities/books34-v3/books/book-4/chapters/4.2/Antwoorden.md#antwoord16</a:t>
            </a:r>
          </a:p>
          <a:p xmlns:a="http://schemas.openxmlformats.org/drawingml/2006/main">
            <a:r>
              <a:rPr sz="1400"/>
              <a:t>Uitlegvoorbeeld — niet uit het boek. Context Sterrenkoepel, functies en getallen zijn voor deze les gemaakt. Het boek onderbouwt uitsluitend de methode.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wordt de coëfficiënt van Q in MO vier?</a:t>
            </a:r>
          </a:p>
          <a:p xmlns:a="http://schemas.openxmlformats.org/drawingml/2006/main">
            <a:r>
              <a:rPr sz="1400"/>
              <a:t/>
            </a:r>
          </a:p>
          <a:p xmlns:a="http://schemas.openxmlformats.org/drawingml/2006/main">
            <a:r>
              <a:rPr sz="1400"/>
              <a:t>Uitleg: Herhaal de route uit §4.1.4: vermenigvuldig P met Q en differentieer TO. Bij een lineaire vraag P = a − bQ wordt MO = a − 2bQ. Leg in woorden uit dat een prijsverlaging ook geldt voor eerdere verkochte bezoeken binnen dezelfde groep. Daarom ligt MO onder de prijs. Elke groep heeft één uniforme prijs.</a:t>
            </a:r>
          </a:p>
          <a:p xmlns:a="http://schemas.openxmlformats.org/drawingml/2006/main">
            <a:r>
              <a:rPr sz="1400"/>
              <a:t/>
            </a:r>
          </a:p>
          <a:p xmlns:a="http://schemas.openxmlformats.org/drawingml/2006/main">
            <a:r>
              <a:rPr sz="1400"/>
              <a:t>Misvatting: MO is niet de vraag en niet de verkoopprijs. De intercept blijft gelijk; de helling verdubbelt.</a:t>
            </a:r>
          </a:p>
          <a:p xmlns:a="http://schemas.openxmlformats.org/drawingml/2006/main">
            <a:r>
              <a:rPr sz="1400"/>
              <a:t/>
            </a:r>
          </a:p>
          <a:p xmlns:a="http://schemas.openxmlformats.org/drawingml/2006/main">
            <a:r>
              <a:rPr sz="1400"/>
              <a:t>Overgang: Kies eerst de hoeveelheden bij MK = 6.</a:t>
            </a:r>
          </a:p>
          <a:p xmlns:a="http://schemas.openxmlformats.org/drawingml/2006/main">
            <a:r>
              <a:rPr sz="1400"/>
              <a:t/>
            </a:r>
          </a:p>
          <a:p xmlns:a="http://schemas.openxmlformats.org/drawingml/2006/main">
            <a:r>
              <a:rPr sz="1400"/>
              <a:t>Bron: Boek 4 v3, gedrukte pagina 64; voorkennis p. 32–33 van het complete leerlingenboek.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https://github.com/meijer1973/4veco-lessen/blob/e734532a42b27732ac25ce990fc9448b12309d28/edities/books34-v3/books/book-4/chapters/4.2/4.2.2%20manuscript.md</a:t>
            </a:r>
          </a:p>
          <a:p xmlns:a="http://schemas.openxmlformats.org/drawingml/2006/main">
            <a:r>
              <a:rPr sz="1400"/>
              <a:t>Antwoordmodel: https://github.com/meijer1973/4veco-lessen/blob/e734532a42b27732ac25ce990fc9448b12309d28/edities/books34-v3/books/book-4/chapters/4.2/Antwoorden.md#antwoord16</a:t>
            </a:r>
          </a:p>
          <a:p xmlns:a="http://schemas.openxmlformats.org/drawingml/2006/main">
            <a:r>
              <a:rPr sz="1400"/>
              <a:t>Uitlegvoorbeeld — niet uit het boek. Context Sterrenkoepel, functies en getallen zijn voor deze les gemaakt. Het boek onderbouwt uitsluitend de methode.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Wat bepaalt het snijpunt: de prijs of de hoeveelheid?</a:t>
            </a:r>
          </a:p>
          <a:p xmlns:a="http://schemas.openxmlformats.org/drawingml/2006/main">
            <a:r>
              <a:rPr sz="1400"/>
              <a:t/>
            </a:r>
          </a:p>
          <a:p xmlns:a="http://schemas.openxmlformats.org/drawingml/2006/main">
            <a:r>
              <a:rPr sz="1400"/>
              <a:t>Uitleg: Groep A: 54 − 4Q_A = 6 → 48 = 4Q_A → Q_A = 12. Groep B: 30 − 4Q_B = 6 → 24 = 4Q_B → Q_B = 6. Hoeveelheden zijn bezoeken per week. MO daalt in beide groepen van boven naar onder MK; vóór het snijpunt verhoogt extra afzet de winst en erna verlaagt die de winst. Samen 18 ≤ 42, dus haalbaar. Beide panelen hebben dezelfde asschalen.</a:t>
            </a:r>
          </a:p>
          <a:p xmlns:a="http://schemas.openxmlformats.org/drawingml/2006/main">
            <a:r>
              <a:rPr sz="1400"/>
              <a:t/>
            </a:r>
          </a:p>
          <a:p xmlns:a="http://schemas.openxmlformats.org/drawingml/2006/main">
            <a:r>
              <a:rPr sz="1400"/>
              <a:t>Misvatting: De € 6 aan het snijpunt is MO en MK, niet de prijs van een toegangsbewijs.</a:t>
            </a:r>
          </a:p>
          <a:p xmlns:a="http://schemas.openxmlformats.org/drawingml/2006/main">
            <a:r>
              <a:rPr sz="1400"/>
              <a:t/>
            </a:r>
          </a:p>
          <a:p xmlns:a="http://schemas.openxmlformats.org/drawingml/2006/main">
            <a:r>
              <a:rPr sz="1400"/>
              <a:t>Overgang: Ga bij dezelfde hoeveelheden omhoog naar de eigen vraaglijn.</a:t>
            </a:r>
          </a:p>
          <a:p xmlns:a="http://schemas.openxmlformats.org/drawingml/2006/main">
            <a:r>
              <a:rPr sz="1400"/>
              <a:t/>
            </a:r>
          </a:p>
          <a:p xmlns:a="http://schemas.openxmlformats.org/drawingml/2006/main">
            <a:r>
              <a:rPr sz="1400"/>
              <a:t>Bron: Boek 4 v3, gedrukte pagina 64 van het complete leerlingenboek.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https://github.com/meijer1973/4veco-lessen/blob/e734532a42b27732ac25ce990fc9448b12309d28/edities/books34-v3/books/book-4/chapters/4.2/4.2.2%20manuscript.md</a:t>
            </a:r>
          </a:p>
          <a:p xmlns:a="http://schemas.openxmlformats.org/drawingml/2006/main">
            <a:r>
              <a:rPr sz="1400"/>
              <a:t>Antwoordmodel: https://github.com/meijer1973/4veco-lessen/blob/e734532a42b27732ac25ce990fc9448b12309d28/edities/books34-v3/books/book-4/chapters/4.2/Antwoorden.md#antwoord16</a:t>
            </a:r>
          </a:p>
          <a:p xmlns:a="http://schemas.openxmlformats.org/drawingml/2006/main">
            <a:r>
              <a:rPr sz="1400"/>
              <a:t>Uitlegvoorbeeld — niet uit het boek. Context Sterrenkoepel, functies en getallen zijn voor deze les gemaakt. Het boek onderbouwt uitsluitend de methode.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 lees je P af nadat je Q hebt gekozen?</a:t>
            </a:r>
          </a:p>
          <a:p xmlns:a="http://schemas.openxmlformats.org/drawingml/2006/main">
            <a:r>
              <a:rPr sz="1400"/>
              <a:t/>
            </a:r>
          </a:p>
          <a:p xmlns:a="http://schemas.openxmlformats.org/drawingml/2006/main">
            <a:r>
              <a:rPr sz="1400"/>
              <a:t>Uitleg: Houd de gekozen hoeveelheid vast. A: P_A = 54 − 2 × 12 = 30 euro per bezoek. B: P_B = 30 − 2 × 6 = 18 euro per bezoek. Controleer door terug te substitueren in de vraag. De panelen gebruiken exact dezelfde schaal als de vorige dia; alleen de prijsgidsen zijn toegevoegd.</a:t>
            </a:r>
          </a:p>
          <a:p xmlns:a="http://schemas.openxmlformats.org/drawingml/2006/main">
            <a:r>
              <a:rPr sz="1400"/>
              <a:t/>
            </a:r>
          </a:p>
          <a:p xmlns:a="http://schemas.openxmlformats.org/drawingml/2006/main">
            <a:r>
              <a:rPr sz="1400"/>
              <a:t>Misvatting: Lees niet P_A af op de vraaglijn van B. Ook bij twee groepen geldt per groep P &gt; MO = MK.</a:t>
            </a:r>
          </a:p>
          <a:p xmlns:a="http://schemas.openxmlformats.org/drawingml/2006/main">
            <a:r>
              <a:rPr sz="1400"/>
              <a:t/>
            </a:r>
          </a:p>
          <a:p xmlns:a="http://schemas.openxmlformats.org/drawingml/2006/main">
            <a:r>
              <a:rPr sz="1400"/>
              <a:t>Overgang: Vergelijk de groepsprijzen met een gegeven gemeenschappelijke prijs.</a:t>
            </a:r>
          </a:p>
          <a:p xmlns:a="http://schemas.openxmlformats.org/drawingml/2006/main">
            <a:r>
              <a:rPr sz="1400"/>
              <a:t/>
            </a:r>
          </a:p>
          <a:p xmlns:a="http://schemas.openxmlformats.org/drawingml/2006/main">
            <a:r>
              <a:rPr sz="1400"/>
              <a:t>Bron: Boek 4 v3, gedrukte pagina 64 van het complete leerlingenboek.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https://github.com/meijer1973/4veco-lessen/blob/e734532a42b27732ac25ce990fc9448b12309d28/edities/books34-v3/books/book-4/chapters/4.2/4.2.2%20manuscript.md</a:t>
            </a:r>
          </a:p>
          <a:p xmlns:a="http://schemas.openxmlformats.org/drawingml/2006/main">
            <a:r>
              <a:rPr sz="1400"/>
              <a:t>Antwoordmodel: https://github.com/meijer1973/4veco-lessen/blob/e734532a42b27732ac25ce990fc9448b12309d28/edities/books34-v3/books/book-4/chapters/4.2/Antwoorden.md#antwoord16</a:t>
            </a:r>
          </a:p>
          <a:p xmlns:a="http://schemas.openxmlformats.org/drawingml/2006/main">
            <a:r>
              <a:rPr sz="1400"/>
              <a:t>Uitlegvoorbeeld — niet uit het boek. Context Sterrenkoepel, functies en getallen zijn voor deze les gemaakt. Het boek onderbouwt uitsluitend de methode.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Hoe vind je de afzet als de gemeenschappelijke prijs al gegeven is?</a:t>
            </a:r>
          </a:p>
          <a:p xmlns:a="http://schemas.openxmlformats.org/drawingml/2006/main">
            <a:r>
              <a:rPr sz="1400"/>
              <a:t/>
            </a:r>
          </a:p>
          <a:p xmlns:a="http://schemas.openxmlformats.org/drawingml/2006/main">
            <a:r>
              <a:rPr sz="1400"/>
              <a:t>Uitleg: De gemeenschappelijke prijs van 24 is gegeven. Los de vraagfuncties op: 24 = 54 − 2Q_A geeft Q_A = 15; 24 = 30 − 2Q_B geeft Q_B = 3. Tel de groepsomzetten op, niet de prijzen. In beide situaties zijn er 18 bezoeken, maar ze zijn anders verdeeld. Gebruik deze eigen getallen om de werkwijze te leren, niet een toegewezen opgave.</a:t>
            </a:r>
          </a:p>
          <a:p xmlns:a="http://schemas.openxmlformats.org/drawingml/2006/main">
            <a:r>
              <a:rPr sz="1400"/>
              <a:t/>
            </a:r>
          </a:p>
          <a:p xmlns:a="http://schemas.openxmlformats.org/drawingml/2006/main">
            <a:r>
              <a:rPr sz="1400"/>
              <a:t>Misvatting: Tel geen prijzen op tot een zogenaamde totaalprijs. TO is de som van P maal Q per groep.</a:t>
            </a:r>
          </a:p>
          <a:p xmlns:a="http://schemas.openxmlformats.org/drawingml/2006/main">
            <a:r>
              <a:rPr sz="1400"/>
              <a:t/>
            </a:r>
          </a:p>
          <a:p xmlns:a="http://schemas.openxmlformats.org/drawingml/2006/main">
            <a:r>
              <a:rPr sz="1400"/>
              <a:t>Overgang: Trek alle kosten één keer af.</a:t>
            </a:r>
          </a:p>
          <a:p xmlns:a="http://schemas.openxmlformats.org/drawingml/2006/main">
            <a:r>
              <a:rPr sz="1400"/>
              <a:t/>
            </a:r>
          </a:p>
          <a:p xmlns:a="http://schemas.openxmlformats.org/drawingml/2006/main">
            <a:r>
              <a:rPr sz="1400"/>
              <a:t>Bron: Boek 4 v3, gedrukte pagina 64–65 van het complete leerlingenboek.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https://github.com/meijer1973/4veco-lessen/blob/e734532a42b27732ac25ce990fc9448b12309d28/edities/books34-v3/books/book-4/chapters/4.2/4.2.2%20manuscript.md</a:t>
            </a:r>
          </a:p>
          <a:p xmlns:a="http://schemas.openxmlformats.org/drawingml/2006/main">
            <a:r>
              <a:rPr sz="1400"/>
              <a:t>Antwoordmodel: https://github.com/meijer1973/4veco-lessen/blob/e734532a42b27732ac25ce990fc9448b12309d28/edities/books34-v3/books/book-4/chapters/4.2/Antwoorden.md#antwoord16</a:t>
            </a:r>
          </a:p>
          <a:p xmlns:a="http://schemas.openxmlformats.org/drawingml/2006/main">
            <a:r>
              <a:rPr sz="1400"/>
              <a:t>Uitlegvoorbeeld — niet uit het boek. Context Sterrenkoepel, functies en getallen zijn voor deze les gemaakt. Het boek onderbouwt uitsluitend de methode.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verandert TK hier niet door de groepsprijzen?</a:t>
            </a:r>
          </a:p>
          <a:p xmlns:a="http://schemas.openxmlformats.org/drawingml/2006/main">
            <a:r>
              <a:rPr sz="1400"/>
              <a:t/>
            </a:r>
          </a:p>
          <a:p xmlns:a="http://schemas.openxmlformats.org/drawingml/2006/main">
            <a:r>
              <a:rPr sz="1400"/>
              <a:t>Uitleg: De extra omzet komt hier geheel in de winst terecht doordat de totale afzet en kosten gelijk blijven. Trek de gezamenlijke 72 niet bij elke groep afzonderlijk af. Totale kosten bevatten naast TCK ook TVK. Een berekening TO − TCK laat variabele kosten weg.</a:t>
            </a:r>
          </a:p>
          <a:p xmlns:a="http://schemas.openxmlformats.org/drawingml/2006/main">
            <a:r>
              <a:rPr sz="1400"/>
              <a:t/>
            </a:r>
          </a:p>
          <a:p xmlns:a="http://schemas.openxmlformats.org/drawingml/2006/main">
            <a:r>
              <a:rPr sz="1400"/>
              <a:t>Misvatting: Constante MK betekent niet dat TK constant is; hier is juist de totale hoeveelheid gelijk.</a:t>
            </a:r>
          </a:p>
          <a:p xmlns:a="http://schemas.openxmlformats.org/drawingml/2006/main">
            <a:r>
              <a:rPr sz="1400"/>
              <a:t/>
            </a:r>
          </a:p>
          <a:p xmlns:a="http://schemas.openxmlformats.org/drawingml/2006/main">
            <a:r>
              <a:rPr sz="1400"/>
              <a:t>Overgang: Bekijk nu de gevolgen voor de kopers.</a:t>
            </a:r>
          </a:p>
          <a:p xmlns:a="http://schemas.openxmlformats.org/drawingml/2006/main">
            <a:r>
              <a:rPr sz="1400"/>
              <a:t/>
            </a:r>
          </a:p>
          <a:p xmlns:a="http://schemas.openxmlformats.org/drawingml/2006/main">
            <a:r>
              <a:rPr sz="1400"/>
              <a:t>Bron: Boek 4 v3, gedrukte pagina 64–65 van het complete leerlingenboek.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https://github.com/meijer1973/4veco-lessen/blob/e734532a42b27732ac25ce990fc9448b12309d28/edities/books34-v3/books/book-4/chapters/4.2/4.2.2%20manuscript.md</a:t>
            </a:r>
          </a:p>
          <a:p xmlns:a="http://schemas.openxmlformats.org/drawingml/2006/main">
            <a:r>
              <a:rPr sz="1400"/>
              <a:t>Antwoordmodel: https://github.com/meijer1973/4veco-lessen/blob/e734532a42b27732ac25ce990fc9448b12309d28/edities/books34-v3/books/book-4/chapters/4.2/Antwoorden.md#antwoord16</a:t>
            </a:r>
          </a:p>
          <a:p xmlns:a="http://schemas.openxmlformats.org/drawingml/2006/main">
            <a:r>
              <a:rPr sz="1400"/>
              <a:t>Uitlegvoorbeeld — niet uit het boek. Context Sterrenkoepel, functies en getallen zijn voor deze les gemaakt. Het boek onderbouwt uitsluitend de methode.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zegt korting voor B niets over het voordeel van A?</a:t>
            </a:r>
          </a:p>
          <a:p xmlns:a="http://schemas.openxmlformats.org/drawingml/2006/main">
            <a:r>
              <a:rPr sz="1400"/>
              <a:t/>
            </a:r>
          </a:p>
          <a:p xmlns:a="http://schemas.openxmlformats.org/drawingml/2006/main">
            <a:r>
              <a:rPr sz="1400"/>
              <a:t>Uitleg: Herhaal CS als de driehoek onder vraag en boven de betaalde prijs tot de verkochte hoeveelheid. De hoogte is het prijsintercept minus de prijs: A eerst 54 − 24 = 30 en daarna 54 − 30 = 24. B eerst 30 − 24 = 6 en daarna 30 − 18 = 12. A verliest 81 en B wint 27 euro, samen een daling van 54. Bespreek de prijs en de afzet van beide groepen afzonderlijk.</a:t>
            </a:r>
          </a:p>
          <a:p xmlns:a="http://schemas.openxmlformats.org/drawingml/2006/main">
            <a:r>
              <a:rPr sz="1400"/>
              <a:t/>
            </a:r>
          </a:p>
          <a:p xmlns:a="http://schemas.openxmlformats.org/drawingml/2006/main">
            <a:r>
              <a:rPr sz="1400"/>
              <a:t>Misvatting: Gebruik voor de driehoek niet MK als ondergrens; CS gaat over betalingsbereidheid boven de prijs.</a:t>
            </a:r>
          </a:p>
          <a:p xmlns:a="http://schemas.openxmlformats.org/drawingml/2006/main">
            <a:r>
              <a:rPr sz="1400"/>
              <a:t/>
            </a:r>
          </a:p>
          <a:p xmlns:a="http://schemas.openxmlformats.org/drawingml/2006/main">
            <a:r>
              <a:rPr sz="1400"/>
              <a:t>Overgang: Tel het producentenvoordeel bij CS op.</a:t>
            </a:r>
          </a:p>
          <a:p xmlns:a="http://schemas.openxmlformats.org/drawingml/2006/main">
            <a:r>
              <a:rPr sz="1400"/>
              <a:t/>
            </a:r>
          </a:p>
          <a:p xmlns:a="http://schemas.openxmlformats.org/drawingml/2006/main">
            <a:r>
              <a:rPr sz="1400"/>
              <a:t>Bron: Boek 4 v3, gedrukte pagina 65; voorkennis p. 55–57 van het complete leerlingenboek.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https://github.com/meijer1973/4veco-lessen/blob/e734532a42b27732ac25ce990fc9448b12309d28/edities/books34-v3/books/book-4/chapters/4.2/4.2.2%20manuscript.md</a:t>
            </a:r>
          </a:p>
          <a:p xmlns:a="http://schemas.openxmlformats.org/drawingml/2006/main">
            <a:r>
              <a:rPr sz="1400"/>
              <a:t>Antwoordmodel: https://github.com/meijer1973/4veco-lessen/blob/e734532a42b27732ac25ce990fc9448b12309d28/edities/books34-v3/books/book-4/chapters/4.2/Antwoorden.md#antwoord16</a:t>
            </a:r>
          </a:p>
          <a:p xmlns:a="http://schemas.openxmlformats.org/drawingml/2006/main">
            <a:r>
              <a:rPr sz="1400"/>
              <a:t>Uitlegvoorbeeld — niet uit het boek. Context Sterrenkoepel, functies en getallen zijn voor deze les gemaakt. Het boek onderbouwt uitsluitend de methode.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is een winststijging op zichzelf geen welvaartsbewijs?</a:t>
            </a:r>
          </a:p>
          <a:p xmlns:a="http://schemas.openxmlformats.org/drawingml/2006/main">
            <a:r>
              <a:rPr sz="1400"/>
              <a:t/>
            </a:r>
          </a:p>
          <a:p xmlns:a="http://schemas.openxmlformats.org/drawingml/2006/main">
            <a:r>
              <a:rPr sz="1400"/>
              <a:t>Uitleg: PS laat de constante kosten nog buiten beschouwing. Trek daarom voor winst de 72 af van PS, niet nogmaals van TS in deze definitie. TS daalt ondanks gelijke afzet: de bezoeken zijn anders over A en B verdeeld. Vraag en kosten veranderen niet en er zijn geen externe effecten; TCK is in beide situaties hetzelfde. Dit voorbeeld levert een uitkomst voor dit geval, geen algemene wet dat prijsdiscriminatie altijd TS verlaagt.</a:t>
            </a:r>
          </a:p>
          <a:p xmlns:a="http://schemas.openxmlformats.org/drawingml/2006/main">
            <a:r>
              <a:rPr sz="1400"/>
              <a:t/>
            </a:r>
          </a:p>
          <a:p xmlns:a="http://schemas.openxmlformats.org/drawingml/2006/main">
            <a:r>
              <a:rPr sz="1400"/>
              <a:t>Misvatting: Gebruik in TS het producentensurplus, niet de winst. Een constant totaal aantal transacties garandeert geen gelijk TS.</a:t>
            </a:r>
          </a:p>
          <a:p xmlns:a="http://schemas.openxmlformats.org/drawingml/2006/main">
            <a:r>
              <a:rPr sz="1400"/>
              <a:t/>
            </a:r>
          </a:p>
          <a:p xmlns:a="http://schemas.openxmlformats.org/drawingml/2006/main">
            <a:r>
              <a:rPr sz="1400"/>
              <a:t>Overgang: Leg de verschillen tussen groepen uit zonder etiketten te gebruiken.</a:t>
            </a:r>
          </a:p>
          <a:p xmlns:a="http://schemas.openxmlformats.org/drawingml/2006/main">
            <a:r>
              <a:rPr sz="1400"/>
              <a:t/>
            </a:r>
          </a:p>
          <a:p xmlns:a="http://schemas.openxmlformats.org/drawingml/2006/main">
            <a:r>
              <a:rPr sz="1400"/>
              <a:t>Bron: Boek 4 v3, gedrukte pagina 65; voorkennis p. 55 van het complete leerlingenboek.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https://github.com/meijer1973/4veco-lessen/blob/e734532a42b27732ac25ce990fc9448b12309d28/edities/books34-v3/books/book-4/chapters/4.2/4.2.2%20manuscript.md</a:t>
            </a:r>
          </a:p>
          <a:p xmlns:a="http://schemas.openxmlformats.org/drawingml/2006/main">
            <a:r>
              <a:rPr sz="1400"/>
              <a:t>Antwoordmodel: https://github.com/meijer1973/4veco-lessen/blob/e734532a42b27732ac25ce990fc9448b12309d28/edities/books34-v3/books/book-4/chapters/4.2/Antwoorden.md#antwoord16</a:t>
            </a:r>
          </a:p>
          <a:p xmlns:a="http://schemas.openxmlformats.org/drawingml/2006/main">
            <a:r>
              <a:rPr sz="1400"/>
              <a:t>Uitlegvoorbeeld — niet uit het boek. Context Sterrenkoepel, functies en getallen zijn voor deze les gemaakt. Het boek onderbouwt uitsluitend de methode.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informatie heb je nodig om prijsgevoeligheid te onderbouwen?</a:t>
            </a:r>
          </a:p>
          <a:p xmlns:a="http://schemas.openxmlformats.org/drawingml/2006/main">
            <a:r>
              <a:rPr sz="1400"/>
              <a:t/>
            </a:r>
          </a:p>
          <a:p xmlns:a="http://schemas.openxmlformats.org/drawingml/2006/main">
            <a:r>
              <a:rPr sz="1400"/>
              <a:t>Uitleg: Prijsgevoeligheid gaat over reacties, niet over de groepsnaam. Een groep met meer goede alternatieven kan sterker afhaken bij een prijsverhoging. Gebruik brongegevens om dit te onderbouwen. Dezelfde helling kan bij verschillende P en Q samengaan met andere procentuele reacties. Leid geen nieuwe elasticiteitsformule af. Voor de oefenvragen gebruiken we de gegeven vraagfuncties.</a:t>
            </a:r>
          </a:p>
          <a:p xmlns:a="http://schemas.openxmlformats.org/drawingml/2006/main">
            <a:r>
              <a:rPr sz="1400"/>
              <a:t/>
            </a:r>
          </a:p>
          <a:p xmlns:a="http://schemas.openxmlformats.org/drawingml/2006/main">
            <a:r>
              <a:rPr sz="1400"/>
              <a:t>Misvatting: Studenten zijn niet per definitie in iedere context de prijsgevoeligste groep.</a:t>
            </a:r>
          </a:p>
          <a:p xmlns:a="http://schemas.openxmlformats.org/drawingml/2006/main">
            <a:r>
              <a:rPr sz="1400"/>
              <a:t/>
            </a:r>
          </a:p>
          <a:p xmlns:a="http://schemas.openxmlformats.org/drawingml/2006/main">
            <a:r>
              <a:rPr sz="1400"/>
              <a:t>Overgang: Controleer kort de drie stappen van de berekening.</a:t>
            </a:r>
          </a:p>
          <a:p xmlns:a="http://schemas.openxmlformats.org/drawingml/2006/main">
            <a:r>
              <a:rPr sz="1400"/>
              <a:t/>
            </a:r>
          </a:p>
          <a:p xmlns:a="http://schemas.openxmlformats.org/drawingml/2006/main">
            <a:r>
              <a:rPr sz="1400"/>
              <a:t>Bron: Boek 4 v3, gedrukte pagina 68 van het complete leerlingenboek.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https://github.com/meijer1973/4veco-lessen/blob/e734532a42b27732ac25ce990fc9448b12309d28/edities/books34-v3/books/book-4/chapters/4.2/4.2.2%20manuscript.md</a:t>
            </a:r>
          </a:p>
          <a:p xmlns:a="http://schemas.openxmlformats.org/drawingml/2006/main">
            <a:r>
              <a:rPr sz="1400"/>
              <a:t>Antwoordmodel: https://github.com/meijer1973/4veco-lessen/blob/e734532a42b27732ac25ce990fc9448b12309d28/edities/books34-v3/books/book-4/chapters/4.2/Antwoorden.md#antwoord16</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stap zou je in je eigen werk extra controleren?</a:t>
            </a:r>
          </a:p>
          <a:p xmlns:a="http://schemas.openxmlformats.org/drawingml/2006/main">
            <a:r>
              <a:rPr sz="1400"/>
              <a:t/>
            </a:r>
          </a:p>
          <a:p xmlns:a="http://schemas.openxmlformats.org/drawingml/2006/main">
            <a:r>
              <a:rPr sz="1400"/>
              <a:t>Uitleg: Laat leerlingen kort denken en mondeling antwoorden voordat je de volgende dia toont. Dit is een controle op het eigen uitlegvoorbeeld, geen extra huiswerkopgave.</a:t>
            </a:r>
          </a:p>
          <a:p xmlns:a="http://schemas.openxmlformats.org/drawingml/2006/main">
            <a:r>
              <a:rPr sz="1400"/>
              <a:t/>
            </a:r>
          </a:p>
          <a:p xmlns:a="http://schemas.openxmlformats.org/drawingml/2006/main">
            <a:r>
              <a:rPr sz="1400"/>
              <a:t>Misvatting: Een juist eindgetal zonder juiste grootheid of eenheid is onvoldoende.</a:t>
            </a:r>
          </a:p>
          <a:p xmlns:a="http://schemas.openxmlformats.org/drawingml/2006/main">
            <a:r>
              <a:rPr sz="1400"/>
              <a:t/>
            </a:r>
          </a:p>
          <a:p xmlns:a="http://schemas.openxmlformats.org/drawingml/2006/main">
            <a:r>
              <a:rPr sz="1400"/>
              <a:t>Overgang: Onthul de antwoorden na de reacties.</a:t>
            </a:r>
          </a:p>
          <a:p xmlns:a="http://schemas.openxmlformats.org/drawingml/2006/main">
            <a:r>
              <a:rPr sz="1400"/>
              <a:t/>
            </a:r>
          </a:p>
          <a:p xmlns:a="http://schemas.openxmlformats.org/drawingml/2006/main">
            <a:r>
              <a:rPr sz="1400"/>
              <a:t>Bron: Boek 4 v3, gedrukte pagina 63–65 van het complete leerlingenboek.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https://github.com/meijer1973/4veco-lessen/blob/e734532a42b27732ac25ce990fc9448b12309d28/edities/books34-v3/books/book-4/chapters/4.2/4.2.2%20manuscript.md</a:t>
            </a:r>
          </a:p>
          <a:p xmlns:a="http://schemas.openxmlformats.org/drawingml/2006/main">
            <a:r>
              <a:rPr sz="1400"/>
              <a:t>Antwoordmodel: https://github.com/meijer1973/4veco-lessen/blob/e734532a42b27732ac25ce990fc9448b12309d28/edities/books34-v3/books/book-4/chapters/4.2/Antwoorden.md#antwoord16</a:t>
            </a:r>
          </a:p>
          <a:p xmlns:a="http://schemas.openxmlformats.org/drawingml/2006/main">
            <a:r>
              <a:rPr sz="1400"/>
              <a:t>Uitlegvoorbeeld — niet uit het boek. Context Sterrenkoepel, functies en getallen zijn voor deze les gemaakt. Het boek onderbouwt uitsluitend de methode.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stap zou je in je eigen werk extra controleren?</a:t>
            </a:r>
          </a:p>
          <a:p xmlns:a="http://schemas.openxmlformats.org/drawingml/2006/main">
            <a:r>
              <a:rPr sz="1400"/>
              <a:t/>
            </a:r>
          </a:p>
          <a:p xmlns:a="http://schemas.openxmlformats.org/drawingml/2006/main">
            <a:r>
              <a:rPr sz="1400"/>
              <a:t>Uitleg: Antwoorden: MO is niet P; lees P op de eigen vraag. TCK eenmaal voor het hele bedrijf. Controleer CS en PS en dus TS, met dezelfde aannames. Laat de klas nu 10b en 11 opnieuw beantwoorden met wat net is uitgelegd; bespreek alleen daarna de eerder gemaakte startvragen.</a:t>
            </a:r>
          </a:p>
          <a:p xmlns:a="http://schemas.openxmlformats.org/drawingml/2006/main">
            <a:r>
              <a:rPr sz="1400"/>
              <a:t/>
            </a:r>
          </a:p>
          <a:p xmlns:a="http://schemas.openxmlformats.org/drawingml/2006/main">
            <a:r>
              <a:rPr sz="1400"/>
              <a:t>Misvatting: Een juist eindgetal zonder juiste grootheid of eenheid is onvoldoende.</a:t>
            </a:r>
          </a:p>
          <a:p xmlns:a="http://schemas.openxmlformats.org/drawingml/2006/main">
            <a:r>
              <a:rPr sz="1400"/>
              <a:t/>
            </a:r>
          </a:p>
          <a:p xmlns:a="http://schemas.openxmlformats.org/drawingml/2006/main">
            <a:r>
              <a:rPr sz="1400"/>
              <a:t>Overgang: Laat het overzicht staan tijdens basis, zelfstandig werk en doelopgave.</a:t>
            </a:r>
          </a:p>
          <a:p xmlns:a="http://schemas.openxmlformats.org/drawingml/2006/main">
            <a:r>
              <a:rPr sz="1400"/>
              <a:t/>
            </a:r>
          </a:p>
          <a:p xmlns:a="http://schemas.openxmlformats.org/drawingml/2006/main">
            <a:r>
              <a:rPr sz="1400"/>
              <a:t>Bron: Boek 4 v3, gedrukte pagina 63–65 van het complete leerlingenboek.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https://github.com/meijer1973/4veco-lessen/blob/e734532a42b27732ac25ce990fc9448b12309d28/edities/books34-v3/books/book-4/chapters/4.2/4.2.2%20manuscript.md</a:t>
            </a:r>
          </a:p>
          <a:p xmlns:a="http://schemas.openxmlformats.org/drawingml/2006/main">
            <a:r>
              <a:rPr sz="1400"/>
              <a:t>Antwoordmodel: https://github.com/meijer1973/4veco-lessen/blob/e734532a42b27732ac25ce990fc9448b12309d28/edities/books34-v3/books/book-4/chapters/4.2/Antwoorden.md#antwoord16</a:t>
            </a:r>
          </a:p>
          <a:p xmlns:a="http://schemas.openxmlformats.org/drawingml/2006/main">
            <a:r>
              <a:rPr sz="1400"/>
              <a:t>Uitlegvoorbeeld — niet uit het boek. Context Sterrenkoepel, functies en getallen zijn voor deze les gemaakt. Het boek onderbouwt uitsluitend de methode.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theoriepassage helpt bij je twijfel?</a:t>
            </a:r>
          </a:p>
          <a:p xmlns:a="http://schemas.openxmlformats.org/drawingml/2006/main">
            <a:r>
              <a:rPr sz="1400"/>
              <a:t/>
            </a:r>
          </a:p>
          <a:p xmlns:a="http://schemas.openxmlformats.org/drawingml/2006/main">
            <a:r>
              <a:rPr sz="1400"/>
              <a:t>Uitleg: Laat het overzicht staan tijdens zelfstandig werken. Start 10–11 op p. 66; basis 12 op p. 66 en 13 op p. 67; zelfstandig 14 op p. 67 en 15 op p. 68; doel 16 op p. 69. Huiswerk 12 t/m 16 maken en nakijken. Bonus 17 en herhaling 18 zijn extra. Start 10a herhaalt TO, TK en winst uit §4.1.4. Twee groepen als één bedrijf met één TCK is een nieuwe toepassing: verwijs voor 10b naar de formule en het kader op p. 64. Prijsdiscriminatie is nieuw bij 11: laat leerlingen de definitie en kostenwaarschuwing op p. 63 gebruiken. Dit is ondersteund verkennen, geen toets van beheerste nieuwe leerstof. Laat vóór basiswerk beide startvragen opnieuw bekijken en een twijfel verbeteren. De docent kan daarna de startantwoorden bespreken: 10 TO 520, TK 240, winst 280 euro per week; 11 alleen A. Geef die antwoorden niet vooraf. De handleiding reserveert voorlopig twee keer 55 minuten; de lesgrens is flexibel en de tijd is niet gemeten.</a:t>
            </a:r>
          </a:p>
          <a:p xmlns:a="http://schemas.openxmlformats.org/drawingml/2006/main">
            <a:r>
              <a:rPr sz="1400"/>
              <a:t/>
            </a:r>
          </a:p>
          <a:p xmlns:a="http://schemas.openxmlformats.org/drawingml/2006/main">
            <a:r>
              <a:rPr sz="1400"/>
              <a:t>Misvatting: Gebruik de gedrukte boekpagina; hoofdstukpagina 14 heet in het complete boek 66. Laat de nieuwe toepassing geen onbedoelde voorkennistoets worden.</a:t>
            </a:r>
          </a:p>
          <a:p xmlns:a="http://schemas.openxmlformats.org/drawingml/2006/main">
            <a:r>
              <a:rPr sz="1400"/>
              <a:t/>
            </a:r>
          </a:p>
          <a:p xmlns:a="http://schemas.openxmlformats.org/drawingml/2006/main">
            <a:r>
              <a:rPr sz="1400"/>
              <a:t>Overgang: Volg de fase van de klas; rond zo nodig het oefenen in een volgende les af.</a:t>
            </a:r>
          </a:p>
          <a:p xmlns:a="http://schemas.openxmlformats.org/drawingml/2006/main">
            <a:r>
              <a:rPr sz="1400"/>
              <a:t/>
            </a:r>
          </a:p>
          <a:p xmlns:a="http://schemas.openxmlformats.org/drawingml/2006/main">
            <a:r>
              <a:rPr sz="1400"/>
              <a:t>Bron: Boek 4 v3, gedrukte pagina 63–69 van het complete leerlingenboek.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https://github.com/meijer1973/4veco-lessen/blob/e734532a42b27732ac25ce990fc9448b12309d28/edities/books34-v3/books/book-4/chapters/4.2/4.2.2%20manuscript.md</a:t>
            </a:r>
          </a:p>
          <a:p xmlns:a="http://schemas.openxmlformats.org/drawingml/2006/main">
            <a:r>
              <a:rPr sz="1400"/>
              <a:t>Antwoordmodel: https://github.com/meijer1973/4veco-lessen/blob/e734532a42b27732ac25ce990fc9448b12309d28/edities/books34-v3/books/book-4/chapters/4.2/Antwoorden.md#antwoord16</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informatie gaat over de uitvoerbaarheid van verschillende tarieven?</a:t>
            </a:r>
          </a:p>
          <a:p xmlns:a="http://schemas.openxmlformats.org/drawingml/2006/main">
            <a:r>
              <a:rPr sz="1400"/>
              <a:t/>
            </a:r>
          </a:p>
          <a:p xmlns:a="http://schemas.openxmlformats.org/drawingml/2006/main">
            <a:r>
              <a:rPr sz="1400"/>
              <a:t>Uitleg: Dit is de daadwerkelijke bron A van doelopgave 16, opgesplitst over deze en de volgende dia. De bespreking volgt op eigen werk. Toon eerst beide bronnen, de basisfiguur en alle vijf deelvragen zonder oplossing. De TCK geldt gezamenlijk.</a:t>
            </a:r>
          </a:p>
          <a:p xmlns:a="http://schemas.openxmlformats.org/drawingml/2006/main">
            <a:r>
              <a:rPr sz="1400"/>
              <a:t/>
            </a:r>
          </a:p>
          <a:p xmlns:a="http://schemas.openxmlformats.org/drawingml/2006/main">
            <a:r>
              <a:rPr sz="1400"/>
              <a:t>Misvatting: De context en gegevens zijn nu FilmLab, niet meer Sterrenkoepel.</a:t>
            </a:r>
          </a:p>
          <a:p xmlns:a="http://schemas.openxmlformats.org/drawingml/2006/main">
            <a:r>
              <a:rPr sz="1400"/>
              <a:t/>
            </a:r>
          </a:p>
          <a:p xmlns:a="http://schemas.openxmlformats.org/drawingml/2006/main">
            <a:r>
              <a:rPr sz="1400"/>
              <a:t>Overgang: Toon de vraagfuncties en de nog niet ingevulde figuur.</a:t>
            </a:r>
          </a:p>
          <a:p xmlns:a="http://schemas.openxmlformats.org/drawingml/2006/main">
            <a:r>
              <a:rPr sz="1400"/>
              <a:t/>
            </a:r>
          </a:p>
          <a:p xmlns:a="http://schemas.openxmlformats.org/drawingml/2006/main">
            <a:r>
              <a:rPr sz="1400"/>
              <a:t>Bron: Boek 4 v3, gedrukte pagina 69 van het complete leerlingenboek.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https://github.com/meijer1973/4veco-lessen/blob/e734532a42b27732ac25ce990fc9448b12309d28/edities/books34-v3/books/book-4/chapters/4.2/4.2.2%20manuscript.md</a:t>
            </a:r>
          </a:p>
          <a:p xmlns:a="http://schemas.openxmlformats.org/drawingml/2006/main">
            <a:r>
              <a:rPr sz="1400"/>
              <a:t>Antwoordmodel: https://github.com/meijer1973/4veco-lessen/blob/e734532a42b27732ac25ce990fc9448b12309d28/edities/books34-v3/books/book-4/chapters/4.2/Antwoorden.md#antwoord16</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 hoort straks de prijs van iedere groep?</a:t>
            </a:r>
          </a:p>
          <a:p xmlns:a="http://schemas.openxmlformats.org/drawingml/2006/main">
            <a:r>
              <a:rPr sz="1400"/>
              <a:t/>
            </a:r>
          </a:p>
          <a:p xmlns:a="http://schemas.openxmlformats.org/drawingml/2006/main">
            <a:r>
              <a:rPr sz="1400"/>
              <a:t>Uitleg: De figuur is figuur 10 uit het boek, opnieuw opgebouwd als twee bewerkbare XY-grafieken met dezelfde vraag-, MO- en MK-lijnen en schaal. P, MO en MK zijn euro per bezoek; Q_A en Q_B zijn bezoeken per week. De doelhoeveelheden en prijzen zijn nog niet gemarkeerd. De domeinen van de vraag zijn 0–40 en 0–24. De gezamenlijke capaciteit is 64.</a:t>
            </a:r>
          </a:p>
          <a:p xmlns:a="http://schemas.openxmlformats.org/drawingml/2006/main">
            <a:r>
              <a:rPr sz="1400"/>
              <a:t/>
            </a:r>
          </a:p>
          <a:p xmlns:a="http://schemas.openxmlformats.org/drawingml/2006/main">
            <a:r>
              <a:rPr sz="1400"/>
              <a:t>Misvatting: Dit is geen oplossingsfiguur. Toon nog geen keuze of prijspunt.</a:t>
            </a:r>
          </a:p>
          <a:p xmlns:a="http://schemas.openxmlformats.org/drawingml/2006/main">
            <a:r>
              <a:rPr sz="1400"/>
              <a:t/>
            </a:r>
          </a:p>
          <a:p xmlns:a="http://schemas.openxmlformats.org/drawingml/2006/main">
            <a:r>
              <a:rPr sz="1400"/>
              <a:t>Overgang: Toon bron B met de gemeenschappelijke prijs en het gegeven CS.</a:t>
            </a:r>
          </a:p>
          <a:p xmlns:a="http://schemas.openxmlformats.org/drawingml/2006/main">
            <a:r>
              <a:rPr sz="1400"/>
              <a:t/>
            </a:r>
          </a:p>
          <a:p xmlns:a="http://schemas.openxmlformats.org/drawingml/2006/main">
            <a:r>
              <a:rPr sz="1400"/>
              <a:t>Bron: Boek 4 v3, gedrukte pagina 69 van het complete leerlingenboek.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https://github.com/meijer1973/4veco-lessen/blob/e734532a42b27732ac25ce990fc9448b12309d28/edities/books34-v3/books/book-4/chapters/4.2/4.2.2%20manuscript.md</a:t>
            </a:r>
          </a:p>
          <a:p xmlns:a="http://schemas.openxmlformats.org/drawingml/2006/main">
            <a:r>
              <a:rPr sz="1400"/>
              <a:t>Antwoordmodel: https://github.com/meijer1973/4veco-lessen/blob/e734532a42b27732ac25ce990fc9448b12309d28/edities/books34-v3/books/book-4/chapters/4.2/Antwoorden.md#antwoord16</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 bedrag hoef je niet met een optimalisatie opnieuw te bepalen?</a:t>
            </a:r>
          </a:p>
          <a:p xmlns:a="http://schemas.openxmlformats.org/drawingml/2006/main">
            <a:r>
              <a:rPr sz="1400"/>
              <a:t/>
            </a:r>
          </a:p>
          <a:p xmlns:a="http://schemas.openxmlformats.org/drawingml/2006/main">
            <a:r>
              <a:rPr sz="1400"/>
              <a:t>Uitleg: Deze gegevens zijn bron B uit het boek. De twee CS-bedragen zijn gegeven, geen voortijdige uitwerking. De overige uitkomsten komen pas na de vragendia’s. Alle vergelijkingen gaan over dezelfde week en dezelfde vraag en kosten.</a:t>
            </a:r>
          </a:p>
          <a:p xmlns:a="http://schemas.openxmlformats.org/drawingml/2006/main">
            <a:r>
              <a:rPr sz="1400"/>
              <a:t/>
            </a:r>
          </a:p>
          <a:p xmlns:a="http://schemas.openxmlformats.org/drawingml/2006/main">
            <a:r>
              <a:rPr sz="1400"/>
              <a:t>Misvatting: Het CS van 160 geldt bij de afzonderlijk winstmaximale groepsprijzen, niet bij willekeurige twee prijzen.</a:t>
            </a:r>
          </a:p>
          <a:p xmlns:a="http://schemas.openxmlformats.org/drawingml/2006/main">
            <a:r>
              <a:rPr sz="1400"/>
              <a:t/>
            </a:r>
          </a:p>
          <a:p xmlns:a="http://schemas.openxmlformats.org/drawingml/2006/main">
            <a:r>
              <a:rPr sz="1400"/>
              <a:t>Overgang: Toon eerst deelvragen a, b en c.</a:t>
            </a:r>
          </a:p>
          <a:p xmlns:a="http://schemas.openxmlformats.org/drawingml/2006/main">
            <a:r>
              <a:rPr sz="1400"/>
              <a:t/>
            </a:r>
          </a:p>
          <a:p xmlns:a="http://schemas.openxmlformats.org/drawingml/2006/main">
            <a:r>
              <a:rPr sz="1400"/>
              <a:t>Bron: Boek 4 v3, gedrukte pagina 69 van het complete leerlingenboek.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https://github.com/meijer1973/4veco-lessen/blob/e734532a42b27732ac25ce990fc9448b12309d28/edities/books34-v3/books/book-4/chapters/4.2/4.2.2%20manuscript.md</a:t>
            </a:r>
          </a:p>
          <a:p xmlns:a="http://schemas.openxmlformats.org/drawingml/2006/main">
            <a:r>
              <a:rPr sz="1400"/>
              <a:t>Antwoordmodel: https://github.com/meijer1973/4veco-lessen/blob/e734532a42b27732ac25ce990fc9448b12309d28/edities/books34-v3/books/book-4/chapters/4.2/Antwoorden.md#antwoord16</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verschillende grootheden vraagt a?</a:t>
            </a:r>
          </a:p>
          <a:p xmlns:a="http://schemas.openxmlformats.org/drawingml/2006/main">
            <a:r>
              <a:rPr sz="1400"/>
              <a:t/>
            </a:r>
          </a:p>
          <a:p xmlns:a="http://schemas.openxmlformats.org/drawingml/2006/main">
            <a:r>
              <a:rPr sz="1400"/>
              <a:t>Uitleg: Deelvragen a, b en c zijn volledig weergegeven. Laat leerlingen hun gemaakte werk erbij nemen, maar onthul nog geen antwoorden. Ook d en e moeten eerst beschikbaar zijn.</a:t>
            </a:r>
          </a:p>
          <a:p xmlns:a="http://schemas.openxmlformats.org/drawingml/2006/main">
            <a:r>
              <a:rPr sz="1400"/>
              <a:t/>
            </a:r>
          </a:p>
          <a:p xmlns:a="http://schemas.openxmlformats.org/drawingml/2006/main">
            <a:r>
              <a:rPr sz="1400"/>
              <a:t>Misvatting: Een prijs is geen hoeveelheid en omzet is geen winst.</a:t>
            </a:r>
          </a:p>
          <a:p xmlns:a="http://schemas.openxmlformats.org/drawingml/2006/main">
            <a:r>
              <a:rPr sz="1400"/>
              <a:t/>
            </a:r>
          </a:p>
          <a:p xmlns:a="http://schemas.openxmlformats.org/drawingml/2006/main">
            <a:r>
              <a:rPr sz="1400"/>
              <a:t>Overgang: Toon ook d en e vóór de eerste uitwerking.</a:t>
            </a:r>
          </a:p>
          <a:p xmlns:a="http://schemas.openxmlformats.org/drawingml/2006/main">
            <a:r>
              <a:rPr sz="1400"/>
              <a:t/>
            </a:r>
          </a:p>
          <a:p xmlns:a="http://schemas.openxmlformats.org/drawingml/2006/main">
            <a:r>
              <a:rPr sz="1400"/>
              <a:t>Bron: Boek 4 v3, gedrukte pagina 69 van het complete leerlingenboek.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https://github.com/meijer1973/4veco-lessen/blob/e734532a42b27732ac25ce990fc9448b12309d28/edities/books34-v3/books/book-4/chapters/4.2/4.2.2%20manuscript.md</a:t>
            </a:r>
          </a:p>
          <a:p xmlns:a="http://schemas.openxmlformats.org/drawingml/2006/main">
            <a:r>
              <a:rPr sz="1400"/>
              <a:t>Antwoordmodel: https://github.com/meijer1973/4veco-lessen/blob/e734532a42b27732ac25ce990fc9448b12309d28/edities/books34-v3/books/book-4/chapters/4.2/Antwoorden.md#antwoord16</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Wat is het verschil tussen de conclusies die d en e vragen?</a:t>
            </a:r>
          </a:p>
          <a:p xmlns:a="http://schemas.openxmlformats.org/drawingml/2006/main">
            <a:r>
              <a:rPr sz="1400"/>
              <a:t/>
            </a:r>
          </a:p>
          <a:p xmlns:a="http://schemas.openxmlformats.org/drawingml/2006/main">
            <a:r>
              <a:rPr sz="1400"/>
              <a:t>Uitleg: Deelvragen d en e zijn volledig weergegeven. Alle context, brondata, figuur en vijf vragen zijn nu getoond zonder uitwerking. Maak bij het bespreken onderscheid tussen het rekenoordeel in deze case en een algemene conclusie.</a:t>
            </a:r>
          </a:p>
          <a:p xmlns:a="http://schemas.openxmlformats.org/drawingml/2006/main">
            <a:r>
              <a:rPr sz="1400"/>
              <a:t/>
            </a:r>
          </a:p>
          <a:p xmlns:a="http://schemas.openxmlformats.org/drawingml/2006/main">
            <a:r>
              <a:rPr sz="1400"/>
              <a:t>Misvatting: Een negatief resultaat in één bronmodel is geen algemene economische wet.</a:t>
            </a:r>
          </a:p>
          <a:p xmlns:a="http://schemas.openxmlformats.org/drawingml/2006/main">
            <a:r>
              <a:rPr sz="1400"/>
              <a:t/>
            </a:r>
          </a:p>
          <a:p xmlns:a="http://schemas.openxmlformats.org/drawingml/2006/main">
            <a:r>
              <a:rPr sz="1400"/>
              <a:t>Overgang: Begin bij MO en de winstmaximale hoeveelheden.</a:t>
            </a:r>
          </a:p>
          <a:p xmlns:a="http://schemas.openxmlformats.org/drawingml/2006/main">
            <a:r>
              <a:rPr sz="1400"/>
              <a:t/>
            </a:r>
          </a:p>
          <a:p xmlns:a="http://schemas.openxmlformats.org/drawingml/2006/main">
            <a:r>
              <a:rPr sz="1400"/>
              <a:t>Bron: Boek 4 v3, gedrukte pagina 69 van het complete leerlingenboek.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https://github.com/meijer1973/4veco-lessen/blob/e734532a42b27732ac25ce990fc9448b12309d28/edities/books34-v3/books/book-4/chapters/4.2/4.2.2%20manuscript.md</a:t>
            </a:r>
          </a:p>
          <a:p xmlns:a="http://schemas.openxmlformats.org/drawingml/2006/main">
            <a:r>
              <a:rPr sz="1400"/>
              <a:t>Antwoordmodel: https://github.com/meijer1973/4veco-lessen/blob/e734532a42b27732ac25ce990fc9448b12309d28/edities/books34-v3/books/book-4/chapters/4.2/Antwoorden.md#antwoord16</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is het snijpunt hier een maximum en geen minimum?</a:t>
            </a:r>
          </a:p>
          <a:p xmlns:a="http://schemas.openxmlformats.org/drawingml/2006/main">
            <a:r>
              <a:rPr sz="1400"/>
              <a:t/>
            </a:r>
          </a:p>
          <a:p xmlns:a="http://schemas.openxmlformats.org/drawingml/2006/main">
            <a:r>
              <a:rPr sz="1400"/>
              <a:t>Uitleg: Dit volgt het antwoordmodel 16a. Laat de algebra en de betekenis van het snijpunt zien. Bij A ligt MO op Q = 15 nog op 10 en bij Q = 17 op 6; bij B geldt hetzelfde rond Q = 8. Beide MO-lijnen dalen door de constante MK = 8. Controleer de groepsdomeinen en gezamenlijke capaciteit: 24 ≤ 64.</a:t>
            </a:r>
          </a:p>
          <a:p xmlns:a="http://schemas.openxmlformats.org/drawingml/2006/main">
            <a:r>
              <a:rPr sz="1400"/>
              <a:t/>
            </a:r>
          </a:p>
          <a:p xmlns:a="http://schemas.openxmlformats.org/drawingml/2006/main">
            <a:r>
              <a:rPr sz="1400"/>
              <a:t>Misvatting: MO = MK is eerst een kandidaat; het verloop en de capaciteit maken de controle af.</a:t>
            </a:r>
          </a:p>
          <a:p xmlns:a="http://schemas.openxmlformats.org/drawingml/2006/main">
            <a:r>
              <a:rPr sz="1400"/>
              <a:t/>
            </a:r>
          </a:p>
          <a:p xmlns:a="http://schemas.openxmlformats.org/drawingml/2006/main">
            <a:r>
              <a:rPr sz="1400"/>
              <a:t>Overgang: Vul de hoeveelheden in op de eigen vraaglijn.</a:t>
            </a:r>
          </a:p>
          <a:p xmlns:a="http://schemas.openxmlformats.org/drawingml/2006/main">
            <a:r>
              <a:rPr sz="1400"/>
              <a:t/>
            </a:r>
          </a:p>
          <a:p xmlns:a="http://schemas.openxmlformats.org/drawingml/2006/main">
            <a:r>
              <a:rPr sz="1400"/>
              <a:t>Bron: Boek 4 v3, gedrukte pagina 69 van het complete leerlingenboek.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https://github.com/meijer1973/4veco-lessen/blob/e734532a42b27732ac25ce990fc9448b12309d28/edities/books34-v3/books/book-4/chapters/4.2/4.2.2%20manuscript.md</a:t>
            </a:r>
          </a:p>
          <a:p xmlns:a="http://schemas.openxmlformats.org/drawingml/2006/main">
            <a:r>
              <a:rPr sz="1400"/>
              <a:t>Antwoordmodel: https://github.com/meijer1973/4veco-lessen/blob/e734532a42b27732ac25ce990fc9448b12309d28/edities/books34-v3/books/book-4/chapters/4.2/Antwoorden.md#antwoord16</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stap voorkomt dat je € 8 als tarief kiest?</a:t>
            </a:r>
          </a:p>
          <a:p xmlns:a="http://schemas.openxmlformats.org/drawingml/2006/main">
            <a:r>
              <a:rPr sz="1400"/>
              <a:t/>
            </a:r>
          </a:p>
          <a:p xmlns:a="http://schemas.openxmlformats.org/drawingml/2006/main">
            <a:r>
              <a:rPr sz="1400"/>
              <a:t>Uitleg: De prijspunten horen op de eigen vraaglijn: (16,24) en (8,16). De € 8 van MO = MK is geen verkoopprijs. De functies en schalen zijn gelijk aan de basisfiguur. De totaalhoeveelheid is 24 bezoeken per week. Controle: bij P_A = 24 vraagt A 16 bezoeken en bij P_B = 16 vraagt B 8 bezoeken.</a:t>
            </a:r>
          </a:p>
          <a:p xmlns:a="http://schemas.openxmlformats.org/drawingml/2006/main">
            <a:r>
              <a:rPr sz="1400"/>
              <a:t/>
            </a:r>
          </a:p>
          <a:p xmlns:a="http://schemas.openxmlformats.org/drawingml/2006/main">
            <a:r>
              <a:rPr sz="1400"/>
              <a:t>Misvatting: De constante kosten beïnvloeden hier de winsthoogte, niet de vergelijking van MO en MK.</a:t>
            </a:r>
          </a:p>
          <a:p xmlns:a="http://schemas.openxmlformats.org/drawingml/2006/main">
            <a:r>
              <a:rPr sz="1400"/>
              <a:t/>
            </a:r>
          </a:p>
          <a:p xmlns:a="http://schemas.openxmlformats.org/drawingml/2006/main">
            <a:r>
              <a:rPr sz="1400"/>
              <a:t>Overgang: Bereken TO, TK en winst in beide situaties.</a:t>
            </a:r>
          </a:p>
          <a:p xmlns:a="http://schemas.openxmlformats.org/drawingml/2006/main">
            <a:r>
              <a:rPr sz="1400"/>
              <a:t/>
            </a:r>
          </a:p>
          <a:p xmlns:a="http://schemas.openxmlformats.org/drawingml/2006/main">
            <a:r>
              <a:rPr sz="1400"/>
              <a:t>Bron: Boek 4 v3, gedrukte pagina 69 van het complete leerlingenboek.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https://github.com/meijer1973/4veco-lessen/blob/e734532a42b27732ac25ce990fc9448b12309d28/edities/books34-v3/books/book-4/chapters/4.2/4.2.2%20manuscript.md</a:t>
            </a:r>
          </a:p>
          <a:p xmlns:a="http://schemas.openxmlformats.org/drawingml/2006/main">
            <a:r>
              <a:rPr sz="1400"/>
              <a:t>Antwoordmodel: https://github.com/meijer1973/4veco-lessen/blob/e734532a42b27732ac25ce990fc9448b12309d28/edities/books34-v3/books/book-4/chapters/4.2/Antwoorden.md#antwoord16</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zijn de kosten in beide kolommen gelijk?</a:t>
            </a:r>
          </a:p>
          <a:p xmlns:a="http://schemas.openxmlformats.org/drawingml/2006/main">
            <a:r>
              <a:rPr sz="1400"/>
              <a:t/>
            </a:r>
          </a:p>
          <a:p xmlns:a="http://schemas.openxmlformats.org/drawingml/2006/main">
            <a:r>
              <a:rPr sz="1400"/>
              <a:t>Uitleg: Eén prijs: de bron geeft 20 en 4 bezoeken, samen 24. Bij de groepsprijzen is TO 384 + 128 = 512. Beide situaties hebben TVK 192 en TK 272. Winst is 208 respectievelijk 240 euro per week. Geef rekenregels, invulling en eenheden.</a:t>
            </a:r>
          </a:p>
          <a:p xmlns:a="http://schemas.openxmlformats.org/drawingml/2006/main">
            <a:r>
              <a:rPr sz="1400"/>
              <a:t/>
            </a:r>
          </a:p>
          <a:p xmlns:a="http://schemas.openxmlformats.org/drawingml/2006/main">
            <a:r>
              <a:rPr sz="1400"/>
              <a:t>Misvatting: Trek 80 niet bij beide groepen af en vergeet ook de variabele kosten niet.</a:t>
            </a:r>
          </a:p>
          <a:p xmlns:a="http://schemas.openxmlformats.org/drawingml/2006/main">
            <a:r>
              <a:rPr sz="1400"/>
              <a:t/>
            </a:r>
          </a:p>
          <a:p xmlns:a="http://schemas.openxmlformats.org/drawingml/2006/main">
            <a:r>
              <a:rPr sz="1400"/>
              <a:t>Overgang: Vergelijk de tarieven per klantgroep.</a:t>
            </a:r>
          </a:p>
          <a:p xmlns:a="http://schemas.openxmlformats.org/drawingml/2006/main">
            <a:r>
              <a:rPr sz="1400"/>
              <a:t/>
            </a:r>
          </a:p>
          <a:p xmlns:a="http://schemas.openxmlformats.org/drawingml/2006/main">
            <a:r>
              <a:rPr sz="1400"/>
              <a:t>Bron: Boek 4 v3, gedrukte pagina 69 van het complete leerlingenboek.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https://github.com/meijer1973/4veco-lessen/blob/e734532a42b27732ac25ce990fc9448b12309d28/edities/books34-v3/books/book-4/chapters/4.2/4.2.2%20manuscript.md</a:t>
            </a:r>
          </a:p>
          <a:p xmlns:a="http://schemas.openxmlformats.org/drawingml/2006/main">
            <a:r>
              <a:rPr sz="1400"/>
              <a:t>Antwoordmodel: https://github.com/meijer1973/4veco-lessen/blob/e734532a42b27732ac25ce990fc9448b12309d28/edities/books34-v3/books/book-4/chapters/4.2/Antwoorden.md#antwoord16</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bronzin maakt de aparte tarieven uitvoerbaar?</a:t>
            </a:r>
          </a:p>
          <a:p xmlns:a="http://schemas.openxmlformats.org/drawingml/2006/main">
            <a:r>
              <a:rPr sz="1400"/>
              <a:t/>
            </a:r>
          </a:p>
          <a:p xmlns:a="http://schemas.openxmlformats.org/drawingml/2006/main">
            <a:r>
              <a:rPr sz="1400"/>
              <a:t>Uitleg: A betaalt 24 in plaats van 20; B 16 in plaats van 20. Als genoemde voorwaarde volstaat bijvoorbeeld gecontroleerde persoonlijke passen tegen doorverkoop. Ook de genoemde marktmacht is een relevante noodzakelijke voorwaarde. Een hogere prijs bij A gaat samen met minder afzet; een lagere prijs bij B met meer.</a:t>
            </a:r>
          </a:p>
          <a:p xmlns:a="http://schemas.openxmlformats.org/drawingml/2006/main">
            <a:r>
              <a:rPr sz="1400"/>
              <a:t/>
            </a:r>
          </a:p>
          <a:p xmlns:a="http://schemas.openxmlformats.org/drawingml/2006/main">
            <a:r>
              <a:rPr sz="1400"/>
              <a:t>Misvatting: Een korting voor B betekent niet dat iedereen korting krijgt.</a:t>
            </a:r>
          </a:p>
          <a:p xmlns:a="http://schemas.openxmlformats.org/drawingml/2006/main">
            <a:r>
              <a:rPr sz="1400"/>
              <a:t/>
            </a:r>
          </a:p>
          <a:p xmlns:a="http://schemas.openxmlformats.org/drawingml/2006/main">
            <a:r>
              <a:rPr sz="1400"/>
              <a:t>Overgang: Bereken PS en TS met de CS-bedragen uit bron B.</a:t>
            </a:r>
          </a:p>
          <a:p xmlns:a="http://schemas.openxmlformats.org/drawingml/2006/main">
            <a:r>
              <a:rPr sz="1400"/>
              <a:t/>
            </a:r>
          </a:p>
          <a:p xmlns:a="http://schemas.openxmlformats.org/drawingml/2006/main">
            <a:r>
              <a:rPr sz="1400"/>
              <a:t>Bron: Boek 4 v3, gedrukte pagina 69 van het complete leerlingenboek.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https://github.com/meijer1973/4veco-lessen/blob/e734532a42b27732ac25ce990fc9448b12309d28/edities/books34-v3/books/book-4/chapters/4.2/4.2.2%20manuscript.md</a:t>
            </a:r>
          </a:p>
          <a:p xmlns:a="http://schemas.openxmlformats.org/drawingml/2006/main">
            <a:r>
              <a:rPr sz="1400"/>
              <a:t>Antwoordmodel: https://github.com/meijer1973/4veco-lessen/blob/e734532a42b27732ac25ce990fc9448b12309d28/edities/books34-v3/books/book-4/chapters/4.2/Antwoorden.md#antwoord16</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 deel van het CS-verlies wordt gecompenseerd door extra PS?</a:t>
            </a:r>
          </a:p>
          <a:p xmlns:a="http://schemas.openxmlformats.org/drawingml/2006/main">
            <a:r>
              <a:rPr sz="1400"/>
              <a:t/>
            </a:r>
          </a:p>
          <a:p xmlns:a="http://schemas.openxmlformats.org/drawingml/2006/main">
            <a:r>
              <a:rPr sz="1400"/>
              <a:t>Uitleg: Dit zijn de bedragen uit antwoord 16d: PS 288 en 320; TS 496 en 480. Het CS daalt 48 en PS stijgt 32; het saldo is −16 euro per week. TCK blijft gelijk en er zijn geen externe effecten. Controleer winst = PS − 80: 208 en 240. De gelijke totale afzet zegt niet dat de verdeling van de bezoeken dezelfde waarde oplevert.</a:t>
            </a:r>
          </a:p>
          <a:p xmlns:a="http://schemas.openxmlformats.org/drawingml/2006/main">
            <a:r>
              <a:rPr sz="1400"/>
              <a:t/>
            </a:r>
          </a:p>
          <a:p xmlns:a="http://schemas.openxmlformats.org/drawingml/2006/main">
            <a:r>
              <a:rPr sz="1400"/>
              <a:t>Misvatting: Vervang PS in de TS-som niet door winst. Meer winst is niet automatisch meer gezamenlijke welvaart.</a:t>
            </a:r>
          </a:p>
          <a:p xmlns:a="http://schemas.openxmlformats.org/drawingml/2006/main">
            <a:r>
              <a:rPr sz="1400"/>
              <a:t/>
            </a:r>
          </a:p>
          <a:p xmlns:a="http://schemas.openxmlformats.org/drawingml/2006/main">
            <a:r>
              <a:rPr sz="1400"/>
              <a:t>Overgang: Beperk de conclusie tot deze case.</a:t>
            </a:r>
          </a:p>
          <a:p xmlns:a="http://schemas.openxmlformats.org/drawingml/2006/main">
            <a:r>
              <a:rPr sz="1400"/>
              <a:t/>
            </a:r>
          </a:p>
          <a:p xmlns:a="http://schemas.openxmlformats.org/drawingml/2006/main">
            <a:r>
              <a:rPr sz="1400"/>
              <a:t>Bron: Boek 4 v3, gedrukte pagina 69 van het complete leerlingenboek.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https://github.com/meijer1973/4veco-lessen/blob/e734532a42b27732ac25ce990fc9448b12309d28/edities/books34-v3/books/book-4/chapters/4.2/4.2.2%20manuscript.md</a:t>
            </a:r>
          </a:p>
          <a:p xmlns:a="http://schemas.openxmlformats.org/drawingml/2006/main">
            <a:r>
              <a:rPr sz="1400"/>
              <a:t>Antwoordmodel: https://github.com/meijer1973/4veco-lessen/blob/e734532a42b27732ac25ce990fc9448b12309d28/edities/books34-v3/books/book-4/chapters/4.2/Antwoorden.md#antwoord16</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gegevens zou je voor een ander geval nodig hebben?</a:t>
            </a:r>
          </a:p>
          <a:p xmlns:a="http://schemas.openxmlformats.org/drawingml/2006/main">
            <a:r>
              <a:rPr sz="1400"/>
              <a:t/>
            </a:r>
          </a:p>
          <a:p xmlns:a="http://schemas.openxmlformats.org/drawingml/2006/main">
            <a:r>
              <a:rPr sz="1400"/>
              <a:t>Uitleg: Het antwoordmodel noemt het bereiken van extra kopers als mogelijk mechanisme. Zeg kan, niet zal. Je hebt voor een ander geval opnieuw vraag, kosten, prijzen en afzet nodig. Ook een hoger TS zegt niet dat iedere groep wint of dat de verdeling eerlijk is. Laat leerlingen een ontbrekende rekenstap, eenheid of voorwaarde in hun eigen antwoorden a–e verbeteren.</a:t>
            </a:r>
          </a:p>
          <a:p xmlns:a="http://schemas.openxmlformats.org/drawingml/2006/main">
            <a:r>
              <a:rPr sz="1400"/>
              <a:t/>
            </a:r>
          </a:p>
          <a:p xmlns:a="http://schemas.openxmlformats.org/drawingml/2006/main">
            <a:r>
              <a:rPr sz="1400"/>
              <a:t>Misvatting: De mogelijkheid van een andere uitkomst bewijst die uitkomst nog niet.</a:t>
            </a:r>
          </a:p>
          <a:p xmlns:a="http://schemas.openxmlformats.org/drawingml/2006/main">
            <a:r>
              <a:rPr sz="1400"/>
              <a:t/>
            </a:r>
          </a:p>
          <a:p xmlns:a="http://schemas.openxmlformats.org/drawingml/2006/main">
            <a:r>
              <a:rPr sz="1400"/>
              <a:t>Overgang: Laat de identieke overzichtsdia staan voor afsluiting en huiswerk.</a:t>
            </a:r>
          </a:p>
          <a:p xmlns:a="http://schemas.openxmlformats.org/drawingml/2006/main">
            <a:r>
              <a:rPr sz="1400"/>
              <a:t/>
            </a:r>
          </a:p>
          <a:p xmlns:a="http://schemas.openxmlformats.org/drawingml/2006/main">
            <a:r>
              <a:rPr sz="1400"/>
              <a:t>Bron: Boek 4 v3, gedrukte pagina 69 van het complete leerlingenboek.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https://github.com/meijer1973/4veco-lessen/blob/e734532a42b27732ac25ce990fc9448b12309d28/edities/books34-v3/books/book-4/chapters/4.2/4.2.2%20manuscript.md</a:t>
            </a:r>
          </a:p>
          <a:p xmlns:a="http://schemas.openxmlformats.org/drawingml/2006/main">
            <a:r>
              <a:rPr sz="1400"/>
              <a:t>Antwoordmodel: https://github.com/meijer1973/4veco-lessen/blob/e734532a42b27732ac25ce990fc9448b12309d28/edities/books34-v3/books/book-4/chapters/4.2/Antwoorden.md#antwoord16</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theoriepassage helpt bij je twijfel?</a:t>
            </a:r>
          </a:p>
          <a:p xmlns:a="http://schemas.openxmlformats.org/drawingml/2006/main">
            <a:r>
              <a:rPr sz="1400"/>
              <a:t/>
            </a:r>
          </a:p>
          <a:p xmlns:a="http://schemas.openxmlformats.org/drawingml/2006/main">
            <a:r>
              <a:rPr sz="1400"/>
              <a:t>Uitleg: Laat het overzicht staan tijdens afsluiting / huiswerk. Start 10–11 op p. 66; basis 12 op p. 66 en 13 op p. 67; zelfstandig 14 op p. 67 en 15 op p. 68; doel 16 op p. 69. Huiswerk 12 t/m 16 maken en nakijken. Bonus 17 en herhaling 18 zijn extra. Start 10a herhaalt TO, TK en winst uit §4.1.4. Twee groepen als één bedrijf met één TCK is een nieuwe toepassing: verwijs voor 10b naar de formule en het kader op p. 64. Prijsdiscriminatie is nieuw bij 11: laat leerlingen de definitie en kostenwaarschuwing op p. 63 gebruiken. Dit is ondersteund verkennen, geen toets van beheerste nieuwe leerstof. Laat vóór basiswerk beide startvragen opnieuw bekijken en een twijfel verbeteren. De docent kan daarna de startantwoorden bespreken: 10 TO 520, TK 240, winst 280 euro per week; 11 alleen A. Geef die antwoorden niet vooraf. De handleiding reserveert voorlopig twee keer 55 minuten; de lesgrens is flexibel en de tijd is niet gemeten.</a:t>
            </a:r>
          </a:p>
          <a:p xmlns:a="http://schemas.openxmlformats.org/drawingml/2006/main">
            <a:r>
              <a:rPr sz="1400"/>
              <a:t/>
            </a:r>
          </a:p>
          <a:p xmlns:a="http://schemas.openxmlformats.org/drawingml/2006/main">
            <a:r>
              <a:rPr sz="1400"/>
              <a:t>Misvatting: Gebruik de gedrukte boekpagina; hoofdstukpagina 14 heet in het complete boek 66. Laat de nieuwe toepassing geen onbedoelde voorkennistoets worden.</a:t>
            </a:r>
          </a:p>
          <a:p xmlns:a="http://schemas.openxmlformats.org/drawingml/2006/main">
            <a:r>
              <a:rPr sz="1400"/>
              <a:t/>
            </a:r>
          </a:p>
          <a:p xmlns:a="http://schemas.openxmlformats.org/drawingml/2006/main">
            <a:r>
              <a:rPr sz="1400"/>
              <a:t>Overgang: Laat huiswerk en resterend werk in de agenda zetten.</a:t>
            </a:r>
          </a:p>
          <a:p xmlns:a="http://schemas.openxmlformats.org/drawingml/2006/main">
            <a:r>
              <a:rPr sz="1400"/>
              <a:t/>
            </a:r>
          </a:p>
          <a:p xmlns:a="http://schemas.openxmlformats.org/drawingml/2006/main">
            <a:r>
              <a:rPr sz="1400"/>
              <a:t>Bron: Boek 4 v3, gedrukte pagina 63–69 van het complete leerlingenboek.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https://github.com/meijer1973/4veco-lessen/blob/e734532a42b27732ac25ce990fc9448b12309d28/edities/books34-v3/books/book-4/chapters/4.2/4.2.2%20manuscript.md</a:t>
            </a:r>
          </a:p>
          <a:p xmlns:a="http://schemas.openxmlformats.org/drawingml/2006/main">
            <a:r>
              <a:rPr sz="1400"/>
              <a:t>Antwoordmodel: https://github.com/meijer1973/4veco-lessen/blob/e734532a42b27732ac25ce990fc9448b12309d28/edities/books34-v3/books/book-4/chapters/4.2/Antwoorden.md#antwoord16</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afde653652c4b8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ed767d0d3294344" /><Relationship Type="http://schemas.openxmlformats.org/officeDocument/2006/relationships/slideLayout" Target="/ppt/slideLayouts/slideLayout1.xml" Id="R3b98198b209b4b7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b98198b209b4b7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9972d660511b422e" /><Relationship Type="http://schemas.openxmlformats.org/officeDocument/2006/relationships/notesSlide" Target="/ppt/notesSlides/notesSlide1.xml" Id="R9e584285edd04902"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f27afbfbf56749bf" /><Relationship Type="http://schemas.openxmlformats.org/officeDocument/2006/relationships/notesSlide" Target="/ppt/notesSlides/notesSlide2.xml" Id="R1f288de010d74d78"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ffc047661b54321" /><Relationship Type="http://schemas.openxmlformats.org/officeDocument/2006/relationships/notesSlide" Target="/ppt/notesSlides/notesSlide3.xml" Id="R74d6c5f6231f4330"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4055de151a324a7b" /><Relationship Type="http://schemas.openxmlformats.org/officeDocument/2006/relationships/notesSlide" Target="/ppt/notesSlides/notesSlide4.xml" Id="R33fc88cdcc5541dd"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fa4f075476ef4e09" /><Relationship Type="http://schemas.openxmlformats.org/officeDocument/2006/relationships/notesSlide" Target="/ppt/notesSlides/notesSlide5.xml" Id="Re3add91fd7bb46cc"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41d38ec77a264630" /><Relationship Type="http://schemas.openxmlformats.org/officeDocument/2006/relationships/chart" Target="/ppt/slides/charts/chart1.xml" Id="R89c77a5247d1438b" /><Relationship Type="http://schemas.openxmlformats.org/officeDocument/2006/relationships/chart" Target="/ppt/slides/charts/chart2.xml" Id="R6a83bdfcf473405b" /><Relationship Type="http://schemas.openxmlformats.org/officeDocument/2006/relationships/notesSlide" Target="/ppt/notesSlides/notesSlide6.xml" Id="Ra1616626d57d4e07"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bdd3508da1134a02" /><Relationship Type="http://schemas.openxmlformats.org/officeDocument/2006/relationships/chart" Target="/ppt/slides/charts/chart3.xml" Id="R8bd0e681796847bf" /><Relationship Type="http://schemas.openxmlformats.org/officeDocument/2006/relationships/chart" Target="/ppt/slides/charts/chart4.xml" Id="Rd2f0a2cef6be4015" /><Relationship Type="http://schemas.openxmlformats.org/officeDocument/2006/relationships/notesSlide" Target="/ppt/notesSlides/notesSlide7.xml" Id="R99a9b6dfa6624444"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257dc40a3b4a421c" /><Relationship Type="http://schemas.openxmlformats.org/officeDocument/2006/relationships/notesSlide" Target="/ppt/notesSlides/notesSlide8.xml" Id="R6fa6f9713e844f4c"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6c74e9249bf64325" /><Relationship Type="http://schemas.openxmlformats.org/officeDocument/2006/relationships/notesSlide" Target="/ppt/notesSlides/notesSlide9.xml" Id="R2a8a71eadbde434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b932843f78184c8a" /><Relationship Type="http://schemas.openxmlformats.org/officeDocument/2006/relationships/notesSlide" Target="/ppt/notesSlides/notesSlide10.xml" Id="Rf39a3f3826b8412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e5ca719879bc4e75" /><Relationship Type="http://schemas.openxmlformats.org/officeDocument/2006/relationships/notesSlide" Target="/ppt/notesSlides/notesSlide11.xml" Id="R19021c2928c14504"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0a4b1bcf41904ba3" /><Relationship Type="http://schemas.openxmlformats.org/officeDocument/2006/relationships/notesSlide" Target="/ppt/notesSlides/notesSlide12.xml" Id="Rbabe8ab940ea4e7d"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880689637c914967" /><Relationship Type="http://schemas.openxmlformats.org/officeDocument/2006/relationships/notesSlide" Target="/ppt/notesSlides/notesSlide13.xml" Id="Rdafa4a3abf1a4577"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f54142cd1dc64b15" /><Relationship Type="http://schemas.openxmlformats.org/officeDocument/2006/relationships/notesSlide" Target="/ppt/notesSlides/notesSlide14.xml" Id="Rb493ae0cd0044467"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c60ffad631064877" /><Relationship Type="http://schemas.openxmlformats.org/officeDocument/2006/relationships/notesSlide" Target="/ppt/notesSlides/notesSlide15.xml" Id="R708ed4a6728a47bd"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ca8a3847a28549af" /><Relationship Type="http://schemas.openxmlformats.org/officeDocument/2006/relationships/notesSlide" Target="/ppt/notesSlides/notesSlide16.xml" Id="R45e33952b14f49d6"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4df8c2d76282441b" /><Relationship Type="http://schemas.openxmlformats.org/officeDocument/2006/relationships/chart" Target="/ppt/slides/charts/chart5.xml" Id="R4c157b68195f4482" /><Relationship Type="http://schemas.openxmlformats.org/officeDocument/2006/relationships/chart" Target="/ppt/slides/charts/chart6.xml" Id="Rc977122976474171" /><Relationship Type="http://schemas.openxmlformats.org/officeDocument/2006/relationships/notesSlide" Target="/ppt/notesSlides/notesSlide17.xml" Id="Ra19a4a20390246e8"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4d3dc48ab33b40b1" /><Relationship Type="http://schemas.openxmlformats.org/officeDocument/2006/relationships/notesSlide" Target="/ppt/notesSlides/notesSlide18.xml" Id="R1aff0f8714944100"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877074a5ea8749b2" /><Relationship Type="http://schemas.openxmlformats.org/officeDocument/2006/relationships/notesSlide" Target="/ppt/notesSlides/notesSlide19.xml" Id="R4d6b357953d84725"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b2b8502777c144e0" /><Relationship Type="http://schemas.openxmlformats.org/officeDocument/2006/relationships/notesSlide" Target="/ppt/notesSlides/notesSlide20.xml" Id="R94bdcdd7a59d41b8"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ffc705a009b04420" /><Relationship Type="http://schemas.openxmlformats.org/officeDocument/2006/relationships/notesSlide" Target="/ppt/notesSlides/notesSlide21.xml" Id="Ra3bea18ea0bf418c"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9c719ba36c9c4cb8" /><Relationship Type="http://schemas.openxmlformats.org/officeDocument/2006/relationships/chart" Target="/ppt/slides/charts/chart7.xml" Id="Ra7c5fc63f0b54e26" /><Relationship Type="http://schemas.openxmlformats.org/officeDocument/2006/relationships/chart" Target="/ppt/slides/charts/chart8.xml" Id="R058520a90e614e84" /><Relationship Type="http://schemas.openxmlformats.org/officeDocument/2006/relationships/notesSlide" Target="/ppt/notesSlides/notesSlide22.xml" Id="R10cb10301ba54ba7"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b6ae7295e3784a5f" /><Relationship Type="http://schemas.openxmlformats.org/officeDocument/2006/relationships/notesSlide" Target="/ppt/notesSlides/notesSlide23.xml" Id="Ref9508e1b196448f"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26abc7d1a1234f2f" /><Relationship Type="http://schemas.openxmlformats.org/officeDocument/2006/relationships/notesSlide" Target="/ppt/notesSlides/notesSlide24.xml" Id="R755c5356bbe745fc"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95be8bc4f9014f3d" /><Relationship Type="http://schemas.openxmlformats.org/officeDocument/2006/relationships/notesSlide" Target="/ppt/notesSlides/notesSlide25.xml" Id="R462302de9a8e4cf7"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8b1614385840412d" /><Relationship Type="http://schemas.openxmlformats.org/officeDocument/2006/relationships/notesSlide" Target="/ppt/notesSlides/notesSlide26.xml" Id="R97a713c60b064d10"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0e7fe9e08094482e" /><Relationship Type="http://schemas.openxmlformats.org/officeDocument/2006/relationships/notesSlide" Target="/ppt/notesSlides/notesSlide27.xml" Id="R587a6d8d01d247d7"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_rels/chart5.xml.rels><Relationships xmlns="http://schemas.openxmlformats.org/package/2006/relationships"><Relationship Id="rIdChartSnapshot1" Type="http://schemas.openxmlformats.org/officeDocument/2006/relationships/package" Target="../../embeddings/chart-data-snapshot-005.xlsx"/></Relationships>
</file>

<file path=ppt/slides/charts/_rels/chart6.xml.rels><Relationships xmlns="http://schemas.openxmlformats.org/package/2006/relationships"><Relationship Id="rIdChartSnapshot1" Type="http://schemas.openxmlformats.org/officeDocument/2006/relationships/package" Target="../../embeddings/chart-data-snapshot-006.xlsx"/></Relationships>
</file>

<file path=ppt/slides/charts/_rels/chart7.xml.rels><Relationships xmlns="http://schemas.openxmlformats.org/package/2006/relationships"><Relationship Id="rIdChartSnapshot1" Type="http://schemas.openxmlformats.org/officeDocument/2006/relationships/package" Target="../../embeddings/chart-data-snapshot-007.xlsx"/></Relationships>
</file>

<file path=ppt/slides/charts/_rels/chart8.xml.rels><Relationships xmlns="http://schemas.openxmlformats.org/package/2006/relationships"><Relationship Id="rIdChartSnapshot1" Type="http://schemas.openxmlformats.org/officeDocument/2006/relationships/package" Target="../../embeddings/chart-data-snapshot-008.xlsx"/></Relationships>
</file>

<file path=ppt/slides/charts/chart1.xml><?xml version="1.0" encoding="utf-8"?>
<c:chartSpace xmlns:c="http://schemas.openxmlformats.org/drawingml/2006/chart" xmlns:r="http://schemas.openxmlformats.org/officeDocument/2006/relationships">
  <c:lang val="en-US"/>
  <c:chart>
    <c:plotArea>
      <c:scatterChart>
        <c:scatterStyle val="line"/>
        <c:ser>
          <c:idx val="0"/>
          <c:order val="0"/>
          <c:tx>
            <c:v>guide Q</c:v>
          </c:tx>
          <c:spPr>
            <a:ln xmlns:a="http://schemas.openxmlformats.org/drawingml/2006/main" w="14288">
              <a:solidFill>
                <a:srgbClr val="445B6B"/>
              </a:solidFill>
            </a:ln>
          </c:spPr>
          <c:marker>
            <c:symbol val="none"/>
          </c:marker>
          <c:xVal>
            <c:numRef>
              <c:f>'Chart Data'!$A$2:$A$3</c:f>
              <c:numCache>
                <c:formatCode>General</c:formatCode>
                <c:ptCount val="2"/>
                <c:pt idx="0">
                  <c:v>12</c:v>
                </c:pt>
                <c:pt idx="1">
                  <c:v>12</c:v>
                </c:pt>
              </c:numCache>
            </c:numRef>
          </c:xVal>
          <c:yVal>
            <c:numRef>
              <c:f>'Chart Data'!$B$2:$B$3</c:f>
              <c:numCache>
                <c:formatCode>0</c:formatCode>
                <c:ptCount val="2"/>
                <c:pt idx="0">
                  <c:v>0</c:v>
                </c:pt>
                <c:pt idx="1">
                  <c:v>6</c:v>
                </c:pt>
              </c:numCache>
            </c:numRef>
          </c:yVal>
          <c:smooth val="0"/>
        </c:ser>
        <c:ser>
          <c:idx val="1"/>
          <c:order val="1"/>
          <c:tx>
            <c:v>Vraag / GO</c:v>
          </c:tx>
          <c:spPr>
            <a:ln xmlns:a="http://schemas.openxmlformats.org/drawingml/2006/main" w="38100">
              <a:solidFill>
                <a:srgbClr val="17658A"/>
              </a:solidFill>
            </a:ln>
          </c:spPr>
          <c:marker>
            <c:symbol val="none"/>
          </c:marker>
          <c:dLbls>
            <c:dLbl>
              <c:idx val="1"/>
              <c:tx>
                <c:rich>
                  <a:bodyPr xmlns:a="http://schemas.openxmlformats.org/drawingml/2006/main"/>
                  <a:lstStyle xmlns:a="http://schemas.openxmlformats.org/drawingml/2006/main"/>
                  <a:p xmlns:a="http://schemas.openxmlformats.org/drawingml/2006/main">
                    <a:r>
                      <a:rPr sz="1950" b="1">
                        <a:solidFill>
                          <a:srgbClr val="17658A"/>
                        </a:solidFill>
                        <a:latin typeface="Arial"/>
                        <a:ea typeface="Arial"/>
                        <a:cs typeface="Arial"/>
                      </a:rPr>
                      <a:t>Vraag</a:t>
                    </a:r>
                  </a:p>
                </c:rich>
              </c:tx>
              <c:txPr>
                <a:bodyPr xmlns:a="http://schemas.openxmlformats.org/drawingml/2006/main" anchorCtr="1"/>
                <a:lstStyle xmlns:a="http://schemas.openxmlformats.org/drawingml/2006/main"/>
                <a:p xmlns:a="http://schemas.openxmlformats.org/drawingml/2006/main">
                  <a:pPr>
                    <a:defRPr sz="1950" b="1">
                      <a:solidFill>
                        <a:srgbClr val="17658A"/>
                      </a:solidFill>
                      <a:latin typeface="Arial"/>
                      <a:ea typeface="Arial"/>
                      <a:cs typeface="Arial"/>
                    </a:defRPr>
                  </a:pPr>
                </a:p>
              </c:txPr>
              <c:dLblPos val="r"/>
              <c:showLegendKey val="0"/>
              <c:showVal val="0"/>
              <c:showCatName val="0"/>
              <c:showSerName val="0"/>
              <c:showPercent val="0"/>
              <c:showBubbleSize val="0"/>
            </c:dLbl>
            <c:showLegendKey val="0"/>
            <c:showVal val="0"/>
            <c:showCatName val="0"/>
            <c:showSerName val="0"/>
            <c:showPercent val="0"/>
            <c:showBubbleSize val="0"/>
          </c:dLbls>
          <c:xVal>
            <c:numRef>
              <c:f>'Chart Data'!$C$2:$C$4</c:f>
              <c:numCache>
                <c:formatCode>General</c:formatCode>
                <c:ptCount val="3"/>
                <c:pt idx="0">
                  <c:v>0</c:v>
                </c:pt>
                <c:pt idx="1">
                  <c:v>17.55</c:v>
                </c:pt>
                <c:pt idx="2">
                  <c:v>27</c:v>
                </c:pt>
              </c:numCache>
            </c:numRef>
          </c:xVal>
          <c:yVal>
            <c:numRef>
              <c:f>'Chart Data'!$D$2:$D$4</c:f>
              <c:numCache>
                <c:formatCode>0</c:formatCode>
                <c:ptCount val="3"/>
                <c:pt idx="0">
                  <c:v>54</c:v>
                </c:pt>
                <c:pt idx="1">
                  <c:v>18.9</c:v>
                </c:pt>
                <c:pt idx="2">
                  <c:v>0</c:v>
                </c:pt>
              </c:numCache>
            </c:numRef>
          </c:yVal>
          <c:smooth val="0"/>
        </c:ser>
        <c:ser>
          <c:idx val="2"/>
          <c:order val="2"/>
          <c:tx>
            <c:v>MO</c:v>
          </c:tx>
          <c:spPr>
            <a:ln xmlns:a="http://schemas.openxmlformats.org/drawingml/2006/main" w="28575">
              <a:solidFill>
                <a:srgbClr val="7B2D8E"/>
              </a:solidFill>
              <a:prstDash val="dash"/>
            </a:ln>
          </c:spPr>
          <c:marker>
            <c:symbol val="none"/>
          </c:marker>
          <c:dLbls>
            <c:dLbl>
              <c:idx val="1"/>
              <c:tx>
                <c:rich>
                  <a:bodyPr xmlns:a="http://schemas.openxmlformats.org/drawingml/2006/main"/>
                  <a:lstStyle xmlns:a="http://schemas.openxmlformats.org/drawingml/2006/main"/>
                  <a:p xmlns:a="http://schemas.openxmlformats.org/drawingml/2006/main">
                    <a:r>
                      <a:rPr sz="1950" b="1">
                        <a:solidFill>
                          <a:srgbClr val="7B2D8E"/>
                        </a:solidFill>
                        <a:latin typeface="Arial"/>
                        <a:ea typeface="Arial"/>
                        <a:cs typeface="Arial"/>
                      </a:rPr>
                      <a:t>MO</a:t>
                    </a:r>
                  </a:p>
                </c:rich>
              </c:tx>
              <c:txPr>
                <a:bodyPr xmlns:a="http://schemas.openxmlformats.org/drawingml/2006/main" anchorCtr="1"/>
                <a:lstStyle xmlns:a="http://schemas.openxmlformats.org/drawingml/2006/main"/>
                <a:p xmlns:a="http://schemas.openxmlformats.org/drawingml/2006/main">
                  <a:pPr>
                    <a:defRPr sz="1950" b="1">
                      <a:solidFill>
                        <a:srgbClr val="7B2D8E"/>
                      </a:solidFill>
                      <a:latin typeface="Arial"/>
                      <a:ea typeface="Arial"/>
                      <a:cs typeface="Arial"/>
                    </a:defRPr>
                  </a:pPr>
                </a:p>
              </c:txPr>
              <c:dLblPos val="l"/>
              <c:showLegendKey val="0"/>
              <c:showVal val="0"/>
              <c:showCatName val="0"/>
              <c:showSerName val="0"/>
              <c:showPercent val="0"/>
              <c:showBubbleSize val="0"/>
            </c:dLbl>
            <c:showLegendKey val="0"/>
            <c:showVal val="0"/>
            <c:showCatName val="0"/>
            <c:showSerName val="0"/>
            <c:showPercent val="0"/>
            <c:showBubbleSize val="0"/>
          </c:dLbls>
          <c:xVal>
            <c:numRef>
              <c:f>'Chart Data'!$E$2:$E$4</c:f>
              <c:numCache>
                <c:formatCode>General</c:formatCode>
                <c:ptCount val="3"/>
                <c:pt idx="0">
                  <c:v>0</c:v>
                </c:pt>
                <c:pt idx="1">
                  <c:v>6.75</c:v>
                </c:pt>
                <c:pt idx="2">
                  <c:v>13.5</c:v>
                </c:pt>
              </c:numCache>
            </c:numRef>
          </c:xVal>
          <c:yVal>
            <c:numRef>
              <c:f>'Chart Data'!$F$2:$F$4</c:f>
              <c:numCache>
                <c:formatCode>0</c:formatCode>
                <c:ptCount val="3"/>
                <c:pt idx="0">
                  <c:v>54</c:v>
                </c:pt>
                <c:pt idx="1">
                  <c:v>27</c:v>
                </c:pt>
                <c:pt idx="2">
                  <c:v>0</c:v>
                </c:pt>
              </c:numCache>
            </c:numRef>
          </c:yVal>
          <c:smooth val="0"/>
        </c:ser>
        <c:ser>
          <c:idx val="3"/>
          <c:order val="3"/>
          <c:tx>
            <c:v>MK</c:v>
          </c:tx>
          <c:spPr>
            <a:ln xmlns:a="http://schemas.openxmlformats.org/drawingml/2006/main" w="28575">
              <a:solidFill>
                <a:srgbClr val="A94D16"/>
              </a:solidFill>
            </a:ln>
          </c:spPr>
          <c:marker>
            <c:symbol val="none"/>
          </c:marker>
          <c:dLbls>
            <c:dLbl>
              <c:idx val="1"/>
              <c:tx>
                <c:rich>
                  <a:bodyPr xmlns:a="http://schemas.openxmlformats.org/drawingml/2006/main"/>
                  <a:lstStyle xmlns:a="http://schemas.openxmlformats.org/drawingml/2006/main"/>
                  <a:p xmlns:a="http://schemas.openxmlformats.org/drawingml/2006/main">
                    <a:r>
                      <a:rPr sz="1950" b="1">
                        <a:solidFill>
                          <a:srgbClr val="A94D16"/>
                        </a:solidFill>
                        <a:latin typeface="Arial"/>
                        <a:ea typeface="Arial"/>
                        <a:cs typeface="Arial"/>
                      </a:rPr>
                      <a:t>MK</a:t>
                    </a:r>
                  </a:p>
                </c:rich>
              </c:tx>
              <c:txPr>
                <a:bodyPr xmlns:a="http://schemas.openxmlformats.org/drawingml/2006/main" anchorCtr="1"/>
                <a:lstStyle xmlns:a="http://schemas.openxmlformats.org/drawingml/2006/main"/>
                <a:p xmlns:a="http://schemas.openxmlformats.org/drawingml/2006/main">
                  <a:pPr>
                    <a:defRPr sz="1950" b="1">
                      <a:solidFill>
                        <a:srgbClr val="A94D16"/>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Data'!$G$2:$G$4</c:f>
              <c:numCache>
                <c:formatCode>General</c:formatCode>
                <c:ptCount val="3"/>
                <c:pt idx="0">
                  <c:v>0</c:v>
                </c:pt>
                <c:pt idx="1">
                  <c:v>26.1</c:v>
                </c:pt>
                <c:pt idx="2">
                  <c:v>30</c:v>
                </c:pt>
              </c:numCache>
            </c:numRef>
          </c:xVal>
          <c:yVal>
            <c:numRef>
              <c:f>'Chart Data'!$H$2:$H$4</c:f>
              <c:numCache>
                <c:formatCode>0</c:formatCode>
                <c:ptCount val="3"/>
                <c:pt idx="0">
                  <c:v>6</c:v>
                </c:pt>
                <c:pt idx="1">
                  <c:v>6</c:v>
                </c:pt>
                <c:pt idx="2">
                  <c:v>6</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60"/>
          <c:min val="0"/>
        </c:scaling>
        <c:delete val="0"/>
        <c:axPos val="l"/>
        <c:majorGridlines>
          <c:spPr>
            <a:ln xmlns:a="http://schemas.openxmlformats.org/drawingml/2006/main" w="9525">
              <a:solidFill>
                <a:srgbClr val="C6D2DB"/>
              </a:solidFill>
            </a:ln>
          </c:spPr>
        </c:majorGridlines>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50112"/>
        <c:majorUnit val="12"/>
      </c:valAx>
      <c:valAx>
        <c:axId val="48650112"/>
        <c:scaling>
          <c:orientation val="minMax"/>
          <c:max val="30"/>
          <c:min val="0"/>
        </c:scaling>
        <c:delete val="0"/>
        <c:axPos val="b"/>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72768"/>
        <c:majorUnit val="6"/>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scatterChart>
        <c:scatterStyle val="line"/>
        <c:ser>
          <c:idx val="0"/>
          <c:order val="0"/>
          <c:tx>
            <c:v>guide Q</c:v>
          </c:tx>
          <c:spPr>
            <a:ln xmlns:a="http://schemas.openxmlformats.org/drawingml/2006/main" w="14288">
              <a:solidFill>
                <a:srgbClr val="445B6B"/>
              </a:solidFill>
            </a:ln>
          </c:spPr>
          <c:marker>
            <c:symbol val="none"/>
          </c:marker>
          <c:xVal>
            <c:numRef>
              <c:f>'Chart Data'!$A$2:$A$3</c:f>
              <c:numCache>
                <c:formatCode>General</c:formatCode>
                <c:ptCount val="2"/>
                <c:pt idx="0">
                  <c:v>6</c:v>
                </c:pt>
                <c:pt idx="1">
                  <c:v>6</c:v>
                </c:pt>
              </c:numCache>
            </c:numRef>
          </c:xVal>
          <c:yVal>
            <c:numRef>
              <c:f>'Chart Data'!$B$2:$B$3</c:f>
              <c:numCache>
                <c:formatCode>0</c:formatCode>
                <c:ptCount val="2"/>
                <c:pt idx="0">
                  <c:v>0</c:v>
                </c:pt>
                <c:pt idx="1">
                  <c:v>6</c:v>
                </c:pt>
              </c:numCache>
            </c:numRef>
          </c:yVal>
          <c:smooth val="0"/>
        </c:ser>
        <c:ser>
          <c:idx val="1"/>
          <c:order val="1"/>
          <c:tx>
            <c:v>Vraag / GO</c:v>
          </c:tx>
          <c:spPr>
            <a:ln xmlns:a="http://schemas.openxmlformats.org/drawingml/2006/main" w="38100">
              <a:solidFill>
                <a:srgbClr val="17658A"/>
              </a:solidFill>
            </a:ln>
          </c:spPr>
          <c:marker>
            <c:symbol val="none"/>
          </c:marker>
          <c:dLbls>
            <c:dLbl>
              <c:idx val="1"/>
              <c:tx>
                <c:rich>
                  <a:bodyPr xmlns:a="http://schemas.openxmlformats.org/drawingml/2006/main"/>
                  <a:lstStyle xmlns:a="http://schemas.openxmlformats.org/drawingml/2006/main"/>
                  <a:p xmlns:a="http://schemas.openxmlformats.org/drawingml/2006/main">
                    <a:r>
                      <a:rPr sz="1950" b="1">
                        <a:solidFill>
                          <a:srgbClr val="17658A"/>
                        </a:solidFill>
                        <a:latin typeface="Arial"/>
                        <a:ea typeface="Arial"/>
                        <a:cs typeface="Arial"/>
                      </a:rPr>
                      <a:t>Vraag</a:t>
                    </a:r>
                  </a:p>
                </c:rich>
              </c:tx>
              <c:txPr>
                <a:bodyPr xmlns:a="http://schemas.openxmlformats.org/drawingml/2006/main" anchorCtr="1"/>
                <a:lstStyle xmlns:a="http://schemas.openxmlformats.org/drawingml/2006/main"/>
                <a:p xmlns:a="http://schemas.openxmlformats.org/drawingml/2006/main">
                  <a:pPr>
                    <a:defRPr sz="1950" b="1">
                      <a:solidFill>
                        <a:srgbClr val="17658A"/>
                      </a:solidFill>
                      <a:latin typeface="Arial"/>
                      <a:ea typeface="Arial"/>
                      <a:cs typeface="Arial"/>
                    </a:defRPr>
                  </a:pPr>
                </a:p>
              </c:txPr>
              <c:dLblPos val="r"/>
              <c:showLegendKey val="0"/>
              <c:showVal val="0"/>
              <c:showCatName val="0"/>
              <c:showSerName val="0"/>
              <c:showPercent val="0"/>
              <c:showBubbleSize val="0"/>
            </c:dLbl>
            <c:showLegendKey val="0"/>
            <c:showVal val="0"/>
            <c:showCatName val="0"/>
            <c:showSerName val="0"/>
            <c:showPercent val="0"/>
            <c:showBubbleSize val="0"/>
          </c:dLbls>
          <c:xVal>
            <c:numRef>
              <c:f>'Chart Data'!$C$2:$C$4</c:f>
              <c:numCache>
                <c:formatCode>General</c:formatCode>
                <c:ptCount val="3"/>
                <c:pt idx="0">
                  <c:v>0</c:v>
                </c:pt>
                <c:pt idx="1">
                  <c:v>9.75</c:v>
                </c:pt>
                <c:pt idx="2">
                  <c:v>15</c:v>
                </c:pt>
              </c:numCache>
            </c:numRef>
          </c:xVal>
          <c:yVal>
            <c:numRef>
              <c:f>'Chart Data'!$D$2:$D$4</c:f>
              <c:numCache>
                <c:formatCode>0</c:formatCode>
                <c:ptCount val="3"/>
                <c:pt idx="0">
                  <c:v>30</c:v>
                </c:pt>
                <c:pt idx="1">
                  <c:v>10.5</c:v>
                </c:pt>
                <c:pt idx="2">
                  <c:v>0</c:v>
                </c:pt>
              </c:numCache>
            </c:numRef>
          </c:yVal>
          <c:smooth val="0"/>
        </c:ser>
        <c:ser>
          <c:idx val="2"/>
          <c:order val="2"/>
          <c:tx>
            <c:v>MO</c:v>
          </c:tx>
          <c:spPr>
            <a:ln xmlns:a="http://schemas.openxmlformats.org/drawingml/2006/main" w="28575">
              <a:solidFill>
                <a:srgbClr val="7B2D8E"/>
              </a:solidFill>
              <a:prstDash val="dash"/>
            </a:ln>
          </c:spPr>
          <c:marker>
            <c:symbol val="none"/>
          </c:marker>
          <c:dLbls>
            <c:dLbl>
              <c:idx val="1"/>
              <c:tx>
                <c:rich>
                  <a:bodyPr xmlns:a="http://schemas.openxmlformats.org/drawingml/2006/main"/>
                  <a:lstStyle xmlns:a="http://schemas.openxmlformats.org/drawingml/2006/main"/>
                  <a:p xmlns:a="http://schemas.openxmlformats.org/drawingml/2006/main">
                    <a:r>
                      <a:rPr sz="1950" b="1">
                        <a:solidFill>
                          <a:srgbClr val="7B2D8E"/>
                        </a:solidFill>
                        <a:latin typeface="Arial"/>
                        <a:ea typeface="Arial"/>
                        <a:cs typeface="Arial"/>
                      </a:rPr>
                      <a:t>MO</a:t>
                    </a:r>
                  </a:p>
                </c:rich>
              </c:tx>
              <c:txPr>
                <a:bodyPr xmlns:a="http://schemas.openxmlformats.org/drawingml/2006/main" anchorCtr="1"/>
                <a:lstStyle xmlns:a="http://schemas.openxmlformats.org/drawingml/2006/main"/>
                <a:p xmlns:a="http://schemas.openxmlformats.org/drawingml/2006/main">
                  <a:pPr>
                    <a:defRPr sz="1950" b="1">
                      <a:solidFill>
                        <a:srgbClr val="7B2D8E"/>
                      </a:solidFill>
                      <a:latin typeface="Arial"/>
                      <a:ea typeface="Arial"/>
                      <a:cs typeface="Arial"/>
                    </a:defRPr>
                  </a:pPr>
                </a:p>
              </c:txPr>
              <c:dLblPos val="l"/>
              <c:showLegendKey val="0"/>
              <c:showVal val="0"/>
              <c:showCatName val="0"/>
              <c:showSerName val="0"/>
              <c:showPercent val="0"/>
              <c:showBubbleSize val="0"/>
            </c:dLbl>
            <c:showLegendKey val="0"/>
            <c:showVal val="0"/>
            <c:showCatName val="0"/>
            <c:showSerName val="0"/>
            <c:showPercent val="0"/>
            <c:showBubbleSize val="0"/>
          </c:dLbls>
          <c:xVal>
            <c:numRef>
              <c:f>'Chart Data'!$E$2:$E$4</c:f>
              <c:numCache>
                <c:formatCode>General</c:formatCode>
                <c:ptCount val="3"/>
                <c:pt idx="0">
                  <c:v>0</c:v>
                </c:pt>
                <c:pt idx="1">
                  <c:v>3.75</c:v>
                </c:pt>
                <c:pt idx="2">
                  <c:v>7.5</c:v>
                </c:pt>
              </c:numCache>
            </c:numRef>
          </c:xVal>
          <c:yVal>
            <c:numRef>
              <c:f>'Chart Data'!$F$2:$F$4</c:f>
              <c:numCache>
                <c:formatCode>0</c:formatCode>
                <c:ptCount val="3"/>
                <c:pt idx="0">
                  <c:v>30</c:v>
                </c:pt>
                <c:pt idx="1">
                  <c:v>15</c:v>
                </c:pt>
                <c:pt idx="2">
                  <c:v>0</c:v>
                </c:pt>
              </c:numCache>
            </c:numRef>
          </c:yVal>
          <c:smooth val="0"/>
        </c:ser>
        <c:ser>
          <c:idx val="3"/>
          <c:order val="3"/>
          <c:tx>
            <c:v>MK</c:v>
          </c:tx>
          <c:spPr>
            <a:ln xmlns:a="http://schemas.openxmlformats.org/drawingml/2006/main" w="28575">
              <a:solidFill>
                <a:srgbClr val="A94D16"/>
              </a:solidFill>
            </a:ln>
          </c:spPr>
          <c:marker>
            <c:symbol val="none"/>
          </c:marker>
          <c:dLbls>
            <c:dLbl>
              <c:idx val="1"/>
              <c:tx>
                <c:rich>
                  <a:bodyPr xmlns:a="http://schemas.openxmlformats.org/drawingml/2006/main"/>
                  <a:lstStyle xmlns:a="http://schemas.openxmlformats.org/drawingml/2006/main"/>
                  <a:p xmlns:a="http://schemas.openxmlformats.org/drawingml/2006/main">
                    <a:r>
                      <a:rPr sz="1950" b="1">
                        <a:solidFill>
                          <a:srgbClr val="A94D16"/>
                        </a:solidFill>
                        <a:latin typeface="Arial"/>
                        <a:ea typeface="Arial"/>
                        <a:cs typeface="Arial"/>
                      </a:rPr>
                      <a:t>MK</a:t>
                    </a:r>
                  </a:p>
                </c:rich>
              </c:tx>
              <c:txPr>
                <a:bodyPr xmlns:a="http://schemas.openxmlformats.org/drawingml/2006/main" anchorCtr="1"/>
                <a:lstStyle xmlns:a="http://schemas.openxmlformats.org/drawingml/2006/main"/>
                <a:p xmlns:a="http://schemas.openxmlformats.org/drawingml/2006/main">
                  <a:pPr>
                    <a:defRPr sz="1950" b="1">
                      <a:solidFill>
                        <a:srgbClr val="A94D16"/>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Data'!$G$2:$G$4</c:f>
              <c:numCache>
                <c:formatCode>General</c:formatCode>
                <c:ptCount val="3"/>
                <c:pt idx="0">
                  <c:v>0</c:v>
                </c:pt>
                <c:pt idx="1">
                  <c:v>26.1</c:v>
                </c:pt>
                <c:pt idx="2">
                  <c:v>30</c:v>
                </c:pt>
              </c:numCache>
            </c:numRef>
          </c:xVal>
          <c:yVal>
            <c:numRef>
              <c:f>'Chart Data'!$H$2:$H$4</c:f>
              <c:numCache>
                <c:formatCode>0</c:formatCode>
                <c:ptCount val="3"/>
                <c:pt idx="0">
                  <c:v>6</c:v>
                </c:pt>
                <c:pt idx="1">
                  <c:v>6</c:v>
                </c:pt>
                <c:pt idx="2">
                  <c:v>6</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60"/>
          <c:min val="0"/>
        </c:scaling>
        <c:delete val="0"/>
        <c:axPos val="l"/>
        <c:majorGridlines>
          <c:spPr>
            <a:ln xmlns:a="http://schemas.openxmlformats.org/drawingml/2006/main" w="9525">
              <a:solidFill>
                <a:srgbClr val="C6D2DB"/>
              </a:solidFill>
            </a:ln>
          </c:spPr>
        </c:majorGridlines>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50112"/>
        <c:majorUnit val="12"/>
      </c:valAx>
      <c:valAx>
        <c:axId val="48650112"/>
        <c:scaling>
          <c:orientation val="minMax"/>
          <c:max val="30"/>
          <c:min val="0"/>
        </c:scaling>
        <c:delete val="0"/>
        <c:axPos val="b"/>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72768"/>
        <c:majorUnit val="6"/>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scatterChart>
        <c:scatterStyle val="line"/>
        <c:ser>
          <c:idx val="0"/>
          <c:order val="0"/>
          <c:tx>
            <c:v>guide Q</c:v>
          </c:tx>
          <c:spPr>
            <a:ln xmlns:a="http://schemas.openxmlformats.org/drawingml/2006/main" w="14288">
              <a:solidFill>
                <a:srgbClr val="445B6B"/>
              </a:solidFill>
            </a:ln>
          </c:spPr>
          <c:marker>
            <c:symbol val="none"/>
          </c:marker>
          <c:xVal>
            <c:numRef>
              <c:f>'Chart Data'!$A$2:$A$3</c:f>
              <c:numCache>
                <c:formatCode>General</c:formatCode>
                <c:ptCount val="2"/>
                <c:pt idx="0">
                  <c:v>12</c:v>
                </c:pt>
                <c:pt idx="1">
                  <c:v>12</c:v>
                </c:pt>
              </c:numCache>
            </c:numRef>
          </c:xVal>
          <c:yVal>
            <c:numRef>
              <c:f>'Chart Data'!$B$2:$B$3</c:f>
              <c:numCache>
                <c:formatCode>0</c:formatCode>
                <c:ptCount val="2"/>
                <c:pt idx="0">
                  <c:v>0</c:v>
                </c:pt>
                <c:pt idx="1">
                  <c:v>30</c:v>
                </c:pt>
              </c:numCache>
            </c:numRef>
          </c:yVal>
          <c:smooth val="0"/>
        </c:ser>
        <c:ser>
          <c:idx val="1"/>
          <c:order val="1"/>
          <c:tx>
            <c:v>guide P</c:v>
          </c:tx>
          <c:spPr>
            <a:ln xmlns:a="http://schemas.openxmlformats.org/drawingml/2006/main" w="14288">
              <a:solidFill>
                <a:srgbClr val="445B6B"/>
              </a:solidFill>
            </a:ln>
          </c:spPr>
          <c:marker>
            <c:symbol val="none"/>
          </c:marker>
          <c:dLbls>
            <c:dLbl>
              <c:idx val="1"/>
              <c:tx>
                <c:rich>
                  <a:bodyPr xmlns:a="http://schemas.openxmlformats.org/drawingml/2006/main"/>
                  <a:lstStyle xmlns:a="http://schemas.openxmlformats.org/drawingml/2006/main"/>
                  <a:p xmlns:a="http://schemas.openxmlformats.org/drawingml/2006/main">
                    <a:r>
                      <a:rPr sz="1950" b="1">
                        <a:solidFill>
                          <a:srgbClr val="445B6B"/>
                        </a:solidFill>
                        <a:latin typeface="Arial"/>
                        <a:ea typeface="Arial"/>
                        <a:cs typeface="Arial"/>
                      </a:rPr>
                      <a:t>P_A = 30</a:t>
                    </a:r>
                  </a:p>
                </c:rich>
              </c:tx>
              <c:txPr>
                <a:bodyPr xmlns:a="http://schemas.openxmlformats.org/drawingml/2006/main" anchorCtr="1"/>
                <a:lstStyle xmlns:a="http://schemas.openxmlformats.org/drawingml/2006/main"/>
                <a:p xmlns:a="http://schemas.openxmlformats.org/drawingml/2006/main">
                  <a:pPr>
                    <a:defRPr sz="1950" b="1">
                      <a:solidFill>
                        <a:srgbClr val="445B6B"/>
                      </a:solidFill>
                      <a:latin typeface="Arial"/>
                      <a:ea typeface="Arial"/>
                      <a:cs typeface="Arial"/>
                    </a:defRPr>
                  </a:pPr>
                </a:p>
              </c:txPr>
              <c:dLblPos val="r"/>
              <c:showLegendKey val="0"/>
              <c:showVal val="0"/>
              <c:showCatName val="0"/>
              <c:showSerName val="0"/>
              <c:showPercent val="0"/>
              <c:showBubbleSize val="0"/>
            </c:dLbl>
            <c:showLegendKey val="0"/>
            <c:showVal val="0"/>
            <c:showCatName val="0"/>
            <c:showSerName val="0"/>
            <c:showPercent val="0"/>
            <c:showBubbleSize val="0"/>
          </c:dLbls>
          <c:xVal>
            <c:numRef>
              <c:f>'Chart Data'!$C$2:$C$3</c:f>
              <c:numCache>
                <c:formatCode>General</c:formatCode>
                <c:ptCount val="2"/>
                <c:pt idx="0">
                  <c:v>0</c:v>
                </c:pt>
                <c:pt idx="1">
                  <c:v>12</c:v>
                </c:pt>
              </c:numCache>
            </c:numRef>
          </c:xVal>
          <c:yVal>
            <c:numRef>
              <c:f>'Chart Data'!$D$2:$D$3</c:f>
              <c:numCache>
                <c:formatCode>0</c:formatCode>
                <c:ptCount val="2"/>
                <c:pt idx="0">
                  <c:v>30</c:v>
                </c:pt>
                <c:pt idx="1">
                  <c:v>30</c:v>
                </c:pt>
              </c:numCache>
            </c:numRef>
          </c:yVal>
          <c:smooth val="0"/>
        </c:ser>
        <c:ser>
          <c:idx val="2"/>
          <c:order val="2"/>
          <c:tx>
            <c:v>Vraag / GO</c:v>
          </c:tx>
          <c:spPr>
            <a:ln xmlns:a="http://schemas.openxmlformats.org/drawingml/2006/main" w="38100">
              <a:solidFill>
                <a:srgbClr val="17658A"/>
              </a:solidFill>
            </a:ln>
          </c:spPr>
          <c:marker>
            <c:symbol val="none"/>
          </c:marker>
          <c:dLbls>
            <c:dLbl>
              <c:idx val="1"/>
              <c:tx>
                <c:rich>
                  <a:bodyPr xmlns:a="http://schemas.openxmlformats.org/drawingml/2006/main"/>
                  <a:lstStyle xmlns:a="http://schemas.openxmlformats.org/drawingml/2006/main"/>
                  <a:p xmlns:a="http://schemas.openxmlformats.org/drawingml/2006/main">
                    <a:r>
                      <a:rPr sz="1950" b="1">
                        <a:solidFill>
                          <a:srgbClr val="17658A"/>
                        </a:solidFill>
                        <a:latin typeface="Arial"/>
                        <a:ea typeface="Arial"/>
                        <a:cs typeface="Arial"/>
                      </a:rPr>
                      <a:t>Vraag</a:t>
                    </a:r>
                  </a:p>
                </c:rich>
              </c:tx>
              <c:txPr>
                <a:bodyPr xmlns:a="http://schemas.openxmlformats.org/drawingml/2006/main" anchorCtr="1"/>
                <a:lstStyle xmlns:a="http://schemas.openxmlformats.org/drawingml/2006/main"/>
                <a:p xmlns:a="http://schemas.openxmlformats.org/drawingml/2006/main">
                  <a:pPr>
                    <a:defRPr sz="1950" b="1">
                      <a:solidFill>
                        <a:srgbClr val="17658A"/>
                      </a:solidFill>
                      <a:latin typeface="Arial"/>
                      <a:ea typeface="Arial"/>
                      <a:cs typeface="Arial"/>
                    </a:defRPr>
                  </a:pPr>
                </a:p>
              </c:txPr>
              <c:dLblPos val="r"/>
              <c:showLegendKey val="0"/>
              <c:showVal val="0"/>
              <c:showCatName val="0"/>
              <c:showSerName val="0"/>
              <c:showPercent val="0"/>
              <c:showBubbleSize val="0"/>
            </c:dLbl>
            <c:showLegendKey val="0"/>
            <c:showVal val="0"/>
            <c:showCatName val="0"/>
            <c:showSerName val="0"/>
            <c:showPercent val="0"/>
            <c:showBubbleSize val="0"/>
          </c:dLbls>
          <c:xVal>
            <c:numRef>
              <c:f>'Chart Data'!$E$2:$E$4</c:f>
              <c:numCache>
                <c:formatCode>General</c:formatCode>
                <c:ptCount val="3"/>
                <c:pt idx="0">
                  <c:v>0</c:v>
                </c:pt>
                <c:pt idx="1">
                  <c:v>17.55</c:v>
                </c:pt>
                <c:pt idx="2">
                  <c:v>27</c:v>
                </c:pt>
              </c:numCache>
            </c:numRef>
          </c:xVal>
          <c:yVal>
            <c:numRef>
              <c:f>'Chart Data'!$F$2:$F$4</c:f>
              <c:numCache>
                <c:formatCode>0</c:formatCode>
                <c:ptCount val="3"/>
                <c:pt idx="0">
                  <c:v>54</c:v>
                </c:pt>
                <c:pt idx="1">
                  <c:v>18.9</c:v>
                </c:pt>
                <c:pt idx="2">
                  <c:v>0</c:v>
                </c:pt>
              </c:numCache>
            </c:numRef>
          </c:yVal>
          <c:smooth val="0"/>
        </c:ser>
        <c:ser>
          <c:idx val="3"/>
          <c:order val="3"/>
          <c:tx>
            <c:v>MO</c:v>
          </c:tx>
          <c:spPr>
            <a:ln xmlns:a="http://schemas.openxmlformats.org/drawingml/2006/main" w="28575">
              <a:solidFill>
                <a:srgbClr val="7B2D8E"/>
              </a:solidFill>
              <a:prstDash val="dash"/>
            </a:ln>
          </c:spPr>
          <c:marker>
            <c:symbol val="none"/>
          </c:marker>
          <c:dLbls>
            <c:dLbl>
              <c:idx val="1"/>
              <c:tx>
                <c:rich>
                  <a:bodyPr xmlns:a="http://schemas.openxmlformats.org/drawingml/2006/main"/>
                  <a:lstStyle xmlns:a="http://schemas.openxmlformats.org/drawingml/2006/main"/>
                  <a:p xmlns:a="http://schemas.openxmlformats.org/drawingml/2006/main">
                    <a:r>
                      <a:rPr sz="1950" b="1">
                        <a:solidFill>
                          <a:srgbClr val="7B2D8E"/>
                        </a:solidFill>
                        <a:latin typeface="Arial"/>
                        <a:ea typeface="Arial"/>
                        <a:cs typeface="Arial"/>
                      </a:rPr>
                      <a:t>MO</a:t>
                    </a:r>
                  </a:p>
                </c:rich>
              </c:tx>
              <c:txPr>
                <a:bodyPr xmlns:a="http://schemas.openxmlformats.org/drawingml/2006/main" anchorCtr="1"/>
                <a:lstStyle xmlns:a="http://schemas.openxmlformats.org/drawingml/2006/main"/>
                <a:p xmlns:a="http://schemas.openxmlformats.org/drawingml/2006/main">
                  <a:pPr>
                    <a:defRPr sz="1950" b="1">
                      <a:solidFill>
                        <a:srgbClr val="7B2D8E"/>
                      </a:solidFill>
                      <a:latin typeface="Arial"/>
                      <a:ea typeface="Arial"/>
                      <a:cs typeface="Arial"/>
                    </a:defRPr>
                  </a:pPr>
                </a:p>
              </c:txPr>
              <c:dLblPos val="l"/>
              <c:showLegendKey val="0"/>
              <c:showVal val="0"/>
              <c:showCatName val="0"/>
              <c:showSerName val="0"/>
              <c:showPercent val="0"/>
              <c:showBubbleSize val="0"/>
            </c:dLbl>
            <c:showLegendKey val="0"/>
            <c:showVal val="0"/>
            <c:showCatName val="0"/>
            <c:showSerName val="0"/>
            <c:showPercent val="0"/>
            <c:showBubbleSize val="0"/>
          </c:dLbls>
          <c:xVal>
            <c:numRef>
              <c:f>'Chart Data'!$G$2:$G$4</c:f>
              <c:numCache>
                <c:formatCode>General</c:formatCode>
                <c:ptCount val="3"/>
                <c:pt idx="0">
                  <c:v>0</c:v>
                </c:pt>
                <c:pt idx="1">
                  <c:v>6.75</c:v>
                </c:pt>
                <c:pt idx="2">
                  <c:v>13.5</c:v>
                </c:pt>
              </c:numCache>
            </c:numRef>
          </c:xVal>
          <c:yVal>
            <c:numRef>
              <c:f>'Chart Data'!$H$2:$H$4</c:f>
              <c:numCache>
                <c:formatCode>0</c:formatCode>
                <c:ptCount val="3"/>
                <c:pt idx="0">
                  <c:v>54</c:v>
                </c:pt>
                <c:pt idx="1">
                  <c:v>27</c:v>
                </c:pt>
                <c:pt idx="2">
                  <c:v>0</c:v>
                </c:pt>
              </c:numCache>
            </c:numRef>
          </c:yVal>
          <c:smooth val="0"/>
        </c:ser>
        <c:ser>
          <c:idx val="4"/>
          <c:order val="4"/>
          <c:tx>
            <c:v>MK</c:v>
          </c:tx>
          <c:spPr>
            <a:ln xmlns:a="http://schemas.openxmlformats.org/drawingml/2006/main" w="28575">
              <a:solidFill>
                <a:srgbClr val="A94D16"/>
              </a:solidFill>
            </a:ln>
          </c:spPr>
          <c:marker>
            <c:symbol val="none"/>
          </c:marker>
          <c:dLbls>
            <c:dLbl>
              <c:idx val="1"/>
              <c:tx>
                <c:rich>
                  <a:bodyPr xmlns:a="http://schemas.openxmlformats.org/drawingml/2006/main"/>
                  <a:lstStyle xmlns:a="http://schemas.openxmlformats.org/drawingml/2006/main"/>
                  <a:p xmlns:a="http://schemas.openxmlformats.org/drawingml/2006/main">
                    <a:r>
                      <a:rPr sz="1950" b="1">
                        <a:solidFill>
                          <a:srgbClr val="A94D16"/>
                        </a:solidFill>
                        <a:latin typeface="Arial"/>
                        <a:ea typeface="Arial"/>
                        <a:cs typeface="Arial"/>
                      </a:rPr>
                      <a:t>MK</a:t>
                    </a:r>
                  </a:p>
                </c:rich>
              </c:tx>
              <c:txPr>
                <a:bodyPr xmlns:a="http://schemas.openxmlformats.org/drawingml/2006/main" anchorCtr="1"/>
                <a:lstStyle xmlns:a="http://schemas.openxmlformats.org/drawingml/2006/main"/>
                <a:p xmlns:a="http://schemas.openxmlformats.org/drawingml/2006/main">
                  <a:pPr>
                    <a:defRPr sz="1950" b="1">
                      <a:solidFill>
                        <a:srgbClr val="A94D16"/>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Data'!$I$2:$I$4</c:f>
              <c:numCache>
                <c:formatCode>General</c:formatCode>
                <c:ptCount val="3"/>
                <c:pt idx="0">
                  <c:v>0</c:v>
                </c:pt>
                <c:pt idx="1">
                  <c:v>26.1</c:v>
                </c:pt>
                <c:pt idx="2">
                  <c:v>30</c:v>
                </c:pt>
              </c:numCache>
            </c:numRef>
          </c:xVal>
          <c:yVal>
            <c:numRef>
              <c:f>'Chart Data'!$J$2:$J$4</c:f>
              <c:numCache>
                <c:formatCode>0</c:formatCode>
                <c:ptCount val="3"/>
                <c:pt idx="0">
                  <c:v>6</c:v>
                </c:pt>
                <c:pt idx="1">
                  <c:v>6</c:v>
                </c:pt>
                <c:pt idx="2">
                  <c:v>6</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60"/>
          <c:min val="0"/>
        </c:scaling>
        <c:delete val="0"/>
        <c:axPos val="l"/>
        <c:majorGridlines>
          <c:spPr>
            <a:ln xmlns:a="http://schemas.openxmlformats.org/drawingml/2006/main" w="9525">
              <a:solidFill>
                <a:srgbClr val="C6D2DB"/>
              </a:solidFill>
            </a:ln>
          </c:spPr>
        </c:majorGridlines>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50112"/>
        <c:majorUnit val="12"/>
      </c:valAx>
      <c:valAx>
        <c:axId val="48650112"/>
        <c:scaling>
          <c:orientation val="minMax"/>
          <c:max val="30"/>
          <c:min val="0"/>
        </c:scaling>
        <c:delete val="0"/>
        <c:axPos val="b"/>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72768"/>
        <c:majorUnit val="6"/>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plotArea>
      <c:scatterChart>
        <c:scatterStyle val="line"/>
        <c:ser>
          <c:idx val="0"/>
          <c:order val="0"/>
          <c:tx>
            <c:v>guide Q</c:v>
          </c:tx>
          <c:spPr>
            <a:ln xmlns:a="http://schemas.openxmlformats.org/drawingml/2006/main" w="14288">
              <a:solidFill>
                <a:srgbClr val="445B6B"/>
              </a:solidFill>
            </a:ln>
          </c:spPr>
          <c:marker>
            <c:symbol val="none"/>
          </c:marker>
          <c:xVal>
            <c:numRef>
              <c:f>'Chart Data'!$A$2:$A$3</c:f>
              <c:numCache>
                <c:formatCode>General</c:formatCode>
                <c:ptCount val="2"/>
                <c:pt idx="0">
                  <c:v>6</c:v>
                </c:pt>
                <c:pt idx="1">
                  <c:v>6</c:v>
                </c:pt>
              </c:numCache>
            </c:numRef>
          </c:xVal>
          <c:yVal>
            <c:numRef>
              <c:f>'Chart Data'!$B$2:$B$3</c:f>
              <c:numCache>
                <c:formatCode>0</c:formatCode>
                <c:ptCount val="2"/>
                <c:pt idx="0">
                  <c:v>0</c:v>
                </c:pt>
                <c:pt idx="1">
                  <c:v>18</c:v>
                </c:pt>
              </c:numCache>
            </c:numRef>
          </c:yVal>
          <c:smooth val="0"/>
        </c:ser>
        <c:ser>
          <c:idx val="1"/>
          <c:order val="1"/>
          <c:tx>
            <c:v>guide P</c:v>
          </c:tx>
          <c:spPr>
            <a:ln xmlns:a="http://schemas.openxmlformats.org/drawingml/2006/main" w="14288">
              <a:solidFill>
                <a:srgbClr val="445B6B"/>
              </a:solidFill>
            </a:ln>
          </c:spPr>
          <c:marker>
            <c:symbol val="none"/>
          </c:marker>
          <c:dLbls>
            <c:dLbl>
              <c:idx val="1"/>
              <c:tx>
                <c:rich>
                  <a:bodyPr xmlns:a="http://schemas.openxmlformats.org/drawingml/2006/main"/>
                  <a:lstStyle xmlns:a="http://schemas.openxmlformats.org/drawingml/2006/main"/>
                  <a:p xmlns:a="http://schemas.openxmlformats.org/drawingml/2006/main">
                    <a:r>
                      <a:rPr sz="1950" b="1">
                        <a:solidFill>
                          <a:srgbClr val="445B6B"/>
                        </a:solidFill>
                        <a:latin typeface="Arial"/>
                        <a:ea typeface="Arial"/>
                        <a:cs typeface="Arial"/>
                      </a:rPr>
                      <a:t>P_B = 18</a:t>
                    </a:r>
                  </a:p>
                </c:rich>
              </c:tx>
              <c:txPr>
                <a:bodyPr xmlns:a="http://schemas.openxmlformats.org/drawingml/2006/main" anchorCtr="1"/>
                <a:lstStyle xmlns:a="http://schemas.openxmlformats.org/drawingml/2006/main"/>
                <a:p xmlns:a="http://schemas.openxmlformats.org/drawingml/2006/main">
                  <a:pPr>
                    <a:defRPr sz="1950" b="1">
                      <a:solidFill>
                        <a:srgbClr val="445B6B"/>
                      </a:solidFill>
                      <a:latin typeface="Arial"/>
                      <a:ea typeface="Arial"/>
                      <a:cs typeface="Arial"/>
                    </a:defRPr>
                  </a:pPr>
                </a:p>
              </c:txPr>
              <c:dLblPos val="r"/>
              <c:showLegendKey val="0"/>
              <c:showVal val="0"/>
              <c:showCatName val="0"/>
              <c:showSerName val="0"/>
              <c:showPercent val="0"/>
              <c:showBubbleSize val="0"/>
            </c:dLbl>
            <c:showLegendKey val="0"/>
            <c:showVal val="0"/>
            <c:showCatName val="0"/>
            <c:showSerName val="0"/>
            <c:showPercent val="0"/>
            <c:showBubbleSize val="0"/>
          </c:dLbls>
          <c:xVal>
            <c:numRef>
              <c:f>'Chart Data'!$C$2:$C$3</c:f>
              <c:numCache>
                <c:formatCode>General</c:formatCode>
                <c:ptCount val="2"/>
                <c:pt idx="0">
                  <c:v>0</c:v>
                </c:pt>
                <c:pt idx="1">
                  <c:v>6</c:v>
                </c:pt>
              </c:numCache>
            </c:numRef>
          </c:xVal>
          <c:yVal>
            <c:numRef>
              <c:f>'Chart Data'!$D$2:$D$3</c:f>
              <c:numCache>
                <c:formatCode>0</c:formatCode>
                <c:ptCount val="2"/>
                <c:pt idx="0">
                  <c:v>18</c:v>
                </c:pt>
                <c:pt idx="1">
                  <c:v>18</c:v>
                </c:pt>
              </c:numCache>
            </c:numRef>
          </c:yVal>
          <c:smooth val="0"/>
        </c:ser>
        <c:ser>
          <c:idx val="2"/>
          <c:order val="2"/>
          <c:tx>
            <c:v>Vraag / GO</c:v>
          </c:tx>
          <c:spPr>
            <a:ln xmlns:a="http://schemas.openxmlformats.org/drawingml/2006/main" w="38100">
              <a:solidFill>
                <a:srgbClr val="17658A"/>
              </a:solidFill>
            </a:ln>
          </c:spPr>
          <c:marker>
            <c:symbol val="none"/>
          </c:marker>
          <c:dLbls>
            <c:dLbl>
              <c:idx val="1"/>
              <c:tx>
                <c:rich>
                  <a:bodyPr xmlns:a="http://schemas.openxmlformats.org/drawingml/2006/main"/>
                  <a:lstStyle xmlns:a="http://schemas.openxmlformats.org/drawingml/2006/main"/>
                  <a:p xmlns:a="http://schemas.openxmlformats.org/drawingml/2006/main">
                    <a:r>
                      <a:rPr sz="1950" b="1">
                        <a:solidFill>
                          <a:srgbClr val="17658A"/>
                        </a:solidFill>
                        <a:latin typeface="Arial"/>
                        <a:ea typeface="Arial"/>
                        <a:cs typeface="Arial"/>
                      </a:rPr>
                      <a:t>Vraag</a:t>
                    </a:r>
                  </a:p>
                </c:rich>
              </c:tx>
              <c:txPr>
                <a:bodyPr xmlns:a="http://schemas.openxmlformats.org/drawingml/2006/main" anchorCtr="1"/>
                <a:lstStyle xmlns:a="http://schemas.openxmlformats.org/drawingml/2006/main"/>
                <a:p xmlns:a="http://schemas.openxmlformats.org/drawingml/2006/main">
                  <a:pPr>
                    <a:defRPr sz="1950" b="1">
                      <a:solidFill>
                        <a:srgbClr val="17658A"/>
                      </a:solidFill>
                      <a:latin typeface="Arial"/>
                      <a:ea typeface="Arial"/>
                      <a:cs typeface="Arial"/>
                    </a:defRPr>
                  </a:pPr>
                </a:p>
              </c:txPr>
              <c:dLblPos val="r"/>
              <c:showLegendKey val="0"/>
              <c:showVal val="0"/>
              <c:showCatName val="0"/>
              <c:showSerName val="0"/>
              <c:showPercent val="0"/>
              <c:showBubbleSize val="0"/>
            </c:dLbl>
            <c:showLegendKey val="0"/>
            <c:showVal val="0"/>
            <c:showCatName val="0"/>
            <c:showSerName val="0"/>
            <c:showPercent val="0"/>
            <c:showBubbleSize val="0"/>
          </c:dLbls>
          <c:xVal>
            <c:numRef>
              <c:f>'Chart Data'!$E$2:$E$4</c:f>
              <c:numCache>
                <c:formatCode>General</c:formatCode>
                <c:ptCount val="3"/>
                <c:pt idx="0">
                  <c:v>0</c:v>
                </c:pt>
                <c:pt idx="1">
                  <c:v>9.75</c:v>
                </c:pt>
                <c:pt idx="2">
                  <c:v>15</c:v>
                </c:pt>
              </c:numCache>
            </c:numRef>
          </c:xVal>
          <c:yVal>
            <c:numRef>
              <c:f>'Chart Data'!$F$2:$F$4</c:f>
              <c:numCache>
                <c:formatCode>0</c:formatCode>
                <c:ptCount val="3"/>
                <c:pt idx="0">
                  <c:v>30</c:v>
                </c:pt>
                <c:pt idx="1">
                  <c:v>10.5</c:v>
                </c:pt>
                <c:pt idx="2">
                  <c:v>0</c:v>
                </c:pt>
              </c:numCache>
            </c:numRef>
          </c:yVal>
          <c:smooth val="0"/>
        </c:ser>
        <c:ser>
          <c:idx val="3"/>
          <c:order val="3"/>
          <c:tx>
            <c:v>MO</c:v>
          </c:tx>
          <c:spPr>
            <a:ln xmlns:a="http://schemas.openxmlformats.org/drawingml/2006/main" w="28575">
              <a:solidFill>
                <a:srgbClr val="7B2D8E"/>
              </a:solidFill>
              <a:prstDash val="dash"/>
            </a:ln>
          </c:spPr>
          <c:marker>
            <c:symbol val="none"/>
          </c:marker>
          <c:dLbls>
            <c:dLbl>
              <c:idx val="1"/>
              <c:tx>
                <c:rich>
                  <a:bodyPr xmlns:a="http://schemas.openxmlformats.org/drawingml/2006/main"/>
                  <a:lstStyle xmlns:a="http://schemas.openxmlformats.org/drawingml/2006/main"/>
                  <a:p xmlns:a="http://schemas.openxmlformats.org/drawingml/2006/main">
                    <a:r>
                      <a:rPr sz="1950" b="1">
                        <a:solidFill>
                          <a:srgbClr val="7B2D8E"/>
                        </a:solidFill>
                        <a:latin typeface="Arial"/>
                        <a:ea typeface="Arial"/>
                        <a:cs typeface="Arial"/>
                      </a:rPr>
                      <a:t>MO</a:t>
                    </a:r>
                  </a:p>
                </c:rich>
              </c:tx>
              <c:txPr>
                <a:bodyPr xmlns:a="http://schemas.openxmlformats.org/drawingml/2006/main" anchorCtr="1"/>
                <a:lstStyle xmlns:a="http://schemas.openxmlformats.org/drawingml/2006/main"/>
                <a:p xmlns:a="http://schemas.openxmlformats.org/drawingml/2006/main">
                  <a:pPr>
                    <a:defRPr sz="1950" b="1">
                      <a:solidFill>
                        <a:srgbClr val="7B2D8E"/>
                      </a:solidFill>
                      <a:latin typeface="Arial"/>
                      <a:ea typeface="Arial"/>
                      <a:cs typeface="Arial"/>
                    </a:defRPr>
                  </a:pPr>
                </a:p>
              </c:txPr>
              <c:dLblPos val="l"/>
              <c:showLegendKey val="0"/>
              <c:showVal val="0"/>
              <c:showCatName val="0"/>
              <c:showSerName val="0"/>
              <c:showPercent val="0"/>
              <c:showBubbleSize val="0"/>
            </c:dLbl>
            <c:showLegendKey val="0"/>
            <c:showVal val="0"/>
            <c:showCatName val="0"/>
            <c:showSerName val="0"/>
            <c:showPercent val="0"/>
            <c:showBubbleSize val="0"/>
          </c:dLbls>
          <c:xVal>
            <c:numRef>
              <c:f>'Chart Data'!$G$2:$G$4</c:f>
              <c:numCache>
                <c:formatCode>General</c:formatCode>
                <c:ptCount val="3"/>
                <c:pt idx="0">
                  <c:v>0</c:v>
                </c:pt>
                <c:pt idx="1">
                  <c:v>3.75</c:v>
                </c:pt>
                <c:pt idx="2">
                  <c:v>7.5</c:v>
                </c:pt>
              </c:numCache>
            </c:numRef>
          </c:xVal>
          <c:yVal>
            <c:numRef>
              <c:f>'Chart Data'!$H$2:$H$4</c:f>
              <c:numCache>
                <c:formatCode>0</c:formatCode>
                <c:ptCount val="3"/>
                <c:pt idx="0">
                  <c:v>30</c:v>
                </c:pt>
                <c:pt idx="1">
                  <c:v>15</c:v>
                </c:pt>
                <c:pt idx="2">
                  <c:v>0</c:v>
                </c:pt>
              </c:numCache>
            </c:numRef>
          </c:yVal>
          <c:smooth val="0"/>
        </c:ser>
        <c:ser>
          <c:idx val="4"/>
          <c:order val="4"/>
          <c:tx>
            <c:v>MK</c:v>
          </c:tx>
          <c:spPr>
            <a:ln xmlns:a="http://schemas.openxmlformats.org/drawingml/2006/main" w="28575">
              <a:solidFill>
                <a:srgbClr val="A94D16"/>
              </a:solidFill>
            </a:ln>
          </c:spPr>
          <c:marker>
            <c:symbol val="none"/>
          </c:marker>
          <c:dLbls>
            <c:dLbl>
              <c:idx val="1"/>
              <c:tx>
                <c:rich>
                  <a:bodyPr xmlns:a="http://schemas.openxmlformats.org/drawingml/2006/main"/>
                  <a:lstStyle xmlns:a="http://schemas.openxmlformats.org/drawingml/2006/main"/>
                  <a:p xmlns:a="http://schemas.openxmlformats.org/drawingml/2006/main">
                    <a:r>
                      <a:rPr sz="1950" b="1">
                        <a:solidFill>
                          <a:srgbClr val="A94D16"/>
                        </a:solidFill>
                        <a:latin typeface="Arial"/>
                        <a:ea typeface="Arial"/>
                        <a:cs typeface="Arial"/>
                      </a:rPr>
                      <a:t>MK</a:t>
                    </a:r>
                  </a:p>
                </c:rich>
              </c:tx>
              <c:txPr>
                <a:bodyPr xmlns:a="http://schemas.openxmlformats.org/drawingml/2006/main" anchorCtr="1"/>
                <a:lstStyle xmlns:a="http://schemas.openxmlformats.org/drawingml/2006/main"/>
                <a:p xmlns:a="http://schemas.openxmlformats.org/drawingml/2006/main">
                  <a:pPr>
                    <a:defRPr sz="1950" b="1">
                      <a:solidFill>
                        <a:srgbClr val="A94D16"/>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Data'!$I$2:$I$4</c:f>
              <c:numCache>
                <c:formatCode>General</c:formatCode>
                <c:ptCount val="3"/>
                <c:pt idx="0">
                  <c:v>0</c:v>
                </c:pt>
                <c:pt idx="1">
                  <c:v>26.1</c:v>
                </c:pt>
                <c:pt idx="2">
                  <c:v>30</c:v>
                </c:pt>
              </c:numCache>
            </c:numRef>
          </c:xVal>
          <c:yVal>
            <c:numRef>
              <c:f>'Chart Data'!$J$2:$J$4</c:f>
              <c:numCache>
                <c:formatCode>0</c:formatCode>
                <c:ptCount val="3"/>
                <c:pt idx="0">
                  <c:v>6</c:v>
                </c:pt>
                <c:pt idx="1">
                  <c:v>6</c:v>
                </c:pt>
                <c:pt idx="2">
                  <c:v>6</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60"/>
          <c:min val="0"/>
        </c:scaling>
        <c:delete val="0"/>
        <c:axPos val="l"/>
        <c:majorGridlines>
          <c:spPr>
            <a:ln xmlns:a="http://schemas.openxmlformats.org/drawingml/2006/main" w="9525">
              <a:solidFill>
                <a:srgbClr val="C6D2DB"/>
              </a:solidFill>
            </a:ln>
          </c:spPr>
        </c:majorGridlines>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50112"/>
        <c:majorUnit val="12"/>
      </c:valAx>
      <c:valAx>
        <c:axId val="48650112"/>
        <c:scaling>
          <c:orientation val="minMax"/>
          <c:max val="30"/>
          <c:min val="0"/>
        </c:scaling>
        <c:delete val="0"/>
        <c:axPos val="b"/>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72768"/>
        <c:majorUnit val="6"/>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5.xml><?xml version="1.0" encoding="utf-8"?>
<c:chartSpace xmlns:c="http://schemas.openxmlformats.org/drawingml/2006/chart" xmlns:r="http://schemas.openxmlformats.org/officeDocument/2006/relationships">
  <c:lang val="en-US"/>
  <c:chart>
    <c:plotArea>
      <c:scatterChart>
        <c:scatterStyle val="line"/>
        <c:ser>
          <c:idx val="0"/>
          <c:order val="0"/>
          <c:tx>
            <c:v>Vraag / GO</c:v>
          </c:tx>
          <c:spPr>
            <a:ln xmlns:a="http://schemas.openxmlformats.org/drawingml/2006/main" w="38100">
              <a:solidFill>
                <a:srgbClr val="17658A"/>
              </a:solidFill>
            </a:ln>
          </c:spPr>
          <c:marker>
            <c:symbol val="none"/>
          </c:marker>
          <c:dLbls>
            <c:dLbl>
              <c:idx val="1"/>
              <c:tx>
                <c:rich>
                  <a:bodyPr xmlns:a="http://schemas.openxmlformats.org/drawingml/2006/main"/>
                  <a:lstStyle xmlns:a="http://schemas.openxmlformats.org/drawingml/2006/main"/>
                  <a:p xmlns:a="http://schemas.openxmlformats.org/drawingml/2006/main">
                    <a:r>
                      <a:rPr sz="1950" b="1">
                        <a:solidFill>
                          <a:srgbClr val="17658A"/>
                        </a:solidFill>
                        <a:latin typeface="Arial"/>
                        <a:ea typeface="Arial"/>
                        <a:cs typeface="Arial"/>
                      </a:rPr>
                      <a:t>Vraag</a:t>
                    </a:r>
                  </a:p>
                </c:rich>
              </c:tx>
              <c:txPr>
                <a:bodyPr xmlns:a="http://schemas.openxmlformats.org/drawingml/2006/main" anchorCtr="1"/>
                <a:lstStyle xmlns:a="http://schemas.openxmlformats.org/drawingml/2006/main"/>
                <a:p xmlns:a="http://schemas.openxmlformats.org/drawingml/2006/main">
                  <a:pPr>
                    <a:defRPr sz="1950" b="1">
                      <a:solidFill>
                        <a:srgbClr val="17658A"/>
                      </a:solidFill>
                      <a:latin typeface="Arial"/>
                      <a:ea typeface="Arial"/>
                      <a:cs typeface="Arial"/>
                    </a:defRPr>
                  </a:pPr>
                </a:p>
              </c:txPr>
              <c:dLblPos val="r"/>
              <c:showLegendKey val="0"/>
              <c:showVal val="0"/>
              <c:showCatName val="0"/>
              <c:showSerName val="0"/>
              <c:showPercent val="0"/>
              <c:showBubbleSize val="0"/>
            </c:dLbl>
            <c:showLegendKey val="0"/>
            <c:showVal val="0"/>
            <c:showCatName val="0"/>
            <c:showSerName val="0"/>
            <c:showPercent val="0"/>
            <c:showBubbleSize val="0"/>
          </c:dLbls>
          <c:xVal>
            <c:numRef>
              <c:f>'Chart Data'!$A$2:$A$4</c:f>
              <c:numCache>
                <c:formatCode>General</c:formatCode>
                <c:ptCount val="3"/>
                <c:pt idx="0">
                  <c:v>0</c:v>
                </c:pt>
                <c:pt idx="1">
                  <c:v>22</c:v>
                </c:pt>
                <c:pt idx="2">
                  <c:v>40</c:v>
                </c:pt>
              </c:numCache>
            </c:numRef>
          </c:xVal>
          <c:yVal>
            <c:numRef>
              <c:f>'Chart Data'!$B$2:$B$4</c:f>
              <c:numCache>
                <c:formatCode>0</c:formatCode>
                <c:ptCount val="3"/>
                <c:pt idx="0">
                  <c:v>40</c:v>
                </c:pt>
                <c:pt idx="1">
                  <c:v>18</c:v>
                </c:pt>
                <c:pt idx="2">
                  <c:v>0</c:v>
                </c:pt>
              </c:numCache>
            </c:numRef>
          </c:yVal>
          <c:smooth val="0"/>
        </c:ser>
        <c:ser>
          <c:idx val="1"/>
          <c:order val="1"/>
          <c:tx>
            <c:v>MO</c:v>
          </c:tx>
          <c:spPr>
            <a:ln xmlns:a="http://schemas.openxmlformats.org/drawingml/2006/main" w="28575">
              <a:solidFill>
                <a:srgbClr val="7B2D8E"/>
              </a:solidFill>
              <a:prstDash val="dash"/>
            </a:ln>
          </c:spPr>
          <c:marker>
            <c:symbol val="none"/>
          </c:marker>
          <c:dLbls>
            <c:dLbl>
              <c:idx val="1"/>
              <c:tx>
                <c:rich>
                  <a:bodyPr xmlns:a="http://schemas.openxmlformats.org/drawingml/2006/main"/>
                  <a:lstStyle xmlns:a="http://schemas.openxmlformats.org/drawingml/2006/main"/>
                  <a:p xmlns:a="http://schemas.openxmlformats.org/drawingml/2006/main">
                    <a:r>
                      <a:rPr sz="1950" b="1">
                        <a:solidFill>
                          <a:srgbClr val="7B2D8E"/>
                        </a:solidFill>
                        <a:latin typeface="Arial"/>
                        <a:ea typeface="Arial"/>
                        <a:cs typeface="Arial"/>
                      </a:rPr>
                      <a:t>MO</a:t>
                    </a:r>
                  </a:p>
                </c:rich>
              </c:tx>
              <c:txPr>
                <a:bodyPr xmlns:a="http://schemas.openxmlformats.org/drawingml/2006/main" anchorCtr="1"/>
                <a:lstStyle xmlns:a="http://schemas.openxmlformats.org/drawingml/2006/main"/>
                <a:p xmlns:a="http://schemas.openxmlformats.org/drawingml/2006/main">
                  <a:pPr>
                    <a:defRPr sz="1950" b="1">
                      <a:solidFill>
                        <a:srgbClr val="7B2D8E"/>
                      </a:solidFill>
                      <a:latin typeface="Arial"/>
                      <a:ea typeface="Arial"/>
                      <a:cs typeface="Arial"/>
                    </a:defRPr>
                  </a:pPr>
                </a:p>
              </c:txPr>
              <c:dLblPos val="l"/>
              <c:showLegendKey val="0"/>
              <c:showVal val="0"/>
              <c:showCatName val="0"/>
              <c:showSerName val="0"/>
              <c:showPercent val="0"/>
              <c:showBubbleSize val="0"/>
            </c:dLbl>
            <c:showLegendKey val="0"/>
            <c:showVal val="0"/>
            <c:showCatName val="0"/>
            <c:showSerName val="0"/>
            <c:showPercent val="0"/>
            <c:showBubbleSize val="0"/>
          </c:dLbls>
          <c:xVal>
            <c:numRef>
              <c:f>'Chart Data'!$C$2:$C$4</c:f>
              <c:numCache>
                <c:formatCode>General</c:formatCode>
                <c:ptCount val="3"/>
                <c:pt idx="0">
                  <c:v>0</c:v>
                </c:pt>
                <c:pt idx="1">
                  <c:v>10</c:v>
                </c:pt>
                <c:pt idx="2">
                  <c:v>20</c:v>
                </c:pt>
              </c:numCache>
            </c:numRef>
          </c:xVal>
          <c:yVal>
            <c:numRef>
              <c:f>'Chart Data'!$D$2:$D$4</c:f>
              <c:numCache>
                <c:formatCode>0</c:formatCode>
                <c:ptCount val="3"/>
                <c:pt idx="0">
                  <c:v>40</c:v>
                </c:pt>
                <c:pt idx="1">
                  <c:v>20</c:v>
                </c:pt>
                <c:pt idx="2">
                  <c:v>0</c:v>
                </c:pt>
              </c:numCache>
            </c:numRef>
          </c:yVal>
          <c:smooth val="0"/>
        </c:ser>
        <c:ser>
          <c:idx val="2"/>
          <c:order val="2"/>
          <c:tx>
            <c:v>MK</c:v>
          </c:tx>
          <c:spPr>
            <a:ln xmlns:a="http://schemas.openxmlformats.org/drawingml/2006/main" w="28575">
              <a:solidFill>
                <a:srgbClr val="A94D16"/>
              </a:solidFill>
            </a:ln>
          </c:spPr>
          <c:marker>
            <c:symbol val="none"/>
          </c:marker>
          <c:dLbls>
            <c:dLbl>
              <c:idx val="1"/>
              <c:tx>
                <c:rich>
                  <a:bodyPr xmlns:a="http://schemas.openxmlformats.org/drawingml/2006/main"/>
                  <a:lstStyle xmlns:a="http://schemas.openxmlformats.org/drawingml/2006/main"/>
                  <a:p xmlns:a="http://schemas.openxmlformats.org/drawingml/2006/main">
                    <a:r>
                      <a:rPr sz="1950" b="1">
                        <a:solidFill>
                          <a:srgbClr val="A94D16"/>
                        </a:solidFill>
                        <a:latin typeface="Arial"/>
                        <a:ea typeface="Arial"/>
                        <a:cs typeface="Arial"/>
                      </a:rPr>
                      <a:t>MK</a:t>
                    </a:r>
                  </a:p>
                </c:rich>
              </c:tx>
              <c:txPr>
                <a:bodyPr xmlns:a="http://schemas.openxmlformats.org/drawingml/2006/main" anchorCtr="1"/>
                <a:lstStyle xmlns:a="http://schemas.openxmlformats.org/drawingml/2006/main"/>
                <a:p xmlns:a="http://schemas.openxmlformats.org/drawingml/2006/main">
                  <a:pPr>
                    <a:defRPr sz="1950" b="1">
                      <a:solidFill>
                        <a:srgbClr val="A94D16"/>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Data'!$E$2:$E$4</c:f>
              <c:numCache>
                <c:formatCode>General</c:formatCode>
                <c:ptCount val="3"/>
                <c:pt idx="0">
                  <c:v>0</c:v>
                </c:pt>
                <c:pt idx="1">
                  <c:v>34.8</c:v>
                </c:pt>
                <c:pt idx="2">
                  <c:v>40</c:v>
                </c:pt>
              </c:numCache>
            </c:numRef>
          </c:xVal>
          <c:yVal>
            <c:numRef>
              <c:f>'Chart Data'!$F$2:$F$4</c:f>
              <c:numCache>
                <c:formatCode>0</c:formatCode>
                <c:ptCount val="3"/>
                <c:pt idx="0">
                  <c:v>8</c:v>
                </c:pt>
                <c:pt idx="1">
                  <c:v>8</c:v>
                </c:pt>
                <c:pt idx="2">
                  <c:v>8</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40"/>
          <c:min val="0"/>
        </c:scaling>
        <c:delete val="0"/>
        <c:axPos val="l"/>
        <c:majorGridlines>
          <c:spPr>
            <a:ln xmlns:a="http://schemas.openxmlformats.org/drawingml/2006/main" w="9525">
              <a:solidFill>
                <a:srgbClr val="C6D2DB"/>
              </a:solidFill>
            </a:ln>
          </c:spPr>
        </c:majorGridlines>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50112"/>
        <c:majorUnit val="8"/>
      </c:valAx>
      <c:valAx>
        <c:axId val="48650112"/>
        <c:scaling>
          <c:orientation val="minMax"/>
          <c:max val="40"/>
          <c:min val="0"/>
        </c:scaling>
        <c:delete val="0"/>
        <c:axPos val="b"/>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72768"/>
        <c:majorUnit val="1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6.xml><?xml version="1.0" encoding="utf-8"?>
<c:chartSpace xmlns:c="http://schemas.openxmlformats.org/drawingml/2006/chart" xmlns:r="http://schemas.openxmlformats.org/officeDocument/2006/relationships">
  <c:lang val="en-US"/>
  <c:chart>
    <c:plotArea>
      <c:scatterChart>
        <c:scatterStyle val="line"/>
        <c:ser>
          <c:idx val="0"/>
          <c:order val="0"/>
          <c:tx>
            <c:v>Vraag / GO</c:v>
          </c:tx>
          <c:spPr>
            <a:ln xmlns:a="http://schemas.openxmlformats.org/drawingml/2006/main" w="38100">
              <a:solidFill>
                <a:srgbClr val="17658A"/>
              </a:solidFill>
            </a:ln>
          </c:spPr>
          <c:marker>
            <c:symbol val="none"/>
          </c:marker>
          <c:dLbls>
            <c:dLbl>
              <c:idx val="1"/>
              <c:tx>
                <c:rich>
                  <a:bodyPr xmlns:a="http://schemas.openxmlformats.org/drawingml/2006/main"/>
                  <a:lstStyle xmlns:a="http://schemas.openxmlformats.org/drawingml/2006/main"/>
                  <a:p xmlns:a="http://schemas.openxmlformats.org/drawingml/2006/main">
                    <a:r>
                      <a:rPr sz="1950" b="1">
                        <a:solidFill>
                          <a:srgbClr val="17658A"/>
                        </a:solidFill>
                        <a:latin typeface="Arial"/>
                        <a:ea typeface="Arial"/>
                        <a:cs typeface="Arial"/>
                      </a:rPr>
                      <a:t>Vraag</a:t>
                    </a:r>
                  </a:p>
                </c:rich>
              </c:tx>
              <c:txPr>
                <a:bodyPr xmlns:a="http://schemas.openxmlformats.org/drawingml/2006/main" anchorCtr="1"/>
                <a:lstStyle xmlns:a="http://schemas.openxmlformats.org/drawingml/2006/main"/>
                <a:p xmlns:a="http://schemas.openxmlformats.org/drawingml/2006/main">
                  <a:pPr>
                    <a:defRPr sz="1950" b="1">
                      <a:solidFill>
                        <a:srgbClr val="17658A"/>
                      </a:solidFill>
                      <a:latin typeface="Arial"/>
                      <a:ea typeface="Arial"/>
                      <a:cs typeface="Arial"/>
                    </a:defRPr>
                  </a:pPr>
                </a:p>
              </c:txPr>
              <c:dLblPos val="r"/>
              <c:showLegendKey val="0"/>
              <c:showVal val="0"/>
              <c:showCatName val="0"/>
              <c:showSerName val="0"/>
              <c:showPercent val="0"/>
              <c:showBubbleSize val="0"/>
            </c:dLbl>
            <c:showLegendKey val="0"/>
            <c:showVal val="0"/>
            <c:showCatName val="0"/>
            <c:showSerName val="0"/>
            <c:showPercent val="0"/>
            <c:showBubbleSize val="0"/>
          </c:dLbls>
          <c:xVal>
            <c:numRef>
              <c:f>'Chart Data'!$A$2:$A$4</c:f>
              <c:numCache>
                <c:formatCode>General</c:formatCode>
                <c:ptCount val="3"/>
                <c:pt idx="0">
                  <c:v>0</c:v>
                </c:pt>
                <c:pt idx="1">
                  <c:v>13.2</c:v>
                </c:pt>
                <c:pt idx="2">
                  <c:v>24</c:v>
                </c:pt>
              </c:numCache>
            </c:numRef>
          </c:xVal>
          <c:yVal>
            <c:numRef>
              <c:f>'Chart Data'!$B$2:$B$4</c:f>
              <c:numCache>
                <c:formatCode>0</c:formatCode>
                <c:ptCount val="3"/>
                <c:pt idx="0">
                  <c:v>24</c:v>
                </c:pt>
                <c:pt idx="1">
                  <c:v>10.8</c:v>
                </c:pt>
                <c:pt idx="2">
                  <c:v>0</c:v>
                </c:pt>
              </c:numCache>
            </c:numRef>
          </c:yVal>
          <c:smooth val="0"/>
        </c:ser>
        <c:ser>
          <c:idx val="1"/>
          <c:order val="1"/>
          <c:tx>
            <c:v>MO</c:v>
          </c:tx>
          <c:spPr>
            <a:ln xmlns:a="http://schemas.openxmlformats.org/drawingml/2006/main" w="28575">
              <a:solidFill>
                <a:srgbClr val="7B2D8E"/>
              </a:solidFill>
              <a:prstDash val="dash"/>
            </a:ln>
          </c:spPr>
          <c:marker>
            <c:symbol val="none"/>
          </c:marker>
          <c:dLbls>
            <c:dLbl>
              <c:idx val="1"/>
              <c:tx>
                <c:rich>
                  <a:bodyPr xmlns:a="http://schemas.openxmlformats.org/drawingml/2006/main"/>
                  <a:lstStyle xmlns:a="http://schemas.openxmlformats.org/drawingml/2006/main"/>
                  <a:p xmlns:a="http://schemas.openxmlformats.org/drawingml/2006/main">
                    <a:r>
                      <a:rPr sz="1950" b="1">
                        <a:solidFill>
                          <a:srgbClr val="7B2D8E"/>
                        </a:solidFill>
                        <a:latin typeface="Arial"/>
                        <a:ea typeface="Arial"/>
                        <a:cs typeface="Arial"/>
                      </a:rPr>
                      <a:t>MO</a:t>
                    </a:r>
                  </a:p>
                </c:rich>
              </c:tx>
              <c:txPr>
                <a:bodyPr xmlns:a="http://schemas.openxmlformats.org/drawingml/2006/main" anchorCtr="1"/>
                <a:lstStyle xmlns:a="http://schemas.openxmlformats.org/drawingml/2006/main"/>
                <a:p xmlns:a="http://schemas.openxmlformats.org/drawingml/2006/main">
                  <a:pPr>
                    <a:defRPr sz="1950" b="1">
                      <a:solidFill>
                        <a:srgbClr val="7B2D8E"/>
                      </a:solidFill>
                      <a:latin typeface="Arial"/>
                      <a:ea typeface="Arial"/>
                      <a:cs typeface="Arial"/>
                    </a:defRPr>
                  </a:pPr>
                </a:p>
              </c:txPr>
              <c:dLblPos val="l"/>
              <c:showLegendKey val="0"/>
              <c:showVal val="0"/>
              <c:showCatName val="0"/>
              <c:showSerName val="0"/>
              <c:showPercent val="0"/>
              <c:showBubbleSize val="0"/>
            </c:dLbl>
            <c:showLegendKey val="0"/>
            <c:showVal val="0"/>
            <c:showCatName val="0"/>
            <c:showSerName val="0"/>
            <c:showPercent val="0"/>
            <c:showBubbleSize val="0"/>
          </c:dLbls>
          <c:xVal>
            <c:numRef>
              <c:f>'Chart Data'!$C$2:$C$4</c:f>
              <c:numCache>
                <c:formatCode>General</c:formatCode>
                <c:ptCount val="3"/>
                <c:pt idx="0">
                  <c:v>0</c:v>
                </c:pt>
                <c:pt idx="1">
                  <c:v>6</c:v>
                </c:pt>
                <c:pt idx="2">
                  <c:v>12</c:v>
                </c:pt>
              </c:numCache>
            </c:numRef>
          </c:xVal>
          <c:yVal>
            <c:numRef>
              <c:f>'Chart Data'!$D$2:$D$4</c:f>
              <c:numCache>
                <c:formatCode>0</c:formatCode>
                <c:ptCount val="3"/>
                <c:pt idx="0">
                  <c:v>24</c:v>
                </c:pt>
                <c:pt idx="1">
                  <c:v>12</c:v>
                </c:pt>
                <c:pt idx="2">
                  <c:v>0</c:v>
                </c:pt>
              </c:numCache>
            </c:numRef>
          </c:yVal>
          <c:smooth val="0"/>
        </c:ser>
        <c:ser>
          <c:idx val="2"/>
          <c:order val="2"/>
          <c:tx>
            <c:v>MK</c:v>
          </c:tx>
          <c:spPr>
            <a:ln xmlns:a="http://schemas.openxmlformats.org/drawingml/2006/main" w="28575">
              <a:solidFill>
                <a:srgbClr val="A94D16"/>
              </a:solidFill>
            </a:ln>
          </c:spPr>
          <c:marker>
            <c:symbol val="none"/>
          </c:marker>
          <c:dLbls>
            <c:dLbl>
              <c:idx val="1"/>
              <c:tx>
                <c:rich>
                  <a:bodyPr xmlns:a="http://schemas.openxmlformats.org/drawingml/2006/main"/>
                  <a:lstStyle xmlns:a="http://schemas.openxmlformats.org/drawingml/2006/main"/>
                  <a:p xmlns:a="http://schemas.openxmlformats.org/drawingml/2006/main">
                    <a:r>
                      <a:rPr sz="1950" b="1">
                        <a:solidFill>
                          <a:srgbClr val="A94D16"/>
                        </a:solidFill>
                        <a:latin typeface="Arial"/>
                        <a:ea typeface="Arial"/>
                        <a:cs typeface="Arial"/>
                      </a:rPr>
                      <a:t>MK</a:t>
                    </a:r>
                  </a:p>
                </c:rich>
              </c:tx>
              <c:txPr>
                <a:bodyPr xmlns:a="http://schemas.openxmlformats.org/drawingml/2006/main" anchorCtr="1"/>
                <a:lstStyle xmlns:a="http://schemas.openxmlformats.org/drawingml/2006/main"/>
                <a:p xmlns:a="http://schemas.openxmlformats.org/drawingml/2006/main">
                  <a:pPr>
                    <a:defRPr sz="1950" b="1">
                      <a:solidFill>
                        <a:srgbClr val="A94D16"/>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Data'!$E$2:$E$4</c:f>
              <c:numCache>
                <c:formatCode>General</c:formatCode>
                <c:ptCount val="3"/>
                <c:pt idx="0">
                  <c:v>0</c:v>
                </c:pt>
                <c:pt idx="1">
                  <c:v>34.8</c:v>
                </c:pt>
                <c:pt idx="2">
                  <c:v>40</c:v>
                </c:pt>
              </c:numCache>
            </c:numRef>
          </c:xVal>
          <c:yVal>
            <c:numRef>
              <c:f>'Chart Data'!$F$2:$F$4</c:f>
              <c:numCache>
                <c:formatCode>0</c:formatCode>
                <c:ptCount val="3"/>
                <c:pt idx="0">
                  <c:v>8</c:v>
                </c:pt>
                <c:pt idx="1">
                  <c:v>8</c:v>
                </c:pt>
                <c:pt idx="2">
                  <c:v>8</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40"/>
          <c:min val="0"/>
        </c:scaling>
        <c:delete val="0"/>
        <c:axPos val="l"/>
        <c:majorGridlines>
          <c:spPr>
            <a:ln xmlns:a="http://schemas.openxmlformats.org/drawingml/2006/main" w="9525">
              <a:solidFill>
                <a:srgbClr val="C6D2DB"/>
              </a:solidFill>
            </a:ln>
          </c:spPr>
        </c:majorGridlines>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50112"/>
        <c:majorUnit val="8"/>
      </c:valAx>
      <c:valAx>
        <c:axId val="48650112"/>
        <c:scaling>
          <c:orientation val="minMax"/>
          <c:max val="40"/>
          <c:min val="0"/>
        </c:scaling>
        <c:delete val="0"/>
        <c:axPos val="b"/>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72768"/>
        <c:majorUnit val="1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7.xml><?xml version="1.0" encoding="utf-8"?>
<c:chartSpace xmlns:c="http://schemas.openxmlformats.org/drawingml/2006/chart" xmlns:r="http://schemas.openxmlformats.org/officeDocument/2006/relationships">
  <c:lang val="en-US"/>
  <c:chart>
    <c:plotArea>
      <c:scatterChart>
        <c:scatterStyle val="line"/>
        <c:ser>
          <c:idx val="0"/>
          <c:order val="0"/>
          <c:tx>
            <c:v>guide Q</c:v>
          </c:tx>
          <c:spPr>
            <a:ln xmlns:a="http://schemas.openxmlformats.org/drawingml/2006/main" w="14288">
              <a:solidFill>
                <a:srgbClr val="445B6B"/>
              </a:solidFill>
            </a:ln>
          </c:spPr>
          <c:marker>
            <c:symbol val="none"/>
          </c:marker>
          <c:xVal>
            <c:numRef>
              <c:f>'Chart Data'!$A$2:$A$3</c:f>
              <c:numCache>
                <c:formatCode>General</c:formatCode>
                <c:ptCount val="2"/>
                <c:pt idx="0">
                  <c:v>16</c:v>
                </c:pt>
                <c:pt idx="1">
                  <c:v>16</c:v>
                </c:pt>
              </c:numCache>
            </c:numRef>
          </c:xVal>
          <c:yVal>
            <c:numRef>
              <c:f>'Chart Data'!$B$2:$B$3</c:f>
              <c:numCache>
                <c:formatCode>0</c:formatCode>
                <c:ptCount val="2"/>
                <c:pt idx="0">
                  <c:v>0</c:v>
                </c:pt>
                <c:pt idx="1">
                  <c:v>24</c:v>
                </c:pt>
              </c:numCache>
            </c:numRef>
          </c:yVal>
          <c:smooth val="0"/>
        </c:ser>
        <c:ser>
          <c:idx val="1"/>
          <c:order val="1"/>
          <c:tx>
            <c:v>guide P</c:v>
          </c:tx>
          <c:spPr>
            <a:ln xmlns:a="http://schemas.openxmlformats.org/drawingml/2006/main" w="14288">
              <a:solidFill>
                <a:srgbClr val="445B6B"/>
              </a:solidFill>
            </a:ln>
          </c:spPr>
          <c:marker>
            <c:symbol val="none"/>
          </c:marker>
          <c:dLbls>
            <c:dLbl>
              <c:idx val="1"/>
              <c:tx>
                <c:rich>
                  <a:bodyPr xmlns:a="http://schemas.openxmlformats.org/drawingml/2006/main"/>
                  <a:lstStyle xmlns:a="http://schemas.openxmlformats.org/drawingml/2006/main"/>
                  <a:p xmlns:a="http://schemas.openxmlformats.org/drawingml/2006/main">
                    <a:r>
                      <a:rPr sz="1950" b="1">
                        <a:solidFill>
                          <a:srgbClr val="445B6B"/>
                        </a:solidFill>
                        <a:latin typeface="Arial"/>
                        <a:ea typeface="Arial"/>
                        <a:cs typeface="Arial"/>
                      </a:rPr>
                      <a:t>P_A = 24</a:t>
                    </a:r>
                  </a:p>
                </c:rich>
              </c:tx>
              <c:txPr>
                <a:bodyPr xmlns:a="http://schemas.openxmlformats.org/drawingml/2006/main" anchorCtr="1"/>
                <a:lstStyle xmlns:a="http://schemas.openxmlformats.org/drawingml/2006/main"/>
                <a:p xmlns:a="http://schemas.openxmlformats.org/drawingml/2006/main">
                  <a:pPr>
                    <a:defRPr sz="1950" b="1">
                      <a:solidFill>
                        <a:srgbClr val="445B6B"/>
                      </a:solidFill>
                      <a:latin typeface="Arial"/>
                      <a:ea typeface="Arial"/>
                      <a:cs typeface="Arial"/>
                    </a:defRPr>
                  </a:pPr>
                </a:p>
              </c:txPr>
              <c:dLblPos val="r"/>
              <c:showLegendKey val="0"/>
              <c:showVal val="0"/>
              <c:showCatName val="0"/>
              <c:showSerName val="0"/>
              <c:showPercent val="0"/>
              <c:showBubbleSize val="0"/>
            </c:dLbl>
            <c:showLegendKey val="0"/>
            <c:showVal val="0"/>
            <c:showCatName val="0"/>
            <c:showSerName val="0"/>
            <c:showPercent val="0"/>
            <c:showBubbleSize val="0"/>
          </c:dLbls>
          <c:xVal>
            <c:numRef>
              <c:f>'Chart Data'!$C$2:$C$3</c:f>
              <c:numCache>
                <c:formatCode>General</c:formatCode>
                <c:ptCount val="2"/>
                <c:pt idx="0">
                  <c:v>0</c:v>
                </c:pt>
                <c:pt idx="1">
                  <c:v>16</c:v>
                </c:pt>
              </c:numCache>
            </c:numRef>
          </c:xVal>
          <c:yVal>
            <c:numRef>
              <c:f>'Chart Data'!$D$2:$D$3</c:f>
              <c:numCache>
                <c:formatCode>0</c:formatCode>
                <c:ptCount val="2"/>
                <c:pt idx="0">
                  <c:v>24</c:v>
                </c:pt>
                <c:pt idx="1">
                  <c:v>24</c:v>
                </c:pt>
              </c:numCache>
            </c:numRef>
          </c:yVal>
          <c:smooth val="0"/>
        </c:ser>
        <c:ser>
          <c:idx val="2"/>
          <c:order val="2"/>
          <c:tx>
            <c:v>Vraag / GO</c:v>
          </c:tx>
          <c:spPr>
            <a:ln xmlns:a="http://schemas.openxmlformats.org/drawingml/2006/main" w="38100">
              <a:solidFill>
                <a:srgbClr val="17658A"/>
              </a:solidFill>
            </a:ln>
          </c:spPr>
          <c:marker>
            <c:symbol val="none"/>
          </c:marker>
          <c:dLbls>
            <c:dLbl>
              <c:idx val="1"/>
              <c:tx>
                <c:rich>
                  <a:bodyPr xmlns:a="http://schemas.openxmlformats.org/drawingml/2006/main"/>
                  <a:lstStyle xmlns:a="http://schemas.openxmlformats.org/drawingml/2006/main"/>
                  <a:p xmlns:a="http://schemas.openxmlformats.org/drawingml/2006/main">
                    <a:r>
                      <a:rPr sz="1950" b="1">
                        <a:solidFill>
                          <a:srgbClr val="17658A"/>
                        </a:solidFill>
                        <a:latin typeface="Arial"/>
                        <a:ea typeface="Arial"/>
                        <a:cs typeface="Arial"/>
                      </a:rPr>
                      <a:t>Vraag</a:t>
                    </a:r>
                  </a:p>
                </c:rich>
              </c:tx>
              <c:txPr>
                <a:bodyPr xmlns:a="http://schemas.openxmlformats.org/drawingml/2006/main" anchorCtr="1"/>
                <a:lstStyle xmlns:a="http://schemas.openxmlformats.org/drawingml/2006/main"/>
                <a:p xmlns:a="http://schemas.openxmlformats.org/drawingml/2006/main">
                  <a:pPr>
                    <a:defRPr sz="1950" b="1">
                      <a:solidFill>
                        <a:srgbClr val="17658A"/>
                      </a:solidFill>
                      <a:latin typeface="Arial"/>
                      <a:ea typeface="Arial"/>
                      <a:cs typeface="Arial"/>
                    </a:defRPr>
                  </a:pPr>
                </a:p>
              </c:txPr>
              <c:dLblPos val="r"/>
              <c:showLegendKey val="0"/>
              <c:showVal val="0"/>
              <c:showCatName val="0"/>
              <c:showSerName val="0"/>
              <c:showPercent val="0"/>
              <c:showBubbleSize val="0"/>
            </c:dLbl>
            <c:showLegendKey val="0"/>
            <c:showVal val="0"/>
            <c:showCatName val="0"/>
            <c:showSerName val="0"/>
            <c:showPercent val="0"/>
            <c:showBubbleSize val="0"/>
          </c:dLbls>
          <c:xVal>
            <c:numRef>
              <c:f>'Chart Data'!$E$2:$E$4</c:f>
              <c:numCache>
                <c:formatCode>General</c:formatCode>
                <c:ptCount val="3"/>
                <c:pt idx="0">
                  <c:v>0</c:v>
                </c:pt>
                <c:pt idx="1">
                  <c:v>22</c:v>
                </c:pt>
                <c:pt idx="2">
                  <c:v>40</c:v>
                </c:pt>
              </c:numCache>
            </c:numRef>
          </c:xVal>
          <c:yVal>
            <c:numRef>
              <c:f>'Chart Data'!$F$2:$F$4</c:f>
              <c:numCache>
                <c:formatCode>0</c:formatCode>
                <c:ptCount val="3"/>
                <c:pt idx="0">
                  <c:v>40</c:v>
                </c:pt>
                <c:pt idx="1">
                  <c:v>18</c:v>
                </c:pt>
                <c:pt idx="2">
                  <c:v>0</c:v>
                </c:pt>
              </c:numCache>
            </c:numRef>
          </c:yVal>
          <c:smooth val="0"/>
        </c:ser>
        <c:ser>
          <c:idx val="3"/>
          <c:order val="3"/>
          <c:tx>
            <c:v>MO</c:v>
          </c:tx>
          <c:spPr>
            <a:ln xmlns:a="http://schemas.openxmlformats.org/drawingml/2006/main" w="28575">
              <a:solidFill>
                <a:srgbClr val="7B2D8E"/>
              </a:solidFill>
              <a:prstDash val="dash"/>
            </a:ln>
          </c:spPr>
          <c:marker>
            <c:symbol val="none"/>
          </c:marker>
          <c:dLbls>
            <c:dLbl>
              <c:idx val="1"/>
              <c:tx>
                <c:rich>
                  <a:bodyPr xmlns:a="http://schemas.openxmlformats.org/drawingml/2006/main"/>
                  <a:lstStyle xmlns:a="http://schemas.openxmlformats.org/drawingml/2006/main"/>
                  <a:p xmlns:a="http://schemas.openxmlformats.org/drawingml/2006/main">
                    <a:r>
                      <a:rPr sz="1950" b="1">
                        <a:solidFill>
                          <a:srgbClr val="7B2D8E"/>
                        </a:solidFill>
                        <a:latin typeface="Arial"/>
                        <a:ea typeface="Arial"/>
                        <a:cs typeface="Arial"/>
                      </a:rPr>
                      <a:t>MO</a:t>
                    </a:r>
                  </a:p>
                </c:rich>
              </c:tx>
              <c:txPr>
                <a:bodyPr xmlns:a="http://schemas.openxmlformats.org/drawingml/2006/main" anchorCtr="1"/>
                <a:lstStyle xmlns:a="http://schemas.openxmlformats.org/drawingml/2006/main"/>
                <a:p xmlns:a="http://schemas.openxmlformats.org/drawingml/2006/main">
                  <a:pPr>
                    <a:defRPr sz="1950" b="1">
                      <a:solidFill>
                        <a:srgbClr val="7B2D8E"/>
                      </a:solidFill>
                      <a:latin typeface="Arial"/>
                      <a:ea typeface="Arial"/>
                      <a:cs typeface="Arial"/>
                    </a:defRPr>
                  </a:pPr>
                </a:p>
              </c:txPr>
              <c:dLblPos val="l"/>
              <c:showLegendKey val="0"/>
              <c:showVal val="0"/>
              <c:showCatName val="0"/>
              <c:showSerName val="0"/>
              <c:showPercent val="0"/>
              <c:showBubbleSize val="0"/>
            </c:dLbl>
            <c:showLegendKey val="0"/>
            <c:showVal val="0"/>
            <c:showCatName val="0"/>
            <c:showSerName val="0"/>
            <c:showPercent val="0"/>
            <c:showBubbleSize val="0"/>
          </c:dLbls>
          <c:xVal>
            <c:numRef>
              <c:f>'Chart Data'!$G$2:$G$4</c:f>
              <c:numCache>
                <c:formatCode>General</c:formatCode>
                <c:ptCount val="3"/>
                <c:pt idx="0">
                  <c:v>0</c:v>
                </c:pt>
                <c:pt idx="1">
                  <c:v>10</c:v>
                </c:pt>
                <c:pt idx="2">
                  <c:v>20</c:v>
                </c:pt>
              </c:numCache>
            </c:numRef>
          </c:xVal>
          <c:yVal>
            <c:numRef>
              <c:f>'Chart Data'!$H$2:$H$4</c:f>
              <c:numCache>
                <c:formatCode>0</c:formatCode>
                <c:ptCount val="3"/>
                <c:pt idx="0">
                  <c:v>40</c:v>
                </c:pt>
                <c:pt idx="1">
                  <c:v>20</c:v>
                </c:pt>
                <c:pt idx="2">
                  <c:v>0</c:v>
                </c:pt>
              </c:numCache>
            </c:numRef>
          </c:yVal>
          <c:smooth val="0"/>
        </c:ser>
        <c:ser>
          <c:idx val="4"/>
          <c:order val="4"/>
          <c:tx>
            <c:v>MK</c:v>
          </c:tx>
          <c:spPr>
            <a:ln xmlns:a="http://schemas.openxmlformats.org/drawingml/2006/main" w="28575">
              <a:solidFill>
                <a:srgbClr val="A94D16"/>
              </a:solidFill>
            </a:ln>
          </c:spPr>
          <c:marker>
            <c:symbol val="none"/>
          </c:marker>
          <c:dLbls>
            <c:dLbl>
              <c:idx val="1"/>
              <c:tx>
                <c:rich>
                  <a:bodyPr xmlns:a="http://schemas.openxmlformats.org/drawingml/2006/main"/>
                  <a:lstStyle xmlns:a="http://schemas.openxmlformats.org/drawingml/2006/main"/>
                  <a:p xmlns:a="http://schemas.openxmlformats.org/drawingml/2006/main">
                    <a:r>
                      <a:rPr sz="1950" b="1">
                        <a:solidFill>
                          <a:srgbClr val="A94D16"/>
                        </a:solidFill>
                        <a:latin typeface="Arial"/>
                        <a:ea typeface="Arial"/>
                        <a:cs typeface="Arial"/>
                      </a:rPr>
                      <a:t>MK</a:t>
                    </a:r>
                  </a:p>
                </c:rich>
              </c:tx>
              <c:txPr>
                <a:bodyPr xmlns:a="http://schemas.openxmlformats.org/drawingml/2006/main" anchorCtr="1"/>
                <a:lstStyle xmlns:a="http://schemas.openxmlformats.org/drawingml/2006/main"/>
                <a:p xmlns:a="http://schemas.openxmlformats.org/drawingml/2006/main">
                  <a:pPr>
                    <a:defRPr sz="1950" b="1">
                      <a:solidFill>
                        <a:srgbClr val="A94D16"/>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Data'!$I$2:$I$4</c:f>
              <c:numCache>
                <c:formatCode>General</c:formatCode>
                <c:ptCount val="3"/>
                <c:pt idx="0">
                  <c:v>0</c:v>
                </c:pt>
                <c:pt idx="1">
                  <c:v>34.8</c:v>
                </c:pt>
                <c:pt idx="2">
                  <c:v>40</c:v>
                </c:pt>
              </c:numCache>
            </c:numRef>
          </c:xVal>
          <c:yVal>
            <c:numRef>
              <c:f>'Chart Data'!$J$2:$J$4</c:f>
              <c:numCache>
                <c:formatCode>0</c:formatCode>
                <c:ptCount val="3"/>
                <c:pt idx="0">
                  <c:v>8</c:v>
                </c:pt>
                <c:pt idx="1">
                  <c:v>8</c:v>
                </c:pt>
                <c:pt idx="2">
                  <c:v>8</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40"/>
          <c:min val="0"/>
        </c:scaling>
        <c:delete val="0"/>
        <c:axPos val="l"/>
        <c:majorGridlines>
          <c:spPr>
            <a:ln xmlns:a="http://schemas.openxmlformats.org/drawingml/2006/main" w="9525">
              <a:solidFill>
                <a:srgbClr val="C6D2DB"/>
              </a:solidFill>
            </a:ln>
          </c:spPr>
        </c:majorGridlines>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50112"/>
        <c:majorUnit val="8"/>
      </c:valAx>
      <c:valAx>
        <c:axId val="48650112"/>
        <c:scaling>
          <c:orientation val="minMax"/>
          <c:max val="40"/>
          <c:min val="0"/>
        </c:scaling>
        <c:delete val="0"/>
        <c:axPos val="b"/>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72768"/>
        <c:majorUnit val="1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8.xml><?xml version="1.0" encoding="utf-8"?>
<c:chartSpace xmlns:c="http://schemas.openxmlformats.org/drawingml/2006/chart" xmlns:r="http://schemas.openxmlformats.org/officeDocument/2006/relationships">
  <c:lang val="en-US"/>
  <c:chart>
    <c:plotArea>
      <c:scatterChart>
        <c:scatterStyle val="line"/>
        <c:ser>
          <c:idx val="0"/>
          <c:order val="0"/>
          <c:tx>
            <c:v>guide Q</c:v>
          </c:tx>
          <c:spPr>
            <a:ln xmlns:a="http://schemas.openxmlformats.org/drawingml/2006/main" w="14288">
              <a:solidFill>
                <a:srgbClr val="445B6B"/>
              </a:solidFill>
            </a:ln>
          </c:spPr>
          <c:marker>
            <c:symbol val="none"/>
          </c:marker>
          <c:xVal>
            <c:numRef>
              <c:f>'Chart Data'!$A$2:$A$3</c:f>
              <c:numCache>
                <c:formatCode>General</c:formatCode>
                <c:ptCount val="2"/>
                <c:pt idx="0">
                  <c:v>8</c:v>
                </c:pt>
                <c:pt idx="1">
                  <c:v>8</c:v>
                </c:pt>
              </c:numCache>
            </c:numRef>
          </c:xVal>
          <c:yVal>
            <c:numRef>
              <c:f>'Chart Data'!$B$2:$B$3</c:f>
              <c:numCache>
                <c:formatCode>0</c:formatCode>
                <c:ptCount val="2"/>
                <c:pt idx="0">
                  <c:v>0</c:v>
                </c:pt>
                <c:pt idx="1">
                  <c:v>16</c:v>
                </c:pt>
              </c:numCache>
            </c:numRef>
          </c:yVal>
          <c:smooth val="0"/>
        </c:ser>
        <c:ser>
          <c:idx val="1"/>
          <c:order val="1"/>
          <c:tx>
            <c:v>guide P</c:v>
          </c:tx>
          <c:spPr>
            <a:ln xmlns:a="http://schemas.openxmlformats.org/drawingml/2006/main" w="14288">
              <a:solidFill>
                <a:srgbClr val="445B6B"/>
              </a:solidFill>
            </a:ln>
          </c:spPr>
          <c:marker>
            <c:symbol val="none"/>
          </c:marker>
          <c:dLbls>
            <c:dLbl>
              <c:idx val="1"/>
              <c:tx>
                <c:rich>
                  <a:bodyPr xmlns:a="http://schemas.openxmlformats.org/drawingml/2006/main"/>
                  <a:lstStyle xmlns:a="http://schemas.openxmlformats.org/drawingml/2006/main"/>
                  <a:p xmlns:a="http://schemas.openxmlformats.org/drawingml/2006/main">
                    <a:r>
                      <a:rPr sz="1950" b="1">
                        <a:solidFill>
                          <a:srgbClr val="445B6B"/>
                        </a:solidFill>
                        <a:latin typeface="Arial"/>
                        <a:ea typeface="Arial"/>
                        <a:cs typeface="Arial"/>
                      </a:rPr>
                      <a:t>P_B = 16</a:t>
                    </a:r>
                  </a:p>
                </c:rich>
              </c:tx>
              <c:txPr>
                <a:bodyPr xmlns:a="http://schemas.openxmlformats.org/drawingml/2006/main" anchorCtr="1"/>
                <a:lstStyle xmlns:a="http://schemas.openxmlformats.org/drawingml/2006/main"/>
                <a:p xmlns:a="http://schemas.openxmlformats.org/drawingml/2006/main">
                  <a:pPr>
                    <a:defRPr sz="1950" b="1">
                      <a:solidFill>
                        <a:srgbClr val="445B6B"/>
                      </a:solidFill>
                      <a:latin typeface="Arial"/>
                      <a:ea typeface="Arial"/>
                      <a:cs typeface="Arial"/>
                    </a:defRPr>
                  </a:pPr>
                </a:p>
              </c:txPr>
              <c:dLblPos val="r"/>
              <c:showLegendKey val="0"/>
              <c:showVal val="0"/>
              <c:showCatName val="0"/>
              <c:showSerName val="0"/>
              <c:showPercent val="0"/>
              <c:showBubbleSize val="0"/>
            </c:dLbl>
            <c:showLegendKey val="0"/>
            <c:showVal val="0"/>
            <c:showCatName val="0"/>
            <c:showSerName val="0"/>
            <c:showPercent val="0"/>
            <c:showBubbleSize val="0"/>
          </c:dLbls>
          <c:xVal>
            <c:numRef>
              <c:f>'Chart Data'!$C$2:$C$3</c:f>
              <c:numCache>
                <c:formatCode>General</c:formatCode>
                <c:ptCount val="2"/>
                <c:pt idx="0">
                  <c:v>0</c:v>
                </c:pt>
                <c:pt idx="1">
                  <c:v>8</c:v>
                </c:pt>
              </c:numCache>
            </c:numRef>
          </c:xVal>
          <c:yVal>
            <c:numRef>
              <c:f>'Chart Data'!$D$2:$D$3</c:f>
              <c:numCache>
                <c:formatCode>0</c:formatCode>
                <c:ptCount val="2"/>
                <c:pt idx="0">
                  <c:v>16</c:v>
                </c:pt>
                <c:pt idx="1">
                  <c:v>16</c:v>
                </c:pt>
              </c:numCache>
            </c:numRef>
          </c:yVal>
          <c:smooth val="0"/>
        </c:ser>
        <c:ser>
          <c:idx val="2"/>
          <c:order val="2"/>
          <c:tx>
            <c:v>Vraag / GO</c:v>
          </c:tx>
          <c:spPr>
            <a:ln xmlns:a="http://schemas.openxmlformats.org/drawingml/2006/main" w="38100">
              <a:solidFill>
                <a:srgbClr val="17658A"/>
              </a:solidFill>
            </a:ln>
          </c:spPr>
          <c:marker>
            <c:symbol val="none"/>
          </c:marker>
          <c:dLbls>
            <c:dLbl>
              <c:idx val="1"/>
              <c:tx>
                <c:rich>
                  <a:bodyPr xmlns:a="http://schemas.openxmlformats.org/drawingml/2006/main"/>
                  <a:lstStyle xmlns:a="http://schemas.openxmlformats.org/drawingml/2006/main"/>
                  <a:p xmlns:a="http://schemas.openxmlformats.org/drawingml/2006/main">
                    <a:r>
                      <a:rPr sz="1950" b="1">
                        <a:solidFill>
                          <a:srgbClr val="17658A"/>
                        </a:solidFill>
                        <a:latin typeface="Arial"/>
                        <a:ea typeface="Arial"/>
                        <a:cs typeface="Arial"/>
                      </a:rPr>
                      <a:t>Vraag</a:t>
                    </a:r>
                  </a:p>
                </c:rich>
              </c:tx>
              <c:txPr>
                <a:bodyPr xmlns:a="http://schemas.openxmlformats.org/drawingml/2006/main" anchorCtr="1"/>
                <a:lstStyle xmlns:a="http://schemas.openxmlformats.org/drawingml/2006/main"/>
                <a:p xmlns:a="http://schemas.openxmlformats.org/drawingml/2006/main">
                  <a:pPr>
                    <a:defRPr sz="1950" b="1">
                      <a:solidFill>
                        <a:srgbClr val="17658A"/>
                      </a:solidFill>
                      <a:latin typeface="Arial"/>
                      <a:ea typeface="Arial"/>
                      <a:cs typeface="Arial"/>
                    </a:defRPr>
                  </a:pPr>
                </a:p>
              </c:txPr>
              <c:dLblPos val="r"/>
              <c:showLegendKey val="0"/>
              <c:showVal val="0"/>
              <c:showCatName val="0"/>
              <c:showSerName val="0"/>
              <c:showPercent val="0"/>
              <c:showBubbleSize val="0"/>
            </c:dLbl>
            <c:showLegendKey val="0"/>
            <c:showVal val="0"/>
            <c:showCatName val="0"/>
            <c:showSerName val="0"/>
            <c:showPercent val="0"/>
            <c:showBubbleSize val="0"/>
          </c:dLbls>
          <c:xVal>
            <c:numRef>
              <c:f>'Chart Data'!$E$2:$E$4</c:f>
              <c:numCache>
                <c:formatCode>General</c:formatCode>
                <c:ptCount val="3"/>
                <c:pt idx="0">
                  <c:v>0</c:v>
                </c:pt>
                <c:pt idx="1">
                  <c:v>13.2</c:v>
                </c:pt>
                <c:pt idx="2">
                  <c:v>24</c:v>
                </c:pt>
              </c:numCache>
            </c:numRef>
          </c:xVal>
          <c:yVal>
            <c:numRef>
              <c:f>'Chart Data'!$F$2:$F$4</c:f>
              <c:numCache>
                <c:formatCode>0</c:formatCode>
                <c:ptCount val="3"/>
                <c:pt idx="0">
                  <c:v>24</c:v>
                </c:pt>
                <c:pt idx="1">
                  <c:v>10.8</c:v>
                </c:pt>
                <c:pt idx="2">
                  <c:v>0</c:v>
                </c:pt>
              </c:numCache>
            </c:numRef>
          </c:yVal>
          <c:smooth val="0"/>
        </c:ser>
        <c:ser>
          <c:idx val="3"/>
          <c:order val="3"/>
          <c:tx>
            <c:v>MO</c:v>
          </c:tx>
          <c:spPr>
            <a:ln xmlns:a="http://schemas.openxmlformats.org/drawingml/2006/main" w="28575">
              <a:solidFill>
                <a:srgbClr val="7B2D8E"/>
              </a:solidFill>
              <a:prstDash val="dash"/>
            </a:ln>
          </c:spPr>
          <c:marker>
            <c:symbol val="none"/>
          </c:marker>
          <c:dLbls>
            <c:dLbl>
              <c:idx val="1"/>
              <c:tx>
                <c:rich>
                  <a:bodyPr xmlns:a="http://schemas.openxmlformats.org/drawingml/2006/main"/>
                  <a:lstStyle xmlns:a="http://schemas.openxmlformats.org/drawingml/2006/main"/>
                  <a:p xmlns:a="http://schemas.openxmlformats.org/drawingml/2006/main">
                    <a:r>
                      <a:rPr sz="1950" b="1">
                        <a:solidFill>
                          <a:srgbClr val="7B2D8E"/>
                        </a:solidFill>
                        <a:latin typeface="Arial"/>
                        <a:ea typeface="Arial"/>
                        <a:cs typeface="Arial"/>
                      </a:rPr>
                      <a:t>MO</a:t>
                    </a:r>
                  </a:p>
                </c:rich>
              </c:tx>
              <c:txPr>
                <a:bodyPr xmlns:a="http://schemas.openxmlformats.org/drawingml/2006/main" anchorCtr="1"/>
                <a:lstStyle xmlns:a="http://schemas.openxmlformats.org/drawingml/2006/main"/>
                <a:p xmlns:a="http://schemas.openxmlformats.org/drawingml/2006/main">
                  <a:pPr>
                    <a:defRPr sz="1950" b="1">
                      <a:solidFill>
                        <a:srgbClr val="7B2D8E"/>
                      </a:solidFill>
                      <a:latin typeface="Arial"/>
                      <a:ea typeface="Arial"/>
                      <a:cs typeface="Arial"/>
                    </a:defRPr>
                  </a:pPr>
                </a:p>
              </c:txPr>
              <c:dLblPos val="l"/>
              <c:showLegendKey val="0"/>
              <c:showVal val="0"/>
              <c:showCatName val="0"/>
              <c:showSerName val="0"/>
              <c:showPercent val="0"/>
              <c:showBubbleSize val="0"/>
            </c:dLbl>
            <c:showLegendKey val="0"/>
            <c:showVal val="0"/>
            <c:showCatName val="0"/>
            <c:showSerName val="0"/>
            <c:showPercent val="0"/>
            <c:showBubbleSize val="0"/>
          </c:dLbls>
          <c:xVal>
            <c:numRef>
              <c:f>'Chart Data'!$G$2:$G$4</c:f>
              <c:numCache>
                <c:formatCode>General</c:formatCode>
                <c:ptCount val="3"/>
                <c:pt idx="0">
                  <c:v>0</c:v>
                </c:pt>
                <c:pt idx="1">
                  <c:v>6</c:v>
                </c:pt>
                <c:pt idx="2">
                  <c:v>12</c:v>
                </c:pt>
              </c:numCache>
            </c:numRef>
          </c:xVal>
          <c:yVal>
            <c:numRef>
              <c:f>'Chart Data'!$H$2:$H$4</c:f>
              <c:numCache>
                <c:formatCode>0</c:formatCode>
                <c:ptCount val="3"/>
                <c:pt idx="0">
                  <c:v>24</c:v>
                </c:pt>
                <c:pt idx="1">
                  <c:v>12</c:v>
                </c:pt>
                <c:pt idx="2">
                  <c:v>0</c:v>
                </c:pt>
              </c:numCache>
            </c:numRef>
          </c:yVal>
          <c:smooth val="0"/>
        </c:ser>
        <c:ser>
          <c:idx val="4"/>
          <c:order val="4"/>
          <c:tx>
            <c:v>MK</c:v>
          </c:tx>
          <c:spPr>
            <a:ln xmlns:a="http://schemas.openxmlformats.org/drawingml/2006/main" w="28575">
              <a:solidFill>
                <a:srgbClr val="A94D16"/>
              </a:solidFill>
            </a:ln>
          </c:spPr>
          <c:marker>
            <c:symbol val="none"/>
          </c:marker>
          <c:dLbls>
            <c:dLbl>
              <c:idx val="1"/>
              <c:tx>
                <c:rich>
                  <a:bodyPr xmlns:a="http://schemas.openxmlformats.org/drawingml/2006/main"/>
                  <a:lstStyle xmlns:a="http://schemas.openxmlformats.org/drawingml/2006/main"/>
                  <a:p xmlns:a="http://schemas.openxmlformats.org/drawingml/2006/main">
                    <a:r>
                      <a:rPr sz="1950" b="1">
                        <a:solidFill>
                          <a:srgbClr val="A94D16"/>
                        </a:solidFill>
                        <a:latin typeface="Arial"/>
                        <a:ea typeface="Arial"/>
                        <a:cs typeface="Arial"/>
                      </a:rPr>
                      <a:t>MK</a:t>
                    </a:r>
                  </a:p>
                </c:rich>
              </c:tx>
              <c:txPr>
                <a:bodyPr xmlns:a="http://schemas.openxmlformats.org/drawingml/2006/main" anchorCtr="1"/>
                <a:lstStyle xmlns:a="http://schemas.openxmlformats.org/drawingml/2006/main"/>
                <a:p xmlns:a="http://schemas.openxmlformats.org/drawingml/2006/main">
                  <a:pPr>
                    <a:defRPr sz="1950" b="1">
                      <a:solidFill>
                        <a:srgbClr val="A94D16"/>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Data'!$I$2:$I$4</c:f>
              <c:numCache>
                <c:formatCode>General</c:formatCode>
                <c:ptCount val="3"/>
                <c:pt idx="0">
                  <c:v>0</c:v>
                </c:pt>
                <c:pt idx="1">
                  <c:v>34.8</c:v>
                </c:pt>
                <c:pt idx="2">
                  <c:v>40</c:v>
                </c:pt>
              </c:numCache>
            </c:numRef>
          </c:xVal>
          <c:yVal>
            <c:numRef>
              <c:f>'Chart Data'!$J$2:$J$4</c:f>
              <c:numCache>
                <c:formatCode>0</c:formatCode>
                <c:ptCount val="3"/>
                <c:pt idx="0">
                  <c:v>8</c:v>
                </c:pt>
                <c:pt idx="1">
                  <c:v>8</c:v>
                </c:pt>
                <c:pt idx="2">
                  <c:v>8</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40"/>
          <c:min val="0"/>
        </c:scaling>
        <c:delete val="0"/>
        <c:axPos val="l"/>
        <c:majorGridlines>
          <c:spPr>
            <a:ln xmlns:a="http://schemas.openxmlformats.org/drawingml/2006/main" w="9525">
              <a:solidFill>
                <a:srgbClr val="C6D2DB"/>
              </a:solidFill>
            </a:ln>
          </c:spPr>
        </c:majorGridlines>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50112"/>
        <c:majorUnit val="8"/>
      </c:valAx>
      <c:valAx>
        <c:axId val="48650112"/>
        <c:scaling>
          <c:orientation val="minMax"/>
          <c:max val="40"/>
          <c:min val="0"/>
        </c:scaling>
        <c:delete val="0"/>
        <c:axPos val="b"/>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72768"/>
        <c:majorUnit val="1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4.2.2 Prijsdiscriminatie">
            <a:extLst xmlns:a="http://schemas.openxmlformats.org/drawingml/2006/main">
              <a:ext uri="{FF2B5EF4-FFF2-40B4-BE49-F238E27FC236}">
                <a16:creationId xmlns:a16="http://schemas.microsoft.com/office/drawing/2014/main" id="{CE772626-3D1C-43A2-A25E-0625A07BC479}"/>
              </a:ext>
            </a:extLst>
          </p:cNvPr>
          <p:cNvSpPr>
            <a:spLocks xmlns:a="http://schemas.openxmlformats.org/drawingml/2006/main" noGrp="1"/>
          </p:cNvSpPr>
          <p:nvPr/>
        </p:nvSpPr>
        <p:spPr>
          <a:xfrm xmlns:a="http://schemas.openxmlformats.org/drawingml/2006/main">
            <a:off x="571500" y="400050"/>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Deze les: §4.2.2 Prijsdiscriminatie</a:t>
            </a:r>
          </a:p>
        </p:txBody>
      </p:sp>
      <p:sp>
        <p:nvSpPr>
          <p:cNvPr id="2" name="">
            <a:extLst xmlns:a="http://schemas.openxmlformats.org/drawingml/2006/main">
              <a:ext uri="{FF2B5EF4-FFF2-40B4-BE49-F238E27FC236}">
                <a16:creationId xmlns:a16="http://schemas.microsoft.com/office/drawing/2014/main" id="{2E625FAA-D3AC-4BE6-9495-724A9BC32D2B}"/>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2 Prijsdiscriminatie">
            <a:extLst xmlns:a="http://schemas.openxmlformats.org/drawingml/2006/main">
              <a:ext uri="{FF2B5EF4-FFF2-40B4-BE49-F238E27FC236}">
                <a16:creationId xmlns:a16="http://schemas.microsoft.com/office/drawing/2014/main" id="{288C4A3A-380E-4108-8F24-57AE759BFDDD}"/>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§4.2.2 Prijsdiscriminatie</a:t>
            </a:r>
          </a:p>
        </p:txBody>
      </p:sp>
      <p:sp>
        <p:nvSpPr>
          <p:cNvPr id="4" name="slide-number">
            <a:extLst xmlns:a="http://schemas.openxmlformats.org/drawingml/2006/main">
              <a:ext uri="{FF2B5EF4-FFF2-40B4-BE49-F238E27FC236}">
                <a16:creationId xmlns:a16="http://schemas.microsoft.com/office/drawing/2014/main" id="{52F13EC6-8225-475B-83D5-8E9F9CC8D8B3}"/>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a:t>
            </a:r>
          </a:p>
        </p:txBody>
      </p:sp>
      <p:sp>
        <p:nvSpPr>
          <p:cNvPr id="5" name="phase">
            <a:extLst xmlns:a="http://schemas.openxmlformats.org/drawingml/2006/main">
              <a:ext uri="{FF2B5EF4-FFF2-40B4-BE49-F238E27FC236}">
                <a16:creationId xmlns:a16="http://schemas.microsoft.com/office/drawing/2014/main" id="{4F1792FF-B59C-45D0-9941-41C4FE51FA13}"/>
              </a:ext>
            </a:extLst>
          </p:cNvPr>
          <p:cNvSpPr>
            <a:spLocks xmlns:a="http://schemas.openxmlformats.org/drawingml/2006/main" noGrp="1"/>
          </p:cNvSpPr>
          <p:nvPr/>
        </p:nvSpPr>
        <p:spPr>
          <a:xfrm xmlns:a="http://schemas.openxmlformats.org/drawingml/2006/main">
            <a:off x="571500" y="1066800"/>
            <a:ext cx="13811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Nu: Startopdracht</a:t>
            </a:r>
          </a:p>
        </p:txBody>
      </p:sp>
      <p:sp>
        <p:nvSpPr>
          <p:cNvPr id="6" name="Lesroute">
            <a:extLst xmlns:a="http://schemas.openxmlformats.org/drawingml/2006/main">
              <a:ext uri="{FF2B5EF4-FFF2-40B4-BE49-F238E27FC236}">
                <a16:creationId xmlns:a16="http://schemas.microsoft.com/office/drawing/2014/main" id="{87955965-57FE-4EB6-B1BE-258FE3AE4695}"/>
              </a:ext>
            </a:extLst>
          </p:cNvPr>
          <p:cNvSpPr>
            <a:spLocks xmlns:a="http://schemas.openxmlformats.org/drawingml/2006/main" noGrp="1"/>
          </p:cNvSpPr>
          <p:nvPr/>
        </p:nvSpPr>
        <p:spPr>
          <a:xfrm xmlns:a="http://schemas.openxmlformats.org/drawingml/2006/main">
            <a:off x="571500" y="176212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1">
            <a:extLst xmlns:a="http://schemas.openxmlformats.org/drawingml/2006/main">
              <a:ext uri="{FF2B5EF4-FFF2-40B4-BE49-F238E27FC236}">
                <a16:creationId xmlns:a16="http://schemas.microsoft.com/office/drawing/2014/main" id="{893CDC16-0D70-44D2-8023-93D633BBEEA2}"/>
              </a:ext>
            </a:extLst>
          </p:cNvPr>
          <p:cNvSpPr>
            <a:spLocks xmlns:a="http://schemas.openxmlformats.org/drawingml/2006/main" noGrp="1"/>
          </p:cNvSpPr>
          <p:nvPr/>
        </p:nvSpPr>
        <p:spPr>
          <a:xfrm xmlns:a="http://schemas.openxmlformats.org/drawingml/2006/main">
            <a:off x="571500" y="232410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1">
            <a:extLst xmlns:a="http://schemas.openxmlformats.org/drawingml/2006/main">
              <a:ext uri="{FF2B5EF4-FFF2-40B4-BE49-F238E27FC236}">
                <a16:creationId xmlns:a16="http://schemas.microsoft.com/office/drawing/2014/main" id="{68FBEF81-542E-4908-B44B-9D319242D7EC}"/>
              </a:ext>
            </a:extLst>
          </p:cNvPr>
          <p:cNvSpPr>
            <a:spLocks xmlns:a="http://schemas.openxmlformats.org/drawingml/2006/main" noGrp="1"/>
          </p:cNvSpPr>
          <p:nvPr/>
        </p:nvSpPr>
        <p:spPr>
          <a:xfrm xmlns:a="http://schemas.openxmlformats.org/drawingml/2006/main">
            <a:off x="1104900" y="2324100"/>
            <a:ext cx="74199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2">
            <a:extLst xmlns:a="http://schemas.openxmlformats.org/drawingml/2006/main">
              <a:ext uri="{FF2B5EF4-FFF2-40B4-BE49-F238E27FC236}">
                <a16:creationId xmlns:a16="http://schemas.microsoft.com/office/drawing/2014/main" id="{E90260DA-3B82-465F-9EF1-7E20A02181F1}"/>
              </a:ext>
            </a:extLst>
          </p:cNvPr>
          <p:cNvSpPr>
            <a:spLocks xmlns:a="http://schemas.openxmlformats.org/drawingml/2006/main" noGrp="1"/>
          </p:cNvSpPr>
          <p:nvPr/>
        </p:nvSpPr>
        <p:spPr>
          <a:xfrm xmlns:a="http://schemas.openxmlformats.org/drawingml/2006/main">
            <a:off x="571500" y="320040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2.</a:t>
            </a:r>
          </a:p>
        </p:txBody>
      </p:sp>
      <p:sp>
        <p:nvSpPr>
          <p:cNvPr id="10" name="route-2">
            <a:extLst xmlns:a="http://schemas.openxmlformats.org/drawingml/2006/main">
              <a:ext uri="{FF2B5EF4-FFF2-40B4-BE49-F238E27FC236}">
                <a16:creationId xmlns:a16="http://schemas.microsoft.com/office/drawing/2014/main" id="{EE250AFC-643C-4942-9E19-8B12C61500E4}"/>
              </a:ext>
            </a:extLst>
          </p:cNvPr>
          <p:cNvSpPr>
            <a:spLocks xmlns:a="http://schemas.openxmlformats.org/drawingml/2006/main" noGrp="1"/>
          </p:cNvSpPr>
          <p:nvPr/>
        </p:nvSpPr>
        <p:spPr>
          <a:xfrm xmlns:a="http://schemas.openxmlformats.org/drawingml/2006/main">
            <a:off x="1104900" y="320040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Maak de startopdracht.</a:t>
            </a:r>
          </a:p>
        </p:txBody>
      </p:sp>
      <p:sp>
        <p:nvSpPr>
          <p:cNvPr id="11" name="route-number-3">
            <a:extLst xmlns:a="http://schemas.openxmlformats.org/drawingml/2006/main">
              <a:ext uri="{FF2B5EF4-FFF2-40B4-BE49-F238E27FC236}">
                <a16:creationId xmlns:a16="http://schemas.microsoft.com/office/drawing/2014/main" id="{13641164-3CEC-4F77-B527-11699D05B8B4}"/>
              </a:ext>
            </a:extLst>
          </p:cNvPr>
          <p:cNvSpPr>
            <a:spLocks xmlns:a="http://schemas.openxmlformats.org/drawingml/2006/main" noGrp="1"/>
          </p:cNvSpPr>
          <p:nvPr/>
        </p:nvSpPr>
        <p:spPr>
          <a:xfrm xmlns:a="http://schemas.openxmlformats.org/drawingml/2006/main">
            <a:off x="571500" y="37147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3">
            <a:extLst xmlns:a="http://schemas.openxmlformats.org/drawingml/2006/main">
              <a:ext uri="{FF2B5EF4-FFF2-40B4-BE49-F238E27FC236}">
                <a16:creationId xmlns:a16="http://schemas.microsoft.com/office/drawing/2014/main" id="{4BBC9440-C28D-4E40-ADB2-C43639AC8C9A}"/>
              </a:ext>
            </a:extLst>
          </p:cNvPr>
          <p:cNvSpPr>
            <a:spLocks xmlns:a="http://schemas.openxmlformats.org/drawingml/2006/main" noGrp="1"/>
          </p:cNvSpPr>
          <p:nvPr/>
        </p:nvSpPr>
        <p:spPr>
          <a:xfrm xmlns:a="http://schemas.openxmlformats.org/drawingml/2006/main">
            <a:off x="1104900" y="371475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Uitleg bij de lesdoelen.</a:t>
            </a:r>
          </a:p>
        </p:txBody>
      </p:sp>
      <p:sp>
        <p:nvSpPr>
          <p:cNvPr id="13" name="route-number-4">
            <a:extLst xmlns:a="http://schemas.openxmlformats.org/drawingml/2006/main">
              <a:ext uri="{FF2B5EF4-FFF2-40B4-BE49-F238E27FC236}">
                <a16:creationId xmlns:a16="http://schemas.microsoft.com/office/drawing/2014/main" id="{83C538C6-EA13-400F-89F8-A86430BD286A}"/>
              </a:ext>
            </a:extLst>
          </p:cNvPr>
          <p:cNvSpPr>
            <a:spLocks xmlns:a="http://schemas.openxmlformats.org/drawingml/2006/main" noGrp="1"/>
          </p:cNvSpPr>
          <p:nvPr/>
        </p:nvSpPr>
        <p:spPr>
          <a:xfrm xmlns:a="http://schemas.openxmlformats.org/drawingml/2006/main">
            <a:off x="571500" y="4248150"/>
            <a:ext cx="4572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4.</a:t>
            </a:r>
          </a:p>
        </p:txBody>
      </p:sp>
      <p:sp>
        <p:nvSpPr>
          <p:cNvPr id="14" name="route-4">
            <a:extLst xmlns:a="http://schemas.openxmlformats.org/drawingml/2006/main">
              <a:ext uri="{FF2B5EF4-FFF2-40B4-BE49-F238E27FC236}">
                <a16:creationId xmlns:a16="http://schemas.microsoft.com/office/drawing/2014/main" id="{C93E9A9A-ABE7-41A7-80CE-6BA4067C144B}"/>
              </a:ext>
            </a:extLst>
          </p:cNvPr>
          <p:cNvSpPr>
            <a:spLocks xmlns:a="http://schemas.openxmlformats.org/drawingml/2006/main" noGrp="1"/>
          </p:cNvSpPr>
          <p:nvPr/>
        </p:nvSpPr>
        <p:spPr>
          <a:xfrm xmlns:a="http://schemas.openxmlformats.org/drawingml/2006/main">
            <a:off x="1104900" y="4248150"/>
            <a:ext cx="7419975"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Begin bij de basisopgaven en stel vragen. Lukt dat goed, ga dan naar de zelfstandige oefening. Maak daarna de doelopgave en kijk vervolgens je antwoorden na.</a:t>
            </a:r>
          </a:p>
        </p:txBody>
      </p:sp>
      <p:sp>
        <p:nvSpPr>
          <p:cNvPr id="15" name="route-number-5">
            <a:extLst xmlns:a="http://schemas.openxmlformats.org/drawingml/2006/main">
              <a:ext uri="{FF2B5EF4-FFF2-40B4-BE49-F238E27FC236}">
                <a16:creationId xmlns:a16="http://schemas.microsoft.com/office/drawing/2014/main" id="{5369BEE9-C16B-4131-9C25-E10F2A28A7F3}"/>
              </a:ext>
            </a:extLst>
          </p:cNvPr>
          <p:cNvSpPr>
            <a:spLocks xmlns:a="http://schemas.openxmlformats.org/drawingml/2006/main" noGrp="1"/>
          </p:cNvSpPr>
          <p:nvPr/>
        </p:nvSpPr>
        <p:spPr>
          <a:xfrm xmlns:a="http://schemas.openxmlformats.org/drawingml/2006/main">
            <a:off x="571500" y="6057900"/>
            <a:ext cx="457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5">
            <a:extLst xmlns:a="http://schemas.openxmlformats.org/drawingml/2006/main">
              <a:ext uri="{FF2B5EF4-FFF2-40B4-BE49-F238E27FC236}">
                <a16:creationId xmlns:a16="http://schemas.microsoft.com/office/drawing/2014/main" id="{3A833FB1-72BF-46A2-9983-8195D8FE6B5B}"/>
              </a:ext>
            </a:extLst>
          </p:cNvPr>
          <p:cNvSpPr>
            <a:spLocks xmlns:a="http://schemas.openxmlformats.org/drawingml/2006/main" noGrp="1"/>
          </p:cNvSpPr>
          <p:nvPr/>
        </p:nvSpPr>
        <p:spPr>
          <a:xfrm xmlns:a="http://schemas.openxmlformats.org/drawingml/2006/main">
            <a:off x="1104900" y="6057900"/>
            <a:ext cx="74199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6">
            <a:extLst xmlns:a="http://schemas.openxmlformats.org/drawingml/2006/main">
              <a:ext uri="{FF2B5EF4-FFF2-40B4-BE49-F238E27FC236}">
                <a16:creationId xmlns:a16="http://schemas.microsoft.com/office/drawing/2014/main" id="{70B0D8FB-3798-4445-9C4D-EB01E980F01C}"/>
              </a:ext>
            </a:extLst>
          </p:cNvPr>
          <p:cNvSpPr>
            <a:spLocks xmlns:a="http://schemas.openxmlformats.org/drawingml/2006/main" noGrp="1"/>
          </p:cNvSpPr>
          <p:nvPr/>
        </p:nvSpPr>
        <p:spPr>
          <a:xfrm xmlns:a="http://schemas.openxmlformats.org/drawingml/2006/main">
            <a:off x="571500" y="6819900"/>
            <a:ext cx="457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6">
            <a:extLst xmlns:a="http://schemas.openxmlformats.org/drawingml/2006/main">
              <a:ext uri="{FF2B5EF4-FFF2-40B4-BE49-F238E27FC236}">
                <a16:creationId xmlns:a16="http://schemas.microsoft.com/office/drawing/2014/main" id="{6F6F02E5-E9A5-4D8A-9593-081B39DC17A3}"/>
              </a:ext>
            </a:extLst>
          </p:cNvPr>
          <p:cNvSpPr>
            <a:spLocks xmlns:a="http://schemas.openxmlformats.org/drawingml/2006/main" noGrp="1"/>
          </p:cNvSpPr>
          <p:nvPr/>
        </p:nvSpPr>
        <p:spPr>
          <a:xfrm xmlns:a="http://schemas.openxmlformats.org/drawingml/2006/main">
            <a:off x="1104900" y="6819900"/>
            <a:ext cx="74199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16.</a:t>
            </a:r>
          </a:p>
        </p:txBody>
      </p:sp>
      <p:sp>
        <p:nvSpPr>
          <p:cNvPr id="19" name="route-number-7">
            <a:extLst xmlns:a="http://schemas.openxmlformats.org/drawingml/2006/main">
              <a:ext uri="{FF2B5EF4-FFF2-40B4-BE49-F238E27FC236}">
                <a16:creationId xmlns:a16="http://schemas.microsoft.com/office/drawing/2014/main" id="{40B0D085-D02E-4997-A583-027C50F149C5}"/>
              </a:ext>
            </a:extLst>
          </p:cNvPr>
          <p:cNvSpPr>
            <a:spLocks xmlns:a="http://schemas.openxmlformats.org/drawingml/2006/main" noGrp="1"/>
          </p:cNvSpPr>
          <p:nvPr/>
        </p:nvSpPr>
        <p:spPr>
          <a:xfrm xmlns:a="http://schemas.openxmlformats.org/drawingml/2006/main">
            <a:off x="571500" y="7372350"/>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7.</a:t>
            </a:r>
          </a:p>
        </p:txBody>
      </p:sp>
      <p:sp>
        <p:nvSpPr>
          <p:cNvPr id="20" name="route-7">
            <a:extLst xmlns:a="http://schemas.openxmlformats.org/drawingml/2006/main">
              <a:ext uri="{FF2B5EF4-FFF2-40B4-BE49-F238E27FC236}">
                <a16:creationId xmlns:a16="http://schemas.microsoft.com/office/drawing/2014/main" id="{33961F0A-FAE3-4334-B009-373BCE3BAE90}"/>
              </a:ext>
            </a:extLst>
          </p:cNvPr>
          <p:cNvSpPr>
            <a:spLocks xmlns:a="http://schemas.openxmlformats.org/drawingml/2006/main" noGrp="1"/>
          </p:cNvSpPr>
          <p:nvPr/>
        </p:nvSpPr>
        <p:spPr>
          <a:xfrm xmlns:a="http://schemas.openxmlformats.org/drawingml/2006/main">
            <a:off x="1104900" y="7372350"/>
            <a:ext cx="74199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9717C913-F551-41FB-8530-915C21023421}"/>
              </a:ext>
            </a:extLst>
          </p:cNvPr>
          <p:cNvSpPr>
            <a:spLocks xmlns:a="http://schemas.openxmlformats.org/drawingml/2006/main" noGrp="1"/>
          </p:cNvSpPr>
          <p:nvPr/>
        </p:nvSpPr>
        <p:spPr>
          <a:xfrm xmlns:a="http://schemas.openxmlformats.org/drawingml/2006/main">
            <a:off x="9258300" y="17621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11D936C6-40C6-4A0D-B984-F96CCB5D4EF3}"/>
              </a:ext>
            </a:extLst>
          </p:cNvPr>
          <p:cNvSpPr>
            <a:spLocks xmlns:a="http://schemas.openxmlformats.org/drawingml/2006/main" noGrp="1"/>
          </p:cNvSpPr>
          <p:nvPr/>
        </p:nvSpPr>
        <p:spPr>
          <a:xfrm xmlns:a="http://schemas.openxmlformats.org/drawingml/2006/main">
            <a:off x="9258300" y="2305050"/>
            <a:ext cx="5381625"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Voorwaarden herkennen; per groep</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Q en P kiezen; omzet, kosten, winst</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en de verdeling van surplus vergelijken.</a:t>
            </a:r>
          </a:p>
        </p:txBody>
      </p:sp>
      <p:sp>
        <p:nvSpPr>
          <p:cNvPr id="23" name="">
            <a:extLst xmlns:a="http://schemas.openxmlformats.org/drawingml/2006/main">
              <a:ext uri="{FF2B5EF4-FFF2-40B4-BE49-F238E27FC236}">
                <a16:creationId xmlns:a16="http://schemas.microsoft.com/office/drawing/2014/main" id="{DB5D6E98-89DD-4123-B2E8-408FEA9A87CC}"/>
              </a:ext>
            </a:extLst>
          </p:cNvPr>
          <p:cNvSpPr>
            <a:spLocks xmlns:a="http://schemas.openxmlformats.org/drawingml/2006/main" noGrp="1"/>
          </p:cNvSpPr>
          <p:nvPr/>
        </p:nvSpPr>
        <p:spPr>
          <a:xfrm xmlns:a="http://schemas.openxmlformats.org/drawingml/2006/main">
            <a:off x="9258300" y="3629025"/>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1A074BA7-3F67-4E64-AC5D-04D2C1E92D15}"/>
              </a:ext>
            </a:extLst>
          </p:cNvPr>
          <p:cNvSpPr>
            <a:spLocks xmlns:a="http://schemas.openxmlformats.org/drawingml/2006/main" noGrp="1"/>
          </p:cNvSpPr>
          <p:nvPr/>
        </p:nvSpPr>
        <p:spPr>
          <a:xfrm xmlns:a="http://schemas.openxmlformats.org/drawingml/2006/main">
            <a:off x="9258300" y="3810000"/>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CBC65DDF-D750-4840-A958-6FA0139B3E32}"/>
              </a:ext>
            </a:extLst>
          </p:cNvPr>
          <p:cNvSpPr>
            <a:spLocks xmlns:a="http://schemas.openxmlformats.org/drawingml/2006/main" noGrp="1"/>
          </p:cNvSpPr>
          <p:nvPr/>
        </p:nvSpPr>
        <p:spPr>
          <a:xfrm xmlns:a="http://schemas.openxmlformats.org/drawingml/2006/main">
            <a:off x="9258300" y="4324350"/>
            <a:ext cx="5381625"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Pagina 66 · Opgaven 10 en 11</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Verkennen met de theorie:</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10: p. 64 · 11: p. 63</a:t>
            </a:r>
          </a:p>
        </p:txBody>
      </p:sp>
      <p:sp>
        <p:nvSpPr>
          <p:cNvPr id="26" name="">
            <a:extLst xmlns:a="http://schemas.openxmlformats.org/drawingml/2006/main">
              <a:ext uri="{FF2B5EF4-FFF2-40B4-BE49-F238E27FC236}">
                <a16:creationId xmlns:a16="http://schemas.microsoft.com/office/drawing/2014/main" id="{317DC653-6EF1-4A33-A6DC-E992ABCBD21B}"/>
              </a:ext>
            </a:extLst>
          </p:cNvPr>
          <p:cNvSpPr>
            <a:spLocks xmlns:a="http://schemas.openxmlformats.org/drawingml/2006/main" noGrp="1"/>
          </p:cNvSpPr>
          <p:nvPr/>
        </p:nvSpPr>
        <p:spPr>
          <a:xfrm xmlns:a="http://schemas.openxmlformats.org/drawingml/2006/main">
            <a:off x="9258300" y="5505450"/>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D6C66498-E9A6-4C37-BEBB-1B4D76BA5D42}"/>
              </a:ext>
            </a:extLst>
          </p:cNvPr>
          <p:cNvSpPr>
            <a:spLocks xmlns:a="http://schemas.openxmlformats.org/drawingml/2006/main" noGrp="1"/>
          </p:cNvSpPr>
          <p:nvPr/>
        </p:nvSpPr>
        <p:spPr>
          <a:xfrm xmlns:a="http://schemas.openxmlformats.org/drawingml/2006/main">
            <a:off x="9258300" y="5715000"/>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4BFA1A84-BAFF-46FE-BC43-C42FD4D92E0E}"/>
              </a:ext>
            </a:extLst>
          </p:cNvPr>
          <p:cNvSpPr>
            <a:spLocks xmlns:a="http://schemas.openxmlformats.org/drawingml/2006/main" noGrp="1"/>
          </p:cNvSpPr>
          <p:nvPr/>
        </p:nvSpPr>
        <p:spPr>
          <a:xfrm xmlns:a="http://schemas.openxmlformats.org/drawingml/2006/main">
            <a:off x="9258300" y="6238875"/>
            <a:ext cx="5381625"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§4.2.2 · Opgaven 12 t/m 16</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Basis: 12 en 13</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Zelfstandig: 14 en 15</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Doelopgave: 16</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Maken en nakijken</a:t>
            </a:r>
          </a:p>
        </p:txBody>
      </p:sp>
    </p:spTree>
    <p:extLst>
      <p:ext uri="{BB962C8B-B14F-4D97-AF65-F5344CB8AC3E}">
        <p14:creationId xmlns:p14="http://schemas.microsoft.com/office/powerpoint/2010/main" val="112483230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Wanneer is het prijsdiscriminatie?">
            <a:extLst xmlns:a="http://schemas.openxmlformats.org/drawingml/2006/main">
              <a:ext uri="{FF2B5EF4-FFF2-40B4-BE49-F238E27FC236}">
                <a16:creationId xmlns:a16="http://schemas.microsoft.com/office/drawing/2014/main" id="{63F93207-645F-41B0-B8F4-C675B655AF7C}"/>
              </a:ext>
            </a:extLst>
          </p:cNvPr>
          <p:cNvSpPr>
            <a:spLocks xmlns:a="http://schemas.openxmlformats.org/drawingml/2006/main" noGrp="1"/>
          </p:cNvSpPr>
          <p:nvPr/>
        </p:nvSpPr>
        <p:spPr>
          <a:xfrm xmlns:a="http://schemas.openxmlformats.org/drawingml/2006/main">
            <a:off x="571500" y="400050"/>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Wanneer is het prijsdiscriminatie?</a:t>
            </a:r>
          </a:p>
        </p:txBody>
      </p:sp>
      <p:sp>
        <p:nvSpPr>
          <p:cNvPr id="2" name="">
            <a:extLst xmlns:a="http://schemas.openxmlformats.org/drawingml/2006/main">
              <a:ext uri="{FF2B5EF4-FFF2-40B4-BE49-F238E27FC236}">
                <a16:creationId xmlns:a16="http://schemas.microsoft.com/office/drawing/2014/main" id="{F6AA529C-D75D-41E9-9886-F3A85A7FBF86}"/>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2 Prijsdiscriminatie">
            <a:extLst xmlns:a="http://schemas.openxmlformats.org/drawingml/2006/main">
              <a:ext uri="{FF2B5EF4-FFF2-40B4-BE49-F238E27FC236}">
                <a16:creationId xmlns:a16="http://schemas.microsoft.com/office/drawing/2014/main" id="{C1C113EC-8193-42FF-A5F6-42DE4FF9819C}"/>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§4.2.2 Prijsdiscriminatie</a:t>
            </a:r>
          </a:p>
        </p:txBody>
      </p:sp>
      <p:sp>
        <p:nvSpPr>
          <p:cNvPr id="4" name="slide-number">
            <a:extLst xmlns:a="http://schemas.openxmlformats.org/drawingml/2006/main">
              <a:ext uri="{FF2B5EF4-FFF2-40B4-BE49-F238E27FC236}">
                <a16:creationId xmlns:a16="http://schemas.microsoft.com/office/drawing/2014/main" id="{7611E367-E0DC-4EA6-8AEE-C251C3E5F183}"/>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a:t>
            </a:r>
          </a:p>
        </p:txBody>
      </p:sp>
      <p:sp>
        <p:nvSpPr>
          <p:cNvPr id="5" name="Dezelfde dienst · andere prijs · geen verklaring in de kosten">
            <a:extLst xmlns:a="http://schemas.openxmlformats.org/drawingml/2006/main">
              <a:ext uri="{FF2B5EF4-FFF2-40B4-BE49-F238E27FC236}">
                <a16:creationId xmlns:a16="http://schemas.microsoft.com/office/drawing/2014/main" id="{3E1A70F7-A388-4922-A7FA-F8B0FED3E86A}"/>
              </a:ext>
            </a:extLst>
          </p:cNvPr>
          <p:cNvSpPr>
            <a:spLocks xmlns:a="http://schemas.openxmlformats.org/drawingml/2006/main" noGrp="1"/>
          </p:cNvSpPr>
          <p:nvPr/>
        </p:nvSpPr>
        <p:spPr>
          <a:xfrm xmlns:a="http://schemas.openxmlformats.org/drawingml/2006/main">
            <a:off x="571500" y="1819275"/>
            <a:ext cx="14097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Dezelfde dienst · andere prijs · geen verklaring in de kosten</a:t>
            </a:r>
          </a:p>
        </p:txBody>
      </p:sp>
      <p:graphicFrame>
        <p:nvGraphicFramePr>
          <p:cNvPr id="13" name=""/>
          <p:cNvGraphicFramePr/>
          <p:nvPr/>
        </p:nvGraphicFramePr>
        <p:xfrm>
          <a:off xmlns:a="http://schemas.openxmlformats.org/drawingml/2006/main" x="571500" y="3209925"/>
          <a:ext xmlns:a="http://schemas.openxmlformats.org/drawingml/2006/main" cx="14097000" cy="3209925"/>
        </p:xfrm>
        <a:graphic xmlns:a="http://schemas.openxmlformats.org/drawingml/2006/main">
          <a:graphicData uri="http://schemas.openxmlformats.org/drawingml/2006/table">
            <a:tbl>
              <a:tblPr/>
              <a:tblGrid>
                <a:gridCol w="9715500"/>
                <a:gridCol w="4381500"/>
              </a:tblGrid>
              <a:tr h="802481">
                <a:tc>
                  <a:txBody>
                    <a:bodyPr lIns="171450" tIns="95250" rIns="152400" bIns="95250"/>
                    <a:lstStyle/>
                    <a:p>
                      <a:r>
                        <a:rPr sz="2550" b="1">
                          <a:solidFill>
                            <a:srgbClr val="FFFFFF"/>
                          </a:solidFill>
                          <a:latin typeface="Arial"/>
                          <a:ea typeface="Arial"/>
                          <a:cs typeface="Arial"/>
                        </a:rPr>
                        <a:t>Voorbeeld</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Wat verschilt?</a:t>
                      </a:r>
                    </a:p>
                  </a:txBody>
                  <a:tcPr marL="91440" marR="91440" marT="45720" marB="45720" anchor="ctr">
                    <a:solidFill>
                      <a:srgbClr val="183247"/>
                    </a:solidFill>
                  </a:tcPr>
                </a:tc>
              </a:tr>
              <a:tr h="802481">
                <a:tc>
                  <a:txBody>
                    <a:bodyPr lIns="171450" tIns="95250" rIns="152400" bIns="95250"/>
                    <a:lstStyle/>
                    <a:p>
                      <a:r>
                        <a:rPr sz="2550" b="0">
                          <a:solidFill>
                            <a:srgbClr val="183247"/>
                          </a:solidFill>
                          <a:latin typeface="Arial"/>
                          <a:ea typeface="Arial"/>
                          <a:cs typeface="Arial"/>
                        </a:rPr>
                        <a:t>Dezelfde toegang, korting met een persoonlijke pas</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Alleen het tarief</a:t>
                      </a:r>
                    </a:p>
                  </a:txBody>
                  <a:tcPr marL="91440" marR="91440" marT="45720" marB="45720" anchor="ctr">
                    <a:solidFill>
                      <a:srgbClr val="FFFFFF"/>
                    </a:solidFill>
                  </a:tcPr>
                </a:tc>
              </a:tr>
              <a:tr h="802481">
                <a:tc>
                  <a:txBody>
                    <a:bodyPr lIns="171450" tIns="95250" rIns="152400" bIns="95250"/>
                    <a:lstStyle/>
                    <a:p>
                      <a:r>
                        <a:rPr sz="2550" b="0">
                          <a:solidFill>
                            <a:srgbClr val="183247"/>
                          </a:solidFill>
                          <a:latin typeface="Arial"/>
                          <a:ea typeface="Arial"/>
                          <a:cs typeface="Arial"/>
                        </a:rPr>
                        <a:t>Een bezoek inclusief een extra workshop</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De dienst is uitgebreider</a:t>
                      </a:r>
                    </a:p>
                  </a:txBody>
                  <a:tcPr marL="91440" marR="91440" marT="45720" marB="45720" anchor="ctr">
                    <a:solidFill>
                      <a:srgbClr val="EFF4F7"/>
                    </a:solidFill>
                  </a:tcPr>
                </a:tc>
              </a:tr>
              <a:tr h="802481">
                <a:tc>
                  <a:txBody>
                    <a:bodyPr lIns="171450" tIns="95250" rIns="152400" bIns="95250"/>
                    <a:lstStyle/>
                    <a:p>
                      <a:r>
                        <a:rPr sz="2550" b="0">
                          <a:solidFill>
                            <a:srgbClr val="183247"/>
                          </a:solidFill>
                          <a:latin typeface="Arial"/>
                          <a:ea typeface="Arial"/>
                          <a:cs typeface="Arial"/>
                        </a:rPr>
                        <a:t>Een bestelling met betaalde bezorging</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Bezorging kost extra</a:t>
                      </a:r>
                    </a:p>
                  </a:txBody>
                  <a:tcPr marL="91440" marR="91440" marT="45720" marB="45720" anchor="ctr">
                    <a:solidFill>
                      <a:srgbClr val="FFFFFF"/>
                    </a:solidFill>
                  </a:tcPr>
                </a:tc>
              </a:tr>
            </a:tbl>
          </a:graphicData>
        </a:graphic>
      </p:graphicFrame>
      <p:sp>
        <p:nvSpPr>
          <p:cNvPr id="7" name="Controleer eerst het product en de kosten.">
            <a:extLst xmlns:a="http://schemas.openxmlformats.org/drawingml/2006/main">
              <a:ext uri="{FF2B5EF4-FFF2-40B4-BE49-F238E27FC236}">
                <a16:creationId xmlns:a16="http://schemas.microsoft.com/office/drawing/2014/main" id="{2F916653-FA30-4781-A2DA-72F49DE65D84}"/>
              </a:ext>
            </a:extLst>
          </p:cNvPr>
          <p:cNvSpPr>
            <a:spLocks xmlns:a="http://schemas.openxmlformats.org/drawingml/2006/main" noGrp="1"/>
          </p:cNvSpPr>
          <p:nvPr/>
        </p:nvSpPr>
        <p:spPr>
          <a:xfrm xmlns:a="http://schemas.openxmlformats.org/drawingml/2006/main">
            <a:off x="571500" y="7162800"/>
            <a:ext cx="14097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83247"/>
                </a:solidFill>
                <a:latin typeface="Arial"/>
                <a:ea typeface="Arial"/>
                <a:cs typeface="Arial"/>
              </a:defRPr>
            </a:pPr>
            <a:r>
              <a:rPr sz="3000" b="1">
                <a:solidFill>
                  <a:srgbClr val="183247"/>
                </a:solidFill>
                <a:latin typeface="Arial"/>
                <a:ea typeface="Arial"/>
                <a:cs typeface="Arial"/>
              </a:rPr>
              <a:t>Controleer eerst het product en de kosten.</a:t>
            </a:r>
          </a:p>
        </p:txBody>
      </p:sp>
    </p:spTree>
    <p:extLst>
      <p:ext uri="{BB962C8B-B14F-4D97-AF65-F5344CB8AC3E}">
        <p14:creationId xmlns:p14="http://schemas.microsoft.com/office/powerpoint/2010/main" val="2146623979"/>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Drie voorwaarden voor groepsprijzen">
            <a:extLst xmlns:a="http://schemas.openxmlformats.org/drawingml/2006/main">
              <a:ext uri="{FF2B5EF4-FFF2-40B4-BE49-F238E27FC236}">
                <a16:creationId xmlns:a16="http://schemas.microsoft.com/office/drawing/2014/main" id="{614F2083-CEBF-44DC-B1AE-D28E706598F9}"/>
              </a:ext>
            </a:extLst>
          </p:cNvPr>
          <p:cNvSpPr>
            <a:spLocks xmlns:a="http://schemas.openxmlformats.org/drawingml/2006/main" noGrp="1"/>
          </p:cNvSpPr>
          <p:nvPr/>
        </p:nvSpPr>
        <p:spPr>
          <a:xfrm xmlns:a="http://schemas.openxmlformats.org/drawingml/2006/main">
            <a:off x="571500" y="400050"/>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Drie voorwaarden voor groepsprijzen</a:t>
            </a:r>
          </a:p>
        </p:txBody>
      </p:sp>
      <p:sp>
        <p:nvSpPr>
          <p:cNvPr id="2" name="">
            <a:extLst xmlns:a="http://schemas.openxmlformats.org/drawingml/2006/main">
              <a:ext uri="{FF2B5EF4-FFF2-40B4-BE49-F238E27FC236}">
                <a16:creationId xmlns:a16="http://schemas.microsoft.com/office/drawing/2014/main" id="{CC198F6E-B13C-40DE-B1B5-62E5A361034D}"/>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2 Prijsdiscriminatie">
            <a:extLst xmlns:a="http://schemas.openxmlformats.org/drawingml/2006/main">
              <a:ext uri="{FF2B5EF4-FFF2-40B4-BE49-F238E27FC236}">
                <a16:creationId xmlns:a16="http://schemas.microsoft.com/office/drawing/2014/main" id="{91725247-0E8B-4CB4-8911-14AD86BE0AEB}"/>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§4.2.2 Prijsdiscriminatie</a:t>
            </a:r>
          </a:p>
        </p:txBody>
      </p:sp>
      <p:sp>
        <p:nvSpPr>
          <p:cNvPr id="4" name="slide-number">
            <a:extLst xmlns:a="http://schemas.openxmlformats.org/drawingml/2006/main">
              <a:ext uri="{FF2B5EF4-FFF2-40B4-BE49-F238E27FC236}">
                <a16:creationId xmlns:a16="http://schemas.microsoft.com/office/drawing/2014/main" id="{7EE12963-B97D-44BC-8BCF-F53503CF1643}"/>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3</a:t>
            </a:r>
          </a:p>
        </p:txBody>
      </p:sp>
      <p:sp>
        <p:nvSpPr>
          <p:cNvPr id="5" name="1">
            <a:extLst xmlns:a="http://schemas.openxmlformats.org/drawingml/2006/main">
              <a:ext uri="{FF2B5EF4-FFF2-40B4-BE49-F238E27FC236}">
                <a16:creationId xmlns:a16="http://schemas.microsoft.com/office/drawing/2014/main" id="{9AA72008-AD74-47C9-BCFF-EF79738F379A}"/>
              </a:ext>
            </a:extLst>
          </p:cNvPr>
          <p:cNvSpPr>
            <a:spLocks xmlns:a="http://schemas.openxmlformats.org/drawingml/2006/main" noGrp="1"/>
          </p:cNvSpPr>
          <p:nvPr/>
        </p:nvSpPr>
        <p:spPr>
          <a:xfrm xmlns:a="http://schemas.openxmlformats.org/drawingml/2006/main">
            <a:off x="571500" y="1962150"/>
            <a:ext cx="857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7658A"/>
                </a:solidFill>
                <a:latin typeface="Arial"/>
                <a:ea typeface="Arial"/>
                <a:cs typeface="Arial"/>
              </a:defRPr>
            </a:pPr>
            <a:r>
              <a:rPr sz="3600" b="1">
                <a:solidFill>
                  <a:srgbClr val="17658A"/>
                </a:solidFill>
                <a:latin typeface="Arial"/>
                <a:ea typeface="Arial"/>
                <a:cs typeface="Arial"/>
              </a:rPr>
              <a:t>1</a:t>
            </a:r>
          </a:p>
        </p:txBody>
      </p:sp>
      <p:sp>
        <p:nvSpPr>
          <p:cNvPr id="6" name="Marktmacht">
            <a:extLst xmlns:a="http://schemas.openxmlformats.org/drawingml/2006/main">
              <a:ext uri="{FF2B5EF4-FFF2-40B4-BE49-F238E27FC236}">
                <a16:creationId xmlns:a16="http://schemas.microsoft.com/office/drawing/2014/main" id="{84334EEC-FD44-4F9F-99E7-471402D383AF}"/>
              </a:ext>
            </a:extLst>
          </p:cNvPr>
          <p:cNvSpPr>
            <a:spLocks xmlns:a="http://schemas.openxmlformats.org/drawingml/2006/main" noGrp="1"/>
          </p:cNvSpPr>
          <p:nvPr/>
        </p:nvSpPr>
        <p:spPr>
          <a:xfrm xmlns:a="http://schemas.openxmlformats.org/drawingml/2006/main">
            <a:off x="1676400" y="1962150"/>
            <a:ext cx="46196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83247"/>
                </a:solidFill>
                <a:latin typeface="Arial"/>
                <a:ea typeface="Arial"/>
                <a:cs typeface="Arial"/>
              </a:defRPr>
            </a:pPr>
            <a:r>
              <a:rPr sz="2925" b="1">
                <a:solidFill>
                  <a:srgbClr val="183247"/>
                </a:solidFill>
                <a:latin typeface="Arial"/>
                <a:ea typeface="Arial"/>
                <a:cs typeface="Arial"/>
              </a:rPr>
              <a:t>Marktmacht</a:t>
            </a:r>
          </a:p>
        </p:txBody>
      </p:sp>
      <p:sp>
        <p:nvSpPr>
          <p:cNvPr id="7" name="De aanbieder kan de prijs beïnvloeden.">
            <a:extLst xmlns:a="http://schemas.openxmlformats.org/drawingml/2006/main">
              <a:ext uri="{FF2B5EF4-FFF2-40B4-BE49-F238E27FC236}">
                <a16:creationId xmlns:a16="http://schemas.microsoft.com/office/drawing/2014/main" id="{DB329B90-9574-47B8-9074-9E41C7952B42}"/>
              </a:ext>
            </a:extLst>
          </p:cNvPr>
          <p:cNvSpPr>
            <a:spLocks xmlns:a="http://schemas.openxmlformats.org/drawingml/2006/main" noGrp="1"/>
          </p:cNvSpPr>
          <p:nvPr/>
        </p:nvSpPr>
        <p:spPr>
          <a:xfrm xmlns:a="http://schemas.openxmlformats.org/drawingml/2006/main">
            <a:off x="6858000" y="1962150"/>
            <a:ext cx="771525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De aanbieder kan de prijs beïnvloeden.</a:t>
            </a:r>
          </a:p>
        </p:txBody>
      </p:sp>
      <p:sp>
        <p:nvSpPr>
          <p:cNvPr id="8" name="">
            <a:extLst xmlns:a="http://schemas.openxmlformats.org/drawingml/2006/main">
              <a:ext uri="{FF2B5EF4-FFF2-40B4-BE49-F238E27FC236}">
                <a16:creationId xmlns:a16="http://schemas.microsoft.com/office/drawing/2014/main" id="{175FEA5E-6948-46D7-BE3C-1D942C8ACDBB}"/>
              </a:ext>
            </a:extLst>
          </p:cNvPr>
          <p:cNvSpPr>
            <a:spLocks xmlns:a="http://schemas.openxmlformats.org/drawingml/2006/main" noGrp="1"/>
          </p:cNvSpPr>
          <p:nvPr/>
        </p:nvSpPr>
        <p:spPr>
          <a:xfrm xmlns:a="http://schemas.openxmlformats.org/drawingml/2006/main">
            <a:off x="1676400" y="3438525"/>
            <a:ext cx="12992100" cy="0"/>
          </a:xfrm>
          <a:prstGeom xmlns:a="http://schemas.openxmlformats.org/drawingml/2006/main" prst="line">
            <a:avLst/>
          </a:prstGeom>
          <a:ln xmlns:a="http://schemas.openxmlformats.org/drawingml/2006/main" w="19050">
            <a:solidFill>
              <a:srgbClr val="C6D2DB"/>
            </a:solidFill>
          </a:ln>
        </p:spPr>
      </p:sp>
      <p:sp>
        <p:nvSpPr>
          <p:cNvPr id="9" name="2">
            <a:extLst xmlns:a="http://schemas.openxmlformats.org/drawingml/2006/main">
              <a:ext uri="{FF2B5EF4-FFF2-40B4-BE49-F238E27FC236}">
                <a16:creationId xmlns:a16="http://schemas.microsoft.com/office/drawing/2014/main" id="{E036949A-D402-46F0-8E0A-48BF999F1D6C}"/>
              </a:ext>
            </a:extLst>
          </p:cNvPr>
          <p:cNvSpPr>
            <a:spLocks xmlns:a="http://schemas.openxmlformats.org/drawingml/2006/main" noGrp="1"/>
          </p:cNvSpPr>
          <p:nvPr/>
        </p:nvSpPr>
        <p:spPr>
          <a:xfrm xmlns:a="http://schemas.openxmlformats.org/drawingml/2006/main">
            <a:off x="571500" y="3829050"/>
            <a:ext cx="857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7658A"/>
                </a:solidFill>
                <a:latin typeface="Arial"/>
                <a:ea typeface="Arial"/>
                <a:cs typeface="Arial"/>
              </a:defRPr>
            </a:pPr>
            <a:r>
              <a:rPr sz="3600" b="1">
                <a:solidFill>
                  <a:srgbClr val="17658A"/>
                </a:solidFill>
                <a:latin typeface="Arial"/>
                <a:ea typeface="Arial"/>
                <a:cs typeface="Arial"/>
              </a:rPr>
              <a:t>2</a:t>
            </a:r>
          </a:p>
        </p:txBody>
      </p:sp>
      <p:sp>
        <p:nvSpPr>
          <p:cNvPr id="10" name="Groepen scheiden">
            <a:extLst xmlns:a="http://schemas.openxmlformats.org/drawingml/2006/main">
              <a:ext uri="{FF2B5EF4-FFF2-40B4-BE49-F238E27FC236}">
                <a16:creationId xmlns:a16="http://schemas.microsoft.com/office/drawing/2014/main" id="{0EC1DC6E-4773-489C-82D8-C5865C805545}"/>
              </a:ext>
            </a:extLst>
          </p:cNvPr>
          <p:cNvSpPr>
            <a:spLocks xmlns:a="http://schemas.openxmlformats.org/drawingml/2006/main" noGrp="1"/>
          </p:cNvSpPr>
          <p:nvPr/>
        </p:nvSpPr>
        <p:spPr>
          <a:xfrm xmlns:a="http://schemas.openxmlformats.org/drawingml/2006/main">
            <a:off x="1676400" y="3829050"/>
            <a:ext cx="46196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83247"/>
                </a:solidFill>
                <a:latin typeface="Arial"/>
                <a:ea typeface="Arial"/>
                <a:cs typeface="Arial"/>
              </a:defRPr>
            </a:pPr>
            <a:r>
              <a:rPr sz="2925" b="1">
                <a:solidFill>
                  <a:srgbClr val="183247"/>
                </a:solidFill>
                <a:latin typeface="Arial"/>
                <a:ea typeface="Arial"/>
                <a:cs typeface="Arial"/>
              </a:rPr>
              <a:t>Groepen scheiden</a:t>
            </a:r>
          </a:p>
        </p:txBody>
      </p:sp>
      <p:sp>
        <p:nvSpPr>
          <p:cNvPr id="11" name="Herkenbare groepen verschillen in betalingsbereidheid of prijsge">
            <a:extLst xmlns:a="http://schemas.openxmlformats.org/drawingml/2006/main">
              <a:ext uri="{FF2B5EF4-FFF2-40B4-BE49-F238E27FC236}">
                <a16:creationId xmlns:a16="http://schemas.microsoft.com/office/drawing/2014/main" id="{7683592C-87CF-4BFC-B47B-004EE2C99224}"/>
              </a:ext>
            </a:extLst>
          </p:cNvPr>
          <p:cNvSpPr>
            <a:spLocks xmlns:a="http://schemas.openxmlformats.org/drawingml/2006/main" noGrp="1"/>
          </p:cNvSpPr>
          <p:nvPr/>
        </p:nvSpPr>
        <p:spPr>
          <a:xfrm xmlns:a="http://schemas.openxmlformats.org/drawingml/2006/main">
            <a:off x="6858000" y="3829050"/>
            <a:ext cx="771525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Herkenbare groepen verschillen in betalingsbereidheid of prijsgevoeligheid.</a:t>
            </a:r>
          </a:p>
        </p:txBody>
      </p:sp>
      <p:sp>
        <p:nvSpPr>
          <p:cNvPr id="12" name="">
            <a:extLst xmlns:a="http://schemas.openxmlformats.org/drawingml/2006/main">
              <a:ext uri="{FF2B5EF4-FFF2-40B4-BE49-F238E27FC236}">
                <a16:creationId xmlns:a16="http://schemas.microsoft.com/office/drawing/2014/main" id="{253ECF23-D320-4D07-8A28-C0CBCB1159AC}"/>
              </a:ext>
            </a:extLst>
          </p:cNvPr>
          <p:cNvSpPr>
            <a:spLocks xmlns:a="http://schemas.openxmlformats.org/drawingml/2006/main" noGrp="1"/>
          </p:cNvSpPr>
          <p:nvPr/>
        </p:nvSpPr>
        <p:spPr>
          <a:xfrm xmlns:a="http://schemas.openxmlformats.org/drawingml/2006/main">
            <a:off x="1676400" y="5305425"/>
            <a:ext cx="12992100" cy="0"/>
          </a:xfrm>
          <a:prstGeom xmlns:a="http://schemas.openxmlformats.org/drawingml/2006/main" prst="line">
            <a:avLst/>
          </a:prstGeom>
          <a:ln xmlns:a="http://schemas.openxmlformats.org/drawingml/2006/main" w="19050">
            <a:solidFill>
              <a:srgbClr val="C6D2DB"/>
            </a:solidFill>
          </a:ln>
        </p:spPr>
      </p:sp>
      <p:sp>
        <p:nvSpPr>
          <p:cNvPr id="13" name="3">
            <a:extLst xmlns:a="http://schemas.openxmlformats.org/drawingml/2006/main">
              <a:ext uri="{FF2B5EF4-FFF2-40B4-BE49-F238E27FC236}">
                <a16:creationId xmlns:a16="http://schemas.microsoft.com/office/drawing/2014/main" id="{75F230C6-D0A9-44AF-81E6-8B47304A8D71}"/>
              </a:ext>
            </a:extLst>
          </p:cNvPr>
          <p:cNvSpPr>
            <a:spLocks xmlns:a="http://schemas.openxmlformats.org/drawingml/2006/main" noGrp="1"/>
          </p:cNvSpPr>
          <p:nvPr/>
        </p:nvSpPr>
        <p:spPr>
          <a:xfrm xmlns:a="http://schemas.openxmlformats.org/drawingml/2006/main">
            <a:off x="571500" y="5695950"/>
            <a:ext cx="857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7658A"/>
                </a:solidFill>
                <a:latin typeface="Arial"/>
                <a:ea typeface="Arial"/>
                <a:cs typeface="Arial"/>
              </a:defRPr>
            </a:pPr>
            <a:r>
              <a:rPr sz="3600" b="1">
                <a:solidFill>
                  <a:srgbClr val="17658A"/>
                </a:solidFill>
                <a:latin typeface="Arial"/>
                <a:ea typeface="Arial"/>
                <a:cs typeface="Arial"/>
              </a:rPr>
              <a:t>3</a:t>
            </a:r>
          </a:p>
        </p:txBody>
      </p:sp>
      <p:sp>
        <p:nvSpPr>
          <p:cNvPr id="14" name="Doorverkoop beperken">
            <a:extLst xmlns:a="http://schemas.openxmlformats.org/drawingml/2006/main">
              <a:ext uri="{FF2B5EF4-FFF2-40B4-BE49-F238E27FC236}">
                <a16:creationId xmlns:a16="http://schemas.microsoft.com/office/drawing/2014/main" id="{3714AA54-21E8-4867-A4F9-9C26E27E8724}"/>
              </a:ext>
            </a:extLst>
          </p:cNvPr>
          <p:cNvSpPr>
            <a:spLocks xmlns:a="http://schemas.openxmlformats.org/drawingml/2006/main" noGrp="1"/>
          </p:cNvSpPr>
          <p:nvPr/>
        </p:nvSpPr>
        <p:spPr>
          <a:xfrm xmlns:a="http://schemas.openxmlformats.org/drawingml/2006/main">
            <a:off x="1676400" y="5695950"/>
            <a:ext cx="46196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83247"/>
                </a:solidFill>
                <a:latin typeface="Arial"/>
                <a:ea typeface="Arial"/>
                <a:cs typeface="Arial"/>
              </a:defRPr>
            </a:pPr>
            <a:r>
              <a:rPr sz="2925" b="1">
                <a:solidFill>
                  <a:srgbClr val="183247"/>
                </a:solidFill>
                <a:latin typeface="Arial"/>
                <a:ea typeface="Arial"/>
                <a:cs typeface="Arial"/>
              </a:rPr>
              <a:t>Doorverkoop beperken</a:t>
            </a:r>
          </a:p>
        </p:txBody>
      </p:sp>
      <p:sp>
        <p:nvSpPr>
          <p:cNvPr id="15" name="Een goedkope persoonlijke pas kan niet naar de dure groep.">
            <a:extLst xmlns:a="http://schemas.openxmlformats.org/drawingml/2006/main">
              <a:ext uri="{FF2B5EF4-FFF2-40B4-BE49-F238E27FC236}">
                <a16:creationId xmlns:a16="http://schemas.microsoft.com/office/drawing/2014/main" id="{D9513290-72E2-4E35-869E-62349920DB90}"/>
              </a:ext>
            </a:extLst>
          </p:cNvPr>
          <p:cNvSpPr>
            <a:spLocks xmlns:a="http://schemas.openxmlformats.org/drawingml/2006/main" noGrp="1"/>
          </p:cNvSpPr>
          <p:nvPr/>
        </p:nvSpPr>
        <p:spPr>
          <a:xfrm xmlns:a="http://schemas.openxmlformats.org/drawingml/2006/main">
            <a:off x="6858000" y="5695950"/>
            <a:ext cx="771525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Een goedkope persoonlijke pas kan niet naar de dure groep.</a:t>
            </a:r>
          </a:p>
        </p:txBody>
      </p:sp>
    </p:spTree>
    <p:extLst>
      <p:ext uri="{BB962C8B-B14F-4D97-AF65-F5344CB8AC3E}">
        <p14:creationId xmlns:p14="http://schemas.microsoft.com/office/powerpoint/2010/main" val="2137138054"/>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Sterrenkoepel: twee groepen, één bedrijf">
            <a:extLst xmlns:a="http://schemas.openxmlformats.org/drawingml/2006/main">
              <a:ext uri="{FF2B5EF4-FFF2-40B4-BE49-F238E27FC236}">
                <a16:creationId xmlns:a16="http://schemas.microsoft.com/office/drawing/2014/main" id="{B6241D6C-FD91-4747-BB76-CB56AB5B424F}"/>
              </a:ext>
            </a:extLst>
          </p:cNvPr>
          <p:cNvSpPr>
            <a:spLocks xmlns:a="http://schemas.openxmlformats.org/drawingml/2006/main" noGrp="1"/>
          </p:cNvSpPr>
          <p:nvPr/>
        </p:nvSpPr>
        <p:spPr>
          <a:xfrm xmlns:a="http://schemas.openxmlformats.org/drawingml/2006/main">
            <a:off x="571500" y="400050"/>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Sterrenkoepel: twee groepen, één bedrijf</a:t>
            </a:r>
          </a:p>
        </p:txBody>
      </p:sp>
      <p:sp>
        <p:nvSpPr>
          <p:cNvPr id="2" name="">
            <a:extLst xmlns:a="http://schemas.openxmlformats.org/drawingml/2006/main">
              <a:ext uri="{FF2B5EF4-FFF2-40B4-BE49-F238E27FC236}">
                <a16:creationId xmlns:a16="http://schemas.microsoft.com/office/drawing/2014/main" id="{2518745A-E93E-40B4-B641-D77A278C73A2}"/>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2 Prijsdiscriminatie">
            <a:extLst xmlns:a="http://schemas.openxmlformats.org/drawingml/2006/main">
              <a:ext uri="{FF2B5EF4-FFF2-40B4-BE49-F238E27FC236}">
                <a16:creationId xmlns:a16="http://schemas.microsoft.com/office/drawing/2014/main" id="{10B12DF2-F2E6-4862-B225-861C6F940A93}"/>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§4.2.2 Prijsdiscriminatie</a:t>
            </a:r>
          </a:p>
        </p:txBody>
      </p:sp>
      <p:sp>
        <p:nvSpPr>
          <p:cNvPr id="4" name="slide-number">
            <a:extLst xmlns:a="http://schemas.openxmlformats.org/drawingml/2006/main">
              <a:ext uri="{FF2B5EF4-FFF2-40B4-BE49-F238E27FC236}">
                <a16:creationId xmlns:a16="http://schemas.microsoft.com/office/drawing/2014/main" id="{8B8FD800-1A2C-481E-A501-3E9AB457B8D6}"/>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4</a:t>
            </a:r>
          </a:p>
        </p:txBody>
      </p:sp>
      <p:sp>
        <p:nvSpPr>
          <p:cNvPr id="5" name="Uitlegvoorbeeld — niet uit het boek · Sterrenkoepel">
            <a:extLst xmlns:a="http://schemas.openxmlformats.org/drawingml/2006/main">
              <a:ext uri="{FF2B5EF4-FFF2-40B4-BE49-F238E27FC236}">
                <a16:creationId xmlns:a16="http://schemas.microsoft.com/office/drawing/2014/main" id="{E1ACFD43-27E4-4CC2-8F61-7433B99A27D5}"/>
              </a:ext>
            </a:extLst>
          </p:cNvPr>
          <p:cNvSpPr>
            <a:spLocks xmlns:a="http://schemas.openxmlformats.org/drawingml/2006/main" noGrp="1"/>
          </p:cNvSpPr>
          <p:nvPr/>
        </p:nvSpPr>
        <p:spPr>
          <a:xfrm xmlns:a="http://schemas.openxmlformats.org/drawingml/2006/main">
            <a:off x="571500" y="1685925"/>
            <a:ext cx="14097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17658A"/>
                </a:solidFill>
                <a:latin typeface="Arial"/>
                <a:ea typeface="Arial"/>
                <a:cs typeface="Arial"/>
              </a:defRPr>
            </a:pPr>
            <a:r>
              <a:rPr sz="2100" b="1">
                <a:solidFill>
                  <a:srgbClr val="17658A"/>
                </a:solidFill>
                <a:latin typeface="Arial"/>
                <a:ea typeface="Arial"/>
                <a:cs typeface="Arial"/>
              </a:rPr>
              <a:t>Uitlegvoorbeeld — niet uit het boek · Sterrenkoepel</a:t>
            </a:r>
          </a:p>
        </p:txBody>
      </p:sp>
      <p:sp>
        <p:nvSpPr>
          <p:cNvPr id="6" name="Dezelfde toegang; gecontroleerde persoonlijke passen.&#10;De aanbied">
            <a:extLst xmlns:a="http://schemas.openxmlformats.org/drawingml/2006/main">
              <a:ext uri="{FF2B5EF4-FFF2-40B4-BE49-F238E27FC236}">
                <a16:creationId xmlns:a16="http://schemas.microsoft.com/office/drawing/2014/main" id="{475B828D-A38C-4254-AE41-128A12E5B22E}"/>
              </a:ext>
            </a:extLst>
          </p:cNvPr>
          <p:cNvSpPr>
            <a:spLocks xmlns:a="http://schemas.openxmlformats.org/drawingml/2006/main" noGrp="1"/>
          </p:cNvSpPr>
          <p:nvPr/>
        </p:nvSpPr>
        <p:spPr>
          <a:xfrm xmlns:a="http://schemas.openxmlformats.org/drawingml/2006/main">
            <a:off x="571500" y="2333625"/>
            <a:ext cx="14097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Dezelfde toegang; gecontroleerde persoonlijke passen.</a:t>
            </a:r>
          </a:p>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De aanbieder heeft marktmacht. Doorverkoop is onmogelijk.</a:t>
            </a:r>
          </a:p>
        </p:txBody>
      </p:sp>
      <p:graphicFrame>
        <p:nvGraphicFramePr>
          <p:cNvPr id="16" name=""/>
          <p:cNvGraphicFramePr/>
          <p:nvPr/>
        </p:nvGraphicFramePr>
        <p:xfrm>
          <a:off xmlns:a="http://schemas.openxmlformats.org/drawingml/2006/main" x="571500" y="3714750"/>
          <a:ext xmlns:a="http://schemas.openxmlformats.org/drawingml/2006/main" cx="14097000" cy="2333625"/>
        </p:xfrm>
        <a:graphic xmlns:a="http://schemas.openxmlformats.org/drawingml/2006/main">
          <a:graphicData uri="http://schemas.openxmlformats.org/drawingml/2006/table">
            <a:tbl>
              <a:tblPr/>
              <a:tblGrid>
                <a:gridCol w="7048500"/>
                <a:gridCol w="7048500"/>
              </a:tblGrid>
              <a:tr h="777875">
                <a:tc>
                  <a:txBody>
                    <a:bodyPr lIns="171450" tIns="95250" rIns="152400" bIns="95250"/>
                    <a:lstStyle/>
                    <a:p>
                      <a:r>
                        <a:rPr sz="2700" b="1">
                          <a:solidFill>
                            <a:srgbClr val="FFFFFF"/>
                          </a:solidFill>
                          <a:latin typeface="Arial"/>
                          <a:ea typeface="Arial"/>
                          <a:cs typeface="Arial"/>
                        </a:rPr>
                        <a:t>Vraag per groep</a:t>
                      </a:r>
                    </a:p>
                  </a:txBody>
                  <a:tcPr marL="91440" marR="91440" marT="45720" marB="45720" anchor="ctr">
                    <a:solidFill>
                      <a:srgbClr val="183247"/>
                    </a:solidFill>
                  </a:tcPr>
                </a:tc>
                <a:tc>
                  <a:txBody>
                    <a:bodyPr lIns="171450" tIns="95250" rIns="152400" bIns="95250"/>
                    <a:lstStyle/>
                    <a:p>
                      <a:r>
                        <a:rPr sz="2700" b="1">
                          <a:solidFill>
                            <a:srgbClr val="FFFFFF"/>
                          </a:solidFill>
                          <a:latin typeface="Arial"/>
                          <a:ea typeface="Arial"/>
                          <a:cs typeface="Arial"/>
                        </a:rPr>
                        <a:t>Kosten van het bedrijf</a:t>
                      </a:r>
                    </a:p>
                  </a:txBody>
                  <a:tcPr marL="91440" marR="91440" marT="45720" marB="45720" anchor="ctr">
                    <a:solidFill>
                      <a:srgbClr val="183247"/>
                    </a:solidFill>
                  </a:tcPr>
                </a:tc>
              </a:tr>
              <a:tr h="777875">
                <a:tc>
                  <a:txBody>
                    <a:bodyPr lIns="171450" tIns="95250" rIns="152400" bIns="95250"/>
                    <a:lstStyle/>
                    <a:p>
                      <a:r>
                        <a:rPr sz="2700" b="0">
                          <a:solidFill>
                            <a:srgbClr val="183247"/>
                          </a:solidFill>
                          <a:latin typeface="Arial"/>
                          <a:ea typeface="Arial"/>
                          <a:cs typeface="Arial"/>
                        </a:rPr>
                        <a:t>P_A = 54 − 2Q_A</a:t>
                      </a:r>
                    </a:p>
                  </a:txBody>
                  <a:tcPr marL="91440" marR="91440" marT="45720" marB="45720" anchor="ctr">
                    <a:solidFill>
                      <a:srgbClr val="FFFFFF"/>
                    </a:solidFill>
                  </a:tcPr>
                </a:tc>
                <a:tc>
                  <a:txBody>
                    <a:bodyPr lIns="171450" tIns="95250" rIns="152400" bIns="95250"/>
                    <a:lstStyle/>
                    <a:p>
                      <a:r>
                        <a:rPr sz="2700" b="0">
                          <a:solidFill>
                            <a:srgbClr val="183247"/>
                          </a:solidFill>
                          <a:latin typeface="Arial"/>
                          <a:ea typeface="Arial"/>
                          <a:cs typeface="Arial"/>
                        </a:rPr>
                        <a:t>MK = € 6 per bezoek</a:t>
                      </a:r>
                    </a:p>
                  </a:txBody>
                  <a:tcPr marL="91440" marR="91440" marT="45720" marB="45720" anchor="ctr">
                    <a:solidFill>
                      <a:srgbClr val="FFFFFF"/>
                    </a:solidFill>
                  </a:tcPr>
                </a:tc>
              </a:tr>
              <a:tr h="777875">
                <a:tc>
                  <a:txBody>
                    <a:bodyPr lIns="171450" tIns="95250" rIns="152400" bIns="95250"/>
                    <a:lstStyle/>
                    <a:p>
                      <a:r>
                        <a:rPr sz="2700" b="0">
                          <a:solidFill>
                            <a:srgbClr val="183247"/>
                          </a:solidFill>
                          <a:latin typeface="Arial"/>
                          <a:ea typeface="Arial"/>
                          <a:cs typeface="Arial"/>
                        </a:rPr>
                        <a:t>P_B = 30 − 2Q_B</a:t>
                      </a:r>
                    </a:p>
                  </a:txBody>
                  <a:tcPr marL="91440" marR="91440" marT="45720" marB="45720" anchor="ctr">
                    <a:solidFill>
                      <a:srgbClr val="EFF4F7"/>
                    </a:solidFill>
                  </a:tcPr>
                </a:tc>
                <a:tc>
                  <a:txBody>
                    <a:bodyPr lIns="171450" tIns="95250" rIns="152400" bIns="95250"/>
                    <a:lstStyle/>
                    <a:p>
                      <a:r>
                        <a:rPr sz="2700" b="0">
                          <a:solidFill>
                            <a:srgbClr val="183247"/>
                          </a:solidFill>
                          <a:latin typeface="Arial"/>
                          <a:ea typeface="Arial"/>
                          <a:cs typeface="Arial"/>
                        </a:rPr>
                        <a:t>TCK = € 72 per week</a:t>
                      </a:r>
                    </a:p>
                  </a:txBody>
                  <a:tcPr marL="91440" marR="91440" marT="45720" marB="45720" anchor="ctr">
                    <a:solidFill>
                      <a:srgbClr val="EFF4F7"/>
                    </a:solidFill>
                  </a:tcPr>
                </a:tc>
              </a:tr>
            </a:tbl>
          </a:graphicData>
        </a:graphic>
      </p:graphicFrame>
      <p:sp>
        <p:nvSpPr>
          <p:cNvPr id="8" name="P: € per bezoek · Q: bezoeken per week&#10;0 ≤ Q_A ≤ 27 · 0 ≤ Q_B ≤ ">
            <a:extLst xmlns:a="http://schemas.openxmlformats.org/drawingml/2006/main">
              <a:ext uri="{FF2B5EF4-FFF2-40B4-BE49-F238E27FC236}">
                <a16:creationId xmlns:a16="http://schemas.microsoft.com/office/drawing/2014/main" id="{AAA70934-A699-4BEB-B53D-D55AF396AFF6}"/>
              </a:ext>
            </a:extLst>
          </p:cNvPr>
          <p:cNvSpPr>
            <a:spLocks xmlns:a="http://schemas.openxmlformats.org/drawingml/2006/main" noGrp="1"/>
          </p:cNvSpPr>
          <p:nvPr/>
        </p:nvSpPr>
        <p:spPr>
          <a:xfrm xmlns:a="http://schemas.openxmlformats.org/drawingml/2006/main">
            <a:off x="571500" y="6467475"/>
            <a:ext cx="140970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P: € per bezoek · Q: bezoeken per week</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0 ≤ Q_A ≤ 27 · 0 ≤ Q_B ≤ 15 · capaciteit: 42 bezoeken</a:t>
            </a:r>
          </a:p>
        </p:txBody>
      </p:sp>
      <p:sp>
        <p:nvSpPr>
          <p:cNvPr id="9" name="Constante MK en genoeg capaciteit → per groep apart kiezen">
            <a:extLst xmlns:a="http://schemas.openxmlformats.org/drawingml/2006/main">
              <a:ext uri="{FF2B5EF4-FFF2-40B4-BE49-F238E27FC236}">
                <a16:creationId xmlns:a16="http://schemas.microsoft.com/office/drawing/2014/main" id="{BE4EACC4-3EC2-41FE-AF11-8B04340D1EC9}"/>
              </a:ext>
            </a:extLst>
          </p:cNvPr>
          <p:cNvSpPr>
            <a:spLocks xmlns:a="http://schemas.openxmlformats.org/drawingml/2006/main" noGrp="1"/>
          </p:cNvSpPr>
          <p:nvPr/>
        </p:nvSpPr>
        <p:spPr>
          <a:xfrm xmlns:a="http://schemas.openxmlformats.org/drawingml/2006/main">
            <a:off x="571500" y="7477125"/>
            <a:ext cx="140970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7658A"/>
                </a:solidFill>
                <a:latin typeface="Arial"/>
                <a:ea typeface="Arial"/>
                <a:cs typeface="Arial"/>
              </a:defRPr>
            </a:pPr>
            <a:r>
              <a:rPr sz="2325" b="1">
                <a:solidFill>
                  <a:srgbClr val="17658A"/>
                </a:solidFill>
                <a:latin typeface="Arial"/>
                <a:ea typeface="Arial"/>
                <a:cs typeface="Arial"/>
              </a:rPr>
              <a:t>Constante MK en genoeg capaciteit → per groep apart kiezen</a:t>
            </a:r>
          </a:p>
        </p:txBody>
      </p:sp>
    </p:spTree>
    <p:extLst>
      <p:ext uri="{BB962C8B-B14F-4D97-AF65-F5344CB8AC3E}">
        <p14:creationId xmlns:p14="http://schemas.microsoft.com/office/powerpoint/2010/main" val="1436590505"/>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Per groep van vraag naar marginale opbrengst">
            <a:extLst xmlns:a="http://schemas.openxmlformats.org/drawingml/2006/main">
              <a:ext uri="{FF2B5EF4-FFF2-40B4-BE49-F238E27FC236}">
                <a16:creationId xmlns:a16="http://schemas.microsoft.com/office/drawing/2014/main" id="{96F4657E-4CAC-492D-8EE9-098814D0C217}"/>
              </a:ext>
            </a:extLst>
          </p:cNvPr>
          <p:cNvSpPr>
            <a:spLocks xmlns:a="http://schemas.openxmlformats.org/drawingml/2006/main" noGrp="1"/>
          </p:cNvSpPr>
          <p:nvPr/>
        </p:nvSpPr>
        <p:spPr>
          <a:xfrm xmlns:a="http://schemas.openxmlformats.org/drawingml/2006/main">
            <a:off x="571500" y="400050"/>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Per groep van vraag naar marginale opbrengst</a:t>
            </a:r>
          </a:p>
        </p:txBody>
      </p:sp>
      <p:sp>
        <p:nvSpPr>
          <p:cNvPr id="2" name="">
            <a:extLst xmlns:a="http://schemas.openxmlformats.org/drawingml/2006/main">
              <a:ext uri="{FF2B5EF4-FFF2-40B4-BE49-F238E27FC236}">
                <a16:creationId xmlns:a16="http://schemas.microsoft.com/office/drawing/2014/main" id="{146B2B12-7E73-40B7-BC45-6D395F366C39}"/>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2 Prijsdiscriminatie">
            <a:extLst xmlns:a="http://schemas.openxmlformats.org/drawingml/2006/main">
              <a:ext uri="{FF2B5EF4-FFF2-40B4-BE49-F238E27FC236}">
                <a16:creationId xmlns:a16="http://schemas.microsoft.com/office/drawing/2014/main" id="{FB9A3DAC-0794-4E84-9928-9AE851DF8EF7}"/>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§4.2.2 Prijsdiscriminatie</a:t>
            </a:r>
          </a:p>
        </p:txBody>
      </p:sp>
      <p:sp>
        <p:nvSpPr>
          <p:cNvPr id="4" name="slide-number">
            <a:extLst xmlns:a="http://schemas.openxmlformats.org/drawingml/2006/main">
              <a:ext uri="{FF2B5EF4-FFF2-40B4-BE49-F238E27FC236}">
                <a16:creationId xmlns:a16="http://schemas.microsoft.com/office/drawing/2014/main" id="{9C7286B1-28D6-42AF-BDE1-52ACA91608CF}"/>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5</a:t>
            </a:r>
          </a:p>
        </p:txBody>
      </p:sp>
      <p:sp>
        <p:nvSpPr>
          <p:cNvPr id="5" name="Uitlegvoorbeeld — niet uit het boek · Sterrenkoepel">
            <a:extLst xmlns:a="http://schemas.openxmlformats.org/drawingml/2006/main">
              <a:ext uri="{FF2B5EF4-FFF2-40B4-BE49-F238E27FC236}">
                <a16:creationId xmlns:a16="http://schemas.microsoft.com/office/drawing/2014/main" id="{C6CC8B5C-5610-4FD4-BCBC-F79CAE0E0FEC}"/>
              </a:ext>
            </a:extLst>
          </p:cNvPr>
          <p:cNvSpPr>
            <a:spLocks xmlns:a="http://schemas.openxmlformats.org/drawingml/2006/main" noGrp="1"/>
          </p:cNvSpPr>
          <p:nvPr/>
        </p:nvSpPr>
        <p:spPr>
          <a:xfrm xmlns:a="http://schemas.openxmlformats.org/drawingml/2006/main">
            <a:off x="571500" y="1685925"/>
            <a:ext cx="14097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17658A"/>
                </a:solidFill>
                <a:latin typeface="Arial"/>
                <a:ea typeface="Arial"/>
                <a:cs typeface="Arial"/>
              </a:defRPr>
            </a:pPr>
            <a:r>
              <a:rPr sz="2100" b="1">
                <a:solidFill>
                  <a:srgbClr val="17658A"/>
                </a:solidFill>
                <a:latin typeface="Arial"/>
                <a:ea typeface="Arial"/>
                <a:cs typeface="Arial"/>
              </a:rPr>
              <a:t>Uitlegvoorbeeld — niet uit het boek · Sterrenkoepel</a:t>
            </a:r>
          </a:p>
        </p:txBody>
      </p:sp>
      <p:graphicFrame>
        <p:nvGraphicFramePr>
          <p:cNvPr id="13" name=""/>
          <p:cNvGraphicFramePr/>
          <p:nvPr/>
        </p:nvGraphicFramePr>
        <p:xfrm>
          <a:off xmlns:a="http://schemas.openxmlformats.org/drawingml/2006/main" x="571500" y="2600325"/>
          <a:ext xmlns:a="http://schemas.openxmlformats.org/drawingml/2006/main" cx="14097000" cy="3724275"/>
        </p:xfrm>
        <a:graphic xmlns:a="http://schemas.openxmlformats.org/drawingml/2006/main">
          <a:graphicData uri="http://schemas.openxmlformats.org/drawingml/2006/table">
            <a:tbl>
              <a:tblPr/>
              <a:tblGrid>
                <a:gridCol w="4857750"/>
                <a:gridCol w="4619625"/>
                <a:gridCol w="4619625"/>
              </a:tblGrid>
              <a:tr h="931069">
                <a:tc>
                  <a:txBody>
                    <a:bodyPr lIns="171450" tIns="95250" rIns="152400" bIns="95250"/>
                    <a:lstStyle/>
                    <a:p>
                      <a:r>
                        <a:rPr sz="2550" b="1">
                          <a:solidFill>
                            <a:srgbClr val="FFFFFF"/>
                          </a:solidFill>
                          <a:latin typeface="Arial"/>
                          <a:ea typeface="Arial"/>
                          <a:cs typeface="Arial"/>
                        </a:rPr>
                        <a:t>Stap</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Groep A</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Groep B</a:t>
                      </a:r>
                    </a:p>
                  </a:txBody>
                  <a:tcPr marL="91440" marR="91440" marT="45720" marB="45720" anchor="ctr">
                    <a:solidFill>
                      <a:srgbClr val="183247"/>
                    </a:solidFill>
                  </a:tcPr>
                </a:tc>
              </a:tr>
              <a:tr h="931069">
                <a:tc>
                  <a:txBody>
                    <a:bodyPr lIns="171450" tIns="95250" rIns="152400" bIns="95250"/>
                    <a:lstStyle/>
                    <a:p>
                      <a:r>
                        <a:rPr sz="2550" b="0">
                          <a:solidFill>
                            <a:srgbClr val="183247"/>
                          </a:solidFill>
                          <a:latin typeface="Arial"/>
                          <a:ea typeface="Arial"/>
                          <a:cs typeface="Arial"/>
                        </a:rPr>
                        <a:t>Vraag / GO</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P_A = 54 − 2Q_A</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P_B = 30 − 2Q_B</a:t>
                      </a:r>
                    </a:p>
                  </a:txBody>
                  <a:tcPr marL="91440" marR="91440" marT="45720" marB="45720" anchor="ctr">
                    <a:solidFill>
                      <a:srgbClr val="FFFFFF"/>
                    </a:solidFill>
                  </a:tcPr>
                </a:tc>
              </a:tr>
              <a:tr h="931069">
                <a:tc>
                  <a:txBody>
                    <a:bodyPr lIns="171450" tIns="95250" rIns="152400" bIns="95250"/>
                    <a:lstStyle/>
                    <a:p>
                      <a:r>
                        <a:rPr sz="2550" b="0">
                          <a:solidFill>
                            <a:srgbClr val="183247"/>
                          </a:solidFill>
                          <a:latin typeface="Arial"/>
                          <a:ea typeface="Arial"/>
                          <a:cs typeface="Arial"/>
                        </a:rPr>
                        <a:t>TO = P × Q</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54Q_A − 2Q_A²</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30Q_B − 2Q_B²</a:t>
                      </a:r>
                    </a:p>
                  </a:txBody>
                  <a:tcPr marL="91440" marR="91440" marT="45720" marB="45720" anchor="ctr">
                    <a:solidFill>
                      <a:srgbClr val="EFF4F7"/>
                    </a:solidFill>
                  </a:tcPr>
                </a:tc>
              </a:tr>
              <a:tr h="931069">
                <a:tc>
                  <a:txBody>
                    <a:bodyPr lIns="171450" tIns="95250" rIns="152400" bIns="95250"/>
                    <a:lstStyle/>
                    <a:p>
                      <a:r>
                        <a:rPr sz="2550" b="0">
                          <a:solidFill>
                            <a:srgbClr val="183247"/>
                          </a:solidFill>
                          <a:latin typeface="Arial"/>
                          <a:ea typeface="Arial"/>
                          <a:cs typeface="Arial"/>
                        </a:rPr>
                        <a:t>MO = afgeleide van TO</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54 − 4Q_A</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30 − 4Q_B</a:t>
                      </a:r>
                    </a:p>
                  </a:txBody>
                  <a:tcPr marL="91440" marR="91440" marT="45720" marB="45720" anchor="ctr">
                    <a:solidFill>
                      <a:srgbClr val="FFFFFF"/>
                    </a:solidFill>
                  </a:tcPr>
                </a:tc>
              </a:tr>
            </a:tbl>
          </a:graphicData>
        </a:graphic>
      </p:graphicFrame>
      <p:sp>
        <p:nvSpPr>
          <p:cNvPr id="7" name="MO = MK → hoeveelheid → prijs op de eigen vraaglijn">
            <a:extLst xmlns:a="http://schemas.openxmlformats.org/drawingml/2006/main">
              <a:ext uri="{FF2B5EF4-FFF2-40B4-BE49-F238E27FC236}">
                <a16:creationId xmlns:a16="http://schemas.microsoft.com/office/drawing/2014/main" id="{26E51B01-6E11-473A-B6F5-FF9332AA3CBF}"/>
              </a:ext>
            </a:extLst>
          </p:cNvPr>
          <p:cNvSpPr>
            <a:spLocks xmlns:a="http://schemas.openxmlformats.org/drawingml/2006/main" noGrp="1"/>
          </p:cNvSpPr>
          <p:nvPr/>
        </p:nvSpPr>
        <p:spPr>
          <a:xfrm xmlns:a="http://schemas.openxmlformats.org/drawingml/2006/main">
            <a:off x="571500" y="7000875"/>
            <a:ext cx="14097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658A"/>
                </a:solidFill>
                <a:latin typeface="Arial"/>
                <a:ea typeface="Arial"/>
                <a:cs typeface="Arial"/>
              </a:defRPr>
            </a:pPr>
            <a:r>
              <a:rPr sz="3000" b="1">
                <a:solidFill>
                  <a:srgbClr val="17658A"/>
                </a:solidFill>
                <a:latin typeface="Arial"/>
                <a:ea typeface="Arial"/>
                <a:cs typeface="Arial"/>
              </a:rPr>
              <a:t>MO = MK → hoeveelheid → prijs op de eigen vraaglijn</a:t>
            </a:r>
          </a:p>
        </p:txBody>
      </p:sp>
    </p:spTree>
    <p:extLst>
      <p:ext uri="{BB962C8B-B14F-4D97-AF65-F5344CB8AC3E}">
        <p14:creationId xmlns:p14="http://schemas.microsoft.com/office/powerpoint/2010/main" val="178506099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Kies de hoeveelheid met MO = MK">
            <a:extLst xmlns:a="http://schemas.openxmlformats.org/drawingml/2006/main">
              <a:ext uri="{FF2B5EF4-FFF2-40B4-BE49-F238E27FC236}">
                <a16:creationId xmlns:a16="http://schemas.microsoft.com/office/drawing/2014/main" id="{DA74299B-7EC6-4615-90AD-3C80954AB5B9}"/>
              </a:ext>
            </a:extLst>
          </p:cNvPr>
          <p:cNvSpPr>
            <a:spLocks xmlns:a="http://schemas.openxmlformats.org/drawingml/2006/main" noGrp="1"/>
          </p:cNvSpPr>
          <p:nvPr/>
        </p:nvSpPr>
        <p:spPr>
          <a:xfrm xmlns:a="http://schemas.openxmlformats.org/drawingml/2006/main">
            <a:off x="571500" y="400050"/>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Kies de hoeveelheid met MO = MK</a:t>
            </a:r>
          </a:p>
        </p:txBody>
      </p:sp>
      <p:sp>
        <p:nvSpPr>
          <p:cNvPr id="2" name="">
            <a:extLst xmlns:a="http://schemas.openxmlformats.org/drawingml/2006/main">
              <a:ext uri="{FF2B5EF4-FFF2-40B4-BE49-F238E27FC236}">
                <a16:creationId xmlns:a16="http://schemas.microsoft.com/office/drawing/2014/main" id="{31B3A6E8-0104-4B6D-A8FF-C47FC4F88929}"/>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2 Prijsdiscriminatie">
            <a:extLst xmlns:a="http://schemas.openxmlformats.org/drawingml/2006/main">
              <a:ext uri="{FF2B5EF4-FFF2-40B4-BE49-F238E27FC236}">
                <a16:creationId xmlns:a16="http://schemas.microsoft.com/office/drawing/2014/main" id="{EDBBE12D-7C5C-4260-B077-818DCA613EDD}"/>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§4.2.2 Prijsdiscriminatie</a:t>
            </a:r>
          </a:p>
        </p:txBody>
      </p:sp>
      <p:sp>
        <p:nvSpPr>
          <p:cNvPr id="4" name="slide-number">
            <a:extLst xmlns:a="http://schemas.openxmlformats.org/drawingml/2006/main">
              <a:ext uri="{FF2B5EF4-FFF2-40B4-BE49-F238E27FC236}">
                <a16:creationId xmlns:a16="http://schemas.microsoft.com/office/drawing/2014/main" id="{0F7EFAEB-FA47-40F9-B27A-083EC0816BA4}"/>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6</a:t>
            </a:r>
          </a:p>
        </p:txBody>
      </p:sp>
      <p:sp>
        <p:nvSpPr>
          <p:cNvPr id="5" name="Uitlegvoorbeeld — niet uit het boek · Sterrenkoepel">
            <a:extLst xmlns:a="http://schemas.openxmlformats.org/drawingml/2006/main">
              <a:ext uri="{FF2B5EF4-FFF2-40B4-BE49-F238E27FC236}">
                <a16:creationId xmlns:a16="http://schemas.microsoft.com/office/drawing/2014/main" id="{B8FA3012-E98A-41DF-B7CC-EFEDE568CF62}"/>
              </a:ext>
            </a:extLst>
          </p:cNvPr>
          <p:cNvSpPr>
            <a:spLocks xmlns:a="http://schemas.openxmlformats.org/drawingml/2006/main" noGrp="1"/>
          </p:cNvSpPr>
          <p:nvPr/>
        </p:nvSpPr>
        <p:spPr>
          <a:xfrm xmlns:a="http://schemas.openxmlformats.org/drawingml/2006/main">
            <a:off x="571500" y="1685925"/>
            <a:ext cx="14097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17658A"/>
                </a:solidFill>
                <a:latin typeface="Arial"/>
                <a:ea typeface="Arial"/>
                <a:cs typeface="Arial"/>
              </a:defRPr>
            </a:pPr>
            <a:r>
              <a:rPr sz="2100" b="1">
                <a:solidFill>
                  <a:srgbClr val="17658A"/>
                </a:solidFill>
                <a:latin typeface="Arial"/>
                <a:ea typeface="Arial"/>
                <a:cs typeface="Arial"/>
              </a:rPr>
              <a:t>Uitlegvoorbeeld — niet uit het boek · Sterrenkoepel</a:t>
            </a:r>
          </a:p>
        </p:txBody>
      </p:sp>
      <p:sp>
        <p:nvSpPr>
          <p:cNvPr id="6" name="Groep A">
            <a:extLst xmlns:a="http://schemas.openxmlformats.org/drawingml/2006/main">
              <a:ext uri="{FF2B5EF4-FFF2-40B4-BE49-F238E27FC236}">
                <a16:creationId xmlns:a16="http://schemas.microsoft.com/office/drawing/2014/main" id="{322373A4-A248-4872-AB5B-2D985376CDF9}"/>
              </a:ext>
            </a:extLst>
          </p:cNvPr>
          <p:cNvSpPr>
            <a:spLocks xmlns:a="http://schemas.openxmlformats.org/drawingml/2006/main" noGrp="1"/>
          </p:cNvSpPr>
          <p:nvPr/>
        </p:nvSpPr>
        <p:spPr>
          <a:xfrm xmlns:a="http://schemas.openxmlformats.org/drawingml/2006/main">
            <a:off x="762000" y="2257425"/>
            <a:ext cx="6667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83247"/>
                </a:solidFill>
                <a:latin typeface="Arial"/>
                <a:ea typeface="Arial"/>
                <a:cs typeface="Arial"/>
              </a:defRPr>
            </a:pPr>
            <a:r>
              <a:rPr sz="2550" b="1">
                <a:solidFill>
                  <a:srgbClr val="183247"/>
                </a:solidFill>
                <a:latin typeface="Arial"/>
                <a:ea typeface="Arial"/>
                <a:cs typeface="Arial"/>
              </a:rPr>
              <a:t>Groep A</a:t>
            </a:r>
          </a:p>
        </p:txBody>
      </p:sp>
      <p:sp>
        <p:nvSpPr>
          <p:cNvPr id="7" name="P, MO en MK (€ per bezoek)">
            <a:extLst xmlns:a="http://schemas.openxmlformats.org/drawingml/2006/main">
              <a:ext uri="{FF2B5EF4-FFF2-40B4-BE49-F238E27FC236}">
                <a16:creationId xmlns:a16="http://schemas.microsoft.com/office/drawing/2014/main" id="{A724D4B4-5F17-4064-8B25-53E5AB8A4E76}"/>
              </a:ext>
            </a:extLst>
          </p:cNvPr>
          <p:cNvSpPr>
            <a:spLocks xmlns:a="http://schemas.openxmlformats.org/drawingml/2006/main" noGrp="1"/>
          </p:cNvSpPr>
          <p:nvPr/>
        </p:nvSpPr>
        <p:spPr>
          <a:xfrm xmlns:a="http://schemas.openxmlformats.org/drawingml/2006/main">
            <a:off x="762000" y="2733675"/>
            <a:ext cx="666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183247"/>
                </a:solidFill>
                <a:latin typeface="Arial"/>
                <a:ea typeface="Arial"/>
                <a:cs typeface="Arial"/>
              </a:defRPr>
            </a:pPr>
            <a:r>
              <a:rPr sz="2025" b="0">
                <a:solidFill>
                  <a:srgbClr val="183247"/>
                </a:solidFill>
                <a:latin typeface="Arial"/>
                <a:ea typeface="Arial"/>
                <a:cs typeface="Arial"/>
              </a:rPr>
              <a:t>P, MO en MK (€ per bezoek)</a:t>
            </a:r>
          </a:p>
        </p:txBody>
      </p:sp>
      <p:graphicFrame>
        <p:nvGraphicFramePr>
          <p:cNvPr id="23" name="Chart"/>
          <p:cNvGraphicFramePr/>
          <p:nvPr/>
        </p:nvGraphicFramePr>
        <p:xfrm>
          <a:off xmlns:a="http://schemas.openxmlformats.org/drawingml/2006/main" x="571500" y="3143250"/>
          <a:ext xmlns:a="http://schemas.openxmlformats.org/drawingml/2006/main" cx="6715125" cy="3876675"/>
        </p:xfrm>
        <a:graphic xmlns:a="http://schemas.openxmlformats.org/drawingml/2006/main">
          <a:graphicData uri="http://schemas.openxmlformats.org/drawingml/2006/chart">
            <c:chart xmlns:r="http://schemas.openxmlformats.org/officeDocument/2006/relationships" xmlns:c="http://schemas.openxmlformats.org/drawingml/2006/chart" r:id="R89c77a5247d1438b"/>
          </a:graphicData>
        </a:graphic>
      </p:graphicFrame>
      <p:sp>
        <p:nvSpPr>
          <p:cNvPr id="9" name="Q_A (bezoeken per week)">
            <a:extLst xmlns:a="http://schemas.openxmlformats.org/drawingml/2006/main">
              <a:ext uri="{FF2B5EF4-FFF2-40B4-BE49-F238E27FC236}">
                <a16:creationId xmlns:a16="http://schemas.microsoft.com/office/drawing/2014/main" id="{5CFC3AB0-BDBA-43D2-B243-8FCFD42A41B0}"/>
              </a:ext>
            </a:extLst>
          </p:cNvPr>
          <p:cNvSpPr>
            <a:spLocks xmlns:a="http://schemas.openxmlformats.org/drawingml/2006/main" noGrp="1"/>
          </p:cNvSpPr>
          <p:nvPr/>
        </p:nvSpPr>
        <p:spPr>
          <a:xfrm xmlns:a="http://schemas.openxmlformats.org/drawingml/2006/main">
            <a:off x="857250" y="7086600"/>
            <a:ext cx="62388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2025" b="0">
                <a:solidFill>
                  <a:srgbClr val="183247"/>
                </a:solidFill>
                <a:latin typeface="Arial"/>
                <a:ea typeface="Arial"/>
                <a:cs typeface="Arial"/>
              </a:defRPr>
            </a:pPr>
            <a:r>
              <a:rPr sz="2025" b="0">
                <a:solidFill>
                  <a:srgbClr val="183247"/>
                </a:solidFill>
                <a:latin typeface="Arial"/>
                <a:ea typeface="Arial"/>
                <a:cs typeface="Arial"/>
              </a:rPr>
              <a:t>Q_A (bezoeken per week)</a:t>
            </a:r>
          </a:p>
        </p:txBody>
      </p:sp>
      <p:sp>
        <p:nvSpPr>
          <p:cNvPr id="10" name="MO_A = MK  →  Q_A = 12">
            <a:extLst xmlns:a="http://schemas.openxmlformats.org/drawingml/2006/main">
              <a:ext uri="{FF2B5EF4-FFF2-40B4-BE49-F238E27FC236}">
                <a16:creationId xmlns:a16="http://schemas.microsoft.com/office/drawing/2014/main" id="{F5A7C793-E008-4FF1-9648-68ECCED034A3}"/>
              </a:ext>
            </a:extLst>
          </p:cNvPr>
          <p:cNvSpPr>
            <a:spLocks xmlns:a="http://schemas.openxmlformats.org/drawingml/2006/main" noGrp="1"/>
          </p:cNvSpPr>
          <p:nvPr/>
        </p:nvSpPr>
        <p:spPr>
          <a:xfrm xmlns:a="http://schemas.openxmlformats.org/drawingml/2006/main">
            <a:off x="857250" y="7524750"/>
            <a:ext cx="62388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2325" b="1">
                <a:solidFill>
                  <a:srgbClr val="17658A"/>
                </a:solidFill>
                <a:latin typeface="Arial"/>
                <a:ea typeface="Arial"/>
                <a:cs typeface="Arial"/>
              </a:defRPr>
            </a:pPr>
            <a:r>
              <a:rPr sz="2325" b="1">
                <a:solidFill>
                  <a:srgbClr val="17658A"/>
                </a:solidFill>
                <a:latin typeface="Arial"/>
                <a:ea typeface="Arial"/>
                <a:cs typeface="Arial"/>
              </a:rPr>
              <a:t>MO_A = MK  →  Q_A = 12</a:t>
            </a:r>
          </a:p>
        </p:txBody>
      </p:sp>
      <p:sp>
        <p:nvSpPr>
          <p:cNvPr id="11" name="Groep B">
            <a:extLst xmlns:a="http://schemas.openxmlformats.org/drawingml/2006/main">
              <a:ext uri="{FF2B5EF4-FFF2-40B4-BE49-F238E27FC236}">
                <a16:creationId xmlns:a16="http://schemas.microsoft.com/office/drawing/2014/main" id="{B211E5E7-3060-404E-AD8D-FD04407A6B83}"/>
              </a:ext>
            </a:extLst>
          </p:cNvPr>
          <p:cNvSpPr>
            <a:spLocks xmlns:a="http://schemas.openxmlformats.org/drawingml/2006/main" noGrp="1"/>
          </p:cNvSpPr>
          <p:nvPr/>
        </p:nvSpPr>
        <p:spPr>
          <a:xfrm xmlns:a="http://schemas.openxmlformats.org/drawingml/2006/main">
            <a:off x="8286750" y="2257425"/>
            <a:ext cx="6667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83247"/>
                </a:solidFill>
                <a:latin typeface="Arial"/>
                <a:ea typeface="Arial"/>
                <a:cs typeface="Arial"/>
              </a:defRPr>
            </a:pPr>
            <a:r>
              <a:rPr sz="2550" b="1">
                <a:solidFill>
                  <a:srgbClr val="183247"/>
                </a:solidFill>
                <a:latin typeface="Arial"/>
                <a:ea typeface="Arial"/>
                <a:cs typeface="Arial"/>
              </a:rPr>
              <a:t>Groep B</a:t>
            </a:r>
          </a:p>
        </p:txBody>
      </p:sp>
      <p:sp>
        <p:nvSpPr>
          <p:cNvPr id="12" name="P, MO en MK (€ per bezoek)">
            <a:extLst xmlns:a="http://schemas.openxmlformats.org/drawingml/2006/main">
              <a:ext uri="{FF2B5EF4-FFF2-40B4-BE49-F238E27FC236}">
                <a16:creationId xmlns:a16="http://schemas.microsoft.com/office/drawing/2014/main" id="{CF723EF4-71D0-45A0-88D8-16907EBA9EFD}"/>
              </a:ext>
            </a:extLst>
          </p:cNvPr>
          <p:cNvSpPr>
            <a:spLocks xmlns:a="http://schemas.openxmlformats.org/drawingml/2006/main" noGrp="1"/>
          </p:cNvSpPr>
          <p:nvPr/>
        </p:nvSpPr>
        <p:spPr>
          <a:xfrm xmlns:a="http://schemas.openxmlformats.org/drawingml/2006/main">
            <a:off x="8286750" y="2733675"/>
            <a:ext cx="666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183247"/>
                </a:solidFill>
                <a:latin typeface="Arial"/>
                <a:ea typeface="Arial"/>
                <a:cs typeface="Arial"/>
              </a:defRPr>
            </a:pPr>
            <a:r>
              <a:rPr sz="2025" b="0">
                <a:solidFill>
                  <a:srgbClr val="183247"/>
                </a:solidFill>
                <a:latin typeface="Arial"/>
                <a:ea typeface="Arial"/>
                <a:cs typeface="Arial"/>
              </a:rPr>
              <a:t>P, MO en MK (€ per bezoek)</a:t>
            </a:r>
          </a:p>
        </p:txBody>
      </p:sp>
      <p:graphicFrame>
        <p:nvGraphicFramePr>
          <p:cNvPr id="28" name="Chart"/>
          <p:cNvGraphicFramePr/>
          <p:nvPr/>
        </p:nvGraphicFramePr>
        <p:xfrm>
          <a:off xmlns:a="http://schemas.openxmlformats.org/drawingml/2006/main" x="8096250" y="3143250"/>
          <a:ext xmlns:a="http://schemas.openxmlformats.org/drawingml/2006/main" cx="6715125" cy="3876675"/>
        </p:xfrm>
        <a:graphic xmlns:a="http://schemas.openxmlformats.org/drawingml/2006/main">
          <a:graphicData uri="http://schemas.openxmlformats.org/drawingml/2006/chart">
            <c:chart xmlns:r="http://schemas.openxmlformats.org/officeDocument/2006/relationships" xmlns:c="http://schemas.openxmlformats.org/drawingml/2006/chart" r:id="R6a83bdfcf473405b"/>
          </a:graphicData>
        </a:graphic>
      </p:graphicFrame>
      <p:sp>
        <p:nvSpPr>
          <p:cNvPr id="14" name="Q_B (bezoeken per week)">
            <a:extLst xmlns:a="http://schemas.openxmlformats.org/drawingml/2006/main">
              <a:ext uri="{FF2B5EF4-FFF2-40B4-BE49-F238E27FC236}">
                <a16:creationId xmlns:a16="http://schemas.microsoft.com/office/drawing/2014/main" id="{E589B882-58E7-468E-9B50-E254D2FA4015}"/>
              </a:ext>
            </a:extLst>
          </p:cNvPr>
          <p:cNvSpPr>
            <a:spLocks xmlns:a="http://schemas.openxmlformats.org/drawingml/2006/main" noGrp="1"/>
          </p:cNvSpPr>
          <p:nvPr/>
        </p:nvSpPr>
        <p:spPr>
          <a:xfrm xmlns:a="http://schemas.openxmlformats.org/drawingml/2006/main">
            <a:off x="8382000" y="7086600"/>
            <a:ext cx="62388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2025" b="0">
                <a:solidFill>
                  <a:srgbClr val="183247"/>
                </a:solidFill>
                <a:latin typeface="Arial"/>
                <a:ea typeface="Arial"/>
                <a:cs typeface="Arial"/>
              </a:defRPr>
            </a:pPr>
            <a:r>
              <a:rPr sz="2025" b="0">
                <a:solidFill>
                  <a:srgbClr val="183247"/>
                </a:solidFill>
                <a:latin typeface="Arial"/>
                <a:ea typeface="Arial"/>
                <a:cs typeface="Arial"/>
              </a:rPr>
              <a:t>Q_B (bezoeken per week)</a:t>
            </a:r>
          </a:p>
        </p:txBody>
      </p:sp>
      <p:sp>
        <p:nvSpPr>
          <p:cNvPr id="15" name="MO_B = MK  →  Q_B = 6">
            <a:extLst xmlns:a="http://schemas.openxmlformats.org/drawingml/2006/main">
              <a:ext uri="{FF2B5EF4-FFF2-40B4-BE49-F238E27FC236}">
                <a16:creationId xmlns:a16="http://schemas.microsoft.com/office/drawing/2014/main" id="{51A151E2-A276-4B8E-9854-5E1AA44BBF3F}"/>
              </a:ext>
            </a:extLst>
          </p:cNvPr>
          <p:cNvSpPr>
            <a:spLocks xmlns:a="http://schemas.openxmlformats.org/drawingml/2006/main" noGrp="1"/>
          </p:cNvSpPr>
          <p:nvPr/>
        </p:nvSpPr>
        <p:spPr>
          <a:xfrm xmlns:a="http://schemas.openxmlformats.org/drawingml/2006/main">
            <a:off x="8382000" y="7524750"/>
            <a:ext cx="62388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2325" b="1">
                <a:solidFill>
                  <a:srgbClr val="17658A"/>
                </a:solidFill>
                <a:latin typeface="Arial"/>
                <a:ea typeface="Arial"/>
                <a:cs typeface="Arial"/>
              </a:defRPr>
            </a:pPr>
            <a:r>
              <a:rPr sz="2325" b="1">
                <a:solidFill>
                  <a:srgbClr val="17658A"/>
                </a:solidFill>
                <a:latin typeface="Arial"/>
                <a:ea typeface="Arial"/>
                <a:cs typeface="Arial"/>
              </a:rPr>
              <a:t>MO_B = MK  →  Q_B = 6</a:t>
            </a:r>
          </a:p>
        </p:txBody>
      </p:sp>
    </p:spTree>
    <p:extLst>
      <p:ext uri="{BB962C8B-B14F-4D97-AF65-F5344CB8AC3E}">
        <p14:creationId xmlns:p14="http://schemas.microsoft.com/office/powerpoint/2010/main" val="2043553163"/>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Lees de prijs op de eigen vraaglijn">
            <a:extLst xmlns:a="http://schemas.openxmlformats.org/drawingml/2006/main">
              <a:ext uri="{FF2B5EF4-FFF2-40B4-BE49-F238E27FC236}">
                <a16:creationId xmlns:a16="http://schemas.microsoft.com/office/drawing/2014/main" id="{E736BE1D-836A-44D9-8F46-2910898B01C8}"/>
              </a:ext>
            </a:extLst>
          </p:cNvPr>
          <p:cNvSpPr>
            <a:spLocks xmlns:a="http://schemas.openxmlformats.org/drawingml/2006/main" noGrp="1"/>
          </p:cNvSpPr>
          <p:nvPr/>
        </p:nvSpPr>
        <p:spPr>
          <a:xfrm xmlns:a="http://schemas.openxmlformats.org/drawingml/2006/main">
            <a:off x="571500" y="400050"/>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Lees de prijs op de eigen vraaglijn</a:t>
            </a:r>
          </a:p>
        </p:txBody>
      </p:sp>
      <p:sp>
        <p:nvSpPr>
          <p:cNvPr id="2" name="">
            <a:extLst xmlns:a="http://schemas.openxmlformats.org/drawingml/2006/main">
              <a:ext uri="{FF2B5EF4-FFF2-40B4-BE49-F238E27FC236}">
                <a16:creationId xmlns:a16="http://schemas.microsoft.com/office/drawing/2014/main" id="{5EAC32D0-9F54-4C6E-BEC4-CF19D0C698D1}"/>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2 Prijsdiscriminatie">
            <a:extLst xmlns:a="http://schemas.openxmlformats.org/drawingml/2006/main">
              <a:ext uri="{FF2B5EF4-FFF2-40B4-BE49-F238E27FC236}">
                <a16:creationId xmlns:a16="http://schemas.microsoft.com/office/drawing/2014/main" id="{4B0E833A-EC2E-4026-BEAC-CEBF45CA1D45}"/>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§4.2.2 Prijsdiscriminatie</a:t>
            </a:r>
          </a:p>
        </p:txBody>
      </p:sp>
      <p:sp>
        <p:nvSpPr>
          <p:cNvPr id="4" name="slide-number">
            <a:extLst xmlns:a="http://schemas.openxmlformats.org/drawingml/2006/main">
              <a:ext uri="{FF2B5EF4-FFF2-40B4-BE49-F238E27FC236}">
                <a16:creationId xmlns:a16="http://schemas.microsoft.com/office/drawing/2014/main" id="{32A51A76-7C92-434E-85F2-D1EA7E1CBA58}"/>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7</a:t>
            </a:r>
          </a:p>
        </p:txBody>
      </p:sp>
      <p:sp>
        <p:nvSpPr>
          <p:cNvPr id="5" name="Uitlegvoorbeeld — niet uit het boek · Sterrenkoepel">
            <a:extLst xmlns:a="http://schemas.openxmlformats.org/drawingml/2006/main">
              <a:ext uri="{FF2B5EF4-FFF2-40B4-BE49-F238E27FC236}">
                <a16:creationId xmlns:a16="http://schemas.microsoft.com/office/drawing/2014/main" id="{AA71BE6B-F8F8-45C4-89E1-5E9C9BC8BB01}"/>
              </a:ext>
            </a:extLst>
          </p:cNvPr>
          <p:cNvSpPr>
            <a:spLocks xmlns:a="http://schemas.openxmlformats.org/drawingml/2006/main" noGrp="1"/>
          </p:cNvSpPr>
          <p:nvPr/>
        </p:nvSpPr>
        <p:spPr>
          <a:xfrm xmlns:a="http://schemas.openxmlformats.org/drawingml/2006/main">
            <a:off x="571500" y="1685925"/>
            <a:ext cx="14097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17658A"/>
                </a:solidFill>
                <a:latin typeface="Arial"/>
                <a:ea typeface="Arial"/>
                <a:cs typeface="Arial"/>
              </a:defRPr>
            </a:pPr>
            <a:r>
              <a:rPr sz="2100" b="1">
                <a:solidFill>
                  <a:srgbClr val="17658A"/>
                </a:solidFill>
                <a:latin typeface="Arial"/>
                <a:ea typeface="Arial"/>
                <a:cs typeface="Arial"/>
              </a:rPr>
              <a:t>Uitlegvoorbeeld — niet uit het boek · Sterrenkoepel</a:t>
            </a:r>
          </a:p>
        </p:txBody>
      </p:sp>
      <p:sp>
        <p:nvSpPr>
          <p:cNvPr id="6" name="Groep A">
            <a:extLst xmlns:a="http://schemas.openxmlformats.org/drawingml/2006/main">
              <a:ext uri="{FF2B5EF4-FFF2-40B4-BE49-F238E27FC236}">
                <a16:creationId xmlns:a16="http://schemas.microsoft.com/office/drawing/2014/main" id="{617676E3-1C6C-4A8A-B7D7-4AB7AB3BDDB1}"/>
              </a:ext>
            </a:extLst>
          </p:cNvPr>
          <p:cNvSpPr>
            <a:spLocks xmlns:a="http://schemas.openxmlformats.org/drawingml/2006/main" noGrp="1"/>
          </p:cNvSpPr>
          <p:nvPr/>
        </p:nvSpPr>
        <p:spPr>
          <a:xfrm xmlns:a="http://schemas.openxmlformats.org/drawingml/2006/main">
            <a:off x="762000" y="2257425"/>
            <a:ext cx="6667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83247"/>
                </a:solidFill>
                <a:latin typeface="Arial"/>
                <a:ea typeface="Arial"/>
                <a:cs typeface="Arial"/>
              </a:defRPr>
            </a:pPr>
            <a:r>
              <a:rPr sz="2550" b="1">
                <a:solidFill>
                  <a:srgbClr val="183247"/>
                </a:solidFill>
                <a:latin typeface="Arial"/>
                <a:ea typeface="Arial"/>
                <a:cs typeface="Arial"/>
              </a:rPr>
              <a:t>Groep A</a:t>
            </a:r>
          </a:p>
        </p:txBody>
      </p:sp>
      <p:sp>
        <p:nvSpPr>
          <p:cNvPr id="7" name="P, MO en MK (€ per bezoek)">
            <a:extLst xmlns:a="http://schemas.openxmlformats.org/drawingml/2006/main">
              <a:ext uri="{FF2B5EF4-FFF2-40B4-BE49-F238E27FC236}">
                <a16:creationId xmlns:a16="http://schemas.microsoft.com/office/drawing/2014/main" id="{E519F7A3-D37B-483E-BD09-A54D48AE3F40}"/>
              </a:ext>
            </a:extLst>
          </p:cNvPr>
          <p:cNvSpPr>
            <a:spLocks xmlns:a="http://schemas.openxmlformats.org/drawingml/2006/main" noGrp="1"/>
          </p:cNvSpPr>
          <p:nvPr/>
        </p:nvSpPr>
        <p:spPr>
          <a:xfrm xmlns:a="http://schemas.openxmlformats.org/drawingml/2006/main">
            <a:off x="762000" y="2733675"/>
            <a:ext cx="666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183247"/>
                </a:solidFill>
                <a:latin typeface="Arial"/>
                <a:ea typeface="Arial"/>
                <a:cs typeface="Arial"/>
              </a:defRPr>
            </a:pPr>
            <a:r>
              <a:rPr sz="2025" b="0">
                <a:solidFill>
                  <a:srgbClr val="183247"/>
                </a:solidFill>
                <a:latin typeface="Arial"/>
                <a:ea typeface="Arial"/>
                <a:cs typeface="Arial"/>
              </a:rPr>
              <a:t>P, MO en MK (€ per bezoek)</a:t>
            </a:r>
          </a:p>
        </p:txBody>
      </p:sp>
      <p:graphicFrame>
        <p:nvGraphicFramePr>
          <p:cNvPr id="23" name="Chart"/>
          <p:cNvGraphicFramePr/>
          <p:nvPr/>
        </p:nvGraphicFramePr>
        <p:xfrm>
          <a:off xmlns:a="http://schemas.openxmlformats.org/drawingml/2006/main" x="571500" y="3143250"/>
          <a:ext xmlns:a="http://schemas.openxmlformats.org/drawingml/2006/main" cx="6715125" cy="3876675"/>
        </p:xfrm>
        <a:graphic xmlns:a="http://schemas.openxmlformats.org/drawingml/2006/main">
          <a:graphicData uri="http://schemas.openxmlformats.org/drawingml/2006/chart">
            <c:chart xmlns:r="http://schemas.openxmlformats.org/officeDocument/2006/relationships" xmlns:c="http://schemas.openxmlformats.org/drawingml/2006/chart" r:id="R8bd0e681796847bf"/>
          </a:graphicData>
        </a:graphic>
      </p:graphicFrame>
      <p:sp>
        <p:nvSpPr>
          <p:cNvPr id="9" name="Q_A (bezoeken per week)">
            <a:extLst xmlns:a="http://schemas.openxmlformats.org/drawingml/2006/main">
              <a:ext uri="{FF2B5EF4-FFF2-40B4-BE49-F238E27FC236}">
                <a16:creationId xmlns:a16="http://schemas.microsoft.com/office/drawing/2014/main" id="{162826F7-E59E-4494-AFE5-A3C60A16A8C3}"/>
              </a:ext>
            </a:extLst>
          </p:cNvPr>
          <p:cNvSpPr>
            <a:spLocks xmlns:a="http://schemas.openxmlformats.org/drawingml/2006/main" noGrp="1"/>
          </p:cNvSpPr>
          <p:nvPr/>
        </p:nvSpPr>
        <p:spPr>
          <a:xfrm xmlns:a="http://schemas.openxmlformats.org/drawingml/2006/main">
            <a:off x="857250" y="7086600"/>
            <a:ext cx="62388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2025" b="0">
                <a:solidFill>
                  <a:srgbClr val="183247"/>
                </a:solidFill>
                <a:latin typeface="Arial"/>
                <a:ea typeface="Arial"/>
                <a:cs typeface="Arial"/>
              </a:defRPr>
            </a:pPr>
            <a:r>
              <a:rPr sz="2025" b="0">
                <a:solidFill>
                  <a:srgbClr val="183247"/>
                </a:solidFill>
                <a:latin typeface="Arial"/>
                <a:ea typeface="Arial"/>
                <a:cs typeface="Arial"/>
              </a:rPr>
              <a:t>Q_A (bezoeken per week)</a:t>
            </a:r>
          </a:p>
        </p:txBody>
      </p:sp>
      <p:sp>
        <p:nvSpPr>
          <p:cNvPr id="10" name="Q_A = 12  →  P_A = € 30">
            <a:extLst xmlns:a="http://schemas.openxmlformats.org/drawingml/2006/main">
              <a:ext uri="{FF2B5EF4-FFF2-40B4-BE49-F238E27FC236}">
                <a16:creationId xmlns:a16="http://schemas.microsoft.com/office/drawing/2014/main" id="{AA82903F-09CA-478C-A522-BFED665D925F}"/>
              </a:ext>
            </a:extLst>
          </p:cNvPr>
          <p:cNvSpPr>
            <a:spLocks xmlns:a="http://schemas.openxmlformats.org/drawingml/2006/main" noGrp="1"/>
          </p:cNvSpPr>
          <p:nvPr/>
        </p:nvSpPr>
        <p:spPr>
          <a:xfrm xmlns:a="http://schemas.openxmlformats.org/drawingml/2006/main">
            <a:off x="857250" y="7524750"/>
            <a:ext cx="62388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2325" b="1">
                <a:solidFill>
                  <a:srgbClr val="17658A"/>
                </a:solidFill>
                <a:latin typeface="Arial"/>
                <a:ea typeface="Arial"/>
                <a:cs typeface="Arial"/>
              </a:defRPr>
            </a:pPr>
            <a:r>
              <a:rPr sz="2325" b="1">
                <a:solidFill>
                  <a:srgbClr val="17658A"/>
                </a:solidFill>
                <a:latin typeface="Arial"/>
                <a:ea typeface="Arial"/>
                <a:cs typeface="Arial"/>
              </a:rPr>
              <a:t>Q_A = 12  →  P_A = € 30</a:t>
            </a:r>
          </a:p>
        </p:txBody>
      </p:sp>
      <p:sp>
        <p:nvSpPr>
          <p:cNvPr id="11" name="Groep B">
            <a:extLst xmlns:a="http://schemas.openxmlformats.org/drawingml/2006/main">
              <a:ext uri="{FF2B5EF4-FFF2-40B4-BE49-F238E27FC236}">
                <a16:creationId xmlns:a16="http://schemas.microsoft.com/office/drawing/2014/main" id="{42786D70-4B29-4100-A3E9-907AC4F1D501}"/>
              </a:ext>
            </a:extLst>
          </p:cNvPr>
          <p:cNvSpPr>
            <a:spLocks xmlns:a="http://schemas.openxmlformats.org/drawingml/2006/main" noGrp="1"/>
          </p:cNvSpPr>
          <p:nvPr/>
        </p:nvSpPr>
        <p:spPr>
          <a:xfrm xmlns:a="http://schemas.openxmlformats.org/drawingml/2006/main">
            <a:off x="8286750" y="2257425"/>
            <a:ext cx="6667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83247"/>
                </a:solidFill>
                <a:latin typeface="Arial"/>
                <a:ea typeface="Arial"/>
                <a:cs typeface="Arial"/>
              </a:defRPr>
            </a:pPr>
            <a:r>
              <a:rPr sz="2550" b="1">
                <a:solidFill>
                  <a:srgbClr val="183247"/>
                </a:solidFill>
                <a:latin typeface="Arial"/>
                <a:ea typeface="Arial"/>
                <a:cs typeface="Arial"/>
              </a:rPr>
              <a:t>Groep B</a:t>
            </a:r>
          </a:p>
        </p:txBody>
      </p:sp>
      <p:sp>
        <p:nvSpPr>
          <p:cNvPr id="12" name="P, MO en MK (€ per bezoek)">
            <a:extLst xmlns:a="http://schemas.openxmlformats.org/drawingml/2006/main">
              <a:ext uri="{FF2B5EF4-FFF2-40B4-BE49-F238E27FC236}">
                <a16:creationId xmlns:a16="http://schemas.microsoft.com/office/drawing/2014/main" id="{4CD6163B-B883-450E-8399-45C67E017673}"/>
              </a:ext>
            </a:extLst>
          </p:cNvPr>
          <p:cNvSpPr>
            <a:spLocks xmlns:a="http://schemas.openxmlformats.org/drawingml/2006/main" noGrp="1"/>
          </p:cNvSpPr>
          <p:nvPr/>
        </p:nvSpPr>
        <p:spPr>
          <a:xfrm xmlns:a="http://schemas.openxmlformats.org/drawingml/2006/main">
            <a:off x="8286750" y="2733675"/>
            <a:ext cx="666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183247"/>
                </a:solidFill>
                <a:latin typeface="Arial"/>
                <a:ea typeface="Arial"/>
                <a:cs typeface="Arial"/>
              </a:defRPr>
            </a:pPr>
            <a:r>
              <a:rPr sz="2025" b="0">
                <a:solidFill>
                  <a:srgbClr val="183247"/>
                </a:solidFill>
                <a:latin typeface="Arial"/>
                <a:ea typeface="Arial"/>
                <a:cs typeface="Arial"/>
              </a:rPr>
              <a:t>P, MO en MK (€ per bezoek)</a:t>
            </a:r>
          </a:p>
        </p:txBody>
      </p:sp>
      <p:graphicFrame>
        <p:nvGraphicFramePr>
          <p:cNvPr id="28" name="Chart"/>
          <p:cNvGraphicFramePr/>
          <p:nvPr/>
        </p:nvGraphicFramePr>
        <p:xfrm>
          <a:off xmlns:a="http://schemas.openxmlformats.org/drawingml/2006/main" x="8096250" y="3143250"/>
          <a:ext xmlns:a="http://schemas.openxmlformats.org/drawingml/2006/main" cx="6715125" cy="3876675"/>
        </p:xfrm>
        <a:graphic xmlns:a="http://schemas.openxmlformats.org/drawingml/2006/main">
          <a:graphicData uri="http://schemas.openxmlformats.org/drawingml/2006/chart">
            <c:chart xmlns:r="http://schemas.openxmlformats.org/officeDocument/2006/relationships" xmlns:c="http://schemas.openxmlformats.org/drawingml/2006/chart" r:id="Rd2f0a2cef6be4015"/>
          </a:graphicData>
        </a:graphic>
      </p:graphicFrame>
      <p:sp>
        <p:nvSpPr>
          <p:cNvPr id="14" name="Q_B (bezoeken per week)">
            <a:extLst xmlns:a="http://schemas.openxmlformats.org/drawingml/2006/main">
              <a:ext uri="{FF2B5EF4-FFF2-40B4-BE49-F238E27FC236}">
                <a16:creationId xmlns:a16="http://schemas.microsoft.com/office/drawing/2014/main" id="{D5F7EBE5-2A02-49FE-ADA3-071EB65B8C2B}"/>
              </a:ext>
            </a:extLst>
          </p:cNvPr>
          <p:cNvSpPr>
            <a:spLocks xmlns:a="http://schemas.openxmlformats.org/drawingml/2006/main" noGrp="1"/>
          </p:cNvSpPr>
          <p:nvPr/>
        </p:nvSpPr>
        <p:spPr>
          <a:xfrm xmlns:a="http://schemas.openxmlformats.org/drawingml/2006/main">
            <a:off x="8382000" y="7086600"/>
            <a:ext cx="62388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2025" b="0">
                <a:solidFill>
                  <a:srgbClr val="183247"/>
                </a:solidFill>
                <a:latin typeface="Arial"/>
                <a:ea typeface="Arial"/>
                <a:cs typeface="Arial"/>
              </a:defRPr>
            </a:pPr>
            <a:r>
              <a:rPr sz="2025" b="0">
                <a:solidFill>
                  <a:srgbClr val="183247"/>
                </a:solidFill>
                <a:latin typeface="Arial"/>
                <a:ea typeface="Arial"/>
                <a:cs typeface="Arial"/>
              </a:rPr>
              <a:t>Q_B (bezoeken per week)</a:t>
            </a:r>
          </a:p>
        </p:txBody>
      </p:sp>
      <p:sp>
        <p:nvSpPr>
          <p:cNvPr id="15" name="Q_B = 6  →  P_B = € 18">
            <a:extLst xmlns:a="http://schemas.openxmlformats.org/drawingml/2006/main">
              <a:ext uri="{FF2B5EF4-FFF2-40B4-BE49-F238E27FC236}">
                <a16:creationId xmlns:a16="http://schemas.microsoft.com/office/drawing/2014/main" id="{3D9A3561-5AD9-43F2-BE09-44E77748EF82}"/>
              </a:ext>
            </a:extLst>
          </p:cNvPr>
          <p:cNvSpPr>
            <a:spLocks xmlns:a="http://schemas.openxmlformats.org/drawingml/2006/main" noGrp="1"/>
          </p:cNvSpPr>
          <p:nvPr/>
        </p:nvSpPr>
        <p:spPr>
          <a:xfrm xmlns:a="http://schemas.openxmlformats.org/drawingml/2006/main">
            <a:off x="8382000" y="7524750"/>
            <a:ext cx="62388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2325" b="1">
                <a:solidFill>
                  <a:srgbClr val="17658A"/>
                </a:solidFill>
                <a:latin typeface="Arial"/>
                <a:ea typeface="Arial"/>
                <a:cs typeface="Arial"/>
              </a:defRPr>
            </a:pPr>
            <a:r>
              <a:rPr sz="2325" b="1">
                <a:solidFill>
                  <a:srgbClr val="17658A"/>
                </a:solidFill>
                <a:latin typeface="Arial"/>
                <a:ea typeface="Arial"/>
                <a:cs typeface="Arial"/>
              </a:rPr>
              <a:t>Q_B = 6  →  P_B = € 18</a:t>
            </a:r>
          </a:p>
        </p:txBody>
      </p:sp>
    </p:spTree>
    <p:extLst>
      <p:ext uri="{BB962C8B-B14F-4D97-AF65-F5344CB8AC3E}">
        <p14:creationId xmlns:p14="http://schemas.microsoft.com/office/powerpoint/2010/main" val="835242820"/>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Vergelijk de omzet bij één en twee prijzen">
            <a:extLst xmlns:a="http://schemas.openxmlformats.org/drawingml/2006/main">
              <a:ext uri="{FF2B5EF4-FFF2-40B4-BE49-F238E27FC236}">
                <a16:creationId xmlns:a16="http://schemas.microsoft.com/office/drawing/2014/main" id="{10687D59-3576-4DF2-BB72-B6BCC8B0035F}"/>
              </a:ext>
            </a:extLst>
          </p:cNvPr>
          <p:cNvSpPr>
            <a:spLocks xmlns:a="http://schemas.openxmlformats.org/drawingml/2006/main" noGrp="1"/>
          </p:cNvSpPr>
          <p:nvPr/>
        </p:nvSpPr>
        <p:spPr>
          <a:xfrm xmlns:a="http://schemas.openxmlformats.org/drawingml/2006/main">
            <a:off x="571500" y="400050"/>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Vergelijk de omzet bij één en twee prijzen</a:t>
            </a:r>
          </a:p>
        </p:txBody>
      </p:sp>
      <p:sp>
        <p:nvSpPr>
          <p:cNvPr id="2" name="">
            <a:extLst xmlns:a="http://schemas.openxmlformats.org/drawingml/2006/main">
              <a:ext uri="{FF2B5EF4-FFF2-40B4-BE49-F238E27FC236}">
                <a16:creationId xmlns:a16="http://schemas.microsoft.com/office/drawing/2014/main" id="{48EB80AD-CE92-4737-9E4A-3D5782067D12}"/>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2 Prijsdiscriminatie">
            <a:extLst xmlns:a="http://schemas.openxmlformats.org/drawingml/2006/main">
              <a:ext uri="{FF2B5EF4-FFF2-40B4-BE49-F238E27FC236}">
                <a16:creationId xmlns:a16="http://schemas.microsoft.com/office/drawing/2014/main" id="{944170F9-FACA-494E-A672-A35A20029254}"/>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§4.2.2 Prijsdiscriminatie</a:t>
            </a:r>
          </a:p>
        </p:txBody>
      </p:sp>
      <p:sp>
        <p:nvSpPr>
          <p:cNvPr id="4" name="slide-number">
            <a:extLst xmlns:a="http://schemas.openxmlformats.org/drawingml/2006/main">
              <a:ext uri="{FF2B5EF4-FFF2-40B4-BE49-F238E27FC236}">
                <a16:creationId xmlns:a16="http://schemas.microsoft.com/office/drawing/2014/main" id="{0388EF85-D921-497A-BF3F-8781C59C7071}"/>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8</a:t>
            </a:r>
          </a:p>
        </p:txBody>
      </p:sp>
      <p:sp>
        <p:nvSpPr>
          <p:cNvPr id="5" name="Uitlegvoorbeeld — niet uit het boek · Sterrenkoepel">
            <a:extLst xmlns:a="http://schemas.openxmlformats.org/drawingml/2006/main">
              <a:ext uri="{FF2B5EF4-FFF2-40B4-BE49-F238E27FC236}">
                <a16:creationId xmlns:a16="http://schemas.microsoft.com/office/drawing/2014/main" id="{C085B11A-2333-419A-B668-76CBC478FA6C}"/>
              </a:ext>
            </a:extLst>
          </p:cNvPr>
          <p:cNvSpPr>
            <a:spLocks xmlns:a="http://schemas.openxmlformats.org/drawingml/2006/main" noGrp="1"/>
          </p:cNvSpPr>
          <p:nvPr/>
        </p:nvSpPr>
        <p:spPr>
          <a:xfrm xmlns:a="http://schemas.openxmlformats.org/drawingml/2006/main">
            <a:off x="571500" y="1685925"/>
            <a:ext cx="14097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17658A"/>
                </a:solidFill>
                <a:latin typeface="Arial"/>
                <a:ea typeface="Arial"/>
                <a:cs typeface="Arial"/>
              </a:defRPr>
            </a:pPr>
            <a:r>
              <a:rPr sz="2100" b="1">
                <a:solidFill>
                  <a:srgbClr val="17658A"/>
                </a:solidFill>
                <a:latin typeface="Arial"/>
                <a:ea typeface="Arial"/>
                <a:cs typeface="Arial"/>
              </a:rPr>
              <a:t>Uitlegvoorbeeld — niet uit het boek · Sterrenkoepel</a:t>
            </a:r>
          </a:p>
        </p:txBody>
      </p:sp>
      <p:sp>
        <p:nvSpPr>
          <p:cNvPr id="6" name="Gegeven vergelijkingsprijs: € 24 per bezoek voor beide groepen">
            <a:extLst xmlns:a="http://schemas.openxmlformats.org/drawingml/2006/main">
              <a:ext uri="{FF2B5EF4-FFF2-40B4-BE49-F238E27FC236}">
                <a16:creationId xmlns:a16="http://schemas.microsoft.com/office/drawing/2014/main" id="{F0D3D2B5-CBCC-4AD5-9815-694BE4690209}"/>
              </a:ext>
            </a:extLst>
          </p:cNvPr>
          <p:cNvSpPr>
            <a:spLocks xmlns:a="http://schemas.openxmlformats.org/drawingml/2006/main" noGrp="1"/>
          </p:cNvSpPr>
          <p:nvPr/>
        </p:nvSpPr>
        <p:spPr>
          <a:xfrm xmlns:a="http://schemas.openxmlformats.org/drawingml/2006/main">
            <a:off x="571500" y="2305050"/>
            <a:ext cx="14097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Gegeven vergelijkingsprijs: € 24 per bezoek voor beide groepen</a:t>
            </a:r>
          </a:p>
        </p:txBody>
      </p:sp>
      <p:graphicFrame>
        <p:nvGraphicFramePr>
          <p:cNvPr id="15" name=""/>
          <p:cNvGraphicFramePr/>
          <p:nvPr/>
        </p:nvGraphicFramePr>
        <p:xfrm>
          <a:off xmlns:a="http://schemas.openxmlformats.org/drawingml/2006/main" x="571500" y="3476625"/>
          <a:ext xmlns:a="http://schemas.openxmlformats.org/drawingml/2006/main" cx="14097000" cy="3676650"/>
        </p:xfrm>
        <a:graphic xmlns:a="http://schemas.openxmlformats.org/drawingml/2006/main">
          <a:graphicData uri="http://schemas.openxmlformats.org/drawingml/2006/table">
            <a:tbl>
              <a:tblPr/>
              <a:tblGrid>
                <a:gridCol w="4572000"/>
                <a:gridCol w="4762500"/>
                <a:gridCol w="4762500"/>
              </a:tblGrid>
              <a:tr h="735330">
                <a:tc>
                  <a:txBody>
                    <a:bodyPr lIns="171450" tIns="95250" rIns="152400" bIns="95250"/>
                    <a:lstStyle/>
                    <a:p>
                      <a:r>
                        <a:rPr sz="2475" b="1">
                          <a:solidFill>
                            <a:srgbClr val="FFFFFF"/>
                          </a:solidFill>
                          <a:latin typeface="Arial"/>
                          <a:ea typeface="Arial"/>
                          <a:cs typeface="Arial"/>
                        </a:rPr>
                        <a:t>Per week</a:t>
                      </a:r>
                    </a:p>
                  </a:txBody>
                  <a:tcPr marL="91440" marR="91440" marT="45720" marB="45720" anchor="ctr">
                    <a:solidFill>
                      <a:srgbClr val="183247"/>
                    </a:solidFill>
                  </a:tcPr>
                </a:tc>
                <a:tc>
                  <a:txBody>
                    <a:bodyPr lIns="171450" tIns="95250" rIns="152400" bIns="95250"/>
                    <a:lstStyle/>
                    <a:p>
                      <a:r>
                        <a:rPr sz="2475" b="1">
                          <a:solidFill>
                            <a:srgbClr val="FFFFFF"/>
                          </a:solidFill>
                          <a:latin typeface="Arial"/>
                          <a:ea typeface="Arial"/>
                          <a:cs typeface="Arial"/>
                        </a:rPr>
                        <a:t>Eén prijs</a:t>
                      </a:r>
                    </a:p>
                  </a:txBody>
                  <a:tcPr marL="91440" marR="91440" marT="45720" marB="45720" anchor="ctr">
                    <a:solidFill>
                      <a:srgbClr val="183247"/>
                    </a:solidFill>
                  </a:tcPr>
                </a:tc>
                <a:tc>
                  <a:txBody>
                    <a:bodyPr lIns="171450" tIns="95250" rIns="152400" bIns="95250"/>
                    <a:lstStyle/>
                    <a:p>
                      <a:r>
                        <a:rPr sz="2475" b="1">
                          <a:solidFill>
                            <a:srgbClr val="FFFFFF"/>
                          </a:solidFill>
                          <a:latin typeface="Arial"/>
                          <a:ea typeface="Arial"/>
                          <a:cs typeface="Arial"/>
                        </a:rPr>
                        <a:t>Groepsprijzen</a:t>
                      </a:r>
                    </a:p>
                  </a:txBody>
                  <a:tcPr marL="91440" marR="91440" marT="45720" marB="45720" anchor="ctr">
                    <a:solidFill>
                      <a:srgbClr val="183247"/>
                    </a:solidFill>
                  </a:tcPr>
                </a:tc>
              </a:tr>
              <a:tr h="735330">
                <a:tc>
                  <a:txBody>
                    <a:bodyPr lIns="171450" tIns="95250" rIns="152400" bIns="95250"/>
                    <a:lstStyle/>
                    <a:p>
                      <a:r>
                        <a:rPr sz="2475" b="0">
                          <a:solidFill>
                            <a:srgbClr val="183247"/>
                          </a:solidFill>
                          <a:latin typeface="Arial"/>
                          <a:ea typeface="Arial"/>
                          <a:cs typeface="Arial"/>
                        </a:rPr>
                        <a:t>A: prijs × bezoeken</a:t>
                      </a:r>
                    </a:p>
                  </a:txBody>
                  <a:tcPr marL="91440" marR="91440" marT="45720" marB="45720" anchor="ctr">
                    <a:solidFill>
                      <a:srgbClr val="FFFFFF"/>
                    </a:solidFill>
                  </a:tcPr>
                </a:tc>
                <a:tc>
                  <a:txBody>
                    <a:bodyPr lIns="171450" tIns="95250" rIns="152400" bIns="95250"/>
                    <a:lstStyle/>
                    <a:p>
                      <a:r>
                        <a:rPr sz="2475" b="0">
                          <a:solidFill>
                            <a:srgbClr val="183247"/>
                          </a:solidFill>
                          <a:latin typeface="Arial"/>
                          <a:ea typeface="Arial"/>
                          <a:cs typeface="Arial"/>
                        </a:rPr>
                        <a:t>24 × 15 = € 360</a:t>
                      </a:r>
                    </a:p>
                  </a:txBody>
                  <a:tcPr marL="91440" marR="91440" marT="45720" marB="45720" anchor="ctr">
                    <a:solidFill>
                      <a:srgbClr val="FFFFFF"/>
                    </a:solidFill>
                  </a:tcPr>
                </a:tc>
                <a:tc>
                  <a:txBody>
                    <a:bodyPr lIns="171450" tIns="95250" rIns="152400" bIns="95250"/>
                    <a:lstStyle/>
                    <a:p>
                      <a:r>
                        <a:rPr sz="2475" b="0">
                          <a:solidFill>
                            <a:srgbClr val="183247"/>
                          </a:solidFill>
                          <a:latin typeface="Arial"/>
                          <a:ea typeface="Arial"/>
                          <a:cs typeface="Arial"/>
                        </a:rPr>
                        <a:t>30 × 12 = € 360</a:t>
                      </a:r>
                    </a:p>
                  </a:txBody>
                  <a:tcPr marL="91440" marR="91440" marT="45720" marB="45720" anchor="ctr">
                    <a:solidFill>
                      <a:srgbClr val="FFFFFF"/>
                    </a:solidFill>
                  </a:tcPr>
                </a:tc>
              </a:tr>
              <a:tr h="735330">
                <a:tc>
                  <a:txBody>
                    <a:bodyPr lIns="171450" tIns="95250" rIns="152400" bIns="95250"/>
                    <a:lstStyle/>
                    <a:p>
                      <a:r>
                        <a:rPr sz="2475" b="0">
                          <a:solidFill>
                            <a:srgbClr val="183247"/>
                          </a:solidFill>
                          <a:latin typeface="Arial"/>
                          <a:ea typeface="Arial"/>
                          <a:cs typeface="Arial"/>
                        </a:rPr>
                        <a:t>B: prijs × bezoeken</a:t>
                      </a:r>
                    </a:p>
                  </a:txBody>
                  <a:tcPr marL="91440" marR="91440" marT="45720" marB="45720" anchor="ctr">
                    <a:solidFill>
                      <a:srgbClr val="EFF4F7"/>
                    </a:solidFill>
                  </a:tcPr>
                </a:tc>
                <a:tc>
                  <a:txBody>
                    <a:bodyPr lIns="171450" tIns="95250" rIns="152400" bIns="95250"/>
                    <a:lstStyle/>
                    <a:p>
                      <a:r>
                        <a:rPr sz="2475" b="0">
                          <a:solidFill>
                            <a:srgbClr val="183247"/>
                          </a:solidFill>
                          <a:latin typeface="Arial"/>
                          <a:ea typeface="Arial"/>
                          <a:cs typeface="Arial"/>
                        </a:rPr>
                        <a:t>24 × 3 = € 72</a:t>
                      </a:r>
                    </a:p>
                  </a:txBody>
                  <a:tcPr marL="91440" marR="91440" marT="45720" marB="45720" anchor="ctr">
                    <a:solidFill>
                      <a:srgbClr val="EFF4F7"/>
                    </a:solidFill>
                  </a:tcPr>
                </a:tc>
                <a:tc>
                  <a:txBody>
                    <a:bodyPr lIns="171450" tIns="95250" rIns="152400" bIns="95250"/>
                    <a:lstStyle/>
                    <a:p>
                      <a:r>
                        <a:rPr sz="2475" b="0">
                          <a:solidFill>
                            <a:srgbClr val="183247"/>
                          </a:solidFill>
                          <a:latin typeface="Arial"/>
                          <a:ea typeface="Arial"/>
                          <a:cs typeface="Arial"/>
                        </a:rPr>
                        <a:t>18 × 6 = € 108</a:t>
                      </a:r>
                    </a:p>
                  </a:txBody>
                  <a:tcPr marL="91440" marR="91440" marT="45720" marB="45720" anchor="ctr">
                    <a:solidFill>
                      <a:srgbClr val="EFF4F7"/>
                    </a:solidFill>
                  </a:tcPr>
                </a:tc>
              </a:tr>
              <a:tr h="735330">
                <a:tc>
                  <a:txBody>
                    <a:bodyPr lIns="171450" tIns="95250" rIns="152400" bIns="95250"/>
                    <a:lstStyle/>
                    <a:p>
                      <a:r>
                        <a:rPr sz="2475" b="0">
                          <a:solidFill>
                            <a:srgbClr val="183247"/>
                          </a:solidFill>
                          <a:latin typeface="Arial"/>
                          <a:ea typeface="Arial"/>
                          <a:cs typeface="Arial"/>
                        </a:rPr>
                        <a:t>Totale omzet</a:t>
                      </a:r>
                    </a:p>
                  </a:txBody>
                  <a:tcPr marL="91440" marR="91440" marT="45720" marB="45720" anchor="ctr">
                    <a:solidFill>
                      <a:srgbClr val="FFFFFF"/>
                    </a:solidFill>
                  </a:tcPr>
                </a:tc>
                <a:tc>
                  <a:txBody>
                    <a:bodyPr lIns="171450" tIns="95250" rIns="152400" bIns="95250"/>
                    <a:lstStyle/>
                    <a:p>
                      <a:r>
                        <a:rPr sz="2475" b="0">
                          <a:solidFill>
                            <a:srgbClr val="183247"/>
                          </a:solidFill>
                          <a:latin typeface="Arial"/>
                          <a:ea typeface="Arial"/>
                          <a:cs typeface="Arial"/>
                        </a:rPr>
                        <a:t>€ 432</a:t>
                      </a:r>
                    </a:p>
                  </a:txBody>
                  <a:tcPr marL="91440" marR="91440" marT="45720" marB="45720" anchor="ctr">
                    <a:solidFill>
                      <a:srgbClr val="FFFFFF"/>
                    </a:solidFill>
                  </a:tcPr>
                </a:tc>
                <a:tc>
                  <a:txBody>
                    <a:bodyPr lIns="171450" tIns="95250" rIns="152400" bIns="95250"/>
                    <a:lstStyle/>
                    <a:p>
                      <a:r>
                        <a:rPr sz="2475" b="0">
                          <a:solidFill>
                            <a:srgbClr val="183247"/>
                          </a:solidFill>
                          <a:latin typeface="Arial"/>
                          <a:ea typeface="Arial"/>
                          <a:cs typeface="Arial"/>
                        </a:rPr>
                        <a:t>€ 468</a:t>
                      </a:r>
                    </a:p>
                  </a:txBody>
                  <a:tcPr marL="91440" marR="91440" marT="45720" marB="45720" anchor="ctr">
                    <a:solidFill>
                      <a:srgbClr val="FFFFFF"/>
                    </a:solidFill>
                  </a:tcPr>
                </a:tc>
              </a:tr>
              <a:tr h="735330">
                <a:tc>
                  <a:txBody>
                    <a:bodyPr lIns="171450" tIns="95250" rIns="152400" bIns="95250"/>
                    <a:lstStyle/>
                    <a:p>
                      <a:r>
                        <a:rPr sz="2475" b="0">
                          <a:solidFill>
                            <a:srgbClr val="183247"/>
                          </a:solidFill>
                          <a:latin typeface="Arial"/>
                          <a:ea typeface="Arial"/>
                          <a:cs typeface="Arial"/>
                        </a:rPr>
                        <a:t>Totale afzet</a:t>
                      </a:r>
                    </a:p>
                  </a:txBody>
                  <a:tcPr marL="91440" marR="91440" marT="45720" marB="45720" anchor="ctr">
                    <a:solidFill>
                      <a:srgbClr val="EFF4F7"/>
                    </a:solidFill>
                  </a:tcPr>
                </a:tc>
                <a:tc>
                  <a:txBody>
                    <a:bodyPr lIns="171450" tIns="95250" rIns="152400" bIns="95250"/>
                    <a:lstStyle/>
                    <a:p>
                      <a:r>
                        <a:rPr sz="2475" b="0">
                          <a:solidFill>
                            <a:srgbClr val="183247"/>
                          </a:solidFill>
                          <a:latin typeface="Arial"/>
                          <a:ea typeface="Arial"/>
                          <a:cs typeface="Arial"/>
                        </a:rPr>
                        <a:t>15 + 3 = 18</a:t>
                      </a:r>
                    </a:p>
                  </a:txBody>
                  <a:tcPr marL="91440" marR="91440" marT="45720" marB="45720" anchor="ctr">
                    <a:solidFill>
                      <a:srgbClr val="EFF4F7"/>
                    </a:solidFill>
                  </a:tcPr>
                </a:tc>
                <a:tc>
                  <a:txBody>
                    <a:bodyPr lIns="171450" tIns="95250" rIns="152400" bIns="95250"/>
                    <a:lstStyle/>
                    <a:p>
                      <a:r>
                        <a:rPr sz="2475" b="0">
                          <a:solidFill>
                            <a:srgbClr val="183247"/>
                          </a:solidFill>
                          <a:latin typeface="Arial"/>
                          <a:ea typeface="Arial"/>
                          <a:cs typeface="Arial"/>
                        </a:rPr>
                        <a:t>12 + 6 = 18</a:t>
                      </a:r>
                    </a:p>
                  </a:txBody>
                  <a:tcPr marL="91440" marR="91440" marT="45720" marB="45720" anchor="ctr">
                    <a:solidFill>
                      <a:srgbClr val="EFF4F7"/>
                    </a:solidFill>
                  </a:tcPr>
                </a:tc>
              </a:tr>
            </a:tbl>
          </a:graphicData>
        </a:graphic>
      </p:graphicFrame>
      <p:sp>
        <p:nvSpPr>
          <p:cNvPr id="8" name="De omzet stijgt € 36; de totale afzet blijft 18.">
            <a:extLst xmlns:a="http://schemas.openxmlformats.org/drawingml/2006/main">
              <a:ext uri="{FF2B5EF4-FFF2-40B4-BE49-F238E27FC236}">
                <a16:creationId xmlns:a16="http://schemas.microsoft.com/office/drawing/2014/main" id="{D67C3E35-BE0D-44AA-A54F-1A9C37F33950}"/>
              </a:ext>
            </a:extLst>
          </p:cNvPr>
          <p:cNvSpPr>
            <a:spLocks xmlns:a="http://schemas.openxmlformats.org/drawingml/2006/main" noGrp="1"/>
          </p:cNvSpPr>
          <p:nvPr/>
        </p:nvSpPr>
        <p:spPr>
          <a:xfrm xmlns:a="http://schemas.openxmlformats.org/drawingml/2006/main">
            <a:off x="571500" y="7439025"/>
            <a:ext cx="140970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7658A"/>
                </a:solidFill>
                <a:latin typeface="Arial"/>
                <a:ea typeface="Arial"/>
                <a:cs typeface="Arial"/>
              </a:defRPr>
            </a:pPr>
            <a:r>
              <a:rPr sz="2550" b="1">
                <a:solidFill>
                  <a:srgbClr val="17658A"/>
                </a:solidFill>
                <a:latin typeface="Arial"/>
                <a:ea typeface="Arial"/>
                <a:cs typeface="Arial"/>
              </a:rPr>
              <a:t>De omzet stijgt € 36; de totale afzet blijft 18.</a:t>
            </a:r>
          </a:p>
        </p:txBody>
      </p:sp>
    </p:spTree>
    <p:extLst>
      <p:ext uri="{BB962C8B-B14F-4D97-AF65-F5344CB8AC3E}">
        <p14:creationId xmlns:p14="http://schemas.microsoft.com/office/powerpoint/2010/main" val="16560089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Gezamenlijke vaste kosten tel je eenmaal">
            <a:extLst xmlns:a="http://schemas.openxmlformats.org/drawingml/2006/main">
              <a:ext uri="{FF2B5EF4-FFF2-40B4-BE49-F238E27FC236}">
                <a16:creationId xmlns:a16="http://schemas.microsoft.com/office/drawing/2014/main" id="{E416258F-13AA-4FA5-9033-D1D122435FD2}"/>
              </a:ext>
            </a:extLst>
          </p:cNvPr>
          <p:cNvSpPr>
            <a:spLocks xmlns:a="http://schemas.openxmlformats.org/drawingml/2006/main" noGrp="1"/>
          </p:cNvSpPr>
          <p:nvPr/>
        </p:nvSpPr>
        <p:spPr>
          <a:xfrm xmlns:a="http://schemas.openxmlformats.org/drawingml/2006/main">
            <a:off x="571500" y="400050"/>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Gezamenlijke vaste kosten tel je eenmaal</a:t>
            </a:r>
          </a:p>
        </p:txBody>
      </p:sp>
      <p:sp>
        <p:nvSpPr>
          <p:cNvPr id="2" name="">
            <a:extLst xmlns:a="http://schemas.openxmlformats.org/drawingml/2006/main">
              <a:ext uri="{FF2B5EF4-FFF2-40B4-BE49-F238E27FC236}">
                <a16:creationId xmlns:a16="http://schemas.microsoft.com/office/drawing/2014/main" id="{303A6C8D-F429-4B54-88BB-872C5BF67A86}"/>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2 Prijsdiscriminatie">
            <a:extLst xmlns:a="http://schemas.openxmlformats.org/drawingml/2006/main">
              <a:ext uri="{FF2B5EF4-FFF2-40B4-BE49-F238E27FC236}">
                <a16:creationId xmlns:a16="http://schemas.microsoft.com/office/drawing/2014/main" id="{924A8D06-0EFD-4457-9913-BEC32F53D3E2}"/>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§4.2.2 Prijsdiscriminatie</a:t>
            </a:r>
          </a:p>
        </p:txBody>
      </p:sp>
      <p:sp>
        <p:nvSpPr>
          <p:cNvPr id="4" name="slide-number">
            <a:extLst xmlns:a="http://schemas.openxmlformats.org/drawingml/2006/main">
              <a:ext uri="{FF2B5EF4-FFF2-40B4-BE49-F238E27FC236}">
                <a16:creationId xmlns:a16="http://schemas.microsoft.com/office/drawing/2014/main" id="{5D3FED62-57D4-46BD-9860-4BCD9536F924}"/>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9</a:t>
            </a:r>
          </a:p>
        </p:txBody>
      </p:sp>
      <p:sp>
        <p:nvSpPr>
          <p:cNvPr id="5" name="Uitlegvoorbeeld — niet uit het boek · Sterrenkoepel">
            <a:extLst xmlns:a="http://schemas.openxmlformats.org/drawingml/2006/main">
              <a:ext uri="{FF2B5EF4-FFF2-40B4-BE49-F238E27FC236}">
                <a16:creationId xmlns:a16="http://schemas.microsoft.com/office/drawing/2014/main" id="{C98334FC-A78F-4382-A2B9-04E72CAD369C}"/>
              </a:ext>
            </a:extLst>
          </p:cNvPr>
          <p:cNvSpPr>
            <a:spLocks xmlns:a="http://schemas.openxmlformats.org/drawingml/2006/main" noGrp="1"/>
          </p:cNvSpPr>
          <p:nvPr/>
        </p:nvSpPr>
        <p:spPr>
          <a:xfrm xmlns:a="http://schemas.openxmlformats.org/drawingml/2006/main">
            <a:off x="571500" y="1685925"/>
            <a:ext cx="14097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17658A"/>
                </a:solidFill>
                <a:latin typeface="Arial"/>
                <a:ea typeface="Arial"/>
                <a:cs typeface="Arial"/>
              </a:defRPr>
            </a:pPr>
            <a:r>
              <a:rPr sz="2100" b="1">
                <a:solidFill>
                  <a:srgbClr val="17658A"/>
                </a:solidFill>
                <a:latin typeface="Arial"/>
                <a:ea typeface="Arial"/>
                <a:cs typeface="Arial"/>
              </a:rPr>
              <a:t>Uitlegvoorbeeld — niet uit het boek · Sterrenkoepel</a:t>
            </a:r>
          </a:p>
        </p:txBody>
      </p:sp>
      <p:sp>
        <p:nvSpPr>
          <p:cNvPr id="6" name="TK = 72 + 6 × (Q_A + Q_B)">
            <a:extLst xmlns:a="http://schemas.openxmlformats.org/drawingml/2006/main">
              <a:ext uri="{FF2B5EF4-FFF2-40B4-BE49-F238E27FC236}">
                <a16:creationId xmlns:a16="http://schemas.microsoft.com/office/drawing/2014/main" id="{7CB5C94D-FD26-4F4B-ACFD-1F0AA0018876}"/>
              </a:ext>
            </a:extLst>
          </p:cNvPr>
          <p:cNvSpPr>
            <a:spLocks xmlns:a="http://schemas.openxmlformats.org/drawingml/2006/main" noGrp="1"/>
          </p:cNvSpPr>
          <p:nvPr/>
        </p:nvSpPr>
        <p:spPr>
          <a:xfrm xmlns:a="http://schemas.openxmlformats.org/drawingml/2006/main">
            <a:off x="571500" y="2343150"/>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7658A"/>
                </a:solidFill>
                <a:latin typeface="Arial"/>
                <a:ea typeface="Arial"/>
                <a:cs typeface="Arial"/>
              </a:defRPr>
            </a:pPr>
            <a:r>
              <a:rPr sz="3600" b="1">
                <a:solidFill>
                  <a:srgbClr val="17658A"/>
                </a:solidFill>
                <a:latin typeface="Arial"/>
                <a:ea typeface="Arial"/>
                <a:cs typeface="Arial"/>
              </a:rPr>
              <a:t>TK = 72 + 6 × (Q_A + Q_B)</a:t>
            </a:r>
          </a:p>
        </p:txBody>
      </p:sp>
      <p:graphicFrame>
        <p:nvGraphicFramePr>
          <p:cNvPr id="15" name=""/>
          <p:cNvGraphicFramePr/>
          <p:nvPr/>
        </p:nvGraphicFramePr>
        <p:xfrm>
          <a:off xmlns:a="http://schemas.openxmlformats.org/drawingml/2006/main" x="571500" y="3524250"/>
          <a:ext xmlns:a="http://schemas.openxmlformats.org/drawingml/2006/main" cx="14097000" cy="3457575"/>
        </p:xfrm>
        <a:graphic xmlns:a="http://schemas.openxmlformats.org/drawingml/2006/main">
          <a:graphicData uri="http://schemas.openxmlformats.org/drawingml/2006/table">
            <a:tbl>
              <a:tblPr/>
              <a:tblGrid>
                <a:gridCol w="6477000"/>
                <a:gridCol w="3810000"/>
                <a:gridCol w="3810000"/>
              </a:tblGrid>
              <a:tr h="691515">
                <a:tc>
                  <a:txBody>
                    <a:bodyPr lIns="171450" tIns="95250" rIns="152400" bIns="95250"/>
                    <a:lstStyle/>
                    <a:p>
                      <a:r>
                        <a:rPr sz="2550" b="1">
                          <a:solidFill>
                            <a:srgbClr val="FFFFFF"/>
                          </a:solidFill>
                          <a:latin typeface="Arial"/>
                          <a:ea typeface="Arial"/>
                          <a:cs typeface="Arial"/>
                        </a:rPr>
                        <a:t>€ per week</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Eén prijs</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Groepsprijzen</a:t>
                      </a:r>
                    </a:p>
                  </a:txBody>
                  <a:tcPr marL="91440" marR="91440" marT="45720" marB="45720" anchor="ctr">
                    <a:solidFill>
                      <a:srgbClr val="183247"/>
                    </a:solidFill>
                  </a:tcPr>
                </a:tc>
              </a:tr>
              <a:tr h="691515">
                <a:tc>
                  <a:txBody>
                    <a:bodyPr lIns="171450" tIns="95250" rIns="152400" bIns="95250"/>
                    <a:lstStyle/>
                    <a:p>
                      <a:r>
                        <a:rPr sz="2550" b="0">
                          <a:solidFill>
                            <a:srgbClr val="183247"/>
                          </a:solidFill>
                          <a:latin typeface="Arial"/>
                          <a:ea typeface="Arial"/>
                          <a:cs typeface="Arial"/>
                        </a:rPr>
                        <a:t>TO</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432</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468</a:t>
                      </a:r>
                    </a:p>
                  </a:txBody>
                  <a:tcPr marL="91440" marR="91440" marT="45720" marB="45720" anchor="ctr">
                    <a:solidFill>
                      <a:srgbClr val="FFFFFF"/>
                    </a:solidFill>
                  </a:tcPr>
                </a:tc>
              </a:tr>
              <a:tr h="691515">
                <a:tc>
                  <a:txBody>
                    <a:bodyPr lIns="171450" tIns="95250" rIns="152400" bIns="95250"/>
                    <a:lstStyle/>
                    <a:p>
                      <a:r>
                        <a:rPr sz="2550" b="0">
                          <a:solidFill>
                            <a:srgbClr val="183247"/>
                          </a:solidFill>
                          <a:latin typeface="Arial"/>
                          <a:ea typeface="Arial"/>
                          <a:cs typeface="Arial"/>
                        </a:rPr>
                        <a:t>TVK = 6 × 18</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108</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108</a:t>
                      </a:r>
                    </a:p>
                  </a:txBody>
                  <a:tcPr marL="91440" marR="91440" marT="45720" marB="45720" anchor="ctr">
                    <a:solidFill>
                      <a:srgbClr val="EFF4F7"/>
                    </a:solidFill>
                  </a:tcPr>
                </a:tc>
              </a:tr>
              <a:tr h="691515">
                <a:tc>
                  <a:txBody>
                    <a:bodyPr lIns="171450" tIns="95250" rIns="152400" bIns="95250"/>
                    <a:lstStyle/>
                    <a:p>
                      <a:r>
                        <a:rPr sz="2550" b="0">
                          <a:solidFill>
                            <a:srgbClr val="183247"/>
                          </a:solidFill>
                          <a:latin typeface="Arial"/>
                          <a:ea typeface="Arial"/>
                          <a:cs typeface="Arial"/>
                        </a:rPr>
                        <a:t>TK = 72 + 108</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180</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180</a:t>
                      </a:r>
                    </a:p>
                  </a:txBody>
                  <a:tcPr marL="91440" marR="91440" marT="45720" marB="45720" anchor="ctr">
                    <a:solidFill>
                      <a:srgbClr val="FFFFFF"/>
                    </a:solidFill>
                  </a:tcPr>
                </a:tc>
              </a:tr>
              <a:tr h="691515">
                <a:tc>
                  <a:txBody>
                    <a:bodyPr lIns="171450" tIns="95250" rIns="152400" bIns="95250"/>
                    <a:lstStyle/>
                    <a:p>
                      <a:r>
                        <a:rPr sz="2550" b="0">
                          <a:solidFill>
                            <a:srgbClr val="183247"/>
                          </a:solidFill>
                          <a:latin typeface="Arial"/>
                          <a:ea typeface="Arial"/>
                          <a:cs typeface="Arial"/>
                        </a:rPr>
                        <a:t>Winst = TO − TK</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252</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288</a:t>
                      </a:r>
                    </a:p>
                  </a:txBody>
                  <a:tcPr marL="91440" marR="91440" marT="45720" marB="45720" anchor="ctr">
                    <a:solidFill>
                      <a:srgbClr val="EFF4F7"/>
                    </a:solidFill>
                  </a:tcPr>
                </a:tc>
              </a:tr>
            </a:tbl>
          </a:graphicData>
        </a:graphic>
      </p:graphicFrame>
      <p:sp>
        <p:nvSpPr>
          <p:cNvPr id="8" name="Winst stijgt € 36. Dezelfde TCK blijft € 72.">
            <a:extLst xmlns:a="http://schemas.openxmlformats.org/drawingml/2006/main">
              <a:ext uri="{FF2B5EF4-FFF2-40B4-BE49-F238E27FC236}">
                <a16:creationId xmlns:a16="http://schemas.microsoft.com/office/drawing/2014/main" id="{55B5553C-5FEC-4F51-84D5-56B1B9B63040}"/>
              </a:ext>
            </a:extLst>
          </p:cNvPr>
          <p:cNvSpPr>
            <a:spLocks xmlns:a="http://schemas.openxmlformats.org/drawingml/2006/main" noGrp="1"/>
          </p:cNvSpPr>
          <p:nvPr/>
        </p:nvSpPr>
        <p:spPr>
          <a:xfrm xmlns:a="http://schemas.openxmlformats.org/drawingml/2006/main">
            <a:off x="571500" y="7439025"/>
            <a:ext cx="140970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Winst stijgt € 36. Dezelfde TCK blijft € 72.</a:t>
            </a:r>
          </a:p>
        </p:txBody>
      </p:sp>
    </p:spTree>
    <p:extLst>
      <p:ext uri="{BB962C8B-B14F-4D97-AF65-F5344CB8AC3E}">
        <p14:creationId xmlns:p14="http://schemas.microsoft.com/office/powerpoint/2010/main" val="34808943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De kopers profiteren niet allemaal">
            <a:extLst xmlns:a="http://schemas.openxmlformats.org/drawingml/2006/main">
              <a:ext uri="{FF2B5EF4-FFF2-40B4-BE49-F238E27FC236}">
                <a16:creationId xmlns:a16="http://schemas.microsoft.com/office/drawing/2014/main" id="{3DB8A27C-06EC-44AA-B8F3-632B91BB0A3D}"/>
              </a:ext>
            </a:extLst>
          </p:cNvPr>
          <p:cNvSpPr>
            <a:spLocks xmlns:a="http://schemas.openxmlformats.org/drawingml/2006/main" noGrp="1"/>
          </p:cNvSpPr>
          <p:nvPr/>
        </p:nvSpPr>
        <p:spPr>
          <a:xfrm xmlns:a="http://schemas.openxmlformats.org/drawingml/2006/main">
            <a:off x="571500" y="400050"/>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De kopers profiteren niet allemaal</a:t>
            </a:r>
          </a:p>
        </p:txBody>
      </p:sp>
      <p:sp>
        <p:nvSpPr>
          <p:cNvPr id="2" name="">
            <a:extLst xmlns:a="http://schemas.openxmlformats.org/drawingml/2006/main">
              <a:ext uri="{FF2B5EF4-FFF2-40B4-BE49-F238E27FC236}">
                <a16:creationId xmlns:a16="http://schemas.microsoft.com/office/drawing/2014/main" id="{79BF0CED-68C4-4DE9-B4C8-424045A983E4}"/>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2 Prijsdiscriminatie">
            <a:extLst xmlns:a="http://schemas.openxmlformats.org/drawingml/2006/main">
              <a:ext uri="{FF2B5EF4-FFF2-40B4-BE49-F238E27FC236}">
                <a16:creationId xmlns:a16="http://schemas.microsoft.com/office/drawing/2014/main" id="{67DC4EE7-077E-4BAB-8D7A-4AF9F1E3E4CD}"/>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§4.2.2 Prijsdiscriminatie</a:t>
            </a:r>
          </a:p>
        </p:txBody>
      </p:sp>
      <p:sp>
        <p:nvSpPr>
          <p:cNvPr id="4" name="slide-number">
            <a:extLst xmlns:a="http://schemas.openxmlformats.org/drawingml/2006/main">
              <a:ext uri="{FF2B5EF4-FFF2-40B4-BE49-F238E27FC236}">
                <a16:creationId xmlns:a16="http://schemas.microsoft.com/office/drawing/2014/main" id="{A13D1100-19B3-4ED7-ABD8-72B841AA8E44}"/>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10</a:t>
            </a:r>
          </a:p>
        </p:txBody>
      </p:sp>
      <p:sp>
        <p:nvSpPr>
          <p:cNvPr id="5" name="Uitlegvoorbeeld — niet uit het boek · Sterrenkoepel">
            <a:extLst xmlns:a="http://schemas.openxmlformats.org/drawingml/2006/main">
              <a:ext uri="{FF2B5EF4-FFF2-40B4-BE49-F238E27FC236}">
                <a16:creationId xmlns:a16="http://schemas.microsoft.com/office/drawing/2014/main" id="{E12F0508-A657-422F-967F-DA23EA4A0284}"/>
              </a:ext>
            </a:extLst>
          </p:cNvPr>
          <p:cNvSpPr>
            <a:spLocks xmlns:a="http://schemas.openxmlformats.org/drawingml/2006/main" noGrp="1"/>
          </p:cNvSpPr>
          <p:nvPr/>
        </p:nvSpPr>
        <p:spPr>
          <a:xfrm xmlns:a="http://schemas.openxmlformats.org/drawingml/2006/main">
            <a:off x="571500" y="1685925"/>
            <a:ext cx="14097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17658A"/>
                </a:solidFill>
                <a:latin typeface="Arial"/>
                <a:ea typeface="Arial"/>
                <a:cs typeface="Arial"/>
              </a:defRPr>
            </a:pPr>
            <a:r>
              <a:rPr sz="2100" b="1">
                <a:solidFill>
                  <a:srgbClr val="17658A"/>
                </a:solidFill>
                <a:latin typeface="Arial"/>
                <a:ea typeface="Arial"/>
                <a:cs typeface="Arial"/>
              </a:rPr>
              <a:t>Uitlegvoorbeeld — niet uit het boek · Sterrenkoepel</a:t>
            </a:r>
          </a:p>
        </p:txBody>
      </p:sp>
      <p:graphicFrame>
        <p:nvGraphicFramePr>
          <p:cNvPr id="14" name=""/>
          <p:cNvGraphicFramePr/>
          <p:nvPr/>
        </p:nvGraphicFramePr>
        <p:xfrm>
          <a:off xmlns:a="http://schemas.openxmlformats.org/drawingml/2006/main" x="571500" y="2562225"/>
          <a:ext xmlns:a="http://schemas.openxmlformats.org/drawingml/2006/main" cx="14097000" cy="3343275"/>
        </p:xfrm>
        <a:graphic xmlns:a="http://schemas.openxmlformats.org/drawingml/2006/main">
          <a:graphicData uri="http://schemas.openxmlformats.org/drawingml/2006/table">
            <a:tbl>
              <a:tblPr/>
              <a:tblGrid>
                <a:gridCol w="2667000"/>
                <a:gridCol w="5000625"/>
                <a:gridCol w="6429375"/>
              </a:tblGrid>
              <a:tr h="1114425">
                <a:tc>
                  <a:txBody>
                    <a:bodyPr lIns="171450" tIns="95250" rIns="152400" bIns="95250"/>
                    <a:lstStyle/>
                    <a:p>
                      <a:r>
                        <a:rPr sz="2475" b="1">
                          <a:solidFill>
                            <a:srgbClr val="FFFFFF"/>
                          </a:solidFill>
                          <a:latin typeface="Arial"/>
                          <a:ea typeface="Arial"/>
                          <a:cs typeface="Arial"/>
                        </a:rPr>
                        <a:t>Per groep</a:t>
                      </a:r>
                    </a:p>
                  </a:txBody>
                  <a:tcPr marL="91440" marR="91440" marT="45720" marB="45720" anchor="ctr">
                    <a:solidFill>
                      <a:srgbClr val="183247"/>
                    </a:solidFill>
                  </a:tcPr>
                </a:tc>
                <a:tc>
                  <a:txBody>
                    <a:bodyPr lIns="171450" tIns="95250" rIns="152400" bIns="95250"/>
                    <a:lstStyle/>
                    <a:p>
                      <a:r>
                        <a:rPr sz="2475" b="1">
                          <a:solidFill>
                            <a:srgbClr val="FFFFFF"/>
                          </a:solidFill>
                          <a:latin typeface="Arial"/>
                          <a:ea typeface="Arial"/>
                          <a:cs typeface="Arial"/>
                        </a:rPr>
                        <a:t>Eén prijs → groepsprijs</a:t>
                      </a:r>
                    </a:p>
                  </a:txBody>
                  <a:tcPr marL="91440" marR="91440" marT="45720" marB="45720" anchor="ctr">
                    <a:solidFill>
                      <a:srgbClr val="183247"/>
                    </a:solidFill>
                  </a:tcPr>
                </a:tc>
                <a:tc>
                  <a:txBody>
                    <a:bodyPr lIns="171450" tIns="95250" rIns="152400" bIns="95250"/>
                    <a:lstStyle/>
                    <a:p>
                      <a:r>
                        <a:rPr sz="2475" b="1">
                          <a:solidFill>
                            <a:srgbClr val="FFFFFF"/>
                          </a:solidFill>
                          <a:latin typeface="Arial"/>
                          <a:ea typeface="Arial"/>
                          <a:cs typeface="Arial"/>
                        </a:rPr>
                        <a:t>CS: driehoek boven de prijs</a:t>
                      </a:r>
                    </a:p>
                  </a:txBody>
                  <a:tcPr marL="91440" marR="91440" marT="45720" marB="45720" anchor="ctr">
                    <a:solidFill>
                      <a:srgbClr val="183247"/>
                    </a:solidFill>
                  </a:tcPr>
                </a:tc>
              </a:tr>
              <a:tr h="1114425">
                <a:tc>
                  <a:txBody>
                    <a:bodyPr lIns="171450" tIns="95250" rIns="152400" bIns="95250"/>
                    <a:lstStyle/>
                    <a:p>
                      <a:r>
                        <a:rPr sz="2475" b="0">
                          <a:solidFill>
                            <a:srgbClr val="183247"/>
                          </a:solidFill>
                          <a:latin typeface="Arial"/>
                          <a:ea typeface="Arial"/>
                          <a:cs typeface="Arial"/>
                        </a:rPr>
                        <a:t>A</a:t>
                      </a:r>
                    </a:p>
                  </a:txBody>
                  <a:tcPr marL="91440" marR="91440" marT="45720" marB="45720" anchor="ctr">
                    <a:solidFill>
                      <a:srgbClr val="FFFFFF"/>
                    </a:solidFill>
                  </a:tcPr>
                </a:tc>
                <a:tc>
                  <a:txBody>
                    <a:bodyPr lIns="171450" tIns="95250" rIns="152400" bIns="95250"/>
                    <a:lstStyle/>
                    <a:p>
                      <a:r>
                        <a:rPr sz="2475" b="0">
                          <a:solidFill>
                            <a:srgbClr val="183247"/>
                          </a:solidFill>
                          <a:latin typeface="Arial"/>
                          <a:ea typeface="Arial"/>
                          <a:cs typeface="Arial"/>
                        </a:rPr>
                        <a:t>€ 24 → € 30</a:t>
                      </a:r>
                    </a:p>
                    <a:p>
                      <a:r>
                        <a:rPr sz="2475" b="0">
                          <a:solidFill>
                            <a:srgbClr val="183247"/>
                          </a:solidFill>
                          <a:latin typeface="Arial"/>
                          <a:ea typeface="Arial"/>
                          <a:cs typeface="Arial"/>
                        </a:rPr>
                        <a:t>15 → 12 bezoeken</a:t>
                      </a:r>
                    </a:p>
                  </a:txBody>
                  <a:tcPr marL="91440" marR="91440" marT="45720" marB="45720" anchor="ctr">
                    <a:solidFill>
                      <a:srgbClr val="FFFFFF"/>
                    </a:solidFill>
                  </a:tcPr>
                </a:tc>
                <a:tc>
                  <a:txBody>
                    <a:bodyPr lIns="171450" tIns="95250" rIns="152400" bIns="95250"/>
                    <a:lstStyle/>
                    <a:p>
                      <a:r>
                        <a:rPr sz="2475" b="0">
                          <a:solidFill>
                            <a:srgbClr val="183247"/>
                          </a:solidFill>
                          <a:latin typeface="Arial"/>
                          <a:ea typeface="Arial"/>
                          <a:cs typeface="Arial"/>
                        </a:rPr>
                        <a:t>½ × 15 × 30 = € 225</a:t>
                      </a:r>
                    </a:p>
                    <a:p>
                      <a:r>
                        <a:rPr sz="2475" b="0">
                          <a:solidFill>
                            <a:srgbClr val="183247"/>
                          </a:solidFill>
                          <a:latin typeface="Arial"/>
                          <a:ea typeface="Arial"/>
                          <a:cs typeface="Arial"/>
                        </a:rPr>
                        <a:t>½ × 12 × 24 = € 144</a:t>
                      </a:r>
                    </a:p>
                  </a:txBody>
                  <a:tcPr marL="91440" marR="91440" marT="45720" marB="45720" anchor="ctr">
                    <a:solidFill>
                      <a:srgbClr val="FFFFFF"/>
                    </a:solidFill>
                  </a:tcPr>
                </a:tc>
              </a:tr>
              <a:tr h="1114425">
                <a:tc>
                  <a:txBody>
                    <a:bodyPr lIns="171450" tIns="95250" rIns="152400" bIns="95250"/>
                    <a:lstStyle/>
                    <a:p>
                      <a:r>
                        <a:rPr sz="2475" b="0">
                          <a:solidFill>
                            <a:srgbClr val="183247"/>
                          </a:solidFill>
                          <a:latin typeface="Arial"/>
                          <a:ea typeface="Arial"/>
                          <a:cs typeface="Arial"/>
                        </a:rPr>
                        <a:t>B</a:t>
                      </a:r>
                    </a:p>
                  </a:txBody>
                  <a:tcPr marL="91440" marR="91440" marT="45720" marB="45720" anchor="ctr">
                    <a:solidFill>
                      <a:srgbClr val="EFF4F7"/>
                    </a:solidFill>
                  </a:tcPr>
                </a:tc>
                <a:tc>
                  <a:txBody>
                    <a:bodyPr lIns="171450" tIns="95250" rIns="152400" bIns="95250"/>
                    <a:lstStyle/>
                    <a:p>
                      <a:r>
                        <a:rPr sz="2475" b="0">
                          <a:solidFill>
                            <a:srgbClr val="183247"/>
                          </a:solidFill>
                          <a:latin typeface="Arial"/>
                          <a:ea typeface="Arial"/>
                          <a:cs typeface="Arial"/>
                        </a:rPr>
                        <a:t>€ 24 → € 18</a:t>
                      </a:r>
                    </a:p>
                    <a:p>
                      <a:r>
                        <a:rPr sz="2475" b="0">
                          <a:solidFill>
                            <a:srgbClr val="183247"/>
                          </a:solidFill>
                          <a:latin typeface="Arial"/>
                          <a:ea typeface="Arial"/>
                          <a:cs typeface="Arial"/>
                        </a:rPr>
                        <a:t>3 → 6 bezoeken</a:t>
                      </a:r>
                    </a:p>
                  </a:txBody>
                  <a:tcPr marL="91440" marR="91440" marT="45720" marB="45720" anchor="ctr">
                    <a:solidFill>
                      <a:srgbClr val="EFF4F7"/>
                    </a:solidFill>
                  </a:tcPr>
                </a:tc>
                <a:tc>
                  <a:txBody>
                    <a:bodyPr lIns="171450" tIns="95250" rIns="152400" bIns="95250"/>
                    <a:lstStyle/>
                    <a:p>
                      <a:r>
                        <a:rPr sz="2475" b="0">
                          <a:solidFill>
                            <a:srgbClr val="183247"/>
                          </a:solidFill>
                          <a:latin typeface="Arial"/>
                          <a:ea typeface="Arial"/>
                          <a:cs typeface="Arial"/>
                        </a:rPr>
                        <a:t>½ × 3 × 6 = € 9</a:t>
                      </a:r>
                    </a:p>
                    <a:p>
                      <a:r>
                        <a:rPr sz="2475" b="0">
                          <a:solidFill>
                            <a:srgbClr val="183247"/>
                          </a:solidFill>
                          <a:latin typeface="Arial"/>
                          <a:ea typeface="Arial"/>
                          <a:cs typeface="Arial"/>
                        </a:rPr>
                        <a:t>½ × 6 × 12 = € 36</a:t>
                      </a:r>
                    </a:p>
                  </a:txBody>
                  <a:tcPr marL="91440" marR="91440" marT="45720" marB="45720" anchor="ctr">
                    <a:solidFill>
                      <a:srgbClr val="EFF4F7"/>
                    </a:solidFill>
                  </a:tcPr>
                </a:tc>
              </a:tr>
            </a:tbl>
          </a:graphicData>
        </a:graphic>
      </p:graphicFrame>
      <p:sp>
        <p:nvSpPr>
          <p:cNvPr id="7" name="A: −€ 81     B: +€ 27     Totaal CS: −€ 54 per week">
            <a:extLst xmlns:a="http://schemas.openxmlformats.org/drawingml/2006/main">
              <a:ext uri="{FF2B5EF4-FFF2-40B4-BE49-F238E27FC236}">
                <a16:creationId xmlns:a16="http://schemas.microsoft.com/office/drawing/2014/main" id="{EA98531D-B12C-44AF-A6D8-48FABD9ACBBC}"/>
              </a:ext>
            </a:extLst>
          </p:cNvPr>
          <p:cNvSpPr>
            <a:spLocks xmlns:a="http://schemas.openxmlformats.org/drawingml/2006/main" noGrp="1"/>
          </p:cNvSpPr>
          <p:nvPr/>
        </p:nvSpPr>
        <p:spPr>
          <a:xfrm xmlns:a="http://schemas.openxmlformats.org/drawingml/2006/main">
            <a:off x="571500" y="6619875"/>
            <a:ext cx="14097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A: −€ 81     B: +€ 27     Totaal CS: −€ 54 per week</a:t>
            </a:r>
          </a:p>
        </p:txBody>
      </p:sp>
      <p:sp>
        <p:nvSpPr>
          <p:cNvPr id="8" name="CS samen: € 234 → € 180 per week">
            <a:extLst xmlns:a="http://schemas.openxmlformats.org/drawingml/2006/main">
              <a:ext uri="{FF2B5EF4-FFF2-40B4-BE49-F238E27FC236}">
                <a16:creationId xmlns:a16="http://schemas.microsoft.com/office/drawing/2014/main" id="{D62CF34E-F73C-4223-8ABA-C5EE410A0B2D}"/>
              </a:ext>
            </a:extLst>
          </p:cNvPr>
          <p:cNvSpPr>
            <a:spLocks xmlns:a="http://schemas.openxmlformats.org/drawingml/2006/main" noGrp="1"/>
          </p:cNvSpPr>
          <p:nvPr/>
        </p:nvSpPr>
        <p:spPr>
          <a:xfrm xmlns:a="http://schemas.openxmlformats.org/drawingml/2006/main">
            <a:off x="571500" y="7448550"/>
            <a:ext cx="140970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CS samen: € 234 → € 180 per week</a:t>
            </a:r>
          </a:p>
        </p:txBody>
      </p:sp>
    </p:spTree>
    <p:extLst>
      <p:ext uri="{BB962C8B-B14F-4D97-AF65-F5344CB8AC3E}">
        <p14:creationId xmlns:p14="http://schemas.microsoft.com/office/powerpoint/2010/main" val="1686952947"/>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Winst en totaal surplus zijn andere uitkomsten">
            <a:extLst xmlns:a="http://schemas.openxmlformats.org/drawingml/2006/main">
              <a:ext uri="{FF2B5EF4-FFF2-40B4-BE49-F238E27FC236}">
                <a16:creationId xmlns:a16="http://schemas.microsoft.com/office/drawing/2014/main" id="{916B9293-E5BD-4792-82E2-197BBC51DC91}"/>
              </a:ext>
            </a:extLst>
          </p:cNvPr>
          <p:cNvSpPr>
            <a:spLocks xmlns:a="http://schemas.openxmlformats.org/drawingml/2006/main" noGrp="1"/>
          </p:cNvSpPr>
          <p:nvPr/>
        </p:nvSpPr>
        <p:spPr>
          <a:xfrm xmlns:a="http://schemas.openxmlformats.org/drawingml/2006/main">
            <a:off x="571500" y="400050"/>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Winst en totaal surplus zijn andere uitkomsten</a:t>
            </a:r>
          </a:p>
        </p:txBody>
      </p:sp>
      <p:sp>
        <p:nvSpPr>
          <p:cNvPr id="2" name="">
            <a:extLst xmlns:a="http://schemas.openxmlformats.org/drawingml/2006/main">
              <a:ext uri="{FF2B5EF4-FFF2-40B4-BE49-F238E27FC236}">
                <a16:creationId xmlns:a16="http://schemas.microsoft.com/office/drawing/2014/main" id="{E20EDDD4-EDC2-4E9E-8BAF-93EA52B435E1}"/>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2 Prijsdiscriminatie">
            <a:extLst xmlns:a="http://schemas.openxmlformats.org/drawingml/2006/main">
              <a:ext uri="{FF2B5EF4-FFF2-40B4-BE49-F238E27FC236}">
                <a16:creationId xmlns:a16="http://schemas.microsoft.com/office/drawing/2014/main" id="{163E3AF1-D11C-4AFF-84D7-DC5DE379982F}"/>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§4.2.2 Prijsdiscriminatie</a:t>
            </a:r>
          </a:p>
        </p:txBody>
      </p:sp>
      <p:sp>
        <p:nvSpPr>
          <p:cNvPr id="4" name="slide-number">
            <a:extLst xmlns:a="http://schemas.openxmlformats.org/drawingml/2006/main">
              <a:ext uri="{FF2B5EF4-FFF2-40B4-BE49-F238E27FC236}">
                <a16:creationId xmlns:a16="http://schemas.microsoft.com/office/drawing/2014/main" id="{E80BEBE1-B6A2-4A2E-AA0E-B7907EAF3181}"/>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11</a:t>
            </a:r>
          </a:p>
        </p:txBody>
      </p:sp>
      <p:sp>
        <p:nvSpPr>
          <p:cNvPr id="5" name="Uitlegvoorbeeld — niet uit het boek · Sterrenkoepel">
            <a:extLst xmlns:a="http://schemas.openxmlformats.org/drawingml/2006/main">
              <a:ext uri="{FF2B5EF4-FFF2-40B4-BE49-F238E27FC236}">
                <a16:creationId xmlns:a16="http://schemas.microsoft.com/office/drawing/2014/main" id="{18F47685-5CA3-4F1C-B4B3-AC5BA1150440}"/>
              </a:ext>
            </a:extLst>
          </p:cNvPr>
          <p:cNvSpPr>
            <a:spLocks xmlns:a="http://schemas.openxmlformats.org/drawingml/2006/main" noGrp="1"/>
          </p:cNvSpPr>
          <p:nvPr/>
        </p:nvSpPr>
        <p:spPr>
          <a:xfrm xmlns:a="http://schemas.openxmlformats.org/drawingml/2006/main">
            <a:off x="571500" y="1685925"/>
            <a:ext cx="14097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17658A"/>
                </a:solidFill>
                <a:latin typeface="Arial"/>
                <a:ea typeface="Arial"/>
                <a:cs typeface="Arial"/>
              </a:defRPr>
            </a:pPr>
            <a:r>
              <a:rPr sz="2100" b="1">
                <a:solidFill>
                  <a:srgbClr val="17658A"/>
                </a:solidFill>
                <a:latin typeface="Arial"/>
                <a:ea typeface="Arial"/>
                <a:cs typeface="Arial"/>
              </a:rPr>
              <a:t>Uitlegvoorbeeld — niet uit het boek · Sterrenkoepel</a:t>
            </a:r>
          </a:p>
        </p:txBody>
      </p:sp>
      <p:sp>
        <p:nvSpPr>
          <p:cNvPr id="6" name="PS = TO − TVK     Winst = PS − TCK     TS = CS + PS">
            <a:extLst xmlns:a="http://schemas.openxmlformats.org/drawingml/2006/main">
              <a:ext uri="{FF2B5EF4-FFF2-40B4-BE49-F238E27FC236}">
                <a16:creationId xmlns:a16="http://schemas.microsoft.com/office/drawing/2014/main" id="{C4D58990-3E53-4748-88F9-DBC4AA1AAEA5}"/>
              </a:ext>
            </a:extLst>
          </p:cNvPr>
          <p:cNvSpPr>
            <a:spLocks xmlns:a="http://schemas.openxmlformats.org/drawingml/2006/main" noGrp="1"/>
          </p:cNvSpPr>
          <p:nvPr/>
        </p:nvSpPr>
        <p:spPr>
          <a:xfrm xmlns:a="http://schemas.openxmlformats.org/drawingml/2006/main">
            <a:off x="571500" y="2333625"/>
            <a:ext cx="140970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PS = TO − TVK     Winst = PS − TCK     TS = CS + PS</a:t>
            </a:r>
          </a:p>
        </p:txBody>
      </p:sp>
      <p:graphicFrame>
        <p:nvGraphicFramePr>
          <p:cNvPr id="15" name=""/>
          <p:cNvGraphicFramePr/>
          <p:nvPr/>
        </p:nvGraphicFramePr>
        <p:xfrm>
          <a:off xmlns:a="http://schemas.openxmlformats.org/drawingml/2006/main" x="571500" y="3486150"/>
          <a:ext xmlns:a="http://schemas.openxmlformats.org/drawingml/2006/main" cx="14097000" cy="3476625"/>
        </p:xfrm>
        <a:graphic xmlns:a="http://schemas.openxmlformats.org/drawingml/2006/main">
          <a:graphicData uri="http://schemas.openxmlformats.org/drawingml/2006/table">
            <a:tbl>
              <a:tblPr/>
              <a:tblGrid>
                <a:gridCol w="5524500"/>
                <a:gridCol w="4286250"/>
                <a:gridCol w="4286250"/>
              </a:tblGrid>
              <a:tr h="695325">
                <a:tc>
                  <a:txBody>
                    <a:bodyPr lIns="171450" tIns="95250" rIns="152400" bIns="95250"/>
                    <a:lstStyle/>
                    <a:p>
                      <a:r>
                        <a:rPr sz="2475" b="1">
                          <a:solidFill>
                            <a:srgbClr val="FFFFFF"/>
                          </a:solidFill>
                          <a:latin typeface="Arial"/>
                          <a:ea typeface="Arial"/>
                          <a:cs typeface="Arial"/>
                        </a:rPr>
                        <a:t>€ per week</a:t>
                      </a:r>
                    </a:p>
                  </a:txBody>
                  <a:tcPr marL="91440" marR="91440" marT="45720" marB="45720" anchor="ctr">
                    <a:solidFill>
                      <a:srgbClr val="183247"/>
                    </a:solidFill>
                  </a:tcPr>
                </a:tc>
                <a:tc>
                  <a:txBody>
                    <a:bodyPr lIns="171450" tIns="95250" rIns="152400" bIns="95250"/>
                    <a:lstStyle/>
                    <a:p>
                      <a:r>
                        <a:rPr sz="2475" b="1">
                          <a:solidFill>
                            <a:srgbClr val="FFFFFF"/>
                          </a:solidFill>
                          <a:latin typeface="Arial"/>
                          <a:ea typeface="Arial"/>
                          <a:cs typeface="Arial"/>
                        </a:rPr>
                        <a:t>Eén prijs</a:t>
                      </a:r>
                    </a:p>
                  </a:txBody>
                  <a:tcPr marL="91440" marR="91440" marT="45720" marB="45720" anchor="ctr">
                    <a:solidFill>
                      <a:srgbClr val="183247"/>
                    </a:solidFill>
                  </a:tcPr>
                </a:tc>
                <a:tc>
                  <a:txBody>
                    <a:bodyPr lIns="171450" tIns="95250" rIns="152400" bIns="95250"/>
                    <a:lstStyle/>
                    <a:p>
                      <a:r>
                        <a:rPr sz="2475" b="1">
                          <a:solidFill>
                            <a:srgbClr val="FFFFFF"/>
                          </a:solidFill>
                          <a:latin typeface="Arial"/>
                          <a:ea typeface="Arial"/>
                          <a:cs typeface="Arial"/>
                        </a:rPr>
                        <a:t>Groepsprijzen</a:t>
                      </a:r>
                    </a:p>
                  </a:txBody>
                  <a:tcPr marL="91440" marR="91440" marT="45720" marB="45720" anchor="ctr">
                    <a:solidFill>
                      <a:srgbClr val="183247"/>
                    </a:solidFill>
                  </a:tcPr>
                </a:tc>
              </a:tr>
              <a:tr h="695325">
                <a:tc>
                  <a:txBody>
                    <a:bodyPr lIns="171450" tIns="95250" rIns="152400" bIns="95250"/>
                    <a:lstStyle/>
                    <a:p>
                      <a:r>
                        <a:rPr sz="2475" b="0">
                          <a:solidFill>
                            <a:srgbClr val="183247"/>
                          </a:solidFill>
                          <a:latin typeface="Arial"/>
                          <a:ea typeface="Arial"/>
                          <a:cs typeface="Arial"/>
                        </a:rPr>
                        <a:t>CS</a:t>
                      </a:r>
                    </a:p>
                  </a:txBody>
                  <a:tcPr marL="91440" marR="91440" marT="45720" marB="45720" anchor="ctr">
                    <a:solidFill>
                      <a:srgbClr val="FFFFFF"/>
                    </a:solidFill>
                  </a:tcPr>
                </a:tc>
                <a:tc>
                  <a:txBody>
                    <a:bodyPr lIns="171450" tIns="95250" rIns="152400" bIns="95250"/>
                    <a:lstStyle/>
                    <a:p>
                      <a:r>
                        <a:rPr sz="2475" b="0">
                          <a:solidFill>
                            <a:srgbClr val="183247"/>
                          </a:solidFill>
                          <a:latin typeface="Arial"/>
                          <a:ea typeface="Arial"/>
                          <a:cs typeface="Arial"/>
                        </a:rPr>
                        <a:t>234</a:t>
                      </a:r>
                    </a:p>
                  </a:txBody>
                  <a:tcPr marL="91440" marR="91440" marT="45720" marB="45720" anchor="ctr">
                    <a:solidFill>
                      <a:srgbClr val="FFFFFF"/>
                    </a:solidFill>
                  </a:tcPr>
                </a:tc>
                <a:tc>
                  <a:txBody>
                    <a:bodyPr lIns="171450" tIns="95250" rIns="152400" bIns="95250"/>
                    <a:lstStyle/>
                    <a:p>
                      <a:r>
                        <a:rPr sz="2475" b="0">
                          <a:solidFill>
                            <a:srgbClr val="183247"/>
                          </a:solidFill>
                          <a:latin typeface="Arial"/>
                          <a:ea typeface="Arial"/>
                          <a:cs typeface="Arial"/>
                        </a:rPr>
                        <a:t>180</a:t>
                      </a:r>
                    </a:p>
                  </a:txBody>
                  <a:tcPr marL="91440" marR="91440" marT="45720" marB="45720" anchor="ctr">
                    <a:solidFill>
                      <a:srgbClr val="FFFFFF"/>
                    </a:solidFill>
                  </a:tcPr>
                </a:tc>
              </a:tr>
              <a:tr h="695325">
                <a:tc>
                  <a:txBody>
                    <a:bodyPr lIns="171450" tIns="95250" rIns="152400" bIns="95250"/>
                    <a:lstStyle/>
                    <a:p>
                      <a:r>
                        <a:rPr sz="2475" b="0">
                          <a:solidFill>
                            <a:srgbClr val="183247"/>
                          </a:solidFill>
                          <a:latin typeface="Arial"/>
                          <a:ea typeface="Arial"/>
                          <a:cs typeface="Arial"/>
                        </a:rPr>
                        <a:t>PS</a:t>
                      </a:r>
                    </a:p>
                  </a:txBody>
                  <a:tcPr marL="91440" marR="91440" marT="45720" marB="45720" anchor="ctr">
                    <a:solidFill>
                      <a:srgbClr val="EFF4F7"/>
                    </a:solidFill>
                  </a:tcPr>
                </a:tc>
                <a:tc>
                  <a:txBody>
                    <a:bodyPr lIns="171450" tIns="95250" rIns="152400" bIns="95250"/>
                    <a:lstStyle/>
                    <a:p>
                      <a:r>
                        <a:rPr sz="2475" b="0">
                          <a:solidFill>
                            <a:srgbClr val="183247"/>
                          </a:solidFill>
                          <a:latin typeface="Arial"/>
                          <a:ea typeface="Arial"/>
                          <a:cs typeface="Arial"/>
                        </a:rPr>
                        <a:t>432 − 108 = 324</a:t>
                      </a:r>
                    </a:p>
                  </a:txBody>
                  <a:tcPr marL="91440" marR="91440" marT="45720" marB="45720" anchor="ctr">
                    <a:solidFill>
                      <a:srgbClr val="EFF4F7"/>
                    </a:solidFill>
                  </a:tcPr>
                </a:tc>
                <a:tc>
                  <a:txBody>
                    <a:bodyPr lIns="171450" tIns="95250" rIns="152400" bIns="95250"/>
                    <a:lstStyle/>
                    <a:p>
                      <a:r>
                        <a:rPr sz="2475" b="0">
                          <a:solidFill>
                            <a:srgbClr val="183247"/>
                          </a:solidFill>
                          <a:latin typeface="Arial"/>
                          <a:ea typeface="Arial"/>
                          <a:cs typeface="Arial"/>
                        </a:rPr>
                        <a:t>468 − 108 = 360</a:t>
                      </a:r>
                    </a:p>
                  </a:txBody>
                  <a:tcPr marL="91440" marR="91440" marT="45720" marB="45720" anchor="ctr">
                    <a:solidFill>
                      <a:srgbClr val="EFF4F7"/>
                    </a:solidFill>
                  </a:tcPr>
                </a:tc>
              </a:tr>
              <a:tr h="695325">
                <a:tc>
                  <a:txBody>
                    <a:bodyPr lIns="171450" tIns="95250" rIns="152400" bIns="95250"/>
                    <a:lstStyle/>
                    <a:p>
                      <a:r>
                        <a:rPr sz="2475" b="0">
                          <a:solidFill>
                            <a:srgbClr val="183247"/>
                          </a:solidFill>
                          <a:latin typeface="Arial"/>
                          <a:ea typeface="Arial"/>
                          <a:cs typeface="Arial"/>
                        </a:rPr>
                        <a:t>TS = CS + PS</a:t>
                      </a:r>
                    </a:p>
                  </a:txBody>
                  <a:tcPr marL="91440" marR="91440" marT="45720" marB="45720" anchor="ctr">
                    <a:solidFill>
                      <a:srgbClr val="FFFFFF"/>
                    </a:solidFill>
                  </a:tcPr>
                </a:tc>
                <a:tc>
                  <a:txBody>
                    <a:bodyPr lIns="171450" tIns="95250" rIns="152400" bIns="95250"/>
                    <a:lstStyle/>
                    <a:p>
                      <a:r>
                        <a:rPr sz="2475" b="0">
                          <a:solidFill>
                            <a:srgbClr val="183247"/>
                          </a:solidFill>
                          <a:latin typeface="Arial"/>
                          <a:ea typeface="Arial"/>
                          <a:cs typeface="Arial"/>
                        </a:rPr>
                        <a:t>558</a:t>
                      </a:r>
                    </a:p>
                  </a:txBody>
                  <a:tcPr marL="91440" marR="91440" marT="45720" marB="45720" anchor="ctr">
                    <a:solidFill>
                      <a:srgbClr val="FFFFFF"/>
                    </a:solidFill>
                  </a:tcPr>
                </a:tc>
                <a:tc>
                  <a:txBody>
                    <a:bodyPr lIns="171450" tIns="95250" rIns="152400" bIns="95250"/>
                    <a:lstStyle/>
                    <a:p>
                      <a:r>
                        <a:rPr sz="2475" b="0">
                          <a:solidFill>
                            <a:srgbClr val="183247"/>
                          </a:solidFill>
                          <a:latin typeface="Arial"/>
                          <a:ea typeface="Arial"/>
                          <a:cs typeface="Arial"/>
                        </a:rPr>
                        <a:t>540</a:t>
                      </a:r>
                    </a:p>
                  </a:txBody>
                  <a:tcPr marL="91440" marR="91440" marT="45720" marB="45720" anchor="ctr">
                    <a:solidFill>
                      <a:srgbClr val="FFFFFF"/>
                    </a:solidFill>
                  </a:tcPr>
                </a:tc>
              </a:tr>
              <a:tr h="695325">
                <a:tc>
                  <a:txBody>
                    <a:bodyPr lIns="171450" tIns="95250" rIns="152400" bIns="95250"/>
                    <a:lstStyle/>
                    <a:p>
                      <a:r>
                        <a:rPr sz="2475" b="0">
                          <a:solidFill>
                            <a:srgbClr val="183247"/>
                          </a:solidFill>
                          <a:latin typeface="Arial"/>
                          <a:ea typeface="Arial"/>
                          <a:cs typeface="Arial"/>
                        </a:rPr>
                        <a:t>Winst = PS − 72</a:t>
                      </a:r>
                    </a:p>
                  </a:txBody>
                  <a:tcPr marL="91440" marR="91440" marT="45720" marB="45720" anchor="ctr">
                    <a:solidFill>
                      <a:srgbClr val="EFF4F7"/>
                    </a:solidFill>
                  </a:tcPr>
                </a:tc>
                <a:tc>
                  <a:txBody>
                    <a:bodyPr lIns="171450" tIns="95250" rIns="152400" bIns="95250"/>
                    <a:lstStyle/>
                    <a:p>
                      <a:r>
                        <a:rPr sz="2475" b="0">
                          <a:solidFill>
                            <a:srgbClr val="183247"/>
                          </a:solidFill>
                          <a:latin typeface="Arial"/>
                          <a:ea typeface="Arial"/>
                          <a:cs typeface="Arial"/>
                        </a:rPr>
                        <a:t>252</a:t>
                      </a:r>
                    </a:p>
                  </a:txBody>
                  <a:tcPr marL="91440" marR="91440" marT="45720" marB="45720" anchor="ctr">
                    <a:solidFill>
                      <a:srgbClr val="EFF4F7"/>
                    </a:solidFill>
                  </a:tcPr>
                </a:tc>
                <a:tc>
                  <a:txBody>
                    <a:bodyPr lIns="171450" tIns="95250" rIns="152400" bIns="95250"/>
                    <a:lstStyle/>
                    <a:p>
                      <a:r>
                        <a:rPr sz="2475" b="0">
                          <a:solidFill>
                            <a:srgbClr val="183247"/>
                          </a:solidFill>
                          <a:latin typeface="Arial"/>
                          <a:ea typeface="Arial"/>
                          <a:cs typeface="Arial"/>
                        </a:rPr>
                        <a:t>288</a:t>
                      </a:r>
                    </a:p>
                  </a:txBody>
                  <a:tcPr marL="91440" marR="91440" marT="45720" marB="45720" anchor="ctr">
                    <a:solidFill>
                      <a:srgbClr val="EFF4F7"/>
                    </a:solidFill>
                  </a:tcPr>
                </a:tc>
              </a:tr>
            </a:tbl>
          </a:graphicData>
        </a:graphic>
      </p:graphicFrame>
      <p:sp>
        <p:nvSpPr>
          <p:cNvPr id="8" name="Winst: +€ 36     Totaal surplus: −€ 18 per week">
            <a:extLst xmlns:a="http://schemas.openxmlformats.org/drawingml/2006/main">
              <a:ext uri="{FF2B5EF4-FFF2-40B4-BE49-F238E27FC236}">
                <a16:creationId xmlns:a16="http://schemas.microsoft.com/office/drawing/2014/main" id="{F3C89B99-4B8B-4862-8D99-7BD0FC29E1E3}"/>
              </a:ext>
            </a:extLst>
          </p:cNvPr>
          <p:cNvSpPr>
            <a:spLocks xmlns:a="http://schemas.openxmlformats.org/drawingml/2006/main" noGrp="1"/>
          </p:cNvSpPr>
          <p:nvPr/>
        </p:nvSpPr>
        <p:spPr>
          <a:xfrm xmlns:a="http://schemas.openxmlformats.org/drawingml/2006/main">
            <a:off x="571500" y="7439025"/>
            <a:ext cx="140970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A94D16"/>
                </a:solidFill>
                <a:latin typeface="Arial"/>
                <a:ea typeface="Arial"/>
                <a:cs typeface="Arial"/>
              </a:defRPr>
            </a:pPr>
            <a:r>
              <a:rPr sz="2775" b="1">
                <a:solidFill>
                  <a:srgbClr val="A94D16"/>
                </a:solidFill>
                <a:latin typeface="Arial"/>
                <a:ea typeface="Arial"/>
                <a:cs typeface="Arial"/>
              </a:rPr>
              <a:t>Winst: +€ 36     Totaal surplus: −€ 18 per week</a:t>
            </a:r>
          </a:p>
        </p:txBody>
      </p:sp>
    </p:spTree>
    <p:extLst>
      <p:ext uri="{BB962C8B-B14F-4D97-AF65-F5344CB8AC3E}">
        <p14:creationId xmlns:p14="http://schemas.microsoft.com/office/powerpoint/2010/main" val="1382792260"/>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Prijsgevoeligheid vraagt gegevens over gedrag">
            <a:extLst xmlns:a="http://schemas.openxmlformats.org/drawingml/2006/main">
              <a:ext uri="{FF2B5EF4-FFF2-40B4-BE49-F238E27FC236}">
                <a16:creationId xmlns:a16="http://schemas.microsoft.com/office/drawing/2014/main" id="{78279EAB-E1FF-4E8F-AD07-47399612F688}"/>
              </a:ext>
            </a:extLst>
          </p:cNvPr>
          <p:cNvSpPr>
            <a:spLocks xmlns:a="http://schemas.openxmlformats.org/drawingml/2006/main" noGrp="1"/>
          </p:cNvSpPr>
          <p:nvPr/>
        </p:nvSpPr>
        <p:spPr>
          <a:xfrm xmlns:a="http://schemas.openxmlformats.org/drawingml/2006/main">
            <a:off x="571500" y="400050"/>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Prijsgevoeligheid vraagt gegevens over gedrag</a:t>
            </a:r>
          </a:p>
        </p:txBody>
      </p:sp>
      <p:sp>
        <p:nvSpPr>
          <p:cNvPr id="2" name="">
            <a:extLst xmlns:a="http://schemas.openxmlformats.org/drawingml/2006/main">
              <a:ext uri="{FF2B5EF4-FFF2-40B4-BE49-F238E27FC236}">
                <a16:creationId xmlns:a16="http://schemas.microsoft.com/office/drawing/2014/main" id="{57D27F1D-D0CE-4B67-8132-9C01F2975AF4}"/>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2 Prijsdiscriminatie">
            <a:extLst xmlns:a="http://schemas.openxmlformats.org/drawingml/2006/main">
              <a:ext uri="{FF2B5EF4-FFF2-40B4-BE49-F238E27FC236}">
                <a16:creationId xmlns:a16="http://schemas.microsoft.com/office/drawing/2014/main" id="{07AB5FA2-B254-488B-A582-0FF086F8EC39}"/>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§4.2.2 Prijsdiscriminatie</a:t>
            </a:r>
          </a:p>
        </p:txBody>
      </p:sp>
      <p:sp>
        <p:nvSpPr>
          <p:cNvPr id="4" name="slide-number">
            <a:extLst xmlns:a="http://schemas.openxmlformats.org/drawingml/2006/main">
              <a:ext uri="{FF2B5EF4-FFF2-40B4-BE49-F238E27FC236}">
                <a16:creationId xmlns:a16="http://schemas.microsoft.com/office/drawing/2014/main" id="{7DBC0830-5000-4DA7-9503-C7ECD6AC5BEF}"/>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12</a:t>
            </a:r>
          </a:p>
        </p:txBody>
      </p:sp>
      <p:sp>
        <p:nvSpPr>
          <p:cNvPr id="5" name="Goede alternatieven">
            <a:extLst xmlns:a="http://schemas.openxmlformats.org/drawingml/2006/main">
              <a:ext uri="{FF2B5EF4-FFF2-40B4-BE49-F238E27FC236}">
                <a16:creationId xmlns:a16="http://schemas.microsoft.com/office/drawing/2014/main" id="{23DEC442-F22C-449A-8E6F-C843FB359995}"/>
              </a:ext>
            </a:extLst>
          </p:cNvPr>
          <p:cNvSpPr>
            <a:spLocks xmlns:a="http://schemas.openxmlformats.org/drawingml/2006/main" noGrp="1"/>
          </p:cNvSpPr>
          <p:nvPr/>
        </p:nvSpPr>
        <p:spPr>
          <a:xfrm xmlns:a="http://schemas.openxmlformats.org/drawingml/2006/main">
            <a:off x="571500" y="2000250"/>
            <a:ext cx="5905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7658A"/>
                </a:solidFill>
                <a:latin typeface="Arial"/>
                <a:ea typeface="Arial"/>
                <a:cs typeface="Arial"/>
              </a:defRPr>
            </a:pPr>
            <a:r>
              <a:rPr sz="2850" b="1">
                <a:solidFill>
                  <a:srgbClr val="17658A"/>
                </a:solidFill>
                <a:latin typeface="Arial"/>
                <a:ea typeface="Arial"/>
                <a:cs typeface="Arial"/>
              </a:rPr>
              <a:t>Goede alternatieven</a:t>
            </a:r>
          </a:p>
        </p:txBody>
      </p:sp>
      <p:sp>
        <p:nvSpPr>
          <p:cNvPr id="6" name="Kopers kunnen gemakkelijker uitwijken.">
            <a:extLst xmlns:a="http://schemas.openxmlformats.org/drawingml/2006/main">
              <a:ext uri="{FF2B5EF4-FFF2-40B4-BE49-F238E27FC236}">
                <a16:creationId xmlns:a16="http://schemas.microsoft.com/office/drawing/2014/main" id="{3CA14F06-C7A5-4335-B664-20763C0D9FA6}"/>
              </a:ext>
            </a:extLst>
          </p:cNvPr>
          <p:cNvSpPr>
            <a:spLocks xmlns:a="http://schemas.openxmlformats.org/drawingml/2006/main" noGrp="1"/>
          </p:cNvSpPr>
          <p:nvPr/>
        </p:nvSpPr>
        <p:spPr>
          <a:xfrm xmlns:a="http://schemas.openxmlformats.org/drawingml/2006/main">
            <a:off x="7191375" y="2000250"/>
            <a:ext cx="7381875"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Kopers kunnen gemakkelijker uitwijken.</a:t>
            </a:r>
          </a:p>
        </p:txBody>
      </p:sp>
      <p:sp>
        <p:nvSpPr>
          <p:cNvPr id="7" name="">
            <a:extLst xmlns:a="http://schemas.openxmlformats.org/drawingml/2006/main">
              <a:ext uri="{FF2B5EF4-FFF2-40B4-BE49-F238E27FC236}">
                <a16:creationId xmlns:a16="http://schemas.microsoft.com/office/drawing/2014/main" id="{EF8EBA32-FD03-492D-B3B9-29B0993B02E6}"/>
              </a:ext>
            </a:extLst>
          </p:cNvPr>
          <p:cNvSpPr>
            <a:spLocks xmlns:a="http://schemas.openxmlformats.org/drawingml/2006/main" noGrp="1"/>
          </p:cNvSpPr>
          <p:nvPr/>
        </p:nvSpPr>
        <p:spPr>
          <a:xfrm xmlns:a="http://schemas.openxmlformats.org/drawingml/2006/main">
            <a:off x="571500" y="3343275"/>
            <a:ext cx="14097000" cy="0"/>
          </a:xfrm>
          <a:prstGeom xmlns:a="http://schemas.openxmlformats.org/drawingml/2006/main" prst="line">
            <a:avLst/>
          </a:prstGeom>
          <a:ln xmlns:a="http://schemas.openxmlformats.org/drawingml/2006/main" w="19050">
            <a:solidFill>
              <a:srgbClr val="C6D2DB"/>
            </a:solidFill>
          </a:ln>
        </p:spPr>
      </p:sp>
      <p:sp>
        <p:nvSpPr>
          <p:cNvPr id="8" name="Sterke reactie op de prijs">
            <a:extLst xmlns:a="http://schemas.openxmlformats.org/drawingml/2006/main">
              <a:ext uri="{FF2B5EF4-FFF2-40B4-BE49-F238E27FC236}">
                <a16:creationId xmlns:a16="http://schemas.microsoft.com/office/drawing/2014/main" id="{B3F85689-711B-4327-B771-3ED37C78C2E7}"/>
              </a:ext>
            </a:extLst>
          </p:cNvPr>
          <p:cNvSpPr>
            <a:spLocks xmlns:a="http://schemas.openxmlformats.org/drawingml/2006/main" noGrp="1"/>
          </p:cNvSpPr>
          <p:nvPr/>
        </p:nvSpPr>
        <p:spPr>
          <a:xfrm xmlns:a="http://schemas.openxmlformats.org/drawingml/2006/main">
            <a:off x="571500" y="3686175"/>
            <a:ext cx="5905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7658A"/>
                </a:solidFill>
                <a:latin typeface="Arial"/>
                <a:ea typeface="Arial"/>
                <a:cs typeface="Arial"/>
              </a:defRPr>
            </a:pPr>
            <a:r>
              <a:rPr sz="2850" b="1">
                <a:solidFill>
                  <a:srgbClr val="17658A"/>
                </a:solidFill>
                <a:latin typeface="Arial"/>
                <a:ea typeface="Arial"/>
                <a:cs typeface="Arial"/>
              </a:rPr>
              <a:t>Sterke reactie op de prijs</a:t>
            </a:r>
          </a:p>
        </p:txBody>
      </p:sp>
      <p:sp>
        <p:nvSpPr>
          <p:cNvPr id="9" name="Een hoger tarief kan relatief veel kopers kosten.">
            <a:extLst xmlns:a="http://schemas.openxmlformats.org/drawingml/2006/main">
              <a:ext uri="{FF2B5EF4-FFF2-40B4-BE49-F238E27FC236}">
                <a16:creationId xmlns:a16="http://schemas.microsoft.com/office/drawing/2014/main" id="{A5516A72-8105-460C-BF20-0B7C78752E10}"/>
              </a:ext>
            </a:extLst>
          </p:cNvPr>
          <p:cNvSpPr>
            <a:spLocks xmlns:a="http://schemas.openxmlformats.org/drawingml/2006/main" noGrp="1"/>
          </p:cNvSpPr>
          <p:nvPr/>
        </p:nvSpPr>
        <p:spPr>
          <a:xfrm xmlns:a="http://schemas.openxmlformats.org/drawingml/2006/main">
            <a:off x="7191375" y="3686175"/>
            <a:ext cx="7381875"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Een hoger tarief kan relatief veel kopers kosten.</a:t>
            </a:r>
          </a:p>
        </p:txBody>
      </p:sp>
      <p:sp>
        <p:nvSpPr>
          <p:cNvPr id="10" name="">
            <a:extLst xmlns:a="http://schemas.openxmlformats.org/drawingml/2006/main">
              <a:ext uri="{FF2B5EF4-FFF2-40B4-BE49-F238E27FC236}">
                <a16:creationId xmlns:a16="http://schemas.microsoft.com/office/drawing/2014/main" id="{2827A9C6-99D0-49E3-AC85-8FAE5D6533EE}"/>
              </a:ext>
            </a:extLst>
          </p:cNvPr>
          <p:cNvSpPr>
            <a:spLocks xmlns:a="http://schemas.openxmlformats.org/drawingml/2006/main" noGrp="1"/>
          </p:cNvSpPr>
          <p:nvPr/>
        </p:nvSpPr>
        <p:spPr>
          <a:xfrm xmlns:a="http://schemas.openxmlformats.org/drawingml/2006/main">
            <a:off x="571500" y="5029200"/>
            <a:ext cx="14097000" cy="0"/>
          </a:xfrm>
          <a:prstGeom xmlns:a="http://schemas.openxmlformats.org/drawingml/2006/main" prst="line">
            <a:avLst/>
          </a:prstGeom>
          <a:ln xmlns:a="http://schemas.openxmlformats.org/drawingml/2006/main" w="19050">
            <a:solidFill>
              <a:srgbClr val="C6D2DB"/>
            </a:solidFill>
          </a:ln>
        </p:spPr>
      </p:sp>
      <p:sp>
        <p:nvSpPr>
          <p:cNvPr id="11" name="Lager tarief kan lonen">
            <a:extLst xmlns:a="http://schemas.openxmlformats.org/drawingml/2006/main">
              <a:ext uri="{FF2B5EF4-FFF2-40B4-BE49-F238E27FC236}">
                <a16:creationId xmlns:a16="http://schemas.microsoft.com/office/drawing/2014/main" id="{F166FCEF-C28F-4932-AE44-9C9233872C95}"/>
              </a:ext>
            </a:extLst>
          </p:cNvPr>
          <p:cNvSpPr>
            <a:spLocks xmlns:a="http://schemas.openxmlformats.org/drawingml/2006/main" noGrp="1"/>
          </p:cNvSpPr>
          <p:nvPr/>
        </p:nvSpPr>
        <p:spPr>
          <a:xfrm xmlns:a="http://schemas.openxmlformats.org/drawingml/2006/main">
            <a:off x="571500" y="5372100"/>
            <a:ext cx="5905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7658A"/>
                </a:solidFill>
                <a:latin typeface="Arial"/>
                <a:ea typeface="Arial"/>
                <a:cs typeface="Arial"/>
              </a:defRPr>
            </a:pPr>
            <a:r>
              <a:rPr sz="2850" b="1">
                <a:solidFill>
                  <a:srgbClr val="17658A"/>
                </a:solidFill>
                <a:latin typeface="Arial"/>
                <a:ea typeface="Arial"/>
                <a:cs typeface="Arial"/>
              </a:rPr>
              <a:t>Lager tarief kan lonen</a:t>
            </a:r>
          </a:p>
        </p:txBody>
      </p:sp>
      <p:sp>
        <p:nvSpPr>
          <p:cNvPr id="12" name="Beoordeel dit met de vraag en kosten uit de bron.">
            <a:extLst xmlns:a="http://schemas.openxmlformats.org/drawingml/2006/main">
              <a:ext uri="{FF2B5EF4-FFF2-40B4-BE49-F238E27FC236}">
                <a16:creationId xmlns:a16="http://schemas.microsoft.com/office/drawing/2014/main" id="{2E577C17-7A0D-44C0-A721-6427DCF1B589}"/>
              </a:ext>
            </a:extLst>
          </p:cNvPr>
          <p:cNvSpPr>
            <a:spLocks xmlns:a="http://schemas.openxmlformats.org/drawingml/2006/main" noGrp="1"/>
          </p:cNvSpPr>
          <p:nvPr/>
        </p:nvSpPr>
        <p:spPr>
          <a:xfrm xmlns:a="http://schemas.openxmlformats.org/drawingml/2006/main">
            <a:off x="7191375" y="5372100"/>
            <a:ext cx="7381875"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Beoordeel dit met de vraag en kosten uit de bron.</a:t>
            </a:r>
          </a:p>
        </p:txBody>
      </p:sp>
      <p:sp>
        <p:nvSpPr>
          <p:cNvPr id="13" name="Een groepsnaam of alleen een lijnhelling bewijst geen elasticite">
            <a:extLst xmlns:a="http://schemas.openxmlformats.org/drawingml/2006/main">
              <a:ext uri="{FF2B5EF4-FFF2-40B4-BE49-F238E27FC236}">
                <a16:creationId xmlns:a16="http://schemas.microsoft.com/office/drawing/2014/main" id="{730753DF-A88E-4AF6-83C5-C42796F2DD9C}"/>
              </a:ext>
            </a:extLst>
          </p:cNvPr>
          <p:cNvSpPr>
            <a:spLocks xmlns:a="http://schemas.openxmlformats.org/drawingml/2006/main" noGrp="1"/>
          </p:cNvSpPr>
          <p:nvPr/>
        </p:nvSpPr>
        <p:spPr>
          <a:xfrm xmlns:a="http://schemas.openxmlformats.org/drawingml/2006/main">
            <a:off x="571500" y="7381875"/>
            <a:ext cx="14097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83247"/>
                </a:solidFill>
                <a:latin typeface="Arial"/>
                <a:ea typeface="Arial"/>
                <a:cs typeface="Arial"/>
              </a:defRPr>
            </a:pPr>
            <a:r>
              <a:rPr sz="2400" b="1">
                <a:solidFill>
                  <a:srgbClr val="183247"/>
                </a:solidFill>
                <a:latin typeface="Arial"/>
                <a:ea typeface="Arial"/>
                <a:cs typeface="Arial"/>
              </a:rPr>
              <a:t>Een groepsnaam of alleen een lijnhelling bewijst geen elasticiteit.</a:t>
            </a:r>
          </a:p>
        </p:txBody>
      </p:sp>
    </p:spTree>
    <p:extLst>
      <p:ext uri="{BB962C8B-B14F-4D97-AF65-F5344CB8AC3E}">
        <p14:creationId xmlns:p14="http://schemas.microsoft.com/office/powerpoint/2010/main" val="709110584"/>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Korte controle vóór het oefenen">
            <a:extLst xmlns:a="http://schemas.openxmlformats.org/drawingml/2006/main">
              <a:ext uri="{FF2B5EF4-FFF2-40B4-BE49-F238E27FC236}">
                <a16:creationId xmlns:a16="http://schemas.microsoft.com/office/drawing/2014/main" id="{3FB08D6C-3736-4DEE-8705-B43B2AB63B99}"/>
              </a:ext>
            </a:extLst>
          </p:cNvPr>
          <p:cNvSpPr>
            <a:spLocks xmlns:a="http://schemas.openxmlformats.org/drawingml/2006/main" noGrp="1"/>
          </p:cNvSpPr>
          <p:nvPr/>
        </p:nvSpPr>
        <p:spPr>
          <a:xfrm xmlns:a="http://schemas.openxmlformats.org/drawingml/2006/main">
            <a:off x="571500" y="400050"/>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Korte controle vóór het oefenen</a:t>
            </a:r>
          </a:p>
        </p:txBody>
      </p:sp>
      <p:sp>
        <p:nvSpPr>
          <p:cNvPr id="2" name="">
            <a:extLst xmlns:a="http://schemas.openxmlformats.org/drawingml/2006/main">
              <a:ext uri="{FF2B5EF4-FFF2-40B4-BE49-F238E27FC236}">
                <a16:creationId xmlns:a16="http://schemas.microsoft.com/office/drawing/2014/main" id="{3A2A82BD-181A-4CDB-8EFA-29FD3BCAF5C4}"/>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2 Prijsdiscriminatie">
            <a:extLst xmlns:a="http://schemas.openxmlformats.org/drawingml/2006/main">
              <a:ext uri="{FF2B5EF4-FFF2-40B4-BE49-F238E27FC236}">
                <a16:creationId xmlns:a16="http://schemas.microsoft.com/office/drawing/2014/main" id="{D703E9E6-480B-4B2F-8669-7FD2F2A9B0CA}"/>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§4.2.2 Prijsdiscriminatie</a:t>
            </a:r>
          </a:p>
        </p:txBody>
      </p:sp>
      <p:sp>
        <p:nvSpPr>
          <p:cNvPr id="4" name="slide-number">
            <a:extLst xmlns:a="http://schemas.openxmlformats.org/drawingml/2006/main">
              <a:ext uri="{FF2B5EF4-FFF2-40B4-BE49-F238E27FC236}">
                <a16:creationId xmlns:a16="http://schemas.microsoft.com/office/drawing/2014/main" id="{68DE3D77-B1A0-4343-BB5D-C97B6269BDBE}"/>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13</a:t>
            </a:r>
          </a:p>
        </p:txBody>
      </p:sp>
      <p:sp>
        <p:nvSpPr>
          <p:cNvPr id="5" name="Uitlegvoorbeeld — niet uit het boek · Sterrenkoepel">
            <a:extLst xmlns:a="http://schemas.openxmlformats.org/drawingml/2006/main">
              <a:ext uri="{FF2B5EF4-FFF2-40B4-BE49-F238E27FC236}">
                <a16:creationId xmlns:a16="http://schemas.microsoft.com/office/drawing/2014/main" id="{38CE8446-59B9-4F0E-BA46-BFA9E91702CF}"/>
              </a:ext>
            </a:extLst>
          </p:cNvPr>
          <p:cNvSpPr>
            <a:spLocks xmlns:a="http://schemas.openxmlformats.org/drawingml/2006/main" noGrp="1"/>
          </p:cNvSpPr>
          <p:nvPr/>
        </p:nvSpPr>
        <p:spPr>
          <a:xfrm xmlns:a="http://schemas.openxmlformats.org/drawingml/2006/main">
            <a:off x="571500" y="1685925"/>
            <a:ext cx="14097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17658A"/>
                </a:solidFill>
                <a:latin typeface="Arial"/>
                <a:ea typeface="Arial"/>
                <a:cs typeface="Arial"/>
              </a:defRPr>
            </a:pPr>
            <a:r>
              <a:rPr sz="2100" b="1">
                <a:solidFill>
                  <a:srgbClr val="17658A"/>
                </a:solidFill>
                <a:latin typeface="Arial"/>
                <a:ea typeface="Arial"/>
                <a:cs typeface="Arial"/>
              </a:rPr>
              <a:t>Uitlegvoorbeeld — niet uit het boek · Sterrenkoepel</a:t>
            </a:r>
          </a:p>
        </p:txBody>
      </p:sp>
      <p:sp>
        <p:nvSpPr>
          <p:cNvPr id="6" name="MO_A = 6">
            <a:extLst xmlns:a="http://schemas.openxmlformats.org/drawingml/2006/main">
              <a:ext uri="{FF2B5EF4-FFF2-40B4-BE49-F238E27FC236}">
                <a16:creationId xmlns:a16="http://schemas.microsoft.com/office/drawing/2014/main" id="{E537A959-206B-444B-A4B9-6310ED6DF09C}"/>
              </a:ext>
            </a:extLst>
          </p:cNvPr>
          <p:cNvSpPr>
            <a:spLocks xmlns:a="http://schemas.openxmlformats.org/drawingml/2006/main" noGrp="1"/>
          </p:cNvSpPr>
          <p:nvPr/>
        </p:nvSpPr>
        <p:spPr>
          <a:xfrm xmlns:a="http://schemas.openxmlformats.org/drawingml/2006/main">
            <a:off x="571500" y="2457450"/>
            <a:ext cx="6096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MO_A = 6</a:t>
            </a:r>
          </a:p>
        </p:txBody>
      </p:sp>
      <p:sp>
        <p:nvSpPr>
          <p:cNvPr id="7" name="Is dit ook de verkoopprijs?">
            <a:extLst xmlns:a="http://schemas.openxmlformats.org/drawingml/2006/main">
              <a:ext uri="{FF2B5EF4-FFF2-40B4-BE49-F238E27FC236}">
                <a16:creationId xmlns:a16="http://schemas.microsoft.com/office/drawing/2014/main" id="{46DFEDB7-931E-45AE-96CE-6ABD2130891D}"/>
              </a:ext>
            </a:extLst>
          </p:cNvPr>
          <p:cNvSpPr>
            <a:spLocks xmlns:a="http://schemas.openxmlformats.org/drawingml/2006/main" noGrp="1"/>
          </p:cNvSpPr>
          <p:nvPr/>
        </p:nvSpPr>
        <p:spPr>
          <a:xfrm xmlns:a="http://schemas.openxmlformats.org/drawingml/2006/main">
            <a:off x="7191375" y="2457450"/>
            <a:ext cx="7381875"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Is dit ook de verkoopprijs?</a:t>
            </a:r>
          </a:p>
        </p:txBody>
      </p:sp>
      <p:sp>
        <p:nvSpPr>
          <p:cNvPr id="8" name="">
            <a:extLst xmlns:a="http://schemas.openxmlformats.org/drawingml/2006/main">
              <a:ext uri="{FF2B5EF4-FFF2-40B4-BE49-F238E27FC236}">
                <a16:creationId xmlns:a16="http://schemas.microsoft.com/office/drawing/2014/main" id="{0FA46FAC-D68B-4D26-9100-F46E3357FD05}"/>
              </a:ext>
            </a:extLst>
          </p:cNvPr>
          <p:cNvSpPr>
            <a:spLocks xmlns:a="http://schemas.openxmlformats.org/drawingml/2006/main" noGrp="1"/>
          </p:cNvSpPr>
          <p:nvPr/>
        </p:nvSpPr>
        <p:spPr>
          <a:xfrm xmlns:a="http://schemas.openxmlformats.org/drawingml/2006/main">
            <a:off x="571500" y="3819525"/>
            <a:ext cx="14097000" cy="0"/>
          </a:xfrm>
          <a:prstGeom xmlns:a="http://schemas.openxmlformats.org/drawingml/2006/main" prst="line">
            <a:avLst/>
          </a:prstGeom>
          <a:ln xmlns:a="http://schemas.openxmlformats.org/drawingml/2006/main" w="19050">
            <a:solidFill>
              <a:srgbClr val="C6D2DB"/>
            </a:solidFill>
          </a:ln>
        </p:spPr>
      </p:sp>
      <p:sp>
        <p:nvSpPr>
          <p:cNvPr id="9" name="Twee klantgroepen">
            <a:extLst xmlns:a="http://schemas.openxmlformats.org/drawingml/2006/main">
              <a:ext uri="{FF2B5EF4-FFF2-40B4-BE49-F238E27FC236}">
                <a16:creationId xmlns:a16="http://schemas.microsoft.com/office/drawing/2014/main" id="{DD2891E3-942C-4100-8E51-E004228D0495}"/>
              </a:ext>
            </a:extLst>
          </p:cNvPr>
          <p:cNvSpPr>
            <a:spLocks xmlns:a="http://schemas.openxmlformats.org/drawingml/2006/main" noGrp="1"/>
          </p:cNvSpPr>
          <p:nvPr/>
        </p:nvSpPr>
        <p:spPr>
          <a:xfrm xmlns:a="http://schemas.openxmlformats.org/drawingml/2006/main">
            <a:off x="571500" y="4076700"/>
            <a:ext cx="6096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Twee klantgroepen</a:t>
            </a:r>
          </a:p>
        </p:txBody>
      </p:sp>
      <p:sp>
        <p:nvSpPr>
          <p:cNvPr id="10" name="Hoe vaak trek je de gezamenlijke TCK af?">
            <a:extLst xmlns:a="http://schemas.openxmlformats.org/drawingml/2006/main">
              <a:ext uri="{FF2B5EF4-FFF2-40B4-BE49-F238E27FC236}">
                <a16:creationId xmlns:a16="http://schemas.microsoft.com/office/drawing/2014/main" id="{7F254741-78C0-4795-8C5E-90204AA7AC94}"/>
              </a:ext>
            </a:extLst>
          </p:cNvPr>
          <p:cNvSpPr>
            <a:spLocks xmlns:a="http://schemas.openxmlformats.org/drawingml/2006/main" noGrp="1"/>
          </p:cNvSpPr>
          <p:nvPr/>
        </p:nvSpPr>
        <p:spPr>
          <a:xfrm xmlns:a="http://schemas.openxmlformats.org/drawingml/2006/main">
            <a:off x="7191375" y="4076700"/>
            <a:ext cx="7381875"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Hoe vaak trek je de gezamenlijke TCK af?</a:t>
            </a:r>
          </a:p>
        </p:txBody>
      </p:sp>
      <p:sp>
        <p:nvSpPr>
          <p:cNvPr id="11" name="">
            <a:extLst xmlns:a="http://schemas.openxmlformats.org/drawingml/2006/main">
              <a:ext uri="{FF2B5EF4-FFF2-40B4-BE49-F238E27FC236}">
                <a16:creationId xmlns:a16="http://schemas.microsoft.com/office/drawing/2014/main" id="{AB5A1FED-5EEC-4CD8-A932-DB33C3F599A6}"/>
              </a:ext>
            </a:extLst>
          </p:cNvPr>
          <p:cNvSpPr>
            <a:spLocks xmlns:a="http://schemas.openxmlformats.org/drawingml/2006/main" noGrp="1"/>
          </p:cNvSpPr>
          <p:nvPr/>
        </p:nvSpPr>
        <p:spPr>
          <a:xfrm xmlns:a="http://schemas.openxmlformats.org/drawingml/2006/main">
            <a:off x="571500" y="5438775"/>
            <a:ext cx="14097000" cy="0"/>
          </a:xfrm>
          <a:prstGeom xmlns:a="http://schemas.openxmlformats.org/drawingml/2006/main" prst="line">
            <a:avLst/>
          </a:prstGeom>
          <a:ln xmlns:a="http://schemas.openxmlformats.org/drawingml/2006/main" w="19050">
            <a:solidFill>
              <a:srgbClr val="C6D2DB"/>
            </a:solidFill>
          </a:ln>
        </p:spPr>
      </p:sp>
      <p:sp>
        <p:nvSpPr>
          <p:cNvPr id="12" name="De winst stijgt">
            <a:extLst xmlns:a="http://schemas.openxmlformats.org/drawingml/2006/main">
              <a:ext uri="{FF2B5EF4-FFF2-40B4-BE49-F238E27FC236}">
                <a16:creationId xmlns:a16="http://schemas.microsoft.com/office/drawing/2014/main" id="{565FCA46-5AA9-4F42-91A8-9AA354509A98}"/>
              </a:ext>
            </a:extLst>
          </p:cNvPr>
          <p:cNvSpPr>
            <a:spLocks xmlns:a="http://schemas.openxmlformats.org/drawingml/2006/main" noGrp="1"/>
          </p:cNvSpPr>
          <p:nvPr/>
        </p:nvSpPr>
        <p:spPr>
          <a:xfrm xmlns:a="http://schemas.openxmlformats.org/drawingml/2006/main">
            <a:off x="571500" y="5695950"/>
            <a:ext cx="6096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De winst stijgt</a:t>
            </a:r>
          </a:p>
        </p:txBody>
      </p:sp>
      <p:sp>
        <p:nvSpPr>
          <p:cNvPr id="13" name="Wat controleer je voor een&#10;welvaartsconclusie?">
            <a:extLst xmlns:a="http://schemas.openxmlformats.org/drawingml/2006/main">
              <a:ext uri="{FF2B5EF4-FFF2-40B4-BE49-F238E27FC236}">
                <a16:creationId xmlns:a16="http://schemas.microsoft.com/office/drawing/2014/main" id="{2604B71C-6E79-4066-A2CF-80025AC94B51}"/>
              </a:ext>
            </a:extLst>
          </p:cNvPr>
          <p:cNvSpPr>
            <a:spLocks xmlns:a="http://schemas.openxmlformats.org/drawingml/2006/main" noGrp="1"/>
          </p:cNvSpPr>
          <p:nvPr/>
        </p:nvSpPr>
        <p:spPr>
          <a:xfrm xmlns:a="http://schemas.openxmlformats.org/drawingml/2006/main">
            <a:off x="7191375" y="5695950"/>
            <a:ext cx="7381875"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Wat controleer je voor een</a:t>
            </a:r>
          </a:p>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welvaartsconclusie?</a:t>
            </a:r>
          </a:p>
        </p:txBody>
      </p:sp>
    </p:spTree>
    <p:extLst>
      <p:ext uri="{BB962C8B-B14F-4D97-AF65-F5344CB8AC3E}">
        <p14:creationId xmlns:p14="http://schemas.microsoft.com/office/powerpoint/2010/main" val="1850126891"/>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Controle: hoeveelheid, prijs en welvaart">
            <a:extLst xmlns:a="http://schemas.openxmlformats.org/drawingml/2006/main">
              <a:ext uri="{FF2B5EF4-FFF2-40B4-BE49-F238E27FC236}">
                <a16:creationId xmlns:a16="http://schemas.microsoft.com/office/drawing/2014/main" id="{87DDFE05-E8CB-4F1D-9DE1-EE33B9B63B08}"/>
              </a:ext>
            </a:extLst>
          </p:cNvPr>
          <p:cNvSpPr>
            <a:spLocks xmlns:a="http://schemas.openxmlformats.org/drawingml/2006/main" noGrp="1"/>
          </p:cNvSpPr>
          <p:nvPr/>
        </p:nvSpPr>
        <p:spPr>
          <a:xfrm xmlns:a="http://schemas.openxmlformats.org/drawingml/2006/main">
            <a:off x="571500" y="400050"/>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Controle: hoeveelheid, prijs en welvaart</a:t>
            </a:r>
          </a:p>
        </p:txBody>
      </p:sp>
      <p:sp>
        <p:nvSpPr>
          <p:cNvPr id="2" name="">
            <a:extLst xmlns:a="http://schemas.openxmlformats.org/drawingml/2006/main">
              <a:ext uri="{FF2B5EF4-FFF2-40B4-BE49-F238E27FC236}">
                <a16:creationId xmlns:a16="http://schemas.microsoft.com/office/drawing/2014/main" id="{B28E1CF4-9762-4ED5-A04A-A5654A2D2A75}"/>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2 Prijsdiscriminatie">
            <a:extLst xmlns:a="http://schemas.openxmlformats.org/drawingml/2006/main">
              <a:ext uri="{FF2B5EF4-FFF2-40B4-BE49-F238E27FC236}">
                <a16:creationId xmlns:a16="http://schemas.microsoft.com/office/drawing/2014/main" id="{B7BD85B7-AAD3-43D1-92A6-FF7A2BBF1E58}"/>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§4.2.2 Prijsdiscriminatie</a:t>
            </a:r>
          </a:p>
        </p:txBody>
      </p:sp>
      <p:sp>
        <p:nvSpPr>
          <p:cNvPr id="4" name="slide-number">
            <a:extLst xmlns:a="http://schemas.openxmlformats.org/drawingml/2006/main">
              <a:ext uri="{FF2B5EF4-FFF2-40B4-BE49-F238E27FC236}">
                <a16:creationId xmlns:a16="http://schemas.microsoft.com/office/drawing/2014/main" id="{3DDEEB6A-D702-40B1-A71E-1BD1BE41B298}"/>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14</a:t>
            </a:r>
          </a:p>
        </p:txBody>
      </p:sp>
      <p:sp>
        <p:nvSpPr>
          <p:cNvPr id="5" name="Uitlegvoorbeeld — niet uit het boek · Sterrenkoepel">
            <a:extLst xmlns:a="http://schemas.openxmlformats.org/drawingml/2006/main">
              <a:ext uri="{FF2B5EF4-FFF2-40B4-BE49-F238E27FC236}">
                <a16:creationId xmlns:a16="http://schemas.microsoft.com/office/drawing/2014/main" id="{25803734-A7E9-483D-B287-7C83274EB207}"/>
              </a:ext>
            </a:extLst>
          </p:cNvPr>
          <p:cNvSpPr>
            <a:spLocks xmlns:a="http://schemas.openxmlformats.org/drawingml/2006/main" noGrp="1"/>
          </p:cNvSpPr>
          <p:nvPr/>
        </p:nvSpPr>
        <p:spPr>
          <a:xfrm xmlns:a="http://schemas.openxmlformats.org/drawingml/2006/main">
            <a:off x="571500" y="1685925"/>
            <a:ext cx="14097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17658A"/>
                </a:solidFill>
                <a:latin typeface="Arial"/>
                <a:ea typeface="Arial"/>
                <a:cs typeface="Arial"/>
              </a:defRPr>
            </a:pPr>
            <a:r>
              <a:rPr sz="2100" b="1">
                <a:solidFill>
                  <a:srgbClr val="17658A"/>
                </a:solidFill>
                <a:latin typeface="Arial"/>
                <a:ea typeface="Arial"/>
                <a:cs typeface="Arial"/>
              </a:rPr>
              <a:t>Uitlegvoorbeeld — niet uit het boek · Sterrenkoepel</a:t>
            </a:r>
          </a:p>
        </p:txBody>
      </p:sp>
      <p:sp>
        <p:nvSpPr>
          <p:cNvPr id="6" name="Q_A = 12">
            <a:extLst xmlns:a="http://schemas.openxmlformats.org/drawingml/2006/main">
              <a:ext uri="{FF2B5EF4-FFF2-40B4-BE49-F238E27FC236}">
                <a16:creationId xmlns:a16="http://schemas.microsoft.com/office/drawing/2014/main" id="{95CD6E97-8F30-45D8-B5B5-3AC475597432}"/>
              </a:ext>
            </a:extLst>
          </p:cNvPr>
          <p:cNvSpPr>
            <a:spLocks xmlns:a="http://schemas.openxmlformats.org/drawingml/2006/main" noGrp="1"/>
          </p:cNvSpPr>
          <p:nvPr/>
        </p:nvSpPr>
        <p:spPr>
          <a:xfrm xmlns:a="http://schemas.openxmlformats.org/drawingml/2006/main">
            <a:off x="571500" y="2457450"/>
            <a:ext cx="6096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Q_A = 12</a:t>
            </a:r>
          </a:p>
        </p:txBody>
      </p:sp>
      <p:sp>
        <p:nvSpPr>
          <p:cNvPr id="7" name="Uit 54 − 4Q_A = 6.">
            <a:extLst xmlns:a="http://schemas.openxmlformats.org/drawingml/2006/main">
              <a:ext uri="{FF2B5EF4-FFF2-40B4-BE49-F238E27FC236}">
                <a16:creationId xmlns:a16="http://schemas.microsoft.com/office/drawing/2014/main" id="{88D36F54-D61A-4E2E-B42D-32AF9B558BD4}"/>
              </a:ext>
            </a:extLst>
          </p:cNvPr>
          <p:cNvSpPr>
            <a:spLocks xmlns:a="http://schemas.openxmlformats.org/drawingml/2006/main" noGrp="1"/>
          </p:cNvSpPr>
          <p:nvPr/>
        </p:nvSpPr>
        <p:spPr>
          <a:xfrm xmlns:a="http://schemas.openxmlformats.org/drawingml/2006/main">
            <a:off x="7191375" y="2457450"/>
            <a:ext cx="7381875"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Uit 54 − 4Q_A = 6.</a:t>
            </a:r>
          </a:p>
        </p:txBody>
      </p:sp>
      <p:sp>
        <p:nvSpPr>
          <p:cNvPr id="8" name="">
            <a:extLst xmlns:a="http://schemas.openxmlformats.org/drawingml/2006/main">
              <a:ext uri="{FF2B5EF4-FFF2-40B4-BE49-F238E27FC236}">
                <a16:creationId xmlns:a16="http://schemas.microsoft.com/office/drawing/2014/main" id="{93612805-4698-4C23-AB60-DCA2BACEA8D3}"/>
              </a:ext>
            </a:extLst>
          </p:cNvPr>
          <p:cNvSpPr>
            <a:spLocks xmlns:a="http://schemas.openxmlformats.org/drawingml/2006/main" noGrp="1"/>
          </p:cNvSpPr>
          <p:nvPr/>
        </p:nvSpPr>
        <p:spPr>
          <a:xfrm xmlns:a="http://schemas.openxmlformats.org/drawingml/2006/main">
            <a:off x="571500" y="3819525"/>
            <a:ext cx="14097000" cy="0"/>
          </a:xfrm>
          <a:prstGeom xmlns:a="http://schemas.openxmlformats.org/drawingml/2006/main" prst="line">
            <a:avLst/>
          </a:prstGeom>
          <a:ln xmlns:a="http://schemas.openxmlformats.org/drawingml/2006/main" w="19050">
            <a:solidFill>
              <a:srgbClr val="C6D2DB"/>
            </a:solidFill>
          </a:ln>
        </p:spPr>
      </p:sp>
      <p:sp>
        <p:nvSpPr>
          <p:cNvPr id="9" name="P_A = € 30">
            <a:extLst xmlns:a="http://schemas.openxmlformats.org/drawingml/2006/main">
              <a:ext uri="{FF2B5EF4-FFF2-40B4-BE49-F238E27FC236}">
                <a16:creationId xmlns:a16="http://schemas.microsoft.com/office/drawing/2014/main" id="{F80D9DFD-3D50-40F6-859A-B1BEE23C2925}"/>
              </a:ext>
            </a:extLst>
          </p:cNvPr>
          <p:cNvSpPr>
            <a:spLocks xmlns:a="http://schemas.openxmlformats.org/drawingml/2006/main" noGrp="1"/>
          </p:cNvSpPr>
          <p:nvPr/>
        </p:nvSpPr>
        <p:spPr>
          <a:xfrm xmlns:a="http://schemas.openxmlformats.org/drawingml/2006/main">
            <a:off x="571500" y="4076700"/>
            <a:ext cx="6096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P_A = € 30</a:t>
            </a:r>
          </a:p>
        </p:txBody>
      </p:sp>
      <p:sp>
        <p:nvSpPr>
          <p:cNvPr id="10" name="Uit de vraag: 54 − 2 × 12.">
            <a:extLst xmlns:a="http://schemas.openxmlformats.org/drawingml/2006/main">
              <a:ext uri="{FF2B5EF4-FFF2-40B4-BE49-F238E27FC236}">
                <a16:creationId xmlns:a16="http://schemas.microsoft.com/office/drawing/2014/main" id="{B5A7287D-D765-4D77-815F-E6DCB24E28B3}"/>
              </a:ext>
            </a:extLst>
          </p:cNvPr>
          <p:cNvSpPr>
            <a:spLocks xmlns:a="http://schemas.openxmlformats.org/drawingml/2006/main" noGrp="1"/>
          </p:cNvSpPr>
          <p:nvPr/>
        </p:nvSpPr>
        <p:spPr>
          <a:xfrm xmlns:a="http://schemas.openxmlformats.org/drawingml/2006/main">
            <a:off x="7191375" y="4076700"/>
            <a:ext cx="7381875"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Uit de vraag: 54 − 2 × 12.</a:t>
            </a:r>
          </a:p>
        </p:txBody>
      </p:sp>
      <p:sp>
        <p:nvSpPr>
          <p:cNvPr id="11" name="">
            <a:extLst xmlns:a="http://schemas.openxmlformats.org/drawingml/2006/main">
              <a:ext uri="{FF2B5EF4-FFF2-40B4-BE49-F238E27FC236}">
                <a16:creationId xmlns:a16="http://schemas.microsoft.com/office/drawing/2014/main" id="{7E78D67F-3499-47CB-9C04-31814C0201F9}"/>
              </a:ext>
            </a:extLst>
          </p:cNvPr>
          <p:cNvSpPr>
            <a:spLocks xmlns:a="http://schemas.openxmlformats.org/drawingml/2006/main" noGrp="1"/>
          </p:cNvSpPr>
          <p:nvPr/>
        </p:nvSpPr>
        <p:spPr>
          <a:xfrm xmlns:a="http://schemas.openxmlformats.org/drawingml/2006/main">
            <a:off x="571500" y="5438775"/>
            <a:ext cx="14097000" cy="0"/>
          </a:xfrm>
          <a:prstGeom xmlns:a="http://schemas.openxmlformats.org/drawingml/2006/main" prst="line">
            <a:avLst/>
          </a:prstGeom>
          <a:ln xmlns:a="http://schemas.openxmlformats.org/drawingml/2006/main" w="19050">
            <a:solidFill>
              <a:srgbClr val="C6D2DB"/>
            </a:solidFill>
          </a:ln>
        </p:spPr>
      </p:sp>
      <p:sp>
        <p:nvSpPr>
          <p:cNvPr id="12" name="Meer winst, minder TS">
            <a:extLst xmlns:a="http://schemas.openxmlformats.org/drawingml/2006/main">
              <a:ext uri="{FF2B5EF4-FFF2-40B4-BE49-F238E27FC236}">
                <a16:creationId xmlns:a16="http://schemas.microsoft.com/office/drawing/2014/main" id="{CDA320AD-0C5E-4B3F-AF81-47E9E9686B97}"/>
              </a:ext>
            </a:extLst>
          </p:cNvPr>
          <p:cNvSpPr>
            <a:spLocks xmlns:a="http://schemas.openxmlformats.org/drawingml/2006/main" noGrp="1"/>
          </p:cNvSpPr>
          <p:nvPr/>
        </p:nvSpPr>
        <p:spPr>
          <a:xfrm xmlns:a="http://schemas.openxmlformats.org/drawingml/2006/main">
            <a:off x="571500" y="5695950"/>
            <a:ext cx="6096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Meer winst, minder TS</a:t>
            </a:r>
          </a:p>
        </p:txBody>
      </p:sp>
      <p:sp>
        <p:nvSpPr>
          <p:cNvPr id="13" name="Winst +€ 36; TS −€ 18 per week.">
            <a:extLst xmlns:a="http://schemas.openxmlformats.org/drawingml/2006/main">
              <a:ext uri="{FF2B5EF4-FFF2-40B4-BE49-F238E27FC236}">
                <a16:creationId xmlns:a16="http://schemas.microsoft.com/office/drawing/2014/main" id="{4C573069-1F36-4673-9448-516B4B4C0254}"/>
              </a:ext>
            </a:extLst>
          </p:cNvPr>
          <p:cNvSpPr>
            <a:spLocks xmlns:a="http://schemas.openxmlformats.org/drawingml/2006/main" noGrp="1"/>
          </p:cNvSpPr>
          <p:nvPr/>
        </p:nvSpPr>
        <p:spPr>
          <a:xfrm xmlns:a="http://schemas.openxmlformats.org/drawingml/2006/main">
            <a:off x="7191375" y="5695950"/>
            <a:ext cx="7381875"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Winst +€ 36; TS −€ 18 per week.</a:t>
            </a:r>
          </a:p>
        </p:txBody>
      </p:sp>
      <p:sp>
        <p:nvSpPr>
          <p:cNvPr id="14" name="Bekijk nu je startantwoorden bij 10 en 11 opnieuw.">
            <a:extLst xmlns:a="http://schemas.openxmlformats.org/drawingml/2006/main">
              <a:ext uri="{FF2B5EF4-FFF2-40B4-BE49-F238E27FC236}">
                <a16:creationId xmlns:a16="http://schemas.microsoft.com/office/drawing/2014/main" id="{908073F4-1F93-462E-86E4-A00681A77FB3}"/>
              </a:ext>
            </a:extLst>
          </p:cNvPr>
          <p:cNvSpPr>
            <a:spLocks xmlns:a="http://schemas.openxmlformats.org/drawingml/2006/main" noGrp="1"/>
          </p:cNvSpPr>
          <p:nvPr/>
        </p:nvSpPr>
        <p:spPr>
          <a:xfrm xmlns:a="http://schemas.openxmlformats.org/drawingml/2006/main">
            <a:off x="571500" y="7458075"/>
            <a:ext cx="140970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83247"/>
                </a:solidFill>
                <a:latin typeface="Arial"/>
                <a:ea typeface="Arial"/>
                <a:cs typeface="Arial"/>
              </a:defRPr>
            </a:pPr>
            <a:r>
              <a:rPr sz="2400" b="1">
                <a:solidFill>
                  <a:srgbClr val="183247"/>
                </a:solidFill>
                <a:latin typeface="Arial"/>
                <a:ea typeface="Arial"/>
                <a:cs typeface="Arial"/>
              </a:rPr>
              <a:t>Bekijk nu je startantwoorden bij 10 en 11 opnieuw.</a:t>
            </a:r>
          </a:p>
        </p:txBody>
      </p:sp>
    </p:spTree>
    <p:extLst>
      <p:ext uri="{BB962C8B-B14F-4D97-AF65-F5344CB8AC3E}">
        <p14:creationId xmlns:p14="http://schemas.microsoft.com/office/powerpoint/2010/main" val="1489068088"/>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4.2.2 Prijsdiscriminatie">
            <a:extLst xmlns:a="http://schemas.openxmlformats.org/drawingml/2006/main">
              <a:ext uri="{FF2B5EF4-FFF2-40B4-BE49-F238E27FC236}">
                <a16:creationId xmlns:a16="http://schemas.microsoft.com/office/drawing/2014/main" id="{148BAFB5-769B-4430-9413-1144A2CC5DB1}"/>
              </a:ext>
            </a:extLst>
          </p:cNvPr>
          <p:cNvSpPr>
            <a:spLocks xmlns:a="http://schemas.openxmlformats.org/drawingml/2006/main" noGrp="1"/>
          </p:cNvSpPr>
          <p:nvPr/>
        </p:nvSpPr>
        <p:spPr>
          <a:xfrm xmlns:a="http://schemas.openxmlformats.org/drawingml/2006/main">
            <a:off x="571500" y="400050"/>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Deze les: §4.2.2 Prijsdiscriminatie</a:t>
            </a:r>
          </a:p>
        </p:txBody>
      </p:sp>
      <p:sp>
        <p:nvSpPr>
          <p:cNvPr id="2" name="">
            <a:extLst xmlns:a="http://schemas.openxmlformats.org/drawingml/2006/main">
              <a:ext uri="{FF2B5EF4-FFF2-40B4-BE49-F238E27FC236}">
                <a16:creationId xmlns:a16="http://schemas.microsoft.com/office/drawing/2014/main" id="{F6BD0FD5-E9BC-459E-9CB0-5C144693517E}"/>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2 Prijsdiscriminatie">
            <a:extLst xmlns:a="http://schemas.openxmlformats.org/drawingml/2006/main">
              <a:ext uri="{FF2B5EF4-FFF2-40B4-BE49-F238E27FC236}">
                <a16:creationId xmlns:a16="http://schemas.microsoft.com/office/drawing/2014/main" id="{C2D55F00-41A4-49A4-B4D2-B09FF20C4922}"/>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§4.2.2 Prijsdiscriminatie</a:t>
            </a:r>
          </a:p>
        </p:txBody>
      </p:sp>
      <p:sp>
        <p:nvSpPr>
          <p:cNvPr id="4" name="slide-number">
            <a:extLst xmlns:a="http://schemas.openxmlformats.org/drawingml/2006/main">
              <a:ext uri="{FF2B5EF4-FFF2-40B4-BE49-F238E27FC236}">
                <a16:creationId xmlns:a16="http://schemas.microsoft.com/office/drawing/2014/main" id="{5151DEBB-75DE-4A73-B9C3-F2A0B02B6E87}"/>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15</a:t>
            </a:r>
          </a:p>
        </p:txBody>
      </p:sp>
      <p:sp>
        <p:nvSpPr>
          <p:cNvPr id="5" name="phase">
            <a:extLst xmlns:a="http://schemas.openxmlformats.org/drawingml/2006/main">
              <a:ext uri="{FF2B5EF4-FFF2-40B4-BE49-F238E27FC236}">
                <a16:creationId xmlns:a16="http://schemas.microsoft.com/office/drawing/2014/main" id="{69A19104-F554-49FD-8A64-8C508EB0A0C4}"/>
              </a:ext>
            </a:extLst>
          </p:cNvPr>
          <p:cNvSpPr>
            <a:spLocks xmlns:a="http://schemas.openxmlformats.org/drawingml/2006/main" noGrp="1"/>
          </p:cNvSpPr>
          <p:nvPr/>
        </p:nvSpPr>
        <p:spPr>
          <a:xfrm xmlns:a="http://schemas.openxmlformats.org/drawingml/2006/main">
            <a:off x="571500" y="1066800"/>
            <a:ext cx="13811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Nu: Zelfstandig werken</a:t>
            </a:r>
          </a:p>
        </p:txBody>
      </p:sp>
      <p:sp>
        <p:nvSpPr>
          <p:cNvPr id="6" name="Lesroute">
            <a:extLst xmlns:a="http://schemas.openxmlformats.org/drawingml/2006/main">
              <a:ext uri="{FF2B5EF4-FFF2-40B4-BE49-F238E27FC236}">
                <a16:creationId xmlns:a16="http://schemas.microsoft.com/office/drawing/2014/main" id="{0CD8FA44-7077-4460-9267-0F4A933C4D75}"/>
              </a:ext>
            </a:extLst>
          </p:cNvPr>
          <p:cNvSpPr>
            <a:spLocks xmlns:a="http://schemas.openxmlformats.org/drawingml/2006/main" noGrp="1"/>
          </p:cNvSpPr>
          <p:nvPr/>
        </p:nvSpPr>
        <p:spPr>
          <a:xfrm xmlns:a="http://schemas.openxmlformats.org/drawingml/2006/main">
            <a:off x="571500" y="176212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1">
            <a:extLst xmlns:a="http://schemas.openxmlformats.org/drawingml/2006/main">
              <a:ext uri="{FF2B5EF4-FFF2-40B4-BE49-F238E27FC236}">
                <a16:creationId xmlns:a16="http://schemas.microsoft.com/office/drawing/2014/main" id="{92B665ED-33B7-43CB-BBDB-1C600F161F47}"/>
              </a:ext>
            </a:extLst>
          </p:cNvPr>
          <p:cNvSpPr>
            <a:spLocks xmlns:a="http://schemas.openxmlformats.org/drawingml/2006/main" noGrp="1"/>
          </p:cNvSpPr>
          <p:nvPr/>
        </p:nvSpPr>
        <p:spPr>
          <a:xfrm xmlns:a="http://schemas.openxmlformats.org/drawingml/2006/main">
            <a:off x="571500" y="232410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1">
            <a:extLst xmlns:a="http://schemas.openxmlformats.org/drawingml/2006/main">
              <a:ext uri="{FF2B5EF4-FFF2-40B4-BE49-F238E27FC236}">
                <a16:creationId xmlns:a16="http://schemas.microsoft.com/office/drawing/2014/main" id="{CC8EF351-5BB0-4151-8F40-9C96A64B4E9B}"/>
              </a:ext>
            </a:extLst>
          </p:cNvPr>
          <p:cNvSpPr>
            <a:spLocks xmlns:a="http://schemas.openxmlformats.org/drawingml/2006/main" noGrp="1"/>
          </p:cNvSpPr>
          <p:nvPr/>
        </p:nvSpPr>
        <p:spPr>
          <a:xfrm xmlns:a="http://schemas.openxmlformats.org/drawingml/2006/main">
            <a:off x="1104900" y="2324100"/>
            <a:ext cx="74199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2">
            <a:extLst xmlns:a="http://schemas.openxmlformats.org/drawingml/2006/main">
              <a:ext uri="{FF2B5EF4-FFF2-40B4-BE49-F238E27FC236}">
                <a16:creationId xmlns:a16="http://schemas.microsoft.com/office/drawing/2014/main" id="{40B0CE6E-7C31-4BA8-AA02-3C51544ACA85}"/>
              </a:ext>
            </a:extLst>
          </p:cNvPr>
          <p:cNvSpPr>
            <a:spLocks xmlns:a="http://schemas.openxmlformats.org/drawingml/2006/main" noGrp="1"/>
          </p:cNvSpPr>
          <p:nvPr/>
        </p:nvSpPr>
        <p:spPr>
          <a:xfrm xmlns:a="http://schemas.openxmlformats.org/drawingml/2006/main">
            <a:off x="571500" y="320040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a:t>
            </a:r>
          </a:p>
        </p:txBody>
      </p:sp>
      <p:sp>
        <p:nvSpPr>
          <p:cNvPr id="10" name="route-2">
            <a:extLst xmlns:a="http://schemas.openxmlformats.org/drawingml/2006/main">
              <a:ext uri="{FF2B5EF4-FFF2-40B4-BE49-F238E27FC236}">
                <a16:creationId xmlns:a16="http://schemas.microsoft.com/office/drawing/2014/main" id="{1D622E15-8065-42ED-8A59-15D1ADCFB4D3}"/>
              </a:ext>
            </a:extLst>
          </p:cNvPr>
          <p:cNvSpPr>
            <a:spLocks xmlns:a="http://schemas.openxmlformats.org/drawingml/2006/main" noGrp="1"/>
          </p:cNvSpPr>
          <p:nvPr/>
        </p:nvSpPr>
        <p:spPr>
          <a:xfrm xmlns:a="http://schemas.openxmlformats.org/drawingml/2006/main">
            <a:off x="1104900" y="320040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Maak de startopdracht.</a:t>
            </a:r>
          </a:p>
        </p:txBody>
      </p:sp>
      <p:sp>
        <p:nvSpPr>
          <p:cNvPr id="11" name="route-number-3">
            <a:extLst xmlns:a="http://schemas.openxmlformats.org/drawingml/2006/main">
              <a:ext uri="{FF2B5EF4-FFF2-40B4-BE49-F238E27FC236}">
                <a16:creationId xmlns:a16="http://schemas.microsoft.com/office/drawing/2014/main" id="{46C109DB-33ED-4AFF-B72A-F717845D0D5F}"/>
              </a:ext>
            </a:extLst>
          </p:cNvPr>
          <p:cNvSpPr>
            <a:spLocks xmlns:a="http://schemas.openxmlformats.org/drawingml/2006/main" noGrp="1"/>
          </p:cNvSpPr>
          <p:nvPr/>
        </p:nvSpPr>
        <p:spPr>
          <a:xfrm xmlns:a="http://schemas.openxmlformats.org/drawingml/2006/main">
            <a:off x="571500" y="37147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3">
            <a:extLst xmlns:a="http://schemas.openxmlformats.org/drawingml/2006/main">
              <a:ext uri="{FF2B5EF4-FFF2-40B4-BE49-F238E27FC236}">
                <a16:creationId xmlns:a16="http://schemas.microsoft.com/office/drawing/2014/main" id="{A3288773-12EB-4EAB-A591-CA27A55575D5}"/>
              </a:ext>
            </a:extLst>
          </p:cNvPr>
          <p:cNvSpPr>
            <a:spLocks xmlns:a="http://schemas.openxmlformats.org/drawingml/2006/main" noGrp="1"/>
          </p:cNvSpPr>
          <p:nvPr/>
        </p:nvSpPr>
        <p:spPr>
          <a:xfrm xmlns:a="http://schemas.openxmlformats.org/drawingml/2006/main">
            <a:off x="1104900" y="371475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Uitleg bij de lesdoelen.</a:t>
            </a:r>
          </a:p>
        </p:txBody>
      </p:sp>
      <p:sp>
        <p:nvSpPr>
          <p:cNvPr id="13" name="route-number-4">
            <a:extLst xmlns:a="http://schemas.openxmlformats.org/drawingml/2006/main">
              <a:ext uri="{FF2B5EF4-FFF2-40B4-BE49-F238E27FC236}">
                <a16:creationId xmlns:a16="http://schemas.microsoft.com/office/drawing/2014/main" id="{12C0F1F6-175B-4C95-A742-E03AFD9F4040}"/>
              </a:ext>
            </a:extLst>
          </p:cNvPr>
          <p:cNvSpPr>
            <a:spLocks xmlns:a="http://schemas.openxmlformats.org/drawingml/2006/main" noGrp="1"/>
          </p:cNvSpPr>
          <p:nvPr/>
        </p:nvSpPr>
        <p:spPr>
          <a:xfrm xmlns:a="http://schemas.openxmlformats.org/drawingml/2006/main">
            <a:off x="571500" y="4248150"/>
            <a:ext cx="4572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4.</a:t>
            </a:r>
          </a:p>
        </p:txBody>
      </p:sp>
      <p:sp>
        <p:nvSpPr>
          <p:cNvPr id="14" name="route-4">
            <a:extLst xmlns:a="http://schemas.openxmlformats.org/drawingml/2006/main">
              <a:ext uri="{FF2B5EF4-FFF2-40B4-BE49-F238E27FC236}">
                <a16:creationId xmlns:a16="http://schemas.microsoft.com/office/drawing/2014/main" id="{B27F5944-0E1E-448A-AADE-559CFA8D377A}"/>
              </a:ext>
            </a:extLst>
          </p:cNvPr>
          <p:cNvSpPr>
            <a:spLocks xmlns:a="http://schemas.openxmlformats.org/drawingml/2006/main" noGrp="1"/>
          </p:cNvSpPr>
          <p:nvPr/>
        </p:nvSpPr>
        <p:spPr>
          <a:xfrm xmlns:a="http://schemas.openxmlformats.org/drawingml/2006/main">
            <a:off x="1104900" y="4248150"/>
            <a:ext cx="7419975"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Begin bij de basisopgaven en stel vragen. Lukt dat goed, ga dan naar de zelfstandige oefening. Maak daarna de doelopgave en kijk vervolgens je antwoorden na.</a:t>
            </a:r>
          </a:p>
        </p:txBody>
      </p:sp>
      <p:sp>
        <p:nvSpPr>
          <p:cNvPr id="15" name="route-number-5">
            <a:extLst xmlns:a="http://schemas.openxmlformats.org/drawingml/2006/main">
              <a:ext uri="{FF2B5EF4-FFF2-40B4-BE49-F238E27FC236}">
                <a16:creationId xmlns:a16="http://schemas.microsoft.com/office/drawing/2014/main" id="{BADA179A-C1F2-4968-972B-72EDEA36C994}"/>
              </a:ext>
            </a:extLst>
          </p:cNvPr>
          <p:cNvSpPr>
            <a:spLocks xmlns:a="http://schemas.openxmlformats.org/drawingml/2006/main" noGrp="1"/>
          </p:cNvSpPr>
          <p:nvPr/>
        </p:nvSpPr>
        <p:spPr>
          <a:xfrm xmlns:a="http://schemas.openxmlformats.org/drawingml/2006/main">
            <a:off x="571500" y="6057900"/>
            <a:ext cx="457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5">
            <a:extLst xmlns:a="http://schemas.openxmlformats.org/drawingml/2006/main">
              <a:ext uri="{FF2B5EF4-FFF2-40B4-BE49-F238E27FC236}">
                <a16:creationId xmlns:a16="http://schemas.microsoft.com/office/drawing/2014/main" id="{0F3EE047-F796-4CBA-88DA-847D2C40B772}"/>
              </a:ext>
            </a:extLst>
          </p:cNvPr>
          <p:cNvSpPr>
            <a:spLocks xmlns:a="http://schemas.openxmlformats.org/drawingml/2006/main" noGrp="1"/>
          </p:cNvSpPr>
          <p:nvPr/>
        </p:nvSpPr>
        <p:spPr>
          <a:xfrm xmlns:a="http://schemas.openxmlformats.org/drawingml/2006/main">
            <a:off x="1104900" y="6057900"/>
            <a:ext cx="74199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6">
            <a:extLst xmlns:a="http://schemas.openxmlformats.org/drawingml/2006/main">
              <a:ext uri="{FF2B5EF4-FFF2-40B4-BE49-F238E27FC236}">
                <a16:creationId xmlns:a16="http://schemas.microsoft.com/office/drawing/2014/main" id="{EFB3FD53-C9F2-4BD6-AE1C-8037B3E05B7E}"/>
              </a:ext>
            </a:extLst>
          </p:cNvPr>
          <p:cNvSpPr>
            <a:spLocks xmlns:a="http://schemas.openxmlformats.org/drawingml/2006/main" noGrp="1"/>
          </p:cNvSpPr>
          <p:nvPr/>
        </p:nvSpPr>
        <p:spPr>
          <a:xfrm xmlns:a="http://schemas.openxmlformats.org/drawingml/2006/main">
            <a:off x="571500" y="6819900"/>
            <a:ext cx="457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6">
            <a:extLst xmlns:a="http://schemas.openxmlformats.org/drawingml/2006/main">
              <a:ext uri="{FF2B5EF4-FFF2-40B4-BE49-F238E27FC236}">
                <a16:creationId xmlns:a16="http://schemas.microsoft.com/office/drawing/2014/main" id="{F2E0705E-2D3E-468E-8480-953089C9BCFF}"/>
              </a:ext>
            </a:extLst>
          </p:cNvPr>
          <p:cNvSpPr>
            <a:spLocks xmlns:a="http://schemas.openxmlformats.org/drawingml/2006/main" noGrp="1"/>
          </p:cNvSpPr>
          <p:nvPr/>
        </p:nvSpPr>
        <p:spPr>
          <a:xfrm xmlns:a="http://schemas.openxmlformats.org/drawingml/2006/main">
            <a:off x="1104900" y="6819900"/>
            <a:ext cx="74199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16.</a:t>
            </a:r>
          </a:p>
        </p:txBody>
      </p:sp>
      <p:sp>
        <p:nvSpPr>
          <p:cNvPr id="19" name="route-number-7">
            <a:extLst xmlns:a="http://schemas.openxmlformats.org/drawingml/2006/main">
              <a:ext uri="{FF2B5EF4-FFF2-40B4-BE49-F238E27FC236}">
                <a16:creationId xmlns:a16="http://schemas.microsoft.com/office/drawing/2014/main" id="{3D4AC527-F06C-4815-900A-31524AF42E20}"/>
              </a:ext>
            </a:extLst>
          </p:cNvPr>
          <p:cNvSpPr>
            <a:spLocks xmlns:a="http://schemas.openxmlformats.org/drawingml/2006/main" noGrp="1"/>
          </p:cNvSpPr>
          <p:nvPr/>
        </p:nvSpPr>
        <p:spPr>
          <a:xfrm xmlns:a="http://schemas.openxmlformats.org/drawingml/2006/main">
            <a:off x="571500" y="7372350"/>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7.</a:t>
            </a:r>
          </a:p>
        </p:txBody>
      </p:sp>
      <p:sp>
        <p:nvSpPr>
          <p:cNvPr id="20" name="route-7">
            <a:extLst xmlns:a="http://schemas.openxmlformats.org/drawingml/2006/main">
              <a:ext uri="{FF2B5EF4-FFF2-40B4-BE49-F238E27FC236}">
                <a16:creationId xmlns:a16="http://schemas.microsoft.com/office/drawing/2014/main" id="{A7C04E6D-6C63-49AA-A828-F4C833601475}"/>
              </a:ext>
            </a:extLst>
          </p:cNvPr>
          <p:cNvSpPr>
            <a:spLocks xmlns:a="http://schemas.openxmlformats.org/drawingml/2006/main" noGrp="1"/>
          </p:cNvSpPr>
          <p:nvPr/>
        </p:nvSpPr>
        <p:spPr>
          <a:xfrm xmlns:a="http://schemas.openxmlformats.org/drawingml/2006/main">
            <a:off x="1104900" y="7372350"/>
            <a:ext cx="74199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4BFEC6C9-7CB2-4191-90C4-0A7A637686C5}"/>
              </a:ext>
            </a:extLst>
          </p:cNvPr>
          <p:cNvSpPr>
            <a:spLocks xmlns:a="http://schemas.openxmlformats.org/drawingml/2006/main" noGrp="1"/>
          </p:cNvSpPr>
          <p:nvPr/>
        </p:nvSpPr>
        <p:spPr>
          <a:xfrm xmlns:a="http://schemas.openxmlformats.org/drawingml/2006/main">
            <a:off x="9258300" y="17621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9D6B1039-187C-4330-B234-76BE36E82A68}"/>
              </a:ext>
            </a:extLst>
          </p:cNvPr>
          <p:cNvSpPr>
            <a:spLocks xmlns:a="http://schemas.openxmlformats.org/drawingml/2006/main" noGrp="1"/>
          </p:cNvSpPr>
          <p:nvPr/>
        </p:nvSpPr>
        <p:spPr>
          <a:xfrm xmlns:a="http://schemas.openxmlformats.org/drawingml/2006/main">
            <a:off x="9258300" y="2305050"/>
            <a:ext cx="5381625"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Voorwaarden herkennen; per groep</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Q en P kiezen; omzet, kosten, winst</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en de verdeling van surplus vergelijken.</a:t>
            </a:r>
          </a:p>
        </p:txBody>
      </p:sp>
      <p:sp>
        <p:nvSpPr>
          <p:cNvPr id="23" name="">
            <a:extLst xmlns:a="http://schemas.openxmlformats.org/drawingml/2006/main">
              <a:ext uri="{FF2B5EF4-FFF2-40B4-BE49-F238E27FC236}">
                <a16:creationId xmlns:a16="http://schemas.microsoft.com/office/drawing/2014/main" id="{EB786447-00D0-4D74-84AA-D10977512DF6}"/>
              </a:ext>
            </a:extLst>
          </p:cNvPr>
          <p:cNvSpPr>
            <a:spLocks xmlns:a="http://schemas.openxmlformats.org/drawingml/2006/main" noGrp="1"/>
          </p:cNvSpPr>
          <p:nvPr/>
        </p:nvSpPr>
        <p:spPr>
          <a:xfrm xmlns:a="http://schemas.openxmlformats.org/drawingml/2006/main">
            <a:off x="9258300" y="3629025"/>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B50CE005-6ABB-4888-8F93-CCDF809177AE}"/>
              </a:ext>
            </a:extLst>
          </p:cNvPr>
          <p:cNvSpPr>
            <a:spLocks xmlns:a="http://schemas.openxmlformats.org/drawingml/2006/main" noGrp="1"/>
          </p:cNvSpPr>
          <p:nvPr/>
        </p:nvSpPr>
        <p:spPr>
          <a:xfrm xmlns:a="http://schemas.openxmlformats.org/drawingml/2006/main">
            <a:off x="9258300" y="3810000"/>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C01B7B66-729E-485F-B5D0-A8D660C0C331}"/>
              </a:ext>
            </a:extLst>
          </p:cNvPr>
          <p:cNvSpPr>
            <a:spLocks xmlns:a="http://schemas.openxmlformats.org/drawingml/2006/main" noGrp="1"/>
          </p:cNvSpPr>
          <p:nvPr/>
        </p:nvSpPr>
        <p:spPr>
          <a:xfrm xmlns:a="http://schemas.openxmlformats.org/drawingml/2006/main">
            <a:off x="9258300" y="4324350"/>
            <a:ext cx="5381625"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Pagina 66 · Opgaven 10 en 11</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Verkennen met de theorie:</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10: p. 64 · 11: p. 63</a:t>
            </a:r>
          </a:p>
        </p:txBody>
      </p:sp>
      <p:sp>
        <p:nvSpPr>
          <p:cNvPr id="26" name="">
            <a:extLst xmlns:a="http://schemas.openxmlformats.org/drawingml/2006/main">
              <a:ext uri="{FF2B5EF4-FFF2-40B4-BE49-F238E27FC236}">
                <a16:creationId xmlns:a16="http://schemas.microsoft.com/office/drawing/2014/main" id="{0CC72515-4482-4683-B5BE-9CD473148359}"/>
              </a:ext>
            </a:extLst>
          </p:cNvPr>
          <p:cNvSpPr>
            <a:spLocks xmlns:a="http://schemas.openxmlformats.org/drawingml/2006/main" noGrp="1"/>
          </p:cNvSpPr>
          <p:nvPr/>
        </p:nvSpPr>
        <p:spPr>
          <a:xfrm xmlns:a="http://schemas.openxmlformats.org/drawingml/2006/main">
            <a:off x="9258300" y="5505450"/>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DB16C2E2-EF0E-48AC-9D3A-20053437FC56}"/>
              </a:ext>
            </a:extLst>
          </p:cNvPr>
          <p:cNvSpPr>
            <a:spLocks xmlns:a="http://schemas.openxmlformats.org/drawingml/2006/main" noGrp="1"/>
          </p:cNvSpPr>
          <p:nvPr/>
        </p:nvSpPr>
        <p:spPr>
          <a:xfrm xmlns:a="http://schemas.openxmlformats.org/drawingml/2006/main">
            <a:off x="9258300" y="5715000"/>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B1A8711D-1DA9-4124-BCBC-DF0A5726531F}"/>
              </a:ext>
            </a:extLst>
          </p:cNvPr>
          <p:cNvSpPr>
            <a:spLocks xmlns:a="http://schemas.openxmlformats.org/drawingml/2006/main" noGrp="1"/>
          </p:cNvSpPr>
          <p:nvPr/>
        </p:nvSpPr>
        <p:spPr>
          <a:xfrm xmlns:a="http://schemas.openxmlformats.org/drawingml/2006/main">
            <a:off x="9258300" y="6238875"/>
            <a:ext cx="5381625"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§4.2.2 · Opgaven 12 t/m 16</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Basis: 12 en 13</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Zelfstandig: 14 en 15</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Doelopgave: 16</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Maken en nakijken</a:t>
            </a:r>
          </a:p>
        </p:txBody>
      </p:sp>
    </p:spTree>
    <p:extLst>
      <p:ext uri="{BB962C8B-B14F-4D97-AF65-F5344CB8AC3E}">
        <p14:creationId xmlns:p14="http://schemas.microsoft.com/office/powerpoint/2010/main" val="942618396"/>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pgave 16 · FilmLab: bron A">
            <a:extLst xmlns:a="http://schemas.openxmlformats.org/drawingml/2006/main">
              <a:ext uri="{FF2B5EF4-FFF2-40B4-BE49-F238E27FC236}">
                <a16:creationId xmlns:a16="http://schemas.microsoft.com/office/drawing/2014/main" id="{BAF12E95-F419-4905-998F-E80EF3E47CEF}"/>
              </a:ext>
            </a:extLst>
          </p:cNvPr>
          <p:cNvSpPr>
            <a:spLocks xmlns:a="http://schemas.openxmlformats.org/drawingml/2006/main" noGrp="1"/>
          </p:cNvSpPr>
          <p:nvPr/>
        </p:nvSpPr>
        <p:spPr>
          <a:xfrm xmlns:a="http://schemas.openxmlformats.org/drawingml/2006/main">
            <a:off x="571500" y="400050"/>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16 · FilmLab: bron A</a:t>
            </a:r>
          </a:p>
        </p:txBody>
      </p:sp>
      <p:sp>
        <p:nvSpPr>
          <p:cNvPr id="2" name="">
            <a:extLst xmlns:a="http://schemas.openxmlformats.org/drawingml/2006/main">
              <a:ext uri="{FF2B5EF4-FFF2-40B4-BE49-F238E27FC236}">
                <a16:creationId xmlns:a16="http://schemas.microsoft.com/office/drawing/2014/main" id="{A866A214-E73C-47B6-A807-685418094178}"/>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2 · Doelopgave 16 · Boekpagina 69">
            <a:extLst xmlns:a="http://schemas.openxmlformats.org/drawingml/2006/main">
              <a:ext uri="{FF2B5EF4-FFF2-40B4-BE49-F238E27FC236}">
                <a16:creationId xmlns:a16="http://schemas.microsoft.com/office/drawing/2014/main" id="{59B5EAFC-873E-4409-BBBD-AB7E4363DA39}"/>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§4.2.2 · Doelopgave 16 · Boekpagina 69</a:t>
            </a:r>
          </a:p>
        </p:txBody>
      </p:sp>
      <p:sp>
        <p:nvSpPr>
          <p:cNvPr id="4" name="slide-number">
            <a:extLst xmlns:a="http://schemas.openxmlformats.org/drawingml/2006/main">
              <a:ext uri="{FF2B5EF4-FFF2-40B4-BE49-F238E27FC236}">
                <a16:creationId xmlns:a16="http://schemas.microsoft.com/office/drawing/2014/main" id="{B90E0535-3421-43A5-8033-6EF811B3FFE4}"/>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16</a:t>
            </a:r>
          </a:p>
        </p:txBody>
      </p:sp>
      <p:sp>
        <p:nvSpPr>
          <p:cNvPr id="5" name="FilmLab biedt dezelfde toegangsdienst aan A en B.&#10;Het heeft mark">
            <a:extLst xmlns:a="http://schemas.openxmlformats.org/drawingml/2006/main">
              <a:ext uri="{FF2B5EF4-FFF2-40B4-BE49-F238E27FC236}">
                <a16:creationId xmlns:a16="http://schemas.microsoft.com/office/drawing/2014/main" id="{27C2D893-3798-44E5-9E50-B53DE1A326B6}"/>
              </a:ext>
            </a:extLst>
          </p:cNvPr>
          <p:cNvSpPr>
            <a:spLocks xmlns:a="http://schemas.openxmlformats.org/drawingml/2006/main" noGrp="1"/>
          </p:cNvSpPr>
          <p:nvPr/>
        </p:nvSpPr>
        <p:spPr>
          <a:xfrm xmlns:a="http://schemas.openxmlformats.org/drawingml/2006/main">
            <a:off x="571500" y="1828800"/>
            <a:ext cx="140970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83247"/>
                </a:solidFill>
                <a:latin typeface="Arial"/>
                <a:ea typeface="Arial"/>
                <a:cs typeface="Arial"/>
              </a:defRPr>
            </a:pPr>
            <a:r>
              <a:rPr sz="3000" b="1">
                <a:solidFill>
                  <a:srgbClr val="183247"/>
                </a:solidFill>
                <a:latin typeface="Arial"/>
                <a:ea typeface="Arial"/>
                <a:cs typeface="Arial"/>
              </a:rPr>
              <a:t>FilmLab biedt dezelfde toegangsdienst aan A en B.</a:t>
            </a:r>
          </a:p>
          <a:p xmlns:a="http://schemas.openxmlformats.org/drawingml/2006/main">
            <a:pPr algn="l">
              <a:defRPr sz="3000" b="1">
                <a:solidFill>
                  <a:srgbClr val="183247"/>
                </a:solidFill>
                <a:latin typeface="Arial"/>
                <a:ea typeface="Arial"/>
                <a:cs typeface="Arial"/>
              </a:defRPr>
            </a:pPr>
            <a:r>
              <a:rPr sz="3000" b="1">
                <a:solidFill>
                  <a:srgbClr val="183247"/>
                </a:solidFill>
                <a:latin typeface="Arial"/>
                <a:ea typeface="Arial"/>
                <a:cs typeface="Arial"/>
              </a:rPr>
              <a:t>Het heeft marktmacht.</a:t>
            </a:r>
          </a:p>
        </p:txBody>
      </p:sp>
      <p:sp>
        <p:nvSpPr>
          <p:cNvPr id="6" name="De passen zijn persoonlijk; groepen worden gecontroleerd&#10;en door">
            <a:extLst xmlns:a="http://schemas.openxmlformats.org/drawingml/2006/main">
              <a:ext uri="{FF2B5EF4-FFF2-40B4-BE49-F238E27FC236}">
                <a16:creationId xmlns:a16="http://schemas.microsoft.com/office/drawing/2014/main" id="{DECB23DD-7CD3-4643-9DEC-78D8E7CFC9C0}"/>
              </a:ext>
            </a:extLst>
          </p:cNvPr>
          <p:cNvSpPr>
            <a:spLocks xmlns:a="http://schemas.openxmlformats.org/drawingml/2006/main" noGrp="1"/>
          </p:cNvSpPr>
          <p:nvPr/>
        </p:nvSpPr>
        <p:spPr>
          <a:xfrm xmlns:a="http://schemas.openxmlformats.org/drawingml/2006/main">
            <a:off x="571500" y="3409950"/>
            <a:ext cx="140970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De passen zijn persoonlijk; groepen worden gecontroleerd</a:t>
            </a:r>
          </a:p>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en doorverkoop is onmogelijk.</a:t>
            </a:r>
          </a:p>
        </p:txBody>
      </p:sp>
      <p:graphicFrame>
        <p:nvGraphicFramePr>
          <p:cNvPr id="14" name=""/>
          <p:cNvGraphicFramePr/>
          <p:nvPr/>
        </p:nvGraphicFramePr>
        <p:xfrm>
          <a:off xmlns:a="http://schemas.openxmlformats.org/drawingml/2006/main" x="571500" y="5133975"/>
          <a:ext xmlns:a="http://schemas.openxmlformats.org/drawingml/2006/main" cx="14097000" cy="2590800"/>
        </p:xfrm>
        <a:graphic xmlns:a="http://schemas.openxmlformats.org/drawingml/2006/main">
          <a:graphicData uri="http://schemas.openxmlformats.org/drawingml/2006/table">
            <a:tbl>
              <a:tblPr/>
              <a:tblGrid>
                <a:gridCol w="6381750"/>
                <a:gridCol w="7715250"/>
              </a:tblGrid>
              <a:tr h="647700">
                <a:tc>
                  <a:txBody>
                    <a:bodyPr lIns="171450" tIns="95250" rIns="152400" bIns="95250"/>
                    <a:lstStyle/>
                    <a:p>
                      <a:r>
                        <a:rPr sz="2625" b="1">
                          <a:solidFill>
                            <a:srgbClr val="FFFFFF"/>
                          </a:solidFill>
                          <a:latin typeface="Arial"/>
                          <a:ea typeface="Arial"/>
                          <a:cs typeface="Arial"/>
                        </a:rPr>
                        <a:t>Gegeven</a:t>
                      </a:r>
                    </a:p>
                  </a:txBody>
                  <a:tcPr marL="91440" marR="91440" marT="45720" marB="45720" anchor="ctr">
                    <a:solidFill>
                      <a:srgbClr val="183247"/>
                    </a:solidFill>
                  </a:tcPr>
                </a:tc>
                <a:tc>
                  <a:txBody>
                    <a:bodyPr lIns="171450" tIns="95250" rIns="152400" bIns="95250"/>
                    <a:lstStyle/>
                    <a:p>
                      <a:r>
                        <a:rPr sz="2625" b="1">
                          <a:solidFill>
                            <a:srgbClr val="FFFFFF"/>
                          </a:solidFill>
                          <a:latin typeface="Arial"/>
                          <a:ea typeface="Arial"/>
                          <a:cs typeface="Arial"/>
                        </a:rPr>
                        <a:t>Voor beide groepen samen</a:t>
                      </a:r>
                    </a:p>
                  </a:txBody>
                  <a:tcPr marL="91440" marR="91440" marT="45720" marB="45720" anchor="ctr">
                    <a:solidFill>
                      <a:srgbClr val="183247"/>
                    </a:solidFill>
                  </a:tcPr>
                </a:tc>
              </a:tr>
              <a:tr h="647700">
                <a:tc>
                  <a:txBody>
                    <a:bodyPr lIns="171450" tIns="95250" rIns="152400" bIns="95250"/>
                    <a:lstStyle/>
                    <a:p>
                      <a:r>
                        <a:rPr sz="2625" b="0">
                          <a:solidFill>
                            <a:srgbClr val="183247"/>
                          </a:solidFill>
                          <a:latin typeface="Arial"/>
                          <a:ea typeface="Arial"/>
                          <a:cs typeface="Arial"/>
                        </a:rPr>
                        <a:t>Marginale kosten</a:t>
                      </a:r>
                    </a:p>
                  </a:txBody>
                  <a:tcPr marL="91440" marR="91440" marT="45720" marB="45720" anchor="ctr">
                    <a:solidFill>
                      <a:srgbClr val="FFFFFF"/>
                    </a:solidFill>
                  </a:tcPr>
                </a:tc>
                <a:tc>
                  <a:txBody>
                    <a:bodyPr lIns="171450" tIns="95250" rIns="152400" bIns="95250"/>
                    <a:lstStyle/>
                    <a:p>
                      <a:r>
                        <a:rPr sz="2625" b="0">
                          <a:solidFill>
                            <a:srgbClr val="183247"/>
                          </a:solidFill>
                          <a:latin typeface="Arial"/>
                          <a:ea typeface="Arial"/>
                          <a:cs typeface="Arial"/>
                        </a:rPr>
                        <a:t>€ 8 voor elk bezoek</a:t>
                      </a:r>
                    </a:p>
                  </a:txBody>
                  <a:tcPr marL="91440" marR="91440" marT="45720" marB="45720" anchor="ctr">
                    <a:solidFill>
                      <a:srgbClr val="FFFFFF"/>
                    </a:solidFill>
                  </a:tcPr>
                </a:tc>
              </a:tr>
              <a:tr h="647700">
                <a:tc>
                  <a:txBody>
                    <a:bodyPr lIns="171450" tIns="95250" rIns="152400" bIns="95250"/>
                    <a:lstStyle/>
                    <a:p>
                      <a:r>
                        <a:rPr sz="2625" b="0">
                          <a:solidFill>
                            <a:srgbClr val="183247"/>
                          </a:solidFill>
                          <a:latin typeface="Arial"/>
                          <a:ea typeface="Arial"/>
                          <a:cs typeface="Arial"/>
                        </a:rPr>
                        <a:t>Totale constante kosten</a:t>
                      </a:r>
                    </a:p>
                  </a:txBody>
                  <a:tcPr marL="91440" marR="91440" marT="45720" marB="45720" anchor="ctr">
                    <a:solidFill>
                      <a:srgbClr val="EFF4F7"/>
                    </a:solidFill>
                  </a:tcPr>
                </a:tc>
                <a:tc>
                  <a:txBody>
                    <a:bodyPr lIns="171450" tIns="95250" rIns="152400" bIns="95250"/>
                    <a:lstStyle/>
                    <a:p>
                      <a:r>
                        <a:rPr sz="2625" b="0">
                          <a:solidFill>
                            <a:srgbClr val="183247"/>
                          </a:solidFill>
                          <a:latin typeface="Arial"/>
                          <a:ea typeface="Arial"/>
                          <a:cs typeface="Arial"/>
                        </a:rPr>
                        <a:t>€ 80 per week</a:t>
                      </a:r>
                    </a:p>
                  </a:txBody>
                  <a:tcPr marL="91440" marR="91440" marT="45720" marB="45720" anchor="ctr">
                    <a:solidFill>
                      <a:srgbClr val="EFF4F7"/>
                    </a:solidFill>
                  </a:tcPr>
                </a:tc>
              </a:tr>
              <a:tr h="647700">
                <a:tc>
                  <a:txBody>
                    <a:bodyPr lIns="171450" tIns="95250" rIns="152400" bIns="95250"/>
                    <a:lstStyle/>
                    <a:p>
                      <a:r>
                        <a:rPr sz="2625" b="0">
                          <a:solidFill>
                            <a:srgbClr val="183247"/>
                          </a:solidFill>
                          <a:latin typeface="Arial"/>
                          <a:ea typeface="Arial"/>
                          <a:cs typeface="Arial"/>
                        </a:rPr>
                        <a:t>Capaciteit</a:t>
                      </a:r>
                    </a:p>
                  </a:txBody>
                  <a:tcPr marL="91440" marR="91440" marT="45720" marB="45720" anchor="ctr">
                    <a:solidFill>
                      <a:srgbClr val="FFFFFF"/>
                    </a:solidFill>
                  </a:tcPr>
                </a:tc>
                <a:tc>
                  <a:txBody>
                    <a:bodyPr lIns="171450" tIns="95250" rIns="152400" bIns="95250"/>
                    <a:lstStyle/>
                    <a:p>
                      <a:r>
                        <a:rPr sz="2625" b="0">
                          <a:solidFill>
                            <a:srgbClr val="183247"/>
                          </a:solidFill>
                          <a:latin typeface="Arial"/>
                          <a:ea typeface="Arial"/>
                          <a:cs typeface="Arial"/>
                        </a:rPr>
                        <a:t>64 bezoeken</a:t>
                      </a:r>
                    </a:p>
                  </a:txBody>
                  <a:tcPr marL="91440" marR="91440" marT="45720" marB="45720" anchor="ctr">
                    <a:solidFill>
                      <a:srgbClr val="FFFFFF"/>
                    </a:solidFill>
                  </a:tcPr>
                </a:tc>
              </a:tr>
            </a:tbl>
          </a:graphicData>
        </a:graphic>
      </p:graphicFrame>
    </p:spTree>
    <p:extLst>
      <p:ext uri="{BB962C8B-B14F-4D97-AF65-F5344CB8AC3E}">
        <p14:creationId xmlns:p14="http://schemas.microsoft.com/office/powerpoint/2010/main" val="709597233"/>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Opgave 16 · Vraagfuncties en basisfiguur">
            <a:extLst xmlns:a="http://schemas.openxmlformats.org/drawingml/2006/main">
              <a:ext uri="{FF2B5EF4-FFF2-40B4-BE49-F238E27FC236}">
                <a16:creationId xmlns:a16="http://schemas.microsoft.com/office/drawing/2014/main" id="{8665E0AF-2F57-4860-97E9-284A5C3D6BEE}"/>
              </a:ext>
            </a:extLst>
          </p:cNvPr>
          <p:cNvSpPr>
            <a:spLocks xmlns:a="http://schemas.openxmlformats.org/drawingml/2006/main" noGrp="1"/>
          </p:cNvSpPr>
          <p:nvPr/>
        </p:nvSpPr>
        <p:spPr>
          <a:xfrm xmlns:a="http://schemas.openxmlformats.org/drawingml/2006/main">
            <a:off x="571500" y="400050"/>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16 · Vraagfuncties en basisfiguur</a:t>
            </a:r>
          </a:p>
        </p:txBody>
      </p:sp>
      <p:sp>
        <p:nvSpPr>
          <p:cNvPr id="2" name="">
            <a:extLst xmlns:a="http://schemas.openxmlformats.org/drawingml/2006/main">
              <a:ext uri="{FF2B5EF4-FFF2-40B4-BE49-F238E27FC236}">
                <a16:creationId xmlns:a16="http://schemas.microsoft.com/office/drawing/2014/main" id="{23D2BC8F-B408-41DD-BC5E-80DA31895E83}"/>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2 · Doelopgave 16 · Bron A · Boekpagina 69">
            <a:extLst xmlns:a="http://schemas.openxmlformats.org/drawingml/2006/main">
              <a:ext uri="{FF2B5EF4-FFF2-40B4-BE49-F238E27FC236}">
                <a16:creationId xmlns:a16="http://schemas.microsoft.com/office/drawing/2014/main" id="{DF305810-B61E-42B4-877F-83195D3ED33A}"/>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§4.2.2 · Doelopgave 16 · Bron A · Boekpagina 69</a:t>
            </a:r>
          </a:p>
        </p:txBody>
      </p:sp>
      <p:sp>
        <p:nvSpPr>
          <p:cNvPr id="4" name="slide-number">
            <a:extLst xmlns:a="http://schemas.openxmlformats.org/drawingml/2006/main">
              <a:ext uri="{FF2B5EF4-FFF2-40B4-BE49-F238E27FC236}">
                <a16:creationId xmlns:a16="http://schemas.microsoft.com/office/drawing/2014/main" id="{C11EB441-FB50-40CB-8D70-602A22BFE011}"/>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17</a:t>
            </a:r>
          </a:p>
        </p:txBody>
      </p:sp>
      <p:sp>
        <p:nvSpPr>
          <p:cNvPr id="5" name="P_A = 40 − Q_A · 0 ≤ Q_A ≤ 40      P_B = 24 − Q_B · 0 ≤ Q_B ≤ 24">
            <a:extLst xmlns:a="http://schemas.openxmlformats.org/drawingml/2006/main">
              <a:ext uri="{FF2B5EF4-FFF2-40B4-BE49-F238E27FC236}">
                <a16:creationId xmlns:a16="http://schemas.microsoft.com/office/drawing/2014/main" id="{1166760E-52F0-4894-9529-4B7F311142F1}"/>
              </a:ext>
            </a:extLst>
          </p:cNvPr>
          <p:cNvSpPr>
            <a:spLocks xmlns:a="http://schemas.openxmlformats.org/drawingml/2006/main" noGrp="1"/>
          </p:cNvSpPr>
          <p:nvPr/>
        </p:nvSpPr>
        <p:spPr>
          <a:xfrm xmlns:a="http://schemas.openxmlformats.org/drawingml/2006/main">
            <a:off x="571500" y="1704975"/>
            <a:ext cx="14097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7658A"/>
                </a:solidFill>
                <a:latin typeface="Arial"/>
                <a:ea typeface="Arial"/>
                <a:cs typeface="Arial"/>
              </a:defRPr>
            </a:pPr>
            <a:r>
              <a:rPr sz="2325" b="1">
                <a:solidFill>
                  <a:srgbClr val="17658A"/>
                </a:solidFill>
                <a:latin typeface="Arial"/>
                <a:ea typeface="Arial"/>
                <a:cs typeface="Arial"/>
              </a:rPr>
              <a:t>P_A = 40 − Q_A · 0 ≤ Q_A ≤ 40      P_B = 24 − Q_B · 0 ≤ Q_B ≤ 24</a:t>
            </a:r>
          </a:p>
        </p:txBody>
      </p:sp>
      <p:sp>
        <p:nvSpPr>
          <p:cNvPr id="6" name="Groep A">
            <a:extLst xmlns:a="http://schemas.openxmlformats.org/drawingml/2006/main">
              <a:ext uri="{FF2B5EF4-FFF2-40B4-BE49-F238E27FC236}">
                <a16:creationId xmlns:a16="http://schemas.microsoft.com/office/drawing/2014/main" id="{91D5C211-39A1-4034-8090-D88BBB90AD33}"/>
              </a:ext>
            </a:extLst>
          </p:cNvPr>
          <p:cNvSpPr>
            <a:spLocks xmlns:a="http://schemas.openxmlformats.org/drawingml/2006/main" noGrp="1"/>
          </p:cNvSpPr>
          <p:nvPr/>
        </p:nvSpPr>
        <p:spPr>
          <a:xfrm xmlns:a="http://schemas.openxmlformats.org/drawingml/2006/main">
            <a:off x="762000" y="2257425"/>
            <a:ext cx="6667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83247"/>
                </a:solidFill>
                <a:latin typeface="Arial"/>
                <a:ea typeface="Arial"/>
                <a:cs typeface="Arial"/>
              </a:defRPr>
            </a:pPr>
            <a:r>
              <a:rPr sz="2550" b="1">
                <a:solidFill>
                  <a:srgbClr val="183247"/>
                </a:solidFill>
                <a:latin typeface="Arial"/>
                <a:ea typeface="Arial"/>
                <a:cs typeface="Arial"/>
              </a:rPr>
              <a:t>Groep A</a:t>
            </a:r>
          </a:p>
        </p:txBody>
      </p:sp>
      <p:sp>
        <p:nvSpPr>
          <p:cNvPr id="7" name="P, MO en MK (€ per bezoek)">
            <a:extLst xmlns:a="http://schemas.openxmlformats.org/drawingml/2006/main">
              <a:ext uri="{FF2B5EF4-FFF2-40B4-BE49-F238E27FC236}">
                <a16:creationId xmlns:a16="http://schemas.microsoft.com/office/drawing/2014/main" id="{07C047DB-B571-41BB-A43F-6DC9C148498B}"/>
              </a:ext>
            </a:extLst>
          </p:cNvPr>
          <p:cNvSpPr>
            <a:spLocks xmlns:a="http://schemas.openxmlformats.org/drawingml/2006/main" noGrp="1"/>
          </p:cNvSpPr>
          <p:nvPr/>
        </p:nvSpPr>
        <p:spPr>
          <a:xfrm xmlns:a="http://schemas.openxmlformats.org/drawingml/2006/main">
            <a:off x="762000" y="2733675"/>
            <a:ext cx="666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183247"/>
                </a:solidFill>
                <a:latin typeface="Arial"/>
                <a:ea typeface="Arial"/>
                <a:cs typeface="Arial"/>
              </a:defRPr>
            </a:pPr>
            <a:r>
              <a:rPr sz="2025" b="0">
                <a:solidFill>
                  <a:srgbClr val="183247"/>
                </a:solidFill>
                <a:latin typeface="Arial"/>
                <a:ea typeface="Arial"/>
                <a:cs typeface="Arial"/>
              </a:rPr>
              <a:t>P, MO en MK (€ per bezoek)</a:t>
            </a:r>
          </a:p>
        </p:txBody>
      </p:sp>
      <p:graphicFrame>
        <p:nvGraphicFramePr>
          <p:cNvPr id="21" name="Chart"/>
          <p:cNvGraphicFramePr/>
          <p:nvPr/>
        </p:nvGraphicFramePr>
        <p:xfrm>
          <a:off xmlns:a="http://schemas.openxmlformats.org/drawingml/2006/main" x="571500" y="3143250"/>
          <a:ext xmlns:a="http://schemas.openxmlformats.org/drawingml/2006/main" cx="6715125" cy="3876675"/>
        </p:xfrm>
        <a:graphic xmlns:a="http://schemas.openxmlformats.org/drawingml/2006/main">
          <a:graphicData uri="http://schemas.openxmlformats.org/drawingml/2006/chart">
            <c:chart xmlns:r="http://schemas.openxmlformats.org/officeDocument/2006/relationships" xmlns:c="http://schemas.openxmlformats.org/drawingml/2006/chart" r:id="R4c157b68195f4482"/>
          </a:graphicData>
        </a:graphic>
      </p:graphicFrame>
      <p:sp>
        <p:nvSpPr>
          <p:cNvPr id="9" name="Q_A (bezoeken per week)">
            <a:extLst xmlns:a="http://schemas.openxmlformats.org/drawingml/2006/main">
              <a:ext uri="{FF2B5EF4-FFF2-40B4-BE49-F238E27FC236}">
                <a16:creationId xmlns:a16="http://schemas.microsoft.com/office/drawing/2014/main" id="{646D2906-55ED-4F7D-982B-B546E886A507}"/>
              </a:ext>
            </a:extLst>
          </p:cNvPr>
          <p:cNvSpPr>
            <a:spLocks xmlns:a="http://schemas.openxmlformats.org/drawingml/2006/main" noGrp="1"/>
          </p:cNvSpPr>
          <p:nvPr/>
        </p:nvSpPr>
        <p:spPr>
          <a:xfrm xmlns:a="http://schemas.openxmlformats.org/drawingml/2006/main">
            <a:off x="857250" y="7086600"/>
            <a:ext cx="62388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2025" b="0">
                <a:solidFill>
                  <a:srgbClr val="183247"/>
                </a:solidFill>
                <a:latin typeface="Arial"/>
                <a:ea typeface="Arial"/>
                <a:cs typeface="Arial"/>
              </a:defRPr>
            </a:pPr>
            <a:r>
              <a:rPr sz="2025" b="0">
                <a:solidFill>
                  <a:srgbClr val="183247"/>
                </a:solidFill>
                <a:latin typeface="Arial"/>
                <a:ea typeface="Arial"/>
                <a:cs typeface="Arial"/>
              </a:rPr>
              <a:t>Q_A (bezoeken per week)</a:t>
            </a:r>
          </a:p>
        </p:txBody>
      </p:sp>
      <p:sp>
        <p:nvSpPr>
          <p:cNvPr id="10" name="Groep B">
            <a:extLst xmlns:a="http://schemas.openxmlformats.org/drawingml/2006/main">
              <a:ext uri="{FF2B5EF4-FFF2-40B4-BE49-F238E27FC236}">
                <a16:creationId xmlns:a16="http://schemas.microsoft.com/office/drawing/2014/main" id="{BC744E29-32AC-4F1D-99F4-ADD7B3943D67}"/>
              </a:ext>
            </a:extLst>
          </p:cNvPr>
          <p:cNvSpPr>
            <a:spLocks xmlns:a="http://schemas.openxmlformats.org/drawingml/2006/main" noGrp="1"/>
          </p:cNvSpPr>
          <p:nvPr/>
        </p:nvSpPr>
        <p:spPr>
          <a:xfrm xmlns:a="http://schemas.openxmlformats.org/drawingml/2006/main">
            <a:off x="8286750" y="2257425"/>
            <a:ext cx="6667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83247"/>
                </a:solidFill>
                <a:latin typeface="Arial"/>
                <a:ea typeface="Arial"/>
                <a:cs typeface="Arial"/>
              </a:defRPr>
            </a:pPr>
            <a:r>
              <a:rPr sz="2550" b="1">
                <a:solidFill>
                  <a:srgbClr val="183247"/>
                </a:solidFill>
                <a:latin typeface="Arial"/>
                <a:ea typeface="Arial"/>
                <a:cs typeface="Arial"/>
              </a:rPr>
              <a:t>Groep B</a:t>
            </a:r>
          </a:p>
        </p:txBody>
      </p:sp>
      <p:sp>
        <p:nvSpPr>
          <p:cNvPr id="11" name="P, MO en MK (€ per bezoek)">
            <a:extLst xmlns:a="http://schemas.openxmlformats.org/drawingml/2006/main">
              <a:ext uri="{FF2B5EF4-FFF2-40B4-BE49-F238E27FC236}">
                <a16:creationId xmlns:a16="http://schemas.microsoft.com/office/drawing/2014/main" id="{FA85B306-0B05-4E41-91F5-A4C59E521079}"/>
              </a:ext>
            </a:extLst>
          </p:cNvPr>
          <p:cNvSpPr>
            <a:spLocks xmlns:a="http://schemas.openxmlformats.org/drawingml/2006/main" noGrp="1"/>
          </p:cNvSpPr>
          <p:nvPr/>
        </p:nvSpPr>
        <p:spPr>
          <a:xfrm xmlns:a="http://schemas.openxmlformats.org/drawingml/2006/main">
            <a:off x="8286750" y="2733675"/>
            <a:ext cx="666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183247"/>
                </a:solidFill>
                <a:latin typeface="Arial"/>
                <a:ea typeface="Arial"/>
                <a:cs typeface="Arial"/>
              </a:defRPr>
            </a:pPr>
            <a:r>
              <a:rPr sz="2025" b="0">
                <a:solidFill>
                  <a:srgbClr val="183247"/>
                </a:solidFill>
                <a:latin typeface="Arial"/>
                <a:ea typeface="Arial"/>
                <a:cs typeface="Arial"/>
              </a:rPr>
              <a:t>P, MO en MK (€ per bezoek)</a:t>
            </a:r>
          </a:p>
        </p:txBody>
      </p:sp>
      <p:graphicFrame>
        <p:nvGraphicFramePr>
          <p:cNvPr id="25" name="Chart"/>
          <p:cNvGraphicFramePr/>
          <p:nvPr/>
        </p:nvGraphicFramePr>
        <p:xfrm>
          <a:off xmlns:a="http://schemas.openxmlformats.org/drawingml/2006/main" x="8096250" y="3143250"/>
          <a:ext xmlns:a="http://schemas.openxmlformats.org/drawingml/2006/main" cx="6715125" cy="3876675"/>
        </p:xfrm>
        <a:graphic xmlns:a="http://schemas.openxmlformats.org/drawingml/2006/main">
          <a:graphicData uri="http://schemas.openxmlformats.org/drawingml/2006/chart">
            <c:chart xmlns:r="http://schemas.openxmlformats.org/officeDocument/2006/relationships" xmlns:c="http://schemas.openxmlformats.org/drawingml/2006/chart" r:id="Rc977122976474171"/>
          </a:graphicData>
        </a:graphic>
      </p:graphicFrame>
      <p:sp>
        <p:nvSpPr>
          <p:cNvPr id="13" name="Q_B (bezoeken per week)">
            <a:extLst xmlns:a="http://schemas.openxmlformats.org/drawingml/2006/main">
              <a:ext uri="{FF2B5EF4-FFF2-40B4-BE49-F238E27FC236}">
                <a16:creationId xmlns:a16="http://schemas.microsoft.com/office/drawing/2014/main" id="{A421FE39-9752-4F6C-9343-8B03B8A35C2F}"/>
              </a:ext>
            </a:extLst>
          </p:cNvPr>
          <p:cNvSpPr>
            <a:spLocks xmlns:a="http://schemas.openxmlformats.org/drawingml/2006/main" noGrp="1"/>
          </p:cNvSpPr>
          <p:nvPr/>
        </p:nvSpPr>
        <p:spPr>
          <a:xfrm xmlns:a="http://schemas.openxmlformats.org/drawingml/2006/main">
            <a:off x="8382000" y="7086600"/>
            <a:ext cx="62388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2025" b="0">
                <a:solidFill>
                  <a:srgbClr val="183247"/>
                </a:solidFill>
                <a:latin typeface="Arial"/>
                <a:ea typeface="Arial"/>
                <a:cs typeface="Arial"/>
              </a:defRPr>
            </a:pPr>
            <a:r>
              <a:rPr sz="2025" b="0">
                <a:solidFill>
                  <a:srgbClr val="183247"/>
                </a:solidFill>
                <a:latin typeface="Arial"/>
                <a:ea typeface="Arial"/>
                <a:cs typeface="Arial"/>
              </a:rPr>
              <a:t>Q_B (bezoeken per week)</a:t>
            </a:r>
          </a:p>
        </p:txBody>
      </p:sp>
    </p:spTree>
    <p:extLst>
      <p:ext uri="{BB962C8B-B14F-4D97-AF65-F5344CB8AC3E}">
        <p14:creationId xmlns:p14="http://schemas.microsoft.com/office/powerpoint/2010/main" val="670902413"/>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pgave 16 · Bron B: de vergelijking">
            <a:extLst xmlns:a="http://schemas.openxmlformats.org/drawingml/2006/main">
              <a:ext uri="{FF2B5EF4-FFF2-40B4-BE49-F238E27FC236}">
                <a16:creationId xmlns:a16="http://schemas.microsoft.com/office/drawing/2014/main" id="{3FB82C66-E8EC-48C3-A596-B6D453BD3110}"/>
              </a:ext>
            </a:extLst>
          </p:cNvPr>
          <p:cNvSpPr>
            <a:spLocks xmlns:a="http://schemas.openxmlformats.org/drawingml/2006/main" noGrp="1"/>
          </p:cNvSpPr>
          <p:nvPr/>
        </p:nvSpPr>
        <p:spPr>
          <a:xfrm xmlns:a="http://schemas.openxmlformats.org/drawingml/2006/main">
            <a:off x="571500" y="400050"/>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16 · Bron B: de vergelijking</a:t>
            </a:r>
          </a:p>
        </p:txBody>
      </p:sp>
      <p:sp>
        <p:nvSpPr>
          <p:cNvPr id="2" name="">
            <a:extLst xmlns:a="http://schemas.openxmlformats.org/drawingml/2006/main">
              <a:ext uri="{FF2B5EF4-FFF2-40B4-BE49-F238E27FC236}">
                <a16:creationId xmlns:a16="http://schemas.microsoft.com/office/drawing/2014/main" id="{76DE5CE0-8699-4042-A8D9-E87ACB7D7C1A}"/>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2 · Doelopgave 16 · Boekpagina 69">
            <a:extLst xmlns:a="http://schemas.openxmlformats.org/drawingml/2006/main">
              <a:ext uri="{FF2B5EF4-FFF2-40B4-BE49-F238E27FC236}">
                <a16:creationId xmlns:a16="http://schemas.microsoft.com/office/drawing/2014/main" id="{871783BF-AE82-425A-9E41-741DD6B4DA92}"/>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§4.2.2 · Doelopgave 16 · Boekpagina 69</a:t>
            </a:r>
          </a:p>
        </p:txBody>
      </p:sp>
      <p:sp>
        <p:nvSpPr>
          <p:cNvPr id="4" name="slide-number">
            <a:extLst xmlns:a="http://schemas.openxmlformats.org/drawingml/2006/main">
              <a:ext uri="{FF2B5EF4-FFF2-40B4-BE49-F238E27FC236}">
                <a16:creationId xmlns:a16="http://schemas.microsoft.com/office/drawing/2014/main" id="{425B71C2-1EDC-4B95-9916-93B83FBF4ADC}"/>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18</a:t>
            </a:r>
          </a:p>
        </p:txBody>
      </p:sp>
      <p:graphicFrame>
        <p:nvGraphicFramePr>
          <p:cNvPr id="12" name=""/>
          <p:cNvGraphicFramePr/>
          <p:nvPr/>
        </p:nvGraphicFramePr>
        <p:xfrm>
          <a:off xmlns:a="http://schemas.openxmlformats.org/drawingml/2006/main" x="571500" y="2124075"/>
          <a:ext xmlns:a="http://schemas.openxmlformats.org/drawingml/2006/main" cx="14097000" cy="3552825"/>
        </p:xfrm>
        <a:graphic xmlns:a="http://schemas.openxmlformats.org/drawingml/2006/main">
          <a:graphicData uri="http://schemas.openxmlformats.org/drawingml/2006/table">
            <a:tbl>
              <a:tblPr/>
              <a:tblGrid>
                <a:gridCol w="5143500"/>
                <a:gridCol w="4191000"/>
                <a:gridCol w="4762500"/>
              </a:tblGrid>
              <a:tr h="888206">
                <a:tc>
                  <a:txBody>
                    <a:bodyPr lIns="171450" tIns="95250" rIns="152400" bIns="95250"/>
                    <a:lstStyle/>
                    <a:p>
                      <a:r>
                        <a:rPr sz="2475" b="1">
                          <a:solidFill>
                            <a:srgbClr val="FFFFFF"/>
                          </a:solidFill>
                          <a:latin typeface="Arial"/>
                          <a:ea typeface="Arial"/>
                          <a:cs typeface="Arial"/>
                        </a:rPr>
                        <a:t>Gegeven</a:t>
                      </a:r>
                    </a:p>
                  </a:txBody>
                  <a:tcPr marL="91440" marR="91440" marT="45720" marB="45720" anchor="ctr">
                    <a:solidFill>
                      <a:srgbClr val="183247"/>
                    </a:solidFill>
                  </a:tcPr>
                </a:tc>
                <a:tc>
                  <a:txBody>
                    <a:bodyPr lIns="171450" tIns="95250" rIns="152400" bIns="95250"/>
                    <a:lstStyle/>
                    <a:p>
                      <a:r>
                        <a:rPr sz="2475" b="1">
                          <a:solidFill>
                            <a:srgbClr val="FFFFFF"/>
                          </a:solidFill>
                          <a:latin typeface="Arial"/>
                          <a:ea typeface="Arial"/>
                          <a:cs typeface="Arial"/>
                        </a:rPr>
                        <a:t>Eén prijs</a:t>
                      </a:r>
                    </a:p>
                  </a:txBody>
                  <a:tcPr marL="91440" marR="91440" marT="45720" marB="45720" anchor="ctr">
                    <a:solidFill>
                      <a:srgbClr val="183247"/>
                    </a:solidFill>
                  </a:tcPr>
                </a:tc>
                <a:tc>
                  <a:txBody>
                    <a:bodyPr lIns="171450" tIns="95250" rIns="152400" bIns="95250"/>
                    <a:lstStyle/>
                    <a:p>
                      <a:r>
                        <a:rPr sz="2475" b="1">
                          <a:solidFill>
                            <a:srgbClr val="FFFFFF"/>
                          </a:solidFill>
                          <a:latin typeface="Arial"/>
                          <a:ea typeface="Arial"/>
                          <a:cs typeface="Arial"/>
                        </a:rPr>
                        <a:t>Groepsprijzen</a:t>
                      </a:r>
                    </a:p>
                  </a:txBody>
                  <a:tcPr marL="91440" marR="91440" marT="45720" marB="45720" anchor="ctr">
                    <a:solidFill>
                      <a:srgbClr val="183247"/>
                    </a:solidFill>
                  </a:tcPr>
                </a:tc>
              </a:tr>
              <a:tr h="888206">
                <a:tc>
                  <a:txBody>
                    <a:bodyPr lIns="171450" tIns="95250" rIns="152400" bIns="95250"/>
                    <a:lstStyle/>
                    <a:p>
                      <a:r>
                        <a:rPr sz="2475" b="0">
                          <a:solidFill>
                            <a:srgbClr val="183247"/>
                          </a:solidFill>
                          <a:latin typeface="Arial"/>
                          <a:ea typeface="Arial"/>
                          <a:cs typeface="Arial"/>
                        </a:rPr>
                        <a:t>Prijs per bezoek</a:t>
                      </a:r>
                    </a:p>
                  </a:txBody>
                  <a:tcPr marL="91440" marR="91440" marT="45720" marB="45720" anchor="ctr">
                    <a:solidFill>
                      <a:srgbClr val="FFFFFF"/>
                    </a:solidFill>
                  </a:tcPr>
                </a:tc>
                <a:tc>
                  <a:txBody>
                    <a:bodyPr lIns="171450" tIns="95250" rIns="152400" bIns="95250"/>
                    <a:lstStyle/>
                    <a:p>
                      <a:r>
                        <a:rPr sz="2475" b="0">
                          <a:solidFill>
                            <a:srgbClr val="183247"/>
                          </a:solidFill>
                          <a:latin typeface="Arial"/>
                          <a:ea typeface="Arial"/>
                          <a:cs typeface="Arial"/>
                        </a:rPr>
                        <a:t>€ 20 voor A en B</a:t>
                      </a:r>
                    </a:p>
                  </a:txBody>
                  <a:tcPr marL="91440" marR="91440" marT="45720" marB="45720" anchor="ctr">
                    <a:solidFill>
                      <a:srgbClr val="FFFFFF"/>
                    </a:solidFill>
                  </a:tcPr>
                </a:tc>
                <a:tc>
                  <a:txBody>
                    <a:bodyPr lIns="171450" tIns="95250" rIns="152400" bIns="95250"/>
                    <a:lstStyle/>
                    <a:p>
                      <a:r>
                        <a:rPr sz="2475" b="0">
                          <a:solidFill>
                            <a:srgbClr val="183247"/>
                          </a:solidFill>
                          <a:latin typeface="Arial"/>
                          <a:ea typeface="Arial"/>
                          <a:cs typeface="Arial"/>
                        </a:rPr>
                        <a:t>Afzonderlijk winstmaximaal</a:t>
                      </a:r>
                    </a:p>
                  </a:txBody>
                  <a:tcPr marL="91440" marR="91440" marT="45720" marB="45720" anchor="ctr">
                    <a:solidFill>
                      <a:srgbClr val="FFFFFF"/>
                    </a:solidFill>
                  </a:tcPr>
                </a:tc>
              </a:tr>
              <a:tr h="888206">
                <a:tc>
                  <a:txBody>
                    <a:bodyPr lIns="171450" tIns="95250" rIns="152400" bIns="95250"/>
                    <a:lstStyle/>
                    <a:p>
                      <a:r>
                        <a:rPr sz="2475" b="0">
                          <a:solidFill>
                            <a:srgbClr val="183247"/>
                          </a:solidFill>
                          <a:latin typeface="Arial"/>
                          <a:ea typeface="Arial"/>
                          <a:cs typeface="Arial"/>
                        </a:rPr>
                        <a:t>Afzet A / afzet B</a:t>
                      </a:r>
                    </a:p>
                  </a:txBody>
                  <a:tcPr marL="91440" marR="91440" marT="45720" marB="45720" anchor="ctr">
                    <a:solidFill>
                      <a:srgbClr val="EFF4F7"/>
                    </a:solidFill>
                  </a:tcPr>
                </a:tc>
                <a:tc>
                  <a:txBody>
                    <a:bodyPr lIns="171450" tIns="95250" rIns="152400" bIns="95250"/>
                    <a:lstStyle/>
                    <a:p>
                      <a:r>
                        <a:rPr sz="2475" b="0">
                          <a:solidFill>
                            <a:srgbClr val="183247"/>
                          </a:solidFill>
                          <a:latin typeface="Arial"/>
                          <a:ea typeface="Arial"/>
                          <a:cs typeface="Arial"/>
                        </a:rPr>
                        <a:t>20 / 4 bezoeken per week</a:t>
                      </a:r>
                    </a:p>
                  </a:txBody>
                  <a:tcPr marL="91440" marR="91440" marT="45720" marB="45720" anchor="ctr">
                    <a:solidFill>
                      <a:srgbClr val="EFF4F7"/>
                    </a:solidFill>
                  </a:tcPr>
                </a:tc>
                <a:tc>
                  <a:txBody>
                    <a:bodyPr lIns="171450" tIns="95250" rIns="152400" bIns="95250"/>
                    <a:lstStyle/>
                    <a:p>
                      <a:r>
                        <a:rPr sz="2475" b="0">
                          <a:solidFill>
                            <a:srgbClr val="183247"/>
                          </a:solidFill>
                          <a:latin typeface="Arial"/>
                          <a:ea typeface="Arial"/>
                          <a:cs typeface="Arial"/>
                        </a:rPr>
                        <a:t>Te berekenen</a:t>
                      </a:r>
                    </a:p>
                  </a:txBody>
                  <a:tcPr marL="91440" marR="91440" marT="45720" marB="45720" anchor="ctr">
                    <a:solidFill>
                      <a:srgbClr val="EFF4F7"/>
                    </a:solidFill>
                  </a:tcPr>
                </a:tc>
              </a:tr>
              <a:tr h="888206">
                <a:tc>
                  <a:txBody>
                    <a:bodyPr lIns="171450" tIns="95250" rIns="152400" bIns="95250"/>
                    <a:lstStyle/>
                    <a:p>
                      <a:r>
                        <a:rPr sz="2475" b="0">
                          <a:solidFill>
                            <a:srgbClr val="183247"/>
                          </a:solidFill>
                          <a:latin typeface="Arial"/>
                          <a:ea typeface="Arial"/>
                          <a:cs typeface="Arial"/>
                        </a:rPr>
                        <a:t>Totale CS per week</a:t>
                      </a:r>
                    </a:p>
                  </a:txBody>
                  <a:tcPr marL="91440" marR="91440" marT="45720" marB="45720" anchor="ctr">
                    <a:solidFill>
                      <a:srgbClr val="FFFFFF"/>
                    </a:solidFill>
                  </a:tcPr>
                </a:tc>
                <a:tc>
                  <a:txBody>
                    <a:bodyPr lIns="171450" tIns="95250" rIns="152400" bIns="95250"/>
                    <a:lstStyle/>
                    <a:p>
                      <a:r>
                        <a:rPr sz="2475" b="0">
                          <a:solidFill>
                            <a:srgbClr val="183247"/>
                          </a:solidFill>
                          <a:latin typeface="Arial"/>
                          <a:ea typeface="Arial"/>
                          <a:cs typeface="Arial"/>
                        </a:rPr>
                        <a:t>€ 208</a:t>
                      </a:r>
                    </a:p>
                  </a:txBody>
                  <a:tcPr marL="91440" marR="91440" marT="45720" marB="45720" anchor="ctr">
                    <a:solidFill>
                      <a:srgbClr val="FFFFFF"/>
                    </a:solidFill>
                  </a:tcPr>
                </a:tc>
                <a:tc>
                  <a:txBody>
                    <a:bodyPr lIns="171450" tIns="95250" rIns="152400" bIns="95250"/>
                    <a:lstStyle/>
                    <a:p>
                      <a:r>
                        <a:rPr sz="2475" b="0">
                          <a:solidFill>
                            <a:srgbClr val="183247"/>
                          </a:solidFill>
                          <a:latin typeface="Arial"/>
                          <a:ea typeface="Arial"/>
                          <a:cs typeface="Arial"/>
                        </a:rPr>
                        <a:t>€ 160</a:t>
                      </a:r>
                    </a:p>
                  </a:txBody>
                  <a:tcPr marL="91440" marR="91440" marT="45720" marB="45720" anchor="ctr">
                    <a:solidFill>
                      <a:srgbClr val="FFFFFF"/>
                    </a:solidFill>
                  </a:tcPr>
                </a:tc>
              </a:tr>
            </a:tbl>
          </a:graphicData>
        </a:graphic>
      </p:graphicFrame>
      <p:sp>
        <p:nvSpPr>
          <p:cNvPr id="6" name="De vraag en kosten veranderen niet. Er zijn geen externe effecte">
            <a:extLst xmlns:a="http://schemas.openxmlformats.org/drawingml/2006/main">
              <a:ext uri="{FF2B5EF4-FFF2-40B4-BE49-F238E27FC236}">
                <a16:creationId xmlns:a16="http://schemas.microsoft.com/office/drawing/2014/main" id="{8A222258-C284-46D8-97E7-50B7A8970863}"/>
              </a:ext>
            </a:extLst>
          </p:cNvPr>
          <p:cNvSpPr>
            <a:spLocks xmlns:a="http://schemas.openxmlformats.org/drawingml/2006/main" noGrp="1"/>
          </p:cNvSpPr>
          <p:nvPr/>
        </p:nvSpPr>
        <p:spPr>
          <a:xfrm xmlns:a="http://schemas.openxmlformats.org/drawingml/2006/main">
            <a:off x="571500" y="6229350"/>
            <a:ext cx="1409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83247"/>
                </a:solidFill>
                <a:latin typeface="Arial"/>
                <a:ea typeface="Arial"/>
                <a:cs typeface="Arial"/>
              </a:defRPr>
            </a:pPr>
            <a:r>
              <a:rPr sz="2775" b="1">
                <a:solidFill>
                  <a:srgbClr val="183247"/>
                </a:solidFill>
                <a:latin typeface="Arial"/>
                <a:ea typeface="Arial"/>
                <a:cs typeface="Arial"/>
              </a:rPr>
              <a:t>De vraag en kosten veranderen niet. Er zijn geen externe effecten.</a:t>
            </a:r>
          </a:p>
        </p:txBody>
      </p:sp>
      <p:sp>
        <p:nvSpPr>
          <p:cNvPr id="7" name="Gebruik beide bronnen. Je hoeft de gemeenschappelijke prijs&#10;van ">
            <a:extLst xmlns:a="http://schemas.openxmlformats.org/drawingml/2006/main">
              <a:ext uri="{FF2B5EF4-FFF2-40B4-BE49-F238E27FC236}">
                <a16:creationId xmlns:a16="http://schemas.microsoft.com/office/drawing/2014/main" id="{2975912E-E672-4E3D-8CEE-91779A941FE4}"/>
              </a:ext>
            </a:extLst>
          </p:cNvPr>
          <p:cNvSpPr>
            <a:spLocks xmlns:a="http://schemas.openxmlformats.org/drawingml/2006/main" noGrp="1"/>
          </p:cNvSpPr>
          <p:nvPr/>
        </p:nvSpPr>
        <p:spPr>
          <a:xfrm xmlns:a="http://schemas.openxmlformats.org/drawingml/2006/main">
            <a:off x="571500" y="7219950"/>
            <a:ext cx="140970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Gebruik beide bronnen. Je hoeft de gemeenschappelijke prijs</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van € 20 niet opnieuw te bepalen.</a:t>
            </a:r>
          </a:p>
        </p:txBody>
      </p:sp>
    </p:spTree>
    <p:extLst>
      <p:ext uri="{BB962C8B-B14F-4D97-AF65-F5344CB8AC3E}">
        <p14:creationId xmlns:p14="http://schemas.microsoft.com/office/powerpoint/2010/main" val="440985647"/>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Opgave 16 · Deelvragen a, b en c">
            <a:extLst xmlns:a="http://schemas.openxmlformats.org/drawingml/2006/main">
              <a:ext uri="{FF2B5EF4-FFF2-40B4-BE49-F238E27FC236}">
                <a16:creationId xmlns:a16="http://schemas.microsoft.com/office/drawing/2014/main" id="{EB2CE4AE-7CD9-4EAE-8155-04CBE170BB5B}"/>
              </a:ext>
            </a:extLst>
          </p:cNvPr>
          <p:cNvSpPr>
            <a:spLocks xmlns:a="http://schemas.openxmlformats.org/drawingml/2006/main" noGrp="1"/>
          </p:cNvSpPr>
          <p:nvPr/>
        </p:nvSpPr>
        <p:spPr>
          <a:xfrm xmlns:a="http://schemas.openxmlformats.org/drawingml/2006/main">
            <a:off x="571500" y="400050"/>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16 · Deelvragen a, b en c</a:t>
            </a:r>
          </a:p>
        </p:txBody>
      </p:sp>
      <p:sp>
        <p:nvSpPr>
          <p:cNvPr id="2" name="">
            <a:extLst xmlns:a="http://schemas.openxmlformats.org/drawingml/2006/main">
              <a:ext uri="{FF2B5EF4-FFF2-40B4-BE49-F238E27FC236}">
                <a16:creationId xmlns:a16="http://schemas.microsoft.com/office/drawing/2014/main" id="{3FAD7690-F64A-4502-B8B4-B0C42224075B}"/>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2 · Doelopgave 16 · Boekpagina 69">
            <a:extLst xmlns:a="http://schemas.openxmlformats.org/drawingml/2006/main">
              <a:ext uri="{FF2B5EF4-FFF2-40B4-BE49-F238E27FC236}">
                <a16:creationId xmlns:a16="http://schemas.microsoft.com/office/drawing/2014/main" id="{E8A322C7-49DF-45BF-A6CE-BB4C7BEC1004}"/>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§4.2.2 · Doelopgave 16 · Boekpagina 69</a:t>
            </a:r>
          </a:p>
        </p:txBody>
      </p:sp>
      <p:sp>
        <p:nvSpPr>
          <p:cNvPr id="4" name="slide-number">
            <a:extLst xmlns:a="http://schemas.openxmlformats.org/drawingml/2006/main">
              <a:ext uri="{FF2B5EF4-FFF2-40B4-BE49-F238E27FC236}">
                <a16:creationId xmlns:a16="http://schemas.microsoft.com/office/drawing/2014/main" id="{1B7E4380-DA38-4981-B900-FE726C03B58C}"/>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19</a:t>
            </a:r>
          </a:p>
        </p:txBody>
      </p:sp>
      <p:sp>
        <p:nvSpPr>
          <p:cNvPr id="5" name="a · 3p">
            <a:extLst xmlns:a="http://schemas.openxmlformats.org/drawingml/2006/main">
              <a:ext uri="{FF2B5EF4-FFF2-40B4-BE49-F238E27FC236}">
                <a16:creationId xmlns:a16="http://schemas.microsoft.com/office/drawing/2014/main" id="{DDDE4963-39A8-4CB4-8C2B-60A029CE2B48}"/>
              </a:ext>
            </a:extLst>
          </p:cNvPr>
          <p:cNvSpPr>
            <a:spLocks xmlns:a="http://schemas.openxmlformats.org/drawingml/2006/main" noGrp="1"/>
          </p:cNvSpPr>
          <p:nvPr/>
        </p:nvSpPr>
        <p:spPr>
          <a:xfrm xmlns:a="http://schemas.openxmlformats.org/drawingml/2006/main">
            <a:off x="571500" y="2009775"/>
            <a:ext cx="2000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a · 3p</a:t>
            </a:r>
          </a:p>
        </p:txBody>
      </p:sp>
      <p:sp>
        <p:nvSpPr>
          <p:cNvPr id="6" name="Bereken per groep MO, de winstmaximale hoeveelheid en de groepsp">
            <a:extLst xmlns:a="http://schemas.openxmlformats.org/drawingml/2006/main">
              <a:ext uri="{FF2B5EF4-FFF2-40B4-BE49-F238E27FC236}">
                <a16:creationId xmlns:a16="http://schemas.microsoft.com/office/drawing/2014/main" id="{36382623-8031-4B67-823D-412896DA6335}"/>
              </a:ext>
            </a:extLst>
          </p:cNvPr>
          <p:cNvSpPr>
            <a:spLocks xmlns:a="http://schemas.openxmlformats.org/drawingml/2006/main" noGrp="1"/>
          </p:cNvSpPr>
          <p:nvPr/>
        </p:nvSpPr>
        <p:spPr>
          <a:xfrm xmlns:a="http://schemas.openxmlformats.org/drawingml/2006/main">
            <a:off x="3009900" y="2009775"/>
            <a:ext cx="11620500" cy="1295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Bereken per groep MO, de winstmaximale hoeveelheid en de groepsprijs.</a:t>
            </a:r>
          </a:p>
        </p:txBody>
      </p:sp>
      <p:sp>
        <p:nvSpPr>
          <p:cNvPr id="7" name="">
            <a:extLst xmlns:a="http://schemas.openxmlformats.org/drawingml/2006/main">
              <a:ext uri="{FF2B5EF4-FFF2-40B4-BE49-F238E27FC236}">
                <a16:creationId xmlns:a16="http://schemas.microsoft.com/office/drawing/2014/main" id="{F00D4340-3EDA-41E3-B6AA-AEE931C12E26}"/>
              </a:ext>
            </a:extLst>
          </p:cNvPr>
          <p:cNvSpPr>
            <a:spLocks xmlns:a="http://schemas.openxmlformats.org/drawingml/2006/main" noGrp="1"/>
          </p:cNvSpPr>
          <p:nvPr/>
        </p:nvSpPr>
        <p:spPr>
          <a:xfrm xmlns:a="http://schemas.openxmlformats.org/drawingml/2006/main">
            <a:off x="571500" y="3600450"/>
            <a:ext cx="14097000" cy="0"/>
          </a:xfrm>
          <a:prstGeom xmlns:a="http://schemas.openxmlformats.org/drawingml/2006/main" prst="line">
            <a:avLst/>
          </a:prstGeom>
          <a:ln xmlns:a="http://schemas.openxmlformats.org/drawingml/2006/main" w="19050">
            <a:solidFill>
              <a:srgbClr val="C6D2DB"/>
            </a:solidFill>
          </a:ln>
        </p:spPr>
      </p:sp>
      <p:sp>
        <p:nvSpPr>
          <p:cNvPr id="8" name="b · 3p">
            <a:extLst xmlns:a="http://schemas.openxmlformats.org/drawingml/2006/main">
              <a:ext uri="{FF2B5EF4-FFF2-40B4-BE49-F238E27FC236}">
                <a16:creationId xmlns:a16="http://schemas.microsoft.com/office/drawing/2014/main" id="{ACE8D2B0-B0E1-4A38-BE42-83C9C38617BB}"/>
              </a:ext>
            </a:extLst>
          </p:cNvPr>
          <p:cNvSpPr>
            <a:spLocks xmlns:a="http://schemas.openxmlformats.org/drawingml/2006/main" noGrp="1"/>
          </p:cNvSpPr>
          <p:nvPr/>
        </p:nvSpPr>
        <p:spPr>
          <a:xfrm xmlns:a="http://schemas.openxmlformats.org/drawingml/2006/main">
            <a:off x="571500" y="3933825"/>
            <a:ext cx="2000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b · 3p</a:t>
            </a:r>
          </a:p>
        </p:txBody>
      </p:sp>
      <p:sp>
        <p:nvSpPr>
          <p:cNvPr id="9" name="Bereken TO en winst bij één prijs en bij de groepsprijzen.">
            <a:extLst xmlns:a="http://schemas.openxmlformats.org/drawingml/2006/main">
              <a:ext uri="{FF2B5EF4-FFF2-40B4-BE49-F238E27FC236}">
                <a16:creationId xmlns:a16="http://schemas.microsoft.com/office/drawing/2014/main" id="{B801168F-E005-4736-B77F-826C96DF5066}"/>
              </a:ext>
            </a:extLst>
          </p:cNvPr>
          <p:cNvSpPr>
            <a:spLocks xmlns:a="http://schemas.openxmlformats.org/drawingml/2006/main" noGrp="1"/>
          </p:cNvSpPr>
          <p:nvPr/>
        </p:nvSpPr>
        <p:spPr>
          <a:xfrm xmlns:a="http://schemas.openxmlformats.org/drawingml/2006/main">
            <a:off x="3009900" y="3933825"/>
            <a:ext cx="11620500" cy="1295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Bereken TO en winst bij één prijs en bij de groepsprijzen.</a:t>
            </a:r>
          </a:p>
        </p:txBody>
      </p:sp>
      <p:sp>
        <p:nvSpPr>
          <p:cNvPr id="10" name="">
            <a:extLst xmlns:a="http://schemas.openxmlformats.org/drawingml/2006/main">
              <a:ext uri="{FF2B5EF4-FFF2-40B4-BE49-F238E27FC236}">
                <a16:creationId xmlns:a16="http://schemas.microsoft.com/office/drawing/2014/main" id="{8487450F-A011-4EAA-8182-E0459A83EC58}"/>
              </a:ext>
            </a:extLst>
          </p:cNvPr>
          <p:cNvSpPr>
            <a:spLocks xmlns:a="http://schemas.openxmlformats.org/drawingml/2006/main" noGrp="1"/>
          </p:cNvSpPr>
          <p:nvPr/>
        </p:nvSpPr>
        <p:spPr>
          <a:xfrm xmlns:a="http://schemas.openxmlformats.org/drawingml/2006/main">
            <a:off x="571500" y="5524500"/>
            <a:ext cx="14097000" cy="0"/>
          </a:xfrm>
          <a:prstGeom xmlns:a="http://schemas.openxmlformats.org/drawingml/2006/main" prst="line">
            <a:avLst/>
          </a:prstGeom>
          <a:ln xmlns:a="http://schemas.openxmlformats.org/drawingml/2006/main" w="19050">
            <a:solidFill>
              <a:srgbClr val="C6D2DB"/>
            </a:solidFill>
          </a:ln>
        </p:spPr>
      </p:sp>
      <p:sp>
        <p:nvSpPr>
          <p:cNvPr id="11" name="c · 2p">
            <a:extLst xmlns:a="http://schemas.openxmlformats.org/drawingml/2006/main">
              <a:ext uri="{FF2B5EF4-FFF2-40B4-BE49-F238E27FC236}">
                <a16:creationId xmlns:a16="http://schemas.microsoft.com/office/drawing/2014/main" id="{0DF22E1B-2920-485C-8814-E9CDE8A02008}"/>
              </a:ext>
            </a:extLst>
          </p:cNvPr>
          <p:cNvSpPr>
            <a:spLocks xmlns:a="http://schemas.openxmlformats.org/drawingml/2006/main" noGrp="1"/>
          </p:cNvSpPr>
          <p:nvPr/>
        </p:nvSpPr>
        <p:spPr>
          <a:xfrm xmlns:a="http://schemas.openxmlformats.org/drawingml/2006/main">
            <a:off x="571500" y="5857875"/>
            <a:ext cx="2000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c · 2p</a:t>
            </a:r>
          </a:p>
        </p:txBody>
      </p:sp>
      <p:sp>
        <p:nvSpPr>
          <p:cNvPr id="12" name="Welke groep betaalt meer en welke minder? Noem één noodzakelijke">
            <a:extLst xmlns:a="http://schemas.openxmlformats.org/drawingml/2006/main">
              <a:ext uri="{FF2B5EF4-FFF2-40B4-BE49-F238E27FC236}">
                <a16:creationId xmlns:a16="http://schemas.microsoft.com/office/drawing/2014/main" id="{DAFF4A52-FBD9-4BB2-874B-F7D59B80F006}"/>
              </a:ext>
            </a:extLst>
          </p:cNvPr>
          <p:cNvSpPr>
            <a:spLocks xmlns:a="http://schemas.openxmlformats.org/drawingml/2006/main" noGrp="1"/>
          </p:cNvSpPr>
          <p:nvPr/>
        </p:nvSpPr>
        <p:spPr>
          <a:xfrm xmlns:a="http://schemas.openxmlformats.org/drawingml/2006/main">
            <a:off x="3009900" y="5857875"/>
            <a:ext cx="11620500" cy="1295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Welke groep betaalt meer en welke minder? Noem één noodzakelijke voorwaarde uit bron A.</a:t>
            </a:r>
          </a:p>
        </p:txBody>
      </p:sp>
    </p:spTree>
    <p:extLst>
      <p:ext uri="{BB962C8B-B14F-4D97-AF65-F5344CB8AC3E}">
        <p14:creationId xmlns:p14="http://schemas.microsoft.com/office/powerpoint/2010/main" val="669296948"/>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Opgave 16 · Deelvragen d en e">
            <a:extLst xmlns:a="http://schemas.openxmlformats.org/drawingml/2006/main">
              <a:ext uri="{FF2B5EF4-FFF2-40B4-BE49-F238E27FC236}">
                <a16:creationId xmlns:a16="http://schemas.microsoft.com/office/drawing/2014/main" id="{7B4ECAD1-68B0-4CAA-956F-B65F569B1CB4}"/>
              </a:ext>
            </a:extLst>
          </p:cNvPr>
          <p:cNvSpPr>
            <a:spLocks xmlns:a="http://schemas.openxmlformats.org/drawingml/2006/main" noGrp="1"/>
          </p:cNvSpPr>
          <p:nvPr/>
        </p:nvSpPr>
        <p:spPr>
          <a:xfrm xmlns:a="http://schemas.openxmlformats.org/drawingml/2006/main">
            <a:off x="571500" y="400050"/>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16 · Deelvragen d en e</a:t>
            </a:r>
          </a:p>
        </p:txBody>
      </p:sp>
      <p:sp>
        <p:nvSpPr>
          <p:cNvPr id="2" name="">
            <a:extLst xmlns:a="http://schemas.openxmlformats.org/drawingml/2006/main">
              <a:ext uri="{FF2B5EF4-FFF2-40B4-BE49-F238E27FC236}">
                <a16:creationId xmlns:a16="http://schemas.microsoft.com/office/drawing/2014/main" id="{E7BA550C-CC0C-437E-BB81-1687A1C9EC23}"/>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2 · Doelopgave 16 · Boekpagina 69">
            <a:extLst xmlns:a="http://schemas.openxmlformats.org/drawingml/2006/main">
              <a:ext uri="{FF2B5EF4-FFF2-40B4-BE49-F238E27FC236}">
                <a16:creationId xmlns:a16="http://schemas.microsoft.com/office/drawing/2014/main" id="{D2D2C409-95FA-41A4-B912-04A23D589A7C}"/>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§4.2.2 · Doelopgave 16 · Boekpagina 69</a:t>
            </a:r>
          </a:p>
        </p:txBody>
      </p:sp>
      <p:sp>
        <p:nvSpPr>
          <p:cNvPr id="4" name="slide-number">
            <a:extLst xmlns:a="http://schemas.openxmlformats.org/drawingml/2006/main">
              <a:ext uri="{FF2B5EF4-FFF2-40B4-BE49-F238E27FC236}">
                <a16:creationId xmlns:a16="http://schemas.microsoft.com/office/drawing/2014/main" id="{E9FF1FD5-BABF-4865-B774-BEAA7EBEEE73}"/>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20</a:t>
            </a:r>
          </a:p>
        </p:txBody>
      </p:sp>
      <p:sp>
        <p:nvSpPr>
          <p:cNvPr id="5" name="d · 3p">
            <a:extLst xmlns:a="http://schemas.openxmlformats.org/drawingml/2006/main">
              <a:ext uri="{FF2B5EF4-FFF2-40B4-BE49-F238E27FC236}">
                <a16:creationId xmlns:a16="http://schemas.microsoft.com/office/drawing/2014/main" id="{2EAB93C6-CABA-4C5B-88B4-3BF9B1303B23}"/>
              </a:ext>
            </a:extLst>
          </p:cNvPr>
          <p:cNvSpPr>
            <a:spLocks xmlns:a="http://schemas.openxmlformats.org/drawingml/2006/main" noGrp="1"/>
          </p:cNvSpPr>
          <p:nvPr/>
        </p:nvSpPr>
        <p:spPr>
          <a:xfrm xmlns:a="http://schemas.openxmlformats.org/drawingml/2006/main">
            <a:off x="571500" y="2152650"/>
            <a:ext cx="2000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d · 3p</a:t>
            </a:r>
          </a:p>
        </p:txBody>
      </p:sp>
      <p:sp>
        <p:nvSpPr>
          <p:cNvPr id="6" name="Bereken met bron B PS en TS in beide situaties. Is de hogere win">
            <a:extLst xmlns:a="http://schemas.openxmlformats.org/drawingml/2006/main">
              <a:ext uri="{FF2B5EF4-FFF2-40B4-BE49-F238E27FC236}">
                <a16:creationId xmlns:a16="http://schemas.microsoft.com/office/drawing/2014/main" id="{C99C7B15-394E-4A72-B17E-D0400BB87E85}"/>
              </a:ext>
            </a:extLst>
          </p:cNvPr>
          <p:cNvSpPr>
            <a:spLocks xmlns:a="http://schemas.openxmlformats.org/drawingml/2006/main" noGrp="1"/>
          </p:cNvSpPr>
          <p:nvPr/>
        </p:nvSpPr>
        <p:spPr>
          <a:xfrm xmlns:a="http://schemas.openxmlformats.org/drawingml/2006/main">
            <a:off x="3009900" y="2152650"/>
            <a:ext cx="116205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0">
                <a:solidFill>
                  <a:srgbClr val="183247"/>
                </a:solidFill>
                <a:latin typeface="Arial"/>
                <a:ea typeface="Arial"/>
                <a:cs typeface="Arial"/>
              </a:defRPr>
            </a:pPr>
            <a:r>
              <a:rPr sz="3000" b="0">
                <a:solidFill>
                  <a:srgbClr val="183247"/>
                </a:solidFill>
                <a:latin typeface="Arial"/>
                <a:ea typeface="Arial"/>
                <a:cs typeface="Arial"/>
              </a:rPr>
              <a:t>Bereken met bron B PS en TS in beide situaties. Is de hogere winst hier ook een hogere totale welvaart?</a:t>
            </a:r>
          </a:p>
        </p:txBody>
      </p:sp>
      <p:sp>
        <p:nvSpPr>
          <p:cNvPr id="7" name="">
            <a:extLst xmlns:a="http://schemas.openxmlformats.org/drawingml/2006/main">
              <a:ext uri="{FF2B5EF4-FFF2-40B4-BE49-F238E27FC236}">
                <a16:creationId xmlns:a16="http://schemas.microsoft.com/office/drawing/2014/main" id="{491836C5-1EE0-4E9F-BE3A-3EA74BEA4BB4}"/>
              </a:ext>
            </a:extLst>
          </p:cNvPr>
          <p:cNvSpPr>
            <a:spLocks xmlns:a="http://schemas.openxmlformats.org/drawingml/2006/main" noGrp="1"/>
          </p:cNvSpPr>
          <p:nvPr/>
        </p:nvSpPr>
        <p:spPr>
          <a:xfrm xmlns:a="http://schemas.openxmlformats.org/drawingml/2006/main">
            <a:off x="571500" y="4400550"/>
            <a:ext cx="14097000" cy="0"/>
          </a:xfrm>
          <a:prstGeom xmlns:a="http://schemas.openxmlformats.org/drawingml/2006/main" prst="line">
            <a:avLst/>
          </a:prstGeom>
          <a:ln xmlns:a="http://schemas.openxmlformats.org/drawingml/2006/main" w="19050">
            <a:solidFill>
              <a:srgbClr val="C6D2DB"/>
            </a:solidFill>
          </a:ln>
        </p:spPr>
      </p:sp>
      <p:sp>
        <p:nvSpPr>
          <p:cNvPr id="8" name="e · 2p">
            <a:extLst xmlns:a="http://schemas.openxmlformats.org/drawingml/2006/main">
              <a:ext uri="{FF2B5EF4-FFF2-40B4-BE49-F238E27FC236}">
                <a16:creationId xmlns:a16="http://schemas.microsoft.com/office/drawing/2014/main" id="{C95D8D09-FBB0-436D-878F-777C2E44E085}"/>
              </a:ext>
            </a:extLst>
          </p:cNvPr>
          <p:cNvSpPr>
            <a:spLocks xmlns:a="http://schemas.openxmlformats.org/drawingml/2006/main" noGrp="1"/>
          </p:cNvSpPr>
          <p:nvPr/>
        </p:nvSpPr>
        <p:spPr>
          <a:xfrm xmlns:a="http://schemas.openxmlformats.org/drawingml/2006/main">
            <a:off x="571500" y="4991100"/>
            <a:ext cx="2000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e · 2p</a:t>
            </a:r>
          </a:p>
        </p:txBody>
      </p:sp>
      <p:sp>
        <p:nvSpPr>
          <p:cNvPr id="9" name="Waarom bewijst deze ene case niet dat prijsdiscriminatie altijd ">
            <a:extLst xmlns:a="http://schemas.openxmlformats.org/drawingml/2006/main">
              <a:ext uri="{FF2B5EF4-FFF2-40B4-BE49-F238E27FC236}">
                <a16:creationId xmlns:a16="http://schemas.microsoft.com/office/drawing/2014/main" id="{E0A19405-DAD8-41B4-8B75-CF8729DA4771}"/>
              </a:ext>
            </a:extLst>
          </p:cNvPr>
          <p:cNvSpPr>
            <a:spLocks xmlns:a="http://schemas.openxmlformats.org/drawingml/2006/main" noGrp="1"/>
          </p:cNvSpPr>
          <p:nvPr/>
        </p:nvSpPr>
        <p:spPr>
          <a:xfrm xmlns:a="http://schemas.openxmlformats.org/drawingml/2006/main">
            <a:off x="3009900" y="4991100"/>
            <a:ext cx="11620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0">
                <a:solidFill>
                  <a:srgbClr val="183247"/>
                </a:solidFill>
                <a:latin typeface="Arial"/>
                <a:ea typeface="Arial"/>
                <a:cs typeface="Arial"/>
              </a:defRPr>
            </a:pPr>
            <a:r>
              <a:rPr sz="3000" b="0">
                <a:solidFill>
                  <a:srgbClr val="183247"/>
                </a:solidFill>
                <a:latin typeface="Arial"/>
                <a:ea typeface="Arial"/>
                <a:cs typeface="Arial"/>
              </a:rPr>
              <a:t>Waarom bewijst deze ene case niet dat prijsdiscriminatie altijd welvaart verlaagt?</a:t>
            </a:r>
          </a:p>
        </p:txBody>
      </p:sp>
    </p:spTree>
    <p:extLst>
      <p:ext uri="{BB962C8B-B14F-4D97-AF65-F5344CB8AC3E}">
        <p14:creationId xmlns:p14="http://schemas.microsoft.com/office/powerpoint/2010/main" val="1480544970"/>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16a · Bereken de winstmaximale hoeveelheden">
            <a:extLst xmlns:a="http://schemas.openxmlformats.org/drawingml/2006/main">
              <a:ext uri="{FF2B5EF4-FFF2-40B4-BE49-F238E27FC236}">
                <a16:creationId xmlns:a16="http://schemas.microsoft.com/office/drawing/2014/main" id="{ED8F7CF4-D1A0-4AB9-B1AB-B58EE13EB5B9}"/>
              </a:ext>
            </a:extLst>
          </p:cNvPr>
          <p:cNvSpPr>
            <a:spLocks xmlns:a="http://schemas.openxmlformats.org/drawingml/2006/main" noGrp="1"/>
          </p:cNvSpPr>
          <p:nvPr/>
        </p:nvSpPr>
        <p:spPr>
          <a:xfrm xmlns:a="http://schemas.openxmlformats.org/drawingml/2006/main">
            <a:off x="571500" y="400050"/>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16a · Bereken de winstmaximale hoeveelheden</a:t>
            </a:r>
          </a:p>
        </p:txBody>
      </p:sp>
      <p:sp>
        <p:nvSpPr>
          <p:cNvPr id="2" name="">
            <a:extLst xmlns:a="http://schemas.openxmlformats.org/drawingml/2006/main">
              <a:ext uri="{FF2B5EF4-FFF2-40B4-BE49-F238E27FC236}">
                <a16:creationId xmlns:a16="http://schemas.microsoft.com/office/drawing/2014/main" id="{D69A25AF-CF20-4DE4-95FA-9FF7DD14587F}"/>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2 · FilmLab · Boekpagina 69">
            <a:extLst xmlns:a="http://schemas.openxmlformats.org/drawingml/2006/main">
              <a:ext uri="{FF2B5EF4-FFF2-40B4-BE49-F238E27FC236}">
                <a16:creationId xmlns:a16="http://schemas.microsoft.com/office/drawing/2014/main" id="{6EDD6643-9AC9-465F-ABA8-4307BDD9F286}"/>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§4.2.2 · FilmLab · Boekpagina 69</a:t>
            </a:r>
          </a:p>
        </p:txBody>
      </p:sp>
      <p:sp>
        <p:nvSpPr>
          <p:cNvPr id="4" name="slide-number">
            <a:extLst xmlns:a="http://schemas.openxmlformats.org/drawingml/2006/main">
              <a:ext uri="{FF2B5EF4-FFF2-40B4-BE49-F238E27FC236}">
                <a16:creationId xmlns:a16="http://schemas.microsoft.com/office/drawing/2014/main" id="{E7F8C641-C933-4587-9C75-1B8064B7F722}"/>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21</a:t>
            </a:r>
          </a:p>
        </p:txBody>
      </p:sp>
      <p:graphicFrame>
        <p:nvGraphicFramePr>
          <p:cNvPr id="12" name=""/>
          <p:cNvGraphicFramePr/>
          <p:nvPr/>
        </p:nvGraphicFramePr>
        <p:xfrm>
          <a:off xmlns:a="http://schemas.openxmlformats.org/drawingml/2006/main" x="571500" y="2114550"/>
          <a:ext xmlns:a="http://schemas.openxmlformats.org/drawingml/2006/main" cx="14097000" cy="4038600"/>
        </p:xfrm>
        <a:graphic xmlns:a="http://schemas.openxmlformats.org/drawingml/2006/main">
          <a:graphicData uri="http://schemas.openxmlformats.org/drawingml/2006/table">
            <a:tbl>
              <a:tblPr/>
              <a:tblGrid>
                <a:gridCol w="3810000"/>
                <a:gridCol w="5143500"/>
                <a:gridCol w="5143500"/>
              </a:tblGrid>
              <a:tr h="807720">
                <a:tc>
                  <a:txBody>
                    <a:bodyPr lIns="171450" tIns="95250" rIns="152400" bIns="95250"/>
                    <a:lstStyle/>
                    <a:p>
                      <a:r>
                        <a:rPr sz="2475" b="1">
                          <a:solidFill>
                            <a:srgbClr val="FFFFFF"/>
                          </a:solidFill>
                          <a:latin typeface="Arial"/>
                          <a:ea typeface="Arial"/>
                          <a:cs typeface="Arial"/>
                        </a:rPr>
                        <a:t>Stap</a:t>
                      </a:r>
                    </a:p>
                  </a:txBody>
                  <a:tcPr marL="91440" marR="91440" marT="45720" marB="45720" anchor="ctr">
                    <a:solidFill>
                      <a:srgbClr val="183247"/>
                    </a:solidFill>
                  </a:tcPr>
                </a:tc>
                <a:tc>
                  <a:txBody>
                    <a:bodyPr lIns="171450" tIns="95250" rIns="152400" bIns="95250"/>
                    <a:lstStyle/>
                    <a:p>
                      <a:r>
                        <a:rPr sz="2475" b="1">
                          <a:solidFill>
                            <a:srgbClr val="FFFFFF"/>
                          </a:solidFill>
                          <a:latin typeface="Arial"/>
                          <a:ea typeface="Arial"/>
                          <a:cs typeface="Arial"/>
                        </a:rPr>
                        <a:t>Groep A</a:t>
                      </a:r>
                    </a:p>
                  </a:txBody>
                  <a:tcPr marL="91440" marR="91440" marT="45720" marB="45720" anchor="ctr">
                    <a:solidFill>
                      <a:srgbClr val="183247"/>
                    </a:solidFill>
                  </a:tcPr>
                </a:tc>
                <a:tc>
                  <a:txBody>
                    <a:bodyPr lIns="171450" tIns="95250" rIns="152400" bIns="95250"/>
                    <a:lstStyle/>
                    <a:p>
                      <a:r>
                        <a:rPr sz="2475" b="1">
                          <a:solidFill>
                            <a:srgbClr val="FFFFFF"/>
                          </a:solidFill>
                          <a:latin typeface="Arial"/>
                          <a:ea typeface="Arial"/>
                          <a:cs typeface="Arial"/>
                        </a:rPr>
                        <a:t>Groep B</a:t>
                      </a:r>
                    </a:p>
                  </a:txBody>
                  <a:tcPr marL="91440" marR="91440" marT="45720" marB="45720" anchor="ctr">
                    <a:solidFill>
                      <a:srgbClr val="183247"/>
                    </a:solidFill>
                  </a:tcPr>
                </a:tc>
              </a:tr>
              <a:tr h="807720">
                <a:tc>
                  <a:txBody>
                    <a:bodyPr lIns="171450" tIns="95250" rIns="152400" bIns="95250"/>
                    <a:lstStyle/>
                    <a:p>
                      <a:r>
                        <a:rPr sz="2475" b="0">
                          <a:solidFill>
                            <a:srgbClr val="183247"/>
                          </a:solidFill>
                          <a:latin typeface="Arial"/>
                          <a:ea typeface="Arial"/>
                          <a:cs typeface="Arial"/>
                        </a:rPr>
                        <a:t>TO = P × Q</a:t>
                      </a:r>
                    </a:p>
                  </a:txBody>
                  <a:tcPr marL="91440" marR="91440" marT="45720" marB="45720" anchor="ctr">
                    <a:solidFill>
                      <a:srgbClr val="FFFFFF"/>
                    </a:solidFill>
                  </a:tcPr>
                </a:tc>
                <a:tc>
                  <a:txBody>
                    <a:bodyPr lIns="171450" tIns="95250" rIns="152400" bIns="95250"/>
                    <a:lstStyle/>
                    <a:p>
                      <a:r>
                        <a:rPr sz="2475" b="0">
                          <a:solidFill>
                            <a:srgbClr val="183247"/>
                          </a:solidFill>
                          <a:latin typeface="Arial"/>
                          <a:ea typeface="Arial"/>
                          <a:cs typeface="Arial"/>
                        </a:rPr>
                        <a:t>40Q_A − Q_A²</a:t>
                      </a:r>
                    </a:p>
                  </a:txBody>
                  <a:tcPr marL="91440" marR="91440" marT="45720" marB="45720" anchor="ctr">
                    <a:solidFill>
                      <a:srgbClr val="FFFFFF"/>
                    </a:solidFill>
                  </a:tcPr>
                </a:tc>
                <a:tc>
                  <a:txBody>
                    <a:bodyPr lIns="171450" tIns="95250" rIns="152400" bIns="95250"/>
                    <a:lstStyle/>
                    <a:p>
                      <a:r>
                        <a:rPr sz="2475" b="0">
                          <a:solidFill>
                            <a:srgbClr val="183247"/>
                          </a:solidFill>
                          <a:latin typeface="Arial"/>
                          <a:ea typeface="Arial"/>
                          <a:cs typeface="Arial"/>
                        </a:rPr>
                        <a:t>24Q_B − Q_B²</a:t>
                      </a:r>
                    </a:p>
                  </a:txBody>
                  <a:tcPr marL="91440" marR="91440" marT="45720" marB="45720" anchor="ctr">
                    <a:solidFill>
                      <a:srgbClr val="FFFFFF"/>
                    </a:solidFill>
                  </a:tcPr>
                </a:tc>
              </a:tr>
              <a:tr h="807720">
                <a:tc>
                  <a:txBody>
                    <a:bodyPr lIns="171450" tIns="95250" rIns="152400" bIns="95250"/>
                    <a:lstStyle/>
                    <a:p>
                      <a:r>
                        <a:rPr sz="2475" b="0">
                          <a:solidFill>
                            <a:srgbClr val="183247"/>
                          </a:solidFill>
                          <a:latin typeface="Arial"/>
                          <a:ea typeface="Arial"/>
                          <a:cs typeface="Arial"/>
                        </a:rPr>
                        <a:t>MO</a:t>
                      </a:r>
                    </a:p>
                  </a:txBody>
                  <a:tcPr marL="91440" marR="91440" marT="45720" marB="45720" anchor="ctr">
                    <a:solidFill>
                      <a:srgbClr val="EFF4F7"/>
                    </a:solidFill>
                  </a:tcPr>
                </a:tc>
                <a:tc>
                  <a:txBody>
                    <a:bodyPr lIns="171450" tIns="95250" rIns="152400" bIns="95250"/>
                    <a:lstStyle/>
                    <a:p>
                      <a:r>
                        <a:rPr sz="2475" b="0">
                          <a:solidFill>
                            <a:srgbClr val="183247"/>
                          </a:solidFill>
                          <a:latin typeface="Arial"/>
                          <a:ea typeface="Arial"/>
                          <a:cs typeface="Arial"/>
                        </a:rPr>
                        <a:t>40 − 2Q_A</a:t>
                      </a:r>
                    </a:p>
                  </a:txBody>
                  <a:tcPr marL="91440" marR="91440" marT="45720" marB="45720" anchor="ctr">
                    <a:solidFill>
                      <a:srgbClr val="EFF4F7"/>
                    </a:solidFill>
                  </a:tcPr>
                </a:tc>
                <a:tc>
                  <a:txBody>
                    <a:bodyPr lIns="171450" tIns="95250" rIns="152400" bIns="95250"/>
                    <a:lstStyle/>
                    <a:p>
                      <a:r>
                        <a:rPr sz="2475" b="0">
                          <a:solidFill>
                            <a:srgbClr val="183247"/>
                          </a:solidFill>
                          <a:latin typeface="Arial"/>
                          <a:ea typeface="Arial"/>
                          <a:cs typeface="Arial"/>
                        </a:rPr>
                        <a:t>24 − 2Q_B</a:t>
                      </a:r>
                    </a:p>
                  </a:txBody>
                  <a:tcPr marL="91440" marR="91440" marT="45720" marB="45720" anchor="ctr">
                    <a:solidFill>
                      <a:srgbClr val="EFF4F7"/>
                    </a:solidFill>
                  </a:tcPr>
                </a:tc>
              </a:tr>
              <a:tr h="807720">
                <a:tc>
                  <a:txBody>
                    <a:bodyPr lIns="171450" tIns="95250" rIns="152400" bIns="95250"/>
                    <a:lstStyle/>
                    <a:p>
                      <a:r>
                        <a:rPr sz="2475" b="0">
                          <a:solidFill>
                            <a:srgbClr val="183247"/>
                          </a:solidFill>
                          <a:latin typeface="Arial"/>
                          <a:ea typeface="Arial"/>
                          <a:cs typeface="Arial"/>
                        </a:rPr>
                        <a:t>MO = MK</a:t>
                      </a:r>
                    </a:p>
                  </a:txBody>
                  <a:tcPr marL="91440" marR="91440" marT="45720" marB="45720" anchor="ctr">
                    <a:solidFill>
                      <a:srgbClr val="FFFFFF"/>
                    </a:solidFill>
                  </a:tcPr>
                </a:tc>
                <a:tc>
                  <a:txBody>
                    <a:bodyPr lIns="171450" tIns="95250" rIns="152400" bIns="95250"/>
                    <a:lstStyle/>
                    <a:p>
                      <a:r>
                        <a:rPr sz="2475" b="0">
                          <a:solidFill>
                            <a:srgbClr val="183247"/>
                          </a:solidFill>
                          <a:latin typeface="Arial"/>
                          <a:ea typeface="Arial"/>
                          <a:cs typeface="Arial"/>
                        </a:rPr>
                        <a:t>40 − 2Q_A = 8</a:t>
                      </a:r>
                    </a:p>
                  </a:txBody>
                  <a:tcPr marL="91440" marR="91440" marT="45720" marB="45720" anchor="ctr">
                    <a:solidFill>
                      <a:srgbClr val="FFFFFF"/>
                    </a:solidFill>
                  </a:tcPr>
                </a:tc>
                <a:tc>
                  <a:txBody>
                    <a:bodyPr lIns="171450" tIns="95250" rIns="152400" bIns="95250"/>
                    <a:lstStyle/>
                    <a:p>
                      <a:r>
                        <a:rPr sz="2475" b="0">
                          <a:solidFill>
                            <a:srgbClr val="183247"/>
                          </a:solidFill>
                          <a:latin typeface="Arial"/>
                          <a:ea typeface="Arial"/>
                          <a:cs typeface="Arial"/>
                        </a:rPr>
                        <a:t>24 − 2Q_B = 8</a:t>
                      </a:r>
                    </a:p>
                  </a:txBody>
                  <a:tcPr marL="91440" marR="91440" marT="45720" marB="45720" anchor="ctr">
                    <a:solidFill>
                      <a:srgbClr val="FFFFFF"/>
                    </a:solidFill>
                  </a:tcPr>
                </a:tc>
              </a:tr>
              <a:tr h="807720">
                <a:tc>
                  <a:txBody>
                    <a:bodyPr lIns="171450" tIns="95250" rIns="152400" bIns="95250"/>
                    <a:lstStyle/>
                    <a:p>
                      <a:r>
                        <a:rPr sz="2475" b="0">
                          <a:solidFill>
                            <a:srgbClr val="183247"/>
                          </a:solidFill>
                          <a:latin typeface="Arial"/>
                          <a:ea typeface="Arial"/>
                          <a:cs typeface="Arial"/>
                        </a:rPr>
                        <a:t>Oplossen</a:t>
                      </a:r>
                    </a:p>
                  </a:txBody>
                  <a:tcPr marL="91440" marR="91440" marT="45720" marB="45720" anchor="ctr">
                    <a:solidFill>
                      <a:srgbClr val="EFF4F7"/>
                    </a:solidFill>
                  </a:tcPr>
                </a:tc>
                <a:tc>
                  <a:txBody>
                    <a:bodyPr lIns="171450" tIns="95250" rIns="152400" bIns="95250"/>
                    <a:lstStyle/>
                    <a:p>
                      <a:r>
                        <a:rPr sz="2475" b="0">
                          <a:solidFill>
                            <a:srgbClr val="183247"/>
                          </a:solidFill>
                          <a:latin typeface="Arial"/>
                          <a:ea typeface="Arial"/>
                          <a:cs typeface="Arial"/>
                        </a:rPr>
                        <a:t>32 = 2Q_A → Q_A = 16</a:t>
                      </a:r>
                    </a:p>
                  </a:txBody>
                  <a:tcPr marL="91440" marR="91440" marT="45720" marB="45720" anchor="ctr">
                    <a:solidFill>
                      <a:srgbClr val="EFF4F7"/>
                    </a:solidFill>
                  </a:tcPr>
                </a:tc>
                <a:tc>
                  <a:txBody>
                    <a:bodyPr lIns="171450" tIns="95250" rIns="152400" bIns="95250"/>
                    <a:lstStyle/>
                    <a:p>
                      <a:r>
                        <a:rPr sz="2475" b="0">
                          <a:solidFill>
                            <a:srgbClr val="183247"/>
                          </a:solidFill>
                          <a:latin typeface="Arial"/>
                          <a:ea typeface="Arial"/>
                          <a:cs typeface="Arial"/>
                        </a:rPr>
                        <a:t>16 = 2Q_B → Q_B = 8</a:t>
                      </a:r>
                    </a:p>
                  </a:txBody>
                  <a:tcPr marL="91440" marR="91440" marT="45720" marB="45720" anchor="ctr">
                    <a:solidFill>
                      <a:srgbClr val="EFF4F7"/>
                    </a:solidFill>
                  </a:tcPr>
                </a:tc>
              </a:tr>
            </a:tbl>
          </a:graphicData>
        </a:graphic>
      </p:graphicFrame>
      <p:sp>
        <p:nvSpPr>
          <p:cNvPr id="6" name="MO daalt door MK heen: vóór de keuze MO &gt; MK; erna MO &lt; MK.">
            <a:extLst xmlns:a="http://schemas.openxmlformats.org/drawingml/2006/main">
              <a:ext uri="{FF2B5EF4-FFF2-40B4-BE49-F238E27FC236}">
                <a16:creationId xmlns:a16="http://schemas.microsoft.com/office/drawing/2014/main" id="{6D7872AF-3C36-4A4C-920B-B483E9D0AC09}"/>
              </a:ext>
            </a:extLst>
          </p:cNvPr>
          <p:cNvSpPr>
            <a:spLocks xmlns:a="http://schemas.openxmlformats.org/drawingml/2006/main" noGrp="1"/>
          </p:cNvSpPr>
          <p:nvPr/>
        </p:nvSpPr>
        <p:spPr>
          <a:xfrm xmlns:a="http://schemas.openxmlformats.org/drawingml/2006/main">
            <a:off x="571500" y="6677025"/>
            <a:ext cx="140970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7658A"/>
                </a:solidFill>
                <a:latin typeface="Arial"/>
                <a:ea typeface="Arial"/>
                <a:cs typeface="Arial"/>
              </a:defRPr>
            </a:pPr>
            <a:r>
              <a:rPr sz="2550" b="1">
                <a:solidFill>
                  <a:srgbClr val="17658A"/>
                </a:solidFill>
                <a:latin typeface="Arial"/>
                <a:ea typeface="Arial"/>
                <a:cs typeface="Arial"/>
              </a:rPr>
              <a:t>MO daalt door MK heen: vóór de keuze MO &gt; MK; erna MO &lt; MK.</a:t>
            </a:r>
          </a:p>
        </p:txBody>
      </p:sp>
      <p:sp>
        <p:nvSpPr>
          <p:cNvPr id="7" name="Samen 16 + 8 = 24 bezoeken per week ≤ capaciteit 64.">
            <a:extLst xmlns:a="http://schemas.openxmlformats.org/drawingml/2006/main">
              <a:ext uri="{FF2B5EF4-FFF2-40B4-BE49-F238E27FC236}">
                <a16:creationId xmlns:a16="http://schemas.microsoft.com/office/drawing/2014/main" id="{0D40D9C7-45D0-4DE3-9480-88145DDDB080}"/>
              </a:ext>
            </a:extLst>
          </p:cNvPr>
          <p:cNvSpPr>
            <a:spLocks xmlns:a="http://schemas.openxmlformats.org/drawingml/2006/main" noGrp="1"/>
          </p:cNvSpPr>
          <p:nvPr/>
        </p:nvSpPr>
        <p:spPr>
          <a:xfrm xmlns:a="http://schemas.openxmlformats.org/drawingml/2006/main">
            <a:off x="571500" y="7486650"/>
            <a:ext cx="1409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Samen 16 + 8 = 24 bezoeken per week ≤ capaciteit 64.</a:t>
            </a:r>
          </a:p>
        </p:txBody>
      </p:sp>
    </p:spTree>
    <p:extLst>
      <p:ext uri="{BB962C8B-B14F-4D97-AF65-F5344CB8AC3E}">
        <p14:creationId xmlns:p14="http://schemas.microsoft.com/office/powerpoint/2010/main" val="2122691841"/>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16a · Lees en controleer de groepsprijzen">
            <a:extLst xmlns:a="http://schemas.openxmlformats.org/drawingml/2006/main">
              <a:ext uri="{FF2B5EF4-FFF2-40B4-BE49-F238E27FC236}">
                <a16:creationId xmlns:a16="http://schemas.microsoft.com/office/drawing/2014/main" id="{011DF4AE-D16A-4406-85F2-90A2CE160E34}"/>
              </a:ext>
            </a:extLst>
          </p:cNvPr>
          <p:cNvSpPr>
            <a:spLocks xmlns:a="http://schemas.openxmlformats.org/drawingml/2006/main" noGrp="1"/>
          </p:cNvSpPr>
          <p:nvPr/>
        </p:nvSpPr>
        <p:spPr>
          <a:xfrm xmlns:a="http://schemas.openxmlformats.org/drawingml/2006/main">
            <a:off x="571500" y="400050"/>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16a · Lees en controleer de groepsprijzen</a:t>
            </a:r>
          </a:p>
        </p:txBody>
      </p:sp>
      <p:sp>
        <p:nvSpPr>
          <p:cNvPr id="2" name="">
            <a:extLst xmlns:a="http://schemas.openxmlformats.org/drawingml/2006/main">
              <a:ext uri="{FF2B5EF4-FFF2-40B4-BE49-F238E27FC236}">
                <a16:creationId xmlns:a16="http://schemas.microsoft.com/office/drawing/2014/main" id="{ED975D88-B55E-45E3-9158-D065994482D8}"/>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2 · FilmLab · Boekpagina 69">
            <a:extLst xmlns:a="http://schemas.openxmlformats.org/drawingml/2006/main">
              <a:ext uri="{FF2B5EF4-FFF2-40B4-BE49-F238E27FC236}">
                <a16:creationId xmlns:a16="http://schemas.microsoft.com/office/drawing/2014/main" id="{C0EAF1EF-BC3D-4488-8521-4CEDA4F18B5D}"/>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§4.2.2 · FilmLab · Boekpagina 69</a:t>
            </a:r>
          </a:p>
        </p:txBody>
      </p:sp>
      <p:sp>
        <p:nvSpPr>
          <p:cNvPr id="4" name="slide-number">
            <a:extLst xmlns:a="http://schemas.openxmlformats.org/drawingml/2006/main">
              <a:ext uri="{FF2B5EF4-FFF2-40B4-BE49-F238E27FC236}">
                <a16:creationId xmlns:a16="http://schemas.microsoft.com/office/drawing/2014/main" id="{48946594-6EC7-4659-A471-0D45BA1CA24E}"/>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22</a:t>
            </a:r>
          </a:p>
        </p:txBody>
      </p:sp>
      <p:sp>
        <p:nvSpPr>
          <p:cNvPr id="5" name="P_A = 40 − 16 = € 24      P_B = 24 − 8 = € 16 per bezoek">
            <a:extLst xmlns:a="http://schemas.openxmlformats.org/drawingml/2006/main">
              <a:ext uri="{FF2B5EF4-FFF2-40B4-BE49-F238E27FC236}">
                <a16:creationId xmlns:a16="http://schemas.microsoft.com/office/drawing/2014/main" id="{3D96218D-6EED-4235-A274-EBD34F20A162}"/>
              </a:ext>
            </a:extLst>
          </p:cNvPr>
          <p:cNvSpPr>
            <a:spLocks xmlns:a="http://schemas.openxmlformats.org/drawingml/2006/main" noGrp="1"/>
          </p:cNvSpPr>
          <p:nvPr/>
        </p:nvSpPr>
        <p:spPr>
          <a:xfrm xmlns:a="http://schemas.openxmlformats.org/drawingml/2006/main">
            <a:off x="571500" y="1724025"/>
            <a:ext cx="14097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P_A = 40 − 16 = € 24      P_B = 24 − 8 = € 16 per bezoek</a:t>
            </a:r>
          </a:p>
        </p:txBody>
      </p:sp>
      <p:sp>
        <p:nvSpPr>
          <p:cNvPr id="6" name="Groep A">
            <a:extLst xmlns:a="http://schemas.openxmlformats.org/drawingml/2006/main">
              <a:ext uri="{FF2B5EF4-FFF2-40B4-BE49-F238E27FC236}">
                <a16:creationId xmlns:a16="http://schemas.microsoft.com/office/drawing/2014/main" id="{1E2E5D03-FFBF-4545-B1B3-DE7E02BD223B}"/>
              </a:ext>
            </a:extLst>
          </p:cNvPr>
          <p:cNvSpPr>
            <a:spLocks xmlns:a="http://schemas.openxmlformats.org/drawingml/2006/main" noGrp="1"/>
          </p:cNvSpPr>
          <p:nvPr/>
        </p:nvSpPr>
        <p:spPr>
          <a:xfrm xmlns:a="http://schemas.openxmlformats.org/drawingml/2006/main">
            <a:off x="762000" y="2257425"/>
            <a:ext cx="6667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83247"/>
                </a:solidFill>
                <a:latin typeface="Arial"/>
                <a:ea typeface="Arial"/>
                <a:cs typeface="Arial"/>
              </a:defRPr>
            </a:pPr>
            <a:r>
              <a:rPr sz="2550" b="1">
                <a:solidFill>
                  <a:srgbClr val="183247"/>
                </a:solidFill>
                <a:latin typeface="Arial"/>
                <a:ea typeface="Arial"/>
                <a:cs typeface="Arial"/>
              </a:rPr>
              <a:t>Groep A</a:t>
            </a:r>
          </a:p>
        </p:txBody>
      </p:sp>
      <p:sp>
        <p:nvSpPr>
          <p:cNvPr id="7" name="P, MO en MK (€ per bezoek)">
            <a:extLst xmlns:a="http://schemas.openxmlformats.org/drawingml/2006/main">
              <a:ext uri="{FF2B5EF4-FFF2-40B4-BE49-F238E27FC236}">
                <a16:creationId xmlns:a16="http://schemas.microsoft.com/office/drawing/2014/main" id="{16550C52-0397-48D4-A50F-83D1A3E0A567}"/>
              </a:ext>
            </a:extLst>
          </p:cNvPr>
          <p:cNvSpPr>
            <a:spLocks xmlns:a="http://schemas.openxmlformats.org/drawingml/2006/main" noGrp="1"/>
          </p:cNvSpPr>
          <p:nvPr/>
        </p:nvSpPr>
        <p:spPr>
          <a:xfrm xmlns:a="http://schemas.openxmlformats.org/drawingml/2006/main">
            <a:off x="762000" y="2733675"/>
            <a:ext cx="666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183247"/>
                </a:solidFill>
                <a:latin typeface="Arial"/>
                <a:ea typeface="Arial"/>
                <a:cs typeface="Arial"/>
              </a:defRPr>
            </a:pPr>
            <a:r>
              <a:rPr sz="2025" b="0">
                <a:solidFill>
                  <a:srgbClr val="183247"/>
                </a:solidFill>
                <a:latin typeface="Arial"/>
                <a:ea typeface="Arial"/>
                <a:cs typeface="Arial"/>
              </a:rPr>
              <a:t>P, MO en MK (€ per bezoek)</a:t>
            </a:r>
          </a:p>
        </p:txBody>
      </p:sp>
      <p:graphicFrame>
        <p:nvGraphicFramePr>
          <p:cNvPr id="23" name="Chart"/>
          <p:cNvGraphicFramePr/>
          <p:nvPr/>
        </p:nvGraphicFramePr>
        <p:xfrm>
          <a:off xmlns:a="http://schemas.openxmlformats.org/drawingml/2006/main" x="571500" y="3143250"/>
          <a:ext xmlns:a="http://schemas.openxmlformats.org/drawingml/2006/main" cx="6715125" cy="3876675"/>
        </p:xfrm>
        <a:graphic xmlns:a="http://schemas.openxmlformats.org/drawingml/2006/main">
          <a:graphicData uri="http://schemas.openxmlformats.org/drawingml/2006/chart">
            <c:chart xmlns:r="http://schemas.openxmlformats.org/officeDocument/2006/relationships" xmlns:c="http://schemas.openxmlformats.org/drawingml/2006/chart" r:id="Ra7c5fc63f0b54e26"/>
          </a:graphicData>
        </a:graphic>
      </p:graphicFrame>
      <p:sp>
        <p:nvSpPr>
          <p:cNvPr id="9" name="Q_A (bezoeken per week)">
            <a:extLst xmlns:a="http://schemas.openxmlformats.org/drawingml/2006/main">
              <a:ext uri="{FF2B5EF4-FFF2-40B4-BE49-F238E27FC236}">
                <a16:creationId xmlns:a16="http://schemas.microsoft.com/office/drawing/2014/main" id="{65CA0960-3C9F-4528-A43A-6BFFBA41C19F}"/>
              </a:ext>
            </a:extLst>
          </p:cNvPr>
          <p:cNvSpPr>
            <a:spLocks xmlns:a="http://schemas.openxmlformats.org/drawingml/2006/main" noGrp="1"/>
          </p:cNvSpPr>
          <p:nvPr/>
        </p:nvSpPr>
        <p:spPr>
          <a:xfrm xmlns:a="http://schemas.openxmlformats.org/drawingml/2006/main">
            <a:off x="857250" y="7086600"/>
            <a:ext cx="62388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2025" b="0">
                <a:solidFill>
                  <a:srgbClr val="183247"/>
                </a:solidFill>
                <a:latin typeface="Arial"/>
                <a:ea typeface="Arial"/>
                <a:cs typeface="Arial"/>
              </a:defRPr>
            </a:pPr>
            <a:r>
              <a:rPr sz="2025" b="0">
                <a:solidFill>
                  <a:srgbClr val="183247"/>
                </a:solidFill>
                <a:latin typeface="Arial"/>
                <a:ea typeface="Arial"/>
                <a:cs typeface="Arial"/>
              </a:rPr>
              <a:t>Q_A (bezoeken per week)</a:t>
            </a:r>
          </a:p>
        </p:txBody>
      </p:sp>
      <p:sp>
        <p:nvSpPr>
          <p:cNvPr id="10" name="Q_A = 16  →  P_A = € 24">
            <a:extLst xmlns:a="http://schemas.openxmlformats.org/drawingml/2006/main">
              <a:ext uri="{FF2B5EF4-FFF2-40B4-BE49-F238E27FC236}">
                <a16:creationId xmlns:a16="http://schemas.microsoft.com/office/drawing/2014/main" id="{9779D227-14E4-4827-9330-BAD8835F7519}"/>
              </a:ext>
            </a:extLst>
          </p:cNvPr>
          <p:cNvSpPr>
            <a:spLocks xmlns:a="http://schemas.openxmlformats.org/drawingml/2006/main" noGrp="1"/>
          </p:cNvSpPr>
          <p:nvPr/>
        </p:nvSpPr>
        <p:spPr>
          <a:xfrm xmlns:a="http://schemas.openxmlformats.org/drawingml/2006/main">
            <a:off x="857250" y="7524750"/>
            <a:ext cx="62388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2325" b="1">
                <a:solidFill>
                  <a:srgbClr val="17658A"/>
                </a:solidFill>
                <a:latin typeface="Arial"/>
                <a:ea typeface="Arial"/>
                <a:cs typeface="Arial"/>
              </a:defRPr>
            </a:pPr>
            <a:r>
              <a:rPr sz="2325" b="1">
                <a:solidFill>
                  <a:srgbClr val="17658A"/>
                </a:solidFill>
                <a:latin typeface="Arial"/>
                <a:ea typeface="Arial"/>
                <a:cs typeface="Arial"/>
              </a:rPr>
              <a:t>Q_A = 16  →  P_A = € 24</a:t>
            </a:r>
          </a:p>
        </p:txBody>
      </p:sp>
      <p:sp>
        <p:nvSpPr>
          <p:cNvPr id="11" name="Groep B">
            <a:extLst xmlns:a="http://schemas.openxmlformats.org/drawingml/2006/main">
              <a:ext uri="{FF2B5EF4-FFF2-40B4-BE49-F238E27FC236}">
                <a16:creationId xmlns:a16="http://schemas.microsoft.com/office/drawing/2014/main" id="{8C626C2D-F476-405E-9A84-888358C3FCBC}"/>
              </a:ext>
            </a:extLst>
          </p:cNvPr>
          <p:cNvSpPr>
            <a:spLocks xmlns:a="http://schemas.openxmlformats.org/drawingml/2006/main" noGrp="1"/>
          </p:cNvSpPr>
          <p:nvPr/>
        </p:nvSpPr>
        <p:spPr>
          <a:xfrm xmlns:a="http://schemas.openxmlformats.org/drawingml/2006/main">
            <a:off x="8286750" y="2257425"/>
            <a:ext cx="6667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83247"/>
                </a:solidFill>
                <a:latin typeface="Arial"/>
                <a:ea typeface="Arial"/>
                <a:cs typeface="Arial"/>
              </a:defRPr>
            </a:pPr>
            <a:r>
              <a:rPr sz="2550" b="1">
                <a:solidFill>
                  <a:srgbClr val="183247"/>
                </a:solidFill>
                <a:latin typeface="Arial"/>
                <a:ea typeface="Arial"/>
                <a:cs typeface="Arial"/>
              </a:rPr>
              <a:t>Groep B</a:t>
            </a:r>
          </a:p>
        </p:txBody>
      </p:sp>
      <p:sp>
        <p:nvSpPr>
          <p:cNvPr id="12" name="P, MO en MK (€ per bezoek)">
            <a:extLst xmlns:a="http://schemas.openxmlformats.org/drawingml/2006/main">
              <a:ext uri="{FF2B5EF4-FFF2-40B4-BE49-F238E27FC236}">
                <a16:creationId xmlns:a16="http://schemas.microsoft.com/office/drawing/2014/main" id="{1E7D145F-0E94-4608-9D42-A5C50B124E62}"/>
              </a:ext>
            </a:extLst>
          </p:cNvPr>
          <p:cNvSpPr>
            <a:spLocks xmlns:a="http://schemas.openxmlformats.org/drawingml/2006/main" noGrp="1"/>
          </p:cNvSpPr>
          <p:nvPr/>
        </p:nvSpPr>
        <p:spPr>
          <a:xfrm xmlns:a="http://schemas.openxmlformats.org/drawingml/2006/main">
            <a:off x="8286750" y="2733675"/>
            <a:ext cx="666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183247"/>
                </a:solidFill>
                <a:latin typeface="Arial"/>
                <a:ea typeface="Arial"/>
                <a:cs typeface="Arial"/>
              </a:defRPr>
            </a:pPr>
            <a:r>
              <a:rPr sz="2025" b="0">
                <a:solidFill>
                  <a:srgbClr val="183247"/>
                </a:solidFill>
                <a:latin typeface="Arial"/>
                <a:ea typeface="Arial"/>
                <a:cs typeface="Arial"/>
              </a:rPr>
              <a:t>P, MO en MK (€ per bezoek)</a:t>
            </a:r>
          </a:p>
        </p:txBody>
      </p:sp>
      <p:graphicFrame>
        <p:nvGraphicFramePr>
          <p:cNvPr id="28" name="Chart"/>
          <p:cNvGraphicFramePr/>
          <p:nvPr/>
        </p:nvGraphicFramePr>
        <p:xfrm>
          <a:off xmlns:a="http://schemas.openxmlformats.org/drawingml/2006/main" x="8096250" y="3143250"/>
          <a:ext xmlns:a="http://schemas.openxmlformats.org/drawingml/2006/main" cx="6715125" cy="3876675"/>
        </p:xfrm>
        <a:graphic xmlns:a="http://schemas.openxmlformats.org/drawingml/2006/main">
          <a:graphicData uri="http://schemas.openxmlformats.org/drawingml/2006/chart">
            <c:chart xmlns:r="http://schemas.openxmlformats.org/officeDocument/2006/relationships" xmlns:c="http://schemas.openxmlformats.org/drawingml/2006/chart" r:id="R058520a90e614e84"/>
          </a:graphicData>
        </a:graphic>
      </p:graphicFrame>
      <p:sp>
        <p:nvSpPr>
          <p:cNvPr id="14" name="Q_B (bezoeken per week)">
            <a:extLst xmlns:a="http://schemas.openxmlformats.org/drawingml/2006/main">
              <a:ext uri="{FF2B5EF4-FFF2-40B4-BE49-F238E27FC236}">
                <a16:creationId xmlns:a16="http://schemas.microsoft.com/office/drawing/2014/main" id="{1B0EDAB2-F05D-41FE-876E-9AE691C85F84}"/>
              </a:ext>
            </a:extLst>
          </p:cNvPr>
          <p:cNvSpPr>
            <a:spLocks xmlns:a="http://schemas.openxmlformats.org/drawingml/2006/main" noGrp="1"/>
          </p:cNvSpPr>
          <p:nvPr/>
        </p:nvSpPr>
        <p:spPr>
          <a:xfrm xmlns:a="http://schemas.openxmlformats.org/drawingml/2006/main">
            <a:off x="8382000" y="7086600"/>
            <a:ext cx="62388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2025" b="0">
                <a:solidFill>
                  <a:srgbClr val="183247"/>
                </a:solidFill>
                <a:latin typeface="Arial"/>
                <a:ea typeface="Arial"/>
                <a:cs typeface="Arial"/>
              </a:defRPr>
            </a:pPr>
            <a:r>
              <a:rPr sz="2025" b="0">
                <a:solidFill>
                  <a:srgbClr val="183247"/>
                </a:solidFill>
                <a:latin typeface="Arial"/>
                <a:ea typeface="Arial"/>
                <a:cs typeface="Arial"/>
              </a:rPr>
              <a:t>Q_B (bezoeken per week)</a:t>
            </a:r>
          </a:p>
        </p:txBody>
      </p:sp>
      <p:sp>
        <p:nvSpPr>
          <p:cNvPr id="15" name="Q_B = 8  →  P_B = € 16">
            <a:extLst xmlns:a="http://schemas.openxmlformats.org/drawingml/2006/main">
              <a:ext uri="{FF2B5EF4-FFF2-40B4-BE49-F238E27FC236}">
                <a16:creationId xmlns:a16="http://schemas.microsoft.com/office/drawing/2014/main" id="{F4AAC7D1-3467-4426-8A09-E02A027CDA1D}"/>
              </a:ext>
            </a:extLst>
          </p:cNvPr>
          <p:cNvSpPr>
            <a:spLocks xmlns:a="http://schemas.openxmlformats.org/drawingml/2006/main" noGrp="1"/>
          </p:cNvSpPr>
          <p:nvPr/>
        </p:nvSpPr>
        <p:spPr>
          <a:xfrm xmlns:a="http://schemas.openxmlformats.org/drawingml/2006/main">
            <a:off x="8382000" y="7524750"/>
            <a:ext cx="62388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2325" b="1">
                <a:solidFill>
                  <a:srgbClr val="17658A"/>
                </a:solidFill>
                <a:latin typeface="Arial"/>
                <a:ea typeface="Arial"/>
                <a:cs typeface="Arial"/>
              </a:defRPr>
            </a:pPr>
            <a:r>
              <a:rPr sz="2325" b="1">
                <a:solidFill>
                  <a:srgbClr val="17658A"/>
                </a:solidFill>
                <a:latin typeface="Arial"/>
                <a:ea typeface="Arial"/>
                <a:cs typeface="Arial"/>
              </a:rPr>
              <a:t>Q_B = 8  →  P_B = € 16</a:t>
            </a:r>
          </a:p>
        </p:txBody>
      </p:sp>
    </p:spTree>
    <p:extLst>
      <p:ext uri="{BB962C8B-B14F-4D97-AF65-F5344CB8AC3E}">
        <p14:creationId xmlns:p14="http://schemas.microsoft.com/office/powerpoint/2010/main" val="1605795057"/>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16b · Omzet, kosten en winst vergelijken">
            <a:extLst xmlns:a="http://schemas.openxmlformats.org/drawingml/2006/main">
              <a:ext uri="{FF2B5EF4-FFF2-40B4-BE49-F238E27FC236}">
                <a16:creationId xmlns:a16="http://schemas.microsoft.com/office/drawing/2014/main" id="{F5460157-C3A3-453A-A9D7-F864D7DF19E9}"/>
              </a:ext>
            </a:extLst>
          </p:cNvPr>
          <p:cNvSpPr>
            <a:spLocks xmlns:a="http://schemas.openxmlformats.org/drawingml/2006/main" noGrp="1"/>
          </p:cNvSpPr>
          <p:nvPr/>
        </p:nvSpPr>
        <p:spPr>
          <a:xfrm xmlns:a="http://schemas.openxmlformats.org/drawingml/2006/main">
            <a:off x="571500" y="400050"/>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16b · Omzet, kosten en winst vergelijken</a:t>
            </a:r>
          </a:p>
        </p:txBody>
      </p:sp>
      <p:sp>
        <p:nvSpPr>
          <p:cNvPr id="2" name="">
            <a:extLst xmlns:a="http://schemas.openxmlformats.org/drawingml/2006/main">
              <a:ext uri="{FF2B5EF4-FFF2-40B4-BE49-F238E27FC236}">
                <a16:creationId xmlns:a16="http://schemas.microsoft.com/office/drawing/2014/main" id="{CB0DE2CB-2C62-4BD3-8F30-A445E867B595}"/>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2 · FilmLab · Boekpagina 69">
            <a:extLst xmlns:a="http://schemas.openxmlformats.org/drawingml/2006/main">
              <a:ext uri="{FF2B5EF4-FFF2-40B4-BE49-F238E27FC236}">
                <a16:creationId xmlns:a16="http://schemas.microsoft.com/office/drawing/2014/main" id="{0A9E30BD-2331-4867-9784-0105EAE8C3B8}"/>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§4.2.2 · FilmLab · Boekpagina 69</a:t>
            </a:r>
          </a:p>
        </p:txBody>
      </p:sp>
      <p:sp>
        <p:nvSpPr>
          <p:cNvPr id="4" name="slide-number">
            <a:extLst xmlns:a="http://schemas.openxmlformats.org/drawingml/2006/main">
              <a:ext uri="{FF2B5EF4-FFF2-40B4-BE49-F238E27FC236}">
                <a16:creationId xmlns:a16="http://schemas.microsoft.com/office/drawing/2014/main" id="{6217F1D6-6664-4E97-AB25-15605CB1CE97}"/>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23</a:t>
            </a:r>
          </a:p>
        </p:txBody>
      </p:sp>
      <p:graphicFrame>
        <p:nvGraphicFramePr>
          <p:cNvPr id="11" name=""/>
          <p:cNvGraphicFramePr/>
          <p:nvPr/>
        </p:nvGraphicFramePr>
        <p:xfrm>
          <a:off xmlns:a="http://schemas.openxmlformats.org/drawingml/2006/main" x="571500" y="2038350"/>
          <a:ext xmlns:a="http://schemas.openxmlformats.org/drawingml/2006/main" cx="14097000" cy="4524375"/>
        </p:xfrm>
        <a:graphic xmlns:a="http://schemas.openxmlformats.org/drawingml/2006/main">
          <a:graphicData uri="http://schemas.openxmlformats.org/drawingml/2006/table">
            <a:tbl>
              <a:tblPr/>
              <a:tblGrid>
                <a:gridCol w="4476750"/>
                <a:gridCol w="4333875"/>
                <a:gridCol w="5286375"/>
              </a:tblGrid>
              <a:tr h="754063">
                <a:tc>
                  <a:txBody>
                    <a:bodyPr lIns="171450" tIns="95250" rIns="152400" bIns="95250"/>
                    <a:lstStyle/>
                    <a:p>
                      <a:r>
                        <a:rPr sz="2325" b="1">
                          <a:solidFill>
                            <a:srgbClr val="FFFFFF"/>
                          </a:solidFill>
                          <a:latin typeface="Arial"/>
                          <a:ea typeface="Arial"/>
                          <a:cs typeface="Arial"/>
                        </a:rPr>
                        <a:t>Per week</a:t>
                      </a:r>
                    </a:p>
                  </a:txBody>
                  <a:tcPr marL="91440" marR="91440" marT="45720" marB="45720" anchor="ctr">
                    <a:solidFill>
                      <a:srgbClr val="183247"/>
                    </a:solidFill>
                  </a:tcPr>
                </a:tc>
                <a:tc>
                  <a:txBody>
                    <a:bodyPr lIns="171450" tIns="95250" rIns="152400" bIns="95250"/>
                    <a:lstStyle/>
                    <a:p>
                      <a:r>
                        <a:rPr sz="2325" b="1">
                          <a:solidFill>
                            <a:srgbClr val="FFFFFF"/>
                          </a:solidFill>
                          <a:latin typeface="Arial"/>
                          <a:ea typeface="Arial"/>
                          <a:cs typeface="Arial"/>
                        </a:rPr>
                        <a:t>Eén prijs: € 20</a:t>
                      </a:r>
                    </a:p>
                  </a:txBody>
                  <a:tcPr marL="91440" marR="91440" marT="45720" marB="45720" anchor="ctr">
                    <a:solidFill>
                      <a:srgbClr val="183247"/>
                    </a:solidFill>
                  </a:tcPr>
                </a:tc>
                <a:tc>
                  <a:txBody>
                    <a:bodyPr lIns="171450" tIns="95250" rIns="152400" bIns="95250"/>
                    <a:lstStyle/>
                    <a:p>
                      <a:r>
                        <a:rPr sz="2325" b="1">
                          <a:solidFill>
                            <a:srgbClr val="FFFFFF"/>
                          </a:solidFill>
                          <a:latin typeface="Arial"/>
                          <a:ea typeface="Arial"/>
                          <a:cs typeface="Arial"/>
                        </a:rPr>
                        <a:t>Groepsprijzen</a:t>
                      </a:r>
                    </a:p>
                  </a:txBody>
                  <a:tcPr marL="91440" marR="91440" marT="45720" marB="45720" anchor="ctr">
                    <a:solidFill>
                      <a:srgbClr val="183247"/>
                    </a:solidFill>
                  </a:tcPr>
                </a:tc>
              </a:tr>
              <a:tr h="754063">
                <a:tc>
                  <a:txBody>
                    <a:bodyPr lIns="171450" tIns="95250" rIns="152400" bIns="95250"/>
                    <a:lstStyle/>
                    <a:p>
                      <a:r>
                        <a:rPr sz="2325" b="0">
                          <a:solidFill>
                            <a:srgbClr val="183247"/>
                          </a:solidFill>
                          <a:latin typeface="Arial"/>
                          <a:ea typeface="Arial"/>
                          <a:cs typeface="Arial"/>
                        </a:rPr>
                        <a:t>Totale afzet</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20 + 4 = 24</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16 + 8 = 24</a:t>
                      </a:r>
                    </a:p>
                  </a:txBody>
                  <a:tcPr marL="91440" marR="91440" marT="45720" marB="45720" anchor="ctr">
                    <a:solidFill>
                      <a:srgbClr val="FFFFFF"/>
                    </a:solidFill>
                  </a:tcPr>
                </a:tc>
              </a:tr>
              <a:tr h="754063">
                <a:tc>
                  <a:txBody>
                    <a:bodyPr lIns="171450" tIns="95250" rIns="152400" bIns="95250"/>
                    <a:lstStyle/>
                    <a:p>
                      <a:r>
                        <a:rPr sz="2325" b="0">
                          <a:solidFill>
                            <a:srgbClr val="183247"/>
                          </a:solidFill>
                          <a:latin typeface="Arial"/>
                          <a:ea typeface="Arial"/>
                          <a:cs typeface="Arial"/>
                        </a:rPr>
                        <a:t>TO</a:t>
                      </a:r>
                    </a:p>
                  </a:txBody>
                  <a:tcPr marL="91440" marR="91440" marT="45720" marB="45720" anchor="ctr">
                    <a:solidFill>
                      <a:srgbClr val="EFF4F7"/>
                    </a:solidFill>
                  </a:tcPr>
                </a:tc>
                <a:tc>
                  <a:txBody>
                    <a:bodyPr lIns="171450" tIns="95250" rIns="152400" bIns="95250"/>
                    <a:lstStyle/>
                    <a:p>
                      <a:r>
                        <a:rPr sz="2325" b="0">
                          <a:solidFill>
                            <a:srgbClr val="183247"/>
                          </a:solidFill>
                          <a:latin typeface="Arial"/>
                          <a:ea typeface="Arial"/>
                          <a:cs typeface="Arial"/>
                        </a:rPr>
                        <a:t>20 × 24 = € 480</a:t>
                      </a:r>
                    </a:p>
                  </a:txBody>
                  <a:tcPr marL="91440" marR="91440" marT="45720" marB="45720" anchor="ctr">
                    <a:solidFill>
                      <a:srgbClr val="EFF4F7"/>
                    </a:solidFill>
                  </a:tcPr>
                </a:tc>
                <a:tc>
                  <a:txBody>
                    <a:bodyPr lIns="171450" tIns="95250" rIns="152400" bIns="95250"/>
                    <a:lstStyle/>
                    <a:p>
                      <a:r>
                        <a:rPr sz="2325" b="0">
                          <a:solidFill>
                            <a:srgbClr val="183247"/>
                          </a:solidFill>
                          <a:latin typeface="Arial"/>
                          <a:ea typeface="Arial"/>
                          <a:cs typeface="Arial"/>
                        </a:rPr>
                        <a:t>24 × 16 + 16 × 8 = € 512</a:t>
                      </a:r>
                    </a:p>
                  </a:txBody>
                  <a:tcPr marL="91440" marR="91440" marT="45720" marB="45720" anchor="ctr">
                    <a:solidFill>
                      <a:srgbClr val="EFF4F7"/>
                    </a:solidFill>
                  </a:tcPr>
                </a:tc>
              </a:tr>
              <a:tr h="754063">
                <a:tc>
                  <a:txBody>
                    <a:bodyPr lIns="171450" tIns="95250" rIns="152400" bIns="95250"/>
                    <a:lstStyle/>
                    <a:p>
                      <a:r>
                        <a:rPr sz="2325" b="0">
                          <a:solidFill>
                            <a:srgbClr val="183247"/>
                          </a:solidFill>
                          <a:latin typeface="Arial"/>
                          <a:ea typeface="Arial"/>
                          <a:cs typeface="Arial"/>
                        </a:rPr>
                        <a:t>TVK</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8 × 24 = € 192</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8 × 24 = € 192</a:t>
                      </a:r>
                    </a:p>
                  </a:txBody>
                  <a:tcPr marL="91440" marR="91440" marT="45720" marB="45720" anchor="ctr">
                    <a:solidFill>
                      <a:srgbClr val="FFFFFF"/>
                    </a:solidFill>
                  </a:tcPr>
                </a:tc>
              </a:tr>
              <a:tr h="754063">
                <a:tc>
                  <a:txBody>
                    <a:bodyPr lIns="171450" tIns="95250" rIns="152400" bIns="95250"/>
                    <a:lstStyle/>
                    <a:p>
                      <a:r>
                        <a:rPr sz="2325" b="0">
                          <a:solidFill>
                            <a:srgbClr val="183247"/>
                          </a:solidFill>
                          <a:latin typeface="Arial"/>
                          <a:ea typeface="Arial"/>
                          <a:cs typeface="Arial"/>
                        </a:rPr>
                        <a:t>TK = TCK + TVK</a:t>
                      </a:r>
                    </a:p>
                  </a:txBody>
                  <a:tcPr marL="91440" marR="91440" marT="45720" marB="45720" anchor="ctr">
                    <a:solidFill>
                      <a:srgbClr val="EFF4F7"/>
                    </a:solidFill>
                  </a:tcPr>
                </a:tc>
                <a:tc>
                  <a:txBody>
                    <a:bodyPr lIns="171450" tIns="95250" rIns="152400" bIns="95250"/>
                    <a:lstStyle/>
                    <a:p>
                      <a:r>
                        <a:rPr sz="2325" b="0">
                          <a:solidFill>
                            <a:srgbClr val="183247"/>
                          </a:solidFill>
                          <a:latin typeface="Arial"/>
                          <a:ea typeface="Arial"/>
                          <a:cs typeface="Arial"/>
                        </a:rPr>
                        <a:t>80 + 192 = € 272</a:t>
                      </a:r>
                    </a:p>
                  </a:txBody>
                  <a:tcPr marL="91440" marR="91440" marT="45720" marB="45720" anchor="ctr">
                    <a:solidFill>
                      <a:srgbClr val="EFF4F7"/>
                    </a:solidFill>
                  </a:tcPr>
                </a:tc>
                <a:tc>
                  <a:txBody>
                    <a:bodyPr lIns="171450" tIns="95250" rIns="152400" bIns="95250"/>
                    <a:lstStyle/>
                    <a:p>
                      <a:r>
                        <a:rPr sz="2325" b="0">
                          <a:solidFill>
                            <a:srgbClr val="183247"/>
                          </a:solidFill>
                          <a:latin typeface="Arial"/>
                          <a:ea typeface="Arial"/>
                          <a:cs typeface="Arial"/>
                        </a:rPr>
                        <a:t>80 + 192 = € 272</a:t>
                      </a:r>
                    </a:p>
                  </a:txBody>
                  <a:tcPr marL="91440" marR="91440" marT="45720" marB="45720" anchor="ctr">
                    <a:solidFill>
                      <a:srgbClr val="EFF4F7"/>
                    </a:solidFill>
                  </a:tcPr>
                </a:tc>
              </a:tr>
              <a:tr h="754063">
                <a:tc>
                  <a:txBody>
                    <a:bodyPr lIns="171450" tIns="95250" rIns="152400" bIns="95250"/>
                    <a:lstStyle/>
                    <a:p>
                      <a:r>
                        <a:rPr sz="2325" b="0">
                          <a:solidFill>
                            <a:srgbClr val="183247"/>
                          </a:solidFill>
                          <a:latin typeface="Arial"/>
                          <a:ea typeface="Arial"/>
                          <a:cs typeface="Arial"/>
                        </a:rPr>
                        <a:t>Winst = TO − TK</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480 − 272 = € 208</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512 − 272 = € 240</a:t>
                      </a:r>
                    </a:p>
                  </a:txBody>
                  <a:tcPr marL="91440" marR="91440" marT="45720" marB="45720" anchor="ctr">
                    <a:solidFill>
                      <a:srgbClr val="FFFFFF"/>
                    </a:solidFill>
                  </a:tcPr>
                </a:tc>
              </a:tr>
            </a:tbl>
          </a:graphicData>
        </a:graphic>
      </p:graphicFrame>
      <p:sp>
        <p:nvSpPr>
          <p:cNvPr id="6" name="Winst stijgt € 32 per week. De gezamenlijke TCK telt eenmaal.">
            <a:extLst xmlns:a="http://schemas.openxmlformats.org/drawingml/2006/main">
              <a:ext uri="{FF2B5EF4-FFF2-40B4-BE49-F238E27FC236}">
                <a16:creationId xmlns:a16="http://schemas.microsoft.com/office/drawing/2014/main" id="{244859BC-5489-442F-9A59-C2DD7D1F1AB4}"/>
              </a:ext>
            </a:extLst>
          </p:cNvPr>
          <p:cNvSpPr>
            <a:spLocks xmlns:a="http://schemas.openxmlformats.org/drawingml/2006/main" noGrp="1"/>
          </p:cNvSpPr>
          <p:nvPr/>
        </p:nvSpPr>
        <p:spPr>
          <a:xfrm xmlns:a="http://schemas.openxmlformats.org/drawingml/2006/main">
            <a:off x="571500" y="7172325"/>
            <a:ext cx="140970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7658A"/>
                </a:solidFill>
                <a:latin typeface="Arial"/>
                <a:ea typeface="Arial"/>
                <a:cs typeface="Arial"/>
              </a:defRPr>
            </a:pPr>
            <a:r>
              <a:rPr sz="2775" b="1">
                <a:solidFill>
                  <a:srgbClr val="17658A"/>
                </a:solidFill>
                <a:latin typeface="Arial"/>
                <a:ea typeface="Arial"/>
                <a:cs typeface="Arial"/>
              </a:rPr>
              <a:t>Winst stijgt € 32 per week. De gezamenlijke TCK telt eenmaal.</a:t>
            </a:r>
          </a:p>
        </p:txBody>
      </p:sp>
    </p:spTree>
    <p:extLst>
      <p:ext uri="{BB962C8B-B14F-4D97-AF65-F5344CB8AC3E}">
        <p14:creationId xmlns:p14="http://schemas.microsoft.com/office/powerpoint/2010/main" val="974975029"/>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16c · A betaalt meer, B betaalt minder">
            <a:extLst xmlns:a="http://schemas.openxmlformats.org/drawingml/2006/main">
              <a:ext uri="{FF2B5EF4-FFF2-40B4-BE49-F238E27FC236}">
                <a16:creationId xmlns:a16="http://schemas.microsoft.com/office/drawing/2014/main" id="{0D2C4F10-417E-4AD0-9EE1-D52674630E43}"/>
              </a:ext>
            </a:extLst>
          </p:cNvPr>
          <p:cNvSpPr>
            <a:spLocks xmlns:a="http://schemas.openxmlformats.org/drawingml/2006/main" noGrp="1"/>
          </p:cNvSpPr>
          <p:nvPr/>
        </p:nvSpPr>
        <p:spPr>
          <a:xfrm xmlns:a="http://schemas.openxmlformats.org/drawingml/2006/main">
            <a:off x="571500" y="400050"/>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16c · A betaalt meer, B betaalt minder</a:t>
            </a:r>
          </a:p>
        </p:txBody>
      </p:sp>
      <p:sp>
        <p:nvSpPr>
          <p:cNvPr id="2" name="">
            <a:extLst xmlns:a="http://schemas.openxmlformats.org/drawingml/2006/main">
              <a:ext uri="{FF2B5EF4-FFF2-40B4-BE49-F238E27FC236}">
                <a16:creationId xmlns:a16="http://schemas.microsoft.com/office/drawing/2014/main" id="{CF9C6A2F-2B4D-4472-B69E-0B960A81BB07}"/>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2 · FilmLab · Boekpagina 69">
            <a:extLst xmlns:a="http://schemas.openxmlformats.org/drawingml/2006/main">
              <a:ext uri="{FF2B5EF4-FFF2-40B4-BE49-F238E27FC236}">
                <a16:creationId xmlns:a16="http://schemas.microsoft.com/office/drawing/2014/main" id="{25881564-F943-4EC8-9FEE-040E1D23EF74}"/>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§4.2.2 · FilmLab · Boekpagina 69</a:t>
            </a:r>
          </a:p>
        </p:txBody>
      </p:sp>
      <p:sp>
        <p:nvSpPr>
          <p:cNvPr id="4" name="slide-number">
            <a:extLst xmlns:a="http://schemas.openxmlformats.org/drawingml/2006/main">
              <a:ext uri="{FF2B5EF4-FFF2-40B4-BE49-F238E27FC236}">
                <a16:creationId xmlns:a16="http://schemas.microsoft.com/office/drawing/2014/main" id="{CA259C0E-0E27-4470-BFB3-68E62F85A6C5}"/>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24</a:t>
            </a:r>
          </a:p>
        </p:txBody>
      </p:sp>
      <p:graphicFrame>
        <p:nvGraphicFramePr>
          <p:cNvPr id="12" name=""/>
          <p:cNvGraphicFramePr/>
          <p:nvPr/>
        </p:nvGraphicFramePr>
        <p:xfrm>
          <a:off xmlns:a="http://schemas.openxmlformats.org/drawingml/2006/main" x="571500" y="2171700"/>
          <a:ext xmlns:a="http://schemas.openxmlformats.org/drawingml/2006/main" cx="14097000" cy="2790825"/>
        </p:xfrm>
        <a:graphic xmlns:a="http://schemas.openxmlformats.org/drawingml/2006/main">
          <a:graphicData uri="http://schemas.openxmlformats.org/drawingml/2006/table">
            <a:tbl>
              <a:tblPr/>
              <a:tblGrid>
                <a:gridCol w="4953000"/>
                <a:gridCol w="3048000"/>
                <a:gridCol w="3048000"/>
                <a:gridCol w="3048000"/>
              </a:tblGrid>
              <a:tr h="930275">
                <a:tc>
                  <a:txBody>
                    <a:bodyPr lIns="171450" tIns="95250" rIns="152400" bIns="95250"/>
                    <a:lstStyle/>
                    <a:p>
                      <a:r>
                        <a:rPr sz="2700" b="1">
                          <a:solidFill>
                            <a:srgbClr val="FFFFFF"/>
                          </a:solidFill>
                          <a:latin typeface="Arial"/>
                          <a:ea typeface="Arial"/>
                          <a:cs typeface="Arial"/>
                        </a:rPr>
                        <a:t>Prijs per bezoek</a:t>
                      </a:r>
                    </a:p>
                  </a:txBody>
                  <a:tcPr marL="91440" marR="91440" marT="45720" marB="45720" anchor="ctr">
                    <a:solidFill>
                      <a:srgbClr val="183247"/>
                    </a:solidFill>
                  </a:tcPr>
                </a:tc>
                <a:tc>
                  <a:txBody>
                    <a:bodyPr lIns="171450" tIns="95250" rIns="152400" bIns="95250"/>
                    <a:lstStyle/>
                    <a:p>
                      <a:r>
                        <a:rPr sz="2700" b="1">
                          <a:solidFill>
                            <a:srgbClr val="FFFFFF"/>
                          </a:solidFill>
                          <a:latin typeface="Arial"/>
                          <a:ea typeface="Arial"/>
                          <a:cs typeface="Arial"/>
                        </a:rPr>
                        <a:t>Eén prijs</a:t>
                      </a:r>
                    </a:p>
                  </a:txBody>
                  <a:tcPr marL="91440" marR="91440" marT="45720" marB="45720" anchor="ctr">
                    <a:solidFill>
                      <a:srgbClr val="183247"/>
                    </a:solidFill>
                  </a:tcPr>
                </a:tc>
                <a:tc>
                  <a:txBody>
                    <a:bodyPr lIns="171450" tIns="95250" rIns="152400" bIns="95250"/>
                    <a:lstStyle/>
                    <a:p>
                      <a:r>
                        <a:rPr sz="2700" b="1">
                          <a:solidFill>
                            <a:srgbClr val="FFFFFF"/>
                          </a:solidFill>
                          <a:latin typeface="Arial"/>
                          <a:ea typeface="Arial"/>
                          <a:cs typeface="Arial"/>
                        </a:rPr>
                        <a:t>Groepsprijzen</a:t>
                      </a:r>
                    </a:p>
                  </a:txBody>
                  <a:tcPr marL="91440" marR="91440" marT="45720" marB="45720" anchor="ctr">
                    <a:solidFill>
                      <a:srgbClr val="183247"/>
                    </a:solidFill>
                  </a:tcPr>
                </a:tc>
                <a:tc>
                  <a:txBody>
                    <a:bodyPr lIns="171450" tIns="95250" rIns="152400" bIns="95250"/>
                    <a:lstStyle/>
                    <a:p>
                      <a:r>
                        <a:rPr sz="2700" b="1">
                          <a:solidFill>
                            <a:srgbClr val="FFFFFF"/>
                          </a:solidFill>
                          <a:latin typeface="Arial"/>
                          <a:ea typeface="Arial"/>
                          <a:cs typeface="Arial"/>
                        </a:rPr>
                        <a:t>Verschil</a:t>
                      </a:r>
                    </a:p>
                  </a:txBody>
                  <a:tcPr marL="91440" marR="91440" marT="45720" marB="45720" anchor="ctr">
                    <a:solidFill>
                      <a:srgbClr val="183247"/>
                    </a:solidFill>
                  </a:tcPr>
                </a:tc>
              </a:tr>
              <a:tr h="930275">
                <a:tc>
                  <a:txBody>
                    <a:bodyPr lIns="171450" tIns="95250" rIns="152400" bIns="95250"/>
                    <a:lstStyle/>
                    <a:p>
                      <a:r>
                        <a:rPr sz="2700" b="0">
                          <a:solidFill>
                            <a:srgbClr val="183247"/>
                          </a:solidFill>
                          <a:latin typeface="Arial"/>
                          <a:ea typeface="Arial"/>
                          <a:cs typeface="Arial"/>
                        </a:rPr>
                        <a:t>Groep A</a:t>
                      </a:r>
                    </a:p>
                  </a:txBody>
                  <a:tcPr marL="91440" marR="91440" marT="45720" marB="45720" anchor="ctr">
                    <a:solidFill>
                      <a:srgbClr val="FFFFFF"/>
                    </a:solidFill>
                  </a:tcPr>
                </a:tc>
                <a:tc>
                  <a:txBody>
                    <a:bodyPr lIns="171450" tIns="95250" rIns="152400" bIns="95250"/>
                    <a:lstStyle/>
                    <a:p>
                      <a:r>
                        <a:rPr sz="2700" b="0">
                          <a:solidFill>
                            <a:srgbClr val="183247"/>
                          </a:solidFill>
                          <a:latin typeface="Arial"/>
                          <a:ea typeface="Arial"/>
                          <a:cs typeface="Arial"/>
                        </a:rPr>
                        <a:t>€ 20</a:t>
                      </a:r>
                    </a:p>
                  </a:txBody>
                  <a:tcPr marL="91440" marR="91440" marT="45720" marB="45720" anchor="ctr">
                    <a:solidFill>
                      <a:srgbClr val="FFFFFF"/>
                    </a:solidFill>
                  </a:tcPr>
                </a:tc>
                <a:tc>
                  <a:txBody>
                    <a:bodyPr lIns="171450" tIns="95250" rIns="152400" bIns="95250"/>
                    <a:lstStyle/>
                    <a:p>
                      <a:r>
                        <a:rPr sz="2700" b="0">
                          <a:solidFill>
                            <a:srgbClr val="183247"/>
                          </a:solidFill>
                          <a:latin typeface="Arial"/>
                          <a:ea typeface="Arial"/>
                          <a:cs typeface="Arial"/>
                        </a:rPr>
                        <a:t>€ 24</a:t>
                      </a:r>
                    </a:p>
                  </a:txBody>
                  <a:tcPr marL="91440" marR="91440" marT="45720" marB="45720" anchor="ctr">
                    <a:solidFill>
                      <a:srgbClr val="FFFFFF"/>
                    </a:solidFill>
                  </a:tcPr>
                </a:tc>
                <a:tc>
                  <a:txBody>
                    <a:bodyPr lIns="171450" tIns="95250" rIns="152400" bIns="95250"/>
                    <a:lstStyle/>
                    <a:p>
                      <a:r>
                        <a:rPr sz="2700" b="0">
                          <a:solidFill>
                            <a:srgbClr val="183247"/>
                          </a:solidFill>
                          <a:latin typeface="Arial"/>
                          <a:ea typeface="Arial"/>
                          <a:cs typeface="Arial"/>
                        </a:rPr>
                        <a:t>€ 4 meer</a:t>
                      </a:r>
                    </a:p>
                  </a:txBody>
                  <a:tcPr marL="91440" marR="91440" marT="45720" marB="45720" anchor="ctr">
                    <a:solidFill>
                      <a:srgbClr val="FFFFFF"/>
                    </a:solidFill>
                  </a:tcPr>
                </a:tc>
              </a:tr>
              <a:tr h="930275">
                <a:tc>
                  <a:txBody>
                    <a:bodyPr lIns="171450" tIns="95250" rIns="152400" bIns="95250"/>
                    <a:lstStyle/>
                    <a:p>
                      <a:r>
                        <a:rPr sz="2700" b="0">
                          <a:solidFill>
                            <a:srgbClr val="183247"/>
                          </a:solidFill>
                          <a:latin typeface="Arial"/>
                          <a:ea typeface="Arial"/>
                          <a:cs typeface="Arial"/>
                        </a:rPr>
                        <a:t>Groep B</a:t>
                      </a:r>
                    </a:p>
                  </a:txBody>
                  <a:tcPr marL="91440" marR="91440" marT="45720" marB="45720" anchor="ctr">
                    <a:solidFill>
                      <a:srgbClr val="EFF4F7"/>
                    </a:solidFill>
                  </a:tcPr>
                </a:tc>
                <a:tc>
                  <a:txBody>
                    <a:bodyPr lIns="171450" tIns="95250" rIns="152400" bIns="95250"/>
                    <a:lstStyle/>
                    <a:p>
                      <a:r>
                        <a:rPr sz="2700" b="0">
                          <a:solidFill>
                            <a:srgbClr val="183247"/>
                          </a:solidFill>
                          <a:latin typeface="Arial"/>
                          <a:ea typeface="Arial"/>
                          <a:cs typeface="Arial"/>
                        </a:rPr>
                        <a:t>€ 20</a:t>
                      </a:r>
                    </a:p>
                  </a:txBody>
                  <a:tcPr marL="91440" marR="91440" marT="45720" marB="45720" anchor="ctr">
                    <a:solidFill>
                      <a:srgbClr val="EFF4F7"/>
                    </a:solidFill>
                  </a:tcPr>
                </a:tc>
                <a:tc>
                  <a:txBody>
                    <a:bodyPr lIns="171450" tIns="95250" rIns="152400" bIns="95250"/>
                    <a:lstStyle/>
                    <a:p>
                      <a:r>
                        <a:rPr sz="2700" b="0">
                          <a:solidFill>
                            <a:srgbClr val="183247"/>
                          </a:solidFill>
                          <a:latin typeface="Arial"/>
                          <a:ea typeface="Arial"/>
                          <a:cs typeface="Arial"/>
                        </a:rPr>
                        <a:t>€ 16</a:t>
                      </a:r>
                    </a:p>
                  </a:txBody>
                  <a:tcPr marL="91440" marR="91440" marT="45720" marB="45720" anchor="ctr">
                    <a:solidFill>
                      <a:srgbClr val="EFF4F7"/>
                    </a:solidFill>
                  </a:tcPr>
                </a:tc>
                <a:tc>
                  <a:txBody>
                    <a:bodyPr lIns="171450" tIns="95250" rIns="152400" bIns="95250"/>
                    <a:lstStyle/>
                    <a:p>
                      <a:r>
                        <a:rPr sz="2700" b="0">
                          <a:solidFill>
                            <a:srgbClr val="183247"/>
                          </a:solidFill>
                          <a:latin typeface="Arial"/>
                          <a:ea typeface="Arial"/>
                          <a:cs typeface="Arial"/>
                        </a:rPr>
                        <a:t>€ 4 minder</a:t>
                      </a:r>
                    </a:p>
                  </a:txBody>
                  <a:tcPr marL="91440" marR="91440" marT="45720" marB="45720" anchor="ctr">
                    <a:solidFill>
                      <a:srgbClr val="EFF4F7"/>
                    </a:solidFill>
                  </a:tcPr>
                </a:tc>
              </a:tr>
            </a:tbl>
          </a:graphicData>
        </a:graphic>
      </p:graphicFrame>
      <p:sp>
        <p:nvSpPr>
          <p:cNvPr id="6" name="Eén noodzakelijke voorwaarde uit bron A:">
            <a:extLst xmlns:a="http://schemas.openxmlformats.org/drawingml/2006/main">
              <a:ext uri="{FF2B5EF4-FFF2-40B4-BE49-F238E27FC236}">
                <a16:creationId xmlns:a16="http://schemas.microsoft.com/office/drawing/2014/main" id="{936FF6CD-67EF-4F6F-9C3C-F94DDBF3B72C}"/>
              </a:ext>
            </a:extLst>
          </p:cNvPr>
          <p:cNvSpPr>
            <a:spLocks xmlns:a="http://schemas.openxmlformats.org/drawingml/2006/main" noGrp="1"/>
          </p:cNvSpPr>
          <p:nvPr/>
        </p:nvSpPr>
        <p:spPr>
          <a:xfrm xmlns:a="http://schemas.openxmlformats.org/drawingml/2006/main">
            <a:off x="571500" y="5667375"/>
            <a:ext cx="14097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7658A"/>
                </a:solidFill>
                <a:latin typeface="Arial"/>
                <a:ea typeface="Arial"/>
                <a:cs typeface="Arial"/>
              </a:defRPr>
            </a:pPr>
            <a:r>
              <a:rPr sz="2850" b="1">
                <a:solidFill>
                  <a:srgbClr val="17658A"/>
                </a:solidFill>
                <a:latin typeface="Arial"/>
                <a:ea typeface="Arial"/>
                <a:cs typeface="Arial"/>
              </a:rPr>
              <a:t>Eén noodzakelijke voorwaarde uit bron A:</a:t>
            </a:r>
          </a:p>
        </p:txBody>
      </p:sp>
      <p:sp>
        <p:nvSpPr>
          <p:cNvPr id="7" name="De gecontroleerde persoonlijke passen houden groepen&#10;gescheiden ">
            <a:extLst xmlns:a="http://schemas.openxmlformats.org/drawingml/2006/main">
              <a:ext uri="{FF2B5EF4-FFF2-40B4-BE49-F238E27FC236}">
                <a16:creationId xmlns:a16="http://schemas.microsoft.com/office/drawing/2014/main" id="{574C3589-F2EF-4DFE-A4A5-2AC6DFE1AA50}"/>
              </a:ext>
            </a:extLst>
          </p:cNvPr>
          <p:cNvSpPr>
            <a:spLocks xmlns:a="http://schemas.openxmlformats.org/drawingml/2006/main" noGrp="1"/>
          </p:cNvSpPr>
          <p:nvPr/>
        </p:nvSpPr>
        <p:spPr>
          <a:xfrm xmlns:a="http://schemas.openxmlformats.org/drawingml/2006/main">
            <a:off x="571500" y="6581775"/>
            <a:ext cx="140970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0">
                <a:solidFill>
                  <a:srgbClr val="183247"/>
                </a:solidFill>
                <a:latin typeface="Arial"/>
                <a:ea typeface="Arial"/>
                <a:cs typeface="Arial"/>
              </a:defRPr>
            </a:pPr>
            <a:r>
              <a:rPr sz="3000" b="0">
                <a:solidFill>
                  <a:srgbClr val="183247"/>
                </a:solidFill>
                <a:latin typeface="Arial"/>
                <a:ea typeface="Arial"/>
                <a:cs typeface="Arial"/>
              </a:rPr>
              <a:t>De gecontroleerde persoonlijke passen houden groepen</a:t>
            </a:r>
          </a:p>
          <a:p xmlns:a="http://schemas.openxmlformats.org/drawingml/2006/main">
            <a:pPr algn="l">
              <a:defRPr sz="3000" b="0">
                <a:solidFill>
                  <a:srgbClr val="183247"/>
                </a:solidFill>
                <a:latin typeface="Arial"/>
                <a:ea typeface="Arial"/>
                <a:cs typeface="Arial"/>
              </a:defRPr>
            </a:pPr>
            <a:r>
              <a:rPr sz="3000" b="0">
                <a:solidFill>
                  <a:srgbClr val="183247"/>
                </a:solidFill>
                <a:latin typeface="Arial"/>
                <a:ea typeface="Arial"/>
                <a:cs typeface="Arial"/>
              </a:rPr>
              <a:t>gescheiden en voorkomen doorverkoop.</a:t>
            </a:r>
          </a:p>
        </p:txBody>
      </p:sp>
    </p:spTree>
    <p:extLst>
      <p:ext uri="{BB962C8B-B14F-4D97-AF65-F5344CB8AC3E}">
        <p14:creationId xmlns:p14="http://schemas.microsoft.com/office/powerpoint/2010/main" val="37742287"/>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16d · Meer winst, maar minder totaal surplus">
            <a:extLst xmlns:a="http://schemas.openxmlformats.org/drawingml/2006/main">
              <a:ext uri="{FF2B5EF4-FFF2-40B4-BE49-F238E27FC236}">
                <a16:creationId xmlns:a16="http://schemas.microsoft.com/office/drawing/2014/main" id="{19548BF8-DF18-488B-92E5-A160B78CCECA}"/>
              </a:ext>
            </a:extLst>
          </p:cNvPr>
          <p:cNvSpPr>
            <a:spLocks xmlns:a="http://schemas.openxmlformats.org/drawingml/2006/main" noGrp="1"/>
          </p:cNvSpPr>
          <p:nvPr/>
        </p:nvSpPr>
        <p:spPr>
          <a:xfrm xmlns:a="http://schemas.openxmlformats.org/drawingml/2006/main">
            <a:off x="571500" y="400050"/>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16d · Meer winst, maar minder totaal surplus</a:t>
            </a:r>
          </a:p>
        </p:txBody>
      </p:sp>
      <p:sp>
        <p:nvSpPr>
          <p:cNvPr id="2" name="">
            <a:extLst xmlns:a="http://schemas.openxmlformats.org/drawingml/2006/main">
              <a:ext uri="{FF2B5EF4-FFF2-40B4-BE49-F238E27FC236}">
                <a16:creationId xmlns:a16="http://schemas.microsoft.com/office/drawing/2014/main" id="{E352F16D-E351-47FC-AEC9-2AC83E8C4FFF}"/>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2 · FilmLab · Boekpagina 69">
            <a:extLst xmlns:a="http://schemas.openxmlformats.org/drawingml/2006/main">
              <a:ext uri="{FF2B5EF4-FFF2-40B4-BE49-F238E27FC236}">
                <a16:creationId xmlns:a16="http://schemas.microsoft.com/office/drawing/2014/main" id="{2DA85461-19C5-45C5-8746-A3238E0027C6}"/>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§4.2.2 · FilmLab · Boekpagina 69</a:t>
            </a:r>
          </a:p>
        </p:txBody>
      </p:sp>
      <p:sp>
        <p:nvSpPr>
          <p:cNvPr id="4" name="slide-number">
            <a:extLst xmlns:a="http://schemas.openxmlformats.org/drawingml/2006/main">
              <a:ext uri="{FF2B5EF4-FFF2-40B4-BE49-F238E27FC236}">
                <a16:creationId xmlns:a16="http://schemas.microsoft.com/office/drawing/2014/main" id="{7B42F5FB-EF71-4A6B-810C-77388FA3D344}"/>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25</a:t>
            </a:r>
          </a:p>
        </p:txBody>
      </p:sp>
      <p:sp>
        <p:nvSpPr>
          <p:cNvPr id="5" name="PS = TO − TVK     TS = CS + PS">
            <a:extLst xmlns:a="http://schemas.openxmlformats.org/drawingml/2006/main">
              <a:ext uri="{FF2B5EF4-FFF2-40B4-BE49-F238E27FC236}">
                <a16:creationId xmlns:a16="http://schemas.microsoft.com/office/drawing/2014/main" id="{3F38A099-8828-4FB0-AA82-A77407BCBDB2}"/>
              </a:ext>
            </a:extLst>
          </p:cNvPr>
          <p:cNvSpPr>
            <a:spLocks xmlns:a="http://schemas.openxmlformats.org/drawingml/2006/main" noGrp="1"/>
          </p:cNvSpPr>
          <p:nvPr/>
        </p:nvSpPr>
        <p:spPr>
          <a:xfrm xmlns:a="http://schemas.openxmlformats.org/drawingml/2006/main">
            <a:off x="571500" y="1876425"/>
            <a:ext cx="14097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1">
                <a:solidFill>
                  <a:srgbClr val="17658A"/>
                </a:solidFill>
                <a:latin typeface="Arial"/>
                <a:ea typeface="Arial"/>
                <a:cs typeface="Arial"/>
              </a:defRPr>
            </a:pPr>
            <a:r>
              <a:rPr sz="3075" b="1">
                <a:solidFill>
                  <a:srgbClr val="17658A"/>
                </a:solidFill>
                <a:latin typeface="Arial"/>
                <a:ea typeface="Arial"/>
                <a:cs typeface="Arial"/>
              </a:rPr>
              <a:t>PS = TO − TVK     TS = CS + PS</a:t>
            </a:r>
          </a:p>
        </p:txBody>
      </p:sp>
      <p:graphicFrame>
        <p:nvGraphicFramePr>
          <p:cNvPr id="14" name=""/>
          <p:cNvGraphicFramePr/>
          <p:nvPr/>
        </p:nvGraphicFramePr>
        <p:xfrm>
          <a:off xmlns:a="http://schemas.openxmlformats.org/drawingml/2006/main" x="571500" y="3133725"/>
          <a:ext xmlns:a="http://schemas.openxmlformats.org/drawingml/2006/main" cx="14097000" cy="3200400"/>
        </p:xfrm>
        <a:graphic xmlns:a="http://schemas.openxmlformats.org/drawingml/2006/main">
          <a:graphicData uri="http://schemas.openxmlformats.org/drawingml/2006/table">
            <a:tbl>
              <a:tblPr/>
              <a:tblGrid>
                <a:gridCol w="4762500"/>
                <a:gridCol w="4667250"/>
                <a:gridCol w="4667250"/>
              </a:tblGrid>
              <a:tr h="800100">
                <a:tc>
                  <a:txBody>
                    <a:bodyPr lIns="171450" tIns="95250" rIns="152400" bIns="95250"/>
                    <a:lstStyle/>
                    <a:p>
                      <a:r>
                        <a:rPr sz="2550" b="1">
                          <a:solidFill>
                            <a:srgbClr val="FFFFFF"/>
                          </a:solidFill>
                          <a:latin typeface="Arial"/>
                          <a:ea typeface="Arial"/>
                          <a:cs typeface="Arial"/>
                        </a:rPr>
                        <a:t>€ per week</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Eén prijs</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Groepsprijzen</a:t>
                      </a:r>
                    </a:p>
                  </a:txBody>
                  <a:tcPr marL="91440" marR="91440" marT="45720" marB="45720" anchor="ctr">
                    <a:solidFill>
                      <a:srgbClr val="183247"/>
                    </a:solidFill>
                  </a:tcPr>
                </a:tc>
              </a:tr>
              <a:tr h="800100">
                <a:tc>
                  <a:txBody>
                    <a:bodyPr lIns="171450" tIns="95250" rIns="152400" bIns="95250"/>
                    <a:lstStyle/>
                    <a:p>
                      <a:r>
                        <a:rPr sz="2550" b="0">
                          <a:solidFill>
                            <a:srgbClr val="183247"/>
                          </a:solidFill>
                          <a:latin typeface="Arial"/>
                          <a:ea typeface="Arial"/>
                          <a:cs typeface="Arial"/>
                        </a:rPr>
                        <a:t>CS (bron B)</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208</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160</a:t>
                      </a:r>
                    </a:p>
                  </a:txBody>
                  <a:tcPr marL="91440" marR="91440" marT="45720" marB="45720" anchor="ctr">
                    <a:solidFill>
                      <a:srgbClr val="FFFFFF"/>
                    </a:solidFill>
                  </a:tcPr>
                </a:tc>
              </a:tr>
              <a:tr h="800100">
                <a:tc>
                  <a:txBody>
                    <a:bodyPr lIns="171450" tIns="95250" rIns="152400" bIns="95250"/>
                    <a:lstStyle/>
                    <a:p>
                      <a:r>
                        <a:rPr sz="2550" b="0">
                          <a:solidFill>
                            <a:srgbClr val="183247"/>
                          </a:solidFill>
                          <a:latin typeface="Arial"/>
                          <a:ea typeface="Arial"/>
                          <a:cs typeface="Arial"/>
                        </a:rPr>
                        <a:t>PS = TO − TVK</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480 − 192 = 288</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512 − 192 = 320</a:t>
                      </a:r>
                    </a:p>
                  </a:txBody>
                  <a:tcPr marL="91440" marR="91440" marT="45720" marB="45720" anchor="ctr">
                    <a:solidFill>
                      <a:srgbClr val="EFF4F7"/>
                    </a:solidFill>
                  </a:tcPr>
                </a:tc>
              </a:tr>
              <a:tr h="800100">
                <a:tc>
                  <a:txBody>
                    <a:bodyPr lIns="171450" tIns="95250" rIns="152400" bIns="95250"/>
                    <a:lstStyle/>
                    <a:p>
                      <a:r>
                        <a:rPr sz="2550" b="0">
                          <a:solidFill>
                            <a:srgbClr val="183247"/>
                          </a:solidFill>
                          <a:latin typeface="Arial"/>
                          <a:ea typeface="Arial"/>
                          <a:cs typeface="Arial"/>
                        </a:rPr>
                        <a:t>TS = CS + PS</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208 + 288 = 496</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160 + 320 = 480</a:t>
                      </a:r>
                    </a:p>
                  </a:txBody>
                  <a:tcPr marL="91440" marR="91440" marT="45720" marB="45720" anchor="ctr">
                    <a:solidFill>
                      <a:srgbClr val="FFFFFF"/>
                    </a:solidFill>
                  </a:tcPr>
                </a:tc>
              </a:tr>
            </a:tbl>
          </a:graphicData>
        </a:graphic>
      </p:graphicFrame>
      <p:sp>
        <p:nvSpPr>
          <p:cNvPr id="7" name="ΔTS = −48 + 32 = −€ 16 per week">
            <a:extLst xmlns:a="http://schemas.openxmlformats.org/drawingml/2006/main">
              <a:ext uri="{FF2B5EF4-FFF2-40B4-BE49-F238E27FC236}">
                <a16:creationId xmlns:a16="http://schemas.microsoft.com/office/drawing/2014/main" id="{B67F26DF-18AA-4351-AB86-2440D4F7D9FE}"/>
              </a:ext>
            </a:extLst>
          </p:cNvPr>
          <p:cNvSpPr>
            <a:spLocks xmlns:a="http://schemas.openxmlformats.org/drawingml/2006/main" noGrp="1"/>
          </p:cNvSpPr>
          <p:nvPr/>
        </p:nvSpPr>
        <p:spPr>
          <a:xfrm xmlns:a="http://schemas.openxmlformats.org/drawingml/2006/main">
            <a:off x="571500" y="6743700"/>
            <a:ext cx="14097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A94D16"/>
                </a:solidFill>
                <a:latin typeface="Arial"/>
                <a:ea typeface="Arial"/>
                <a:cs typeface="Arial"/>
              </a:defRPr>
            </a:pPr>
            <a:r>
              <a:rPr sz="3225" b="1">
                <a:solidFill>
                  <a:srgbClr val="A94D16"/>
                </a:solidFill>
                <a:latin typeface="Arial"/>
                <a:ea typeface="Arial"/>
                <a:cs typeface="Arial"/>
              </a:rPr>
              <a:t>ΔTS = −48 + 32 = −€ 16 per week</a:t>
            </a:r>
          </a:p>
        </p:txBody>
      </p:sp>
      <p:sp>
        <p:nvSpPr>
          <p:cNvPr id="8" name="Dus in deze case: winst +€ 32, totale welvaart lager.">
            <a:extLst xmlns:a="http://schemas.openxmlformats.org/drawingml/2006/main">
              <a:ext uri="{FF2B5EF4-FFF2-40B4-BE49-F238E27FC236}">
                <a16:creationId xmlns:a16="http://schemas.microsoft.com/office/drawing/2014/main" id="{F26C3401-3399-4EE7-826E-44231BF5C6EF}"/>
              </a:ext>
            </a:extLst>
          </p:cNvPr>
          <p:cNvSpPr>
            <a:spLocks xmlns:a="http://schemas.openxmlformats.org/drawingml/2006/main" noGrp="1"/>
          </p:cNvSpPr>
          <p:nvPr/>
        </p:nvSpPr>
        <p:spPr>
          <a:xfrm xmlns:a="http://schemas.openxmlformats.org/drawingml/2006/main">
            <a:off x="571500" y="7505700"/>
            <a:ext cx="140970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83247"/>
                </a:solidFill>
                <a:latin typeface="Arial"/>
                <a:ea typeface="Arial"/>
                <a:cs typeface="Arial"/>
              </a:defRPr>
            </a:pPr>
            <a:r>
              <a:rPr sz="2550" b="1">
                <a:solidFill>
                  <a:srgbClr val="183247"/>
                </a:solidFill>
                <a:latin typeface="Arial"/>
                <a:ea typeface="Arial"/>
                <a:cs typeface="Arial"/>
              </a:rPr>
              <a:t>Dus in deze case: winst +€ 32, totale welvaart lager.</a:t>
            </a:r>
          </a:p>
        </p:txBody>
      </p:sp>
    </p:spTree>
    <p:extLst>
      <p:ext uri="{BB962C8B-B14F-4D97-AF65-F5344CB8AC3E}">
        <p14:creationId xmlns:p14="http://schemas.microsoft.com/office/powerpoint/2010/main" val="1661271477"/>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16e · Eén case bewijst geen algemene richting">
            <a:extLst xmlns:a="http://schemas.openxmlformats.org/drawingml/2006/main">
              <a:ext uri="{FF2B5EF4-FFF2-40B4-BE49-F238E27FC236}">
                <a16:creationId xmlns:a16="http://schemas.microsoft.com/office/drawing/2014/main" id="{948EBB9E-3D78-4EDD-80E1-CAC15695769B}"/>
              </a:ext>
            </a:extLst>
          </p:cNvPr>
          <p:cNvSpPr>
            <a:spLocks xmlns:a="http://schemas.openxmlformats.org/drawingml/2006/main" noGrp="1"/>
          </p:cNvSpPr>
          <p:nvPr/>
        </p:nvSpPr>
        <p:spPr>
          <a:xfrm xmlns:a="http://schemas.openxmlformats.org/drawingml/2006/main">
            <a:off x="571500" y="400050"/>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16e · Eén case bewijst geen algemene richting</a:t>
            </a:r>
          </a:p>
        </p:txBody>
      </p:sp>
      <p:sp>
        <p:nvSpPr>
          <p:cNvPr id="2" name="">
            <a:extLst xmlns:a="http://schemas.openxmlformats.org/drawingml/2006/main">
              <a:ext uri="{FF2B5EF4-FFF2-40B4-BE49-F238E27FC236}">
                <a16:creationId xmlns:a16="http://schemas.microsoft.com/office/drawing/2014/main" id="{09CE12A5-6E60-4E27-9EC3-720B66929C92}"/>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2 · FilmLab · Boekpagina 69">
            <a:extLst xmlns:a="http://schemas.openxmlformats.org/drawingml/2006/main">
              <a:ext uri="{FF2B5EF4-FFF2-40B4-BE49-F238E27FC236}">
                <a16:creationId xmlns:a16="http://schemas.microsoft.com/office/drawing/2014/main" id="{B328BEAD-BCED-4741-8981-9C44C3A5D20B}"/>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§4.2.2 · FilmLab · Boekpagina 69</a:t>
            </a:r>
          </a:p>
        </p:txBody>
      </p:sp>
      <p:sp>
        <p:nvSpPr>
          <p:cNvPr id="4" name="slide-number">
            <a:extLst xmlns:a="http://schemas.openxmlformats.org/drawingml/2006/main">
              <a:ext uri="{FF2B5EF4-FFF2-40B4-BE49-F238E27FC236}">
                <a16:creationId xmlns:a16="http://schemas.microsoft.com/office/drawing/2014/main" id="{BD37CC1F-2BF5-46B2-B1F9-F48C143E4C11}"/>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26</a:t>
            </a:r>
          </a:p>
        </p:txBody>
      </p:sp>
      <p:sp>
        <p:nvSpPr>
          <p:cNvPr id="5" name="FilmLab: deze vraag, deze kosten en deze afzet">
            <a:extLst xmlns:a="http://schemas.openxmlformats.org/drawingml/2006/main">
              <a:ext uri="{FF2B5EF4-FFF2-40B4-BE49-F238E27FC236}">
                <a16:creationId xmlns:a16="http://schemas.microsoft.com/office/drawing/2014/main" id="{2549D6D1-7B84-430F-B72D-A20486B9FAD8}"/>
              </a:ext>
            </a:extLst>
          </p:cNvPr>
          <p:cNvSpPr>
            <a:spLocks xmlns:a="http://schemas.openxmlformats.org/drawingml/2006/main" noGrp="1"/>
          </p:cNvSpPr>
          <p:nvPr/>
        </p:nvSpPr>
        <p:spPr>
          <a:xfrm xmlns:a="http://schemas.openxmlformats.org/drawingml/2006/main">
            <a:off x="571500" y="1952625"/>
            <a:ext cx="14097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1">
                <a:solidFill>
                  <a:srgbClr val="17658A"/>
                </a:solidFill>
                <a:latin typeface="Arial"/>
                <a:ea typeface="Arial"/>
                <a:cs typeface="Arial"/>
              </a:defRPr>
            </a:pPr>
            <a:r>
              <a:rPr sz="3075" b="1">
                <a:solidFill>
                  <a:srgbClr val="17658A"/>
                </a:solidFill>
                <a:latin typeface="Arial"/>
                <a:ea typeface="Arial"/>
                <a:cs typeface="Arial"/>
              </a:rPr>
              <a:t>FilmLab: deze vraag, deze kosten en deze afzet</a:t>
            </a:r>
          </a:p>
        </p:txBody>
      </p:sp>
      <p:sp>
        <p:nvSpPr>
          <p:cNvPr id="6" name="In een andere situatie kan een lager groepstarief&#10;nieuwe kopers ">
            <a:extLst xmlns:a="http://schemas.openxmlformats.org/drawingml/2006/main">
              <a:ext uri="{FF2B5EF4-FFF2-40B4-BE49-F238E27FC236}">
                <a16:creationId xmlns:a16="http://schemas.microsoft.com/office/drawing/2014/main" id="{F07D8CBB-A6C8-4FE2-8292-421EC7FA1C2E}"/>
              </a:ext>
            </a:extLst>
          </p:cNvPr>
          <p:cNvSpPr>
            <a:spLocks xmlns:a="http://schemas.openxmlformats.org/drawingml/2006/main" noGrp="1"/>
          </p:cNvSpPr>
          <p:nvPr/>
        </p:nvSpPr>
        <p:spPr>
          <a:xfrm xmlns:a="http://schemas.openxmlformats.org/drawingml/2006/main">
            <a:off x="571500" y="3257550"/>
            <a:ext cx="14097000" cy="1304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0">
                <a:solidFill>
                  <a:srgbClr val="183247"/>
                </a:solidFill>
                <a:latin typeface="Arial"/>
                <a:ea typeface="Arial"/>
                <a:cs typeface="Arial"/>
              </a:defRPr>
            </a:pPr>
            <a:r>
              <a:rPr sz="3150" b="0">
                <a:solidFill>
                  <a:srgbClr val="183247"/>
                </a:solidFill>
                <a:latin typeface="Arial"/>
                <a:ea typeface="Arial"/>
                <a:cs typeface="Arial"/>
              </a:rPr>
              <a:t>In een andere situatie kan een lager groepstarief</a:t>
            </a:r>
          </a:p>
          <a:p xmlns:a="http://schemas.openxmlformats.org/drawingml/2006/main">
            <a:pPr algn="l">
              <a:defRPr sz="3150" b="0">
                <a:solidFill>
                  <a:srgbClr val="183247"/>
                </a:solidFill>
                <a:latin typeface="Arial"/>
                <a:ea typeface="Arial"/>
                <a:cs typeface="Arial"/>
              </a:defRPr>
            </a:pPr>
            <a:r>
              <a:rPr sz="3150" b="0">
                <a:solidFill>
                  <a:srgbClr val="183247"/>
                </a:solidFill>
                <a:latin typeface="Arial"/>
                <a:ea typeface="Arial"/>
                <a:cs typeface="Arial"/>
              </a:rPr>
              <a:t>nieuwe kopers bereiken die anders niets kopen.</a:t>
            </a:r>
          </a:p>
        </p:txBody>
      </p:sp>
      <p:sp>
        <p:nvSpPr>
          <p:cNvPr id="7" name="">
            <a:extLst xmlns:a="http://schemas.openxmlformats.org/drawingml/2006/main">
              <a:ext uri="{FF2B5EF4-FFF2-40B4-BE49-F238E27FC236}">
                <a16:creationId xmlns:a16="http://schemas.microsoft.com/office/drawing/2014/main" id="{E8E56DC3-1B6E-4DBA-A229-61D129842842}"/>
              </a:ext>
            </a:extLst>
          </p:cNvPr>
          <p:cNvSpPr>
            <a:spLocks xmlns:a="http://schemas.openxmlformats.org/drawingml/2006/main" noGrp="1"/>
          </p:cNvSpPr>
          <p:nvPr/>
        </p:nvSpPr>
        <p:spPr>
          <a:xfrm xmlns:a="http://schemas.openxmlformats.org/drawingml/2006/main">
            <a:off x="571500" y="5019675"/>
            <a:ext cx="14097000" cy="0"/>
          </a:xfrm>
          <a:prstGeom xmlns:a="http://schemas.openxmlformats.org/drawingml/2006/main" prst="line">
            <a:avLst/>
          </a:prstGeom>
          <a:ln xmlns:a="http://schemas.openxmlformats.org/drawingml/2006/main" w="19050">
            <a:solidFill>
              <a:srgbClr val="C6D2DB"/>
            </a:solidFill>
          </a:ln>
        </p:spPr>
      </p:sp>
      <p:sp>
        <p:nvSpPr>
          <p:cNvPr id="8" name="Dan kan de verandering van TS anders uitvallen.&#10;Zonder die gegev">
            <a:extLst xmlns:a="http://schemas.openxmlformats.org/drawingml/2006/main">
              <a:ext uri="{FF2B5EF4-FFF2-40B4-BE49-F238E27FC236}">
                <a16:creationId xmlns:a16="http://schemas.microsoft.com/office/drawing/2014/main" id="{49074E46-4F4B-4ABF-AD4F-19E119F1282E}"/>
              </a:ext>
            </a:extLst>
          </p:cNvPr>
          <p:cNvSpPr>
            <a:spLocks xmlns:a="http://schemas.openxmlformats.org/drawingml/2006/main" noGrp="1"/>
          </p:cNvSpPr>
          <p:nvPr/>
        </p:nvSpPr>
        <p:spPr>
          <a:xfrm xmlns:a="http://schemas.openxmlformats.org/drawingml/2006/main">
            <a:off x="571500" y="5572125"/>
            <a:ext cx="140970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1">
                <a:solidFill>
                  <a:srgbClr val="183247"/>
                </a:solidFill>
                <a:latin typeface="Arial"/>
                <a:ea typeface="Arial"/>
                <a:cs typeface="Arial"/>
              </a:defRPr>
            </a:pPr>
            <a:r>
              <a:rPr sz="3075" b="1">
                <a:solidFill>
                  <a:srgbClr val="183247"/>
                </a:solidFill>
                <a:latin typeface="Arial"/>
                <a:ea typeface="Arial"/>
                <a:cs typeface="Arial"/>
              </a:rPr>
              <a:t>Dan kan de verandering van TS anders uitvallen.</a:t>
            </a:r>
          </a:p>
          <a:p xmlns:a="http://schemas.openxmlformats.org/drawingml/2006/main">
            <a:pPr algn="l">
              <a:defRPr sz="3075" b="1">
                <a:solidFill>
                  <a:srgbClr val="183247"/>
                </a:solidFill>
                <a:latin typeface="Arial"/>
                <a:ea typeface="Arial"/>
                <a:cs typeface="Arial"/>
              </a:defRPr>
            </a:pPr>
            <a:r>
              <a:rPr sz="3075" b="1">
                <a:solidFill>
                  <a:srgbClr val="183247"/>
                </a:solidFill>
                <a:latin typeface="Arial"/>
                <a:ea typeface="Arial"/>
                <a:cs typeface="Arial"/>
              </a:rPr>
              <a:t>Zonder die gegevens is de algemene richting niet bewezen.</a:t>
            </a:r>
          </a:p>
        </p:txBody>
      </p:sp>
      <p:sp>
        <p:nvSpPr>
          <p:cNvPr id="9" name="Controleer je antwoord: winst → klantgroepen → begrensde welvaar">
            <a:extLst xmlns:a="http://schemas.openxmlformats.org/drawingml/2006/main">
              <a:ext uri="{FF2B5EF4-FFF2-40B4-BE49-F238E27FC236}">
                <a16:creationId xmlns:a16="http://schemas.microsoft.com/office/drawing/2014/main" id="{4F8AD6FD-D8B3-446C-9A42-6E8C9C3D87C4}"/>
              </a:ext>
            </a:extLst>
          </p:cNvPr>
          <p:cNvSpPr>
            <a:spLocks xmlns:a="http://schemas.openxmlformats.org/drawingml/2006/main" noGrp="1"/>
          </p:cNvSpPr>
          <p:nvPr/>
        </p:nvSpPr>
        <p:spPr>
          <a:xfrm xmlns:a="http://schemas.openxmlformats.org/drawingml/2006/main">
            <a:off x="571500" y="7496175"/>
            <a:ext cx="140970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Controleer je antwoord: winst → klantgroepen → begrensde welvaart.</a:t>
            </a:r>
          </a:p>
        </p:txBody>
      </p:sp>
    </p:spTree>
    <p:extLst>
      <p:ext uri="{BB962C8B-B14F-4D97-AF65-F5344CB8AC3E}">
        <p14:creationId xmlns:p14="http://schemas.microsoft.com/office/powerpoint/2010/main" val="87483592"/>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4.2.2 Prijsdiscriminatie">
            <a:extLst xmlns:a="http://schemas.openxmlformats.org/drawingml/2006/main">
              <a:ext uri="{FF2B5EF4-FFF2-40B4-BE49-F238E27FC236}">
                <a16:creationId xmlns:a16="http://schemas.microsoft.com/office/drawing/2014/main" id="{21B2DBFF-36AF-41BF-B5ED-7E4D91EF95B8}"/>
              </a:ext>
            </a:extLst>
          </p:cNvPr>
          <p:cNvSpPr>
            <a:spLocks xmlns:a="http://schemas.openxmlformats.org/drawingml/2006/main" noGrp="1"/>
          </p:cNvSpPr>
          <p:nvPr/>
        </p:nvSpPr>
        <p:spPr>
          <a:xfrm xmlns:a="http://schemas.openxmlformats.org/drawingml/2006/main">
            <a:off x="571500" y="400050"/>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Deze les: §4.2.2 Prijsdiscriminatie</a:t>
            </a:r>
          </a:p>
        </p:txBody>
      </p:sp>
      <p:sp>
        <p:nvSpPr>
          <p:cNvPr id="2" name="">
            <a:extLst xmlns:a="http://schemas.openxmlformats.org/drawingml/2006/main">
              <a:ext uri="{FF2B5EF4-FFF2-40B4-BE49-F238E27FC236}">
                <a16:creationId xmlns:a16="http://schemas.microsoft.com/office/drawing/2014/main" id="{00055812-7036-4081-A0BB-AB09F740A6C3}"/>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2 Prijsdiscriminatie">
            <a:extLst xmlns:a="http://schemas.openxmlformats.org/drawingml/2006/main">
              <a:ext uri="{FF2B5EF4-FFF2-40B4-BE49-F238E27FC236}">
                <a16:creationId xmlns:a16="http://schemas.microsoft.com/office/drawing/2014/main" id="{51D8DA63-B336-4628-AB1C-94336C6C987A}"/>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§4.2.2 Prijsdiscriminatie</a:t>
            </a:r>
          </a:p>
        </p:txBody>
      </p:sp>
      <p:sp>
        <p:nvSpPr>
          <p:cNvPr id="4" name="slide-number">
            <a:extLst xmlns:a="http://schemas.openxmlformats.org/drawingml/2006/main">
              <a:ext uri="{FF2B5EF4-FFF2-40B4-BE49-F238E27FC236}">
                <a16:creationId xmlns:a16="http://schemas.microsoft.com/office/drawing/2014/main" id="{6C00CBB3-7AFD-48AE-B469-FD83B57E7703}"/>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27</a:t>
            </a:r>
          </a:p>
        </p:txBody>
      </p:sp>
      <p:sp>
        <p:nvSpPr>
          <p:cNvPr id="5" name="phase">
            <a:extLst xmlns:a="http://schemas.openxmlformats.org/drawingml/2006/main">
              <a:ext uri="{FF2B5EF4-FFF2-40B4-BE49-F238E27FC236}">
                <a16:creationId xmlns:a16="http://schemas.microsoft.com/office/drawing/2014/main" id="{FF698681-6AE9-405E-9B70-D0BB75B8CDEE}"/>
              </a:ext>
            </a:extLst>
          </p:cNvPr>
          <p:cNvSpPr>
            <a:spLocks xmlns:a="http://schemas.openxmlformats.org/drawingml/2006/main" noGrp="1"/>
          </p:cNvSpPr>
          <p:nvPr/>
        </p:nvSpPr>
        <p:spPr>
          <a:xfrm xmlns:a="http://schemas.openxmlformats.org/drawingml/2006/main">
            <a:off x="571500" y="1066800"/>
            <a:ext cx="13811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Nu: Afsluiting / huiswerk</a:t>
            </a:r>
          </a:p>
        </p:txBody>
      </p:sp>
      <p:sp>
        <p:nvSpPr>
          <p:cNvPr id="6" name="Lesroute">
            <a:extLst xmlns:a="http://schemas.openxmlformats.org/drawingml/2006/main">
              <a:ext uri="{FF2B5EF4-FFF2-40B4-BE49-F238E27FC236}">
                <a16:creationId xmlns:a16="http://schemas.microsoft.com/office/drawing/2014/main" id="{6FA242B0-396B-4948-9DC6-9CA779978049}"/>
              </a:ext>
            </a:extLst>
          </p:cNvPr>
          <p:cNvSpPr>
            <a:spLocks xmlns:a="http://schemas.openxmlformats.org/drawingml/2006/main" noGrp="1"/>
          </p:cNvSpPr>
          <p:nvPr/>
        </p:nvSpPr>
        <p:spPr>
          <a:xfrm xmlns:a="http://schemas.openxmlformats.org/drawingml/2006/main">
            <a:off x="571500" y="176212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1">
            <a:extLst xmlns:a="http://schemas.openxmlformats.org/drawingml/2006/main">
              <a:ext uri="{FF2B5EF4-FFF2-40B4-BE49-F238E27FC236}">
                <a16:creationId xmlns:a16="http://schemas.microsoft.com/office/drawing/2014/main" id="{75E10D4D-9D7B-4D59-8791-819A0848322C}"/>
              </a:ext>
            </a:extLst>
          </p:cNvPr>
          <p:cNvSpPr>
            <a:spLocks xmlns:a="http://schemas.openxmlformats.org/drawingml/2006/main" noGrp="1"/>
          </p:cNvSpPr>
          <p:nvPr/>
        </p:nvSpPr>
        <p:spPr>
          <a:xfrm xmlns:a="http://schemas.openxmlformats.org/drawingml/2006/main">
            <a:off x="571500" y="232410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1">
            <a:extLst xmlns:a="http://schemas.openxmlformats.org/drawingml/2006/main">
              <a:ext uri="{FF2B5EF4-FFF2-40B4-BE49-F238E27FC236}">
                <a16:creationId xmlns:a16="http://schemas.microsoft.com/office/drawing/2014/main" id="{E64DAD50-7609-476A-A52D-A7B44B6D788B}"/>
              </a:ext>
            </a:extLst>
          </p:cNvPr>
          <p:cNvSpPr>
            <a:spLocks xmlns:a="http://schemas.openxmlformats.org/drawingml/2006/main" noGrp="1"/>
          </p:cNvSpPr>
          <p:nvPr/>
        </p:nvSpPr>
        <p:spPr>
          <a:xfrm xmlns:a="http://schemas.openxmlformats.org/drawingml/2006/main">
            <a:off x="1104900" y="2324100"/>
            <a:ext cx="74199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2">
            <a:extLst xmlns:a="http://schemas.openxmlformats.org/drawingml/2006/main">
              <a:ext uri="{FF2B5EF4-FFF2-40B4-BE49-F238E27FC236}">
                <a16:creationId xmlns:a16="http://schemas.microsoft.com/office/drawing/2014/main" id="{3D896EBF-E39E-480D-A473-5BED76837170}"/>
              </a:ext>
            </a:extLst>
          </p:cNvPr>
          <p:cNvSpPr>
            <a:spLocks xmlns:a="http://schemas.openxmlformats.org/drawingml/2006/main" noGrp="1"/>
          </p:cNvSpPr>
          <p:nvPr/>
        </p:nvSpPr>
        <p:spPr>
          <a:xfrm xmlns:a="http://schemas.openxmlformats.org/drawingml/2006/main">
            <a:off x="571500" y="320040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a:t>
            </a:r>
          </a:p>
        </p:txBody>
      </p:sp>
      <p:sp>
        <p:nvSpPr>
          <p:cNvPr id="10" name="route-2">
            <a:extLst xmlns:a="http://schemas.openxmlformats.org/drawingml/2006/main">
              <a:ext uri="{FF2B5EF4-FFF2-40B4-BE49-F238E27FC236}">
                <a16:creationId xmlns:a16="http://schemas.microsoft.com/office/drawing/2014/main" id="{10C22AD1-DEFA-4477-80CB-62B3F96E3DBD}"/>
              </a:ext>
            </a:extLst>
          </p:cNvPr>
          <p:cNvSpPr>
            <a:spLocks xmlns:a="http://schemas.openxmlformats.org/drawingml/2006/main" noGrp="1"/>
          </p:cNvSpPr>
          <p:nvPr/>
        </p:nvSpPr>
        <p:spPr>
          <a:xfrm xmlns:a="http://schemas.openxmlformats.org/drawingml/2006/main">
            <a:off x="1104900" y="320040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Maak de startopdracht.</a:t>
            </a:r>
          </a:p>
        </p:txBody>
      </p:sp>
      <p:sp>
        <p:nvSpPr>
          <p:cNvPr id="11" name="route-number-3">
            <a:extLst xmlns:a="http://schemas.openxmlformats.org/drawingml/2006/main">
              <a:ext uri="{FF2B5EF4-FFF2-40B4-BE49-F238E27FC236}">
                <a16:creationId xmlns:a16="http://schemas.microsoft.com/office/drawing/2014/main" id="{0E6289D9-61D1-4A66-85A8-1376CE254BC1}"/>
              </a:ext>
            </a:extLst>
          </p:cNvPr>
          <p:cNvSpPr>
            <a:spLocks xmlns:a="http://schemas.openxmlformats.org/drawingml/2006/main" noGrp="1"/>
          </p:cNvSpPr>
          <p:nvPr/>
        </p:nvSpPr>
        <p:spPr>
          <a:xfrm xmlns:a="http://schemas.openxmlformats.org/drawingml/2006/main">
            <a:off x="571500" y="37147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3">
            <a:extLst xmlns:a="http://schemas.openxmlformats.org/drawingml/2006/main">
              <a:ext uri="{FF2B5EF4-FFF2-40B4-BE49-F238E27FC236}">
                <a16:creationId xmlns:a16="http://schemas.microsoft.com/office/drawing/2014/main" id="{184C78F4-CC5A-49E8-845F-C3D622BBC0AC}"/>
              </a:ext>
            </a:extLst>
          </p:cNvPr>
          <p:cNvSpPr>
            <a:spLocks xmlns:a="http://schemas.openxmlformats.org/drawingml/2006/main" noGrp="1"/>
          </p:cNvSpPr>
          <p:nvPr/>
        </p:nvSpPr>
        <p:spPr>
          <a:xfrm xmlns:a="http://schemas.openxmlformats.org/drawingml/2006/main">
            <a:off x="1104900" y="371475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Uitleg bij de lesdoelen.</a:t>
            </a:r>
          </a:p>
        </p:txBody>
      </p:sp>
      <p:sp>
        <p:nvSpPr>
          <p:cNvPr id="13" name="route-number-4">
            <a:extLst xmlns:a="http://schemas.openxmlformats.org/drawingml/2006/main">
              <a:ext uri="{FF2B5EF4-FFF2-40B4-BE49-F238E27FC236}">
                <a16:creationId xmlns:a16="http://schemas.microsoft.com/office/drawing/2014/main" id="{F8994CB9-718D-44B5-B15B-C80B1447320C}"/>
              </a:ext>
            </a:extLst>
          </p:cNvPr>
          <p:cNvSpPr>
            <a:spLocks xmlns:a="http://schemas.openxmlformats.org/drawingml/2006/main" noGrp="1"/>
          </p:cNvSpPr>
          <p:nvPr/>
        </p:nvSpPr>
        <p:spPr>
          <a:xfrm xmlns:a="http://schemas.openxmlformats.org/drawingml/2006/main">
            <a:off x="571500" y="4248150"/>
            <a:ext cx="4572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4.</a:t>
            </a:r>
          </a:p>
        </p:txBody>
      </p:sp>
      <p:sp>
        <p:nvSpPr>
          <p:cNvPr id="14" name="route-4">
            <a:extLst xmlns:a="http://schemas.openxmlformats.org/drawingml/2006/main">
              <a:ext uri="{FF2B5EF4-FFF2-40B4-BE49-F238E27FC236}">
                <a16:creationId xmlns:a16="http://schemas.microsoft.com/office/drawing/2014/main" id="{56C957E3-DFFE-4AF8-9DBD-1651A0849C36}"/>
              </a:ext>
            </a:extLst>
          </p:cNvPr>
          <p:cNvSpPr>
            <a:spLocks xmlns:a="http://schemas.openxmlformats.org/drawingml/2006/main" noGrp="1"/>
          </p:cNvSpPr>
          <p:nvPr/>
        </p:nvSpPr>
        <p:spPr>
          <a:xfrm xmlns:a="http://schemas.openxmlformats.org/drawingml/2006/main">
            <a:off x="1104900" y="4248150"/>
            <a:ext cx="7419975"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Begin bij de basisopgaven en stel vragen. Lukt dat goed, ga dan naar de zelfstandige oefening. Maak daarna de doelopgave en kijk vervolgens je antwoorden na.</a:t>
            </a:r>
          </a:p>
        </p:txBody>
      </p:sp>
      <p:sp>
        <p:nvSpPr>
          <p:cNvPr id="15" name="route-number-5">
            <a:extLst xmlns:a="http://schemas.openxmlformats.org/drawingml/2006/main">
              <a:ext uri="{FF2B5EF4-FFF2-40B4-BE49-F238E27FC236}">
                <a16:creationId xmlns:a16="http://schemas.microsoft.com/office/drawing/2014/main" id="{D2D1682E-F444-4327-BDEE-34391E5ED91D}"/>
              </a:ext>
            </a:extLst>
          </p:cNvPr>
          <p:cNvSpPr>
            <a:spLocks xmlns:a="http://schemas.openxmlformats.org/drawingml/2006/main" noGrp="1"/>
          </p:cNvSpPr>
          <p:nvPr/>
        </p:nvSpPr>
        <p:spPr>
          <a:xfrm xmlns:a="http://schemas.openxmlformats.org/drawingml/2006/main">
            <a:off x="571500" y="6057900"/>
            <a:ext cx="457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5">
            <a:extLst xmlns:a="http://schemas.openxmlformats.org/drawingml/2006/main">
              <a:ext uri="{FF2B5EF4-FFF2-40B4-BE49-F238E27FC236}">
                <a16:creationId xmlns:a16="http://schemas.microsoft.com/office/drawing/2014/main" id="{CFF972C2-7604-4724-AF8D-A4C71BFE9FBD}"/>
              </a:ext>
            </a:extLst>
          </p:cNvPr>
          <p:cNvSpPr>
            <a:spLocks xmlns:a="http://schemas.openxmlformats.org/drawingml/2006/main" noGrp="1"/>
          </p:cNvSpPr>
          <p:nvPr/>
        </p:nvSpPr>
        <p:spPr>
          <a:xfrm xmlns:a="http://schemas.openxmlformats.org/drawingml/2006/main">
            <a:off x="1104900" y="6057900"/>
            <a:ext cx="74199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6">
            <a:extLst xmlns:a="http://schemas.openxmlformats.org/drawingml/2006/main">
              <a:ext uri="{FF2B5EF4-FFF2-40B4-BE49-F238E27FC236}">
                <a16:creationId xmlns:a16="http://schemas.microsoft.com/office/drawing/2014/main" id="{892312E5-3934-4993-95D1-13FDA1D39840}"/>
              </a:ext>
            </a:extLst>
          </p:cNvPr>
          <p:cNvSpPr>
            <a:spLocks xmlns:a="http://schemas.openxmlformats.org/drawingml/2006/main" noGrp="1"/>
          </p:cNvSpPr>
          <p:nvPr/>
        </p:nvSpPr>
        <p:spPr>
          <a:xfrm xmlns:a="http://schemas.openxmlformats.org/drawingml/2006/main">
            <a:off x="571500" y="6819900"/>
            <a:ext cx="457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6">
            <a:extLst xmlns:a="http://schemas.openxmlformats.org/drawingml/2006/main">
              <a:ext uri="{FF2B5EF4-FFF2-40B4-BE49-F238E27FC236}">
                <a16:creationId xmlns:a16="http://schemas.microsoft.com/office/drawing/2014/main" id="{FD0B828C-0281-45B1-BEEA-9172FD710EF1}"/>
              </a:ext>
            </a:extLst>
          </p:cNvPr>
          <p:cNvSpPr>
            <a:spLocks xmlns:a="http://schemas.openxmlformats.org/drawingml/2006/main" noGrp="1"/>
          </p:cNvSpPr>
          <p:nvPr/>
        </p:nvSpPr>
        <p:spPr>
          <a:xfrm xmlns:a="http://schemas.openxmlformats.org/drawingml/2006/main">
            <a:off x="1104900" y="6819900"/>
            <a:ext cx="74199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16.</a:t>
            </a:r>
          </a:p>
        </p:txBody>
      </p:sp>
      <p:sp>
        <p:nvSpPr>
          <p:cNvPr id="19" name="route-number-7">
            <a:extLst xmlns:a="http://schemas.openxmlformats.org/drawingml/2006/main">
              <a:ext uri="{FF2B5EF4-FFF2-40B4-BE49-F238E27FC236}">
                <a16:creationId xmlns:a16="http://schemas.microsoft.com/office/drawing/2014/main" id="{4A99F1F5-53EA-404C-AE61-1897F4FB8266}"/>
              </a:ext>
            </a:extLst>
          </p:cNvPr>
          <p:cNvSpPr>
            <a:spLocks xmlns:a="http://schemas.openxmlformats.org/drawingml/2006/main" noGrp="1"/>
          </p:cNvSpPr>
          <p:nvPr/>
        </p:nvSpPr>
        <p:spPr>
          <a:xfrm xmlns:a="http://schemas.openxmlformats.org/drawingml/2006/main">
            <a:off x="571500" y="7372350"/>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7.</a:t>
            </a:r>
          </a:p>
        </p:txBody>
      </p:sp>
      <p:sp>
        <p:nvSpPr>
          <p:cNvPr id="20" name="route-7">
            <a:extLst xmlns:a="http://schemas.openxmlformats.org/drawingml/2006/main">
              <a:ext uri="{FF2B5EF4-FFF2-40B4-BE49-F238E27FC236}">
                <a16:creationId xmlns:a16="http://schemas.microsoft.com/office/drawing/2014/main" id="{51921D1B-16FF-493B-909D-A69A2550DEF8}"/>
              </a:ext>
            </a:extLst>
          </p:cNvPr>
          <p:cNvSpPr>
            <a:spLocks xmlns:a="http://schemas.openxmlformats.org/drawingml/2006/main" noGrp="1"/>
          </p:cNvSpPr>
          <p:nvPr/>
        </p:nvSpPr>
        <p:spPr>
          <a:xfrm xmlns:a="http://schemas.openxmlformats.org/drawingml/2006/main">
            <a:off x="1104900" y="7372350"/>
            <a:ext cx="74199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216DF60C-DF70-442D-82E8-F60A3A53B227}"/>
              </a:ext>
            </a:extLst>
          </p:cNvPr>
          <p:cNvSpPr>
            <a:spLocks xmlns:a="http://schemas.openxmlformats.org/drawingml/2006/main" noGrp="1"/>
          </p:cNvSpPr>
          <p:nvPr/>
        </p:nvSpPr>
        <p:spPr>
          <a:xfrm xmlns:a="http://schemas.openxmlformats.org/drawingml/2006/main">
            <a:off x="9258300" y="17621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069DA592-D0E1-446B-A286-1BA574500B87}"/>
              </a:ext>
            </a:extLst>
          </p:cNvPr>
          <p:cNvSpPr>
            <a:spLocks xmlns:a="http://schemas.openxmlformats.org/drawingml/2006/main" noGrp="1"/>
          </p:cNvSpPr>
          <p:nvPr/>
        </p:nvSpPr>
        <p:spPr>
          <a:xfrm xmlns:a="http://schemas.openxmlformats.org/drawingml/2006/main">
            <a:off x="9258300" y="2305050"/>
            <a:ext cx="5381625"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Voorwaarden herkennen; per groep</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Q en P kiezen; omzet, kosten, winst</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en de verdeling van surplus vergelijken.</a:t>
            </a:r>
          </a:p>
        </p:txBody>
      </p:sp>
      <p:sp>
        <p:nvSpPr>
          <p:cNvPr id="23" name="">
            <a:extLst xmlns:a="http://schemas.openxmlformats.org/drawingml/2006/main">
              <a:ext uri="{FF2B5EF4-FFF2-40B4-BE49-F238E27FC236}">
                <a16:creationId xmlns:a16="http://schemas.microsoft.com/office/drawing/2014/main" id="{F008336B-E82E-4016-B5DB-1BD3DBF582D0}"/>
              </a:ext>
            </a:extLst>
          </p:cNvPr>
          <p:cNvSpPr>
            <a:spLocks xmlns:a="http://schemas.openxmlformats.org/drawingml/2006/main" noGrp="1"/>
          </p:cNvSpPr>
          <p:nvPr/>
        </p:nvSpPr>
        <p:spPr>
          <a:xfrm xmlns:a="http://schemas.openxmlformats.org/drawingml/2006/main">
            <a:off x="9258300" y="3629025"/>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4719958B-B0C9-4BB5-BE41-D0CCED499708}"/>
              </a:ext>
            </a:extLst>
          </p:cNvPr>
          <p:cNvSpPr>
            <a:spLocks xmlns:a="http://schemas.openxmlformats.org/drawingml/2006/main" noGrp="1"/>
          </p:cNvSpPr>
          <p:nvPr/>
        </p:nvSpPr>
        <p:spPr>
          <a:xfrm xmlns:a="http://schemas.openxmlformats.org/drawingml/2006/main">
            <a:off x="9258300" y="3810000"/>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68DF79EA-FD30-4815-80B9-F13BCC5AF214}"/>
              </a:ext>
            </a:extLst>
          </p:cNvPr>
          <p:cNvSpPr>
            <a:spLocks xmlns:a="http://schemas.openxmlformats.org/drawingml/2006/main" noGrp="1"/>
          </p:cNvSpPr>
          <p:nvPr/>
        </p:nvSpPr>
        <p:spPr>
          <a:xfrm xmlns:a="http://schemas.openxmlformats.org/drawingml/2006/main">
            <a:off x="9258300" y="4324350"/>
            <a:ext cx="5381625"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Pagina 66 · Opgaven 10 en 11</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Verkennen met de theorie:</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10: p. 64 · 11: p. 63</a:t>
            </a:r>
          </a:p>
        </p:txBody>
      </p:sp>
      <p:sp>
        <p:nvSpPr>
          <p:cNvPr id="26" name="">
            <a:extLst xmlns:a="http://schemas.openxmlformats.org/drawingml/2006/main">
              <a:ext uri="{FF2B5EF4-FFF2-40B4-BE49-F238E27FC236}">
                <a16:creationId xmlns:a16="http://schemas.microsoft.com/office/drawing/2014/main" id="{8DD1FA30-10FB-4349-A135-6063DFE749B0}"/>
              </a:ext>
            </a:extLst>
          </p:cNvPr>
          <p:cNvSpPr>
            <a:spLocks xmlns:a="http://schemas.openxmlformats.org/drawingml/2006/main" noGrp="1"/>
          </p:cNvSpPr>
          <p:nvPr/>
        </p:nvSpPr>
        <p:spPr>
          <a:xfrm xmlns:a="http://schemas.openxmlformats.org/drawingml/2006/main">
            <a:off x="9258300" y="5505450"/>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9C74D280-CF8E-4637-98F9-5D09185E8FB4}"/>
              </a:ext>
            </a:extLst>
          </p:cNvPr>
          <p:cNvSpPr>
            <a:spLocks xmlns:a="http://schemas.openxmlformats.org/drawingml/2006/main" noGrp="1"/>
          </p:cNvSpPr>
          <p:nvPr/>
        </p:nvSpPr>
        <p:spPr>
          <a:xfrm xmlns:a="http://schemas.openxmlformats.org/drawingml/2006/main">
            <a:off x="9258300" y="5715000"/>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BF0A17BF-6F11-4191-9462-790C89160E6A}"/>
              </a:ext>
            </a:extLst>
          </p:cNvPr>
          <p:cNvSpPr>
            <a:spLocks xmlns:a="http://schemas.openxmlformats.org/drawingml/2006/main" noGrp="1"/>
          </p:cNvSpPr>
          <p:nvPr/>
        </p:nvSpPr>
        <p:spPr>
          <a:xfrm xmlns:a="http://schemas.openxmlformats.org/drawingml/2006/main">
            <a:off x="9258300" y="6238875"/>
            <a:ext cx="5381625"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§4.2.2 · Opgaven 12 t/m 16</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Basis: 12 en 13</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Zelfstandig: 14 en 15</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Doelopgave: 16</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Maken en nakijken</a:t>
            </a:r>
          </a:p>
        </p:txBody>
      </p:sp>
    </p:spTree>
    <p:extLst>
      <p:ext uri="{BB962C8B-B14F-4D97-AF65-F5344CB8AC3E}">
        <p14:creationId xmlns:p14="http://schemas.microsoft.com/office/powerpoint/2010/main" val="183130293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2026-10-01T17:19:23.3040000Z</dcterms:created>
  <dcterms:modified xsi:type="dcterms:W3CDTF">2026-10-01T17:19:23.3040000Z</dcterms:modified>
</coreProperties>
</file>