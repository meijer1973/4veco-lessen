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604f71a0ad42ca" /><Relationship Type="http://schemas.openxmlformats.org/officeDocument/2006/relationships/extended-properties" Target="/docProps/app.xml" Id="R03fb17e5029d4199" /><Relationship Type="http://schemas.openxmlformats.org/officeDocument/2006/relationships/officeDocument" Target="/ppt/presentation.xml" Id="R03aaf5c82f2d42d2" /></Relationships>
</file>

<file path=ppt/presentation.xml><?xml version="1.0" encoding="utf-8"?>
<p:presentation xmlns:p="http://schemas.openxmlformats.org/presentationml/2006/main">
  <p:sldMasterIdLst>
    <p:sldMasterId xmlns:r="http://schemas.openxmlformats.org/officeDocument/2006/relationships" id="2147483648" r:id="R4ad252cac2324600"/>
  </p:sldMasterIdLst>
  <p:notesMasterIdLst>
    <p:notesMasterId xmlns:r="http://schemas.openxmlformats.org/officeDocument/2006/relationships" r:id="Rd6b4a9361b634f74"/>
  </p:notesMasterIdLst>
  <p:sldIdLst>
    <p:sldId xmlns:r="http://schemas.openxmlformats.org/officeDocument/2006/relationships" id="256" r:id="Rc88911a0a7784147"/>
    <p:sldId xmlns:r="http://schemas.openxmlformats.org/officeDocument/2006/relationships" id="257" r:id="R00b564706f3c4508"/>
    <p:sldId xmlns:r="http://schemas.openxmlformats.org/officeDocument/2006/relationships" id="258" r:id="R6f6da629716e4584"/>
    <p:sldId xmlns:r="http://schemas.openxmlformats.org/officeDocument/2006/relationships" id="259" r:id="R15d4857f34ae4999"/>
    <p:sldId xmlns:r="http://schemas.openxmlformats.org/officeDocument/2006/relationships" id="260" r:id="R9f94ee2d505047b0"/>
    <p:sldId xmlns:r="http://schemas.openxmlformats.org/officeDocument/2006/relationships" id="261" r:id="R1be6b4ca181f47da"/>
    <p:sldId xmlns:r="http://schemas.openxmlformats.org/officeDocument/2006/relationships" id="262" r:id="R0921f2febaee4a66"/>
    <p:sldId xmlns:r="http://schemas.openxmlformats.org/officeDocument/2006/relationships" id="263" r:id="R363b8df3f56248e7"/>
    <p:sldId xmlns:r="http://schemas.openxmlformats.org/officeDocument/2006/relationships" id="264" r:id="R199a70b44ac44b67"/>
    <p:sldId xmlns:r="http://schemas.openxmlformats.org/officeDocument/2006/relationships" id="265" r:id="R3f424a02e8e74b4e"/>
    <p:sldId xmlns:r="http://schemas.openxmlformats.org/officeDocument/2006/relationships" id="266" r:id="Raa04643e58e74609"/>
    <p:sldId xmlns:r="http://schemas.openxmlformats.org/officeDocument/2006/relationships" id="267" r:id="R51a7ed5a11a14fa7"/>
    <p:sldId xmlns:r="http://schemas.openxmlformats.org/officeDocument/2006/relationships" id="268" r:id="R814c416273264fa6"/>
    <p:sldId xmlns:r="http://schemas.openxmlformats.org/officeDocument/2006/relationships" id="269" r:id="R0ef49bd9ecff4d16"/>
    <p:sldId xmlns:r="http://schemas.openxmlformats.org/officeDocument/2006/relationships" id="270" r:id="R52d50774d9ce4144"/>
    <p:sldId xmlns:r="http://schemas.openxmlformats.org/officeDocument/2006/relationships" id="271" r:id="Re87102748c5b4bb5"/>
    <p:sldId xmlns:r="http://schemas.openxmlformats.org/officeDocument/2006/relationships" id="272" r:id="Ra433dc339e004639"/>
    <p:sldId xmlns:r="http://schemas.openxmlformats.org/officeDocument/2006/relationships" id="273" r:id="Re5d4d98869ec4fb1"/>
    <p:sldId xmlns:r="http://schemas.openxmlformats.org/officeDocument/2006/relationships" id="274" r:id="R65f67f6afaee4899"/>
    <p:sldId xmlns:r="http://schemas.openxmlformats.org/officeDocument/2006/relationships" id="275" r:id="R090bf0ce562f4df5"/>
    <p:sldId xmlns:r="http://schemas.openxmlformats.org/officeDocument/2006/relationships" id="276" r:id="Ra6d29656b095475b"/>
    <p:sldId xmlns:r="http://schemas.openxmlformats.org/officeDocument/2006/relationships" id="277" r:id="R31f81de6866b4e1f"/>
    <p:sldId xmlns:r="http://schemas.openxmlformats.org/officeDocument/2006/relationships" id="278" r:id="Rc73827b53c5a4303"/>
    <p:sldId xmlns:r="http://schemas.openxmlformats.org/officeDocument/2006/relationships" id="279" r:id="R7410d06e1589419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d74fff3c44474d" /><Relationship Type="http://schemas.openxmlformats.org/officeDocument/2006/relationships/slideMaster" Target="/ppt/slideMasters/slideMaster1.xml" Id="R4ad252cac2324600" /><Relationship Type="http://schemas.openxmlformats.org/officeDocument/2006/relationships/notesMaster" Target="/ppt/notesMasters/notesMaster1.xml" Id="Rd6b4a9361b634f74" /><Relationship Type="http://schemas.openxmlformats.org/officeDocument/2006/relationships/presProps" Target="/ppt/presProps.xml" Id="R0259cab4068e41b3" /><Relationship Type="http://schemas.openxmlformats.org/officeDocument/2006/relationships/tableStyles" Target="/ppt/tableStyles.xml" Id="R14ed8d6a33b24d8f" /><Relationship Type="http://schemas.openxmlformats.org/officeDocument/2006/relationships/slide" Target="/ppt/slides/slide1.xml" Id="Rc88911a0a7784147" /><Relationship Type="http://schemas.openxmlformats.org/officeDocument/2006/relationships/slide" Target="/ppt/slides/slide2.xml" Id="R00b564706f3c4508" /><Relationship Type="http://schemas.openxmlformats.org/officeDocument/2006/relationships/slide" Target="/ppt/slides/slide3.xml" Id="R6f6da629716e4584" /><Relationship Type="http://schemas.openxmlformats.org/officeDocument/2006/relationships/slide" Target="/ppt/slides/slide4.xml" Id="R15d4857f34ae4999" /><Relationship Type="http://schemas.openxmlformats.org/officeDocument/2006/relationships/slide" Target="/ppt/slides/slide5.xml" Id="R9f94ee2d505047b0" /><Relationship Type="http://schemas.openxmlformats.org/officeDocument/2006/relationships/slide" Target="/ppt/slides/slide6.xml" Id="R1be6b4ca181f47da" /><Relationship Type="http://schemas.openxmlformats.org/officeDocument/2006/relationships/slide" Target="/ppt/slides/slide7.xml" Id="R0921f2febaee4a66" /><Relationship Type="http://schemas.openxmlformats.org/officeDocument/2006/relationships/slide" Target="/ppt/slides/slide8.xml" Id="R363b8df3f56248e7" /><Relationship Type="http://schemas.openxmlformats.org/officeDocument/2006/relationships/slide" Target="/ppt/slides/slide9.xml" Id="R199a70b44ac44b67" /><Relationship Type="http://schemas.openxmlformats.org/officeDocument/2006/relationships/slide" Target="/ppt/slides/slide10.xml" Id="R3f424a02e8e74b4e" /><Relationship Type="http://schemas.openxmlformats.org/officeDocument/2006/relationships/slide" Target="/ppt/slides/slide11.xml" Id="Raa04643e58e74609" /><Relationship Type="http://schemas.openxmlformats.org/officeDocument/2006/relationships/slide" Target="/ppt/slides/slide12.xml" Id="R51a7ed5a11a14fa7" /><Relationship Type="http://schemas.openxmlformats.org/officeDocument/2006/relationships/slide" Target="/ppt/slides/slide13.xml" Id="R814c416273264fa6" /><Relationship Type="http://schemas.openxmlformats.org/officeDocument/2006/relationships/slide" Target="/ppt/slides/slide14.xml" Id="R0ef49bd9ecff4d16" /><Relationship Type="http://schemas.openxmlformats.org/officeDocument/2006/relationships/slide" Target="/ppt/slides/slide15.xml" Id="R52d50774d9ce4144" /><Relationship Type="http://schemas.openxmlformats.org/officeDocument/2006/relationships/slide" Target="/ppt/slides/slide16.xml" Id="Re87102748c5b4bb5" /><Relationship Type="http://schemas.openxmlformats.org/officeDocument/2006/relationships/slide" Target="/ppt/slides/slide17.xml" Id="Ra433dc339e004639" /><Relationship Type="http://schemas.openxmlformats.org/officeDocument/2006/relationships/slide" Target="/ppt/slides/slide18.xml" Id="Re5d4d98869ec4fb1" /><Relationship Type="http://schemas.openxmlformats.org/officeDocument/2006/relationships/slide" Target="/ppt/slides/slide19.xml" Id="R65f67f6afaee4899" /><Relationship Type="http://schemas.openxmlformats.org/officeDocument/2006/relationships/slide" Target="/ppt/slides/slide20.xml" Id="R090bf0ce562f4df5" /><Relationship Type="http://schemas.openxmlformats.org/officeDocument/2006/relationships/slide" Target="/ppt/slides/slide21.xml" Id="Ra6d29656b095475b" /><Relationship Type="http://schemas.openxmlformats.org/officeDocument/2006/relationships/slide" Target="/ppt/slides/slide22.xml" Id="R31f81de6866b4e1f" /><Relationship Type="http://schemas.openxmlformats.org/officeDocument/2006/relationships/slide" Target="/ppt/slides/slide23.xml" Id="Rc73827b53c5a4303" /><Relationship Type="http://schemas.openxmlformats.org/officeDocument/2006/relationships/slide" Target="/ppt/slides/slide24.xml" Id="R7410d06e158941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c3d539d9264c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071996df9347fe" /><Relationship Type="http://schemas.openxmlformats.org/officeDocument/2006/relationships/notesMaster" Target="/ppt/notesMasters/notesMaster1.xml" Id="R4e1c558f14194c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f18f03af784a42" /><Relationship Type="http://schemas.openxmlformats.org/officeDocument/2006/relationships/notesMaster" Target="/ppt/notesMasters/notesMaster1.xml" Id="Rfac1d2a3d30048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90b9333f0b49ee" /><Relationship Type="http://schemas.openxmlformats.org/officeDocument/2006/relationships/notesMaster" Target="/ppt/notesMasters/notesMaster1.xml" Id="R370a2b4f20b147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926b0099a74130" /><Relationship Type="http://schemas.openxmlformats.org/officeDocument/2006/relationships/notesMaster" Target="/ppt/notesMasters/notesMaster1.xml" Id="R42fe79068f9a41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ebb53323e64acc" /><Relationship Type="http://schemas.openxmlformats.org/officeDocument/2006/relationships/notesMaster" Target="/ppt/notesMasters/notesMaster1.xml" Id="R86e2c4e6722640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bc3486a9f64cb4" /><Relationship Type="http://schemas.openxmlformats.org/officeDocument/2006/relationships/notesMaster" Target="/ppt/notesMasters/notesMaster1.xml" Id="R501fb0dc9dc84b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dfba24bb7c4a9d" /><Relationship Type="http://schemas.openxmlformats.org/officeDocument/2006/relationships/notesMaster" Target="/ppt/notesMasters/notesMaster1.xml" Id="R7d784a81444b49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63973cebd7416a" /><Relationship Type="http://schemas.openxmlformats.org/officeDocument/2006/relationships/notesMaster" Target="/ppt/notesMasters/notesMaster1.xml" Id="R0a768e3c9d5545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82205895ad4e62" /><Relationship Type="http://schemas.openxmlformats.org/officeDocument/2006/relationships/notesMaster" Target="/ppt/notesMasters/notesMaster1.xml" Id="Ra4e2911053934f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5b6e2fa39546cf" /><Relationship Type="http://schemas.openxmlformats.org/officeDocument/2006/relationships/notesMaster" Target="/ppt/notesMasters/notesMaster1.xml" Id="R6b38e949e3ed4b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6a3437021e453f" /><Relationship Type="http://schemas.openxmlformats.org/officeDocument/2006/relationships/notesMaster" Target="/ppt/notesMasters/notesMaster1.xml" Id="R3ca18b04e02f4b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52985c90974233" /><Relationship Type="http://schemas.openxmlformats.org/officeDocument/2006/relationships/notesMaster" Target="/ppt/notesMasters/notesMaster1.xml" Id="R06c75ae173614a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0e748227eb4ee8" /><Relationship Type="http://schemas.openxmlformats.org/officeDocument/2006/relationships/notesMaster" Target="/ppt/notesMasters/notesMaster1.xml" Id="Rcbd8b991a3184f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1e86d21fa14d18" /><Relationship Type="http://schemas.openxmlformats.org/officeDocument/2006/relationships/notesMaster" Target="/ppt/notesMasters/notesMaster1.xml" Id="R2d76455cf5fc4e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365ac3c6fc48ed" /><Relationship Type="http://schemas.openxmlformats.org/officeDocument/2006/relationships/notesMaster" Target="/ppt/notesMasters/notesMaster1.xml" Id="R948ef53c41ec4b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288cae88004c73" /><Relationship Type="http://schemas.openxmlformats.org/officeDocument/2006/relationships/notesMaster" Target="/ppt/notesMasters/notesMaster1.xml" Id="R5021d1ba841d47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2a86081f3446ed" /><Relationship Type="http://schemas.openxmlformats.org/officeDocument/2006/relationships/notesMaster" Target="/ppt/notesMasters/notesMaster1.xml" Id="R22655df4d8b343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f106e52a564c24" /><Relationship Type="http://schemas.openxmlformats.org/officeDocument/2006/relationships/notesMaster" Target="/ppt/notesMasters/notesMaster1.xml" Id="R5e679db3417c44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64611e1ef14d4f" /><Relationship Type="http://schemas.openxmlformats.org/officeDocument/2006/relationships/notesMaster" Target="/ppt/notesMasters/notesMaster1.xml" Id="R2841100ed6ee45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5f0e9d315314fe0" /><Relationship Type="http://schemas.openxmlformats.org/officeDocument/2006/relationships/notesMaster" Target="/ppt/notesMasters/notesMaster1.xml" Id="Rad5f14f4ac3f4ee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a5397c515d84296" /><Relationship Type="http://schemas.openxmlformats.org/officeDocument/2006/relationships/notesMaster" Target="/ppt/notesMasters/notesMaster1.xml" Id="R8f22002b32d44e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fd8878325d54c09" /><Relationship Type="http://schemas.openxmlformats.org/officeDocument/2006/relationships/notesMaster" Target="/ppt/notesMasters/notesMaster1.xml" Id="R1694bcda67a644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39e9e38e4db44e1" /><Relationship Type="http://schemas.openxmlformats.org/officeDocument/2006/relationships/notesMaster" Target="/ppt/notesMasters/notesMaster1.xml" Id="R336f12c37f5c4e5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9e22359ba5d4453" /><Relationship Type="http://schemas.openxmlformats.org/officeDocument/2006/relationships/notesMaster" Target="/ppt/notesMasters/notesMaster1.xml" Id="R73f02a18dba744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eerdere rekenregel helpt bij opgave 19?</a:t>
            </a:r>
          </a:p>
          <a:p xmlns:a="http://schemas.openxmlformats.org/drawingml/2006/main">
            <a:r>
              <a:rPr sz="1400"/>
              <a:t/>
            </a:r>
          </a:p>
          <a:p xmlns:a="http://schemas.openxmlformats.org/drawingml/2006/main">
            <a:r>
              <a:rPr sz="1400"/>
              <a:t>Uitleg: Laat deze dia staan tijdens startopdracht. De normale route is 19–20 start, 21–22 begeleide basis, 23–24 zelfstandig, 25 doel. Huiswerk: 21, 22, 23, 24 en 25 maken en nakijken. Bonus 26 en herhaling 27 zijn extra. Gedrukte boekpagina 73 bevat start en opgave 21, pagina 74 bevat 22–23 en pagina 75 bevat 24–25. De docentenhandleiding noemt hoofdstukpagina 21 respectievelijk 23: dat zijn boekpagina 73 en 75. Opgave 19 haalt GO = MO = P bij de prijsnemer (§4.1.2 p. 17) en TO/MO bij uniforme prijzen (§4.1.3 p. 25–26) terug. Opgave 20 verkent het tellen van zelfstandige ondernemingen tegenover merken. Laat de leerling de eerste alinea en tabel op p. 71 gebruiken; verwacht dit nieuwe onderscheid nog niet zonder steun. Laat vóór de basisopgaven opgave 20 opnieuw beoordelen en bronbewijs noemen. De docentroute reserveert voorlopig twee lessen van 55 minuten, zonder gemeten tijdsfit. Rond de volledige route zo nodig later af.</a:t>
            </a:r>
          </a:p>
          <a:p xmlns:a="http://schemas.openxmlformats.org/drawingml/2006/main">
            <a:r>
              <a:rPr sz="1400"/>
              <a:t/>
            </a:r>
          </a:p>
          <a:p xmlns:a="http://schemas.openxmlformats.org/drawingml/2006/main">
            <a:r>
              <a:rPr sz="1400"/>
              <a:t>Misvatting: Merken tellen is iets anders dan zelfstandige aanbieders tellen. Startvragen bewijzen geen beheersing.</a:t>
            </a:r>
          </a:p>
          <a:p xmlns:a="http://schemas.openxmlformats.org/drawingml/2006/main">
            <a:r>
              <a:rPr sz="1400"/>
              <a:t/>
            </a:r>
          </a:p>
          <a:p xmlns:a="http://schemas.openxmlformats.org/drawingml/2006/main">
            <a:r>
              <a:rPr sz="1400"/>
              <a:t>Overgang: Ga naar de volgende lesfase zodra de klas eraan toe is.</a:t>
            </a:r>
          </a:p>
          <a:p xmlns:a="http://schemas.openxmlformats.org/drawingml/2006/main">
            <a:r>
              <a:rPr sz="1400"/>
              <a:t/>
            </a:r>
          </a:p>
          <a:p xmlns:a="http://schemas.openxmlformats.org/drawingml/2006/main">
            <a:r>
              <a:rPr sz="1400"/>
              <a:t>Bron: Boek 4, books34-v3, volledige leerlingenboek, gedrukte pagina 71–75.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kun je uit alleen een winkelnaam geen marktvorm afleiden?</a:t>
            </a:r>
          </a:p>
          <a:p xmlns:a="http://schemas.openxmlformats.org/drawingml/2006/main">
            <a:r>
              <a:rPr sz="1400"/>
              <a:t/>
            </a:r>
          </a:p>
          <a:p xmlns:a="http://schemas.openxmlformats.org/drawingml/2006/main">
            <a:r>
              <a:rPr sz="1400"/>
              <a:t>Uitleg: Werk achteruit vanuit opgave 25a: een naam alleen is niet genoeg. Herhaal de afbakening uit §4.1.2 p. 16: het gaat om de beschreven markt en de bruikbare alternatieven. Zelfstandige beslissers zijn de aanbieders. De drie kenmerken samen dragen een conclusie. Is informatie afwezig, zeg dan wat nog onbekend is.</a:t>
            </a:r>
          </a:p>
          <a:p xmlns:a="http://schemas.openxmlformats.org/drawingml/2006/main">
            <a:r>
              <a:rPr sz="1400"/>
              <a:t/>
            </a:r>
          </a:p>
          <a:p xmlns:a="http://schemas.openxmlformats.org/drawingml/2006/main">
            <a:r>
              <a:rPr sz="1400"/>
              <a:t>Misvatting: Een hoge prijs, veel logo’s of één winkel in beeld bewijzen op zichzelf geen marktvorm.</a:t>
            </a:r>
          </a:p>
          <a:p xmlns:a="http://schemas.openxmlformats.org/drawingml/2006/main">
            <a:r>
              <a:rPr sz="1400"/>
              <a:t/>
            </a:r>
          </a:p>
          <a:p xmlns:a="http://schemas.openxmlformats.org/drawingml/2006/main">
            <a:r>
              <a:rPr sz="1400"/>
              <a:t>Overgang: Vergelijk de vier combinaties van kenmerken.</a:t>
            </a:r>
          </a:p>
          <a:p xmlns:a="http://schemas.openxmlformats.org/drawingml/2006/main">
            <a:r>
              <a:rPr sz="1400"/>
              <a:t/>
            </a:r>
          </a:p>
          <a:p xmlns:a="http://schemas.openxmlformats.org/drawingml/2006/main">
            <a:r>
              <a:rPr sz="1400"/>
              <a:t>Bron: Boek 4, books34-v3, volledige leerlingenboek, gedrukte pagina 71, 73.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een markt met heterogene producten ook een oligopolie zijn?</a:t>
            </a:r>
          </a:p>
          <a:p xmlns:a="http://schemas.openxmlformats.org/drawingml/2006/main">
            <a:r>
              <a:rPr sz="1400"/>
              <a:t/>
            </a:r>
          </a:p>
          <a:p xmlns:a="http://schemas.openxmlformats.org/drawingml/2006/main">
            <a:r>
              <a:rPr sz="1400"/>
              <a:t>Uitleg: Lees de tabel per kenmerk. Homogeen gaat om de waarneming van kopers, niet alleen om fysiek identieke spullen. Bij monopolistische concurrentie zijn er veel zelfstandige aanbieders met onderscheidende producten. Bij oligopolie domineren enkele ondernemingen; hun producten kunnen gelijkwaardig of verschillend zijn. Toetreding verklaart waarom concurrentiedruk niet zomaar verandert.</a:t>
            </a:r>
          </a:p>
          <a:p xmlns:a="http://schemas.openxmlformats.org/drawingml/2006/main">
            <a:r>
              <a:rPr sz="1400"/>
              <a:t/>
            </a:r>
          </a:p>
          <a:p xmlns:a="http://schemas.openxmlformats.org/drawingml/2006/main">
            <a:r>
              <a:rPr sz="1400"/>
              <a:t>Misvatting: Monopolistische concurrentie is geen monopolie. Productverschillen alleen bepalen de marktvorm niet.</a:t>
            </a:r>
          </a:p>
          <a:p xmlns:a="http://schemas.openxmlformats.org/drawingml/2006/main">
            <a:r>
              <a:rPr sz="1400"/>
              <a:t/>
            </a:r>
          </a:p>
          <a:p xmlns:a="http://schemas.openxmlformats.org/drawingml/2006/main">
            <a:r>
              <a:rPr sz="1400"/>
              <a:t>Overgang: Pas de kenmerken toe op een nieuw uitlegvoorbeeld.</a:t>
            </a:r>
          </a:p>
          <a:p xmlns:a="http://schemas.openxmlformats.org/drawingml/2006/main">
            <a:r>
              <a:rPr sz="1400"/>
              <a:t/>
            </a:r>
          </a:p>
          <a:p xmlns:a="http://schemas.openxmlformats.org/drawingml/2006/main">
            <a:r>
              <a:rPr sz="1400"/>
              <a:t>Bron: Boek 4, books34-v3, volledige leerlingenboek, gedrukte pagina 71.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gegeven voorkomt dat je Licht als monopolist indeelt?</a:t>
            </a:r>
          </a:p>
          <a:p xmlns:a="http://schemas.openxmlformats.org/drawingml/2006/main">
            <a:r>
              <a:rPr sz="1400"/>
              <a:t/>
            </a:r>
          </a:p>
          <a:p xmlns:a="http://schemas.openxmlformats.org/drawingml/2006/main">
            <a:r>
              <a:rPr sz="1400"/>
              <a:t>Uitleg: Dit is een zelfbedachte lokale markt van portretfotografie. Classificeer met de gegevens in plaats van kennis over werkelijke bedrijven. Noem de conclusie en het bewijs hardop. Een eigen stijl kan klanten binden, terwijl andere studio’s concurrentiedruk geven. De onderneming heeft enige prijsruimte.</a:t>
            </a:r>
          </a:p>
          <a:p xmlns:a="http://schemas.openxmlformats.org/drawingml/2006/main">
            <a:r>
              <a:rPr sz="1400"/>
              <a:t/>
            </a:r>
          </a:p>
          <a:p xmlns:a="http://schemas.openxmlformats.org/drawingml/2006/main">
            <a:r>
              <a:rPr sz="1400"/>
              <a:t>Misvatting: Een eigen stijl maakt de hele markt niet tot een monopolie.</a:t>
            </a:r>
          </a:p>
          <a:p xmlns:a="http://schemas.openxmlformats.org/drawingml/2006/main">
            <a:r>
              <a:rPr sz="1400"/>
              <a:t/>
            </a:r>
          </a:p>
          <a:p xmlns:a="http://schemas.openxmlformats.org/drawingml/2006/main">
            <a:r>
              <a:rPr sz="1400"/>
              <a:t>Overgang: Geef nu het specifieke korte-termijnmodel voor Licht.</a:t>
            </a:r>
          </a:p>
          <a:p xmlns:a="http://schemas.openxmlformats.org/drawingml/2006/main">
            <a:r>
              <a:rPr sz="1400"/>
              <a:t/>
            </a:r>
          </a:p>
          <a:p xmlns:a="http://schemas.openxmlformats.org/drawingml/2006/main">
            <a:r>
              <a:rPr sz="1400"/>
              <a:t>Bron: Boek 4, books34-v3, volledige leerlingenboek, gedrukte pagina 71–72.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Uitlegvoorbeeld — niet uit het boek. Fotostudio Licht, context en getallen zijn voor deze presentatie bedacht. De boekverwijzing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komt uit de marktbeschrijving en welke uit de functies?</a:t>
            </a:r>
          </a:p>
          <a:p xmlns:a="http://schemas.openxmlformats.org/drawingml/2006/main">
            <a:r>
              <a:rPr sz="1400"/>
              <a:t/>
            </a:r>
          </a:p>
          <a:p xmlns:a="http://schemas.openxmlformats.org/drawingml/2006/main">
            <a:r>
              <a:rPr sz="1400"/>
              <a:t>Uitleg: Alle getallen en de context zijn bedacht. q is de afzet van één fotostudio per week; Q zou de hele markt betreffen. Binnen ieder verkoopplan betaalt iedere klant dezelfde prijs. Het model geeft de relatie tussen die prijs en de afzet. De 180 euro vaste kosten blijven in deze week ook bij niet produceren bestaan. Het gedrag van andere studio’s, kwaliteit en overige vraagfactoren blijven gelijk.</a:t>
            </a:r>
          </a:p>
          <a:p xmlns:a="http://schemas.openxmlformats.org/drawingml/2006/main">
            <a:r>
              <a:rPr sz="1400"/>
              <a:t/>
            </a:r>
          </a:p>
          <a:p xmlns:a="http://schemas.openxmlformats.org/drawingml/2006/main">
            <a:r>
              <a:rPr sz="1400"/>
              <a:t>Misvatting: De marktvorm levert op zichzelf geen vraagfunctie en geen winstbedrag op.</a:t>
            </a:r>
          </a:p>
          <a:p xmlns:a="http://schemas.openxmlformats.org/drawingml/2006/main">
            <a:r>
              <a:rPr sz="1400"/>
              <a:t/>
            </a:r>
          </a:p>
          <a:p xmlns:a="http://schemas.openxmlformats.org/drawingml/2006/main">
            <a:r>
              <a:rPr sz="1400"/>
              <a:t>Overgang: Herhaal TO, MO en MK met deze functies.</a:t>
            </a:r>
          </a:p>
          <a:p xmlns:a="http://schemas.openxmlformats.org/drawingml/2006/main">
            <a:r>
              <a:rPr sz="1400"/>
              <a:t/>
            </a:r>
          </a:p>
          <a:p xmlns:a="http://schemas.openxmlformats.org/drawingml/2006/main">
            <a:r>
              <a:rPr sz="1400"/>
              <a:t>Bron: Boek 4, books34-v3, volledige leerlingenboek, gedrukte pagina 72; methode ook 25–26 en 36–38.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Uitlegvoorbeeld — niet uit het boek. Fotostudio Licht, context en getallen zijn voor deze presentatie bedacht. De boekverwijzing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verdubbelt de coëfficiënt van de kwadratische term bij de afleiding?</a:t>
            </a:r>
          </a:p>
          <a:p xmlns:a="http://schemas.openxmlformats.org/drawingml/2006/main">
            <a:r>
              <a:rPr sz="1400"/>
              <a:t/>
            </a:r>
          </a:p>
          <a:p xmlns:a="http://schemas.openxmlformats.org/drawingml/2006/main">
            <a:r>
              <a:rPr sz="1400"/>
              <a:t>Uitleg: Vermenigvuldig de hele vraagfunctie met q. Differentieer: 50q wordt 50; −0,50q² wordt −1,00q. Bij TK verdwijnt de constante 180 en blijft 10 als MK. Herhaal waarom MO beneden P ligt: in een plan met meer verkopen is de prijs ook lager voor de eenheden die in het andere plan al verkocht zouden zijn. Er is geen terugbetaling op historische verkopen. Bij de kleine prijsnemer blijft de prijs bij extra afzet gelijk en geldt juist GO = MO = P.</a:t>
            </a:r>
          </a:p>
          <a:p xmlns:a="http://schemas.openxmlformats.org/drawingml/2006/main">
            <a:r>
              <a:rPr sz="1400"/>
              <a:t/>
            </a:r>
          </a:p>
          <a:p xmlns:a="http://schemas.openxmlformats.org/drawingml/2006/main">
            <a:r>
              <a:rPr sz="1400"/>
              <a:t>Misvatting: De vaste kosten verdwijnen uit MK, maar blijven deel van de totale kosten en winst.</a:t>
            </a:r>
          </a:p>
          <a:p xmlns:a="http://schemas.openxmlformats.org/drawingml/2006/main">
            <a:r>
              <a:rPr sz="1400"/>
              <a:t/>
            </a:r>
          </a:p>
          <a:p xmlns:a="http://schemas.openxmlformats.org/drawingml/2006/main">
            <a:r>
              <a:rPr sz="1400"/>
              <a:t>Overgang: Gebruik MO = MK eerst om de hoeveelheid te kiezen.</a:t>
            </a:r>
          </a:p>
          <a:p xmlns:a="http://schemas.openxmlformats.org/drawingml/2006/main">
            <a:r>
              <a:rPr sz="1400"/>
              <a:t/>
            </a:r>
          </a:p>
          <a:p xmlns:a="http://schemas.openxmlformats.org/drawingml/2006/main">
            <a:r>
              <a:rPr sz="1400"/>
              <a:t>Bron: Boek 4, books34-v3, volledige leerlingenboek, gedrukte pagina 72; voorkennis 25–26.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Uitlegvoorbeeld — niet uit het boek. Fotostudio Licht, context en getallen zijn voor deze presentatie bedacht. De boekverwijzing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bepaalt het snijpunt van MO en MK?</a:t>
            </a:r>
          </a:p>
          <a:p xmlns:a="http://schemas.openxmlformats.org/drawingml/2006/main">
            <a:r>
              <a:rPr sz="1400"/>
              <a:t/>
            </a:r>
          </a:p>
          <a:p xmlns:a="http://schemas.openxmlformats.org/drawingml/2006/main">
            <a:r>
              <a:rPr sz="1400"/>
              <a:t>Uitleg: Los eerst de marginale vergelijking op: 50 − q = 10, dus q = 40. De winst stijgt tot 40 en daalt erna. Bij 30 is MO 20, groter dan MK 10; bij 45 is MO 5, kleiner dan MK 10. De afzet is haalbaar binnen 60. De grafiek toont de MO-lijn alleen tot haar nulpunt q = 50; daarbuiten is MO negatief en valt zij buiten de niet-negatieve verticale schaal. Het snijpunt ligt op 10 euro per sessie, maar de verkoopprijs is nog niet afgelezen.</a:t>
            </a:r>
          </a:p>
          <a:p xmlns:a="http://schemas.openxmlformats.org/drawingml/2006/main">
            <a:r>
              <a:rPr sz="1400"/>
              <a:t/>
            </a:r>
          </a:p>
          <a:p xmlns:a="http://schemas.openxmlformats.org/drawingml/2006/main">
            <a:r>
              <a:rPr sz="1400"/>
              <a:t>Misvatting: 10 euro is het marginale bedrag, nog niet de prijs die klanten betalen.</a:t>
            </a:r>
          </a:p>
          <a:p xmlns:a="http://schemas.openxmlformats.org/drawingml/2006/main">
            <a:r>
              <a:rPr sz="1400"/>
              <a:t/>
            </a:r>
          </a:p>
          <a:p xmlns:a="http://schemas.openxmlformats.org/drawingml/2006/main">
            <a:r>
              <a:rPr sz="1400"/>
              <a:t>Overgang: Voeg GO toe en lees de prijs bij dezelfde q.</a:t>
            </a:r>
          </a:p>
          <a:p xmlns:a="http://schemas.openxmlformats.org/drawingml/2006/main">
            <a:r>
              <a:rPr sz="1400"/>
              <a:t/>
            </a:r>
          </a:p>
          <a:p xmlns:a="http://schemas.openxmlformats.org/drawingml/2006/main">
            <a:r>
              <a:rPr sz="1400"/>
              <a:t>Bron: Boek 4, books34-v3, volledige leerlingenboek, gedrukte pagina 72; voorkennis 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Uitlegvoorbeeld — niet uit het boek. Fotostudio Licht, context en getallen zijn voor deze presentatie bedacht. De boekverwijzing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lees je de verkoopprijs niet op MO?</a:t>
            </a:r>
          </a:p>
          <a:p xmlns:a="http://schemas.openxmlformats.org/drawingml/2006/main">
            <a:r>
              <a:rPr sz="1400"/>
              <a:t/>
            </a:r>
          </a:p>
          <a:p xmlns:a="http://schemas.openxmlformats.org/drawingml/2006/main">
            <a:r>
              <a:rPr sz="1400"/>
              <a:t>Uitleg: De assen en de oorspronkelijke lijnen staan op exact dezelfde schaal als op de vorige dia. Ga vanaf q = 40 verticaal naar GO en dan horizontaal naar de prijsas: 30 euro per sessie. GO is bij positieve afzet gelijk aan P omdat alle sessies dezelfde prijs hebben. Gebruik q van één studio, niet Q van de hele markt.</a:t>
            </a:r>
          </a:p>
          <a:p xmlns:a="http://schemas.openxmlformats.org/drawingml/2006/main">
            <a:r>
              <a:rPr sz="1400"/>
              <a:t/>
            </a:r>
          </a:p>
          <a:p xmlns:a="http://schemas.openxmlformats.org/drawingml/2006/main">
            <a:r>
              <a:rPr sz="1400"/>
              <a:t>Misvatting: Het bekende rekenpad maakt Licht niet tot monopolist: de bron noemt veel zelfstandige studio’s.</a:t>
            </a:r>
          </a:p>
          <a:p xmlns:a="http://schemas.openxmlformats.org/drawingml/2006/main">
            <a:r>
              <a:rPr sz="1400"/>
              <a:t/>
            </a:r>
          </a:p>
          <a:p xmlns:a="http://schemas.openxmlformats.org/drawingml/2006/main">
            <a:r>
              <a:rPr sz="1400"/>
              <a:t>Overgang: Bereken de winst met deze hoeveelheid en prijs.</a:t>
            </a:r>
          </a:p>
          <a:p xmlns:a="http://schemas.openxmlformats.org/drawingml/2006/main">
            <a:r>
              <a:rPr sz="1400"/>
              <a:t/>
            </a:r>
          </a:p>
          <a:p xmlns:a="http://schemas.openxmlformats.org/drawingml/2006/main">
            <a:r>
              <a:rPr sz="1400"/>
              <a:t>Bron: Boek 4, books34-v3, volledige leerlingenboek, gedrukte pagina 72; voorkennis 37.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Uitlegvoorbeeld — niet uit het boek. Fotostudio Licht, context en getallen zijn voor deze presentatie bedacht. De boekverwijzing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keren de vaste kosten terug in de berekening?</a:t>
            </a:r>
          </a:p>
          <a:p xmlns:a="http://schemas.openxmlformats.org/drawingml/2006/main">
            <a:r>
              <a:rPr sz="1400"/>
              <a:t/>
            </a:r>
          </a:p>
          <a:p xmlns:a="http://schemas.openxmlformats.org/drawingml/2006/main">
            <a:r>
              <a:rPr sz="1400"/>
              <a:t>Uitleg: TO en TK zijn totalen in euro per week. Vaste kosten worden eenmaal afgetrokken. Het resultaat van 620 is beter dan −180 euro bij nul productie. Het marginale verloop heeft al aangetoond dat 40 binnen de grenzen de hoogste winst geeft. De gegevens zijn fictief en gelden alleen voor de beschreven week en aannames.</a:t>
            </a:r>
          </a:p>
          <a:p xmlns:a="http://schemas.openxmlformats.org/drawingml/2006/main">
            <a:r>
              <a:rPr sz="1400"/>
              <a:t/>
            </a:r>
          </a:p>
          <a:p xmlns:a="http://schemas.openxmlformats.org/drawingml/2006/main">
            <a:r>
              <a:rPr sz="1400"/>
              <a:t>Misvatting: Een correcte hoeveelheid bewijst nog geen positieve winst zonder alle kosten mee te nemen.</a:t>
            </a:r>
          </a:p>
          <a:p xmlns:a="http://schemas.openxmlformats.org/drawingml/2006/main">
            <a:r>
              <a:rPr sz="1400"/>
              <a:t/>
            </a:r>
          </a:p>
          <a:p xmlns:a="http://schemas.openxmlformats.org/drawingml/2006/main">
            <a:r>
              <a:rPr sz="1400"/>
              <a:t>Overgang: Begrens nu wat we uit dit ondernemingsmodel mogen concluderen.</a:t>
            </a:r>
          </a:p>
          <a:p xmlns:a="http://schemas.openxmlformats.org/drawingml/2006/main">
            <a:r>
              <a:rPr sz="1400"/>
              <a:t/>
            </a:r>
          </a:p>
          <a:p xmlns:a="http://schemas.openxmlformats.org/drawingml/2006/main">
            <a:r>
              <a:rPr sz="1400"/>
              <a:t>Bron: Boek 4, books34-v3, volledige leerlingenboek, gedrukte pagina 72; voorkennis 38–39.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Uitlegvoorbeeld — niet uit het boek. Fotostudio Licht, context en getallen zijn voor deze presentatie bedacht. De boekverwijzing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een dalende eigen vraaglijn voldoende bewijs voor een monopolie?</a:t>
            </a:r>
          </a:p>
          <a:p xmlns:a="http://schemas.openxmlformats.org/drawingml/2006/main">
            <a:r>
              <a:rPr sz="1400"/>
              <a:t/>
            </a:r>
          </a:p>
          <a:p xmlns:a="http://schemas.openxmlformats.org/drawingml/2006/main">
            <a:r>
              <a:rPr sz="1400"/>
              <a:t>Uitleg: Scheid classificeren en rekenen. Veel aanbieders betekent niet automatisch dat elke onderneming prijsnemer is. Bij een heterogeen product kan de eigen vraag dalen. Bij enkele grote ondernemingen hangt de vraag mede af van reacties van de andere grote spelers. Deze les bouwt geen spelmatrix of universele oligopolievraagfunctie.</a:t>
            </a:r>
          </a:p>
          <a:p xmlns:a="http://schemas.openxmlformats.org/drawingml/2006/main">
            <a:r>
              <a:rPr sz="1400"/>
              <a:t/>
            </a:r>
          </a:p>
          <a:p xmlns:a="http://schemas.openxmlformats.org/drawingml/2006/main">
            <a:r>
              <a:rPr sz="1400"/>
              <a:t>Misvatting: Een functie die in één casus is gegeven, geldt niet automatisch voor een andere markt.</a:t>
            </a:r>
          </a:p>
          <a:p xmlns:a="http://schemas.openxmlformats.org/drawingml/2006/main">
            <a:r>
              <a:rPr sz="1400"/>
              <a:t/>
            </a:r>
          </a:p>
          <a:p xmlns:a="http://schemas.openxmlformats.org/drawingml/2006/main">
            <a:r>
              <a:rPr sz="1400"/>
              <a:t>Overgang: Controleer dit onderscheid kort voordat leerlingen zelf oefenen.</a:t>
            </a:r>
          </a:p>
          <a:p xmlns:a="http://schemas.openxmlformats.org/drawingml/2006/main">
            <a:r>
              <a:rPr sz="1400"/>
              <a:t/>
            </a:r>
          </a:p>
          <a:p xmlns:a="http://schemas.openxmlformats.org/drawingml/2006/main">
            <a:r>
              <a:rPr sz="1400"/>
              <a:t>Bron: Boek 4, books34-v3, volledige leerlingenboek, gedrukte pagina 71–72, 74.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brongegevens wegen zwaarder dan alleen de vorm van de GO-lijn?</a:t>
            </a:r>
          </a:p>
          <a:p xmlns:a="http://schemas.openxmlformats.org/drawingml/2006/main">
            <a:r>
              <a:rPr sz="1400"/>
              <a:t/>
            </a:r>
          </a:p>
          <a:p xmlns:a="http://schemas.openxmlformats.org/drawingml/2006/main">
            <a:r>
              <a:rPr sz="1400"/>
              <a:t>Uitleg: Laat leerlingen zelfstandig een kort bronantwoord formuleren. Antwoord: de uitspraak volgt niet. Veel onafhankelijke studio’s, verschillen in stijl en relatief eenvoudige toetreding passen bij monopolistische concurrentie. Ook zo’n onderneming kan een dalende eigen vraag hebben. Dit is een korte controle op het uitlegvoorbeeld, geen boekopgave en geen extra huiswerk.</a:t>
            </a:r>
          </a:p>
          <a:p xmlns:a="http://schemas.openxmlformats.org/drawingml/2006/main">
            <a:r>
              <a:rPr sz="1400"/>
              <a:t/>
            </a:r>
          </a:p>
          <a:p xmlns:a="http://schemas.openxmlformats.org/drawingml/2006/main">
            <a:r>
              <a:rPr sz="1400"/>
              <a:t>Misvatting: Een rekenprocedure is geen marktvorm.</a:t>
            </a:r>
          </a:p>
          <a:p xmlns:a="http://schemas.openxmlformats.org/drawingml/2006/main">
            <a:r>
              <a:rPr sz="1400"/>
              <a:t/>
            </a:r>
          </a:p>
          <a:p xmlns:a="http://schemas.openxmlformats.org/drawingml/2006/main">
            <a:r>
              <a:rPr sz="1400"/>
              <a:t>Overgang: Keer terug naar de startverkenning en vervolgens naar de volledige oefenroute.</a:t>
            </a:r>
          </a:p>
          <a:p xmlns:a="http://schemas.openxmlformats.org/drawingml/2006/main">
            <a:r>
              <a:rPr sz="1400"/>
              <a:t/>
            </a:r>
          </a:p>
          <a:p xmlns:a="http://schemas.openxmlformats.org/drawingml/2006/main">
            <a:r>
              <a:rPr sz="1400"/>
              <a:t>Bron: Boek 4, books34-v3, volledige leerlingenboek, gedrukte pagina 71–72.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Uitlegvoorbeeld — niet uit het boek. Fotostudio Licht, context en getallen zijn voor deze presentatie bedacht. De boekverwijzing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 en welke denkstap vragen nog hulp?</a:t>
            </a:r>
          </a:p>
          <a:p xmlns:a="http://schemas.openxmlformats.org/drawingml/2006/main">
            <a:r>
              <a:rPr sz="1400"/>
              <a:t/>
            </a:r>
          </a:p>
          <a:p xmlns:a="http://schemas.openxmlformats.org/drawingml/2006/main">
            <a:r>
              <a:rPr sz="1400"/>
              <a:t>Uitleg: Laat deze dia staan tijdens zelfstandig werken. De normale route is 19–20 start, 21–22 begeleide basis, 23–24 zelfstandig, 25 doel. Huiswerk: 21, 22, 23, 24 en 25 maken en nakijken. Bonus 26 en herhaling 27 zijn extra. Gedrukte boekpagina 73 bevat start en opgave 21, pagina 74 bevat 22–23 en pagina 75 bevat 24–25. De docentenhandleiding noemt hoofdstukpagina 21 respectievelijk 23: dat zijn boekpagina 73 en 75. Opgave 19 haalt GO = MO = P bij de prijsnemer (§4.1.2 p. 17) en TO/MO bij uniforme prijzen (§4.1.3 p. 25–26) terug. Opgave 20 verkent het tellen van zelfstandige ondernemingen tegenover merken. Laat de leerling de eerste alinea en tabel op p. 71 gebruiken; verwacht dit nieuwe onderscheid nog niet zonder steun. Laat vóór de basisopgaven opgave 20 opnieuw beoordelen en bronbewijs noemen. De docentroute reserveert voorlopig twee lessen van 55 minuten, zonder gemeten tijdsfit. Rond de volledige route zo nodig later af.</a:t>
            </a:r>
          </a:p>
          <a:p xmlns:a="http://schemas.openxmlformats.org/drawingml/2006/main">
            <a:r>
              <a:rPr sz="1400"/>
              <a:t/>
            </a:r>
          </a:p>
          <a:p xmlns:a="http://schemas.openxmlformats.org/drawingml/2006/main">
            <a:r>
              <a:rPr sz="1400"/>
              <a:t>Misvatting: Merken tellen is iets anders dan zelfstandige aanbieders tellen. Startvragen bewijzen geen beheersing.</a:t>
            </a:r>
          </a:p>
          <a:p xmlns:a="http://schemas.openxmlformats.org/drawingml/2006/main">
            <a:r>
              <a:rPr sz="1400"/>
              <a:t/>
            </a:r>
          </a:p>
          <a:p xmlns:a="http://schemas.openxmlformats.org/drawingml/2006/main">
            <a:r>
              <a:rPr sz="1400"/>
              <a:t>Overgang: Ga naar de volgende lesfase zodra de klas eraan toe is.</a:t>
            </a:r>
          </a:p>
          <a:p xmlns:a="http://schemas.openxmlformats.org/drawingml/2006/main">
            <a:r>
              <a:rPr sz="1400"/>
              <a:t/>
            </a:r>
          </a:p>
          <a:p xmlns:a="http://schemas.openxmlformats.org/drawingml/2006/main">
            <a:r>
              <a:rPr sz="1400"/>
              <a:t>Bron: Boek 4, books34-v3, volledige leerlingenboek, gedrukte pagina 71–75.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bronregels zijn nodig voor jouw classificatie?</a:t>
            </a:r>
          </a:p>
          <a:p xmlns:a="http://schemas.openxmlformats.org/drawingml/2006/main">
            <a:r>
              <a:rPr sz="1400"/>
              <a:t/>
            </a:r>
          </a:p>
          <a:p xmlns:a="http://schemas.openxmlformats.org/drawingml/2006/main">
            <a:r>
              <a:rPr sz="1400"/>
              <a:t>Uitleg: Dit is de volledige Bron A van doelopgave 25, Marktvorm is het begin. Laat de leerling het eigen werk erbij nemen. Geef nu nog geen classificaties. De complete bron B en alle vijf deelvragen volgen vóór de eerste uitwerking. Er hoort geen opgavefiguur bij Bron A of B; de figuur staat uitsluitend in het antwoordmodel.</a:t>
            </a:r>
          </a:p>
          <a:p xmlns:a="http://schemas.openxmlformats.org/drawingml/2006/main">
            <a:r>
              <a:rPr sz="1400"/>
              <a:t/>
            </a:r>
          </a:p>
          <a:p xmlns:a="http://schemas.openxmlformats.org/drawingml/2006/main">
            <a:r>
              <a:rPr sz="1400"/>
              <a:t>Misvatting: De abstracte markten mogen niet worden vervangen door onbewezen aannames over echte bedrijven.</a:t>
            </a:r>
          </a:p>
          <a:p xmlns:a="http://schemas.openxmlformats.org/drawingml/2006/main">
            <a:r>
              <a:rPr sz="1400"/>
              <a:t/>
            </a:r>
          </a:p>
          <a:p xmlns:a="http://schemas.openxmlformats.org/drawingml/2006/main">
            <a:r>
              <a:rPr sz="1400"/>
              <a:t>Overgang: Lees ook Bron B zonder oplossingen.</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beperkingen en vaste aannames zijn expliciet gegeven?</a:t>
            </a:r>
          </a:p>
          <a:p xmlns:a="http://schemas.openxmlformats.org/drawingml/2006/main">
            <a:r>
              <a:rPr sz="1400"/>
              <a:t/>
            </a:r>
          </a:p>
          <a:p xmlns:a="http://schemas.openxmlformats.org/drawingml/2006/main">
            <a:r>
              <a:rPr sz="1400"/>
              <a:t>Uitleg: Toon alle oorspronkelijke gegevens en voorwaarden. De periode is één dag; TK is dus euro per dag. q betreft één lunchzaak. Het gedrag van de andere aanbieders verandert in deze berekening niet. Bereken nog geen marginale functie of optimum op deze vragendia.</a:t>
            </a:r>
          </a:p>
          <a:p xmlns:a="http://schemas.openxmlformats.org/drawingml/2006/main">
            <a:r>
              <a:rPr sz="1400"/>
              <a:t/>
            </a:r>
          </a:p>
          <a:p xmlns:a="http://schemas.openxmlformats.org/drawingml/2006/main">
            <a:r>
              <a:rPr sz="1400"/>
              <a:t>Misvatting: Dit model is geen functie voor de hele markt II.</a:t>
            </a:r>
          </a:p>
          <a:p xmlns:a="http://schemas.openxmlformats.org/drawingml/2006/main">
            <a:r>
              <a:rPr sz="1400"/>
              <a:t/>
            </a:r>
          </a:p>
          <a:p xmlns:a="http://schemas.openxmlformats.org/drawingml/2006/main">
            <a:r>
              <a:rPr sz="1400"/>
              <a:t>Overgang: Toon de deelvragen, zonder oplossingen.</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onderdelen heb je in je eigen antwoord bij c opgenomen?</a:t>
            </a:r>
          </a:p>
          <a:p xmlns:a="http://schemas.openxmlformats.org/drawingml/2006/main">
            <a:r>
              <a:rPr sz="1400"/>
              <a:t/>
            </a:r>
          </a:p>
          <a:p xmlns:a="http://schemas.openxmlformats.org/drawingml/2006/main">
            <a:r>
              <a:rPr sz="1400"/>
              <a:t>Uitleg: De vragen zijn volledig overgenomen. Bij a hoort per markt een conclusie met bewijs. Bij c staan drie gevraagde uitkomsten en is haalbaarheid onderdeel van de vraag. Laat eigen antwoorden nog staan; de volgende dia bevat d en e.</a:t>
            </a:r>
          </a:p>
          <a:p xmlns:a="http://schemas.openxmlformats.org/drawingml/2006/main">
            <a:r>
              <a:rPr sz="1400"/>
              <a:t/>
            </a:r>
          </a:p>
          <a:p xmlns:a="http://schemas.openxmlformats.org/drawingml/2006/main">
            <a:r>
              <a:rPr sz="1400"/>
              <a:t>Misvatting: Nog geen uitwerking onthullen voordat ook d en e op het scherm hebben gestaan.</a:t>
            </a:r>
          </a:p>
          <a:p xmlns:a="http://schemas.openxmlformats.org/drawingml/2006/main">
            <a:r>
              <a:rPr sz="1400"/>
              <a:t/>
            </a:r>
          </a:p>
          <a:p xmlns:a="http://schemas.openxmlformats.org/drawingml/2006/main">
            <a:r>
              <a:rPr sz="1400"/>
              <a:t>Overgang: Maak de hele opgave compleet met d en e.</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vraagt de opgave om een verklaring in plaats van een berekening?</a:t>
            </a:r>
          </a:p>
          <a:p xmlns:a="http://schemas.openxmlformats.org/drawingml/2006/main">
            <a:r>
              <a:rPr sz="1400"/>
              <a:t/>
            </a:r>
          </a:p>
          <a:p xmlns:a="http://schemas.openxmlformats.org/drawingml/2006/main">
            <a:r>
              <a:rPr sz="1400"/>
              <a:t>Uitleg: Nu zijn beide bronblokken en alle deelvragen a tot en met e beschikbaar. Laat leerlingen hun redeneringen naast elkaar houden. De eerstvolgende dia start pas de oplossingen.</a:t>
            </a:r>
          </a:p>
          <a:p xmlns:a="http://schemas.openxmlformats.org/drawingml/2006/main">
            <a:r>
              <a:rPr sz="1400"/>
              <a:t/>
            </a:r>
          </a:p>
          <a:p xmlns:a="http://schemas.openxmlformats.org/drawingml/2006/main">
            <a:r>
              <a:rPr sz="1400"/>
              <a:t>Misvatting: Veel aanbieders is onvoldoende om zonder naar productverschillen te kijken een horizontale GO-lijn af te leiden.</a:t>
            </a:r>
          </a:p>
          <a:p xmlns:a="http://schemas.openxmlformats.org/drawingml/2006/main">
            <a:r>
              <a:rPr sz="1400"/>
              <a:t/>
            </a:r>
          </a:p>
          <a:p xmlns:a="http://schemas.openxmlformats.org/drawingml/2006/main">
            <a:r>
              <a:rPr sz="1400"/>
              <a:t>Overgang: Begin de bespreking met de classificaties en hun bewijs.</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bronbewijs maakt het onderscheid tussen II en III?</a:t>
            </a:r>
          </a:p>
          <a:p xmlns:a="http://schemas.openxmlformats.org/drawingml/2006/main">
            <a:r>
              <a:rPr sz="1400"/>
              <a:t/>
            </a:r>
          </a:p>
          <a:p xmlns:a="http://schemas.openxmlformats.org/drawingml/2006/main">
            <a:r>
              <a:rPr sz="1400"/>
              <a:t>Uitleg: Bespreek één bronrij tegelijk. I is homogeen en kent vrije toetreding. Bij II is de dienstverlening heterogeen terwijl er veel onafhankelijke aanbieders zijn. III wordt gedomineerd door enkele aanbieders met een hoge toetredingsdrempel. Bij IV begrenzen één aanbieder, unieke toegang en het ontbreken van goede alternatieven de conclusie tot deze afgebakende markt. Dit volgt het antwoordmodel 25a.</a:t>
            </a:r>
          </a:p>
          <a:p xmlns:a="http://schemas.openxmlformats.org/drawingml/2006/main">
            <a:r>
              <a:rPr sz="1400"/>
              <a:t/>
            </a:r>
          </a:p>
          <a:p xmlns:a="http://schemas.openxmlformats.org/drawingml/2006/main">
            <a:r>
              <a:rPr sz="1400"/>
              <a:t>Misvatting: Heterogeniteit op zichzelf is geen bewijs van monopolistische concurrentie.</a:t>
            </a:r>
          </a:p>
          <a:p xmlns:a="http://schemas.openxmlformats.org/drawingml/2006/main">
            <a:r>
              <a:rPr sz="1400"/>
              <a:t/>
            </a:r>
          </a:p>
          <a:p xmlns:a="http://schemas.openxmlformats.org/drawingml/2006/main">
            <a:r>
              <a:rPr sz="1400"/>
              <a:t>Overgang: Ga van de classificatie naar de functies voor de afzonderlijke lunchzaak Puur.</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de factor 0,50 in MO vandaan?</a:t>
            </a:r>
          </a:p>
          <a:p xmlns:a="http://schemas.openxmlformats.org/drawingml/2006/main">
            <a:r>
              <a:rPr sz="1400"/>
              <a:t/>
            </a:r>
          </a:p>
          <a:p xmlns:a="http://schemas.openxmlformats.org/drawingml/2006/main">
            <a:r>
              <a:rPr sz="1400"/>
              <a:t>Uitleg: Werk de haakjes in TO eerst uit. Differentieer vervolgens de twee termen: 30q levert 30 en −0,25q² levert −0,50q. De constante 144 in TK verandert niet bij een marginale uitbreiding, zodat MK = 6. De 144 blijft wel in de winstberekening staan. Dit is de complete uitwerking van 25b.</a:t>
            </a:r>
          </a:p>
          <a:p xmlns:a="http://schemas.openxmlformats.org/drawingml/2006/main">
            <a:r>
              <a:rPr sz="1400"/>
              <a:t/>
            </a:r>
          </a:p>
          <a:p xmlns:a="http://schemas.openxmlformats.org/drawingml/2006/main">
            <a:r>
              <a:rPr sz="1400"/>
              <a:t>Misvatting: MO is niet gelijk aan P bij positieve q onder deze dalende vraag en uniforme prijs.</a:t>
            </a:r>
          </a:p>
          <a:p xmlns:a="http://schemas.openxmlformats.org/drawingml/2006/main">
            <a:r>
              <a:rPr sz="1400"/>
              <a:t/>
            </a:r>
          </a:p>
          <a:p xmlns:a="http://schemas.openxmlformats.org/drawingml/2006/main">
            <a:r>
              <a:rPr sz="1400"/>
              <a:t>Overgang: Kies eerst de hoeveelheid met MO en MK.</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controles maken q = 48 een geschikte keuze?</a:t>
            </a:r>
          </a:p>
          <a:p xmlns:a="http://schemas.openxmlformats.org/drawingml/2006/main">
            <a:r>
              <a:rPr sz="1400"/>
              <a:t/>
            </a:r>
          </a:p>
          <a:p xmlns:a="http://schemas.openxmlformats.org/drawingml/2006/main">
            <a:r>
              <a:rPr sz="1400"/>
              <a:t>Uitleg: Het snijpunt geeft q = (30 − 6)/0,50 = 48 maaltijden per dag. Bij q = 40 is MO 10 &gt; 6. Bij q = 56 is MO 2 &lt; 6. Met de dalende MO-lijn en constante MK geeft dit de winsttop. 48 is ook als geheel aantal maaltijden haalbaar en blijft onder de capaciteit 80. De marktuitkomst van alle lunchzaken samen wordt hier niet berekend.</a:t>
            </a:r>
          </a:p>
          <a:p xmlns:a="http://schemas.openxmlformats.org/drawingml/2006/main">
            <a:r>
              <a:rPr sz="1400"/>
              <a:t/>
            </a:r>
          </a:p>
          <a:p xmlns:a="http://schemas.openxmlformats.org/drawingml/2006/main">
            <a:r>
              <a:rPr sz="1400"/>
              <a:t>Misvatting: Alleen MO = MK oplossen zonder verloop of capaciteit te controleren is onvolledig.</a:t>
            </a:r>
          </a:p>
          <a:p xmlns:a="http://schemas.openxmlformats.org/drawingml/2006/main">
            <a:r>
              <a:rPr sz="1400"/>
              <a:t/>
            </a:r>
          </a:p>
          <a:p xmlns:a="http://schemas.openxmlformats.org/drawingml/2006/main">
            <a:r>
              <a:rPr sz="1400"/>
              <a:t>Overgang: Lees bij dezelfde 48 maaltijden de verkoopprijs uit GO.</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geeft de prijs die de klant bij 48 maaltijden betaalt?</a:t>
            </a:r>
          </a:p>
          <a:p xmlns:a="http://schemas.openxmlformats.org/drawingml/2006/main">
            <a:r>
              <a:rPr sz="1400"/>
              <a:t/>
            </a:r>
          </a:p>
          <a:p xmlns:a="http://schemas.openxmlformats.org/drawingml/2006/main">
            <a:r>
              <a:rPr sz="1400"/>
              <a:t>Uitleg: De figuur is als bewerkbare grafiek gereconstrueerd uit Bron B en het antwoordmodel. MO = MK bij (48,6), vervolgens GO bij (48,18). De stippellijnen verbinden dezelfde q met de prijsas. De horizontale as stopt bij de capaciteit 80; GO heeft daar waarde 10. MO wordt bij q = 60 nul en is daarbuiten negatief, dus buiten het positieve y-bereik. Prijs = 30 − 0,25 × 48 = 18 euro per maaltijd.</a:t>
            </a:r>
          </a:p>
          <a:p xmlns:a="http://schemas.openxmlformats.org/drawingml/2006/main">
            <a:r>
              <a:rPr sz="1400"/>
              <a:t/>
            </a:r>
          </a:p>
          <a:p xmlns:a="http://schemas.openxmlformats.org/drawingml/2006/main">
            <a:r>
              <a:rPr sz="1400"/>
              <a:t>Misvatting: De 6 op het marginale snijpunt is geen verkoopprijs.</a:t>
            </a:r>
          </a:p>
          <a:p xmlns:a="http://schemas.openxmlformats.org/drawingml/2006/main">
            <a:r>
              <a:rPr sz="1400"/>
              <a:t/>
            </a:r>
          </a:p>
          <a:p xmlns:a="http://schemas.openxmlformats.org/drawingml/2006/main">
            <a:r>
              <a:rPr sz="1400"/>
              <a:t>Overgang: Bereken nu beide totalen en hun verschil.</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TK en winst hier allebei 432, terwijl het verschillende grootheden zijn?</a:t>
            </a:r>
          </a:p>
          <a:p xmlns:a="http://schemas.openxmlformats.org/drawingml/2006/main">
            <a:r>
              <a:rPr sz="1400"/>
              <a:t/>
            </a:r>
          </a:p>
          <a:p xmlns:a="http://schemas.openxmlformats.org/drawingml/2006/main">
            <a:r>
              <a:rPr sz="1400"/>
              <a:t>Uitleg: TO is 864 euro, TK is 144 + 288 = 432 euro, dus de winst is toevallig ook 432 euro per dag. Controleer de vaste kosten eenmaal en neem alle variabele kosten mee. Bij q = 0 blijven de vaste kosten staan en is de winst −144. Aan de capaciteitsgrens 80 is P = 10, TO = 800, TK = 624 en winst = 176, eveneens lager. Met het marginale verloop is de maximale haalbare keuze onderbouwd.</a:t>
            </a:r>
          </a:p>
          <a:p xmlns:a="http://schemas.openxmlformats.org/drawingml/2006/main">
            <a:r>
              <a:rPr sz="1400"/>
              <a:t/>
            </a:r>
          </a:p>
          <a:p xmlns:a="http://schemas.openxmlformats.org/drawingml/2006/main">
            <a:r>
              <a:rPr sz="1400"/>
              <a:t>Misvatting: De getallen zijn toevallig gelijk. Winst is niet per definitie gelijk aan totale kosten of omzet.</a:t>
            </a:r>
          </a:p>
          <a:p xmlns:a="http://schemas.openxmlformats.org/drawingml/2006/main">
            <a:r>
              <a:rPr sz="1400"/>
              <a:t/>
            </a:r>
          </a:p>
          <a:p xmlns:a="http://schemas.openxmlformats.org/drawingml/2006/main">
            <a:r>
              <a:rPr sz="1400"/>
              <a:t>Overgang: Leg uit waarom de GO-lijn hier kan dalen ondanks het grote aantal aanbieders.</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productkenmerk maakt het prijsnemersmodel hier ongeschikt?</a:t>
            </a:r>
          </a:p>
          <a:p xmlns:a="http://schemas.openxmlformats.org/drawingml/2006/main">
            <a:r>
              <a:rPr sz="1400"/>
              <a:t/>
            </a:r>
          </a:p>
          <a:p xmlns:a="http://schemas.openxmlformats.org/drawingml/2006/main">
            <a:r>
              <a:rPr sz="1400"/>
              <a:t>Uitleg: De vraag zegt niet dat Puur een horizontale GO-lijn moet hebben. Veel aanbieders zijn slechts één kenmerk. De heterogene diensten zorgen ervoor dat klanten verschillen in smaak en locatie meewegen. Puur heeft daardoor enige invloed op de prijs. De dalende GO geldt voor deze onderneming en deze aannames. De prijsnemer met een homogeen product onder volkomen concurrentie neemt P juist als gegeven.</a:t>
            </a:r>
          </a:p>
          <a:p xmlns:a="http://schemas.openxmlformats.org/drawingml/2006/main">
            <a:r>
              <a:rPr sz="1400"/>
              <a:t/>
            </a:r>
          </a:p>
          <a:p xmlns:a="http://schemas.openxmlformats.org/drawingml/2006/main">
            <a:r>
              <a:rPr sz="1400"/>
              <a:t>Misvatting: Monopolistische concurrentie en volkomen concurrentie verschillen ondanks hun vele aanbieders.</a:t>
            </a:r>
          </a:p>
          <a:p xmlns:a="http://schemas.openxmlformats.org/drawingml/2006/main">
            <a:r>
              <a:rPr sz="1400"/>
              <a:t/>
            </a:r>
          </a:p>
          <a:p xmlns:a="http://schemas.openxmlformats.org/drawingml/2006/main">
            <a:r>
              <a:rPr sz="1400"/>
              <a:t>Overgang: Beoordeel ten slotte het gebruik van deze functie voor markt III.</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extra informatie zou je willen voordat je voor markt III gaat rekenen?</a:t>
            </a:r>
          </a:p>
          <a:p xmlns:a="http://schemas.openxmlformats.org/drawingml/2006/main">
            <a:r>
              <a:rPr sz="1400"/>
              <a:t/>
            </a:r>
          </a:p>
          <a:p xmlns:a="http://schemas.openxmlformats.org/drawingml/2006/main">
            <a:r>
              <a:rPr sz="1400"/>
              <a:t>Uitleg: De weigering moet worden onderbouwd: de gegeven functie hoort bij Puur onder de expliciete voorwaarden van Bron B. Markt III heeft enkele grote aanbieders die elkaars beslissingen kunnen beïnvloeden. Om hun vraag te modelleren moet onder meer duidelijk zijn hoe de concurrenten reageren. Er volgt uit het woord oligopolie dus geen functie P = 30 − 0,25q. Daarmee zijn a tot en met e volledig behandeld. Laat elke leerling één ontbrekend bronargument of rekenstap verbeteren.</a:t>
            </a:r>
          </a:p>
          <a:p xmlns:a="http://schemas.openxmlformats.org/drawingml/2006/main">
            <a:r>
              <a:rPr sz="1400"/>
              <a:t/>
            </a:r>
          </a:p>
          <a:p xmlns:a="http://schemas.openxmlformats.org/drawingml/2006/main">
            <a:r>
              <a:rPr sz="1400"/>
              <a:t>Misvatting: Dezelfde algebra kan bruikbaar zijn als een bron haar aannames geeft, maar de marktvorm alleen levert die aannames niet.</a:t>
            </a:r>
          </a:p>
          <a:p xmlns:a="http://schemas.openxmlformats.org/drawingml/2006/main">
            <a:r>
              <a:rPr sz="1400"/>
              <a:t/>
            </a:r>
          </a:p>
          <a:p xmlns:a="http://schemas.openxmlformats.org/drawingml/2006/main">
            <a:r>
              <a:rPr sz="1400"/>
              <a:t>Overgang: Keer terug naar het lesoverzicht en laat het huiswerk noteren.</a:t>
            </a:r>
          </a:p>
          <a:p xmlns:a="http://schemas.openxmlformats.org/drawingml/2006/main">
            <a:r>
              <a:rPr sz="1400"/>
              <a:t/>
            </a:r>
          </a:p>
          <a:p xmlns:a="http://schemas.openxmlformats.org/drawingml/2006/main">
            <a:r>
              <a:rPr sz="1400"/>
              <a:t>Bron: Boek 4, books34-v3, volledige leerlingenboek, gedrukte pagina 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 en welke denkstap vragen nog hulp?</a:t>
            </a:r>
          </a:p>
          <a:p xmlns:a="http://schemas.openxmlformats.org/drawingml/2006/main">
            <a:r>
              <a:rPr sz="1400"/>
              <a:t/>
            </a:r>
          </a:p>
          <a:p xmlns:a="http://schemas.openxmlformats.org/drawingml/2006/main">
            <a:r>
              <a:rPr sz="1400"/>
              <a:t>Uitleg: Laat deze dia staan tijdens afsluiting / huiswerk. De normale route is 19–20 start, 21–22 begeleide basis, 23–24 zelfstandig, 25 doel. Huiswerk: 21, 22, 23, 24 en 25 maken en nakijken. Bonus 26 en herhaling 27 zijn extra. Gedrukte boekpagina 73 bevat start en opgave 21, pagina 74 bevat 22–23 en pagina 75 bevat 24–25. De docentenhandleiding noemt hoofdstukpagina 21 respectievelijk 23: dat zijn boekpagina 73 en 75. Opgave 19 haalt GO = MO = P bij de prijsnemer (§4.1.2 p. 17) en TO/MO bij uniforme prijzen (§4.1.3 p. 25–26) terug. Opgave 20 verkent het tellen van zelfstandige ondernemingen tegenover merken. Laat de leerling de eerste alinea en tabel op p. 71 gebruiken; verwacht dit nieuwe onderscheid nog niet zonder steun. Laat vóór de basisopgaven opgave 20 opnieuw beoordelen en bronbewijs noemen. De docentroute reserveert voorlopig twee lessen van 55 minuten, zonder gemeten tijdsfit. Rond de volledige route zo nodig later af.</a:t>
            </a:r>
          </a:p>
          <a:p xmlns:a="http://schemas.openxmlformats.org/drawingml/2006/main">
            <a:r>
              <a:rPr sz="1400"/>
              <a:t/>
            </a:r>
          </a:p>
          <a:p xmlns:a="http://schemas.openxmlformats.org/drawingml/2006/main">
            <a:r>
              <a:rPr sz="1400"/>
              <a:t>Misvatting: Merken tellen is iets anders dan zelfstandige aanbieders tellen. Startvragen bewijzen geen beheersing.</a:t>
            </a:r>
          </a:p>
          <a:p xmlns:a="http://schemas.openxmlformats.org/drawingml/2006/main">
            <a:r>
              <a:rPr sz="1400"/>
              <a:t/>
            </a:r>
          </a:p>
          <a:p xmlns:a="http://schemas.openxmlformats.org/drawingml/2006/main">
            <a:r>
              <a:rPr sz="1400"/>
              <a:t>Overgang: Noteer het huiswerk en rond zo nodig de route in de volgende les af.</a:t>
            </a:r>
          </a:p>
          <a:p xmlns:a="http://schemas.openxmlformats.org/drawingml/2006/main">
            <a:r>
              <a:rPr sz="1400"/>
              <a:t/>
            </a:r>
          </a:p>
          <a:p xmlns:a="http://schemas.openxmlformats.org/drawingml/2006/main">
            <a:r>
              <a:rPr sz="1400"/>
              <a:t>Bron: Boek 4, books34-v3, volledige leerlingenboek, gedrukte pagina 71–75.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https://github.com/meijer1973/4veco-lessen/blob/e734532a42b27732ac25ce990fc9448b12309d28/edities/books34-v3/books/book-4/chapters/4.2/4.2.3%20manuscript.md</a:t>
            </a:r>
          </a:p>
          <a:p xmlns:a="http://schemas.openxmlformats.org/drawingml/2006/main">
            <a:r>
              <a:rPr sz="1400"/>
              <a:t>Antwoordmodel en docentroute: https://github.com/meijer1973/4veco-lessen/blob/e734532a42b27732ac25ce990fc9448b12309d28/edities/books34-v3/books/book-4/chapters/4.2/Antwoorden.md#antwoord25 en https://github.com/meijer1973/4veco-lessen/blob/e734532a42b27732ac25ce990fc9448b12309d28/edities/books34-v3/books/book-4/chapters/4.2/Docenteninformatie.md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021b30f9cc48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b113c977524aab" /><Relationship Type="http://schemas.openxmlformats.org/officeDocument/2006/relationships/slideLayout" Target="/ppt/slideLayouts/slideLayout1.xml" Id="R8c014bef9e0d4d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014bef9e0d4d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84d396e4844d55" /><Relationship Type="http://schemas.openxmlformats.org/officeDocument/2006/relationships/notesSlide" Target="/ppt/notesSlides/notesSlide1.xml" Id="R7c717d020eaf40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0a2145dc864461" /><Relationship Type="http://schemas.openxmlformats.org/officeDocument/2006/relationships/notesSlide" Target="/ppt/notesSlides/notesSlide2.xml" Id="R2dfd97349fe345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1a05f4dd3846c0" /><Relationship Type="http://schemas.openxmlformats.org/officeDocument/2006/relationships/notesSlide" Target="/ppt/notesSlides/notesSlide3.xml" Id="R4beb59d62ca941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cef0c5fc1c411e" /><Relationship Type="http://schemas.openxmlformats.org/officeDocument/2006/relationships/notesSlide" Target="/ppt/notesSlides/notesSlide4.xml" Id="R8eb584f33dcd45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2998306eed426f" /><Relationship Type="http://schemas.openxmlformats.org/officeDocument/2006/relationships/notesSlide" Target="/ppt/notesSlides/notesSlide5.xml" Id="R769617f26d4342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765753f95646b1" /><Relationship Type="http://schemas.openxmlformats.org/officeDocument/2006/relationships/notesSlide" Target="/ppt/notesSlides/notesSlide6.xml" Id="Rb7e2e49518c147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8c29f9e735479b" /><Relationship Type="http://schemas.openxmlformats.org/officeDocument/2006/relationships/chart" Target="/ppt/slides/charts/chart1.xml" Id="R14b14627674f4a36" /><Relationship Type="http://schemas.openxmlformats.org/officeDocument/2006/relationships/notesSlide" Target="/ppt/notesSlides/notesSlide7.xml" Id="R36c0f156b7c840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960b22716d4f66" /><Relationship Type="http://schemas.openxmlformats.org/officeDocument/2006/relationships/chart" Target="/ppt/slides/charts/chart2.xml" Id="R4b9ed64967314176" /><Relationship Type="http://schemas.openxmlformats.org/officeDocument/2006/relationships/notesSlide" Target="/ppt/notesSlides/notesSlide8.xml" Id="R58731aef508b4e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bde3036cb14ad1" /><Relationship Type="http://schemas.openxmlformats.org/officeDocument/2006/relationships/notesSlide" Target="/ppt/notesSlides/notesSlide9.xml" Id="Rbbd9c1a46a874e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3797466f224d41" /><Relationship Type="http://schemas.openxmlformats.org/officeDocument/2006/relationships/notesSlide" Target="/ppt/notesSlides/notesSlide10.xml" Id="R1ae8734f371c4c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4adf58c182496f" /><Relationship Type="http://schemas.openxmlformats.org/officeDocument/2006/relationships/notesSlide" Target="/ppt/notesSlides/notesSlide11.xml" Id="Ra58e61eaf87d46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5e3f4cab0f42e5" /><Relationship Type="http://schemas.openxmlformats.org/officeDocument/2006/relationships/notesSlide" Target="/ppt/notesSlides/notesSlide12.xml" Id="R826ddff9d4ce40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411af9803db4175" /><Relationship Type="http://schemas.openxmlformats.org/officeDocument/2006/relationships/notesSlide" Target="/ppt/notesSlides/notesSlide13.xml" Id="Rfcdd94210a494d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48d104f7c2144e2" /><Relationship Type="http://schemas.openxmlformats.org/officeDocument/2006/relationships/notesSlide" Target="/ppt/notesSlides/notesSlide14.xml" Id="Rc372c9fd89ce4f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1bc38e9af04c37" /><Relationship Type="http://schemas.openxmlformats.org/officeDocument/2006/relationships/notesSlide" Target="/ppt/notesSlides/notesSlide15.xml" Id="R3e9b95d76c1a4d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960c36ae764d25" /><Relationship Type="http://schemas.openxmlformats.org/officeDocument/2006/relationships/notesSlide" Target="/ppt/notesSlides/notesSlide16.xml" Id="R1120a9071bd04d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639fba488064dc6" /><Relationship Type="http://schemas.openxmlformats.org/officeDocument/2006/relationships/notesSlide" Target="/ppt/notesSlides/notesSlide17.xml" Id="R8735f3df57cf40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30fdec9e0114e42" /><Relationship Type="http://schemas.openxmlformats.org/officeDocument/2006/relationships/notesSlide" Target="/ppt/notesSlides/notesSlide18.xml" Id="R828ffc52abf341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0c45914e70e4aa6" /><Relationship Type="http://schemas.openxmlformats.org/officeDocument/2006/relationships/notesSlide" Target="/ppt/notesSlides/notesSlide19.xml" Id="R8217f41a9c0d45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918399f8d3e4f5c" /><Relationship Type="http://schemas.openxmlformats.org/officeDocument/2006/relationships/chart" Target="/ppt/slides/charts/chart3.xml" Id="Rbc371e0ee8294c6f" /><Relationship Type="http://schemas.openxmlformats.org/officeDocument/2006/relationships/notesSlide" Target="/ppt/notesSlides/notesSlide20.xml" Id="Re1768ae630f54c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ca07c2b3ad4a94" /><Relationship Type="http://schemas.openxmlformats.org/officeDocument/2006/relationships/notesSlide" Target="/ppt/notesSlides/notesSlide21.xml" Id="Rc91df15686f34e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5ebc8bafd7345d2" /><Relationship Type="http://schemas.openxmlformats.org/officeDocument/2006/relationships/notesSlide" Target="/ppt/notesSlides/notesSlide22.xml" Id="Rdf02f7ba6b924f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81f6c9e128c4300" /><Relationship Type="http://schemas.openxmlformats.org/officeDocument/2006/relationships/notesSlide" Target="/ppt/notesSlides/notesSlide23.xml" Id="Rd36a191f588940f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5e50a8e2f064fc9" /><Relationship Type="http://schemas.openxmlformats.org/officeDocument/2006/relationships/notesSlide" Target="/ppt/notesSlides/notesSlide24.xml" Id="R8af3213012e646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MO</c:v>
          </c:tx>
          <c:spPr>
            <a:ln xmlns:a="http://schemas.openxmlformats.org/drawingml/2006/main" w="38100">
              <a:solidFill>
                <a:srgbClr val="7B2D8E"/>
              </a:solidFill>
              <a:prstDash val="dash"/>
            </a:ln>
          </c:spPr>
          <c:marker>
            <c:symbol val="none"/>
            <c:size val="5"/>
          </c:marker>
          <c:dLbls>
            <c:dLbl>
              <c:idx val="1"/>
              <c:tx>
                <c:rich>
                  <a:bodyPr xmlns:a="http://schemas.openxmlformats.org/drawingml/2006/main"/>
                  <a:lstStyle xmlns:a="http://schemas.openxmlformats.org/drawingml/2006/main"/>
                  <a:p xmlns:a="http://schemas.openxmlformats.org/drawingml/2006/main">
                    <a:r>
                      <a:rPr sz="210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2100" b="1">
                      <a:solidFill>
                        <a:srgbClr val="7B2D8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50</c:v>
                </c:pt>
              </c:numCache>
            </c:numRef>
          </c:xVal>
          <c:yVal>
            <c:numRef>
              <c:f>'Chart Data'!$B$2:$B$3</c:f>
              <c:numCache>
                <c:formatCode>0</c:formatCode>
                <c:ptCount val="2"/>
                <c:pt idx="0">
                  <c:v>50</c:v>
                </c:pt>
                <c:pt idx="1">
                  <c:v>0</c:v>
                </c:pt>
              </c:numCache>
            </c:numRef>
          </c:yVal>
          <c:smooth val="0"/>
        </c:ser>
        <c:ser>
          <c:idx val="1"/>
          <c:order val="1"/>
          <c:tx>
            <c:v>MK</c:v>
          </c:tx>
          <c:spPr>
            <a:ln xmlns:a="http://schemas.openxmlformats.org/drawingml/2006/main" w="38100">
              <a:solidFill>
                <a:srgbClr val="A94D16"/>
              </a:solidFill>
            </a:ln>
          </c:spPr>
          <c:marker>
            <c:symbol val="none"/>
            <c:size val="5"/>
          </c:marker>
          <c:dLbls>
            <c:dLbl>
              <c:idx val="1"/>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60</c:v>
                </c:pt>
              </c:numCache>
            </c:numRef>
          </c:xVal>
          <c:yVal>
            <c:numRef>
              <c:f>'Chart Data'!$D$2:$D$3</c:f>
              <c:numCache>
                <c:formatCode>0</c:formatCode>
                <c:ptCount val="2"/>
                <c:pt idx="0">
                  <c:v>10</c:v>
                </c:pt>
                <c:pt idx="1">
                  <c:v>10</c:v>
                </c:pt>
              </c:numCache>
            </c:numRef>
          </c:yVal>
          <c:smooth val="0"/>
        </c:ser>
        <c:ser>
          <c:idx val="2"/>
          <c:order val="2"/>
          <c:tx>
            <c:v>Hulplijn q</c:v>
          </c:tx>
          <c:spPr>
            <a:ln xmlns:a="http://schemas.openxmlformats.org/drawingml/2006/main" w="19050">
              <a:solidFill>
                <a:srgbClr val="445B6B"/>
              </a:solidFill>
              <a:prstDash val="dash"/>
            </a:ln>
          </c:spPr>
          <c:marker>
            <c:symbol val="none"/>
            <c:size val="5"/>
          </c:marker>
          <c:xVal>
            <c:numRef>
              <c:f>'Chart Data'!$E$2:$E$3</c:f>
              <c:numCache>
                <c:formatCode>General</c:formatCode>
                <c:ptCount val="2"/>
                <c:pt idx="0">
                  <c:v>40</c:v>
                </c:pt>
                <c:pt idx="1">
                  <c:v>40</c:v>
                </c:pt>
              </c:numCache>
            </c:numRef>
          </c:xVal>
          <c:yVal>
            <c:numRef>
              <c:f>'Chart Data'!$F$2:$F$3</c:f>
              <c:numCache>
                <c:formatCode>0</c:formatCode>
                <c:ptCount val="2"/>
                <c:pt idx="0">
                  <c:v>0</c:v>
                </c:pt>
                <c:pt idx="1">
                  <c:v>10</c:v>
                </c:pt>
              </c:numCache>
            </c:numRef>
          </c:yVal>
          <c:smooth val="0"/>
        </c:ser>
        <c:ser>
          <c:idx val="3"/>
          <c:order val="3"/>
          <c:tx>
            <c:v>Hoeveelheidskeuze</c:v>
          </c:tx>
          <c:spPr>
            <a:ln xmlns:a="http://schemas.openxmlformats.org/drawingml/2006/main" w="38100">
              <a:solidFill>
                <a:srgbClr val="183247"/>
              </a:solidFill>
            </a:ln>
          </c:spPr>
          <c:marker>
            <c:symbol val="circle"/>
            <c:size val="9"/>
            <c:spPr>
              <a:solidFill xmlns:a="http://schemas.openxmlformats.org/drawingml/2006/main">
                <a:srgbClr val="183247"/>
              </a:solidFill>
            </c:spPr>
          </c:marker>
          <c:xVal>
            <c:numRef>
              <c:f>'Chart Data'!$G$2:$G$2</c:f>
              <c:numCache>
                <c:formatCode>General</c:formatCode>
                <c:ptCount val="1"/>
                <c:pt idx="0">
                  <c:v>40</c:v>
                </c:pt>
              </c:numCache>
            </c:numRef>
          </c:xVal>
          <c:yVal>
            <c:numRef>
              <c:f>'Chart Data'!$H$2:$H$2</c:f>
              <c:numCache>
                <c:formatCode>0</c:formatCode>
                <c:ptCount val="1"/>
                <c:pt idx="0">
                  <c:v>10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 per sessie</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38100">
              <a:solidFill>
                <a:srgbClr val="17658A"/>
              </a:solidFill>
            </a:ln>
          </c:spPr>
          <c:marker>
            <c:symbol val="none"/>
            <c:size val="5"/>
          </c:marker>
          <c:dLbls>
            <c:dLbl>
              <c:idx val="1"/>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GO = P</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60</c:v>
                </c:pt>
              </c:numCache>
            </c:numRef>
          </c:xVal>
          <c:yVal>
            <c:numRef>
              <c:f>'Chart Data'!$B$2:$B$3</c:f>
              <c:numCache>
                <c:formatCode>0</c:formatCode>
                <c:ptCount val="2"/>
                <c:pt idx="0">
                  <c:v>50</c:v>
                </c:pt>
                <c:pt idx="1">
                  <c:v>20</c:v>
                </c:pt>
              </c:numCache>
            </c:numRef>
          </c:yVal>
          <c:smooth val="0"/>
        </c:ser>
        <c:ser>
          <c:idx val="1"/>
          <c:order val="1"/>
          <c:tx>
            <c:v>MO</c:v>
          </c:tx>
          <c:spPr>
            <a:ln xmlns:a="http://schemas.openxmlformats.org/drawingml/2006/main" w="38100">
              <a:solidFill>
                <a:srgbClr val="7B2D8E"/>
              </a:solidFill>
              <a:prstDash val="dash"/>
            </a:ln>
          </c:spPr>
          <c:marker>
            <c:symbol val="none"/>
            <c:size val="5"/>
          </c:marker>
          <c:dLbls>
            <c:dLbl>
              <c:idx val="1"/>
              <c:tx>
                <c:rich>
                  <a:bodyPr xmlns:a="http://schemas.openxmlformats.org/drawingml/2006/main"/>
                  <a:lstStyle xmlns:a="http://schemas.openxmlformats.org/drawingml/2006/main"/>
                  <a:p xmlns:a="http://schemas.openxmlformats.org/drawingml/2006/main">
                    <a:r>
                      <a:rPr sz="210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2100" b="1">
                      <a:solidFill>
                        <a:srgbClr val="7B2D8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50</c:v>
                </c:pt>
              </c:numCache>
            </c:numRef>
          </c:xVal>
          <c:yVal>
            <c:numRef>
              <c:f>'Chart Data'!$D$2:$D$3</c:f>
              <c:numCache>
                <c:formatCode>0</c:formatCode>
                <c:ptCount val="2"/>
                <c:pt idx="0">
                  <c:v>50</c:v>
                </c:pt>
                <c:pt idx="1">
                  <c:v>0</c:v>
                </c:pt>
              </c:numCache>
            </c:numRef>
          </c:yVal>
          <c:smooth val="0"/>
        </c:ser>
        <c:ser>
          <c:idx val="2"/>
          <c:order val="2"/>
          <c:tx>
            <c:v>MK</c:v>
          </c:tx>
          <c:spPr>
            <a:ln xmlns:a="http://schemas.openxmlformats.org/drawingml/2006/main" w="38100">
              <a:solidFill>
                <a:srgbClr val="A94D16"/>
              </a:solidFill>
            </a:ln>
          </c:spPr>
          <c:marker>
            <c:symbol val="none"/>
            <c:size val="5"/>
          </c:marker>
          <c:dLbls>
            <c:dLbl>
              <c:idx val="1"/>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60</c:v>
                </c:pt>
              </c:numCache>
            </c:numRef>
          </c:xVal>
          <c:yVal>
            <c:numRef>
              <c:f>'Chart Data'!$F$2:$F$3</c:f>
              <c:numCache>
                <c:formatCode>0</c:formatCode>
                <c:ptCount val="2"/>
                <c:pt idx="0">
                  <c:v>10</c:v>
                </c:pt>
                <c:pt idx="1">
                  <c:v>10</c:v>
                </c:pt>
              </c:numCache>
            </c:numRef>
          </c:yVal>
          <c:smooth val="0"/>
        </c:ser>
        <c:ser>
          <c:idx val="3"/>
          <c:order val="3"/>
          <c:tx>
            <c:v>Hulplijn q</c:v>
          </c:tx>
          <c:spPr>
            <a:ln xmlns:a="http://schemas.openxmlformats.org/drawingml/2006/main" w="19050">
              <a:solidFill>
                <a:srgbClr val="445B6B"/>
              </a:solidFill>
              <a:prstDash val="dash"/>
            </a:ln>
          </c:spPr>
          <c:marker>
            <c:symbol val="none"/>
            <c:size val="5"/>
          </c:marker>
          <c:xVal>
            <c:numRef>
              <c:f>'Chart Data'!$G$2:$G$3</c:f>
              <c:numCache>
                <c:formatCode>General</c:formatCode>
                <c:ptCount val="2"/>
                <c:pt idx="0">
                  <c:v>40</c:v>
                </c:pt>
                <c:pt idx="1">
                  <c:v>40</c:v>
                </c:pt>
              </c:numCache>
            </c:numRef>
          </c:xVal>
          <c:yVal>
            <c:numRef>
              <c:f>'Chart Data'!$H$2:$H$3</c:f>
              <c:numCache>
                <c:formatCode>0</c:formatCode>
                <c:ptCount val="2"/>
                <c:pt idx="0">
                  <c:v>0</c:v>
                </c:pt>
                <c:pt idx="1">
                  <c:v>30</c:v>
                </c:pt>
              </c:numCache>
            </c:numRef>
          </c:yVal>
          <c:smooth val="0"/>
        </c:ser>
        <c:ser>
          <c:idx val="4"/>
          <c:order val="4"/>
          <c:tx>
            <c:v>Hulplijn P</c:v>
          </c:tx>
          <c:spPr>
            <a:ln xmlns:a="http://schemas.openxmlformats.org/drawingml/2006/main" w="19050">
              <a:solidFill>
                <a:srgbClr val="445B6B"/>
              </a:solidFill>
              <a:prstDash val="dash"/>
            </a:ln>
          </c:spPr>
          <c:marker>
            <c:symbol val="none"/>
            <c:size val="5"/>
          </c:marker>
          <c:xVal>
            <c:numRef>
              <c:f>'Chart Data'!$I$2:$I$3</c:f>
              <c:numCache>
                <c:formatCode>General</c:formatCode>
                <c:ptCount val="2"/>
                <c:pt idx="0">
                  <c:v>0</c:v>
                </c:pt>
                <c:pt idx="1">
                  <c:v>40</c:v>
                </c:pt>
              </c:numCache>
            </c:numRef>
          </c:xVal>
          <c:yVal>
            <c:numRef>
              <c:f>'Chart Data'!$J$2:$J$3</c:f>
              <c:numCache>
                <c:formatCode>0</c:formatCode>
                <c:ptCount val="2"/>
                <c:pt idx="0">
                  <c:v>30</c:v>
                </c:pt>
                <c:pt idx="1">
                  <c:v>30</c:v>
                </c:pt>
              </c:numCache>
            </c:numRef>
          </c:yVal>
          <c:smooth val="0"/>
        </c:ser>
        <c:ser>
          <c:idx val="5"/>
          <c:order val="5"/>
          <c:tx>
            <c:v>Hoeveelheidskeuze</c:v>
          </c:tx>
          <c:spPr>
            <a:ln xmlns:a="http://schemas.openxmlformats.org/drawingml/2006/main" w="38100">
              <a:solidFill>
                <a:srgbClr val="183247"/>
              </a:solidFill>
            </a:ln>
          </c:spPr>
          <c:marker>
            <c:symbol val="circle"/>
            <c:size val="9"/>
            <c:spPr>
              <a:solidFill xmlns:a="http://schemas.openxmlformats.org/drawingml/2006/main">
                <a:srgbClr val="183247"/>
              </a:solidFill>
            </c:spPr>
          </c:marker>
          <c:xVal>
            <c:numRef>
              <c:f>'Chart Data'!$K$2:$K$2</c:f>
              <c:numCache>
                <c:formatCode>General</c:formatCode>
                <c:ptCount val="1"/>
                <c:pt idx="0">
                  <c:v>40</c:v>
                </c:pt>
              </c:numCache>
            </c:numRef>
          </c:xVal>
          <c:yVal>
            <c:numRef>
              <c:f>'Chart Data'!$L$2:$L$2</c:f>
              <c:numCache>
                <c:formatCode>0</c:formatCode>
                <c:ptCount val="1"/>
                <c:pt idx="0">
                  <c:v>10</c:v>
                </c:pt>
              </c:numCache>
            </c:numRef>
          </c:yVal>
          <c:smooth val="0"/>
        </c:ser>
        <c:ser>
          <c:idx val="6"/>
          <c:order val="6"/>
          <c:tx>
            <c:v>Prijs bij gekozen q</c:v>
          </c:tx>
          <c:spPr>
            <a:ln xmlns:a="http://schemas.openxmlformats.org/drawingml/2006/main" w="38100">
              <a:solidFill>
                <a:srgbClr val="17658A"/>
              </a:solidFill>
            </a:ln>
          </c:spPr>
          <c:marker>
            <c:symbol val="circle"/>
            <c:size val="9"/>
            <c:spPr>
              <a:solidFill xmlns:a="http://schemas.openxmlformats.org/drawingml/2006/main">
                <a:srgbClr val="17658A"/>
              </a:solidFill>
            </c:spPr>
          </c:marker>
          <c:xVal>
            <c:numRef>
              <c:f>'Chart Data'!$M$2:$M$2</c:f>
              <c:numCache>
                <c:formatCode>General</c:formatCode>
                <c:ptCount val="1"/>
                <c:pt idx="0">
                  <c:v>40</c:v>
                </c:pt>
              </c:numCache>
            </c:numRef>
          </c:xVal>
          <c:yVal>
            <c:numRef>
              <c:f>'Chart Data'!$N$2:$N$2</c:f>
              <c:numCache>
                <c:formatCode>0</c:formatCode>
                <c:ptCount val="1"/>
                <c:pt idx="0">
                  <c:v>30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 per sessie</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38100">
              <a:solidFill>
                <a:srgbClr val="17658A"/>
              </a:solidFill>
            </a:ln>
          </c:spPr>
          <c:marker>
            <c:symbol val="none"/>
            <c:size val="5"/>
          </c:marker>
          <c:dLbls>
            <c:dLbl>
              <c:idx val="1"/>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GO = P</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80</c:v>
                </c:pt>
              </c:numCache>
            </c:numRef>
          </c:xVal>
          <c:yVal>
            <c:numRef>
              <c:f>'Chart Data'!$B$2:$B$3</c:f>
              <c:numCache>
                <c:formatCode>0</c:formatCode>
                <c:ptCount val="2"/>
                <c:pt idx="0">
                  <c:v>30</c:v>
                </c:pt>
                <c:pt idx="1">
                  <c:v>10</c:v>
                </c:pt>
              </c:numCache>
            </c:numRef>
          </c:yVal>
          <c:smooth val="0"/>
        </c:ser>
        <c:ser>
          <c:idx val="1"/>
          <c:order val="1"/>
          <c:tx>
            <c:v>MO</c:v>
          </c:tx>
          <c:spPr>
            <a:ln xmlns:a="http://schemas.openxmlformats.org/drawingml/2006/main" w="38100">
              <a:solidFill>
                <a:srgbClr val="7B2D8E"/>
              </a:solidFill>
              <a:prstDash val="dash"/>
            </a:ln>
          </c:spPr>
          <c:marker>
            <c:symbol val="none"/>
            <c:size val="5"/>
          </c:marker>
          <c:dLbls>
            <c:dLbl>
              <c:idx val="1"/>
              <c:tx>
                <c:rich>
                  <a:bodyPr xmlns:a="http://schemas.openxmlformats.org/drawingml/2006/main"/>
                  <a:lstStyle xmlns:a="http://schemas.openxmlformats.org/drawingml/2006/main"/>
                  <a:p xmlns:a="http://schemas.openxmlformats.org/drawingml/2006/main">
                    <a:r>
                      <a:rPr sz="210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2100" b="1">
                      <a:solidFill>
                        <a:srgbClr val="7B2D8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60</c:v>
                </c:pt>
              </c:numCache>
            </c:numRef>
          </c:xVal>
          <c:yVal>
            <c:numRef>
              <c:f>'Chart Data'!$D$2:$D$3</c:f>
              <c:numCache>
                <c:formatCode>0</c:formatCode>
                <c:ptCount val="2"/>
                <c:pt idx="0">
                  <c:v>30</c:v>
                </c:pt>
                <c:pt idx="1">
                  <c:v>0</c:v>
                </c:pt>
              </c:numCache>
            </c:numRef>
          </c:yVal>
          <c:smooth val="0"/>
        </c:ser>
        <c:ser>
          <c:idx val="2"/>
          <c:order val="2"/>
          <c:tx>
            <c:v>MK</c:v>
          </c:tx>
          <c:spPr>
            <a:ln xmlns:a="http://schemas.openxmlformats.org/drawingml/2006/main" w="38100">
              <a:solidFill>
                <a:srgbClr val="A94D16"/>
              </a:solidFill>
            </a:ln>
          </c:spPr>
          <c:marker>
            <c:symbol val="none"/>
            <c:size val="5"/>
          </c:marker>
          <c:dLbls>
            <c:dLbl>
              <c:idx val="1"/>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80</c:v>
                </c:pt>
              </c:numCache>
            </c:numRef>
          </c:xVal>
          <c:yVal>
            <c:numRef>
              <c:f>'Chart Data'!$F$2:$F$3</c:f>
              <c:numCache>
                <c:formatCode>0</c:formatCode>
                <c:ptCount val="2"/>
                <c:pt idx="0">
                  <c:v>6</c:v>
                </c:pt>
                <c:pt idx="1">
                  <c:v>6</c:v>
                </c:pt>
              </c:numCache>
            </c:numRef>
          </c:yVal>
          <c:smooth val="0"/>
        </c:ser>
        <c:ser>
          <c:idx val="3"/>
          <c:order val="3"/>
          <c:tx>
            <c:v>Hulplijn q</c:v>
          </c:tx>
          <c:spPr>
            <a:ln xmlns:a="http://schemas.openxmlformats.org/drawingml/2006/main" w="19050">
              <a:solidFill>
                <a:srgbClr val="445B6B"/>
              </a:solidFill>
              <a:prstDash val="dash"/>
            </a:ln>
          </c:spPr>
          <c:marker>
            <c:symbol val="none"/>
            <c:size val="5"/>
          </c:marker>
          <c:xVal>
            <c:numRef>
              <c:f>'Chart Data'!$G$2:$G$3</c:f>
              <c:numCache>
                <c:formatCode>General</c:formatCode>
                <c:ptCount val="2"/>
                <c:pt idx="0">
                  <c:v>48</c:v>
                </c:pt>
                <c:pt idx="1">
                  <c:v>48</c:v>
                </c:pt>
              </c:numCache>
            </c:numRef>
          </c:xVal>
          <c:yVal>
            <c:numRef>
              <c:f>'Chart Data'!$H$2:$H$3</c:f>
              <c:numCache>
                <c:formatCode>0</c:formatCode>
                <c:ptCount val="2"/>
                <c:pt idx="0">
                  <c:v>0</c:v>
                </c:pt>
                <c:pt idx="1">
                  <c:v>18</c:v>
                </c:pt>
              </c:numCache>
            </c:numRef>
          </c:yVal>
          <c:smooth val="0"/>
        </c:ser>
        <c:ser>
          <c:idx val="4"/>
          <c:order val="4"/>
          <c:tx>
            <c:v>Hulplijn P</c:v>
          </c:tx>
          <c:spPr>
            <a:ln xmlns:a="http://schemas.openxmlformats.org/drawingml/2006/main" w="19050">
              <a:solidFill>
                <a:srgbClr val="445B6B"/>
              </a:solidFill>
              <a:prstDash val="dash"/>
            </a:ln>
          </c:spPr>
          <c:marker>
            <c:symbol val="none"/>
            <c:size val="5"/>
          </c:marker>
          <c:xVal>
            <c:numRef>
              <c:f>'Chart Data'!$I$2:$I$3</c:f>
              <c:numCache>
                <c:formatCode>General</c:formatCode>
                <c:ptCount val="2"/>
                <c:pt idx="0">
                  <c:v>0</c:v>
                </c:pt>
                <c:pt idx="1">
                  <c:v>48</c:v>
                </c:pt>
              </c:numCache>
            </c:numRef>
          </c:xVal>
          <c:yVal>
            <c:numRef>
              <c:f>'Chart Data'!$J$2:$J$3</c:f>
              <c:numCache>
                <c:formatCode>0</c:formatCode>
                <c:ptCount val="2"/>
                <c:pt idx="0">
                  <c:v>18</c:v>
                </c:pt>
                <c:pt idx="1">
                  <c:v>18</c:v>
                </c:pt>
              </c:numCache>
            </c:numRef>
          </c:yVal>
          <c:smooth val="0"/>
        </c:ser>
        <c:ser>
          <c:idx val="5"/>
          <c:order val="5"/>
          <c:tx>
            <c:v>Hoeveelheidskeuze</c:v>
          </c:tx>
          <c:spPr>
            <a:ln xmlns:a="http://schemas.openxmlformats.org/drawingml/2006/main" w="38100">
              <a:solidFill>
                <a:srgbClr val="183247"/>
              </a:solidFill>
            </a:ln>
          </c:spPr>
          <c:marker>
            <c:symbol val="circle"/>
            <c:size val="9"/>
            <c:spPr>
              <a:solidFill xmlns:a="http://schemas.openxmlformats.org/drawingml/2006/main">
                <a:srgbClr val="183247"/>
              </a:solidFill>
            </c:spPr>
          </c:marker>
          <c:xVal>
            <c:numRef>
              <c:f>'Chart Data'!$K$2:$K$2</c:f>
              <c:numCache>
                <c:formatCode>General</c:formatCode>
                <c:ptCount val="1"/>
                <c:pt idx="0">
                  <c:v>48</c:v>
                </c:pt>
              </c:numCache>
            </c:numRef>
          </c:xVal>
          <c:yVal>
            <c:numRef>
              <c:f>'Chart Data'!$L$2:$L$2</c:f>
              <c:numCache>
                <c:formatCode>0</c:formatCode>
                <c:ptCount val="1"/>
                <c:pt idx="0">
                  <c:v>6</c:v>
                </c:pt>
              </c:numCache>
            </c:numRef>
          </c:yVal>
          <c:smooth val="0"/>
        </c:ser>
        <c:ser>
          <c:idx val="6"/>
          <c:order val="6"/>
          <c:tx>
            <c:v>Prijs bij gekozen q</c:v>
          </c:tx>
          <c:spPr>
            <a:ln xmlns:a="http://schemas.openxmlformats.org/drawingml/2006/main" w="38100">
              <a:solidFill>
                <a:srgbClr val="17658A"/>
              </a:solidFill>
            </a:ln>
          </c:spPr>
          <c:marker>
            <c:symbol val="circle"/>
            <c:size val="9"/>
            <c:spPr>
              <a:solidFill xmlns:a="http://schemas.openxmlformats.org/drawingml/2006/main">
                <a:srgbClr val="17658A"/>
              </a:solidFill>
            </c:spPr>
          </c:marker>
          <c:xVal>
            <c:numRef>
              <c:f>'Chart Data'!$M$2:$M$2</c:f>
              <c:numCache>
                <c:formatCode>General</c:formatCode>
                <c:ptCount val="1"/>
                <c:pt idx="0">
                  <c:v>48</c:v>
                </c:pt>
              </c:numCache>
            </c:numRef>
          </c:xVal>
          <c:yVal>
            <c:numRef>
              <c:f>'Chart Data'!$N$2:$N$2</c:f>
              <c:numCache>
                <c:formatCode>0</c:formatCode>
                <c:ptCount val="1"/>
                <c:pt idx="0">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 per maaltijd</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6"/>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(maaltijden per dag)</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3 Marktvormen vergelijken">
            <a:extLst xmlns:a="http://schemas.openxmlformats.org/drawingml/2006/main">
              <a:ext uri="{FF2B5EF4-FFF2-40B4-BE49-F238E27FC236}">
                <a16:creationId xmlns:a16="http://schemas.microsoft.com/office/drawing/2014/main" id="{DC12EBD5-AFFB-43A7-8F79-D86356BD1D3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§4.2.3 Marktvormen vergelijken</a:t>
            </a:r>
          </a:p>
        </p:txBody>
      </p:sp>
      <p:sp>
        <p:nvSpPr>
          <p:cNvPr id="2" name="">
            <a:extLst xmlns:a="http://schemas.openxmlformats.org/drawingml/2006/main">
              <a:ext uri="{FF2B5EF4-FFF2-40B4-BE49-F238E27FC236}">
                <a16:creationId xmlns:a16="http://schemas.microsoft.com/office/drawing/2014/main" id="{0EC88C23-2A20-4E01-9778-82CFB9DBB30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130FF9F1-7EE7-4EA3-8FA5-4600277D1FE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
            <a:extLst xmlns:a="http://schemas.openxmlformats.org/drawingml/2006/main">
              <a:ext uri="{FF2B5EF4-FFF2-40B4-BE49-F238E27FC236}">
                <a16:creationId xmlns:a16="http://schemas.microsoft.com/office/drawing/2014/main" id="{592AE40A-74F5-4BE7-9081-CA13D021A60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DA8D0D20-B25F-40F6-AA38-6699B13699C8}"/>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D32F3E80-323C-4266-AF0A-934C6DC0E9B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AF2B9125-CB30-48AB-BFC7-03EE439F8FF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A642B21-C68A-4CFA-89A9-0699B1062DB1}"/>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3AA426A-1581-400F-8A9C-E5C909B5EDC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6607B1AD-FAAF-4896-B5CC-FBE256BA30AC}"/>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3E92978B-225B-47A0-83BE-12A90BE5E03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886CFF47-16A1-4EEA-908B-E041D24D646F}"/>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5F889544-B2F4-4964-808C-097E13588B89}"/>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EB128E0C-0A63-4391-A288-6DDE8A67660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C30750A5-B9F4-4960-8A3C-1138F06F2C4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3ABD548-E4BB-47C9-A81C-6B346575BF34}"/>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D00DA05F-D1E7-4F59-B117-7E47E8AF585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3EE11B7-7819-47FE-9ACC-1F75561E35F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7">
            <a:extLst xmlns:a="http://schemas.openxmlformats.org/drawingml/2006/main">
              <a:ext uri="{FF2B5EF4-FFF2-40B4-BE49-F238E27FC236}">
                <a16:creationId xmlns:a16="http://schemas.microsoft.com/office/drawing/2014/main" id="{6FB2C136-E5E2-49BF-A547-4C5B405664EF}"/>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C016A54-6F20-4BD0-A1FE-30DF2D5F46D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684DFE86-4DAE-45C0-A69D-182EBCD10EC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F38928BD-5A30-48BE-BD4F-89C8A3427D0F}"/>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Marktvormen onderbouwen,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productverschillen verklaren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en q, P en winst berekenen.</a:t>
            </a:r>
          </a:p>
        </p:txBody>
      </p:sp>
      <p:sp>
        <p:nvSpPr>
          <p:cNvPr id="23" name="">
            <a:extLst xmlns:a="http://schemas.openxmlformats.org/drawingml/2006/main">
              <a:ext uri="{FF2B5EF4-FFF2-40B4-BE49-F238E27FC236}">
                <a16:creationId xmlns:a16="http://schemas.microsoft.com/office/drawing/2014/main" id="{D8963715-6A03-4BF8-A041-8D1E58D5227A}"/>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BF8F3C1-C2F8-4C1D-834E-1553E8870887}"/>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5985CA9-4CCB-4FC0-A045-EDBE26CB29C9}"/>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73 · Opgaven 19 en 20</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20: verkennen, theorie p. 71</a:t>
            </a:r>
          </a:p>
        </p:txBody>
      </p:sp>
      <p:sp>
        <p:nvSpPr>
          <p:cNvPr id="26" name="">
            <a:extLst xmlns:a="http://schemas.openxmlformats.org/drawingml/2006/main">
              <a:ext uri="{FF2B5EF4-FFF2-40B4-BE49-F238E27FC236}">
                <a16:creationId xmlns:a16="http://schemas.microsoft.com/office/drawing/2014/main" id="{C1A752E4-A003-49F1-B3C6-E9AE2DF301F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6CC977D8-0891-49F4-A414-56DF9730BB1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A02ADF2-FE11-43EC-9925-81EBB6562C7E}"/>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§4.2.3 · Opgaven 21 t/m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1231005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en marktvorm onderbouwen">
            <a:extLst xmlns:a="http://schemas.openxmlformats.org/drawingml/2006/main">
              <a:ext uri="{FF2B5EF4-FFF2-40B4-BE49-F238E27FC236}">
                <a16:creationId xmlns:a16="http://schemas.microsoft.com/office/drawing/2014/main" id="{D0B89F6A-EFBA-4BF8-86CE-BF8724CA895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marktvorm onderbouwen</a:t>
            </a:r>
          </a:p>
        </p:txBody>
      </p:sp>
      <p:sp>
        <p:nvSpPr>
          <p:cNvPr id="2" name="">
            <a:extLst xmlns:a="http://schemas.openxmlformats.org/drawingml/2006/main">
              <a:ext uri="{FF2B5EF4-FFF2-40B4-BE49-F238E27FC236}">
                <a16:creationId xmlns:a16="http://schemas.microsoft.com/office/drawing/2014/main" id="{F4B9E195-66EE-4A29-B9CB-E675B77247C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37B14923-BEFC-4C33-9816-3EED781A699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2">
            <a:extLst xmlns:a="http://schemas.openxmlformats.org/drawingml/2006/main">
              <a:ext uri="{FF2B5EF4-FFF2-40B4-BE49-F238E27FC236}">
                <a16:creationId xmlns:a16="http://schemas.microsoft.com/office/drawing/2014/main" id="{EFD50E2E-1193-4F16-AD0D-52CF4B2077F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Aanbieders">
            <a:extLst xmlns:a="http://schemas.openxmlformats.org/drawingml/2006/main">
              <a:ext uri="{FF2B5EF4-FFF2-40B4-BE49-F238E27FC236}">
                <a16:creationId xmlns:a16="http://schemas.microsoft.com/office/drawing/2014/main" id="{CF771D73-A83A-441A-AEF2-86F56F85BC6A}"/>
              </a:ext>
            </a:extLst>
          </p:cNvPr>
          <p:cNvSpPr>
            <a:spLocks xmlns:a="http://schemas.openxmlformats.org/drawingml/2006/main" noGrp="1"/>
          </p:cNvSpPr>
          <p:nvPr/>
        </p:nvSpPr>
        <p:spPr>
          <a:xfrm xmlns:a="http://schemas.openxmlformats.org/drawingml/2006/main">
            <a:off x="571500" y="209550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Aanbieders</a:t>
            </a:r>
          </a:p>
        </p:txBody>
      </p:sp>
      <p:sp>
        <p:nvSpPr>
          <p:cNvPr id="6" name="Hoeveel ondernemingen beslissen zelfstandig?">
            <a:extLst xmlns:a="http://schemas.openxmlformats.org/drawingml/2006/main">
              <a:ext uri="{FF2B5EF4-FFF2-40B4-BE49-F238E27FC236}">
                <a16:creationId xmlns:a16="http://schemas.microsoft.com/office/drawing/2014/main" id="{0B1E0701-85B5-4639-843F-F9B85E5B217E}"/>
              </a:ext>
            </a:extLst>
          </p:cNvPr>
          <p:cNvSpPr>
            <a:spLocks xmlns:a="http://schemas.openxmlformats.org/drawingml/2006/main" noGrp="1"/>
          </p:cNvSpPr>
          <p:nvPr/>
        </p:nvSpPr>
        <p:spPr>
          <a:xfrm xmlns:a="http://schemas.openxmlformats.org/drawingml/2006/main">
            <a:off x="4667250" y="2095500"/>
            <a:ext cx="1000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Hoeveel ondernemingen beslissen zelfstandig?</a:t>
            </a:r>
          </a:p>
        </p:txBody>
      </p:sp>
      <p:sp>
        <p:nvSpPr>
          <p:cNvPr id="7" name="">
            <a:extLst xmlns:a="http://schemas.openxmlformats.org/drawingml/2006/main">
              <a:ext uri="{FF2B5EF4-FFF2-40B4-BE49-F238E27FC236}">
                <a16:creationId xmlns:a16="http://schemas.microsoft.com/office/drawing/2014/main" id="{3AF204F8-2738-4D8A-ADF7-E59475158B62}"/>
              </a:ext>
            </a:extLst>
          </p:cNvPr>
          <p:cNvSpPr>
            <a:spLocks xmlns:a="http://schemas.openxmlformats.org/drawingml/2006/main" noGrp="1"/>
          </p:cNvSpPr>
          <p:nvPr/>
        </p:nvSpPr>
        <p:spPr>
          <a:xfrm xmlns:a="http://schemas.openxmlformats.org/drawingml/2006/main">
            <a:off x="571500" y="3495675"/>
            <a:ext cx="14097000" cy="0"/>
          </a:xfrm>
          <a:prstGeom xmlns:a="http://schemas.openxmlformats.org/drawingml/2006/main" prst="line">
            <a:avLst/>
          </a:prstGeom>
          <a:ln xmlns:a="http://schemas.openxmlformats.org/drawingml/2006/main" w="19050">
            <a:solidFill>
              <a:srgbClr val="C6D2DB"/>
            </a:solidFill>
          </a:ln>
        </p:spPr>
      </p:sp>
      <p:sp>
        <p:nvSpPr>
          <p:cNvPr id="8" name="Product">
            <a:extLst xmlns:a="http://schemas.openxmlformats.org/drawingml/2006/main">
              <a:ext uri="{FF2B5EF4-FFF2-40B4-BE49-F238E27FC236}">
                <a16:creationId xmlns:a16="http://schemas.microsoft.com/office/drawing/2014/main" id="{08040D2A-1B05-4E90-B360-E1EC5BA2A460}"/>
              </a:ext>
            </a:extLst>
          </p:cNvPr>
          <p:cNvSpPr>
            <a:spLocks xmlns:a="http://schemas.openxmlformats.org/drawingml/2006/main" noGrp="1"/>
          </p:cNvSpPr>
          <p:nvPr/>
        </p:nvSpPr>
        <p:spPr>
          <a:xfrm xmlns:a="http://schemas.openxmlformats.org/drawingml/2006/main">
            <a:off x="571500" y="375285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Product</a:t>
            </a:r>
          </a:p>
        </p:txBody>
      </p:sp>
      <p:sp>
        <p:nvSpPr>
          <p:cNvPr id="9" name="Welke alternatieven zien kopers als gelijkwaardig?">
            <a:extLst xmlns:a="http://schemas.openxmlformats.org/drawingml/2006/main">
              <a:ext uri="{FF2B5EF4-FFF2-40B4-BE49-F238E27FC236}">
                <a16:creationId xmlns:a16="http://schemas.microsoft.com/office/drawing/2014/main" id="{89444104-8D48-4400-93DE-3E9F35C3AB6A}"/>
              </a:ext>
            </a:extLst>
          </p:cNvPr>
          <p:cNvSpPr>
            <a:spLocks xmlns:a="http://schemas.openxmlformats.org/drawingml/2006/main" noGrp="1"/>
          </p:cNvSpPr>
          <p:nvPr/>
        </p:nvSpPr>
        <p:spPr>
          <a:xfrm xmlns:a="http://schemas.openxmlformats.org/drawingml/2006/main">
            <a:off x="4667250" y="3752850"/>
            <a:ext cx="1000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Welke alternatieven zien kopers als gelijkwaardig?</a:t>
            </a:r>
          </a:p>
        </p:txBody>
      </p:sp>
      <p:sp>
        <p:nvSpPr>
          <p:cNvPr id="10" name="">
            <a:extLst xmlns:a="http://schemas.openxmlformats.org/drawingml/2006/main">
              <a:ext uri="{FF2B5EF4-FFF2-40B4-BE49-F238E27FC236}">
                <a16:creationId xmlns:a16="http://schemas.microsoft.com/office/drawing/2014/main" id="{48168D17-593E-4E96-B714-CC89D9ABF274}"/>
              </a:ext>
            </a:extLst>
          </p:cNvPr>
          <p:cNvSpPr>
            <a:spLocks xmlns:a="http://schemas.openxmlformats.org/drawingml/2006/main" noGrp="1"/>
          </p:cNvSpPr>
          <p:nvPr/>
        </p:nvSpPr>
        <p:spPr>
          <a:xfrm xmlns:a="http://schemas.openxmlformats.org/drawingml/2006/main">
            <a:off x="571500" y="5153025"/>
            <a:ext cx="14097000" cy="0"/>
          </a:xfrm>
          <a:prstGeom xmlns:a="http://schemas.openxmlformats.org/drawingml/2006/main" prst="line">
            <a:avLst/>
          </a:prstGeom>
          <a:ln xmlns:a="http://schemas.openxmlformats.org/drawingml/2006/main" w="19050">
            <a:solidFill>
              <a:srgbClr val="C6D2DB"/>
            </a:solidFill>
          </a:ln>
        </p:spPr>
      </p:sp>
      <p:sp>
        <p:nvSpPr>
          <p:cNvPr id="11" name="Toetreding">
            <a:extLst xmlns:a="http://schemas.openxmlformats.org/drawingml/2006/main">
              <a:ext uri="{FF2B5EF4-FFF2-40B4-BE49-F238E27FC236}">
                <a16:creationId xmlns:a16="http://schemas.microsoft.com/office/drawing/2014/main" id="{B808A8A4-EF29-4C47-9930-6D043534D0B2}"/>
              </a:ext>
            </a:extLst>
          </p:cNvPr>
          <p:cNvSpPr>
            <a:spLocks xmlns:a="http://schemas.openxmlformats.org/drawingml/2006/main" noGrp="1"/>
          </p:cNvSpPr>
          <p:nvPr/>
        </p:nvSpPr>
        <p:spPr>
          <a:xfrm xmlns:a="http://schemas.openxmlformats.org/drawingml/2006/main">
            <a:off x="571500" y="541020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Toetreding</a:t>
            </a:r>
          </a:p>
        </p:txBody>
      </p:sp>
      <p:sp>
        <p:nvSpPr>
          <p:cNvPr id="12" name="Hoe gemakkelijk kan een nieuwe aanbieder beginnen?">
            <a:extLst xmlns:a="http://schemas.openxmlformats.org/drawingml/2006/main">
              <a:ext uri="{FF2B5EF4-FFF2-40B4-BE49-F238E27FC236}">
                <a16:creationId xmlns:a16="http://schemas.microsoft.com/office/drawing/2014/main" id="{D4CDF653-22A8-42B0-97E1-17737BADDCDB}"/>
              </a:ext>
            </a:extLst>
          </p:cNvPr>
          <p:cNvSpPr>
            <a:spLocks xmlns:a="http://schemas.openxmlformats.org/drawingml/2006/main" noGrp="1"/>
          </p:cNvSpPr>
          <p:nvPr/>
        </p:nvSpPr>
        <p:spPr>
          <a:xfrm xmlns:a="http://schemas.openxmlformats.org/drawingml/2006/main">
            <a:off x="4667250" y="5410200"/>
            <a:ext cx="1000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Hoe gemakkelijk kan een nieuwe aanbieder beginnen?</a:t>
            </a:r>
          </a:p>
        </p:txBody>
      </p:sp>
      <p:sp>
        <p:nvSpPr>
          <p:cNvPr id="13" name="Een bronantwoord noemt de marktvorm én passend bew">
            <a:extLst xmlns:a="http://schemas.openxmlformats.org/drawingml/2006/main">
              <a:ext uri="{FF2B5EF4-FFF2-40B4-BE49-F238E27FC236}">
                <a16:creationId xmlns:a16="http://schemas.microsoft.com/office/drawing/2014/main" id="{DF436743-0DBE-41A8-9CA0-6245B570DC9E}"/>
              </a:ext>
            </a:extLst>
          </p:cNvPr>
          <p:cNvSpPr>
            <a:spLocks xmlns:a="http://schemas.openxmlformats.org/drawingml/2006/main" noGrp="1"/>
          </p:cNvSpPr>
          <p:nvPr/>
        </p:nvSpPr>
        <p:spPr>
          <a:xfrm xmlns:a="http://schemas.openxmlformats.org/drawingml/2006/main">
            <a:off x="571500" y="74104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Een bronantwoord noemt de marktvorm én passend bewijs.</a:t>
            </a:r>
          </a:p>
        </p:txBody>
      </p:sp>
    </p:spTree>
    <p:extLst>
      <p:ext uri="{BB962C8B-B14F-4D97-AF65-F5344CB8AC3E}">
        <p14:creationId xmlns:p14="http://schemas.microsoft.com/office/powerpoint/2010/main" val="19018204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ier marktvormen">
            <a:extLst xmlns:a="http://schemas.openxmlformats.org/drawingml/2006/main">
              <a:ext uri="{FF2B5EF4-FFF2-40B4-BE49-F238E27FC236}">
                <a16:creationId xmlns:a16="http://schemas.microsoft.com/office/drawing/2014/main" id="{F23B31FA-969D-455D-A5B2-90406141602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Vier marktvormen</a:t>
            </a:r>
          </a:p>
        </p:txBody>
      </p:sp>
      <p:sp>
        <p:nvSpPr>
          <p:cNvPr id="2" name="">
            <a:extLst xmlns:a="http://schemas.openxmlformats.org/drawingml/2006/main">
              <a:ext uri="{FF2B5EF4-FFF2-40B4-BE49-F238E27FC236}">
                <a16:creationId xmlns:a16="http://schemas.microsoft.com/office/drawing/2014/main" id="{76E54DC1-1DE0-4368-BFBC-2534364502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531E7AB7-5BE5-4D42-A998-2A4DBAEC864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3">
            <a:extLst xmlns:a="http://schemas.openxmlformats.org/drawingml/2006/main">
              <a:ext uri="{FF2B5EF4-FFF2-40B4-BE49-F238E27FC236}">
                <a16:creationId xmlns:a16="http://schemas.microsoft.com/office/drawing/2014/main" id="{3859CA97-ED35-445D-BE2D-FC0A068DC44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graphicFrame>
        <p:nvGraphicFramePr>
          <p:cNvPr id="12" name=""/>
          <p:cNvGraphicFramePr/>
          <p:nvPr/>
        </p:nvGraphicFramePr>
        <p:xfrm>
          <a:off xmlns:a="http://schemas.openxmlformats.org/drawingml/2006/main" x="571500" y="1943100"/>
          <a:ext xmlns:a="http://schemas.openxmlformats.org/drawingml/2006/main" cx="14097000" cy="4629150"/>
        </p:xfrm>
        <a:graphic xmlns:a="http://schemas.openxmlformats.org/drawingml/2006/main">
          <a:graphicData uri="http://schemas.openxmlformats.org/drawingml/2006/table">
            <a:tbl>
              <a:tblPr/>
              <a:tblGrid>
                <a:gridCol w="4095750"/>
                <a:gridCol w="2667000"/>
                <a:gridCol w="4286250"/>
                <a:gridCol w="3048000"/>
              </a:tblGrid>
              <a:tr h="925830">
                <a:tc>
                  <a:txBody>
                    <a:bodyPr lIns="171450" tIns="95250" rIns="152400" bIns="95250"/>
                    <a:lstStyle/>
                    <a:p>
                      <a:r>
                        <a:rPr sz="2325" b="1">
                          <a:solidFill>
                            <a:srgbClr val="FFFFFF"/>
                          </a:solidFill>
                          <a:latin typeface="Arial"/>
                          <a:ea typeface="Arial"/>
                          <a:cs typeface="Arial"/>
                        </a:rPr>
                        <a:t>Marktvorm</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Aanbieders</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Product</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Toetreding</a:t>
                      </a:r>
                    </a:p>
                  </a:txBody>
                  <a:tcPr marL="91440" marR="91440" marT="45720" marB="45720" anchor="ctr">
                    <a:solidFill>
                      <a:srgbClr val="183247"/>
                    </a:solidFill>
                  </a:tcPr>
                </a:tc>
              </a:tr>
              <a:tr h="925830">
                <a:tc>
                  <a:txBody>
                    <a:bodyPr lIns="171450" tIns="95250" rIns="152400" bIns="95250"/>
                    <a:lstStyle/>
                    <a:p>
                      <a:r>
                        <a:rPr sz="2325" b="0">
                          <a:solidFill>
                            <a:srgbClr val="183247"/>
                          </a:solidFill>
                          <a:latin typeface="Arial"/>
                          <a:ea typeface="Arial"/>
                          <a:cs typeface="Arial"/>
                        </a:rPr>
                        <a:t>Volkomen</a:t>
                      </a:r>
                    </a:p>
                    <a:p>
                      <a:r>
                        <a:rPr sz="2325" b="0">
                          <a:solidFill>
                            <a:srgbClr val="183247"/>
                          </a:solidFill>
                          <a:latin typeface="Arial"/>
                          <a:ea typeface="Arial"/>
                          <a:cs typeface="Arial"/>
                        </a:rPr>
                        <a:t>concurrentie</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Veel kleine</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Homogeen</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Vrij</a:t>
                      </a:r>
                    </a:p>
                  </a:txBody>
                  <a:tcPr marL="91440" marR="91440" marT="45720" marB="45720" anchor="ctr">
                    <a:solidFill>
                      <a:srgbClr val="FFFFFF"/>
                    </a:solidFill>
                  </a:tcPr>
                </a:tc>
              </a:tr>
              <a:tr h="925830">
                <a:tc>
                  <a:txBody>
                    <a:bodyPr lIns="171450" tIns="95250" rIns="152400" bIns="95250"/>
                    <a:lstStyle/>
                    <a:p>
                      <a:r>
                        <a:rPr sz="2325" b="0">
                          <a:solidFill>
                            <a:srgbClr val="183247"/>
                          </a:solidFill>
                          <a:latin typeface="Arial"/>
                          <a:ea typeface="Arial"/>
                          <a:cs typeface="Arial"/>
                        </a:rPr>
                        <a:t>Monopolistische</a:t>
                      </a:r>
                    </a:p>
                    <a:p>
                      <a:r>
                        <a:rPr sz="2325" b="0">
                          <a:solidFill>
                            <a:srgbClr val="183247"/>
                          </a:solidFill>
                          <a:latin typeface="Arial"/>
                          <a:ea typeface="Arial"/>
                          <a:cs typeface="Arial"/>
                        </a:rPr>
                        <a:t>concurrentie</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Veel</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Heterogeen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Relatief</a:t>
                      </a:r>
                    </a:p>
                    <a:p>
                      <a:r>
                        <a:rPr sz="2325" b="0">
                          <a:solidFill>
                            <a:srgbClr val="183247"/>
                          </a:solidFill>
                          <a:latin typeface="Arial"/>
                          <a:ea typeface="Arial"/>
                          <a:cs typeface="Arial"/>
                        </a:rPr>
                        <a:t>eenvoudig</a:t>
                      </a:r>
                    </a:p>
                  </a:txBody>
                  <a:tcPr marL="91440" marR="91440" marT="45720" marB="45720" anchor="ctr">
                    <a:solidFill>
                      <a:srgbClr val="EFF4F7"/>
                    </a:solidFill>
                  </a:tcPr>
                </a:tc>
              </a:tr>
              <a:tr h="925830">
                <a:tc>
                  <a:txBody>
                    <a:bodyPr lIns="171450" tIns="95250" rIns="152400" bIns="95250"/>
                    <a:lstStyle/>
                    <a:p>
                      <a:r>
                        <a:rPr sz="2325" b="0">
                          <a:solidFill>
                            <a:srgbClr val="183247"/>
                          </a:solidFill>
                          <a:latin typeface="Arial"/>
                          <a:ea typeface="Arial"/>
                          <a:cs typeface="Arial"/>
                        </a:rPr>
                        <a:t>Oligopolie</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Enkele grote</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Homogeen of</a:t>
                      </a:r>
                    </a:p>
                    <a:p>
                      <a:r>
                        <a:rPr sz="2325" b="0">
                          <a:solidFill>
                            <a:srgbClr val="183247"/>
                          </a:solidFill>
                          <a:latin typeface="Arial"/>
                          <a:ea typeface="Arial"/>
                          <a:cs typeface="Arial"/>
                        </a:rPr>
                        <a:t>heterogeen</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Vaak</a:t>
                      </a:r>
                    </a:p>
                    <a:p>
                      <a:r>
                        <a:rPr sz="2325" b="0">
                          <a:solidFill>
                            <a:srgbClr val="183247"/>
                          </a:solidFill>
                          <a:latin typeface="Arial"/>
                          <a:ea typeface="Arial"/>
                          <a:cs typeface="Arial"/>
                        </a:rPr>
                        <a:t>belemmerd</a:t>
                      </a:r>
                    </a:p>
                  </a:txBody>
                  <a:tcPr marL="91440" marR="91440" marT="45720" marB="45720" anchor="ctr">
                    <a:solidFill>
                      <a:srgbClr val="FFFFFF"/>
                    </a:solidFill>
                  </a:tcPr>
                </a:tc>
              </a:tr>
              <a:tr h="925830">
                <a:tc>
                  <a:txBody>
                    <a:bodyPr lIns="171450" tIns="95250" rIns="152400" bIns="95250"/>
                    <a:lstStyle/>
                    <a:p>
                      <a:r>
                        <a:rPr sz="2325" b="0">
                          <a:solidFill>
                            <a:srgbClr val="183247"/>
                          </a:solidFill>
                          <a:latin typeface="Arial"/>
                          <a:ea typeface="Arial"/>
                          <a:cs typeface="Arial"/>
                        </a:rPr>
                        <a:t>Monopolie</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Eén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Geen goed alternatief</a:t>
                      </a:r>
                    </a:p>
                    <a:p>
                      <a:r>
                        <a:rPr sz="2325" b="0">
                          <a:solidFill>
                            <a:srgbClr val="183247"/>
                          </a:solidFill>
                          <a:latin typeface="Arial"/>
                          <a:ea typeface="Arial"/>
                          <a:cs typeface="Arial"/>
                        </a:rPr>
                        <a:t>binnen de markt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Sterk</a:t>
                      </a:r>
                    </a:p>
                    <a:p>
                      <a:r>
                        <a:rPr sz="2325" b="0">
                          <a:solidFill>
                            <a:srgbClr val="183247"/>
                          </a:solidFill>
                          <a:latin typeface="Arial"/>
                          <a:ea typeface="Arial"/>
                          <a:cs typeface="Arial"/>
                        </a:rPr>
                        <a:t>belemmerd</a:t>
                      </a:r>
                    </a:p>
                  </a:txBody>
                  <a:tcPr marL="91440" marR="91440" marT="45720" marB="45720" anchor="ctr">
                    <a:solidFill>
                      <a:srgbClr val="EFF4F7"/>
                    </a:solidFill>
                  </a:tcPr>
                </a:tc>
              </a:tr>
            </a:tbl>
          </a:graphicData>
        </a:graphic>
      </p:graphicFrame>
      <p:sp>
        <p:nvSpPr>
          <p:cNvPr id="6" name="Homogeen: gelijkwaardig in de ogen van kopers.">
            <a:extLst xmlns:a="http://schemas.openxmlformats.org/drawingml/2006/main">
              <a:ext uri="{FF2B5EF4-FFF2-40B4-BE49-F238E27FC236}">
                <a16:creationId xmlns:a16="http://schemas.microsoft.com/office/drawing/2014/main" id="{695026A7-AE70-4261-9638-8777A5B3325C}"/>
              </a:ext>
            </a:extLst>
          </p:cNvPr>
          <p:cNvSpPr>
            <a:spLocks xmlns:a="http://schemas.openxmlformats.org/drawingml/2006/main" noGrp="1"/>
          </p:cNvSpPr>
          <p:nvPr/>
        </p:nvSpPr>
        <p:spPr>
          <a:xfrm xmlns:a="http://schemas.openxmlformats.org/drawingml/2006/main">
            <a:off x="571500" y="69246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Homogeen: gelijkwaardig in de ogen van kopers.</a:t>
            </a:r>
          </a:p>
        </p:txBody>
      </p:sp>
      <p:sp>
        <p:nvSpPr>
          <p:cNvPr id="7" name="Heterogeen: kopers zien verschillen in bijvoorbeel">
            <a:extLst xmlns:a="http://schemas.openxmlformats.org/drawingml/2006/main">
              <a:ext uri="{FF2B5EF4-FFF2-40B4-BE49-F238E27FC236}">
                <a16:creationId xmlns:a16="http://schemas.microsoft.com/office/drawing/2014/main" id="{78F85A1A-2106-40A1-81FA-357FD4BF80DF}"/>
              </a:ext>
            </a:extLst>
          </p:cNvPr>
          <p:cNvSpPr>
            <a:spLocks xmlns:a="http://schemas.openxmlformats.org/drawingml/2006/main" noGrp="1"/>
          </p:cNvSpPr>
          <p:nvPr/>
        </p:nvSpPr>
        <p:spPr>
          <a:xfrm xmlns:a="http://schemas.openxmlformats.org/drawingml/2006/main">
            <a:off x="571500" y="748665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Heterogeen: kopers zien verschillen in bijvoorbeeld smaak of service.</a:t>
            </a:r>
          </a:p>
        </p:txBody>
      </p:sp>
    </p:spTree>
    <p:extLst>
      <p:ext uri="{BB962C8B-B14F-4D97-AF65-F5344CB8AC3E}">
        <p14:creationId xmlns:p14="http://schemas.microsoft.com/office/powerpoint/2010/main" val="9508650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otostudio Licht">
            <a:extLst xmlns:a="http://schemas.openxmlformats.org/drawingml/2006/main">
              <a:ext uri="{FF2B5EF4-FFF2-40B4-BE49-F238E27FC236}">
                <a16:creationId xmlns:a16="http://schemas.microsoft.com/office/drawing/2014/main" id="{58BB06CD-0AFC-437F-92CA-0CE7BA27988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Fotostudio Licht</a:t>
            </a:r>
          </a:p>
        </p:txBody>
      </p:sp>
      <p:sp>
        <p:nvSpPr>
          <p:cNvPr id="2" name="">
            <a:extLst xmlns:a="http://schemas.openxmlformats.org/drawingml/2006/main">
              <a:ext uri="{FF2B5EF4-FFF2-40B4-BE49-F238E27FC236}">
                <a16:creationId xmlns:a16="http://schemas.microsoft.com/office/drawing/2014/main" id="{7516162D-3AC0-4C9E-BCBA-29E836B1481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45B415FF-335E-4D3A-B185-18134CF1230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4">
            <a:extLst xmlns:a="http://schemas.openxmlformats.org/drawingml/2006/main">
              <a:ext uri="{FF2B5EF4-FFF2-40B4-BE49-F238E27FC236}">
                <a16:creationId xmlns:a16="http://schemas.microsoft.com/office/drawing/2014/main" id="{D8AACCCE-D9EB-4858-8E92-79E483EB015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9EE91E7B-2531-4CFF-8E3E-5860CE20C5C4}"/>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505075"/>
          <a:ext xmlns:a="http://schemas.openxmlformats.org/drawingml/2006/main" cx="14097000" cy="3095625"/>
        </p:xfrm>
        <a:graphic xmlns:a="http://schemas.openxmlformats.org/drawingml/2006/main">
          <a:graphicData uri="http://schemas.openxmlformats.org/drawingml/2006/table">
            <a:tbl>
              <a:tblPr/>
              <a:tblGrid>
                <a:gridCol w="8572500"/>
                <a:gridCol w="5524500"/>
              </a:tblGrid>
              <a:tr h="773906">
                <a:tc>
                  <a:txBody>
                    <a:bodyPr lIns="171450" tIns="95250" rIns="152400" bIns="95250"/>
                    <a:lstStyle/>
                    <a:p>
                      <a:r>
                        <a:rPr sz="2475" b="1">
                          <a:solidFill>
                            <a:srgbClr val="FFFFFF"/>
                          </a:solidFill>
                          <a:latin typeface="Arial"/>
                          <a:ea typeface="Arial"/>
                          <a:cs typeface="Arial"/>
                        </a:rPr>
                        <a:t>Gegeven in deze oefencasus</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Betekenis</a:t>
                      </a:r>
                    </a:p>
                  </a:txBody>
                  <a:tcPr marL="91440" marR="91440" marT="45720" marB="45720" anchor="ctr">
                    <a:solidFill>
                      <a:srgbClr val="183247"/>
                    </a:solidFill>
                  </a:tcPr>
                </a:tc>
              </a:tr>
              <a:tr h="773906">
                <a:tc>
                  <a:txBody>
                    <a:bodyPr lIns="171450" tIns="95250" rIns="152400" bIns="95250"/>
                    <a:lstStyle/>
                    <a:p>
                      <a:r>
                        <a:rPr sz="2475" b="0">
                          <a:solidFill>
                            <a:srgbClr val="183247"/>
                          </a:solidFill>
                          <a:latin typeface="Arial"/>
                          <a:ea typeface="Arial"/>
                          <a:cs typeface="Arial"/>
                        </a:rPr>
                        <a:t>Veel onafhankelijke fotostudio’s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Veel zelfstandige aanbieders</a:t>
                      </a:r>
                    </a:p>
                  </a:txBody>
                  <a:tcPr marL="91440" marR="91440" marT="45720" marB="45720" anchor="ctr">
                    <a:solidFill>
                      <a:srgbClr val="FFFFFF"/>
                    </a:solidFill>
                  </a:tcPr>
                </a:tc>
              </a:tr>
              <a:tr h="773906">
                <a:tc>
                  <a:txBody>
                    <a:bodyPr lIns="171450" tIns="95250" rIns="152400" bIns="95250"/>
                    <a:lstStyle/>
                    <a:p>
                      <a:r>
                        <a:rPr sz="2475" b="0">
                          <a:solidFill>
                            <a:srgbClr val="183247"/>
                          </a:solidFill>
                          <a:latin typeface="Arial"/>
                          <a:ea typeface="Arial"/>
                          <a:cs typeface="Arial"/>
                        </a:rPr>
                        <a:t>Verschillen in stijl, locatie en service</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Heterogene diensten</a:t>
                      </a:r>
                    </a:p>
                  </a:txBody>
                  <a:tcPr marL="91440" marR="91440" marT="45720" marB="45720" anchor="ctr">
                    <a:solidFill>
                      <a:srgbClr val="EFF4F7"/>
                    </a:solidFill>
                  </a:tcPr>
                </a:tc>
              </a:tr>
              <a:tr h="773906">
                <a:tc>
                  <a:txBody>
                    <a:bodyPr lIns="171450" tIns="95250" rIns="152400" bIns="95250"/>
                    <a:lstStyle/>
                    <a:p>
                      <a:r>
                        <a:rPr sz="2475" b="0">
                          <a:solidFill>
                            <a:srgbClr val="183247"/>
                          </a:solidFill>
                          <a:latin typeface="Arial"/>
                          <a:ea typeface="Arial"/>
                          <a:cs typeface="Arial"/>
                        </a:rPr>
                        <a:t>Een nieuwe studio kan relatief eenvoudig beginnen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Relatief eenvoudige toetreding</a:t>
                      </a:r>
                    </a:p>
                  </a:txBody>
                  <a:tcPr marL="91440" marR="91440" marT="45720" marB="45720" anchor="ctr">
                    <a:solidFill>
                      <a:srgbClr val="FFFFFF"/>
                    </a:solidFill>
                  </a:tcPr>
                </a:tc>
              </a:tr>
            </a:tbl>
          </a:graphicData>
        </a:graphic>
      </p:graphicFrame>
      <p:sp>
        <p:nvSpPr>
          <p:cNvPr id="7" name="Monopolistische concurrentie">
            <a:extLst xmlns:a="http://schemas.openxmlformats.org/drawingml/2006/main">
              <a:ext uri="{FF2B5EF4-FFF2-40B4-BE49-F238E27FC236}">
                <a16:creationId xmlns:a16="http://schemas.microsoft.com/office/drawing/2014/main" id="{4274DD96-D100-43E2-AD82-AE6BD985617C}"/>
              </a:ext>
            </a:extLst>
          </p:cNvPr>
          <p:cNvSpPr>
            <a:spLocks xmlns:a="http://schemas.openxmlformats.org/drawingml/2006/main" noGrp="1"/>
          </p:cNvSpPr>
          <p:nvPr/>
        </p:nvSpPr>
        <p:spPr>
          <a:xfrm xmlns:a="http://schemas.openxmlformats.org/drawingml/2006/main">
            <a:off x="571500" y="60674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Monopolistische concurrentie</a:t>
            </a:r>
          </a:p>
        </p:txBody>
      </p:sp>
      <p:sp>
        <p:nvSpPr>
          <p:cNvPr id="8" name="Licht kan een eigen prijs vragen. Klanten hebben a">
            <a:extLst xmlns:a="http://schemas.openxmlformats.org/drawingml/2006/main">
              <a:ext uri="{FF2B5EF4-FFF2-40B4-BE49-F238E27FC236}">
                <a16:creationId xmlns:a16="http://schemas.microsoft.com/office/drawing/2014/main" id="{1BB68B1C-E4F0-4387-8D25-E22A490F2028}"/>
              </a:ext>
            </a:extLst>
          </p:cNvPr>
          <p:cNvSpPr>
            <a:spLocks xmlns:a="http://schemas.openxmlformats.org/drawingml/2006/main" noGrp="1"/>
          </p:cNvSpPr>
          <p:nvPr/>
        </p:nvSpPr>
        <p:spPr>
          <a:xfrm xmlns:a="http://schemas.openxmlformats.org/drawingml/2006/main">
            <a:off x="571500" y="713422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Licht kan een eigen prijs vragen. Klanten hebben alternatieven.</a:t>
            </a:r>
          </a:p>
        </p:txBody>
      </p:sp>
    </p:spTree>
    <p:extLst>
      <p:ext uri="{BB962C8B-B14F-4D97-AF65-F5344CB8AC3E}">
        <p14:creationId xmlns:p14="http://schemas.microsoft.com/office/powerpoint/2010/main" val="4824145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t gegeven model van Licht">
            <a:extLst xmlns:a="http://schemas.openxmlformats.org/drawingml/2006/main">
              <a:ext uri="{FF2B5EF4-FFF2-40B4-BE49-F238E27FC236}">
                <a16:creationId xmlns:a16="http://schemas.microsoft.com/office/drawing/2014/main" id="{9507359F-AB2D-487C-B8BE-3416434160C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gegeven model van Licht</a:t>
            </a:r>
          </a:p>
        </p:txBody>
      </p:sp>
      <p:sp>
        <p:nvSpPr>
          <p:cNvPr id="2" name="">
            <a:extLst xmlns:a="http://schemas.openxmlformats.org/drawingml/2006/main">
              <a:ext uri="{FF2B5EF4-FFF2-40B4-BE49-F238E27FC236}">
                <a16:creationId xmlns:a16="http://schemas.microsoft.com/office/drawing/2014/main" id="{A31B4790-8833-4F9D-B9AD-6769D33CE4E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39A9B012-11CA-4DCA-80D4-1203F6B0DDA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5">
            <a:extLst xmlns:a="http://schemas.openxmlformats.org/drawingml/2006/main">
              <a:ext uri="{FF2B5EF4-FFF2-40B4-BE49-F238E27FC236}">
                <a16:creationId xmlns:a16="http://schemas.microsoft.com/office/drawing/2014/main" id="{FB144AF3-3C00-4AD1-BA07-10B14378DCD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E9CD3E3A-0B08-4BBF-8AED-B10480510D41}"/>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Uitlegvoorbeeld — niet uit het boek</a:t>
            </a:r>
          </a:p>
        </p:txBody>
      </p:sp>
      <p:sp>
        <p:nvSpPr>
          <p:cNvPr id="6" name="Vraag voor Licht">
            <a:extLst xmlns:a="http://schemas.openxmlformats.org/drawingml/2006/main">
              <a:ext uri="{FF2B5EF4-FFF2-40B4-BE49-F238E27FC236}">
                <a16:creationId xmlns:a16="http://schemas.microsoft.com/office/drawing/2014/main" id="{86798120-5507-4276-9C76-738C2CA6D5BA}"/>
              </a:ext>
            </a:extLst>
          </p:cNvPr>
          <p:cNvSpPr>
            <a:spLocks xmlns:a="http://schemas.openxmlformats.org/drawingml/2006/main" noGrp="1"/>
          </p:cNvSpPr>
          <p:nvPr/>
        </p:nvSpPr>
        <p:spPr>
          <a:xfrm xmlns:a="http://schemas.openxmlformats.org/drawingml/2006/main">
            <a:off x="571500" y="250507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Vraag voor Licht</a:t>
            </a:r>
          </a:p>
        </p:txBody>
      </p:sp>
      <p:sp>
        <p:nvSpPr>
          <p:cNvPr id="7" name="P = 50 − 0,50q">
            <a:extLst xmlns:a="http://schemas.openxmlformats.org/drawingml/2006/main">
              <a:ext uri="{FF2B5EF4-FFF2-40B4-BE49-F238E27FC236}">
                <a16:creationId xmlns:a16="http://schemas.microsoft.com/office/drawing/2014/main" id="{679FCCF1-3FF7-49BA-9467-E6F3ABA854F2}"/>
              </a:ext>
            </a:extLst>
          </p:cNvPr>
          <p:cNvSpPr>
            <a:spLocks xmlns:a="http://schemas.openxmlformats.org/drawingml/2006/main" noGrp="1"/>
          </p:cNvSpPr>
          <p:nvPr/>
        </p:nvSpPr>
        <p:spPr>
          <a:xfrm xmlns:a="http://schemas.openxmlformats.org/drawingml/2006/main">
            <a:off x="6000750" y="2505075"/>
            <a:ext cx="866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 = 50 − 0,50q</a:t>
            </a:r>
          </a:p>
        </p:txBody>
      </p:sp>
      <p:sp>
        <p:nvSpPr>
          <p:cNvPr id="8" name="">
            <a:extLst xmlns:a="http://schemas.openxmlformats.org/drawingml/2006/main">
              <a:ext uri="{FF2B5EF4-FFF2-40B4-BE49-F238E27FC236}">
                <a16:creationId xmlns:a16="http://schemas.microsoft.com/office/drawing/2014/main" id="{9DC4DF92-61A9-4B10-A981-1BE4FF6D1DE7}"/>
              </a:ext>
            </a:extLst>
          </p:cNvPr>
          <p:cNvSpPr>
            <a:spLocks xmlns:a="http://schemas.openxmlformats.org/drawingml/2006/main" noGrp="1"/>
          </p:cNvSpPr>
          <p:nvPr/>
        </p:nvSpPr>
        <p:spPr>
          <a:xfrm xmlns:a="http://schemas.openxmlformats.org/drawingml/2006/main">
            <a:off x="571500" y="3552825"/>
            <a:ext cx="14097000" cy="0"/>
          </a:xfrm>
          <a:prstGeom xmlns:a="http://schemas.openxmlformats.org/drawingml/2006/main" prst="line">
            <a:avLst/>
          </a:prstGeom>
          <a:ln xmlns:a="http://schemas.openxmlformats.org/drawingml/2006/main" w="19050">
            <a:solidFill>
              <a:srgbClr val="C6D2DB"/>
            </a:solidFill>
          </a:ln>
        </p:spPr>
      </p:sp>
      <p:sp>
        <p:nvSpPr>
          <p:cNvPr id="9" name="Totale kosten">
            <a:extLst xmlns:a="http://schemas.openxmlformats.org/drawingml/2006/main">
              <a:ext uri="{FF2B5EF4-FFF2-40B4-BE49-F238E27FC236}">
                <a16:creationId xmlns:a16="http://schemas.microsoft.com/office/drawing/2014/main" id="{13555127-2BA2-438D-9C85-AF160FA700F7}"/>
              </a:ext>
            </a:extLst>
          </p:cNvPr>
          <p:cNvSpPr>
            <a:spLocks xmlns:a="http://schemas.openxmlformats.org/drawingml/2006/main" noGrp="1"/>
          </p:cNvSpPr>
          <p:nvPr/>
        </p:nvSpPr>
        <p:spPr>
          <a:xfrm xmlns:a="http://schemas.openxmlformats.org/drawingml/2006/main">
            <a:off x="571500" y="3810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Totale kosten</a:t>
            </a:r>
          </a:p>
        </p:txBody>
      </p:sp>
      <p:sp>
        <p:nvSpPr>
          <p:cNvPr id="10" name="TK = 180 + 10q">
            <a:extLst xmlns:a="http://schemas.openxmlformats.org/drawingml/2006/main">
              <a:ext uri="{FF2B5EF4-FFF2-40B4-BE49-F238E27FC236}">
                <a16:creationId xmlns:a16="http://schemas.microsoft.com/office/drawing/2014/main" id="{C2D89C26-5341-46CB-85F2-201FAA8999BD}"/>
              </a:ext>
            </a:extLst>
          </p:cNvPr>
          <p:cNvSpPr>
            <a:spLocks xmlns:a="http://schemas.openxmlformats.org/drawingml/2006/main" noGrp="1"/>
          </p:cNvSpPr>
          <p:nvPr/>
        </p:nvSpPr>
        <p:spPr>
          <a:xfrm xmlns:a="http://schemas.openxmlformats.org/drawingml/2006/main">
            <a:off x="6000750" y="3810000"/>
            <a:ext cx="866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TK = 180 + 10q</a:t>
            </a:r>
          </a:p>
        </p:txBody>
      </p:sp>
      <p:sp>
        <p:nvSpPr>
          <p:cNvPr id="11" name="">
            <a:extLst xmlns:a="http://schemas.openxmlformats.org/drawingml/2006/main">
              <a:ext uri="{FF2B5EF4-FFF2-40B4-BE49-F238E27FC236}">
                <a16:creationId xmlns:a16="http://schemas.microsoft.com/office/drawing/2014/main" id="{A9B03F6D-F846-4359-8D51-79231075ED62}"/>
              </a:ext>
            </a:extLst>
          </p:cNvPr>
          <p:cNvSpPr>
            <a:spLocks xmlns:a="http://schemas.openxmlformats.org/drawingml/2006/main" noGrp="1"/>
          </p:cNvSpPr>
          <p:nvPr/>
        </p:nvSpPr>
        <p:spPr>
          <a:xfrm xmlns:a="http://schemas.openxmlformats.org/drawingml/2006/main">
            <a:off x="571500" y="4857750"/>
            <a:ext cx="14097000" cy="0"/>
          </a:xfrm>
          <a:prstGeom xmlns:a="http://schemas.openxmlformats.org/drawingml/2006/main" prst="line">
            <a:avLst/>
          </a:prstGeom>
          <a:ln xmlns:a="http://schemas.openxmlformats.org/drawingml/2006/main" w="19050">
            <a:solidFill>
              <a:srgbClr val="C6D2DB"/>
            </a:solidFill>
          </a:ln>
        </p:spPr>
      </p:sp>
      <p:sp>
        <p:nvSpPr>
          <p:cNvPr id="12" name="Haalbare productie">
            <a:extLst xmlns:a="http://schemas.openxmlformats.org/drawingml/2006/main">
              <a:ext uri="{FF2B5EF4-FFF2-40B4-BE49-F238E27FC236}">
                <a16:creationId xmlns:a16="http://schemas.microsoft.com/office/drawing/2014/main" id="{7442EDD8-EF7A-46E7-BB93-BA5CC50DBDC0}"/>
              </a:ext>
            </a:extLst>
          </p:cNvPr>
          <p:cNvSpPr>
            <a:spLocks xmlns:a="http://schemas.openxmlformats.org/drawingml/2006/main" noGrp="1"/>
          </p:cNvSpPr>
          <p:nvPr/>
        </p:nvSpPr>
        <p:spPr>
          <a:xfrm xmlns:a="http://schemas.openxmlformats.org/drawingml/2006/main">
            <a:off x="571500" y="51149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Haalbare productie</a:t>
            </a:r>
          </a:p>
        </p:txBody>
      </p:sp>
      <p:sp>
        <p:nvSpPr>
          <p:cNvPr id="13" name="0 ≤ q ≤ 60 sessies per week">
            <a:extLst xmlns:a="http://schemas.openxmlformats.org/drawingml/2006/main">
              <a:ext uri="{FF2B5EF4-FFF2-40B4-BE49-F238E27FC236}">
                <a16:creationId xmlns:a16="http://schemas.microsoft.com/office/drawing/2014/main" id="{F193AC9D-AC44-4419-9CAF-305B65486282}"/>
              </a:ext>
            </a:extLst>
          </p:cNvPr>
          <p:cNvSpPr>
            <a:spLocks xmlns:a="http://schemas.openxmlformats.org/drawingml/2006/main" noGrp="1"/>
          </p:cNvSpPr>
          <p:nvPr/>
        </p:nvSpPr>
        <p:spPr>
          <a:xfrm xmlns:a="http://schemas.openxmlformats.org/drawingml/2006/main">
            <a:off x="6000750" y="5114925"/>
            <a:ext cx="866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0 ≤ q ≤ 60 sessies per week</a:t>
            </a:r>
          </a:p>
        </p:txBody>
      </p:sp>
      <p:sp>
        <p:nvSpPr>
          <p:cNvPr id="14" name="P: € per sessie. TK: € per week. Vaste kosten blij">
            <a:extLst xmlns:a="http://schemas.openxmlformats.org/drawingml/2006/main">
              <a:ext uri="{FF2B5EF4-FFF2-40B4-BE49-F238E27FC236}">
                <a16:creationId xmlns:a16="http://schemas.microsoft.com/office/drawing/2014/main" id="{F80CCE69-BB1C-4D50-B4A1-088DDCA8A305}"/>
              </a:ext>
            </a:extLst>
          </p:cNvPr>
          <p:cNvSpPr>
            <a:spLocks xmlns:a="http://schemas.openxmlformats.org/drawingml/2006/main" noGrp="1"/>
          </p:cNvSpPr>
          <p:nvPr/>
        </p:nvSpPr>
        <p:spPr>
          <a:xfrm xmlns:a="http://schemas.openxmlformats.org/drawingml/2006/main">
            <a:off x="571500" y="66770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P: € per sessie. TK: € per week. Vaste kosten blijven bij q = 0.</a:t>
            </a:r>
          </a:p>
        </p:txBody>
      </p:sp>
      <p:sp>
        <p:nvSpPr>
          <p:cNvPr id="15" name="Uniforme prijs. Concurrenten en overige vraagfacto">
            <a:extLst xmlns:a="http://schemas.openxmlformats.org/drawingml/2006/main">
              <a:ext uri="{FF2B5EF4-FFF2-40B4-BE49-F238E27FC236}">
                <a16:creationId xmlns:a16="http://schemas.microsoft.com/office/drawing/2014/main" id="{AFC83C5E-F5F9-491C-94F5-F51BFCDFAAAF}"/>
              </a:ext>
            </a:extLst>
          </p:cNvPr>
          <p:cNvSpPr>
            <a:spLocks xmlns:a="http://schemas.openxmlformats.org/drawingml/2006/main" noGrp="1"/>
          </p:cNvSpPr>
          <p:nvPr/>
        </p:nvSpPr>
        <p:spPr>
          <a:xfrm xmlns:a="http://schemas.openxmlformats.org/drawingml/2006/main">
            <a:off x="571500" y="73628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Uniforme prijs. Concurrenten en overige vraagfactoren blijven gelijk.</a:t>
            </a:r>
          </a:p>
        </p:txBody>
      </p:sp>
    </p:spTree>
    <p:extLst>
      <p:ext uri="{BB962C8B-B14F-4D97-AF65-F5344CB8AC3E}">
        <p14:creationId xmlns:p14="http://schemas.microsoft.com/office/powerpoint/2010/main" val="17562379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brengsten en marginale kosten">
            <a:extLst xmlns:a="http://schemas.openxmlformats.org/drawingml/2006/main">
              <a:ext uri="{FF2B5EF4-FFF2-40B4-BE49-F238E27FC236}">
                <a16:creationId xmlns:a16="http://schemas.microsoft.com/office/drawing/2014/main" id="{6203F297-2F13-4A35-8586-2338B2F186A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Opbrengsten en marginale kosten</a:t>
            </a:r>
          </a:p>
        </p:txBody>
      </p:sp>
      <p:sp>
        <p:nvSpPr>
          <p:cNvPr id="2" name="">
            <a:extLst xmlns:a="http://schemas.openxmlformats.org/drawingml/2006/main">
              <a:ext uri="{FF2B5EF4-FFF2-40B4-BE49-F238E27FC236}">
                <a16:creationId xmlns:a16="http://schemas.microsoft.com/office/drawing/2014/main" id="{9910065B-6D2B-4704-ADFC-B7653B7318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DB1C0AD5-372D-41C3-AB6C-4F626ABBCDD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6">
            <a:extLst xmlns:a="http://schemas.openxmlformats.org/drawingml/2006/main">
              <a:ext uri="{FF2B5EF4-FFF2-40B4-BE49-F238E27FC236}">
                <a16:creationId xmlns:a16="http://schemas.microsoft.com/office/drawing/2014/main" id="{A48075B7-EEA0-4C58-9763-2FD25DE802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B7B25F11-851C-4A06-BB12-F9BC6E4712BC}"/>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57475"/>
          <a:ext xmlns:a="http://schemas.openxmlformats.org/drawingml/2006/main" cx="14097000" cy="3114675"/>
        </p:xfrm>
        <a:graphic xmlns:a="http://schemas.openxmlformats.org/drawingml/2006/main">
          <a:graphicData uri="http://schemas.openxmlformats.org/drawingml/2006/table">
            <a:tbl>
              <a:tblPr/>
              <a:tblGrid>
                <a:gridCol w="3238500"/>
                <a:gridCol w="7810500"/>
                <a:gridCol w="3048000"/>
              </a:tblGrid>
              <a:tr h="778669">
                <a:tc>
                  <a:txBody>
                    <a:bodyPr lIns="171450" tIns="95250" rIns="152400" bIns="95250"/>
                    <a:lstStyle/>
                    <a:p>
                      <a:r>
                        <a:rPr sz="2475" b="1">
                          <a:solidFill>
                            <a:srgbClr val="FFFFFF"/>
                          </a:solidFill>
                          <a:latin typeface="Arial"/>
                          <a:ea typeface="Arial"/>
                          <a:cs typeface="Arial"/>
                        </a:rPr>
                        <a:t>Stap</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Eenheid</a:t>
                      </a:r>
                    </a:p>
                  </a:txBody>
                  <a:tcPr marL="91440" marR="91440" marT="45720" marB="45720" anchor="ctr">
                    <a:solidFill>
                      <a:srgbClr val="183247"/>
                    </a:solidFill>
                  </a:tcPr>
                </a:tc>
              </a:tr>
              <a:tr h="778669">
                <a:tc>
                  <a:txBody>
                    <a:bodyPr lIns="171450" tIns="95250" rIns="152400" bIns="95250"/>
                    <a:lstStyle/>
                    <a:p>
                      <a:r>
                        <a:rPr sz="2475" b="0">
                          <a:solidFill>
                            <a:srgbClr val="183247"/>
                          </a:solidFill>
                          <a:latin typeface="Arial"/>
                          <a:ea typeface="Arial"/>
                          <a:cs typeface="Arial"/>
                        </a:rPr>
                        <a:t>TO = P × q</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(50 − 0,50q)q = 50q − 0,50q²</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per week</a:t>
                      </a:r>
                    </a:p>
                  </a:txBody>
                  <a:tcPr marL="91440" marR="91440" marT="45720" marB="45720" anchor="ctr">
                    <a:solidFill>
                      <a:srgbClr val="FFFFFF"/>
                    </a:solidFill>
                  </a:tcPr>
                </a:tc>
              </a:tr>
              <a:tr h="778669">
                <a:tc>
                  <a:txBody>
                    <a:bodyPr lIns="171450" tIns="95250" rIns="152400" bIns="95250"/>
                    <a:lstStyle/>
                    <a:p>
                      <a:r>
                        <a:rPr sz="2475" b="0">
                          <a:solidFill>
                            <a:srgbClr val="183247"/>
                          </a:solidFill>
                          <a:latin typeface="Arial"/>
                          <a:ea typeface="Arial"/>
                          <a:cs typeface="Arial"/>
                        </a:rPr>
                        <a:t>MO uit TO</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MO = 50 − 1,00q</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per sessie</a:t>
                      </a:r>
                    </a:p>
                  </a:txBody>
                  <a:tcPr marL="91440" marR="91440" marT="45720" marB="45720" anchor="ctr">
                    <a:solidFill>
                      <a:srgbClr val="EFF4F7"/>
                    </a:solidFill>
                  </a:tcPr>
                </a:tc>
              </a:tr>
              <a:tr h="778669">
                <a:tc>
                  <a:txBody>
                    <a:bodyPr lIns="171450" tIns="95250" rIns="152400" bIns="95250"/>
                    <a:lstStyle/>
                    <a:p>
                      <a:r>
                        <a:rPr sz="2475" b="0">
                          <a:solidFill>
                            <a:srgbClr val="183247"/>
                          </a:solidFill>
                          <a:latin typeface="Arial"/>
                          <a:ea typeface="Arial"/>
                          <a:cs typeface="Arial"/>
                        </a:rPr>
                        <a:t>MK uit TK</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TK = 180 + 10q geeft MK = 10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per sessie</a:t>
                      </a:r>
                    </a:p>
                  </a:txBody>
                  <a:tcPr marL="91440" marR="91440" marT="45720" marB="45720" anchor="ctr">
                    <a:solidFill>
                      <a:srgbClr val="FFFFFF"/>
                    </a:solidFill>
                  </a:tcPr>
                </a:tc>
              </a:tr>
            </a:tbl>
          </a:graphicData>
        </a:graphic>
      </p:graphicFrame>
      <p:sp>
        <p:nvSpPr>
          <p:cNvPr id="7" name="Een lagere uniforme prijs geldt voor alle verkocht">
            <a:extLst xmlns:a="http://schemas.openxmlformats.org/drawingml/2006/main">
              <a:ext uri="{FF2B5EF4-FFF2-40B4-BE49-F238E27FC236}">
                <a16:creationId xmlns:a16="http://schemas.microsoft.com/office/drawing/2014/main" id="{BDC91277-1242-4775-84B3-F8DC3617B45B}"/>
              </a:ext>
            </a:extLst>
          </p:cNvPr>
          <p:cNvSpPr>
            <a:spLocks xmlns:a="http://schemas.openxmlformats.org/drawingml/2006/main" noGrp="1"/>
          </p:cNvSpPr>
          <p:nvPr/>
        </p:nvSpPr>
        <p:spPr>
          <a:xfrm xmlns:a="http://schemas.openxmlformats.org/drawingml/2006/main">
            <a:off x="571500" y="62293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lagere uniforme prijs geldt voor alle verkochte sessies.</a:t>
            </a:r>
          </a:p>
        </p:txBody>
      </p:sp>
      <p:sp>
        <p:nvSpPr>
          <p:cNvPr id="8" name="Daarom ligt MO bij q &gt; 0 onder P.">
            <a:extLst xmlns:a="http://schemas.openxmlformats.org/drawingml/2006/main">
              <a:ext uri="{FF2B5EF4-FFF2-40B4-BE49-F238E27FC236}">
                <a16:creationId xmlns:a16="http://schemas.microsoft.com/office/drawing/2014/main" id="{A70D96E3-9923-4E7A-8FCE-A3A650D6F5CB}"/>
              </a:ext>
            </a:extLst>
          </p:cNvPr>
          <p:cNvSpPr>
            <a:spLocks xmlns:a="http://schemas.openxmlformats.org/drawingml/2006/main" noGrp="1"/>
          </p:cNvSpPr>
          <p:nvPr/>
        </p:nvSpPr>
        <p:spPr>
          <a:xfrm xmlns:a="http://schemas.openxmlformats.org/drawingml/2006/main">
            <a:off x="571500" y="7400925"/>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Daarom ligt MO bij q &gt; 0 onder P.</a:t>
            </a:r>
          </a:p>
        </p:txBody>
      </p:sp>
    </p:spTree>
    <p:extLst>
      <p:ext uri="{BB962C8B-B14F-4D97-AF65-F5344CB8AC3E}">
        <p14:creationId xmlns:p14="http://schemas.microsoft.com/office/powerpoint/2010/main" val="5356658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icht: eerst de hoeveelheid">
            <a:extLst xmlns:a="http://schemas.openxmlformats.org/drawingml/2006/main">
              <a:ext uri="{FF2B5EF4-FFF2-40B4-BE49-F238E27FC236}">
                <a16:creationId xmlns:a16="http://schemas.microsoft.com/office/drawing/2014/main" id="{CEEA043E-C7A0-4C3D-AE33-BEDA5D75170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Licht: eerst de hoeveelheid</a:t>
            </a:r>
          </a:p>
        </p:txBody>
      </p:sp>
      <p:sp>
        <p:nvSpPr>
          <p:cNvPr id="2" name="">
            <a:extLst xmlns:a="http://schemas.openxmlformats.org/drawingml/2006/main">
              <a:ext uri="{FF2B5EF4-FFF2-40B4-BE49-F238E27FC236}">
                <a16:creationId xmlns:a16="http://schemas.microsoft.com/office/drawing/2014/main" id="{A82AE1A6-5374-45EB-A19B-7E1960684DD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ED0E1614-F44A-4B03-BD1D-D5D72D8C92B6}"/>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7">
            <a:extLst xmlns:a="http://schemas.openxmlformats.org/drawingml/2006/main">
              <a:ext uri="{FF2B5EF4-FFF2-40B4-BE49-F238E27FC236}">
                <a16:creationId xmlns:a16="http://schemas.microsoft.com/office/drawing/2014/main" id="{87E147D9-3CFE-4DC2-9F67-6C9737FB99C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AC8450EC-409B-44CC-8B0D-B732BC7BD97D}"/>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190750"/>
          <a:ext xmlns:a="http://schemas.openxmlformats.org/drawingml/2006/main" cx="9763125" cy="5543550"/>
        </p:xfrm>
        <a:graphic xmlns:a="http://schemas.openxmlformats.org/drawingml/2006/main">
          <a:graphicData uri="http://schemas.openxmlformats.org/drawingml/2006/chart">
            <c:chart xmlns:r="http://schemas.openxmlformats.org/officeDocument/2006/relationships" xmlns:c="http://schemas.openxmlformats.org/drawingml/2006/chart" r:id="R14b14627674f4a36"/>
          </a:graphicData>
        </a:graphic>
      </p:graphicFrame>
      <p:sp>
        <p:nvSpPr>
          <p:cNvPr id="7" name="MO = MK&#10;50 − q = 10&#10;q = 40">
            <a:extLst xmlns:a="http://schemas.openxmlformats.org/drawingml/2006/main">
              <a:ext uri="{FF2B5EF4-FFF2-40B4-BE49-F238E27FC236}">
                <a16:creationId xmlns:a16="http://schemas.microsoft.com/office/drawing/2014/main" id="{6AFAC561-7274-4527-AD45-40978981E2A3}"/>
              </a:ext>
            </a:extLst>
          </p:cNvPr>
          <p:cNvSpPr>
            <a:spLocks xmlns:a="http://schemas.openxmlformats.org/drawingml/2006/main" noGrp="1"/>
          </p:cNvSpPr>
          <p:nvPr/>
        </p:nvSpPr>
        <p:spPr>
          <a:xfrm xmlns:a="http://schemas.openxmlformats.org/drawingml/2006/main">
            <a:off x="10668000" y="2524125"/>
            <a:ext cx="4000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7B2D8E"/>
                </a:solidFill>
                <a:latin typeface="Arial"/>
                <a:ea typeface="Arial"/>
                <a:cs typeface="Arial"/>
              </a:defRPr>
            </a:pPr>
            <a:r>
              <a:rPr sz="3075" b="1">
                <a:solidFill>
                  <a:srgbClr val="7B2D8E"/>
                </a:solidFill>
                <a:latin typeface="Arial"/>
                <a:ea typeface="Arial"/>
                <a:cs typeface="Arial"/>
              </a:rPr>
              <a:t>MO = MK</a:t>
            </a:r>
          </a:p>
          <a:p xmlns:a="http://schemas.openxmlformats.org/drawingml/2006/main">
            <a:pPr algn="l">
              <a:defRPr sz="3075" b="1">
                <a:solidFill>
                  <a:srgbClr val="7B2D8E"/>
                </a:solidFill>
                <a:latin typeface="Arial"/>
                <a:ea typeface="Arial"/>
                <a:cs typeface="Arial"/>
              </a:defRPr>
            </a:pPr>
            <a:r>
              <a:rPr sz="3075" b="1">
                <a:solidFill>
                  <a:srgbClr val="7B2D8E"/>
                </a:solidFill>
                <a:latin typeface="Arial"/>
                <a:ea typeface="Arial"/>
                <a:cs typeface="Arial"/>
              </a:rPr>
              <a:t>50 − q = 10</a:t>
            </a:r>
          </a:p>
          <a:p xmlns:a="http://schemas.openxmlformats.org/drawingml/2006/main">
            <a:pPr algn="l">
              <a:defRPr sz="3075" b="1">
                <a:solidFill>
                  <a:srgbClr val="7B2D8E"/>
                </a:solidFill>
                <a:latin typeface="Arial"/>
                <a:ea typeface="Arial"/>
                <a:cs typeface="Arial"/>
              </a:defRPr>
            </a:pPr>
            <a:r>
              <a:rPr sz="3075" b="1">
                <a:solidFill>
                  <a:srgbClr val="7B2D8E"/>
                </a:solidFill>
                <a:latin typeface="Arial"/>
                <a:ea typeface="Arial"/>
                <a:cs typeface="Arial"/>
              </a:rPr>
              <a:t>q = 40</a:t>
            </a:r>
          </a:p>
        </p:txBody>
      </p:sp>
      <p:sp>
        <p:nvSpPr>
          <p:cNvPr id="8" name="Vóór 40: MO &gt; MK&#10;Na 40: MO &lt; MK">
            <a:extLst xmlns:a="http://schemas.openxmlformats.org/drawingml/2006/main">
              <a:ext uri="{FF2B5EF4-FFF2-40B4-BE49-F238E27FC236}">
                <a16:creationId xmlns:a16="http://schemas.microsoft.com/office/drawing/2014/main" id="{50F78AF3-DBA0-4BBC-8316-9BB510ED0E2F}"/>
              </a:ext>
            </a:extLst>
          </p:cNvPr>
          <p:cNvSpPr>
            <a:spLocks xmlns:a="http://schemas.openxmlformats.org/drawingml/2006/main" noGrp="1"/>
          </p:cNvSpPr>
          <p:nvPr/>
        </p:nvSpPr>
        <p:spPr>
          <a:xfrm xmlns:a="http://schemas.openxmlformats.org/drawingml/2006/main">
            <a:off x="10668000" y="453390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Vóór 40: MO &gt; MK</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Na 40: MO &lt; MK</a:t>
            </a:r>
          </a:p>
        </p:txBody>
      </p:sp>
      <p:sp>
        <p:nvSpPr>
          <p:cNvPr id="9" name="40 past binnen&#10;60 sessies.">
            <a:extLst xmlns:a="http://schemas.openxmlformats.org/drawingml/2006/main">
              <a:ext uri="{FF2B5EF4-FFF2-40B4-BE49-F238E27FC236}">
                <a16:creationId xmlns:a16="http://schemas.microsoft.com/office/drawing/2014/main" id="{9DA3B9CD-BF2F-4250-997E-699B8D3F0C5C}"/>
              </a:ext>
            </a:extLst>
          </p:cNvPr>
          <p:cNvSpPr>
            <a:spLocks xmlns:a="http://schemas.openxmlformats.org/drawingml/2006/main" noGrp="1"/>
          </p:cNvSpPr>
          <p:nvPr/>
        </p:nvSpPr>
        <p:spPr>
          <a:xfrm xmlns:a="http://schemas.openxmlformats.org/drawingml/2006/main">
            <a:off x="10668000" y="6257925"/>
            <a:ext cx="4000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40 past binnen</a:t>
            </a:r>
          </a:p>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60 sessies.</a:t>
            </a:r>
          </a:p>
        </p:txBody>
      </p:sp>
    </p:spTree>
    <p:extLst>
      <p:ext uri="{BB962C8B-B14F-4D97-AF65-F5344CB8AC3E}">
        <p14:creationId xmlns:p14="http://schemas.microsoft.com/office/powerpoint/2010/main" val="1489405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icht: daarna de prijs op GO">
            <a:extLst xmlns:a="http://schemas.openxmlformats.org/drawingml/2006/main">
              <a:ext uri="{FF2B5EF4-FFF2-40B4-BE49-F238E27FC236}">
                <a16:creationId xmlns:a16="http://schemas.microsoft.com/office/drawing/2014/main" id="{1D215E48-3E3D-4BCD-88DA-B1E97F71733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Licht: daarna de prijs op GO</a:t>
            </a:r>
          </a:p>
        </p:txBody>
      </p:sp>
      <p:sp>
        <p:nvSpPr>
          <p:cNvPr id="2" name="">
            <a:extLst xmlns:a="http://schemas.openxmlformats.org/drawingml/2006/main">
              <a:ext uri="{FF2B5EF4-FFF2-40B4-BE49-F238E27FC236}">
                <a16:creationId xmlns:a16="http://schemas.microsoft.com/office/drawing/2014/main" id="{9EE84EF0-ECBD-4C20-A336-32EB9A1AA2D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6618C5C6-F57C-4EC6-B66B-E55A3786F731}"/>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8">
            <a:extLst xmlns:a="http://schemas.openxmlformats.org/drawingml/2006/main">
              <a:ext uri="{FF2B5EF4-FFF2-40B4-BE49-F238E27FC236}">
                <a16:creationId xmlns:a16="http://schemas.microsoft.com/office/drawing/2014/main" id="{4CC6DDB7-7252-4B1D-823D-723B6888499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DF104559-0EBB-41BF-827A-703F339D346B}"/>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190750"/>
          <a:ext xmlns:a="http://schemas.openxmlformats.org/drawingml/2006/main" cx="9763125" cy="5543550"/>
        </p:xfrm>
        <a:graphic xmlns:a="http://schemas.openxmlformats.org/drawingml/2006/main">
          <a:graphicData uri="http://schemas.openxmlformats.org/drawingml/2006/chart">
            <c:chart xmlns:r="http://schemas.openxmlformats.org/officeDocument/2006/relationships" xmlns:c="http://schemas.openxmlformats.org/drawingml/2006/chart" r:id="R4b9ed64967314176"/>
          </a:graphicData>
        </a:graphic>
      </p:graphicFrame>
      <p:sp>
        <p:nvSpPr>
          <p:cNvPr id="7" name="P = 50 − 0,50q">
            <a:extLst xmlns:a="http://schemas.openxmlformats.org/drawingml/2006/main">
              <a:ext uri="{FF2B5EF4-FFF2-40B4-BE49-F238E27FC236}">
                <a16:creationId xmlns:a16="http://schemas.microsoft.com/office/drawing/2014/main" id="{69E9C78F-01E0-4E35-9705-39FDC27A4FE3}"/>
              </a:ext>
            </a:extLst>
          </p:cNvPr>
          <p:cNvSpPr>
            <a:spLocks xmlns:a="http://schemas.openxmlformats.org/drawingml/2006/main" noGrp="1"/>
          </p:cNvSpPr>
          <p:nvPr/>
        </p:nvSpPr>
        <p:spPr>
          <a:xfrm xmlns:a="http://schemas.openxmlformats.org/drawingml/2006/main">
            <a:off x="10668000" y="2524125"/>
            <a:ext cx="400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 = 50 − 0,50q</a:t>
            </a:r>
          </a:p>
        </p:txBody>
      </p:sp>
      <p:sp>
        <p:nvSpPr>
          <p:cNvPr id="8" name="P = 50 − 0,50 × 40&#10;P = € 30 per sessie">
            <a:extLst xmlns:a="http://schemas.openxmlformats.org/drawingml/2006/main">
              <a:ext uri="{FF2B5EF4-FFF2-40B4-BE49-F238E27FC236}">
                <a16:creationId xmlns:a16="http://schemas.microsoft.com/office/drawing/2014/main" id="{87BB8919-AD77-49B2-A9FA-DE201FC4D688}"/>
              </a:ext>
            </a:extLst>
          </p:cNvPr>
          <p:cNvSpPr>
            <a:spLocks xmlns:a="http://schemas.openxmlformats.org/drawingml/2006/main" noGrp="1"/>
          </p:cNvSpPr>
          <p:nvPr/>
        </p:nvSpPr>
        <p:spPr>
          <a:xfrm xmlns:a="http://schemas.openxmlformats.org/drawingml/2006/main">
            <a:off x="10668000" y="4019550"/>
            <a:ext cx="40005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P = 50 − 0,50 × 40</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P = € 30 per sessie</a:t>
            </a:r>
          </a:p>
        </p:txBody>
      </p:sp>
      <p:sp>
        <p:nvSpPr>
          <p:cNvPr id="9" name="q = 40 blijft gelijk.&#10;Nu lezen we GO af.">
            <a:extLst xmlns:a="http://schemas.openxmlformats.org/drawingml/2006/main">
              <a:ext uri="{FF2B5EF4-FFF2-40B4-BE49-F238E27FC236}">
                <a16:creationId xmlns:a16="http://schemas.microsoft.com/office/drawing/2014/main" id="{54191ED5-A9AF-406C-80A5-DCA7A723992A}"/>
              </a:ext>
            </a:extLst>
          </p:cNvPr>
          <p:cNvSpPr>
            <a:spLocks xmlns:a="http://schemas.openxmlformats.org/drawingml/2006/main" noGrp="1"/>
          </p:cNvSpPr>
          <p:nvPr/>
        </p:nvSpPr>
        <p:spPr>
          <a:xfrm xmlns:a="http://schemas.openxmlformats.org/drawingml/2006/main">
            <a:off x="10668000" y="623887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 = 40 blijft gelijk.</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Nu lezen we GO af.</a:t>
            </a:r>
          </a:p>
        </p:txBody>
      </p:sp>
    </p:spTree>
    <p:extLst>
      <p:ext uri="{BB962C8B-B14F-4D97-AF65-F5344CB8AC3E}">
        <p14:creationId xmlns:p14="http://schemas.microsoft.com/office/powerpoint/2010/main" val="15711453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icht: winst per week">
            <a:extLst xmlns:a="http://schemas.openxmlformats.org/drawingml/2006/main">
              <a:ext uri="{FF2B5EF4-FFF2-40B4-BE49-F238E27FC236}">
                <a16:creationId xmlns:a16="http://schemas.microsoft.com/office/drawing/2014/main" id="{CEAECEFD-675D-4E0E-9039-5FA862F1C75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Licht: winst per week</a:t>
            </a:r>
          </a:p>
        </p:txBody>
      </p:sp>
      <p:sp>
        <p:nvSpPr>
          <p:cNvPr id="2" name="">
            <a:extLst xmlns:a="http://schemas.openxmlformats.org/drawingml/2006/main">
              <a:ext uri="{FF2B5EF4-FFF2-40B4-BE49-F238E27FC236}">
                <a16:creationId xmlns:a16="http://schemas.microsoft.com/office/drawing/2014/main" id="{1BE11A54-E9D8-43DD-8317-74946365222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5AE71F02-68BD-42DE-96A4-F2D145CCD05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9">
            <a:extLst xmlns:a="http://schemas.openxmlformats.org/drawingml/2006/main">
              <a:ext uri="{FF2B5EF4-FFF2-40B4-BE49-F238E27FC236}">
                <a16:creationId xmlns:a16="http://schemas.microsoft.com/office/drawing/2014/main" id="{E54A4581-4AFE-42DC-AB6D-E98A259CCAE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4EE64A25-64D2-4AE5-B80D-EAA5956743AE}"/>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Uitlegvoorbeeld — niet uit het boek</a:t>
            </a:r>
          </a:p>
        </p:txBody>
      </p:sp>
      <p:sp>
        <p:nvSpPr>
          <p:cNvPr id="6" name="Totale opbrengst">
            <a:extLst xmlns:a="http://schemas.openxmlformats.org/drawingml/2006/main">
              <a:ext uri="{FF2B5EF4-FFF2-40B4-BE49-F238E27FC236}">
                <a16:creationId xmlns:a16="http://schemas.microsoft.com/office/drawing/2014/main" id="{5E2A8060-FBD6-47D5-897F-642A0944B8EA}"/>
              </a:ext>
            </a:extLst>
          </p:cNvPr>
          <p:cNvSpPr>
            <a:spLocks xmlns:a="http://schemas.openxmlformats.org/drawingml/2006/main" noGrp="1"/>
          </p:cNvSpPr>
          <p:nvPr/>
        </p:nvSpPr>
        <p:spPr>
          <a:xfrm xmlns:a="http://schemas.openxmlformats.org/drawingml/2006/main">
            <a:off x="571500" y="2543175"/>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Totale opbrengst</a:t>
            </a:r>
          </a:p>
        </p:txBody>
      </p:sp>
      <p:sp>
        <p:nvSpPr>
          <p:cNvPr id="7" name="TO = 30 × 40 = € 1.200">
            <a:extLst xmlns:a="http://schemas.openxmlformats.org/drawingml/2006/main">
              <a:ext uri="{FF2B5EF4-FFF2-40B4-BE49-F238E27FC236}">
                <a16:creationId xmlns:a16="http://schemas.microsoft.com/office/drawing/2014/main" id="{1B7349B5-F535-45CD-B13D-26E57E0E0CCF}"/>
              </a:ext>
            </a:extLst>
          </p:cNvPr>
          <p:cNvSpPr>
            <a:spLocks xmlns:a="http://schemas.openxmlformats.org/drawingml/2006/main" noGrp="1"/>
          </p:cNvSpPr>
          <p:nvPr/>
        </p:nvSpPr>
        <p:spPr>
          <a:xfrm xmlns:a="http://schemas.openxmlformats.org/drawingml/2006/main">
            <a:off x="5238750" y="2543175"/>
            <a:ext cx="942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TO = 30 × 40 = € 1.200</a:t>
            </a:r>
          </a:p>
        </p:txBody>
      </p:sp>
      <p:sp>
        <p:nvSpPr>
          <p:cNvPr id="8" name="">
            <a:extLst xmlns:a="http://schemas.openxmlformats.org/drawingml/2006/main">
              <a:ext uri="{FF2B5EF4-FFF2-40B4-BE49-F238E27FC236}">
                <a16:creationId xmlns:a16="http://schemas.microsoft.com/office/drawing/2014/main" id="{94943912-BE4E-4550-98FD-E781C42CE64F}"/>
              </a:ext>
            </a:extLst>
          </p:cNvPr>
          <p:cNvSpPr>
            <a:spLocks xmlns:a="http://schemas.openxmlformats.org/drawingml/2006/main" noGrp="1"/>
          </p:cNvSpPr>
          <p:nvPr/>
        </p:nvSpPr>
        <p:spPr>
          <a:xfrm xmlns:a="http://schemas.openxmlformats.org/drawingml/2006/main">
            <a:off x="571500" y="3648075"/>
            <a:ext cx="14097000" cy="0"/>
          </a:xfrm>
          <a:prstGeom xmlns:a="http://schemas.openxmlformats.org/drawingml/2006/main" prst="line">
            <a:avLst/>
          </a:prstGeom>
          <a:ln xmlns:a="http://schemas.openxmlformats.org/drawingml/2006/main" w="19050">
            <a:solidFill>
              <a:srgbClr val="C6D2DB"/>
            </a:solidFill>
          </a:ln>
        </p:spPr>
      </p:sp>
      <p:sp>
        <p:nvSpPr>
          <p:cNvPr id="9" name="Totale kosten">
            <a:extLst xmlns:a="http://schemas.openxmlformats.org/drawingml/2006/main">
              <a:ext uri="{FF2B5EF4-FFF2-40B4-BE49-F238E27FC236}">
                <a16:creationId xmlns:a16="http://schemas.microsoft.com/office/drawing/2014/main" id="{6B09B2E9-C525-4911-8AF1-60C22A2B1E9F}"/>
              </a:ext>
            </a:extLst>
          </p:cNvPr>
          <p:cNvSpPr>
            <a:spLocks xmlns:a="http://schemas.openxmlformats.org/drawingml/2006/main" noGrp="1"/>
          </p:cNvSpPr>
          <p:nvPr/>
        </p:nvSpPr>
        <p:spPr>
          <a:xfrm xmlns:a="http://schemas.openxmlformats.org/drawingml/2006/main">
            <a:off x="571500" y="3905250"/>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Totale kosten</a:t>
            </a:r>
          </a:p>
        </p:txBody>
      </p:sp>
      <p:sp>
        <p:nvSpPr>
          <p:cNvPr id="10" name="TK = 180 + 10 × 40 = € 580">
            <a:extLst xmlns:a="http://schemas.openxmlformats.org/drawingml/2006/main">
              <a:ext uri="{FF2B5EF4-FFF2-40B4-BE49-F238E27FC236}">
                <a16:creationId xmlns:a16="http://schemas.microsoft.com/office/drawing/2014/main" id="{F7DDE742-2DBD-4AB0-B463-D84F4CAB2810}"/>
              </a:ext>
            </a:extLst>
          </p:cNvPr>
          <p:cNvSpPr>
            <a:spLocks xmlns:a="http://schemas.openxmlformats.org/drawingml/2006/main" noGrp="1"/>
          </p:cNvSpPr>
          <p:nvPr/>
        </p:nvSpPr>
        <p:spPr>
          <a:xfrm xmlns:a="http://schemas.openxmlformats.org/drawingml/2006/main">
            <a:off x="5238750" y="3905250"/>
            <a:ext cx="942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TK = 180 + 10 × 40 = € 580</a:t>
            </a:r>
          </a:p>
        </p:txBody>
      </p:sp>
      <p:sp>
        <p:nvSpPr>
          <p:cNvPr id="11" name="">
            <a:extLst xmlns:a="http://schemas.openxmlformats.org/drawingml/2006/main">
              <a:ext uri="{FF2B5EF4-FFF2-40B4-BE49-F238E27FC236}">
                <a16:creationId xmlns:a16="http://schemas.microsoft.com/office/drawing/2014/main" id="{B2E984DA-9B41-4695-BDE5-388DDBFE5E38}"/>
              </a:ext>
            </a:extLst>
          </p:cNvPr>
          <p:cNvSpPr>
            <a:spLocks xmlns:a="http://schemas.openxmlformats.org/drawingml/2006/main" noGrp="1"/>
          </p:cNvSpPr>
          <p:nvPr/>
        </p:nvSpPr>
        <p:spPr>
          <a:xfrm xmlns:a="http://schemas.openxmlformats.org/drawingml/2006/main">
            <a:off x="571500" y="5010150"/>
            <a:ext cx="14097000" cy="0"/>
          </a:xfrm>
          <a:prstGeom xmlns:a="http://schemas.openxmlformats.org/drawingml/2006/main" prst="line">
            <a:avLst/>
          </a:prstGeom>
          <a:ln xmlns:a="http://schemas.openxmlformats.org/drawingml/2006/main" w="19050">
            <a:solidFill>
              <a:srgbClr val="C6D2DB"/>
            </a:solidFill>
          </a:ln>
        </p:spPr>
      </p:sp>
      <p:sp>
        <p:nvSpPr>
          <p:cNvPr id="12" name="Winst">
            <a:extLst xmlns:a="http://schemas.openxmlformats.org/drawingml/2006/main">
              <a:ext uri="{FF2B5EF4-FFF2-40B4-BE49-F238E27FC236}">
                <a16:creationId xmlns:a16="http://schemas.microsoft.com/office/drawing/2014/main" id="{86AF31FD-CC7A-4F56-953A-8B368E0FC6A9}"/>
              </a:ext>
            </a:extLst>
          </p:cNvPr>
          <p:cNvSpPr>
            <a:spLocks xmlns:a="http://schemas.openxmlformats.org/drawingml/2006/main" noGrp="1"/>
          </p:cNvSpPr>
          <p:nvPr/>
        </p:nvSpPr>
        <p:spPr>
          <a:xfrm xmlns:a="http://schemas.openxmlformats.org/drawingml/2006/main">
            <a:off x="571500" y="5267325"/>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Winst</a:t>
            </a:r>
          </a:p>
        </p:txBody>
      </p:sp>
      <p:sp>
        <p:nvSpPr>
          <p:cNvPr id="13" name="TO − TK = 1.200 − 580 = € 620">
            <a:extLst xmlns:a="http://schemas.openxmlformats.org/drawingml/2006/main">
              <a:ext uri="{FF2B5EF4-FFF2-40B4-BE49-F238E27FC236}">
                <a16:creationId xmlns:a16="http://schemas.microsoft.com/office/drawing/2014/main" id="{66C357B2-B9B7-40D0-AA4C-16C11B1576B0}"/>
              </a:ext>
            </a:extLst>
          </p:cNvPr>
          <p:cNvSpPr>
            <a:spLocks xmlns:a="http://schemas.openxmlformats.org/drawingml/2006/main" noGrp="1"/>
          </p:cNvSpPr>
          <p:nvPr/>
        </p:nvSpPr>
        <p:spPr>
          <a:xfrm xmlns:a="http://schemas.openxmlformats.org/drawingml/2006/main">
            <a:off x="5238750" y="5267325"/>
            <a:ext cx="942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TO − TK = 1.200 − 580 = € 620</a:t>
            </a:r>
          </a:p>
        </p:txBody>
      </p:sp>
      <p:sp>
        <p:nvSpPr>
          <p:cNvPr id="14" name="Controle bij q = 0: TO = 0, TK = 180, winst = −€ 1">
            <a:extLst xmlns:a="http://schemas.openxmlformats.org/drawingml/2006/main">
              <a:ext uri="{FF2B5EF4-FFF2-40B4-BE49-F238E27FC236}">
                <a16:creationId xmlns:a16="http://schemas.microsoft.com/office/drawing/2014/main" id="{C1B08589-C3B9-4460-BABF-495B7B639E39}"/>
              </a:ext>
            </a:extLst>
          </p:cNvPr>
          <p:cNvSpPr>
            <a:spLocks xmlns:a="http://schemas.openxmlformats.org/drawingml/2006/main" noGrp="1"/>
          </p:cNvSpPr>
          <p:nvPr/>
        </p:nvSpPr>
        <p:spPr>
          <a:xfrm xmlns:a="http://schemas.openxmlformats.org/drawingml/2006/main">
            <a:off x="571500" y="710565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Controle bij q = 0: TO = 0, TK = 180, winst = −€ 180.</a:t>
            </a:r>
          </a:p>
        </p:txBody>
      </p:sp>
    </p:spTree>
    <p:extLst>
      <p:ext uri="{BB962C8B-B14F-4D97-AF65-F5344CB8AC3E}">
        <p14:creationId xmlns:p14="http://schemas.microsoft.com/office/powerpoint/2010/main" val="10683115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rekenregel en de marktvorm">
            <a:extLst xmlns:a="http://schemas.openxmlformats.org/drawingml/2006/main">
              <a:ext uri="{FF2B5EF4-FFF2-40B4-BE49-F238E27FC236}">
                <a16:creationId xmlns:a16="http://schemas.microsoft.com/office/drawing/2014/main" id="{2986D95A-A3B3-498D-B407-3F683D35E8A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rekenregel en de marktvorm</a:t>
            </a:r>
          </a:p>
        </p:txBody>
      </p:sp>
      <p:sp>
        <p:nvSpPr>
          <p:cNvPr id="2" name="">
            <a:extLst xmlns:a="http://schemas.openxmlformats.org/drawingml/2006/main">
              <a:ext uri="{FF2B5EF4-FFF2-40B4-BE49-F238E27FC236}">
                <a16:creationId xmlns:a16="http://schemas.microsoft.com/office/drawing/2014/main" id="{F9ED20A5-F463-44CA-A912-963789694F9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2EE54247-87BB-4E62-A73F-36A0E39128A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0">
            <a:extLst xmlns:a="http://schemas.openxmlformats.org/drawingml/2006/main">
              <a:ext uri="{FF2B5EF4-FFF2-40B4-BE49-F238E27FC236}">
                <a16:creationId xmlns:a16="http://schemas.microsoft.com/office/drawing/2014/main" id="{1FE0DDCB-68E0-43FB-B45F-20BFAE66F47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1" name=""/>
          <p:cNvGraphicFramePr/>
          <p:nvPr/>
        </p:nvGraphicFramePr>
        <p:xfrm>
          <a:off xmlns:a="http://schemas.openxmlformats.org/drawingml/2006/main" x="571500" y="2171700"/>
          <a:ext xmlns:a="http://schemas.openxmlformats.org/drawingml/2006/main" cx="14097000" cy="3505200"/>
        </p:xfrm>
        <a:graphic xmlns:a="http://schemas.openxmlformats.org/drawingml/2006/main">
          <a:graphicData uri="http://schemas.openxmlformats.org/drawingml/2006/table">
            <a:tbl>
              <a:tblPr/>
              <a:tblGrid>
                <a:gridCol w="7048500"/>
                <a:gridCol w="7048500"/>
              </a:tblGrid>
              <a:tr h="876300">
                <a:tc>
                  <a:txBody>
                    <a:bodyPr lIns="171450" tIns="95250" rIns="152400" bIns="95250"/>
                    <a:lstStyle/>
                    <a:p>
                      <a:r>
                        <a:rPr sz="2625" b="1">
                          <a:solidFill>
                            <a:srgbClr val="FFFFFF"/>
                          </a:solidFill>
                          <a:latin typeface="Arial"/>
                          <a:ea typeface="Arial"/>
                          <a:cs typeface="Arial"/>
                        </a:rPr>
                        <a:t>Wat weet je?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Wat kun je daaruit afleiden?</a:t>
                      </a:r>
                    </a:p>
                  </a:txBody>
                  <a:tcPr marL="91440" marR="91440" marT="45720" marB="45720" anchor="ctr">
                    <a:solidFill>
                      <a:srgbClr val="183247"/>
                    </a:solidFill>
                  </a:tcPr>
                </a:tc>
              </a:tr>
              <a:tr h="876300">
                <a:tc>
                  <a:txBody>
                    <a:bodyPr lIns="171450" tIns="95250" rIns="152400" bIns="95250"/>
                    <a:lstStyle/>
                    <a:p>
                      <a:r>
                        <a:rPr sz="2625" b="0">
                          <a:solidFill>
                            <a:srgbClr val="183247"/>
                          </a:solidFill>
                          <a:latin typeface="Arial"/>
                          <a:ea typeface="Arial"/>
                          <a:cs typeface="Arial"/>
                        </a:rPr>
                        <a:t>Marktkenmerken</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Een onderbouwde marktvorm</a:t>
                      </a:r>
                    </a:p>
                  </a:txBody>
                  <a:tcPr marL="91440" marR="91440" marT="45720" marB="45720" anchor="ctr">
                    <a:solidFill>
                      <a:srgbClr val="FFFFFF"/>
                    </a:solidFill>
                  </a:tcPr>
                </a:tc>
              </a:tr>
              <a:tr h="876300">
                <a:tc>
                  <a:txBody>
                    <a:bodyPr lIns="171450" tIns="95250" rIns="152400" bIns="95250"/>
                    <a:lstStyle/>
                    <a:p>
                      <a:r>
                        <a:rPr sz="2625" b="0">
                          <a:solidFill>
                            <a:srgbClr val="183247"/>
                          </a:solidFill>
                          <a:latin typeface="Arial"/>
                          <a:ea typeface="Arial"/>
                          <a:cs typeface="Arial"/>
                        </a:rPr>
                        <a:t>Vraag, kosten en capaciteit van één onderneming</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q, P en winst onder die aannames</a:t>
                      </a:r>
                    </a:p>
                  </a:txBody>
                  <a:tcPr marL="91440" marR="91440" marT="45720" marB="45720" anchor="ctr">
                    <a:solidFill>
                      <a:srgbClr val="EFF4F7"/>
                    </a:solidFill>
                  </a:tcPr>
                </a:tc>
              </a:tr>
              <a:tr h="876300">
                <a:tc>
                  <a:txBody>
                    <a:bodyPr lIns="171450" tIns="95250" rIns="152400" bIns="95250"/>
                    <a:lstStyle/>
                    <a:p>
                      <a:r>
                        <a:rPr sz="2625" b="0">
                          <a:solidFill>
                            <a:srgbClr val="183247"/>
                          </a:solidFill>
                          <a:latin typeface="Arial"/>
                          <a:ea typeface="Arial"/>
                          <a:cs typeface="Arial"/>
                        </a:rPr>
                        <a:t>Alleen: enkele grote aanbieders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Nog geen specifieke vraagfunctie</a:t>
                      </a:r>
                    </a:p>
                  </a:txBody>
                  <a:tcPr marL="91440" marR="91440" marT="45720" marB="45720" anchor="ctr">
                    <a:solidFill>
                      <a:srgbClr val="FFFFFF"/>
                    </a:solidFill>
                  </a:tcPr>
                </a:tc>
              </a:tr>
            </a:tbl>
          </a:graphicData>
        </a:graphic>
      </p:graphicFrame>
      <p:sp>
        <p:nvSpPr>
          <p:cNvPr id="6" name="Bij oligopolie kunnen reacties van concurrenten de">
            <a:extLst xmlns:a="http://schemas.openxmlformats.org/drawingml/2006/main">
              <a:ext uri="{FF2B5EF4-FFF2-40B4-BE49-F238E27FC236}">
                <a16:creationId xmlns:a16="http://schemas.microsoft.com/office/drawing/2014/main" id="{4E4FC812-1276-42A4-955B-392C2C08769E}"/>
              </a:ext>
            </a:extLst>
          </p:cNvPr>
          <p:cNvSpPr>
            <a:spLocks xmlns:a="http://schemas.openxmlformats.org/drawingml/2006/main" noGrp="1"/>
          </p:cNvSpPr>
          <p:nvPr/>
        </p:nvSpPr>
        <p:spPr>
          <a:xfrm xmlns:a="http://schemas.openxmlformats.org/drawingml/2006/main">
            <a:off x="571500" y="6334125"/>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Bij oligopolie kunnen reacties van concurrenten de eigen vraag veranderen.</a:t>
            </a:r>
          </a:p>
        </p:txBody>
      </p:sp>
    </p:spTree>
    <p:extLst>
      <p:ext uri="{BB962C8B-B14F-4D97-AF65-F5344CB8AC3E}">
        <p14:creationId xmlns:p14="http://schemas.microsoft.com/office/powerpoint/2010/main" val="505601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a:extLst xmlns:a="http://schemas.openxmlformats.org/drawingml/2006/main">
              <a:ext uri="{FF2B5EF4-FFF2-40B4-BE49-F238E27FC236}">
                <a16:creationId xmlns:a16="http://schemas.microsoft.com/office/drawing/2014/main" id="{C03A9B71-C66F-43FE-828F-FEE36222BFF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44E79129-1C94-40ED-8F59-3DBA19A7393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22903B3C-EA03-4C30-B883-0585AB32DB7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1">
            <a:extLst xmlns:a="http://schemas.openxmlformats.org/drawingml/2006/main">
              <a:ext uri="{FF2B5EF4-FFF2-40B4-BE49-F238E27FC236}">
                <a16:creationId xmlns:a16="http://schemas.microsoft.com/office/drawing/2014/main" id="{B2F76B71-79BF-4DC2-A351-683BF4CC60B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Licht heeft een dalende eigen vraaglijn.">
            <a:extLst xmlns:a="http://schemas.openxmlformats.org/drawingml/2006/main">
              <a:ext uri="{FF2B5EF4-FFF2-40B4-BE49-F238E27FC236}">
                <a16:creationId xmlns:a16="http://schemas.microsoft.com/office/drawing/2014/main" id="{EFE78D04-17DF-472F-80BE-14DB87B1ABD9}"/>
              </a:ext>
            </a:extLst>
          </p:cNvPr>
          <p:cNvSpPr>
            <a:spLocks xmlns:a="http://schemas.openxmlformats.org/drawingml/2006/main" noGrp="1"/>
          </p:cNvSpPr>
          <p:nvPr/>
        </p:nvSpPr>
        <p:spPr>
          <a:xfrm xmlns:a="http://schemas.openxmlformats.org/drawingml/2006/main">
            <a:off x="571500" y="21240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Licht heeft een dalende eigen vraaglijn.</a:t>
            </a:r>
          </a:p>
        </p:txBody>
      </p:sp>
      <p:sp>
        <p:nvSpPr>
          <p:cNvPr id="6" name="“Dan is Licht een monopolist.”">
            <a:extLst xmlns:a="http://schemas.openxmlformats.org/drawingml/2006/main">
              <a:ext uri="{FF2B5EF4-FFF2-40B4-BE49-F238E27FC236}">
                <a16:creationId xmlns:a16="http://schemas.microsoft.com/office/drawing/2014/main" id="{5BFA6133-644F-4B73-B8B5-F32052E6C960}"/>
              </a:ext>
            </a:extLst>
          </p:cNvPr>
          <p:cNvSpPr>
            <a:spLocks xmlns:a="http://schemas.openxmlformats.org/drawingml/2006/main" noGrp="1"/>
          </p:cNvSpPr>
          <p:nvPr/>
        </p:nvSpPr>
        <p:spPr>
          <a:xfrm xmlns:a="http://schemas.openxmlformats.org/drawingml/2006/main">
            <a:off x="571500" y="34004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7658A"/>
                </a:solidFill>
                <a:latin typeface="Arial"/>
                <a:ea typeface="Arial"/>
                <a:cs typeface="Arial"/>
              </a:defRPr>
            </a:pPr>
            <a:r>
              <a:rPr sz="4050" b="1">
                <a:solidFill>
                  <a:srgbClr val="17658A"/>
                </a:solidFill>
                <a:latin typeface="Arial"/>
                <a:ea typeface="Arial"/>
                <a:cs typeface="Arial"/>
              </a:rPr>
              <a:t>“Dan is Licht een monopolist.”</a:t>
            </a:r>
          </a:p>
        </p:txBody>
      </p:sp>
      <p:sp>
        <p:nvSpPr>
          <p:cNvPr id="7" name="Welke gegevens uit de fotostudiocasus ondersteunen">
            <a:extLst xmlns:a="http://schemas.openxmlformats.org/drawingml/2006/main">
              <a:ext uri="{FF2B5EF4-FFF2-40B4-BE49-F238E27FC236}">
                <a16:creationId xmlns:a16="http://schemas.microsoft.com/office/drawing/2014/main" id="{28CFD1F9-8EE8-4DAE-8F77-05011FDEA70C}"/>
              </a:ext>
            </a:extLst>
          </p:cNvPr>
          <p:cNvSpPr>
            <a:spLocks xmlns:a="http://schemas.openxmlformats.org/drawingml/2006/main" noGrp="1"/>
          </p:cNvSpPr>
          <p:nvPr/>
        </p:nvSpPr>
        <p:spPr>
          <a:xfrm xmlns:a="http://schemas.openxmlformats.org/drawingml/2006/main">
            <a:off x="571500" y="5419725"/>
            <a:ext cx="14097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Welke gegevens uit de fotostudiocasus ondersteunen of weerleggen dit?</a:t>
            </a:r>
          </a:p>
        </p:txBody>
      </p:sp>
    </p:spTree>
    <p:extLst>
      <p:ext uri="{BB962C8B-B14F-4D97-AF65-F5344CB8AC3E}">
        <p14:creationId xmlns:p14="http://schemas.microsoft.com/office/powerpoint/2010/main" val="3678779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3 Marktvormen vergelijken">
            <a:extLst xmlns:a="http://schemas.openxmlformats.org/drawingml/2006/main">
              <a:ext uri="{FF2B5EF4-FFF2-40B4-BE49-F238E27FC236}">
                <a16:creationId xmlns:a16="http://schemas.microsoft.com/office/drawing/2014/main" id="{E7593D7C-7117-4B32-B7D1-CBAB4F19D70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§4.2.3 Marktvormen vergelijken</a:t>
            </a:r>
          </a:p>
        </p:txBody>
      </p:sp>
      <p:sp>
        <p:nvSpPr>
          <p:cNvPr id="2" name="">
            <a:extLst xmlns:a="http://schemas.openxmlformats.org/drawingml/2006/main">
              <a:ext uri="{FF2B5EF4-FFF2-40B4-BE49-F238E27FC236}">
                <a16:creationId xmlns:a16="http://schemas.microsoft.com/office/drawing/2014/main" id="{96CFDFBC-0ADD-4456-9EDA-DF67307FCEC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373D6A75-2C20-4D5E-A905-EB8076D1087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2">
            <a:extLst xmlns:a="http://schemas.openxmlformats.org/drawingml/2006/main">
              <a:ext uri="{FF2B5EF4-FFF2-40B4-BE49-F238E27FC236}">
                <a16:creationId xmlns:a16="http://schemas.microsoft.com/office/drawing/2014/main" id="{4284B313-B29A-4718-9EBA-A0601D2BFA7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phase">
            <a:extLst xmlns:a="http://schemas.openxmlformats.org/drawingml/2006/main">
              <a:ext uri="{FF2B5EF4-FFF2-40B4-BE49-F238E27FC236}">
                <a16:creationId xmlns:a16="http://schemas.microsoft.com/office/drawing/2014/main" id="{256A0659-2C33-4724-BB39-928B1620243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7AAD2EB2-3773-41A6-B632-F89E1E1BF913}"/>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4253E759-C1B7-4E14-AAF7-C192D0ADC255}"/>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055F7C17-165D-4A7F-BB30-FF84F38E7AC9}"/>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E0ABB765-DD43-4F9F-8EAB-69F22AF94B3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961F402C-E149-4EAE-9C3A-76222DE2DEA4}"/>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6F12B65-9863-48AC-AF22-43D958691876}"/>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4AA98F3F-8227-435B-88E5-C61623C34774}"/>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49A08755-3D70-4621-9750-F2E265732FD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E7FA890F-71AB-46BF-B6FA-7B697363B193}"/>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FD6F9F2E-0C79-4ACE-BF31-126D38476D33}"/>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AA39B06-4E70-48C3-9873-BF5440EB81E0}"/>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D5BC54B-DDA1-40D9-B031-E87A3FE4BD4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5FAE056-A514-4FC0-882D-A19947B4A8D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7">
            <a:extLst xmlns:a="http://schemas.openxmlformats.org/drawingml/2006/main">
              <a:ext uri="{FF2B5EF4-FFF2-40B4-BE49-F238E27FC236}">
                <a16:creationId xmlns:a16="http://schemas.microsoft.com/office/drawing/2014/main" id="{025909FD-C445-4044-9B0B-5A828558103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5C04133F-F224-4707-8AE9-C24522997650}"/>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85FB3BEB-852C-4ECF-B36C-91974B5CC56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58BB7A0-97E1-42C5-9BF7-DDF6F35D3352}"/>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Marktvormen onderbouwen,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productverschillen verklaren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en q, P en winst berekenen.</a:t>
            </a:r>
          </a:p>
        </p:txBody>
      </p:sp>
      <p:sp>
        <p:nvSpPr>
          <p:cNvPr id="23" name="">
            <a:extLst xmlns:a="http://schemas.openxmlformats.org/drawingml/2006/main">
              <a:ext uri="{FF2B5EF4-FFF2-40B4-BE49-F238E27FC236}">
                <a16:creationId xmlns:a16="http://schemas.microsoft.com/office/drawing/2014/main" id="{4F8EF2D2-F883-436D-AE3D-9CED1213A6CE}"/>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6D4CF82A-E1A8-4571-A6E4-3F7521AD54A7}"/>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78533C7C-5B02-4CB6-A87B-E00F3778CB3F}"/>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73 · Opgaven 19 en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20: verkennen, theorie p. 71</a:t>
            </a:r>
          </a:p>
        </p:txBody>
      </p:sp>
      <p:sp>
        <p:nvSpPr>
          <p:cNvPr id="26" name="">
            <a:extLst xmlns:a="http://schemas.openxmlformats.org/drawingml/2006/main">
              <a:ext uri="{FF2B5EF4-FFF2-40B4-BE49-F238E27FC236}">
                <a16:creationId xmlns:a16="http://schemas.microsoft.com/office/drawing/2014/main" id="{857F5F72-49FE-4DE8-8F09-F8BD55F6FC8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23652347-4C8D-40C9-B914-D691A7DB6369}"/>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689124E6-490E-486A-887D-C3ED6C82BF0E}"/>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§4.2.3 · Opgaven 21 t/m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12346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5 · Bron A">
            <a:extLst xmlns:a="http://schemas.openxmlformats.org/drawingml/2006/main">
              <a:ext uri="{FF2B5EF4-FFF2-40B4-BE49-F238E27FC236}">
                <a16:creationId xmlns:a16="http://schemas.microsoft.com/office/drawing/2014/main" id="{6C03615F-0F2F-4E83-895A-E28E286977D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 · Bron A</a:t>
            </a:r>
          </a:p>
        </p:txBody>
      </p:sp>
      <p:sp>
        <p:nvSpPr>
          <p:cNvPr id="2" name="">
            <a:extLst xmlns:a="http://schemas.openxmlformats.org/drawingml/2006/main">
              <a:ext uri="{FF2B5EF4-FFF2-40B4-BE49-F238E27FC236}">
                <a16:creationId xmlns:a16="http://schemas.microsoft.com/office/drawing/2014/main" id="{CB9BB7EF-7EE3-49AD-9066-6733F8A4810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6B4AEA79-5812-487B-B025-A24DFC31CE7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3">
            <a:extLst xmlns:a="http://schemas.openxmlformats.org/drawingml/2006/main">
              <a:ext uri="{FF2B5EF4-FFF2-40B4-BE49-F238E27FC236}">
                <a16:creationId xmlns:a16="http://schemas.microsoft.com/office/drawing/2014/main" id="{F15FAD20-66E1-4ED2-A860-A25D3B5485D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Vier afgebakende markten · Boekpagina 75">
            <a:extLst xmlns:a="http://schemas.openxmlformats.org/drawingml/2006/main">
              <a:ext uri="{FF2B5EF4-FFF2-40B4-BE49-F238E27FC236}">
                <a16:creationId xmlns:a16="http://schemas.microsoft.com/office/drawing/2014/main" id="{93DC904F-584B-426F-859A-AF39EE3E4CEB}"/>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Vier afgebakende markten · Boekpagina 75</a:t>
            </a:r>
          </a:p>
        </p:txBody>
      </p:sp>
      <p:graphicFrame>
        <p:nvGraphicFramePr>
          <p:cNvPr id="13" name=""/>
          <p:cNvGraphicFramePr/>
          <p:nvPr/>
        </p:nvGraphicFramePr>
        <p:xfrm>
          <a:off xmlns:a="http://schemas.openxmlformats.org/drawingml/2006/main" x="571500" y="2438400"/>
          <a:ext xmlns:a="http://schemas.openxmlformats.org/drawingml/2006/main" cx="14097000" cy="4381500"/>
        </p:xfrm>
        <a:graphic xmlns:a="http://schemas.openxmlformats.org/drawingml/2006/main">
          <a:graphicData uri="http://schemas.openxmlformats.org/drawingml/2006/table">
            <a:tbl>
              <a:tblPr/>
              <a:tblGrid>
                <a:gridCol w="1666875"/>
                <a:gridCol w="12430125"/>
              </a:tblGrid>
              <a:tr h="876300">
                <a:tc>
                  <a:txBody>
                    <a:bodyPr lIns="171450" tIns="95250" rIns="152400" bIns="95250"/>
                    <a:lstStyle/>
                    <a:p>
                      <a:r>
                        <a:rPr sz="2400" b="1">
                          <a:solidFill>
                            <a:srgbClr val="FFFFFF"/>
                          </a:solidFill>
                          <a:latin typeface="Arial"/>
                          <a:ea typeface="Arial"/>
                          <a:cs typeface="Arial"/>
                        </a:rPr>
                        <a:t>Markt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Brongegevens</a:t>
                      </a:r>
                    </a:p>
                  </a:txBody>
                  <a:tcPr marL="91440" marR="91440" marT="45720" marB="45720" anchor="ctr">
                    <a:solidFill>
                      <a:srgbClr val="183247"/>
                    </a:solidFill>
                  </a:tcPr>
                </a:tc>
              </a:tr>
              <a:tr h="876300">
                <a:tc>
                  <a:txBody>
                    <a:bodyPr lIns="171450" tIns="95250" rIns="152400" bIns="95250"/>
                    <a:lstStyle/>
                    <a:p>
                      <a:r>
                        <a:rPr sz="2400" b="0">
                          <a:solidFill>
                            <a:srgbClr val="183247"/>
                          </a:solidFill>
                          <a:latin typeface="Arial"/>
                          <a:ea typeface="Arial"/>
                          <a:cs typeface="Arial"/>
                        </a:rPr>
                        <a:t>I</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Veel kleine telers bieden een identieke grondstof aan; kopers kennen de prijzen en toetreding is vrij.</a:t>
                      </a:r>
                    </a:p>
                  </a:txBody>
                  <a:tcPr marL="91440" marR="91440" marT="45720" marB="45720" anchor="ctr">
                    <a:solidFill>
                      <a:srgbClr val="FFFFFF"/>
                    </a:solidFill>
                  </a:tcPr>
                </a:tc>
              </a:tr>
              <a:tr h="876300">
                <a:tc>
                  <a:txBody>
                    <a:bodyPr lIns="171450" tIns="95250" rIns="152400" bIns="95250"/>
                    <a:lstStyle/>
                    <a:p>
                      <a:r>
                        <a:rPr sz="2400" b="0">
                          <a:solidFill>
                            <a:srgbClr val="183247"/>
                          </a:solidFill>
                          <a:latin typeface="Arial"/>
                          <a:ea typeface="Arial"/>
                          <a:cs typeface="Arial"/>
                        </a:rPr>
                        <a:t>II</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Veel onafhankelijke lunchzaken verschillen in smaak en locatie; toetreding is relatief eenvoudig.</a:t>
                      </a:r>
                    </a:p>
                  </a:txBody>
                  <a:tcPr marL="91440" marR="91440" marT="45720" marB="45720" anchor="ctr">
                    <a:solidFill>
                      <a:srgbClr val="EFF4F7"/>
                    </a:solidFill>
                  </a:tcPr>
                </a:tc>
              </a:tr>
              <a:tr h="876300">
                <a:tc>
                  <a:txBody>
                    <a:bodyPr lIns="171450" tIns="95250" rIns="152400" bIns="95250"/>
                    <a:lstStyle/>
                    <a:p>
                      <a:r>
                        <a:rPr sz="2400" b="0">
                          <a:solidFill>
                            <a:srgbClr val="183247"/>
                          </a:solidFill>
                          <a:latin typeface="Arial"/>
                          <a:ea typeface="Arial"/>
                          <a:cs typeface="Arial"/>
                        </a:rPr>
                        <a:t>III</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Drie grote aanbieders bedienen vrijwel de hele markt; een nieuw netwerk bouwen kost veel.</a:t>
                      </a:r>
                    </a:p>
                  </a:txBody>
                  <a:tcPr marL="91440" marR="91440" marT="45720" marB="45720" anchor="ctr">
                    <a:solidFill>
                      <a:srgbClr val="FFFFFF"/>
                    </a:solidFill>
                  </a:tcPr>
                </a:tc>
              </a:tr>
              <a:tr h="876300">
                <a:tc>
                  <a:txBody>
                    <a:bodyPr lIns="171450" tIns="95250" rIns="152400" bIns="95250"/>
                    <a:lstStyle/>
                    <a:p>
                      <a:r>
                        <a:rPr sz="2400" b="0">
                          <a:solidFill>
                            <a:srgbClr val="183247"/>
                          </a:solidFill>
                          <a:latin typeface="Arial"/>
                          <a:ea typeface="Arial"/>
                          <a:cs typeface="Arial"/>
                        </a:rPr>
                        <a:t>IV</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Eén aanbieder heeft als enige toegang tot een noodzakelijke voorziening; binnen deze markt zijn geen goede alternatieven.</a:t>
                      </a:r>
                    </a:p>
                  </a:txBody>
                  <a:tcPr marL="91440" marR="91440" marT="45720" marB="45720" anchor="ctr">
                    <a:solidFill>
                      <a:srgbClr val="EFF4F7"/>
                    </a:solidFill>
                  </a:tcPr>
                </a:tc>
              </a:tr>
            </a:tbl>
          </a:graphicData>
        </a:graphic>
      </p:graphicFrame>
      <p:sp>
        <p:nvSpPr>
          <p:cNvPr id="7" name="Gebruik alleen de beschreven markten en de gegeven">
            <a:extLst xmlns:a="http://schemas.openxmlformats.org/drawingml/2006/main">
              <a:ext uri="{FF2B5EF4-FFF2-40B4-BE49-F238E27FC236}">
                <a16:creationId xmlns:a16="http://schemas.microsoft.com/office/drawing/2014/main" id="{F7A088FF-D8EA-4472-AC40-D6BD86D9D4C1}"/>
              </a:ext>
            </a:extLst>
          </p:cNvPr>
          <p:cNvSpPr>
            <a:spLocks xmlns:a="http://schemas.openxmlformats.org/drawingml/2006/main" noGrp="1"/>
          </p:cNvSpPr>
          <p:nvPr/>
        </p:nvSpPr>
        <p:spPr>
          <a:xfrm xmlns:a="http://schemas.openxmlformats.org/drawingml/2006/main">
            <a:off x="571500" y="71818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Gebruik alleen de beschreven markten en de gegeven korte-termijnberekening.</a:t>
            </a:r>
          </a:p>
        </p:txBody>
      </p:sp>
    </p:spTree>
    <p:extLst>
      <p:ext uri="{BB962C8B-B14F-4D97-AF65-F5344CB8AC3E}">
        <p14:creationId xmlns:p14="http://schemas.microsoft.com/office/powerpoint/2010/main" val="16143713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25 · Bron B">
            <a:extLst xmlns:a="http://schemas.openxmlformats.org/drawingml/2006/main">
              <a:ext uri="{FF2B5EF4-FFF2-40B4-BE49-F238E27FC236}">
                <a16:creationId xmlns:a16="http://schemas.microsoft.com/office/drawing/2014/main" id="{266F4849-EF09-4580-AB64-CEF1E972B93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 · Bron B</a:t>
            </a:r>
          </a:p>
        </p:txBody>
      </p:sp>
      <p:sp>
        <p:nvSpPr>
          <p:cNvPr id="2" name="">
            <a:extLst xmlns:a="http://schemas.openxmlformats.org/drawingml/2006/main">
              <a:ext uri="{FF2B5EF4-FFF2-40B4-BE49-F238E27FC236}">
                <a16:creationId xmlns:a16="http://schemas.microsoft.com/office/drawing/2014/main" id="{A9244571-6146-4459-B037-C4FADBFC2AE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5170DAE1-05E8-41CF-83DF-104F175E5CC5}"/>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4">
            <a:extLst xmlns:a="http://schemas.openxmlformats.org/drawingml/2006/main">
              <a:ext uri="{FF2B5EF4-FFF2-40B4-BE49-F238E27FC236}">
                <a16:creationId xmlns:a16="http://schemas.microsoft.com/office/drawing/2014/main" id="{C480E026-F903-418D-8AFB-C4A0EFAF486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Lunchzaak Puur · Boekpagina 75">
            <a:extLst xmlns:a="http://schemas.openxmlformats.org/drawingml/2006/main">
              <a:ext uri="{FF2B5EF4-FFF2-40B4-BE49-F238E27FC236}">
                <a16:creationId xmlns:a16="http://schemas.microsoft.com/office/drawing/2014/main" id="{4600B0A5-80BD-4A36-BFAB-06BD331F2D41}"/>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Lunchzaak Puur · Boekpagina 75</a:t>
            </a:r>
          </a:p>
        </p:txBody>
      </p:sp>
      <p:sp>
        <p:nvSpPr>
          <p:cNvPr id="6" name="Puur hoort bij markt II. Voor één dag geldt:">
            <a:extLst xmlns:a="http://schemas.openxmlformats.org/drawingml/2006/main">
              <a:ext uri="{FF2B5EF4-FFF2-40B4-BE49-F238E27FC236}">
                <a16:creationId xmlns:a16="http://schemas.microsoft.com/office/drawing/2014/main" id="{9CC4D704-05A6-40BE-AE0A-69A57D671C39}"/>
              </a:ext>
            </a:extLst>
          </p:cNvPr>
          <p:cNvSpPr>
            <a:spLocks xmlns:a="http://schemas.openxmlformats.org/drawingml/2006/main" noGrp="1"/>
          </p:cNvSpPr>
          <p:nvPr/>
        </p:nvSpPr>
        <p:spPr>
          <a:xfrm xmlns:a="http://schemas.openxmlformats.org/drawingml/2006/main">
            <a:off x="571500" y="25431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Puur hoort bij markt II. Voor één dag geldt:</a:t>
            </a:r>
          </a:p>
        </p:txBody>
      </p:sp>
      <p:sp>
        <p:nvSpPr>
          <p:cNvPr id="7" name="P = 30 − 0,25q       TK = 144 + 6q">
            <a:extLst xmlns:a="http://schemas.openxmlformats.org/drawingml/2006/main">
              <a:ext uri="{FF2B5EF4-FFF2-40B4-BE49-F238E27FC236}">
                <a16:creationId xmlns:a16="http://schemas.microsoft.com/office/drawing/2014/main" id="{1AE46BC3-D4AB-49FB-B1FB-D98168B9DF4A}"/>
              </a:ext>
            </a:extLst>
          </p:cNvPr>
          <p:cNvSpPr>
            <a:spLocks xmlns:a="http://schemas.openxmlformats.org/drawingml/2006/main" noGrp="1"/>
          </p:cNvSpPr>
          <p:nvPr/>
        </p:nvSpPr>
        <p:spPr>
          <a:xfrm xmlns:a="http://schemas.openxmlformats.org/drawingml/2006/main">
            <a:off x="571500" y="35242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P = 30 − 0,25q       TK = 144 + 6q</a:t>
            </a:r>
          </a:p>
        </p:txBody>
      </p:sp>
      <p:sp>
        <p:nvSpPr>
          <p:cNvPr id="8" name="q is maaltijden per dag. P is euro per maaltijd.&#10;D">
            <a:extLst xmlns:a="http://schemas.openxmlformats.org/drawingml/2006/main">
              <a:ext uri="{FF2B5EF4-FFF2-40B4-BE49-F238E27FC236}">
                <a16:creationId xmlns:a16="http://schemas.microsoft.com/office/drawing/2014/main" id="{83E0B3F9-B876-44E4-AADE-647EBDC6E29A}"/>
              </a:ext>
            </a:extLst>
          </p:cNvPr>
          <p:cNvSpPr>
            <a:spLocks xmlns:a="http://schemas.openxmlformats.org/drawingml/2006/main" noGrp="1"/>
          </p:cNvSpPr>
          <p:nvPr/>
        </p:nvSpPr>
        <p:spPr>
          <a:xfrm xmlns:a="http://schemas.openxmlformats.org/drawingml/2006/main">
            <a:off x="571500" y="4810125"/>
            <a:ext cx="14097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q is maaltijden per dag. P is euro per maaltijd.</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productiecapaciteit is 80 maaltijden.</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vaste kosten blijven ook bij q = 0 bestaan.</a:t>
            </a:r>
          </a:p>
        </p:txBody>
      </p:sp>
      <p:sp>
        <p:nvSpPr>
          <p:cNvPr id="9" name="Gedrag van concurrenten, kwaliteit en overige vraa">
            <a:extLst xmlns:a="http://schemas.openxmlformats.org/drawingml/2006/main">
              <a:ext uri="{FF2B5EF4-FFF2-40B4-BE49-F238E27FC236}">
                <a16:creationId xmlns:a16="http://schemas.microsoft.com/office/drawing/2014/main" id="{DDAEAEBC-95C0-4626-9561-2D53C1680AB5}"/>
              </a:ext>
            </a:extLst>
          </p:cNvPr>
          <p:cNvSpPr>
            <a:spLocks xmlns:a="http://schemas.openxmlformats.org/drawingml/2006/main" noGrp="1"/>
          </p:cNvSpPr>
          <p:nvPr/>
        </p:nvSpPr>
        <p:spPr>
          <a:xfrm xmlns:a="http://schemas.openxmlformats.org/drawingml/2006/main">
            <a:off x="571500" y="68865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Gedrag van concurrenten, kwaliteit en overige vraagfactoren blijven in deze berekening gelijk.</a:t>
            </a:r>
          </a:p>
        </p:txBody>
      </p:sp>
    </p:spTree>
    <p:extLst>
      <p:ext uri="{BB962C8B-B14F-4D97-AF65-F5344CB8AC3E}">
        <p14:creationId xmlns:p14="http://schemas.microsoft.com/office/powerpoint/2010/main" val="6429938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25 · Vragen a, b en c">
            <a:extLst xmlns:a="http://schemas.openxmlformats.org/drawingml/2006/main">
              <a:ext uri="{FF2B5EF4-FFF2-40B4-BE49-F238E27FC236}">
                <a16:creationId xmlns:a16="http://schemas.microsoft.com/office/drawing/2014/main" id="{6E861077-C4DA-4E2B-B11A-0AAEC5AFBBA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 · Vragen a, b en c</a:t>
            </a:r>
          </a:p>
        </p:txBody>
      </p:sp>
      <p:sp>
        <p:nvSpPr>
          <p:cNvPr id="2" name="">
            <a:extLst xmlns:a="http://schemas.openxmlformats.org/drawingml/2006/main">
              <a:ext uri="{FF2B5EF4-FFF2-40B4-BE49-F238E27FC236}">
                <a16:creationId xmlns:a16="http://schemas.microsoft.com/office/drawing/2014/main" id="{CD7898BC-12A0-4C50-8CD8-28C474D309B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A1BEA026-FEC8-4645-BA61-1E649B3D4CBF}"/>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5">
            <a:extLst xmlns:a="http://schemas.openxmlformats.org/drawingml/2006/main">
              <a:ext uri="{FF2B5EF4-FFF2-40B4-BE49-F238E27FC236}">
                <a16:creationId xmlns:a16="http://schemas.microsoft.com/office/drawing/2014/main" id="{0C141E0B-680D-49A2-AE8C-3109849E60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a · 4 punten">
            <a:extLst xmlns:a="http://schemas.openxmlformats.org/drawingml/2006/main">
              <a:ext uri="{FF2B5EF4-FFF2-40B4-BE49-F238E27FC236}">
                <a16:creationId xmlns:a16="http://schemas.microsoft.com/office/drawing/2014/main" id="{78A26C69-EB43-4669-B679-D36933331202}"/>
              </a:ext>
            </a:extLst>
          </p:cNvPr>
          <p:cNvSpPr>
            <a:spLocks xmlns:a="http://schemas.openxmlformats.org/drawingml/2006/main" noGrp="1"/>
          </p:cNvSpPr>
          <p:nvPr/>
        </p:nvSpPr>
        <p:spPr>
          <a:xfrm xmlns:a="http://schemas.openxmlformats.org/drawingml/2006/main">
            <a:off x="571500" y="207645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 · 4 punten</a:t>
            </a:r>
          </a:p>
        </p:txBody>
      </p:sp>
      <p:sp>
        <p:nvSpPr>
          <p:cNvPr id="6" name="Classificeer I tot en met IV. Geef voor elke markt">
            <a:extLst xmlns:a="http://schemas.openxmlformats.org/drawingml/2006/main">
              <a:ext uri="{FF2B5EF4-FFF2-40B4-BE49-F238E27FC236}">
                <a16:creationId xmlns:a16="http://schemas.microsoft.com/office/drawing/2014/main" id="{9B12C1E5-A7C3-463D-8C3A-B9FAA2F4246D}"/>
              </a:ext>
            </a:extLst>
          </p:cNvPr>
          <p:cNvSpPr>
            <a:spLocks xmlns:a="http://schemas.openxmlformats.org/drawingml/2006/main" noGrp="1"/>
          </p:cNvSpPr>
          <p:nvPr/>
        </p:nvSpPr>
        <p:spPr>
          <a:xfrm xmlns:a="http://schemas.openxmlformats.org/drawingml/2006/main">
            <a:off x="3810000" y="2076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Classificeer I tot en met IV. Geef voor elke markt het beslissende bronbewijs.</a:t>
            </a:r>
          </a:p>
        </p:txBody>
      </p:sp>
      <p:sp>
        <p:nvSpPr>
          <p:cNvPr id="7" name="">
            <a:extLst xmlns:a="http://schemas.openxmlformats.org/drawingml/2006/main">
              <a:ext uri="{FF2B5EF4-FFF2-40B4-BE49-F238E27FC236}">
                <a16:creationId xmlns:a16="http://schemas.microsoft.com/office/drawing/2014/main" id="{55D9C04D-EA3D-4F75-BD35-E81D569999C0}"/>
              </a:ext>
            </a:extLst>
          </p:cNvPr>
          <p:cNvSpPr>
            <a:spLocks xmlns:a="http://schemas.openxmlformats.org/drawingml/2006/main" noGrp="1"/>
          </p:cNvSpPr>
          <p:nvPr/>
        </p:nvSpPr>
        <p:spPr>
          <a:xfrm xmlns:a="http://schemas.openxmlformats.org/drawingml/2006/main">
            <a:off x="571500" y="3648075"/>
            <a:ext cx="14097000" cy="0"/>
          </a:xfrm>
          <a:prstGeom xmlns:a="http://schemas.openxmlformats.org/drawingml/2006/main" prst="line">
            <a:avLst/>
          </a:prstGeom>
          <a:ln xmlns:a="http://schemas.openxmlformats.org/drawingml/2006/main" w="19050">
            <a:solidFill>
              <a:srgbClr val="C6D2DB"/>
            </a:solidFill>
          </a:ln>
        </p:spPr>
      </p:sp>
      <p:sp>
        <p:nvSpPr>
          <p:cNvPr id="8" name="b · 2 punten">
            <a:extLst xmlns:a="http://schemas.openxmlformats.org/drawingml/2006/main">
              <a:ext uri="{FF2B5EF4-FFF2-40B4-BE49-F238E27FC236}">
                <a16:creationId xmlns:a16="http://schemas.microsoft.com/office/drawing/2014/main" id="{6AB2075D-0722-4A51-A0AA-189DC60E4ED0}"/>
              </a:ext>
            </a:extLst>
          </p:cNvPr>
          <p:cNvSpPr>
            <a:spLocks xmlns:a="http://schemas.openxmlformats.org/drawingml/2006/main" noGrp="1"/>
          </p:cNvSpPr>
          <p:nvPr/>
        </p:nvSpPr>
        <p:spPr>
          <a:xfrm xmlns:a="http://schemas.openxmlformats.org/drawingml/2006/main">
            <a:off x="571500" y="390525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 · 2 punten</a:t>
            </a:r>
          </a:p>
        </p:txBody>
      </p:sp>
      <p:sp>
        <p:nvSpPr>
          <p:cNvPr id="9" name="Bepaal voor Puur TO, MO en MK.">
            <a:extLst xmlns:a="http://schemas.openxmlformats.org/drawingml/2006/main">
              <a:ext uri="{FF2B5EF4-FFF2-40B4-BE49-F238E27FC236}">
                <a16:creationId xmlns:a16="http://schemas.microsoft.com/office/drawing/2014/main" id="{8CFDC945-FB42-4EFE-95D1-F566CB7D2C4E}"/>
              </a:ext>
            </a:extLst>
          </p:cNvPr>
          <p:cNvSpPr>
            <a:spLocks xmlns:a="http://schemas.openxmlformats.org/drawingml/2006/main" noGrp="1"/>
          </p:cNvSpPr>
          <p:nvPr/>
        </p:nvSpPr>
        <p:spPr>
          <a:xfrm xmlns:a="http://schemas.openxmlformats.org/drawingml/2006/main">
            <a:off x="3810000" y="39052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Bepaal voor Puur TO, MO en MK.</a:t>
            </a:r>
          </a:p>
        </p:txBody>
      </p:sp>
      <p:sp>
        <p:nvSpPr>
          <p:cNvPr id="10" name="">
            <a:extLst xmlns:a="http://schemas.openxmlformats.org/drawingml/2006/main">
              <a:ext uri="{FF2B5EF4-FFF2-40B4-BE49-F238E27FC236}">
                <a16:creationId xmlns:a16="http://schemas.microsoft.com/office/drawing/2014/main" id="{858D5C23-6901-4487-A39F-2003117C391B}"/>
              </a:ext>
            </a:extLst>
          </p:cNvPr>
          <p:cNvSpPr>
            <a:spLocks xmlns:a="http://schemas.openxmlformats.org/drawingml/2006/main" noGrp="1"/>
          </p:cNvSpPr>
          <p:nvPr/>
        </p:nvSpPr>
        <p:spPr>
          <a:xfrm xmlns:a="http://schemas.openxmlformats.org/drawingml/2006/main">
            <a:off x="571500" y="5476875"/>
            <a:ext cx="14097000" cy="0"/>
          </a:xfrm>
          <a:prstGeom xmlns:a="http://schemas.openxmlformats.org/drawingml/2006/main" prst="line">
            <a:avLst/>
          </a:prstGeom>
          <a:ln xmlns:a="http://schemas.openxmlformats.org/drawingml/2006/main" w="19050">
            <a:solidFill>
              <a:srgbClr val="C6D2DB"/>
            </a:solidFill>
          </a:ln>
        </p:spPr>
      </p:sp>
      <p:sp>
        <p:nvSpPr>
          <p:cNvPr id="11" name="c · 3 punten">
            <a:extLst xmlns:a="http://schemas.openxmlformats.org/drawingml/2006/main">
              <a:ext uri="{FF2B5EF4-FFF2-40B4-BE49-F238E27FC236}">
                <a16:creationId xmlns:a16="http://schemas.microsoft.com/office/drawing/2014/main" id="{C5000CA3-B98D-42C5-8DA7-01A1F54716F2}"/>
              </a:ext>
            </a:extLst>
          </p:cNvPr>
          <p:cNvSpPr>
            <a:spLocks xmlns:a="http://schemas.openxmlformats.org/drawingml/2006/main" noGrp="1"/>
          </p:cNvSpPr>
          <p:nvPr/>
        </p:nvSpPr>
        <p:spPr>
          <a:xfrm xmlns:a="http://schemas.openxmlformats.org/drawingml/2006/main">
            <a:off x="571500" y="573405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c · 3 punten</a:t>
            </a:r>
          </a:p>
        </p:txBody>
      </p:sp>
      <p:sp>
        <p:nvSpPr>
          <p:cNvPr id="12" name="Bereken de winstmaximale haalbare q, de verkooppri">
            <a:extLst xmlns:a="http://schemas.openxmlformats.org/drawingml/2006/main">
              <a:ext uri="{FF2B5EF4-FFF2-40B4-BE49-F238E27FC236}">
                <a16:creationId xmlns:a16="http://schemas.microsoft.com/office/drawing/2014/main" id="{479AE3E2-E543-41DD-B860-4BE15DEF3819}"/>
              </a:ext>
            </a:extLst>
          </p:cNvPr>
          <p:cNvSpPr>
            <a:spLocks xmlns:a="http://schemas.openxmlformats.org/drawingml/2006/main" noGrp="1"/>
          </p:cNvSpPr>
          <p:nvPr/>
        </p:nvSpPr>
        <p:spPr>
          <a:xfrm xmlns:a="http://schemas.openxmlformats.org/drawingml/2006/main">
            <a:off x="3810000" y="5734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de winstmaximale haalbare q, de verkoopprijs en de winst.</a:t>
            </a:r>
          </a:p>
        </p:txBody>
      </p:sp>
    </p:spTree>
    <p:extLst>
      <p:ext uri="{BB962C8B-B14F-4D97-AF65-F5344CB8AC3E}">
        <p14:creationId xmlns:p14="http://schemas.microsoft.com/office/powerpoint/2010/main" val="180363273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25 · Vragen d en e">
            <a:extLst xmlns:a="http://schemas.openxmlformats.org/drawingml/2006/main">
              <a:ext uri="{FF2B5EF4-FFF2-40B4-BE49-F238E27FC236}">
                <a16:creationId xmlns:a16="http://schemas.microsoft.com/office/drawing/2014/main" id="{EE4D3DD5-8AC8-4355-AEE8-D5413090CE7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 · Vragen d en e</a:t>
            </a:r>
          </a:p>
        </p:txBody>
      </p:sp>
      <p:sp>
        <p:nvSpPr>
          <p:cNvPr id="2" name="">
            <a:extLst xmlns:a="http://schemas.openxmlformats.org/drawingml/2006/main">
              <a:ext uri="{FF2B5EF4-FFF2-40B4-BE49-F238E27FC236}">
                <a16:creationId xmlns:a16="http://schemas.microsoft.com/office/drawing/2014/main" id="{DA4DE638-86B9-4F8F-9B26-A17FEB7ECA9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D1A3AFA8-A09C-4BF1-A5BD-AEB810B8C9A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6">
            <a:extLst xmlns:a="http://schemas.openxmlformats.org/drawingml/2006/main">
              <a:ext uri="{FF2B5EF4-FFF2-40B4-BE49-F238E27FC236}">
                <a16:creationId xmlns:a16="http://schemas.microsoft.com/office/drawing/2014/main" id="{05FF8C0D-3B99-4B34-87F3-AEC8A7DA310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d · 2 punten">
            <a:extLst xmlns:a="http://schemas.openxmlformats.org/drawingml/2006/main">
              <a:ext uri="{FF2B5EF4-FFF2-40B4-BE49-F238E27FC236}">
                <a16:creationId xmlns:a16="http://schemas.microsoft.com/office/drawing/2014/main" id="{D12313FB-2F92-44A2-B7F8-262EE1F085F7}"/>
              </a:ext>
            </a:extLst>
          </p:cNvPr>
          <p:cNvSpPr>
            <a:spLocks xmlns:a="http://schemas.openxmlformats.org/drawingml/2006/main" noGrp="1"/>
          </p:cNvSpPr>
          <p:nvPr/>
        </p:nvSpPr>
        <p:spPr>
          <a:xfrm xmlns:a="http://schemas.openxmlformats.org/drawingml/2006/main">
            <a:off x="571500" y="233362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d · 2 punten</a:t>
            </a:r>
          </a:p>
        </p:txBody>
      </p:sp>
      <p:sp>
        <p:nvSpPr>
          <p:cNvPr id="6" name="Verklaar waarom Puur geen horizontale GO-lijn hoef">
            <a:extLst xmlns:a="http://schemas.openxmlformats.org/drawingml/2006/main">
              <a:ext uri="{FF2B5EF4-FFF2-40B4-BE49-F238E27FC236}">
                <a16:creationId xmlns:a16="http://schemas.microsoft.com/office/drawing/2014/main" id="{5EAC858A-8DBA-494A-8BCF-09D7E0EFD5D7}"/>
              </a:ext>
            </a:extLst>
          </p:cNvPr>
          <p:cNvSpPr>
            <a:spLocks xmlns:a="http://schemas.openxmlformats.org/drawingml/2006/main" noGrp="1"/>
          </p:cNvSpPr>
          <p:nvPr/>
        </p:nvSpPr>
        <p:spPr>
          <a:xfrm xmlns:a="http://schemas.openxmlformats.org/drawingml/2006/main">
            <a:off x="3810000" y="23336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Verklaar waarom Puur geen horizontale GO-lijn hoeft te hebben, ook al zijn er veel aanbieders.</a:t>
            </a:r>
          </a:p>
        </p:txBody>
      </p:sp>
      <p:sp>
        <p:nvSpPr>
          <p:cNvPr id="7" name="">
            <a:extLst xmlns:a="http://schemas.openxmlformats.org/drawingml/2006/main">
              <a:ext uri="{FF2B5EF4-FFF2-40B4-BE49-F238E27FC236}">
                <a16:creationId xmlns:a16="http://schemas.microsoft.com/office/drawing/2014/main" id="{DD91EE5A-29E9-45AC-85EB-C18FF42D2833}"/>
              </a:ext>
            </a:extLst>
          </p:cNvPr>
          <p:cNvSpPr>
            <a:spLocks xmlns:a="http://schemas.openxmlformats.org/drawingml/2006/main" noGrp="1"/>
          </p:cNvSpPr>
          <p:nvPr/>
        </p:nvSpPr>
        <p:spPr>
          <a:xfrm xmlns:a="http://schemas.openxmlformats.org/drawingml/2006/main">
            <a:off x="571500" y="4524375"/>
            <a:ext cx="14097000" cy="0"/>
          </a:xfrm>
          <a:prstGeom xmlns:a="http://schemas.openxmlformats.org/drawingml/2006/main" prst="line">
            <a:avLst/>
          </a:prstGeom>
          <a:ln xmlns:a="http://schemas.openxmlformats.org/drawingml/2006/main" w="19050">
            <a:solidFill>
              <a:srgbClr val="C6D2DB"/>
            </a:solidFill>
          </a:ln>
        </p:spPr>
      </p:sp>
      <p:sp>
        <p:nvSpPr>
          <p:cNvPr id="8" name="e · 2 punten">
            <a:extLst xmlns:a="http://schemas.openxmlformats.org/drawingml/2006/main">
              <a:ext uri="{FF2B5EF4-FFF2-40B4-BE49-F238E27FC236}">
                <a16:creationId xmlns:a16="http://schemas.microsoft.com/office/drawing/2014/main" id="{28C365AB-A9AB-421F-9C0E-57CFE64144A5}"/>
              </a:ext>
            </a:extLst>
          </p:cNvPr>
          <p:cNvSpPr>
            <a:spLocks xmlns:a="http://schemas.openxmlformats.org/drawingml/2006/main" noGrp="1"/>
          </p:cNvSpPr>
          <p:nvPr/>
        </p:nvSpPr>
        <p:spPr>
          <a:xfrm xmlns:a="http://schemas.openxmlformats.org/drawingml/2006/main">
            <a:off x="571500" y="478155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e · 2 punten</a:t>
            </a:r>
          </a:p>
        </p:txBody>
      </p:sp>
      <p:sp>
        <p:nvSpPr>
          <p:cNvPr id="9" name="Mag je de functie van Puur zonder extra broninform">
            <a:extLst xmlns:a="http://schemas.openxmlformats.org/drawingml/2006/main">
              <a:ext uri="{FF2B5EF4-FFF2-40B4-BE49-F238E27FC236}">
                <a16:creationId xmlns:a16="http://schemas.microsoft.com/office/drawing/2014/main" id="{C9697125-3FF6-470D-9F7C-E9E7CC55AB60}"/>
              </a:ext>
            </a:extLst>
          </p:cNvPr>
          <p:cNvSpPr>
            <a:spLocks xmlns:a="http://schemas.openxmlformats.org/drawingml/2006/main" noGrp="1"/>
          </p:cNvSpPr>
          <p:nvPr/>
        </p:nvSpPr>
        <p:spPr>
          <a:xfrm xmlns:a="http://schemas.openxmlformats.org/drawingml/2006/main">
            <a:off x="3810000" y="47815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Mag je de functie van Puur zonder extra broninformatie gebruiken voor markt III? Leg uit.</a:t>
            </a:r>
          </a:p>
        </p:txBody>
      </p:sp>
      <p:sp>
        <p:nvSpPr>
          <p:cNvPr id="10" name="Vergelijk de bron met je eigen redenering.">
            <a:extLst xmlns:a="http://schemas.openxmlformats.org/drawingml/2006/main">
              <a:ext uri="{FF2B5EF4-FFF2-40B4-BE49-F238E27FC236}">
                <a16:creationId xmlns:a16="http://schemas.microsoft.com/office/drawing/2014/main" id="{31C537AA-EFD9-46A0-BA52-684B8DE68F2A}"/>
              </a:ext>
            </a:extLst>
          </p:cNvPr>
          <p:cNvSpPr>
            <a:spLocks xmlns:a="http://schemas.openxmlformats.org/drawingml/2006/main" noGrp="1"/>
          </p:cNvSpPr>
          <p:nvPr/>
        </p:nvSpPr>
        <p:spPr>
          <a:xfrm xmlns:a="http://schemas.openxmlformats.org/drawingml/2006/main">
            <a:off x="571500" y="73342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445B6B"/>
                </a:solidFill>
                <a:latin typeface="Arial"/>
                <a:ea typeface="Arial"/>
                <a:cs typeface="Arial"/>
              </a:defRPr>
            </a:pPr>
            <a:r>
              <a:rPr sz="2325" b="0">
                <a:solidFill>
                  <a:srgbClr val="445B6B"/>
                </a:solidFill>
                <a:latin typeface="Arial"/>
                <a:ea typeface="Arial"/>
                <a:cs typeface="Arial"/>
              </a:rPr>
              <a:t>Vergelijk de bron met je eigen redenering.</a:t>
            </a:r>
          </a:p>
        </p:txBody>
      </p:sp>
    </p:spTree>
    <p:extLst>
      <p:ext uri="{BB962C8B-B14F-4D97-AF65-F5344CB8AC3E}">
        <p14:creationId xmlns:p14="http://schemas.microsoft.com/office/powerpoint/2010/main" val="5975191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25a · Marktvorm met bronbewijs">
            <a:extLst xmlns:a="http://schemas.openxmlformats.org/drawingml/2006/main">
              <a:ext uri="{FF2B5EF4-FFF2-40B4-BE49-F238E27FC236}">
                <a16:creationId xmlns:a16="http://schemas.microsoft.com/office/drawing/2014/main" id="{32B3EAEF-AE2D-4D6F-AB25-7E9A6F52903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25a · Marktvorm met bronbewijs</a:t>
            </a:r>
          </a:p>
        </p:txBody>
      </p:sp>
      <p:sp>
        <p:nvSpPr>
          <p:cNvPr id="2" name="">
            <a:extLst xmlns:a="http://schemas.openxmlformats.org/drawingml/2006/main">
              <a:ext uri="{FF2B5EF4-FFF2-40B4-BE49-F238E27FC236}">
                <a16:creationId xmlns:a16="http://schemas.microsoft.com/office/drawing/2014/main" id="{103B0D6B-2635-4918-8DBD-E43D9646915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7B74BCC9-8F3B-4008-AC0B-E1CFFD5D83FA}"/>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7">
            <a:extLst xmlns:a="http://schemas.openxmlformats.org/drawingml/2006/main">
              <a:ext uri="{FF2B5EF4-FFF2-40B4-BE49-F238E27FC236}">
                <a16:creationId xmlns:a16="http://schemas.microsoft.com/office/drawing/2014/main" id="{51EDB579-A683-44EA-9761-BEB22B3321A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graphicFrame>
        <p:nvGraphicFramePr>
          <p:cNvPr id="11" name=""/>
          <p:cNvGraphicFramePr/>
          <p:nvPr/>
        </p:nvGraphicFramePr>
        <p:xfrm>
          <a:off xmlns:a="http://schemas.openxmlformats.org/drawingml/2006/main" x="571500" y="2133600"/>
          <a:ext xmlns:a="http://schemas.openxmlformats.org/drawingml/2006/main" cx="14097000" cy="4953000"/>
        </p:xfrm>
        <a:graphic xmlns:a="http://schemas.openxmlformats.org/drawingml/2006/main">
          <a:graphicData uri="http://schemas.openxmlformats.org/drawingml/2006/table">
            <a:tbl>
              <a:tblPr/>
              <a:tblGrid>
                <a:gridCol w="1524000"/>
                <a:gridCol w="4953000"/>
                <a:gridCol w="7620000"/>
              </a:tblGrid>
              <a:tr h="990600">
                <a:tc>
                  <a:txBody>
                    <a:bodyPr lIns="171450" tIns="95250" rIns="152400" bIns="95250"/>
                    <a:lstStyle/>
                    <a:p>
                      <a:r>
                        <a:rPr sz="2400" b="1">
                          <a:solidFill>
                            <a:srgbClr val="FFFFFF"/>
                          </a:solidFill>
                          <a:latin typeface="Arial"/>
                          <a:ea typeface="Arial"/>
                          <a:cs typeface="Arial"/>
                        </a:rPr>
                        <a:t>Markt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Marktvorm</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Beslissend bronbewijs</a:t>
                      </a:r>
                    </a:p>
                  </a:txBody>
                  <a:tcPr marL="91440" marR="91440" marT="45720" marB="45720" anchor="ctr">
                    <a:solidFill>
                      <a:srgbClr val="183247"/>
                    </a:solidFill>
                  </a:tcPr>
                </a:tc>
              </a:tr>
              <a:tr h="990600">
                <a:tc>
                  <a:txBody>
                    <a:bodyPr lIns="171450" tIns="95250" rIns="152400" bIns="95250"/>
                    <a:lstStyle/>
                    <a:p>
                      <a:r>
                        <a:rPr sz="2400" b="0">
                          <a:solidFill>
                            <a:srgbClr val="183247"/>
                          </a:solidFill>
                          <a:latin typeface="Arial"/>
                          <a:ea typeface="Arial"/>
                          <a:cs typeface="Arial"/>
                        </a:rPr>
                        <a:t>I</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Volkomen concurrentie</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Veel kleine telers, identieke grondstof, vrije toetreding</a:t>
                      </a:r>
                    </a:p>
                  </a:txBody>
                  <a:tcPr marL="91440" marR="91440" marT="45720" marB="45720" anchor="ctr">
                    <a:solidFill>
                      <a:srgbClr val="FFFFFF"/>
                    </a:solidFill>
                  </a:tcPr>
                </a:tc>
              </a:tr>
              <a:tr h="990600">
                <a:tc>
                  <a:txBody>
                    <a:bodyPr lIns="171450" tIns="95250" rIns="152400" bIns="95250"/>
                    <a:lstStyle/>
                    <a:p>
                      <a:r>
                        <a:rPr sz="2400" b="0">
                          <a:solidFill>
                            <a:srgbClr val="183247"/>
                          </a:solidFill>
                          <a:latin typeface="Arial"/>
                          <a:ea typeface="Arial"/>
                          <a:cs typeface="Arial"/>
                        </a:rPr>
                        <a:t>II</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Monopolistische</a:t>
                      </a:r>
                    </a:p>
                    <a:p>
                      <a:r>
                        <a:rPr sz="2400" b="0">
                          <a:solidFill>
                            <a:srgbClr val="183247"/>
                          </a:solidFill>
                          <a:latin typeface="Arial"/>
                          <a:ea typeface="Arial"/>
                          <a:cs typeface="Arial"/>
                        </a:rPr>
                        <a:t>concurrentie</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Veel onafhankelijke lunchzaken, verschillen in smaak en locatie, eenvoudige toetreding</a:t>
                      </a:r>
                    </a:p>
                  </a:txBody>
                  <a:tcPr marL="91440" marR="91440" marT="45720" marB="45720" anchor="ctr">
                    <a:solidFill>
                      <a:srgbClr val="EFF4F7"/>
                    </a:solidFill>
                  </a:tcPr>
                </a:tc>
              </a:tr>
              <a:tr h="990600">
                <a:tc>
                  <a:txBody>
                    <a:bodyPr lIns="171450" tIns="95250" rIns="152400" bIns="95250"/>
                    <a:lstStyle/>
                    <a:p>
                      <a:r>
                        <a:rPr sz="2400" b="0">
                          <a:solidFill>
                            <a:srgbClr val="183247"/>
                          </a:solidFill>
                          <a:latin typeface="Arial"/>
                          <a:ea typeface="Arial"/>
                          <a:cs typeface="Arial"/>
                        </a:rPr>
                        <a:t>III</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Oligopolie</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Drie grote aanbieders domineren, hoge kosten voor een nieuw netwerk</a:t>
                      </a:r>
                    </a:p>
                  </a:txBody>
                  <a:tcPr marL="91440" marR="91440" marT="45720" marB="45720" anchor="ctr">
                    <a:solidFill>
                      <a:srgbClr val="FFFFFF"/>
                    </a:solidFill>
                  </a:tcPr>
                </a:tc>
              </a:tr>
              <a:tr h="990600">
                <a:tc>
                  <a:txBody>
                    <a:bodyPr lIns="171450" tIns="95250" rIns="152400" bIns="95250"/>
                    <a:lstStyle/>
                    <a:p>
                      <a:r>
                        <a:rPr sz="2400" b="0">
                          <a:solidFill>
                            <a:srgbClr val="183247"/>
                          </a:solidFill>
                          <a:latin typeface="Arial"/>
                          <a:ea typeface="Arial"/>
                          <a:cs typeface="Arial"/>
                        </a:rPr>
                        <a:t>IV</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Monopolie</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Eén aanbieder, unieke toegang en geen goede alternatieven binnen de markt</a:t>
                      </a:r>
                    </a:p>
                  </a:txBody>
                  <a:tcPr marL="91440" marR="91440" marT="45720" marB="45720" anchor="ctr">
                    <a:solidFill>
                      <a:srgbClr val="EFF4F7"/>
                    </a:solidFill>
                  </a:tcPr>
                </a:tc>
              </a:tr>
            </a:tbl>
          </a:graphicData>
        </a:graphic>
      </p:graphicFrame>
      <p:sp>
        <p:nvSpPr>
          <p:cNvPr id="6" name="De classificatie steunt op de combinatie van kenme">
            <a:extLst xmlns:a="http://schemas.openxmlformats.org/drawingml/2006/main">
              <a:ext uri="{FF2B5EF4-FFF2-40B4-BE49-F238E27FC236}">
                <a16:creationId xmlns:a16="http://schemas.microsoft.com/office/drawing/2014/main" id="{0DE78416-5BD0-47A8-BF3E-72CEB8589228}"/>
              </a:ext>
            </a:extLst>
          </p:cNvPr>
          <p:cNvSpPr>
            <a:spLocks xmlns:a="http://schemas.openxmlformats.org/drawingml/2006/main" noGrp="1"/>
          </p:cNvSpPr>
          <p:nvPr/>
        </p:nvSpPr>
        <p:spPr>
          <a:xfrm xmlns:a="http://schemas.openxmlformats.org/drawingml/2006/main">
            <a:off x="571500" y="739140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De classificatie steunt op de combinatie van kenmerken.</a:t>
            </a:r>
          </a:p>
        </p:txBody>
      </p:sp>
    </p:spTree>
    <p:extLst>
      <p:ext uri="{BB962C8B-B14F-4D97-AF65-F5344CB8AC3E}">
        <p14:creationId xmlns:p14="http://schemas.microsoft.com/office/powerpoint/2010/main" val="258615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pgave 25b · TO, MO en MK">
            <a:extLst xmlns:a="http://schemas.openxmlformats.org/drawingml/2006/main">
              <a:ext uri="{FF2B5EF4-FFF2-40B4-BE49-F238E27FC236}">
                <a16:creationId xmlns:a16="http://schemas.microsoft.com/office/drawing/2014/main" id="{57DCC574-CC07-4E91-86A7-48BF703650B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25b · TO, MO en MK</a:t>
            </a:r>
          </a:p>
        </p:txBody>
      </p:sp>
      <p:sp>
        <p:nvSpPr>
          <p:cNvPr id="2" name="">
            <a:extLst xmlns:a="http://schemas.openxmlformats.org/drawingml/2006/main">
              <a:ext uri="{FF2B5EF4-FFF2-40B4-BE49-F238E27FC236}">
                <a16:creationId xmlns:a16="http://schemas.microsoft.com/office/drawing/2014/main" id="{0B875B6C-1DC1-4084-AA33-4B02C4D646A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1F5755CB-E75E-42DF-903F-1308544FF5E1}"/>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8">
            <a:extLst xmlns:a="http://schemas.openxmlformats.org/drawingml/2006/main">
              <a:ext uri="{FF2B5EF4-FFF2-40B4-BE49-F238E27FC236}">
                <a16:creationId xmlns:a16="http://schemas.microsoft.com/office/drawing/2014/main" id="{2D0C3504-AB44-4EA8-969D-77259278BDD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TO = P × q">
            <a:extLst xmlns:a="http://schemas.openxmlformats.org/drawingml/2006/main">
              <a:ext uri="{FF2B5EF4-FFF2-40B4-BE49-F238E27FC236}">
                <a16:creationId xmlns:a16="http://schemas.microsoft.com/office/drawing/2014/main" id="{CF519EC4-1631-49DD-B535-C39C5C7F9F00}"/>
              </a:ext>
            </a:extLst>
          </p:cNvPr>
          <p:cNvSpPr>
            <a:spLocks xmlns:a="http://schemas.openxmlformats.org/drawingml/2006/main" noGrp="1"/>
          </p:cNvSpPr>
          <p:nvPr/>
        </p:nvSpPr>
        <p:spPr>
          <a:xfrm xmlns:a="http://schemas.openxmlformats.org/drawingml/2006/main">
            <a:off x="571500" y="2095500"/>
            <a:ext cx="4619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TO = P × q</a:t>
            </a:r>
          </a:p>
        </p:txBody>
      </p:sp>
      <p:sp>
        <p:nvSpPr>
          <p:cNvPr id="6" name="TO = (30 − 0,25q)q&#10;TO = 30q − 0,25q²">
            <a:extLst xmlns:a="http://schemas.openxmlformats.org/drawingml/2006/main">
              <a:ext uri="{FF2B5EF4-FFF2-40B4-BE49-F238E27FC236}">
                <a16:creationId xmlns:a16="http://schemas.microsoft.com/office/drawing/2014/main" id="{89EE3B71-82A6-4DC3-84E1-4015DF4FC9F4}"/>
              </a:ext>
            </a:extLst>
          </p:cNvPr>
          <p:cNvSpPr>
            <a:spLocks xmlns:a="http://schemas.openxmlformats.org/drawingml/2006/main" noGrp="1"/>
          </p:cNvSpPr>
          <p:nvPr/>
        </p:nvSpPr>
        <p:spPr>
          <a:xfrm xmlns:a="http://schemas.openxmlformats.org/drawingml/2006/main">
            <a:off x="5476875" y="2095500"/>
            <a:ext cx="919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TO = (30 − 0,25q)q</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TO = 30q − 0,25q²</a:t>
            </a:r>
          </a:p>
        </p:txBody>
      </p:sp>
      <p:sp>
        <p:nvSpPr>
          <p:cNvPr id="7" name="">
            <a:extLst xmlns:a="http://schemas.openxmlformats.org/drawingml/2006/main">
              <a:ext uri="{FF2B5EF4-FFF2-40B4-BE49-F238E27FC236}">
                <a16:creationId xmlns:a16="http://schemas.microsoft.com/office/drawing/2014/main" id="{C602B29C-DD6C-490D-92D1-F43E45F4E6E4}"/>
              </a:ext>
            </a:extLst>
          </p:cNvPr>
          <p:cNvSpPr>
            <a:spLocks xmlns:a="http://schemas.openxmlformats.org/drawingml/2006/main" noGrp="1"/>
          </p:cNvSpPr>
          <p:nvPr/>
        </p:nvSpPr>
        <p:spPr>
          <a:xfrm xmlns:a="http://schemas.openxmlformats.org/drawingml/2006/main">
            <a:off x="571500" y="3495675"/>
            <a:ext cx="14097000" cy="0"/>
          </a:xfrm>
          <a:prstGeom xmlns:a="http://schemas.openxmlformats.org/drawingml/2006/main" prst="line">
            <a:avLst/>
          </a:prstGeom>
          <a:ln xmlns:a="http://schemas.openxmlformats.org/drawingml/2006/main" w="19050">
            <a:solidFill>
              <a:srgbClr val="C6D2DB"/>
            </a:solidFill>
          </a:ln>
        </p:spPr>
      </p:sp>
      <p:sp>
        <p:nvSpPr>
          <p:cNvPr id="8" name="Marginale opbrengst">
            <a:extLst xmlns:a="http://schemas.openxmlformats.org/drawingml/2006/main">
              <a:ext uri="{FF2B5EF4-FFF2-40B4-BE49-F238E27FC236}">
                <a16:creationId xmlns:a16="http://schemas.microsoft.com/office/drawing/2014/main" id="{02C456C2-C405-44AC-B339-103C6C4848C2}"/>
              </a:ext>
            </a:extLst>
          </p:cNvPr>
          <p:cNvSpPr>
            <a:spLocks xmlns:a="http://schemas.openxmlformats.org/drawingml/2006/main" noGrp="1"/>
          </p:cNvSpPr>
          <p:nvPr/>
        </p:nvSpPr>
        <p:spPr>
          <a:xfrm xmlns:a="http://schemas.openxmlformats.org/drawingml/2006/main">
            <a:off x="571500" y="3752850"/>
            <a:ext cx="4619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Marginale opbrengst</a:t>
            </a:r>
          </a:p>
        </p:txBody>
      </p:sp>
      <p:sp>
        <p:nvSpPr>
          <p:cNvPr id="9" name="MO = 30 − 0,50q">
            <a:extLst xmlns:a="http://schemas.openxmlformats.org/drawingml/2006/main">
              <a:ext uri="{FF2B5EF4-FFF2-40B4-BE49-F238E27FC236}">
                <a16:creationId xmlns:a16="http://schemas.microsoft.com/office/drawing/2014/main" id="{20A279F2-5B76-4DB5-ABF8-D94FEC7E6ED8}"/>
              </a:ext>
            </a:extLst>
          </p:cNvPr>
          <p:cNvSpPr>
            <a:spLocks xmlns:a="http://schemas.openxmlformats.org/drawingml/2006/main" noGrp="1"/>
          </p:cNvSpPr>
          <p:nvPr/>
        </p:nvSpPr>
        <p:spPr>
          <a:xfrm xmlns:a="http://schemas.openxmlformats.org/drawingml/2006/main">
            <a:off x="5476875" y="3752850"/>
            <a:ext cx="919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MO = 30 − 0,50q</a:t>
            </a:r>
          </a:p>
        </p:txBody>
      </p:sp>
      <p:sp>
        <p:nvSpPr>
          <p:cNvPr id="10" name="">
            <a:extLst xmlns:a="http://schemas.openxmlformats.org/drawingml/2006/main">
              <a:ext uri="{FF2B5EF4-FFF2-40B4-BE49-F238E27FC236}">
                <a16:creationId xmlns:a16="http://schemas.microsoft.com/office/drawing/2014/main" id="{943C685B-E83D-472F-9CAA-9B2C2FD8A936}"/>
              </a:ext>
            </a:extLst>
          </p:cNvPr>
          <p:cNvSpPr>
            <a:spLocks xmlns:a="http://schemas.openxmlformats.org/drawingml/2006/main" noGrp="1"/>
          </p:cNvSpPr>
          <p:nvPr/>
        </p:nvSpPr>
        <p:spPr>
          <a:xfrm xmlns:a="http://schemas.openxmlformats.org/drawingml/2006/main">
            <a:off x="571500" y="5153025"/>
            <a:ext cx="14097000" cy="0"/>
          </a:xfrm>
          <a:prstGeom xmlns:a="http://schemas.openxmlformats.org/drawingml/2006/main" prst="line">
            <a:avLst/>
          </a:prstGeom>
          <a:ln xmlns:a="http://schemas.openxmlformats.org/drawingml/2006/main" w="19050">
            <a:solidFill>
              <a:srgbClr val="C6D2DB"/>
            </a:solidFill>
          </a:ln>
        </p:spPr>
      </p:sp>
      <p:sp>
        <p:nvSpPr>
          <p:cNvPr id="11" name="Marginale kosten">
            <a:extLst xmlns:a="http://schemas.openxmlformats.org/drawingml/2006/main">
              <a:ext uri="{FF2B5EF4-FFF2-40B4-BE49-F238E27FC236}">
                <a16:creationId xmlns:a16="http://schemas.microsoft.com/office/drawing/2014/main" id="{0CE90E1C-2511-4D72-855B-5453A4D27760}"/>
              </a:ext>
            </a:extLst>
          </p:cNvPr>
          <p:cNvSpPr>
            <a:spLocks xmlns:a="http://schemas.openxmlformats.org/drawingml/2006/main" noGrp="1"/>
          </p:cNvSpPr>
          <p:nvPr/>
        </p:nvSpPr>
        <p:spPr>
          <a:xfrm xmlns:a="http://schemas.openxmlformats.org/drawingml/2006/main">
            <a:off x="571500" y="5410200"/>
            <a:ext cx="4619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Marginale kosten</a:t>
            </a:r>
          </a:p>
        </p:txBody>
      </p:sp>
      <p:sp>
        <p:nvSpPr>
          <p:cNvPr id="12" name="TK = 144 + 6q geeft MK = 6">
            <a:extLst xmlns:a="http://schemas.openxmlformats.org/drawingml/2006/main">
              <a:ext uri="{FF2B5EF4-FFF2-40B4-BE49-F238E27FC236}">
                <a16:creationId xmlns:a16="http://schemas.microsoft.com/office/drawing/2014/main" id="{E85F2C15-B539-4411-94EB-3EB61A12B542}"/>
              </a:ext>
            </a:extLst>
          </p:cNvPr>
          <p:cNvSpPr>
            <a:spLocks xmlns:a="http://schemas.openxmlformats.org/drawingml/2006/main" noGrp="1"/>
          </p:cNvSpPr>
          <p:nvPr/>
        </p:nvSpPr>
        <p:spPr>
          <a:xfrm xmlns:a="http://schemas.openxmlformats.org/drawingml/2006/main">
            <a:off x="5476875" y="5410200"/>
            <a:ext cx="919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TK = 144 + 6q geeft MK = 6</a:t>
            </a:r>
          </a:p>
        </p:txBody>
      </p:sp>
      <p:sp>
        <p:nvSpPr>
          <p:cNvPr id="13" name="TO en TK: € per dag. MO en MK: € per maaltijd.">
            <a:extLst xmlns:a="http://schemas.openxmlformats.org/drawingml/2006/main">
              <a:ext uri="{FF2B5EF4-FFF2-40B4-BE49-F238E27FC236}">
                <a16:creationId xmlns:a16="http://schemas.microsoft.com/office/drawing/2014/main" id="{6D43B3D1-8DEE-41A4-B91A-AF4EB7B1BE2E}"/>
              </a:ext>
            </a:extLst>
          </p:cNvPr>
          <p:cNvSpPr>
            <a:spLocks xmlns:a="http://schemas.openxmlformats.org/drawingml/2006/main" noGrp="1"/>
          </p:cNvSpPr>
          <p:nvPr/>
        </p:nvSpPr>
        <p:spPr>
          <a:xfrm xmlns:a="http://schemas.openxmlformats.org/drawingml/2006/main">
            <a:off x="571500" y="74295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TO en TK: € per dag. MO en MK: € per maaltijd.</a:t>
            </a:r>
          </a:p>
        </p:txBody>
      </p:sp>
    </p:spTree>
    <p:extLst>
      <p:ext uri="{BB962C8B-B14F-4D97-AF65-F5344CB8AC3E}">
        <p14:creationId xmlns:p14="http://schemas.microsoft.com/office/powerpoint/2010/main" val="7313459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5c · Haalbare winstmaximale q">
            <a:extLst xmlns:a="http://schemas.openxmlformats.org/drawingml/2006/main">
              <a:ext uri="{FF2B5EF4-FFF2-40B4-BE49-F238E27FC236}">
                <a16:creationId xmlns:a16="http://schemas.microsoft.com/office/drawing/2014/main" id="{ECF5C069-4EE7-4985-8983-D514F742927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25c · Haalbare winstmaximale q</a:t>
            </a:r>
          </a:p>
        </p:txBody>
      </p:sp>
      <p:sp>
        <p:nvSpPr>
          <p:cNvPr id="2" name="">
            <a:extLst xmlns:a="http://schemas.openxmlformats.org/drawingml/2006/main">
              <a:ext uri="{FF2B5EF4-FFF2-40B4-BE49-F238E27FC236}">
                <a16:creationId xmlns:a16="http://schemas.microsoft.com/office/drawing/2014/main" id="{1A2F2743-7361-43FC-A284-F9523B7DAB4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2598E1F5-18D5-4635-BA42-B75899B91D0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19">
            <a:extLst xmlns:a="http://schemas.openxmlformats.org/drawingml/2006/main">
              <a:ext uri="{FF2B5EF4-FFF2-40B4-BE49-F238E27FC236}">
                <a16:creationId xmlns:a16="http://schemas.microsoft.com/office/drawing/2014/main" id="{6C6A715A-A073-47AB-812D-DD30F25A2A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MO = MK">
            <a:extLst xmlns:a="http://schemas.openxmlformats.org/drawingml/2006/main">
              <a:ext uri="{FF2B5EF4-FFF2-40B4-BE49-F238E27FC236}">
                <a16:creationId xmlns:a16="http://schemas.microsoft.com/office/drawing/2014/main" id="{FAD504F6-7FDA-4BC6-9C4C-078D5DFCE395}"/>
              </a:ext>
            </a:extLst>
          </p:cNvPr>
          <p:cNvSpPr>
            <a:spLocks xmlns:a="http://schemas.openxmlformats.org/drawingml/2006/main" noGrp="1"/>
          </p:cNvSpPr>
          <p:nvPr/>
        </p:nvSpPr>
        <p:spPr>
          <a:xfrm xmlns:a="http://schemas.openxmlformats.org/drawingml/2006/main">
            <a:off x="571500" y="19812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7B2D8E"/>
                </a:solidFill>
                <a:latin typeface="Arial"/>
                <a:ea typeface="Arial"/>
                <a:cs typeface="Arial"/>
              </a:defRPr>
            </a:pPr>
            <a:r>
              <a:rPr sz="3450" b="1">
                <a:solidFill>
                  <a:srgbClr val="7B2D8E"/>
                </a:solidFill>
                <a:latin typeface="Arial"/>
                <a:ea typeface="Arial"/>
                <a:cs typeface="Arial"/>
              </a:rPr>
              <a:t>MO = MK</a:t>
            </a:r>
          </a:p>
        </p:txBody>
      </p:sp>
      <p:sp>
        <p:nvSpPr>
          <p:cNvPr id="6" name="30 − 0,50q = 6       24 = 0,50q       q = 48">
            <a:extLst xmlns:a="http://schemas.openxmlformats.org/drawingml/2006/main">
              <a:ext uri="{FF2B5EF4-FFF2-40B4-BE49-F238E27FC236}">
                <a16:creationId xmlns:a16="http://schemas.microsoft.com/office/drawing/2014/main" id="{2DE17270-D130-47D0-8BD0-E82F585ADA99}"/>
              </a:ext>
            </a:extLst>
          </p:cNvPr>
          <p:cNvSpPr>
            <a:spLocks xmlns:a="http://schemas.openxmlformats.org/drawingml/2006/main" noGrp="1"/>
          </p:cNvSpPr>
          <p:nvPr/>
        </p:nvSpPr>
        <p:spPr>
          <a:xfrm xmlns:a="http://schemas.openxmlformats.org/drawingml/2006/main">
            <a:off x="571500" y="29051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30 − 0,50q = 6       24 = 0,50q       q = 48</a:t>
            </a:r>
          </a:p>
        </p:txBody>
      </p:sp>
      <p:graphicFrame>
        <p:nvGraphicFramePr>
          <p:cNvPr id="14" name=""/>
          <p:cNvGraphicFramePr/>
          <p:nvPr/>
        </p:nvGraphicFramePr>
        <p:xfrm>
          <a:off xmlns:a="http://schemas.openxmlformats.org/drawingml/2006/main" x="571500" y="4295775"/>
          <a:ext xmlns:a="http://schemas.openxmlformats.org/drawingml/2006/main" cx="14097000" cy="3048000"/>
        </p:xfrm>
        <a:graphic xmlns:a="http://schemas.openxmlformats.org/drawingml/2006/main">
          <a:graphicData uri="http://schemas.openxmlformats.org/drawingml/2006/table">
            <a:tbl>
              <a:tblPr/>
              <a:tblGrid>
                <a:gridCol w="6858000"/>
                <a:gridCol w="7239000"/>
              </a:tblGrid>
              <a:tr h="762000">
                <a:tc>
                  <a:txBody>
                    <a:bodyPr lIns="171450" tIns="95250" rIns="152400" bIns="95250"/>
                    <a:lstStyle/>
                    <a:p>
                      <a:r>
                        <a:rPr sz="2475" b="1">
                          <a:solidFill>
                            <a:srgbClr val="FFFFFF"/>
                          </a:solidFill>
                          <a:latin typeface="Arial"/>
                          <a:ea typeface="Arial"/>
                          <a:cs typeface="Arial"/>
                        </a:rPr>
                        <a:t>Controle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Gevolg voor de winst</a:t>
                      </a:r>
                    </a:p>
                  </a:txBody>
                  <a:tcPr marL="91440" marR="91440" marT="45720" marB="45720" anchor="ctr">
                    <a:solidFill>
                      <a:srgbClr val="183247"/>
                    </a:solidFill>
                  </a:tcPr>
                </a:tc>
              </a:tr>
              <a:tr h="762000">
                <a:tc>
                  <a:txBody>
                    <a:bodyPr lIns="171450" tIns="95250" rIns="152400" bIns="95250"/>
                    <a:lstStyle/>
                    <a:p>
                      <a:r>
                        <a:rPr sz="2475" b="0">
                          <a:solidFill>
                            <a:srgbClr val="183247"/>
                          </a:solidFill>
                          <a:latin typeface="Arial"/>
                          <a:ea typeface="Arial"/>
                          <a:cs typeface="Arial"/>
                        </a:rPr>
                        <a:t>Vóór 48: MO &gt; 6</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Een kleine uitbreiding verhoogt de winst.</a:t>
                      </a:r>
                    </a:p>
                  </a:txBody>
                  <a:tcPr marL="91440" marR="91440" marT="45720" marB="45720" anchor="ctr">
                    <a:solidFill>
                      <a:srgbClr val="FFFFFF"/>
                    </a:solidFill>
                  </a:tcPr>
                </a:tc>
              </a:tr>
              <a:tr h="762000">
                <a:tc>
                  <a:txBody>
                    <a:bodyPr lIns="171450" tIns="95250" rIns="152400" bIns="95250"/>
                    <a:lstStyle/>
                    <a:p>
                      <a:r>
                        <a:rPr sz="2475" b="0">
                          <a:solidFill>
                            <a:srgbClr val="183247"/>
                          </a:solidFill>
                          <a:latin typeface="Arial"/>
                          <a:ea typeface="Arial"/>
                          <a:cs typeface="Arial"/>
                        </a:rPr>
                        <a:t>Na 48: MO &lt; 6</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Een kleine uitbreiding verlaagt de winst.</a:t>
                      </a:r>
                    </a:p>
                  </a:txBody>
                  <a:tcPr marL="91440" marR="91440" marT="45720" marB="45720" anchor="ctr">
                    <a:solidFill>
                      <a:srgbClr val="EFF4F7"/>
                    </a:solidFill>
                  </a:tcPr>
                </a:tc>
              </a:tr>
              <a:tr h="762000">
                <a:tc>
                  <a:txBody>
                    <a:bodyPr lIns="171450" tIns="95250" rIns="152400" bIns="95250"/>
                    <a:lstStyle/>
                    <a:p>
                      <a:r>
                        <a:rPr sz="2475" b="0">
                          <a:solidFill>
                            <a:srgbClr val="183247"/>
                          </a:solidFill>
                          <a:latin typeface="Arial"/>
                          <a:ea typeface="Arial"/>
                          <a:cs typeface="Arial"/>
                        </a:rPr>
                        <a:t>48 ≤ 80 maaltijden per dag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De hoeveelheid past binnen de capaciteit.</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0083816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25c · De prijs op GO">
            <a:extLst xmlns:a="http://schemas.openxmlformats.org/drawingml/2006/main">
              <a:ext uri="{FF2B5EF4-FFF2-40B4-BE49-F238E27FC236}">
                <a16:creationId xmlns:a16="http://schemas.microsoft.com/office/drawing/2014/main" id="{14BCF6EF-96E8-4DBD-A64B-AD455377158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25c · De prijs op GO</a:t>
            </a:r>
          </a:p>
        </p:txBody>
      </p:sp>
      <p:sp>
        <p:nvSpPr>
          <p:cNvPr id="2" name="">
            <a:extLst xmlns:a="http://schemas.openxmlformats.org/drawingml/2006/main">
              <a:ext uri="{FF2B5EF4-FFF2-40B4-BE49-F238E27FC236}">
                <a16:creationId xmlns:a16="http://schemas.microsoft.com/office/drawing/2014/main" id="{789CC963-C8C8-42A6-993B-AD908DFE460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E0853EE2-234D-4A47-B98C-205276E4A635}"/>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20">
            <a:extLst xmlns:a="http://schemas.openxmlformats.org/drawingml/2006/main">
              <a:ext uri="{FF2B5EF4-FFF2-40B4-BE49-F238E27FC236}">
                <a16:creationId xmlns:a16="http://schemas.microsoft.com/office/drawing/2014/main" id="{123D1460-0009-44E4-BBF3-66245EB23DB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Puur: één lunchzaak · Eén dag">
            <a:extLst xmlns:a="http://schemas.openxmlformats.org/drawingml/2006/main">
              <a:ext uri="{FF2B5EF4-FFF2-40B4-BE49-F238E27FC236}">
                <a16:creationId xmlns:a16="http://schemas.microsoft.com/office/drawing/2014/main" id="{A630D501-2F2D-4E3D-A7F4-08EB039F4E0B}"/>
              </a:ext>
            </a:extLst>
          </p:cNvPr>
          <p:cNvSpPr>
            <a:spLocks xmlns:a="http://schemas.openxmlformats.org/drawingml/2006/main" noGrp="1"/>
          </p:cNvSpPr>
          <p:nvPr/>
        </p:nvSpPr>
        <p:spPr>
          <a:xfrm xmlns:a="http://schemas.openxmlformats.org/drawingml/2006/main">
            <a:off x="571500" y="17240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Puur: één lunchzaak · Eén dag</a:t>
            </a:r>
          </a:p>
        </p:txBody>
      </p:sp>
      <p:graphicFrame>
        <p:nvGraphicFramePr>
          <p:cNvPr id="15" name="Chart"/>
          <p:cNvGraphicFramePr/>
          <p:nvPr/>
        </p:nvGraphicFramePr>
        <p:xfrm>
          <a:off xmlns:a="http://schemas.openxmlformats.org/drawingml/2006/main" x="571500" y="2190750"/>
          <a:ext xmlns:a="http://schemas.openxmlformats.org/drawingml/2006/main" cx="9763125" cy="5543550"/>
        </p:xfrm>
        <a:graphic xmlns:a="http://schemas.openxmlformats.org/drawingml/2006/main">
          <a:graphicData uri="http://schemas.openxmlformats.org/drawingml/2006/chart">
            <c:chart xmlns:r="http://schemas.openxmlformats.org/officeDocument/2006/relationships" xmlns:c="http://schemas.openxmlformats.org/drawingml/2006/chart" r:id="Rbc371e0ee8294c6f"/>
          </a:graphicData>
        </a:graphic>
      </p:graphicFrame>
      <p:sp>
        <p:nvSpPr>
          <p:cNvPr id="7" name="q = 48">
            <a:extLst xmlns:a="http://schemas.openxmlformats.org/drawingml/2006/main">
              <a:ext uri="{FF2B5EF4-FFF2-40B4-BE49-F238E27FC236}">
                <a16:creationId xmlns:a16="http://schemas.microsoft.com/office/drawing/2014/main" id="{8B6E06DE-1A19-402B-BE98-C7DF41D9E757}"/>
              </a:ext>
            </a:extLst>
          </p:cNvPr>
          <p:cNvSpPr>
            <a:spLocks xmlns:a="http://schemas.openxmlformats.org/drawingml/2006/main" noGrp="1"/>
          </p:cNvSpPr>
          <p:nvPr/>
        </p:nvSpPr>
        <p:spPr>
          <a:xfrm xmlns:a="http://schemas.openxmlformats.org/drawingml/2006/main">
            <a:off x="10668000" y="25431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q = 48</a:t>
            </a:r>
          </a:p>
        </p:txBody>
      </p:sp>
      <p:sp>
        <p:nvSpPr>
          <p:cNvPr id="8" name="P = 30 − 0,25 × 48&#10;P = € 18 per maaltijd">
            <a:extLst xmlns:a="http://schemas.openxmlformats.org/drawingml/2006/main">
              <a:ext uri="{FF2B5EF4-FFF2-40B4-BE49-F238E27FC236}">
                <a16:creationId xmlns:a16="http://schemas.microsoft.com/office/drawing/2014/main" id="{B8C55F55-3541-4A6F-A124-FE78328FD6D1}"/>
              </a:ext>
            </a:extLst>
          </p:cNvPr>
          <p:cNvSpPr>
            <a:spLocks xmlns:a="http://schemas.openxmlformats.org/drawingml/2006/main" noGrp="1"/>
          </p:cNvSpPr>
          <p:nvPr/>
        </p:nvSpPr>
        <p:spPr>
          <a:xfrm xmlns:a="http://schemas.openxmlformats.org/drawingml/2006/main">
            <a:off x="10668000" y="3848100"/>
            <a:ext cx="400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P = 30 − 0,25 × 48</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P = € 18 per maaltijd</a:t>
            </a:r>
          </a:p>
        </p:txBody>
      </p:sp>
      <p:sp>
        <p:nvSpPr>
          <p:cNvPr id="9" name="Bij MO = MK is&#10;het bedrag € 6.&#10;De prijs op GO is €">
            <a:extLst xmlns:a="http://schemas.openxmlformats.org/drawingml/2006/main">
              <a:ext uri="{FF2B5EF4-FFF2-40B4-BE49-F238E27FC236}">
                <a16:creationId xmlns:a16="http://schemas.microsoft.com/office/drawing/2014/main" id="{7B4C5463-F7FC-4273-8BF1-0694623CF4F7}"/>
              </a:ext>
            </a:extLst>
          </p:cNvPr>
          <p:cNvSpPr>
            <a:spLocks xmlns:a="http://schemas.openxmlformats.org/drawingml/2006/main" noGrp="1"/>
          </p:cNvSpPr>
          <p:nvPr/>
        </p:nvSpPr>
        <p:spPr>
          <a:xfrm xmlns:a="http://schemas.openxmlformats.org/drawingml/2006/main">
            <a:off x="10668000" y="5981700"/>
            <a:ext cx="4000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Bij MO = MK is</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het bedrag € 6.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De prijs op GO is € 18.</a:t>
            </a:r>
          </a:p>
        </p:txBody>
      </p:sp>
    </p:spTree>
    <p:extLst>
      <p:ext uri="{BB962C8B-B14F-4D97-AF65-F5344CB8AC3E}">
        <p14:creationId xmlns:p14="http://schemas.microsoft.com/office/powerpoint/2010/main" val="12130271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pgave 25c · Winst en controle">
            <a:extLst xmlns:a="http://schemas.openxmlformats.org/drawingml/2006/main">
              <a:ext uri="{FF2B5EF4-FFF2-40B4-BE49-F238E27FC236}">
                <a16:creationId xmlns:a16="http://schemas.microsoft.com/office/drawing/2014/main" id="{0EF185C7-1DE3-4B67-9DB7-A01176430DB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25c · Winst en controle</a:t>
            </a:r>
          </a:p>
        </p:txBody>
      </p:sp>
      <p:sp>
        <p:nvSpPr>
          <p:cNvPr id="2" name="">
            <a:extLst xmlns:a="http://schemas.openxmlformats.org/drawingml/2006/main">
              <a:ext uri="{FF2B5EF4-FFF2-40B4-BE49-F238E27FC236}">
                <a16:creationId xmlns:a16="http://schemas.microsoft.com/office/drawing/2014/main" id="{03FB8B21-AE85-42C4-A561-7E35B91BE5E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2816ED5D-894C-4FDD-98A3-A0A388DFEC6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21">
            <a:extLst xmlns:a="http://schemas.openxmlformats.org/drawingml/2006/main">
              <a:ext uri="{FF2B5EF4-FFF2-40B4-BE49-F238E27FC236}">
                <a16:creationId xmlns:a16="http://schemas.microsoft.com/office/drawing/2014/main" id="{51DD4584-35B3-4123-B150-D36AE969002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Totale opbrengst">
            <a:extLst xmlns:a="http://schemas.openxmlformats.org/drawingml/2006/main">
              <a:ext uri="{FF2B5EF4-FFF2-40B4-BE49-F238E27FC236}">
                <a16:creationId xmlns:a16="http://schemas.microsoft.com/office/drawing/2014/main" id="{836A9B88-9C39-4598-8396-23EBDE7EB3AD}"/>
              </a:ext>
            </a:extLst>
          </p:cNvPr>
          <p:cNvSpPr>
            <a:spLocks xmlns:a="http://schemas.openxmlformats.org/drawingml/2006/main" noGrp="1"/>
          </p:cNvSpPr>
          <p:nvPr/>
        </p:nvSpPr>
        <p:spPr>
          <a:xfrm xmlns:a="http://schemas.openxmlformats.org/drawingml/2006/main">
            <a:off x="571500" y="20764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Totale opbrengst</a:t>
            </a:r>
          </a:p>
        </p:txBody>
      </p:sp>
      <p:sp>
        <p:nvSpPr>
          <p:cNvPr id="6" name="TO = 18 × 48 = € 864 per dag">
            <a:extLst xmlns:a="http://schemas.openxmlformats.org/drawingml/2006/main">
              <a:ext uri="{FF2B5EF4-FFF2-40B4-BE49-F238E27FC236}">
                <a16:creationId xmlns:a16="http://schemas.microsoft.com/office/drawing/2014/main" id="{17A9FC90-41D8-4090-9D0F-2E2C9F7C33E9}"/>
              </a:ext>
            </a:extLst>
          </p:cNvPr>
          <p:cNvSpPr>
            <a:spLocks xmlns:a="http://schemas.openxmlformats.org/drawingml/2006/main" noGrp="1"/>
          </p:cNvSpPr>
          <p:nvPr/>
        </p:nvSpPr>
        <p:spPr>
          <a:xfrm xmlns:a="http://schemas.openxmlformats.org/drawingml/2006/main">
            <a:off x="4905375" y="2076450"/>
            <a:ext cx="9763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TO = 18 × 48 = € 864 per dag</a:t>
            </a:r>
          </a:p>
        </p:txBody>
      </p:sp>
      <p:sp>
        <p:nvSpPr>
          <p:cNvPr id="7" name="">
            <a:extLst xmlns:a="http://schemas.openxmlformats.org/drawingml/2006/main">
              <a:ext uri="{FF2B5EF4-FFF2-40B4-BE49-F238E27FC236}">
                <a16:creationId xmlns:a16="http://schemas.microsoft.com/office/drawing/2014/main" id="{B4397E1F-3D45-4009-A6EE-5BC6BAE65C58}"/>
              </a:ext>
            </a:extLst>
          </p:cNvPr>
          <p:cNvSpPr>
            <a:spLocks xmlns:a="http://schemas.openxmlformats.org/drawingml/2006/main" noGrp="1"/>
          </p:cNvSpPr>
          <p:nvPr/>
        </p:nvSpPr>
        <p:spPr>
          <a:xfrm xmlns:a="http://schemas.openxmlformats.org/drawingml/2006/main">
            <a:off x="571500" y="3257550"/>
            <a:ext cx="14097000" cy="0"/>
          </a:xfrm>
          <a:prstGeom xmlns:a="http://schemas.openxmlformats.org/drawingml/2006/main" prst="line">
            <a:avLst/>
          </a:prstGeom>
          <a:ln xmlns:a="http://schemas.openxmlformats.org/drawingml/2006/main" w="19050">
            <a:solidFill>
              <a:srgbClr val="C6D2DB"/>
            </a:solidFill>
          </a:ln>
        </p:spPr>
      </p:sp>
      <p:sp>
        <p:nvSpPr>
          <p:cNvPr id="8" name="Totale kosten">
            <a:extLst xmlns:a="http://schemas.openxmlformats.org/drawingml/2006/main">
              <a:ext uri="{FF2B5EF4-FFF2-40B4-BE49-F238E27FC236}">
                <a16:creationId xmlns:a16="http://schemas.microsoft.com/office/drawing/2014/main" id="{D23B8384-FADC-47A2-87E2-68B24A5F550E}"/>
              </a:ext>
            </a:extLst>
          </p:cNvPr>
          <p:cNvSpPr>
            <a:spLocks xmlns:a="http://schemas.openxmlformats.org/drawingml/2006/main" noGrp="1"/>
          </p:cNvSpPr>
          <p:nvPr/>
        </p:nvSpPr>
        <p:spPr>
          <a:xfrm xmlns:a="http://schemas.openxmlformats.org/drawingml/2006/main">
            <a:off x="571500" y="35147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Totale kosten</a:t>
            </a:r>
          </a:p>
        </p:txBody>
      </p:sp>
      <p:sp>
        <p:nvSpPr>
          <p:cNvPr id="9" name="TK = 144 + 6 × 48 = € 432 per dag">
            <a:extLst xmlns:a="http://schemas.openxmlformats.org/drawingml/2006/main">
              <a:ext uri="{FF2B5EF4-FFF2-40B4-BE49-F238E27FC236}">
                <a16:creationId xmlns:a16="http://schemas.microsoft.com/office/drawing/2014/main" id="{C50FDA30-8F6C-47C4-92D9-0ACE3974E095}"/>
              </a:ext>
            </a:extLst>
          </p:cNvPr>
          <p:cNvSpPr>
            <a:spLocks xmlns:a="http://schemas.openxmlformats.org/drawingml/2006/main" noGrp="1"/>
          </p:cNvSpPr>
          <p:nvPr/>
        </p:nvSpPr>
        <p:spPr>
          <a:xfrm xmlns:a="http://schemas.openxmlformats.org/drawingml/2006/main">
            <a:off x="4905375" y="3514725"/>
            <a:ext cx="9763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TK = 144 + 6 × 48 = € 432 per dag</a:t>
            </a:r>
          </a:p>
        </p:txBody>
      </p:sp>
      <p:sp>
        <p:nvSpPr>
          <p:cNvPr id="10" name="">
            <a:extLst xmlns:a="http://schemas.openxmlformats.org/drawingml/2006/main">
              <a:ext uri="{FF2B5EF4-FFF2-40B4-BE49-F238E27FC236}">
                <a16:creationId xmlns:a16="http://schemas.microsoft.com/office/drawing/2014/main" id="{34CDA4F9-ABEE-49CB-885A-F011F5013F84}"/>
              </a:ext>
            </a:extLst>
          </p:cNvPr>
          <p:cNvSpPr>
            <a:spLocks xmlns:a="http://schemas.openxmlformats.org/drawingml/2006/main" noGrp="1"/>
          </p:cNvSpPr>
          <p:nvPr/>
        </p:nvSpPr>
        <p:spPr>
          <a:xfrm xmlns:a="http://schemas.openxmlformats.org/drawingml/2006/main">
            <a:off x="571500" y="4695825"/>
            <a:ext cx="14097000" cy="0"/>
          </a:xfrm>
          <a:prstGeom xmlns:a="http://schemas.openxmlformats.org/drawingml/2006/main" prst="line">
            <a:avLst/>
          </a:prstGeom>
          <a:ln xmlns:a="http://schemas.openxmlformats.org/drawingml/2006/main" w="19050">
            <a:solidFill>
              <a:srgbClr val="C6D2DB"/>
            </a:solidFill>
          </a:ln>
        </p:spPr>
      </p:sp>
      <p:sp>
        <p:nvSpPr>
          <p:cNvPr id="11" name="Winst">
            <a:extLst xmlns:a="http://schemas.openxmlformats.org/drawingml/2006/main">
              <a:ext uri="{FF2B5EF4-FFF2-40B4-BE49-F238E27FC236}">
                <a16:creationId xmlns:a16="http://schemas.microsoft.com/office/drawing/2014/main" id="{4BB6440E-0AF8-439B-928E-1A33E188BCAB}"/>
              </a:ext>
            </a:extLst>
          </p:cNvPr>
          <p:cNvSpPr>
            <a:spLocks xmlns:a="http://schemas.openxmlformats.org/drawingml/2006/main" noGrp="1"/>
          </p:cNvSpPr>
          <p:nvPr/>
        </p:nvSpPr>
        <p:spPr>
          <a:xfrm xmlns:a="http://schemas.openxmlformats.org/drawingml/2006/main">
            <a:off x="571500" y="49530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Winst</a:t>
            </a:r>
          </a:p>
        </p:txBody>
      </p:sp>
      <p:sp>
        <p:nvSpPr>
          <p:cNvPr id="12" name="864 − 432 = € 432 per dag">
            <a:extLst xmlns:a="http://schemas.openxmlformats.org/drawingml/2006/main">
              <a:ext uri="{FF2B5EF4-FFF2-40B4-BE49-F238E27FC236}">
                <a16:creationId xmlns:a16="http://schemas.microsoft.com/office/drawing/2014/main" id="{0F58465C-CFF1-4226-9833-28ADCD79A099}"/>
              </a:ext>
            </a:extLst>
          </p:cNvPr>
          <p:cNvSpPr>
            <a:spLocks xmlns:a="http://schemas.openxmlformats.org/drawingml/2006/main" noGrp="1"/>
          </p:cNvSpPr>
          <p:nvPr/>
        </p:nvSpPr>
        <p:spPr>
          <a:xfrm xmlns:a="http://schemas.openxmlformats.org/drawingml/2006/main">
            <a:off x="4905375" y="4953000"/>
            <a:ext cx="9763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864 − 432 = € 432 per dag</a:t>
            </a:r>
          </a:p>
        </p:txBody>
      </p:sp>
      <p:sp>
        <p:nvSpPr>
          <p:cNvPr id="13" name="Bij q = 0: winst = −€ 144 per dag.">
            <a:extLst xmlns:a="http://schemas.openxmlformats.org/drawingml/2006/main">
              <a:ext uri="{FF2B5EF4-FFF2-40B4-BE49-F238E27FC236}">
                <a16:creationId xmlns:a16="http://schemas.microsoft.com/office/drawing/2014/main" id="{EA23B820-7ED4-4D31-81CA-7745AB3CA825}"/>
              </a:ext>
            </a:extLst>
          </p:cNvPr>
          <p:cNvSpPr>
            <a:spLocks xmlns:a="http://schemas.openxmlformats.org/drawingml/2006/main" noGrp="1"/>
          </p:cNvSpPr>
          <p:nvPr/>
        </p:nvSpPr>
        <p:spPr>
          <a:xfrm xmlns:a="http://schemas.openxmlformats.org/drawingml/2006/main">
            <a:off x="571500" y="662940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Bij q = 0: winst = −€ 144 per dag.</a:t>
            </a:r>
          </a:p>
        </p:txBody>
      </p:sp>
      <p:sp>
        <p:nvSpPr>
          <p:cNvPr id="14" name="Niet produceren levert minder op dan q = 48.">
            <a:extLst xmlns:a="http://schemas.openxmlformats.org/drawingml/2006/main">
              <a:ext uri="{FF2B5EF4-FFF2-40B4-BE49-F238E27FC236}">
                <a16:creationId xmlns:a16="http://schemas.microsoft.com/office/drawing/2014/main" id="{A6FFC421-2310-4E93-908B-EAD4F86D9E2F}"/>
              </a:ext>
            </a:extLst>
          </p:cNvPr>
          <p:cNvSpPr>
            <a:spLocks xmlns:a="http://schemas.openxmlformats.org/drawingml/2006/main" noGrp="1"/>
          </p:cNvSpPr>
          <p:nvPr/>
        </p:nvSpPr>
        <p:spPr>
          <a:xfrm xmlns:a="http://schemas.openxmlformats.org/drawingml/2006/main">
            <a:off x="571500" y="73723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Niet produceren levert minder op dan q = 48.</a:t>
            </a:r>
          </a:p>
        </p:txBody>
      </p:sp>
    </p:spTree>
    <p:extLst>
      <p:ext uri="{BB962C8B-B14F-4D97-AF65-F5344CB8AC3E}">
        <p14:creationId xmlns:p14="http://schemas.microsoft.com/office/powerpoint/2010/main" val="14735331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25d · Veel aanbieders, eigen prijs">
            <a:extLst xmlns:a="http://schemas.openxmlformats.org/drawingml/2006/main">
              <a:ext uri="{FF2B5EF4-FFF2-40B4-BE49-F238E27FC236}">
                <a16:creationId xmlns:a16="http://schemas.microsoft.com/office/drawing/2014/main" id="{3B5D3654-5DB4-44EA-A2C7-2D43003E88E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25d · Veel aanbieders, eigen prijs</a:t>
            </a:r>
          </a:p>
        </p:txBody>
      </p:sp>
      <p:sp>
        <p:nvSpPr>
          <p:cNvPr id="2" name="">
            <a:extLst xmlns:a="http://schemas.openxmlformats.org/drawingml/2006/main">
              <a:ext uri="{FF2B5EF4-FFF2-40B4-BE49-F238E27FC236}">
                <a16:creationId xmlns:a16="http://schemas.microsoft.com/office/drawing/2014/main" id="{E737A3A4-E022-4F6B-912F-1C66D6D203D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ABC2DDD8-4473-49B3-95B1-699285990E6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22">
            <a:extLst xmlns:a="http://schemas.openxmlformats.org/drawingml/2006/main">
              <a:ext uri="{FF2B5EF4-FFF2-40B4-BE49-F238E27FC236}">
                <a16:creationId xmlns:a16="http://schemas.microsoft.com/office/drawing/2014/main" id="{30306B1A-5845-45C9-82B4-B9CA270704C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1" name=""/>
          <p:cNvGraphicFramePr/>
          <p:nvPr/>
        </p:nvGraphicFramePr>
        <p:xfrm>
          <a:off xmlns:a="http://schemas.openxmlformats.org/drawingml/2006/main" x="571500" y="2247900"/>
          <a:ext xmlns:a="http://schemas.openxmlformats.org/drawingml/2006/main" cx="14097000" cy="4000500"/>
        </p:xfrm>
        <a:graphic xmlns:a="http://schemas.openxmlformats.org/drawingml/2006/main">
          <a:graphicData uri="http://schemas.openxmlformats.org/drawingml/2006/table">
            <a:tbl>
              <a:tblPr/>
              <a:tblGrid>
                <a:gridCol w="7048500"/>
                <a:gridCol w="7048500"/>
              </a:tblGrid>
              <a:tr h="1000125">
                <a:tc>
                  <a:txBody>
                    <a:bodyPr lIns="171450" tIns="95250" rIns="152400" bIns="95250"/>
                    <a:lstStyle/>
                    <a:p>
                      <a:r>
                        <a:rPr sz="2625" b="1">
                          <a:solidFill>
                            <a:srgbClr val="FFFFFF"/>
                          </a:solidFill>
                          <a:latin typeface="Arial"/>
                          <a:ea typeface="Arial"/>
                          <a:cs typeface="Arial"/>
                        </a:rPr>
                        <a:t>Volkomen concurrentie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Puur in markt II</a:t>
                      </a:r>
                    </a:p>
                  </a:txBody>
                  <a:tcPr marL="91440" marR="91440" marT="45720" marB="45720" anchor="ctr">
                    <a:solidFill>
                      <a:srgbClr val="183247"/>
                    </a:solidFill>
                  </a:tcPr>
                </a:tc>
              </a:tr>
              <a:tr h="1000125">
                <a:tc>
                  <a:txBody>
                    <a:bodyPr lIns="171450" tIns="95250" rIns="152400" bIns="95250"/>
                    <a:lstStyle/>
                    <a:p>
                      <a:r>
                        <a:rPr sz="2625" b="0">
                          <a:solidFill>
                            <a:srgbClr val="183247"/>
                          </a:solidFill>
                          <a:latin typeface="Arial"/>
                          <a:ea typeface="Arial"/>
                          <a:cs typeface="Arial"/>
                        </a:rPr>
                        <a:t>Homogeen product</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Verschillen in smaak en locatie</a:t>
                      </a:r>
                    </a:p>
                  </a:txBody>
                  <a:tcPr marL="91440" marR="91440" marT="45720" marB="45720" anchor="ctr">
                    <a:solidFill>
                      <a:srgbClr val="FFFFFF"/>
                    </a:solidFill>
                  </a:tcPr>
                </a:tc>
              </a:tr>
              <a:tr h="1000125">
                <a:tc>
                  <a:txBody>
                    <a:bodyPr lIns="171450" tIns="95250" rIns="152400" bIns="95250"/>
                    <a:lstStyle/>
                    <a:p>
                      <a:r>
                        <a:rPr sz="2625" b="0">
                          <a:solidFill>
                            <a:srgbClr val="183247"/>
                          </a:solidFill>
                          <a:latin typeface="Arial"/>
                          <a:ea typeface="Arial"/>
                          <a:cs typeface="Arial"/>
                        </a:rPr>
                        <a:t>Eén kleine onderneming neemt P als gegeven</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Klanten hebben een voorkeur voor een bepaalde zaak</a:t>
                      </a:r>
                    </a:p>
                  </a:txBody>
                  <a:tcPr marL="91440" marR="91440" marT="45720" marB="45720" anchor="ctr">
                    <a:solidFill>
                      <a:srgbClr val="EFF4F7"/>
                    </a:solidFill>
                  </a:tcPr>
                </a:tc>
              </a:tr>
              <a:tr h="1000125">
                <a:tc>
                  <a:txBody>
                    <a:bodyPr lIns="171450" tIns="95250" rIns="152400" bIns="95250"/>
                    <a:lstStyle/>
                    <a:p>
                      <a:r>
                        <a:rPr sz="2625" b="0">
                          <a:solidFill>
                            <a:srgbClr val="183247"/>
                          </a:solidFill>
                          <a:latin typeface="Arial"/>
                          <a:ea typeface="Arial"/>
                          <a:cs typeface="Arial"/>
                        </a:rPr>
                        <a:t>GO = MO = P, horizontaal</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Puur heeft enige prijsruimte en een dalende eigen GO</a:t>
                      </a:r>
                    </a:p>
                  </a:txBody>
                  <a:tcPr marL="91440" marR="91440" marT="45720" marB="45720" anchor="ctr">
                    <a:solidFill>
                      <a:srgbClr val="FFFFFF"/>
                    </a:solidFill>
                  </a:tcPr>
                </a:tc>
              </a:tr>
            </a:tbl>
          </a:graphicData>
        </a:graphic>
      </p:graphicFrame>
      <p:sp>
        <p:nvSpPr>
          <p:cNvPr id="6" name="Productverschillen verklaren de prijsruimte van Pu">
            <a:extLst xmlns:a="http://schemas.openxmlformats.org/drawingml/2006/main">
              <a:ext uri="{FF2B5EF4-FFF2-40B4-BE49-F238E27FC236}">
                <a16:creationId xmlns:a16="http://schemas.microsoft.com/office/drawing/2014/main" id="{22C45684-B8B3-4EDD-8833-6B7A61F5CB5E}"/>
              </a:ext>
            </a:extLst>
          </p:cNvPr>
          <p:cNvSpPr>
            <a:spLocks xmlns:a="http://schemas.openxmlformats.org/drawingml/2006/main" noGrp="1"/>
          </p:cNvSpPr>
          <p:nvPr/>
        </p:nvSpPr>
        <p:spPr>
          <a:xfrm xmlns:a="http://schemas.openxmlformats.org/drawingml/2006/main">
            <a:off x="571500" y="69532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Productverschillen verklaren de prijsruimte van Puur.</a:t>
            </a:r>
          </a:p>
        </p:txBody>
      </p:sp>
    </p:spTree>
    <p:extLst>
      <p:ext uri="{BB962C8B-B14F-4D97-AF65-F5344CB8AC3E}">
        <p14:creationId xmlns:p14="http://schemas.microsoft.com/office/powerpoint/2010/main" val="181755799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25e · De functie in een andere markt">
            <a:extLst xmlns:a="http://schemas.openxmlformats.org/drawingml/2006/main">
              <a:ext uri="{FF2B5EF4-FFF2-40B4-BE49-F238E27FC236}">
                <a16:creationId xmlns:a16="http://schemas.microsoft.com/office/drawing/2014/main" id="{38DC84C3-09FC-403E-BBB0-31A4255738C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25e · De functie in een andere markt</a:t>
            </a:r>
          </a:p>
        </p:txBody>
      </p:sp>
      <p:sp>
        <p:nvSpPr>
          <p:cNvPr id="2" name="">
            <a:extLst xmlns:a="http://schemas.openxmlformats.org/drawingml/2006/main">
              <a:ext uri="{FF2B5EF4-FFF2-40B4-BE49-F238E27FC236}">
                <a16:creationId xmlns:a16="http://schemas.microsoft.com/office/drawing/2014/main" id="{0F44C358-E8E2-4483-BF30-671E766F6DC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D18B8753-740F-4646-A570-7AEDE9145E3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23">
            <a:extLst xmlns:a="http://schemas.openxmlformats.org/drawingml/2006/main">
              <a:ext uri="{FF2B5EF4-FFF2-40B4-BE49-F238E27FC236}">
                <a16:creationId xmlns:a16="http://schemas.microsoft.com/office/drawing/2014/main" id="{B5EA558A-D184-4B54-9138-85FAABAAEA3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Nee, de functie van Puur geldt niet automatisch vo">
            <a:extLst xmlns:a="http://schemas.openxmlformats.org/drawingml/2006/main">
              <a:ext uri="{FF2B5EF4-FFF2-40B4-BE49-F238E27FC236}">
                <a16:creationId xmlns:a16="http://schemas.microsoft.com/office/drawing/2014/main" id="{685BE98A-32E2-46BE-A5D5-031ACC7A61CA}"/>
              </a:ext>
            </a:extLst>
          </p:cNvPr>
          <p:cNvSpPr>
            <a:spLocks xmlns:a="http://schemas.openxmlformats.org/drawingml/2006/main" noGrp="1"/>
          </p:cNvSpPr>
          <p:nvPr/>
        </p:nvSpPr>
        <p:spPr>
          <a:xfrm xmlns:a="http://schemas.openxmlformats.org/drawingml/2006/main">
            <a:off x="571500" y="2114550"/>
            <a:ext cx="14097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Nee, de functie van Puur geldt niet automatisch voor markt III.</a:t>
            </a:r>
          </a:p>
        </p:txBody>
      </p:sp>
      <p:sp>
        <p:nvSpPr>
          <p:cNvPr id="6" name="Gegeven voor Puur">
            <a:extLst xmlns:a="http://schemas.openxmlformats.org/drawingml/2006/main">
              <a:ext uri="{FF2B5EF4-FFF2-40B4-BE49-F238E27FC236}">
                <a16:creationId xmlns:a16="http://schemas.microsoft.com/office/drawing/2014/main" id="{1DA38586-6717-417F-87BC-EA7627AF40A6}"/>
              </a:ext>
            </a:extLst>
          </p:cNvPr>
          <p:cNvSpPr>
            <a:spLocks xmlns:a="http://schemas.openxmlformats.org/drawingml/2006/main" noGrp="1"/>
          </p:cNvSpPr>
          <p:nvPr/>
        </p:nvSpPr>
        <p:spPr>
          <a:xfrm xmlns:a="http://schemas.openxmlformats.org/drawingml/2006/main">
            <a:off x="571500" y="3990975"/>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Gegeven voor Puur</a:t>
            </a:r>
          </a:p>
        </p:txBody>
      </p:sp>
      <p:sp>
        <p:nvSpPr>
          <p:cNvPr id="7" name="Vraag en kosten van één lunchzaak, bij gelijk gedr">
            <a:extLst xmlns:a="http://schemas.openxmlformats.org/drawingml/2006/main">
              <a:ext uri="{FF2B5EF4-FFF2-40B4-BE49-F238E27FC236}">
                <a16:creationId xmlns:a16="http://schemas.microsoft.com/office/drawing/2014/main" id="{587D7DC8-1B5D-433E-83B7-16612F950005}"/>
              </a:ext>
            </a:extLst>
          </p:cNvPr>
          <p:cNvSpPr>
            <a:spLocks xmlns:a="http://schemas.openxmlformats.org/drawingml/2006/main" noGrp="1"/>
          </p:cNvSpPr>
          <p:nvPr/>
        </p:nvSpPr>
        <p:spPr>
          <a:xfrm xmlns:a="http://schemas.openxmlformats.org/drawingml/2006/main">
            <a:off x="5000625" y="3990975"/>
            <a:ext cx="9667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Vraag en kosten van één lunchzaak, bij gelijk gedrag van concurrenten.</a:t>
            </a:r>
          </a:p>
        </p:txBody>
      </p:sp>
      <p:sp>
        <p:nvSpPr>
          <p:cNvPr id="8" name="">
            <a:extLst xmlns:a="http://schemas.openxmlformats.org/drawingml/2006/main">
              <a:ext uri="{FF2B5EF4-FFF2-40B4-BE49-F238E27FC236}">
                <a16:creationId xmlns:a16="http://schemas.microsoft.com/office/drawing/2014/main" id="{770A47BD-B5DC-494D-8F6C-4B0301C92627}"/>
              </a:ext>
            </a:extLst>
          </p:cNvPr>
          <p:cNvSpPr>
            <a:spLocks xmlns:a="http://schemas.openxmlformats.org/drawingml/2006/main" noGrp="1"/>
          </p:cNvSpPr>
          <p:nvPr/>
        </p:nvSpPr>
        <p:spPr>
          <a:xfrm xmlns:a="http://schemas.openxmlformats.org/drawingml/2006/main">
            <a:off x="571500" y="5410200"/>
            <a:ext cx="14097000" cy="0"/>
          </a:xfrm>
          <a:prstGeom xmlns:a="http://schemas.openxmlformats.org/drawingml/2006/main" prst="line">
            <a:avLst/>
          </a:prstGeom>
          <a:ln xmlns:a="http://schemas.openxmlformats.org/drawingml/2006/main" w="19050">
            <a:solidFill>
              <a:srgbClr val="C6D2DB"/>
            </a:solidFill>
          </a:ln>
        </p:spPr>
      </p:sp>
      <p:sp>
        <p:nvSpPr>
          <p:cNvPr id="9" name="Nodig voor markt III">
            <a:extLst xmlns:a="http://schemas.openxmlformats.org/drawingml/2006/main">
              <a:ext uri="{FF2B5EF4-FFF2-40B4-BE49-F238E27FC236}">
                <a16:creationId xmlns:a16="http://schemas.microsoft.com/office/drawing/2014/main" id="{0A6F8150-E776-4F93-B35E-0295C4CDA0ED}"/>
              </a:ext>
            </a:extLst>
          </p:cNvPr>
          <p:cNvSpPr>
            <a:spLocks xmlns:a="http://schemas.openxmlformats.org/drawingml/2006/main" noGrp="1"/>
          </p:cNvSpPr>
          <p:nvPr/>
        </p:nvSpPr>
        <p:spPr>
          <a:xfrm xmlns:a="http://schemas.openxmlformats.org/drawingml/2006/main">
            <a:off x="571500" y="5667375"/>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Nodig voor markt III</a:t>
            </a:r>
          </a:p>
        </p:txBody>
      </p:sp>
      <p:sp>
        <p:nvSpPr>
          <p:cNvPr id="10" name="Informatie over de eigen vraag en de reacties van ">
            <a:extLst xmlns:a="http://schemas.openxmlformats.org/drawingml/2006/main">
              <a:ext uri="{FF2B5EF4-FFF2-40B4-BE49-F238E27FC236}">
                <a16:creationId xmlns:a16="http://schemas.microsoft.com/office/drawing/2014/main" id="{209893EE-61A3-46CE-8F4B-32AC6A9B9950}"/>
              </a:ext>
            </a:extLst>
          </p:cNvPr>
          <p:cNvSpPr>
            <a:spLocks xmlns:a="http://schemas.openxmlformats.org/drawingml/2006/main" noGrp="1"/>
          </p:cNvSpPr>
          <p:nvPr/>
        </p:nvSpPr>
        <p:spPr>
          <a:xfrm xmlns:a="http://schemas.openxmlformats.org/drawingml/2006/main">
            <a:off x="5000625" y="5667375"/>
            <a:ext cx="9667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Informatie over de eigen vraag en de reacties van andere grote aanbieders.</a:t>
            </a:r>
          </a:p>
        </p:txBody>
      </p:sp>
      <p:sp>
        <p:nvSpPr>
          <p:cNvPr id="11" name="Een oligopolie heeft geen universele vraagfunctie.">
            <a:extLst xmlns:a="http://schemas.openxmlformats.org/drawingml/2006/main">
              <a:ext uri="{FF2B5EF4-FFF2-40B4-BE49-F238E27FC236}">
                <a16:creationId xmlns:a16="http://schemas.microsoft.com/office/drawing/2014/main" id="{6E8B5D18-909A-439E-A169-12F8E75A9E66}"/>
              </a:ext>
            </a:extLst>
          </p:cNvPr>
          <p:cNvSpPr>
            <a:spLocks xmlns:a="http://schemas.openxmlformats.org/drawingml/2006/main" noGrp="1"/>
          </p:cNvSpPr>
          <p:nvPr/>
        </p:nvSpPr>
        <p:spPr>
          <a:xfrm xmlns:a="http://schemas.openxmlformats.org/drawingml/2006/main">
            <a:off x="571500" y="7419975"/>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Een oligopolie heeft geen universele vraagfunctie.</a:t>
            </a:r>
          </a:p>
        </p:txBody>
      </p:sp>
    </p:spTree>
    <p:extLst>
      <p:ext uri="{BB962C8B-B14F-4D97-AF65-F5344CB8AC3E}">
        <p14:creationId xmlns:p14="http://schemas.microsoft.com/office/powerpoint/2010/main" val="11325557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3 Marktvormen vergelijken">
            <a:extLst xmlns:a="http://schemas.openxmlformats.org/drawingml/2006/main">
              <a:ext uri="{FF2B5EF4-FFF2-40B4-BE49-F238E27FC236}">
                <a16:creationId xmlns:a16="http://schemas.microsoft.com/office/drawing/2014/main" id="{2E83786D-79F7-4449-A64F-0ED86451077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§4.2.3 Marktvormen vergelijken</a:t>
            </a:r>
          </a:p>
        </p:txBody>
      </p:sp>
      <p:sp>
        <p:nvSpPr>
          <p:cNvPr id="2" name="">
            <a:extLst xmlns:a="http://schemas.openxmlformats.org/drawingml/2006/main">
              <a:ext uri="{FF2B5EF4-FFF2-40B4-BE49-F238E27FC236}">
                <a16:creationId xmlns:a16="http://schemas.microsoft.com/office/drawing/2014/main" id="{59E5AAEF-A593-4039-B162-1576009C9B6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3 Marktvormen vergelijken">
            <a:extLst xmlns:a="http://schemas.openxmlformats.org/drawingml/2006/main">
              <a:ext uri="{FF2B5EF4-FFF2-40B4-BE49-F238E27FC236}">
                <a16:creationId xmlns:a16="http://schemas.microsoft.com/office/drawing/2014/main" id="{95DF382B-F791-435F-9CBB-79DD649B12D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§4.2.3 Marktvormen vergelijken</a:t>
            </a:r>
          </a:p>
        </p:txBody>
      </p:sp>
      <p:sp>
        <p:nvSpPr>
          <p:cNvPr id="4" name="24">
            <a:extLst xmlns:a="http://schemas.openxmlformats.org/drawingml/2006/main">
              <a:ext uri="{FF2B5EF4-FFF2-40B4-BE49-F238E27FC236}">
                <a16:creationId xmlns:a16="http://schemas.microsoft.com/office/drawing/2014/main" id="{3A8F17DA-C874-44F4-B764-83820BC4F7E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hase">
            <a:extLst xmlns:a="http://schemas.openxmlformats.org/drawingml/2006/main">
              <a:ext uri="{FF2B5EF4-FFF2-40B4-BE49-F238E27FC236}">
                <a16:creationId xmlns:a16="http://schemas.microsoft.com/office/drawing/2014/main" id="{B62A0843-6BF8-49CD-8236-1516BDD17E5D}"/>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0EE21D79-639A-4B33-B82D-EFC651A41EE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09F832F8-CF70-4115-B6A8-2E4E70127EE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443206BA-7DC9-41CF-B582-177E067CC4D2}"/>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1E7575F9-BF60-4378-8DA2-17A52E808C83}"/>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4F68C145-8C6E-41B4-B179-D8F16740517B}"/>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7044F0C-44C4-47BC-B17E-3A7414DDB17C}"/>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E4CE77A6-6E2E-4B77-B865-4E62685D2DFE}"/>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43BBE84F-B778-4DA7-B631-09D9EA823259}"/>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6C4C285-D4D4-4E5D-8348-385EEEDDF888}"/>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B164D42D-54C5-42F8-BC6D-0A891945693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BF53247F-5373-455C-BF1B-ABE90C2D659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069C4090-1C1F-4437-8B97-78C915F07A20}"/>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AAC1E23-1108-407A-84F1-718E9BB1F5DC}"/>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7">
            <a:extLst xmlns:a="http://schemas.openxmlformats.org/drawingml/2006/main">
              <a:ext uri="{FF2B5EF4-FFF2-40B4-BE49-F238E27FC236}">
                <a16:creationId xmlns:a16="http://schemas.microsoft.com/office/drawing/2014/main" id="{DD5BA34E-1962-4ACD-95CF-2098F0EF6B55}"/>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5B04EF4E-2ECF-4E17-9855-CE8D59F36A77}"/>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6E47D46-BB12-446F-AF67-C0D568F35E4E}"/>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57EF285-CB13-43CE-A0D5-0D1C5ABB4074}"/>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Marktvormen onderbouwen,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productverschillen verklaren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en q, P en winst berekenen.</a:t>
            </a:r>
          </a:p>
        </p:txBody>
      </p:sp>
      <p:sp>
        <p:nvSpPr>
          <p:cNvPr id="23" name="">
            <a:extLst xmlns:a="http://schemas.openxmlformats.org/drawingml/2006/main">
              <a:ext uri="{FF2B5EF4-FFF2-40B4-BE49-F238E27FC236}">
                <a16:creationId xmlns:a16="http://schemas.microsoft.com/office/drawing/2014/main" id="{2F210008-163A-4F51-8B3D-D1F939A1459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B7FA233-DDDA-4987-BA36-B75630843955}"/>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1988D0B-D50E-490C-BA1C-4FBB2FE6283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73 · Opgaven 19 en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20: verkennen, theorie p. 71</a:t>
            </a:r>
          </a:p>
        </p:txBody>
      </p:sp>
      <p:sp>
        <p:nvSpPr>
          <p:cNvPr id="26" name="">
            <a:extLst xmlns:a="http://schemas.openxmlformats.org/drawingml/2006/main">
              <a:ext uri="{FF2B5EF4-FFF2-40B4-BE49-F238E27FC236}">
                <a16:creationId xmlns:a16="http://schemas.microsoft.com/office/drawing/2014/main" id="{4F7B9BA6-EBAD-4C02-9E94-C2C7AA7E7408}"/>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1CD247F4-D832-45E9-8E14-539D97A4A7C9}"/>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AAA4F4A-F917-458B-85B3-40AF7CF38907}"/>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§4.2.3 · Opgaven 21 t/m 25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21 en 22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23 en 24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25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2147332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2026-10-01T17:23:58.9930000Z</dcterms:created>
  <dcterms:modified xsi:type="dcterms:W3CDTF">2026-10-01T17:23:58.9930000Z</dcterms:modified>
</coreProperties>
</file>