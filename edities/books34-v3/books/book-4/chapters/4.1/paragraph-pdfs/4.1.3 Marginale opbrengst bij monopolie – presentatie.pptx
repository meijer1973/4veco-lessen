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f891ed55559418c" /><Relationship Type="http://schemas.openxmlformats.org/officeDocument/2006/relationships/extended-properties" Target="/docProps/app.xml" Id="R5481f2bede044782" /><Relationship Type="http://schemas.openxmlformats.org/officeDocument/2006/relationships/officeDocument" Target="/ppt/presentation.xml" Id="R5ff337ec29554752" /></Relationships>
</file>

<file path=ppt/presentation.xml><?xml version="1.0" encoding="utf-8"?>
<p:presentation xmlns:p="http://schemas.openxmlformats.org/presentationml/2006/main">
  <p:sldMasterIdLst>
    <p:sldMasterId xmlns:r="http://schemas.openxmlformats.org/officeDocument/2006/relationships" id="2147483648" r:id="R0cdd3aa1562c49b1"/>
  </p:sldMasterIdLst>
  <p:notesMasterIdLst>
    <p:notesMasterId xmlns:r="http://schemas.openxmlformats.org/officeDocument/2006/relationships" r:id="R61a41f1d27154f7d"/>
  </p:notesMasterIdLst>
  <p:sldIdLst>
    <p:sldId xmlns:r="http://schemas.openxmlformats.org/officeDocument/2006/relationships" id="256" r:id="Rcabffe0911ec4ac6"/>
    <p:sldId xmlns:r="http://schemas.openxmlformats.org/officeDocument/2006/relationships" id="257" r:id="R2217f8bd307a494f"/>
    <p:sldId xmlns:r="http://schemas.openxmlformats.org/officeDocument/2006/relationships" id="258" r:id="Re6d3e351a3484233"/>
    <p:sldId xmlns:r="http://schemas.openxmlformats.org/officeDocument/2006/relationships" id="259" r:id="Rc4d7ca084f0849be"/>
    <p:sldId xmlns:r="http://schemas.openxmlformats.org/officeDocument/2006/relationships" id="260" r:id="Rd7085495a4e34e8b"/>
    <p:sldId xmlns:r="http://schemas.openxmlformats.org/officeDocument/2006/relationships" id="261" r:id="R0c2a27a9a36242fc"/>
    <p:sldId xmlns:r="http://schemas.openxmlformats.org/officeDocument/2006/relationships" id="262" r:id="R602e80ee7a2843e0"/>
    <p:sldId xmlns:r="http://schemas.openxmlformats.org/officeDocument/2006/relationships" id="263" r:id="R3344c62b189e4e6d"/>
    <p:sldId xmlns:r="http://schemas.openxmlformats.org/officeDocument/2006/relationships" id="264" r:id="R5b510714de804792"/>
    <p:sldId xmlns:r="http://schemas.openxmlformats.org/officeDocument/2006/relationships" id="265" r:id="Rd025b144555841c9"/>
    <p:sldId xmlns:r="http://schemas.openxmlformats.org/officeDocument/2006/relationships" id="266" r:id="R3c2ee6472ec240ee"/>
    <p:sldId xmlns:r="http://schemas.openxmlformats.org/officeDocument/2006/relationships" id="267" r:id="Re802ae5f560c405c"/>
    <p:sldId xmlns:r="http://schemas.openxmlformats.org/officeDocument/2006/relationships" id="268" r:id="Rab81db60a89f43c8"/>
    <p:sldId xmlns:r="http://schemas.openxmlformats.org/officeDocument/2006/relationships" id="269" r:id="Re9203b0fe1754f5d"/>
    <p:sldId xmlns:r="http://schemas.openxmlformats.org/officeDocument/2006/relationships" id="270" r:id="Rf108d16f4cc642da"/>
    <p:sldId xmlns:r="http://schemas.openxmlformats.org/officeDocument/2006/relationships" id="271" r:id="R4ca96d4ab2944831"/>
    <p:sldId xmlns:r="http://schemas.openxmlformats.org/officeDocument/2006/relationships" id="272" r:id="R0f6f173853364578"/>
    <p:sldId xmlns:r="http://schemas.openxmlformats.org/officeDocument/2006/relationships" id="273" r:id="Ref3a7645d656443e"/>
    <p:sldId xmlns:r="http://schemas.openxmlformats.org/officeDocument/2006/relationships" id="274" r:id="R49665597a07643f3"/>
    <p:sldId xmlns:r="http://schemas.openxmlformats.org/officeDocument/2006/relationships" id="275" r:id="R01f7c2497ab64523"/>
    <p:sldId xmlns:r="http://schemas.openxmlformats.org/officeDocument/2006/relationships" id="276" r:id="R8e2c0a51f58b401e"/>
    <p:sldId xmlns:r="http://schemas.openxmlformats.org/officeDocument/2006/relationships" id="277" r:id="R9ba08b16da934a7a"/>
    <p:sldId xmlns:r="http://schemas.openxmlformats.org/officeDocument/2006/relationships" id="278" r:id="R41d0fe0dd7484a8f"/>
    <p:sldId xmlns:r="http://schemas.openxmlformats.org/officeDocument/2006/relationships" id="279" r:id="Rb0977a74814b4dae"/>
    <p:sldId xmlns:r="http://schemas.openxmlformats.org/officeDocument/2006/relationships" id="280" r:id="R65197a60e6844390"/>
    <p:sldId xmlns:r="http://schemas.openxmlformats.org/officeDocument/2006/relationships" id="281" r:id="Re85e4a253fcc45ef"/>
    <p:sldId xmlns:r="http://schemas.openxmlformats.org/officeDocument/2006/relationships" id="282" r:id="R4d4fbdf75e7b4fb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b07baa305142c4" /><Relationship Type="http://schemas.openxmlformats.org/officeDocument/2006/relationships/slideMaster" Target="/ppt/slideMasters/slideMaster1.xml" Id="R0cdd3aa1562c49b1" /><Relationship Type="http://schemas.openxmlformats.org/officeDocument/2006/relationships/notesMaster" Target="/ppt/notesMasters/notesMaster1.xml" Id="R61a41f1d27154f7d" /><Relationship Type="http://schemas.openxmlformats.org/officeDocument/2006/relationships/presProps" Target="/ppt/presProps.xml" Id="Rdf0e601ed8ed488e" /><Relationship Type="http://schemas.openxmlformats.org/officeDocument/2006/relationships/tableStyles" Target="/ppt/tableStyles.xml" Id="Rbb64c48588974240" /><Relationship Type="http://schemas.openxmlformats.org/officeDocument/2006/relationships/slide" Target="/ppt/slides/slide1.xml" Id="Rcabffe0911ec4ac6" /><Relationship Type="http://schemas.openxmlformats.org/officeDocument/2006/relationships/slide" Target="/ppt/slides/slide2.xml" Id="R2217f8bd307a494f" /><Relationship Type="http://schemas.openxmlformats.org/officeDocument/2006/relationships/slide" Target="/ppt/slides/slide3.xml" Id="Re6d3e351a3484233" /><Relationship Type="http://schemas.openxmlformats.org/officeDocument/2006/relationships/slide" Target="/ppt/slides/slide4.xml" Id="Rc4d7ca084f0849be" /><Relationship Type="http://schemas.openxmlformats.org/officeDocument/2006/relationships/slide" Target="/ppt/slides/slide5.xml" Id="Rd7085495a4e34e8b" /><Relationship Type="http://schemas.openxmlformats.org/officeDocument/2006/relationships/slide" Target="/ppt/slides/slide6.xml" Id="R0c2a27a9a36242fc" /><Relationship Type="http://schemas.openxmlformats.org/officeDocument/2006/relationships/slide" Target="/ppt/slides/slide7.xml" Id="R602e80ee7a2843e0" /><Relationship Type="http://schemas.openxmlformats.org/officeDocument/2006/relationships/slide" Target="/ppt/slides/slide8.xml" Id="R3344c62b189e4e6d" /><Relationship Type="http://schemas.openxmlformats.org/officeDocument/2006/relationships/slide" Target="/ppt/slides/slide9.xml" Id="R5b510714de804792" /><Relationship Type="http://schemas.openxmlformats.org/officeDocument/2006/relationships/slide" Target="/ppt/slides/slide10.xml" Id="Rd025b144555841c9" /><Relationship Type="http://schemas.openxmlformats.org/officeDocument/2006/relationships/slide" Target="/ppt/slides/slide11.xml" Id="R3c2ee6472ec240ee" /><Relationship Type="http://schemas.openxmlformats.org/officeDocument/2006/relationships/slide" Target="/ppt/slides/slide12.xml" Id="Re802ae5f560c405c" /><Relationship Type="http://schemas.openxmlformats.org/officeDocument/2006/relationships/slide" Target="/ppt/slides/slide13.xml" Id="Rab81db60a89f43c8" /><Relationship Type="http://schemas.openxmlformats.org/officeDocument/2006/relationships/slide" Target="/ppt/slides/slide14.xml" Id="Re9203b0fe1754f5d" /><Relationship Type="http://schemas.openxmlformats.org/officeDocument/2006/relationships/slide" Target="/ppt/slides/slide15.xml" Id="Rf108d16f4cc642da" /><Relationship Type="http://schemas.openxmlformats.org/officeDocument/2006/relationships/slide" Target="/ppt/slides/slide16.xml" Id="R4ca96d4ab2944831" /><Relationship Type="http://schemas.openxmlformats.org/officeDocument/2006/relationships/slide" Target="/ppt/slides/slide17.xml" Id="R0f6f173853364578" /><Relationship Type="http://schemas.openxmlformats.org/officeDocument/2006/relationships/slide" Target="/ppt/slides/slide18.xml" Id="Ref3a7645d656443e" /><Relationship Type="http://schemas.openxmlformats.org/officeDocument/2006/relationships/slide" Target="/ppt/slides/slide19.xml" Id="R49665597a07643f3" /><Relationship Type="http://schemas.openxmlformats.org/officeDocument/2006/relationships/slide" Target="/ppt/slides/slide20.xml" Id="R01f7c2497ab64523" /><Relationship Type="http://schemas.openxmlformats.org/officeDocument/2006/relationships/slide" Target="/ppt/slides/slide21.xml" Id="R8e2c0a51f58b401e" /><Relationship Type="http://schemas.openxmlformats.org/officeDocument/2006/relationships/slide" Target="/ppt/slides/slide22.xml" Id="R9ba08b16da934a7a" /><Relationship Type="http://schemas.openxmlformats.org/officeDocument/2006/relationships/slide" Target="/ppt/slides/slide23.xml" Id="R41d0fe0dd7484a8f" /><Relationship Type="http://schemas.openxmlformats.org/officeDocument/2006/relationships/slide" Target="/ppt/slides/slide24.xml" Id="Rb0977a74814b4dae" /><Relationship Type="http://schemas.openxmlformats.org/officeDocument/2006/relationships/slide" Target="/ppt/slides/slide25.xml" Id="R65197a60e6844390" /><Relationship Type="http://schemas.openxmlformats.org/officeDocument/2006/relationships/slide" Target="/ppt/slides/slide26.xml" Id="Re85e4a253fcc45ef" /><Relationship Type="http://schemas.openxmlformats.org/officeDocument/2006/relationships/slide" Target="/ppt/slides/slide27.xml" Id="R4d4fbdf75e7b4f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5c2a3f41174b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0cb6c2422345a7" /><Relationship Type="http://schemas.openxmlformats.org/officeDocument/2006/relationships/notesMaster" Target="/ppt/notesMasters/notesMaster1.xml" Id="Rb677537af1aa44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6ada5e8f4c4b45" /><Relationship Type="http://schemas.openxmlformats.org/officeDocument/2006/relationships/notesMaster" Target="/ppt/notesMasters/notesMaster1.xml" Id="Rea95a18616ec40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5f51efeb484c25" /><Relationship Type="http://schemas.openxmlformats.org/officeDocument/2006/relationships/notesMaster" Target="/ppt/notesMasters/notesMaster1.xml" Id="Rc483653fed814d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45e77c7cbb481b" /><Relationship Type="http://schemas.openxmlformats.org/officeDocument/2006/relationships/notesMaster" Target="/ppt/notesMasters/notesMaster1.xml" Id="Reffc921a5f954c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e8438ad26d4661" /><Relationship Type="http://schemas.openxmlformats.org/officeDocument/2006/relationships/notesMaster" Target="/ppt/notesMasters/notesMaster1.xml" Id="Rcfedc3d18f7b46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da86351e8d4787" /><Relationship Type="http://schemas.openxmlformats.org/officeDocument/2006/relationships/notesMaster" Target="/ppt/notesMasters/notesMaster1.xml" Id="R600b94df64b947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1acb8863c4490d" /><Relationship Type="http://schemas.openxmlformats.org/officeDocument/2006/relationships/notesMaster" Target="/ppt/notesMasters/notesMaster1.xml" Id="R8c235aec58304d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249fc6d5794f65" /><Relationship Type="http://schemas.openxmlformats.org/officeDocument/2006/relationships/notesMaster" Target="/ppt/notesMasters/notesMaster1.xml" Id="R559aa5928ce54c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b9fbbebbaa4c38" /><Relationship Type="http://schemas.openxmlformats.org/officeDocument/2006/relationships/notesMaster" Target="/ppt/notesMasters/notesMaster1.xml" Id="R843a7ca85bed49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093527f8374ac3" /><Relationship Type="http://schemas.openxmlformats.org/officeDocument/2006/relationships/notesMaster" Target="/ppt/notesMasters/notesMaster1.xml" Id="Rbd3fa542b0aa43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986ecbb8df43cc" /><Relationship Type="http://schemas.openxmlformats.org/officeDocument/2006/relationships/notesMaster" Target="/ppt/notesMasters/notesMaster1.xml" Id="R0d893bef763a4e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03df0301624096" /><Relationship Type="http://schemas.openxmlformats.org/officeDocument/2006/relationships/notesMaster" Target="/ppt/notesMasters/notesMaster1.xml" Id="R0cdc534109144e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a7b4af9b3d4119" /><Relationship Type="http://schemas.openxmlformats.org/officeDocument/2006/relationships/notesMaster" Target="/ppt/notesMasters/notesMaster1.xml" Id="Rdc26fd8e931a47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7de15db47242ae" /><Relationship Type="http://schemas.openxmlformats.org/officeDocument/2006/relationships/notesMaster" Target="/ppt/notesMasters/notesMaster1.xml" Id="R4a10464798ed4a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43296d8116423b" /><Relationship Type="http://schemas.openxmlformats.org/officeDocument/2006/relationships/notesMaster" Target="/ppt/notesMasters/notesMaster1.xml" Id="R7e369620dd0d49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320e4f298e42e9" /><Relationship Type="http://schemas.openxmlformats.org/officeDocument/2006/relationships/notesMaster" Target="/ppt/notesMasters/notesMaster1.xml" Id="R00d8cff4fa9e41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d1d2d22aa144d5" /><Relationship Type="http://schemas.openxmlformats.org/officeDocument/2006/relationships/notesMaster" Target="/ppt/notesMasters/notesMaster1.xml" Id="Rb5db38f8f6bf4f6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98bb44461d4547" /><Relationship Type="http://schemas.openxmlformats.org/officeDocument/2006/relationships/notesMaster" Target="/ppt/notesMasters/notesMaster1.xml" Id="Ra98276ba87594ea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6796ac91d354de2" /><Relationship Type="http://schemas.openxmlformats.org/officeDocument/2006/relationships/notesMaster" Target="/ppt/notesMasters/notesMaster1.xml" Id="R58b0bbb71ec0443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25bf39524f140b5" /><Relationship Type="http://schemas.openxmlformats.org/officeDocument/2006/relationships/notesMaster" Target="/ppt/notesMasters/notesMaster1.xml" Id="R66d5fdf2cc41432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644124d85a43c8" /><Relationship Type="http://schemas.openxmlformats.org/officeDocument/2006/relationships/notesMaster" Target="/ppt/notesMasters/notesMaster1.xml" Id="R47d690d39a84463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9833f90c6564045" /><Relationship Type="http://schemas.openxmlformats.org/officeDocument/2006/relationships/notesMaster" Target="/ppt/notesMasters/notesMaster1.xml" Id="Rd49cbcebf6a54a2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fec0d58443444c1" /><Relationship Type="http://schemas.openxmlformats.org/officeDocument/2006/relationships/notesMaster" Target="/ppt/notesMasters/notesMaster1.xml" Id="R440be7772ba8437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28dc78c13b4232" /><Relationship Type="http://schemas.openxmlformats.org/officeDocument/2006/relationships/notesMaster" Target="/ppt/notesMasters/notesMaster1.xml" Id="R783c9ff7724341a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f3d388e805544cc" /><Relationship Type="http://schemas.openxmlformats.org/officeDocument/2006/relationships/notesMaster" Target="/ppt/notesMasters/notesMaster1.xml" Id="Reab9ec09840b4b9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1a1be46dac546ec" /><Relationship Type="http://schemas.openxmlformats.org/officeDocument/2006/relationships/notesMaster" Target="/ppt/notesMasters/notesMaster1.xml" Id="R8de64f27703742e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770ed3c6400436f" /><Relationship Type="http://schemas.openxmlformats.org/officeDocument/2006/relationships/notesMaster" Target="/ppt/notesMasters/notesMaster1.xml" Id="R97423583c1404f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lukt al, en waar wil je uitleg bij?</a:t>
            </a:r>
          </a:p>
          <a:p xmlns:a="http://schemas.openxmlformats.org/drawingml/2006/main">
            <a:r>
              <a:rPr sz="1400"/>
              <a:t/>
            </a:r>
          </a:p>
          <a:p xmlns:a="http://schemas.openxmlformats.org/drawingml/2006/main">
            <a:r>
              <a:rPr sz="1400"/>
              <a:t>Uitleg: Laat deze dia staan tijdens startopdracht. Start 21–22 staat op p. 29. Basis 23 staat op p. 30, 24–25 op p. 31, zelfstandig 26–27 op p. 32 en doel 28 op p. 33. Huiswerk is 23 t/m 28 maken en nakijken. Bonus 29 en herhaling 30 zijn extra. Opgave 21 haalt vermenigvuldigen en de beperkte differentieerregel uit §3.2.2 op; die regel staat ook in de opgave. Bij moeite met uitwerken: vermenigvuldig q met elke term tussen de haakjes. Opgave 22 introduceert de twee omzetwerkingen. Laat leerlingen op p. 28 de twee verkoopplannen en stappen 3–4 gebruiken, de ontbrekende prijsverandering aanwijzen en hun twijfel noteren. Dit is ondersteunde verkenning. Laat opgave 22 na de uitleg opnieuw proberen vóór basis 23. De docenteninformatie adviseert voorlopig twee lessen van 55 minuten voor de hele normale route, zonder gemeten tijdsfit. Verschuif de lesgrens indien nodig en behoud alle basisopgaven.</a:t>
            </a:r>
          </a:p>
          <a:p xmlns:a="http://schemas.openxmlformats.org/drawingml/2006/main">
            <a:r>
              <a:rPr sz="1400"/>
              <a:t/>
            </a:r>
          </a:p>
          <a:p xmlns:a="http://schemas.openxmlformats.org/drawingml/2006/main">
            <a:r>
              <a:rPr sz="1400"/>
              <a:t>Misvatting: Hoofdstuklokale pagina 25 is boekpagina 29. Gebruik de gedrukte boekvoeter. Start 22 toetst geen veronderstelde beheersing van nieuwe leerstof.</a:t>
            </a:r>
          </a:p>
          <a:p xmlns:a="http://schemas.openxmlformats.org/drawingml/2006/main">
            <a:r>
              <a:rPr sz="1400"/>
              <a:t/>
            </a:r>
          </a:p>
          <a:p xmlns:a="http://schemas.openxmlformats.org/drawingml/2006/main">
            <a:r>
              <a:rPr sz="1400"/>
              <a:t>Overgang: Ga door naar de volgende lesfase als de klas eraan toe is.</a:t>
            </a:r>
          </a:p>
          <a:p xmlns:a="http://schemas.openxmlformats.org/drawingml/2006/main">
            <a:r>
              <a:rPr sz="1400"/>
              <a:t/>
            </a:r>
          </a:p>
          <a:p xmlns:a="http://schemas.openxmlformats.org/drawingml/2006/main">
            <a:r>
              <a:rPr sz="1400"/>
              <a:t>Bron: Boek 4, editie books34-v3, gedrukte boekpagina 28–33.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meet een prijs per kg, en wat meet TO?</a:t>
            </a:r>
          </a:p>
          <a:p xmlns:a="http://schemas.openxmlformats.org/drawingml/2006/main">
            <a:r>
              <a:rPr sz="1400"/>
              <a:t/>
            </a:r>
          </a:p>
          <a:p xmlns:a="http://schemas.openxmlformats.org/drawingml/2006/main">
            <a:r>
              <a:rPr sz="1400"/>
              <a:t>Uitleg: Verbind de doelen aan opgave 28. Onderscheid een totaalbedrag per week en een bedrag per kg. De winstkeuze volgt in §4.1.4 nadat kosten zijn toegevoegd.</a:t>
            </a:r>
          </a:p>
          <a:p xmlns:a="http://schemas.openxmlformats.org/drawingml/2006/main">
            <a:r>
              <a:rPr sz="1400"/>
              <a:t/>
            </a:r>
          </a:p>
          <a:p xmlns:a="http://schemas.openxmlformats.org/drawingml/2006/main">
            <a:r>
              <a:rPr sz="1400"/>
              <a:t>Misvatting: De hoogste omzet is geen bewijs van de hoogste winst.</a:t>
            </a:r>
          </a:p>
          <a:p xmlns:a="http://schemas.openxmlformats.org/drawingml/2006/main">
            <a:r>
              <a:rPr sz="1400"/>
              <a:t/>
            </a:r>
          </a:p>
          <a:p xmlns:a="http://schemas.openxmlformats.org/drawingml/2006/main">
            <a:r>
              <a:rPr sz="1400"/>
              <a:t>Overgang: Haal eerst de beperkte differentieerregel op.</a:t>
            </a:r>
          </a:p>
          <a:p xmlns:a="http://schemas.openxmlformats.org/drawingml/2006/main">
            <a:r>
              <a:rPr sz="1400"/>
              <a:t/>
            </a:r>
          </a:p>
          <a:p xmlns:a="http://schemas.openxmlformats.org/drawingml/2006/main">
            <a:r>
              <a:rPr sz="1400"/>
              <a:t>Bron: Boek 4, editie books34-v3, gedrukte boekpagina 24–28.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gebeurt er met een constante term?</a:t>
            </a:r>
          </a:p>
          <a:p xmlns:a="http://schemas.openxmlformats.org/drawingml/2006/main">
            <a:r>
              <a:rPr sz="1400"/>
              <a:t/>
            </a:r>
          </a:p>
          <a:p xmlns:a="http://schemas.openxmlformats.org/drawingml/2006/main">
            <a:r>
              <a:rPr sz="1400"/>
              <a:t>Uitleg: Ververs de expliciet onderwezen regel uit Boek 3 §3.2.2, “Een beperkte rekenregel” en “Doe het één term tegelijk”. Dit rekenvoorbeeld is zelf gemaakt: de afgeleide van 0,30q² + 5q + 80 is 0,60q + 5. Bij opbrengsten gebruiken we straks ook een negatieve kwadratische term. Start 21 krijgt hier geen uitgewerkt antwoord.</a:t>
            </a:r>
          </a:p>
          <a:p xmlns:a="http://schemas.openxmlformats.org/drawingml/2006/main">
            <a:r>
              <a:rPr sz="1400"/>
              <a:t/>
            </a:r>
          </a:p>
          <a:p xmlns:a="http://schemas.openxmlformats.org/drawingml/2006/main">
            <a:r>
              <a:rPr sz="1400"/>
              <a:t>Misvatting: De constante blijft in de oorspronkelijke functie staan.</a:t>
            </a:r>
          </a:p>
          <a:p xmlns:a="http://schemas.openxmlformats.org/drawingml/2006/main">
            <a:r>
              <a:rPr sz="1400"/>
              <a:t/>
            </a:r>
          </a:p>
          <a:p xmlns:a="http://schemas.openxmlformats.org/drawingml/2006/main">
            <a:r>
              <a:rPr sz="1400"/>
              <a:t>Overgang: Vergelijk twee verkoopplannen van Was Nova.</a:t>
            </a:r>
          </a:p>
          <a:p xmlns:a="http://schemas.openxmlformats.org/drawingml/2006/main">
            <a:r>
              <a:rPr sz="1400"/>
              <a:t/>
            </a:r>
          </a:p>
          <a:p xmlns:a="http://schemas.openxmlformats.org/drawingml/2006/main">
            <a:r>
              <a:rPr sz="1400"/>
              <a:t>Bron: Boek 4, editie books34-v3, gedrukte boekpagina 25.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geldt in plan B voor de eerste 10 kg?</a:t>
            </a:r>
          </a:p>
          <a:p xmlns:a="http://schemas.openxmlformats.org/drawingml/2006/main">
            <a:r>
              <a:rPr sz="1400"/>
              <a:t/>
            </a:r>
          </a:p>
          <a:p xmlns:a="http://schemas.openxmlformats.org/drawingml/2006/main">
            <a:r>
              <a:rPr sz="1400"/>
              <a:t>Uitleg: Zelfgemaakt doorlopend rekenmodel. Ook delen van een kg zijn mogelijk. Overige vraagfactoren blijven gelijk. Vul 10 en 20 in dezelfde vraagfunctie in. TO is P maal q. Vergelijk alternatieve plannen voor dezelfde week: er is geen terugbetaling aan eerdere kopers. De eerste 10 kg kosten in plan B ook 20 euro per kg.</a:t>
            </a:r>
          </a:p>
          <a:p xmlns:a="http://schemas.openxmlformats.org/drawingml/2006/main">
            <a:r>
              <a:rPr sz="1400"/>
              <a:t/>
            </a:r>
          </a:p>
          <a:p xmlns:a="http://schemas.openxmlformats.org/drawingml/2006/main">
            <a:r>
              <a:rPr sz="1400"/>
              <a:t>Misvatting: Het tweede plan verkoopt niet eerst 10 kg voor 24 euro en daarna 10 kg voor 20 euro.</a:t>
            </a:r>
          </a:p>
          <a:p xmlns:a="http://schemas.openxmlformats.org/drawingml/2006/main">
            <a:r>
              <a:rPr sz="1400"/>
              <a:t/>
            </a:r>
          </a:p>
          <a:p xmlns:a="http://schemas.openxmlformats.org/drawingml/2006/main">
            <a:r>
              <a:rPr sz="1400"/>
              <a:t>Overgang: Splits de omzetverandering in twee effecten.</a:t>
            </a:r>
          </a:p>
          <a:p xmlns:a="http://schemas.openxmlformats.org/drawingml/2006/main">
            <a:r>
              <a:rPr sz="1400"/>
              <a:t/>
            </a:r>
          </a:p>
          <a:p xmlns:a="http://schemas.openxmlformats.org/drawingml/2006/main">
            <a:r>
              <a:rPr sz="1400"/>
              <a:t>Bron: Boek 4, editie books34-v3, gedrukte boekpagina 24–25.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omzettoename kleiner dan 200 euro?</a:t>
            </a:r>
          </a:p>
          <a:p xmlns:a="http://schemas.openxmlformats.org/drawingml/2006/main">
            <a:r>
              <a:rPr sz="1400"/>
              <a:t/>
            </a:r>
          </a:p>
          <a:p xmlns:a="http://schemas.openxmlformats.org/drawingml/2006/main">
            <a:r>
              <a:rPr sz="1400"/>
              <a:t>Uitleg: De extra 10 kg leveren 200 euro op. De lagere uniforme prijs vermindert de opbrengst op de eerste 10 kg met 40 euro. Netto stijgt TO met 160 euro per week. Laat beide bedragen aanwijzen en controleer met het verschil tussen de totale opbrengsten. Dit mechanisme komt vóór de algemene conclusie over MO en P.</a:t>
            </a:r>
          </a:p>
          <a:p xmlns:a="http://schemas.openxmlformats.org/drawingml/2006/main">
            <a:r>
              <a:rPr sz="1400"/>
              <a:t/>
            </a:r>
          </a:p>
          <a:p xmlns:a="http://schemas.openxmlformats.org/drawingml/2006/main">
            <a:r>
              <a:rPr sz="1400"/>
              <a:t>Misvatting: De prijsdaling raakt alle kg in het tweede weekplan.</a:t>
            </a:r>
          </a:p>
          <a:p xmlns:a="http://schemas.openxmlformats.org/drawingml/2006/main">
            <a:r>
              <a:rPr sz="1400"/>
              <a:t/>
            </a:r>
          </a:p>
          <a:p xmlns:a="http://schemas.openxmlformats.org/drawingml/2006/main">
            <a:r>
              <a:rPr sz="1400"/>
              <a:t>Overgang: Schrijf TO als functie van q.</a:t>
            </a:r>
          </a:p>
          <a:p xmlns:a="http://schemas.openxmlformats.org/drawingml/2006/main">
            <a:r>
              <a:rPr sz="1400"/>
              <a:t/>
            </a:r>
          </a:p>
          <a:p xmlns:a="http://schemas.openxmlformats.org/drawingml/2006/main">
            <a:r>
              <a:rPr sz="1400"/>
              <a:t>Bron: Boek 4, editie books34-v3, gedrukte boekpagina 24, 28.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ontstaat q²?</a:t>
            </a:r>
          </a:p>
          <a:p xmlns:a="http://schemas.openxmlformats.org/drawingml/2006/main">
            <a:r>
              <a:rPr sz="1400"/>
              <a:t/>
            </a:r>
          </a:p>
          <a:p xmlns:a="http://schemas.openxmlformats.org/drawingml/2006/main">
            <a:r>
              <a:rPr sz="1400"/>
              <a:t>Uitleg: Vul de volledige prijsfunctie tussen haakjes in. Vermenigvuldig beide termen met q. 0,40q maal q wordt 0,40q² en behoudt het minteken. Controle bij q = 10: 280 − 40 = 240 euro per week, hetzelfde als P × q.</a:t>
            </a:r>
          </a:p>
          <a:p xmlns:a="http://schemas.openxmlformats.org/drawingml/2006/main">
            <a:r>
              <a:rPr sz="1400"/>
              <a:t/>
            </a:r>
          </a:p>
          <a:p xmlns:a="http://schemas.openxmlformats.org/drawingml/2006/main">
            <a:r>
              <a:rPr sz="1400"/>
              <a:t>Misvatting: Alleen 28 met q vermenigvuldigen laat de prijsdaling weg.</a:t>
            </a:r>
          </a:p>
          <a:p xmlns:a="http://schemas.openxmlformats.org/drawingml/2006/main">
            <a:r>
              <a:rPr sz="1400"/>
              <a:t/>
            </a:r>
          </a:p>
          <a:p xmlns:a="http://schemas.openxmlformats.org/drawingml/2006/main">
            <a:r>
              <a:rPr sz="1400"/>
              <a:t>Overgang: Differentieer elke term van TO.</a:t>
            </a:r>
          </a:p>
          <a:p xmlns:a="http://schemas.openxmlformats.org/drawingml/2006/main">
            <a:r>
              <a:rPr sz="1400"/>
              <a:t/>
            </a:r>
          </a:p>
          <a:p xmlns:a="http://schemas.openxmlformats.org/drawingml/2006/main">
            <a:r>
              <a:rPr sz="1400"/>
              <a:t>Bron: Boek 4, editie books34-v3, gedrukte boekpagina 25.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hoort bij MO?</a:t>
            </a:r>
          </a:p>
          <a:p xmlns:a="http://schemas.openxmlformats.org/drawingml/2006/main">
            <a:r>
              <a:rPr sz="1400"/>
              <a:t/>
            </a:r>
          </a:p>
          <a:p xmlns:a="http://schemas.openxmlformats.org/drawingml/2006/main">
            <a:r>
              <a:rPr sz="1400"/>
              <a:t>Uitleg: MO is de afgeleide van TO in dit doorlopende model. Het minteken blijft staan. De eerste term geeft 28, de tweede −0,80q. MO beschrijft de verandering van TO per kg bij een heel kleine uitbreiding rond één punt.</a:t>
            </a:r>
          </a:p>
          <a:p xmlns:a="http://schemas.openxmlformats.org/drawingml/2006/main">
            <a:r>
              <a:rPr sz="1400"/>
              <a:t/>
            </a:r>
          </a:p>
          <a:p xmlns:a="http://schemas.openxmlformats.org/drawingml/2006/main">
            <a:r>
              <a:rPr sz="1400"/>
              <a:t>Misvatting: MO is geen totaalbedrag en niet exact het verschil voor een hele extra kg.</a:t>
            </a:r>
          </a:p>
          <a:p xmlns:a="http://schemas.openxmlformats.org/drawingml/2006/main">
            <a:r>
              <a:rPr sz="1400"/>
              <a:t/>
            </a:r>
          </a:p>
          <a:p xmlns:a="http://schemas.openxmlformats.org/drawingml/2006/main">
            <a:r>
              <a:rPr sz="1400"/>
              <a:t>Overgang: Vul eerst de opbrengsttabel in.</a:t>
            </a:r>
          </a:p>
          <a:p xmlns:a="http://schemas.openxmlformats.org/drawingml/2006/main">
            <a:r>
              <a:rPr sz="1400"/>
              <a:t/>
            </a:r>
          </a:p>
          <a:p xmlns:a="http://schemas.openxmlformats.org/drawingml/2006/main">
            <a:r>
              <a:rPr sz="1400"/>
              <a:t>Bron: Boek 4, editie books34-v3, gedrukte boekpagina 25.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veranderen de twee factoren van TO?</a:t>
            </a:r>
          </a:p>
          <a:p xmlns:a="http://schemas.openxmlformats.org/drawingml/2006/main">
            <a:r>
              <a:rPr sz="1400"/>
              <a:t/>
            </a:r>
          </a:p>
          <a:p xmlns:a="http://schemas.openxmlformats.org/drawingml/2006/main">
            <a:r>
              <a:rPr sz="1400"/>
              <a:t>Uitleg: Bereken eerst P en dan TO. Controleer de derde rij met 28 × 30 − 0,40 × 30² = 840 − 360 = 480. Dit is een eigen voorbeeld, niet de invultabel van opgave 24 of 28.</a:t>
            </a:r>
          </a:p>
          <a:p xmlns:a="http://schemas.openxmlformats.org/drawingml/2006/main">
            <a:r>
              <a:rPr sz="1400"/>
              <a:t/>
            </a:r>
          </a:p>
          <a:p xmlns:a="http://schemas.openxmlformats.org/drawingml/2006/main">
            <a:r>
              <a:rPr sz="1400"/>
              <a:t>Misvatting: Een lagere prijs maakt TO niet automatisch lager.</a:t>
            </a:r>
          </a:p>
          <a:p xmlns:a="http://schemas.openxmlformats.org/drawingml/2006/main">
            <a:r>
              <a:rPr sz="1400"/>
              <a:t/>
            </a:r>
          </a:p>
          <a:p xmlns:a="http://schemas.openxmlformats.org/drawingml/2006/main">
            <a:r>
              <a:rPr sz="1400"/>
              <a:t>Overgang: Bereken de gemiddelde extra opbrengst over een tabelstap.</a:t>
            </a:r>
          </a:p>
          <a:p xmlns:a="http://schemas.openxmlformats.org/drawingml/2006/main">
            <a:r>
              <a:rPr sz="1400"/>
              <a:t/>
            </a:r>
          </a:p>
          <a:p xmlns:a="http://schemas.openxmlformats.org/drawingml/2006/main">
            <a:r>
              <a:rPr sz="1400"/>
              <a:t>Bron: Boek 4, editie books34-v3, gedrukte boekpagina 25, 28.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Meet 16 euro één beginpunt of de hele stap?</a:t>
            </a:r>
          </a:p>
          <a:p xmlns:a="http://schemas.openxmlformats.org/drawingml/2006/main">
            <a:r>
              <a:rPr sz="1400"/>
              <a:t/>
            </a:r>
          </a:p>
          <a:p xmlns:a="http://schemas.openxmlformats.org/drawingml/2006/main">
            <a:r>
              <a:rPr sz="1400"/>
              <a:t>Uitleg: Delta betekent verandering: nieuw minus oud. Deel de toename van TO door de toename van q. Euro per week gedeeld door kg per week geeft euro per kg. Dezelfde 160 euro vonden we met de twee omzetwerkingen.</a:t>
            </a:r>
          </a:p>
          <a:p xmlns:a="http://schemas.openxmlformats.org/drawingml/2006/main">
            <a:r>
              <a:rPr sz="1400"/>
              <a:t/>
            </a:r>
          </a:p>
          <a:p xmlns:a="http://schemas.openxmlformats.org/drawingml/2006/main">
            <a:r>
              <a:rPr sz="1400"/>
              <a:t>Misvatting: De totale toename van 160 euro is geen MO van 160 euro per kg.</a:t>
            </a:r>
          </a:p>
          <a:p xmlns:a="http://schemas.openxmlformats.org/drawingml/2006/main">
            <a:r>
              <a:rPr sz="1400"/>
              <a:t/>
            </a:r>
          </a:p>
          <a:p xmlns:a="http://schemas.openxmlformats.org/drawingml/2006/main">
            <a:r>
              <a:rPr sz="1400"/>
              <a:t>Overgang: Lees P en MO op dezelfde hoeveelheidsas.</a:t>
            </a:r>
          </a:p>
          <a:p xmlns:a="http://schemas.openxmlformats.org/drawingml/2006/main">
            <a:r>
              <a:rPr sz="1400"/>
              <a:t/>
            </a:r>
          </a:p>
          <a:p xmlns:a="http://schemas.openxmlformats.org/drawingml/2006/main">
            <a:r>
              <a:rPr sz="1400"/>
              <a:t>Bron: Boek 4, editie books34-v3, gedrukte boekpagina 27–28.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hoort bij 20 kg?</a:t>
            </a:r>
          </a:p>
          <a:p xmlns:a="http://schemas.openxmlformats.org/drawingml/2006/main">
            <a:r>
              <a:rPr sz="1400"/>
              <a:t/>
            </a:r>
          </a:p>
          <a:p xmlns:a="http://schemas.openxmlformats.org/drawingml/2006/main">
            <a:r>
              <a:rPr sz="1400"/>
              <a:t>Uitleg: q staat horizontaal en euro per kg verticaal. P daalt van 28 bij nul naar 0 bij 70. De assen blijven op de volgende dia’s gelijk. GO = TO / q is bij nul ongedefinieerd; de lijn toont daar alleen de prijsgrens.</a:t>
            </a:r>
          </a:p>
          <a:p xmlns:a="http://schemas.openxmlformats.org/drawingml/2006/main">
            <a:r>
              <a:rPr sz="1400"/>
              <a:t/>
            </a:r>
          </a:p>
          <a:p xmlns:a="http://schemas.openxmlformats.org/drawingml/2006/main">
            <a:r>
              <a:rPr sz="1400"/>
              <a:t>Misvatting: GO bij q = 0 kun je niet berekenen door TO door q te delen.</a:t>
            </a:r>
          </a:p>
          <a:p xmlns:a="http://schemas.openxmlformats.org/drawingml/2006/main">
            <a:r>
              <a:rPr sz="1400"/>
              <a:t/>
            </a:r>
          </a:p>
          <a:p xmlns:a="http://schemas.openxmlformats.org/drawingml/2006/main">
            <a:r>
              <a:rPr sz="1400"/>
              <a:t>Overgang: Voeg MO toe op dezelfde assen.</a:t>
            </a:r>
          </a:p>
          <a:p xmlns:a="http://schemas.openxmlformats.org/drawingml/2006/main">
            <a:r>
              <a:rPr sz="1400"/>
              <a:t/>
            </a:r>
          </a:p>
          <a:p xmlns:a="http://schemas.openxmlformats.org/drawingml/2006/main">
            <a:r>
              <a:rPr sz="1400"/>
              <a:t>Bron: Boek 4, editie books34-v3, gedrukte boekpagina 26–27.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ligt MO onder P?</a:t>
            </a:r>
          </a:p>
          <a:p xmlns:a="http://schemas.openxmlformats.org/drawingml/2006/main">
            <a:r>
              <a:rPr sz="1400"/>
              <a:t/>
            </a:r>
          </a:p>
          <a:p xmlns:a="http://schemas.openxmlformats.org/drawingml/2006/main">
            <a:r>
              <a:rPr sz="1400"/>
              <a:t>Uitleg: MO heeft dezelfde verticale intercept als P maar daalt tweemaal zo snel. Bij q = 10 is P 24 en MO 20; bij q = 20 is P 20 en MO 12. Benoem de lagere opbrengst op de eerste hoeveelheid als oorzaak. Bij q &gt; 0 is MO lager dan P. Bij nul vallen de lijnwaarden samen.</a:t>
            </a:r>
          </a:p>
          <a:p xmlns:a="http://schemas.openxmlformats.org/drawingml/2006/main">
            <a:r>
              <a:rPr sz="1400"/>
              <a:t/>
            </a:r>
          </a:p>
          <a:p xmlns:a="http://schemas.openxmlformats.org/drawingml/2006/main">
            <a:r>
              <a:rPr sz="1400"/>
              <a:t>Misvatting: GO bij q = 0 kun je niet berekenen door TO door q te delen.</a:t>
            </a:r>
          </a:p>
          <a:p xmlns:a="http://schemas.openxmlformats.org/drawingml/2006/main">
            <a:r>
              <a:rPr sz="1400"/>
              <a:t/>
            </a:r>
          </a:p>
          <a:p xmlns:a="http://schemas.openxmlformats.org/drawingml/2006/main">
            <a:r>
              <a:rPr sz="1400"/>
              <a:t>Overgang: Vergelijk de puntwaarden met het tabelgemiddelde.</a:t>
            </a:r>
          </a:p>
          <a:p xmlns:a="http://schemas.openxmlformats.org/drawingml/2006/main">
            <a:r>
              <a:rPr sz="1400"/>
              <a:t/>
            </a:r>
          </a:p>
          <a:p xmlns:a="http://schemas.openxmlformats.org/drawingml/2006/main">
            <a:r>
              <a:rPr sz="1400"/>
              <a:t>Bron: Boek 4, editie books34-v3, gedrukte boekpagina 26–27.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Moeten een beginpunt en een hele stap dezelfde uitkomst geven?</a:t>
            </a:r>
          </a:p>
          <a:p xmlns:a="http://schemas.openxmlformats.org/drawingml/2006/main">
            <a:r>
              <a:rPr sz="1400"/>
              <a:t/>
            </a:r>
          </a:p>
          <a:p xmlns:a="http://schemas.openxmlformats.org/drawingml/2006/main">
            <a:r>
              <a:rPr sz="1400"/>
              <a:t>Uitleg: Het gemiddelde van de hele stap is 16, de beginwaarde 20 en de eindwaarde 12. De puntwaarde beschrijft een heel kleine uitbreiding rond q. Bij lineaire MO ligt het intervalgemiddelde halverwege de eindwaarden, maar leerlingen gebruiken verschil in TO gedeeld door verschil in q.</a:t>
            </a:r>
          </a:p>
          <a:p xmlns:a="http://schemas.openxmlformats.org/drawingml/2006/main">
            <a:r>
              <a:rPr sz="1400"/>
              <a:t/>
            </a:r>
          </a:p>
          <a:p xmlns:a="http://schemas.openxmlformats.org/drawingml/2006/main">
            <a:r>
              <a:rPr sz="1400"/>
              <a:t>Misvatting: Het verschil is geen afrondingsfout: het zijn verschillende metingen.</a:t>
            </a:r>
          </a:p>
          <a:p xmlns:a="http://schemas.openxmlformats.org/drawingml/2006/main">
            <a:r>
              <a:rPr sz="1400"/>
              <a:t/>
            </a:r>
          </a:p>
          <a:p xmlns:a="http://schemas.openxmlformats.org/drawingml/2006/main">
            <a:r>
              <a:rPr sz="1400"/>
              <a:t>Overgang: Bekijk wat negatieve MO betekent.</a:t>
            </a:r>
          </a:p>
          <a:p xmlns:a="http://schemas.openxmlformats.org/drawingml/2006/main">
            <a:r>
              <a:rPr sz="1400"/>
              <a:t/>
            </a:r>
          </a:p>
          <a:p xmlns:a="http://schemas.openxmlformats.org/drawingml/2006/main">
            <a:r>
              <a:rPr sz="1400"/>
              <a:t>Bron: Boek 4, editie books34-v3, gedrukte boekpagina 27–28.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doet een kleine vermindering rond 40 kg met TO?</a:t>
            </a:r>
          </a:p>
          <a:p xmlns:a="http://schemas.openxmlformats.org/drawingml/2006/main">
            <a:r>
              <a:rPr sz="1400"/>
              <a:t/>
            </a:r>
          </a:p>
          <a:p xmlns:a="http://schemas.openxmlformats.org/drawingml/2006/main">
            <a:r>
              <a:rPr sz="1400"/>
              <a:t>Uitleg: Bij q = 40 is P 12 en MO −4. Iets meer verkopen verlaagt TO doordat de lagere prijs op alle kg zwaarder weegt. Iets minder afzet verhoogt TO lokaal. MO wisselt van positief naar negatief bij 35, met P 14 en TO 490 euro per week. Zonder kosten volgt geen winstmaximum.</a:t>
            </a:r>
          </a:p>
          <a:p xmlns:a="http://schemas.openxmlformats.org/drawingml/2006/main">
            <a:r>
              <a:rPr sz="1400"/>
              <a:t/>
            </a:r>
          </a:p>
          <a:p xmlns:a="http://schemas.openxmlformats.org/drawingml/2006/main">
            <a:r>
              <a:rPr sz="1400"/>
              <a:t>Misvatting: Negatieve MO is geen negatieve verkoopprijs. Omzet en winst verschillen.</a:t>
            </a:r>
          </a:p>
          <a:p xmlns:a="http://schemas.openxmlformats.org/drawingml/2006/main">
            <a:r>
              <a:rPr sz="1400"/>
              <a:t/>
            </a:r>
          </a:p>
          <a:p xmlns:a="http://schemas.openxmlformats.org/drawingml/2006/main">
            <a:r>
              <a:rPr sz="1400"/>
              <a:t>Overgang: Probeer startopgave 22 opnieuw.</a:t>
            </a:r>
          </a:p>
          <a:p xmlns:a="http://schemas.openxmlformats.org/drawingml/2006/main">
            <a:r>
              <a:rPr sz="1400"/>
              <a:t/>
            </a:r>
          </a:p>
          <a:p xmlns:a="http://schemas.openxmlformats.org/drawingml/2006/main">
            <a:r>
              <a:rPr sz="1400"/>
              <a:t>Bron: Boek 4, editie books34-v3, gedrukte boekpagina 26–27.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Uitlegvoorbeeld — niet uit het boek. Was Nova en alle gegevens zijn voor deze les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ontbrak in je eerste poging?</a:t>
            </a:r>
          </a:p>
          <a:p xmlns:a="http://schemas.openxmlformats.org/drawingml/2006/main">
            <a:r>
              <a:rPr sz="1400"/>
              <a:t/>
            </a:r>
          </a:p>
          <a:p xmlns:a="http://schemas.openxmlformats.org/drawingml/2006/main">
            <a:r>
              <a:rPr sz="1400"/>
              <a:t>Uitleg: Dit is de terugkeer naar de eerder verkende startopgave. Laat leerlingen eerst hun eigen antwoord herstellen. Luma: de prijs op de eerste 30 kg daalt van 9 naar 8 euro, dus 30 euro minder opbrengst. Extra 10 kg geven 80 euro, netto 50. Controle: 320 − 270 = 50. Bespreek desgewenst deze reeds gemaakte startvraag. Geef extra steun vóór basis 23 waar nodig.</a:t>
            </a:r>
          </a:p>
          <a:p xmlns:a="http://schemas.openxmlformats.org/drawingml/2006/main">
            <a:r>
              <a:rPr sz="1400"/>
              <a:t/>
            </a:r>
          </a:p>
          <a:p xmlns:a="http://schemas.openxmlformats.org/drawingml/2006/main">
            <a:r>
              <a:rPr sz="1400"/>
              <a:t>Misvatting: Luma is een andere context met andere gegevens dan Was Nova.</a:t>
            </a:r>
          </a:p>
          <a:p xmlns:a="http://schemas.openxmlformats.org/drawingml/2006/main">
            <a:r>
              <a:rPr sz="1400"/>
              <a:t/>
            </a:r>
          </a:p>
          <a:p xmlns:a="http://schemas.openxmlformats.org/drawingml/2006/main">
            <a:r>
              <a:rPr sz="1400"/>
              <a:t>Overgang: Laat het overzicht staan tijdens het basiswerk.</a:t>
            </a:r>
          </a:p>
          <a:p xmlns:a="http://schemas.openxmlformats.org/drawingml/2006/main">
            <a:r>
              <a:rPr sz="1400"/>
              <a:t/>
            </a:r>
          </a:p>
          <a:p xmlns:a="http://schemas.openxmlformats.org/drawingml/2006/main">
            <a:r>
              <a:rPr sz="1400"/>
              <a:t>Bron: Boek 4, editie books34-v3, gedrukte boekpagina 28–29.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lukt al, en waar wil je uitleg bij?</a:t>
            </a:r>
          </a:p>
          <a:p xmlns:a="http://schemas.openxmlformats.org/drawingml/2006/main">
            <a:r>
              <a:rPr sz="1400"/>
              <a:t/>
            </a:r>
          </a:p>
          <a:p xmlns:a="http://schemas.openxmlformats.org/drawingml/2006/main">
            <a:r>
              <a:rPr sz="1400"/>
              <a:t>Uitleg: Laat deze dia staan tijdens zelfstandig werken. Start 21–22 staat op p. 29. Basis 23 staat op p. 30, 24–25 op p. 31, zelfstandig 26–27 op p. 32 en doel 28 op p. 33. Huiswerk is 23 t/m 28 maken en nakijken. Bonus 29 en herhaling 30 zijn extra. Opgave 21 haalt vermenigvuldigen en de beperkte differentieerregel uit §3.2.2 op; die regel staat ook in de opgave. Bij moeite met uitwerken: vermenigvuldig q met elke term tussen de haakjes. Opgave 22 introduceert de twee omzetwerkingen. Laat leerlingen op p. 28 de twee verkoopplannen en stappen 3–4 gebruiken, de ontbrekende prijsverandering aanwijzen en hun twijfel noteren. Dit is ondersteunde verkenning. Laat opgave 22 na de uitleg opnieuw proberen vóór basis 23. De docenteninformatie adviseert voorlopig twee lessen van 55 minuten voor de hele normale route, zonder gemeten tijdsfit. Verschuif de lesgrens indien nodig en behoud alle basisopgaven.</a:t>
            </a:r>
          </a:p>
          <a:p xmlns:a="http://schemas.openxmlformats.org/drawingml/2006/main">
            <a:r>
              <a:rPr sz="1400"/>
              <a:t/>
            </a:r>
          </a:p>
          <a:p xmlns:a="http://schemas.openxmlformats.org/drawingml/2006/main">
            <a:r>
              <a:rPr sz="1400"/>
              <a:t>Misvatting: Hoofdstuklokale pagina 25 is boekpagina 29. Gebruik de gedrukte boekvoeter. Start 22 toetst geen veronderstelde beheersing van nieuwe leerstof.</a:t>
            </a:r>
          </a:p>
          <a:p xmlns:a="http://schemas.openxmlformats.org/drawingml/2006/main">
            <a:r>
              <a:rPr sz="1400"/>
              <a:t/>
            </a:r>
          </a:p>
          <a:p xmlns:a="http://schemas.openxmlformats.org/drawingml/2006/main">
            <a:r>
              <a:rPr sz="1400"/>
              <a:t>Overgang: Ga door naar de volgende lesfase als de klas eraan toe is.</a:t>
            </a:r>
          </a:p>
          <a:p xmlns:a="http://schemas.openxmlformats.org/drawingml/2006/main">
            <a:r>
              <a:rPr sz="1400"/>
              <a:t/>
            </a:r>
          </a:p>
          <a:p xmlns:a="http://schemas.openxmlformats.org/drawingml/2006/main">
            <a:r>
              <a:rPr sz="1400"/>
              <a:t>Bron: Boek 4, editie books34-v3, gedrukte boekpagina 28–33.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betekenen P en q?</a:t>
            </a:r>
          </a:p>
          <a:p xmlns:a="http://schemas.openxmlformats.org/drawingml/2006/main">
            <a:r>
              <a:rPr sz="1400"/>
              <a:t/>
            </a:r>
          </a:p>
          <a:p xmlns:a="http://schemas.openxmlformats.org/drawingml/2006/main">
            <a:r>
              <a:rPr sz="1400"/>
              <a:t>Uitleg: De volledige bron en de volledige nog lege tabel horen bij de doelopgave. Gebruik de bron. Noteer bij ieder bedrag wat het meet. Dit is een nieuw model, met P = 30 − 0,50q en bovengrens 60. Laat alle volgende deelvragen zien voordat antwoorden worden onthuld.</a:t>
            </a:r>
          </a:p>
          <a:p xmlns:a="http://schemas.openxmlformats.org/drawingml/2006/main">
            <a:r>
              <a:rPr sz="1400"/>
              <a:t/>
            </a:r>
          </a:p>
          <a:p xmlns:a="http://schemas.openxmlformats.org/drawingml/2006/main">
            <a:r>
              <a:rPr sz="1400"/>
              <a:t>Misvatting: De formule van Was Nova hoort hier niet bij.</a:t>
            </a:r>
          </a:p>
          <a:p xmlns:a="http://schemas.openxmlformats.org/drawingml/2006/main">
            <a:r>
              <a:rPr sz="1400"/>
              <a:t/>
            </a:r>
          </a:p>
          <a:p xmlns:a="http://schemas.openxmlformats.org/drawingml/2006/main">
            <a:r>
              <a:rPr sz="1400"/>
              <a:t>Overgang: Lees vragen a, b en c zonder uitwerking.</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metingen vraagt c?</a:t>
            </a:r>
          </a:p>
          <a:p xmlns:a="http://schemas.openxmlformats.org/drawingml/2006/main">
            <a:r>
              <a:rPr sz="1400"/>
              <a:t/>
            </a:r>
          </a:p>
          <a:p xmlns:a="http://schemas.openxmlformats.org/drawingml/2006/main">
            <a:r>
              <a:rPr sz="1400"/>
              <a:t>Uitleg: De vragen zijn uit de huidige doelopgave overgenomen. Houd de context en lege tabel beschikbaar. Nog geen uitkomsten tonen. Deel c vraagt twee berekeningen én een verklaring.</a:t>
            </a:r>
          </a:p>
          <a:p xmlns:a="http://schemas.openxmlformats.org/drawingml/2006/main">
            <a:r>
              <a:rPr sz="1400"/>
              <a:t/>
            </a:r>
          </a:p>
          <a:p xmlns:a="http://schemas.openxmlformats.org/drawingml/2006/main">
            <a:r>
              <a:rPr sz="1400"/>
              <a:t>Misvatting: Alleen twee getallen beantwoordt de verklaring niet.</a:t>
            </a:r>
          </a:p>
          <a:p xmlns:a="http://schemas.openxmlformats.org/drawingml/2006/main">
            <a:r>
              <a:rPr sz="1400"/>
              <a:t/>
            </a:r>
          </a:p>
          <a:p xmlns:a="http://schemas.openxmlformats.org/drawingml/2006/main">
            <a:r>
              <a:rPr sz="1400"/>
              <a:t>Overgang: Laat ook d en e zien vóór de bespreking.</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controle verbindt c met d?</a:t>
            </a:r>
          </a:p>
          <a:p xmlns:a="http://schemas.openxmlformats.org/drawingml/2006/main">
            <a:r>
              <a:rPr sz="1400"/>
              <a:t/>
            </a:r>
          </a:p>
          <a:p xmlns:a="http://schemas.openxmlformats.org/drawingml/2006/main">
            <a:r>
              <a:rPr sz="1400"/>
              <a:t>Uitleg: Nu zijn bron, tabel en alle vijf deelvragen getoond zonder oplossingen. Laat leerlingen hun eigen werk erbij houden. De boeksteun zegt: twee manieren om dezelfde verandering van TO te berekenen moeten hetzelfde totaal opleveren. Een MO-puntwaarde en een gemiddelde over een grote stap hoeven niet gelijk te zijn.</a:t>
            </a:r>
          </a:p>
          <a:p xmlns:a="http://schemas.openxmlformats.org/drawingml/2006/main">
            <a:r>
              <a:rPr sz="1400"/>
              <a:t/>
            </a:r>
          </a:p>
          <a:p xmlns:a="http://schemas.openxmlformats.org/drawingml/2006/main">
            <a:r>
              <a:rPr sz="1400"/>
              <a:t>Misvatting: De doelopgave omvat ook de brongebonden verklaring bij e.</a:t>
            </a:r>
          </a:p>
          <a:p xmlns:a="http://schemas.openxmlformats.org/drawingml/2006/main">
            <a:r>
              <a:rPr sz="1400"/>
              <a:t/>
            </a:r>
          </a:p>
          <a:p xmlns:a="http://schemas.openxmlformats.org/drawingml/2006/main">
            <a:r>
              <a:rPr sz="1400"/>
              <a:t>Overgang: Begin de uitwerking bij TO.</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q² vandaan?</a:t>
            </a:r>
          </a:p>
          <a:p xmlns:a="http://schemas.openxmlformats.org/drawingml/2006/main">
            <a:r>
              <a:rPr sz="1400"/>
              <a:t/>
            </a:r>
          </a:p>
          <a:p xmlns:a="http://schemas.openxmlformats.org/drawingml/2006/main">
            <a:r>
              <a:rPr sz="1400"/>
              <a:t>Uitleg: Vervang P door de volledige vraagfunctie tussen haakjes. Vermenigvuldig beide termen met q. Controle bij q = 20: 30 × 20 − 0,50 × 20² = 600 − 200 = 400. Dat controleren we ook met P × q.</a:t>
            </a:r>
          </a:p>
          <a:p xmlns:a="http://schemas.openxmlformats.org/drawingml/2006/main">
            <a:r>
              <a:rPr sz="1400"/>
              <a:t/>
            </a:r>
          </a:p>
          <a:p xmlns:a="http://schemas.openxmlformats.org/drawingml/2006/main">
            <a:r>
              <a:rPr sz="1400"/>
              <a:t>Misvatting: De prijsverlaging moet mee in TO.</a:t>
            </a:r>
          </a:p>
          <a:p xmlns:a="http://schemas.openxmlformats.org/drawingml/2006/main">
            <a:r>
              <a:rPr sz="1400"/>
              <a:t/>
            </a:r>
          </a:p>
          <a:p xmlns:a="http://schemas.openxmlformats.org/drawingml/2006/main">
            <a:r>
              <a:rPr sz="1400"/>
              <a:t>Overgang: Differentieer deze TO-functie.</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minteken moet blijven staan?</a:t>
            </a:r>
          </a:p>
          <a:p xmlns:a="http://schemas.openxmlformats.org/drawingml/2006/main">
            <a:r>
              <a:rPr sz="1400"/>
              <a:t/>
            </a:r>
          </a:p>
          <a:p xmlns:a="http://schemas.openxmlformats.org/drawingml/2006/main">
            <a:r>
              <a:rPr sz="1400"/>
              <a:t>Uitleg: Differentieer term voor term. Tweemaal −0,50 is −1. Dus MO = 30 − q. TO is euro per week; MO euro per kg. Laat leerlingen hun tussenstappen controleren.</a:t>
            </a:r>
          </a:p>
          <a:p xmlns:a="http://schemas.openxmlformats.org/drawingml/2006/main">
            <a:r>
              <a:rPr sz="1400"/>
              <a:t/>
            </a:r>
          </a:p>
          <a:p xmlns:a="http://schemas.openxmlformats.org/drawingml/2006/main">
            <a:r>
              <a:rPr sz="1400"/>
              <a:t>Misvatting: MO is niet de verkoopprijs P = 30 − 0,50q.</a:t>
            </a:r>
          </a:p>
          <a:p xmlns:a="http://schemas.openxmlformats.org/drawingml/2006/main">
            <a:r>
              <a:rPr sz="1400"/>
              <a:t/>
            </a:r>
          </a:p>
          <a:p xmlns:a="http://schemas.openxmlformats.org/drawingml/2006/main">
            <a:r>
              <a:rPr sz="1400"/>
              <a:t>Overgang: Vul per rij eerst P en dan TO in.</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zet je bij 400 euro per week?</a:t>
            </a:r>
          </a:p>
          <a:p xmlns:a="http://schemas.openxmlformats.org/drawingml/2006/main">
            <a:r>
              <a:rPr sz="1400"/>
              <a:t/>
            </a:r>
          </a:p>
          <a:p xmlns:a="http://schemas.openxmlformats.org/drawingml/2006/main">
            <a:r>
              <a:rPr sz="1400"/>
              <a:t>Uitleg: Alle rijen: bij 10 kg is P = 30 − 5 = 25 en TO = 25 × 10 = 250; bij 20 is P = 20 en TO = 400; bij 30 is P = 30 − 15 = 15 en TO = 15 × 30 = 450. De TO-functie geeft dezelfde totalen.</a:t>
            </a:r>
          </a:p>
          <a:p xmlns:a="http://schemas.openxmlformats.org/drawingml/2006/main">
            <a:r>
              <a:rPr sz="1400"/>
              <a:t/>
            </a:r>
          </a:p>
          <a:p xmlns:a="http://schemas.openxmlformats.org/drawingml/2006/main">
            <a:r>
              <a:rPr sz="1400"/>
              <a:t>Misvatting: Prijs en TO hebben verschillende eenheden.</a:t>
            </a:r>
          </a:p>
          <a:p xmlns:a="http://schemas.openxmlformats.org/drawingml/2006/main">
            <a:r>
              <a:rPr sz="1400"/>
              <a:t/>
            </a:r>
          </a:p>
          <a:p xmlns:a="http://schemas.openxmlformats.org/drawingml/2006/main">
            <a:r>
              <a:rPr sz="1400"/>
              <a:t>Overgang: Gebruik het verschil tussen de laatste twee rijen.</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Over hoeveel kg bereken je het gemiddelde?</a:t>
            </a:r>
          </a:p>
          <a:p xmlns:a="http://schemas.openxmlformats.org/drawingml/2006/main">
            <a:r>
              <a:rPr sz="1400"/>
              <a:t/>
            </a:r>
          </a:p>
          <a:p xmlns:a="http://schemas.openxmlformats.org/drawingml/2006/main">
            <a:r>
              <a:rPr sz="1400"/>
              <a:t>Uitleg: Gebruik twee verschillen. Deel 50 euro per week door 10 kg per week. Het antwoord is gemiddeld 5 euro per extra kg over deze stap.</a:t>
            </a:r>
          </a:p>
          <a:p xmlns:a="http://schemas.openxmlformats.org/drawingml/2006/main">
            <a:r>
              <a:rPr sz="1400"/>
              <a:t/>
            </a:r>
          </a:p>
          <a:p xmlns:a="http://schemas.openxmlformats.org/drawingml/2006/main">
            <a:r>
              <a:rPr sz="1400"/>
              <a:t>Misvatting: De uitkomst is niet 50 euro per kg en ook niet TO gedeeld door q.</a:t>
            </a:r>
          </a:p>
          <a:p xmlns:a="http://schemas.openxmlformats.org/drawingml/2006/main">
            <a:r>
              <a:rPr sz="1400"/>
              <a:t/>
            </a:r>
          </a:p>
          <a:p xmlns:a="http://schemas.openxmlformats.org/drawingml/2006/main">
            <a:r>
              <a:rPr sz="1400"/>
              <a:t>Overgang: Bereken afzonderlijk MO op het beginpunt.</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10 en 5 allebei juist?</a:t>
            </a:r>
          </a:p>
          <a:p xmlns:a="http://schemas.openxmlformats.org/drawingml/2006/main">
            <a:r>
              <a:rPr sz="1400"/>
              <a:t/>
            </a:r>
          </a:p>
          <a:p xmlns:a="http://schemas.openxmlformats.org/drawingml/2006/main">
            <a:r>
              <a:rPr sz="1400"/>
              <a:t>Uitleg: De afgeleide geldt op één punt. Bij q = 20 is die 10 euro per kg, bij q = 30 nul. Het gemiddelde over de hele toename is daardoor niet gelijk aan de beginwaarde. De verklaring hoort bij c.</a:t>
            </a:r>
          </a:p>
          <a:p xmlns:a="http://schemas.openxmlformats.org/drawingml/2006/main">
            <a:r>
              <a:rPr sz="1400"/>
              <a:t/>
            </a:r>
          </a:p>
          <a:p xmlns:a="http://schemas.openxmlformats.org/drawingml/2006/main">
            <a:r>
              <a:rPr sz="1400"/>
              <a:t>Misvatting: Intervalgemiddelde en puntwaarde zijn verschillende metingen.</a:t>
            </a:r>
          </a:p>
          <a:p xmlns:a="http://schemas.openxmlformats.org/drawingml/2006/main">
            <a:r>
              <a:rPr sz="1400"/>
              <a:t/>
            </a:r>
          </a:p>
          <a:p xmlns:a="http://schemas.openxmlformats.org/drawingml/2006/main">
            <a:r>
              <a:rPr sz="1400"/>
              <a:t>Overgang: Splits dezelfde omzettoename in twee effecten.</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hoort bij de 10 extra kg?</a:t>
            </a:r>
          </a:p>
          <a:p xmlns:a="http://schemas.openxmlformats.org/drawingml/2006/main">
            <a:r>
              <a:rPr sz="1400"/>
              <a:t/>
            </a:r>
          </a:p>
          <a:p xmlns:a="http://schemas.openxmlformats.org/drawingml/2006/main">
            <a:r>
              <a:rPr sz="1400"/>
              <a:t>Uitleg: Gebruik voor de extra kg de nieuwe prijs 15. Gebruik voor de eerste 20 kg het prijsverschil 20 − 15. Trek de lagere opbrengst van de extra opbrengst af. De 50 euro per week is hetzelfde totaal als bij c vóór delen door 10.</a:t>
            </a:r>
          </a:p>
          <a:p xmlns:a="http://schemas.openxmlformats.org/drawingml/2006/main">
            <a:r>
              <a:rPr sz="1400"/>
              <a:t/>
            </a:r>
          </a:p>
          <a:p xmlns:a="http://schemas.openxmlformats.org/drawingml/2006/main">
            <a:r>
              <a:rPr sz="1400"/>
              <a:t>Misvatting: Alleen extra verkoop tellen vergeet het verlies van 100 euro op de eerste hoeveelheid.</a:t>
            </a:r>
          </a:p>
          <a:p xmlns:a="http://schemas.openxmlformats.org/drawingml/2006/main">
            <a:r>
              <a:rPr sz="1400"/>
              <a:t/>
            </a:r>
          </a:p>
          <a:p xmlns:a="http://schemas.openxmlformats.org/drawingml/2006/main">
            <a:r>
              <a:rPr sz="1400"/>
              <a:t>Overgang: Beoordeel de uitspraak over prijs en MO.</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alleen “de MO-lijn ligt lager” geen verklaring?</a:t>
            </a:r>
          </a:p>
          <a:p xmlns:a="http://schemas.openxmlformats.org/drawingml/2006/main">
            <a:r>
              <a:rPr sz="1400"/>
              <a:t/>
            </a:r>
          </a:p>
          <a:p xmlns:a="http://schemas.openxmlformats.org/drawingml/2006/main">
            <a:r>
              <a:rPr sz="1400"/>
              <a:t>Uitleg: De koper betaalt 20 euro per kg, maar de verandering van TO bij een kleine uitbreiding is 10 euro per kg. Door de uniforme prijs raakt de prijsverlaging ook de eerste hoeveelheid. Noem de berekening én het mechanisme uit de bron.</a:t>
            </a:r>
          </a:p>
          <a:p xmlns:a="http://schemas.openxmlformats.org/drawingml/2006/main">
            <a:r>
              <a:rPr sz="1400"/>
              <a:t/>
            </a:r>
          </a:p>
          <a:p xmlns:a="http://schemas.openxmlformats.org/drawingml/2006/main">
            <a:r>
              <a:rPr sz="1400"/>
              <a:t>Misvatting: De grafiekpositie is het gevolg, niet de economische oorzaak.</a:t>
            </a:r>
          </a:p>
          <a:p xmlns:a="http://schemas.openxmlformats.org/drawingml/2006/main">
            <a:r>
              <a:rPr sz="1400"/>
              <a:t/>
            </a:r>
          </a:p>
          <a:p xmlns:a="http://schemas.openxmlformats.org/drawingml/2006/main">
            <a:r>
              <a:rPr sz="1400"/>
              <a:t>Overgang: Controleer je eigen antwoord.</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redenering kun je scherper opschrijven?</a:t>
            </a:r>
          </a:p>
          <a:p xmlns:a="http://schemas.openxmlformats.org/drawingml/2006/main">
            <a:r>
              <a:rPr sz="1400"/>
              <a:t/>
            </a:r>
          </a:p>
          <a:p xmlns:a="http://schemas.openxmlformats.org/drawingml/2006/main">
            <a:r>
              <a:rPr sz="1400"/>
              <a:t>Uitleg: Controleer a tot en met e, niet alleen de eindgetallen. a: TO = 30q − 0,50q² en MO = 30 − q. b: 250, 400, 450 euro per week. c: 5 tegenover 10 euro per kg met stap/puntverklaring. d: 150 − 100 = 50 euro per week. e: P 20 tegenover MO 10, met beide omzetwerkingen.</a:t>
            </a:r>
          </a:p>
          <a:p xmlns:a="http://schemas.openxmlformats.org/drawingml/2006/main">
            <a:r>
              <a:rPr sz="1400"/>
              <a:t/>
            </a:r>
          </a:p>
          <a:p xmlns:a="http://schemas.openxmlformats.org/drawingml/2006/main">
            <a:r>
              <a:rPr sz="1400"/>
              <a:t>Misvatting: Een juist getal vervangt een gevraagde uitleg niet.</a:t>
            </a:r>
          </a:p>
          <a:p xmlns:a="http://schemas.openxmlformats.org/drawingml/2006/main">
            <a:r>
              <a:rPr sz="1400"/>
              <a:t/>
            </a:r>
          </a:p>
          <a:p xmlns:a="http://schemas.openxmlformats.org/drawingml/2006/main">
            <a:r>
              <a:rPr sz="1400"/>
              <a:t>Overgang: Zet het huiswerk in de agenda.</a:t>
            </a:r>
          </a:p>
          <a:p xmlns:a="http://schemas.openxmlformats.org/drawingml/2006/main">
            <a:r>
              <a:rPr sz="1400"/>
              <a:t/>
            </a:r>
          </a:p>
          <a:p xmlns:a="http://schemas.openxmlformats.org/drawingml/2006/main">
            <a:r>
              <a:rPr sz="1400"/>
              <a:t>Bron: Boek 4, editie books34-v3, gedrukte boekpagina 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lukt al, en waar wil je uitleg bij?</a:t>
            </a:r>
          </a:p>
          <a:p xmlns:a="http://schemas.openxmlformats.org/drawingml/2006/main">
            <a:r>
              <a:rPr sz="1400"/>
              <a:t/>
            </a:r>
          </a:p>
          <a:p xmlns:a="http://schemas.openxmlformats.org/drawingml/2006/main">
            <a:r>
              <a:rPr sz="1400"/>
              <a:t>Uitleg: Laat deze dia staan tijdens afsluiting / huiswerk. Start 21–22 staat op p. 29. Basis 23 staat op p. 30, 24–25 op p. 31, zelfstandig 26–27 op p. 32 en doel 28 op p. 33. Huiswerk is 23 t/m 28 maken en nakijken. Bonus 29 en herhaling 30 zijn extra. Opgave 21 haalt vermenigvuldigen en de beperkte differentieerregel uit §3.2.2 op; die regel staat ook in de opgave. Bij moeite met uitwerken: vermenigvuldig q met elke term tussen de haakjes. Opgave 22 introduceert de twee omzetwerkingen. Laat leerlingen op p. 28 de twee verkoopplannen en stappen 3–4 gebruiken, de ontbrekende prijsverandering aanwijzen en hun twijfel noteren. Dit is ondersteunde verkenning. Laat opgave 22 na de uitleg opnieuw proberen vóór basis 23. De docenteninformatie adviseert voorlopig twee lessen van 55 minuten voor de hele normale route, zonder gemeten tijdsfit. Verschuif de lesgrens indien nodig en behoud alle basisopgaven.</a:t>
            </a:r>
          </a:p>
          <a:p xmlns:a="http://schemas.openxmlformats.org/drawingml/2006/main">
            <a:r>
              <a:rPr sz="1400"/>
              <a:t/>
            </a:r>
          </a:p>
          <a:p xmlns:a="http://schemas.openxmlformats.org/drawingml/2006/main">
            <a:r>
              <a:rPr sz="1400"/>
              <a:t>Misvatting: Hoofdstuklokale pagina 25 is boekpagina 29. Gebruik de gedrukte boekvoeter. Start 22 toetst geen veronderstelde beheersing van nieuwe leerstof.</a:t>
            </a:r>
          </a:p>
          <a:p xmlns:a="http://schemas.openxmlformats.org/drawingml/2006/main">
            <a:r>
              <a:rPr sz="1400"/>
              <a:t/>
            </a:r>
          </a:p>
          <a:p xmlns:a="http://schemas.openxmlformats.org/drawingml/2006/main">
            <a:r>
              <a:rPr sz="1400"/>
              <a:t>Overgang: Laat het huiswerk in de agenda zetten.</a:t>
            </a:r>
          </a:p>
          <a:p xmlns:a="http://schemas.openxmlformats.org/drawingml/2006/main">
            <a:r>
              <a:rPr sz="1400"/>
              <a:t/>
            </a:r>
          </a:p>
          <a:p xmlns:a="http://schemas.openxmlformats.org/drawingml/2006/main">
            <a:r>
              <a:rPr sz="1400"/>
              <a:t>Bron: Boek 4, editie books34-v3, gedrukte boekpagina 28–33.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https://github.com/meijer1973/4veco-lessen/blob/e734532a42b27732ac25ce990fc9448b12309d28/edities/books34-v3/books/book-4/chapters/4.1/</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db34031ea34c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8276d242d141d2" /><Relationship Type="http://schemas.openxmlformats.org/officeDocument/2006/relationships/slideLayout" Target="/ppt/slideLayouts/slideLayout1.xml" Id="R49309f26ced948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309f26ced948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9fc1b54ba64301" /><Relationship Type="http://schemas.openxmlformats.org/officeDocument/2006/relationships/notesSlide" Target="/ppt/notesSlides/notesSlide1.xml" Id="R4b86c0d7a27e40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231a9aae894315" /><Relationship Type="http://schemas.openxmlformats.org/officeDocument/2006/relationships/notesSlide" Target="/ppt/notesSlides/notesSlide2.xml" Id="R573bc0aca2c247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9074f1907c4b20" /><Relationship Type="http://schemas.openxmlformats.org/officeDocument/2006/relationships/notesSlide" Target="/ppt/notesSlides/notesSlide3.xml" Id="R509e692116ab46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b91500b7744ca1" /><Relationship Type="http://schemas.openxmlformats.org/officeDocument/2006/relationships/notesSlide" Target="/ppt/notesSlides/notesSlide4.xml" Id="R2b64c96dcdc14f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f85fad69d7452d" /><Relationship Type="http://schemas.openxmlformats.org/officeDocument/2006/relationships/notesSlide" Target="/ppt/notesSlides/notesSlide5.xml" Id="Rfa6cd3b4f7c346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58ea18c6164303" /><Relationship Type="http://schemas.openxmlformats.org/officeDocument/2006/relationships/notesSlide" Target="/ppt/notesSlides/notesSlide6.xml" Id="R252c17c57aac43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0dc7d2d31b4f78" /><Relationship Type="http://schemas.openxmlformats.org/officeDocument/2006/relationships/notesSlide" Target="/ppt/notesSlides/notesSlide7.xml" Id="R52f0025f3c4442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699ea7205c46f4" /><Relationship Type="http://schemas.openxmlformats.org/officeDocument/2006/relationships/notesSlide" Target="/ppt/notesSlides/notesSlide8.xml" Id="R6f883643d9be4a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2555bb67a64f60" /><Relationship Type="http://schemas.openxmlformats.org/officeDocument/2006/relationships/notesSlide" Target="/ppt/notesSlides/notesSlide9.xml" Id="Rb2a88df174c647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a6170aa8864f3f" /><Relationship Type="http://schemas.openxmlformats.org/officeDocument/2006/relationships/chart" Target="/ppt/slides/charts/chart1.xml" Id="Rfe531b2227844a3c" /><Relationship Type="http://schemas.openxmlformats.org/officeDocument/2006/relationships/notesSlide" Target="/ppt/notesSlides/notesSlide10.xml" Id="R0f76e014b73c45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5eee39e95547ef" /><Relationship Type="http://schemas.openxmlformats.org/officeDocument/2006/relationships/chart" Target="/ppt/slides/charts/chart2.xml" Id="Rd69434d2f74c4a83" /><Relationship Type="http://schemas.openxmlformats.org/officeDocument/2006/relationships/notesSlide" Target="/ppt/notesSlides/notesSlide11.xml" Id="R8c2f61dddf4443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36c27cbcbb459d" /><Relationship Type="http://schemas.openxmlformats.org/officeDocument/2006/relationships/notesSlide" Target="/ppt/notesSlides/notesSlide12.xml" Id="R9b6035fe4dfb40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219f637c8304624" /><Relationship Type="http://schemas.openxmlformats.org/officeDocument/2006/relationships/chart" Target="/ppt/slides/charts/chart3.xml" Id="R642271153da0473c" /><Relationship Type="http://schemas.openxmlformats.org/officeDocument/2006/relationships/notesSlide" Target="/ppt/notesSlides/notesSlide13.xml" Id="R06af34222e6644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c060e94e2cc4c61" /><Relationship Type="http://schemas.openxmlformats.org/officeDocument/2006/relationships/notesSlide" Target="/ppt/notesSlides/notesSlide14.xml" Id="R806ba6ed8a8d40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c38b81e35364c2f" /><Relationship Type="http://schemas.openxmlformats.org/officeDocument/2006/relationships/notesSlide" Target="/ppt/notesSlides/notesSlide15.xml" Id="Reb1bcbb0253245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acad8c1268a4420" /><Relationship Type="http://schemas.openxmlformats.org/officeDocument/2006/relationships/notesSlide" Target="/ppt/notesSlides/notesSlide16.xml" Id="Rfdeb4857ec9244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aa11c3133b941a1" /><Relationship Type="http://schemas.openxmlformats.org/officeDocument/2006/relationships/notesSlide" Target="/ppt/notesSlides/notesSlide17.xml" Id="R95f912dabd6b4f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af82cfba8c04851" /><Relationship Type="http://schemas.openxmlformats.org/officeDocument/2006/relationships/notesSlide" Target="/ppt/notesSlides/notesSlide18.xml" Id="R5c55a70ceba444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d666d42ac4f436c" /><Relationship Type="http://schemas.openxmlformats.org/officeDocument/2006/relationships/notesSlide" Target="/ppt/notesSlides/notesSlide19.xml" Id="R55297b6f9c6a4f6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3e063d9a9b54600" /><Relationship Type="http://schemas.openxmlformats.org/officeDocument/2006/relationships/notesSlide" Target="/ppt/notesSlides/notesSlide20.xml" Id="Rb516475dddcc41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d567234df474b72" /><Relationship Type="http://schemas.openxmlformats.org/officeDocument/2006/relationships/notesSlide" Target="/ppt/notesSlides/notesSlide21.xml" Id="R176107b42fb149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772675aaa6b40a6" /><Relationship Type="http://schemas.openxmlformats.org/officeDocument/2006/relationships/notesSlide" Target="/ppt/notesSlides/notesSlide22.xml" Id="Rfb0ceffdd059444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d1632c04897419e" /><Relationship Type="http://schemas.openxmlformats.org/officeDocument/2006/relationships/notesSlide" Target="/ppt/notesSlides/notesSlide23.xml" Id="Red83b8cb660a4cd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242cedfa4bd4120" /><Relationship Type="http://schemas.openxmlformats.org/officeDocument/2006/relationships/notesSlide" Target="/ppt/notesSlides/notesSlide24.xml" Id="Rb226906156804f2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0da934a4ecc4e69" /><Relationship Type="http://schemas.openxmlformats.org/officeDocument/2006/relationships/notesSlide" Target="/ppt/notesSlides/notesSlide25.xml" Id="Rbb6dcb080a3843d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9ee4d13ae6b451f" /><Relationship Type="http://schemas.openxmlformats.org/officeDocument/2006/relationships/notesSlide" Target="/ppt/notesSlides/notesSlide26.xml" Id="Rd779f836c099426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61af5c7bde44682" /><Relationship Type="http://schemas.openxmlformats.org/officeDocument/2006/relationships/notesSlide" Target="/ppt/notesSlides/notesSlide27.xml" Id="Rc87a350dd24a417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P = GO (q &gt; 0)</c:v>
          </c:tx>
          <c:spPr>
            <a:ln xmlns:a="http://schemas.openxmlformats.org/drawingml/2006/main" w="38100">
              <a:solidFill>
                <a:srgbClr val="1A5276"/>
              </a:solidFill>
            </a:ln>
          </c:spPr>
          <c:marker>
            <c:symbol val="none"/>
          </c:marker>
          <c:xVal>
            <c:numRef>
              <c:f>'Chart Data'!$A$2:$A$10</c:f>
              <c:numCache>
                <c:formatCode>General</c:formatCode>
                <c:ptCount val="9"/>
                <c:pt idx="0">
                  <c:v>0</c:v>
                </c:pt>
                <c:pt idx="1">
                  <c:v>10</c:v>
                </c:pt>
                <c:pt idx="2">
                  <c:v>20</c:v>
                </c:pt>
                <c:pt idx="3">
                  <c:v>30</c:v>
                </c:pt>
                <c:pt idx="4">
                  <c:v>35</c:v>
                </c:pt>
                <c:pt idx="5">
                  <c:v>40</c:v>
                </c:pt>
                <c:pt idx="6">
                  <c:v>50</c:v>
                </c:pt>
                <c:pt idx="7">
                  <c:v>60</c:v>
                </c:pt>
                <c:pt idx="8">
                  <c:v>70</c:v>
                </c:pt>
              </c:numCache>
            </c:numRef>
          </c:xVal>
          <c:yVal>
            <c:numRef>
              <c:f>'Chart Data'!$B$2:$B$10</c:f>
              <c:numCache>
                <c:formatCode>0</c:formatCode>
                <c:ptCount val="9"/>
                <c:pt idx="0">
                  <c:v>28</c:v>
                </c:pt>
                <c:pt idx="1">
                  <c:v>24</c:v>
                </c:pt>
                <c:pt idx="2">
                  <c:v>20</c:v>
                </c:pt>
                <c:pt idx="3">
                  <c:v>16</c:v>
                </c:pt>
                <c:pt idx="4">
                  <c:v>14</c:v>
                </c:pt>
                <c:pt idx="5">
                  <c:v>12</c:v>
                </c:pt>
                <c:pt idx="6">
                  <c:v>8</c:v>
                </c:pt>
                <c:pt idx="7">
                  <c:v>4</c:v>
                </c:pt>
                <c:pt idx="8">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28"/>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en MO (€ per kg)</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4"/>
      </c:valAx>
      <c:valAx>
        <c:axId val="48650112"/>
        <c:scaling>
          <c:orientation val="minMax"/>
          <c:max val="7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tickLblPos val="low"/>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P = GO (q &gt; 0)</c:v>
          </c:tx>
          <c:spPr>
            <a:ln xmlns:a="http://schemas.openxmlformats.org/drawingml/2006/main" w="38100">
              <a:solidFill>
                <a:srgbClr val="1A5276"/>
              </a:solidFill>
            </a:ln>
          </c:spPr>
          <c:marker>
            <c:symbol val="none"/>
          </c:marker>
          <c:xVal>
            <c:numRef>
              <c:f>'Chart Data'!$A$2:$A$10</c:f>
              <c:numCache>
                <c:formatCode>General</c:formatCode>
                <c:ptCount val="9"/>
                <c:pt idx="0">
                  <c:v>0</c:v>
                </c:pt>
                <c:pt idx="1">
                  <c:v>10</c:v>
                </c:pt>
                <c:pt idx="2">
                  <c:v>20</c:v>
                </c:pt>
                <c:pt idx="3">
                  <c:v>30</c:v>
                </c:pt>
                <c:pt idx="4">
                  <c:v>35</c:v>
                </c:pt>
                <c:pt idx="5">
                  <c:v>40</c:v>
                </c:pt>
                <c:pt idx="6">
                  <c:v>50</c:v>
                </c:pt>
                <c:pt idx="7">
                  <c:v>60</c:v>
                </c:pt>
                <c:pt idx="8">
                  <c:v>70</c:v>
                </c:pt>
              </c:numCache>
            </c:numRef>
          </c:xVal>
          <c:yVal>
            <c:numRef>
              <c:f>'Chart Data'!$B$2:$B$10</c:f>
              <c:numCache>
                <c:formatCode>0</c:formatCode>
                <c:ptCount val="9"/>
                <c:pt idx="0">
                  <c:v>28</c:v>
                </c:pt>
                <c:pt idx="1">
                  <c:v>24</c:v>
                </c:pt>
                <c:pt idx="2">
                  <c:v>20</c:v>
                </c:pt>
                <c:pt idx="3">
                  <c:v>16</c:v>
                </c:pt>
                <c:pt idx="4">
                  <c:v>14</c:v>
                </c:pt>
                <c:pt idx="5">
                  <c:v>12</c:v>
                </c:pt>
                <c:pt idx="6">
                  <c:v>8</c:v>
                </c:pt>
                <c:pt idx="7">
                  <c:v>4</c:v>
                </c:pt>
                <c:pt idx="8">
                  <c:v>0</c:v>
                </c:pt>
              </c:numCache>
            </c:numRef>
          </c:yVal>
          <c:smooth val="0"/>
        </c:ser>
        <c:ser>
          <c:idx val="1"/>
          <c:order val="1"/>
          <c:tx>
            <c:v>MO</c:v>
          </c:tx>
          <c:spPr>
            <a:ln xmlns:a="http://schemas.openxmlformats.org/drawingml/2006/main" w="38100">
              <a:solidFill>
                <a:srgbClr val="7B2D8E"/>
              </a:solidFill>
            </a:ln>
          </c:spPr>
          <c:marker>
            <c:symbol val="none"/>
          </c:marker>
          <c:xVal>
            <c:numRef>
              <c:f>'Chart Data'!$C$2:$C$10</c:f>
              <c:numCache>
                <c:formatCode>General</c:formatCode>
                <c:ptCount val="9"/>
                <c:pt idx="0">
                  <c:v>0</c:v>
                </c:pt>
                <c:pt idx="1">
                  <c:v>10</c:v>
                </c:pt>
                <c:pt idx="2">
                  <c:v>20</c:v>
                </c:pt>
                <c:pt idx="3">
                  <c:v>30</c:v>
                </c:pt>
                <c:pt idx="4">
                  <c:v>35</c:v>
                </c:pt>
                <c:pt idx="5">
                  <c:v>40</c:v>
                </c:pt>
                <c:pt idx="6">
                  <c:v>50</c:v>
                </c:pt>
                <c:pt idx="7">
                  <c:v>60</c:v>
                </c:pt>
                <c:pt idx="8">
                  <c:v>70</c:v>
                </c:pt>
              </c:numCache>
            </c:numRef>
          </c:xVal>
          <c:yVal>
            <c:numRef>
              <c:f>'Chart Data'!$D$2:$D$10</c:f>
              <c:numCache>
                <c:formatCode>0</c:formatCode>
                <c:ptCount val="9"/>
                <c:pt idx="0">
                  <c:v>28</c:v>
                </c:pt>
                <c:pt idx="1">
                  <c:v>20</c:v>
                </c:pt>
                <c:pt idx="2">
                  <c:v>12</c:v>
                </c:pt>
                <c:pt idx="3">
                  <c:v>4</c:v>
                </c:pt>
                <c:pt idx="4">
                  <c:v>0</c:v>
                </c:pt>
                <c:pt idx="5">
                  <c:v>-4</c:v>
                </c:pt>
                <c:pt idx="6">
                  <c:v>-12</c:v>
                </c:pt>
                <c:pt idx="7">
                  <c:v>-20</c:v>
                </c:pt>
                <c:pt idx="8">
                  <c:v>-28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28"/>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en MO (€ per kg)</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4"/>
      </c:valAx>
      <c:valAx>
        <c:axId val="48650112"/>
        <c:scaling>
          <c:orientation val="minMax"/>
          <c:max val="7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tickLblPos val="low"/>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P = GO (q &gt; 0)</c:v>
          </c:tx>
          <c:spPr>
            <a:ln xmlns:a="http://schemas.openxmlformats.org/drawingml/2006/main" w="38100">
              <a:solidFill>
                <a:srgbClr val="1A5276"/>
              </a:solidFill>
            </a:ln>
          </c:spPr>
          <c:marker>
            <c:symbol val="none"/>
          </c:marker>
          <c:xVal>
            <c:numRef>
              <c:f>'Chart Data'!$A$2:$A$10</c:f>
              <c:numCache>
                <c:formatCode>General</c:formatCode>
                <c:ptCount val="9"/>
                <c:pt idx="0">
                  <c:v>0</c:v>
                </c:pt>
                <c:pt idx="1">
                  <c:v>10</c:v>
                </c:pt>
                <c:pt idx="2">
                  <c:v>20</c:v>
                </c:pt>
                <c:pt idx="3">
                  <c:v>30</c:v>
                </c:pt>
                <c:pt idx="4">
                  <c:v>35</c:v>
                </c:pt>
                <c:pt idx="5">
                  <c:v>40</c:v>
                </c:pt>
                <c:pt idx="6">
                  <c:v>50</c:v>
                </c:pt>
                <c:pt idx="7">
                  <c:v>60</c:v>
                </c:pt>
                <c:pt idx="8">
                  <c:v>70</c:v>
                </c:pt>
              </c:numCache>
            </c:numRef>
          </c:xVal>
          <c:yVal>
            <c:numRef>
              <c:f>'Chart Data'!$B$2:$B$10</c:f>
              <c:numCache>
                <c:formatCode>0</c:formatCode>
                <c:ptCount val="9"/>
                <c:pt idx="0">
                  <c:v>28</c:v>
                </c:pt>
                <c:pt idx="1">
                  <c:v>24</c:v>
                </c:pt>
                <c:pt idx="2">
                  <c:v>20</c:v>
                </c:pt>
                <c:pt idx="3">
                  <c:v>16</c:v>
                </c:pt>
                <c:pt idx="4">
                  <c:v>14</c:v>
                </c:pt>
                <c:pt idx="5">
                  <c:v>12</c:v>
                </c:pt>
                <c:pt idx="6">
                  <c:v>8</c:v>
                </c:pt>
                <c:pt idx="7">
                  <c:v>4</c:v>
                </c:pt>
                <c:pt idx="8">
                  <c:v>0</c:v>
                </c:pt>
              </c:numCache>
            </c:numRef>
          </c:yVal>
          <c:smooth val="0"/>
        </c:ser>
        <c:ser>
          <c:idx val="1"/>
          <c:order val="1"/>
          <c:tx>
            <c:v>MO</c:v>
          </c:tx>
          <c:spPr>
            <a:ln xmlns:a="http://schemas.openxmlformats.org/drawingml/2006/main" w="38100">
              <a:solidFill>
                <a:srgbClr val="7B2D8E"/>
              </a:solidFill>
            </a:ln>
          </c:spPr>
          <c:marker>
            <c:symbol val="none"/>
          </c:marker>
          <c:xVal>
            <c:numRef>
              <c:f>'Chart Data'!$C$2:$C$10</c:f>
              <c:numCache>
                <c:formatCode>General</c:formatCode>
                <c:ptCount val="9"/>
                <c:pt idx="0">
                  <c:v>0</c:v>
                </c:pt>
                <c:pt idx="1">
                  <c:v>10</c:v>
                </c:pt>
                <c:pt idx="2">
                  <c:v>20</c:v>
                </c:pt>
                <c:pt idx="3">
                  <c:v>30</c:v>
                </c:pt>
                <c:pt idx="4">
                  <c:v>35</c:v>
                </c:pt>
                <c:pt idx="5">
                  <c:v>40</c:v>
                </c:pt>
                <c:pt idx="6">
                  <c:v>50</c:v>
                </c:pt>
                <c:pt idx="7">
                  <c:v>60</c:v>
                </c:pt>
                <c:pt idx="8">
                  <c:v>70</c:v>
                </c:pt>
              </c:numCache>
            </c:numRef>
          </c:xVal>
          <c:yVal>
            <c:numRef>
              <c:f>'Chart Data'!$D$2:$D$10</c:f>
              <c:numCache>
                <c:formatCode>0</c:formatCode>
                <c:ptCount val="9"/>
                <c:pt idx="0">
                  <c:v>28</c:v>
                </c:pt>
                <c:pt idx="1">
                  <c:v>20</c:v>
                </c:pt>
                <c:pt idx="2">
                  <c:v>12</c:v>
                </c:pt>
                <c:pt idx="3">
                  <c:v>4</c:v>
                </c:pt>
                <c:pt idx="4">
                  <c:v>0</c:v>
                </c:pt>
                <c:pt idx="5">
                  <c:v>-4</c:v>
                </c:pt>
                <c:pt idx="6">
                  <c:v>-12</c:v>
                </c:pt>
                <c:pt idx="7">
                  <c:v>-20</c:v>
                </c:pt>
                <c:pt idx="8">
                  <c:v>-28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28"/>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en MO (€ per kg)</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4"/>
      </c:valAx>
      <c:valAx>
        <c:axId val="48650112"/>
        <c:scaling>
          <c:orientation val="minMax"/>
          <c:max val="7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tickLblPos val="low"/>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3 Marginale opbrengst bij monopolie">
            <a:extLst xmlns:a="http://schemas.openxmlformats.org/drawingml/2006/main">
              <a:ext uri="{FF2B5EF4-FFF2-40B4-BE49-F238E27FC236}">
                <a16:creationId xmlns:a16="http://schemas.microsoft.com/office/drawing/2014/main" id="{0484BE71-E6D1-40F9-9D01-57E23C1D776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Deze les: §4.1.3 Marginale opbrengst bij monopolie</a:t>
            </a:r>
          </a:p>
        </p:txBody>
      </p:sp>
      <p:sp>
        <p:nvSpPr>
          <p:cNvPr id="2" name="">
            <a:extLst xmlns:a="http://schemas.openxmlformats.org/drawingml/2006/main">
              <a:ext uri="{FF2B5EF4-FFF2-40B4-BE49-F238E27FC236}">
                <a16:creationId xmlns:a16="http://schemas.microsoft.com/office/drawing/2014/main" id="{8B0D1091-5F48-401F-97CB-0B81A7A0F75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Marginale opbrengst bij monopolie">
            <a:extLst xmlns:a="http://schemas.openxmlformats.org/drawingml/2006/main">
              <a:ext uri="{FF2B5EF4-FFF2-40B4-BE49-F238E27FC236}">
                <a16:creationId xmlns:a16="http://schemas.microsoft.com/office/drawing/2014/main" id="{68D21131-FBEE-48A7-A277-1F9B9171659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Marginale opbrengst bij monopolie</a:t>
            </a:r>
          </a:p>
        </p:txBody>
      </p:sp>
      <p:sp>
        <p:nvSpPr>
          <p:cNvPr id="4" name="1">
            <a:extLst xmlns:a="http://schemas.openxmlformats.org/drawingml/2006/main">
              <a:ext uri="{FF2B5EF4-FFF2-40B4-BE49-F238E27FC236}">
                <a16:creationId xmlns:a16="http://schemas.microsoft.com/office/drawing/2014/main" id="{2D7079C9-6863-4D01-BADF-B160601906D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22DF0048-2628-4D11-A8A3-20C87CDC8953}"/>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660E6449-3EBA-49B4-AFA8-7B73041D76F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6025F847-1303-48D3-9D0B-D17721237846}"/>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34708AEA-505A-4192-96A7-F78662F4141A}"/>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6ECAB53-356B-4592-AF43-C7E8622F332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EDF9CEB1-E58D-4A4C-852B-8CD3F9124671}"/>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DD5B0C1C-967C-4865-9EC5-03197B3445C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2318F8D-83C8-44A1-A9BD-22CABDB4CC2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76CE126F-D528-4338-B022-9F6FCEA3DA9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46BC16C-3C67-40B6-99A3-364486ECE7AA}"/>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104E93D6-DD67-467D-9926-A15E499EDC4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411F0EFB-941C-40D5-AAEA-719E733AF07D}"/>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FDC89E20-740E-4091-A72A-68E5E5D91755}"/>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719B97C-1A67-4504-8D99-A76D1224698B}"/>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28.</a:t>
            </a:r>
          </a:p>
        </p:txBody>
      </p:sp>
      <p:sp>
        <p:nvSpPr>
          <p:cNvPr id="19" name="route-number-7">
            <a:extLst xmlns:a="http://schemas.openxmlformats.org/drawingml/2006/main">
              <a:ext uri="{FF2B5EF4-FFF2-40B4-BE49-F238E27FC236}">
                <a16:creationId xmlns:a16="http://schemas.microsoft.com/office/drawing/2014/main" id="{07D19957-D27A-4006-BDFA-608542DD44D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94A883CC-1C84-4C00-906B-082DDA7BBD91}"/>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ADE6C160-B1C1-481F-975A-B16F2E961D89}"/>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07AEFAC0-7ACF-491F-9217-A170766CB031}"/>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TO en MO afleiden; tabel invullen.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Tabelstap en punt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 lager dan P verklaren.</a:t>
            </a:r>
          </a:p>
        </p:txBody>
      </p:sp>
      <p:sp>
        <p:nvSpPr>
          <p:cNvPr id="23" name="">
            <a:extLst xmlns:a="http://schemas.openxmlformats.org/drawingml/2006/main">
              <a:ext uri="{FF2B5EF4-FFF2-40B4-BE49-F238E27FC236}">
                <a16:creationId xmlns:a16="http://schemas.microsoft.com/office/drawing/2014/main" id="{CAFFB41D-BD78-4CF6-984D-2AF59D983930}"/>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88216A5C-77F6-4699-937D-D033C78D0BD7}"/>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30A2305D-6470-4A72-B366-8758D77A9733}"/>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29 · Opgaven 21 en 22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22: verkennen met voorbeeld p. 28</a:t>
            </a:r>
          </a:p>
        </p:txBody>
      </p:sp>
      <p:sp>
        <p:nvSpPr>
          <p:cNvPr id="26" name="">
            <a:extLst xmlns:a="http://schemas.openxmlformats.org/drawingml/2006/main">
              <a:ext uri="{FF2B5EF4-FFF2-40B4-BE49-F238E27FC236}">
                <a16:creationId xmlns:a16="http://schemas.microsoft.com/office/drawing/2014/main" id="{897D1372-F4BA-4239-90CF-125E796D723C}"/>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27217219-D78E-4A3A-9FE3-C345696F528A}"/>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15F2E07B-D134-4920-BA69-62E22F18F34F}"/>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§4.1.3 · Opgaven 23 t/m 28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23, 24 en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26 en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0678850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at kun je na deze les?">
            <a:extLst xmlns:a="http://schemas.openxmlformats.org/drawingml/2006/main">
              <a:ext uri="{FF2B5EF4-FFF2-40B4-BE49-F238E27FC236}">
                <a16:creationId xmlns:a16="http://schemas.microsoft.com/office/drawing/2014/main" id="{07945C6F-96CD-45B6-A984-494F48AB6AF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640DC56C-13CD-49A6-B417-30CE7292E9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Marginale opbrengst bij monopolie">
            <a:extLst xmlns:a="http://schemas.openxmlformats.org/drawingml/2006/main">
              <a:ext uri="{FF2B5EF4-FFF2-40B4-BE49-F238E27FC236}">
                <a16:creationId xmlns:a16="http://schemas.microsoft.com/office/drawing/2014/main" id="{EE5EDA6E-2027-40D9-8B4A-131847F8492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Marginale opbrengst bij monopolie</a:t>
            </a:r>
          </a:p>
        </p:txBody>
      </p:sp>
      <p:sp>
        <p:nvSpPr>
          <p:cNvPr id="4" name="2">
            <a:extLst xmlns:a="http://schemas.openxmlformats.org/drawingml/2006/main">
              <a:ext uri="{FF2B5EF4-FFF2-40B4-BE49-F238E27FC236}">
                <a16:creationId xmlns:a16="http://schemas.microsoft.com/office/drawing/2014/main" id="{77DAEA21-CF0B-4732-BE63-5CD12CFFAF5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Vraagfunctie">
            <a:extLst xmlns:a="http://schemas.openxmlformats.org/drawingml/2006/main">
              <a:ext uri="{FF2B5EF4-FFF2-40B4-BE49-F238E27FC236}">
                <a16:creationId xmlns:a16="http://schemas.microsoft.com/office/drawing/2014/main" id="{4C4AA19D-6C1B-41A7-BB27-815D0DC984C8}"/>
              </a:ext>
            </a:extLst>
          </p:cNvPr>
          <p:cNvSpPr>
            <a:spLocks xmlns:a="http://schemas.openxmlformats.org/drawingml/2006/main" noGrp="1"/>
          </p:cNvSpPr>
          <p:nvPr/>
        </p:nvSpPr>
        <p:spPr>
          <a:xfrm xmlns:a="http://schemas.openxmlformats.org/drawingml/2006/main">
            <a:off x="571500" y="20002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Vraagfunctie</a:t>
            </a:r>
          </a:p>
        </p:txBody>
      </p:sp>
      <p:sp>
        <p:nvSpPr>
          <p:cNvPr id="6" name="TO en MO afleiden, met de tussenstappen.">
            <a:extLst xmlns:a="http://schemas.openxmlformats.org/drawingml/2006/main">
              <a:ext uri="{FF2B5EF4-FFF2-40B4-BE49-F238E27FC236}">
                <a16:creationId xmlns:a16="http://schemas.microsoft.com/office/drawing/2014/main" id="{1FAEB2E2-6CA8-41AD-B071-B2AD9E55103C}"/>
              </a:ext>
            </a:extLst>
          </p:cNvPr>
          <p:cNvSpPr>
            <a:spLocks xmlns:a="http://schemas.openxmlformats.org/drawingml/2006/main" noGrp="1"/>
          </p:cNvSpPr>
          <p:nvPr/>
        </p:nvSpPr>
        <p:spPr>
          <a:xfrm xmlns:a="http://schemas.openxmlformats.org/drawingml/2006/main">
            <a:off x="5476875" y="2000250"/>
            <a:ext cx="9001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TO en MO afleiden, met de tussenstappen.</a:t>
            </a:r>
          </a:p>
        </p:txBody>
      </p:sp>
      <p:sp>
        <p:nvSpPr>
          <p:cNvPr id="7" name="">
            <a:extLst xmlns:a="http://schemas.openxmlformats.org/drawingml/2006/main">
              <a:ext uri="{FF2B5EF4-FFF2-40B4-BE49-F238E27FC236}">
                <a16:creationId xmlns:a16="http://schemas.microsoft.com/office/drawing/2014/main" id="{519ADDD8-4C4B-49C4-B7C3-7756F099649C}"/>
              </a:ext>
            </a:extLst>
          </p:cNvPr>
          <p:cNvSpPr>
            <a:spLocks xmlns:a="http://schemas.openxmlformats.org/drawingml/2006/main" noGrp="1"/>
          </p:cNvSpPr>
          <p:nvPr/>
        </p:nvSpPr>
        <p:spPr>
          <a:xfrm xmlns:a="http://schemas.openxmlformats.org/drawingml/2006/main">
            <a:off x="571500" y="3124200"/>
            <a:ext cx="14097000" cy="0"/>
          </a:xfrm>
          <a:prstGeom xmlns:a="http://schemas.openxmlformats.org/drawingml/2006/main" prst="line">
            <a:avLst/>
          </a:prstGeom>
          <a:ln xmlns:a="http://schemas.openxmlformats.org/drawingml/2006/main" w="19050">
            <a:solidFill>
              <a:srgbClr val="C6D2DB"/>
            </a:solidFill>
          </a:ln>
        </p:spPr>
      </p:sp>
      <p:sp>
        <p:nvSpPr>
          <p:cNvPr id="8" name="Opbrengsttabel">
            <a:extLst xmlns:a="http://schemas.openxmlformats.org/drawingml/2006/main">
              <a:ext uri="{FF2B5EF4-FFF2-40B4-BE49-F238E27FC236}">
                <a16:creationId xmlns:a16="http://schemas.microsoft.com/office/drawing/2014/main" id="{4ECCDCD3-B2A6-4F73-A3F6-43D83F5D630C}"/>
              </a:ext>
            </a:extLst>
          </p:cNvPr>
          <p:cNvSpPr>
            <a:spLocks xmlns:a="http://schemas.openxmlformats.org/drawingml/2006/main" noGrp="1"/>
          </p:cNvSpPr>
          <p:nvPr/>
        </p:nvSpPr>
        <p:spPr>
          <a:xfrm xmlns:a="http://schemas.openxmlformats.org/drawingml/2006/main">
            <a:off x="571500" y="33909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Opbrengsttabel</a:t>
            </a:r>
          </a:p>
        </p:txBody>
      </p:sp>
      <p:sp>
        <p:nvSpPr>
          <p:cNvPr id="9" name="P en TO berekenen en controleren.">
            <a:extLst xmlns:a="http://schemas.openxmlformats.org/drawingml/2006/main">
              <a:ext uri="{FF2B5EF4-FFF2-40B4-BE49-F238E27FC236}">
                <a16:creationId xmlns:a16="http://schemas.microsoft.com/office/drawing/2014/main" id="{30EB1DEA-8A15-493B-8D4F-2CBAF03041AF}"/>
              </a:ext>
            </a:extLst>
          </p:cNvPr>
          <p:cNvSpPr>
            <a:spLocks xmlns:a="http://schemas.openxmlformats.org/drawingml/2006/main" noGrp="1"/>
          </p:cNvSpPr>
          <p:nvPr/>
        </p:nvSpPr>
        <p:spPr>
          <a:xfrm xmlns:a="http://schemas.openxmlformats.org/drawingml/2006/main">
            <a:off x="5476875" y="3390900"/>
            <a:ext cx="9001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 en TO berekenen en controleren.</a:t>
            </a:r>
          </a:p>
        </p:txBody>
      </p:sp>
      <p:sp>
        <p:nvSpPr>
          <p:cNvPr id="10" name="">
            <a:extLst xmlns:a="http://schemas.openxmlformats.org/drawingml/2006/main">
              <a:ext uri="{FF2B5EF4-FFF2-40B4-BE49-F238E27FC236}">
                <a16:creationId xmlns:a16="http://schemas.microsoft.com/office/drawing/2014/main" id="{5F08A444-D6C6-4BB1-BB5C-664D24A26C24}"/>
              </a:ext>
            </a:extLst>
          </p:cNvPr>
          <p:cNvSpPr>
            <a:spLocks xmlns:a="http://schemas.openxmlformats.org/drawingml/2006/main" noGrp="1"/>
          </p:cNvSpPr>
          <p:nvPr/>
        </p:nvSpPr>
        <p:spPr>
          <a:xfrm xmlns:a="http://schemas.openxmlformats.org/drawingml/2006/main">
            <a:off x="571500" y="4514850"/>
            <a:ext cx="14097000" cy="0"/>
          </a:xfrm>
          <a:prstGeom xmlns:a="http://schemas.openxmlformats.org/drawingml/2006/main" prst="line">
            <a:avLst/>
          </a:prstGeom>
          <a:ln xmlns:a="http://schemas.openxmlformats.org/drawingml/2006/main" w="19050">
            <a:solidFill>
              <a:srgbClr val="C6D2DB"/>
            </a:solidFill>
          </a:ln>
        </p:spPr>
      </p:sp>
      <p:sp>
        <p:nvSpPr>
          <p:cNvPr id="11" name="Stap en punt">
            <a:extLst xmlns:a="http://schemas.openxmlformats.org/drawingml/2006/main">
              <a:ext uri="{FF2B5EF4-FFF2-40B4-BE49-F238E27FC236}">
                <a16:creationId xmlns:a16="http://schemas.microsoft.com/office/drawing/2014/main" id="{11D87798-2934-4770-BF8C-7FE83BE1F596}"/>
              </a:ext>
            </a:extLst>
          </p:cNvPr>
          <p:cNvSpPr>
            <a:spLocks xmlns:a="http://schemas.openxmlformats.org/drawingml/2006/main" noGrp="1"/>
          </p:cNvSpPr>
          <p:nvPr/>
        </p:nvSpPr>
        <p:spPr>
          <a:xfrm xmlns:a="http://schemas.openxmlformats.org/drawingml/2006/main">
            <a:off x="571500" y="47815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Stap en punt</a:t>
            </a:r>
          </a:p>
        </p:txBody>
      </p:sp>
      <p:sp>
        <p:nvSpPr>
          <p:cNvPr id="12" name="Een gemiddelde verandering onderscheiden van MO.">
            <a:extLst xmlns:a="http://schemas.openxmlformats.org/drawingml/2006/main">
              <a:ext uri="{FF2B5EF4-FFF2-40B4-BE49-F238E27FC236}">
                <a16:creationId xmlns:a16="http://schemas.microsoft.com/office/drawing/2014/main" id="{8AF1007B-407D-47BC-9E7E-4911DBA1426D}"/>
              </a:ext>
            </a:extLst>
          </p:cNvPr>
          <p:cNvSpPr>
            <a:spLocks xmlns:a="http://schemas.openxmlformats.org/drawingml/2006/main" noGrp="1"/>
          </p:cNvSpPr>
          <p:nvPr/>
        </p:nvSpPr>
        <p:spPr>
          <a:xfrm xmlns:a="http://schemas.openxmlformats.org/drawingml/2006/main">
            <a:off x="5476875" y="4781550"/>
            <a:ext cx="9001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Een gemiddelde verandering onderscheiden van MO.</a:t>
            </a:r>
          </a:p>
        </p:txBody>
      </p:sp>
      <p:sp>
        <p:nvSpPr>
          <p:cNvPr id="13" name="">
            <a:extLst xmlns:a="http://schemas.openxmlformats.org/drawingml/2006/main">
              <a:ext uri="{FF2B5EF4-FFF2-40B4-BE49-F238E27FC236}">
                <a16:creationId xmlns:a16="http://schemas.microsoft.com/office/drawing/2014/main" id="{0FA57829-B9B4-4FA9-9D50-26B1E44207E4}"/>
              </a:ext>
            </a:extLst>
          </p:cNvPr>
          <p:cNvSpPr>
            <a:spLocks xmlns:a="http://schemas.openxmlformats.org/drawingml/2006/main" noGrp="1"/>
          </p:cNvSpPr>
          <p:nvPr/>
        </p:nvSpPr>
        <p:spPr>
          <a:xfrm xmlns:a="http://schemas.openxmlformats.org/drawingml/2006/main">
            <a:off x="571500" y="5905500"/>
            <a:ext cx="14097000" cy="0"/>
          </a:xfrm>
          <a:prstGeom xmlns:a="http://schemas.openxmlformats.org/drawingml/2006/main" prst="line">
            <a:avLst/>
          </a:prstGeom>
          <a:ln xmlns:a="http://schemas.openxmlformats.org/drawingml/2006/main" w="19050">
            <a:solidFill>
              <a:srgbClr val="C6D2DB"/>
            </a:solidFill>
          </a:ln>
        </p:spPr>
      </p:sp>
      <p:sp>
        <p:nvSpPr>
          <p:cNvPr id="14" name="Uniforme prijs">
            <a:extLst xmlns:a="http://schemas.openxmlformats.org/drawingml/2006/main">
              <a:ext uri="{FF2B5EF4-FFF2-40B4-BE49-F238E27FC236}">
                <a16:creationId xmlns:a16="http://schemas.microsoft.com/office/drawing/2014/main" id="{0E5B5830-6F59-4DB6-9435-CC74AF1162C7}"/>
              </a:ext>
            </a:extLst>
          </p:cNvPr>
          <p:cNvSpPr>
            <a:spLocks xmlns:a="http://schemas.openxmlformats.org/drawingml/2006/main" noGrp="1"/>
          </p:cNvSpPr>
          <p:nvPr/>
        </p:nvSpPr>
        <p:spPr>
          <a:xfrm xmlns:a="http://schemas.openxmlformats.org/drawingml/2006/main">
            <a:off x="571500" y="61722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Uniforme prijs</a:t>
            </a:r>
          </a:p>
        </p:txBody>
      </p:sp>
      <p:sp>
        <p:nvSpPr>
          <p:cNvPr id="15" name="Beide effecten op de totale opbrengst uitleggen.">
            <a:extLst xmlns:a="http://schemas.openxmlformats.org/drawingml/2006/main">
              <a:ext uri="{FF2B5EF4-FFF2-40B4-BE49-F238E27FC236}">
                <a16:creationId xmlns:a16="http://schemas.microsoft.com/office/drawing/2014/main" id="{6A270FE0-D07F-4031-A789-8BC005B8C97E}"/>
              </a:ext>
            </a:extLst>
          </p:cNvPr>
          <p:cNvSpPr>
            <a:spLocks xmlns:a="http://schemas.openxmlformats.org/drawingml/2006/main" noGrp="1"/>
          </p:cNvSpPr>
          <p:nvPr/>
        </p:nvSpPr>
        <p:spPr>
          <a:xfrm xmlns:a="http://schemas.openxmlformats.org/drawingml/2006/main">
            <a:off x="5476875" y="6172200"/>
            <a:ext cx="9001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Beide effecten op de totale opbrengst uitleggen.</a:t>
            </a:r>
          </a:p>
        </p:txBody>
      </p:sp>
    </p:spTree>
    <p:extLst>
      <p:ext uri="{BB962C8B-B14F-4D97-AF65-F5344CB8AC3E}">
        <p14:creationId xmlns:p14="http://schemas.microsoft.com/office/powerpoint/2010/main" val="3539817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 bekende differentieerregel">
            <a:extLst xmlns:a="http://schemas.openxmlformats.org/drawingml/2006/main">
              <a:ext uri="{FF2B5EF4-FFF2-40B4-BE49-F238E27FC236}">
                <a16:creationId xmlns:a16="http://schemas.microsoft.com/office/drawing/2014/main" id="{9557E406-83B7-46A5-A506-19E2447E7DE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bekende differentieerregel</a:t>
            </a:r>
          </a:p>
        </p:txBody>
      </p:sp>
      <p:sp>
        <p:nvSpPr>
          <p:cNvPr id="2" name="">
            <a:extLst xmlns:a="http://schemas.openxmlformats.org/drawingml/2006/main">
              <a:ext uri="{FF2B5EF4-FFF2-40B4-BE49-F238E27FC236}">
                <a16:creationId xmlns:a16="http://schemas.microsoft.com/office/drawing/2014/main" id="{85DC39A7-C608-4ED7-A433-D148B5721E9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Marginale opbrengst bij monopolie">
            <a:extLst xmlns:a="http://schemas.openxmlformats.org/drawingml/2006/main">
              <a:ext uri="{FF2B5EF4-FFF2-40B4-BE49-F238E27FC236}">
                <a16:creationId xmlns:a16="http://schemas.microsoft.com/office/drawing/2014/main" id="{66B6065B-ECBB-4CAD-9EFF-A0EC0564C75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Marginale opbrengst bij monopolie</a:t>
            </a:r>
          </a:p>
        </p:txBody>
      </p:sp>
      <p:sp>
        <p:nvSpPr>
          <p:cNvPr id="4" name="3">
            <a:extLst xmlns:a="http://schemas.openxmlformats.org/drawingml/2006/main">
              <a:ext uri="{FF2B5EF4-FFF2-40B4-BE49-F238E27FC236}">
                <a16:creationId xmlns:a16="http://schemas.microsoft.com/office/drawing/2014/main" id="{1BAAC48C-3E2B-4D42-ABA9-58DB9848709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aq² + bq + c heeft afgeleide 2aq + b">
            <a:extLst xmlns:a="http://schemas.openxmlformats.org/drawingml/2006/main">
              <a:ext uri="{FF2B5EF4-FFF2-40B4-BE49-F238E27FC236}">
                <a16:creationId xmlns:a16="http://schemas.microsoft.com/office/drawing/2014/main" id="{7ABDE89A-1BA4-4025-817B-6CBF3F07FD3E}"/>
              </a:ext>
            </a:extLst>
          </p:cNvPr>
          <p:cNvSpPr>
            <a:spLocks xmlns:a="http://schemas.openxmlformats.org/drawingml/2006/main" noGrp="1"/>
          </p:cNvSpPr>
          <p:nvPr/>
        </p:nvSpPr>
        <p:spPr>
          <a:xfrm xmlns:a="http://schemas.openxmlformats.org/drawingml/2006/main">
            <a:off x="571500" y="18288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aq² + bq + c heeft afgeleide 2aq + b</a:t>
            </a:r>
          </a:p>
        </p:txBody>
      </p:sp>
      <p:graphicFrame>
        <p:nvGraphicFramePr>
          <p:cNvPr id="13" name=""/>
          <p:cNvGraphicFramePr/>
          <p:nvPr/>
        </p:nvGraphicFramePr>
        <p:xfrm>
          <a:off xmlns:a="http://schemas.openxmlformats.org/drawingml/2006/main" x="571500" y="2971800"/>
          <a:ext xmlns:a="http://schemas.openxmlformats.org/drawingml/2006/main" cx="14097000" cy="3429000"/>
        </p:xfrm>
        <a:graphic xmlns:a="http://schemas.openxmlformats.org/drawingml/2006/main">
          <a:graphicData uri="http://schemas.openxmlformats.org/drawingml/2006/table">
            <a:tbl>
              <a:tblPr/>
              <a:tblGrid>
                <a:gridCol w="4191000"/>
                <a:gridCol w="6286500"/>
                <a:gridCol w="3619500"/>
              </a:tblGrid>
              <a:tr h="857250">
                <a:tc>
                  <a:txBody>
                    <a:bodyPr lIns="171450" tIns="95250" rIns="152400" bIns="95250"/>
                    <a:lstStyle/>
                    <a:p>
                      <a:r>
                        <a:rPr sz="2700" b="1">
                          <a:solidFill>
                            <a:srgbClr val="FFFFFF"/>
                          </a:solidFill>
                          <a:latin typeface="Arial"/>
                          <a:ea typeface="Arial"/>
                          <a:cs typeface="Arial"/>
                        </a:rPr>
                        <a:t>Term</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Bewerking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Afgeleide</a:t>
                      </a:r>
                    </a:p>
                  </a:txBody>
                  <a:tcPr marL="91440" marR="91440" marT="45720" marB="45720" anchor="ctr">
                    <a:solidFill>
                      <a:srgbClr val="183247"/>
                    </a:solidFill>
                  </a:tcPr>
                </a:tc>
              </a:tr>
              <a:tr h="857250">
                <a:tc>
                  <a:txBody>
                    <a:bodyPr lIns="171450" tIns="95250" rIns="152400" bIns="95250"/>
                    <a:lstStyle/>
                    <a:p>
                      <a:r>
                        <a:rPr sz="2700" b="0">
                          <a:solidFill>
                            <a:srgbClr val="183247"/>
                          </a:solidFill>
                          <a:latin typeface="Arial"/>
                          <a:ea typeface="Arial"/>
                          <a:cs typeface="Arial"/>
                        </a:rPr>
                        <a:t>0,30q²</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0,30 × 2; q² wordt q</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0,60q</a:t>
                      </a:r>
                    </a:p>
                  </a:txBody>
                  <a:tcPr marL="91440" marR="91440" marT="45720" marB="45720" anchor="ctr">
                    <a:solidFill>
                      <a:srgbClr val="FFFFFF"/>
                    </a:solidFill>
                  </a:tcPr>
                </a:tc>
              </a:tr>
              <a:tr h="857250">
                <a:tc>
                  <a:txBody>
                    <a:bodyPr lIns="171450" tIns="95250" rIns="152400" bIns="95250"/>
                    <a:lstStyle/>
                    <a:p>
                      <a:r>
                        <a:rPr sz="2700" b="0">
                          <a:solidFill>
                            <a:srgbClr val="183247"/>
                          </a:solidFill>
                          <a:latin typeface="Arial"/>
                          <a:ea typeface="Arial"/>
                          <a:cs typeface="Arial"/>
                        </a:rPr>
                        <a:t>5q</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q valt weg</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5</a:t>
                      </a:r>
                    </a:p>
                  </a:txBody>
                  <a:tcPr marL="91440" marR="91440" marT="45720" marB="45720" anchor="ctr">
                    <a:solidFill>
                      <a:srgbClr val="EFF4F7"/>
                    </a:solidFill>
                  </a:tcPr>
                </a:tc>
              </a:tr>
              <a:tr h="857250">
                <a:tc>
                  <a:txBody>
                    <a:bodyPr lIns="171450" tIns="95250" rIns="152400" bIns="95250"/>
                    <a:lstStyle/>
                    <a:p>
                      <a:r>
                        <a:rPr sz="2700" b="0">
                          <a:solidFill>
                            <a:srgbClr val="183247"/>
                          </a:solidFill>
                          <a:latin typeface="Arial"/>
                          <a:ea typeface="Arial"/>
                          <a:cs typeface="Arial"/>
                        </a:rPr>
                        <a:t>80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Verandert niet met q</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0</a:t>
                      </a:r>
                    </a:p>
                  </a:txBody>
                  <a:tcPr marL="91440" marR="91440" marT="45720" marB="45720" anchor="ctr">
                    <a:solidFill>
                      <a:srgbClr val="FFFFFF"/>
                    </a:solidFill>
                  </a:tcPr>
                </a:tc>
              </a:tr>
            </a:tbl>
          </a:graphicData>
        </a:graphic>
      </p:graphicFrame>
      <p:sp>
        <p:nvSpPr>
          <p:cNvPr id="7" name="Het teken van elke term gaat mee.">
            <a:extLst xmlns:a="http://schemas.openxmlformats.org/drawingml/2006/main">
              <a:ext uri="{FF2B5EF4-FFF2-40B4-BE49-F238E27FC236}">
                <a16:creationId xmlns:a16="http://schemas.microsoft.com/office/drawing/2014/main" id="{B5CBE6F4-3A28-4ECA-9123-29F8475D9A5F}"/>
              </a:ext>
            </a:extLst>
          </p:cNvPr>
          <p:cNvSpPr>
            <a:spLocks xmlns:a="http://schemas.openxmlformats.org/drawingml/2006/main" noGrp="1"/>
          </p:cNvSpPr>
          <p:nvPr/>
        </p:nvSpPr>
        <p:spPr>
          <a:xfrm xmlns:a="http://schemas.openxmlformats.org/drawingml/2006/main">
            <a:off x="571500" y="69246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Het teken van elke term gaat mee.</a:t>
            </a:r>
          </a:p>
        </p:txBody>
      </p:sp>
    </p:spTree>
    <p:extLst>
      <p:ext uri="{BB962C8B-B14F-4D97-AF65-F5344CB8AC3E}">
        <p14:creationId xmlns:p14="http://schemas.microsoft.com/office/powerpoint/2010/main" val="9836151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wee verkoopplannen voor dezelfde week">
            <a:extLst xmlns:a="http://schemas.openxmlformats.org/drawingml/2006/main">
              <a:ext uri="{FF2B5EF4-FFF2-40B4-BE49-F238E27FC236}">
                <a16:creationId xmlns:a16="http://schemas.microsoft.com/office/drawing/2014/main" id="{9527E925-7926-4BEC-A8B1-087E86DD9D8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verkoopplannen voor dezelfde week</a:t>
            </a:r>
          </a:p>
        </p:txBody>
      </p:sp>
      <p:sp>
        <p:nvSpPr>
          <p:cNvPr id="2" name="">
            <a:extLst xmlns:a="http://schemas.openxmlformats.org/drawingml/2006/main">
              <a:ext uri="{FF2B5EF4-FFF2-40B4-BE49-F238E27FC236}">
                <a16:creationId xmlns:a16="http://schemas.microsoft.com/office/drawing/2014/main" id="{6992C922-080D-4362-8AD8-69B56265FF8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C8DFC509-8B97-4D20-94C1-92CD2306338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4">
            <a:extLst xmlns:a="http://schemas.openxmlformats.org/drawingml/2006/main">
              <a:ext uri="{FF2B5EF4-FFF2-40B4-BE49-F238E27FC236}">
                <a16:creationId xmlns:a16="http://schemas.microsoft.com/office/drawing/2014/main" id="{3B6DB9F0-F055-4F43-817A-31435A5C563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Was Nova verkoopt als enige een bijzondere meubelwas.">
            <a:extLst xmlns:a="http://schemas.openxmlformats.org/drawingml/2006/main">
              <a:ext uri="{FF2B5EF4-FFF2-40B4-BE49-F238E27FC236}">
                <a16:creationId xmlns:a16="http://schemas.microsoft.com/office/drawing/2014/main" id="{C7044643-68ED-4916-9815-E6AEDE7CD78D}"/>
              </a:ext>
            </a:extLst>
          </p:cNvPr>
          <p:cNvSpPr>
            <a:spLocks xmlns:a="http://schemas.openxmlformats.org/drawingml/2006/main" noGrp="1"/>
          </p:cNvSpPr>
          <p:nvPr/>
        </p:nvSpPr>
        <p:spPr>
          <a:xfrm xmlns:a="http://schemas.openxmlformats.org/drawingml/2006/main">
            <a:off x="571500" y="17907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Was Nova verkoopt als enige een bijzondere meubelwas.</a:t>
            </a:r>
          </a:p>
        </p:txBody>
      </p:sp>
      <p:sp>
        <p:nvSpPr>
          <p:cNvPr id="6" name="P = 28 − 0,40q">
            <a:extLst xmlns:a="http://schemas.openxmlformats.org/drawingml/2006/main">
              <a:ext uri="{FF2B5EF4-FFF2-40B4-BE49-F238E27FC236}">
                <a16:creationId xmlns:a16="http://schemas.microsoft.com/office/drawing/2014/main" id="{8AC4EFA0-2A95-49C9-8ED9-83590BCB5B41}"/>
              </a:ext>
            </a:extLst>
          </p:cNvPr>
          <p:cNvSpPr>
            <a:spLocks xmlns:a="http://schemas.openxmlformats.org/drawingml/2006/main" noGrp="1"/>
          </p:cNvSpPr>
          <p:nvPr/>
        </p:nvSpPr>
        <p:spPr>
          <a:xfrm xmlns:a="http://schemas.openxmlformats.org/drawingml/2006/main">
            <a:off x="571500" y="26384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A5276"/>
                </a:solidFill>
                <a:latin typeface="Arial"/>
                <a:ea typeface="Arial"/>
                <a:cs typeface="Arial"/>
              </a:defRPr>
            </a:pPr>
            <a:r>
              <a:rPr sz="3900" b="1">
                <a:solidFill>
                  <a:srgbClr val="1A5276"/>
                </a:solidFill>
                <a:latin typeface="Arial"/>
                <a:ea typeface="Arial"/>
                <a:cs typeface="Arial"/>
              </a:rPr>
              <a:t>P = 28 − 0,40q</a:t>
            </a:r>
          </a:p>
        </p:txBody>
      </p:sp>
      <p:sp>
        <p:nvSpPr>
          <p:cNvPr id="7" name="q: kg per week, 0 ≤ q ≤ 70 · P: € per kg">
            <a:extLst xmlns:a="http://schemas.openxmlformats.org/drawingml/2006/main">
              <a:ext uri="{FF2B5EF4-FFF2-40B4-BE49-F238E27FC236}">
                <a16:creationId xmlns:a16="http://schemas.microsoft.com/office/drawing/2014/main" id="{957F0E69-1D53-4A71-926E-B0001F6C8674}"/>
              </a:ext>
            </a:extLst>
          </p:cNvPr>
          <p:cNvSpPr>
            <a:spLocks xmlns:a="http://schemas.openxmlformats.org/drawingml/2006/main" noGrp="1"/>
          </p:cNvSpPr>
          <p:nvPr/>
        </p:nvSpPr>
        <p:spPr>
          <a:xfrm xmlns:a="http://schemas.openxmlformats.org/drawingml/2006/main">
            <a:off x="571500" y="35147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kg per week, 0 ≤ q ≤ 70 · P: € per kg</a:t>
            </a:r>
          </a:p>
        </p:txBody>
      </p:sp>
      <p:graphicFrame>
        <p:nvGraphicFramePr>
          <p:cNvPr id="17" name=""/>
          <p:cNvGraphicFramePr/>
          <p:nvPr/>
        </p:nvGraphicFramePr>
        <p:xfrm>
          <a:off xmlns:a="http://schemas.openxmlformats.org/drawingml/2006/main" x="571500" y="4352925"/>
          <a:ext xmlns:a="http://schemas.openxmlformats.org/drawingml/2006/main" cx="14097000" cy="2371725"/>
        </p:xfrm>
        <a:graphic xmlns:a="http://schemas.openxmlformats.org/drawingml/2006/main">
          <a:graphicData uri="http://schemas.openxmlformats.org/drawingml/2006/table">
            <a:tbl>
              <a:tblPr/>
              <a:tblGrid>
                <a:gridCol w="2857500"/>
                <a:gridCol w="3810000"/>
                <a:gridCol w="3714750"/>
                <a:gridCol w="3714750"/>
              </a:tblGrid>
              <a:tr h="790575">
                <a:tc>
                  <a:txBody>
                    <a:bodyPr lIns="171450" tIns="95250" rIns="152400" bIns="95250"/>
                    <a:lstStyle/>
                    <a:p>
                      <a:r>
                        <a:rPr sz="2400" b="1">
                          <a:solidFill>
                            <a:srgbClr val="FFFFFF"/>
                          </a:solidFill>
                          <a:latin typeface="Arial"/>
                          <a:ea typeface="Arial"/>
                          <a:cs typeface="Arial"/>
                        </a:rPr>
                        <a:t>Weekplan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q (kg per week)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 (€ per kg)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TO (€ per week)</a:t>
                      </a:r>
                    </a:p>
                  </a:txBody>
                  <a:tcPr marL="91440" marR="91440" marT="45720" marB="45720" anchor="ctr">
                    <a:solidFill>
                      <a:srgbClr val="183247"/>
                    </a:solidFill>
                  </a:tcPr>
                </a:tc>
              </a:tr>
              <a:tr h="790575">
                <a:tc>
                  <a:txBody>
                    <a:bodyPr lIns="171450" tIns="95250" rIns="152400" bIns="95250"/>
                    <a:lstStyle/>
                    <a:p>
                      <a:r>
                        <a:rPr sz="2400" b="0">
                          <a:solidFill>
                            <a:srgbClr val="183247"/>
                          </a:solidFill>
                          <a:latin typeface="Arial"/>
                          <a:ea typeface="Arial"/>
                          <a:cs typeface="Arial"/>
                        </a:rPr>
                        <a:t>A</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240</a:t>
                      </a:r>
                    </a:p>
                  </a:txBody>
                  <a:tcPr marL="91440" marR="91440" marT="45720" marB="45720" anchor="ctr">
                    <a:solidFill>
                      <a:srgbClr val="FFFFFF"/>
                    </a:solidFill>
                  </a:tcPr>
                </a:tc>
              </a:tr>
              <a:tr h="790575">
                <a:tc>
                  <a:txBody>
                    <a:bodyPr lIns="171450" tIns="95250" rIns="152400" bIns="95250"/>
                    <a:lstStyle/>
                    <a:p>
                      <a:r>
                        <a:rPr sz="2400" b="0">
                          <a:solidFill>
                            <a:srgbClr val="183247"/>
                          </a:solidFill>
                          <a:latin typeface="Arial"/>
                          <a:ea typeface="Arial"/>
                          <a:cs typeface="Arial"/>
                        </a:rPr>
                        <a:t>B</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400</a:t>
                      </a:r>
                    </a:p>
                  </a:txBody>
                  <a:tcPr marL="91440" marR="91440" marT="45720" marB="45720" anchor="ctr">
                    <a:solidFill>
                      <a:srgbClr val="EFF4F7"/>
                    </a:solidFill>
                  </a:tcPr>
                </a:tc>
              </a:tr>
            </a:tbl>
          </a:graphicData>
        </a:graphic>
      </p:graphicFrame>
      <p:sp>
        <p:nvSpPr>
          <p:cNvPr id="9" name="Binnen elk plan betaalt iedereen dezelfde prijs.">
            <a:extLst xmlns:a="http://schemas.openxmlformats.org/drawingml/2006/main">
              <a:ext uri="{FF2B5EF4-FFF2-40B4-BE49-F238E27FC236}">
                <a16:creationId xmlns:a16="http://schemas.microsoft.com/office/drawing/2014/main" id="{C7D6D66B-AB16-4C7B-95DF-5CF0E4495AA5}"/>
              </a:ext>
            </a:extLst>
          </p:cNvPr>
          <p:cNvSpPr>
            <a:spLocks xmlns:a="http://schemas.openxmlformats.org/drawingml/2006/main" noGrp="1"/>
          </p:cNvSpPr>
          <p:nvPr/>
        </p:nvSpPr>
        <p:spPr>
          <a:xfrm xmlns:a="http://schemas.openxmlformats.org/drawingml/2006/main">
            <a:off x="571500" y="70961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Binnen elk plan betaalt iedereen dezelfde prijs.</a:t>
            </a:r>
          </a:p>
        </p:txBody>
      </p:sp>
    </p:spTree>
    <p:extLst>
      <p:ext uri="{BB962C8B-B14F-4D97-AF65-F5344CB8AC3E}">
        <p14:creationId xmlns:p14="http://schemas.microsoft.com/office/powerpoint/2010/main" val="334421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eer afzet verandert twee bedragen">
            <a:extLst xmlns:a="http://schemas.openxmlformats.org/drawingml/2006/main">
              <a:ext uri="{FF2B5EF4-FFF2-40B4-BE49-F238E27FC236}">
                <a16:creationId xmlns:a16="http://schemas.microsoft.com/office/drawing/2014/main" id="{BEE5E481-0A31-4DAE-A42F-9C86F84654A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Meer afzet verandert twee bedragen</a:t>
            </a:r>
          </a:p>
        </p:txBody>
      </p:sp>
      <p:sp>
        <p:nvSpPr>
          <p:cNvPr id="2" name="">
            <a:extLst xmlns:a="http://schemas.openxmlformats.org/drawingml/2006/main">
              <a:ext uri="{FF2B5EF4-FFF2-40B4-BE49-F238E27FC236}">
                <a16:creationId xmlns:a16="http://schemas.microsoft.com/office/drawing/2014/main" id="{EF2482BA-FB43-49DA-B652-F2278ECCFB0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6BF4CC71-D830-4ED2-A679-47FFDFC81F2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5">
            <a:extLst xmlns:a="http://schemas.openxmlformats.org/drawingml/2006/main">
              <a:ext uri="{FF2B5EF4-FFF2-40B4-BE49-F238E27FC236}">
                <a16:creationId xmlns:a16="http://schemas.microsoft.com/office/drawing/2014/main" id="{516EC6AE-AF72-44F3-81A2-836683E786A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graphicFrame>
        <p:nvGraphicFramePr>
          <p:cNvPr id="12" name=""/>
          <p:cNvGraphicFramePr/>
          <p:nvPr/>
        </p:nvGraphicFramePr>
        <p:xfrm>
          <a:off xmlns:a="http://schemas.openxmlformats.org/drawingml/2006/main" x="571500" y="2019300"/>
          <a:ext xmlns:a="http://schemas.openxmlformats.org/drawingml/2006/main" cx="14097000" cy="3333750"/>
        </p:xfrm>
        <a:graphic xmlns:a="http://schemas.openxmlformats.org/drawingml/2006/main">
          <a:graphicData uri="http://schemas.openxmlformats.org/drawingml/2006/table">
            <a:tbl>
              <a:tblPr/>
              <a:tblGrid>
                <a:gridCol w="6096000"/>
                <a:gridCol w="4476750"/>
                <a:gridCol w="3524250"/>
              </a:tblGrid>
              <a:tr h="1111250">
                <a:tc>
                  <a:txBody>
                    <a:bodyPr lIns="171450" tIns="95250" rIns="152400" bIns="95250"/>
                    <a:lstStyle/>
                    <a:p>
                      <a:r>
                        <a:rPr sz="2550" b="1">
                          <a:solidFill>
                            <a:srgbClr val="FFFFFF"/>
                          </a:solidFill>
                          <a:latin typeface="Arial"/>
                          <a:ea typeface="Arial"/>
                          <a:cs typeface="Arial"/>
                        </a:rPr>
                        <a:t>Effect van plan A naar B</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Verandering TO</a:t>
                      </a:r>
                    </a:p>
                  </a:txBody>
                  <a:tcPr marL="91440" marR="91440" marT="45720" marB="45720" anchor="ctr">
                    <a:solidFill>
                      <a:srgbClr val="183247"/>
                    </a:solidFill>
                  </a:tcPr>
                </a:tc>
              </a:tr>
              <a:tr h="1111250">
                <a:tc>
                  <a:txBody>
                    <a:bodyPr lIns="171450" tIns="95250" rIns="152400" bIns="95250"/>
                    <a:lstStyle/>
                    <a:p>
                      <a:r>
                        <a:rPr sz="2550" b="0">
                          <a:solidFill>
                            <a:srgbClr val="183247"/>
                          </a:solidFill>
                          <a:latin typeface="Arial"/>
                          <a:ea typeface="Arial"/>
                          <a:cs typeface="Arial"/>
                        </a:rPr>
                        <a:t>10 extra kg tegen de nieuwe prijs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 × € 20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€ 200</a:t>
                      </a:r>
                    </a:p>
                  </a:txBody>
                  <a:tcPr marL="91440" marR="91440" marT="45720" marB="45720" anchor="ctr">
                    <a:solidFill>
                      <a:srgbClr val="FFFFFF"/>
                    </a:solidFill>
                  </a:tcPr>
                </a:tc>
              </a:tr>
              <a:tr h="1111250">
                <a:tc>
                  <a:txBody>
                    <a:bodyPr lIns="171450" tIns="95250" rIns="152400" bIns="95250"/>
                    <a:lstStyle/>
                    <a:p>
                      <a:r>
                        <a:rPr sz="2550" b="0">
                          <a:solidFill>
                            <a:srgbClr val="183247"/>
                          </a:solidFill>
                          <a:latin typeface="Arial"/>
                          <a:ea typeface="Arial"/>
                          <a:cs typeface="Arial"/>
                        </a:rPr>
                        <a:t>Lagere prijs op de eerste 10 kg</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10 × (€ 24 − € 20)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€ 40</a:t>
                      </a:r>
                    </a:p>
                  </a:txBody>
                  <a:tcPr marL="91440" marR="91440" marT="45720" marB="45720" anchor="ctr">
                    <a:solidFill>
                      <a:srgbClr val="EFF4F7"/>
                    </a:solidFill>
                  </a:tcPr>
                </a:tc>
              </a:tr>
            </a:tbl>
          </a:graphicData>
        </a:graphic>
      </p:graphicFrame>
      <p:sp>
        <p:nvSpPr>
          <p:cNvPr id="6" name="Netto: € 200 − € 40 = € 160 per week">
            <a:extLst xmlns:a="http://schemas.openxmlformats.org/drawingml/2006/main">
              <a:ext uri="{FF2B5EF4-FFF2-40B4-BE49-F238E27FC236}">
                <a16:creationId xmlns:a16="http://schemas.microsoft.com/office/drawing/2014/main" id="{62830904-9EA7-433F-9A13-BFC4152D7834}"/>
              </a:ext>
            </a:extLst>
          </p:cNvPr>
          <p:cNvSpPr>
            <a:spLocks xmlns:a="http://schemas.openxmlformats.org/drawingml/2006/main" noGrp="1"/>
          </p:cNvSpPr>
          <p:nvPr/>
        </p:nvSpPr>
        <p:spPr>
          <a:xfrm xmlns:a="http://schemas.openxmlformats.org/drawingml/2006/main">
            <a:off x="571500" y="595312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0665B"/>
                </a:solidFill>
                <a:latin typeface="Arial"/>
                <a:ea typeface="Arial"/>
                <a:cs typeface="Arial"/>
              </a:defRPr>
            </a:pPr>
            <a:r>
              <a:rPr sz="3525" b="1">
                <a:solidFill>
                  <a:srgbClr val="20665B"/>
                </a:solidFill>
                <a:latin typeface="Arial"/>
                <a:ea typeface="Arial"/>
                <a:cs typeface="Arial"/>
              </a:rPr>
              <a:t>Netto: € 200 − € 40 = € 160 per week</a:t>
            </a:r>
          </a:p>
        </p:txBody>
      </p:sp>
      <p:sp>
        <p:nvSpPr>
          <p:cNvPr id="7" name="Controle: TO nieuw − TO oud = 400 − 240 = € 160">
            <a:extLst xmlns:a="http://schemas.openxmlformats.org/drawingml/2006/main">
              <a:ext uri="{FF2B5EF4-FFF2-40B4-BE49-F238E27FC236}">
                <a16:creationId xmlns:a16="http://schemas.microsoft.com/office/drawing/2014/main" id="{1EF89029-A606-4235-9DFF-6CCDE180E1B3}"/>
              </a:ext>
            </a:extLst>
          </p:cNvPr>
          <p:cNvSpPr>
            <a:spLocks xmlns:a="http://schemas.openxmlformats.org/drawingml/2006/main" noGrp="1"/>
          </p:cNvSpPr>
          <p:nvPr/>
        </p:nvSpPr>
        <p:spPr>
          <a:xfrm xmlns:a="http://schemas.openxmlformats.org/drawingml/2006/main">
            <a:off x="571500" y="70866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Controle: TO nieuw − TO oud = 400 − 240 = € 160</a:t>
            </a:r>
          </a:p>
        </p:txBody>
      </p:sp>
    </p:spTree>
    <p:extLst>
      <p:ext uri="{BB962C8B-B14F-4D97-AF65-F5344CB8AC3E}">
        <p14:creationId xmlns:p14="http://schemas.microsoft.com/office/powerpoint/2010/main" val="4449669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an de vraagfunctie naar TO">
            <a:extLst xmlns:a="http://schemas.openxmlformats.org/drawingml/2006/main">
              <a:ext uri="{FF2B5EF4-FFF2-40B4-BE49-F238E27FC236}">
                <a16:creationId xmlns:a16="http://schemas.microsoft.com/office/drawing/2014/main" id="{0D5DD1CA-FA06-49EB-92F6-693F0A5734A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Van de vraagfunctie naar TO</a:t>
            </a:r>
          </a:p>
        </p:txBody>
      </p:sp>
      <p:sp>
        <p:nvSpPr>
          <p:cNvPr id="2" name="">
            <a:extLst xmlns:a="http://schemas.openxmlformats.org/drawingml/2006/main">
              <a:ext uri="{FF2B5EF4-FFF2-40B4-BE49-F238E27FC236}">
                <a16:creationId xmlns:a16="http://schemas.microsoft.com/office/drawing/2014/main" id="{7B6F04AB-563C-4535-AA91-89D5EC7B79F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B0EF76DC-4811-461D-93C5-A858EBA8215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6">
            <a:extLst xmlns:a="http://schemas.openxmlformats.org/drawingml/2006/main">
              <a:ext uri="{FF2B5EF4-FFF2-40B4-BE49-F238E27FC236}">
                <a16:creationId xmlns:a16="http://schemas.microsoft.com/office/drawing/2014/main" id="{08E602D9-19BD-447A-9FA5-097BA3ADA5F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P = 28 − 0,40q">
            <a:extLst xmlns:a="http://schemas.openxmlformats.org/drawingml/2006/main">
              <a:ext uri="{FF2B5EF4-FFF2-40B4-BE49-F238E27FC236}">
                <a16:creationId xmlns:a16="http://schemas.microsoft.com/office/drawing/2014/main" id="{E6BA0015-C3F1-4E5A-B934-FA5F247F6A81}"/>
              </a:ext>
            </a:extLst>
          </p:cNvPr>
          <p:cNvSpPr>
            <a:spLocks xmlns:a="http://schemas.openxmlformats.org/drawingml/2006/main" noGrp="1"/>
          </p:cNvSpPr>
          <p:nvPr/>
        </p:nvSpPr>
        <p:spPr>
          <a:xfrm xmlns:a="http://schemas.openxmlformats.org/drawingml/2006/main">
            <a:off x="571500" y="197167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P = 28 − 0,40q</a:t>
            </a:r>
          </a:p>
        </p:txBody>
      </p:sp>
      <p:sp>
        <p:nvSpPr>
          <p:cNvPr id="6" name="TO = P × q">
            <a:extLst xmlns:a="http://schemas.openxmlformats.org/drawingml/2006/main">
              <a:ext uri="{FF2B5EF4-FFF2-40B4-BE49-F238E27FC236}">
                <a16:creationId xmlns:a16="http://schemas.microsoft.com/office/drawing/2014/main" id="{942433E4-10F9-40E4-8808-08E2BE1AED33}"/>
              </a:ext>
            </a:extLst>
          </p:cNvPr>
          <p:cNvSpPr>
            <a:spLocks xmlns:a="http://schemas.openxmlformats.org/drawingml/2006/main" noGrp="1"/>
          </p:cNvSpPr>
          <p:nvPr/>
        </p:nvSpPr>
        <p:spPr>
          <a:xfrm xmlns:a="http://schemas.openxmlformats.org/drawingml/2006/main">
            <a:off x="571500" y="32480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TO = P × q</a:t>
            </a:r>
          </a:p>
        </p:txBody>
      </p:sp>
      <p:sp>
        <p:nvSpPr>
          <p:cNvPr id="7" name="TO = (28 − 0,40q) × q">
            <a:extLst xmlns:a="http://schemas.openxmlformats.org/drawingml/2006/main">
              <a:ext uri="{FF2B5EF4-FFF2-40B4-BE49-F238E27FC236}">
                <a16:creationId xmlns:a16="http://schemas.microsoft.com/office/drawing/2014/main" id="{CA985F1B-5072-4E87-AAF0-27863EA30B84}"/>
              </a:ext>
            </a:extLst>
          </p:cNvPr>
          <p:cNvSpPr>
            <a:spLocks xmlns:a="http://schemas.openxmlformats.org/drawingml/2006/main" noGrp="1"/>
          </p:cNvSpPr>
          <p:nvPr/>
        </p:nvSpPr>
        <p:spPr>
          <a:xfrm xmlns:a="http://schemas.openxmlformats.org/drawingml/2006/main">
            <a:off x="571500" y="452437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TO = (28 − 0,40q) × q</a:t>
            </a:r>
          </a:p>
        </p:txBody>
      </p:sp>
      <p:sp>
        <p:nvSpPr>
          <p:cNvPr id="8" name="TO = 28q − 0,40q²">
            <a:extLst xmlns:a="http://schemas.openxmlformats.org/drawingml/2006/main">
              <a:ext uri="{FF2B5EF4-FFF2-40B4-BE49-F238E27FC236}">
                <a16:creationId xmlns:a16="http://schemas.microsoft.com/office/drawing/2014/main" id="{EC19FF10-084F-4424-8C27-D64A483413BF}"/>
              </a:ext>
            </a:extLst>
          </p:cNvPr>
          <p:cNvSpPr>
            <a:spLocks xmlns:a="http://schemas.openxmlformats.org/drawingml/2006/main" noGrp="1"/>
          </p:cNvSpPr>
          <p:nvPr/>
        </p:nvSpPr>
        <p:spPr>
          <a:xfrm xmlns:a="http://schemas.openxmlformats.org/drawingml/2006/main">
            <a:off x="571500" y="58007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7B2D8E"/>
                </a:solidFill>
                <a:latin typeface="Arial"/>
                <a:ea typeface="Arial"/>
                <a:cs typeface="Arial"/>
              </a:defRPr>
            </a:pPr>
            <a:r>
              <a:rPr sz="3675" b="1">
                <a:solidFill>
                  <a:srgbClr val="7B2D8E"/>
                </a:solidFill>
                <a:latin typeface="Arial"/>
                <a:ea typeface="Arial"/>
                <a:cs typeface="Arial"/>
              </a:rPr>
              <a:t>TO = 28q − 0,40q²</a:t>
            </a:r>
          </a:p>
        </p:txBody>
      </p:sp>
      <p:sp>
        <p:nvSpPr>
          <p:cNvPr id="9" name="TO: € per week">
            <a:extLst xmlns:a="http://schemas.openxmlformats.org/drawingml/2006/main">
              <a:ext uri="{FF2B5EF4-FFF2-40B4-BE49-F238E27FC236}">
                <a16:creationId xmlns:a16="http://schemas.microsoft.com/office/drawing/2014/main" id="{23C0AD2F-50F7-4CA4-8F77-A2ECFD92B8B7}"/>
              </a:ext>
            </a:extLst>
          </p:cNvPr>
          <p:cNvSpPr>
            <a:spLocks xmlns:a="http://schemas.openxmlformats.org/drawingml/2006/main" noGrp="1"/>
          </p:cNvSpPr>
          <p:nvPr/>
        </p:nvSpPr>
        <p:spPr>
          <a:xfrm xmlns:a="http://schemas.openxmlformats.org/drawingml/2006/main">
            <a:off x="571500" y="741045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TO: € per week</a:t>
            </a:r>
          </a:p>
        </p:txBody>
      </p:sp>
    </p:spTree>
    <p:extLst>
      <p:ext uri="{BB962C8B-B14F-4D97-AF65-F5344CB8AC3E}">
        <p14:creationId xmlns:p14="http://schemas.microsoft.com/office/powerpoint/2010/main" val="19340594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an TO naar MO">
            <a:extLst xmlns:a="http://schemas.openxmlformats.org/drawingml/2006/main">
              <a:ext uri="{FF2B5EF4-FFF2-40B4-BE49-F238E27FC236}">
                <a16:creationId xmlns:a16="http://schemas.microsoft.com/office/drawing/2014/main" id="{589DDD6F-0086-4DE7-9532-E28E9282411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Van TO naar MO</a:t>
            </a:r>
          </a:p>
        </p:txBody>
      </p:sp>
      <p:sp>
        <p:nvSpPr>
          <p:cNvPr id="2" name="">
            <a:extLst xmlns:a="http://schemas.openxmlformats.org/drawingml/2006/main">
              <a:ext uri="{FF2B5EF4-FFF2-40B4-BE49-F238E27FC236}">
                <a16:creationId xmlns:a16="http://schemas.microsoft.com/office/drawing/2014/main" id="{F2A39FD3-DD2C-4F73-A85B-8C14C0A99EC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21484642-705E-44BE-A617-CBD566739D5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7">
            <a:extLst xmlns:a="http://schemas.openxmlformats.org/drawingml/2006/main">
              <a:ext uri="{FF2B5EF4-FFF2-40B4-BE49-F238E27FC236}">
                <a16:creationId xmlns:a16="http://schemas.microsoft.com/office/drawing/2014/main" id="{5976E3C4-4769-4C6A-9AB8-41E4C0D6D1C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TO = 28q − 0,40q²">
            <a:extLst xmlns:a="http://schemas.openxmlformats.org/drawingml/2006/main">
              <a:ext uri="{FF2B5EF4-FFF2-40B4-BE49-F238E27FC236}">
                <a16:creationId xmlns:a16="http://schemas.microsoft.com/office/drawing/2014/main" id="{172C3B9F-7F78-4F6C-83B1-9F559005DA7C}"/>
              </a:ext>
            </a:extLst>
          </p:cNvPr>
          <p:cNvSpPr>
            <a:spLocks xmlns:a="http://schemas.openxmlformats.org/drawingml/2006/main" noGrp="1"/>
          </p:cNvSpPr>
          <p:nvPr/>
        </p:nvSpPr>
        <p:spPr>
          <a:xfrm xmlns:a="http://schemas.openxmlformats.org/drawingml/2006/main">
            <a:off x="571500" y="18192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7B2D8E"/>
                </a:solidFill>
                <a:latin typeface="Arial"/>
                <a:ea typeface="Arial"/>
                <a:cs typeface="Arial"/>
              </a:defRPr>
            </a:pPr>
            <a:r>
              <a:rPr sz="3600" b="1">
                <a:solidFill>
                  <a:srgbClr val="7B2D8E"/>
                </a:solidFill>
                <a:latin typeface="Arial"/>
                <a:ea typeface="Arial"/>
                <a:cs typeface="Arial"/>
              </a:rPr>
              <a:t>TO = 28q − 0,40q²</a:t>
            </a:r>
          </a:p>
        </p:txBody>
      </p:sp>
      <p:graphicFrame>
        <p:nvGraphicFramePr>
          <p:cNvPr id="14" name=""/>
          <p:cNvGraphicFramePr/>
          <p:nvPr/>
        </p:nvGraphicFramePr>
        <p:xfrm>
          <a:off xmlns:a="http://schemas.openxmlformats.org/drawingml/2006/main" x="571500" y="3009900"/>
          <a:ext xmlns:a="http://schemas.openxmlformats.org/drawingml/2006/main" cx="14097000" cy="2771775"/>
        </p:xfrm>
        <a:graphic xmlns:a="http://schemas.openxmlformats.org/drawingml/2006/main">
          <a:graphicData uri="http://schemas.openxmlformats.org/drawingml/2006/table">
            <a:tbl>
              <a:tblPr/>
              <a:tblGrid>
                <a:gridCol w="4191000"/>
                <a:gridCol w="5905500"/>
                <a:gridCol w="4000500"/>
              </a:tblGrid>
              <a:tr h="923925">
                <a:tc>
                  <a:txBody>
                    <a:bodyPr lIns="171450" tIns="95250" rIns="152400" bIns="95250"/>
                    <a:lstStyle/>
                    <a:p>
                      <a:r>
                        <a:rPr sz="2700" b="1">
                          <a:solidFill>
                            <a:srgbClr val="FFFFFF"/>
                          </a:solidFill>
                          <a:latin typeface="Arial"/>
                          <a:ea typeface="Arial"/>
                          <a:cs typeface="Arial"/>
                        </a:rPr>
                        <a:t>Term in TO</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Bewerking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Bijdrage aan MO</a:t>
                      </a:r>
                    </a:p>
                  </a:txBody>
                  <a:tcPr marL="91440" marR="91440" marT="45720" marB="45720" anchor="ctr">
                    <a:solidFill>
                      <a:srgbClr val="183247"/>
                    </a:solidFill>
                  </a:tcPr>
                </a:tc>
              </a:tr>
              <a:tr h="923925">
                <a:tc>
                  <a:txBody>
                    <a:bodyPr lIns="171450" tIns="95250" rIns="152400" bIns="95250"/>
                    <a:lstStyle/>
                    <a:p>
                      <a:r>
                        <a:rPr sz="2700" b="0">
                          <a:solidFill>
                            <a:srgbClr val="183247"/>
                          </a:solidFill>
                          <a:latin typeface="Arial"/>
                          <a:ea typeface="Arial"/>
                          <a:cs typeface="Arial"/>
                        </a:rPr>
                        <a:t>28q</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q valt weg</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28</a:t>
                      </a:r>
                    </a:p>
                  </a:txBody>
                  <a:tcPr marL="91440" marR="91440" marT="45720" marB="45720" anchor="ctr">
                    <a:solidFill>
                      <a:srgbClr val="FFFFFF"/>
                    </a:solidFill>
                  </a:tcPr>
                </a:tc>
              </a:tr>
              <a:tr h="923925">
                <a:tc>
                  <a:txBody>
                    <a:bodyPr lIns="171450" tIns="95250" rIns="152400" bIns="95250"/>
                    <a:lstStyle/>
                    <a:p>
                      <a:r>
                        <a:rPr sz="2700" b="0">
                          <a:solidFill>
                            <a:srgbClr val="183247"/>
                          </a:solidFill>
                          <a:latin typeface="Arial"/>
                          <a:ea typeface="Arial"/>
                          <a:cs typeface="Arial"/>
                        </a:rPr>
                        <a:t>−0,40q²</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−0,40 × 2; q² wordt q</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−0,80q</a:t>
                      </a:r>
                    </a:p>
                  </a:txBody>
                  <a:tcPr marL="91440" marR="91440" marT="45720" marB="45720" anchor="ctr">
                    <a:solidFill>
                      <a:srgbClr val="EFF4F7"/>
                    </a:solidFill>
                  </a:tcPr>
                </a:tc>
              </a:tr>
            </a:tbl>
          </a:graphicData>
        </a:graphic>
      </p:graphicFrame>
      <p:sp>
        <p:nvSpPr>
          <p:cNvPr id="7" name="MO = 28 − 0,80q">
            <a:extLst xmlns:a="http://schemas.openxmlformats.org/drawingml/2006/main">
              <a:ext uri="{FF2B5EF4-FFF2-40B4-BE49-F238E27FC236}">
                <a16:creationId xmlns:a16="http://schemas.microsoft.com/office/drawing/2014/main" id="{E9C50E6C-EE59-4649-9A8E-4740AA06BDAC}"/>
              </a:ext>
            </a:extLst>
          </p:cNvPr>
          <p:cNvSpPr>
            <a:spLocks xmlns:a="http://schemas.openxmlformats.org/drawingml/2006/main" noGrp="1"/>
          </p:cNvSpPr>
          <p:nvPr/>
        </p:nvSpPr>
        <p:spPr>
          <a:xfrm xmlns:a="http://schemas.openxmlformats.org/drawingml/2006/main">
            <a:off x="571500" y="64008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7B2D8E"/>
                </a:solidFill>
                <a:latin typeface="Arial"/>
                <a:ea typeface="Arial"/>
                <a:cs typeface="Arial"/>
              </a:defRPr>
            </a:pPr>
            <a:r>
              <a:rPr sz="3975" b="1">
                <a:solidFill>
                  <a:srgbClr val="7B2D8E"/>
                </a:solidFill>
                <a:latin typeface="Arial"/>
                <a:ea typeface="Arial"/>
                <a:cs typeface="Arial"/>
              </a:rPr>
              <a:t>MO = 28 − 0,80q</a:t>
            </a:r>
          </a:p>
        </p:txBody>
      </p:sp>
      <p:sp>
        <p:nvSpPr>
          <p:cNvPr id="8" name="MO: € per kg bij een heel kleine uitbreiding rond q">
            <a:extLst xmlns:a="http://schemas.openxmlformats.org/drawingml/2006/main">
              <a:ext uri="{FF2B5EF4-FFF2-40B4-BE49-F238E27FC236}">
                <a16:creationId xmlns:a16="http://schemas.microsoft.com/office/drawing/2014/main" id="{916C19F8-7B37-401D-8547-452C1B57F9F1}"/>
              </a:ext>
            </a:extLst>
          </p:cNvPr>
          <p:cNvSpPr>
            <a:spLocks xmlns:a="http://schemas.openxmlformats.org/drawingml/2006/main" noGrp="1"/>
          </p:cNvSpPr>
          <p:nvPr/>
        </p:nvSpPr>
        <p:spPr>
          <a:xfrm xmlns:a="http://schemas.openxmlformats.org/drawingml/2006/main">
            <a:off x="571500" y="74009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MO: € per kg bij een heel kleine uitbreiding rond q</a:t>
            </a:r>
          </a:p>
        </p:txBody>
      </p:sp>
    </p:spTree>
    <p:extLst>
      <p:ext uri="{BB962C8B-B14F-4D97-AF65-F5344CB8AC3E}">
        <p14:creationId xmlns:p14="http://schemas.microsoft.com/office/powerpoint/2010/main" val="14995940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opbrengsttabel invullen">
            <a:extLst xmlns:a="http://schemas.openxmlformats.org/drawingml/2006/main">
              <a:ext uri="{FF2B5EF4-FFF2-40B4-BE49-F238E27FC236}">
                <a16:creationId xmlns:a16="http://schemas.microsoft.com/office/drawing/2014/main" id="{88DA4218-7C98-41C9-A9C3-3870B7A5B9E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opbrengsttabel invullen</a:t>
            </a:r>
          </a:p>
        </p:txBody>
      </p:sp>
      <p:sp>
        <p:nvSpPr>
          <p:cNvPr id="2" name="">
            <a:extLst xmlns:a="http://schemas.openxmlformats.org/drawingml/2006/main">
              <a:ext uri="{FF2B5EF4-FFF2-40B4-BE49-F238E27FC236}">
                <a16:creationId xmlns:a16="http://schemas.microsoft.com/office/drawing/2014/main" id="{BA6E16E5-BECB-4BC4-8406-E3EB04294D0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3784642B-D88D-401D-BA14-018C47575F5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8">
            <a:extLst xmlns:a="http://schemas.openxmlformats.org/drawingml/2006/main">
              <a:ext uri="{FF2B5EF4-FFF2-40B4-BE49-F238E27FC236}">
                <a16:creationId xmlns:a16="http://schemas.microsoft.com/office/drawing/2014/main" id="{3B452C9A-6FFA-497E-A919-B7010AF3F2A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P = 28 − 0,40q     TO = P × q">
            <a:extLst xmlns:a="http://schemas.openxmlformats.org/drawingml/2006/main">
              <a:ext uri="{FF2B5EF4-FFF2-40B4-BE49-F238E27FC236}">
                <a16:creationId xmlns:a16="http://schemas.microsoft.com/office/drawing/2014/main" id="{C86E308C-7A66-4338-B88A-691DFA90157C}"/>
              </a:ext>
            </a:extLst>
          </p:cNvPr>
          <p:cNvSpPr>
            <a:spLocks xmlns:a="http://schemas.openxmlformats.org/drawingml/2006/main" noGrp="1"/>
          </p:cNvSpPr>
          <p:nvPr/>
        </p:nvSpPr>
        <p:spPr>
          <a:xfrm xmlns:a="http://schemas.openxmlformats.org/drawingml/2006/main">
            <a:off x="571500" y="18097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P = 28 − 0,40q     TO = P × q</a:t>
            </a:r>
          </a:p>
        </p:txBody>
      </p:sp>
      <p:graphicFrame>
        <p:nvGraphicFramePr>
          <p:cNvPr id="14" name=""/>
          <p:cNvGraphicFramePr/>
          <p:nvPr/>
        </p:nvGraphicFramePr>
        <p:xfrm>
          <a:off xmlns:a="http://schemas.openxmlformats.org/drawingml/2006/main" x="571500" y="2933700"/>
          <a:ext xmlns:a="http://schemas.openxmlformats.org/drawingml/2006/main" cx="14097000" cy="3429000"/>
        </p:xfrm>
        <a:graphic xmlns:a="http://schemas.openxmlformats.org/drawingml/2006/main">
          <a:graphicData uri="http://schemas.openxmlformats.org/drawingml/2006/table">
            <a:tbl>
              <a:tblPr/>
              <a:tblGrid>
                <a:gridCol w="4572000"/>
                <a:gridCol w="4381500"/>
                <a:gridCol w="5143500"/>
              </a:tblGrid>
              <a:tr h="857250">
                <a:tc>
                  <a:txBody>
                    <a:bodyPr lIns="171450" tIns="95250" rIns="152400" bIns="95250"/>
                    <a:lstStyle/>
                    <a:p>
                      <a:r>
                        <a:rPr sz="2700" b="1">
                          <a:solidFill>
                            <a:srgbClr val="FFFFFF"/>
                          </a:solidFill>
                          <a:latin typeface="Arial"/>
                          <a:ea typeface="Arial"/>
                          <a:cs typeface="Arial"/>
                        </a:rPr>
                        <a:t>q (kg per week)</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P (€ per kg)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TO (€ per week)</a:t>
                      </a:r>
                    </a:p>
                  </a:txBody>
                  <a:tcPr marL="91440" marR="91440" marT="45720" marB="45720" anchor="ctr">
                    <a:solidFill>
                      <a:srgbClr val="183247"/>
                    </a:solidFill>
                  </a:tcPr>
                </a:tc>
              </a:tr>
              <a:tr h="857250">
                <a:tc>
                  <a:txBody>
                    <a:bodyPr lIns="171450" tIns="95250" rIns="152400" bIns="95250"/>
                    <a:lstStyle/>
                    <a:p>
                      <a:r>
                        <a:rPr sz="2700"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240</a:t>
                      </a:r>
                    </a:p>
                  </a:txBody>
                  <a:tcPr marL="91440" marR="91440" marT="45720" marB="45720" anchor="ctr">
                    <a:solidFill>
                      <a:srgbClr val="FFFFFF"/>
                    </a:solidFill>
                  </a:tcPr>
                </a:tc>
              </a:tr>
              <a:tr h="857250">
                <a:tc>
                  <a:txBody>
                    <a:bodyPr lIns="171450" tIns="95250" rIns="152400" bIns="95250"/>
                    <a:lstStyle/>
                    <a:p>
                      <a:r>
                        <a:rPr sz="2700"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400</a:t>
                      </a:r>
                    </a:p>
                  </a:txBody>
                  <a:tcPr marL="91440" marR="91440" marT="45720" marB="45720" anchor="ctr">
                    <a:solidFill>
                      <a:srgbClr val="EFF4F7"/>
                    </a:solidFill>
                  </a:tcPr>
                </a:tc>
              </a:tr>
              <a:tr h="857250">
                <a:tc>
                  <a:txBody>
                    <a:bodyPr lIns="171450" tIns="95250" rIns="152400" bIns="95250"/>
                    <a:lstStyle/>
                    <a:p>
                      <a:r>
                        <a:rPr sz="2700" b="0">
                          <a:solidFill>
                            <a:srgbClr val="183247"/>
                          </a:solidFill>
                          <a:latin typeface="Arial"/>
                          <a:ea typeface="Arial"/>
                          <a:cs typeface="Arial"/>
                        </a:rPr>
                        <a:t>30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16</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480</a:t>
                      </a:r>
                    </a:p>
                  </a:txBody>
                  <a:tcPr marL="91440" marR="91440" marT="45720" marB="45720" anchor="ctr">
                    <a:solidFill>
                      <a:srgbClr val="FFFFFF"/>
                    </a:solidFill>
                  </a:tcPr>
                </a:tc>
              </a:tr>
            </a:tbl>
          </a:graphicData>
        </a:graphic>
      </p:graphicFrame>
      <p:sp>
        <p:nvSpPr>
          <p:cNvPr id="7" name="Bij q = 30: P = 28 − 0,40 × 30 = € 16 per kg">
            <a:extLst xmlns:a="http://schemas.openxmlformats.org/drawingml/2006/main">
              <a:ext uri="{FF2B5EF4-FFF2-40B4-BE49-F238E27FC236}">
                <a16:creationId xmlns:a16="http://schemas.microsoft.com/office/drawing/2014/main" id="{51C89B3E-19D6-47A0-8706-DF6F71F99AB1}"/>
              </a:ext>
            </a:extLst>
          </p:cNvPr>
          <p:cNvSpPr>
            <a:spLocks xmlns:a="http://schemas.openxmlformats.org/drawingml/2006/main" noGrp="1"/>
          </p:cNvSpPr>
          <p:nvPr/>
        </p:nvSpPr>
        <p:spPr>
          <a:xfrm xmlns:a="http://schemas.openxmlformats.org/drawingml/2006/main">
            <a:off x="571500" y="67437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Bij q = 30: P = 28 − 0,40 × 30 = € 16 per kg</a:t>
            </a:r>
          </a:p>
        </p:txBody>
      </p:sp>
      <p:sp>
        <p:nvSpPr>
          <p:cNvPr id="8" name="TO = 16 × 30 = € 480 per week">
            <a:extLst xmlns:a="http://schemas.openxmlformats.org/drawingml/2006/main">
              <a:ext uri="{FF2B5EF4-FFF2-40B4-BE49-F238E27FC236}">
                <a16:creationId xmlns:a16="http://schemas.microsoft.com/office/drawing/2014/main" id="{5FDA2B23-579C-45E5-8412-64DF4A9AEBE2}"/>
              </a:ext>
            </a:extLst>
          </p:cNvPr>
          <p:cNvSpPr>
            <a:spLocks xmlns:a="http://schemas.openxmlformats.org/drawingml/2006/main" noGrp="1"/>
          </p:cNvSpPr>
          <p:nvPr/>
        </p:nvSpPr>
        <p:spPr>
          <a:xfrm xmlns:a="http://schemas.openxmlformats.org/drawingml/2006/main">
            <a:off x="571500" y="736282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7B2D8E"/>
                </a:solidFill>
                <a:latin typeface="Arial"/>
                <a:ea typeface="Arial"/>
                <a:cs typeface="Arial"/>
              </a:defRPr>
            </a:pPr>
            <a:r>
              <a:rPr sz="2850" b="1">
                <a:solidFill>
                  <a:srgbClr val="7B2D8E"/>
                </a:solidFill>
                <a:latin typeface="Arial"/>
                <a:ea typeface="Arial"/>
                <a:cs typeface="Arial"/>
              </a:rPr>
              <a:t>TO = 16 × 30 = € 480 per week</a:t>
            </a:r>
          </a:p>
        </p:txBody>
      </p:sp>
    </p:spTree>
    <p:extLst>
      <p:ext uri="{BB962C8B-B14F-4D97-AF65-F5344CB8AC3E}">
        <p14:creationId xmlns:p14="http://schemas.microsoft.com/office/powerpoint/2010/main" val="5313782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gemiddelde extra opbrengst over een stap">
            <a:extLst xmlns:a="http://schemas.openxmlformats.org/drawingml/2006/main">
              <a:ext uri="{FF2B5EF4-FFF2-40B4-BE49-F238E27FC236}">
                <a16:creationId xmlns:a16="http://schemas.microsoft.com/office/drawing/2014/main" id="{20938759-3F16-46E1-9D1D-3D82D1455B8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gemiddelde extra opbrengst over een stap</a:t>
            </a:r>
          </a:p>
        </p:txBody>
      </p:sp>
      <p:sp>
        <p:nvSpPr>
          <p:cNvPr id="2" name="">
            <a:extLst xmlns:a="http://schemas.openxmlformats.org/drawingml/2006/main">
              <a:ext uri="{FF2B5EF4-FFF2-40B4-BE49-F238E27FC236}">
                <a16:creationId xmlns:a16="http://schemas.microsoft.com/office/drawing/2014/main" id="{4BB99A6E-5D0C-4D67-B574-EACD79DD60A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8145B3D5-A38E-49AC-B7C2-00627CEED53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9">
            <a:extLst xmlns:a="http://schemas.openxmlformats.org/drawingml/2006/main">
              <a:ext uri="{FF2B5EF4-FFF2-40B4-BE49-F238E27FC236}">
                <a16:creationId xmlns:a16="http://schemas.microsoft.com/office/drawing/2014/main" id="{883365FF-8386-4C6D-9724-C2AF9FCDD9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Van 10 naar 20 kg per week">
            <a:extLst xmlns:a="http://schemas.openxmlformats.org/drawingml/2006/main">
              <a:ext uri="{FF2B5EF4-FFF2-40B4-BE49-F238E27FC236}">
                <a16:creationId xmlns:a16="http://schemas.microsoft.com/office/drawing/2014/main" id="{56C12A44-259D-4940-96D0-F74F00BA425C}"/>
              </a:ext>
            </a:extLst>
          </p:cNvPr>
          <p:cNvSpPr>
            <a:spLocks xmlns:a="http://schemas.openxmlformats.org/drawingml/2006/main" noGrp="1"/>
          </p:cNvSpPr>
          <p:nvPr/>
        </p:nvSpPr>
        <p:spPr>
          <a:xfrm xmlns:a="http://schemas.openxmlformats.org/drawingml/2006/main">
            <a:off x="571500" y="18097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Van 10 naar 20 kg per week</a:t>
            </a:r>
          </a:p>
        </p:txBody>
      </p:sp>
      <p:sp>
        <p:nvSpPr>
          <p:cNvPr id="6" name="ΔTO = 400 − 240 = € 160 per week">
            <a:extLst xmlns:a="http://schemas.openxmlformats.org/drawingml/2006/main">
              <a:ext uri="{FF2B5EF4-FFF2-40B4-BE49-F238E27FC236}">
                <a16:creationId xmlns:a16="http://schemas.microsoft.com/office/drawing/2014/main" id="{DFBD08B3-3F75-4A42-8790-7103A2101CFD}"/>
              </a:ext>
            </a:extLst>
          </p:cNvPr>
          <p:cNvSpPr>
            <a:spLocks xmlns:a="http://schemas.openxmlformats.org/drawingml/2006/main" noGrp="1"/>
          </p:cNvSpPr>
          <p:nvPr/>
        </p:nvSpPr>
        <p:spPr>
          <a:xfrm xmlns:a="http://schemas.openxmlformats.org/drawingml/2006/main">
            <a:off x="571500" y="291465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ΔTO = 400 − 240 = € 160 per week</a:t>
            </a:r>
          </a:p>
        </p:txBody>
      </p:sp>
      <p:sp>
        <p:nvSpPr>
          <p:cNvPr id="7" name="Δq = 20 − 10 = 10 kg per week">
            <a:extLst xmlns:a="http://schemas.openxmlformats.org/drawingml/2006/main">
              <a:ext uri="{FF2B5EF4-FFF2-40B4-BE49-F238E27FC236}">
                <a16:creationId xmlns:a16="http://schemas.microsoft.com/office/drawing/2014/main" id="{5CF6721C-0BAB-49A7-81EF-EA45BF9A72DA}"/>
              </a:ext>
            </a:extLst>
          </p:cNvPr>
          <p:cNvSpPr>
            <a:spLocks xmlns:a="http://schemas.openxmlformats.org/drawingml/2006/main" noGrp="1"/>
          </p:cNvSpPr>
          <p:nvPr/>
        </p:nvSpPr>
        <p:spPr>
          <a:xfrm xmlns:a="http://schemas.openxmlformats.org/drawingml/2006/main">
            <a:off x="571500" y="429577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Δq = 20 − 10 = 10 kg per week</a:t>
            </a:r>
          </a:p>
        </p:txBody>
      </p:sp>
      <p:sp>
        <p:nvSpPr>
          <p:cNvPr id="8" name="ΔTO / Δq = 160 / 10 = € 16 per kg">
            <a:extLst xmlns:a="http://schemas.openxmlformats.org/drawingml/2006/main">
              <a:ext uri="{FF2B5EF4-FFF2-40B4-BE49-F238E27FC236}">
                <a16:creationId xmlns:a16="http://schemas.microsoft.com/office/drawing/2014/main" id="{682BCD77-C3D1-4493-B072-F696D4E3F02F}"/>
              </a:ext>
            </a:extLst>
          </p:cNvPr>
          <p:cNvSpPr>
            <a:spLocks xmlns:a="http://schemas.openxmlformats.org/drawingml/2006/main" noGrp="1"/>
          </p:cNvSpPr>
          <p:nvPr/>
        </p:nvSpPr>
        <p:spPr>
          <a:xfrm xmlns:a="http://schemas.openxmlformats.org/drawingml/2006/main">
            <a:off x="571500" y="567690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7B2D8E"/>
                </a:solidFill>
                <a:latin typeface="Arial"/>
                <a:ea typeface="Arial"/>
                <a:cs typeface="Arial"/>
              </a:defRPr>
            </a:pPr>
            <a:r>
              <a:rPr sz="3525" b="1">
                <a:solidFill>
                  <a:srgbClr val="7B2D8E"/>
                </a:solidFill>
                <a:latin typeface="Arial"/>
                <a:ea typeface="Arial"/>
                <a:cs typeface="Arial"/>
              </a:rPr>
              <a:t>ΔTO / Δq = 160 / 10 = € 16 per kg</a:t>
            </a:r>
          </a:p>
        </p:txBody>
      </p:sp>
      <p:sp>
        <p:nvSpPr>
          <p:cNvPr id="9" name="Een gemiddelde over de hele stap van 10 kg">
            <a:extLst xmlns:a="http://schemas.openxmlformats.org/drawingml/2006/main">
              <a:ext uri="{FF2B5EF4-FFF2-40B4-BE49-F238E27FC236}">
                <a16:creationId xmlns:a16="http://schemas.microsoft.com/office/drawing/2014/main" id="{480033EE-3CFF-48C3-BF82-BD1F8A76F946}"/>
              </a:ext>
            </a:extLst>
          </p:cNvPr>
          <p:cNvSpPr>
            <a:spLocks xmlns:a="http://schemas.openxmlformats.org/drawingml/2006/main" noGrp="1"/>
          </p:cNvSpPr>
          <p:nvPr/>
        </p:nvSpPr>
        <p:spPr>
          <a:xfrm xmlns:a="http://schemas.openxmlformats.org/drawingml/2006/main">
            <a:off x="571500" y="71628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Een gemiddelde over de hele stap van 10 kg</a:t>
            </a:r>
          </a:p>
        </p:txBody>
      </p:sp>
    </p:spTree>
    <p:extLst>
      <p:ext uri="{BB962C8B-B14F-4D97-AF65-F5344CB8AC3E}">
        <p14:creationId xmlns:p14="http://schemas.microsoft.com/office/powerpoint/2010/main" val="19499692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e vraaglijn geeft de verkoopprijs">
            <a:extLst xmlns:a="http://schemas.openxmlformats.org/drawingml/2006/main">
              <a:ext uri="{FF2B5EF4-FFF2-40B4-BE49-F238E27FC236}">
                <a16:creationId xmlns:a16="http://schemas.microsoft.com/office/drawing/2014/main" id="{B82B0905-85DC-403D-A9F1-FBF18FA55D2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vraaglijn geeft de verkoopprijs</a:t>
            </a:r>
          </a:p>
        </p:txBody>
      </p:sp>
      <p:sp>
        <p:nvSpPr>
          <p:cNvPr id="2" name="">
            <a:extLst xmlns:a="http://schemas.openxmlformats.org/drawingml/2006/main">
              <a:ext uri="{FF2B5EF4-FFF2-40B4-BE49-F238E27FC236}">
                <a16:creationId xmlns:a16="http://schemas.microsoft.com/office/drawing/2014/main" id="{A8BFCB24-5015-41DE-845E-59016438362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05901C02-E6BD-42EF-8CBA-E5F9F54AEE7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10">
            <a:extLst xmlns:a="http://schemas.openxmlformats.org/drawingml/2006/main">
              <a:ext uri="{FF2B5EF4-FFF2-40B4-BE49-F238E27FC236}">
                <a16:creationId xmlns:a16="http://schemas.microsoft.com/office/drawing/2014/main" id="{DE09AADF-541E-4E17-A299-7CB64E42B7C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P = 28 − 0,40q">
            <a:extLst xmlns:a="http://schemas.openxmlformats.org/drawingml/2006/main">
              <a:ext uri="{FF2B5EF4-FFF2-40B4-BE49-F238E27FC236}">
                <a16:creationId xmlns:a16="http://schemas.microsoft.com/office/drawing/2014/main" id="{7F9B8677-E5F6-4466-8363-BED1ABC65AEB}"/>
              </a:ext>
            </a:extLst>
          </p:cNvPr>
          <p:cNvSpPr>
            <a:spLocks xmlns:a="http://schemas.openxmlformats.org/drawingml/2006/main" noGrp="1"/>
          </p:cNvSpPr>
          <p:nvPr/>
        </p:nvSpPr>
        <p:spPr>
          <a:xfrm xmlns:a="http://schemas.openxmlformats.org/drawingml/2006/main">
            <a:off x="571500" y="176212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P = 28 − 0,40q</a:t>
            </a:r>
          </a:p>
        </p:txBody>
      </p:sp>
      <p:graphicFrame>
        <p:nvGraphicFramePr>
          <p:cNvPr id="18" name="Chart"/>
          <p:cNvGraphicFramePr/>
          <p:nvPr/>
        </p:nvGraphicFramePr>
        <p:xfrm>
          <a:off xmlns:a="http://schemas.openxmlformats.org/drawingml/2006/main" x="571500" y="2524125"/>
          <a:ext xmlns:a="http://schemas.openxmlformats.org/drawingml/2006/main" cx="9715500" cy="4914900"/>
        </p:xfrm>
        <a:graphic xmlns:a="http://schemas.openxmlformats.org/drawingml/2006/main">
          <a:graphicData uri="http://schemas.openxmlformats.org/drawingml/2006/chart">
            <c:chart xmlns:r="http://schemas.openxmlformats.org/officeDocument/2006/relationships" xmlns:c="http://schemas.openxmlformats.org/drawingml/2006/chart" r:id="Rfe531b2227844a3c"/>
          </a:graphicData>
        </a:graphic>
      </p:graphicFrame>
      <p:sp>
        <p:nvSpPr>
          <p:cNvPr id="7" name="direct-price-label">
            <a:extLst xmlns:a="http://schemas.openxmlformats.org/drawingml/2006/main">
              <a:ext uri="{FF2B5EF4-FFF2-40B4-BE49-F238E27FC236}">
                <a16:creationId xmlns:a16="http://schemas.microsoft.com/office/drawing/2014/main" id="{84AD29B8-E312-4981-A555-74FB0FBDF661}"/>
              </a:ext>
            </a:extLst>
          </p:cNvPr>
          <p:cNvSpPr>
            <a:spLocks xmlns:a="http://schemas.openxmlformats.org/drawingml/2006/main" noGrp="1"/>
          </p:cNvSpPr>
          <p:nvPr/>
        </p:nvSpPr>
        <p:spPr>
          <a:xfrm xmlns:a="http://schemas.openxmlformats.org/drawingml/2006/main">
            <a:off x="8429625" y="384810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P = GO</a:t>
            </a:r>
          </a:p>
        </p:txBody>
      </p:sp>
      <p:sp>
        <p:nvSpPr>
          <p:cNvPr id="8" name="Bij q = 10">
            <a:extLst xmlns:a="http://schemas.openxmlformats.org/drawingml/2006/main">
              <a:ext uri="{FF2B5EF4-FFF2-40B4-BE49-F238E27FC236}">
                <a16:creationId xmlns:a16="http://schemas.microsoft.com/office/drawing/2014/main" id="{A054A781-A6CC-4575-89E7-6E2BE5A0FF12}"/>
              </a:ext>
            </a:extLst>
          </p:cNvPr>
          <p:cNvSpPr>
            <a:spLocks xmlns:a="http://schemas.openxmlformats.org/drawingml/2006/main" noGrp="1"/>
          </p:cNvSpPr>
          <p:nvPr/>
        </p:nvSpPr>
        <p:spPr>
          <a:xfrm xmlns:a="http://schemas.openxmlformats.org/drawingml/2006/main">
            <a:off x="10668000" y="27146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Bij q = 10</a:t>
            </a:r>
          </a:p>
        </p:txBody>
      </p:sp>
      <p:sp>
        <p:nvSpPr>
          <p:cNvPr id="9" name="P = € 24 per kg">
            <a:extLst xmlns:a="http://schemas.openxmlformats.org/drawingml/2006/main">
              <a:ext uri="{FF2B5EF4-FFF2-40B4-BE49-F238E27FC236}">
                <a16:creationId xmlns:a16="http://schemas.microsoft.com/office/drawing/2014/main" id="{4B3F8154-7F32-4818-A370-6F3B4DBD7BC3}"/>
              </a:ext>
            </a:extLst>
          </p:cNvPr>
          <p:cNvSpPr>
            <a:spLocks xmlns:a="http://schemas.openxmlformats.org/drawingml/2006/main" noGrp="1"/>
          </p:cNvSpPr>
          <p:nvPr/>
        </p:nvSpPr>
        <p:spPr>
          <a:xfrm xmlns:a="http://schemas.openxmlformats.org/drawingml/2006/main">
            <a:off x="10668000" y="37814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 = € 24 per kg</a:t>
            </a:r>
          </a:p>
        </p:txBody>
      </p:sp>
      <p:sp>
        <p:nvSpPr>
          <p:cNvPr id="10" name="Bij q = 20">
            <a:extLst xmlns:a="http://schemas.openxmlformats.org/drawingml/2006/main">
              <a:ext uri="{FF2B5EF4-FFF2-40B4-BE49-F238E27FC236}">
                <a16:creationId xmlns:a16="http://schemas.microsoft.com/office/drawing/2014/main" id="{0A3D2EDA-C294-41F8-89F9-0F69A017C439}"/>
              </a:ext>
            </a:extLst>
          </p:cNvPr>
          <p:cNvSpPr>
            <a:spLocks xmlns:a="http://schemas.openxmlformats.org/drawingml/2006/main" noGrp="1"/>
          </p:cNvSpPr>
          <p:nvPr/>
        </p:nvSpPr>
        <p:spPr>
          <a:xfrm xmlns:a="http://schemas.openxmlformats.org/drawingml/2006/main">
            <a:off x="10668000" y="48482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Bij q = 20</a:t>
            </a:r>
          </a:p>
        </p:txBody>
      </p:sp>
      <p:sp>
        <p:nvSpPr>
          <p:cNvPr id="11" name="P = € 20 per kg">
            <a:extLst xmlns:a="http://schemas.openxmlformats.org/drawingml/2006/main">
              <a:ext uri="{FF2B5EF4-FFF2-40B4-BE49-F238E27FC236}">
                <a16:creationId xmlns:a16="http://schemas.microsoft.com/office/drawing/2014/main" id="{65C3027A-1DDD-490A-8743-C9726D7B07D0}"/>
              </a:ext>
            </a:extLst>
          </p:cNvPr>
          <p:cNvSpPr>
            <a:spLocks xmlns:a="http://schemas.openxmlformats.org/drawingml/2006/main" noGrp="1"/>
          </p:cNvSpPr>
          <p:nvPr/>
        </p:nvSpPr>
        <p:spPr>
          <a:xfrm xmlns:a="http://schemas.openxmlformats.org/drawingml/2006/main">
            <a:off x="10668000" y="5915025"/>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 = € 20 per kg</a:t>
            </a:r>
          </a:p>
        </p:txBody>
      </p:sp>
      <p:sp>
        <p:nvSpPr>
          <p:cNvPr id="12" name="Uniforme prijs: GO = P bij q &gt; 0.">
            <a:extLst xmlns:a="http://schemas.openxmlformats.org/drawingml/2006/main">
              <a:ext uri="{FF2B5EF4-FFF2-40B4-BE49-F238E27FC236}">
                <a16:creationId xmlns:a16="http://schemas.microsoft.com/office/drawing/2014/main" id="{A17282BB-468D-40E5-8F92-D4DC1AF557A7}"/>
              </a:ext>
            </a:extLst>
          </p:cNvPr>
          <p:cNvSpPr>
            <a:spLocks xmlns:a="http://schemas.openxmlformats.org/drawingml/2006/main" noGrp="1"/>
          </p:cNvSpPr>
          <p:nvPr/>
        </p:nvSpPr>
        <p:spPr>
          <a:xfrm xmlns:a="http://schemas.openxmlformats.org/drawingml/2006/main">
            <a:off x="571500" y="7572375"/>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Uniforme prijs: GO = P bij q &gt; 0.</a:t>
            </a:r>
          </a:p>
        </p:txBody>
      </p:sp>
    </p:spTree>
    <p:extLst>
      <p:ext uri="{BB962C8B-B14F-4D97-AF65-F5344CB8AC3E}">
        <p14:creationId xmlns:p14="http://schemas.microsoft.com/office/powerpoint/2010/main" val="11587848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MO en P horen bij dezelfde hoeveelheid">
            <a:extLst xmlns:a="http://schemas.openxmlformats.org/drawingml/2006/main">
              <a:ext uri="{FF2B5EF4-FFF2-40B4-BE49-F238E27FC236}">
                <a16:creationId xmlns:a16="http://schemas.microsoft.com/office/drawing/2014/main" id="{2F7B266C-3D85-4ACB-89FB-0CB393C6DE2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MO en P horen bij dezelfde hoeveelheid</a:t>
            </a:r>
          </a:p>
        </p:txBody>
      </p:sp>
      <p:sp>
        <p:nvSpPr>
          <p:cNvPr id="2" name="">
            <a:extLst xmlns:a="http://schemas.openxmlformats.org/drawingml/2006/main">
              <a:ext uri="{FF2B5EF4-FFF2-40B4-BE49-F238E27FC236}">
                <a16:creationId xmlns:a16="http://schemas.microsoft.com/office/drawing/2014/main" id="{A2B126B6-1FA7-4B77-9F65-1A48228E8B8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B084D204-809E-4A94-B8D1-205C71CF5A1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11">
            <a:extLst xmlns:a="http://schemas.openxmlformats.org/drawingml/2006/main">
              <a:ext uri="{FF2B5EF4-FFF2-40B4-BE49-F238E27FC236}">
                <a16:creationId xmlns:a16="http://schemas.microsoft.com/office/drawing/2014/main" id="{A70D5C92-043C-4AAA-A4F2-F7F293BAB24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P = 28 − 0,40q     MO = 28 − 0,80q">
            <a:extLst xmlns:a="http://schemas.openxmlformats.org/drawingml/2006/main">
              <a:ext uri="{FF2B5EF4-FFF2-40B4-BE49-F238E27FC236}">
                <a16:creationId xmlns:a16="http://schemas.microsoft.com/office/drawing/2014/main" id="{2F8E12CD-91A0-4C35-AB61-FA3AC8CFEA13}"/>
              </a:ext>
            </a:extLst>
          </p:cNvPr>
          <p:cNvSpPr>
            <a:spLocks xmlns:a="http://schemas.openxmlformats.org/drawingml/2006/main" noGrp="1"/>
          </p:cNvSpPr>
          <p:nvPr/>
        </p:nvSpPr>
        <p:spPr>
          <a:xfrm xmlns:a="http://schemas.openxmlformats.org/drawingml/2006/main">
            <a:off x="571500" y="176212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P = 28 − 0,40q     MO = 28 − 0,80q</a:t>
            </a:r>
          </a:p>
        </p:txBody>
      </p:sp>
      <p:graphicFrame>
        <p:nvGraphicFramePr>
          <p:cNvPr id="19" name="Chart"/>
          <p:cNvGraphicFramePr/>
          <p:nvPr/>
        </p:nvGraphicFramePr>
        <p:xfrm>
          <a:off xmlns:a="http://schemas.openxmlformats.org/drawingml/2006/main" x="571500" y="2524125"/>
          <a:ext xmlns:a="http://schemas.openxmlformats.org/drawingml/2006/main" cx="9715500" cy="4914900"/>
        </p:xfrm>
        <a:graphic xmlns:a="http://schemas.openxmlformats.org/drawingml/2006/main">
          <a:graphicData uri="http://schemas.openxmlformats.org/drawingml/2006/chart">
            <c:chart xmlns:r="http://schemas.openxmlformats.org/officeDocument/2006/relationships" xmlns:c="http://schemas.openxmlformats.org/drawingml/2006/chart" r:id="Rd69434d2f74c4a83"/>
          </a:graphicData>
        </a:graphic>
      </p:graphicFrame>
      <p:sp>
        <p:nvSpPr>
          <p:cNvPr id="7" name="direct-price-label">
            <a:extLst xmlns:a="http://schemas.openxmlformats.org/drawingml/2006/main">
              <a:ext uri="{FF2B5EF4-FFF2-40B4-BE49-F238E27FC236}">
                <a16:creationId xmlns:a16="http://schemas.microsoft.com/office/drawing/2014/main" id="{EC9011A5-513D-42D6-A5D5-681ED743BE09}"/>
              </a:ext>
            </a:extLst>
          </p:cNvPr>
          <p:cNvSpPr>
            <a:spLocks xmlns:a="http://schemas.openxmlformats.org/drawingml/2006/main" noGrp="1"/>
          </p:cNvSpPr>
          <p:nvPr/>
        </p:nvSpPr>
        <p:spPr>
          <a:xfrm xmlns:a="http://schemas.openxmlformats.org/drawingml/2006/main">
            <a:off x="8429625" y="384810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P = GO</a:t>
            </a:r>
          </a:p>
        </p:txBody>
      </p:sp>
      <p:sp>
        <p:nvSpPr>
          <p:cNvPr id="8" name="direct-mo-label">
            <a:extLst xmlns:a="http://schemas.openxmlformats.org/drawingml/2006/main">
              <a:ext uri="{FF2B5EF4-FFF2-40B4-BE49-F238E27FC236}">
                <a16:creationId xmlns:a16="http://schemas.microsoft.com/office/drawing/2014/main" id="{1DEA517F-D5EB-4F76-BFA5-0A10FBDBD3BE}"/>
              </a:ext>
            </a:extLst>
          </p:cNvPr>
          <p:cNvSpPr>
            <a:spLocks xmlns:a="http://schemas.openxmlformats.org/drawingml/2006/main" noGrp="1"/>
          </p:cNvSpPr>
          <p:nvPr/>
        </p:nvSpPr>
        <p:spPr>
          <a:xfrm xmlns:a="http://schemas.openxmlformats.org/drawingml/2006/main">
            <a:off x="6715125" y="5657850"/>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7B2D8E"/>
                </a:solidFill>
                <a:latin typeface="Arial"/>
                <a:ea typeface="Arial"/>
                <a:cs typeface="Arial"/>
              </a:defRPr>
            </a:pPr>
            <a:r>
              <a:rPr sz="2250" b="1">
                <a:solidFill>
                  <a:srgbClr val="7B2D8E"/>
                </a:solidFill>
                <a:latin typeface="Arial"/>
                <a:ea typeface="Arial"/>
                <a:cs typeface="Arial"/>
              </a:rPr>
              <a:t>MO</a:t>
            </a:r>
          </a:p>
        </p:txBody>
      </p:sp>
      <p:sp>
        <p:nvSpPr>
          <p:cNvPr id="9" name="Bij q = 10">
            <a:extLst xmlns:a="http://schemas.openxmlformats.org/drawingml/2006/main">
              <a:ext uri="{FF2B5EF4-FFF2-40B4-BE49-F238E27FC236}">
                <a16:creationId xmlns:a16="http://schemas.microsoft.com/office/drawing/2014/main" id="{44990506-FF62-415B-9057-8E4DF0225712}"/>
              </a:ext>
            </a:extLst>
          </p:cNvPr>
          <p:cNvSpPr>
            <a:spLocks xmlns:a="http://schemas.openxmlformats.org/drawingml/2006/main" noGrp="1"/>
          </p:cNvSpPr>
          <p:nvPr/>
        </p:nvSpPr>
        <p:spPr>
          <a:xfrm xmlns:a="http://schemas.openxmlformats.org/drawingml/2006/main">
            <a:off x="10668000" y="27146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Bij q = 10</a:t>
            </a:r>
          </a:p>
        </p:txBody>
      </p:sp>
      <p:sp>
        <p:nvSpPr>
          <p:cNvPr id="10" name="MO = € 20 per kg">
            <a:extLst xmlns:a="http://schemas.openxmlformats.org/drawingml/2006/main">
              <a:ext uri="{FF2B5EF4-FFF2-40B4-BE49-F238E27FC236}">
                <a16:creationId xmlns:a16="http://schemas.microsoft.com/office/drawing/2014/main" id="{5DA8CD1B-486A-4497-A715-825FB608EDB1}"/>
              </a:ext>
            </a:extLst>
          </p:cNvPr>
          <p:cNvSpPr>
            <a:spLocks xmlns:a="http://schemas.openxmlformats.org/drawingml/2006/main" noGrp="1"/>
          </p:cNvSpPr>
          <p:nvPr/>
        </p:nvSpPr>
        <p:spPr>
          <a:xfrm xmlns:a="http://schemas.openxmlformats.org/drawingml/2006/main">
            <a:off x="10668000" y="37814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MO = € 20 per kg</a:t>
            </a:r>
          </a:p>
        </p:txBody>
      </p:sp>
      <p:sp>
        <p:nvSpPr>
          <p:cNvPr id="11" name="Bij q = 20">
            <a:extLst xmlns:a="http://schemas.openxmlformats.org/drawingml/2006/main">
              <a:ext uri="{FF2B5EF4-FFF2-40B4-BE49-F238E27FC236}">
                <a16:creationId xmlns:a16="http://schemas.microsoft.com/office/drawing/2014/main" id="{1E22E419-6E95-4519-B377-FF4928EA6C4E}"/>
              </a:ext>
            </a:extLst>
          </p:cNvPr>
          <p:cNvSpPr>
            <a:spLocks xmlns:a="http://schemas.openxmlformats.org/drawingml/2006/main" noGrp="1"/>
          </p:cNvSpPr>
          <p:nvPr/>
        </p:nvSpPr>
        <p:spPr>
          <a:xfrm xmlns:a="http://schemas.openxmlformats.org/drawingml/2006/main">
            <a:off x="10668000" y="48482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Bij q = 20</a:t>
            </a:r>
          </a:p>
        </p:txBody>
      </p:sp>
      <p:sp>
        <p:nvSpPr>
          <p:cNvPr id="12" name="MO = € 12 per kg">
            <a:extLst xmlns:a="http://schemas.openxmlformats.org/drawingml/2006/main">
              <a:ext uri="{FF2B5EF4-FFF2-40B4-BE49-F238E27FC236}">
                <a16:creationId xmlns:a16="http://schemas.microsoft.com/office/drawing/2014/main" id="{63FD7A63-CEA6-4F53-A73E-2CE541F0BCD0}"/>
              </a:ext>
            </a:extLst>
          </p:cNvPr>
          <p:cNvSpPr>
            <a:spLocks xmlns:a="http://schemas.openxmlformats.org/drawingml/2006/main" noGrp="1"/>
          </p:cNvSpPr>
          <p:nvPr/>
        </p:nvSpPr>
        <p:spPr>
          <a:xfrm xmlns:a="http://schemas.openxmlformats.org/drawingml/2006/main">
            <a:off x="10668000" y="5915025"/>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MO = € 12 per kg</a:t>
            </a:r>
          </a:p>
        </p:txBody>
      </p:sp>
      <p:sp>
        <p:nvSpPr>
          <p:cNvPr id="13" name="De prijsverlaging werkt ook door op de eerste hoeveelheid.">
            <a:extLst xmlns:a="http://schemas.openxmlformats.org/drawingml/2006/main">
              <a:ext uri="{FF2B5EF4-FFF2-40B4-BE49-F238E27FC236}">
                <a16:creationId xmlns:a16="http://schemas.microsoft.com/office/drawing/2014/main" id="{13479FE4-99F5-4CBD-BE08-76BFDB34E2DE}"/>
              </a:ext>
            </a:extLst>
          </p:cNvPr>
          <p:cNvSpPr>
            <a:spLocks xmlns:a="http://schemas.openxmlformats.org/drawingml/2006/main" noGrp="1"/>
          </p:cNvSpPr>
          <p:nvPr/>
        </p:nvSpPr>
        <p:spPr>
          <a:xfrm xmlns:a="http://schemas.openxmlformats.org/drawingml/2006/main">
            <a:off x="571500" y="7572375"/>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De prijsverlaging werkt ook door op de eerste hoeveelheid.</a:t>
            </a:r>
          </a:p>
        </p:txBody>
      </p:sp>
    </p:spTree>
    <p:extLst>
      <p:ext uri="{BB962C8B-B14F-4D97-AF65-F5344CB8AC3E}">
        <p14:creationId xmlns:p14="http://schemas.microsoft.com/office/powerpoint/2010/main" val="13882828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en tabelstap en twee puntwaarden">
            <a:extLst xmlns:a="http://schemas.openxmlformats.org/drawingml/2006/main">
              <a:ext uri="{FF2B5EF4-FFF2-40B4-BE49-F238E27FC236}">
                <a16:creationId xmlns:a16="http://schemas.microsoft.com/office/drawing/2014/main" id="{F87D55BE-61DF-4098-9F0E-31CF8A5B723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tabelstap en twee puntwaarden</a:t>
            </a:r>
          </a:p>
        </p:txBody>
      </p:sp>
      <p:sp>
        <p:nvSpPr>
          <p:cNvPr id="2" name="">
            <a:extLst xmlns:a="http://schemas.openxmlformats.org/drawingml/2006/main">
              <a:ext uri="{FF2B5EF4-FFF2-40B4-BE49-F238E27FC236}">
                <a16:creationId xmlns:a16="http://schemas.microsoft.com/office/drawing/2014/main" id="{D1A20417-3679-4AFF-A343-D1693C60863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8AAB8310-1AB3-4D2D-B89A-55D581F2453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12">
            <a:extLst xmlns:a="http://schemas.openxmlformats.org/drawingml/2006/main">
              <a:ext uri="{FF2B5EF4-FFF2-40B4-BE49-F238E27FC236}">
                <a16:creationId xmlns:a16="http://schemas.microsoft.com/office/drawing/2014/main" id="{DAE657D1-E187-47DC-80B9-A1C5C536CDE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graphicFrame>
        <p:nvGraphicFramePr>
          <p:cNvPr id="11" name=""/>
          <p:cNvGraphicFramePr/>
          <p:nvPr/>
        </p:nvGraphicFramePr>
        <p:xfrm>
          <a:off xmlns:a="http://schemas.openxmlformats.org/drawingml/2006/main" x="571500" y="2181225"/>
          <a:ext xmlns:a="http://schemas.openxmlformats.org/drawingml/2006/main" cx="14097000" cy="3905250"/>
        </p:xfrm>
        <a:graphic xmlns:a="http://schemas.openxmlformats.org/drawingml/2006/main">
          <a:graphicData uri="http://schemas.openxmlformats.org/drawingml/2006/table">
            <a:tbl>
              <a:tblPr/>
              <a:tblGrid>
                <a:gridCol w="5524500"/>
                <a:gridCol w="5095875"/>
                <a:gridCol w="3476625"/>
              </a:tblGrid>
              <a:tr h="976313">
                <a:tc>
                  <a:txBody>
                    <a:bodyPr lIns="171450" tIns="95250" rIns="152400" bIns="95250"/>
                    <a:lstStyle/>
                    <a:p>
                      <a:r>
                        <a:rPr sz="2475" b="1">
                          <a:solidFill>
                            <a:srgbClr val="FFFFFF"/>
                          </a:solidFill>
                          <a:latin typeface="Arial"/>
                          <a:ea typeface="Arial"/>
                          <a:cs typeface="Arial"/>
                        </a:rPr>
                        <a:t>Wat meet je?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Uitkomst</a:t>
                      </a:r>
                    </a:p>
                  </a:txBody>
                  <a:tcPr marL="91440" marR="91440" marT="45720" marB="45720" anchor="ctr">
                    <a:solidFill>
                      <a:srgbClr val="183247"/>
                    </a:solidFill>
                  </a:tcPr>
                </a:tc>
              </a:tr>
              <a:tr h="976313">
                <a:tc>
                  <a:txBody>
                    <a:bodyPr lIns="171450" tIns="95250" rIns="152400" bIns="95250"/>
                    <a:lstStyle/>
                    <a:p>
                      <a:r>
                        <a:rPr sz="2475" b="0">
                          <a:solidFill>
                            <a:srgbClr val="183247"/>
                          </a:solidFill>
                          <a:latin typeface="Arial"/>
                          <a:ea typeface="Arial"/>
                          <a:cs typeface="Arial"/>
                        </a:rPr>
                        <a:t>Gemiddelde over 10 tot 20 kg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(400 − 240) / (20 − 10)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€ 16 per kg</a:t>
                      </a:r>
                    </a:p>
                  </a:txBody>
                  <a:tcPr marL="91440" marR="91440" marT="45720" marB="45720" anchor="ctr">
                    <a:solidFill>
                      <a:srgbClr val="FFFFFF"/>
                    </a:solidFill>
                  </a:tcPr>
                </a:tc>
              </a:tr>
              <a:tr h="976313">
                <a:tc>
                  <a:txBody>
                    <a:bodyPr lIns="171450" tIns="95250" rIns="152400" bIns="95250"/>
                    <a:lstStyle/>
                    <a:p>
                      <a:r>
                        <a:rPr sz="2475" b="0">
                          <a:solidFill>
                            <a:srgbClr val="183247"/>
                          </a:solidFill>
                          <a:latin typeface="Arial"/>
                          <a:ea typeface="Arial"/>
                          <a:cs typeface="Arial"/>
                        </a:rPr>
                        <a:t>MO op het beginpunt q = 10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28 − 0,80 × 10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€ 20 per kg</a:t>
                      </a:r>
                    </a:p>
                  </a:txBody>
                  <a:tcPr marL="91440" marR="91440" marT="45720" marB="45720" anchor="ctr">
                    <a:solidFill>
                      <a:srgbClr val="EFF4F7"/>
                    </a:solidFill>
                  </a:tcPr>
                </a:tc>
              </a:tr>
              <a:tr h="976313">
                <a:tc>
                  <a:txBody>
                    <a:bodyPr lIns="171450" tIns="95250" rIns="152400" bIns="95250"/>
                    <a:lstStyle/>
                    <a:p>
                      <a:r>
                        <a:rPr sz="2475" b="0">
                          <a:solidFill>
                            <a:srgbClr val="183247"/>
                          </a:solidFill>
                          <a:latin typeface="Arial"/>
                          <a:ea typeface="Arial"/>
                          <a:cs typeface="Arial"/>
                        </a:rPr>
                        <a:t>MO op het eindpunt q = 20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28 − 0,80 × 20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€ 12 per kg</a:t>
                      </a:r>
                    </a:p>
                  </a:txBody>
                  <a:tcPr marL="91440" marR="91440" marT="45720" marB="45720" anchor="ctr">
                    <a:solidFill>
                      <a:srgbClr val="FFFFFF"/>
                    </a:solidFill>
                  </a:tcPr>
                </a:tc>
              </a:tr>
            </a:tbl>
          </a:graphicData>
        </a:graphic>
      </p:graphicFrame>
      <p:sp>
        <p:nvSpPr>
          <p:cNvPr id="6" name="MO daalt onderweg. De hele stap heeft één gemiddelde.">
            <a:extLst xmlns:a="http://schemas.openxmlformats.org/drawingml/2006/main">
              <a:ext uri="{FF2B5EF4-FFF2-40B4-BE49-F238E27FC236}">
                <a16:creationId xmlns:a16="http://schemas.microsoft.com/office/drawing/2014/main" id="{0D387D07-FDC6-4B7F-900C-11310A046700}"/>
              </a:ext>
            </a:extLst>
          </p:cNvPr>
          <p:cNvSpPr>
            <a:spLocks xmlns:a="http://schemas.openxmlformats.org/drawingml/2006/main" noGrp="1"/>
          </p:cNvSpPr>
          <p:nvPr/>
        </p:nvSpPr>
        <p:spPr>
          <a:xfrm xmlns:a="http://schemas.openxmlformats.org/drawingml/2006/main">
            <a:off x="571500" y="680085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7B2D8E"/>
                </a:solidFill>
                <a:latin typeface="Arial"/>
                <a:ea typeface="Arial"/>
                <a:cs typeface="Arial"/>
              </a:defRPr>
            </a:pPr>
            <a:r>
              <a:rPr sz="3150" b="1">
                <a:solidFill>
                  <a:srgbClr val="7B2D8E"/>
                </a:solidFill>
                <a:latin typeface="Arial"/>
                <a:ea typeface="Arial"/>
                <a:cs typeface="Arial"/>
              </a:rPr>
              <a:t>MO daalt onderweg. De hele stap heeft één gemiddelde.</a:t>
            </a:r>
          </a:p>
        </p:txBody>
      </p:sp>
    </p:spTree>
    <p:extLst>
      <p:ext uri="{BB962C8B-B14F-4D97-AF65-F5344CB8AC3E}">
        <p14:creationId xmlns:p14="http://schemas.microsoft.com/office/powerpoint/2010/main" val="12693318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en positieve prijs kan samengaan met negatieve MO">
            <a:extLst xmlns:a="http://schemas.openxmlformats.org/drawingml/2006/main">
              <a:ext uri="{FF2B5EF4-FFF2-40B4-BE49-F238E27FC236}">
                <a16:creationId xmlns:a16="http://schemas.microsoft.com/office/drawing/2014/main" id="{0E2DFC0B-B7B0-40FB-9209-580CB0E37B5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Een positieve prijs kan samengaan met negatieve MO</a:t>
            </a:r>
          </a:p>
        </p:txBody>
      </p:sp>
      <p:sp>
        <p:nvSpPr>
          <p:cNvPr id="2" name="">
            <a:extLst xmlns:a="http://schemas.openxmlformats.org/drawingml/2006/main">
              <a:ext uri="{FF2B5EF4-FFF2-40B4-BE49-F238E27FC236}">
                <a16:creationId xmlns:a16="http://schemas.microsoft.com/office/drawing/2014/main" id="{63F2C4AE-0BB2-488C-904B-B2499F6BB6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Was Nova">
            <a:extLst xmlns:a="http://schemas.openxmlformats.org/drawingml/2006/main">
              <a:ext uri="{FF2B5EF4-FFF2-40B4-BE49-F238E27FC236}">
                <a16:creationId xmlns:a16="http://schemas.microsoft.com/office/drawing/2014/main" id="{41BCBA67-C10B-4AAF-B290-BD7EB209029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Was Nova</a:t>
            </a:r>
          </a:p>
        </p:txBody>
      </p:sp>
      <p:sp>
        <p:nvSpPr>
          <p:cNvPr id="4" name="13">
            <a:extLst xmlns:a="http://schemas.openxmlformats.org/drawingml/2006/main">
              <a:ext uri="{FF2B5EF4-FFF2-40B4-BE49-F238E27FC236}">
                <a16:creationId xmlns:a16="http://schemas.microsoft.com/office/drawing/2014/main" id="{0A4E4D91-5E23-4AC8-A857-90330DF1CEF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P = 28 − 0,40q     MO = 28 − 0,80q">
            <a:extLst xmlns:a="http://schemas.openxmlformats.org/drawingml/2006/main">
              <a:ext uri="{FF2B5EF4-FFF2-40B4-BE49-F238E27FC236}">
                <a16:creationId xmlns:a16="http://schemas.microsoft.com/office/drawing/2014/main" id="{1C6A14F4-FC0A-432F-9571-5965E29C9E5A}"/>
              </a:ext>
            </a:extLst>
          </p:cNvPr>
          <p:cNvSpPr>
            <a:spLocks xmlns:a="http://schemas.openxmlformats.org/drawingml/2006/main" noGrp="1"/>
          </p:cNvSpPr>
          <p:nvPr/>
        </p:nvSpPr>
        <p:spPr>
          <a:xfrm xmlns:a="http://schemas.openxmlformats.org/drawingml/2006/main">
            <a:off x="571500" y="176212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P = 28 − 0,40q     MO = 28 − 0,80q</a:t>
            </a:r>
          </a:p>
        </p:txBody>
      </p:sp>
      <p:graphicFrame>
        <p:nvGraphicFramePr>
          <p:cNvPr id="19" name="Chart"/>
          <p:cNvGraphicFramePr/>
          <p:nvPr/>
        </p:nvGraphicFramePr>
        <p:xfrm>
          <a:off xmlns:a="http://schemas.openxmlformats.org/drawingml/2006/main" x="571500" y="2524125"/>
          <a:ext xmlns:a="http://schemas.openxmlformats.org/drawingml/2006/main" cx="9715500" cy="4914900"/>
        </p:xfrm>
        <a:graphic xmlns:a="http://schemas.openxmlformats.org/drawingml/2006/main">
          <a:graphicData uri="http://schemas.openxmlformats.org/drawingml/2006/chart">
            <c:chart xmlns:r="http://schemas.openxmlformats.org/officeDocument/2006/relationships" xmlns:c="http://schemas.openxmlformats.org/drawingml/2006/chart" r:id="R642271153da0473c"/>
          </a:graphicData>
        </a:graphic>
      </p:graphicFrame>
      <p:sp>
        <p:nvSpPr>
          <p:cNvPr id="7" name="direct-price-label">
            <a:extLst xmlns:a="http://schemas.openxmlformats.org/drawingml/2006/main">
              <a:ext uri="{FF2B5EF4-FFF2-40B4-BE49-F238E27FC236}">
                <a16:creationId xmlns:a16="http://schemas.microsoft.com/office/drawing/2014/main" id="{06A35B98-0357-4AA6-87F1-EE556528BBD2}"/>
              </a:ext>
            </a:extLst>
          </p:cNvPr>
          <p:cNvSpPr>
            <a:spLocks xmlns:a="http://schemas.openxmlformats.org/drawingml/2006/main" noGrp="1"/>
          </p:cNvSpPr>
          <p:nvPr/>
        </p:nvSpPr>
        <p:spPr>
          <a:xfrm xmlns:a="http://schemas.openxmlformats.org/drawingml/2006/main">
            <a:off x="8429625" y="384810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P = GO</a:t>
            </a:r>
          </a:p>
        </p:txBody>
      </p:sp>
      <p:sp>
        <p:nvSpPr>
          <p:cNvPr id="8" name="direct-mo-label">
            <a:extLst xmlns:a="http://schemas.openxmlformats.org/drawingml/2006/main">
              <a:ext uri="{FF2B5EF4-FFF2-40B4-BE49-F238E27FC236}">
                <a16:creationId xmlns:a16="http://schemas.microsoft.com/office/drawing/2014/main" id="{D9933207-6BAA-4E50-A61F-7AF6C8C5D2C6}"/>
              </a:ext>
            </a:extLst>
          </p:cNvPr>
          <p:cNvSpPr>
            <a:spLocks xmlns:a="http://schemas.openxmlformats.org/drawingml/2006/main" noGrp="1"/>
          </p:cNvSpPr>
          <p:nvPr/>
        </p:nvSpPr>
        <p:spPr>
          <a:xfrm xmlns:a="http://schemas.openxmlformats.org/drawingml/2006/main">
            <a:off x="6715125" y="5657850"/>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7B2D8E"/>
                </a:solidFill>
                <a:latin typeface="Arial"/>
                <a:ea typeface="Arial"/>
                <a:cs typeface="Arial"/>
              </a:defRPr>
            </a:pPr>
            <a:r>
              <a:rPr sz="2250" b="1">
                <a:solidFill>
                  <a:srgbClr val="7B2D8E"/>
                </a:solidFill>
                <a:latin typeface="Arial"/>
                <a:ea typeface="Arial"/>
                <a:cs typeface="Arial"/>
              </a:rPr>
              <a:t>MO</a:t>
            </a:r>
          </a:p>
        </p:txBody>
      </p:sp>
      <p:sp>
        <p:nvSpPr>
          <p:cNvPr id="9" name="Bij q = 40">
            <a:extLst xmlns:a="http://schemas.openxmlformats.org/drawingml/2006/main">
              <a:ext uri="{FF2B5EF4-FFF2-40B4-BE49-F238E27FC236}">
                <a16:creationId xmlns:a16="http://schemas.microsoft.com/office/drawing/2014/main" id="{3D55F87B-5E52-4DB7-B0AA-8399B8FF7BAC}"/>
              </a:ext>
            </a:extLst>
          </p:cNvPr>
          <p:cNvSpPr>
            <a:spLocks xmlns:a="http://schemas.openxmlformats.org/drawingml/2006/main" noGrp="1"/>
          </p:cNvSpPr>
          <p:nvPr/>
        </p:nvSpPr>
        <p:spPr>
          <a:xfrm xmlns:a="http://schemas.openxmlformats.org/drawingml/2006/main">
            <a:off x="10668000" y="27146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Bij q = 40</a:t>
            </a:r>
          </a:p>
        </p:txBody>
      </p:sp>
      <p:sp>
        <p:nvSpPr>
          <p:cNvPr id="10" name="P = € 12 per kg">
            <a:extLst xmlns:a="http://schemas.openxmlformats.org/drawingml/2006/main">
              <a:ext uri="{FF2B5EF4-FFF2-40B4-BE49-F238E27FC236}">
                <a16:creationId xmlns:a16="http://schemas.microsoft.com/office/drawing/2014/main" id="{D6F524A1-0B7E-4D6C-B067-1AC9B493D2A0}"/>
              </a:ext>
            </a:extLst>
          </p:cNvPr>
          <p:cNvSpPr>
            <a:spLocks xmlns:a="http://schemas.openxmlformats.org/drawingml/2006/main" noGrp="1"/>
          </p:cNvSpPr>
          <p:nvPr/>
        </p:nvSpPr>
        <p:spPr>
          <a:xfrm xmlns:a="http://schemas.openxmlformats.org/drawingml/2006/main">
            <a:off x="10668000" y="37814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 = € 12 per kg</a:t>
            </a:r>
          </a:p>
        </p:txBody>
      </p:sp>
      <p:sp>
        <p:nvSpPr>
          <p:cNvPr id="11" name="MO = −€ 4 per kg">
            <a:extLst xmlns:a="http://schemas.openxmlformats.org/drawingml/2006/main">
              <a:ext uri="{FF2B5EF4-FFF2-40B4-BE49-F238E27FC236}">
                <a16:creationId xmlns:a16="http://schemas.microsoft.com/office/drawing/2014/main" id="{22D0B61F-639E-404A-998E-A2B13BFB08D3}"/>
              </a:ext>
            </a:extLst>
          </p:cNvPr>
          <p:cNvSpPr>
            <a:spLocks xmlns:a="http://schemas.openxmlformats.org/drawingml/2006/main" noGrp="1"/>
          </p:cNvSpPr>
          <p:nvPr/>
        </p:nvSpPr>
        <p:spPr>
          <a:xfrm xmlns:a="http://schemas.openxmlformats.org/drawingml/2006/main">
            <a:off x="10668000" y="48482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7B2D8E"/>
                </a:solidFill>
                <a:latin typeface="Arial"/>
                <a:ea typeface="Arial"/>
                <a:cs typeface="Arial"/>
              </a:defRPr>
            </a:pPr>
            <a:r>
              <a:rPr sz="2550" b="1">
                <a:solidFill>
                  <a:srgbClr val="7B2D8E"/>
                </a:solidFill>
                <a:latin typeface="Arial"/>
                <a:ea typeface="Arial"/>
                <a:cs typeface="Arial"/>
              </a:rPr>
              <a:t>MO = −€ 4 per kg</a:t>
            </a:r>
          </a:p>
        </p:txBody>
      </p:sp>
      <p:sp>
        <p:nvSpPr>
          <p:cNvPr id="12" name="Iets minder afzet&#10;verhoogt hier TO.">
            <a:extLst xmlns:a="http://schemas.openxmlformats.org/drawingml/2006/main">
              <a:ext uri="{FF2B5EF4-FFF2-40B4-BE49-F238E27FC236}">
                <a16:creationId xmlns:a16="http://schemas.microsoft.com/office/drawing/2014/main" id="{FFC7833F-A4DA-4490-8443-FCF36E74155B}"/>
              </a:ext>
            </a:extLst>
          </p:cNvPr>
          <p:cNvSpPr>
            <a:spLocks xmlns:a="http://schemas.openxmlformats.org/drawingml/2006/main" noGrp="1"/>
          </p:cNvSpPr>
          <p:nvPr/>
        </p:nvSpPr>
        <p:spPr>
          <a:xfrm xmlns:a="http://schemas.openxmlformats.org/drawingml/2006/main">
            <a:off x="10668000" y="5915025"/>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Iets minder afzet</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verhoogt hier TO.</a:t>
            </a:r>
          </a:p>
        </p:txBody>
      </p:sp>
      <p:sp>
        <p:nvSpPr>
          <p:cNvPr id="13" name="MO = 0 bij q = 35: hoogste TO in dit model. Kosten ontbreken">
            <a:extLst xmlns:a="http://schemas.openxmlformats.org/drawingml/2006/main">
              <a:ext uri="{FF2B5EF4-FFF2-40B4-BE49-F238E27FC236}">
                <a16:creationId xmlns:a16="http://schemas.microsoft.com/office/drawing/2014/main" id="{E294E7FF-2B71-41E1-9D81-549A8FA4E4A5}"/>
              </a:ext>
            </a:extLst>
          </p:cNvPr>
          <p:cNvSpPr>
            <a:spLocks xmlns:a="http://schemas.openxmlformats.org/drawingml/2006/main" noGrp="1"/>
          </p:cNvSpPr>
          <p:nvPr/>
        </p:nvSpPr>
        <p:spPr>
          <a:xfrm xmlns:a="http://schemas.openxmlformats.org/drawingml/2006/main">
            <a:off x="571500" y="7572375"/>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MO = 0 bij q = 35: hoogste TO in dit model. Kosten ontbreken.</a:t>
            </a:r>
          </a:p>
        </p:txBody>
      </p:sp>
    </p:spTree>
    <p:extLst>
      <p:ext uri="{BB962C8B-B14F-4D97-AF65-F5344CB8AC3E}">
        <p14:creationId xmlns:p14="http://schemas.microsoft.com/office/powerpoint/2010/main" val="4484464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rug naar startopgave 22">
            <a:extLst xmlns:a="http://schemas.openxmlformats.org/drawingml/2006/main">
              <a:ext uri="{FF2B5EF4-FFF2-40B4-BE49-F238E27FC236}">
                <a16:creationId xmlns:a16="http://schemas.microsoft.com/office/drawing/2014/main" id="{72C1B299-C216-485F-8327-3DB893BF94D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Terug naar startopgave 22</a:t>
            </a:r>
          </a:p>
        </p:txBody>
      </p:sp>
      <p:sp>
        <p:nvSpPr>
          <p:cNvPr id="2" name="">
            <a:extLst xmlns:a="http://schemas.openxmlformats.org/drawingml/2006/main">
              <a:ext uri="{FF2B5EF4-FFF2-40B4-BE49-F238E27FC236}">
                <a16:creationId xmlns:a16="http://schemas.microsoft.com/office/drawing/2014/main" id="{6ED63084-40FB-4474-A6F0-686A23B3D7C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Marginale opbrengst bij monopolie">
            <a:extLst xmlns:a="http://schemas.openxmlformats.org/drawingml/2006/main">
              <a:ext uri="{FF2B5EF4-FFF2-40B4-BE49-F238E27FC236}">
                <a16:creationId xmlns:a16="http://schemas.microsoft.com/office/drawing/2014/main" id="{445C23F8-A89A-410E-8414-6DB29C964FB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Marginale opbrengst bij monopolie</a:t>
            </a:r>
          </a:p>
        </p:txBody>
      </p:sp>
      <p:sp>
        <p:nvSpPr>
          <p:cNvPr id="4" name="14">
            <a:extLst xmlns:a="http://schemas.openxmlformats.org/drawingml/2006/main">
              <a:ext uri="{FF2B5EF4-FFF2-40B4-BE49-F238E27FC236}">
                <a16:creationId xmlns:a16="http://schemas.microsoft.com/office/drawing/2014/main" id="{AC9C7698-202D-4692-A5B3-29E6D4FDF1B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Boekpagina 29 · steun: voorbeeld Luma op pagina 28">
            <a:extLst xmlns:a="http://schemas.openxmlformats.org/drawingml/2006/main">
              <a:ext uri="{FF2B5EF4-FFF2-40B4-BE49-F238E27FC236}">
                <a16:creationId xmlns:a16="http://schemas.microsoft.com/office/drawing/2014/main" id="{32B28979-7F69-4102-923E-624806F19187}"/>
              </a:ext>
            </a:extLst>
          </p:cNvPr>
          <p:cNvSpPr>
            <a:spLocks xmlns:a="http://schemas.openxmlformats.org/drawingml/2006/main" noGrp="1"/>
          </p:cNvSpPr>
          <p:nvPr/>
        </p:nvSpPr>
        <p:spPr>
          <a:xfrm xmlns:a="http://schemas.openxmlformats.org/drawingml/2006/main">
            <a:off x="571500" y="18669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Boekpagina 29 · steun: voorbeeld Luma op pagina 28</a:t>
            </a:r>
          </a:p>
        </p:txBody>
      </p:sp>
      <p:sp>
        <p:nvSpPr>
          <p:cNvPr id="6" name="Welke prijsverandering op de eerste 30 kg ontbrak?">
            <a:extLst xmlns:a="http://schemas.openxmlformats.org/drawingml/2006/main">
              <a:ext uri="{FF2B5EF4-FFF2-40B4-BE49-F238E27FC236}">
                <a16:creationId xmlns:a16="http://schemas.microsoft.com/office/drawing/2014/main" id="{615C53F7-C063-47CB-B0AA-F76DA9660D5C}"/>
              </a:ext>
            </a:extLst>
          </p:cNvPr>
          <p:cNvSpPr>
            <a:spLocks xmlns:a="http://schemas.openxmlformats.org/drawingml/2006/main" noGrp="1"/>
          </p:cNvSpPr>
          <p:nvPr/>
        </p:nvSpPr>
        <p:spPr>
          <a:xfrm xmlns:a="http://schemas.openxmlformats.org/drawingml/2006/main">
            <a:off x="571500" y="3228975"/>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Welke prijsverandering op de eerste 30 kg ontbrak?</a:t>
            </a:r>
          </a:p>
        </p:txBody>
      </p:sp>
      <p:sp>
        <p:nvSpPr>
          <p:cNvPr id="7" name="Herstel je eigen redenering en controleer ΔTO.">
            <a:extLst xmlns:a="http://schemas.openxmlformats.org/drawingml/2006/main">
              <a:ext uri="{FF2B5EF4-FFF2-40B4-BE49-F238E27FC236}">
                <a16:creationId xmlns:a16="http://schemas.microsoft.com/office/drawing/2014/main" id="{D71474A6-7E87-48BB-A998-0DB8883A09A3}"/>
              </a:ext>
            </a:extLst>
          </p:cNvPr>
          <p:cNvSpPr>
            <a:spLocks xmlns:a="http://schemas.openxmlformats.org/drawingml/2006/main" noGrp="1"/>
          </p:cNvSpPr>
          <p:nvPr/>
        </p:nvSpPr>
        <p:spPr>
          <a:xfrm xmlns:a="http://schemas.openxmlformats.org/drawingml/2006/main">
            <a:off x="571500" y="5076825"/>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Herstel je eigen redenering en controleer ΔTO.</a:t>
            </a:r>
          </a:p>
        </p:txBody>
      </p:sp>
      <p:sp>
        <p:nvSpPr>
          <p:cNvPr id="8" name="Gebruik beide omzetwerkingen voordat je verder oefent.">
            <a:extLst xmlns:a="http://schemas.openxmlformats.org/drawingml/2006/main">
              <a:ext uri="{FF2B5EF4-FFF2-40B4-BE49-F238E27FC236}">
                <a16:creationId xmlns:a16="http://schemas.microsoft.com/office/drawing/2014/main" id="{93C7CE22-B876-41C1-BEBE-6135C29FD2A4}"/>
              </a:ext>
            </a:extLst>
          </p:cNvPr>
          <p:cNvSpPr>
            <a:spLocks xmlns:a="http://schemas.openxmlformats.org/drawingml/2006/main" noGrp="1"/>
          </p:cNvSpPr>
          <p:nvPr/>
        </p:nvSpPr>
        <p:spPr>
          <a:xfrm xmlns:a="http://schemas.openxmlformats.org/drawingml/2006/main">
            <a:off x="571500" y="69627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Gebruik beide omzetwerkingen voordat je verder oefent.</a:t>
            </a:r>
          </a:p>
        </p:txBody>
      </p:sp>
    </p:spTree>
    <p:extLst>
      <p:ext uri="{BB962C8B-B14F-4D97-AF65-F5344CB8AC3E}">
        <p14:creationId xmlns:p14="http://schemas.microsoft.com/office/powerpoint/2010/main" val="160618370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3 Marginale opbrengst bij monopolie">
            <a:extLst xmlns:a="http://schemas.openxmlformats.org/drawingml/2006/main">
              <a:ext uri="{FF2B5EF4-FFF2-40B4-BE49-F238E27FC236}">
                <a16:creationId xmlns:a16="http://schemas.microsoft.com/office/drawing/2014/main" id="{A5293ABE-CAAB-410D-937B-7F91DA16A3C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Deze les: §4.1.3 Marginale opbrengst bij monopolie</a:t>
            </a:r>
          </a:p>
        </p:txBody>
      </p:sp>
      <p:sp>
        <p:nvSpPr>
          <p:cNvPr id="2" name="">
            <a:extLst xmlns:a="http://schemas.openxmlformats.org/drawingml/2006/main">
              <a:ext uri="{FF2B5EF4-FFF2-40B4-BE49-F238E27FC236}">
                <a16:creationId xmlns:a16="http://schemas.microsoft.com/office/drawing/2014/main" id="{35853A3E-5C3A-4038-849E-BD2D6E029AC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Marginale opbrengst bij monopolie">
            <a:extLst xmlns:a="http://schemas.openxmlformats.org/drawingml/2006/main">
              <a:ext uri="{FF2B5EF4-FFF2-40B4-BE49-F238E27FC236}">
                <a16:creationId xmlns:a16="http://schemas.microsoft.com/office/drawing/2014/main" id="{6ACB4A51-6927-46AC-8438-0743DEBF056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Marginale opbrengst bij monopolie</a:t>
            </a:r>
          </a:p>
        </p:txBody>
      </p:sp>
      <p:sp>
        <p:nvSpPr>
          <p:cNvPr id="4" name="15">
            <a:extLst xmlns:a="http://schemas.openxmlformats.org/drawingml/2006/main">
              <a:ext uri="{FF2B5EF4-FFF2-40B4-BE49-F238E27FC236}">
                <a16:creationId xmlns:a16="http://schemas.microsoft.com/office/drawing/2014/main" id="{05126F52-B753-4FE9-AD78-EED952B9EB0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0D6E202D-64F4-4EBD-923C-204989D1E4F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321C04C2-F6ED-466E-A580-1FCC2550BB7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6C8F2D3-36F0-423E-ABB8-EE8767E5945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80EBEFC6-87CA-4CCB-AEF8-2AFA9EACB7CD}"/>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142EA229-4DCA-4AE0-84C4-1A3E6655AED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FAD27B2-50E8-444B-98F2-CA58A0638B27}"/>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E4D4874E-A7AF-415F-A208-55892CB9519F}"/>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086CA293-D3CB-4179-99DF-3D7613AABF4A}"/>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EACAAC7E-2B6B-4A65-8D0A-549466837D4C}"/>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2E9EBE7A-3BB1-424F-B356-893549240EE6}"/>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659B3C9A-F1DC-456F-973E-08CA9EB7D5C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384783B-2D20-4D98-A62E-77868F5DE490}"/>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8EB2F9FA-6C4F-4244-823F-1F884539C534}"/>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1037D985-8CBC-4DAB-B93D-DB8D379FE5BA}"/>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28.</a:t>
            </a:r>
          </a:p>
        </p:txBody>
      </p:sp>
      <p:sp>
        <p:nvSpPr>
          <p:cNvPr id="19" name="route-number-7">
            <a:extLst xmlns:a="http://schemas.openxmlformats.org/drawingml/2006/main">
              <a:ext uri="{FF2B5EF4-FFF2-40B4-BE49-F238E27FC236}">
                <a16:creationId xmlns:a16="http://schemas.microsoft.com/office/drawing/2014/main" id="{BCCD8D86-FFBB-4DDA-A2FB-5643380E304E}"/>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A0CA87E9-ACC2-4011-9FE4-6B82EA3581E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5C1FB10-5AD7-406E-925C-9C720DDEC769}"/>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633C147-4E8D-4D54-933A-CBE1A7B1B2C9}"/>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TO en MO afleiden; tabel invullen.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Tabelstap en punt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 lager dan P verklaren.</a:t>
            </a:r>
          </a:p>
        </p:txBody>
      </p:sp>
      <p:sp>
        <p:nvSpPr>
          <p:cNvPr id="23" name="">
            <a:extLst xmlns:a="http://schemas.openxmlformats.org/drawingml/2006/main">
              <a:ext uri="{FF2B5EF4-FFF2-40B4-BE49-F238E27FC236}">
                <a16:creationId xmlns:a16="http://schemas.microsoft.com/office/drawing/2014/main" id="{35A538D5-FD93-4E4A-A2B9-77E3CA22AD68}"/>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61B196A7-2B5F-4E4A-A229-F5A8FFFF62CF}"/>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413A779-6A7F-4B38-86AE-6D71EFCCB1E2}"/>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29 · Opgaven 21 en 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 verkennen met voorbeeld p. 28</a:t>
            </a:r>
          </a:p>
        </p:txBody>
      </p:sp>
      <p:sp>
        <p:nvSpPr>
          <p:cNvPr id="26" name="">
            <a:extLst xmlns:a="http://schemas.openxmlformats.org/drawingml/2006/main">
              <a:ext uri="{FF2B5EF4-FFF2-40B4-BE49-F238E27FC236}">
                <a16:creationId xmlns:a16="http://schemas.microsoft.com/office/drawing/2014/main" id="{37B4C1B9-52DF-4125-AE26-AB4372518DBE}"/>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1BBF3DB-E63D-456B-BB97-5F30F8291624}"/>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79E8F6A-C0F1-4F1D-82B9-BBAFA56B7FB3}"/>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§4.1.3 · Opgaven 23 t/m 28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23, 24 en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26 en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502465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8 · Pigment Prisma">
            <a:extLst xmlns:a="http://schemas.openxmlformats.org/drawingml/2006/main">
              <a:ext uri="{FF2B5EF4-FFF2-40B4-BE49-F238E27FC236}">
                <a16:creationId xmlns:a16="http://schemas.microsoft.com/office/drawing/2014/main" id="{2EE225C4-6C4F-427B-86ED-A0C244DB9F6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28 · Pigment Prisma</a:t>
            </a:r>
          </a:p>
        </p:txBody>
      </p:sp>
      <p:sp>
        <p:nvSpPr>
          <p:cNvPr id="2" name="">
            <a:extLst xmlns:a="http://schemas.openxmlformats.org/drawingml/2006/main">
              <a:ext uri="{FF2B5EF4-FFF2-40B4-BE49-F238E27FC236}">
                <a16:creationId xmlns:a16="http://schemas.microsoft.com/office/drawing/2014/main" id="{6688FDAA-585B-465D-A0DE-AF08B0AFE70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B2F1F555-FB7F-4AD1-8AA5-5EB246ED944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16">
            <a:extLst xmlns:a="http://schemas.openxmlformats.org/drawingml/2006/main">
              <a:ext uri="{FF2B5EF4-FFF2-40B4-BE49-F238E27FC236}">
                <a16:creationId xmlns:a16="http://schemas.microsoft.com/office/drawing/2014/main" id="{9E14EF03-66C6-4754-96FD-F2FBF62AE87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risma is in dit oefenmodel de enige verkoper van een specif">
            <a:extLst xmlns:a="http://schemas.openxmlformats.org/drawingml/2006/main">
              <a:ext uri="{FF2B5EF4-FFF2-40B4-BE49-F238E27FC236}">
                <a16:creationId xmlns:a16="http://schemas.microsoft.com/office/drawing/2014/main" id="{BCD18385-F69D-4429-96D7-6A04F096E35A}"/>
              </a:ext>
            </a:extLst>
          </p:cNvPr>
          <p:cNvSpPr>
            <a:spLocks xmlns:a="http://schemas.openxmlformats.org/drawingml/2006/main" noGrp="1"/>
          </p:cNvSpPr>
          <p:nvPr/>
        </p:nvSpPr>
        <p:spPr>
          <a:xfrm xmlns:a="http://schemas.openxmlformats.org/drawingml/2006/main">
            <a:off x="571500" y="17716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Prisma is in dit oefenmodel de enige verkoper van een specifiek pigment.</a:t>
            </a:r>
          </a:p>
        </p:txBody>
      </p:sp>
      <p:sp>
        <p:nvSpPr>
          <p:cNvPr id="6" name="P = 30 − 0,50q     0 ≤ q ≤ 60">
            <a:extLst xmlns:a="http://schemas.openxmlformats.org/drawingml/2006/main">
              <a:ext uri="{FF2B5EF4-FFF2-40B4-BE49-F238E27FC236}">
                <a16:creationId xmlns:a16="http://schemas.microsoft.com/office/drawing/2014/main" id="{D81CC434-5C30-48D9-B0A5-012F4E90BBC5}"/>
              </a:ext>
            </a:extLst>
          </p:cNvPr>
          <p:cNvSpPr>
            <a:spLocks xmlns:a="http://schemas.openxmlformats.org/drawingml/2006/main" noGrp="1"/>
          </p:cNvSpPr>
          <p:nvPr/>
        </p:nvSpPr>
        <p:spPr>
          <a:xfrm xmlns:a="http://schemas.openxmlformats.org/drawingml/2006/main">
            <a:off x="571500" y="28479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A5276"/>
                </a:solidFill>
                <a:latin typeface="Arial"/>
                <a:ea typeface="Arial"/>
                <a:cs typeface="Arial"/>
              </a:defRPr>
            </a:pPr>
            <a:r>
              <a:rPr sz="3600" b="1">
                <a:solidFill>
                  <a:srgbClr val="1A5276"/>
                </a:solidFill>
                <a:latin typeface="Arial"/>
                <a:ea typeface="Arial"/>
                <a:cs typeface="Arial"/>
              </a:rPr>
              <a:t>P = 30 − 0,50q     0 ≤ q ≤ 60</a:t>
            </a:r>
          </a:p>
        </p:txBody>
      </p:sp>
      <p:sp>
        <p:nvSpPr>
          <p:cNvPr id="7" name="P is euro per kg; q is kg per week. Alle kg binnen een weekp">
            <a:extLst xmlns:a="http://schemas.openxmlformats.org/drawingml/2006/main">
              <a:ext uri="{FF2B5EF4-FFF2-40B4-BE49-F238E27FC236}">
                <a16:creationId xmlns:a16="http://schemas.microsoft.com/office/drawing/2014/main" id="{60FD25CE-6BCF-45D2-8DD0-9BFE194E59C3}"/>
              </a:ext>
            </a:extLst>
          </p:cNvPr>
          <p:cNvSpPr>
            <a:spLocks xmlns:a="http://schemas.openxmlformats.org/drawingml/2006/main" noGrp="1"/>
          </p:cNvSpPr>
          <p:nvPr/>
        </p:nvSpPr>
        <p:spPr>
          <a:xfrm xmlns:a="http://schemas.openxmlformats.org/drawingml/2006/main">
            <a:off x="571500" y="3752850"/>
            <a:ext cx="14097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is euro per kg; q is kg per week. Alle kg binnen een weekplan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hebben dezelfde prijs. De hoeveelheden kunnen in dit rekenmodel</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ook delen van een kg zijn.</a:t>
            </a:r>
          </a:p>
        </p:txBody>
      </p:sp>
      <p:graphicFrame>
        <p:nvGraphicFramePr>
          <p:cNvPr id="16" name=""/>
          <p:cNvGraphicFramePr/>
          <p:nvPr/>
        </p:nvGraphicFramePr>
        <p:xfrm>
          <a:off xmlns:a="http://schemas.openxmlformats.org/drawingml/2006/main" x="571500" y="5505450"/>
          <a:ext xmlns:a="http://schemas.openxmlformats.org/drawingml/2006/main" cx="14097000" cy="2247900"/>
        </p:xfrm>
        <a:graphic xmlns:a="http://schemas.openxmlformats.org/drawingml/2006/main">
          <a:graphicData uri="http://schemas.openxmlformats.org/drawingml/2006/table">
            <a:tbl>
              <a:tblPr/>
              <a:tblGrid>
                <a:gridCol w="4572000"/>
                <a:gridCol w="4381500"/>
                <a:gridCol w="5143500"/>
              </a:tblGrid>
              <a:tr h="561975">
                <a:tc>
                  <a:txBody>
                    <a:bodyPr lIns="171450" tIns="95250" rIns="152400" bIns="95250"/>
                    <a:lstStyle/>
                    <a:p>
                      <a:r>
                        <a:rPr sz="2325" b="1">
                          <a:solidFill>
                            <a:srgbClr val="FFFFFF"/>
                          </a:solidFill>
                          <a:latin typeface="Arial"/>
                          <a:ea typeface="Arial"/>
                          <a:cs typeface="Arial"/>
                        </a:rPr>
                        <a:t>q (kg per week)</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P (€ per kg)</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TO (€ per week)</a:t>
                      </a:r>
                    </a:p>
                  </a:txBody>
                  <a:tcPr marL="91440" marR="91440" marT="45720" marB="45720" anchor="ctr">
                    <a:solidFill>
                      <a:srgbClr val="183247"/>
                    </a:solidFill>
                  </a:tcPr>
                </a:tc>
              </a:tr>
              <a:tr h="561975">
                <a:tc>
                  <a:txBody>
                    <a:bodyPr lIns="171450" tIns="95250" rIns="152400" bIns="95250"/>
                    <a:lstStyle/>
                    <a:p>
                      <a:r>
                        <a:rPr sz="2325"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a:t>
                      </a:r>
                    </a:p>
                  </a:txBody>
                  <a:tcPr marL="91440" marR="91440" marT="45720" marB="45720" anchor="ctr">
                    <a:solidFill>
                      <a:srgbClr val="FFFFFF"/>
                    </a:solidFill>
                  </a:tcPr>
                </a:tc>
              </a:tr>
              <a:tr h="561975">
                <a:tc>
                  <a:txBody>
                    <a:bodyPr lIns="171450" tIns="95250" rIns="152400" bIns="95250"/>
                    <a:lstStyle/>
                    <a:p>
                      <a:r>
                        <a:rPr sz="2325"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a:t>
                      </a:r>
                    </a:p>
                  </a:txBody>
                  <a:tcPr marL="91440" marR="91440" marT="45720" marB="45720" anchor="ctr">
                    <a:solidFill>
                      <a:srgbClr val="EFF4F7"/>
                    </a:solidFill>
                  </a:tcPr>
                </a:tc>
              </a:tr>
              <a:tr h="561975">
                <a:tc>
                  <a:txBody>
                    <a:bodyPr lIns="171450" tIns="95250" rIns="152400" bIns="95250"/>
                    <a:lstStyle/>
                    <a:p>
                      <a:r>
                        <a:rPr sz="2325" b="0">
                          <a:solidFill>
                            <a:srgbClr val="183247"/>
                          </a:solidFill>
                          <a:latin typeface="Arial"/>
                          <a:ea typeface="Arial"/>
                          <a:cs typeface="Arial"/>
                        </a:rPr>
                        <a:t>30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312753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8 · Vragen a, b en c">
            <a:extLst xmlns:a="http://schemas.openxmlformats.org/drawingml/2006/main">
              <a:ext uri="{FF2B5EF4-FFF2-40B4-BE49-F238E27FC236}">
                <a16:creationId xmlns:a16="http://schemas.microsoft.com/office/drawing/2014/main" id="{8CFE8E97-07D0-4CB5-AA48-B32BC2ECB11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28 · Vragen a, b en c</a:t>
            </a:r>
          </a:p>
        </p:txBody>
      </p:sp>
      <p:sp>
        <p:nvSpPr>
          <p:cNvPr id="2" name="">
            <a:extLst xmlns:a="http://schemas.openxmlformats.org/drawingml/2006/main">
              <a:ext uri="{FF2B5EF4-FFF2-40B4-BE49-F238E27FC236}">
                <a16:creationId xmlns:a16="http://schemas.microsoft.com/office/drawing/2014/main" id="{85AF8704-81A8-49AE-BDBA-2CAE6E3EEF0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A6F88A56-B6ED-4991-B157-38C7329593E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17">
            <a:extLst xmlns:a="http://schemas.openxmlformats.org/drawingml/2006/main">
              <a:ext uri="{FF2B5EF4-FFF2-40B4-BE49-F238E27FC236}">
                <a16:creationId xmlns:a16="http://schemas.microsoft.com/office/drawing/2014/main" id="{E500A434-E58C-4E95-8632-90F59D323C4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Gebruik de bron. Noteer bij ieder bedrag wat het meet.">
            <a:extLst xmlns:a="http://schemas.openxmlformats.org/drawingml/2006/main">
              <a:ext uri="{FF2B5EF4-FFF2-40B4-BE49-F238E27FC236}">
                <a16:creationId xmlns:a16="http://schemas.microsoft.com/office/drawing/2014/main" id="{752167BA-65D4-4191-A94D-6F4F4F44174C}"/>
              </a:ext>
            </a:extLst>
          </p:cNvPr>
          <p:cNvSpPr>
            <a:spLocks xmlns:a="http://schemas.openxmlformats.org/drawingml/2006/main" noGrp="1"/>
          </p:cNvSpPr>
          <p:nvPr/>
        </p:nvSpPr>
        <p:spPr>
          <a:xfrm xmlns:a="http://schemas.openxmlformats.org/drawingml/2006/main">
            <a:off x="571500" y="175260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Gebruik de bron. Noteer bij ieder bedrag wat het meet.</a:t>
            </a:r>
          </a:p>
        </p:txBody>
      </p:sp>
      <p:sp>
        <p:nvSpPr>
          <p:cNvPr id="6" name="a. (2p) Stel uit de vraagfunctie de TO-functie en de MO-func">
            <a:extLst xmlns:a="http://schemas.openxmlformats.org/drawingml/2006/main">
              <a:ext uri="{FF2B5EF4-FFF2-40B4-BE49-F238E27FC236}">
                <a16:creationId xmlns:a16="http://schemas.microsoft.com/office/drawing/2014/main" id="{66A33F74-4D53-482A-8E59-232F14DFF931}"/>
              </a:ext>
            </a:extLst>
          </p:cNvPr>
          <p:cNvSpPr>
            <a:spLocks xmlns:a="http://schemas.openxmlformats.org/drawingml/2006/main" noGrp="1"/>
          </p:cNvSpPr>
          <p:nvPr/>
        </p:nvSpPr>
        <p:spPr>
          <a:xfrm xmlns:a="http://schemas.openxmlformats.org/drawingml/2006/main">
            <a:off x="571500" y="2752725"/>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a. (2p) Stel uit de vraagfunctie de TO-functie en de MO-functie op. Laat de tussenstap met haakjes zien.</a:t>
            </a:r>
          </a:p>
        </p:txBody>
      </p:sp>
      <p:sp>
        <p:nvSpPr>
          <p:cNvPr id="7" name="b. (2p) Neem de tabel over en vul de prijzen en totale opbre">
            <a:extLst xmlns:a="http://schemas.openxmlformats.org/drawingml/2006/main">
              <a:ext uri="{FF2B5EF4-FFF2-40B4-BE49-F238E27FC236}">
                <a16:creationId xmlns:a16="http://schemas.microsoft.com/office/drawing/2014/main" id="{31C95008-0801-4895-BF63-D81215059779}"/>
              </a:ext>
            </a:extLst>
          </p:cNvPr>
          <p:cNvSpPr>
            <a:spLocks xmlns:a="http://schemas.openxmlformats.org/drawingml/2006/main" noGrp="1"/>
          </p:cNvSpPr>
          <p:nvPr/>
        </p:nvSpPr>
        <p:spPr>
          <a:xfrm xmlns:a="http://schemas.openxmlformats.org/drawingml/2006/main">
            <a:off x="571500" y="4343400"/>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 (2p) Neem de tabel over en vul de prijzen en totale opbrengsten in.</a:t>
            </a:r>
          </a:p>
        </p:txBody>
      </p:sp>
      <p:sp>
        <p:nvSpPr>
          <p:cNvPr id="8" name="c. (3p) Bereken met de tabel de gemiddelde extra opbrengst p">
            <a:extLst xmlns:a="http://schemas.openxmlformats.org/drawingml/2006/main">
              <a:ext uri="{FF2B5EF4-FFF2-40B4-BE49-F238E27FC236}">
                <a16:creationId xmlns:a16="http://schemas.microsoft.com/office/drawing/2014/main" id="{051D3ED5-F683-402F-97E2-F9ECB9323991}"/>
              </a:ext>
            </a:extLst>
          </p:cNvPr>
          <p:cNvSpPr>
            <a:spLocks xmlns:a="http://schemas.openxmlformats.org/drawingml/2006/main" noGrp="1"/>
          </p:cNvSpPr>
          <p:nvPr/>
        </p:nvSpPr>
        <p:spPr>
          <a:xfrm xmlns:a="http://schemas.openxmlformats.org/drawingml/2006/main">
            <a:off x="571500" y="5876925"/>
            <a:ext cx="1409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c. (3p) Bereken met de tabel de gemiddelde extra opbrengst per kg van 20 naar 30 kg. Bereken daarnaast MO bij q = 20 en leg uit waarom de uitkomsten verschillen.</a:t>
            </a:r>
          </a:p>
        </p:txBody>
      </p:sp>
    </p:spTree>
    <p:extLst>
      <p:ext uri="{BB962C8B-B14F-4D97-AF65-F5344CB8AC3E}">
        <p14:creationId xmlns:p14="http://schemas.microsoft.com/office/powerpoint/2010/main" val="74006967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8 · Vragen d en e">
            <a:extLst xmlns:a="http://schemas.openxmlformats.org/drawingml/2006/main">
              <a:ext uri="{FF2B5EF4-FFF2-40B4-BE49-F238E27FC236}">
                <a16:creationId xmlns:a16="http://schemas.microsoft.com/office/drawing/2014/main" id="{B351739D-DB6D-4F33-8A96-389AF750E0E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28 · Vragen d en e</a:t>
            </a:r>
          </a:p>
        </p:txBody>
      </p:sp>
      <p:sp>
        <p:nvSpPr>
          <p:cNvPr id="2" name="">
            <a:extLst xmlns:a="http://schemas.openxmlformats.org/drawingml/2006/main">
              <a:ext uri="{FF2B5EF4-FFF2-40B4-BE49-F238E27FC236}">
                <a16:creationId xmlns:a16="http://schemas.microsoft.com/office/drawing/2014/main" id="{2BB4CDAF-5008-4C0D-9A3C-223820199AE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1586DA89-4FB7-43F9-90AA-152202C166F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18">
            <a:extLst xmlns:a="http://schemas.openxmlformats.org/drawingml/2006/main">
              <a:ext uri="{FF2B5EF4-FFF2-40B4-BE49-F238E27FC236}">
                <a16:creationId xmlns:a16="http://schemas.microsoft.com/office/drawing/2014/main" id="{B8FBAE9A-DF60-4DE4-9FD1-27D53CD6184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d. (3p) Bereken voor de stap van 20 naar 30 kg afzonderlijk ">
            <a:extLst xmlns:a="http://schemas.openxmlformats.org/drawingml/2006/main">
              <a:ext uri="{FF2B5EF4-FFF2-40B4-BE49-F238E27FC236}">
                <a16:creationId xmlns:a16="http://schemas.microsoft.com/office/drawing/2014/main" id="{1787510D-B761-42B3-B9D9-EC80A35A07C7}"/>
              </a:ext>
            </a:extLst>
          </p:cNvPr>
          <p:cNvSpPr>
            <a:spLocks xmlns:a="http://schemas.openxmlformats.org/drawingml/2006/main" noGrp="1"/>
          </p:cNvSpPr>
          <p:nvPr/>
        </p:nvSpPr>
        <p:spPr>
          <a:xfrm xmlns:a="http://schemas.openxmlformats.org/drawingml/2006/main">
            <a:off x="571500" y="2143125"/>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 (3p) Bereken voor de stap van 20 naar 30 kg afzonderlijk de opbrengst van de extra kg en de lagere opbrengst op de eerste 20 kg. Controleer de netto omzettoename.</a:t>
            </a:r>
          </a:p>
        </p:txBody>
      </p:sp>
      <p:sp>
        <p:nvSpPr>
          <p:cNvPr id="6" name="e. (2p) Een leerling zegt: “Bij q = 20 is de prijs € 20. Daa">
            <a:extLst xmlns:a="http://schemas.openxmlformats.org/drawingml/2006/main">
              <a:ext uri="{FF2B5EF4-FFF2-40B4-BE49-F238E27FC236}">
                <a16:creationId xmlns:a16="http://schemas.microsoft.com/office/drawing/2014/main" id="{928FC7FE-F382-4AAB-B074-E1C734A4A1AF}"/>
              </a:ext>
            </a:extLst>
          </p:cNvPr>
          <p:cNvSpPr>
            <a:spLocks xmlns:a="http://schemas.openxmlformats.org/drawingml/2006/main" noGrp="1"/>
          </p:cNvSpPr>
          <p:nvPr/>
        </p:nvSpPr>
        <p:spPr>
          <a:xfrm xmlns:a="http://schemas.openxmlformats.org/drawingml/2006/main">
            <a:off x="571500" y="4486275"/>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 (2p) Een leerling zegt: “Bij q = 20 is de prijs € 20. Daarom moet MO ook € 20 zijn.” Beoordeel met je berekening en de uniforme prijs uit de bron.</a:t>
            </a:r>
          </a:p>
        </p:txBody>
      </p:sp>
      <p:sp>
        <p:nvSpPr>
          <p:cNvPr id="7" name="Laat je controle zien: twee berekeningen van dezelfde ΔTO.">
            <a:extLst xmlns:a="http://schemas.openxmlformats.org/drawingml/2006/main">
              <a:ext uri="{FF2B5EF4-FFF2-40B4-BE49-F238E27FC236}">
                <a16:creationId xmlns:a16="http://schemas.microsoft.com/office/drawing/2014/main" id="{DA3C0A32-C543-4036-9311-2D4CB1239517}"/>
              </a:ext>
            </a:extLst>
          </p:cNvPr>
          <p:cNvSpPr>
            <a:spLocks xmlns:a="http://schemas.openxmlformats.org/drawingml/2006/main" noGrp="1"/>
          </p:cNvSpPr>
          <p:nvPr/>
        </p:nvSpPr>
        <p:spPr>
          <a:xfrm xmlns:a="http://schemas.openxmlformats.org/drawingml/2006/main">
            <a:off x="571500" y="71151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Laat je controle zien: twee berekeningen van dezelfde ΔTO.</a:t>
            </a:r>
          </a:p>
        </p:txBody>
      </p:sp>
    </p:spTree>
    <p:extLst>
      <p:ext uri="{BB962C8B-B14F-4D97-AF65-F5344CB8AC3E}">
        <p14:creationId xmlns:p14="http://schemas.microsoft.com/office/powerpoint/2010/main" val="16836179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28a · De totale opbrengst">
            <a:extLst xmlns:a="http://schemas.openxmlformats.org/drawingml/2006/main">
              <a:ext uri="{FF2B5EF4-FFF2-40B4-BE49-F238E27FC236}">
                <a16:creationId xmlns:a16="http://schemas.microsoft.com/office/drawing/2014/main" id="{B4ADED12-DEC0-4DE6-89F8-420C997D546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28a · De totale opbrengst</a:t>
            </a:r>
          </a:p>
        </p:txBody>
      </p:sp>
      <p:sp>
        <p:nvSpPr>
          <p:cNvPr id="2" name="">
            <a:extLst xmlns:a="http://schemas.openxmlformats.org/drawingml/2006/main">
              <a:ext uri="{FF2B5EF4-FFF2-40B4-BE49-F238E27FC236}">
                <a16:creationId xmlns:a16="http://schemas.microsoft.com/office/drawing/2014/main" id="{4FE8DB95-390C-4BC7-AA1A-6DF70E5575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4CBE670F-3BAD-4E0C-8EDB-0A1B9C8075A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19">
            <a:extLst xmlns:a="http://schemas.openxmlformats.org/drawingml/2006/main">
              <a:ext uri="{FF2B5EF4-FFF2-40B4-BE49-F238E27FC236}">
                <a16:creationId xmlns:a16="http://schemas.microsoft.com/office/drawing/2014/main" id="{4FE46787-067D-4E9A-AEEC-926D0C3A87E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P = 30 − 0,50q">
            <a:extLst xmlns:a="http://schemas.openxmlformats.org/drawingml/2006/main">
              <a:ext uri="{FF2B5EF4-FFF2-40B4-BE49-F238E27FC236}">
                <a16:creationId xmlns:a16="http://schemas.microsoft.com/office/drawing/2014/main" id="{3A054A6C-A69F-4F42-B630-BFBE24B376BD}"/>
              </a:ext>
            </a:extLst>
          </p:cNvPr>
          <p:cNvSpPr>
            <a:spLocks xmlns:a="http://schemas.openxmlformats.org/drawingml/2006/main" noGrp="1"/>
          </p:cNvSpPr>
          <p:nvPr/>
        </p:nvSpPr>
        <p:spPr>
          <a:xfrm xmlns:a="http://schemas.openxmlformats.org/drawingml/2006/main">
            <a:off x="571500" y="194310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83247"/>
                </a:solidFill>
                <a:latin typeface="Arial"/>
                <a:ea typeface="Arial"/>
                <a:cs typeface="Arial"/>
              </a:defRPr>
            </a:pPr>
            <a:r>
              <a:rPr sz="3750" b="0">
                <a:solidFill>
                  <a:srgbClr val="183247"/>
                </a:solidFill>
                <a:latin typeface="Arial"/>
                <a:ea typeface="Arial"/>
                <a:cs typeface="Arial"/>
              </a:rPr>
              <a:t>P = 30 − 0,50q</a:t>
            </a:r>
          </a:p>
        </p:txBody>
      </p:sp>
      <p:sp>
        <p:nvSpPr>
          <p:cNvPr id="6" name="TO = P × q">
            <a:extLst xmlns:a="http://schemas.openxmlformats.org/drawingml/2006/main">
              <a:ext uri="{FF2B5EF4-FFF2-40B4-BE49-F238E27FC236}">
                <a16:creationId xmlns:a16="http://schemas.microsoft.com/office/drawing/2014/main" id="{F2BA8AA8-ABAC-43FD-8731-363707944A56}"/>
              </a:ext>
            </a:extLst>
          </p:cNvPr>
          <p:cNvSpPr>
            <a:spLocks xmlns:a="http://schemas.openxmlformats.org/drawingml/2006/main" noGrp="1"/>
          </p:cNvSpPr>
          <p:nvPr/>
        </p:nvSpPr>
        <p:spPr>
          <a:xfrm xmlns:a="http://schemas.openxmlformats.org/drawingml/2006/main">
            <a:off x="571500" y="32099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83247"/>
                </a:solidFill>
                <a:latin typeface="Arial"/>
                <a:ea typeface="Arial"/>
                <a:cs typeface="Arial"/>
              </a:defRPr>
            </a:pPr>
            <a:r>
              <a:rPr sz="3750" b="0">
                <a:solidFill>
                  <a:srgbClr val="183247"/>
                </a:solidFill>
                <a:latin typeface="Arial"/>
                <a:ea typeface="Arial"/>
                <a:cs typeface="Arial"/>
              </a:rPr>
              <a:t>TO = P × q</a:t>
            </a:r>
          </a:p>
        </p:txBody>
      </p:sp>
      <p:sp>
        <p:nvSpPr>
          <p:cNvPr id="7" name="TO = (30 − 0,50q) × q">
            <a:extLst xmlns:a="http://schemas.openxmlformats.org/drawingml/2006/main">
              <a:ext uri="{FF2B5EF4-FFF2-40B4-BE49-F238E27FC236}">
                <a16:creationId xmlns:a16="http://schemas.microsoft.com/office/drawing/2014/main" id="{D7708FE5-0A77-4014-85DB-5D6FE6E422F0}"/>
              </a:ext>
            </a:extLst>
          </p:cNvPr>
          <p:cNvSpPr>
            <a:spLocks xmlns:a="http://schemas.openxmlformats.org/drawingml/2006/main" noGrp="1"/>
          </p:cNvSpPr>
          <p:nvPr/>
        </p:nvSpPr>
        <p:spPr>
          <a:xfrm xmlns:a="http://schemas.openxmlformats.org/drawingml/2006/main">
            <a:off x="571500" y="447675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83247"/>
                </a:solidFill>
                <a:latin typeface="Arial"/>
                <a:ea typeface="Arial"/>
                <a:cs typeface="Arial"/>
              </a:defRPr>
            </a:pPr>
            <a:r>
              <a:rPr sz="3750" b="0">
                <a:solidFill>
                  <a:srgbClr val="183247"/>
                </a:solidFill>
                <a:latin typeface="Arial"/>
                <a:ea typeface="Arial"/>
                <a:cs typeface="Arial"/>
              </a:rPr>
              <a:t>TO = (30 − 0,50q) × q</a:t>
            </a:r>
          </a:p>
        </p:txBody>
      </p:sp>
      <p:sp>
        <p:nvSpPr>
          <p:cNvPr id="8" name="TO = 30q − 0,50q²">
            <a:extLst xmlns:a="http://schemas.openxmlformats.org/drawingml/2006/main">
              <a:ext uri="{FF2B5EF4-FFF2-40B4-BE49-F238E27FC236}">
                <a16:creationId xmlns:a16="http://schemas.microsoft.com/office/drawing/2014/main" id="{F4B3947F-F5C6-4DEC-9246-0C6D0C5D1B00}"/>
              </a:ext>
            </a:extLst>
          </p:cNvPr>
          <p:cNvSpPr>
            <a:spLocks xmlns:a="http://schemas.openxmlformats.org/drawingml/2006/main" noGrp="1"/>
          </p:cNvSpPr>
          <p:nvPr/>
        </p:nvSpPr>
        <p:spPr>
          <a:xfrm xmlns:a="http://schemas.openxmlformats.org/drawingml/2006/main">
            <a:off x="571500" y="574357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7B2D8E"/>
                </a:solidFill>
                <a:latin typeface="Arial"/>
                <a:ea typeface="Arial"/>
                <a:cs typeface="Arial"/>
              </a:defRPr>
            </a:pPr>
            <a:r>
              <a:rPr sz="3750" b="1">
                <a:solidFill>
                  <a:srgbClr val="7B2D8E"/>
                </a:solidFill>
                <a:latin typeface="Arial"/>
                <a:ea typeface="Arial"/>
                <a:cs typeface="Arial"/>
              </a:rPr>
              <a:t>TO = 30q − 0,50q²</a:t>
            </a:r>
          </a:p>
        </p:txBody>
      </p:sp>
      <p:sp>
        <p:nvSpPr>
          <p:cNvPr id="9" name="q: kg per week · TO: € per week">
            <a:extLst xmlns:a="http://schemas.openxmlformats.org/drawingml/2006/main">
              <a:ext uri="{FF2B5EF4-FFF2-40B4-BE49-F238E27FC236}">
                <a16:creationId xmlns:a16="http://schemas.microsoft.com/office/drawing/2014/main" id="{07A799A9-4931-4666-988F-A18CB977828A}"/>
              </a:ext>
            </a:extLst>
          </p:cNvPr>
          <p:cNvSpPr>
            <a:spLocks xmlns:a="http://schemas.openxmlformats.org/drawingml/2006/main" noGrp="1"/>
          </p:cNvSpPr>
          <p:nvPr/>
        </p:nvSpPr>
        <p:spPr>
          <a:xfrm xmlns:a="http://schemas.openxmlformats.org/drawingml/2006/main">
            <a:off x="571500" y="73914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kg per week · TO: € per week</a:t>
            </a:r>
          </a:p>
        </p:txBody>
      </p:sp>
    </p:spTree>
    <p:extLst>
      <p:ext uri="{BB962C8B-B14F-4D97-AF65-F5344CB8AC3E}">
        <p14:creationId xmlns:p14="http://schemas.microsoft.com/office/powerpoint/2010/main" val="208412631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28a · De marginale opbrengst">
            <a:extLst xmlns:a="http://schemas.openxmlformats.org/drawingml/2006/main">
              <a:ext uri="{FF2B5EF4-FFF2-40B4-BE49-F238E27FC236}">
                <a16:creationId xmlns:a16="http://schemas.microsoft.com/office/drawing/2014/main" id="{53BAE230-22DE-49B6-82EF-B58C4C1FD32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28a · De marginale opbrengst</a:t>
            </a:r>
          </a:p>
        </p:txBody>
      </p:sp>
      <p:sp>
        <p:nvSpPr>
          <p:cNvPr id="2" name="">
            <a:extLst xmlns:a="http://schemas.openxmlformats.org/drawingml/2006/main">
              <a:ext uri="{FF2B5EF4-FFF2-40B4-BE49-F238E27FC236}">
                <a16:creationId xmlns:a16="http://schemas.microsoft.com/office/drawing/2014/main" id="{9870B3CB-2B98-4264-AA67-F94EAACEBC3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6223263E-5D3C-403E-BF95-7ADBE48E026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20">
            <a:extLst xmlns:a="http://schemas.openxmlformats.org/drawingml/2006/main">
              <a:ext uri="{FF2B5EF4-FFF2-40B4-BE49-F238E27FC236}">
                <a16:creationId xmlns:a16="http://schemas.microsoft.com/office/drawing/2014/main" id="{87707454-61CE-4132-832B-197C6DE7956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2" name=""/>
          <p:cNvGraphicFramePr/>
          <p:nvPr/>
        </p:nvGraphicFramePr>
        <p:xfrm>
          <a:off xmlns:a="http://schemas.openxmlformats.org/drawingml/2006/main" x="571500" y="2190750"/>
          <a:ext xmlns:a="http://schemas.openxmlformats.org/drawingml/2006/main" cx="14097000" cy="3143250"/>
        </p:xfrm>
        <a:graphic xmlns:a="http://schemas.openxmlformats.org/drawingml/2006/main">
          <a:graphicData uri="http://schemas.openxmlformats.org/drawingml/2006/table">
            <a:tbl>
              <a:tblPr/>
              <a:tblGrid>
                <a:gridCol w="8001000"/>
                <a:gridCol w="6096000"/>
              </a:tblGrid>
              <a:tr h="1047750">
                <a:tc>
                  <a:txBody>
                    <a:bodyPr lIns="171450" tIns="95250" rIns="152400" bIns="95250"/>
                    <a:lstStyle/>
                    <a:p>
                      <a:r>
                        <a:rPr sz="3150" b="1">
                          <a:solidFill>
                            <a:srgbClr val="FFFFFF"/>
                          </a:solidFill>
                          <a:latin typeface="Arial"/>
                          <a:ea typeface="Arial"/>
                          <a:cs typeface="Arial"/>
                        </a:rPr>
                        <a:t>Term in TO</a:t>
                      </a:r>
                    </a:p>
                  </a:txBody>
                  <a:tcPr marL="91440" marR="91440" marT="45720" marB="45720" anchor="ctr">
                    <a:solidFill>
                      <a:srgbClr val="183247"/>
                    </a:solidFill>
                  </a:tcPr>
                </a:tc>
                <a:tc>
                  <a:txBody>
                    <a:bodyPr lIns="171450" tIns="95250" rIns="152400" bIns="95250"/>
                    <a:lstStyle/>
                    <a:p>
                      <a:r>
                        <a:rPr sz="3150" b="1">
                          <a:solidFill>
                            <a:srgbClr val="FFFFFF"/>
                          </a:solidFill>
                          <a:latin typeface="Arial"/>
                          <a:ea typeface="Arial"/>
                          <a:cs typeface="Arial"/>
                        </a:rPr>
                        <a:t>Afgeleide</a:t>
                      </a:r>
                    </a:p>
                  </a:txBody>
                  <a:tcPr marL="91440" marR="91440" marT="45720" marB="45720" anchor="ctr">
                    <a:solidFill>
                      <a:srgbClr val="183247"/>
                    </a:solidFill>
                  </a:tcPr>
                </a:tc>
              </a:tr>
              <a:tr h="1047750">
                <a:tc>
                  <a:txBody>
                    <a:bodyPr lIns="171450" tIns="95250" rIns="152400" bIns="95250"/>
                    <a:lstStyle/>
                    <a:p>
                      <a:r>
                        <a:rPr sz="3150" b="0">
                          <a:solidFill>
                            <a:srgbClr val="183247"/>
                          </a:solidFill>
                          <a:latin typeface="Arial"/>
                          <a:ea typeface="Arial"/>
                          <a:cs typeface="Arial"/>
                        </a:rPr>
                        <a:t>30q</a:t>
                      </a:r>
                    </a:p>
                  </a:txBody>
                  <a:tcPr marL="91440" marR="91440" marT="45720" marB="45720" anchor="ctr">
                    <a:solidFill>
                      <a:srgbClr val="FFFFFF"/>
                    </a:solidFill>
                  </a:tcPr>
                </a:tc>
                <a:tc>
                  <a:txBody>
                    <a:bodyPr lIns="171450" tIns="95250" rIns="152400" bIns="95250"/>
                    <a:lstStyle/>
                    <a:p>
                      <a:r>
                        <a:rPr sz="3150" b="0">
                          <a:solidFill>
                            <a:srgbClr val="183247"/>
                          </a:solidFill>
                          <a:latin typeface="Arial"/>
                          <a:ea typeface="Arial"/>
                          <a:cs typeface="Arial"/>
                        </a:rPr>
                        <a:t>30</a:t>
                      </a:r>
                    </a:p>
                  </a:txBody>
                  <a:tcPr marL="91440" marR="91440" marT="45720" marB="45720" anchor="ctr">
                    <a:solidFill>
                      <a:srgbClr val="FFFFFF"/>
                    </a:solidFill>
                  </a:tcPr>
                </a:tc>
              </a:tr>
              <a:tr h="1047750">
                <a:tc>
                  <a:txBody>
                    <a:bodyPr lIns="171450" tIns="95250" rIns="152400" bIns="95250"/>
                    <a:lstStyle/>
                    <a:p>
                      <a:r>
                        <a:rPr sz="3150" b="0">
                          <a:solidFill>
                            <a:srgbClr val="183247"/>
                          </a:solidFill>
                          <a:latin typeface="Arial"/>
                          <a:ea typeface="Arial"/>
                          <a:cs typeface="Arial"/>
                        </a:rPr>
                        <a:t>−0,50q²</a:t>
                      </a:r>
                    </a:p>
                  </a:txBody>
                  <a:tcPr marL="91440" marR="91440" marT="45720" marB="45720" anchor="ctr">
                    <a:solidFill>
                      <a:srgbClr val="EFF4F7"/>
                    </a:solidFill>
                  </a:tcPr>
                </a:tc>
                <a:tc>
                  <a:txBody>
                    <a:bodyPr lIns="171450" tIns="95250" rIns="152400" bIns="95250"/>
                    <a:lstStyle/>
                    <a:p>
                      <a:r>
                        <a:rPr sz="3150" b="0">
                          <a:solidFill>
                            <a:srgbClr val="183247"/>
                          </a:solidFill>
                          <a:latin typeface="Arial"/>
                          <a:ea typeface="Arial"/>
                          <a:cs typeface="Arial"/>
                        </a:rPr>
                        <a:t>−1,00q</a:t>
                      </a:r>
                    </a:p>
                  </a:txBody>
                  <a:tcPr marL="91440" marR="91440" marT="45720" marB="45720" anchor="ctr">
                    <a:solidFill>
                      <a:srgbClr val="EFF4F7"/>
                    </a:solidFill>
                  </a:tcPr>
                </a:tc>
              </a:tr>
            </a:tbl>
          </a:graphicData>
        </a:graphic>
      </p:graphicFrame>
      <p:sp>
        <p:nvSpPr>
          <p:cNvPr id="6" name="MO = 30 − q">
            <a:extLst xmlns:a="http://schemas.openxmlformats.org/drawingml/2006/main">
              <a:ext uri="{FF2B5EF4-FFF2-40B4-BE49-F238E27FC236}">
                <a16:creationId xmlns:a16="http://schemas.microsoft.com/office/drawing/2014/main" id="{E033E4E6-BE3D-4D99-ACC8-340768E0A8BE}"/>
              </a:ext>
            </a:extLst>
          </p:cNvPr>
          <p:cNvSpPr>
            <a:spLocks xmlns:a="http://schemas.openxmlformats.org/drawingml/2006/main" noGrp="1"/>
          </p:cNvSpPr>
          <p:nvPr/>
        </p:nvSpPr>
        <p:spPr>
          <a:xfrm xmlns:a="http://schemas.openxmlformats.org/drawingml/2006/main">
            <a:off x="571500" y="5953125"/>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B2D8E"/>
                </a:solidFill>
                <a:latin typeface="Arial"/>
                <a:ea typeface="Arial"/>
                <a:cs typeface="Arial"/>
              </a:defRPr>
            </a:pPr>
            <a:r>
              <a:rPr sz="4425" b="1">
                <a:solidFill>
                  <a:srgbClr val="7B2D8E"/>
                </a:solidFill>
                <a:latin typeface="Arial"/>
                <a:ea typeface="Arial"/>
                <a:cs typeface="Arial"/>
              </a:rPr>
              <a:t>MO = 30 − q</a:t>
            </a:r>
          </a:p>
        </p:txBody>
      </p:sp>
      <p:sp>
        <p:nvSpPr>
          <p:cNvPr id="7" name="MO: € per kg bij een heel kleine uitbreiding rond q">
            <a:extLst xmlns:a="http://schemas.openxmlformats.org/drawingml/2006/main">
              <a:ext uri="{FF2B5EF4-FFF2-40B4-BE49-F238E27FC236}">
                <a16:creationId xmlns:a16="http://schemas.microsoft.com/office/drawing/2014/main" id="{A41344B9-7DAE-4B2A-8368-A0174C16F8FE}"/>
              </a:ext>
            </a:extLst>
          </p:cNvPr>
          <p:cNvSpPr>
            <a:spLocks xmlns:a="http://schemas.openxmlformats.org/drawingml/2006/main" noGrp="1"/>
          </p:cNvSpPr>
          <p:nvPr/>
        </p:nvSpPr>
        <p:spPr>
          <a:xfrm xmlns:a="http://schemas.openxmlformats.org/drawingml/2006/main">
            <a:off x="571500" y="7372350"/>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MO: € per kg bij een heel kleine uitbreiding rond q</a:t>
            </a:r>
          </a:p>
        </p:txBody>
      </p:sp>
    </p:spTree>
    <p:extLst>
      <p:ext uri="{BB962C8B-B14F-4D97-AF65-F5344CB8AC3E}">
        <p14:creationId xmlns:p14="http://schemas.microsoft.com/office/powerpoint/2010/main" val="155281242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28b · De opbrengsttabel">
            <a:extLst xmlns:a="http://schemas.openxmlformats.org/drawingml/2006/main">
              <a:ext uri="{FF2B5EF4-FFF2-40B4-BE49-F238E27FC236}">
                <a16:creationId xmlns:a16="http://schemas.microsoft.com/office/drawing/2014/main" id="{EAB1E919-394C-4EFD-9DC6-4D8876A5DFC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28b · De opbrengsttabel</a:t>
            </a:r>
          </a:p>
        </p:txBody>
      </p:sp>
      <p:sp>
        <p:nvSpPr>
          <p:cNvPr id="2" name="">
            <a:extLst xmlns:a="http://schemas.openxmlformats.org/drawingml/2006/main">
              <a:ext uri="{FF2B5EF4-FFF2-40B4-BE49-F238E27FC236}">
                <a16:creationId xmlns:a16="http://schemas.microsoft.com/office/drawing/2014/main" id="{A6708624-CDC5-486C-BFB7-EE58162688B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F5ACAA8A-54C9-4A86-AC21-AC03024FA52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21">
            <a:extLst xmlns:a="http://schemas.openxmlformats.org/drawingml/2006/main">
              <a:ext uri="{FF2B5EF4-FFF2-40B4-BE49-F238E27FC236}">
                <a16:creationId xmlns:a16="http://schemas.microsoft.com/office/drawing/2014/main" id="{707C7C95-338C-4844-9132-540DE0D67C8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2" name=""/>
          <p:cNvGraphicFramePr/>
          <p:nvPr/>
        </p:nvGraphicFramePr>
        <p:xfrm>
          <a:off xmlns:a="http://schemas.openxmlformats.org/drawingml/2006/main" x="571500" y="2171700"/>
          <a:ext xmlns:a="http://schemas.openxmlformats.org/drawingml/2006/main" cx="14097000" cy="3600450"/>
        </p:xfrm>
        <a:graphic xmlns:a="http://schemas.openxmlformats.org/drawingml/2006/main">
          <a:graphicData uri="http://schemas.openxmlformats.org/drawingml/2006/table">
            <a:tbl>
              <a:tblPr/>
              <a:tblGrid>
                <a:gridCol w="4572000"/>
                <a:gridCol w="4381500"/>
                <a:gridCol w="5143500"/>
              </a:tblGrid>
              <a:tr h="900113">
                <a:tc>
                  <a:txBody>
                    <a:bodyPr lIns="171450" tIns="95250" rIns="152400" bIns="95250"/>
                    <a:lstStyle/>
                    <a:p>
                      <a:r>
                        <a:rPr sz="2775" b="1">
                          <a:solidFill>
                            <a:srgbClr val="FFFFFF"/>
                          </a:solidFill>
                          <a:latin typeface="Arial"/>
                          <a:ea typeface="Arial"/>
                          <a:cs typeface="Arial"/>
                        </a:rPr>
                        <a:t>q (kg per week)</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P (€ per kg)</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TO (€ per week)</a:t>
                      </a:r>
                    </a:p>
                  </a:txBody>
                  <a:tcPr marL="91440" marR="91440" marT="45720" marB="45720" anchor="ctr">
                    <a:solidFill>
                      <a:srgbClr val="183247"/>
                    </a:solidFill>
                  </a:tcPr>
                </a:tc>
              </a:tr>
              <a:tr h="900113">
                <a:tc>
                  <a:txBody>
                    <a:bodyPr lIns="171450" tIns="95250" rIns="152400" bIns="95250"/>
                    <a:lstStyle/>
                    <a:p>
                      <a:r>
                        <a:rPr sz="2775"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25</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250</a:t>
                      </a:r>
                    </a:p>
                  </a:txBody>
                  <a:tcPr marL="91440" marR="91440" marT="45720" marB="45720" anchor="ctr">
                    <a:solidFill>
                      <a:srgbClr val="FFFFFF"/>
                    </a:solidFill>
                  </a:tcPr>
                </a:tc>
              </a:tr>
              <a:tr h="900113">
                <a:tc>
                  <a:txBody>
                    <a:bodyPr lIns="171450" tIns="95250" rIns="152400" bIns="95250"/>
                    <a:lstStyle/>
                    <a:p>
                      <a:r>
                        <a:rPr sz="2775"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400</a:t>
                      </a:r>
                    </a:p>
                  </a:txBody>
                  <a:tcPr marL="91440" marR="91440" marT="45720" marB="45720" anchor="ctr">
                    <a:solidFill>
                      <a:srgbClr val="EFF4F7"/>
                    </a:solidFill>
                  </a:tcPr>
                </a:tc>
              </a:tr>
              <a:tr h="900113">
                <a:tc>
                  <a:txBody>
                    <a:bodyPr lIns="171450" tIns="95250" rIns="152400" bIns="95250"/>
                    <a:lstStyle/>
                    <a:p>
                      <a:r>
                        <a:rPr sz="2775" b="0">
                          <a:solidFill>
                            <a:srgbClr val="183247"/>
                          </a:solidFill>
                          <a:latin typeface="Arial"/>
                          <a:ea typeface="Arial"/>
                          <a:cs typeface="Arial"/>
                        </a:rPr>
                        <a:t>30</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15</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450</a:t>
                      </a:r>
                    </a:p>
                  </a:txBody>
                  <a:tcPr marL="91440" marR="91440" marT="45720" marB="45720" anchor="ctr">
                    <a:solidFill>
                      <a:srgbClr val="FFFFFF"/>
                    </a:solidFill>
                  </a:tcPr>
                </a:tc>
              </a:tr>
            </a:tbl>
          </a:graphicData>
        </a:graphic>
      </p:graphicFrame>
      <p:sp>
        <p:nvSpPr>
          <p:cNvPr id="6" name="Bij q = 20: P = 30 − 0,50 × 20 = € 20 per kg">
            <a:extLst xmlns:a="http://schemas.openxmlformats.org/drawingml/2006/main">
              <a:ext uri="{FF2B5EF4-FFF2-40B4-BE49-F238E27FC236}">
                <a16:creationId xmlns:a16="http://schemas.microsoft.com/office/drawing/2014/main" id="{BBD55012-5C57-4920-A188-B017F6A879B4}"/>
              </a:ext>
            </a:extLst>
          </p:cNvPr>
          <p:cNvSpPr>
            <a:spLocks xmlns:a="http://schemas.openxmlformats.org/drawingml/2006/main" noGrp="1"/>
          </p:cNvSpPr>
          <p:nvPr/>
        </p:nvSpPr>
        <p:spPr>
          <a:xfrm xmlns:a="http://schemas.openxmlformats.org/drawingml/2006/main">
            <a:off x="571500" y="63055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Bij q = 20: P = 30 − 0,50 × 20 = € 20 per kg</a:t>
            </a:r>
          </a:p>
        </p:txBody>
      </p:sp>
      <p:sp>
        <p:nvSpPr>
          <p:cNvPr id="7" name="TO = 20 × 20 = € 400 per week">
            <a:extLst xmlns:a="http://schemas.openxmlformats.org/drawingml/2006/main">
              <a:ext uri="{FF2B5EF4-FFF2-40B4-BE49-F238E27FC236}">
                <a16:creationId xmlns:a16="http://schemas.microsoft.com/office/drawing/2014/main" id="{80EA8CCF-BD62-4B40-87EE-CF274A3AD56F}"/>
              </a:ext>
            </a:extLst>
          </p:cNvPr>
          <p:cNvSpPr>
            <a:spLocks xmlns:a="http://schemas.openxmlformats.org/drawingml/2006/main" noGrp="1"/>
          </p:cNvSpPr>
          <p:nvPr/>
        </p:nvSpPr>
        <p:spPr>
          <a:xfrm xmlns:a="http://schemas.openxmlformats.org/drawingml/2006/main">
            <a:off x="571500" y="71818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7B2D8E"/>
                </a:solidFill>
                <a:latin typeface="Arial"/>
                <a:ea typeface="Arial"/>
                <a:cs typeface="Arial"/>
              </a:defRPr>
            </a:pPr>
            <a:r>
              <a:rPr sz="3150" b="1">
                <a:solidFill>
                  <a:srgbClr val="7B2D8E"/>
                </a:solidFill>
                <a:latin typeface="Arial"/>
                <a:ea typeface="Arial"/>
                <a:cs typeface="Arial"/>
              </a:rPr>
              <a:t>TO = 20 × 20 = € 400 per week</a:t>
            </a:r>
          </a:p>
        </p:txBody>
      </p:sp>
    </p:spTree>
    <p:extLst>
      <p:ext uri="{BB962C8B-B14F-4D97-AF65-F5344CB8AC3E}">
        <p14:creationId xmlns:p14="http://schemas.microsoft.com/office/powerpoint/2010/main" val="925525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28c · Gemiddelde over 20 tot 30 kg">
            <a:extLst xmlns:a="http://schemas.openxmlformats.org/drawingml/2006/main">
              <a:ext uri="{FF2B5EF4-FFF2-40B4-BE49-F238E27FC236}">
                <a16:creationId xmlns:a16="http://schemas.microsoft.com/office/drawing/2014/main" id="{7985C6FC-A2D3-47B8-8D19-EA51B2E9D3A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28c · Gemiddelde over 20 tot 30 kg</a:t>
            </a:r>
          </a:p>
        </p:txBody>
      </p:sp>
      <p:sp>
        <p:nvSpPr>
          <p:cNvPr id="2" name="">
            <a:extLst xmlns:a="http://schemas.openxmlformats.org/drawingml/2006/main">
              <a:ext uri="{FF2B5EF4-FFF2-40B4-BE49-F238E27FC236}">
                <a16:creationId xmlns:a16="http://schemas.microsoft.com/office/drawing/2014/main" id="{A9BD849E-B457-4306-86A9-5D56FF5943F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A54AF086-0303-4C1E-BF0B-415455622ED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22">
            <a:extLst xmlns:a="http://schemas.openxmlformats.org/drawingml/2006/main">
              <a:ext uri="{FF2B5EF4-FFF2-40B4-BE49-F238E27FC236}">
                <a16:creationId xmlns:a16="http://schemas.microsoft.com/office/drawing/2014/main" id="{8ECEAC5E-802D-493B-99DE-49884785B25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ΔTO = 450 − 400 = € 50 per week">
            <a:extLst xmlns:a="http://schemas.openxmlformats.org/drawingml/2006/main">
              <a:ext uri="{FF2B5EF4-FFF2-40B4-BE49-F238E27FC236}">
                <a16:creationId xmlns:a16="http://schemas.microsoft.com/office/drawing/2014/main" id="{0EDAEF29-1986-4B27-BFC5-C03ADB33AEE3}"/>
              </a:ext>
            </a:extLst>
          </p:cNvPr>
          <p:cNvSpPr>
            <a:spLocks xmlns:a="http://schemas.openxmlformats.org/drawingml/2006/main" noGrp="1"/>
          </p:cNvSpPr>
          <p:nvPr/>
        </p:nvSpPr>
        <p:spPr>
          <a:xfrm xmlns:a="http://schemas.openxmlformats.org/drawingml/2006/main">
            <a:off x="571500" y="21812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ΔTO = 450 − 400 = € 50 per week</a:t>
            </a:r>
          </a:p>
        </p:txBody>
      </p:sp>
      <p:sp>
        <p:nvSpPr>
          <p:cNvPr id="6" name="Δq = 30 − 20 = 10 kg per week">
            <a:extLst xmlns:a="http://schemas.openxmlformats.org/drawingml/2006/main">
              <a:ext uri="{FF2B5EF4-FFF2-40B4-BE49-F238E27FC236}">
                <a16:creationId xmlns:a16="http://schemas.microsoft.com/office/drawing/2014/main" id="{68472BEC-11CC-43FD-B4BC-2EBADDD29668}"/>
              </a:ext>
            </a:extLst>
          </p:cNvPr>
          <p:cNvSpPr>
            <a:spLocks xmlns:a="http://schemas.openxmlformats.org/drawingml/2006/main" noGrp="1"/>
          </p:cNvSpPr>
          <p:nvPr/>
        </p:nvSpPr>
        <p:spPr>
          <a:xfrm xmlns:a="http://schemas.openxmlformats.org/drawingml/2006/main">
            <a:off x="571500" y="386715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Δq = 30 − 20 = 10 kg per week</a:t>
            </a:r>
          </a:p>
        </p:txBody>
      </p:sp>
      <p:sp>
        <p:nvSpPr>
          <p:cNvPr id="7" name="ΔTO / Δq = 50 / 10 = € 5 per kg">
            <a:extLst xmlns:a="http://schemas.openxmlformats.org/drawingml/2006/main">
              <a:ext uri="{FF2B5EF4-FFF2-40B4-BE49-F238E27FC236}">
                <a16:creationId xmlns:a16="http://schemas.microsoft.com/office/drawing/2014/main" id="{B163FF5F-79F8-448C-83D9-6FFCFDD141A6}"/>
              </a:ext>
            </a:extLst>
          </p:cNvPr>
          <p:cNvSpPr>
            <a:spLocks xmlns:a="http://schemas.openxmlformats.org/drawingml/2006/main" noGrp="1"/>
          </p:cNvSpPr>
          <p:nvPr/>
        </p:nvSpPr>
        <p:spPr>
          <a:xfrm xmlns:a="http://schemas.openxmlformats.org/drawingml/2006/main">
            <a:off x="571500" y="555307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7B2D8E"/>
                </a:solidFill>
                <a:latin typeface="Arial"/>
                <a:ea typeface="Arial"/>
                <a:cs typeface="Arial"/>
              </a:defRPr>
            </a:pPr>
            <a:r>
              <a:rPr sz="3600" b="1">
                <a:solidFill>
                  <a:srgbClr val="7B2D8E"/>
                </a:solidFill>
                <a:latin typeface="Arial"/>
                <a:ea typeface="Arial"/>
                <a:cs typeface="Arial"/>
              </a:rPr>
              <a:t>ΔTO / Δq = 50 / 10 = € 5 per kg</a:t>
            </a:r>
          </a:p>
        </p:txBody>
      </p:sp>
      <p:sp>
        <p:nvSpPr>
          <p:cNvPr id="8" name="Dit gemiddelde hoort bij de hele tabelstap.">
            <a:extLst xmlns:a="http://schemas.openxmlformats.org/drawingml/2006/main">
              <a:ext uri="{FF2B5EF4-FFF2-40B4-BE49-F238E27FC236}">
                <a16:creationId xmlns:a16="http://schemas.microsoft.com/office/drawing/2014/main" id="{95CE9195-A57E-4806-874C-BFAFFA2CE924}"/>
              </a:ext>
            </a:extLst>
          </p:cNvPr>
          <p:cNvSpPr>
            <a:spLocks xmlns:a="http://schemas.openxmlformats.org/drawingml/2006/main" noGrp="1"/>
          </p:cNvSpPr>
          <p:nvPr/>
        </p:nvSpPr>
        <p:spPr>
          <a:xfrm xmlns:a="http://schemas.openxmlformats.org/drawingml/2006/main">
            <a:off x="571500" y="72675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Dit gemiddelde hoort bij de hele tabelstap.</a:t>
            </a:r>
          </a:p>
        </p:txBody>
      </p:sp>
    </p:spTree>
    <p:extLst>
      <p:ext uri="{BB962C8B-B14F-4D97-AF65-F5344CB8AC3E}">
        <p14:creationId xmlns:p14="http://schemas.microsoft.com/office/powerpoint/2010/main" val="29751489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28c · MO bij het beginpunt">
            <a:extLst xmlns:a="http://schemas.openxmlformats.org/drawingml/2006/main">
              <a:ext uri="{FF2B5EF4-FFF2-40B4-BE49-F238E27FC236}">
                <a16:creationId xmlns:a16="http://schemas.microsoft.com/office/drawing/2014/main" id="{4DD0823B-C77A-4167-A169-BD932301800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28c · MO bij het beginpunt</a:t>
            </a:r>
          </a:p>
        </p:txBody>
      </p:sp>
      <p:sp>
        <p:nvSpPr>
          <p:cNvPr id="2" name="">
            <a:extLst xmlns:a="http://schemas.openxmlformats.org/drawingml/2006/main">
              <a:ext uri="{FF2B5EF4-FFF2-40B4-BE49-F238E27FC236}">
                <a16:creationId xmlns:a16="http://schemas.microsoft.com/office/drawing/2014/main" id="{CA3D5546-EDAC-448B-899C-5BE7A1D49CF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56011D9A-05A4-49DE-91DA-DB568C12644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23">
            <a:extLst xmlns:a="http://schemas.openxmlformats.org/drawingml/2006/main">
              <a:ext uri="{FF2B5EF4-FFF2-40B4-BE49-F238E27FC236}">
                <a16:creationId xmlns:a16="http://schemas.microsoft.com/office/drawing/2014/main" id="{5C7FD822-669D-47D2-AF71-D0376856D35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MO(20) = 30 − 20 = € 10 per kg">
            <a:extLst xmlns:a="http://schemas.openxmlformats.org/drawingml/2006/main">
              <a:ext uri="{FF2B5EF4-FFF2-40B4-BE49-F238E27FC236}">
                <a16:creationId xmlns:a16="http://schemas.microsoft.com/office/drawing/2014/main" id="{023F3D25-3CB1-4F98-AC44-BA1673C5EF4F}"/>
              </a:ext>
            </a:extLst>
          </p:cNvPr>
          <p:cNvSpPr>
            <a:spLocks xmlns:a="http://schemas.openxmlformats.org/drawingml/2006/main" noGrp="1"/>
          </p:cNvSpPr>
          <p:nvPr/>
        </p:nvSpPr>
        <p:spPr>
          <a:xfrm xmlns:a="http://schemas.openxmlformats.org/drawingml/2006/main">
            <a:off x="571500" y="2066925"/>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7B2D8E"/>
                </a:solidFill>
                <a:latin typeface="Arial"/>
                <a:ea typeface="Arial"/>
                <a:cs typeface="Arial"/>
              </a:defRPr>
            </a:pPr>
            <a:r>
              <a:rPr sz="3900" b="1">
                <a:solidFill>
                  <a:srgbClr val="7B2D8E"/>
                </a:solidFill>
                <a:latin typeface="Arial"/>
                <a:ea typeface="Arial"/>
                <a:cs typeface="Arial"/>
              </a:rPr>
              <a:t>MO(20) = 30 − 20 = € 10 per kg</a:t>
            </a:r>
          </a:p>
        </p:txBody>
      </p:sp>
      <p:graphicFrame>
        <p:nvGraphicFramePr>
          <p:cNvPr id="13" name=""/>
          <p:cNvGraphicFramePr/>
          <p:nvPr/>
        </p:nvGraphicFramePr>
        <p:xfrm>
          <a:off xmlns:a="http://schemas.openxmlformats.org/drawingml/2006/main" x="571500" y="3495675"/>
          <a:ext xmlns:a="http://schemas.openxmlformats.org/drawingml/2006/main" cx="14097000" cy="2762250"/>
        </p:xfrm>
        <a:graphic xmlns:a="http://schemas.openxmlformats.org/drawingml/2006/main">
          <a:graphicData uri="http://schemas.openxmlformats.org/drawingml/2006/table">
            <a:tbl>
              <a:tblPr/>
              <a:tblGrid>
                <a:gridCol w="3905250"/>
                <a:gridCol w="6667500"/>
                <a:gridCol w="3524250"/>
              </a:tblGrid>
              <a:tr h="920750">
                <a:tc>
                  <a:txBody>
                    <a:bodyPr lIns="171450" tIns="95250" rIns="152400" bIns="95250"/>
                    <a:lstStyle/>
                    <a:p>
                      <a:r>
                        <a:rPr sz="2625" b="1">
                          <a:solidFill>
                            <a:srgbClr val="FFFFFF"/>
                          </a:solidFill>
                          <a:latin typeface="Arial"/>
                          <a:ea typeface="Arial"/>
                          <a:cs typeface="Arial"/>
                        </a:rPr>
                        <a:t>Meting</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Betekenis</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Uitkomst</a:t>
                      </a:r>
                    </a:p>
                  </a:txBody>
                  <a:tcPr marL="91440" marR="91440" marT="45720" marB="45720" anchor="ctr">
                    <a:solidFill>
                      <a:srgbClr val="183247"/>
                    </a:solidFill>
                  </a:tcPr>
                </a:tc>
              </a:tr>
              <a:tr h="920750">
                <a:tc>
                  <a:txBody>
                    <a:bodyPr lIns="171450" tIns="95250" rIns="152400" bIns="95250"/>
                    <a:lstStyle/>
                    <a:p>
                      <a:r>
                        <a:rPr sz="2625" b="0">
                          <a:solidFill>
                            <a:srgbClr val="183247"/>
                          </a:solidFill>
                          <a:latin typeface="Arial"/>
                          <a:ea typeface="Arial"/>
                          <a:cs typeface="Arial"/>
                        </a:rPr>
                        <a:t>MO(20)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Puntwaarde bij q = 20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€ 10 per kg</a:t>
                      </a:r>
                    </a:p>
                  </a:txBody>
                  <a:tcPr marL="91440" marR="91440" marT="45720" marB="45720" anchor="ctr">
                    <a:solidFill>
                      <a:srgbClr val="FFFFFF"/>
                    </a:solidFill>
                  </a:tcPr>
                </a:tc>
              </a:tr>
              <a:tr h="920750">
                <a:tc>
                  <a:txBody>
                    <a:bodyPr lIns="171450" tIns="95250" rIns="152400" bIns="95250"/>
                    <a:lstStyle/>
                    <a:p>
                      <a:r>
                        <a:rPr sz="2625" b="0">
                          <a:solidFill>
                            <a:srgbClr val="183247"/>
                          </a:solidFill>
                          <a:latin typeface="Arial"/>
                          <a:ea typeface="Arial"/>
                          <a:cs typeface="Arial"/>
                        </a:rPr>
                        <a:t>ΔTO / Δq</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Gemiddelde van 20 tot 30 kg</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€ 5 per kg</a:t>
                      </a:r>
                    </a:p>
                  </a:txBody>
                  <a:tcPr marL="91440" marR="91440" marT="45720" marB="45720" anchor="ctr">
                    <a:solidFill>
                      <a:srgbClr val="EFF4F7"/>
                    </a:solidFill>
                  </a:tcPr>
                </a:tc>
              </a:tr>
            </a:tbl>
          </a:graphicData>
        </a:graphic>
      </p:graphicFrame>
      <p:sp>
        <p:nvSpPr>
          <p:cNvPr id="7" name="MO daalt tijdens de stap tot € 0 per kg bij q = 30.">
            <a:extLst xmlns:a="http://schemas.openxmlformats.org/drawingml/2006/main">
              <a:ext uri="{FF2B5EF4-FFF2-40B4-BE49-F238E27FC236}">
                <a16:creationId xmlns:a16="http://schemas.microsoft.com/office/drawing/2014/main" id="{16A3AF12-D478-4ED6-84FE-D03A0B624870}"/>
              </a:ext>
            </a:extLst>
          </p:cNvPr>
          <p:cNvSpPr>
            <a:spLocks xmlns:a="http://schemas.openxmlformats.org/drawingml/2006/main" noGrp="1"/>
          </p:cNvSpPr>
          <p:nvPr/>
        </p:nvSpPr>
        <p:spPr>
          <a:xfrm xmlns:a="http://schemas.openxmlformats.org/drawingml/2006/main">
            <a:off x="571500" y="6838950"/>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MO daalt tijdens de stap tot € 0 per kg bij q = 30.</a:t>
            </a:r>
          </a:p>
        </p:txBody>
      </p:sp>
    </p:spTree>
    <p:extLst>
      <p:ext uri="{BB962C8B-B14F-4D97-AF65-F5344CB8AC3E}">
        <p14:creationId xmlns:p14="http://schemas.microsoft.com/office/powerpoint/2010/main" val="1073642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28d · De twee omzetwerkingen">
            <a:extLst xmlns:a="http://schemas.openxmlformats.org/drawingml/2006/main">
              <a:ext uri="{FF2B5EF4-FFF2-40B4-BE49-F238E27FC236}">
                <a16:creationId xmlns:a16="http://schemas.microsoft.com/office/drawing/2014/main" id="{1E551433-D18C-47C1-BA1F-29B622A79FF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28d · De twee omzetwerkingen</a:t>
            </a:r>
          </a:p>
        </p:txBody>
      </p:sp>
      <p:sp>
        <p:nvSpPr>
          <p:cNvPr id="2" name="">
            <a:extLst xmlns:a="http://schemas.openxmlformats.org/drawingml/2006/main">
              <a:ext uri="{FF2B5EF4-FFF2-40B4-BE49-F238E27FC236}">
                <a16:creationId xmlns:a16="http://schemas.microsoft.com/office/drawing/2014/main" id="{BF3F2FF0-C799-46F6-AD77-DD839DE27F7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D37DFA07-DA35-4003-99F2-E029A3EDF7D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24">
            <a:extLst xmlns:a="http://schemas.openxmlformats.org/drawingml/2006/main">
              <a:ext uri="{FF2B5EF4-FFF2-40B4-BE49-F238E27FC236}">
                <a16:creationId xmlns:a16="http://schemas.microsoft.com/office/drawing/2014/main" id="{92FE84E0-E2F3-461A-8931-6D059853DEF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2" name=""/>
          <p:cNvGraphicFramePr/>
          <p:nvPr/>
        </p:nvGraphicFramePr>
        <p:xfrm>
          <a:off xmlns:a="http://schemas.openxmlformats.org/drawingml/2006/main" x="571500" y="2190750"/>
          <a:ext xmlns:a="http://schemas.openxmlformats.org/drawingml/2006/main" cx="14097000" cy="3143250"/>
        </p:xfrm>
        <a:graphic xmlns:a="http://schemas.openxmlformats.org/drawingml/2006/main">
          <a:graphicData uri="http://schemas.openxmlformats.org/drawingml/2006/table">
            <a:tbl>
              <a:tblPr/>
              <a:tblGrid>
                <a:gridCol w="6191250"/>
                <a:gridCol w="4048125"/>
                <a:gridCol w="3857625"/>
              </a:tblGrid>
              <a:tr h="1047750">
                <a:tc>
                  <a:txBody>
                    <a:bodyPr lIns="171450" tIns="95250" rIns="152400" bIns="95250"/>
                    <a:lstStyle/>
                    <a:p>
                      <a:r>
                        <a:rPr sz="2550" b="1">
                          <a:solidFill>
                            <a:srgbClr val="FFFFFF"/>
                          </a:solidFill>
                          <a:latin typeface="Arial"/>
                          <a:ea typeface="Arial"/>
                          <a:cs typeface="Arial"/>
                        </a:rPr>
                        <a:t>Effect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Verandering TO</a:t>
                      </a:r>
                    </a:p>
                  </a:txBody>
                  <a:tcPr marL="91440" marR="91440" marT="45720" marB="45720" anchor="ctr">
                    <a:solidFill>
                      <a:srgbClr val="183247"/>
                    </a:solidFill>
                  </a:tcPr>
                </a:tc>
              </a:tr>
              <a:tr h="1047750">
                <a:tc>
                  <a:txBody>
                    <a:bodyPr lIns="171450" tIns="95250" rIns="152400" bIns="95250"/>
                    <a:lstStyle/>
                    <a:p>
                      <a:r>
                        <a:rPr sz="2550" b="0">
                          <a:solidFill>
                            <a:srgbClr val="183247"/>
                          </a:solidFill>
                          <a:latin typeface="Arial"/>
                          <a:ea typeface="Arial"/>
                          <a:cs typeface="Arial"/>
                        </a:rPr>
                        <a:t>10 extra kg tegen € 15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 × 15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€ 150</a:t>
                      </a:r>
                    </a:p>
                  </a:txBody>
                  <a:tcPr marL="91440" marR="91440" marT="45720" marB="45720" anchor="ctr">
                    <a:solidFill>
                      <a:srgbClr val="FFFFFF"/>
                    </a:solidFill>
                  </a:tcPr>
                </a:tc>
              </a:tr>
              <a:tr h="1047750">
                <a:tc>
                  <a:txBody>
                    <a:bodyPr lIns="171450" tIns="95250" rIns="152400" bIns="95250"/>
                    <a:lstStyle/>
                    <a:p>
                      <a:r>
                        <a:rPr sz="2550" b="0">
                          <a:solidFill>
                            <a:srgbClr val="183247"/>
                          </a:solidFill>
                          <a:latin typeface="Arial"/>
                          <a:ea typeface="Arial"/>
                          <a:cs typeface="Arial"/>
                        </a:rPr>
                        <a:t>€ 5 minder op de eerste 20 kg</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20 × (20 − 15)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€ 100</a:t>
                      </a:r>
                    </a:p>
                  </a:txBody>
                  <a:tcPr marL="91440" marR="91440" marT="45720" marB="45720" anchor="ctr">
                    <a:solidFill>
                      <a:srgbClr val="EFF4F7"/>
                    </a:solidFill>
                  </a:tcPr>
                </a:tc>
              </a:tr>
            </a:tbl>
          </a:graphicData>
        </a:graphic>
      </p:graphicFrame>
      <p:sp>
        <p:nvSpPr>
          <p:cNvPr id="6" name="Netto: € 150 − € 100 = € 50 per week">
            <a:extLst xmlns:a="http://schemas.openxmlformats.org/drawingml/2006/main">
              <a:ext uri="{FF2B5EF4-FFF2-40B4-BE49-F238E27FC236}">
                <a16:creationId xmlns:a16="http://schemas.microsoft.com/office/drawing/2014/main" id="{490F1FD8-1A9A-4E63-9422-3215C54A8176}"/>
              </a:ext>
            </a:extLst>
          </p:cNvPr>
          <p:cNvSpPr>
            <a:spLocks xmlns:a="http://schemas.openxmlformats.org/drawingml/2006/main" noGrp="1"/>
          </p:cNvSpPr>
          <p:nvPr/>
        </p:nvSpPr>
        <p:spPr>
          <a:xfrm xmlns:a="http://schemas.openxmlformats.org/drawingml/2006/main">
            <a:off x="571500" y="59245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Netto: € 150 − € 100 = € 50 per week</a:t>
            </a:r>
          </a:p>
        </p:txBody>
      </p:sp>
      <p:sp>
        <p:nvSpPr>
          <p:cNvPr id="7" name="Controle: TO nieuw − TO oud = 450 − 400 = € 50">
            <a:extLst xmlns:a="http://schemas.openxmlformats.org/drawingml/2006/main">
              <a:ext uri="{FF2B5EF4-FFF2-40B4-BE49-F238E27FC236}">
                <a16:creationId xmlns:a16="http://schemas.microsoft.com/office/drawing/2014/main" id="{CCACF904-EC48-44E3-9D77-E4FAB7CFCFC4}"/>
              </a:ext>
            </a:extLst>
          </p:cNvPr>
          <p:cNvSpPr>
            <a:spLocks xmlns:a="http://schemas.openxmlformats.org/drawingml/2006/main" noGrp="1"/>
          </p:cNvSpPr>
          <p:nvPr/>
        </p:nvSpPr>
        <p:spPr>
          <a:xfrm xmlns:a="http://schemas.openxmlformats.org/drawingml/2006/main">
            <a:off x="571500" y="72199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Controle: TO nieuw − TO oud = 450 − 400 = € 50</a:t>
            </a:r>
          </a:p>
        </p:txBody>
      </p:sp>
    </p:spTree>
    <p:extLst>
      <p:ext uri="{BB962C8B-B14F-4D97-AF65-F5344CB8AC3E}">
        <p14:creationId xmlns:p14="http://schemas.microsoft.com/office/powerpoint/2010/main" val="78177267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28e · Prijs en MO bij q = 20">
            <a:extLst xmlns:a="http://schemas.openxmlformats.org/drawingml/2006/main">
              <a:ext uri="{FF2B5EF4-FFF2-40B4-BE49-F238E27FC236}">
                <a16:creationId xmlns:a16="http://schemas.microsoft.com/office/drawing/2014/main" id="{8767B352-C6EF-478B-A2A9-E7E56FA1259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28e · Prijs en MO bij q = 20</a:t>
            </a:r>
          </a:p>
        </p:txBody>
      </p:sp>
      <p:sp>
        <p:nvSpPr>
          <p:cNvPr id="2" name="">
            <a:extLst xmlns:a="http://schemas.openxmlformats.org/drawingml/2006/main">
              <a:ext uri="{FF2B5EF4-FFF2-40B4-BE49-F238E27FC236}">
                <a16:creationId xmlns:a16="http://schemas.microsoft.com/office/drawing/2014/main" id="{A226FCE9-0A1A-45D9-B56A-8391E6E241B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 Doeloefening 28 · Pigment Prisma · Boekpagina 33">
            <a:extLst xmlns:a="http://schemas.openxmlformats.org/drawingml/2006/main">
              <a:ext uri="{FF2B5EF4-FFF2-40B4-BE49-F238E27FC236}">
                <a16:creationId xmlns:a16="http://schemas.microsoft.com/office/drawing/2014/main" id="{79557FFB-38A9-42B3-9D17-296621375D3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 Doeloefening 28 · Pigment Prisma · Boekpagina 33</a:t>
            </a:r>
          </a:p>
        </p:txBody>
      </p:sp>
      <p:sp>
        <p:nvSpPr>
          <p:cNvPr id="4" name="25">
            <a:extLst xmlns:a="http://schemas.openxmlformats.org/drawingml/2006/main">
              <a:ext uri="{FF2B5EF4-FFF2-40B4-BE49-F238E27FC236}">
                <a16:creationId xmlns:a16="http://schemas.microsoft.com/office/drawing/2014/main" id="{2823C414-7963-4FC1-A22B-B179A29586F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2" name=""/>
          <p:cNvGraphicFramePr/>
          <p:nvPr/>
        </p:nvGraphicFramePr>
        <p:xfrm>
          <a:off xmlns:a="http://schemas.openxmlformats.org/drawingml/2006/main" x="571500" y="2066925"/>
          <a:ext xmlns:a="http://schemas.openxmlformats.org/drawingml/2006/main" cx="14097000" cy="2933700"/>
        </p:xfrm>
        <a:graphic xmlns:a="http://schemas.openxmlformats.org/drawingml/2006/main">
          <a:graphicData uri="http://schemas.openxmlformats.org/drawingml/2006/table">
            <a:tbl>
              <a:tblPr/>
              <a:tblGrid>
                <a:gridCol w="4857750"/>
                <a:gridCol w="5238750"/>
                <a:gridCol w="4000500"/>
              </a:tblGrid>
              <a:tr h="977900">
                <a:tc>
                  <a:txBody>
                    <a:bodyPr lIns="171450" tIns="95250" rIns="152400" bIns="95250"/>
                    <a:lstStyle/>
                    <a:p>
                      <a:r>
                        <a:rPr sz="285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Bedrag per kg</a:t>
                      </a:r>
                    </a:p>
                  </a:txBody>
                  <a:tcPr marL="91440" marR="91440" marT="45720" marB="45720" anchor="ctr">
                    <a:solidFill>
                      <a:srgbClr val="183247"/>
                    </a:solidFill>
                  </a:tcPr>
                </a:tc>
              </a:tr>
              <a:tr h="977900">
                <a:tc>
                  <a:txBody>
                    <a:bodyPr lIns="171450" tIns="95250" rIns="152400" bIns="95250"/>
                    <a:lstStyle/>
                    <a:p>
                      <a:r>
                        <a:rPr sz="2850" b="0">
                          <a:solidFill>
                            <a:srgbClr val="183247"/>
                          </a:solidFill>
                          <a:latin typeface="Arial"/>
                          <a:ea typeface="Arial"/>
                          <a:cs typeface="Arial"/>
                        </a:rPr>
                        <a:t>Verkoopprijs P</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30 − 0,50 × 20</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€ 20</a:t>
                      </a:r>
                    </a:p>
                  </a:txBody>
                  <a:tcPr marL="91440" marR="91440" marT="45720" marB="45720" anchor="ctr">
                    <a:solidFill>
                      <a:srgbClr val="FFFFFF"/>
                    </a:solidFill>
                  </a:tcPr>
                </a:tc>
              </a:tr>
              <a:tr h="977900">
                <a:tc>
                  <a:txBody>
                    <a:bodyPr lIns="171450" tIns="95250" rIns="152400" bIns="95250"/>
                    <a:lstStyle/>
                    <a:p>
                      <a:r>
                        <a:rPr sz="2850" b="0">
                          <a:solidFill>
                            <a:srgbClr val="183247"/>
                          </a:solidFill>
                          <a:latin typeface="Arial"/>
                          <a:ea typeface="Arial"/>
                          <a:cs typeface="Arial"/>
                        </a:rPr>
                        <a:t>Marginale opbrengst MO</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30 − 20</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€ 10</a:t>
                      </a:r>
                    </a:p>
                  </a:txBody>
                  <a:tcPr marL="91440" marR="91440" marT="45720" marB="45720" anchor="ctr">
                    <a:solidFill>
                      <a:srgbClr val="EFF4F7"/>
                    </a:solidFill>
                  </a:tcPr>
                </a:tc>
              </a:tr>
            </a:tbl>
          </a:graphicData>
        </a:graphic>
      </p:graphicFrame>
      <p:sp>
        <p:nvSpPr>
          <p:cNvPr id="6" name="De uitspraak is onjuist.">
            <a:extLst xmlns:a="http://schemas.openxmlformats.org/drawingml/2006/main">
              <a:ext uri="{FF2B5EF4-FFF2-40B4-BE49-F238E27FC236}">
                <a16:creationId xmlns:a16="http://schemas.microsoft.com/office/drawing/2014/main" id="{984CACFF-F3B4-40D7-A76E-1896E4720F9E}"/>
              </a:ext>
            </a:extLst>
          </p:cNvPr>
          <p:cNvSpPr>
            <a:spLocks xmlns:a="http://schemas.openxmlformats.org/drawingml/2006/main" noGrp="1"/>
          </p:cNvSpPr>
          <p:nvPr/>
        </p:nvSpPr>
        <p:spPr>
          <a:xfrm xmlns:a="http://schemas.openxmlformats.org/drawingml/2006/main">
            <a:off x="571500" y="55626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A94D16"/>
                </a:solidFill>
                <a:latin typeface="Arial"/>
                <a:ea typeface="Arial"/>
                <a:cs typeface="Arial"/>
              </a:defRPr>
            </a:pPr>
            <a:r>
              <a:rPr sz="3525" b="1">
                <a:solidFill>
                  <a:srgbClr val="A94D16"/>
                </a:solidFill>
                <a:latin typeface="Arial"/>
                <a:ea typeface="Arial"/>
                <a:cs typeface="Arial"/>
              </a:rPr>
              <a:t>De uitspraak is onjuist.</a:t>
            </a:r>
          </a:p>
        </p:txBody>
      </p:sp>
      <p:sp>
        <p:nvSpPr>
          <p:cNvPr id="7" name="Meer afzet vraagt een lagere uniforme prijs.&#10;Ook de eerste h">
            <a:extLst xmlns:a="http://schemas.openxmlformats.org/drawingml/2006/main">
              <a:ext uri="{FF2B5EF4-FFF2-40B4-BE49-F238E27FC236}">
                <a16:creationId xmlns:a16="http://schemas.microsoft.com/office/drawing/2014/main" id="{3EFDFDEA-D821-4239-8D6A-3D4D90F4EE94}"/>
              </a:ext>
            </a:extLst>
          </p:cNvPr>
          <p:cNvSpPr>
            <a:spLocks xmlns:a="http://schemas.openxmlformats.org/drawingml/2006/main" noGrp="1"/>
          </p:cNvSpPr>
          <p:nvPr/>
        </p:nvSpPr>
        <p:spPr>
          <a:xfrm xmlns:a="http://schemas.openxmlformats.org/drawingml/2006/main">
            <a:off x="571500" y="6619875"/>
            <a:ext cx="14097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Meer afzet vraagt een lagere uniforme prijs.</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Ook de eerste hoeveelheid levert daardoor minder op.</a:t>
            </a:r>
          </a:p>
        </p:txBody>
      </p:sp>
    </p:spTree>
    <p:extLst>
      <p:ext uri="{BB962C8B-B14F-4D97-AF65-F5344CB8AC3E}">
        <p14:creationId xmlns:p14="http://schemas.microsoft.com/office/powerpoint/2010/main" val="69432705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trole van je doelopgave">
            <a:extLst xmlns:a="http://schemas.openxmlformats.org/drawingml/2006/main">
              <a:ext uri="{FF2B5EF4-FFF2-40B4-BE49-F238E27FC236}">
                <a16:creationId xmlns:a16="http://schemas.microsoft.com/office/drawing/2014/main" id="{DEAF477F-CE96-4324-BCDB-DEF59C2815B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Controle van je doelopgave</a:t>
            </a:r>
          </a:p>
        </p:txBody>
      </p:sp>
      <p:sp>
        <p:nvSpPr>
          <p:cNvPr id="2" name="">
            <a:extLst xmlns:a="http://schemas.openxmlformats.org/drawingml/2006/main">
              <a:ext uri="{FF2B5EF4-FFF2-40B4-BE49-F238E27FC236}">
                <a16:creationId xmlns:a16="http://schemas.microsoft.com/office/drawing/2014/main" id="{55EF705E-3CE1-4B0A-BC2B-869E4E4D4F4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Marginale opbrengst bij monopolie">
            <a:extLst xmlns:a="http://schemas.openxmlformats.org/drawingml/2006/main">
              <a:ext uri="{FF2B5EF4-FFF2-40B4-BE49-F238E27FC236}">
                <a16:creationId xmlns:a16="http://schemas.microsoft.com/office/drawing/2014/main" id="{B650EEE1-1DCF-4194-B725-0026FD529BA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Marginale opbrengst bij monopolie</a:t>
            </a:r>
          </a:p>
        </p:txBody>
      </p:sp>
      <p:sp>
        <p:nvSpPr>
          <p:cNvPr id="4" name="26">
            <a:extLst xmlns:a="http://schemas.openxmlformats.org/drawingml/2006/main">
              <a:ext uri="{FF2B5EF4-FFF2-40B4-BE49-F238E27FC236}">
                <a16:creationId xmlns:a16="http://schemas.microsoft.com/office/drawing/2014/main" id="{452EB095-B5EE-487C-B347-A47FA0C1F0A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a en b">
            <a:extLst xmlns:a="http://schemas.openxmlformats.org/drawingml/2006/main">
              <a:ext uri="{FF2B5EF4-FFF2-40B4-BE49-F238E27FC236}">
                <a16:creationId xmlns:a16="http://schemas.microsoft.com/office/drawing/2014/main" id="{8775EA4C-3C05-4571-A2F1-5C9136FD3F39}"/>
              </a:ext>
            </a:extLst>
          </p:cNvPr>
          <p:cNvSpPr>
            <a:spLocks xmlns:a="http://schemas.openxmlformats.org/drawingml/2006/main" noGrp="1"/>
          </p:cNvSpPr>
          <p:nvPr/>
        </p:nvSpPr>
        <p:spPr>
          <a:xfrm xmlns:a="http://schemas.openxmlformats.org/drawingml/2006/main">
            <a:off x="571500" y="2085975"/>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a en b</a:t>
            </a:r>
          </a:p>
        </p:txBody>
      </p:sp>
      <p:sp>
        <p:nvSpPr>
          <p:cNvPr id="6" name="Functies, haakjes, tabel en eenheden.">
            <a:extLst xmlns:a="http://schemas.openxmlformats.org/drawingml/2006/main">
              <a:ext uri="{FF2B5EF4-FFF2-40B4-BE49-F238E27FC236}">
                <a16:creationId xmlns:a16="http://schemas.microsoft.com/office/drawing/2014/main" id="{E536465C-72D7-4563-B205-A9515BE1C0C9}"/>
              </a:ext>
            </a:extLst>
          </p:cNvPr>
          <p:cNvSpPr>
            <a:spLocks xmlns:a="http://schemas.openxmlformats.org/drawingml/2006/main" noGrp="1"/>
          </p:cNvSpPr>
          <p:nvPr/>
        </p:nvSpPr>
        <p:spPr>
          <a:xfrm xmlns:a="http://schemas.openxmlformats.org/drawingml/2006/main">
            <a:off x="3067050" y="2085975"/>
            <a:ext cx="1152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Functies, haakjes, tabel en eenheden.</a:t>
            </a:r>
          </a:p>
        </p:txBody>
      </p:sp>
      <p:sp>
        <p:nvSpPr>
          <p:cNvPr id="7" name="c">
            <a:extLst xmlns:a="http://schemas.openxmlformats.org/drawingml/2006/main">
              <a:ext uri="{FF2B5EF4-FFF2-40B4-BE49-F238E27FC236}">
                <a16:creationId xmlns:a16="http://schemas.microsoft.com/office/drawing/2014/main" id="{675D1036-37FD-49FB-B7B5-3E65A06BA042}"/>
              </a:ext>
            </a:extLst>
          </p:cNvPr>
          <p:cNvSpPr>
            <a:spLocks xmlns:a="http://schemas.openxmlformats.org/drawingml/2006/main" noGrp="1"/>
          </p:cNvSpPr>
          <p:nvPr/>
        </p:nvSpPr>
        <p:spPr>
          <a:xfrm xmlns:a="http://schemas.openxmlformats.org/drawingml/2006/main">
            <a:off x="571500" y="3409950"/>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c</a:t>
            </a:r>
          </a:p>
        </p:txBody>
      </p:sp>
      <p:sp>
        <p:nvSpPr>
          <p:cNvPr id="8" name="Een hele stap én een puntwaarde, met verklaring.">
            <a:extLst xmlns:a="http://schemas.openxmlformats.org/drawingml/2006/main">
              <a:ext uri="{FF2B5EF4-FFF2-40B4-BE49-F238E27FC236}">
                <a16:creationId xmlns:a16="http://schemas.microsoft.com/office/drawing/2014/main" id="{D3CE0D9D-7FBD-4AB3-951C-402C0097194F}"/>
              </a:ext>
            </a:extLst>
          </p:cNvPr>
          <p:cNvSpPr>
            <a:spLocks xmlns:a="http://schemas.openxmlformats.org/drawingml/2006/main" noGrp="1"/>
          </p:cNvSpPr>
          <p:nvPr/>
        </p:nvSpPr>
        <p:spPr>
          <a:xfrm xmlns:a="http://schemas.openxmlformats.org/drawingml/2006/main">
            <a:off x="3067050" y="3409950"/>
            <a:ext cx="1152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Een hele stap én een puntwaarde, met verklaring.</a:t>
            </a:r>
          </a:p>
        </p:txBody>
      </p:sp>
      <p:sp>
        <p:nvSpPr>
          <p:cNvPr id="9" name="d">
            <a:extLst xmlns:a="http://schemas.openxmlformats.org/drawingml/2006/main">
              <a:ext uri="{FF2B5EF4-FFF2-40B4-BE49-F238E27FC236}">
                <a16:creationId xmlns:a16="http://schemas.microsoft.com/office/drawing/2014/main" id="{51D8CD80-D738-46BC-A52C-C80A2F157F37}"/>
              </a:ext>
            </a:extLst>
          </p:cNvPr>
          <p:cNvSpPr>
            <a:spLocks xmlns:a="http://schemas.openxmlformats.org/drawingml/2006/main" noGrp="1"/>
          </p:cNvSpPr>
          <p:nvPr/>
        </p:nvSpPr>
        <p:spPr>
          <a:xfrm xmlns:a="http://schemas.openxmlformats.org/drawingml/2006/main">
            <a:off x="571500" y="4733925"/>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d</a:t>
            </a:r>
          </a:p>
        </p:txBody>
      </p:sp>
      <p:sp>
        <p:nvSpPr>
          <p:cNvPr id="10" name="Extra afzet, lagere prijs en dezelfde netto ΔTO.">
            <a:extLst xmlns:a="http://schemas.openxmlformats.org/drawingml/2006/main">
              <a:ext uri="{FF2B5EF4-FFF2-40B4-BE49-F238E27FC236}">
                <a16:creationId xmlns:a16="http://schemas.microsoft.com/office/drawing/2014/main" id="{7FAFA7D6-952F-4D6B-9F26-CBE9F182638A}"/>
              </a:ext>
            </a:extLst>
          </p:cNvPr>
          <p:cNvSpPr>
            <a:spLocks xmlns:a="http://schemas.openxmlformats.org/drawingml/2006/main" noGrp="1"/>
          </p:cNvSpPr>
          <p:nvPr/>
        </p:nvSpPr>
        <p:spPr>
          <a:xfrm xmlns:a="http://schemas.openxmlformats.org/drawingml/2006/main">
            <a:off x="3067050" y="4733925"/>
            <a:ext cx="1152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Extra afzet, lagere prijs en dezelfde netto ΔTO.</a:t>
            </a:r>
          </a:p>
        </p:txBody>
      </p:sp>
      <p:sp>
        <p:nvSpPr>
          <p:cNvPr id="11" name="e">
            <a:extLst xmlns:a="http://schemas.openxmlformats.org/drawingml/2006/main">
              <a:ext uri="{FF2B5EF4-FFF2-40B4-BE49-F238E27FC236}">
                <a16:creationId xmlns:a16="http://schemas.microsoft.com/office/drawing/2014/main" id="{409F2B70-C19F-416A-B71C-0460ABA901B1}"/>
              </a:ext>
            </a:extLst>
          </p:cNvPr>
          <p:cNvSpPr>
            <a:spLocks xmlns:a="http://schemas.openxmlformats.org/drawingml/2006/main" noGrp="1"/>
          </p:cNvSpPr>
          <p:nvPr/>
        </p:nvSpPr>
        <p:spPr>
          <a:xfrm xmlns:a="http://schemas.openxmlformats.org/drawingml/2006/main">
            <a:off x="571500" y="6057900"/>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e</a:t>
            </a:r>
          </a:p>
        </p:txBody>
      </p:sp>
      <p:sp>
        <p:nvSpPr>
          <p:cNvPr id="12" name="De berekening verbonden aan de uniforme prijs.">
            <a:extLst xmlns:a="http://schemas.openxmlformats.org/drawingml/2006/main">
              <a:ext uri="{FF2B5EF4-FFF2-40B4-BE49-F238E27FC236}">
                <a16:creationId xmlns:a16="http://schemas.microsoft.com/office/drawing/2014/main" id="{1A14E8B9-7032-451A-BC04-F223FEE5D984}"/>
              </a:ext>
            </a:extLst>
          </p:cNvPr>
          <p:cNvSpPr>
            <a:spLocks xmlns:a="http://schemas.openxmlformats.org/drawingml/2006/main" noGrp="1"/>
          </p:cNvSpPr>
          <p:nvPr/>
        </p:nvSpPr>
        <p:spPr>
          <a:xfrm xmlns:a="http://schemas.openxmlformats.org/drawingml/2006/main">
            <a:off x="3067050" y="6057900"/>
            <a:ext cx="1152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berekening verbonden aan de uniforme prijs.</a:t>
            </a:r>
          </a:p>
        </p:txBody>
      </p:sp>
      <p:sp>
        <p:nvSpPr>
          <p:cNvPr id="13" name="Verbeter één ontbrekende stap in je eigen uitwerking.">
            <a:extLst xmlns:a="http://schemas.openxmlformats.org/drawingml/2006/main">
              <a:ext uri="{FF2B5EF4-FFF2-40B4-BE49-F238E27FC236}">
                <a16:creationId xmlns:a16="http://schemas.microsoft.com/office/drawing/2014/main" id="{BB1572C7-6A21-4329-8AED-459E4557A111}"/>
              </a:ext>
            </a:extLst>
          </p:cNvPr>
          <p:cNvSpPr>
            <a:spLocks xmlns:a="http://schemas.openxmlformats.org/drawingml/2006/main" noGrp="1"/>
          </p:cNvSpPr>
          <p:nvPr/>
        </p:nvSpPr>
        <p:spPr>
          <a:xfrm xmlns:a="http://schemas.openxmlformats.org/drawingml/2006/main">
            <a:off x="571500" y="74485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Verbeter één ontbrekende stap in je eigen uitwerking.</a:t>
            </a:r>
          </a:p>
        </p:txBody>
      </p:sp>
    </p:spTree>
    <p:extLst>
      <p:ext uri="{BB962C8B-B14F-4D97-AF65-F5344CB8AC3E}">
        <p14:creationId xmlns:p14="http://schemas.microsoft.com/office/powerpoint/2010/main" val="18271108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3 Marginale opbrengst bij monopolie">
            <a:extLst xmlns:a="http://schemas.openxmlformats.org/drawingml/2006/main">
              <a:ext uri="{FF2B5EF4-FFF2-40B4-BE49-F238E27FC236}">
                <a16:creationId xmlns:a16="http://schemas.microsoft.com/office/drawing/2014/main" id="{D9D92085-7DD5-4D2B-A55A-B79F4F7FFAD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Deze les: §4.1.3 Marginale opbrengst bij monopolie</a:t>
            </a:r>
          </a:p>
        </p:txBody>
      </p:sp>
      <p:sp>
        <p:nvSpPr>
          <p:cNvPr id="2" name="">
            <a:extLst xmlns:a="http://schemas.openxmlformats.org/drawingml/2006/main">
              <a:ext uri="{FF2B5EF4-FFF2-40B4-BE49-F238E27FC236}">
                <a16:creationId xmlns:a16="http://schemas.microsoft.com/office/drawing/2014/main" id="{E6AC41C0-6421-4691-B949-59646B01DCD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3 Marginale opbrengst bij monopolie">
            <a:extLst xmlns:a="http://schemas.openxmlformats.org/drawingml/2006/main">
              <a:ext uri="{FF2B5EF4-FFF2-40B4-BE49-F238E27FC236}">
                <a16:creationId xmlns:a16="http://schemas.microsoft.com/office/drawing/2014/main" id="{73C83BCE-66E1-43E2-A5A0-FAC5D27B99F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§4.1.3 Marginale opbrengst bij monopolie</a:t>
            </a:r>
          </a:p>
        </p:txBody>
      </p:sp>
      <p:sp>
        <p:nvSpPr>
          <p:cNvPr id="4" name="27">
            <a:extLst xmlns:a="http://schemas.openxmlformats.org/drawingml/2006/main">
              <a:ext uri="{FF2B5EF4-FFF2-40B4-BE49-F238E27FC236}">
                <a16:creationId xmlns:a16="http://schemas.microsoft.com/office/drawing/2014/main" id="{1EB9B66D-7D29-49F1-9A9A-05B6CA186DB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hase">
            <a:extLst xmlns:a="http://schemas.openxmlformats.org/drawingml/2006/main">
              <a:ext uri="{FF2B5EF4-FFF2-40B4-BE49-F238E27FC236}">
                <a16:creationId xmlns:a16="http://schemas.microsoft.com/office/drawing/2014/main" id="{6062F374-CB90-4A45-9FF8-1ECCE2BA5D76}"/>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16F56959-C910-4CFD-9276-E7DD79C0B45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B9437CE9-3319-4ED9-96BD-F9E0130FD574}"/>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EAF4398B-5693-4630-9560-7CA084CA04A9}"/>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EAA673B-DBFE-42E2-A4FA-2272A957073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4AF367D1-0BE8-48F4-B5A1-96F2F11B4A89}"/>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1767ABB7-E551-44D6-BB72-80FA58502A5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61878514-FC26-45F7-AA7D-F79B06E0E011}"/>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70F5947C-8B4E-49F4-B05B-9DDE3AB805C9}"/>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CAA5838-779D-4384-B848-A3535B5057F2}"/>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61E1A482-7928-4264-8173-9FD1E76CF2C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D2C97E14-0EC7-4B30-98DD-5CA927804F96}"/>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A1E451F-719F-41D9-B5EC-EDFA3C6CADAE}"/>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FEF5435B-433D-4A95-B555-BD6B800841AA}"/>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28.</a:t>
            </a:r>
          </a:p>
        </p:txBody>
      </p:sp>
      <p:sp>
        <p:nvSpPr>
          <p:cNvPr id="19" name="route-number-7">
            <a:extLst xmlns:a="http://schemas.openxmlformats.org/drawingml/2006/main">
              <a:ext uri="{FF2B5EF4-FFF2-40B4-BE49-F238E27FC236}">
                <a16:creationId xmlns:a16="http://schemas.microsoft.com/office/drawing/2014/main" id="{33D6E116-D53F-45A9-B877-3F156803710B}"/>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989A9F09-01B3-4207-BFE2-3FBA59DED703}"/>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D4FA7F1-FBBD-4FFC-AEB2-219FC980738C}"/>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97F86D4-1D11-4512-9F79-BFEE300CD976}"/>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TO en MO afleiden; tabel invullen.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Tabelstap en punt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 lager dan P verklaren.</a:t>
            </a:r>
          </a:p>
        </p:txBody>
      </p:sp>
      <p:sp>
        <p:nvSpPr>
          <p:cNvPr id="23" name="">
            <a:extLst xmlns:a="http://schemas.openxmlformats.org/drawingml/2006/main">
              <a:ext uri="{FF2B5EF4-FFF2-40B4-BE49-F238E27FC236}">
                <a16:creationId xmlns:a16="http://schemas.microsoft.com/office/drawing/2014/main" id="{12A1A198-ADAE-4E35-8624-FC7CD59F7E5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2A9BA77-9A46-4576-AF04-F0CC0F752BB5}"/>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BD26B2D-657B-46EC-BE08-140D1BC53FD4}"/>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29 · Opgaven 21 en 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 verkennen met voorbeeld p. 28</a:t>
            </a:r>
          </a:p>
        </p:txBody>
      </p:sp>
      <p:sp>
        <p:nvSpPr>
          <p:cNvPr id="26" name="">
            <a:extLst xmlns:a="http://schemas.openxmlformats.org/drawingml/2006/main">
              <a:ext uri="{FF2B5EF4-FFF2-40B4-BE49-F238E27FC236}">
                <a16:creationId xmlns:a16="http://schemas.microsoft.com/office/drawing/2014/main" id="{03A8FE8F-02F9-4156-9C48-8224C2613D78}"/>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571F600E-8241-44D8-A75F-59A6DE81D747}"/>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E4EE484-C00C-4D1D-AF4A-46FC3A586969}"/>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§4.1.3 · Opgaven 23 t/m 28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23, 24 en 25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26 en 27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28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5003995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2026-10-01T16:25:51.3830000Z</dcterms:created>
  <dcterms:modified xsi:type="dcterms:W3CDTF">2026-10-01T16:25:51.3840000Z</dcterms:modified>
</coreProperties>
</file>