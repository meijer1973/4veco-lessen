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7.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8.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9.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10.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96cddbaa92b4473" /><Relationship Type="http://schemas.openxmlformats.org/officeDocument/2006/relationships/extended-properties" Target="/docProps/app.xml" Id="Ra09ce62e93634f70" /><Relationship Type="http://schemas.openxmlformats.org/officeDocument/2006/relationships/officeDocument" Target="/ppt/presentation.xml" Id="Rd26c208bc2d547ab" /></Relationships>
</file>

<file path=ppt/presentation.xml><?xml version="1.0" encoding="utf-8"?>
<p:presentation xmlns:p="http://schemas.openxmlformats.org/presentationml/2006/main">
  <p:sldMasterIdLst>
    <p:sldMasterId xmlns:r="http://schemas.openxmlformats.org/officeDocument/2006/relationships" id="2147483648" r:id="R3763ec0d34054468"/>
  </p:sldMasterIdLst>
  <p:notesMasterIdLst>
    <p:notesMasterId xmlns:r="http://schemas.openxmlformats.org/officeDocument/2006/relationships" r:id="R98e0936d7ddc4852"/>
  </p:notesMasterIdLst>
  <p:sldIdLst>
    <p:sldId xmlns:r="http://schemas.openxmlformats.org/officeDocument/2006/relationships" id="256" r:id="R14533846f04b4d29"/>
    <p:sldId xmlns:r="http://schemas.openxmlformats.org/officeDocument/2006/relationships" id="257" r:id="Rd3dc59dbeeb74876"/>
    <p:sldId xmlns:r="http://schemas.openxmlformats.org/officeDocument/2006/relationships" id="258" r:id="R737edcf6dd724bcf"/>
    <p:sldId xmlns:r="http://schemas.openxmlformats.org/officeDocument/2006/relationships" id="259" r:id="R14d74b4d75e24511"/>
    <p:sldId xmlns:r="http://schemas.openxmlformats.org/officeDocument/2006/relationships" id="260" r:id="Rfdb5d404250f4325"/>
    <p:sldId xmlns:r="http://schemas.openxmlformats.org/officeDocument/2006/relationships" id="261" r:id="Ref11d7d04ded420a"/>
    <p:sldId xmlns:r="http://schemas.openxmlformats.org/officeDocument/2006/relationships" id="262" r:id="R781aef4806cc44b8"/>
    <p:sldId xmlns:r="http://schemas.openxmlformats.org/officeDocument/2006/relationships" id="263" r:id="R4a06a4be27304ae9"/>
    <p:sldId xmlns:r="http://schemas.openxmlformats.org/officeDocument/2006/relationships" id="264" r:id="R69748216e6154acd"/>
    <p:sldId xmlns:r="http://schemas.openxmlformats.org/officeDocument/2006/relationships" id="265" r:id="R2a66914fdad44fc0"/>
    <p:sldId xmlns:r="http://schemas.openxmlformats.org/officeDocument/2006/relationships" id="266" r:id="Rf5b68528e42449b8"/>
    <p:sldId xmlns:r="http://schemas.openxmlformats.org/officeDocument/2006/relationships" id="267" r:id="R26a677f0af3f420a"/>
    <p:sldId xmlns:r="http://schemas.openxmlformats.org/officeDocument/2006/relationships" id="268" r:id="Rd43f6c27eaf04d8a"/>
    <p:sldId xmlns:r="http://schemas.openxmlformats.org/officeDocument/2006/relationships" id="269" r:id="Raab7568f0506477f"/>
    <p:sldId xmlns:r="http://schemas.openxmlformats.org/officeDocument/2006/relationships" id="270" r:id="Rc4d8eda8860540b1"/>
    <p:sldId xmlns:r="http://schemas.openxmlformats.org/officeDocument/2006/relationships" id="271" r:id="R8ecb196e57834dca"/>
    <p:sldId xmlns:r="http://schemas.openxmlformats.org/officeDocument/2006/relationships" id="272" r:id="Rf2dc9259216e484a"/>
    <p:sldId xmlns:r="http://schemas.openxmlformats.org/officeDocument/2006/relationships" id="273" r:id="R8e090a1e20e949fd"/>
    <p:sldId xmlns:r="http://schemas.openxmlformats.org/officeDocument/2006/relationships" id="274" r:id="R45ee4d6ff57740c7"/>
    <p:sldId xmlns:r="http://schemas.openxmlformats.org/officeDocument/2006/relationships" id="275" r:id="Rc090bbe5b3014d23"/>
    <p:sldId xmlns:r="http://schemas.openxmlformats.org/officeDocument/2006/relationships" id="276" r:id="R582f16d0032948db"/>
    <p:sldId xmlns:r="http://schemas.openxmlformats.org/officeDocument/2006/relationships" id="277" r:id="R27879c871f884fa7"/>
    <p:sldId xmlns:r="http://schemas.openxmlformats.org/officeDocument/2006/relationships" id="278" r:id="Ra5758c277f734bad"/>
    <p:sldId xmlns:r="http://schemas.openxmlformats.org/officeDocument/2006/relationships" id="279" r:id="R3d456ed5257f4914"/>
    <p:sldId xmlns:r="http://schemas.openxmlformats.org/officeDocument/2006/relationships" id="280" r:id="Rd3cbbef222eb4728"/>
    <p:sldId xmlns:r="http://schemas.openxmlformats.org/officeDocument/2006/relationships" id="281" r:id="R53db6c0b18624dc2"/>
    <p:sldId xmlns:r="http://schemas.openxmlformats.org/officeDocument/2006/relationships" id="282" r:id="R331a74b38a7147d5"/>
    <p:sldId xmlns:r="http://schemas.openxmlformats.org/officeDocument/2006/relationships" id="283" r:id="R832ce25cbe114921"/>
    <p:sldId xmlns:r="http://schemas.openxmlformats.org/officeDocument/2006/relationships" id="284" r:id="R8614e8bee02b4396"/>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1195a95ab1c4fed" /><Relationship Type="http://schemas.openxmlformats.org/officeDocument/2006/relationships/slideMaster" Target="/ppt/slideMasters/slideMaster1.xml" Id="R3763ec0d34054468" /><Relationship Type="http://schemas.openxmlformats.org/officeDocument/2006/relationships/notesMaster" Target="/ppt/notesMasters/notesMaster1.xml" Id="R98e0936d7ddc4852" /><Relationship Type="http://schemas.openxmlformats.org/officeDocument/2006/relationships/presProps" Target="/ppt/presProps.xml" Id="R835e097f5f4c43de" /><Relationship Type="http://schemas.openxmlformats.org/officeDocument/2006/relationships/tableStyles" Target="/ppt/tableStyles.xml" Id="R943089a0178c40ae" /><Relationship Type="http://schemas.openxmlformats.org/officeDocument/2006/relationships/slide" Target="/ppt/slides/slide1.xml" Id="R14533846f04b4d29" /><Relationship Type="http://schemas.openxmlformats.org/officeDocument/2006/relationships/slide" Target="/ppt/slides/slide2.xml" Id="Rd3dc59dbeeb74876" /><Relationship Type="http://schemas.openxmlformats.org/officeDocument/2006/relationships/slide" Target="/ppt/slides/slide3.xml" Id="R737edcf6dd724bcf" /><Relationship Type="http://schemas.openxmlformats.org/officeDocument/2006/relationships/slide" Target="/ppt/slides/slide4.xml" Id="R14d74b4d75e24511" /><Relationship Type="http://schemas.openxmlformats.org/officeDocument/2006/relationships/slide" Target="/ppt/slides/slide5.xml" Id="Rfdb5d404250f4325" /><Relationship Type="http://schemas.openxmlformats.org/officeDocument/2006/relationships/slide" Target="/ppt/slides/slide6.xml" Id="Ref11d7d04ded420a" /><Relationship Type="http://schemas.openxmlformats.org/officeDocument/2006/relationships/slide" Target="/ppt/slides/slide7.xml" Id="R781aef4806cc44b8" /><Relationship Type="http://schemas.openxmlformats.org/officeDocument/2006/relationships/slide" Target="/ppt/slides/slide8.xml" Id="R4a06a4be27304ae9" /><Relationship Type="http://schemas.openxmlformats.org/officeDocument/2006/relationships/slide" Target="/ppt/slides/slide9.xml" Id="R69748216e6154acd" /><Relationship Type="http://schemas.openxmlformats.org/officeDocument/2006/relationships/slide" Target="/ppt/slides/slide10.xml" Id="R2a66914fdad44fc0" /><Relationship Type="http://schemas.openxmlformats.org/officeDocument/2006/relationships/slide" Target="/ppt/slides/slide11.xml" Id="Rf5b68528e42449b8" /><Relationship Type="http://schemas.openxmlformats.org/officeDocument/2006/relationships/slide" Target="/ppt/slides/slide12.xml" Id="R26a677f0af3f420a" /><Relationship Type="http://schemas.openxmlformats.org/officeDocument/2006/relationships/slide" Target="/ppt/slides/slide13.xml" Id="Rd43f6c27eaf04d8a" /><Relationship Type="http://schemas.openxmlformats.org/officeDocument/2006/relationships/slide" Target="/ppt/slides/slide14.xml" Id="Raab7568f0506477f" /><Relationship Type="http://schemas.openxmlformats.org/officeDocument/2006/relationships/slide" Target="/ppt/slides/slide15.xml" Id="Rc4d8eda8860540b1" /><Relationship Type="http://schemas.openxmlformats.org/officeDocument/2006/relationships/slide" Target="/ppt/slides/slide16.xml" Id="R8ecb196e57834dca" /><Relationship Type="http://schemas.openxmlformats.org/officeDocument/2006/relationships/slide" Target="/ppt/slides/slide17.xml" Id="Rf2dc9259216e484a" /><Relationship Type="http://schemas.openxmlformats.org/officeDocument/2006/relationships/slide" Target="/ppt/slides/slide18.xml" Id="R8e090a1e20e949fd" /><Relationship Type="http://schemas.openxmlformats.org/officeDocument/2006/relationships/slide" Target="/ppt/slides/slide19.xml" Id="R45ee4d6ff57740c7" /><Relationship Type="http://schemas.openxmlformats.org/officeDocument/2006/relationships/slide" Target="/ppt/slides/slide20.xml" Id="Rc090bbe5b3014d23" /><Relationship Type="http://schemas.openxmlformats.org/officeDocument/2006/relationships/slide" Target="/ppt/slides/slide21.xml" Id="R582f16d0032948db" /><Relationship Type="http://schemas.openxmlformats.org/officeDocument/2006/relationships/slide" Target="/ppt/slides/slide22.xml" Id="R27879c871f884fa7" /><Relationship Type="http://schemas.openxmlformats.org/officeDocument/2006/relationships/slide" Target="/ppt/slides/slide23.xml" Id="Ra5758c277f734bad" /><Relationship Type="http://schemas.openxmlformats.org/officeDocument/2006/relationships/slide" Target="/ppt/slides/slide24.xml" Id="R3d456ed5257f4914" /><Relationship Type="http://schemas.openxmlformats.org/officeDocument/2006/relationships/slide" Target="/ppt/slides/slide25.xml" Id="Rd3cbbef222eb4728" /><Relationship Type="http://schemas.openxmlformats.org/officeDocument/2006/relationships/slide" Target="/ppt/slides/slide26.xml" Id="R53db6c0b18624dc2" /><Relationship Type="http://schemas.openxmlformats.org/officeDocument/2006/relationships/slide" Target="/ppt/slides/slide27.xml" Id="R331a74b38a7147d5" /><Relationship Type="http://schemas.openxmlformats.org/officeDocument/2006/relationships/slide" Target="/ppt/slides/slide28.xml" Id="R832ce25cbe114921" /><Relationship Type="http://schemas.openxmlformats.org/officeDocument/2006/relationships/slide" Target="/ppt/slides/slide29.xml" Id="R8614e8bee02b43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e4963e7a35f44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6761c175d14875" /><Relationship Type="http://schemas.openxmlformats.org/officeDocument/2006/relationships/notesMaster" Target="/ppt/notesMasters/notesMaster1.xml" Id="Rf733d9ed8e354d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b28f2c684f4ebf" /><Relationship Type="http://schemas.openxmlformats.org/officeDocument/2006/relationships/notesMaster" Target="/ppt/notesMasters/notesMaster1.xml" Id="R2f4eb07234d94d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cb94e1e7bd4d32" /><Relationship Type="http://schemas.openxmlformats.org/officeDocument/2006/relationships/notesMaster" Target="/ppt/notesMasters/notesMaster1.xml" Id="Rc4746fbb7dfc4f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cbe3283372499d" /><Relationship Type="http://schemas.openxmlformats.org/officeDocument/2006/relationships/notesMaster" Target="/ppt/notesMasters/notesMaster1.xml" Id="R01f8d9845d0349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6cf0bac0a44842" /><Relationship Type="http://schemas.openxmlformats.org/officeDocument/2006/relationships/notesMaster" Target="/ppt/notesMasters/notesMaster1.xml" Id="R19c3369f650c42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f53b6466254b53" /><Relationship Type="http://schemas.openxmlformats.org/officeDocument/2006/relationships/notesMaster" Target="/ppt/notesMasters/notesMaster1.xml" Id="R5eed2c700c3f44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bb9b116d48d4223" /><Relationship Type="http://schemas.openxmlformats.org/officeDocument/2006/relationships/notesMaster" Target="/ppt/notesMasters/notesMaster1.xml" Id="R0e37557b5a3f44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1e7fb6f9804ce8" /><Relationship Type="http://schemas.openxmlformats.org/officeDocument/2006/relationships/notesMaster" Target="/ppt/notesMasters/notesMaster1.xml" Id="R03c9e1905c6c48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69d9df19e4c0484a" /><Relationship Type="http://schemas.openxmlformats.org/officeDocument/2006/relationships/notesMaster" Target="/ppt/notesMasters/notesMaster1.xml" Id="Ra394a6e50c5441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9f4b8b55b54434" /><Relationship Type="http://schemas.openxmlformats.org/officeDocument/2006/relationships/notesMaster" Target="/ppt/notesMasters/notesMaster1.xml" Id="Rde9ebf8d15ad48d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1ec94f3bf7446c6" /><Relationship Type="http://schemas.openxmlformats.org/officeDocument/2006/relationships/notesMaster" Target="/ppt/notesMasters/notesMaster1.xml" Id="Rd6107d617cb547a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df95392dffd4cc7" /><Relationship Type="http://schemas.openxmlformats.org/officeDocument/2006/relationships/notesMaster" Target="/ppt/notesMasters/notesMaster1.xml" Id="R0793b3a07aa442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0a3735de45b4c76" /><Relationship Type="http://schemas.openxmlformats.org/officeDocument/2006/relationships/notesMaster" Target="/ppt/notesMasters/notesMaster1.xml" Id="R251d3f29d93948f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59cf9c77803451e" /><Relationship Type="http://schemas.openxmlformats.org/officeDocument/2006/relationships/notesMaster" Target="/ppt/notesMasters/notesMaster1.xml" Id="R2c6357e2453c41f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ff43199bb0f4d46" /><Relationship Type="http://schemas.openxmlformats.org/officeDocument/2006/relationships/notesMaster" Target="/ppt/notesMasters/notesMaster1.xml" Id="R81a79e57f4b84af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e1396c99a1f4d81" /><Relationship Type="http://schemas.openxmlformats.org/officeDocument/2006/relationships/notesMaster" Target="/ppt/notesMasters/notesMaster1.xml" Id="R6a86458cee964db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b7313afbe45403d" /><Relationship Type="http://schemas.openxmlformats.org/officeDocument/2006/relationships/notesMaster" Target="/ppt/notesMasters/notesMaster1.xml" Id="Ref5f59c6d0ed4bc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a625222dfeb4d8e" /><Relationship Type="http://schemas.openxmlformats.org/officeDocument/2006/relationships/notesMaster" Target="/ppt/notesMasters/notesMaster1.xml" Id="R5a44f512145f497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4815f53038b4dac" /><Relationship Type="http://schemas.openxmlformats.org/officeDocument/2006/relationships/notesMaster" Target="/ppt/notesMasters/notesMaster1.xml" Id="R5728f34da8cd479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70c32d5b27a4491" /><Relationship Type="http://schemas.openxmlformats.org/officeDocument/2006/relationships/notesMaster" Target="/ppt/notesMasters/notesMaster1.xml" Id="Rec0ea39e8537420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f53e2b94acd44cf" /><Relationship Type="http://schemas.openxmlformats.org/officeDocument/2006/relationships/notesMaster" Target="/ppt/notesMasters/notesMaster1.xml" Id="R72473f42247b4ef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52bc4a1af1a4bc1" /><Relationship Type="http://schemas.openxmlformats.org/officeDocument/2006/relationships/notesMaster" Target="/ppt/notesMasters/notesMaster1.xml" Id="R377c641810c146e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2f1702945994909" /><Relationship Type="http://schemas.openxmlformats.org/officeDocument/2006/relationships/notesMaster" Target="/ppt/notesMasters/notesMaster1.xml" Id="R28a5daf3f31c45d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5a665f4790a4503" /><Relationship Type="http://schemas.openxmlformats.org/officeDocument/2006/relationships/notesMaster" Target="/ppt/notesMasters/notesMaster1.xml" Id="Rfc50ba3ac482462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fdcc7229c124769" /><Relationship Type="http://schemas.openxmlformats.org/officeDocument/2006/relationships/notesMaster" Target="/ppt/notesMasters/notesMaster1.xml" Id="Rfb26b61230194ed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94b704311c14aef" /><Relationship Type="http://schemas.openxmlformats.org/officeDocument/2006/relationships/notesMaster" Target="/ppt/notesMasters/notesMaster1.xml" Id="R10a5fbe8cb96402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9b542df0ac543c2" /><Relationship Type="http://schemas.openxmlformats.org/officeDocument/2006/relationships/notesMaster" Target="/ppt/notesMasters/notesMaster1.xml" Id="R057e6acbb2df4e8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779db6858c542cc" /><Relationship Type="http://schemas.openxmlformats.org/officeDocument/2006/relationships/notesMaster" Target="/ppt/notesMasters/notesMaster1.xml" Id="R000defb66e024e2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5fa470590dc4f34" /><Relationship Type="http://schemas.openxmlformats.org/officeDocument/2006/relationships/notesMaster" Target="/ppt/notesMasters/notesMaster1.xml" Id="Rd3921fa2f26e4f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bewerking herken je, en waarvoor gebruik je de theorie?</a:t>
            </a:r>
          </a:p>
          <a:p xmlns:a="http://schemas.openxmlformats.org/drawingml/2006/main">
            <a:r>
              <a:rPr sz="1400"/>
              <a:t/>
            </a:r>
          </a:p>
          <a:p xmlns:a="http://schemas.openxmlformats.org/drawingml/2006/main">
            <a:r>
              <a:rPr sz="1400"/>
              <a:t>Uitleg: Laat dit overzicht staan tijdens startopdracht. Start 1–2: p. 11. Basis 3: p. 11 en 4: p. 12. Zelfstandig 5–6: p. 13. Doel 7: p. 14. Huiswerk 3, 4, 5, 6 en 7 maken en nakijken. Bonus 8 en herhaling 9–10 zijn extra. Opgave 1 herhaalt MK afleiden, MO=MK met capaciteitscontrole, TO, TK, winst en GTK uit §§3.2.2–3.2.3. Geef zo nodig de geheugensteun MK=2aq+b, MO=P, TO=Pq en GTK=TK/q zonder de opgave voor te rekenen. Opgave 2 is een eerste verkenning van economische winst en normale beloning: lees daarvoor p. 7, zoek welke kosten in TK zitten en noteer twijfel. Verwacht nog geen beheerste nieuwe begrippen. Bij terugkeer vóór basiswerk laat leerlingen opgave 2 opnieuw verklaren en bespreek de betekenis. De docenteninformatie adviseert voorlopig twee lessen van 55 minuten; dit is niet gemeten. Rond de hele route zo nodig later of als huiswerk af.</a:t>
            </a:r>
          </a:p>
          <a:p xmlns:a="http://schemas.openxmlformats.org/drawingml/2006/main">
            <a:r>
              <a:rPr sz="1400"/>
              <a:t/>
            </a:r>
          </a:p>
          <a:p xmlns:a="http://schemas.openxmlformats.org/drawingml/2006/main">
            <a:r>
              <a:rPr sz="1400"/>
              <a:t>Misvatting: Hoofdstukpagina 7 is complete-boekpagina 11. Nul economische winst is nieuwe leerstof.</a:t>
            </a:r>
          </a:p>
          <a:p xmlns:a="http://schemas.openxmlformats.org/drawingml/2006/main">
            <a:r>
              <a:rPr sz="1400"/>
              <a:t/>
            </a:r>
          </a:p>
          <a:p xmlns:a="http://schemas.openxmlformats.org/drawingml/2006/main">
            <a:r>
              <a:rPr sz="1400"/>
              <a:t>Overgang: Volg de lesfase en bied begeleiding bij het basiswerk.</a:t>
            </a:r>
          </a:p>
          <a:p xmlns:a="http://schemas.openxmlformats.org/drawingml/2006/main">
            <a:r>
              <a:rPr sz="1400"/>
              <a:t/>
            </a:r>
          </a:p>
          <a:p xmlns:a="http://schemas.openxmlformats.org/drawingml/2006/main">
            <a:r>
              <a:rPr sz="1400"/>
              <a:t>Bron: Boek 4 v3, gedrukte volledige-boekpagina 7–14.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bedrag ontvangt de ondernemer al vóór we economische winst berekenen?</a:t>
            </a:r>
          </a:p>
          <a:p xmlns:a="http://schemas.openxmlformats.org/drawingml/2006/main">
            <a:r>
              <a:rPr sz="1400"/>
              <a:t/>
            </a:r>
          </a:p>
          <a:p xmlns:a="http://schemas.openxmlformats.org/drawingml/2006/main">
            <a:r>
              <a:rPr sz="1400"/>
              <a:t>Uitleg: Introduceer dit onderscheid hier. De normale vergoeding voor werk en eigen geld zit al in TK. Economische winst is het restant. Laat leerlingen bij opgave 2 de zin over de normale vergoeding terugzoeken. De doelen: de aanpassing verklaren, beide grafieken tekenen en nulwinst berekenen én interpreteren.</a:t>
            </a:r>
          </a:p>
          <a:p xmlns:a="http://schemas.openxmlformats.org/drawingml/2006/main">
            <a:r>
              <a:rPr sz="1400"/>
              <a:t/>
            </a:r>
          </a:p>
          <a:p xmlns:a="http://schemas.openxmlformats.org/drawingml/2006/main">
            <a:r>
              <a:rPr sz="1400"/>
              <a:t>Misvatting: Nul economische winst betekent niet nul omzet of gratis werken.</a:t>
            </a:r>
          </a:p>
          <a:p xmlns:a="http://schemas.openxmlformats.org/drawingml/2006/main">
            <a:r>
              <a:rPr sz="1400"/>
              <a:t/>
            </a:r>
          </a:p>
          <a:p xmlns:a="http://schemas.openxmlformats.org/drawingml/2006/main">
            <a:r>
              <a:rPr sz="1400"/>
              <a:t>Overgang: Stel vast wanneer het aantal bedrijven kan veranderen.</a:t>
            </a:r>
          </a:p>
          <a:p xmlns:a="http://schemas.openxmlformats.org/drawingml/2006/main">
            <a:r>
              <a:rPr sz="1400"/>
              <a:t/>
            </a:r>
          </a:p>
          <a:p xmlns:a="http://schemas.openxmlformats.org/drawingml/2006/main">
            <a:r>
              <a:rPr sz="1400"/>
              <a:t>Bron: Boek 4 v3, gedrukte volledige-boekpagina 7, 10.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kan op lange termijn veranderen dat deze week nog vastligt?</a:t>
            </a:r>
          </a:p>
          <a:p xmlns:a="http://schemas.openxmlformats.org/drawingml/2006/main">
            <a:r>
              <a:rPr sz="1400"/>
              <a:t/>
            </a:r>
          </a:p>
          <a:p xmlns:a="http://schemas.openxmlformats.org/drawingml/2006/main">
            <a:r>
              <a:rPr sz="1400"/>
              <a:t>Uitleg: Het onderscheid gaat over aanpassingsmogelijkheden, niet een vast aantal maanden. Voor nulwinst moet de normale beloning in de kosten zitten. We werken met prijsnemende ondernemingen en dezelfde techniek voor nieuwkomers en bestaande bedrijven.</a:t>
            </a:r>
          </a:p>
          <a:p xmlns:a="http://schemas.openxmlformats.org/drawingml/2006/main">
            <a:r>
              <a:rPr sz="1400"/>
              <a:t/>
            </a:r>
          </a:p>
          <a:p xmlns:a="http://schemas.openxmlformats.org/drawingml/2006/main">
            <a:r>
              <a:rPr sz="1400"/>
              <a:t>Misvatting: Toetreding maakt niet vanzelf de kostencurve van één bedrijf goedkoper.</a:t>
            </a:r>
          </a:p>
          <a:p xmlns:a="http://schemas.openxmlformats.org/drawingml/2006/main">
            <a:r>
              <a:rPr sz="1400"/>
              <a:t/>
            </a:r>
          </a:p>
          <a:p xmlns:a="http://schemas.openxmlformats.org/drawingml/2006/main">
            <a:r>
              <a:rPr sz="1400"/>
              <a:t>Overgang: Gebruik een eigen markt om de aanpassing te volgen.</a:t>
            </a:r>
          </a:p>
          <a:p xmlns:a="http://schemas.openxmlformats.org/drawingml/2006/main">
            <a:r>
              <a:rPr sz="1400"/>
              <a:t/>
            </a:r>
          </a:p>
          <a:p xmlns:a="http://schemas.openxmlformats.org/drawingml/2006/main">
            <a:r>
              <a:rPr sz="1400"/>
              <a:t>Bron: Boek 4 v3, gedrukte volledige-boekpagina 7–10.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gaan over één onderneming?</a:t>
            </a:r>
          </a:p>
          <a:p xmlns:a="http://schemas.openxmlformats.org/drawingml/2006/main">
            <a:r>
              <a:rPr sz="1400"/>
              <a:t/>
            </a:r>
          </a:p>
          <a:p xmlns:a="http://schemas.openxmlformats.org/drawingml/2006/main">
            <a:r>
              <a:rPr sz="1400"/>
              <a:t>Uitleg: Afzonderlijk uitlegvoorbeeld. Alle geproduceerde kg worden verkocht. Kg zijn deelbaar. Houd steeds één week als periode. Minimum GTK is gegeven, zoals in de doelopgave. Laat dit minimum niet zonder uitleg zelf differentiëren.</a:t>
            </a:r>
          </a:p>
          <a:p xmlns:a="http://schemas.openxmlformats.org/drawingml/2006/main">
            <a:r>
              <a:rPr sz="1400"/>
              <a:t/>
            </a:r>
          </a:p>
          <a:p xmlns:a="http://schemas.openxmlformats.org/drawingml/2006/main">
            <a:r>
              <a:rPr sz="1400"/>
              <a:t>Misvatting: Dit zijn geen getallen van een toegewezen boekopgave.</a:t>
            </a:r>
          </a:p>
          <a:p xmlns:a="http://schemas.openxmlformats.org/drawingml/2006/main">
            <a:r>
              <a:rPr sz="1400"/>
              <a:t/>
            </a:r>
          </a:p>
          <a:p xmlns:a="http://schemas.openxmlformats.org/drawingml/2006/main">
            <a:r>
              <a:rPr sz="1400"/>
              <a:t>Overgang: Fris de marginale keuze uit Boek 3 op.</a:t>
            </a:r>
          </a:p>
          <a:p xmlns:a="http://schemas.openxmlformats.org/drawingml/2006/main">
            <a:r>
              <a:rPr sz="1400"/>
              <a:t/>
            </a:r>
          </a:p>
          <a:p xmlns:a="http://schemas.openxmlformats.org/drawingml/2006/main">
            <a:r>
              <a:rPr sz="1400"/>
              <a:t>Bron: Boek 4 v3, gedrukte volledige-boekpagina 7–10.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Uitlegvoorbeeld — niet uit het boek. Cellulosekorrels, functies en getallen zijn speciaal voor deze uitleg gemaakt. De boekbron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90 wel in TK maar niet in MK nodig?</a:t>
            </a:r>
          </a:p>
          <a:p xmlns:a="http://schemas.openxmlformats.org/drawingml/2006/main">
            <a:r>
              <a:rPr sz="1400"/>
              <a:t/>
            </a:r>
          </a:p>
          <a:p xmlns:a="http://schemas.openxmlformats.org/drawingml/2006/main">
            <a:r>
              <a:rPr sz="1400"/>
              <a:t>Uitleg: Herhaal de methode uit Boek 3 §3.2.2 p. 63 en §3.2.3 p. 70: verdubbel de coefficient van q², neem de coefficient van q over, de constante verdwijnt uit MK. Bij 40 is MK 9 &lt; MO 11, bij 60 is MK 13 &gt; MO 11. De winst stijgt vóór 50 en daalt erna. q=50 is haalbaar.</a:t>
            </a:r>
          </a:p>
          <a:p xmlns:a="http://schemas.openxmlformats.org/drawingml/2006/main">
            <a:r>
              <a:rPr sz="1400"/>
              <a:t/>
            </a:r>
          </a:p>
          <a:p xmlns:a="http://schemas.openxmlformats.org/drawingml/2006/main">
            <a:r>
              <a:rPr sz="1400"/>
              <a:t>Misvatting: MO=MK zonder capaciteits- en richtingscontrole is onvoldoende.</a:t>
            </a:r>
          </a:p>
          <a:p xmlns:a="http://schemas.openxmlformats.org/drawingml/2006/main">
            <a:r>
              <a:rPr sz="1400"/>
              <a:t/>
            </a:r>
          </a:p>
          <a:p xmlns:a="http://schemas.openxmlformats.org/drawingml/2006/main">
            <a:r>
              <a:rPr sz="1400"/>
              <a:t>Overgang: Bereken wat bij deze productie overblijft.</a:t>
            </a:r>
          </a:p>
          <a:p xmlns:a="http://schemas.openxmlformats.org/drawingml/2006/main">
            <a:r>
              <a:rPr sz="1400"/>
              <a:t/>
            </a:r>
          </a:p>
          <a:p xmlns:a="http://schemas.openxmlformats.org/drawingml/2006/main">
            <a:r>
              <a:rPr sz="1400"/>
              <a:t>Bron: Boek 4 v3, gedrukte volledige-boekpagina 7–10.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Uitlegvoorbeeld — niet uit het boek. Cellulosekorrels, functies en getallen zijn speciaal voor deze uitleg gemaakt. De boekbron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Is de 160 euro de normale vergoeding of extra winst?</a:t>
            </a:r>
          </a:p>
          <a:p xmlns:a="http://schemas.openxmlformats.org/drawingml/2006/main">
            <a:r>
              <a:rPr sz="1400"/>
              <a:t/>
            </a:r>
          </a:p>
          <a:p xmlns:a="http://schemas.openxmlformats.org/drawingml/2006/main">
            <a:r>
              <a:rPr sz="1400"/>
              <a:t>Uitleg: Controleer de kwadratische term: 0,10×2500=250. Bij q=0 is het verlies 90, als die kosten deze week onvermijdbaar zijn. Produceren is hier beter. P=11 ligt boven GTK=7,80. De normale beloning is al betaald binnen TK.</a:t>
            </a:r>
          </a:p>
          <a:p xmlns:a="http://schemas.openxmlformats.org/drawingml/2006/main">
            <a:r>
              <a:rPr sz="1400"/>
              <a:t/>
            </a:r>
          </a:p>
          <a:p xmlns:a="http://schemas.openxmlformats.org/drawingml/2006/main">
            <a:r>
              <a:rPr sz="1400"/>
              <a:t>Misvatting: De constante term blijft in TK staan.</a:t>
            </a:r>
          </a:p>
          <a:p xmlns:a="http://schemas.openxmlformats.org/drawingml/2006/main">
            <a:r>
              <a:rPr sz="1400"/>
              <a:t/>
            </a:r>
          </a:p>
          <a:p xmlns:a="http://schemas.openxmlformats.org/drawingml/2006/main">
            <a:r>
              <a:rPr sz="1400"/>
              <a:t>Overgang: Bekijk waarom deze extra winst nieuwe bedrijven aantrekt.</a:t>
            </a:r>
          </a:p>
          <a:p xmlns:a="http://schemas.openxmlformats.org/drawingml/2006/main">
            <a:r>
              <a:rPr sz="1400"/>
              <a:t/>
            </a:r>
          </a:p>
          <a:p xmlns:a="http://schemas.openxmlformats.org/drawingml/2006/main">
            <a:r>
              <a:rPr sz="1400"/>
              <a:t>Bron: Boek 4 v3, gedrukte volledige-boekpagina 7–10.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Uitlegvoorbeeld — niet uit het boek. Cellulosekorrels, functies en getallen zijn speciaal voor deze uitleg gemaakt. De boekbron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lees je de prijs af die het bedrijf ontvangt?</a:t>
            </a:r>
          </a:p>
          <a:p xmlns:a="http://schemas.openxmlformats.org/drawingml/2006/main">
            <a:r>
              <a:rPr sz="1400"/>
              <a:t/>
            </a:r>
          </a:p>
          <a:p xmlns:a="http://schemas.openxmlformats.org/drawingml/2006/main">
            <a:r>
              <a:rPr sz="1400"/>
              <a:t>Uitleg: Nieuw geconstrueerde markt: V: P=15−0,10Q en A₀: P=1+0,25Q, met Q in duizend kg per week. Evenwicht Q=40, P=11. Deze prijs wordt door het kleine bedrijf overgenomen.</a:t>
            </a:r>
          </a:p>
          <a:p xmlns:a="http://schemas.openxmlformats.org/drawingml/2006/main">
            <a:r>
              <a:rPr sz="1400"/>
              <a:t/>
            </a:r>
          </a:p>
          <a:p xmlns:a="http://schemas.openxmlformats.org/drawingml/2006/main">
            <a:r>
              <a:rPr sz="1400"/>
              <a:t>Misvatting: De horizontale as is duizenden kg, niet q van één bedrijf.</a:t>
            </a:r>
          </a:p>
          <a:p xmlns:a="http://schemas.openxmlformats.org/drawingml/2006/main">
            <a:r>
              <a:rPr sz="1400"/>
              <a:t/>
            </a:r>
          </a:p>
          <a:p xmlns:a="http://schemas.openxmlformats.org/drawingml/2006/main">
            <a:r>
              <a:rPr sz="1400"/>
              <a:t>Overgang: Voeg het grotere aanbod bij dezelfde vraag toe.</a:t>
            </a:r>
          </a:p>
          <a:p xmlns:a="http://schemas.openxmlformats.org/drawingml/2006/main">
            <a:r>
              <a:rPr sz="1400"/>
              <a:t/>
            </a:r>
          </a:p>
          <a:p xmlns:a="http://schemas.openxmlformats.org/drawingml/2006/main">
            <a:r>
              <a:rPr sz="1400"/>
              <a:t>Bron: Boek 4 v3, gedrukte volledige-boekpagina 8.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Uitlegvoorbeeld — niet uit het boek. Cellulosekorrels, functies en getallen zijn speciaal voor deze uitleg gemaakt. De boekbron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lijn verschuift en welke lijn blijft staan?</a:t>
            </a:r>
          </a:p>
          <a:p xmlns:a="http://schemas.openxmlformats.org/drawingml/2006/main">
            <a:r>
              <a:rPr sz="1400"/>
              <a:t/>
            </a:r>
          </a:p>
          <a:p xmlns:a="http://schemas.openxmlformats.org/drawingml/2006/main">
            <a:r>
              <a:rPr sz="1400"/>
              <a:t>Uitleg: Nieuwe bedrijven bieden bij elke prijs meer aan. V blijft staan. De voorbeeldlijn A₁: P=1+0,075Q geeft E₁ bij Q=80 en P=7. De marktcurven tellen individuele aanbiedingen horizontaal op: bij N identieke actieve bedrijven is P=1+(200/N)Q. Toetreding verlaagt de helling; het prijsintercept blijft 1, hetzelfde als bij MK. Laat bij P=11 zien dat A₁ rechts van A₀ ligt. Door meer aanbod daalt de marktprijs, waardoor overwinst kleiner wordt.</a:t>
            </a:r>
          </a:p>
          <a:p xmlns:a="http://schemas.openxmlformats.org/drawingml/2006/main">
            <a:r>
              <a:rPr sz="1400"/>
              <a:t/>
            </a:r>
          </a:p>
          <a:p xmlns:a="http://schemas.openxmlformats.org/drawingml/2006/main">
            <a:r>
              <a:rPr sz="1400"/>
              <a:t>Misvatting: Prijsdaling is een beweging langs V, geen verschuiving van V.</a:t>
            </a:r>
          </a:p>
          <a:p xmlns:a="http://schemas.openxmlformats.org/drawingml/2006/main">
            <a:r>
              <a:rPr sz="1400"/>
              <a:t/>
            </a:r>
          </a:p>
          <a:p xmlns:a="http://schemas.openxmlformats.org/drawingml/2006/main">
            <a:r>
              <a:rPr sz="1400"/>
              <a:t>Overgang: Volg dezelfde prijsverandering bij één bedrijf.</a:t>
            </a:r>
          </a:p>
          <a:p xmlns:a="http://schemas.openxmlformats.org/drawingml/2006/main">
            <a:r>
              <a:rPr sz="1400"/>
              <a:t/>
            </a:r>
          </a:p>
          <a:p xmlns:a="http://schemas.openxmlformats.org/drawingml/2006/main">
            <a:r>
              <a:rPr sz="1400"/>
              <a:t>Bron: Boek 4 v3, gedrukte volledige-boekpagina 8, 10.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Uitlegvoorbeeld — niet uit het boek. Cellulosekorrels, functies en getallen zijn speciaal voor deze uitleg gemaakt. De boekbron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 prijslijn horizontaal?</a:t>
            </a:r>
          </a:p>
          <a:p xmlns:a="http://schemas.openxmlformats.org/drawingml/2006/main">
            <a:r>
              <a:rPr sz="1400"/>
              <a:t/>
            </a:r>
          </a:p>
          <a:p xmlns:a="http://schemas.openxmlformats.org/drawingml/2006/main">
            <a:r>
              <a:rPr sz="1400"/>
              <a:t>Uitleg: De verticale as geeft bedragen per kg. De horizontale MO-lijn kruist stijgende MK bij 50. GTK bij 50 is 7,80, lager dan de prijs. De kostencurven horen bij onze vaste TK-functie.</a:t>
            </a:r>
          </a:p>
          <a:p xmlns:a="http://schemas.openxmlformats.org/drawingml/2006/main">
            <a:r>
              <a:rPr sz="1400"/>
              <a:t/>
            </a:r>
          </a:p>
          <a:p xmlns:a="http://schemas.openxmlformats.org/drawingml/2006/main">
            <a:r>
              <a:rPr sz="1400"/>
              <a:t>Misvatting: De individuele onderneming is prijsnemer; dit is niet de marktvraag.</a:t>
            </a:r>
          </a:p>
          <a:p xmlns:a="http://schemas.openxmlformats.org/drawingml/2006/main">
            <a:r>
              <a:rPr sz="1400"/>
              <a:t/>
            </a:r>
          </a:p>
          <a:p xmlns:a="http://schemas.openxmlformats.org/drawingml/2006/main">
            <a:r>
              <a:rPr sz="1400"/>
              <a:t>Overgang: Verlaag nu de prijslijn, met dezelfde kosten en assen.</a:t>
            </a:r>
          </a:p>
          <a:p xmlns:a="http://schemas.openxmlformats.org/drawingml/2006/main">
            <a:r>
              <a:rPr sz="1400"/>
              <a:t/>
            </a:r>
          </a:p>
          <a:p xmlns:a="http://schemas.openxmlformats.org/drawingml/2006/main">
            <a:r>
              <a:rPr sz="1400"/>
              <a:t>Bron: Boek 4 v3, gedrukte volledige-boekpagina 8, 10.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Uitlegvoorbeeld — niet uit het boek. Cellulosekorrels, functies en getallen zijn speciaal voor deze uitleg gemaakt. De boekbron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verschuift GTK niet als er bedrijven bijkomen?</a:t>
            </a:r>
          </a:p>
          <a:p xmlns:a="http://schemas.openxmlformats.org/drawingml/2006/main">
            <a:r>
              <a:rPr sz="1400"/>
              <a:t/>
            </a:r>
          </a:p>
          <a:p xmlns:a="http://schemas.openxmlformats.org/drawingml/2006/main">
            <a:r>
              <a:rPr sz="1400"/>
              <a:t>Uitleg: Teken alleen de nieuwe prijslijn lager. De ongewijzigde MK geeft q=30. GTK bereikt daar zijn gegeven minimum 7. Samen produceren meer bedrijven 80.000 kg, terwijl één bedrijf minder produceert. De marktgrootheden zijn een continu onderwijsmodel; het precieze gehele aantal bedrijven is geen gevraagde uitkomst.</a:t>
            </a:r>
          </a:p>
          <a:p xmlns:a="http://schemas.openxmlformats.org/drawingml/2006/main">
            <a:r>
              <a:rPr sz="1400"/>
              <a:t/>
            </a:r>
          </a:p>
          <a:p xmlns:a="http://schemas.openxmlformats.org/drawingml/2006/main">
            <a:r>
              <a:rPr sz="1400"/>
              <a:t>Misvatting: Meer marktaanbod betekent niet dat ieder bedrijf meer maakt.</a:t>
            </a:r>
          </a:p>
          <a:p xmlns:a="http://schemas.openxmlformats.org/drawingml/2006/main">
            <a:r>
              <a:rPr sz="1400"/>
              <a:t/>
            </a:r>
          </a:p>
          <a:p xmlns:a="http://schemas.openxmlformats.org/drawingml/2006/main">
            <a:r>
              <a:rPr sz="1400"/>
              <a:t>Overgang: Controleer de nulwinst met totale bedragen.</a:t>
            </a:r>
          </a:p>
          <a:p xmlns:a="http://schemas.openxmlformats.org/drawingml/2006/main">
            <a:r>
              <a:rPr sz="1400"/>
              <a:t/>
            </a:r>
          </a:p>
          <a:p xmlns:a="http://schemas.openxmlformats.org/drawingml/2006/main">
            <a:r>
              <a:rPr sz="1400"/>
              <a:t>Bron: Boek 4 v3, gedrukte volledige-boekpagina 8, 10.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Uitlegvoorbeeld — niet uit het boek. Cellulosekorrels, functies en getallen zijn speciaal voor deze uitleg gemaakt. De boekbron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trekt deze uitkomst geen nieuwe bedrijven aan voor overwinst?</a:t>
            </a:r>
          </a:p>
          <a:p xmlns:a="http://schemas.openxmlformats.org/drawingml/2006/main">
            <a:r>
              <a:rPr sz="1400"/>
              <a:t/>
            </a:r>
          </a:p>
          <a:p xmlns:a="http://schemas.openxmlformats.org/drawingml/2006/main">
            <a:r>
              <a:rPr sz="1400"/>
              <a:t>Uitleg: De gegeven minimum- GTK-uitkomst combineert de marginale keuze met volledige kostendekking. TO en TK zijn beide positief. Onder de aannames ontbreekt een prikkel voor verdere toetreding vanwege extra winst.</a:t>
            </a:r>
          </a:p>
          <a:p xmlns:a="http://schemas.openxmlformats.org/drawingml/2006/main">
            <a:r>
              <a:rPr sz="1400"/>
              <a:t/>
            </a:r>
          </a:p>
          <a:p xmlns:a="http://schemas.openxmlformats.org/drawingml/2006/main">
            <a:r>
              <a:rPr sz="1400"/>
              <a:t>Misvatting: Nulwinst is niet nul opbrengst. Buiten de genoemde aannames volgt nulwinst niet vanzelf.</a:t>
            </a:r>
          </a:p>
          <a:p xmlns:a="http://schemas.openxmlformats.org/drawingml/2006/main">
            <a:r>
              <a:rPr sz="1400"/>
              <a:t/>
            </a:r>
          </a:p>
          <a:p xmlns:a="http://schemas.openxmlformats.org/drawingml/2006/main">
            <a:r>
              <a:rPr sz="1400"/>
              <a:t>Overgang: Herstart hetzelfde kostenmodel vanuit een verliesprijs.</a:t>
            </a:r>
          </a:p>
          <a:p xmlns:a="http://schemas.openxmlformats.org/drawingml/2006/main">
            <a:r>
              <a:rPr sz="1400"/>
              <a:t/>
            </a:r>
          </a:p>
          <a:p xmlns:a="http://schemas.openxmlformats.org/drawingml/2006/main">
            <a:r>
              <a:rPr sz="1400"/>
              <a:t>Bron: Boek 4 v3, gedrukte volledige-boekpagina 10.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Uitlegvoorbeeld — niet uit het boek. Cellulosekorrels, functies en getallen zijn speciaal voor deze uitleg gemaakt. De boekbron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verandert er op langere termijn als verlies aanhoudt?</a:t>
            </a:r>
          </a:p>
          <a:p xmlns:a="http://schemas.openxmlformats.org/drawingml/2006/main">
            <a:r>
              <a:rPr sz="1400"/>
              <a:t/>
            </a:r>
          </a:p>
          <a:p xmlns:a="http://schemas.openxmlformats.org/drawingml/2006/main">
            <a:r>
              <a:rPr sz="1400"/>
              <a:t>Uitleg: Expliciete scenariowissel: dit is een alternatieve beginmarkt, niet de volgende stap na evenwicht. Kosten blijven gelijk. q=20 past in capaciteit en MK stijgt door MO. Bij aanhoudend verlies treden op lange termijn sommige bedrijven uit. Deze week is stoppen niet automatisch beter: bij onvermijdbare 90 is verlies bij q=0 groter.</a:t>
            </a:r>
          </a:p>
          <a:p xmlns:a="http://schemas.openxmlformats.org/drawingml/2006/main">
            <a:r>
              <a:rPr sz="1400"/>
              <a:t/>
            </a:r>
          </a:p>
          <a:p xmlns:a="http://schemas.openxmlformats.org/drawingml/2006/main">
            <a:r>
              <a:rPr sz="1400"/>
              <a:t>Misvatting: Economisch verlies is zonder extra informatie geen opdracht om vandaag stil te leggen.</a:t>
            </a:r>
          </a:p>
          <a:p xmlns:a="http://schemas.openxmlformats.org/drawingml/2006/main">
            <a:r>
              <a:rPr sz="1400"/>
              <a:t/>
            </a:r>
          </a:p>
          <a:p xmlns:a="http://schemas.openxmlformats.org/drawingml/2006/main">
            <a:r>
              <a:rPr sz="1400"/>
              <a:t>Overgang: Laat de verandering van het totale aanbod zien.</a:t>
            </a:r>
          </a:p>
          <a:p xmlns:a="http://schemas.openxmlformats.org/drawingml/2006/main">
            <a:r>
              <a:rPr sz="1400"/>
              <a:t/>
            </a:r>
          </a:p>
          <a:p xmlns:a="http://schemas.openxmlformats.org/drawingml/2006/main">
            <a:r>
              <a:rPr sz="1400"/>
              <a:t>Bron: Boek 4 v3, gedrukte volledige-boekpagina 9.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Uitlegvoorbeeld — niet uit het boek. Cellulosekorrels, functies en getallen zijn speciaal voor deze uitleg gemaakt. De boekbron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kan de prijs stijgen zonder een grotere vraag?</a:t>
            </a:r>
          </a:p>
          <a:p xmlns:a="http://schemas.openxmlformats.org/drawingml/2006/main">
            <a:r>
              <a:rPr sz="1400"/>
              <a:t/>
            </a:r>
          </a:p>
          <a:p xmlns:a="http://schemas.openxmlformats.org/drawingml/2006/main">
            <a:r>
              <a:rPr sz="1400"/>
              <a:t>Uitleg: Alternatief begin: A₀ P=1+0,04Q en dezelfde V P=15−0,10Q. E₀ ligt bij Q=100 en P=5. Uittreding geeft A₁ P=1+0,075Q; E₁ Q=80, P=7. Het aanbod bij iedere prijs neemt af. Niet alle bedrijven verdwijnen.</a:t>
            </a:r>
          </a:p>
          <a:p xmlns:a="http://schemas.openxmlformats.org/drawingml/2006/main">
            <a:r>
              <a:rPr sz="1400"/>
              <a:t/>
            </a:r>
          </a:p>
          <a:p xmlns:a="http://schemas.openxmlformats.org/drawingml/2006/main">
            <a:r>
              <a:rPr sz="1400"/>
              <a:t>Misvatting: Vraag blijft gelijk; het aantal aanbieders neemt af.</a:t>
            </a:r>
          </a:p>
          <a:p xmlns:a="http://schemas.openxmlformats.org/drawingml/2006/main">
            <a:r>
              <a:rPr sz="1400"/>
              <a:t/>
            </a:r>
          </a:p>
          <a:p xmlns:a="http://schemas.openxmlformats.org/drawingml/2006/main">
            <a:r>
              <a:rPr sz="1400"/>
              <a:t>Overgang: Volg de hogere prijs bij een overblijvend bedrijf.</a:t>
            </a:r>
          </a:p>
          <a:p xmlns:a="http://schemas.openxmlformats.org/drawingml/2006/main">
            <a:r>
              <a:rPr sz="1400"/>
              <a:t/>
            </a:r>
          </a:p>
          <a:p xmlns:a="http://schemas.openxmlformats.org/drawingml/2006/main">
            <a:r>
              <a:rPr sz="1400"/>
              <a:t>Bron: Boek 4 v3, gedrukte volledige-boekpagina 9.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Uitlegvoorbeeld — niet uit het boek. Cellulosekorrels, functies en getallen zijn speciaal voor deze uitleg gemaakt. De boekbron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daalt op marktniveau terwijl q per blijver stijgt?</a:t>
            </a:r>
          </a:p>
          <a:p xmlns:a="http://schemas.openxmlformats.org/drawingml/2006/main">
            <a:r>
              <a:rPr sz="1400"/>
              <a:t/>
            </a:r>
          </a:p>
          <a:p xmlns:a="http://schemas.openxmlformats.org/drawingml/2006/main">
            <a:r>
              <a:rPr sz="1400"/>
              <a:t>Uitleg: De lagere oude prijs gaf q=20. De nieuwe prijs geeft q=30. De kostenfunctie en minimum GTK veranderen niet. Nulwinst is hetzelfde eindpunt als bij toetreding, benaderd vanuit de andere richting.</a:t>
            </a:r>
          </a:p>
          <a:p xmlns:a="http://schemas.openxmlformats.org/drawingml/2006/main">
            <a:r>
              <a:rPr sz="1400"/>
              <a:t/>
            </a:r>
          </a:p>
          <a:p xmlns:a="http://schemas.openxmlformats.org/drawingml/2006/main">
            <a:r>
              <a:rPr sz="1400"/>
              <a:t>Misvatting: Verschuif niet automatisch MK of GTK door uittreding.</a:t>
            </a:r>
          </a:p>
          <a:p xmlns:a="http://schemas.openxmlformats.org/drawingml/2006/main">
            <a:r>
              <a:rPr sz="1400"/>
              <a:t/>
            </a:r>
          </a:p>
          <a:p xmlns:a="http://schemas.openxmlformats.org/drawingml/2006/main">
            <a:r>
              <a:rPr sz="1400"/>
              <a:t>Overgang: Controleer de betekenis en ga dan naar het basiswerk.</a:t>
            </a:r>
          </a:p>
          <a:p xmlns:a="http://schemas.openxmlformats.org/drawingml/2006/main">
            <a:r>
              <a:rPr sz="1400"/>
              <a:t/>
            </a:r>
          </a:p>
          <a:p xmlns:a="http://schemas.openxmlformats.org/drawingml/2006/main">
            <a:r>
              <a:rPr sz="1400"/>
              <a:t>Bron: Boek 4 v3, gedrukte volledige-boekpagina 9–10.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Uitlegvoorbeeld — niet uit het boek. Cellulosekorrels, functies en getallen zijn speciaal voor deze uitleg gemaakt. De boekbron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zit de normale ondernemersbeloning in het model?</a:t>
            </a:r>
          </a:p>
          <a:p xmlns:a="http://schemas.openxmlformats.org/drawingml/2006/main">
            <a:r>
              <a:rPr sz="1400"/>
              <a:t/>
            </a:r>
          </a:p>
          <a:p xmlns:a="http://schemas.openxmlformats.org/drawingml/2006/main">
            <a:r>
              <a:rPr sz="1400"/>
              <a:t>Uitleg: Laat leerlingen eerst zonder antwoord praten. TO en TK kunnen gelijke positieve bedragen zijn, zoals 210 en 210 in ons uitlegvoorbeeld. Normale beloning zit al in TK. Laat hen vervolgens hun eerste antwoord op startopgave 2 opnieuw bekijken en verbeteren, vóór het basiswerk.</a:t>
            </a:r>
          </a:p>
          <a:p xmlns:a="http://schemas.openxmlformats.org/drawingml/2006/main">
            <a:r>
              <a:rPr sz="1400"/>
              <a:t/>
            </a:r>
          </a:p>
          <a:p xmlns:a="http://schemas.openxmlformats.org/drawingml/2006/main">
            <a:r>
              <a:rPr sz="1400"/>
              <a:t>Misvatting: Winst is een verschil van totalen. Een nul voor het verschil maakt niet beide totalen nul.</a:t>
            </a:r>
          </a:p>
          <a:p xmlns:a="http://schemas.openxmlformats.org/drawingml/2006/main">
            <a:r>
              <a:rPr sz="1400"/>
              <a:t/>
            </a:r>
          </a:p>
          <a:p xmlns:a="http://schemas.openxmlformats.org/drawingml/2006/main">
            <a:r>
              <a:rPr sz="1400"/>
              <a:t>Overgang: Laat hetzelfde lesoverzicht staan tijdens oefenen.</a:t>
            </a:r>
          </a:p>
          <a:p xmlns:a="http://schemas.openxmlformats.org/drawingml/2006/main">
            <a:r>
              <a:rPr sz="1400"/>
              <a:t/>
            </a:r>
          </a:p>
          <a:p xmlns:a="http://schemas.openxmlformats.org/drawingml/2006/main">
            <a:r>
              <a:rPr sz="1400"/>
              <a:t>Bron: Boek 4 v3, gedrukte volledige-boekpagina 7, 10.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bewerking herken je, en waarvoor gebruik je de theorie?</a:t>
            </a:r>
          </a:p>
          <a:p xmlns:a="http://schemas.openxmlformats.org/drawingml/2006/main">
            <a:r>
              <a:rPr sz="1400"/>
              <a:t/>
            </a:r>
          </a:p>
          <a:p xmlns:a="http://schemas.openxmlformats.org/drawingml/2006/main">
            <a:r>
              <a:rPr sz="1400"/>
              <a:t>Uitleg: Laat dit overzicht staan tijdens zelfstandig werken. Start 1–2: p. 11. Basis 3: p. 11 en 4: p. 12. Zelfstandig 5–6: p. 13. Doel 7: p. 14. Huiswerk 3, 4, 5, 6 en 7 maken en nakijken. Bonus 8 en herhaling 9–10 zijn extra. Opgave 1 herhaalt MK afleiden, MO=MK met capaciteitscontrole, TO, TK, winst en GTK uit §§3.2.2–3.2.3. Geef zo nodig de geheugensteun MK=2aq+b, MO=P, TO=Pq en GTK=TK/q zonder de opgave voor te rekenen. Opgave 2 is een eerste verkenning van economische winst en normale beloning: lees daarvoor p. 7, zoek welke kosten in TK zitten en noteer twijfel. Verwacht nog geen beheerste nieuwe begrippen. Bij terugkeer vóór basiswerk laat leerlingen opgave 2 opnieuw verklaren en bespreek de betekenis. De docenteninformatie adviseert voorlopig twee lessen van 55 minuten; dit is niet gemeten. Rond de hele route zo nodig later of als huiswerk af.</a:t>
            </a:r>
          </a:p>
          <a:p xmlns:a="http://schemas.openxmlformats.org/drawingml/2006/main">
            <a:r>
              <a:rPr sz="1400"/>
              <a:t/>
            </a:r>
          </a:p>
          <a:p xmlns:a="http://schemas.openxmlformats.org/drawingml/2006/main">
            <a:r>
              <a:rPr sz="1400"/>
              <a:t>Misvatting: Hoofdstukpagina 7 is complete-boekpagina 11. Nul economische winst is nieuwe leerstof.</a:t>
            </a:r>
          </a:p>
          <a:p xmlns:a="http://schemas.openxmlformats.org/drawingml/2006/main">
            <a:r>
              <a:rPr sz="1400"/>
              <a:t/>
            </a:r>
          </a:p>
          <a:p xmlns:a="http://schemas.openxmlformats.org/drawingml/2006/main">
            <a:r>
              <a:rPr sz="1400"/>
              <a:t>Overgang: Volg de lesfase en bied begeleiding bij het basiswerk.</a:t>
            </a:r>
          </a:p>
          <a:p xmlns:a="http://schemas.openxmlformats.org/drawingml/2006/main">
            <a:r>
              <a:rPr sz="1400"/>
              <a:t/>
            </a:r>
          </a:p>
          <a:p xmlns:a="http://schemas.openxmlformats.org/drawingml/2006/main">
            <a:r>
              <a:rPr sz="1400"/>
              <a:t>Bron: Boek 4 v3, gedrukte volledige-boekpagina 7–14.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betreffen alle bedrijven?</a:t>
            </a:r>
          </a:p>
          <a:p xmlns:a="http://schemas.openxmlformats.org/drawingml/2006/main">
            <a:r>
              <a:rPr sz="1400"/>
              <a:t/>
            </a:r>
          </a:p>
          <a:p xmlns:a="http://schemas.openxmlformats.org/drawingml/2006/main">
            <a:r>
              <a:rPr sz="1400"/>
              <a:t>Uitleg: Volledige oorspronkelijke context en gegevens van doelopgave 7. Bespreek pas na de eigen poging. De volgende dia’s tonen de beide grafiekpanelen en alle deelvragen zonder oplossingen. Minimum GTK is brongegeven, geen onthuld antwoord van onszelf.</a:t>
            </a:r>
          </a:p>
          <a:p xmlns:a="http://schemas.openxmlformats.org/drawingml/2006/main">
            <a:r>
              <a:rPr sz="1400"/>
              <a:t/>
            </a:r>
          </a:p>
          <a:p xmlns:a="http://schemas.openxmlformats.org/drawingml/2006/main">
            <a:r>
              <a:rPr sz="1400"/>
              <a:t>Misvatting: De normale beloning moet niet nog eens bij TK worden opgeteld.</a:t>
            </a:r>
          </a:p>
          <a:p xmlns:a="http://schemas.openxmlformats.org/drawingml/2006/main">
            <a:r>
              <a:rPr sz="1400"/>
              <a:t/>
            </a:r>
          </a:p>
          <a:p xmlns:a="http://schemas.openxmlformats.org/drawingml/2006/main">
            <a:r>
              <a:rPr sz="1400"/>
              <a:t>Overgang: Toon de originele marktgegevens als bewerkbare grafiek.</a:t>
            </a:r>
          </a:p>
          <a:p xmlns:a="http://schemas.openxmlformats.org/drawingml/2006/main">
            <a:r>
              <a:rPr sz="1400"/>
              <a:t/>
            </a:r>
          </a:p>
          <a:p xmlns:a="http://schemas.openxmlformats.org/drawingml/2006/main">
            <a:r>
              <a:rPr sz="1400"/>
              <a:t>Bron: Boek 4 v3, gedrukte volledige-boekpagina 14.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prijs hoort bij het bestaande marktevenwicht?</a:t>
            </a:r>
          </a:p>
          <a:p xmlns:a="http://schemas.openxmlformats.org/drawingml/2006/main">
            <a:r>
              <a:rPr sz="1400"/>
              <a:t/>
            </a:r>
          </a:p>
          <a:p xmlns:a="http://schemas.openxmlformats.org/drawingml/2006/main">
            <a:r>
              <a:rPr sz="1400"/>
              <a:t>Uitleg: Bewaar de oorspronkelijke schaal en lijnen uit figuur 7: V van (0,16) naar (40,0), A van (0,4) naar (40,20). Er is nog geen nieuwe A₁ of oplossing zichtbaar. Er staan geen extra evenwichtsmarkeringen of hulplijnen op deze vragendia. Beperk de interpretatie tot de relevante prijzen 8–10. De bron tekent A door tot P20; met 100 aanvankelijk actieve identieke bedrijven en capaciteit250 kg per bedrijf geldt de stijgende aanbodtak slechts tot Q25 duizend en P14. Boven die grens is de doorgetrokken bronlijn geen haalbaar aanbod. De gevraagde evenwichten liggen wel binnen de capaciteit.</a:t>
            </a:r>
          </a:p>
          <a:p xmlns:a="http://schemas.openxmlformats.org/drawingml/2006/main">
            <a:r>
              <a:rPr sz="1400"/>
              <a:t/>
            </a:r>
          </a:p>
          <a:p xmlns:a="http://schemas.openxmlformats.org/drawingml/2006/main">
            <a:r>
              <a:rPr sz="1400"/>
              <a:t>Misvatting: Q is duizend kg. De firma-as op de volgende dia gebruikt kg.</a:t>
            </a:r>
          </a:p>
          <a:p xmlns:a="http://schemas.openxmlformats.org/drawingml/2006/main">
            <a:r>
              <a:rPr sz="1400"/>
              <a:t/>
            </a:r>
          </a:p>
          <a:p xmlns:a="http://schemas.openxmlformats.org/drawingml/2006/main">
            <a:r>
              <a:rPr sz="1400"/>
              <a:t>Overgang: Toon de bijbehorende onderneming zonder oplossingslijnen.</a:t>
            </a:r>
          </a:p>
          <a:p xmlns:a="http://schemas.openxmlformats.org/drawingml/2006/main">
            <a:r>
              <a:rPr sz="1400"/>
              <a:t/>
            </a:r>
          </a:p>
          <a:p xmlns:a="http://schemas.openxmlformats.org/drawingml/2006/main">
            <a:r>
              <a:rPr sz="1400"/>
              <a:t>Bron: Boek 4 v3, gedrukte volledige-boekpagina 14.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curven horen bij de onveranderde kostenfunctie?</a:t>
            </a:r>
          </a:p>
          <a:p xmlns:a="http://schemas.openxmlformats.org/drawingml/2006/main">
            <a:r>
              <a:rPr sz="1400"/>
              <a:t/>
            </a:r>
          </a:p>
          <a:p xmlns:a="http://schemas.openxmlformats.org/drawingml/2006/main">
            <a:r>
              <a:rPr sz="1400"/>
              <a:t>Uitleg: Reconstructie van het tweede oorspronkelijke grafiekpaneel met native XY-series: MK=0,04q+4, GTK=0,02q+4+200/q en de bestaande prijslijn. Geen nieuwe prijslijn of gekozen-q-hulplijn toegevoegd. Assen 0–250 en 0–20 behouden. GTK is niet gedefinieerd bij q=0; zichtbaar vanaf de bovenrand.</a:t>
            </a:r>
          </a:p>
          <a:p xmlns:a="http://schemas.openxmlformats.org/drawingml/2006/main">
            <a:r>
              <a:rPr sz="1400"/>
              <a:t/>
            </a:r>
          </a:p>
          <a:p xmlns:a="http://schemas.openxmlformats.org/drawingml/2006/main">
            <a:r>
              <a:rPr sz="1400"/>
              <a:t>Misvatting: Een prijsnemer kiest niet zelf een andere prijs.</a:t>
            </a:r>
          </a:p>
          <a:p xmlns:a="http://schemas.openxmlformats.org/drawingml/2006/main">
            <a:r>
              <a:rPr sz="1400"/>
              <a:t/>
            </a:r>
          </a:p>
          <a:p xmlns:a="http://schemas.openxmlformats.org/drawingml/2006/main">
            <a:r>
              <a:rPr sz="1400"/>
              <a:t>Overgang: Maak eerst alle deelvragen beschikbaar.</a:t>
            </a:r>
          </a:p>
          <a:p xmlns:a="http://schemas.openxmlformats.org/drawingml/2006/main">
            <a:r>
              <a:rPr sz="1400"/>
              <a:t/>
            </a:r>
          </a:p>
          <a:p xmlns:a="http://schemas.openxmlformats.org/drawingml/2006/main">
            <a:r>
              <a:rPr sz="1400"/>
              <a:t>Bron: Boek 4 v3, gedrukte volledige-boekpagina 14.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grootheid kies je eerst bij deelvraag a?</a:t>
            </a:r>
          </a:p>
          <a:p xmlns:a="http://schemas.openxmlformats.org/drawingml/2006/main">
            <a:r>
              <a:rPr sz="1400"/>
              <a:t/>
            </a:r>
          </a:p>
          <a:p xmlns:a="http://schemas.openxmlformats.org/drawingml/2006/main">
            <a:r>
              <a:rPr sz="1400"/>
              <a:t>Uitleg: Alle deelvragen worden onverkort aangeboden vóór de oplossingen. Dit zijn a–c. De grafiekpanelen staan op de twee voorafgaande dia’s en in het boek.</a:t>
            </a:r>
          </a:p>
          <a:p xmlns:a="http://schemas.openxmlformats.org/drawingml/2006/main">
            <a:r>
              <a:rPr sz="1400"/>
              <a:t/>
            </a:r>
          </a:p>
          <a:p xmlns:a="http://schemas.openxmlformats.org/drawingml/2006/main">
            <a:r>
              <a:rPr sz="1400"/>
              <a:t>Misvatting: Een berekening van alleen q beantwoordt a niet volledig.</a:t>
            </a:r>
          </a:p>
          <a:p xmlns:a="http://schemas.openxmlformats.org/drawingml/2006/main">
            <a:r>
              <a:rPr sz="1400"/>
              <a:t/>
            </a:r>
          </a:p>
          <a:p xmlns:a="http://schemas.openxmlformats.org/drawingml/2006/main">
            <a:r>
              <a:rPr sz="1400"/>
              <a:t>Overgang: Toon ook d en e voordat een antwoord wordt onthuld.</a:t>
            </a:r>
          </a:p>
          <a:p xmlns:a="http://schemas.openxmlformats.org/drawingml/2006/main">
            <a:r>
              <a:rPr sz="1400"/>
              <a:t/>
            </a:r>
          </a:p>
          <a:p xmlns:a="http://schemas.openxmlformats.org/drawingml/2006/main">
            <a:r>
              <a:rPr sz="1400"/>
              <a:t>Bron: Boek 4 v3, gedrukte volledige-boekpagina 14.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gegevens heb je nodig voor e?</a:t>
            </a:r>
          </a:p>
          <a:p xmlns:a="http://schemas.openxmlformats.org/drawingml/2006/main">
            <a:r>
              <a:rPr sz="1400"/>
              <a:t/>
            </a:r>
          </a:p>
          <a:p xmlns:a="http://schemas.openxmlformats.org/drawingml/2006/main">
            <a:r>
              <a:rPr sz="1400"/>
              <a:t>Uitleg: Nu zijn alle vijf deelvragen zichtbaar geweest zonder oplossingen. Laat leerlingen hun eigen berekeningen en tekeningen erbij pakken. Deelvraag e vraagt twee weerleggingen met brongetallen.</a:t>
            </a:r>
          </a:p>
          <a:p xmlns:a="http://schemas.openxmlformats.org/drawingml/2006/main">
            <a:r>
              <a:rPr sz="1400"/>
              <a:t/>
            </a:r>
          </a:p>
          <a:p xmlns:a="http://schemas.openxmlformats.org/drawingml/2006/main">
            <a:r>
              <a:rPr sz="1400"/>
              <a:t>Misvatting: Een algemene zin over nulwinst mist de gevraagde toepassing.</a:t>
            </a:r>
          </a:p>
          <a:p xmlns:a="http://schemas.openxmlformats.org/drawingml/2006/main">
            <a:r>
              <a:rPr sz="1400"/>
              <a:t/>
            </a:r>
          </a:p>
          <a:p xmlns:a="http://schemas.openxmlformats.org/drawingml/2006/main">
            <a:r>
              <a:rPr sz="1400"/>
              <a:t>Overgang: Begin de bespreking met de beginprijs en productie.</a:t>
            </a:r>
          </a:p>
          <a:p xmlns:a="http://schemas.openxmlformats.org/drawingml/2006/main">
            <a:r>
              <a:rPr sz="1400"/>
              <a:t/>
            </a:r>
          </a:p>
          <a:p xmlns:a="http://schemas.openxmlformats.org/drawingml/2006/main">
            <a:r>
              <a:rPr sz="1400"/>
              <a:t>Bron: Boek 4 v3, gedrukte volledige-boekpagina 14.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komt de 10 in MO=MK vandaan?</a:t>
            </a:r>
          </a:p>
          <a:p xmlns:a="http://schemas.openxmlformats.org/drawingml/2006/main">
            <a:r>
              <a:rPr sz="1400"/>
              <a:t/>
            </a:r>
          </a:p>
          <a:p xmlns:a="http://schemas.openxmlformats.org/drawingml/2006/main">
            <a:r>
              <a:rPr sz="1400"/>
              <a:t>Uitleg: Lees de prijs bij het snijpunt van V en A. Differentieer term voor term. Los 6=0,04q op. Bij 100 is MK 8&lt;10, bij 200 is MK 12&gt;10. De maximumkandidaat is haalbaar. Het constante bedrag 200 verdwijnt alleen uit MK.</a:t>
            </a:r>
          </a:p>
          <a:p xmlns:a="http://schemas.openxmlformats.org/drawingml/2006/main">
            <a:r>
              <a:rPr sz="1400"/>
              <a:t/>
            </a:r>
          </a:p>
          <a:p xmlns:a="http://schemas.openxmlformats.org/drawingml/2006/main">
            <a:r>
              <a:rPr sz="1400"/>
              <a:t>Misvatting: De vraaglijn van de hele markt is niet de marginale opbrengstlijn van het kleine bedrijf.</a:t>
            </a:r>
          </a:p>
          <a:p xmlns:a="http://schemas.openxmlformats.org/drawingml/2006/main">
            <a:r>
              <a:rPr sz="1400"/>
              <a:t/>
            </a:r>
          </a:p>
          <a:p xmlns:a="http://schemas.openxmlformats.org/drawingml/2006/main">
            <a:r>
              <a:rPr sz="1400"/>
              <a:t>Overgang: Bereken opbrengst, kosten en winst bij 150.</a:t>
            </a:r>
          </a:p>
          <a:p xmlns:a="http://schemas.openxmlformats.org/drawingml/2006/main">
            <a:r>
              <a:rPr sz="1400"/>
              <a:t/>
            </a:r>
          </a:p>
          <a:p xmlns:a="http://schemas.openxmlformats.org/drawingml/2006/main">
            <a:r>
              <a:rPr sz="1400"/>
              <a:t>Bron: Boek 4 v3, gedrukte volledige-boekpagina 14.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Moet je de 120 normale beloning nogmaals aftrekken?</a:t>
            </a:r>
          </a:p>
          <a:p xmlns:a="http://schemas.openxmlformats.org/drawingml/2006/main">
            <a:r>
              <a:rPr sz="1400"/>
              <a:t/>
            </a:r>
          </a:p>
          <a:p xmlns:a="http://schemas.openxmlformats.org/drawingml/2006/main">
            <a:r>
              <a:rPr sz="1400"/>
              <a:t>Uitleg: Volledige substitutie en tussenstappen uit antwoord 7a. Bij q=0 zijn de vaste kosten 200 en is de winst −200 als deze onvermijdbaar zijn; 150 produceren is hier beter. De 120 normale beloning zit al in de totale kosten 1250.</a:t>
            </a:r>
          </a:p>
          <a:p xmlns:a="http://schemas.openxmlformats.org/drawingml/2006/main">
            <a:r>
              <a:rPr sz="1400"/>
              <a:t/>
            </a:r>
          </a:p>
          <a:p xmlns:a="http://schemas.openxmlformats.org/drawingml/2006/main">
            <a:r>
              <a:rPr sz="1400"/>
              <a:t>Misvatting: Dubbel aftrekken geeft een verkeerde economische winst.</a:t>
            </a:r>
          </a:p>
          <a:p xmlns:a="http://schemas.openxmlformats.org/drawingml/2006/main">
            <a:r>
              <a:rPr sz="1400"/>
              <a:t/>
            </a:r>
          </a:p>
          <a:p xmlns:a="http://schemas.openxmlformats.org/drawingml/2006/main">
            <a:r>
              <a:rPr sz="1400"/>
              <a:t>Overgang: Verklaar wat deze overwinst met de markt doet.</a:t>
            </a:r>
          </a:p>
          <a:p xmlns:a="http://schemas.openxmlformats.org/drawingml/2006/main">
            <a:r>
              <a:rPr sz="1400"/>
              <a:t/>
            </a:r>
          </a:p>
          <a:p xmlns:a="http://schemas.openxmlformats.org/drawingml/2006/main">
            <a:r>
              <a:rPr sz="1400"/>
              <a:t>Bron: Boek 4 v3, gedrukte volledige-boekpagina 14.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bronvoorwaarde maakt toetreding mogelijk?</a:t>
            </a:r>
          </a:p>
          <a:p xmlns:a="http://schemas.openxmlformats.org/drawingml/2006/main">
            <a:r>
              <a:rPr sz="1400"/>
              <a:t/>
            </a:r>
          </a:p>
          <a:p xmlns:a="http://schemas.openxmlformats.org/drawingml/2006/main">
            <a:r>
              <a:rPr sz="1400"/>
              <a:t>Uitleg: Noem prikkel, mogelijkheid en marktgevolg: overwinst lokt nieuwkomers, vrije toetreding maakt dit mogelijk, aanbod bij iedere prijs stijgt, waardoor de prijs langs de gelijkblijvende vraag daalt.</a:t>
            </a:r>
          </a:p>
          <a:p xmlns:a="http://schemas.openxmlformats.org/drawingml/2006/main">
            <a:r>
              <a:rPr sz="1400"/>
              <a:t/>
            </a:r>
          </a:p>
          <a:p xmlns:a="http://schemas.openxmlformats.org/drawingml/2006/main">
            <a:r>
              <a:rPr sz="1400"/>
              <a:t>Misvatting: Niet alleen zeggen dat concurrentie stijgt; leg het aanbod en de prijs uit.</a:t>
            </a:r>
          </a:p>
          <a:p xmlns:a="http://schemas.openxmlformats.org/drawingml/2006/main">
            <a:r>
              <a:rPr sz="1400"/>
              <a:t/>
            </a:r>
          </a:p>
          <a:p xmlns:a="http://schemas.openxmlformats.org/drawingml/2006/main">
            <a:r>
              <a:rPr sz="1400"/>
              <a:t>Overgang: Teken de passende nieuwe aanbodlijn.</a:t>
            </a:r>
          </a:p>
          <a:p xmlns:a="http://schemas.openxmlformats.org/drawingml/2006/main">
            <a:r>
              <a:rPr sz="1400"/>
              <a:t/>
            </a:r>
          </a:p>
          <a:p xmlns:a="http://schemas.openxmlformats.org/drawingml/2006/main">
            <a:r>
              <a:rPr sz="1400"/>
              <a:t>Bron: Boek 4 v3, gedrukte volledige-boekpagina 14.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eis bepaalt het nieuwe snijpunt?</a:t>
            </a:r>
          </a:p>
          <a:p xmlns:a="http://schemas.openxmlformats.org/drawingml/2006/main">
            <a:r>
              <a:rPr sz="1400"/>
              <a:t/>
            </a:r>
          </a:p>
          <a:p xmlns:a="http://schemas.openxmlformats.org/drawingml/2006/main">
            <a:r>
              <a:rPr sz="1400"/>
              <a:t>Uitleg: Een passend antwoord is A₁: P=4+0,20Q, met Q in duizend kg. V geeft bij P8 de hoeveelheid20. Dit is een gekozen passende lijn, niet een extra formulegegeven uit de opgave. Ze ligt rechts van A₀ bij relevante prijzen boven4. De opgave eist een passende lijn door het langetermijnevenwicht, niet deze unieke helling. Interpreteer de oude A₀ niet voorbij de gezamenlijke capaciteit Q25 duizend bij P14; de bron tekent die lijn daar zonder capaciteitsknik door. De besproken evenwichten zijn haalbaar.</a:t>
            </a:r>
          </a:p>
          <a:p xmlns:a="http://schemas.openxmlformats.org/drawingml/2006/main">
            <a:r>
              <a:rPr sz="1400"/>
              <a:t/>
            </a:r>
          </a:p>
          <a:p xmlns:a="http://schemas.openxmlformats.org/drawingml/2006/main">
            <a:r>
              <a:rPr sz="1400"/>
              <a:t>Misvatting: Marktvraag en kostencurven verschuiven niet.</a:t>
            </a:r>
          </a:p>
          <a:p xmlns:a="http://schemas.openxmlformats.org/drawingml/2006/main">
            <a:r>
              <a:rPr sz="1400"/>
              <a:t/>
            </a:r>
          </a:p>
          <a:p xmlns:a="http://schemas.openxmlformats.org/drawingml/2006/main">
            <a:r>
              <a:rPr sz="1400"/>
              <a:t>Overgang: Neem dezelfde prijs over in de onderneming.</a:t>
            </a:r>
          </a:p>
          <a:p xmlns:a="http://schemas.openxmlformats.org/drawingml/2006/main">
            <a:r>
              <a:rPr sz="1400"/>
              <a:t/>
            </a:r>
          </a:p>
          <a:p xmlns:a="http://schemas.openxmlformats.org/drawingml/2006/main">
            <a:r>
              <a:rPr sz="1400"/>
              <a:t>Bron: Boek 4 v3, gedrukte volledige-boekpagina 14.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teken je geen nieuwe GTK?</a:t>
            </a:r>
          </a:p>
          <a:p xmlns:a="http://schemas.openxmlformats.org/drawingml/2006/main">
            <a:r>
              <a:rPr sz="1400"/>
              <a:t/>
            </a:r>
          </a:p>
          <a:p xmlns:a="http://schemas.openxmlformats.org/drawingml/2006/main">
            <a:r>
              <a:rPr sz="1400"/>
              <a:t>Uitleg: Teken P=GO=MO horizontaal op8. Bij q100 vallen P, MK en minimum GTK samen. De gegeven technologie en inputprijzen houden de kosten gelijk. De oude prijs10 blijft als stippellijn ter vergelijking.</a:t>
            </a:r>
          </a:p>
          <a:p xmlns:a="http://schemas.openxmlformats.org/drawingml/2006/main">
            <a:r>
              <a:rPr sz="1400"/>
              <a:t/>
            </a:r>
          </a:p>
          <a:p xmlns:a="http://schemas.openxmlformats.org/drawingml/2006/main">
            <a:r>
              <a:rPr sz="1400"/>
              <a:t>Misvatting: Meer marktaanbod betekent hier een kleinere q per bedrijf.</a:t>
            </a:r>
          </a:p>
          <a:p xmlns:a="http://schemas.openxmlformats.org/drawingml/2006/main">
            <a:r>
              <a:rPr sz="1400"/>
              <a:t/>
            </a:r>
          </a:p>
          <a:p xmlns:a="http://schemas.openxmlformats.org/drawingml/2006/main">
            <a:r>
              <a:rPr sz="1400"/>
              <a:t>Overgang: Controleer de langetermijnuitkomst in euro per week.</a:t>
            </a:r>
          </a:p>
          <a:p xmlns:a="http://schemas.openxmlformats.org/drawingml/2006/main">
            <a:r>
              <a:rPr sz="1400"/>
              <a:t/>
            </a:r>
          </a:p>
          <a:p xmlns:a="http://schemas.openxmlformats.org/drawingml/2006/main">
            <a:r>
              <a:rPr sz="1400"/>
              <a:t>Bron: Boek 4 v3, gedrukte volledige-boekpagina 14.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blijft bij de nieuwe prijs geen overwinst over?</a:t>
            </a:r>
          </a:p>
          <a:p xmlns:a="http://schemas.openxmlformats.org/drawingml/2006/main">
            <a:r>
              <a:rPr sz="1400"/>
              <a:t/>
            </a:r>
          </a:p>
          <a:p xmlns:a="http://schemas.openxmlformats.org/drawingml/2006/main">
            <a:r>
              <a:rPr sz="1400"/>
              <a:t>Uitleg: Gegeven minimum GTK bepaalt de prijs8. De marginale vergelijking bevestigt q100. TK bevat200+400+200=800. MO kruist stijgende MK en de capaciteit wordt niet overschreden. Controleer TO=TK. Onder de bronvoorwaarden is de extra winst verdwenen.</a:t>
            </a:r>
          </a:p>
          <a:p xmlns:a="http://schemas.openxmlformats.org/drawingml/2006/main">
            <a:r>
              <a:rPr sz="1400"/>
              <a:t/>
            </a:r>
          </a:p>
          <a:p xmlns:a="http://schemas.openxmlformats.org/drawingml/2006/main">
            <a:r>
              <a:rPr sz="1400"/>
              <a:t>Misvatting: P=8 is euro per kg, TO=800 is euro per week.</a:t>
            </a:r>
          </a:p>
          <a:p xmlns:a="http://schemas.openxmlformats.org/drawingml/2006/main">
            <a:r>
              <a:rPr sz="1400"/>
              <a:t/>
            </a:r>
          </a:p>
          <a:p xmlns:a="http://schemas.openxmlformats.org/drawingml/2006/main">
            <a:r>
              <a:rPr sz="1400"/>
              <a:t>Overgang: Weerleg nu beide delen van de uitspraak.</a:t>
            </a:r>
          </a:p>
          <a:p xmlns:a="http://schemas.openxmlformats.org/drawingml/2006/main">
            <a:r>
              <a:rPr sz="1400"/>
              <a:t/>
            </a:r>
          </a:p>
          <a:p xmlns:a="http://schemas.openxmlformats.org/drawingml/2006/main">
            <a:r>
              <a:rPr sz="1400"/>
              <a:t>Bron: Boek 4 v3, gedrukte volledige-boekpagina 14.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brongetal weerlegt welk deel van de uitspraak?</a:t>
            </a:r>
          </a:p>
          <a:p xmlns:a="http://schemas.openxmlformats.org/drawingml/2006/main">
            <a:r>
              <a:rPr sz="1400"/>
              <a:t/>
            </a:r>
          </a:p>
          <a:p xmlns:a="http://schemas.openxmlformats.org/drawingml/2006/main">
            <a:r>
              <a:rPr sz="1400"/>
              <a:t>Uitleg: Beantwoord beide delen afzonderlijk. 120 euro zit in de kosten800. Omzet is de opbrengst800. Nul economische winst is niet hetzelfde als nul ondernemersinkomen. Laat leerlingen één ontbrekende onderbouwing of eenheid in hun eigen werk verbeteren.</a:t>
            </a:r>
          </a:p>
          <a:p xmlns:a="http://schemas.openxmlformats.org/drawingml/2006/main">
            <a:r>
              <a:rPr sz="1400"/>
              <a:t/>
            </a:r>
          </a:p>
          <a:p xmlns:a="http://schemas.openxmlformats.org/drawingml/2006/main">
            <a:r>
              <a:rPr sz="1400"/>
              <a:t>Misvatting: Tel 120 niet boven op de berekende nul economische winst als nieuwe winst.</a:t>
            </a:r>
          </a:p>
          <a:p xmlns:a="http://schemas.openxmlformats.org/drawingml/2006/main">
            <a:r>
              <a:rPr sz="1400"/>
              <a:t/>
            </a:r>
          </a:p>
          <a:p xmlns:a="http://schemas.openxmlformats.org/drawingml/2006/main">
            <a:r>
              <a:rPr sz="1400"/>
              <a:t>Overgang: Keer terug naar het overzicht voor afsluiting en huiswerk.</a:t>
            </a:r>
          </a:p>
          <a:p xmlns:a="http://schemas.openxmlformats.org/drawingml/2006/main">
            <a:r>
              <a:rPr sz="1400"/>
              <a:t/>
            </a:r>
          </a:p>
          <a:p xmlns:a="http://schemas.openxmlformats.org/drawingml/2006/main">
            <a:r>
              <a:rPr sz="1400"/>
              <a:t>Bron: Boek 4 v3, gedrukte volledige-boekpagina 14.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bewerking herken je, en waarvoor gebruik je de theorie?</a:t>
            </a:r>
          </a:p>
          <a:p xmlns:a="http://schemas.openxmlformats.org/drawingml/2006/main">
            <a:r>
              <a:rPr sz="1400"/>
              <a:t/>
            </a:r>
          </a:p>
          <a:p xmlns:a="http://schemas.openxmlformats.org/drawingml/2006/main">
            <a:r>
              <a:rPr sz="1400"/>
              <a:t>Uitleg: Laat dit overzicht staan tijdens afsluiting / huiswerk. Start 1–2: p. 11. Basis 3: p. 11 en 4: p. 12. Zelfstandig 5–6: p. 13. Doel 7: p. 14. Huiswerk 3, 4, 5, 6 en 7 maken en nakijken. Bonus 8 en herhaling 9–10 zijn extra. Opgave 1 herhaalt MK afleiden, MO=MK met capaciteitscontrole, TO, TK, winst en GTK uit §§3.2.2–3.2.3. Geef zo nodig de geheugensteun MK=2aq+b, MO=P, TO=Pq en GTK=TK/q zonder de opgave voor te rekenen. Opgave 2 is een eerste verkenning van economische winst en normale beloning: lees daarvoor p. 7, zoek welke kosten in TK zitten en noteer twijfel. Verwacht nog geen beheerste nieuwe begrippen. Bij terugkeer vóór basiswerk laat leerlingen opgave 2 opnieuw verklaren en bespreek de betekenis. De docenteninformatie adviseert voorlopig twee lessen van 55 minuten; dit is niet gemeten. Rond de hele route zo nodig later of als huiswerk af.</a:t>
            </a:r>
          </a:p>
          <a:p xmlns:a="http://schemas.openxmlformats.org/drawingml/2006/main">
            <a:r>
              <a:rPr sz="1400"/>
              <a:t/>
            </a:r>
          </a:p>
          <a:p xmlns:a="http://schemas.openxmlformats.org/drawingml/2006/main">
            <a:r>
              <a:rPr sz="1400"/>
              <a:t>Misvatting: Hoofdstukpagina 7 is complete-boekpagina 11. Nul economische winst is nieuwe leerstof.</a:t>
            </a:r>
          </a:p>
          <a:p xmlns:a="http://schemas.openxmlformats.org/drawingml/2006/main">
            <a:r>
              <a:rPr sz="1400"/>
              <a:t/>
            </a:r>
          </a:p>
          <a:p xmlns:a="http://schemas.openxmlformats.org/drawingml/2006/main">
            <a:r>
              <a:rPr sz="1400"/>
              <a:t>Overgang: Noteer het huiswerk en verbeter ontbrekende stappen.</a:t>
            </a:r>
          </a:p>
          <a:p xmlns:a="http://schemas.openxmlformats.org/drawingml/2006/main">
            <a:r>
              <a:rPr sz="1400"/>
              <a:t/>
            </a:r>
          </a:p>
          <a:p xmlns:a="http://schemas.openxmlformats.org/drawingml/2006/main">
            <a:r>
              <a:rPr sz="1400"/>
              <a:t>Bron: Boek 4 v3, gedrukte volledige-boekpagina 7–14. https://github.com/meijer1973/4veco-lessen/blob/e734532a42b27732ac25ce990fc9448b12309d28/edities/books34-v3/books/book-4/output/Boek_4_Compleet_v3.pdf</a:t>
            </a:r>
          </a:p>
          <a:p xmlns:a="http://schemas.openxmlformats.org/drawingml/2006/main">
            <a:r>
              <a:rPr sz="1400"/>
              <a:t>Brontekst: https://github.com/meijer1973/4veco-lessen/blob/e734532a42b27732ac25ce990fc9448b12309d28/edities/books34-v3/books/book-4/chapters/4.1/4.1.1%20manuscript.md</a:t>
            </a:r>
          </a:p>
          <a:p xmlns:a="http://schemas.openxmlformats.org/drawingml/2006/main">
            <a:r>
              <a:rPr sz="1400"/>
              <a:t>Antwoordmodel: https://github.com/meijer1973/4veco-lessen/blob/e734532a42b27732ac25ce990fc9448b12309d28/edities/books34-v3/books/book-4/chapters/4.1/Antwoorden.md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ea9340104940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fa12c8ccee4bf9" /><Relationship Type="http://schemas.openxmlformats.org/officeDocument/2006/relationships/slideLayout" Target="/ppt/slideLayouts/slideLayout1.xml" Id="R30e040ed60424f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e040ed60424f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98f687e8e9d4a10" /><Relationship Type="http://schemas.openxmlformats.org/officeDocument/2006/relationships/notesSlide" Target="/ppt/notesSlides/notesSlide1.xml" Id="Ra0b80c2d3e784f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3b443c73fa84c27" /><Relationship Type="http://schemas.openxmlformats.org/officeDocument/2006/relationships/notesSlide" Target="/ppt/notesSlides/notesSlide2.xml" Id="R3ba0f7f870c945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6c04c5ca2f94f83" /><Relationship Type="http://schemas.openxmlformats.org/officeDocument/2006/relationships/notesSlide" Target="/ppt/notesSlides/notesSlide3.xml" Id="Rf32f725b69a642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ce8ca26c60b4db7" /><Relationship Type="http://schemas.openxmlformats.org/officeDocument/2006/relationships/notesSlide" Target="/ppt/notesSlides/notesSlide4.xml" Id="Rf5bb985a93fc4e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66da832bfca4cee" /><Relationship Type="http://schemas.openxmlformats.org/officeDocument/2006/relationships/notesSlide" Target="/ppt/notesSlides/notesSlide5.xml" Id="Redc5e312622e47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cb88c73f7a64aea" /><Relationship Type="http://schemas.openxmlformats.org/officeDocument/2006/relationships/notesSlide" Target="/ppt/notesSlides/notesSlide6.xml" Id="Ra47a85d3a71f40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63b59836730481e" /><Relationship Type="http://schemas.openxmlformats.org/officeDocument/2006/relationships/chart" Target="/ppt/slides/charts/chart1.xml" Id="R8e78cfe58a7d4215" /><Relationship Type="http://schemas.openxmlformats.org/officeDocument/2006/relationships/notesSlide" Target="/ppt/notesSlides/notesSlide7.xml" Id="Ref2c12973ad6428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816923031624d98" /><Relationship Type="http://schemas.openxmlformats.org/officeDocument/2006/relationships/chart" Target="/ppt/slides/charts/chart2.xml" Id="Rbfd4ee33550b45c8" /><Relationship Type="http://schemas.openxmlformats.org/officeDocument/2006/relationships/notesSlide" Target="/ppt/notesSlides/notesSlide8.xml" Id="Rae96fd1a495743a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594cee48eac4944" /><Relationship Type="http://schemas.openxmlformats.org/officeDocument/2006/relationships/chart" Target="/ppt/slides/charts/chart3.xml" Id="R73333fcfaf914680" /><Relationship Type="http://schemas.openxmlformats.org/officeDocument/2006/relationships/notesSlide" Target="/ppt/notesSlides/notesSlide9.xml" Id="R5f324a3ee8064a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af4ec4f39954afa" /><Relationship Type="http://schemas.openxmlformats.org/officeDocument/2006/relationships/chart" Target="/ppt/slides/charts/chart4.xml" Id="R37c204d9df10477a" /><Relationship Type="http://schemas.openxmlformats.org/officeDocument/2006/relationships/notesSlide" Target="/ppt/notesSlides/notesSlide10.xml" Id="R746168e8c65346e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c175ac871714214" /><Relationship Type="http://schemas.openxmlformats.org/officeDocument/2006/relationships/notesSlide" Target="/ppt/notesSlides/notesSlide11.xml" Id="R59c10a37d097483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621fcf507ee41ac" /><Relationship Type="http://schemas.openxmlformats.org/officeDocument/2006/relationships/notesSlide" Target="/ppt/notesSlides/notesSlide12.xml" Id="Rd651255ac7a9447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5dc9643d88c4dcc" /><Relationship Type="http://schemas.openxmlformats.org/officeDocument/2006/relationships/chart" Target="/ppt/slides/charts/chart5.xml" Id="R837783d433364122" /><Relationship Type="http://schemas.openxmlformats.org/officeDocument/2006/relationships/notesSlide" Target="/ppt/notesSlides/notesSlide13.xml" Id="R464653682dab407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daa87e9f9604ea3" /><Relationship Type="http://schemas.openxmlformats.org/officeDocument/2006/relationships/chart" Target="/ppt/slides/charts/chart6.xml" Id="Rc83abcb5f13a400a" /><Relationship Type="http://schemas.openxmlformats.org/officeDocument/2006/relationships/notesSlide" Target="/ppt/notesSlides/notesSlide14.xml" Id="Re8dc1fa16a2e473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601e92c7c184ef9" /><Relationship Type="http://schemas.openxmlformats.org/officeDocument/2006/relationships/notesSlide" Target="/ppt/notesSlides/notesSlide15.xml" Id="R75f1cd03fca246e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42950ec45494905" /><Relationship Type="http://schemas.openxmlformats.org/officeDocument/2006/relationships/notesSlide" Target="/ppt/notesSlides/notesSlide16.xml" Id="R017fc9f9c6fe4fe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9fb3b90a5f147ed" /><Relationship Type="http://schemas.openxmlformats.org/officeDocument/2006/relationships/notesSlide" Target="/ppt/notesSlides/notesSlide17.xml" Id="R1632fefe81a74b9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d9e65b1c1054da3" /><Relationship Type="http://schemas.openxmlformats.org/officeDocument/2006/relationships/chart" Target="/ppt/slides/charts/chart7.xml" Id="R3af45a33d4c64879" /><Relationship Type="http://schemas.openxmlformats.org/officeDocument/2006/relationships/notesSlide" Target="/ppt/notesSlides/notesSlide18.xml" Id="R42c8e44ac0364bc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5c35991822e4d47" /><Relationship Type="http://schemas.openxmlformats.org/officeDocument/2006/relationships/chart" Target="/ppt/slides/charts/chart8.xml" Id="Rda27acfdc89749c4" /><Relationship Type="http://schemas.openxmlformats.org/officeDocument/2006/relationships/notesSlide" Target="/ppt/notesSlides/notesSlide19.xml" Id="R9b4e3da1e481486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d6ed1e2fd88472f" /><Relationship Type="http://schemas.openxmlformats.org/officeDocument/2006/relationships/notesSlide" Target="/ppt/notesSlides/notesSlide20.xml" Id="R760aefb398fe494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94bb7e1b460469d" /><Relationship Type="http://schemas.openxmlformats.org/officeDocument/2006/relationships/notesSlide" Target="/ppt/notesSlides/notesSlide21.xml" Id="R2025af437f4b404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9c730fabf4e43a3" /><Relationship Type="http://schemas.openxmlformats.org/officeDocument/2006/relationships/notesSlide" Target="/ppt/notesSlides/notesSlide22.xml" Id="R5313e8cd2e1347e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026748d285246a7" /><Relationship Type="http://schemas.openxmlformats.org/officeDocument/2006/relationships/notesSlide" Target="/ppt/notesSlides/notesSlide23.xml" Id="Re516caf42506413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ff3b647dd194dd5" /><Relationship Type="http://schemas.openxmlformats.org/officeDocument/2006/relationships/notesSlide" Target="/ppt/notesSlides/notesSlide24.xml" Id="R7d95984508ba48b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1f5a8022377445a" /><Relationship Type="http://schemas.openxmlformats.org/officeDocument/2006/relationships/chart" Target="/ppt/slides/charts/chart9.xml" Id="R129dd18aebca4cbd" /><Relationship Type="http://schemas.openxmlformats.org/officeDocument/2006/relationships/notesSlide" Target="/ppt/notesSlides/notesSlide25.xml" Id="Rf79d16b0bf2e4ac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94b7a9bed464660" /><Relationship Type="http://schemas.openxmlformats.org/officeDocument/2006/relationships/chart" Target="/ppt/slides/charts/chart10.xml" Id="Rfafe7df2046f4408" /><Relationship Type="http://schemas.openxmlformats.org/officeDocument/2006/relationships/notesSlide" Target="/ppt/notesSlides/notesSlide26.xml" Id="R5c01606e7cc54bb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0e91482c25241b5" /><Relationship Type="http://schemas.openxmlformats.org/officeDocument/2006/relationships/notesSlide" Target="/ppt/notesSlides/notesSlide27.xml" Id="R3e788585224a4ed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d9f356826ef4be2" /><Relationship Type="http://schemas.openxmlformats.org/officeDocument/2006/relationships/notesSlide" Target="/ppt/notesSlides/notesSlide28.xml" Id="R8e1cd4f4bdcc41d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aa33b89d91b4558" /><Relationship Type="http://schemas.openxmlformats.org/officeDocument/2006/relationships/notesSlide" Target="/ppt/notesSlides/notesSlide29.xml" Id="Rd5b10458b9d841a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025"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110.4</c:v>
                </c:pt>
                <c:pt idx="2">
                  <c:v>120</c:v>
                </c:pt>
              </c:numCache>
            </c:numRef>
          </c:xVal>
          <c:yVal>
            <c:numRef>
              <c:f>'Chart Data'!$B$2:$B$4</c:f>
              <c:numCache>
                <c:formatCode>0</c:formatCode>
                <c:ptCount val="3"/>
                <c:pt idx="0">
                  <c:v>15</c:v>
                </c:pt>
                <c:pt idx="1">
                  <c:v>3.96</c:v>
                </c:pt>
                <c:pt idx="2">
                  <c:v>3</c:v>
                </c:pt>
              </c:numCache>
            </c:numRef>
          </c:yVal>
          <c:smooth val="0"/>
        </c:ser>
        <c:ser>
          <c:idx val="1"/>
          <c:order val="1"/>
          <c:tx>
            <c:v>A₀</c:v>
          </c:tx>
          <c:spPr>
            <a:ln xmlns:a="http://schemas.openxmlformats.org/drawingml/2006/main" w="38100">
              <a:solidFill>
                <a:srgbClr val="20665B"/>
              </a:solidFill>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20665B"/>
                        </a:solidFill>
                        <a:latin typeface="Arial"/>
                        <a:ea typeface="Arial"/>
                        <a:cs typeface="Arial"/>
                      </a:rPr>
                      <a:t>A₀</a:t>
                    </a:r>
                  </a:p>
                </c:rich>
              </c:tx>
              <c:txPr>
                <a:bodyPr xmlns:a="http://schemas.openxmlformats.org/drawingml/2006/main" anchorCtr="1"/>
                <a:lstStyle xmlns:a="http://schemas.openxmlformats.org/drawingml/2006/main"/>
                <a:p xmlns:a="http://schemas.openxmlformats.org/drawingml/2006/main">
                  <a:pPr>
                    <a:defRPr sz="2025" b="1">
                      <a:solidFill>
                        <a:srgbClr val="20665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51</c:v>
                </c:pt>
                <c:pt idx="2">
                  <c:v>60</c:v>
                </c:pt>
              </c:numCache>
            </c:numRef>
          </c:xVal>
          <c:yVal>
            <c:numRef>
              <c:f>'Chart Data'!$D$2:$D$4</c:f>
              <c:numCache>
                <c:formatCode>0</c:formatCode>
                <c:ptCount val="3"/>
                <c:pt idx="0">
                  <c:v>1</c:v>
                </c:pt>
                <c:pt idx="1">
                  <c:v>13.75</c:v>
                </c:pt>
                <c:pt idx="2">
                  <c:v>16</c:v>
                </c:pt>
              </c:numCache>
            </c:numRef>
          </c:yVal>
          <c:smooth val="0"/>
        </c:ser>
        <c:ser>
          <c:idx val="2"/>
          <c:order val="2"/>
          <c:tx>
            <c:v>E₀ hulplijn</c:v>
          </c:tx>
          <c:spPr>
            <a:ln xmlns:a="http://schemas.openxmlformats.org/drawingml/2006/main" w="19050">
              <a:solidFill>
                <a:srgbClr val="445B6B"/>
              </a:solidFill>
              <a:prstDash val="dash"/>
            </a:ln>
          </c:spPr>
          <c:marker>
            <c:symbol val="none"/>
          </c:marker>
          <c:xVal>
            <c:numRef>
              <c:f>'Chart Data'!$E$2:$E$4</c:f>
              <c:numCache>
                <c:formatCode>General</c:formatCode>
                <c:ptCount val="3"/>
                <c:pt idx="0">
                  <c:v>0</c:v>
                </c:pt>
                <c:pt idx="1">
                  <c:v>40</c:v>
                </c:pt>
                <c:pt idx="2">
                  <c:v>40</c:v>
                </c:pt>
              </c:numCache>
            </c:numRef>
          </c:xVal>
          <c:yVal>
            <c:numRef>
              <c:f>'Chart Data'!$F$2:$F$4</c:f>
              <c:numCache>
                <c:formatCode>0</c:formatCode>
                <c:ptCount val="3"/>
                <c:pt idx="0">
                  <c:v>11</c:v>
                </c:pt>
                <c:pt idx="1">
                  <c:v>11</c:v>
                </c:pt>
                <c:pt idx="2">
                  <c:v>0</c:v>
                </c:pt>
              </c:numCache>
            </c:numRef>
          </c:yVal>
          <c:smooth val="0"/>
        </c:ser>
        <c:ser>
          <c:idx val="3"/>
          <c:order val="3"/>
          <c:tx>
            <c:v>E₀ label</c:v>
          </c:tx>
          <c:spPr>
            <a:ln xmlns:a="http://schemas.openxmlformats.org/drawingml/2006/main" w="0">
              <a:solidFill>
                <a:srgbClr val="445B6B"/>
              </a:solidFill>
            </a:ln>
          </c:spPr>
          <c:marker>
            <c:symbol val="none"/>
          </c:marker>
          <c:dLbls>
            <c:dLbl>
              <c:idx val="0"/>
              <c:tx>
                <c:rich>
                  <a:bodyPr xmlns:a="http://schemas.openxmlformats.org/drawingml/2006/main"/>
                  <a:lstStyle xmlns:a="http://schemas.openxmlformats.org/drawingml/2006/main"/>
                  <a:p xmlns:a="http://schemas.openxmlformats.org/drawingml/2006/main">
                    <a:r>
                      <a:rPr sz="2025" b="1">
                        <a:solidFill>
                          <a:srgbClr val="445B6B"/>
                        </a:solidFill>
                        <a:latin typeface="Arial"/>
                        <a:ea typeface="Arial"/>
                        <a:cs typeface="Arial"/>
                      </a:rPr>
                      <a:t>E₀</a:t>
                    </a:r>
                  </a:p>
                </c:rich>
              </c:tx>
              <c:txPr>
                <a:bodyPr xmlns:a="http://schemas.openxmlformats.org/drawingml/2006/main" anchorCtr="1"/>
                <a:lstStyle xmlns:a="http://schemas.openxmlformats.org/drawingml/2006/main"/>
                <a:p xmlns:a="http://schemas.openxmlformats.org/drawingml/2006/main">
                  <a:pPr>
                    <a:defRPr sz="2025" b="1">
                      <a:solidFill>
                        <a:srgbClr val="445B6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40</c:v>
                </c:pt>
              </c:numCache>
            </c:numRef>
          </c:xVal>
          <c:yVal>
            <c:numRef>
              <c:f>'Chart Data'!$H$2:$H$2</c:f>
              <c:numCache>
                <c:formatCode>0</c:formatCode>
                <c:ptCount val="1"/>
                <c:pt idx="0">
                  <c:v>11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 1.000 kg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025"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110.4</c:v>
                </c:pt>
                <c:pt idx="2">
                  <c:v>120</c:v>
                </c:pt>
              </c:numCache>
            </c:numRef>
          </c:xVal>
          <c:yVal>
            <c:numRef>
              <c:f>'Chart Data'!$B$2:$B$4</c:f>
              <c:numCache>
                <c:formatCode>0</c:formatCode>
                <c:ptCount val="3"/>
                <c:pt idx="0">
                  <c:v>15</c:v>
                </c:pt>
                <c:pt idx="1">
                  <c:v>3.96</c:v>
                </c:pt>
                <c:pt idx="2">
                  <c:v>3</c:v>
                </c:pt>
              </c:numCache>
            </c:numRef>
          </c:yVal>
          <c:smooth val="0"/>
        </c:ser>
        <c:ser>
          <c:idx val="1"/>
          <c:order val="1"/>
          <c:tx>
            <c:v>A₀</c:v>
          </c:tx>
          <c:spPr>
            <a:ln xmlns:a="http://schemas.openxmlformats.org/drawingml/2006/main" w="38100">
              <a:solidFill>
                <a:srgbClr val="445B6B"/>
              </a:solidFill>
              <a:prstDash val="dash"/>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445B6B"/>
                        </a:solidFill>
                        <a:latin typeface="Arial"/>
                        <a:ea typeface="Arial"/>
                        <a:cs typeface="Arial"/>
                      </a:rPr>
                      <a:t>A₀</a:t>
                    </a:r>
                  </a:p>
                </c:rich>
              </c:tx>
              <c:txPr>
                <a:bodyPr xmlns:a="http://schemas.openxmlformats.org/drawingml/2006/main" anchorCtr="1"/>
                <a:lstStyle xmlns:a="http://schemas.openxmlformats.org/drawingml/2006/main"/>
                <a:p xmlns:a="http://schemas.openxmlformats.org/drawingml/2006/main">
                  <a:pPr>
                    <a:defRPr sz="2025" b="1">
                      <a:solidFill>
                        <a:srgbClr val="445B6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51</c:v>
                </c:pt>
                <c:pt idx="2">
                  <c:v>60</c:v>
                </c:pt>
              </c:numCache>
            </c:numRef>
          </c:xVal>
          <c:yVal>
            <c:numRef>
              <c:f>'Chart Data'!$D$2:$D$4</c:f>
              <c:numCache>
                <c:formatCode>0</c:formatCode>
                <c:ptCount val="3"/>
                <c:pt idx="0">
                  <c:v>1</c:v>
                </c:pt>
                <c:pt idx="1">
                  <c:v>13.75</c:v>
                </c:pt>
                <c:pt idx="2">
                  <c:v>16</c:v>
                </c:pt>
              </c:numCache>
            </c:numRef>
          </c:yVal>
          <c:smooth val="0"/>
        </c:ser>
        <c:ser>
          <c:idx val="2"/>
          <c:order val="2"/>
          <c:tx>
            <c:v>A₁</c:v>
          </c:tx>
          <c:spPr>
            <a:ln xmlns:a="http://schemas.openxmlformats.org/drawingml/2006/main" w="38100">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A94D16"/>
                        </a:solidFill>
                        <a:latin typeface="Arial"/>
                        <a:ea typeface="Arial"/>
                        <a:cs typeface="Arial"/>
                      </a:rPr>
                      <a:t>A₁</a:t>
                    </a:r>
                  </a:p>
                </c:rich>
              </c:tx>
              <c:txPr>
                <a:bodyPr xmlns:a="http://schemas.openxmlformats.org/drawingml/2006/main" anchorCtr="1"/>
                <a:lstStyle xmlns:a="http://schemas.openxmlformats.org/drawingml/2006/main"/>
                <a:p xmlns:a="http://schemas.openxmlformats.org/drawingml/2006/main">
                  <a:pPr>
                    <a:defRPr sz="2025"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Data'!$E$2:$E$4</c:f>
              <c:numCache>
                <c:formatCode>General</c:formatCode>
                <c:ptCount val="3"/>
                <c:pt idx="0">
                  <c:v>0</c:v>
                </c:pt>
                <c:pt idx="1">
                  <c:v>105.6</c:v>
                </c:pt>
                <c:pt idx="2">
                  <c:v>120</c:v>
                </c:pt>
              </c:numCache>
            </c:numRef>
          </c:xVal>
          <c:yVal>
            <c:numRef>
              <c:f>'Chart Data'!$F$2:$F$4</c:f>
              <c:numCache>
                <c:formatCode>0</c:formatCode>
                <c:ptCount val="3"/>
                <c:pt idx="0">
                  <c:v>1</c:v>
                </c:pt>
                <c:pt idx="1">
                  <c:v>8.92</c:v>
                </c:pt>
                <c:pt idx="2">
                  <c:v>10</c:v>
                </c:pt>
              </c:numCache>
            </c:numRef>
          </c:yVal>
          <c:smooth val="0"/>
        </c:ser>
        <c:ser>
          <c:idx val="3"/>
          <c:order val="3"/>
          <c:tx>
            <c:v>E₀ hulplijn</c:v>
          </c:tx>
          <c:spPr>
            <a:ln xmlns:a="http://schemas.openxmlformats.org/drawingml/2006/main" w="19050">
              <a:solidFill>
                <a:srgbClr val="445B6B"/>
              </a:solidFill>
              <a:prstDash val="dash"/>
            </a:ln>
          </c:spPr>
          <c:marker>
            <c:symbol val="none"/>
          </c:marker>
          <c:xVal>
            <c:numRef>
              <c:f>'Chart Data'!$G$2:$G$4</c:f>
              <c:numCache>
                <c:formatCode>General</c:formatCode>
                <c:ptCount val="3"/>
                <c:pt idx="0">
                  <c:v>0</c:v>
                </c:pt>
                <c:pt idx="1">
                  <c:v>40</c:v>
                </c:pt>
                <c:pt idx="2">
                  <c:v>40</c:v>
                </c:pt>
              </c:numCache>
            </c:numRef>
          </c:xVal>
          <c:yVal>
            <c:numRef>
              <c:f>'Chart Data'!$H$2:$H$4</c:f>
              <c:numCache>
                <c:formatCode>0</c:formatCode>
                <c:ptCount val="3"/>
                <c:pt idx="0">
                  <c:v>11</c:v>
                </c:pt>
                <c:pt idx="1">
                  <c:v>11</c:v>
                </c:pt>
                <c:pt idx="2">
                  <c:v>0</c:v>
                </c:pt>
              </c:numCache>
            </c:numRef>
          </c:yVal>
          <c:smooth val="0"/>
        </c:ser>
        <c:ser>
          <c:idx val="4"/>
          <c:order val="4"/>
          <c:tx>
            <c:v>E₀ label</c:v>
          </c:tx>
          <c:spPr>
            <a:ln xmlns:a="http://schemas.openxmlformats.org/drawingml/2006/main" w="0">
              <a:solidFill>
                <a:srgbClr val="445B6B"/>
              </a:solidFill>
            </a:ln>
          </c:spPr>
          <c:marker>
            <c:symbol val="none"/>
          </c:marker>
          <c:dLbls>
            <c:dLbl>
              <c:idx val="0"/>
              <c:tx>
                <c:rich>
                  <a:bodyPr xmlns:a="http://schemas.openxmlformats.org/drawingml/2006/main"/>
                  <a:lstStyle xmlns:a="http://schemas.openxmlformats.org/drawingml/2006/main"/>
                  <a:p xmlns:a="http://schemas.openxmlformats.org/drawingml/2006/main">
                    <a:r>
                      <a:rPr sz="2025" b="1">
                        <a:solidFill>
                          <a:srgbClr val="445B6B"/>
                        </a:solidFill>
                        <a:latin typeface="Arial"/>
                        <a:ea typeface="Arial"/>
                        <a:cs typeface="Arial"/>
                      </a:rPr>
                      <a:t>E₀</a:t>
                    </a:r>
                  </a:p>
                </c:rich>
              </c:tx>
              <c:txPr>
                <a:bodyPr xmlns:a="http://schemas.openxmlformats.org/drawingml/2006/main" anchorCtr="1"/>
                <a:lstStyle xmlns:a="http://schemas.openxmlformats.org/drawingml/2006/main"/>
                <a:p xmlns:a="http://schemas.openxmlformats.org/drawingml/2006/main">
                  <a:pPr>
                    <a:defRPr sz="2025" b="1">
                      <a:solidFill>
                        <a:srgbClr val="445B6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40</c:v>
                </c:pt>
              </c:numCache>
            </c:numRef>
          </c:xVal>
          <c:yVal>
            <c:numRef>
              <c:f>'Chart Data'!$J$2:$J$2</c:f>
              <c:numCache>
                <c:formatCode>0</c:formatCode>
                <c:ptCount val="1"/>
                <c:pt idx="0">
                  <c:v>11</c:v>
                </c:pt>
              </c:numCache>
            </c:numRef>
          </c:yVal>
          <c:smooth val="0"/>
        </c:ser>
        <c:ser>
          <c:idx val="5"/>
          <c:order val="5"/>
          <c:tx>
            <c:v>E₁ hulplijn</c:v>
          </c:tx>
          <c:spPr>
            <a:ln xmlns:a="http://schemas.openxmlformats.org/drawingml/2006/main" w="19050">
              <a:solidFill>
                <a:srgbClr val="A94D16"/>
              </a:solidFill>
              <a:prstDash val="dash"/>
            </a:ln>
          </c:spPr>
          <c:marker>
            <c:symbol val="none"/>
          </c:marker>
          <c:xVal>
            <c:numRef>
              <c:f>'Chart Data'!$K$2:$K$4</c:f>
              <c:numCache>
                <c:formatCode>General</c:formatCode>
                <c:ptCount val="3"/>
                <c:pt idx="0">
                  <c:v>0</c:v>
                </c:pt>
                <c:pt idx="1">
                  <c:v>80</c:v>
                </c:pt>
                <c:pt idx="2">
                  <c:v>80</c:v>
                </c:pt>
              </c:numCache>
            </c:numRef>
          </c:xVal>
          <c:yVal>
            <c:numRef>
              <c:f>'Chart Data'!$L$2:$L$4</c:f>
              <c:numCache>
                <c:formatCode>0</c:formatCode>
                <c:ptCount val="3"/>
                <c:pt idx="0">
                  <c:v>7</c:v>
                </c:pt>
                <c:pt idx="1">
                  <c:v>7</c:v>
                </c:pt>
                <c:pt idx="2">
                  <c:v>0</c:v>
                </c:pt>
              </c:numCache>
            </c:numRef>
          </c:yVal>
          <c:smooth val="0"/>
        </c:ser>
        <c:ser>
          <c:idx val="6"/>
          <c:order val="6"/>
          <c:tx>
            <c:v>E₁ label</c:v>
          </c:tx>
          <c:spPr>
            <a:ln xmlns:a="http://schemas.openxmlformats.org/drawingml/2006/main" w="0">
              <a:solidFill>
                <a:srgbClr val="A94D16"/>
              </a:solidFill>
            </a:ln>
          </c:spPr>
          <c:marker>
            <c:symbol val="none"/>
          </c:marker>
          <c:dLbls>
            <c:dLbl>
              <c:idx val="0"/>
              <c:tx>
                <c:rich>
                  <a:bodyPr xmlns:a="http://schemas.openxmlformats.org/drawingml/2006/main"/>
                  <a:lstStyle xmlns:a="http://schemas.openxmlformats.org/drawingml/2006/main"/>
                  <a:p xmlns:a="http://schemas.openxmlformats.org/drawingml/2006/main">
                    <a:r>
                      <a:rPr sz="2025" b="1">
                        <a:solidFill>
                          <a:srgbClr val="A94D16"/>
                        </a:solidFill>
                        <a:latin typeface="Arial"/>
                        <a:ea typeface="Arial"/>
                        <a:cs typeface="Arial"/>
                      </a:rPr>
                      <a:t>E₁</a:t>
                    </a:r>
                  </a:p>
                </c:rich>
              </c:tx>
              <c:txPr>
                <a:bodyPr xmlns:a="http://schemas.openxmlformats.org/drawingml/2006/main" anchorCtr="1"/>
                <a:lstStyle xmlns:a="http://schemas.openxmlformats.org/drawingml/2006/main"/>
                <a:p xmlns:a="http://schemas.openxmlformats.org/drawingml/2006/main">
                  <a:pPr>
                    <a:defRPr sz="2025" b="1">
                      <a:solidFill>
                        <a:srgbClr val="A94D16"/>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Data'!$M$2:$M$2</c:f>
              <c:numCache>
                <c:formatCode>General</c:formatCode>
                <c:ptCount val="1"/>
                <c:pt idx="0">
                  <c:v>84.8</c:v>
                </c:pt>
              </c:numCache>
            </c:numRef>
          </c:xVal>
          <c:yVal>
            <c:numRef>
              <c:f>'Chart Data'!$N$2:$N$2</c:f>
              <c:numCache>
                <c:formatCode>0</c:formatCode>
                <c:ptCount val="1"/>
                <c:pt idx="0">
                  <c:v>6.6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 1.000 kg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MK</c:v>
          </c:tx>
          <c:spPr>
            <a:ln xmlns:a="http://schemas.openxmlformats.org/drawingml/2006/main" w="38100">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2025"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68.8</c:v>
                </c:pt>
                <c:pt idx="2">
                  <c:v>80</c:v>
                </c:pt>
              </c:numCache>
            </c:numRef>
          </c:xVal>
          <c:yVal>
            <c:numRef>
              <c:f>'Chart Data'!$B$2:$B$4</c:f>
              <c:numCache>
                <c:formatCode>0</c:formatCode>
                <c:ptCount val="3"/>
                <c:pt idx="0">
                  <c:v>1</c:v>
                </c:pt>
                <c:pt idx="1">
                  <c:v>14.76</c:v>
                </c:pt>
                <c:pt idx="2">
                  <c:v>17</c:v>
                </c:pt>
              </c:numCache>
            </c:numRef>
          </c:yVal>
          <c:smooth val="0"/>
        </c:ser>
        <c:ser>
          <c:idx val="1"/>
          <c:order val="1"/>
          <c:tx>
            <c:v>GTK</c:v>
          </c:tx>
          <c:spPr>
            <a:ln xmlns:a="http://schemas.openxmlformats.org/drawingml/2006/main" w="38100">
              <a:solidFill>
                <a:srgbClr val="A53737"/>
              </a:solidFill>
            </a:ln>
          </c:spPr>
          <c:marker>
            <c:symbol val="none"/>
          </c:marker>
          <c:dLbls>
            <c:dLbl>
              <c:idx val="131"/>
              <c:tx>
                <c:rich>
                  <a:bodyPr xmlns:a="http://schemas.openxmlformats.org/drawingml/2006/main"/>
                  <a:lstStyle xmlns:a="http://schemas.openxmlformats.org/drawingml/2006/main"/>
                  <a:p xmlns:a="http://schemas.openxmlformats.org/drawingml/2006/main">
                    <a:r>
                      <a:rPr sz="2025" b="1">
                        <a:solidFill>
                          <a:srgbClr val="A53737"/>
                        </a:solidFill>
                        <a:latin typeface="Arial"/>
                        <a:ea typeface="Arial"/>
                        <a:cs typeface="Arial"/>
                      </a:rPr>
                      <a:t>GTK</a:t>
                    </a:r>
                  </a:p>
                </c:rich>
              </c:tx>
              <c:txPr>
                <a:bodyPr xmlns:a="http://schemas.openxmlformats.org/drawingml/2006/main" anchorCtr="1"/>
                <a:lstStyle xmlns:a="http://schemas.openxmlformats.org/drawingml/2006/main"/>
                <a:p xmlns:a="http://schemas.openxmlformats.org/drawingml/2006/main">
                  <a:pPr>
                    <a:defRPr sz="2025" b="1">
                      <a:solidFill>
                        <a:srgbClr val="A53737"/>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Data'!$C$2:$C$134</c:f>
              <c:numCache>
                <c:formatCode>General</c:formatCode>
                <c:ptCount val="133"/>
                <c:pt idx="0">
                  <c:v>4.8612181134</c:v>
                </c:pt>
                <c:pt idx="1">
                  <c:v>5.4392087433</c:v>
                </c:pt>
                <c:pt idx="2">
                  <c:v>6.0171993732</c:v>
                </c:pt>
                <c:pt idx="3">
                  <c:v>6.5951900031</c:v>
                </c:pt>
                <c:pt idx="4">
                  <c:v>7.173180633</c:v>
                </c:pt>
                <c:pt idx="5">
                  <c:v>7.7511712629</c:v>
                </c:pt>
                <c:pt idx="6">
                  <c:v>8.3291618928</c:v>
                </c:pt>
                <c:pt idx="7">
                  <c:v>8.9071525227</c:v>
                </c:pt>
                <c:pt idx="8">
                  <c:v>9.4851431526</c:v>
                </c:pt>
                <c:pt idx="9">
                  <c:v>10.0631337825</c:v>
                </c:pt>
                <c:pt idx="10">
                  <c:v>10.6411244124</c:v>
                </c:pt>
                <c:pt idx="11">
                  <c:v>11.2191150423</c:v>
                </c:pt>
                <c:pt idx="12">
                  <c:v>11.7971056722</c:v>
                </c:pt>
                <c:pt idx="13">
                  <c:v>12.3750963021</c:v>
                </c:pt>
                <c:pt idx="14">
                  <c:v>12.953086932</c:v>
                </c:pt>
                <c:pt idx="15">
                  <c:v>13.5310775619</c:v>
                </c:pt>
                <c:pt idx="16">
                  <c:v>14.1090681918</c:v>
                </c:pt>
                <c:pt idx="17">
                  <c:v>14.6870588216</c:v>
                </c:pt>
                <c:pt idx="18">
                  <c:v>15.2650494515</c:v>
                </c:pt>
                <c:pt idx="19">
                  <c:v>15.8430400814</c:v>
                </c:pt>
                <c:pt idx="20">
                  <c:v>16.4210307113</c:v>
                </c:pt>
                <c:pt idx="21">
                  <c:v>16.9990213412</c:v>
                </c:pt>
                <c:pt idx="22">
                  <c:v>17.5770119711</c:v>
                </c:pt>
                <c:pt idx="23">
                  <c:v>18.155002601</c:v>
                </c:pt>
                <c:pt idx="24">
                  <c:v>18.7329932309</c:v>
                </c:pt>
                <c:pt idx="25">
                  <c:v>19.3109838608</c:v>
                </c:pt>
                <c:pt idx="26">
                  <c:v>19.8889744907</c:v>
                </c:pt>
                <c:pt idx="27">
                  <c:v>20.4669651206</c:v>
                </c:pt>
                <c:pt idx="28">
                  <c:v>21.0449557505</c:v>
                </c:pt>
                <c:pt idx="29">
                  <c:v>21.6229463804</c:v>
                </c:pt>
                <c:pt idx="30">
                  <c:v>22.2009370103</c:v>
                </c:pt>
                <c:pt idx="31">
                  <c:v>22.7789276402</c:v>
                </c:pt>
                <c:pt idx="32">
                  <c:v>23.3569182701</c:v>
                </c:pt>
                <c:pt idx="33">
                  <c:v>23.9349089</c:v>
                </c:pt>
                <c:pt idx="34">
                  <c:v>24.5128995299</c:v>
                </c:pt>
                <c:pt idx="35">
                  <c:v>25.0908901598</c:v>
                </c:pt>
                <c:pt idx="36">
                  <c:v>25.6688807897</c:v>
                </c:pt>
                <c:pt idx="37">
                  <c:v>26.2468714196</c:v>
                </c:pt>
                <c:pt idx="38">
                  <c:v>26.8248620495</c:v>
                </c:pt>
                <c:pt idx="39">
                  <c:v>27.4028526794</c:v>
                </c:pt>
                <c:pt idx="40">
                  <c:v>27.9808433093</c:v>
                </c:pt>
                <c:pt idx="41">
                  <c:v>28.5588339392</c:v>
                </c:pt>
                <c:pt idx="42">
                  <c:v>29.1368245691</c:v>
                </c:pt>
                <c:pt idx="43">
                  <c:v>29.714815199</c:v>
                </c:pt>
                <c:pt idx="44">
                  <c:v>30</c:v>
                </c:pt>
                <c:pt idx="45">
                  <c:v>30.2928058289</c:v>
                </c:pt>
                <c:pt idx="46">
                  <c:v>30.8707964588</c:v>
                </c:pt>
                <c:pt idx="47">
                  <c:v>31.4487870887</c:v>
                </c:pt>
                <c:pt idx="48">
                  <c:v>32.0267777186</c:v>
                </c:pt>
                <c:pt idx="49">
                  <c:v>32.6047683485</c:v>
                </c:pt>
                <c:pt idx="50">
                  <c:v>33.1827589783</c:v>
                </c:pt>
                <c:pt idx="51">
                  <c:v>33.7607496082</c:v>
                </c:pt>
                <c:pt idx="52">
                  <c:v>34.3387402381</c:v>
                </c:pt>
                <c:pt idx="53">
                  <c:v>34.916730868</c:v>
                </c:pt>
                <c:pt idx="54">
                  <c:v>35.4947214979</c:v>
                </c:pt>
                <c:pt idx="55">
                  <c:v>36.0727121278</c:v>
                </c:pt>
                <c:pt idx="56">
                  <c:v>36.6507027577</c:v>
                </c:pt>
                <c:pt idx="57">
                  <c:v>37.2286933876</c:v>
                </c:pt>
                <c:pt idx="58">
                  <c:v>37.8066840175</c:v>
                </c:pt>
                <c:pt idx="59">
                  <c:v>38.3846746474</c:v>
                </c:pt>
                <c:pt idx="60">
                  <c:v>38.9626652773</c:v>
                </c:pt>
                <c:pt idx="61">
                  <c:v>39.5406559072</c:v>
                </c:pt>
                <c:pt idx="62">
                  <c:v>40.1186465371</c:v>
                </c:pt>
                <c:pt idx="63">
                  <c:v>40.696637167</c:v>
                </c:pt>
                <c:pt idx="64">
                  <c:v>41.2746277969</c:v>
                </c:pt>
                <c:pt idx="65">
                  <c:v>41.8526184268</c:v>
                </c:pt>
                <c:pt idx="66">
                  <c:v>42.4306090567</c:v>
                </c:pt>
                <c:pt idx="67">
                  <c:v>43.0085996866</c:v>
                </c:pt>
                <c:pt idx="68">
                  <c:v>43.5865903165</c:v>
                </c:pt>
                <c:pt idx="69">
                  <c:v>44.1645809464</c:v>
                </c:pt>
                <c:pt idx="70">
                  <c:v>44.7425715763</c:v>
                </c:pt>
                <c:pt idx="71">
                  <c:v>45.3205622062</c:v>
                </c:pt>
                <c:pt idx="72">
                  <c:v>45.8985528361</c:v>
                </c:pt>
                <c:pt idx="73">
                  <c:v>46.476543466</c:v>
                </c:pt>
                <c:pt idx="74">
                  <c:v>47.0545340959</c:v>
                </c:pt>
                <c:pt idx="75">
                  <c:v>47.6325247258</c:v>
                </c:pt>
                <c:pt idx="76">
                  <c:v>48.2105153557</c:v>
                </c:pt>
                <c:pt idx="77">
                  <c:v>48.7885059856</c:v>
                </c:pt>
                <c:pt idx="78">
                  <c:v>49.3664966155</c:v>
                </c:pt>
                <c:pt idx="79">
                  <c:v>49.9444872454</c:v>
                </c:pt>
                <c:pt idx="80">
                  <c:v>50</c:v>
                </c:pt>
                <c:pt idx="81">
                  <c:v>50.5224778753</c:v>
                </c:pt>
                <c:pt idx="82">
                  <c:v>51.1004685052</c:v>
                </c:pt>
                <c:pt idx="83">
                  <c:v>51.6784591351</c:v>
                </c:pt>
                <c:pt idx="84">
                  <c:v>52.2564497649</c:v>
                </c:pt>
                <c:pt idx="85">
                  <c:v>52.8344403948</c:v>
                </c:pt>
                <c:pt idx="86">
                  <c:v>53.4124310247</c:v>
                </c:pt>
                <c:pt idx="87">
                  <c:v>53.9904216546</c:v>
                </c:pt>
                <c:pt idx="88">
                  <c:v>54.5684122845</c:v>
                </c:pt>
                <c:pt idx="89">
                  <c:v>55.1464029144</c:v>
                </c:pt>
                <c:pt idx="90">
                  <c:v>55.7243935443</c:v>
                </c:pt>
                <c:pt idx="91">
                  <c:v>56.3023841742</c:v>
                </c:pt>
                <c:pt idx="92">
                  <c:v>56.8803748041</c:v>
                </c:pt>
                <c:pt idx="93">
                  <c:v>57.458365434</c:v>
                </c:pt>
                <c:pt idx="94">
                  <c:v>58.0363560639</c:v>
                </c:pt>
                <c:pt idx="95">
                  <c:v>58.6143466938</c:v>
                </c:pt>
                <c:pt idx="96">
                  <c:v>59.1923373237</c:v>
                </c:pt>
                <c:pt idx="97">
                  <c:v>59.7703279536</c:v>
                </c:pt>
                <c:pt idx="98">
                  <c:v>60.3483185835</c:v>
                </c:pt>
                <c:pt idx="99">
                  <c:v>60.9263092134</c:v>
                </c:pt>
                <c:pt idx="100">
                  <c:v>61.5042998433</c:v>
                </c:pt>
                <c:pt idx="101">
                  <c:v>62.0822904732</c:v>
                </c:pt>
                <c:pt idx="102">
                  <c:v>62.6602811031</c:v>
                </c:pt>
                <c:pt idx="103">
                  <c:v>63.238271733</c:v>
                </c:pt>
                <c:pt idx="104">
                  <c:v>63.8162623629</c:v>
                </c:pt>
                <c:pt idx="105">
                  <c:v>64.3942529928</c:v>
                </c:pt>
                <c:pt idx="106">
                  <c:v>64.9722436227</c:v>
                </c:pt>
                <c:pt idx="107">
                  <c:v>65.5502342526</c:v>
                </c:pt>
                <c:pt idx="108">
                  <c:v>66.1282248825</c:v>
                </c:pt>
                <c:pt idx="109">
                  <c:v>66.7062155124</c:v>
                </c:pt>
                <c:pt idx="110">
                  <c:v>67.2842061423</c:v>
                </c:pt>
                <c:pt idx="111">
                  <c:v>67.8621967722</c:v>
                </c:pt>
                <c:pt idx="112">
                  <c:v>68.4401874021</c:v>
                </c:pt>
                <c:pt idx="113">
                  <c:v>69.018178032</c:v>
                </c:pt>
                <c:pt idx="114">
                  <c:v>69.5961686619</c:v>
                </c:pt>
                <c:pt idx="115">
                  <c:v>70.1741592918</c:v>
                </c:pt>
                <c:pt idx="116">
                  <c:v>70.7521499216</c:v>
                </c:pt>
                <c:pt idx="117">
                  <c:v>71.3301405515</c:v>
                </c:pt>
                <c:pt idx="118">
                  <c:v>71.9081311814</c:v>
                </c:pt>
                <c:pt idx="119">
                  <c:v>72.4861218113</c:v>
                </c:pt>
                <c:pt idx="120">
                  <c:v>73.0641124412</c:v>
                </c:pt>
                <c:pt idx="121">
                  <c:v>73.6421030711</c:v>
                </c:pt>
                <c:pt idx="122">
                  <c:v>74.220093701</c:v>
                </c:pt>
                <c:pt idx="123">
                  <c:v>74.7980843309</c:v>
                </c:pt>
                <c:pt idx="124">
                  <c:v>75.3760749608</c:v>
                </c:pt>
                <c:pt idx="125">
                  <c:v>75.9540655907</c:v>
                </c:pt>
                <c:pt idx="126">
                  <c:v>76.5320562206</c:v>
                </c:pt>
                <c:pt idx="127">
                  <c:v>77.1100468505</c:v>
                </c:pt>
                <c:pt idx="128">
                  <c:v>77.6880374804</c:v>
                </c:pt>
                <c:pt idx="129">
                  <c:v>78.2660281103</c:v>
                </c:pt>
                <c:pt idx="130">
                  <c:v>78.8440187402</c:v>
                </c:pt>
                <c:pt idx="131">
                  <c:v>79.4220093701</c:v>
                </c:pt>
                <c:pt idx="132">
                  <c:v>80</c:v>
                </c:pt>
              </c:numCache>
            </c:numRef>
          </c:xVal>
          <c:yVal>
            <c:numRef>
              <c:f>'Chart Data'!$D$2:$D$134</c:f>
              <c:numCache>
                <c:formatCode>0</c:formatCode>
                <c:ptCount val="133"/>
                <c:pt idx="0">
                  <c:v>20</c:v>
                </c:pt>
                <c:pt idx="1">
                  <c:v>18.0904452398</c:v>
                </c:pt>
                <c:pt idx="2">
                  <c:v>16.5588444097</c:v>
                </c:pt>
                <c:pt idx="3">
                  <c:v>15.3058278948</c:v>
                </c:pt>
                <c:pt idx="4">
                  <c:v>14.2640535499</c:v>
                </c:pt>
                <c:pt idx="5">
                  <c:v>13.3862655512</c:v>
                </c:pt>
                <c:pt idx="6">
                  <c:v>12.6383250838</c:v>
                </c:pt>
                <c:pt idx="7">
                  <c:v>11.9949544882</c:v>
                </c:pt>
                <c:pt idx="8">
                  <c:v>11.4370374247</c:v>
                </c:pt>
                <c:pt idx="9">
                  <c:v>10.9498494521</c:v>
                </c:pt>
                <c:pt idx="10">
                  <c:v>10.5218652606</c:v>
                </c:pt>
                <c:pt idx="11">
                  <c:v>10.1439346015</c:v>
                </c:pt>
                <c:pt idx="12">
                  <c:v>9.8087004653</c:v>
                </c:pt>
                <c:pt idx="13">
                  <c:v>9.5101803071</c:v>
                </c:pt>
                <c:pt idx="14">
                  <c:v>9.2434593906</c:v>
                </c:pt>
                <c:pt idx="15">
                  <c:v>9.0044627269</c:v>
                </c:pt>
                <c:pt idx="16">
                  <c:v>8.7897830693</c:v>
                </c:pt>
                <c:pt idx="17">
                  <c:v>8.5965495228</c:v>
                </c:pt>
                <c:pt idx="18">
                  <c:v>8.4223260026</c:v>
                </c:pt>
                <c:pt idx="19">
                  <c:v>8.26503192</c:v>
                </c:pt>
                <c:pt idx="20">
                  <c:v>8.1228796181</c:v>
                </c:pt>
                <c:pt idx="21">
                  <c:v>7.9943245714</c:v>
                </c:pt>
                <c:pt idx="22">
                  <c:v>7.8780254108</c:v>
                </c:pt>
                <c:pt idx="23">
                  <c:v>7.7728115851</c:v>
                </c:pt>
                <c:pt idx="24">
                  <c:v>7.6776570085</c:v>
                </c:pt>
                <c:pt idx="25">
                  <c:v>7.5916584408</c:v>
                </c:pt>
                <c:pt idx="26">
                  <c:v>7.5140176377</c:v>
                </c:pt>
                <c:pt idx="27">
                  <c:v>7.4440265251</c:v>
                </c:pt>
                <c:pt idx="28">
                  <c:v>7.3810548165</c:v>
                </c:pt>
                <c:pt idx="29">
                  <c:v>7.3245396169</c:v>
                </c:pt>
                <c:pt idx="30">
                  <c:v>7.2739766501</c:v>
                </c:pt>
                <c:pt idx="31">
                  <c:v>7.2289128217</c:v>
                </c:pt>
                <c:pt idx="32">
                  <c:v>7.1889398865</c:v>
                </c:pt>
                <c:pt idx="33">
                  <c:v>7.1536890331</c:v>
                </c:pt>
                <c:pt idx="34">
                  <c:v>7.1228262349</c:v>
                </c:pt>
                <c:pt idx="35">
                  <c:v>7.0960482441</c:v>
                </c:pt>
                <c:pt idx="36">
                  <c:v>7.0730791255</c:v>
                </c:pt>
                <c:pt idx="37">
                  <c:v>7.0536672501</c:v>
                </c:pt>
                <c:pt idx="38">
                  <c:v>7.037582676</c:v>
                </c:pt>
                <c:pt idx="39">
                  <c:v>7.0246148614</c:v>
                </c:pt>
                <c:pt idx="40">
                  <c:v>7.0145706607</c:v>
                </c:pt>
                <c:pt idx="41">
                  <c:v>7.0072725645</c:v>
                </c:pt>
                <c:pt idx="42">
                  <c:v>7.0025571483</c:v>
                </c:pt>
                <c:pt idx="43">
                  <c:v>7.0002737031</c:v>
                </c:pt>
                <c:pt idx="44">
                  <c:v>7</c:v>
                </c:pt>
                <c:pt idx="45">
                  <c:v>7.0002830218</c:v>
                </c:pt>
                <c:pt idx="46">
                  <c:v>7.002456323</c:v>
                </c:pt>
                <c:pt idx="47">
                  <c:v>7.0066742925</c:v>
                </c:pt>
                <c:pt idx="48">
                  <c:v>7.0128262292</c:v>
                </c:pt>
                <c:pt idx="49">
                  <c:v>7.0208092819</c:v>
                </c:pt>
                <c:pt idx="50">
                  <c:v>7.0305277651</c:v>
                </c:pt>
                <c:pt idx="51">
                  <c:v>7.0418925462</c:v>
                </c:pt>
                <c:pt idx="52">
                  <c:v>7.0548204935</c:v>
                </c:pt>
                <c:pt idx="53">
                  <c:v>7.0692339799</c:v>
                </c:pt>
                <c:pt idx="54">
                  <c:v>7.0850604345</c:v>
                </c:pt>
                <c:pt idx="55">
                  <c:v>7.1022319377</c:v>
                </c:pt>
                <c:pt idx="56">
                  <c:v>7.1206848542</c:v>
                </c:pt>
                <c:pt idx="57">
                  <c:v>7.1403595005</c:v>
                </c:pt>
                <c:pt idx="58">
                  <c:v>7.1611998432</c:v>
                </c:pt>
                <c:pt idx="59">
                  <c:v>7.1831532235</c:v>
                </c:pt>
                <c:pt idx="60">
                  <c:v>7.2061701075</c:v>
                </c:pt>
                <c:pt idx="61">
                  <c:v>7.2302038574</c:v>
                </c:pt>
                <c:pt idx="62">
                  <c:v>7.2552105232</c:v>
                </c:pt>
                <c:pt idx="63">
                  <c:v>7.2811486517</c:v>
                </c:pt>
                <c:pt idx="64">
                  <c:v>7.3079791115</c:v>
                </c:pt>
                <c:pt idx="65">
                  <c:v>7.3356649329</c:v>
                </c:pt>
                <c:pt idx="66">
                  <c:v>7.3641711608</c:v>
                </c:pt>
                <c:pt idx="67">
                  <c:v>7.3934647188</c:v>
                </c:pt>
                <c:pt idx="68">
                  <c:v>7.4235142852</c:v>
                </c:pt>
                <c:pt idx="69">
                  <c:v>7.454290178</c:v>
                </c:pt>
                <c:pt idx="70">
                  <c:v>7.4857642487</c:v>
                </c:pt>
                <c:pt idx="71">
                  <c:v>7.5179097851</c:v>
                </c:pt>
                <c:pt idx="72">
                  <c:v>7.5507014201</c:v>
                </c:pt>
                <c:pt idx="73">
                  <c:v>7.5841150489</c:v>
                </c:pt>
                <c:pt idx="74">
                  <c:v>7.6181277507</c:v>
                </c:pt>
                <c:pt idx="75">
                  <c:v>7.6527177176</c:v>
                </c:pt>
                <c:pt idx="76">
                  <c:v>7.687864187</c:v>
                </c:pt>
                <c:pt idx="77">
                  <c:v>7.7235473808</c:v>
                </c:pt>
                <c:pt idx="78">
                  <c:v>7.7597484466</c:v>
                </c:pt>
                <c:pt idx="79">
                  <c:v>7.796449405</c:v>
                </c:pt>
                <c:pt idx="80">
                  <c:v>7.8</c:v>
                </c:pt>
                <c:pt idx="81">
                  <c:v>7.8336330993</c:v>
                </c:pt>
                <c:pt idx="82">
                  <c:v>7.871283149</c:v>
                </c:pt>
                <c:pt idx="83">
                  <c:v>7.9093839064</c:v>
                </c:pt>
                <c:pt idx="84">
                  <c:v>7.9479204163</c:v>
                </c:pt>
                <c:pt idx="85">
                  <c:v>7.9868783775</c:v>
                </c:pt>
                <c:pt idx="86">
                  <c:v>8.0262441083</c:v>
                </c:pt>
                <c:pt idx="87">
                  <c:v>8.0660045125</c:v>
                </c:pt>
                <c:pt idx="88">
                  <c:v>8.106147049</c:v>
                </c:pt>
                <c:pt idx="89">
                  <c:v>8.1466597024</c:v>
                </c:pt>
                <c:pt idx="90">
                  <c:v>8.1875309557</c:v>
                </c:pt>
                <c:pt idx="91">
                  <c:v>8.228749765</c:v>
                </c:pt>
                <c:pt idx="92">
                  <c:v>8.2703055353</c:v>
                </c:pt>
                <c:pt idx="93">
                  <c:v>8.3121880976</c:v>
                </c:pt>
                <c:pt idx="94">
                  <c:v>8.3543876884</c:v>
                </c:pt>
                <c:pt idx="95">
                  <c:v>8.3968949291</c:v>
                </c:pt>
                <c:pt idx="96">
                  <c:v>8.4397008075</c:v>
                </c:pt>
                <c:pt idx="97">
                  <c:v>8.4827966598</c:v>
                </c:pt>
                <c:pt idx="98">
                  <c:v>8.5261741544</c:v>
                </c:pt>
                <c:pt idx="99">
                  <c:v>8.5698252757</c:v>
                </c:pt>
                <c:pt idx="100">
                  <c:v>8.6137423093</c:v>
                </c:pt>
                <c:pt idx="101">
                  <c:v>8.6579178284</c:v>
                </c:pt>
                <c:pt idx="102">
                  <c:v>8.7023446798</c:v>
                </c:pt>
                <c:pt idx="103">
                  <c:v>8.7470159723</c:v>
                </c:pt>
                <c:pt idx="104">
                  <c:v>8.791925064</c:v>
                </c:pt>
                <c:pt idx="105">
                  <c:v>8.8370655516</c:v>
                </c:pt>
                <c:pt idx="106">
                  <c:v>8.8824312596</c:v>
                </c:pt>
                <c:pt idx="107">
                  <c:v>8.9280162303</c:v>
                </c:pt>
                <c:pt idx="108">
                  <c:v>8.9738147145</c:v>
                </c:pt>
                <c:pt idx="109">
                  <c:v>9.0198211619</c:v>
                </c:pt>
                <c:pt idx="110">
                  <c:v>9.0660302133</c:v>
                </c:pt>
                <c:pt idx="111">
                  <c:v>9.1124366917</c:v>
                </c:pt>
                <c:pt idx="112">
                  <c:v>9.1590355953</c:v>
                </c:pt>
                <c:pt idx="113">
                  <c:v>9.2058220897</c:v>
                </c:pt>
                <c:pt idx="114">
                  <c:v>9.2527915011</c:v>
                </c:pt>
                <c:pt idx="115">
                  <c:v>9.2999393097</c:v>
                </c:pt>
                <c:pt idx="116">
                  <c:v>9.3472611434</c:v>
                </c:pt>
                <c:pt idx="117">
                  <c:v>9.3947527718</c:v>
                </c:pt>
                <c:pt idx="118">
                  <c:v>9.4424101006</c:v>
                </c:pt>
                <c:pt idx="119">
                  <c:v>9.4902291659</c:v>
                </c:pt>
                <c:pt idx="120">
                  <c:v>9.5382061294</c:v>
                </c:pt>
                <c:pt idx="121">
                  <c:v>9.5863372732</c:v>
                </c:pt>
                <c:pt idx="122">
                  <c:v>9.6346189952</c:v>
                </c:pt>
                <c:pt idx="123">
                  <c:v>9.6830478049</c:v>
                </c:pt>
                <c:pt idx="124">
                  <c:v>9.7316203184</c:v>
                </c:pt>
                <c:pt idx="125">
                  <c:v>9.7803332552</c:v>
                </c:pt>
                <c:pt idx="126">
                  <c:v>9.8291834338</c:v>
                </c:pt>
                <c:pt idx="127">
                  <c:v>9.8781677679</c:v>
                </c:pt>
                <c:pt idx="128">
                  <c:v>9.9272832633</c:v>
                </c:pt>
                <c:pt idx="129">
                  <c:v>9.9765270141</c:v>
                </c:pt>
                <c:pt idx="130">
                  <c:v>10.0258961996</c:v>
                </c:pt>
                <c:pt idx="131">
                  <c:v>10.0753880814</c:v>
                </c:pt>
                <c:pt idx="132">
                  <c:v>10.125</c:v>
                </c:pt>
              </c:numCache>
            </c:numRef>
          </c:yVal>
          <c:smooth val="0"/>
        </c:ser>
        <c:ser>
          <c:idx val="2"/>
          <c:order val="2"/>
          <c:tx>
            <c:v>P₀ = GO = MO</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17658A"/>
                        </a:solidFill>
                        <a:latin typeface="Arial"/>
                        <a:ea typeface="Arial"/>
                        <a:cs typeface="Arial"/>
                      </a:rPr>
                      <a:t>P = GO = MO</a:t>
                    </a:r>
                  </a:p>
                </c:rich>
              </c:tx>
              <c:txPr>
                <a:bodyPr xmlns:a="http://schemas.openxmlformats.org/drawingml/2006/main" anchorCtr="1"/>
                <a:lstStyle xmlns:a="http://schemas.openxmlformats.org/drawingml/2006/main"/>
                <a:p xmlns:a="http://schemas.openxmlformats.org/drawingml/2006/main">
                  <a:pPr>
                    <a:defRPr sz="2025"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Data'!$E$2:$E$4</c:f>
              <c:numCache>
                <c:formatCode>General</c:formatCode>
                <c:ptCount val="3"/>
                <c:pt idx="0">
                  <c:v>0</c:v>
                </c:pt>
                <c:pt idx="1">
                  <c:v>30.4</c:v>
                </c:pt>
                <c:pt idx="2">
                  <c:v>80</c:v>
                </c:pt>
              </c:numCache>
            </c:numRef>
          </c:xVal>
          <c:yVal>
            <c:numRef>
              <c:f>'Chart Data'!$F$2:$F$4</c:f>
              <c:numCache>
                <c:formatCode>0</c:formatCode>
                <c:ptCount val="3"/>
                <c:pt idx="0">
                  <c:v>11</c:v>
                </c:pt>
                <c:pt idx="1">
                  <c:v>11</c:v>
                </c:pt>
                <c:pt idx="2">
                  <c:v>11</c:v>
                </c:pt>
              </c:numCache>
            </c:numRef>
          </c:yVal>
          <c:smooth val="0"/>
        </c:ser>
        <c:ser>
          <c:idx val="3"/>
          <c:order val="3"/>
          <c:tx>
            <c:v>gekozen q</c:v>
          </c:tx>
          <c:spPr>
            <a:ln xmlns:a="http://schemas.openxmlformats.org/drawingml/2006/main" w="19050">
              <a:solidFill>
                <a:srgbClr val="445B6B"/>
              </a:solidFill>
              <a:prstDash val="dash"/>
            </a:ln>
          </c:spPr>
          <c:marker>
            <c:symbol val="none"/>
          </c:marker>
          <c:xVal>
            <c:numRef>
              <c:f>'Chart Data'!$G$2:$G$3</c:f>
              <c:numCache>
                <c:formatCode>General</c:formatCode>
                <c:ptCount val="2"/>
                <c:pt idx="0">
                  <c:v>50</c:v>
                </c:pt>
                <c:pt idx="1">
                  <c:v>50</c:v>
                </c:pt>
              </c:numCache>
            </c:numRef>
          </c:xVal>
          <c:yVal>
            <c:numRef>
              <c:f>'Chart Data'!$H$2:$H$3</c:f>
              <c:numCache>
                <c:formatCode>0</c:formatCode>
                <c:ptCount val="2"/>
                <c:pt idx="0">
                  <c:v>0</c:v>
                </c:pt>
                <c:pt idx="1">
                  <c:v>11</c:v>
                </c:pt>
              </c:numCache>
            </c:numRef>
          </c:yVal>
          <c:smooth val="0"/>
        </c:ser>
        <c:ser>
          <c:idx val="4"/>
          <c:order val="4"/>
          <c:tx>
            <c:v>q label</c:v>
          </c:tx>
          <c:spPr>
            <a:ln xmlns:a="http://schemas.openxmlformats.org/drawingml/2006/main" w="0">
              <a:solidFill>
                <a:srgbClr val="445B6B"/>
              </a:solidFill>
            </a:ln>
          </c:spPr>
          <c:marker>
            <c:symbol val="none"/>
          </c:marker>
          <c:dLbls>
            <c:dLbl>
              <c:idx val="0"/>
              <c:tx>
                <c:rich>
                  <a:bodyPr xmlns:a="http://schemas.openxmlformats.org/drawingml/2006/main"/>
                  <a:lstStyle xmlns:a="http://schemas.openxmlformats.org/drawingml/2006/main"/>
                  <a:p xmlns:a="http://schemas.openxmlformats.org/drawingml/2006/main">
                    <a:r>
                      <a:rPr sz="2025" b="1">
                        <a:solidFill>
                          <a:srgbClr val="445B6B"/>
                        </a:solidFill>
                        <a:latin typeface="Arial"/>
                        <a:ea typeface="Arial"/>
                        <a:cs typeface="Arial"/>
                      </a:rPr>
                      <a:t>q = 50</a:t>
                    </a:r>
                  </a:p>
                </c:rich>
              </c:tx>
              <c:txPr>
                <a:bodyPr xmlns:a="http://schemas.openxmlformats.org/drawingml/2006/main" anchorCtr="1"/>
                <a:lstStyle xmlns:a="http://schemas.openxmlformats.org/drawingml/2006/main"/>
                <a:p xmlns:a="http://schemas.openxmlformats.org/drawingml/2006/main">
                  <a:pPr>
                    <a:defRPr sz="2025" b="1">
                      <a:solidFill>
                        <a:srgbClr val="445B6B"/>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50</c:v>
                </c:pt>
              </c:numCache>
            </c:numRef>
          </c:xVal>
          <c:yVal>
            <c:numRef>
              <c:f>'Chart Data'!$J$2:$J$2</c:f>
              <c:numCache>
                <c:formatCode>0</c:formatCode>
                <c:ptCount val="1"/>
                <c:pt idx="0">
                  <c:v>1.8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MK en GTK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MK</c:v>
          </c:tx>
          <c:spPr>
            <a:ln xmlns:a="http://schemas.openxmlformats.org/drawingml/2006/main" w="38100">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2025"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68.8</c:v>
                </c:pt>
                <c:pt idx="2">
                  <c:v>80</c:v>
                </c:pt>
              </c:numCache>
            </c:numRef>
          </c:xVal>
          <c:yVal>
            <c:numRef>
              <c:f>'Chart Data'!$B$2:$B$4</c:f>
              <c:numCache>
                <c:formatCode>0</c:formatCode>
                <c:ptCount val="3"/>
                <c:pt idx="0">
                  <c:v>1</c:v>
                </c:pt>
                <c:pt idx="1">
                  <c:v>14.76</c:v>
                </c:pt>
                <c:pt idx="2">
                  <c:v>17</c:v>
                </c:pt>
              </c:numCache>
            </c:numRef>
          </c:yVal>
          <c:smooth val="0"/>
        </c:ser>
        <c:ser>
          <c:idx val="1"/>
          <c:order val="1"/>
          <c:tx>
            <c:v>GTK</c:v>
          </c:tx>
          <c:spPr>
            <a:ln xmlns:a="http://schemas.openxmlformats.org/drawingml/2006/main" w="38100">
              <a:solidFill>
                <a:srgbClr val="A53737"/>
              </a:solidFill>
            </a:ln>
          </c:spPr>
          <c:marker>
            <c:symbol val="none"/>
          </c:marker>
          <c:dLbls>
            <c:dLbl>
              <c:idx val="131"/>
              <c:tx>
                <c:rich>
                  <a:bodyPr xmlns:a="http://schemas.openxmlformats.org/drawingml/2006/main"/>
                  <a:lstStyle xmlns:a="http://schemas.openxmlformats.org/drawingml/2006/main"/>
                  <a:p xmlns:a="http://schemas.openxmlformats.org/drawingml/2006/main">
                    <a:r>
                      <a:rPr sz="2025" b="1">
                        <a:solidFill>
                          <a:srgbClr val="A53737"/>
                        </a:solidFill>
                        <a:latin typeface="Arial"/>
                        <a:ea typeface="Arial"/>
                        <a:cs typeface="Arial"/>
                      </a:rPr>
                      <a:t>GTK</a:t>
                    </a:r>
                  </a:p>
                </c:rich>
              </c:tx>
              <c:txPr>
                <a:bodyPr xmlns:a="http://schemas.openxmlformats.org/drawingml/2006/main" anchorCtr="1"/>
                <a:lstStyle xmlns:a="http://schemas.openxmlformats.org/drawingml/2006/main"/>
                <a:p xmlns:a="http://schemas.openxmlformats.org/drawingml/2006/main">
                  <a:pPr>
                    <a:defRPr sz="2025" b="1">
                      <a:solidFill>
                        <a:srgbClr val="A53737"/>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Data'!$C$2:$C$134</c:f>
              <c:numCache>
                <c:formatCode>General</c:formatCode>
                <c:ptCount val="133"/>
                <c:pt idx="0">
                  <c:v>4.8612181134</c:v>
                </c:pt>
                <c:pt idx="1">
                  <c:v>5.4392087433</c:v>
                </c:pt>
                <c:pt idx="2">
                  <c:v>6.0171993732</c:v>
                </c:pt>
                <c:pt idx="3">
                  <c:v>6.5951900031</c:v>
                </c:pt>
                <c:pt idx="4">
                  <c:v>7.173180633</c:v>
                </c:pt>
                <c:pt idx="5">
                  <c:v>7.7511712629</c:v>
                </c:pt>
                <c:pt idx="6">
                  <c:v>8.3291618928</c:v>
                </c:pt>
                <c:pt idx="7">
                  <c:v>8.9071525227</c:v>
                </c:pt>
                <c:pt idx="8">
                  <c:v>9.4851431526</c:v>
                </c:pt>
                <c:pt idx="9">
                  <c:v>10.0631337825</c:v>
                </c:pt>
                <c:pt idx="10">
                  <c:v>10.6411244124</c:v>
                </c:pt>
                <c:pt idx="11">
                  <c:v>11.2191150423</c:v>
                </c:pt>
                <c:pt idx="12">
                  <c:v>11.7971056722</c:v>
                </c:pt>
                <c:pt idx="13">
                  <c:v>12.3750963021</c:v>
                </c:pt>
                <c:pt idx="14">
                  <c:v>12.953086932</c:v>
                </c:pt>
                <c:pt idx="15">
                  <c:v>13.5310775619</c:v>
                </c:pt>
                <c:pt idx="16">
                  <c:v>14.1090681918</c:v>
                </c:pt>
                <c:pt idx="17">
                  <c:v>14.6870588216</c:v>
                </c:pt>
                <c:pt idx="18">
                  <c:v>15.2650494515</c:v>
                </c:pt>
                <c:pt idx="19">
                  <c:v>15.8430400814</c:v>
                </c:pt>
                <c:pt idx="20">
                  <c:v>16.4210307113</c:v>
                </c:pt>
                <c:pt idx="21">
                  <c:v>16.9990213412</c:v>
                </c:pt>
                <c:pt idx="22">
                  <c:v>17.5770119711</c:v>
                </c:pt>
                <c:pt idx="23">
                  <c:v>18.155002601</c:v>
                </c:pt>
                <c:pt idx="24">
                  <c:v>18.7329932309</c:v>
                </c:pt>
                <c:pt idx="25">
                  <c:v>19.3109838608</c:v>
                </c:pt>
                <c:pt idx="26">
                  <c:v>19.8889744907</c:v>
                </c:pt>
                <c:pt idx="27">
                  <c:v>20.4669651206</c:v>
                </c:pt>
                <c:pt idx="28">
                  <c:v>21.0449557505</c:v>
                </c:pt>
                <c:pt idx="29">
                  <c:v>21.6229463804</c:v>
                </c:pt>
                <c:pt idx="30">
                  <c:v>22.2009370103</c:v>
                </c:pt>
                <c:pt idx="31">
                  <c:v>22.7789276402</c:v>
                </c:pt>
                <c:pt idx="32">
                  <c:v>23.3569182701</c:v>
                </c:pt>
                <c:pt idx="33">
                  <c:v>23.9349089</c:v>
                </c:pt>
                <c:pt idx="34">
                  <c:v>24.5128995299</c:v>
                </c:pt>
                <c:pt idx="35">
                  <c:v>25.0908901598</c:v>
                </c:pt>
                <c:pt idx="36">
                  <c:v>25.6688807897</c:v>
                </c:pt>
                <c:pt idx="37">
                  <c:v>26.2468714196</c:v>
                </c:pt>
                <c:pt idx="38">
                  <c:v>26.8248620495</c:v>
                </c:pt>
                <c:pt idx="39">
                  <c:v>27.4028526794</c:v>
                </c:pt>
                <c:pt idx="40">
                  <c:v>27.9808433093</c:v>
                </c:pt>
                <c:pt idx="41">
                  <c:v>28.5588339392</c:v>
                </c:pt>
                <c:pt idx="42">
                  <c:v>29.1368245691</c:v>
                </c:pt>
                <c:pt idx="43">
                  <c:v>29.714815199</c:v>
                </c:pt>
                <c:pt idx="44">
                  <c:v>30</c:v>
                </c:pt>
                <c:pt idx="45">
                  <c:v>30.2928058289</c:v>
                </c:pt>
                <c:pt idx="46">
                  <c:v>30.8707964588</c:v>
                </c:pt>
                <c:pt idx="47">
                  <c:v>31.4487870887</c:v>
                </c:pt>
                <c:pt idx="48">
                  <c:v>32.0267777186</c:v>
                </c:pt>
                <c:pt idx="49">
                  <c:v>32.6047683485</c:v>
                </c:pt>
                <c:pt idx="50">
                  <c:v>33.1827589783</c:v>
                </c:pt>
                <c:pt idx="51">
                  <c:v>33.7607496082</c:v>
                </c:pt>
                <c:pt idx="52">
                  <c:v>34.3387402381</c:v>
                </c:pt>
                <c:pt idx="53">
                  <c:v>34.916730868</c:v>
                </c:pt>
                <c:pt idx="54">
                  <c:v>35.4947214979</c:v>
                </c:pt>
                <c:pt idx="55">
                  <c:v>36.0727121278</c:v>
                </c:pt>
                <c:pt idx="56">
                  <c:v>36.6507027577</c:v>
                </c:pt>
                <c:pt idx="57">
                  <c:v>37.2286933876</c:v>
                </c:pt>
                <c:pt idx="58">
                  <c:v>37.8066840175</c:v>
                </c:pt>
                <c:pt idx="59">
                  <c:v>38.3846746474</c:v>
                </c:pt>
                <c:pt idx="60">
                  <c:v>38.9626652773</c:v>
                </c:pt>
                <c:pt idx="61">
                  <c:v>39.5406559072</c:v>
                </c:pt>
                <c:pt idx="62">
                  <c:v>40.1186465371</c:v>
                </c:pt>
                <c:pt idx="63">
                  <c:v>40.696637167</c:v>
                </c:pt>
                <c:pt idx="64">
                  <c:v>41.2746277969</c:v>
                </c:pt>
                <c:pt idx="65">
                  <c:v>41.8526184268</c:v>
                </c:pt>
                <c:pt idx="66">
                  <c:v>42.4306090567</c:v>
                </c:pt>
                <c:pt idx="67">
                  <c:v>43.0085996866</c:v>
                </c:pt>
                <c:pt idx="68">
                  <c:v>43.5865903165</c:v>
                </c:pt>
                <c:pt idx="69">
                  <c:v>44.1645809464</c:v>
                </c:pt>
                <c:pt idx="70">
                  <c:v>44.7425715763</c:v>
                </c:pt>
                <c:pt idx="71">
                  <c:v>45.3205622062</c:v>
                </c:pt>
                <c:pt idx="72">
                  <c:v>45.8985528361</c:v>
                </c:pt>
                <c:pt idx="73">
                  <c:v>46.476543466</c:v>
                </c:pt>
                <c:pt idx="74">
                  <c:v>47.0545340959</c:v>
                </c:pt>
                <c:pt idx="75">
                  <c:v>47.6325247258</c:v>
                </c:pt>
                <c:pt idx="76">
                  <c:v>48.2105153557</c:v>
                </c:pt>
                <c:pt idx="77">
                  <c:v>48.7885059856</c:v>
                </c:pt>
                <c:pt idx="78">
                  <c:v>49.3664966155</c:v>
                </c:pt>
                <c:pt idx="79">
                  <c:v>49.9444872454</c:v>
                </c:pt>
                <c:pt idx="80">
                  <c:v>50</c:v>
                </c:pt>
                <c:pt idx="81">
                  <c:v>50.5224778753</c:v>
                </c:pt>
                <c:pt idx="82">
                  <c:v>51.1004685052</c:v>
                </c:pt>
                <c:pt idx="83">
                  <c:v>51.6784591351</c:v>
                </c:pt>
                <c:pt idx="84">
                  <c:v>52.2564497649</c:v>
                </c:pt>
                <c:pt idx="85">
                  <c:v>52.8344403948</c:v>
                </c:pt>
                <c:pt idx="86">
                  <c:v>53.4124310247</c:v>
                </c:pt>
                <c:pt idx="87">
                  <c:v>53.9904216546</c:v>
                </c:pt>
                <c:pt idx="88">
                  <c:v>54.5684122845</c:v>
                </c:pt>
                <c:pt idx="89">
                  <c:v>55.1464029144</c:v>
                </c:pt>
                <c:pt idx="90">
                  <c:v>55.7243935443</c:v>
                </c:pt>
                <c:pt idx="91">
                  <c:v>56.3023841742</c:v>
                </c:pt>
                <c:pt idx="92">
                  <c:v>56.8803748041</c:v>
                </c:pt>
                <c:pt idx="93">
                  <c:v>57.458365434</c:v>
                </c:pt>
                <c:pt idx="94">
                  <c:v>58.0363560639</c:v>
                </c:pt>
                <c:pt idx="95">
                  <c:v>58.6143466938</c:v>
                </c:pt>
                <c:pt idx="96">
                  <c:v>59.1923373237</c:v>
                </c:pt>
                <c:pt idx="97">
                  <c:v>59.7703279536</c:v>
                </c:pt>
                <c:pt idx="98">
                  <c:v>60.3483185835</c:v>
                </c:pt>
                <c:pt idx="99">
                  <c:v>60.9263092134</c:v>
                </c:pt>
                <c:pt idx="100">
                  <c:v>61.5042998433</c:v>
                </c:pt>
                <c:pt idx="101">
                  <c:v>62.0822904732</c:v>
                </c:pt>
                <c:pt idx="102">
                  <c:v>62.6602811031</c:v>
                </c:pt>
                <c:pt idx="103">
                  <c:v>63.238271733</c:v>
                </c:pt>
                <c:pt idx="104">
                  <c:v>63.8162623629</c:v>
                </c:pt>
                <c:pt idx="105">
                  <c:v>64.3942529928</c:v>
                </c:pt>
                <c:pt idx="106">
                  <c:v>64.9722436227</c:v>
                </c:pt>
                <c:pt idx="107">
                  <c:v>65.5502342526</c:v>
                </c:pt>
                <c:pt idx="108">
                  <c:v>66.1282248825</c:v>
                </c:pt>
                <c:pt idx="109">
                  <c:v>66.7062155124</c:v>
                </c:pt>
                <c:pt idx="110">
                  <c:v>67.2842061423</c:v>
                </c:pt>
                <c:pt idx="111">
                  <c:v>67.8621967722</c:v>
                </c:pt>
                <c:pt idx="112">
                  <c:v>68.4401874021</c:v>
                </c:pt>
                <c:pt idx="113">
                  <c:v>69.018178032</c:v>
                </c:pt>
                <c:pt idx="114">
                  <c:v>69.5961686619</c:v>
                </c:pt>
                <c:pt idx="115">
                  <c:v>70.1741592918</c:v>
                </c:pt>
                <c:pt idx="116">
                  <c:v>70.7521499216</c:v>
                </c:pt>
                <c:pt idx="117">
                  <c:v>71.3301405515</c:v>
                </c:pt>
                <c:pt idx="118">
                  <c:v>71.9081311814</c:v>
                </c:pt>
                <c:pt idx="119">
                  <c:v>72.4861218113</c:v>
                </c:pt>
                <c:pt idx="120">
                  <c:v>73.0641124412</c:v>
                </c:pt>
                <c:pt idx="121">
                  <c:v>73.6421030711</c:v>
                </c:pt>
                <c:pt idx="122">
                  <c:v>74.220093701</c:v>
                </c:pt>
                <c:pt idx="123">
                  <c:v>74.7980843309</c:v>
                </c:pt>
                <c:pt idx="124">
                  <c:v>75.3760749608</c:v>
                </c:pt>
                <c:pt idx="125">
                  <c:v>75.9540655907</c:v>
                </c:pt>
                <c:pt idx="126">
                  <c:v>76.5320562206</c:v>
                </c:pt>
                <c:pt idx="127">
                  <c:v>77.1100468505</c:v>
                </c:pt>
                <c:pt idx="128">
                  <c:v>77.6880374804</c:v>
                </c:pt>
                <c:pt idx="129">
                  <c:v>78.2660281103</c:v>
                </c:pt>
                <c:pt idx="130">
                  <c:v>78.8440187402</c:v>
                </c:pt>
                <c:pt idx="131">
                  <c:v>79.4220093701</c:v>
                </c:pt>
                <c:pt idx="132">
                  <c:v>80</c:v>
                </c:pt>
              </c:numCache>
            </c:numRef>
          </c:xVal>
          <c:yVal>
            <c:numRef>
              <c:f>'Chart Data'!$D$2:$D$134</c:f>
              <c:numCache>
                <c:formatCode>0</c:formatCode>
                <c:ptCount val="133"/>
                <c:pt idx="0">
                  <c:v>20</c:v>
                </c:pt>
                <c:pt idx="1">
                  <c:v>18.0904452398</c:v>
                </c:pt>
                <c:pt idx="2">
                  <c:v>16.5588444097</c:v>
                </c:pt>
                <c:pt idx="3">
                  <c:v>15.3058278948</c:v>
                </c:pt>
                <c:pt idx="4">
                  <c:v>14.2640535499</c:v>
                </c:pt>
                <c:pt idx="5">
                  <c:v>13.3862655512</c:v>
                </c:pt>
                <c:pt idx="6">
                  <c:v>12.6383250838</c:v>
                </c:pt>
                <c:pt idx="7">
                  <c:v>11.9949544882</c:v>
                </c:pt>
                <c:pt idx="8">
                  <c:v>11.4370374247</c:v>
                </c:pt>
                <c:pt idx="9">
                  <c:v>10.9498494521</c:v>
                </c:pt>
                <c:pt idx="10">
                  <c:v>10.5218652606</c:v>
                </c:pt>
                <c:pt idx="11">
                  <c:v>10.1439346015</c:v>
                </c:pt>
                <c:pt idx="12">
                  <c:v>9.8087004653</c:v>
                </c:pt>
                <c:pt idx="13">
                  <c:v>9.5101803071</c:v>
                </c:pt>
                <c:pt idx="14">
                  <c:v>9.2434593906</c:v>
                </c:pt>
                <c:pt idx="15">
                  <c:v>9.0044627269</c:v>
                </c:pt>
                <c:pt idx="16">
                  <c:v>8.7897830693</c:v>
                </c:pt>
                <c:pt idx="17">
                  <c:v>8.5965495228</c:v>
                </c:pt>
                <c:pt idx="18">
                  <c:v>8.4223260026</c:v>
                </c:pt>
                <c:pt idx="19">
                  <c:v>8.26503192</c:v>
                </c:pt>
                <c:pt idx="20">
                  <c:v>8.1228796181</c:v>
                </c:pt>
                <c:pt idx="21">
                  <c:v>7.9943245714</c:v>
                </c:pt>
                <c:pt idx="22">
                  <c:v>7.8780254108</c:v>
                </c:pt>
                <c:pt idx="23">
                  <c:v>7.7728115851</c:v>
                </c:pt>
                <c:pt idx="24">
                  <c:v>7.6776570085</c:v>
                </c:pt>
                <c:pt idx="25">
                  <c:v>7.5916584408</c:v>
                </c:pt>
                <c:pt idx="26">
                  <c:v>7.5140176377</c:v>
                </c:pt>
                <c:pt idx="27">
                  <c:v>7.4440265251</c:v>
                </c:pt>
                <c:pt idx="28">
                  <c:v>7.3810548165</c:v>
                </c:pt>
                <c:pt idx="29">
                  <c:v>7.3245396169</c:v>
                </c:pt>
                <c:pt idx="30">
                  <c:v>7.2739766501</c:v>
                </c:pt>
                <c:pt idx="31">
                  <c:v>7.2289128217</c:v>
                </c:pt>
                <c:pt idx="32">
                  <c:v>7.1889398865</c:v>
                </c:pt>
                <c:pt idx="33">
                  <c:v>7.1536890331</c:v>
                </c:pt>
                <c:pt idx="34">
                  <c:v>7.1228262349</c:v>
                </c:pt>
                <c:pt idx="35">
                  <c:v>7.0960482441</c:v>
                </c:pt>
                <c:pt idx="36">
                  <c:v>7.0730791255</c:v>
                </c:pt>
                <c:pt idx="37">
                  <c:v>7.0536672501</c:v>
                </c:pt>
                <c:pt idx="38">
                  <c:v>7.037582676</c:v>
                </c:pt>
                <c:pt idx="39">
                  <c:v>7.0246148614</c:v>
                </c:pt>
                <c:pt idx="40">
                  <c:v>7.0145706607</c:v>
                </c:pt>
                <c:pt idx="41">
                  <c:v>7.0072725645</c:v>
                </c:pt>
                <c:pt idx="42">
                  <c:v>7.0025571483</c:v>
                </c:pt>
                <c:pt idx="43">
                  <c:v>7.0002737031</c:v>
                </c:pt>
                <c:pt idx="44">
                  <c:v>7</c:v>
                </c:pt>
                <c:pt idx="45">
                  <c:v>7.0002830218</c:v>
                </c:pt>
                <c:pt idx="46">
                  <c:v>7.002456323</c:v>
                </c:pt>
                <c:pt idx="47">
                  <c:v>7.0066742925</c:v>
                </c:pt>
                <c:pt idx="48">
                  <c:v>7.0128262292</c:v>
                </c:pt>
                <c:pt idx="49">
                  <c:v>7.0208092819</c:v>
                </c:pt>
                <c:pt idx="50">
                  <c:v>7.0305277651</c:v>
                </c:pt>
                <c:pt idx="51">
                  <c:v>7.0418925462</c:v>
                </c:pt>
                <c:pt idx="52">
                  <c:v>7.0548204935</c:v>
                </c:pt>
                <c:pt idx="53">
                  <c:v>7.0692339799</c:v>
                </c:pt>
                <c:pt idx="54">
                  <c:v>7.0850604345</c:v>
                </c:pt>
                <c:pt idx="55">
                  <c:v>7.1022319377</c:v>
                </c:pt>
                <c:pt idx="56">
                  <c:v>7.1206848542</c:v>
                </c:pt>
                <c:pt idx="57">
                  <c:v>7.1403595005</c:v>
                </c:pt>
                <c:pt idx="58">
                  <c:v>7.1611998432</c:v>
                </c:pt>
                <c:pt idx="59">
                  <c:v>7.1831532235</c:v>
                </c:pt>
                <c:pt idx="60">
                  <c:v>7.2061701075</c:v>
                </c:pt>
                <c:pt idx="61">
                  <c:v>7.2302038574</c:v>
                </c:pt>
                <c:pt idx="62">
                  <c:v>7.2552105232</c:v>
                </c:pt>
                <c:pt idx="63">
                  <c:v>7.2811486517</c:v>
                </c:pt>
                <c:pt idx="64">
                  <c:v>7.3079791115</c:v>
                </c:pt>
                <c:pt idx="65">
                  <c:v>7.3356649329</c:v>
                </c:pt>
                <c:pt idx="66">
                  <c:v>7.3641711608</c:v>
                </c:pt>
                <c:pt idx="67">
                  <c:v>7.3934647188</c:v>
                </c:pt>
                <c:pt idx="68">
                  <c:v>7.4235142852</c:v>
                </c:pt>
                <c:pt idx="69">
                  <c:v>7.454290178</c:v>
                </c:pt>
                <c:pt idx="70">
                  <c:v>7.4857642487</c:v>
                </c:pt>
                <c:pt idx="71">
                  <c:v>7.5179097851</c:v>
                </c:pt>
                <c:pt idx="72">
                  <c:v>7.5507014201</c:v>
                </c:pt>
                <c:pt idx="73">
                  <c:v>7.5841150489</c:v>
                </c:pt>
                <c:pt idx="74">
                  <c:v>7.6181277507</c:v>
                </c:pt>
                <c:pt idx="75">
                  <c:v>7.6527177176</c:v>
                </c:pt>
                <c:pt idx="76">
                  <c:v>7.687864187</c:v>
                </c:pt>
                <c:pt idx="77">
                  <c:v>7.7235473808</c:v>
                </c:pt>
                <c:pt idx="78">
                  <c:v>7.7597484466</c:v>
                </c:pt>
                <c:pt idx="79">
                  <c:v>7.796449405</c:v>
                </c:pt>
                <c:pt idx="80">
                  <c:v>7.8</c:v>
                </c:pt>
                <c:pt idx="81">
                  <c:v>7.8336330993</c:v>
                </c:pt>
                <c:pt idx="82">
                  <c:v>7.871283149</c:v>
                </c:pt>
                <c:pt idx="83">
                  <c:v>7.9093839064</c:v>
                </c:pt>
                <c:pt idx="84">
                  <c:v>7.9479204163</c:v>
                </c:pt>
                <c:pt idx="85">
                  <c:v>7.9868783775</c:v>
                </c:pt>
                <c:pt idx="86">
                  <c:v>8.0262441083</c:v>
                </c:pt>
                <c:pt idx="87">
                  <c:v>8.0660045125</c:v>
                </c:pt>
                <c:pt idx="88">
                  <c:v>8.106147049</c:v>
                </c:pt>
                <c:pt idx="89">
                  <c:v>8.1466597024</c:v>
                </c:pt>
                <c:pt idx="90">
                  <c:v>8.1875309557</c:v>
                </c:pt>
                <c:pt idx="91">
                  <c:v>8.228749765</c:v>
                </c:pt>
                <c:pt idx="92">
                  <c:v>8.2703055353</c:v>
                </c:pt>
                <c:pt idx="93">
                  <c:v>8.3121880976</c:v>
                </c:pt>
                <c:pt idx="94">
                  <c:v>8.3543876884</c:v>
                </c:pt>
                <c:pt idx="95">
                  <c:v>8.3968949291</c:v>
                </c:pt>
                <c:pt idx="96">
                  <c:v>8.4397008075</c:v>
                </c:pt>
                <c:pt idx="97">
                  <c:v>8.4827966598</c:v>
                </c:pt>
                <c:pt idx="98">
                  <c:v>8.5261741544</c:v>
                </c:pt>
                <c:pt idx="99">
                  <c:v>8.5698252757</c:v>
                </c:pt>
                <c:pt idx="100">
                  <c:v>8.6137423093</c:v>
                </c:pt>
                <c:pt idx="101">
                  <c:v>8.6579178284</c:v>
                </c:pt>
                <c:pt idx="102">
                  <c:v>8.7023446798</c:v>
                </c:pt>
                <c:pt idx="103">
                  <c:v>8.7470159723</c:v>
                </c:pt>
                <c:pt idx="104">
                  <c:v>8.791925064</c:v>
                </c:pt>
                <c:pt idx="105">
                  <c:v>8.8370655516</c:v>
                </c:pt>
                <c:pt idx="106">
                  <c:v>8.8824312596</c:v>
                </c:pt>
                <c:pt idx="107">
                  <c:v>8.9280162303</c:v>
                </c:pt>
                <c:pt idx="108">
                  <c:v>8.9738147145</c:v>
                </c:pt>
                <c:pt idx="109">
                  <c:v>9.0198211619</c:v>
                </c:pt>
                <c:pt idx="110">
                  <c:v>9.0660302133</c:v>
                </c:pt>
                <c:pt idx="111">
                  <c:v>9.1124366917</c:v>
                </c:pt>
                <c:pt idx="112">
                  <c:v>9.1590355953</c:v>
                </c:pt>
                <c:pt idx="113">
                  <c:v>9.2058220897</c:v>
                </c:pt>
                <c:pt idx="114">
                  <c:v>9.2527915011</c:v>
                </c:pt>
                <c:pt idx="115">
                  <c:v>9.2999393097</c:v>
                </c:pt>
                <c:pt idx="116">
                  <c:v>9.3472611434</c:v>
                </c:pt>
                <c:pt idx="117">
                  <c:v>9.3947527718</c:v>
                </c:pt>
                <c:pt idx="118">
                  <c:v>9.4424101006</c:v>
                </c:pt>
                <c:pt idx="119">
                  <c:v>9.4902291659</c:v>
                </c:pt>
                <c:pt idx="120">
                  <c:v>9.5382061294</c:v>
                </c:pt>
                <c:pt idx="121">
                  <c:v>9.5863372732</c:v>
                </c:pt>
                <c:pt idx="122">
                  <c:v>9.6346189952</c:v>
                </c:pt>
                <c:pt idx="123">
                  <c:v>9.6830478049</c:v>
                </c:pt>
                <c:pt idx="124">
                  <c:v>9.7316203184</c:v>
                </c:pt>
                <c:pt idx="125">
                  <c:v>9.7803332552</c:v>
                </c:pt>
                <c:pt idx="126">
                  <c:v>9.8291834338</c:v>
                </c:pt>
                <c:pt idx="127">
                  <c:v>9.8781677679</c:v>
                </c:pt>
                <c:pt idx="128">
                  <c:v>9.9272832633</c:v>
                </c:pt>
                <c:pt idx="129">
                  <c:v>9.9765270141</c:v>
                </c:pt>
                <c:pt idx="130">
                  <c:v>10.0258961996</c:v>
                </c:pt>
                <c:pt idx="131">
                  <c:v>10.0753880814</c:v>
                </c:pt>
                <c:pt idx="132">
                  <c:v>10.125</c:v>
                </c:pt>
              </c:numCache>
            </c:numRef>
          </c:yVal>
          <c:smooth val="0"/>
        </c:ser>
        <c:ser>
          <c:idx val="2"/>
          <c:order val="2"/>
          <c:tx>
            <c:v>P₀ = GO = MO</c:v>
          </c:tx>
          <c:spPr>
            <a:ln xmlns:a="http://schemas.openxmlformats.org/drawingml/2006/main" w="38100">
              <a:solidFill>
                <a:srgbClr val="445B6B"/>
              </a:solidFill>
              <a:prstDash val="dash"/>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445B6B"/>
                        </a:solidFill>
                        <a:latin typeface="Arial"/>
                        <a:ea typeface="Arial"/>
                        <a:cs typeface="Arial"/>
                      </a:rPr>
                      <a:t>P₀</a:t>
                    </a:r>
                  </a:p>
                </c:rich>
              </c:tx>
              <c:txPr>
                <a:bodyPr xmlns:a="http://schemas.openxmlformats.org/drawingml/2006/main" anchorCtr="1"/>
                <a:lstStyle xmlns:a="http://schemas.openxmlformats.org/drawingml/2006/main"/>
                <a:p xmlns:a="http://schemas.openxmlformats.org/drawingml/2006/main">
                  <a:pPr>
                    <a:defRPr sz="2025" b="1">
                      <a:solidFill>
                        <a:srgbClr val="445B6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Data'!$E$2:$E$4</c:f>
              <c:numCache>
                <c:formatCode>General</c:formatCode>
                <c:ptCount val="3"/>
                <c:pt idx="0">
                  <c:v>0</c:v>
                </c:pt>
                <c:pt idx="1">
                  <c:v>16.8</c:v>
                </c:pt>
                <c:pt idx="2">
                  <c:v>80</c:v>
                </c:pt>
              </c:numCache>
            </c:numRef>
          </c:xVal>
          <c:yVal>
            <c:numRef>
              <c:f>'Chart Data'!$F$2:$F$4</c:f>
              <c:numCache>
                <c:formatCode>0</c:formatCode>
                <c:ptCount val="3"/>
                <c:pt idx="0">
                  <c:v>11</c:v>
                </c:pt>
                <c:pt idx="1">
                  <c:v>11</c:v>
                </c:pt>
                <c:pt idx="2">
                  <c:v>11</c:v>
                </c:pt>
              </c:numCache>
            </c:numRef>
          </c:yVal>
          <c:smooth val="0"/>
        </c:ser>
        <c:ser>
          <c:idx val="3"/>
          <c:order val="3"/>
          <c:tx>
            <c:v>P₁ = GO = MO</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17658A"/>
                        </a:solidFill>
                        <a:latin typeface="Arial"/>
                        <a:ea typeface="Arial"/>
                        <a:cs typeface="Arial"/>
                      </a:rPr>
                      <a:t>P₁ = GO = MO</a:t>
                    </a:r>
                  </a:p>
                </c:rich>
              </c:tx>
              <c:txPr>
                <a:bodyPr xmlns:a="http://schemas.openxmlformats.org/drawingml/2006/main" anchorCtr="1"/>
                <a:lstStyle xmlns:a="http://schemas.openxmlformats.org/drawingml/2006/main"/>
                <a:p xmlns:a="http://schemas.openxmlformats.org/drawingml/2006/main">
                  <a:pPr>
                    <a:defRPr sz="2025" b="1">
                      <a:solidFill>
                        <a:srgbClr val="17658A"/>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Data'!$G$2:$G$4</c:f>
              <c:numCache>
                <c:formatCode>General</c:formatCode>
                <c:ptCount val="3"/>
                <c:pt idx="0">
                  <c:v>0</c:v>
                </c:pt>
                <c:pt idx="1">
                  <c:v>51.2</c:v>
                </c:pt>
                <c:pt idx="2">
                  <c:v>80</c:v>
                </c:pt>
              </c:numCache>
            </c:numRef>
          </c:xVal>
          <c:yVal>
            <c:numRef>
              <c:f>'Chart Data'!$H$2:$H$4</c:f>
              <c:numCache>
                <c:formatCode>0</c:formatCode>
                <c:ptCount val="3"/>
                <c:pt idx="0">
                  <c:v>7</c:v>
                </c:pt>
                <c:pt idx="1">
                  <c:v>7</c:v>
                </c:pt>
                <c:pt idx="2">
                  <c:v>7</c:v>
                </c:pt>
              </c:numCache>
            </c:numRef>
          </c:yVal>
          <c:smooth val="0"/>
        </c:ser>
        <c:ser>
          <c:idx val="4"/>
          <c:order val="4"/>
          <c:tx>
            <c:v>gekozen q</c:v>
          </c:tx>
          <c:spPr>
            <a:ln xmlns:a="http://schemas.openxmlformats.org/drawingml/2006/main" w="19050">
              <a:solidFill>
                <a:srgbClr val="445B6B"/>
              </a:solidFill>
              <a:prstDash val="dash"/>
            </a:ln>
          </c:spPr>
          <c:marker>
            <c:symbol val="none"/>
          </c:marker>
          <c:xVal>
            <c:numRef>
              <c:f>'Chart Data'!$I$2:$I$3</c:f>
              <c:numCache>
                <c:formatCode>General</c:formatCode>
                <c:ptCount val="2"/>
                <c:pt idx="0">
                  <c:v>30</c:v>
                </c:pt>
                <c:pt idx="1">
                  <c:v>30</c:v>
                </c:pt>
              </c:numCache>
            </c:numRef>
          </c:xVal>
          <c:yVal>
            <c:numRef>
              <c:f>'Chart Data'!$J$2:$J$3</c:f>
              <c:numCache>
                <c:formatCode>0</c:formatCode>
                <c:ptCount val="2"/>
                <c:pt idx="0">
                  <c:v>0</c:v>
                </c:pt>
                <c:pt idx="1">
                  <c:v>7</c:v>
                </c:pt>
              </c:numCache>
            </c:numRef>
          </c:yVal>
          <c:smooth val="0"/>
        </c:ser>
        <c:ser>
          <c:idx val="5"/>
          <c:order val="5"/>
          <c:tx>
            <c:v>q label</c:v>
          </c:tx>
          <c:spPr>
            <a:ln xmlns:a="http://schemas.openxmlformats.org/drawingml/2006/main" w="0">
              <a:solidFill>
                <a:srgbClr val="445B6B"/>
              </a:solidFill>
            </a:ln>
          </c:spPr>
          <c:marker>
            <c:symbol val="none"/>
          </c:marker>
          <c:dLbls>
            <c:dLbl>
              <c:idx val="0"/>
              <c:tx>
                <c:rich>
                  <a:bodyPr xmlns:a="http://schemas.openxmlformats.org/drawingml/2006/main"/>
                  <a:lstStyle xmlns:a="http://schemas.openxmlformats.org/drawingml/2006/main"/>
                  <a:p xmlns:a="http://schemas.openxmlformats.org/drawingml/2006/main">
                    <a:r>
                      <a:rPr sz="2025" b="1">
                        <a:solidFill>
                          <a:srgbClr val="445B6B"/>
                        </a:solidFill>
                        <a:latin typeface="Arial"/>
                        <a:ea typeface="Arial"/>
                        <a:cs typeface="Arial"/>
                      </a:rPr>
                      <a:t>q = 30</a:t>
                    </a:r>
                  </a:p>
                </c:rich>
              </c:tx>
              <c:txPr>
                <a:bodyPr xmlns:a="http://schemas.openxmlformats.org/drawingml/2006/main" anchorCtr="1"/>
                <a:lstStyle xmlns:a="http://schemas.openxmlformats.org/drawingml/2006/main"/>
                <a:p xmlns:a="http://schemas.openxmlformats.org/drawingml/2006/main">
                  <a:pPr>
                    <a:defRPr sz="2025" b="1">
                      <a:solidFill>
                        <a:srgbClr val="445B6B"/>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30</c:v>
                </c:pt>
              </c:numCache>
            </c:numRef>
          </c:xVal>
          <c:yVal>
            <c:numRef>
              <c:f>'Chart Data'!$L$2:$L$2</c:f>
              <c:numCache>
                <c:formatCode>0</c:formatCode>
                <c:ptCount val="1"/>
                <c:pt idx="0">
                  <c:v>1.8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MK en GTK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025"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110.4</c:v>
                </c:pt>
                <c:pt idx="2">
                  <c:v>120</c:v>
                </c:pt>
              </c:numCache>
            </c:numRef>
          </c:xVal>
          <c:yVal>
            <c:numRef>
              <c:f>'Chart Data'!$B$2:$B$4</c:f>
              <c:numCache>
                <c:formatCode>0</c:formatCode>
                <c:ptCount val="3"/>
                <c:pt idx="0">
                  <c:v>15</c:v>
                </c:pt>
                <c:pt idx="1">
                  <c:v>3.96</c:v>
                </c:pt>
                <c:pt idx="2">
                  <c:v>3</c:v>
                </c:pt>
              </c:numCache>
            </c:numRef>
          </c:yVal>
          <c:smooth val="0"/>
        </c:ser>
        <c:ser>
          <c:idx val="1"/>
          <c:order val="1"/>
          <c:tx>
            <c:v>A₀</c:v>
          </c:tx>
          <c:spPr>
            <a:ln xmlns:a="http://schemas.openxmlformats.org/drawingml/2006/main" w="38100">
              <a:solidFill>
                <a:srgbClr val="445B6B"/>
              </a:solidFill>
              <a:prstDash val="dash"/>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445B6B"/>
                        </a:solidFill>
                        <a:latin typeface="Arial"/>
                        <a:ea typeface="Arial"/>
                        <a:cs typeface="Arial"/>
                      </a:rPr>
                      <a:t>A₀</a:t>
                    </a:r>
                  </a:p>
                </c:rich>
              </c:tx>
              <c:txPr>
                <a:bodyPr xmlns:a="http://schemas.openxmlformats.org/drawingml/2006/main" anchorCtr="1"/>
                <a:lstStyle xmlns:a="http://schemas.openxmlformats.org/drawingml/2006/main"/>
                <a:p xmlns:a="http://schemas.openxmlformats.org/drawingml/2006/main">
                  <a:pPr>
                    <a:defRPr sz="2025" b="1">
                      <a:solidFill>
                        <a:srgbClr val="445B6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60</c:v>
                </c:pt>
                <c:pt idx="2">
                  <c:v>120</c:v>
                </c:pt>
              </c:numCache>
            </c:numRef>
          </c:xVal>
          <c:yVal>
            <c:numRef>
              <c:f>'Chart Data'!$D$2:$D$4</c:f>
              <c:numCache>
                <c:formatCode>0</c:formatCode>
                <c:ptCount val="3"/>
                <c:pt idx="0">
                  <c:v>1</c:v>
                </c:pt>
                <c:pt idx="1">
                  <c:v>3.4</c:v>
                </c:pt>
                <c:pt idx="2">
                  <c:v>5.8</c:v>
                </c:pt>
              </c:numCache>
            </c:numRef>
          </c:yVal>
          <c:smooth val="0"/>
        </c:ser>
        <c:ser>
          <c:idx val="2"/>
          <c:order val="2"/>
          <c:tx>
            <c:v>A₁</c:v>
          </c:tx>
          <c:spPr>
            <a:ln xmlns:a="http://schemas.openxmlformats.org/drawingml/2006/main" w="38100">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A94D16"/>
                        </a:solidFill>
                        <a:latin typeface="Arial"/>
                        <a:ea typeface="Arial"/>
                        <a:cs typeface="Arial"/>
                      </a:rPr>
                      <a:t>A₁</a:t>
                    </a:r>
                  </a:p>
                </c:rich>
              </c:tx>
              <c:txPr>
                <a:bodyPr xmlns:a="http://schemas.openxmlformats.org/drawingml/2006/main" anchorCtr="1"/>
                <a:lstStyle xmlns:a="http://schemas.openxmlformats.org/drawingml/2006/main"/>
                <a:p xmlns:a="http://schemas.openxmlformats.org/drawingml/2006/main">
                  <a:pPr>
                    <a:defRPr sz="2025"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Data'!$E$2:$E$4</c:f>
              <c:numCache>
                <c:formatCode>General</c:formatCode>
                <c:ptCount val="3"/>
                <c:pt idx="0">
                  <c:v>0</c:v>
                </c:pt>
                <c:pt idx="1">
                  <c:v>105.6</c:v>
                </c:pt>
                <c:pt idx="2">
                  <c:v>120</c:v>
                </c:pt>
              </c:numCache>
            </c:numRef>
          </c:xVal>
          <c:yVal>
            <c:numRef>
              <c:f>'Chart Data'!$F$2:$F$4</c:f>
              <c:numCache>
                <c:formatCode>0</c:formatCode>
                <c:ptCount val="3"/>
                <c:pt idx="0">
                  <c:v>1</c:v>
                </c:pt>
                <c:pt idx="1">
                  <c:v>8.92</c:v>
                </c:pt>
                <c:pt idx="2">
                  <c:v>10</c:v>
                </c:pt>
              </c:numCache>
            </c:numRef>
          </c:yVal>
          <c:smooth val="0"/>
        </c:ser>
        <c:ser>
          <c:idx val="3"/>
          <c:order val="3"/>
          <c:tx>
            <c:v>E₀ hulplijn</c:v>
          </c:tx>
          <c:spPr>
            <a:ln xmlns:a="http://schemas.openxmlformats.org/drawingml/2006/main" w="19050">
              <a:solidFill>
                <a:srgbClr val="445B6B"/>
              </a:solidFill>
              <a:prstDash val="dash"/>
            </a:ln>
          </c:spPr>
          <c:marker>
            <c:symbol val="none"/>
          </c:marker>
          <c:xVal>
            <c:numRef>
              <c:f>'Chart Data'!$G$2:$G$4</c:f>
              <c:numCache>
                <c:formatCode>General</c:formatCode>
                <c:ptCount val="3"/>
                <c:pt idx="0">
                  <c:v>0</c:v>
                </c:pt>
                <c:pt idx="1">
                  <c:v>100</c:v>
                </c:pt>
                <c:pt idx="2">
                  <c:v>100</c:v>
                </c:pt>
              </c:numCache>
            </c:numRef>
          </c:xVal>
          <c:yVal>
            <c:numRef>
              <c:f>'Chart Data'!$H$2:$H$4</c:f>
              <c:numCache>
                <c:formatCode>0</c:formatCode>
                <c:ptCount val="3"/>
                <c:pt idx="0">
                  <c:v>5</c:v>
                </c:pt>
                <c:pt idx="1">
                  <c:v>5</c:v>
                </c:pt>
                <c:pt idx="2">
                  <c:v>0</c:v>
                </c:pt>
              </c:numCache>
            </c:numRef>
          </c:yVal>
          <c:smooth val="0"/>
        </c:ser>
        <c:ser>
          <c:idx val="4"/>
          <c:order val="4"/>
          <c:tx>
            <c:v>E₀ label</c:v>
          </c:tx>
          <c:spPr>
            <a:ln xmlns:a="http://schemas.openxmlformats.org/drawingml/2006/main" w="0">
              <a:solidFill>
                <a:srgbClr val="445B6B"/>
              </a:solidFill>
            </a:ln>
          </c:spPr>
          <c:marker>
            <c:symbol val="none"/>
          </c:marker>
          <c:dLbls>
            <c:dLbl>
              <c:idx val="0"/>
              <c:tx>
                <c:rich>
                  <a:bodyPr xmlns:a="http://schemas.openxmlformats.org/drawingml/2006/main"/>
                  <a:lstStyle xmlns:a="http://schemas.openxmlformats.org/drawingml/2006/main"/>
                  <a:p xmlns:a="http://schemas.openxmlformats.org/drawingml/2006/main">
                    <a:r>
                      <a:rPr sz="2025" b="1">
                        <a:solidFill>
                          <a:srgbClr val="445B6B"/>
                        </a:solidFill>
                        <a:latin typeface="Arial"/>
                        <a:ea typeface="Arial"/>
                        <a:cs typeface="Arial"/>
                      </a:rPr>
                      <a:t>E₀</a:t>
                    </a:r>
                  </a:p>
                </c:rich>
              </c:tx>
              <c:txPr>
                <a:bodyPr xmlns:a="http://schemas.openxmlformats.org/drawingml/2006/main" anchorCtr="1"/>
                <a:lstStyle xmlns:a="http://schemas.openxmlformats.org/drawingml/2006/main"/>
                <a:p xmlns:a="http://schemas.openxmlformats.org/drawingml/2006/main">
                  <a:pPr>
                    <a:defRPr sz="2025" b="1">
                      <a:solidFill>
                        <a:srgbClr val="445B6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100</c:v>
                </c:pt>
              </c:numCache>
            </c:numRef>
          </c:xVal>
          <c:yVal>
            <c:numRef>
              <c:f>'Chart Data'!$J$2:$J$2</c:f>
              <c:numCache>
                <c:formatCode>0</c:formatCode>
                <c:ptCount val="1"/>
                <c:pt idx="0">
                  <c:v>5</c:v>
                </c:pt>
              </c:numCache>
            </c:numRef>
          </c:yVal>
          <c:smooth val="0"/>
        </c:ser>
        <c:ser>
          <c:idx val="5"/>
          <c:order val="5"/>
          <c:tx>
            <c:v>E₁ hulplijn</c:v>
          </c:tx>
          <c:spPr>
            <a:ln xmlns:a="http://schemas.openxmlformats.org/drawingml/2006/main" w="19050">
              <a:solidFill>
                <a:srgbClr val="A94D16"/>
              </a:solidFill>
              <a:prstDash val="dash"/>
            </a:ln>
          </c:spPr>
          <c:marker>
            <c:symbol val="none"/>
          </c:marker>
          <c:xVal>
            <c:numRef>
              <c:f>'Chart Data'!$K$2:$K$4</c:f>
              <c:numCache>
                <c:formatCode>General</c:formatCode>
                <c:ptCount val="3"/>
                <c:pt idx="0">
                  <c:v>0</c:v>
                </c:pt>
                <c:pt idx="1">
                  <c:v>80</c:v>
                </c:pt>
                <c:pt idx="2">
                  <c:v>80</c:v>
                </c:pt>
              </c:numCache>
            </c:numRef>
          </c:xVal>
          <c:yVal>
            <c:numRef>
              <c:f>'Chart Data'!$L$2:$L$4</c:f>
              <c:numCache>
                <c:formatCode>0</c:formatCode>
                <c:ptCount val="3"/>
                <c:pt idx="0">
                  <c:v>7</c:v>
                </c:pt>
                <c:pt idx="1">
                  <c:v>7</c:v>
                </c:pt>
                <c:pt idx="2">
                  <c:v>0</c:v>
                </c:pt>
              </c:numCache>
            </c:numRef>
          </c:yVal>
          <c:smooth val="0"/>
        </c:ser>
        <c:ser>
          <c:idx val="6"/>
          <c:order val="6"/>
          <c:tx>
            <c:v>E₁ label</c:v>
          </c:tx>
          <c:spPr>
            <a:ln xmlns:a="http://schemas.openxmlformats.org/drawingml/2006/main" w="0">
              <a:solidFill>
                <a:srgbClr val="A94D16"/>
              </a:solidFill>
            </a:ln>
          </c:spPr>
          <c:marker>
            <c:symbol val="none"/>
          </c:marker>
          <c:dLbls>
            <c:dLbl>
              <c:idx val="0"/>
              <c:tx>
                <c:rich>
                  <a:bodyPr xmlns:a="http://schemas.openxmlformats.org/drawingml/2006/main"/>
                  <a:lstStyle xmlns:a="http://schemas.openxmlformats.org/drawingml/2006/main"/>
                  <a:p xmlns:a="http://schemas.openxmlformats.org/drawingml/2006/main">
                    <a:r>
                      <a:rPr sz="2025" b="1">
                        <a:solidFill>
                          <a:srgbClr val="A94D16"/>
                        </a:solidFill>
                        <a:latin typeface="Arial"/>
                        <a:ea typeface="Arial"/>
                        <a:cs typeface="Arial"/>
                      </a:rPr>
                      <a:t>E₁</a:t>
                    </a:r>
                  </a:p>
                </c:rich>
              </c:tx>
              <c:txPr>
                <a:bodyPr xmlns:a="http://schemas.openxmlformats.org/drawingml/2006/main" anchorCtr="1"/>
                <a:lstStyle xmlns:a="http://schemas.openxmlformats.org/drawingml/2006/main"/>
                <a:p xmlns:a="http://schemas.openxmlformats.org/drawingml/2006/main">
                  <a:pPr>
                    <a:defRPr sz="2025" b="1">
                      <a:solidFill>
                        <a:srgbClr val="A94D16"/>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Data'!$M$2:$M$2</c:f>
              <c:numCache>
                <c:formatCode>General</c:formatCode>
                <c:ptCount val="1"/>
                <c:pt idx="0">
                  <c:v>84.8</c:v>
                </c:pt>
              </c:numCache>
            </c:numRef>
          </c:xVal>
          <c:yVal>
            <c:numRef>
              <c:f>'Chart Data'!$N$2:$N$2</c:f>
              <c:numCache>
                <c:formatCode>0</c:formatCode>
                <c:ptCount val="1"/>
                <c:pt idx="0">
                  <c:v>6.6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 1.000 kg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MK</c:v>
          </c:tx>
          <c:spPr>
            <a:ln xmlns:a="http://schemas.openxmlformats.org/drawingml/2006/main" w="38100">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2025"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68.8</c:v>
                </c:pt>
                <c:pt idx="2">
                  <c:v>80</c:v>
                </c:pt>
              </c:numCache>
            </c:numRef>
          </c:xVal>
          <c:yVal>
            <c:numRef>
              <c:f>'Chart Data'!$B$2:$B$4</c:f>
              <c:numCache>
                <c:formatCode>0</c:formatCode>
                <c:ptCount val="3"/>
                <c:pt idx="0">
                  <c:v>1</c:v>
                </c:pt>
                <c:pt idx="1">
                  <c:v>14.76</c:v>
                </c:pt>
                <c:pt idx="2">
                  <c:v>17</c:v>
                </c:pt>
              </c:numCache>
            </c:numRef>
          </c:yVal>
          <c:smooth val="0"/>
        </c:ser>
        <c:ser>
          <c:idx val="1"/>
          <c:order val="1"/>
          <c:tx>
            <c:v>GTK</c:v>
          </c:tx>
          <c:spPr>
            <a:ln xmlns:a="http://schemas.openxmlformats.org/drawingml/2006/main" w="38100">
              <a:solidFill>
                <a:srgbClr val="A53737"/>
              </a:solidFill>
            </a:ln>
          </c:spPr>
          <c:marker>
            <c:symbol val="none"/>
          </c:marker>
          <c:dLbls>
            <c:dLbl>
              <c:idx val="131"/>
              <c:tx>
                <c:rich>
                  <a:bodyPr xmlns:a="http://schemas.openxmlformats.org/drawingml/2006/main"/>
                  <a:lstStyle xmlns:a="http://schemas.openxmlformats.org/drawingml/2006/main"/>
                  <a:p xmlns:a="http://schemas.openxmlformats.org/drawingml/2006/main">
                    <a:r>
                      <a:rPr sz="2025" b="1">
                        <a:solidFill>
                          <a:srgbClr val="A53737"/>
                        </a:solidFill>
                        <a:latin typeface="Arial"/>
                        <a:ea typeface="Arial"/>
                        <a:cs typeface="Arial"/>
                      </a:rPr>
                      <a:t>GTK</a:t>
                    </a:r>
                  </a:p>
                </c:rich>
              </c:tx>
              <c:txPr>
                <a:bodyPr xmlns:a="http://schemas.openxmlformats.org/drawingml/2006/main" anchorCtr="1"/>
                <a:lstStyle xmlns:a="http://schemas.openxmlformats.org/drawingml/2006/main"/>
                <a:p xmlns:a="http://schemas.openxmlformats.org/drawingml/2006/main">
                  <a:pPr>
                    <a:defRPr sz="2025" b="1">
                      <a:solidFill>
                        <a:srgbClr val="A53737"/>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Data'!$C$2:$C$134</c:f>
              <c:numCache>
                <c:formatCode>General</c:formatCode>
                <c:ptCount val="133"/>
                <c:pt idx="0">
                  <c:v>4.8612181134</c:v>
                </c:pt>
                <c:pt idx="1">
                  <c:v>5.4392087433</c:v>
                </c:pt>
                <c:pt idx="2">
                  <c:v>6.0171993732</c:v>
                </c:pt>
                <c:pt idx="3">
                  <c:v>6.5951900031</c:v>
                </c:pt>
                <c:pt idx="4">
                  <c:v>7.173180633</c:v>
                </c:pt>
                <c:pt idx="5">
                  <c:v>7.7511712629</c:v>
                </c:pt>
                <c:pt idx="6">
                  <c:v>8.3291618928</c:v>
                </c:pt>
                <c:pt idx="7">
                  <c:v>8.9071525227</c:v>
                </c:pt>
                <c:pt idx="8">
                  <c:v>9.4851431526</c:v>
                </c:pt>
                <c:pt idx="9">
                  <c:v>10.0631337825</c:v>
                </c:pt>
                <c:pt idx="10">
                  <c:v>10.6411244124</c:v>
                </c:pt>
                <c:pt idx="11">
                  <c:v>11.2191150423</c:v>
                </c:pt>
                <c:pt idx="12">
                  <c:v>11.7971056722</c:v>
                </c:pt>
                <c:pt idx="13">
                  <c:v>12.3750963021</c:v>
                </c:pt>
                <c:pt idx="14">
                  <c:v>12.953086932</c:v>
                </c:pt>
                <c:pt idx="15">
                  <c:v>13.5310775619</c:v>
                </c:pt>
                <c:pt idx="16">
                  <c:v>14.1090681918</c:v>
                </c:pt>
                <c:pt idx="17">
                  <c:v>14.6870588216</c:v>
                </c:pt>
                <c:pt idx="18">
                  <c:v>15.2650494515</c:v>
                </c:pt>
                <c:pt idx="19">
                  <c:v>15.8430400814</c:v>
                </c:pt>
                <c:pt idx="20">
                  <c:v>16.4210307113</c:v>
                </c:pt>
                <c:pt idx="21">
                  <c:v>16.9990213412</c:v>
                </c:pt>
                <c:pt idx="22">
                  <c:v>17.5770119711</c:v>
                </c:pt>
                <c:pt idx="23">
                  <c:v>18.155002601</c:v>
                </c:pt>
                <c:pt idx="24">
                  <c:v>18.7329932309</c:v>
                </c:pt>
                <c:pt idx="25">
                  <c:v>19.3109838608</c:v>
                </c:pt>
                <c:pt idx="26">
                  <c:v>19.8889744907</c:v>
                </c:pt>
                <c:pt idx="27">
                  <c:v>20</c:v>
                </c:pt>
                <c:pt idx="28">
                  <c:v>20.4669651206</c:v>
                </c:pt>
                <c:pt idx="29">
                  <c:v>21.0449557505</c:v>
                </c:pt>
                <c:pt idx="30">
                  <c:v>21.6229463804</c:v>
                </c:pt>
                <c:pt idx="31">
                  <c:v>22.2009370103</c:v>
                </c:pt>
                <c:pt idx="32">
                  <c:v>22.7789276402</c:v>
                </c:pt>
                <c:pt idx="33">
                  <c:v>23.3569182701</c:v>
                </c:pt>
                <c:pt idx="34">
                  <c:v>23.9349089</c:v>
                </c:pt>
                <c:pt idx="35">
                  <c:v>24.5128995299</c:v>
                </c:pt>
                <c:pt idx="36">
                  <c:v>25.0908901598</c:v>
                </c:pt>
                <c:pt idx="37">
                  <c:v>25.6688807897</c:v>
                </c:pt>
                <c:pt idx="38">
                  <c:v>26.2468714196</c:v>
                </c:pt>
                <c:pt idx="39">
                  <c:v>26.8248620495</c:v>
                </c:pt>
                <c:pt idx="40">
                  <c:v>27.4028526794</c:v>
                </c:pt>
                <c:pt idx="41">
                  <c:v>27.9808433093</c:v>
                </c:pt>
                <c:pt idx="42">
                  <c:v>28.5588339392</c:v>
                </c:pt>
                <c:pt idx="43">
                  <c:v>29.1368245691</c:v>
                </c:pt>
                <c:pt idx="44">
                  <c:v>29.714815199</c:v>
                </c:pt>
                <c:pt idx="45">
                  <c:v>30</c:v>
                </c:pt>
                <c:pt idx="46">
                  <c:v>30.2928058289</c:v>
                </c:pt>
                <c:pt idx="47">
                  <c:v>30.8707964588</c:v>
                </c:pt>
                <c:pt idx="48">
                  <c:v>31.4487870887</c:v>
                </c:pt>
                <c:pt idx="49">
                  <c:v>32.0267777186</c:v>
                </c:pt>
                <c:pt idx="50">
                  <c:v>32.6047683485</c:v>
                </c:pt>
                <c:pt idx="51">
                  <c:v>33.1827589783</c:v>
                </c:pt>
                <c:pt idx="52">
                  <c:v>33.7607496082</c:v>
                </c:pt>
                <c:pt idx="53">
                  <c:v>34.3387402381</c:v>
                </c:pt>
                <c:pt idx="54">
                  <c:v>34.916730868</c:v>
                </c:pt>
                <c:pt idx="55">
                  <c:v>35.4947214979</c:v>
                </c:pt>
                <c:pt idx="56">
                  <c:v>36.0727121278</c:v>
                </c:pt>
                <c:pt idx="57">
                  <c:v>36.6507027577</c:v>
                </c:pt>
                <c:pt idx="58">
                  <c:v>37.2286933876</c:v>
                </c:pt>
                <c:pt idx="59">
                  <c:v>37.8066840175</c:v>
                </c:pt>
                <c:pt idx="60">
                  <c:v>38.3846746474</c:v>
                </c:pt>
                <c:pt idx="61">
                  <c:v>38.9626652773</c:v>
                </c:pt>
                <c:pt idx="62">
                  <c:v>39.5406559072</c:v>
                </c:pt>
                <c:pt idx="63">
                  <c:v>40.1186465371</c:v>
                </c:pt>
                <c:pt idx="64">
                  <c:v>40.696637167</c:v>
                </c:pt>
                <c:pt idx="65">
                  <c:v>41.2746277969</c:v>
                </c:pt>
                <c:pt idx="66">
                  <c:v>41.8526184268</c:v>
                </c:pt>
                <c:pt idx="67">
                  <c:v>42.4306090567</c:v>
                </c:pt>
                <c:pt idx="68">
                  <c:v>43.0085996866</c:v>
                </c:pt>
                <c:pt idx="69">
                  <c:v>43.5865903165</c:v>
                </c:pt>
                <c:pt idx="70">
                  <c:v>44.1645809464</c:v>
                </c:pt>
                <c:pt idx="71">
                  <c:v>44.7425715763</c:v>
                </c:pt>
                <c:pt idx="72">
                  <c:v>45.3205622062</c:v>
                </c:pt>
                <c:pt idx="73">
                  <c:v>45.8985528361</c:v>
                </c:pt>
                <c:pt idx="74">
                  <c:v>46.476543466</c:v>
                </c:pt>
                <c:pt idx="75">
                  <c:v>47.0545340959</c:v>
                </c:pt>
                <c:pt idx="76">
                  <c:v>47.6325247258</c:v>
                </c:pt>
                <c:pt idx="77">
                  <c:v>48.2105153557</c:v>
                </c:pt>
                <c:pt idx="78">
                  <c:v>48.7885059856</c:v>
                </c:pt>
                <c:pt idx="79">
                  <c:v>49.3664966155</c:v>
                </c:pt>
                <c:pt idx="80">
                  <c:v>49.9444872454</c:v>
                </c:pt>
                <c:pt idx="81">
                  <c:v>50.5224778753</c:v>
                </c:pt>
                <c:pt idx="82">
                  <c:v>51.1004685052</c:v>
                </c:pt>
                <c:pt idx="83">
                  <c:v>51.6784591351</c:v>
                </c:pt>
                <c:pt idx="84">
                  <c:v>52.2564497649</c:v>
                </c:pt>
                <c:pt idx="85">
                  <c:v>52.8344403948</c:v>
                </c:pt>
                <c:pt idx="86">
                  <c:v>53.4124310247</c:v>
                </c:pt>
                <c:pt idx="87">
                  <c:v>53.9904216546</c:v>
                </c:pt>
                <c:pt idx="88">
                  <c:v>54.5684122845</c:v>
                </c:pt>
                <c:pt idx="89">
                  <c:v>55.1464029144</c:v>
                </c:pt>
                <c:pt idx="90">
                  <c:v>55.7243935443</c:v>
                </c:pt>
                <c:pt idx="91">
                  <c:v>56.3023841742</c:v>
                </c:pt>
                <c:pt idx="92">
                  <c:v>56.8803748041</c:v>
                </c:pt>
                <c:pt idx="93">
                  <c:v>57.458365434</c:v>
                </c:pt>
                <c:pt idx="94">
                  <c:v>58.0363560639</c:v>
                </c:pt>
                <c:pt idx="95">
                  <c:v>58.6143466938</c:v>
                </c:pt>
                <c:pt idx="96">
                  <c:v>59.1923373237</c:v>
                </c:pt>
                <c:pt idx="97">
                  <c:v>59.7703279536</c:v>
                </c:pt>
                <c:pt idx="98">
                  <c:v>60.3483185835</c:v>
                </c:pt>
                <c:pt idx="99">
                  <c:v>60.9263092134</c:v>
                </c:pt>
                <c:pt idx="100">
                  <c:v>61.5042998433</c:v>
                </c:pt>
                <c:pt idx="101">
                  <c:v>62.0822904732</c:v>
                </c:pt>
                <c:pt idx="102">
                  <c:v>62.6602811031</c:v>
                </c:pt>
                <c:pt idx="103">
                  <c:v>63.238271733</c:v>
                </c:pt>
                <c:pt idx="104">
                  <c:v>63.8162623629</c:v>
                </c:pt>
                <c:pt idx="105">
                  <c:v>64.3942529928</c:v>
                </c:pt>
                <c:pt idx="106">
                  <c:v>64.9722436227</c:v>
                </c:pt>
                <c:pt idx="107">
                  <c:v>65.5502342526</c:v>
                </c:pt>
                <c:pt idx="108">
                  <c:v>66.1282248825</c:v>
                </c:pt>
                <c:pt idx="109">
                  <c:v>66.7062155124</c:v>
                </c:pt>
                <c:pt idx="110">
                  <c:v>67.2842061423</c:v>
                </c:pt>
                <c:pt idx="111">
                  <c:v>67.8621967722</c:v>
                </c:pt>
                <c:pt idx="112">
                  <c:v>68.4401874021</c:v>
                </c:pt>
                <c:pt idx="113">
                  <c:v>69.018178032</c:v>
                </c:pt>
                <c:pt idx="114">
                  <c:v>69.5961686619</c:v>
                </c:pt>
                <c:pt idx="115">
                  <c:v>70.1741592918</c:v>
                </c:pt>
                <c:pt idx="116">
                  <c:v>70.7521499216</c:v>
                </c:pt>
                <c:pt idx="117">
                  <c:v>71.3301405515</c:v>
                </c:pt>
                <c:pt idx="118">
                  <c:v>71.9081311814</c:v>
                </c:pt>
                <c:pt idx="119">
                  <c:v>72.4861218113</c:v>
                </c:pt>
                <c:pt idx="120">
                  <c:v>73.0641124412</c:v>
                </c:pt>
                <c:pt idx="121">
                  <c:v>73.6421030711</c:v>
                </c:pt>
                <c:pt idx="122">
                  <c:v>74.220093701</c:v>
                </c:pt>
                <c:pt idx="123">
                  <c:v>74.7980843309</c:v>
                </c:pt>
                <c:pt idx="124">
                  <c:v>75.3760749608</c:v>
                </c:pt>
                <c:pt idx="125">
                  <c:v>75.9540655907</c:v>
                </c:pt>
                <c:pt idx="126">
                  <c:v>76.5320562206</c:v>
                </c:pt>
                <c:pt idx="127">
                  <c:v>77.1100468505</c:v>
                </c:pt>
                <c:pt idx="128">
                  <c:v>77.6880374804</c:v>
                </c:pt>
                <c:pt idx="129">
                  <c:v>78.2660281103</c:v>
                </c:pt>
                <c:pt idx="130">
                  <c:v>78.8440187402</c:v>
                </c:pt>
                <c:pt idx="131">
                  <c:v>79.4220093701</c:v>
                </c:pt>
                <c:pt idx="132">
                  <c:v>80</c:v>
                </c:pt>
              </c:numCache>
            </c:numRef>
          </c:xVal>
          <c:yVal>
            <c:numRef>
              <c:f>'Chart Data'!$D$2:$D$134</c:f>
              <c:numCache>
                <c:formatCode>0</c:formatCode>
                <c:ptCount val="133"/>
                <c:pt idx="0">
                  <c:v>20</c:v>
                </c:pt>
                <c:pt idx="1">
                  <c:v>18.0904452398</c:v>
                </c:pt>
                <c:pt idx="2">
                  <c:v>16.5588444097</c:v>
                </c:pt>
                <c:pt idx="3">
                  <c:v>15.3058278948</c:v>
                </c:pt>
                <c:pt idx="4">
                  <c:v>14.2640535499</c:v>
                </c:pt>
                <c:pt idx="5">
                  <c:v>13.3862655512</c:v>
                </c:pt>
                <c:pt idx="6">
                  <c:v>12.6383250838</c:v>
                </c:pt>
                <c:pt idx="7">
                  <c:v>11.9949544882</c:v>
                </c:pt>
                <c:pt idx="8">
                  <c:v>11.4370374247</c:v>
                </c:pt>
                <c:pt idx="9">
                  <c:v>10.9498494521</c:v>
                </c:pt>
                <c:pt idx="10">
                  <c:v>10.5218652606</c:v>
                </c:pt>
                <c:pt idx="11">
                  <c:v>10.1439346015</c:v>
                </c:pt>
                <c:pt idx="12">
                  <c:v>9.8087004653</c:v>
                </c:pt>
                <c:pt idx="13">
                  <c:v>9.5101803071</c:v>
                </c:pt>
                <c:pt idx="14">
                  <c:v>9.2434593906</c:v>
                </c:pt>
                <c:pt idx="15">
                  <c:v>9.0044627269</c:v>
                </c:pt>
                <c:pt idx="16">
                  <c:v>8.7897830693</c:v>
                </c:pt>
                <c:pt idx="17">
                  <c:v>8.5965495228</c:v>
                </c:pt>
                <c:pt idx="18">
                  <c:v>8.4223260026</c:v>
                </c:pt>
                <c:pt idx="19">
                  <c:v>8.26503192</c:v>
                </c:pt>
                <c:pt idx="20">
                  <c:v>8.1228796181</c:v>
                </c:pt>
                <c:pt idx="21">
                  <c:v>7.9943245714</c:v>
                </c:pt>
                <c:pt idx="22">
                  <c:v>7.8780254108</c:v>
                </c:pt>
                <c:pt idx="23">
                  <c:v>7.7728115851</c:v>
                </c:pt>
                <c:pt idx="24">
                  <c:v>7.6776570085</c:v>
                </c:pt>
                <c:pt idx="25">
                  <c:v>7.5916584408</c:v>
                </c:pt>
                <c:pt idx="26">
                  <c:v>7.5140176377</c:v>
                </c:pt>
                <c:pt idx="27">
                  <c:v>7.5</c:v>
                </c:pt>
                <c:pt idx="28">
                  <c:v>7.4440265251</c:v>
                </c:pt>
                <c:pt idx="29">
                  <c:v>7.3810548165</c:v>
                </c:pt>
                <c:pt idx="30">
                  <c:v>7.3245396169</c:v>
                </c:pt>
                <c:pt idx="31">
                  <c:v>7.2739766501</c:v>
                </c:pt>
                <c:pt idx="32">
                  <c:v>7.2289128217</c:v>
                </c:pt>
                <c:pt idx="33">
                  <c:v>7.1889398865</c:v>
                </c:pt>
                <c:pt idx="34">
                  <c:v>7.1536890331</c:v>
                </c:pt>
                <c:pt idx="35">
                  <c:v>7.1228262349</c:v>
                </c:pt>
                <c:pt idx="36">
                  <c:v>7.0960482441</c:v>
                </c:pt>
                <c:pt idx="37">
                  <c:v>7.0730791255</c:v>
                </c:pt>
                <c:pt idx="38">
                  <c:v>7.0536672501</c:v>
                </c:pt>
                <c:pt idx="39">
                  <c:v>7.037582676</c:v>
                </c:pt>
                <c:pt idx="40">
                  <c:v>7.0246148614</c:v>
                </c:pt>
                <c:pt idx="41">
                  <c:v>7.0145706607</c:v>
                </c:pt>
                <c:pt idx="42">
                  <c:v>7.0072725645</c:v>
                </c:pt>
                <c:pt idx="43">
                  <c:v>7.0025571483</c:v>
                </c:pt>
                <c:pt idx="44">
                  <c:v>7.0002737031</c:v>
                </c:pt>
                <c:pt idx="45">
                  <c:v>7</c:v>
                </c:pt>
                <c:pt idx="46">
                  <c:v>7.0002830218</c:v>
                </c:pt>
                <c:pt idx="47">
                  <c:v>7.002456323</c:v>
                </c:pt>
                <c:pt idx="48">
                  <c:v>7.0066742925</c:v>
                </c:pt>
                <c:pt idx="49">
                  <c:v>7.0128262292</c:v>
                </c:pt>
                <c:pt idx="50">
                  <c:v>7.0208092819</c:v>
                </c:pt>
                <c:pt idx="51">
                  <c:v>7.0305277651</c:v>
                </c:pt>
                <c:pt idx="52">
                  <c:v>7.0418925462</c:v>
                </c:pt>
                <c:pt idx="53">
                  <c:v>7.0548204935</c:v>
                </c:pt>
                <c:pt idx="54">
                  <c:v>7.0692339799</c:v>
                </c:pt>
                <c:pt idx="55">
                  <c:v>7.0850604345</c:v>
                </c:pt>
                <c:pt idx="56">
                  <c:v>7.1022319377</c:v>
                </c:pt>
                <c:pt idx="57">
                  <c:v>7.1206848542</c:v>
                </c:pt>
                <c:pt idx="58">
                  <c:v>7.1403595005</c:v>
                </c:pt>
                <c:pt idx="59">
                  <c:v>7.1611998432</c:v>
                </c:pt>
                <c:pt idx="60">
                  <c:v>7.1831532235</c:v>
                </c:pt>
                <c:pt idx="61">
                  <c:v>7.2061701075</c:v>
                </c:pt>
                <c:pt idx="62">
                  <c:v>7.2302038574</c:v>
                </c:pt>
                <c:pt idx="63">
                  <c:v>7.2552105232</c:v>
                </c:pt>
                <c:pt idx="64">
                  <c:v>7.2811486517</c:v>
                </c:pt>
                <c:pt idx="65">
                  <c:v>7.3079791115</c:v>
                </c:pt>
                <c:pt idx="66">
                  <c:v>7.3356649329</c:v>
                </c:pt>
                <c:pt idx="67">
                  <c:v>7.3641711608</c:v>
                </c:pt>
                <c:pt idx="68">
                  <c:v>7.3934647188</c:v>
                </c:pt>
                <c:pt idx="69">
                  <c:v>7.4235142852</c:v>
                </c:pt>
                <c:pt idx="70">
                  <c:v>7.454290178</c:v>
                </c:pt>
                <c:pt idx="71">
                  <c:v>7.4857642487</c:v>
                </c:pt>
                <c:pt idx="72">
                  <c:v>7.5179097851</c:v>
                </c:pt>
                <c:pt idx="73">
                  <c:v>7.5507014201</c:v>
                </c:pt>
                <c:pt idx="74">
                  <c:v>7.5841150489</c:v>
                </c:pt>
                <c:pt idx="75">
                  <c:v>7.6181277507</c:v>
                </c:pt>
                <c:pt idx="76">
                  <c:v>7.6527177176</c:v>
                </c:pt>
                <c:pt idx="77">
                  <c:v>7.687864187</c:v>
                </c:pt>
                <c:pt idx="78">
                  <c:v>7.7235473808</c:v>
                </c:pt>
                <c:pt idx="79">
                  <c:v>7.7597484466</c:v>
                </c:pt>
                <c:pt idx="80">
                  <c:v>7.796449405</c:v>
                </c:pt>
                <c:pt idx="81">
                  <c:v>7.8336330993</c:v>
                </c:pt>
                <c:pt idx="82">
                  <c:v>7.871283149</c:v>
                </c:pt>
                <c:pt idx="83">
                  <c:v>7.9093839064</c:v>
                </c:pt>
                <c:pt idx="84">
                  <c:v>7.9479204163</c:v>
                </c:pt>
                <c:pt idx="85">
                  <c:v>7.9868783775</c:v>
                </c:pt>
                <c:pt idx="86">
                  <c:v>8.0262441083</c:v>
                </c:pt>
                <c:pt idx="87">
                  <c:v>8.0660045125</c:v>
                </c:pt>
                <c:pt idx="88">
                  <c:v>8.106147049</c:v>
                </c:pt>
                <c:pt idx="89">
                  <c:v>8.1466597024</c:v>
                </c:pt>
                <c:pt idx="90">
                  <c:v>8.1875309557</c:v>
                </c:pt>
                <c:pt idx="91">
                  <c:v>8.228749765</c:v>
                </c:pt>
                <c:pt idx="92">
                  <c:v>8.2703055353</c:v>
                </c:pt>
                <c:pt idx="93">
                  <c:v>8.3121880976</c:v>
                </c:pt>
                <c:pt idx="94">
                  <c:v>8.3543876884</c:v>
                </c:pt>
                <c:pt idx="95">
                  <c:v>8.3968949291</c:v>
                </c:pt>
                <c:pt idx="96">
                  <c:v>8.4397008075</c:v>
                </c:pt>
                <c:pt idx="97">
                  <c:v>8.4827966598</c:v>
                </c:pt>
                <c:pt idx="98">
                  <c:v>8.5261741544</c:v>
                </c:pt>
                <c:pt idx="99">
                  <c:v>8.5698252757</c:v>
                </c:pt>
                <c:pt idx="100">
                  <c:v>8.6137423093</c:v>
                </c:pt>
                <c:pt idx="101">
                  <c:v>8.6579178284</c:v>
                </c:pt>
                <c:pt idx="102">
                  <c:v>8.7023446798</c:v>
                </c:pt>
                <c:pt idx="103">
                  <c:v>8.7470159723</c:v>
                </c:pt>
                <c:pt idx="104">
                  <c:v>8.791925064</c:v>
                </c:pt>
                <c:pt idx="105">
                  <c:v>8.8370655516</c:v>
                </c:pt>
                <c:pt idx="106">
                  <c:v>8.8824312596</c:v>
                </c:pt>
                <c:pt idx="107">
                  <c:v>8.9280162303</c:v>
                </c:pt>
                <c:pt idx="108">
                  <c:v>8.9738147145</c:v>
                </c:pt>
                <c:pt idx="109">
                  <c:v>9.0198211619</c:v>
                </c:pt>
                <c:pt idx="110">
                  <c:v>9.0660302133</c:v>
                </c:pt>
                <c:pt idx="111">
                  <c:v>9.1124366917</c:v>
                </c:pt>
                <c:pt idx="112">
                  <c:v>9.1590355953</c:v>
                </c:pt>
                <c:pt idx="113">
                  <c:v>9.2058220897</c:v>
                </c:pt>
                <c:pt idx="114">
                  <c:v>9.2527915011</c:v>
                </c:pt>
                <c:pt idx="115">
                  <c:v>9.2999393097</c:v>
                </c:pt>
                <c:pt idx="116">
                  <c:v>9.3472611434</c:v>
                </c:pt>
                <c:pt idx="117">
                  <c:v>9.3947527718</c:v>
                </c:pt>
                <c:pt idx="118">
                  <c:v>9.4424101006</c:v>
                </c:pt>
                <c:pt idx="119">
                  <c:v>9.4902291659</c:v>
                </c:pt>
                <c:pt idx="120">
                  <c:v>9.5382061294</c:v>
                </c:pt>
                <c:pt idx="121">
                  <c:v>9.5863372732</c:v>
                </c:pt>
                <c:pt idx="122">
                  <c:v>9.6346189952</c:v>
                </c:pt>
                <c:pt idx="123">
                  <c:v>9.6830478049</c:v>
                </c:pt>
                <c:pt idx="124">
                  <c:v>9.7316203184</c:v>
                </c:pt>
                <c:pt idx="125">
                  <c:v>9.7803332552</c:v>
                </c:pt>
                <c:pt idx="126">
                  <c:v>9.8291834338</c:v>
                </c:pt>
                <c:pt idx="127">
                  <c:v>9.8781677679</c:v>
                </c:pt>
                <c:pt idx="128">
                  <c:v>9.9272832633</c:v>
                </c:pt>
                <c:pt idx="129">
                  <c:v>9.9765270141</c:v>
                </c:pt>
                <c:pt idx="130">
                  <c:v>10.0258961996</c:v>
                </c:pt>
                <c:pt idx="131">
                  <c:v>10.0753880814</c:v>
                </c:pt>
                <c:pt idx="132">
                  <c:v>10.125</c:v>
                </c:pt>
              </c:numCache>
            </c:numRef>
          </c:yVal>
          <c:smooth val="0"/>
        </c:ser>
        <c:ser>
          <c:idx val="2"/>
          <c:order val="2"/>
          <c:tx>
            <c:v>P₀ = GO = MO</c:v>
          </c:tx>
          <c:spPr>
            <a:ln xmlns:a="http://schemas.openxmlformats.org/drawingml/2006/main" w="38100">
              <a:solidFill>
                <a:srgbClr val="445B6B"/>
              </a:solidFill>
              <a:prstDash val="dash"/>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445B6B"/>
                        </a:solidFill>
                        <a:latin typeface="Arial"/>
                        <a:ea typeface="Arial"/>
                        <a:cs typeface="Arial"/>
                      </a:rPr>
                      <a:t>P₀</a:t>
                    </a:r>
                  </a:p>
                </c:rich>
              </c:tx>
              <c:txPr>
                <a:bodyPr xmlns:a="http://schemas.openxmlformats.org/drawingml/2006/main" anchorCtr="1"/>
                <a:lstStyle xmlns:a="http://schemas.openxmlformats.org/drawingml/2006/main"/>
                <a:p xmlns:a="http://schemas.openxmlformats.org/drawingml/2006/main">
                  <a:pPr>
                    <a:defRPr sz="2025" b="1">
                      <a:solidFill>
                        <a:srgbClr val="445B6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Data'!$E$2:$E$4</c:f>
              <c:numCache>
                <c:formatCode>General</c:formatCode>
                <c:ptCount val="3"/>
                <c:pt idx="0">
                  <c:v>0</c:v>
                </c:pt>
                <c:pt idx="1">
                  <c:v>16.8</c:v>
                </c:pt>
                <c:pt idx="2">
                  <c:v>80</c:v>
                </c:pt>
              </c:numCache>
            </c:numRef>
          </c:xVal>
          <c:yVal>
            <c:numRef>
              <c:f>'Chart Data'!$F$2:$F$4</c:f>
              <c:numCache>
                <c:formatCode>0</c:formatCode>
                <c:ptCount val="3"/>
                <c:pt idx="0">
                  <c:v>5</c:v>
                </c:pt>
                <c:pt idx="1">
                  <c:v>5</c:v>
                </c:pt>
                <c:pt idx="2">
                  <c:v>5</c:v>
                </c:pt>
              </c:numCache>
            </c:numRef>
          </c:yVal>
          <c:smooth val="0"/>
        </c:ser>
        <c:ser>
          <c:idx val="3"/>
          <c:order val="3"/>
          <c:tx>
            <c:v>P₁ = GO = MO</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17658A"/>
                        </a:solidFill>
                        <a:latin typeface="Arial"/>
                        <a:ea typeface="Arial"/>
                        <a:cs typeface="Arial"/>
                      </a:rPr>
                      <a:t>P₁ = GO = MO</a:t>
                    </a:r>
                  </a:p>
                </c:rich>
              </c:tx>
              <c:txPr>
                <a:bodyPr xmlns:a="http://schemas.openxmlformats.org/drawingml/2006/main" anchorCtr="1"/>
                <a:lstStyle xmlns:a="http://schemas.openxmlformats.org/drawingml/2006/main"/>
                <a:p xmlns:a="http://schemas.openxmlformats.org/drawingml/2006/main">
                  <a:pPr>
                    <a:defRPr sz="2025" b="1">
                      <a:solidFill>
                        <a:srgbClr val="17658A"/>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Data'!$G$2:$G$4</c:f>
              <c:numCache>
                <c:formatCode>General</c:formatCode>
                <c:ptCount val="3"/>
                <c:pt idx="0">
                  <c:v>0</c:v>
                </c:pt>
                <c:pt idx="1">
                  <c:v>51.2</c:v>
                </c:pt>
                <c:pt idx="2">
                  <c:v>80</c:v>
                </c:pt>
              </c:numCache>
            </c:numRef>
          </c:xVal>
          <c:yVal>
            <c:numRef>
              <c:f>'Chart Data'!$H$2:$H$4</c:f>
              <c:numCache>
                <c:formatCode>0</c:formatCode>
                <c:ptCount val="3"/>
                <c:pt idx="0">
                  <c:v>7</c:v>
                </c:pt>
                <c:pt idx="1">
                  <c:v>7</c:v>
                </c:pt>
                <c:pt idx="2">
                  <c:v>7</c:v>
                </c:pt>
              </c:numCache>
            </c:numRef>
          </c:yVal>
          <c:smooth val="0"/>
        </c:ser>
        <c:ser>
          <c:idx val="4"/>
          <c:order val="4"/>
          <c:tx>
            <c:v>gekozen q</c:v>
          </c:tx>
          <c:spPr>
            <a:ln xmlns:a="http://schemas.openxmlformats.org/drawingml/2006/main" w="19050">
              <a:solidFill>
                <a:srgbClr val="445B6B"/>
              </a:solidFill>
              <a:prstDash val="dash"/>
            </a:ln>
          </c:spPr>
          <c:marker>
            <c:symbol val="none"/>
          </c:marker>
          <c:xVal>
            <c:numRef>
              <c:f>'Chart Data'!$I$2:$I$3</c:f>
              <c:numCache>
                <c:formatCode>General</c:formatCode>
                <c:ptCount val="2"/>
                <c:pt idx="0">
                  <c:v>30</c:v>
                </c:pt>
                <c:pt idx="1">
                  <c:v>30</c:v>
                </c:pt>
              </c:numCache>
            </c:numRef>
          </c:xVal>
          <c:yVal>
            <c:numRef>
              <c:f>'Chart Data'!$J$2:$J$3</c:f>
              <c:numCache>
                <c:formatCode>0</c:formatCode>
                <c:ptCount val="2"/>
                <c:pt idx="0">
                  <c:v>0</c:v>
                </c:pt>
                <c:pt idx="1">
                  <c:v>7</c:v>
                </c:pt>
              </c:numCache>
            </c:numRef>
          </c:yVal>
          <c:smooth val="0"/>
        </c:ser>
        <c:ser>
          <c:idx val="5"/>
          <c:order val="5"/>
          <c:tx>
            <c:v>q label</c:v>
          </c:tx>
          <c:spPr>
            <a:ln xmlns:a="http://schemas.openxmlformats.org/drawingml/2006/main" w="0">
              <a:solidFill>
                <a:srgbClr val="445B6B"/>
              </a:solidFill>
            </a:ln>
          </c:spPr>
          <c:marker>
            <c:symbol val="none"/>
          </c:marker>
          <c:dLbls>
            <c:dLbl>
              <c:idx val="0"/>
              <c:tx>
                <c:rich>
                  <a:bodyPr xmlns:a="http://schemas.openxmlformats.org/drawingml/2006/main"/>
                  <a:lstStyle xmlns:a="http://schemas.openxmlformats.org/drawingml/2006/main"/>
                  <a:p xmlns:a="http://schemas.openxmlformats.org/drawingml/2006/main">
                    <a:r>
                      <a:rPr sz="2025" b="1">
                        <a:solidFill>
                          <a:srgbClr val="445B6B"/>
                        </a:solidFill>
                        <a:latin typeface="Arial"/>
                        <a:ea typeface="Arial"/>
                        <a:cs typeface="Arial"/>
                      </a:rPr>
                      <a:t>q = 30</a:t>
                    </a:r>
                  </a:p>
                </c:rich>
              </c:tx>
              <c:txPr>
                <a:bodyPr xmlns:a="http://schemas.openxmlformats.org/drawingml/2006/main" anchorCtr="1"/>
                <a:lstStyle xmlns:a="http://schemas.openxmlformats.org/drawingml/2006/main"/>
                <a:p xmlns:a="http://schemas.openxmlformats.org/drawingml/2006/main">
                  <a:pPr>
                    <a:defRPr sz="2025" b="1">
                      <a:solidFill>
                        <a:srgbClr val="445B6B"/>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30</c:v>
                </c:pt>
              </c:numCache>
            </c:numRef>
          </c:xVal>
          <c:yVal>
            <c:numRef>
              <c:f>'Chart Data'!$L$2:$L$2</c:f>
              <c:numCache>
                <c:formatCode>0</c:formatCode>
                <c:ptCount val="1"/>
                <c:pt idx="0">
                  <c:v>1.8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MK en GTK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025"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36.8</c:v>
                </c:pt>
                <c:pt idx="2">
                  <c:v>40</c:v>
                </c:pt>
              </c:numCache>
            </c:numRef>
          </c:xVal>
          <c:yVal>
            <c:numRef>
              <c:f>'Chart Data'!$B$2:$B$4</c:f>
              <c:numCache>
                <c:formatCode>0</c:formatCode>
                <c:ptCount val="3"/>
                <c:pt idx="0">
                  <c:v>16</c:v>
                </c:pt>
                <c:pt idx="1">
                  <c:v>1.28</c:v>
                </c:pt>
                <c:pt idx="2">
                  <c:v>0</c:v>
                </c:pt>
              </c:numCache>
            </c:numRef>
          </c:yVal>
          <c:smooth val="0"/>
        </c:ser>
        <c:ser>
          <c:idx val="1"/>
          <c:order val="1"/>
          <c:tx>
            <c:v>A₀</c:v>
          </c:tx>
          <c:spPr>
            <a:ln xmlns:a="http://schemas.openxmlformats.org/drawingml/2006/main" w="38100">
              <a:solidFill>
                <a:srgbClr val="20665B"/>
              </a:solidFill>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20665B"/>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025" b="1">
                      <a:solidFill>
                        <a:srgbClr val="20665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34</c:v>
                </c:pt>
                <c:pt idx="2">
                  <c:v>40</c:v>
                </c:pt>
              </c:numCache>
            </c:numRef>
          </c:xVal>
          <c:yVal>
            <c:numRef>
              <c:f>'Chart Data'!$D$2:$D$4</c:f>
              <c:numCache>
                <c:formatCode>0</c:formatCode>
                <c:ptCount val="3"/>
                <c:pt idx="0">
                  <c:v>4</c:v>
                </c:pt>
                <c:pt idx="1">
                  <c:v>17.6</c:v>
                </c:pt>
                <c:pt idx="2">
                  <c:v>20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4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 1.000 kg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scatterChart>
        <c:scatterStyle val="line"/>
        <c:ser>
          <c:idx val="0"/>
          <c:order val="0"/>
          <c:tx>
            <c:v>MK</c:v>
          </c:tx>
          <c:spPr>
            <a:ln xmlns:a="http://schemas.openxmlformats.org/drawingml/2006/main" w="38100">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2025"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215</c:v>
                </c:pt>
                <c:pt idx="2">
                  <c:v>250</c:v>
                </c:pt>
              </c:numCache>
            </c:numRef>
          </c:xVal>
          <c:yVal>
            <c:numRef>
              <c:f>'Chart Data'!$B$2:$B$4</c:f>
              <c:numCache>
                <c:formatCode>0</c:formatCode>
                <c:ptCount val="3"/>
                <c:pt idx="0">
                  <c:v>4</c:v>
                </c:pt>
                <c:pt idx="1">
                  <c:v>12.6</c:v>
                </c:pt>
                <c:pt idx="2">
                  <c:v>14</c:v>
                </c:pt>
              </c:numCache>
            </c:numRef>
          </c:yVal>
          <c:smooth val="0"/>
        </c:ser>
        <c:ser>
          <c:idx val="1"/>
          <c:order val="1"/>
          <c:tx>
            <c:v>GTK</c:v>
          </c:tx>
          <c:spPr>
            <a:ln xmlns:a="http://schemas.openxmlformats.org/drawingml/2006/main" w="38100">
              <a:solidFill>
                <a:srgbClr val="A53737"/>
              </a:solidFill>
            </a:ln>
          </c:spPr>
          <c:marker>
            <c:symbol val="none"/>
          </c:marker>
          <c:dLbls>
            <c:dLbl>
              <c:idx val="131"/>
              <c:tx>
                <c:rich>
                  <a:bodyPr xmlns:a="http://schemas.openxmlformats.org/drawingml/2006/main"/>
                  <a:lstStyle xmlns:a="http://schemas.openxmlformats.org/drawingml/2006/main"/>
                  <a:p xmlns:a="http://schemas.openxmlformats.org/drawingml/2006/main">
                    <a:r>
                      <a:rPr sz="2025" b="1">
                        <a:solidFill>
                          <a:srgbClr val="A53737"/>
                        </a:solidFill>
                        <a:latin typeface="Arial"/>
                        <a:ea typeface="Arial"/>
                        <a:cs typeface="Arial"/>
                      </a:rPr>
                      <a:t>GTK</a:t>
                    </a:r>
                  </a:p>
                </c:rich>
              </c:tx>
              <c:txPr>
                <a:bodyPr xmlns:a="http://schemas.openxmlformats.org/drawingml/2006/main" anchorCtr="1"/>
                <a:lstStyle xmlns:a="http://schemas.openxmlformats.org/drawingml/2006/main"/>
                <a:p xmlns:a="http://schemas.openxmlformats.org/drawingml/2006/main">
                  <a:pPr>
                    <a:defRPr sz="2025" b="1">
                      <a:solidFill>
                        <a:srgbClr val="A53737"/>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Data'!$C$2:$C$134</c:f>
              <c:numCache>
                <c:formatCode>General</c:formatCode>
                <c:ptCount val="133"/>
                <c:pt idx="0">
                  <c:v>12.7016653793</c:v>
                </c:pt>
                <c:pt idx="1">
                  <c:v>14.527037184</c:v>
                </c:pt>
                <c:pt idx="2">
                  <c:v>16.3524089888</c:v>
                </c:pt>
                <c:pt idx="3">
                  <c:v>18.1777807936</c:v>
                </c:pt>
                <c:pt idx="4">
                  <c:v>20.0031525984</c:v>
                </c:pt>
                <c:pt idx="5">
                  <c:v>21.8285244031</c:v>
                </c:pt>
                <c:pt idx="6">
                  <c:v>23.6538962079</c:v>
                </c:pt>
                <c:pt idx="7">
                  <c:v>25.4792680127</c:v>
                </c:pt>
                <c:pt idx="8">
                  <c:v>27.3046398175</c:v>
                </c:pt>
                <c:pt idx="9">
                  <c:v>29.1300116222</c:v>
                </c:pt>
                <c:pt idx="10">
                  <c:v>30.955383427</c:v>
                </c:pt>
                <c:pt idx="11">
                  <c:v>32.7807552318</c:v>
                </c:pt>
                <c:pt idx="12">
                  <c:v>34.6061270366</c:v>
                </c:pt>
                <c:pt idx="13">
                  <c:v>36.4314988413</c:v>
                </c:pt>
                <c:pt idx="14">
                  <c:v>38.2568706461</c:v>
                </c:pt>
                <c:pt idx="15">
                  <c:v>40.0822424509</c:v>
                </c:pt>
                <c:pt idx="16">
                  <c:v>41.9076142557</c:v>
                </c:pt>
                <c:pt idx="17">
                  <c:v>43.7329860604</c:v>
                </c:pt>
                <c:pt idx="18">
                  <c:v>45.5583578652</c:v>
                </c:pt>
                <c:pt idx="19">
                  <c:v>47.38372967</c:v>
                </c:pt>
                <c:pt idx="20">
                  <c:v>49.2091014748</c:v>
                </c:pt>
                <c:pt idx="21">
                  <c:v>51.0344732795</c:v>
                </c:pt>
                <c:pt idx="22">
                  <c:v>52.8598450843</c:v>
                </c:pt>
                <c:pt idx="23">
                  <c:v>54.6852168891</c:v>
                </c:pt>
                <c:pt idx="24">
                  <c:v>56.5105886939</c:v>
                </c:pt>
                <c:pt idx="25">
                  <c:v>58.3359604986</c:v>
                </c:pt>
                <c:pt idx="26">
                  <c:v>60.1613323034</c:v>
                </c:pt>
                <c:pt idx="27">
                  <c:v>61.9867041082</c:v>
                </c:pt>
                <c:pt idx="28">
                  <c:v>63.812075913</c:v>
                </c:pt>
                <c:pt idx="29">
                  <c:v>65.6374477177</c:v>
                </c:pt>
                <c:pt idx="30">
                  <c:v>67.4628195225</c:v>
                </c:pt>
                <c:pt idx="31">
                  <c:v>69.2881913273</c:v>
                </c:pt>
                <c:pt idx="32">
                  <c:v>71.1135631321</c:v>
                </c:pt>
                <c:pt idx="33">
                  <c:v>72.9389349368</c:v>
                </c:pt>
                <c:pt idx="34">
                  <c:v>74.7643067416</c:v>
                </c:pt>
                <c:pt idx="35">
                  <c:v>76.5896785464</c:v>
                </c:pt>
                <c:pt idx="36">
                  <c:v>78.4150503512</c:v>
                </c:pt>
                <c:pt idx="37">
                  <c:v>80.2404221559</c:v>
                </c:pt>
                <c:pt idx="38">
                  <c:v>82.0657939607</c:v>
                </c:pt>
                <c:pt idx="39">
                  <c:v>83.8911657655</c:v>
                </c:pt>
                <c:pt idx="40">
                  <c:v>85.7165375703</c:v>
                </c:pt>
                <c:pt idx="41">
                  <c:v>87.541909375</c:v>
                </c:pt>
                <c:pt idx="42">
                  <c:v>89.3672811798</c:v>
                </c:pt>
                <c:pt idx="43">
                  <c:v>91.1926529846</c:v>
                </c:pt>
                <c:pt idx="44">
                  <c:v>93.0180247894</c:v>
                </c:pt>
                <c:pt idx="45">
                  <c:v>94.8433965941</c:v>
                </c:pt>
                <c:pt idx="46">
                  <c:v>96.6687683989</c:v>
                </c:pt>
                <c:pt idx="47">
                  <c:v>98.4941402037</c:v>
                </c:pt>
                <c:pt idx="48">
                  <c:v>100</c:v>
                </c:pt>
                <c:pt idx="49">
                  <c:v>100.3195120085</c:v>
                </c:pt>
                <c:pt idx="50">
                  <c:v>102.1448838132</c:v>
                </c:pt>
                <c:pt idx="51">
                  <c:v>103.970255618</c:v>
                </c:pt>
                <c:pt idx="52">
                  <c:v>105.7956274228</c:v>
                </c:pt>
                <c:pt idx="53">
                  <c:v>107.6209992276</c:v>
                </c:pt>
                <c:pt idx="54">
                  <c:v>109.4463710323</c:v>
                </c:pt>
                <c:pt idx="55">
                  <c:v>111.2717428371</c:v>
                </c:pt>
                <c:pt idx="56">
                  <c:v>113.0971146419</c:v>
                </c:pt>
                <c:pt idx="57">
                  <c:v>114.9224864467</c:v>
                </c:pt>
                <c:pt idx="58">
                  <c:v>116.7478582514</c:v>
                </c:pt>
                <c:pt idx="59">
                  <c:v>118.5732300562</c:v>
                </c:pt>
                <c:pt idx="60">
                  <c:v>120.398601861</c:v>
                </c:pt>
                <c:pt idx="61">
                  <c:v>122.2239736658</c:v>
                </c:pt>
                <c:pt idx="62">
                  <c:v>124.0493454705</c:v>
                </c:pt>
                <c:pt idx="63">
                  <c:v>125.8747172753</c:v>
                </c:pt>
                <c:pt idx="64">
                  <c:v>127.7000890801</c:v>
                </c:pt>
                <c:pt idx="65">
                  <c:v>129.5254608849</c:v>
                </c:pt>
                <c:pt idx="66">
                  <c:v>131.3508326896</c:v>
                </c:pt>
                <c:pt idx="67">
                  <c:v>133.1762044944</c:v>
                </c:pt>
                <c:pt idx="68">
                  <c:v>135.0015762992</c:v>
                </c:pt>
                <c:pt idx="69">
                  <c:v>136.826948104</c:v>
                </c:pt>
                <c:pt idx="70">
                  <c:v>138.6523199087</c:v>
                </c:pt>
                <c:pt idx="71">
                  <c:v>140.4776917135</c:v>
                </c:pt>
                <c:pt idx="72">
                  <c:v>142.3030635183</c:v>
                </c:pt>
                <c:pt idx="73">
                  <c:v>144.1284353231</c:v>
                </c:pt>
                <c:pt idx="74">
                  <c:v>145.9538071278</c:v>
                </c:pt>
                <c:pt idx="75">
                  <c:v>147.7791789326</c:v>
                </c:pt>
                <c:pt idx="76">
                  <c:v>149.6045507374</c:v>
                </c:pt>
                <c:pt idx="77">
                  <c:v>150</c:v>
                </c:pt>
                <c:pt idx="78">
                  <c:v>151.4299225422</c:v>
                </c:pt>
                <c:pt idx="79">
                  <c:v>153.2552943469</c:v>
                </c:pt>
                <c:pt idx="80">
                  <c:v>155.0806661517</c:v>
                </c:pt>
                <c:pt idx="81">
                  <c:v>156.9060379565</c:v>
                </c:pt>
                <c:pt idx="82">
                  <c:v>158.7314097613</c:v>
                </c:pt>
                <c:pt idx="83">
                  <c:v>160.556781566</c:v>
                </c:pt>
                <c:pt idx="84">
                  <c:v>162.3821533708</c:v>
                </c:pt>
                <c:pt idx="85">
                  <c:v>164.2075251756</c:v>
                </c:pt>
                <c:pt idx="86">
                  <c:v>166.0328969804</c:v>
                </c:pt>
                <c:pt idx="87">
                  <c:v>167.8582687851</c:v>
                </c:pt>
                <c:pt idx="88">
                  <c:v>169.6836405899</c:v>
                </c:pt>
                <c:pt idx="89">
                  <c:v>171.5090123947</c:v>
                </c:pt>
                <c:pt idx="90">
                  <c:v>173.3343841995</c:v>
                </c:pt>
                <c:pt idx="91">
                  <c:v>175.1597560042</c:v>
                </c:pt>
                <c:pt idx="92">
                  <c:v>176.985127809</c:v>
                </c:pt>
                <c:pt idx="93">
                  <c:v>178.8104996138</c:v>
                </c:pt>
                <c:pt idx="94">
                  <c:v>180.6358714186</c:v>
                </c:pt>
                <c:pt idx="95">
                  <c:v>182.4612432233</c:v>
                </c:pt>
                <c:pt idx="96">
                  <c:v>184.2866150281</c:v>
                </c:pt>
                <c:pt idx="97">
                  <c:v>186.1119868329</c:v>
                </c:pt>
                <c:pt idx="98">
                  <c:v>187.9373586377</c:v>
                </c:pt>
                <c:pt idx="99">
                  <c:v>189.7627304424</c:v>
                </c:pt>
                <c:pt idx="100">
                  <c:v>191.5881022472</c:v>
                </c:pt>
                <c:pt idx="101">
                  <c:v>193.413474052</c:v>
                </c:pt>
                <c:pt idx="102">
                  <c:v>195.2388458568</c:v>
                </c:pt>
                <c:pt idx="103">
                  <c:v>197.0642176615</c:v>
                </c:pt>
                <c:pt idx="104">
                  <c:v>198.8895894663</c:v>
                </c:pt>
                <c:pt idx="105">
                  <c:v>200.7149612711</c:v>
                </c:pt>
                <c:pt idx="106">
                  <c:v>202.5403330759</c:v>
                </c:pt>
                <c:pt idx="107">
                  <c:v>204.3657048806</c:v>
                </c:pt>
                <c:pt idx="108">
                  <c:v>206.1910766854</c:v>
                </c:pt>
                <c:pt idx="109">
                  <c:v>208.0164484902</c:v>
                </c:pt>
                <c:pt idx="110">
                  <c:v>209.841820295</c:v>
                </c:pt>
                <c:pt idx="111">
                  <c:v>211.6671920997</c:v>
                </c:pt>
                <c:pt idx="112">
                  <c:v>213.4925639045</c:v>
                </c:pt>
                <c:pt idx="113">
                  <c:v>215.3179357093</c:v>
                </c:pt>
                <c:pt idx="114">
                  <c:v>217.1433075141</c:v>
                </c:pt>
                <c:pt idx="115">
                  <c:v>218.9686793188</c:v>
                </c:pt>
                <c:pt idx="116">
                  <c:v>220.7940511236</c:v>
                </c:pt>
                <c:pt idx="117">
                  <c:v>222.6194229284</c:v>
                </c:pt>
                <c:pt idx="118">
                  <c:v>224.4447947332</c:v>
                </c:pt>
                <c:pt idx="119">
                  <c:v>226.2701665379</c:v>
                </c:pt>
                <c:pt idx="120">
                  <c:v>228.0955383427</c:v>
                </c:pt>
                <c:pt idx="121">
                  <c:v>229.9209101475</c:v>
                </c:pt>
                <c:pt idx="122">
                  <c:v>231.7462819523</c:v>
                </c:pt>
                <c:pt idx="123">
                  <c:v>233.571653757</c:v>
                </c:pt>
                <c:pt idx="124">
                  <c:v>235.3970255618</c:v>
                </c:pt>
                <c:pt idx="125">
                  <c:v>237.2223973666</c:v>
                </c:pt>
                <c:pt idx="126">
                  <c:v>239.0477691714</c:v>
                </c:pt>
                <c:pt idx="127">
                  <c:v>240.8731409761</c:v>
                </c:pt>
                <c:pt idx="128">
                  <c:v>242.6985127809</c:v>
                </c:pt>
                <c:pt idx="129">
                  <c:v>244.5238845857</c:v>
                </c:pt>
                <c:pt idx="130">
                  <c:v>246.3492563905</c:v>
                </c:pt>
                <c:pt idx="131">
                  <c:v>248.1746281952</c:v>
                </c:pt>
                <c:pt idx="132">
                  <c:v>250</c:v>
                </c:pt>
              </c:numCache>
            </c:numRef>
          </c:xVal>
          <c:yVal>
            <c:numRef>
              <c:f>'Chart Data'!$D$2:$D$134</c:f>
              <c:numCache>
                <c:formatCode>0</c:formatCode>
                <c:ptCount val="133"/>
                <c:pt idx="0">
                  <c:v>20</c:v>
                </c:pt>
                <c:pt idx="1">
                  <c:v>18.0579729782</c:v>
                </c:pt>
                <c:pt idx="2">
                  <c:v>16.5576620384</c:v>
                </c:pt>
                <c:pt idx="3">
                  <c:v>15.3659987783</c:v>
                </c:pt>
                <c:pt idx="4">
                  <c:v>14.3984870012</c:v>
                </c:pt>
                <c:pt idx="5">
                  <c:v>13.5988938914</c:v>
                </c:pt>
                <c:pt idx="6">
                  <c:v>12.9283445848</c:v>
                </c:pt>
                <c:pt idx="7">
                  <c:v>12.3591044242</c:v>
                </c:pt>
                <c:pt idx="8">
                  <c:v>11.87085523</c:v>
                </c:pt>
                <c:pt idx="9">
                  <c:v>11.4483716092</c:v>
                </c:pt>
                <c:pt idx="10">
                  <c:v>11.0800194021</c:v>
                </c:pt>
                <c:pt idx="11">
                  <c:v>10.756755807</c:v>
                </c:pt>
                <c:pt idx="12">
                  <c:v>10.4714459475</c:v>
                </c:pt>
                <c:pt idx="13">
                  <c:v>10.2183848966</c:v>
                </c:pt>
                <c:pt idx="14">
                  <c:v>9.9929565372</c:v>
                </c:pt>
                <c:pt idx="15">
                  <c:v>9.7913856362</c:v>
                </c:pt>
                <c:pt idx="16">
                  <c:v>9.6105547125</c:v>
                </c:pt>
                <c:pt idx="17">
                  <c:v>9.4478667673</c:v>
                </c:pt>
                <c:pt idx="18">
                  <c:v>9.3011410144</c:v>
                </c:pt>
                <c:pt idx="19">
                  <c:v>9.1685327106</c:v>
                </c:pt>
                <c:pt idx="20">
                  <c:v>9.0484708299</c:v>
                </c:pt>
                <c:pt idx="21">
                  <c:v>8.9396091124</c:v>
                </c:pt>
                <c:pt idx="22">
                  <c:v>8.8407872562</c:v>
                </c:pt>
                <c:pt idx="23">
                  <c:v>8.7509998808</c:v>
                </c:pt>
                <c:pt idx="24">
                  <c:v>8.669371507</c:v>
                </c:pt>
                <c:pt idx="25">
                  <c:v>8.5951362325</c:v>
                </c:pt>
                <c:pt idx="26">
                  <c:v>8.5276211091</c:v>
                </c:pt>
                <c:pt idx="27">
                  <c:v>8.4662324559</c:v>
                </c:pt>
                <c:pt idx="28">
                  <c:v>8.410444522</c:v>
                </c:pt>
                <c:pt idx="29">
                  <c:v>8.3597900407</c:v>
                </c:pt>
                <c:pt idx="30">
                  <c:v>8.3138523177</c:v>
                </c:pt>
                <c:pt idx="31">
                  <c:v>8.2722585693</c:v>
                </c:pt>
                <c:pt idx="32">
                  <c:v>8.2346742866</c:v>
                </c:pt>
                <c:pt idx="33">
                  <c:v>8.2007984468</c:v>
                </c:pt>
                <c:pt idx="34">
                  <c:v>8.1703594247</c:v>
                </c:pt>
                <c:pt idx="35">
                  <c:v>8.1431114899</c:v>
                </c:pt>
                <c:pt idx="36">
                  <c:v>8.1188317929</c:v>
                </c:pt>
                <c:pt idx="37">
                  <c:v>8.0973177623</c:v>
                </c:pt>
                <c:pt idx="38">
                  <c:v>8.0783848497</c:v>
                </c:pt>
                <c:pt idx="39">
                  <c:v>8.0618645689</c:v>
                </c:pt>
                <c:pt idx="40">
                  <c:v>8.0476027858</c:v>
                </c:pt>
                <c:pt idx="41">
                  <c:v>8.0354582218</c:v>
                </c:pt>
                <c:pt idx="42">
                  <c:v>8.0253011411</c:v>
                </c:pt>
                <c:pt idx="43">
                  <c:v>8.0170121954</c:v>
                </c:pt>
                <c:pt idx="44">
                  <c:v>8.0104814046</c:v>
                </c:pt>
                <c:pt idx="45">
                  <c:v>8.0056072557</c:v>
                </c:pt>
                <c:pt idx="46">
                  <c:v>8.0022959026</c:v>
                </c:pt>
                <c:pt idx="47">
                  <c:v>8.0004604566</c:v>
                </c:pt>
                <c:pt idx="48">
                  <c:v>8</c:v>
                </c:pt>
                <c:pt idx="49">
                  <c:v>8.0000203526</c:v>
                </c:pt>
                <c:pt idx="50">
                  <c:v>8.0009007845</c:v>
                </c:pt>
                <c:pt idx="51">
                  <c:v>8.0030321998</c:v>
                </c:pt>
                <c:pt idx="52">
                  <c:v>8.006349846</c:v>
                </c:pt>
                <c:pt idx="53">
                  <c:v>8.0107933637</c:v>
                </c:pt>
                <c:pt idx="54">
                  <c:v>8.0163064202</c:v>
                </c:pt>
                <c:pt idx="55">
                  <c:v>8.0228363794</c:v>
                </c:pt>
                <c:pt idx="56">
                  <c:v>8.0303340032</c:v>
                </c:pt>
                <c:pt idx="57">
                  <c:v>8.038753182</c:v>
                </c:pt>
                <c:pt idx="58">
                  <c:v>8.0480506898</c:v>
                </c:pt>
                <c:pt idx="59">
                  <c:v>8.0581859623</c:v>
                </c:pt>
                <c:pt idx="60">
                  <c:v>8.0691208953</c:v>
                </c:pt>
                <c:pt idx="61">
                  <c:v>8.0808196609</c:v>
                </c:pt>
                <c:pt idx="62">
                  <c:v>8.09324854</c:v>
                </c:pt>
                <c:pt idx="63">
                  <c:v>8.1063757693</c:v>
                </c:pt>
                <c:pt idx="64">
                  <c:v>8.1201714017</c:v>
                </c:pt>
                <c:pt idx="65">
                  <c:v>8.1346071783</c:v>
                </c:pt>
                <c:pt idx="66">
                  <c:v>8.149656411</c:v>
                </c:pt>
                <c:pt idx="67">
                  <c:v>8.165293875</c:v>
                </c:pt>
                <c:pt idx="68">
                  <c:v>8.1814957095</c:v>
                </c:pt>
                <c:pt idx="69">
                  <c:v>8.1982393272</c:v>
                </c:pt>
                <c:pt idx="70">
                  <c:v>8.2155033302</c:v>
                </c:pt>
                <c:pt idx="71">
                  <c:v>8.2332674329</c:v>
                </c:pt>
                <c:pt idx="72">
                  <c:v>8.2515123904</c:v>
                </c:pt>
                <c:pt idx="73">
                  <c:v>8.2702199326</c:v>
                </c:pt>
                <c:pt idx="74">
                  <c:v>8.2893727037</c:v>
                </c:pt>
                <c:pt idx="75">
                  <c:v>8.3089542053</c:v>
                </c:pt>
                <c:pt idx="76">
                  <c:v>8.3289487441</c:v>
                </c:pt>
                <c:pt idx="77">
                  <c:v>8.3333333333</c:v>
                </c:pt>
                <c:pt idx="78">
                  <c:v>8.3493413836</c:v>
                </c:pt>
                <c:pt idx="79">
                  <c:v>8.3701178988</c:v>
                </c:pt>
                <c:pt idx="80">
                  <c:v>8.3912647345</c:v>
                </c:pt>
                <c:pt idx="81">
                  <c:v>8.4127689665</c:v>
                </c:pt>
                <c:pt idx="82">
                  <c:v>8.4346182646</c:v>
                </c:pt>
                <c:pt idx="83">
                  <c:v>8.4568008598</c:v>
                </c:pt>
                <c:pt idx="84">
                  <c:v>8.4793055121</c:v>
                </c:pt>
                <c:pt idx="85">
                  <c:v>8.5021214813</c:v>
                </c:pt>
                <c:pt idx="86">
                  <c:v>8.5252384995</c:v>
                </c:pt>
                <c:pt idx="87">
                  <c:v>8.5486467454</c:v>
                </c:pt>
                <c:pt idx="88">
                  <c:v>8.5723368203</c:v>
                </c:pt>
                <c:pt idx="89">
                  <c:v>8.5962997259</c:v>
                </c:pt>
                <c:pt idx="90">
                  <c:v>8.6205268425</c:v>
                </c:pt>
                <c:pt idx="91">
                  <c:v>8.64500991</c:v>
                </c:pt>
                <c:pt idx="92">
                  <c:v>8.669741009</c:v>
                </c:pt>
                <c:pt idx="93">
                  <c:v>8.6947125435</c:v>
                </c:pt>
                <c:pt idx="94">
                  <c:v>8.7199172245</c:v>
                </c:pt>
                <c:pt idx="95">
                  <c:v>8.7453480546</c:v>
                </c:pt>
                <c:pt idx="96">
                  <c:v>8.7709983139</c:v>
                </c:pt>
                <c:pt idx="97">
                  <c:v>8.7968615458</c:v>
                </c:pt>
                <c:pt idx="98">
                  <c:v>8.8229315449</c:v>
                </c:pt>
                <c:pt idx="99">
                  <c:v>8.8492023442</c:v>
                </c:pt>
                <c:pt idx="100">
                  <c:v>8.8756682043</c:v>
                </c:pt>
                <c:pt idx="101">
                  <c:v>8.9023236026</c:v>
                </c:pt>
                <c:pt idx="102">
                  <c:v>8.9291632226</c:v>
                </c:pt>
                <c:pt idx="103">
                  <c:v>8.9561819454</c:v>
                </c:pt>
                <c:pt idx="104">
                  <c:v>8.9833748394</c:v>
                </c:pt>
                <c:pt idx="105">
                  <c:v>9.0107371528</c:v>
                </c:pt>
                <c:pt idx="106">
                  <c:v>9.038264305</c:v>
                </c:pt>
                <c:pt idx="107">
                  <c:v>9.0659518789</c:v>
                </c:pt>
                <c:pt idx="108">
                  <c:v>9.0937956141</c:v>
                </c:pt>
                <c:pt idx="109">
                  <c:v>9.1217913996</c:v>
                </c:pt>
                <c:pt idx="110">
                  <c:v>9.1499352673</c:v>
                </c:pt>
                <c:pt idx="111">
                  <c:v>9.1782233862</c:v>
                </c:pt>
                <c:pt idx="112">
                  <c:v>9.2066520563</c:v>
                </c:pt>
                <c:pt idx="113">
                  <c:v>9.2352177028</c:v>
                </c:pt>
                <c:pt idx="114">
                  <c:v>9.2639168715</c:v>
                </c:pt>
                <c:pt idx="115">
                  <c:v>9.2927462231</c:v>
                </c:pt>
                <c:pt idx="116">
                  <c:v>9.3217025289</c:v>
                </c:pt>
                <c:pt idx="117">
                  <c:v>9.3507826659</c:v>
                </c:pt>
                <c:pt idx="118">
                  <c:v>9.3799836129</c:v>
                </c:pt>
                <c:pt idx="119">
                  <c:v>9.409302446</c:v>
                </c:pt>
                <c:pt idx="120">
                  <c:v>9.438736335</c:v>
                </c:pt>
                <c:pt idx="121">
                  <c:v>9.4682825397</c:v>
                </c:pt>
                <c:pt idx="122">
                  <c:v>9.4979384059</c:v>
                </c:pt>
                <c:pt idx="123">
                  <c:v>9.5277013628</c:v>
                </c:pt>
                <c:pt idx="124">
                  <c:v>9.5575689189</c:v>
                </c:pt>
                <c:pt idx="125">
                  <c:v>9.5875386598</c:v>
                </c:pt>
                <c:pt idx="126">
                  <c:v>9.6176082445</c:v>
                </c:pt>
                <c:pt idx="127">
                  <c:v>9.6477754031</c:v>
                </c:pt>
                <c:pt idx="128">
                  <c:v>9.6780379341</c:v>
                </c:pt>
                <c:pt idx="129">
                  <c:v>9.7083937016</c:v>
                </c:pt>
                <c:pt idx="130">
                  <c:v>9.738840633</c:v>
                </c:pt>
                <c:pt idx="131">
                  <c:v>9.7693767167</c:v>
                </c:pt>
                <c:pt idx="132">
                  <c:v>9.8</c:v>
                </c:pt>
              </c:numCache>
            </c:numRef>
          </c:yVal>
          <c:smooth val="0"/>
        </c:ser>
        <c:ser>
          <c:idx val="2"/>
          <c:order val="2"/>
          <c:tx>
            <c:v>P₀ = GO = MO</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17658A"/>
                        </a:solidFill>
                        <a:latin typeface="Arial"/>
                        <a:ea typeface="Arial"/>
                        <a:cs typeface="Arial"/>
                      </a:rPr>
                      <a:t>P = GO = MO</a:t>
                    </a:r>
                  </a:p>
                </c:rich>
              </c:tx>
              <c:txPr>
                <a:bodyPr xmlns:a="http://schemas.openxmlformats.org/drawingml/2006/main" anchorCtr="1"/>
                <a:lstStyle xmlns:a="http://schemas.openxmlformats.org/drawingml/2006/main"/>
                <a:p xmlns:a="http://schemas.openxmlformats.org/drawingml/2006/main">
                  <a:pPr>
                    <a:defRPr sz="2025"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Data'!$E$2:$E$4</c:f>
              <c:numCache>
                <c:formatCode>General</c:formatCode>
                <c:ptCount val="3"/>
                <c:pt idx="0">
                  <c:v>0</c:v>
                </c:pt>
                <c:pt idx="1">
                  <c:v>95</c:v>
                </c:pt>
                <c:pt idx="2">
                  <c:v>250</c:v>
                </c:pt>
              </c:numCache>
            </c:numRef>
          </c:xVal>
          <c:yVal>
            <c:numRef>
              <c:f>'Chart Data'!$F$2:$F$4</c:f>
              <c:numCache>
                <c:formatCode>0</c:formatCode>
                <c:ptCount val="3"/>
                <c:pt idx="0">
                  <c:v>10</c:v>
                </c:pt>
                <c:pt idx="1">
                  <c:v>10</c:v>
                </c:pt>
                <c:pt idx="2">
                  <c:v>10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MK en GTK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25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5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025"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36.8</c:v>
                </c:pt>
                <c:pt idx="2">
                  <c:v>40</c:v>
                </c:pt>
              </c:numCache>
            </c:numRef>
          </c:xVal>
          <c:yVal>
            <c:numRef>
              <c:f>'Chart Data'!$B$2:$B$4</c:f>
              <c:numCache>
                <c:formatCode>0</c:formatCode>
                <c:ptCount val="3"/>
                <c:pt idx="0">
                  <c:v>16</c:v>
                </c:pt>
                <c:pt idx="1">
                  <c:v>1.28</c:v>
                </c:pt>
                <c:pt idx="2">
                  <c:v>0</c:v>
                </c:pt>
              </c:numCache>
            </c:numRef>
          </c:yVal>
          <c:smooth val="0"/>
        </c:ser>
        <c:ser>
          <c:idx val="1"/>
          <c:order val="1"/>
          <c:tx>
            <c:v>A₀</c:v>
          </c:tx>
          <c:spPr>
            <a:ln xmlns:a="http://schemas.openxmlformats.org/drawingml/2006/main" w="38100">
              <a:solidFill>
                <a:srgbClr val="445B6B"/>
              </a:solidFill>
              <a:prstDash val="dash"/>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445B6B"/>
                        </a:solidFill>
                        <a:latin typeface="Arial"/>
                        <a:ea typeface="Arial"/>
                        <a:cs typeface="Arial"/>
                      </a:rPr>
                      <a:t>A₀</a:t>
                    </a:r>
                  </a:p>
                </c:rich>
              </c:tx>
              <c:txPr>
                <a:bodyPr xmlns:a="http://schemas.openxmlformats.org/drawingml/2006/main" anchorCtr="1"/>
                <a:lstStyle xmlns:a="http://schemas.openxmlformats.org/drawingml/2006/main"/>
                <a:p xmlns:a="http://schemas.openxmlformats.org/drawingml/2006/main">
                  <a:pPr>
                    <a:defRPr sz="2025" b="1">
                      <a:solidFill>
                        <a:srgbClr val="445B6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34</c:v>
                </c:pt>
                <c:pt idx="2">
                  <c:v>40</c:v>
                </c:pt>
              </c:numCache>
            </c:numRef>
          </c:xVal>
          <c:yVal>
            <c:numRef>
              <c:f>'Chart Data'!$D$2:$D$4</c:f>
              <c:numCache>
                <c:formatCode>0</c:formatCode>
                <c:ptCount val="3"/>
                <c:pt idx="0">
                  <c:v>4</c:v>
                </c:pt>
                <c:pt idx="1">
                  <c:v>17.6</c:v>
                </c:pt>
                <c:pt idx="2">
                  <c:v>20</c:v>
                </c:pt>
              </c:numCache>
            </c:numRef>
          </c:yVal>
          <c:smooth val="0"/>
        </c:ser>
        <c:ser>
          <c:idx val="2"/>
          <c:order val="2"/>
          <c:tx>
            <c:v>A₁</c:v>
          </c:tx>
          <c:spPr>
            <a:ln xmlns:a="http://schemas.openxmlformats.org/drawingml/2006/main" w="38100">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A94D16"/>
                        </a:solidFill>
                        <a:latin typeface="Arial"/>
                        <a:ea typeface="Arial"/>
                        <a:cs typeface="Arial"/>
                      </a:rPr>
                      <a:t>A₁</a:t>
                    </a:r>
                  </a:p>
                </c:rich>
              </c:tx>
              <c:txPr>
                <a:bodyPr xmlns:a="http://schemas.openxmlformats.org/drawingml/2006/main" anchorCtr="1"/>
                <a:lstStyle xmlns:a="http://schemas.openxmlformats.org/drawingml/2006/main"/>
                <a:p xmlns:a="http://schemas.openxmlformats.org/drawingml/2006/main">
                  <a:pPr>
                    <a:defRPr sz="2025"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Data'!$E$2:$E$4</c:f>
              <c:numCache>
                <c:formatCode>General</c:formatCode>
                <c:ptCount val="3"/>
                <c:pt idx="0">
                  <c:v>0</c:v>
                </c:pt>
                <c:pt idx="1">
                  <c:v>35.2</c:v>
                </c:pt>
                <c:pt idx="2">
                  <c:v>40</c:v>
                </c:pt>
              </c:numCache>
            </c:numRef>
          </c:xVal>
          <c:yVal>
            <c:numRef>
              <c:f>'Chart Data'!$F$2:$F$4</c:f>
              <c:numCache>
                <c:formatCode>0</c:formatCode>
                <c:ptCount val="3"/>
                <c:pt idx="0">
                  <c:v>4</c:v>
                </c:pt>
                <c:pt idx="1">
                  <c:v>11.04</c:v>
                </c:pt>
                <c:pt idx="2">
                  <c:v>12</c:v>
                </c:pt>
              </c:numCache>
            </c:numRef>
          </c:yVal>
          <c:smooth val="0"/>
        </c:ser>
        <c:ser>
          <c:idx val="3"/>
          <c:order val="3"/>
          <c:tx>
            <c:v>E₀ hulplijn</c:v>
          </c:tx>
          <c:spPr>
            <a:ln xmlns:a="http://schemas.openxmlformats.org/drawingml/2006/main" w="19050">
              <a:solidFill>
                <a:srgbClr val="445B6B"/>
              </a:solidFill>
              <a:prstDash val="dash"/>
            </a:ln>
          </c:spPr>
          <c:marker>
            <c:symbol val="none"/>
          </c:marker>
          <c:xVal>
            <c:numRef>
              <c:f>'Chart Data'!$G$2:$G$4</c:f>
              <c:numCache>
                <c:formatCode>General</c:formatCode>
                <c:ptCount val="3"/>
                <c:pt idx="0">
                  <c:v>0</c:v>
                </c:pt>
                <c:pt idx="1">
                  <c:v>15</c:v>
                </c:pt>
                <c:pt idx="2">
                  <c:v>15</c:v>
                </c:pt>
              </c:numCache>
            </c:numRef>
          </c:xVal>
          <c:yVal>
            <c:numRef>
              <c:f>'Chart Data'!$H$2:$H$4</c:f>
              <c:numCache>
                <c:formatCode>0</c:formatCode>
                <c:ptCount val="3"/>
                <c:pt idx="0">
                  <c:v>10</c:v>
                </c:pt>
                <c:pt idx="1">
                  <c:v>10</c:v>
                </c:pt>
                <c:pt idx="2">
                  <c:v>0</c:v>
                </c:pt>
              </c:numCache>
            </c:numRef>
          </c:yVal>
          <c:smooth val="0"/>
        </c:ser>
        <c:ser>
          <c:idx val="4"/>
          <c:order val="4"/>
          <c:tx>
            <c:v>E₀ label</c:v>
          </c:tx>
          <c:spPr>
            <a:ln xmlns:a="http://schemas.openxmlformats.org/drawingml/2006/main" w="0">
              <a:solidFill>
                <a:srgbClr val="445B6B"/>
              </a:solidFill>
            </a:ln>
          </c:spPr>
          <c:marker>
            <c:symbol val="none"/>
          </c:marker>
          <c:dLbls>
            <c:dLbl>
              <c:idx val="0"/>
              <c:tx>
                <c:rich>
                  <a:bodyPr xmlns:a="http://schemas.openxmlformats.org/drawingml/2006/main"/>
                  <a:lstStyle xmlns:a="http://schemas.openxmlformats.org/drawingml/2006/main"/>
                  <a:p xmlns:a="http://schemas.openxmlformats.org/drawingml/2006/main">
                    <a:r>
                      <a:rPr sz="2025" b="1">
                        <a:solidFill>
                          <a:srgbClr val="445B6B"/>
                        </a:solidFill>
                        <a:latin typeface="Arial"/>
                        <a:ea typeface="Arial"/>
                        <a:cs typeface="Arial"/>
                      </a:rPr>
                      <a:t>E₀</a:t>
                    </a:r>
                  </a:p>
                </c:rich>
              </c:tx>
              <c:txPr>
                <a:bodyPr xmlns:a="http://schemas.openxmlformats.org/drawingml/2006/main" anchorCtr="1"/>
                <a:lstStyle xmlns:a="http://schemas.openxmlformats.org/drawingml/2006/main"/>
                <a:p xmlns:a="http://schemas.openxmlformats.org/drawingml/2006/main">
                  <a:pPr>
                    <a:defRPr sz="2025" b="1">
                      <a:solidFill>
                        <a:srgbClr val="445B6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15</c:v>
                </c:pt>
              </c:numCache>
            </c:numRef>
          </c:xVal>
          <c:yVal>
            <c:numRef>
              <c:f>'Chart Data'!$J$2:$J$2</c:f>
              <c:numCache>
                <c:formatCode>0</c:formatCode>
                <c:ptCount val="1"/>
                <c:pt idx="0">
                  <c:v>10</c:v>
                </c:pt>
              </c:numCache>
            </c:numRef>
          </c:yVal>
          <c:smooth val="0"/>
        </c:ser>
        <c:ser>
          <c:idx val="5"/>
          <c:order val="5"/>
          <c:tx>
            <c:v>E₁ hulplijn</c:v>
          </c:tx>
          <c:spPr>
            <a:ln xmlns:a="http://schemas.openxmlformats.org/drawingml/2006/main" w="19050">
              <a:solidFill>
                <a:srgbClr val="A94D16"/>
              </a:solidFill>
              <a:prstDash val="dash"/>
            </a:ln>
          </c:spPr>
          <c:marker>
            <c:symbol val="none"/>
          </c:marker>
          <c:xVal>
            <c:numRef>
              <c:f>'Chart Data'!$K$2:$K$4</c:f>
              <c:numCache>
                <c:formatCode>General</c:formatCode>
                <c:ptCount val="3"/>
                <c:pt idx="0">
                  <c:v>0</c:v>
                </c:pt>
                <c:pt idx="1">
                  <c:v>20</c:v>
                </c:pt>
                <c:pt idx="2">
                  <c:v>20</c:v>
                </c:pt>
              </c:numCache>
            </c:numRef>
          </c:xVal>
          <c:yVal>
            <c:numRef>
              <c:f>'Chart Data'!$L$2:$L$4</c:f>
              <c:numCache>
                <c:formatCode>0</c:formatCode>
                <c:ptCount val="3"/>
                <c:pt idx="0">
                  <c:v>8</c:v>
                </c:pt>
                <c:pt idx="1">
                  <c:v>8</c:v>
                </c:pt>
                <c:pt idx="2">
                  <c:v>0</c:v>
                </c:pt>
              </c:numCache>
            </c:numRef>
          </c:yVal>
          <c:smooth val="0"/>
        </c:ser>
        <c:ser>
          <c:idx val="6"/>
          <c:order val="6"/>
          <c:tx>
            <c:v>E₁ label</c:v>
          </c:tx>
          <c:spPr>
            <a:ln xmlns:a="http://schemas.openxmlformats.org/drawingml/2006/main" w="0">
              <a:solidFill>
                <a:srgbClr val="A94D16"/>
              </a:solidFill>
            </a:ln>
          </c:spPr>
          <c:marker>
            <c:symbol val="none"/>
          </c:marker>
          <c:dLbls>
            <c:dLbl>
              <c:idx val="0"/>
              <c:tx>
                <c:rich>
                  <a:bodyPr xmlns:a="http://schemas.openxmlformats.org/drawingml/2006/main"/>
                  <a:lstStyle xmlns:a="http://schemas.openxmlformats.org/drawingml/2006/main"/>
                  <a:p xmlns:a="http://schemas.openxmlformats.org/drawingml/2006/main">
                    <a:r>
                      <a:rPr sz="2025" b="1">
                        <a:solidFill>
                          <a:srgbClr val="A94D16"/>
                        </a:solidFill>
                        <a:latin typeface="Arial"/>
                        <a:ea typeface="Arial"/>
                        <a:cs typeface="Arial"/>
                      </a:rPr>
                      <a:t>E₁</a:t>
                    </a:r>
                  </a:p>
                </c:rich>
              </c:tx>
              <c:txPr>
                <a:bodyPr xmlns:a="http://schemas.openxmlformats.org/drawingml/2006/main" anchorCtr="1"/>
                <a:lstStyle xmlns:a="http://schemas.openxmlformats.org/drawingml/2006/main"/>
                <a:p xmlns:a="http://schemas.openxmlformats.org/drawingml/2006/main">
                  <a:pPr>
                    <a:defRPr sz="2025" b="1">
                      <a:solidFill>
                        <a:srgbClr val="A94D16"/>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Data'!$M$2:$M$2</c:f>
              <c:numCache>
                <c:formatCode>General</c:formatCode>
                <c:ptCount val="1"/>
                <c:pt idx="0">
                  <c:v>21.6</c:v>
                </c:pt>
              </c:numCache>
            </c:numRef>
          </c:xVal>
          <c:yVal>
            <c:numRef>
              <c:f>'Chart Data'!$N$2:$N$2</c:f>
              <c:numCache>
                <c:formatCode>0</c:formatCode>
                <c:ptCount val="1"/>
                <c:pt idx="0">
                  <c:v>7.5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4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 1.000 kg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scatterChart>
        <c:scatterStyle val="line"/>
        <c:ser>
          <c:idx val="0"/>
          <c:order val="0"/>
          <c:tx>
            <c:v>MK</c:v>
          </c:tx>
          <c:spPr>
            <a:ln xmlns:a="http://schemas.openxmlformats.org/drawingml/2006/main" w="38100">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2025"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215</c:v>
                </c:pt>
                <c:pt idx="2">
                  <c:v>250</c:v>
                </c:pt>
              </c:numCache>
            </c:numRef>
          </c:xVal>
          <c:yVal>
            <c:numRef>
              <c:f>'Chart Data'!$B$2:$B$4</c:f>
              <c:numCache>
                <c:formatCode>0</c:formatCode>
                <c:ptCount val="3"/>
                <c:pt idx="0">
                  <c:v>4</c:v>
                </c:pt>
                <c:pt idx="1">
                  <c:v>12.6</c:v>
                </c:pt>
                <c:pt idx="2">
                  <c:v>14</c:v>
                </c:pt>
              </c:numCache>
            </c:numRef>
          </c:yVal>
          <c:smooth val="0"/>
        </c:ser>
        <c:ser>
          <c:idx val="1"/>
          <c:order val="1"/>
          <c:tx>
            <c:v>GTK</c:v>
          </c:tx>
          <c:spPr>
            <a:ln xmlns:a="http://schemas.openxmlformats.org/drawingml/2006/main" w="38100">
              <a:solidFill>
                <a:srgbClr val="A53737"/>
              </a:solidFill>
            </a:ln>
          </c:spPr>
          <c:marker>
            <c:symbol val="none"/>
          </c:marker>
          <c:dLbls>
            <c:dLbl>
              <c:idx val="131"/>
              <c:tx>
                <c:rich>
                  <a:bodyPr xmlns:a="http://schemas.openxmlformats.org/drawingml/2006/main"/>
                  <a:lstStyle xmlns:a="http://schemas.openxmlformats.org/drawingml/2006/main"/>
                  <a:p xmlns:a="http://schemas.openxmlformats.org/drawingml/2006/main">
                    <a:r>
                      <a:rPr sz="2025" b="1">
                        <a:solidFill>
                          <a:srgbClr val="A53737"/>
                        </a:solidFill>
                        <a:latin typeface="Arial"/>
                        <a:ea typeface="Arial"/>
                        <a:cs typeface="Arial"/>
                      </a:rPr>
                      <a:t>GTK</a:t>
                    </a:r>
                  </a:p>
                </c:rich>
              </c:tx>
              <c:txPr>
                <a:bodyPr xmlns:a="http://schemas.openxmlformats.org/drawingml/2006/main" anchorCtr="1"/>
                <a:lstStyle xmlns:a="http://schemas.openxmlformats.org/drawingml/2006/main"/>
                <a:p xmlns:a="http://schemas.openxmlformats.org/drawingml/2006/main">
                  <a:pPr>
                    <a:defRPr sz="2025" b="1">
                      <a:solidFill>
                        <a:srgbClr val="A53737"/>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Data'!$C$2:$C$134</c:f>
              <c:numCache>
                <c:formatCode>General</c:formatCode>
                <c:ptCount val="133"/>
                <c:pt idx="0">
                  <c:v>12.7016653793</c:v>
                </c:pt>
                <c:pt idx="1">
                  <c:v>14.527037184</c:v>
                </c:pt>
                <c:pt idx="2">
                  <c:v>16.3524089888</c:v>
                </c:pt>
                <c:pt idx="3">
                  <c:v>18.1777807936</c:v>
                </c:pt>
                <c:pt idx="4">
                  <c:v>20.0031525984</c:v>
                </c:pt>
                <c:pt idx="5">
                  <c:v>21.8285244031</c:v>
                </c:pt>
                <c:pt idx="6">
                  <c:v>23.6538962079</c:v>
                </c:pt>
                <c:pt idx="7">
                  <c:v>25.4792680127</c:v>
                </c:pt>
                <c:pt idx="8">
                  <c:v>27.3046398175</c:v>
                </c:pt>
                <c:pt idx="9">
                  <c:v>29.1300116222</c:v>
                </c:pt>
                <c:pt idx="10">
                  <c:v>30.955383427</c:v>
                </c:pt>
                <c:pt idx="11">
                  <c:v>32.7807552318</c:v>
                </c:pt>
                <c:pt idx="12">
                  <c:v>34.6061270366</c:v>
                </c:pt>
                <c:pt idx="13">
                  <c:v>36.4314988413</c:v>
                </c:pt>
                <c:pt idx="14">
                  <c:v>38.2568706461</c:v>
                </c:pt>
                <c:pt idx="15">
                  <c:v>40.0822424509</c:v>
                </c:pt>
                <c:pt idx="16">
                  <c:v>41.9076142557</c:v>
                </c:pt>
                <c:pt idx="17">
                  <c:v>43.7329860604</c:v>
                </c:pt>
                <c:pt idx="18">
                  <c:v>45.5583578652</c:v>
                </c:pt>
                <c:pt idx="19">
                  <c:v>47.38372967</c:v>
                </c:pt>
                <c:pt idx="20">
                  <c:v>49.2091014748</c:v>
                </c:pt>
                <c:pt idx="21">
                  <c:v>51.0344732795</c:v>
                </c:pt>
                <c:pt idx="22">
                  <c:v>52.8598450843</c:v>
                </c:pt>
                <c:pt idx="23">
                  <c:v>54.6852168891</c:v>
                </c:pt>
                <c:pt idx="24">
                  <c:v>56.5105886939</c:v>
                </c:pt>
                <c:pt idx="25">
                  <c:v>58.3359604986</c:v>
                </c:pt>
                <c:pt idx="26">
                  <c:v>60.1613323034</c:v>
                </c:pt>
                <c:pt idx="27">
                  <c:v>61.9867041082</c:v>
                </c:pt>
                <c:pt idx="28">
                  <c:v>63.812075913</c:v>
                </c:pt>
                <c:pt idx="29">
                  <c:v>65.6374477177</c:v>
                </c:pt>
                <c:pt idx="30">
                  <c:v>67.4628195225</c:v>
                </c:pt>
                <c:pt idx="31">
                  <c:v>69.2881913273</c:v>
                </c:pt>
                <c:pt idx="32">
                  <c:v>71.1135631321</c:v>
                </c:pt>
                <c:pt idx="33">
                  <c:v>72.9389349368</c:v>
                </c:pt>
                <c:pt idx="34">
                  <c:v>74.7643067416</c:v>
                </c:pt>
                <c:pt idx="35">
                  <c:v>76.5896785464</c:v>
                </c:pt>
                <c:pt idx="36">
                  <c:v>78.4150503512</c:v>
                </c:pt>
                <c:pt idx="37">
                  <c:v>80.2404221559</c:v>
                </c:pt>
                <c:pt idx="38">
                  <c:v>82.0657939607</c:v>
                </c:pt>
                <c:pt idx="39">
                  <c:v>83.8911657655</c:v>
                </c:pt>
                <c:pt idx="40">
                  <c:v>85.7165375703</c:v>
                </c:pt>
                <c:pt idx="41">
                  <c:v>87.541909375</c:v>
                </c:pt>
                <c:pt idx="42">
                  <c:v>89.3672811798</c:v>
                </c:pt>
                <c:pt idx="43">
                  <c:v>91.1926529846</c:v>
                </c:pt>
                <c:pt idx="44">
                  <c:v>93.0180247894</c:v>
                </c:pt>
                <c:pt idx="45">
                  <c:v>94.8433965941</c:v>
                </c:pt>
                <c:pt idx="46">
                  <c:v>96.6687683989</c:v>
                </c:pt>
                <c:pt idx="47">
                  <c:v>98.4941402037</c:v>
                </c:pt>
                <c:pt idx="48">
                  <c:v>100</c:v>
                </c:pt>
                <c:pt idx="49">
                  <c:v>100.3195120085</c:v>
                </c:pt>
                <c:pt idx="50">
                  <c:v>102.1448838132</c:v>
                </c:pt>
                <c:pt idx="51">
                  <c:v>103.970255618</c:v>
                </c:pt>
                <c:pt idx="52">
                  <c:v>105.7956274228</c:v>
                </c:pt>
                <c:pt idx="53">
                  <c:v>107.6209992276</c:v>
                </c:pt>
                <c:pt idx="54">
                  <c:v>109.4463710323</c:v>
                </c:pt>
                <c:pt idx="55">
                  <c:v>111.2717428371</c:v>
                </c:pt>
                <c:pt idx="56">
                  <c:v>113.0971146419</c:v>
                </c:pt>
                <c:pt idx="57">
                  <c:v>114.9224864467</c:v>
                </c:pt>
                <c:pt idx="58">
                  <c:v>116.7478582514</c:v>
                </c:pt>
                <c:pt idx="59">
                  <c:v>118.5732300562</c:v>
                </c:pt>
                <c:pt idx="60">
                  <c:v>120.398601861</c:v>
                </c:pt>
                <c:pt idx="61">
                  <c:v>122.2239736658</c:v>
                </c:pt>
                <c:pt idx="62">
                  <c:v>124.0493454705</c:v>
                </c:pt>
                <c:pt idx="63">
                  <c:v>125.8747172753</c:v>
                </c:pt>
                <c:pt idx="64">
                  <c:v>127.7000890801</c:v>
                </c:pt>
                <c:pt idx="65">
                  <c:v>129.5254608849</c:v>
                </c:pt>
                <c:pt idx="66">
                  <c:v>131.3508326896</c:v>
                </c:pt>
                <c:pt idx="67">
                  <c:v>133.1762044944</c:v>
                </c:pt>
                <c:pt idx="68">
                  <c:v>135.0015762992</c:v>
                </c:pt>
                <c:pt idx="69">
                  <c:v>136.826948104</c:v>
                </c:pt>
                <c:pt idx="70">
                  <c:v>138.6523199087</c:v>
                </c:pt>
                <c:pt idx="71">
                  <c:v>140.4776917135</c:v>
                </c:pt>
                <c:pt idx="72">
                  <c:v>142.3030635183</c:v>
                </c:pt>
                <c:pt idx="73">
                  <c:v>144.1284353231</c:v>
                </c:pt>
                <c:pt idx="74">
                  <c:v>145.9538071278</c:v>
                </c:pt>
                <c:pt idx="75">
                  <c:v>147.7791789326</c:v>
                </c:pt>
                <c:pt idx="76">
                  <c:v>149.6045507374</c:v>
                </c:pt>
                <c:pt idx="77">
                  <c:v>150</c:v>
                </c:pt>
                <c:pt idx="78">
                  <c:v>151.4299225422</c:v>
                </c:pt>
                <c:pt idx="79">
                  <c:v>153.2552943469</c:v>
                </c:pt>
                <c:pt idx="80">
                  <c:v>155.0806661517</c:v>
                </c:pt>
                <c:pt idx="81">
                  <c:v>156.9060379565</c:v>
                </c:pt>
                <c:pt idx="82">
                  <c:v>158.7314097613</c:v>
                </c:pt>
                <c:pt idx="83">
                  <c:v>160.556781566</c:v>
                </c:pt>
                <c:pt idx="84">
                  <c:v>162.3821533708</c:v>
                </c:pt>
                <c:pt idx="85">
                  <c:v>164.2075251756</c:v>
                </c:pt>
                <c:pt idx="86">
                  <c:v>166.0328969804</c:v>
                </c:pt>
                <c:pt idx="87">
                  <c:v>167.8582687851</c:v>
                </c:pt>
                <c:pt idx="88">
                  <c:v>169.6836405899</c:v>
                </c:pt>
                <c:pt idx="89">
                  <c:v>171.5090123947</c:v>
                </c:pt>
                <c:pt idx="90">
                  <c:v>173.3343841995</c:v>
                </c:pt>
                <c:pt idx="91">
                  <c:v>175.1597560042</c:v>
                </c:pt>
                <c:pt idx="92">
                  <c:v>176.985127809</c:v>
                </c:pt>
                <c:pt idx="93">
                  <c:v>178.8104996138</c:v>
                </c:pt>
                <c:pt idx="94">
                  <c:v>180.6358714186</c:v>
                </c:pt>
                <c:pt idx="95">
                  <c:v>182.4612432233</c:v>
                </c:pt>
                <c:pt idx="96">
                  <c:v>184.2866150281</c:v>
                </c:pt>
                <c:pt idx="97">
                  <c:v>186.1119868329</c:v>
                </c:pt>
                <c:pt idx="98">
                  <c:v>187.9373586377</c:v>
                </c:pt>
                <c:pt idx="99">
                  <c:v>189.7627304424</c:v>
                </c:pt>
                <c:pt idx="100">
                  <c:v>191.5881022472</c:v>
                </c:pt>
                <c:pt idx="101">
                  <c:v>193.413474052</c:v>
                </c:pt>
                <c:pt idx="102">
                  <c:v>195.2388458568</c:v>
                </c:pt>
                <c:pt idx="103">
                  <c:v>197.0642176615</c:v>
                </c:pt>
                <c:pt idx="104">
                  <c:v>198.8895894663</c:v>
                </c:pt>
                <c:pt idx="105">
                  <c:v>200.7149612711</c:v>
                </c:pt>
                <c:pt idx="106">
                  <c:v>202.5403330759</c:v>
                </c:pt>
                <c:pt idx="107">
                  <c:v>204.3657048806</c:v>
                </c:pt>
                <c:pt idx="108">
                  <c:v>206.1910766854</c:v>
                </c:pt>
                <c:pt idx="109">
                  <c:v>208.0164484902</c:v>
                </c:pt>
                <c:pt idx="110">
                  <c:v>209.841820295</c:v>
                </c:pt>
                <c:pt idx="111">
                  <c:v>211.6671920997</c:v>
                </c:pt>
                <c:pt idx="112">
                  <c:v>213.4925639045</c:v>
                </c:pt>
                <c:pt idx="113">
                  <c:v>215.3179357093</c:v>
                </c:pt>
                <c:pt idx="114">
                  <c:v>217.1433075141</c:v>
                </c:pt>
                <c:pt idx="115">
                  <c:v>218.9686793188</c:v>
                </c:pt>
                <c:pt idx="116">
                  <c:v>220.7940511236</c:v>
                </c:pt>
                <c:pt idx="117">
                  <c:v>222.6194229284</c:v>
                </c:pt>
                <c:pt idx="118">
                  <c:v>224.4447947332</c:v>
                </c:pt>
                <c:pt idx="119">
                  <c:v>226.2701665379</c:v>
                </c:pt>
                <c:pt idx="120">
                  <c:v>228.0955383427</c:v>
                </c:pt>
                <c:pt idx="121">
                  <c:v>229.9209101475</c:v>
                </c:pt>
                <c:pt idx="122">
                  <c:v>231.7462819523</c:v>
                </c:pt>
                <c:pt idx="123">
                  <c:v>233.571653757</c:v>
                </c:pt>
                <c:pt idx="124">
                  <c:v>235.3970255618</c:v>
                </c:pt>
                <c:pt idx="125">
                  <c:v>237.2223973666</c:v>
                </c:pt>
                <c:pt idx="126">
                  <c:v>239.0477691714</c:v>
                </c:pt>
                <c:pt idx="127">
                  <c:v>240.8731409761</c:v>
                </c:pt>
                <c:pt idx="128">
                  <c:v>242.6985127809</c:v>
                </c:pt>
                <c:pt idx="129">
                  <c:v>244.5238845857</c:v>
                </c:pt>
                <c:pt idx="130">
                  <c:v>246.3492563905</c:v>
                </c:pt>
                <c:pt idx="131">
                  <c:v>248.1746281952</c:v>
                </c:pt>
                <c:pt idx="132">
                  <c:v>250</c:v>
                </c:pt>
              </c:numCache>
            </c:numRef>
          </c:xVal>
          <c:yVal>
            <c:numRef>
              <c:f>'Chart Data'!$D$2:$D$134</c:f>
              <c:numCache>
                <c:formatCode>0</c:formatCode>
                <c:ptCount val="133"/>
                <c:pt idx="0">
                  <c:v>20</c:v>
                </c:pt>
                <c:pt idx="1">
                  <c:v>18.0579729782</c:v>
                </c:pt>
                <c:pt idx="2">
                  <c:v>16.5576620384</c:v>
                </c:pt>
                <c:pt idx="3">
                  <c:v>15.3659987783</c:v>
                </c:pt>
                <c:pt idx="4">
                  <c:v>14.3984870012</c:v>
                </c:pt>
                <c:pt idx="5">
                  <c:v>13.5988938914</c:v>
                </c:pt>
                <c:pt idx="6">
                  <c:v>12.9283445848</c:v>
                </c:pt>
                <c:pt idx="7">
                  <c:v>12.3591044242</c:v>
                </c:pt>
                <c:pt idx="8">
                  <c:v>11.87085523</c:v>
                </c:pt>
                <c:pt idx="9">
                  <c:v>11.4483716092</c:v>
                </c:pt>
                <c:pt idx="10">
                  <c:v>11.0800194021</c:v>
                </c:pt>
                <c:pt idx="11">
                  <c:v>10.756755807</c:v>
                </c:pt>
                <c:pt idx="12">
                  <c:v>10.4714459475</c:v>
                </c:pt>
                <c:pt idx="13">
                  <c:v>10.2183848966</c:v>
                </c:pt>
                <c:pt idx="14">
                  <c:v>9.9929565372</c:v>
                </c:pt>
                <c:pt idx="15">
                  <c:v>9.7913856362</c:v>
                </c:pt>
                <c:pt idx="16">
                  <c:v>9.6105547125</c:v>
                </c:pt>
                <c:pt idx="17">
                  <c:v>9.4478667673</c:v>
                </c:pt>
                <c:pt idx="18">
                  <c:v>9.3011410144</c:v>
                </c:pt>
                <c:pt idx="19">
                  <c:v>9.1685327106</c:v>
                </c:pt>
                <c:pt idx="20">
                  <c:v>9.0484708299</c:v>
                </c:pt>
                <c:pt idx="21">
                  <c:v>8.9396091124</c:v>
                </c:pt>
                <c:pt idx="22">
                  <c:v>8.8407872562</c:v>
                </c:pt>
                <c:pt idx="23">
                  <c:v>8.7509998808</c:v>
                </c:pt>
                <c:pt idx="24">
                  <c:v>8.669371507</c:v>
                </c:pt>
                <c:pt idx="25">
                  <c:v>8.5951362325</c:v>
                </c:pt>
                <c:pt idx="26">
                  <c:v>8.5276211091</c:v>
                </c:pt>
                <c:pt idx="27">
                  <c:v>8.4662324559</c:v>
                </c:pt>
                <c:pt idx="28">
                  <c:v>8.410444522</c:v>
                </c:pt>
                <c:pt idx="29">
                  <c:v>8.3597900407</c:v>
                </c:pt>
                <c:pt idx="30">
                  <c:v>8.3138523177</c:v>
                </c:pt>
                <c:pt idx="31">
                  <c:v>8.2722585693</c:v>
                </c:pt>
                <c:pt idx="32">
                  <c:v>8.2346742866</c:v>
                </c:pt>
                <c:pt idx="33">
                  <c:v>8.2007984468</c:v>
                </c:pt>
                <c:pt idx="34">
                  <c:v>8.1703594247</c:v>
                </c:pt>
                <c:pt idx="35">
                  <c:v>8.1431114899</c:v>
                </c:pt>
                <c:pt idx="36">
                  <c:v>8.1188317929</c:v>
                </c:pt>
                <c:pt idx="37">
                  <c:v>8.0973177623</c:v>
                </c:pt>
                <c:pt idx="38">
                  <c:v>8.0783848497</c:v>
                </c:pt>
                <c:pt idx="39">
                  <c:v>8.0618645689</c:v>
                </c:pt>
                <c:pt idx="40">
                  <c:v>8.0476027858</c:v>
                </c:pt>
                <c:pt idx="41">
                  <c:v>8.0354582218</c:v>
                </c:pt>
                <c:pt idx="42">
                  <c:v>8.0253011411</c:v>
                </c:pt>
                <c:pt idx="43">
                  <c:v>8.0170121954</c:v>
                </c:pt>
                <c:pt idx="44">
                  <c:v>8.0104814046</c:v>
                </c:pt>
                <c:pt idx="45">
                  <c:v>8.0056072557</c:v>
                </c:pt>
                <c:pt idx="46">
                  <c:v>8.0022959026</c:v>
                </c:pt>
                <c:pt idx="47">
                  <c:v>8.0004604566</c:v>
                </c:pt>
                <c:pt idx="48">
                  <c:v>8</c:v>
                </c:pt>
                <c:pt idx="49">
                  <c:v>8.0000203526</c:v>
                </c:pt>
                <c:pt idx="50">
                  <c:v>8.0009007845</c:v>
                </c:pt>
                <c:pt idx="51">
                  <c:v>8.0030321998</c:v>
                </c:pt>
                <c:pt idx="52">
                  <c:v>8.006349846</c:v>
                </c:pt>
                <c:pt idx="53">
                  <c:v>8.0107933637</c:v>
                </c:pt>
                <c:pt idx="54">
                  <c:v>8.0163064202</c:v>
                </c:pt>
                <c:pt idx="55">
                  <c:v>8.0228363794</c:v>
                </c:pt>
                <c:pt idx="56">
                  <c:v>8.0303340032</c:v>
                </c:pt>
                <c:pt idx="57">
                  <c:v>8.038753182</c:v>
                </c:pt>
                <c:pt idx="58">
                  <c:v>8.0480506898</c:v>
                </c:pt>
                <c:pt idx="59">
                  <c:v>8.0581859623</c:v>
                </c:pt>
                <c:pt idx="60">
                  <c:v>8.0691208953</c:v>
                </c:pt>
                <c:pt idx="61">
                  <c:v>8.0808196609</c:v>
                </c:pt>
                <c:pt idx="62">
                  <c:v>8.09324854</c:v>
                </c:pt>
                <c:pt idx="63">
                  <c:v>8.1063757693</c:v>
                </c:pt>
                <c:pt idx="64">
                  <c:v>8.1201714017</c:v>
                </c:pt>
                <c:pt idx="65">
                  <c:v>8.1346071783</c:v>
                </c:pt>
                <c:pt idx="66">
                  <c:v>8.149656411</c:v>
                </c:pt>
                <c:pt idx="67">
                  <c:v>8.165293875</c:v>
                </c:pt>
                <c:pt idx="68">
                  <c:v>8.1814957095</c:v>
                </c:pt>
                <c:pt idx="69">
                  <c:v>8.1982393272</c:v>
                </c:pt>
                <c:pt idx="70">
                  <c:v>8.2155033302</c:v>
                </c:pt>
                <c:pt idx="71">
                  <c:v>8.2332674329</c:v>
                </c:pt>
                <c:pt idx="72">
                  <c:v>8.2515123904</c:v>
                </c:pt>
                <c:pt idx="73">
                  <c:v>8.2702199326</c:v>
                </c:pt>
                <c:pt idx="74">
                  <c:v>8.2893727037</c:v>
                </c:pt>
                <c:pt idx="75">
                  <c:v>8.3089542053</c:v>
                </c:pt>
                <c:pt idx="76">
                  <c:v>8.3289487441</c:v>
                </c:pt>
                <c:pt idx="77">
                  <c:v>8.3333333333</c:v>
                </c:pt>
                <c:pt idx="78">
                  <c:v>8.3493413836</c:v>
                </c:pt>
                <c:pt idx="79">
                  <c:v>8.3701178988</c:v>
                </c:pt>
                <c:pt idx="80">
                  <c:v>8.3912647345</c:v>
                </c:pt>
                <c:pt idx="81">
                  <c:v>8.4127689665</c:v>
                </c:pt>
                <c:pt idx="82">
                  <c:v>8.4346182646</c:v>
                </c:pt>
                <c:pt idx="83">
                  <c:v>8.4568008598</c:v>
                </c:pt>
                <c:pt idx="84">
                  <c:v>8.4793055121</c:v>
                </c:pt>
                <c:pt idx="85">
                  <c:v>8.5021214813</c:v>
                </c:pt>
                <c:pt idx="86">
                  <c:v>8.5252384995</c:v>
                </c:pt>
                <c:pt idx="87">
                  <c:v>8.5486467454</c:v>
                </c:pt>
                <c:pt idx="88">
                  <c:v>8.5723368203</c:v>
                </c:pt>
                <c:pt idx="89">
                  <c:v>8.5962997259</c:v>
                </c:pt>
                <c:pt idx="90">
                  <c:v>8.6205268425</c:v>
                </c:pt>
                <c:pt idx="91">
                  <c:v>8.64500991</c:v>
                </c:pt>
                <c:pt idx="92">
                  <c:v>8.669741009</c:v>
                </c:pt>
                <c:pt idx="93">
                  <c:v>8.6947125435</c:v>
                </c:pt>
                <c:pt idx="94">
                  <c:v>8.7199172245</c:v>
                </c:pt>
                <c:pt idx="95">
                  <c:v>8.7453480546</c:v>
                </c:pt>
                <c:pt idx="96">
                  <c:v>8.7709983139</c:v>
                </c:pt>
                <c:pt idx="97">
                  <c:v>8.7968615458</c:v>
                </c:pt>
                <c:pt idx="98">
                  <c:v>8.8229315449</c:v>
                </c:pt>
                <c:pt idx="99">
                  <c:v>8.8492023442</c:v>
                </c:pt>
                <c:pt idx="100">
                  <c:v>8.8756682043</c:v>
                </c:pt>
                <c:pt idx="101">
                  <c:v>8.9023236026</c:v>
                </c:pt>
                <c:pt idx="102">
                  <c:v>8.9291632226</c:v>
                </c:pt>
                <c:pt idx="103">
                  <c:v>8.9561819454</c:v>
                </c:pt>
                <c:pt idx="104">
                  <c:v>8.9833748394</c:v>
                </c:pt>
                <c:pt idx="105">
                  <c:v>9.0107371528</c:v>
                </c:pt>
                <c:pt idx="106">
                  <c:v>9.038264305</c:v>
                </c:pt>
                <c:pt idx="107">
                  <c:v>9.0659518789</c:v>
                </c:pt>
                <c:pt idx="108">
                  <c:v>9.0937956141</c:v>
                </c:pt>
                <c:pt idx="109">
                  <c:v>9.1217913996</c:v>
                </c:pt>
                <c:pt idx="110">
                  <c:v>9.1499352673</c:v>
                </c:pt>
                <c:pt idx="111">
                  <c:v>9.1782233862</c:v>
                </c:pt>
                <c:pt idx="112">
                  <c:v>9.2066520563</c:v>
                </c:pt>
                <c:pt idx="113">
                  <c:v>9.2352177028</c:v>
                </c:pt>
                <c:pt idx="114">
                  <c:v>9.2639168715</c:v>
                </c:pt>
                <c:pt idx="115">
                  <c:v>9.2927462231</c:v>
                </c:pt>
                <c:pt idx="116">
                  <c:v>9.3217025289</c:v>
                </c:pt>
                <c:pt idx="117">
                  <c:v>9.3507826659</c:v>
                </c:pt>
                <c:pt idx="118">
                  <c:v>9.3799836129</c:v>
                </c:pt>
                <c:pt idx="119">
                  <c:v>9.409302446</c:v>
                </c:pt>
                <c:pt idx="120">
                  <c:v>9.438736335</c:v>
                </c:pt>
                <c:pt idx="121">
                  <c:v>9.4682825397</c:v>
                </c:pt>
                <c:pt idx="122">
                  <c:v>9.4979384059</c:v>
                </c:pt>
                <c:pt idx="123">
                  <c:v>9.5277013628</c:v>
                </c:pt>
                <c:pt idx="124">
                  <c:v>9.5575689189</c:v>
                </c:pt>
                <c:pt idx="125">
                  <c:v>9.5875386598</c:v>
                </c:pt>
                <c:pt idx="126">
                  <c:v>9.6176082445</c:v>
                </c:pt>
                <c:pt idx="127">
                  <c:v>9.6477754031</c:v>
                </c:pt>
                <c:pt idx="128">
                  <c:v>9.6780379341</c:v>
                </c:pt>
                <c:pt idx="129">
                  <c:v>9.7083937016</c:v>
                </c:pt>
                <c:pt idx="130">
                  <c:v>9.738840633</c:v>
                </c:pt>
                <c:pt idx="131">
                  <c:v>9.7693767167</c:v>
                </c:pt>
                <c:pt idx="132">
                  <c:v>9.8</c:v>
                </c:pt>
              </c:numCache>
            </c:numRef>
          </c:yVal>
          <c:smooth val="0"/>
        </c:ser>
        <c:ser>
          <c:idx val="2"/>
          <c:order val="2"/>
          <c:tx>
            <c:v>P₀ = GO = MO</c:v>
          </c:tx>
          <c:spPr>
            <a:ln xmlns:a="http://schemas.openxmlformats.org/drawingml/2006/main" w="38100">
              <a:solidFill>
                <a:srgbClr val="445B6B"/>
              </a:solidFill>
              <a:prstDash val="dash"/>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445B6B"/>
                        </a:solidFill>
                        <a:latin typeface="Arial"/>
                        <a:ea typeface="Arial"/>
                        <a:cs typeface="Arial"/>
                      </a:rPr>
                      <a:t>P₀</a:t>
                    </a:r>
                  </a:p>
                </c:rich>
              </c:tx>
              <c:txPr>
                <a:bodyPr xmlns:a="http://schemas.openxmlformats.org/drawingml/2006/main" anchorCtr="1"/>
                <a:lstStyle xmlns:a="http://schemas.openxmlformats.org/drawingml/2006/main"/>
                <a:p xmlns:a="http://schemas.openxmlformats.org/drawingml/2006/main">
                  <a:pPr>
                    <a:defRPr sz="2025" b="1">
                      <a:solidFill>
                        <a:srgbClr val="445B6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Data'!$E$2:$E$4</c:f>
              <c:numCache>
                <c:formatCode>General</c:formatCode>
                <c:ptCount val="3"/>
                <c:pt idx="0">
                  <c:v>0</c:v>
                </c:pt>
                <c:pt idx="1">
                  <c:v>52.5</c:v>
                </c:pt>
                <c:pt idx="2">
                  <c:v>250</c:v>
                </c:pt>
              </c:numCache>
            </c:numRef>
          </c:xVal>
          <c:yVal>
            <c:numRef>
              <c:f>'Chart Data'!$F$2:$F$4</c:f>
              <c:numCache>
                <c:formatCode>0</c:formatCode>
                <c:ptCount val="3"/>
                <c:pt idx="0">
                  <c:v>10</c:v>
                </c:pt>
                <c:pt idx="1">
                  <c:v>10</c:v>
                </c:pt>
                <c:pt idx="2">
                  <c:v>10</c:v>
                </c:pt>
              </c:numCache>
            </c:numRef>
          </c:yVal>
          <c:smooth val="0"/>
        </c:ser>
        <c:ser>
          <c:idx val="3"/>
          <c:order val="3"/>
          <c:tx>
            <c:v>P₁ = GO = MO</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2025" b="1">
                        <a:solidFill>
                          <a:srgbClr val="17658A"/>
                        </a:solidFill>
                        <a:latin typeface="Arial"/>
                        <a:ea typeface="Arial"/>
                        <a:cs typeface="Arial"/>
                      </a:rPr>
                      <a:t>P₁ = GO = MO</a:t>
                    </a:r>
                  </a:p>
                </c:rich>
              </c:tx>
              <c:txPr>
                <a:bodyPr xmlns:a="http://schemas.openxmlformats.org/drawingml/2006/main" anchorCtr="1"/>
                <a:lstStyle xmlns:a="http://schemas.openxmlformats.org/drawingml/2006/main"/>
                <a:p xmlns:a="http://schemas.openxmlformats.org/drawingml/2006/main">
                  <a:pPr>
                    <a:defRPr sz="2025" b="1">
                      <a:solidFill>
                        <a:srgbClr val="17658A"/>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Data'!$G$2:$G$4</c:f>
              <c:numCache>
                <c:formatCode>General</c:formatCode>
                <c:ptCount val="3"/>
                <c:pt idx="0">
                  <c:v>0</c:v>
                </c:pt>
                <c:pt idx="1">
                  <c:v>160</c:v>
                </c:pt>
                <c:pt idx="2">
                  <c:v>250</c:v>
                </c:pt>
              </c:numCache>
            </c:numRef>
          </c:xVal>
          <c:yVal>
            <c:numRef>
              <c:f>'Chart Data'!$H$2:$H$4</c:f>
              <c:numCache>
                <c:formatCode>0</c:formatCode>
                <c:ptCount val="3"/>
                <c:pt idx="0">
                  <c:v>8</c:v>
                </c:pt>
                <c:pt idx="1">
                  <c:v>8</c:v>
                </c:pt>
                <c:pt idx="2">
                  <c:v>8</c:v>
                </c:pt>
              </c:numCache>
            </c:numRef>
          </c:yVal>
          <c:smooth val="0"/>
        </c:ser>
        <c:ser>
          <c:idx val="4"/>
          <c:order val="4"/>
          <c:tx>
            <c:v>gekozen q</c:v>
          </c:tx>
          <c:spPr>
            <a:ln xmlns:a="http://schemas.openxmlformats.org/drawingml/2006/main" w="19050">
              <a:solidFill>
                <a:srgbClr val="445B6B"/>
              </a:solidFill>
              <a:prstDash val="dash"/>
            </a:ln>
          </c:spPr>
          <c:marker>
            <c:symbol val="none"/>
          </c:marker>
          <c:xVal>
            <c:numRef>
              <c:f>'Chart Data'!$I$2:$I$3</c:f>
              <c:numCache>
                <c:formatCode>General</c:formatCode>
                <c:ptCount val="2"/>
                <c:pt idx="0">
                  <c:v>100</c:v>
                </c:pt>
                <c:pt idx="1">
                  <c:v>100</c:v>
                </c:pt>
              </c:numCache>
            </c:numRef>
          </c:xVal>
          <c:yVal>
            <c:numRef>
              <c:f>'Chart Data'!$J$2:$J$3</c:f>
              <c:numCache>
                <c:formatCode>0</c:formatCode>
                <c:ptCount val="2"/>
                <c:pt idx="0">
                  <c:v>0</c:v>
                </c:pt>
                <c:pt idx="1">
                  <c:v>8</c:v>
                </c:pt>
              </c:numCache>
            </c:numRef>
          </c:yVal>
          <c:smooth val="0"/>
        </c:ser>
        <c:ser>
          <c:idx val="5"/>
          <c:order val="5"/>
          <c:tx>
            <c:v>q label</c:v>
          </c:tx>
          <c:spPr>
            <a:ln xmlns:a="http://schemas.openxmlformats.org/drawingml/2006/main" w="0">
              <a:solidFill>
                <a:srgbClr val="445B6B"/>
              </a:solidFill>
            </a:ln>
          </c:spPr>
          <c:marker>
            <c:symbol val="none"/>
          </c:marker>
          <c:dLbls>
            <c:dLbl>
              <c:idx val="0"/>
              <c:tx>
                <c:rich>
                  <a:bodyPr xmlns:a="http://schemas.openxmlformats.org/drawingml/2006/main"/>
                  <a:lstStyle xmlns:a="http://schemas.openxmlformats.org/drawingml/2006/main"/>
                  <a:p xmlns:a="http://schemas.openxmlformats.org/drawingml/2006/main">
                    <a:r>
                      <a:rPr sz="2025" b="1">
                        <a:solidFill>
                          <a:srgbClr val="445B6B"/>
                        </a:solidFill>
                        <a:latin typeface="Arial"/>
                        <a:ea typeface="Arial"/>
                        <a:cs typeface="Arial"/>
                      </a:rPr>
                      <a:t>q = 100</a:t>
                    </a:r>
                  </a:p>
                </c:rich>
              </c:tx>
              <c:txPr>
                <a:bodyPr xmlns:a="http://schemas.openxmlformats.org/drawingml/2006/main" anchorCtr="1"/>
                <a:lstStyle xmlns:a="http://schemas.openxmlformats.org/drawingml/2006/main"/>
                <a:p xmlns:a="http://schemas.openxmlformats.org/drawingml/2006/main">
                  <a:pPr>
                    <a:defRPr sz="2025" b="1">
                      <a:solidFill>
                        <a:srgbClr val="445B6B"/>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100</c:v>
                </c:pt>
              </c:numCache>
            </c:numRef>
          </c:xVal>
          <c:yVal>
            <c:numRef>
              <c:f>'Chart Data'!$L$2:$L$2</c:f>
              <c:numCache>
                <c:formatCode>0</c:formatCode>
                <c:ptCount val="1"/>
                <c:pt idx="0">
                  <c:v>1.8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MK en GTK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25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5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1.1 Toetreding, uittreding en langetermijnevenw">
            <a:extLst xmlns:a="http://schemas.openxmlformats.org/drawingml/2006/main">
              <a:ext uri="{FF2B5EF4-FFF2-40B4-BE49-F238E27FC236}">
                <a16:creationId xmlns:a16="http://schemas.microsoft.com/office/drawing/2014/main" id="{BCCE9F84-21C1-421F-A988-A6834429789B}"/>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Deze les: §4.1.1 Toetreding, uittreding en langetermijnevenwicht</a:t>
            </a:r>
          </a:p>
        </p:txBody>
      </p:sp>
      <p:sp>
        <p:nvSpPr>
          <p:cNvPr id="2" name="">
            <a:extLst xmlns:a="http://schemas.openxmlformats.org/drawingml/2006/main">
              <a:ext uri="{FF2B5EF4-FFF2-40B4-BE49-F238E27FC236}">
                <a16:creationId xmlns:a16="http://schemas.microsoft.com/office/drawing/2014/main" id="{2B1D41AC-CC0B-46AC-B3B2-16E38CF8335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1 · Hoe lang blijft de winst?">
            <a:extLst xmlns:a="http://schemas.openxmlformats.org/drawingml/2006/main">
              <a:ext uri="{FF2B5EF4-FFF2-40B4-BE49-F238E27FC236}">
                <a16:creationId xmlns:a16="http://schemas.microsoft.com/office/drawing/2014/main" id="{B6F9BF48-2422-4323-9632-3B6C80052962}"/>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§4.1.1 · Hoe lang blijft de winst?</a:t>
            </a:r>
          </a:p>
        </p:txBody>
      </p:sp>
      <p:sp>
        <p:nvSpPr>
          <p:cNvPr id="4" name="1">
            <a:extLst xmlns:a="http://schemas.openxmlformats.org/drawingml/2006/main">
              <a:ext uri="{FF2B5EF4-FFF2-40B4-BE49-F238E27FC236}">
                <a16:creationId xmlns:a16="http://schemas.microsoft.com/office/drawing/2014/main" id="{32162ED2-BC39-4EF4-9102-01F38A4AD668}"/>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9AB6C6B3-0160-492F-AB6E-E85D2A731D01}"/>
              </a:ext>
            </a:extLst>
          </p:cNvPr>
          <p:cNvSpPr>
            <a:spLocks xmlns:a="http://schemas.openxmlformats.org/drawingml/2006/main" noGrp="1"/>
          </p:cNvSpPr>
          <p:nvPr/>
        </p:nvSpPr>
        <p:spPr>
          <a:xfrm xmlns:a="http://schemas.openxmlformats.org/drawingml/2006/main">
            <a:off x="571500" y="1066800"/>
            <a:ext cx="1381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E77DA920-1700-4BEE-9505-043B5D138CD4}"/>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5C84B237-AEF3-45FF-8D20-628915C3E964}"/>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16A38295-8CC3-4EC5-83DB-9EC4F606B1DF}"/>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011998CB-8CCC-4018-BE9A-613AF599306B}"/>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DF79DD61-C921-4371-A360-7B9E7C7B3674}"/>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571EEDCF-2E4E-494A-8861-4E1B4422ABFB}"/>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350A4038-C858-46E5-B3A8-4B31F3A35E58}"/>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9BCD3416-42EF-4B9A-AA2E-5218C51384D8}"/>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788716E6-928E-426A-AA36-0229F4175DFA}"/>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705FC56D-5357-4432-AC6B-37104A9A0475}"/>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E4350E20-B3CE-4878-B315-12426008C4DF}"/>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6634F1A5-DA43-4062-987C-D135544C0FA3}"/>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B32F2BA1-F978-437C-8210-237F5A5593F3}"/>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6">
            <a:extLst xmlns:a="http://schemas.openxmlformats.org/drawingml/2006/main">
              <a:ext uri="{FF2B5EF4-FFF2-40B4-BE49-F238E27FC236}">
                <a16:creationId xmlns:a16="http://schemas.microsoft.com/office/drawing/2014/main" id="{125DD11E-CBDE-4340-8887-4F6CAE46C934}"/>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DCB6DCA7-1AA0-4CBD-BA1A-E9794AB13805}"/>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010F8C2F-56E5-4710-BD78-DB81C86D7FA4}"/>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4D26832C-366C-4180-BC12-F3FE4110F26F}"/>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Toe- en uittreding verklaren.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Markt en bedrijf tekenen.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Nulwinst berekenen en uitleggen.</a:t>
            </a:r>
          </a:p>
        </p:txBody>
      </p:sp>
      <p:sp>
        <p:nvSpPr>
          <p:cNvPr id="23" name="">
            <a:extLst xmlns:a="http://schemas.openxmlformats.org/drawingml/2006/main">
              <a:ext uri="{FF2B5EF4-FFF2-40B4-BE49-F238E27FC236}">
                <a16:creationId xmlns:a16="http://schemas.microsoft.com/office/drawing/2014/main" id="{38291B5D-E9A6-4918-AED3-330263B3AFEF}"/>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A883E6FB-1CD7-4AD5-8A18-D4ABE9A05C8B}"/>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F867ADF1-C1B7-4B19-A19D-DA62113B34CF}"/>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11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theorie p. 7</a:t>
            </a:r>
          </a:p>
        </p:txBody>
      </p:sp>
      <p:sp>
        <p:nvSpPr>
          <p:cNvPr id="26" name="">
            <a:extLst xmlns:a="http://schemas.openxmlformats.org/drawingml/2006/main">
              <a:ext uri="{FF2B5EF4-FFF2-40B4-BE49-F238E27FC236}">
                <a16:creationId xmlns:a16="http://schemas.microsoft.com/office/drawing/2014/main" id="{348EEE06-CC96-474A-970E-D34418A75FEF}"/>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AC734994-E46D-49E9-BF98-B7D7FF509ED3}"/>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5817D909-A7A2-45D0-935D-88A51B7F9C4F}"/>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§4.1.1 · Opgaven 3 t/m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20173195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Economische winst en normale beloning">
            <a:extLst xmlns:a="http://schemas.openxmlformats.org/drawingml/2006/main">
              <a:ext uri="{FF2B5EF4-FFF2-40B4-BE49-F238E27FC236}">
                <a16:creationId xmlns:a16="http://schemas.microsoft.com/office/drawing/2014/main" id="{742B397C-D4A2-42FC-A832-AD417406BDC6}"/>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Economische winst en normale beloning</a:t>
            </a:r>
          </a:p>
        </p:txBody>
      </p:sp>
      <p:sp>
        <p:nvSpPr>
          <p:cNvPr id="2" name="">
            <a:extLst xmlns:a="http://schemas.openxmlformats.org/drawingml/2006/main">
              <a:ext uri="{FF2B5EF4-FFF2-40B4-BE49-F238E27FC236}">
                <a16:creationId xmlns:a16="http://schemas.microsoft.com/office/drawing/2014/main" id="{CA8218B7-ECDA-4082-9EA1-61BF49E98F1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1 · Hoe lang blijft de winst?">
            <a:extLst xmlns:a="http://schemas.openxmlformats.org/drawingml/2006/main">
              <a:ext uri="{FF2B5EF4-FFF2-40B4-BE49-F238E27FC236}">
                <a16:creationId xmlns:a16="http://schemas.microsoft.com/office/drawing/2014/main" id="{D999C663-CB47-4CF5-9B6E-5EFFF4DF68CD}"/>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§4.1.1 · Hoe lang blijft de winst?</a:t>
            </a:r>
          </a:p>
        </p:txBody>
      </p:sp>
      <p:sp>
        <p:nvSpPr>
          <p:cNvPr id="4" name="2">
            <a:extLst xmlns:a="http://schemas.openxmlformats.org/drawingml/2006/main">
              <a:ext uri="{FF2B5EF4-FFF2-40B4-BE49-F238E27FC236}">
                <a16:creationId xmlns:a16="http://schemas.microsoft.com/office/drawing/2014/main" id="{1F7D3123-63A0-45A7-961E-F481C86F1CD2}"/>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Economische winst = TO − TK">
            <a:extLst xmlns:a="http://schemas.openxmlformats.org/drawingml/2006/main">
              <a:ext uri="{FF2B5EF4-FFF2-40B4-BE49-F238E27FC236}">
                <a16:creationId xmlns:a16="http://schemas.microsoft.com/office/drawing/2014/main" id="{1C02356F-E469-45ED-B2B3-EE8B892FE5CA}"/>
              </a:ext>
            </a:extLst>
          </p:cNvPr>
          <p:cNvSpPr>
            <a:spLocks xmlns:a="http://schemas.openxmlformats.org/drawingml/2006/main" noGrp="1"/>
          </p:cNvSpPr>
          <p:nvPr/>
        </p:nvSpPr>
        <p:spPr>
          <a:xfrm xmlns:a="http://schemas.openxmlformats.org/drawingml/2006/main">
            <a:off x="571500" y="2009775"/>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58A"/>
                </a:solidFill>
                <a:latin typeface="Arial"/>
                <a:ea typeface="Arial"/>
                <a:cs typeface="Arial"/>
              </a:defRPr>
            </a:pPr>
            <a:r>
              <a:rPr sz="3900" b="1">
                <a:solidFill>
                  <a:srgbClr val="17658A"/>
                </a:solidFill>
                <a:latin typeface="Arial"/>
                <a:ea typeface="Arial"/>
                <a:cs typeface="Arial"/>
              </a:rPr>
              <a:t>Economische winst = TO − TK</a:t>
            </a:r>
          </a:p>
        </p:txBody>
      </p:sp>
      <p:graphicFrame>
        <p:nvGraphicFramePr>
          <p:cNvPr id="13" name=""/>
          <p:cNvGraphicFramePr/>
          <p:nvPr/>
        </p:nvGraphicFramePr>
        <p:xfrm>
          <a:off xmlns:a="http://schemas.openxmlformats.org/drawingml/2006/main" x="571500" y="3333750"/>
          <a:ext xmlns:a="http://schemas.openxmlformats.org/drawingml/2006/main" cx="14097000" cy="2562225"/>
        </p:xfrm>
        <a:graphic xmlns:a="http://schemas.openxmlformats.org/drawingml/2006/main">
          <a:graphicData uri="http://schemas.openxmlformats.org/drawingml/2006/table">
            <a:tbl>
              <a:tblPr/>
              <a:tblGrid>
                <a:gridCol w="7810500"/>
                <a:gridCol w="6286500"/>
              </a:tblGrid>
              <a:tr h="1281113">
                <a:tc>
                  <a:txBody>
                    <a:bodyPr lIns="171450" tIns="95250" rIns="152400" bIns="95250"/>
                    <a:lstStyle/>
                    <a:p>
                      <a:r>
                        <a:rPr sz="2700" b="1">
                          <a:solidFill>
                            <a:srgbClr val="FFFFFF"/>
                          </a:solidFill>
                          <a:latin typeface="Arial"/>
                          <a:ea typeface="Arial"/>
                          <a:cs typeface="Arial"/>
                        </a:rPr>
                        <a:t>In TK opgenomen</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Na aftrek van TK</a:t>
                      </a:r>
                    </a:p>
                  </a:txBody>
                  <a:tcPr marL="91440" marR="91440" marT="45720" marB="45720" anchor="ctr">
                    <a:solidFill>
                      <a:srgbClr val="183247"/>
                    </a:solidFill>
                  </a:tcPr>
                </a:tc>
              </a:tr>
              <a:tr h="1281113">
                <a:tc>
                  <a:txBody>
                    <a:bodyPr lIns="171450" tIns="95250" rIns="152400" bIns="95250"/>
                    <a:lstStyle/>
                    <a:p>
                      <a:r>
                        <a:rPr sz="2700" b="0">
                          <a:solidFill>
                            <a:srgbClr val="183247"/>
                          </a:solidFill>
                          <a:latin typeface="Arial"/>
                          <a:ea typeface="Arial"/>
                          <a:cs typeface="Arial"/>
                        </a:rPr>
                        <a:t>Alle productiekosten, inclusief normale ondernemersbeloning</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Economische winst: extra boven de normale beloning</a:t>
                      </a:r>
                    </a:p>
                  </a:txBody>
                  <a:tcPr marL="91440" marR="91440" marT="45720" marB="45720" anchor="ctr">
                    <a:solidFill>
                      <a:srgbClr val="FFFFFF"/>
                    </a:solidFill>
                  </a:tcPr>
                </a:tc>
              </a:tr>
            </a:tbl>
          </a:graphicData>
        </a:graphic>
      </p:graphicFrame>
      <p:sp>
        <p:nvSpPr>
          <p:cNvPr id="7" name="TO = TK: normale beloning betaald, extra winst nul">
            <a:extLst xmlns:a="http://schemas.openxmlformats.org/drawingml/2006/main">
              <a:ext uri="{FF2B5EF4-FFF2-40B4-BE49-F238E27FC236}">
                <a16:creationId xmlns:a16="http://schemas.microsoft.com/office/drawing/2014/main" id="{96249C62-3AB0-4D36-A2F9-6C8D43F75408}"/>
              </a:ext>
            </a:extLst>
          </p:cNvPr>
          <p:cNvSpPr>
            <a:spLocks xmlns:a="http://schemas.openxmlformats.org/drawingml/2006/main" noGrp="1"/>
          </p:cNvSpPr>
          <p:nvPr/>
        </p:nvSpPr>
        <p:spPr>
          <a:xfrm xmlns:a="http://schemas.openxmlformats.org/drawingml/2006/main">
            <a:off x="571500" y="6667500"/>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TO = TK: normale beloning betaald, extra winst nul</a:t>
            </a:r>
          </a:p>
        </p:txBody>
      </p:sp>
    </p:spTree>
    <p:extLst>
      <p:ext uri="{BB962C8B-B14F-4D97-AF65-F5344CB8AC3E}">
        <p14:creationId xmlns:p14="http://schemas.microsoft.com/office/powerpoint/2010/main" val="12762279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Korte en lange termijn">
            <a:extLst xmlns:a="http://schemas.openxmlformats.org/drawingml/2006/main">
              <a:ext uri="{FF2B5EF4-FFF2-40B4-BE49-F238E27FC236}">
                <a16:creationId xmlns:a16="http://schemas.microsoft.com/office/drawing/2014/main" id="{4A43B02B-4FFA-47D2-BE2D-A39F2763FA8B}"/>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Korte en lange termijn</a:t>
            </a:r>
          </a:p>
        </p:txBody>
      </p:sp>
      <p:sp>
        <p:nvSpPr>
          <p:cNvPr id="2" name="">
            <a:extLst xmlns:a="http://schemas.openxmlformats.org/drawingml/2006/main">
              <a:ext uri="{FF2B5EF4-FFF2-40B4-BE49-F238E27FC236}">
                <a16:creationId xmlns:a16="http://schemas.microsoft.com/office/drawing/2014/main" id="{F6227266-D949-4116-8F05-8E26AD0DEA7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1 · Hoe lang blijft de winst?">
            <a:extLst xmlns:a="http://schemas.openxmlformats.org/drawingml/2006/main">
              <a:ext uri="{FF2B5EF4-FFF2-40B4-BE49-F238E27FC236}">
                <a16:creationId xmlns:a16="http://schemas.microsoft.com/office/drawing/2014/main" id="{9475E907-788B-493C-8028-E56BD4642F46}"/>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§4.1.1 · Hoe lang blijft de winst?</a:t>
            </a:r>
          </a:p>
        </p:txBody>
      </p:sp>
      <p:sp>
        <p:nvSpPr>
          <p:cNvPr id="4" name="3">
            <a:extLst xmlns:a="http://schemas.openxmlformats.org/drawingml/2006/main">
              <a:ext uri="{FF2B5EF4-FFF2-40B4-BE49-F238E27FC236}">
                <a16:creationId xmlns:a16="http://schemas.microsoft.com/office/drawing/2014/main" id="{CBBCE4BB-858C-4363-8EE2-08705D7CF95C}"/>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graphicFrame>
        <p:nvGraphicFramePr>
          <p:cNvPr id="12" name=""/>
          <p:cNvGraphicFramePr/>
          <p:nvPr/>
        </p:nvGraphicFramePr>
        <p:xfrm>
          <a:off xmlns:a="http://schemas.openxmlformats.org/drawingml/2006/main" x="571500" y="2133600"/>
          <a:ext xmlns:a="http://schemas.openxmlformats.org/drawingml/2006/main" cx="14097000" cy="2295525"/>
        </p:xfrm>
        <a:graphic xmlns:a="http://schemas.openxmlformats.org/drawingml/2006/main">
          <a:graphicData uri="http://schemas.openxmlformats.org/drawingml/2006/table">
            <a:tbl>
              <a:tblPr/>
              <a:tblGrid>
                <a:gridCol w="7048500"/>
                <a:gridCol w="7048500"/>
              </a:tblGrid>
              <a:tr h="1147763">
                <a:tc>
                  <a:txBody>
                    <a:bodyPr lIns="171450" tIns="95250" rIns="152400" bIns="95250"/>
                    <a:lstStyle/>
                    <a:p>
                      <a:r>
                        <a:rPr sz="2850" b="1">
                          <a:solidFill>
                            <a:srgbClr val="FFFFFF"/>
                          </a:solidFill>
                          <a:latin typeface="Arial"/>
                          <a:ea typeface="Arial"/>
                          <a:cs typeface="Arial"/>
                        </a:rPr>
                        <a:t>Korte termijn</a:t>
                      </a:r>
                    </a:p>
                  </a:txBody>
                  <a:tcPr marL="91440" marR="91440" marT="45720" marB="45720" anchor="ctr">
                    <a:solidFill>
                      <a:srgbClr val="183247"/>
                    </a:solidFill>
                  </a:tcPr>
                </a:tc>
                <a:tc>
                  <a:txBody>
                    <a:bodyPr lIns="171450" tIns="95250" rIns="152400" bIns="95250"/>
                    <a:lstStyle/>
                    <a:p>
                      <a:r>
                        <a:rPr sz="2850" b="1">
                          <a:solidFill>
                            <a:srgbClr val="FFFFFF"/>
                          </a:solidFill>
                          <a:latin typeface="Arial"/>
                          <a:ea typeface="Arial"/>
                          <a:cs typeface="Arial"/>
                        </a:rPr>
                        <a:t>Lange termijn</a:t>
                      </a:r>
                    </a:p>
                  </a:txBody>
                  <a:tcPr marL="91440" marR="91440" marT="45720" marB="45720" anchor="ctr">
                    <a:solidFill>
                      <a:srgbClr val="183247"/>
                    </a:solidFill>
                  </a:tcPr>
                </a:tc>
              </a:tr>
              <a:tr h="1147763">
                <a:tc>
                  <a:txBody>
                    <a:bodyPr lIns="171450" tIns="95250" rIns="152400" bIns="95250"/>
                    <a:lstStyle/>
                    <a:p>
                      <a:r>
                        <a:rPr sz="2850" b="0">
                          <a:solidFill>
                            <a:srgbClr val="183247"/>
                          </a:solidFill>
                          <a:latin typeface="Arial"/>
                          <a:ea typeface="Arial"/>
                          <a:cs typeface="Arial"/>
                        </a:rPr>
                        <a:t>Aantal bedrijven kan zich nog niet aanpassen</a:t>
                      </a:r>
                    </a:p>
                  </a:txBody>
                  <a:tcPr marL="91440" marR="91440" marT="45720" marB="45720" anchor="ctr">
                    <a:solidFill>
                      <a:srgbClr val="FFFFFF"/>
                    </a:solidFill>
                  </a:tcPr>
                </a:tc>
                <a:tc>
                  <a:txBody>
                    <a:bodyPr lIns="171450" tIns="95250" rIns="152400" bIns="95250"/>
                    <a:lstStyle/>
                    <a:p>
                      <a:r>
                        <a:rPr sz="2850" b="0">
                          <a:solidFill>
                            <a:srgbClr val="183247"/>
                          </a:solidFill>
                          <a:latin typeface="Arial"/>
                          <a:ea typeface="Arial"/>
                          <a:cs typeface="Arial"/>
                        </a:rPr>
                        <a:t>Bedrijven kunnen toe- of uittreden</a:t>
                      </a:r>
                    </a:p>
                  </a:txBody>
                  <a:tcPr marL="91440" marR="91440" marT="45720" marB="45720" anchor="ctr">
                    <a:solidFill>
                      <a:srgbClr val="FFFFFF"/>
                    </a:solidFill>
                  </a:tcPr>
                </a:tc>
              </a:tr>
            </a:tbl>
          </a:graphicData>
        </a:graphic>
      </p:graphicFrame>
      <p:sp>
        <p:nvSpPr>
          <p:cNvPr id="6" name="Aannames voor ons langetermijnmodel">
            <a:extLst xmlns:a="http://schemas.openxmlformats.org/drawingml/2006/main">
              <a:ext uri="{FF2B5EF4-FFF2-40B4-BE49-F238E27FC236}">
                <a16:creationId xmlns:a16="http://schemas.microsoft.com/office/drawing/2014/main" id="{535503A4-FC9F-40CC-ADCA-63E4E9E814EA}"/>
              </a:ext>
            </a:extLst>
          </p:cNvPr>
          <p:cNvSpPr>
            <a:spLocks xmlns:a="http://schemas.openxmlformats.org/drawingml/2006/main" noGrp="1"/>
          </p:cNvSpPr>
          <p:nvPr/>
        </p:nvSpPr>
        <p:spPr>
          <a:xfrm xmlns:a="http://schemas.openxmlformats.org/drawingml/2006/main">
            <a:off x="571500" y="49815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Aannames voor ons langetermijnmodel</a:t>
            </a:r>
          </a:p>
        </p:txBody>
      </p:sp>
      <p:sp>
        <p:nvSpPr>
          <p:cNvPr id="7" name="Vrije toe- en uittreding&#10;Dezelfde, onveranderde kosten per b">
            <a:extLst xmlns:a="http://schemas.openxmlformats.org/drawingml/2006/main">
              <a:ext uri="{FF2B5EF4-FFF2-40B4-BE49-F238E27FC236}">
                <a16:creationId xmlns:a16="http://schemas.microsoft.com/office/drawing/2014/main" id="{90508690-749C-438E-ABAC-A2C1E17F1888}"/>
              </a:ext>
            </a:extLst>
          </p:cNvPr>
          <p:cNvSpPr>
            <a:spLocks xmlns:a="http://schemas.openxmlformats.org/drawingml/2006/main" noGrp="1"/>
          </p:cNvSpPr>
          <p:nvPr/>
        </p:nvSpPr>
        <p:spPr>
          <a:xfrm xmlns:a="http://schemas.openxmlformats.org/drawingml/2006/main">
            <a:off x="571500" y="5905500"/>
            <a:ext cx="140970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Vrije toe- en uittreding</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Dezelfde, onveranderde kosten per bedrijf</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Gelijkblijvende marktvraag, technologie en inputprijzen</a:t>
            </a:r>
          </a:p>
        </p:txBody>
      </p:sp>
    </p:spTree>
    <p:extLst>
      <p:ext uri="{BB962C8B-B14F-4D97-AF65-F5344CB8AC3E}">
        <p14:creationId xmlns:p14="http://schemas.microsoft.com/office/powerpoint/2010/main" val="12397619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ellulosekorrels: één prijsnemend bedrijf">
            <a:extLst xmlns:a="http://schemas.openxmlformats.org/drawingml/2006/main">
              <a:ext uri="{FF2B5EF4-FFF2-40B4-BE49-F238E27FC236}">
                <a16:creationId xmlns:a16="http://schemas.microsoft.com/office/drawing/2014/main" id="{09C891D4-3F98-4534-A99F-CCDF5B110052}"/>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Cellulosekorrels: één prijsnemend bedrijf</a:t>
            </a:r>
          </a:p>
        </p:txBody>
      </p:sp>
      <p:sp>
        <p:nvSpPr>
          <p:cNvPr id="2" name="">
            <a:extLst xmlns:a="http://schemas.openxmlformats.org/drawingml/2006/main">
              <a:ext uri="{FF2B5EF4-FFF2-40B4-BE49-F238E27FC236}">
                <a16:creationId xmlns:a16="http://schemas.microsoft.com/office/drawing/2014/main" id="{B3E36375-B2CB-4FB3-B2E1-D48F059FCC3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578E7E80-250C-421D-BAFA-73266F5C8E14}"/>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4">
            <a:extLst xmlns:a="http://schemas.openxmlformats.org/drawingml/2006/main">
              <a:ext uri="{FF2B5EF4-FFF2-40B4-BE49-F238E27FC236}">
                <a16:creationId xmlns:a16="http://schemas.microsoft.com/office/drawing/2014/main" id="{F03401E4-A596-4C87-95CF-FF06EE4B7F3D}"/>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graphicFrame>
        <p:nvGraphicFramePr>
          <p:cNvPr id="11" name=""/>
          <p:cNvGraphicFramePr/>
          <p:nvPr/>
        </p:nvGraphicFramePr>
        <p:xfrm>
          <a:off xmlns:a="http://schemas.openxmlformats.org/drawingml/2006/main" x="571500" y="2000250"/>
          <a:ext xmlns:a="http://schemas.openxmlformats.org/drawingml/2006/main" cx="14097000" cy="4562475"/>
        </p:xfrm>
        <a:graphic xmlns:a="http://schemas.openxmlformats.org/drawingml/2006/main">
          <a:graphicData uri="http://schemas.openxmlformats.org/drawingml/2006/table">
            <a:tbl>
              <a:tblPr/>
              <a:tblGrid>
                <a:gridCol w="5095875"/>
                <a:gridCol w="9001125"/>
              </a:tblGrid>
              <a:tr h="912495">
                <a:tc>
                  <a:txBody>
                    <a:bodyPr lIns="171450" tIns="95250" rIns="152400" bIns="95250"/>
                    <a:lstStyle/>
                    <a:p>
                      <a:r>
                        <a:rPr sz="2550" b="1">
                          <a:solidFill>
                            <a:srgbClr val="FFFFFF"/>
                          </a:solidFill>
                          <a:latin typeface="Arial"/>
                          <a:ea typeface="Arial"/>
                          <a:cs typeface="Arial"/>
                        </a:rPr>
                        <a:t>Gegeven</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Onderwijsmodel</a:t>
                      </a:r>
                    </a:p>
                  </a:txBody>
                  <a:tcPr marL="91440" marR="91440" marT="45720" marB="45720" anchor="ctr">
                    <a:solidFill>
                      <a:srgbClr val="183247"/>
                    </a:solidFill>
                  </a:tcPr>
                </a:tc>
              </a:tr>
              <a:tr h="912495">
                <a:tc>
                  <a:txBody>
                    <a:bodyPr lIns="171450" tIns="95250" rIns="152400" bIns="95250"/>
                    <a:lstStyle/>
                    <a:p>
                      <a:r>
                        <a:rPr sz="2550" b="0">
                          <a:solidFill>
                            <a:srgbClr val="183247"/>
                          </a:solidFill>
                          <a:latin typeface="Arial"/>
                          <a:ea typeface="Arial"/>
                          <a:cs typeface="Arial"/>
                        </a:rPr>
                        <a:t>Beginprijs</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P = € 11 per kg</a:t>
                      </a:r>
                    </a:p>
                  </a:txBody>
                  <a:tcPr marL="91440" marR="91440" marT="45720" marB="45720" anchor="ctr">
                    <a:solidFill>
                      <a:srgbClr val="FFFFFF"/>
                    </a:solidFill>
                  </a:tcPr>
                </a:tc>
              </a:tr>
              <a:tr h="912495">
                <a:tc>
                  <a:txBody>
                    <a:bodyPr lIns="171450" tIns="95250" rIns="152400" bIns="95250"/>
                    <a:lstStyle/>
                    <a:p>
                      <a:r>
                        <a:rPr sz="2550" b="0">
                          <a:solidFill>
                            <a:srgbClr val="183247"/>
                          </a:solidFill>
                          <a:latin typeface="Arial"/>
                          <a:ea typeface="Arial"/>
                          <a:cs typeface="Arial"/>
                        </a:rPr>
                        <a:t>Totale kosten</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TK = 0,10q² + q + 90</a:t>
                      </a:r>
                    </a:p>
                  </a:txBody>
                  <a:tcPr marL="91440" marR="91440" marT="45720" marB="45720" anchor="ctr">
                    <a:solidFill>
                      <a:srgbClr val="EFF4F7"/>
                    </a:solidFill>
                  </a:tcPr>
                </a:tc>
              </a:tr>
              <a:tr h="912495">
                <a:tc>
                  <a:txBody>
                    <a:bodyPr lIns="171450" tIns="95250" rIns="152400" bIns="95250"/>
                    <a:lstStyle/>
                    <a:p>
                      <a:r>
                        <a:rPr sz="2550" b="0">
                          <a:solidFill>
                            <a:srgbClr val="183247"/>
                          </a:solidFill>
                          <a:latin typeface="Arial"/>
                          <a:ea typeface="Arial"/>
                          <a:cs typeface="Arial"/>
                        </a:rPr>
                        <a:t>Productie en capaciteit</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q in kg per week, maximaal 80 kg</a:t>
                      </a:r>
                    </a:p>
                  </a:txBody>
                  <a:tcPr marL="91440" marR="91440" marT="45720" marB="45720" anchor="ctr">
                    <a:solidFill>
                      <a:srgbClr val="FFFFFF"/>
                    </a:solidFill>
                  </a:tcPr>
                </a:tc>
              </a:tr>
              <a:tr h="912495">
                <a:tc>
                  <a:txBody>
                    <a:bodyPr lIns="171450" tIns="95250" rIns="152400" bIns="95250"/>
                    <a:lstStyle/>
                    <a:p>
                      <a:r>
                        <a:rPr sz="2550" b="0">
                          <a:solidFill>
                            <a:srgbClr val="183247"/>
                          </a:solidFill>
                          <a:latin typeface="Arial"/>
                          <a:ea typeface="Arial"/>
                          <a:cs typeface="Arial"/>
                        </a:rPr>
                        <a:t>Kosten en lange termijn</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Inclusief normale beloning; minimum GTK = € 7 bij q = 30</a:t>
                      </a:r>
                    </a:p>
                  </a:txBody>
                  <a:tcPr marL="91440" marR="91440" marT="45720" marB="45720" anchor="ctr">
                    <a:solidFill>
                      <a:srgbClr val="EFF4F7"/>
                    </a:solidFill>
                  </a:tcPr>
                </a:tc>
              </a:tr>
            </a:tbl>
          </a:graphicData>
        </a:graphic>
      </p:graphicFrame>
      <p:sp>
        <p:nvSpPr>
          <p:cNvPr id="6" name="Vrije toe- en uittreding. Vraag en kosten blijven gelijk.">
            <a:extLst xmlns:a="http://schemas.openxmlformats.org/drawingml/2006/main">
              <a:ext uri="{FF2B5EF4-FFF2-40B4-BE49-F238E27FC236}">
                <a16:creationId xmlns:a16="http://schemas.microsoft.com/office/drawing/2014/main" id="{5943AB65-5717-4FCB-8860-262E3071FAC4}"/>
              </a:ext>
            </a:extLst>
          </p:cNvPr>
          <p:cNvSpPr>
            <a:spLocks xmlns:a="http://schemas.openxmlformats.org/drawingml/2006/main" noGrp="1"/>
          </p:cNvSpPr>
          <p:nvPr/>
        </p:nvSpPr>
        <p:spPr>
          <a:xfrm xmlns:a="http://schemas.openxmlformats.org/drawingml/2006/main">
            <a:off x="571500" y="70675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Vrije toe- en uittreding. Vraag en kosten blijven gelijk.</a:t>
            </a:r>
          </a:p>
        </p:txBody>
      </p:sp>
    </p:spTree>
    <p:extLst>
      <p:ext uri="{BB962C8B-B14F-4D97-AF65-F5344CB8AC3E}">
        <p14:creationId xmlns:p14="http://schemas.microsoft.com/office/powerpoint/2010/main" val="17806494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beginproductie bepalen">
            <a:extLst xmlns:a="http://schemas.openxmlformats.org/drawingml/2006/main">
              <a:ext uri="{FF2B5EF4-FFF2-40B4-BE49-F238E27FC236}">
                <a16:creationId xmlns:a16="http://schemas.microsoft.com/office/drawing/2014/main" id="{B1F65FFC-D293-4737-B0FE-B0864B8CF08B}"/>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beginproductie bepalen</a:t>
            </a:r>
          </a:p>
        </p:txBody>
      </p:sp>
      <p:sp>
        <p:nvSpPr>
          <p:cNvPr id="2" name="">
            <a:extLst xmlns:a="http://schemas.openxmlformats.org/drawingml/2006/main">
              <a:ext uri="{FF2B5EF4-FFF2-40B4-BE49-F238E27FC236}">
                <a16:creationId xmlns:a16="http://schemas.microsoft.com/office/drawing/2014/main" id="{2032F58B-7620-464A-898C-5870C8504A3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A6A57DBB-8FFF-451C-8076-C9AA4C754DA7}"/>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5">
            <a:extLst xmlns:a="http://schemas.openxmlformats.org/drawingml/2006/main">
              <a:ext uri="{FF2B5EF4-FFF2-40B4-BE49-F238E27FC236}">
                <a16:creationId xmlns:a16="http://schemas.microsoft.com/office/drawing/2014/main" id="{DAB64E25-7982-4010-A9BF-5627BA37FA05}"/>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TK = 0,10q² + q + 90     ⇒     MK = 0,20q + 1">
            <a:extLst xmlns:a="http://schemas.openxmlformats.org/drawingml/2006/main">
              <a:ext uri="{FF2B5EF4-FFF2-40B4-BE49-F238E27FC236}">
                <a16:creationId xmlns:a16="http://schemas.microsoft.com/office/drawing/2014/main" id="{AB994E34-726A-4EB2-A716-E1E7BC266C31}"/>
              </a:ext>
            </a:extLst>
          </p:cNvPr>
          <p:cNvSpPr>
            <a:spLocks xmlns:a="http://schemas.openxmlformats.org/drawingml/2006/main" noGrp="1"/>
          </p:cNvSpPr>
          <p:nvPr/>
        </p:nvSpPr>
        <p:spPr>
          <a:xfrm xmlns:a="http://schemas.openxmlformats.org/drawingml/2006/main">
            <a:off x="571500" y="2143125"/>
            <a:ext cx="14097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TK = 0,10q² + q + 90     ⇒     MK = 0,20q + 1</a:t>
            </a:r>
          </a:p>
        </p:txBody>
      </p:sp>
      <p:sp>
        <p:nvSpPr>
          <p:cNvPr id="6" name="MO = P = 11     ⇒     11 = 0,20q + 1">
            <a:extLst xmlns:a="http://schemas.openxmlformats.org/drawingml/2006/main">
              <a:ext uri="{FF2B5EF4-FFF2-40B4-BE49-F238E27FC236}">
                <a16:creationId xmlns:a16="http://schemas.microsoft.com/office/drawing/2014/main" id="{FBDF433D-F2FD-4648-867C-1AA968503E85}"/>
              </a:ext>
            </a:extLst>
          </p:cNvPr>
          <p:cNvSpPr>
            <a:spLocks xmlns:a="http://schemas.openxmlformats.org/drawingml/2006/main" noGrp="1"/>
          </p:cNvSpPr>
          <p:nvPr/>
        </p:nvSpPr>
        <p:spPr>
          <a:xfrm xmlns:a="http://schemas.openxmlformats.org/drawingml/2006/main">
            <a:off x="571500" y="3476625"/>
            <a:ext cx="14097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MO = P = 11     ⇒     11 = 0,20q + 1</a:t>
            </a:r>
          </a:p>
        </p:txBody>
      </p:sp>
      <p:sp>
        <p:nvSpPr>
          <p:cNvPr id="7" name="10 = 0,20q     ⇒     q = 50 kg per week">
            <a:extLst xmlns:a="http://schemas.openxmlformats.org/drawingml/2006/main">
              <a:ext uri="{FF2B5EF4-FFF2-40B4-BE49-F238E27FC236}">
                <a16:creationId xmlns:a16="http://schemas.microsoft.com/office/drawing/2014/main" id="{8763D642-6616-45DD-89DF-B8409652CE6E}"/>
              </a:ext>
            </a:extLst>
          </p:cNvPr>
          <p:cNvSpPr>
            <a:spLocks xmlns:a="http://schemas.openxmlformats.org/drawingml/2006/main" noGrp="1"/>
          </p:cNvSpPr>
          <p:nvPr/>
        </p:nvSpPr>
        <p:spPr>
          <a:xfrm xmlns:a="http://schemas.openxmlformats.org/drawingml/2006/main">
            <a:off x="571500" y="4810125"/>
            <a:ext cx="14097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10 = 0,20q     ⇒     q = 50 kg per week</a:t>
            </a:r>
          </a:p>
        </p:txBody>
      </p:sp>
      <p:sp>
        <p:nvSpPr>
          <p:cNvPr id="8" name="50 ≤ 80; MK stijgt door MO heen">
            <a:extLst xmlns:a="http://schemas.openxmlformats.org/drawingml/2006/main">
              <a:ext uri="{FF2B5EF4-FFF2-40B4-BE49-F238E27FC236}">
                <a16:creationId xmlns:a16="http://schemas.microsoft.com/office/drawing/2014/main" id="{EDAFA820-23BA-41C6-A142-C4656B3F2CB2}"/>
              </a:ext>
            </a:extLst>
          </p:cNvPr>
          <p:cNvSpPr>
            <a:spLocks xmlns:a="http://schemas.openxmlformats.org/drawingml/2006/main" noGrp="1"/>
          </p:cNvSpPr>
          <p:nvPr/>
        </p:nvSpPr>
        <p:spPr>
          <a:xfrm xmlns:a="http://schemas.openxmlformats.org/drawingml/2006/main">
            <a:off x="571500" y="6143625"/>
            <a:ext cx="14097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50 ≤ 80; MK stijgt door MO heen</a:t>
            </a:r>
          </a:p>
        </p:txBody>
      </p:sp>
    </p:spTree>
    <p:extLst>
      <p:ext uri="{BB962C8B-B14F-4D97-AF65-F5344CB8AC3E}">
        <p14:creationId xmlns:p14="http://schemas.microsoft.com/office/powerpoint/2010/main" val="2607325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economische winst bij de beginprijs">
            <a:extLst xmlns:a="http://schemas.openxmlformats.org/drawingml/2006/main">
              <a:ext uri="{FF2B5EF4-FFF2-40B4-BE49-F238E27FC236}">
                <a16:creationId xmlns:a16="http://schemas.microsoft.com/office/drawing/2014/main" id="{7C6FA5CB-66E6-4969-9E3E-180FD279EB2A}"/>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economische winst bij de beginprijs</a:t>
            </a:r>
          </a:p>
        </p:txBody>
      </p:sp>
      <p:sp>
        <p:nvSpPr>
          <p:cNvPr id="2" name="">
            <a:extLst xmlns:a="http://schemas.openxmlformats.org/drawingml/2006/main">
              <a:ext uri="{FF2B5EF4-FFF2-40B4-BE49-F238E27FC236}">
                <a16:creationId xmlns:a16="http://schemas.microsoft.com/office/drawing/2014/main" id="{2DAD4E0E-331E-41BA-9E8B-D7D2ED6233C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28458409-E86A-41C8-B3B6-7D81560EE995}"/>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6">
            <a:extLst xmlns:a="http://schemas.openxmlformats.org/drawingml/2006/main">
              <a:ext uri="{FF2B5EF4-FFF2-40B4-BE49-F238E27FC236}">
                <a16:creationId xmlns:a16="http://schemas.microsoft.com/office/drawing/2014/main" id="{399E0598-A5DC-4579-9204-DA7F68989326}"/>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TO = 11 × 50 = € 550 per week">
            <a:extLst xmlns:a="http://schemas.openxmlformats.org/drawingml/2006/main">
              <a:ext uri="{FF2B5EF4-FFF2-40B4-BE49-F238E27FC236}">
                <a16:creationId xmlns:a16="http://schemas.microsoft.com/office/drawing/2014/main" id="{0A2058E4-9352-422C-B986-194FFD2212C6}"/>
              </a:ext>
            </a:extLst>
          </p:cNvPr>
          <p:cNvSpPr>
            <a:spLocks xmlns:a="http://schemas.openxmlformats.org/drawingml/2006/main" noGrp="1"/>
          </p:cNvSpPr>
          <p:nvPr/>
        </p:nvSpPr>
        <p:spPr>
          <a:xfrm xmlns:a="http://schemas.openxmlformats.org/drawingml/2006/main">
            <a:off x="571500" y="2143125"/>
            <a:ext cx="14097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TO = 11 × 50 = € 550 per week</a:t>
            </a:r>
          </a:p>
        </p:txBody>
      </p:sp>
      <p:sp>
        <p:nvSpPr>
          <p:cNvPr id="6" name="TK = 0,10 × 50² + 50 + 90 = € 390 per week">
            <a:extLst xmlns:a="http://schemas.openxmlformats.org/drawingml/2006/main">
              <a:ext uri="{FF2B5EF4-FFF2-40B4-BE49-F238E27FC236}">
                <a16:creationId xmlns:a16="http://schemas.microsoft.com/office/drawing/2014/main" id="{9481F51D-723D-4D60-898A-22CEC5E2963C}"/>
              </a:ext>
            </a:extLst>
          </p:cNvPr>
          <p:cNvSpPr>
            <a:spLocks xmlns:a="http://schemas.openxmlformats.org/drawingml/2006/main" noGrp="1"/>
          </p:cNvSpPr>
          <p:nvPr/>
        </p:nvSpPr>
        <p:spPr>
          <a:xfrm xmlns:a="http://schemas.openxmlformats.org/drawingml/2006/main">
            <a:off x="571500" y="3486150"/>
            <a:ext cx="14097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TK = 0,10 × 50² + 50 + 90 = € 390 per week</a:t>
            </a:r>
          </a:p>
        </p:txBody>
      </p:sp>
      <p:sp>
        <p:nvSpPr>
          <p:cNvPr id="7" name="Economische winst = 550 − 390 = € 160 per week">
            <a:extLst xmlns:a="http://schemas.openxmlformats.org/drawingml/2006/main">
              <a:ext uri="{FF2B5EF4-FFF2-40B4-BE49-F238E27FC236}">
                <a16:creationId xmlns:a16="http://schemas.microsoft.com/office/drawing/2014/main" id="{AA52668C-1101-4BD2-A822-FB5EB51C56DA}"/>
              </a:ext>
            </a:extLst>
          </p:cNvPr>
          <p:cNvSpPr>
            <a:spLocks xmlns:a="http://schemas.openxmlformats.org/drawingml/2006/main" noGrp="1"/>
          </p:cNvSpPr>
          <p:nvPr/>
        </p:nvSpPr>
        <p:spPr>
          <a:xfrm xmlns:a="http://schemas.openxmlformats.org/drawingml/2006/main">
            <a:off x="571500" y="4829175"/>
            <a:ext cx="14097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Economische winst = 550 − 390 = € 160 per week</a:t>
            </a:r>
          </a:p>
        </p:txBody>
      </p:sp>
      <p:sp>
        <p:nvSpPr>
          <p:cNvPr id="8" name="GTK = 390 / 50 = € 7,80 per kg">
            <a:extLst xmlns:a="http://schemas.openxmlformats.org/drawingml/2006/main">
              <a:ext uri="{FF2B5EF4-FFF2-40B4-BE49-F238E27FC236}">
                <a16:creationId xmlns:a16="http://schemas.microsoft.com/office/drawing/2014/main" id="{DB95FEAC-7CC2-4C25-9D3F-313B50ABBB57}"/>
              </a:ext>
            </a:extLst>
          </p:cNvPr>
          <p:cNvSpPr>
            <a:spLocks xmlns:a="http://schemas.openxmlformats.org/drawingml/2006/main" noGrp="1"/>
          </p:cNvSpPr>
          <p:nvPr/>
        </p:nvSpPr>
        <p:spPr>
          <a:xfrm xmlns:a="http://schemas.openxmlformats.org/drawingml/2006/main">
            <a:off x="571500" y="6172200"/>
            <a:ext cx="14097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GTK = 390 / 50 = € 7,80 per kg</a:t>
            </a:r>
          </a:p>
        </p:txBody>
      </p:sp>
    </p:spTree>
    <p:extLst>
      <p:ext uri="{BB962C8B-B14F-4D97-AF65-F5344CB8AC3E}">
        <p14:creationId xmlns:p14="http://schemas.microsoft.com/office/powerpoint/2010/main" val="99209414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markt vóór toetreding">
            <a:extLst xmlns:a="http://schemas.openxmlformats.org/drawingml/2006/main">
              <a:ext uri="{FF2B5EF4-FFF2-40B4-BE49-F238E27FC236}">
                <a16:creationId xmlns:a16="http://schemas.microsoft.com/office/drawing/2014/main" id="{34F72053-D00D-422A-922F-26D61330FCBF}"/>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markt vóór toetreding</a:t>
            </a:r>
          </a:p>
        </p:txBody>
      </p:sp>
      <p:sp>
        <p:nvSpPr>
          <p:cNvPr id="2" name="">
            <a:extLst xmlns:a="http://schemas.openxmlformats.org/drawingml/2006/main">
              <a:ext uri="{FF2B5EF4-FFF2-40B4-BE49-F238E27FC236}">
                <a16:creationId xmlns:a16="http://schemas.microsoft.com/office/drawing/2014/main" id="{87C32938-0704-45E4-9F9F-C000E52341D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E51FEB10-9065-495D-BF95-4B9C3C0AD82D}"/>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7">
            <a:extLst xmlns:a="http://schemas.openxmlformats.org/drawingml/2006/main">
              <a:ext uri="{FF2B5EF4-FFF2-40B4-BE49-F238E27FC236}">
                <a16:creationId xmlns:a16="http://schemas.microsoft.com/office/drawing/2014/main" id="{FBE84BA4-3917-49B6-B243-7F29D721562C}"/>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graphicFrame>
        <p:nvGraphicFramePr>
          <p:cNvPr id="13" name="Chart"/>
          <p:cNvGraphicFramePr/>
          <p:nvPr/>
        </p:nvGraphicFramePr>
        <p:xfrm>
          <a:off xmlns:a="http://schemas.openxmlformats.org/drawingml/2006/main" x="571500" y="2286000"/>
          <a:ext xmlns:a="http://schemas.openxmlformats.org/drawingml/2006/main" cx="10001250" cy="5381625"/>
        </p:xfrm>
        <a:graphic xmlns:a="http://schemas.openxmlformats.org/drawingml/2006/main">
          <a:graphicData uri="http://schemas.openxmlformats.org/drawingml/2006/chart">
            <c:chart xmlns:r="http://schemas.openxmlformats.org/officeDocument/2006/relationships" xmlns:c="http://schemas.openxmlformats.org/drawingml/2006/chart" r:id="R8e78cfe58a7d4215"/>
          </a:graphicData>
        </a:graphic>
      </p:graphicFrame>
      <p:sp>
        <p:nvSpPr>
          <p:cNvPr id="6" name="Beginpunt E₀">
            <a:extLst xmlns:a="http://schemas.openxmlformats.org/drawingml/2006/main">
              <a:ext uri="{FF2B5EF4-FFF2-40B4-BE49-F238E27FC236}">
                <a16:creationId xmlns:a16="http://schemas.microsoft.com/office/drawing/2014/main" id="{6F984421-4BCF-46B7-B149-66E302D95994}"/>
              </a:ext>
            </a:extLst>
          </p:cNvPr>
          <p:cNvSpPr>
            <a:spLocks xmlns:a="http://schemas.openxmlformats.org/drawingml/2006/main" noGrp="1"/>
          </p:cNvSpPr>
          <p:nvPr/>
        </p:nvSpPr>
        <p:spPr>
          <a:xfrm xmlns:a="http://schemas.openxmlformats.org/drawingml/2006/main">
            <a:off x="10953750" y="223837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Beginpunt E₀</a:t>
            </a:r>
          </a:p>
        </p:txBody>
      </p:sp>
      <p:sp>
        <p:nvSpPr>
          <p:cNvPr id="7" name="P = € 11 per kg&#10;Q = 40.000 kg&#10;per week">
            <a:extLst xmlns:a="http://schemas.openxmlformats.org/drawingml/2006/main">
              <a:ext uri="{FF2B5EF4-FFF2-40B4-BE49-F238E27FC236}">
                <a16:creationId xmlns:a16="http://schemas.microsoft.com/office/drawing/2014/main" id="{5CBFE492-FF0B-469F-AF27-90076ACD281B}"/>
              </a:ext>
            </a:extLst>
          </p:cNvPr>
          <p:cNvSpPr>
            <a:spLocks xmlns:a="http://schemas.openxmlformats.org/drawingml/2006/main" noGrp="1"/>
          </p:cNvSpPr>
          <p:nvPr/>
        </p:nvSpPr>
        <p:spPr>
          <a:xfrm xmlns:a="http://schemas.openxmlformats.org/drawingml/2006/main">
            <a:off x="10953750" y="3429000"/>
            <a:ext cx="37147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 € 11 per kg</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 40.000 kg</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per week</a:t>
            </a:r>
          </a:p>
        </p:txBody>
      </p:sp>
      <p:sp>
        <p:nvSpPr>
          <p:cNvPr id="8" name="Q: alle bedrijven samen">
            <a:extLst xmlns:a="http://schemas.openxmlformats.org/drawingml/2006/main">
              <a:ext uri="{FF2B5EF4-FFF2-40B4-BE49-F238E27FC236}">
                <a16:creationId xmlns:a16="http://schemas.microsoft.com/office/drawing/2014/main" id="{40B2B312-EBD2-4352-91A6-07023D41C763}"/>
              </a:ext>
            </a:extLst>
          </p:cNvPr>
          <p:cNvSpPr>
            <a:spLocks xmlns:a="http://schemas.openxmlformats.org/drawingml/2006/main" noGrp="1"/>
          </p:cNvSpPr>
          <p:nvPr/>
        </p:nvSpPr>
        <p:spPr>
          <a:xfrm xmlns:a="http://schemas.openxmlformats.org/drawingml/2006/main">
            <a:off x="10953750" y="6534150"/>
            <a:ext cx="3714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Q: alle bedrijven samen</a:t>
            </a:r>
          </a:p>
        </p:txBody>
      </p:sp>
    </p:spTree>
    <p:extLst>
      <p:ext uri="{BB962C8B-B14F-4D97-AF65-F5344CB8AC3E}">
        <p14:creationId xmlns:p14="http://schemas.microsoft.com/office/powerpoint/2010/main" val="121638296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oetreding vergroot het marktaanbod">
            <a:extLst xmlns:a="http://schemas.openxmlformats.org/drawingml/2006/main">
              <a:ext uri="{FF2B5EF4-FFF2-40B4-BE49-F238E27FC236}">
                <a16:creationId xmlns:a16="http://schemas.microsoft.com/office/drawing/2014/main" id="{8E71B972-758F-4B92-98CD-DD059CDAAE91}"/>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Toetreding vergroot het marktaanbod</a:t>
            </a:r>
          </a:p>
        </p:txBody>
      </p:sp>
      <p:sp>
        <p:nvSpPr>
          <p:cNvPr id="2" name="">
            <a:extLst xmlns:a="http://schemas.openxmlformats.org/drawingml/2006/main">
              <a:ext uri="{FF2B5EF4-FFF2-40B4-BE49-F238E27FC236}">
                <a16:creationId xmlns:a16="http://schemas.microsoft.com/office/drawing/2014/main" id="{B383491C-CDA5-4587-9553-DB939B9D118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7A1BB175-179B-489B-B4F9-9BB02D198491}"/>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8">
            <a:extLst xmlns:a="http://schemas.openxmlformats.org/drawingml/2006/main">
              <a:ext uri="{FF2B5EF4-FFF2-40B4-BE49-F238E27FC236}">
                <a16:creationId xmlns:a16="http://schemas.microsoft.com/office/drawing/2014/main" id="{A0DFEC81-9CAA-413A-AFAA-67B14443FE6E}"/>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graphicFrame>
        <p:nvGraphicFramePr>
          <p:cNvPr id="13" name="Chart"/>
          <p:cNvGraphicFramePr/>
          <p:nvPr/>
        </p:nvGraphicFramePr>
        <p:xfrm>
          <a:off xmlns:a="http://schemas.openxmlformats.org/drawingml/2006/main" x="571500" y="2286000"/>
          <a:ext xmlns:a="http://schemas.openxmlformats.org/drawingml/2006/main" cx="10001250" cy="5381625"/>
        </p:xfrm>
        <a:graphic xmlns:a="http://schemas.openxmlformats.org/drawingml/2006/main">
          <a:graphicData uri="http://schemas.openxmlformats.org/drawingml/2006/chart">
            <c:chart xmlns:r="http://schemas.openxmlformats.org/officeDocument/2006/relationships" xmlns:c="http://schemas.openxmlformats.org/drawingml/2006/chart" r:id="Rbfd4ee33550b45c8"/>
          </a:graphicData>
        </a:graphic>
      </p:graphicFrame>
      <p:sp>
        <p:nvSpPr>
          <p:cNvPr id="6" name="Overwinst trekt&#10;bedrijven aan">
            <a:extLst xmlns:a="http://schemas.openxmlformats.org/drawingml/2006/main">
              <a:ext uri="{FF2B5EF4-FFF2-40B4-BE49-F238E27FC236}">
                <a16:creationId xmlns:a16="http://schemas.microsoft.com/office/drawing/2014/main" id="{F823048D-ADDB-46CE-A7AB-F2FAE89DA453}"/>
              </a:ext>
            </a:extLst>
          </p:cNvPr>
          <p:cNvSpPr>
            <a:spLocks xmlns:a="http://schemas.openxmlformats.org/drawingml/2006/main" noGrp="1"/>
          </p:cNvSpPr>
          <p:nvPr/>
        </p:nvSpPr>
        <p:spPr>
          <a:xfrm xmlns:a="http://schemas.openxmlformats.org/drawingml/2006/main">
            <a:off x="10953750" y="223837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Overwinst trekt</a:t>
            </a:r>
          </a:p>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bedrijven aan</a:t>
            </a:r>
          </a:p>
        </p:txBody>
      </p:sp>
      <p:sp>
        <p:nvSpPr>
          <p:cNvPr id="7" name="A₁ ligt rechts&#10;van A₀.&#10;&#10;P daalt: 11 → 7&#10;Q stijgt: 40 → 80">
            <a:extLst xmlns:a="http://schemas.openxmlformats.org/drawingml/2006/main">
              <a:ext uri="{FF2B5EF4-FFF2-40B4-BE49-F238E27FC236}">
                <a16:creationId xmlns:a16="http://schemas.microsoft.com/office/drawing/2014/main" id="{98D51248-7A16-49F3-A4D1-292E709A1319}"/>
              </a:ext>
            </a:extLst>
          </p:cNvPr>
          <p:cNvSpPr>
            <a:spLocks xmlns:a="http://schemas.openxmlformats.org/drawingml/2006/main" noGrp="1"/>
          </p:cNvSpPr>
          <p:nvPr/>
        </p:nvSpPr>
        <p:spPr>
          <a:xfrm xmlns:a="http://schemas.openxmlformats.org/drawingml/2006/main">
            <a:off x="10953750" y="3429000"/>
            <a:ext cx="37147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A₁ ligt rechts</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van A₀.</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daalt: 11 → 7</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stijgt: 40 → 80</a:t>
            </a:r>
          </a:p>
        </p:txBody>
      </p:sp>
      <p:sp>
        <p:nvSpPr>
          <p:cNvPr id="8" name="Q: × 1.000 kg&#10;per week">
            <a:extLst xmlns:a="http://schemas.openxmlformats.org/drawingml/2006/main">
              <a:ext uri="{FF2B5EF4-FFF2-40B4-BE49-F238E27FC236}">
                <a16:creationId xmlns:a16="http://schemas.microsoft.com/office/drawing/2014/main" id="{8C957FA4-3733-419B-ADE6-8BB9AD0D97BD}"/>
              </a:ext>
            </a:extLst>
          </p:cNvPr>
          <p:cNvSpPr>
            <a:spLocks xmlns:a="http://schemas.openxmlformats.org/drawingml/2006/main" noGrp="1"/>
          </p:cNvSpPr>
          <p:nvPr/>
        </p:nvSpPr>
        <p:spPr>
          <a:xfrm xmlns:a="http://schemas.openxmlformats.org/drawingml/2006/main">
            <a:off x="10953750" y="6534150"/>
            <a:ext cx="3714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Q: × 1.000 kg</a:t>
            </a:r>
          </a:p>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per week</a:t>
            </a:r>
          </a:p>
        </p:txBody>
      </p:sp>
    </p:spTree>
    <p:extLst>
      <p:ext uri="{BB962C8B-B14F-4D97-AF65-F5344CB8AC3E}">
        <p14:creationId xmlns:p14="http://schemas.microsoft.com/office/powerpoint/2010/main" val="16009242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én bedrijf bij de beginprijs">
            <a:extLst xmlns:a="http://schemas.openxmlformats.org/drawingml/2006/main">
              <a:ext uri="{FF2B5EF4-FFF2-40B4-BE49-F238E27FC236}">
                <a16:creationId xmlns:a16="http://schemas.microsoft.com/office/drawing/2014/main" id="{1465DC7E-5FA3-4586-B91F-494729602B2F}"/>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Eén bedrijf bij de beginprijs</a:t>
            </a:r>
          </a:p>
        </p:txBody>
      </p:sp>
      <p:sp>
        <p:nvSpPr>
          <p:cNvPr id="2" name="">
            <a:extLst xmlns:a="http://schemas.openxmlformats.org/drawingml/2006/main">
              <a:ext uri="{FF2B5EF4-FFF2-40B4-BE49-F238E27FC236}">
                <a16:creationId xmlns:a16="http://schemas.microsoft.com/office/drawing/2014/main" id="{CC231796-E11B-4CD9-8AE0-F08F51B55D6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893C57AB-BB10-4FD7-83E8-28278A8D1027}"/>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9">
            <a:extLst xmlns:a="http://schemas.openxmlformats.org/drawingml/2006/main">
              <a:ext uri="{FF2B5EF4-FFF2-40B4-BE49-F238E27FC236}">
                <a16:creationId xmlns:a16="http://schemas.microsoft.com/office/drawing/2014/main" id="{E984AB78-1BC7-48EB-98AD-6CA676F2D071}"/>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graphicFrame>
        <p:nvGraphicFramePr>
          <p:cNvPr id="13" name="Chart"/>
          <p:cNvGraphicFramePr/>
          <p:nvPr/>
        </p:nvGraphicFramePr>
        <p:xfrm>
          <a:off xmlns:a="http://schemas.openxmlformats.org/drawingml/2006/main" x="571500" y="2286000"/>
          <a:ext xmlns:a="http://schemas.openxmlformats.org/drawingml/2006/main" cx="10001250" cy="5381625"/>
        </p:xfrm>
        <a:graphic xmlns:a="http://schemas.openxmlformats.org/drawingml/2006/main">
          <a:graphicData uri="http://schemas.openxmlformats.org/drawingml/2006/chart">
            <c:chart xmlns:r="http://schemas.openxmlformats.org/officeDocument/2006/relationships" xmlns:c="http://schemas.openxmlformats.org/drawingml/2006/chart" r:id="R73333fcfaf914680"/>
          </a:graphicData>
        </a:graphic>
      </p:graphicFrame>
      <p:sp>
        <p:nvSpPr>
          <p:cNvPr id="6" name="P₀ = € 11 per kg">
            <a:extLst xmlns:a="http://schemas.openxmlformats.org/drawingml/2006/main">
              <a:ext uri="{FF2B5EF4-FFF2-40B4-BE49-F238E27FC236}">
                <a16:creationId xmlns:a16="http://schemas.microsoft.com/office/drawing/2014/main" id="{4B83B996-4FFB-4B5D-810F-0B2197E850D7}"/>
              </a:ext>
            </a:extLst>
          </p:cNvPr>
          <p:cNvSpPr>
            <a:spLocks xmlns:a="http://schemas.openxmlformats.org/drawingml/2006/main" noGrp="1"/>
          </p:cNvSpPr>
          <p:nvPr/>
        </p:nvSpPr>
        <p:spPr>
          <a:xfrm xmlns:a="http://schemas.openxmlformats.org/drawingml/2006/main">
            <a:off x="10953750" y="223837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P₀ = € 11 per kg</a:t>
            </a:r>
          </a:p>
        </p:txBody>
      </p:sp>
      <p:sp>
        <p:nvSpPr>
          <p:cNvPr id="7" name="MO = MK&#10;q = 50 kg&#10;per week&#10;&#10;P₀ &gt; GTK">
            <a:extLst xmlns:a="http://schemas.openxmlformats.org/drawingml/2006/main">
              <a:ext uri="{FF2B5EF4-FFF2-40B4-BE49-F238E27FC236}">
                <a16:creationId xmlns:a16="http://schemas.microsoft.com/office/drawing/2014/main" id="{11CCA140-ADA2-417F-BB39-815615EC292E}"/>
              </a:ext>
            </a:extLst>
          </p:cNvPr>
          <p:cNvSpPr>
            <a:spLocks xmlns:a="http://schemas.openxmlformats.org/drawingml/2006/main" noGrp="1"/>
          </p:cNvSpPr>
          <p:nvPr/>
        </p:nvSpPr>
        <p:spPr>
          <a:xfrm xmlns:a="http://schemas.openxmlformats.org/drawingml/2006/main">
            <a:off x="10953750" y="3429000"/>
            <a:ext cx="37147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MO = MK</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 50 kg</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per week</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P₀ &gt; GTK</a:t>
            </a:r>
          </a:p>
        </p:txBody>
      </p:sp>
      <p:sp>
        <p:nvSpPr>
          <p:cNvPr id="8" name="Economische winst:&#10;€ 160 per week">
            <a:extLst xmlns:a="http://schemas.openxmlformats.org/drawingml/2006/main">
              <a:ext uri="{FF2B5EF4-FFF2-40B4-BE49-F238E27FC236}">
                <a16:creationId xmlns:a16="http://schemas.microsoft.com/office/drawing/2014/main" id="{DA059BF2-AE8D-4B3E-AF92-A0B082E2AFCB}"/>
              </a:ext>
            </a:extLst>
          </p:cNvPr>
          <p:cNvSpPr>
            <a:spLocks xmlns:a="http://schemas.openxmlformats.org/drawingml/2006/main" noGrp="1"/>
          </p:cNvSpPr>
          <p:nvPr/>
        </p:nvSpPr>
        <p:spPr>
          <a:xfrm xmlns:a="http://schemas.openxmlformats.org/drawingml/2006/main">
            <a:off x="10953750" y="6534150"/>
            <a:ext cx="3714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Economische winst:</a:t>
            </a:r>
          </a:p>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€ 160 per week</a:t>
            </a:r>
          </a:p>
        </p:txBody>
      </p:sp>
    </p:spTree>
    <p:extLst>
      <p:ext uri="{BB962C8B-B14F-4D97-AF65-F5344CB8AC3E}">
        <p14:creationId xmlns:p14="http://schemas.microsoft.com/office/powerpoint/2010/main" val="145217446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Meer bedrijven, minder productie per bedrijf">
            <a:extLst xmlns:a="http://schemas.openxmlformats.org/drawingml/2006/main">
              <a:ext uri="{FF2B5EF4-FFF2-40B4-BE49-F238E27FC236}">
                <a16:creationId xmlns:a16="http://schemas.microsoft.com/office/drawing/2014/main" id="{E65CCA7F-6D70-477D-9C05-99A99845375D}"/>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Meer bedrijven, minder productie per bedrijf</a:t>
            </a:r>
          </a:p>
        </p:txBody>
      </p:sp>
      <p:sp>
        <p:nvSpPr>
          <p:cNvPr id="2" name="">
            <a:extLst xmlns:a="http://schemas.openxmlformats.org/drawingml/2006/main">
              <a:ext uri="{FF2B5EF4-FFF2-40B4-BE49-F238E27FC236}">
                <a16:creationId xmlns:a16="http://schemas.microsoft.com/office/drawing/2014/main" id="{79D771FC-30D5-4F38-9DF8-4DDA4154C96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913D2B0B-D03A-4689-B3BE-72998A0538DD}"/>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0">
            <a:extLst xmlns:a="http://schemas.openxmlformats.org/drawingml/2006/main">
              <a:ext uri="{FF2B5EF4-FFF2-40B4-BE49-F238E27FC236}">
                <a16:creationId xmlns:a16="http://schemas.microsoft.com/office/drawing/2014/main" id="{DF958C5F-61A1-471A-8D6F-9B12EA861574}"/>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graphicFrame>
        <p:nvGraphicFramePr>
          <p:cNvPr id="13" name="Chart"/>
          <p:cNvGraphicFramePr/>
          <p:nvPr/>
        </p:nvGraphicFramePr>
        <p:xfrm>
          <a:off xmlns:a="http://schemas.openxmlformats.org/drawingml/2006/main" x="571500" y="2286000"/>
          <a:ext xmlns:a="http://schemas.openxmlformats.org/drawingml/2006/main" cx="10001250" cy="5381625"/>
        </p:xfrm>
        <a:graphic xmlns:a="http://schemas.openxmlformats.org/drawingml/2006/main">
          <a:graphicData uri="http://schemas.openxmlformats.org/drawingml/2006/chart">
            <c:chart xmlns:r="http://schemas.openxmlformats.org/officeDocument/2006/relationships" xmlns:c="http://schemas.openxmlformats.org/drawingml/2006/chart" r:id="R37c204d9df10477a"/>
          </a:graphicData>
        </a:graphic>
      </p:graphicFrame>
      <p:sp>
        <p:nvSpPr>
          <p:cNvPr id="6" name="P₁ = € 7 per kg">
            <a:extLst xmlns:a="http://schemas.openxmlformats.org/drawingml/2006/main">
              <a:ext uri="{FF2B5EF4-FFF2-40B4-BE49-F238E27FC236}">
                <a16:creationId xmlns:a16="http://schemas.microsoft.com/office/drawing/2014/main" id="{C587F3D2-7DA0-4E7E-A394-19BEA44F1BBC}"/>
              </a:ext>
            </a:extLst>
          </p:cNvPr>
          <p:cNvSpPr>
            <a:spLocks xmlns:a="http://schemas.openxmlformats.org/drawingml/2006/main" noGrp="1"/>
          </p:cNvSpPr>
          <p:nvPr/>
        </p:nvSpPr>
        <p:spPr>
          <a:xfrm xmlns:a="http://schemas.openxmlformats.org/drawingml/2006/main">
            <a:off x="10953750" y="223837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P₁ = € 7 per kg</a:t>
            </a:r>
          </a:p>
        </p:txBody>
      </p:sp>
      <p:sp>
        <p:nvSpPr>
          <p:cNvPr id="7" name="7 = 0,20q + 1&#10;q = 30 kg&#10;per week&#10;&#10;MK en GTK blijven.">
            <a:extLst xmlns:a="http://schemas.openxmlformats.org/drawingml/2006/main">
              <a:ext uri="{FF2B5EF4-FFF2-40B4-BE49-F238E27FC236}">
                <a16:creationId xmlns:a16="http://schemas.microsoft.com/office/drawing/2014/main" id="{17FC1E08-452A-4CAC-8DF2-9E0A7CA292D0}"/>
              </a:ext>
            </a:extLst>
          </p:cNvPr>
          <p:cNvSpPr>
            <a:spLocks xmlns:a="http://schemas.openxmlformats.org/drawingml/2006/main" noGrp="1"/>
          </p:cNvSpPr>
          <p:nvPr/>
        </p:nvSpPr>
        <p:spPr>
          <a:xfrm xmlns:a="http://schemas.openxmlformats.org/drawingml/2006/main">
            <a:off x="10953750" y="3429000"/>
            <a:ext cx="37147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7 = 0,20q + 1</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 30 kg</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per week</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MK en GTK blijven.</a:t>
            </a:r>
          </a:p>
        </p:txBody>
      </p:sp>
      <p:sp>
        <p:nvSpPr>
          <p:cNvPr id="8" name="Markt Q stijgt.&#10;Bedrijfs-q daalt.">
            <a:extLst xmlns:a="http://schemas.openxmlformats.org/drawingml/2006/main">
              <a:ext uri="{FF2B5EF4-FFF2-40B4-BE49-F238E27FC236}">
                <a16:creationId xmlns:a16="http://schemas.microsoft.com/office/drawing/2014/main" id="{66909069-57EF-4837-BCAF-967014F87333}"/>
              </a:ext>
            </a:extLst>
          </p:cNvPr>
          <p:cNvSpPr>
            <a:spLocks xmlns:a="http://schemas.openxmlformats.org/drawingml/2006/main" noGrp="1"/>
          </p:cNvSpPr>
          <p:nvPr/>
        </p:nvSpPr>
        <p:spPr>
          <a:xfrm xmlns:a="http://schemas.openxmlformats.org/drawingml/2006/main">
            <a:off x="10953750" y="6534150"/>
            <a:ext cx="3714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Markt Q stijgt.</a:t>
            </a:r>
          </a:p>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Bedrijfs-q daalt.</a:t>
            </a:r>
          </a:p>
        </p:txBody>
      </p:sp>
    </p:spTree>
    <p:extLst>
      <p:ext uri="{BB962C8B-B14F-4D97-AF65-F5344CB8AC3E}">
        <p14:creationId xmlns:p14="http://schemas.microsoft.com/office/powerpoint/2010/main" val="73765510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Het langetermijnevenwicht controleren">
            <a:extLst xmlns:a="http://schemas.openxmlformats.org/drawingml/2006/main">
              <a:ext uri="{FF2B5EF4-FFF2-40B4-BE49-F238E27FC236}">
                <a16:creationId xmlns:a16="http://schemas.microsoft.com/office/drawing/2014/main" id="{DAA03AB6-686B-4563-9428-C6EB476C227D}"/>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Het langetermijnevenwicht controleren</a:t>
            </a:r>
          </a:p>
        </p:txBody>
      </p:sp>
      <p:sp>
        <p:nvSpPr>
          <p:cNvPr id="2" name="">
            <a:extLst xmlns:a="http://schemas.openxmlformats.org/drawingml/2006/main">
              <a:ext uri="{FF2B5EF4-FFF2-40B4-BE49-F238E27FC236}">
                <a16:creationId xmlns:a16="http://schemas.microsoft.com/office/drawing/2014/main" id="{C2ECB8D3-3F8E-4306-95DD-5F30D7900C7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5D1C5850-8229-4355-9977-B74B3EEAED56}"/>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1">
            <a:extLst xmlns:a="http://schemas.openxmlformats.org/drawingml/2006/main">
              <a:ext uri="{FF2B5EF4-FFF2-40B4-BE49-F238E27FC236}">
                <a16:creationId xmlns:a16="http://schemas.microsoft.com/office/drawing/2014/main" id="{C710D28A-12CB-40BB-8B24-F80CD2C9AC5D}"/>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P = MO = MK = minimum GTK = € 7 per kg">
            <a:extLst xmlns:a="http://schemas.openxmlformats.org/drawingml/2006/main">
              <a:ext uri="{FF2B5EF4-FFF2-40B4-BE49-F238E27FC236}">
                <a16:creationId xmlns:a16="http://schemas.microsoft.com/office/drawing/2014/main" id="{66E18A19-D79D-4193-AC9F-B9DB8C042A49}"/>
              </a:ext>
            </a:extLst>
          </p:cNvPr>
          <p:cNvSpPr>
            <a:spLocks xmlns:a="http://schemas.openxmlformats.org/drawingml/2006/main" noGrp="1"/>
          </p:cNvSpPr>
          <p:nvPr/>
        </p:nvSpPr>
        <p:spPr>
          <a:xfrm xmlns:a="http://schemas.openxmlformats.org/drawingml/2006/main">
            <a:off x="571500" y="2143125"/>
            <a:ext cx="14097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P = MO = MK = minimum GTK = € 7 per kg</a:t>
            </a:r>
          </a:p>
        </p:txBody>
      </p:sp>
      <p:sp>
        <p:nvSpPr>
          <p:cNvPr id="6" name="TO = 7 × 30 = € 210 per week">
            <a:extLst xmlns:a="http://schemas.openxmlformats.org/drawingml/2006/main">
              <a:ext uri="{FF2B5EF4-FFF2-40B4-BE49-F238E27FC236}">
                <a16:creationId xmlns:a16="http://schemas.microsoft.com/office/drawing/2014/main" id="{81D3160D-9B05-47B5-AC55-79057F27F5EB}"/>
              </a:ext>
            </a:extLst>
          </p:cNvPr>
          <p:cNvSpPr>
            <a:spLocks xmlns:a="http://schemas.openxmlformats.org/drawingml/2006/main" noGrp="1"/>
          </p:cNvSpPr>
          <p:nvPr/>
        </p:nvSpPr>
        <p:spPr>
          <a:xfrm xmlns:a="http://schemas.openxmlformats.org/drawingml/2006/main">
            <a:off x="571500" y="3486150"/>
            <a:ext cx="14097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TO = 7 × 30 = € 210 per week</a:t>
            </a:r>
          </a:p>
        </p:txBody>
      </p:sp>
      <p:sp>
        <p:nvSpPr>
          <p:cNvPr id="7" name="TK = 0,10 × 30² + 30 + 90 = € 210 per week">
            <a:extLst xmlns:a="http://schemas.openxmlformats.org/drawingml/2006/main">
              <a:ext uri="{FF2B5EF4-FFF2-40B4-BE49-F238E27FC236}">
                <a16:creationId xmlns:a16="http://schemas.microsoft.com/office/drawing/2014/main" id="{BE4E73EA-B93E-4A3A-A8AB-494F234B8373}"/>
              </a:ext>
            </a:extLst>
          </p:cNvPr>
          <p:cNvSpPr>
            <a:spLocks xmlns:a="http://schemas.openxmlformats.org/drawingml/2006/main" noGrp="1"/>
          </p:cNvSpPr>
          <p:nvPr/>
        </p:nvSpPr>
        <p:spPr>
          <a:xfrm xmlns:a="http://schemas.openxmlformats.org/drawingml/2006/main">
            <a:off x="571500" y="4829175"/>
            <a:ext cx="14097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TK = 0,10 × 30² + 30 + 90 = € 210 per week</a:t>
            </a:r>
          </a:p>
        </p:txBody>
      </p:sp>
      <p:sp>
        <p:nvSpPr>
          <p:cNvPr id="8" name="Economische winst = € 0; normale beloning in TK">
            <a:extLst xmlns:a="http://schemas.openxmlformats.org/drawingml/2006/main">
              <a:ext uri="{FF2B5EF4-FFF2-40B4-BE49-F238E27FC236}">
                <a16:creationId xmlns:a16="http://schemas.microsoft.com/office/drawing/2014/main" id="{40F0F613-A7AC-45C6-A735-4213E5B8161A}"/>
              </a:ext>
            </a:extLst>
          </p:cNvPr>
          <p:cNvSpPr>
            <a:spLocks xmlns:a="http://schemas.openxmlformats.org/drawingml/2006/main" noGrp="1"/>
          </p:cNvSpPr>
          <p:nvPr/>
        </p:nvSpPr>
        <p:spPr>
          <a:xfrm xmlns:a="http://schemas.openxmlformats.org/drawingml/2006/main">
            <a:off x="571500" y="6172200"/>
            <a:ext cx="14097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Economische winst = € 0; normale beloning in TK</a:t>
            </a:r>
          </a:p>
        </p:txBody>
      </p:sp>
    </p:spTree>
    <p:extLst>
      <p:ext uri="{BB962C8B-B14F-4D97-AF65-F5344CB8AC3E}">
        <p14:creationId xmlns:p14="http://schemas.microsoft.com/office/powerpoint/2010/main" val="28878895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en andere beginsituatie: aanhoudend verlies">
            <a:extLst xmlns:a="http://schemas.openxmlformats.org/drawingml/2006/main">
              <a:ext uri="{FF2B5EF4-FFF2-40B4-BE49-F238E27FC236}">
                <a16:creationId xmlns:a16="http://schemas.microsoft.com/office/drawing/2014/main" id="{61C63158-6FA3-4720-A7EC-7D40BFBAEC81}"/>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andere beginsituatie: aanhoudend verlies</a:t>
            </a:r>
          </a:p>
        </p:txBody>
      </p:sp>
      <p:sp>
        <p:nvSpPr>
          <p:cNvPr id="2" name="">
            <a:extLst xmlns:a="http://schemas.openxmlformats.org/drawingml/2006/main">
              <a:ext uri="{FF2B5EF4-FFF2-40B4-BE49-F238E27FC236}">
                <a16:creationId xmlns:a16="http://schemas.microsoft.com/office/drawing/2014/main" id="{81532FA8-5DC5-489C-BC7C-13A892FC678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8CCCA085-0BA6-4151-8D88-EED8D9DEDA0D}"/>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2">
            <a:extLst xmlns:a="http://schemas.openxmlformats.org/drawingml/2006/main">
              <a:ext uri="{FF2B5EF4-FFF2-40B4-BE49-F238E27FC236}">
                <a16:creationId xmlns:a16="http://schemas.microsoft.com/office/drawing/2014/main" id="{90C465DC-0B15-4D1A-80A8-317BD05F9E8A}"/>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Dezelfde TK; nu P = € 5 per kg">
            <a:extLst xmlns:a="http://schemas.openxmlformats.org/drawingml/2006/main">
              <a:ext uri="{FF2B5EF4-FFF2-40B4-BE49-F238E27FC236}">
                <a16:creationId xmlns:a16="http://schemas.microsoft.com/office/drawing/2014/main" id="{2D9E02A2-622B-4361-95D9-5664CF947AB8}"/>
              </a:ext>
            </a:extLst>
          </p:cNvPr>
          <p:cNvSpPr>
            <a:spLocks xmlns:a="http://schemas.openxmlformats.org/drawingml/2006/main" noGrp="1"/>
          </p:cNvSpPr>
          <p:nvPr/>
        </p:nvSpPr>
        <p:spPr>
          <a:xfrm xmlns:a="http://schemas.openxmlformats.org/drawingml/2006/main">
            <a:off x="571500" y="2143125"/>
            <a:ext cx="14097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Dezelfde TK; nu P = € 5 per kg</a:t>
            </a:r>
          </a:p>
        </p:txBody>
      </p:sp>
      <p:sp>
        <p:nvSpPr>
          <p:cNvPr id="6" name="5 = 0,20q + 1     ⇒     q = 20 kg per week">
            <a:extLst xmlns:a="http://schemas.openxmlformats.org/drawingml/2006/main">
              <a:ext uri="{FF2B5EF4-FFF2-40B4-BE49-F238E27FC236}">
                <a16:creationId xmlns:a16="http://schemas.microsoft.com/office/drawing/2014/main" id="{B3D7DD5C-74FC-4AD7-8C0A-9D051F5848BE}"/>
              </a:ext>
            </a:extLst>
          </p:cNvPr>
          <p:cNvSpPr>
            <a:spLocks xmlns:a="http://schemas.openxmlformats.org/drawingml/2006/main" noGrp="1"/>
          </p:cNvSpPr>
          <p:nvPr/>
        </p:nvSpPr>
        <p:spPr>
          <a:xfrm xmlns:a="http://schemas.openxmlformats.org/drawingml/2006/main">
            <a:off x="571500" y="3476625"/>
            <a:ext cx="14097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5 = 0,20q + 1     ⇒     q = 20 kg per week</a:t>
            </a:r>
          </a:p>
        </p:txBody>
      </p:sp>
      <p:sp>
        <p:nvSpPr>
          <p:cNvPr id="7" name="TO = 5 × 20 = 100; TK = 40 + 20 + 90 = 150">
            <a:extLst xmlns:a="http://schemas.openxmlformats.org/drawingml/2006/main">
              <a:ext uri="{FF2B5EF4-FFF2-40B4-BE49-F238E27FC236}">
                <a16:creationId xmlns:a16="http://schemas.microsoft.com/office/drawing/2014/main" id="{52B67528-8A10-4AB2-8435-090BEC6D0456}"/>
              </a:ext>
            </a:extLst>
          </p:cNvPr>
          <p:cNvSpPr>
            <a:spLocks xmlns:a="http://schemas.openxmlformats.org/drawingml/2006/main" noGrp="1"/>
          </p:cNvSpPr>
          <p:nvPr/>
        </p:nvSpPr>
        <p:spPr>
          <a:xfrm xmlns:a="http://schemas.openxmlformats.org/drawingml/2006/main">
            <a:off x="571500" y="4810125"/>
            <a:ext cx="14097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TO = 5 × 20 = 100; TK = 40 + 20 + 90 = 150</a:t>
            </a:r>
          </a:p>
        </p:txBody>
      </p:sp>
      <p:sp>
        <p:nvSpPr>
          <p:cNvPr id="8" name="Economisch verlies = € 50 per week">
            <a:extLst xmlns:a="http://schemas.openxmlformats.org/drawingml/2006/main">
              <a:ext uri="{FF2B5EF4-FFF2-40B4-BE49-F238E27FC236}">
                <a16:creationId xmlns:a16="http://schemas.microsoft.com/office/drawing/2014/main" id="{20C0BE24-2B6E-485F-BC6A-F73E74BFE59D}"/>
              </a:ext>
            </a:extLst>
          </p:cNvPr>
          <p:cNvSpPr>
            <a:spLocks xmlns:a="http://schemas.openxmlformats.org/drawingml/2006/main" noGrp="1"/>
          </p:cNvSpPr>
          <p:nvPr/>
        </p:nvSpPr>
        <p:spPr>
          <a:xfrm xmlns:a="http://schemas.openxmlformats.org/drawingml/2006/main">
            <a:off x="571500" y="6143625"/>
            <a:ext cx="14097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Economisch verlies = € 50 per week</a:t>
            </a:r>
          </a:p>
        </p:txBody>
      </p:sp>
    </p:spTree>
    <p:extLst>
      <p:ext uri="{BB962C8B-B14F-4D97-AF65-F5344CB8AC3E}">
        <p14:creationId xmlns:p14="http://schemas.microsoft.com/office/powerpoint/2010/main" val="105632359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Uittreding verkleint het marktaanbod">
            <a:extLst xmlns:a="http://schemas.openxmlformats.org/drawingml/2006/main">
              <a:ext uri="{FF2B5EF4-FFF2-40B4-BE49-F238E27FC236}">
                <a16:creationId xmlns:a16="http://schemas.microsoft.com/office/drawing/2014/main" id="{5C0770E6-9192-4686-BF13-D2598CDD8E6B}"/>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Uittreding verkleint het marktaanbod</a:t>
            </a:r>
          </a:p>
        </p:txBody>
      </p:sp>
      <p:sp>
        <p:nvSpPr>
          <p:cNvPr id="2" name="">
            <a:extLst xmlns:a="http://schemas.openxmlformats.org/drawingml/2006/main">
              <a:ext uri="{FF2B5EF4-FFF2-40B4-BE49-F238E27FC236}">
                <a16:creationId xmlns:a16="http://schemas.microsoft.com/office/drawing/2014/main" id="{530D69DB-F65F-4FF5-A81C-4C1049C2D7D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15CE49C3-3593-43CF-B1F7-0AC405A3C09E}"/>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3">
            <a:extLst xmlns:a="http://schemas.openxmlformats.org/drawingml/2006/main">
              <a:ext uri="{FF2B5EF4-FFF2-40B4-BE49-F238E27FC236}">
                <a16:creationId xmlns:a16="http://schemas.microsoft.com/office/drawing/2014/main" id="{184759AA-95D6-4A3D-BDC9-7DC98145EC51}"/>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graphicFrame>
        <p:nvGraphicFramePr>
          <p:cNvPr id="13" name="Chart"/>
          <p:cNvGraphicFramePr/>
          <p:nvPr/>
        </p:nvGraphicFramePr>
        <p:xfrm>
          <a:off xmlns:a="http://schemas.openxmlformats.org/drawingml/2006/main" x="571500" y="2286000"/>
          <a:ext xmlns:a="http://schemas.openxmlformats.org/drawingml/2006/main" cx="10001250" cy="5381625"/>
        </p:xfrm>
        <a:graphic xmlns:a="http://schemas.openxmlformats.org/drawingml/2006/main">
          <a:graphicData uri="http://schemas.openxmlformats.org/drawingml/2006/chart">
            <c:chart xmlns:r="http://schemas.openxmlformats.org/officeDocument/2006/relationships" xmlns:c="http://schemas.openxmlformats.org/drawingml/2006/chart" r:id="R837783d433364122"/>
          </a:graphicData>
        </a:graphic>
      </p:graphicFrame>
      <p:sp>
        <p:nvSpPr>
          <p:cNvPr id="6" name="Een deel stopt">
            <a:extLst xmlns:a="http://schemas.openxmlformats.org/drawingml/2006/main">
              <a:ext uri="{FF2B5EF4-FFF2-40B4-BE49-F238E27FC236}">
                <a16:creationId xmlns:a16="http://schemas.microsoft.com/office/drawing/2014/main" id="{60D5ABA6-6A20-430B-B98B-C373F4B26210}"/>
              </a:ext>
            </a:extLst>
          </p:cNvPr>
          <p:cNvSpPr>
            <a:spLocks xmlns:a="http://schemas.openxmlformats.org/drawingml/2006/main" noGrp="1"/>
          </p:cNvSpPr>
          <p:nvPr/>
        </p:nvSpPr>
        <p:spPr>
          <a:xfrm xmlns:a="http://schemas.openxmlformats.org/drawingml/2006/main">
            <a:off x="10953750" y="223837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Een deel stopt</a:t>
            </a:r>
          </a:p>
        </p:txBody>
      </p:sp>
      <p:sp>
        <p:nvSpPr>
          <p:cNvPr id="7" name="A₁ ligt links&#10;van A₀.&#10;&#10;P stijgt: 5 → 7&#10;Q daalt: 100 → 80">
            <a:extLst xmlns:a="http://schemas.openxmlformats.org/drawingml/2006/main">
              <a:ext uri="{FF2B5EF4-FFF2-40B4-BE49-F238E27FC236}">
                <a16:creationId xmlns:a16="http://schemas.microsoft.com/office/drawing/2014/main" id="{69108670-F8A3-4BC7-A46A-A961126A9937}"/>
              </a:ext>
            </a:extLst>
          </p:cNvPr>
          <p:cNvSpPr>
            <a:spLocks xmlns:a="http://schemas.openxmlformats.org/drawingml/2006/main" noGrp="1"/>
          </p:cNvSpPr>
          <p:nvPr/>
        </p:nvSpPr>
        <p:spPr>
          <a:xfrm xmlns:a="http://schemas.openxmlformats.org/drawingml/2006/main">
            <a:off x="10953750" y="3429000"/>
            <a:ext cx="37147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A₁ ligt links</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van A₀.</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stijgt: 5 → 7</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daalt: 100 → 80</a:t>
            </a:r>
          </a:p>
        </p:txBody>
      </p:sp>
      <p:sp>
        <p:nvSpPr>
          <p:cNvPr id="8" name="Q: × 1.000 kg&#10;per week">
            <a:extLst xmlns:a="http://schemas.openxmlformats.org/drawingml/2006/main">
              <a:ext uri="{FF2B5EF4-FFF2-40B4-BE49-F238E27FC236}">
                <a16:creationId xmlns:a16="http://schemas.microsoft.com/office/drawing/2014/main" id="{6D77B567-D22C-4444-8286-EF884F5B0A7D}"/>
              </a:ext>
            </a:extLst>
          </p:cNvPr>
          <p:cNvSpPr>
            <a:spLocks xmlns:a="http://schemas.openxmlformats.org/drawingml/2006/main" noGrp="1"/>
          </p:cNvSpPr>
          <p:nvPr/>
        </p:nvSpPr>
        <p:spPr>
          <a:xfrm xmlns:a="http://schemas.openxmlformats.org/drawingml/2006/main">
            <a:off x="10953750" y="6534150"/>
            <a:ext cx="3714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Q: × 1.000 kg</a:t>
            </a:r>
          </a:p>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per week</a:t>
            </a:r>
          </a:p>
        </p:txBody>
      </p:sp>
    </p:spTree>
    <p:extLst>
      <p:ext uri="{BB962C8B-B14F-4D97-AF65-F5344CB8AC3E}">
        <p14:creationId xmlns:p14="http://schemas.microsoft.com/office/powerpoint/2010/main" val="212616848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en overblijvend bedrijf produceert meer">
            <a:extLst xmlns:a="http://schemas.openxmlformats.org/drawingml/2006/main">
              <a:ext uri="{FF2B5EF4-FFF2-40B4-BE49-F238E27FC236}">
                <a16:creationId xmlns:a16="http://schemas.microsoft.com/office/drawing/2014/main" id="{B7BA058D-F1C8-45EA-9F6A-736C57E04D97}"/>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overblijvend bedrijf produceert meer</a:t>
            </a:r>
          </a:p>
        </p:txBody>
      </p:sp>
      <p:sp>
        <p:nvSpPr>
          <p:cNvPr id="2" name="">
            <a:extLst xmlns:a="http://schemas.openxmlformats.org/drawingml/2006/main">
              <a:ext uri="{FF2B5EF4-FFF2-40B4-BE49-F238E27FC236}">
                <a16:creationId xmlns:a16="http://schemas.microsoft.com/office/drawing/2014/main" id="{ADAF7A14-E5C0-41FB-A599-5F8CFB09331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B4ECF203-2AA7-4A5C-B527-E2A9EAFEE0A6}"/>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4">
            <a:extLst xmlns:a="http://schemas.openxmlformats.org/drawingml/2006/main">
              <a:ext uri="{FF2B5EF4-FFF2-40B4-BE49-F238E27FC236}">
                <a16:creationId xmlns:a16="http://schemas.microsoft.com/office/drawing/2014/main" id="{79787F21-94A0-44B6-8FA9-0DB952DEEBE5}"/>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graphicFrame>
        <p:nvGraphicFramePr>
          <p:cNvPr id="13" name="Chart"/>
          <p:cNvGraphicFramePr/>
          <p:nvPr/>
        </p:nvGraphicFramePr>
        <p:xfrm>
          <a:off xmlns:a="http://schemas.openxmlformats.org/drawingml/2006/main" x="571500" y="2286000"/>
          <a:ext xmlns:a="http://schemas.openxmlformats.org/drawingml/2006/main" cx="10001250" cy="5381625"/>
        </p:xfrm>
        <a:graphic xmlns:a="http://schemas.openxmlformats.org/drawingml/2006/main">
          <a:graphicData uri="http://schemas.openxmlformats.org/drawingml/2006/chart">
            <c:chart xmlns:r="http://schemas.openxmlformats.org/officeDocument/2006/relationships" xmlns:c="http://schemas.openxmlformats.org/drawingml/2006/chart" r:id="Rc83abcb5f13a400a"/>
          </a:graphicData>
        </a:graphic>
      </p:graphicFrame>
      <p:sp>
        <p:nvSpPr>
          <p:cNvPr id="6" name="P stijgt: 5 → 7">
            <a:extLst xmlns:a="http://schemas.openxmlformats.org/drawingml/2006/main">
              <a:ext uri="{FF2B5EF4-FFF2-40B4-BE49-F238E27FC236}">
                <a16:creationId xmlns:a16="http://schemas.microsoft.com/office/drawing/2014/main" id="{96C142CB-7B84-44F6-AAC2-9A43D334DF05}"/>
              </a:ext>
            </a:extLst>
          </p:cNvPr>
          <p:cNvSpPr>
            <a:spLocks xmlns:a="http://schemas.openxmlformats.org/drawingml/2006/main" noGrp="1"/>
          </p:cNvSpPr>
          <p:nvPr/>
        </p:nvSpPr>
        <p:spPr>
          <a:xfrm xmlns:a="http://schemas.openxmlformats.org/drawingml/2006/main">
            <a:off x="10953750" y="223837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P stijgt: 5 → 7</a:t>
            </a:r>
          </a:p>
        </p:txBody>
      </p:sp>
      <p:sp>
        <p:nvSpPr>
          <p:cNvPr id="7" name="q stijgt: 20 → 30&#10;kg per week&#10;&#10;TO = TK = € 210&#10;per week">
            <a:extLst xmlns:a="http://schemas.openxmlformats.org/drawingml/2006/main">
              <a:ext uri="{FF2B5EF4-FFF2-40B4-BE49-F238E27FC236}">
                <a16:creationId xmlns:a16="http://schemas.microsoft.com/office/drawing/2014/main" id="{90D00F5E-478C-487A-87B3-694EFFF5E68C}"/>
              </a:ext>
            </a:extLst>
          </p:cNvPr>
          <p:cNvSpPr>
            <a:spLocks xmlns:a="http://schemas.openxmlformats.org/drawingml/2006/main" noGrp="1"/>
          </p:cNvSpPr>
          <p:nvPr/>
        </p:nvSpPr>
        <p:spPr>
          <a:xfrm xmlns:a="http://schemas.openxmlformats.org/drawingml/2006/main">
            <a:off x="10953750" y="3429000"/>
            <a:ext cx="37147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stijgt: 20 → 30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kg per week</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TO = TK = € 210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per week</a:t>
            </a:r>
          </a:p>
        </p:txBody>
      </p:sp>
      <p:sp>
        <p:nvSpPr>
          <p:cNvPr id="8" name="Minder bedrijven,&#10;meer q per blijver">
            <a:extLst xmlns:a="http://schemas.openxmlformats.org/drawingml/2006/main">
              <a:ext uri="{FF2B5EF4-FFF2-40B4-BE49-F238E27FC236}">
                <a16:creationId xmlns:a16="http://schemas.microsoft.com/office/drawing/2014/main" id="{6C6296D0-832C-472B-A15A-F640092BA692}"/>
              </a:ext>
            </a:extLst>
          </p:cNvPr>
          <p:cNvSpPr>
            <a:spLocks xmlns:a="http://schemas.openxmlformats.org/drawingml/2006/main" noGrp="1"/>
          </p:cNvSpPr>
          <p:nvPr/>
        </p:nvSpPr>
        <p:spPr>
          <a:xfrm xmlns:a="http://schemas.openxmlformats.org/drawingml/2006/main">
            <a:off x="10953750" y="6534150"/>
            <a:ext cx="3714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Minder bedrijven,</a:t>
            </a:r>
          </a:p>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meer q per blijver</a:t>
            </a:r>
          </a:p>
        </p:txBody>
      </p:sp>
    </p:spTree>
    <p:extLst>
      <p:ext uri="{BB962C8B-B14F-4D97-AF65-F5344CB8AC3E}">
        <p14:creationId xmlns:p14="http://schemas.microsoft.com/office/powerpoint/2010/main" val="131131574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ntrole: wat betekent nul economische winst?">
            <a:extLst xmlns:a="http://schemas.openxmlformats.org/drawingml/2006/main">
              <a:ext uri="{FF2B5EF4-FFF2-40B4-BE49-F238E27FC236}">
                <a16:creationId xmlns:a16="http://schemas.microsoft.com/office/drawing/2014/main" id="{4E361404-3F0C-43B9-8596-8F9A9FCD16EA}"/>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Controle: wat betekent nul economische winst?</a:t>
            </a:r>
          </a:p>
        </p:txBody>
      </p:sp>
      <p:sp>
        <p:nvSpPr>
          <p:cNvPr id="2" name="">
            <a:extLst xmlns:a="http://schemas.openxmlformats.org/drawingml/2006/main">
              <a:ext uri="{FF2B5EF4-FFF2-40B4-BE49-F238E27FC236}">
                <a16:creationId xmlns:a16="http://schemas.microsoft.com/office/drawing/2014/main" id="{8D490A30-DB27-4E68-9EC7-80BA89C6232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1 · Hoe lang blijft de winst?">
            <a:extLst xmlns:a="http://schemas.openxmlformats.org/drawingml/2006/main">
              <a:ext uri="{FF2B5EF4-FFF2-40B4-BE49-F238E27FC236}">
                <a16:creationId xmlns:a16="http://schemas.microsoft.com/office/drawing/2014/main" id="{D858E0C6-9AE2-4BD9-932B-5BDC01EC035F}"/>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§4.1.1 · Hoe lang blijft de winst?</a:t>
            </a:r>
          </a:p>
        </p:txBody>
      </p:sp>
      <p:sp>
        <p:nvSpPr>
          <p:cNvPr id="4" name="15">
            <a:extLst xmlns:a="http://schemas.openxmlformats.org/drawingml/2006/main">
              <a:ext uri="{FF2B5EF4-FFF2-40B4-BE49-F238E27FC236}">
                <a16:creationId xmlns:a16="http://schemas.microsoft.com/office/drawing/2014/main" id="{14C9C419-519C-480D-8B39-61B1644CBC69}"/>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Een bedrijf heeft TO = TK.">
            <a:extLst xmlns:a="http://schemas.openxmlformats.org/drawingml/2006/main">
              <a:ext uri="{FF2B5EF4-FFF2-40B4-BE49-F238E27FC236}">
                <a16:creationId xmlns:a16="http://schemas.microsoft.com/office/drawing/2014/main" id="{D27D89E8-FB8B-4227-BD85-09EDDD1FA554}"/>
              </a:ext>
            </a:extLst>
          </p:cNvPr>
          <p:cNvSpPr>
            <a:spLocks xmlns:a="http://schemas.openxmlformats.org/drawingml/2006/main" noGrp="1"/>
          </p:cNvSpPr>
          <p:nvPr/>
        </p:nvSpPr>
        <p:spPr>
          <a:xfrm xmlns:a="http://schemas.openxmlformats.org/drawingml/2006/main">
            <a:off x="571500" y="21907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658A"/>
                </a:solidFill>
                <a:latin typeface="Arial"/>
                <a:ea typeface="Arial"/>
                <a:cs typeface="Arial"/>
              </a:defRPr>
            </a:pPr>
            <a:r>
              <a:rPr sz="3375" b="1">
                <a:solidFill>
                  <a:srgbClr val="17658A"/>
                </a:solidFill>
                <a:latin typeface="Arial"/>
                <a:ea typeface="Arial"/>
                <a:cs typeface="Arial"/>
              </a:rPr>
              <a:t>Een bedrijf heeft TO = TK.</a:t>
            </a:r>
          </a:p>
        </p:txBody>
      </p:sp>
      <p:sp>
        <p:nvSpPr>
          <p:cNvPr id="6" name="“De omzet is nul en de ondernemer krijgt niets.”">
            <a:extLst xmlns:a="http://schemas.openxmlformats.org/drawingml/2006/main">
              <a:ext uri="{FF2B5EF4-FFF2-40B4-BE49-F238E27FC236}">
                <a16:creationId xmlns:a16="http://schemas.microsoft.com/office/drawing/2014/main" id="{FF4D99FC-7AEE-4391-BAA8-7970828A0C97}"/>
              </a:ext>
            </a:extLst>
          </p:cNvPr>
          <p:cNvSpPr>
            <a:spLocks xmlns:a="http://schemas.openxmlformats.org/drawingml/2006/main" noGrp="1"/>
          </p:cNvSpPr>
          <p:nvPr/>
        </p:nvSpPr>
        <p:spPr>
          <a:xfrm xmlns:a="http://schemas.openxmlformats.org/drawingml/2006/main">
            <a:off x="571500" y="3571875"/>
            <a:ext cx="14097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“De omzet is nul en de ondernemer krijgt niets.”</a:t>
            </a:r>
          </a:p>
        </p:txBody>
      </p:sp>
      <p:sp>
        <p:nvSpPr>
          <p:cNvPr id="7" name="Welke twee fouten staan in deze uitspraak?">
            <a:extLst xmlns:a="http://schemas.openxmlformats.org/drawingml/2006/main">
              <a:ext uri="{FF2B5EF4-FFF2-40B4-BE49-F238E27FC236}">
                <a16:creationId xmlns:a16="http://schemas.microsoft.com/office/drawing/2014/main" id="{22EDB061-46AB-4EC2-98D3-D0D96A882A0C}"/>
              </a:ext>
            </a:extLst>
          </p:cNvPr>
          <p:cNvSpPr>
            <a:spLocks xmlns:a="http://schemas.openxmlformats.org/drawingml/2006/main" noGrp="1"/>
          </p:cNvSpPr>
          <p:nvPr/>
        </p:nvSpPr>
        <p:spPr>
          <a:xfrm xmlns:a="http://schemas.openxmlformats.org/drawingml/2006/main">
            <a:off x="571500" y="579120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Welke twee fouten staan in deze uitspraak?</a:t>
            </a:r>
          </a:p>
        </p:txBody>
      </p:sp>
    </p:spTree>
    <p:extLst>
      <p:ext uri="{BB962C8B-B14F-4D97-AF65-F5344CB8AC3E}">
        <p14:creationId xmlns:p14="http://schemas.microsoft.com/office/powerpoint/2010/main" val="80570880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1.1 Toetreding, uittreding en langetermijnevenw">
            <a:extLst xmlns:a="http://schemas.openxmlformats.org/drawingml/2006/main">
              <a:ext uri="{FF2B5EF4-FFF2-40B4-BE49-F238E27FC236}">
                <a16:creationId xmlns:a16="http://schemas.microsoft.com/office/drawing/2014/main" id="{C5CCB17E-957E-4F8A-9726-5E7BA09EA52E}"/>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Deze les: §4.1.1 Toetreding, uittreding en langetermijnevenwicht</a:t>
            </a:r>
          </a:p>
        </p:txBody>
      </p:sp>
      <p:sp>
        <p:nvSpPr>
          <p:cNvPr id="2" name="">
            <a:extLst xmlns:a="http://schemas.openxmlformats.org/drawingml/2006/main">
              <a:ext uri="{FF2B5EF4-FFF2-40B4-BE49-F238E27FC236}">
                <a16:creationId xmlns:a16="http://schemas.microsoft.com/office/drawing/2014/main" id="{A07BEA8A-F8CB-4354-8EF2-D3A97BACAB9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1 · Hoe lang blijft de winst?">
            <a:extLst xmlns:a="http://schemas.openxmlformats.org/drawingml/2006/main">
              <a:ext uri="{FF2B5EF4-FFF2-40B4-BE49-F238E27FC236}">
                <a16:creationId xmlns:a16="http://schemas.microsoft.com/office/drawing/2014/main" id="{49DF0BA0-CECE-436B-82C4-2FE07FD5F23A}"/>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§4.1.1 · Hoe lang blijft de winst?</a:t>
            </a:r>
          </a:p>
        </p:txBody>
      </p:sp>
      <p:sp>
        <p:nvSpPr>
          <p:cNvPr id="4" name="16">
            <a:extLst xmlns:a="http://schemas.openxmlformats.org/drawingml/2006/main">
              <a:ext uri="{FF2B5EF4-FFF2-40B4-BE49-F238E27FC236}">
                <a16:creationId xmlns:a16="http://schemas.microsoft.com/office/drawing/2014/main" id="{3F5D8718-0EDA-47ED-94A7-C9D7353C3644}"/>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phase">
            <a:extLst xmlns:a="http://schemas.openxmlformats.org/drawingml/2006/main">
              <a:ext uri="{FF2B5EF4-FFF2-40B4-BE49-F238E27FC236}">
                <a16:creationId xmlns:a16="http://schemas.microsoft.com/office/drawing/2014/main" id="{EFE9B925-D600-4358-B7C3-0D6818FA2EFF}"/>
              </a:ext>
            </a:extLst>
          </p:cNvPr>
          <p:cNvSpPr>
            <a:spLocks xmlns:a="http://schemas.openxmlformats.org/drawingml/2006/main" noGrp="1"/>
          </p:cNvSpPr>
          <p:nvPr/>
        </p:nvSpPr>
        <p:spPr>
          <a:xfrm xmlns:a="http://schemas.openxmlformats.org/drawingml/2006/main">
            <a:off x="571500" y="1066800"/>
            <a:ext cx="1381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1090927B-FCF1-4C09-9306-ABF5AAE8E7B8}"/>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E2DAA7CC-E311-4713-AC08-0F5CCA7AEBAA}"/>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BB0B7326-B256-4285-A6E0-43FA75E59771}"/>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1C843D95-4E67-49AF-8CA4-5A80FAF0B67C}"/>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7A324282-C385-4150-8ECB-C1F491F89764}"/>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C22D2D93-C62C-4D54-882A-4F109B9FDAB1}"/>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2E036B1F-517A-46A3-B518-55EF0683F350}"/>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D4A91127-82BC-472D-B32E-EEA034846F5E}"/>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9827895A-6C83-4B71-A252-D665ABF3B754}"/>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AB6109AD-7CA5-4408-AB50-FBA1FBCD47D7}"/>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32604D48-AEEB-4B9F-A3A0-C6B930C8A4A9}"/>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DE2D727D-CE48-49D6-824F-F68DCFB29309}"/>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88D7FC4F-E905-4D46-B711-D9F154CDB931}"/>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6">
            <a:extLst xmlns:a="http://schemas.openxmlformats.org/drawingml/2006/main">
              <a:ext uri="{FF2B5EF4-FFF2-40B4-BE49-F238E27FC236}">
                <a16:creationId xmlns:a16="http://schemas.microsoft.com/office/drawing/2014/main" id="{FEAE9F55-FFB3-4173-A0DC-4600A3E1300E}"/>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4E92D5FB-2532-4683-9412-C3865AF345EE}"/>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EDB58B80-B3E1-4421-AF87-A96DDC59E8D5}"/>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B10082F3-281D-4B0D-ABBD-B1E062302B84}"/>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Toe- en uittreding verklaren.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Markt en bedrijf tekenen.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Nulwinst berekenen en uitleggen.</a:t>
            </a:r>
          </a:p>
        </p:txBody>
      </p:sp>
      <p:sp>
        <p:nvSpPr>
          <p:cNvPr id="23" name="">
            <a:extLst xmlns:a="http://schemas.openxmlformats.org/drawingml/2006/main">
              <a:ext uri="{FF2B5EF4-FFF2-40B4-BE49-F238E27FC236}">
                <a16:creationId xmlns:a16="http://schemas.microsoft.com/office/drawing/2014/main" id="{1E1842E5-A33A-45AC-97D2-ED9BBA107D7E}"/>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3C7FF09B-EC09-4E75-9909-5D2E4E5DD462}"/>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0FACBDF5-3483-48A5-A3A2-3A91E92AD281}"/>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11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theorie p. 7</a:t>
            </a:r>
          </a:p>
        </p:txBody>
      </p:sp>
      <p:sp>
        <p:nvSpPr>
          <p:cNvPr id="26" name="">
            <a:extLst xmlns:a="http://schemas.openxmlformats.org/drawingml/2006/main">
              <a:ext uri="{FF2B5EF4-FFF2-40B4-BE49-F238E27FC236}">
                <a16:creationId xmlns:a16="http://schemas.microsoft.com/office/drawing/2014/main" id="{6E3A94B3-416F-4CC3-8031-B37078797993}"/>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C60EDA43-69C6-4522-9F2F-1B5238EF5F70}"/>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1264B917-B0CF-4207-BE5A-88A3CEF1FF7C}"/>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§4.1.1 · Opgaven 3 t/m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84950418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7 · Standaard koffiebonen">
            <a:extLst xmlns:a="http://schemas.openxmlformats.org/drawingml/2006/main">
              <a:ext uri="{FF2B5EF4-FFF2-40B4-BE49-F238E27FC236}">
                <a16:creationId xmlns:a16="http://schemas.microsoft.com/office/drawing/2014/main" id="{D7E58C68-3321-4430-9094-7E8D7BE04D0C}"/>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 · Standaard koffiebonen</a:t>
            </a:r>
          </a:p>
        </p:txBody>
      </p:sp>
      <p:sp>
        <p:nvSpPr>
          <p:cNvPr id="2" name="">
            <a:extLst xmlns:a="http://schemas.openxmlformats.org/drawingml/2006/main">
              <a:ext uri="{FF2B5EF4-FFF2-40B4-BE49-F238E27FC236}">
                <a16:creationId xmlns:a16="http://schemas.microsoft.com/office/drawing/2014/main" id="{CBF48D79-68F8-4A49-9220-1F2E8A7D73F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1 · Opgave 7 · Boekpagina 14">
            <a:extLst xmlns:a="http://schemas.openxmlformats.org/drawingml/2006/main">
              <a:ext uri="{FF2B5EF4-FFF2-40B4-BE49-F238E27FC236}">
                <a16:creationId xmlns:a16="http://schemas.microsoft.com/office/drawing/2014/main" id="{603D2F20-BA45-43A1-8BFE-158064991FD4}"/>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§4.1.1 · Opgave 7 · Boekpagina 14</a:t>
            </a:r>
          </a:p>
        </p:txBody>
      </p:sp>
      <p:sp>
        <p:nvSpPr>
          <p:cNvPr id="4" name="17">
            <a:extLst xmlns:a="http://schemas.openxmlformats.org/drawingml/2006/main">
              <a:ext uri="{FF2B5EF4-FFF2-40B4-BE49-F238E27FC236}">
                <a16:creationId xmlns:a16="http://schemas.microsoft.com/office/drawing/2014/main" id="{E0651D7C-F797-44E1-965D-05CDDD06AD24}"/>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Alle bedrijven: TK = 0,02q² + 4q + 200">
            <a:extLst xmlns:a="http://schemas.openxmlformats.org/drawingml/2006/main">
              <a:ext uri="{FF2B5EF4-FFF2-40B4-BE49-F238E27FC236}">
                <a16:creationId xmlns:a16="http://schemas.microsoft.com/office/drawing/2014/main" id="{AE5410CE-8319-44A6-9124-120B6C3CB675}"/>
              </a:ext>
            </a:extLst>
          </p:cNvPr>
          <p:cNvSpPr>
            <a:spLocks xmlns:a="http://schemas.openxmlformats.org/drawingml/2006/main" noGrp="1"/>
          </p:cNvSpPr>
          <p:nvPr/>
        </p:nvSpPr>
        <p:spPr>
          <a:xfrm xmlns:a="http://schemas.openxmlformats.org/drawingml/2006/main">
            <a:off x="571500" y="1971675"/>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7658A"/>
                </a:solidFill>
                <a:latin typeface="Arial"/>
                <a:ea typeface="Arial"/>
                <a:cs typeface="Arial"/>
              </a:defRPr>
            </a:pPr>
            <a:r>
              <a:rPr sz="3525" b="1">
                <a:solidFill>
                  <a:srgbClr val="17658A"/>
                </a:solidFill>
                <a:latin typeface="Arial"/>
                <a:ea typeface="Arial"/>
                <a:cs typeface="Arial"/>
              </a:rPr>
              <a:t>Alle bedrijven: TK = 0,02q² + 4q + 200</a:t>
            </a:r>
          </a:p>
        </p:txBody>
      </p:sp>
      <p:graphicFrame>
        <p:nvGraphicFramePr>
          <p:cNvPr id="12" name=""/>
          <p:cNvGraphicFramePr/>
          <p:nvPr/>
        </p:nvGraphicFramePr>
        <p:xfrm>
          <a:off xmlns:a="http://schemas.openxmlformats.org/drawingml/2006/main" x="571500" y="3086100"/>
          <a:ext xmlns:a="http://schemas.openxmlformats.org/drawingml/2006/main" cx="14097000" cy="4362450"/>
        </p:xfrm>
        <a:graphic xmlns:a="http://schemas.openxmlformats.org/drawingml/2006/main">
          <a:graphicData uri="http://schemas.openxmlformats.org/drawingml/2006/table">
            <a:tbl>
              <a:tblPr/>
              <a:tblGrid>
                <a:gridCol w="4667250"/>
                <a:gridCol w="9429750"/>
              </a:tblGrid>
              <a:tr h="872490">
                <a:tc>
                  <a:txBody>
                    <a:bodyPr lIns="171450" tIns="95250" rIns="152400" bIns="95250"/>
                    <a:lstStyle/>
                    <a:p>
                      <a:r>
                        <a:rPr sz="2550" b="1">
                          <a:solidFill>
                            <a:srgbClr val="FFFFFF"/>
                          </a:solidFill>
                          <a:latin typeface="Arial"/>
                          <a:ea typeface="Arial"/>
                          <a:cs typeface="Arial"/>
                        </a:rPr>
                        <a:t>Gegeven</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Brongegevens</a:t>
                      </a:r>
                    </a:p>
                  </a:txBody>
                  <a:tcPr marL="91440" marR="91440" marT="45720" marB="45720" anchor="ctr">
                    <a:solidFill>
                      <a:srgbClr val="183247"/>
                    </a:solidFill>
                  </a:tcPr>
                </a:tc>
              </a:tr>
              <a:tr h="872490">
                <a:tc>
                  <a:txBody>
                    <a:bodyPr lIns="171450" tIns="95250" rIns="152400" bIns="95250"/>
                    <a:lstStyle/>
                    <a:p>
                      <a:r>
                        <a:rPr sz="2550" b="0">
                          <a:solidFill>
                            <a:srgbClr val="183247"/>
                          </a:solidFill>
                          <a:latin typeface="Arial"/>
                          <a:ea typeface="Arial"/>
                          <a:cs typeface="Arial"/>
                        </a:rPr>
                        <a:t>Productie en capaciteit</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q in kg per week; maximaal 250 kg</a:t>
                      </a:r>
                    </a:p>
                  </a:txBody>
                  <a:tcPr marL="91440" marR="91440" marT="45720" marB="45720" anchor="ctr">
                    <a:solidFill>
                      <a:srgbClr val="FFFFFF"/>
                    </a:solidFill>
                  </a:tcPr>
                </a:tc>
              </a:tr>
              <a:tr h="872490">
                <a:tc>
                  <a:txBody>
                    <a:bodyPr lIns="171450" tIns="95250" rIns="152400" bIns="95250"/>
                    <a:lstStyle/>
                    <a:p>
                      <a:r>
                        <a:rPr sz="2550" b="0">
                          <a:solidFill>
                            <a:srgbClr val="183247"/>
                          </a:solidFill>
                          <a:latin typeface="Arial"/>
                          <a:ea typeface="Arial"/>
                          <a:cs typeface="Arial"/>
                        </a:rPr>
                        <a:t>Totale kosten</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Inclusief € 120 normale ondernemersbeloning per week</a:t>
                      </a:r>
                    </a:p>
                  </a:txBody>
                  <a:tcPr marL="91440" marR="91440" marT="45720" marB="45720" anchor="ctr">
                    <a:solidFill>
                      <a:srgbClr val="EFF4F7"/>
                    </a:solidFill>
                  </a:tcPr>
                </a:tc>
              </a:tr>
              <a:tr h="872490">
                <a:tc>
                  <a:txBody>
                    <a:bodyPr lIns="171450" tIns="95250" rIns="152400" bIns="95250"/>
                    <a:lstStyle/>
                    <a:p>
                      <a:r>
                        <a:rPr sz="2550" b="0">
                          <a:solidFill>
                            <a:srgbClr val="183247"/>
                          </a:solidFill>
                          <a:latin typeface="Arial"/>
                          <a:ea typeface="Arial"/>
                          <a:cs typeface="Arial"/>
                        </a:rPr>
                        <a:t>Marktvoorwaarden</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Vrije toetreding; marktvraag, technologie en inputprijzen blijven gelijk</a:t>
                      </a:r>
                    </a:p>
                  </a:txBody>
                  <a:tcPr marL="91440" marR="91440" marT="45720" marB="45720" anchor="ctr">
                    <a:solidFill>
                      <a:srgbClr val="FFFFFF"/>
                    </a:solidFill>
                  </a:tcPr>
                </a:tc>
              </a:tr>
              <a:tr h="872490">
                <a:tc>
                  <a:txBody>
                    <a:bodyPr lIns="171450" tIns="95250" rIns="152400" bIns="95250"/>
                    <a:lstStyle/>
                    <a:p>
                      <a:r>
                        <a:rPr sz="2550" b="0">
                          <a:solidFill>
                            <a:srgbClr val="183247"/>
                          </a:solidFill>
                          <a:latin typeface="Arial"/>
                          <a:ea typeface="Arial"/>
                          <a:cs typeface="Arial"/>
                        </a:rPr>
                        <a:t>Minimum GTK</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€ 8 per kg bij q = 100 kg per week</a:t>
                      </a:r>
                    </a:p>
                  </a:txBody>
                  <a:tcPr marL="91440" marR="91440" marT="45720" marB="45720" anchor="ctr">
                    <a:solidFill>
                      <a:srgbClr val="EFF4F7"/>
                    </a:solidFill>
                  </a:tcPr>
                </a:tc>
              </a:tr>
            </a:tbl>
          </a:graphicData>
        </a:graphic>
      </p:graphicFrame>
    </p:spTree>
    <p:extLst>
      <p:ext uri="{BB962C8B-B14F-4D97-AF65-F5344CB8AC3E}">
        <p14:creationId xmlns:p14="http://schemas.microsoft.com/office/powerpoint/2010/main" val="3915624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 · De marktgrafiek">
            <a:extLst xmlns:a="http://schemas.openxmlformats.org/drawingml/2006/main">
              <a:ext uri="{FF2B5EF4-FFF2-40B4-BE49-F238E27FC236}">
                <a16:creationId xmlns:a16="http://schemas.microsoft.com/office/drawing/2014/main" id="{B4F52194-D119-4AA7-90F4-2364478D3FBF}"/>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 · De marktgrafiek</a:t>
            </a:r>
          </a:p>
        </p:txBody>
      </p:sp>
      <p:sp>
        <p:nvSpPr>
          <p:cNvPr id="2" name="">
            <a:extLst xmlns:a="http://schemas.openxmlformats.org/drawingml/2006/main">
              <a:ext uri="{FF2B5EF4-FFF2-40B4-BE49-F238E27FC236}">
                <a16:creationId xmlns:a16="http://schemas.microsoft.com/office/drawing/2014/main" id="{061340B5-C2B6-4407-9ED4-FA2656FD1C7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1 · Opgave 7 · Boekpagina 14">
            <a:extLst xmlns:a="http://schemas.openxmlformats.org/drawingml/2006/main">
              <a:ext uri="{FF2B5EF4-FFF2-40B4-BE49-F238E27FC236}">
                <a16:creationId xmlns:a16="http://schemas.microsoft.com/office/drawing/2014/main" id="{BF002303-FD29-48C4-A8D3-73D3A5CB1CFD}"/>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§4.1.1 · Opgave 7 · Boekpagina 14</a:t>
            </a:r>
          </a:p>
        </p:txBody>
      </p:sp>
      <p:sp>
        <p:nvSpPr>
          <p:cNvPr id="4" name="18">
            <a:extLst xmlns:a="http://schemas.openxmlformats.org/drawingml/2006/main">
              <a:ext uri="{FF2B5EF4-FFF2-40B4-BE49-F238E27FC236}">
                <a16:creationId xmlns:a16="http://schemas.microsoft.com/office/drawing/2014/main" id="{39D3EF61-09D1-4C6C-8B86-4A925D1D3959}"/>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graphicFrame>
        <p:nvGraphicFramePr>
          <p:cNvPr id="13" name="Chart"/>
          <p:cNvGraphicFramePr/>
          <p:nvPr/>
        </p:nvGraphicFramePr>
        <p:xfrm>
          <a:off xmlns:a="http://schemas.openxmlformats.org/drawingml/2006/main" x="571500" y="2286000"/>
          <a:ext xmlns:a="http://schemas.openxmlformats.org/drawingml/2006/main" cx="10001250" cy="5381625"/>
        </p:xfrm>
        <a:graphic xmlns:a="http://schemas.openxmlformats.org/drawingml/2006/main">
          <a:graphicData uri="http://schemas.openxmlformats.org/drawingml/2006/chart">
            <c:chart xmlns:r="http://schemas.openxmlformats.org/officeDocument/2006/relationships" xmlns:c="http://schemas.openxmlformats.org/drawingml/2006/chart" r:id="R3af45a33d4c64879"/>
          </a:graphicData>
        </a:graphic>
      </p:graphicFrame>
      <p:sp>
        <p:nvSpPr>
          <p:cNvPr id="6" name="De hele markt">
            <a:extLst xmlns:a="http://schemas.openxmlformats.org/drawingml/2006/main">
              <a:ext uri="{FF2B5EF4-FFF2-40B4-BE49-F238E27FC236}">
                <a16:creationId xmlns:a16="http://schemas.microsoft.com/office/drawing/2014/main" id="{945EE97C-06AF-4E5B-BAE4-8B93796131B6}"/>
              </a:ext>
            </a:extLst>
          </p:cNvPr>
          <p:cNvSpPr>
            <a:spLocks xmlns:a="http://schemas.openxmlformats.org/drawingml/2006/main" noGrp="1"/>
          </p:cNvSpPr>
          <p:nvPr/>
        </p:nvSpPr>
        <p:spPr>
          <a:xfrm xmlns:a="http://schemas.openxmlformats.org/drawingml/2006/main">
            <a:off x="10953750" y="223837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De hele markt</a:t>
            </a:r>
          </a:p>
        </p:txBody>
      </p:sp>
      <p:sp>
        <p:nvSpPr>
          <p:cNvPr id="7" name="Q is × 1.000 kg&#10;per week.&#10;&#10;P is € per kg.">
            <a:extLst xmlns:a="http://schemas.openxmlformats.org/drawingml/2006/main">
              <a:ext uri="{FF2B5EF4-FFF2-40B4-BE49-F238E27FC236}">
                <a16:creationId xmlns:a16="http://schemas.microsoft.com/office/drawing/2014/main" id="{EB5E526C-B988-4002-8B61-78F7F6483FB4}"/>
              </a:ext>
            </a:extLst>
          </p:cNvPr>
          <p:cNvSpPr>
            <a:spLocks xmlns:a="http://schemas.openxmlformats.org/drawingml/2006/main" noGrp="1"/>
          </p:cNvSpPr>
          <p:nvPr/>
        </p:nvSpPr>
        <p:spPr>
          <a:xfrm xmlns:a="http://schemas.openxmlformats.org/drawingml/2006/main">
            <a:off x="10953750" y="3429000"/>
            <a:ext cx="37147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is × 1.000 kg</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per week.</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is € per kg.</a:t>
            </a:r>
          </a:p>
        </p:txBody>
      </p:sp>
      <p:sp>
        <p:nvSpPr>
          <p:cNvPr id="8" name="Bron: figuur 7&#10;op pagina 14">
            <a:extLst xmlns:a="http://schemas.openxmlformats.org/drawingml/2006/main">
              <a:ext uri="{FF2B5EF4-FFF2-40B4-BE49-F238E27FC236}">
                <a16:creationId xmlns:a16="http://schemas.microsoft.com/office/drawing/2014/main" id="{FC5AADCF-44B4-445B-B39F-CAB447C574F6}"/>
              </a:ext>
            </a:extLst>
          </p:cNvPr>
          <p:cNvSpPr>
            <a:spLocks xmlns:a="http://schemas.openxmlformats.org/drawingml/2006/main" noGrp="1"/>
          </p:cNvSpPr>
          <p:nvPr/>
        </p:nvSpPr>
        <p:spPr>
          <a:xfrm xmlns:a="http://schemas.openxmlformats.org/drawingml/2006/main">
            <a:off x="10953750" y="6534150"/>
            <a:ext cx="3714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Bron: figuur 7</a:t>
            </a:r>
          </a:p>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op pagina 14</a:t>
            </a:r>
          </a:p>
        </p:txBody>
      </p:sp>
    </p:spTree>
    <p:extLst>
      <p:ext uri="{BB962C8B-B14F-4D97-AF65-F5344CB8AC3E}">
        <p14:creationId xmlns:p14="http://schemas.microsoft.com/office/powerpoint/2010/main" val="96586958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 · De ondernemingsgrafiek">
            <a:extLst xmlns:a="http://schemas.openxmlformats.org/drawingml/2006/main">
              <a:ext uri="{FF2B5EF4-FFF2-40B4-BE49-F238E27FC236}">
                <a16:creationId xmlns:a16="http://schemas.microsoft.com/office/drawing/2014/main" id="{D7D005FE-D688-41F0-B855-97F17F3AD60A}"/>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 · De ondernemingsgrafiek</a:t>
            </a:r>
          </a:p>
        </p:txBody>
      </p:sp>
      <p:sp>
        <p:nvSpPr>
          <p:cNvPr id="2" name="">
            <a:extLst xmlns:a="http://schemas.openxmlformats.org/drawingml/2006/main">
              <a:ext uri="{FF2B5EF4-FFF2-40B4-BE49-F238E27FC236}">
                <a16:creationId xmlns:a16="http://schemas.microsoft.com/office/drawing/2014/main" id="{328E3361-901B-401C-9E8E-1FC2FAFC789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1 · Opgave 7 · Boekpagina 14">
            <a:extLst xmlns:a="http://schemas.openxmlformats.org/drawingml/2006/main">
              <a:ext uri="{FF2B5EF4-FFF2-40B4-BE49-F238E27FC236}">
                <a16:creationId xmlns:a16="http://schemas.microsoft.com/office/drawing/2014/main" id="{7FE13B9B-6C9D-4730-8D7B-00E915DC9A7D}"/>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§4.1.1 · Opgave 7 · Boekpagina 14</a:t>
            </a:r>
          </a:p>
        </p:txBody>
      </p:sp>
      <p:sp>
        <p:nvSpPr>
          <p:cNvPr id="4" name="19">
            <a:extLst xmlns:a="http://schemas.openxmlformats.org/drawingml/2006/main">
              <a:ext uri="{FF2B5EF4-FFF2-40B4-BE49-F238E27FC236}">
                <a16:creationId xmlns:a16="http://schemas.microsoft.com/office/drawing/2014/main" id="{FB16A6C1-ED46-41B6-9B10-7800EEE741BC}"/>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graphicFrame>
        <p:nvGraphicFramePr>
          <p:cNvPr id="13" name="Chart"/>
          <p:cNvGraphicFramePr/>
          <p:nvPr/>
        </p:nvGraphicFramePr>
        <p:xfrm>
          <a:off xmlns:a="http://schemas.openxmlformats.org/drawingml/2006/main" x="571500" y="2286000"/>
          <a:ext xmlns:a="http://schemas.openxmlformats.org/drawingml/2006/main" cx="10001250" cy="5381625"/>
        </p:xfrm>
        <a:graphic xmlns:a="http://schemas.openxmlformats.org/drawingml/2006/main">
          <a:graphicData uri="http://schemas.openxmlformats.org/drawingml/2006/chart">
            <c:chart xmlns:r="http://schemas.openxmlformats.org/officeDocument/2006/relationships" xmlns:c="http://schemas.openxmlformats.org/drawingml/2006/chart" r:id="Rda27acfdc89749c4"/>
          </a:graphicData>
        </a:graphic>
      </p:graphicFrame>
      <p:sp>
        <p:nvSpPr>
          <p:cNvPr id="6" name="Eén onderneming">
            <a:extLst xmlns:a="http://schemas.openxmlformats.org/drawingml/2006/main">
              <a:ext uri="{FF2B5EF4-FFF2-40B4-BE49-F238E27FC236}">
                <a16:creationId xmlns:a16="http://schemas.microsoft.com/office/drawing/2014/main" id="{B5FEA79F-31E6-4D46-82B9-8DE888213DA5}"/>
              </a:ext>
            </a:extLst>
          </p:cNvPr>
          <p:cNvSpPr>
            <a:spLocks xmlns:a="http://schemas.openxmlformats.org/drawingml/2006/main" noGrp="1"/>
          </p:cNvSpPr>
          <p:nvPr/>
        </p:nvSpPr>
        <p:spPr>
          <a:xfrm xmlns:a="http://schemas.openxmlformats.org/drawingml/2006/main">
            <a:off x="10953750" y="223837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Eén onderneming</a:t>
            </a:r>
          </a:p>
        </p:txBody>
      </p:sp>
      <p:sp>
        <p:nvSpPr>
          <p:cNvPr id="7" name="q is kg per week.&#10;&#10;P, MK en GTK&#10;zijn € per kg.">
            <a:extLst xmlns:a="http://schemas.openxmlformats.org/drawingml/2006/main">
              <a:ext uri="{FF2B5EF4-FFF2-40B4-BE49-F238E27FC236}">
                <a16:creationId xmlns:a16="http://schemas.microsoft.com/office/drawing/2014/main" id="{22D8EA31-1096-4622-8A31-99290CA23AEB}"/>
              </a:ext>
            </a:extLst>
          </p:cNvPr>
          <p:cNvSpPr>
            <a:spLocks xmlns:a="http://schemas.openxmlformats.org/drawingml/2006/main" noGrp="1"/>
          </p:cNvSpPr>
          <p:nvPr/>
        </p:nvSpPr>
        <p:spPr>
          <a:xfrm xmlns:a="http://schemas.openxmlformats.org/drawingml/2006/main">
            <a:off x="10953750" y="3429000"/>
            <a:ext cx="37147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is kg per week.</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MK en GTK</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zijn € per kg.</a:t>
            </a:r>
          </a:p>
        </p:txBody>
      </p:sp>
      <p:sp>
        <p:nvSpPr>
          <p:cNvPr id="8" name="Dezelfde marktprijs&#10;als links in het boek">
            <a:extLst xmlns:a="http://schemas.openxmlformats.org/drawingml/2006/main">
              <a:ext uri="{FF2B5EF4-FFF2-40B4-BE49-F238E27FC236}">
                <a16:creationId xmlns:a16="http://schemas.microsoft.com/office/drawing/2014/main" id="{16E84074-8C11-41E8-91F5-4D17185A1460}"/>
              </a:ext>
            </a:extLst>
          </p:cNvPr>
          <p:cNvSpPr>
            <a:spLocks xmlns:a="http://schemas.openxmlformats.org/drawingml/2006/main" noGrp="1"/>
          </p:cNvSpPr>
          <p:nvPr/>
        </p:nvSpPr>
        <p:spPr>
          <a:xfrm xmlns:a="http://schemas.openxmlformats.org/drawingml/2006/main">
            <a:off x="10953750" y="6534150"/>
            <a:ext cx="3714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Dezelfde marktprijs</a:t>
            </a:r>
          </a:p>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als links in het boek</a:t>
            </a:r>
          </a:p>
        </p:txBody>
      </p:sp>
    </p:spTree>
    <p:extLst>
      <p:ext uri="{BB962C8B-B14F-4D97-AF65-F5344CB8AC3E}">
        <p14:creationId xmlns:p14="http://schemas.microsoft.com/office/powerpoint/2010/main" val="173504197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 · Deelvragen a, b en c">
            <a:extLst xmlns:a="http://schemas.openxmlformats.org/drawingml/2006/main">
              <a:ext uri="{FF2B5EF4-FFF2-40B4-BE49-F238E27FC236}">
                <a16:creationId xmlns:a16="http://schemas.microsoft.com/office/drawing/2014/main" id="{CACE4DB3-CA92-49F8-93D0-2C922FF616CA}"/>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 · Deelvragen a, b en c</a:t>
            </a:r>
          </a:p>
        </p:txBody>
      </p:sp>
      <p:sp>
        <p:nvSpPr>
          <p:cNvPr id="2" name="">
            <a:extLst xmlns:a="http://schemas.openxmlformats.org/drawingml/2006/main">
              <a:ext uri="{FF2B5EF4-FFF2-40B4-BE49-F238E27FC236}">
                <a16:creationId xmlns:a16="http://schemas.microsoft.com/office/drawing/2014/main" id="{DC5FD599-F38B-40AF-B4DF-81565E0368E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1 · Opgave 7 · Boekpagina 14">
            <a:extLst xmlns:a="http://schemas.openxmlformats.org/drawingml/2006/main">
              <a:ext uri="{FF2B5EF4-FFF2-40B4-BE49-F238E27FC236}">
                <a16:creationId xmlns:a16="http://schemas.microsoft.com/office/drawing/2014/main" id="{36B7AD9F-F2A8-4189-B398-B7EBF6CA0BB4}"/>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§4.1.1 · Opgave 7 · Boekpagina 14</a:t>
            </a:r>
          </a:p>
        </p:txBody>
      </p:sp>
      <p:sp>
        <p:nvSpPr>
          <p:cNvPr id="4" name="20">
            <a:extLst xmlns:a="http://schemas.openxmlformats.org/drawingml/2006/main">
              <a:ext uri="{FF2B5EF4-FFF2-40B4-BE49-F238E27FC236}">
                <a16:creationId xmlns:a16="http://schemas.microsoft.com/office/drawing/2014/main" id="{8F10AF66-DBF6-472A-B063-39B56977AEDB}"/>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a. (3p) Lees de beginprijs af. Stel MK op, bepaal q en berek">
            <a:extLst xmlns:a="http://schemas.openxmlformats.org/drawingml/2006/main">
              <a:ext uri="{FF2B5EF4-FFF2-40B4-BE49-F238E27FC236}">
                <a16:creationId xmlns:a16="http://schemas.microsoft.com/office/drawing/2014/main" id="{68263302-2CAA-44E3-BF16-8F1F9A2B62D1}"/>
              </a:ext>
            </a:extLst>
          </p:cNvPr>
          <p:cNvSpPr>
            <a:spLocks xmlns:a="http://schemas.openxmlformats.org/drawingml/2006/main" noGrp="1"/>
          </p:cNvSpPr>
          <p:nvPr/>
        </p:nvSpPr>
        <p:spPr>
          <a:xfrm xmlns:a="http://schemas.openxmlformats.org/drawingml/2006/main">
            <a:off x="571500" y="2009775"/>
            <a:ext cx="140970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a. (3p) Lees de beginprijs af. Stel MK op, bepaal q en bereken de economische winst van één bedrijf.</a:t>
            </a:r>
          </a:p>
        </p:txBody>
      </p:sp>
      <p:sp>
        <p:nvSpPr>
          <p:cNvPr id="6" name="b. (2p) Leg uit waarom er bedrijven toetreden en hoe dit de ">
            <a:extLst xmlns:a="http://schemas.openxmlformats.org/drawingml/2006/main">
              <a:ext uri="{FF2B5EF4-FFF2-40B4-BE49-F238E27FC236}">
                <a16:creationId xmlns:a16="http://schemas.microsoft.com/office/drawing/2014/main" id="{40FF9E9D-84A4-49D5-B36B-CE58E6FC4B45}"/>
              </a:ext>
            </a:extLst>
          </p:cNvPr>
          <p:cNvSpPr>
            <a:spLocks xmlns:a="http://schemas.openxmlformats.org/drawingml/2006/main" noGrp="1"/>
          </p:cNvSpPr>
          <p:nvPr/>
        </p:nvSpPr>
        <p:spPr>
          <a:xfrm xmlns:a="http://schemas.openxmlformats.org/drawingml/2006/main">
            <a:off x="571500" y="3905250"/>
            <a:ext cx="140970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 (2p) Leg uit waarom er bedrijven toetreden en hoe dit de prijs beïnvloedt.</a:t>
            </a:r>
          </a:p>
        </p:txBody>
      </p:sp>
      <p:sp>
        <p:nvSpPr>
          <p:cNvPr id="7" name="c. (2p) Teken in de marktgrafiek een passende A₁ voor de lan">
            <a:extLst xmlns:a="http://schemas.openxmlformats.org/drawingml/2006/main">
              <a:ext uri="{FF2B5EF4-FFF2-40B4-BE49-F238E27FC236}">
                <a16:creationId xmlns:a16="http://schemas.microsoft.com/office/drawing/2014/main" id="{AFEF4F12-D4AE-4BF3-9875-98A67DC1A660}"/>
              </a:ext>
            </a:extLst>
          </p:cNvPr>
          <p:cNvSpPr>
            <a:spLocks xmlns:a="http://schemas.openxmlformats.org/drawingml/2006/main" noGrp="1"/>
          </p:cNvSpPr>
          <p:nvPr/>
        </p:nvSpPr>
        <p:spPr>
          <a:xfrm xmlns:a="http://schemas.openxmlformats.org/drawingml/2006/main">
            <a:off x="571500" y="5800725"/>
            <a:ext cx="140970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c. (2p) Teken in de marktgrafiek een passende A₁ voor de langetermijnprijs. Teken rechts de bijbehorende P = GO = MO-lijn. Laat de kostencurven staan.</a:t>
            </a:r>
          </a:p>
        </p:txBody>
      </p:sp>
    </p:spTree>
    <p:extLst>
      <p:ext uri="{BB962C8B-B14F-4D97-AF65-F5344CB8AC3E}">
        <p14:creationId xmlns:p14="http://schemas.microsoft.com/office/powerpoint/2010/main" val="15503633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 · Deelvragen d en e">
            <a:extLst xmlns:a="http://schemas.openxmlformats.org/drawingml/2006/main">
              <a:ext uri="{FF2B5EF4-FFF2-40B4-BE49-F238E27FC236}">
                <a16:creationId xmlns:a16="http://schemas.microsoft.com/office/drawing/2014/main" id="{645D1695-DB59-4CC3-8F48-F8BDB59C20F8}"/>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 · Deelvragen d en e</a:t>
            </a:r>
          </a:p>
        </p:txBody>
      </p:sp>
      <p:sp>
        <p:nvSpPr>
          <p:cNvPr id="2" name="">
            <a:extLst xmlns:a="http://schemas.openxmlformats.org/drawingml/2006/main">
              <a:ext uri="{FF2B5EF4-FFF2-40B4-BE49-F238E27FC236}">
                <a16:creationId xmlns:a16="http://schemas.microsoft.com/office/drawing/2014/main" id="{5CBCDE77-944A-4F42-A828-51977B90503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1 · Opgave 7 · Boekpagina 14">
            <a:extLst xmlns:a="http://schemas.openxmlformats.org/drawingml/2006/main">
              <a:ext uri="{FF2B5EF4-FFF2-40B4-BE49-F238E27FC236}">
                <a16:creationId xmlns:a16="http://schemas.microsoft.com/office/drawing/2014/main" id="{D609AF61-8C55-47B2-B8F0-072C4BDA4E87}"/>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§4.1.1 · Opgave 7 · Boekpagina 14</a:t>
            </a:r>
          </a:p>
        </p:txBody>
      </p:sp>
      <p:sp>
        <p:nvSpPr>
          <p:cNvPr id="4" name="21">
            <a:extLst xmlns:a="http://schemas.openxmlformats.org/drawingml/2006/main">
              <a:ext uri="{FF2B5EF4-FFF2-40B4-BE49-F238E27FC236}">
                <a16:creationId xmlns:a16="http://schemas.microsoft.com/office/drawing/2014/main" id="{97328F9C-46C4-4124-9A1B-4569CDC51A96}"/>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d. (3p) Bepaal de langetermijnprijs en q. Bereken TO en TK e">
            <a:extLst xmlns:a="http://schemas.openxmlformats.org/drawingml/2006/main">
              <a:ext uri="{FF2B5EF4-FFF2-40B4-BE49-F238E27FC236}">
                <a16:creationId xmlns:a16="http://schemas.microsoft.com/office/drawing/2014/main" id="{4E759793-2325-4C02-89B2-CB0DA452FA25}"/>
              </a:ext>
            </a:extLst>
          </p:cNvPr>
          <p:cNvSpPr>
            <a:spLocks xmlns:a="http://schemas.openxmlformats.org/drawingml/2006/main" noGrp="1"/>
          </p:cNvSpPr>
          <p:nvPr/>
        </p:nvSpPr>
        <p:spPr>
          <a:xfrm xmlns:a="http://schemas.openxmlformats.org/drawingml/2006/main">
            <a:off x="571500" y="2095500"/>
            <a:ext cx="140970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d. (3p) Bepaal de langetermijnprijs en q. Bereken TO en TK en controleer de economische winst.</a:t>
            </a:r>
          </a:p>
        </p:txBody>
      </p:sp>
      <p:sp>
        <p:nvSpPr>
          <p:cNvPr id="6" name="">
            <a:extLst xmlns:a="http://schemas.openxmlformats.org/drawingml/2006/main">
              <a:ext uri="{FF2B5EF4-FFF2-40B4-BE49-F238E27FC236}">
                <a16:creationId xmlns:a16="http://schemas.microsoft.com/office/drawing/2014/main" id="{A4386B25-D1E6-47AA-9C21-F848413ADC88}"/>
              </a:ext>
            </a:extLst>
          </p:cNvPr>
          <p:cNvSpPr>
            <a:spLocks xmlns:a="http://schemas.openxmlformats.org/drawingml/2006/main" noGrp="1"/>
          </p:cNvSpPr>
          <p:nvPr/>
        </p:nvSpPr>
        <p:spPr>
          <a:xfrm xmlns:a="http://schemas.openxmlformats.org/drawingml/2006/main">
            <a:off x="571500" y="4324350"/>
            <a:ext cx="14097000" cy="0"/>
          </a:xfrm>
          <a:prstGeom xmlns:a="http://schemas.openxmlformats.org/drawingml/2006/main" prst="line">
            <a:avLst/>
          </a:prstGeom>
          <a:ln xmlns:a="http://schemas.openxmlformats.org/drawingml/2006/main" w="19050">
            <a:solidFill>
              <a:srgbClr val="C6D2DB"/>
            </a:solidFill>
          </a:ln>
        </p:spPr>
      </p:sp>
      <p:sp>
        <p:nvSpPr>
          <p:cNvPr id="7" name="e. (2p) Een leerling zegt: “Met nul winst verdient de ondern">
            <a:extLst xmlns:a="http://schemas.openxmlformats.org/drawingml/2006/main">
              <a:ext uri="{FF2B5EF4-FFF2-40B4-BE49-F238E27FC236}">
                <a16:creationId xmlns:a16="http://schemas.microsoft.com/office/drawing/2014/main" id="{FE2581D0-3CE4-4945-865B-488BB412490B}"/>
              </a:ext>
            </a:extLst>
          </p:cNvPr>
          <p:cNvSpPr>
            <a:spLocks xmlns:a="http://schemas.openxmlformats.org/drawingml/2006/main" noGrp="1"/>
          </p:cNvSpPr>
          <p:nvPr/>
        </p:nvSpPr>
        <p:spPr>
          <a:xfrm xmlns:a="http://schemas.openxmlformats.org/drawingml/2006/main">
            <a:off x="571500" y="4981575"/>
            <a:ext cx="1409700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e. (2p) Een leerling zegt: “Met nul winst verdient de ondernemer niets en is de omzet verdwenen.” Weerleg beide delen met de gegevens.</a:t>
            </a:r>
          </a:p>
        </p:txBody>
      </p:sp>
    </p:spTree>
    <p:extLst>
      <p:ext uri="{BB962C8B-B14F-4D97-AF65-F5344CB8AC3E}">
        <p14:creationId xmlns:p14="http://schemas.microsoft.com/office/powerpoint/2010/main" val="61010907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a · Beginprijs en productie">
            <a:extLst xmlns:a="http://schemas.openxmlformats.org/drawingml/2006/main">
              <a:ext uri="{FF2B5EF4-FFF2-40B4-BE49-F238E27FC236}">
                <a16:creationId xmlns:a16="http://schemas.microsoft.com/office/drawing/2014/main" id="{CC0CEE28-294F-4FB8-808D-F570009C97BE}"/>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7a · Beginprijs en productie</a:t>
            </a:r>
          </a:p>
        </p:txBody>
      </p:sp>
      <p:sp>
        <p:nvSpPr>
          <p:cNvPr id="2" name="">
            <a:extLst xmlns:a="http://schemas.openxmlformats.org/drawingml/2006/main">
              <a:ext uri="{FF2B5EF4-FFF2-40B4-BE49-F238E27FC236}">
                <a16:creationId xmlns:a16="http://schemas.microsoft.com/office/drawing/2014/main" id="{4A7821AA-547C-44B4-8DCF-361038E2583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1 · Opgave 7 · Boekpagina 14">
            <a:extLst xmlns:a="http://schemas.openxmlformats.org/drawingml/2006/main">
              <a:ext uri="{FF2B5EF4-FFF2-40B4-BE49-F238E27FC236}">
                <a16:creationId xmlns:a16="http://schemas.microsoft.com/office/drawing/2014/main" id="{80A65E73-A9C1-40D7-ABE2-F9B9C8FC37FB}"/>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§4.1.1 · Opgave 7 · Boekpagina 14</a:t>
            </a:r>
          </a:p>
        </p:txBody>
      </p:sp>
      <p:sp>
        <p:nvSpPr>
          <p:cNvPr id="4" name="22">
            <a:extLst xmlns:a="http://schemas.openxmlformats.org/drawingml/2006/main">
              <a:ext uri="{FF2B5EF4-FFF2-40B4-BE49-F238E27FC236}">
                <a16:creationId xmlns:a16="http://schemas.microsoft.com/office/drawing/2014/main" id="{74CABFC3-0C40-4AF8-BA2E-19866E121411}"/>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Afgelezen: P = € 10 per kg">
            <a:extLst xmlns:a="http://schemas.openxmlformats.org/drawingml/2006/main">
              <a:ext uri="{FF2B5EF4-FFF2-40B4-BE49-F238E27FC236}">
                <a16:creationId xmlns:a16="http://schemas.microsoft.com/office/drawing/2014/main" id="{C3339804-CA18-440F-939F-2102AFBDC2BB}"/>
              </a:ext>
            </a:extLst>
          </p:cNvPr>
          <p:cNvSpPr>
            <a:spLocks xmlns:a="http://schemas.openxmlformats.org/drawingml/2006/main" noGrp="1"/>
          </p:cNvSpPr>
          <p:nvPr/>
        </p:nvSpPr>
        <p:spPr>
          <a:xfrm xmlns:a="http://schemas.openxmlformats.org/drawingml/2006/main">
            <a:off x="571500" y="2143125"/>
            <a:ext cx="1409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Afgelezen: P = € 10 per kg</a:t>
            </a:r>
          </a:p>
        </p:txBody>
      </p:sp>
      <p:sp>
        <p:nvSpPr>
          <p:cNvPr id="6" name="TK = 0,02q² + 4q + 200     ⇒     MK = 0,04q + 4">
            <a:extLst xmlns:a="http://schemas.openxmlformats.org/drawingml/2006/main">
              <a:ext uri="{FF2B5EF4-FFF2-40B4-BE49-F238E27FC236}">
                <a16:creationId xmlns:a16="http://schemas.microsoft.com/office/drawing/2014/main" id="{695EA8A1-1A9C-4649-971E-3035701F96D5}"/>
              </a:ext>
            </a:extLst>
          </p:cNvPr>
          <p:cNvSpPr>
            <a:spLocks xmlns:a="http://schemas.openxmlformats.org/drawingml/2006/main" noGrp="1"/>
          </p:cNvSpPr>
          <p:nvPr/>
        </p:nvSpPr>
        <p:spPr>
          <a:xfrm xmlns:a="http://schemas.openxmlformats.org/drawingml/2006/main">
            <a:off x="571500" y="3467100"/>
            <a:ext cx="1409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TK = 0,02q² + 4q + 200     ⇒     MK = 0,04q + 4</a:t>
            </a:r>
          </a:p>
        </p:txBody>
      </p:sp>
      <p:sp>
        <p:nvSpPr>
          <p:cNvPr id="7" name="MO = MK: 10 = 0,04q + 4     ⇒     q = 150 kg/week">
            <a:extLst xmlns:a="http://schemas.openxmlformats.org/drawingml/2006/main">
              <a:ext uri="{FF2B5EF4-FFF2-40B4-BE49-F238E27FC236}">
                <a16:creationId xmlns:a16="http://schemas.microsoft.com/office/drawing/2014/main" id="{4ED76D50-CDA4-46A2-B1C7-AA1DCC8EF69B}"/>
              </a:ext>
            </a:extLst>
          </p:cNvPr>
          <p:cNvSpPr>
            <a:spLocks xmlns:a="http://schemas.openxmlformats.org/drawingml/2006/main" noGrp="1"/>
          </p:cNvSpPr>
          <p:nvPr/>
        </p:nvSpPr>
        <p:spPr>
          <a:xfrm xmlns:a="http://schemas.openxmlformats.org/drawingml/2006/main">
            <a:off x="571500" y="4791075"/>
            <a:ext cx="1409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MO = MK: 10 = 0,04q + 4     ⇒     q = 150 kg/week</a:t>
            </a:r>
          </a:p>
        </p:txBody>
      </p:sp>
      <p:sp>
        <p:nvSpPr>
          <p:cNvPr id="8" name="150 ≤ 250; MK stijgt door MO heen">
            <a:extLst xmlns:a="http://schemas.openxmlformats.org/drawingml/2006/main">
              <a:ext uri="{FF2B5EF4-FFF2-40B4-BE49-F238E27FC236}">
                <a16:creationId xmlns:a16="http://schemas.microsoft.com/office/drawing/2014/main" id="{8A0169BB-8CC8-419D-90B3-238CBA855E32}"/>
              </a:ext>
            </a:extLst>
          </p:cNvPr>
          <p:cNvSpPr>
            <a:spLocks xmlns:a="http://schemas.openxmlformats.org/drawingml/2006/main" noGrp="1"/>
          </p:cNvSpPr>
          <p:nvPr/>
        </p:nvSpPr>
        <p:spPr>
          <a:xfrm xmlns:a="http://schemas.openxmlformats.org/drawingml/2006/main">
            <a:off x="571500" y="6115050"/>
            <a:ext cx="1409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150 ≤ 250; MK stijgt door MO heen</a:t>
            </a:r>
          </a:p>
        </p:txBody>
      </p:sp>
    </p:spTree>
    <p:extLst>
      <p:ext uri="{BB962C8B-B14F-4D97-AF65-F5344CB8AC3E}">
        <p14:creationId xmlns:p14="http://schemas.microsoft.com/office/powerpoint/2010/main" val="84736108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a · Economische winst">
            <a:extLst xmlns:a="http://schemas.openxmlformats.org/drawingml/2006/main">
              <a:ext uri="{FF2B5EF4-FFF2-40B4-BE49-F238E27FC236}">
                <a16:creationId xmlns:a16="http://schemas.microsoft.com/office/drawing/2014/main" id="{D8B6A7D7-CC65-4932-AC54-8265948D7C99}"/>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7a · Economische winst</a:t>
            </a:r>
          </a:p>
        </p:txBody>
      </p:sp>
      <p:sp>
        <p:nvSpPr>
          <p:cNvPr id="2" name="">
            <a:extLst xmlns:a="http://schemas.openxmlformats.org/drawingml/2006/main">
              <a:ext uri="{FF2B5EF4-FFF2-40B4-BE49-F238E27FC236}">
                <a16:creationId xmlns:a16="http://schemas.microsoft.com/office/drawing/2014/main" id="{D2805BC9-9C13-4FE2-9614-0F9ABB77F19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1 · Opgave 7 · Boekpagina 14">
            <a:extLst xmlns:a="http://schemas.openxmlformats.org/drawingml/2006/main">
              <a:ext uri="{FF2B5EF4-FFF2-40B4-BE49-F238E27FC236}">
                <a16:creationId xmlns:a16="http://schemas.microsoft.com/office/drawing/2014/main" id="{DF10F318-E702-4998-821D-4E2A4AD72857}"/>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§4.1.1 · Opgave 7 · Boekpagina 14</a:t>
            </a:r>
          </a:p>
        </p:txBody>
      </p:sp>
      <p:sp>
        <p:nvSpPr>
          <p:cNvPr id="4" name="23">
            <a:extLst xmlns:a="http://schemas.openxmlformats.org/drawingml/2006/main">
              <a:ext uri="{FF2B5EF4-FFF2-40B4-BE49-F238E27FC236}">
                <a16:creationId xmlns:a16="http://schemas.microsoft.com/office/drawing/2014/main" id="{08E78153-5F96-4CDB-8720-6213E24B6992}"/>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TO = 10 × 150 = € 1.500 per week">
            <a:extLst xmlns:a="http://schemas.openxmlformats.org/drawingml/2006/main">
              <a:ext uri="{FF2B5EF4-FFF2-40B4-BE49-F238E27FC236}">
                <a16:creationId xmlns:a16="http://schemas.microsoft.com/office/drawing/2014/main" id="{D200D83C-6692-4DB5-9BC5-23D93A942D15}"/>
              </a:ext>
            </a:extLst>
          </p:cNvPr>
          <p:cNvSpPr>
            <a:spLocks xmlns:a="http://schemas.openxmlformats.org/drawingml/2006/main" noGrp="1"/>
          </p:cNvSpPr>
          <p:nvPr/>
        </p:nvSpPr>
        <p:spPr>
          <a:xfrm xmlns:a="http://schemas.openxmlformats.org/drawingml/2006/main">
            <a:off x="571500" y="2143125"/>
            <a:ext cx="1409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TO = 10 × 150 = € 1.500 per week</a:t>
            </a:r>
          </a:p>
        </p:txBody>
      </p:sp>
      <p:sp>
        <p:nvSpPr>
          <p:cNvPr id="6" name="TK = 0,02 × 150² + 4 × 150 + 200">
            <a:extLst xmlns:a="http://schemas.openxmlformats.org/drawingml/2006/main">
              <a:ext uri="{FF2B5EF4-FFF2-40B4-BE49-F238E27FC236}">
                <a16:creationId xmlns:a16="http://schemas.microsoft.com/office/drawing/2014/main" id="{40FE3938-2990-42C3-93FE-A439797C7BD4}"/>
              </a:ext>
            </a:extLst>
          </p:cNvPr>
          <p:cNvSpPr>
            <a:spLocks xmlns:a="http://schemas.openxmlformats.org/drawingml/2006/main" noGrp="1"/>
          </p:cNvSpPr>
          <p:nvPr/>
        </p:nvSpPr>
        <p:spPr>
          <a:xfrm xmlns:a="http://schemas.openxmlformats.org/drawingml/2006/main">
            <a:off x="571500" y="3467100"/>
            <a:ext cx="1409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TK = 0,02 × 150² + 4 × 150 + 200</a:t>
            </a:r>
          </a:p>
        </p:txBody>
      </p:sp>
      <p:sp>
        <p:nvSpPr>
          <p:cNvPr id="7" name="TK = 450 + 600 + 200 = € 1.250 per week">
            <a:extLst xmlns:a="http://schemas.openxmlformats.org/drawingml/2006/main">
              <a:ext uri="{FF2B5EF4-FFF2-40B4-BE49-F238E27FC236}">
                <a16:creationId xmlns:a16="http://schemas.microsoft.com/office/drawing/2014/main" id="{86B8BB08-022F-432C-8E70-60758AF1856C}"/>
              </a:ext>
            </a:extLst>
          </p:cNvPr>
          <p:cNvSpPr>
            <a:spLocks xmlns:a="http://schemas.openxmlformats.org/drawingml/2006/main" noGrp="1"/>
          </p:cNvSpPr>
          <p:nvPr/>
        </p:nvSpPr>
        <p:spPr>
          <a:xfrm xmlns:a="http://schemas.openxmlformats.org/drawingml/2006/main">
            <a:off x="571500" y="4791075"/>
            <a:ext cx="1409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TK = 450 + 600 + 200 = € 1.250 per week</a:t>
            </a:r>
          </a:p>
        </p:txBody>
      </p:sp>
      <p:sp>
        <p:nvSpPr>
          <p:cNvPr id="8" name="Economische winst = 1.500 − 1.250 = € 250/week">
            <a:extLst xmlns:a="http://schemas.openxmlformats.org/drawingml/2006/main">
              <a:ext uri="{FF2B5EF4-FFF2-40B4-BE49-F238E27FC236}">
                <a16:creationId xmlns:a16="http://schemas.microsoft.com/office/drawing/2014/main" id="{9005D1D3-063D-470A-AADF-085EDEC71FD3}"/>
              </a:ext>
            </a:extLst>
          </p:cNvPr>
          <p:cNvSpPr>
            <a:spLocks xmlns:a="http://schemas.openxmlformats.org/drawingml/2006/main" noGrp="1"/>
          </p:cNvSpPr>
          <p:nvPr/>
        </p:nvSpPr>
        <p:spPr>
          <a:xfrm xmlns:a="http://schemas.openxmlformats.org/drawingml/2006/main">
            <a:off x="571500" y="6115050"/>
            <a:ext cx="14097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Economische winst = 1.500 − 1.250 = € 250/week</a:t>
            </a:r>
          </a:p>
        </p:txBody>
      </p:sp>
    </p:spTree>
    <p:extLst>
      <p:ext uri="{BB962C8B-B14F-4D97-AF65-F5344CB8AC3E}">
        <p14:creationId xmlns:p14="http://schemas.microsoft.com/office/powerpoint/2010/main" val="40112409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Opgave 7b · Waarom daalt de prijs?">
            <a:extLst xmlns:a="http://schemas.openxmlformats.org/drawingml/2006/main">
              <a:ext uri="{FF2B5EF4-FFF2-40B4-BE49-F238E27FC236}">
                <a16:creationId xmlns:a16="http://schemas.microsoft.com/office/drawing/2014/main" id="{8D9CC816-FD1F-49FD-AFC9-7366ACDE2BF4}"/>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7b · Waarom daalt de prijs?</a:t>
            </a:r>
          </a:p>
        </p:txBody>
      </p:sp>
      <p:sp>
        <p:nvSpPr>
          <p:cNvPr id="2" name="">
            <a:extLst xmlns:a="http://schemas.openxmlformats.org/drawingml/2006/main">
              <a:ext uri="{FF2B5EF4-FFF2-40B4-BE49-F238E27FC236}">
                <a16:creationId xmlns:a16="http://schemas.microsoft.com/office/drawing/2014/main" id="{34419B84-98F8-4462-A7CE-02F12F72011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1 · Opgave 7 · Boekpagina 14">
            <a:extLst xmlns:a="http://schemas.openxmlformats.org/drawingml/2006/main">
              <a:ext uri="{FF2B5EF4-FFF2-40B4-BE49-F238E27FC236}">
                <a16:creationId xmlns:a16="http://schemas.microsoft.com/office/drawing/2014/main" id="{4CD201A9-396B-4C9F-B201-DE5AFD7439F4}"/>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§4.1.1 · Opgave 7 · Boekpagina 14</a:t>
            </a:r>
          </a:p>
        </p:txBody>
      </p:sp>
      <p:sp>
        <p:nvSpPr>
          <p:cNvPr id="4" name="24">
            <a:extLst xmlns:a="http://schemas.openxmlformats.org/drawingml/2006/main">
              <a:ext uri="{FF2B5EF4-FFF2-40B4-BE49-F238E27FC236}">
                <a16:creationId xmlns:a16="http://schemas.microsoft.com/office/drawing/2014/main" id="{EBADF4B3-EE67-408B-A3EA-683A5893AD5E}"/>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graphicFrame>
        <p:nvGraphicFramePr>
          <p:cNvPr id="10" name=""/>
          <p:cNvGraphicFramePr/>
          <p:nvPr/>
        </p:nvGraphicFramePr>
        <p:xfrm>
          <a:off xmlns:a="http://schemas.openxmlformats.org/drawingml/2006/main" x="571500" y="2181225"/>
          <a:ext xmlns:a="http://schemas.openxmlformats.org/drawingml/2006/main" cx="14097000" cy="4581525"/>
        </p:xfrm>
        <a:graphic xmlns:a="http://schemas.openxmlformats.org/drawingml/2006/main">
          <a:graphicData uri="http://schemas.openxmlformats.org/drawingml/2006/table">
            <a:tbl>
              <a:tblPr/>
              <a:tblGrid>
                <a:gridCol w="5000625"/>
                <a:gridCol w="9096375"/>
              </a:tblGrid>
              <a:tr h="1145381">
                <a:tc>
                  <a:txBody>
                    <a:bodyPr lIns="171450" tIns="95250" rIns="152400" bIns="95250"/>
                    <a:lstStyle/>
                    <a:p>
                      <a:r>
                        <a:rPr sz="2625" b="1">
                          <a:solidFill>
                            <a:srgbClr val="FFFFFF"/>
                          </a:solidFill>
                          <a:latin typeface="Arial"/>
                          <a:ea typeface="Arial"/>
                          <a:cs typeface="Arial"/>
                        </a:rPr>
                        <a:t>Stap</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Redenering</a:t>
                      </a:r>
                    </a:p>
                  </a:txBody>
                  <a:tcPr marL="91440" marR="91440" marT="45720" marB="45720" anchor="ctr">
                    <a:solidFill>
                      <a:srgbClr val="183247"/>
                    </a:solidFill>
                  </a:tcPr>
                </a:tc>
              </a:tr>
              <a:tr h="1145381">
                <a:tc>
                  <a:txBody>
                    <a:bodyPr lIns="171450" tIns="95250" rIns="152400" bIns="95250"/>
                    <a:lstStyle/>
                    <a:p>
                      <a:r>
                        <a:rPr sz="2625" b="0">
                          <a:solidFill>
                            <a:srgbClr val="183247"/>
                          </a:solidFill>
                          <a:latin typeface="Arial"/>
                          <a:ea typeface="Arial"/>
                          <a:cs typeface="Arial"/>
                        </a:rPr>
                        <a:t>€ 250 overwinst per bedrijf</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Dezelfde techniek is aantrekkelijk voor nieuwkomers.</a:t>
                      </a:r>
                    </a:p>
                  </a:txBody>
                  <a:tcPr marL="91440" marR="91440" marT="45720" marB="45720" anchor="ctr">
                    <a:solidFill>
                      <a:srgbClr val="FFFFFF"/>
                    </a:solidFill>
                  </a:tcPr>
                </a:tc>
              </a:tr>
              <a:tr h="1145381">
                <a:tc>
                  <a:txBody>
                    <a:bodyPr lIns="171450" tIns="95250" rIns="152400" bIns="95250"/>
                    <a:lstStyle/>
                    <a:p>
                      <a:r>
                        <a:rPr sz="2625" b="0">
                          <a:solidFill>
                            <a:srgbClr val="183247"/>
                          </a:solidFill>
                          <a:latin typeface="Arial"/>
                          <a:ea typeface="Arial"/>
                          <a:cs typeface="Arial"/>
                        </a:rPr>
                        <a:t>Vrije toetreding</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Meer bedrijven bieden bij elke prijs samen meer aan.</a:t>
                      </a:r>
                    </a:p>
                  </a:txBody>
                  <a:tcPr marL="91440" marR="91440" marT="45720" marB="45720" anchor="ctr">
                    <a:solidFill>
                      <a:srgbClr val="EFF4F7"/>
                    </a:solidFill>
                  </a:tcPr>
                </a:tc>
              </a:tr>
              <a:tr h="1145381">
                <a:tc>
                  <a:txBody>
                    <a:bodyPr lIns="171450" tIns="95250" rIns="152400" bIns="95250"/>
                    <a:lstStyle/>
                    <a:p>
                      <a:r>
                        <a:rPr sz="2625" b="0">
                          <a:solidFill>
                            <a:srgbClr val="183247"/>
                          </a:solidFill>
                          <a:latin typeface="Arial"/>
                          <a:ea typeface="Arial"/>
                          <a:cs typeface="Arial"/>
                        </a:rPr>
                        <a:t>Marktvraag blijft gelijk</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Het grotere aanbod verlaagt de marktprijs.</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92653099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c · Het nieuwe marktaanbod">
            <a:extLst xmlns:a="http://schemas.openxmlformats.org/drawingml/2006/main">
              <a:ext uri="{FF2B5EF4-FFF2-40B4-BE49-F238E27FC236}">
                <a16:creationId xmlns:a16="http://schemas.microsoft.com/office/drawing/2014/main" id="{21E09D7E-E776-403A-9C40-0AAF2D72E5A0}"/>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7c · Het nieuwe marktaanbod</a:t>
            </a:r>
          </a:p>
        </p:txBody>
      </p:sp>
      <p:sp>
        <p:nvSpPr>
          <p:cNvPr id="2" name="">
            <a:extLst xmlns:a="http://schemas.openxmlformats.org/drawingml/2006/main">
              <a:ext uri="{FF2B5EF4-FFF2-40B4-BE49-F238E27FC236}">
                <a16:creationId xmlns:a16="http://schemas.microsoft.com/office/drawing/2014/main" id="{7A0DD4EA-7F8C-454B-A1E4-CD67DDE503A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1 · Opgave 7 · Boekpagina 14">
            <a:extLst xmlns:a="http://schemas.openxmlformats.org/drawingml/2006/main">
              <a:ext uri="{FF2B5EF4-FFF2-40B4-BE49-F238E27FC236}">
                <a16:creationId xmlns:a16="http://schemas.microsoft.com/office/drawing/2014/main" id="{DDCDE510-323E-416B-9BC2-AE58841205E3}"/>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§4.1.1 · Opgave 7 · Boekpagina 14</a:t>
            </a:r>
          </a:p>
        </p:txBody>
      </p:sp>
      <p:sp>
        <p:nvSpPr>
          <p:cNvPr id="4" name="25">
            <a:extLst xmlns:a="http://schemas.openxmlformats.org/drawingml/2006/main">
              <a:ext uri="{FF2B5EF4-FFF2-40B4-BE49-F238E27FC236}">
                <a16:creationId xmlns:a16="http://schemas.microsoft.com/office/drawing/2014/main" id="{4AF66AEE-0A20-439F-8459-326FE7AC4FCA}"/>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graphicFrame>
        <p:nvGraphicFramePr>
          <p:cNvPr id="13" name="Chart"/>
          <p:cNvGraphicFramePr/>
          <p:nvPr/>
        </p:nvGraphicFramePr>
        <p:xfrm>
          <a:off xmlns:a="http://schemas.openxmlformats.org/drawingml/2006/main" x="571500" y="2286000"/>
          <a:ext xmlns:a="http://schemas.openxmlformats.org/drawingml/2006/main" cx="10001250" cy="5381625"/>
        </p:xfrm>
        <a:graphic xmlns:a="http://schemas.openxmlformats.org/drawingml/2006/main">
          <a:graphicData uri="http://schemas.openxmlformats.org/drawingml/2006/chart">
            <c:chart xmlns:r="http://schemas.openxmlformats.org/officeDocument/2006/relationships" xmlns:c="http://schemas.openxmlformats.org/drawingml/2006/chart" r:id="R129dd18aebca4cbd"/>
          </a:graphicData>
        </a:graphic>
      </p:graphicFrame>
      <p:sp>
        <p:nvSpPr>
          <p:cNvPr id="6" name="A₁ rechts van A₀">
            <a:extLst xmlns:a="http://schemas.openxmlformats.org/drawingml/2006/main">
              <a:ext uri="{FF2B5EF4-FFF2-40B4-BE49-F238E27FC236}">
                <a16:creationId xmlns:a16="http://schemas.microsoft.com/office/drawing/2014/main" id="{530B780D-CCAB-4B5B-ABE5-CCF8BD3AE55C}"/>
              </a:ext>
            </a:extLst>
          </p:cNvPr>
          <p:cNvSpPr>
            <a:spLocks xmlns:a="http://schemas.openxmlformats.org/drawingml/2006/main" noGrp="1"/>
          </p:cNvSpPr>
          <p:nvPr/>
        </p:nvSpPr>
        <p:spPr>
          <a:xfrm xmlns:a="http://schemas.openxmlformats.org/drawingml/2006/main">
            <a:off x="10953750" y="223837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A₁ rechts van A₀</a:t>
            </a:r>
          </a:p>
        </p:txBody>
      </p:sp>
      <p:sp>
        <p:nvSpPr>
          <p:cNvPr id="7" name="V blijft staan.&#10;A₁ snijdt V&#10;bij P = € 8/kg.&#10;&#10;Q = 20.000 kg&#10;p">
            <a:extLst xmlns:a="http://schemas.openxmlformats.org/drawingml/2006/main">
              <a:ext uri="{FF2B5EF4-FFF2-40B4-BE49-F238E27FC236}">
                <a16:creationId xmlns:a16="http://schemas.microsoft.com/office/drawing/2014/main" id="{42BB6E79-E059-4150-8B9E-C8A5A3EF7BF7}"/>
              </a:ext>
            </a:extLst>
          </p:cNvPr>
          <p:cNvSpPr>
            <a:spLocks xmlns:a="http://schemas.openxmlformats.org/drawingml/2006/main" noGrp="1"/>
          </p:cNvSpPr>
          <p:nvPr/>
        </p:nvSpPr>
        <p:spPr>
          <a:xfrm xmlns:a="http://schemas.openxmlformats.org/drawingml/2006/main">
            <a:off x="10953750" y="3429000"/>
            <a:ext cx="37147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V blijft staan.</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A₁ snijdt V</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bij P = € 8/kg.</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 20.000 kg</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per week</a:t>
            </a:r>
          </a:p>
        </p:txBody>
      </p:sp>
      <p:sp>
        <p:nvSpPr>
          <p:cNvPr id="8" name="Een passende A₁;&#10;de lijn is niet uniek.">
            <a:extLst xmlns:a="http://schemas.openxmlformats.org/drawingml/2006/main">
              <a:ext uri="{FF2B5EF4-FFF2-40B4-BE49-F238E27FC236}">
                <a16:creationId xmlns:a16="http://schemas.microsoft.com/office/drawing/2014/main" id="{85861228-0676-42F4-A33B-275242DACE27}"/>
              </a:ext>
            </a:extLst>
          </p:cNvPr>
          <p:cNvSpPr>
            <a:spLocks xmlns:a="http://schemas.openxmlformats.org/drawingml/2006/main" noGrp="1"/>
          </p:cNvSpPr>
          <p:nvPr/>
        </p:nvSpPr>
        <p:spPr>
          <a:xfrm xmlns:a="http://schemas.openxmlformats.org/drawingml/2006/main">
            <a:off x="10953750" y="6534150"/>
            <a:ext cx="3714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Een passende A₁;</a:t>
            </a:r>
          </a:p>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de lijn is niet uniek.</a:t>
            </a:r>
          </a:p>
        </p:txBody>
      </p:sp>
    </p:spTree>
    <p:extLst>
      <p:ext uri="{BB962C8B-B14F-4D97-AF65-F5344CB8AC3E}">
        <p14:creationId xmlns:p14="http://schemas.microsoft.com/office/powerpoint/2010/main" val="15573756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7c · De nieuwe prijslijn">
            <a:extLst xmlns:a="http://schemas.openxmlformats.org/drawingml/2006/main">
              <a:ext uri="{FF2B5EF4-FFF2-40B4-BE49-F238E27FC236}">
                <a16:creationId xmlns:a16="http://schemas.microsoft.com/office/drawing/2014/main" id="{C9747EA7-0A87-46D2-964A-782CC372832F}"/>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7c · De nieuwe prijslijn</a:t>
            </a:r>
          </a:p>
        </p:txBody>
      </p:sp>
      <p:sp>
        <p:nvSpPr>
          <p:cNvPr id="2" name="">
            <a:extLst xmlns:a="http://schemas.openxmlformats.org/drawingml/2006/main">
              <a:ext uri="{FF2B5EF4-FFF2-40B4-BE49-F238E27FC236}">
                <a16:creationId xmlns:a16="http://schemas.microsoft.com/office/drawing/2014/main" id="{84521767-ED8A-4508-8E0C-E649628FB94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1 · Opgave 7 · Boekpagina 14">
            <a:extLst xmlns:a="http://schemas.openxmlformats.org/drawingml/2006/main">
              <a:ext uri="{FF2B5EF4-FFF2-40B4-BE49-F238E27FC236}">
                <a16:creationId xmlns:a16="http://schemas.microsoft.com/office/drawing/2014/main" id="{CAA21273-A155-4A76-AC37-06623DA20BE1}"/>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§4.1.1 · Opgave 7 · Boekpagina 14</a:t>
            </a:r>
          </a:p>
        </p:txBody>
      </p:sp>
      <p:sp>
        <p:nvSpPr>
          <p:cNvPr id="4" name="26">
            <a:extLst xmlns:a="http://schemas.openxmlformats.org/drawingml/2006/main">
              <a:ext uri="{FF2B5EF4-FFF2-40B4-BE49-F238E27FC236}">
                <a16:creationId xmlns:a16="http://schemas.microsoft.com/office/drawing/2014/main" id="{4CD6565E-5762-42C8-8AF5-FE0779A4114C}"/>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graphicFrame>
        <p:nvGraphicFramePr>
          <p:cNvPr id="13" name="Chart"/>
          <p:cNvGraphicFramePr/>
          <p:nvPr/>
        </p:nvGraphicFramePr>
        <p:xfrm>
          <a:off xmlns:a="http://schemas.openxmlformats.org/drawingml/2006/main" x="571500" y="2286000"/>
          <a:ext xmlns:a="http://schemas.openxmlformats.org/drawingml/2006/main" cx="10001250" cy="5381625"/>
        </p:xfrm>
        <a:graphic xmlns:a="http://schemas.openxmlformats.org/drawingml/2006/main">
          <a:graphicData uri="http://schemas.openxmlformats.org/drawingml/2006/chart">
            <c:chart xmlns:r="http://schemas.openxmlformats.org/officeDocument/2006/relationships" xmlns:c="http://schemas.openxmlformats.org/drawingml/2006/chart" r:id="Rfafe7df2046f4408"/>
          </a:graphicData>
        </a:graphic>
      </p:graphicFrame>
      <p:sp>
        <p:nvSpPr>
          <p:cNvPr id="6" name="P = GO = MO = 8">
            <a:extLst xmlns:a="http://schemas.openxmlformats.org/drawingml/2006/main">
              <a:ext uri="{FF2B5EF4-FFF2-40B4-BE49-F238E27FC236}">
                <a16:creationId xmlns:a16="http://schemas.microsoft.com/office/drawing/2014/main" id="{D7A5A70F-6827-4125-A8A1-087DE224865C}"/>
              </a:ext>
            </a:extLst>
          </p:cNvPr>
          <p:cNvSpPr>
            <a:spLocks xmlns:a="http://schemas.openxmlformats.org/drawingml/2006/main" noGrp="1"/>
          </p:cNvSpPr>
          <p:nvPr/>
        </p:nvSpPr>
        <p:spPr>
          <a:xfrm xmlns:a="http://schemas.openxmlformats.org/drawingml/2006/main">
            <a:off x="10953750" y="223837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P = GO = MO = 8</a:t>
            </a:r>
          </a:p>
        </p:txBody>
      </p:sp>
      <p:sp>
        <p:nvSpPr>
          <p:cNvPr id="7" name="MK en GTK blijven&#10;op hun plaats.&#10;&#10;Bij minimum GTK:&#10;q = 100 k">
            <a:extLst xmlns:a="http://schemas.openxmlformats.org/drawingml/2006/main">
              <a:ext uri="{FF2B5EF4-FFF2-40B4-BE49-F238E27FC236}">
                <a16:creationId xmlns:a16="http://schemas.microsoft.com/office/drawing/2014/main" id="{2E84D701-A51A-40A1-99A6-EBECDCB9AF78}"/>
              </a:ext>
            </a:extLst>
          </p:cNvPr>
          <p:cNvSpPr>
            <a:spLocks xmlns:a="http://schemas.openxmlformats.org/drawingml/2006/main" noGrp="1"/>
          </p:cNvSpPr>
          <p:nvPr/>
        </p:nvSpPr>
        <p:spPr>
          <a:xfrm xmlns:a="http://schemas.openxmlformats.org/drawingml/2006/main">
            <a:off x="10953750" y="3429000"/>
            <a:ext cx="37147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MK en GTK blijven</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op hun plaats.</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Bij minimum GTK:</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 100 kg/week</a:t>
            </a:r>
          </a:p>
        </p:txBody>
      </p:sp>
      <p:sp>
        <p:nvSpPr>
          <p:cNvPr id="8" name="Markt Q stijgt,&#10;firmaproductie q daalt.">
            <a:extLst xmlns:a="http://schemas.openxmlformats.org/drawingml/2006/main">
              <a:ext uri="{FF2B5EF4-FFF2-40B4-BE49-F238E27FC236}">
                <a16:creationId xmlns:a16="http://schemas.microsoft.com/office/drawing/2014/main" id="{581A25F8-A06F-4438-ADC0-2E524888BBED}"/>
              </a:ext>
            </a:extLst>
          </p:cNvPr>
          <p:cNvSpPr>
            <a:spLocks xmlns:a="http://schemas.openxmlformats.org/drawingml/2006/main" noGrp="1"/>
          </p:cNvSpPr>
          <p:nvPr/>
        </p:nvSpPr>
        <p:spPr>
          <a:xfrm xmlns:a="http://schemas.openxmlformats.org/drawingml/2006/main">
            <a:off x="10953750" y="6534150"/>
            <a:ext cx="3714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Markt Q stijgt,</a:t>
            </a:r>
          </a:p>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firmaproductie q daalt.</a:t>
            </a:r>
          </a:p>
        </p:txBody>
      </p:sp>
    </p:spTree>
    <p:extLst>
      <p:ext uri="{BB962C8B-B14F-4D97-AF65-F5344CB8AC3E}">
        <p14:creationId xmlns:p14="http://schemas.microsoft.com/office/powerpoint/2010/main" val="174422712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7d · Nul economische winst controleren">
            <a:extLst xmlns:a="http://schemas.openxmlformats.org/drawingml/2006/main">
              <a:ext uri="{FF2B5EF4-FFF2-40B4-BE49-F238E27FC236}">
                <a16:creationId xmlns:a16="http://schemas.microsoft.com/office/drawing/2014/main" id="{D4B0B270-935B-49C9-A2F4-565C46525D99}"/>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7d · Nul economische winst controleren</a:t>
            </a:r>
          </a:p>
        </p:txBody>
      </p:sp>
      <p:sp>
        <p:nvSpPr>
          <p:cNvPr id="2" name="">
            <a:extLst xmlns:a="http://schemas.openxmlformats.org/drawingml/2006/main">
              <a:ext uri="{FF2B5EF4-FFF2-40B4-BE49-F238E27FC236}">
                <a16:creationId xmlns:a16="http://schemas.microsoft.com/office/drawing/2014/main" id="{596CE360-ED4A-4AA8-A84E-16B5DCDB337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1 · Opgave 7 · Boekpagina 14">
            <a:extLst xmlns:a="http://schemas.openxmlformats.org/drawingml/2006/main">
              <a:ext uri="{FF2B5EF4-FFF2-40B4-BE49-F238E27FC236}">
                <a16:creationId xmlns:a16="http://schemas.microsoft.com/office/drawing/2014/main" id="{9CB627B8-3C83-4DF3-95C2-49C95F93F383}"/>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§4.1.1 · Opgave 7 · Boekpagina 14</a:t>
            </a:r>
          </a:p>
        </p:txBody>
      </p:sp>
      <p:sp>
        <p:nvSpPr>
          <p:cNvPr id="4" name="27">
            <a:extLst xmlns:a="http://schemas.openxmlformats.org/drawingml/2006/main">
              <a:ext uri="{FF2B5EF4-FFF2-40B4-BE49-F238E27FC236}">
                <a16:creationId xmlns:a16="http://schemas.microsoft.com/office/drawing/2014/main" id="{8A29E190-0049-4C59-9732-6C3ED715D378}"/>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27</a:t>
            </a:r>
          </a:p>
        </p:txBody>
      </p:sp>
      <p:sp>
        <p:nvSpPr>
          <p:cNvPr id="5" name="P = minimum GTK = € 8 per kg">
            <a:extLst xmlns:a="http://schemas.openxmlformats.org/drawingml/2006/main">
              <a:ext uri="{FF2B5EF4-FFF2-40B4-BE49-F238E27FC236}">
                <a16:creationId xmlns:a16="http://schemas.microsoft.com/office/drawing/2014/main" id="{0ED359E2-8D72-4E72-820D-8D7E233E33C0}"/>
              </a:ext>
            </a:extLst>
          </p:cNvPr>
          <p:cNvSpPr>
            <a:spLocks xmlns:a="http://schemas.openxmlformats.org/drawingml/2006/main" noGrp="1"/>
          </p:cNvSpPr>
          <p:nvPr/>
        </p:nvSpPr>
        <p:spPr>
          <a:xfrm xmlns:a="http://schemas.openxmlformats.org/drawingml/2006/main">
            <a:off x="571500" y="1866900"/>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P = minimum GTK = € 8 per kg</a:t>
            </a:r>
          </a:p>
        </p:txBody>
      </p:sp>
      <p:sp>
        <p:nvSpPr>
          <p:cNvPr id="6" name="8 = 0,04q + 4     ⇒     q = 100 kg/week ≤ 250">
            <a:extLst xmlns:a="http://schemas.openxmlformats.org/drawingml/2006/main">
              <a:ext uri="{FF2B5EF4-FFF2-40B4-BE49-F238E27FC236}">
                <a16:creationId xmlns:a16="http://schemas.microsoft.com/office/drawing/2014/main" id="{4F34A35C-C3AF-4F2F-BA14-119E0D2FC0B7}"/>
              </a:ext>
            </a:extLst>
          </p:cNvPr>
          <p:cNvSpPr>
            <a:spLocks xmlns:a="http://schemas.openxmlformats.org/drawingml/2006/main" noGrp="1"/>
          </p:cNvSpPr>
          <p:nvPr/>
        </p:nvSpPr>
        <p:spPr>
          <a:xfrm xmlns:a="http://schemas.openxmlformats.org/drawingml/2006/main">
            <a:off x="571500" y="3038475"/>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8 = 0,04q + 4     ⇒     q = 100 kg/week ≤ 250</a:t>
            </a:r>
          </a:p>
        </p:txBody>
      </p:sp>
      <p:sp>
        <p:nvSpPr>
          <p:cNvPr id="7" name="TO = 8 × 100 = € 800 per week">
            <a:extLst xmlns:a="http://schemas.openxmlformats.org/drawingml/2006/main">
              <a:ext uri="{FF2B5EF4-FFF2-40B4-BE49-F238E27FC236}">
                <a16:creationId xmlns:a16="http://schemas.microsoft.com/office/drawing/2014/main" id="{A614A898-48FC-4912-8478-C04C1F67BF59}"/>
              </a:ext>
            </a:extLst>
          </p:cNvPr>
          <p:cNvSpPr>
            <a:spLocks xmlns:a="http://schemas.openxmlformats.org/drawingml/2006/main" noGrp="1"/>
          </p:cNvSpPr>
          <p:nvPr/>
        </p:nvSpPr>
        <p:spPr>
          <a:xfrm xmlns:a="http://schemas.openxmlformats.org/drawingml/2006/main">
            <a:off x="571500" y="4210050"/>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TO = 8 × 100 = € 800 per week</a:t>
            </a:r>
          </a:p>
        </p:txBody>
      </p:sp>
      <p:sp>
        <p:nvSpPr>
          <p:cNvPr id="8" name="TK = 0,02 × 100² + 4 × 100 + 200 = € 800/week">
            <a:extLst xmlns:a="http://schemas.openxmlformats.org/drawingml/2006/main">
              <a:ext uri="{FF2B5EF4-FFF2-40B4-BE49-F238E27FC236}">
                <a16:creationId xmlns:a16="http://schemas.microsoft.com/office/drawing/2014/main" id="{E0205961-A7F2-45A2-9CEE-B66BBFA863FA}"/>
              </a:ext>
            </a:extLst>
          </p:cNvPr>
          <p:cNvSpPr>
            <a:spLocks xmlns:a="http://schemas.openxmlformats.org/drawingml/2006/main" noGrp="1"/>
          </p:cNvSpPr>
          <p:nvPr/>
        </p:nvSpPr>
        <p:spPr>
          <a:xfrm xmlns:a="http://schemas.openxmlformats.org/drawingml/2006/main">
            <a:off x="571500" y="5381625"/>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TK = 0,02 × 100² + 4 × 100 + 200 = € 800/week</a:t>
            </a:r>
          </a:p>
        </p:txBody>
      </p:sp>
      <p:sp>
        <p:nvSpPr>
          <p:cNvPr id="9" name="Economische winst = TO − TK = € 0 per week">
            <a:extLst xmlns:a="http://schemas.openxmlformats.org/drawingml/2006/main">
              <a:ext uri="{FF2B5EF4-FFF2-40B4-BE49-F238E27FC236}">
                <a16:creationId xmlns:a16="http://schemas.microsoft.com/office/drawing/2014/main" id="{C0DB621B-4621-49F0-99F7-CF6C82A9CEE1}"/>
              </a:ext>
            </a:extLst>
          </p:cNvPr>
          <p:cNvSpPr>
            <a:spLocks xmlns:a="http://schemas.openxmlformats.org/drawingml/2006/main" noGrp="1"/>
          </p:cNvSpPr>
          <p:nvPr/>
        </p:nvSpPr>
        <p:spPr>
          <a:xfrm xmlns:a="http://schemas.openxmlformats.org/drawingml/2006/main">
            <a:off x="571500" y="6553200"/>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Economische winst = TO − TK = € 0 per week</a:t>
            </a:r>
          </a:p>
        </p:txBody>
      </p:sp>
    </p:spTree>
    <p:extLst>
      <p:ext uri="{BB962C8B-B14F-4D97-AF65-F5344CB8AC3E}">
        <p14:creationId xmlns:p14="http://schemas.microsoft.com/office/powerpoint/2010/main" val="171754241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7e · Beloning en omzet blijven bestaan">
            <a:extLst xmlns:a="http://schemas.openxmlformats.org/drawingml/2006/main">
              <a:ext uri="{FF2B5EF4-FFF2-40B4-BE49-F238E27FC236}">
                <a16:creationId xmlns:a16="http://schemas.microsoft.com/office/drawing/2014/main" id="{F783E6A3-3398-4D67-9F6C-7A3BC8B1F147}"/>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7e · Beloning en omzet blijven bestaan</a:t>
            </a:r>
          </a:p>
        </p:txBody>
      </p:sp>
      <p:sp>
        <p:nvSpPr>
          <p:cNvPr id="2" name="">
            <a:extLst xmlns:a="http://schemas.openxmlformats.org/drawingml/2006/main">
              <a:ext uri="{FF2B5EF4-FFF2-40B4-BE49-F238E27FC236}">
                <a16:creationId xmlns:a16="http://schemas.microsoft.com/office/drawing/2014/main" id="{2DCF2AD1-5528-4F13-83B8-EA6A6F39499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1 · Opgave 7 · Boekpagina 14">
            <a:extLst xmlns:a="http://schemas.openxmlformats.org/drawingml/2006/main">
              <a:ext uri="{FF2B5EF4-FFF2-40B4-BE49-F238E27FC236}">
                <a16:creationId xmlns:a16="http://schemas.microsoft.com/office/drawing/2014/main" id="{68944FBF-DC84-49F3-A226-E8BEFFCE0E4F}"/>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§4.1.1 · Opgave 7 · Boekpagina 14</a:t>
            </a:r>
          </a:p>
        </p:txBody>
      </p:sp>
      <p:sp>
        <p:nvSpPr>
          <p:cNvPr id="4" name="28">
            <a:extLst xmlns:a="http://schemas.openxmlformats.org/drawingml/2006/main">
              <a:ext uri="{FF2B5EF4-FFF2-40B4-BE49-F238E27FC236}">
                <a16:creationId xmlns:a16="http://schemas.microsoft.com/office/drawing/2014/main" id="{282A28FE-170E-44D4-BA83-EE6F3AE4F9E9}"/>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28</a:t>
            </a:r>
          </a:p>
        </p:txBody>
      </p:sp>
      <p:graphicFrame>
        <p:nvGraphicFramePr>
          <p:cNvPr id="11" name=""/>
          <p:cNvGraphicFramePr/>
          <p:nvPr/>
        </p:nvGraphicFramePr>
        <p:xfrm>
          <a:off xmlns:a="http://schemas.openxmlformats.org/drawingml/2006/main" x="571500" y="2162175"/>
          <a:ext xmlns:a="http://schemas.openxmlformats.org/drawingml/2006/main" cx="14097000" cy="3686175"/>
        </p:xfrm>
        <a:graphic xmlns:a="http://schemas.openxmlformats.org/drawingml/2006/main">
          <a:graphicData uri="http://schemas.openxmlformats.org/drawingml/2006/table">
            <a:tbl>
              <a:tblPr/>
              <a:tblGrid>
                <a:gridCol w="6191250"/>
                <a:gridCol w="7905750"/>
              </a:tblGrid>
              <a:tr h="1228725">
                <a:tc>
                  <a:txBody>
                    <a:bodyPr lIns="171450" tIns="95250" rIns="152400" bIns="95250"/>
                    <a:lstStyle/>
                    <a:p>
                      <a:r>
                        <a:rPr sz="2700" b="1">
                          <a:solidFill>
                            <a:srgbClr val="FFFFFF"/>
                          </a:solidFill>
                          <a:latin typeface="Arial"/>
                          <a:ea typeface="Arial"/>
                          <a:cs typeface="Arial"/>
                        </a:rPr>
                        <a:t>Uitspraak</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Weerlegging met de gegevens</a:t>
                      </a:r>
                    </a:p>
                  </a:txBody>
                  <a:tcPr marL="91440" marR="91440" marT="45720" marB="45720" anchor="ctr">
                    <a:solidFill>
                      <a:srgbClr val="183247"/>
                    </a:solidFill>
                  </a:tcPr>
                </a:tc>
              </a:tr>
              <a:tr h="1228725">
                <a:tc>
                  <a:txBody>
                    <a:bodyPr lIns="171450" tIns="95250" rIns="152400" bIns="95250"/>
                    <a:lstStyle/>
                    <a:p>
                      <a:r>
                        <a:rPr sz="2700" b="0">
                          <a:solidFill>
                            <a:srgbClr val="183247"/>
                          </a:solidFill>
                          <a:latin typeface="Arial"/>
                          <a:ea typeface="Arial"/>
                          <a:cs typeface="Arial"/>
                        </a:rPr>
                        <a:t>“De ondernemer verdient niets.”</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TK bevat € 120 normale ondernemersbeloning per week.</a:t>
                      </a:r>
                    </a:p>
                  </a:txBody>
                  <a:tcPr marL="91440" marR="91440" marT="45720" marB="45720" anchor="ctr">
                    <a:solidFill>
                      <a:srgbClr val="FFFFFF"/>
                    </a:solidFill>
                  </a:tcPr>
                </a:tc>
              </a:tr>
              <a:tr h="1228725">
                <a:tc>
                  <a:txBody>
                    <a:bodyPr lIns="171450" tIns="95250" rIns="152400" bIns="95250"/>
                    <a:lstStyle/>
                    <a:p>
                      <a:r>
                        <a:rPr sz="2700" b="0">
                          <a:solidFill>
                            <a:srgbClr val="183247"/>
                          </a:solidFill>
                          <a:latin typeface="Arial"/>
                          <a:ea typeface="Arial"/>
                          <a:cs typeface="Arial"/>
                        </a:rPr>
                        <a:t>“De omzet is verdwenen.”</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TO = € 800 per week. Alleen TO − TK is nul.</a:t>
                      </a:r>
                    </a:p>
                  </a:txBody>
                  <a:tcPr marL="91440" marR="91440" marT="45720" marB="45720" anchor="ctr">
                    <a:solidFill>
                      <a:srgbClr val="EFF4F7"/>
                    </a:solidFill>
                  </a:tcPr>
                </a:tc>
              </a:tr>
            </a:tbl>
          </a:graphicData>
        </a:graphic>
      </p:graphicFrame>
      <p:sp>
        <p:nvSpPr>
          <p:cNvPr id="6" name="Nul economische winst: geen extra winst boven normale beloni">
            <a:extLst xmlns:a="http://schemas.openxmlformats.org/drawingml/2006/main">
              <a:ext uri="{FF2B5EF4-FFF2-40B4-BE49-F238E27FC236}">
                <a16:creationId xmlns:a16="http://schemas.microsoft.com/office/drawing/2014/main" id="{8D14FC4A-A3D5-4958-A77F-631E9770BB5C}"/>
              </a:ext>
            </a:extLst>
          </p:cNvPr>
          <p:cNvSpPr>
            <a:spLocks xmlns:a="http://schemas.openxmlformats.org/drawingml/2006/main" noGrp="1"/>
          </p:cNvSpPr>
          <p:nvPr/>
        </p:nvSpPr>
        <p:spPr>
          <a:xfrm xmlns:a="http://schemas.openxmlformats.org/drawingml/2006/main">
            <a:off x="571500" y="6677025"/>
            <a:ext cx="14097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Nul economische winst: geen extra winst boven normale beloning</a:t>
            </a:r>
          </a:p>
        </p:txBody>
      </p:sp>
    </p:spTree>
    <p:extLst>
      <p:ext uri="{BB962C8B-B14F-4D97-AF65-F5344CB8AC3E}">
        <p14:creationId xmlns:p14="http://schemas.microsoft.com/office/powerpoint/2010/main" val="23254940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1.1 Toetreding, uittreding en langetermijnevenw">
            <a:extLst xmlns:a="http://schemas.openxmlformats.org/drawingml/2006/main">
              <a:ext uri="{FF2B5EF4-FFF2-40B4-BE49-F238E27FC236}">
                <a16:creationId xmlns:a16="http://schemas.microsoft.com/office/drawing/2014/main" id="{BAE7C789-6B7E-47BA-8AE2-D9480415C2A8}"/>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Deze les: §4.1.1 Toetreding, uittreding en langetermijnevenwicht</a:t>
            </a:r>
          </a:p>
        </p:txBody>
      </p:sp>
      <p:sp>
        <p:nvSpPr>
          <p:cNvPr id="2" name="">
            <a:extLst xmlns:a="http://schemas.openxmlformats.org/drawingml/2006/main">
              <a:ext uri="{FF2B5EF4-FFF2-40B4-BE49-F238E27FC236}">
                <a16:creationId xmlns:a16="http://schemas.microsoft.com/office/drawing/2014/main" id="{A03EBD90-3BB2-4AD4-A97A-2238BCFB4F3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1.1 · Hoe lang blijft de winst?">
            <a:extLst xmlns:a="http://schemas.openxmlformats.org/drawingml/2006/main">
              <a:ext uri="{FF2B5EF4-FFF2-40B4-BE49-F238E27FC236}">
                <a16:creationId xmlns:a16="http://schemas.microsoft.com/office/drawing/2014/main" id="{8956B837-282A-4837-930B-0D169DFF7DBB}"/>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§4.1.1 · Hoe lang blijft de winst?</a:t>
            </a:r>
          </a:p>
        </p:txBody>
      </p:sp>
      <p:sp>
        <p:nvSpPr>
          <p:cNvPr id="4" name="29">
            <a:extLst xmlns:a="http://schemas.openxmlformats.org/drawingml/2006/main">
              <a:ext uri="{FF2B5EF4-FFF2-40B4-BE49-F238E27FC236}">
                <a16:creationId xmlns:a16="http://schemas.microsoft.com/office/drawing/2014/main" id="{5A01D136-C0DE-459F-A728-AD367886A4E0}"/>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29</a:t>
            </a:r>
          </a:p>
        </p:txBody>
      </p:sp>
      <p:sp>
        <p:nvSpPr>
          <p:cNvPr id="5" name="phase">
            <a:extLst xmlns:a="http://schemas.openxmlformats.org/drawingml/2006/main">
              <a:ext uri="{FF2B5EF4-FFF2-40B4-BE49-F238E27FC236}">
                <a16:creationId xmlns:a16="http://schemas.microsoft.com/office/drawing/2014/main" id="{A53720D9-5416-4469-B3CF-AAD7F389A706}"/>
              </a:ext>
            </a:extLst>
          </p:cNvPr>
          <p:cNvSpPr>
            <a:spLocks xmlns:a="http://schemas.openxmlformats.org/drawingml/2006/main" noGrp="1"/>
          </p:cNvSpPr>
          <p:nvPr/>
        </p:nvSpPr>
        <p:spPr>
          <a:xfrm xmlns:a="http://schemas.openxmlformats.org/drawingml/2006/main">
            <a:off x="571500" y="1066800"/>
            <a:ext cx="1381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0E462D07-4A5D-4170-ABD9-4591BEDC52BA}"/>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F8A747E0-D778-4923-B792-6B780DA69BAE}"/>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A5AC058E-54C9-4886-A152-CD8B1C70FEC6}"/>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5E121819-6BFE-4062-B512-0DEF73A0F7D4}"/>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128EC18E-D471-4779-9F89-14A1A50344C4}"/>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8EAB5267-7619-45CA-B908-3F28283A6D83}"/>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4BCCB397-A201-4634-B338-1BC0C978CF11}"/>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07D93664-6973-4C04-8D62-4B77B0C15CE1}"/>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3B312BF0-3D49-4D98-BA56-EF1200ED604B}"/>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82F6B7ED-2196-4546-9C78-FEE01AC8FDCF}"/>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B8556F6E-A0AC-4408-94AC-94FEAB467AD1}"/>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71C8325D-BC2E-45ED-8449-F26A7DDDBE3A}"/>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8ED1E412-23DA-4CD1-97B5-1C2B53993639}"/>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6">
            <a:extLst xmlns:a="http://schemas.openxmlformats.org/drawingml/2006/main">
              <a:ext uri="{FF2B5EF4-FFF2-40B4-BE49-F238E27FC236}">
                <a16:creationId xmlns:a16="http://schemas.microsoft.com/office/drawing/2014/main" id="{4AF302E4-4EC4-4419-A656-EF3193B251FB}"/>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4B43BB87-516C-4544-BDBD-8EB73A1A7EE8}"/>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FE967EC9-CCC0-43C2-B942-8D8DE406D776}"/>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F8354E7A-E6FA-44C5-9443-B7DEED14E6F8}"/>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Toe- en uittreding verklaren.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Markt en bedrijf tekenen.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Nulwinst berekenen en uitleggen.</a:t>
            </a:r>
          </a:p>
        </p:txBody>
      </p:sp>
      <p:sp>
        <p:nvSpPr>
          <p:cNvPr id="23" name="">
            <a:extLst xmlns:a="http://schemas.openxmlformats.org/drawingml/2006/main">
              <a:ext uri="{FF2B5EF4-FFF2-40B4-BE49-F238E27FC236}">
                <a16:creationId xmlns:a16="http://schemas.microsoft.com/office/drawing/2014/main" id="{2C144F60-5DD7-4C9D-97AE-0ACA50E65BA5}"/>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200CF363-D034-43BC-80BD-8F3CB83C0EB5}"/>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DBC811FE-19F4-4CB2-9FFF-209B2697D552}"/>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11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theorie p. 7</a:t>
            </a:r>
          </a:p>
        </p:txBody>
      </p:sp>
      <p:sp>
        <p:nvSpPr>
          <p:cNvPr id="26" name="">
            <a:extLst xmlns:a="http://schemas.openxmlformats.org/drawingml/2006/main">
              <a:ext uri="{FF2B5EF4-FFF2-40B4-BE49-F238E27FC236}">
                <a16:creationId xmlns:a16="http://schemas.microsoft.com/office/drawing/2014/main" id="{E5A459EC-DB8A-4600-B5D6-A86EC864C9A6}"/>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7A9248A3-207F-4C1A-968F-5BBF49DF40A4}"/>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AAA11D16-F3E9-4A54-BF7E-C44E4BAF0307}"/>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§4.1.1 · Opgaven 3 t/m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4951979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2026-10-01T16:24:33.2450000Z</dcterms:created>
  <dcterms:modified xsi:type="dcterms:W3CDTF">2026-10-01T16:24:33.2450000Z</dcterms:modified>
</coreProperties>
</file>