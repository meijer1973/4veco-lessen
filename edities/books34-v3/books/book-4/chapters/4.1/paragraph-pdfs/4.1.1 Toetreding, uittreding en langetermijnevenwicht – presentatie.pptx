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3.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4.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5.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6.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7.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slides/charts/chart8.xml" ContentType="application/vnd.openxmlformats-officedocument.drawingml.chart+xml"/>
  <Override PartName="/ppt/notesSlides/notesSlide24.xml" ContentType="application/vnd.openxmlformats-officedocument.presentationml.notesSlide+xml"/>
  <Override PartName="/ppt/slides/slide25.xml" ContentType="application/vnd.openxmlformats-officedocument.presentationml.slide+xml"/>
  <Override PartName="/ppt/slides/charts/chart9.xml" ContentType="application/vnd.openxmlformats-officedocument.drawingml.chart+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ad2e5f70e35945c1" /><Relationship Type="http://schemas.openxmlformats.org/officeDocument/2006/relationships/extended-properties" Target="/docProps/app.xml" Id="R1259f0fa76ab4707" /><Relationship Type="http://schemas.openxmlformats.org/officeDocument/2006/relationships/officeDocument" Target="/ppt/presentation.xml" Id="R949cd5413cee4077" /></Relationships>
</file>

<file path=ppt/presentation.xml><?xml version="1.0" encoding="utf-8"?>
<p:presentation xmlns:p="http://schemas.openxmlformats.org/presentationml/2006/main">
  <p:sldMasterIdLst>
    <p:sldMasterId xmlns:r="http://schemas.openxmlformats.org/officeDocument/2006/relationships" id="2147483648" r:id="R085a2fcef6384cfd"/>
  </p:sldMasterIdLst>
  <p:notesMasterIdLst>
    <p:notesMasterId xmlns:r="http://schemas.openxmlformats.org/officeDocument/2006/relationships" r:id="Ra804685ca5b84d82"/>
  </p:notesMasterIdLst>
  <p:sldIdLst>
    <p:sldId xmlns:r="http://schemas.openxmlformats.org/officeDocument/2006/relationships" id="256" r:id="R52319ff189cd447a"/>
    <p:sldId xmlns:r="http://schemas.openxmlformats.org/officeDocument/2006/relationships" id="257" r:id="R5ab346952f9c451d"/>
    <p:sldId xmlns:r="http://schemas.openxmlformats.org/officeDocument/2006/relationships" id="258" r:id="R3351eebea18c43fe"/>
    <p:sldId xmlns:r="http://schemas.openxmlformats.org/officeDocument/2006/relationships" id="259" r:id="Rdbed13e791bf4a69"/>
    <p:sldId xmlns:r="http://schemas.openxmlformats.org/officeDocument/2006/relationships" id="260" r:id="R0f1bec05d694455b"/>
    <p:sldId xmlns:r="http://schemas.openxmlformats.org/officeDocument/2006/relationships" id="261" r:id="R882e7d144a6a4166"/>
    <p:sldId xmlns:r="http://schemas.openxmlformats.org/officeDocument/2006/relationships" id="262" r:id="Rb2ea77ab7d194e34"/>
    <p:sldId xmlns:r="http://schemas.openxmlformats.org/officeDocument/2006/relationships" id="263" r:id="R4aac62325d4c49d5"/>
    <p:sldId xmlns:r="http://schemas.openxmlformats.org/officeDocument/2006/relationships" id="264" r:id="Rc26a9f48f67b43f4"/>
    <p:sldId xmlns:r="http://schemas.openxmlformats.org/officeDocument/2006/relationships" id="265" r:id="R39c7f6fe10704e6c"/>
    <p:sldId xmlns:r="http://schemas.openxmlformats.org/officeDocument/2006/relationships" id="266" r:id="R67aeddd2db694486"/>
    <p:sldId xmlns:r="http://schemas.openxmlformats.org/officeDocument/2006/relationships" id="267" r:id="Rce82e34e998e470b"/>
    <p:sldId xmlns:r="http://schemas.openxmlformats.org/officeDocument/2006/relationships" id="268" r:id="R8ccf6dbd4b7446ec"/>
    <p:sldId xmlns:r="http://schemas.openxmlformats.org/officeDocument/2006/relationships" id="269" r:id="Rd750dfac97e04486"/>
    <p:sldId xmlns:r="http://schemas.openxmlformats.org/officeDocument/2006/relationships" id="270" r:id="Rf27cc199bdeb4e8a"/>
    <p:sldId xmlns:r="http://schemas.openxmlformats.org/officeDocument/2006/relationships" id="271" r:id="R1e1b7c7f0d0b4e92"/>
    <p:sldId xmlns:r="http://schemas.openxmlformats.org/officeDocument/2006/relationships" id="272" r:id="R3ed7be935a3c4067"/>
    <p:sldId xmlns:r="http://schemas.openxmlformats.org/officeDocument/2006/relationships" id="273" r:id="R55070df6b3234368"/>
    <p:sldId xmlns:r="http://schemas.openxmlformats.org/officeDocument/2006/relationships" id="274" r:id="R4740019fc8744290"/>
    <p:sldId xmlns:r="http://schemas.openxmlformats.org/officeDocument/2006/relationships" id="275" r:id="Re3441c726bb4493f"/>
    <p:sldId xmlns:r="http://schemas.openxmlformats.org/officeDocument/2006/relationships" id="276" r:id="R5b4c774b243f4baf"/>
    <p:sldId xmlns:r="http://schemas.openxmlformats.org/officeDocument/2006/relationships" id="277" r:id="Rb41716708ba843fd"/>
    <p:sldId xmlns:r="http://schemas.openxmlformats.org/officeDocument/2006/relationships" id="278" r:id="R11f1e442ea824c4d"/>
    <p:sldId xmlns:r="http://schemas.openxmlformats.org/officeDocument/2006/relationships" id="279" r:id="R4c9519a927b44caf"/>
    <p:sldId xmlns:r="http://schemas.openxmlformats.org/officeDocument/2006/relationships" id="280" r:id="R278c67d87ab745f4"/>
    <p:sldId xmlns:r="http://schemas.openxmlformats.org/officeDocument/2006/relationships" id="281" r:id="R27c74741120944c7"/>
    <p:sldId xmlns:r="http://schemas.openxmlformats.org/officeDocument/2006/relationships" id="282" r:id="R762145fc336b4674"/>
    <p:sldId xmlns:r="http://schemas.openxmlformats.org/officeDocument/2006/relationships" id="283" r:id="R97472c8b196b469e"/>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24a69ee4873471a" /><Relationship Type="http://schemas.openxmlformats.org/officeDocument/2006/relationships/slideMaster" Target="/ppt/slideMasters/slideMaster1.xml" Id="R085a2fcef6384cfd" /><Relationship Type="http://schemas.openxmlformats.org/officeDocument/2006/relationships/notesMaster" Target="/ppt/notesMasters/notesMaster1.xml" Id="Ra804685ca5b84d82" /><Relationship Type="http://schemas.openxmlformats.org/officeDocument/2006/relationships/presProps" Target="/ppt/presProps.xml" Id="Rabc6a191563a4a6b" /><Relationship Type="http://schemas.openxmlformats.org/officeDocument/2006/relationships/tableStyles" Target="/ppt/tableStyles.xml" Id="R05aa268988304298" /><Relationship Type="http://schemas.openxmlformats.org/officeDocument/2006/relationships/slide" Target="/ppt/slides/slide1.xml" Id="R52319ff189cd447a" /><Relationship Type="http://schemas.openxmlformats.org/officeDocument/2006/relationships/slide" Target="/ppt/slides/slide2.xml" Id="R5ab346952f9c451d" /><Relationship Type="http://schemas.openxmlformats.org/officeDocument/2006/relationships/slide" Target="/ppt/slides/slide3.xml" Id="R3351eebea18c43fe" /><Relationship Type="http://schemas.openxmlformats.org/officeDocument/2006/relationships/slide" Target="/ppt/slides/slide4.xml" Id="Rdbed13e791bf4a69" /><Relationship Type="http://schemas.openxmlformats.org/officeDocument/2006/relationships/slide" Target="/ppt/slides/slide5.xml" Id="R0f1bec05d694455b" /><Relationship Type="http://schemas.openxmlformats.org/officeDocument/2006/relationships/slide" Target="/ppt/slides/slide6.xml" Id="R882e7d144a6a4166" /><Relationship Type="http://schemas.openxmlformats.org/officeDocument/2006/relationships/slide" Target="/ppt/slides/slide7.xml" Id="Rb2ea77ab7d194e34" /><Relationship Type="http://schemas.openxmlformats.org/officeDocument/2006/relationships/slide" Target="/ppt/slides/slide8.xml" Id="R4aac62325d4c49d5" /><Relationship Type="http://schemas.openxmlformats.org/officeDocument/2006/relationships/slide" Target="/ppt/slides/slide9.xml" Id="Rc26a9f48f67b43f4" /><Relationship Type="http://schemas.openxmlformats.org/officeDocument/2006/relationships/slide" Target="/ppt/slides/slide10.xml" Id="R39c7f6fe10704e6c" /><Relationship Type="http://schemas.openxmlformats.org/officeDocument/2006/relationships/slide" Target="/ppt/slides/slide11.xml" Id="R67aeddd2db694486" /><Relationship Type="http://schemas.openxmlformats.org/officeDocument/2006/relationships/slide" Target="/ppt/slides/slide12.xml" Id="Rce82e34e998e470b" /><Relationship Type="http://schemas.openxmlformats.org/officeDocument/2006/relationships/slide" Target="/ppt/slides/slide13.xml" Id="R8ccf6dbd4b7446ec" /><Relationship Type="http://schemas.openxmlformats.org/officeDocument/2006/relationships/slide" Target="/ppt/slides/slide14.xml" Id="Rd750dfac97e04486" /><Relationship Type="http://schemas.openxmlformats.org/officeDocument/2006/relationships/slide" Target="/ppt/slides/slide15.xml" Id="Rf27cc199bdeb4e8a" /><Relationship Type="http://schemas.openxmlformats.org/officeDocument/2006/relationships/slide" Target="/ppt/slides/slide16.xml" Id="R1e1b7c7f0d0b4e92" /><Relationship Type="http://schemas.openxmlformats.org/officeDocument/2006/relationships/slide" Target="/ppt/slides/slide17.xml" Id="R3ed7be935a3c4067" /><Relationship Type="http://schemas.openxmlformats.org/officeDocument/2006/relationships/slide" Target="/ppt/slides/slide18.xml" Id="R55070df6b3234368" /><Relationship Type="http://schemas.openxmlformats.org/officeDocument/2006/relationships/slide" Target="/ppt/slides/slide19.xml" Id="R4740019fc8744290" /><Relationship Type="http://schemas.openxmlformats.org/officeDocument/2006/relationships/slide" Target="/ppt/slides/slide20.xml" Id="Re3441c726bb4493f" /><Relationship Type="http://schemas.openxmlformats.org/officeDocument/2006/relationships/slide" Target="/ppt/slides/slide21.xml" Id="R5b4c774b243f4baf" /><Relationship Type="http://schemas.openxmlformats.org/officeDocument/2006/relationships/slide" Target="/ppt/slides/slide22.xml" Id="Rb41716708ba843fd" /><Relationship Type="http://schemas.openxmlformats.org/officeDocument/2006/relationships/slide" Target="/ppt/slides/slide23.xml" Id="R11f1e442ea824c4d" /><Relationship Type="http://schemas.openxmlformats.org/officeDocument/2006/relationships/slide" Target="/ppt/slides/slide24.xml" Id="R4c9519a927b44caf" /><Relationship Type="http://schemas.openxmlformats.org/officeDocument/2006/relationships/slide" Target="/ppt/slides/slide25.xml" Id="R278c67d87ab745f4" /><Relationship Type="http://schemas.openxmlformats.org/officeDocument/2006/relationships/slide" Target="/ppt/slides/slide26.xml" Id="R27c74741120944c7" /><Relationship Type="http://schemas.openxmlformats.org/officeDocument/2006/relationships/slide" Target="/ppt/slides/slide27.xml" Id="R762145fc336b4674" /><Relationship Type="http://schemas.openxmlformats.org/officeDocument/2006/relationships/slide" Target="/ppt/slides/slide28.xml" Id="R97472c8b196b469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ac06e0ffc6d463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3e1eaebcf3b4f98" /><Relationship Type="http://schemas.openxmlformats.org/officeDocument/2006/relationships/notesMaster" Target="/ppt/notesMasters/notesMaster1.xml" Id="R8ae8ff15ae0243ba" /></Relationships>
</file>

<file path=ppt/notesSlides/_rels/notesSlide2.xml.rels>&#65279;<?xml version="1.0" encoding="utf-8"?><Relationships xmlns="http://schemas.openxmlformats.org/package/2006/relationships"><Relationship Type="http://schemas.openxmlformats.org/officeDocument/2006/relationships/slide" Target="/ppt/slides/slide2.xml" Id="R71b12f564410499d" /><Relationship Type="http://schemas.openxmlformats.org/officeDocument/2006/relationships/notesMaster" Target="/ppt/notesMasters/notesMaster1.xml" Id="R13c396d5977144e4" /></Relationships>
</file>

<file path=ppt/notesSlides/_rels/notesSlide3.xml.rels>&#65279;<?xml version="1.0" encoding="utf-8"?><Relationships xmlns="http://schemas.openxmlformats.org/package/2006/relationships"><Relationship Type="http://schemas.openxmlformats.org/officeDocument/2006/relationships/slide" Target="/ppt/slides/slide3.xml" Id="R8f17415ef04844b4" /><Relationship Type="http://schemas.openxmlformats.org/officeDocument/2006/relationships/notesMaster" Target="/ppt/notesMasters/notesMaster1.xml" Id="R0125109205dc4ed0" /></Relationships>
</file>

<file path=ppt/notesSlides/_rels/notesSlide4.xml.rels>&#65279;<?xml version="1.0" encoding="utf-8"?><Relationships xmlns="http://schemas.openxmlformats.org/package/2006/relationships"><Relationship Type="http://schemas.openxmlformats.org/officeDocument/2006/relationships/slide" Target="/ppt/slides/slide4.xml" Id="R5ef11060070443a0" /><Relationship Type="http://schemas.openxmlformats.org/officeDocument/2006/relationships/notesMaster" Target="/ppt/notesMasters/notesMaster1.xml" Id="R52d11b0c6b1c4ce9" /></Relationships>
</file>

<file path=ppt/notesSlides/_rels/notesSlide5.xml.rels>&#65279;<?xml version="1.0" encoding="utf-8"?><Relationships xmlns="http://schemas.openxmlformats.org/package/2006/relationships"><Relationship Type="http://schemas.openxmlformats.org/officeDocument/2006/relationships/slide" Target="/ppt/slides/slide5.xml" Id="R50991c260f7b428e" /><Relationship Type="http://schemas.openxmlformats.org/officeDocument/2006/relationships/notesMaster" Target="/ppt/notesMasters/notesMaster1.xml" Id="R0e6fd9d6919b4a45" /></Relationships>
</file>

<file path=ppt/notesSlides/_rels/notesSlide6.xml.rels>&#65279;<?xml version="1.0" encoding="utf-8"?><Relationships xmlns="http://schemas.openxmlformats.org/package/2006/relationships"><Relationship Type="http://schemas.openxmlformats.org/officeDocument/2006/relationships/slide" Target="/ppt/slides/slide6.xml" Id="R68d429d63eb84d61" /><Relationship Type="http://schemas.openxmlformats.org/officeDocument/2006/relationships/notesMaster" Target="/ppt/notesMasters/notesMaster1.xml" Id="Rc41869f147644801" /></Relationships>
</file>

<file path=ppt/notesSlides/_rels/notesSlide7.xml.rels>&#65279;<?xml version="1.0" encoding="utf-8"?><Relationships xmlns="http://schemas.openxmlformats.org/package/2006/relationships"><Relationship Type="http://schemas.openxmlformats.org/officeDocument/2006/relationships/slide" Target="/ppt/slides/slide7.xml" Id="R7255da12ea814526" /><Relationship Type="http://schemas.openxmlformats.org/officeDocument/2006/relationships/notesMaster" Target="/ppt/notesMasters/notesMaster1.xml" Id="R9fe3a733125a47a3" /></Relationships>
</file>

<file path=ppt/notesSlides/_rels/notesSlide8.xml.rels>&#65279;<?xml version="1.0" encoding="utf-8"?><Relationships xmlns="http://schemas.openxmlformats.org/package/2006/relationships"><Relationship Type="http://schemas.openxmlformats.org/officeDocument/2006/relationships/slide" Target="/ppt/slides/slide8.xml" Id="Rca504c6ead7d4b4a" /><Relationship Type="http://schemas.openxmlformats.org/officeDocument/2006/relationships/notesMaster" Target="/ppt/notesMasters/notesMaster1.xml" Id="R56569747b65c4f20" /></Relationships>
</file>

<file path=ppt/notesSlides/_rels/notesSlide9.xml.rels>&#65279;<?xml version="1.0" encoding="utf-8"?><Relationships xmlns="http://schemas.openxmlformats.org/package/2006/relationships"><Relationship Type="http://schemas.openxmlformats.org/officeDocument/2006/relationships/slide" Target="/ppt/slides/slide9.xml" Id="R9209a22ed3544932" /><Relationship Type="http://schemas.openxmlformats.org/officeDocument/2006/relationships/notesMaster" Target="/ppt/notesMasters/notesMaster1.xml" Id="R1ff8d5f8af2b4a1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d6e2e5810f54505" /><Relationship Type="http://schemas.openxmlformats.org/officeDocument/2006/relationships/notesMaster" Target="/ppt/notesMasters/notesMaster1.xml" Id="R96b682e74d12479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49c72ebfb444dbd" /><Relationship Type="http://schemas.openxmlformats.org/officeDocument/2006/relationships/notesMaster" Target="/ppt/notesMasters/notesMaster1.xml" Id="R2d585f983f5a419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ab8ffd12791464f" /><Relationship Type="http://schemas.openxmlformats.org/officeDocument/2006/relationships/notesMaster" Target="/ppt/notesMasters/notesMaster1.xml" Id="Rcb6531f846f2482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b8ff74a03ef43ff" /><Relationship Type="http://schemas.openxmlformats.org/officeDocument/2006/relationships/notesMaster" Target="/ppt/notesMasters/notesMaster1.xml" Id="Rc061fd74e36646b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921523ef6ac47d5" /><Relationship Type="http://schemas.openxmlformats.org/officeDocument/2006/relationships/notesMaster" Target="/ppt/notesMasters/notesMaster1.xml" Id="Re962f63ca11d492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34809450980451e" /><Relationship Type="http://schemas.openxmlformats.org/officeDocument/2006/relationships/notesMaster" Target="/ppt/notesMasters/notesMaster1.xml" Id="R7f0158c7c99e4aa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33c86d81fa143b3" /><Relationship Type="http://schemas.openxmlformats.org/officeDocument/2006/relationships/notesMaster" Target="/ppt/notesMasters/notesMaster1.xml" Id="Rc41e51558a644ee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b3e11bd83d94326" /><Relationship Type="http://schemas.openxmlformats.org/officeDocument/2006/relationships/notesMaster" Target="/ppt/notesMasters/notesMaster1.xml" Id="R20c3f85d047b49b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226d352b30b4d58" /><Relationship Type="http://schemas.openxmlformats.org/officeDocument/2006/relationships/notesMaster" Target="/ppt/notesMasters/notesMaster1.xml" Id="Rb3528eaa33b64ac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965c10259304730" /><Relationship Type="http://schemas.openxmlformats.org/officeDocument/2006/relationships/notesMaster" Target="/ppt/notesMasters/notesMaster1.xml" Id="R1b8145d1f52b423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c2d4fa0ff4047d0" /><Relationship Type="http://schemas.openxmlformats.org/officeDocument/2006/relationships/notesMaster" Target="/ppt/notesMasters/notesMaster1.xml" Id="R8d9f49ea8c2e4ed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de794bb95e14b0c" /><Relationship Type="http://schemas.openxmlformats.org/officeDocument/2006/relationships/notesMaster" Target="/ppt/notesMasters/notesMaster1.xml" Id="Rbfd68e2964ab464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c68e5366a01489e" /><Relationship Type="http://schemas.openxmlformats.org/officeDocument/2006/relationships/notesMaster" Target="/ppt/notesMasters/notesMaster1.xml" Id="R2bf57784d6f34ba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6be6815e2224082" /><Relationship Type="http://schemas.openxmlformats.org/officeDocument/2006/relationships/notesMaster" Target="/ppt/notesMasters/notesMaster1.xml" Id="R748dfcfd330a484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f98667f2f804f45" /><Relationship Type="http://schemas.openxmlformats.org/officeDocument/2006/relationships/notesMaster" Target="/ppt/notesMasters/notesMaster1.xml" Id="R449d567cb81a423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5419641a13a4bb1" /><Relationship Type="http://schemas.openxmlformats.org/officeDocument/2006/relationships/notesMaster" Target="/ppt/notesMasters/notesMaster1.xml" Id="R1e6a5db83142408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f95d088f5b94342" /><Relationship Type="http://schemas.openxmlformats.org/officeDocument/2006/relationships/notesMaster" Target="/ppt/notesMasters/notesMaster1.xml" Id="R952553b30aea4dd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4c17f9fa6f943a9" /><Relationship Type="http://schemas.openxmlformats.org/officeDocument/2006/relationships/notesMaster" Target="/ppt/notesMasters/notesMaster1.xml" Id="Rca816ff92b134ce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4fc1853716b6439c" /><Relationship Type="http://schemas.openxmlformats.org/officeDocument/2006/relationships/notesMaster" Target="/ppt/notesMasters/notesMaster1.xml" Id="Rd92f59fa148348f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lukt al, en waar heb je steun nodig?</a:t>
            </a:r>
          </a:p>
          <a:p xmlns:a="http://schemas.openxmlformats.org/drawingml/2006/main">
            <a:r>
              <a:rPr sz="1400"/>
              <a:t/>
            </a:r>
          </a:p>
          <a:p xmlns:a="http://schemas.openxmlformats.org/drawingml/2006/main">
            <a:r>
              <a:rPr sz="1400"/>
              <a:t>Uitleg: Laat de dia staan tijdens startopdracht. Start: 1 en 2 op p. 11. Basis 3 op p. 11 en 4 op p. 12. Zelfstandig 5 en 6 op p. 13. Doel 7 op p. 14. Huiswerk: 3, 4, 5, 6 en 7 maken en nakijken. Bonus 8 en herhaling 9–10 zijn extra. De docentenhandleiding adviseert voorlopig twee lessen van 55 minuten, zonder gemeten tijdsbewijs. Laat huiswerk of een volgende les de route afmaken; schrap geen basiswerk.</a:t>
            </a:r>
          </a:p>
          <a:p xmlns:a="http://schemas.openxmlformats.org/drawingml/2006/main">
            <a:r>
              <a:rPr sz="1400"/>
              <a:t/>
            </a:r>
          </a:p>
          <a:p xmlns:a="http://schemas.openxmlformats.org/drawingml/2006/main">
            <a:r>
              <a:rPr sz="1400"/>
              <a:t>Start 1 haalt de firmaberekening op. Geef bij vastlopen de aanpak: TK differentiëren, P = MO met MK vergelijken, capaciteit controleren, TO en TK invullen, GTK = TK/q. Dit is eerder onderwezen in Boek 3 p. 63 en 70–72. Start 2 bevat nieuwe leerstof: normale ondernemersbeloning zit al in TK. Laat leerlingen eerst de afspraak over winst op p. 7 lezen, benoemen welk bedrag in TK zit en een voorlopige uitleg schrijven. Beoordeel deze eerste poging als verkenning. Keer vóór de basisopgaven na de uitleg terug naar start 2.</a:t>
            </a:r>
          </a:p>
          <a:p xmlns:a="http://schemas.openxmlformats.org/drawingml/2006/main">
            <a:r>
              <a:rPr sz="1400"/>
              <a:t/>
            </a:r>
          </a:p>
          <a:p xmlns:a="http://schemas.openxmlformats.org/drawingml/2006/main">
            <a:r>
              <a:rPr sz="1400"/>
              <a:t>Misvatting: Economische winst is een nieuwe interpretatie, geen al beheerste voorkennis.</a:t>
            </a:r>
          </a:p>
          <a:p xmlns:a="http://schemas.openxmlformats.org/drawingml/2006/main">
            <a:r>
              <a:rPr sz="1400"/>
              <a:t/>
            </a:r>
          </a:p>
          <a:p xmlns:a="http://schemas.openxmlformats.org/drawingml/2006/main">
            <a:r>
              <a:rPr sz="1400"/>
              <a:t>Overgang: Laat leerlingen gericht verdergaan met de aangegeven fase.</a:t>
            </a:r>
          </a:p>
          <a:p xmlns:a="http://schemas.openxmlformats.org/drawingml/2006/main">
            <a:r>
              <a:rPr sz="1400"/>
              <a:t/>
            </a:r>
          </a:p>
          <a:p xmlns:a="http://schemas.openxmlformats.org/drawingml/2006/main">
            <a:r>
              <a:rPr sz="1400"/>
              <a:t>Bron: Boek 4, editie books34-v3, gedrukte complete-boekpagina 7, 11–14. https://github.com/meijer1973/4veco-lessen/blob/0356afb6cac2dd43adbe9f63b872aaf423efc914/edities/books34-v3/books/book-4/output/Boek_4_Compleet_v3.pdf</a:t>
            </a:r>
          </a:p>
          <a:p xmlns:a="http://schemas.openxmlformats.org/drawingml/2006/main">
            <a:r>
              <a:rPr sz="1400"/>
              <a:t>Manuscript en antwoordmodel: https://github.com/meijer1973/4veco-lessen/blob/0356afb6cac2dd43adbe9f63b872aaf423efc914/edities/books34-v3/books/book-4/chapters/4.1/4.1.1%20manuscript.md en https://github.com/meijer1973/4veco-lessen/blob/0356afb6cac2dd43adbe9f63b872aaf423efc914/edities/books34-v3/books/book-4/chapters/4.1/Antwoorden.md</a:t>
            </a:r>
          </a:p>
          <a:p xmlns:a="http://schemas.openxmlformats.org/drawingml/2006/main">
            <a:r>
              <a:rPr sz="1400"/>
              <a:t>Voorkennis: https://github.com/meijer1973/4veco-lessen/blob/0356afb6cac2dd43adbe9f63b872aaf423efc914/edities/books34-v3/books/book-3/output/Boek_3_Compleet_v3.pdf, gedrukte p. 63, 70–72. Startantwoorden alleen voor feedback na eigen poging: 1a MK=0,20q+2; q=30. 1b TO=240, TK=190, winst=50 euro/week, GTK=6,333… euro/kg. 2a economische winst=0; 2b normale vergoeding=180 euro/week.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beloning kan er al in de kosten zitten?</a:t>
            </a:r>
          </a:p>
          <a:p xmlns:a="http://schemas.openxmlformats.org/drawingml/2006/main">
            <a:r>
              <a:rPr sz="1400"/>
              <a:t/>
            </a:r>
          </a:p>
          <a:p xmlns:a="http://schemas.openxmlformats.org/drawingml/2006/main">
            <a:r>
              <a:rPr sz="1400"/>
              <a:t>Uitleg: Introduceer economische winst expliciet. De normale vergoeding voor arbeid en eigen vermogen van de ondernemer is al een kostenpost. Een positieve rest is overwinst. Bij nul blijft de normale vergoeding bestaan. Laat leerlingen bij start 2 alleen aanwijzen waar zij dit lezen; werk de opgave hier niet uit.</a:t>
            </a:r>
          </a:p>
          <a:p xmlns:a="http://schemas.openxmlformats.org/drawingml/2006/main">
            <a:r>
              <a:rPr sz="1400"/>
              <a:t/>
            </a:r>
          </a:p>
          <a:p xmlns:a="http://schemas.openxmlformats.org/drawingml/2006/main">
            <a:r>
              <a:rPr sz="1400"/>
              <a:t>Misvatting: TO = TK betekent niet TO = 0 of gratis ondernemerswerk.</a:t>
            </a:r>
          </a:p>
          <a:p xmlns:a="http://schemas.openxmlformats.org/drawingml/2006/main">
            <a:r>
              <a:rPr sz="1400"/>
              <a:t/>
            </a:r>
          </a:p>
          <a:p xmlns:a="http://schemas.openxmlformats.org/drawingml/2006/main">
            <a:r>
              <a:rPr sz="1400"/>
              <a:t>Overgang: Onderzoek met een apart voorbeeld waarom overwinst kan verdwijnen.</a:t>
            </a:r>
          </a:p>
          <a:p xmlns:a="http://schemas.openxmlformats.org/drawingml/2006/main">
            <a:r>
              <a:rPr sz="1400"/>
              <a:t/>
            </a:r>
          </a:p>
          <a:p xmlns:a="http://schemas.openxmlformats.org/drawingml/2006/main">
            <a:r>
              <a:rPr sz="1400"/>
              <a:t>Bron: Boek 4, editie books34-v3, gedrukte complete-boekpagina 7. https://github.com/meijer1973/4veco-lessen/blob/0356afb6cac2dd43adbe9f63b872aaf423efc914/edities/books34-v3/books/book-4/output/Boek_4_Compleet_v3.pdf</a:t>
            </a:r>
          </a:p>
          <a:p xmlns:a="http://schemas.openxmlformats.org/drawingml/2006/main">
            <a:r>
              <a:rPr sz="1400"/>
              <a:t>Manuscript en antwoordmodel: https://github.com/meijer1973/4veco-lessen/blob/0356afb6cac2dd43adbe9f63b872aaf423efc914/edities/books34-v3/books/book-4/chapters/4.1/4.1.1%20manuscript.md en https://github.com/meijer1973/4veco-lessen/blob/0356afb6cac2dd43adbe9f63b872aaf423efc914/edities/books34-v3/books/book-4/chapters/4.1/Antwoorden.md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maakt winst op deze markt aantrekkelijk voor anderen?</a:t>
            </a:r>
          </a:p>
          <a:p xmlns:a="http://schemas.openxmlformats.org/drawingml/2006/main">
            <a:r>
              <a:rPr sz="1400"/>
              <a:t/>
            </a:r>
          </a:p>
          <a:p xmlns:a="http://schemas.openxmlformats.org/drawingml/2006/main">
            <a:r>
              <a:rPr sz="1400"/>
              <a:t>Uitleg: Eigen voorbeeld. In de constante 45 euro zit 30 euro normale ondernemersbeloning. De overige kosten en beloning zijn volledig in TK opgenomen. Er zijn aanvankelijk 100 bedrijven. Vrije toetreding, dezelfde technologie, vaste inputprijzen en ongewijzigde vraag. Deze aannamen blijven in de volgende dia’s gelden.</a:t>
            </a:r>
          </a:p>
          <a:p xmlns:a="http://schemas.openxmlformats.org/drawingml/2006/main">
            <a:r>
              <a:rPr sz="1400"/>
              <a:t/>
            </a:r>
          </a:p>
          <a:p xmlns:a="http://schemas.openxmlformats.org/drawingml/2006/main">
            <a:r>
              <a:rPr sz="1400"/>
              <a:t>Misvatting: Eén prijsnemer bepaalt de marktprijs niet. Toetreding verandert het aantal aanbieders.</a:t>
            </a:r>
          </a:p>
          <a:p xmlns:a="http://schemas.openxmlformats.org/drawingml/2006/main">
            <a:r>
              <a:rPr sz="1400"/>
              <a:t/>
            </a:r>
          </a:p>
          <a:p xmlns:a="http://schemas.openxmlformats.org/drawingml/2006/main">
            <a:r>
              <a:rPr sz="1400"/>
              <a:t>Overgang: Herhaal eerst de keuze van één onderneming.</a:t>
            </a:r>
          </a:p>
          <a:p xmlns:a="http://schemas.openxmlformats.org/drawingml/2006/main">
            <a:r>
              <a:rPr sz="1400"/>
              <a:t/>
            </a:r>
          </a:p>
          <a:p xmlns:a="http://schemas.openxmlformats.org/drawingml/2006/main">
            <a:r>
              <a:rPr sz="1400"/>
              <a:t>Bron: Boek 4, editie books34-v3, gedrukte complete-boekpagina 7–10. https://github.com/meijer1973/4veco-lessen/blob/0356afb6cac2dd43adbe9f63b872aaf423efc914/edities/books34-v3/books/book-4/output/Boek_4_Compleet_v3.pdf</a:t>
            </a:r>
          </a:p>
          <a:p xmlns:a="http://schemas.openxmlformats.org/drawingml/2006/main">
            <a:r>
              <a:rPr sz="1400"/>
              <a:t>Manuscript en antwoordmodel: https://github.com/meijer1973/4veco-lessen/blob/0356afb6cac2dd43adbe9f63b872aaf423efc914/edities/books34-v3/books/book-4/chapters/4.1/4.1.1%20manuscript.md en https://github.com/meijer1973/4veco-lessen/blob/0356afb6cac2dd43adbe9f63b872aaf423efc914/edities/books34-v3/books/book-4/chapters/4.1/Antwoorden.md</a:t>
            </a:r>
          </a:p>
          <a:p xmlns:a="http://schemas.openxmlformats.org/drawingml/2006/main">
            <a:r>
              <a:rPr sz="1400"/>
              <a:t>Uitlegvoorbeeld — niet uit het boek. Vezelkorrels: eigen context en gegevens; de boekpagina onderbouwt uitsluitend de methode.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blijven de 45 euro wel nodig bij TK?</a:t>
            </a:r>
          </a:p>
          <a:p xmlns:a="http://schemas.openxmlformats.org/drawingml/2006/main">
            <a:r>
              <a:rPr sz="1400"/>
              <a:t/>
            </a:r>
          </a:p>
          <a:p xmlns:a="http://schemas.openxmlformats.org/drawingml/2006/main">
            <a:r>
              <a:rPr sz="1400"/>
              <a:t>Uitleg: Herstel de bekende firmaberekening kort. Verdubbel de coëfficiënt van q², houd de coefficient van q en laat de constante bij het differentiëren weg. Bij q=50 is MK=8&lt;MO=9, bij q=70 is MK=10&gt;MO=9. Dus uitbreiden helpt eerst en schaadt daarna. 60≤100. Bij q=0 is winst −45, zodat produceren beter is.</a:t>
            </a:r>
          </a:p>
          <a:p xmlns:a="http://schemas.openxmlformats.org/drawingml/2006/main">
            <a:r>
              <a:rPr sz="1400"/>
              <a:t/>
            </a:r>
          </a:p>
          <a:p xmlns:a="http://schemas.openxmlformats.org/drawingml/2006/main">
            <a:r>
              <a:rPr sz="1400"/>
              <a:t>Misvatting: Een MO/MK-snijpunt is pas bruikbaar na controle van verloop en capaciteit.</a:t>
            </a:r>
          </a:p>
          <a:p xmlns:a="http://schemas.openxmlformats.org/drawingml/2006/main">
            <a:r>
              <a:rPr sz="1400"/>
              <a:t/>
            </a:r>
          </a:p>
          <a:p xmlns:a="http://schemas.openxmlformats.org/drawingml/2006/main">
            <a:r>
              <a:rPr sz="1400"/>
              <a:t>Overgang: Bereken het winstbedrag bij deze q.</a:t>
            </a:r>
          </a:p>
          <a:p xmlns:a="http://schemas.openxmlformats.org/drawingml/2006/main">
            <a:r>
              <a:rPr sz="1400"/>
              <a:t/>
            </a:r>
          </a:p>
          <a:p xmlns:a="http://schemas.openxmlformats.org/drawingml/2006/main">
            <a:r>
              <a:rPr sz="1400"/>
              <a:t>Bron: Boek 4, editie books34-v3, gedrukte complete-boekpagina 8–10. https://github.com/meijer1973/4veco-lessen/blob/0356afb6cac2dd43adbe9f63b872aaf423efc914/edities/books34-v3/books/book-4/output/Boek_4_Compleet_v3.pdf</a:t>
            </a:r>
          </a:p>
          <a:p xmlns:a="http://schemas.openxmlformats.org/drawingml/2006/main">
            <a:r>
              <a:rPr sz="1400"/>
              <a:t>Manuscript en antwoordmodel: https://github.com/meijer1973/4veco-lessen/blob/0356afb6cac2dd43adbe9f63b872aaf423efc914/edities/books34-v3/books/book-4/chapters/4.1/4.1.1%20manuscript.md en https://github.com/meijer1973/4veco-lessen/blob/0356afb6cac2dd43adbe9f63b872aaf423efc914/edities/books34-v3/books/book-4/chapters/4.1/Antwoorden.md</a:t>
            </a:r>
          </a:p>
          <a:p xmlns:a="http://schemas.openxmlformats.org/drawingml/2006/main">
            <a:r>
              <a:rPr sz="1400"/>
              <a:t>Uitlegvoorbeeld — niet uit het boek. Vezelkorrels: eigen context en gegevens; de boekpagina onderbouwt uitsluitend de methode. Voorkennis met uitleg: Boek 3 p. 63, 70–72. https://github.com/meijer1973/4veco-lessen/blob/0356afb6cac2dd43adbe9f63b872aaf423efc914/edities/books34-v3/books/book-3/output/Boek_3_Compleet_v3.pdf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afstand in de grafiek laat winst per kg zien?</a:t>
            </a:r>
          </a:p>
          <a:p xmlns:a="http://schemas.openxmlformats.org/drawingml/2006/main">
            <a:r>
              <a:rPr sz="1400"/>
              <a:t/>
            </a:r>
          </a:p>
          <a:p xmlns:a="http://schemas.openxmlformats.org/drawingml/2006/main">
            <a:r>
              <a:rPr sz="1400"/>
              <a:t>Uitleg: Lees q=60 waar de horizontale MO de stijgende MK snijdt. TO=9×60=540. TK=0,05×60²+3×60+45=405. Economische winst=135 euro/week. GTK=405/60=6,75 euro/kg, dus P&gt;GTK. De grafiek is per kg, de bedragen rechts zijn per week.</a:t>
            </a:r>
          </a:p>
          <a:p xmlns:a="http://schemas.openxmlformats.org/drawingml/2006/main">
            <a:r>
              <a:rPr sz="1400"/>
              <a:t/>
            </a:r>
          </a:p>
          <a:p xmlns:a="http://schemas.openxmlformats.org/drawingml/2006/main">
            <a:r>
              <a:rPr sz="1400"/>
              <a:t>Misvatting: Marginale kosten zijn niet de totale kosten. Trek niet MK van TO af.</a:t>
            </a:r>
          </a:p>
          <a:p xmlns:a="http://schemas.openxmlformats.org/drawingml/2006/main">
            <a:r>
              <a:rPr sz="1400"/>
              <a:t/>
            </a:r>
          </a:p>
          <a:p xmlns:a="http://schemas.openxmlformats.org/drawingml/2006/main">
            <a:r>
              <a:rPr sz="1400"/>
              <a:t>Overgang: Kijk nu naar alle bedrijven samen.</a:t>
            </a:r>
          </a:p>
          <a:p xmlns:a="http://schemas.openxmlformats.org/drawingml/2006/main">
            <a:r>
              <a:rPr sz="1400"/>
              <a:t/>
            </a:r>
          </a:p>
          <a:p xmlns:a="http://schemas.openxmlformats.org/drawingml/2006/main">
            <a:r>
              <a:rPr sz="1400"/>
              <a:t>Bron: Boek 4, editie books34-v3, gedrukte complete-boekpagina 8–10. https://github.com/meijer1973/4veco-lessen/blob/0356afb6cac2dd43adbe9f63b872aaf423efc914/edities/books34-v3/books/book-4/output/Boek_4_Compleet_v3.pdf</a:t>
            </a:r>
          </a:p>
          <a:p xmlns:a="http://schemas.openxmlformats.org/drawingml/2006/main">
            <a:r>
              <a:rPr sz="1400"/>
              <a:t>Manuscript en antwoordmodel: https://github.com/meijer1973/4veco-lessen/blob/0356afb6cac2dd43adbe9f63b872aaf423efc914/edities/books34-v3/books/book-4/chapters/4.1/4.1.1%20manuscript.md en https://github.com/meijer1973/4veco-lessen/blob/0356afb6cac2dd43adbe9f63b872aaf423efc914/edities/books34-v3/books/book-4/chapters/4.1/Antwoorden.md</a:t>
            </a:r>
          </a:p>
          <a:p xmlns:a="http://schemas.openxmlformats.org/drawingml/2006/main">
            <a:r>
              <a:rPr sz="1400"/>
              <a:t>Uitlegvoorbeeld — niet uit het boek. Vezelkorrels: eigen context en gegevens; de boekpagina onderbouwt uitsluitend de methode.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betekent Q=6 op deze as?</a:t>
            </a:r>
          </a:p>
          <a:p xmlns:a="http://schemas.openxmlformats.org/drawingml/2006/main">
            <a:r>
              <a:rPr sz="1400"/>
              <a:t/>
            </a:r>
          </a:p>
          <a:p xmlns:a="http://schemas.openxmlformats.org/drawingml/2006/main">
            <a:r>
              <a:rPr sz="1400"/>
              <a:t>Uitleg: Eigen markt: inverse vraag P=15−Q en aanbod P=3+Q, met Q in duizend kg per week. Hun snijpunt is Q=6, P=9. Dit aanbod is precies de som van 100 identieke ondernemingen met q=10(P−3), op het afgebeelde domein tot 100 kg capaciteit per bedrijf. De zichtbare A is tot Q=10 getekend; grotere hoeveelheden zijn met 100 bedrijven niet uitvoerbaar.</a:t>
            </a:r>
          </a:p>
          <a:p xmlns:a="http://schemas.openxmlformats.org/drawingml/2006/main">
            <a:r>
              <a:rPr sz="1400"/>
              <a:t/>
            </a:r>
          </a:p>
          <a:p xmlns:a="http://schemas.openxmlformats.org/drawingml/2006/main">
            <a:r>
              <a:rPr sz="1400"/>
              <a:t>Misvatting: De markt-as gebruikt duizenden kg; de bedrijfsas losse kg.</a:t>
            </a:r>
          </a:p>
          <a:p xmlns:a="http://schemas.openxmlformats.org/drawingml/2006/main">
            <a:r>
              <a:rPr sz="1400"/>
              <a:t/>
            </a:r>
          </a:p>
          <a:p xmlns:a="http://schemas.openxmlformats.org/drawingml/2006/main">
            <a:r>
              <a:rPr sz="1400"/>
              <a:t>Overgang: Voeg toetreding toe terwijl de vraag gelijk blijft.</a:t>
            </a:r>
          </a:p>
          <a:p xmlns:a="http://schemas.openxmlformats.org/drawingml/2006/main">
            <a:r>
              <a:rPr sz="1400"/>
              <a:t/>
            </a:r>
          </a:p>
          <a:p xmlns:a="http://schemas.openxmlformats.org/drawingml/2006/main">
            <a:r>
              <a:rPr sz="1400"/>
              <a:t>Bron: Boek 4, editie books34-v3, gedrukte complete-boekpagina 8. https://github.com/meijer1973/4veco-lessen/blob/0356afb6cac2dd43adbe9f63b872aaf423efc914/edities/books34-v3/books/book-4/output/Boek_4_Compleet_v3.pdf</a:t>
            </a:r>
          </a:p>
          <a:p xmlns:a="http://schemas.openxmlformats.org/drawingml/2006/main">
            <a:r>
              <a:rPr sz="1400"/>
              <a:t>Manuscript en antwoordmodel: https://github.com/meijer1973/4veco-lessen/blob/0356afb6cac2dd43adbe9f63b872aaf423efc914/edities/books34-v3/books/book-4/chapters/4.1/4.1.1%20manuscript.md en https://github.com/meijer1973/4veco-lessen/blob/0356afb6cac2dd43adbe9f63b872aaf423efc914/edities/books34-v3/books/book-4/chapters/4.1/Antwoorden.md</a:t>
            </a:r>
          </a:p>
          <a:p xmlns:a="http://schemas.openxmlformats.org/drawingml/2006/main">
            <a:r>
              <a:rPr sz="1400"/>
              <a:t>Uitlegvoorbeeld — niet uit het boek. Vezelkorrels: eigen context en gegevens; de boekpagina onderbouwt uitsluitend de methode.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verschuift de vraaglijn hier niet?</a:t>
            </a:r>
          </a:p>
          <a:p xmlns:a="http://schemas.openxmlformats.org/drawingml/2006/main">
            <a:r>
              <a:rPr sz="1400"/>
              <a:t/>
            </a:r>
          </a:p>
          <a:p xmlns:a="http://schemas.openxmlformats.org/drawingml/2006/main">
            <a:r>
              <a:rPr sz="1400"/>
              <a:t>Uitleg: Toon eerst de oude lijnen en vervolgens A₁. Bij P=9 stijgt het aangeboden Q van 6 naar 18 duizend kg als het aantal bedrijven van 100 naar 300 gaat. Binnen het getoonde domein zie je bij P=6 de toename van 3 naar 9 duizend kg. Het nieuwe evenwicht is Q=9, P=6. A₁: P=3+Q/3. Het snijpunt volgt door de onveranderde V met A₁ te combineren. De aanboddraaiing is een rechtsverschuiving: vergelijk horizontaal bij dezelfde prijs.</a:t>
            </a:r>
          </a:p>
          <a:p xmlns:a="http://schemas.openxmlformats.org/drawingml/2006/main">
            <a:r>
              <a:rPr sz="1400"/>
              <a:t/>
            </a:r>
          </a:p>
          <a:p xmlns:a="http://schemas.openxmlformats.org/drawingml/2006/main">
            <a:r>
              <a:rPr sz="1400"/>
              <a:t>Misvatting: De lagere prijs is een gevolg van meer aanbieders. De vraaglijn blijft staan; het evenwicht beweegt erlangs.</a:t>
            </a:r>
          </a:p>
          <a:p xmlns:a="http://schemas.openxmlformats.org/drawingml/2006/main">
            <a:r>
              <a:rPr sz="1400"/>
              <a:t/>
            </a:r>
          </a:p>
          <a:p xmlns:a="http://schemas.openxmlformats.org/drawingml/2006/main">
            <a:r>
              <a:rPr sz="1400"/>
              <a:t>Overgang: Neem deze lagere marktprijs over in de ondernemingsgrafiek.</a:t>
            </a:r>
          </a:p>
          <a:p xmlns:a="http://schemas.openxmlformats.org/drawingml/2006/main">
            <a:r>
              <a:rPr sz="1400"/>
              <a:t/>
            </a:r>
          </a:p>
          <a:p xmlns:a="http://schemas.openxmlformats.org/drawingml/2006/main">
            <a:r>
              <a:rPr sz="1400"/>
              <a:t>Bron: Boek 4, editie books34-v3, gedrukte complete-boekpagina 8, 10. https://github.com/meijer1973/4veco-lessen/blob/0356afb6cac2dd43adbe9f63b872aaf423efc914/edities/books34-v3/books/book-4/output/Boek_4_Compleet_v3.pdf</a:t>
            </a:r>
          </a:p>
          <a:p xmlns:a="http://schemas.openxmlformats.org/drawingml/2006/main">
            <a:r>
              <a:rPr sz="1400"/>
              <a:t>Manuscript en antwoordmodel: https://github.com/meijer1973/4veco-lessen/blob/0356afb6cac2dd43adbe9f63b872aaf423efc914/edities/books34-v3/books/book-4/chapters/4.1/4.1.1%20manuscript.md en https://github.com/meijer1973/4veco-lessen/blob/0356afb6cac2dd43adbe9f63b872aaf423efc914/edities/books34-v3/books/book-4/chapters/4.1/Antwoorden.md</a:t>
            </a:r>
          </a:p>
          <a:p xmlns:a="http://schemas.openxmlformats.org/drawingml/2006/main">
            <a:r>
              <a:rPr sz="1400"/>
              <a:t>Uitlegvoorbeeld — niet uit het boek. Vezelkorrels: eigen context en gegevens; de boekpagina onderbouwt uitsluitend de methode.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Hoe kan Q stijgen terwijl q daalt?</a:t>
            </a:r>
          </a:p>
          <a:p xmlns:a="http://schemas.openxmlformats.org/drawingml/2006/main">
            <a:r>
              <a:rPr sz="1400"/>
              <a:t/>
            </a:r>
          </a:p>
          <a:p xmlns:a="http://schemas.openxmlformats.org/drawingml/2006/main">
            <a:r>
              <a:rPr sz="1400"/>
              <a:t>Uitleg: De prijsnemer neemt de lagere marktprijs over. Teken een nieuwe horizontale lijn op 6. Het snijpunt met MK geeft q=30. De kostenfunctie is niet veranderd, dus MK en GTK blijven exact dezelfde curven. Bij deze hoeveelheid is GTK minimaal en gelijk aan 6. Op de markt leveren 300 bedrijven ieder 30 kg: samen 9000 kg.</a:t>
            </a:r>
          </a:p>
          <a:p xmlns:a="http://schemas.openxmlformats.org/drawingml/2006/main">
            <a:r>
              <a:rPr sz="1400"/>
              <a:t/>
            </a:r>
          </a:p>
          <a:p xmlns:a="http://schemas.openxmlformats.org/drawingml/2006/main">
            <a:r>
              <a:rPr sz="1400"/>
              <a:t>Misvatting: Marktaanbod is niet dezelfde curve als MK of GTK van één bedrijf.</a:t>
            </a:r>
          </a:p>
          <a:p xmlns:a="http://schemas.openxmlformats.org/drawingml/2006/main">
            <a:r>
              <a:rPr sz="1400"/>
              <a:t/>
            </a:r>
          </a:p>
          <a:p xmlns:a="http://schemas.openxmlformats.org/drawingml/2006/main">
            <a:r>
              <a:rPr sz="1400"/>
              <a:t>Overgang: Controleer of de overwinst verdwenen is.</a:t>
            </a:r>
          </a:p>
          <a:p xmlns:a="http://schemas.openxmlformats.org/drawingml/2006/main">
            <a:r>
              <a:rPr sz="1400"/>
              <a:t/>
            </a:r>
          </a:p>
          <a:p xmlns:a="http://schemas.openxmlformats.org/drawingml/2006/main">
            <a:r>
              <a:rPr sz="1400"/>
              <a:t>Bron: Boek 4, editie books34-v3, gedrukte complete-boekpagina 8, 10. https://github.com/meijer1973/4veco-lessen/blob/0356afb6cac2dd43adbe9f63b872aaf423efc914/edities/books34-v3/books/book-4/output/Boek_4_Compleet_v3.pdf</a:t>
            </a:r>
          </a:p>
          <a:p xmlns:a="http://schemas.openxmlformats.org/drawingml/2006/main">
            <a:r>
              <a:rPr sz="1400"/>
              <a:t>Manuscript en antwoordmodel: https://github.com/meijer1973/4veco-lessen/blob/0356afb6cac2dd43adbe9f63b872aaf423efc914/edities/books34-v3/books/book-4/chapters/4.1/4.1.1%20manuscript.md en https://github.com/meijer1973/4veco-lessen/blob/0356afb6cac2dd43adbe9f63b872aaf423efc914/edities/books34-v3/books/book-4/chapters/4.1/Antwoorden.md</a:t>
            </a:r>
          </a:p>
          <a:p xmlns:a="http://schemas.openxmlformats.org/drawingml/2006/main">
            <a:r>
              <a:rPr sz="1400"/>
              <a:t>Uitlegvoorbeeld — niet uit het boek. Vezelkorrels: eigen context en gegevens; de boekpagina onderbouwt uitsluitend de methode.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stopt het winstmotief voor verdere toetreding?</a:t>
            </a:r>
          </a:p>
          <a:p xmlns:a="http://schemas.openxmlformats.org/drawingml/2006/main">
            <a:r>
              <a:rPr sz="1400"/>
              <a:t/>
            </a:r>
          </a:p>
          <a:p xmlns:a="http://schemas.openxmlformats.org/drawingml/2006/main">
            <a:r>
              <a:rPr sz="1400"/>
              <a:t>Uitleg: Het minimum GTK is voor dit eigen voorbeeld gegeven, zoals in de doelopgave; leerlingen hoeven geen nieuwe minimumprocedure af te leiden. De gelijke positieve bedragen TO en TK laten nul economische winst zien. De 30 euro normale beloning blijft in de kosten betaald. Met dezelfde techniek levert toetreden nu geen extra winst op.</a:t>
            </a:r>
          </a:p>
          <a:p xmlns:a="http://schemas.openxmlformats.org/drawingml/2006/main">
            <a:r>
              <a:rPr sz="1400"/>
              <a:t/>
            </a:r>
          </a:p>
          <a:p xmlns:a="http://schemas.openxmlformats.org/drawingml/2006/main">
            <a:r>
              <a:rPr sz="1400"/>
              <a:t>Misvatting: De omzet verdwijnt niet wanneer de winst nul wordt.</a:t>
            </a:r>
          </a:p>
          <a:p xmlns:a="http://schemas.openxmlformats.org/drawingml/2006/main">
            <a:r>
              <a:rPr sz="1400"/>
              <a:t/>
            </a:r>
          </a:p>
          <a:p xmlns:a="http://schemas.openxmlformats.org/drawingml/2006/main">
            <a:r>
              <a:rPr sz="1400"/>
              <a:t>Overgang: Benoem de voorwaarden waaronder we deze uitkomst mogen gebruiken.</a:t>
            </a:r>
          </a:p>
          <a:p xmlns:a="http://schemas.openxmlformats.org/drawingml/2006/main">
            <a:r>
              <a:rPr sz="1400"/>
              <a:t/>
            </a:r>
          </a:p>
          <a:p xmlns:a="http://schemas.openxmlformats.org/drawingml/2006/main">
            <a:r>
              <a:rPr sz="1400"/>
              <a:t>Bron: Boek 4, editie books34-v3, gedrukte complete-boekpagina 10. https://github.com/meijer1973/4veco-lessen/blob/0356afb6cac2dd43adbe9f63b872aaf423efc914/edities/books34-v3/books/book-4/output/Boek_4_Compleet_v3.pdf</a:t>
            </a:r>
          </a:p>
          <a:p xmlns:a="http://schemas.openxmlformats.org/drawingml/2006/main">
            <a:r>
              <a:rPr sz="1400"/>
              <a:t>Manuscript en antwoordmodel: https://github.com/meijer1973/4veco-lessen/blob/0356afb6cac2dd43adbe9f63b872aaf423efc914/edities/books34-v3/books/book-4/chapters/4.1/4.1.1%20manuscript.md en https://github.com/meijer1973/4veco-lessen/blob/0356afb6cac2dd43adbe9f63b872aaf423efc914/edities/books34-v3/books/book-4/chapters/4.1/Antwoorden.md</a:t>
            </a:r>
          </a:p>
          <a:p xmlns:a="http://schemas.openxmlformats.org/drawingml/2006/main">
            <a:r>
              <a:rPr sz="1400"/>
              <a:t>Uitlegvoorbeeld — niet uit het boek. Vezelkorrels: eigen context en gegevens; de boekpagina onderbouwt uitsluitend de methode.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aanname zorgt dat nieuwe bedrijven hetzelfde kunnen verdienen?</a:t>
            </a:r>
          </a:p>
          <a:p xmlns:a="http://schemas.openxmlformats.org/drawingml/2006/main">
            <a:r>
              <a:rPr sz="1400"/>
              <a:t/>
            </a:r>
          </a:p>
          <a:p xmlns:a="http://schemas.openxmlformats.org/drawingml/2006/main">
            <a:r>
              <a:rPr sz="1400"/>
              <a:t>Uitleg: Leg de scope van het model vast. De korte en lange termijn gaan over aanpassingsmogelijkheden, niet over een voorgeschreven aantal maanden. Bij verschillende kosten, toetredingsbarrières of veranderde inputprijzen volgt niet automatisch nul winst voor iedere onderneming.</a:t>
            </a:r>
          </a:p>
          <a:p xmlns:a="http://schemas.openxmlformats.org/drawingml/2006/main">
            <a:r>
              <a:rPr sz="1400"/>
              <a:t/>
            </a:r>
          </a:p>
          <a:p xmlns:a="http://schemas.openxmlformats.org/drawingml/2006/main">
            <a:r>
              <a:rPr sz="1400"/>
              <a:t>Misvatting: Nulwinst is een uitkomst onder voorwaarden, geen universele wet.</a:t>
            </a:r>
          </a:p>
          <a:p xmlns:a="http://schemas.openxmlformats.org/drawingml/2006/main">
            <a:r>
              <a:rPr sz="1400"/>
              <a:t/>
            </a:r>
          </a:p>
          <a:p xmlns:a="http://schemas.openxmlformats.org/drawingml/2006/main">
            <a:r>
              <a:rPr sz="1400"/>
              <a:t>Overgang: Onderzoek de omgekeerde richting bij aanhoudend verlies.</a:t>
            </a:r>
          </a:p>
          <a:p xmlns:a="http://schemas.openxmlformats.org/drawingml/2006/main">
            <a:r>
              <a:rPr sz="1400"/>
              <a:t/>
            </a:r>
          </a:p>
          <a:p xmlns:a="http://schemas.openxmlformats.org/drawingml/2006/main">
            <a:r>
              <a:rPr sz="1400"/>
              <a:t>Bron: Boek 4, editie books34-v3, gedrukte complete-boekpagina 7–10. https://github.com/meijer1973/4veco-lessen/blob/0356afb6cac2dd43adbe9f63b872aaf423efc914/edities/books34-v3/books/book-4/output/Boek_4_Compleet_v3.pdf</a:t>
            </a:r>
          </a:p>
          <a:p xmlns:a="http://schemas.openxmlformats.org/drawingml/2006/main">
            <a:r>
              <a:rPr sz="1400"/>
              <a:t>Manuscript en antwoordmodel: https://github.com/meijer1973/4veco-lessen/blob/0356afb6cac2dd43adbe9f63b872aaf423efc914/edities/books34-v3/books/book-4/chapters/4.1/4.1.1%20manuscript.md en https://github.com/meijer1973/4veco-lessen/blob/0356afb6cac2dd43adbe9f63b872aaf423efc914/edities/books34-v3/books/book-4/chapters/4.1/Antwoorden.md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bewijst dit verlies niet dat vandaag stoppen beter is?</a:t>
            </a:r>
          </a:p>
          <a:p xmlns:a="http://schemas.openxmlformats.org/drawingml/2006/main">
            <a:r>
              <a:rPr sz="1400"/>
              <a:t/>
            </a:r>
          </a:p>
          <a:p xmlns:a="http://schemas.openxmlformats.org/drawingml/2006/main">
            <a:r>
              <a:rPr sz="1400"/>
              <a:t>Uitleg: Nieuwe beginsituatie, geen vervolgschok op de vorige markt. Zelfde TK, nu P=5 en 200 actieve bedrijven. Marktvraag is in deze aparte markt P=9−Q (Q in duizend kg); zij blijft gedurende de uittreding gelijk. Het bedrijf kiest q=20 en verliest 25 euro per week. Bij q=0 is het verlies 45 euro, dus onmiddellijke stillegging is in dit voorbeeld slechter.</a:t>
            </a:r>
          </a:p>
          <a:p xmlns:a="http://schemas.openxmlformats.org/drawingml/2006/main">
            <a:r>
              <a:rPr sz="1400"/>
              <a:t/>
            </a:r>
          </a:p>
          <a:p xmlns:a="http://schemas.openxmlformats.org/drawingml/2006/main">
            <a:r>
              <a:rPr sz="1400"/>
              <a:t>Misvatting: Economisch verlies is niet automatisch een advies om meteen stil te leggen.</a:t>
            </a:r>
          </a:p>
          <a:p xmlns:a="http://schemas.openxmlformats.org/drawingml/2006/main">
            <a:r>
              <a:rPr sz="1400"/>
              <a:t/>
            </a:r>
          </a:p>
          <a:p xmlns:a="http://schemas.openxmlformats.org/drawingml/2006/main">
            <a:r>
              <a:rPr sz="1400"/>
              <a:t>Overgang: Laat zien hoe minder bedrijven de marktprijs veranderen.</a:t>
            </a:r>
          </a:p>
          <a:p xmlns:a="http://schemas.openxmlformats.org/drawingml/2006/main">
            <a:r>
              <a:rPr sz="1400"/>
              <a:t/>
            </a:r>
          </a:p>
          <a:p xmlns:a="http://schemas.openxmlformats.org/drawingml/2006/main">
            <a:r>
              <a:rPr sz="1400"/>
              <a:t>Bron: Boek 4, editie books34-v3, gedrukte complete-boekpagina 9. https://github.com/meijer1973/4veco-lessen/blob/0356afb6cac2dd43adbe9f63b872aaf423efc914/edities/books34-v3/books/book-4/output/Boek_4_Compleet_v3.pdf</a:t>
            </a:r>
          </a:p>
          <a:p xmlns:a="http://schemas.openxmlformats.org/drawingml/2006/main">
            <a:r>
              <a:rPr sz="1400"/>
              <a:t>Manuscript en antwoordmodel: https://github.com/meijer1973/4veco-lessen/blob/0356afb6cac2dd43adbe9f63b872aaf423efc914/edities/books34-v3/books/book-4/chapters/4.1/4.1.1%20manuscript.md en https://github.com/meijer1973/4veco-lessen/blob/0356afb6cac2dd43adbe9f63b872aaf423efc914/edities/books34-v3/books/book-4/chapters/4.1/Antwoorden.md</a:t>
            </a:r>
          </a:p>
          <a:p xmlns:a="http://schemas.openxmlformats.org/drawingml/2006/main">
            <a:r>
              <a:rPr sz="1400"/>
              <a:t>Uitlegvoorbeeld — niet uit het boek. Vezelkorrels: eigen context en gegevens; de boekpagina onderbouwt uitsluitend de methode.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kant verschuift A bij dezelfde prijs?</a:t>
            </a:r>
          </a:p>
          <a:p xmlns:a="http://schemas.openxmlformats.org/drawingml/2006/main">
            <a:r>
              <a:rPr sz="1400"/>
              <a:t/>
            </a:r>
          </a:p>
          <a:p xmlns:a="http://schemas.openxmlformats.org/drawingml/2006/main">
            <a:r>
              <a:rPr sz="1400"/>
              <a:t>Uitleg: De aparte verliesmarkt heeft V: P=9−Q, A₀: P=3+0,5Q (200 bedrijven), A₁: P=3+Q (100 bedrijven). De oude uitkomst is Q=4, P=5, de nieuwe Q=3, P=6. Vergelijk bij P=6: 6 duizend kg aanbod vóór en 3 duizend kg na uittreding. De vraag en de kosten van actieve bedrijven veranderen niet.</a:t>
            </a:r>
          </a:p>
          <a:p xmlns:a="http://schemas.openxmlformats.org/drawingml/2006/main">
            <a:r>
              <a:rPr sz="1400"/>
              <a:t/>
            </a:r>
          </a:p>
          <a:p xmlns:a="http://schemas.openxmlformats.org/drawingml/2006/main">
            <a:r>
              <a:rPr sz="1400"/>
              <a:t>Misvatting: Niet alle bedrijven hoeven te verdwijnen. De overblijvers krijgen een hogere prijs.</a:t>
            </a:r>
          </a:p>
          <a:p xmlns:a="http://schemas.openxmlformats.org/drawingml/2006/main">
            <a:r>
              <a:rPr sz="1400"/>
              <a:t/>
            </a:r>
          </a:p>
          <a:p xmlns:a="http://schemas.openxmlformats.org/drawingml/2006/main">
            <a:r>
              <a:rPr sz="1400"/>
              <a:t>Overgang: Lees de gevolgen voor één overblijvend bedrijf af.</a:t>
            </a:r>
          </a:p>
          <a:p xmlns:a="http://schemas.openxmlformats.org/drawingml/2006/main">
            <a:r>
              <a:rPr sz="1400"/>
              <a:t/>
            </a:r>
          </a:p>
          <a:p xmlns:a="http://schemas.openxmlformats.org/drawingml/2006/main">
            <a:r>
              <a:rPr sz="1400"/>
              <a:t>Bron: Boek 4, editie books34-v3, gedrukte complete-boekpagina 9. https://github.com/meijer1973/4veco-lessen/blob/0356afb6cac2dd43adbe9f63b872aaf423efc914/edities/books34-v3/books/book-4/output/Boek_4_Compleet_v3.pdf</a:t>
            </a:r>
          </a:p>
          <a:p xmlns:a="http://schemas.openxmlformats.org/drawingml/2006/main">
            <a:r>
              <a:rPr sz="1400"/>
              <a:t>Manuscript en antwoordmodel: https://github.com/meijer1973/4veco-lessen/blob/0356afb6cac2dd43adbe9f63b872aaf423efc914/edities/books34-v3/books/book-4/chapters/4.1/4.1.1%20manuscript.md en https://github.com/meijer1973/4veco-lessen/blob/0356afb6cac2dd43adbe9f63b872aaf423efc914/edities/books34-v3/books/book-4/chapters/4.1/Antwoorden.md</a:t>
            </a:r>
          </a:p>
          <a:p xmlns:a="http://schemas.openxmlformats.org/drawingml/2006/main">
            <a:r>
              <a:rPr sz="1400"/>
              <a:t>Uitlegvoorbeeld — niet uit het boek. Vezelkorrels: eigen context en gegevens; de boekpagina onderbouwt uitsluitend de methode.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verschuift GTK ook bij uittreding niet?</a:t>
            </a:r>
          </a:p>
          <a:p xmlns:a="http://schemas.openxmlformats.org/drawingml/2006/main">
            <a:r>
              <a:rPr sz="1400"/>
              <a:t/>
            </a:r>
          </a:p>
          <a:p xmlns:a="http://schemas.openxmlformats.org/drawingml/2006/main">
            <a:r>
              <a:rPr sz="1400"/>
              <a:t>Uitleg: Bij de hogere P=6 snijdt MO de ongewijzigde MK bij q=30. Het verlies verdwijnt: TO=TK=180. Het aantal bedrijven halveert van 200 naar 100, terwijl de overblijvende bedrijven elk meer produceren. Het totale Q daalt van 4000 naar 3000.</a:t>
            </a:r>
          </a:p>
          <a:p xmlns:a="http://schemas.openxmlformats.org/drawingml/2006/main">
            <a:r>
              <a:rPr sz="1400"/>
              <a:t/>
            </a:r>
          </a:p>
          <a:p xmlns:a="http://schemas.openxmlformats.org/drawingml/2006/main">
            <a:r>
              <a:rPr sz="1400"/>
              <a:t>Misvatting: Minder bedrijven betekent niet minder productie per overblijvend bedrijf.</a:t>
            </a:r>
          </a:p>
          <a:p xmlns:a="http://schemas.openxmlformats.org/drawingml/2006/main">
            <a:r>
              <a:rPr sz="1400"/>
              <a:t/>
            </a:r>
          </a:p>
          <a:p xmlns:a="http://schemas.openxmlformats.org/drawingml/2006/main">
            <a:r>
              <a:rPr sz="1400"/>
              <a:t>Overgang: Controleer het onderscheid tussen markt en onderneming.</a:t>
            </a:r>
          </a:p>
          <a:p xmlns:a="http://schemas.openxmlformats.org/drawingml/2006/main">
            <a:r>
              <a:rPr sz="1400"/>
              <a:t/>
            </a:r>
          </a:p>
          <a:p xmlns:a="http://schemas.openxmlformats.org/drawingml/2006/main">
            <a:r>
              <a:rPr sz="1400"/>
              <a:t>Bron: Boek 4, editie books34-v3, gedrukte complete-boekpagina 9–10. https://github.com/meijer1973/4veco-lessen/blob/0356afb6cac2dd43adbe9f63b872aaf423efc914/edities/books34-v3/books/book-4/output/Boek_4_Compleet_v3.pdf</a:t>
            </a:r>
          </a:p>
          <a:p xmlns:a="http://schemas.openxmlformats.org/drawingml/2006/main">
            <a:r>
              <a:rPr sz="1400"/>
              <a:t>Manuscript en antwoordmodel: https://github.com/meijer1973/4veco-lessen/blob/0356afb6cac2dd43adbe9f63b872aaf423efc914/edities/books34-v3/books/book-4/chapters/4.1/4.1.1%20manuscript.md en https://github.com/meijer1973/4veco-lessen/blob/0356afb6cac2dd43adbe9f63b872aaf423efc914/edities/books34-v3/books/book-4/chapters/4.1/Antwoorden.md</a:t>
            </a:r>
          </a:p>
          <a:p xmlns:a="http://schemas.openxmlformats.org/drawingml/2006/main">
            <a:r>
              <a:rPr sz="1400"/>
              <a:t>Uitlegvoorbeeld — niet uit het boek. Vezelkorrels: eigen context en gegevens; de boekpagina onderbouwt uitsluitend de methode.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grootheden moet je uit elkaar houden?</a:t>
            </a:r>
          </a:p>
          <a:p xmlns:a="http://schemas.openxmlformats.org/drawingml/2006/main">
            <a:r>
              <a:rPr sz="1400"/>
              <a:t/>
            </a:r>
          </a:p>
          <a:p xmlns:a="http://schemas.openxmlformats.org/drawingml/2006/main">
            <a:r>
              <a:rPr sz="1400"/>
              <a:t>Uitleg: Laat leerlingen beide vragen eerst mondeling verklaren zonder direct de antwoorden te tonen. Dit is een begripscontrole op het eigen uitlegvoorbeeld, geen extra huiswerk.</a:t>
            </a:r>
          </a:p>
          <a:p xmlns:a="http://schemas.openxmlformats.org/drawingml/2006/main">
            <a:r>
              <a:rPr sz="1400"/>
              <a:t/>
            </a:r>
          </a:p>
          <a:p xmlns:a="http://schemas.openxmlformats.org/drawingml/2006/main">
            <a:r>
              <a:rPr sz="1400"/>
              <a:t>Misvatting: Een juist getal zonder verklaring van het aantal bedrijven is nog onvolledig.</a:t>
            </a:r>
          </a:p>
          <a:p xmlns:a="http://schemas.openxmlformats.org/drawingml/2006/main">
            <a:r>
              <a:rPr sz="1400"/>
              <a:t/>
            </a:r>
          </a:p>
          <a:p xmlns:a="http://schemas.openxmlformats.org/drawingml/2006/main">
            <a:r>
              <a:rPr sz="1400"/>
              <a:t>Overgang: Bespreek de antwoorden op de volgende dia.</a:t>
            </a:r>
          </a:p>
          <a:p xmlns:a="http://schemas.openxmlformats.org/drawingml/2006/main">
            <a:r>
              <a:rPr sz="1400"/>
              <a:t/>
            </a:r>
          </a:p>
          <a:p xmlns:a="http://schemas.openxmlformats.org/drawingml/2006/main">
            <a:r>
              <a:rPr sz="1400"/>
              <a:t>Bron: Boek 4, editie books34-v3, gedrukte complete-boekpagina 7–10. https://github.com/meijer1973/4veco-lessen/blob/0356afb6cac2dd43adbe9f63b872aaf423efc914/edities/books34-v3/books/book-4/output/Boek_4_Compleet_v3.pdf</a:t>
            </a:r>
          </a:p>
          <a:p xmlns:a="http://schemas.openxmlformats.org/drawingml/2006/main">
            <a:r>
              <a:rPr sz="1400"/>
              <a:t>Manuscript en antwoordmodel: https://github.com/meijer1973/4veco-lessen/blob/0356afb6cac2dd43adbe9f63b872aaf423efc914/edities/books34-v3/books/book-4/chapters/4.1/4.1.1%20manuscript.md en https://github.com/meijer1973/4veco-lessen/blob/0356afb6cac2dd43adbe9f63b872aaf423efc914/edities/books34-v3/books/book-4/chapters/4.1/Antwoorden.md</a:t>
            </a:r>
          </a:p>
          <a:p xmlns:a="http://schemas.openxmlformats.org/drawingml/2006/main">
            <a:r>
              <a:rPr sz="1400"/>
              <a:t>Uitlegvoorbeeld — niet uit het boek. Vezelkorrels: eigen context en gegevens; de boekpagina onderbouwt uitsluitend de methode.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grootheden moet je uit elkaar houden?</a:t>
            </a:r>
          </a:p>
          <a:p xmlns:a="http://schemas.openxmlformats.org/drawingml/2006/main">
            <a:r>
              <a:rPr sz="1400"/>
              <a:t/>
            </a:r>
          </a:p>
          <a:p xmlns:a="http://schemas.openxmlformats.org/drawingml/2006/main">
            <a:r>
              <a:rPr sz="1400"/>
              <a:t>Uitleg: Q=n×q. De stijging van n kan samengaan met een daling van q. In dit voorbeeld 100×60=6000 en 300×30=9000. De normale beloning van 30 euro blijft onderdeel van TK.</a:t>
            </a:r>
          </a:p>
          <a:p xmlns:a="http://schemas.openxmlformats.org/drawingml/2006/main">
            <a:r>
              <a:rPr sz="1400"/>
              <a:t/>
            </a:r>
          </a:p>
          <a:p xmlns:a="http://schemas.openxmlformats.org/drawingml/2006/main">
            <a:r>
              <a:rPr sz="1400"/>
              <a:t>Misvatting: Een juist getal zonder verklaring van het aantal bedrijven is nog onvolledig.</a:t>
            </a:r>
          </a:p>
          <a:p xmlns:a="http://schemas.openxmlformats.org/drawingml/2006/main">
            <a:r>
              <a:rPr sz="1400"/>
              <a:t/>
            </a:r>
          </a:p>
          <a:p xmlns:a="http://schemas.openxmlformats.org/drawingml/2006/main">
            <a:r>
              <a:rPr sz="1400"/>
              <a:t>Overgang: Ga terug naar start 2 en laat daarna het overzicht staan voor oefenen.</a:t>
            </a:r>
          </a:p>
          <a:p xmlns:a="http://schemas.openxmlformats.org/drawingml/2006/main">
            <a:r>
              <a:rPr sz="1400"/>
              <a:t/>
            </a:r>
          </a:p>
          <a:p xmlns:a="http://schemas.openxmlformats.org/drawingml/2006/main">
            <a:r>
              <a:rPr sz="1400"/>
              <a:t>Bron: Boek 4, editie books34-v3, gedrukte complete-boekpagina 7–10. https://github.com/meijer1973/4veco-lessen/blob/0356afb6cac2dd43adbe9f63b872aaf423efc914/edities/books34-v3/books/book-4/output/Boek_4_Compleet_v3.pdf</a:t>
            </a:r>
          </a:p>
          <a:p xmlns:a="http://schemas.openxmlformats.org/drawingml/2006/main">
            <a:r>
              <a:rPr sz="1400"/>
              <a:t>Manuscript en antwoordmodel: https://github.com/meijer1973/4veco-lessen/blob/0356afb6cac2dd43adbe9f63b872aaf423efc914/edities/books34-v3/books/book-4/chapters/4.1/4.1.1%20manuscript.md en https://github.com/meijer1973/4veco-lessen/blob/0356afb6cac2dd43adbe9f63b872aaf423efc914/edities/books34-v3/books/book-4/chapters/4.1/Antwoorden.md</a:t>
            </a:r>
          </a:p>
          <a:p xmlns:a="http://schemas.openxmlformats.org/drawingml/2006/main">
            <a:r>
              <a:rPr sz="1400"/>
              <a:t>Uitlegvoorbeeld — niet uit het boek. Vezelkorrels: eigen context en gegevens; de boekpagina onderbouwt uitsluitend de methode.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lukt al, en waar heb je steun nodig?</a:t>
            </a:r>
          </a:p>
          <a:p xmlns:a="http://schemas.openxmlformats.org/drawingml/2006/main">
            <a:r>
              <a:rPr sz="1400"/>
              <a:t/>
            </a:r>
          </a:p>
          <a:p xmlns:a="http://schemas.openxmlformats.org/drawingml/2006/main">
            <a:r>
              <a:rPr sz="1400"/>
              <a:t>Uitleg: Laat de dia staan tijdens zelfstandig werken. Start: 1 en 2 op p. 11. Basis 3 op p. 11 en 4 op p. 12. Zelfstandig 5 en 6 op p. 13. Doel 7 op p. 14. Huiswerk: 3, 4, 5, 6 en 7 maken en nakijken. Bonus 8 en herhaling 9–10 zijn extra. De docentenhandleiding adviseert voorlopig twee lessen van 55 minuten, zonder gemeten tijdsbewijs. Laat huiswerk of een volgende les de route afmaken; schrap geen basiswerk.</a:t>
            </a:r>
          </a:p>
          <a:p xmlns:a="http://schemas.openxmlformats.org/drawingml/2006/main">
            <a:r>
              <a:rPr sz="1400"/>
              <a:t/>
            </a:r>
          </a:p>
          <a:p xmlns:a="http://schemas.openxmlformats.org/drawingml/2006/main">
            <a:r>
              <a:rPr sz="1400"/>
              <a:t>Start 1 haalt de firmaberekening op. Geef bij vastlopen de aanpak: TK differentiëren, P = MO met MK vergelijken, capaciteit controleren, TO en TK invullen, GTK = TK/q. Dit is eerder onderwezen in Boek 3 p. 63 en 70–72. Start 2 bevat nieuwe leerstof: normale ondernemersbeloning zit al in TK. Laat leerlingen eerst de afspraak over winst op p. 7 lezen, benoemen welk bedrag in TK zit en een voorlopige uitleg schrijven. Beoordeel deze eerste poging als verkenning. Keer NU vóór de basisopgaven terug naar start 2: laat leerlingen hun antwoord opnieuw formuleren en de normale beloning in de kosten aanwijzen. Bespreek hun uitleg, geef zo nodig steun.</a:t>
            </a:r>
          </a:p>
          <a:p xmlns:a="http://schemas.openxmlformats.org/drawingml/2006/main">
            <a:r>
              <a:rPr sz="1400"/>
              <a:t/>
            </a:r>
          </a:p>
          <a:p xmlns:a="http://schemas.openxmlformats.org/drawingml/2006/main">
            <a:r>
              <a:rPr sz="1400"/>
              <a:t>Misvatting: Economische winst is een nieuwe interpretatie, geen al beheerste voorkennis.</a:t>
            </a:r>
          </a:p>
          <a:p xmlns:a="http://schemas.openxmlformats.org/drawingml/2006/main">
            <a:r>
              <a:rPr sz="1400"/>
              <a:t/>
            </a:r>
          </a:p>
          <a:p xmlns:a="http://schemas.openxmlformats.org/drawingml/2006/main">
            <a:r>
              <a:rPr sz="1400"/>
              <a:t>Overgang: Laat leerlingen gericht verdergaan met de aangegeven fase.</a:t>
            </a:r>
          </a:p>
          <a:p xmlns:a="http://schemas.openxmlformats.org/drawingml/2006/main">
            <a:r>
              <a:rPr sz="1400"/>
              <a:t/>
            </a:r>
          </a:p>
          <a:p xmlns:a="http://schemas.openxmlformats.org/drawingml/2006/main">
            <a:r>
              <a:rPr sz="1400"/>
              <a:t>Bron: Boek 4, editie books34-v3, gedrukte complete-boekpagina 7, 11–14. https://github.com/meijer1973/4veco-lessen/blob/0356afb6cac2dd43adbe9f63b872aaf423efc914/edities/books34-v3/books/book-4/output/Boek_4_Compleet_v3.pdf</a:t>
            </a:r>
          </a:p>
          <a:p xmlns:a="http://schemas.openxmlformats.org/drawingml/2006/main">
            <a:r>
              <a:rPr sz="1400"/>
              <a:t>Manuscript en antwoordmodel: https://github.com/meijer1973/4veco-lessen/blob/0356afb6cac2dd43adbe9f63b872aaf423efc914/edities/books34-v3/books/book-4/chapters/4.1/4.1.1%20manuscript.md en https://github.com/meijer1973/4veco-lessen/blob/0356afb6cac2dd43adbe9f63b872aaf423efc914/edities/books34-v3/books/book-4/chapters/4.1/Antwoorden.md</a:t>
            </a:r>
          </a:p>
          <a:p xmlns:a="http://schemas.openxmlformats.org/drawingml/2006/main">
            <a:r>
              <a:rPr sz="1400"/>
              <a:t>Voorkennis: https://github.com/meijer1973/4veco-lessen/blob/0356afb6cac2dd43adbe9f63b872aaf423efc914/edities/books34-v3/books/book-3/output/Boek_3_Compleet_v3.pdf, gedrukte p. 63, 70–72. Startantwoorden alleen voor feedback na eigen poging: 1a MK=0,20q+2; q=30. 1b TO=240, TK=190, winst=50 euro/week, GTK=6,333… euro/kg. 2a economische winst=0; 2b normale vergoeding=180 euro/week.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gegevens begrenzen de conclusie?</a:t>
            </a:r>
          </a:p>
          <a:p xmlns:a="http://schemas.openxmlformats.org/drawingml/2006/main">
            <a:r>
              <a:rPr sz="1400"/>
              <a:t/>
            </a:r>
          </a:p>
          <a:p xmlns:a="http://schemas.openxmlformats.org/drawingml/2006/main">
            <a:r>
              <a:rPr sz="1400"/>
              <a:t>Uitleg: Dit is de volledige context van de echte doeloefening, inclusief normale beloning en alle modelvoorwaarden. Begin deze bespreking na de eigen poging van leerlingen. De volgende dia toont de oorspronkelijke bronfiguur, daarna volgen alle vijf deelvragen zonder uitkomsten.</a:t>
            </a:r>
          </a:p>
          <a:p xmlns:a="http://schemas.openxmlformats.org/drawingml/2006/main">
            <a:r>
              <a:rPr sz="1400"/>
              <a:t/>
            </a:r>
          </a:p>
          <a:p xmlns:a="http://schemas.openxmlformats.org/drawingml/2006/main">
            <a:r>
              <a:rPr sz="1400"/>
              <a:t>Misvatting: De 120 euro is al in TK opgenomen; tel dat bedrag niet opnieuw bij TK op.</a:t>
            </a:r>
          </a:p>
          <a:p xmlns:a="http://schemas.openxmlformats.org/drawingml/2006/main">
            <a:r>
              <a:rPr sz="1400"/>
              <a:t/>
            </a:r>
          </a:p>
          <a:p xmlns:a="http://schemas.openxmlformats.org/drawingml/2006/main">
            <a:r>
              <a:rPr sz="1400"/>
              <a:t>Overgang: Bekijk eerst de gegeven figuur.</a:t>
            </a:r>
          </a:p>
          <a:p xmlns:a="http://schemas.openxmlformats.org/drawingml/2006/main">
            <a:r>
              <a:rPr sz="1400"/>
              <a:t/>
            </a:r>
          </a:p>
          <a:p xmlns:a="http://schemas.openxmlformats.org/drawingml/2006/main">
            <a:r>
              <a:rPr sz="1400"/>
              <a:t>Bron: Boek 4, editie books34-v3, gedrukte complete-boekpagina 14. https://github.com/meijer1973/4veco-lessen/blob/0356afb6cac2dd43adbe9f63b872aaf423efc914/edities/books34-v3/books/book-4/output/Boek_4_Compleet_v3.pdf</a:t>
            </a:r>
          </a:p>
          <a:p xmlns:a="http://schemas.openxmlformats.org/drawingml/2006/main">
            <a:r>
              <a:rPr sz="1400"/>
              <a:t>Manuscript en antwoordmodel: https://github.com/meijer1973/4veco-lessen/blob/0356afb6cac2dd43adbe9f63b872aaf423efc914/edities/books34-v3/books/book-4/chapters/4.1/4.1.1%20manuscript.md en https://github.com/meijer1973/4veco-lessen/blob/0356afb6cac2dd43adbe9f63b872aaf423efc914/edities/books34-v3/books/book-4/chapters/4.1/Antwoorden.md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grootheid staat op elke horizontale as?</a:t>
            </a:r>
          </a:p>
          <a:p xmlns:a="http://schemas.openxmlformats.org/drawingml/2006/main">
            <a:r>
              <a:rPr sz="1400"/>
              <a:t/>
            </a:r>
          </a:p>
          <a:p xmlns:a="http://schemas.openxmlformats.org/drawingml/2006/main">
            <a:r>
              <a:rPr sz="1400"/>
              <a:t>Uitleg: Actuele bronfiguur uit het boek, begrensd op de capaciteit van de oorspronkelijke groep bedrijven, met historische assetnaam 3.2.3_target.svg. Alle labels, schalen en gegevens blijven zichtbaar. Links staat Q in duizend kg per week; rechts q in kg per week. Geef hier nog geen oplossingen.</a:t>
            </a:r>
          </a:p>
          <a:p xmlns:a="http://schemas.openxmlformats.org/drawingml/2006/main">
            <a:r>
              <a:rPr sz="1400"/>
              <a:t/>
            </a:r>
          </a:p>
          <a:p xmlns:a="http://schemas.openxmlformats.org/drawingml/2006/main">
            <a:r>
              <a:rPr sz="1400"/>
              <a:t>Misvatting: Een waarde 15 links betekent 15.000 kg, niet 15 kg.</a:t>
            </a:r>
          </a:p>
          <a:p xmlns:a="http://schemas.openxmlformats.org/drawingml/2006/main">
            <a:r>
              <a:rPr sz="1400"/>
              <a:t/>
            </a:r>
          </a:p>
          <a:p xmlns:a="http://schemas.openxmlformats.org/drawingml/2006/main">
            <a:r>
              <a:rPr sz="1400"/>
              <a:t>Overgang: Toon eerst deelvragen a, b en c.</a:t>
            </a:r>
          </a:p>
          <a:p xmlns:a="http://schemas.openxmlformats.org/drawingml/2006/main">
            <a:r>
              <a:rPr sz="1400"/>
              <a:t/>
            </a:r>
          </a:p>
          <a:p xmlns:a="http://schemas.openxmlformats.org/drawingml/2006/main">
            <a:r>
              <a:rPr sz="1400"/>
              <a:t>Bron: Boek 4, editie books34-v3, gedrukte complete-boekpagina 14. https://github.com/meijer1973/4veco-lessen/blob/0356afb6cac2dd43adbe9f63b872aaf423efc914/edities/books34-v3/books/book-4/output/Boek_4_Compleet_v3.pdf</a:t>
            </a:r>
          </a:p>
          <a:p xmlns:a="http://schemas.openxmlformats.org/drawingml/2006/main">
            <a:r>
              <a:rPr sz="1400"/>
              <a:t>Manuscript en antwoordmodel: https://github.com/meijer1973/4veco-lessen/blob/0356afb6cac2dd43adbe9f63b872aaf423efc914/edities/books34-v3/books/book-4/chapters/4.1/4.1.1%20manuscript.md en https://github.com/meijer1973/4veco-lessen/blob/0356afb6cac2dd43adbe9f63b872aaf423efc914/edities/books34-v3/books/book-4/chapters/4.1/Antwoorden.md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vraagt c in de markt en wat bij de onderneming?</a:t>
            </a:r>
          </a:p>
          <a:p xmlns:a="http://schemas.openxmlformats.org/drawingml/2006/main">
            <a:r>
              <a:rPr sz="1400"/>
              <a:t/>
            </a:r>
          </a:p>
          <a:p xmlns:a="http://schemas.openxmlformats.org/drawingml/2006/main">
            <a:r>
              <a:rPr sz="1400"/>
              <a:t>Uitleg: Deelvragen a–c zijn volledig overgenomen uit het huidige manuscript. Wacht met oplossingen tot ook d en e zijn getoond. Leerlingen houden hun eigen poging en de bronfiguur erbij.</a:t>
            </a:r>
          </a:p>
          <a:p xmlns:a="http://schemas.openxmlformats.org/drawingml/2006/main">
            <a:r>
              <a:rPr sz="1400"/>
              <a:t/>
            </a:r>
          </a:p>
          <a:p xmlns:a="http://schemas.openxmlformats.org/drawingml/2006/main">
            <a:r>
              <a:rPr sz="1400"/>
              <a:t>Misvatting: De vraag naar een passende lijn geeft geen vrijheid om de gegeven kosten of vraag te veranderen.</a:t>
            </a:r>
          </a:p>
          <a:p xmlns:a="http://schemas.openxmlformats.org/drawingml/2006/main">
            <a:r>
              <a:rPr sz="1400"/>
              <a:t/>
            </a:r>
          </a:p>
          <a:p xmlns:a="http://schemas.openxmlformats.org/drawingml/2006/main">
            <a:r>
              <a:rPr sz="1400"/>
              <a:t>Overgang: Toon ook d en e voordat de uitwerking begint.</a:t>
            </a:r>
          </a:p>
          <a:p xmlns:a="http://schemas.openxmlformats.org/drawingml/2006/main">
            <a:r>
              <a:rPr sz="1400"/>
              <a:t/>
            </a:r>
          </a:p>
          <a:p xmlns:a="http://schemas.openxmlformats.org/drawingml/2006/main">
            <a:r>
              <a:rPr sz="1400"/>
              <a:t>Bron: Boek 4, editie books34-v3, gedrukte complete-boekpagina 14. https://github.com/meijer1973/4veco-lessen/blob/0356afb6cac2dd43adbe9f63b872aaf423efc914/edities/books34-v3/books/book-4/output/Boek_4_Compleet_v3.pdf</a:t>
            </a:r>
          </a:p>
          <a:p xmlns:a="http://schemas.openxmlformats.org/drawingml/2006/main">
            <a:r>
              <a:rPr sz="1400"/>
              <a:t>Manuscript en antwoordmodel: https://github.com/meijer1973/4veco-lessen/blob/0356afb6cac2dd43adbe9f63b872aaf423efc914/edities/books34-v3/books/book-4/chapters/4.1/4.1.1%20manuscript.md en https://github.com/meijer1973/4veco-lessen/blob/0356afb6cac2dd43adbe9f63b872aaf423efc914/edities/books34-v3/books/book-4/chapters/4.1/Antwoorden.md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beweringen moet je afzonderlijk weerleggen?</a:t>
            </a:r>
          </a:p>
          <a:p xmlns:a="http://schemas.openxmlformats.org/drawingml/2006/main">
            <a:r>
              <a:rPr sz="1400"/>
              <a:t/>
            </a:r>
          </a:p>
          <a:p xmlns:a="http://schemas.openxmlformats.org/drawingml/2006/main">
            <a:r>
              <a:rPr sz="1400"/>
              <a:t>Uitleg: Nu zijn de volledige context, oorspronkelijke figuur en alle vijf deelvragen beschikbaar zonder oplossingen. Laat leerlingen zo nodig aanvullen welke stappen hun antwoord nog moet bevatten.</a:t>
            </a:r>
          </a:p>
          <a:p xmlns:a="http://schemas.openxmlformats.org/drawingml/2006/main">
            <a:r>
              <a:rPr sz="1400"/>
              <a:t/>
            </a:r>
          </a:p>
          <a:p xmlns:a="http://schemas.openxmlformats.org/drawingml/2006/main">
            <a:r>
              <a:rPr sz="1400"/>
              <a:t>Misvatting: Een algemene zin over nul winst beantwoordt e niet volledig zonder omzet en beloning te noemen.</a:t>
            </a:r>
          </a:p>
          <a:p xmlns:a="http://schemas.openxmlformats.org/drawingml/2006/main">
            <a:r>
              <a:rPr sz="1400"/>
              <a:t/>
            </a:r>
          </a:p>
          <a:p xmlns:a="http://schemas.openxmlformats.org/drawingml/2006/main">
            <a:r>
              <a:rPr sz="1400"/>
              <a:t>Overgang: Begin de uitwerking bij de beginprijs en de productie.</a:t>
            </a:r>
          </a:p>
          <a:p xmlns:a="http://schemas.openxmlformats.org/drawingml/2006/main">
            <a:r>
              <a:rPr sz="1400"/>
              <a:t/>
            </a:r>
          </a:p>
          <a:p xmlns:a="http://schemas.openxmlformats.org/drawingml/2006/main">
            <a:r>
              <a:rPr sz="1400"/>
              <a:t>Bron: Boek 4, editie books34-v3, gedrukte complete-boekpagina 14. https://github.com/meijer1973/4veco-lessen/blob/0356afb6cac2dd43adbe9f63b872aaf423efc914/edities/books34-v3/books/book-4/output/Boek_4_Compleet_v3.pdf</a:t>
            </a:r>
          </a:p>
          <a:p xmlns:a="http://schemas.openxmlformats.org/drawingml/2006/main">
            <a:r>
              <a:rPr sz="1400"/>
              <a:t>Manuscript en antwoordmodel: https://github.com/meijer1973/4veco-lessen/blob/0356afb6cac2dd43adbe9f63b872aaf423efc914/edities/books34-v3/books/book-4/chapters/4.1/4.1.1%20manuscript.md en https://github.com/meijer1973/4veco-lessen/blob/0356afb6cac2dd43adbe9f63b872aaf423efc914/edities/books34-v3/books/book-4/chapters/4.1/Antwoorden.md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controle maakt het snijpunt hier een maximum?</a:t>
            </a:r>
          </a:p>
          <a:p xmlns:a="http://schemas.openxmlformats.org/drawingml/2006/main">
            <a:r>
              <a:rPr sz="1400"/>
              <a:t/>
            </a:r>
          </a:p>
          <a:p xmlns:a="http://schemas.openxmlformats.org/drawingml/2006/main">
            <a:r>
              <a:rPr sz="1400"/>
              <a:t>Uitleg: De gegeven marktfiguur levert P=10. De afgeleide is MK=0,04q+4. Als prijsnemer heeft het bedrijf MO=10. Invullen geeft q=150. Bij 100 kg is MK=8&lt;10, bij 200 kg is MK=12&gt;10. Capaciteit 250 begrenst dit optimum niet. Dit is economische productie per week, geen markthoeveelheid.</a:t>
            </a:r>
          </a:p>
          <a:p xmlns:a="http://schemas.openxmlformats.org/drawingml/2006/main">
            <a:r>
              <a:rPr sz="1400"/>
              <a:t/>
            </a:r>
          </a:p>
          <a:p xmlns:a="http://schemas.openxmlformats.org/drawingml/2006/main">
            <a:r>
              <a:rPr sz="1400"/>
              <a:t>Misvatting: Gebruik niet het gegeven minimum-GTK-punt voor de beginproductie: eerst MO en MK vergelijken.</a:t>
            </a:r>
          </a:p>
          <a:p xmlns:a="http://schemas.openxmlformats.org/drawingml/2006/main">
            <a:r>
              <a:rPr sz="1400"/>
              <a:t/>
            </a:r>
          </a:p>
          <a:p xmlns:a="http://schemas.openxmlformats.org/drawingml/2006/main">
            <a:r>
              <a:rPr sz="1400"/>
              <a:t>Overgang: Bereken de totale opbrengst en alle kosten.</a:t>
            </a:r>
          </a:p>
          <a:p xmlns:a="http://schemas.openxmlformats.org/drawingml/2006/main">
            <a:r>
              <a:rPr sz="1400"/>
              <a:t/>
            </a:r>
          </a:p>
          <a:p xmlns:a="http://schemas.openxmlformats.org/drawingml/2006/main">
            <a:r>
              <a:rPr sz="1400"/>
              <a:t>Bron: Boek 4, editie books34-v3, gedrukte complete-boekpagina 14. https://github.com/meijer1973/4veco-lessen/blob/0356afb6cac2dd43adbe9f63b872aaf423efc914/edities/books34-v3/books/book-4/output/Boek_4_Compleet_v3.pdf</a:t>
            </a:r>
          </a:p>
          <a:p xmlns:a="http://schemas.openxmlformats.org/drawingml/2006/main">
            <a:r>
              <a:rPr sz="1400"/>
              <a:t>Manuscript en antwoordmodel: https://github.com/meijer1973/4veco-lessen/blob/0356afb6cac2dd43adbe9f63b872aaf423efc914/edities/books34-v3/books/book-4/chapters/4.1/4.1.1%20manuscript.md en https://github.com/meijer1973/4veco-lessen/blob/0356afb6cac2dd43adbe9f63b872aaf423efc914/edities/books34-v3/books/book-4/chapters/4.1/Antwoorden.md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vind je de normale beloning in deze berekening?</a:t>
            </a:r>
          </a:p>
          <a:p xmlns:a="http://schemas.openxmlformats.org/drawingml/2006/main">
            <a:r>
              <a:rPr sz="1400"/>
              <a:t/>
            </a:r>
          </a:p>
          <a:p xmlns:a="http://schemas.openxmlformats.org/drawingml/2006/main">
            <a:r>
              <a:rPr sz="1400"/>
              <a:t>Uitleg: Reken met de volledige TK. GTK=1250/150=8,333… euro/kg, lager dan P=10. De 250 euro is boven de normale beloning. Controle met (10−8,333…)×150=250; rond GTK niet eerst af. Bij niet produceren is winst −200, dus produceren is beter.</a:t>
            </a:r>
          </a:p>
          <a:p xmlns:a="http://schemas.openxmlformats.org/drawingml/2006/main">
            <a:r>
              <a:rPr sz="1400"/>
              <a:t/>
            </a:r>
          </a:p>
          <a:p xmlns:a="http://schemas.openxmlformats.org/drawingml/2006/main">
            <a:r>
              <a:rPr sz="1400"/>
              <a:t>Misvatting: 120 euro opnieuw aftrekken zou de beloning dubbel tellen.</a:t>
            </a:r>
          </a:p>
          <a:p xmlns:a="http://schemas.openxmlformats.org/drawingml/2006/main">
            <a:r>
              <a:rPr sz="1400"/>
              <a:t/>
            </a:r>
          </a:p>
          <a:p xmlns:a="http://schemas.openxmlformats.org/drawingml/2006/main">
            <a:r>
              <a:rPr sz="1400"/>
              <a:t>Overgang: Verbind deze overwinst met toetreding.</a:t>
            </a:r>
          </a:p>
          <a:p xmlns:a="http://schemas.openxmlformats.org/drawingml/2006/main">
            <a:r>
              <a:rPr sz="1400"/>
              <a:t/>
            </a:r>
          </a:p>
          <a:p xmlns:a="http://schemas.openxmlformats.org/drawingml/2006/main">
            <a:r>
              <a:rPr sz="1400"/>
              <a:t>Bron: Boek 4, editie books34-v3, gedrukte complete-boekpagina 14. https://github.com/meijer1973/4veco-lessen/blob/0356afb6cac2dd43adbe9f63b872aaf423efc914/edities/books34-v3/books/book-4/output/Boek_4_Compleet_v3.pdf</a:t>
            </a:r>
          </a:p>
          <a:p xmlns:a="http://schemas.openxmlformats.org/drawingml/2006/main">
            <a:r>
              <a:rPr sz="1400"/>
              <a:t>Manuscript en antwoordmodel: https://github.com/meijer1973/4veco-lessen/blob/0356afb6cac2dd43adbe9f63b872aaf423efc914/edities/books34-v3/books/book-4/chapters/4.1/4.1.1%20manuscript.md en https://github.com/meijer1973/4veco-lessen/blob/0356afb6cac2dd43adbe9f63b872aaf423efc914/edities/books34-v3/books/book-4/chapters/4.1/Antwoorden.md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bronaanname verbindt de overwinst met nieuwe bedrijven?</a:t>
            </a:r>
          </a:p>
          <a:p xmlns:a="http://schemas.openxmlformats.org/drawingml/2006/main">
            <a:r>
              <a:rPr sz="1400"/>
              <a:t/>
            </a:r>
          </a:p>
          <a:p xmlns:a="http://schemas.openxmlformats.org/drawingml/2006/main">
            <a:r>
              <a:rPr sz="1400"/>
              <a:t>Uitleg: Noem alle causale schakels. Positieve economische winst maakt toetreden aantrekkelijk, en de bron staat dat toe. Identieke techniek en inputprijzen betekenen dezelfde kosten. Meer bedrijven verschuiven het marktaanbod rechts. Bij de gegeven dalende, ongewijzigde vraag daalt de prijs.</a:t>
            </a:r>
          </a:p>
          <a:p xmlns:a="http://schemas.openxmlformats.org/drawingml/2006/main">
            <a:r>
              <a:rPr sz="1400"/>
              <a:t/>
            </a:r>
          </a:p>
          <a:p xmlns:a="http://schemas.openxmlformats.org/drawingml/2006/main">
            <a:r>
              <a:rPr sz="1400"/>
              <a:t>Misvatting: Alleen “meer concurrentie” noemen slaat de stap via het marktaanbod over.</a:t>
            </a:r>
          </a:p>
          <a:p xmlns:a="http://schemas.openxmlformats.org/drawingml/2006/main">
            <a:r>
              <a:rPr sz="1400"/>
              <a:t/>
            </a:r>
          </a:p>
          <a:p xmlns:a="http://schemas.openxmlformats.org/drawingml/2006/main">
            <a:r>
              <a:rPr sz="1400"/>
              <a:t>Overgang: Teken dit in de marktgrafiek.</a:t>
            </a:r>
          </a:p>
          <a:p xmlns:a="http://schemas.openxmlformats.org/drawingml/2006/main">
            <a:r>
              <a:rPr sz="1400"/>
              <a:t/>
            </a:r>
          </a:p>
          <a:p xmlns:a="http://schemas.openxmlformats.org/drawingml/2006/main">
            <a:r>
              <a:rPr sz="1400"/>
              <a:t>Bron: Boek 4, editie books34-v3, gedrukte complete-boekpagina 14. https://github.com/meijer1973/4veco-lessen/blob/0356afb6cac2dd43adbe9f63b872aaf423efc914/edities/books34-v3/books/book-4/output/Boek_4_Compleet_v3.pdf</a:t>
            </a:r>
          </a:p>
          <a:p xmlns:a="http://schemas.openxmlformats.org/drawingml/2006/main">
            <a:r>
              <a:rPr sz="1400"/>
              <a:t>Manuscript en antwoordmodel: https://github.com/meijer1973/4veco-lessen/blob/0356afb6cac2dd43adbe9f63b872aaf423efc914/edities/books34-v3/books/book-4/chapters/4.1/4.1.1%20manuscript.md en https://github.com/meijer1973/4veco-lessen/blob/0356afb6cac2dd43adbe9f63b872aaf423efc914/edities/books34-v3/books/book-4/chapters/4.1/Antwoorden.md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op de bestaande vraaglijn moet E₁ liggen?</a:t>
            </a:r>
          </a:p>
          <a:p xmlns:a="http://schemas.openxmlformats.org/drawingml/2006/main">
            <a:r>
              <a:rPr sz="1400"/>
              <a:t/>
            </a:r>
          </a:p>
          <a:p xmlns:a="http://schemas.openxmlformats.org/drawingml/2006/main">
            <a:r>
              <a:rPr sz="1400"/>
              <a:t>Uitleg: Lees de langetermijnprijs 8 uit het gegeven minimum GTK. Teken A₁ door het punt op V met P=8: Q=20 duizend kg/week. De oorspronkelijke grafiek bevat V: P=16−0,4Q en A₀: P=4+0,4Q. Met MK=0,04q+4 geeft dit 100 bedrijven aanvankelijk. In de eindsituatie zijn 200 bedrijven met q=100 nodig. Hun gezamenlijke aanbod is A₁: P=4+0,2Q, op het getoonde domein binnen capaciteit. Deze afleiding controleert de getekende lijn; leerlingen hoeven het aantal bedrijven niet te berekenen. Bij P=8 neemt aanbod toe van 10.000 naar 20.000 kg. De beginlijn in het boek en deze presentatie eindigt bij de totale capaciteit van 25.000 kg voor de oorspronkelijke 100 bedrijven. Beide benodigde evenwichten liggen eronder. Na toetreding geldt de gezamenlijke capaciteit van de nieuwe groep bedrijven.</a:t>
            </a:r>
          </a:p>
          <a:p xmlns:a="http://schemas.openxmlformats.org/drawingml/2006/main">
            <a:r>
              <a:rPr sz="1400"/>
              <a:t/>
            </a:r>
          </a:p>
          <a:p xmlns:a="http://schemas.openxmlformats.org/drawingml/2006/main">
            <a:r>
              <a:rPr sz="1400"/>
              <a:t>Misvatting: A₁ parallel verschuiven zou hier bij identieke bedrijven de aggregatie veranderen. Kies de getoonde kosten-consistente lijn.</a:t>
            </a:r>
          </a:p>
          <a:p xmlns:a="http://schemas.openxmlformats.org/drawingml/2006/main">
            <a:r>
              <a:rPr sz="1400"/>
              <a:t/>
            </a:r>
          </a:p>
          <a:p xmlns:a="http://schemas.openxmlformats.org/drawingml/2006/main">
            <a:r>
              <a:rPr sz="1400"/>
              <a:t>Overgang: Neem de prijs 8 over in de rechtergrafiek.</a:t>
            </a:r>
          </a:p>
          <a:p xmlns:a="http://schemas.openxmlformats.org/drawingml/2006/main">
            <a:r>
              <a:rPr sz="1400"/>
              <a:t/>
            </a:r>
          </a:p>
          <a:p xmlns:a="http://schemas.openxmlformats.org/drawingml/2006/main">
            <a:r>
              <a:rPr sz="1400"/>
              <a:t>Bron: Boek 4, editie books34-v3, gedrukte complete-boekpagina 14. https://github.com/meijer1973/4veco-lessen/blob/0356afb6cac2dd43adbe9f63b872aaf423efc914/edities/books34-v3/books/book-4/output/Boek_4_Compleet_v3.pdf</a:t>
            </a:r>
          </a:p>
          <a:p xmlns:a="http://schemas.openxmlformats.org/drawingml/2006/main">
            <a:r>
              <a:rPr sz="1400"/>
              <a:t>Manuscript en antwoordmodel: https://github.com/meijer1973/4veco-lessen/blob/0356afb6cac2dd43adbe9f63b872aaf423efc914/edities/books34-v3/books/book-4/chapters/4.1/4.1.1%20manuscript.md en https://github.com/meijer1973/4veco-lessen/blob/0356afb6cac2dd43adbe9f63b872aaf423efc914/edities/books34-v3/books/book-4/chapters/4.1/Antwoorden.md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beweegt de prijslijn wel en de GTK-lijn niet?</a:t>
            </a:r>
          </a:p>
          <a:p xmlns:a="http://schemas.openxmlformats.org/drawingml/2006/main">
            <a:r>
              <a:rPr sz="1400"/>
              <a:t/>
            </a:r>
          </a:p>
          <a:p xmlns:a="http://schemas.openxmlformats.org/drawingml/2006/main">
            <a:r>
              <a:rPr sz="1400"/>
              <a:t>Uitleg: Teken de nieuwe prijslijn op 8 en laat beide kostencurven ongewijzigd. Het snijpunt geeft 100 kg, tevens het gegeven minimum GTK. Dat is binnen 250 kg capaciteit. De markt groeit naar 20.000 kg, maar de individuele productie daalt van 150 naar 100 kg.</a:t>
            </a:r>
          </a:p>
          <a:p xmlns:a="http://schemas.openxmlformats.org/drawingml/2006/main">
            <a:r>
              <a:rPr sz="1400"/>
              <a:t/>
            </a:r>
          </a:p>
          <a:p xmlns:a="http://schemas.openxmlformats.org/drawingml/2006/main">
            <a:r>
              <a:rPr sz="1400"/>
              <a:t>Misvatting: Nieuwe bedrijven veranderen hier het marktaanbod, niet de technologie van een bestaand bedrijf.</a:t>
            </a:r>
          </a:p>
          <a:p xmlns:a="http://schemas.openxmlformats.org/drawingml/2006/main">
            <a:r>
              <a:rPr sz="1400"/>
              <a:t/>
            </a:r>
          </a:p>
          <a:p xmlns:a="http://schemas.openxmlformats.org/drawingml/2006/main">
            <a:r>
              <a:rPr sz="1400"/>
              <a:t>Overgang: Controleer de nulwinst met totale bedragen.</a:t>
            </a:r>
          </a:p>
          <a:p xmlns:a="http://schemas.openxmlformats.org/drawingml/2006/main">
            <a:r>
              <a:rPr sz="1400"/>
              <a:t/>
            </a:r>
          </a:p>
          <a:p xmlns:a="http://schemas.openxmlformats.org/drawingml/2006/main">
            <a:r>
              <a:rPr sz="1400"/>
              <a:t>Bron: Boek 4, editie books34-v3, gedrukte complete-boekpagina 14. https://github.com/meijer1973/4veco-lessen/blob/0356afb6cac2dd43adbe9f63b872aaf423efc914/edities/books34-v3/books/book-4/output/Boek_4_Compleet_v3.pdf</a:t>
            </a:r>
          </a:p>
          <a:p xmlns:a="http://schemas.openxmlformats.org/drawingml/2006/main">
            <a:r>
              <a:rPr sz="1400"/>
              <a:t>Manuscript en antwoordmodel: https://github.com/meijer1973/4veco-lessen/blob/0356afb6cac2dd43adbe9f63b872aaf423efc914/edities/books34-v3/books/book-4/chapters/4.1/4.1.1%20manuscript.md en https://github.com/meijer1973/4veco-lessen/blob/0356afb6cac2dd43adbe9f63b872aaf423efc914/edities/books34-v3/books/book-4/chapters/4.1/Antwoorden.md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positieve totalen zijn hier gelijk?</a:t>
            </a:r>
          </a:p>
          <a:p xmlns:a="http://schemas.openxmlformats.org/drawingml/2006/main">
            <a:r>
              <a:rPr sz="1400"/>
              <a:t/>
            </a:r>
          </a:p>
          <a:p xmlns:a="http://schemas.openxmlformats.org/drawingml/2006/main">
            <a:r>
              <a:rPr sz="1400"/>
              <a:t>Uitleg: Werk setup, invullen, resultaat en eenheid af. De gelijke totalen bewijzen nul economische winst. GTK=8 komt overeen met het gegeven minimum en de getekende prijslijn.</a:t>
            </a:r>
          </a:p>
          <a:p xmlns:a="http://schemas.openxmlformats.org/drawingml/2006/main">
            <a:r>
              <a:rPr sz="1400"/>
              <a:t/>
            </a:r>
          </a:p>
          <a:p xmlns:a="http://schemas.openxmlformats.org/drawingml/2006/main">
            <a:r>
              <a:rPr sz="1400"/>
              <a:t>Misvatting: Een nul als resultaat betekent niet dat alle andere grootheden nul zijn.</a:t>
            </a:r>
          </a:p>
          <a:p xmlns:a="http://schemas.openxmlformats.org/drawingml/2006/main">
            <a:r>
              <a:rPr sz="1400"/>
              <a:t/>
            </a:r>
          </a:p>
          <a:p xmlns:a="http://schemas.openxmlformats.org/drawingml/2006/main">
            <a:r>
              <a:rPr sz="1400"/>
              <a:t>Overgang: Weerleg beide onderdelen van de uitspraak.</a:t>
            </a:r>
          </a:p>
          <a:p xmlns:a="http://schemas.openxmlformats.org/drawingml/2006/main">
            <a:r>
              <a:rPr sz="1400"/>
              <a:t/>
            </a:r>
          </a:p>
          <a:p xmlns:a="http://schemas.openxmlformats.org/drawingml/2006/main">
            <a:r>
              <a:rPr sz="1400"/>
              <a:t>Bron: Boek 4, editie books34-v3, gedrukte complete-boekpagina 14. https://github.com/meijer1973/4veco-lessen/blob/0356afb6cac2dd43adbe9f63b872aaf423efc914/edities/books34-v3/books/book-4/output/Boek_4_Compleet_v3.pdf</a:t>
            </a:r>
          </a:p>
          <a:p xmlns:a="http://schemas.openxmlformats.org/drawingml/2006/main">
            <a:r>
              <a:rPr sz="1400"/>
              <a:t>Manuscript en antwoordmodel: https://github.com/meijer1973/4veco-lessen/blob/0356afb6cac2dd43adbe9f63b872aaf423efc914/edities/books34-v3/books/book-4/chapters/4.1/4.1.1%20manuscript.md en https://github.com/meijer1973/4veco-lessen/blob/0356afb6cac2dd43adbe9f63b872aaf423efc914/edities/books34-v3/books/book-4/chapters/4.1/Antwoorden.md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bedrag weerlegt welk deel van de uitspraak?</a:t>
            </a:r>
          </a:p>
          <a:p xmlns:a="http://schemas.openxmlformats.org/drawingml/2006/main">
            <a:r>
              <a:rPr sz="1400"/>
              <a:t/>
            </a:r>
          </a:p>
          <a:p xmlns:a="http://schemas.openxmlformats.org/drawingml/2006/main">
            <a:r>
              <a:rPr sz="1400"/>
              <a:t>Uitleg: Beantwoord beide delen expliciet. De 120 euro normale beloning is een van de kosten die de 800 euro omzet dekt. De ondernemer werkt niet gratis. De omzet bedraagt 800 euro per week en is dus niet verdwenen. Alleen TO−TK is nul. Laat leerlingen hun eigen antwoorden bij a–e verbeteren: formule, eenheid, causaliteit en beide grafieken.</a:t>
            </a:r>
          </a:p>
          <a:p xmlns:a="http://schemas.openxmlformats.org/drawingml/2006/main">
            <a:r>
              <a:rPr sz="1400"/>
              <a:t/>
            </a:r>
          </a:p>
          <a:p xmlns:a="http://schemas.openxmlformats.org/drawingml/2006/main">
            <a:r>
              <a:rPr sz="1400"/>
              <a:t>Misvatting: Normale ondernemersbeloning en economische winst zijn verschillende begrippen.</a:t>
            </a:r>
          </a:p>
          <a:p xmlns:a="http://schemas.openxmlformats.org/drawingml/2006/main">
            <a:r>
              <a:rPr sz="1400"/>
              <a:t/>
            </a:r>
          </a:p>
          <a:p xmlns:a="http://schemas.openxmlformats.org/drawingml/2006/main">
            <a:r>
              <a:rPr sz="1400"/>
              <a:t>Overgang: Laat het overzicht staan voor afsluiting en huiswerk.</a:t>
            </a:r>
          </a:p>
          <a:p xmlns:a="http://schemas.openxmlformats.org/drawingml/2006/main">
            <a:r>
              <a:rPr sz="1400"/>
              <a:t/>
            </a:r>
          </a:p>
          <a:p xmlns:a="http://schemas.openxmlformats.org/drawingml/2006/main">
            <a:r>
              <a:rPr sz="1400"/>
              <a:t>Bron: Boek 4, editie books34-v3, gedrukte complete-boekpagina 14. https://github.com/meijer1973/4veco-lessen/blob/0356afb6cac2dd43adbe9f63b872aaf423efc914/edities/books34-v3/books/book-4/output/Boek_4_Compleet_v3.pdf</a:t>
            </a:r>
          </a:p>
          <a:p xmlns:a="http://schemas.openxmlformats.org/drawingml/2006/main">
            <a:r>
              <a:rPr sz="1400"/>
              <a:t>Manuscript en antwoordmodel: https://github.com/meijer1973/4veco-lessen/blob/0356afb6cac2dd43adbe9f63b872aaf423efc914/edities/books34-v3/books/book-4/chapters/4.1/4.1.1%20manuscript.md en https://github.com/meijer1973/4veco-lessen/blob/0356afb6cac2dd43adbe9f63b872aaf423efc914/edities/books34-v3/books/book-4/chapters/4.1/Antwoorden.md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lukt al, en waar heb je steun nodig?</a:t>
            </a:r>
          </a:p>
          <a:p xmlns:a="http://schemas.openxmlformats.org/drawingml/2006/main">
            <a:r>
              <a:rPr sz="1400"/>
              <a:t/>
            </a:r>
          </a:p>
          <a:p xmlns:a="http://schemas.openxmlformats.org/drawingml/2006/main">
            <a:r>
              <a:rPr sz="1400"/>
              <a:t>Uitleg: Laat de dia staan tijdens afsluiting / huiswerk. Start: 1 en 2 op p. 11. Basis 3 op p. 11 en 4 op p. 12. Zelfstandig 5 en 6 op p. 13. Doel 7 op p. 14. Huiswerk: 3, 4, 5, 6 en 7 maken en nakijken. Bonus 8 en herhaling 9–10 zijn extra. De docentenhandleiding adviseert voorlopig twee lessen van 55 minuten, zonder gemeten tijdsbewijs. Laat huiswerk of een volgende les de route afmaken; schrap geen basiswerk.</a:t>
            </a:r>
          </a:p>
          <a:p xmlns:a="http://schemas.openxmlformats.org/drawingml/2006/main">
            <a:r>
              <a:rPr sz="1400"/>
              <a:t/>
            </a:r>
          </a:p>
          <a:p xmlns:a="http://schemas.openxmlformats.org/drawingml/2006/main">
            <a:r>
              <a:rPr sz="1400"/>
              <a:t>Start 1 haalt de firmaberekening op. Geef bij vastlopen de aanpak: TK differentiëren, P = MO met MK vergelijken, capaciteit controleren, TO en TK invullen, GTK = TK/q. Dit is eerder onderwezen in Boek 3 p. 63 en 70–72. Start 2 bevat nieuwe leerstof: normale ondernemersbeloning zit al in TK. Laat leerlingen eerst de afspraak over winst op p. 7 lezen, benoemen welk bedrag in TK zit en een voorlopige uitleg schrijven. Beoordeel deze eerste poging als verkenning. Keer vóór de basisopgaven na de uitleg terug naar start 2.</a:t>
            </a:r>
          </a:p>
          <a:p xmlns:a="http://schemas.openxmlformats.org/drawingml/2006/main">
            <a:r>
              <a:rPr sz="1400"/>
              <a:t/>
            </a:r>
          </a:p>
          <a:p xmlns:a="http://schemas.openxmlformats.org/drawingml/2006/main">
            <a:r>
              <a:rPr sz="1400"/>
              <a:t>Misvatting: Economische winst is een nieuwe interpretatie, geen al beheerste voorkennis.</a:t>
            </a:r>
          </a:p>
          <a:p xmlns:a="http://schemas.openxmlformats.org/drawingml/2006/main">
            <a:r>
              <a:rPr sz="1400"/>
              <a:t/>
            </a:r>
          </a:p>
          <a:p xmlns:a="http://schemas.openxmlformats.org/drawingml/2006/main">
            <a:r>
              <a:rPr sz="1400"/>
              <a:t>Overgang: Laat leerlingen gericht verdergaan met de aangegeven fase.</a:t>
            </a:r>
          </a:p>
          <a:p xmlns:a="http://schemas.openxmlformats.org/drawingml/2006/main">
            <a:r>
              <a:rPr sz="1400"/>
              <a:t/>
            </a:r>
          </a:p>
          <a:p xmlns:a="http://schemas.openxmlformats.org/drawingml/2006/main">
            <a:r>
              <a:rPr sz="1400"/>
              <a:t>Bron: Boek 4, editie books34-v3, gedrukte complete-boekpagina 7, 11–14. https://github.com/meijer1973/4veco-lessen/blob/0356afb6cac2dd43adbe9f63b872aaf423efc914/edities/books34-v3/books/book-4/output/Boek_4_Compleet_v3.pdf</a:t>
            </a:r>
          </a:p>
          <a:p xmlns:a="http://schemas.openxmlformats.org/drawingml/2006/main">
            <a:r>
              <a:rPr sz="1400"/>
              <a:t>Manuscript en antwoordmodel: https://github.com/meijer1973/4veco-lessen/blob/0356afb6cac2dd43adbe9f63b872aaf423efc914/edities/books34-v3/books/book-4/chapters/4.1/4.1.1%20manuscript.md en https://github.com/meijer1973/4veco-lessen/blob/0356afb6cac2dd43adbe9f63b872aaf423efc914/edities/books34-v3/books/book-4/chapters/4.1/Antwoorden.md</a:t>
            </a:r>
          </a:p>
          <a:p xmlns:a="http://schemas.openxmlformats.org/drawingml/2006/main">
            <a:r>
              <a:rPr sz="1400"/>
              <a:t>Voorkennis: https://github.com/meijer1973/4veco-lessen/blob/0356afb6cac2dd43adbe9f63b872aaf423efc914/edities/books34-v3/books/book-3/output/Boek_3_Compleet_v3.pdf, gedrukte p. 63, 70–72. Startantwoorden alleen voor feedback na eigen poging: 1a MK=0,20q+2; q=30. 1b TO=240, TK=190, winst=50 euro/week, GTK=6,333… euro/kg. 2a economische winst=0; 2b normale vergoeding=180 euro/week.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f917b07a49c44a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53f9ad6f7d14ca4" /><Relationship Type="http://schemas.openxmlformats.org/officeDocument/2006/relationships/slideLayout" Target="/ppt/slideLayouts/slideLayout1.xml" Id="R0e0ea84f9f584ff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e0ea84f9f584ff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7dcc8bdb5ce4827" /><Relationship Type="http://schemas.openxmlformats.org/officeDocument/2006/relationships/notesSlide" Target="/ppt/notesSlides/notesSlide1.xml" Id="Rd3a4bfd5a96a498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29f4c6203f7499e" /><Relationship Type="http://schemas.openxmlformats.org/officeDocument/2006/relationships/notesSlide" Target="/ppt/notesSlides/notesSlide2.xml" Id="R745cea0ee0ec488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8d1bbba61dd4244" /><Relationship Type="http://schemas.openxmlformats.org/officeDocument/2006/relationships/notesSlide" Target="/ppt/notesSlides/notesSlide3.xml" Id="Rd62480d2a37042d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364a9c97a6a44cf" /><Relationship Type="http://schemas.openxmlformats.org/officeDocument/2006/relationships/notesSlide" Target="/ppt/notesSlides/notesSlide4.xml" Id="Rf550fb70f0d24ad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863ed4a23364a19" /><Relationship Type="http://schemas.openxmlformats.org/officeDocument/2006/relationships/chart" Target="/ppt/slides/charts/chart1.xml" Id="R341f19ba77174536" /><Relationship Type="http://schemas.openxmlformats.org/officeDocument/2006/relationships/notesSlide" Target="/ppt/notesSlides/notesSlide5.xml" Id="R6af47c003832495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14b52042546419c" /><Relationship Type="http://schemas.openxmlformats.org/officeDocument/2006/relationships/chart" Target="/ppt/slides/charts/chart2.xml" Id="Rc2496a2741e3426a" /><Relationship Type="http://schemas.openxmlformats.org/officeDocument/2006/relationships/notesSlide" Target="/ppt/notesSlides/notesSlide6.xml" Id="R5098c9475791444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bd2241a9100421d" /><Relationship Type="http://schemas.openxmlformats.org/officeDocument/2006/relationships/chart" Target="/ppt/slides/charts/chart3.xml" Id="Rc6fa4171c3004e8b" /><Relationship Type="http://schemas.openxmlformats.org/officeDocument/2006/relationships/notesSlide" Target="/ppt/notesSlides/notesSlide7.xml" Id="Rf184040edf7d463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bd753dcc72543c4" /><Relationship Type="http://schemas.openxmlformats.org/officeDocument/2006/relationships/chart" Target="/ppt/slides/charts/chart4.xml" Id="R12b3689c6d5b4db2" /><Relationship Type="http://schemas.openxmlformats.org/officeDocument/2006/relationships/notesSlide" Target="/ppt/notesSlides/notesSlide8.xml" Id="Rb907ef860836479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46d5c1d0cae4978" /><Relationship Type="http://schemas.openxmlformats.org/officeDocument/2006/relationships/notesSlide" Target="/ppt/notesSlides/notesSlide9.xml" Id="R6524a92349e14d2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7968412a7054735" /><Relationship Type="http://schemas.openxmlformats.org/officeDocument/2006/relationships/notesSlide" Target="/ppt/notesSlides/notesSlide10.xml" Id="R3db112197f5645d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1e54107fa3e4450" /><Relationship Type="http://schemas.openxmlformats.org/officeDocument/2006/relationships/chart" Target="/ppt/slides/charts/chart5.xml" Id="Rc93e4d72f6dd44b8" /><Relationship Type="http://schemas.openxmlformats.org/officeDocument/2006/relationships/notesSlide" Target="/ppt/notesSlides/notesSlide11.xml" Id="R30ff96cc9ab644b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88bb2fb21ae44db" /><Relationship Type="http://schemas.openxmlformats.org/officeDocument/2006/relationships/chart" Target="/ppt/slides/charts/chart6.xml" Id="Red00c629ddf0467e" /><Relationship Type="http://schemas.openxmlformats.org/officeDocument/2006/relationships/notesSlide" Target="/ppt/notesSlides/notesSlide12.xml" Id="Rb00669ba642b43b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293e4c96d5540a2" /><Relationship Type="http://schemas.openxmlformats.org/officeDocument/2006/relationships/chart" Target="/ppt/slides/charts/chart7.xml" Id="R5f7ee45f7db54c40" /><Relationship Type="http://schemas.openxmlformats.org/officeDocument/2006/relationships/notesSlide" Target="/ppt/notesSlides/notesSlide13.xml" Id="R6c79f1b8d3264ae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2516d7c46874ebc" /><Relationship Type="http://schemas.openxmlformats.org/officeDocument/2006/relationships/notesSlide" Target="/ppt/notesSlides/notesSlide14.xml" Id="R6feacacb2ae641d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0c2c99507ad4c63" /><Relationship Type="http://schemas.openxmlformats.org/officeDocument/2006/relationships/notesSlide" Target="/ppt/notesSlides/notesSlide15.xml" Id="Rc6cefc485758451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36a41eac28654d4b" /><Relationship Type="http://schemas.openxmlformats.org/officeDocument/2006/relationships/notesSlide" Target="/ppt/notesSlides/notesSlide16.xml" Id="R50d7961faf3243e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6ba30e0918bf4462" /><Relationship Type="http://schemas.openxmlformats.org/officeDocument/2006/relationships/notesSlide" Target="/ppt/notesSlides/notesSlide17.xml" Id="R82030bd9b95a48f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0d958a2bb7d24fe8" /><Relationship Type="http://schemas.openxmlformats.org/officeDocument/2006/relationships/image" Target="/ppt/media/image.png" Id="R3856508c9aa84c33" /><Relationship Type="http://schemas.openxmlformats.org/officeDocument/2006/relationships/notesSlide" Target="/ppt/notesSlides/notesSlide18.xml" Id="Rcef1194a92564da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5913765b7674f77" /><Relationship Type="http://schemas.openxmlformats.org/officeDocument/2006/relationships/notesSlide" Target="/ppt/notesSlides/notesSlide19.xml" Id="R87ed9f7fcf8147a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c88d38d5273b44a3" /><Relationship Type="http://schemas.openxmlformats.org/officeDocument/2006/relationships/notesSlide" Target="/ppt/notesSlides/notesSlide20.xml" Id="R597d1aed1c0a4d9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080362203ce14526" /><Relationship Type="http://schemas.openxmlformats.org/officeDocument/2006/relationships/notesSlide" Target="/ppt/notesSlides/notesSlide21.xml" Id="Rd9515c78ad7c4e8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3fa4699eea2421b" /><Relationship Type="http://schemas.openxmlformats.org/officeDocument/2006/relationships/notesSlide" Target="/ppt/notesSlides/notesSlide22.xml" Id="R0cb585041c13468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d23c7701b1984c1e" /><Relationship Type="http://schemas.openxmlformats.org/officeDocument/2006/relationships/notesSlide" Target="/ppt/notesSlides/notesSlide23.xml" Id="R9c15f28070d0482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13a56919920344e0" /><Relationship Type="http://schemas.openxmlformats.org/officeDocument/2006/relationships/chart" Target="/ppt/slides/charts/chart8.xml" Id="R65fcf392d78a46a0" /><Relationship Type="http://schemas.openxmlformats.org/officeDocument/2006/relationships/notesSlide" Target="/ppt/notesSlides/notesSlide24.xml" Id="R6ebcd045e2534d6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98a4928c24664121" /><Relationship Type="http://schemas.openxmlformats.org/officeDocument/2006/relationships/chart" Target="/ppt/slides/charts/chart9.xml" Id="Rf3a43849a2bf4751" /><Relationship Type="http://schemas.openxmlformats.org/officeDocument/2006/relationships/notesSlide" Target="/ppt/notesSlides/notesSlide25.xml" Id="R3e5b6fe6c2c241e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a4cbc72c266149f0" /><Relationship Type="http://schemas.openxmlformats.org/officeDocument/2006/relationships/notesSlide" Target="/ppt/notesSlides/notesSlide26.xml" Id="R8c6fe2afbce84a3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d008cb116848420f" /><Relationship Type="http://schemas.openxmlformats.org/officeDocument/2006/relationships/notesSlide" Target="/ppt/notesSlides/notesSlide27.xml" Id="R1d7301d9a4e14f2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85dd7b01be264e37" /><Relationship Type="http://schemas.openxmlformats.org/officeDocument/2006/relationships/notesSlide" Target="/ppt/notesSlides/notesSlide28.xml" Id="R55c239b4fd164c06"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_rels/chart8.xml.rels><Relationships xmlns="http://schemas.openxmlformats.org/package/2006/relationships"><Relationship Id="rIdChartSnapshot1" Type="http://schemas.openxmlformats.org/officeDocument/2006/relationships/package" Target="../../embeddings/chart-data-snapshot-008.xlsx"/></Relationships>
</file>

<file path=ppt/slides/charts/_rels/chart9.xml.rels><Relationships xmlns="http://schemas.openxmlformats.org/package/2006/relationships"><Relationship Id="rIdChartSnapshot1" Type="http://schemas.openxmlformats.org/officeDocument/2006/relationships/package" Target="../../embeddings/chart-data-snapshot-009.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
        <c:ser>
          <c:idx val="0"/>
          <c:order val="0"/>
          <c:tx>
            <c:v>MK</c:v>
          </c:tx>
          <c:spPr>
            <a:ln xmlns:a="http://schemas.openxmlformats.org/drawingml/2006/main" w="33338">
              <a:solidFill>
                <a:srgbClr val="20665B"/>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20665B"/>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800" b="1">
                      <a:solidFill>
                        <a:srgbClr val="20665B"/>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Data'!$A$2:$A$3</c:f>
              <c:numCache>
                <c:formatCode>General</c:formatCode>
                <c:ptCount val="2"/>
                <c:pt idx="0">
                  <c:v>0</c:v>
                </c:pt>
                <c:pt idx="1">
                  <c:v>100</c:v>
                </c:pt>
              </c:numCache>
            </c:numRef>
          </c:xVal>
          <c:yVal>
            <c:numRef>
              <c:f>'Chart Data'!$B$2:$B$3</c:f>
              <c:numCache>
                <c:formatCode>0</c:formatCode>
                <c:ptCount val="2"/>
                <c:pt idx="0">
                  <c:v>3</c:v>
                </c:pt>
                <c:pt idx="1">
                  <c:v>13</c:v>
                </c:pt>
              </c:numCache>
            </c:numRef>
          </c:yVal>
          <c:smooth val="0"/>
        </c:ser>
        <c:ser>
          <c:idx val="1"/>
          <c:order val="1"/>
          <c:tx>
            <c:v>GTK</c:v>
          </c:tx>
          <c:spPr>
            <a:ln xmlns:a="http://schemas.openxmlformats.org/drawingml/2006/main" w="33338">
              <a:solidFill>
                <a:srgbClr val="A94D16"/>
              </a:solidFill>
            </a:ln>
          </c:spPr>
          <c:marker>
            <c:symbol val="none"/>
            <c:size val="3"/>
          </c:marker>
          <c:dLbls>
            <c:dLbl>
              <c:idx val="183"/>
              <c:tx>
                <c:rich>
                  <a:bodyPr xmlns:a="http://schemas.openxmlformats.org/drawingml/2006/main"/>
                  <a:lstStyle xmlns:a="http://schemas.openxmlformats.org/drawingml/2006/main"/>
                  <a:p xmlns:a="http://schemas.openxmlformats.org/drawingml/2006/main">
                    <a:r>
                      <a:rPr sz="1800" b="1">
                        <a:solidFill>
                          <a:srgbClr val="A94D16"/>
                        </a:solidFill>
                        <a:latin typeface="Arial"/>
                        <a:ea typeface="Arial"/>
                        <a:cs typeface="Arial"/>
                      </a:rPr>
                      <a:t>GTK</a:t>
                    </a:r>
                  </a:p>
                </c:rich>
              </c:tx>
              <c:txPr>
                <a:bodyPr xmlns:a="http://schemas.openxmlformats.org/drawingml/2006/main" anchorCtr="1"/>
                <a:lstStyle xmlns:a="http://schemas.openxmlformats.org/drawingml/2006/main"/>
                <a:p xmlns:a="http://schemas.openxmlformats.org/drawingml/2006/main">
                  <a:pPr>
                    <a:defRPr sz="1800" b="1">
                      <a:solidFill>
                        <a:srgbClr val="A94D16"/>
                      </a:solidFill>
                      <a:latin typeface="Arial"/>
                      <a:ea typeface="Arial"/>
                      <a:cs typeface="Arial"/>
                    </a:defRPr>
                  </a:pPr>
                </a:p>
              </c:txPr>
              <c:dLblPos val="b"/>
              <c:showLegendKey val="0"/>
              <c:showVal val="0"/>
              <c:showCatName val="0"/>
              <c:showSerName val="0"/>
              <c:showPercent val="0"/>
              <c:showBubbleSize val="0"/>
            </c:dLbl>
            <c:showLegendKey val="0"/>
            <c:showVal val="0"/>
            <c:showCatName val="0"/>
            <c:showSerName val="0"/>
            <c:showPercent val="0"/>
            <c:showBubbleSize val="0"/>
          </c:dLbls>
          <c:xVal>
            <c:numRef>
              <c:f>'Chart Data'!$C$2:$C$194</c:f>
              <c:numCache>
                <c:formatCode>General</c:formatCode>
                <c:ptCount val="193"/>
                <c:pt idx="0">
                  <c:v>4</c:v>
                </c:pt>
                <c:pt idx="1">
                  <c:v>4.5</c:v>
                </c:pt>
                <c:pt idx="2">
                  <c:v>5</c:v>
                </c:pt>
                <c:pt idx="3">
                  <c:v>5.5</c:v>
                </c:pt>
                <c:pt idx="4">
                  <c:v>6</c:v>
                </c:pt>
                <c:pt idx="5">
                  <c:v>6.5</c:v>
                </c:pt>
                <c:pt idx="6">
                  <c:v>7</c:v>
                </c:pt>
                <c:pt idx="7">
                  <c:v>7.5</c:v>
                </c:pt>
                <c:pt idx="8">
                  <c:v>8</c:v>
                </c:pt>
                <c:pt idx="9">
                  <c:v>8.5</c:v>
                </c:pt>
                <c:pt idx="10">
                  <c:v>9</c:v>
                </c:pt>
                <c:pt idx="11">
                  <c:v>9.5</c:v>
                </c:pt>
                <c:pt idx="12">
                  <c:v>10</c:v>
                </c:pt>
                <c:pt idx="13">
                  <c:v>10.5</c:v>
                </c:pt>
                <c:pt idx="14">
                  <c:v>11</c:v>
                </c:pt>
                <c:pt idx="15">
                  <c:v>11.5</c:v>
                </c:pt>
                <c:pt idx="16">
                  <c:v>12</c:v>
                </c:pt>
                <c:pt idx="17">
                  <c:v>12.5</c:v>
                </c:pt>
                <c:pt idx="18">
                  <c:v>13</c:v>
                </c:pt>
                <c:pt idx="19">
                  <c:v>13.5</c:v>
                </c:pt>
                <c:pt idx="20">
                  <c:v>14</c:v>
                </c:pt>
                <c:pt idx="21">
                  <c:v>14.5</c:v>
                </c:pt>
                <c:pt idx="22">
                  <c:v>15</c:v>
                </c:pt>
                <c:pt idx="23">
                  <c:v>15.5</c:v>
                </c:pt>
                <c:pt idx="24">
                  <c:v>16</c:v>
                </c:pt>
                <c:pt idx="25">
                  <c:v>16.5</c:v>
                </c:pt>
                <c:pt idx="26">
                  <c:v>17</c:v>
                </c:pt>
                <c:pt idx="27">
                  <c:v>17.5</c:v>
                </c:pt>
                <c:pt idx="28">
                  <c:v>18</c:v>
                </c:pt>
                <c:pt idx="29">
                  <c:v>18.5</c:v>
                </c:pt>
                <c:pt idx="30">
                  <c:v>19</c:v>
                </c:pt>
                <c:pt idx="31">
                  <c:v>19.5</c:v>
                </c:pt>
                <c:pt idx="32">
                  <c:v>20</c:v>
                </c:pt>
                <c:pt idx="33">
                  <c:v>20.5</c:v>
                </c:pt>
                <c:pt idx="34">
                  <c:v>21</c:v>
                </c:pt>
                <c:pt idx="35">
                  <c:v>21.5</c:v>
                </c:pt>
                <c:pt idx="36">
                  <c:v>22</c:v>
                </c:pt>
                <c:pt idx="37">
                  <c:v>22.5</c:v>
                </c:pt>
                <c:pt idx="38">
                  <c:v>23</c:v>
                </c:pt>
                <c:pt idx="39">
                  <c:v>23.5</c:v>
                </c:pt>
                <c:pt idx="40">
                  <c:v>24</c:v>
                </c:pt>
                <c:pt idx="41">
                  <c:v>24.5</c:v>
                </c:pt>
                <c:pt idx="42">
                  <c:v>25</c:v>
                </c:pt>
                <c:pt idx="43">
                  <c:v>25.5</c:v>
                </c:pt>
                <c:pt idx="44">
                  <c:v>26</c:v>
                </c:pt>
                <c:pt idx="45">
                  <c:v>26.5</c:v>
                </c:pt>
                <c:pt idx="46">
                  <c:v>27</c:v>
                </c:pt>
                <c:pt idx="47">
                  <c:v>27.5</c:v>
                </c:pt>
                <c:pt idx="48">
                  <c:v>28</c:v>
                </c:pt>
                <c:pt idx="49">
                  <c:v>28.5</c:v>
                </c:pt>
                <c:pt idx="50">
                  <c:v>29</c:v>
                </c:pt>
                <c:pt idx="51">
                  <c:v>29.5</c:v>
                </c:pt>
                <c:pt idx="52">
                  <c:v>30</c:v>
                </c:pt>
                <c:pt idx="53">
                  <c:v>30.5</c:v>
                </c:pt>
                <c:pt idx="54">
                  <c:v>31</c:v>
                </c:pt>
                <c:pt idx="55">
                  <c:v>31.5</c:v>
                </c:pt>
                <c:pt idx="56">
                  <c:v>32</c:v>
                </c:pt>
                <c:pt idx="57">
                  <c:v>32.5</c:v>
                </c:pt>
                <c:pt idx="58">
                  <c:v>33</c:v>
                </c:pt>
                <c:pt idx="59">
                  <c:v>33.5</c:v>
                </c:pt>
                <c:pt idx="60">
                  <c:v>34</c:v>
                </c:pt>
                <c:pt idx="61">
                  <c:v>34.5</c:v>
                </c:pt>
                <c:pt idx="62">
                  <c:v>35</c:v>
                </c:pt>
                <c:pt idx="63">
                  <c:v>35.5</c:v>
                </c:pt>
                <c:pt idx="64">
                  <c:v>36</c:v>
                </c:pt>
                <c:pt idx="65">
                  <c:v>36.5</c:v>
                </c:pt>
                <c:pt idx="66">
                  <c:v>37</c:v>
                </c:pt>
                <c:pt idx="67">
                  <c:v>37.5</c:v>
                </c:pt>
                <c:pt idx="68">
                  <c:v>38</c:v>
                </c:pt>
                <c:pt idx="69">
                  <c:v>38.5</c:v>
                </c:pt>
                <c:pt idx="70">
                  <c:v>39</c:v>
                </c:pt>
                <c:pt idx="71">
                  <c:v>39.5</c:v>
                </c:pt>
                <c:pt idx="72">
                  <c:v>40</c:v>
                </c:pt>
                <c:pt idx="73">
                  <c:v>40.5</c:v>
                </c:pt>
                <c:pt idx="74">
                  <c:v>41</c:v>
                </c:pt>
                <c:pt idx="75">
                  <c:v>41.5</c:v>
                </c:pt>
                <c:pt idx="76">
                  <c:v>42</c:v>
                </c:pt>
                <c:pt idx="77">
                  <c:v>42.5</c:v>
                </c:pt>
                <c:pt idx="78">
                  <c:v>43</c:v>
                </c:pt>
                <c:pt idx="79">
                  <c:v>43.5</c:v>
                </c:pt>
                <c:pt idx="80">
                  <c:v>44</c:v>
                </c:pt>
                <c:pt idx="81">
                  <c:v>44.5</c:v>
                </c:pt>
                <c:pt idx="82">
                  <c:v>45</c:v>
                </c:pt>
                <c:pt idx="83">
                  <c:v>45.5</c:v>
                </c:pt>
                <c:pt idx="84">
                  <c:v>46</c:v>
                </c:pt>
                <c:pt idx="85">
                  <c:v>46.5</c:v>
                </c:pt>
                <c:pt idx="86">
                  <c:v>47</c:v>
                </c:pt>
                <c:pt idx="87">
                  <c:v>47.5</c:v>
                </c:pt>
                <c:pt idx="88">
                  <c:v>48</c:v>
                </c:pt>
                <c:pt idx="89">
                  <c:v>48.5</c:v>
                </c:pt>
                <c:pt idx="90">
                  <c:v>49</c:v>
                </c:pt>
                <c:pt idx="91">
                  <c:v>49.5</c:v>
                </c:pt>
                <c:pt idx="92">
                  <c:v>50</c:v>
                </c:pt>
                <c:pt idx="93">
                  <c:v>50.5</c:v>
                </c:pt>
                <c:pt idx="94">
                  <c:v>51</c:v>
                </c:pt>
                <c:pt idx="95">
                  <c:v>51.5</c:v>
                </c:pt>
                <c:pt idx="96">
                  <c:v>52</c:v>
                </c:pt>
                <c:pt idx="97">
                  <c:v>52.5</c:v>
                </c:pt>
                <c:pt idx="98">
                  <c:v>53</c:v>
                </c:pt>
                <c:pt idx="99">
                  <c:v>53.5</c:v>
                </c:pt>
                <c:pt idx="100">
                  <c:v>54</c:v>
                </c:pt>
                <c:pt idx="101">
                  <c:v>54.5</c:v>
                </c:pt>
                <c:pt idx="102">
                  <c:v>55</c:v>
                </c:pt>
                <c:pt idx="103">
                  <c:v>55.5</c:v>
                </c:pt>
                <c:pt idx="104">
                  <c:v>56</c:v>
                </c:pt>
                <c:pt idx="105">
                  <c:v>56.5</c:v>
                </c:pt>
                <c:pt idx="106">
                  <c:v>57</c:v>
                </c:pt>
                <c:pt idx="107">
                  <c:v>57.5</c:v>
                </c:pt>
                <c:pt idx="108">
                  <c:v>58</c:v>
                </c:pt>
                <c:pt idx="109">
                  <c:v>58.5</c:v>
                </c:pt>
                <c:pt idx="110">
                  <c:v>59</c:v>
                </c:pt>
                <c:pt idx="111">
                  <c:v>59.5</c:v>
                </c:pt>
                <c:pt idx="112">
                  <c:v>60</c:v>
                </c:pt>
                <c:pt idx="113">
                  <c:v>60.5</c:v>
                </c:pt>
                <c:pt idx="114">
                  <c:v>61</c:v>
                </c:pt>
                <c:pt idx="115">
                  <c:v>61.5</c:v>
                </c:pt>
                <c:pt idx="116">
                  <c:v>62</c:v>
                </c:pt>
                <c:pt idx="117">
                  <c:v>62.5</c:v>
                </c:pt>
                <c:pt idx="118">
                  <c:v>63</c:v>
                </c:pt>
                <c:pt idx="119">
                  <c:v>63.5</c:v>
                </c:pt>
                <c:pt idx="120">
                  <c:v>64</c:v>
                </c:pt>
                <c:pt idx="121">
                  <c:v>64.5</c:v>
                </c:pt>
                <c:pt idx="122">
                  <c:v>65</c:v>
                </c:pt>
                <c:pt idx="123">
                  <c:v>65.5</c:v>
                </c:pt>
                <c:pt idx="124">
                  <c:v>66</c:v>
                </c:pt>
                <c:pt idx="125">
                  <c:v>66.5</c:v>
                </c:pt>
                <c:pt idx="126">
                  <c:v>67</c:v>
                </c:pt>
                <c:pt idx="127">
                  <c:v>67.5</c:v>
                </c:pt>
                <c:pt idx="128">
                  <c:v>68</c:v>
                </c:pt>
                <c:pt idx="129">
                  <c:v>68.5</c:v>
                </c:pt>
                <c:pt idx="130">
                  <c:v>69</c:v>
                </c:pt>
                <c:pt idx="131">
                  <c:v>69.5</c:v>
                </c:pt>
                <c:pt idx="132">
                  <c:v>70</c:v>
                </c:pt>
                <c:pt idx="133">
                  <c:v>70.5</c:v>
                </c:pt>
                <c:pt idx="134">
                  <c:v>71</c:v>
                </c:pt>
                <c:pt idx="135">
                  <c:v>71.5</c:v>
                </c:pt>
                <c:pt idx="136">
                  <c:v>72</c:v>
                </c:pt>
                <c:pt idx="137">
                  <c:v>72.5</c:v>
                </c:pt>
                <c:pt idx="138">
                  <c:v>73</c:v>
                </c:pt>
                <c:pt idx="139">
                  <c:v>73.5</c:v>
                </c:pt>
                <c:pt idx="140">
                  <c:v>74</c:v>
                </c:pt>
                <c:pt idx="141">
                  <c:v>74.5</c:v>
                </c:pt>
                <c:pt idx="142">
                  <c:v>75</c:v>
                </c:pt>
                <c:pt idx="143">
                  <c:v>75.5</c:v>
                </c:pt>
                <c:pt idx="144">
                  <c:v>76</c:v>
                </c:pt>
                <c:pt idx="145">
                  <c:v>76.5</c:v>
                </c:pt>
                <c:pt idx="146">
                  <c:v>77</c:v>
                </c:pt>
                <c:pt idx="147">
                  <c:v>77.5</c:v>
                </c:pt>
                <c:pt idx="148">
                  <c:v>78</c:v>
                </c:pt>
                <c:pt idx="149">
                  <c:v>78.5</c:v>
                </c:pt>
                <c:pt idx="150">
                  <c:v>79</c:v>
                </c:pt>
                <c:pt idx="151">
                  <c:v>79.5</c:v>
                </c:pt>
                <c:pt idx="152">
                  <c:v>80</c:v>
                </c:pt>
                <c:pt idx="153">
                  <c:v>80.5</c:v>
                </c:pt>
                <c:pt idx="154">
                  <c:v>81</c:v>
                </c:pt>
                <c:pt idx="155">
                  <c:v>81.5</c:v>
                </c:pt>
                <c:pt idx="156">
                  <c:v>82</c:v>
                </c:pt>
                <c:pt idx="157">
                  <c:v>82.5</c:v>
                </c:pt>
                <c:pt idx="158">
                  <c:v>83</c:v>
                </c:pt>
                <c:pt idx="159">
                  <c:v>83.5</c:v>
                </c:pt>
                <c:pt idx="160">
                  <c:v>84</c:v>
                </c:pt>
                <c:pt idx="161">
                  <c:v>84.5</c:v>
                </c:pt>
                <c:pt idx="162">
                  <c:v>85</c:v>
                </c:pt>
                <c:pt idx="163">
                  <c:v>85.5</c:v>
                </c:pt>
                <c:pt idx="164">
                  <c:v>86</c:v>
                </c:pt>
                <c:pt idx="165">
                  <c:v>86.5</c:v>
                </c:pt>
                <c:pt idx="166">
                  <c:v>87</c:v>
                </c:pt>
                <c:pt idx="167">
                  <c:v>87.5</c:v>
                </c:pt>
                <c:pt idx="168">
                  <c:v>88</c:v>
                </c:pt>
                <c:pt idx="169">
                  <c:v>88.5</c:v>
                </c:pt>
                <c:pt idx="170">
                  <c:v>89</c:v>
                </c:pt>
                <c:pt idx="171">
                  <c:v>89.5</c:v>
                </c:pt>
                <c:pt idx="172">
                  <c:v>90</c:v>
                </c:pt>
                <c:pt idx="173">
                  <c:v>90.5</c:v>
                </c:pt>
                <c:pt idx="174">
                  <c:v>91</c:v>
                </c:pt>
                <c:pt idx="175">
                  <c:v>91.5</c:v>
                </c:pt>
                <c:pt idx="176">
                  <c:v>92</c:v>
                </c:pt>
                <c:pt idx="177">
                  <c:v>92.5</c:v>
                </c:pt>
                <c:pt idx="178">
                  <c:v>93</c:v>
                </c:pt>
                <c:pt idx="179">
                  <c:v>93.5</c:v>
                </c:pt>
                <c:pt idx="180">
                  <c:v>94</c:v>
                </c:pt>
                <c:pt idx="181">
                  <c:v>94.5</c:v>
                </c:pt>
                <c:pt idx="182">
                  <c:v>95</c:v>
                </c:pt>
                <c:pt idx="183">
                  <c:v>95.5</c:v>
                </c:pt>
                <c:pt idx="184">
                  <c:v>96</c:v>
                </c:pt>
                <c:pt idx="185">
                  <c:v>96.5</c:v>
                </c:pt>
                <c:pt idx="186">
                  <c:v>97</c:v>
                </c:pt>
                <c:pt idx="187">
                  <c:v>97.5</c:v>
                </c:pt>
                <c:pt idx="188">
                  <c:v>98</c:v>
                </c:pt>
                <c:pt idx="189">
                  <c:v>98.5</c:v>
                </c:pt>
                <c:pt idx="190">
                  <c:v>99</c:v>
                </c:pt>
                <c:pt idx="191">
                  <c:v>99.5</c:v>
                </c:pt>
                <c:pt idx="192">
                  <c:v>100</c:v>
                </c:pt>
              </c:numCache>
            </c:numRef>
          </c:xVal>
          <c:yVal>
            <c:numRef>
              <c:f>'Chart Data'!$D$2:$D$194</c:f>
              <c:numCache>
                <c:formatCode>0</c:formatCode>
                <c:ptCount val="193"/>
                <c:pt idx="0">
                  <c:v>14.45</c:v>
                </c:pt>
                <c:pt idx="1">
                  <c:v>13.225</c:v>
                </c:pt>
                <c:pt idx="2">
                  <c:v>12.25</c:v>
                </c:pt>
                <c:pt idx="3">
                  <c:v>11.4568181818</c:v>
                </c:pt>
                <c:pt idx="4">
                  <c:v>10.8</c:v>
                </c:pt>
                <c:pt idx="5">
                  <c:v>10.2480769231</c:v>
                </c:pt>
                <c:pt idx="6">
                  <c:v>9.7785714286</c:v>
                </c:pt>
                <c:pt idx="7">
                  <c:v>9.375</c:v>
                </c:pt>
                <c:pt idx="8">
                  <c:v>9.025</c:v>
                </c:pt>
                <c:pt idx="9">
                  <c:v>8.7191176471</c:v>
                </c:pt>
                <c:pt idx="10">
                  <c:v>8.45</c:v>
                </c:pt>
                <c:pt idx="11">
                  <c:v>8.2118421053</c:v>
                </c:pt>
                <c:pt idx="12">
                  <c:v>8</c:v>
                </c:pt>
                <c:pt idx="13">
                  <c:v>7.8107142857</c:v>
                </c:pt>
                <c:pt idx="14">
                  <c:v>7.6409090909</c:v>
                </c:pt>
                <c:pt idx="15">
                  <c:v>7.4880434783</c:v>
                </c:pt>
                <c:pt idx="16">
                  <c:v>7.35</c:v>
                </c:pt>
                <c:pt idx="17">
                  <c:v>7.225</c:v>
                </c:pt>
                <c:pt idx="18">
                  <c:v>7.1115384615</c:v>
                </c:pt>
                <c:pt idx="19">
                  <c:v>7.0083333333</c:v>
                </c:pt>
                <c:pt idx="20">
                  <c:v>6.9142857143</c:v>
                </c:pt>
                <c:pt idx="21">
                  <c:v>6.8284482759</c:v>
                </c:pt>
                <c:pt idx="22">
                  <c:v>6.75</c:v>
                </c:pt>
                <c:pt idx="23">
                  <c:v>6.6782258065</c:v>
                </c:pt>
                <c:pt idx="24">
                  <c:v>6.6125</c:v>
                </c:pt>
                <c:pt idx="25">
                  <c:v>6.5522727273</c:v>
                </c:pt>
                <c:pt idx="26">
                  <c:v>6.4970588235</c:v>
                </c:pt>
                <c:pt idx="27">
                  <c:v>6.4464285714</c:v>
                </c:pt>
                <c:pt idx="28">
                  <c:v>6.4</c:v>
                </c:pt>
                <c:pt idx="29">
                  <c:v>6.3574324324</c:v>
                </c:pt>
                <c:pt idx="30">
                  <c:v>6.3184210526</c:v>
                </c:pt>
                <c:pt idx="31">
                  <c:v>6.2826923077</c:v>
                </c:pt>
                <c:pt idx="32">
                  <c:v>6.25</c:v>
                </c:pt>
                <c:pt idx="33">
                  <c:v>6.2201219512</c:v>
                </c:pt>
                <c:pt idx="34">
                  <c:v>6.1928571429</c:v>
                </c:pt>
                <c:pt idx="35">
                  <c:v>6.1680232558</c:v>
                </c:pt>
                <c:pt idx="36">
                  <c:v>6.1454545455</c:v>
                </c:pt>
                <c:pt idx="37">
                  <c:v>6.125</c:v>
                </c:pt>
                <c:pt idx="38">
                  <c:v>6.1065217391</c:v>
                </c:pt>
                <c:pt idx="39">
                  <c:v>6.089893617</c:v>
                </c:pt>
                <c:pt idx="40">
                  <c:v>6.075</c:v>
                </c:pt>
                <c:pt idx="41">
                  <c:v>6.0617346939</c:v>
                </c:pt>
                <c:pt idx="42">
                  <c:v>6.05</c:v>
                </c:pt>
                <c:pt idx="43">
                  <c:v>6.0397058824</c:v>
                </c:pt>
                <c:pt idx="44">
                  <c:v>6.0307692308</c:v>
                </c:pt>
                <c:pt idx="45">
                  <c:v>6.0231132075</c:v>
                </c:pt>
                <c:pt idx="46">
                  <c:v>6.0166666667</c:v>
                </c:pt>
                <c:pt idx="47">
                  <c:v>6.0113636364</c:v>
                </c:pt>
                <c:pt idx="48">
                  <c:v>6.0071428571</c:v>
                </c:pt>
                <c:pt idx="49">
                  <c:v>6.0039473684</c:v>
                </c:pt>
                <c:pt idx="50">
                  <c:v>6.0017241379</c:v>
                </c:pt>
                <c:pt idx="51">
                  <c:v>6.0004237288</c:v>
                </c:pt>
                <c:pt idx="52">
                  <c:v>6</c:v>
                </c:pt>
                <c:pt idx="53">
                  <c:v>6.0004098361</c:v>
                </c:pt>
                <c:pt idx="54">
                  <c:v>6.0016129032</c:v>
                </c:pt>
                <c:pt idx="55">
                  <c:v>6.0035714286</c:v>
                </c:pt>
                <c:pt idx="56">
                  <c:v>6.00625</c:v>
                </c:pt>
                <c:pt idx="57">
                  <c:v>6.0096153846</c:v>
                </c:pt>
                <c:pt idx="58">
                  <c:v>6.0136363636</c:v>
                </c:pt>
                <c:pt idx="59">
                  <c:v>6.0182835821</c:v>
                </c:pt>
                <c:pt idx="60">
                  <c:v>6.0235294118</c:v>
                </c:pt>
                <c:pt idx="61">
                  <c:v>6.0293478261</c:v>
                </c:pt>
                <c:pt idx="62">
                  <c:v>6.0357142857</c:v>
                </c:pt>
                <c:pt idx="63">
                  <c:v>6.0426056338</c:v>
                </c:pt>
                <c:pt idx="64">
                  <c:v>6.05</c:v>
                </c:pt>
                <c:pt idx="65">
                  <c:v>6.0578767123</c:v>
                </c:pt>
                <c:pt idx="66">
                  <c:v>6.0662162162</c:v>
                </c:pt>
                <c:pt idx="67">
                  <c:v>6.075</c:v>
                </c:pt>
                <c:pt idx="68">
                  <c:v>6.0842105263</c:v>
                </c:pt>
                <c:pt idx="69">
                  <c:v>6.0938311688</c:v>
                </c:pt>
                <c:pt idx="70">
                  <c:v>6.1038461538</c:v>
                </c:pt>
                <c:pt idx="71">
                  <c:v>6.1142405063</c:v>
                </c:pt>
                <c:pt idx="72">
                  <c:v>6.125</c:v>
                </c:pt>
                <c:pt idx="73">
                  <c:v>6.1361111111</c:v>
                </c:pt>
                <c:pt idx="74">
                  <c:v>6.1475609756</c:v>
                </c:pt>
                <c:pt idx="75">
                  <c:v>6.1593373494</c:v>
                </c:pt>
                <c:pt idx="76">
                  <c:v>6.1714285714</c:v>
                </c:pt>
                <c:pt idx="77">
                  <c:v>6.1838235294</c:v>
                </c:pt>
                <c:pt idx="78">
                  <c:v>6.1965116279</c:v>
                </c:pt>
                <c:pt idx="79">
                  <c:v>6.2094827586</c:v>
                </c:pt>
                <c:pt idx="80">
                  <c:v>6.2227272727</c:v>
                </c:pt>
                <c:pt idx="81">
                  <c:v>6.2362359551</c:v>
                </c:pt>
                <c:pt idx="82">
                  <c:v>6.25</c:v>
                </c:pt>
                <c:pt idx="83">
                  <c:v>6.264010989</c:v>
                </c:pt>
                <c:pt idx="84">
                  <c:v>6.2782608696</c:v>
                </c:pt>
                <c:pt idx="85">
                  <c:v>6.2927419355</c:v>
                </c:pt>
                <c:pt idx="86">
                  <c:v>6.3074468085</c:v>
                </c:pt>
                <c:pt idx="87">
                  <c:v>6.3223684211</c:v>
                </c:pt>
                <c:pt idx="88">
                  <c:v>6.3375</c:v>
                </c:pt>
                <c:pt idx="89">
                  <c:v>6.3528350515</c:v>
                </c:pt>
                <c:pt idx="90">
                  <c:v>6.3683673469</c:v>
                </c:pt>
                <c:pt idx="91">
                  <c:v>6.3840909091</c:v>
                </c:pt>
                <c:pt idx="92">
                  <c:v>6.4</c:v>
                </c:pt>
                <c:pt idx="93">
                  <c:v>6.4160891089</c:v>
                </c:pt>
                <c:pt idx="94">
                  <c:v>6.4323529412</c:v>
                </c:pt>
                <c:pt idx="95">
                  <c:v>6.4487864078</c:v>
                </c:pt>
                <c:pt idx="96">
                  <c:v>6.4653846154</c:v>
                </c:pt>
                <c:pt idx="97">
                  <c:v>6.4821428571</c:v>
                </c:pt>
                <c:pt idx="98">
                  <c:v>6.4990566038</c:v>
                </c:pt>
                <c:pt idx="99">
                  <c:v>6.5161214953</c:v>
                </c:pt>
                <c:pt idx="100">
                  <c:v>6.5333333333</c:v>
                </c:pt>
                <c:pt idx="101">
                  <c:v>6.5506880734</c:v>
                </c:pt>
                <c:pt idx="102">
                  <c:v>6.5681818182</c:v>
                </c:pt>
                <c:pt idx="103">
                  <c:v>6.5858108108</c:v>
                </c:pt>
                <c:pt idx="104">
                  <c:v>6.6035714286</c:v>
                </c:pt>
                <c:pt idx="105">
                  <c:v>6.621460177</c:v>
                </c:pt>
                <c:pt idx="106">
                  <c:v>6.6394736842</c:v>
                </c:pt>
                <c:pt idx="107">
                  <c:v>6.6576086957</c:v>
                </c:pt>
                <c:pt idx="108">
                  <c:v>6.675862069</c:v>
                </c:pt>
                <c:pt idx="109">
                  <c:v>6.6942307692</c:v>
                </c:pt>
                <c:pt idx="110">
                  <c:v>6.7127118644</c:v>
                </c:pt>
                <c:pt idx="111">
                  <c:v>6.731302521</c:v>
                </c:pt>
                <c:pt idx="112">
                  <c:v>6.75</c:v>
                </c:pt>
                <c:pt idx="113">
                  <c:v>6.7688016529</c:v>
                </c:pt>
                <c:pt idx="114">
                  <c:v>6.787704918</c:v>
                </c:pt>
                <c:pt idx="115">
                  <c:v>6.8067073171</c:v>
                </c:pt>
                <c:pt idx="116">
                  <c:v>6.8258064516</c:v>
                </c:pt>
                <c:pt idx="117">
                  <c:v>6.845</c:v>
                </c:pt>
                <c:pt idx="118">
                  <c:v>6.8642857143</c:v>
                </c:pt>
                <c:pt idx="119">
                  <c:v>6.8836614173</c:v>
                </c:pt>
                <c:pt idx="120">
                  <c:v>6.903125</c:v>
                </c:pt>
                <c:pt idx="121">
                  <c:v>6.9226744186</c:v>
                </c:pt>
                <c:pt idx="122">
                  <c:v>6.9423076923</c:v>
                </c:pt>
                <c:pt idx="123">
                  <c:v>6.9620229008</c:v>
                </c:pt>
                <c:pt idx="124">
                  <c:v>6.9818181818</c:v>
                </c:pt>
                <c:pt idx="125">
                  <c:v>7.0016917293</c:v>
                </c:pt>
                <c:pt idx="126">
                  <c:v>7.021641791</c:v>
                </c:pt>
                <c:pt idx="127">
                  <c:v>7.0416666667</c:v>
                </c:pt>
                <c:pt idx="128">
                  <c:v>7.0617647059</c:v>
                </c:pt>
                <c:pt idx="129">
                  <c:v>7.0819343066</c:v>
                </c:pt>
                <c:pt idx="130">
                  <c:v>7.102173913</c:v>
                </c:pt>
                <c:pt idx="131">
                  <c:v>7.1224820144</c:v>
                </c:pt>
                <c:pt idx="132">
                  <c:v>7.1428571429</c:v>
                </c:pt>
                <c:pt idx="133">
                  <c:v>7.1632978723</c:v>
                </c:pt>
                <c:pt idx="134">
                  <c:v>7.1838028169</c:v>
                </c:pt>
                <c:pt idx="135">
                  <c:v>7.2043706294</c:v>
                </c:pt>
                <c:pt idx="136">
                  <c:v>7.225</c:v>
                </c:pt>
                <c:pt idx="137">
                  <c:v>7.2456896552</c:v>
                </c:pt>
                <c:pt idx="138">
                  <c:v>7.2664383562</c:v>
                </c:pt>
                <c:pt idx="139">
                  <c:v>7.287244898</c:v>
                </c:pt>
                <c:pt idx="140">
                  <c:v>7.3081081081</c:v>
                </c:pt>
                <c:pt idx="141">
                  <c:v>7.3290268456</c:v>
                </c:pt>
                <c:pt idx="142">
                  <c:v>7.35</c:v>
                </c:pt>
                <c:pt idx="143">
                  <c:v>7.3710264901</c:v>
                </c:pt>
                <c:pt idx="144">
                  <c:v>7.3921052632</c:v>
                </c:pt>
                <c:pt idx="145">
                  <c:v>7.4132352941</c:v>
                </c:pt>
                <c:pt idx="146">
                  <c:v>7.4344155844</c:v>
                </c:pt>
                <c:pt idx="147">
                  <c:v>7.4556451613</c:v>
                </c:pt>
                <c:pt idx="148">
                  <c:v>7.4769230769</c:v>
                </c:pt>
                <c:pt idx="149">
                  <c:v>7.4982484076</c:v>
                </c:pt>
                <c:pt idx="150">
                  <c:v>7.5196202532</c:v>
                </c:pt>
                <c:pt idx="151">
                  <c:v>7.5410377358</c:v>
                </c:pt>
                <c:pt idx="152">
                  <c:v>7.5625</c:v>
                </c:pt>
                <c:pt idx="153">
                  <c:v>7.5840062112</c:v>
                </c:pt>
                <c:pt idx="154">
                  <c:v>7.6055555556</c:v>
                </c:pt>
                <c:pt idx="155">
                  <c:v>7.6271472393</c:v>
                </c:pt>
                <c:pt idx="156">
                  <c:v>7.6487804878</c:v>
                </c:pt>
                <c:pt idx="157">
                  <c:v>7.6704545455</c:v>
                </c:pt>
                <c:pt idx="158">
                  <c:v>7.6921686747</c:v>
                </c:pt>
                <c:pt idx="159">
                  <c:v>7.7139221557</c:v>
                </c:pt>
                <c:pt idx="160">
                  <c:v>7.7357142857</c:v>
                </c:pt>
                <c:pt idx="161">
                  <c:v>7.7575443787</c:v>
                </c:pt>
                <c:pt idx="162">
                  <c:v>7.7794117647</c:v>
                </c:pt>
                <c:pt idx="163">
                  <c:v>7.8013157895</c:v>
                </c:pt>
                <c:pt idx="164">
                  <c:v>7.823255814</c:v>
                </c:pt>
                <c:pt idx="165">
                  <c:v>7.8452312139</c:v>
                </c:pt>
                <c:pt idx="166">
                  <c:v>7.8672413793</c:v>
                </c:pt>
                <c:pt idx="167">
                  <c:v>7.8892857143</c:v>
                </c:pt>
                <c:pt idx="168">
                  <c:v>7.9113636364</c:v>
                </c:pt>
                <c:pt idx="169">
                  <c:v>7.9334745763</c:v>
                </c:pt>
                <c:pt idx="170">
                  <c:v>7.9556179775</c:v>
                </c:pt>
                <c:pt idx="171">
                  <c:v>7.9777932961</c:v>
                </c:pt>
                <c:pt idx="172">
                  <c:v>8</c:v>
                </c:pt>
                <c:pt idx="173">
                  <c:v>8.0222375691</c:v>
                </c:pt>
                <c:pt idx="174">
                  <c:v>8.0445054945</c:v>
                </c:pt>
                <c:pt idx="175">
                  <c:v>8.0668032787</c:v>
                </c:pt>
                <c:pt idx="176">
                  <c:v>8.0891304348</c:v>
                </c:pt>
                <c:pt idx="177">
                  <c:v>8.1114864865</c:v>
                </c:pt>
                <c:pt idx="178">
                  <c:v>8.1338709677</c:v>
                </c:pt>
                <c:pt idx="179">
                  <c:v>8.1562834225</c:v>
                </c:pt>
                <c:pt idx="180">
                  <c:v>8.1787234043</c:v>
                </c:pt>
                <c:pt idx="181">
                  <c:v>8.2011904762</c:v>
                </c:pt>
                <c:pt idx="182">
                  <c:v>8.2236842105</c:v>
                </c:pt>
                <c:pt idx="183">
                  <c:v>8.2462041885</c:v>
                </c:pt>
                <c:pt idx="184">
                  <c:v>8.26875</c:v>
                </c:pt>
                <c:pt idx="185">
                  <c:v>8.2913212435</c:v>
                </c:pt>
                <c:pt idx="186">
                  <c:v>8.3139175258</c:v>
                </c:pt>
                <c:pt idx="187">
                  <c:v>8.3365384615</c:v>
                </c:pt>
                <c:pt idx="188">
                  <c:v>8.3591836735</c:v>
                </c:pt>
                <c:pt idx="189">
                  <c:v>8.3818527919</c:v>
                </c:pt>
                <c:pt idx="190">
                  <c:v>8.4045454545</c:v>
                </c:pt>
                <c:pt idx="191">
                  <c:v>8.4272613065</c:v>
                </c:pt>
                <c:pt idx="192">
                  <c:v>8.45</c:v>
                </c:pt>
              </c:numCache>
            </c:numRef>
          </c:yVal>
          <c:smooth val="0"/>
        </c:ser>
        <c:ser>
          <c:idx val="2"/>
          <c:order val="2"/>
          <c:tx>
            <c:v>P = GO = MO</c:v>
          </c:tx>
          <c:spPr>
            <a:ln xmlns:a="http://schemas.openxmlformats.org/drawingml/2006/main" w="33338">
              <a:solidFill>
                <a:srgbClr val="17658A"/>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17658A"/>
                        </a:solidFill>
                        <a:latin typeface="Arial"/>
                        <a:ea typeface="Arial"/>
                        <a:cs typeface="Arial"/>
                      </a:rPr>
                      <a:t>P = 9</a:t>
                    </a:r>
                  </a:p>
                </c:rich>
              </c:tx>
              <c:txPr>
                <a:bodyPr xmlns:a="http://schemas.openxmlformats.org/drawingml/2006/main" anchorCtr="1"/>
                <a:lstStyle xmlns:a="http://schemas.openxmlformats.org/drawingml/2006/main"/>
                <a:p xmlns:a="http://schemas.openxmlformats.org/drawingml/2006/main">
                  <a:pPr>
                    <a:defRPr sz="1800" b="1">
                      <a:solidFill>
                        <a:srgbClr val="17658A"/>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Data'!$E$2:$E$4</c:f>
              <c:numCache>
                <c:formatCode>General</c:formatCode>
                <c:ptCount val="3"/>
                <c:pt idx="0">
                  <c:v>0</c:v>
                </c:pt>
                <c:pt idx="1">
                  <c:v>85</c:v>
                </c:pt>
                <c:pt idx="2">
                  <c:v>100</c:v>
                </c:pt>
              </c:numCache>
            </c:numRef>
          </c:xVal>
          <c:yVal>
            <c:numRef>
              <c:f>'Chart Data'!$F$2:$F$4</c:f>
              <c:numCache>
                <c:formatCode>0</c:formatCode>
                <c:ptCount val="3"/>
                <c:pt idx="0">
                  <c:v>9</c:v>
                </c:pt>
                <c:pt idx="1">
                  <c:v>9</c:v>
                </c:pt>
                <c:pt idx="2">
                  <c:v>9</c:v>
                </c:pt>
              </c:numCache>
            </c:numRef>
          </c:yVal>
          <c:smooth val="0"/>
        </c:ser>
        <c:ser>
          <c:idx val="3"/>
          <c:order val="3"/>
          <c:tx>
            <c:v>Hulplijn</c:v>
          </c:tx>
          <c:spPr>
            <a:ln xmlns:a="http://schemas.openxmlformats.org/drawingml/2006/main" w="14288">
              <a:solidFill>
                <a:srgbClr val="445B6B"/>
              </a:solidFill>
              <a:prstDash val="dash"/>
            </a:ln>
          </c:spPr>
          <c:marker>
            <c:symbol val="none"/>
            <c:size val="3"/>
          </c:marker>
          <c:xVal>
            <c:numRef>
              <c:f>'Chart Data'!$G$2:$G$4</c:f>
              <c:numCache>
                <c:formatCode>General</c:formatCode>
                <c:ptCount val="3"/>
                <c:pt idx="0">
                  <c:v>0</c:v>
                </c:pt>
                <c:pt idx="1">
                  <c:v>60</c:v>
                </c:pt>
                <c:pt idx="2">
                  <c:v>60</c:v>
                </c:pt>
              </c:numCache>
            </c:numRef>
          </c:xVal>
          <c:yVal>
            <c:numRef>
              <c:f>'Chart Data'!$H$2:$H$4</c:f>
              <c:numCache>
                <c:formatCode>0</c:formatCode>
                <c:ptCount val="3"/>
                <c:pt idx="0">
                  <c:v>9</c:v>
                </c:pt>
                <c:pt idx="1">
                  <c:v>9</c:v>
                </c:pt>
                <c:pt idx="2">
                  <c:v>0</c:v>
                </c:pt>
              </c:numCache>
            </c:numRef>
          </c:yVal>
          <c:smooth val="0"/>
        </c:ser>
        <c:ser>
          <c:idx val="4"/>
          <c:order val="4"/>
          <c:tx>
            <c:v>Keuze</c:v>
          </c:tx>
          <c:spPr>
            <a:ln xmlns:a="http://schemas.openxmlformats.org/drawingml/2006/main" w="33338">
              <a:solidFill>
                <a:srgbClr val="183247"/>
              </a:solidFill>
            </a:ln>
          </c:spPr>
          <c:marker>
            <c:symbol val="circle"/>
            <c:size val="8"/>
            <c:spPr>
              <a:solidFill xmlns:a="http://schemas.openxmlformats.org/drawingml/2006/main">
                <a:srgbClr val="183247"/>
              </a:solidFill>
            </c:spPr>
          </c:marker>
          <c:xVal>
            <c:numRef>
              <c:f>'Chart Data'!$I$2:$I$2</c:f>
              <c:numCache>
                <c:formatCode>General</c:formatCode>
                <c:ptCount val="1"/>
                <c:pt idx="0">
                  <c:v>60</c:v>
                </c:pt>
              </c:numCache>
            </c:numRef>
          </c:xVal>
          <c:yVal>
            <c:numRef>
              <c:f>'Chart Data'!$J$2:$J$2</c:f>
              <c:numCache>
                <c:formatCode>0</c:formatCode>
                <c:ptCount val="1"/>
                <c:pt idx="0">
                  <c:v>9</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6"/>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MK en GTK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(kg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
        <c:ser>
          <c:idx val="0"/>
          <c:order val="0"/>
          <c:tx>
            <c:v>V</c:v>
          </c:tx>
          <c:spPr>
            <a:ln xmlns:a="http://schemas.openxmlformats.org/drawingml/2006/main" w="33338">
              <a:solidFill>
                <a:srgbClr val="17658A"/>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17658A"/>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1800" b="1">
                      <a:solidFill>
                        <a:srgbClr val="17658A"/>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Data'!$A$2:$A$3</c:f>
              <c:numCache>
                <c:formatCode>General</c:formatCode>
                <c:ptCount val="2"/>
                <c:pt idx="0">
                  <c:v>0</c:v>
                </c:pt>
                <c:pt idx="1">
                  <c:v>15</c:v>
                </c:pt>
              </c:numCache>
            </c:numRef>
          </c:xVal>
          <c:yVal>
            <c:numRef>
              <c:f>'Chart Data'!$B$2:$B$3</c:f>
              <c:numCache>
                <c:formatCode>0</c:formatCode>
                <c:ptCount val="2"/>
                <c:pt idx="0">
                  <c:v>15</c:v>
                </c:pt>
                <c:pt idx="1">
                  <c:v>0</c:v>
                </c:pt>
              </c:numCache>
            </c:numRef>
          </c:yVal>
          <c:smooth val="0"/>
        </c:ser>
        <c:ser>
          <c:idx val="1"/>
          <c:order val="1"/>
          <c:tx>
            <c:v>A₀</c:v>
          </c:tx>
          <c:spPr>
            <a:ln xmlns:a="http://schemas.openxmlformats.org/drawingml/2006/main" w="33338">
              <a:solidFill>
                <a:srgbClr val="20665B"/>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20665B"/>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1800" b="1">
                      <a:solidFill>
                        <a:srgbClr val="20665B"/>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Data'!$C$2:$C$3</c:f>
              <c:numCache>
                <c:formatCode>General</c:formatCode>
                <c:ptCount val="2"/>
                <c:pt idx="0">
                  <c:v>0</c:v>
                </c:pt>
                <c:pt idx="1">
                  <c:v>10</c:v>
                </c:pt>
              </c:numCache>
            </c:numRef>
          </c:xVal>
          <c:yVal>
            <c:numRef>
              <c:f>'Chart Data'!$D$2:$D$3</c:f>
              <c:numCache>
                <c:formatCode>0</c:formatCode>
                <c:ptCount val="2"/>
                <c:pt idx="0">
                  <c:v>3</c:v>
                </c:pt>
                <c:pt idx="1">
                  <c:v>13</c:v>
                </c:pt>
              </c:numCache>
            </c:numRef>
          </c:yVal>
          <c:smooth val="0"/>
        </c:ser>
        <c:ser>
          <c:idx val="2"/>
          <c:order val="2"/>
          <c:tx>
            <c:v>Hulplijn</c:v>
          </c:tx>
          <c:spPr>
            <a:ln xmlns:a="http://schemas.openxmlformats.org/drawingml/2006/main" w="14288">
              <a:solidFill>
                <a:srgbClr val="445B6B"/>
              </a:solidFill>
              <a:prstDash val="dash"/>
            </a:ln>
          </c:spPr>
          <c:marker>
            <c:symbol val="none"/>
            <c:size val="3"/>
          </c:marker>
          <c:xVal>
            <c:numRef>
              <c:f>'Chart Data'!$E$2:$E$4</c:f>
              <c:numCache>
                <c:formatCode>General</c:formatCode>
                <c:ptCount val="3"/>
                <c:pt idx="0">
                  <c:v>0</c:v>
                </c:pt>
                <c:pt idx="1">
                  <c:v>6</c:v>
                </c:pt>
                <c:pt idx="2">
                  <c:v>6</c:v>
                </c:pt>
              </c:numCache>
            </c:numRef>
          </c:xVal>
          <c:yVal>
            <c:numRef>
              <c:f>'Chart Data'!$F$2:$F$4</c:f>
              <c:numCache>
                <c:formatCode>0</c:formatCode>
                <c:ptCount val="3"/>
                <c:pt idx="0">
                  <c:v>9</c:v>
                </c:pt>
                <c:pt idx="1">
                  <c:v>9</c:v>
                </c:pt>
                <c:pt idx="2">
                  <c:v>0</c:v>
                </c:pt>
              </c:numCache>
            </c:numRef>
          </c:yVal>
          <c:smooth val="0"/>
        </c:ser>
        <c:ser>
          <c:idx val="3"/>
          <c:order val="3"/>
          <c:tx>
            <c:v>E₀</c:v>
          </c:tx>
          <c:spPr>
            <a:ln xmlns:a="http://schemas.openxmlformats.org/drawingml/2006/main" w="33338">
              <a:solidFill>
                <a:srgbClr val="183247"/>
              </a:solidFill>
            </a:ln>
          </c:spPr>
          <c:marker>
            <c:symbol val="circle"/>
            <c:size val="8"/>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00"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1800" b="1">
                      <a:solidFill>
                        <a:srgbClr val="183247"/>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Data'!$G$2:$G$2</c:f>
              <c:numCache>
                <c:formatCode>General</c:formatCode>
                <c:ptCount val="1"/>
                <c:pt idx="0">
                  <c:v>6</c:v>
                </c:pt>
              </c:numCache>
            </c:numRef>
          </c:xVal>
          <c:yVal>
            <c:numRef>
              <c:f>'Chart Data'!$H$2:$H$2</c:f>
              <c:numCache>
                <c:formatCode>0</c:formatCode>
                <c:ptCount val="1"/>
                <c:pt idx="0">
                  <c:v>9</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6"/>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2"/>
      </c:valAx>
      <c:valAx>
        <c:axId val="48650112"/>
        <c:scaling>
          <c:orientation val="minMax"/>
          <c:max val="15"/>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 1.000 kg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3"/>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catterStyle val="line"/>
        <c:ser>
          <c:idx val="0"/>
          <c:order val="0"/>
          <c:tx>
            <c:v>V</c:v>
          </c:tx>
          <c:spPr>
            <a:ln xmlns:a="http://schemas.openxmlformats.org/drawingml/2006/main" w="33338">
              <a:solidFill>
                <a:srgbClr val="17658A"/>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17658A"/>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1800" b="1">
                      <a:solidFill>
                        <a:srgbClr val="17658A"/>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Data'!$A$2:$A$3</c:f>
              <c:numCache>
                <c:formatCode>General</c:formatCode>
                <c:ptCount val="2"/>
                <c:pt idx="0">
                  <c:v>0</c:v>
                </c:pt>
                <c:pt idx="1">
                  <c:v>15</c:v>
                </c:pt>
              </c:numCache>
            </c:numRef>
          </c:xVal>
          <c:yVal>
            <c:numRef>
              <c:f>'Chart Data'!$B$2:$B$3</c:f>
              <c:numCache>
                <c:formatCode>0</c:formatCode>
                <c:ptCount val="2"/>
                <c:pt idx="0">
                  <c:v>15</c:v>
                </c:pt>
                <c:pt idx="1">
                  <c:v>0</c:v>
                </c:pt>
              </c:numCache>
            </c:numRef>
          </c:yVal>
          <c:smooth val="0"/>
        </c:ser>
        <c:ser>
          <c:idx val="1"/>
          <c:order val="1"/>
          <c:tx>
            <c:v>A₀</c:v>
          </c:tx>
          <c:spPr>
            <a:ln xmlns:a="http://schemas.openxmlformats.org/drawingml/2006/main" w="33338">
              <a:solidFill>
                <a:srgbClr val="445B6B"/>
              </a:solidFill>
              <a:prstDash val="dash"/>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445B6B"/>
                        </a:solidFill>
                        <a:latin typeface="Arial"/>
                        <a:ea typeface="Arial"/>
                        <a:cs typeface="Arial"/>
                      </a:rPr>
                      <a:t>A₀</a:t>
                    </a:r>
                  </a:p>
                </c:rich>
              </c:tx>
              <c:txPr>
                <a:bodyPr xmlns:a="http://schemas.openxmlformats.org/drawingml/2006/main" anchorCtr="1"/>
                <a:lstStyle xmlns:a="http://schemas.openxmlformats.org/drawingml/2006/main"/>
                <a:p xmlns:a="http://schemas.openxmlformats.org/drawingml/2006/main">
                  <a:pPr>
                    <a:defRPr sz="1800" b="1">
                      <a:solidFill>
                        <a:srgbClr val="445B6B"/>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Data'!$C$2:$C$3</c:f>
              <c:numCache>
                <c:formatCode>General</c:formatCode>
                <c:ptCount val="2"/>
                <c:pt idx="0">
                  <c:v>0</c:v>
                </c:pt>
                <c:pt idx="1">
                  <c:v>10</c:v>
                </c:pt>
              </c:numCache>
            </c:numRef>
          </c:xVal>
          <c:yVal>
            <c:numRef>
              <c:f>'Chart Data'!$D$2:$D$3</c:f>
              <c:numCache>
                <c:formatCode>0</c:formatCode>
                <c:ptCount val="2"/>
                <c:pt idx="0">
                  <c:v>3</c:v>
                </c:pt>
                <c:pt idx="1">
                  <c:v>13</c:v>
                </c:pt>
              </c:numCache>
            </c:numRef>
          </c:yVal>
          <c:smooth val="0"/>
        </c:ser>
        <c:ser>
          <c:idx val="2"/>
          <c:order val="2"/>
          <c:tx>
            <c:v>A₁</c:v>
          </c:tx>
          <c:spPr>
            <a:ln xmlns:a="http://schemas.openxmlformats.org/drawingml/2006/main" w="33338">
              <a:solidFill>
                <a:srgbClr val="A94D16"/>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A94D16"/>
                        </a:solidFill>
                        <a:latin typeface="Arial"/>
                        <a:ea typeface="Arial"/>
                        <a:cs typeface="Arial"/>
                      </a:rPr>
                      <a:t>A₁</a:t>
                    </a:r>
                  </a:p>
                </c:rich>
              </c:tx>
              <c:txPr>
                <a:bodyPr xmlns:a="http://schemas.openxmlformats.org/drawingml/2006/main" anchorCtr="1"/>
                <a:lstStyle xmlns:a="http://schemas.openxmlformats.org/drawingml/2006/main"/>
                <a:p xmlns:a="http://schemas.openxmlformats.org/drawingml/2006/main">
                  <a:pPr>
                    <a:defRPr sz="1800" b="1">
                      <a:solidFill>
                        <a:srgbClr val="A94D1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Data'!$E$2:$E$3</c:f>
              <c:numCache>
                <c:formatCode>General</c:formatCode>
                <c:ptCount val="2"/>
                <c:pt idx="0">
                  <c:v>0</c:v>
                </c:pt>
                <c:pt idx="1">
                  <c:v>15</c:v>
                </c:pt>
              </c:numCache>
            </c:numRef>
          </c:xVal>
          <c:yVal>
            <c:numRef>
              <c:f>'Chart Data'!$F$2:$F$3</c:f>
              <c:numCache>
                <c:formatCode>0</c:formatCode>
                <c:ptCount val="2"/>
                <c:pt idx="0">
                  <c:v>3</c:v>
                </c:pt>
                <c:pt idx="1">
                  <c:v>8</c:v>
                </c:pt>
              </c:numCache>
            </c:numRef>
          </c:yVal>
          <c:smooth val="0"/>
        </c:ser>
        <c:ser>
          <c:idx val="3"/>
          <c:order val="3"/>
          <c:tx>
            <c:v>Hulplijn</c:v>
          </c:tx>
          <c:spPr>
            <a:ln xmlns:a="http://schemas.openxmlformats.org/drawingml/2006/main" w="14288">
              <a:solidFill>
                <a:srgbClr val="445B6B"/>
              </a:solidFill>
              <a:prstDash val="dash"/>
            </a:ln>
          </c:spPr>
          <c:marker>
            <c:symbol val="none"/>
            <c:size val="3"/>
          </c:marker>
          <c:xVal>
            <c:numRef>
              <c:f>'Chart Data'!$G$2:$G$4</c:f>
              <c:numCache>
                <c:formatCode>General</c:formatCode>
                <c:ptCount val="3"/>
                <c:pt idx="0">
                  <c:v>0</c:v>
                </c:pt>
                <c:pt idx="1">
                  <c:v>6</c:v>
                </c:pt>
                <c:pt idx="2">
                  <c:v>6</c:v>
                </c:pt>
              </c:numCache>
            </c:numRef>
          </c:xVal>
          <c:yVal>
            <c:numRef>
              <c:f>'Chart Data'!$H$2:$H$4</c:f>
              <c:numCache>
                <c:formatCode>0</c:formatCode>
                <c:ptCount val="3"/>
                <c:pt idx="0">
                  <c:v>9</c:v>
                </c:pt>
                <c:pt idx="1">
                  <c:v>9</c:v>
                </c:pt>
                <c:pt idx="2">
                  <c:v>0</c:v>
                </c:pt>
              </c:numCache>
            </c:numRef>
          </c:yVal>
          <c:smooth val="0"/>
        </c:ser>
        <c:ser>
          <c:idx val="4"/>
          <c:order val="4"/>
          <c:tx>
            <c:v>Hulplijn</c:v>
          </c:tx>
          <c:spPr>
            <a:ln xmlns:a="http://schemas.openxmlformats.org/drawingml/2006/main" w="14288">
              <a:solidFill>
                <a:srgbClr val="445B6B"/>
              </a:solidFill>
              <a:prstDash val="dash"/>
            </a:ln>
          </c:spPr>
          <c:marker>
            <c:symbol val="none"/>
            <c:size val="3"/>
          </c:marker>
          <c:xVal>
            <c:numRef>
              <c:f>'Chart Data'!$I$2:$I$4</c:f>
              <c:numCache>
                <c:formatCode>General</c:formatCode>
                <c:ptCount val="3"/>
                <c:pt idx="0">
                  <c:v>0</c:v>
                </c:pt>
                <c:pt idx="1">
                  <c:v>9</c:v>
                </c:pt>
                <c:pt idx="2">
                  <c:v>9</c:v>
                </c:pt>
              </c:numCache>
            </c:numRef>
          </c:xVal>
          <c:yVal>
            <c:numRef>
              <c:f>'Chart Data'!$J$2:$J$4</c:f>
              <c:numCache>
                <c:formatCode>0</c:formatCode>
                <c:ptCount val="3"/>
                <c:pt idx="0">
                  <c:v>6</c:v>
                </c:pt>
                <c:pt idx="1">
                  <c:v>6</c:v>
                </c:pt>
                <c:pt idx="2">
                  <c:v>0</c:v>
                </c:pt>
              </c:numCache>
            </c:numRef>
          </c:yVal>
          <c:smooth val="0"/>
        </c:ser>
        <c:ser>
          <c:idx val="5"/>
          <c:order val="5"/>
          <c:tx>
            <c:v>E₀</c:v>
          </c:tx>
          <c:spPr>
            <a:ln xmlns:a="http://schemas.openxmlformats.org/drawingml/2006/main" w="33338">
              <a:solidFill>
                <a:srgbClr val="183247"/>
              </a:solidFill>
            </a:ln>
          </c:spPr>
          <c:marker>
            <c:symbol val="circle"/>
            <c:size val="8"/>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00" b="1">
                        <a:solidFill>
                          <a:srgbClr val="183247"/>
                        </a:solidFill>
                        <a:latin typeface="Arial"/>
                        <a:ea typeface="Arial"/>
                        <a:cs typeface="Arial"/>
                      </a:rPr>
                      <a:t>E₀</a:t>
                    </a:r>
                  </a:p>
                </c:rich>
              </c:tx>
              <c:txPr>
                <a:bodyPr xmlns:a="http://schemas.openxmlformats.org/drawingml/2006/main" anchorCtr="1"/>
                <a:lstStyle xmlns:a="http://schemas.openxmlformats.org/drawingml/2006/main"/>
                <a:p xmlns:a="http://schemas.openxmlformats.org/drawingml/2006/main">
                  <a:pPr>
                    <a:defRPr sz="1800" b="1">
                      <a:solidFill>
                        <a:srgbClr val="183247"/>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Data'!$K$2:$K$2</c:f>
              <c:numCache>
                <c:formatCode>General</c:formatCode>
                <c:ptCount val="1"/>
                <c:pt idx="0">
                  <c:v>6</c:v>
                </c:pt>
              </c:numCache>
            </c:numRef>
          </c:xVal>
          <c:yVal>
            <c:numRef>
              <c:f>'Chart Data'!$L$2:$L$2</c:f>
              <c:numCache>
                <c:formatCode>0</c:formatCode>
                <c:ptCount val="1"/>
                <c:pt idx="0">
                  <c:v>9</c:v>
                </c:pt>
              </c:numCache>
            </c:numRef>
          </c:yVal>
          <c:smooth val="0"/>
        </c:ser>
        <c:ser>
          <c:idx val="6"/>
          <c:order val="6"/>
          <c:tx>
            <c:v>E₁</c:v>
          </c:tx>
          <c:spPr>
            <a:ln xmlns:a="http://schemas.openxmlformats.org/drawingml/2006/main" w="33338">
              <a:solidFill>
                <a:srgbClr val="183247"/>
              </a:solidFill>
            </a:ln>
          </c:spPr>
          <c:marker>
            <c:symbol val="circle"/>
            <c:size val="8"/>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00" b="1">
                        <a:solidFill>
                          <a:srgbClr val="183247"/>
                        </a:solidFill>
                        <a:latin typeface="Arial"/>
                        <a:ea typeface="Arial"/>
                        <a:cs typeface="Arial"/>
                      </a:rPr>
                      <a:t>E₁</a:t>
                    </a:r>
                  </a:p>
                </c:rich>
              </c:tx>
              <c:txPr>
                <a:bodyPr xmlns:a="http://schemas.openxmlformats.org/drawingml/2006/main" anchorCtr="1"/>
                <a:lstStyle xmlns:a="http://schemas.openxmlformats.org/drawingml/2006/main"/>
                <a:p xmlns:a="http://schemas.openxmlformats.org/drawingml/2006/main">
                  <a:pPr>
                    <a:defRPr sz="1800" b="1">
                      <a:solidFill>
                        <a:srgbClr val="183247"/>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Data'!$M$2:$M$2</c:f>
              <c:numCache>
                <c:formatCode>General</c:formatCode>
                <c:ptCount val="1"/>
                <c:pt idx="0">
                  <c:v>9</c:v>
                </c:pt>
              </c:numCache>
            </c:numRef>
          </c:xVal>
          <c:yVal>
            <c:numRef>
              <c:f>'Chart Data'!$N$2:$N$2</c:f>
              <c:numCache>
                <c:formatCode>0</c:formatCode>
                <c:ptCount val="1"/>
                <c:pt idx="0">
                  <c:v>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6"/>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2"/>
      </c:valAx>
      <c:valAx>
        <c:axId val="48650112"/>
        <c:scaling>
          <c:orientation val="minMax"/>
          <c:max val="15"/>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 1.000 kg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3"/>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scatterChart>
        <c:scatterStyle val="line"/>
        <c:ser>
          <c:idx val="0"/>
          <c:order val="0"/>
          <c:tx>
            <c:v>MK</c:v>
          </c:tx>
          <c:spPr>
            <a:ln xmlns:a="http://schemas.openxmlformats.org/drawingml/2006/main" w="33338">
              <a:solidFill>
                <a:srgbClr val="20665B"/>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20665B"/>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800" b="1">
                      <a:solidFill>
                        <a:srgbClr val="20665B"/>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Data'!$A$2:$A$3</c:f>
              <c:numCache>
                <c:formatCode>General</c:formatCode>
                <c:ptCount val="2"/>
                <c:pt idx="0">
                  <c:v>0</c:v>
                </c:pt>
                <c:pt idx="1">
                  <c:v>100</c:v>
                </c:pt>
              </c:numCache>
            </c:numRef>
          </c:xVal>
          <c:yVal>
            <c:numRef>
              <c:f>'Chart Data'!$B$2:$B$3</c:f>
              <c:numCache>
                <c:formatCode>0</c:formatCode>
                <c:ptCount val="2"/>
                <c:pt idx="0">
                  <c:v>3</c:v>
                </c:pt>
                <c:pt idx="1">
                  <c:v>13</c:v>
                </c:pt>
              </c:numCache>
            </c:numRef>
          </c:yVal>
          <c:smooth val="0"/>
        </c:ser>
        <c:ser>
          <c:idx val="1"/>
          <c:order val="1"/>
          <c:tx>
            <c:v>GTK</c:v>
          </c:tx>
          <c:spPr>
            <a:ln xmlns:a="http://schemas.openxmlformats.org/drawingml/2006/main" w="33338">
              <a:solidFill>
                <a:srgbClr val="A94D16"/>
              </a:solidFill>
            </a:ln>
          </c:spPr>
          <c:marker>
            <c:symbol val="none"/>
            <c:size val="3"/>
          </c:marker>
          <c:dLbls>
            <c:dLbl>
              <c:idx val="183"/>
              <c:tx>
                <c:rich>
                  <a:bodyPr xmlns:a="http://schemas.openxmlformats.org/drawingml/2006/main"/>
                  <a:lstStyle xmlns:a="http://schemas.openxmlformats.org/drawingml/2006/main"/>
                  <a:p xmlns:a="http://schemas.openxmlformats.org/drawingml/2006/main">
                    <a:r>
                      <a:rPr sz="1800" b="1">
                        <a:solidFill>
                          <a:srgbClr val="A94D16"/>
                        </a:solidFill>
                        <a:latin typeface="Arial"/>
                        <a:ea typeface="Arial"/>
                        <a:cs typeface="Arial"/>
                      </a:rPr>
                      <a:t>GTK</a:t>
                    </a:r>
                  </a:p>
                </c:rich>
              </c:tx>
              <c:txPr>
                <a:bodyPr xmlns:a="http://schemas.openxmlformats.org/drawingml/2006/main" anchorCtr="1"/>
                <a:lstStyle xmlns:a="http://schemas.openxmlformats.org/drawingml/2006/main"/>
                <a:p xmlns:a="http://schemas.openxmlformats.org/drawingml/2006/main">
                  <a:pPr>
                    <a:defRPr sz="1800" b="1">
                      <a:solidFill>
                        <a:srgbClr val="A94D16"/>
                      </a:solidFill>
                      <a:latin typeface="Arial"/>
                      <a:ea typeface="Arial"/>
                      <a:cs typeface="Arial"/>
                    </a:defRPr>
                  </a:pPr>
                </a:p>
              </c:txPr>
              <c:dLblPos val="b"/>
              <c:showLegendKey val="0"/>
              <c:showVal val="0"/>
              <c:showCatName val="0"/>
              <c:showSerName val="0"/>
              <c:showPercent val="0"/>
              <c:showBubbleSize val="0"/>
            </c:dLbl>
            <c:showLegendKey val="0"/>
            <c:showVal val="0"/>
            <c:showCatName val="0"/>
            <c:showSerName val="0"/>
            <c:showPercent val="0"/>
            <c:showBubbleSize val="0"/>
          </c:dLbls>
          <c:xVal>
            <c:numRef>
              <c:f>'Chart Data'!$C$2:$C$194</c:f>
              <c:numCache>
                <c:formatCode>General</c:formatCode>
                <c:ptCount val="193"/>
                <c:pt idx="0">
                  <c:v>4</c:v>
                </c:pt>
                <c:pt idx="1">
                  <c:v>4.5</c:v>
                </c:pt>
                <c:pt idx="2">
                  <c:v>5</c:v>
                </c:pt>
                <c:pt idx="3">
                  <c:v>5.5</c:v>
                </c:pt>
                <c:pt idx="4">
                  <c:v>6</c:v>
                </c:pt>
                <c:pt idx="5">
                  <c:v>6.5</c:v>
                </c:pt>
                <c:pt idx="6">
                  <c:v>7</c:v>
                </c:pt>
                <c:pt idx="7">
                  <c:v>7.5</c:v>
                </c:pt>
                <c:pt idx="8">
                  <c:v>8</c:v>
                </c:pt>
                <c:pt idx="9">
                  <c:v>8.5</c:v>
                </c:pt>
                <c:pt idx="10">
                  <c:v>9</c:v>
                </c:pt>
                <c:pt idx="11">
                  <c:v>9.5</c:v>
                </c:pt>
                <c:pt idx="12">
                  <c:v>10</c:v>
                </c:pt>
                <c:pt idx="13">
                  <c:v>10.5</c:v>
                </c:pt>
                <c:pt idx="14">
                  <c:v>11</c:v>
                </c:pt>
                <c:pt idx="15">
                  <c:v>11.5</c:v>
                </c:pt>
                <c:pt idx="16">
                  <c:v>12</c:v>
                </c:pt>
                <c:pt idx="17">
                  <c:v>12.5</c:v>
                </c:pt>
                <c:pt idx="18">
                  <c:v>13</c:v>
                </c:pt>
                <c:pt idx="19">
                  <c:v>13.5</c:v>
                </c:pt>
                <c:pt idx="20">
                  <c:v>14</c:v>
                </c:pt>
                <c:pt idx="21">
                  <c:v>14.5</c:v>
                </c:pt>
                <c:pt idx="22">
                  <c:v>15</c:v>
                </c:pt>
                <c:pt idx="23">
                  <c:v>15.5</c:v>
                </c:pt>
                <c:pt idx="24">
                  <c:v>16</c:v>
                </c:pt>
                <c:pt idx="25">
                  <c:v>16.5</c:v>
                </c:pt>
                <c:pt idx="26">
                  <c:v>17</c:v>
                </c:pt>
                <c:pt idx="27">
                  <c:v>17.5</c:v>
                </c:pt>
                <c:pt idx="28">
                  <c:v>18</c:v>
                </c:pt>
                <c:pt idx="29">
                  <c:v>18.5</c:v>
                </c:pt>
                <c:pt idx="30">
                  <c:v>19</c:v>
                </c:pt>
                <c:pt idx="31">
                  <c:v>19.5</c:v>
                </c:pt>
                <c:pt idx="32">
                  <c:v>20</c:v>
                </c:pt>
                <c:pt idx="33">
                  <c:v>20.5</c:v>
                </c:pt>
                <c:pt idx="34">
                  <c:v>21</c:v>
                </c:pt>
                <c:pt idx="35">
                  <c:v>21.5</c:v>
                </c:pt>
                <c:pt idx="36">
                  <c:v>22</c:v>
                </c:pt>
                <c:pt idx="37">
                  <c:v>22.5</c:v>
                </c:pt>
                <c:pt idx="38">
                  <c:v>23</c:v>
                </c:pt>
                <c:pt idx="39">
                  <c:v>23.5</c:v>
                </c:pt>
                <c:pt idx="40">
                  <c:v>24</c:v>
                </c:pt>
                <c:pt idx="41">
                  <c:v>24.5</c:v>
                </c:pt>
                <c:pt idx="42">
                  <c:v>25</c:v>
                </c:pt>
                <c:pt idx="43">
                  <c:v>25.5</c:v>
                </c:pt>
                <c:pt idx="44">
                  <c:v>26</c:v>
                </c:pt>
                <c:pt idx="45">
                  <c:v>26.5</c:v>
                </c:pt>
                <c:pt idx="46">
                  <c:v>27</c:v>
                </c:pt>
                <c:pt idx="47">
                  <c:v>27.5</c:v>
                </c:pt>
                <c:pt idx="48">
                  <c:v>28</c:v>
                </c:pt>
                <c:pt idx="49">
                  <c:v>28.5</c:v>
                </c:pt>
                <c:pt idx="50">
                  <c:v>29</c:v>
                </c:pt>
                <c:pt idx="51">
                  <c:v>29.5</c:v>
                </c:pt>
                <c:pt idx="52">
                  <c:v>30</c:v>
                </c:pt>
                <c:pt idx="53">
                  <c:v>30.5</c:v>
                </c:pt>
                <c:pt idx="54">
                  <c:v>31</c:v>
                </c:pt>
                <c:pt idx="55">
                  <c:v>31.5</c:v>
                </c:pt>
                <c:pt idx="56">
                  <c:v>32</c:v>
                </c:pt>
                <c:pt idx="57">
                  <c:v>32.5</c:v>
                </c:pt>
                <c:pt idx="58">
                  <c:v>33</c:v>
                </c:pt>
                <c:pt idx="59">
                  <c:v>33.5</c:v>
                </c:pt>
                <c:pt idx="60">
                  <c:v>34</c:v>
                </c:pt>
                <c:pt idx="61">
                  <c:v>34.5</c:v>
                </c:pt>
                <c:pt idx="62">
                  <c:v>35</c:v>
                </c:pt>
                <c:pt idx="63">
                  <c:v>35.5</c:v>
                </c:pt>
                <c:pt idx="64">
                  <c:v>36</c:v>
                </c:pt>
                <c:pt idx="65">
                  <c:v>36.5</c:v>
                </c:pt>
                <c:pt idx="66">
                  <c:v>37</c:v>
                </c:pt>
                <c:pt idx="67">
                  <c:v>37.5</c:v>
                </c:pt>
                <c:pt idx="68">
                  <c:v>38</c:v>
                </c:pt>
                <c:pt idx="69">
                  <c:v>38.5</c:v>
                </c:pt>
                <c:pt idx="70">
                  <c:v>39</c:v>
                </c:pt>
                <c:pt idx="71">
                  <c:v>39.5</c:v>
                </c:pt>
                <c:pt idx="72">
                  <c:v>40</c:v>
                </c:pt>
                <c:pt idx="73">
                  <c:v>40.5</c:v>
                </c:pt>
                <c:pt idx="74">
                  <c:v>41</c:v>
                </c:pt>
                <c:pt idx="75">
                  <c:v>41.5</c:v>
                </c:pt>
                <c:pt idx="76">
                  <c:v>42</c:v>
                </c:pt>
                <c:pt idx="77">
                  <c:v>42.5</c:v>
                </c:pt>
                <c:pt idx="78">
                  <c:v>43</c:v>
                </c:pt>
                <c:pt idx="79">
                  <c:v>43.5</c:v>
                </c:pt>
                <c:pt idx="80">
                  <c:v>44</c:v>
                </c:pt>
                <c:pt idx="81">
                  <c:v>44.5</c:v>
                </c:pt>
                <c:pt idx="82">
                  <c:v>45</c:v>
                </c:pt>
                <c:pt idx="83">
                  <c:v>45.5</c:v>
                </c:pt>
                <c:pt idx="84">
                  <c:v>46</c:v>
                </c:pt>
                <c:pt idx="85">
                  <c:v>46.5</c:v>
                </c:pt>
                <c:pt idx="86">
                  <c:v>47</c:v>
                </c:pt>
                <c:pt idx="87">
                  <c:v>47.5</c:v>
                </c:pt>
                <c:pt idx="88">
                  <c:v>48</c:v>
                </c:pt>
                <c:pt idx="89">
                  <c:v>48.5</c:v>
                </c:pt>
                <c:pt idx="90">
                  <c:v>49</c:v>
                </c:pt>
                <c:pt idx="91">
                  <c:v>49.5</c:v>
                </c:pt>
                <c:pt idx="92">
                  <c:v>50</c:v>
                </c:pt>
                <c:pt idx="93">
                  <c:v>50.5</c:v>
                </c:pt>
                <c:pt idx="94">
                  <c:v>51</c:v>
                </c:pt>
                <c:pt idx="95">
                  <c:v>51.5</c:v>
                </c:pt>
                <c:pt idx="96">
                  <c:v>52</c:v>
                </c:pt>
                <c:pt idx="97">
                  <c:v>52.5</c:v>
                </c:pt>
                <c:pt idx="98">
                  <c:v>53</c:v>
                </c:pt>
                <c:pt idx="99">
                  <c:v>53.5</c:v>
                </c:pt>
                <c:pt idx="100">
                  <c:v>54</c:v>
                </c:pt>
                <c:pt idx="101">
                  <c:v>54.5</c:v>
                </c:pt>
                <c:pt idx="102">
                  <c:v>55</c:v>
                </c:pt>
                <c:pt idx="103">
                  <c:v>55.5</c:v>
                </c:pt>
                <c:pt idx="104">
                  <c:v>56</c:v>
                </c:pt>
                <c:pt idx="105">
                  <c:v>56.5</c:v>
                </c:pt>
                <c:pt idx="106">
                  <c:v>57</c:v>
                </c:pt>
                <c:pt idx="107">
                  <c:v>57.5</c:v>
                </c:pt>
                <c:pt idx="108">
                  <c:v>58</c:v>
                </c:pt>
                <c:pt idx="109">
                  <c:v>58.5</c:v>
                </c:pt>
                <c:pt idx="110">
                  <c:v>59</c:v>
                </c:pt>
                <c:pt idx="111">
                  <c:v>59.5</c:v>
                </c:pt>
                <c:pt idx="112">
                  <c:v>60</c:v>
                </c:pt>
                <c:pt idx="113">
                  <c:v>60.5</c:v>
                </c:pt>
                <c:pt idx="114">
                  <c:v>61</c:v>
                </c:pt>
                <c:pt idx="115">
                  <c:v>61.5</c:v>
                </c:pt>
                <c:pt idx="116">
                  <c:v>62</c:v>
                </c:pt>
                <c:pt idx="117">
                  <c:v>62.5</c:v>
                </c:pt>
                <c:pt idx="118">
                  <c:v>63</c:v>
                </c:pt>
                <c:pt idx="119">
                  <c:v>63.5</c:v>
                </c:pt>
                <c:pt idx="120">
                  <c:v>64</c:v>
                </c:pt>
                <c:pt idx="121">
                  <c:v>64.5</c:v>
                </c:pt>
                <c:pt idx="122">
                  <c:v>65</c:v>
                </c:pt>
                <c:pt idx="123">
                  <c:v>65.5</c:v>
                </c:pt>
                <c:pt idx="124">
                  <c:v>66</c:v>
                </c:pt>
                <c:pt idx="125">
                  <c:v>66.5</c:v>
                </c:pt>
                <c:pt idx="126">
                  <c:v>67</c:v>
                </c:pt>
                <c:pt idx="127">
                  <c:v>67.5</c:v>
                </c:pt>
                <c:pt idx="128">
                  <c:v>68</c:v>
                </c:pt>
                <c:pt idx="129">
                  <c:v>68.5</c:v>
                </c:pt>
                <c:pt idx="130">
                  <c:v>69</c:v>
                </c:pt>
                <c:pt idx="131">
                  <c:v>69.5</c:v>
                </c:pt>
                <c:pt idx="132">
                  <c:v>70</c:v>
                </c:pt>
                <c:pt idx="133">
                  <c:v>70.5</c:v>
                </c:pt>
                <c:pt idx="134">
                  <c:v>71</c:v>
                </c:pt>
                <c:pt idx="135">
                  <c:v>71.5</c:v>
                </c:pt>
                <c:pt idx="136">
                  <c:v>72</c:v>
                </c:pt>
                <c:pt idx="137">
                  <c:v>72.5</c:v>
                </c:pt>
                <c:pt idx="138">
                  <c:v>73</c:v>
                </c:pt>
                <c:pt idx="139">
                  <c:v>73.5</c:v>
                </c:pt>
                <c:pt idx="140">
                  <c:v>74</c:v>
                </c:pt>
                <c:pt idx="141">
                  <c:v>74.5</c:v>
                </c:pt>
                <c:pt idx="142">
                  <c:v>75</c:v>
                </c:pt>
                <c:pt idx="143">
                  <c:v>75.5</c:v>
                </c:pt>
                <c:pt idx="144">
                  <c:v>76</c:v>
                </c:pt>
                <c:pt idx="145">
                  <c:v>76.5</c:v>
                </c:pt>
                <c:pt idx="146">
                  <c:v>77</c:v>
                </c:pt>
                <c:pt idx="147">
                  <c:v>77.5</c:v>
                </c:pt>
                <c:pt idx="148">
                  <c:v>78</c:v>
                </c:pt>
                <c:pt idx="149">
                  <c:v>78.5</c:v>
                </c:pt>
                <c:pt idx="150">
                  <c:v>79</c:v>
                </c:pt>
                <c:pt idx="151">
                  <c:v>79.5</c:v>
                </c:pt>
                <c:pt idx="152">
                  <c:v>80</c:v>
                </c:pt>
                <c:pt idx="153">
                  <c:v>80.5</c:v>
                </c:pt>
                <c:pt idx="154">
                  <c:v>81</c:v>
                </c:pt>
                <c:pt idx="155">
                  <c:v>81.5</c:v>
                </c:pt>
                <c:pt idx="156">
                  <c:v>82</c:v>
                </c:pt>
                <c:pt idx="157">
                  <c:v>82.5</c:v>
                </c:pt>
                <c:pt idx="158">
                  <c:v>83</c:v>
                </c:pt>
                <c:pt idx="159">
                  <c:v>83.5</c:v>
                </c:pt>
                <c:pt idx="160">
                  <c:v>84</c:v>
                </c:pt>
                <c:pt idx="161">
                  <c:v>84.5</c:v>
                </c:pt>
                <c:pt idx="162">
                  <c:v>85</c:v>
                </c:pt>
                <c:pt idx="163">
                  <c:v>85.5</c:v>
                </c:pt>
                <c:pt idx="164">
                  <c:v>86</c:v>
                </c:pt>
                <c:pt idx="165">
                  <c:v>86.5</c:v>
                </c:pt>
                <c:pt idx="166">
                  <c:v>87</c:v>
                </c:pt>
                <c:pt idx="167">
                  <c:v>87.5</c:v>
                </c:pt>
                <c:pt idx="168">
                  <c:v>88</c:v>
                </c:pt>
                <c:pt idx="169">
                  <c:v>88.5</c:v>
                </c:pt>
                <c:pt idx="170">
                  <c:v>89</c:v>
                </c:pt>
                <c:pt idx="171">
                  <c:v>89.5</c:v>
                </c:pt>
                <c:pt idx="172">
                  <c:v>90</c:v>
                </c:pt>
                <c:pt idx="173">
                  <c:v>90.5</c:v>
                </c:pt>
                <c:pt idx="174">
                  <c:v>91</c:v>
                </c:pt>
                <c:pt idx="175">
                  <c:v>91.5</c:v>
                </c:pt>
                <c:pt idx="176">
                  <c:v>92</c:v>
                </c:pt>
                <c:pt idx="177">
                  <c:v>92.5</c:v>
                </c:pt>
                <c:pt idx="178">
                  <c:v>93</c:v>
                </c:pt>
                <c:pt idx="179">
                  <c:v>93.5</c:v>
                </c:pt>
                <c:pt idx="180">
                  <c:v>94</c:v>
                </c:pt>
                <c:pt idx="181">
                  <c:v>94.5</c:v>
                </c:pt>
                <c:pt idx="182">
                  <c:v>95</c:v>
                </c:pt>
                <c:pt idx="183">
                  <c:v>95.5</c:v>
                </c:pt>
                <c:pt idx="184">
                  <c:v>96</c:v>
                </c:pt>
                <c:pt idx="185">
                  <c:v>96.5</c:v>
                </c:pt>
                <c:pt idx="186">
                  <c:v>97</c:v>
                </c:pt>
                <c:pt idx="187">
                  <c:v>97.5</c:v>
                </c:pt>
                <c:pt idx="188">
                  <c:v>98</c:v>
                </c:pt>
                <c:pt idx="189">
                  <c:v>98.5</c:v>
                </c:pt>
                <c:pt idx="190">
                  <c:v>99</c:v>
                </c:pt>
                <c:pt idx="191">
                  <c:v>99.5</c:v>
                </c:pt>
                <c:pt idx="192">
                  <c:v>100</c:v>
                </c:pt>
              </c:numCache>
            </c:numRef>
          </c:xVal>
          <c:yVal>
            <c:numRef>
              <c:f>'Chart Data'!$D$2:$D$194</c:f>
              <c:numCache>
                <c:formatCode>0</c:formatCode>
                <c:ptCount val="193"/>
                <c:pt idx="0">
                  <c:v>14.45</c:v>
                </c:pt>
                <c:pt idx="1">
                  <c:v>13.225</c:v>
                </c:pt>
                <c:pt idx="2">
                  <c:v>12.25</c:v>
                </c:pt>
                <c:pt idx="3">
                  <c:v>11.4568181818</c:v>
                </c:pt>
                <c:pt idx="4">
                  <c:v>10.8</c:v>
                </c:pt>
                <c:pt idx="5">
                  <c:v>10.2480769231</c:v>
                </c:pt>
                <c:pt idx="6">
                  <c:v>9.7785714286</c:v>
                </c:pt>
                <c:pt idx="7">
                  <c:v>9.375</c:v>
                </c:pt>
                <c:pt idx="8">
                  <c:v>9.025</c:v>
                </c:pt>
                <c:pt idx="9">
                  <c:v>8.7191176471</c:v>
                </c:pt>
                <c:pt idx="10">
                  <c:v>8.45</c:v>
                </c:pt>
                <c:pt idx="11">
                  <c:v>8.2118421053</c:v>
                </c:pt>
                <c:pt idx="12">
                  <c:v>8</c:v>
                </c:pt>
                <c:pt idx="13">
                  <c:v>7.8107142857</c:v>
                </c:pt>
                <c:pt idx="14">
                  <c:v>7.6409090909</c:v>
                </c:pt>
                <c:pt idx="15">
                  <c:v>7.4880434783</c:v>
                </c:pt>
                <c:pt idx="16">
                  <c:v>7.35</c:v>
                </c:pt>
                <c:pt idx="17">
                  <c:v>7.225</c:v>
                </c:pt>
                <c:pt idx="18">
                  <c:v>7.1115384615</c:v>
                </c:pt>
                <c:pt idx="19">
                  <c:v>7.0083333333</c:v>
                </c:pt>
                <c:pt idx="20">
                  <c:v>6.9142857143</c:v>
                </c:pt>
                <c:pt idx="21">
                  <c:v>6.8284482759</c:v>
                </c:pt>
                <c:pt idx="22">
                  <c:v>6.75</c:v>
                </c:pt>
                <c:pt idx="23">
                  <c:v>6.6782258065</c:v>
                </c:pt>
                <c:pt idx="24">
                  <c:v>6.6125</c:v>
                </c:pt>
                <c:pt idx="25">
                  <c:v>6.5522727273</c:v>
                </c:pt>
                <c:pt idx="26">
                  <c:v>6.4970588235</c:v>
                </c:pt>
                <c:pt idx="27">
                  <c:v>6.4464285714</c:v>
                </c:pt>
                <c:pt idx="28">
                  <c:v>6.4</c:v>
                </c:pt>
                <c:pt idx="29">
                  <c:v>6.3574324324</c:v>
                </c:pt>
                <c:pt idx="30">
                  <c:v>6.3184210526</c:v>
                </c:pt>
                <c:pt idx="31">
                  <c:v>6.2826923077</c:v>
                </c:pt>
                <c:pt idx="32">
                  <c:v>6.25</c:v>
                </c:pt>
                <c:pt idx="33">
                  <c:v>6.2201219512</c:v>
                </c:pt>
                <c:pt idx="34">
                  <c:v>6.1928571429</c:v>
                </c:pt>
                <c:pt idx="35">
                  <c:v>6.1680232558</c:v>
                </c:pt>
                <c:pt idx="36">
                  <c:v>6.1454545455</c:v>
                </c:pt>
                <c:pt idx="37">
                  <c:v>6.125</c:v>
                </c:pt>
                <c:pt idx="38">
                  <c:v>6.1065217391</c:v>
                </c:pt>
                <c:pt idx="39">
                  <c:v>6.089893617</c:v>
                </c:pt>
                <c:pt idx="40">
                  <c:v>6.075</c:v>
                </c:pt>
                <c:pt idx="41">
                  <c:v>6.0617346939</c:v>
                </c:pt>
                <c:pt idx="42">
                  <c:v>6.05</c:v>
                </c:pt>
                <c:pt idx="43">
                  <c:v>6.0397058824</c:v>
                </c:pt>
                <c:pt idx="44">
                  <c:v>6.0307692308</c:v>
                </c:pt>
                <c:pt idx="45">
                  <c:v>6.0231132075</c:v>
                </c:pt>
                <c:pt idx="46">
                  <c:v>6.0166666667</c:v>
                </c:pt>
                <c:pt idx="47">
                  <c:v>6.0113636364</c:v>
                </c:pt>
                <c:pt idx="48">
                  <c:v>6.0071428571</c:v>
                </c:pt>
                <c:pt idx="49">
                  <c:v>6.0039473684</c:v>
                </c:pt>
                <c:pt idx="50">
                  <c:v>6.0017241379</c:v>
                </c:pt>
                <c:pt idx="51">
                  <c:v>6.0004237288</c:v>
                </c:pt>
                <c:pt idx="52">
                  <c:v>6</c:v>
                </c:pt>
                <c:pt idx="53">
                  <c:v>6.0004098361</c:v>
                </c:pt>
                <c:pt idx="54">
                  <c:v>6.0016129032</c:v>
                </c:pt>
                <c:pt idx="55">
                  <c:v>6.0035714286</c:v>
                </c:pt>
                <c:pt idx="56">
                  <c:v>6.00625</c:v>
                </c:pt>
                <c:pt idx="57">
                  <c:v>6.0096153846</c:v>
                </c:pt>
                <c:pt idx="58">
                  <c:v>6.0136363636</c:v>
                </c:pt>
                <c:pt idx="59">
                  <c:v>6.0182835821</c:v>
                </c:pt>
                <c:pt idx="60">
                  <c:v>6.0235294118</c:v>
                </c:pt>
                <c:pt idx="61">
                  <c:v>6.0293478261</c:v>
                </c:pt>
                <c:pt idx="62">
                  <c:v>6.0357142857</c:v>
                </c:pt>
                <c:pt idx="63">
                  <c:v>6.0426056338</c:v>
                </c:pt>
                <c:pt idx="64">
                  <c:v>6.05</c:v>
                </c:pt>
                <c:pt idx="65">
                  <c:v>6.0578767123</c:v>
                </c:pt>
                <c:pt idx="66">
                  <c:v>6.0662162162</c:v>
                </c:pt>
                <c:pt idx="67">
                  <c:v>6.075</c:v>
                </c:pt>
                <c:pt idx="68">
                  <c:v>6.0842105263</c:v>
                </c:pt>
                <c:pt idx="69">
                  <c:v>6.0938311688</c:v>
                </c:pt>
                <c:pt idx="70">
                  <c:v>6.1038461538</c:v>
                </c:pt>
                <c:pt idx="71">
                  <c:v>6.1142405063</c:v>
                </c:pt>
                <c:pt idx="72">
                  <c:v>6.125</c:v>
                </c:pt>
                <c:pt idx="73">
                  <c:v>6.1361111111</c:v>
                </c:pt>
                <c:pt idx="74">
                  <c:v>6.1475609756</c:v>
                </c:pt>
                <c:pt idx="75">
                  <c:v>6.1593373494</c:v>
                </c:pt>
                <c:pt idx="76">
                  <c:v>6.1714285714</c:v>
                </c:pt>
                <c:pt idx="77">
                  <c:v>6.1838235294</c:v>
                </c:pt>
                <c:pt idx="78">
                  <c:v>6.1965116279</c:v>
                </c:pt>
                <c:pt idx="79">
                  <c:v>6.2094827586</c:v>
                </c:pt>
                <c:pt idx="80">
                  <c:v>6.2227272727</c:v>
                </c:pt>
                <c:pt idx="81">
                  <c:v>6.2362359551</c:v>
                </c:pt>
                <c:pt idx="82">
                  <c:v>6.25</c:v>
                </c:pt>
                <c:pt idx="83">
                  <c:v>6.264010989</c:v>
                </c:pt>
                <c:pt idx="84">
                  <c:v>6.2782608696</c:v>
                </c:pt>
                <c:pt idx="85">
                  <c:v>6.2927419355</c:v>
                </c:pt>
                <c:pt idx="86">
                  <c:v>6.3074468085</c:v>
                </c:pt>
                <c:pt idx="87">
                  <c:v>6.3223684211</c:v>
                </c:pt>
                <c:pt idx="88">
                  <c:v>6.3375</c:v>
                </c:pt>
                <c:pt idx="89">
                  <c:v>6.3528350515</c:v>
                </c:pt>
                <c:pt idx="90">
                  <c:v>6.3683673469</c:v>
                </c:pt>
                <c:pt idx="91">
                  <c:v>6.3840909091</c:v>
                </c:pt>
                <c:pt idx="92">
                  <c:v>6.4</c:v>
                </c:pt>
                <c:pt idx="93">
                  <c:v>6.4160891089</c:v>
                </c:pt>
                <c:pt idx="94">
                  <c:v>6.4323529412</c:v>
                </c:pt>
                <c:pt idx="95">
                  <c:v>6.4487864078</c:v>
                </c:pt>
                <c:pt idx="96">
                  <c:v>6.4653846154</c:v>
                </c:pt>
                <c:pt idx="97">
                  <c:v>6.4821428571</c:v>
                </c:pt>
                <c:pt idx="98">
                  <c:v>6.4990566038</c:v>
                </c:pt>
                <c:pt idx="99">
                  <c:v>6.5161214953</c:v>
                </c:pt>
                <c:pt idx="100">
                  <c:v>6.5333333333</c:v>
                </c:pt>
                <c:pt idx="101">
                  <c:v>6.5506880734</c:v>
                </c:pt>
                <c:pt idx="102">
                  <c:v>6.5681818182</c:v>
                </c:pt>
                <c:pt idx="103">
                  <c:v>6.5858108108</c:v>
                </c:pt>
                <c:pt idx="104">
                  <c:v>6.6035714286</c:v>
                </c:pt>
                <c:pt idx="105">
                  <c:v>6.621460177</c:v>
                </c:pt>
                <c:pt idx="106">
                  <c:v>6.6394736842</c:v>
                </c:pt>
                <c:pt idx="107">
                  <c:v>6.6576086957</c:v>
                </c:pt>
                <c:pt idx="108">
                  <c:v>6.675862069</c:v>
                </c:pt>
                <c:pt idx="109">
                  <c:v>6.6942307692</c:v>
                </c:pt>
                <c:pt idx="110">
                  <c:v>6.7127118644</c:v>
                </c:pt>
                <c:pt idx="111">
                  <c:v>6.731302521</c:v>
                </c:pt>
                <c:pt idx="112">
                  <c:v>6.75</c:v>
                </c:pt>
                <c:pt idx="113">
                  <c:v>6.7688016529</c:v>
                </c:pt>
                <c:pt idx="114">
                  <c:v>6.787704918</c:v>
                </c:pt>
                <c:pt idx="115">
                  <c:v>6.8067073171</c:v>
                </c:pt>
                <c:pt idx="116">
                  <c:v>6.8258064516</c:v>
                </c:pt>
                <c:pt idx="117">
                  <c:v>6.845</c:v>
                </c:pt>
                <c:pt idx="118">
                  <c:v>6.8642857143</c:v>
                </c:pt>
                <c:pt idx="119">
                  <c:v>6.8836614173</c:v>
                </c:pt>
                <c:pt idx="120">
                  <c:v>6.903125</c:v>
                </c:pt>
                <c:pt idx="121">
                  <c:v>6.9226744186</c:v>
                </c:pt>
                <c:pt idx="122">
                  <c:v>6.9423076923</c:v>
                </c:pt>
                <c:pt idx="123">
                  <c:v>6.9620229008</c:v>
                </c:pt>
                <c:pt idx="124">
                  <c:v>6.9818181818</c:v>
                </c:pt>
                <c:pt idx="125">
                  <c:v>7.0016917293</c:v>
                </c:pt>
                <c:pt idx="126">
                  <c:v>7.021641791</c:v>
                </c:pt>
                <c:pt idx="127">
                  <c:v>7.0416666667</c:v>
                </c:pt>
                <c:pt idx="128">
                  <c:v>7.0617647059</c:v>
                </c:pt>
                <c:pt idx="129">
                  <c:v>7.0819343066</c:v>
                </c:pt>
                <c:pt idx="130">
                  <c:v>7.102173913</c:v>
                </c:pt>
                <c:pt idx="131">
                  <c:v>7.1224820144</c:v>
                </c:pt>
                <c:pt idx="132">
                  <c:v>7.1428571429</c:v>
                </c:pt>
                <c:pt idx="133">
                  <c:v>7.1632978723</c:v>
                </c:pt>
                <c:pt idx="134">
                  <c:v>7.1838028169</c:v>
                </c:pt>
                <c:pt idx="135">
                  <c:v>7.2043706294</c:v>
                </c:pt>
                <c:pt idx="136">
                  <c:v>7.225</c:v>
                </c:pt>
                <c:pt idx="137">
                  <c:v>7.2456896552</c:v>
                </c:pt>
                <c:pt idx="138">
                  <c:v>7.2664383562</c:v>
                </c:pt>
                <c:pt idx="139">
                  <c:v>7.287244898</c:v>
                </c:pt>
                <c:pt idx="140">
                  <c:v>7.3081081081</c:v>
                </c:pt>
                <c:pt idx="141">
                  <c:v>7.3290268456</c:v>
                </c:pt>
                <c:pt idx="142">
                  <c:v>7.35</c:v>
                </c:pt>
                <c:pt idx="143">
                  <c:v>7.3710264901</c:v>
                </c:pt>
                <c:pt idx="144">
                  <c:v>7.3921052632</c:v>
                </c:pt>
                <c:pt idx="145">
                  <c:v>7.4132352941</c:v>
                </c:pt>
                <c:pt idx="146">
                  <c:v>7.4344155844</c:v>
                </c:pt>
                <c:pt idx="147">
                  <c:v>7.4556451613</c:v>
                </c:pt>
                <c:pt idx="148">
                  <c:v>7.4769230769</c:v>
                </c:pt>
                <c:pt idx="149">
                  <c:v>7.4982484076</c:v>
                </c:pt>
                <c:pt idx="150">
                  <c:v>7.5196202532</c:v>
                </c:pt>
                <c:pt idx="151">
                  <c:v>7.5410377358</c:v>
                </c:pt>
                <c:pt idx="152">
                  <c:v>7.5625</c:v>
                </c:pt>
                <c:pt idx="153">
                  <c:v>7.5840062112</c:v>
                </c:pt>
                <c:pt idx="154">
                  <c:v>7.6055555556</c:v>
                </c:pt>
                <c:pt idx="155">
                  <c:v>7.6271472393</c:v>
                </c:pt>
                <c:pt idx="156">
                  <c:v>7.6487804878</c:v>
                </c:pt>
                <c:pt idx="157">
                  <c:v>7.6704545455</c:v>
                </c:pt>
                <c:pt idx="158">
                  <c:v>7.6921686747</c:v>
                </c:pt>
                <c:pt idx="159">
                  <c:v>7.7139221557</c:v>
                </c:pt>
                <c:pt idx="160">
                  <c:v>7.7357142857</c:v>
                </c:pt>
                <c:pt idx="161">
                  <c:v>7.7575443787</c:v>
                </c:pt>
                <c:pt idx="162">
                  <c:v>7.7794117647</c:v>
                </c:pt>
                <c:pt idx="163">
                  <c:v>7.8013157895</c:v>
                </c:pt>
                <c:pt idx="164">
                  <c:v>7.823255814</c:v>
                </c:pt>
                <c:pt idx="165">
                  <c:v>7.8452312139</c:v>
                </c:pt>
                <c:pt idx="166">
                  <c:v>7.8672413793</c:v>
                </c:pt>
                <c:pt idx="167">
                  <c:v>7.8892857143</c:v>
                </c:pt>
                <c:pt idx="168">
                  <c:v>7.9113636364</c:v>
                </c:pt>
                <c:pt idx="169">
                  <c:v>7.9334745763</c:v>
                </c:pt>
                <c:pt idx="170">
                  <c:v>7.9556179775</c:v>
                </c:pt>
                <c:pt idx="171">
                  <c:v>7.9777932961</c:v>
                </c:pt>
                <c:pt idx="172">
                  <c:v>8</c:v>
                </c:pt>
                <c:pt idx="173">
                  <c:v>8.0222375691</c:v>
                </c:pt>
                <c:pt idx="174">
                  <c:v>8.0445054945</c:v>
                </c:pt>
                <c:pt idx="175">
                  <c:v>8.0668032787</c:v>
                </c:pt>
                <c:pt idx="176">
                  <c:v>8.0891304348</c:v>
                </c:pt>
                <c:pt idx="177">
                  <c:v>8.1114864865</c:v>
                </c:pt>
                <c:pt idx="178">
                  <c:v>8.1338709677</c:v>
                </c:pt>
                <c:pt idx="179">
                  <c:v>8.1562834225</c:v>
                </c:pt>
                <c:pt idx="180">
                  <c:v>8.1787234043</c:v>
                </c:pt>
                <c:pt idx="181">
                  <c:v>8.2011904762</c:v>
                </c:pt>
                <c:pt idx="182">
                  <c:v>8.2236842105</c:v>
                </c:pt>
                <c:pt idx="183">
                  <c:v>8.2462041885</c:v>
                </c:pt>
                <c:pt idx="184">
                  <c:v>8.26875</c:v>
                </c:pt>
                <c:pt idx="185">
                  <c:v>8.2913212435</c:v>
                </c:pt>
                <c:pt idx="186">
                  <c:v>8.3139175258</c:v>
                </c:pt>
                <c:pt idx="187">
                  <c:v>8.3365384615</c:v>
                </c:pt>
                <c:pt idx="188">
                  <c:v>8.3591836735</c:v>
                </c:pt>
                <c:pt idx="189">
                  <c:v>8.3818527919</c:v>
                </c:pt>
                <c:pt idx="190">
                  <c:v>8.4045454545</c:v>
                </c:pt>
                <c:pt idx="191">
                  <c:v>8.4272613065</c:v>
                </c:pt>
                <c:pt idx="192">
                  <c:v>8.45</c:v>
                </c:pt>
              </c:numCache>
            </c:numRef>
          </c:yVal>
          <c:smooth val="0"/>
        </c:ser>
        <c:ser>
          <c:idx val="2"/>
          <c:order val="2"/>
          <c:tx>
            <c:v>Oude prijs</c:v>
          </c:tx>
          <c:spPr>
            <a:ln xmlns:a="http://schemas.openxmlformats.org/drawingml/2006/main" w="33338">
              <a:solidFill>
                <a:srgbClr val="445B6B"/>
              </a:solidFill>
              <a:prstDash val="dash"/>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445B6B"/>
                        </a:solidFill>
                        <a:latin typeface="Arial"/>
                        <a:ea typeface="Arial"/>
                        <a:cs typeface="Arial"/>
                      </a:rPr>
                      <a:t>P₀ = 9</a:t>
                    </a:r>
                  </a:p>
                </c:rich>
              </c:tx>
              <c:txPr>
                <a:bodyPr xmlns:a="http://schemas.openxmlformats.org/drawingml/2006/main" anchorCtr="1"/>
                <a:lstStyle xmlns:a="http://schemas.openxmlformats.org/drawingml/2006/main"/>
                <a:p xmlns:a="http://schemas.openxmlformats.org/drawingml/2006/main">
                  <a:pPr>
                    <a:defRPr sz="1800" b="1">
                      <a:solidFill>
                        <a:srgbClr val="445B6B"/>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Data'!$E$2:$E$4</c:f>
              <c:numCache>
                <c:formatCode>General</c:formatCode>
                <c:ptCount val="3"/>
                <c:pt idx="0">
                  <c:v>0</c:v>
                </c:pt>
                <c:pt idx="1">
                  <c:v>85</c:v>
                </c:pt>
                <c:pt idx="2">
                  <c:v>100</c:v>
                </c:pt>
              </c:numCache>
            </c:numRef>
          </c:xVal>
          <c:yVal>
            <c:numRef>
              <c:f>'Chart Data'!$F$2:$F$4</c:f>
              <c:numCache>
                <c:formatCode>0</c:formatCode>
                <c:ptCount val="3"/>
                <c:pt idx="0">
                  <c:v>9</c:v>
                </c:pt>
                <c:pt idx="1">
                  <c:v>9</c:v>
                </c:pt>
                <c:pt idx="2">
                  <c:v>9</c:v>
                </c:pt>
              </c:numCache>
            </c:numRef>
          </c:yVal>
          <c:smooth val="0"/>
        </c:ser>
        <c:ser>
          <c:idx val="3"/>
          <c:order val="3"/>
          <c:tx>
            <c:v>P = GO = MO</c:v>
          </c:tx>
          <c:spPr>
            <a:ln xmlns:a="http://schemas.openxmlformats.org/drawingml/2006/main" w="33338">
              <a:solidFill>
                <a:srgbClr val="17658A"/>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17658A"/>
                        </a:solidFill>
                        <a:latin typeface="Arial"/>
                        <a:ea typeface="Arial"/>
                        <a:cs typeface="Arial"/>
                      </a:rPr>
                      <a:t>P₁ = 6</a:t>
                    </a:r>
                  </a:p>
                </c:rich>
              </c:tx>
              <c:txPr>
                <a:bodyPr xmlns:a="http://schemas.openxmlformats.org/drawingml/2006/main" anchorCtr="1"/>
                <a:lstStyle xmlns:a="http://schemas.openxmlformats.org/drawingml/2006/main"/>
                <a:p xmlns:a="http://schemas.openxmlformats.org/drawingml/2006/main">
                  <a:pPr>
                    <a:defRPr sz="1800" b="1">
                      <a:solidFill>
                        <a:srgbClr val="17658A"/>
                      </a:solidFill>
                      <a:latin typeface="Arial"/>
                      <a:ea typeface="Arial"/>
                      <a:cs typeface="Arial"/>
                    </a:defRPr>
                  </a:pPr>
                </a:p>
              </c:txPr>
              <c:dLblPos val="b"/>
              <c:showLegendKey val="0"/>
              <c:showVal val="0"/>
              <c:showCatName val="0"/>
              <c:showSerName val="0"/>
              <c:showPercent val="0"/>
              <c:showBubbleSize val="0"/>
            </c:dLbl>
            <c:showLegendKey val="0"/>
            <c:showVal val="0"/>
            <c:showCatName val="0"/>
            <c:showSerName val="0"/>
            <c:showPercent val="0"/>
            <c:showBubbleSize val="0"/>
          </c:dLbls>
          <c:xVal>
            <c:numRef>
              <c:f>'Chart Data'!$G$2:$G$4</c:f>
              <c:numCache>
                <c:formatCode>General</c:formatCode>
                <c:ptCount val="3"/>
                <c:pt idx="0">
                  <c:v>0</c:v>
                </c:pt>
                <c:pt idx="1">
                  <c:v>85</c:v>
                </c:pt>
                <c:pt idx="2">
                  <c:v>100</c:v>
                </c:pt>
              </c:numCache>
            </c:numRef>
          </c:xVal>
          <c:yVal>
            <c:numRef>
              <c:f>'Chart Data'!$H$2:$H$4</c:f>
              <c:numCache>
                <c:formatCode>0</c:formatCode>
                <c:ptCount val="3"/>
                <c:pt idx="0">
                  <c:v>6</c:v>
                </c:pt>
                <c:pt idx="1">
                  <c:v>6</c:v>
                </c:pt>
                <c:pt idx="2">
                  <c:v>6</c:v>
                </c:pt>
              </c:numCache>
            </c:numRef>
          </c:yVal>
          <c:smooth val="0"/>
        </c:ser>
        <c:ser>
          <c:idx val="4"/>
          <c:order val="4"/>
          <c:tx>
            <c:v>Hulplijn</c:v>
          </c:tx>
          <c:spPr>
            <a:ln xmlns:a="http://schemas.openxmlformats.org/drawingml/2006/main" w="14288">
              <a:solidFill>
                <a:srgbClr val="445B6B"/>
              </a:solidFill>
              <a:prstDash val="dash"/>
            </a:ln>
          </c:spPr>
          <c:marker>
            <c:symbol val="none"/>
            <c:size val="3"/>
          </c:marker>
          <c:xVal>
            <c:numRef>
              <c:f>'Chart Data'!$I$2:$I$4</c:f>
              <c:numCache>
                <c:formatCode>General</c:formatCode>
                <c:ptCount val="3"/>
                <c:pt idx="0">
                  <c:v>0</c:v>
                </c:pt>
                <c:pt idx="1">
                  <c:v>30</c:v>
                </c:pt>
                <c:pt idx="2">
                  <c:v>30</c:v>
                </c:pt>
              </c:numCache>
            </c:numRef>
          </c:xVal>
          <c:yVal>
            <c:numRef>
              <c:f>'Chart Data'!$J$2:$J$4</c:f>
              <c:numCache>
                <c:formatCode>0</c:formatCode>
                <c:ptCount val="3"/>
                <c:pt idx="0">
                  <c:v>6</c:v>
                </c:pt>
                <c:pt idx="1">
                  <c:v>6</c:v>
                </c:pt>
                <c:pt idx="2">
                  <c:v>0</c:v>
                </c:pt>
              </c:numCache>
            </c:numRef>
          </c:yVal>
          <c:smooth val="0"/>
        </c:ser>
        <c:ser>
          <c:idx val="5"/>
          <c:order val="5"/>
          <c:tx>
            <c:v>Keuze</c:v>
          </c:tx>
          <c:spPr>
            <a:ln xmlns:a="http://schemas.openxmlformats.org/drawingml/2006/main" w="33338">
              <a:solidFill>
                <a:srgbClr val="183247"/>
              </a:solidFill>
            </a:ln>
          </c:spPr>
          <c:marker>
            <c:symbol val="circle"/>
            <c:size val="8"/>
            <c:spPr>
              <a:solidFill xmlns:a="http://schemas.openxmlformats.org/drawingml/2006/main">
                <a:srgbClr val="183247"/>
              </a:solidFill>
            </c:spPr>
          </c:marker>
          <c:xVal>
            <c:numRef>
              <c:f>'Chart Data'!$K$2:$K$2</c:f>
              <c:numCache>
                <c:formatCode>General</c:formatCode>
                <c:ptCount val="1"/>
                <c:pt idx="0">
                  <c:v>30</c:v>
                </c:pt>
              </c:numCache>
            </c:numRef>
          </c:xVal>
          <c:yVal>
            <c:numRef>
              <c:f>'Chart Data'!$L$2:$L$2</c:f>
              <c:numCache>
                <c:formatCode>0</c:formatCode>
                <c:ptCount val="1"/>
                <c:pt idx="0">
                  <c:v>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6"/>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MK en GTK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(kg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scatterChart>
        <c:scatterStyle val="line"/>
        <c:ser>
          <c:idx val="0"/>
          <c:order val="0"/>
          <c:tx>
            <c:v>MK</c:v>
          </c:tx>
          <c:spPr>
            <a:ln xmlns:a="http://schemas.openxmlformats.org/drawingml/2006/main" w="33338">
              <a:solidFill>
                <a:srgbClr val="20665B"/>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20665B"/>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800" b="1">
                      <a:solidFill>
                        <a:srgbClr val="20665B"/>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Data'!$A$2:$A$3</c:f>
              <c:numCache>
                <c:formatCode>General</c:formatCode>
                <c:ptCount val="2"/>
                <c:pt idx="0">
                  <c:v>0</c:v>
                </c:pt>
                <c:pt idx="1">
                  <c:v>100</c:v>
                </c:pt>
              </c:numCache>
            </c:numRef>
          </c:xVal>
          <c:yVal>
            <c:numRef>
              <c:f>'Chart Data'!$B$2:$B$3</c:f>
              <c:numCache>
                <c:formatCode>0</c:formatCode>
                <c:ptCount val="2"/>
                <c:pt idx="0">
                  <c:v>3</c:v>
                </c:pt>
                <c:pt idx="1">
                  <c:v>13</c:v>
                </c:pt>
              </c:numCache>
            </c:numRef>
          </c:yVal>
          <c:smooth val="0"/>
        </c:ser>
        <c:ser>
          <c:idx val="1"/>
          <c:order val="1"/>
          <c:tx>
            <c:v>GTK</c:v>
          </c:tx>
          <c:spPr>
            <a:ln xmlns:a="http://schemas.openxmlformats.org/drawingml/2006/main" w="33338">
              <a:solidFill>
                <a:srgbClr val="A94D16"/>
              </a:solidFill>
            </a:ln>
          </c:spPr>
          <c:marker>
            <c:symbol val="none"/>
            <c:size val="3"/>
          </c:marker>
          <c:dLbls>
            <c:dLbl>
              <c:idx val="183"/>
              <c:tx>
                <c:rich>
                  <a:bodyPr xmlns:a="http://schemas.openxmlformats.org/drawingml/2006/main"/>
                  <a:lstStyle xmlns:a="http://schemas.openxmlformats.org/drawingml/2006/main"/>
                  <a:p xmlns:a="http://schemas.openxmlformats.org/drawingml/2006/main">
                    <a:r>
                      <a:rPr sz="1800" b="1">
                        <a:solidFill>
                          <a:srgbClr val="A94D16"/>
                        </a:solidFill>
                        <a:latin typeface="Arial"/>
                        <a:ea typeface="Arial"/>
                        <a:cs typeface="Arial"/>
                      </a:rPr>
                      <a:t>GTK</a:t>
                    </a:r>
                  </a:p>
                </c:rich>
              </c:tx>
              <c:txPr>
                <a:bodyPr xmlns:a="http://schemas.openxmlformats.org/drawingml/2006/main" anchorCtr="1"/>
                <a:lstStyle xmlns:a="http://schemas.openxmlformats.org/drawingml/2006/main"/>
                <a:p xmlns:a="http://schemas.openxmlformats.org/drawingml/2006/main">
                  <a:pPr>
                    <a:defRPr sz="1800" b="1">
                      <a:solidFill>
                        <a:srgbClr val="A94D16"/>
                      </a:solidFill>
                      <a:latin typeface="Arial"/>
                      <a:ea typeface="Arial"/>
                      <a:cs typeface="Arial"/>
                    </a:defRPr>
                  </a:pPr>
                </a:p>
              </c:txPr>
              <c:dLblPos val="b"/>
              <c:showLegendKey val="0"/>
              <c:showVal val="0"/>
              <c:showCatName val="0"/>
              <c:showSerName val="0"/>
              <c:showPercent val="0"/>
              <c:showBubbleSize val="0"/>
            </c:dLbl>
            <c:showLegendKey val="0"/>
            <c:showVal val="0"/>
            <c:showCatName val="0"/>
            <c:showSerName val="0"/>
            <c:showPercent val="0"/>
            <c:showBubbleSize val="0"/>
          </c:dLbls>
          <c:xVal>
            <c:numRef>
              <c:f>'Chart Data'!$C$2:$C$194</c:f>
              <c:numCache>
                <c:formatCode>General</c:formatCode>
                <c:ptCount val="193"/>
                <c:pt idx="0">
                  <c:v>4</c:v>
                </c:pt>
                <c:pt idx="1">
                  <c:v>4.5</c:v>
                </c:pt>
                <c:pt idx="2">
                  <c:v>5</c:v>
                </c:pt>
                <c:pt idx="3">
                  <c:v>5.5</c:v>
                </c:pt>
                <c:pt idx="4">
                  <c:v>6</c:v>
                </c:pt>
                <c:pt idx="5">
                  <c:v>6.5</c:v>
                </c:pt>
                <c:pt idx="6">
                  <c:v>7</c:v>
                </c:pt>
                <c:pt idx="7">
                  <c:v>7.5</c:v>
                </c:pt>
                <c:pt idx="8">
                  <c:v>8</c:v>
                </c:pt>
                <c:pt idx="9">
                  <c:v>8.5</c:v>
                </c:pt>
                <c:pt idx="10">
                  <c:v>9</c:v>
                </c:pt>
                <c:pt idx="11">
                  <c:v>9.5</c:v>
                </c:pt>
                <c:pt idx="12">
                  <c:v>10</c:v>
                </c:pt>
                <c:pt idx="13">
                  <c:v>10.5</c:v>
                </c:pt>
                <c:pt idx="14">
                  <c:v>11</c:v>
                </c:pt>
                <c:pt idx="15">
                  <c:v>11.5</c:v>
                </c:pt>
                <c:pt idx="16">
                  <c:v>12</c:v>
                </c:pt>
                <c:pt idx="17">
                  <c:v>12.5</c:v>
                </c:pt>
                <c:pt idx="18">
                  <c:v>13</c:v>
                </c:pt>
                <c:pt idx="19">
                  <c:v>13.5</c:v>
                </c:pt>
                <c:pt idx="20">
                  <c:v>14</c:v>
                </c:pt>
                <c:pt idx="21">
                  <c:v>14.5</c:v>
                </c:pt>
                <c:pt idx="22">
                  <c:v>15</c:v>
                </c:pt>
                <c:pt idx="23">
                  <c:v>15.5</c:v>
                </c:pt>
                <c:pt idx="24">
                  <c:v>16</c:v>
                </c:pt>
                <c:pt idx="25">
                  <c:v>16.5</c:v>
                </c:pt>
                <c:pt idx="26">
                  <c:v>17</c:v>
                </c:pt>
                <c:pt idx="27">
                  <c:v>17.5</c:v>
                </c:pt>
                <c:pt idx="28">
                  <c:v>18</c:v>
                </c:pt>
                <c:pt idx="29">
                  <c:v>18.5</c:v>
                </c:pt>
                <c:pt idx="30">
                  <c:v>19</c:v>
                </c:pt>
                <c:pt idx="31">
                  <c:v>19.5</c:v>
                </c:pt>
                <c:pt idx="32">
                  <c:v>20</c:v>
                </c:pt>
                <c:pt idx="33">
                  <c:v>20.5</c:v>
                </c:pt>
                <c:pt idx="34">
                  <c:v>21</c:v>
                </c:pt>
                <c:pt idx="35">
                  <c:v>21.5</c:v>
                </c:pt>
                <c:pt idx="36">
                  <c:v>22</c:v>
                </c:pt>
                <c:pt idx="37">
                  <c:v>22.5</c:v>
                </c:pt>
                <c:pt idx="38">
                  <c:v>23</c:v>
                </c:pt>
                <c:pt idx="39">
                  <c:v>23.5</c:v>
                </c:pt>
                <c:pt idx="40">
                  <c:v>24</c:v>
                </c:pt>
                <c:pt idx="41">
                  <c:v>24.5</c:v>
                </c:pt>
                <c:pt idx="42">
                  <c:v>25</c:v>
                </c:pt>
                <c:pt idx="43">
                  <c:v>25.5</c:v>
                </c:pt>
                <c:pt idx="44">
                  <c:v>26</c:v>
                </c:pt>
                <c:pt idx="45">
                  <c:v>26.5</c:v>
                </c:pt>
                <c:pt idx="46">
                  <c:v>27</c:v>
                </c:pt>
                <c:pt idx="47">
                  <c:v>27.5</c:v>
                </c:pt>
                <c:pt idx="48">
                  <c:v>28</c:v>
                </c:pt>
                <c:pt idx="49">
                  <c:v>28.5</c:v>
                </c:pt>
                <c:pt idx="50">
                  <c:v>29</c:v>
                </c:pt>
                <c:pt idx="51">
                  <c:v>29.5</c:v>
                </c:pt>
                <c:pt idx="52">
                  <c:v>30</c:v>
                </c:pt>
                <c:pt idx="53">
                  <c:v>30.5</c:v>
                </c:pt>
                <c:pt idx="54">
                  <c:v>31</c:v>
                </c:pt>
                <c:pt idx="55">
                  <c:v>31.5</c:v>
                </c:pt>
                <c:pt idx="56">
                  <c:v>32</c:v>
                </c:pt>
                <c:pt idx="57">
                  <c:v>32.5</c:v>
                </c:pt>
                <c:pt idx="58">
                  <c:v>33</c:v>
                </c:pt>
                <c:pt idx="59">
                  <c:v>33.5</c:v>
                </c:pt>
                <c:pt idx="60">
                  <c:v>34</c:v>
                </c:pt>
                <c:pt idx="61">
                  <c:v>34.5</c:v>
                </c:pt>
                <c:pt idx="62">
                  <c:v>35</c:v>
                </c:pt>
                <c:pt idx="63">
                  <c:v>35.5</c:v>
                </c:pt>
                <c:pt idx="64">
                  <c:v>36</c:v>
                </c:pt>
                <c:pt idx="65">
                  <c:v>36.5</c:v>
                </c:pt>
                <c:pt idx="66">
                  <c:v>37</c:v>
                </c:pt>
                <c:pt idx="67">
                  <c:v>37.5</c:v>
                </c:pt>
                <c:pt idx="68">
                  <c:v>38</c:v>
                </c:pt>
                <c:pt idx="69">
                  <c:v>38.5</c:v>
                </c:pt>
                <c:pt idx="70">
                  <c:v>39</c:v>
                </c:pt>
                <c:pt idx="71">
                  <c:v>39.5</c:v>
                </c:pt>
                <c:pt idx="72">
                  <c:v>40</c:v>
                </c:pt>
                <c:pt idx="73">
                  <c:v>40.5</c:v>
                </c:pt>
                <c:pt idx="74">
                  <c:v>41</c:v>
                </c:pt>
                <c:pt idx="75">
                  <c:v>41.5</c:v>
                </c:pt>
                <c:pt idx="76">
                  <c:v>42</c:v>
                </c:pt>
                <c:pt idx="77">
                  <c:v>42.5</c:v>
                </c:pt>
                <c:pt idx="78">
                  <c:v>43</c:v>
                </c:pt>
                <c:pt idx="79">
                  <c:v>43.5</c:v>
                </c:pt>
                <c:pt idx="80">
                  <c:v>44</c:v>
                </c:pt>
                <c:pt idx="81">
                  <c:v>44.5</c:v>
                </c:pt>
                <c:pt idx="82">
                  <c:v>45</c:v>
                </c:pt>
                <c:pt idx="83">
                  <c:v>45.5</c:v>
                </c:pt>
                <c:pt idx="84">
                  <c:v>46</c:v>
                </c:pt>
                <c:pt idx="85">
                  <c:v>46.5</c:v>
                </c:pt>
                <c:pt idx="86">
                  <c:v>47</c:v>
                </c:pt>
                <c:pt idx="87">
                  <c:v>47.5</c:v>
                </c:pt>
                <c:pt idx="88">
                  <c:v>48</c:v>
                </c:pt>
                <c:pt idx="89">
                  <c:v>48.5</c:v>
                </c:pt>
                <c:pt idx="90">
                  <c:v>49</c:v>
                </c:pt>
                <c:pt idx="91">
                  <c:v>49.5</c:v>
                </c:pt>
                <c:pt idx="92">
                  <c:v>50</c:v>
                </c:pt>
                <c:pt idx="93">
                  <c:v>50.5</c:v>
                </c:pt>
                <c:pt idx="94">
                  <c:v>51</c:v>
                </c:pt>
                <c:pt idx="95">
                  <c:v>51.5</c:v>
                </c:pt>
                <c:pt idx="96">
                  <c:v>52</c:v>
                </c:pt>
                <c:pt idx="97">
                  <c:v>52.5</c:v>
                </c:pt>
                <c:pt idx="98">
                  <c:v>53</c:v>
                </c:pt>
                <c:pt idx="99">
                  <c:v>53.5</c:v>
                </c:pt>
                <c:pt idx="100">
                  <c:v>54</c:v>
                </c:pt>
                <c:pt idx="101">
                  <c:v>54.5</c:v>
                </c:pt>
                <c:pt idx="102">
                  <c:v>55</c:v>
                </c:pt>
                <c:pt idx="103">
                  <c:v>55.5</c:v>
                </c:pt>
                <c:pt idx="104">
                  <c:v>56</c:v>
                </c:pt>
                <c:pt idx="105">
                  <c:v>56.5</c:v>
                </c:pt>
                <c:pt idx="106">
                  <c:v>57</c:v>
                </c:pt>
                <c:pt idx="107">
                  <c:v>57.5</c:v>
                </c:pt>
                <c:pt idx="108">
                  <c:v>58</c:v>
                </c:pt>
                <c:pt idx="109">
                  <c:v>58.5</c:v>
                </c:pt>
                <c:pt idx="110">
                  <c:v>59</c:v>
                </c:pt>
                <c:pt idx="111">
                  <c:v>59.5</c:v>
                </c:pt>
                <c:pt idx="112">
                  <c:v>60</c:v>
                </c:pt>
                <c:pt idx="113">
                  <c:v>60.5</c:v>
                </c:pt>
                <c:pt idx="114">
                  <c:v>61</c:v>
                </c:pt>
                <c:pt idx="115">
                  <c:v>61.5</c:v>
                </c:pt>
                <c:pt idx="116">
                  <c:v>62</c:v>
                </c:pt>
                <c:pt idx="117">
                  <c:v>62.5</c:v>
                </c:pt>
                <c:pt idx="118">
                  <c:v>63</c:v>
                </c:pt>
                <c:pt idx="119">
                  <c:v>63.5</c:v>
                </c:pt>
                <c:pt idx="120">
                  <c:v>64</c:v>
                </c:pt>
                <c:pt idx="121">
                  <c:v>64.5</c:v>
                </c:pt>
                <c:pt idx="122">
                  <c:v>65</c:v>
                </c:pt>
                <c:pt idx="123">
                  <c:v>65.5</c:v>
                </c:pt>
                <c:pt idx="124">
                  <c:v>66</c:v>
                </c:pt>
                <c:pt idx="125">
                  <c:v>66.5</c:v>
                </c:pt>
                <c:pt idx="126">
                  <c:v>67</c:v>
                </c:pt>
                <c:pt idx="127">
                  <c:v>67.5</c:v>
                </c:pt>
                <c:pt idx="128">
                  <c:v>68</c:v>
                </c:pt>
                <c:pt idx="129">
                  <c:v>68.5</c:v>
                </c:pt>
                <c:pt idx="130">
                  <c:v>69</c:v>
                </c:pt>
                <c:pt idx="131">
                  <c:v>69.5</c:v>
                </c:pt>
                <c:pt idx="132">
                  <c:v>70</c:v>
                </c:pt>
                <c:pt idx="133">
                  <c:v>70.5</c:v>
                </c:pt>
                <c:pt idx="134">
                  <c:v>71</c:v>
                </c:pt>
                <c:pt idx="135">
                  <c:v>71.5</c:v>
                </c:pt>
                <c:pt idx="136">
                  <c:v>72</c:v>
                </c:pt>
                <c:pt idx="137">
                  <c:v>72.5</c:v>
                </c:pt>
                <c:pt idx="138">
                  <c:v>73</c:v>
                </c:pt>
                <c:pt idx="139">
                  <c:v>73.5</c:v>
                </c:pt>
                <c:pt idx="140">
                  <c:v>74</c:v>
                </c:pt>
                <c:pt idx="141">
                  <c:v>74.5</c:v>
                </c:pt>
                <c:pt idx="142">
                  <c:v>75</c:v>
                </c:pt>
                <c:pt idx="143">
                  <c:v>75.5</c:v>
                </c:pt>
                <c:pt idx="144">
                  <c:v>76</c:v>
                </c:pt>
                <c:pt idx="145">
                  <c:v>76.5</c:v>
                </c:pt>
                <c:pt idx="146">
                  <c:v>77</c:v>
                </c:pt>
                <c:pt idx="147">
                  <c:v>77.5</c:v>
                </c:pt>
                <c:pt idx="148">
                  <c:v>78</c:v>
                </c:pt>
                <c:pt idx="149">
                  <c:v>78.5</c:v>
                </c:pt>
                <c:pt idx="150">
                  <c:v>79</c:v>
                </c:pt>
                <c:pt idx="151">
                  <c:v>79.5</c:v>
                </c:pt>
                <c:pt idx="152">
                  <c:v>80</c:v>
                </c:pt>
                <c:pt idx="153">
                  <c:v>80.5</c:v>
                </c:pt>
                <c:pt idx="154">
                  <c:v>81</c:v>
                </c:pt>
                <c:pt idx="155">
                  <c:v>81.5</c:v>
                </c:pt>
                <c:pt idx="156">
                  <c:v>82</c:v>
                </c:pt>
                <c:pt idx="157">
                  <c:v>82.5</c:v>
                </c:pt>
                <c:pt idx="158">
                  <c:v>83</c:v>
                </c:pt>
                <c:pt idx="159">
                  <c:v>83.5</c:v>
                </c:pt>
                <c:pt idx="160">
                  <c:v>84</c:v>
                </c:pt>
                <c:pt idx="161">
                  <c:v>84.5</c:v>
                </c:pt>
                <c:pt idx="162">
                  <c:v>85</c:v>
                </c:pt>
                <c:pt idx="163">
                  <c:v>85.5</c:v>
                </c:pt>
                <c:pt idx="164">
                  <c:v>86</c:v>
                </c:pt>
                <c:pt idx="165">
                  <c:v>86.5</c:v>
                </c:pt>
                <c:pt idx="166">
                  <c:v>87</c:v>
                </c:pt>
                <c:pt idx="167">
                  <c:v>87.5</c:v>
                </c:pt>
                <c:pt idx="168">
                  <c:v>88</c:v>
                </c:pt>
                <c:pt idx="169">
                  <c:v>88.5</c:v>
                </c:pt>
                <c:pt idx="170">
                  <c:v>89</c:v>
                </c:pt>
                <c:pt idx="171">
                  <c:v>89.5</c:v>
                </c:pt>
                <c:pt idx="172">
                  <c:v>90</c:v>
                </c:pt>
                <c:pt idx="173">
                  <c:v>90.5</c:v>
                </c:pt>
                <c:pt idx="174">
                  <c:v>91</c:v>
                </c:pt>
                <c:pt idx="175">
                  <c:v>91.5</c:v>
                </c:pt>
                <c:pt idx="176">
                  <c:v>92</c:v>
                </c:pt>
                <c:pt idx="177">
                  <c:v>92.5</c:v>
                </c:pt>
                <c:pt idx="178">
                  <c:v>93</c:v>
                </c:pt>
                <c:pt idx="179">
                  <c:v>93.5</c:v>
                </c:pt>
                <c:pt idx="180">
                  <c:v>94</c:v>
                </c:pt>
                <c:pt idx="181">
                  <c:v>94.5</c:v>
                </c:pt>
                <c:pt idx="182">
                  <c:v>95</c:v>
                </c:pt>
                <c:pt idx="183">
                  <c:v>95.5</c:v>
                </c:pt>
                <c:pt idx="184">
                  <c:v>96</c:v>
                </c:pt>
                <c:pt idx="185">
                  <c:v>96.5</c:v>
                </c:pt>
                <c:pt idx="186">
                  <c:v>97</c:v>
                </c:pt>
                <c:pt idx="187">
                  <c:v>97.5</c:v>
                </c:pt>
                <c:pt idx="188">
                  <c:v>98</c:v>
                </c:pt>
                <c:pt idx="189">
                  <c:v>98.5</c:v>
                </c:pt>
                <c:pt idx="190">
                  <c:v>99</c:v>
                </c:pt>
                <c:pt idx="191">
                  <c:v>99.5</c:v>
                </c:pt>
                <c:pt idx="192">
                  <c:v>100</c:v>
                </c:pt>
              </c:numCache>
            </c:numRef>
          </c:xVal>
          <c:yVal>
            <c:numRef>
              <c:f>'Chart Data'!$D$2:$D$194</c:f>
              <c:numCache>
                <c:formatCode>0</c:formatCode>
                <c:ptCount val="193"/>
                <c:pt idx="0">
                  <c:v>14.45</c:v>
                </c:pt>
                <c:pt idx="1">
                  <c:v>13.225</c:v>
                </c:pt>
                <c:pt idx="2">
                  <c:v>12.25</c:v>
                </c:pt>
                <c:pt idx="3">
                  <c:v>11.4568181818</c:v>
                </c:pt>
                <c:pt idx="4">
                  <c:v>10.8</c:v>
                </c:pt>
                <c:pt idx="5">
                  <c:v>10.2480769231</c:v>
                </c:pt>
                <c:pt idx="6">
                  <c:v>9.7785714286</c:v>
                </c:pt>
                <c:pt idx="7">
                  <c:v>9.375</c:v>
                </c:pt>
                <c:pt idx="8">
                  <c:v>9.025</c:v>
                </c:pt>
                <c:pt idx="9">
                  <c:v>8.7191176471</c:v>
                </c:pt>
                <c:pt idx="10">
                  <c:v>8.45</c:v>
                </c:pt>
                <c:pt idx="11">
                  <c:v>8.2118421053</c:v>
                </c:pt>
                <c:pt idx="12">
                  <c:v>8</c:v>
                </c:pt>
                <c:pt idx="13">
                  <c:v>7.8107142857</c:v>
                </c:pt>
                <c:pt idx="14">
                  <c:v>7.6409090909</c:v>
                </c:pt>
                <c:pt idx="15">
                  <c:v>7.4880434783</c:v>
                </c:pt>
                <c:pt idx="16">
                  <c:v>7.35</c:v>
                </c:pt>
                <c:pt idx="17">
                  <c:v>7.225</c:v>
                </c:pt>
                <c:pt idx="18">
                  <c:v>7.1115384615</c:v>
                </c:pt>
                <c:pt idx="19">
                  <c:v>7.0083333333</c:v>
                </c:pt>
                <c:pt idx="20">
                  <c:v>6.9142857143</c:v>
                </c:pt>
                <c:pt idx="21">
                  <c:v>6.8284482759</c:v>
                </c:pt>
                <c:pt idx="22">
                  <c:v>6.75</c:v>
                </c:pt>
                <c:pt idx="23">
                  <c:v>6.6782258065</c:v>
                </c:pt>
                <c:pt idx="24">
                  <c:v>6.6125</c:v>
                </c:pt>
                <c:pt idx="25">
                  <c:v>6.5522727273</c:v>
                </c:pt>
                <c:pt idx="26">
                  <c:v>6.4970588235</c:v>
                </c:pt>
                <c:pt idx="27">
                  <c:v>6.4464285714</c:v>
                </c:pt>
                <c:pt idx="28">
                  <c:v>6.4</c:v>
                </c:pt>
                <c:pt idx="29">
                  <c:v>6.3574324324</c:v>
                </c:pt>
                <c:pt idx="30">
                  <c:v>6.3184210526</c:v>
                </c:pt>
                <c:pt idx="31">
                  <c:v>6.2826923077</c:v>
                </c:pt>
                <c:pt idx="32">
                  <c:v>6.25</c:v>
                </c:pt>
                <c:pt idx="33">
                  <c:v>6.2201219512</c:v>
                </c:pt>
                <c:pt idx="34">
                  <c:v>6.1928571429</c:v>
                </c:pt>
                <c:pt idx="35">
                  <c:v>6.1680232558</c:v>
                </c:pt>
                <c:pt idx="36">
                  <c:v>6.1454545455</c:v>
                </c:pt>
                <c:pt idx="37">
                  <c:v>6.125</c:v>
                </c:pt>
                <c:pt idx="38">
                  <c:v>6.1065217391</c:v>
                </c:pt>
                <c:pt idx="39">
                  <c:v>6.089893617</c:v>
                </c:pt>
                <c:pt idx="40">
                  <c:v>6.075</c:v>
                </c:pt>
                <c:pt idx="41">
                  <c:v>6.0617346939</c:v>
                </c:pt>
                <c:pt idx="42">
                  <c:v>6.05</c:v>
                </c:pt>
                <c:pt idx="43">
                  <c:v>6.0397058824</c:v>
                </c:pt>
                <c:pt idx="44">
                  <c:v>6.0307692308</c:v>
                </c:pt>
                <c:pt idx="45">
                  <c:v>6.0231132075</c:v>
                </c:pt>
                <c:pt idx="46">
                  <c:v>6.0166666667</c:v>
                </c:pt>
                <c:pt idx="47">
                  <c:v>6.0113636364</c:v>
                </c:pt>
                <c:pt idx="48">
                  <c:v>6.0071428571</c:v>
                </c:pt>
                <c:pt idx="49">
                  <c:v>6.0039473684</c:v>
                </c:pt>
                <c:pt idx="50">
                  <c:v>6.0017241379</c:v>
                </c:pt>
                <c:pt idx="51">
                  <c:v>6.0004237288</c:v>
                </c:pt>
                <c:pt idx="52">
                  <c:v>6</c:v>
                </c:pt>
                <c:pt idx="53">
                  <c:v>6.0004098361</c:v>
                </c:pt>
                <c:pt idx="54">
                  <c:v>6.0016129032</c:v>
                </c:pt>
                <c:pt idx="55">
                  <c:v>6.0035714286</c:v>
                </c:pt>
                <c:pt idx="56">
                  <c:v>6.00625</c:v>
                </c:pt>
                <c:pt idx="57">
                  <c:v>6.0096153846</c:v>
                </c:pt>
                <c:pt idx="58">
                  <c:v>6.0136363636</c:v>
                </c:pt>
                <c:pt idx="59">
                  <c:v>6.0182835821</c:v>
                </c:pt>
                <c:pt idx="60">
                  <c:v>6.0235294118</c:v>
                </c:pt>
                <c:pt idx="61">
                  <c:v>6.0293478261</c:v>
                </c:pt>
                <c:pt idx="62">
                  <c:v>6.0357142857</c:v>
                </c:pt>
                <c:pt idx="63">
                  <c:v>6.0426056338</c:v>
                </c:pt>
                <c:pt idx="64">
                  <c:v>6.05</c:v>
                </c:pt>
                <c:pt idx="65">
                  <c:v>6.0578767123</c:v>
                </c:pt>
                <c:pt idx="66">
                  <c:v>6.0662162162</c:v>
                </c:pt>
                <c:pt idx="67">
                  <c:v>6.075</c:v>
                </c:pt>
                <c:pt idx="68">
                  <c:v>6.0842105263</c:v>
                </c:pt>
                <c:pt idx="69">
                  <c:v>6.0938311688</c:v>
                </c:pt>
                <c:pt idx="70">
                  <c:v>6.1038461538</c:v>
                </c:pt>
                <c:pt idx="71">
                  <c:v>6.1142405063</c:v>
                </c:pt>
                <c:pt idx="72">
                  <c:v>6.125</c:v>
                </c:pt>
                <c:pt idx="73">
                  <c:v>6.1361111111</c:v>
                </c:pt>
                <c:pt idx="74">
                  <c:v>6.1475609756</c:v>
                </c:pt>
                <c:pt idx="75">
                  <c:v>6.1593373494</c:v>
                </c:pt>
                <c:pt idx="76">
                  <c:v>6.1714285714</c:v>
                </c:pt>
                <c:pt idx="77">
                  <c:v>6.1838235294</c:v>
                </c:pt>
                <c:pt idx="78">
                  <c:v>6.1965116279</c:v>
                </c:pt>
                <c:pt idx="79">
                  <c:v>6.2094827586</c:v>
                </c:pt>
                <c:pt idx="80">
                  <c:v>6.2227272727</c:v>
                </c:pt>
                <c:pt idx="81">
                  <c:v>6.2362359551</c:v>
                </c:pt>
                <c:pt idx="82">
                  <c:v>6.25</c:v>
                </c:pt>
                <c:pt idx="83">
                  <c:v>6.264010989</c:v>
                </c:pt>
                <c:pt idx="84">
                  <c:v>6.2782608696</c:v>
                </c:pt>
                <c:pt idx="85">
                  <c:v>6.2927419355</c:v>
                </c:pt>
                <c:pt idx="86">
                  <c:v>6.3074468085</c:v>
                </c:pt>
                <c:pt idx="87">
                  <c:v>6.3223684211</c:v>
                </c:pt>
                <c:pt idx="88">
                  <c:v>6.3375</c:v>
                </c:pt>
                <c:pt idx="89">
                  <c:v>6.3528350515</c:v>
                </c:pt>
                <c:pt idx="90">
                  <c:v>6.3683673469</c:v>
                </c:pt>
                <c:pt idx="91">
                  <c:v>6.3840909091</c:v>
                </c:pt>
                <c:pt idx="92">
                  <c:v>6.4</c:v>
                </c:pt>
                <c:pt idx="93">
                  <c:v>6.4160891089</c:v>
                </c:pt>
                <c:pt idx="94">
                  <c:v>6.4323529412</c:v>
                </c:pt>
                <c:pt idx="95">
                  <c:v>6.4487864078</c:v>
                </c:pt>
                <c:pt idx="96">
                  <c:v>6.4653846154</c:v>
                </c:pt>
                <c:pt idx="97">
                  <c:v>6.4821428571</c:v>
                </c:pt>
                <c:pt idx="98">
                  <c:v>6.4990566038</c:v>
                </c:pt>
                <c:pt idx="99">
                  <c:v>6.5161214953</c:v>
                </c:pt>
                <c:pt idx="100">
                  <c:v>6.5333333333</c:v>
                </c:pt>
                <c:pt idx="101">
                  <c:v>6.5506880734</c:v>
                </c:pt>
                <c:pt idx="102">
                  <c:v>6.5681818182</c:v>
                </c:pt>
                <c:pt idx="103">
                  <c:v>6.5858108108</c:v>
                </c:pt>
                <c:pt idx="104">
                  <c:v>6.6035714286</c:v>
                </c:pt>
                <c:pt idx="105">
                  <c:v>6.621460177</c:v>
                </c:pt>
                <c:pt idx="106">
                  <c:v>6.6394736842</c:v>
                </c:pt>
                <c:pt idx="107">
                  <c:v>6.6576086957</c:v>
                </c:pt>
                <c:pt idx="108">
                  <c:v>6.675862069</c:v>
                </c:pt>
                <c:pt idx="109">
                  <c:v>6.6942307692</c:v>
                </c:pt>
                <c:pt idx="110">
                  <c:v>6.7127118644</c:v>
                </c:pt>
                <c:pt idx="111">
                  <c:v>6.731302521</c:v>
                </c:pt>
                <c:pt idx="112">
                  <c:v>6.75</c:v>
                </c:pt>
                <c:pt idx="113">
                  <c:v>6.7688016529</c:v>
                </c:pt>
                <c:pt idx="114">
                  <c:v>6.787704918</c:v>
                </c:pt>
                <c:pt idx="115">
                  <c:v>6.8067073171</c:v>
                </c:pt>
                <c:pt idx="116">
                  <c:v>6.8258064516</c:v>
                </c:pt>
                <c:pt idx="117">
                  <c:v>6.845</c:v>
                </c:pt>
                <c:pt idx="118">
                  <c:v>6.8642857143</c:v>
                </c:pt>
                <c:pt idx="119">
                  <c:v>6.8836614173</c:v>
                </c:pt>
                <c:pt idx="120">
                  <c:v>6.903125</c:v>
                </c:pt>
                <c:pt idx="121">
                  <c:v>6.9226744186</c:v>
                </c:pt>
                <c:pt idx="122">
                  <c:v>6.9423076923</c:v>
                </c:pt>
                <c:pt idx="123">
                  <c:v>6.9620229008</c:v>
                </c:pt>
                <c:pt idx="124">
                  <c:v>6.9818181818</c:v>
                </c:pt>
                <c:pt idx="125">
                  <c:v>7.0016917293</c:v>
                </c:pt>
                <c:pt idx="126">
                  <c:v>7.021641791</c:v>
                </c:pt>
                <c:pt idx="127">
                  <c:v>7.0416666667</c:v>
                </c:pt>
                <c:pt idx="128">
                  <c:v>7.0617647059</c:v>
                </c:pt>
                <c:pt idx="129">
                  <c:v>7.0819343066</c:v>
                </c:pt>
                <c:pt idx="130">
                  <c:v>7.102173913</c:v>
                </c:pt>
                <c:pt idx="131">
                  <c:v>7.1224820144</c:v>
                </c:pt>
                <c:pt idx="132">
                  <c:v>7.1428571429</c:v>
                </c:pt>
                <c:pt idx="133">
                  <c:v>7.1632978723</c:v>
                </c:pt>
                <c:pt idx="134">
                  <c:v>7.1838028169</c:v>
                </c:pt>
                <c:pt idx="135">
                  <c:v>7.2043706294</c:v>
                </c:pt>
                <c:pt idx="136">
                  <c:v>7.225</c:v>
                </c:pt>
                <c:pt idx="137">
                  <c:v>7.2456896552</c:v>
                </c:pt>
                <c:pt idx="138">
                  <c:v>7.2664383562</c:v>
                </c:pt>
                <c:pt idx="139">
                  <c:v>7.287244898</c:v>
                </c:pt>
                <c:pt idx="140">
                  <c:v>7.3081081081</c:v>
                </c:pt>
                <c:pt idx="141">
                  <c:v>7.3290268456</c:v>
                </c:pt>
                <c:pt idx="142">
                  <c:v>7.35</c:v>
                </c:pt>
                <c:pt idx="143">
                  <c:v>7.3710264901</c:v>
                </c:pt>
                <c:pt idx="144">
                  <c:v>7.3921052632</c:v>
                </c:pt>
                <c:pt idx="145">
                  <c:v>7.4132352941</c:v>
                </c:pt>
                <c:pt idx="146">
                  <c:v>7.4344155844</c:v>
                </c:pt>
                <c:pt idx="147">
                  <c:v>7.4556451613</c:v>
                </c:pt>
                <c:pt idx="148">
                  <c:v>7.4769230769</c:v>
                </c:pt>
                <c:pt idx="149">
                  <c:v>7.4982484076</c:v>
                </c:pt>
                <c:pt idx="150">
                  <c:v>7.5196202532</c:v>
                </c:pt>
                <c:pt idx="151">
                  <c:v>7.5410377358</c:v>
                </c:pt>
                <c:pt idx="152">
                  <c:v>7.5625</c:v>
                </c:pt>
                <c:pt idx="153">
                  <c:v>7.5840062112</c:v>
                </c:pt>
                <c:pt idx="154">
                  <c:v>7.6055555556</c:v>
                </c:pt>
                <c:pt idx="155">
                  <c:v>7.6271472393</c:v>
                </c:pt>
                <c:pt idx="156">
                  <c:v>7.6487804878</c:v>
                </c:pt>
                <c:pt idx="157">
                  <c:v>7.6704545455</c:v>
                </c:pt>
                <c:pt idx="158">
                  <c:v>7.6921686747</c:v>
                </c:pt>
                <c:pt idx="159">
                  <c:v>7.7139221557</c:v>
                </c:pt>
                <c:pt idx="160">
                  <c:v>7.7357142857</c:v>
                </c:pt>
                <c:pt idx="161">
                  <c:v>7.7575443787</c:v>
                </c:pt>
                <c:pt idx="162">
                  <c:v>7.7794117647</c:v>
                </c:pt>
                <c:pt idx="163">
                  <c:v>7.8013157895</c:v>
                </c:pt>
                <c:pt idx="164">
                  <c:v>7.823255814</c:v>
                </c:pt>
                <c:pt idx="165">
                  <c:v>7.8452312139</c:v>
                </c:pt>
                <c:pt idx="166">
                  <c:v>7.8672413793</c:v>
                </c:pt>
                <c:pt idx="167">
                  <c:v>7.8892857143</c:v>
                </c:pt>
                <c:pt idx="168">
                  <c:v>7.9113636364</c:v>
                </c:pt>
                <c:pt idx="169">
                  <c:v>7.9334745763</c:v>
                </c:pt>
                <c:pt idx="170">
                  <c:v>7.9556179775</c:v>
                </c:pt>
                <c:pt idx="171">
                  <c:v>7.9777932961</c:v>
                </c:pt>
                <c:pt idx="172">
                  <c:v>8</c:v>
                </c:pt>
                <c:pt idx="173">
                  <c:v>8.0222375691</c:v>
                </c:pt>
                <c:pt idx="174">
                  <c:v>8.0445054945</c:v>
                </c:pt>
                <c:pt idx="175">
                  <c:v>8.0668032787</c:v>
                </c:pt>
                <c:pt idx="176">
                  <c:v>8.0891304348</c:v>
                </c:pt>
                <c:pt idx="177">
                  <c:v>8.1114864865</c:v>
                </c:pt>
                <c:pt idx="178">
                  <c:v>8.1338709677</c:v>
                </c:pt>
                <c:pt idx="179">
                  <c:v>8.1562834225</c:v>
                </c:pt>
                <c:pt idx="180">
                  <c:v>8.1787234043</c:v>
                </c:pt>
                <c:pt idx="181">
                  <c:v>8.2011904762</c:v>
                </c:pt>
                <c:pt idx="182">
                  <c:v>8.2236842105</c:v>
                </c:pt>
                <c:pt idx="183">
                  <c:v>8.2462041885</c:v>
                </c:pt>
                <c:pt idx="184">
                  <c:v>8.26875</c:v>
                </c:pt>
                <c:pt idx="185">
                  <c:v>8.2913212435</c:v>
                </c:pt>
                <c:pt idx="186">
                  <c:v>8.3139175258</c:v>
                </c:pt>
                <c:pt idx="187">
                  <c:v>8.3365384615</c:v>
                </c:pt>
                <c:pt idx="188">
                  <c:v>8.3591836735</c:v>
                </c:pt>
                <c:pt idx="189">
                  <c:v>8.3818527919</c:v>
                </c:pt>
                <c:pt idx="190">
                  <c:v>8.4045454545</c:v>
                </c:pt>
                <c:pt idx="191">
                  <c:v>8.4272613065</c:v>
                </c:pt>
                <c:pt idx="192">
                  <c:v>8.45</c:v>
                </c:pt>
              </c:numCache>
            </c:numRef>
          </c:yVal>
          <c:smooth val="0"/>
        </c:ser>
        <c:ser>
          <c:idx val="2"/>
          <c:order val="2"/>
          <c:tx>
            <c:v>P = GO = MO</c:v>
          </c:tx>
          <c:spPr>
            <a:ln xmlns:a="http://schemas.openxmlformats.org/drawingml/2006/main" w="33338">
              <a:solidFill>
                <a:srgbClr val="17658A"/>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17658A"/>
                        </a:solidFill>
                        <a:latin typeface="Arial"/>
                        <a:ea typeface="Arial"/>
                        <a:cs typeface="Arial"/>
                      </a:rPr>
                      <a:t>P = 5</a:t>
                    </a:r>
                  </a:p>
                </c:rich>
              </c:tx>
              <c:txPr>
                <a:bodyPr xmlns:a="http://schemas.openxmlformats.org/drawingml/2006/main" anchorCtr="1"/>
                <a:lstStyle xmlns:a="http://schemas.openxmlformats.org/drawingml/2006/main"/>
                <a:p xmlns:a="http://schemas.openxmlformats.org/drawingml/2006/main">
                  <a:pPr>
                    <a:defRPr sz="1800" b="1">
                      <a:solidFill>
                        <a:srgbClr val="17658A"/>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Data'!$E$2:$E$4</c:f>
              <c:numCache>
                <c:formatCode>General</c:formatCode>
                <c:ptCount val="3"/>
                <c:pt idx="0">
                  <c:v>0</c:v>
                </c:pt>
                <c:pt idx="1">
                  <c:v>85</c:v>
                </c:pt>
                <c:pt idx="2">
                  <c:v>100</c:v>
                </c:pt>
              </c:numCache>
            </c:numRef>
          </c:xVal>
          <c:yVal>
            <c:numRef>
              <c:f>'Chart Data'!$F$2:$F$4</c:f>
              <c:numCache>
                <c:formatCode>0</c:formatCode>
                <c:ptCount val="3"/>
                <c:pt idx="0">
                  <c:v>5</c:v>
                </c:pt>
                <c:pt idx="1">
                  <c:v>5</c:v>
                </c:pt>
                <c:pt idx="2">
                  <c:v>5</c:v>
                </c:pt>
              </c:numCache>
            </c:numRef>
          </c:yVal>
          <c:smooth val="0"/>
        </c:ser>
        <c:ser>
          <c:idx val="3"/>
          <c:order val="3"/>
          <c:tx>
            <c:v>Hulplijn</c:v>
          </c:tx>
          <c:spPr>
            <a:ln xmlns:a="http://schemas.openxmlformats.org/drawingml/2006/main" w="14288">
              <a:solidFill>
                <a:srgbClr val="445B6B"/>
              </a:solidFill>
              <a:prstDash val="dash"/>
            </a:ln>
          </c:spPr>
          <c:marker>
            <c:symbol val="none"/>
            <c:size val="3"/>
          </c:marker>
          <c:xVal>
            <c:numRef>
              <c:f>'Chart Data'!$G$2:$G$4</c:f>
              <c:numCache>
                <c:formatCode>General</c:formatCode>
                <c:ptCount val="3"/>
                <c:pt idx="0">
                  <c:v>0</c:v>
                </c:pt>
                <c:pt idx="1">
                  <c:v>20</c:v>
                </c:pt>
                <c:pt idx="2">
                  <c:v>20</c:v>
                </c:pt>
              </c:numCache>
            </c:numRef>
          </c:xVal>
          <c:yVal>
            <c:numRef>
              <c:f>'Chart Data'!$H$2:$H$4</c:f>
              <c:numCache>
                <c:formatCode>0</c:formatCode>
                <c:ptCount val="3"/>
                <c:pt idx="0">
                  <c:v>5</c:v>
                </c:pt>
                <c:pt idx="1">
                  <c:v>5</c:v>
                </c:pt>
                <c:pt idx="2">
                  <c:v>0</c:v>
                </c:pt>
              </c:numCache>
            </c:numRef>
          </c:yVal>
          <c:smooth val="0"/>
        </c:ser>
        <c:ser>
          <c:idx val="4"/>
          <c:order val="4"/>
          <c:tx>
            <c:v>Keuze</c:v>
          </c:tx>
          <c:spPr>
            <a:ln xmlns:a="http://schemas.openxmlformats.org/drawingml/2006/main" w="33338">
              <a:solidFill>
                <a:srgbClr val="183247"/>
              </a:solidFill>
            </a:ln>
          </c:spPr>
          <c:marker>
            <c:symbol val="circle"/>
            <c:size val="8"/>
            <c:spPr>
              <a:solidFill xmlns:a="http://schemas.openxmlformats.org/drawingml/2006/main">
                <a:srgbClr val="183247"/>
              </a:solidFill>
            </c:spPr>
          </c:marker>
          <c:xVal>
            <c:numRef>
              <c:f>'Chart Data'!$I$2:$I$2</c:f>
              <c:numCache>
                <c:formatCode>General</c:formatCode>
                <c:ptCount val="1"/>
                <c:pt idx="0">
                  <c:v>20</c:v>
                </c:pt>
              </c:numCache>
            </c:numRef>
          </c:xVal>
          <c:yVal>
            <c:numRef>
              <c:f>'Chart Data'!$J$2:$J$2</c:f>
              <c:numCache>
                <c:formatCode>0</c:formatCode>
                <c:ptCount val="1"/>
                <c:pt idx="0">
                  <c:v>5</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6"/>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MK en GTK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(kg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scatterChart>
        <c:scatterStyle val="line"/>
        <c:ser>
          <c:idx val="0"/>
          <c:order val="0"/>
          <c:tx>
            <c:v>V</c:v>
          </c:tx>
          <c:spPr>
            <a:ln xmlns:a="http://schemas.openxmlformats.org/drawingml/2006/main" w="33338">
              <a:solidFill>
                <a:srgbClr val="17658A"/>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17658A"/>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1800" b="1">
                      <a:solidFill>
                        <a:srgbClr val="17658A"/>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Data'!$A$2:$A$3</c:f>
              <c:numCache>
                <c:formatCode>General</c:formatCode>
                <c:ptCount val="2"/>
                <c:pt idx="0">
                  <c:v>0</c:v>
                </c:pt>
                <c:pt idx="1">
                  <c:v>9</c:v>
                </c:pt>
              </c:numCache>
            </c:numRef>
          </c:xVal>
          <c:yVal>
            <c:numRef>
              <c:f>'Chart Data'!$B$2:$B$3</c:f>
              <c:numCache>
                <c:formatCode>0</c:formatCode>
                <c:ptCount val="2"/>
                <c:pt idx="0">
                  <c:v>9</c:v>
                </c:pt>
                <c:pt idx="1">
                  <c:v>0</c:v>
                </c:pt>
              </c:numCache>
            </c:numRef>
          </c:yVal>
          <c:smooth val="0"/>
        </c:ser>
        <c:ser>
          <c:idx val="1"/>
          <c:order val="1"/>
          <c:tx>
            <c:v>A₀</c:v>
          </c:tx>
          <c:spPr>
            <a:ln xmlns:a="http://schemas.openxmlformats.org/drawingml/2006/main" w="33338">
              <a:solidFill>
                <a:srgbClr val="445B6B"/>
              </a:solidFill>
              <a:prstDash val="dash"/>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445B6B"/>
                        </a:solidFill>
                        <a:latin typeface="Arial"/>
                        <a:ea typeface="Arial"/>
                        <a:cs typeface="Arial"/>
                      </a:rPr>
                      <a:t>A₀</a:t>
                    </a:r>
                  </a:p>
                </c:rich>
              </c:tx>
              <c:txPr>
                <a:bodyPr xmlns:a="http://schemas.openxmlformats.org/drawingml/2006/main" anchorCtr="1"/>
                <a:lstStyle xmlns:a="http://schemas.openxmlformats.org/drawingml/2006/main"/>
                <a:p xmlns:a="http://schemas.openxmlformats.org/drawingml/2006/main">
                  <a:pPr>
                    <a:defRPr sz="1800" b="1">
                      <a:solidFill>
                        <a:srgbClr val="445B6B"/>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Data'!$C$2:$C$3</c:f>
              <c:numCache>
                <c:formatCode>General</c:formatCode>
                <c:ptCount val="2"/>
                <c:pt idx="0">
                  <c:v>0</c:v>
                </c:pt>
                <c:pt idx="1">
                  <c:v>9</c:v>
                </c:pt>
              </c:numCache>
            </c:numRef>
          </c:xVal>
          <c:yVal>
            <c:numRef>
              <c:f>'Chart Data'!$D$2:$D$3</c:f>
              <c:numCache>
                <c:formatCode>0</c:formatCode>
                <c:ptCount val="2"/>
                <c:pt idx="0">
                  <c:v>3</c:v>
                </c:pt>
                <c:pt idx="1">
                  <c:v>7.5</c:v>
                </c:pt>
              </c:numCache>
            </c:numRef>
          </c:yVal>
          <c:smooth val="0"/>
        </c:ser>
        <c:ser>
          <c:idx val="2"/>
          <c:order val="2"/>
          <c:tx>
            <c:v>A₁</c:v>
          </c:tx>
          <c:spPr>
            <a:ln xmlns:a="http://schemas.openxmlformats.org/drawingml/2006/main" w="33338">
              <a:solidFill>
                <a:srgbClr val="A94D16"/>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A94D16"/>
                        </a:solidFill>
                        <a:latin typeface="Arial"/>
                        <a:ea typeface="Arial"/>
                        <a:cs typeface="Arial"/>
                      </a:rPr>
                      <a:t>A₁</a:t>
                    </a:r>
                  </a:p>
                </c:rich>
              </c:tx>
              <c:txPr>
                <a:bodyPr xmlns:a="http://schemas.openxmlformats.org/drawingml/2006/main" anchorCtr="1"/>
                <a:lstStyle xmlns:a="http://schemas.openxmlformats.org/drawingml/2006/main"/>
                <a:p xmlns:a="http://schemas.openxmlformats.org/drawingml/2006/main">
                  <a:pPr>
                    <a:defRPr sz="1800" b="1">
                      <a:solidFill>
                        <a:srgbClr val="A94D1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Data'!$E$2:$E$3</c:f>
              <c:numCache>
                <c:formatCode>General</c:formatCode>
                <c:ptCount val="2"/>
                <c:pt idx="0">
                  <c:v>0</c:v>
                </c:pt>
                <c:pt idx="1">
                  <c:v>9</c:v>
                </c:pt>
              </c:numCache>
            </c:numRef>
          </c:xVal>
          <c:yVal>
            <c:numRef>
              <c:f>'Chart Data'!$F$2:$F$3</c:f>
              <c:numCache>
                <c:formatCode>0</c:formatCode>
                <c:ptCount val="2"/>
                <c:pt idx="0">
                  <c:v>3</c:v>
                </c:pt>
                <c:pt idx="1">
                  <c:v>12</c:v>
                </c:pt>
              </c:numCache>
            </c:numRef>
          </c:yVal>
          <c:smooth val="0"/>
        </c:ser>
        <c:ser>
          <c:idx val="3"/>
          <c:order val="3"/>
          <c:tx>
            <c:v>Hulplijn</c:v>
          </c:tx>
          <c:spPr>
            <a:ln xmlns:a="http://schemas.openxmlformats.org/drawingml/2006/main" w="14288">
              <a:solidFill>
                <a:srgbClr val="445B6B"/>
              </a:solidFill>
              <a:prstDash val="dash"/>
            </a:ln>
          </c:spPr>
          <c:marker>
            <c:symbol val="none"/>
            <c:size val="3"/>
          </c:marker>
          <c:xVal>
            <c:numRef>
              <c:f>'Chart Data'!$G$2:$G$4</c:f>
              <c:numCache>
                <c:formatCode>General</c:formatCode>
                <c:ptCount val="3"/>
                <c:pt idx="0">
                  <c:v>0</c:v>
                </c:pt>
                <c:pt idx="1">
                  <c:v>4</c:v>
                </c:pt>
                <c:pt idx="2">
                  <c:v>4</c:v>
                </c:pt>
              </c:numCache>
            </c:numRef>
          </c:xVal>
          <c:yVal>
            <c:numRef>
              <c:f>'Chart Data'!$H$2:$H$4</c:f>
              <c:numCache>
                <c:formatCode>0</c:formatCode>
                <c:ptCount val="3"/>
                <c:pt idx="0">
                  <c:v>5</c:v>
                </c:pt>
                <c:pt idx="1">
                  <c:v>5</c:v>
                </c:pt>
                <c:pt idx="2">
                  <c:v>0</c:v>
                </c:pt>
              </c:numCache>
            </c:numRef>
          </c:yVal>
          <c:smooth val="0"/>
        </c:ser>
        <c:ser>
          <c:idx val="4"/>
          <c:order val="4"/>
          <c:tx>
            <c:v>Hulplijn</c:v>
          </c:tx>
          <c:spPr>
            <a:ln xmlns:a="http://schemas.openxmlformats.org/drawingml/2006/main" w="14288">
              <a:solidFill>
                <a:srgbClr val="445B6B"/>
              </a:solidFill>
              <a:prstDash val="dash"/>
            </a:ln>
          </c:spPr>
          <c:marker>
            <c:symbol val="none"/>
            <c:size val="3"/>
          </c:marker>
          <c:xVal>
            <c:numRef>
              <c:f>'Chart Data'!$I$2:$I$4</c:f>
              <c:numCache>
                <c:formatCode>General</c:formatCode>
                <c:ptCount val="3"/>
                <c:pt idx="0">
                  <c:v>0</c:v>
                </c:pt>
                <c:pt idx="1">
                  <c:v>3</c:v>
                </c:pt>
                <c:pt idx="2">
                  <c:v>3</c:v>
                </c:pt>
              </c:numCache>
            </c:numRef>
          </c:xVal>
          <c:yVal>
            <c:numRef>
              <c:f>'Chart Data'!$J$2:$J$4</c:f>
              <c:numCache>
                <c:formatCode>0</c:formatCode>
                <c:ptCount val="3"/>
                <c:pt idx="0">
                  <c:v>6</c:v>
                </c:pt>
                <c:pt idx="1">
                  <c:v>6</c:v>
                </c:pt>
                <c:pt idx="2">
                  <c:v>0</c:v>
                </c:pt>
              </c:numCache>
            </c:numRef>
          </c:yVal>
          <c:smooth val="0"/>
        </c:ser>
        <c:ser>
          <c:idx val="5"/>
          <c:order val="5"/>
          <c:tx>
            <c:v>E₀</c:v>
          </c:tx>
          <c:spPr>
            <a:ln xmlns:a="http://schemas.openxmlformats.org/drawingml/2006/main" w="33338">
              <a:solidFill>
                <a:srgbClr val="183247"/>
              </a:solidFill>
            </a:ln>
          </c:spPr>
          <c:marker>
            <c:symbol val="circle"/>
            <c:size val="8"/>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00" b="1">
                        <a:solidFill>
                          <a:srgbClr val="183247"/>
                        </a:solidFill>
                        <a:latin typeface="Arial"/>
                        <a:ea typeface="Arial"/>
                        <a:cs typeface="Arial"/>
                      </a:rPr>
                      <a:t>E₀</a:t>
                    </a:r>
                  </a:p>
                </c:rich>
              </c:tx>
              <c:txPr>
                <a:bodyPr xmlns:a="http://schemas.openxmlformats.org/drawingml/2006/main" anchorCtr="1"/>
                <a:lstStyle xmlns:a="http://schemas.openxmlformats.org/drawingml/2006/main"/>
                <a:p xmlns:a="http://schemas.openxmlformats.org/drawingml/2006/main">
                  <a:pPr>
                    <a:defRPr sz="1800" b="1">
                      <a:solidFill>
                        <a:srgbClr val="183247"/>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Data'!$K$2:$K$2</c:f>
              <c:numCache>
                <c:formatCode>General</c:formatCode>
                <c:ptCount val="1"/>
                <c:pt idx="0">
                  <c:v>4</c:v>
                </c:pt>
              </c:numCache>
            </c:numRef>
          </c:xVal>
          <c:yVal>
            <c:numRef>
              <c:f>'Chart Data'!$L$2:$L$2</c:f>
              <c:numCache>
                <c:formatCode>0</c:formatCode>
                <c:ptCount val="1"/>
                <c:pt idx="0">
                  <c:v>5</c:v>
                </c:pt>
              </c:numCache>
            </c:numRef>
          </c:yVal>
          <c:smooth val="0"/>
        </c:ser>
        <c:ser>
          <c:idx val="6"/>
          <c:order val="6"/>
          <c:tx>
            <c:v>E₁</c:v>
          </c:tx>
          <c:spPr>
            <a:ln xmlns:a="http://schemas.openxmlformats.org/drawingml/2006/main" w="33338">
              <a:solidFill>
                <a:srgbClr val="183247"/>
              </a:solidFill>
            </a:ln>
          </c:spPr>
          <c:marker>
            <c:symbol val="circle"/>
            <c:size val="8"/>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00" b="1">
                        <a:solidFill>
                          <a:srgbClr val="183247"/>
                        </a:solidFill>
                        <a:latin typeface="Arial"/>
                        <a:ea typeface="Arial"/>
                        <a:cs typeface="Arial"/>
                      </a:rPr>
                      <a:t>E₁</a:t>
                    </a:r>
                  </a:p>
                </c:rich>
              </c:tx>
              <c:txPr>
                <a:bodyPr xmlns:a="http://schemas.openxmlformats.org/drawingml/2006/main" anchorCtr="1"/>
                <a:lstStyle xmlns:a="http://schemas.openxmlformats.org/drawingml/2006/main"/>
                <a:p xmlns:a="http://schemas.openxmlformats.org/drawingml/2006/main">
                  <a:pPr>
                    <a:defRPr sz="1800" b="1">
                      <a:solidFill>
                        <a:srgbClr val="183247"/>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Data'!$M$2:$M$2</c:f>
              <c:numCache>
                <c:formatCode>General</c:formatCode>
                <c:ptCount val="1"/>
                <c:pt idx="0">
                  <c:v>3</c:v>
                </c:pt>
              </c:numCache>
            </c:numRef>
          </c:xVal>
          <c:yVal>
            <c:numRef>
              <c:f>'Chart Data'!$N$2:$N$2</c:f>
              <c:numCache>
                <c:formatCode>0</c:formatCode>
                <c:ptCount val="1"/>
                <c:pt idx="0">
                  <c:v>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6"/>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2"/>
      </c:valAx>
      <c:valAx>
        <c:axId val="48650112"/>
        <c:scaling>
          <c:orientation val="minMax"/>
          <c:max val="9"/>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 1.000 kg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3"/>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scatterChart>
        <c:scatterStyle val="line"/>
        <c:ser>
          <c:idx val="0"/>
          <c:order val="0"/>
          <c:tx>
            <c:v>MK</c:v>
          </c:tx>
          <c:spPr>
            <a:ln xmlns:a="http://schemas.openxmlformats.org/drawingml/2006/main" w="33338">
              <a:solidFill>
                <a:srgbClr val="20665B"/>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20665B"/>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800" b="1">
                      <a:solidFill>
                        <a:srgbClr val="20665B"/>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Data'!$A$2:$A$3</c:f>
              <c:numCache>
                <c:formatCode>General</c:formatCode>
                <c:ptCount val="2"/>
                <c:pt idx="0">
                  <c:v>0</c:v>
                </c:pt>
                <c:pt idx="1">
                  <c:v>100</c:v>
                </c:pt>
              </c:numCache>
            </c:numRef>
          </c:xVal>
          <c:yVal>
            <c:numRef>
              <c:f>'Chart Data'!$B$2:$B$3</c:f>
              <c:numCache>
                <c:formatCode>0</c:formatCode>
                <c:ptCount val="2"/>
                <c:pt idx="0">
                  <c:v>3</c:v>
                </c:pt>
                <c:pt idx="1">
                  <c:v>13</c:v>
                </c:pt>
              </c:numCache>
            </c:numRef>
          </c:yVal>
          <c:smooth val="0"/>
        </c:ser>
        <c:ser>
          <c:idx val="1"/>
          <c:order val="1"/>
          <c:tx>
            <c:v>GTK</c:v>
          </c:tx>
          <c:spPr>
            <a:ln xmlns:a="http://schemas.openxmlformats.org/drawingml/2006/main" w="33338">
              <a:solidFill>
                <a:srgbClr val="A94D16"/>
              </a:solidFill>
            </a:ln>
          </c:spPr>
          <c:marker>
            <c:symbol val="none"/>
            <c:size val="3"/>
          </c:marker>
          <c:dLbls>
            <c:dLbl>
              <c:idx val="183"/>
              <c:tx>
                <c:rich>
                  <a:bodyPr xmlns:a="http://schemas.openxmlformats.org/drawingml/2006/main"/>
                  <a:lstStyle xmlns:a="http://schemas.openxmlformats.org/drawingml/2006/main"/>
                  <a:p xmlns:a="http://schemas.openxmlformats.org/drawingml/2006/main">
                    <a:r>
                      <a:rPr sz="1800" b="1">
                        <a:solidFill>
                          <a:srgbClr val="A94D16"/>
                        </a:solidFill>
                        <a:latin typeface="Arial"/>
                        <a:ea typeface="Arial"/>
                        <a:cs typeface="Arial"/>
                      </a:rPr>
                      <a:t>GTK</a:t>
                    </a:r>
                  </a:p>
                </c:rich>
              </c:tx>
              <c:txPr>
                <a:bodyPr xmlns:a="http://schemas.openxmlformats.org/drawingml/2006/main" anchorCtr="1"/>
                <a:lstStyle xmlns:a="http://schemas.openxmlformats.org/drawingml/2006/main"/>
                <a:p xmlns:a="http://schemas.openxmlformats.org/drawingml/2006/main">
                  <a:pPr>
                    <a:defRPr sz="1800" b="1">
                      <a:solidFill>
                        <a:srgbClr val="A94D16"/>
                      </a:solidFill>
                      <a:latin typeface="Arial"/>
                      <a:ea typeface="Arial"/>
                      <a:cs typeface="Arial"/>
                    </a:defRPr>
                  </a:pPr>
                </a:p>
              </c:txPr>
              <c:dLblPos val="b"/>
              <c:showLegendKey val="0"/>
              <c:showVal val="0"/>
              <c:showCatName val="0"/>
              <c:showSerName val="0"/>
              <c:showPercent val="0"/>
              <c:showBubbleSize val="0"/>
            </c:dLbl>
            <c:showLegendKey val="0"/>
            <c:showVal val="0"/>
            <c:showCatName val="0"/>
            <c:showSerName val="0"/>
            <c:showPercent val="0"/>
            <c:showBubbleSize val="0"/>
          </c:dLbls>
          <c:xVal>
            <c:numRef>
              <c:f>'Chart Data'!$C$2:$C$194</c:f>
              <c:numCache>
                <c:formatCode>General</c:formatCode>
                <c:ptCount val="193"/>
                <c:pt idx="0">
                  <c:v>4</c:v>
                </c:pt>
                <c:pt idx="1">
                  <c:v>4.5</c:v>
                </c:pt>
                <c:pt idx="2">
                  <c:v>5</c:v>
                </c:pt>
                <c:pt idx="3">
                  <c:v>5.5</c:v>
                </c:pt>
                <c:pt idx="4">
                  <c:v>6</c:v>
                </c:pt>
                <c:pt idx="5">
                  <c:v>6.5</c:v>
                </c:pt>
                <c:pt idx="6">
                  <c:v>7</c:v>
                </c:pt>
                <c:pt idx="7">
                  <c:v>7.5</c:v>
                </c:pt>
                <c:pt idx="8">
                  <c:v>8</c:v>
                </c:pt>
                <c:pt idx="9">
                  <c:v>8.5</c:v>
                </c:pt>
                <c:pt idx="10">
                  <c:v>9</c:v>
                </c:pt>
                <c:pt idx="11">
                  <c:v>9.5</c:v>
                </c:pt>
                <c:pt idx="12">
                  <c:v>10</c:v>
                </c:pt>
                <c:pt idx="13">
                  <c:v>10.5</c:v>
                </c:pt>
                <c:pt idx="14">
                  <c:v>11</c:v>
                </c:pt>
                <c:pt idx="15">
                  <c:v>11.5</c:v>
                </c:pt>
                <c:pt idx="16">
                  <c:v>12</c:v>
                </c:pt>
                <c:pt idx="17">
                  <c:v>12.5</c:v>
                </c:pt>
                <c:pt idx="18">
                  <c:v>13</c:v>
                </c:pt>
                <c:pt idx="19">
                  <c:v>13.5</c:v>
                </c:pt>
                <c:pt idx="20">
                  <c:v>14</c:v>
                </c:pt>
                <c:pt idx="21">
                  <c:v>14.5</c:v>
                </c:pt>
                <c:pt idx="22">
                  <c:v>15</c:v>
                </c:pt>
                <c:pt idx="23">
                  <c:v>15.5</c:v>
                </c:pt>
                <c:pt idx="24">
                  <c:v>16</c:v>
                </c:pt>
                <c:pt idx="25">
                  <c:v>16.5</c:v>
                </c:pt>
                <c:pt idx="26">
                  <c:v>17</c:v>
                </c:pt>
                <c:pt idx="27">
                  <c:v>17.5</c:v>
                </c:pt>
                <c:pt idx="28">
                  <c:v>18</c:v>
                </c:pt>
                <c:pt idx="29">
                  <c:v>18.5</c:v>
                </c:pt>
                <c:pt idx="30">
                  <c:v>19</c:v>
                </c:pt>
                <c:pt idx="31">
                  <c:v>19.5</c:v>
                </c:pt>
                <c:pt idx="32">
                  <c:v>20</c:v>
                </c:pt>
                <c:pt idx="33">
                  <c:v>20.5</c:v>
                </c:pt>
                <c:pt idx="34">
                  <c:v>21</c:v>
                </c:pt>
                <c:pt idx="35">
                  <c:v>21.5</c:v>
                </c:pt>
                <c:pt idx="36">
                  <c:v>22</c:v>
                </c:pt>
                <c:pt idx="37">
                  <c:v>22.5</c:v>
                </c:pt>
                <c:pt idx="38">
                  <c:v>23</c:v>
                </c:pt>
                <c:pt idx="39">
                  <c:v>23.5</c:v>
                </c:pt>
                <c:pt idx="40">
                  <c:v>24</c:v>
                </c:pt>
                <c:pt idx="41">
                  <c:v>24.5</c:v>
                </c:pt>
                <c:pt idx="42">
                  <c:v>25</c:v>
                </c:pt>
                <c:pt idx="43">
                  <c:v>25.5</c:v>
                </c:pt>
                <c:pt idx="44">
                  <c:v>26</c:v>
                </c:pt>
                <c:pt idx="45">
                  <c:v>26.5</c:v>
                </c:pt>
                <c:pt idx="46">
                  <c:v>27</c:v>
                </c:pt>
                <c:pt idx="47">
                  <c:v>27.5</c:v>
                </c:pt>
                <c:pt idx="48">
                  <c:v>28</c:v>
                </c:pt>
                <c:pt idx="49">
                  <c:v>28.5</c:v>
                </c:pt>
                <c:pt idx="50">
                  <c:v>29</c:v>
                </c:pt>
                <c:pt idx="51">
                  <c:v>29.5</c:v>
                </c:pt>
                <c:pt idx="52">
                  <c:v>30</c:v>
                </c:pt>
                <c:pt idx="53">
                  <c:v>30.5</c:v>
                </c:pt>
                <c:pt idx="54">
                  <c:v>31</c:v>
                </c:pt>
                <c:pt idx="55">
                  <c:v>31.5</c:v>
                </c:pt>
                <c:pt idx="56">
                  <c:v>32</c:v>
                </c:pt>
                <c:pt idx="57">
                  <c:v>32.5</c:v>
                </c:pt>
                <c:pt idx="58">
                  <c:v>33</c:v>
                </c:pt>
                <c:pt idx="59">
                  <c:v>33.5</c:v>
                </c:pt>
                <c:pt idx="60">
                  <c:v>34</c:v>
                </c:pt>
                <c:pt idx="61">
                  <c:v>34.5</c:v>
                </c:pt>
                <c:pt idx="62">
                  <c:v>35</c:v>
                </c:pt>
                <c:pt idx="63">
                  <c:v>35.5</c:v>
                </c:pt>
                <c:pt idx="64">
                  <c:v>36</c:v>
                </c:pt>
                <c:pt idx="65">
                  <c:v>36.5</c:v>
                </c:pt>
                <c:pt idx="66">
                  <c:v>37</c:v>
                </c:pt>
                <c:pt idx="67">
                  <c:v>37.5</c:v>
                </c:pt>
                <c:pt idx="68">
                  <c:v>38</c:v>
                </c:pt>
                <c:pt idx="69">
                  <c:v>38.5</c:v>
                </c:pt>
                <c:pt idx="70">
                  <c:v>39</c:v>
                </c:pt>
                <c:pt idx="71">
                  <c:v>39.5</c:v>
                </c:pt>
                <c:pt idx="72">
                  <c:v>40</c:v>
                </c:pt>
                <c:pt idx="73">
                  <c:v>40.5</c:v>
                </c:pt>
                <c:pt idx="74">
                  <c:v>41</c:v>
                </c:pt>
                <c:pt idx="75">
                  <c:v>41.5</c:v>
                </c:pt>
                <c:pt idx="76">
                  <c:v>42</c:v>
                </c:pt>
                <c:pt idx="77">
                  <c:v>42.5</c:v>
                </c:pt>
                <c:pt idx="78">
                  <c:v>43</c:v>
                </c:pt>
                <c:pt idx="79">
                  <c:v>43.5</c:v>
                </c:pt>
                <c:pt idx="80">
                  <c:v>44</c:v>
                </c:pt>
                <c:pt idx="81">
                  <c:v>44.5</c:v>
                </c:pt>
                <c:pt idx="82">
                  <c:v>45</c:v>
                </c:pt>
                <c:pt idx="83">
                  <c:v>45.5</c:v>
                </c:pt>
                <c:pt idx="84">
                  <c:v>46</c:v>
                </c:pt>
                <c:pt idx="85">
                  <c:v>46.5</c:v>
                </c:pt>
                <c:pt idx="86">
                  <c:v>47</c:v>
                </c:pt>
                <c:pt idx="87">
                  <c:v>47.5</c:v>
                </c:pt>
                <c:pt idx="88">
                  <c:v>48</c:v>
                </c:pt>
                <c:pt idx="89">
                  <c:v>48.5</c:v>
                </c:pt>
                <c:pt idx="90">
                  <c:v>49</c:v>
                </c:pt>
                <c:pt idx="91">
                  <c:v>49.5</c:v>
                </c:pt>
                <c:pt idx="92">
                  <c:v>50</c:v>
                </c:pt>
                <c:pt idx="93">
                  <c:v>50.5</c:v>
                </c:pt>
                <c:pt idx="94">
                  <c:v>51</c:v>
                </c:pt>
                <c:pt idx="95">
                  <c:v>51.5</c:v>
                </c:pt>
                <c:pt idx="96">
                  <c:v>52</c:v>
                </c:pt>
                <c:pt idx="97">
                  <c:v>52.5</c:v>
                </c:pt>
                <c:pt idx="98">
                  <c:v>53</c:v>
                </c:pt>
                <c:pt idx="99">
                  <c:v>53.5</c:v>
                </c:pt>
                <c:pt idx="100">
                  <c:v>54</c:v>
                </c:pt>
                <c:pt idx="101">
                  <c:v>54.5</c:v>
                </c:pt>
                <c:pt idx="102">
                  <c:v>55</c:v>
                </c:pt>
                <c:pt idx="103">
                  <c:v>55.5</c:v>
                </c:pt>
                <c:pt idx="104">
                  <c:v>56</c:v>
                </c:pt>
                <c:pt idx="105">
                  <c:v>56.5</c:v>
                </c:pt>
                <c:pt idx="106">
                  <c:v>57</c:v>
                </c:pt>
                <c:pt idx="107">
                  <c:v>57.5</c:v>
                </c:pt>
                <c:pt idx="108">
                  <c:v>58</c:v>
                </c:pt>
                <c:pt idx="109">
                  <c:v>58.5</c:v>
                </c:pt>
                <c:pt idx="110">
                  <c:v>59</c:v>
                </c:pt>
                <c:pt idx="111">
                  <c:v>59.5</c:v>
                </c:pt>
                <c:pt idx="112">
                  <c:v>60</c:v>
                </c:pt>
                <c:pt idx="113">
                  <c:v>60.5</c:v>
                </c:pt>
                <c:pt idx="114">
                  <c:v>61</c:v>
                </c:pt>
                <c:pt idx="115">
                  <c:v>61.5</c:v>
                </c:pt>
                <c:pt idx="116">
                  <c:v>62</c:v>
                </c:pt>
                <c:pt idx="117">
                  <c:v>62.5</c:v>
                </c:pt>
                <c:pt idx="118">
                  <c:v>63</c:v>
                </c:pt>
                <c:pt idx="119">
                  <c:v>63.5</c:v>
                </c:pt>
                <c:pt idx="120">
                  <c:v>64</c:v>
                </c:pt>
                <c:pt idx="121">
                  <c:v>64.5</c:v>
                </c:pt>
                <c:pt idx="122">
                  <c:v>65</c:v>
                </c:pt>
                <c:pt idx="123">
                  <c:v>65.5</c:v>
                </c:pt>
                <c:pt idx="124">
                  <c:v>66</c:v>
                </c:pt>
                <c:pt idx="125">
                  <c:v>66.5</c:v>
                </c:pt>
                <c:pt idx="126">
                  <c:v>67</c:v>
                </c:pt>
                <c:pt idx="127">
                  <c:v>67.5</c:v>
                </c:pt>
                <c:pt idx="128">
                  <c:v>68</c:v>
                </c:pt>
                <c:pt idx="129">
                  <c:v>68.5</c:v>
                </c:pt>
                <c:pt idx="130">
                  <c:v>69</c:v>
                </c:pt>
                <c:pt idx="131">
                  <c:v>69.5</c:v>
                </c:pt>
                <c:pt idx="132">
                  <c:v>70</c:v>
                </c:pt>
                <c:pt idx="133">
                  <c:v>70.5</c:v>
                </c:pt>
                <c:pt idx="134">
                  <c:v>71</c:v>
                </c:pt>
                <c:pt idx="135">
                  <c:v>71.5</c:v>
                </c:pt>
                <c:pt idx="136">
                  <c:v>72</c:v>
                </c:pt>
                <c:pt idx="137">
                  <c:v>72.5</c:v>
                </c:pt>
                <c:pt idx="138">
                  <c:v>73</c:v>
                </c:pt>
                <c:pt idx="139">
                  <c:v>73.5</c:v>
                </c:pt>
                <c:pt idx="140">
                  <c:v>74</c:v>
                </c:pt>
                <c:pt idx="141">
                  <c:v>74.5</c:v>
                </c:pt>
                <c:pt idx="142">
                  <c:v>75</c:v>
                </c:pt>
                <c:pt idx="143">
                  <c:v>75.5</c:v>
                </c:pt>
                <c:pt idx="144">
                  <c:v>76</c:v>
                </c:pt>
                <c:pt idx="145">
                  <c:v>76.5</c:v>
                </c:pt>
                <c:pt idx="146">
                  <c:v>77</c:v>
                </c:pt>
                <c:pt idx="147">
                  <c:v>77.5</c:v>
                </c:pt>
                <c:pt idx="148">
                  <c:v>78</c:v>
                </c:pt>
                <c:pt idx="149">
                  <c:v>78.5</c:v>
                </c:pt>
                <c:pt idx="150">
                  <c:v>79</c:v>
                </c:pt>
                <c:pt idx="151">
                  <c:v>79.5</c:v>
                </c:pt>
                <c:pt idx="152">
                  <c:v>80</c:v>
                </c:pt>
                <c:pt idx="153">
                  <c:v>80.5</c:v>
                </c:pt>
                <c:pt idx="154">
                  <c:v>81</c:v>
                </c:pt>
                <c:pt idx="155">
                  <c:v>81.5</c:v>
                </c:pt>
                <c:pt idx="156">
                  <c:v>82</c:v>
                </c:pt>
                <c:pt idx="157">
                  <c:v>82.5</c:v>
                </c:pt>
                <c:pt idx="158">
                  <c:v>83</c:v>
                </c:pt>
                <c:pt idx="159">
                  <c:v>83.5</c:v>
                </c:pt>
                <c:pt idx="160">
                  <c:v>84</c:v>
                </c:pt>
                <c:pt idx="161">
                  <c:v>84.5</c:v>
                </c:pt>
                <c:pt idx="162">
                  <c:v>85</c:v>
                </c:pt>
                <c:pt idx="163">
                  <c:v>85.5</c:v>
                </c:pt>
                <c:pt idx="164">
                  <c:v>86</c:v>
                </c:pt>
                <c:pt idx="165">
                  <c:v>86.5</c:v>
                </c:pt>
                <c:pt idx="166">
                  <c:v>87</c:v>
                </c:pt>
                <c:pt idx="167">
                  <c:v>87.5</c:v>
                </c:pt>
                <c:pt idx="168">
                  <c:v>88</c:v>
                </c:pt>
                <c:pt idx="169">
                  <c:v>88.5</c:v>
                </c:pt>
                <c:pt idx="170">
                  <c:v>89</c:v>
                </c:pt>
                <c:pt idx="171">
                  <c:v>89.5</c:v>
                </c:pt>
                <c:pt idx="172">
                  <c:v>90</c:v>
                </c:pt>
                <c:pt idx="173">
                  <c:v>90.5</c:v>
                </c:pt>
                <c:pt idx="174">
                  <c:v>91</c:v>
                </c:pt>
                <c:pt idx="175">
                  <c:v>91.5</c:v>
                </c:pt>
                <c:pt idx="176">
                  <c:v>92</c:v>
                </c:pt>
                <c:pt idx="177">
                  <c:v>92.5</c:v>
                </c:pt>
                <c:pt idx="178">
                  <c:v>93</c:v>
                </c:pt>
                <c:pt idx="179">
                  <c:v>93.5</c:v>
                </c:pt>
                <c:pt idx="180">
                  <c:v>94</c:v>
                </c:pt>
                <c:pt idx="181">
                  <c:v>94.5</c:v>
                </c:pt>
                <c:pt idx="182">
                  <c:v>95</c:v>
                </c:pt>
                <c:pt idx="183">
                  <c:v>95.5</c:v>
                </c:pt>
                <c:pt idx="184">
                  <c:v>96</c:v>
                </c:pt>
                <c:pt idx="185">
                  <c:v>96.5</c:v>
                </c:pt>
                <c:pt idx="186">
                  <c:v>97</c:v>
                </c:pt>
                <c:pt idx="187">
                  <c:v>97.5</c:v>
                </c:pt>
                <c:pt idx="188">
                  <c:v>98</c:v>
                </c:pt>
                <c:pt idx="189">
                  <c:v>98.5</c:v>
                </c:pt>
                <c:pt idx="190">
                  <c:v>99</c:v>
                </c:pt>
                <c:pt idx="191">
                  <c:v>99.5</c:v>
                </c:pt>
                <c:pt idx="192">
                  <c:v>100</c:v>
                </c:pt>
              </c:numCache>
            </c:numRef>
          </c:xVal>
          <c:yVal>
            <c:numRef>
              <c:f>'Chart Data'!$D$2:$D$194</c:f>
              <c:numCache>
                <c:formatCode>0</c:formatCode>
                <c:ptCount val="193"/>
                <c:pt idx="0">
                  <c:v>14.45</c:v>
                </c:pt>
                <c:pt idx="1">
                  <c:v>13.225</c:v>
                </c:pt>
                <c:pt idx="2">
                  <c:v>12.25</c:v>
                </c:pt>
                <c:pt idx="3">
                  <c:v>11.4568181818</c:v>
                </c:pt>
                <c:pt idx="4">
                  <c:v>10.8</c:v>
                </c:pt>
                <c:pt idx="5">
                  <c:v>10.2480769231</c:v>
                </c:pt>
                <c:pt idx="6">
                  <c:v>9.7785714286</c:v>
                </c:pt>
                <c:pt idx="7">
                  <c:v>9.375</c:v>
                </c:pt>
                <c:pt idx="8">
                  <c:v>9.025</c:v>
                </c:pt>
                <c:pt idx="9">
                  <c:v>8.7191176471</c:v>
                </c:pt>
                <c:pt idx="10">
                  <c:v>8.45</c:v>
                </c:pt>
                <c:pt idx="11">
                  <c:v>8.2118421053</c:v>
                </c:pt>
                <c:pt idx="12">
                  <c:v>8</c:v>
                </c:pt>
                <c:pt idx="13">
                  <c:v>7.8107142857</c:v>
                </c:pt>
                <c:pt idx="14">
                  <c:v>7.6409090909</c:v>
                </c:pt>
                <c:pt idx="15">
                  <c:v>7.4880434783</c:v>
                </c:pt>
                <c:pt idx="16">
                  <c:v>7.35</c:v>
                </c:pt>
                <c:pt idx="17">
                  <c:v>7.225</c:v>
                </c:pt>
                <c:pt idx="18">
                  <c:v>7.1115384615</c:v>
                </c:pt>
                <c:pt idx="19">
                  <c:v>7.0083333333</c:v>
                </c:pt>
                <c:pt idx="20">
                  <c:v>6.9142857143</c:v>
                </c:pt>
                <c:pt idx="21">
                  <c:v>6.8284482759</c:v>
                </c:pt>
                <c:pt idx="22">
                  <c:v>6.75</c:v>
                </c:pt>
                <c:pt idx="23">
                  <c:v>6.6782258065</c:v>
                </c:pt>
                <c:pt idx="24">
                  <c:v>6.6125</c:v>
                </c:pt>
                <c:pt idx="25">
                  <c:v>6.5522727273</c:v>
                </c:pt>
                <c:pt idx="26">
                  <c:v>6.4970588235</c:v>
                </c:pt>
                <c:pt idx="27">
                  <c:v>6.4464285714</c:v>
                </c:pt>
                <c:pt idx="28">
                  <c:v>6.4</c:v>
                </c:pt>
                <c:pt idx="29">
                  <c:v>6.3574324324</c:v>
                </c:pt>
                <c:pt idx="30">
                  <c:v>6.3184210526</c:v>
                </c:pt>
                <c:pt idx="31">
                  <c:v>6.2826923077</c:v>
                </c:pt>
                <c:pt idx="32">
                  <c:v>6.25</c:v>
                </c:pt>
                <c:pt idx="33">
                  <c:v>6.2201219512</c:v>
                </c:pt>
                <c:pt idx="34">
                  <c:v>6.1928571429</c:v>
                </c:pt>
                <c:pt idx="35">
                  <c:v>6.1680232558</c:v>
                </c:pt>
                <c:pt idx="36">
                  <c:v>6.1454545455</c:v>
                </c:pt>
                <c:pt idx="37">
                  <c:v>6.125</c:v>
                </c:pt>
                <c:pt idx="38">
                  <c:v>6.1065217391</c:v>
                </c:pt>
                <c:pt idx="39">
                  <c:v>6.089893617</c:v>
                </c:pt>
                <c:pt idx="40">
                  <c:v>6.075</c:v>
                </c:pt>
                <c:pt idx="41">
                  <c:v>6.0617346939</c:v>
                </c:pt>
                <c:pt idx="42">
                  <c:v>6.05</c:v>
                </c:pt>
                <c:pt idx="43">
                  <c:v>6.0397058824</c:v>
                </c:pt>
                <c:pt idx="44">
                  <c:v>6.0307692308</c:v>
                </c:pt>
                <c:pt idx="45">
                  <c:v>6.0231132075</c:v>
                </c:pt>
                <c:pt idx="46">
                  <c:v>6.0166666667</c:v>
                </c:pt>
                <c:pt idx="47">
                  <c:v>6.0113636364</c:v>
                </c:pt>
                <c:pt idx="48">
                  <c:v>6.0071428571</c:v>
                </c:pt>
                <c:pt idx="49">
                  <c:v>6.0039473684</c:v>
                </c:pt>
                <c:pt idx="50">
                  <c:v>6.0017241379</c:v>
                </c:pt>
                <c:pt idx="51">
                  <c:v>6.0004237288</c:v>
                </c:pt>
                <c:pt idx="52">
                  <c:v>6</c:v>
                </c:pt>
                <c:pt idx="53">
                  <c:v>6.0004098361</c:v>
                </c:pt>
                <c:pt idx="54">
                  <c:v>6.0016129032</c:v>
                </c:pt>
                <c:pt idx="55">
                  <c:v>6.0035714286</c:v>
                </c:pt>
                <c:pt idx="56">
                  <c:v>6.00625</c:v>
                </c:pt>
                <c:pt idx="57">
                  <c:v>6.0096153846</c:v>
                </c:pt>
                <c:pt idx="58">
                  <c:v>6.0136363636</c:v>
                </c:pt>
                <c:pt idx="59">
                  <c:v>6.0182835821</c:v>
                </c:pt>
                <c:pt idx="60">
                  <c:v>6.0235294118</c:v>
                </c:pt>
                <c:pt idx="61">
                  <c:v>6.0293478261</c:v>
                </c:pt>
                <c:pt idx="62">
                  <c:v>6.0357142857</c:v>
                </c:pt>
                <c:pt idx="63">
                  <c:v>6.0426056338</c:v>
                </c:pt>
                <c:pt idx="64">
                  <c:v>6.05</c:v>
                </c:pt>
                <c:pt idx="65">
                  <c:v>6.0578767123</c:v>
                </c:pt>
                <c:pt idx="66">
                  <c:v>6.0662162162</c:v>
                </c:pt>
                <c:pt idx="67">
                  <c:v>6.075</c:v>
                </c:pt>
                <c:pt idx="68">
                  <c:v>6.0842105263</c:v>
                </c:pt>
                <c:pt idx="69">
                  <c:v>6.0938311688</c:v>
                </c:pt>
                <c:pt idx="70">
                  <c:v>6.1038461538</c:v>
                </c:pt>
                <c:pt idx="71">
                  <c:v>6.1142405063</c:v>
                </c:pt>
                <c:pt idx="72">
                  <c:v>6.125</c:v>
                </c:pt>
                <c:pt idx="73">
                  <c:v>6.1361111111</c:v>
                </c:pt>
                <c:pt idx="74">
                  <c:v>6.1475609756</c:v>
                </c:pt>
                <c:pt idx="75">
                  <c:v>6.1593373494</c:v>
                </c:pt>
                <c:pt idx="76">
                  <c:v>6.1714285714</c:v>
                </c:pt>
                <c:pt idx="77">
                  <c:v>6.1838235294</c:v>
                </c:pt>
                <c:pt idx="78">
                  <c:v>6.1965116279</c:v>
                </c:pt>
                <c:pt idx="79">
                  <c:v>6.2094827586</c:v>
                </c:pt>
                <c:pt idx="80">
                  <c:v>6.2227272727</c:v>
                </c:pt>
                <c:pt idx="81">
                  <c:v>6.2362359551</c:v>
                </c:pt>
                <c:pt idx="82">
                  <c:v>6.25</c:v>
                </c:pt>
                <c:pt idx="83">
                  <c:v>6.264010989</c:v>
                </c:pt>
                <c:pt idx="84">
                  <c:v>6.2782608696</c:v>
                </c:pt>
                <c:pt idx="85">
                  <c:v>6.2927419355</c:v>
                </c:pt>
                <c:pt idx="86">
                  <c:v>6.3074468085</c:v>
                </c:pt>
                <c:pt idx="87">
                  <c:v>6.3223684211</c:v>
                </c:pt>
                <c:pt idx="88">
                  <c:v>6.3375</c:v>
                </c:pt>
                <c:pt idx="89">
                  <c:v>6.3528350515</c:v>
                </c:pt>
                <c:pt idx="90">
                  <c:v>6.3683673469</c:v>
                </c:pt>
                <c:pt idx="91">
                  <c:v>6.3840909091</c:v>
                </c:pt>
                <c:pt idx="92">
                  <c:v>6.4</c:v>
                </c:pt>
                <c:pt idx="93">
                  <c:v>6.4160891089</c:v>
                </c:pt>
                <c:pt idx="94">
                  <c:v>6.4323529412</c:v>
                </c:pt>
                <c:pt idx="95">
                  <c:v>6.4487864078</c:v>
                </c:pt>
                <c:pt idx="96">
                  <c:v>6.4653846154</c:v>
                </c:pt>
                <c:pt idx="97">
                  <c:v>6.4821428571</c:v>
                </c:pt>
                <c:pt idx="98">
                  <c:v>6.4990566038</c:v>
                </c:pt>
                <c:pt idx="99">
                  <c:v>6.5161214953</c:v>
                </c:pt>
                <c:pt idx="100">
                  <c:v>6.5333333333</c:v>
                </c:pt>
                <c:pt idx="101">
                  <c:v>6.5506880734</c:v>
                </c:pt>
                <c:pt idx="102">
                  <c:v>6.5681818182</c:v>
                </c:pt>
                <c:pt idx="103">
                  <c:v>6.5858108108</c:v>
                </c:pt>
                <c:pt idx="104">
                  <c:v>6.6035714286</c:v>
                </c:pt>
                <c:pt idx="105">
                  <c:v>6.621460177</c:v>
                </c:pt>
                <c:pt idx="106">
                  <c:v>6.6394736842</c:v>
                </c:pt>
                <c:pt idx="107">
                  <c:v>6.6576086957</c:v>
                </c:pt>
                <c:pt idx="108">
                  <c:v>6.675862069</c:v>
                </c:pt>
                <c:pt idx="109">
                  <c:v>6.6942307692</c:v>
                </c:pt>
                <c:pt idx="110">
                  <c:v>6.7127118644</c:v>
                </c:pt>
                <c:pt idx="111">
                  <c:v>6.731302521</c:v>
                </c:pt>
                <c:pt idx="112">
                  <c:v>6.75</c:v>
                </c:pt>
                <c:pt idx="113">
                  <c:v>6.7688016529</c:v>
                </c:pt>
                <c:pt idx="114">
                  <c:v>6.787704918</c:v>
                </c:pt>
                <c:pt idx="115">
                  <c:v>6.8067073171</c:v>
                </c:pt>
                <c:pt idx="116">
                  <c:v>6.8258064516</c:v>
                </c:pt>
                <c:pt idx="117">
                  <c:v>6.845</c:v>
                </c:pt>
                <c:pt idx="118">
                  <c:v>6.8642857143</c:v>
                </c:pt>
                <c:pt idx="119">
                  <c:v>6.8836614173</c:v>
                </c:pt>
                <c:pt idx="120">
                  <c:v>6.903125</c:v>
                </c:pt>
                <c:pt idx="121">
                  <c:v>6.9226744186</c:v>
                </c:pt>
                <c:pt idx="122">
                  <c:v>6.9423076923</c:v>
                </c:pt>
                <c:pt idx="123">
                  <c:v>6.9620229008</c:v>
                </c:pt>
                <c:pt idx="124">
                  <c:v>6.9818181818</c:v>
                </c:pt>
                <c:pt idx="125">
                  <c:v>7.0016917293</c:v>
                </c:pt>
                <c:pt idx="126">
                  <c:v>7.021641791</c:v>
                </c:pt>
                <c:pt idx="127">
                  <c:v>7.0416666667</c:v>
                </c:pt>
                <c:pt idx="128">
                  <c:v>7.0617647059</c:v>
                </c:pt>
                <c:pt idx="129">
                  <c:v>7.0819343066</c:v>
                </c:pt>
                <c:pt idx="130">
                  <c:v>7.102173913</c:v>
                </c:pt>
                <c:pt idx="131">
                  <c:v>7.1224820144</c:v>
                </c:pt>
                <c:pt idx="132">
                  <c:v>7.1428571429</c:v>
                </c:pt>
                <c:pt idx="133">
                  <c:v>7.1632978723</c:v>
                </c:pt>
                <c:pt idx="134">
                  <c:v>7.1838028169</c:v>
                </c:pt>
                <c:pt idx="135">
                  <c:v>7.2043706294</c:v>
                </c:pt>
                <c:pt idx="136">
                  <c:v>7.225</c:v>
                </c:pt>
                <c:pt idx="137">
                  <c:v>7.2456896552</c:v>
                </c:pt>
                <c:pt idx="138">
                  <c:v>7.2664383562</c:v>
                </c:pt>
                <c:pt idx="139">
                  <c:v>7.287244898</c:v>
                </c:pt>
                <c:pt idx="140">
                  <c:v>7.3081081081</c:v>
                </c:pt>
                <c:pt idx="141">
                  <c:v>7.3290268456</c:v>
                </c:pt>
                <c:pt idx="142">
                  <c:v>7.35</c:v>
                </c:pt>
                <c:pt idx="143">
                  <c:v>7.3710264901</c:v>
                </c:pt>
                <c:pt idx="144">
                  <c:v>7.3921052632</c:v>
                </c:pt>
                <c:pt idx="145">
                  <c:v>7.4132352941</c:v>
                </c:pt>
                <c:pt idx="146">
                  <c:v>7.4344155844</c:v>
                </c:pt>
                <c:pt idx="147">
                  <c:v>7.4556451613</c:v>
                </c:pt>
                <c:pt idx="148">
                  <c:v>7.4769230769</c:v>
                </c:pt>
                <c:pt idx="149">
                  <c:v>7.4982484076</c:v>
                </c:pt>
                <c:pt idx="150">
                  <c:v>7.5196202532</c:v>
                </c:pt>
                <c:pt idx="151">
                  <c:v>7.5410377358</c:v>
                </c:pt>
                <c:pt idx="152">
                  <c:v>7.5625</c:v>
                </c:pt>
                <c:pt idx="153">
                  <c:v>7.5840062112</c:v>
                </c:pt>
                <c:pt idx="154">
                  <c:v>7.6055555556</c:v>
                </c:pt>
                <c:pt idx="155">
                  <c:v>7.6271472393</c:v>
                </c:pt>
                <c:pt idx="156">
                  <c:v>7.6487804878</c:v>
                </c:pt>
                <c:pt idx="157">
                  <c:v>7.6704545455</c:v>
                </c:pt>
                <c:pt idx="158">
                  <c:v>7.6921686747</c:v>
                </c:pt>
                <c:pt idx="159">
                  <c:v>7.7139221557</c:v>
                </c:pt>
                <c:pt idx="160">
                  <c:v>7.7357142857</c:v>
                </c:pt>
                <c:pt idx="161">
                  <c:v>7.7575443787</c:v>
                </c:pt>
                <c:pt idx="162">
                  <c:v>7.7794117647</c:v>
                </c:pt>
                <c:pt idx="163">
                  <c:v>7.8013157895</c:v>
                </c:pt>
                <c:pt idx="164">
                  <c:v>7.823255814</c:v>
                </c:pt>
                <c:pt idx="165">
                  <c:v>7.8452312139</c:v>
                </c:pt>
                <c:pt idx="166">
                  <c:v>7.8672413793</c:v>
                </c:pt>
                <c:pt idx="167">
                  <c:v>7.8892857143</c:v>
                </c:pt>
                <c:pt idx="168">
                  <c:v>7.9113636364</c:v>
                </c:pt>
                <c:pt idx="169">
                  <c:v>7.9334745763</c:v>
                </c:pt>
                <c:pt idx="170">
                  <c:v>7.9556179775</c:v>
                </c:pt>
                <c:pt idx="171">
                  <c:v>7.9777932961</c:v>
                </c:pt>
                <c:pt idx="172">
                  <c:v>8</c:v>
                </c:pt>
                <c:pt idx="173">
                  <c:v>8.0222375691</c:v>
                </c:pt>
                <c:pt idx="174">
                  <c:v>8.0445054945</c:v>
                </c:pt>
                <c:pt idx="175">
                  <c:v>8.0668032787</c:v>
                </c:pt>
                <c:pt idx="176">
                  <c:v>8.0891304348</c:v>
                </c:pt>
                <c:pt idx="177">
                  <c:v>8.1114864865</c:v>
                </c:pt>
                <c:pt idx="178">
                  <c:v>8.1338709677</c:v>
                </c:pt>
                <c:pt idx="179">
                  <c:v>8.1562834225</c:v>
                </c:pt>
                <c:pt idx="180">
                  <c:v>8.1787234043</c:v>
                </c:pt>
                <c:pt idx="181">
                  <c:v>8.2011904762</c:v>
                </c:pt>
                <c:pt idx="182">
                  <c:v>8.2236842105</c:v>
                </c:pt>
                <c:pt idx="183">
                  <c:v>8.2462041885</c:v>
                </c:pt>
                <c:pt idx="184">
                  <c:v>8.26875</c:v>
                </c:pt>
                <c:pt idx="185">
                  <c:v>8.2913212435</c:v>
                </c:pt>
                <c:pt idx="186">
                  <c:v>8.3139175258</c:v>
                </c:pt>
                <c:pt idx="187">
                  <c:v>8.3365384615</c:v>
                </c:pt>
                <c:pt idx="188">
                  <c:v>8.3591836735</c:v>
                </c:pt>
                <c:pt idx="189">
                  <c:v>8.3818527919</c:v>
                </c:pt>
                <c:pt idx="190">
                  <c:v>8.4045454545</c:v>
                </c:pt>
                <c:pt idx="191">
                  <c:v>8.4272613065</c:v>
                </c:pt>
                <c:pt idx="192">
                  <c:v>8.45</c:v>
                </c:pt>
              </c:numCache>
            </c:numRef>
          </c:yVal>
          <c:smooth val="0"/>
        </c:ser>
        <c:ser>
          <c:idx val="2"/>
          <c:order val="2"/>
          <c:tx>
            <c:v>Oude prijs</c:v>
          </c:tx>
          <c:spPr>
            <a:ln xmlns:a="http://schemas.openxmlformats.org/drawingml/2006/main" w="33338">
              <a:solidFill>
                <a:srgbClr val="445B6B"/>
              </a:solidFill>
              <a:prstDash val="dash"/>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445B6B"/>
                        </a:solidFill>
                        <a:latin typeface="Arial"/>
                        <a:ea typeface="Arial"/>
                        <a:cs typeface="Arial"/>
                      </a:rPr>
                      <a:t>P₀ = 5</a:t>
                    </a:r>
                  </a:p>
                </c:rich>
              </c:tx>
              <c:txPr>
                <a:bodyPr xmlns:a="http://schemas.openxmlformats.org/drawingml/2006/main" anchorCtr="1"/>
                <a:lstStyle xmlns:a="http://schemas.openxmlformats.org/drawingml/2006/main"/>
                <a:p xmlns:a="http://schemas.openxmlformats.org/drawingml/2006/main">
                  <a:pPr>
                    <a:defRPr sz="1800" b="1">
                      <a:solidFill>
                        <a:srgbClr val="445B6B"/>
                      </a:solidFill>
                      <a:latin typeface="Arial"/>
                      <a:ea typeface="Arial"/>
                      <a:cs typeface="Arial"/>
                    </a:defRPr>
                  </a:pPr>
                </a:p>
              </c:txPr>
              <c:dLblPos val="b"/>
              <c:showLegendKey val="0"/>
              <c:showVal val="0"/>
              <c:showCatName val="0"/>
              <c:showSerName val="0"/>
              <c:showPercent val="0"/>
              <c:showBubbleSize val="0"/>
            </c:dLbl>
            <c:showLegendKey val="0"/>
            <c:showVal val="0"/>
            <c:showCatName val="0"/>
            <c:showSerName val="0"/>
            <c:showPercent val="0"/>
            <c:showBubbleSize val="0"/>
          </c:dLbls>
          <c:xVal>
            <c:numRef>
              <c:f>'Chart Data'!$E$2:$E$4</c:f>
              <c:numCache>
                <c:formatCode>General</c:formatCode>
                <c:ptCount val="3"/>
                <c:pt idx="0">
                  <c:v>0</c:v>
                </c:pt>
                <c:pt idx="1">
                  <c:v>85</c:v>
                </c:pt>
                <c:pt idx="2">
                  <c:v>100</c:v>
                </c:pt>
              </c:numCache>
            </c:numRef>
          </c:xVal>
          <c:yVal>
            <c:numRef>
              <c:f>'Chart Data'!$F$2:$F$4</c:f>
              <c:numCache>
                <c:formatCode>0</c:formatCode>
                <c:ptCount val="3"/>
                <c:pt idx="0">
                  <c:v>5</c:v>
                </c:pt>
                <c:pt idx="1">
                  <c:v>5</c:v>
                </c:pt>
                <c:pt idx="2">
                  <c:v>5</c:v>
                </c:pt>
              </c:numCache>
            </c:numRef>
          </c:yVal>
          <c:smooth val="0"/>
        </c:ser>
        <c:ser>
          <c:idx val="3"/>
          <c:order val="3"/>
          <c:tx>
            <c:v>P = GO = MO</c:v>
          </c:tx>
          <c:spPr>
            <a:ln xmlns:a="http://schemas.openxmlformats.org/drawingml/2006/main" w="33338">
              <a:solidFill>
                <a:srgbClr val="17658A"/>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17658A"/>
                        </a:solidFill>
                        <a:latin typeface="Arial"/>
                        <a:ea typeface="Arial"/>
                        <a:cs typeface="Arial"/>
                      </a:rPr>
                      <a:t>P₁ = 6</a:t>
                    </a:r>
                  </a:p>
                </c:rich>
              </c:tx>
              <c:txPr>
                <a:bodyPr xmlns:a="http://schemas.openxmlformats.org/drawingml/2006/main" anchorCtr="1"/>
                <a:lstStyle xmlns:a="http://schemas.openxmlformats.org/drawingml/2006/main"/>
                <a:p xmlns:a="http://schemas.openxmlformats.org/drawingml/2006/main">
                  <a:pPr>
                    <a:defRPr sz="1800" b="1">
                      <a:solidFill>
                        <a:srgbClr val="17658A"/>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Data'!$G$2:$G$4</c:f>
              <c:numCache>
                <c:formatCode>General</c:formatCode>
                <c:ptCount val="3"/>
                <c:pt idx="0">
                  <c:v>0</c:v>
                </c:pt>
                <c:pt idx="1">
                  <c:v>85</c:v>
                </c:pt>
                <c:pt idx="2">
                  <c:v>100</c:v>
                </c:pt>
              </c:numCache>
            </c:numRef>
          </c:xVal>
          <c:yVal>
            <c:numRef>
              <c:f>'Chart Data'!$H$2:$H$4</c:f>
              <c:numCache>
                <c:formatCode>0</c:formatCode>
                <c:ptCount val="3"/>
                <c:pt idx="0">
                  <c:v>6</c:v>
                </c:pt>
                <c:pt idx="1">
                  <c:v>6</c:v>
                </c:pt>
                <c:pt idx="2">
                  <c:v>6</c:v>
                </c:pt>
              </c:numCache>
            </c:numRef>
          </c:yVal>
          <c:smooth val="0"/>
        </c:ser>
        <c:ser>
          <c:idx val="4"/>
          <c:order val="4"/>
          <c:tx>
            <c:v>Hulplijn</c:v>
          </c:tx>
          <c:spPr>
            <a:ln xmlns:a="http://schemas.openxmlformats.org/drawingml/2006/main" w="14288">
              <a:solidFill>
                <a:srgbClr val="445B6B"/>
              </a:solidFill>
              <a:prstDash val="dash"/>
            </a:ln>
          </c:spPr>
          <c:marker>
            <c:symbol val="none"/>
            <c:size val="3"/>
          </c:marker>
          <c:xVal>
            <c:numRef>
              <c:f>'Chart Data'!$I$2:$I$4</c:f>
              <c:numCache>
                <c:formatCode>General</c:formatCode>
                <c:ptCount val="3"/>
                <c:pt idx="0">
                  <c:v>0</c:v>
                </c:pt>
                <c:pt idx="1">
                  <c:v>30</c:v>
                </c:pt>
                <c:pt idx="2">
                  <c:v>30</c:v>
                </c:pt>
              </c:numCache>
            </c:numRef>
          </c:xVal>
          <c:yVal>
            <c:numRef>
              <c:f>'Chart Data'!$J$2:$J$4</c:f>
              <c:numCache>
                <c:formatCode>0</c:formatCode>
                <c:ptCount val="3"/>
                <c:pt idx="0">
                  <c:v>6</c:v>
                </c:pt>
                <c:pt idx="1">
                  <c:v>6</c:v>
                </c:pt>
                <c:pt idx="2">
                  <c:v>0</c:v>
                </c:pt>
              </c:numCache>
            </c:numRef>
          </c:yVal>
          <c:smooth val="0"/>
        </c:ser>
        <c:ser>
          <c:idx val="5"/>
          <c:order val="5"/>
          <c:tx>
            <c:v>Keuze</c:v>
          </c:tx>
          <c:spPr>
            <a:ln xmlns:a="http://schemas.openxmlformats.org/drawingml/2006/main" w="33338">
              <a:solidFill>
                <a:srgbClr val="183247"/>
              </a:solidFill>
            </a:ln>
          </c:spPr>
          <c:marker>
            <c:symbol val="circle"/>
            <c:size val="8"/>
            <c:spPr>
              <a:solidFill xmlns:a="http://schemas.openxmlformats.org/drawingml/2006/main">
                <a:srgbClr val="183247"/>
              </a:solidFill>
            </c:spPr>
          </c:marker>
          <c:xVal>
            <c:numRef>
              <c:f>'Chart Data'!$K$2:$K$2</c:f>
              <c:numCache>
                <c:formatCode>General</c:formatCode>
                <c:ptCount val="1"/>
                <c:pt idx="0">
                  <c:v>30</c:v>
                </c:pt>
              </c:numCache>
            </c:numRef>
          </c:xVal>
          <c:yVal>
            <c:numRef>
              <c:f>'Chart Data'!$L$2:$L$2</c:f>
              <c:numCache>
                <c:formatCode>0</c:formatCode>
                <c:ptCount val="1"/>
                <c:pt idx="0">
                  <c:v>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6"/>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MK en GTK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(kg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8.xml><?xml version="1.0" encoding="utf-8"?>
<c:chartSpace xmlns:c="http://schemas.openxmlformats.org/drawingml/2006/chart" xmlns:r="http://schemas.openxmlformats.org/officeDocument/2006/relationships">
  <c:lang val="en-US"/>
  <c:chart>
    <c:plotArea>
      <c:scatterChart>
        <c:scatterStyle val="line"/>
        <c:ser>
          <c:idx val="0"/>
          <c:order val="0"/>
          <c:tx>
            <c:v>V</c:v>
          </c:tx>
          <c:spPr>
            <a:ln xmlns:a="http://schemas.openxmlformats.org/drawingml/2006/main" w="33338">
              <a:solidFill>
                <a:srgbClr val="17658A"/>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17658A"/>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1800" b="1">
                      <a:solidFill>
                        <a:srgbClr val="17658A"/>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Data'!$A$2:$A$3</c:f>
              <c:numCache>
                <c:formatCode>General</c:formatCode>
                <c:ptCount val="2"/>
                <c:pt idx="0">
                  <c:v>0</c:v>
                </c:pt>
                <c:pt idx="1">
                  <c:v>40</c:v>
                </c:pt>
              </c:numCache>
            </c:numRef>
          </c:xVal>
          <c:yVal>
            <c:numRef>
              <c:f>'Chart Data'!$B$2:$B$3</c:f>
              <c:numCache>
                <c:formatCode>0</c:formatCode>
                <c:ptCount val="2"/>
                <c:pt idx="0">
                  <c:v>16</c:v>
                </c:pt>
                <c:pt idx="1">
                  <c:v>0</c:v>
                </c:pt>
              </c:numCache>
            </c:numRef>
          </c:yVal>
          <c:smooth val="0"/>
        </c:ser>
        <c:ser>
          <c:idx val="1"/>
          <c:order val="1"/>
          <c:tx>
            <c:v>A₀</c:v>
          </c:tx>
          <c:spPr>
            <a:ln xmlns:a="http://schemas.openxmlformats.org/drawingml/2006/main" w="33338">
              <a:solidFill>
                <a:srgbClr val="445B6B"/>
              </a:solidFill>
              <a:prstDash val="dash"/>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445B6B"/>
                        </a:solidFill>
                        <a:latin typeface="Arial"/>
                        <a:ea typeface="Arial"/>
                        <a:cs typeface="Arial"/>
                      </a:rPr>
                      <a:t>A₀</a:t>
                    </a:r>
                  </a:p>
                </c:rich>
              </c:tx>
              <c:txPr>
                <a:bodyPr xmlns:a="http://schemas.openxmlformats.org/drawingml/2006/main" anchorCtr="1"/>
                <a:lstStyle xmlns:a="http://schemas.openxmlformats.org/drawingml/2006/main"/>
                <a:p xmlns:a="http://schemas.openxmlformats.org/drawingml/2006/main">
                  <a:pPr>
                    <a:defRPr sz="1800" b="1">
                      <a:solidFill>
                        <a:srgbClr val="445B6B"/>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Data'!$C$2:$C$3</c:f>
              <c:numCache>
                <c:formatCode>General</c:formatCode>
                <c:ptCount val="2"/>
                <c:pt idx="0">
                  <c:v>0</c:v>
                </c:pt>
                <c:pt idx="1">
                  <c:v>25</c:v>
                </c:pt>
              </c:numCache>
            </c:numRef>
          </c:xVal>
          <c:yVal>
            <c:numRef>
              <c:f>'Chart Data'!$D$2:$D$3</c:f>
              <c:numCache>
                <c:formatCode>0</c:formatCode>
                <c:ptCount val="2"/>
                <c:pt idx="0">
                  <c:v>4</c:v>
                </c:pt>
                <c:pt idx="1">
                  <c:v>14</c:v>
                </c:pt>
              </c:numCache>
            </c:numRef>
          </c:yVal>
          <c:smooth val="0"/>
        </c:ser>
        <c:ser>
          <c:idx val="2"/>
          <c:order val="2"/>
          <c:tx>
            <c:v>A₁</c:v>
          </c:tx>
          <c:spPr>
            <a:ln xmlns:a="http://schemas.openxmlformats.org/drawingml/2006/main" w="33338">
              <a:solidFill>
                <a:srgbClr val="A94D16"/>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A94D16"/>
                        </a:solidFill>
                        <a:latin typeface="Arial"/>
                        <a:ea typeface="Arial"/>
                        <a:cs typeface="Arial"/>
                      </a:rPr>
                      <a:t>A₁</a:t>
                    </a:r>
                  </a:p>
                </c:rich>
              </c:tx>
              <c:txPr>
                <a:bodyPr xmlns:a="http://schemas.openxmlformats.org/drawingml/2006/main" anchorCtr="1"/>
                <a:lstStyle xmlns:a="http://schemas.openxmlformats.org/drawingml/2006/main"/>
                <a:p xmlns:a="http://schemas.openxmlformats.org/drawingml/2006/main">
                  <a:pPr>
                    <a:defRPr sz="1800" b="1">
                      <a:solidFill>
                        <a:srgbClr val="A94D1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Data'!$E$2:$E$3</c:f>
              <c:numCache>
                <c:formatCode>General</c:formatCode>
                <c:ptCount val="2"/>
                <c:pt idx="0">
                  <c:v>0</c:v>
                </c:pt>
                <c:pt idx="1">
                  <c:v>40</c:v>
                </c:pt>
              </c:numCache>
            </c:numRef>
          </c:xVal>
          <c:yVal>
            <c:numRef>
              <c:f>'Chart Data'!$F$2:$F$3</c:f>
              <c:numCache>
                <c:formatCode>0</c:formatCode>
                <c:ptCount val="2"/>
                <c:pt idx="0">
                  <c:v>4</c:v>
                </c:pt>
                <c:pt idx="1">
                  <c:v>12</c:v>
                </c:pt>
              </c:numCache>
            </c:numRef>
          </c:yVal>
          <c:smooth val="0"/>
        </c:ser>
        <c:ser>
          <c:idx val="3"/>
          <c:order val="3"/>
          <c:tx>
            <c:v>Hulplijn</c:v>
          </c:tx>
          <c:spPr>
            <a:ln xmlns:a="http://schemas.openxmlformats.org/drawingml/2006/main" w="14288">
              <a:solidFill>
                <a:srgbClr val="445B6B"/>
              </a:solidFill>
              <a:prstDash val="dash"/>
            </a:ln>
          </c:spPr>
          <c:marker>
            <c:symbol val="none"/>
            <c:size val="3"/>
          </c:marker>
          <c:xVal>
            <c:numRef>
              <c:f>'Chart Data'!$G$2:$G$4</c:f>
              <c:numCache>
                <c:formatCode>General</c:formatCode>
                <c:ptCount val="3"/>
                <c:pt idx="0">
                  <c:v>0</c:v>
                </c:pt>
                <c:pt idx="1">
                  <c:v>15</c:v>
                </c:pt>
                <c:pt idx="2">
                  <c:v>15</c:v>
                </c:pt>
              </c:numCache>
            </c:numRef>
          </c:xVal>
          <c:yVal>
            <c:numRef>
              <c:f>'Chart Data'!$H$2:$H$4</c:f>
              <c:numCache>
                <c:formatCode>0</c:formatCode>
                <c:ptCount val="3"/>
                <c:pt idx="0">
                  <c:v>10</c:v>
                </c:pt>
                <c:pt idx="1">
                  <c:v>10</c:v>
                </c:pt>
                <c:pt idx="2">
                  <c:v>0</c:v>
                </c:pt>
              </c:numCache>
            </c:numRef>
          </c:yVal>
          <c:smooth val="0"/>
        </c:ser>
        <c:ser>
          <c:idx val="4"/>
          <c:order val="4"/>
          <c:tx>
            <c:v>Hulplijn</c:v>
          </c:tx>
          <c:spPr>
            <a:ln xmlns:a="http://schemas.openxmlformats.org/drawingml/2006/main" w="14288">
              <a:solidFill>
                <a:srgbClr val="445B6B"/>
              </a:solidFill>
              <a:prstDash val="dash"/>
            </a:ln>
          </c:spPr>
          <c:marker>
            <c:symbol val="none"/>
            <c:size val="3"/>
          </c:marker>
          <c:xVal>
            <c:numRef>
              <c:f>'Chart Data'!$I$2:$I$4</c:f>
              <c:numCache>
                <c:formatCode>General</c:formatCode>
                <c:ptCount val="3"/>
                <c:pt idx="0">
                  <c:v>0</c:v>
                </c:pt>
                <c:pt idx="1">
                  <c:v>20</c:v>
                </c:pt>
                <c:pt idx="2">
                  <c:v>20</c:v>
                </c:pt>
              </c:numCache>
            </c:numRef>
          </c:xVal>
          <c:yVal>
            <c:numRef>
              <c:f>'Chart Data'!$J$2:$J$4</c:f>
              <c:numCache>
                <c:formatCode>0</c:formatCode>
                <c:ptCount val="3"/>
                <c:pt idx="0">
                  <c:v>8</c:v>
                </c:pt>
                <c:pt idx="1">
                  <c:v>8</c:v>
                </c:pt>
                <c:pt idx="2">
                  <c:v>0</c:v>
                </c:pt>
              </c:numCache>
            </c:numRef>
          </c:yVal>
          <c:smooth val="0"/>
        </c:ser>
        <c:ser>
          <c:idx val="5"/>
          <c:order val="5"/>
          <c:tx>
            <c:v>E₀</c:v>
          </c:tx>
          <c:spPr>
            <a:ln xmlns:a="http://schemas.openxmlformats.org/drawingml/2006/main" w="33338">
              <a:solidFill>
                <a:srgbClr val="183247"/>
              </a:solidFill>
            </a:ln>
          </c:spPr>
          <c:marker>
            <c:symbol val="circle"/>
            <c:size val="8"/>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00" b="1">
                        <a:solidFill>
                          <a:srgbClr val="183247"/>
                        </a:solidFill>
                        <a:latin typeface="Arial"/>
                        <a:ea typeface="Arial"/>
                        <a:cs typeface="Arial"/>
                      </a:rPr>
                      <a:t>E₀</a:t>
                    </a:r>
                  </a:p>
                </c:rich>
              </c:tx>
              <c:txPr>
                <a:bodyPr xmlns:a="http://schemas.openxmlformats.org/drawingml/2006/main" anchorCtr="1"/>
                <a:lstStyle xmlns:a="http://schemas.openxmlformats.org/drawingml/2006/main"/>
                <a:p xmlns:a="http://schemas.openxmlformats.org/drawingml/2006/main">
                  <a:pPr>
                    <a:defRPr sz="1800" b="1">
                      <a:solidFill>
                        <a:srgbClr val="183247"/>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Data'!$K$2:$K$2</c:f>
              <c:numCache>
                <c:formatCode>General</c:formatCode>
                <c:ptCount val="1"/>
                <c:pt idx="0">
                  <c:v>15</c:v>
                </c:pt>
              </c:numCache>
            </c:numRef>
          </c:xVal>
          <c:yVal>
            <c:numRef>
              <c:f>'Chart Data'!$L$2:$L$2</c:f>
              <c:numCache>
                <c:formatCode>0</c:formatCode>
                <c:ptCount val="1"/>
                <c:pt idx="0">
                  <c:v>10</c:v>
                </c:pt>
              </c:numCache>
            </c:numRef>
          </c:yVal>
          <c:smooth val="0"/>
        </c:ser>
        <c:ser>
          <c:idx val="6"/>
          <c:order val="6"/>
          <c:tx>
            <c:v>E₁</c:v>
          </c:tx>
          <c:spPr>
            <a:ln xmlns:a="http://schemas.openxmlformats.org/drawingml/2006/main" w="33338">
              <a:solidFill>
                <a:srgbClr val="183247"/>
              </a:solidFill>
            </a:ln>
          </c:spPr>
          <c:marker>
            <c:symbol val="circle"/>
            <c:size val="8"/>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00" b="1">
                        <a:solidFill>
                          <a:srgbClr val="183247"/>
                        </a:solidFill>
                        <a:latin typeface="Arial"/>
                        <a:ea typeface="Arial"/>
                        <a:cs typeface="Arial"/>
                      </a:rPr>
                      <a:t>E₁</a:t>
                    </a:r>
                  </a:p>
                </c:rich>
              </c:tx>
              <c:txPr>
                <a:bodyPr xmlns:a="http://schemas.openxmlformats.org/drawingml/2006/main" anchorCtr="1"/>
                <a:lstStyle xmlns:a="http://schemas.openxmlformats.org/drawingml/2006/main"/>
                <a:p xmlns:a="http://schemas.openxmlformats.org/drawingml/2006/main">
                  <a:pPr>
                    <a:defRPr sz="1800" b="1">
                      <a:solidFill>
                        <a:srgbClr val="183247"/>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Data'!$M$2:$M$2</c:f>
              <c:numCache>
                <c:formatCode>General</c:formatCode>
                <c:ptCount val="1"/>
                <c:pt idx="0">
                  <c:v>20</c:v>
                </c:pt>
              </c:numCache>
            </c:numRef>
          </c:xVal>
          <c:yVal>
            <c:numRef>
              <c:f>'Chart Data'!$N$2:$N$2</c:f>
              <c:numCache>
                <c:formatCode>0</c:formatCode>
                <c:ptCount val="1"/>
                <c:pt idx="0">
                  <c:v>8</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4"/>
      </c:valAx>
      <c:valAx>
        <c:axId val="48650112"/>
        <c:scaling>
          <c:orientation val="minMax"/>
          <c:max val="4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 1.000 kg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1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9.xml><?xml version="1.0" encoding="utf-8"?>
<c:chartSpace xmlns:c="http://schemas.openxmlformats.org/drawingml/2006/chart" xmlns:r="http://schemas.openxmlformats.org/officeDocument/2006/relationships">
  <c:lang val="en-US"/>
  <c:chart>
    <c:plotArea>
      <c:scatterChart>
        <c:scatterStyle val="line"/>
        <c:ser>
          <c:idx val="0"/>
          <c:order val="0"/>
          <c:tx>
            <c:v>MK</c:v>
          </c:tx>
          <c:spPr>
            <a:ln xmlns:a="http://schemas.openxmlformats.org/drawingml/2006/main" w="33338">
              <a:solidFill>
                <a:srgbClr val="20665B"/>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20665B"/>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1800" b="1">
                      <a:solidFill>
                        <a:srgbClr val="20665B"/>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Data'!$A$2:$A$3</c:f>
              <c:numCache>
                <c:formatCode>General</c:formatCode>
                <c:ptCount val="2"/>
                <c:pt idx="0">
                  <c:v>0</c:v>
                </c:pt>
                <c:pt idx="1">
                  <c:v>250</c:v>
                </c:pt>
              </c:numCache>
            </c:numRef>
          </c:xVal>
          <c:yVal>
            <c:numRef>
              <c:f>'Chart Data'!$B$2:$B$3</c:f>
              <c:numCache>
                <c:formatCode>0</c:formatCode>
                <c:ptCount val="2"/>
                <c:pt idx="0">
                  <c:v>4</c:v>
                </c:pt>
                <c:pt idx="1">
                  <c:v>14</c:v>
                </c:pt>
              </c:numCache>
            </c:numRef>
          </c:yVal>
          <c:smooth val="0"/>
        </c:ser>
        <c:ser>
          <c:idx val="1"/>
          <c:order val="1"/>
          <c:tx>
            <c:v>GTK</c:v>
          </c:tx>
          <c:spPr>
            <a:ln xmlns:a="http://schemas.openxmlformats.org/drawingml/2006/main" w="33338">
              <a:solidFill>
                <a:srgbClr val="A94D16"/>
              </a:solidFill>
            </a:ln>
          </c:spPr>
          <c:marker>
            <c:symbol val="none"/>
            <c:size val="3"/>
          </c:marker>
          <c:dLbls>
            <c:dLbl>
              <c:idx val="465"/>
              <c:tx>
                <c:rich>
                  <a:bodyPr xmlns:a="http://schemas.openxmlformats.org/drawingml/2006/main"/>
                  <a:lstStyle xmlns:a="http://schemas.openxmlformats.org/drawingml/2006/main"/>
                  <a:p xmlns:a="http://schemas.openxmlformats.org/drawingml/2006/main">
                    <a:r>
                      <a:rPr sz="1800" b="1">
                        <a:solidFill>
                          <a:srgbClr val="A94D16"/>
                        </a:solidFill>
                        <a:latin typeface="Arial"/>
                        <a:ea typeface="Arial"/>
                        <a:cs typeface="Arial"/>
                      </a:rPr>
                      <a:t>GTK</a:t>
                    </a:r>
                  </a:p>
                </c:rich>
              </c:tx>
              <c:txPr>
                <a:bodyPr xmlns:a="http://schemas.openxmlformats.org/drawingml/2006/main" anchorCtr="1"/>
                <a:lstStyle xmlns:a="http://schemas.openxmlformats.org/drawingml/2006/main"/>
                <a:p xmlns:a="http://schemas.openxmlformats.org/drawingml/2006/main">
                  <a:pPr>
                    <a:defRPr sz="1800" b="1">
                      <a:solidFill>
                        <a:srgbClr val="A94D16"/>
                      </a:solidFill>
                      <a:latin typeface="Arial"/>
                      <a:ea typeface="Arial"/>
                      <a:cs typeface="Arial"/>
                    </a:defRPr>
                  </a:pPr>
                </a:p>
              </c:txPr>
              <c:dLblPos val="b"/>
              <c:showLegendKey val="0"/>
              <c:showVal val="0"/>
              <c:showCatName val="0"/>
              <c:showSerName val="0"/>
              <c:showPercent val="0"/>
              <c:showBubbleSize val="0"/>
            </c:dLbl>
            <c:showLegendKey val="0"/>
            <c:showVal val="0"/>
            <c:showCatName val="0"/>
            <c:showSerName val="0"/>
            <c:showPercent val="0"/>
            <c:showBubbleSize val="0"/>
          </c:dLbls>
          <c:xVal>
            <c:numRef>
              <c:f>'Chart Data'!$C$2:$C$476</c:f>
              <c:numCache>
                <c:formatCode>General</c:formatCode>
                <c:ptCount val="475"/>
                <c:pt idx="0">
                  <c:v>13</c:v>
                </c:pt>
                <c:pt idx="1">
                  <c:v>13.5</c:v>
                </c:pt>
                <c:pt idx="2">
                  <c:v>14</c:v>
                </c:pt>
                <c:pt idx="3">
                  <c:v>14.5</c:v>
                </c:pt>
                <c:pt idx="4">
                  <c:v>15</c:v>
                </c:pt>
                <c:pt idx="5">
                  <c:v>15.5</c:v>
                </c:pt>
                <c:pt idx="6">
                  <c:v>16</c:v>
                </c:pt>
                <c:pt idx="7">
                  <c:v>16.5</c:v>
                </c:pt>
                <c:pt idx="8">
                  <c:v>17</c:v>
                </c:pt>
                <c:pt idx="9">
                  <c:v>17.5</c:v>
                </c:pt>
                <c:pt idx="10">
                  <c:v>18</c:v>
                </c:pt>
                <c:pt idx="11">
                  <c:v>18.5</c:v>
                </c:pt>
                <c:pt idx="12">
                  <c:v>19</c:v>
                </c:pt>
                <c:pt idx="13">
                  <c:v>19.5</c:v>
                </c:pt>
                <c:pt idx="14">
                  <c:v>20</c:v>
                </c:pt>
                <c:pt idx="15">
                  <c:v>20.5</c:v>
                </c:pt>
                <c:pt idx="16">
                  <c:v>21</c:v>
                </c:pt>
                <c:pt idx="17">
                  <c:v>21.5</c:v>
                </c:pt>
                <c:pt idx="18">
                  <c:v>22</c:v>
                </c:pt>
                <c:pt idx="19">
                  <c:v>22.5</c:v>
                </c:pt>
                <c:pt idx="20">
                  <c:v>23</c:v>
                </c:pt>
                <c:pt idx="21">
                  <c:v>23.5</c:v>
                </c:pt>
                <c:pt idx="22">
                  <c:v>24</c:v>
                </c:pt>
                <c:pt idx="23">
                  <c:v>24.5</c:v>
                </c:pt>
                <c:pt idx="24">
                  <c:v>25</c:v>
                </c:pt>
                <c:pt idx="25">
                  <c:v>25.5</c:v>
                </c:pt>
                <c:pt idx="26">
                  <c:v>26</c:v>
                </c:pt>
                <c:pt idx="27">
                  <c:v>26.5</c:v>
                </c:pt>
                <c:pt idx="28">
                  <c:v>27</c:v>
                </c:pt>
                <c:pt idx="29">
                  <c:v>27.5</c:v>
                </c:pt>
                <c:pt idx="30">
                  <c:v>28</c:v>
                </c:pt>
                <c:pt idx="31">
                  <c:v>28.5</c:v>
                </c:pt>
                <c:pt idx="32">
                  <c:v>29</c:v>
                </c:pt>
                <c:pt idx="33">
                  <c:v>29.5</c:v>
                </c:pt>
                <c:pt idx="34">
                  <c:v>30</c:v>
                </c:pt>
                <c:pt idx="35">
                  <c:v>30.5</c:v>
                </c:pt>
                <c:pt idx="36">
                  <c:v>31</c:v>
                </c:pt>
                <c:pt idx="37">
                  <c:v>31.5</c:v>
                </c:pt>
                <c:pt idx="38">
                  <c:v>32</c:v>
                </c:pt>
                <c:pt idx="39">
                  <c:v>32.5</c:v>
                </c:pt>
                <c:pt idx="40">
                  <c:v>33</c:v>
                </c:pt>
                <c:pt idx="41">
                  <c:v>33.5</c:v>
                </c:pt>
                <c:pt idx="42">
                  <c:v>34</c:v>
                </c:pt>
                <c:pt idx="43">
                  <c:v>34.5</c:v>
                </c:pt>
                <c:pt idx="44">
                  <c:v>35</c:v>
                </c:pt>
                <c:pt idx="45">
                  <c:v>35.5</c:v>
                </c:pt>
                <c:pt idx="46">
                  <c:v>36</c:v>
                </c:pt>
                <c:pt idx="47">
                  <c:v>36.5</c:v>
                </c:pt>
                <c:pt idx="48">
                  <c:v>37</c:v>
                </c:pt>
                <c:pt idx="49">
                  <c:v>37.5</c:v>
                </c:pt>
                <c:pt idx="50">
                  <c:v>38</c:v>
                </c:pt>
                <c:pt idx="51">
                  <c:v>38.5</c:v>
                </c:pt>
                <c:pt idx="52">
                  <c:v>39</c:v>
                </c:pt>
                <c:pt idx="53">
                  <c:v>39.5</c:v>
                </c:pt>
                <c:pt idx="54">
                  <c:v>40</c:v>
                </c:pt>
                <c:pt idx="55">
                  <c:v>40.5</c:v>
                </c:pt>
                <c:pt idx="56">
                  <c:v>41</c:v>
                </c:pt>
                <c:pt idx="57">
                  <c:v>41.5</c:v>
                </c:pt>
                <c:pt idx="58">
                  <c:v>42</c:v>
                </c:pt>
                <c:pt idx="59">
                  <c:v>42.5</c:v>
                </c:pt>
                <c:pt idx="60">
                  <c:v>43</c:v>
                </c:pt>
                <c:pt idx="61">
                  <c:v>43.5</c:v>
                </c:pt>
                <c:pt idx="62">
                  <c:v>44</c:v>
                </c:pt>
                <c:pt idx="63">
                  <c:v>44.5</c:v>
                </c:pt>
                <c:pt idx="64">
                  <c:v>45</c:v>
                </c:pt>
                <c:pt idx="65">
                  <c:v>45.5</c:v>
                </c:pt>
                <c:pt idx="66">
                  <c:v>46</c:v>
                </c:pt>
                <c:pt idx="67">
                  <c:v>46.5</c:v>
                </c:pt>
                <c:pt idx="68">
                  <c:v>47</c:v>
                </c:pt>
                <c:pt idx="69">
                  <c:v>47.5</c:v>
                </c:pt>
                <c:pt idx="70">
                  <c:v>48</c:v>
                </c:pt>
                <c:pt idx="71">
                  <c:v>48.5</c:v>
                </c:pt>
                <c:pt idx="72">
                  <c:v>49</c:v>
                </c:pt>
                <c:pt idx="73">
                  <c:v>49.5</c:v>
                </c:pt>
                <c:pt idx="74">
                  <c:v>50</c:v>
                </c:pt>
                <c:pt idx="75">
                  <c:v>50.5</c:v>
                </c:pt>
                <c:pt idx="76">
                  <c:v>51</c:v>
                </c:pt>
                <c:pt idx="77">
                  <c:v>51.5</c:v>
                </c:pt>
                <c:pt idx="78">
                  <c:v>52</c:v>
                </c:pt>
                <c:pt idx="79">
                  <c:v>52.5</c:v>
                </c:pt>
                <c:pt idx="80">
                  <c:v>53</c:v>
                </c:pt>
                <c:pt idx="81">
                  <c:v>53.5</c:v>
                </c:pt>
                <c:pt idx="82">
                  <c:v>54</c:v>
                </c:pt>
                <c:pt idx="83">
                  <c:v>54.5</c:v>
                </c:pt>
                <c:pt idx="84">
                  <c:v>55</c:v>
                </c:pt>
                <c:pt idx="85">
                  <c:v>55.5</c:v>
                </c:pt>
                <c:pt idx="86">
                  <c:v>56</c:v>
                </c:pt>
                <c:pt idx="87">
                  <c:v>56.5</c:v>
                </c:pt>
                <c:pt idx="88">
                  <c:v>57</c:v>
                </c:pt>
                <c:pt idx="89">
                  <c:v>57.5</c:v>
                </c:pt>
                <c:pt idx="90">
                  <c:v>58</c:v>
                </c:pt>
                <c:pt idx="91">
                  <c:v>58.5</c:v>
                </c:pt>
                <c:pt idx="92">
                  <c:v>59</c:v>
                </c:pt>
                <c:pt idx="93">
                  <c:v>59.5</c:v>
                </c:pt>
                <c:pt idx="94">
                  <c:v>60</c:v>
                </c:pt>
                <c:pt idx="95">
                  <c:v>60.5</c:v>
                </c:pt>
                <c:pt idx="96">
                  <c:v>61</c:v>
                </c:pt>
                <c:pt idx="97">
                  <c:v>61.5</c:v>
                </c:pt>
                <c:pt idx="98">
                  <c:v>62</c:v>
                </c:pt>
                <c:pt idx="99">
                  <c:v>62.5</c:v>
                </c:pt>
                <c:pt idx="100">
                  <c:v>63</c:v>
                </c:pt>
                <c:pt idx="101">
                  <c:v>63.5</c:v>
                </c:pt>
                <c:pt idx="102">
                  <c:v>64</c:v>
                </c:pt>
                <c:pt idx="103">
                  <c:v>64.5</c:v>
                </c:pt>
                <c:pt idx="104">
                  <c:v>65</c:v>
                </c:pt>
                <c:pt idx="105">
                  <c:v>65.5</c:v>
                </c:pt>
                <c:pt idx="106">
                  <c:v>66</c:v>
                </c:pt>
                <c:pt idx="107">
                  <c:v>66.5</c:v>
                </c:pt>
                <c:pt idx="108">
                  <c:v>67</c:v>
                </c:pt>
                <c:pt idx="109">
                  <c:v>67.5</c:v>
                </c:pt>
                <c:pt idx="110">
                  <c:v>68</c:v>
                </c:pt>
                <c:pt idx="111">
                  <c:v>68.5</c:v>
                </c:pt>
                <c:pt idx="112">
                  <c:v>69</c:v>
                </c:pt>
                <c:pt idx="113">
                  <c:v>69.5</c:v>
                </c:pt>
                <c:pt idx="114">
                  <c:v>70</c:v>
                </c:pt>
                <c:pt idx="115">
                  <c:v>70.5</c:v>
                </c:pt>
                <c:pt idx="116">
                  <c:v>71</c:v>
                </c:pt>
                <c:pt idx="117">
                  <c:v>71.5</c:v>
                </c:pt>
                <c:pt idx="118">
                  <c:v>72</c:v>
                </c:pt>
                <c:pt idx="119">
                  <c:v>72.5</c:v>
                </c:pt>
                <c:pt idx="120">
                  <c:v>73</c:v>
                </c:pt>
                <c:pt idx="121">
                  <c:v>73.5</c:v>
                </c:pt>
                <c:pt idx="122">
                  <c:v>74</c:v>
                </c:pt>
                <c:pt idx="123">
                  <c:v>74.5</c:v>
                </c:pt>
                <c:pt idx="124">
                  <c:v>75</c:v>
                </c:pt>
                <c:pt idx="125">
                  <c:v>75.5</c:v>
                </c:pt>
                <c:pt idx="126">
                  <c:v>76</c:v>
                </c:pt>
                <c:pt idx="127">
                  <c:v>76.5</c:v>
                </c:pt>
                <c:pt idx="128">
                  <c:v>77</c:v>
                </c:pt>
                <c:pt idx="129">
                  <c:v>77.5</c:v>
                </c:pt>
                <c:pt idx="130">
                  <c:v>78</c:v>
                </c:pt>
                <c:pt idx="131">
                  <c:v>78.5</c:v>
                </c:pt>
                <c:pt idx="132">
                  <c:v>79</c:v>
                </c:pt>
                <c:pt idx="133">
                  <c:v>79.5</c:v>
                </c:pt>
                <c:pt idx="134">
                  <c:v>80</c:v>
                </c:pt>
                <c:pt idx="135">
                  <c:v>80.5</c:v>
                </c:pt>
                <c:pt idx="136">
                  <c:v>81</c:v>
                </c:pt>
                <c:pt idx="137">
                  <c:v>81.5</c:v>
                </c:pt>
                <c:pt idx="138">
                  <c:v>82</c:v>
                </c:pt>
                <c:pt idx="139">
                  <c:v>82.5</c:v>
                </c:pt>
                <c:pt idx="140">
                  <c:v>83</c:v>
                </c:pt>
                <c:pt idx="141">
                  <c:v>83.5</c:v>
                </c:pt>
                <c:pt idx="142">
                  <c:v>84</c:v>
                </c:pt>
                <c:pt idx="143">
                  <c:v>84.5</c:v>
                </c:pt>
                <c:pt idx="144">
                  <c:v>85</c:v>
                </c:pt>
                <c:pt idx="145">
                  <c:v>85.5</c:v>
                </c:pt>
                <c:pt idx="146">
                  <c:v>86</c:v>
                </c:pt>
                <c:pt idx="147">
                  <c:v>86.5</c:v>
                </c:pt>
                <c:pt idx="148">
                  <c:v>87</c:v>
                </c:pt>
                <c:pt idx="149">
                  <c:v>87.5</c:v>
                </c:pt>
                <c:pt idx="150">
                  <c:v>88</c:v>
                </c:pt>
                <c:pt idx="151">
                  <c:v>88.5</c:v>
                </c:pt>
                <c:pt idx="152">
                  <c:v>89</c:v>
                </c:pt>
                <c:pt idx="153">
                  <c:v>89.5</c:v>
                </c:pt>
                <c:pt idx="154">
                  <c:v>90</c:v>
                </c:pt>
                <c:pt idx="155">
                  <c:v>90.5</c:v>
                </c:pt>
                <c:pt idx="156">
                  <c:v>91</c:v>
                </c:pt>
                <c:pt idx="157">
                  <c:v>91.5</c:v>
                </c:pt>
                <c:pt idx="158">
                  <c:v>92</c:v>
                </c:pt>
                <c:pt idx="159">
                  <c:v>92.5</c:v>
                </c:pt>
                <c:pt idx="160">
                  <c:v>93</c:v>
                </c:pt>
                <c:pt idx="161">
                  <c:v>93.5</c:v>
                </c:pt>
                <c:pt idx="162">
                  <c:v>94</c:v>
                </c:pt>
                <c:pt idx="163">
                  <c:v>94.5</c:v>
                </c:pt>
                <c:pt idx="164">
                  <c:v>95</c:v>
                </c:pt>
                <c:pt idx="165">
                  <c:v>95.5</c:v>
                </c:pt>
                <c:pt idx="166">
                  <c:v>96</c:v>
                </c:pt>
                <c:pt idx="167">
                  <c:v>96.5</c:v>
                </c:pt>
                <c:pt idx="168">
                  <c:v>97</c:v>
                </c:pt>
                <c:pt idx="169">
                  <c:v>97.5</c:v>
                </c:pt>
                <c:pt idx="170">
                  <c:v>98</c:v>
                </c:pt>
                <c:pt idx="171">
                  <c:v>98.5</c:v>
                </c:pt>
                <c:pt idx="172">
                  <c:v>99</c:v>
                </c:pt>
                <c:pt idx="173">
                  <c:v>99.5</c:v>
                </c:pt>
                <c:pt idx="174">
                  <c:v>100</c:v>
                </c:pt>
                <c:pt idx="175">
                  <c:v>100.5</c:v>
                </c:pt>
                <c:pt idx="176">
                  <c:v>101</c:v>
                </c:pt>
                <c:pt idx="177">
                  <c:v>101.5</c:v>
                </c:pt>
                <c:pt idx="178">
                  <c:v>102</c:v>
                </c:pt>
                <c:pt idx="179">
                  <c:v>102.5</c:v>
                </c:pt>
                <c:pt idx="180">
                  <c:v>103</c:v>
                </c:pt>
                <c:pt idx="181">
                  <c:v>103.5</c:v>
                </c:pt>
                <c:pt idx="182">
                  <c:v>104</c:v>
                </c:pt>
                <c:pt idx="183">
                  <c:v>104.5</c:v>
                </c:pt>
                <c:pt idx="184">
                  <c:v>105</c:v>
                </c:pt>
                <c:pt idx="185">
                  <c:v>105.5</c:v>
                </c:pt>
                <c:pt idx="186">
                  <c:v>106</c:v>
                </c:pt>
                <c:pt idx="187">
                  <c:v>106.5</c:v>
                </c:pt>
                <c:pt idx="188">
                  <c:v>107</c:v>
                </c:pt>
                <c:pt idx="189">
                  <c:v>107.5</c:v>
                </c:pt>
                <c:pt idx="190">
                  <c:v>108</c:v>
                </c:pt>
                <c:pt idx="191">
                  <c:v>108.5</c:v>
                </c:pt>
                <c:pt idx="192">
                  <c:v>109</c:v>
                </c:pt>
                <c:pt idx="193">
                  <c:v>109.5</c:v>
                </c:pt>
                <c:pt idx="194">
                  <c:v>110</c:v>
                </c:pt>
                <c:pt idx="195">
                  <c:v>110.5</c:v>
                </c:pt>
                <c:pt idx="196">
                  <c:v>111</c:v>
                </c:pt>
                <c:pt idx="197">
                  <c:v>111.5</c:v>
                </c:pt>
                <c:pt idx="198">
                  <c:v>112</c:v>
                </c:pt>
                <c:pt idx="199">
                  <c:v>112.5</c:v>
                </c:pt>
                <c:pt idx="200">
                  <c:v>113</c:v>
                </c:pt>
                <c:pt idx="201">
                  <c:v>113.5</c:v>
                </c:pt>
                <c:pt idx="202">
                  <c:v>114</c:v>
                </c:pt>
                <c:pt idx="203">
                  <c:v>114.5</c:v>
                </c:pt>
                <c:pt idx="204">
                  <c:v>115</c:v>
                </c:pt>
                <c:pt idx="205">
                  <c:v>115.5</c:v>
                </c:pt>
                <c:pt idx="206">
                  <c:v>116</c:v>
                </c:pt>
                <c:pt idx="207">
                  <c:v>116.5</c:v>
                </c:pt>
                <c:pt idx="208">
                  <c:v>117</c:v>
                </c:pt>
                <c:pt idx="209">
                  <c:v>117.5</c:v>
                </c:pt>
                <c:pt idx="210">
                  <c:v>118</c:v>
                </c:pt>
                <c:pt idx="211">
                  <c:v>118.5</c:v>
                </c:pt>
                <c:pt idx="212">
                  <c:v>119</c:v>
                </c:pt>
                <c:pt idx="213">
                  <c:v>119.5</c:v>
                </c:pt>
                <c:pt idx="214">
                  <c:v>120</c:v>
                </c:pt>
                <c:pt idx="215">
                  <c:v>120.5</c:v>
                </c:pt>
                <c:pt idx="216">
                  <c:v>121</c:v>
                </c:pt>
                <c:pt idx="217">
                  <c:v>121.5</c:v>
                </c:pt>
                <c:pt idx="218">
                  <c:v>122</c:v>
                </c:pt>
                <c:pt idx="219">
                  <c:v>122.5</c:v>
                </c:pt>
                <c:pt idx="220">
                  <c:v>123</c:v>
                </c:pt>
                <c:pt idx="221">
                  <c:v>123.5</c:v>
                </c:pt>
                <c:pt idx="222">
                  <c:v>124</c:v>
                </c:pt>
                <c:pt idx="223">
                  <c:v>124.5</c:v>
                </c:pt>
                <c:pt idx="224">
                  <c:v>125</c:v>
                </c:pt>
                <c:pt idx="225">
                  <c:v>125.5</c:v>
                </c:pt>
                <c:pt idx="226">
                  <c:v>126</c:v>
                </c:pt>
                <c:pt idx="227">
                  <c:v>126.5</c:v>
                </c:pt>
                <c:pt idx="228">
                  <c:v>127</c:v>
                </c:pt>
                <c:pt idx="229">
                  <c:v>127.5</c:v>
                </c:pt>
                <c:pt idx="230">
                  <c:v>128</c:v>
                </c:pt>
                <c:pt idx="231">
                  <c:v>128.5</c:v>
                </c:pt>
                <c:pt idx="232">
                  <c:v>129</c:v>
                </c:pt>
                <c:pt idx="233">
                  <c:v>129.5</c:v>
                </c:pt>
                <c:pt idx="234">
                  <c:v>130</c:v>
                </c:pt>
                <c:pt idx="235">
                  <c:v>130.5</c:v>
                </c:pt>
                <c:pt idx="236">
                  <c:v>131</c:v>
                </c:pt>
                <c:pt idx="237">
                  <c:v>131.5</c:v>
                </c:pt>
                <c:pt idx="238">
                  <c:v>132</c:v>
                </c:pt>
                <c:pt idx="239">
                  <c:v>132.5</c:v>
                </c:pt>
                <c:pt idx="240">
                  <c:v>133</c:v>
                </c:pt>
                <c:pt idx="241">
                  <c:v>133.5</c:v>
                </c:pt>
                <c:pt idx="242">
                  <c:v>134</c:v>
                </c:pt>
                <c:pt idx="243">
                  <c:v>134.5</c:v>
                </c:pt>
                <c:pt idx="244">
                  <c:v>135</c:v>
                </c:pt>
                <c:pt idx="245">
                  <c:v>135.5</c:v>
                </c:pt>
                <c:pt idx="246">
                  <c:v>136</c:v>
                </c:pt>
                <c:pt idx="247">
                  <c:v>136.5</c:v>
                </c:pt>
                <c:pt idx="248">
                  <c:v>137</c:v>
                </c:pt>
                <c:pt idx="249">
                  <c:v>137.5</c:v>
                </c:pt>
                <c:pt idx="250">
                  <c:v>138</c:v>
                </c:pt>
                <c:pt idx="251">
                  <c:v>138.5</c:v>
                </c:pt>
                <c:pt idx="252">
                  <c:v>139</c:v>
                </c:pt>
                <c:pt idx="253">
                  <c:v>139.5</c:v>
                </c:pt>
                <c:pt idx="254">
                  <c:v>140</c:v>
                </c:pt>
                <c:pt idx="255">
                  <c:v>140.5</c:v>
                </c:pt>
                <c:pt idx="256">
                  <c:v>141</c:v>
                </c:pt>
                <c:pt idx="257">
                  <c:v>141.5</c:v>
                </c:pt>
                <c:pt idx="258">
                  <c:v>142</c:v>
                </c:pt>
                <c:pt idx="259">
                  <c:v>142.5</c:v>
                </c:pt>
                <c:pt idx="260">
                  <c:v>143</c:v>
                </c:pt>
                <c:pt idx="261">
                  <c:v>143.5</c:v>
                </c:pt>
                <c:pt idx="262">
                  <c:v>144</c:v>
                </c:pt>
                <c:pt idx="263">
                  <c:v>144.5</c:v>
                </c:pt>
                <c:pt idx="264">
                  <c:v>145</c:v>
                </c:pt>
                <c:pt idx="265">
                  <c:v>145.5</c:v>
                </c:pt>
                <c:pt idx="266">
                  <c:v>146</c:v>
                </c:pt>
                <c:pt idx="267">
                  <c:v>146.5</c:v>
                </c:pt>
                <c:pt idx="268">
                  <c:v>147</c:v>
                </c:pt>
                <c:pt idx="269">
                  <c:v>147.5</c:v>
                </c:pt>
                <c:pt idx="270">
                  <c:v>148</c:v>
                </c:pt>
                <c:pt idx="271">
                  <c:v>148.5</c:v>
                </c:pt>
                <c:pt idx="272">
                  <c:v>149</c:v>
                </c:pt>
                <c:pt idx="273">
                  <c:v>149.5</c:v>
                </c:pt>
                <c:pt idx="274">
                  <c:v>150</c:v>
                </c:pt>
                <c:pt idx="275">
                  <c:v>150.5</c:v>
                </c:pt>
                <c:pt idx="276">
                  <c:v>151</c:v>
                </c:pt>
                <c:pt idx="277">
                  <c:v>151.5</c:v>
                </c:pt>
                <c:pt idx="278">
                  <c:v>152</c:v>
                </c:pt>
                <c:pt idx="279">
                  <c:v>152.5</c:v>
                </c:pt>
                <c:pt idx="280">
                  <c:v>153</c:v>
                </c:pt>
                <c:pt idx="281">
                  <c:v>153.5</c:v>
                </c:pt>
                <c:pt idx="282">
                  <c:v>154</c:v>
                </c:pt>
                <c:pt idx="283">
                  <c:v>154.5</c:v>
                </c:pt>
                <c:pt idx="284">
                  <c:v>155</c:v>
                </c:pt>
                <c:pt idx="285">
                  <c:v>155.5</c:v>
                </c:pt>
                <c:pt idx="286">
                  <c:v>156</c:v>
                </c:pt>
                <c:pt idx="287">
                  <c:v>156.5</c:v>
                </c:pt>
                <c:pt idx="288">
                  <c:v>157</c:v>
                </c:pt>
                <c:pt idx="289">
                  <c:v>157.5</c:v>
                </c:pt>
                <c:pt idx="290">
                  <c:v>158</c:v>
                </c:pt>
                <c:pt idx="291">
                  <c:v>158.5</c:v>
                </c:pt>
                <c:pt idx="292">
                  <c:v>159</c:v>
                </c:pt>
                <c:pt idx="293">
                  <c:v>159.5</c:v>
                </c:pt>
                <c:pt idx="294">
                  <c:v>160</c:v>
                </c:pt>
                <c:pt idx="295">
                  <c:v>160.5</c:v>
                </c:pt>
                <c:pt idx="296">
                  <c:v>161</c:v>
                </c:pt>
                <c:pt idx="297">
                  <c:v>161.5</c:v>
                </c:pt>
                <c:pt idx="298">
                  <c:v>162</c:v>
                </c:pt>
                <c:pt idx="299">
                  <c:v>162.5</c:v>
                </c:pt>
                <c:pt idx="300">
                  <c:v>163</c:v>
                </c:pt>
                <c:pt idx="301">
                  <c:v>163.5</c:v>
                </c:pt>
                <c:pt idx="302">
                  <c:v>164</c:v>
                </c:pt>
                <c:pt idx="303">
                  <c:v>164.5</c:v>
                </c:pt>
                <c:pt idx="304">
                  <c:v>165</c:v>
                </c:pt>
                <c:pt idx="305">
                  <c:v>165.5</c:v>
                </c:pt>
                <c:pt idx="306">
                  <c:v>166</c:v>
                </c:pt>
                <c:pt idx="307">
                  <c:v>166.5</c:v>
                </c:pt>
                <c:pt idx="308">
                  <c:v>167</c:v>
                </c:pt>
                <c:pt idx="309">
                  <c:v>167.5</c:v>
                </c:pt>
                <c:pt idx="310">
                  <c:v>168</c:v>
                </c:pt>
                <c:pt idx="311">
                  <c:v>168.5</c:v>
                </c:pt>
                <c:pt idx="312">
                  <c:v>169</c:v>
                </c:pt>
                <c:pt idx="313">
                  <c:v>169.5</c:v>
                </c:pt>
                <c:pt idx="314">
                  <c:v>170</c:v>
                </c:pt>
                <c:pt idx="315">
                  <c:v>170.5</c:v>
                </c:pt>
                <c:pt idx="316">
                  <c:v>171</c:v>
                </c:pt>
                <c:pt idx="317">
                  <c:v>171.5</c:v>
                </c:pt>
                <c:pt idx="318">
                  <c:v>172</c:v>
                </c:pt>
                <c:pt idx="319">
                  <c:v>172.5</c:v>
                </c:pt>
                <c:pt idx="320">
                  <c:v>173</c:v>
                </c:pt>
                <c:pt idx="321">
                  <c:v>173.5</c:v>
                </c:pt>
                <c:pt idx="322">
                  <c:v>174</c:v>
                </c:pt>
                <c:pt idx="323">
                  <c:v>174.5</c:v>
                </c:pt>
                <c:pt idx="324">
                  <c:v>175</c:v>
                </c:pt>
                <c:pt idx="325">
                  <c:v>175.5</c:v>
                </c:pt>
                <c:pt idx="326">
                  <c:v>176</c:v>
                </c:pt>
                <c:pt idx="327">
                  <c:v>176.5</c:v>
                </c:pt>
                <c:pt idx="328">
                  <c:v>177</c:v>
                </c:pt>
                <c:pt idx="329">
                  <c:v>177.5</c:v>
                </c:pt>
                <c:pt idx="330">
                  <c:v>178</c:v>
                </c:pt>
                <c:pt idx="331">
                  <c:v>178.5</c:v>
                </c:pt>
                <c:pt idx="332">
                  <c:v>179</c:v>
                </c:pt>
                <c:pt idx="333">
                  <c:v>179.5</c:v>
                </c:pt>
                <c:pt idx="334">
                  <c:v>180</c:v>
                </c:pt>
                <c:pt idx="335">
                  <c:v>180.5</c:v>
                </c:pt>
                <c:pt idx="336">
                  <c:v>181</c:v>
                </c:pt>
                <c:pt idx="337">
                  <c:v>181.5</c:v>
                </c:pt>
                <c:pt idx="338">
                  <c:v>182</c:v>
                </c:pt>
                <c:pt idx="339">
                  <c:v>182.5</c:v>
                </c:pt>
                <c:pt idx="340">
                  <c:v>183</c:v>
                </c:pt>
                <c:pt idx="341">
                  <c:v>183.5</c:v>
                </c:pt>
                <c:pt idx="342">
                  <c:v>184</c:v>
                </c:pt>
                <c:pt idx="343">
                  <c:v>184.5</c:v>
                </c:pt>
                <c:pt idx="344">
                  <c:v>185</c:v>
                </c:pt>
                <c:pt idx="345">
                  <c:v>185.5</c:v>
                </c:pt>
                <c:pt idx="346">
                  <c:v>186</c:v>
                </c:pt>
                <c:pt idx="347">
                  <c:v>186.5</c:v>
                </c:pt>
                <c:pt idx="348">
                  <c:v>187</c:v>
                </c:pt>
                <c:pt idx="349">
                  <c:v>187.5</c:v>
                </c:pt>
                <c:pt idx="350">
                  <c:v>188</c:v>
                </c:pt>
                <c:pt idx="351">
                  <c:v>188.5</c:v>
                </c:pt>
                <c:pt idx="352">
                  <c:v>189</c:v>
                </c:pt>
                <c:pt idx="353">
                  <c:v>189.5</c:v>
                </c:pt>
                <c:pt idx="354">
                  <c:v>190</c:v>
                </c:pt>
                <c:pt idx="355">
                  <c:v>190.5</c:v>
                </c:pt>
                <c:pt idx="356">
                  <c:v>191</c:v>
                </c:pt>
                <c:pt idx="357">
                  <c:v>191.5</c:v>
                </c:pt>
                <c:pt idx="358">
                  <c:v>192</c:v>
                </c:pt>
                <c:pt idx="359">
                  <c:v>192.5</c:v>
                </c:pt>
                <c:pt idx="360">
                  <c:v>193</c:v>
                </c:pt>
                <c:pt idx="361">
                  <c:v>193.5</c:v>
                </c:pt>
                <c:pt idx="362">
                  <c:v>194</c:v>
                </c:pt>
                <c:pt idx="363">
                  <c:v>194.5</c:v>
                </c:pt>
                <c:pt idx="364">
                  <c:v>195</c:v>
                </c:pt>
                <c:pt idx="365">
                  <c:v>195.5</c:v>
                </c:pt>
                <c:pt idx="366">
                  <c:v>196</c:v>
                </c:pt>
                <c:pt idx="367">
                  <c:v>196.5</c:v>
                </c:pt>
                <c:pt idx="368">
                  <c:v>197</c:v>
                </c:pt>
                <c:pt idx="369">
                  <c:v>197.5</c:v>
                </c:pt>
                <c:pt idx="370">
                  <c:v>198</c:v>
                </c:pt>
                <c:pt idx="371">
                  <c:v>198.5</c:v>
                </c:pt>
                <c:pt idx="372">
                  <c:v>199</c:v>
                </c:pt>
                <c:pt idx="373">
                  <c:v>199.5</c:v>
                </c:pt>
                <c:pt idx="374">
                  <c:v>200</c:v>
                </c:pt>
                <c:pt idx="375">
                  <c:v>200.5</c:v>
                </c:pt>
                <c:pt idx="376">
                  <c:v>201</c:v>
                </c:pt>
                <c:pt idx="377">
                  <c:v>201.5</c:v>
                </c:pt>
                <c:pt idx="378">
                  <c:v>202</c:v>
                </c:pt>
                <c:pt idx="379">
                  <c:v>202.5</c:v>
                </c:pt>
                <c:pt idx="380">
                  <c:v>203</c:v>
                </c:pt>
                <c:pt idx="381">
                  <c:v>203.5</c:v>
                </c:pt>
                <c:pt idx="382">
                  <c:v>204</c:v>
                </c:pt>
                <c:pt idx="383">
                  <c:v>204.5</c:v>
                </c:pt>
                <c:pt idx="384">
                  <c:v>205</c:v>
                </c:pt>
                <c:pt idx="385">
                  <c:v>205.5</c:v>
                </c:pt>
                <c:pt idx="386">
                  <c:v>206</c:v>
                </c:pt>
                <c:pt idx="387">
                  <c:v>206.5</c:v>
                </c:pt>
                <c:pt idx="388">
                  <c:v>207</c:v>
                </c:pt>
                <c:pt idx="389">
                  <c:v>207.5</c:v>
                </c:pt>
                <c:pt idx="390">
                  <c:v>208</c:v>
                </c:pt>
                <c:pt idx="391">
                  <c:v>208.5</c:v>
                </c:pt>
                <c:pt idx="392">
                  <c:v>209</c:v>
                </c:pt>
                <c:pt idx="393">
                  <c:v>209.5</c:v>
                </c:pt>
                <c:pt idx="394">
                  <c:v>210</c:v>
                </c:pt>
                <c:pt idx="395">
                  <c:v>210.5</c:v>
                </c:pt>
                <c:pt idx="396">
                  <c:v>211</c:v>
                </c:pt>
                <c:pt idx="397">
                  <c:v>211.5</c:v>
                </c:pt>
                <c:pt idx="398">
                  <c:v>212</c:v>
                </c:pt>
                <c:pt idx="399">
                  <c:v>212.5</c:v>
                </c:pt>
                <c:pt idx="400">
                  <c:v>213</c:v>
                </c:pt>
                <c:pt idx="401">
                  <c:v>213.5</c:v>
                </c:pt>
                <c:pt idx="402">
                  <c:v>214</c:v>
                </c:pt>
                <c:pt idx="403">
                  <c:v>214.5</c:v>
                </c:pt>
                <c:pt idx="404">
                  <c:v>215</c:v>
                </c:pt>
                <c:pt idx="405">
                  <c:v>215.5</c:v>
                </c:pt>
                <c:pt idx="406">
                  <c:v>216</c:v>
                </c:pt>
                <c:pt idx="407">
                  <c:v>216.5</c:v>
                </c:pt>
                <c:pt idx="408">
                  <c:v>217</c:v>
                </c:pt>
                <c:pt idx="409">
                  <c:v>217.5</c:v>
                </c:pt>
                <c:pt idx="410">
                  <c:v>218</c:v>
                </c:pt>
                <c:pt idx="411">
                  <c:v>218.5</c:v>
                </c:pt>
                <c:pt idx="412">
                  <c:v>219</c:v>
                </c:pt>
                <c:pt idx="413">
                  <c:v>219.5</c:v>
                </c:pt>
                <c:pt idx="414">
                  <c:v>220</c:v>
                </c:pt>
                <c:pt idx="415">
                  <c:v>220.5</c:v>
                </c:pt>
                <c:pt idx="416">
                  <c:v>221</c:v>
                </c:pt>
                <c:pt idx="417">
                  <c:v>221.5</c:v>
                </c:pt>
                <c:pt idx="418">
                  <c:v>222</c:v>
                </c:pt>
                <c:pt idx="419">
                  <c:v>222.5</c:v>
                </c:pt>
                <c:pt idx="420">
                  <c:v>223</c:v>
                </c:pt>
                <c:pt idx="421">
                  <c:v>223.5</c:v>
                </c:pt>
                <c:pt idx="422">
                  <c:v>224</c:v>
                </c:pt>
                <c:pt idx="423">
                  <c:v>224.5</c:v>
                </c:pt>
                <c:pt idx="424">
                  <c:v>225</c:v>
                </c:pt>
                <c:pt idx="425">
                  <c:v>225.5</c:v>
                </c:pt>
                <c:pt idx="426">
                  <c:v>226</c:v>
                </c:pt>
                <c:pt idx="427">
                  <c:v>226.5</c:v>
                </c:pt>
                <c:pt idx="428">
                  <c:v>227</c:v>
                </c:pt>
                <c:pt idx="429">
                  <c:v>227.5</c:v>
                </c:pt>
                <c:pt idx="430">
                  <c:v>228</c:v>
                </c:pt>
                <c:pt idx="431">
                  <c:v>228.5</c:v>
                </c:pt>
                <c:pt idx="432">
                  <c:v>229</c:v>
                </c:pt>
                <c:pt idx="433">
                  <c:v>229.5</c:v>
                </c:pt>
                <c:pt idx="434">
                  <c:v>230</c:v>
                </c:pt>
                <c:pt idx="435">
                  <c:v>230.5</c:v>
                </c:pt>
                <c:pt idx="436">
                  <c:v>231</c:v>
                </c:pt>
                <c:pt idx="437">
                  <c:v>231.5</c:v>
                </c:pt>
                <c:pt idx="438">
                  <c:v>232</c:v>
                </c:pt>
                <c:pt idx="439">
                  <c:v>232.5</c:v>
                </c:pt>
                <c:pt idx="440">
                  <c:v>233</c:v>
                </c:pt>
                <c:pt idx="441">
                  <c:v>233.5</c:v>
                </c:pt>
                <c:pt idx="442">
                  <c:v>234</c:v>
                </c:pt>
                <c:pt idx="443">
                  <c:v>234.5</c:v>
                </c:pt>
                <c:pt idx="444">
                  <c:v>235</c:v>
                </c:pt>
                <c:pt idx="445">
                  <c:v>235.5</c:v>
                </c:pt>
                <c:pt idx="446">
                  <c:v>236</c:v>
                </c:pt>
                <c:pt idx="447">
                  <c:v>236.5</c:v>
                </c:pt>
                <c:pt idx="448">
                  <c:v>237</c:v>
                </c:pt>
                <c:pt idx="449">
                  <c:v>237.5</c:v>
                </c:pt>
                <c:pt idx="450">
                  <c:v>238</c:v>
                </c:pt>
                <c:pt idx="451">
                  <c:v>238.5</c:v>
                </c:pt>
                <c:pt idx="452">
                  <c:v>239</c:v>
                </c:pt>
                <c:pt idx="453">
                  <c:v>239.5</c:v>
                </c:pt>
                <c:pt idx="454">
                  <c:v>240</c:v>
                </c:pt>
                <c:pt idx="455">
                  <c:v>240.5</c:v>
                </c:pt>
                <c:pt idx="456">
                  <c:v>241</c:v>
                </c:pt>
                <c:pt idx="457">
                  <c:v>241.5</c:v>
                </c:pt>
                <c:pt idx="458">
                  <c:v>242</c:v>
                </c:pt>
                <c:pt idx="459">
                  <c:v>242.5</c:v>
                </c:pt>
                <c:pt idx="460">
                  <c:v>243</c:v>
                </c:pt>
                <c:pt idx="461">
                  <c:v>243.5</c:v>
                </c:pt>
                <c:pt idx="462">
                  <c:v>244</c:v>
                </c:pt>
                <c:pt idx="463">
                  <c:v>244.5</c:v>
                </c:pt>
                <c:pt idx="464">
                  <c:v>245</c:v>
                </c:pt>
                <c:pt idx="465">
                  <c:v>245.5</c:v>
                </c:pt>
                <c:pt idx="466">
                  <c:v>246</c:v>
                </c:pt>
                <c:pt idx="467">
                  <c:v>246.5</c:v>
                </c:pt>
                <c:pt idx="468">
                  <c:v>247</c:v>
                </c:pt>
                <c:pt idx="469">
                  <c:v>247.5</c:v>
                </c:pt>
                <c:pt idx="470">
                  <c:v>248</c:v>
                </c:pt>
                <c:pt idx="471">
                  <c:v>248.5</c:v>
                </c:pt>
                <c:pt idx="472">
                  <c:v>249</c:v>
                </c:pt>
                <c:pt idx="473">
                  <c:v>249.5</c:v>
                </c:pt>
                <c:pt idx="474">
                  <c:v>250</c:v>
                </c:pt>
              </c:numCache>
            </c:numRef>
          </c:xVal>
          <c:yVal>
            <c:numRef>
              <c:f>'Chart Data'!$D$2:$D$476</c:f>
              <c:numCache>
                <c:formatCode>0</c:formatCode>
                <c:ptCount val="475"/>
                <c:pt idx="0">
                  <c:v>19.6446153846</c:v>
                </c:pt>
                <c:pt idx="1">
                  <c:v>19.0848148148</c:v>
                </c:pt>
                <c:pt idx="2">
                  <c:v>18.5657142857</c:v>
                </c:pt>
                <c:pt idx="3">
                  <c:v>18.0831034483</c:v>
                </c:pt>
                <c:pt idx="4">
                  <c:v>17.6333333333</c:v>
                </c:pt>
                <c:pt idx="5">
                  <c:v>17.2132258065</c:v>
                </c:pt>
                <c:pt idx="6">
                  <c:v>16.82</c:v>
                </c:pt>
                <c:pt idx="7">
                  <c:v>16.4512121212</c:v>
                </c:pt>
                <c:pt idx="8">
                  <c:v>16.1047058824</c:v>
                </c:pt>
                <c:pt idx="9">
                  <c:v>15.7785714286</c:v>
                </c:pt>
                <c:pt idx="10">
                  <c:v>15.4711111111</c:v>
                </c:pt>
                <c:pt idx="11">
                  <c:v>15.1808108108</c:v>
                </c:pt>
                <c:pt idx="12">
                  <c:v>14.9063157895</c:v>
                </c:pt>
                <c:pt idx="13">
                  <c:v>14.6464102564</c:v>
                </c:pt>
                <c:pt idx="14">
                  <c:v>14.4</c:v>
                </c:pt>
                <c:pt idx="15">
                  <c:v>14.166097561</c:v>
                </c:pt>
                <c:pt idx="16">
                  <c:v>13.9438095238</c:v>
                </c:pt>
                <c:pt idx="17">
                  <c:v>13.7323255814</c:v>
                </c:pt>
                <c:pt idx="18">
                  <c:v>13.5309090909</c:v>
                </c:pt>
                <c:pt idx="19">
                  <c:v>13.3388888889</c:v>
                </c:pt>
                <c:pt idx="20">
                  <c:v>13.1556521739</c:v>
                </c:pt>
                <c:pt idx="21">
                  <c:v>12.9806382979</c:v>
                </c:pt>
                <c:pt idx="22">
                  <c:v>12.8133333333</c:v>
                </c:pt>
                <c:pt idx="23">
                  <c:v>12.6532653061</c:v>
                </c:pt>
                <c:pt idx="24">
                  <c:v>12.5</c:v>
                </c:pt>
                <c:pt idx="25">
                  <c:v>12.3531372549</c:v>
                </c:pt>
                <c:pt idx="26">
                  <c:v>12.2123076923</c:v>
                </c:pt>
                <c:pt idx="27">
                  <c:v>12.0771698113</c:v>
                </c:pt>
                <c:pt idx="28">
                  <c:v>11.9474074074</c:v>
                </c:pt>
                <c:pt idx="29">
                  <c:v>11.8227272727</c:v>
                </c:pt>
                <c:pt idx="30">
                  <c:v>11.7028571429</c:v>
                </c:pt>
                <c:pt idx="31">
                  <c:v>11.5875438596</c:v>
                </c:pt>
                <c:pt idx="32">
                  <c:v>11.4765517241</c:v>
                </c:pt>
                <c:pt idx="33">
                  <c:v>11.3696610169</c:v>
                </c:pt>
                <c:pt idx="34">
                  <c:v>11.2666666667</c:v>
                </c:pt>
                <c:pt idx="35">
                  <c:v>11.1673770492</c:v>
                </c:pt>
                <c:pt idx="36">
                  <c:v>11.0716129032</c:v>
                </c:pt>
                <c:pt idx="37">
                  <c:v>10.9792063492</c:v>
                </c:pt>
                <c:pt idx="38">
                  <c:v>10.89</c:v>
                </c:pt>
                <c:pt idx="39">
                  <c:v>10.8038461538</c:v>
                </c:pt>
                <c:pt idx="40">
                  <c:v>10.7206060606</c:v>
                </c:pt>
                <c:pt idx="41">
                  <c:v>10.6401492537</c:v>
                </c:pt>
                <c:pt idx="42">
                  <c:v>10.5623529412</c:v>
                </c:pt>
                <c:pt idx="43">
                  <c:v>10.4871014493</c:v>
                </c:pt>
                <c:pt idx="44">
                  <c:v>10.4142857143</c:v>
                </c:pt>
                <c:pt idx="45">
                  <c:v>10.3438028169</c:v>
                </c:pt>
                <c:pt idx="46">
                  <c:v>10.2755555556</c:v>
                </c:pt>
                <c:pt idx="47">
                  <c:v>10.2094520548</c:v>
                </c:pt>
                <c:pt idx="48">
                  <c:v>10.1454054054</c:v>
                </c:pt>
                <c:pt idx="49">
                  <c:v>10.0833333333</c:v>
                </c:pt>
                <c:pt idx="50">
                  <c:v>10.0231578947</c:v>
                </c:pt>
                <c:pt idx="51">
                  <c:v>9.9648051948</c:v>
                </c:pt>
                <c:pt idx="52">
                  <c:v>9.9082051282</c:v>
                </c:pt>
                <c:pt idx="53">
                  <c:v>9.8532911392</c:v>
                </c:pt>
                <c:pt idx="54">
                  <c:v>9.8</c:v>
                </c:pt>
                <c:pt idx="55">
                  <c:v>9.7482716049</c:v>
                </c:pt>
                <c:pt idx="56">
                  <c:v>9.6980487805</c:v>
                </c:pt>
                <c:pt idx="57">
                  <c:v>9.6492771084</c:v>
                </c:pt>
                <c:pt idx="58">
                  <c:v>9.6019047619</c:v>
                </c:pt>
                <c:pt idx="59">
                  <c:v>9.5558823529</c:v>
                </c:pt>
                <c:pt idx="60">
                  <c:v>9.5111627907</c:v>
                </c:pt>
                <c:pt idx="61">
                  <c:v>9.4677011494</c:v>
                </c:pt>
                <c:pt idx="62">
                  <c:v>9.4254545455</c:v>
                </c:pt>
                <c:pt idx="63">
                  <c:v>9.3843820225</c:v>
                </c:pt>
                <c:pt idx="64">
                  <c:v>9.3444444444</c:v>
                </c:pt>
                <c:pt idx="65">
                  <c:v>9.3056043956</c:v>
                </c:pt>
                <c:pt idx="66">
                  <c:v>9.267826087</c:v>
                </c:pt>
                <c:pt idx="67">
                  <c:v>9.2310752688</c:v>
                </c:pt>
                <c:pt idx="68">
                  <c:v>9.1953191489</c:v>
                </c:pt>
                <c:pt idx="69">
                  <c:v>9.1605263158</c:v>
                </c:pt>
                <c:pt idx="70">
                  <c:v>9.1266666667</c:v>
                </c:pt>
                <c:pt idx="71">
                  <c:v>9.0937113402</c:v>
                </c:pt>
                <c:pt idx="72">
                  <c:v>9.0616326531</c:v>
                </c:pt>
                <c:pt idx="73">
                  <c:v>9.0304040404</c:v>
                </c:pt>
                <c:pt idx="74">
                  <c:v>9</c:v>
                </c:pt>
                <c:pt idx="75">
                  <c:v>8.9703960396</c:v>
                </c:pt>
                <c:pt idx="76">
                  <c:v>8.9415686275</c:v>
                </c:pt>
                <c:pt idx="77">
                  <c:v>8.9134951456</c:v>
                </c:pt>
                <c:pt idx="78">
                  <c:v>8.8861538462</c:v>
                </c:pt>
                <c:pt idx="79">
                  <c:v>8.8595238095</c:v>
                </c:pt>
                <c:pt idx="80">
                  <c:v>8.8335849057</c:v>
                </c:pt>
                <c:pt idx="81">
                  <c:v>8.808317757</c:v>
                </c:pt>
                <c:pt idx="82">
                  <c:v>8.7837037037</c:v>
                </c:pt>
                <c:pt idx="83">
                  <c:v>8.7597247706</c:v>
                </c:pt>
                <c:pt idx="84">
                  <c:v>8.7363636364</c:v>
                </c:pt>
                <c:pt idx="85">
                  <c:v>8.7136036036</c:v>
                </c:pt>
                <c:pt idx="86">
                  <c:v>8.6914285714</c:v>
                </c:pt>
                <c:pt idx="87">
                  <c:v>8.6698230088</c:v>
                </c:pt>
                <c:pt idx="88">
                  <c:v>8.6487719298</c:v>
                </c:pt>
                <c:pt idx="89">
                  <c:v>8.6282608696</c:v>
                </c:pt>
                <c:pt idx="90">
                  <c:v>8.6082758621</c:v>
                </c:pt>
                <c:pt idx="91">
                  <c:v>8.5888034188</c:v>
                </c:pt>
                <c:pt idx="92">
                  <c:v>8.5698305085</c:v>
                </c:pt>
                <c:pt idx="93">
                  <c:v>8.5513445378</c:v>
                </c:pt>
                <c:pt idx="94">
                  <c:v>8.5333333333</c:v>
                </c:pt>
                <c:pt idx="95">
                  <c:v>8.515785124</c:v>
                </c:pt>
                <c:pt idx="96">
                  <c:v>8.4986885246</c:v>
                </c:pt>
                <c:pt idx="97">
                  <c:v>8.4820325203</c:v>
                </c:pt>
                <c:pt idx="98">
                  <c:v>8.4658064516</c:v>
                </c:pt>
                <c:pt idx="99">
                  <c:v>8.45</c:v>
                </c:pt>
                <c:pt idx="100">
                  <c:v>8.4346031746</c:v>
                </c:pt>
                <c:pt idx="101">
                  <c:v>8.4196062992</c:v>
                </c:pt>
                <c:pt idx="102">
                  <c:v>8.405</c:v>
                </c:pt>
                <c:pt idx="103">
                  <c:v>8.3907751938</c:v>
                </c:pt>
                <c:pt idx="104">
                  <c:v>8.3769230769</c:v>
                </c:pt>
                <c:pt idx="105">
                  <c:v>8.3634351145</c:v>
                </c:pt>
                <c:pt idx="106">
                  <c:v>8.3503030303</c:v>
                </c:pt>
                <c:pt idx="107">
                  <c:v>8.337518797</c:v>
                </c:pt>
                <c:pt idx="108">
                  <c:v>8.3250746269</c:v>
                </c:pt>
                <c:pt idx="109">
                  <c:v>8.312962963</c:v>
                </c:pt>
                <c:pt idx="110">
                  <c:v>8.3011764706</c:v>
                </c:pt>
                <c:pt idx="111">
                  <c:v>8.2897080292</c:v>
                </c:pt>
                <c:pt idx="112">
                  <c:v>8.2785507246</c:v>
                </c:pt>
                <c:pt idx="113">
                  <c:v>8.2676978417</c:v>
                </c:pt>
                <c:pt idx="114">
                  <c:v>8.2571428571</c:v>
                </c:pt>
                <c:pt idx="115">
                  <c:v>8.2468794326</c:v>
                </c:pt>
                <c:pt idx="116">
                  <c:v>8.2369014085</c:v>
                </c:pt>
                <c:pt idx="117">
                  <c:v>8.2272027972</c:v>
                </c:pt>
                <c:pt idx="118">
                  <c:v>8.2177777778</c:v>
                </c:pt>
                <c:pt idx="119">
                  <c:v>8.2086206897</c:v>
                </c:pt>
                <c:pt idx="120">
                  <c:v>8.1997260274</c:v>
                </c:pt>
                <c:pt idx="121">
                  <c:v>8.1910884354</c:v>
                </c:pt>
                <c:pt idx="122">
                  <c:v>8.1827027027</c:v>
                </c:pt>
                <c:pt idx="123">
                  <c:v>8.1745637584</c:v>
                </c:pt>
                <c:pt idx="124">
                  <c:v>8.1666666667</c:v>
                </c:pt>
                <c:pt idx="125">
                  <c:v>8.1590066225</c:v>
                </c:pt>
                <c:pt idx="126">
                  <c:v>8.1515789474</c:v>
                </c:pt>
                <c:pt idx="127">
                  <c:v>8.144379085</c:v>
                </c:pt>
                <c:pt idx="128">
                  <c:v>8.1374025974</c:v>
                </c:pt>
                <c:pt idx="129">
                  <c:v>8.1306451613</c:v>
                </c:pt>
                <c:pt idx="130">
                  <c:v>8.1241025641</c:v>
                </c:pt>
                <c:pt idx="131">
                  <c:v>8.1177707006</c:v>
                </c:pt>
                <c:pt idx="132">
                  <c:v>8.1116455696</c:v>
                </c:pt>
                <c:pt idx="133">
                  <c:v>8.1057232704</c:v>
                </c:pt>
                <c:pt idx="134">
                  <c:v>8.1</c:v>
                </c:pt>
                <c:pt idx="135">
                  <c:v>8.0944720497</c:v>
                </c:pt>
                <c:pt idx="136">
                  <c:v>8.0891358025</c:v>
                </c:pt>
                <c:pt idx="137">
                  <c:v>8.0839877301</c:v>
                </c:pt>
                <c:pt idx="138">
                  <c:v>8.0790243902</c:v>
                </c:pt>
                <c:pt idx="139">
                  <c:v>8.0742424242</c:v>
                </c:pt>
                <c:pt idx="140">
                  <c:v>8.0696385542</c:v>
                </c:pt>
                <c:pt idx="141">
                  <c:v>8.0652095808</c:v>
                </c:pt>
                <c:pt idx="142">
                  <c:v>8.060952381</c:v>
                </c:pt>
                <c:pt idx="143">
                  <c:v>8.0568639053</c:v>
                </c:pt>
                <c:pt idx="144">
                  <c:v>8.0529411765</c:v>
                </c:pt>
                <c:pt idx="145">
                  <c:v>8.0491812865</c:v>
                </c:pt>
                <c:pt idx="146">
                  <c:v>8.0455813953</c:v>
                </c:pt>
                <c:pt idx="147">
                  <c:v>8.0421387283</c:v>
                </c:pt>
                <c:pt idx="148">
                  <c:v>8.0388505747</c:v>
                </c:pt>
                <c:pt idx="149">
                  <c:v>8.0357142857</c:v>
                </c:pt>
                <c:pt idx="150">
                  <c:v>8.0327272727</c:v>
                </c:pt>
                <c:pt idx="151">
                  <c:v>8.0298870056</c:v>
                </c:pt>
                <c:pt idx="152">
                  <c:v>8.0271910112</c:v>
                </c:pt>
                <c:pt idx="153">
                  <c:v>8.0246368715</c:v>
                </c:pt>
                <c:pt idx="154">
                  <c:v>8.0222222222</c:v>
                </c:pt>
                <c:pt idx="155">
                  <c:v>8.0199447514</c:v>
                </c:pt>
                <c:pt idx="156">
                  <c:v>8.0178021978</c:v>
                </c:pt>
                <c:pt idx="157">
                  <c:v>8.0157923497</c:v>
                </c:pt>
                <c:pt idx="158">
                  <c:v>8.0139130435</c:v>
                </c:pt>
                <c:pt idx="159">
                  <c:v>8.0121621622</c:v>
                </c:pt>
                <c:pt idx="160">
                  <c:v>8.0105376344</c:v>
                </c:pt>
                <c:pt idx="161">
                  <c:v>8.0090374332</c:v>
                </c:pt>
                <c:pt idx="162">
                  <c:v>8.0076595745</c:v>
                </c:pt>
                <c:pt idx="163">
                  <c:v>8.0064021164</c:v>
                </c:pt>
                <c:pt idx="164">
                  <c:v>8.0052631579</c:v>
                </c:pt>
                <c:pt idx="165">
                  <c:v>8.0042408377</c:v>
                </c:pt>
                <c:pt idx="166">
                  <c:v>8.0033333333</c:v>
                </c:pt>
                <c:pt idx="167">
                  <c:v>8.0025388601</c:v>
                </c:pt>
                <c:pt idx="168">
                  <c:v>8.0018556701</c:v>
                </c:pt>
                <c:pt idx="169">
                  <c:v>8.0012820513</c:v>
                </c:pt>
                <c:pt idx="170">
                  <c:v>8.0008163265</c:v>
                </c:pt>
                <c:pt idx="171">
                  <c:v>8.0004568528</c:v>
                </c:pt>
                <c:pt idx="172">
                  <c:v>8.0002020202</c:v>
                </c:pt>
                <c:pt idx="173">
                  <c:v>8.0000502513</c:v>
                </c:pt>
                <c:pt idx="174">
                  <c:v>8</c:v>
                </c:pt>
                <c:pt idx="175">
                  <c:v>8.0000497512</c:v>
                </c:pt>
                <c:pt idx="176">
                  <c:v>8.0001980198</c:v>
                </c:pt>
                <c:pt idx="177">
                  <c:v>8.0004433498</c:v>
                </c:pt>
                <c:pt idx="178">
                  <c:v>8.0007843137</c:v>
                </c:pt>
                <c:pt idx="179">
                  <c:v>8.0012195122</c:v>
                </c:pt>
                <c:pt idx="180">
                  <c:v>8.0017475728</c:v>
                </c:pt>
                <c:pt idx="181">
                  <c:v>8.0023671498</c:v>
                </c:pt>
                <c:pt idx="182">
                  <c:v>8.0030769231</c:v>
                </c:pt>
                <c:pt idx="183">
                  <c:v>8.0038755981</c:v>
                </c:pt>
                <c:pt idx="184">
                  <c:v>8.0047619048</c:v>
                </c:pt>
                <c:pt idx="185">
                  <c:v>8.0057345972</c:v>
                </c:pt>
                <c:pt idx="186">
                  <c:v>8.0067924528</c:v>
                </c:pt>
                <c:pt idx="187">
                  <c:v>8.0079342723</c:v>
                </c:pt>
                <c:pt idx="188">
                  <c:v>8.0091588785</c:v>
                </c:pt>
                <c:pt idx="189">
                  <c:v>8.0104651163</c:v>
                </c:pt>
                <c:pt idx="190">
                  <c:v>8.0118518519</c:v>
                </c:pt>
                <c:pt idx="191">
                  <c:v>8.0133179724</c:v>
                </c:pt>
                <c:pt idx="192">
                  <c:v>8.0148623853</c:v>
                </c:pt>
                <c:pt idx="193">
                  <c:v>8.0164840183</c:v>
                </c:pt>
                <c:pt idx="194">
                  <c:v>8.0181818182</c:v>
                </c:pt>
                <c:pt idx="195">
                  <c:v>8.0199547511</c:v>
                </c:pt>
                <c:pt idx="196">
                  <c:v>8.0218018018</c:v>
                </c:pt>
                <c:pt idx="197">
                  <c:v>8.0237219731</c:v>
                </c:pt>
                <c:pt idx="198">
                  <c:v>8.0257142857</c:v>
                </c:pt>
                <c:pt idx="199">
                  <c:v>8.0277777778</c:v>
                </c:pt>
                <c:pt idx="200">
                  <c:v>8.0299115044</c:v>
                </c:pt>
                <c:pt idx="201">
                  <c:v>8.0321145374</c:v>
                </c:pt>
                <c:pt idx="202">
                  <c:v>8.0343859649</c:v>
                </c:pt>
                <c:pt idx="203">
                  <c:v>8.0367248908</c:v>
                </c:pt>
                <c:pt idx="204">
                  <c:v>8.0391304348</c:v>
                </c:pt>
                <c:pt idx="205">
                  <c:v>8.0416017316</c:v>
                </c:pt>
                <c:pt idx="206">
                  <c:v>8.044137931</c:v>
                </c:pt>
                <c:pt idx="207">
                  <c:v>8.0467381974</c:v>
                </c:pt>
                <c:pt idx="208">
                  <c:v>8.0494017094</c:v>
                </c:pt>
                <c:pt idx="209">
                  <c:v>8.0521276596</c:v>
                </c:pt>
                <c:pt idx="210">
                  <c:v>8.0549152542</c:v>
                </c:pt>
                <c:pt idx="211">
                  <c:v>8.0577637131</c:v>
                </c:pt>
                <c:pt idx="212">
                  <c:v>8.0606722689</c:v>
                </c:pt>
                <c:pt idx="213">
                  <c:v>8.0636401674</c:v>
                </c:pt>
                <c:pt idx="214">
                  <c:v>8.0666666667</c:v>
                </c:pt>
                <c:pt idx="215">
                  <c:v>8.0697510373</c:v>
                </c:pt>
                <c:pt idx="216">
                  <c:v>8.072892562</c:v>
                </c:pt>
                <c:pt idx="217">
                  <c:v>8.076090535</c:v>
                </c:pt>
                <c:pt idx="218">
                  <c:v>8.0793442623</c:v>
                </c:pt>
                <c:pt idx="219">
                  <c:v>8.0826530612</c:v>
                </c:pt>
                <c:pt idx="220">
                  <c:v>8.0860162602</c:v>
                </c:pt>
                <c:pt idx="221">
                  <c:v>8.0894331984</c:v>
                </c:pt>
                <c:pt idx="222">
                  <c:v>8.0929032258</c:v>
                </c:pt>
                <c:pt idx="223">
                  <c:v>8.0964257028</c:v>
                </c:pt>
                <c:pt idx="224">
                  <c:v>8.1</c:v>
                </c:pt>
                <c:pt idx="225">
                  <c:v>8.103625498</c:v>
                </c:pt>
                <c:pt idx="226">
                  <c:v>8.1073015873</c:v>
                </c:pt>
                <c:pt idx="227">
                  <c:v>8.111027668</c:v>
                </c:pt>
                <c:pt idx="228">
                  <c:v>8.1148031496</c:v>
                </c:pt>
                <c:pt idx="229">
                  <c:v>8.118627451</c:v>
                </c:pt>
                <c:pt idx="230">
                  <c:v>8.1225</c:v>
                </c:pt>
                <c:pt idx="231">
                  <c:v>8.1264202335</c:v>
                </c:pt>
                <c:pt idx="232">
                  <c:v>8.1303875969</c:v>
                </c:pt>
                <c:pt idx="233">
                  <c:v>8.1344015444</c:v>
                </c:pt>
                <c:pt idx="234">
                  <c:v>8.1384615385</c:v>
                </c:pt>
                <c:pt idx="235">
                  <c:v>8.1425670498</c:v>
                </c:pt>
                <c:pt idx="236">
                  <c:v>8.1467175573</c:v>
                </c:pt>
                <c:pt idx="237">
                  <c:v>8.1509125475</c:v>
                </c:pt>
                <c:pt idx="238">
                  <c:v>8.1551515152</c:v>
                </c:pt>
                <c:pt idx="239">
                  <c:v>8.1594339623</c:v>
                </c:pt>
                <c:pt idx="240">
                  <c:v>8.1637593985</c:v>
                </c:pt>
                <c:pt idx="241">
                  <c:v>8.1681273408</c:v>
                </c:pt>
                <c:pt idx="242">
                  <c:v>8.1725373134</c:v>
                </c:pt>
                <c:pt idx="243">
                  <c:v>8.1769888476</c:v>
                </c:pt>
                <c:pt idx="244">
                  <c:v>8.1814814815</c:v>
                </c:pt>
                <c:pt idx="245">
                  <c:v>8.1860147601</c:v>
                </c:pt>
                <c:pt idx="246">
                  <c:v>8.1905882353</c:v>
                </c:pt>
                <c:pt idx="247">
                  <c:v>8.1952014652</c:v>
                </c:pt>
                <c:pt idx="248">
                  <c:v>8.1998540146</c:v>
                </c:pt>
                <c:pt idx="249">
                  <c:v>8.2045454545</c:v>
                </c:pt>
                <c:pt idx="250">
                  <c:v>8.2092753623</c:v>
                </c:pt>
                <c:pt idx="251">
                  <c:v>8.2140433213</c:v>
                </c:pt>
                <c:pt idx="252">
                  <c:v>8.2188489209</c:v>
                </c:pt>
                <c:pt idx="253">
                  <c:v>8.2236917563</c:v>
                </c:pt>
                <c:pt idx="254">
                  <c:v>8.2285714286</c:v>
                </c:pt>
                <c:pt idx="255">
                  <c:v>8.2334875445</c:v>
                </c:pt>
                <c:pt idx="256">
                  <c:v>8.2384397163</c:v>
                </c:pt>
                <c:pt idx="257">
                  <c:v>8.2434275618</c:v>
                </c:pt>
                <c:pt idx="258">
                  <c:v>8.2484507042</c:v>
                </c:pt>
                <c:pt idx="259">
                  <c:v>8.2535087719</c:v>
                </c:pt>
                <c:pt idx="260">
                  <c:v>8.2586013986</c:v>
                </c:pt>
                <c:pt idx="261">
                  <c:v>8.263728223</c:v>
                </c:pt>
                <c:pt idx="262">
                  <c:v>8.2688888889</c:v>
                </c:pt>
                <c:pt idx="263">
                  <c:v>8.274083045</c:v>
                </c:pt>
                <c:pt idx="264">
                  <c:v>8.2793103448</c:v>
                </c:pt>
                <c:pt idx="265">
                  <c:v>8.2845704467</c:v>
                </c:pt>
                <c:pt idx="266">
                  <c:v>8.2898630137</c:v>
                </c:pt>
                <c:pt idx="267">
                  <c:v>8.2951877133</c:v>
                </c:pt>
                <c:pt idx="268">
                  <c:v>8.3005442177</c:v>
                </c:pt>
                <c:pt idx="269">
                  <c:v>8.3059322034</c:v>
                </c:pt>
                <c:pt idx="270">
                  <c:v>8.3113513514</c:v>
                </c:pt>
                <c:pt idx="271">
                  <c:v>8.3168013468</c:v>
                </c:pt>
                <c:pt idx="272">
                  <c:v>8.3222818792</c:v>
                </c:pt>
                <c:pt idx="273">
                  <c:v>8.3277926421</c:v>
                </c:pt>
                <c:pt idx="274">
                  <c:v>8.3333333333</c:v>
                </c:pt>
                <c:pt idx="275">
                  <c:v>8.3389036545</c:v>
                </c:pt>
                <c:pt idx="276">
                  <c:v>8.3445033113</c:v>
                </c:pt>
                <c:pt idx="277">
                  <c:v>8.3501320132</c:v>
                </c:pt>
                <c:pt idx="278">
                  <c:v>8.3557894737</c:v>
                </c:pt>
                <c:pt idx="279">
                  <c:v>8.3614754098</c:v>
                </c:pt>
                <c:pt idx="280">
                  <c:v>8.3671895425</c:v>
                </c:pt>
                <c:pt idx="281">
                  <c:v>8.3729315961</c:v>
                </c:pt>
                <c:pt idx="282">
                  <c:v>8.3787012987</c:v>
                </c:pt>
                <c:pt idx="283">
                  <c:v>8.3844983819</c:v>
                </c:pt>
                <c:pt idx="284">
                  <c:v>8.3903225806</c:v>
                </c:pt>
                <c:pt idx="285">
                  <c:v>8.3961736334</c:v>
                </c:pt>
                <c:pt idx="286">
                  <c:v>8.4020512821</c:v>
                </c:pt>
                <c:pt idx="287">
                  <c:v>8.4079552716</c:v>
                </c:pt>
                <c:pt idx="288">
                  <c:v>8.4138853503</c:v>
                </c:pt>
                <c:pt idx="289">
                  <c:v>8.4198412698</c:v>
                </c:pt>
                <c:pt idx="290">
                  <c:v>8.4258227848</c:v>
                </c:pt>
                <c:pt idx="291">
                  <c:v>8.431829653</c:v>
                </c:pt>
                <c:pt idx="292">
                  <c:v>8.4378616352</c:v>
                </c:pt>
                <c:pt idx="293">
                  <c:v>8.4439184953</c:v>
                </c:pt>
                <c:pt idx="294">
                  <c:v>8.45</c:v>
                </c:pt>
                <c:pt idx="295">
                  <c:v>8.456105919</c:v>
                </c:pt>
                <c:pt idx="296">
                  <c:v>8.4622360248</c:v>
                </c:pt>
                <c:pt idx="297">
                  <c:v>8.4683900929</c:v>
                </c:pt>
                <c:pt idx="298">
                  <c:v>8.4745679012</c:v>
                </c:pt>
                <c:pt idx="299">
                  <c:v>8.4807692308</c:v>
                </c:pt>
                <c:pt idx="300">
                  <c:v>8.486993865</c:v>
                </c:pt>
                <c:pt idx="301">
                  <c:v>8.4932415902</c:v>
                </c:pt>
                <c:pt idx="302">
                  <c:v>8.4995121951</c:v>
                </c:pt>
                <c:pt idx="303">
                  <c:v>8.5058054711</c:v>
                </c:pt>
                <c:pt idx="304">
                  <c:v>8.5121212121</c:v>
                </c:pt>
                <c:pt idx="305">
                  <c:v>8.5184592145</c:v>
                </c:pt>
                <c:pt idx="306">
                  <c:v>8.5248192771</c:v>
                </c:pt>
                <c:pt idx="307">
                  <c:v>8.5312012012</c:v>
                </c:pt>
                <c:pt idx="308">
                  <c:v>8.5376047904</c:v>
                </c:pt>
                <c:pt idx="309">
                  <c:v>8.5440298507</c:v>
                </c:pt>
                <c:pt idx="310">
                  <c:v>8.5504761905</c:v>
                </c:pt>
                <c:pt idx="311">
                  <c:v>8.5569436202</c:v>
                </c:pt>
                <c:pt idx="312">
                  <c:v>8.5634319527</c:v>
                </c:pt>
                <c:pt idx="313">
                  <c:v>8.5699410029</c:v>
                </c:pt>
                <c:pt idx="314">
                  <c:v>8.5764705882</c:v>
                </c:pt>
                <c:pt idx="315">
                  <c:v>8.5830205279</c:v>
                </c:pt>
                <c:pt idx="316">
                  <c:v>8.5895906433</c:v>
                </c:pt>
                <c:pt idx="317">
                  <c:v>8.596180758</c:v>
                </c:pt>
                <c:pt idx="318">
                  <c:v>8.6027906977</c:v>
                </c:pt>
                <c:pt idx="319">
                  <c:v>8.6094202899</c:v>
                </c:pt>
                <c:pt idx="320">
                  <c:v>8.6160693642</c:v>
                </c:pt>
                <c:pt idx="321">
                  <c:v>8.6227377522</c:v>
                </c:pt>
                <c:pt idx="322">
                  <c:v>8.6294252874</c:v>
                </c:pt>
                <c:pt idx="323">
                  <c:v>8.6361318052</c:v>
                </c:pt>
                <c:pt idx="324">
                  <c:v>8.6428571429</c:v>
                </c:pt>
                <c:pt idx="325">
                  <c:v>8.6496011396</c:v>
                </c:pt>
                <c:pt idx="326">
                  <c:v>8.6563636364</c:v>
                </c:pt>
                <c:pt idx="327">
                  <c:v>8.6631444759</c:v>
                </c:pt>
                <c:pt idx="328">
                  <c:v>8.6699435028</c:v>
                </c:pt>
                <c:pt idx="329">
                  <c:v>8.6767605634</c:v>
                </c:pt>
                <c:pt idx="330">
                  <c:v>8.6835955056</c:v>
                </c:pt>
                <c:pt idx="331">
                  <c:v>8.6904481793</c:v>
                </c:pt>
                <c:pt idx="332">
                  <c:v>8.6973184358</c:v>
                </c:pt>
                <c:pt idx="333">
                  <c:v>8.7042061281</c:v>
                </c:pt>
                <c:pt idx="334">
                  <c:v>8.7111111111</c:v>
                </c:pt>
                <c:pt idx="335">
                  <c:v>8.718033241</c:v>
                </c:pt>
                <c:pt idx="336">
                  <c:v>8.7249723757</c:v>
                </c:pt>
                <c:pt idx="337">
                  <c:v>8.7319283747</c:v>
                </c:pt>
                <c:pt idx="338">
                  <c:v>8.7389010989</c:v>
                </c:pt>
                <c:pt idx="339">
                  <c:v>8.745890411</c:v>
                </c:pt>
                <c:pt idx="340">
                  <c:v>8.7528961749</c:v>
                </c:pt>
                <c:pt idx="341">
                  <c:v>8.7599182561</c:v>
                </c:pt>
                <c:pt idx="342">
                  <c:v>8.7669565217</c:v>
                </c:pt>
                <c:pt idx="343">
                  <c:v>8.7740108401</c:v>
                </c:pt>
                <c:pt idx="344">
                  <c:v>8.7810810811</c:v>
                </c:pt>
                <c:pt idx="345">
                  <c:v>8.7881671159</c:v>
                </c:pt>
                <c:pt idx="346">
                  <c:v>8.7952688172</c:v>
                </c:pt>
                <c:pt idx="347">
                  <c:v>8.802386059</c:v>
                </c:pt>
                <c:pt idx="348">
                  <c:v>8.8095187166</c:v>
                </c:pt>
                <c:pt idx="349">
                  <c:v>8.8166666667</c:v>
                </c:pt>
                <c:pt idx="350">
                  <c:v>8.8238297872</c:v>
                </c:pt>
                <c:pt idx="351">
                  <c:v>8.8310079576</c:v>
                </c:pt>
                <c:pt idx="352">
                  <c:v>8.8382010582</c:v>
                </c:pt>
                <c:pt idx="353">
                  <c:v>8.845408971</c:v>
                </c:pt>
                <c:pt idx="354">
                  <c:v>8.8526315789</c:v>
                </c:pt>
                <c:pt idx="355">
                  <c:v>8.8598687664</c:v>
                </c:pt>
                <c:pt idx="356">
                  <c:v>8.8671204188</c:v>
                </c:pt>
                <c:pt idx="357">
                  <c:v>8.874386423</c:v>
                </c:pt>
                <c:pt idx="358">
                  <c:v>8.8816666667</c:v>
                </c:pt>
                <c:pt idx="359">
                  <c:v>8.888961039</c:v>
                </c:pt>
                <c:pt idx="360">
                  <c:v>8.8962694301</c:v>
                </c:pt>
                <c:pt idx="361">
                  <c:v>8.9035917313</c:v>
                </c:pt>
                <c:pt idx="362">
                  <c:v>8.9109278351</c:v>
                </c:pt>
                <c:pt idx="363">
                  <c:v>8.918277635</c:v>
                </c:pt>
                <c:pt idx="364">
                  <c:v>8.9256410256</c:v>
                </c:pt>
                <c:pt idx="365">
                  <c:v>8.9330179028</c:v>
                </c:pt>
                <c:pt idx="366">
                  <c:v>8.9404081633</c:v>
                </c:pt>
                <c:pt idx="367">
                  <c:v>8.9478117048</c:v>
                </c:pt>
                <c:pt idx="368">
                  <c:v>8.9552284264</c:v>
                </c:pt>
                <c:pt idx="369">
                  <c:v>8.9626582278</c:v>
                </c:pt>
                <c:pt idx="370">
                  <c:v>8.9701010101</c:v>
                </c:pt>
                <c:pt idx="371">
                  <c:v>8.9775566751</c:v>
                </c:pt>
                <c:pt idx="372">
                  <c:v>8.9850251256</c:v>
                </c:pt>
                <c:pt idx="373">
                  <c:v>8.9925062657</c:v>
                </c:pt>
                <c:pt idx="374">
                  <c:v>9</c:v>
                </c:pt>
                <c:pt idx="375">
                  <c:v>9.0075062344</c:v>
                </c:pt>
                <c:pt idx="376">
                  <c:v>9.0150248756</c:v>
                </c:pt>
                <c:pt idx="377">
                  <c:v>9.0225558313</c:v>
                </c:pt>
                <c:pt idx="378">
                  <c:v>9.0300990099</c:v>
                </c:pt>
                <c:pt idx="379">
                  <c:v>9.037654321</c:v>
                </c:pt>
                <c:pt idx="380">
                  <c:v>9.0452216749</c:v>
                </c:pt>
                <c:pt idx="381">
                  <c:v>9.0528009828</c:v>
                </c:pt>
                <c:pt idx="382">
                  <c:v>9.0603921569</c:v>
                </c:pt>
                <c:pt idx="383">
                  <c:v>9.06799511</c:v>
                </c:pt>
                <c:pt idx="384">
                  <c:v>9.0756097561</c:v>
                </c:pt>
                <c:pt idx="385">
                  <c:v>9.0832360097</c:v>
                </c:pt>
                <c:pt idx="386">
                  <c:v>9.0908737864</c:v>
                </c:pt>
                <c:pt idx="387">
                  <c:v>9.0985230024</c:v>
                </c:pt>
                <c:pt idx="388">
                  <c:v>9.1061835749</c:v>
                </c:pt>
                <c:pt idx="389">
                  <c:v>9.1138554217</c:v>
                </c:pt>
                <c:pt idx="390">
                  <c:v>9.1215384615</c:v>
                </c:pt>
                <c:pt idx="391">
                  <c:v>9.1292326139</c:v>
                </c:pt>
                <c:pt idx="392">
                  <c:v>9.136937799</c:v>
                </c:pt>
                <c:pt idx="393">
                  <c:v>9.1446539379</c:v>
                </c:pt>
                <c:pt idx="394">
                  <c:v>9.1523809524</c:v>
                </c:pt>
                <c:pt idx="395">
                  <c:v>9.1601187648</c:v>
                </c:pt>
                <c:pt idx="396">
                  <c:v>9.1678672986</c:v>
                </c:pt>
                <c:pt idx="397">
                  <c:v>9.1756264775</c:v>
                </c:pt>
                <c:pt idx="398">
                  <c:v>9.1833962264</c:v>
                </c:pt>
                <c:pt idx="399">
                  <c:v>9.1911764706</c:v>
                </c:pt>
                <c:pt idx="400">
                  <c:v>9.1989671362</c:v>
                </c:pt>
                <c:pt idx="401">
                  <c:v>9.2067681499</c:v>
                </c:pt>
                <c:pt idx="402">
                  <c:v>9.2145794393</c:v>
                </c:pt>
                <c:pt idx="403">
                  <c:v>9.2224009324</c:v>
                </c:pt>
                <c:pt idx="404">
                  <c:v>9.2302325581</c:v>
                </c:pt>
                <c:pt idx="405">
                  <c:v>9.2380742459</c:v>
                </c:pt>
                <c:pt idx="406">
                  <c:v>9.2459259259</c:v>
                </c:pt>
                <c:pt idx="407">
                  <c:v>9.2537875289</c:v>
                </c:pt>
                <c:pt idx="408">
                  <c:v>9.2616589862</c:v>
                </c:pt>
                <c:pt idx="409">
                  <c:v>9.2695402299</c:v>
                </c:pt>
                <c:pt idx="410">
                  <c:v>9.2774311927</c:v>
                </c:pt>
                <c:pt idx="411">
                  <c:v>9.2853318078</c:v>
                </c:pt>
                <c:pt idx="412">
                  <c:v>9.2932420091</c:v>
                </c:pt>
                <c:pt idx="413">
                  <c:v>9.3011617312</c:v>
                </c:pt>
                <c:pt idx="414">
                  <c:v>9.3090909091</c:v>
                </c:pt>
                <c:pt idx="415">
                  <c:v>9.3170294785</c:v>
                </c:pt>
                <c:pt idx="416">
                  <c:v>9.3249773756</c:v>
                </c:pt>
                <c:pt idx="417">
                  <c:v>9.3329345372</c:v>
                </c:pt>
                <c:pt idx="418">
                  <c:v>9.3409009009</c:v>
                </c:pt>
                <c:pt idx="419">
                  <c:v>9.3488764045</c:v>
                </c:pt>
                <c:pt idx="420">
                  <c:v>9.3568609865</c:v>
                </c:pt>
                <c:pt idx="421">
                  <c:v>9.3648545861</c:v>
                </c:pt>
                <c:pt idx="422">
                  <c:v>9.3728571429</c:v>
                </c:pt>
                <c:pt idx="423">
                  <c:v>9.3808685969</c:v>
                </c:pt>
                <c:pt idx="424">
                  <c:v>9.3888888889</c:v>
                </c:pt>
                <c:pt idx="425">
                  <c:v>9.3969179601</c:v>
                </c:pt>
                <c:pt idx="426">
                  <c:v>9.4049557522</c:v>
                </c:pt>
                <c:pt idx="427">
                  <c:v>9.4130022075</c:v>
                </c:pt>
                <c:pt idx="428">
                  <c:v>9.4210572687</c:v>
                </c:pt>
                <c:pt idx="429">
                  <c:v>9.4291208791</c:v>
                </c:pt>
                <c:pt idx="430">
                  <c:v>9.4371929825</c:v>
                </c:pt>
                <c:pt idx="431">
                  <c:v>9.445273523</c:v>
                </c:pt>
                <c:pt idx="432">
                  <c:v>9.4533624454</c:v>
                </c:pt>
                <c:pt idx="433">
                  <c:v>9.461459695</c:v>
                </c:pt>
                <c:pt idx="434">
                  <c:v>9.4695652174</c:v>
                </c:pt>
                <c:pt idx="435">
                  <c:v>9.4776789588</c:v>
                </c:pt>
                <c:pt idx="436">
                  <c:v>9.4858008658</c:v>
                </c:pt>
                <c:pt idx="437">
                  <c:v>9.4939308855</c:v>
                </c:pt>
                <c:pt idx="438">
                  <c:v>9.5020689655</c:v>
                </c:pt>
                <c:pt idx="439">
                  <c:v>9.5102150538</c:v>
                </c:pt>
                <c:pt idx="440">
                  <c:v>9.5183690987</c:v>
                </c:pt>
                <c:pt idx="441">
                  <c:v>9.5265310493</c:v>
                </c:pt>
                <c:pt idx="442">
                  <c:v>9.5347008547</c:v>
                </c:pt>
                <c:pt idx="443">
                  <c:v>9.5428784648</c:v>
                </c:pt>
                <c:pt idx="444">
                  <c:v>9.5510638298</c:v>
                </c:pt>
                <c:pt idx="445">
                  <c:v>9.5592569002</c:v>
                </c:pt>
                <c:pt idx="446">
                  <c:v>9.5674576271</c:v>
                </c:pt>
                <c:pt idx="447">
                  <c:v>9.5756659619</c:v>
                </c:pt>
                <c:pt idx="448">
                  <c:v>9.5838818565</c:v>
                </c:pt>
                <c:pt idx="449">
                  <c:v>9.5921052632</c:v>
                </c:pt>
                <c:pt idx="450">
                  <c:v>9.6003361345</c:v>
                </c:pt>
                <c:pt idx="451">
                  <c:v>9.6085744235</c:v>
                </c:pt>
                <c:pt idx="452">
                  <c:v>9.6168200837</c:v>
                </c:pt>
                <c:pt idx="453">
                  <c:v>9.6250730689</c:v>
                </c:pt>
                <c:pt idx="454">
                  <c:v>9.6333333333</c:v>
                </c:pt>
                <c:pt idx="455">
                  <c:v>9.6416008316</c:v>
                </c:pt>
                <c:pt idx="456">
                  <c:v>9.6498755187</c:v>
                </c:pt>
                <c:pt idx="457">
                  <c:v>9.6581573499</c:v>
                </c:pt>
                <c:pt idx="458">
                  <c:v>9.666446281</c:v>
                </c:pt>
                <c:pt idx="459">
                  <c:v>9.674742268</c:v>
                </c:pt>
                <c:pt idx="460">
                  <c:v>9.6830452675</c:v>
                </c:pt>
                <c:pt idx="461">
                  <c:v>9.6913552361</c:v>
                </c:pt>
                <c:pt idx="462">
                  <c:v>9.6996721311</c:v>
                </c:pt>
                <c:pt idx="463">
                  <c:v>9.70799591</c:v>
                </c:pt>
                <c:pt idx="464">
                  <c:v>9.7163265306</c:v>
                </c:pt>
                <c:pt idx="465">
                  <c:v>9.7246639511</c:v>
                </c:pt>
                <c:pt idx="466">
                  <c:v>9.7330081301</c:v>
                </c:pt>
                <c:pt idx="467">
                  <c:v>9.7413590264</c:v>
                </c:pt>
                <c:pt idx="468">
                  <c:v>9.7497165992</c:v>
                </c:pt>
                <c:pt idx="469">
                  <c:v>9.7580808081</c:v>
                </c:pt>
                <c:pt idx="470">
                  <c:v>9.7664516129</c:v>
                </c:pt>
                <c:pt idx="471">
                  <c:v>9.7748289738</c:v>
                </c:pt>
                <c:pt idx="472">
                  <c:v>9.7832128514</c:v>
                </c:pt>
                <c:pt idx="473">
                  <c:v>9.7916032064</c:v>
                </c:pt>
                <c:pt idx="474">
                  <c:v>9.8</c:v>
                </c:pt>
              </c:numCache>
            </c:numRef>
          </c:yVal>
          <c:smooth val="0"/>
        </c:ser>
        <c:ser>
          <c:idx val="2"/>
          <c:order val="2"/>
          <c:tx>
            <c:v>Oude prijs</c:v>
          </c:tx>
          <c:spPr>
            <a:ln xmlns:a="http://schemas.openxmlformats.org/drawingml/2006/main" w="33338">
              <a:solidFill>
                <a:srgbClr val="445B6B"/>
              </a:solidFill>
              <a:prstDash val="dash"/>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445B6B"/>
                        </a:solidFill>
                        <a:latin typeface="Arial"/>
                        <a:ea typeface="Arial"/>
                        <a:cs typeface="Arial"/>
                      </a:rPr>
                      <a:t>P₀ = 10</a:t>
                    </a:r>
                  </a:p>
                </c:rich>
              </c:tx>
              <c:txPr>
                <a:bodyPr xmlns:a="http://schemas.openxmlformats.org/drawingml/2006/main" anchorCtr="1"/>
                <a:lstStyle xmlns:a="http://schemas.openxmlformats.org/drawingml/2006/main"/>
                <a:p xmlns:a="http://schemas.openxmlformats.org/drawingml/2006/main">
                  <a:pPr>
                    <a:defRPr sz="1800" b="1">
                      <a:solidFill>
                        <a:srgbClr val="445B6B"/>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Data'!$E$2:$E$4</c:f>
              <c:numCache>
                <c:formatCode>General</c:formatCode>
                <c:ptCount val="3"/>
                <c:pt idx="0">
                  <c:v>0</c:v>
                </c:pt>
                <c:pt idx="1">
                  <c:v>212.5</c:v>
                </c:pt>
                <c:pt idx="2">
                  <c:v>250</c:v>
                </c:pt>
              </c:numCache>
            </c:numRef>
          </c:xVal>
          <c:yVal>
            <c:numRef>
              <c:f>'Chart Data'!$F$2:$F$4</c:f>
              <c:numCache>
                <c:formatCode>0</c:formatCode>
                <c:ptCount val="3"/>
                <c:pt idx="0">
                  <c:v>10</c:v>
                </c:pt>
                <c:pt idx="1">
                  <c:v>10</c:v>
                </c:pt>
                <c:pt idx="2">
                  <c:v>10</c:v>
                </c:pt>
              </c:numCache>
            </c:numRef>
          </c:yVal>
          <c:smooth val="0"/>
        </c:ser>
        <c:ser>
          <c:idx val="3"/>
          <c:order val="3"/>
          <c:tx>
            <c:v>P = GO = MO</c:v>
          </c:tx>
          <c:spPr>
            <a:ln xmlns:a="http://schemas.openxmlformats.org/drawingml/2006/main" w="33338">
              <a:solidFill>
                <a:srgbClr val="17658A"/>
              </a:solidFill>
            </a:ln>
          </c:spPr>
          <c:marker>
            <c:symbol val="none"/>
            <c:size val="3"/>
          </c:marker>
          <c:dLbls>
            <c:dLbl>
              <c:idx val="1"/>
              <c:tx>
                <c:rich>
                  <a:bodyPr xmlns:a="http://schemas.openxmlformats.org/drawingml/2006/main"/>
                  <a:lstStyle xmlns:a="http://schemas.openxmlformats.org/drawingml/2006/main"/>
                  <a:p xmlns:a="http://schemas.openxmlformats.org/drawingml/2006/main">
                    <a:r>
                      <a:rPr sz="1800" b="1">
                        <a:solidFill>
                          <a:srgbClr val="17658A"/>
                        </a:solidFill>
                        <a:latin typeface="Arial"/>
                        <a:ea typeface="Arial"/>
                        <a:cs typeface="Arial"/>
                      </a:rPr>
                      <a:t>P₁ = 8</a:t>
                    </a:r>
                  </a:p>
                </c:rich>
              </c:tx>
              <c:txPr>
                <a:bodyPr xmlns:a="http://schemas.openxmlformats.org/drawingml/2006/main" anchorCtr="1"/>
                <a:lstStyle xmlns:a="http://schemas.openxmlformats.org/drawingml/2006/main"/>
                <a:p xmlns:a="http://schemas.openxmlformats.org/drawingml/2006/main">
                  <a:pPr>
                    <a:defRPr sz="1800" b="1">
                      <a:solidFill>
                        <a:srgbClr val="17658A"/>
                      </a:solidFill>
                      <a:latin typeface="Arial"/>
                      <a:ea typeface="Arial"/>
                      <a:cs typeface="Arial"/>
                    </a:defRPr>
                  </a:pPr>
                </a:p>
              </c:txPr>
              <c:dLblPos val="b"/>
              <c:showLegendKey val="0"/>
              <c:showVal val="0"/>
              <c:showCatName val="0"/>
              <c:showSerName val="0"/>
              <c:showPercent val="0"/>
              <c:showBubbleSize val="0"/>
            </c:dLbl>
            <c:showLegendKey val="0"/>
            <c:showVal val="0"/>
            <c:showCatName val="0"/>
            <c:showSerName val="0"/>
            <c:showPercent val="0"/>
            <c:showBubbleSize val="0"/>
          </c:dLbls>
          <c:xVal>
            <c:numRef>
              <c:f>'Chart Data'!$G$2:$G$4</c:f>
              <c:numCache>
                <c:formatCode>General</c:formatCode>
                <c:ptCount val="3"/>
                <c:pt idx="0">
                  <c:v>0</c:v>
                </c:pt>
                <c:pt idx="1">
                  <c:v>212.5</c:v>
                </c:pt>
                <c:pt idx="2">
                  <c:v>250</c:v>
                </c:pt>
              </c:numCache>
            </c:numRef>
          </c:xVal>
          <c:yVal>
            <c:numRef>
              <c:f>'Chart Data'!$H$2:$H$4</c:f>
              <c:numCache>
                <c:formatCode>0</c:formatCode>
                <c:ptCount val="3"/>
                <c:pt idx="0">
                  <c:v>8</c:v>
                </c:pt>
                <c:pt idx="1">
                  <c:v>8</c:v>
                </c:pt>
                <c:pt idx="2">
                  <c:v>8</c:v>
                </c:pt>
              </c:numCache>
            </c:numRef>
          </c:yVal>
          <c:smooth val="0"/>
        </c:ser>
        <c:ser>
          <c:idx val="4"/>
          <c:order val="4"/>
          <c:tx>
            <c:v>Hulplijn</c:v>
          </c:tx>
          <c:spPr>
            <a:ln xmlns:a="http://schemas.openxmlformats.org/drawingml/2006/main" w="14288">
              <a:solidFill>
                <a:srgbClr val="445B6B"/>
              </a:solidFill>
              <a:prstDash val="dash"/>
            </a:ln>
          </c:spPr>
          <c:marker>
            <c:symbol val="none"/>
            <c:size val="3"/>
          </c:marker>
          <c:xVal>
            <c:numRef>
              <c:f>'Chart Data'!$I$2:$I$4</c:f>
              <c:numCache>
                <c:formatCode>General</c:formatCode>
                <c:ptCount val="3"/>
                <c:pt idx="0">
                  <c:v>0</c:v>
                </c:pt>
                <c:pt idx="1">
                  <c:v>100</c:v>
                </c:pt>
                <c:pt idx="2">
                  <c:v>100</c:v>
                </c:pt>
              </c:numCache>
            </c:numRef>
          </c:xVal>
          <c:yVal>
            <c:numRef>
              <c:f>'Chart Data'!$J$2:$J$4</c:f>
              <c:numCache>
                <c:formatCode>0</c:formatCode>
                <c:ptCount val="3"/>
                <c:pt idx="0">
                  <c:v>8</c:v>
                </c:pt>
                <c:pt idx="1">
                  <c:v>8</c:v>
                </c:pt>
                <c:pt idx="2">
                  <c:v>0</c:v>
                </c:pt>
              </c:numCache>
            </c:numRef>
          </c:yVal>
          <c:smooth val="0"/>
        </c:ser>
        <c:ser>
          <c:idx val="5"/>
          <c:order val="5"/>
          <c:tx>
            <c:v>Keuze</c:v>
          </c:tx>
          <c:spPr>
            <a:ln xmlns:a="http://schemas.openxmlformats.org/drawingml/2006/main" w="33338">
              <a:solidFill>
                <a:srgbClr val="183247"/>
              </a:solidFill>
            </a:ln>
          </c:spPr>
          <c:marker>
            <c:symbol val="circle"/>
            <c:size val="8"/>
            <c:spPr>
              <a:solidFill xmlns:a="http://schemas.openxmlformats.org/drawingml/2006/main">
                <a:srgbClr val="183247"/>
              </a:solidFill>
            </c:spPr>
          </c:marker>
          <c:xVal>
            <c:numRef>
              <c:f>'Chart Data'!$K$2:$K$2</c:f>
              <c:numCache>
                <c:formatCode>General</c:formatCode>
                <c:ptCount val="1"/>
                <c:pt idx="0">
                  <c:v>100</c:v>
                </c:pt>
              </c:numCache>
            </c:numRef>
          </c:xVal>
          <c:yVal>
            <c:numRef>
              <c:f>'Chart Data'!$L$2:$L$2</c:f>
              <c:numCache>
                <c:formatCode>0</c:formatCode>
                <c:ptCount val="1"/>
                <c:pt idx="0">
                  <c:v>8</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MK en GTK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4"/>
      </c:valAx>
      <c:valAx>
        <c:axId val="48650112"/>
        <c:scaling>
          <c:orientation val="minMax"/>
          <c:max val="25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(kg per week)</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5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4.1.1 Hoe lang blijft de winst?">
            <a:extLst xmlns:a="http://schemas.openxmlformats.org/drawingml/2006/main">
              <a:ext uri="{FF2B5EF4-FFF2-40B4-BE49-F238E27FC236}">
                <a16:creationId xmlns:a16="http://schemas.microsoft.com/office/drawing/2014/main" id="{61AC5D16-4BBF-481B-8BF3-B0249CBA589E}"/>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Deze les: §4.1.1 Hoe lang blijft de winst?</a:t>
            </a:r>
          </a:p>
        </p:txBody>
      </p:sp>
      <p:sp>
        <p:nvSpPr>
          <p:cNvPr id="2" name="">
            <a:extLst xmlns:a="http://schemas.openxmlformats.org/drawingml/2006/main">
              <a:ext uri="{FF2B5EF4-FFF2-40B4-BE49-F238E27FC236}">
                <a16:creationId xmlns:a16="http://schemas.microsoft.com/office/drawing/2014/main" id="{9454B14E-56D1-4B41-AC44-BB4AF4B89CC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Hoe lang blijft de winst?">
            <a:extLst xmlns:a="http://schemas.openxmlformats.org/drawingml/2006/main">
              <a:ext uri="{FF2B5EF4-FFF2-40B4-BE49-F238E27FC236}">
                <a16:creationId xmlns:a16="http://schemas.microsoft.com/office/drawing/2014/main" id="{70D8D74E-DF14-45E4-B9A8-5C81FB336F71}"/>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Hoe lang blijft de winst?</a:t>
            </a:r>
          </a:p>
        </p:txBody>
      </p:sp>
      <p:sp>
        <p:nvSpPr>
          <p:cNvPr id="4" name="slide-number">
            <a:extLst xmlns:a="http://schemas.openxmlformats.org/drawingml/2006/main">
              <a:ext uri="{FF2B5EF4-FFF2-40B4-BE49-F238E27FC236}">
                <a16:creationId xmlns:a16="http://schemas.microsoft.com/office/drawing/2014/main" id="{BD13CF10-D35D-449A-8B50-090E78025223}"/>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1</a:t>
            </a:r>
          </a:p>
        </p:txBody>
      </p:sp>
      <p:sp>
        <p:nvSpPr>
          <p:cNvPr id="5" name="phase">
            <a:extLst xmlns:a="http://schemas.openxmlformats.org/drawingml/2006/main">
              <a:ext uri="{FF2B5EF4-FFF2-40B4-BE49-F238E27FC236}">
                <a16:creationId xmlns:a16="http://schemas.microsoft.com/office/drawing/2014/main" id="{CC81B81D-CA1A-47E0-BABC-8408C9C1F65E}"/>
              </a:ext>
            </a:extLst>
          </p:cNvPr>
          <p:cNvSpPr>
            <a:spLocks xmlns:a="http://schemas.openxmlformats.org/drawingml/2006/main" noGrp="1"/>
          </p:cNvSpPr>
          <p:nvPr/>
        </p:nvSpPr>
        <p:spPr>
          <a:xfrm xmlns:a="http://schemas.openxmlformats.org/drawingml/2006/main">
            <a:off x="571500" y="1019175"/>
            <a:ext cx="14001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Startopdracht</a:t>
            </a:r>
          </a:p>
        </p:txBody>
      </p:sp>
      <p:sp>
        <p:nvSpPr>
          <p:cNvPr id="6" name="Lesroute">
            <a:extLst xmlns:a="http://schemas.openxmlformats.org/drawingml/2006/main">
              <a:ext uri="{FF2B5EF4-FFF2-40B4-BE49-F238E27FC236}">
                <a16:creationId xmlns:a16="http://schemas.microsoft.com/office/drawing/2014/main" id="{15F4AEB8-951A-41CB-BEB1-B6AD8C034F98}"/>
              </a:ext>
            </a:extLst>
          </p:cNvPr>
          <p:cNvSpPr>
            <a:spLocks xmlns:a="http://schemas.openxmlformats.org/drawingml/2006/main" noGrp="1"/>
          </p:cNvSpPr>
          <p:nvPr/>
        </p:nvSpPr>
        <p:spPr>
          <a:xfrm xmlns:a="http://schemas.openxmlformats.org/drawingml/2006/main">
            <a:off x="571500" y="1714500"/>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0">
            <a:extLst xmlns:a="http://schemas.openxmlformats.org/drawingml/2006/main">
              <a:ext uri="{FF2B5EF4-FFF2-40B4-BE49-F238E27FC236}">
                <a16:creationId xmlns:a16="http://schemas.microsoft.com/office/drawing/2014/main" id="{242710E3-0A48-4CD3-9AD0-A47676AB3747}"/>
              </a:ext>
            </a:extLst>
          </p:cNvPr>
          <p:cNvSpPr>
            <a:spLocks xmlns:a="http://schemas.openxmlformats.org/drawingml/2006/main" noGrp="1"/>
          </p:cNvSpPr>
          <p:nvPr/>
        </p:nvSpPr>
        <p:spPr>
          <a:xfrm xmlns:a="http://schemas.openxmlformats.org/drawingml/2006/main">
            <a:off x="571500" y="2276475"/>
            <a:ext cx="457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0">
            <a:extLst xmlns:a="http://schemas.openxmlformats.org/drawingml/2006/main">
              <a:ext uri="{FF2B5EF4-FFF2-40B4-BE49-F238E27FC236}">
                <a16:creationId xmlns:a16="http://schemas.microsoft.com/office/drawing/2014/main" id="{27226149-D026-4C96-9341-0FCAF3E2980A}"/>
              </a:ext>
            </a:extLst>
          </p:cNvPr>
          <p:cNvSpPr>
            <a:spLocks xmlns:a="http://schemas.openxmlformats.org/drawingml/2006/main" noGrp="1"/>
          </p:cNvSpPr>
          <p:nvPr/>
        </p:nvSpPr>
        <p:spPr>
          <a:xfrm xmlns:a="http://schemas.openxmlformats.org/drawingml/2006/main">
            <a:off x="1104900" y="2276475"/>
            <a:ext cx="7419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1">
            <a:extLst xmlns:a="http://schemas.openxmlformats.org/drawingml/2006/main">
              <a:ext uri="{FF2B5EF4-FFF2-40B4-BE49-F238E27FC236}">
                <a16:creationId xmlns:a16="http://schemas.microsoft.com/office/drawing/2014/main" id="{7B9B9B3D-8864-4F73-ADDB-4AF5416E3DA8}"/>
              </a:ext>
            </a:extLst>
          </p:cNvPr>
          <p:cNvSpPr>
            <a:spLocks xmlns:a="http://schemas.openxmlformats.org/drawingml/2006/main" noGrp="1"/>
          </p:cNvSpPr>
          <p:nvPr/>
        </p:nvSpPr>
        <p:spPr>
          <a:xfrm xmlns:a="http://schemas.openxmlformats.org/drawingml/2006/main">
            <a:off x="571500" y="3143250"/>
            <a:ext cx="45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2.</a:t>
            </a:r>
          </a:p>
        </p:txBody>
      </p:sp>
      <p:sp>
        <p:nvSpPr>
          <p:cNvPr id="10" name="route-1">
            <a:extLst xmlns:a="http://schemas.openxmlformats.org/drawingml/2006/main">
              <a:ext uri="{FF2B5EF4-FFF2-40B4-BE49-F238E27FC236}">
                <a16:creationId xmlns:a16="http://schemas.microsoft.com/office/drawing/2014/main" id="{CB660EA5-CC61-4123-81BC-5E94CD4F66CA}"/>
              </a:ext>
            </a:extLst>
          </p:cNvPr>
          <p:cNvSpPr>
            <a:spLocks xmlns:a="http://schemas.openxmlformats.org/drawingml/2006/main" noGrp="1"/>
          </p:cNvSpPr>
          <p:nvPr/>
        </p:nvSpPr>
        <p:spPr>
          <a:xfrm xmlns:a="http://schemas.openxmlformats.org/drawingml/2006/main">
            <a:off x="1104900" y="3143250"/>
            <a:ext cx="74199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Maak de startopdracht.</a:t>
            </a:r>
          </a:p>
        </p:txBody>
      </p:sp>
      <p:sp>
        <p:nvSpPr>
          <p:cNvPr id="11" name="route-number-2">
            <a:extLst xmlns:a="http://schemas.openxmlformats.org/drawingml/2006/main">
              <a:ext uri="{FF2B5EF4-FFF2-40B4-BE49-F238E27FC236}">
                <a16:creationId xmlns:a16="http://schemas.microsoft.com/office/drawing/2014/main" id="{1CB25025-A87F-4EA3-BEF2-C41F6E14E9CB}"/>
              </a:ext>
            </a:extLst>
          </p:cNvPr>
          <p:cNvSpPr>
            <a:spLocks xmlns:a="http://schemas.openxmlformats.org/drawingml/2006/main" noGrp="1"/>
          </p:cNvSpPr>
          <p:nvPr/>
        </p:nvSpPr>
        <p:spPr>
          <a:xfrm xmlns:a="http://schemas.openxmlformats.org/drawingml/2006/main">
            <a:off x="571500" y="3657600"/>
            <a:ext cx="45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2">
            <a:extLst xmlns:a="http://schemas.openxmlformats.org/drawingml/2006/main">
              <a:ext uri="{FF2B5EF4-FFF2-40B4-BE49-F238E27FC236}">
                <a16:creationId xmlns:a16="http://schemas.microsoft.com/office/drawing/2014/main" id="{42B714DE-D8C1-45D9-81E6-A6237B1BE727}"/>
              </a:ext>
            </a:extLst>
          </p:cNvPr>
          <p:cNvSpPr>
            <a:spLocks xmlns:a="http://schemas.openxmlformats.org/drawingml/2006/main" noGrp="1"/>
          </p:cNvSpPr>
          <p:nvPr/>
        </p:nvSpPr>
        <p:spPr>
          <a:xfrm xmlns:a="http://schemas.openxmlformats.org/drawingml/2006/main">
            <a:off x="1104900" y="3657600"/>
            <a:ext cx="74199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3">
            <a:extLst xmlns:a="http://schemas.openxmlformats.org/drawingml/2006/main">
              <a:ext uri="{FF2B5EF4-FFF2-40B4-BE49-F238E27FC236}">
                <a16:creationId xmlns:a16="http://schemas.microsoft.com/office/drawing/2014/main" id="{033C6BC6-DB61-4115-AA40-025AE4B08894}"/>
              </a:ext>
            </a:extLst>
          </p:cNvPr>
          <p:cNvSpPr>
            <a:spLocks xmlns:a="http://schemas.openxmlformats.org/drawingml/2006/main" noGrp="1"/>
          </p:cNvSpPr>
          <p:nvPr/>
        </p:nvSpPr>
        <p:spPr>
          <a:xfrm xmlns:a="http://schemas.openxmlformats.org/drawingml/2006/main">
            <a:off x="571500" y="4171950"/>
            <a:ext cx="457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3">
            <a:extLst xmlns:a="http://schemas.openxmlformats.org/drawingml/2006/main">
              <a:ext uri="{FF2B5EF4-FFF2-40B4-BE49-F238E27FC236}">
                <a16:creationId xmlns:a16="http://schemas.microsoft.com/office/drawing/2014/main" id="{34FBDDB4-D7EF-41A4-B70D-A190A7615F77}"/>
              </a:ext>
            </a:extLst>
          </p:cNvPr>
          <p:cNvSpPr>
            <a:spLocks xmlns:a="http://schemas.openxmlformats.org/drawingml/2006/main" noGrp="1"/>
          </p:cNvSpPr>
          <p:nvPr/>
        </p:nvSpPr>
        <p:spPr>
          <a:xfrm xmlns:a="http://schemas.openxmlformats.org/drawingml/2006/main">
            <a:off x="1104900" y="4171950"/>
            <a:ext cx="7419975"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4">
            <a:extLst xmlns:a="http://schemas.openxmlformats.org/drawingml/2006/main">
              <a:ext uri="{FF2B5EF4-FFF2-40B4-BE49-F238E27FC236}">
                <a16:creationId xmlns:a16="http://schemas.microsoft.com/office/drawing/2014/main" id="{624BD656-C034-4B75-A85F-DB2321E63D44}"/>
              </a:ext>
            </a:extLst>
          </p:cNvPr>
          <p:cNvSpPr>
            <a:spLocks xmlns:a="http://schemas.openxmlformats.org/drawingml/2006/main" noGrp="1"/>
          </p:cNvSpPr>
          <p:nvPr/>
        </p:nvSpPr>
        <p:spPr>
          <a:xfrm xmlns:a="http://schemas.openxmlformats.org/drawingml/2006/main">
            <a:off x="571500" y="5934075"/>
            <a:ext cx="457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4">
            <a:extLst xmlns:a="http://schemas.openxmlformats.org/drawingml/2006/main">
              <a:ext uri="{FF2B5EF4-FFF2-40B4-BE49-F238E27FC236}">
                <a16:creationId xmlns:a16="http://schemas.microsoft.com/office/drawing/2014/main" id="{AC1DA929-6E2E-459B-BF8B-C30AB2E3425C}"/>
              </a:ext>
            </a:extLst>
          </p:cNvPr>
          <p:cNvSpPr>
            <a:spLocks xmlns:a="http://schemas.openxmlformats.org/drawingml/2006/main" noGrp="1"/>
          </p:cNvSpPr>
          <p:nvPr/>
        </p:nvSpPr>
        <p:spPr>
          <a:xfrm xmlns:a="http://schemas.openxmlformats.org/drawingml/2006/main">
            <a:off x="1104900" y="5934075"/>
            <a:ext cx="74199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5">
            <a:extLst xmlns:a="http://schemas.openxmlformats.org/drawingml/2006/main">
              <a:ext uri="{FF2B5EF4-FFF2-40B4-BE49-F238E27FC236}">
                <a16:creationId xmlns:a16="http://schemas.microsoft.com/office/drawing/2014/main" id="{3EC21162-ED09-4D9E-ABB3-CCF35CB707D0}"/>
              </a:ext>
            </a:extLst>
          </p:cNvPr>
          <p:cNvSpPr>
            <a:spLocks xmlns:a="http://schemas.openxmlformats.org/drawingml/2006/main" noGrp="1"/>
          </p:cNvSpPr>
          <p:nvPr/>
        </p:nvSpPr>
        <p:spPr>
          <a:xfrm xmlns:a="http://schemas.openxmlformats.org/drawingml/2006/main">
            <a:off x="571500" y="6705600"/>
            <a:ext cx="4572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5">
            <a:extLst xmlns:a="http://schemas.openxmlformats.org/drawingml/2006/main">
              <a:ext uri="{FF2B5EF4-FFF2-40B4-BE49-F238E27FC236}">
                <a16:creationId xmlns:a16="http://schemas.microsoft.com/office/drawing/2014/main" id="{0ED7920B-327B-4C7B-8629-3D882B2CFE17}"/>
              </a:ext>
            </a:extLst>
          </p:cNvPr>
          <p:cNvSpPr>
            <a:spLocks xmlns:a="http://schemas.openxmlformats.org/drawingml/2006/main" noGrp="1"/>
          </p:cNvSpPr>
          <p:nvPr/>
        </p:nvSpPr>
        <p:spPr>
          <a:xfrm xmlns:a="http://schemas.openxmlformats.org/drawingml/2006/main">
            <a:off x="1104900" y="6705600"/>
            <a:ext cx="74199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6">
            <a:extLst xmlns:a="http://schemas.openxmlformats.org/drawingml/2006/main">
              <a:ext uri="{FF2B5EF4-FFF2-40B4-BE49-F238E27FC236}">
                <a16:creationId xmlns:a16="http://schemas.microsoft.com/office/drawing/2014/main" id="{06869E43-D12E-43BC-9CAB-1FC2B6716F92}"/>
              </a:ext>
            </a:extLst>
          </p:cNvPr>
          <p:cNvSpPr>
            <a:spLocks xmlns:a="http://schemas.openxmlformats.org/drawingml/2006/main" noGrp="1"/>
          </p:cNvSpPr>
          <p:nvPr/>
        </p:nvSpPr>
        <p:spPr>
          <a:xfrm xmlns:a="http://schemas.openxmlformats.org/drawingml/2006/main">
            <a:off x="571500" y="7305675"/>
            <a:ext cx="4572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6">
            <a:extLst xmlns:a="http://schemas.openxmlformats.org/drawingml/2006/main">
              <a:ext uri="{FF2B5EF4-FFF2-40B4-BE49-F238E27FC236}">
                <a16:creationId xmlns:a16="http://schemas.microsoft.com/office/drawing/2014/main" id="{32BC7759-2DD4-4D86-82D0-E4D7C6D1828E}"/>
              </a:ext>
            </a:extLst>
          </p:cNvPr>
          <p:cNvSpPr>
            <a:spLocks xmlns:a="http://schemas.openxmlformats.org/drawingml/2006/main" noGrp="1"/>
          </p:cNvSpPr>
          <p:nvPr/>
        </p:nvSpPr>
        <p:spPr>
          <a:xfrm xmlns:a="http://schemas.openxmlformats.org/drawingml/2006/main">
            <a:off x="1104900" y="7305675"/>
            <a:ext cx="74199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CD03AACD-4C88-4CBA-88BC-538D61DE0BAD}"/>
              </a:ext>
            </a:extLst>
          </p:cNvPr>
          <p:cNvSpPr>
            <a:spLocks xmlns:a="http://schemas.openxmlformats.org/drawingml/2006/main" noGrp="1"/>
          </p:cNvSpPr>
          <p:nvPr/>
        </p:nvSpPr>
        <p:spPr>
          <a:xfrm xmlns:a="http://schemas.openxmlformats.org/drawingml/2006/main">
            <a:off x="9258300" y="17145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186AE7C7-DBEE-4DDF-84DE-319098663CC1}"/>
              </a:ext>
            </a:extLst>
          </p:cNvPr>
          <p:cNvSpPr>
            <a:spLocks xmlns:a="http://schemas.openxmlformats.org/drawingml/2006/main" noGrp="1"/>
          </p:cNvSpPr>
          <p:nvPr/>
        </p:nvSpPr>
        <p:spPr>
          <a:xfrm xmlns:a="http://schemas.openxmlformats.org/drawingml/2006/main">
            <a:off x="9258300" y="2276475"/>
            <a:ext cx="5410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Toe- en uittreding verklaren.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Markt Q en bedrijfs-q tekenen.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Nulwinst berekenen en uitleggen.</a:t>
            </a:r>
          </a:p>
        </p:txBody>
      </p:sp>
      <p:sp>
        <p:nvSpPr>
          <p:cNvPr id="23" name="">
            <a:extLst xmlns:a="http://schemas.openxmlformats.org/drawingml/2006/main">
              <a:ext uri="{FF2B5EF4-FFF2-40B4-BE49-F238E27FC236}">
                <a16:creationId xmlns:a16="http://schemas.microsoft.com/office/drawing/2014/main" id="{8ACA6882-1AB3-407F-93C2-8A3CF74FFF47}"/>
              </a:ext>
            </a:extLst>
          </p:cNvPr>
          <p:cNvSpPr>
            <a:spLocks xmlns:a="http://schemas.openxmlformats.org/drawingml/2006/main" noGrp="1"/>
          </p:cNvSpPr>
          <p:nvPr/>
        </p:nvSpPr>
        <p:spPr>
          <a:xfrm xmlns:a="http://schemas.openxmlformats.org/drawingml/2006/main">
            <a:off x="9258300" y="35242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7D1D46EC-E334-436E-B5CF-3747B57F1300}"/>
              </a:ext>
            </a:extLst>
          </p:cNvPr>
          <p:cNvSpPr>
            <a:spLocks xmlns:a="http://schemas.openxmlformats.org/drawingml/2006/main" noGrp="1"/>
          </p:cNvSpPr>
          <p:nvPr/>
        </p:nvSpPr>
        <p:spPr>
          <a:xfrm xmlns:a="http://schemas.openxmlformats.org/drawingml/2006/main">
            <a:off x="9258300" y="37338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86C5A1A8-5B2A-4582-9F0C-F834F563739A}"/>
              </a:ext>
            </a:extLst>
          </p:cNvPr>
          <p:cNvSpPr>
            <a:spLocks xmlns:a="http://schemas.openxmlformats.org/drawingml/2006/main" noGrp="1"/>
          </p:cNvSpPr>
          <p:nvPr/>
        </p:nvSpPr>
        <p:spPr>
          <a:xfrm xmlns:a="http://schemas.openxmlformats.org/drawingml/2006/main">
            <a:off x="9258300" y="4238625"/>
            <a:ext cx="5410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Pagina 11 · Opgaven 1 en 2</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 verkennen met theorie p. 7</a:t>
            </a:r>
          </a:p>
        </p:txBody>
      </p:sp>
      <p:sp>
        <p:nvSpPr>
          <p:cNvPr id="26" name="">
            <a:extLst xmlns:a="http://schemas.openxmlformats.org/drawingml/2006/main">
              <a:ext uri="{FF2B5EF4-FFF2-40B4-BE49-F238E27FC236}">
                <a16:creationId xmlns:a16="http://schemas.microsoft.com/office/drawing/2014/main" id="{67A5D27B-FCB8-45D5-AF39-722FDEB8033E}"/>
              </a:ext>
            </a:extLst>
          </p:cNvPr>
          <p:cNvSpPr>
            <a:spLocks xmlns:a="http://schemas.openxmlformats.org/drawingml/2006/main" noGrp="1"/>
          </p:cNvSpPr>
          <p:nvPr/>
        </p:nvSpPr>
        <p:spPr>
          <a:xfrm xmlns:a="http://schemas.openxmlformats.org/drawingml/2006/main">
            <a:off x="9258300" y="5248275"/>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76B04863-2A8A-4FEC-A3B4-D219EECE3A66}"/>
              </a:ext>
            </a:extLst>
          </p:cNvPr>
          <p:cNvSpPr>
            <a:spLocks xmlns:a="http://schemas.openxmlformats.org/drawingml/2006/main" noGrp="1"/>
          </p:cNvSpPr>
          <p:nvPr/>
        </p:nvSpPr>
        <p:spPr>
          <a:xfrm xmlns:a="http://schemas.openxmlformats.org/drawingml/2006/main">
            <a:off x="9258300" y="54483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B0C22AD7-DAD6-47D9-B749-605B36D3A79C}"/>
              </a:ext>
            </a:extLst>
          </p:cNvPr>
          <p:cNvSpPr>
            <a:spLocks xmlns:a="http://schemas.openxmlformats.org/drawingml/2006/main" noGrp="1"/>
          </p:cNvSpPr>
          <p:nvPr/>
        </p:nvSpPr>
        <p:spPr>
          <a:xfrm xmlns:a="http://schemas.openxmlformats.org/drawingml/2006/main">
            <a:off x="9258300" y="6010275"/>
            <a:ext cx="5410200" cy="187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§4.1.1 Hoe lang blijft de winst?</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 en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184279032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Economische winst en normale beloning">
            <a:extLst xmlns:a="http://schemas.openxmlformats.org/drawingml/2006/main">
              <a:ext uri="{FF2B5EF4-FFF2-40B4-BE49-F238E27FC236}">
                <a16:creationId xmlns:a16="http://schemas.microsoft.com/office/drawing/2014/main" id="{671454F3-7D65-44B2-A87E-109D21FF2830}"/>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Economische winst en normale beloning</a:t>
            </a:r>
          </a:p>
        </p:txBody>
      </p:sp>
      <p:sp>
        <p:nvSpPr>
          <p:cNvPr id="2" name="">
            <a:extLst xmlns:a="http://schemas.openxmlformats.org/drawingml/2006/main">
              <a:ext uri="{FF2B5EF4-FFF2-40B4-BE49-F238E27FC236}">
                <a16:creationId xmlns:a16="http://schemas.microsoft.com/office/drawing/2014/main" id="{90EFC9E5-5993-420C-A950-55C214845FD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Hoe lang blijft de winst?">
            <a:extLst xmlns:a="http://schemas.openxmlformats.org/drawingml/2006/main">
              <a:ext uri="{FF2B5EF4-FFF2-40B4-BE49-F238E27FC236}">
                <a16:creationId xmlns:a16="http://schemas.microsoft.com/office/drawing/2014/main" id="{18E72026-2790-4753-9531-A0E262D6FE2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Hoe lang blijft de winst?</a:t>
            </a:r>
          </a:p>
        </p:txBody>
      </p:sp>
      <p:sp>
        <p:nvSpPr>
          <p:cNvPr id="4" name="slide-number">
            <a:extLst xmlns:a="http://schemas.openxmlformats.org/drawingml/2006/main">
              <a:ext uri="{FF2B5EF4-FFF2-40B4-BE49-F238E27FC236}">
                <a16:creationId xmlns:a16="http://schemas.microsoft.com/office/drawing/2014/main" id="{00148F85-DB2F-4DF8-B6A8-4ADB94435400}"/>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2</a:t>
            </a:r>
          </a:p>
        </p:txBody>
      </p:sp>
      <p:sp>
        <p:nvSpPr>
          <p:cNvPr id="5" name="Economische winst = TO − TK">
            <a:extLst xmlns:a="http://schemas.openxmlformats.org/drawingml/2006/main">
              <a:ext uri="{FF2B5EF4-FFF2-40B4-BE49-F238E27FC236}">
                <a16:creationId xmlns:a16="http://schemas.microsoft.com/office/drawing/2014/main" id="{CF7CF06F-6E5E-4F88-AD92-FEECCE1FDDD3}"/>
              </a:ext>
            </a:extLst>
          </p:cNvPr>
          <p:cNvSpPr>
            <a:spLocks xmlns:a="http://schemas.openxmlformats.org/drawingml/2006/main" noGrp="1"/>
          </p:cNvSpPr>
          <p:nvPr/>
        </p:nvSpPr>
        <p:spPr>
          <a:xfrm xmlns:a="http://schemas.openxmlformats.org/drawingml/2006/main">
            <a:off x="571500" y="2238375"/>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050" b="1">
                <a:solidFill>
                  <a:srgbClr val="17658A"/>
                </a:solidFill>
                <a:latin typeface="Arial"/>
                <a:ea typeface="Arial"/>
                <a:cs typeface="Arial"/>
              </a:defRPr>
            </a:pPr>
            <a:r>
              <a:rPr sz="4050" b="1">
                <a:solidFill>
                  <a:srgbClr val="17658A"/>
                </a:solidFill>
                <a:latin typeface="Arial"/>
                <a:ea typeface="Arial"/>
                <a:cs typeface="Arial"/>
              </a:rPr>
              <a:t>Economische winst = TO − TK</a:t>
            </a:r>
          </a:p>
        </p:txBody>
      </p:sp>
      <p:graphicFrame>
        <p:nvGraphicFramePr>
          <p:cNvPr id="13" name=""/>
          <p:cNvGraphicFramePr/>
          <p:nvPr/>
        </p:nvGraphicFramePr>
        <p:xfrm>
          <a:off xmlns:a="http://schemas.openxmlformats.org/drawingml/2006/main" x="571500" y="3695700"/>
          <a:ext xmlns:a="http://schemas.openxmlformats.org/drawingml/2006/main" cx="14097000" cy="2343150"/>
        </p:xfrm>
        <a:graphic xmlns:a="http://schemas.openxmlformats.org/drawingml/2006/main">
          <a:graphicData uri="http://schemas.openxmlformats.org/drawingml/2006/table">
            <a:tbl>
              <a:tblPr/>
              <a:tblGrid>
                <a:gridCol w="7524750"/>
                <a:gridCol w="6572250"/>
              </a:tblGrid>
              <a:tr h="1171575">
                <a:tc>
                  <a:txBody>
                    <a:bodyPr lIns="171450" tIns="95250" rIns="152400" bIns="95250"/>
                    <a:lstStyle/>
                    <a:p>
                      <a:r>
                        <a:rPr sz="2850" b="1">
                          <a:solidFill>
                            <a:srgbClr val="FFFFFF"/>
                          </a:solidFill>
                          <a:latin typeface="Arial"/>
                          <a:ea typeface="Arial"/>
                          <a:cs typeface="Arial"/>
                        </a:rPr>
                        <a:t>In TK opgenomen</a:t>
                      </a:r>
                    </a:p>
                  </a:txBody>
                  <a:tcPr marL="91440" marR="91440" marT="45720" marB="45720" anchor="ctr">
                    <a:solidFill>
                      <a:srgbClr val="183247"/>
                    </a:solidFill>
                  </a:tcPr>
                </a:tc>
                <a:tc>
                  <a:txBody>
                    <a:bodyPr lIns="171450" tIns="95250" rIns="152400" bIns="95250"/>
                    <a:lstStyle/>
                    <a:p>
                      <a:r>
                        <a:rPr sz="2850" b="1">
                          <a:solidFill>
                            <a:srgbClr val="FFFFFF"/>
                          </a:solidFill>
                          <a:latin typeface="Arial"/>
                          <a:ea typeface="Arial"/>
                          <a:cs typeface="Arial"/>
                        </a:rPr>
                        <a:t>Wat daarna overblijft</a:t>
                      </a:r>
                    </a:p>
                  </a:txBody>
                  <a:tcPr marL="91440" marR="91440" marT="45720" marB="45720" anchor="ctr">
                    <a:solidFill>
                      <a:srgbClr val="183247"/>
                    </a:solidFill>
                  </a:tcPr>
                </a:tc>
              </a:tr>
              <a:tr h="1171575">
                <a:tc>
                  <a:txBody>
                    <a:bodyPr lIns="171450" tIns="95250" rIns="152400" bIns="95250"/>
                    <a:lstStyle/>
                    <a:p>
                      <a:r>
                        <a:rPr sz="2850" b="0">
                          <a:solidFill>
                            <a:srgbClr val="183247"/>
                          </a:solidFill>
                          <a:latin typeface="Arial"/>
                          <a:ea typeface="Arial"/>
                          <a:cs typeface="Arial"/>
                        </a:rPr>
                        <a:t>Alle kosten, ook de normale</a:t>
                      </a:r>
                    </a:p>
                    <a:p>
                      <a:r>
                        <a:rPr sz="2850" b="0">
                          <a:solidFill>
                            <a:srgbClr val="183247"/>
                          </a:solidFill>
                          <a:latin typeface="Arial"/>
                          <a:ea typeface="Arial"/>
                          <a:cs typeface="Arial"/>
                        </a:rPr>
                        <a:t>beloning van de ondernemer</a:t>
                      </a:r>
                    </a:p>
                  </a:txBody>
                  <a:tcPr marL="91440" marR="91440" marT="45720" marB="45720" anchor="ctr">
                    <a:solidFill>
                      <a:srgbClr val="FFFFFF"/>
                    </a:solidFill>
                  </a:tcPr>
                </a:tc>
                <a:tc>
                  <a:txBody>
                    <a:bodyPr lIns="171450" tIns="95250" rIns="152400" bIns="95250"/>
                    <a:lstStyle/>
                    <a:p>
                      <a:r>
                        <a:rPr sz="2850" b="0">
                          <a:solidFill>
                            <a:srgbClr val="183247"/>
                          </a:solidFill>
                          <a:latin typeface="Arial"/>
                          <a:ea typeface="Arial"/>
                          <a:cs typeface="Arial"/>
                        </a:rPr>
                        <a:t>Positief: overwinst</a:t>
                      </a:r>
                    </a:p>
                    <a:p>
                      <a:r>
                        <a:rPr sz="2850" b="0">
                          <a:solidFill>
                            <a:srgbClr val="183247"/>
                          </a:solidFill>
                          <a:latin typeface="Arial"/>
                          <a:ea typeface="Arial"/>
                          <a:cs typeface="Arial"/>
                        </a:rPr>
                        <a:t>Nul: geen extra winst</a:t>
                      </a:r>
                    </a:p>
                  </a:txBody>
                  <a:tcPr marL="91440" marR="91440" marT="45720" marB="45720" anchor="ctr">
                    <a:solidFill>
                      <a:srgbClr val="FFFFFF"/>
                    </a:solidFill>
                  </a:tcPr>
                </a:tc>
              </a:tr>
            </a:tbl>
          </a:graphicData>
        </a:graphic>
      </p:graphicFrame>
      <p:sp>
        <p:nvSpPr>
          <p:cNvPr id="7" name="Nul economische winst: de normale beloning blijft betaald.">
            <a:extLst xmlns:a="http://schemas.openxmlformats.org/drawingml/2006/main">
              <a:ext uri="{FF2B5EF4-FFF2-40B4-BE49-F238E27FC236}">
                <a16:creationId xmlns:a16="http://schemas.microsoft.com/office/drawing/2014/main" id="{5C0F8BCC-8612-4884-BB3A-A0DEF09DADF4}"/>
              </a:ext>
            </a:extLst>
          </p:cNvPr>
          <p:cNvSpPr>
            <a:spLocks xmlns:a="http://schemas.openxmlformats.org/drawingml/2006/main" noGrp="1"/>
          </p:cNvSpPr>
          <p:nvPr/>
        </p:nvSpPr>
        <p:spPr>
          <a:xfrm xmlns:a="http://schemas.openxmlformats.org/drawingml/2006/main">
            <a:off x="571500" y="6829425"/>
            <a:ext cx="14097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83247"/>
                </a:solidFill>
                <a:latin typeface="Arial"/>
                <a:ea typeface="Arial"/>
                <a:cs typeface="Arial"/>
              </a:defRPr>
            </a:pPr>
            <a:r>
              <a:rPr sz="3150" b="1">
                <a:solidFill>
                  <a:srgbClr val="183247"/>
                </a:solidFill>
                <a:latin typeface="Arial"/>
                <a:ea typeface="Arial"/>
                <a:cs typeface="Arial"/>
              </a:rPr>
              <a:t>Nul economische winst: de normale beloning blijft betaald.</a:t>
            </a:r>
          </a:p>
        </p:txBody>
      </p:sp>
    </p:spTree>
    <p:extLst>
      <p:ext uri="{BB962C8B-B14F-4D97-AF65-F5344CB8AC3E}">
        <p14:creationId xmlns:p14="http://schemas.microsoft.com/office/powerpoint/2010/main" val="177861035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Een markt met vrije toetreding">
            <a:extLst xmlns:a="http://schemas.openxmlformats.org/drawingml/2006/main">
              <a:ext uri="{FF2B5EF4-FFF2-40B4-BE49-F238E27FC236}">
                <a16:creationId xmlns:a16="http://schemas.microsoft.com/office/drawing/2014/main" id="{1746F5A0-7ADC-4D7B-82D9-EFEAB476822F}"/>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Een markt met vrije toetreding</a:t>
            </a:r>
          </a:p>
        </p:txBody>
      </p:sp>
      <p:sp>
        <p:nvSpPr>
          <p:cNvPr id="2" name="">
            <a:extLst xmlns:a="http://schemas.openxmlformats.org/drawingml/2006/main">
              <a:ext uri="{FF2B5EF4-FFF2-40B4-BE49-F238E27FC236}">
                <a16:creationId xmlns:a16="http://schemas.microsoft.com/office/drawing/2014/main" id="{05416097-5421-4D02-846A-2AE29421E9C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Hoe lang blijft de winst?">
            <a:extLst xmlns:a="http://schemas.openxmlformats.org/drawingml/2006/main">
              <a:ext uri="{FF2B5EF4-FFF2-40B4-BE49-F238E27FC236}">
                <a16:creationId xmlns:a16="http://schemas.microsoft.com/office/drawing/2014/main" id="{4CA63898-0144-4DBC-A951-D0F4695735DE}"/>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Hoe lang blijft de winst?</a:t>
            </a:r>
          </a:p>
        </p:txBody>
      </p:sp>
      <p:sp>
        <p:nvSpPr>
          <p:cNvPr id="4" name="slide-number">
            <a:extLst xmlns:a="http://schemas.openxmlformats.org/drawingml/2006/main">
              <a:ext uri="{FF2B5EF4-FFF2-40B4-BE49-F238E27FC236}">
                <a16:creationId xmlns:a16="http://schemas.microsoft.com/office/drawing/2014/main" id="{BB03D021-A686-4760-918E-5EFB35D8E42C}"/>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3</a:t>
            </a:r>
          </a:p>
        </p:txBody>
      </p:sp>
      <p:sp>
        <p:nvSpPr>
          <p:cNvPr id="5" name="Vezelkorrels · Uitlegvoorbeeld — niet uit het boek">
            <a:extLst xmlns:a="http://schemas.openxmlformats.org/drawingml/2006/main">
              <a:ext uri="{FF2B5EF4-FFF2-40B4-BE49-F238E27FC236}">
                <a16:creationId xmlns:a16="http://schemas.microsoft.com/office/drawing/2014/main" id="{9AF67232-3ABE-4C9E-9A32-F686162EA513}"/>
              </a:ext>
            </a:extLst>
          </p:cNvPr>
          <p:cNvSpPr>
            <a:spLocks xmlns:a="http://schemas.openxmlformats.org/drawingml/2006/main" noGrp="1"/>
          </p:cNvSpPr>
          <p:nvPr/>
        </p:nvSpPr>
        <p:spPr>
          <a:xfrm xmlns:a="http://schemas.openxmlformats.org/drawingml/2006/main">
            <a:off x="571500" y="1695450"/>
            <a:ext cx="14097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Vezelkorrels · Uitlegvoorbeeld — niet uit het boek</a:t>
            </a:r>
          </a:p>
        </p:txBody>
      </p:sp>
      <p:sp>
        <p:nvSpPr>
          <p:cNvPr id="6" name="Veel identieke prijsnemers verkopen vezelkorrels.">
            <a:extLst xmlns:a="http://schemas.openxmlformats.org/drawingml/2006/main">
              <a:ext uri="{FF2B5EF4-FFF2-40B4-BE49-F238E27FC236}">
                <a16:creationId xmlns:a16="http://schemas.microsoft.com/office/drawing/2014/main" id="{AAB68837-DC8F-423F-8403-3D4BB3B79C10}"/>
              </a:ext>
            </a:extLst>
          </p:cNvPr>
          <p:cNvSpPr>
            <a:spLocks xmlns:a="http://schemas.openxmlformats.org/drawingml/2006/main" noGrp="1"/>
          </p:cNvSpPr>
          <p:nvPr/>
        </p:nvSpPr>
        <p:spPr>
          <a:xfrm xmlns:a="http://schemas.openxmlformats.org/drawingml/2006/main">
            <a:off x="571500" y="2571750"/>
            <a:ext cx="1409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Veel identieke prijsnemers verkopen vezelkorrels.</a:t>
            </a:r>
          </a:p>
        </p:txBody>
      </p:sp>
      <p:graphicFrame>
        <p:nvGraphicFramePr>
          <p:cNvPr id="15" name=""/>
          <p:cNvGraphicFramePr/>
          <p:nvPr/>
        </p:nvGraphicFramePr>
        <p:xfrm>
          <a:off xmlns:a="http://schemas.openxmlformats.org/drawingml/2006/main" x="571500" y="3543300"/>
          <a:ext xmlns:a="http://schemas.openxmlformats.org/drawingml/2006/main" cx="14097000" cy="3238500"/>
        </p:xfrm>
        <a:graphic xmlns:a="http://schemas.openxmlformats.org/drawingml/2006/main">
          <a:graphicData uri="http://schemas.openxmlformats.org/drawingml/2006/table">
            <a:tbl>
              <a:tblPr/>
              <a:tblGrid>
                <a:gridCol w="7620000"/>
                <a:gridCol w="6477000"/>
              </a:tblGrid>
              <a:tr h="809625">
                <a:tc>
                  <a:txBody>
                    <a:bodyPr lIns="171450" tIns="95250" rIns="152400" bIns="95250"/>
                    <a:lstStyle/>
                    <a:p>
                      <a:r>
                        <a:rPr sz="2400" b="1">
                          <a:solidFill>
                            <a:srgbClr val="FFFFFF"/>
                          </a:solidFill>
                          <a:latin typeface="Arial"/>
                          <a:ea typeface="Arial"/>
                          <a:cs typeface="Arial"/>
                        </a:rPr>
                        <a:t>Gegeven voor één onderneming</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Betekenis</a:t>
                      </a:r>
                    </a:p>
                  </a:txBody>
                  <a:tcPr marL="91440" marR="91440" marT="45720" marB="45720" anchor="ctr">
                    <a:solidFill>
                      <a:srgbClr val="183247"/>
                    </a:solidFill>
                  </a:tcPr>
                </a:tc>
              </a:tr>
              <a:tr h="809625">
                <a:tc>
                  <a:txBody>
                    <a:bodyPr lIns="171450" tIns="95250" rIns="152400" bIns="95250"/>
                    <a:lstStyle/>
                    <a:p>
                      <a:r>
                        <a:rPr sz="2400" b="0">
                          <a:solidFill>
                            <a:srgbClr val="183247"/>
                          </a:solidFill>
                          <a:latin typeface="Arial"/>
                          <a:ea typeface="Arial"/>
                          <a:cs typeface="Arial"/>
                        </a:rPr>
                        <a:t>TK = 0,05q² + 3q + 45</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 per week, inclusief normale beloning</a:t>
                      </a:r>
                    </a:p>
                  </a:txBody>
                  <a:tcPr marL="91440" marR="91440" marT="45720" marB="45720" anchor="ctr">
                    <a:solidFill>
                      <a:srgbClr val="FFFFFF"/>
                    </a:solidFill>
                  </a:tcPr>
                </a:tc>
              </a:tr>
              <a:tr h="809625">
                <a:tc>
                  <a:txBody>
                    <a:bodyPr lIns="171450" tIns="95250" rIns="152400" bIns="95250"/>
                    <a:lstStyle/>
                    <a:p>
                      <a:r>
                        <a:rPr sz="2400" b="0">
                          <a:solidFill>
                            <a:srgbClr val="183247"/>
                          </a:solidFill>
                          <a:latin typeface="Arial"/>
                          <a:ea typeface="Arial"/>
                          <a:cs typeface="Arial"/>
                        </a:rPr>
                        <a:t>q: kg per week; capaciteit: 100 kg</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Alle productie wordt verkocht</a:t>
                      </a:r>
                    </a:p>
                  </a:txBody>
                  <a:tcPr marL="91440" marR="91440" marT="45720" marB="45720" anchor="ctr">
                    <a:solidFill>
                      <a:srgbClr val="EFF4F7"/>
                    </a:solidFill>
                  </a:tcPr>
                </a:tc>
              </a:tr>
              <a:tr h="809625">
                <a:tc>
                  <a:txBody>
                    <a:bodyPr lIns="171450" tIns="95250" rIns="152400" bIns="95250"/>
                    <a:lstStyle/>
                    <a:p>
                      <a:r>
                        <a:rPr sz="2400" b="0">
                          <a:solidFill>
                            <a:srgbClr val="183247"/>
                          </a:solidFill>
                          <a:latin typeface="Arial"/>
                          <a:ea typeface="Arial"/>
                          <a:cs typeface="Arial"/>
                        </a:rPr>
                        <a:t>Beginprijs P = € 9 per kg</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Vraag en kosten blijven gelijk</a:t>
                      </a:r>
                    </a:p>
                  </a:txBody>
                  <a:tcPr marL="91440" marR="91440" marT="45720" marB="45720" anchor="ctr">
                    <a:solidFill>
                      <a:srgbClr val="FFFFFF"/>
                    </a:solidFill>
                  </a:tcPr>
                </a:tc>
              </a:tr>
            </a:tbl>
          </a:graphicData>
        </a:graphic>
      </p:graphicFrame>
      <p:sp>
        <p:nvSpPr>
          <p:cNvPr id="8" name="Nieuwe bedrijven mogen dezelfde productiemethode gebruiken.">
            <a:extLst xmlns:a="http://schemas.openxmlformats.org/drawingml/2006/main">
              <a:ext uri="{FF2B5EF4-FFF2-40B4-BE49-F238E27FC236}">
                <a16:creationId xmlns:a16="http://schemas.microsoft.com/office/drawing/2014/main" id="{08D5AF6F-1D51-47EA-8260-E3574F84F3AA}"/>
              </a:ext>
            </a:extLst>
          </p:cNvPr>
          <p:cNvSpPr>
            <a:spLocks xmlns:a="http://schemas.openxmlformats.org/drawingml/2006/main" noGrp="1"/>
          </p:cNvSpPr>
          <p:nvPr/>
        </p:nvSpPr>
        <p:spPr>
          <a:xfrm xmlns:a="http://schemas.openxmlformats.org/drawingml/2006/main">
            <a:off x="571500" y="7210425"/>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Nieuwe bedrijven mogen dezelfde productiemethode gebruiken.</a:t>
            </a:r>
          </a:p>
        </p:txBody>
      </p:sp>
    </p:spTree>
    <p:extLst>
      <p:ext uri="{BB962C8B-B14F-4D97-AF65-F5344CB8AC3E}">
        <p14:creationId xmlns:p14="http://schemas.microsoft.com/office/powerpoint/2010/main" val="108243009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De productie van één prijsnemer">
            <a:extLst xmlns:a="http://schemas.openxmlformats.org/drawingml/2006/main">
              <a:ext uri="{FF2B5EF4-FFF2-40B4-BE49-F238E27FC236}">
                <a16:creationId xmlns:a16="http://schemas.microsoft.com/office/drawing/2014/main" id="{7F1DC6EE-B197-4414-B63F-21D4440C11C7}"/>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De productie van één prijsnemer</a:t>
            </a:r>
          </a:p>
        </p:txBody>
      </p:sp>
      <p:sp>
        <p:nvSpPr>
          <p:cNvPr id="2" name="">
            <a:extLst xmlns:a="http://schemas.openxmlformats.org/drawingml/2006/main">
              <a:ext uri="{FF2B5EF4-FFF2-40B4-BE49-F238E27FC236}">
                <a16:creationId xmlns:a16="http://schemas.microsoft.com/office/drawing/2014/main" id="{ACDEDA5D-2203-4845-BC38-02248211A79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Hoe lang blijft de winst?">
            <a:extLst xmlns:a="http://schemas.openxmlformats.org/drawingml/2006/main">
              <a:ext uri="{FF2B5EF4-FFF2-40B4-BE49-F238E27FC236}">
                <a16:creationId xmlns:a16="http://schemas.microsoft.com/office/drawing/2014/main" id="{6F92FF95-917F-4B76-BBDD-DDD4A7A8F60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Hoe lang blijft de winst?</a:t>
            </a:r>
          </a:p>
        </p:txBody>
      </p:sp>
      <p:sp>
        <p:nvSpPr>
          <p:cNvPr id="4" name="slide-number">
            <a:extLst xmlns:a="http://schemas.openxmlformats.org/drawingml/2006/main">
              <a:ext uri="{FF2B5EF4-FFF2-40B4-BE49-F238E27FC236}">
                <a16:creationId xmlns:a16="http://schemas.microsoft.com/office/drawing/2014/main" id="{8E78BEBA-B9D8-41EE-8B14-41534934245E}"/>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4</a:t>
            </a:r>
          </a:p>
        </p:txBody>
      </p:sp>
      <p:sp>
        <p:nvSpPr>
          <p:cNvPr id="5" name="Vezelkorrels · Uitlegvoorbeeld — niet uit het boek">
            <a:extLst xmlns:a="http://schemas.openxmlformats.org/drawingml/2006/main">
              <a:ext uri="{FF2B5EF4-FFF2-40B4-BE49-F238E27FC236}">
                <a16:creationId xmlns:a16="http://schemas.microsoft.com/office/drawing/2014/main" id="{8B958710-81B5-460B-8FE1-5A7C7861734F}"/>
              </a:ext>
            </a:extLst>
          </p:cNvPr>
          <p:cNvSpPr>
            <a:spLocks xmlns:a="http://schemas.openxmlformats.org/drawingml/2006/main" noGrp="1"/>
          </p:cNvSpPr>
          <p:nvPr/>
        </p:nvSpPr>
        <p:spPr>
          <a:xfrm xmlns:a="http://schemas.openxmlformats.org/drawingml/2006/main">
            <a:off x="571500" y="1695450"/>
            <a:ext cx="14097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Vezelkorrels · Uitlegvoorbeeld — niet uit het boek</a:t>
            </a:r>
          </a:p>
        </p:txBody>
      </p:sp>
      <p:graphicFrame>
        <p:nvGraphicFramePr>
          <p:cNvPr id="15" name=""/>
          <p:cNvGraphicFramePr/>
          <p:nvPr/>
        </p:nvGraphicFramePr>
        <p:xfrm>
          <a:off xmlns:a="http://schemas.openxmlformats.org/drawingml/2006/main" x="571500" y="2543175"/>
          <a:ext xmlns:a="http://schemas.openxmlformats.org/drawingml/2006/main" cx="6096000" cy="3248025"/>
        </p:xfrm>
        <a:graphic xmlns:a="http://schemas.openxmlformats.org/drawingml/2006/main">
          <a:graphicData uri="http://schemas.openxmlformats.org/drawingml/2006/table">
            <a:tbl>
              <a:tblPr/>
              <a:tblGrid>
                <a:gridCol w="3333750"/>
                <a:gridCol w="2762250"/>
              </a:tblGrid>
              <a:tr h="812006">
                <a:tc>
                  <a:txBody>
                    <a:bodyPr lIns="171450" tIns="95250" rIns="152400" bIns="95250"/>
                    <a:lstStyle/>
                    <a:p>
                      <a:r>
                        <a:rPr sz="2700" b="1">
                          <a:solidFill>
                            <a:srgbClr val="FFFFFF"/>
                          </a:solidFill>
                          <a:latin typeface="Arial"/>
                          <a:ea typeface="Arial"/>
                          <a:cs typeface="Arial"/>
                        </a:rPr>
                        <a:t>TK-term</a:t>
                      </a:r>
                    </a:p>
                  </a:txBody>
                  <a:tcPr marL="91440" marR="91440" marT="45720" marB="45720" anchor="ctr">
                    <a:solidFill>
                      <a:srgbClr val="183247"/>
                    </a:solidFill>
                  </a:tcPr>
                </a:tc>
                <a:tc>
                  <a:txBody>
                    <a:bodyPr lIns="171450" tIns="95250" rIns="152400" bIns="95250"/>
                    <a:lstStyle/>
                    <a:p>
                      <a:r>
                        <a:rPr sz="2700" b="1">
                          <a:solidFill>
                            <a:srgbClr val="FFFFFF"/>
                          </a:solidFill>
                          <a:latin typeface="Arial"/>
                          <a:ea typeface="Arial"/>
                          <a:cs typeface="Arial"/>
                        </a:rPr>
                        <a:t>Bijdrage aan MK</a:t>
                      </a:r>
                    </a:p>
                  </a:txBody>
                  <a:tcPr marL="91440" marR="91440" marT="45720" marB="45720" anchor="ctr">
                    <a:solidFill>
                      <a:srgbClr val="183247"/>
                    </a:solidFill>
                  </a:tcPr>
                </a:tc>
              </a:tr>
              <a:tr h="812006">
                <a:tc>
                  <a:txBody>
                    <a:bodyPr lIns="171450" tIns="95250" rIns="152400" bIns="95250"/>
                    <a:lstStyle/>
                    <a:p>
                      <a:r>
                        <a:rPr sz="2700" b="0">
                          <a:solidFill>
                            <a:srgbClr val="183247"/>
                          </a:solidFill>
                          <a:latin typeface="Arial"/>
                          <a:ea typeface="Arial"/>
                          <a:cs typeface="Arial"/>
                        </a:rPr>
                        <a:t>0,05q²</a:t>
                      </a:r>
                    </a:p>
                  </a:txBody>
                  <a:tcPr marL="91440" marR="91440" marT="45720" marB="45720" anchor="ctr">
                    <a:solidFill>
                      <a:srgbClr val="FFFFFF"/>
                    </a:solidFill>
                  </a:tcPr>
                </a:tc>
                <a:tc>
                  <a:txBody>
                    <a:bodyPr lIns="171450" tIns="95250" rIns="152400" bIns="95250"/>
                    <a:lstStyle/>
                    <a:p>
                      <a:r>
                        <a:rPr sz="2700" b="0">
                          <a:solidFill>
                            <a:srgbClr val="183247"/>
                          </a:solidFill>
                          <a:latin typeface="Arial"/>
                          <a:ea typeface="Arial"/>
                          <a:cs typeface="Arial"/>
                        </a:rPr>
                        <a:t>0,10q</a:t>
                      </a:r>
                    </a:p>
                  </a:txBody>
                  <a:tcPr marL="91440" marR="91440" marT="45720" marB="45720" anchor="ctr">
                    <a:solidFill>
                      <a:srgbClr val="FFFFFF"/>
                    </a:solidFill>
                  </a:tcPr>
                </a:tc>
              </a:tr>
              <a:tr h="812006">
                <a:tc>
                  <a:txBody>
                    <a:bodyPr lIns="171450" tIns="95250" rIns="152400" bIns="95250"/>
                    <a:lstStyle/>
                    <a:p>
                      <a:r>
                        <a:rPr sz="2700" b="0">
                          <a:solidFill>
                            <a:srgbClr val="183247"/>
                          </a:solidFill>
                          <a:latin typeface="Arial"/>
                          <a:ea typeface="Arial"/>
                          <a:cs typeface="Arial"/>
                        </a:rPr>
                        <a:t>3q</a:t>
                      </a:r>
                    </a:p>
                  </a:txBody>
                  <a:tcPr marL="91440" marR="91440" marT="45720" marB="45720" anchor="ctr">
                    <a:solidFill>
                      <a:srgbClr val="EFF4F7"/>
                    </a:solidFill>
                  </a:tcPr>
                </a:tc>
                <a:tc>
                  <a:txBody>
                    <a:bodyPr lIns="171450" tIns="95250" rIns="152400" bIns="95250"/>
                    <a:lstStyle/>
                    <a:p>
                      <a:r>
                        <a:rPr sz="2700" b="0">
                          <a:solidFill>
                            <a:srgbClr val="183247"/>
                          </a:solidFill>
                          <a:latin typeface="Arial"/>
                          <a:ea typeface="Arial"/>
                          <a:cs typeface="Arial"/>
                        </a:rPr>
                        <a:t>3</a:t>
                      </a:r>
                    </a:p>
                  </a:txBody>
                  <a:tcPr marL="91440" marR="91440" marT="45720" marB="45720" anchor="ctr">
                    <a:solidFill>
                      <a:srgbClr val="EFF4F7"/>
                    </a:solidFill>
                  </a:tcPr>
                </a:tc>
              </a:tr>
              <a:tr h="812006">
                <a:tc>
                  <a:txBody>
                    <a:bodyPr lIns="171450" tIns="95250" rIns="152400" bIns="95250"/>
                    <a:lstStyle/>
                    <a:p>
                      <a:r>
                        <a:rPr sz="2700" b="0">
                          <a:solidFill>
                            <a:srgbClr val="183247"/>
                          </a:solidFill>
                          <a:latin typeface="Arial"/>
                          <a:ea typeface="Arial"/>
                          <a:cs typeface="Arial"/>
                        </a:rPr>
                        <a:t>45</a:t>
                      </a:r>
                    </a:p>
                  </a:txBody>
                  <a:tcPr marL="91440" marR="91440" marT="45720" marB="45720" anchor="ctr">
                    <a:solidFill>
                      <a:srgbClr val="FFFFFF"/>
                    </a:solidFill>
                  </a:tcPr>
                </a:tc>
                <a:tc>
                  <a:txBody>
                    <a:bodyPr lIns="171450" tIns="95250" rIns="152400" bIns="95250"/>
                    <a:lstStyle/>
                    <a:p>
                      <a:r>
                        <a:rPr sz="2700" b="0">
                          <a:solidFill>
                            <a:srgbClr val="183247"/>
                          </a:solidFill>
                          <a:latin typeface="Arial"/>
                          <a:ea typeface="Arial"/>
                          <a:cs typeface="Arial"/>
                        </a:rPr>
                        <a:t>0</a:t>
                      </a:r>
                    </a:p>
                  </a:txBody>
                  <a:tcPr marL="91440" marR="91440" marT="45720" marB="45720" anchor="ctr">
                    <a:solidFill>
                      <a:srgbClr val="FFFFFF"/>
                    </a:solidFill>
                  </a:tcPr>
                </a:tc>
              </a:tr>
            </a:tbl>
          </a:graphicData>
        </a:graphic>
      </p:graphicFrame>
      <p:sp>
        <p:nvSpPr>
          <p:cNvPr id="7" name="MK = 0,10q + 3">
            <a:extLst xmlns:a="http://schemas.openxmlformats.org/drawingml/2006/main">
              <a:ext uri="{FF2B5EF4-FFF2-40B4-BE49-F238E27FC236}">
                <a16:creationId xmlns:a16="http://schemas.microsoft.com/office/drawing/2014/main" id="{F04069FD-E819-4E74-AC0C-07AC72B857EA}"/>
              </a:ext>
            </a:extLst>
          </p:cNvPr>
          <p:cNvSpPr>
            <a:spLocks xmlns:a="http://schemas.openxmlformats.org/drawingml/2006/main" noGrp="1"/>
          </p:cNvSpPr>
          <p:nvPr/>
        </p:nvSpPr>
        <p:spPr>
          <a:xfrm xmlns:a="http://schemas.openxmlformats.org/drawingml/2006/main">
            <a:off x="7477125" y="2676525"/>
            <a:ext cx="71913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20665B"/>
                </a:solidFill>
                <a:latin typeface="Arial"/>
                <a:ea typeface="Arial"/>
                <a:cs typeface="Arial"/>
              </a:defRPr>
            </a:pPr>
            <a:r>
              <a:rPr sz="3225" b="1">
                <a:solidFill>
                  <a:srgbClr val="20665B"/>
                </a:solidFill>
                <a:latin typeface="Arial"/>
                <a:ea typeface="Arial"/>
                <a:cs typeface="Arial"/>
              </a:rPr>
              <a:t>MK = 0,10q + 3</a:t>
            </a:r>
          </a:p>
        </p:txBody>
      </p:sp>
      <p:sp>
        <p:nvSpPr>
          <p:cNvPr id="8" name="MO = P = 9&#10;9 = 0,10q + 3&#10;6 = 0,10q&#10;q = 60 kg per week">
            <a:extLst xmlns:a="http://schemas.openxmlformats.org/drawingml/2006/main">
              <a:ext uri="{FF2B5EF4-FFF2-40B4-BE49-F238E27FC236}">
                <a16:creationId xmlns:a16="http://schemas.microsoft.com/office/drawing/2014/main" id="{CBBF5DDD-1040-4D84-9302-1A59549507C4}"/>
              </a:ext>
            </a:extLst>
          </p:cNvPr>
          <p:cNvSpPr>
            <a:spLocks xmlns:a="http://schemas.openxmlformats.org/drawingml/2006/main" noGrp="1"/>
          </p:cNvSpPr>
          <p:nvPr/>
        </p:nvSpPr>
        <p:spPr>
          <a:xfrm xmlns:a="http://schemas.openxmlformats.org/drawingml/2006/main">
            <a:off x="7477125" y="3609975"/>
            <a:ext cx="7191375" cy="2457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MO = P = 9</a:t>
            </a:r>
          </a:p>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9 = 0,10q + 3</a:t>
            </a:r>
          </a:p>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6 = 0,10q</a:t>
            </a:r>
          </a:p>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q = 60 kg per week</a:t>
            </a:r>
          </a:p>
        </p:txBody>
      </p:sp>
      <p:sp>
        <p:nvSpPr>
          <p:cNvPr id="9" name="MK stijgt door MO heen. 60 kg past binnen de capaciteit.">
            <a:extLst xmlns:a="http://schemas.openxmlformats.org/drawingml/2006/main">
              <a:ext uri="{FF2B5EF4-FFF2-40B4-BE49-F238E27FC236}">
                <a16:creationId xmlns:a16="http://schemas.microsoft.com/office/drawing/2014/main" id="{0B88EDC1-663D-4CF3-B9FF-5F236F1CB23B}"/>
              </a:ext>
            </a:extLst>
          </p:cNvPr>
          <p:cNvSpPr>
            <a:spLocks xmlns:a="http://schemas.openxmlformats.org/drawingml/2006/main" noGrp="1"/>
          </p:cNvSpPr>
          <p:nvPr/>
        </p:nvSpPr>
        <p:spPr>
          <a:xfrm xmlns:a="http://schemas.openxmlformats.org/drawingml/2006/main">
            <a:off x="571500" y="6896100"/>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MK stijgt door MO heen. 60 kg past binnen de capaciteit.</a:t>
            </a:r>
          </a:p>
        </p:txBody>
      </p:sp>
    </p:spTree>
    <p:extLst>
      <p:ext uri="{BB962C8B-B14F-4D97-AF65-F5344CB8AC3E}">
        <p14:creationId xmlns:p14="http://schemas.microsoft.com/office/powerpoint/2010/main" val="142764057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Overwinst bij de beginprijs">
            <a:extLst xmlns:a="http://schemas.openxmlformats.org/drawingml/2006/main">
              <a:ext uri="{FF2B5EF4-FFF2-40B4-BE49-F238E27FC236}">
                <a16:creationId xmlns:a16="http://schemas.microsoft.com/office/drawing/2014/main" id="{13DFC0D5-F016-4FE3-98C8-3E4E8C5B6938}"/>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Overwinst bij de beginprijs</a:t>
            </a:r>
          </a:p>
        </p:txBody>
      </p:sp>
      <p:sp>
        <p:nvSpPr>
          <p:cNvPr id="2" name="">
            <a:extLst xmlns:a="http://schemas.openxmlformats.org/drawingml/2006/main">
              <a:ext uri="{FF2B5EF4-FFF2-40B4-BE49-F238E27FC236}">
                <a16:creationId xmlns:a16="http://schemas.microsoft.com/office/drawing/2014/main" id="{F2D4CEAE-244A-404E-90C0-738113F5AA0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Hoe lang blijft de winst?">
            <a:extLst xmlns:a="http://schemas.openxmlformats.org/drawingml/2006/main">
              <a:ext uri="{FF2B5EF4-FFF2-40B4-BE49-F238E27FC236}">
                <a16:creationId xmlns:a16="http://schemas.microsoft.com/office/drawing/2014/main" id="{69EEEE1E-323B-405A-989F-D18FCB309BA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Hoe lang blijft de winst?</a:t>
            </a:r>
          </a:p>
        </p:txBody>
      </p:sp>
      <p:sp>
        <p:nvSpPr>
          <p:cNvPr id="4" name="slide-number">
            <a:extLst xmlns:a="http://schemas.openxmlformats.org/drawingml/2006/main">
              <a:ext uri="{FF2B5EF4-FFF2-40B4-BE49-F238E27FC236}">
                <a16:creationId xmlns:a16="http://schemas.microsoft.com/office/drawing/2014/main" id="{63B92A84-B6C3-4955-A6D3-4F5F2CEB4E80}"/>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5</a:t>
            </a:r>
          </a:p>
        </p:txBody>
      </p:sp>
      <p:sp>
        <p:nvSpPr>
          <p:cNvPr id="5" name="Vezelkorrels · Uitlegvoorbeeld — niet uit het boek">
            <a:extLst xmlns:a="http://schemas.openxmlformats.org/drawingml/2006/main">
              <a:ext uri="{FF2B5EF4-FFF2-40B4-BE49-F238E27FC236}">
                <a16:creationId xmlns:a16="http://schemas.microsoft.com/office/drawing/2014/main" id="{7444C290-EB24-4A69-8198-F60741BDB29D}"/>
              </a:ext>
            </a:extLst>
          </p:cNvPr>
          <p:cNvSpPr>
            <a:spLocks xmlns:a="http://schemas.openxmlformats.org/drawingml/2006/main" noGrp="1"/>
          </p:cNvSpPr>
          <p:nvPr/>
        </p:nvSpPr>
        <p:spPr>
          <a:xfrm xmlns:a="http://schemas.openxmlformats.org/drawingml/2006/main">
            <a:off x="571500" y="1695450"/>
            <a:ext cx="14097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Vezelkorrels · Uitlegvoorbeeld — niet uit het boek</a:t>
            </a:r>
          </a:p>
        </p:txBody>
      </p:sp>
      <p:sp>
        <p:nvSpPr>
          <p:cNvPr id="6" name="Elke prijslijn: P = GO = MO">
            <a:extLst xmlns:a="http://schemas.openxmlformats.org/drawingml/2006/main">
              <a:ext uri="{FF2B5EF4-FFF2-40B4-BE49-F238E27FC236}">
                <a16:creationId xmlns:a16="http://schemas.microsoft.com/office/drawing/2014/main" id="{D93184C1-509B-43AF-9D8B-96DCD6E7B7B4}"/>
              </a:ext>
            </a:extLst>
          </p:cNvPr>
          <p:cNvSpPr>
            <a:spLocks xmlns:a="http://schemas.openxmlformats.org/drawingml/2006/main" noGrp="1"/>
          </p:cNvSpPr>
          <p:nvPr/>
        </p:nvSpPr>
        <p:spPr>
          <a:xfrm xmlns:a="http://schemas.openxmlformats.org/drawingml/2006/main">
            <a:off x="571500" y="2133600"/>
            <a:ext cx="9239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445B6B"/>
                </a:solidFill>
                <a:latin typeface="Arial"/>
                <a:ea typeface="Arial"/>
                <a:cs typeface="Arial"/>
              </a:defRPr>
            </a:pPr>
            <a:r>
              <a:rPr sz="1950" b="0">
                <a:solidFill>
                  <a:srgbClr val="445B6B"/>
                </a:solidFill>
                <a:latin typeface="Arial"/>
                <a:ea typeface="Arial"/>
                <a:cs typeface="Arial"/>
              </a:rPr>
              <a:t>Elke prijslijn: P = GO = MO</a:t>
            </a:r>
          </a:p>
        </p:txBody>
      </p:sp>
      <p:graphicFrame>
        <p:nvGraphicFramePr>
          <p:cNvPr id="17" name="Chart"/>
          <p:cNvGraphicFramePr/>
          <p:nvPr/>
        </p:nvGraphicFramePr>
        <p:xfrm>
          <a:off xmlns:a="http://schemas.openxmlformats.org/drawingml/2006/main" x="571500" y="2371725"/>
          <a:ext xmlns:a="http://schemas.openxmlformats.org/drawingml/2006/main" cx="9239250" cy="5238750"/>
        </p:xfrm>
        <a:graphic xmlns:a="http://schemas.openxmlformats.org/drawingml/2006/main">
          <a:graphicData uri="http://schemas.openxmlformats.org/drawingml/2006/chart">
            <c:chart xmlns:r="http://schemas.openxmlformats.org/officeDocument/2006/relationships" xmlns:c="http://schemas.openxmlformats.org/drawingml/2006/chart" r:id="R341f19ba77174536"/>
          </a:graphicData>
        </a:graphic>
      </p:graphicFrame>
      <p:sp>
        <p:nvSpPr>
          <p:cNvPr id="8" name="Bij q = 60 kg">
            <a:extLst xmlns:a="http://schemas.openxmlformats.org/drawingml/2006/main">
              <a:ext uri="{FF2B5EF4-FFF2-40B4-BE49-F238E27FC236}">
                <a16:creationId xmlns:a16="http://schemas.microsoft.com/office/drawing/2014/main" id="{DD2552EA-609D-4A33-ADE6-A6661962AD9E}"/>
              </a:ext>
            </a:extLst>
          </p:cNvPr>
          <p:cNvSpPr>
            <a:spLocks xmlns:a="http://schemas.openxmlformats.org/drawingml/2006/main" noGrp="1"/>
          </p:cNvSpPr>
          <p:nvPr/>
        </p:nvSpPr>
        <p:spPr>
          <a:xfrm xmlns:a="http://schemas.openxmlformats.org/drawingml/2006/main">
            <a:off x="10191750" y="2628900"/>
            <a:ext cx="4429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Bij q = 60 kg</a:t>
            </a:r>
          </a:p>
        </p:txBody>
      </p:sp>
      <p:sp>
        <p:nvSpPr>
          <p:cNvPr id="9" name="TO = 9 × 60 = € 540&#10;TK = 180 + 180 + 45&#10;     = € 405 per week">
            <a:extLst xmlns:a="http://schemas.openxmlformats.org/drawingml/2006/main">
              <a:ext uri="{FF2B5EF4-FFF2-40B4-BE49-F238E27FC236}">
                <a16:creationId xmlns:a16="http://schemas.microsoft.com/office/drawing/2014/main" id="{ECD63D83-86B1-43F9-874C-3BE2B30A7D0F}"/>
              </a:ext>
            </a:extLst>
          </p:cNvPr>
          <p:cNvSpPr>
            <a:spLocks xmlns:a="http://schemas.openxmlformats.org/drawingml/2006/main" noGrp="1"/>
          </p:cNvSpPr>
          <p:nvPr/>
        </p:nvSpPr>
        <p:spPr>
          <a:xfrm xmlns:a="http://schemas.openxmlformats.org/drawingml/2006/main">
            <a:off x="10191750" y="3533775"/>
            <a:ext cx="4429125" cy="1819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TO = 9 × 60 = € 540</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TK = 180 + 180 + 45</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     = € 405 per week</a:t>
            </a:r>
          </a:p>
        </p:txBody>
      </p:sp>
      <p:sp>
        <p:nvSpPr>
          <p:cNvPr id="10" name="Winst = € 135&#10;per week">
            <a:extLst xmlns:a="http://schemas.openxmlformats.org/drawingml/2006/main">
              <a:ext uri="{FF2B5EF4-FFF2-40B4-BE49-F238E27FC236}">
                <a16:creationId xmlns:a16="http://schemas.microsoft.com/office/drawing/2014/main" id="{1E1BDF25-6CB0-4250-AD46-9AC0193BD9CE}"/>
              </a:ext>
            </a:extLst>
          </p:cNvPr>
          <p:cNvSpPr>
            <a:spLocks xmlns:a="http://schemas.openxmlformats.org/drawingml/2006/main" noGrp="1"/>
          </p:cNvSpPr>
          <p:nvPr/>
        </p:nvSpPr>
        <p:spPr>
          <a:xfrm xmlns:a="http://schemas.openxmlformats.org/drawingml/2006/main">
            <a:off x="10191750" y="5924550"/>
            <a:ext cx="4429125"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A94D16"/>
                </a:solidFill>
                <a:latin typeface="Arial"/>
                <a:ea typeface="Arial"/>
                <a:cs typeface="Arial"/>
              </a:defRPr>
            </a:pPr>
            <a:r>
              <a:rPr sz="3225" b="1">
                <a:solidFill>
                  <a:srgbClr val="A94D16"/>
                </a:solidFill>
                <a:latin typeface="Arial"/>
                <a:ea typeface="Arial"/>
                <a:cs typeface="Arial"/>
              </a:rPr>
              <a:t>Winst = € 135</a:t>
            </a:r>
          </a:p>
          <a:p xmlns:a="http://schemas.openxmlformats.org/drawingml/2006/main">
            <a:pPr algn="l">
              <a:defRPr sz="3225" b="1">
                <a:solidFill>
                  <a:srgbClr val="A94D16"/>
                </a:solidFill>
                <a:latin typeface="Arial"/>
                <a:ea typeface="Arial"/>
                <a:cs typeface="Arial"/>
              </a:defRPr>
            </a:pPr>
            <a:r>
              <a:rPr sz="3225" b="1">
                <a:solidFill>
                  <a:srgbClr val="A94D16"/>
                </a:solidFill>
                <a:latin typeface="Arial"/>
                <a:ea typeface="Arial"/>
                <a:cs typeface="Arial"/>
              </a:rPr>
              <a:t>per week</a:t>
            </a:r>
          </a:p>
        </p:txBody>
      </p:sp>
    </p:spTree>
    <p:extLst>
      <p:ext uri="{BB962C8B-B14F-4D97-AF65-F5344CB8AC3E}">
        <p14:creationId xmlns:p14="http://schemas.microsoft.com/office/powerpoint/2010/main" val="177315685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De markt vóór toetreding">
            <a:extLst xmlns:a="http://schemas.openxmlformats.org/drawingml/2006/main">
              <a:ext uri="{FF2B5EF4-FFF2-40B4-BE49-F238E27FC236}">
                <a16:creationId xmlns:a16="http://schemas.microsoft.com/office/drawing/2014/main" id="{A27821E6-9BED-42B0-95BA-D1BA93560411}"/>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De markt vóór toetreding</a:t>
            </a:r>
          </a:p>
        </p:txBody>
      </p:sp>
      <p:sp>
        <p:nvSpPr>
          <p:cNvPr id="2" name="">
            <a:extLst xmlns:a="http://schemas.openxmlformats.org/drawingml/2006/main">
              <a:ext uri="{FF2B5EF4-FFF2-40B4-BE49-F238E27FC236}">
                <a16:creationId xmlns:a16="http://schemas.microsoft.com/office/drawing/2014/main" id="{B4BE15FB-9962-43B8-995F-478792ECF61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Hoe lang blijft de winst?">
            <a:extLst xmlns:a="http://schemas.openxmlformats.org/drawingml/2006/main">
              <a:ext uri="{FF2B5EF4-FFF2-40B4-BE49-F238E27FC236}">
                <a16:creationId xmlns:a16="http://schemas.microsoft.com/office/drawing/2014/main" id="{2DB2485C-2D1A-4DEE-A927-54286DF3DEB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Hoe lang blijft de winst?</a:t>
            </a:r>
          </a:p>
        </p:txBody>
      </p:sp>
      <p:sp>
        <p:nvSpPr>
          <p:cNvPr id="4" name="slide-number">
            <a:extLst xmlns:a="http://schemas.openxmlformats.org/drawingml/2006/main">
              <a:ext uri="{FF2B5EF4-FFF2-40B4-BE49-F238E27FC236}">
                <a16:creationId xmlns:a16="http://schemas.microsoft.com/office/drawing/2014/main" id="{F555B1B2-A545-420A-A7C1-F629F017FEED}"/>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6</a:t>
            </a:r>
          </a:p>
        </p:txBody>
      </p:sp>
      <p:sp>
        <p:nvSpPr>
          <p:cNvPr id="5" name="Vezelkorrels · Uitlegvoorbeeld — niet uit het boek">
            <a:extLst xmlns:a="http://schemas.openxmlformats.org/drawingml/2006/main">
              <a:ext uri="{FF2B5EF4-FFF2-40B4-BE49-F238E27FC236}">
                <a16:creationId xmlns:a16="http://schemas.microsoft.com/office/drawing/2014/main" id="{0ACDE86E-629F-44C9-9BEB-948CF313D76C}"/>
              </a:ext>
            </a:extLst>
          </p:cNvPr>
          <p:cNvSpPr>
            <a:spLocks xmlns:a="http://schemas.openxmlformats.org/drawingml/2006/main" noGrp="1"/>
          </p:cNvSpPr>
          <p:nvPr/>
        </p:nvSpPr>
        <p:spPr>
          <a:xfrm xmlns:a="http://schemas.openxmlformats.org/drawingml/2006/main">
            <a:off x="571500" y="1695450"/>
            <a:ext cx="14097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Vezelkorrels · Uitlegvoorbeeld — niet uit het boek</a:t>
            </a:r>
          </a:p>
        </p:txBody>
      </p:sp>
      <p:graphicFrame>
        <p:nvGraphicFramePr>
          <p:cNvPr id="15" name="Chart"/>
          <p:cNvGraphicFramePr/>
          <p:nvPr/>
        </p:nvGraphicFramePr>
        <p:xfrm>
          <a:off xmlns:a="http://schemas.openxmlformats.org/drawingml/2006/main" x="571500" y="2371725"/>
          <a:ext xmlns:a="http://schemas.openxmlformats.org/drawingml/2006/main" cx="9239250" cy="5238750"/>
        </p:xfrm>
        <a:graphic xmlns:a="http://schemas.openxmlformats.org/drawingml/2006/main">
          <a:graphicData uri="http://schemas.openxmlformats.org/drawingml/2006/chart">
            <c:chart xmlns:r="http://schemas.openxmlformats.org/officeDocument/2006/relationships" xmlns:c="http://schemas.openxmlformats.org/drawingml/2006/chart" r:id="Rc2496a2741e3426a"/>
          </a:graphicData>
        </a:graphic>
      </p:graphicFrame>
      <p:sp>
        <p:nvSpPr>
          <p:cNvPr id="7" name="100 bedrijven">
            <a:extLst xmlns:a="http://schemas.openxmlformats.org/drawingml/2006/main">
              <a:ext uri="{FF2B5EF4-FFF2-40B4-BE49-F238E27FC236}">
                <a16:creationId xmlns:a16="http://schemas.microsoft.com/office/drawing/2014/main" id="{6F5815AD-AF89-48CC-BC7D-D68FF9260647}"/>
              </a:ext>
            </a:extLst>
          </p:cNvPr>
          <p:cNvSpPr>
            <a:spLocks xmlns:a="http://schemas.openxmlformats.org/drawingml/2006/main" noGrp="1"/>
          </p:cNvSpPr>
          <p:nvPr/>
        </p:nvSpPr>
        <p:spPr>
          <a:xfrm xmlns:a="http://schemas.openxmlformats.org/drawingml/2006/main">
            <a:off x="10191750" y="2628900"/>
            <a:ext cx="442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20665B"/>
                </a:solidFill>
                <a:latin typeface="Arial"/>
                <a:ea typeface="Arial"/>
                <a:cs typeface="Arial"/>
              </a:defRPr>
            </a:pPr>
            <a:r>
              <a:rPr sz="3000" b="1">
                <a:solidFill>
                  <a:srgbClr val="20665B"/>
                </a:solidFill>
                <a:latin typeface="Arial"/>
                <a:ea typeface="Arial"/>
                <a:cs typeface="Arial"/>
              </a:rPr>
              <a:t>100 bedrijven</a:t>
            </a:r>
          </a:p>
        </p:txBody>
      </p:sp>
      <p:sp>
        <p:nvSpPr>
          <p:cNvPr id="8" name="Elk 60 kg per week&#10;&#10;Q = 100 × 60&#10;   = 6.000 kg per week">
            <a:extLst xmlns:a="http://schemas.openxmlformats.org/drawingml/2006/main">
              <a:ext uri="{FF2B5EF4-FFF2-40B4-BE49-F238E27FC236}">
                <a16:creationId xmlns:a16="http://schemas.microsoft.com/office/drawing/2014/main" id="{3E17E453-722B-4619-8994-0E4A2ABA13BE}"/>
              </a:ext>
            </a:extLst>
          </p:cNvPr>
          <p:cNvSpPr>
            <a:spLocks xmlns:a="http://schemas.openxmlformats.org/drawingml/2006/main" noGrp="1"/>
          </p:cNvSpPr>
          <p:nvPr/>
        </p:nvSpPr>
        <p:spPr>
          <a:xfrm xmlns:a="http://schemas.openxmlformats.org/drawingml/2006/main">
            <a:off x="10191750" y="3600450"/>
            <a:ext cx="4429125" cy="2324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Elk 60 kg per week</a:t>
            </a:r>
          </a:p>
          <a:p xmlns:a="http://schemas.openxmlformats.org/drawingml/2006/main">
            <a:r>
              <a:t/>
            </a:r>
          </a:p>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Q = 100 × 60</a:t>
            </a:r>
          </a:p>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   = 6.000 kg per week</a:t>
            </a:r>
          </a:p>
        </p:txBody>
      </p:sp>
      <p:sp>
        <p:nvSpPr>
          <p:cNvPr id="9" name="P = € 9 per kg">
            <a:extLst xmlns:a="http://schemas.openxmlformats.org/drawingml/2006/main">
              <a:ext uri="{FF2B5EF4-FFF2-40B4-BE49-F238E27FC236}">
                <a16:creationId xmlns:a16="http://schemas.microsoft.com/office/drawing/2014/main" id="{D9CCB1F6-AB5C-4F67-BAA4-F39076AB9C8D}"/>
              </a:ext>
            </a:extLst>
          </p:cNvPr>
          <p:cNvSpPr>
            <a:spLocks xmlns:a="http://schemas.openxmlformats.org/drawingml/2006/main" noGrp="1"/>
          </p:cNvSpPr>
          <p:nvPr/>
        </p:nvSpPr>
        <p:spPr>
          <a:xfrm xmlns:a="http://schemas.openxmlformats.org/drawingml/2006/main">
            <a:off x="10191750" y="6715125"/>
            <a:ext cx="44291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P = € 9 per kg</a:t>
            </a:r>
          </a:p>
        </p:txBody>
      </p:sp>
    </p:spTree>
    <p:extLst>
      <p:ext uri="{BB962C8B-B14F-4D97-AF65-F5344CB8AC3E}">
        <p14:creationId xmlns:p14="http://schemas.microsoft.com/office/powerpoint/2010/main" val="110625305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oetreding vergroot het marktaanbod">
            <a:extLst xmlns:a="http://schemas.openxmlformats.org/drawingml/2006/main">
              <a:ext uri="{FF2B5EF4-FFF2-40B4-BE49-F238E27FC236}">
                <a16:creationId xmlns:a16="http://schemas.microsoft.com/office/drawing/2014/main" id="{F1CF7D62-E754-4CB1-8292-E540E481429C}"/>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Toetreding vergroot het marktaanbod</a:t>
            </a:r>
          </a:p>
        </p:txBody>
      </p:sp>
      <p:sp>
        <p:nvSpPr>
          <p:cNvPr id="2" name="">
            <a:extLst xmlns:a="http://schemas.openxmlformats.org/drawingml/2006/main">
              <a:ext uri="{FF2B5EF4-FFF2-40B4-BE49-F238E27FC236}">
                <a16:creationId xmlns:a16="http://schemas.microsoft.com/office/drawing/2014/main" id="{169F6662-58B1-4B88-B177-677787ADD7C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Hoe lang blijft de winst?">
            <a:extLst xmlns:a="http://schemas.openxmlformats.org/drawingml/2006/main">
              <a:ext uri="{FF2B5EF4-FFF2-40B4-BE49-F238E27FC236}">
                <a16:creationId xmlns:a16="http://schemas.microsoft.com/office/drawing/2014/main" id="{C673650F-1CF1-48B7-9B10-A6D4E9BDE418}"/>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Hoe lang blijft de winst?</a:t>
            </a:r>
          </a:p>
        </p:txBody>
      </p:sp>
      <p:sp>
        <p:nvSpPr>
          <p:cNvPr id="4" name="slide-number">
            <a:extLst xmlns:a="http://schemas.openxmlformats.org/drawingml/2006/main">
              <a:ext uri="{FF2B5EF4-FFF2-40B4-BE49-F238E27FC236}">
                <a16:creationId xmlns:a16="http://schemas.microsoft.com/office/drawing/2014/main" id="{EA7B4D2B-8E18-4464-A4E8-A2DF05FA39B0}"/>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7</a:t>
            </a:r>
          </a:p>
        </p:txBody>
      </p:sp>
      <p:sp>
        <p:nvSpPr>
          <p:cNvPr id="5" name="Vezelkorrels · Uitlegvoorbeeld — niet uit het boek">
            <a:extLst xmlns:a="http://schemas.openxmlformats.org/drawingml/2006/main">
              <a:ext uri="{FF2B5EF4-FFF2-40B4-BE49-F238E27FC236}">
                <a16:creationId xmlns:a16="http://schemas.microsoft.com/office/drawing/2014/main" id="{4CD1DD13-EFA5-4318-8975-8FC4AD622DEE}"/>
              </a:ext>
            </a:extLst>
          </p:cNvPr>
          <p:cNvSpPr>
            <a:spLocks xmlns:a="http://schemas.openxmlformats.org/drawingml/2006/main" noGrp="1"/>
          </p:cNvSpPr>
          <p:nvPr/>
        </p:nvSpPr>
        <p:spPr>
          <a:xfrm xmlns:a="http://schemas.openxmlformats.org/drawingml/2006/main">
            <a:off x="571500" y="1695450"/>
            <a:ext cx="14097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Vezelkorrels · Uitlegvoorbeeld — niet uit het boek</a:t>
            </a:r>
          </a:p>
        </p:txBody>
      </p:sp>
      <p:graphicFrame>
        <p:nvGraphicFramePr>
          <p:cNvPr id="15" name="Chart"/>
          <p:cNvGraphicFramePr/>
          <p:nvPr/>
        </p:nvGraphicFramePr>
        <p:xfrm>
          <a:off xmlns:a="http://schemas.openxmlformats.org/drawingml/2006/main" x="571500" y="2371725"/>
          <a:ext xmlns:a="http://schemas.openxmlformats.org/drawingml/2006/main" cx="9239250" cy="5238750"/>
        </p:xfrm>
        <a:graphic xmlns:a="http://schemas.openxmlformats.org/drawingml/2006/main">
          <a:graphicData uri="http://schemas.openxmlformats.org/drawingml/2006/chart">
            <c:chart xmlns:r="http://schemas.openxmlformats.org/officeDocument/2006/relationships" xmlns:c="http://schemas.openxmlformats.org/drawingml/2006/chart" r:id="Rc6fa4171c3004e8b"/>
          </a:graphicData>
        </a:graphic>
      </p:graphicFrame>
      <p:sp>
        <p:nvSpPr>
          <p:cNvPr id="7" name="Overwinst lokt&#10;nieuwe bedrijven">
            <a:extLst xmlns:a="http://schemas.openxmlformats.org/drawingml/2006/main">
              <a:ext uri="{FF2B5EF4-FFF2-40B4-BE49-F238E27FC236}">
                <a16:creationId xmlns:a16="http://schemas.microsoft.com/office/drawing/2014/main" id="{2F9FEEBB-935E-435B-828E-6FEC279A8C7C}"/>
              </a:ext>
            </a:extLst>
          </p:cNvPr>
          <p:cNvSpPr>
            <a:spLocks xmlns:a="http://schemas.openxmlformats.org/drawingml/2006/main" noGrp="1"/>
          </p:cNvSpPr>
          <p:nvPr/>
        </p:nvSpPr>
        <p:spPr>
          <a:xfrm xmlns:a="http://schemas.openxmlformats.org/drawingml/2006/main">
            <a:off x="10191750" y="2533650"/>
            <a:ext cx="44291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A94D16"/>
                </a:solidFill>
                <a:latin typeface="Arial"/>
                <a:ea typeface="Arial"/>
                <a:cs typeface="Arial"/>
              </a:defRPr>
            </a:pPr>
            <a:r>
              <a:rPr sz="2850" b="1">
                <a:solidFill>
                  <a:srgbClr val="A94D16"/>
                </a:solidFill>
                <a:latin typeface="Arial"/>
                <a:ea typeface="Arial"/>
                <a:cs typeface="Arial"/>
              </a:rPr>
              <a:t>Overwinst lokt</a:t>
            </a:r>
          </a:p>
          <a:p xmlns:a="http://schemas.openxmlformats.org/drawingml/2006/main">
            <a:pPr algn="l">
              <a:defRPr sz="2850" b="1">
                <a:solidFill>
                  <a:srgbClr val="A94D16"/>
                </a:solidFill>
                <a:latin typeface="Arial"/>
                <a:ea typeface="Arial"/>
                <a:cs typeface="Arial"/>
              </a:defRPr>
            </a:pPr>
            <a:r>
              <a:rPr sz="2850" b="1">
                <a:solidFill>
                  <a:srgbClr val="A94D16"/>
                </a:solidFill>
                <a:latin typeface="Arial"/>
                <a:ea typeface="Arial"/>
                <a:cs typeface="Arial"/>
              </a:rPr>
              <a:t>nieuwe bedrijven</a:t>
            </a:r>
          </a:p>
        </p:txBody>
      </p:sp>
      <p:sp>
        <p:nvSpPr>
          <p:cNvPr id="8" name="Bij elke prijs méér aanbod&#10;A₁ ligt rechts van A₀&#10;&#10;P: € 9 naar € 6">
            <a:extLst xmlns:a="http://schemas.openxmlformats.org/drawingml/2006/main">
              <a:ext uri="{FF2B5EF4-FFF2-40B4-BE49-F238E27FC236}">
                <a16:creationId xmlns:a16="http://schemas.microsoft.com/office/drawing/2014/main" id="{666ACD7A-B07B-46D8-9017-261584D65E2E}"/>
              </a:ext>
            </a:extLst>
          </p:cNvPr>
          <p:cNvSpPr>
            <a:spLocks xmlns:a="http://schemas.openxmlformats.org/drawingml/2006/main" noGrp="1"/>
          </p:cNvSpPr>
          <p:nvPr/>
        </p:nvSpPr>
        <p:spPr>
          <a:xfrm xmlns:a="http://schemas.openxmlformats.org/drawingml/2006/main">
            <a:off x="10191750" y="4143375"/>
            <a:ext cx="442912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Bij elke prijs méér aanbod</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A₁ ligt rechts van A₀</a:t>
            </a:r>
          </a:p>
          <a:p xmlns:a="http://schemas.openxmlformats.org/drawingml/2006/main">
            <a:r>
              <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P: € 9 naar € 6 per kg</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Q: 6.000 naar 9.000 kg</a:t>
            </a:r>
          </a:p>
        </p:txBody>
      </p:sp>
      <p:sp>
        <p:nvSpPr>
          <p:cNvPr id="9" name="De vraag blijft gelijk.">
            <a:extLst xmlns:a="http://schemas.openxmlformats.org/drawingml/2006/main">
              <a:ext uri="{FF2B5EF4-FFF2-40B4-BE49-F238E27FC236}">
                <a16:creationId xmlns:a16="http://schemas.microsoft.com/office/drawing/2014/main" id="{9771DB5A-46EE-4F2E-B2CD-E6C3FE0868A0}"/>
              </a:ext>
            </a:extLst>
          </p:cNvPr>
          <p:cNvSpPr>
            <a:spLocks xmlns:a="http://schemas.openxmlformats.org/drawingml/2006/main" noGrp="1"/>
          </p:cNvSpPr>
          <p:nvPr/>
        </p:nvSpPr>
        <p:spPr>
          <a:xfrm xmlns:a="http://schemas.openxmlformats.org/drawingml/2006/main">
            <a:off x="10191750" y="7210425"/>
            <a:ext cx="442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83247"/>
                </a:solidFill>
                <a:latin typeface="Arial"/>
                <a:ea typeface="Arial"/>
                <a:cs typeface="Arial"/>
              </a:defRPr>
            </a:pPr>
            <a:r>
              <a:rPr sz="2325" b="1">
                <a:solidFill>
                  <a:srgbClr val="183247"/>
                </a:solidFill>
                <a:latin typeface="Arial"/>
                <a:ea typeface="Arial"/>
                <a:cs typeface="Arial"/>
              </a:rPr>
              <a:t>De vraag blijft gelijk.</a:t>
            </a:r>
          </a:p>
        </p:txBody>
      </p:sp>
    </p:spTree>
    <p:extLst>
      <p:ext uri="{BB962C8B-B14F-4D97-AF65-F5344CB8AC3E}">
        <p14:creationId xmlns:p14="http://schemas.microsoft.com/office/powerpoint/2010/main" val="159667147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Dezelfde lagere prijs bij één onderneming">
            <a:extLst xmlns:a="http://schemas.openxmlformats.org/drawingml/2006/main">
              <a:ext uri="{FF2B5EF4-FFF2-40B4-BE49-F238E27FC236}">
                <a16:creationId xmlns:a16="http://schemas.microsoft.com/office/drawing/2014/main" id="{F6538099-B8FF-4C71-B3C0-4005D207CDF1}"/>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Dezelfde lagere prijs bij één onderneming</a:t>
            </a:r>
          </a:p>
        </p:txBody>
      </p:sp>
      <p:sp>
        <p:nvSpPr>
          <p:cNvPr id="2" name="">
            <a:extLst xmlns:a="http://schemas.openxmlformats.org/drawingml/2006/main">
              <a:ext uri="{FF2B5EF4-FFF2-40B4-BE49-F238E27FC236}">
                <a16:creationId xmlns:a16="http://schemas.microsoft.com/office/drawing/2014/main" id="{AD2F90F7-8A64-4A80-BD83-6BE919997B9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Hoe lang blijft de winst?">
            <a:extLst xmlns:a="http://schemas.openxmlformats.org/drawingml/2006/main">
              <a:ext uri="{FF2B5EF4-FFF2-40B4-BE49-F238E27FC236}">
                <a16:creationId xmlns:a16="http://schemas.microsoft.com/office/drawing/2014/main" id="{21826683-6210-4909-98F5-8C7067D3E25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Hoe lang blijft de winst?</a:t>
            </a:r>
          </a:p>
        </p:txBody>
      </p:sp>
      <p:sp>
        <p:nvSpPr>
          <p:cNvPr id="4" name="slide-number">
            <a:extLst xmlns:a="http://schemas.openxmlformats.org/drawingml/2006/main">
              <a:ext uri="{FF2B5EF4-FFF2-40B4-BE49-F238E27FC236}">
                <a16:creationId xmlns:a16="http://schemas.microsoft.com/office/drawing/2014/main" id="{A9080AF6-6045-4E7D-A16F-70D0D6E67334}"/>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8</a:t>
            </a:r>
          </a:p>
        </p:txBody>
      </p:sp>
      <p:sp>
        <p:nvSpPr>
          <p:cNvPr id="5" name="Vezelkorrels · Uitlegvoorbeeld — niet uit het boek">
            <a:extLst xmlns:a="http://schemas.openxmlformats.org/drawingml/2006/main">
              <a:ext uri="{FF2B5EF4-FFF2-40B4-BE49-F238E27FC236}">
                <a16:creationId xmlns:a16="http://schemas.microsoft.com/office/drawing/2014/main" id="{B6EC85BB-530F-4CEE-BB30-D63FE14E2E2B}"/>
              </a:ext>
            </a:extLst>
          </p:cNvPr>
          <p:cNvSpPr>
            <a:spLocks xmlns:a="http://schemas.openxmlformats.org/drawingml/2006/main" noGrp="1"/>
          </p:cNvSpPr>
          <p:nvPr/>
        </p:nvSpPr>
        <p:spPr>
          <a:xfrm xmlns:a="http://schemas.openxmlformats.org/drawingml/2006/main">
            <a:off x="571500" y="1695450"/>
            <a:ext cx="14097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Vezelkorrels · Uitlegvoorbeeld — niet uit het boek</a:t>
            </a:r>
          </a:p>
        </p:txBody>
      </p:sp>
      <p:sp>
        <p:nvSpPr>
          <p:cNvPr id="6" name="Elke prijslijn: P = GO = MO">
            <a:extLst xmlns:a="http://schemas.openxmlformats.org/drawingml/2006/main">
              <a:ext uri="{FF2B5EF4-FFF2-40B4-BE49-F238E27FC236}">
                <a16:creationId xmlns:a16="http://schemas.microsoft.com/office/drawing/2014/main" id="{CB755F96-18C4-429A-9870-0132BE7FE732}"/>
              </a:ext>
            </a:extLst>
          </p:cNvPr>
          <p:cNvSpPr>
            <a:spLocks xmlns:a="http://schemas.openxmlformats.org/drawingml/2006/main" noGrp="1"/>
          </p:cNvSpPr>
          <p:nvPr/>
        </p:nvSpPr>
        <p:spPr>
          <a:xfrm xmlns:a="http://schemas.openxmlformats.org/drawingml/2006/main">
            <a:off x="571500" y="2133600"/>
            <a:ext cx="9239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445B6B"/>
                </a:solidFill>
                <a:latin typeface="Arial"/>
                <a:ea typeface="Arial"/>
                <a:cs typeface="Arial"/>
              </a:defRPr>
            </a:pPr>
            <a:r>
              <a:rPr sz="1950" b="0">
                <a:solidFill>
                  <a:srgbClr val="445B6B"/>
                </a:solidFill>
                <a:latin typeface="Arial"/>
                <a:ea typeface="Arial"/>
                <a:cs typeface="Arial"/>
              </a:rPr>
              <a:t>Elke prijslijn: P = GO = MO</a:t>
            </a:r>
          </a:p>
        </p:txBody>
      </p:sp>
      <p:graphicFrame>
        <p:nvGraphicFramePr>
          <p:cNvPr id="17" name="Chart"/>
          <p:cNvGraphicFramePr/>
          <p:nvPr/>
        </p:nvGraphicFramePr>
        <p:xfrm>
          <a:off xmlns:a="http://schemas.openxmlformats.org/drawingml/2006/main" x="571500" y="2371725"/>
          <a:ext xmlns:a="http://schemas.openxmlformats.org/drawingml/2006/main" cx="9239250" cy="5238750"/>
        </p:xfrm>
        <a:graphic xmlns:a="http://schemas.openxmlformats.org/drawingml/2006/main">
          <a:graphicData uri="http://schemas.openxmlformats.org/drawingml/2006/chart">
            <c:chart xmlns:r="http://schemas.openxmlformats.org/officeDocument/2006/relationships" xmlns:c="http://schemas.openxmlformats.org/drawingml/2006/chart" r:id="R12b3689c6d5b4db2"/>
          </a:graphicData>
        </a:graphic>
      </p:graphicFrame>
      <p:sp>
        <p:nvSpPr>
          <p:cNvPr id="8" name="P = GO = MO daalt">
            <a:extLst xmlns:a="http://schemas.openxmlformats.org/drawingml/2006/main">
              <a:ext uri="{FF2B5EF4-FFF2-40B4-BE49-F238E27FC236}">
                <a16:creationId xmlns:a16="http://schemas.microsoft.com/office/drawing/2014/main" id="{6A750E02-64CC-4EC1-AD15-8B98245BD92A}"/>
              </a:ext>
            </a:extLst>
          </p:cNvPr>
          <p:cNvSpPr>
            <a:spLocks xmlns:a="http://schemas.openxmlformats.org/drawingml/2006/main" noGrp="1"/>
          </p:cNvSpPr>
          <p:nvPr/>
        </p:nvSpPr>
        <p:spPr>
          <a:xfrm xmlns:a="http://schemas.openxmlformats.org/drawingml/2006/main">
            <a:off x="10191750" y="2533650"/>
            <a:ext cx="44291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P = GO = MO daalt</a:t>
            </a:r>
          </a:p>
        </p:txBody>
      </p:sp>
      <p:sp>
        <p:nvSpPr>
          <p:cNvPr id="9" name="6 = 0,10q + 3&#10;q = 30 kg per week&#10;&#10;MK en GTK blijven staan.">
            <a:extLst xmlns:a="http://schemas.openxmlformats.org/drawingml/2006/main">
              <a:ext uri="{FF2B5EF4-FFF2-40B4-BE49-F238E27FC236}">
                <a16:creationId xmlns:a16="http://schemas.microsoft.com/office/drawing/2014/main" id="{0A9618AD-492A-4CD9-88C6-3B9FE1D37F21}"/>
              </a:ext>
            </a:extLst>
          </p:cNvPr>
          <p:cNvSpPr>
            <a:spLocks xmlns:a="http://schemas.openxmlformats.org/drawingml/2006/main" noGrp="1"/>
          </p:cNvSpPr>
          <p:nvPr/>
        </p:nvSpPr>
        <p:spPr>
          <a:xfrm xmlns:a="http://schemas.openxmlformats.org/drawingml/2006/main">
            <a:off x="10191750" y="3905250"/>
            <a:ext cx="4429125"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6 = 0,10q + 3</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q = 30 kg per week</a:t>
            </a:r>
          </a:p>
          <a:p xmlns:a="http://schemas.openxmlformats.org/drawingml/2006/main">
            <a:r>
              <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MK en GTK blijven staan.</a:t>
            </a:r>
          </a:p>
        </p:txBody>
      </p:sp>
      <p:sp>
        <p:nvSpPr>
          <p:cNvPr id="10" name="Markt Q stijgt.&#10;Bedrijfs-q daalt.">
            <a:extLst xmlns:a="http://schemas.openxmlformats.org/drawingml/2006/main">
              <a:ext uri="{FF2B5EF4-FFF2-40B4-BE49-F238E27FC236}">
                <a16:creationId xmlns:a16="http://schemas.microsoft.com/office/drawing/2014/main" id="{66B41E83-27C4-4D3A-910E-9B46DE510614}"/>
              </a:ext>
            </a:extLst>
          </p:cNvPr>
          <p:cNvSpPr>
            <a:spLocks xmlns:a="http://schemas.openxmlformats.org/drawingml/2006/main" noGrp="1"/>
          </p:cNvSpPr>
          <p:nvPr/>
        </p:nvSpPr>
        <p:spPr>
          <a:xfrm xmlns:a="http://schemas.openxmlformats.org/drawingml/2006/main">
            <a:off x="10191750" y="6743700"/>
            <a:ext cx="4429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Markt Q stijgt.</a:t>
            </a:r>
          </a:p>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Bedrijfs-q daalt.</a:t>
            </a:r>
          </a:p>
        </p:txBody>
      </p:sp>
    </p:spTree>
    <p:extLst>
      <p:ext uri="{BB962C8B-B14F-4D97-AF65-F5344CB8AC3E}">
        <p14:creationId xmlns:p14="http://schemas.microsoft.com/office/powerpoint/2010/main" val="1071980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Het langetermijnevenwicht">
            <a:extLst xmlns:a="http://schemas.openxmlformats.org/drawingml/2006/main">
              <a:ext uri="{FF2B5EF4-FFF2-40B4-BE49-F238E27FC236}">
                <a16:creationId xmlns:a16="http://schemas.microsoft.com/office/drawing/2014/main" id="{13DF69AD-6B16-4869-A48E-0C4E3F9BFB51}"/>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Het langetermijnevenwicht</a:t>
            </a:r>
          </a:p>
        </p:txBody>
      </p:sp>
      <p:sp>
        <p:nvSpPr>
          <p:cNvPr id="2" name="">
            <a:extLst xmlns:a="http://schemas.openxmlformats.org/drawingml/2006/main">
              <a:ext uri="{FF2B5EF4-FFF2-40B4-BE49-F238E27FC236}">
                <a16:creationId xmlns:a16="http://schemas.microsoft.com/office/drawing/2014/main" id="{0471FCFA-A760-42C9-B701-A97C9E033F6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Hoe lang blijft de winst?">
            <a:extLst xmlns:a="http://schemas.openxmlformats.org/drawingml/2006/main">
              <a:ext uri="{FF2B5EF4-FFF2-40B4-BE49-F238E27FC236}">
                <a16:creationId xmlns:a16="http://schemas.microsoft.com/office/drawing/2014/main" id="{4244AA60-A019-4AFC-BAC3-3AD1A6B8F0C8}"/>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Hoe lang blijft de winst?</a:t>
            </a:r>
          </a:p>
        </p:txBody>
      </p:sp>
      <p:sp>
        <p:nvSpPr>
          <p:cNvPr id="4" name="slide-number">
            <a:extLst xmlns:a="http://schemas.openxmlformats.org/drawingml/2006/main">
              <a:ext uri="{FF2B5EF4-FFF2-40B4-BE49-F238E27FC236}">
                <a16:creationId xmlns:a16="http://schemas.microsoft.com/office/drawing/2014/main" id="{A97970CD-84A0-4AC2-ABF3-86BA221E23FC}"/>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9</a:t>
            </a:r>
          </a:p>
        </p:txBody>
      </p:sp>
      <p:sp>
        <p:nvSpPr>
          <p:cNvPr id="5" name="Vezelkorrels · Uitlegvoorbeeld — niet uit het boek">
            <a:extLst xmlns:a="http://schemas.openxmlformats.org/drawingml/2006/main">
              <a:ext uri="{FF2B5EF4-FFF2-40B4-BE49-F238E27FC236}">
                <a16:creationId xmlns:a16="http://schemas.microsoft.com/office/drawing/2014/main" id="{3CB1A8A0-B821-4114-A23E-E0B2C4F3C119}"/>
              </a:ext>
            </a:extLst>
          </p:cNvPr>
          <p:cNvSpPr>
            <a:spLocks xmlns:a="http://schemas.openxmlformats.org/drawingml/2006/main" noGrp="1"/>
          </p:cNvSpPr>
          <p:nvPr/>
        </p:nvSpPr>
        <p:spPr>
          <a:xfrm xmlns:a="http://schemas.openxmlformats.org/drawingml/2006/main">
            <a:off x="571500" y="1695450"/>
            <a:ext cx="14097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Vezelkorrels · Uitlegvoorbeeld — niet uit het boek</a:t>
            </a:r>
          </a:p>
        </p:txBody>
      </p:sp>
      <p:sp>
        <p:nvSpPr>
          <p:cNvPr id="6" name="Gegeven minimum GTK: € 6 per kg bij q = 30">
            <a:extLst xmlns:a="http://schemas.openxmlformats.org/drawingml/2006/main">
              <a:ext uri="{FF2B5EF4-FFF2-40B4-BE49-F238E27FC236}">
                <a16:creationId xmlns:a16="http://schemas.microsoft.com/office/drawing/2014/main" id="{7C2E53E9-91E3-4F00-B613-6A82494052EB}"/>
              </a:ext>
            </a:extLst>
          </p:cNvPr>
          <p:cNvSpPr>
            <a:spLocks xmlns:a="http://schemas.openxmlformats.org/drawingml/2006/main" noGrp="1"/>
          </p:cNvSpPr>
          <p:nvPr/>
        </p:nvSpPr>
        <p:spPr>
          <a:xfrm xmlns:a="http://schemas.openxmlformats.org/drawingml/2006/main">
            <a:off x="571500" y="2533650"/>
            <a:ext cx="14097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Gegeven minimum GTK: € 6 per kg bij q = 30</a:t>
            </a:r>
          </a:p>
        </p:txBody>
      </p:sp>
      <p:sp>
        <p:nvSpPr>
          <p:cNvPr id="7" name="Totale opbrengst">
            <a:extLst xmlns:a="http://schemas.openxmlformats.org/drawingml/2006/main">
              <a:ext uri="{FF2B5EF4-FFF2-40B4-BE49-F238E27FC236}">
                <a16:creationId xmlns:a16="http://schemas.microsoft.com/office/drawing/2014/main" id="{744218D2-9313-4660-BFB7-D219752EBB7B}"/>
              </a:ext>
            </a:extLst>
          </p:cNvPr>
          <p:cNvSpPr>
            <a:spLocks xmlns:a="http://schemas.openxmlformats.org/drawingml/2006/main" noGrp="1"/>
          </p:cNvSpPr>
          <p:nvPr/>
        </p:nvSpPr>
        <p:spPr>
          <a:xfrm xmlns:a="http://schemas.openxmlformats.org/drawingml/2006/main">
            <a:off x="571500" y="3590925"/>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Totale opbrengst</a:t>
            </a:r>
          </a:p>
        </p:txBody>
      </p:sp>
      <p:sp>
        <p:nvSpPr>
          <p:cNvPr id="8" name="TO = 6 × 30 = € 180 per week">
            <a:extLst xmlns:a="http://schemas.openxmlformats.org/drawingml/2006/main">
              <a:ext uri="{FF2B5EF4-FFF2-40B4-BE49-F238E27FC236}">
                <a16:creationId xmlns:a16="http://schemas.microsoft.com/office/drawing/2014/main" id="{A7472DD5-F931-4429-B020-F748AB362D8A}"/>
              </a:ext>
            </a:extLst>
          </p:cNvPr>
          <p:cNvSpPr>
            <a:spLocks xmlns:a="http://schemas.openxmlformats.org/drawingml/2006/main" noGrp="1"/>
          </p:cNvSpPr>
          <p:nvPr/>
        </p:nvSpPr>
        <p:spPr>
          <a:xfrm xmlns:a="http://schemas.openxmlformats.org/drawingml/2006/main">
            <a:off x="6000750" y="3590925"/>
            <a:ext cx="866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TO = 6 × 30 = € 180 per week</a:t>
            </a:r>
          </a:p>
        </p:txBody>
      </p:sp>
      <p:sp>
        <p:nvSpPr>
          <p:cNvPr id="9" name="Totale kosten">
            <a:extLst xmlns:a="http://schemas.openxmlformats.org/drawingml/2006/main">
              <a:ext uri="{FF2B5EF4-FFF2-40B4-BE49-F238E27FC236}">
                <a16:creationId xmlns:a16="http://schemas.microsoft.com/office/drawing/2014/main" id="{EC7C73BF-0241-49F4-BA7F-482DCB7E8BC7}"/>
              </a:ext>
            </a:extLst>
          </p:cNvPr>
          <p:cNvSpPr>
            <a:spLocks xmlns:a="http://schemas.openxmlformats.org/drawingml/2006/main" noGrp="1"/>
          </p:cNvSpPr>
          <p:nvPr/>
        </p:nvSpPr>
        <p:spPr>
          <a:xfrm xmlns:a="http://schemas.openxmlformats.org/drawingml/2006/main">
            <a:off x="571500" y="4857750"/>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Totale kosten</a:t>
            </a:r>
          </a:p>
        </p:txBody>
      </p:sp>
      <p:sp>
        <p:nvSpPr>
          <p:cNvPr id="10" name="TK = 0,05 × 30² + 3 × 30 + 45&#10;     = 45 + 90 + 45 = € 180 per wee">
            <a:extLst xmlns:a="http://schemas.openxmlformats.org/drawingml/2006/main">
              <a:ext uri="{FF2B5EF4-FFF2-40B4-BE49-F238E27FC236}">
                <a16:creationId xmlns:a16="http://schemas.microsoft.com/office/drawing/2014/main" id="{39BD86E3-0C5F-414B-9CA7-1B4EB5F6E778}"/>
              </a:ext>
            </a:extLst>
          </p:cNvPr>
          <p:cNvSpPr>
            <a:spLocks xmlns:a="http://schemas.openxmlformats.org/drawingml/2006/main" noGrp="1"/>
          </p:cNvSpPr>
          <p:nvPr/>
        </p:nvSpPr>
        <p:spPr>
          <a:xfrm xmlns:a="http://schemas.openxmlformats.org/drawingml/2006/main">
            <a:off x="6000750" y="4857750"/>
            <a:ext cx="866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TK = 0,05 × 30² + 3 × 30 + 45</a:t>
            </a:r>
          </a:p>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     = 45 + 90 + 45 = € 180 per week</a:t>
            </a:r>
          </a:p>
        </p:txBody>
      </p:sp>
      <p:sp>
        <p:nvSpPr>
          <p:cNvPr id="11" name="Economische winst">
            <a:extLst xmlns:a="http://schemas.openxmlformats.org/drawingml/2006/main">
              <a:ext uri="{FF2B5EF4-FFF2-40B4-BE49-F238E27FC236}">
                <a16:creationId xmlns:a16="http://schemas.microsoft.com/office/drawing/2014/main" id="{A6C5BF10-253C-4E72-9006-1B15CB0E4C10}"/>
              </a:ext>
            </a:extLst>
          </p:cNvPr>
          <p:cNvSpPr>
            <a:spLocks xmlns:a="http://schemas.openxmlformats.org/drawingml/2006/main" noGrp="1"/>
          </p:cNvSpPr>
          <p:nvPr/>
        </p:nvSpPr>
        <p:spPr>
          <a:xfrm xmlns:a="http://schemas.openxmlformats.org/drawingml/2006/main">
            <a:off x="571500" y="6124575"/>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Economische winst</a:t>
            </a:r>
          </a:p>
        </p:txBody>
      </p:sp>
      <p:sp>
        <p:nvSpPr>
          <p:cNvPr id="12" name="180 − 180 = € 0 per week">
            <a:extLst xmlns:a="http://schemas.openxmlformats.org/drawingml/2006/main">
              <a:ext uri="{FF2B5EF4-FFF2-40B4-BE49-F238E27FC236}">
                <a16:creationId xmlns:a16="http://schemas.microsoft.com/office/drawing/2014/main" id="{FB2DC7CB-2F8A-4F50-8D55-F9BE1F5FE827}"/>
              </a:ext>
            </a:extLst>
          </p:cNvPr>
          <p:cNvSpPr>
            <a:spLocks xmlns:a="http://schemas.openxmlformats.org/drawingml/2006/main" noGrp="1"/>
          </p:cNvSpPr>
          <p:nvPr/>
        </p:nvSpPr>
        <p:spPr>
          <a:xfrm xmlns:a="http://schemas.openxmlformats.org/drawingml/2006/main">
            <a:off x="6000750" y="6124575"/>
            <a:ext cx="866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180 − 180 = € 0 per week</a:t>
            </a:r>
          </a:p>
        </p:txBody>
      </p:sp>
      <p:sp>
        <p:nvSpPr>
          <p:cNvPr id="13" name="P = MO = MK = minimum GTK">
            <a:extLst xmlns:a="http://schemas.openxmlformats.org/drawingml/2006/main">
              <a:ext uri="{FF2B5EF4-FFF2-40B4-BE49-F238E27FC236}">
                <a16:creationId xmlns:a16="http://schemas.microsoft.com/office/drawing/2014/main" id="{60A3382E-BD96-4021-BD5C-F3B97FF8BC6A}"/>
              </a:ext>
            </a:extLst>
          </p:cNvPr>
          <p:cNvSpPr>
            <a:spLocks xmlns:a="http://schemas.openxmlformats.org/drawingml/2006/main" noGrp="1"/>
          </p:cNvSpPr>
          <p:nvPr/>
        </p:nvSpPr>
        <p:spPr>
          <a:xfrm xmlns:a="http://schemas.openxmlformats.org/drawingml/2006/main">
            <a:off x="571500" y="7524750"/>
            <a:ext cx="1409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P = MO = MK = minimum GTK</a:t>
            </a:r>
          </a:p>
        </p:txBody>
      </p:sp>
    </p:spTree>
    <p:extLst>
      <p:ext uri="{BB962C8B-B14F-4D97-AF65-F5344CB8AC3E}">
        <p14:creationId xmlns:p14="http://schemas.microsoft.com/office/powerpoint/2010/main" val="211977811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Voorwaarden voor nul economische winst">
            <a:extLst xmlns:a="http://schemas.openxmlformats.org/drawingml/2006/main">
              <a:ext uri="{FF2B5EF4-FFF2-40B4-BE49-F238E27FC236}">
                <a16:creationId xmlns:a16="http://schemas.microsoft.com/office/drawing/2014/main" id="{B871B1C8-C67D-425E-89B0-E26F15BF8D8B}"/>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Voorwaarden voor nul economische winst</a:t>
            </a:r>
          </a:p>
        </p:txBody>
      </p:sp>
      <p:sp>
        <p:nvSpPr>
          <p:cNvPr id="2" name="">
            <a:extLst xmlns:a="http://schemas.openxmlformats.org/drawingml/2006/main">
              <a:ext uri="{FF2B5EF4-FFF2-40B4-BE49-F238E27FC236}">
                <a16:creationId xmlns:a16="http://schemas.microsoft.com/office/drawing/2014/main" id="{746B3AFA-A864-4C70-8EB8-7235B012CEA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Hoe lang blijft de winst?">
            <a:extLst xmlns:a="http://schemas.openxmlformats.org/drawingml/2006/main">
              <a:ext uri="{FF2B5EF4-FFF2-40B4-BE49-F238E27FC236}">
                <a16:creationId xmlns:a16="http://schemas.microsoft.com/office/drawing/2014/main" id="{0247CA44-102A-4B48-B10C-4E2187E56E2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Hoe lang blijft de winst?</a:t>
            </a:r>
          </a:p>
        </p:txBody>
      </p:sp>
      <p:sp>
        <p:nvSpPr>
          <p:cNvPr id="4" name="slide-number">
            <a:extLst xmlns:a="http://schemas.openxmlformats.org/drawingml/2006/main">
              <a:ext uri="{FF2B5EF4-FFF2-40B4-BE49-F238E27FC236}">
                <a16:creationId xmlns:a16="http://schemas.microsoft.com/office/drawing/2014/main" id="{9C0E83E9-5D75-4E37-A53C-B25CAEA78F0B}"/>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10</a:t>
            </a:r>
          </a:p>
        </p:txBody>
      </p:sp>
      <p:graphicFrame>
        <p:nvGraphicFramePr>
          <p:cNvPr id="11" name=""/>
          <p:cNvGraphicFramePr/>
          <p:nvPr/>
        </p:nvGraphicFramePr>
        <p:xfrm>
          <a:off xmlns:a="http://schemas.openxmlformats.org/drawingml/2006/main" x="571500" y="2009775"/>
          <a:ext xmlns:a="http://schemas.openxmlformats.org/drawingml/2006/main" cx="14097000" cy="3790950"/>
        </p:xfrm>
        <a:graphic xmlns:a="http://schemas.openxmlformats.org/drawingml/2006/main">
          <a:graphicData uri="http://schemas.openxmlformats.org/drawingml/2006/table">
            <a:tbl>
              <a:tblPr/>
              <a:tblGrid>
                <a:gridCol w="6096000"/>
                <a:gridCol w="8001000"/>
              </a:tblGrid>
              <a:tr h="947738">
                <a:tc>
                  <a:txBody>
                    <a:bodyPr lIns="171450" tIns="95250" rIns="152400" bIns="95250"/>
                    <a:lstStyle/>
                    <a:p>
                      <a:r>
                        <a:rPr sz="2400" b="1">
                          <a:solidFill>
                            <a:srgbClr val="FFFFFF"/>
                          </a:solidFill>
                          <a:latin typeface="Arial"/>
                          <a:ea typeface="Arial"/>
                          <a:cs typeface="Arial"/>
                        </a:rPr>
                        <a:t>Aannamen</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Gevolg voor het model</a:t>
                      </a:r>
                    </a:p>
                  </a:txBody>
                  <a:tcPr marL="91440" marR="91440" marT="45720" marB="45720" anchor="ctr">
                    <a:solidFill>
                      <a:srgbClr val="183247"/>
                    </a:solidFill>
                  </a:tcPr>
                </a:tc>
              </a:tr>
              <a:tr h="947738">
                <a:tc>
                  <a:txBody>
                    <a:bodyPr lIns="171450" tIns="95250" rIns="152400" bIns="95250"/>
                    <a:lstStyle/>
                    <a:p>
                      <a:r>
                        <a:rPr sz="2400" b="0">
                          <a:solidFill>
                            <a:srgbClr val="183247"/>
                          </a:solidFill>
                          <a:latin typeface="Arial"/>
                          <a:ea typeface="Arial"/>
                          <a:cs typeface="Arial"/>
                        </a:rPr>
                        <a:t>Vrije toe- en uittreding</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Het aantal bedrijven kan zich aanpassen.</a:t>
                      </a:r>
                    </a:p>
                  </a:txBody>
                  <a:tcPr marL="91440" marR="91440" marT="45720" marB="45720" anchor="ctr">
                    <a:solidFill>
                      <a:srgbClr val="FFFFFF"/>
                    </a:solidFill>
                  </a:tcPr>
                </a:tc>
              </a:tr>
              <a:tr h="947738">
                <a:tc>
                  <a:txBody>
                    <a:bodyPr lIns="171450" tIns="95250" rIns="152400" bIns="95250"/>
                    <a:lstStyle/>
                    <a:p>
                      <a:r>
                        <a:rPr sz="2400" b="0">
                          <a:solidFill>
                            <a:srgbClr val="183247"/>
                          </a:solidFill>
                          <a:latin typeface="Arial"/>
                          <a:ea typeface="Arial"/>
                          <a:cs typeface="Arial"/>
                        </a:rPr>
                        <a:t>Dezelfde, onveranderde kosten</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Bestaande en nieuwe bedrijven hebben dezelfde GTK.</a:t>
                      </a:r>
                    </a:p>
                  </a:txBody>
                  <a:tcPr marL="91440" marR="91440" marT="45720" marB="45720" anchor="ctr">
                    <a:solidFill>
                      <a:srgbClr val="EFF4F7"/>
                    </a:solidFill>
                  </a:tcPr>
                </a:tc>
              </a:tr>
              <a:tr h="947738">
                <a:tc>
                  <a:txBody>
                    <a:bodyPr lIns="171450" tIns="95250" rIns="152400" bIns="95250"/>
                    <a:lstStyle/>
                    <a:p>
                      <a:r>
                        <a:rPr sz="2400" b="0">
                          <a:solidFill>
                            <a:srgbClr val="183247"/>
                          </a:solidFill>
                          <a:latin typeface="Arial"/>
                          <a:ea typeface="Arial"/>
                          <a:cs typeface="Arial"/>
                        </a:rPr>
                        <a:t>Vraag en inputprijzen blijven gelijk</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De aanpassing komt door het aantal aanbieders.</a:t>
                      </a:r>
                    </a:p>
                  </a:txBody>
                  <a:tcPr marL="91440" marR="91440" marT="45720" marB="45720" anchor="ctr">
                    <a:solidFill>
                      <a:srgbClr val="FFFFFF"/>
                    </a:solidFill>
                  </a:tcPr>
                </a:tc>
              </a:tr>
            </a:tbl>
          </a:graphicData>
        </a:graphic>
      </p:graphicFrame>
      <p:sp>
        <p:nvSpPr>
          <p:cNvPr id="6" name="Korte termijn: aantal bedrijven ligt nog vast.&#10;Lange termijn: bed">
            <a:extLst xmlns:a="http://schemas.openxmlformats.org/drawingml/2006/main">
              <a:ext uri="{FF2B5EF4-FFF2-40B4-BE49-F238E27FC236}">
                <a16:creationId xmlns:a16="http://schemas.microsoft.com/office/drawing/2014/main" id="{50FA4FE5-DBDE-4902-A222-EE9F8DA9F471}"/>
              </a:ext>
            </a:extLst>
          </p:cNvPr>
          <p:cNvSpPr>
            <a:spLocks xmlns:a="http://schemas.openxmlformats.org/drawingml/2006/main" noGrp="1"/>
          </p:cNvSpPr>
          <p:nvPr/>
        </p:nvSpPr>
        <p:spPr>
          <a:xfrm xmlns:a="http://schemas.openxmlformats.org/drawingml/2006/main">
            <a:off x="571500" y="6381750"/>
            <a:ext cx="140970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Korte termijn: aantal bedrijven ligt nog vast.</a:t>
            </a:r>
          </a:p>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Lange termijn: bedrijven kunnen toe- of uittreden.</a:t>
            </a:r>
          </a:p>
        </p:txBody>
      </p:sp>
    </p:spTree>
    <p:extLst>
      <p:ext uri="{BB962C8B-B14F-4D97-AF65-F5344CB8AC3E}">
        <p14:creationId xmlns:p14="http://schemas.microsoft.com/office/powerpoint/2010/main" val="91000667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Aanhoudend verlies">
            <a:extLst xmlns:a="http://schemas.openxmlformats.org/drawingml/2006/main">
              <a:ext uri="{FF2B5EF4-FFF2-40B4-BE49-F238E27FC236}">
                <a16:creationId xmlns:a16="http://schemas.microsoft.com/office/drawing/2014/main" id="{7C5A49F6-9DF4-467E-94AC-790AEA6375B3}"/>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Aanhoudend verlies</a:t>
            </a:r>
          </a:p>
        </p:txBody>
      </p:sp>
      <p:sp>
        <p:nvSpPr>
          <p:cNvPr id="2" name="">
            <a:extLst xmlns:a="http://schemas.openxmlformats.org/drawingml/2006/main">
              <a:ext uri="{FF2B5EF4-FFF2-40B4-BE49-F238E27FC236}">
                <a16:creationId xmlns:a16="http://schemas.microsoft.com/office/drawing/2014/main" id="{1C6D6DE4-9561-49DF-95C8-78EFAEB7719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Hoe lang blijft de winst?">
            <a:extLst xmlns:a="http://schemas.openxmlformats.org/drawingml/2006/main">
              <a:ext uri="{FF2B5EF4-FFF2-40B4-BE49-F238E27FC236}">
                <a16:creationId xmlns:a16="http://schemas.microsoft.com/office/drawing/2014/main" id="{8408848D-FFD0-48A7-854A-3F5D7A30B66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Hoe lang blijft de winst?</a:t>
            </a:r>
          </a:p>
        </p:txBody>
      </p:sp>
      <p:sp>
        <p:nvSpPr>
          <p:cNvPr id="4" name="slide-number">
            <a:extLst xmlns:a="http://schemas.openxmlformats.org/drawingml/2006/main">
              <a:ext uri="{FF2B5EF4-FFF2-40B4-BE49-F238E27FC236}">
                <a16:creationId xmlns:a16="http://schemas.microsoft.com/office/drawing/2014/main" id="{922F0268-7A5D-482A-8089-1922501C9962}"/>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11</a:t>
            </a:r>
          </a:p>
        </p:txBody>
      </p:sp>
      <p:sp>
        <p:nvSpPr>
          <p:cNvPr id="5" name="Vezelkorrels · een andere beginsituatie · Uitlegvoorbeeld — niet ">
            <a:extLst xmlns:a="http://schemas.openxmlformats.org/drawingml/2006/main">
              <a:ext uri="{FF2B5EF4-FFF2-40B4-BE49-F238E27FC236}">
                <a16:creationId xmlns:a16="http://schemas.microsoft.com/office/drawing/2014/main" id="{51AAD738-1FE7-4B19-877B-BD83B1FDCECB}"/>
              </a:ext>
            </a:extLst>
          </p:cNvPr>
          <p:cNvSpPr>
            <a:spLocks xmlns:a="http://schemas.openxmlformats.org/drawingml/2006/main" noGrp="1"/>
          </p:cNvSpPr>
          <p:nvPr/>
        </p:nvSpPr>
        <p:spPr>
          <a:xfrm xmlns:a="http://schemas.openxmlformats.org/drawingml/2006/main">
            <a:off x="571500" y="1695450"/>
            <a:ext cx="14097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Vezelkorrels · een andere beginsituatie · Uitlegvoorbeeld — niet uit het boek</a:t>
            </a:r>
          </a:p>
        </p:txBody>
      </p:sp>
      <p:sp>
        <p:nvSpPr>
          <p:cNvPr id="6" name="Elke prijslijn: P = GO = MO">
            <a:extLst xmlns:a="http://schemas.openxmlformats.org/drawingml/2006/main">
              <a:ext uri="{FF2B5EF4-FFF2-40B4-BE49-F238E27FC236}">
                <a16:creationId xmlns:a16="http://schemas.microsoft.com/office/drawing/2014/main" id="{46E55BE6-3A06-4D38-85CD-A9C778D68C74}"/>
              </a:ext>
            </a:extLst>
          </p:cNvPr>
          <p:cNvSpPr>
            <a:spLocks xmlns:a="http://schemas.openxmlformats.org/drawingml/2006/main" noGrp="1"/>
          </p:cNvSpPr>
          <p:nvPr/>
        </p:nvSpPr>
        <p:spPr>
          <a:xfrm xmlns:a="http://schemas.openxmlformats.org/drawingml/2006/main">
            <a:off x="571500" y="2133600"/>
            <a:ext cx="9239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445B6B"/>
                </a:solidFill>
                <a:latin typeface="Arial"/>
                <a:ea typeface="Arial"/>
                <a:cs typeface="Arial"/>
              </a:defRPr>
            </a:pPr>
            <a:r>
              <a:rPr sz="1950" b="0">
                <a:solidFill>
                  <a:srgbClr val="445B6B"/>
                </a:solidFill>
                <a:latin typeface="Arial"/>
                <a:ea typeface="Arial"/>
                <a:cs typeface="Arial"/>
              </a:rPr>
              <a:t>Elke prijslijn: P = GO = MO</a:t>
            </a:r>
          </a:p>
        </p:txBody>
      </p:sp>
      <p:graphicFrame>
        <p:nvGraphicFramePr>
          <p:cNvPr id="17" name="Chart"/>
          <p:cNvGraphicFramePr/>
          <p:nvPr/>
        </p:nvGraphicFramePr>
        <p:xfrm>
          <a:off xmlns:a="http://schemas.openxmlformats.org/drawingml/2006/main" x="571500" y="2371725"/>
          <a:ext xmlns:a="http://schemas.openxmlformats.org/drawingml/2006/main" cx="9239250" cy="5238750"/>
        </p:xfrm>
        <a:graphic xmlns:a="http://schemas.openxmlformats.org/drawingml/2006/main">
          <a:graphicData uri="http://schemas.openxmlformats.org/drawingml/2006/chart">
            <c:chart xmlns:r="http://schemas.openxmlformats.org/officeDocument/2006/relationships" xmlns:c="http://schemas.openxmlformats.org/drawingml/2006/chart" r:id="Rc93e4d72f6dd44b8"/>
          </a:graphicData>
        </a:graphic>
      </p:graphicFrame>
      <p:sp>
        <p:nvSpPr>
          <p:cNvPr id="8" name="Dezelfde kosten&#10;P = € 5 per kg">
            <a:extLst xmlns:a="http://schemas.openxmlformats.org/drawingml/2006/main">
              <a:ext uri="{FF2B5EF4-FFF2-40B4-BE49-F238E27FC236}">
                <a16:creationId xmlns:a16="http://schemas.microsoft.com/office/drawing/2014/main" id="{5720DCAC-3996-4FD1-9EE9-C9A9158564EA}"/>
              </a:ext>
            </a:extLst>
          </p:cNvPr>
          <p:cNvSpPr>
            <a:spLocks xmlns:a="http://schemas.openxmlformats.org/drawingml/2006/main" noGrp="1"/>
          </p:cNvSpPr>
          <p:nvPr/>
        </p:nvSpPr>
        <p:spPr>
          <a:xfrm xmlns:a="http://schemas.openxmlformats.org/drawingml/2006/main">
            <a:off x="10191750" y="2524125"/>
            <a:ext cx="44291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83247"/>
                </a:solidFill>
                <a:latin typeface="Arial"/>
                <a:ea typeface="Arial"/>
                <a:cs typeface="Arial"/>
              </a:defRPr>
            </a:pPr>
            <a:r>
              <a:rPr sz="2775" b="1">
                <a:solidFill>
                  <a:srgbClr val="183247"/>
                </a:solidFill>
                <a:latin typeface="Arial"/>
                <a:ea typeface="Arial"/>
                <a:cs typeface="Arial"/>
              </a:rPr>
              <a:t>Dezelfde kosten</a:t>
            </a:r>
          </a:p>
          <a:p xmlns:a="http://schemas.openxmlformats.org/drawingml/2006/main">
            <a:pPr algn="l">
              <a:defRPr sz="2775" b="1">
                <a:solidFill>
                  <a:srgbClr val="183247"/>
                </a:solidFill>
                <a:latin typeface="Arial"/>
                <a:ea typeface="Arial"/>
                <a:cs typeface="Arial"/>
              </a:defRPr>
            </a:pPr>
            <a:r>
              <a:rPr sz="2775" b="1">
                <a:solidFill>
                  <a:srgbClr val="183247"/>
                </a:solidFill>
                <a:latin typeface="Arial"/>
                <a:ea typeface="Arial"/>
                <a:cs typeface="Arial"/>
              </a:rPr>
              <a:t>P = € 5 per kg</a:t>
            </a:r>
          </a:p>
        </p:txBody>
      </p:sp>
      <p:sp>
        <p:nvSpPr>
          <p:cNvPr id="9" name="5 = 0,10q + 3&#10;q = 20 kg per week&#10;TO = € 100 per week&#10;TK = 20 + 60">
            <a:extLst xmlns:a="http://schemas.openxmlformats.org/drawingml/2006/main">
              <a:ext uri="{FF2B5EF4-FFF2-40B4-BE49-F238E27FC236}">
                <a16:creationId xmlns:a16="http://schemas.microsoft.com/office/drawing/2014/main" id="{4F942820-4568-4FB0-80DD-578D57D92183}"/>
              </a:ext>
            </a:extLst>
          </p:cNvPr>
          <p:cNvSpPr>
            <a:spLocks xmlns:a="http://schemas.openxmlformats.org/drawingml/2006/main" noGrp="1"/>
          </p:cNvSpPr>
          <p:nvPr/>
        </p:nvSpPr>
        <p:spPr>
          <a:xfrm xmlns:a="http://schemas.openxmlformats.org/drawingml/2006/main">
            <a:off x="10191750" y="3990975"/>
            <a:ext cx="4429125" cy="2505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5 = 0,10q + 3</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q = 20 kg per week</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TO = € 100 per week</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TK = 20 + 60 + 45</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     = € 125 per week</a:t>
            </a:r>
          </a:p>
        </p:txBody>
      </p:sp>
      <p:sp>
        <p:nvSpPr>
          <p:cNvPr id="10" name="Verlies: € 25 per week">
            <a:extLst xmlns:a="http://schemas.openxmlformats.org/drawingml/2006/main">
              <a:ext uri="{FF2B5EF4-FFF2-40B4-BE49-F238E27FC236}">
                <a16:creationId xmlns:a16="http://schemas.microsoft.com/office/drawing/2014/main" id="{C7E2BD38-6EF2-4EAB-A708-1ACC49EECB00}"/>
              </a:ext>
            </a:extLst>
          </p:cNvPr>
          <p:cNvSpPr>
            <a:spLocks xmlns:a="http://schemas.openxmlformats.org/drawingml/2006/main" noGrp="1"/>
          </p:cNvSpPr>
          <p:nvPr/>
        </p:nvSpPr>
        <p:spPr>
          <a:xfrm xmlns:a="http://schemas.openxmlformats.org/drawingml/2006/main">
            <a:off x="10191750" y="7143750"/>
            <a:ext cx="442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A93232"/>
                </a:solidFill>
                <a:latin typeface="Arial"/>
                <a:ea typeface="Arial"/>
                <a:cs typeface="Arial"/>
              </a:defRPr>
            </a:pPr>
            <a:r>
              <a:rPr sz="2625" b="1">
                <a:solidFill>
                  <a:srgbClr val="A93232"/>
                </a:solidFill>
                <a:latin typeface="Arial"/>
                <a:ea typeface="Arial"/>
                <a:cs typeface="Arial"/>
              </a:rPr>
              <a:t>Verlies: € 25 per week</a:t>
            </a:r>
          </a:p>
        </p:txBody>
      </p:sp>
    </p:spTree>
    <p:extLst>
      <p:ext uri="{BB962C8B-B14F-4D97-AF65-F5344CB8AC3E}">
        <p14:creationId xmlns:p14="http://schemas.microsoft.com/office/powerpoint/2010/main" val="199787481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Uittreding verkleint het marktaanbod">
            <a:extLst xmlns:a="http://schemas.openxmlformats.org/drawingml/2006/main">
              <a:ext uri="{FF2B5EF4-FFF2-40B4-BE49-F238E27FC236}">
                <a16:creationId xmlns:a16="http://schemas.microsoft.com/office/drawing/2014/main" id="{2624E914-7D7A-42C4-A1EC-11E72162DBD7}"/>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Uittreding verkleint het marktaanbod</a:t>
            </a:r>
          </a:p>
        </p:txBody>
      </p:sp>
      <p:sp>
        <p:nvSpPr>
          <p:cNvPr id="2" name="">
            <a:extLst xmlns:a="http://schemas.openxmlformats.org/drawingml/2006/main">
              <a:ext uri="{FF2B5EF4-FFF2-40B4-BE49-F238E27FC236}">
                <a16:creationId xmlns:a16="http://schemas.microsoft.com/office/drawing/2014/main" id="{CE768D44-357D-48F0-BA9C-13464533E52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Hoe lang blijft de winst?">
            <a:extLst xmlns:a="http://schemas.openxmlformats.org/drawingml/2006/main">
              <a:ext uri="{FF2B5EF4-FFF2-40B4-BE49-F238E27FC236}">
                <a16:creationId xmlns:a16="http://schemas.microsoft.com/office/drawing/2014/main" id="{520063A9-FA0A-484A-A96B-245DA99BD10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Hoe lang blijft de winst?</a:t>
            </a:r>
          </a:p>
        </p:txBody>
      </p:sp>
      <p:sp>
        <p:nvSpPr>
          <p:cNvPr id="4" name="slide-number">
            <a:extLst xmlns:a="http://schemas.openxmlformats.org/drawingml/2006/main">
              <a:ext uri="{FF2B5EF4-FFF2-40B4-BE49-F238E27FC236}">
                <a16:creationId xmlns:a16="http://schemas.microsoft.com/office/drawing/2014/main" id="{149D4488-6450-4CA0-8377-B4B0DDCACA56}"/>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12</a:t>
            </a:r>
          </a:p>
        </p:txBody>
      </p:sp>
      <p:sp>
        <p:nvSpPr>
          <p:cNvPr id="5" name="Vezelkorrels · verliesvariant · Uitlegvoorbeeld — niet uit het bo">
            <a:extLst xmlns:a="http://schemas.openxmlformats.org/drawingml/2006/main">
              <a:ext uri="{FF2B5EF4-FFF2-40B4-BE49-F238E27FC236}">
                <a16:creationId xmlns:a16="http://schemas.microsoft.com/office/drawing/2014/main" id="{7970B592-DEA0-4A33-8E0C-798151DDA173}"/>
              </a:ext>
            </a:extLst>
          </p:cNvPr>
          <p:cNvSpPr>
            <a:spLocks xmlns:a="http://schemas.openxmlformats.org/drawingml/2006/main" noGrp="1"/>
          </p:cNvSpPr>
          <p:nvPr/>
        </p:nvSpPr>
        <p:spPr>
          <a:xfrm xmlns:a="http://schemas.openxmlformats.org/drawingml/2006/main">
            <a:off x="571500" y="1695450"/>
            <a:ext cx="14097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Vezelkorrels · verliesvariant · Uitlegvoorbeeld — niet uit het boek</a:t>
            </a:r>
          </a:p>
        </p:txBody>
      </p:sp>
      <p:graphicFrame>
        <p:nvGraphicFramePr>
          <p:cNvPr id="15" name="Chart"/>
          <p:cNvGraphicFramePr/>
          <p:nvPr/>
        </p:nvGraphicFramePr>
        <p:xfrm>
          <a:off xmlns:a="http://schemas.openxmlformats.org/drawingml/2006/main" x="571500" y="2371725"/>
          <a:ext xmlns:a="http://schemas.openxmlformats.org/drawingml/2006/main" cx="9239250" cy="5238750"/>
        </p:xfrm>
        <a:graphic xmlns:a="http://schemas.openxmlformats.org/drawingml/2006/main">
          <a:graphicData uri="http://schemas.openxmlformats.org/drawingml/2006/chart">
            <c:chart xmlns:r="http://schemas.openxmlformats.org/officeDocument/2006/relationships" xmlns:c="http://schemas.openxmlformats.org/drawingml/2006/chart" r:id="Red00c629ddf0467e"/>
          </a:graphicData>
        </a:graphic>
      </p:graphicFrame>
      <p:sp>
        <p:nvSpPr>
          <p:cNvPr id="7" name="Aanhoudend verlies&#10;Een deel treedt uit">
            <a:extLst xmlns:a="http://schemas.openxmlformats.org/drawingml/2006/main">
              <a:ext uri="{FF2B5EF4-FFF2-40B4-BE49-F238E27FC236}">
                <a16:creationId xmlns:a16="http://schemas.microsoft.com/office/drawing/2014/main" id="{2A841ABB-7437-4455-B2AE-12047235EC05}"/>
              </a:ext>
            </a:extLst>
          </p:cNvPr>
          <p:cNvSpPr>
            <a:spLocks xmlns:a="http://schemas.openxmlformats.org/drawingml/2006/main" noGrp="1"/>
          </p:cNvSpPr>
          <p:nvPr/>
        </p:nvSpPr>
        <p:spPr>
          <a:xfrm xmlns:a="http://schemas.openxmlformats.org/drawingml/2006/main">
            <a:off x="10191750" y="2533650"/>
            <a:ext cx="4429125"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A93232"/>
                </a:solidFill>
                <a:latin typeface="Arial"/>
                <a:ea typeface="Arial"/>
                <a:cs typeface="Arial"/>
              </a:defRPr>
            </a:pPr>
            <a:r>
              <a:rPr sz="2775" b="1">
                <a:solidFill>
                  <a:srgbClr val="A93232"/>
                </a:solidFill>
                <a:latin typeface="Arial"/>
                <a:ea typeface="Arial"/>
                <a:cs typeface="Arial"/>
              </a:rPr>
              <a:t>Aanhoudend verlies</a:t>
            </a:r>
          </a:p>
          <a:p xmlns:a="http://schemas.openxmlformats.org/drawingml/2006/main">
            <a:pPr algn="l">
              <a:defRPr sz="2775" b="1">
                <a:solidFill>
                  <a:srgbClr val="A93232"/>
                </a:solidFill>
                <a:latin typeface="Arial"/>
                <a:ea typeface="Arial"/>
                <a:cs typeface="Arial"/>
              </a:defRPr>
            </a:pPr>
            <a:r>
              <a:rPr sz="2775" b="1">
                <a:solidFill>
                  <a:srgbClr val="A93232"/>
                </a:solidFill>
                <a:latin typeface="Arial"/>
                <a:ea typeface="Arial"/>
                <a:cs typeface="Arial"/>
              </a:rPr>
              <a:t>Een deel treedt uit</a:t>
            </a:r>
          </a:p>
        </p:txBody>
      </p:sp>
      <p:sp>
        <p:nvSpPr>
          <p:cNvPr id="8" name="Bij elke prijs minder aanbod&#10;A₁ ligt links van A₀&#10;&#10;P: € 5 naar € ">
            <a:extLst xmlns:a="http://schemas.openxmlformats.org/drawingml/2006/main">
              <a:ext uri="{FF2B5EF4-FFF2-40B4-BE49-F238E27FC236}">
                <a16:creationId xmlns:a16="http://schemas.microsoft.com/office/drawing/2014/main" id="{5772A119-5725-4EF4-8F96-A9816F2EAD0A}"/>
              </a:ext>
            </a:extLst>
          </p:cNvPr>
          <p:cNvSpPr>
            <a:spLocks xmlns:a="http://schemas.openxmlformats.org/drawingml/2006/main" noGrp="1"/>
          </p:cNvSpPr>
          <p:nvPr/>
        </p:nvSpPr>
        <p:spPr>
          <a:xfrm xmlns:a="http://schemas.openxmlformats.org/drawingml/2006/main">
            <a:off x="10191750" y="4086225"/>
            <a:ext cx="4429125" cy="2524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Bij elke prijs minder aanbod</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A₁ ligt links van A₀</a:t>
            </a:r>
          </a:p>
          <a:p xmlns:a="http://schemas.openxmlformats.org/drawingml/2006/main">
            <a:r>
              <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P: € 5 naar € 6 per kg</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Q: 4.000 naar 3.000 kg</a:t>
            </a:r>
          </a:p>
        </p:txBody>
      </p:sp>
      <p:sp>
        <p:nvSpPr>
          <p:cNvPr id="9" name="Vraag en kosten blijven gelijk.">
            <a:extLst xmlns:a="http://schemas.openxmlformats.org/drawingml/2006/main">
              <a:ext uri="{FF2B5EF4-FFF2-40B4-BE49-F238E27FC236}">
                <a16:creationId xmlns:a16="http://schemas.microsoft.com/office/drawing/2014/main" id="{509F2649-76D9-4460-84BD-FD568CD26EC8}"/>
              </a:ext>
            </a:extLst>
          </p:cNvPr>
          <p:cNvSpPr>
            <a:spLocks xmlns:a="http://schemas.openxmlformats.org/drawingml/2006/main" noGrp="1"/>
          </p:cNvSpPr>
          <p:nvPr/>
        </p:nvSpPr>
        <p:spPr>
          <a:xfrm xmlns:a="http://schemas.openxmlformats.org/drawingml/2006/main">
            <a:off x="10191750" y="7210425"/>
            <a:ext cx="4429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83247"/>
                </a:solidFill>
                <a:latin typeface="Arial"/>
                <a:ea typeface="Arial"/>
                <a:cs typeface="Arial"/>
              </a:defRPr>
            </a:pPr>
            <a:r>
              <a:rPr sz="2325" b="1">
                <a:solidFill>
                  <a:srgbClr val="183247"/>
                </a:solidFill>
                <a:latin typeface="Arial"/>
                <a:ea typeface="Arial"/>
                <a:cs typeface="Arial"/>
              </a:rPr>
              <a:t>Vraag en kosten blijven gelijk.</a:t>
            </a:r>
          </a:p>
        </p:txBody>
      </p:sp>
    </p:spTree>
    <p:extLst>
      <p:ext uri="{BB962C8B-B14F-4D97-AF65-F5344CB8AC3E}">
        <p14:creationId xmlns:p14="http://schemas.microsoft.com/office/powerpoint/2010/main" val="118699956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Een overblijvend bedrijf produceert meer">
            <a:extLst xmlns:a="http://schemas.openxmlformats.org/drawingml/2006/main">
              <a:ext uri="{FF2B5EF4-FFF2-40B4-BE49-F238E27FC236}">
                <a16:creationId xmlns:a16="http://schemas.microsoft.com/office/drawing/2014/main" id="{62CCCE6F-1DBC-46F0-9AAE-73DBFA854EEE}"/>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Een overblijvend bedrijf produceert meer</a:t>
            </a:r>
          </a:p>
        </p:txBody>
      </p:sp>
      <p:sp>
        <p:nvSpPr>
          <p:cNvPr id="2" name="">
            <a:extLst xmlns:a="http://schemas.openxmlformats.org/drawingml/2006/main">
              <a:ext uri="{FF2B5EF4-FFF2-40B4-BE49-F238E27FC236}">
                <a16:creationId xmlns:a16="http://schemas.microsoft.com/office/drawing/2014/main" id="{9CB2018B-C466-4B67-87C2-9EE7B73A82A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Hoe lang blijft de winst?">
            <a:extLst xmlns:a="http://schemas.openxmlformats.org/drawingml/2006/main">
              <a:ext uri="{FF2B5EF4-FFF2-40B4-BE49-F238E27FC236}">
                <a16:creationId xmlns:a16="http://schemas.microsoft.com/office/drawing/2014/main" id="{17BF830A-01BF-49F2-A118-344DE847D50E}"/>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Hoe lang blijft de winst?</a:t>
            </a:r>
          </a:p>
        </p:txBody>
      </p:sp>
      <p:sp>
        <p:nvSpPr>
          <p:cNvPr id="4" name="slide-number">
            <a:extLst xmlns:a="http://schemas.openxmlformats.org/drawingml/2006/main">
              <a:ext uri="{FF2B5EF4-FFF2-40B4-BE49-F238E27FC236}">
                <a16:creationId xmlns:a16="http://schemas.microsoft.com/office/drawing/2014/main" id="{F4C675AE-AC4A-40CE-AD74-9F931E640B0C}"/>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13</a:t>
            </a:r>
          </a:p>
        </p:txBody>
      </p:sp>
      <p:sp>
        <p:nvSpPr>
          <p:cNvPr id="5" name="Vezelkorrels · verliesvariant · Uitlegvoorbeeld — niet uit het bo">
            <a:extLst xmlns:a="http://schemas.openxmlformats.org/drawingml/2006/main">
              <a:ext uri="{FF2B5EF4-FFF2-40B4-BE49-F238E27FC236}">
                <a16:creationId xmlns:a16="http://schemas.microsoft.com/office/drawing/2014/main" id="{8C158908-CA5C-4D58-B08F-A75758D26A93}"/>
              </a:ext>
            </a:extLst>
          </p:cNvPr>
          <p:cNvSpPr>
            <a:spLocks xmlns:a="http://schemas.openxmlformats.org/drawingml/2006/main" noGrp="1"/>
          </p:cNvSpPr>
          <p:nvPr/>
        </p:nvSpPr>
        <p:spPr>
          <a:xfrm xmlns:a="http://schemas.openxmlformats.org/drawingml/2006/main">
            <a:off x="571500" y="1695450"/>
            <a:ext cx="14097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Vezelkorrels · verliesvariant · Uitlegvoorbeeld — niet uit het boek</a:t>
            </a:r>
          </a:p>
        </p:txBody>
      </p:sp>
      <p:sp>
        <p:nvSpPr>
          <p:cNvPr id="6" name="Elke prijslijn: P = GO = MO">
            <a:extLst xmlns:a="http://schemas.openxmlformats.org/drawingml/2006/main">
              <a:ext uri="{FF2B5EF4-FFF2-40B4-BE49-F238E27FC236}">
                <a16:creationId xmlns:a16="http://schemas.microsoft.com/office/drawing/2014/main" id="{6475F2F5-B8DC-4AE1-964A-23C03824AF51}"/>
              </a:ext>
            </a:extLst>
          </p:cNvPr>
          <p:cNvSpPr>
            <a:spLocks xmlns:a="http://schemas.openxmlformats.org/drawingml/2006/main" noGrp="1"/>
          </p:cNvSpPr>
          <p:nvPr/>
        </p:nvSpPr>
        <p:spPr>
          <a:xfrm xmlns:a="http://schemas.openxmlformats.org/drawingml/2006/main">
            <a:off x="571500" y="2133600"/>
            <a:ext cx="9239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445B6B"/>
                </a:solidFill>
                <a:latin typeface="Arial"/>
                <a:ea typeface="Arial"/>
                <a:cs typeface="Arial"/>
              </a:defRPr>
            </a:pPr>
            <a:r>
              <a:rPr sz="1950" b="0">
                <a:solidFill>
                  <a:srgbClr val="445B6B"/>
                </a:solidFill>
                <a:latin typeface="Arial"/>
                <a:ea typeface="Arial"/>
                <a:cs typeface="Arial"/>
              </a:rPr>
              <a:t>Elke prijslijn: P = GO = MO</a:t>
            </a:r>
          </a:p>
        </p:txBody>
      </p:sp>
      <p:graphicFrame>
        <p:nvGraphicFramePr>
          <p:cNvPr id="17" name="Chart"/>
          <p:cNvGraphicFramePr/>
          <p:nvPr/>
        </p:nvGraphicFramePr>
        <p:xfrm>
          <a:off xmlns:a="http://schemas.openxmlformats.org/drawingml/2006/main" x="571500" y="2371725"/>
          <a:ext xmlns:a="http://schemas.openxmlformats.org/drawingml/2006/main" cx="9239250" cy="5238750"/>
        </p:xfrm>
        <a:graphic xmlns:a="http://schemas.openxmlformats.org/drawingml/2006/main">
          <a:graphicData uri="http://schemas.openxmlformats.org/drawingml/2006/chart">
            <c:chart xmlns:r="http://schemas.openxmlformats.org/officeDocument/2006/relationships" xmlns:c="http://schemas.openxmlformats.org/drawingml/2006/chart" r:id="R5f7ee45f7db54c40"/>
          </a:graphicData>
        </a:graphic>
      </p:graphicFrame>
      <p:sp>
        <p:nvSpPr>
          <p:cNvPr id="8" name="q: 20 naar 30 kg">
            <a:extLst xmlns:a="http://schemas.openxmlformats.org/drawingml/2006/main">
              <a:ext uri="{FF2B5EF4-FFF2-40B4-BE49-F238E27FC236}">
                <a16:creationId xmlns:a16="http://schemas.microsoft.com/office/drawing/2014/main" id="{4501D9EB-DF09-48B3-A2DD-4E4BC8B5CC9C}"/>
              </a:ext>
            </a:extLst>
          </p:cNvPr>
          <p:cNvSpPr>
            <a:spLocks xmlns:a="http://schemas.openxmlformats.org/drawingml/2006/main" noGrp="1"/>
          </p:cNvSpPr>
          <p:nvPr/>
        </p:nvSpPr>
        <p:spPr>
          <a:xfrm xmlns:a="http://schemas.openxmlformats.org/drawingml/2006/main">
            <a:off x="10191750" y="2533650"/>
            <a:ext cx="4429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q: 20 naar 30 kg</a:t>
            </a:r>
          </a:p>
        </p:txBody>
      </p:sp>
      <p:sp>
        <p:nvSpPr>
          <p:cNvPr id="9" name="TO = 6 × 30 = € 180&#10;TK = 45 + 90 + 45&#10;     = € 180 per week&#10;&#10;Econ">
            <a:extLst xmlns:a="http://schemas.openxmlformats.org/drawingml/2006/main">
              <a:ext uri="{FF2B5EF4-FFF2-40B4-BE49-F238E27FC236}">
                <a16:creationId xmlns:a16="http://schemas.microsoft.com/office/drawing/2014/main" id="{E5B5CBAA-0C84-4800-B266-99E0B0E8BB50}"/>
              </a:ext>
            </a:extLst>
          </p:cNvPr>
          <p:cNvSpPr>
            <a:spLocks xmlns:a="http://schemas.openxmlformats.org/drawingml/2006/main" noGrp="1"/>
          </p:cNvSpPr>
          <p:nvPr/>
        </p:nvSpPr>
        <p:spPr>
          <a:xfrm xmlns:a="http://schemas.openxmlformats.org/drawingml/2006/main">
            <a:off x="10191750" y="3781425"/>
            <a:ext cx="4429125" cy="2562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TO = 6 × 30 = € 180</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TK = 45 + 90 + 45</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     = € 180 per week</a:t>
            </a:r>
          </a:p>
          <a:p xmlns:a="http://schemas.openxmlformats.org/drawingml/2006/main">
            <a:r>
              <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Economische winst = 0</a:t>
            </a:r>
          </a:p>
        </p:txBody>
      </p:sp>
      <p:sp>
        <p:nvSpPr>
          <p:cNvPr id="10" name="Markt Q daalt.&#10;Bedrijfs-q stijgt.">
            <a:extLst xmlns:a="http://schemas.openxmlformats.org/drawingml/2006/main">
              <a:ext uri="{FF2B5EF4-FFF2-40B4-BE49-F238E27FC236}">
                <a16:creationId xmlns:a16="http://schemas.microsoft.com/office/drawing/2014/main" id="{5B0BE190-61C1-4478-BDF1-EAEF20B7C55E}"/>
              </a:ext>
            </a:extLst>
          </p:cNvPr>
          <p:cNvSpPr>
            <a:spLocks xmlns:a="http://schemas.openxmlformats.org/drawingml/2006/main" noGrp="1"/>
          </p:cNvSpPr>
          <p:nvPr/>
        </p:nvSpPr>
        <p:spPr>
          <a:xfrm xmlns:a="http://schemas.openxmlformats.org/drawingml/2006/main">
            <a:off x="10191750" y="6819900"/>
            <a:ext cx="44291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Markt Q daalt.</a:t>
            </a:r>
          </a:p>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Bedrijfs-q stijgt.</a:t>
            </a:r>
          </a:p>
        </p:txBody>
      </p:sp>
    </p:spTree>
    <p:extLst>
      <p:ext uri="{BB962C8B-B14F-4D97-AF65-F5344CB8AC3E}">
        <p14:creationId xmlns:p14="http://schemas.microsoft.com/office/powerpoint/2010/main" val="40753621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Korte controle">
            <a:extLst xmlns:a="http://schemas.openxmlformats.org/drawingml/2006/main">
              <a:ext uri="{FF2B5EF4-FFF2-40B4-BE49-F238E27FC236}">
                <a16:creationId xmlns:a16="http://schemas.microsoft.com/office/drawing/2014/main" id="{716301D1-733F-4477-BC72-4CD817802D80}"/>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Korte controle</a:t>
            </a:r>
          </a:p>
        </p:txBody>
      </p:sp>
      <p:sp>
        <p:nvSpPr>
          <p:cNvPr id="2" name="">
            <a:extLst xmlns:a="http://schemas.openxmlformats.org/drawingml/2006/main">
              <a:ext uri="{FF2B5EF4-FFF2-40B4-BE49-F238E27FC236}">
                <a16:creationId xmlns:a16="http://schemas.microsoft.com/office/drawing/2014/main" id="{AE4BCC65-54AF-448D-90C6-F27BD0AE83B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Hoe lang blijft de winst?">
            <a:extLst xmlns:a="http://schemas.openxmlformats.org/drawingml/2006/main">
              <a:ext uri="{FF2B5EF4-FFF2-40B4-BE49-F238E27FC236}">
                <a16:creationId xmlns:a16="http://schemas.microsoft.com/office/drawing/2014/main" id="{7F32A33A-A1A9-429C-9A2D-B7388AC1E8A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Hoe lang blijft de winst?</a:t>
            </a:r>
          </a:p>
        </p:txBody>
      </p:sp>
      <p:sp>
        <p:nvSpPr>
          <p:cNvPr id="4" name="slide-number">
            <a:extLst xmlns:a="http://schemas.openxmlformats.org/drawingml/2006/main">
              <a:ext uri="{FF2B5EF4-FFF2-40B4-BE49-F238E27FC236}">
                <a16:creationId xmlns:a16="http://schemas.microsoft.com/office/drawing/2014/main" id="{EC97F19C-628A-42A1-BAF1-5822199F67D1}"/>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14</a:t>
            </a:r>
          </a:p>
        </p:txBody>
      </p:sp>
      <p:sp>
        <p:nvSpPr>
          <p:cNvPr id="5" name="Vezelkorrels · Uitlegvoorbeeld — niet uit het boek">
            <a:extLst xmlns:a="http://schemas.openxmlformats.org/drawingml/2006/main">
              <a:ext uri="{FF2B5EF4-FFF2-40B4-BE49-F238E27FC236}">
                <a16:creationId xmlns:a16="http://schemas.microsoft.com/office/drawing/2014/main" id="{30313428-211B-44BA-82DC-6426A4D55532}"/>
              </a:ext>
            </a:extLst>
          </p:cNvPr>
          <p:cNvSpPr>
            <a:spLocks xmlns:a="http://schemas.openxmlformats.org/drawingml/2006/main" noGrp="1"/>
          </p:cNvSpPr>
          <p:nvPr/>
        </p:nvSpPr>
        <p:spPr>
          <a:xfrm xmlns:a="http://schemas.openxmlformats.org/drawingml/2006/main">
            <a:off x="571500" y="1695450"/>
            <a:ext cx="14097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Vezelkorrels · Uitlegvoorbeeld — niet uit het boek</a:t>
            </a:r>
          </a:p>
        </p:txBody>
      </p:sp>
      <p:sp>
        <p:nvSpPr>
          <p:cNvPr id="6" name="Na toetreding leveren méér bedrijven samen méér.">
            <a:extLst xmlns:a="http://schemas.openxmlformats.org/drawingml/2006/main">
              <a:ext uri="{FF2B5EF4-FFF2-40B4-BE49-F238E27FC236}">
                <a16:creationId xmlns:a16="http://schemas.microsoft.com/office/drawing/2014/main" id="{E647642A-3904-4599-81DE-16F65BB671F8}"/>
              </a:ext>
            </a:extLst>
          </p:cNvPr>
          <p:cNvSpPr>
            <a:spLocks xmlns:a="http://schemas.openxmlformats.org/drawingml/2006/main" noGrp="1"/>
          </p:cNvSpPr>
          <p:nvPr/>
        </p:nvSpPr>
        <p:spPr>
          <a:xfrm xmlns:a="http://schemas.openxmlformats.org/drawingml/2006/main">
            <a:off x="571500" y="2695575"/>
            <a:ext cx="14097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83247"/>
                </a:solidFill>
                <a:latin typeface="Arial"/>
                <a:ea typeface="Arial"/>
                <a:cs typeface="Arial"/>
              </a:defRPr>
            </a:pPr>
            <a:r>
              <a:rPr sz="3375" b="1">
                <a:solidFill>
                  <a:srgbClr val="183247"/>
                </a:solidFill>
                <a:latin typeface="Arial"/>
                <a:ea typeface="Arial"/>
                <a:cs typeface="Arial"/>
              </a:rPr>
              <a:t>Na toetreding leveren méér bedrijven samen méér.</a:t>
            </a:r>
          </a:p>
        </p:txBody>
      </p:sp>
      <p:sp>
        <p:nvSpPr>
          <p:cNvPr id="7" name="1. Moet elk bedrijf dan ook meer produceren?&#10;&#10;2. Is bij nul econo">
            <a:extLst xmlns:a="http://schemas.openxmlformats.org/drawingml/2006/main">
              <a:ext uri="{FF2B5EF4-FFF2-40B4-BE49-F238E27FC236}">
                <a16:creationId xmlns:a16="http://schemas.microsoft.com/office/drawing/2014/main" id="{4B143D0E-461F-44C9-8105-B4CCD722F8CA}"/>
              </a:ext>
            </a:extLst>
          </p:cNvPr>
          <p:cNvSpPr>
            <a:spLocks xmlns:a="http://schemas.openxmlformats.org/drawingml/2006/main" noGrp="1"/>
          </p:cNvSpPr>
          <p:nvPr/>
        </p:nvSpPr>
        <p:spPr>
          <a:xfrm xmlns:a="http://schemas.openxmlformats.org/drawingml/2006/main">
            <a:off x="571500" y="4381500"/>
            <a:ext cx="14097000" cy="2533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1. Moet elk bedrijf dan ook meer produceren?</a:t>
            </a:r>
          </a:p>
          <a:p xmlns:a="http://schemas.openxmlformats.org/drawingml/2006/main">
            <a:r>
              <a:t/>
            </a:r>
          </a:p>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2. Is bij nul economische winst de beloning verdwenen?</a:t>
            </a:r>
          </a:p>
        </p:txBody>
      </p:sp>
    </p:spTree>
    <p:extLst>
      <p:ext uri="{BB962C8B-B14F-4D97-AF65-F5344CB8AC3E}">
        <p14:creationId xmlns:p14="http://schemas.microsoft.com/office/powerpoint/2010/main" val="154318132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ntrole: markt en onderneming">
            <a:extLst xmlns:a="http://schemas.openxmlformats.org/drawingml/2006/main">
              <a:ext uri="{FF2B5EF4-FFF2-40B4-BE49-F238E27FC236}">
                <a16:creationId xmlns:a16="http://schemas.microsoft.com/office/drawing/2014/main" id="{2222B51E-F6D2-496B-B9A5-46AD2220AB40}"/>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Controle: markt en onderneming</a:t>
            </a:r>
          </a:p>
        </p:txBody>
      </p:sp>
      <p:sp>
        <p:nvSpPr>
          <p:cNvPr id="2" name="">
            <a:extLst xmlns:a="http://schemas.openxmlformats.org/drawingml/2006/main">
              <a:ext uri="{FF2B5EF4-FFF2-40B4-BE49-F238E27FC236}">
                <a16:creationId xmlns:a16="http://schemas.microsoft.com/office/drawing/2014/main" id="{C5A99C62-E4DF-45E2-8817-965E1073A46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Hoe lang blijft de winst?">
            <a:extLst xmlns:a="http://schemas.openxmlformats.org/drawingml/2006/main">
              <a:ext uri="{FF2B5EF4-FFF2-40B4-BE49-F238E27FC236}">
                <a16:creationId xmlns:a16="http://schemas.microsoft.com/office/drawing/2014/main" id="{CE3DCCBC-947F-45F9-9D60-412FDAA7BAA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Hoe lang blijft de winst?</a:t>
            </a:r>
          </a:p>
        </p:txBody>
      </p:sp>
      <p:sp>
        <p:nvSpPr>
          <p:cNvPr id="4" name="slide-number">
            <a:extLst xmlns:a="http://schemas.openxmlformats.org/drawingml/2006/main">
              <a:ext uri="{FF2B5EF4-FFF2-40B4-BE49-F238E27FC236}">
                <a16:creationId xmlns:a16="http://schemas.microsoft.com/office/drawing/2014/main" id="{BD4D0D99-33AC-409A-A970-9E5DD5E77D63}"/>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15</a:t>
            </a:r>
          </a:p>
        </p:txBody>
      </p:sp>
      <p:sp>
        <p:nvSpPr>
          <p:cNvPr id="5" name="Vezelkorrels · Uitlegvoorbeeld — niet uit het boek">
            <a:extLst xmlns:a="http://schemas.openxmlformats.org/drawingml/2006/main">
              <a:ext uri="{FF2B5EF4-FFF2-40B4-BE49-F238E27FC236}">
                <a16:creationId xmlns:a16="http://schemas.microsoft.com/office/drawing/2014/main" id="{7B038977-4499-498F-A23C-58A3A7FCF576}"/>
              </a:ext>
            </a:extLst>
          </p:cNvPr>
          <p:cNvSpPr>
            <a:spLocks xmlns:a="http://schemas.openxmlformats.org/drawingml/2006/main" noGrp="1"/>
          </p:cNvSpPr>
          <p:nvPr/>
        </p:nvSpPr>
        <p:spPr>
          <a:xfrm xmlns:a="http://schemas.openxmlformats.org/drawingml/2006/main">
            <a:off x="571500" y="1695450"/>
            <a:ext cx="14097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Vezelkorrels · Uitlegvoorbeeld — niet uit het boek</a:t>
            </a:r>
          </a:p>
        </p:txBody>
      </p:sp>
      <p:graphicFrame>
        <p:nvGraphicFramePr>
          <p:cNvPr id="13" name=""/>
          <p:cNvGraphicFramePr/>
          <p:nvPr/>
        </p:nvGraphicFramePr>
        <p:xfrm>
          <a:off xmlns:a="http://schemas.openxmlformats.org/drawingml/2006/main" x="571500" y="2543175"/>
          <a:ext xmlns:a="http://schemas.openxmlformats.org/drawingml/2006/main" cx="14097000" cy="3467100"/>
        </p:xfrm>
        <a:graphic xmlns:a="http://schemas.openxmlformats.org/drawingml/2006/main">
          <a:graphicData uri="http://schemas.openxmlformats.org/drawingml/2006/table">
            <a:tbl>
              <a:tblPr/>
              <a:tblGrid>
                <a:gridCol w="8001000"/>
                <a:gridCol w="3048000"/>
                <a:gridCol w="3048000"/>
              </a:tblGrid>
              <a:tr h="866775">
                <a:tc>
                  <a:txBody>
                    <a:bodyPr lIns="171450" tIns="95250" rIns="152400" bIns="95250"/>
                    <a:lstStyle/>
                    <a:p>
                      <a:r>
                        <a:rPr sz="2550" b="1">
                          <a:solidFill>
                            <a:srgbClr val="FFFFFF"/>
                          </a:solidFill>
                          <a:latin typeface="Arial"/>
                          <a:ea typeface="Arial"/>
                          <a:cs typeface="Arial"/>
                        </a:rPr>
                        <a:t>Toetreding in ons voorbeeld</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Begin</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Lange termijn</a:t>
                      </a:r>
                    </a:p>
                  </a:txBody>
                  <a:tcPr marL="91440" marR="91440" marT="45720" marB="45720" anchor="ctr">
                    <a:solidFill>
                      <a:srgbClr val="183247"/>
                    </a:solidFill>
                  </a:tcPr>
                </a:tc>
              </a:tr>
              <a:tr h="866775">
                <a:tc>
                  <a:txBody>
                    <a:bodyPr lIns="171450" tIns="95250" rIns="152400" bIns="95250"/>
                    <a:lstStyle/>
                    <a:p>
                      <a:r>
                        <a:rPr sz="2550" b="0">
                          <a:solidFill>
                            <a:srgbClr val="183247"/>
                          </a:solidFill>
                          <a:latin typeface="Arial"/>
                          <a:ea typeface="Arial"/>
                          <a:cs typeface="Arial"/>
                        </a:rPr>
                        <a:t>Aantal bedrijven</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100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300</a:t>
                      </a:r>
                    </a:p>
                  </a:txBody>
                  <a:tcPr marL="91440" marR="91440" marT="45720" marB="45720" anchor="ctr">
                    <a:solidFill>
                      <a:srgbClr val="FFFFFF"/>
                    </a:solidFill>
                  </a:tcPr>
                </a:tc>
              </a:tr>
              <a:tr h="866775">
                <a:tc>
                  <a:txBody>
                    <a:bodyPr lIns="171450" tIns="95250" rIns="152400" bIns="95250"/>
                    <a:lstStyle/>
                    <a:p>
                      <a:r>
                        <a:rPr sz="2550" b="0">
                          <a:solidFill>
                            <a:srgbClr val="183247"/>
                          </a:solidFill>
                          <a:latin typeface="Arial"/>
                          <a:ea typeface="Arial"/>
                          <a:cs typeface="Arial"/>
                        </a:rPr>
                        <a:t>q per bedrijf (kg per week)</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60</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30</a:t>
                      </a:r>
                    </a:p>
                  </a:txBody>
                  <a:tcPr marL="91440" marR="91440" marT="45720" marB="45720" anchor="ctr">
                    <a:solidFill>
                      <a:srgbClr val="EFF4F7"/>
                    </a:solidFill>
                  </a:tcPr>
                </a:tc>
              </a:tr>
              <a:tr h="866775">
                <a:tc>
                  <a:txBody>
                    <a:bodyPr lIns="171450" tIns="95250" rIns="152400" bIns="95250"/>
                    <a:lstStyle/>
                    <a:p>
                      <a:r>
                        <a:rPr sz="2550" b="0">
                          <a:solidFill>
                            <a:srgbClr val="183247"/>
                          </a:solidFill>
                          <a:latin typeface="Arial"/>
                          <a:ea typeface="Arial"/>
                          <a:cs typeface="Arial"/>
                        </a:rPr>
                        <a:t>Q voor de markt (kg per week)</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6.000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9.000</a:t>
                      </a:r>
                    </a:p>
                  </a:txBody>
                  <a:tcPr marL="91440" marR="91440" marT="45720" marB="45720" anchor="ctr">
                    <a:solidFill>
                      <a:srgbClr val="FFFFFF"/>
                    </a:solidFill>
                  </a:tcPr>
                </a:tc>
              </a:tr>
            </a:tbl>
          </a:graphicData>
        </a:graphic>
      </p:graphicFrame>
      <p:sp>
        <p:nvSpPr>
          <p:cNvPr id="7" name="Normale beloning blijft in TK. Alleen de overwinst verdwijnt.">
            <a:extLst xmlns:a="http://schemas.openxmlformats.org/drawingml/2006/main">
              <a:ext uri="{FF2B5EF4-FFF2-40B4-BE49-F238E27FC236}">
                <a16:creationId xmlns:a16="http://schemas.microsoft.com/office/drawing/2014/main" id="{3783CD4E-6553-45FD-B6D6-BC1AE71C2829}"/>
              </a:ext>
            </a:extLst>
          </p:cNvPr>
          <p:cNvSpPr>
            <a:spLocks xmlns:a="http://schemas.openxmlformats.org/drawingml/2006/main" noGrp="1"/>
          </p:cNvSpPr>
          <p:nvPr/>
        </p:nvSpPr>
        <p:spPr>
          <a:xfrm xmlns:a="http://schemas.openxmlformats.org/drawingml/2006/main">
            <a:off x="571500" y="6829425"/>
            <a:ext cx="14097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Normale beloning blijft in TK. Alleen de overwinst verdwijnt.</a:t>
            </a:r>
          </a:p>
        </p:txBody>
      </p:sp>
    </p:spTree>
    <p:extLst>
      <p:ext uri="{BB962C8B-B14F-4D97-AF65-F5344CB8AC3E}">
        <p14:creationId xmlns:p14="http://schemas.microsoft.com/office/powerpoint/2010/main" val="137508995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4.1.1 Hoe lang blijft de winst?">
            <a:extLst xmlns:a="http://schemas.openxmlformats.org/drawingml/2006/main">
              <a:ext uri="{FF2B5EF4-FFF2-40B4-BE49-F238E27FC236}">
                <a16:creationId xmlns:a16="http://schemas.microsoft.com/office/drawing/2014/main" id="{5B3A77BB-38C9-4FFD-8A4B-2F3C2873E52B}"/>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Deze les: §4.1.1 Hoe lang blijft de winst?</a:t>
            </a:r>
          </a:p>
        </p:txBody>
      </p:sp>
      <p:sp>
        <p:nvSpPr>
          <p:cNvPr id="2" name="">
            <a:extLst xmlns:a="http://schemas.openxmlformats.org/drawingml/2006/main">
              <a:ext uri="{FF2B5EF4-FFF2-40B4-BE49-F238E27FC236}">
                <a16:creationId xmlns:a16="http://schemas.microsoft.com/office/drawing/2014/main" id="{046F4DE0-D81E-4982-AD56-DF8D55B891A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Hoe lang blijft de winst?">
            <a:extLst xmlns:a="http://schemas.openxmlformats.org/drawingml/2006/main">
              <a:ext uri="{FF2B5EF4-FFF2-40B4-BE49-F238E27FC236}">
                <a16:creationId xmlns:a16="http://schemas.microsoft.com/office/drawing/2014/main" id="{400D6FF6-6BEC-4114-9082-DD1A6C3F644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Hoe lang blijft de winst?</a:t>
            </a:r>
          </a:p>
        </p:txBody>
      </p:sp>
      <p:sp>
        <p:nvSpPr>
          <p:cNvPr id="4" name="slide-number">
            <a:extLst xmlns:a="http://schemas.openxmlformats.org/drawingml/2006/main">
              <a:ext uri="{FF2B5EF4-FFF2-40B4-BE49-F238E27FC236}">
                <a16:creationId xmlns:a16="http://schemas.microsoft.com/office/drawing/2014/main" id="{563A1C11-95CA-41CC-8785-563E0BC6C802}"/>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16</a:t>
            </a:r>
          </a:p>
        </p:txBody>
      </p:sp>
      <p:sp>
        <p:nvSpPr>
          <p:cNvPr id="5" name="phase">
            <a:extLst xmlns:a="http://schemas.openxmlformats.org/drawingml/2006/main">
              <a:ext uri="{FF2B5EF4-FFF2-40B4-BE49-F238E27FC236}">
                <a16:creationId xmlns:a16="http://schemas.microsoft.com/office/drawing/2014/main" id="{0F46CF68-FDF4-47B7-A04D-2ADD87E5414A}"/>
              </a:ext>
            </a:extLst>
          </p:cNvPr>
          <p:cNvSpPr>
            <a:spLocks xmlns:a="http://schemas.openxmlformats.org/drawingml/2006/main" noGrp="1"/>
          </p:cNvSpPr>
          <p:nvPr/>
        </p:nvSpPr>
        <p:spPr>
          <a:xfrm xmlns:a="http://schemas.openxmlformats.org/drawingml/2006/main">
            <a:off x="571500" y="1019175"/>
            <a:ext cx="14001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Zelfstandig werken</a:t>
            </a:r>
          </a:p>
        </p:txBody>
      </p:sp>
      <p:sp>
        <p:nvSpPr>
          <p:cNvPr id="6" name="Lesroute">
            <a:extLst xmlns:a="http://schemas.openxmlformats.org/drawingml/2006/main">
              <a:ext uri="{FF2B5EF4-FFF2-40B4-BE49-F238E27FC236}">
                <a16:creationId xmlns:a16="http://schemas.microsoft.com/office/drawing/2014/main" id="{469EE0B4-79A6-4AAB-8346-1598DCE800C2}"/>
              </a:ext>
            </a:extLst>
          </p:cNvPr>
          <p:cNvSpPr>
            <a:spLocks xmlns:a="http://schemas.openxmlformats.org/drawingml/2006/main" noGrp="1"/>
          </p:cNvSpPr>
          <p:nvPr/>
        </p:nvSpPr>
        <p:spPr>
          <a:xfrm xmlns:a="http://schemas.openxmlformats.org/drawingml/2006/main">
            <a:off x="571500" y="1714500"/>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0">
            <a:extLst xmlns:a="http://schemas.openxmlformats.org/drawingml/2006/main">
              <a:ext uri="{FF2B5EF4-FFF2-40B4-BE49-F238E27FC236}">
                <a16:creationId xmlns:a16="http://schemas.microsoft.com/office/drawing/2014/main" id="{089F4D27-348A-4687-ACC4-B928931CC1CC}"/>
              </a:ext>
            </a:extLst>
          </p:cNvPr>
          <p:cNvSpPr>
            <a:spLocks xmlns:a="http://schemas.openxmlformats.org/drawingml/2006/main" noGrp="1"/>
          </p:cNvSpPr>
          <p:nvPr/>
        </p:nvSpPr>
        <p:spPr>
          <a:xfrm xmlns:a="http://schemas.openxmlformats.org/drawingml/2006/main">
            <a:off x="571500" y="2276475"/>
            <a:ext cx="457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0">
            <a:extLst xmlns:a="http://schemas.openxmlformats.org/drawingml/2006/main">
              <a:ext uri="{FF2B5EF4-FFF2-40B4-BE49-F238E27FC236}">
                <a16:creationId xmlns:a16="http://schemas.microsoft.com/office/drawing/2014/main" id="{67B712C4-2098-4EE9-A193-81798CE6EEE2}"/>
              </a:ext>
            </a:extLst>
          </p:cNvPr>
          <p:cNvSpPr>
            <a:spLocks xmlns:a="http://schemas.openxmlformats.org/drawingml/2006/main" noGrp="1"/>
          </p:cNvSpPr>
          <p:nvPr/>
        </p:nvSpPr>
        <p:spPr>
          <a:xfrm xmlns:a="http://schemas.openxmlformats.org/drawingml/2006/main">
            <a:off x="1104900" y="2276475"/>
            <a:ext cx="7419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1">
            <a:extLst xmlns:a="http://schemas.openxmlformats.org/drawingml/2006/main">
              <a:ext uri="{FF2B5EF4-FFF2-40B4-BE49-F238E27FC236}">
                <a16:creationId xmlns:a16="http://schemas.microsoft.com/office/drawing/2014/main" id="{BB973A99-92B2-44E9-BFA7-F01F18C8A3E8}"/>
              </a:ext>
            </a:extLst>
          </p:cNvPr>
          <p:cNvSpPr>
            <a:spLocks xmlns:a="http://schemas.openxmlformats.org/drawingml/2006/main" noGrp="1"/>
          </p:cNvSpPr>
          <p:nvPr/>
        </p:nvSpPr>
        <p:spPr>
          <a:xfrm xmlns:a="http://schemas.openxmlformats.org/drawingml/2006/main">
            <a:off x="571500" y="3143250"/>
            <a:ext cx="45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1">
            <a:extLst xmlns:a="http://schemas.openxmlformats.org/drawingml/2006/main">
              <a:ext uri="{FF2B5EF4-FFF2-40B4-BE49-F238E27FC236}">
                <a16:creationId xmlns:a16="http://schemas.microsoft.com/office/drawing/2014/main" id="{BC4CF4A3-9832-4B2E-BDA1-04A45F8DE6D3}"/>
              </a:ext>
            </a:extLst>
          </p:cNvPr>
          <p:cNvSpPr>
            <a:spLocks xmlns:a="http://schemas.openxmlformats.org/drawingml/2006/main" noGrp="1"/>
          </p:cNvSpPr>
          <p:nvPr/>
        </p:nvSpPr>
        <p:spPr>
          <a:xfrm xmlns:a="http://schemas.openxmlformats.org/drawingml/2006/main">
            <a:off x="1104900" y="3143250"/>
            <a:ext cx="74199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2">
            <a:extLst xmlns:a="http://schemas.openxmlformats.org/drawingml/2006/main">
              <a:ext uri="{FF2B5EF4-FFF2-40B4-BE49-F238E27FC236}">
                <a16:creationId xmlns:a16="http://schemas.microsoft.com/office/drawing/2014/main" id="{766C9AA9-A781-42B3-B034-95173D5AA7C5}"/>
              </a:ext>
            </a:extLst>
          </p:cNvPr>
          <p:cNvSpPr>
            <a:spLocks xmlns:a="http://schemas.openxmlformats.org/drawingml/2006/main" noGrp="1"/>
          </p:cNvSpPr>
          <p:nvPr/>
        </p:nvSpPr>
        <p:spPr>
          <a:xfrm xmlns:a="http://schemas.openxmlformats.org/drawingml/2006/main">
            <a:off x="571500" y="3657600"/>
            <a:ext cx="45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2">
            <a:extLst xmlns:a="http://schemas.openxmlformats.org/drawingml/2006/main">
              <a:ext uri="{FF2B5EF4-FFF2-40B4-BE49-F238E27FC236}">
                <a16:creationId xmlns:a16="http://schemas.microsoft.com/office/drawing/2014/main" id="{561E6E73-DD02-4626-97A8-2726301273ED}"/>
              </a:ext>
            </a:extLst>
          </p:cNvPr>
          <p:cNvSpPr>
            <a:spLocks xmlns:a="http://schemas.openxmlformats.org/drawingml/2006/main" noGrp="1"/>
          </p:cNvSpPr>
          <p:nvPr/>
        </p:nvSpPr>
        <p:spPr>
          <a:xfrm xmlns:a="http://schemas.openxmlformats.org/drawingml/2006/main">
            <a:off x="1104900" y="3657600"/>
            <a:ext cx="74199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3">
            <a:extLst xmlns:a="http://schemas.openxmlformats.org/drawingml/2006/main">
              <a:ext uri="{FF2B5EF4-FFF2-40B4-BE49-F238E27FC236}">
                <a16:creationId xmlns:a16="http://schemas.microsoft.com/office/drawing/2014/main" id="{3A9155B5-A0BE-4D63-AC61-6574BAD9C248}"/>
              </a:ext>
            </a:extLst>
          </p:cNvPr>
          <p:cNvSpPr>
            <a:spLocks xmlns:a="http://schemas.openxmlformats.org/drawingml/2006/main" noGrp="1"/>
          </p:cNvSpPr>
          <p:nvPr/>
        </p:nvSpPr>
        <p:spPr>
          <a:xfrm xmlns:a="http://schemas.openxmlformats.org/drawingml/2006/main">
            <a:off x="571500" y="4171950"/>
            <a:ext cx="457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4.</a:t>
            </a:r>
          </a:p>
        </p:txBody>
      </p:sp>
      <p:sp>
        <p:nvSpPr>
          <p:cNvPr id="14" name="route-3">
            <a:extLst xmlns:a="http://schemas.openxmlformats.org/drawingml/2006/main">
              <a:ext uri="{FF2B5EF4-FFF2-40B4-BE49-F238E27FC236}">
                <a16:creationId xmlns:a16="http://schemas.microsoft.com/office/drawing/2014/main" id="{CF907E3C-7B9C-4342-811C-6542FD1059FD}"/>
              </a:ext>
            </a:extLst>
          </p:cNvPr>
          <p:cNvSpPr>
            <a:spLocks xmlns:a="http://schemas.openxmlformats.org/drawingml/2006/main" noGrp="1"/>
          </p:cNvSpPr>
          <p:nvPr/>
        </p:nvSpPr>
        <p:spPr>
          <a:xfrm xmlns:a="http://schemas.openxmlformats.org/drawingml/2006/main">
            <a:off x="1104900" y="4171950"/>
            <a:ext cx="7419975"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4">
            <a:extLst xmlns:a="http://schemas.openxmlformats.org/drawingml/2006/main">
              <a:ext uri="{FF2B5EF4-FFF2-40B4-BE49-F238E27FC236}">
                <a16:creationId xmlns:a16="http://schemas.microsoft.com/office/drawing/2014/main" id="{4FE02948-D108-4E22-BDF9-DAACF7FED6B6}"/>
              </a:ext>
            </a:extLst>
          </p:cNvPr>
          <p:cNvSpPr>
            <a:spLocks xmlns:a="http://schemas.openxmlformats.org/drawingml/2006/main" noGrp="1"/>
          </p:cNvSpPr>
          <p:nvPr/>
        </p:nvSpPr>
        <p:spPr>
          <a:xfrm xmlns:a="http://schemas.openxmlformats.org/drawingml/2006/main">
            <a:off x="571500" y="5934075"/>
            <a:ext cx="457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4">
            <a:extLst xmlns:a="http://schemas.openxmlformats.org/drawingml/2006/main">
              <a:ext uri="{FF2B5EF4-FFF2-40B4-BE49-F238E27FC236}">
                <a16:creationId xmlns:a16="http://schemas.microsoft.com/office/drawing/2014/main" id="{D1C9E80C-14ED-41B0-A978-5C6806B453EC}"/>
              </a:ext>
            </a:extLst>
          </p:cNvPr>
          <p:cNvSpPr>
            <a:spLocks xmlns:a="http://schemas.openxmlformats.org/drawingml/2006/main" noGrp="1"/>
          </p:cNvSpPr>
          <p:nvPr/>
        </p:nvSpPr>
        <p:spPr>
          <a:xfrm xmlns:a="http://schemas.openxmlformats.org/drawingml/2006/main">
            <a:off x="1104900" y="5934075"/>
            <a:ext cx="74199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5">
            <a:extLst xmlns:a="http://schemas.openxmlformats.org/drawingml/2006/main">
              <a:ext uri="{FF2B5EF4-FFF2-40B4-BE49-F238E27FC236}">
                <a16:creationId xmlns:a16="http://schemas.microsoft.com/office/drawing/2014/main" id="{F39C84B2-08C8-45A1-BB8D-1566192BF230}"/>
              </a:ext>
            </a:extLst>
          </p:cNvPr>
          <p:cNvSpPr>
            <a:spLocks xmlns:a="http://schemas.openxmlformats.org/drawingml/2006/main" noGrp="1"/>
          </p:cNvSpPr>
          <p:nvPr/>
        </p:nvSpPr>
        <p:spPr>
          <a:xfrm xmlns:a="http://schemas.openxmlformats.org/drawingml/2006/main">
            <a:off x="571500" y="6705600"/>
            <a:ext cx="4572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5">
            <a:extLst xmlns:a="http://schemas.openxmlformats.org/drawingml/2006/main">
              <a:ext uri="{FF2B5EF4-FFF2-40B4-BE49-F238E27FC236}">
                <a16:creationId xmlns:a16="http://schemas.microsoft.com/office/drawing/2014/main" id="{E5D7DA43-B656-4443-B957-91DDF2A69704}"/>
              </a:ext>
            </a:extLst>
          </p:cNvPr>
          <p:cNvSpPr>
            <a:spLocks xmlns:a="http://schemas.openxmlformats.org/drawingml/2006/main" noGrp="1"/>
          </p:cNvSpPr>
          <p:nvPr/>
        </p:nvSpPr>
        <p:spPr>
          <a:xfrm xmlns:a="http://schemas.openxmlformats.org/drawingml/2006/main">
            <a:off x="1104900" y="6705600"/>
            <a:ext cx="74199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6">
            <a:extLst xmlns:a="http://schemas.openxmlformats.org/drawingml/2006/main">
              <a:ext uri="{FF2B5EF4-FFF2-40B4-BE49-F238E27FC236}">
                <a16:creationId xmlns:a16="http://schemas.microsoft.com/office/drawing/2014/main" id="{79B84DB4-76EA-43A3-A34F-98054B10260A}"/>
              </a:ext>
            </a:extLst>
          </p:cNvPr>
          <p:cNvSpPr>
            <a:spLocks xmlns:a="http://schemas.openxmlformats.org/drawingml/2006/main" noGrp="1"/>
          </p:cNvSpPr>
          <p:nvPr/>
        </p:nvSpPr>
        <p:spPr>
          <a:xfrm xmlns:a="http://schemas.openxmlformats.org/drawingml/2006/main">
            <a:off x="571500" y="7305675"/>
            <a:ext cx="4572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6">
            <a:extLst xmlns:a="http://schemas.openxmlformats.org/drawingml/2006/main">
              <a:ext uri="{FF2B5EF4-FFF2-40B4-BE49-F238E27FC236}">
                <a16:creationId xmlns:a16="http://schemas.microsoft.com/office/drawing/2014/main" id="{15B4022A-57F9-4825-8455-DB19D86AC0B4}"/>
              </a:ext>
            </a:extLst>
          </p:cNvPr>
          <p:cNvSpPr>
            <a:spLocks xmlns:a="http://schemas.openxmlformats.org/drawingml/2006/main" noGrp="1"/>
          </p:cNvSpPr>
          <p:nvPr/>
        </p:nvSpPr>
        <p:spPr>
          <a:xfrm xmlns:a="http://schemas.openxmlformats.org/drawingml/2006/main">
            <a:off x="1104900" y="7305675"/>
            <a:ext cx="74199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AA8246A4-CDFD-48B4-A992-13A0F254B105}"/>
              </a:ext>
            </a:extLst>
          </p:cNvPr>
          <p:cNvSpPr>
            <a:spLocks xmlns:a="http://schemas.openxmlformats.org/drawingml/2006/main" noGrp="1"/>
          </p:cNvSpPr>
          <p:nvPr/>
        </p:nvSpPr>
        <p:spPr>
          <a:xfrm xmlns:a="http://schemas.openxmlformats.org/drawingml/2006/main">
            <a:off x="9258300" y="17145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1734C2D2-33B4-4A18-881C-B61FCDD62441}"/>
              </a:ext>
            </a:extLst>
          </p:cNvPr>
          <p:cNvSpPr>
            <a:spLocks xmlns:a="http://schemas.openxmlformats.org/drawingml/2006/main" noGrp="1"/>
          </p:cNvSpPr>
          <p:nvPr/>
        </p:nvSpPr>
        <p:spPr>
          <a:xfrm xmlns:a="http://schemas.openxmlformats.org/drawingml/2006/main">
            <a:off x="9258300" y="2276475"/>
            <a:ext cx="5410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Toe- en uittreding verklaren.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Markt Q en bedrijfs-q tekenen.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Nulwinst berekenen en uitleggen.</a:t>
            </a:r>
          </a:p>
        </p:txBody>
      </p:sp>
      <p:sp>
        <p:nvSpPr>
          <p:cNvPr id="23" name="">
            <a:extLst xmlns:a="http://schemas.openxmlformats.org/drawingml/2006/main">
              <a:ext uri="{FF2B5EF4-FFF2-40B4-BE49-F238E27FC236}">
                <a16:creationId xmlns:a16="http://schemas.microsoft.com/office/drawing/2014/main" id="{840E39A7-BFAE-481E-A938-BA3CBFF6C8BD}"/>
              </a:ext>
            </a:extLst>
          </p:cNvPr>
          <p:cNvSpPr>
            <a:spLocks xmlns:a="http://schemas.openxmlformats.org/drawingml/2006/main" noGrp="1"/>
          </p:cNvSpPr>
          <p:nvPr/>
        </p:nvSpPr>
        <p:spPr>
          <a:xfrm xmlns:a="http://schemas.openxmlformats.org/drawingml/2006/main">
            <a:off x="9258300" y="35242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9DD059D7-1D86-454E-A615-DA987D7FBF20}"/>
              </a:ext>
            </a:extLst>
          </p:cNvPr>
          <p:cNvSpPr>
            <a:spLocks xmlns:a="http://schemas.openxmlformats.org/drawingml/2006/main" noGrp="1"/>
          </p:cNvSpPr>
          <p:nvPr/>
        </p:nvSpPr>
        <p:spPr>
          <a:xfrm xmlns:a="http://schemas.openxmlformats.org/drawingml/2006/main">
            <a:off x="9258300" y="37338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50363591-57BE-4E61-AD16-BE0552E37C24}"/>
              </a:ext>
            </a:extLst>
          </p:cNvPr>
          <p:cNvSpPr>
            <a:spLocks xmlns:a="http://schemas.openxmlformats.org/drawingml/2006/main" noGrp="1"/>
          </p:cNvSpPr>
          <p:nvPr/>
        </p:nvSpPr>
        <p:spPr>
          <a:xfrm xmlns:a="http://schemas.openxmlformats.org/drawingml/2006/main">
            <a:off x="9258300" y="4238625"/>
            <a:ext cx="5410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11 · Opgaven 1 en 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 verkennen met theorie p. 7</a:t>
            </a:r>
          </a:p>
        </p:txBody>
      </p:sp>
      <p:sp>
        <p:nvSpPr>
          <p:cNvPr id="26" name="">
            <a:extLst xmlns:a="http://schemas.openxmlformats.org/drawingml/2006/main">
              <a:ext uri="{FF2B5EF4-FFF2-40B4-BE49-F238E27FC236}">
                <a16:creationId xmlns:a16="http://schemas.microsoft.com/office/drawing/2014/main" id="{D731D19F-D7B9-437E-920E-B6DA19C98140}"/>
              </a:ext>
            </a:extLst>
          </p:cNvPr>
          <p:cNvSpPr>
            <a:spLocks xmlns:a="http://schemas.openxmlformats.org/drawingml/2006/main" noGrp="1"/>
          </p:cNvSpPr>
          <p:nvPr/>
        </p:nvSpPr>
        <p:spPr>
          <a:xfrm xmlns:a="http://schemas.openxmlformats.org/drawingml/2006/main">
            <a:off x="9258300" y="5248275"/>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D08BBDD9-A4CA-401B-B7BD-22E52A322B76}"/>
              </a:ext>
            </a:extLst>
          </p:cNvPr>
          <p:cNvSpPr>
            <a:spLocks xmlns:a="http://schemas.openxmlformats.org/drawingml/2006/main" noGrp="1"/>
          </p:cNvSpPr>
          <p:nvPr/>
        </p:nvSpPr>
        <p:spPr>
          <a:xfrm xmlns:a="http://schemas.openxmlformats.org/drawingml/2006/main">
            <a:off x="9258300" y="54483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FA4E5D97-13F4-42D8-8619-219257CA7A8E}"/>
              </a:ext>
            </a:extLst>
          </p:cNvPr>
          <p:cNvSpPr>
            <a:spLocks xmlns:a="http://schemas.openxmlformats.org/drawingml/2006/main" noGrp="1"/>
          </p:cNvSpPr>
          <p:nvPr/>
        </p:nvSpPr>
        <p:spPr>
          <a:xfrm xmlns:a="http://schemas.openxmlformats.org/drawingml/2006/main">
            <a:off x="9258300" y="6010275"/>
            <a:ext cx="5410200" cy="187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§4.1.1 Hoe lang blijft de winst?</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 en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138900963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 · Standaard koffiebonen">
            <a:extLst xmlns:a="http://schemas.openxmlformats.org/drawingml/2006/main">
              <a:ext uri="{FF2B5EF4-FFF2-40B4-BE49-F238E27FC236}">
                <a16:creationId xmlns:a16="http://schemas.microsoft.com/office/drawing/2014/main" id="{0C54F6DE-D85D-4820-9D8B-687AA3F44FD0}"/>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Opgave 7 · Standaard koffiebonen</a:t>
            </a:r>
          </a:p>
        </p:txBody>
      </p:sp>
      <p:sp>
        <p:nvSpPr>
          <p:cNvPr id="2" name="">
            <a:extLst xmlns:a="http://schemas.openxmlformats.org/drawingml/2006/main">
              <a:ext uri="{FF2B5EF4-FFF2-40B4-BE49-F238E27FC236}">
                <a16:creationId xmlns:a16="http://schemas.microsoft.com/office/drawing/2014/main" id="{3EC9AC72-D0A2-4B19-9FDA-7DD38B455C7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Doelopgave 7 · Boekpagina 14">
            <a:extLst xmlns:a="http://schemas.openxmlformats.org/drawingml/2006/main">
              <a:ext uri="{FF2B5EF4-FFF2-40B4-BE49-F238E27FC236}">
                <a16:creationId xmlns:a16="http://schemas.microsoft.com/office/drawing/2014/main" id="{37417B8C-3234-4485-9528-5CD9C03ED8BE}"/>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Doelopgave 7 · Boekpagina 14</a:t>
            </a:r>
          </a:p>
        </p:txBody>
      </p:sp>
      <p:sp>
        <p:nvSpPr>
          <p:cNvPr id="4" name="slide-number">
            <a:extLst xmlns:a="http://schemas.openxmlformats.org/drawingml/2006/main">
              <a:ext uri="{FF2B5EF4-FFF2-40B4-BE49-F238E27FC236}">
                <a16:creationId xmlns:a16="http://schemas.microsoft.com/office/drawing/2014/main" id="{8E6941E1-A53C-4680-BE26-B1B979F2C3A7}"/>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17</a:t>
            </a:r>
          </a:p>
        </p:txBody>
      </p:sp>
      <p:sp>
        <p:nvSpPr>
          <p:cNvPr id="5" name="In deze oefenmarkt gebruiken alle bedrijven:">
            <a:extLst xmlns:a="http://schemas.openxmlformats.org/drawingml/2006/main">
              <a:ext uri="{FF2B5EF4-FFF2-40B4-BE49-F238E27FC236}">
                <a16:creationId xmlns:a16="http://schemas.microsoft.com/office/drawing/2014/main" id="{D88A42D8-6464-46AC-8F9E-FE8A1FEDCF90}"/>
              </a:ext>
            </a:extLst>
          </p:cNvPr>
          <p:cNvSpPr>
            <a:spLocks xmlns:a="http://schemas.openxmlformats.org/drawingml/2006/main" noGrp="1"/>
          </p:cNvSpPr>
          <p:nvPr/>
        </p:nvSpPr>
        <p:spPr>
          <a:xfrm xmlns:a="http://schemas.openxmlformats.org/drawingml/2006/main">
            <a:off x="571500" y="192405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In deze oefenmarkt gebruiken alle bedrijven:</a:t>
            </a:r>
          </a:p>
        </p:txBody>
      </p:sp>
      <p:sp>
        <p:nvSpPr>
          <p:cNvPr id="6" name="TK = 0,02q² + 4q + 200">
            <a:extLst xmlns:a="http://schemas.openxmlformats.org/drawingml/2006/main">
              <a:ext uri="{FF2B5EF4-FFF2-40B4-BE49-F238E27FC236}">
                <a16:creationId xmlns:a16="http://schemas.microsoft.com/office/drawing/2014/main" id="{A81323D8-8772-465B-A8E4-D70D925396D9}"/>
              </a:ext>
            </a:extLst>
          </p:cNvPr>
          <p:cNvSpPr>
            <a:spLocks xmlns:a="http://schemas.openxmlformats.org/drawingml/2006/main" noGrp="1"/>
          </p:cNvSpPr>
          <p:nvPr/>
        </p:nvSpPr>
        <p:spPr>
          <a:xfrm xmlns:a="http://schemas.openxmlformats.org/drawingml/2006/main">
            <a:off x="571500" y="2752725"/>
            <a:ext cx="1409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825" b="1">
                <a:solidFill>
                  <a:srgbClr val="17658A"/>
                </a:solidFill>
                <a:latin typeface="Arial"/>
                <a:ea typeface="Arial"/>
                <a:cs typeface="Arial"/>
              </a:defRPr>
            </a:pPr>
            <a:r>
              <a:rPr sz="3825" b="1">
                <a:solidFill>
                  <a:srgbClr val="17658A"/>
                </a:solidFill>
                <a:latin typeface="Arial"/>
                <a:ea typeface="Arial"/>
                <a:cs typeface="Arial"/>
              </a:rPr>
              <a:t>TK = 0,02q² + 4q + 200</a:t>
            </a:r>
          </a:p>
        </p:txBody>
      </p:sp>
      <p:graphicFrame>
        <p:nvGraphicFramePr>
          <p:cNvPr id="14" name=""/>
          <p:cNvGraphicFramePr/>
          <p:nvPr/>
        </p:nvGraphicFramePr>
        <p:xfrm>
          <a:off xmlns:a="http://schemas.openxmlformats.org/drawingml/2006/main" x="571500" y="3943350"/>
          <a:ext xmlns:a="http://schemas.openxmlformats.org/drawingml/2006/main" cx="14097000" cy="3514725"/>
        </p:xfrm>
        <a:graphic xmlns:a="http://schemas.openxmlformats.org/drawingml/2006/main">
          <a:graphicData uri="http://schemas.openxmlformats.org/drawingml/2006/table">
            <a:tbl>
              <a:tblPr/>
              <a:tblGrid>
                <a:gridCol w="6096000"/>
                <a:gridCol w="8001000"/>
              </a:tblGrid>
              <a:tr h="702945">
                <a:tc>
                  <a:txBody>
                    <a:bodyPr lIns="171450" tIns="95250" rIns="152400" bIns="95250"/>
                    <a:lstStyle/>
                    <a:p>
                      <a:r>
                        <a:rPr sz="2325" b="1">
                          <a:solidFill>
                            <a:srgbClr val="FFFFFF"/>
                          </a:solidFill>
                          <a:latin typeface="Arial"/>
                          <a:ea typeface="Arial"/>
                          <a:cs typeface="Arial"/>
                        </a:rPr>
                        <a:t>Grootheid / voorwaarde</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Gegeven</a:t>
                      </a:r>
                    </a:p>
                  </a:txBody>
                  <a:tcPr marL="91440" marR="91440" marT="45720" marB="45720" anchor="ctr">
                    <a:solidFill>
                      <a:srgbClr val="183247"/>
                    </a:solidFill>
                  </a:tcPr>
                </a:tc>
              </a:tr>
              <a:tr h="702945">
                <a:tc>
                  <a:txBody>
                    <a:bodyPr lIns="171450" tIns="95250" rIns="152400" bIns="95250"/>
                    <a:lstStyle/>
                    <a:p>
                      <a:r>
                        <a:rPr sz="2325" b="0">
                          <a:solidFill>
                            <a:srgbClr val="183247"/>
                          </a:solidFill>
                          <a:latin typeface="Arial"/>
                          <a:ea typeface="Arial"/>
                          <a:cs typeface="Arial"/>
                        </a:rPr>
                        <a:t>q en capaciteit</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kg per week; maximaal 250 kg</a:t>
                      </a:r>
                    </a:p>
                  </a:txBody>
                  <a:tcPr marL="91440" marR="91440" marT="45720" marB="45720" anchor="ctr">
                    <a:solidFill>
                      <a:srgbClr val="FFFFFF"/>
                    </a:solidFill>
                  </a:tcPr>
                </a:tc>
              </a:tr>
              <a:tr h="702945">
                <a:tc>
                  <a:txBody>
                    <a:bodyPr lIns="171450" tIns="95250" rIns="152400" bIns="95250"/>
                    <a:lstStyle/>
                    <a:p>
                      <a:r>
                        <a:rPr sz="2325" b="0">
                          <a:solidFill>
                            <a:srgbClr val="183247"/>
                          </a:solidFill>
                          <a:latin typeface="Arial"/>
                          <a:ea typeface="Arial"/>
                          <a:cs typeface="Arial"/>
                        </a:rPr>
                        <a:t>TK bevat alle kosten</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Inclusief € 120 normale ondernemersbeloning per week</a:t>
                      </a:r>
                    </a:p>
                  </a:txBody>
                  <a:tcPr marL="91440" marR="91440" marT="45720" marB="45720" anchor="ctr">
                    <a:solidFill>
                      <a:srgbClr val="EFF4F7"/>
                    </a:solidFill>
                  </a:tcPr>
                </a:tc>
              </a:tr>
              <a:tr h="702945">
                <a:tc>
                  <a:txBody>
                    <a:bodyPr lIns="171450" tIns="95250" rIns="152400" bIns="95250"/>
                    <a:lstStyle/>
                    <a:p>
                      <a:r>
                        <a:rPr sz="2325" b="0">
                          <a:solidFill>
                            <a:srgbClr val="183247"/>
                          </a:solidFill>
                          <a:latin typeface="Arial"/>
                          <a:ea typeface="Arial"/>
                          <a:cs typeface="Arial"/>
                        </a:rPr>
                        <a:t>Toetreding is vrij</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Marktvraag, technologie en inputprijzen blijven gelijk</a:t>
                      </a:r>
                    </a:p>
                  </a:txBody>
                  <a:tcPr marL="91440" marR="91440" marT="45720" marB="45720" anchor="ctr">
                    <a:solidFill>
                      <a:srgbClr val="FFFFFF"/>
                    </a:solidFill>
                  </a:tcPr>
                </a:tc>
              </a:tr>
              <a:tr h="702945">
                <a:tc>
                  <a:txBody>
                    <a:bodyPr lIns="171450" tIns="95250" rIns="152400" bIns="95250"/>
                    <a:lstStyle/>
                    <a:p>
                      <a:r>
                        <a:rPr sz="2325" b="0">
                          <a:solidFill>
                            <a:srgbClr val="183247"/>
                          </a:solidFill>
                          <a:latin typeface="Arial"/>
                          <a:ea typeface="Arial"/>
                          <a:cs typeface="Arial"/>
                        </a:rPr>
                        <a:t>Minimum GTK</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€ 8 per kg bij q = 100</a:t>
                      </a:r>
                    </a:p>
                  </a:txBody>
                  <a:tcPr marL="91440" marR="91440" marT="45720" marB="45720" anchor="ctr">
                    <a:solidFill>
                      <a:srgbClr val="EFF4F7"/>
                    </a:solidFill>
                  </a:tcPr>
                </a:tc>
              </a:tr>
            </a:tbl>
          </a:graphicData>
        </a:graphic>
      </p:graphicFrame>
    </p:spTree>
    <p:extLst>
      <p:ext uri="{BB962C8B-B14F-4D97-AF65-F5344CB8AC3E}">
        <p14:creationId xmlns:p14="http://schemas.microsoft.com/office/powerpoint/2010/main" val="22529745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Opgave 7 · De gegeven figuur">
            <a:extLst xmlns:a="http://schemas.openxmlformats.org/drawingml/2006/main">
              <a:ext uri="{FF2B5EF4-FFF2-40B4-BE49-F238E27FC236}">
                <a16:creationId xmlns:a16="http://schemas.microsoft.com/office/drawing/2014/main" id="{06CE208E-F8B2-4D65-99E3-3F0FF5ED5D74}"/>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Opgave 7 · De gegeven figuur</a:t>
            </a:r>
          </a:p>
        </p:txBody>
      </p:sp>
      <p:sp>
        <p:nvSpPr>
          <p:cNvPr id="2" name="">
            <a:extLst xmlns:a="http://schemas.openxmlformats.org/drawingml/2006/main">
              <a:ext uri="{FF2B5EF4-FFF2-40B4-BE49-F238E27FC236}">
                <a16:creationId xmlns:a16="http://schemas.microsoft.com/office/drawing/2014/main" id="{B10B676F-7BF4-41EE-A572-1E8681AD5EF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Doelopgave 7 · Boekpagina 14">
            <a:extLst xmlns:a="http://schemas.openxmlformats.org/drawingml/2006/main">
              <a:ext uri="{FF2B5EF4-FFF2-40B4-BE49-F238E27FC236}">
                <a16:creationId xmlns:a16="http://schemas.microsoft.com/office/drawing/2014/main" id="{087B3109-5C3F-490D-AE85-C8C3D315DE12}"/>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Doelopgave 7 · Boekpagina 14</a:t>
            </a:r>
          </a:p>
        </p:txBody>
      </p:sp>
      <p:sp>
        <p:nvSpPr>
          <p:cNvPr id="4" name="slide-number">
            <a:extLst xmlns:a="http://schemas.openxmlformats.org/drawingml/2006/main">
              <a:ext uri="{FF2B5EF4-FFF2-40B4-BE49-F238E27FC236}">
                <a16:creationId xmlns:a16="http://schemas.microsoft.com/office/drawing/2014/main" id="{E9CDB06E-4A57-479D-AD9E-E81A0AA29573}"/>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18</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3856508c9aa84c33"/>
          <a:stretch xmlns:a="http://schemas.openxmlformats.org/drawingml/2006/main"/>
        </p:blipFill>
        <p:spPr>
          <a:xfrm xmlns:a="http://schemas.openxmlformats.org/drawingml/2006/main">
            <a:off x="1216446" y="1752600"/>
            <a:ext cx="12807108" cy="5905500"/>
          </a:xfrm>
          <a:prstGeom xmlns:a="http://schemas.openxmlformats.org/drawingml/2006/main" prst="rect">
            <a:avLst/>
          </a:prstGeom>
        </p:spPr>
      </p:pic>
    </p:spTree>
    <p:extLst>
      <p:ext uri="{BB962C8B-B14F-4D97-AF65-F5344CB8AC3E}">
        <p14:creationId xmlns:p14="http://schemas.microsoft.com/office/powerpoint/2010/main" val="69683658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7 · Deelvragen a, b en c">
            <a:extLst xmlns:a="http://schemas.openxmlformats.org/drawingml/2006/main">
              <a:ext uri="{FF2B5EF4-FFF2-40B4-BE49-F238E27FC236}">
                <a16:creationId xmlns:a16="http://schemas.microsoft.com/office/drawing/2014/main" id="{435C8E57-EBDE-4260-B173-703092A28771}"/>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Opgave 7 · Deelvragen a, b en c</a:t>
            </a:r>
          </a:p>
        </p:txBody>
      </p:sp>
      <p:sp>
        <p:nvSpPr>
          <p:cNvPr id="2" name="">
            <a:extLst xmlns:a="http://schemas.openxmlformats.org/drawingml/2006/main">
              <a:ext uri="{FF2B5EF4-FFF2-40B4-BE49-F238E27FC236}">
                <a16:creationId xmlns:a16="http://schemas.microsoft.com/office/drawing/2014/main" id="{5AAEDFAB-E6EA-40EE-843B-7B391EEDFB2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Doelopgave 7 · Boekpagina 14">
            <a:extLst xmlns:a="http://schemas.openxmlformats.org/drawingml/2006/main">
              <a:ext uri="{FF2B5EF4-FFF2-40B4-BE49-F238E27FC236}">
                <a16:creationId xmlns:a16="http://schemas.microsoft.com/office/drawing/2014/main" id="{0B9C22FA-58F7-4306-A178-6ACA354731F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Doelopgave 7 · Boekpagina 14</a:t>
            </a:r>
          </a:p>
        </p:txBody>
      </p:sp>
      <p:sp>
        <p:nvSpPr>
          <p:cNvPr id="4" name="slide-number">
            <a:extLst xmlns:a="http://schemas.openxmlformats.org/drawingml/2006/main">
              <a:ext uri="{FF2B5EF4-FFF2-40B4-BE49-F238E27FC236}">
                <a16:creationId xmlns:a16="http://schemas.microsoft.com/office/drawing/2014/main" id="{FD99E5B3-BE1F-4B46-BFD4-2FDF0BEE805F}"/>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19</a:t>
            </a:r>
          </a:p>
        </p:txBody>
      </p:sp>
      <p:sp>
        <p:nvSpPr>
          <p:cNvPr id="5" name="a. (3p) Lees de beginprijs af. Stel MK op, bepaal q en bereken de">
            <a:extLst xmlns:a="http://schemas.openxmlformats.org/drawingml/2006/main">
              <a:ext uri="{FF2B5EF4-FFF2-40B4-BE49-F238E27FC236}">
                <a16:creationId xmlns:a16="http://schemas.microsoft.com/office/drawing/2014/main" id="{F47020A6-3128-42F1-B9B5-26A477C40435}"/>
              </a:ext>
            </a:extLst>
          </p:cNvPr>
          <p:cNvSpPr>
            <a:spLocks xmlns:a="http://schemas.openxmlformats.org/drawingml/2006/main" noGrp="1"/>
          </p:cNvSpPr>
          <p:nvPr/>
        </p:nvSpPr>
        <p:spPr>
          <a:xfrm xmlns:a="http://schemas.openxmlformats.org/drawingml/2006/main">
            <a:off x="571500" y="2019300"/>
            <a:ext cx="14097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a. (3p) Lees de beginprijs af. Stel MK op, bepaal q en bereken de economische winst van één bedrijf.</a:t>
            </a:r>
          </a:p>
        </p:txBody>
      </p:sp>
      <p:sp>
        <p:nvSpPr>
          <p:cNvPr id="6" name="">
            <a:extLst xmlns:a="http://schemas.openxmlformats.org/drawingml/2006/main">
              <a:ext uri="{FF2B5EF4-FFF2-40B4-BE49-F238E27FC236}">
                <a16:creationId xmlns:a16="http://schemas.microsoft.com/office/drawing/2014/main" id="{C28956DB-E7A1-48FB-8642-B508528DF7F8}"/>
              </a:ext>
            </a:extLst>
          </p:cNvPr>
          <p:cNvSpPr>
            <a:spLocks xmlns:a="http://schemas.openxmlformats.org/drawingml/2006/main" noGrp="1"/>
          </p:cNvSpPr>
          <p:nvPr/>
        </p:nvSpPr>
        <p:spPr>
          <a:xfrm xmlns:a="http://schemas.openxmlformats.org/drawingml/2006/main">
            <a:off x="571500" y="3581400"/>
            <a:ext cx="14097000" cy="0"/>
          </a:xfrm>
          <a:prstGeom xmlns:a="http://schemas.openxmlformats.org/drawingml/2006/main" prst="line">
            <a:avLst/>
          </a:prstGeom>
          <a:ln xmlns:a="http://schemas.openxmlformats.org/drawingml/2006/main" w="19050">
            <a:solidFill>
              <a:srgbClr val="C6D2DB"/>
            </a:solidFill>
          </a:ln>
        </p:spPr>
      </p:sp>
      <p:sp>
        <p:nvSpPr>
          <p:cNvPr id="7" name="b. (2p) Leg uit waarom er bedrijven toetreden en hoe dit de prijs">
            <a:extLst xmlns:a="http://schemas.openxmlformats.org/drawingml/2006/main">
              <a:ext uri="{FF2B5EF4-FFF2-40B4-BE49-F238E27FC236}">
                <a16:creationId xmlns:a16="http://schemas.microsoft.com/office/drawing/2014/main" id="{5A04DF0D-356F-4523-8EBD-64C37A775223}"/>
              </a:ext>
            </a:extLst>
          </p:cNvPr>
          <p:cNvSpPr>
            <a:spLocks xmlns:a="http://schemas.openxmlformats.org/drawingml/2006/main" noGrp="1"/>
          </p:cNvSpPr>
          <p:nvPr/>
        </p:nvSpPr>
        <p:spPr>
          <a:xfrm xmlns:a="http://schemas.openxmlformats.org/drawingml/2006/main">
            <a:off x="571500" y="3990975"/>
            <a:ext cx="1409700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b. (2p) Leg uit waarom er bedrijven toetreden en hoe dit de prijs beïnvloedt.</a:t>
            </a:r>
          </a:p>
        </p:txBody>
      </p:sp>
      <p:sp>
        <p:nvSpPr>
          <p:cNvPr id="8" name="">
            <a:extLst xmlns:a="http://schemas.openxmlformats.org/drawingml/2006/main">
              <a:ext uri="{FF2B5EF4-FFF2-40B4-BE49-F238E27FC236}">
                <a16:creationId xmlns:a16="http://schemas.microsoft.com/office/drawing/2014/main" id="{0360887D-39CE-480C-A9BA-142F6EEE84D5}"/>
              </a:ext>
            </a:extLst>
          </p:cNvPr>
          <p:cNvSpPr>
            <a:spLocks xmlns:a="http://schemas.openxmlformats.org/drawingml/2006/main" noGrp="1"/>
          </p:cNvSpPr>
          <p:nvPr/>
        </p:nvSpPr>
        <p:spPr>
          <a:xfrm xmlns:a="http://schemas.openxmlformats.org/drawingml/2006/main">
            <a:off x="571500" y="5505450"/>
            <a:ext cx="14097000" cy="0"/>
          </a:xfrm>
          <a:prstGeom xmlns:a="http://schemas.openxmlformats.org/drawingml/2006/main" prst="line">
            <a:avLst/>
          </a:prstGeom>
          <a:ln xmlns:a="http://schemas.openxmlformats.org/drawingml/2006/main" w="19050">
            <a:solidFill>
              <a:srgbClr val="C6D2DB"/>
            </a:solidFill>
          </a:ln>
        </p:spPr>
      </p:sp>
      <p:sp>
        <p:nvSpPr>
          <p:cNvPr id="9" name="c. (2p) Teken in de marktgrafiek een passende A₁ voor de langeter">
            <a:extLst xmlns:a="http://schemas.openxmlformats.org/drawingml/2006/main">
              <a:ext uri="{FF2B5EF4-FFF2-40B4-BE49-F238E27FC236}">
                <a16:creationId xmlns:a16="http://schemas.microsoft.com/office/drawing/2014/main" id="{9D0925D1-0D40-4349-BF8E-B7E9B30E0D0B}"/>
              </a:ext>
            </a:extLst>
          </p:cNvPr>
          <p:cNvSpPr>
            <a:spLocks xmlns:a="http://schemas.openxmlformats.org/drawingml/2006/main" noGrp="1"/>
          </p:cNvSpPr>
          <p:nvPr/>
        </p:nvSpPr>
        <p:spPr>
          <a:xfrm xmlns:a="http://schemas.openxmlformats.org/drawingml/2006/main">
            <a:off x="571500" y="5924550"/>
            <a:ext cx="140970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c. (2p) Teken in de marktgrafiek een passende A₁ voor de langetermijnprijs. Teken rechts de bijbehorende P = GO = MO-lijn. Laat de kostencurven staan.</a:t>
            </a:r>
          </a:p>
        </p:txBody>
      </p:sp>
    </p:spTree>
    <p:extLst>
      <p:ext uri="{BB962C8B-B14F-4D97-AF65-F5344CB8AC3E}">
        <p14:creationId xmlns:p14="http://schemas.microsoft.com/office/powerpoint/2010/main" val="72376143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 · Deelvragen d en e">
            <a:extLst xmlns:a="http://schemas.openxmlformats.org/drawingml/2006/main">
              <a:ext uri="{FF2B5EF4-FFF2-40B4-BE49-F238E27FC236}">
                <a16:creationId xmlns:a16="http://schemas.microsoft.com/office/drawing/2014/main" id="{972B4413-6C88-4F40-B60B-88CD1DE97451}"/>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Opgave 7 · Deelvragen d en e</a:t>
            </a:r>
          </a:p>
        </p:txBody>
      </p:sp>
      <p:sp>
        <p:nvSpPr>
          <p:cNvPr id="2" name="">
            <a:extLst xmlns:a="http://schemas.openxmlformats.org/drawingml/2006/main">
              <a:ext uri="{FF2B5EF4-FFF2-40B4-BE49-F238E27FC236}">
                <a16:creationId xmlns:a16="http://schemas.microsoft.com/office/drawing/2014/main" id="{62E5629E-CC30-4FF8-B5E2-D558F7A309D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Doelopgave 7 · Boekpagina 14">
            <a:extLst xmlns:a="http://schemas.openxmlformats.org/drawingml/2006/main">
              <a:ext uri="{FF2B5EF4-FFF2-40B4-BE49-F238E27FC236}">
                <a16:creationId xmlns:a16="http://schemas.microsoft.com/office/drawing/2014/main" id="{8CF5D92B-8947-4AEF-BD39-C83042BE789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Doelopgave 7 · Boekpagina 14</a:t>
            </a:r>
          </a:p>
        </p:txBody>
      </p:sp>
      <p:sp>
        <p:nvSpPr>
          <p:cNvPr id="4" name="slide-number">
            <a:extLst xmlns:a="http://schemas.openxmlformats.org/drawingml/2006/main">
              <a:ext uri="{FF2B5EF4-FFF2-40B4-BE49-F238E27FC236}">
                <a16:creationId xmlns:a16="http://schemas.microsoft.com/office/drawing/2014/main" id="{A1F945A5-C738-4F2B-BE15-739B580E6577}"/>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20</a:t>
            </a:r>
          </a:p>
        </p:txBody>
      </p:sp>
      <p:sp>
        <p:nvSpPr>
          <p:cNvPr id="5" name="d. (3p) Bepaal de langetermijnprijs en q. Bereken TO en TK en con">
            <a:extLst xmlns:a="http://schemas.openxmlformats.org/drawingml/2006/main">
              <a:ext uri="{FF2B5EF4-FFF2-40B4-BE49-F238E27FC236}">
                <a16:creationId xmlns:a16="http://schemas.microsoft.com/office/drawing/2014/main" id="{1FBC5F22-10B7-49CA-845E-66C5AF1891DE}"/>
              </a:ext>
            </a:extLst>
          </p:cNvPr>
          <p:cNvSpPr>
            <a:spLocks xmlns:a="http://schemas.openxmlformats.org/drawingml/2006/main" noGrp="1"/>
          </p:cNvSpPr>
          <p:nvPr/>
        </p:nvSpPr>
        <p:spPr>
          <a:xfrm xmlns:a="http://schemas.openxmlformats.org/drawingml/2006/main">
            <a:off x="571500" y="2362200"/>
            <a:ext cx="14097000" cy="1419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d. (3p) Bepaal de langetermijnprijs en q. Bereken TO en TK en controleer de economische winst.</a:t>
            </a:r>
          </a:p>
        </p:txBody>
      </p:sp>
      <p:sp>
        <p:nvSpPr>
          <p:cNvPr id="6" name="">
            <a:extLst xmlns:a="http://schemas.openxmlformats.org/drawingml/2006/main">
              <a:ext uri="{FF2B5EF4-FFF2-40B4-BE49-F238E27FC236}">
                <a16:creationId xmlns:a16="http://schemas.microsoft.com/office/drawing/2014/main" id="{7E991D70-1F5A-442A-B589-75D132504556}"/>
              </a:ext>
            </a:extLst>
          </p:cNvPr>
          <p:cNvSpPr>
            <a:spLocks xmlns:a="http://schemas.openxmlformats.org/drawingml/2006/main" noGrp="1"/>
          </p:cNvSpPr>
          <p:nvPr/>
        </p:nvSpPr>
        <p:spPr>
          <a:xfrm xmlns:a="http://schemas.openxmlformats.org/drawingml/2006/main">
            <a:off x="571500" y="4257675"/>
            <a:ext cx="14097000" cy="0"/>
          </a:xfrm>
          <a:prstGeom xmlns:a="http://schemas.openxmlformats.org/drawingml/2006/main" prst="line">
            <a:avLst/>
          </a:prstGeom>
          <a:ln xmlns:a="http://schemas.openxmlformats.org/drawingml/2006/main" w="19050">
            <a:solidFill>
              <a:srgbClr val="C6D2DB"/>
            </a:solidFill>
          </a:ln>
        </p:spPr>
      </p:sp>
      <p:sp>
        <p:nvSpPr>
          <p:cNvPr id="7" name="e. (2p) Een leerling zegt: “Met nul winst verdient de ondernemer ">
            <a:extLst xmlns:a="http://schemas.openxmlformats.org/drawingml/2006/main">
              <a:ext uri="{FF2B5EF4-FFF2-40B4-BE49-F238E27FC236}">
                <a16:creationId xmlns:a16="http://schemas.microsoft.com/office/drawing/2014/main" id="{2A201F27-896C-4270-906B-9DC056DCF05D}"/>
              </a:ext>
            </a:extLst>
          </p:cNvPr>
          <p:cNvSpPr>
            <a:spLocks xmlns:a="http://schemas.openxmlformats.org/drawingml/2006/main" noGrp="1"/>
          </p:cNvSpPr>
          <p:nvPr/>
        </p:nvSpPr>
        <p:spPr>
          <a:xfrm xmlns:a="http://schemas.openxmlformats.org/drawingml/2006/main">
            <a:off x="571500" y="4867275"/>
            <a:ext cx="14097000" cy="2505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e. (2p) Een leerling zegt: “Met nul winst verdient de ondernemer niets en is de omzet verdwenen.”</a:t>
            </a:r>
          </a:p>
          <a:p xmlns:a="http://schemas.openxmlformats.org/drawingml/2006/main">
            <a:r>
              <a:t/>
            </a:r>
          </a:p>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Weerleg beide delen met de gegevens.</a:t>
            </a:r>
          </a:p>
        </p:txBody>
      </p:sp>
    </p:spTree>
    <p:extLst>
      <p:ext uri="{BB962C8B-B14F-4D97-AF65-F5344CB8AC3E}">
        <p14:creationId xmlns:p14="http://schemas.microsoft.com/office/powerpoint/2010/main" val="201818008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Opgave 7a · Prijs en productie">
            <a:extLst xmlns:a="http://schemas.openxmlformats.org/drawingml/2006/main">
              <a:ext uri="{FF2B5EF4-FFF2-40B4-BE49-F238E27FC236}">
                <a16:creationId xmlns:a16="http://schemas.microsoft.com/office/drawing/2014/main" id="{4D0EB91C-E63A-4EAF-BA4A-FAE16585B765}"/>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Opgave 7a · Prijs en productie</a:t>
            </a:r>
          </a:p>
        </p:txBody>
      </p:sp>
      <p:sp>
        <p:nvSpPr>
          <p:cNvPr id="2" name="">
            <a:extLst xmlns:a="http://schemas.openxmlformats.org/drawingml/2006/main">
              <a:ext uri="{FF2B5EF4-FFF2-40B4-BE49-F238E27FC236}">
                <a16:creationId xmlns:a16="http://schemas.microsoft.com/office/drawing/2014/main" id="{0197D04E-54CE-49E8-AFAF-3890AD7D875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Doelopgave 7 · Boekpagina 14">
            <a:extLst xmlns:a="http://schemas.openxmlformats.org/drawingml/2006/main">
              <a:ext uri="{FF2B5EF4-FFF2-40B4-BE49-F238E27FC236}">
                <a16:creationId xmlns:a16="http://schemas.microsoft.com/office/drawing/2014/main" id="{D6614409-CA6A-429E-9805-4028DDA9FA1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Doelopgave 7 · Boekpagina 14</a:t>
            </a:r>
          </a:p>
        </p:txBody>
      </p:sp>
      <p:sp>
        <p:nvSpPr>
          <p:cNvPr id="4" name="slide-number">
            <a:extLst xmlns:a="http://schemas.openxmlformats.org/drawingml/2006/main">
              <a:ext uri="{FF2B5EF4-FFF2-40B4-BE49-F238E27FC236}">
                <a16:creationId xmlns:a16="http://schemas.microsoft.com/office/drawing/2014/main" id="{61F1C3E1-F202-42F8-82C9-D89C726F42DF}"/>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21</a:t>
            </a:r>
          </a:p>
        </p:txBody>
      </p:sp>
      <p:sp>
        <p:nvSpPr>
          <p:cNvPr id="5" name="Aflezen uit de figuur">
            <a:extLst xmlns:a="http://schemas.openxmlformats.org/drawingml/2006/main">
              <a:ext uri="{FF2B5EF4-FFF2-40B4-BE49-F238E27FC236}">
                <a16:creationId xmlns:a16="http://schemas.microsoft.com/office/drawing/2014/main" id="{E9B146D7-00B9-455A-82CD-47F1AFD7FFCC}"/>
              </a:ext>
            </a:extLst>
          </p:cNvPr>
          <p:cNvSpPr>
            <a:spLocks xmlns:a="http://schemas.openxmlformats.org/drawingml/2006/main" noGrp="1"/>
          </p:cNvSpPr>
          <p:nvPr/>
        </p:nvSpPr>
        <p:spPr>
          <a:xfrm xmlns:a="http://schemas.openxmlformats.org/drawingml/2006/main">
            <a:off x="571500" y="2190750"/>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Aflezen uit de figuur</a:t>
            </a:r>
          </a:p>
        </p:txBody>
      </p:sp>
      <p:sp>
        <p:nvSpPr>
          <p:cNvPr id="6" name="P = € 10 per kg">
            <a:extLst xmlns:a="http://schemas.openxmlformats.org/drawingml/2006/main">
              <a:ext uri="{FF2B5EF4-FFF2-40B4-BE49-F238E27FC236}">
                <a16:creationId xmlns:a16="http://schemas.microsoft.com/office/drawing/2014/main" id="{2F326964-AFC8-4CB5-8209-BA0601C8B5F1}"/>
              </a:ext>
            </a:extLst>
          </p:cNvPr>
          <p:cNvSpPr>
            <a:spLocks xmlns:a="http://schemas.openxmlformats.org/drawingml/2006/main" noGrp="1"/>
          </p:cNvSpPr>
          <p:nvPr/>
        </p:nvSpPr>
        <p:spPr>
          <a:xfrm xmlns:a="http://schemas.openxmlformats.org/drawingml/2006/main">
            <a:off x="6000750" y="2190750"/>
            <a:ext cx="866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P = € 10 per kg</a:t>
            </a:r>
          </a:p>
        </p:txBody>
      </p:sp>
      <p:sp>
        <p:nvSpPr>
          <p:cNvPr id="7" name="TK differentiëren">
            <a:extLst xmlns:a="http://schemas.openxmlformats.org/drawingml/2006/main">
              <a:ext uri="{FF2B5EF4-FFF2-40B4-BE49-F238E27FC236}">
                <a16:creationId xmlns:a16="http://schemas.microsoft.com/office/drawing/2014/main" id="{8FF1ABA9-7250-47BB-ACBF-F70103C582A8}"/>
              </a:ext>
            </a:extLst>
          </p:cNvPr>
          <p:cNvSpPr>
            <a:spLocks xmlns:a="http://schemas.openxmlformats.org/drawingml/2006/main" noGrp="1"/>
          </p:cNvSpPr>
          <p:nvPr/>
        </p:nvSpPr>
        <p:spPr>
          <a:xfrm xmlns:a="http://schemas.openxmlformats.org/drawingml/2006/main">
            <a:off x="571500" y="3762375"/>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TK differentiëren</a:t>
            </a:r>
          </a:p>
        </p:txBody>
      </p:sp>
      <p:sp>
        <p:nvSpPr>
          <p:cNvPr id="8" name="MK = 0,04q + 4">
            <a:extLst xmlns:a="http://schemas.openxmlformats.org/drawingml/2006/main">
              <a:ext uri="{FF2B5EF4-FFF2-40B4-BE49-F238E27FC236}">
                <a16:creationId xmlns:a16="http://schemas.microsoft.com/office/drawing/2014/main" id="{E2A23FB9-6177-4A43-AFC0-E87EE4A6B539}"/>
              </a:ext>
            </a:extLst>
          </p:cNvPr>
          <p:cNvSpPr>
            <a:spLocks xmlns:a="http://schemas.openxmlformats.org/drawingml/2006/main" noGrp="1"/>
          </p:cNvSpPr>
          <p:nvPr/>
        </p:nvSpPr>
        <p:spPr>
          <a:xfrm xmlns:a="http://schemas.openxmlformats.org/drawingml/2006/main">
            <a:off x="6000750" y="3762375"/>
            <a:ext cx="866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MK = 0,04q + 4</a:t>
            </a:r>
          </a:p>
        </p:txBody>
      </p:sp>
      <p:sp>
        <p:nvSpPr>
          <p:cNvPr id="9" name="MO = MK oplossen">
            <a:extLst xmlns:a="http://schemas.openxmlformats.org/drawingml/2006/main">
              <a:ext uri="{FF2B5EF4-FFF2-40B4-BE49-F238E27FC236}">
                <a16:creationId xmlns:a16="http://schemas.microsoft.com/office/drawing/2014/main" id="{B50CF790-C18E-4395-953E-566E7FB2B92F}"/>
              </a:ext>
            </a:extLst>
          </p:cNvPr>
          <p:cNvSpPr>
            <a:spLocks xmlns:a="http://schemas.openxmlformats.org/drawingml/2006/main" noGrp="1"/>
          </p:cNvSpPr>
          <p:nvPr/>
        </p:nvSpPr>
        <p:spPr>
          <a:xfrm xmlns:a="http://schemas.openxmlformats.org/drawingml/2006/main">
            <a:off x="571500" y="5334000"/>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MO = MK oplossen</a:t>
            </a:r>
          </a:p>
        </p:txBody>
      </p:sp>
      <p:sp>
        <p:nvSpPr>
          <p:cNvPr id="10" name="10 = 0,04q + 4&#10;6 = 0,04q  ⇒  q = 150 kg per week">
            <a:extLst xmlns:a="http://schemas.openxmlformats.org/drawingml/2006/main">
              <a:ext uri="{FF2B5EF4-FFF2-40B4-BE49-F238E27FC236}">
                <a16:creationId xmlns:a16="http://schemas.microsoft.com/office/drawing/2014/main" id="{8C625D80-A5E5-44C9-AEF3-2E0BDB41B513}"/>
              </a:ext>
            </a:extLst>
          </p:cNvPr>
          <p:cNvSpPr>
            <a:spLocks xmlns:a="http://schemas.openxmlformats.org/drawingml/2006/main" noGrp="1"/>
          </p:cNvSpPr>
          <p:nvPr/>
        </p:nvSpPr>
        <p:spPr>
          <a:xfrm xmlns:a="http://schemas.openxmlformats.org/drawingml/2006/main">
            <a:off x="6000750" y="5334000"/>
            <a:ext cx="866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10 = 0,04q + 4</a:t>
            </a:r>
          </a:p>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6 = 0,04q  ⇒  q = 150 kg per week</a:t>
            </a:r>
          </a:p>
        </p:txBody>
      </p:sp>
      <p:sp>
        <p:nvSpPr>
          <p:cNvPr id="11" name="150 ≤ 250 kg. MK stijgt door MO heen.">
            <a:extLst xmlns:a="http://schemas.openxmlformats.org/drawingml/2006/main">
              <a:ext uri="{FF2B5EF4-FFF2-40B4-BE49-F238E27FC236}">
                <a16:creationId xmlns:a16="http://schemas.microsoft.com/office/drawing/2014/main" id="{00CF764B-7EBB-4D9E-B0C6-84DEAD567B45}"/>
              </a:ext>
            </a:extLst>
          </p:cNvPr>
          <p:cNvSpPr>
            <a:spLocks xmlns:a="http://schemas.openxmlformats.org/drawingml/2006/main" noGrp="1"/>
          </p:cNvSpPr>
          <p:nvPr/>
        </p:nvSpPr>
        <p:spPr>
          <a:xfrm xmlns:a="http://schemas.openxmlformats.org/drawingml/2006/main">
            <a:off x="571500" y="7334250"/>
            <a:ext cx="1409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150 ≤ 250 kg. MK stijgt door MO heen.</a:t>
            </a:r>
          </a:p>
        </p:txBody>
      </p:sp>
    </p:spTree>
    <p:extLst>
      <p:ext uri="{BB962C8B-B14F-4D97-AF65-F5344CB8AC3E}">
        <p14:creationId xmlns:p14="http://schemas.microsoft.com/office/powerpoint/2010/main" val="54578608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Opgave 7a · Economische winst">
            <a:extLst xmlns:a="http://schemas.openxmlformats.org/drawingml/2006/main">
              <a:ext uri="{FF2B5EF4-FFF2-40B4-BE49-F238E27FC236}">
                <a16:creationId xmlns:a16="http://schemas.microsoft.com/office/drawing/2014/main" id="{E94B2EA0-BB73-4A37-95A4-A7EDF77E9E20}"/>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Opgave 7a · Economische winst</a:t>
            </a:r>
          </a:p>
        </p:txBody>
      </p:sp>
      <p:sp>
        <p:nvSpPr>
          <p:cNvPr id="2" name="">
            <a:extLst xmlns:a="http://schemas.openxmlformats.org/drawingml/2006/main">
              <a:ext uri="{FF2B5EF4-FFF2-40B4-BE49-F238E27FC236}">
                <a16:creationId xmlns:a16="http://schemas.microsoft.com/office/drawing/2014/main" id="{65EEE973-F06B-4242-86DF-35065D623B9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Doelopgave 7 · Boekpagina 14">
            <a:extLst xmlns:a="http://schemas.openxmlformats.org/drawingml/2006/main">
              <a:ext uri="{FF2B5EF4-FFF2-40B4-BE49-F238E27FC236}">
                <a16:creationId xmlns:a16="http://schemas.microsoft.com/office/drawing/2014/main" id="{9AD4C52B-6893-4C16-9B75-44B2D39BB1C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Doelopgave 7 · Boekpagina 14</a:t>
            </a:r>
          </a:p>
        </p:txBody>
      </p:sp>
      <p:sp>
        <p:nvSpPr>
          <p:cNvPr id="4" name="slide-number">
            <a:extLst xmlns:a="http://schemas.openxmlformats.org/drawingml/2006/main">
              <a:ext uri="{FF2B5EF4-FFF2-40B4-BE49-F238E27FC236}">
                <a16:creationId xmlns:a16="http://schemas.microsoft.com/office/drawing/2014/main" id="{B5064400-82DF-409B-BA51-EDCDB6EEB053}"/>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22</a:t>
            </a:r>
          </a:p>
        </p:txBody>
      </p:sp>
      <p:sp>
        <p:nvSpPr>
          <p:cNvPr id="5" name="Totale opbrengst">
            <a:extLst xmlns:a="http://schemas.openxmlformats.org/drawingml/2006/main">
              <a:ext uri="{FF2B5EF4-FFF2-40B4-BE49-F238E27FC236}">
                <a16:creationId xmlns:a16="http://schemas.microsoft.com/office/drawing/2014/main" id="{92FBEB4C-9EDB-49BA-BB6E-434C96208818}"/>
              </a:ext>
            </a:extLst>
          </p:cNvPr>
          <p:cNvSpPr>
            <a:spLocks xmlns:a="http://schemas.openxmlformats.org/drawingml/2006/main" noGrp="1"/>
          </p:cNvSpPr>
          <p:nvPr/>
        </p:nvSpPr>
        <p:spPr>
          <a:xfrm xmlns:a="http://schemas.openxmlformats.org/drawingml/2006/main">
            <a:off x="571500" y="2171700"/>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Totale opbrengst</a:t>
            </a:r>
          </a:p>
        </p:txBody>
      </p:sp>
      <p:sp>
        <p:nvSpPr>
          <p:cNvPr id="6" name="TO = 10 × 150 = € 1.500 per week">
            <a:extLst xmlns:a="http://schemas.openxmlformats.org/drawingml/2006/main">
              <a:ext uri="{FF2B5EF4-FFF2-40B4-BE49-F238E27FC236}">
                <a16:creationId xmlns:a16="http://schemas.microsoft.com/office/drawing/2014/main" id="{FAFC77E6-085A-4D9F-91B6-35070C3A7CE4}"/>
              </a:ext>
            </a:extLst>
          </p:cNvPr>
          <p:cNvSpPr>
            <a:spLocks xmlns:a="http://schemas.openxmlformats.org/drawingml/2006/main" noGrp="1"/>
          </p:cNvSpPr>
          <p:nvPr/>
        </p:nvSpPr>
        <p:spPr>
          <a:xfrm xmlns:a="http://schemas.openxmlformats.org/drawingml/2006/main">
            <a:off x="6000750" y="2171700"/>
            <a:ext cx="866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TO = 10 × 150 = € 1.500 per week</a:t>
            </a:r>
          </a:p>
        </p:txBody>
      </p:sp>
      <p:sp>
        <p:nvSpPr>
          <p:cNvPr id="7" name="Totale kosten">
            <a:extLst xmlns:a="http://schemas.openxmlformats.org/drawingml/2006/main">
              <a:ext uri="{FF2B5EF4-FFF2-40B4-BE49-F238E27FC236}">
                <a16:creationId xmlns:a16="http://schemas.microsoft.com/office/drawing/2014/main" id="{9BCC3246-7CC8-439A-9BF1-BDCC4BDFE894}"/>
              </a:ext>
            </a:extLst>
          </p:cNvPr>
          <p:cNvSpPr>
            <a:spLocks xmlns:a="http://schemas.openxmlformats.org/drawingml/2006/main" noGrp="1"/>
          </p:cNvSpPr>
          <p:nvPr/>
        </p:nvSpPr>
        <p:spPr>
          <a:xfrm xmlns:a="http://schemas.openxmlformats.org/drawingml/2006/main">
            <a:off x="571500" y="3829050"/>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Totale kosten</a:t>
            </a:r>
          </a:p>
        </p:txBody>
      </p:sp>
      <p:sp>
        <p:nvSpPr>
          <p:cNvPr id="8" name="TK = 0,02 × 150² + 4 × 150 + 200&#10;     = 450 + 600 + 200 = € 1.250">
            <a:extLst xmlns:a="http://schemas.openxmlformats.org/drawingml/2006/main">
              <a:ext uri="{FF2B5EF4-FFF2-40B4-BE49-F238E27FC236}">
                <a16:creationId xmlns:a16="http://schemas.microsoft.com/office/drawing/2014/main" id="{FC7F90A7-CE06-4B37-91F1-299D7D90648B}"/>
              </a:ext>
            </a:extLst>
          </p:cNvPr>
          <p:cNvSpPr>
            <a:spLocks xmlns:a="http://schemas.openxmlformats.org/drawingml/2006/main" noGrp="1"/>
          </p:cNvSpPr>
          <p:nvPr/>
        </p:nvSpPr>
        <p:spPr>
          <a:xfrm xmlns:a="http://schemas.openxmlformats.org/drawingml/2006/main">
            <a:off x="6000750" y="3829050"/>
            <a:ext cx="866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TK = 0,02 × 150² + 4 × 150 + 200</a:t>
            </a:r>
          </a:p>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     = 450 + 600 + 200 = € 1.250 per week</a:t>
            </a:r>
          </a:p>
        </p:txBody>
      </p:sp>
      <p:sp>
        <p:nvSpPr>
          <p:cNvPr id="9" name="Economische winst">
            <a:extLst xmlns:a="http://schemas.openxmlformats.org/drawingml/2006/main">
              <a:ext uri="{FF2B5EF4-FFF2-40B4-BE49-F238E27FC236}">
                <a16:creationId xmlns:a16="http://schemas.microsoft.com/office/drawing/2014/main" id="{990A072F-BC7C-47A0-930A-055F9B513E81}"/>
              </a:ext>
            </a:extLst>
          </p:cNvPr>
          <p:cNvSpPr>
            <a:spLocks xmlns:a="http://schemas.openxmlformats.org/drawingml/2006/main" noGrp="1"/>
          </p:cNvSpPr>
          <p:nvPr/>
        </p:nvSpPr>
        <p:spPr>
          <a:xfrm xmlns:a="http://schemas.openxmlformats.org/drawingml/2006/main">
            <a:off x="571500" y="5486400"/>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Economische winst</a:t>
            </a:r>
          </a:p>
        </p:txBody>
      </p:sp>
      <p:sp>
        <p:nvSpPr>
          <p:cNvPr id="10" name="1.500 − 1.250 = € 250 per week">
            <a:extLst xmlns:a="http://schemas.openxmlformats.org/drawingml/2006/main">
              <a:ext uri="{FF2B5EF4-FFF2-40B4-BE49-F238E27FC236}">
                <a16:creationId xmlns:a16="http://schemas.microsoft.com/office/drawing/2014/main" id="{AA8733DC-5933-4CB1-B686-7F3A1782059C}"/>
              </a:ext>
            </a:extLst>
          </p:cNvPr>
          <p:cNvSpPr>
            <a:spLocks xmlns:a="http://schemas.openxmlformats.org/drawingml/2006/main" noGrp="1"/>
          </p:cNvSpPr>
          <p:nvPr/>
        </p:nvSpPr>
        <p:spPr>
          <a:xfrm xmlns:a="http://schemas.openxmlformats.org/drawingml/2006/main">
            <a:off x="6000750" y="5486400"/>
            <a:ext cx="866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1.500 − 1.250 = € 250 per week</a:t>
            </a:r>
          </a:p>
        </p:txBody>
      </p:sp>
      <p:sp>
        <p:nvSpPr>
          <p:cNvPr id="11" name="De € 120 normale ondernemersbeloning zit al in TK.">
            <a:extLst xmlns:a="http://schemas.openxmlformats.org/drawingml/2006/main">
              <a:ext uri="{FF2B5EF4-FFF2-40B4-BE49-F238E27FC236}">
                <a16:creationId xmlns:a16="http://schemas.microsoft.com/office/drawing/2014/main" id="{F861417F-E938-495C-B11A-FEB0569C5257}"/>
              </a:ext>
            </a:extLst>
          </p:cNvPr>
          <p:cNvSpPr>
            <a:spLocks xmlns:a="http://schemas.openxmlformats.org/drawingml/2006/main" noGrp="1"/>
          </p:cNvSpPr>
          <p:nvPr/>
        </p:nvSpPr>
        <p:spPr>
          <a:xfrm xmlns:a="http://schemas.openxmlformats.org/drawingml/2006/main">
            <a:off x="571500" y="7515225"/>
            <a:ext cx="1409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A94D16"/>
                </a:solidFill>
                <a:latin typeface="Arial"/>
                <a:ea typeface="Arial"/>
                <a:cs typeface="Arial"/>
              </a:defRPr>
            </a:pPr>
            <a:r>
              <a:rPr sz="2700" b="1">
                <a:solidFill>
                  <a:srgbClr val="A94D16"/>
                </a:solidFill>
                <a:latin typeface="Arial"/>
                <a:ea typeface="Arial"/>
                <a:cs typeface="Arial"/>
              </a:rPr>
              <a:t>De € 120 normale ondernemersbeloning zit al in TK.</a:t>
            </a:r>
          </a:p>
        </p:txBody>
      </p:sp>
    </p:spTree>
    <p:extLst>
      <p:ext uri="{BB962C8B-B14F-4D97-AF65-F5344CB8AC3E}">
        <p14:creationId xmlns:p14="http://schemas.microsoft.com/office/powerpoint/2010/main" val="210868666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Opgave 7b · Waarom de prijs daalt">
            <a:extLst xmlns:a="http://schemas.openxmlformats.org/drawingml/2006/main">
              <a:ext uri="{FF2B5EF4-FFF2-40B4-BE49-F238E27FC236}">
                <a16:creationId xmlns:a16="http://schemas.microsoft.com/office/drawing/2014/main" id="{C28D9838-510C-43DB-AC44-B4729F61450F}"/>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Opgave 7b · Waarom de prijs daalt</a:t>
            </a:r>
          </a:p>
        </p:txBody>
      </p:sp>
      <p:sp>
        <p:nvSpPr>
          <p:cNvPr id="2" name="">
            <a:extLst xmlns:a="http://schemas.openxmlformats.org/drawingml/2006/main">
              <a:ext uri="{FF2B5EF4-FFF2-40B4-BE49-F238E27FC236}">
                <a16:creationId xmlns:a16="http://schemas.microsoft.com/office/drawing/2014/main" id="{7BF95701-369A-43C5-B35D-854977357FF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Doelopgave 7 · Boekpagina 14">
            <a:extLst xmlns:a="http://schemas.openxmlformats.org/drawingml/2006/main">
              <a:ext uri="{FF2B5EF4-FFF2-40B4-BE49-F238E27FC236}">
                <a16:creationId xmlns:a16="http://schemas.microsoft.com/office/drawing/2014/main" id="{B7B1B6BD-1BF5-40DF-A368-A888EC21FE8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Doelopgave 7 · Boekpagina 14</a:t>
            </a:r>
          </a:p>
        </p:txBody>
      </p:sp>
      <p:sp>
        <p:nvSpPr>
          <p:cNvPr id="4" name="slide-number">
            <a:extLst xmlns:a="http://schemas.openxmlformats.org/drawingml/2006/main">
              <a:ext uri="{FF2B5EF4-FFF2-40B4-BE49-F238E27FC236}">
                <a16:creationId xmlns:a16="http://schemas.microsoft.com/office/drawing/2014/main" id="{D79AE1C4-E743-47AF-9F5B-DA822ADB161A}"/>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23</a:t>
            </a:r>
          </a:p>
        </p:txBody>
      </p:sp>
      <p:sp>
        <p:nvSpPr>
          <p:cNvPr id="5" name="€ 250 overwinst">
            <a:extLst xmlns:a="http://schemas.openxmlformats.org/drawingml/2006/main">
              <a:ext uri="{FF2B5EF4-FFF2-40B4-BE49-F238E27FC236}">
                <a16:creationId xmlns:a16="http://schemas.microsoft.com/office/drawing/2014/main" id="{881F0632-C6E5-47AC-85DC-57170C039F03}"/>
              </a:ext>
            </a:extLst>
          </p:cNvPr>
          <p:cNvSpPr>
            <a:spLocks xmlns:a="http://schemas.openxmlformats.org/drawingml/2006/main" noGrp="1"/>
          </p:cNvSpPr>
          <p:nvPr/>
        </p:nvSpPr>
        <p:spPr>
          <a:xfrm xmlns:a="http://schemas.openxmlformats.org/drawingml/2006/main">
            <a:off x="571500" y="2219325"/>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€ 250 overwinst</a:t>
            </a:r>
          </a:p>
        </p:txBody>
      </p:sp>
      <p:sp>
        <p:nvSpPr>
          <p:cNvPr id="6" name="Nieuwe bedrijven kunnen dezelfde techniek gebruiken.">
            <a:extLst xmlns:a="http://schemas.openxmlformats.org/drawingml/2006/main">
              <a:ext uri="{FF2B5EF4-FFF2-40B4-BE49-F238E27FC236}">
                <a16:creationId xmlns:a16="http://schemas.microsoft.com/office/drawing/2014/main" id="{7BF6F64A-2D96-474B-B5BC-71B15EA1A916}"/>
              </a:ext>
            </a:extLst>
          </p:cNvPr>
          <p:cNvSpPr>
            <a:spLocks xmlns:a="http://schemas.openxmlformats.org/drawingml/2006/main" noGrp="1"/>
          </p:cNvSpPr>
          <p:nvPr/>
        </p:nvSpPr>
        <p:spPr>
          <a:xfrm xmlns:a="http://schemas.openxmlformats.org/drawingml/2006/main">
            <a:off x="6000750" y="2219325"/>
            <a:ext cx="866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Nieuwe bedrijven kunnen dezelfde techniek gebruiken.</a:t>
            </a:r>
          </a:p>
        </p:txBody>
      </p:sp>
      <p:sp>
        <p:nvSpPr>
          <p:cNvPr id="7" name="Vrije toetreding">
            <a:extLst xmlns:a="http://schemas.openxmlformats.org/drawingml/2006/main">
              <a:ext uri="{FF2B5EF4-FFF2-40B4-BE49-F238E27FC236}">
                <a16:creationId xmlns:a16="http://schemas.microsoft.com/office/drawing/2014/main" id="{D6C9F7EC-C308-43C3-B979-3CD4CC0FF37B}"/>
              </a:ext>
            </a:extLst>
          </p:cNvPr>
          <p:cNvSpPr>
            <a:spLocks xmlns:a="http://schemas.openxmlformats.org/drawingml/2006/main" noGrp="1"/>
          </p:cNvSpPr>
          <p:nvPr/>
        </p:nvSpPr>
        <p:spPr>
          <a:xfrm xmlns:a="http://schemas.openxmlformats.org/drawingml/2006/main">
            <a:off x="571500" y="3876675"/>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Vrije toetreding</a:t>
            </a:r>
          </a:p>
        </p:txBody>
      </p:sp>
      <p:sp>
        <p:nvSpPr>
          <p:cNvPr id="8" name="Meer aanbod bij elke prijs.">
            <a:extLst xmlns:a="http://schemas.openxmlformats.org/drawingml/2006/main">
              <a:ext uri="{FF2B5EF4-FFF2-40B4-BE49-F238E27FC236}">
                <a16:creationId xmlns:a16="http://schemas.microsoft.com/office/drawing/2014/main" id="{3D8ADD72-E1FB-423B-8B78-DD34873D1D77}"/>
              </a:ext>
            </a:extLst>
          </p:cNvPr>
          <p:cNvSpPr>
            <a:spLocks xmlns:a="http://schemas.openxmlformats.org/drawingml/2006/main" noGrp="1"/>
          </p:cNvSpPr>
          <p:nvPr/>
        </p:nvSpPr>
        <p:spPr>
          <a:xfrm xmlns:a="http://schemas.openxmlformats.org/drawingml/2006/main">
            <a:off x="6000750" y="3876675"/>
            <a:ext cx="866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Meer aanbod bij elke prijs.</a:t>
            </a:r>
          </a:p>
        </p:txBody>
      </p:sp>
      <p:sp>
        <p:nvSpPr>
          <p:cNvPr id="9" name="Vraag blijft gelijk">
            <a:extLst xmlns:a="http://schemas.openxmlformats.org/drawingml/2006/main">
              <a:ext uri="{FF2B5EF4-FFF2-40B4-BE49-F238E27FC236}">
                <a16:creationId xmlns:a16="http://schemas.microsoft.com/office/drawing/2014/main" id="{33F039AB-CF56-43B3-8324-EDF347E3617A}"/>
              </a:ext>
            </a:extLst>
          </p:cNvPr>
          <p:cNvSpPr>
            <a:spLocks xmlns:a="http://schemas.openxmlformats.org/drawingml/2006/main" noGrp="1"/>
          </p:cNvSpPr>
          <p:nvPr/>
        </p:nvSpPr>
        <p:spPr>
          <a:xfrm xmlns:a="http://schemas.openxmlformats.org/drawingml/2006/main">
            <a:off x="571500" y="5534025"/>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Vraag blijft gelijk</a:t>
            </a:r>
          </a:p>
        </p:txBody>
      </p:sp>
      <p:sp>
        <p:nvSpPr>
          <p:cNvPr id="10" name="Het nieuwe evenwicht heeft een lagere prijs.">
            <a:extLst xmlns:a="http://schemas.openxmlformats.org/drawingml/2006/main">
              <a:ext uri="{FF2B5EF4-FFF2-40B4-BE49-F238E27FC236}">
                <a16:creationId xmlns:a16="http://schemas.microsoft.com/office/drawing/2014/main" id="{FD563FC9-5D9A-4E55-B46B-990EDB0776F4}"/>
              </a:ext>
            </a:extLst>
          </p:cNvPr>
          <p:cNvSpPr>
            <a:spLocks xmlns:a="http://schemas.openxmlformats.org/drawingml/2006/main" noGrp="1"/>
          </p:cNvSpPr>
          <p:nvPr/>
        </p:nvSpPr>
        <p:spPr>
          <a:xfrm xmlns:a="http://schemas.openxmlformats.org/drawingml/2006/main">
            <a:off x="6000750" y="5534025"/>
            <a:ext cx="866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Het nieuwe evenwicht heeft een lagere prijs.</a:t>
            </a:r>
          </a:p>
        </p:txBody>
      </p:sp>
    </p:spTree>
    <p:extLst>
      <p:ext uri="{BB962C8B-B14F-4D97-AF65-F5344CB8AC3E}">
        <p14:creationId xmlns:p14="http://schemas.microsoft.com/office/powerpoint/2010/main" val="159216871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c · Het marktaanbod verschuift">
            <a:extLst xmlns:a="http://schemas.openxmlformats.org/drawingml/2006/main">
              <a:ext uri="{FF2B5EF4-FFF2-40B4-BE49-F238E27FC236}">
                <a16:creationId xmlns:a16="http://schemas.microsoft.com/office/drawing/2014/main" id="{E5DEDAED-28A6-4AEB-97C5-03997456E06F}"/>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Opgave 7c · Het marktaanbod verschuift</a:t>
            </a:r>
          </a:p>
        </p:txBody>
      </p:sp>
      <p:sp>
        <p:nvSpPr>
          <p:cNvPr id="2" name="">
            <a:extLst xmlns:a="http://schemas.openxmlformats.org/drawingml/2006/main">
              <a:ext uri="{FF2B5EF4-FFF2-40B4-BE49-F238E27FC236}">
                <a16:creationId xmlns:a16="http://schemas.microsoft.com/office/drawing/2014/main" id="{8319BB1C-FA7A-4241-AC8D-EC5CA6F3E51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Doelopgave 7 · Boekpagina 14">
            <a:extLst xmlns:a="http://schemas.openxmlformats.org/drawingml/2006/main">
              <a:ext uri="{FF2B5EF4-FFF2-40B4-BE49-F238E27FC236}">
                <a16:creationId xmlns:a16="http://schemas.microsoft.com/office/drawing/2014/main" id="{C4D2FC76-DAF3-44BF-A76E-6B412328AD1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Doelopgave 7 · Boekpagina 14</a:t>
            </a:r>
          </a:p>
        </p:txBody>
      </p:sp>
      <p:sp>
        <p:nvSpPr>
          <p:cNvPr id="4" name="slide-number">
            <a:extLst xmlns:a="http://schemas.openxmlformats.org/drawingml/2006/main">
              <a:ext uri="{FF2B5EF4-FFF2-40B4-BE49-F238E27FC236}">
                <a16:creationId xmlns:a16="http://schemas.microsoft.com/office/drawing/2014/main" id="{07EA4044-79CC-4221-81FC-A635AC5386B0}"/>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24</a:t>
            </a:r>
          </a:p>
        </p:txBody>
      </p:sp>
      <p:graphicFrame>
        <p:nvGraphicFramePr>
          <p:cNvPr id="13" name="Chart"/>
          <p:cNvGraphicFramePr/>
          <p:nvPr/>
        </p:nvGraphicFramePr>
        <p:xfrm>
          <a:off xmlns:a="http://schemas.openxmlformats.org/drawingml/2006/main" x="571500" y="2371725"/>
          <a:ext xmlns:a="http://schemas.openxmlformats.org/drawingml/2006/main" cx="9239250" cy="5238750"/>
        </p:xfrm>
        <a:graphic xmlns:a="http://schemas.openxmlformats.org/drawingml/2006/main">
          <a:graphicData uri="http://schemas.openxmlformats.org/drawingml/2006/chart">
            <c:chart xmlns:r="http://schemas.openxmlformats.org/officeDocument/2006/relationships" xmlns:c="http://schemas.openxmlformats.org/drawingml/2006/chart" r:id="R65fcf392d78a46a0"/>
          </a:graphicData>
        </a:graphic>
      </p:graphicFrame>
      <p:sp>
        <p:nvSpPr>
          <p:cNvPr id="6" name="Minimum GTK = € 8">
            <a:extLst xmlns:a="http://schemas.openxmlformats.org/drawingml/2006/main">
              <a:ext uri="{FF2B5EF4-FFF2-40B4-BE49-F238E27FC236}">
                <a16:creationId xmlns:a16="http://schemas.microsoft.com/office/drawing/2014/main" id="{F0ACDEF4-99DD-4F9C-9405-A364D7370F21}"/>
              </a:ext>
            </a:extLst>
          </p:cNvPr>
          <p:cNvSpPr>
            <a:spLocks xmlns:a="http://schemas.openxmlformats.org/drawingml/2006/main" noGrp="1"/>
          </p:cNvSpPr>
          <p:nvPr/>
        </p:nvSpPr>
        <p:spPr>
          <a:xfrm xmlns:a="http://schemas.openxmlformats.org/drawingml/2006/main">
            <a:off x="10191750" y="2105025"/>
            <a:ext cx="4429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Minimum GTK = € 8</a:t>
            </a:r>
          </a:p>
        </p:txBody>
      </p:sp>
      <p:sp>
        <p:nvSpPr>
          <p:cNvPr id="7" name="A₁ ligt rechts van A₀&#10;E₁ ligt op V bij P = 8&#10;&#10;Q: 15.000 naar&#10;    ">
            <a:extLst xmlns:a="http://schemas.openxmlformats.org/drawingml/2006/main">
              <a:ext uri="{FF2B5EF4-FFF2-40B4-BE49-F238E27FC236}">
                <a16:creationId xmlns:a16="http://schemas.microsoft.com/office/drawing/2014/main" id="{577D68C1-F7CB-4B2B-B34D-593089AB78F7}"/>
              </a:ext>
            </a:extLst>
          </p:cNvPr>
          <p:cNvSpPr>
            <a:spLocks xmlns:a="http://schemas.openxmlformats.org/drawingml/2006/main" noGrp="1"/>
          </p:cNvSpPr>
          <p:nvPr/>
        </p:nvSpPr>
        <p:spPr>
          <a:xfrm xmlns:a="http://schemas.openxmlformats.org/drawingml/2006/main">
            <a:off x="10191750" y="3333750"/>
            <a:ext cx="4429125" cy="2543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A₁ ligt rechts van A₀</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E₁ ligt op V bij P = 8</a:t>
            </a:r>
          </a:p>
          <a:p xmlns:a="http://schemas.openxmlformats.org/drawingml/2006/main">
            <a:r>
              <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Q: 15.000 naar</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     20.000 kg per week</a:t>
            </a:r>
          </a:p>
        </p:txBody>
      </p:sp>
      <p:sp>
        <p:nvSpPr>
          <p:cNvPr id="8" name="Vraaglijn V blijft staan.">
            <a:extLst xmlns:a="http://schemas.openxmlformats.org/drawingml/2006/main">
              <a:ext uri="{FF2B5EF4-FFF2-40B4-BE49-F238E27FC236}">
                <a16:creationId xmlns:a16="http://schemas.microsoft.com/office/drawing/2014/main" id="{50DC4A4A-AD83-49BD-96FA-EEFBE5B202C2}"/>
              </a:ext>
            </a:extLst>
          </p:cNvPr>
          <p:cNvSpPr>
            <a:spLocks xmlns:a="http://schemas.openxmlformats.org/drawingml/2006/main" noGrp="1"/>
          </p:cNvSpPr>
          <p:nvPr/>
        </p:nvSpPr>
        <p:spPr>
          <a:xfrm xmlns:a="http://schemas.openxmlformats.org/drawingml/2006/main">
            <a:off x="10191750" y="6972300"/>
            <a:ext cx="44291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Vraaglijn V blijft staan.</a:t>
            </a:r>
          </a:p>
        </p:txBody>
      </p:sp>
    </p:spTree>
    <p:extLst>
      <p:ext uri="{BB962C8B-B14F-4D97-AF65-F5344CB8AC3E}">
        <p14:creationId xmlns:p14="http://schemas.microsoft.com/office/powerpoint/2010/main" val="194471721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7c–d · De onderneming volgt de prijs">
            <a:extLst xmlns:a="http://schemas.openxmlformats.org/drawingml/2006/main">
              <a:ext uri="{FF2B5EF4-FFF2-40B4-BE49-F238E27FC236}">
                <a16:creationId xmlns:a16="http://schemas.microsoft.com/office/drawing/2014/main" id="{B6E95A06-C7B6-418A-BBB5-248EE895946F}"/>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Opgave 7c–d · De onderneming volgt de prijs</a:t>
            </a:r>
          </a:p>
        </p:txBody>
      </p:sp>
      <p:sp>
        <p:nvSpPr>
          <p:cNvPr id="2" name="">
            <a:extLst xmlns:a="http://schemas.openxmlformats.org/drawingml/2006/main">
              <a:ext uri="{FF2B5EF4-FFF2-40B4-BE49-F238E27FC236}">
                <a16:creationId xmlns:a16="http://schemas.microsoft.com/office/drawing/2014/main" id="{970DB6C7-858F-425B-8743-F104E176C47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Doelopgave 7 · Boekpagina 14">
            <a:extLst xmlns:a="http://schemas.openxmlformats.org/drawingml/2006/main">
              <a:ext uri="{FF2B5EF4-FFF2-40B4-BE49-F238E27FC236}">
                <a16:creationId xmlns:a16="http://schemas.microsoft.com/office/drawing/2014/main" id="{8414B96B-72A5-4254-A1A6-AF11F404F8C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Doelopgave 7 · Boekpagina 14</a:t>
            </a:r>
          </a:p>
        </p:txBody>
      </p:sp>
      <p:sp>
        <p:nvSpPr>
          <p:cNvPr id="4" name="slide-number">
            <a:extLst xmlns:a="http://schemas.openxmlformats.org/drawingml/2006/main">
              <a:ext uri="{FF2B5EF4-FFF2-40B4-BE49-F238E27FC236}">
                <a16:creationId xmlns:a16="http://schemas.microsoft.com/office/drawing/2014/main" id="{0FD06C06-9655-49DB-8104-E29C20A63CC6}"/>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25</a:t>
            </a:r>
          </a:p>
        </p:txBody>
      </p:sp>
      <p:sp>
        <p:nvSpPr>
          <p:cNvPr id="5" name="Elke prijslijn: P = GO = MO">
            <a:extLst xmlns:a="http://schemas.openxmlformats.org/drawingml/2006/main">
              <a:ext uri="{FF2B5EF4-FFF2-40B4-BE49-F238E27FC236}">
                <a16:creationId xmlns:a16="http://schemas.microsoft.com/office/drawing/2014/main" id="{927D5718-6DCB-4AD9-A1D7-B451975C7535}"/>
              </a:ext>
            </a:extLst>
          </p:cNvPr>
          <p:cNvSpPr>
            <a:spLocks xmlns:a="http://schemas.openxmlformats.org/drawingml/2006/main" noGrp="1"/>
          </p:cNvSpPr>
          <p:nvPr/>
        </p:nvSpPr>
        <p:spPr>
          <a:xfrm xmlns:a="http://schemas.openxmlformats.org/drawingml/2006/main">
            <a:off x="571500" y="2133600"/>
            <a:ext cx="9239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445B6B"/>
                </a:solidFill>
                <a:latin typeface="Arial"/>
                <a:ea typeface="Arial"/>
                <a:cs typeface="Arial"/>
              </a:defRPr>
            </a:pPr>
            <a:r>
              <a:rPr sz="1950" b="0">
                <a:solidFill>
                  <a:srgbClr val="445B6B"/>
                </a:solidFill>
                <a:latin typeface="Arial"/>
                <a:ea typeface="Arial"/>
                <a:cs typeface="Arial"/>
              </a:rPr>
              <a:t>Elke prijslijn: P = GO = MO</a:t>
            </a:r>
          </a:p>
        </p:txBody>
      </p:sp>
      <p:graphicFrame>
        <p:nvGraphicFramePr>
          <p:cNvPr id="15" name="Chart"/>
          <p:cNvGraphicFramePr/>
          <p:nvPr/>
        </p:nvGraphicFramePr>
        <p:xfrm>
          <a:off xmlns:a="http://schemas.openxmlformats.org/drawingml/2006/main" x="571500" y="2371725"/>
          <a:ext xmlns:a="http://schemas.openxmlformats.org/drawingml/2006/main" cx="9239250" cy="5238750"/>
        </p:xfrm>
        <a:graphic xmlns:a="http://schemas.openxmlformats.org/drawingml/2006/main">
          <a:graphicData uri="http://schemas.openxmlformats.org/drawingml/2006/chart">
            <c:chart xmlns:r="http://schemas.openxmlformats.org/officeDocument/2006/relationships" xmlns:c="http://schemas.openxmlformats.org/drawingml/2006/chart" r:id="Rf3a43849a2bf4751"/>
          </a:graphicData>
        </a:graphic>
      </p:graphicFrame>
      <p:sp>
        <p:nvSpPr>
          <p:cNvPr id="7" name="Nieuwe prijslijn&#10;P = GO = MO = 8">
            <a:extLst xmlns:a="http://schemas.openxmlformats.org/drawingml/2006/main">
              <a:ext uri="{FF2B5EF4-FFF2-40B4-BE49-F238E27FC236}">
                <a16:creationId xmlns:a16="http://schemas.microsoft.com/office/drawing/2014/main" id="{DF6B097B-A11F-411D-A4CE-76F0593F20C8}"/>
              </a:ext>
            </a:extLst>
          </p:cNvPr>
          <p:cNvSpPr>
            <a:spLocks xmlns:a="http://schemas.openxmlformats.org/drawingml/2006/main" noGrp="1"/>
          </p:cNvSpPr>
          <p:nvPr/>
        </p:nvSpPr>
        <p:spPr>
          <a:xfrm xmlns:a="http://schemas.openxmlformats.org/drawingml/2006/main">
            <a:off x="10191750" y="2105025"/>
            <a:ext cx="44291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Nieuwe prijslijn</a:t>
            </a:r>
          </a:p>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P = GO = MO = 8</a:t>
            </a:r>
          </a:p>
        </p:txBody>
      </p:sp>
      <p:sp>
        <p:nvSpPr>
          <p:cNvPr id="8" name="MK en GTK blijven staan.&#10;&#10;8 = 0,04q + 4&#10;q = 100 kg per week">
            <a:extLst xmlns:a="http://schemas.openxmlformats.org/drawingml/2006/main">
              <a:ext uri="{FF2B5EF4-FFF2-40B4-BE49-F238E27FC236}">
                <a16:creationId xmlns:a16="http://schemas.microsoft.com/office/drawing/2014/main" id="{D2CC6273-59BA-4498-96AF-A1547CBA50DD}"/>
              </a:ext>
            </a:extLst>
          </p:cNvPr>
          <p:cNvSpPr>
            <a:spLocks xmlns:a="http://schemas.openxmlformats.org/drawingml/2006/main" noGrp="1"/>
          </p:cNvSpPr>
          <p:nvPr/>
        </p:nvSpPr>
        <p:spPr>
          <a:xfrm xmlns:a="http://schemas.openxmlformats.org/drawingml/2006/main">
            <a:off x="10191750" y="3819525"/>
            <a:ext cx="4429125" cy="2305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MK en GTK blijven staan.</a:t>
            </a:r>
          </a:p>
          <a:p xmlns:a="http://schemas.openxmlformats.org/drawingml/2006/main">
            <a:r>
              <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8 = 0,04q + 4</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q = 100 kg per week</a:t>
            </a:r>
          </a:p>
        </p:txBody>
      </p:sp>
      <p:sp>
        <p:nvSpPr>
          <p:cNvPr id="9" name="P = MK = minimum GTK">
            <a:extLst xmlns:a="http://schemas.openxmlformats.org/drawingml/2006/main">
              <a:ext uri="{FF2B5EF4-FFF2-40B4-BE49-F238E27FC236}">
                <a16:creationId xmlns:a16="http://schemas.microsoft.com/office/drawing/2014/main" id="{F62817C0-F963-40B5-AA0E-1AD563299EF4}"/>
              </a:ext>
            </a:extLst>
          </p:cNvPr>
          <p:cNvSpPr>
            <a:spLocks xmlns:a="http://schemas.openxmlformats.org/drawingml/2006/main" noGrp="1"/>
          </p:cNvSpPr>
          <p:nvPr/>
        </p:nvSpPr>
        <p:spPr>
          <a:xfrm xmlns:a="http://schemas.openxmlformats.org/drawingml/2006/main">
            <a:off x="10191750" y="7153275"/>
            <a:ext cx="44291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P = MK = minimum GTK</a:t>
            </a:r>
          </a:p>
        </p:txBody>
      </p:sp>
    </p:spTree>
    <p:extLst>
      <p:ext uri="{BB962C8B-B14F-4D97-AF65-F5344CB8AC3E}">
        <p14:creationId xmlns:p14="http://schemas.microsoft.com/office/powerpoint/2010/main" val="2053447597"/>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Opgave 7d · De nulwinst controleren">
            <a:extLst xmlns:a="http://schemas.openxmlformats.org/drawingml/2006/main">
              <a:ext uri="{FF2B5EF4-FFF2-40B4-BE49-F238E27FC236}">
                <a16:creationId xmlns:a16="http://schemas.microsoft.com/office/drawing/2014/main" id="{E163AF6E-F881-41C3-8B67-BFA74C61370E}"/>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Opgave 7d · De nulwinst controleren</a:t>
            </a:r>
          </a:p>
        </p:txBody>
      </p:sp>
      <p:sp>
        <p:nvSpPr>
          <p:cNvPr id="2" name="">
            <a:extLst xmlns:a="http://schemas.openxmlformats.org/drawingml/2006/main">
              <a:ext uri="{FF2B5EF4-FFF2-40B4-BE49-F238E27FC236}">
                <a16:creationId xmlns:a16="http://schemas.microsoft.com/office/drawing/2014/main" id="{0C34D4F4-BEDA-46D9-A74C-EC7DB58C460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Doelopgave 7 · Boekpagina 14">
            <a:extLst xmlns:a="http://schemas.openxmlformats.org/drawingml/2006/main">
              <a:ext uri="{FF2B5EF4-FFF2-40B4-BE49-F238E27FC236}">
                <a16:creationId xmlns:a16="http://schemas.microsoft.com/office/drawing/2014/main" id="{4A54A0A9-DE4F-4E38-AB66-1E12CF565831}"/>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Doelopgave 7 · Boekpagina 14</a:t>
            </a:r>
          </a:p>
        </p:txBody>
      </p:sp>
      <p:sp>
        <p:nvSpPr>
          <p:cNvPr id="4" name="slide-number">
            <a:extLst xmlns:a="http://schemas.openxmlformats.org/drawingml/2006/main">
              <a:ext uri="{FF2B5EF4-FFF2-40B4-BE49-F238E27FC236}">
                <a16:creationId xmlns:a16="http://schemas.microsoft.com/office/drawing/2014/main" id="{ECDFF263-1206-400E-8477-866C45A6AB7C}"/>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26</a:t>
            </a:r>
          </a:p>
        </p:txBody>
      </p:sp>
      <p:sp>
        <p:nvSpPr>
          <p:cNvPr id="5" name="P = € 8 per kg en q = 100 kg per week">
            <a:extLst xmlns:a="http://schemas.openxmlformats.org/drawingml/2006/main">
              <a:ext uri="{FF2B5EF4-FFF2-40B4-BE49-F238E27FC236}">
                <a16:creationId xmlns:a16="http://schemas.microsoft.com/office/drawing/2014/main" id="{29AE0CB0-2D8F-426E-92D3-3AA658192EEA}"/>
              </a:ext>
            </a:extLst>
          </p:cNvPr>
          <p:cNvSpPr>
            <a:spLocks xmlns:a="http://schemas.openxmlformats.org/drawingml/2006/main" noGrp="1"/>
          </p:cNvSpPr>
          <p:nvPr/>
        </p:nvSpPr>
        <p:spPr>
          <a:xfrm xmlns:a="http://schemas.openxmlformats.org/drawingml/2006/main">
            <a:off x="571500" y="2009775"/>
            <a:ext cx="14097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P = € 8 per kg en q = 100 kg per week</a:t>
            </a:r>
          </a:p>
        </p:txBody>
      </p:sp>
      <p:sp>
        <p:nvSpPr>
          <p:cNvPr id="6" name="Totale opbrengst">
            <a:extLst xmlns:a="http://schemas.openxmlformats.org/drawingml/2006/main">
              <a:ext uri="{FF2B5EF4-FFF2-40B4-BE49-F238E27FC236}">
                <a16:creationId xmlns:a16="http://schemas.microsoft.com/office/drawing/2014/main" id="{4E28B05D-C1BC-4826-BD1B-E0C168ACCB44}"/>
              </a:ext>
            </a:extLst>
          </p:cNvPr>
          <p:cNvSpPr>
            <a:spLocks xmlns:a="http://schemas.openxmlformats.org/drawingml/2006/main" noGrp="1"/>
          </p:cNvSpPr>
          <p:nvPr/>
        </p:nvSpPr>
        <p:spPr>
          <a:xfrm xmlns:a="http://schemas.openxmlformats.org/drawingml/2006/main">
            <a:off x="571500" y="3162300"/>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Totale opbrengst</a:t>
            </a:r>
          </a:p>
        </p:txBody>
      </p:sp>
      <p:sp>
        <p:nvSpPr>
          <p:cNvPr id="7" name="TO = 8 × 100 = € 800 per week">
            <a:extLst xmlns:a="http://schemas.openxmlformats.org/drawingml/2006/main">
              <a:ext uri="{FF2B5EF4-FFF2-40B4-BE49-F238E27FC236}">
                <a16:creationId xmlns:a16="http://schemas.microsoft.com/office/drawing/2014/main" id="{8F140DFF-2B92-4C79-ADA8-9A0D00C3046C}"/>
              </a:ext>
            </a:extLst>
          </p:cNvPr>
          <p:cNvSpPr>
            <a:spLocks xmlns:a="http://schemas.openxmlformats.org/drawingml/2006/main" noGrp="1"/>
          </p:cNvSpPr>
          <p:nvPr/>
        </p:nvSpPr>
        <p:spPr>
          <a:xfrm xmlns:a="http://schemas.openxmlformats.org/drawingml/2006/main">
            <a:off x="6000750" y="3162300"/>
            <a:ext cx="866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TO = 8 × 100 = € 800 per week</a:t>
            </a:r>
          </a:p>
        </p:txBody>
      </p:sp>
      <p:sp>
        <p:nvSpPr>
          <p:cNvPr id="8" name="Totale kosten">
            <a:extLst xmlns:a="http://schemas.openxmlformats.org/drawingml/2006/main">
              <a:ext uri="{FF2B5EF4-FFF2-40B4-BE49-F238E27FC236}">
                <a16:creationId xmlns:a16="http://schemas.microsoft.com/office/drawing/2014/main" id="{7E2D9BF7-B248-4879-93D1-545885DA1DCF}"/>
              </a:ext>
            </a:extLst>
          </p:cNvPr>
          <p:cNvSpPr>
            <a:spLocks xmlns:a="http://schemas.openxmlformats.org/drawingml/2006/main" noGrp="1"/>
          </p:cNvSpPr>
          <p:nvPr/>
        </p:nvSpPr>
        <p:spPr>
          <a:xfrm xmlns:a="http://schemas.openxmlformats.org/drawingml/2006/main">
            <a:off x="571500" y="4657725"/>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Totale kosten</a:t>
            </a:r>
          </a:p>
        </p:txBody>
      </p:sp>
      <p:sp>
        <p:nvSpPr>
          <p:cNvPr id="9" name="TK = 0,02 × 100² + 4 × 100 + 200&#10;     = 200 + 400 + 200 = € 800 p">
            <a:extLst xmlns:a="http://schemas.openxmlformats.org/drawingml/2006/main">
              <a:ext uri="{FF2B5EF4-FFF2-40B4-BE49-F238E27FC236}">
                <a16:creationId xmlns:a16="http://schemas.microsoft.com/office/drawing/2014/main" id="{B9F882C1-4D4E-4A0E-9ACF-88C3E39AF420}"/>
              </a:ext>
            </a:extLst>
          </p:cNvPr>
          <p:cNvSpPr>
            <a:spLocks xmlns:a="http://schemas.openxmlformats.org/drawingml/2006/main" noGrp="1"/>
          </p:cNvSpPr>
          <p:nvPr/>
        </p:nvSpPr>
        <p:spPr>
          <a:xfrm xmlns:a="http://schemas.openxmlformats.org/drawingml/2006/main">
            <a:off x="6000750" y="4657725"/>
            <a:ext cx="866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TK = 0,02 × 100² + 4 × 100 + 200</a:t>
            </a:r>
          </a:p>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     = 200 + 400 + 200 = € 800 per week</a:t>
            </a:r>
          </a:p>
        </p:txBody>
      </p:sp>
      <p:sp>
        <p:nvSpPr>
          <p:cNvPr id="10" name="Economische winst">
            <a:extLst xmlns:a="http://schemas.openxmlformats.org/drawingml/2006/main">
              <a:ext uri="{FF2B5EF4-FFF2-40B4-BE49-F238E27FC236}">
                <a16:creationId xmlns:a16="http://schemas.microsoft.com/office/drawing/2014/main" id="{80910908-2DFB-4130-83E4-66A0726D9FE4}"/>
              </a:ext>
            </a:extLst>
          </p:cNvPr>
          <p:cNvSpPr>
            <a:spLocks xmlns:a="http://schemas.openxmlformats.org/drawingml/2006/main" noGrp="1"/>
          </p:cNvSpPr>
          <p:nvPr/>
        </p:nvSpPr>
        <p:spPr>
          <a:xfrm xmlns:a="http://schemas.openxmlformats.org/drawingml/2006/main">
            <a:off x="571500" y="6153150"/>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Economische winst</a:t>
            </a:r>
          </a:p>
        </p:txBody>
      </p:sp>
      <p:sp>
        <p:nvSpPr>
          <p:cNvPr id="11" name="800 − 800 = € 0 per week">
            <a:extLst xmlns:a="http://schemas.openxmlformats.org/drawingml/2006/main">
              <a:ext uri="{FF2B5EF4-FFF2-40B4-BE49-F238E27FC236}">
                <a16:creationId xmlns:a16="http://schemas.microsoft.com/office/drawing/2014/main" id="{0FB2EBD3-2A80-4864-B3DC-9CF5C07F65FB}"/>
              </a:ext>
            </a:extLst>
          </p:cNvPr>
          <p:cNvSpPr>
            <a:spLocks xmlns:a="http://schemas.openxmlformats.org/drawingml/2006/main" noGrp="1"/>
          </p:cNvSpPr>
          <p:nvPr/>
        </p:nvSpPr>
        <p:spPr>
          <a:xfrm xmlns:a="http://schemas.openxmlformats.org/drawingml/2006/main">
            <a:off x="6000750" y="6153150"/>
            <a:ext cx="866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800 − 800 = € 0 per week</a:t>
            </a:r>
          </a:p>
        </p:txBody>
      </p:sp>
      <p:sp>
        <p:nvSpPr>
          <p:cNvPr id="12" name="Controle: GTK = 800 / 100 = € 8 per kg = P">
            <a:extLst xmlns:a="http://schemas.openxmlformats.org/drawingml/2006/main">
              <a:ext uri="{FF2B5EF4-FFF2-40B4-BE49-F238E27FC236}">
                <a16:creationId xmlns:a16="http://schemas.microsoft.com/office/drawing/2014/main" id="{BDC8920D-661F-4E97-BE99-6A0BECBFD3B9}"/>
              </a:ext>
            </a:extLst>
          </p:cNvPr>
          <p:cNvSpPr>
            <a:spLocks xmlns:a="http://schemas.openxmlformats.org/drawingml/2006/main" noGrp="1"/>
          </p:cNvSpPr>
          <p:nvPr/>
        </p:nvSpPr>
        <p:spPr>
          <a:xfrm xmlns:a="http://schemas.openxmlformats.org/drawingml/2006/main">
            <a:off x="571500" y="7581900"/>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Controle: GTK = 800 / 100 = € 8 per kg = P</a:t>
            </a:r>
          </a:p>
        </p:txBody>
      </p:sp>
    </p:spTree>
    <p:extLst>
      <p:ext uri="{BB962C8B-B14F-4D97-AF65-F5344CB8AC3E}">
        <p14:creationId xmlns:p14="http://schemas.microsoft.com/office/powerpoint/2010/main" val="782627661"/>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Opgave 7e · Omzet en beloning blijven">
            <a:extLst xmlns:a="http://schemas.openxmlformats.org/drawingml/2006/main">
              <a:ext uri="{FF2B5EF4-FFF2-40B4-BE49-F238E27FC236}">
                <a16:creationId xmlns:a16="http://schemas.microsoft.com/office/drawing/2014/main" id="{C87B29FD-7DB7-4F24-B53A-2034ED9F5C5F}"/>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Opgave 7e · Omzet en beloning blijven</a:t>
            </a:r>
          </a:p>
        </p:txBody>
      </p:sp>
      <p:sp>
        <p:nvSpPr>
          <p:cNvPr id="2" name="">
            <a:extLst xmlns:a="http://schemas.openxmlformats.org/drawingml/2006/main">
              <a:ext uri="{FF2B5EF4-FFF2-40B4-BE49-F238E27FC236}">
                <a16:creationId xmlns:a16="http://schemas.microsoft.com/office/drawing/2014/main" id="{3D58BCB3-5086-48E3-B9C6-9DFE8AA47FB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Doelopgave 7 · Boekpagina 14">
            <a:extLst xmlns:a="http://schemas.openxmlformats.org/drawingml/2006/main">
              <a:ext uri="{FF2B5EF4-FFF2-40B4-BE49-F238E27FC236}">
                <a16:creationId xmlns:a16="http://schemas.microsoft.com/office/drawing/2014/main" id="{47E60FFB-AF27-4999-BC10-45C5009A40F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Doelopgave 7 · Boekpagina 14</a:t>
            </a:r>
          </a:p>
        </p:txBody>
      </p:sp>
      <p:sp>
        <p:nvSpPr>
          <p:cNvPr id="4" name="slide-number">
            <a:extLst xmlns:a="http://schemas.openxmlformats.org/drawingml/2006/main">
              <a:ext uri="{FF2B5EF4-FFF2-40B4-BE49-F238E27FC236}">
                <a16:creationId xmlns:a16="http://schemas.microsoft.com/office/drawing/2014/main" id="{CCB68FD0-6613-4C60-8CC0-DB8DB1A35CC9}"/>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27</a:t>
            </a:r>
          </a:p>
        </p:txBody>
      </p:sp>
      <p:graphicFrame>
        <p:nvGraphicFramePr>
          <p:cNvPr id="11" name=""/>
          <p:cNvGraphicFramePr/>
          <p:nvPr/>
        </p:nvGraphicFramePr>
        <p:xfrm>
          <a:off xmlns:a="http://schemas.openxmlformats.org/drawingml/2006/main" x="571500" y="2371725"/>
          <a:ext xmlns:a="http://schemas.openxmlformats.org/drawingml/2006/main" cx="14097000" cy="3467100"/>
        </p:xfrm>
        <a:graphic xmlns:a="http://schemas.openxmlformats.org/drawingml/2006/main">
          <a:graphicData uri="http://schemas.openxmlformats.org/drawingml/2006/table">
            <a:tbl>
              <a:tblPr/>
              <a:tblGrid>
                <a:gridCol w="6238875"/>
                <a:gridCol w="7858125"/>
              </a:tblGrid>
              <a:tr h="1155700">
                <a:tc>
                  <a:txBody>
                    <a:bodyPr lIns="171450" tIns="95250" rIns="152400" bIns="95250"/>
                    <a:lstStyle/>
                    <a:p>
                      <a:r>
                        <a:rPr sz="2625" b="1">
                          <a:solidFill>
                            <a:srgbClr val="FFFFFF"/>
                          </a:solidFill>
                          <a:latin typeface="Arial"/>
                          <a:ea typeface="Arial"/>
                          <a:cs typeface="Arial"/>
                        </a:rPr>
                        <a:t>Bewering</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Weerlegging met de gegevens</a:t>
                      </a:r>
                    </a:p>
                  </a:txBody>
                  <a:tcPr marL="91440" marR="91440" marT="45720" marB="45720" anchor="ctr">
                    <a:solidFill>
                      <a:srgbClr val="183247"/>
                    </a:solidFill>
                  </a:tcPr>
                </a:tc>
              </a:tr>
              <a:tr h="1155700">
                <a:tc>
                  <a:txBody>
                    <a:bodyPr lIns="171450" tIns="95250" rIns="152400" bIns="95250"/>
                    <a:lstStyle/>
                    <a:p>
                      <a:r>
                        <a:rPr sz="2625" b="0">
                          <a:solidFill>
                            <a:srgbClr val="183247"/>
                          </a:solidFill>
                          <a:latin typeface="Arial"/>
                          <a:ea typeface="Arial"/>
                          <a:cs typeface="Arial"/>
                        </a:rPr>
                        <a:t>“De ondernemer verdient niets.”</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€ 120 normale beloning per week zit in TK.</a:t>
                      </a:r>
                    </a:p>
                    <a:p>
                      <a:r>
                        <a:rPr sz="2625" b="0">
                          <a:solidFill>
                            <a:srgbClr val="183247"/>
                          </a:solidFill>
                          <a:latin typeface="Arial"/>
                          <a:ea typeface="Arial"/>
                          <a:cs typeface="Arial"/>
                        </a:rPr>
                        <a:t>Deze beloning wordt nog betaald.</a:t>
                      </a:r>
                    </a:p>
                  </a:txBody>
                  <a:tcPr marL="91440" marR="91440" marT="45720" marB="45720" anchor="ctr">
                    <a:solidFill>
                      <a:srgbClr val="FFFFFF"/>
                    </a:solidFill>
                  </a:tcPr>
                </a:tc>
              </a:tr>
              <a:tr h="1155700">
                <a:tc>
                  <a:txBody>
                    <a:bodyPr lIns="171450" tIns="95250" rIns="152400" bIns="95250"/>
                    <a:lstStyle/>
                    <a:p>
                      <a:r>
                        <a:rPr sz="2625" b="0">
                          <a:solidFill>
                            <a:srgbClr val="183247"/>
                          </a:solidFill>
                          <a:latin typeface="Arial"/>
                          <a:ea typeface="Arial"/>
                          <a:cs typeface="Arial"/>
                        </a:rPr>
                        <a:t>“De omzet is verdwenen.”</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TO = 8 × 100 = € 800 per week.</a:t>
                      </a:r>
                    </a:p>
                    <a:p>
                      <a:r>
                        <a:rPr sz="2625" b="0">
                          <a:solidFill>
                            <a:srgbClr val="183247"/>
                          </a:solidFill>
                          <a:latin typeface="Arial"/>
                          <a:ea typeface="Arial"/>
                          <a:cs typeface="Arial"/>
                        </a:rPr>
                        <a:t>Er worden nog koffiebonen verkocht.</a:t>
                      </a:r>
                    </a:p>
                  </a:txBody>
                  <a:tcPr marL="91440" marR="91440" marT="45720" marB="45720" anchor="ctr">
                    <a:solidFill>
                      <a:srgbClr val="EFF4F7"/>
                    </a:solidFill>
                  </a:tcPr>
                </a:tc>
              </a:tr>
            </a:tbl>
          </a:graphicData>
        </a:graphic>
      </p:graphicFrame>
      <p:sp>
        <p:nvSpPr>
          <p:cNvPr id="6" name="Alleen de extra economische winst is nul.">
            <a:extLst xmlns:a="http://schemas.openxmlformats.org/drawingml/2006/main">
              <a:ext uri="{FF2B5EF4-FFF2-40B4-BE49-F238E27FC236}">
                <a16:creationId xmlns:a16="http://schemas.microsoft.com/office/drawing/2014/main" id="{A5FC485A-259A-4ABC-B021-A2D661F3F427}"/>
              </a:ext>
            </a:extLst>
          </p:cNvPr>
          <p:cNvSpPr>
            <a:spLocks xmlns:a="http://schemas.openxmlformats.org/drawingml/2006/main" noGrp="1"/>
          </p:cNvSpPr>
          <p:nvPr/>
        </p:nvSpPr>
        <p:spPr>
          <a:xfrm xmlns:a="http://schemas.openxmlformats.org/drawingml/2006/main">
            <a:off x="571500" y="6905625"/>
            <a:ext cx="14097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17658A"/>
                </a:solidFill>
                <a:latin typeface="Arial"/>
                <a:ea typeface="Arial"/>
                <a:cs typeface="Arial"/>
              </a:defRPr>
            </a:pPr>
            <a:r>
              <a:rPr sz="3525" b="1">
                <a:solidFill>
                  <a:srgbClr val="17658A"/>
                </a:solidFill>
                <a:latin typeface="Arial"/>
                <a:ea typeface="Arial"/>
                <a:cs typeface="Arial"/>
              </a:rPr>
              <a:t>Alleen de extra economische winst is nul.</a:t>
            </a:r>
          </a:p>
        </p:txBody>
      </p:sp>
    </p:spTree>
    <p:extLst>
      <p:ext uri="{BB962C8B-B14F-4D97-AF65-F5344CB8AC3E}">
        <p14:creationId xmlns:p14="http://schemas.microsoft.com/office/powerpoint/2010/main" val="122855685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4.1.1 Hoe lang blijft de winst?">
            <a:extLst xmlns:a="http://schemas.openxmlformats.org/drawingml/2006/main">
              <a:ext uri="{FF2B5EF4-FFF2-40B4-BE49-F238E27FC236}">
                <a16:creationId xmlns:a16="http://schemas.microsoft.com/office/drawing/2014/main" id="{2F0E1772-3F0E-4684-97E1-1655EE0C8273}"/>
              </a:ext>
            </a:extLst>
          </p:cNvPr>
          <p:cNvSpPr>
            <a:spLocks xmlns:a="http://schemas.openxmlformats.org/drawingml/2006/main" noGrp="1"/>
          </p:cNvSpPr>
          <p:nvPr/>
        </p:nvSpPr>
        <p:spPr>
          <a:xfrm xmlns:a="http://schemas.openxmlformats.org/drawingml/2006/main">
            <a:off x="571500" y="3810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Deze les: §4.1.1 Hoe lang blijft de winst?</a:t>
            </a:r>
          </a:p>
        </p:txBody>
      </p:sp>
      <p:sp>
        <p:nvSpPr>
          <p:cNvPr id="2" name="">
            <a:extLst xmlns:a="http://schemas.openxmlformats.org/drawingml/2006/main">
              <a:ext uri="{FF2B5EF4-FFF2-40B4-BE49-F238E27FC236}">
                <a16:creationId xmlns:a16="http://schemas.microsoft.com/office/drawing/2014/main" id="{F1EC4A29-7CB2-4221-901E-0DFDCB220EB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1.1 · Hoe lang blijft de winst?">
            <a:extLst xmlns:a="http://schemas.openxmlformats.org/drawingml/2006/main">
              <a:ext uri="{FF2B5EF4-FFF2-40B4-BE49-F238E27FC236}">
                <a16:creationId xmlns:a16="http://schemas.microsoft.com/office/drawing/2014/main" id="{62CD169A-07CF-4CC4-B3FE-1D07AAED028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§4.1.1 · Hoe lang blijft de winst?</a:t>
            </a:r>
          </a:p>
        </p:txBody>
      </p:sp>
      <p:sp>
        <p:nvSpPr>
          <p:cNvPr id="4" name="slide-number">
            <a:extLst xmlns:a="http://schemas.openxmlformats.org/drawingml/2006/main">
              <a:ext uri="{FF2B5EF4-FFF2-40B4-BE49-F238E27FC236}">
                <a16:creationId xmlns:a16="http://schemas.microsoft.com/office/drawing/2014/main" id="{A72249D9-8042-49E4-8788-B3384B2254AC}"/>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445B6B"/>
                </a:solidFill>
                <a:latin typeface="Arial"/>
                <a:ea typeface="Arial"/>
                <a:cs typeface="Arial"/>
              </a:defRPr>
            </a:pPr>
            <a:r>
              <a:rPr sz="1575" b="0">
                <a:solidFill>
                  <a:srgbClr val="445B6B"/>
                </a:solidFill>
                <a:latin typeface="Arial"/>
                <a:ea typeface="Arial"/>
                <a:cs typeface="Arial"/>
              </a:rPr>
              <a:t>28</a:t>
            </a:r>
          </a:p>
        </p:txBody>
      </p:sp>
      <p:sp>
        <p:nvSpPr>
          <p:cNvPr id="5" name="phase">
            <a:extLst xmlns:a="http://schemas.openxmlformats.org/drawingml/2006/main">
              <a:ext uri="{FF2B5EF4-FFF2-40B4-BE49-F238E27FC236}">
                <a16:creationId xmlns:a16="http://schemas.microsoft.com/office/drawing/2014/main" id="{0FAE4BCE-162A-4A88-BE0B-45C48FCCC6ED}"/>
              </a:ext>
            </a:extLst>
          </p:cNvPr>
          <p:cNvSpPr>
            <a:spLocks xmlns:a="http://schemas.openxmlformats.org/drawingml/2006/main" noGrp="1"/>
          </p:cNvSpPr>
          <p:nvPr/>
        </p:nvSpPr>
        <p:spPr>
          <a:xfrm xmlns:a="http://schemas.openxmlformats.org/drawingml/2006/main">
            <a:off x="571500" y="1019175"/>
            <a:ext cx="14001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Afsluiting / huiswerk</a:t>
            </a:r>
          </a:p>
        </p:txBody>
      </p:sp>
      <p:sp>
        <p:nvSpPr>
          <p:cNvPr id="6" name="Lesroute">
            <a:extLst xmlns:a="http://schemas.openxmlformats.org/drawingml/2006/main">
              <a:ext uri="{FF2B5EF4-FFF2-40B4-BE49-F238E27FC236}">
                <a16:creationId xmlns:a16="http://schemas.microsoft.com/office/drawing/2014/main" id="{0A82E23A-2588-4C1A-A8EA-97CB19DAB064}"/>
              </a:ext>
            </a:extLst>
          </p:cNvPr>
          <p:cNvSpPr>
            <a:spLocks xmlns:a="http://schemas.openxmlformats.org/drawingml/2006/main" noGrp="1"/>
          </p:cNvSpPr>
          <p:nvPr/>
        </p:nvSpPr>
        <p:spPr>
          <a:xfrm xmlns:a="http://schemas.openxmlformats.org/drawingml/2006/main">
            <a:off x="571500" y="1714500"/>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0">
            <a:extLst xmlns:a="http://schemas.openxmlformats.org/drawingml/2006/main">
              <a:ext uri="{FF2B5EF4-FFF2-40B4-BE49-F238E27FC236}">
                <a16:creationId xmlns:a16="http://schemas.microsoft.com/office/drawing/2014/main" id="{A0436764-39F0-4717-9349-A2A3428FACCD}"/>
              </a:ext>
            </a:extLst>
          </p:cNvPr>
          <p:cNvSpPr>
            <a:spLocks xmlns:a="http://schemas.openxmlformats.org/drawingml/2006/main" noGrp="1"/>
          </p:cNvSpPr>
          <p:nvPr/>
        </p:nvSpPr>
        <p:spPr>
          <a:xfrm xmlns:a="http://schemas.openxmlformats.org/drawingml/2006/main">
            <a:off x="571500" y="2276475"/>
            <a:ext cx="457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0">
            <a:extLst xmlns:a="http://schemas.openxmlformats.org/drawingml/2006/main">
              <a:ext uri="{FF2B5EF4-FFF2-40B4-BE49-F238E27FC236}">
                <a16:creationId xmlns:a16="http://schemas.microsoft.com/office/drawing/2014/main" id="{23FD6733-0416-478B-81C6-625FA7217ED7}"/>
              </a:ext>
            </a:extLst>
          </p:cNvPr>
          <p:cNvSpPr>
            <a:spLocks xmlns:a="http://schemas.openxmlformats.org/drawingml/2006/main" noGrp="1"/>
          </p:cNvSpPr>
          <p:nvPr/>
        </p:nvSpPr>
        <p:spPr>
          <a:xfrm xmlns:a="http://schemas.openxmlformats.org/drawingml/2006/main">
            <a:off x="1104900" y="2276475"/>
            <a:ext cx="7419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1">
            <a:extLst xmlns:a="http://schemas.openxmlformats.org/drawingml/2006/main">
              <a:ext uri="{FF2B5EF4-FFF2-40B4-BE49-F238E27FC236}">
                <a16:creationId xmlns:a16="http://schemas.microsoft.com/office/drawing/2014/main" id="{4DC0C436-B4BB-48B2-BC0C-07E202311116}"/>
              </a:ext>
            </a:extLst>
          </p:cNvPr>
          <p:cNvSpPr>
            <a:spLocks xmlns:a="http://schemas.openxmlformats.org/drawingml/2006/main" noGrp="1"/>
          </p:cNvSpPr>
          <p:nvPr/>
        </p:nvSpPr>
        <p:spPr>
          <a:xfrm xmlns:a="http://schemas.openxmlformats.org/drawingml/2006/main">
            <a:off x="571500" y="3143250"/>
            <a:ext cx="45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1">
            <a:extLst xmlns:a="http://schemas.openxmlformats.org/drawingml/2006/main">
              <a:ext uri="{FF2B5EF4-FFF2-40B4-BE49-F238E27FC236}">
                <a16:creationId xmlns:a16="http://schemas.microsoft.com/office/drawing/2014/main" id="{26093AEC-791C-4614-9E86-9C72AC6D3137}"/>
              </a:ext>
            </a:extLst>
          </p:cNvPr>
          <p:cNvSpPr>
            <a:spLocks xmlns:a="http://schemas.openxmlformats.org/drawingml/2006/main" noGrp="1"/>
          </p:cNvSpPr>
          <p:nvPr/>
        </p:nvSpPr>
        <p:spPr>
          <a:xfrm xmlns:a="http://schemas.openxmlformats.org/drawingml/2006/main">
            <a:off x="1104900" y="3143250"/>
            <a:ext cx="74199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2">
            <a:extLst xmlns:a="http://schemas.openxmlformats.org/drawingml/2006/main">
              <a:ext uri="{FF2B5EF4-FFF2-40B4-BE49-F238E27FC236}">
                <a16:creationId xmlns:a16="http://schemas.microsoft.com/office/drawing/2014/main" id="{1DE83CF8-EEDB-41E5-AACC-FE1E66890725}"/>
              </a:ext>
            </a:extLst>
          </p:cNvPr>
          <p:cNvSpPr>
            <a:spLocks xmlns:a="http://schemas.openxmlformats.org/drawingml/2006/main" noGrp="1"/>
          </p:cNvSpPr>
          <p:nvPr/>
        </p:nvSpPr>
        <p:spPr>
          <a:xfrm xmlns:a="http://schemas.openxmlformats.org/drawingml/2006/main">
            <a:off x="571500" y="3657600"/>
            <a:ext cx="45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2">
            <a:extLst xmlns:a="http://schemas.openxmlformats.org/drawingml/2006/main">
              <a:ext uri="{FF2B5EF4-FFF2-40B4-BE49-F238E27FC236}">
                <a16:creationId xmlns:a16="http://schemas.microsoft.com/office/drawing/2014/main" id="{33502E76-4C35-4C48-911E-D5EFBDD27E85}"/>
              </a:ext>
            </a:extLst>
          </p:cNvPr>
          <p:cNvSpPr>
            <a:spLocks xmlns:a="http://schemas.openxmlformats.org/drawingml/2006/main" noGrp="1"/>
          </p:cNvSpPr>
          <p:nvPr/>
        </p:nvSpPr>
        <p:spPr>
          <a:xfrm xmlns:a="http://schemas.openxmlformats.org/drawingml/2006/main">
            <a:off x="1104900" y="3657600"/>
            <a:ext cx="74199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3">
            <a:extLst xmlns:a="http://schemas.openxmlformats.org/drawingml/2006/main">
              <a:ext uri="{FF2B5EF4-FFF2-40B4-BE49-F238E27FC236}">
                <a16:creationId xmlns:a16="http://schemas.microsoft.com/office/drawing/2014/main" id="{66DDDE4D-9F37-490A-9EF0-4B550320B62C}"/>
              </a:ext>
            </a:extLst>
          </p:cNvPr>
          <p:cNvSpPr>
            <a:spLocks xmlns:a="http://schemas.openxmlformats.org/drawingml/2006/main" noGrp="1"/>
          </p:cNvSpPr>
          <p:nvPr/>
        </p:nvSpPr>
        <p:spPr>
          <a:xfrm xmlns:a="http://schemas.openxmlformats.org/drawingml/2006/main">
            <a:off x="571500" y="4171950"/>
            <a:ext cx="457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3">
            <a:extLst xmlns:a="http://schemas.openxmlformats.org/drawingml/2006/main">
              <a:ext uri="{FF2B5EF4-FFF2-40B4-BE49-F238E27FC236}">
                <a16:creationId xmlns:a16="http://schemas.microsoft.com/office/drawing/2014/main" id="{2580209A-E53C-4AA4-93E2-8EF8D74E34B8}"/>
              </a:ext>
            </a:extLst>
          </p:cNvPr>
          <p:cNvSpPr>
            <a:spLocks xmlns:a="http://schemas.openxmlformats.org/drawingml/2006/main" noGrp="1"/>
          </p:cNvSpPr>
          <p:nvPr/>
        </p:nvSpPr>
        <p:spPr>
          <a:xfrm xmlns:a="http://schemas.openxmlformats.org/drawingml/2006/main">
            <a:off x="1104900" y="4171950"/>
            <a:ext cx="7419975"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4">
            <a:extLst xmlns:a="http://schemas.openxmlformats.org/drawingml/2006/main">
              <a:ext uri="{FF2B5EF4-FFF2-40B4-BE49-F238E27FC236}">
                <a16:creationId xmlns:a16="http://schemas.microsoft.com/office/drawing/2014/main" id="{CC3A5A1E-A05B-46AC-8B85-6E5F9ABBE250}"/>
              </a:ext>
            </a:extLst>
          </p:cNvPr>
          <p:cNvSpPr>
            <a:spLocks xmlns:a="http://schemas.openxmlformats.org/drawingml/2006/main" noGrp="1"/>
          </p:cNvSpPr>
          <p:nvPr/>
        </p:nvSpPr>
        <p:spPr>
          <a:xfrm xmlns:a="http://schemas.openxmlformats.org/drawingml/2006/main">
            <a:off x="571500" y="5934075"/>
            <a:ext cx="457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4">
            <a:extLst xmlns:a="http://schemas.openxmlformats.org/drawingml/2006/main">
              <a:ext uri="{FF2B5EF4-FFF2-40B4-BE49-F238E27FC236}">
                <a16:creationId xmlns:a16="http://schemas.microsoft.com/office/drawing/2014/main" id="{0814B82C-567E-4FCD-B4F5-90E03BBE1E6D}"/>
              </a:ext>
            </a:extLst>
          </p:cNvPr>
          <p:cNvSpPr>
            <a:spLocks xmlns:a="http://schemas.openxmlformats.org/drawingml/2006/main" noGrp="1"/>
          </p:cNvSpPr>
          <p:nvPr/>
        </p:nvSpPr>
        <p:spPr>
          <a:xfrm xmlns:a="http://schemas.openxmlformats.org/drawingml/2006/main">
            <a:off x="1104900" y="5934075"/>
            <a:ext cx="74199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5">
            <a:extLst xmlns:a="http://schemas.openxmlformats.org/drawingml/2006/main">
              <a:ext uri="{FF2B5EF4-FFF2-40B4-BE49-F238E27FC236}">
                <a16:creationId xmlns:a16="http://schemas.microsoft.com/office/drawing/2014/main" id="{CFA1003C-1852-4285-A72A-C2D417F39AD6}"/>
              </a:ext>
            </a:extLst>
          </p:cNvPr>
          <p:cNvSpPr>
            <a:spLocks xmlns:a="http://schemas.openxmlformats.org/drawingml/2006/main" noGrp="1"/>
          </p:cNvSpPr>
          <p:nvPr/>
        </p:nvSpPr>
        <p:spPr>
          <a:xfrm xmlns:a="http://schemas.openxmlformats.org/drawingml/2006/main">
            <a:off x="571500" y="6705600"/>
            <a:ext cx="4572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5">
            <a:extLst xmlns:a="http://schemas.openxmlformats.org/drawingml/2006/main">
              <a:ext uri="{FF2B5EF4-FFF2-40B4-BE49-F238E27FC236}">
                <a16:creationId xmlns:a16="http://schemas.microsoft.com/office/drawing/2014/main" id="{FA235290-46D6-49D7-A4A5-2A83FAFBCC2D}"/>
              </a:ext>
            </a:extLst>
          </p:cNvPr>
          <p:cNvSpPr>
            <a:spLocks xmlns:a="http://schemas.openxmlformats.org/drawingml/2006/main" noGrp="1"/>
          </p:cNvSpPr>
          <p:nvPr/>
        </p:nvSpPr>
        <p:spPr>
          <a:xfrm xmlns:a="http://schemas.openxmlformats.org/drawingml/2006/main">
            <a:off x="1104900" y="6705600"/>
            <a:ext cx="74199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6">
            <a:extLst xmlns:a="http://schemas.openxmlformats.org/drawingml/2006/main">
              <a:ext uri="{FF2B5EF4-FFF2-40B4-BE49-F238E27FC236}">
                <a16:creationId xmlns:a16="http://schemas.microsoft.com/office/drawing/2014/main" id="{93BBFC5B-B72A-4E77-BB62-D8D4F76EEA73}"/>
              </a:ext>
            </a:extLst>
          </p:cNvPr>
          <p:cNvSpPr>
            <a:spLocks xmlns:a="http://schemas.openxmlformats.org/drawingml/2006/main" noGrp="1"/>
          </p:cNvSpPr>
          <p:nvPr/>
        </p:nvSpPr>
        <p:spPr>
          <a:xfrm xmlns:a="http://schemas.openxmlformats.org/drawingml/2006/main">
            <a:off x="571500" y="7305675"/>
            <a:ext cx="4572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7.</a:t>
            </a:r>
          </a:p>
        </p:txBody>
      </p:sp>
      <p:sp>
        <p:nvSpPr>
          <p:cNvPr id="20" name="route-6">
            <a:extLst xmlns:a="http://schemas.openxmlformats.org/drawingml/2006/main">
              <a:ext uri="{FF2B5EF4-FFF2-40B4-BE49-F238E27FC236}">
                <a16:creationId xmlns:a16="http://schemas.microsoft.com/office/drawing/2014/main" id="{8E5F2B0A-0436-42EC-9476-7EE58944DF5D}"/>
              </a:ext>
            </a:extLst>
          </p:cNvPr>
          <p:cNvSpPr>
            <a:spLocks xmlns:a="http://schemas.openxmlformats.org/drawingml/2006/main" noGrp="1"/>
          </p:cNvSpPr>
          <p:nvPr/>
        </p:nvSpPr>
        <p:spPr>
          <a:xfrm xmlns:a="http://schemas.openxmlformats.org/drawingml/2006/main">
            <a:off x="1104900" y="7305675"/>
            <a:ext cx="74199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D27D4389-9672-40BF-BAE9-CB82EB3E306C}"/>
              </a:ext>
            </a:extLst>
          </p:cNvPr>
          <p:cNvSpPr>
            <a:spLocks xmlns:a="http://schemas.openxmlformats.org/drawingml/2006/main" noGrp="1"/>
          </p:cNvSpPr>
          <p:nvPr/>
        </p:nvSpPr>
        <p:spPr>
          <a:xfrm xmlns:a="http://schemas.openxmlformats.org/drawingml/2006/main">
            <a:off x="9258300" y="17145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8061D293-EF01-4229-A541-0C44E778CF3C}"/>
              </a:ext>
            </a:extLst>
          </p:cNvPr>
          <p:cNvSpPr>
            <a:spLocks xmlns:a="http://schemas.openxmlformats.org/drawingml/2006/main" noGrp="1"/>
          </p:cNvSpPr>
          <p:nvPr/>
        </p:nvSpPr>
        <p:spPr>
          <a:xfrm xmlns:a="http://schemas.openxmlformats.org/drawingml/2006/main">
            <a:off x="9258300" y="2276475"/>
            <a:ext cx="5410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Toe- en uittreding verklaren.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Markt Q en bedrijfs-q tekenen.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Nulwinst berekenen en uitleggen.</a:t>
            </a:r>
          </a:p>
        </p:txBody>
      </p:sp>
      <p:sp>
        <p:nvSpPr>
          <p:cNvPr id="23" name="">
            <a:extLst xmlns:a="http://schemas.openxmlformats.org/drawingml/2006/main">
              <a:ext uri="{FF2B5EF4-FFF2-40B4-BE49-F238E27FC236}">
                <a16:creationId xmlns:a16="http://schemas.microsoft.com/office/drawing/2014/main" id="{83DCF3FB-6FB1-4655-8777-30C4ED184FE5}"/>
              </a:ext>
            </a:extLst>
          </p:cNvPr>
          <p:cNvSpPr>
            <a:spLocks xmlns:a="http://schemas.openxmlformats.org/drawingml/2006/main" noGrp="1"/>
          </p:cNvSpPr>
          <p:nvPr/>
        </p:nvSpPr>
        <p:spPr>
          <a:xfrm xmlns:a="http://schemas.openxmlformats.org/drawingml/2006/main">
            <a:off x="9258300" y="35242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94E45D2C-BA18-4CF2-92B6-C3A35C4EE157}"/>
              </a:ext>
            </a:extLst>
          </p:cNvPr>
          <p:cNvSpPr>
            <a:spLocks xmlns:a="http://schemas.openxmlformats.org/drawingml/2006/main" noGrp="1"/>
          </p:cNvSpPr>
          <p:nvPr/>
        </p:nvSpPr>
        <p:spPr>
          <a:xfrm xmlns:a="http://schemas.openxmlformats.org/drawingml/2006/main">
            <a:off x="9258300" y="37338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D37C40E8-BEAF-4CC3-938B-7444D5BC9D59}"/>
              </a:ext>
            </a:extLst>
          </p:cNvPr>
          <p:cNvSpPr>
            <a:spLocks xmlns:a="http://schemas.openxmlformats.org/drawingml/2006/main" noGrp="1"/>
          </p:cNvSpPr>
          <p:nvPr/>
        </p:nvSpPr>
        <p:spPr>
          <a:xfrm xmlns:a="http://schemas.openxmlformats.org/drawingml/2006/main">
            <a:off x="9258300" y="4238625"/>
            <a:ext cx="5410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11 · Opgaven 1 en 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 verkennen met theorie p. 7</a:t>
            </a:r>
          </a:p>
        </p:txBody>
      </p:sp>
      <p:sp>
        <p:nvSpPr>
          <p:cNvPr id="26" name="">
            <a:extLst xmlns:a="http://schemas.openxmlformats.org/drawingml/2006/main">
              <a:ext uri="{FF2B5EF4-FFF2-40B4-BE49-F238E27FC236}">
                <a16:creationId xmlns:a16="http://schemas.microsoft.com/office/drawing/2014/main" id="{9C50EF15-439A-4B11-B8CB-AE8595B9D9AC}"/>
              </a:ext>
            </a:extLst>
          </p:cNvPr>
          <p:cNvSpPr>
            <a:spLocks xmlns:a="http://schemas.openxmlformats.org/drawingml/2006/main" noGrp="1"/>
          </p:cNvSpPr>
          <p:nvPr/>
        </p:nvSpPr>
        <p:spPr>
          <a:xfrm xmlns:a="http://schemas.openxmlformats.org/drawingml/2006/main">
            <a:off x="9258300" y="5248275"/>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B5778A52-75D9-4EC6-8885-EAFEE999EF9B}"/>
              </a:ext>
            </a:extLst>
          </p:cNvPr>
          <p:cNvSpPr>
            <a:spLocks xmlns:a="http://schemas.openxmlformats.org/drawingml/2006/main" noGrp="1"/>
          </p:cNvSpPr>
          <p:nvPr/>
        </p:nvSpPr>
        <p:spPr>
          <a:xfrm xmlns:a="http://schemas.openxmlformats.org/drawingml/2006/main">
            <a:off x="9258300" y="54483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1F2796E1-8023-47D1-8272-8A99ABF240FA}"/>
              </a:ext>
            </a:extLst>
          </p:cNvPr>
          <p:cNvSpPr>
            <a:spLocks xmlns:a="http://schemas.openxmlformats.org/drawingml/2006/main" noGrp="1"/>
          </p:cNvSpPr>
          <p:nvPr/>
        </p:nvSpPr>
        <p:spPr>
          <a:xfrm xmlns:a="http://schemas.openxmlformats.org/drawingml/2006/main">
            <a:off x="9258300" y="6010275"/>
            <a:ext cx="5410200" cy="187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§4.1.1 Hoe lang blijft de winst?</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Basis: 3 en 4</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Zelfstandig: 5 en 6</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Doelopgave: 7</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Maken en nakijken</a:t>
            </a:r>
          </a:p>
        </p:txBody>
      </p:sp>
    </p:spTree>
    <p:extLst>
      <p:ext uri="{BB962C8B-B14F-4D97-AF65-F5344CB8AC3E}">
        <p14:creationId xmlns:p14="http://schemas.microsoft.com/office/powerpoint/2010/main" val="2502113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2026-10-01T19:12:33.1280000Z</dcterms:created>
  <dcterms:modified xsi:type="dcterms:W3CDTF">2026-10-01T19:12:33.1280000Z</dcterms:modified>
</coreProperties>
</file>