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5.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6.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21c395eddcf44c1" /><Relationship Type="http://schemas.openxmlformats.org/officeDocument/2006/relationships/extended-properties" Target="/docProps/app.xml" Id="R533ae4ab93fa425b" /><Relationship Type="http://schemas.openxmlformats.org/officeDocument/2006/relationships/officeDocument" Target="/ppt/presentation.xml" Id="R0cde8bb7250a4142" /></Relationships>
</file>

<file path=ppt/presentation.xml><?xml version="1.0" encoding="utf-8"?>
<p:presentation xmlns:p="http://schemas.openxmlformats.org/presentationml/2006/main">
  <p:sldMasterIdLst>
    <p:sldMasterId xmlns:r="http://schemas.openxmlformats.org/officeDocument/2006/relationships" id="2147483648" r:id="Rd506766c54604d8f"/>
  </p:sldMasterIdLst>
  <p:notesMasterIdLst>
    <p:notesMasterId xmlns:r="http://schemas.openxmlformats.org/officeDocument/2006/relationships" r:id="R10362c661b684abe"/>
  </p:notesMasterIdLst>
  <p:sldIdLst>
    <p:sldId xmlns:r="http://schemas.openxmlformats.org/officeDocument/2006/relationships" id="256" r:id="R7456cf78849f41a1"/>
    <p:sldId xmlns:r="http://schemas.openxmlformats.org/officeDocument/2006/relationships" id="257" r:id="R80fe151bccab4e8b"/>
    <p:sldId xmlns:r="http://schemas.openxmlformats.org/officeDocument/2006/relationships" id="258" r:id="R49bee4fb266546ec"/>
    <p:sldId xmlns:r="http://schemas.openxmlformats.org/officeDocument/2006/relationships" id="259" r:id="Rc1bced04ddd04c21"/>
    <p:sldId xmlns:r="http://schemas.openxmlformats.org/officeDocument/2006/relationships" id="260" r:id="R9e91a1bd98b74f63"/>
    <p:sldId xmlns:r="http://schemas.openxmlformats.org/officeDocument/2006/relationships" id="261" r:id="Rd80f1e0bf447460f"/>
    <p:sldId xmlns:r="http://schemas.openxmlformats.org/officeDocument/2006/relationships" id="262" r:id="R2ccbc978fa8449ea"/>
    <p:sldId xmlns:r="http://schemas.openxmlformats.org/officeDocument/2006/relationships" id="263" r:id="Re28056a7343b4b3c"/>
    <p:sldId xmlns:r="http://schemas.openxmlformats.org/officeDocument/2006/relationships" id="264" r:id="Rccc7c890255d4a86"/>
    <p:sldId xmlns:r="http://schemas.openxmlformats.org/officeDocument/2006/relationships" id="265" r:id="Rc52d830ba8b846bb"/>
    <p:sldId xmlns:r="http://schemas.openxmlformats.org/officeDocument/2006/relationships" id="266" r:id="R74819766fead4d60"/>
    <p:sldId xmlns:r="http://schemas.openxmlformats.org/officeDocument/2006/relationships" id="267" r:id="Re59c79cab6514a42"/>
    <p:sldId xmlns:r="http://schemas.openxmlformats.org/officeDocument/2006/relationships" id="268" r:id="R184f9789579d4ef4"/>
    <p:sldId xmlns:r="http://schemas.openxmlformats.org/officeDocument/2006/relationships" id="269" r:id="Re4564ffcf5ce4120"/>
    <p:sldId xmlns:r="http://schemas.openxmlformats.org/officeDocument/2006/relationships" id="270" r:id="R2a2ce533eca84cf7"/>
    <p:sldId xmlns:r="http://schemas.openxmlformats.org/officeDocument/2006/relationships" id="271" r:id="R2f488f090095466b"/>
    <p:sldId xmlns:r="http://schemas.openxmlformats.org/officeDocument/2006/relationships" id="272" r:id="Rca36a0751138403b"/>
    <p:sldId xmlns:r="http://schemas.openxmlformats.org/officeDocument/2006/relationships" id="273" r:id="R9284b7dff6a14589"/>
    <p:sldId xmlns:r="http://schemas.openxmlformats.org/officeDocument/2006/relationships" id="274" r:id="R5d81b008e064424c"/>
    <p:sldId xmlns:r="http://schemas.openxmlformats.org/officeDocument/2006/relationships" id="275" r:id="R27770925ec98446f"/>
    <p:sldId xmlns:r="http://schemas.openxmlformats.org/officeDocument/2006/relationships" id="276" r:id="R235decaed9634215"/>
    <p:sldId xmlns:r="http://schemas.openxmlformats.org/officeDocument/2006/relationships" id="277" r:id="R872bfa67e9e745d5"/>
    <p:sldId xmlns:r="http://schemas.openxmlformats.org/officeDocument/2006/relationships" id="278" r:id="R7beb472cbf4e481a"/>
    <p:sldId xmlns:r="http://schemas.openxmlformats.org/officeDocument/2006/relationships" id="279" r:id="Ra5abec89f6e74fd6"/>
    <p:sldId xmlns:r="http://schemas.openxmlformats.org/officeDocument/2006/relationships" id="280" r:id="R3a5826367cbe412d"/>
    <p:sldId xmlns:r="http://schemas.openxmlformats.org/officeDocument/2006/relationships" id="281" r:id="R34413e67316c488e"/>
    <p:sldId xmlns:r="http://schemas.openxmlformats.org/officeDocument/2006/relationships" id="282" r:id="R3f3f2d47c3d3442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fd206de3c74db5" /><Relationship Type="http://schemas.openxmlformats.org/officeDocument/2006/relationships/slideMaster" Target="/ppt/slideMasters/slideMaster1.xml" Id="Rd506766c54604d8f" /><Relationship Type="http://schemas.openxmlformats.org/officeDocument/2006/relationships/notesMaster" Target="/ppt/notesMasters/notesMaster1.xml" Id="R10362c661b684abe" /><Relationship Type="http://schemas.openxmlformats.org/officeDocument/2006/relationships/presProps" Target="/ppt/presProps.xml" Id="Rb277982c2d024c6c" /><Relationship Type="http://schemas.openxmlformats.org/officeDocument/2006/relationships/tableStyles" Target="/ppt/tableStyles.xml" Id="R363392c5d0e249ef" /><Relationship Type="http://schemas.openxmlformats.org/officeDocument/2006/relationships/slide" Target="/ppt/slides/slide1.xml" Id="R7456cf78849f41a1" /><Relationship Type="http://schemas.openxmlformats.org/officeDocument/2006/relationships/slide" Target="/ppt/slides/slide2.xml" Id="R80fe151bccab4e8b" /><Relationship Type="http://schemas.openxmlformats.org/officeDocument/2006/relationships/slide" Target="/ppt/slides/slide3.xml" Id="R49bee4fb266546ec" /><Relationship Type="http://schemas.openxmlformats.org/officeDocument/2006/relationships/slide" Target="/ppt/slides/slide4.xml" Id="Rc1bced04ddd04c21" /><Relationship Type="http://schemas.openxmlformats.org/officeDocument/2006/relationships/slide" Target="/ppt/slides/slide5.xml" Id="R9e91a1bd98b74f63" /><Relationship Type="http://schemas.openxmlformats.org/officeDocument/2006/relationships/slide" Target="/ppt/slides/slide6.xml" Id="Rd80f1e0bf447460f" /><Relationship Type="http://schemas.openxmlformats.org/officeDocument/2006/relationships/slide" Target="/ppt/slides/slide7.xml" Id="R2ccbc978fa8449ea" /><Relationship Type="http://schemas.openxmlformats.org/officeDocument/2006/relationships/slide" Target="/ppt/slides/slide8.xml" Id="Re28056a7343b4b3c" /><Relationship Type="http://schemas.openxmlformats.org/officeDocument/2006/relationships/slide" Target="/ppt/slides/slide9.xml" Id="Rccc7c890255d4a86" /><Relationship Type="http://schemas.openxmlformats.org/officeDocument/2006/relationships/slide" Target="/ppt/slides/slide10.xml" Id="Rc52d830ba8b846bb" /><Relationship Type="http://schemas.openxmlformats.org/officeDocument/2006/relationships/slide" Target="/ppt/slides/slide11.xml" Id="R74819766fead4d60" /><Relationship Type="http://schemas.openxmlformats.org/officeDocument/2006/relationships/slide" Target="/ppt/slides/slide12.xml" Id="Re59c79cab6514a42" /><Relationship Type="http://schemas.openxmlformats.org/officeDocument/2006/relationships/slide" Target="/ppt/slides/slide13.xml" Id="R184f9789579d4ef4" /><Relationship Type="http://schemas.openxmlformats.org/officeDocument/2006/relationships/slide" Target="/ppt/slides/slide14.xml" Id="Re4564ffcf5ce4120" /><Relationship Type="http://schemas.openxmlformats.org/officeDocument/2006/relationships/slide" Target="/ppt/slides/slide15.xml" Id="R2a2ce533eca84cf7" /><Relationship Type="http://schemas.openxmlformats.org/officeDocument/2006/relationships/slide" Target="/ppt/slides/slide16.xml" Id="R2f488f090095466b" /><Relationship Type="http://schemas.openxmlformats.org/officeDocument/2006/relationships/slide" Target="/ppt/slides/slide17.xml" Id="Rca36a0751138403b" /><Relationship Type="http://schemas.openxmlformats.org/officeDocument/2006/relationships/slide" Target="/ppt/slides/slide18.xml" Id="R9284b7dff6a14589" /><Relationship Type="http://schemas.openxmlformats.org/officeDocument/2006/relationships/slide" Target="/ppt/slides/slide19.xml" Id="R5d81b008e064424c" /><Relationship Type="http://schemas.openxmlformats.org/officeDocument/2006/relationships/slide" Target="/ppt/slides/slide20.xml" Id="R27770925ec98446f" /><Relationship Type="http://schemas.openxmlformats.org/officeDocument/2006/relationships/slide" Target="/ppt/slides/slide21.xml" Id="R235decaed9634215" /><Relationship Type="http://schemas.openxmlformats.org/officeDocument/2006/relationships/slide" Target="/ppt/slides/slide22.xml" Id="R872bfa67e9e745d5" /><Relationship Type="http://schemas.openxmlformats.org/officeDocument/2006/relationships/slide" Target="/ppt/slides/slide23.xml" Id="R7beb472cbf4e481a" /><Relationship Type="http://schemas.openxmlformats.org/officeDocument/2006/relationships/slide" Target="/ppt/slides/slide24.xml" Id="Ra5abec89f6e74fd6" /><Relationship Type="http://schemas.openxmlformats.org/officeDocument/2006/relationships/slide" Target="/ppt/slides/slide25.xml" Id="R3a5826367cbe412d" /><Relationship Type="http://schemas.openxmlformats.org/officeDocument/2006/relationships/slide" Target="/ppt/slides/slide26.xml" Id="R34413e67316c488e" /><Relationship Type="http://schemas.openxmlformats.org/officeDocument/2006/relationships/slide" Target="/ppt/slides/slide27.xml" Id="R3f3f2d47c3d344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a2d07a2edd46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4b8b64e1eb4dc1" /><Relationship Type="http://schemas.openxmlformats.org/officeDocument/2006/relationships/notesMaster" Target="/ppt/notesMasters/notesMaster1.xml" Id="R8ffff5bd37ef47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eef44f1193471d" /><Relationship Type="http://schemas.openxmlformats.org/officeDocument/2006/relationships/notesMaster" Target="/ppt/notesMasters/notesMaster1.xml" Id="R2470f6c3fdf344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9fadad112a4f69" /><Relationship Type="http://schemas.openxmlformats.org/officeDocument/2006/relationships/notesMaster" Target="/ppt/notesMasters/notesMaster1.xml" Id="Rdca5e252b31b4d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d5f31e538142a8" /><Relationship Type="http://schemas.openxmlformats.org/officeDocument/2006/relationships/notesMaster" Target="/ppt/notesMasters/notesMaster1.xml" Id="R2590e7d9096a42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d838e070b8446c" /><Relationship Type="http://schemas.openxmlformats.org/officeDocument/2006/relationships/notesMaster" Target="/ppt/notesMasters/notesMaster1.xml" Id="Rf08fdb8fd10e4e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e828f6b2d64445" /><Relationship Type="http://schemas.openxmlformats.org/officeDocument/2006/relationships/notesMaster" Target="/ppt/notesMasters/notesMaster1.xml" Id="R539a164178404a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3198daf18f4e76" /><Relationship Type="http://schemas.openxmlformats.org/officeDocument/2006/relationships/notesMaster" Target="/ppt/notesMasters/notesMaster1.xml" Id="Rde0f9716cb0144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e0dfea3b5c466e" /><Relationship Type="http://schemas.openxmlformats.org/officeDocument/2006/relationships/notesMaster" Target="/ppt/notesMasters/notesMaster1.xml" Id="R9509d48670ba4e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f5fa3e8c634e7d" /><Relationship Type="http://schemas.openxmlformats.org/officeDocument/2006/relationships/notesMaster" Target="/ppt/notesMasters/notesMaster1.xml" Id="R890cc337495744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ace23b8ea74dda" /><Relationship Type="http://schemas.openxmlformats.org/officeDocument/2006/relationships/notesMaster" Target="/ppt/notesMasters/notesMaster1.xml" Id="R21f3e570a5a94c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173892ba1b4a34" /><Relationship Type="http://schemas.openxmlformats.org/officeDocument/2006/relationships/notesMaster" Target="/ppt/notesMasters/notesMaster1.xml" Id="R88af3e6a30db41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cdfc41afec4134" /><Relationship Type="http://schemas.openxmlformats.org/officeDocument/2006/relationships/notesMaster" Target="/ppt/notesMasters/notesMaster1.xml" Id="R923ef11031f441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f8d7b03f024871" /><Relationship Type="http://schemas.openxmlformats.org/officeDocument/2006/relationships/notesMaster" Target="/ppt/notesMasters/notesMaster1.xml" Id="R44cc011a79b349c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ba7f06691a44710" /><Relationship Type="http://schemas.openxmlformats.org/officeDocument/2006/relationships/notesMaster" Target="/ppt/notesMasters/notesMaster1.xml" Id="Rf01284ff3e8f47e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f7679f8ee94489b" /><Relationship Type="http://schemas.openxmlformats.org/officeDocument/2006/relationships/notesMaster" Target="/ppt/notesMasters/notesMaster1.xml" Id="R20e34224382a4fc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b85727cc78492a" /><Relationship Type="http://schemas.openxmlformats.org/officeDocument/2006/relationships/notesMaster" Target="/ppt/notesMasters/notesMaster1.xml" Id="R0030d775b1c64f9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659cc1698e24444" /><Relationship Type="http://schemas.openxmlformats.org/officeDocument/2006/relationships/notesMaster" Target="/ppt/notesMasters/notesMaster1.xml" Id="Rb509e15bda2e49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2d130ddf2394b83" /><Relationship Type="http://schemas.openxmlformats.org/officeDocument/2006/relationships/notesMaster" Target="/ppt/notesMasters/notesMaster1.xml" Id="R98c4d43f9846421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1cee2f4375a4e32" /><Relationship Type="http://schemas.openxmlformats.org/officeDocument/2006/relationships/notesMaster" Target="/ppt/notesMasters/notesMaster1.xml" Id="R012cc446863c452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1ed7c7ec0a44936" /><Relationship Type="http://schemas.openxmlformats.org/officeDocument/2006/relationships/notesMaster" Target="/ppt/notesMasters/notesMaster1.xml" Id="R672db43192c84c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1a830d272b14338" /><Relationship Type="http://schemas.openxmlformats.org/officeDocument/2006/relationships/notesMaster" Target="/ppt/notesMasters/notesMaster1.xml" Id="R5f33741c40dd436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7ba6b6bac104ea0" /><Relationship Type="http://schemas.openxmlformats.org/officeDocument/2006/relationships/notesMaster" Target="/ppt/notesMasters/notesMaster1.xml" Id="R13547e7b3081421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e5050ef5f814f58" /><Relationship Type="http://schemas.openxmlformats.org/officeDocument/2006/relationships/notesMaster" Target="/ppt/notesMasters/notesMaster1.xml" Id="Rbe00c6cae0ae468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2fbdf5ca23d4164" /><Relationship Type="http://schemas.openxmlformats.org/officeDocument/2006/relationships/notesMaster" Target="/ppt/notesMasters/notesMaster1.xml" Id="R03ecef2977e1483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9421da940fc4bfa" /><Relationship Type="http://schemas.openxmlformats.org/officeDocument/2006/relationships/notesMaster" Target="/ppt/notesMasters/notesMaster1.xml" Id="R0a97f839e97b430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c7dc03b7b4f4f1b" /><Relationship Type="http://schemas.openxmlformats.org/officeDocument/2006/relationships/notesMaster" Target="/ppt/notesMasters/notesMaster1.xml" Id="R613b3ce7940d44c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1f563109c604ff8" /><Relationship Type="http://schemas.openxmlformats.org/officeDocument/2006/relationships/notesMaster" Target="/ppt/notesMasters/notesMaster1.xml" Id="Rdb28d9fe44c845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waar twijfel je nog?</a:t>
            </a:r>
          </a:p>
          <a:p xmlns:a="http://schemas.openxmlformats.org/drawingml/2006/main">
            <a:r>
              <a:rPr sz="1400"/>
              <a:t/>
            </a:r>
          </a:p>
          <a:p xmlns:a="http://schemas.openxmlformats.org/drawingml/2006/main">
            <a:r>
              <a:rPr sz="1400"/>
              <a:t>Uitleg: Laat de dia staan tijdens startopdracht. Start 31–32 en basis 33 staan op p.41, basis 34–35 op p.42, zelfstandig 36–37 op p.43, doel 38 op p.44. Huiswerk is 33,34,35,36,37,38 maken en nakijken. Bonus 39 en herhaling 40 op p.45 zijn extra. Opgave 31 haalt TO/MO uit §4.1.3 en MK uit §3.2.2 op; de marginale vergelijking is onderwezen in §3.2.3. Bij 32 is GO=P bekend, maar de combinatie met het monopolie-optimum wordt vandaag expliciet gemaakt. Laat leerlingen de prijsroute op p.37 erbij nemen, het onderscheid tussen marginale en gemiddelde bedragen aanwijzen en hun twijfel noteren. Dit is ondersteund verkennen. Vóór het basiswerk laat je 32 opnieuw proberen en bespreek je waarom TK nog nodig is voor winst. Geen aanname dat eerder onderwezen ook al beheerst is. De volledige route kan doorlopen in een volgende les; twee lessen zijn een planningsadvies zonder praktijkmeting.</a:t>
            </a:r>
          </a:p>
          <a:p xmlns:a="http://schemas.openxmlformats.org/drawingml/2006/main">
            <a:r>
              <a:rPr sz="1400"/>
              <a:t/>
            </a:r>
          </a:p>
          <a:p xmlns:a="http://schemas.openxmlformats.org/drawingml/2006/main">
            <a:r>
              <a:rPr sz="1400"/>
              <a:t>Misvatting: Gedrukte boekpagina’s gebruiken: de manuscriptmetadata noemt voor start 37 en voor doel 40, maar de complete PDF drukt 41 en 44 af.</a:t>
            </a:r>
          </a:p>
          <a:p xmlns:a="http://schemas.openxmlformats.org/drawingml/2006/main">
            <a:r>
              <a:rPr sz="1400"/>
              <a:t/>
            </a:r>
          </a:p>
          <a:p xmlns:a="http://schemas.openxmlformats.org/drawingml/2006/main">
            <a:r>
              <a:rPr sz="1400"/>
              <a:t>Overgang: Ga naar de volgende lesfase; bij afsluiting noteert iedereen het huiswerk.</a:t>
            </a:r>
          </a:p>
          <a:p xmlns:a="http://schemas.openxmlformats.org/drawingml/2006/main">
            <a:r>
              <a:rPr sz="1400"/>
              <a:t/>
            </a:r>
          </a:p>
          <a:p xmlns:a="http://schemas.openxmlformats.org/drawingml/2006/main">
            <a:r>
              <a:rPr sz="1400"/>
              <a:t>Bron: Boek 4, books34-v3, gedrukte boekpagina 35–45.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vertelt wat de kopers betalen?</a:t>
            </a:r>
          </a:p>
          <a:p xmlns:a="http://schemas.openxmlformats.org/drawingml/2006/main">
            <a:r>
              <a:rPr sz="1400"/>
              <a:t/>
            </a:r>
          </a:p>
          <a:p xmlns:a="http://schemas.openxmlformats.org/drawingml/2006/main">
            <a:r>
              <a:rPr sz="1400"/>
              <a:t>Uitleg: Activeer de marginale keuze uit §3.2.3. Die regel blijft bruikbaar. Nieuw is de extra stap naar GO, omdat MO bij uniforme monopolieprijzen onder P ligt. Laat de leerling de gekozen q vasthouden wanneer hij de prijs leest. Controleer het verloop, de capaciteit en waar nodig q=0. Het snijpunt is eerst een kandidaat.</a:t>
            </a:r>
          </a:p>
          <a:p xmlns:a="http://schemas.openxmlformats.org/drawingml/2006/main">
            <a:r>
              <a:rPr sz="1400"/>
              <a:t/>
            </a:r>
          </a:p>
          <a:p xmlns:a="http://schemas.openxmlformats.org/drawingml/2006/main">
            <a:r>
              <a:rPr sz="1400"/>
              <a:t>Misvatting: De prijsnemersregel P=MK rechtstreeks overnemen geeft hier een verkeerde afzet.</a:t>
            </a:r>
          </a:p>
          <a:p xmlns:a="http://schemas.openxmlformats.org/drawingml/2006/main">
            <a:r>
              <a:rPr sz="1400"/>
              <a:t/>
            </a:r>
          </a:p>
          <a:p xmlns:a="http://schemas.openxmlformats.org/drawingml/2006/main">
            <a:r>
              <a:rPr sz="1400"/>
              <a:t>Overgang: Gebruik een afzonderlijk voorbeeld om elke stap te laten zien.</a:t>
            </a:r>
          </a:p>
          <a:p xmlns:a="http://schemas.openxmlformats.org/drawingml/2006/main">
            <a:r>
              <a:rPr sz="1400"/>
              <a:t/>
            </a:r>
          </a:p>
          <a:p xmlns:a="http://schemas.openxmlformats.org/drawingml/2006/main">
            <a:r>
              <a:rPr sz="1400"/>
              <a:t>Bron: Boek 4, books34-v3, gedrukte boekpagina 35–38.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kun je niet tegelijk méér verkopen en dezelfde prijs houden?</a:t>
            </a:r>
          </a:p>
          <a:p xmlns:a="http://schemas.openxmlformats.org/drawingml/2006/main">
            <a:r>
              <a:rPr sz="1400"/>
              <a:t/>
            </a:r>
          </a:p>
          <a:p xmlns:a="http://schemas.openxmlformats.org/drawingml/2006/main">
            <a:r>
              <a:rPr sz="1400"/>
              <a:t>Uitleg: Eigen fictief model, geen boekopgave. Kilogrammen zijn deelbaar en alle geproduceerde kg worden verkocht. We vergelijken plannen voor dezelfde week; bij elk plan geldt één prijs. De capaciteit is 50 kg en de 90 euro is onvermijdbaar. Onderzoek achtereenvolgens marginale functies, afzet, prijs en winst.</a:t>
            </a:r>
          </a:p>
          <a:p xmlns:a="http://schemas.openxmlformats.org/drawingml/2006/main">
            <a:r>
              <a:rPr sz="1400"/>
              <a:t/>
            </a:r>
          </a:p>
          <a:p xmlns:a="http://schemas.openxmlformats.org/drawingml/2006/main">
            <a:r>
              <a:rPr sz="1400"/>
              <a:t>Misvatting: Deze getallen horen niet bij opgaven 31–38. Neem ze niet over in het huiswerk.</a:t>
            </a:r>
          </a:p>
          <a:p xmlns:a="http://schemas.openxmlformats.org/drawingml/2006/main">
            <a:r>
              <a:rPr sz="1400"/>
              <a:t/>
            </a:r>
          </a:p>
          <a:p xmlns:a="http://schemas.openxmlformats.org/drawingml/2006/main">
            <a:r>
              <a:rPr sz="1400"/>
              <a:t>Overgang: Stel TO op en differentieer de totalen.</a:t>
            </a:r>
          </a:p>
          <a:p xmlns:a="http://schemas.openxmlformats.org/drawingml/2006/main">
            <a:r>
              <a:rPr sz="1400"/>
              <a:t/>
            </a:r>
          </a:p>
          <a:p xmlns:a="http://schemas.openxmlformats.org/drawingml/2006/main">
            <a:r>
              <a:rPr sz="1400"/>
              <a:t>Bron: Boek 4, books34-v3, gedrukte boekpagina 35–40.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Eigen onderwijsmodel Pigment Pura: context en getallen zijn voor deze uitleg gemaakt, niet uit het boek. Boekpagina’s onderbouwen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staat de €90 nog wel in TK, maar niet in MK?</a:t>
            </a:r>
          </a:p>
          <a:p xmlns:a="http://schemas.openxmlformats.org/drawingml/2006/main">
            <a:r>
              <a:rPr sz="1400"/>
              <a:t/>
            </a:r>
          </a:p>
          <a:p xmlns:a="http://schemas.openxmlformats.org/drawingml/2006/main">
            <a:r>
              <a:rPr sz="1400"/>
              <a:t>Uitleg: Haal §3.2.2 term voor term op: 36q wordt36, −0,30q² wordt−0,60q, 0,15q² wordt0,30q, 9q wordt9, 90 wordt0. TO ontstaat door de volledige vraagfunctie met q te vermenigvuldigen. MO is een puntwaarde bij een kleine uitbreiding, geen totaal of tabelstap. De vaste kosten verdwijnen alleen uit MK.</a:t>
            </a:r>
          </a:p>
          <a:p xmlns:a="http://schemas.openxmlformats.org/drawingml/2006/main">
            <a:r>
              <a:rPr sz="1400"/>
              <a:t/>
            </a:r>
          </a:p>
          <a:p xmlns:a="http://schemas.openxmlformats.org/drawingml/2006/main">
            <a:r>
              <a:rPr sz="1400"/>
              <a:t>Misvatting: Niet alleen P differentiëren: begin met TO=P×q. Vergeet het minteken niet.</a:t>
            </a:r>
          </a:p>
          <a:p xmlns:a="http://schemas.openxmlformats.org/drawingml/2006/main">
            <a:r>
              <a:rPr sz="1400"/>
              <a:t/>
            </a:r>
          </a:p>
          <a:p xmlns:a="http://schemas.openxmlformats.org/drawingml/2006/main">
            <a:r>
              <a:rPr sz="1400"/>
              <a:t>Overgang: Vergelijk MO en MK om een kandidaat te vinden.</a:t>
            </a:r>
          </a:p>
          <a:p xmlns:a="http://schemas.openxmlformats.org/drawingml/2006/main">
            <a:r>
              <a:rPr sz="1400"/>
              <a:t/>
            </a:r>
          </a:p>
          <a:p xmlns:a="http://schemas.openxmlformats.org/drawingml/2006/main">
            <a:r>
              <a:rPr sz="1400"/>
              <a:t>Bron: Boek 4, books34-v3, gedrukte boekpagina 36, 40.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Eigen onderwijsmodel Pigment Pura: context en getallen zijn voor deze uitleg gemaakt, niet uit het boek. Boekpagina’s onderbouwen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alleen MO=MK opschrijven nog niet genoeg?</a:t>
            </a:r>
          </a:p>
          <a:p xmlns:a="http://schemas.openxmlformats.org/drawingml/2006/main">
            <a:r>
              <a:rPr sz="1400"/>
              <a:t/>
            </a:r>
          </a:p>
          <a:p xmlns:a="http://schemas.openxmlformats.org/drawingml/2006/main">
            <a:r>
              <a:rPr sz="1400"/>
              <a:t>Uitleg: Los eerst de vergelijking op. Daarna geeft het verloop het bewijs: MO−MK=27−0,90q is positief vóór30 en negatief erna. De tabel controleert twee punten. q30 is niet negatief en ligt onder50. De vergelijking met q0 volgt bij de winstberekening.</a:t>
            </a:r>
          </a:p>
          <a:p xmlns:a="http://schemas.openxmlformats.org/drawingml/2006/main">
            <a:r>
              <a:rPr sz="1400"/>
              <a:t/>
            </a:r>
          </a:p>
          <a:p xmlns:a="http://schemas.openxmlformats.org/drawingml/2006/main">
            <a:r>
              <a:rPr sz="1400"/>
              <a:t>Misvatting: Het teken van MO−MK geeft de richting van winst, niet het winstbedrag.</a:t>
            </a:r>
          </a:p>
          <a:p xmlns:a="http://schemas.openxmlformats.org/drawingml/2006/main">
            <a:r>
              <a:rPr sz="1400"/>
              <a:t/>
            </a:r>
          </a:p>
          <a:p xmlns:a="http://schemas.openxmlformats.org/drawingml/2006/main">
            <a:r>
              <a:rPr sz="1400"/>
              <a:t>Overgang: Markeer de afzet in een grafiek.</a:t>
            </a:r>
          </a:p>
          <a:p xmlns:a="http://schemas.openxmlformats.org/drawingml/2006/main">
            <a:r>
              <a:rPr sz="1400"/>
              <a:t/>
            </a:r>
          </a:p>
          <a:p xmlns:a="http://schemas.openxmlformats.org/drawingml/2006/main">
            <a:r>
              <a:rPr sz="1400"/>
              <a:t>Bron: Boek 4, books34-v3, gedrukte boekpagina 36, 40.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Eigen onderwijsmodel Pigment Pura: context en getallen zijn voor deze uitleg gemaakt, niet uit het boek. Boekpagina’s onderbouwen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coördinaat geeft de hoeveelheid?</a:t>
            </a:r>
          </a:p>
          <a:p xmlns:a="http://schemas.openxmlformats.org/drawingml/2006/main">
            <a:r>
              <a:rPr sz="1400"/>
              <a:t/>
            </a:r>
          </a:p>
          <a:p xmlns:a="http://schemas.openxmlformats.org/drawingml/2006/main">
            <a:r>
              <a:rPr sz="1400"/>
              <a:t>Uitleg: De assen geven kg per week en euro per kg. MO daalt en MK stijgt. Wijs het snijpunt (30;18) aan en volg de verticale hulplijn naar q30. De y-waarde18 is een marginaal bedrag. De volgende dia houdt assen en schaal gelijk.</a:t>
            </a:r>
          </a:p>
          <a:p xmlns:a="http://schemas.openxmlformats.org/drawingml/2006/main">
            <a:r>
              <a:rPr sz="1400"/>
              <a:t/>
            </a:r>
          </a:p>
          <a:p xmlns:a="http://schemas.openxmlformats.org/drawingml/2006/main">
            <a:r>
              <a:rPr sz="1400"/>
              <a:t>Misvatting: De €18 is hier nog niet de verkoopprijs.</a:t>
            </a:r>
          </a:p>
          <a:p xmlns:a="http://schemas.openxmlformats.org/drawingml/2006/main">
            <a:r>
              <a:rPr sz="1400"/>
              <a:t/>
            </a:r>
          </a:p>
          <a:p xmlns:a="http://schemas.openxmlformats.org/drawingml/2006/main">
            <a:r>
              <a:rPr sz="1400"/>
              <a:t>Overgang: Voeg GO toe en blijf bij dezelfde q.</a:t>
            </a:r>
          </a:p>
          <a:p xmlns:a="http://schemas.openxmlformats.org/drawingml/2006/main">
            <a:r>
              <a:rPr sz="1400"/>
              <a:t/>
            </a:r>
          </a:p>
          <a:p xmlns:a="http://schemas.openxmlformats.org/drawingml/2006/main">
            <a:r>
              <a:rPr sz="1400"/>
              <a:t>Bron: Boek 4, books34-v3, gedrukte boekpagina 36.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Eigen onderwijsmodel Pigment Pura: context en getallen zijn voor deze uitleg gemaakt, niet uit het boek. Boekpagina’s onderbouwen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voor de prijs niet het MO/MK-snijpunt?</a:t>
            </a:r>
          </a:p>
          <a:p xmlns:a="http://schemas.openxmlformats.org/drawingml/2006/main">
            <a:r>
              <a:rPr sz="1400"/>
              <a:t/>
            </a:r>
          </a:p>
          <a:p xmlns:a="http://schemas.openxmlformats.org/drawingml/2006/main">
            <a:r>
              <a:rPr sz="1400"/>
              <a:t>Uitleg: Houd q30 vast. Ga vanuit punt1 omhoog tot punt2 op GO en lees horizontaal27 af. De consument betaalt27. MO en MK zijn18. Prijs en afzet zijn één combinatie op de vraaglijn. De uniforme prijsverlaging raakt alle kg en verklaart waarom MO lager ligt.</a:t>
            </a:r>
          </a:p>
          <a:p xmlns:a="http://schemas.openxmlformats.org/drawingml/2006/main">
            <a:r>
              <a:rPr sz="1400"/>
              <a:t/>
            </a:r>
          </a:p>
          <a:p xmlns:a="http://schemas.openxmlformats.org/drawingml/2006/main">
            <a:r>
              <a:rPr sz="1400"/>
              <a:t>Misvatting: De monopolist kan niet q30 kiezen en vervolgens een willekeurige prijs vragen.</a:t>
            </a:r>
          </a:p>
          <a:p xmlns:a="http://schemas.openxmlformats.org/drawingml/2006/main">
            <a:r>
              <a:rPr sz="1400"/>
              <a:t/>
            </a:r>
          </a:p>
          <a:p xmlns:a="http://schemas.openxmlformats.org/drawingml/2006/main">
            <a:r>
              <a:rPr sz="1400"/>
              <a:t>Overgang: Gebruik de verkoopprijs in TO.</a:t>
            </a:r>
          </a:p>
          <a:p xmlns:a="http://schemas.openxmlformats.org/drawingml/2006/main">
            <a:r>
              <a:rPr sz="1400"/>
              <a:t/>
            </a:r>
          </a:p>
          <a:p xmlns:a="http://schemas.openxmlformats.org/drawingml/2006/main">
            <a:r>
              <a:rPr sz="1400"/>
              <a:t>Bron: Boek 4, books34-v3, gedrukte boekpagina 37.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Eigen onderwijsmodel Pigment Pura: context en getallen zijn voor deze uitleg gemaakt, niet uit het boek. Boekpagina’s onderbouwen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komen de constante kosten terug?</a:t>
            </a:r>
          </a:p>
          <a:p xmlns:a="http://schemas.openxmlformats.org/drawingml/2006/main">
            <a:r>
              <a:rPr sz="1400"/>
              <a:t/>
            </a:r>
          </a:p>
          <a:p xmlns:a="http://schemas.openxmlformats.org/drawingml/2006/main">
            <a:r>
              <a:rPr sz="1400"/>
              <a:t>Uitleg: Bereken eerst30²=900. TK=135+270+90=495. TO810 minTK495 geeft315 per week. Bij q0 blijven de vaste kosten90 bestaan. Produceren geeft een beter resultaat dan−90. Dit is de beschreven week, geen langetermijnbeslissing over sluiting.</a:t>
            </a:r>
          </a:p>
          <a:p xmlns:a="http://schemas.openxmlformats.org/drawingml/2006/main">
            <a:r>
              <a:rPr sz="1400"/>
              <a:t/>
            </a:r>
          </a:p>
          <a:p xmlns:a="http://schemas.openxmlformats.org/drawingml/2006/main">
            <a:r>
              <a:rPr sz="1400"/>
              <a:t>Misvatting: Winst is geen euro per kg. MO−MK=0 betekent niet dat de winst nul is.</a:t>
            </a:r>
          </a:p>
          <a:p xmlns:a="http://schemas.openxmlformats.org/drawingml/2006/main">
            <a:r>
              <a:rPr sz="1400"/>
              <a:t/>
            </a:r>
          </a:p>
          <a:p xmlns:a="http://schemas.openxmlformats.org/drawingml/2006/main">
            <a:r>
              <a:rPr sz="1400"/>
              <a:t>Overgang: Vertaal totale winst naar een oppervlakte.</a:t>
            </a:r>
          </a:p>
          <a:p xmlns:a="http://schemas.openxmlformats.org/drawingml/2006/main">
            <a:r>
              <a:rPr sz="1400"/>
              <a:t/>
            </a:r>
          </a:p>
          <a:p xmlns:a="http://schemas.openxmlformats.org/drawingml/2006/main">
            <a:r>
              <a:rPr sz="1400"/>
              <a:t>Bron: Boek 4, books34-v3, gedrukte boekpagina 38–40.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Eigen onderwijsmodel Pigment Pura: context en getallen zijn voor deze uitleg gemaakt, niet uit het boek. Boekpagina’s onderbouwen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gebruiken we GTK en niet MK als onderrand?</a:t>
            </a:r>
          </a:p>
          <a:p xmlns:a="http://schemas.openxmlformats.org/drawingml/2006/main">
            <a:r>
              <a:rPr sz="1400"/>
              <a:t/>
            </a:r>
          </a:p>
          <a:p xmlns:a="http://schemas.openxmlformats.org/drawingml/2006/main">
            <a:r>
              <a:rPr sz="1400"/>
              <a:t>Uitleg: De groene rechthoek loopt van0 tot30 kg en vanGTK(30)=16,5 totP27. De getekende GTK-lijn is0,15q+9+90/q, alleen bijq&gt;0. De rechthoek gebruikt het GTK-bedrag bij de gekozen q, niet de hele kromme als grens. Euro per kg maal kg per week geeft euro per week. Bij grafieken van TO en TK als totalen zou winst een verticale afstand zijn.</a:t>
            </a:r>
          </a:p>
          <a:p xmlns:a="http://schemas.openxmlformats.org/drawingml/2006/main">
            <a:r>
              <a:rPr sz="1400"/>
              <a:t/>
            </a:r>
          </a:p>
          <a:p xmlns:a="http://schemas.openxmlformats.org/drawingml/2006/main">
            <a:r>
              <a:rPr sz="1400"/>
              <a:t>Misvatting: De groene oppervlakte is winst, geen consumentensurplus of welvaartsverlies.</a:t>
            </a:r>
          </a:p>
          <a:p xmlns:a="http://schemas.openxmlformats.org/drawingml/2006/main">
            <a:r>
              <a:rPr sz="1400"/>
              <a:t/>
            </a:r>
          </a:p>
          <a:p xmlns:a="http://schemas.openxmlformats.org/drawingml/2006/main">
            <a:r>
              <a:rPr sz="1400"/>
              <a:t>Overgang: Onderzoek nu wat een lagere capaciteit verandert.</a:t>
            </a:r>
          </a:p>
          <a:p xmlns:a="http://schemas.openxmlformats.org/drawingml/2006/main">
            <a:r>
              <a:rPr sz="1400"/>
              <a:t/>
            </a:r>
          </a:p>
          <a:p xmlns:a="http://schemas.openxmlformats.org/drawingml/2006/main">
            <a:r>
              <a:rPr sz="1400"/>
              <a:t>Bron: Boek 4, books34-v3, gedrukte boekpagina 38.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Eigen onderwijsmodel Pigment Pura: context en getallen zijn voor deze uitleg gemaakt, niet uit het boek. Boekpagina’s onderbouwen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hoort de oude prijs27 niet bij het nieuwe plan?</a:t>
            </a:r>
          </a:p>
          <a:p xmlns:a="http://schemas.openxmlformats.org/drawingml/2006/main">
            <a:r>
              <a:rPr sz="1400"/>
              <a:t/>
            </a:r>
          </a:p>
          <a:p xmlns:a="http://schemas.openxmlformats.org/drawingml/2006/main">
            <a:r>
              <a:rPr sz="1400"/>
              <a:t>Uitleg: Reset alleen de capaciteit naar20; vraag en kosten blijven gelijk. MO−MK is positief op0 tot20, dus de beste haalbare afzet is20. TK=0,15×400+180+90=330. Winst270 is beter dan−90 bijq0. Na de haalbaarheidskeuze moet P opnieuw bij de werkelijke q worden berekend.</a:t>
            </a:r>
          </a:p>
          <a:p xmlns:a="http://schemas.openxmlformats.org/drawingml/2006/main">
            <a:r>
              <a:rPr sz="1400"/>
              <a:t/>
            </a:r>
          </a:p>
          <a:p xmlns:a="http://schemas.openxmlformats.org/drawingml/2006/main">
            <a:r>
              <a:rPr sz="1400"/>
              <a:t>Misvatting: Een capaciteitsgrens is geen nieuwe vraaglijn en het is geen afrondingsprobleem.</a:t>
            </a:r>
          </a:p>
          <a:p xmlns:a="http://schemas.openxmlformats.org/drawingml/2006/main">
            <a:r>
              <a:rPr sz="1400"/>
              <a:t/>
            </a:r>
          </a:p>
          <a:p xmlns:a="http://schemas.openxmlformats.org/drawingml/2006/main">
            <a:r>
              <a:rPr sz="1400"/>
              <a:t>Overgang: Zet de capaciteit terug op50 voor de volgende vergelijking.</a:t>
            </a:r>
          </a:p>
          <a:p xmlns:a="http://schemas.openxmlformats.org/drawingml/2006/main">
            <a:r>
              <a:rPr sz="1400"/>
              <a:t/>
            </a:r>
          </a:p>
          <a:p xmlns:a="http://schemas.openxmlformats.org/drawingml/2006/main">
            <a:r>
              <a:rPr sz="1400"/>
              <a:t>Bron: Boek 4, books34-v3, gedrukte boekpagina 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Eigen onderwijsmodel Pigment Pura: context en getallen zijn voor deze uitleg gemaakt, niet uit het boek. Boekpagina’s onderbouwen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 veranderen de marginale productieafweging?</a:t>
            </a:r>
          </a:p>
          <a:p xmlns:a="http://schemas.openxmlformats.org/drawingml/2006/main">
            <a:r>
              <a:rPr sz="1400"/>
              <a:t/>
            </a:r>
          </a:p>
          <a:p xmlns:a="http://schemas.openxmlformats.org/drawingml/2006/main">
            <a:r>
              <a:rPr sz="1400"/>
              <a:t>Uitleg: Reset naar de oorspronkelijke Pura-context, met alleen hogere vaste kosten. Omdat deze in de week bij alle q onvermijdbaar zijn, verandert de marginale vergelijking niet. Vergelijk metq0:−240. Een nog grotere stijging kan de maximale winst negatief maken zonder de beste q te veranderen.</a:t>
            </a:r>
          </a:p>
          <a:p xmlns:a="http://schemas.openxmlformats.org/drawingml/2006/main">
            <a:r>
              <a:rPr sz="1400"/>
              <a:t/>
            </a:r>
          </a:p>
          <a:p xmlns:a="http://schemas.openxmlformats.org/drawingml/2006/main">
            <a:r>
              <a:rPr sz="1400"/>
              <a:t>Misvatting: Hogere totale kosten betekenen niet automatisch een hogere MK of een lagere q.</a:t>
            </a:r>
          </a:p>
          <a:p xmlns:a="http://schemas.openxmlformats.org/drawingml/2006/main">
            <a:r>
              <a:rPr sz="1400"/>
              <a:t/>
            </a:r>
          </a:p>
          <a:p xmlns:a="http://schemas.openxmlformats.org/drawingml/2006/main">
            <a:r>
              <a:rPr sz="1400"/>
              <a:t>Overgang: Bekijk nu afzonderlijk een verandering van de vraag.</a:t>
            </a:r>
          </a:p>
          <a:p xmlns:a="http://schemas.openxmlformats.org/drawingml/2006/main">
            <a:r>
              <a:rPr sz="1400"/>
              <a:t/>
            </a:r>
          </a:p>
          <a:p xmlns:a="http://schemas.openxmlformats.org/drawingml/2006/main">
            <a:r>
              <a:rPr sz="1400"/>
              <a:t>Bron: Boek 4, books34-v3, gedrukte boekpagina 38–39, 42.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Eigen onderwijsmodel Pigment Pura: context en getallen zijn voor deze uitleg gemaakt, niet uit het boek. Boekpagina’s onderbouwen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functie verandert als er meer belangstelling is?</a:t>
            </a:r>
          </a:p>
          <a:p xmlns:a="http://schemas.openxmlformats.org/drawingml/2006/main">
            <a:r>
              <a:rPr sz="1400"/>
              <a:t/>
            </a:r>
          </a:p>
          <a:p xmlns:a="http://schemas.openxmlformats.org/drawingml/2006/main">
            <a:r>
              <a:rPr sz="1400"/>
              <a:t>Uitleg: Start weer met de oorspronkelijke vaste kosten90 en capaciteit50. De nieuwe vraag geeft een hogere MO. De kandidaat40 past binnen50; MO−MK=36−0,90q is positief vóór40 en negatief erna. Prijs33 hoort bij de nieuwe vraag. Met zowel deze vraag als vaste kosten240 blijven q40 enP33 gelden. De winst is dan1320−(240+360+240)=480. Dit maakt afzonderlijke veranderingen eerst en daarna samen onderzoeken expliciet, zoals nodig voor35.</a:t>
            </a:r>
          </a:p>
          <a:p xmlns:a="http://schemas.openxmlformats.org/drawingml/2006/main">
            <a:r>
              <a:rPr sz="1400"/>
              <a:t/>
            </a:r>
          </a:p>
          <a:p xmlns:a="http://schemas.openxmlformats.org/drawingml/2006/main">
            <a:r>
              <a:rPr sz="1400"/>
              <a:t>Misvatting: Verwar een verandering van de vraag niet met alleen een ander vast kostenbedrag.</a:t>
            </a:r>
          </a:p>
          <a:p xmlns:a="http://schemas.openxmlformats.org/drawingml/2006/main">
            <a:r>
              <a:rPr sz="1400"/>
              <a:t/>
            </a:r>
          </a:p>
          <a:p xmlns:a="http://schemas.openxmlformats.org/drawingml/2006/main">
            <a:r>
              <a:rPr sz="1400"/>
              <a:t>Overgang: Keer terug naar start32 en begin dan met de basisopgaven.</a:t>
            </a:r>
          </a:p>
          <a:p xmlns:a="http://schemas.openxmlformats.org/drawingml/2006/main">
            <a:r>
              <a:rPr sz="1400"/>
              <a:t/>
            </a:r>
          </a:p>
          <a:p xmlns:a="http://schemas.openxmlformats.org/drawingml/2006/main">
            <a:r>
              <a:rPr sz="1400"/>
              <a:t>Bron: Boek 4, books34-v3, gedrukte boekpagina 36–40, 42.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Eigen onderwijsmodel Pigment Pura: context en getallen zijn voor deze uitleg gemaakt, niet uit het boek. Boekpagina’s onderbouwen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waar twijfel je nog?</a:t>
            </a:r>
          </a:p>
          <a:p xmlns:a="http://schemas.openxmlformats.org/drawingml/2006/main">
            <a:r>
              <a:rPr sz="1400"/>
              <a:t/>
            </a:r>
          </a:p>
          <a:p xmlns:a="http://schemas.openxmlformats.org/drawingml/2006/main">
            <a:r>
              <a:rPr sz="1400"/>
              <a:t>Uitleg: Laat de dia staan tijdens zelfstandig werken. Start 31–32 en basis 33 staan op p.41, basis 34–35 op p.42, zelfstandig 36–37 op p.43, doel 38 op p.44. Huiswerk is 33,34,35,36,37,38 maken en nakijken. Bonus 39 en herhaling 40 op p.45 zijn extra. Opgave 31 haalt TO/MO uit §4.1.3 en MK uit §3.2.2 op; de marginale vergelijking is onderwezen in §3.2.3. Bij 32 is GO=P bekend, maar de combinatie met het monopolie-optimum wordt vandaag expliciet gemaakt. Laat leerlingen de prijsroute op p.37 erbij nemen, het onderscheid tussen marginale en gemiddelde bedragen aanwijzen en hun twijfel noteren. Dit is ondersteund verkennen. Vóór het basiswerk laat je 32 opnieuw proberen en bespreek je waarom TK nog nodig is voor winst. Geen aanname dat eerder onderwezen ook al beheerst is. De volledige route kan doorlopen in een volgende les; twee lessen zijn een planningsadvies zonder praktijkmeting.</a:t>
            </a:r>
          </a:p>
          <a:p xmlns:a="http://schemas.openxmlformats.org/drawingml/2006/main">
            <a:r>
              <a:rPr sz="1400"/>
              <a:t/>
            </a:r>
          </a:p>
          <a:p xmlns:a="http://schemas.openxmlformats.org/drawingml/2006/main">
            <a:r>
              <a:rPr sz="1400"/>
              <a:t>Misvatting: Gedrukte boekpagina’s gebruiken: de manuscriptmetadata noemt voor start 37 en voor doel 40, maar de complete PDF drukt 41 en 44 af.</a:t>
            </a:r>
          </a:p>
          <a:p xmlns:a="http://schemas.openxmlformats.org/drawingml/2006/main">
            <a:r>
              <a:rPr sz="1400"/>
              <a:t/>
            </a:r>
          </a:p>
          <a:p xmlns:a="http://schemas.openxmlformats.org/drawingml/2006/main">
            <a:r>
              <a:rPr sz="1400"/>
              <a:t>Overgang: Ga naar de volgende lesfase; bij afsluiting noteert iedereen het huiswerk.</a:t>
            </a:r>
          </a:p>
          <a:p xmlns:a="http://schemas.openxmlformats.org/drawingml/2006/main">
            <a:r>
              <a:rPr sz="1400"/>
              <a:t/>
            </a:r>
          </a:p>
          <a:p xmlns:a="http://schemas.openxmlformats.org/drawingml/2006/main">
            <a:r>
              <a:rPr sz="1400"/>
              <a:t>Bron: Boek 4, books34-v3, gedrukte boekpagina 35–45.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aannames begrenzen de berekening?</a:t>
            </a:r>
          </a:p>
          <a:p xmlns:a="http://schemas.openxmlformats.org/drawingml/2006/main">
            <a:r>
              <a:rPr sz="1400"/>
              <a:t/>
            </a:r>
          </a:p>
          <a:p xmlns:a="http://schemas.openxmlformats.org/drawingml/2006/main">
            <a:r>
              <a:rPr sz="1400"/>
              <a:t>Uitleg: Dit is de volledige bron van doeloefening38, na de eigen poging van leerlingen. Gebruik de bron en figuur20. De volgende dia toont de onverwerkte figuur; daarna volgen alle deelvragen zonder oplossing.</a:t>
            </a:r>
          </a:p>
          <a:p xmlns:a="http://schemas.openxmlformats.org/drawingml/2006/main">
            <a:r>
              <a:rPr sz="1400"/>
              <a:t/>
            </a:r>
          </a:p>
          <a:p xmlns:a="http://schemas.openxmlformats.org/drawingml/2006/main">
            <a:r>
              <a:rPr sz="1400"/>
              <a:t>Misvatting: Pura is afgesloten. Gebruik nu uitsluitend de gegevens van Nova.</a:t>
            </a:r>
          </a:p>
          <a:p xmlns:a="http://schemas.openxmlformats.org/drawingml/2006/main">
            <a:r>
              <a:rPr sz="1400"/>
              <a:t/>
            </a:r>
          </a:p>
          <a:p xmlns:a="http://schemas.openxmlformats.org/drawingml/2006/main">
            <a:r>
              <a:rPr sz="1400"/>
              <a:t>Overgang: Toon figuur20 zonder hulplijnen of antwoorden.</a:t>
            </a:r>
          </a:p>
          <a:p xmlns:a="http://schemas.openxmlformats.org/drawingml/2006/main">
            <a:r>
              <a:rPr sz="1400"/>
              <a:t/>
            </a:r>
          </a:p>
          <a:p xmlns:a="http://schemas.openxmlformats.org/drawingml/2006/main">
            <a:r>
              <a:rPr sz="1400"/>
              <a:t>Bron: Boek 4, books34-v3, gedrukte boekpagina 44.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drie lijnen staan al gegeven?</a:t>
            </a:r>
          </a:p>
          <a:p xmlns:a="http://schemas.openxmlformats.org/drawingml/2006/main">
            <a:r>
              <a:rPr sz="1400"/>
              <a:t/>
            </a:r>
          </a:p>
          <a:p xmlns:a="http://schemas.openxmlformats.org/drawingml/2006/main">
            <a:r>
              <a:rPr sz="1400"/>
              <a:t>Uitleg: Figuur20 is als bewerkbare XY-grafiek overgenomen: q0–80, bedrag0–40, GO=40−0,25q, MO=40−0,50q enMK=0,25q+10. De lijnen staan al in het boek. Leerlingen voegen later alleen de gevraagde route en labels toe. Er zijn hier nog geen oplossingshulplijnen.</a:t>
            </a:r>
          </a:p>
          <a:p xmlns:a="http://schemas.openxmlformats.org/drawingml/2006/main">
            <a:r>
              <a:rPr sz="1400"/>
              <a:t/>
            </a:r>
          </a:p>
          <a:p xmlns:a="http://schemas.openxmlformats.org/drawingml/2006/main">
            <a:r>
              <a:rPr sz="1400"/>
              <a:t>Misvatting: Een punt waar GO en MK elkaar snijden is niet automatisch het winstmaximum.</a:t>
            </a:r>
          </a:p>
          <a:p xmlns:a="http://schemas.openxmlformats.org/drawingml/2006/main">
            <a:r>
              <a:rPr sz="1400"/>
              <a:t/>
            </a:r>
          </a:p>
          <a:p xmlns:a="http://schemas.openxmlformats.org/drawingml/2006/main">
            <a:r>
              <a:rPr sz="1400"/>
              <a:t>Overgang: Lees eerst de deelvragena–c en daarna d–f.</a:t>
            </a:r>
          </a:p>
          <a:p xmlns:a="http://schemas.openxmlformats.org/drawingml/2006/main">
            <a:r>
              <a:rPr sz="1400"/>
              <a:t/>
            </a:r>
          </a:p>
          <a:p xmlns:a="http://schemas.openxmlformats.org/drawingml/2006/main">
            <a:r>
              <a:rPr sz="1400"/>
              <a:t>Bron: Boek 4, books34-v3, gedrukte boekpagina 44.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controle hoort uitdrukkelijk bij vraagb?</a:t>
            </a:r>
          </a:p>
          <a:p xmlns:a="http://schemas.openxmlformats.org/drawingml/2006/main">
            <a:r>
              <a:rPr sz="1400"/>
              <a:t/>
            </a:r>
          </a:p>
          <a:p xmlns:a="http://schemas.openxmlformats.org/drawingml/2006/main">
            <a:r>
              <a:rPr sz="1400"/>
              <a:t>Uitleg: De eerste drie vragen zijn volledig overgenomen. Laat nog geen antwoorden zien. Bron en figuur staan op de twee voorafgaande dia’s en in het boek.</a:t>
            </a:r>
          </a:p>
          <a:p xmlns:a="http://schemas.openxmlformats.org/drawingml/2006/main">
            <a:r>
              <a:rPr sz="1400"/>
              <a:t/>
            </a:r>
          </a:p>
          <a:p xmlns:a="http://schemas.openxmlformats.org/drawingml/2006/main">
            <a:r>
              <a:rPr sz="1400"/>
              <a:t>Misvatting: Vraagb vraagt meer dan een vergelijking oplossen.</a:t>
            </a:r>
          </a:p>
          <a:p xmlns:a="http://schemas.openxmlformats.org/drawingml/2006/main">
            <a:r>
              <a:rPr sz="1400"/>
              <a:t/>
            </a:r>
          </a:p>
          <a:p xmlns:a="http://schemas.openxmlformats.org/drawingml/2006/main">
            <a:r>
              <a:rPr sz="1400"/>
              <a:t>Overgang: Toon ook de drie resterende deelvragen.</a:t>
            </a:r>
          </a:p>
          <a:p xmlns:a="http://schemas.openxmlformats.org/drawingml/2006/main">
            <a:r>
              <a:rPr sz="1400"/>
              <a:t/>
            </a:r>
          </a:p>
          <a:p xmlns:a="http://schemas.openxmlformats.org/drawingml/2006/main">
            <a:r>
              <a:rPr sz="1400"/>
              <a:t>Bron: Boek 4, books34-v3, gedrukte boekpagina 44.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verschillende soorten eurobedragen vraagt d?</a:t>
            </a:r>
          </a:p>
          <a:p xmlns:a="http://schemas.openxmlformats.org/drawingml/2006/main">
            <a:r>
              <a:rPr sz="1400"/>
              <a:t/>
            </a:r>
          </a:p>
          <a:p xmlns:a="http://schemas.openxmlformats.org/drawingml/2006/main">
            <a:r>
              <a:rPr sz="1400"/>
              <a:t>Uitleg: Nu zijn alle zes vragen beschikbaar zonder oplossingen. Geef gelegenheid om de eigen berekeningen te vergelijken met wat precies gevraagd wordt. De q60 in vraagf hoort bij de beschreven foutmethode, niet bij ons antwoord.</a:t>
            </a:r>
          </a:p>
          <a:p xmlns:a="http://schemas.openxmlformats.org/drawingml/2006/main">
            <a:r>
              <a:rPr sz="1400"/>
              <a:t/>
            </a:r>
          </a:p>
          <a:p xmlns:a="http://schemas.openxmlformats.org/drawingml/2006/main">
            <a:r>
              <a:rPr sz="1400"/>
              <a:t>Misvatting: Alleen een eindgetal voldoet niet aan de vragen over onderbouwing en hulplijnen.</a:t>
            </a:r>
          </a:p>
          <a:p xmlns:a="http://schemas.openxmlformats.org/drawingml/2006/main">
            <a:r>
              <a:rPr sz="1400"/>
              <a:t/>
            </a:r>
          </a:p>
          <a:p xmlns:a="http://schemas.openxmlformats.org/drawingml/2006/main">
            <a:r>
              <a:rPr sz="1400"/>
              <a:t>Overgang: Begin de uitwerking bij TO, MO en MK.</a:t>
            </a:r>
          </a:p>
          <a:p xmlns:a="http://schemas.openxmlformats.org/drawingml/2006/main">
            <a:r>
              <a:rPr sz="1400"/>
              <a:t/>
            </a:r>
          </a:p>
          <a:p xmlns:a="http://schemas.openxmlformats.org/drawingml/2006/main">
            <a:r>
              <a:rPr sz="1400"/>
              <a:t>Bron: Boek 4, books34-v3, gedrukte boekpagina 44.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wordt de helling van MO −0,50?</a:t>
            </a:r>
          </a:p>
          <a:p xmlns:a="http://schemas.openxmlformats.org/drawingml/2006/main">
            <a:r>
              <a:rPr sz="1400"/>
              <a:t/>
            </a:r>
          </a:p>
          <a:p xmlns:a="http://schemas.openxmlformats.org/drawingml/2006/main">
            <a:r>
              <a:rPr sz="1400"/>
              <a:t>Uitleg: Modelantwoorda: TO40q−0,25q²; MO40−0,50q; MK0,25q+10. Laat alle termen zien: 2×0,125q=0,25q,10q geeft10 en200 geeft0.</a:t>
            </a:r>
          </a:p>
          <a:p xmlns:a="http://schemas.openxmlformats.org/drawingml/2006/main">
            <a:r>
              <a:rPr sz="1400"/>
              <a:t/>
            </a:r>
          </a:p>
          <a:p xmlns:a="http://schemas.openxmlformats.org/drawingml/2006/main">
            <a:r>
              <a:rPr sz="1400"/>
              <a:t>Misvatting: De constante kosten200 verdwijnen niet uit TK.</a:t>
            </a:r>
          </a:p>
          <a:p xmlns:a="http://schemas.openxmlformats.org/drawingml/2006/main">
            <a:r>
              <a:rPr sz="1400"/>
              <a:t/>
            </a:r>
          </a:p>
          <a:p xmlns:a="http://schemas.openxmlformats.org/drawingml/2006/main">
            <a:r>
              <a:rPr sz="1400"/>
              <a:t>Overgang: Stel MO gelijk aan MK.</a:t>
            </a:r>
          </a:p>
          <a:p xmlns:a="http://schemas.openxmlformats.org/drawingml/2006/main">
            <a:r>
              <a:rPr sz="1400"/>
              <a:t/>
            </a:r>
          </a:p>
          <a:p xmlns:a="http://schemas.openxmlformats.org/drawingml/2006/main">
            <a:r>
              <a:rPr sz="1400"/>
              <a:t>Bron: Boek 4, books34-v3, gedrukte boekpagina 44.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voorkomt een tekenfout?</a:t>
            </a:r>
          </a:p>
          <a:p xmlns:a="http://schemas.openxmlformats.org/drawingml/2006/main">
            <a:r>
              <a:rPr sz="1400"/>
              <a:t/>
            </a:r>
          </a:p>
          <a:p xmlns:a="http://schemas.openxmlformats.org/drawingml/2006/main">
            <a:r>
              <a:rPr sz="1400"/>
              <a:t>Uitleg: Breng de q-termen naar rechts en de constanten naar links:40−10=0,25q+0,50q. Deel30 door0,75. Deze kandidaat moet nog gecontroleerd worden.</a:t>
            </a:r>
          </a:p>
          <a:p xmlns:a="http://schemas.openxmlformats.org/drawingml/2006/main">
            <a:r>
              <a:rPr sz="1400"/>
              <a:t/>
            </a:r>
          </a:p>
          <a:p xmlns:a="http://schemas.openxmlformats.org/drawingml/2006/main">
            <a:r>
              <a:rPr sz="1400"/>
              <a:t>Misvatting: Het gelijkstellen van P aan MK hoort niet bij deze berekening.</a:t>
            </a:r>
          </a:p>
          <a:p xmlns:a="http://schemas.openxmlformats.org/drawingml/2006/main">
            <a:r>
              <a:rPr sz="1400"/>
              <a:t/>
            </a:r>
          </a:p>
          <a:p xmlns:a="http://schemas.openxmlformats.org/drawingml/2006/main">
            <a:r>
              <a:rPr sz="1400"/>
              <a:t>Overgang: Controleer richting en capaciteit.</a:t>
            </a:r>
          </a:p>
          <a:p xmlns:a="http://schemas.openxmlformats.org/drawingml/2006/main">
            <a:r>
              <a:rPr sz="1400"/>
              <a:t/>
            </a:r>
          </a:p>
          <a:p xmlns:a="http://schemas.openxmlformats.org/drawingml/2006/main">
            <a:r>
              <a:rPr sz="1400"/>
              <a:t>Bron: Boek 4, books34-v3, gedrukte boekpagina 44.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kunnen de twee controlepunten samen met het lijnverloop het maximum onderbouwen?</a:t>
            </a:r>
          </a:p>
          <a:p xmlns:a="http://schemas.openxmlformats.org/drawingml/2006/main">
            <a:r>
              <a:rPr sz="1400"/>
              <a:t/>
            </a:r>
          </a:p>
          <a:p xmlns:a="http://schemas.openxmlformats.org/drawingml/2006/main">
            <a:r>
              <a:rPr sz="1400"/>
              <a:t>Uitleg: Dit is het volledige b-antwoord uit het model. MO−MK=30−0,75q verandert van positief naar negatief bij40. De gekozen40 ligt binnen de capaciteit80. De q0-controle volgt bijd.</a:t>
            </a:r>
          </a:p>
          <a:p xmlns:a="http://schemas.openxmlformats.org/drawingml/2006/main">
            <a:r>
              <a:rPr sz="1400"/>
              <a:t/>
            </a:r>
          </a:p>
          <a:p xmlns:a="http://schemas.openxmlformats.org/drawingml/2006/main">
            <a:r>
              <a:rPr sz="1400"/>
              <a:t>Misvatting: Niet ieder willekeurig snijpunt geeft zonder controle een maximum.</a:t>
            </a:r>
          </a:p>
          <a:p xmlns:a="http://schemas.openxmlformats.org/drawingml/2006/main">
            <a:r>
              <a:rPr sz="1400"/>
              <a:t/>
            </a:r>
          </a:p>
          <a:p xmlns:a="http://schemas.openxmlformats.org/drawingml/2006/main">
            <a:r>
              <a:rPr sz="1400"/>
              <a:t>Overgang: Lees de verkoopprijs bij deze q.</a:t>
            </a:r>
          </a:p>
          <a:p xmlns:a="http://schemas.openxmlformats.org/drawingml/2006/main">
            <a:r>
              <a:rPr sz="1400"/>
              <a:t/>
            </a:r>
          </a:p>
          <a:p xmlns:a="http://schemas.openxmlformats.org/drawingml/2006/main">
            <a:r>
              <a:rPr sz="1400"/>
              <a:t>Bron: Boek 4, books34-v3, gedrukte boekpagina 44.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betaalt een koper per kg?</a:t>
            </a:r>
          </a:p>
          <a:p xmlns:a="http://schemas.openxmlformats.org/drawingml/2006/main">
            <a:r>
              <a:rPr sz="1400"/>
              <a:t/>
            </a:r>
          </a:p>
          <a:p xmlns:a="http://schemas.openxmlformats.org/drawingml/2006/main">
            <a:r>
              <a:rPr sz="1400"/>
              <a:t>Uitleg: Modelantwoordc is30 euro per kg. Dit volgt uit GO, niet uit de marginale opbrengst20. Invullen in de vraag controleert de combinatie40kg en30euro.</a:t>
            </a:r>
          </a:p>
          <a:p xmlns:a="http://schemas.openxmlformats.org/drawingml/2006/main">
            <a:r>
              <a:rPr sz="1400"/>
              <a:t/>
            </a:r>
          </a:p>
          <a:p xmlns:a="http://schemas.openxmlformats.org/drawingml/2006/main">
            <a:r>
              <a:rPr sz="1400"/>
              <a:t>Misvatting: De y-waarde20 van het snijpunt is niet de verkoopprijs.</a:t>
            </a:r>
          </a:p>
          <a:p xmlns:a="http://schemas.openxmlformats.org/drawingml/2006/main">
            <a:r>
              <a:rPr sz="1400"/>
              <a:t/>
            </a:r>
          </a:p>
          <a:p xmlns:a="http://schemas.openxmlformats.org/drawingml/2006/main">
            <a:r>
              <a:rPr sz="1400"/>
              <a:t>Overgang: Bereken de totale bedragen met P30 en q40.</a:t>
            </a:r>
          </a:p>
          <a:p xmlns:a="http://schemas.openxmlformats.org/drawingml/2006/main">
            <a:r>
              <a:rPr sz="1400"/>
              <a:t/>
            </a:r>
          </a:p>
          <a:p xmlns:a="http://schemas.openxmlformats.org/drawingml/2006/main">
            <a:r>
              <a:rPr sz="1400"/>
              <a:t>Bron: Boek 4, books34-v3, gedrukte boekpagina 44.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drie termen tellen op tot TK?</a:t>
            </a:r>
          </a:p>
          <a:p xmlns:a="http://schemas.openxmlformats.org/drawingml/2006/main">
            <a:r>
              <a:rPr sz="1400"/>
              <a:t/>
            </a:r>
          </a:p>
          <a:p xmlns:a="http://schemas.openxmlformats.org/drawingml/2006/main">
            <a:r>
              <a:rPr sz="1400"/>
              <a:t>Uitleg: Modelantwoordd eerste deel: TO1200, TK800, winst400. Eerst40²=1600, dan maal0,125=200. Variabele lineaire kosten zijn400; vaste kosten200. Gebruik P30 en niet MO20 in TO.</a:t>
            </a:r>
          </a:p>
          <a:p xmlns:a="http://schemas.openxmlformats.org/drawingml/2006/main">
            <a:r>
              <a:rPr sz="1400"/>
              <a:t/>
            </a:r>
          </a:p>
          <a:p xmlns:a="http://schemas.openxmlformats.org/drawingml/2006/main">
            <a:r>
              <a:rPr sz="1400"/>
              <a:t>Misvatting: Een juist winstbedrag zonder eenheid of berekening is onvolledig.</a:t>
            </a:r>
          </a:p>
          <a:p xmlns:a="http://schemas.openxmlformats.org/drawingml/2006/main">
            <a:r>
              <a:rPr sz="1400"/>
              <a:t/>
            </a:r>
          </a:p>
          <a:p xmlns:a="http://schemas.openxmlformats.org/drawingml/2006/main">
            <a:r>
              <a:rPr sz="1400"/>
              <a:t>Overgang: Bereken GTK en controleer niet produceren.</a:t>
            </a:r>
          </a:p>
          <a:p xmlns:a="http://schemas.openxmlformats.org/drawingml/2006/main">
            <a:r>
              <a:rPr sz="1400"/>
              <a:t/>
            </a:r>
          </a:p>
          <a:p xmlns:a="http://schemas.openxmlformats.org/drawingml/2006/main">
            <a:r>
              <a:rPr sz="1400"/>
              <a:t>Bron: Boek 4, books34-v3, gedrukte boekpagina 44.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winst bij q0 niet nul?</a:t>
            </a:r>
          </a:p>
          <a:p xmlns:a="http://schemas.openxmlformats.org/drawingml/2006/main">
            <a:r>
              <a:rPr sz="1400"/>
              <a:t/>
            </a:r>
          </a:p>
          <a:p xmlns:a="http://schemas.openxmlformats.org/drawingml/2006/main">
            <a:r>
              <a:rPr sz="1400"/>
              <a:t>Uitleg: Tweede deel van d: GTK800/40=20perkg. Controle met winst perkg10 maal40 bevestigt400perweek. GTK en MO hebben toevallig allebei de waarde20, maar een andere betekenis. Bijq0 is GTK ongedefinieerd; totale winst is wel te berekenen en is−200.</a:t>
            </a:r>
          </a:p>
          <a:p xmlns:a="http://schemas.openxmlformats.org/drawingml/2006/main">
            <a:r>
              <a:rPr sz="1400"/>
              <a:t/>
            </a:r>
          </a:p>
          <a:p xmlns:a="http://schemas.openxmlformats.org/drawingml/2006/main">
            <a:r>
              <a:rPr sz="1400"/>
              <a:t>Misvatting: GTK20 is niet altijd gelijk aan MK20. Hier vallen de waarden toevallig samen.</a:t>
            </a:r>
          </a:p>
          <a:p xmlns:a="http://schemas.openxmlformats.org/drawingml/2006/main">
            <a:r>
              <a:rPr sz="1400"/>
              <a:t/>
            </a:r>
          </a:p>
          <a:p xmlns:a="http://schemas.openxmlformats.org/drawingml/2006/main">
            <a:r>
              <a:rPr sz="1400"/>
              <a:t>Overgang: Laat de grafische route nu in twee stappen zien.</a:t>
            </a:r>
          </a:p>
          <a:p xmlns:a="http://schemas.openxmlformats.org/drawingml/2006/main">
            <a:r>
              <a:rPr sz="1400"/>
              <a:t/>
            </a:r>
          </a:p>
          <a:p xmlns:a="http://schemas.openxmlformats.org/drawingml/2006/main">
            <a:r>
              <a:rPr sz="1400"/>
              <a:t>Bron: Boek 4, books34-v3, gedrukte boekpagina 44.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lees je op de horizontale as af?</a:t>
            </a:r>
          </a:p>
          <a:p xmlns:a="http://schemas.openxmlformats.org/drawingml/2006/main">
            <a:r>
              <a:rPr sz="1400"/>
              <a:t/>
            </a:r>
          </a:p>
          <a:p xmlns:a="http://schemas.openxmlformats.org/drawingml/2006/main">
            <a:r>
              <a:rPr sz="1400"/>
              <a:t>Uitleg: Markeer het snijpunt van MO en MK bij(40;20). Trek een verticale hulplijn naar de horizontale as. De q-label40 hoort bij die hulplijn. GO blijft al zichtbaar, zoals in figuur20.</a:t>
            </a:r>
          </a:p>
          <a:p xmlns:a="http://schemas.openxmlformats.org/drawingml/2006/main">
            <a:r>
              <a:rPr sz="1400"/>
              <a:t/>
            </a:r>
          </a:p>
          <a:p xmlns:a="http://schemas.openxmlformats.org/drawingml/2006/main">
            <a:r>
              <a:rPr sz="1400"/>
              <a:t>Misvatting: Lees niet de20 op de verticale as als verkoopprijs.</a:t>
            </a:r>
          </a:p>
          <a:p xmlns:a="http://schemas.openxmlformats.org/drawingml/2006/main">
            <a:r>
              <a:rPr sz="1400"/>
              <a:t/>
            </a:r>
          </a:p>
          <a:p xmlns:a="http://schemas.openxmlformats.org/drawingml/2006/main">
            <a:r>
              <a:rPr sz="1400"/>
              <a:t>Overgang: Ga bij q40 naar de GO-lijn.</a:t>
            </a:r>
          </a:p>
          <a:p xmlns:a="http://schemas.openxmlformats.org/drawingml/2006/main">
            <a:r>
              <a:rPr sz="1400"/>
              <a:t/>
            </a:r>
          </a:p>
          <a:p xmlns:a="http://schemas.openxmlformats.org/drawingml/2006/main">
            <a:r>
              <a:rPr sz="1400"/>
              <a:t>Bron: Boek 4, books34-v3, gedrukte boekpagina 44.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hulplijn ontbrak nog in je eigen figuur?</a:t>
            </a:r>
          </a:p>
          <a:p xmlns:a="http://schemas.openxmlformats.org/drawingml/2006/main">
            <a:r>
              <a:rPr sz="1400"/>
              <a:t/>
            </a:r>
          </a:p>
          <a:p xmlns:a="http://schemas.openxmlformats.org/drawingml/2006/main">
            <a:r>
              <a:rPr sz="1400"/>
              <a:t>Uitleg: Volledige routee: MO/MK-snijpunt naarq40; bij dezelfde40 omhoog tot GO op30; horizontale hulplijn naar de bedrag-as. Punten1 en2 zijn verschillende punten bij dezelfde hoeveelheid. Vergelijk met de eigen tekening van de leerling.</a:t>
            </a:r>
          </a:p>
          <a:p xmlns:a="http://schemas.openxmlformats.org/drawingml/2006/main">
            <a:r>
              <a:rPr sz="1400"/>
              <a:t/>
            </a:r>
          </a:p>
          <a:p xmlns:a="http://schemas.openxmlformats.org/drawingml/2006/main">
            <a:r>
              <a:rPr sz="1400"/>
              <a:t>Misvatting: Verplaats q niet naar het GO/MK-snijpunt bij60.</a:t>
            </a:r>
          </a:p>
          <a:p xmlns:a="http://schemas.openxmlformats.org/drawingml/2006/main">
            <a:r>
              <a:rPr sz="1400"/>
              <a:t/>
            </a:r>
          </a:p>
          <a:p xmlns:a="http://schemas.openxmlformats.org/drawingml/2006/main">
            <a:r>
              <a:rPr sz="1400"/>
              <a:t>Overgang: Onderzoek nu de foutmethode bijq60.</a:t>
            </a:r>
          </a:p>
          <a:p xmlns:a="http://schemas.openxmlformats.org/drawingml/2006/main">
            <a:r>
              <a:rPr sz="1400"/>
              <a:t/>
            </a:r>
          </a:p>
          <a:p xmlns:a="http://schemas.openxmlformats.org/drawingml/2006/main">
            <a:r>
              <a:rPr sz="1400"/>
              <a:t>Bron: Boek 4, books34-v3, gedrukte boekpagina 44.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vergelijking geeft hier de richting van winst?</a:t>
            </a:r>
          </a:p>
          <a:p xmlns:a="http://schemas.openxmlformats.org/drawingml/2006/main">
            <a:r>
              <a:rPr sz="1400"/>
              <a:t/>
            </a:r>
          </a:p>
          <a:p xmlns:a="http://schemas.openxmlformats.org/drawingml/2006/main">
            <a:r>
              <a:rPr sz="1400"/>
              <a:t>Uitleg: Modelantwoordf: P25 enMK25, maarMO10. Bij een kleine vermindering bespaar je meer kosten dan je opbrengst misloopt; de winst stijgt. De marginale bedragen leveren de gevraagde weerlegging. Aanvullende totale controle: TO25×60=1500, TK0,125×3600+600+200=1250, winst250. Dat is lager dan400.</a:t>
            </a:r>
          </a:p>
          <a:p xmlns:a="http://schemas.openxmlformats.org/drawingml/2006/main">
            <a:r>
              <a:rPr sz="1400"/>
              <a:t/>
            </a:r>
          </a:p>
          <a:p xmlns:a="http://schemas.openxmlformats.org/drawingml/2006/main">
            <a:r>
              <a:rPr sz="1400"/>
              <a:t>Misvatting: P=MK is de prijsnemersregel alleen omdat daar P=MO. Bij deze monopolist ontbreekt die gelijkheid.</a:t>
            </a:r>
          </a:p>
          <a:p xmlns:a="http://schemas.openxmlformats.org/drawingml/2006/main">
            <a:r>
              <a:rPr sz="1400"/>
              <a:t/>
            </a:r>
          </a:p>
          <a:p xmlns:a="http://schemas.openxmlformats.org/drawingml/2006/main">
            <a:r>
              <a:rPr sz="1400"/>
              <a:t>Overgang: Verbeter een fout in je eigen antwoord en noteer het huiswerk.</a:t>
            </a:r>
          </a:p>
          <a:p xmlns:a="http://schemas.openxmlformats.org/drawingml/2006/main">
            <a:r>
              <a:rPr sz="1400"/>
              <a:t/>
            </a:r>
          </a:p>
          <a:p xmlns:a="http://schemas.openxmlformats.org/drawingml/2006/main">
            <a:r>
              <a:rPr sz="1400"/>
              <a:t>Bron: Boek 4, books34-v3, gedrukte boekpagina 44.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waar twijfel je nog?</a:t>
            </a:r>
          </a:p>
          <a:p xmlns:a="http://schemas.openxmlformats.org/drawingml/2006/main">
            <a:r>
              <a:rPr sz="1400"/>
              <a:t/>
            </a:r>
          </a:p>
          <a:p xmlns:a="http://schemas.openxmlformats.org/drawingml/2006/main">
            <a:r>
              <a:rPr sz="1400"/>
              <a:t>Uitleg: Laat de dia staan tijdens afsluiting / huiswerk. Start 31–32 en basis 33 staan op p.41, basis 34–35 op p.42, zelfstandig 36–37 op p.43, doel 38 op p.44. Huiswerk is 33,34,35,36,37,38 maken en nakijken. Bonus 39 en herhaling 40 op p.45 zijn extra. Opgave 31 haalt TO/MO uit §4.1.3 en MK uit §3.2.2 op; de marginale vergelijking is onderwezen in §3.2.3. Bij 32 is GO=P bekend, maar de combinatie met het monopolie-optimum wordt vandaag expliciet gemaakt. Laat leerlingen de prijsroute op p.37 erbij nemen, het onderscheid tussen marginale en gemiddelde bedragen aanwijzen en hun twijfel noteren. Dit is ondersteund verkennen. Vóór het basiswerk laat je 32 opnieuw proberen en bespreek je waarom TK nog nodig is voor winst. Geen aanname dat eerder onderwezen ook al beheerst is. De volledige route kan doorlopen in een volgende les; twee lessen zijn een planningsadvies zonder praktijkmeting.</a:t>
            </a:r>
          </a:p>
          <a:p xmlns:a="http://schemas.openxmlformats.org/drawingml/2006/main">
            <a:r>
              <a:rPr sz="1400"/>
              <a:t/>
            </a:r>
          </a:p>
          <a:p xmlns:a="http://schemas.openxmlformats.org/drawingml/2006/main">
            <a:r>
              <a:rPr sz="1400"/>
              <a:t>Misvatting: Gedrukte boekpagina’s gebruiken: de manuscriptmetadata noemt voor start 37 en voor doel 40, maar de complete PDF drukt 41 en 44 af.</a:t>
            </a:r>
          </a:p>
          <a:p xmlns:a="http://schemas.openxmlformats.org/drawingml/2006/main">
            <a:r>
              <a:rPr sz="1400"/>
              <a:t/>
            </a:r>
          </a:p>
          <a:p xmlns:a="http://schemas.openxmlformats.org/drawingml/2006/main">
            <a:r>
              <a:rPr sz="1400"/>
              <a:t>Overgang: Ga naar de volgende lesfase; bij afsluiting noteert iedereen het huiswerk.</a:t>
            </a:r>
          </a:p>
          <a:p xmlns:a="http://schemas.openxmlformats.org/drawingml/2006/main">
            <a:r>
              <a:rPr sz="1400"/>
              <a:t/>
            </a:r>
          </a:p>
          <a:p xmlns:a="http://schemas.openxmlformats.org/drawingml/2006/main">
            <a:r>
              <a:rPr sz="1400"/>
              <a:t>Bron: Boek 4, books34-v3, gedrukte boekpagina 35–45.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https://github.com/meijer1973/4veco-lessen/blob/e734532a42b27732ac25ce990fc9448b12309d28/edities/books34-v3/books/book-4/chapters/4.1/4.1.4%20manuscript.md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28961808134b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df6523645e4c0e" /><Relationship Type="http://schemas.openxmlformats.org/officeDocument/2006/relationships/slideLayout" Target="/ppt/slideLayouts/slideLayout1.xml" Id="R706488cf54534c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6488cf54534c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986dc5bfde4562" /><Relationship Type="http://schemas.openxmlformats.org/officeDocument/2006/relationships/notesSlide" Target="/ppt/notesSlides/notesSlide1.xml" Id="R78edee05eb1a4e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e66ac2ad2894cec" /><Relationship Type="http://schemas.openxmlformats.org/officeDocument/2006/relationships/notesSlide" Target="/ppt/notesSlides/notesSlide2.xml" Id="R968a46a820a24a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8bb2c38a5b48d4" /><Relationship Type="http://schemas.openxmlformats.org/officeDocument/2006/relationships/notesSlide" Target="/ppt/notesSlides/notesSlide3.xml" Id="R59028a0f53a044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304057a0004cca" /><Relationship Type="http://schemas.openxmlformats.org/officeDocument/2006/relationships/notesSlide" Target="/ppt/notesSlides/notesSlide4.xml" Id="Rf6d74120770d4e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daf7b875f547a9" /><Relationship Type="http://schemas.openxmlformats.org/officeDocument/2006/relationships/notesSlide" Target="/ppt/notesSlides/notesSlide5.xml" Id="R6fc9fb55ba644e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4128b034544637" /><Relationship Type="http://schemas.openxmlformats.org/officeDocument/2006/relationships/chart" Target="/ppt/slides/charts/chart1.xml" Id="R7523753ea0634864" /><Relationship Type="http://schemas.openxmlformats.org/officeDocument/2006/relationships/notesSlide" Target="/ppt/notesSlides/notesSlide6.xml" Id="Rb94792f7d19347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b92bbb4fc5447cd" /><Relationship Type="http://schemas.openxmlformats.org/officeDocument/2006/relationships/chart" Target="/ppt/slides/charts/chart2.xml" Id="R641662e8a21142a2" /><Relationship Type="http://schemas.openxmlformats.org/officeDocument/2006/relationships/notesSlide" Target="/ppt/notesSlides/notesSlide7.xml" Id="R363df611cc084f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bb091e1994f4082" /><Relationship Type="http://schemas.openxmlformats.org/officeDocument/2006/relationships/notesSlide" Target="/ppt/notesSlides/notesSlide8.xml" Id="Ra07bde14124644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697ce417d674545" /><Relationship Type="http://schemas.openxmlformats.org/officeDocument/2006/relationships/chart" Target="/ppt/slides/charts/chart3.xml" Id="Rdd4e6803edf24ec6" /><Relationship Type="http://schemas.openxmlformats.org/officeDocument/2006/relationships/notesSlide" Target="/ppt/notesSlides/notesSlide9.xml" Id="R3be3402377a54b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731c4b38d36440e" /><Relationship Type="http://schemas.openxmlformats.org/officeDocument/2006/relationships/notesSlide" Target="/ppt/notesSlides/notesSlide10.xml" Id="R11ef3693127443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8c3e76a4e1249c0" /><Relationship Type="http://schemas.openxmlformats.org/officeDocument/2006/relationships/notesSlide" Target="/ppt/notesSlides/notesSlide11.xml" Id="R35d4dee7259845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a1e62086df948bd" /><Relationship Type="http://schemas.openxmlformats.org/officeDocument/2006/relationships/notesSlide" Target="/ppt/notesSlides/notesSlide12.xml" Id="Rf009c4c3ecdc43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aeb1dcec29a41b3" /><Relationship Type="http://schemas.openxmlformats.org/officeDocument/2006/relationships/notesSlide" Target="/ppt/notesSlides/notesSlide13.xml" Id="R0113cc788d6746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30d23eb100a4e30" /><Relationship Type="http://schemas.openxmlformats.org/officeDocument/2006/relationships/notesSlide" Target="/ppt/notesSlides/notesSlide14.xml" Id="R90114a514ad944d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b58b49fe63e423f" /><Relationship Type="http://schemas.openxmlformats.org/officeDocument/2006/relationships/chart" Target="/ppt/slides/charts/chart4.xml" Id="R4ff5dc25a2cf4d6c" /><Relationship Type="http://schemas.openxmlformats.org/officeDocument/2006/relationships/notesSlide" Target="/ppt/notesSlides/notesSlide15.xml" Id="R7c345484c8e8496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9beb1b38a6042b3" /><Relationship Type="http://schemas.openxmlformats.org/officeDocument/2006/relationships/notesSlide" Target="/ppt/notesSlides/notesSlide16.xml" Id="R13f809699c67487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b249dac32cd4602" /><Relationship Type="http://schemas.openxmlformats.org/officeDocument/2006/relationships/notesSlide" Target="/ppt/notesSlides/notesSlide17.xml" Id="R8e7666f0be2941f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585926ed9ee45f8" /><Relationship Type="http://schemas.openxmlformats.org/officeDocument/2006/relationships/notesSlide" Target="/ppt/notesSlides/notesSlide18.xml" Id="R94c35008411843c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12b66e0c6b24d2b" /><Relationship Type="http://schemas.openxmlformats.org/officeDocument/2006/relationships/notesSlide" Target="/ppt/notesSlides/notesSlide19.xml" Id="Rd2943231a55f4d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a9c3a64ead34d32" /><Relationship Type="http://schemas.openxmlformats.org/officeDocument/2006/relationships/notesSlide" Target="/ppt/notesSlides/notesSlide20.xml" Id="R37fad387a26946a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7d18b534de34819" /><Relationship Type="http://schemas.openxmlformats.org/officeDocument/2006/relationships/notesSlide" Target="/ppt/notesSlides/notesSlide21.xml" Id="R321e4575e78947b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08e392d8ef5441f" /><Relationship Type="http://schemas.openxmlformats.org/officeDocument/2006/relationships/notesSlide" Target="/ppt/notesSlides/notesSlide22.xml" Id="R794f0496787b424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8c882ed4aa441f3" /><Relationship Type="http://schemas.openxmlformats.org/officeDocument/2006/relationships/notesSlide" Target="/ppt/notesSlides/notesSlide23.xml" Id="Rdd505699e2f745c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1990ee48455440b" /><Relationship Type="http://schemas.openxmlformats.org/officeDocument/2006/relationships/chart" Target="/ppt/slides/charts/chart5.xml" Id="R8d116c9b2be04cc1" /><Relationship Type="http://schemas.openxmlformats.org/officeDocument/2006/relationships/notesSlide" Target="/ppt/notesSlides/notesSlide24.xml" Id="Rd7f037d3a546471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c853c6fa43143e6" /><Relationship Type="http://schemas.openxmlformats.org/officeDocument/2006/relationships/chart" Target="/ppt/slides/charts/chart6.xml" Id="R8b56ab4947344df2" /><Relationship Type="http://schemas.openxmlformats.org/officeDocument/2006/relationships/notesSlide" Target="/ppt/notesSlides/notesSlide25.xml" Id="R135fabec0786450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0deacb663c54939" /><Relationship Type="http://schemas.openxmlformats.org/officeDocument/2006/relationships/notesSlide" Target="/ppt/notesSlides/notesSlide26.xml" Id="R6307f25cc44048e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cc66e13edf3471f" /><Relationship Type="http://schemas.openxmlformats.org/officeDocument/2006/relationships/notesSlide" Target="/ppt/notesSlides/notesSlide27.xml" Id="Rde826ca657764e4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MO</c:v>
          </c:tx>
          <c:spPr>
            <a:ln xmlns:a="http://schemas.openxmlformats.org/drawingml/2006/main" w="28575">
              <a:solidFill>
                <a:srgbClr val="7B2D8E"/>
              </a:solidFill>
              <a:prstDash val="dash"/>
            </a:ln>
          </c:spPr>
          <c:marker>
            <c:symbol val="none"/>
          </c:marker>
          <c:xVal>
            <c:numRef>
              <c:f>'Chart Data'!$A$2:$A$3</c:f>
              <c:numCache>
                <c:formatCode>General</c:formatCode>
                <c:ptCount val="2"/>
                <c:pt idx="0">
                  <c:v>0</c:v>
                </c:pt>
                <c:pt idx="1">
                  <c:v>50</c:v>
                </c:pt>
              </c:numCache>
            </c:numRef>
          </c:xVal>
          <c:yVal>
            <c:numRef>
              <c:f>'Chart Data'!$B$2:$B$3</c:f>
              <c:numCache>
                <c:formatCode>0</c:formatCode>
                <c:ptCount val="2"/>
                <c:pt idx="0">
                  <c:v>36</c:v>
                </c:pt>
                <c:pt idx="1">
                  <c:v>6</c:v>
                </c:pt>
              </c:numCache>
            </c:numRef>
          </c:yVal>
          <c:smooth val="0"/>
        </c:ser>
        <c:ser>
          <c:idx val="1"/>
          <c:order val="1"/>
          <c:tx>
            <c:v>MK</c:v>
          </c:tx>
          <c:spPr>
            <a:ln xmlns:a="http://schemas.openxmlformats.org/drawingml/2006/main" w="28575">
              <a:solidFill>
                <a:srgbClr val="A94D16"/>
              </a:solidFill>
              <a:prstDash val="solid"/>
            </a:ln>
          </c:spPr>
          <c:marker>
            <c:symbol val="none"/>
          </c:marker>
          <c:xVal>
            <c:numRef>
              <c:f>'Chart Data'!$C$2:$C$3</c:f>
              <c:numCache>
                <c:formatCode>General</c:formatCode>
                <c:ptCount val="2"/>
                <c:pt idx="0">
                  <c:v>0</c:v>
                </c:pt>
                <c:pt idx="1">
                  <c:v>50</c:v>
                </c:pt>
              </c:numCache>
            </c:numRef>
          </c:xVal>
          <c:yVal>
            <c:numRef>
              <c:f>'Chart Data'!$D$2:$D$3</c:f>
              <c:numCache>
                <c:formatCode>0</c:formatCode>
                <c:ptCount val="2"/>
                <c:pt idx="0">
                  <c:v>9</c:v>
                </c:pt>
                <c:pt idx="1">
                  <c:v>24</c:v>
                </c:pt>
              </c:numCache>
            </c:numRef>
          </c:yVal>
          <c:smooth val="0"/>
        </c:ser>
        <c:ser>
          <c:idx val="2"/>
          <c:order val="2"/>
          <c:tx>
            <c:v>MO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875" b="1">
                      <a:solidFill>
                        <a:srgbClr val="7B2D8E"/>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34.5</c:v>
                </c:pt>
              </c:numCache>
            </c:numRef>
          </c:xVal>
          <c:yVal>
            <c:numRef>
              <c:f>'Chart Data'!$F$2:$F$2</c:f>
              <c:numCache>
                <c:formatCode>0</c:formatCode>
                <c:ptCount val="1"/>
                <c:pt idx="0">
                  <c:v>12.5</c:v>
                </c:pt>
              </c:numCache>
            </c:numRef>
          </c:yVal>
          <c:smooth val="0"/>
        </c:ser>
        <c:ser>
          <c:idx val="3"/>
          <c:order val="3"/>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41.5</c:v>
                </c:pt>
              </c:numCache>
            </c:numRef>
          </c:xVal>
          <c:yVal>
            <c:numRef>
              <c:f>'Chart Data'!$H$2:$H$2</c:f>
              <c:numCache>
                <c:formatCode>0</c:formatCode>
                <c:ptCount val="1"/>
                <c:pt idx="0">
                  <c:v>17.95</c:v>
                </c:pt>
              </c:numCache>
            </c:numRef>
          </c:yVal>
          <c:smooth val="0"/>
        </c:ser>
        <c:ser>
          <c:idx val="4"/>
          <c:order val="4"/>
          <c:tx>
            <c:v>Hulplijn q</c:v>
          </c:tx>
          <c:spPr>
            <a:ln xmlns:a="http://schemas.openxmlformats.org/drawingml/2006/main" w="19050">
              <a:solidFill>
                <a:srgbClr val="445B6B"/>
              </a:solidFill>
              <a:prstDash val="dash"/>
            </a:ln>
          </c:spPr>
          <c:marker>
            <c:symbol val="none"/>
          </c:marker>
          <c:xVal>
            <c:numRef>
              <c:f>'Chart Data'!$I$2:$I$3</c:f>
              <c:numCache>
                <c:formatCode>General</c:formatCode>
                <c:ptCount val="2"/>
                <c:pt idx="0">
                  <c:v>30</c:v>
                </c:pt>
                <c:pt idx="1">
                  <c:v>30</c:v>
                </c:pt>
              </c:numCache>
            </c:numRef>
          </c:xVal>
          <c:yVal>
            <c:numRef>
              <c:f>'Chart Data'!$J$2:$J$3</c:f>
              <c:numCache>
                <c:formatCode>0</c:formatCode>
                <c:ptCount val="2"/>
                <c:pt idx="0">
                  <c:v>0</c:v>
                </c:pt>
                <c:pt idx="1">
                  <c:v>18</c:v>
                </c:pt>
              </c:numCache>
            </c:numRef>
          </c:yVal>
          <c:smooth val="0"/>
        </c:ser>
        <c:ser>
          <c:idx val="5"/>
          <c:order val="5"/>
          <c:tx>
            <c:v>Punt 1</c:v>
          </c:tx>
          <c:spPr>
            <a:ln xmlns:a="http://schemas.openxmlformats.org/drawingml/2006/main" w="0">
              <a:noFill/>
            </a:ln>
          </c:spPr>
          <c:marker>
            <c:symbol val="circle"/>
            <c:size val="8"/>
            <c:spPr>
              <a:solidFill xmlns:a="http://schemas.openxmlformats.org/drawingml/2006/main">
                <a:srgbClr val="183247"/>
              </a:solidFill>
            </c:spPr>
          </c:marker>
          <c:xVal>
            <c:numRef>
              <c:f>'Chart Data'!$K$2:$K$2</c:f>
              <c:numCache>
                <c:formatCode>General</c:formatCode>
                <c:ptCount val="1"/>
                <c:pt idx="0">
                  <c:v>30</c:v>
                </c:pt>
              </c:numCache>
            </c:numRef>
          </c:xVal>
          <c:yVal>
            <c:numRef>
              <c:f>'Chart Data'!$L$2:$L$2</c:f>
              <c:numCache>
                <c:formatCode>0</c:formatCode>
                <c:ptCount val="1"/>
                <c:pt idx="0">
                  <c:v>18</c:v>
                </c:pt>
              </c:numCache>
            </c:numRef>
          </c:yVal>
          <c:smooth val="0"/>
        </c:ser>
        <c:ser>
          <c:idx val="6"/>
          <c:order val="6"/>
          <c:tx>
            <c:v>1</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1</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30.9</c:v>
                </c:pt>
              </c:numCache>
            </c:numRef>
          </c:xVal>
          <c:yVal>
            <c:numRef>
              <c:f>'Chart Data'!$N$2:$N$2</c:f>
              <c:numCache>
                <c:formatCode>0</c:formatCode>
                <c:ptCount val="1"/>
                <c:pt idx="0">
                  <c:v>15</c:v>
                </c:pt>
              </c:numCache>
            </c:numRef>
          </c:yVal>
          <c:smooth val="0"/>
        </c:ser>
        <c:ser>
          <c:idx val="7"/>
          <c:order val="7"/>
          <c:tx>
            <c:v>q = 30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q = 30</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30</c:v>
                </c:pt>
              </c:numCache>
            </c:numRef>
          </c:xVal>
          <c:yVal>
            <c:numRef>
              <c:f>'Chart Data'!$P$2:$P$2</c:f>
              <c:numCache>
                <c:formatCode>0</c:formatCode>
                <c:ptCount val="1"/>
                <c:pt idx="0">
                  <c:v>2.8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Bedrag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GO = P</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50</c:v>
                </c:pt>
              </c:numCache>
            </c:numRef>
          </c:xVal>
          <c:yVal>
            <c:numRef>
              <c:f>'Chart Data'!$B$2:$B$3</c:f>
              <c:numCache>
                <c:formatCode>0</c:formatCode>
                <c:ptCount val="2"/>
                <c:pt idx="0">
                  <c:v>36</c:v>
                </c:pt>
                <c:pt idx="1">
                  <c:v>21</c:v>
                </c:pt>
              </c:numCache>
            </c:numRef>
          </c:yVal>
          <c:smooth val="0"/>
        </c:ser>
        <c:ser>
          <c:idx val="1"/>
          <c:order val="1"/>
          <c:tx>
            <c:v>GO = P</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GO = P</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Data'!$C$2:$C$2</c:f>
              <c:numCache>
                <c:formatCode>General</c:formatCode>
                <c:ptCount val="1"/>
                <c:pt idx="0">
                  <c:v>12.5</c:v>
                </c:pt>
              </c:numCache>
            </c:numRef>
          </c:xVal>
          <c:yVal>
            <c:numRef>
              <c:f>'Chart Data'!$D$2:$D$2</c:f>
              <c:numCache>
                <c:formatCode>0</c:formatCode>
                <c:ptCount val="1"/>
                <c:pt idx="0">
                  <c:v>35.05</c:v>
                </c:pt>
              </c:numCache>
            </c:numRef>
          </c:yVal>
          <c:smooth val="0"/>
        </c:ser>
        <c:ser>
          <c:idx val="2"/>
          <c:order val="2"/>
          <c:tx>
            <c:v>MO</c:v>
          </c:tx>
          <c:spPr>
            <a:ln xmlns:a="http://schemas.openxmlformats.org/drawingml/2006/main" w="28575">
              <a:solidFill>
                <a:srgbClr val="7B2D8E"/>
              </a:solidFill>
              <a:prstDash val="dash"/>
            </a:ln>
          </c:spPr>
          <c:marker>
            <c:symbol val="none"/>
          </c:marker>
          <c:xVal>
            <c:numRef>
              <c:f>'Chart Data'!$E$2:$E$3</c:f>
              <c:numCache>
                <c:formatCode>General</c:formatCode>
                <c:ptCount val="2"/>
                <c:pt idx="0">
                  <c:v>0</c:v>
                </c:pt>
                <c:pt idx="1">
                  <c:v>50</c:v>
                </c:pt>
              </c:numCache>
            </c:numRef>
          </c:xVal>
          <c:yVal>
            <c:numRef>
              <c:f>'Chart Data'!$F$2:$F$3</c:f>
              <c:numCache>
                <c:formatCode>0</c:formatCode>
                <c:ptCount val="2"/>
                <c:pt idx="0">
                  <c:v>36</c:v>
                </c:pt>
                <c:pt idx="1">
                  <c:v>6</c:v>
                </c:pt>
              </c:numCache>
            </c:numRef>
          </c:yVal>
          <c:smooth val="0"/>
        </c:ser>
        <c:ser>
          <c:idx val="3"/>
          <c:order val="3"/>
          <c:tx>
            <c:v>MK</c:v>
          </c:tx>
          <c:spPr>
            <a:ln xmlns:a="http://schemas.openxmlformats.org/drawingml/2006/main" w="28575">
              <a:solidFill>
                <a:srgbClr val="A94D16"/>
              </a:solidFill>
              <a:prstDash val="solid"/>
            </a:ln>
          </c:spPr>
          <c:marker>
            <c:symbol val="none"/>
          </c:marker>
          <c:xVal>
            <c:numRef>
              <c:f>'Chart Data'!$G$2:$G$3</c:f>
              <c:numCache>
                <c:formatCode>General</c:formatCode>
                <c:ptCount val="2"/>
                <c:pt idx="0">
                  <c:v>0</c:v>
                </c:pt>
                <c:pt idx="1">
                  <c:v>50</c:v>
                </c:pt>
              </c:numCache>
            </c:numRef>
          </c:xVal>
          <c:yVal>
            <c:numRef>
              <c:f>'Chart Data'!$H$2:$H$3</c:f>
              <c:numCache>
                <c:formatCode>0</c:formatCode>
                <c:ptCount val="2"/>
                <c:pt idx="0">
                  <c:v>9</c:v>
                </c:pt>
                <c:pt idx="1">
                  <c:v>24</c:v>
                </c:pt>
              </c:numCache>
            </c:numRef>
          </c:yVal>
          <c:smooth val="0"/>
        </c:ser>
        <c:ser>
          <c:idx val="4"/>
          <c:order val="4"/>
          <c:tx>
            <c:v>MO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875" b="1">
                      <a:solidFill>
                        <a:srgbClr val="7B2D8E"/>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34.5</c:v>
                </c:pt>
              </c:numCache>
            </c:numRef>
          </c:xVal>
          <c:yVal>
            <c:numRef>
              <c:f>'Chart Data'!$J$2:$J$2</c:f>
              <c:numCache>
                <c:formatCode>0</c:formatCode>
                <c:ptCount val="1"/>
                <c:pt idx="0">
                  <c:v>12.5</c:v>
                </c:pt>
              </c:numCache>
            </c:numRef>
          </c:yVal>
          <c:smooth val="0"/>
        </c:ser>
        <c:ser>
          <c:idx val="5"/>
          <c:order val="5"/>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41.5</c:v>
                </c:pt>
              </c:numCache>
            </c:numRef>
          </c:xVal>
          <c:yVal>
            <c:numRef>
              <c:f>'Chart Data'!$L$2:$L$2</c:f>
              <c:numCache>
                <c:formatCode>0</c:formatCode>
                <c:ptCount val="1"/>
                <c:pt idx="0">
                  <c:v>17.95</c:v>
                </c:pt>
              </c:numCache>
            </c:numRef>
          </c:yVal>
          <c:smooth val="0"/>
        </c:ser>
        <c:ser>
          <c:idx val="6"/>
          <c:order val="6"/>
          <c:tx>
            <c:v>Hulplijn q</c:v>
          </c:tx>
          <c:spPr>
            <a:ln xmlns:a="http://schemas.openxmlformats.org/drawingml/2006/main" w="19050">
              <a:solidFill>
                <a:srgbClr val="445B6B"/>
              </a:solidFill>
              <a:prstDash val="dash"/>
            </a:ln>
          </c:spPr>
          <c:marker>
            <c:symbol val="none"/>
          </c:marker>
          <c:xVal>
            <c:numRef>
              <c:f>'Chart Data'!$M$2:$M$3</c:f>
              <c:numCache>
                <c:formatCode>General</c:formatCode>
                <c:ptCount val="2"/>
                <c:pt idx="0">
                  <c:v>30</c:v>
                </c:pt>
                <c:pt idx="1">
                  <c:v>30</c:v>
                </c:pt>
              </c:numCache>
            </c:numRef>
          </c:xVal>
          <c:yVal>
            <c:numRef>
              <c:f>'Chart Data'!$N$2:$N$3</c:f>
              <c:numCache>
                <c:formatCode>0</c:formatCode>
                <c:ptCount val="2"/>
                <c:pt idx="0">
                  <c:v>0</c:v>
                </c:pt>
                <c:pt idx="1">
                  <c:v>18</c:v>
                </c:pt>
              </c:numCache>
            </c:numRef>
          </c:yVal>
          <c:smooth val="0"/>
        </c:ser>
        <c:ser>
          <c:idx val="7"/>
          <c:order val="7"/>
          <c:tx>
            <c:v>Punt 1</c:v>
          </c:tx>
          <c:spPr>
            <a:ln xmlns:a="http://schemas.openxmlformats.org/drawingml/2006/main" w="0">
              <a:noFill/>
            </a:ln>
          </c:spPr>
          <c:marker>
            <c:symbol val="circle"/>
            <c:size val="8"/>
            <c:spPr>
              <a:solidFill xmlns:a="http://schemas.openxmlformats.org/drawingml/2006/main">
                <a:srgbClr val="183247"/>
              </a:solidFill>
            </c:spPr>
          </c:marker>
          <c:xVal>
            <c:numRef>
              <c:f>'Chart Data'!$O$2:$O$2</c:f>
              <c:numCache>
                <c:formatCode>General</c:formatCode>
                <c:ptCount val="1"/>
                <c:pt idx="0">
                  <c:v>30</c:v>
                </c:pt>
              </c:numCache>
            </c:numRef>
          </c:xVal>
          <c:yVal>
            <c:numRef>
              <c:f>'Chart Data'!$P$2:$P$2</c:f>
              <c:numCache>
                <c:formatCode>0</c:formatCode>
                <c:ptCount val="1"/>
                <c:pt idx="0">
                  <c:v>18</c:v>
                </c:pt>
              </c:numCache>
            </c:numRef>
          </c:yVal>
          <c:smooth val="0"/>
        </c:ser>
        <c:ser>
          <c:idx val="8"/>
          <c:order val="8"/>
          <c:tx>
            <c:v>1</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1</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30.9</c:v>
                </c:pt>
              </c:numCache>
            </c:numRef>
          </c:xVal>
          <c:yVal>
            <c:numRef>
              <c:f>'Chart Data'!$R$2:$R$2</c:f>
              <c:numCache>
                <c:formatCode>0</c:formatCode>
                <c:ptCount val="1"/>
                <c:pt idx="0">
                  <c:v>15</c:v>
                </c:pt>
              </c:numCache>
            </c:numRef>
          </c:yVal>
          <c:smooth val="0"/>
        </c:ser>
        <c:ser>
          <c:idx val="9"/>
          <c:order val="9"/>
          <c:tx>
            <c:v>q = 30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q = 30</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30</c:v>
                </c:pt>
              </c:numCache>
            </c:numRef>
          </c:xVal>
          <c:yVal>
            <c:numRef>
              <c:f>'Chart Data'!$T$2:$T$2</c:f>
              <c:numCache>
                <c:formatCode>0</c:formatCode>
                <c:ptCount val="1"/>
                <c:pt idx="0">
                  <c:v>2.8</c:v>
                </c:pt>
              </c:numCache>
            </c:numRef>
          </c:yVal>
          <c:smooth val="0"/>
        </c:ser>
        <c:ser>
          <c:idx val="10"/>
          <c:order val="10"/>
          <c:tx>
            <c:v>Van MO/MK naar GO</c:v>
          </c:tx>
          <c:spPr>
            <a:ln xmlns:a="http://schemas.openxmlformats.org/drawingml/2006/main" w="19050">
              <a:solidFill>
                <a:srgbClr val="17658A"/>
              </a:solidFill>
              <a:prstDash val="dash"/>
            </a:ln>
          </c:spPr>
          <c:marker>
            <c:symbol val="none"/>
          </c:marker>
          <c:xVal>
            <c:numRef>
              <c:f>'Chart Data'!$U$2:$U$3</c:f>
              <c:numCache>
                <c:formatCode>General</c:formatCode>
                <c:ptCount val="2"/>
                <c:pt idx="0">
                  <c:v>30</c:v>
                </c:pt>
                <c:pt idx="1">
                  <c:v>30</c:v>
                </c:pt>
              </c:numCache>
            </c:numRef>
          </c:xVal>
          <c:yVal>
            <c:numRef>
              <c:f>'Chart Data'!$V$2:$V$3</c:f>
              <c:numCache>
                <c:formatCode>0</c:formatCode>
                <c:ptCount val="2"/>
                <c:pt idx="0">
                  <c:v>18</c:v>
                </c:pt>
                <c:pt idx="1">
                  <c:v>27</c:v>
                </c:pt>
              </c:numCache>
            </c:numRef>
          </c:yVal>
          <c:smooth val="0"/>
        </c:ser>
        <c:ser>
          <c:idx val="11"/>
          <c:order val="11"/>
          <c:tx>
            <c:v>Hulplijn P</c:v>
          </c:tx>
          <c:spPr>
            <a:ln xmlns:a="http://schemas.openxmlformats.org/drawingml/2006/main" w="19050">
              <a:solidFill>
                <a:srgbClr val="17658A"/>
              </a:solidFill>
              <a:prstDash val="dash"/>
            </a:ln>
          </c:spPr>
          <c:marker>
            <c:symbol val="none"/>
          </c:marker>
          <c:xVal>
            <c:numRef>
              <c:f>'Chart Data'!$W$2:$W$3</c:f>
              <c:numCache>
                <c:formatCode>General</c:formatCode>
                <c:ptCount val="2"/>
                <c:pt idx="0">
                  <c:v>0</c:v>
                </c:pt>
                <c:pt idx="1">
                  <c:v>30</c:v>
                </c:pt>
              </c:numCache>
            </c:numRef>
          </c:xVal>
          <c:yVal>
            <c:numRef>
              <c:f>'Chart Data'!$X$2:$X$3</c:f>
              <c:numCache>
                <c:formatCode>0</c:formatCode>
                <c:ptCount val="2"/>
                <c:pt idx="0">
                  <c:v>27</c:v>
                </c:pt>
                <c:pt idx="1">
                  <c:v>27</c:v>
                </c:pt>
              </c:numCache>
            </c:numRef>
          </c:yVal>
          <c:smooth val="0"/>
        </c:ser>
        <c:ser>
          <c:idx val="12"/>
          <c:order val="12"/>
          <c:tx>
            <c:v>Punt 2</c:v>
          </c:tx>
          <c:spPr>
            <a:ln xmlns:a="http://schemas.openxmlformats.org/drawingml/2006/main" w="0">
              <a:noFill/>
            </a:ln>
          </c:spPr>
          <c:marker>
            <c:symbol val="circle"/>
            <c:size val="8"/>
            <c:spPr>
              <a:solidFill xmlns:a="http://schemas.openxmlformats.org/drawingml/2006/main">
                <a:srgbClr val="183247"/>
              </a:solidFill>
            </c:spPr>
          </c:marker>
          <c:xVal>
            <c:numRef>
              <c:f>'Chart Data'!$Y$2:$Y$2</c:f>
              <c:numCache>
                <c:formatCode>General</c:formatCode>
                <c:ptCount val="1"/>
                <c:pt idx="0">
                  <c:v>30</c:v>
                </c:pt>
              </c:numCache>
            </c:numRef>
          </c:xVal>
          <c:yVal>
            <c:numRef>
              <c:f>'Chart Data'!$Z$2:$Z$2</c:f>
              <c:numCache>
                <c:formatCode>0</c:formatCode>
                <c:ptCount val="1"/>
                <c:pt idx="0">
                  <c:v>27</c:v>
                </c:pt>
              </c:numCache>
            </c:numRef>
          </c:yVal>
          <c:smooth val="0"/>
        </c:ser>
        <c:ser>
          <c:idx val="13"/>
          <c:order val="13"/>
          <c:tx>
            <c:v>2</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2</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Data'!$AA$2:$AA$2</c:f>
              <c:numCache>
                <c:formatCode>General</c:formatCode>
                <c:ptCount val="1"/>
                <c:pt idx="0">
                  <c:v>30.9</c:v>
                </c:pt>
              </c:numCache>
            </c:numRef>
          </c:xVal>
          <c:yVal>
            <c:numRef>
              <c:f>'Chart Data'!$AB$2:$AB$2</c:f>
              <c:numCache>
                <c:formatCode>0</c:formatCode>
                <c:ptCount val="1"/>
                <c:pt idx="0">
                  <c:v>29.2</c:v>
                </c:pt>
              </c:numCache>
            </c:numRef>
          </c:yVal>
          <c:smooth val="0"/>
        </c:ser>
        <c:ser>
          <c:idx val="14"/>
          <c:order val="14"/>
          <c:tx>
            <c:v>P = 27</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P = 27</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Data'!$AC$2:$AC$2</c:f>
              <c:numCache>
                <c:formatCode>General</c:formatCode>
                <c:ptCount val="1"/>
                <c:pt idx="0">
                  <c:v>0</c:v>
                </c:pt>
              </c:numCache>
            </c:numRef>
          </c:xVal>
          <c:yVal>
            <c:numRef>
              <c:f>'Chart Data'!$AD$2:$AD$2</c:f>
              <c:numCache>
                <c:formatCode>0</c:formatCode>
                <c:ptCount val="1"/>
                <c:pt idx="0">
                  <c:v>29.5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Bedrag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GO = P</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50</c:v>
                </c:pt>
              </c:numCache>
            </c:numRef>
          </c:xVal>
          <c:yVal>
            <c:numRef>
              <c:f>'Chart Data'!$B$2:$B$3</c:f>
              <c:numCache>
                <c:formatCode>0</c:formatCode>
                <c:ptCount val="2"/>
                <c:pt idx="0">
                  <c:v>36</c:v>
                </c:pt>
                <c:pt idx="1">
                  <c:v>21</c:v>
                </c:pt>
              </c:numCache>
            </c:numRef>
          </c:yVal>
          <c:smooth val="0"/>
        </c:ser>
        <c:ser>
          <c:idx val="1"/>
          <c:order val="1"/>
          <c:tx>
            <c:v>GO = P</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GO = P</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Data'!$C$2:$C$2</c:f>
              <c:numCache>
                <c:formatCode>General</c:formatCode>
                <c:ptCount val="1"/>
                <c:pt idx="0">
                  <c:v>12.5</c:v>
                </c:pt>
              </c:numCache>
            </c:numRef>
          </c:xVal>
          <c:yVal>
            <c:numRef>
              <c:f>'Chart Data'!$D$2:$D$2</c:f>
              <c:numCache>
                <c:formatCode>0</c:formatCode>
                <c:ptCount val="1"/>
                <c:pt idx="0">
                  <c:v>35.05</c:v>
                </c:pt>
              </c:numCache>
            </c:numRef>
          </c:yVal>
          <c:smooth val="0"/>
        </c:ser>
        <c:ser>
          <c:idx val="2"/>
          <c:order val="2"/>
          <c:tx>
            <c:v>GTK</c:v>
          </c:tx>
          <c:spPr>
            <a:ln xmlns:a="http://schemas.openxmlformats.org/drawingml/2006/main" w="28575">
              <a:solidFill>
                <a:srgbClr val="A94D16"/>
              </a:solidFill>
              <a:prstDash val="solid"/>
            </a:ln>
          </c:spPr>
          <c:marker>
            <c:symbol val="none"/>
          </c:marker>
          <c:xVal>
            <c:numRef>
              <c:f>'Chart Data'!$E$2:$E$47</c:f>
              <c:numCache>
                <c:formatCode>General</c:formatCode>
                <c:ptCount val="4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numCache>
            </c:numRef>
          </c:xVal>
          <c:yVal>
            <c:numRef>
              <c:f>'Chart Data'!$F$2:$F$47</c:f>
              <c:numCache>
                <c:formatCode>0</c:formatCode>
                <c:ptCount val="46"/>
                <c:pt idx="0">
                  <c:v>27.75</c:v>
                </c:pt>
                <c:pt idx="1">
                  <c:v>24.9</c:v>
                </c:pt>
                <c:pt idx="2">
                  <c:v>22.907143</c:v>
                </c:pt>
                <c:pt idx="3">
                  <c:v>21.45</c:v>
                </c:pt>
                <c:pt idx="4">
                  <c:v>20.35</c:v>
                </c:pt>
                <c:pt idx="5">
                  <c:v>19.5</c:v>
                </c:pt>
                <c:pt idx="6">
                  <c:v>18.831818</c:v>
                </c:pt>
                <c:pt idx="7">
                  <c:v>18.3</c:v>
                </c:pt>
                <c:pt idx="8">
                  <c:v>17.873077</c:v>
                </c:pt>
                <c:pt idx="9">
                  <c:v>17.528571</c:v>
                </c:pt>
                <c:pt idx="10">
                  <c:v>17.25</c:v>
                </c:pt>
                <c:pt idx="11">
                  <c:v>17.025</c:v>
                </c:pt>
                <c:pt idx="12">
                  <c:v>16.844118</c:v>
                </c:pt>
                <c:pt idx="13">
                  <c:v>16.7</c:v>
                </c:pt>
                <c:pt idx="14">
                  <c:v>16.586842</c:v>
                </c:pt>
                <c:pt idx="15">
                  <c:v>16.5</c:v>
                </c:pt>
                <c:pt idx="16">
                  <c:v>16.435714</c:v>
                </c:pt>
                <c:pt idx="17">
                  <c:v>16.390909</c:v>
                </c:pt>
                <c:pt idx="18">
                  <c:v>16.363043</c:v>
                </c:pt>
                <c:pt idx="19">
                  <c:v>16.35</c:v>
                </c:pt>
                <c:pt idx="20">
                  <c:v>16.35</c:v>
                </c:pt>
                <c:pt idx="21">
                  <c:v>16.361538</c:v>
                </c:pt>
                <c:pt idx="22">
                  <c:v>16.383333</c:v>
                </c:pt>
                <c:pt idx="23">
                  <c:v>16.414286</c:v>
                </c:pt>
                <c:pt idx="24">
                  <c:v>16.453448</c:v>
                </c:pt>
                <c:pt idx="25">
                  <c:v>16.5</c:v>
                </c:pt>
                <c:pt idx="26">
                  <c:v>16.553226</c:v>
                </c:pt>
                <c:pt idx="27">
                  <c:v>16.6125</c:v>
                </c:pt>
                <c:pt idx="28">
                  <c:v>16.677273</c:v>
                </c:pt>
                <c:pt idx="29">
                  <c:v>16.747059</c:v>
                </c:pt>
                <c:pt idx="30">
                  <c:v>16.821429</c:v>
                </c:pt>
                <c:pt idx="31">
                  <c:v>16.9</c:v>
                </c:pt>
                <c:pt idx="32">
                  <c:v>16.982432</c:v>
                </c:pt>
                <c:pt idx="33">
                  <c:v>17.068421</c:v>
                </c:pt>
                <c:pt idx="34">
                  <c:v>17.157692</c:v>
                </c:pt>
                <c:pt idx="35">
                  <c:v>17.25</c:v>
                </c:pt>
                <c:pt idx="36">
                  <c:v>17.345122</c:v>
                </c:pt>
                <c:pt idx="37">
                  <c:v>17.442857</c:v>
                </c:pt>
                <c:pt idx="38">
                  <c:v>17.543023</c:v>
                </c:pt>
                <c:pt idx="39">
                  <c:v>17.645455</c:v>
                </c:pt>
                <c:pt idx="40">
                  <c:v>17.75</c:v>
                </c:pt>
                <c:pt idx="41">
                  <c:v>17.856522</c:v>
                </c:pt>
                <c:pt idx="42">
                  <c:v>17.964894</c:v>
                </c:pt>
                <c:pt idx="43">
                  <c:v>18.075</c:v>
                </c:pt>
                <c:pt idx="44">
                  <c:v>18.186735</c:v>
                </c:pt>
                <c:pt idx="45">
                  <c:v>18.3</c:v>
                </c:pt>
              </c:numCache>
            </c:numRef>
          </c:yVal>
          <c:smooth val="0"/>
        </c:ser>
        <c:ser>
          <c:idx val="3"/>
          <c:order val="3"/>
          <c:tx>
            <c:v>GTK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GTK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43</c:v>
                </c:pt>
              </c:numCache>
            </c:numRef>
          </c:xVal>
          <c:yVal>
            <c:numRef>
              <c:f>'Chart Data'!$H$2:$H$2</c:f>
              <c:numCache>
                <c:formatCode>0</c:formatCode>
                <c:ptCount val="1"/>
                <c:pt idx="0">
                  <c:v>14.543023</c:v>
                </c:pt>
              </c:numCache>
            </c:numRef>
          </c:yVal>
          <c:smooth val="0"/>
        </c:ser>
        <c:ser>
          <c:idx val="4"/>
          <c:order val="4"/>
          <c:tx>
            <c:v>Winstrechthoek</c:v>
          </c:tx>
          <c:spPr>
            <a:ln xmlns:a="http://schemas.openxmlformats.org/drawingml/2006/main" w="38100">
              <a:solidFill>
                <a:srgbClr val="20665B"/>
              </a:solidFill>
              <a:prstDash val="solid"/>
            </a:ln>
          </c:spPr>
          <c:marker>
            <c:symbol val="none"/>
          </c:marker>
          <c:xVal>
            <c:numRef>
              <c:f>'Chart Data'!$I$2:$I$6</c:f>
              <c:numCache>
                <c:formatCode>General</c:formatCode>
                <c:ptCount val="5"/>
                <c:pt idx="0">
                  <c:v>0</c:v>
                </c:pt>
                <c:pt idx="1">
                  <c:v>30</c:v>
                </c:pt>
                <c:pt idx="2">
                  <c:v>30</c:v>
                </c:pt>
                <c:pt idx="3">
                  <c:v>0</c:v>
                </c:pt>
                <c:pt idx="4">
                  <c:v>0</c:v>
                </c:pt>
              </c:numCache>
            </c:numRef>
          </c:xVal>
          <c:yVal>
            <c:numRef>
              <c:f>'Chart Data'!$J$2:$J$6</c:f>
              <c:numCache>
                <c:formatCode>0</c:formatCode>
                <c:ptCount val="5"/>
                <c:pt idx="0">
                  <c:v>16.5</c:v>
                </c:pt>
                <c:pt idx="1">
                  <c:v>16.5</c:v>
                </c:pt>
                <c:pt idx="2">
                  <c:v>27</c:v>
                </c:pt>
                <c:pt idx="3">
                  <c:v>27</c:v>
                </c:pt>
                <c:pt idx="4">
                  <c:v>16.5</c:v>
                </c:pt>
              </c:numCache>
            </c:numRef>
          </c:yVal>
          <c:smooth val="0"/>
        </c:ser>
        <c:ser>
          <c:idx val="5"/>
          <c:order val="5"/>
          <c:tx>
            <c:v>winst</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winst</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12.9</c:v>
                </c:pt>
              </c:numCache>
            </c:numRef>
          </c:xVal>
          <c:yVal>
            <c:numRef>
              <c:f>'Chart Data'!$L$2:$L$2</c:f>
              <c:numCache>
                <c:formatCode>0</c:formatCode>
                <c:ptCount val="1"/>
                <c:pt idx="0">
                  <c:v>21.75</c:v>
                </c:pt>
              </c:numCache>
            </c:numRef>
          </c:yVal>
          <c:smooth val="0"/>
        </c:ser>
        <c:ser>
          <c:idx val="6"/>
          <c:order val="6"/>
          <c:tx>
            <c:v>q = 30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q = 30</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30</c:v>
                </c:pt>
              </c:numCache>
            </c:numRef>
          </c:xVal>
          <c:yVal>
            <c:numRef>
              <c:f>'Chart Data'!$N$2:$N$2</c:f>
              <c:numCache>
                <c:formatCode>0</c:formatCode>
                <c:ptCount val="1"/>
                <c:pt idx="0">
                  <c:v>2.8</c:v>
                </c:pt>
              </c:numCache>
            </c:numRef>
          </c:yVal>
          <c:smooth val="0"/>
        </c:ser>
        <c:ser>
          <c:idx val="7"/>
          <c:order val="7"/>
          <c:tx>
            <c:v>Hulplijn gekozen q</c:v>
          </c:tx>
          <c:spPr>
            <a:ln xmlns:a="http://schemas.openxmlformats.org/drawingml/2006/main" w="19050">
              <a:solidFill>
                <a:srgbClr val="445B6B"/>
              </a:solidFill>
              <a:prstDash val="dash"/>
            </a:ln>
          </c:spPr>
          <c:marker>
            <c:symbol val="none"/>
          </c:marker>
          <c:xVal>
            <c:numRef>
              <c:f>'Chart Data'!$O$2:$O$3</c:f>
              <c:numCache>
                <c:formatCode>General</c:formatCode>
                <c:ptCount val="2"/>
                <c:pt idx="0">
                  <c:v>30</c:v>
                </c:pt>
                <c:pt idx="1">
                  <c:v>30</c:v>
                </c:pt>
              </c:numCache>
            </c:numRef>
          </c:xVal>
          <c:yVal>
            <c:numRef>
              <c:f>'Chart Data'!$P$2:$P$3</c:f>
              <c:numCache>
                <c:formatCode>0</c:formatCode>
                <c:ptCount val="2"/>
                <c:pt idx="0">
                  <c:v>0</c:v>
                </c:pt>
                <c:pt idx="1">
                  <c:v>16.5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Bedrag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GO = P</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80</c:v>
                </c:pt>
              </c:numCache>
            </c:numRef>
          </c:xVal>
          <c:yVal>
            <c:numRef>
              <c:f>'Chart Data'!$B$2:$B$3</c:f>
              <c:numCache>
                <c:formatCode>0</c:formatCode>
                <c:ptCount val="2"/>
                <c:pt idx="0">
                  <c:v>40</c:v>
                </c:pt>
                <c:pt idx="1">
                  <c:v>20</c:v>
                </c:pt>
              </c:numCache>
            </c:numRef>
          </c:yVal>
          <c:smooth val="0"/>
        </c:ser>
        <c:ser>
          <c:idx val="1"/>
          <c:order val="1"/>
          <c:tx>
            <c:v>GO = P</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GO = P</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Data'!$C$2:$C$2</c:f>
              <c:numCache>
                <c:formatCode>General</c:formatCode>
                <c:ptCount val="1"/>
                <c:pt idx="0">
                  <c:v>20</c:v>
                </c:pt>
              </c:numCache>
            </c:numRef>
          </c:xVal>
          <c:yVal>
            <c:numRef>
              <c:f>'Chart Data'!$D$2:$D$2</c:f>
              <c:numCache>
                <c:formatCode>0</c:formatCode>
                <c:ptCount val="1"/>
                <c:pt idx="0">
                  <c:v>37.8</c:v>
                </c:pt>
              </c:numCache>
            </c:numRef>
          </c:yVal>
          <c:smooth val="0"/>
        </c:ser>
        <c:ser>
          <c:idx val="2"/>
          <c:order val="2"/>
          <c:tx>
            <c:v>MO</c:v>
          </c:tx>
          <c:spPr>
            <a:ln xmlns:a="http://schemas.openxmlformats.org/drawingml/2006/main" w="28575">
              <a:solidFill>
                <a:srgbClr val="7B2D8E"/>
              </a:solidFill>
              <a:prstDash val="dash"/>
            </a:ln>
          </c:spPr>
          <c:marker>
            <c:symbol val="none"/>
          </c:marker>
          <c:xVal>
            <c:numRef>
              <c:f>'Chart Data'!$E$2:$E$3</c:f>
              <c:numCache>
                <c:formatCode>General</c:formatCode>
                <c:ptCount val="2"/>
                <c:pt idx="0">
                  <c:v>0</c:v>
                </c:pt>
                <c:pt idx="1">
                  <c:v>80</c:v>
                </c:pt>
              </c:numCache>
            </c:numRef>
          </c:xVal>
          <c:yVal>
            <c:numRef>
              <c:f>'Chart Data'!$F$2:$F$3</c:f>
              <c:numCache>
                <c:formatCode>0</c:formatCode>
                <c:ptCount val="2"/>
                <c:pt idx="0">
                  <c:v>40</c:v>
                </c:pt>
                <c:pt idx="1">
                  <c:v>0</c:v>
                </c:pt>
              </c:numCache>
            </c:numRef>
          </c:yVal>
          <c:smooth val="0"/>
        </c:ser>
        <c:ser>
          <c:idx val="3"/>
          <c:order val="3"/>
          <c:tx>
            <c:v>MK</c:v>
          </c:tx>
          <c:spPr>
            <a:ln xmlns:a="http://schemas.openxmlformats.org/drawingml/2006/main" w="28575">
              <a:solidFill>
                <a:srgbClr val="A94D16"/>
              </a:solidFill>
              <a:prstDash val="solid"/>
            </a:ln>
          </c:spPr>
          <c:marker>
            <c:symbol val="none"/>
          </c:marker>
          <c:xVal>
            <c:numRef>
              <c:f>'Chart Data'!$G$2:$G$3</c:f>
              <c:numCache>
                <c:formatCode>General</c:formatCode>
                <c:ptCount val="2"/>
                <c:pt idx="0">
                  <c:v>0</c:v>
                </c:pt>
                <c:pt idx="1">
                  <c:v>80</c:v>
                </c:pt>
              </c:numCache>
            </c:numRef>
          </c:xVal>
          <c:yVal>
            <c:numRef>
              <c:f>'Chart Data'!$H$2:$H$3</c:f>
              <c:numCache>
                <c:formatCode>0</c:formatCode>
                <c:ptCount val="2"/>
                <c:pt idx="0">
                  <c:v>10</c:v>
                </c:pt>
                <c:pt idx="1">
                  <c:v>30</c:v>
                </c:pt>
              </c:numCache>
            </c:numRef>
          </c:yVal>
          <c:smooth val="0"/>
        </c:ser>
        <c:ser>
          <c:idx val="4"/>
          <c:order val="4"/>
          <c:tx>
            <c:v>MO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875" b="1">
                      <a:solidFill>
                        <a:srgbClr val="7B2D8E"/>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55.2</c:v>
                </c:pt>
              </c:numCache>
            </c:numRef>
          </c:xVal>
          <c:yVal>
            <c:numRef>
              <c:f>'Chart Data'!$J$2:$J$2</c:f>
              <c:numCache>
                <c:formatCode>0</c:formatCode>
                <c:ptCount val="1"/>
                <c:pt idx="0">
                  <c:v>9.6</c:v>
                </c:pt>
              </c:numCache>
            </c:numRef>
          </c:yVal>
          <c:smooth val="0"/>
        </c:ser>
        <c:ser>
          <c:idx val="5"/>
          <c:order val="5"/>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66.4</c:v>
                </c:pt>
              </c:numCache>
            </c:numRef>
          </c:xVal>
          <c:yVal>
            <c:numRef>
              <c:f>'Chart Data'!$L$2:$L$2</c:f>
              <c:numCache>
                <c:formatCode>0</c:formatCode>
                <c:ptCount val="1"/>
                <c:pt idx="0">
                  <c:v>29.6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Bedrag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GO = P</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80</c:v>
                </c:pt>
              </c:numCache>
            </c:numRef>
          </c:xVal>
          <c:yVal>
            <c:numRef>
              <c:f>'Chart Data'!$B$2:$B$3</c:f>
              <c:numCache>
                <c:formatCode>0</c:formatCode>
                <c:ptCount val="2"/>
                <c:pt idx="0">
                  <c:v>40</c:v>
                </c:pt>
                <c:pt idx="1">
                  <c:v>20</c:v>
                </c:pt>
              </c:numCache>
            </c:numRef>
          </c:yVal>
          <c:smooth val="0"/>
        </c:ser>
        <c:ser>
          <c:idx val="1"/>
          <c:order val="1"/>
          <c:tx>
            <c:v>GO = P</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GO = P</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Data'!$C$2:$C$2</c:f>
              <c:numCache>
                <c:formatCode>General</c:formatCode>
                <c:ptCount val="1"/>
                <c:pt idx="0">
                  <c:v>20</c:v>
                </c:pt>
              </c:numCache>
            </c:numRef>
          </c:xVal>
          <c:yVal>
            <c:numRef>
              <c:f>'Chart Data'!$D$2:$D$2</c:f>
              <c:numCache>
                <c:formatCode>0</c:formatCode>
                <c:ptCount val="1"/>
                <c:pt idx="0">
                  <c:v>37.8</c:v>
                </c:pt>
              </c:numCache>
            </c:numRef>
          </c:yVal>
          <c:smooth val="0"/>
        </c:ser>
        <c:ser>
          <c:idx val="2"/>
          <c:order val="2"/>
          <c:tx>
            <c:v>MO</c:v>
          </c:tx>
          <c:spPr>
            <a:ln xmlns:a="http://schemas.openxmlformats.org/drawingml/2006/main" w="28575">
              <a:solidFill>
                <a:srgbClr val="7B2D8E"/>
              </a:solidFill>
              <a:prstDash val="dash"/>
            </a:ln>
          </c:spPr>
          <c:marker>
            <c:symbol val="none"/>
          </c:marker>
          <c:xVal>
            <c:numRef>
              <c:f>'Chart Data'!$E$2:$E$3</c:f>
              <c:numCache>
                <c:formatCode>General</c:formatCode>
                <c:ptCount val="2"/>
                <c:pt idx="0">
                  <c:v>0</c:v>
                </c:pt>
                <c:pt idx="1">
                  <c:v>80</c:v>
                </c:pt>
              </c:numCache>
            </c:numRef>
          </c:xVal>
          <c:yVal>
            <c:numRef>
              <c:f>'Chart Data'!$F$2:$F$3</c:f>
              <c:numCache>
                <c:formatCode>0</c:formatCode>
                <c:ptCount val="2"/>
                <c:pt idx="0">
                  <c:v>40</c:v>
                </c:pt>
                <c:pt idx="1">
                  <c:v>0</c:v>
                </c:pt>
              </c:numCache>
            </c:numRef>
          </c:yVal>
          <c:smooth val="0"/>
        </c:ser>
        <c:ser>
          <c:idx val="3"/>
          <c:order val="3"/>
          <c:tx>
            <c:v>MK</c:v>
          </c:tx>
          <c:spPr>
            <a:ln xmlns:a="http://schemas.openxmlformats.org/drawingml/2006/main" w="28575">
              <a:solidFill>
                <a:srgbClr val="A94D16"/>
              </a:solidFill>
              <a:prstDash val="solid"/>
            </a:ln>
          </c:spPr>
          <c:marker>
            <c:symbol val="none"/>
          </c:marker>
          <c:xVal>
            <c:numRef>
              <c:f>'Chart Data'!$G$2:$G$3</c:f>
              <c:numCache>
                <c:formatCode>General</c:formatCode>
                <c:ptCount val="2"/>
                <c:pt idx="0">
                  <c:v>0</c:v>
                </c:pt>
                <c:pt idx="1">
                  <c:v>80</c:v>
                </c:pt>
              </c:numCache>
            </c:numRef>
          </c:xVal>
          <c:yVal>
            <c:numRef>
              <c:f>'Chart Data'!$H$2:$H$3</c:f>
              <c:numCache>
                <c:formatCode>0</c:formatCode>
                <c:ptCount val="2"/>
                <c:pt idx="0">
                  <c:v>10</c:v>
                </c:pt>
                <c:pt idx="1">
                  <c:v>30</c:v>
                </c:pt>
              </c:numCache>
            </c:numRef>
          </c:yVal>
          <c:smooth val="0"/>
        </c:ser>
        <c:ser>
          <c:idx val="4"/>
          <c:order val="4"/>
          <c:tx>
            <c:v>MO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875" b="1">
                      <a:solidFill>
                        <a:srgbClr val="7B2D8E"/>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55.2</c:v>
                </c:pt>
              </c:numCache>
            </c:numRef>
          </c:xVal>
          <c:yVal>
            <c:numRef>
              <c:f>'Chart Data'!$J$2:$J$2</c:f>
              <c:numCache>
                <c:formatCode>0</c:formatCode>
                <c:ptCount val="1"/>
                <c:pt idx="0">
                  <c:v>9.6</c:v>
                </c:pt>
              </c:numCache>
            </c:numRef>
          </c:yVal>
          <c:smooth val="0"/>
        </c:ser>
        <c:ser>
          <c:idx val="5"/>
          <c:order val="5"/>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66.4</c:v>
                </c:pt>
              </c:numCache>
            </c:numRef>
          </c:xVal>
          <c:yVal>
            <c:numRef>
              <c:f>'Chart Data'!$L$2:$L$2</c:f>
              <c:numCache>
                <c:formatCode>0</c:formatCode>
                <c:ptCount val="1"/>
                <c:pt idx="0">
                  <c:v>29.6</c:v>
                </c:pt>
              </c:numCache>
            </c:numRef>
          </c:yVal>
          <c:smooth val="0"/>
        </c:ser>
        <c:ser>
          <c:idx val="6"/>
          <c:order val="6"/>
          <c:tx>
            <c:v>Hulplijn q</c:v>
          </c:tx>
          <c:spPr>
            <a:ln xmlns:a="http://schemas.openxmlformats.org/drawingml/2006/main" w="19050">
              <a:solidFill>
                <a:srgbClr val="445B6B"/>
              </a:solidFill>
              <a:prstDash val="dash"/>
            </a:ln>
          </c:spPr>
          <c:marker>
            <c:symbol val="none"/>
          </c:marker>
          <c:xVal>
            <c:numRef>
              <c:f>'Chart Data'!$M$2:$M$3</c:f>
              <c:numCache>
                <c:formatCode>General</c:formatCode>
                <c:ptCount val="2"/>
                <c:pt idx="0">
                  <c:v>40</c:v>
                </c:pt>
                <c:pt idx="1">
                  <c:v>40</c:v>
                </c:pt>
              </c:numCache>
            </c:numRef>
          </c:xVal>
          <c:yVal>
            <c:numRef>
              <c:f>'Chart Data'!$N$2:$N$3</c:f>
              <c:numCache>
                <c:formatCode>0</c:formatCode>
                <c:ptCount val="2"/>
                <c:pt idx="0">
                  <c:v>0</c:v>
                </c:pt>
                <c:pt idx="1">
                  <c:v>20</c:v>
                </c:pt>
              </c:numCache>
            </c:numRef>
          </c:yVal>
          <c:smooth val="0"/>
        </c:ser>
        <c:ser>
          <c:idx val="7"/>
          <c:order val="7"/>
          <c:tx>
            <c:v>Punt 1</c:v>
          </c:tx>
          <c:spPr>
            <a:ln xmlns:a="http://schemas.openxmlformats.org/drawingml/2006/main" w="0">
              <a:noFill/>
            </a:ln>
          </c:spPr>
          <c:marker>
            <c:symbol val="circle"/>
            <c:size val="8"/>
            <c:spPr>
              <a:solidFill xmlns:a="http://schemas.openxmlformats.org/drawingml/2006/main">
                <a:srgbClr val="183247"/>
              </a:solidFill>
            </c:spPr>
          </c:marker>
          <c:xVal>
            <c:numRef>
              <c:f>'Chart Data'!$O$2:$O$2</c:f>
              <c:numCache>
                <c:formatCode>General</c:formatCode>
                <c:ptCount val="1"/>
                <c:pt idx="0">
                  <c:v>40</c:v>
                </c:pt>
              </c:numCache>
            </c:numRef>
          </c:xVal>
          <c:yVal>
            <c:numRef>
              <c:f>'Chart Data'!$P$2:$P$2</c:f>
              <c:numCache>
                <c:formatCode>0</c:formatCode>
                <c:ptCount val="1"/>
                <c:pt idx="0">
                  <c:v>20</c:v>
                </c:pt>
              </c:numCache>
            </c:numRef>
          </c:yVal>
          <c:smooth val="0"/>
        </c:ser>
        <c:ser>
          <c:idx val="8"/>
          <c:order val="8"/>
          <c:tx>
            <c:v>1</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1</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41.44</c:v>
                </c:pt>
              </c:numCache>
            </c:numRef>
          </c:xVal>
          <c:yVal>
            <c:numRef>
              <c:f>'Chart Data'!$R$2:$R$2</c:f>
              <c:numCache>
                <c:formatCode>0</c:formatCode>
                <c:ptCount val="1"/>
                <c:pt idx="0">
                  <c:v>17</c:v>
                </c:pt>
              </c:numCache>
            </c:numRef>
          </c:yVal>
          <c:smooth val="0"/>
        </c:ser>
        <c:ser>
          <c:idx val="9"/>
          <c:order val="9"/>
          <c:tx>
            <c:v>q = 40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q = 40</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40</c:v>
                </c:pt>
              </c:numCache>
            </c:numRef>
          </c:xVal>
          <c:yVal>
            <c:numRef>
              <c:f>'Chart Data'!$T$2:$T$2</c:f>
              <c:numCache>
                <c:formatCode>0</c:formatCode>
                <c:ptCount val="1"/>
                <c:pt idx="0">
                  <c:v>2.8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Bedrag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GO = P</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80</c:v>
                </c:pt>
              </c:numCache>
            </c:numRef>
          </c:xVal>
          <c:yVal>
            <c:numRef>
              <c:f>'Chart Data'!$B$2:$B$3</c:f>
              <c:numCache>
                <c:formatCode>0</c:formatCode>
                <c:ptCount val="2"/>
                <c:pt idx="0">
                  <c:v>40</c:v>
                </c:pt>
                <c:pt idx="1">
                  <c:v>20</c:v>
                </c:pt>
              </c:numCache>
            </c:numRef>
          </c:yVal>
          <c:smooth val="0"/>
        </c:ser>
        <c:ser>
          <c:idx val="1"/>
          <c:order val="1"/>
          <c:tx>
            <c:v>GO = P</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GO = P</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Data'!$C$2:$C$2</c:f>
              <c:numCache>
                <c:formatCode>General</c:formatCode>
                <c:ptCount val="1"/>
                <c:pt idx="0">
                  <c:v>20</c:v>
                </c:pt>
              </c:numCache>
            </c:numRef>
          </c:xVal>
          <c:yVal>
            <c:numRef>
              <c:f>'Chart Data'!$D$2:$D$2</c:f>
              <c:numCache>
                <c:formatCode>0</c:formatCode>
                <c:ptCount val="1"/>
                <c:pt idx="0">
                  <c:v>37.8</c:v>
                </c:pt>
              </c:numCache>
            </c:numRef>
          </c:yVal>
          <c:smooth val="0"/>
        </c:ser>
        <c:ser>
          <c:idx val="2"/>
          <c:order val="2"/>
          <c:tx>
            <c:v>MO</c:v>
          </c:tx>
          <c:spPr>
            <a:ln xmlns:a="http://schemas.openxmlformats.org/drawingml/2006/main" w="28575">
              <a:solidFill>
                <a:srgbClr val="7B2D8E"/>
              </a:solidFill>
              <a:prstDash val="dash"/>
            </a:ln>
          </c:spPr>
          <c:marker>
            <c:symbol val="none"/>
          </c:marker>
          <c:xVal>
            <c:numRef>
              <c:f>'Chart Data'!$E$2:$E$3</c:f>
              <c:numCache>
                <c:formatCode>General</c:formatCode>
                <c:ptCount val="2"/>
                <c:pt idx="0">
                  <c:v>0</c:v>
                </c:pt>
                <c:pt idx="1">
                  <c:v>80</c:v>
                </c:pt>
              </c:numCache>
            </c:numRef>
          </c:xVal>
          <c:yVal>
            <c:numRef>
              <c:f>'Chart Data'!$F$2:$F$3</c:f>
              <c:numCache>
                <c:formatCode>0</c:formatCode>
                <c:ptCount val="2"/>
                <c:pt idx="0">
                  <c:v>40</c:v>
                </c:pt>
                <c:pt idx="1">
                  <c:v>0</c:v>
                </c:pt>
              </c:numCache>
            </c:numRef>
          </c:yVal>
          <c:smooth val="0"/>
        </c:ser>
        <c:ser>
          <c:idx val="3"/>
          <c:order val="3"/>
          <c:tx>
            <c:v>MK</c:v>
          </c:tx>
          <c:spPr>
            <a:ln xmlns:a="http://schemas.openxmlformats.org/drawingml/2006/main" w="28575">
              <a:solidFill>
                <a:srgbClr val="A94D16"/>
              </a:solidFill>
              <a:prstDash val="solid"/>
            </a:ln>
          </c:spPr>
          <c:marker>
            <c:symbol val="none"/>
          </c:marker>
          <c:xVal>
            <c:numRef>
              <c:f>'Chart Data'!$G$2:$G$3</c:f>
              <c:numCache>
                <c:formatCode>General</c:formatCode>
                <c:ptCount val="2"/>
                <c:pt idx="0">
                  <c:v>0</c:v>
                </c:pt>
                <c:pt idx="1">
                  <c:v>80</c:v>
                </c:pt>
              </c:numCache>
            </c:numRef>
          </c:xVal>
          <c:yVal>
            <c:numRef>
              <c:f>'Chart Data'!$H$2:$H$3</c:f>
              <c:numCache>
                <c:formatCode>0</c:formatCode>
                <c:ptCount val="2"/>
                <c:pt idx="0">
                  <c:v>10</c:v>
                </c:pt>
                <c:pt idx="1">
                  <c:v>30</c:v>
                </c:pt>
              </c:numCache>
            </c:numRef>
          </c:yVal>
          <c:smooth val="0"/>
        </c:ser>
        <c:ser>
          <c:idx val="4"/>
          <c:order val="4"/>
          <c:tx>
            <c:v>MO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875" b="1">
                      <a:solidFill>
                        <a:srgbClr val="7B2D8E"/>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55.2</c:v>
                </c:pt>
              </c:numCache>
            </c:numRef>
          </c:xVal>
          <c:yVal>
            <c:numRef>
              <c:f>'Chart Data'!$J$2:$J$2</c:f>
              <c:numCache>
                <c:formatCode>0</c:formatCode>
                <c:ptCount val="1"/>
                <c:pt idx="0">
                  <c:v>9.6</c:v>
                </c:pt>
              </c:numCache>
            </c:numRef>
          </c:yVal>
          <c:smooth val="0"/>
        </c:ser>
        <c:ser>
          <c:idx val="5"/>
          <c:order val="5"/>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66.4</c:v>
                </c:pt>
              </c:numCache>
            </c:numRef>
          </c:xVal>
          <c:yVal>
            <c:numRef>
              <c:f>'Chart Data'!$L$2:$L$2</c:f>
              <c:numCache>
                <c:formatCode>0</c:formatCode>
                <c:ptCount val="1"/>
                <c:pt idx="0">
                  <c:v>29.6</c:v>
                </c:pt>
              </c:numCache>
            </c:numRef>
          </c:yVal>
          <c:smooth val="0"/>
        </c:ser>
        <c:ser>
          <c:idx val="6"/>
          <c:order val="6"/>
          <c:tx>
            <c:v>Hulplijn q</c:v>
          </c:tx>
          <c:spPr>
            <a:ln xmlns:a="http://schemas.openxmlformats.org/drawingml/2006/main" w="19050">
              <a:solidFill>
                <a:srgbClr val="445B6B"/>
              </a:solidFill>
              <a:prstDash val="dash"/>
            </a:ln>
          </c:spPr>
          <c:marker>
            <c:symbol val="none"/>
          </c:marker>
          <c:xVal>
            <c:numRef>
              <c:f>'Chart Data'!$M$2:$M$3</c:f>
              <c:numCache>
                <c:formatCode>General</c:formatCode>
                <c:ptCount val="2"/>
                <c:pt idx="0">
                  <c:v>40</c:v>
                </c:pt>
                <c:pt idx="1">
                  <c:v>40</c:v>
                </c:pt>
              </c:numCache>
            </c:numRef>
          </c:xVal>
          <c:yVal>
            <c:numRef>
              <c:f>'Chart Data'!$N$2:$N$3</c:f>
              <c:numCache>
                <c:formatCode>0</c:formatCode>
                <c:ptCount val="2"/>
                <c:pt idx="0">
                  <c:v>0</c:v>
                </c:pt>
                <c:pt idx="1">
                  <c:v>20</c:v>
                </c:pt>
              </c:numCache>
            </c:numRef>
          </c:yVal>
          <c:smooth val="0"/>
        </c:ser>
        <c:ser>
          <c:idx val="7"/>
          <c:order val="7"/>
          <c:tx>
            <c:v>Punt 1</c:v>
          </c:tx>
          <c:spPr>
            <a:ln xmlns:a="http://schemas.openxmlformats.org/drawingml/2006/main" w="0">
              <a:noFill/>
            </a:ln>
          </c:spPr>
          <c:marker>
            <c:symbol val="circle"/>
            <c:size val="8"/>
            <c:spPr>
              <a:solidFill xmlns:a="http://schemas.openxmlformats.org/drawingml/2006/main">
                <a:srgbClr val="183247"/>
              </a:solidFill>
            </c:spPr>
          </c:marker>
          <c:xVal>
            <c:numRef>
              <c:f>'Chart Data'!$O$2:$O$2</c:f>
              <c:numCache>
                <c:formatCode>General</c:formatCode>
                <c:ptCount val="1"/>
                <c:pt idx="0">
                  <c:v>40</c:v>
                </c:pt>
              </c:numCache>
            </c:numRef>
          </c:xVal>
          <c:yVal>
            <c:numRef>
              <c:f>'Chart Data'!$P$2:$P$2</c:f>
              <c:numCache>
                <c:formatCode>0</c:formatCode>
                <c:ptCount val="1"/>
                <c:pt idx="0">
                  <c:v>20</c:v>
                </c:pt>
              </c:numCache>
            </c:numRef>
          </c:yVal>
          <c:smooth val="0"/>
        </c:ser>
        <c:ser>
          <c:idx val="8"/>
          <c:order val="8"/>
          <c:tx>
            <c:v>1</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1</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41.44</c:v>
                </c:pt>
              </c:numCache>
            </c:numRef>
          </c:xVal>
          <c:yVal>
            <c:numRef>
              <c:f>'Chart Data'!$R$2:$R$2</c:f>
              <c:numCache>
                <c:formatCode>0</c:formatCode>
                <c:ptCount val="1"/>
                <c:pt idx="0">
                  <c:v>17</c:v>
                </c:pt>
              </c:numCache>
            </c:numRef>
          </c:yVal>
          <c:smooth val="0"/>
        </c:ser>
        <c:ser>
          <c:idx val="9"/>
          <c:order val="9"/>
          <c:tx>
            <c:v>q = 40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q = 40</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40</c:v>
                </c:pt>
              </c:numCache>
            </c:numRef>
          </c:xVal>
          <c:yVal>
            <c:numRef>
              <c:f>'Chart Data'!$T$2:$T$2</c:f>
              <c:numCache>
                <c:formatCode>0</c:formatCode>
                <c:ptCount val="1"/>
                <c:pt idx="0">
                  <c:v>2.8</c:v>
                </c:pt>
              </c:numCache>
            </c:numRef>
          </c:yVal>
          <c:smooth val="0"/>
        </c:ser>
        <c:ser>
          <c:idx val="10"/>
          <c:order val="10"/>
          <c:tx>
            <c:v>Van MO/MK naar GO</c:v>
          </c:tx>
          <c:spPr>
            <a:ln xmlns:a="http://schemas.openxmlformats.org/drawingml/2006/main" w="19050">
              <a:solidFill>
                <a:srgbClr val="17658A"/>
              </a:solidFill>
              <a:prstDash val="dash"/>
            </a:ln>
          </c:spPr>
          <c:marker>
            <c:symbol val="none"/>
          </c:marker>
          <c:xVal>
            <c:numRef>
              <c:f>'Chart Data'!$U$2:$U$3</c:f>
              <c:numCache>
                <c:formatCode>General</c:formatCode>
                <c:ptCount val="2"/>
                <c:pt idx="0">
                  <c:v>40</c:v>
                </c:pt>
                <c:pt idx="1">
                  <c:v>40</c:v>
                </c:pt>
              </c:numCache>
            </c:numRef>
          </c:xVal>
          <c:yVal>
            <c:numRef>
              <c:f>'Chart Data'!$V$2:$V$3</c:f>
              <c:numCache>
                <c:formatCode>0</c:formatCode>
                <c:ptCount val="2"/>
                <c:pt idx="0">
                  <c:v>20</c:v>
                </c:pt>
                <c:pt idx="1">
                  <c:v>30</c:v>
                </c:pt>
              </c:numCache>
            </c:numRef>
          </c:yVal>
          <c:smooth val="0"/>
        </c:ser>
        <c:ser>
          <c:idx val="11"/>
          <c:order val="11"/>
          <c:tx>
            <c:v>Hulplijn P</c:v>
          </c:tx>
          <c:spPr>
            <a:ln xmlns:a="http://schemas.openxmlformats.org/drawingml/2006/main" w="19050">
              <a:solidFill>
                <a:srgbClr val="17658A"/>
              </a:solidFill>
              <a:prstDash val="dash"/>
            </a:ln>
          </c:spPr>
          <c:marker>
            <c:symbol val="none"/>
          </c:marker>
          <c:xVal>
            <c:numRef>
              <c:f>'Chart Data'!$W$2:$W$3</c:f>
              <c:numCache>
                <c:formatCode>General</c:formatCode>
                <c:ptCount val="2"/>
                <c:pt idx="0">
                  <c:v>0</c:v>
                </c:pt>
                <c:pt idx="1">
                  <c:v>40</c:v>
                </c:pt>
              </c:numCache>
            </c:numRef>
          </c:xVal>
          <c:yVal>
            <c:numRef>
              <c:f>'Chart Data'!$X$2:$X$3</c:f>
              <c:numCache>
                <c:formatCode>0</c:formatCode>
                <c:ptCount val="2"/>
                <c:pt idx="0">
                  <c:v>30</c:v>
                </c:pt>
                <c:pt idx="1">
                  <c:v>30</c:v>
                </c:pt>
              </c:numCache>
            </c:numRef>
          </c:yVal>
          <c:smooth val="0"/>
        </c:ser>
        <c:ser>
          <c:idx val="12"/>
          <c:order val="12"/>
          <c:tx>
            <c:v>Punt 2</c:v>
          </c:tx>
          <c:spPr>
            <a:ln xmlns:a="http://schemas.openxmlformats.org/drawingml/2006/main" w="0">
              <a:noFill/>
            </a:ln>
          </c:spPr>
          <c:marker>
            <c:symbol val="circle"/>
            <c:size val="8"/>
            <c:spPr>
              <a:solidFill xmlns:a="http://schemas.openxmlformats.org/drawingml/2006/main">
                <a:srgbClr val="183247"/>
              </a:solidFill>
            </c:spPr>
          </c:marker>
          <c:xVal>
            <c:numRef>
              <c:f>'Chart Data'!$Y$2:$Y$2</c:f>
              <c:numCache>
                <c:formatCode>General</c:formatCode>
                <c:ptCount val="1"/>
                <c:pt idx="0">
                  <c:v>40</c:v>
                </c:pt>
              </c:numCache>
            </c:numRef>
          </c:xVal>
          <c:yVal>
            <c:numRef>
              <c:f>'Chart Data'!$Z$2:$Z$2</c:f>
              <c:numCache>
                <c:formatCode>0</c:formatCode>
                <c:ptCount val="1"/>
                <c:pt idx="0">
                  <c:v>30</c:v>
                </c:pt>
              </c:numCache>
            </c:numRef>
          </c:yVal>
          <c:smooth val="0"/>
        </c:ser>
        <c:ser>
          <c:idx val="13"/>
          <c:order val="13"/>
          <c:tx>
            <c:v>2</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2</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Data'!$AA$2:$AA$2</c:f>
              <c:numCache>
                <c:formatCode>General</c:formatCode>
                <c:ptCount val="1"/>
                <c:pt idx="0">
                  <c:v>41.44</c:v>
                </c:pt>
              </c:numCache>
            </c:numRef>
          </c:xVal>
          <c:yVal>
            <c:numRef>
              <c:f>'Chart Data'!$AB$2:$AB$2</c:f>
              <c:numCache>
                <c:formatCode>0</c:formatCode>
                <c:ptCount val="1"/>
                <c:pt idx="0">
                  <c:v>32.2</c:v>
                </c:pt>
              </c:numCache>
            </c:numRef>
          </c:yVal>
          <c:smooth val="0"/>
        </c:ser>
        <c:ser>
          <c:idx val="14"/>
          <c:order val="14"/>
          <c:tx>
            <c:v>P = 30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P = 30</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Data'!$AC$2:$AC$2</c:f>
              <c:numCache>
                <c:formatCode>General</c:formatCode>
                <c:ptCount val="1"/>
                <c:pt idx="0">
                  <c:v>0</c:v>
                </c:pt>
              </c:numCache>
            </c:numRef>
          </c:xVal>
          <c:yVal>
            <c:numRef>
              <c:f>'Chart Data'!$AD$2:$AD$2</c:f>
              <c:numCache>
                <c:formatCode>0</c:formatCode>
                <c:ptCount val="1"/>
                <c:pt idx="0">
                  <c:v>32.5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Bedrag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1.4 Winstmaximalisatie bij monopolie">
            <a:extLst xmlns:a="http://schemas.openxmlformats.org/drawingml/2006/main">
              <a:ext uri="{FF2B5EF4-FFF2-40B4-BE49-F238E27FC236}">
                <a16:creationId xmlns:a16="http://schemas.microsoft.com/office/drawing/2014/main" id="{D063C469-5C73-4C6C-9EEE-5F8A8C6128DD}"/>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Deze les: §4.1.4 Winstmaximalisatie bij monopolie</a:t>
            </a:r>
          </a:p>
        </p:txBody>
      </p:sp>
      <p:sp>
        <p:nvSpPr>
          <p:cNvPr id="2" name="">
            <a:extLst xmlns:a="http://schemas.openxmlformats.org/drawingml/2006/main">
              <a:ext uri="{FF2B5EF4-FFF2-40B4-BE49-F238E27FC236}">
                <a16:creationId xmlns:a16="http://schemas.microsoft.com/office/drawing/2014/main" id="{F60FF3DF-70A9-4BFF-817F-AF91E94E5E5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a:extLst xmlns:a="http://schemas.openxmlformats.org/drawingml/2006/main">
              <a:ext uri="{FF2B5EF4-FFF2-40B4-BE49-F238E27FC236}">
                <a16:creationId xmlns:a16="http://schemas.microsoft.com/office/drawing/2014/main" id="{E47CFBD0-3A5F-4F4B-A959-BA431817080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a:t>
            </a:r>
          </a:p>
        </p:txBody>
      </p:sp>
      <p:sp>
        <p:nvSpPr>
          <p:cNvPr id="4" name="1">
            <a:extLst xmlns:a="http://schemas.openxmlformats.org/drawingml/2006/main">
              <a:ext uri="{FF2B5EF4-FFF2-40B4-BE49-F238E27FC236}">
                <a16:creationId xmlns:a16="http://schemas.microsoft.com/office/drawing/2014/main" id="{00CC9E31-8DC8-49A7-8EC5-D4C1DDEEFD6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441C4C20-30E3-49E7-BEE7-B47F92B270C7}"/>
              </a:ext>
            </a:extLst>
          </p:cNvPr>
          <p:cNvSpPr>
            <a:spLocks xmlns:a="http://schemas.openxmlformats.org/drawingml/2006/main" noGrp="1"/>
          </p:cNvSpPr>
          <p:nvPr/>
        </p:nvSpPr>
        <p:spPr>
          <a:xfrm xmlns:a="http://schemas.openxmlformats.org/drawingml/2006/main">
            <a:off x="571500" y="1066800"/>
            <a:ext cx="1409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866FAE87-C17A-44F8-A1ED-3BEDA4467210}"/>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77A3223B-D019-41D6-A166-8C83D81DCE2B}"/>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D87AF52F-B5C9-4107-A7EE-8D2A2294F4F4}"/>
              </a:ext>
            </a:extLst>
          </p:cNvPr>
          <p:cNvSpPr>
            <a:spLocks xmlns:a="http://schemas.openxmlformats.org/drawingml/2006/main" noGrp="1"/>
          </p:cNvSpPr>
          <p:nvPr/>
        </p:nvSpPr>
        <p:spPr>
          <a:xfrm xmlns:a="http://schemas.openxmlformats.org/drawingml/2006/main">
            <a:off x="1104900" y="2324100"/>
            <a:ext cx="7562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A6E5A685-51EC-42EB-92D6-ECEF91A51F06}"/>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1D5043BC-E84A-40AA-BFC8-44AEC4D2FB4E}"/>
              </a:ext>
            </a:extLst>
          </p:cNvPr>
          <p:cNvSpPr>
            <a:spLocks xmlns:a="http://schemas.openxmlformats.org/drawingml/2006/main" noGrp="1"/>
          </p:cNvSpPr>
          <p:nvPr/>
        </p:nvSpPr>
        <p:spPr>
          <a:xfrm xmlns:a="http://schemas.openxmlformats.org/drawingml/2006/main">
            <a:off x="1104900" y="3200400"/>
            <a:ext cx="7562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B6FE8E27-1BAB-44FF-81C8-77D611EB29CC}"/>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30AA894F-BCDE-41B2-93F9-626361D0E373}"/>
              </a:ext>
            </a:extLst>
          </p:cNvPr>
          <p:cNvSpPr>
            <a:spLocks xmlns:a="http://schemas.openxmlformats.org/drawingml/2006/main" noGrp="1"/>
          </p:cNvSpPr>
          <p:nvPr/>
        </p:nvSpPr>
        <p:spPr>
          <a:xfrm xmlns:a="http://schemas.openxmlformats.org/drawingml/2006/main">
            <a:off x="1104900" y="3714750"/>
            <a:ext cx="7562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65211484-7A68-43C6-B5EF-A08E1C4C0673}"/>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7C912615-96B3-459A-9B86-15D6462FE787}"/>
              </a:ext>
            </a:extLst>
          </p:cNvPr>
          <p:cNvSpPr>
            <a:spLocks xmlns:a="http://schemas.openxmlformats.org/drawingml/2006/main" noGrp="1"/>
          </p:cNvSpPr>
          <p:nvPr/>
        </p:nvSpPr>
        <p:spPr>
          <a:xfrm xmlns:a="http://schemas.openxmlformats.org/drawingml/2006/main">
            <a:off x="1104900" y="4248150"/>
            <a:ext cx="75628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D2F2EBE9-C990-459F-92D7-6A3D389FF61F}"/>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A3C92F81-6A7E-4002-8B2C-B4910275F4B6}"/>
              </a:ext>
            </a:extLst>
          </p:cNvPr>
          <p:cNvSpPr>
            <a:spLocks xmlns:a="http://schemas.openxmlformats.org/drawingml/2006/main" noGrp="1"/>
          </p:cNvSpPr>
          <p:nvPr/>
        </p:nvSpPr>
        <p:spPr>
          <a:xfrm xmlns:a="http://schemas.openxmlformats.org/drawingml/2006/main">
            <a:off x="1104900" y="6057900"/>
            <a:ext cx="7562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0D326B7B-8A5C-42F5-9403-F8E9BBB1F9F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5D76545B-0564-46E2-B848-F58D9F6D460C}"/>
              </a:ext>
            </a:extLst>
          </p:cNvPr>
          <p:cNvSpPr>
            <a:spLocks xmlns:a="http://schemas.openxmlformats.org/drawingml/2006/main" noGrp="1"/>
          </p:cNvSpPr>
          <p:nvPr/>
        </p:nvSpPr>
        <p:spPr>
          <a:xfrm xmlns:a="http://schemas.openxmlformats.org/drawingml/2006/main">
            <a:off x="1104900" y="6819900"/>
            <a:ext cx="7562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38.</a:t>
            </a:r>
          </a:p>
        </p:txBody>
      </p:sp>
      <p:sp>
        <p:nvSpPr>
          <p:cNvPr id="19" name="route-number-7">
            <a:extLst xmlns:a="http://schemas.openxmlformats.org/drawingml/2006/main">
              <a:ext uri="{FF2B5EF4-FFF2-40B4-BE49-F238E27FC236}">
                <a16:creationId xmlns:a16="http://schemas.microsoft.com/office/drawing/2014/main" id="{F7746D6B-7DFA-4FF8-A00A-BB8F92BF4A19}"/>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CC4D34A2-8C2B-4736-9737-22F9185FAACB}"/>
              </a:ext>
            </a:extLst>
          </p:cNvPr>
          <p:cNvSpPr>
            <a:spLocks xmlns:a="http://schemas.openxmlformats.org/drawingml/2006/main" noGrp="1"/>
          </p:cNvSpPr>
          <p:nvPr/>
        </p:nvSpPr>
        <p:spPr>
          <a:xfrm xmlns:a="http://schemas.openxmlformats.org/drawingml/2006/main">
            <a:off x="1104900" y="7372350"/>
            <a:ext cx="7562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59C6C16-BDCE-40A9-9B05-6A01BF12DD86}"/>
              </a:ext>
            </a:extLst>
          </p:cNvPr>
          <p:cNvSpPr>
            <a:spLocks xmlns:a="http://schemas.openxmlformats.org/drawingml/2006/main" noGrp="1"/>
          </p:cNvSpPr>
          <p:nvPr/>
        </p:nvSpPr>
        <p:spPr>
          <a:xfrm xmlns:a="http://schemas.openxmlformats.org/drawingml/2006/main">
            <a:off x="9258300" y="17621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7806AA3F-AE7D-45DD-8A9D-507E44173B66}"/>
              </a:ext>
            </a:extLst>
          </p:cNvPr>
          <p:cNvSpPr>
            <a:spLocks xmlns:a="http://schemas.openxmlformats.org/drawingml/2006/main" noGrp="1"/>
          </p:cNvSpPr>
          <p:nvPr/>
        </p:nvSpPr>
        <p:spPr>
          <a:xfrm xmlns:a="http://schemas.openxmlformats.org/drawingml/2006/main">
            <a:off x="9258300" y="2324100"/>
            <a:ext cx="5410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Haalbare q kiezen en controleren.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 op GO lezen, winst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grafische route uitleggen.</a:t>
            </a:r>
          </a:p>
        </p:txBody>
      </p:sp>
      <p:sp>
        <p:nvSpPr>
          <p:cNvPr id="23" name="">
            <a:extLst xmlns:a="http://schemas.openxmlformats.org/drawingml/2006/main">
              <a:ext uri="{FF2B5EF4-FFF2-40B4-BE49-F238E27FC236}">
                <a16:creationId xmlns:a16="http://schemas.microsoft.com/office/drawing/2014/main" id="{0EF5B407-74C8-4205-B8DB-6A748DA91050}"/>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FA8537C0-A90B-499C-982C-B8C9E2DF4D0A}"/>
              </a:ext>
            </a:extLst>
          </p:cNvPr>
          <p:cNvSpPr>
            <a:spLocks xmlns:a="http://schemas.openxmlformats.org/drawingml/2006/main" noGrp="1"/>
          </p:cNvSpPr>
          <p:nvPr/>
        </p:nvSpPr>
        <p:spPr>
          <a:xfrm xmlns:a="http://schemas.openxmlformats.org/drawingml/2006/main">
            <a:off x="9258300" y="38385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D1F8C3AF-BA32-4DDF-9840-2B9B1D252936}"/>
              </a:ext>
            </a:extLst>
          </p:cNvPr>
          <p:cNvSpPr>
            <a:spLocks xmlns:a="http://schemas.openxmlformats.org/drawingml/2006/main" noGrp="1"/>
          </p:cNvSpPr>
          <p:nvPr/>
        </p:nvSpPr>
        <p:spPr>
          <a:xfrm xmlns:a="http://schemas.openxmlformats.org/drawingml/2006/main">
            <a:off x="9258300" y="4371975"/>
            <a:ext cx="54102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41 · Opgaven 31 en 32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32: verkennen met theorie p. 37</a:t>
            </a:r>
          </a:p>
        </p:txBody>
      </p:sp>
      <p:sp>
        <p:nvSpPr>
          <p:cNvPr id="26" name="">
            <a:extLst xmlns:a="http://schemas.openxmlformats.org/drawingml/2006/main">
              <a:ext uri="{FF2B5EF4-FFF2-40B4-BE49-F238E27FC236}">
                <a16:creationId xmlns:a16="http://schemas.microsoft.com/office/drawing/2014/main" id="{AD9CD115-2DAE-420B-B9C1-B3830B77D85D}"/>
              </a:ext>
            </a:extLst>
          </p:cNvPr>
          <p:cNvSpPr>
            <a:spLocks xmlns:a="http://schemas.openxmlformats.org/drawingml/2006/main" noGrp="1"/>
          </p:cNvSpPr>
          <p:nvPr/>
        </p:nvSpPr>
        <p:spPr>
          <a:xfrm xmlns:a="http://schemas.openxmlformats.org/drawingml/2006/main">
            <a:off x="9258300" y="55245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AB70CD8E-331F-4D52-9469-C3DCB8588BD0}"/>
              </a:ext>
            </a:extLst>
          </p:cNvPr>
          <p:cNvSpPr>
            <a:spLocks xmlns:a="http://schemas.openxmlformats.org/drawingml/2006/main" noGrp="1"/>
          </p:cNvSpPr>
          <p:nvPr/>
        </p:nvSpPr>
        <p:spPr>
          <a:xfrm xmlns:a="http://schemas.openxmlformats.org/drawingml/2006/main">
            <a:off x="9258300" y="581025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F4C39B42-47C9-40BE-8F3D-758FED3F44F1}"/>
              </a:ext>
            </a:extLst>
          </p:cNvPr>
          <p:cNvSpPr>
            <a:spLocks xmlns:a="http://schemas.openxmlformats.org/drawingml/2006/main" noGrp="1"/>
          </p:cNvSpPr>
          <p:nvPr/>
        </p:nvSpPr>
        <p:spPr>
          <a:xfrm xmlns:a="http://schemas.openxmlformats.org/drawingml/2006/main">
            <a:off x="9258300" y="6372225"/>
            <a:ext cx="54102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§4.1.4 · 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33, 34 en 35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36 en 37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38</a:t>
            </a:r>
          </a:p>
        </p:txBody>
      </p:sp>
    </p:spTree>
    <p:extLst>
      <p:ext uri="{BB962C8B-B14F-4D97-AF65-F5344CB8AC3E}">
        <p14:creationId xmlns:p14="http://schemas.microsoft.com/office/powerpoint/2010/main" val="1920919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e prijsroute bij een monopolist">
            <a:extLst xmlns:a="http://schemas.openxmlformats.org/drawingml/2006/main">
              <a:ext uri="{FF2B5EF4-FFF2-40B4-BE49-F238E27FC236}">
                <a16:creationId xmlns:a16="http://schemas.microsoft.com/office/drawing/2014/main" id="{F6DFCC3D-0227-4D46-B63E-D64E44303FDC}"/>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De prijsroute bij een monopolist</a:t>
            </a:r>
          </a:p>
        </p:txBody>
      </p:sp>
      <p:sp>
        <p:nvSpPr>
          <p:cNvPr id="2" name="">
            <a:extLst xmlns:a="http://schemas.openxmlformats.org/drawingml/2006/main">
              <a:ext uri="{FF2B5EF4-FFF2-40B4-BE49-F238E27FC236}">
                <a16:creationId xmlns:a16="http://schemas.microsoft.com/office/drawing/2014/main" id="{F478ACAA-5336-483E-BEAE-753024DBE51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a:extLst xmlns:a="http://schemas.openxmlformats.org/drawingml/2006/main">
              <a:ext uri="{FF2B5EF4-FFF2-40B4-BE49-F238E27FC236}">
                <a16:creationId xmlns:a16="http://schemas.microsoft.com/office/drawing/2014/main" id="{8EB2C815-127B-4619-9C38-95196041F88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a:t>
            </a:r>
          </a:p>
        </p:txBody>
      </p:sp>
      <p:sp>
        <p:nvSpPr>
          <p:cNvPr id="4" name="2">
            <a:extLst xmlns:a="http://schemas.openxmlformats.org/drawingml/2006/main">
              <a:ext uri="{FF2B5EF4-FFF2-40B4-BE49-F238E27FC236}">
                <a16:creationId xmlns:a16="http://schemas.microsoft.com/office/drawing/2014/main" id="{81AE8B2E-1FC8-4741-96F4-3C328147AA4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1" name=""/>
          <p:cNvGraphicFramePr/>
          <p:nvPr/>
        </p:nvGraphicFramePr>
        <p:xfrm>
          <a:off xmlns:a="http://schemas.openxmlformats.org/drawingml/2006/main" x="571500" y="2105025"/>
          <a:ext xmlns:a="http://schemas.openxmlformats.org/drawingml/2006/main" cx="14097000" cy="4019550"/>
        </p:xfrm>
        <a:graphic xmlns:a="http://schemas.openxmlformats.org/drawingml/2006/main">
          <a:graphicData uri="http://schemas.openxmlformats.org/drawingml/2006/table">
            <a:tbl>
              <a:tblPr/>
              <a:tblGrid>
                <a:gridCol w="3429000"/>
                <a:gridCol w="5334000"/>
                <a:gridCol w="5334000"/>
              </a:tblGrid>
              <a:tr h="1004888">
                <a:tc>
                  <a:txBody>
                    <a:bodyPr lIns="161925" tIns="95250" rIns="133350" bIns="95250"/>
                    <a:lstStyle/>
                    <a:p>
                      <a:r>
                        <a:rPr sz="2400" b="1">
                          <a:solidFill>
                            <a:srgbClr val="FFFFFF"/>
                          </a:solidFill>
                          <a:latin typeface="Arial"/>
                          <a:ea typeface="Arial"/>
                          <a:cs typeface="Arial"/>
                        </a:rPr>
                        <a:t>Stap</a:t>
                      </a:r>
                    </a:p>
                  </a:txBody>
                  <a:tcPr marL="91440" marR="91440" marT="45720" marB="45720" anchor="ctr">
                    <a:solidFill>
                      <a:srgbClr val="183247"/>
                    </a:solidFill>
                  </a:tcPr>
                </a:tc>
                <a:tc>
                  <a:txBody>
                    <a:bodyPr lIns="161925" tIns="95250" rIns="133350" bIns="95250"/>
                    <a:lstStyle/>
                    <a:p>
                      <a:r>
                        <a:rPr sz="2400" b="1">
                          <a:solidFill>
                            <a:srgbClr val="FFFFFF"/>
                          </a:solidFill>
                          <a:latin typeface="Arial"/>
                          <a:ea typeface="Arial"/>
                          <a:cs typeface="Arial"/>
                        </a:rPr>
                        <a:t>Prijsnemer: bekend</a:t>
                      </a:r>
                    </a:p>
                  </a:txBody>
                  <a:tcPr marL="91440" marR="91440" marT="45720" marB="45720" anchor="ctr">
                    <a:solidFill>
                      <a:srgbClr val="183247"/>
                    </a:solidFill>
                  </a:tcPr>
                </a:tc>
                <a:tc>
                  <a:txBody>
                    <a:bodyPr lIns="161925" tIns="95250" rIns="133350" bIns="95250"/>
                    <a:lstStyle/>
                    <a:p>
                      <a:r>
                        <a:rPr sz="2400" b="1">
                          <a:solidFill>
                            <a:srgbClr val="FFFFFF"/>
                          </a:solidFill>
                          <a:latin typeface="Arial"/>
                          <a:ea typeface="Arial"/>
                          <a:cs typeface="Arial"/>
                        </a:rPr>
                        <a:t>Monopolist: vandaag</a:t>
                      </a:r>
                    </a:p>
                  </a:txBody>
                  <a:tcPr marL="91440" marR="91440" marT="45720" marB="45720" anchor="ctr">
                    <a:solidFill>
                      <a:srgbClr val="183247"/>
                    </a:solidFill>
                  </a:tcPr>
                </a:tc>
              </a:tr>
              <a:tr h="1004888">
                <a:tc>
                  <a:txBody>
                    <a:bodyPr lIns="161925" tIns="95250" rIns="133350" bIns="95250"/>
                    <a:lstStyle/>
                    <a:p>
                      <a:r>
                        <a:rPr sz="2400" b="0">
                          <a:solidFill>
                            <a:srgbClr val="183247"/>
                          </a:solidFill>
                          <a:latin typeface="Arial"/>
                          <a:ea typeface="Arial"/>
                          <a:cs typeface="Arial"/>
                        </a:rPr>
                        <a:t>Hoeveelheid kiezen</a:t>
                      </a:r>
                    </a:p>
                  </a:txBody>
                  <a:tcPr marL="91440" marR="91440" marT="45720" marB="45720" anchor="ctr">
                    <a:solidFill>
                      <a:srgbClr val="FFFFFF"/>
                    </a:solidFill>
                  </a:tcPr>
                </a:tc>
                <a:tc>
                  <a:txBody>
                    <a:bodyPr lIns="161925" tIns="95250" rIns="133350" bIns="95250"/>
                    <a:lstStyle/>
                    <a:p>
                      <a:r>
                        <a:rPr sz="2400" b="0">
                          <a:solidFill>
                            <a:srgbClr val="183247"/>
                          </a:solidFill>
                          <a:latin typeface="Arial"/>
                          <a:ea typeface="Arial"/>
                          <a:cs typeface="Arial"/>
                        </a:rPr>
                        <a:t>MO = MK, dan controleren</a:t>
                      </a:r>
                    </a:p>
                  </a:txBody>
                  <a:tcPr marL="91440" marR="91440" marT="45720" marB="45720" anchor="ctr">
                    <a:solidFill>
                      <a:srgbClr val="FFFFFF"/>
                    </a:solidFill>
                  </a:tcPr>
                </a:tc>
                <a:tc>
                  <a:txBody>
                    <a:bodyPr lIns="161925" tIns="95250" rIns="133350" bIns="95250"/>
                    <a:lstStyle/>
                    <a:p>
                      <a:r>
                        <a:rPr sz="2400" b="0">
                          <a:solidFill>
                            <a:srgbClr val="183247"/>
                          </a:solidFill>
                          <a:latin typeface="Arial"/>
                          <a:ea typeface="Arial"/>
                          <a:cs typeface="Arial"/>
                        </a:rPr>
                        <a:t>MO = MK, dan controleren</a:t>
                      </a:r>
                    </a:p>
                  </a:txBody>
                  <a:tcPr marL="91440" marR="91440" marT="45720" marB="45720" anchor="ctr">
                    <a:solidFill>
                      <a:srgbClr val="FFFFFF"/>
                    </a:solidFill>
                  </a:tcPr>
                </a:tc>
              </a:tr>
              <a:tr h="1004888">
                <a:tc>
                  <a:txBody>
                    <a:bodyPr lIns="161925" tIns="95250" rIns="133350" bIns="95250"/>
                    <a:lstStyle/>
                    <a:p>
                      <a:r>
                        <a:rPr sz="2400" b="0">
                          <a:solidFill>
                            <a:srgbClr val="183247"/>
                          </a:solidFill>
                          <a:latin typeface="Arial"/>
                          <a:ea typeface="Arial"/>
                          <a:cs typeface="Arial"/>
                        </a:rPr>
                        <a:t>Verkoopprijs vinden</a:t>
                      </a:r>
                    </a:p>
                  </a:txBody>
                  <a:tcPr marL="91440" marR="91440" marT="45720" marB="45720" anchor="ctr">
                    <a:solidFill>
                      <a:srgbClr val="EFF4F7"/>
                    </a:solidFill>
                  </a:tcPr>
                </a:tc>
                <a:tc>
                  <a:txBody>
                    <a:bodyPr lIns="161925" tIns="95250" rIns="133350" bIns="95250"/>
                    <a:lstStyle/>
                    <a:p>
                      <a:r>
                        <a:rPr sz="2400" b="0">
                          <a:solidFill>
                            <a:srgbClr val="183247"/>
                          </a:solidFill>
                          <a:latin typeface="Arial"/>
                          <a:ea typeface="Arial"/>
                          <a:cs typeface="Arial"/>
                        </a:rPr>
                        <a:t>Gegeven marktprijs</a:t>
                      </a:r>
                    </a:p>
                    <a:p>
                      <a:r>
                        <a:rPr sz="2400" b="0">
                          <a:solidFill>
                            <a:srgbClr val="183247"/>
                          </a:solidFill>
                          <a:latin typeface="Arial"/>
                          <a:ea typeface="Arial"/>
                          <a:cs typeface="Arial"/>
                        </a:rPr>
                        <a:t>P = GO = MO</a:t>
                      </a:r>
                    </a:p>
                  </a:txBody>
                  <a:tcPr marL="91440" marR="91440" marT="45720" marB="45720" anchor="ctr">
                    <a:solidFill>
                      <a:srgbClr val="EFF4F7"/>
                    </a:solidFill>
                  </a:tcPr>
                </a:tc>
                <a:tc>
                  <a:txBody>
                    <a:bodyPr lIns="161925" tIns="95250" rIns="133350" bIns="95250"/>
                    <a:lstStyle/>
                    <a:p>
                      <a:r>
                        <a:rPr sz="2400" b="0">
                          <a:solidFill>
                            <a:srgbClr val="183247"/>
                          </a:solidFill>
                          <a:latin typeface="Arial"/>
                          <a:ea typeface="Arial"/>
                          <a:cs typeface="Arial"/>
                        </a:rPr>
                        <a:t>P aflezen op GO</a:t>
                      </a:r>
                    </a:p>
                    <a:p>
                      <a:r>
                        <a:rPr sz="2400" b="0">
                          <a:solidFill>
                            <a:srgbClr val="183247"/>
                          </a:solidFill>
                          <a:latin typeface="Arial"/>
                          <a:ea typeface="Arial"/>
                          <a:cs typeface="Arial"/>
                        </a:rPr>
                        <a:t>bij de gekozen q</a:t>
                      </a:r>
                    </a:p>
                  </a:txBody>
                  <a:tcPr marL="91440" marR="91440" marT="45720" marB="45720" anchor="ctr">
                    <a:solidFill>
                      <a:srgbClr val="EFF4F7"/>
                    </a:solidFill>
                  </a:tcPr>
                </a:tc>
              </a:tr>
              <a:tr h="1004888">
                <a:tc>
                  <a:txBody>
                    <a:bodyPr lIns="161925" tIns="95250" rIns="133350" bIns="95250"/>
                    <a:lstStyle/>
                    <a:p>
                      <a:r>
                        <a:rPr sz="2400" b="0">
                          <a:solidFill>
                            <a:srgbClr val="183247"/>
                          </a:solidFill>
                          <a:latin typeface="Arial"/>
                          <a:ea typeface="Arial"/>
                          <a:cs typeface="Arial"/>
                        </a:rPr>
                        <a:t>Winst berekenen</a:t>
                      </a:r>
                    </a:p>
                  </a:txBody>
                  <a:tcPr marL="91440" marR="91440" marT="45720" marB="45720" anchor="ctr">
                    <a:solidFill>
                      <a:srgbClr val="FFFFFF"/>
                    </a:solidFill>
                  </a:tcPr>
                </a:tc>
                <a:tc>
                  <a:txBody>
                    <a:bodyPr lIns="161925" tIns="95250" rIns="133350" bIns="95250"/>
                    <a:lstStyle/>
                    <a:p>
                      <a:r>
                        <a:rPr sz="2400" b="0">
                          <a:solidFill>
                            <a:srgbClr val="183247"/>
                          </a:solidFill>
                          <a:latin typeface="Arial"/>
                          <a:ea typeface="Arial"/>
                          <a:cs typeface="Arial"/>
                        </a:rPr>
                        <a:t>TO − TK</a:t>
                      </a:r>
                    </a:p>
                  </a:txBody>
                  <a:tcPr marL="91440" marR="91440" marT="45720" marB="45720" anchor="ctr">
                    <a:solidFill>
                      <a:srgbClr val="FFFFFF"/>
                    </a:solidFill>
                  </a:tcPr>
                </a:tc>
                <a:tc>
                  <a:txBody>
                    <a:bodyPr lIns="161925" tIns="95250" rIns="133350" bIns="95250"/>
                    <a:lstStyle/>
                    <a:p>
                      <a:r>
                        <a:rPr sz="2400" b="0">
                          <a:solidFill>
                            <a:srgbClr val="183247"/>
                          </a:solidFill>
                          <a:latin typeface="Arial"/>
                          <a:ea typeface="Arial"/>
                          <a:cs typeface="Arial"/>
                        </a:rPr>
                        <a:t>TO − TK</a:t>
                      </a:r>
                    </a:p>
                  </a:txBody>
                  <a:tcPr marL="91440" marR="91440" marT="45720" marB="45720" anchor="ctr">
                    <a:solidFill>
                      <a:srgbClr val="FFFFFF"/>
                    </a:solidFill>
                  </a:tcPr>
                </a:tc>
              </a:tr>
            </a:tbl>
          </a:graphicData>
        </a:graphic>
      </p:graphicFrame>
      <p:sp>
        <p:nvSpPr>
          <p:cNvPr id="6" name="Hoeveelheid, verkoopprijs en winst zijn drie verschillende uitkom">
            <a:extLst xmlns:a="http://schemas.openxmlformats.org/drawingml/2006/main">
              <a:ext uri="{FF2B5EF4-FFF2-40B4-BE49-F238E27FC236}">
                <a16:creationId xmlns:a16="http://schemas.microsoft.com/office/drawing/2014/main" id="{43683703-9387-4F11-858E-30D330A8D4E8}"/>
              </a:ext>
            </a:extLst>
          </p:cNvPr>
          <p:cNvSpPr>
            <a:spLocks xmlns:a="http://schemas.openxmlformats.org/drawingml/2006/main" noGrp="1"/>
          </p:cNvSpPr>
          <p:nvPr/>
        </p:nvSpPr>
        <p:spPr>
          <a:xfrm xmlns:a="http://schemas.openxmlformats.org/drawingml/2006/main">
            <a:off x="571500" y="6829425"/>
            <a:ext cx="1409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Hoeveelheid, verkoopprijs en winst zijn drie verschillende uitkomsten.</a:t>
            </a:r>
          </a:p>
        </p:txBody>
      </p:sp>
    </p:spTree>
    <p:extLst>
      <p:ext uri="{BB962C8B-B14F-4D97-AF65-F5344CB8AC3E}">
        <p14:creationId xmlns:p14="http://schemas.microsoft.com/office/powerpoint/2010/main" val="3395051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en verkoopplan voor Pigment Pura">
            <a:extLst xmlns:a="http://schemas.openxmlformats.org/drawingml/2006/main">
              <a:ext uri="{FF2B5EF4-FFF2-40B4-BE49-F238E27FC236}">
                <a16:creationId xmlns:a16="http://schemas.microsoft.com/office/drawing/2014/main" id="{FAEF4744-3C9B-4387-AC41-B9946317280E}"/>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Een verkoopplan voor Pigment Pura</a:t>
            </a:r>
          </a:p>
        </p:txBody>
      </p:sp>
      <p:sp>
        <p:nvSpPr>
          <p:cNvPr id="2" name="">
            <a:extLst xmlns:a="http://schemas.openxmlformats.org/drawingml/2006/main">
              <a:ext uri="{FF2B5EF4-FFF2-40B4-BE49-F238E27FC236}">
                <a16:creationId xmlns:a16="http://schemas.microsoft.com/office/drawing/2014/main" id="{F7353A80-C84B-4013-94A7-48888A03F44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a:extLst xmlns:a="http://schemas.openxmlformats.org/drawingml/2006/main">
              <a:ext uri="{FF2B5EF4-FFF2-40B4-BE49-F238E27FC236}">
                <a16:creationId xmlns:a16="http://schemas.microsoft.com/office/drawing/2014/main" id="{A0A434D7-6B31-491C-ADF9-83FECD72843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a:t>
            </a:r>
          </a:p>
        </p:txBody>
      </p:sp>
      <p:sp>
        <p:nvSpPr>
          <p:cNvPr id="4" name="3">
            <a:extLst xmlns:a="http://schemas.openxmlformats.org/drawingml/2006/main">
              <a:ext uri="{FF2B5EF4-FFF2-40B4-BE49-F238E27FC236}">
                <a16:creationId xmlns:a16="http://schemas.microsoft.com/office/drawing/2014/main" id="{1CA84687-8212-4647-B3EB-51388DF9812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Pigment Pura · Uitlegvoorbeeld — niet uit het boek">
            <a:extLst xmlns:a="http://schemas.openxmlformats.org/drawingml/2006/main">
              <a:ext uri="{FF2B5EF4-FFF2-40B4-BE49-F238E27FC236}">
                <a16:creationId xmlns:a16="http://schemas.microsoft.com/office/drawing/2014/main" id="{062D0C5E-73B3-4BA0-8EFB-5CD2E373A900}"/>
              </a:ext>
            </a:extLst>
          </p:cNvPr>
          <p:cNvSpPr>
            <a:spLocks xmlns:a="http://schemas.openxmlformats.org/drawingml/2006/main" noGrp="1"/>
          </p:cNvSpPr>
          <p:nvPr/>
        </p:nvSpPr>
        <p:spPr>
          <a:xfrm xmlns:a="http://schemas.openxmlformats.org/drawingml/2006/main">
            <a:off x="571500" y="168592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Pigment Pura · Uitlegvoorbeeld — niet uit het boek</a:t>
            </a:r>
          </a:p>
        </p:txBody>
      </p:sp>
      <p:sp>
        <p:nvSpPr>
          <p:cNvPr id="6" name="Pura is de enige aanbieder van een specifiek pigment.">
            <a:extLst xmlns:a="http://schemas.openxmlformats.org/drawingml/2006/main">
              <a:ext uri="{FF2B5EF4-FFF2-40B4-BE49-F238E27FC236}">
                <a16:creationId xmlns:a16="http://schemas.microsoft.com/office/drawing/2014/main" id="{F1F6909D-1E7D-4468-9640-1D797BB728D7}"/>
              </a:ext>
            </a:extLst>
          </p:cNvPr>
          <p:cNvSpPr>
            <a:spLocks xmlns:a="http://schemas.openxmlformats.org/drawingml/2006/main" noGrp="1"/>
          </p:cNvSpPr>
          <p:nvPr/>
        </p:nvSpPr>
        <p:spPr>
          <a:xfrm xmlns:a="http://schemas.openxmlformats.org/drawingml/2006/main">
            <a:off x="571500" y="246697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Pura is de enige aanbieder van een specifiek pigment.</a:t>
            </a:r>
          </a:p>
        </p:txBody>
      </p:sp>
      <p:sp>
        <p:nvSpPr>
          <p:cNvPr id="7" name="P = 36 − 0,30q">
            <a:extLst xmlns:a="http://schemas.openxmlformats.org/drawingml/2006/main">
              <a:ext uri="{FF2B5EF4-FFF2-40B4-BE49-F238E27FC236}">
                <a16:creationId xmlns:a16="http://schemas.microsoft.com/office/drawing/2014/main" id="{A3644E7F-8F6C-4563-B5AA-EFD597E75006}"/>
              </a:ext>
            </a:extLst>
          </p:cNvPr>
          <p:cNvSpPr>
            <a:spLocks xmlns:a="http://schemas.openxmlformats.org/drawingml/2006/main" noGrp="1"/>
          </p:cNvSpPr>
          <p:nvPr/>
        </p:nvSpPr>
        <p:spPr>
          <a:xfrm xmlns:a="http://schemas.openxmlformats.org/drawingml/2006/main">
            <a:off x="571500" y="3600450"/>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7658A"/>
                </a:solidFill>
                <a:latin typeface="Arial"/>
                <a:ea typeface="Arial"/>
                <a:cs typeface="Arial"/>
              </a:defRPr>
            </a:pPr>
            <a:r>
              <a:rPr sz="3675" b="1">
                <a:solidFill>
                  <a:srgbClr val="17658A"/>
                </a:solidFill>
                <a:latin typeface="Arial"/>
                <a:ea typeface="Arial"/>
                <a:cs typeface="Arial"/>
              </a:rPr>
              <a:t>P = 36 − 0,30q</a:t>
            </a:r>
          </a:p>
        </p:txBody>
      </p:sp>
      <p:sp>
        <p:nvSpPr>
          <p:cNvPr id="8" name="TK = 0,15q² + 9q + 90">
            <a:extLst xmlns:a="http://schemas.openxmlformats.org/drawingml/2006/main">
              <a:ext uri="{FF2B5EF4-FFF2-40B4-BE49-F238E27FC236}">
                <a16:creationId xmlns:a16="http://schemas.microsoft.com/office/drawing/2014/main" id="{C740131C-F62B-4696-BD7A-82E4CEB6531A}"/>
              </a:ext>
            </a:extLst>
          </p:cNvPr>
          <p:cNvSpPr>
            <a:spLocks xmlns:a="http://schemas.openxmlformats.org/drawingml/2006/main" noGrp="1"/>
          </p:cNvSpPr>
          <p:nvPr/>
        </p:nvSpPr>
        <p:spPr>
          <a:xfrm xmlns:a="http://schemas.openxmlformats.org/drawingml/2006/main">
            <a:off x="571500" y="461010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A94D16"/>
                </a:solidFill>
                <a:latin typeface="Arial"/>
                <a:ea typeface="Arial"/>
                <a:cs typeface="Arial"/>
              </a:defRPr>
            </a:pPr>
            <a:r>
              <a:rPr sz="3675" b="1">
                <a:solidFill>
                  <a:srgbClr val="A94D16"/>
                </a:solidFill>
                <a:latin typeface="Arial"/>
                <a:ea typeface="Arial"/>
                <a:cs typeface="Arial"/>
              </a:rPr>
              <a:t>TK = 0,15q² + 9q + 90</a:t>
            </a:r>
          </a:p>
        </p:txBody>
      </p:sp>
      <p:sp>
        <p:nvSpPr>
          <p:cNvPr id="9" name="q: kg per week · P: € per kg · TK: € per week">
            <a:extLst xmlns:a="http://schemas.openxmlformats.org/drawingml/2006/main">
              <a:ext uri="{FF2B5EF4-FFF2-40B4-BE49-F238E27FC236}">
                <a16:creationId xmlns:a16="http://schemas.microsoft.com/office/drawing/2014/main" id="{18F2EFAF-B81C-4A54-8B29-3657D5441242}"/>
              </a:ext>
            </a:extLst>
          </p:cNvPr>
          <p:cNvSpPr>
            <a:spLocks xmlns:a="http://schemas.openxmlformats.org/drawingml/2006/main" noGrp="1"/>
          </p:cNvSpPr>
          <p:nvPr/>
        </p:nvSpPr>
        <p:spPr>
          <a:xfrm xmlns:a="http://schemas.openxmlformats.org/drawingml/2006/main">
            <a:off x="571500" y="5781675"/>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kg per week · P: € per kg · TK: € per week</a:t>
            </a:r>
          </a:p>
        </p:txBody>
      </p:sp>
      <p:sp>
        <p:nvSpPr>
          <p:cNvPr id="10" name="Capaciteit: 50 kg per week. Alle kg hebben dezelfde prijs.&#10;De € 9">
            <a:extLst xmlns:a="http://schemas.openxmlformats.org/drawingml/2006/main">
              <a:ext uri="{FF2B5EF4-FFF2-40B4-BE49-F238E27FC236}">
                <a16:creationId xmlns:a16="http://schemas.microsoft.com/office/drawing/2014/main" id="{59340912-3DB2-4EEF-85A4-ACB585E75EF2}"/>
              </a:ext>
            </a:extLst>
          </p:cNvPr>
          <p:cNvSpPr>
            <a:spLocks xmlns:a="http://schemas.openxmlformats.org/drawingml/2006/main" noGrp="1"/>
          </p:cNvSpPr>
          <p:nvPr/>
        </p:nvSpPr>
        <p:spPr>
          <a:xfrm xmlns:a="http://schemas.openxmlformats.org/drawingml/2006/main">
            <a:off x="571500" y="6724650"/>
            <a:ext cx="14097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Capaciteit: 50 kg per week. Alle kg hebben dezelfde prijs.</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 € 90 blijft deze week verschuldigd, ook bij q = 0.</a:t>
            </a:r>
          </a:p>
        </p:txBody>
      </p:sp>
    </p:spTree>
    <p:extLst>
      <p:ext uri="{BB962C8B-B14F-4D97-AF65-F5344CB8AC3E}">
        <p14:creationId xmlns:p14="http://schemas.microsoft.com/office/powerpoint/2010/main" val="8667344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Van totale naar marginale bedragen">
            <a:extLst xmlns:a="http://schemas.openxmlformats.org/drawingml/2006/main">
              <a:ext uri="{FF2B5EF4-FFF2-40B4-BE49-F238E27FC236}">
                <a16:creationId xmlns:a16="http://schemas.microsoft.com/office/drawing/2014/main" id="{9F242A76-4853-414C-934C-E054FE882B64}"/>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Van totale naar marginale bedragen</a:t>
            </a:r>
          </a:p>
        </p:txBody>
      </p:sp>
      <p:sp>
        <p:nvSpPr>
          <p:cNvPr id="2" name="">
            <a:extLst xmlns:a="http://schemas.openxmlformats.org/drawingml/2006/main">
              <a:ext uri="{FF2B5EF4-FFF2-40B4-BE49-F238E27FC236}">
                <a16:creationId xmlns:a16="http://schemas.microsoft.com/office/drawing/2014/main" id="{CD713E1A-C6F2-4132-9A1A-5A30B179FD4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a:extLst xmlns:a="http://schemas.openxmlformats.org/drawingml/2006/main">
              <a:ext uri="{FF2B5EF4-FFF2-40B4-BE49-F238E27FC236}">
                <a16:creationId xmlns:a16="http://schemas.microsoft.com/office/drawing/2014/main" id="{A0E13250-CA7F-427C-9E24-9750FFF53DE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a:t>
            </a:r>
          </a:p>
        </p:txBody>
      </p:sp>
      <p:sp>
        <p:nvSpPr>
          <p:cNvPr id="4" name="4">
            <a:extLst xmlns:a="http://schemas.openxmlformats.org/drawingml/2006/main">
              <a:ext uri="{FF2B5EF4-FFF2-40B4-BE49-F238E27FC236}">
                <a16:creationId xmlns:a16="http://schemas.microsoft.com/office/drawing/2014/main" id="{CB27A608-92DF-4880-A442-B3850A17107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Pigment Pura · Uitlegvoorbeeld — niet uit het boek">
            <a:extLst xmlns:a="http://schemas.openxmlformats.org/drawingml/2006/main">
              <a:ext uri="{FF2B5EF4-FFF2-40B4-BE49-F238E27FC236}">
                <a16:creationId xmlns:a16="http://schemas.microsoft.com/office/drawing/2014/main" id="{E8C42CB9-ED01-4393-AC81-69028C0E4FFD}"/>
              </a:ext>
            </a:extLst>
          </p:cNvPr>
          <p:cNvSpPr>
            <a:spLocks xmlns:a="http://schemas.openxmlformats.org/drawingml/2006/main" noGrp="1"/>
          </p:cNvSpPr>
          <p:nvPr/>
        </p:nvSpPr>
        <p:spPr>
          <a:xfrm xmlns:a="http://schemas.openxmlformats.org/drawingml/2006/main">
            <a:off x="571500" y="168592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Pigment Pura · Uitlegvoorbeeld — niet uit het boek</a:t>
            </a:r>
          </a:p>
        </p:txBody>
      </p:sp>
      <p:sp>
        <p:nvSpPr>
          <p:cNvPr id="6" name="TO = P × q = (36 − 0,30q) × q = 36q − 0,30q²">
            <a:extLst xmlns:a="http://schemas.openxmlformats.org/drawingml/2006/main">
              <a:ext uri="{FF2B5EF4-FFF2-40B4-BE49-F238E27FC236}">
                <a16:creationId xmlns:a16="http://schemas.microsoft.com/office/drawing/2014/main" id="{5E327122-DF0D-4C0E-AD16-FCC69F720AB7}"/>
              </a:ext>
            </a:extLst>
          </p:cNvPr>
          <p:cNvSpPr>
            <a:spLocks xmlns:a="http://schemas.openxmlformats.org/drawingml/2006/main" noGrp="1"/>
          </p:cNvSpPr>
          <p:nvPr/>
        </p:nvSpPr>
        <p:spPr>
          <a:xfrm xmlns:a="http://schemas.openxmlformats.org/drawingml/2006/main">
            <a:off x="571500" y="242887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TO = P × q = (36 − 0,30q) × q = 36q − 0,30q²</a:t>
            </a:r>
          </a:p>
        </p:txBody>
      </p:sp>
      <p:graphicFrame>
        <p:nvGraphicFramePr>
          <p:cNvPr id="15" name=""/>
          <p:cNvGraphicFramePr/>
          <p:nvPr/>
        </p:nvGraphicFramePr>
        <p:xfrm>
          <a:off xmlns:a="http://schemas.openxmlformats.org/drawingml/2006/main" x="571500" y="3609975"/>
          <a:ext xmlns:a="http://schemas.openxmlformats.org/drawingml/2006/main" cx="14097000" cy="2571750"/>
        </p:xfrm>
        <a:graphic xmlns:a="http://schemas.openxmlformats.org/drawingml/2006/main">
          <a:graphicData uri="http://schemas.openxmlformats.org/drawingml/2006/table">
            <a:tbl>
              <a:tblPr/>
              <a:tblGrid>
                <a:gridCol w="7667625"/>
                <a:gridCol w="6429375"/>
              </a:tblGrid>
              <a:tr h="857250">
                <a:tc>
                  <a:txBody>
                    <a:bodyPr lIns="161925" tIns="95250" rIns="133350" bIns="95250"/>
                    <a:lstStyle/>
                    <a:p>
                      <a:r>
                        <a:rPr sz="2775" b="1">
                          <a:solidFill>
                            <a:srgbClr val="FFFFFF"/>
                          </a:solidFill>
                          <a:latin typeface="Arial"/>
                          <a:ea typeface="Arial"/>
                          <a:cs typeface="Arial"/>
                        </a:rPr>
                        <a:t>Totaal (€ per week)</a:t>
                      </a:r>
                    </a:p>
                  </a:txBody>
                  <a:tcPr marL="91440" marR="91440" marT="45720" marB="45720" anchor="ctr">
                    <a:solidFill>
                      <a:srgbClr val="183247"/>
                    </a:solidFill>
                  </a:tcPr>
                </a:tc>
                <a:tc>
                  <a:txBody>
                    <a:bodyPr lIns="161925" tIns="95250" rIns="133350" bIns="95250"/>
                    <a:lstStyle/>
                    <a:p>
                      <a:r>
                        <a:rPr sz="2775" b="1">
                          <a:solidFill>
                            <a:srgbClr val="FFFFFF"/>
                          </a:solidFill>
                          <a:latin typeface="Arial"/>
                          <a:ea typeface="Arial"/>
                          <a:cs typeface="Arial"/>
                        </a:rPr>
                        <a:t>Afgeleide (€ per kg)</a:t>
                      </a:r>
                    </a:p>
                  </a:txBody>
                  <a:tcPr marL="91440" marR="91440" marT="45720" marB="45720" anchor="ctr">
                    <a:solidFill>
                      <a:srgbClr val="183247"/>
                    </a:solidFill>
                  </a:tcPr>
                </a:tc>
              </a:tr>
              <a:tr h="857250">
                <a:tc>
                  <a:txBody>
                    <a:bodyPr lIns="161925" tIns="95250" rIns="133350" bIns="95250"/>
                    <a:lstStyle/>
                    <a:p>
                      <a:r>
                        <a:rPr sz="2775" b="0">
                          <a:solidFill>
                            <a:srgbClr val="183247"/>
                          </a:solidFill>
                          <a:latin typeface="Arial"/>
                          <a:ea typeface="Arial"/>
                          <a:cs typeface="Arial"/>
                        </a:rPr>
                        <a:t>TO = 36q − 0,30q²</a:t>
                      </a:r>
                    </a:p>
                  </a:txBody>
                  <a:tcPr marL="91440" marR="91440" marT="45720" marB="45720" anchor="ctr">
                    <a:solidFill>
                      <a:srgbClr val="FFFFFF"/>
                    </a:solidFill>
                  </a:tcPr>
                </a:tc>
                <a:tc>
                  <a:txBody>
                    <a:bodyPr lIns="161925" tIns="95250" rIns="133350" bIns="95250"/>
                    <a:lstStyle/>
                    <a:p>
                      <a:r>
                        <a:rPr sz="2775" b="0">
                          <a:solidFill>
                            <a:srgbClr val="183247"/>
                          </a:solidFill>
                          <a:latin typeface="Arial"/>
                          <a:ea typeface="Arial"/>
                          <a:cs typeface="Arial"/>
                        </a:rPr>
                        <a:t>MO = 36 − 0,60q</a:t>
                      </a:r>
                    </a:p>
                  </a:txBody>
                  <a:tcPr marL="91440" marR="91440" marT="45720" marB="45720" anchor="ctr">
                    <a:solidFill>
                      <a:srgbClr val="FFFFFF"/>
                    </a:solidFill>
                  </a:tcPr>
                </a:tc>
              </a:tr>
              <a:tr h="857250">
                <a:tc>
                  <a:txBody>
                    <a:bodyPr lIns="161925" tIns="95250" rIns="133350" bIns="95250"/>
                    <a:lstStyle/>
                    <a:p>
                      <a:r>
                        <a:rPr sz="2775" b="0">
                          <a:solidFill>
                            <a:srgbClr val="183247"/>
                          </a:solidFill>
                          <a:latin typeface="Arial"/>
                          <a:ea typeface="Arial"/>
                          <a:cs typeface="Arial"/>
                        </a:rPr>
                        <a:t>TK = 0,15q² + 9q + 90</a:t>
                      </a:r>
                    </a:p>
                  </a:txBody>
                  <a:tcPr marL="91440" marR="91440" marT="45720" marB="45720" anchor="ctr">
                    <a:solidFill>
                      <a:srgbClr val="EFF4F7"/>
                    </a:solidFill>
                  </a:tcPr>
                </a:tc>
                <a:tc>
                  <a:txBody>
                    <a:bodyPr lIns="161925" tIns="95250" rIns="133350" bIns="95250"/>
                    <a:lstStyle/>
                    <a:p>
                      <a:r>
                        <a:rPr sz="2775" b="0">
                          <a:solidFill>
                            <a:srgbClr val="183247"/>
                          </a:solidFill>
                          <a:latin typeface="Arial"/>
                          <a:ea typeface="Arial"/>
                          <a:cs typeface="Arial"/>
                        </a:rPr>
                        <a:t>MK = 0,30q + 9</a:t>
                      </a:r>
                    </a:p>
                  </a:txBody>
                  <a:tcPr marL="91440" marR="91440" marT="45720" marB="45720" anchor="ctr">
                    <a:solidFill>
                      <a:srgbClr val="EFF4F7"/>
                    </a:solidFill>
                  </a:tcPr>
                </a:tc>
              </a:tr>
            </a:tbl>
          </a:graphicData>
        </a:graphic>
      </p:graphicFrame>
      <p:sp>
        <p:nvSpPr>
          <p:cNvPr id="8" name="q²-term: coëfficiënt × 2, dan q.&#10;Een constant bedrag draagt 0 bij">
            <a:extLst xmlns:a="http://schemas.openxmlformats.org/drawingml/2006/main">
              <a:ext uri="{FF2B5EF4-FFF2-40B4-BE49-F238E27FC236}">
                <a16:creationId xmlns:a16="http://schemas.microsoft.com/office/drawing/2014/main" id="{E2BE19D8-557B-4AF6-98D9-5DA2E29E3AEA}"/>
              </a:ext>
            </a:extLst>
          </p:cNvPr>
          <p:cNvSpPr>
            <a:spLocks xmlns:a="http://schemas.openxmlformats.org/drawingml/2006/main" noGrp="1"/>
          </p:cNvSpPr>
          <p:nvPr/>
        </p:nvSpPr>
        <p:spPr>
          <a:xfrm xmlns:a="http://schemas.openxmlformats.org/drawingml/2006/main">
            <a:off x="571500" y="6743700"/>
            <a:ext cx="1409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q²-term: coëfficiënt × 2, dan q.</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Een constant bedrag draagt 0 bij aan de afgeleide.</a:t>
            </a:r>
          </a:p>
        </p:txBody>
      </p:sp>
    </p:spTree>
    <p:extLst>
      <p:ext uri="{BB962C8B-B14F-4D97-AF65-F5344CB8AC3E}">
        <p14:creationId xmlns:p14="http://schemas.microsoft.com/office/powerpoint/2010/main" val="10984636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kandidaat én de controle">
            <a:extLst xmlns:a="http://schemas.openxmlformats.org/drawingml/2006/main">
              <a:ext uri="{FF2B5EF4-FFF2-40B4-BE49-F238E27FC236}">
                <a16:creationId xmlns:a16="http://schemas.microsoft.com/office/drawing/2014/main" id="{D4F9BE4A-0E45-4EFF-B5F3-C4D1AFE718B5}"/>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De kandidaat én de controle</a:t>
            </a:r>
          </a:p>
        </p:txBody>
      </p:sp>
      <p:sp>
        <p:nvSpPr>
          <p:cNvPr id="2" name="">
            <a:extLst xmlns:a="http://schemas.openxmlformats.org/drawingml/2006/main">
              <a:ext uri="{FF2B5EF4-FFF2-40B4-BE49-F238E27FC236}">
                <a16:creationId xmlns:a16="http://schemas.microsoft.com/office/drawing/2014/main" id="{C0BE4261-8773-4517-A122-A1218901461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a:extLst xmlns:a="http://schemas.openxmlformats.org/drawingml/2006/main">
              <a:ext uri="{FF2B5EF4-FFF2-40B4-BE49-F238E27FC236}">
                <a16:creationId xmlns:a16="http://schemas.microsoft.com/office/drawing/2014/main" id="{740988B4-0CF3-4095-A013-40A09F3D686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a:t>
            </a:r>
          </a:p>
        </p:txBody>
      </p:sp>
      <p:sp>
        <p:nvSpPr>
          <p:cNvPr id="4" name="5">
            <a:extLst xmlns:a="http://schemas.openxmlformats.org/drawingml/2006/main">
              <a:ext uri="{FF2B5EF4-FFF2-40B4-BE49-F238E27FC236}">
                <a16:creationId xmlns:a16="http://schemas.microsoft.com/office/drawing/2014/main" id="{1079CA0C-4539-4E8E-9245-C7BC39D02B2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Pigment Pura · Uitlegvoorbeeld — niet uit het boek">
            <a:extLst xmlns:a="http://schemas.openxmlformats.org/drawingml/2006/main">
              <a:ext uri="{FF2B5EF4-FFF2-40B4-BE49-F238E27FC236}">
                <a16:creationId xmlns:a16="http://schemas.microsoft.com/office/drawing/2014/main" id="{F4F1B7CD-7130-4517-AAAC-DA6C62B1ED7C}"/>
              </a:ext>
            </a:extLst>
          </p:cNvPr>
          <p:cNvSpPr>
            <a:spLocks xmlns:a="http://schemas.openxmlformats.org/drawingml/2006/main" noGrp="1"/>
          </p:cNvSpPr>
          <p:nvPr/>
        </p:nvSpPr>
        <p:spPr>
          <a:xfrm xmlns:a="http://schemas.openxmlformats.org/drawingml/2006/main">
            <a:off x="571500" y="168592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Pigment Pura · Uitlegvoorbeeld — niet uit het boek</a:t>
            </a:r>
          </a:p>
        </p:txBody>
      </p:sp>
      <p:sp>
        <p:nvSpPr>
          <p:cNvPr id="6" name="36 − 0,60q = 0,30q + 9">
            <a:extLst xmlns:a="http://schemas.openxmlformats.org/drawingml/2006/main">
              <a:ext uri="{FF2B5EF4-FFF2-40B4-BE49-F238E27FC236}">
                <a16:creationId xmlns:a16="http://schemas.microsoft.com/office/drawing/2014/main" id="{6D60B730-2BC4-42F9-8828-F982A5226688}"/>
              </a:ext>
            </a:extLst>
          </p:cNvPr>
          <p:cNvSpPr>
            <a:spLocks xmlns:a="http://schemas.openxmlformats.org/drawingml/2006/main" noGrp="1"/>
          </p:cNvSpPr>
          <p:nvPr/>
        </p:nvSpPr>
        <p:spPr>
          <a:xfrm xmlns:a="http://schemas.openxmlformats.org/drawingml/2006/main">
            <a:off x="571500" y="241935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36 − 0,60q = 0,30q + 9</a:t>
            </a:r>
          </a:p>
        </p:txBody>
      </p:sp>
      <p:sp>
        <p:nvSpPr>
          <p:cNvPr id="7" name="27 = 0,90q        q = 30 kg per week">
            <a:extLst xmlns:a="http://schemas.openxmlformats.org/drawingml/2006/main">
              <a:ext uri="{FF2B5EF4-FFF2-40B4-BE49-F238E27FC236}">
                <a16:creationId xmlns:a16="http://schemas.microsoft.com/office/drawing/2014/main" id="{92F3453B-956B-4E37-9AF8-5023CA207851}"/>
              </a:ext>
            </a:extLst>
          </p:cNvPr>
          <p:cNvSpPr>
            <a:spLocks xmlns:a="http://schemas.openxmlformats.org/drawingml/2006/main" noGrp="1"/>
          </p:cNvSpPr>
          <p:nvPr/>
        </p:nvSpPr>
        <p:spPr>
          <a:xfrm xmlns:a="http://schemas.openxmlformats.org/drawingml/2006/main">
            <a:off x="571500" y="329565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27 = 0,90q        q = 30 kg per week</a:t>
            </a:r>
          </a:p>
        </p:txBody>
      </p:sp>
      <p:graphicFrame>
        <p:nvGraphicFramePr>
          <p:cNvPr id="17" name=""/>
          <p:cNvGraphicFramePr/>
          <p:nvPr/>
        </p:nvGraphicFramePr>
        <p:xfrm>
          <a:off xmlns:a="http://schemas.openxmlformats.org/drawingml/2006/main" x="571500" y="4352925"/>
          <a:ext xmlns:a="http://schemas.openxmlformats.org/drawingml/2006/main" cx="14097000" cy="2371725"/>
        </p:xfrm>
        <a:graphic xmlns:a="http://schemas.openxmlformats.org/drawingml/2006/main">
          <a:graphicData uri="http://schemas.openxmlformats.org/drawingml/2006/table">
            <a:tbl>
              <a:tblPr/>
              <a:tblGrid>
                <a:gridCol w="3857625"/>
                <a:gridCol w="2857500"/>
                <a:gridCol w="2857500"/>
                <a:gridCol w="4524375"/>
              </a:tblGrid>
              <a:tr h="790575">
                <a:tc>
                  <a:txBody>
                    <a:bodyPr lIns="161925" tIns="95250" rIns="133350" bIns="95250"/>
                    <a:lstStyle/>
                    <a:p>
                      <a:r>
                        <a:rPr sz="2325" b="1">
                          <a:solidFill>
                            <a:srgbClr val="FFFFFF"/>
                          </a:solidFill>
                          <a:latin typeface="Arial"/>
                          <a:ea typeface="Arial"/>
                          <a:cs typeface="Arial"/>
                        </a:rPr>
                        <a:t>q (kg per week)</a:t>
                      </a:r>
                    </a:p>
                  </a:txBody>
                  <a:tcPr marL="91440" marR="91440" marT="45720" marB="45720" anchor="ctr">
                    <a:solidFill>
                      <a:srgbClr val="183247"/>
                    </a:solidFill>
                  </a:tcPr>
                </a:tc>
                <a:tc>
                  <a:txBody>
                    <a:bodyPr lIns="161925" tIns="95250" rIns="133350" bIns="95250"/>
                    <a:lstStyle/>
                    <a:p>
                      <a:r>
                        <a:rPr sz="2325" b="1">
                          <a:solidFill>
                            <a:srgbClr val="FFFFFF"/>
                          </a:solidFill>
                          <a:latin typeface="Arial"/>
                          <a:ea typeface="Arial"/>
                          <a:cs typeface="Arial"/>
                        </a:rPr>
                        <a:t>MO (€ per kg)</a:t>
                      </a:r>
                    </a:p>
                  </a:txBody>
                  <a:tcPr marL="91440" marR="91440" marT="45720" marB="45720" anchor="ctr">
                    <a:solidFill>
                      <a:srgbClr val="183247"/>
                    </a:solidFill>
                  </a:tcPr>
                </a:tc>
                <a:tc>
                  <a:txBody>
                    <a:bodyPr lIns="161925" tIns="95250" rIns="133350" bIns="95250"/>
                    <a:lstStyle/>
                    <a:p>
                      <a:r>
                        <a:rPr sz="2325" b="1">
                          <a:solidFill>
                            <a:srgbClr val="FFFFFF"/>
                          </a:solidFill>
                          <a:latin typeface="Arial"/>
                          <a:ea typeface="Arial"/>
                          <a:cs typeface="Arial"/>
                        </a:rPr>
                        <a:t>MK (€ per kg)</a:t>
                      </a:r>
                    </a:p>
                  </a:txBody>
                  <a:tcPr marL="91440" marR="91440" marT="45720" marB="45720" anchor="ctr">
                    <a:solidFill>
                      <a:srgbClr val="183247"/>
                    </a:solidFill>
                  </a:tcPr>
                </a:tc>
                <a:tc>
                  <a:txBody>
                    <a:bodyPr lIns="161925" tIns="95250" rIns="133350" bIns="95250"/>
                    <a:lstStyle/>
                    <a:p>
                      <a:r>
                        <a:rPr sz="2325" b="1">
                          <a:solidFill>
                            <a:srgbClr val="FFFFFF"/>
                          </a:solidFill>
                          <a:latin typeface="Arial"/>
                          <a:ea typeface="Arial"/>
                          <a:cs typeface="Arial"/>
                        </a:rPr>
                        <a:t>Kleine uitbreiding</a:t>
                      </a:r>
                    </a:p>
                  </a:txBody>
                  <a:tcPr marL="91440" marR="91440" marT="45720" marB="45720" anchor="ctr">
                    <a:solidFill>
                      <a:srgbClr val="183247"/>
                    </a:solidFill>
                  </a:tcPr>
                </a:tc>
              </a:tr>
              <a:tr h="790575">
                <a:tc>
                  <a:txBody>
                    <a:bodyPr lIns="161925" tIns="95250" rIns="133350" bIns="95250"/>
                    <a:lstStyle/>
                    <a:p>
                      <a:r>
                        <a:rPr sz="2325" b="0">
                          <a:solidFill>
                            <a:srgbClr val="183247"/>
                          </a:solidFill>
                          <a:latin typeface="Arial"/>
                          <a:ea typeface="Arial"/>
                          <a:cs typeface="Arial"/>
                        </a:rPr>
                        <a:t>20</a:t>
                      </a:r>
                    </a:p>
                  </a:txBody>
                  <a:tcPr marL="91440" marR="91440" marT="45720" marB="45720" anchor="ctr">
                    <a:solidFill>
                      <a:srgbClr val="FFFFFF"/>
                    </a:solidFill>
                  </a:tcPr>
                </a:tc>
                <a:tc>
                  <a:txBody>
                    <a:bodyPr lIns="161925" tIns="95250" rIns="133350" bIns="95250"/>
                    <a:lstStyle/>
                    <a:p>
                      <a:r>
                        <a:rPr sz="2325" b="0">
                          <a:solidFill>
                            <a:srgbClr val="183247"/>
                          </a:solidFill>
                          <a:latin typeface="Arial"/>
                          <a:ea typeface="Arial"/>
                          <a:cs typeface="Arial"/>
                        </a:rPr>
                        <a:t>24</a:t>
                      </a:r>
                    </a:p>
                  </a:txBody>
                  <a:tcPr marL="91440" marR="91440" marT="45720" marB="45720" anchor="ctr">
                    <a:solidFill>
                      <a:srgbClr val="FFFFFF"/>
                    </a:solidFill>
                  </a:tcPr>
                </a:tc>
                <a:tc>
                  <a:txBody>
                    <a:bodyPr lIns="161925" tIns="95250" rIns="133350" bIns="95250"/>
                    <a:lstStyle/>
                    <a:p>
                      <a:r>
                        <a:rPr sz="2325" b="0">
                          <a:solidFill>
                            <a:srgbClr val="183247"/>
                          </a:solidFill>
                          <a:latin typeface="Arial"/>
                          <a:ea typeface="Arial"/>
                          <a:cs typeface="Arial"/>
                        </a:rPr>
                        <a:t>15</a:t>
                      </a:r>
                    </a:p>
                  </a:txBody>
                  <a:tcPr marL="91440" marR="91440" marT="45720" marB="45720" anchor="ctr">
                    <a:solidFill>
                      <a:srgbClr val="FFFFFF"/>
                    </a:solidFill>
                  </a:tcPr>
                </a:tc>
                <a:tc>
                  <a:txBody>
                    <a:bodyPr lIns="161925" tIns="95250" rIns="133350" bIns="95250"/>
                    <a:lstStyle/>
                    <a:p>
                      <a:r>
                        <a:rPr sz="2325" b="0">
                          <a:solidFill>
                            <a:srgbClr val="183247"/>
                          </a:solidFill>
                          <a:latin typeface="Arial"/>
                          <a:ea typeface="Arial"/>
                          <a:cs typeface="Arial"/>
                        </a:rPr>
                        <a:t>Winst stijgt</a:t>
                      </a:r>
                    </a:p>
                  </a:txBody>
                  <a:tcPr marL="91440" marR="91440" marT="45720" marB="45720" anchor="ctr">
                    <a:solidFill>
                      <a:srgbClr val="FFFFFF"/>
                    </a:solidFill>
                  </a:tcPr>
                </a:tc>
              </a:tr>
              <a:tr h="790575">
                <a:tc>
                  <a:txBody>
                    <a:bodyPr lIns="161925" tIns="95250" rIns="133350" bIns="95250"/>
                    <a:lstStyle/>
                    <a:p>
                      <a:r>
                        <a:rPr sz="2325" b="0">
                          <a:solidFill>
                            <a:srgbClr val="183247"/>
                          </a:solidFill>
                          <a:latin typeface="Arial"/>
                          <a:ea typeface="Arial"/>
                          <a:cs typeface="Arial"/>
                        </a:rPr>
                        <a:t>40</a:t>
                      </a:r>
                    </a:p>
                  </a:txBody>
                  <a:tcPr marL="91440" marR="91440" marT="45720" marB="45720" anchor="ctr">
                    <a:solidFill>
                      <a:srgbClr val="EFF4F7"/>
                    </a:solidFill>
                  </a:tcPr>
                </a:tc>
                <a:tc>
                  <a:txBody>
                    <a:bodyPr lIns="161925" tIns="95250" rIns="133350" bIns="95250"/>
                    <a:lstStyle/>
                    <a:p>
                      <a:r>
                        <a:rPr sz="2325" b="0">
                          <a:solidFill>
                            <a:srgbClr val="183247"/>
                          </a:solidFill>
                          <a:latin typeface="Arial"/>
                          <a:ea typeface="Arial"/>
                          <a:cs typeface="Arial"/>
                        </a:rPr>
                        <a:t>12</a:t>
                      </a:r>
                    </a:p>
                  </a:txBody>
                  <a:tcPr marL="91440" marR="91440" marT="45720" marB="45720" anchor="ctr">
                    <a:solidFill>
                      <a:srgbClr val="EFF4F7"/>
                    </a:solidFill>
                  </a:tcPr>
                </a:tc>
                <a:tc>
                  <a:txBody>
                    <a:bodyPr lIns="161925" tIns="95250" rIns="133350" bIns="95250"/>
                    <a:lstStyle/>
                    <a:p>
                      <a:r>
                        <a:rPr sz="2325" b="0">
                          <a:solidFill>
                            <a:srgbClr val="183247"/>
                          </a:solidFill>
                          <a:latin typeface="Arial"/>
                          <a:ea typeface="Arial"/>
                          <a:cs typeface="Arial"/>
                        </a:rPr>
                        <a:t>21</a:t>
                      </a:r>
                    </a:p>
                  </a:txBody>
                  <a:tcPr marL="91440" marR="91440" marT="45720" marB="45720" anchor="ctr">
                    <a:solidFill>
                      <a:srgbClr val="EFF4F7"/>
                    </a:solidFill>
                  </a:tcPr>
                </a:tc>
                <a:tc>
                  <a:txBody>
                    <a:bodyPr lIns="161925" tIns="95250" rIns="133350" bIns="95250"/>
                    <a:lstStyle/>
                    <a:p>
                      <a:r>
                        <a:rPr sz="2325" b="0">
                          <a:solidFill>
                            <a:srgbClr val="183247"/>
                          </a:solidFill>
                          <a:latin typeface="Arial"/>
                          <a:ea typeface="Arial"/>
                          <a:cs typeface="Arial"/>
                        </a:rPr>
                        <a:t>Winst daalt</a:t>
                      </a:r>
                    </a:p>
                  </a:txBody>
                  <a:tcPr marL="91440" marR="91440" marT="45720" marB="45720" anchor="ctr">
                    <a:solidFill>
                      <a:srgbClr val="EFF4F7"/>
                    </a:solidFill>
                  </a:tcPr>
                </a:tc>
              </a:tr>
            </a:tbl>
          </a:graphicData>
        </a:graphic>
      </p:graphicFrame>
      <p:sp>
        <p:nvSpPr>
          <p:cNvPr id="9" name="MO daalt, MK stijgt. 30 kg past binnen de capaciteit van 50 kg.">
            <a:extLst xmlns:a="http://schemas.openxmlformats.org/drawingml/2006/main">
              <a:ext uri="{FF2B5EF4-FFF2-40B4-BE49-F238E27FC236}">
                <a16:creationId xmlns:a16="http://schemas.microsoft.com/office/drawing/2014/main" id="{95DAD553-379C-43D3-A55E-CB6CA5EC6E8F}"/>
              </a:ext>
            </a:extLst>
          </p:cNvPr>
          <p:cNvSpPr>
            <a:spLocks xmlns:a="http://schemas.openxmlformats.org/drawingml/2006/main" noGrp="1"/>
          </p:cNvSpPr>
          <p:nvPr/>
        </p:nvSpPr>
        <p:spPr>
          <a:xfrm xmlns:a="http://schemas.openxmlformats.org/drawingml/2006/main">
            <a:off x="571500" y="721995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MO daalt, MK stijgt. 30 kg past binnen de capaciteit van 50 kg.</a:t>
            </a:r>
          </a:p>
        </p:txBody>
      </p:sp>
    </p:spTree>
    <p:extLst>
      <p:ext uri="{BB962C8B-B14F-4D97-AF65-F5344CB8AC3E}">
        <p14:creationId xmlns:p14="http://schemas.microsoft.com/office/powerpoint/2010/main" val="14816131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et snijpunt bepaalt de hoeveelheid">
            <a:extLst xmlns:a="http://schemas.openxmlformats.org/drawingml/2006/main">
              <a:ext uri="{FF2B5EF4-FFF2-40B4-BE49-F238E27FC236}">
                <a16:creationId xmlns:a16="http://schemas.microsoft.com/office/drawing/2014/main" id="{28242AFA-9263-4607-815D-8705DC71370B}"/>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Het snijpunt bepaalt de hoeveelheid</a:t>
            </a:r>
          </a:p>
        </p:txBody>
      </p:sp>
      <p:sp>
        <p:nvSpPr>
          <p:cNvPr id="2" name="">
            <a:extLst xmlns:a="http://schemas.openxmlformats.org/drawingml/2006/main">
              <a:ext uri="{FF2B5EF4-FFF2-40B4-BE49-F238E27FC236}">
                <a16:creationId xmlns:a16="http://schemas.microsoft.com/office/drawing/2014/main" id="{D3571124-215A-4E48-8B2C-2608F45840B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a:extLst xmlns:a="http://schemas.openxmlformats.org/drawingml/2006/main">
              <a:ext uri="{FF2B5EF4-FFF2-40B4-BE49-F238E27FC236}">
                <a16:creationId xmlns:a16="http://schemas.microsoft.com/office/drawing/2014/main" id="{B29CDF5D-6F23-4243-A5AC-3416FE7D0E7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a:t>
            </a:r>
          </a:p>
        </p:txBody>
      </p:sp>
      <p:sp>
        <p:nvSpPr>
          <p:cNvPr id="4" name="6">
            <a:extLst xmlns:a="http://schemas.openxmlformats.org/drawingml/2006/main">
              <a:ext uri="{FF2B5EF4-FFF2-40B4-BE49-F238E27FC236}">
                <a16:creationId xmlns:a16="http://schemas.microsoft.com/office/drawing/2014/main" id="{2C3C0A97-A707-4B4D-BBD7-F5CA43745D0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Pigment Pura · Uitlegvoorbeeld — niet uit het boek">
            <a:extLst xmlns:a="http://schemas.openxmlformats.org/drawingml/2006/main">
              <a:ext uri="{FF2B5EF4-FFF2-40B4-BE49-F238E27FC236}">
                <a16:creationId xmlns:a16="http://schemas.microsoft.com/office/drawing/2014/main" id="{3D5131AF-83CB-4769-AC30-159C674DC80F}"/>
              </a:ext>
            </a:extLst>
          </p:cNvPr>
          <p:cNvSpPr>
            <a:spLocks xmlns:a="http://schemas.openxmlformats.org/drawingml/2006/main" noGrp="1"/>
          </p:cNvSpPr>
          <p:nvPr/>
        </p:nvSpPr>
        <p:spPr>
          <a:xfrm xmlns:a="http://schemas.openxmlformats.org/drawingml/2006/main">
            <a:off x="571500" y="168592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Pigment Pura · Uitlegvoorbeeld — niet uit het boek</a:t>
            </a:r>
          </a:p>
        </p:txBody>
      </p:sp>
      <p:graphicFrame>
        <p:nvGraphicFramePr>
          <p:cNvPr id="15" name="Chart"/>
          <p:cNvGraphicFramePr/>
          <p:nvPr/>
        </p:nvGraphicFramePr>
        <p:xfrm>
          <a:off xmlns:a="http://schemas.openxmlformats.org/drawingml/2006/main" x="571500" y="2505075"/>
          <a:ext xmlns:a="http://schemas.openxmlformats.org/drawingml/2006/main" cx="9429750" cy="5191125"/>
        </p:xfrm>
        <a:graphic xmlns:a="http://schemas.openxmlformats.org/drawingml/2006/main">
          <a:graphicData uri="http://schemas.openxmlformats.org/drawingml/2006/chart">
            <c:chart xmlns:r="http://schemas.openxmlformats.org/officeDocument/2006/relationships" xmlns:c="http://schemas.openxmlformats.org/drawingml/2006/chart" r:id="R7523753ea0634864"/>
          </a:graphicData>
        </a:graphic>
      </p:graphicFrame>
      <p:sp>
        <p:nvSpPr>
          <p:cNvPr id="7" name="1  MO = MK">
            <a:extLst xmlns:a="http://schemas.openxmlformats.org/drawingml/2006/main">
              <a:ext uri="{FF2B5EF4-FFF2-40B4-BE49-F238E27FC236}">
                <a16:creationId xmlns:a16="http://schemas.microsoft.com/office/drawing/2014/main" id="{C9DC0FB9-3EE2-4881-B408-05349B6B5659}"/>
              </a:ext>
            </a:extLst>
          </p:cNvPr>
          <p:cNvSpPr>
            <a:spLocks xmlns:a="http://schemas.openxmlformats.org/drawingml/2006/main" noGrp="1"/>
          </p:cNvSpPr>
          <p:nvPr/>
        </p:nvSpPr>
        <p:spPr>
          <a:xfrm xmlns:a="http://schemas.openxmlformats.org/drawingml/2006/main">
            <a:off x="10382250" y="2790825"/>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1  MO = MK</a:t>
            </a:r>
          </a:p>
        </p:txBody>
      </p:sp>
      <p:sp>
        <p:nvSpPr>
          <p:cNvPr id="8" name="q = 30 kg&#10;per week">
            <a:extLst xmlns:a="http://schemas.openxmlformats.org/drawingml/2006/main">
              <a:ext uri="{FF2B5EF4-FFF2-40B4-BE49-F238E27FC236}">
                <a16:creationId xmlns:a16="http://schemas.microsoft.com/office/drawing/2014/main" id="{14820FB7-58B5-4A2B-A927-93023292FD60}"/>
              </a:ext>
            </a:extLst>
          </p:cNvPr>
          <p:cNvSpPr>
            <a:spLocks xmlns:a="http://schemas.openxmlformats.org/drawingml/2006/main" noGrp="1"/>
          </p:cNvSpPr>
          <p:nvPr/>
        </p:nvSpPr>
        <p:spPr>
          <a:xfrm xmlns:a="http://schemas.openxmlformats.org/drawingml/2006/main">
            <a:off x="10382250" y="3819525"/>
            <a:ext cx="4286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q = 30 kg</a:t>
            </a:r>
          </a:p>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per week</a:t>
            </a:r>
          </a:p>
        </p:txBody>
      </p:sp>
      <p:sp>
        <p:nvSpPr>
          <p:cNvPr id="9" name="Het snijpuntbedrag:&#10;€ 18 per kg&#10;voor MO en MK">
            <a:extLst xmlns:a="http://schemas.openxmlformats.org/drawingml/2006/main">
              <a:ext uri="{FF2B5EF4-FFF2-40B4-BE49-F238E27FC236}">
                <a16:creationId xmlns:a16="http://schemas.microsoft.com/office/drawing/2014/main" id="{809706CD-4259-4C5F-9C8B-EDADE120D404}"/>
              </a:ext>
            </a:extLst>
          </p:cNvPr>
          <p:cNvSpPr>
            <a:spLocks xmlns:a="http://schemas.openxmlformats.org/drawingml/2006/main" noGrp="1"/>
          </p:cNvSpPr>
          <p:nvPr/>
        </p:nvSpPr>
        <p:spPr>
          <a:xfrm xmlns:a="http://schemas.openxmlformats.org/drawingml/2006/main">
            <a:off x="10382250" y="5848350"/>
            <a:ext cx="428625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Het snijpuntbedrag:</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€ 18 per kg</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voor MO en MK</a:t>
            </a:r>
          </a:p>
        </p:txBody>
      </p:sp>
    </p:spTree>
    <p:extLst>
      <p:ext uri="{BB962C8B-B14F-4D97-AF65-F5344CB8AC3E}">
        <p14:creationId xmlns:p14="http://schemas.microsoft.com/office/powerpoint/2010/main" val="5460033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zelfde hoeveelheid, de prijs op GO">
            <a:extLst xmlns:a="http://schemas.openxmlformats.org/drawingml/2006/main">
              <a:ext uri="{FF2B5EF4-FFF2-40B4-BE49-F238E27FC236}">
                <a16:creationId xmlns:a16="http://schemas.microsoft.com/office/drawing/2014/main" id="{EA7CE2BE-B27A-4E91-B06A-BF5A0FFF3D2A}"/>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Dezelfde hoeveelheid, de prijs op GO</a:t>
            </a:r>
          </a:p>
        </p:txBody>
      </p:sp>
      <p:sp>
        <p:nvSpPr>
          <p:cNvPr id="2" name="">
            <a:extLst xmlns:a="http://schemas.openxmlformats.org/drawingml/2006/main">
              <a:ext uri="{FF2B5EF4-FFF2-40B4-BE49-F238E27FC236}">
                <a16:creationId xmlns:a16="http://schemas.microsoft.com/office/drawing/2014/main" id="{B0874A64-8CAF-4926-9BEB-C43F9EF6F6C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a:extLst xmlns:a="http://schemas.openxmlformats.org/drawingml/2006/main">
              <a:ext uri="{FF2B5EF4-FFF2-40B4-BE49-F238E27FC236}">
                <a16:creationId xmlns:a16="http://schemas.microsoft.com/office/drawing/2014/main" id="{1DB078FD-8E14-439B-B535-9227878D8B2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a:t>
            </a:r>
          </a:p>
        </p:txBody>
      </p:sp>
      <p:sp>
        <p:nvSpPr>
          <p:cNvPr id="4" name="7">
            <a:extLst xmlns:a="http://schemas.openxmlformats.org/drawingml/2006/main">
              <a:ext uri="{FF2B5EF4-FFF2-40B4-BE49-F238E27FC236}">
                <a16:creationId xmlns:a16="http://schemas.microsoft.com/office/drawing/2014/main" id="{279DDE4F-A613-4D62-906D-5FB2699E925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Pigment Pura · Uitlegvoorbeeld — niet uit het boek">
            <a:extLst xmlns:a="http://schemas.openxmlformats.org/drawingml/2006/main">
              <a:ext uri="{FF2B5EF4-FFF2-40B4-BE49-F238E27FC236}">
                <a16:creationId xmlns:a16="http://schemas.microsoft.com/office/drawing/2014/main" id="{E9E87BC5-9FD2-4EC4-A7EA-E637532C658B}"/>
              </a:ext>
            </a:extLst>
          </p:cNvPr>
          <p:cNvSpPr>
            <a:spLocks xmlns:a="http://schemas.openxmlformats.org/drawingml/2006/main" noGrp="1"/>
          </p:cNvSpPr>
          <p:nvPr/>
        </p:nvSpPr>
        <p:spPr>
          <a:xfrm xmlns:a="http://schemas.openxmlformats.org/drawingml/2006/main">
            <a:off x="571500" y="168592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Pigment Pura · Uitlegvoorbeeld — niet uit het boek</a:t>
            </a:r>
          </a:p>
        </p:txBody>
      </p:sp>
      <p:graphicFrame>
        <p:nvGraphicFramePr>
          <p:cNvPr id="15" name="Chart"/>
          <p:cNvGraphicFramePr/>
          <p:nvPr/>
        </p:nvGraphicFramePr>
        <p:xfrm>
          <a:off xmlns:a="http://schemas.openxmlformats.org/drawingml/2006/main" x="571500" y="2505075"/>
          <a:ext xmlns:a="http://schemas.openxmlformats.org/drawingml/2006/main" cx="9429750" cy="5191125"/>
        </p:xfrm>
        <a:graphic xmlns:a="http://schemas.openxmlformats.org/drawingml/2006/main">
          <a:graphicData uri="http://schemas.openxmlformats.org/drawingml/2006/chart">
            <c:chart xmlns:r="http://schemas.openxmlformats.org/officeDocument/2006/relationships" xmlns:c="http://schemas.openxmlformats.org/drawingml/2006/chart" r:id="R641662e8a21142a2"/>
          </a:graphicData>
        </a:graphic>
      </p:graphicFrame>
      <p:sp>
        <p:nvSpPr>
          <p:cNvPr id="7" name="2  P op GO">
            <a:extLst xmlns:a="http://schemas.openxmlformats.org/drawingml/2006/main">
              <a:ext uri="{FF2B5EF4-FFF2-40B4-BE49-F238E27FC236}">
                <a16:creationId xmlns:a16="http://schemas.microsoft.com/office/drawing/2014/main" id="{08701197-C8F0-49F9-8EB0-BC02905E0ECC}"/>
              </a:ext>
            </a:extLst>
          </p:cNvPr>
          <p:cNvSpPr>
            <a:spLocks xmlns:a="http://schemas.openxmlformats.org/drawingml/2006/main" noGrp="1"/>
          </p:cNvSpPr>
          <p:nvPr/>
        </p:nvSpPr>
        <p:spPr>
          <a:xfrm xmlns:a="http://schemas.openxmlformats.org/drawingml/2006/main">
            <a:off x="10382250" y="2790825"/>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2  P op GO</a:t>
            </a:r>
          </a:p>
        </p:txBody>
      </p:sp>
      <p:sp>
        <p:nvSpPr>
          <p:cNvPr id="8" name="P = 36 − 0,30 × 30&#10;= € 27 per kg">
            <a:extLst xmlns:a="http://schemas.openxmlformats.org/drawingml/2006/main">
              <a:ext uri="{FF2B5EF4-FFF2-40B4-BE49-F238E27FC236}">
                <a16:creationId xmlns:a16="http://schemas.microsoft.com/office/drawing/2014/main" id="{CD5263E6-FB38-4E5D-8357-0B3EDD2CD3DE}"/>
              </a:ext>
            </a:extLst>
          </p:cNvPr>
          <p:cNvSpPr>
            <a:spLocks xmlns:a="http://schemas.openxmlformats.org/drawingml/2006/main" noGrp="1"/>
          </p:cNvSpPr>
          <p:nvPr/>
        </p:nvSpPr>
        <p:spPr>
          <a:xfrm xmlns:a="http://schemas.openxmlformats.org/drawingml/2006/main">
            <a:off x="10382250" y="3933825"/>
            <a:ext cx="42862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P = 36 − 0,30 × 30</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 € 27 per kg</a:t>
            </a:r>
          </a:p>
        </p:txBody>
      </p:sp>
      <p:sp>
        <p:nvSpPr>
          <p:cNvPr id="9" name="Controle in de vraag:&#10;27 = 36 − 0,30q&#10;geeft q = 30.">
            <a:extLst xmlns:a="http://schemas.openxmlformats.org/drawingml/2006/main">
              <a:ext uri="{FF2B5EF4-FFF2-40B4-BE49-F238E27FC236}">
                <a16:creationId xmlns:a16="http://schemas.microsoft.com/office/drawing/2014/main" id="{78C02F85-5D83-4A99-8597-9BFFC0E3C37F}"/>
              </a:ext>
            </a:extLst>
          </p:cNvPr>
          <p:cNvSpPr>
            <a:spLocks xmlns:a="http://schemas.openxmlformats.org/drawingml/2006/main" noGrp="1"/>
          </p:cNvSpPr>
          <p:nvPr/>
        </p:nvSpPr>
        <p:spPr>
          <a:xfrm xmlns:a="http://schemas.openxmlformats.org/drawingml/2006/main">
            <a:off x="10382250" y="6162675"/>
            <a:ext cx="428625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Controle in de vraag:</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27 = 36 − 0,30q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geeft q = 30.</a:t>
            </a:r>
          </a:p>
        </p:txBody>
      </p:sp>
    </p:spTree>
    <p:extLst>
      <p:ext uri="{BB962C8B-B14F-4D97-AF65-F5344CB8AC3E}">
        <p14:creationId xmlns:p14="http://schemas.microsoft.com/office/powerpoint/2010/main" val="6257458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winst in euro per week">
            <a:extLst xmlns:a="http://schemas.openxmlformats.org/drawingml/2006/main">
              <a:ext uri="{FF2B5EF4-FFF2-40B4-BE49-F238E27FC236}">
                <a16:creationId xmlns:a16="http://schemas.microsoft.com/office/drawing/2014/main" id="{139EEA34-69DD-4070-8ACB-E98434CFCB46}"/>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De winst in euro per week</a:t>
            </a:r>
          </a:p>
        </p:txBody>
      </p:sp>
      <p:sp>
        <p:nvSpPr>
          <p:cNvPr id="2" name="">
            <a:extLst xmlns:a="http://schemas.openxmlformats.org/drawingml/2006/main">
              <a:ext uri="{FF2B5EF4-FFF2-40B4-BE49-F238E27FC236}">
                <a16:creationId xmlns:a16="http://schemas.microsoft.com/office/drawing/2014/main" id="{DAA3E324-268F-4EC7-B7E3-C3578632B2C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a:extLst xmlns:a="http://schemas.openxmlformats.org/drawingml/2006/main">
              <a:ext uri="{FF2B5EF4-FFF2-40B4-BE49-F238E27FC236}">
                <a16:creationId xmlns:a16="http://schemas.microsoft.com/office/drawing/2014/main" id="{DB524578-D180-4208-8CBA-6027AD7EE88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a:t>
            </a:r>
          </a:p>
        </p:txBody>
      </p:sp>
      <p:sp>
        <p:nvSpPr>
          <p:cNvPr id="4" name="8">
            <a:extLst xmlns:a="http://schemas.openxmlformats.org/drawingml/2006/main">
              <a:ext uri="{FF2B5EF4-FFF2-40B4-BE49-F238E27FC236}">
                <a16:creationId xmlns:a16="http://schemas.microsoft.com/office/drawing/2014/main" id="{8A10B44A-B51C-4A35-BA32-B6126891161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Pigment Pura · Uitlegvoorbeeld — niet uit het boek">
            <a:extLst xmlns:a="http://schemas.openxmlformats.org/drawingml/2006/main">
              <a:ext uri="{FF2B5EF4-FFF2-40B4-BE49-F238E27FC236}">
                <a16:creationId xmlns:a16="http://schemas.microsoft.com/office/drawing/2014/main" id="{09041205-D88D-40FC-A82F-CF34C5F520EA}"/>
              </a:ext>
            </a:extLst>
          </p:cNvPr>
          <p:cNvSpPr>
            <a:spLocks xmlns:a="http://schemas.openxmlformats.org/drawingml/2006/main" noGrp="1"/>
          </p:cNvSpPr>
          <p:nvPr/>
        </p:nvSpPr>
        <p:spPr>
          <a:xfrm xmlns:a="http://schemas.openxmlformats.org/drawingml/2006/main">
            <a:off x="571500" y="168592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Pigment Pura · Uitlegvoorbeeld — niet uit het boek</a:t>
            </a:r>
          </a:p>
        </p:txBody>
      </p:sp>
      <p:sp>
        <p:nvSpPr>
          <p:cNvPr id="6" name="q = 30 kg per week, P = € 27 per kg">
            <a:extLst xmlns:a="http://schemas.openxmlformats.org/drawingml/2006/main">
              <a:ext uri="{FF2B5EF4-FFF2-40B4-BE49-F238E27FC236}">
                <a16:creationId xmlns:a16="http://schemas.microsoft.com/office/drawing/2014/main" id="{819F1783-24A5-4C3F-B24E-6AB53EBD165A}"/>
              </a:ext>
            </a:extLst>
          </p:cNvPr>
          <p:cNvSpPr>
            <a:spLocks xmlns:a="http://schemas.openxmlformats.org/drawingml/2006/main" noGrp="1"/>
          </p:cNvSpPr>
          <p:nvPr/>
        </p:nvSpPr>
        <p:spPr>
          <a:xfrm xmlns:a="http://schemas.openxmlformats.org/drawingml/2006/main">
            <a:off x="571500" y="245745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q = 30 kg per week, P = € 27 per kg</a:t>
            </a:r>
          </a:p>
        </p:txBody>
      </p:sp>
      <p:graphicFrame>
        <p:nvGraphicFramePr>
          <p:cNvPr id="15" name=""/>
          <p:cNvGraphicFramePr/>
          <p:nvPr/>
        </p:nvGraphicFramePr>
        <p:xfrm>
          <a:off xmlns:a="http://schemas.openxmlformats.org/drawingml/2006/main" x="571500" y="3590925"/>
          <a:ext xmlns:a="http://schemas.openxmlformats.org/drawingml/2006/main" cx="14097000" cy="3095625"/>
        </p:xfrm>
        <a:graphic xmlns:a="http://schemas.openxmlformats.org/drawingml/2006/main">
          <a:graphicData uri="http://schemas.openxmlformats.org/drawingml/2006/table">
            <a:tbl>
              <a:tblPr/>
              <a:tblGrid>
                <a:gridCol w="2571750"/>
                <a:gridCol w="8286750"/>
                <a:gridCol w="3238500"/>
              </a:tblGrid>
              <a:tr h="773906">
                <a:tc>
                  <a:txBody>
                    <a:bodyPr lIns="161925" tIns="95250" rIns="133350" bIns="95250"/>
                    <a:lstStyle/>
                    <a:p>
                      <a:r>
                        <a:rPr sz="2550" b="1">
                          <a:solidFill>
                            <a:srgbClr val="FFFFFF"/>
                          </a:solidFill>
                          <a:latin typeface="Arial"/>
                          <a:ea typeface="Arial"/>
                          <a:cs typeface="Arial"/>
                        </a:rPr>
                        <a:t>Grootheid</a:t>
                      </a:r>
                    </a:p>
                  </a:txBody>
                  <a:tcPr marL="91440" marR="91440" marT="45720" marB="45720" anchor="ctr">
                    <a:solidFill>
                      <a:srgbClr val="183247"/>
                    </a:solidFill>
                  </a:tcPr>
                </a:tc>
                <a:tc>
                  <a:txBody>
                    <a:bodyPr lIns="161925" tIns="95250" rIns="13335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61925" tIns="95250" rIns="133350" bIns="95250"/>
                    <a:lstStyle/>
                    <a:p>
                      <a:r>
                        <a:rPr sz="2550" b="1">
                          <a:solidFill>
                            <a:srgbClr val="FFFFFF"/>
                          </a:solidFill>
                          <a:latin typeface="Arial"/>
                          <a:ea typeface="Arial"/>
                          <a:cs typeface="Arial"/>
                        </a:rPr>
                        <a:t>€ per week</a:t>
                      </a:r>
                    </a:p>
                  </a:txBody>
                  <a:tcPr marL="91440" marR="91440" marT="45720" marB="45720" anchor="ctr">
                    <a:solidFill>
                      <a:srgbClr val="183247"/>
                    </a:solidFill>
                  </a:tcPr>
                </a:tc>
              </a:tr>
              <a:tr h="773906">
                <a:tc>
                  <a:txBody>
                    <a:bodyPr lIns="161925" tIns="95250" rIns="133350" bIns="95250"/>
                    <a:lstStyle/>
                    <a:p>
                      <a:r>
                        <a:rPr sz="2550" b="0">
                          <a:solidFill>
                            <a:srgbClr val="183247"/>
                          </a:solidFill>
                          <a:latin typeface="Arial"/>
                          <a:ea typeface="Arial"/>
                          <a:cs typeface="Arial"/>
                        </a:rPr>
                        <a:t>TO</a:t>
                      </a:r>
                    </a:p>
                  </a:txBody>
                  <a:tcPr marL="91440" marR="91440" marT="45720" marB="45720" anchor="ctr">
                    <a:solidFill>
                      <a:srgbClr val="FFFFFF"/>
                    </a:solidFill>
                  </a:tcPr>
                </a:tc>
                <a:tc>
                  <a:txBody>
                    <a:bodyPr lIns="161925" tIns="95250" rIns="133350" bIns="95250"/>
                    <a:lstStyle/>
                    <a:p>
                      <a:r>
                        <a:rPr sz="2550" b="0">
                          <a:solidFill>
                            <a:srgbClr val="183247"/>
                          </a:solidFill>
                          <a:latin typeface="Arial"/>
                          <a:ea typeface="Arial"/>
                          <a:cs typeface="Arial"/>
                        </a:rPr>
                        <a:t>27 × 30</a:t>
                      </a:r>
                    </a:p>
                  </a:txBody>
                  <a:tcPr marL="91440" marR="91440" marT="45720" marB="45720" anchor="ctr">
                    <a:solidFill>
                      <a:srgbClr val="FFFFFF"/>
                    </a:solidFill>
                  </a:tcPr>
                </a:tc>
                <a:tc>
                  <a:txBody>
                    <a:bodyPr lIns="161925" tIns="95250" rIns="133350" bIns="95250"/>
                    <a:lstStyle/>
                    <a:p>
                      <a:r>
                        <a:rPr sz="2550" b="0">
                          <a:solidFill>
                            <a:srgbClr val="183247"/>
                          </a:solidFill>
                          <a:latin typeface="Arial"/>
                          <a:ea typeface="Arial"/>
                          <a:cs typeface="Arial"/>
                        </a:rPr>
                        <a:t>810</a:t>
                      </a:r>
                    </a:p>
                  </a:txBody>
                  <a:tcPr marL="91440" marR="91440" marT="45720" marB="45720" anchor="ctr">
                    <a:solidFill>
                      <a:srgbClr val="FFFFFF"/>
                    </a:solidFill>
                  </a:tcPr>
                </a:tc>
              </a:tr>
              <a:tr h="773906">
                <a:tc>
                  <a:txBody>
                    <a:bodyPr lIns="161925" tIns="95250" rIns="133350" bIns="95250"/>
                    <a:lstStyle/>
                    <a:p>
                      <a:r>
                        <a:rPr sz="2550" b="0">
                          <a:solidFill>
                            <a:srgbClr val="183247"/>
                          </a:solidFill>
                          <a:latin typeface="Arial"/>
                          <a:ea typeface="Arial"/>
                          <a:cs typeface="Arial"/>
                        </a:rPr>
                        <a:t>TK</a:t>
                      </a:r>
                    </a:p>
                  </a:txBody>
                  <a:tcPr marL="91440" marR="91440" marT="45720" marB="45720" anchor="ctr">
                    <a:solidFill>
                      <a:srgbClr val="EFF4F7"/>
                    </a:solidFill>
                  </a:tcPr>
                </a:tc>
                <a:tc>
                  <a:txBody>
                    <a:bodyPr lIns="161925" tIns="95250" rIns="133350" bIns="95250"/>
                    <a:lstStyle/>
                    <a:p>
                      <a:r>
                        <a:rPr sz="2550" b="0">
                          <a:solidFill>
                            <a:srgbClr val="183247"/>
                          </a:solidFill>
                          <a:latin typeface="Arial"/>
                          <a:ea typeface="Arial"/>
                          <a:cs typeface="Arial"/>
                        </a:rPr>
                        <a:t>0,15 × 30² + 9 × 30 + 90</a:t>
                      </a:r>
                    </a:p>
                  </a:txBody>
                  <a:tcPr marL="91440" marR="91440" marT="45720" marB="45720" anchor="ctr">
                    <a:solidFill>
                      <a:srgbClr val="EFF4F7"/>
                    </a:solidFill>
                  </a:tcPr>
                </a:tc>
                <a:tc>
                  <a:txBody>
                    <a:bodyPr lIns="161925" tIns="95250" rIns="133350" bIns="95250"/>
                    <a:lstStyle/>
                    <a:p>
                      <a:r>
                        <a:rPr sz="2550" b="0">
                          <a:solidFill>
                            <a:srgbClr val="183247"/>
                          </a:solidFill>
                          <a:latin typeface="Arial"/>
                          <a:ea typeface="Arial"/>
                          <a:cs typeface="Arial"/>
                        </a:rPr>
                        <a:t>495</a:t>
                      </a:r>
                    </a:p>
                  </a:txBody>
                  <a:tcPr marL="91440" marR="91440" marT="45720" marB="45720" anchor="ctr">
                    <a:solidFill>
                      <a:srgbClr val="EFF4F7"/>
                    </a:solidFill>
                  </a:tcPr>
                </a:tc>
              </a:tr>
              <a:tr h="773906">
                <a:tc>
                  <a:txBody>
                    <a:bodyPr lIns="161925" tIns="95250" rIns="133350" bIns="95250"/>
                    <a:lstStyle/>
                    <a:p>
                      <a:r>
                        <a:rPr sz="2550" b="0">
                          <a:solidFill>
                            <a:srgbClr val="183247"/>
                          </a:solidFill>
                          <a:latin typeface="Arial"/>
                          <a:ea typeface="Arial"/>
                          <a:cs typeface="Arial"/>
                        </a:rPr>
                        <a:t>Winst</a:t>
                      </a:r>
                    </a:p>
                  </a:txBody>
                  <a:tcPr marL="91440" marR="91440" marT="45720" marB="45720" anchor="ctr">
                    <a:solidFill>
                      <a:srgbClr val="FFFFFF"/>
                    </a:solidFill>
                  </a:tcPr>
                </a:tc>
                <a:tc>
                  <a:txBody>
                    <a:bodyPr lIns="161925" tIns="95250" rIns="133350" bIns="95250"/>
                    <a:lstStyle/>
                    <a:p>
                      <a:r>
                        <a:rPr sz="2550" b="0">
                          <a:solidFill>
                            <a:srgbClr val="183247"/>
                          </a:solidFill>
                          <a:latin typeface="Arial"/>
                          <a:ea typeface="Arial"/>
                          <a:cs typeface="Arial"/>
                        </a:rPr>
                        <a:t>810 − 495</a:t>
                      </a:r>
                    </a:p>
                  </a:txBody>
                  <a:tcPr marL="91440" marR="91440" marT="45720" marB="45720" anchor="ctr">
                    <a:solidFill>
                      <a:srgbClr val="FFFFFF"/>
                    </a:solidFill>
                  </a:tcPr>
                </a:tc>
                <a:tc>
                  <a:txBody>
                    <a:bodyPr lIns="161925" tIns="95250" rIns="133350" bIns="95250"/>
                    <a:lstStyle/>
                    <a:p>
                      <a:r>
                        <a:rPr sz="2550" b="0">
                          <a:solidFill>
                            <a:srgbClr val="183247"/>
                          </a:solidFill>
                          <a:latin typeface="Arial"/>
                          <a:ea typeface="Arial"/>
                          <a:cs typeface="Arial"/>
                        </a:rPr>
                        <a:t>315</a:t>
                      </a:r>
                    </a:p>
                  </a:txBody>
                  <a:tcPr marL="91440" marR="91440" marT="45720" marB="45720" anchor="ctr">
                    <a:solidFill>
                      <a:srgbClr val="FFFFFF"/>
                    </a:solidFill>
                  </a:tcPr>
                </a:tc>
              </a:tr>
            </a:tbl>
          </a:graphicData>
        </a:graphic>
      </p:graphicFrame>
      <p:sp>
        <p:nvSpPr>
          <p:cNvPr id="8" name="Bij q = 0: TO = 0 en TK = 90. Winst = −€ 90 per week.">
            <a:extLst xmlns:a="http://schemas.openxmlformats.org/drawingml/2006/main">
              <a:ext uri="{FF2B5EF4-FFF2-40B4-BE49-F238E27FC236}">
                <a16:creationId xmlns:a16="http://schemas.microsoft.com/office/drawing/2014/main" id="{E4634792-6974-4C7C-B5C2-2B00EC313249}"/>
              </a:ext>
            </a:extLst>
          </p:cNvPr>
          <p:cNvSpPr>
            <a:spLocks xmlns:a="http://schemas.openxmlformats.org/drawingml/2006/main" noGrp="1"/>
          </p:cNvSpPr>
          <p:nvPr/>
        </p:nvSpPr>
        <p:spPr>
          <a:xfrm xmlns:a="http://schemas.openxmlformats.org/drawingml/2006/main">
            <a:off x="571500" y="7191375"/>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Bij q = 0: TO = 0 en TK = 90. Winst = −€ 90 per week.</a:t>
            </a:r>
          </a:p>
        </p:txBody>
      </p:sp>
    </p:spTree>
    <p:extLst>
      <p:ext uri="{BB962C8B-B14F-4D97-AF65-F5344CB8AC3E}">
        <p14:creationId xmlns:p14="http://schemas.microsoft.com/office/powerpoint/2010/main" val="19580093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Winst per kg maal het aantal kg">
            <a:extLst xmlns:a="http://schemas.openxmlformats.org/drawingml/2006/main">
              <a:ext uri="{FF2B5EF4-FFF2-40B4-BE49-F238E27FC236}">
                <a16:creationId xmlns:a16="http://schemas.microsoft.com/office/drawing/2014/main" id="{F9723325-CC94-457C-8D05-D4FE3B5D07DA}"/>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Winst per kg maal het aantal kg</a:t>
            </a:r>
          </a:p>
        </p:txBody>
      </p:sp>
      <p:sp>
        <p:nvSpPr>
          <p:cNvPr id="2" name="">
            <a:extLst xmlns:a="http://schemas.openxmlformats.org/drawingml/2006/main">
              <a:ext uri="{FF2B5EF4-FFF2-40B4-BE49-F238E27FC236}">
                <a16:creationId xmlns:a16="http://schemas.microsoft.com/office/drawing/2014/main" id="{29DD9271-E524-4E6D-9AF7-C8FE3981903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a:extLst xmlns:a="http://schemas.openxmlformats.org/drawingml/2006/main">
              <a:ext uri="{FF2B5EF4-FFF2-40B4-BE49-F238E27FC236}">
                <a16:creationId xmlns:a16="http://schemas.microsoft.com/office/drawing/2014/main" id="{B8BECB2A-1074-4113-851B-D26DEE16F35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a:t>
            </a:r>
          </a:p>
        </p:txBody>
      </p:sp>
      <p:sp>
        <p:nvSpPr>
          <p:cNvPr id="4" name="9">
            <a:extLst xmlns:a="http://schemas.openxmlformats.org/drawingml/2006/main">
              <a:ext uri="{FF2B5EF4-FFF2-40B4-BE49-F238E27FC236}">
                <a16:creationId xmlns:a16="http://schemas.microsoft.com/office/drawing/2014/main" id="{B3AAC172-3724-4D93-BC75-1E5455CDB2B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Pigment Pura · Uitlegvoorbeeld — niet uit het boek">
            <a:extLst xmlns:a="http://schemas.openxmlformats.org/drawingml/2006/main">
              <a:ext uri="{FF2B5EF4-FFF2-40B4-BE49-F238E27FC236}">
                <a16:creationId xmlns:a16="http://schemas.microsoft.com/office/drawing/2014/main" id="{94D5CF6C-4D45-453B-A3B2-1CCE3B661762}"/>
              </a:ext>
            </a:extLst>
          </p:cNvPr>
          <p:cNvSpPr>
            <a:spLocks xmlns:a="http://schemas.openxmlformats.org/drawingml/2006/main" noGrp="1"/>
          </p:cNvSpPr>
          <p:nvPr/>
        </p:nvSpPr>
        <p:spPr>
          <a:xfrm xmlns:a="http://schemas.openxmlformats.org/drawingml/2006/main">
            <a:off x="571500" y="168592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Pigment Pura · Uitlegvoorbeeld — niet uit het boek</a:t>
            </a:r>
          </a:p>
        </p:txBody>
      </p:sp>
      <p:graphicFrame>
        <p:nvGraphicFramePr>
          <p:cNvPr id="15" name="Chart"/>
          <p:cNvGraphicFramePr/>
          <p:nvPr/>
        </p:nvGraphicFramePr>
        <p:xfrm>
          <a:off xmlns:a="http://schemas.openxmlformats.org/drawingml/2006/main" x="571500" y="2505075"/>
          <a:ext xmlns:a="http://schemas.openxmlformats.org/drawingml/2006/main" cx="9429750" cy="5191125"/>
        </p:xfrm>
        <a:graphic xmlns:a="http://schemas.openxmlformats.org/drawingml/2006/main">
          <a:graphicData uri="http://schemas.openxmlformats.org/drawingml/2006/chart">
            <c:chart xmlns:r="http://schemas.openxmlformats.org/officeDocument/2006/relationships" xmlns:c="http://schemas.openxmlformats.org/drawingml/2006/chart" r:id="Rdd4e6803edf24ec6"/>
          </a:graphicData>
        </a:graphic>
      </p:graphicFrame>
      <p:sp>
        <p:nvSpPr>
          <p:cNvPr id="7" name="GTK = 495 / 30&#10;= € 16,50 per kg">
            <a:extLst xmlns:a="http://schemas.openxmlformats.org/drawingml/2006/main">
              <a:ext uri="{FF2B5EF4-FFF2-40B4-BE49-F238E27FC236}">
                <a16:creationId xmlns:a16="http://schemas.microsoft.com/office/drawing/2014/main" id="{F9A291FC-154D-484F-A39D-8683F93E3FCE}"/>
              </a:ext>
            </a:extLst>
          </p:cNvPr>
          <p:cNvSpPr>
            <a:spLocks xmlns:a="http://schemas.openxmlformats.org/drawingml/2006/main" noGrp="1"/>
          </p:cNvSpPr>
          <p:nvPr/>
        </p:nvSpPr>
        <p:spPr>
          <a:xfrm xmlns:a="http://schemas.openxmlformats.org/drawingml/2006/main">
            <a:off x="10382250" y="2609850"/>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GTK = 495 / 30</a:t>
            </a:r>
          </a:p>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 € 16,50 per kg</a:t>
            </a:r>
          </a:p>
        </p:txBody>
      </p:sp>
      <p:sp>
        <p:nvSpPr>
          <p:cNvPr id="8" name="Hoogte: 27 − 16,50&#10;= € 10,50 per kg&#10;Breedte: 30 kg per week">
            <a:extLst xmlns:a="http://schemas.openxmlformats.org/drawingml/2006/main">
              <a:ext uri="{FF2B5EF4-FFF2-40B4-BE49-F238E27FC236}">
                <a16:creationId xmlns:a16="http://schemas.microsoft.com/office/drawing/2014/main" id="{15EC5FEA-FD97-49AC-A72C-8EEE87E5B5DA}"/>
              </a:ext>
            </a:extLst>
          </p:cNvPr>
          <p:cNvSpPr>
            <a:spLocks xmlns:a="http://schemas.openxmlformats.org/drawingml/2006/main" noGrp="1"/>
          </p:cNvSpPr>
          <p:nvPr/>
        </p:nvSpPr>
        <p:spPr>
          <a:xfrm xmlns:a="http://schemas.openxmlformats.org/drawingml/2006/main">
            <a:off x="10382250" y="4333875"/>
            <a:ext cx="4286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Hoogte: 27 − 16,50</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 € 10,50 per kg</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Breedte: 30 kg per week</a:t>
            </a:r>
          </a:p>
        </p:txBody>
      </p:sp>
      <p:sp>
        <p:nvSpPr>
          <p:cNvPr id="9" name="Winst = 10,50 × 30&#10;= € 315 per week">
            <a:extLst xmlns:a="http://schemas.openxmlformats.org/drawingml/2006/main">
              <a:ext uri="{FF2B5EF4-FFF2-40B4-BE49-F238E27FC236}">
                <a16:creationId xmlns:a16="http://schemas.microsoft.com/office/drawing/2014/main" id="{BA93FB6D-31F9-4BFC-9AC2-CF4473A5B500}"/>
              </a:ext>
            </a:extLst>
          </p:cNvPr>
          <p:cNvSpPr>
            <a:spLocks xmlns:a="http://schemas.openxmlformats.org/drawingml/2006/main" noGrp="1"/>
          </p:cNvSpPr>
          <p:nvPr/>
        </p:nvSpPr>
        <p:spPr>
          <a:xfrm xmlns:a="http://schemas.openxmlformats.org/drawingml/2006/main">
            <a:off x="10382250" y="6686550"/>
            <a:ext cx="4286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Winst = 10,50 × 30</a:t>
            </a:r>
          </a:p>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 € 315 per week</a:t>
            </a:r>
          </a:p>
        </p:txBody>
      </p:sp>
    </p:spTree>
    <p:extLst>
      <p:ext uri="{BB962C8B-B14F-4D97-AF65-F5344CB8AC3E}">
        <p14:creationId xmlns:p14="http://schemas.microsoft.com/office/powerpoint/2010/main" val="4975911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capaciteit vóór het snijpunt">
            <a:extLst xmlns:a="http://schemas.openxmlformats.org/drawingml/2006/main">
              <a:ext uri="{FF2B5EF4-FFF2-40B4-BE49-F238E27FC236}">
                <a16:creationId xmlns:a16="http://schemas.microsoft.com/office/drawing/2014/main" id="{B48EB181-E1EF-46B2-9943-DA35BB9138C3}"/>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Een capaciteit vóór het snijpunt</a:t>
            </a:r>
          </a:p>
        </p:txBody>
      </p:sp>
      <p:sp>
        <p:nvSpPr>
          <p:cNvPr id="2" name="">
            <a:extLst xmlns:a="http://schemas.openxmlformats.org/drawingml/2006/main">
              <a:ext uri="{FF2B5EF4-FFF2-40B4-BE49-F238E27FC236}">
                <a16:creationId xmlns:a16="http://schemas.microsoft.com/office/drawing/2014/main" id="{77CB9321-3BE9-4856-99B5-C17728FB7EB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a:extLst xmlns:a="http://schemas.openxmlformats.org/drawingml/2006/main">
              <a:ext uri="{FF2B5EF4-FFF2-40B4-BE49-F238E27FC236}">
                <a16:creationId xmlns:a16="http://schemas.microsoft.com/office/drawing/2014/main" id="{85E2030B-341F-4D95-8741-A99EBEC4CDC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a:t>
            </a:r>
          </a:p>
        </p:txBody>
      </p:sp>
      <p:sp>
        <p:nvSpPr>
          <p:cNvPr id="4" name="10">
            <a:extLst xmlns:a="http://schemas.openxmlformats.org/drawingml/2006/main">
              <a:ext uri="{FF2B5EF4-FFF2-40B4-BE49-F238E27FC236}">
                <a16:creationId xmlns:a16="http://schemas.microsoft.com/office/drawing/2014/main" id="{FB2DF9EC-5479-4421-8B1E-4DBC494E9A1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Pigment Pura · Uitlegvoorbeeld — niet uit het boek">
            <a:extLst xmlns:a="http://schemas.openxmlformats.org/drawingml/2006/main">
              <a:ext uri="{FF2B5EF4-FFF2-40B4-BE49-F238E27FC236}">
                <a16:creationId xmlns:a16="http://schemas.microsoft.com/office/drawing/2014/main" id="{3033AD90-DDE5-4DF6-BD5B-3024BB1BD211}"/>
              </a:ext>
            </a:extLst>
          </p:cNvPr>
          <p:cNvSpPr>
            <a:spLocks xmlns:a="http://schemas.openxmlformats.org/drawingml/2006/main" noGrp="1"/>
          </p:cNvSpPr>
          <p:nvPr/>
        </p:nvSpPr>
        <p:spPr>
          <a:xfrm xmlns:a="http://schemas.openxmlformats.org/drawingml/2006/main">
            <a:off x="571500" y="168592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Pigment Pura · Uitlegvoorbeeld — niet uit het boek</a:t>
            </a:r>
          </a:p>
        </p:txBody>
      </p:sp>
      <p:sp>
        <p:nvSpPr>
          <p:cNvPr id="6" name="Nieuwe situatie: Pura kan maximaal 20 kg per week maken.">
            <a:extLst xmlns:a="http://schemas.openxmlformats.org/drawingml/2006/main">
              <a:ext uri="{FF2B5EF4-FFF2-40B4-BE49-F238E27FC236}">
                <a16:creationId xmlns:a16="http://schemas.microsoft.com/office/drawing/2014/main" id="{7D81201C-9A47-481A-B496-55A171F1DF09}"/>
              </a:ext>
            </a:extLst>
          </p:cNvPr>
          <p:cNvSpPr>
            <a:spLocks xmlns:a="http://schemas.openxmlformats.org/drawingml/2006/main" noGrp="1"/>
          </p:cNvSpPr>
          <p:nvPr/>
        </p:nvSpPr>
        <p:spPr>
          <a:xfrm xmlns:a="http://schemas.openxmlformats.org/drawingml/2006/main">
            <a:off x="571500" y="247650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Nieuwe situatie: Pura kan maximaal 20 kg per week maken.</a:t>
            </a:r>
          </a:p>
        </p:txBody>
      </p:sp>
      <p:sp>
        <p:nvSpPr>
          <p:cNvPr id="7" name="Kandidaat q = 30 is onhaalbaar.&#10;Bij q = 20: MO = 24 &gt; MK = 15.">
            <a:extLst xmlns:a="http://schemas.openxmlformats.org/drawingml/2006/main">
              <a:ext uri="{FF2B5EF4-FFF2-40B4-BE49-F238E27FC236}">
                <a16:creationId xmlns:a16="http://schemas.microsoft.com/office/drawing/2014/main" id="{B50386D6-0DDF-4C41-B187-0C6BA7B4716A}"/>
              </a:ext>
            </a:extLst>
          </p:cNvPr>
          <p:cNvSpPr>
            <a:spLocks xmlns:a="http://schemas.openxmlformats.org/drawingml/2006/main" noGrp="1"/>
          </p:cNvSpPr>
          <p:nvPr/>
        </p:nvSpPr>
        <p:spPr>
          <a:xfrm xmlns:a="http://schemas.openxmlformats.org/drawingml/2006/main">
            <a:off x="571500" y="3724275"/>
            <a:ext cx="14097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Kandidaat q = 30 is onhaalbaar.</a:t>
            </a:r>
          </a:p>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Bij q = 20: MO = 24 &gt; MK = 15.</a:t>
            </a:r>
          </a:p>
        </p:txBody>
      </p:sp>
      <p:sp>
        <p:nvSpPr>
          <p:cNvPr id="8" name="De winst stijgt tot de grens. Kies q = 20 kg per week.">
            <a:extLst xmlns:a="http://schemas.openxmlformats.org/drawingml/2006/main">
              <a:ext uri="{FF2B5EF4-FFF2-40B4-BE49-F238E27FC236}">
                <a16:creationId xmlns:a16="http://schemas.microsoft.com/office/drawing/2014/main" id="{41416F0E-E651-44FD-818D-D7978CF0128C}"/>
              </a:ext>
            </a:extLst>
          </p:cNvPr>
          <p:cNvSpPr>
            <a:spLocks xmlns:a="http://schemas.openxmlformats.org/drawingml/2006/main" noGrp="1"/>
          </p:cNvSpPr>
          <p:nvPr/>
        </p:nvSpPr>
        <p:spPr>
          <a:xfrm xmlns:a="http://schemas.openxmlformats.org/drawingml/2006/main">
            <a:off x="571500" y="5362575"/>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De winst stijgt tot de grens. Kies q = 20 kg per week.</a:t>
            </a:r>
          </a:p>
        </p:txBody>
      </p:sp>
      <p:sp>
        <p:nvSpPr>
          <p:cNvPr id="9" name="P = 36 − 0,30 × 20 = € 30 per kg&#10;TO = 600, TK = 330, winst = € 27">
            <a:extLst xmlns:a="http://schemas.openxmlformats.org/drawingml/2006/main">
              <a:ext uri="{FF2B5EF4-FFF2-40B4-BE49-F238E27FC236}">
                <a16:creationId xmlns:a16="http://schemas.microsoft.com/office/drawing/2014/main" id="{B46E3898-4EA3-4A8B-91ED-509FA7796358}"/>
              </a:ext>
            </a:extLst>
          </p:cNvPr>
          <p:cNvSpPr>
            <a:spLocks xmlns:a="http://schemas.openxmlformats.org/drawingml/2006/main" noGrp="1"/>
          </p:cNvSpPr>
          <p:nvPr/>
        </p:nvSpPr>
        <p:spPr>
          <a:xfrm xmlns:a="http://schemas.openxmlformats.org/drawingml/2006/main">
            <a:off x="571500" y="6419850"/>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P = 36 − 0,30 × 20 = € 30 per kg</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TO = 600, TK = 330, winst = € 270 per week</a:t>
            </a:r>
          </a:p>
        </p:txBody>
      </p:sp>
    </p:spTree>
    <p:extLst>
      <p:ext uri="{BB962C8B-B14F-4D97-AF65-F5344CB8AC3E}">
        <p14:creationId xmlns:p14="http://schemas.microsoft.com/office/powerpoint/2010/main" val="9472057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lleen de constante kosten veranderen">
            <a:extLst xmlns:a="http://schemas.openxmlformats.org/drawingml/2006/main">
              <a:ext uri="{FF2B5EF4-FFF2-40B4-BE49-F238E27FC236}">
                <a16:creationId xmlns:a16="http://schemas.microsoft.com/office/drawing/2014/main" id="{FE11A177-2472-4719-91E0-85A9E7BDA7DC}"/>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Alleen de constante kosten veranderen</a:t>
            </a:r>
          </a:p>
        </p:txBody>
      </p:sp>
      <p:sp>
        <p:nvSpPr>
          <p:cNvPr id="2" name="">
            <a:extLst xmlns:a="http://schemas.openxmlformats.org/drawingml/2006/main">
              <a:ext uri="{FF2B5EF4-FFF2-40B4-BE49-F238E27FC236}">
                <a16:creationId xmlns:a16="http://schemas.microsoft.com/office/drawing/2014/main" id="{E318A02E-27A6-4958-A9CF-83D37F6E015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a:extLst xmlns:a="http://schemas.openxmlformats.org/drawingml/2006/main">
              <a:ext uri="{FF2B5EF4-FFF2-40B4-BE49-F238E27FC236}">
                <a16:creationId xmlns:a16="http://schemas.microsoft.com/office/drawing/2014/main" id="{EB4D12D7-7797-4E93-B240-97872EF0F9F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a:t>
            </a:r>
          </a:p>
        </p:txBody>
      </p:sp>
      <p:sp>
        <p:nvSpPr>
          <p:cNvPr id="4" name="11">
            <a:extLst xmlns:a="http://schemas.openxmlformats.org/drawingml/2006/main">
              <a:ext uri="{FF2B5EF4-FFF2-40B4-BE49-F238E27FC236}">
                <a16:creationId xmlns:a16="http://schemas.microsoft.com/office/drawing/2014/main" id="{4B656385-F332-4476-A878-0D85C198EAC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Pigment Pura · Uitlegvoorbeeld — niet uit het boek">
            <a:extLst xmlns:a="http://schemas.openxmlformats.org/drawingml/2006/main">
              <a:ext uri="{FF2B5EF4-FFF2-40B4-BE49-F238E27FC236}">
                <a16:creationId xmlns:a16="http://schemas.microsoft.com/office/drawing/2014/main" id="{0010E459-739D-43F0-AFB6-F1CA03771D46}"/>
              </a:ext>
            </a:extLst>
          </p:cNvPr>
          <p:cNvSpPr>
            <a:spLocks xmlns:a="http://schemas.openxmlformats.org/drawingml/2006/main" noGrp="1"/>
          </p:cNvSpPr>
          <p:nvPr/>
        </p:nvSpPr>
        <p:spPr>
          <a:xfrm xmlns:a="http://schemas.openxmlformats.org/drawingml/2006/main">
            <a:off x="571500" y="168592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Pigment Pura · Uitlegvoorbeeld — niet uit het boek</a:t>
            </a:r>
          </a:p>
        </p:txBody>
      </p:sp>
      <p:sp>
        <p:nvSpPr>
          <p:cNvPr id="6" name="Terug naar capaciteit 50 kg. Alleen € 90 wordt € 240.">
            <a:extLst xmlns:a="http://schemas.openxmlformats.org/drawingml/2006/main">
              <a:ext uri="{FF2B5EF4-FFF2-40B4-BE49-F238E27FC236}">
                <a16:creationId xmlns:a16="http://schemas.microsoft.com/office/drawing/2014/main" id="{733F18EA-E909-4701-8C7B-EE2780242FAA}"/>
              </a:ext>
            </a:extLst>
          </p:cNvPr>
          <p:cNvSpPr>
            <a:spLocks xmlns:a="http://schemas.openxmlformats.org/drawingml/2006/main" noGrp="1"/>
          </p:cNvSpPr>
          <p:nvPr/>
        </p:nvSpPr>
        <p:spPr>
          <a:xfrm xmlns:a="http://schemas.openxmlformats.org/drawingml/2006/main">
            <a:off x="571500" y="2476500"/>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Terug naar capaciteit 50 kg. Alleen € 90 wordt € 240.</a:t>
            </a:r>
          </a:p>
        </p:txBody>
      </p:sp>
      <p:sp>
        <p:nvSpPr>
          <p:cNvPr id="7" name="MK blijft 0,30q + 9">
            <a:extLst xmlns:a="http://schemas.openxmlformats.org/drawingml/2006/main">
              <a:ext uri="{FF2B5EF4-FFF2-40B4-BE49-F238E27FC236}">
                <a16:creationId xmlns:a16="http://schemas.microsoft.com/office/drawing/2014/main" id="{E9986A71-7F94-45FE-9582-3DF1F3D8B00C}"/>
              </a:ext>
            </a:extLst>
          </p:cNvPr>
          <p:cNvSpPr>
            <a:spLocks xmlns:a="http://schemas.openxmlformats.org/drawingml/2006/main" noGrp="1"/>
          </p:cNvSpPr>
          <p:nvPr/>
        </p:nvSpPr>
        <p:spPr>
          <a:xfrm xmlns:a="http://schemas.openxmlformats.org/drawingml/2006/main">
            <a:off x="571500" y="378142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A94D16"/>
                </a:solidFill>
                <a:latin typeface="Arial"/>
                <a:ea typeface="Arial"/>
                <a:cs typeface="Arial"/>
              </a:defRPr>
            </a:pPr>
            <a:r>
              <a:rPr sz="3600" b="1">
                <a:solidFill>
                  <a:srgbClr val="A94D16"/>
                </a:solidFill>
                <a:latin typeface="Arial"/>
                <a:ea typeface="Arial"/>
                <a:cs typeface="Arial"/>
              </a:rPr>
              <a:t>MK blijft 0,30q + 9</a:t>
            </a:r>
          </a:p>
        </p:txBody>
      </p:sp>
      <p:sp>
        <p:nvSpPr>
          <p:cNvPr id="8" name="q blijft 30 kg per week. P blijft € 27 per kg.">
            <a:extLst xmlns:a="http://schemas.openxmlformats.org/drawingml/2006/main">
              <a:ext uri="{FF2B5EF4-FFF2-40B4-BE49-F238E27FC236}">
                <a16:creationId xmlns:a16="http://schemas.microsoft.com/office/drawing/2014/main" id="{262D65B6-648F-46C8-BFCB-C13AEA6328D7}"/>
              </a:ext>
            </a:extLst>
          </p:cNvPr>
          <p:cNvSpPr>
            <a:spLocks xmlns:a="http://schemas.openxmlformats.org/drawingml/2006/main" noGrp="1"/>
          </p:cNvSpPr>
          <p:nvPr/>
        </p:nvSpPr>
        <p:spPr>
          <a:xfrm xmlns:a="http://schemas.openxmlformats.org/drawingml/2006/main">
            <a:off x="571500" y="4981575"/>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q blijft 30 kg per week. P blijft € 27 per kg.</a:t>
            </a:r>
          </a:p>
        </p:txBody>
      </p:sp>
      <p:sp>
        <p:nvSpPr>
          <p:cNvPr id="9" name="De winst daalt met € 150:&#10;€ 315 − € 150 = € 165 per week">
            <a:extLst xmlns:a="http://schemas.openxmlformats.org/drawingml/2006/main">
              <a:ext uri="{FF2B5EF4-FFF2-40B4-BE49-F238E27FC236}">
                <a16:creationId xmlns:a16="http://schemas.microsoft.com/office/drawing/2014/main" id="{AA41E8BC-EEC4-4690-A6B5-0A15954D5850}"/>
              </a:ext>
            </a:extLst>
          </p:cNvPr>
          <p:cNvSpPr>
            <a:spLocks xmlns:a="http://schemas.openxmlformats.org/drawingml/2006/main" noGrp="1"/>
          </p:cNvSpPr>
          <p:nvPr/>
        </p:nvSpPr>
        <p:spPr>
          <a:xfrm xmlns:a="http://schemas.openxmlformats.org/drawingml/2006/main">
            <a:off x="571500" y="6391275"/>
            <a:ext cx="14097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De winst daalt met € 150:</a:t>
            </a:r>
          </a:p>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€ 315 − € 150 = € 165 per week</a:t>
            </a:r>
          </a:p>
        </p:txBody>
      </p:sp>
    </p:spTree>
    <p:extLst>
      <p:ext uri="{BB962C8B-B14F-4D97-AF65-F5344CB8AC3E}">
        <p14:creationId xmlns:p14="http://schemas.microsoft.com/office/powerpoint/2010/main" val="13393927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en grotere vraag verandert MO">
            <a:extLst xmlns:a="http://schemas.openxmlformats.org/drawingml/2006/main">
              <a:ext uri="{FF2B5EF4-FFF2-40B4-BE49-F238E27FC236}">
                <a16:creationId xmlns:a16="http://schemas.microsoft.com/office/drawing/2014/main" id="{B4C93A59-1D5C-4C3B-A86A-EFBE9101C99B}"/>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Een grotere vraag verandert MO</a:t>
            </a:r>
          </a:p>
        </p:txBody>
      </p:sp>
      <p:sp>
        <p:nvSpPr>
          <p:cNvPr id="2" name="">
            <a:extLst xmlns:a="http://schemas.openxmlformats.org/drawingml/2006/main">
              <a:ext uri="{FF2B5EF4-FFF2-40B4-BE49-F238E27FC236}">
                <a16:creationId xmlns:a16="http://schemas.microsoft.com/office/drawing/2014/main" id="{87DE051E-AABF-4268-9057-A12208FCD5C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a:extLst xmlns:a="http://schemas.openxmlformats.org/drawingml/2006/main">
              <a:ext uri="{FF2B5EF4-FFF2-40B4-BE49-F238E27FC236}">
                <a16:creationId xmlns:a16="http://schemas.microsoft.com/office/drawing/2014/main" id="{B262F620-6A89-4D69-9BB7-A8E47E41BA0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a:t>
            </a:r>
          </a:p>
        </p:txBody>
      </p:sp>
      <p:sp>
        <p:nvSpPr>
          <p:cNvPr id="4" name="12">
            <a:extLst xmlns:a="http://schemas.openxmlformats.org/drawingml/2006/main">
              <a:ext uri="{FF2B5EF4-FFF2-40B4-BE49-F238E27FC236}">
                <a16:creationId xmlns:a16="http://schemas.microsoft.com/office/drawing/2014/main" id="{713CF590-8F85-4AA0-9144-E0983EA074E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Pigment Pura · Uitlegvoorbeeld — niet uit het boek">
            <a:extLst xmlns:a="http://schemas.openxmlformats.org/drawingml/2006/main">
              <a:ext uri="{FF2B5EF4-FFF2-40B4-BE49-F238E27FC236}">
                <a16:creationId xmlns:a16="http://schemas.microsoft.com/office/drawing/2014/main" id="{6E38362D-1BE9-4AC6-A21C-2879915EBDAE}"/>
              </a:ext>
            </a:extLst>
          </p:cNvPr>
          <p:cNvSpPr>
            <a:spLocks xmlns:a="http://schemas.openxmlformats.org/drawingml/2006/main" noGrp="1"/>
          </p:cNvSpPr>
          <p:nvPr/>
        </p:nvSpPr>
        <p:spPr>
          <a:xfrm xmlns:a="http://schemas.openxmlformats.org/drawingml/2006/main">
            <a:off x="571500" y="168592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Pigment Pura · Uitlegvoorbeeld — niet uit het boek</a:t>
            </a:r>
          </a:p>
        </p:txBody>
      </p:sp>
      <p:sp>
        <p:nvSpPr>
          <p:cNvPr id="6" name="Opnieuw het beginmodel: TK = 0,15q² + 9q + 90, capaciteit 50.">
            <a:extLst xmlns:a="http://schemas.openxmlformats.org/drawingml/2006/main">
              <a:ext uri="{FF2B5EF4-FFF2-40B4-BE49-F238E27FC236}">
                <a16:creationId xmlns:a16="http://schemas.microsoft.com/office/drawing/2014/main" id="{E01E3D49-F212-42F3-B2A3-8E11A51402F4}"/>
              </a:ext>
            </a:extLst>
          </p:cNvPr>
          <p:cNvSpPr>
            <a:spLocks xmlns:a="http://schemas.openxmlformats.org/drawingml/2006/main" noGrp="1"/>
          </p:cNvSpPr>
          <p:nvPr/>
        </p:nvSpPr>
        <p:spPr>
          <a:xfrm xmlns:a="http://schemas.openxmlformats.org/drawingml/2006/main">
            <a:off x="571500" y="2428875"/>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Opnieuw het beginmodel: TK = 0,15q² + 9q + 90, capaciteit 50.</a:t>
            </a:r>
          </a:p>
        </p:txBody>
      </p:sp>
      <p:sp>
        <p:nvSpPr>
          <p:cNvPr id="7" name="Nieuwe vraag: P = 45 − 0,30q">
            <a:extLst xmlns:a="http://schemas.openxmlformats.org/drawingml/2006/main">
              <a:ext uri="{FF2B5EF4-FFF2-40B4-BE49-F238E27FC236}">
                <a16:creationId xmlns:a16="http://schemas.microsoft.com/office/drawing/2014/main" id="{60B79CD6-58DA-40CE-BE66-7A83AFE03BB0}"/>
              </a:ext>
            </a:extLst>
          </p:cNvPr>
          <p:cNvSpPr>
            <a:spLocks xmlns:a="http://schemas.openxmlformats.org/drawingml/2006/main" noGrp="1"/>
          </p:cNvSpPr>
          <p:nvPr/>
        </p:nvSpPr>
        <p:spPr>
          <a:xfrm xmlns:a="http://schemas.openxmlformats.org/drawingml/2006/main">
            <a:off x="571500" y="36004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Nieuwe vraag: P = 45 − 0,30q</a:t>
            </a:r>
          </a:p>
        </p:txBody>
      </p:sp>
      <p:sp>
        <p:nvSpPr>
          <p:cNvPr id="8" name="TO = 45q − 0,30q², dus MO = 45 − 0,60q&#10;45 − 0,60q = 0,30q + 9 gee">
            <a:extLst xmlns:a="http://schemas.openxmlformats.org/drawingml/2006/main">
              <a:ext uri="{FF2B5EF4-FFF2-40B4-BE49-F238E27FC236}">
                <a16:creationId xmlns:a16="http://schemas.microsoft.com/office/drawing/2014/main" id="{060E83C8-379D-40C9-83F5-2C0026D6DC9A}"/>
              </a:ext>
            </a:extLst>
          </p:cNvPr>
          <p:cNvSpPr>
            <a:spLocks xmlns:a="http://schemas.openxmlformats.org/drawingml/2006/main" noGrp="1"/>
          </p:cNvSpPr>
          <p:nvPr/>
        </p:nvSpPr>
        <p:spPr>
          <a:xfrm xmlns:a="http://schemas.openxmlformats.org/drawingml/2006/main">
            <a:off x="571500" y="4591050"/>
            <a:ext cx="14097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TO = 45q − 0,30q², dus MO = 45 − 0,60q</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45 − 0,60q = 0,30q + 9 geeft q = 40</a:t>
            </a:r>
          </a:p>
        </p:txBody>
      </p:sp>
      <p:sp>
        <p:nvSpPr>
          <p:cNvPr id="9" name="P = 45 − 0,30 × 40 = € 33 per kg">
            <a:extLst xmlns:a="http://schemas.openxmlformats.org/drawingml/2006/main">
              <a:ext uri="{FF2B5EF4-FFF2-40B4-BE49-F238E27FC236}">
                <a16:creationId xmlns:a16="http://schemas.microsoft.com/office/drawing/2014/main" id="{1E2193B8-C8B1-4AC4-A981-EEC61EB7A944}"/>
              </a:ext>
            </a:extLst>
          </p:cNvPr>
          <p:cNvSpPr>
            <a:spLocks xmlns:a="http://schemas.openxmlformats.org/drawingml/2006/main" noGrp="1"/>
          </p:cNvSpPr>
          <p:nvPr/>
        </p:nvSpPr>
        <p:spPr>
          <a:xfrm xmlns:a="http://schemas.openxmlformats.org/drawingml/2006/main">
            <a:off x="571500" y="65151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P = 45 − 0,30 × 40 = € 33 per kg</a:t>
            </a:r>
          </a:p>
        </p:txBody>
      </p:sp>
      <p:sp>
        <p:nvSpPr>
          <p:cNvPr id="10" name="Ook bij hogere vaste kosten blijft deze marginale vergelijking ge">
            <a:extLst xmlns:a="http://schemas.openxmlformats.org/drawingml/2006/main">
              <a:ext uri="{FF2B5EF4-FFF2-40B4-BE49-F238E27FC236}">
                <a16:creationId xmlns:a16="http://schemas.microsoft.com/office/drawing/2014/main" id="{9A66BA0F-8B96-4CA0-9BE2-6E2DDD2A904B}"/>
              </a:ext>
            </a:extLst>
          </p:cNvPr>
          <p:cNvSpPr>
            <a:spLocks xmlns:a="http://schemas.openxmlformats.org/drawingml/2006/main" noGrp="1"/>
          </p:cNvSpPr>
          <p:nvPr/>
        </p:nvSpPr>
        <p:spPr>
          <a:xfrm xmlns:a="http://schemas.openxmlformats.org/drawingml/2006/main">
            <a:off x="571500" y="753427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Ook bij hogere vaste kosten blijft deze marginale vergelijking gelijk.</a:t>
            </a:r>
          </a:p>
        </p:txBody>
      </p:sp>
    </p:spTree>
    <p:extLst>
      <p:ext uri="{BB962C8B-B14F-4D97-AF65-F5344CB8AC3E}">
        <p14:creationId xmlns:p14="http://schemas.microsoft.com/office/powerpoint/2010/main" val="3170711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1.4 Winstmaximalisatie bij monopolie">
            <a:extLst xmlns:a="http://schemas.openxmlformats.org/drawingml/2006/main">
              <a:ext uri="{FF2B5EF4-FFF2-40B4-BE49-F238E27FC236}">
                <a16:creationId xmlns:a16="http://schemas.microsoft.com/office/drawing/2014/main" id="{51BA1B9F-0D95-4E77-B374-F80BCBF7080E}"/>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Deze les: §4.1.4 Winstmaximalisatie bij monopolie</a:t>
            </a:r>
          </a:p>
        </p:txBody>
      </p:sp>
      <p:sp>
        <p:nvSpPr>
          <p:cNvPr id="2" name="">
            <a:extLst xmlns:a="http://schemas.openxmlformats.org/drawingml/2006/main">
              <a:ext uri="{FF2B5EF4-FFF2-40B4-BE49-F238E27FC236}">
                <a16:creationId xmlns:a16="http://schemas.microsoft.com/office/drawing/2014/main" id="{78DC1000-3652-4EFC-8E7E-CCA1BB9DCB9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a:extLst xmlns:a="http://schemas.openxmlformats.org/drawingml/2006/main">
              <a:ext uri="{FF2B5EF4-FFF2-40B4-BE49-F238E27FC236}">
                <a16:creationId xmlns:a16="http://schemas.microsoft.com/office/drawing/2014/main" id="{BB04C62F-CC28-4B8F-9E15-A75F4D72393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a:t>
            </a:r>
          </a:p>
        </p:txBody>
      </p:sp>
      <p:sp>
        <p:nvSpPr>
          <p:cNvPr id="4" name="13">
            <a:extLst xmlns:a="http://schemas.openxmlformats.org/drawingml/2006/main">
              <a:ext uri="{FF2B5EF4-FFF2-40B4-BE49-F238E27FC236}">
                <a16:creationId xmlns:a16="http://schemas.microsoft.com/office/drawing/2014/main" id="{C37BDD79-C3B6-4011-83ED-4E319C48A7B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phase">
            <a:extLst xmlns:a="http://schemas.openxmlformats.org/drawingml/2006/main">
              <a:ext uri="{FF2B5EF4-FFF2-40B4-BE49-F238E27FC236}">
                <a16:creationId xmlns:a16="http://schemas.microsoft.com/office/drawing/2014/main" id="{47FAF5DB-5C99-4FA7-AF64-F91F589219E3}"/>
              </a:ext>
            </a:extLst>
          </p:cNvPr>
          <p:cNvSpPr>
            <a:spLocks xmlns:a="http://schemas.openxmlformats.org/drawingml/2006/main" noGrp="1"/>
          </p:cNvSpPr>
          <p:nvPr/>
        </p:nvSpPr>
        <p:spPr>
          <a:xfrm xmlns:a="http://schemas.openxmlformats.org/drawingml/2006/main">
            <a:off x="571500" y="1066800"/>
            <a:ext cx="1409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3DD521EB-091C-41E5-AD9C-EC708AF04457}"/>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8A3CE92E-260D-4DF4-A639-110ACA27C5BE}"/>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B4E80A60-D39C-4B14-87B9-D55B89773AC8}"/>
              </a:ext>
            </a:extLst>
          </p:cNvPr>
          <p:cNvSpPr>
            <a:spLocks xmlns:a="http://schemas.openxmlformats.org/drawingml/2006/main" noGrp="1"/>
          </p:cNvSpPr>
          <p:nvPr/>
        </p:nvSpPr>
        <p:spPr>
          <a:xfrm xmlns:a="http://schemas.openxmlformats.org/drawingml/2006/main">
            <a:off x="1104900" y="2324100"/>
            <a:ext cx="7562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3E94FD96-311A-4B56-93E9-E8F2E262A537}"/>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32CD2DBF-0025-4EF3-8013-77ACD18428F1}"/>
              </a:ext>
            </a:extLst>
          </p:cNvPr>
          <p:cNvSpPr>
            <a:spLocks xmlns:a="http://schemas.openxmlformats.org/drawingml/2006/main" noGrp="1"/>
          </p:cNvSpPr>
          <p:nvPr/>
        </p:nvSpPr>
        <p:spPr>
          <a:xfrm xmlns:a="http://schemas.openxmlformats.org/drawingml/2006/main">
            <a:off x="1104900" y="3200400"/>
            <a:ext cx="7562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B8E6B3B6-4B0C-4CB5-9136-B3EA82F3AAFC}"/>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3CF39AAF-B95D-4017-90FB-A5D531517699}"/>
              </a:ext>
            </a:extLst>
          </p:cNvPr>
          <p:cNvSpPr>
            <a:spLocks xmlns:a="http://schemas.openxmlformats.org/drawingml/2006/main" noGrp="1"/>
          </p:cNvSpPr>
          <p:nvPr/>
        </p:nvSpPr>
        <p:spPr>
          <a:xfrm xmlns:a="http://schemas.openxmlformats.org/drawingml/2006/main">
            <a:off x="1104900" y="3714750"/>
            <a:ext cx="7562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A8409652-EEB2-47E0-B306-EF5E8C236FE8}"/>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72E7A6F3-44E9-47B6-A9DB-F77B2725C263}"/>
              </a:ext>
            </a:extLst>
          </p:cNvPr>
          <p:cNvSpPr>
            <a:spLocks xmlns:a="http://schemas.openxmlformats.org/drawingml/2006/main" noGrp="1"/>
          </p:cNvSpPr>
          <p:nvPr/>
        </p:nvSpPr>
        <p:spPr>
          <a:xfrm xmlns:a="http://schemas.openxmlformats.org/drawingml/2006/main">
            <a:off x="1104900" y="4248150"/>
            <a:ext cx="75628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8BB603E5-F5CE-4DEA-AA2D-6B8B0E1D08B2}"/>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04C15C45-0E2F-4662-8E0E-26E80720E2E3}"/>
              </a:ext>
            </a:extLst>
          </p:cNvPr>
          <p:cNvSpPr>
            <a:spLocks xmlns:a="http://schemas.openxmlformats.org/drawingml/2006/main" noGrp="1"/>
          </p:cNvSpPr>
          <p:nvPr/>
        </p:nvSpPr>
        <p:spPr>
          <a:xfrm xmlns:a="http://schemas.openxmlformats.org/drawingml/2006/main">
            <a:off x="1104900" y="6057900"/>
            <a:ext cx="7562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C7C8B6FF-79D5-47D0-917F-359E57EDD842}"/>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D4267E4B-3F30-4D05-9B23-C088FC012C68}"/>
              </a:ext>
            </a:extLst>
          </p:cNvPr>
          <p:cNvSpPr>
            <a:spLocks xmlns:a="http://schemas.openxmlformats.org/drawingml/2006/main" noGrp="1"/>
          </p:cNvSpPr>
          <p:nvPr/>
        </p:nvSpPr>
        <p:spPr>
          <a:xfrm xmlns:a="http://schemas.openxmlformats.org/drawingml/2006/main">
            <a:off x="1104900" y="6819900"/>
            <a:ext cx="7562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38.</a:t>
            </a:r>
          </a:p>
        </p:txBody>
      </p:sp>
      <p:sp>
        <p:nvSpPr>
          <p:cNvPr id="19" name="route-number-7">
            <a:extLst xmlns:a="http://schemas.openxmlformats.org/drawingml/2006/main">
              <a:ext uri="{FF2B5EF4-FFF2-40B4-BE49-F238E27FC236}">
                <a16:creationId xmlns:a16="http://schemas.microsoft.com/office/drawing/2014/main" id="{F3E5C981-6C44-41EE-97E7-1DCFFCF40331}"/>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4714A3CB-7303-420D-83A9-76FD1209C540}"/>
              </a:ext>
            </a:extLst>
          </p:cNvPr>
          <p:cNvSpPr>
            <a:spLocks xmlns:a="http://schemas.openxmlformats.org/drawingml/2006/main" noGrp="1"/>
          </p:cNvSpPr>
          <p:nvPr/>
        </p:nvSpPr>
        <p:spPr>
          <a:xfrm xmlns:a="http://schemas.openxmlformats.org/drawingml/2006/main">
            <a:off x="1104900" y="7372350"/>
            <a:ext cx="7562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72C75159-26C5-4442-8005-F02D47B46EF6}"/>
              </a:ext>
            </a:extLst>
          </p:cNvPr>
          <p:cNvSpPr>
            <a:spLocks xmlns:a="http://schemas.openxmlformats.org/drawingml/2006/main" noGrp="1"/>
          </p:cNvSpPr>
          <p:nvPr/>
        </p:nvSpPr>
        <p:spPr>
          <a:xfrm xmlns:a="http://schemas.openxmlformats.org/drawingml/2006/main">
            <a:off x="9258300" y="17621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EB4EF783-ECFF-4C80-855E-3A7770D836FE}"/>
              </a:ext>
            </a:extLst>
          </p:cNvPr>
          <p:cNvSpPr>
            <a:spLocks xmlns:a="http://schemas.openxmlformats.org/drawingml/2006/main" noGrp="1"/>
          </p:cNvSpPr>
          <p:nvPr/>
        </p:nvSpPr>
        <p:spPr>
          <a:xfrm xmlns:a="http://schemas.openxmlformats.org/drawingml/2006/main">
            <a:off x="9258300" y="2324100"/>
            <a:ext cx="5410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Haalbare q kiezen en controleren.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 op GO lezen, winst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grafische route uitleggen.</a:t>
            </a:r>
          </a:p>
        </p:txBody>
      </p:sp>
      <p:sp>
        <p:nvSpPr>
          <p:cNvPr id="23" name="">
            <a:extLst xmlns:a="http://schemas.openxmlformats.org/drawingml/2006/main">
              <a:ext uri="{FF2B5EF4-FFF2-40B4-BE49-F238E27FC236}">
                <a16:creationId xmlns:a16="http://schemas.microsoft.com/office/drawing/2014/main" id="{34ABEB7D-D853-4510-82D5-0991276BDE5A}"/>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3E4B52A2-F1A4-4A79-AE73-754710B220F8}"/>
              </a:ext>
            </a:extLst>
          </p:cNvPr>
          <p:cNvSpPr>
            <a:spLocks xmlns:a="http://schemas.openxmlformats.org/drawingml/2006/main" noGrp="1"/>
          </p:cNvSpPr>
          <p:nvPr/>
        </p:nvSpPr>
        <p:spPr>
          <a:xfrm xmlns:a="http://schemas.openxmlformats.org/drawingml/2006/main">
            <a:off x="9258300" y="38385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B2634D60-14EB-4FC2-92FA-32BD7E91B3CB}"/>
              </a:ext>
            </a:extLst>
          </p:cNvPr>
          <p:cNvSpPr>
            <a:spLocks xmlns:a="http://schemas.openxmlformats.org/drawingml/2006/main" noGrp="1"/>
          </p:cNvSpPr>
          <p:nvPr/>
        </p:nvSpPr>
        <p:spPr>
          <a:xfrm xmlns:a="http://schemas.openxmlformats.org/drawingml/2006/main">
            <a:off x="9258300" y="4371975"/>
            <a:ext cx="54102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41 · Opgaven 31 en 32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32: verkennen met theorie p. 37</a:t>
            </a:r>
          </a:p>
        </p:txBody>
      </p:sp>
      <p:sp>
        <p:nvSpPr>
          <p:cNvPr id="26" name="">
            <a:extLst xmlns:a="http://schemas.openxmlformats.org/drawingml/2006/main">
              <a:ext uri="{FF2B5EF4-FFF2-40B4-BE49-F238E27FC236}">
                <a16:creationId xmlns:a16="http://schemas.microsoft.com/office/drawing/2014/main" id="{88416435-2F8B-4F03-90B2-75089371245D}"/>
              </a:ext>
            </a:extLst>
          </p:cNvPr>
          <p:cNvSpPr>
            <a:spLocks xmlns:a="http://schemas.openxmlformats.org/drawingml/2006/main" noGrp="1"/>
          </p:cNvSpPr>
          <p:nvPr/>
        </p:nvSpPr>
        <p:spPr>
          <a:xfrm xmlns:a="http://schemas.openxmlformats.org/drawingml/2006/main">
            <a:off x="9258300" y="55245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FC316DD7-4B3C-4287-A537-D9891012C955}"/>
              </a:ext>
            </a:extLst>
          </p:cNvPr>
          <p:cNvSpPr>
            <a:spLocks xmlns:a="http://schemas.openxmlformats.org/drawingml/2006/main" noGrp="1"/>
          </p:cNvSpPr>
          <p:nvPr/>
        </p:nvSpPr>
        <p:spPr>
          <a:xfrm xmlns:a="http://schemas.openxmlformats.org/drawingml/2006/main">
            <a:off x="9258300" y="581025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CA7C84C7-EBAC-4949-B97C-BCD0C6088136}"/>
              </a:ext>
            </a:extLst>
          </p:cNvPr>
          <p:cNvSpPr>
            <a:spLocks xmlns:a="http://schemas.openxmlformats.org/drawingml/2006/main" noGrp="1"/>
          </p:cNvSpPr>
          <p:nvPr/>
        </p:nvSpPr>
        <p:spPr>
          <a:xfrm xmlns:a="http://schemas.openxmlformats.org/drawingml/2006/main">
            <a:off x="9258300" y="6372225"/>
            <a:ext cx="54102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§4.1.4 · 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33, 34 en 35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36 en 37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38</a:t>
            </a:r>
          </a:p>
        </p:txBody>
      </p:sp>
    </p:spTree>
    <p:extLst>
      <p:ext uri="{BB962C8B-B14F-4D97-AF65-F5344CB8AC3E}">
        <p14:creationId xmlns:p14="http://schemas.microsoft.com/office/powerpoint/2010/main" val="191022655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8 · Korrels Nova">
            <a:extLst xmlns:a="http://schemas.openxmlformats.org/drawingml/2006/main">
              <a:ext uri="{FF2B5EF4-FFF2-40B4-BE49-F238E27FC236}">
                <a16:creationId xmlns:a16="http://schemas.microsoft.com/office/drawing/2014/main" id="{1EAF53D1-DC52-4798-A74F-43AF68A2FA2A}"/>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38 · Korrels Nova</a:t>
            </a:r>
          </a:p>
        </p:txBody>
      </p:sp>
      <p:sp>
        <p:nvSpPr>
          <p:cNvPr id="2" name="">
            <a:extLst xmlns:a="http://schemas.openxmlformats.org/drawingml/2006/main">
              <a:ext uri="{FF2B5EF4-FFF2-40B4-BE49-F238E27FC236}">
                <a16:creationId xmlns:a16="http://schemas.microsoft.com/office/drawing/2014/main" id="{4C0498D9-430F-495D-B94F-0795A3295A4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 Opgave 38 · Boekpagina ">
            <a:extLst xmlns:a="http://schemas.openxmlformats.org/drawingml/2006/main">
              <a:ext uri="{FF2B5EF4-FFF2-40B4-BE49-F238E27FC236}">
                <a16:creationId xmlns:a16="http://schemas.microsoft.com/office/drawing/2014/main" id="{832C34A0-6383-46E6-B7A3-5CA3EA809D6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 · Opgave 38 · Boekpagina 44</a:t>
            </a:r>
          </a:p>
        </p:txBody>
      </p:sp>
      <p:sp>
        <p:nvSpPr>
          <p:cNvPr id="4" name="14">
            <a:extLst xmlns:a="http://schemas.openxmlformats.org/drawingml/2006/main">
              <a:ext uri="{FF2B5EF4-FFF2-40B4-BE49-F238E27FC236}">
                <a16:creationId xmlns:a16="http://schemas.microsoft.com/office/drawing/2014/main" id="{EF0DD85F-3135-44A2-946D-838245926BE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Nova is de enige aanbieder van een specifiek materiaal.">
            <a:extLst xmlns:a="http://schemas.openxmlformats.org/drawingml/2006/main">
              <a:ext uri="{FF2B5EF4-FFF2-40B4-BE49-F238E27FC236}">
                <a16:creationId xmlns:a16="http://schemas.microsoft.com/office/drawing/2014/main" id="{F09642F4-CB40-4A85-A6FE-698B369F0995}"/>
              </a:ext>
            </a:extLst>
          </p:cNvPr>
          <p:cNvSpPr>
            <a:spLocks xmlns:a="http://schemas.openxmlformats.org/drawingml/2006/main" noGrp="1"/>
          </p:cNvSpPr>
          <p:nvPr/>
        </p:nvSpPr>
        <p:spPr>
          <a:xfrm xmlns:a="http://schemas.openxmlformats.org/drawingml/2006/main">
            <a:off x="571500" y="1952625"/>
            <a:ext cx="14097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Nova is de enige aanbieder van een specifiek materiaal.</a:t>
            </a:r>
          </a:p>
        </p:txBody>
      </p:sp>
      <p:sp>
        <p:nvSpPr>
          <p:cNvPr id="6" name="P = 40 − 0,25q&#10;TK = 0,125q² + 10q + 200">
            <a:extLst xmlns:a="http://schemas.openxmlformats.org/drawingml/2006/main">
              <a:ext uri="{FF2B5EF4-FFF2-40B4-BE49-F238E27FC236}">
                <a16:creationId xmlns:a16="http://schemas.microsoft.com/office/drawing/2014/main" id="{05E604FA-DCA0-40C5-B1F5-392519DF76BC}"/>
              </a:ext>
            </a:extLst>
          </p:cNvPr>
          <p:cNvSpPr>
            <a:spLocks xmlns:a="http://schemas.openxmlformats.org/drawingml/2006/main" noGrp="1"/>
          </p:cNvSpPr>
          <p:nvPr/>
        </p:nvSpPr>
        <p:spPr>
          <a:xfrm xmlns:a="http://schemas.openxmlformats.org/drawingml/2006/main">
            <a:off x="571500" y="3124200"/>
            <a:ext cx="1409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7658A"/>
                </a:solidFill>
                <a:latin typeface="Arial"/>
                <a:ea typeface="Arial"/>
                <a:cs typeface="Arial"/>
              </a:defRPr>
            </a:pPr>
            <a:r>
              <a:rPr sz="3675" b="1">
                <a:solidFill>
                  <a:srgbClr val="17658A"/>
                </a:solidFill>
                <a:latin typeface="Arial"/>
                <a:ea typeface="Arial"/>
                <a:cs typeface="Arial"/>
              </a:rPr>
              <a:t>P = 40 − 0,25q</a:t>
            </a:r>
          </a:p>
          <a:p xmlns:a="http://schemas.openxmlformats.org/drawingml/2006/main">
            <a:pPr algn="l">
              <a:defRPr sz="3675" b="1">
                <a:solidFill>
                  <a:srgbClr val="17658A"/>
                </a:solidFill>
                <a:latin typeface="Arial"/>
                <a:ea typeface="Arial"/>
                <a:cs typeface="Arial"/>
              </a:defRPr>
            </a:pPr>
            <a:r>
              <a:rPr sz="3675" b="1">
                <a:solidFill>
                  <a:srgbClr val="17658A"/>
                </a:solidFill>
                <a:latin typeface="Arial"/>
                <a:ea typeface="Arial"/>
                <a:cs typeface="Arial"/>
              </a:rPr>
              <a:t>TK = 0,125q² + 10q + 200</a:t>
            </a:r>
          </a:p>
        </p:txBody>
      </p:sp>
      <p:sp>
        <p:nvSpPr>
          <p:cNvPr id="7" name="q: kg per week · P: € per kg · TK: € per week">
            <a:extLst xmlns:a="http://schemas.openxmlformats.org/drawingml/2006/main">
              <a:ext uri="{FF2B5EF4-FFF2-40B4-BE49-F238E27FC236}">
                <a16:creationId xmlns:a16="http://schemas.microsoft.com/office/drawing/2014/main" id="{777DC1B6-684C-47A9-A3DF-E5D0B65AEF45}"/>
              </a:ext>
            </a:extLst>
          </p:cNvPr>
          <p:cNvSpPr>
            <a:spLocks xmlns:a="http://schemas.openxmlformats.org/drawingml/2006/main" noGrp="1"/>
          </p:cNvSpPr>
          <p:nvPr/>
        </p:nvSpPr>
        <p:spPr>
          <a:xfrm xmlns:a="http://schemas.openxmlformats.org/drawingml/2006/main">
            <a:off x="571500" y="52387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q: kg per week · P: € per kg · TK: € per week</a:t>
            </a:r>
          </a:p>
        </p:txBody>
      </p:sp>
      <p:sp>
        <p:nvSpPr>
          <p:cNvPr id="8" name="Capaciteit: 80 kg. De € 200 is ook bij q = 0 onvermijdbaar.&#10;De ho">
            <a:extLst xmlns:a="http://schemas.openxmlformats.org/drawingml/2006/main">
              <a:ext uri="{FF2B5EF4-FFF2-40B4-BE49-F238E27FC236}">
                <a16:creationId xmlns:a16="http://schemas.microsoft.com/office/drawing/2014/main" id="{2AB06551-646B-4D4D-8ED3-212D7D6EED92}"/>
              </a:ext>
            </a:extLst>
          </p:cNvPr>
          <p:cNvSpPr>
            <a:spLocks xmlns:a="http://schemas.openxmlformats.org/drawingml/2006/main" noGrp="1"/>
          </p:cNvSpPr>
          <p:nvPr/>
        </p:nvSpPr>
        <p:spPr>
          <a:xfrm xmlns:a="http://schemas.openxmlformats.org/drawingml/2006/main">
            <a:off x="571500" y="6353175"/>
            <a:ext cx="14097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Capaciteit: 80 kg. De € 200 is ook bij q = 0 onvermijdbaar.</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hoeveelheden zijn deelbaar. Iedere kg heeft binnen een</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verkoopplan dezelfde prijs.</a:t>
            </a:r>
          </a:p>
        </p:txBody>
      </p:sp>
    </p:spTree>
    <p:extLst>
      <p:ext uri="{BB962C8B-B14F-4D97-AF65-F5344CB8AC3E}">
        <p14:creationId xmlns:p14="http://schemas.microsoft.com/office/powerpoint/2010/main" val="102922204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38 · Figuur 20">
            <a:extLst xmlns:a="http://schemas.openxmlformats.org/drawingml/2006/main">
              <a:ext uri="{FF2B5EF4-FFF2-40B4-BE49-F238E27FC236}">
                <a16:creationId xmlns:a16="http://schemas.microsoft.com/office/drawing/2014/main" id="{1E8EE5B5-5CD2-45BD-B4EC-DB600AA48DED}"/>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38 · Figuur 20</a:t>
            </a:r>
          </a:p>
        </p:txBody>
      </p:sp>
      <p:sp>
        <p:nvSpPr>
          <p:cNvPr id="2" name="">
            <a:extLst xmlns:a="http://schemas.openxmlformats.org/drawingml/2006/main">
              <a:ext uri="{FF2B5EF4-FFF2-40B4-BE49-F238E27FC236}">
                <a16:creationId xmlns:a16="http://schemas.microsoft.com/office/drawing/2014/main" id="{E7E9E243-E27D-4D86-99F3-75EA0F7C548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 Opgave 38 · Boekpagina ">
            <a:extLst xmlns:a="http://schemas.openxmlformats.org/drawingml/2006/main">
              <a:ext uri="{FF2B5EF4-FFF2-40B4-BE49-F238E27FC236}">
                <a16:creationId xmlns:a16="http://schemas.microsoft.com/office/drawing/2014/main" id="{CDD79A48-5721-4D17-B816-0F1027C84EC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 · Opgave 38 · Boekpagina 44</a:t>
            </a:r>
          </a:p>
        </p:txBody>
      </p:sp>
      <p:sp>
        <p:nvSpPr>
          <p:cNvPr id="4" name="15">
            <a:extLst xmlns:a="http://schemas.openxmlformats.org/drawingml/2006/main">
              <a:ext uri="{FF2B5EF4-FFF2-40B4-BE49-F238E27FC236}">
                <a16:creationId xmlns:a16="http://schemas.microsoft.com/office/drawing/2014/main" id="{CD5540B6-FD2A-4FCA-BA2D-6DC2DEE01D7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graphicFrame>
        <p:nvGraphicFramePr>
          <p:cNvPr id="11" name="Chart"/>
          <p:cNvGraphicFramePr/>
          <p:nvPr/>
        </p:nvGraphicFramePr>
        <p:xfrm>
          <a:off xmlns:a="http://schemas.openxmlformats.org/drawingml/2006/main" x="571500" y="2505075"/>
          <a:ext xmlns:a="http://schemas.openxmlformats.org/drawingml/2006/main" cx="14097000" cy="5191125"/>
        </p:xfrm>
        <a:graphic xmlns:a="http://schemas.openxmlformats.org/drawingml/2006/main">
          <a:graphicData uri="http://schemas.openxmlformats.org/drawingml/2006/chart">
            <c:chart xmlns:r="http://schemas.openxmlformats.org/officeDocument/2006/relationships" xmlns:c="http://schemas.openxmlformats.org/drawingml/2006/chart" r:id="R4ff5dc25a2cf4d6c"/>
          </a:graphicData>
        </a:graphic>
      </p:graphicFrame>
      <p:sp>
        <p:nvSpPr>
          <p:cNvPr id="6" name="Gebruik deze grafiek bij de bron en de deelvragen.">
            <a:extLst xmlns:a="http://schemas.openxmlformats.org/drawingml/2006/main">
              <a:ext uri="{FF2B5EF4-FFF2-40B4-BE49-F238E27FC236}">
                <a16:creationId xmlns:a16="http://schemas.microsoft.com/office/drawing/2014/main" id="{A19FEEB2-7357-43E2-8BBB-EEE9421D172F}"/>
              </a:ext>
            </a:extLst>
          </p:cNvPr>
          <p:cNvSpPr>
            <a:spLocks xmlns:a="http://schemas.openxmlformats.org/drawingml/2006/main" noGrp="1"/>
          </p:cNvSpPr>
          <p:nvPr/>
        </p:nvSpPr>
        <p:spPr>
          <a:xfrm xmlns:a="http://schemas.openxmlformats.org/drawingml/2006/main">
            <a:off x="571500" y="176212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Gebruik deze grafiek bij de bron en de deelvragen.</a:t>
            </a:r>
          </a:p>
        </p:txBody>
      </p:sp>
    </p:spTree>
    <p:extLst>
      <p:ext uri="{BB962C8B-B14F-4D97-AF65-F5344CB8AC3E}">
        <p14:creationId xmlns:p14="http://schemas.microsoft.com/office/powerpoint/2010/main" val="5495016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8 · Deelvragen a, b en c">
            <a:extLst xmlns:a="http://schemas.openxmlformats.org/drawingml/2006/main">
              <a:ext uri="{FF2B5EF4-FFF2-40B4-BE49-F238E27FC236}">
                <a16:creationId xmlns:a16="http://schemas.microsoft.com/office/drawing/2014/main" id="{DCE3EFC3-2D6F-4997-A556-1897C21651A8}"/>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38 · Deelvragen a, b en c</a:t>
            </a:r>
          </a:p>
        </p:txBody>
      </p:sp>
      <p:sp>
        <p:nvSpPr>
          <p:cNvPr id="2" name="">
            <a:extLst xmlns:a="http://schemas.openxmlformats.org/drawingml/2006/main">
              <a:ext uri="{FF2B5EF4-FFF2-40B4-BE49-F238E27FC236}">
                <a16:creationId xmlns:a16="http://schemas.microsoft.com/office/drawing/2014/main" id="{B59B2BA1-0804-4A4F-BE31-E39BC496202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 Opgave 38 · Boekpagina ">
            <a:extLst xmlns:a="http://schemas.openxmlformats.org/drawingml/2006/main">
              <a:ext uri="{FF2B5EF4-FFF2-40B4-BE49-F238E27FC236}">
                <a16:creationId xmlns:a16="http://schemas.microsoft.com/office/drawing/2014/main" id="{9B6DA5D4-329C-4504-9463-0F9BF3A6273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 · Opgave 38 · Boekpagina 44</a:t>
            </a:r>
          </a:p>
        </p:txBody>
      </p:sp>
      <p:sp>
        <p:nvSpPr>
          <p:cNvPr id="4" name="16">
            <a:extLst xmlns:a="http://schemas.openxmlformats.org/drawingml/2006/main">
              <a:ext uri="{FF2B5EF4-FFF2-40B4-BE49-F238E27FC236}">
                <a16:creationId xmlns:a16="http://schemas.microsoft.com/office/drawing/2014/main" id="{AEA9BEB4-CE60-46F0-AB55-4BD9202626D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a. (2p) Stel TO, MO en MK op.">
            <a:extLst xmlns:a="http://schemas.openxmlformats.org/drawingml/2006/main">
              <a:ext uri="{FF2B5EF4-FFF2-40B4-BE49-F238E27FC236}">
                <a16:creationId xmlns:a16="http://schemas.microsoft.com/office/drawing/2014/main" id="{AB05B599-D8B0-42F6-BCCE-439BF272AAB3}"/>
              </a:ext>
            </a:extLst>
          </p:cNvPr>
          <p:cNvSpPr>
            <a:spLocks xmlns:a="http://schemas.openxmlformats.org/drawingml/2006/main" noGrp="1"/>
          </p:cNvSpPr>
          <p:nvPr/>
        </p:nvSpPr>
        <p:spPr>
          <a:xfrm xmlns:a="http://schemas.openxmlformats.org/drawingml/2006/main">
            <a:off x="571500" y="1990725"/>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a. (2p) Stel TO, MO en MK op.</a:t>
            </a:r>
          </a:p>
        </p:txBody>
      </p:sp>
      <p:sp>
        <p:nvSpPr>
          <p:cNvPr id="6" name="">
            <a:extLst xmlns:a="http://schemas.openxmlformats.org/drawingml/2006/main">
              <a:ext uri="{FF2B5EF4-FFF2-40B4-BE49-F238E27FC236}">
                <a16:creationId xmlns:a16="http://schemas.microsoft.com/office/drawing/2014/main" id="{4D5F67B4-B896-49EF-9BF0-517645331488}"/>
              </a:ext>
            </a:extLst>
          </p:cNvPr>
          <p:cNvSpPr>
            <a:spLocks xmlns:a="http://schemas.openxmlformats.org/drawingml/2006/main" noGrp="1"/>
          </p:cNvSpPr>
          <p:nvPr/>
        </p:nvSpPr>
        <p:spPr>
          <a:xfrm xmlns:a="http://schemas.openxmlformats.org/drawingml/2006/main">
            <a:off x="571500" y="3257550"/>
            <a:ext cx="14097000" cy="0"/>
          </a:xfrm>
          <a:prstGeom xmlns:a="http://schemas.openxmlformats.org/drawingml/2006/main" prst="line">
            <a:avLst/>
          </a:prstGeom>
          <a:ln xmlns:a="http://schemas.openxmlformats.org/drawingml/2006/main" w="19050">
            <a:solidFill>
              <a:srgbClr val="C6D2DB"/>
            </a:solidFill>
          </a:ln>
        </p:spPr>
      </p:sp>
      <p:sp>
        <p:nvSpPr>
          <p:cNvPr id="7" name="b. (3p) Bereken de winstmaximale haalbare q.&#10;Controleer het verlo">
            <a:extLst xmlns:a="http://schemas.openxmlformats.org/drawingml/2006/main">
              <a:ext uri="{FF2B5EF4-FFF2-40B4-BE49-F238E27FC236}">
                <a16:creationId xmlns:a16="http://schemas.microsoft.com/office/drawing/2014/main" id="{EDA8634C-AF92-40F1-BD12-F81B5B9A34F7}"/>
              </a:ext>
            </a:extLst>
          </p:cNvPr>
          <p:cNvSpPr>
            <a:spLocks xmlns:a="http://schemas.openxmlformats.org/drawingml/2006/main" noGrp="1"/>
          </p:cNvSpPr>
          <p:nvPr/>
        </p:nvSpPr>
        <p:spPr>
          <a:xfrm xmlns:a="http://schemas.openxmlformats.org/drawingml/2006/main">
            <a:off x="571500" y="3724275"/>
            <a:ext cx="14097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 (3p) Bereken de winstmaximale haalbare q.</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Controleer het verloop van MO tegenover MK en de capaciteit.</a:t>
            </a:r>
          </a:p>
        </p:txBody>
      </p:sp>
      <p:sp>
        <p:nvSpPr>
          <p:cNvPr id="8" name="">
            <a:extLst xmlns:a="http://schemas.openxmlformats.org/drawingml/2006/main">
              <a:ext uri="{FF2B5EF4-FFF2-40B4-BE49-F238E27FC236}">
                <a16:creationId xmlns:a16="http://schemas.microsoft.com/office/drawing/2014/main" id="{3E857A44-CE70-445D-A87D-B8A7DCB38CD4}"/>
              </a:ext>
            </a:extLst>
          </p:cNvPr>
          <p:cNvSpPr>
            <a:spLocks xmlns:a="http://schemas.openxmlformats.org/drawingml/2006/main" noGrp="1"/>
          </p:cNvSpPr>
          <p:nvPr/>
        </p:nvSpPr>
        <p:spPr>
          <a:xfrm xmlns:a="http://schemas.openxmlformats.org/drawingml/2006/main">
            <a:off x="571500" y="5657850"/>
            <a:ext cx="14097000" cy="0"/>
          </a:xfrm>
          <a:prstGeom xmlns:a="http://schemas.openxmlformats.org/drawingml/2006/main" prst="line">
            <a:avLst/>
          </a:prstGeom>
          <a:ln xmlns:a="http://schemas.openxmlformats.org/drawingml/2006/main" w="19050">
            <a:solidFill>
              <a:srgbClr val="C6D2DB"/>
            </a:solidFill>
          </a:ln>
        </p:spPr>
      </p:sp>
      <p:sp>
        <p:nvSpPr>
          <p:cNvPr id="9" name="c. (1p) Bereken de bijbehorende verkoopprijs.">
            <a:extLst xmlns:a="http://schemas.openxmlformats.org/drawingml/2006/main">
              <a:ext uri="{FF2B5EF4-FFF2-40B4-BE49-F238E27FC236}">
                <a16:creationId xmlns:a16="http://schemas.microsoft.com/office/drawing/2014/main" id="{5C349CFE-1AAC-4E1B-BB19-83D5A5CB8EC4}"/>
              </a:ext>
            </a:extLst>
          </p:cNvPr>
          <p:cNvSpPr>
            <a:spLocks xmlns:a="http://schemas.openxmlformats.org/drawingml/2006/main" noGrp="1"/>
          </p:cNvSpPr>
          <p:nvPr/>
        </p:nvSpPr>
        <p:spPr>
          <a:xfrm xmlns:a="http://schemas.openxmlformats.org/drawingml/2006/main">
            <a:off x="571500" y="6276975"/>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c. (1p) Bereken de bijbehorende verkoopprijs.</a:t>
            </a:r>
          </a:p>
        </p:txBody>
      </p:sp>
    </p:spTree>
    <p:extLst>
      <p:ext uri="{BB962C8B-B14F-4D97-AF65-F5344CB8AC3E}">
        <p14:creationId xmlns:p14="http://schemas.microsoft.com/office/powerpoint/2010/main" val="3657916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8 · Deelvragen d, e en f">
            <a:extLst xmlns:a="http://schemas.openxmlformats.org/drawingml/2006/main">
              <a:ext uri="{FF2B5EF4-FFF2-40B4-BE49-F238E27FC236}">
                <a16:creationId xmlns:a16="http://schemas.microsoft.com/office/drawing/2014/main" id="{57136891-7E96-4211-95AE-B18517B0B1AA}"/>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38 · Deelvragen d, e en f</a:t>
            </a:r>
          </a:p>
        </p:txBody>
      </p:sp>
      <p:sp>
        <p:nvSpPr>
          <p:cNvPr id="2" name="">
            <a:extLst xmlns:a="http://schemas.openxmlformats.org/drawingml/2006/main">
              <a:ext uri="{FF2B5EF4-FFF2-40B4-BE49-F238E27FC236}">
                <a16:creationId xmlns:a16="http://schemas.microsoft.com/office/drawing/2014/main" id="{CDFF150A-EEBD-4838-BBB3-ED92B9329F8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 Opgave 38 · Boekpagina ">
            <a:extLst xmlns:a="http://schemas.openxmlformats.org/drawingml/2006/main">
              <a:ext uri="{FF2B5EF4-FFF2-40B4-BE49-F238E27FC236}">
                <a16:creationId xmlns:a16="http://schemas.microsoft.com/office/drawing/2014/main" id="{93F65BF6-BED8-42EF-B502-80CA45D6DE1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 · Opgave 38 · Boekpagina 44</a:t>
            </a:r>
          </a:p>
        </p:txBody>
      </p:sp>
      <p:sp>
        <p:nvSpPr>
          <p:cNvPr id="4" name="17">
            <a:extLst xmlns:a="http://schemas.openxmlformats.org/drawingml/2006/main">
              <a:ext uri="{FF2B5EF4-FFF2-40B4-BE49-F238E27FC236}">
                <a16:creationId xmlns:a16="http://schemas.microsoft.com/office/drawing/2014/main" id="{2FC34624-1504-4BB6-88E3-7DA7EE56A06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d. (3p) Bereken TO, TK, winst en GTK.&#10;Controleer ook de uitkomst ">
            <a:extLst xmlns:a="http://schemas.openxmlformats.org/drawingml/2006/main">
              <a:ext uri="{FF2B5EF4-FFF2-40B4-BE49-F238E27FC236}">
                <a16:creationId xmlns:a16="http://schemas.microsoft.com/office/drawing/2014/main" id="{E36B7DD1-906C-4499-85F9-2BF43EAE1164}"/>
              </a:ext>
            </a:extLst>
          </p:cNvPr>
          <p:cNvSpPr>
            <a:spLocks xmlns:a="http://schemas.openxmlformats.org/drawingml/2006/main" noGrp="1"/>
          </p:cNvSpPr>
          <p:nvPr/>
        </p:nvSpPr>
        <p:spPr>
          <a:xfrm xmlns:a="http://schemas.openxmlformats.org/drawingml/2006/main">
            <a:off x="571500" y="1857375"/>
            <a:ext cx="14097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 (3p) Bereken TO, TK, winst en GTK.</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Controleer ook de uitkomst bij q = 0.</a:t>
            </a:r>
          </a:p>
        </p:txBody>
      </p:sp>
      <p:sp>
        <p:nvSpPr>
          <p:cNvPr id="6" name="">
            <a:extLst xmlns:a="http://schemas.openxmlformats.org/drawingml/2006/main">
              <a:ext uri="{FF2B5EF4-FFF2-40B4-BE49-F238E27FC236}">
                <a16:creationId xmlns:a16="http://schemas.microsoft.com/office/drawing/2014/main" id="{816DAA2A-A0FE-4F8E-A493-2A834D1115FF}"/>
              </a:ext>
            </a:extLst>
          </p:cNvPr>
          <p:cNvSpPr>
            <a:spLocks xmlns:a="http://schemas.openxmlformats.org/drawingml/2006/main" noGrp="1"/>
          </p:cNvSpPr>
          <p:nvPr/>
        </p:nvSpPr>
        <p:spPr>
          <a:xfrm xmlns:a="http://schemas.openxmlformats.org/drawingml/2006/main">
            <a:off x="571500" y="3390900"/>
            <a:ext cx="14097000" cy="0"/>
          </a:xfrm>
          <a:prstGeom xmlns:a="http://schemas.openxmlformats.org/drawingml/2006/main" prst="line">
            <a:avLst/>
          </a:prstGeom>
          <a:ln xmlns:a="http://schemas.openxmlformats.org/drawingml/2006/main" w="19050">
            <a:solidFill>
              <a:srgbClr val="C6D2DB"/>
            </a:solidFill>
          </a:ln>
        </p:spPr>
      </p:sp>
      <p:sp>
        <p:nvSpPr>
          <p:cNvPr id="7" name="e. (2p) Markeer in de grafiek de gekozen q en P.&#10;Maak met hulplij">
            <a:extLst xmlns:a="http://schemas.openxmlformats.org/drawingml/2006/main">
              <a:ext uri="{FF2B5EF4-FFF2-40B4-BE49-F238E27FC236}">
                <a16:creationId xmlns:a16="http://schemas.microsoft.com/office/drawing/2014/main" id="{69867C74-266A-4BF4-82B1-CBD915590BDF}"/>
              </a:ext>
            </a:extLst>
          </p:cNvPr>
          <p:cNvSpPr>
            <a:spLocks xmlns:a="http://schemas.openxmlformats.org/drawingml/2006/main" noGrp="1"/>
          </p:cNvSpPr>
          <p:nvPr/>
        </p:nvSpPr>
        <p:spPr>
          <a:xfrm xmlns:a="http://schemas.openxmlformats.org/drawingml/2006/main">
            <a:off x="571500" y="3743325"/>
            <a:ext cx="140970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 (2p) Markeer in de grafiek de gekozen q en P.</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Maak met hulplijnen zichtbaar hoe je van MO = MK</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naar de verkoopprijs gaat.</a:t>
            </a:r>
          </a:p>
        </p:txBody>
      </p:sp>
      <p:sp>
        <p:nvSpPr>
          <p:cNvPr id="8" name="">
            <a:extLst xmlns:a="http://schemas.openxmlformats.org/drawingml/2006/main">
              <a:ext uri="{FF2B5EF4-FFF2-40B4-BE49-F238E27FC236}">
                <a16:creationId xmlns:a16="http://schemas.microsoft.com/office/drawing/2014/main" id="{416E740B-0F0D-4779-95EC-71887FEA50F4}"/>
              </a:ext>
            </a:extLst>
          </p:cNvPr>
          <p:cNvSpPr>
            <a:spLocks xmlns:a="http://schemas.openxmlformats.org/drawingml/2006/main" noGrp="1"/>
          </p:cNvSpPr>
          <p:nvPr/>
        </p:nvSpPr>
        <p:spPr>
          <a:xfrm xmlns:a="http://schemas.openxmlformats.org/drawingml/2006/main">
            <a:off x="571500" y="5657850"/>
            <a:ext cx="14097000" cy="0"/>
          </a:xfrm>
          <a:prstGeom xmlns:a="http://schemas.openxmlformats.org/drawingml/2006/main" prst="line">
            <a:avLst/>
          </a:prstGeom>
          <a:ln xmlns:a="http://schemas.openxmlformats.org/drawingml/2006/main" w="19050">
            <a:solidFill>
              <a:srgbClr val="C6D2DB"/>
            </a:solidFill>
          </a:ln>
        </p:spPr>
      </p:sp>
      <p:sp>
        <p:nvSpPr>
          <p:cNvPr id="9" name="f. (2p) Een leerling gebruikt P = MK en vindt q = 60.&#10;Leg uit waa">
            <a:extLst xmlns:a="http://schemas.openxmlformats.org/drawingml/2006/main">
              <a:ext uri="{FF2B5EF4-FFF2-40B4-BE49-F238E27FC236}">
                <a16:creationId xmlns:a16="http://schemas.microsoft.com/office/drawing/2014/main" id="{0881151A-5145-4B25-A3C7-A353D94220A1}"/>
              </a:ext>
            </a:extLst>
          </p:cNvPr>
          <p:cNvSpPr>
            <a:spLocks xmlns:a="http://schemas.openxmlformats.org/drawingml/2006/main" noGrp="1"/>
          </p:cNvSpPr>
          <p:nvPr/>
        </p:nvSpPr>
        <p:spPr>
          <a:xfrm xmlns:a="http://schemas.openxmlformats.org/drawingml/2006/main">
            <a:off x="571500" y="6038850"/>
            <a:ext cx="140970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f. (2p) Een leerling gebruikt P = MK en vindt q = 60.</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Leg uit waarom dit niet de juiste winstkeuze is.</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Gebruik de marginale bedragen bij q = 60.</a:t>
            </a:r>
          </a:p>
        </p:txBody>
      </p:sp>
    </p:spTree>
    <p:extLst>
      <p:ext uri="{BB962C8B-B14F-4D97-AF65-F5344CB8AC3E}">
        <p14:creationId xmlns:p14="http://schemas.microsoft.com/office/powerpoint/2010/main" val="11197888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38a · TO, MO en MK">
            <a:extLst xmlns:a="http://schemas.openxmlformats.org/drawingml/2006/main">
              <a:ext uri="{FF2B5EF4-FFF2-40B4-BE49-F238E27FC236}">
                <a16:creationId xmlns:a16="http://schemas.microsoft.com/office/drawing/2014/main" id="{751E723D-A331-4788-B203-7FD0EE60D0CA}"/>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38a · TO, MO en MK</a:t>
            </a:r>
          </a:p>
        </p:txBody>
      </p:sp>
      <p:sp>
        <p:nvSpPr>
          <p:cNvPr id="2" name="">
            <a:extLst xmlns:a="http://schemas.openxmlformats.org/drawingml/2006/main">
              <a:ext uri="{FF2B5EF4-FFF2-40B4-BE49-F238E27FC236}">
                <a16:creationId xmlns:a16="http://schemas.microsoft.com/office/drawing/2014/main" id="{73A62256-2AEA-4589-80C1-E9B1F6FD0C6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 Opgave 38 · Boekpagina ">
            <a:extLst xmlns:a="http://schemas.openxmlformats.org/drawingml/2006/main">
              <a:ext uri="{FF2B5EF4-FFF2-40B4-BE49-F238E27FC236}">
                <a16:creationId xmlns:a16="http://schemas.microsoft.com/office/drawing/2014/main" id="{C9329F9E-FD14-4ADA-9AAD-70F5DB54146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 · Opgave 38 · Boekpagina 44</a:t>
            </a:r>
          </a:p>
        </p:txBody>
      </p:sp>
      <p:sp>
        <p:nvSpPr>
          <p:cNvPr id="4" name="18">
            <a:extLst xmlns:a="http://schemas.openxmlformats.org/drawingml/2006/main">
              <a:ext uri="{FF2B5EF4-FFF2-40B4-BE49-F238E27FC236}">
                <a16:creationId xmlns:a16="http://schemas.microsoft.com/office/drawing/2014/main" id="{A382C3A9-7FAC-4158-9245-BE1A8C9F9B0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TO = (40 − 0,25q) × q = 40q − 0,25q²">
            <a:extLst xmlns:a="http://schemas.openxmlformats.org/drawingml/2006/main">
              <a:ext uri="{FF2B5EF4-FFF2-40B4-BE49-F238E27FC236}">
                <a16:creationId xmlns:a16="http://schemas.microsoft.com/office/drawing/2014/main" id="{CF7AAECD-DE70-44A3-8328-4D4A993C5E08}"/>
              </a:ext>
            </a:extLst>
          </p:cNvPr>
          <p:cNvSpPr>
            <a:spLocks xmlns:a="http://schemas.openxmlformats.org/drawingml/2006/main" noGrp="1"/>
          </p:cNvSpPr>
          <p:nvPr/>
        </p:nvSpPr>
        <p:spPr>
          <a:xfrm xmlns:a="http://schemas.openxmlformats.org/drawingml/2006/main">
            <a:off x="571500" y="198120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TO = (40 − 0,25q) × q = 40q − 0,25q²</a:t>
            </a:r>
          </a:p>
        </p:txBody>
      </p:sp>
      <p:sp>
        <p:nvSpPr>
          <p:cNvPr id="6" name="MO = 40 − 0,50q">
            <a:extLst xmlns:a="http://schemas.openxmlformats.org/drawingml/2006/main">
              <a:ext uri="{FF2B5EF4-FFF2-40B4-BE49-F238E27FC236}">
                <a16:creationId xmlns:a16="http://schemas.microsoft.com/office/drawing/2014/main" id="{C4783BD0-F0F1-484C-B413-5996B550BF37}"/>
              </a:ext>
            </a:extLst>
          </p:cNvPr>
          <p:cNvSpPr>
            <a:spLocks xmlns:a="http://schemas.openxmlformats.org/drawingml/2006/main" noGrp="1"/>
          </p:cNvSpPr>
          <p:nvPr/>
        </p:nvSpPr>
        <p:spPr>
          <a:xfrm xmlns:a="http://schemas.openxmlformats.org/drawingml/2006/main">
            <a:off x="571500" y="3362325"/>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7B2D8E"/>
                </a:solidFill>
                <a:latin typeface="Arial"/>
                <a:ea typeface="Arial"/>
                <a:cs typeface="Arial"/>
              </a:defRPr>
            </a:pPr>
            <a:r>
              <a:rPr sz="3675" b="1">
                <a:solidFill>
                  <a:srgbClr val="7B2D8E"/>
                </a:solidFill>
                <a:latin typeface="Arial"/>
                <a:ea typeface="Arial"/>
                <a:cs typeface="Arial"/>
              </a:rPr>
              <a:t>MO = 40 − 0,50q</a:t>
            </a:r>
          </a:p>
        </p:txBody>
      </p:sp>
      <p:sp>
        <p:nvSpPr>
          <p:cNvPr id="7" name="">
            <a:extLst xmlns:a="http://schemas.openxmlformats.org/drawingml/2006/main">
              <a:ext uri="{FF2B5EF4-FFF2-40B4-BE49-F238E27FC236}">
                <a16:creationId xmlns:a16="http://schemas.microsoft.com/office/drawing/2014/main" id="{4C1396B5-6B50-43DD-BAD8-A3DA2168CDF6}"/>
              </a:ext>
            </a:extLst>
          </p:cNvPr>
          <p:cNvSpPr>
            <a:spLocks xmlns:a="http://schemas.openxmlformats.org/drawingml/2006/main" noGrp="1"/>
          </p:cNvSpPr>
          <p:nvPr/>
        </p:nvSpPr>
        <p:spPr>
          <a:xfrm xmlns:a="http://schemas.openxmlformats.org/drawingml/2006/main">
            <a:off x="571500" y="4552950"/>
            <a:ext cx="14097000" cy="0"/>
          </a:xfrm>
          <a:prstGeom xmlns:a="http://schemas.openxmlformats.org/drawingml/2006/main" prst="line">
            <a:avLst/>
          </a:prstGeom>
          <a:ln xmlns:a="http://schemas.openxmlformats.org/drawingml/2006/main" w="19050">
            <a:solidFill>
              <a:srgbClr val="C6D2DB"/>
            </a:solidFill>
          </a:ln>
        </p:spPr>
      </p:sp>
      <p:sp>
        <p:nvSpPr>
          <p:cNvPr id="8" name="TK = 0,125q² + 10q + 200">
            <a:extLst xmlns:a="http://schemas.openxmlformats.org/drawingml/2006/main">
              <a:ext uri="{FF2B5EF4-FFF2-40B4-BE49-F238E27FC236}">
                <a16:creationId xmlns:a16="http://schemas.microsoft.com/office/drawing/2014/main" id="{84F68DEB-9229-4E26-AAE7-49202D8F5657}"/>
              </a:ext>
            </a:extLst>
          </p:cNvPr>
          <p:cNvSpPr>
            <a:spLocks xmlns:a="http://schemas.openxmlformats.org/drawingml/2006/main" noGrp="1"/>
          </p:cNvSpPr>
          <p:nvPr/>
        </p:nvSpPr>
        <p:spPr>
          <a:xfrm xmlns:a="http://schemas.openxmlformats.org/drawingml/2006/main">
            <a:off x="571500" y="50292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TK = 0,125q² + 10q + 200</a:t>
            </a:r>
          </a:p>
        </p:txBody>
      </p:sp>
      <p:sp>
        <p:nvSpPr>
          <p:cNvPr id="9" name="MK = 0,25q + 10">
            <a:extLst xmlns:a="http://schemas.openxmlformats.org/drawingml/2006/main">
              <a:ext uri="{FF2B5EF4-FFF2-40B4-BE49-F238E27FC236}">
                <a16:creationId xmlns:a16="http://schemas.microsoft.com/office/drawing/2014/main" id="{C1F51FE6-10D3-4CE6-A82F-E2075B742DC9}"/>
              </a:ext>
            </a:extLst>
          </p:cNvPr>
          <p:cNvSpPr>
            <a:spLocks xmlns:a="http://schemas.openxmlformats.org/drawingml/2006/main" noGrp="1"/>
          </p:cNvSpPr>
          <p:nvPr/>
        </p:nvSpPr>
        <p:spPr>
          <a:xfrm xmlns:a="http://schemas.openxmlformats.org/drawingml/2006/main">
            <a:off x="571500" y="62865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A94D16"/>
                </a:solidFill>
                <a:latin typeface="Arial"/>
                <a:ea typeface="Arial"/>
                <a:cs typeface="Arial"/>
              </a:defRPr>
            </a:pPr>
            <a:r>
              <a:rPr sz="3675" b="1">
                <a:solidFill>
                  <a:srgbClr val="A94D16"/>
                </a:solidFill>
                <a:latin typeface="Arial"/>
                <a:ea typeface="Arial"/>
                <a:cs typeface="Arial"/>
              </a:rPr>
              <a:t>MK = 0,25q + 10</a:t>
            </a:r>
          </a:p>
        </p:txBody>
      </p:sp>
      <p:sp>
        <p:nvSpPr>
          <p:cNvPr id="10" name="TO en TK: € per week. MO en MK: € per kg.">
            <a:extLst xmlns:a="http://schemas.openxmlformats.org/drawingml/2006/main">
              <a:ext uri="{FF2B5EF4-FFF2-40B4-BE49-F238E27FC236}">
                <a16:creationId xmlns:a16="http://schemas.microsoft.com/office/drawing/2014/main" id="{2967AC3B-998B-4A24-8E7A-B9B231E47B4D}"/>
              </a:ext>
            </a:extLst>
          </p:cNvPr>
          <p:cNvSpPr>
            <a:spLocks xmlns:a="http://schemas.openxmlformats.org/drawingml/2006/main" noGrp="1"/>
          </p:cNvSpPr>
          <p:nvPr/>
        </p:nvSpPr>
        <p:spPr>
          <a:xfrm xmlns:a="http://schemas.openxmlformats.org/drawingml/2006/main">
            <a:off x="571500" y="7458075"/>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TO en TK: € per week. MO en MK: € per kg.</a:t>
            </a:r>
          </a:p>
        </p:txBody>
      </p:sp>
    </p:spTree>
    <p:extLst>
      <p:ext uri="{BB962C8B-B14F-4D97-AF65-F5344CB8AC3E}">
        <p14:creationId xmlns:p14="http://schemas.microsoft.com/office/powerpoint/2010/main" val="153663262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8b · De kandidaat-afzet">
            <a:extLst xmlns:a="http://schemas.openxmlformats.org/drawingml/2006/main">
              <a:ext uri="{FF2B5EF4-FFF2-40B4-BE49-F238E27FC236}">
                <a16:creationId xmlns:a16="http://schemas.microsoft.com/office/drawing/2014/main" id="{9F181F1A-8CE5-4C64-9F51-C0F67CF08DDF}"/>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38b · De kandidaat-afzet</a:t>
            </a:r>
          </a:p>
        </p:txBody>
      </p:sp>
      <p:sp>
        <p:nvSpPr>
          <p:cNvPr id="2" name="">
            <a:extLst xmlns:a="http://schemas.openxmlformats.org/drawingml/2006/main">
              <a:ext uri="{FF2B5EF4-FFF2-40B4-BE49-F238E27FC236}">
                <a16:creationId xmlns:a16="http://schemas.microsoft.com/office/drawing/2014/main" id="{9DD17DF8-5E66-414E-81F8-B5726DF9E96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 Opgave 38 · Boekpagina ">
            <a:extLst xmlns:a="http://schemas.openxmlformats.org/drawingml/2006/main">
              <a:ext uri="{FF2B5EF4-FFF2-40B4-BE49-F238E27FC236}">
                <a16:creationId xmlns:a16="http://schemas.microsoft.com/office/drawing/2014/main" id="{8432E0DC-D286-4C31-999B-C7E693CDC40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 · Opgave 38 · Boekpagina 44</a:t>
            </a:r>
          </a:p>
        </p:txBody>
      </p:sp>
      <p:sp>
        <p:nvSpPr>
          <p:cNvPr id="4" name="19">
            <a:extLst xmlns:a="http://schemas.openxmlformats.org/drawingml/2006/main">
              <a:ext uri="{FF2B5EF4-FFF2-40B4-BE49-F238E27FC236}">
                <a16:creationId xmlns:a16="http://schemas.microsoft.com/office/drawing/2014/main" id="{398A6010-B218-46EB-BB32-AC46FB7A952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MO = MK">
            <a:extLst xmlns:a="http://schemas.openxmlformats.org/drawingml/2006/main">
              <a:ext uri="{FF2B5EF4-FFF2-40B4-BE49-F238E27FC236}">
                <a16:creationId xmlns:a16="http://schemas.microsoft.com/office/drawing/2014/main" id="{9D7C102C-59B5-4613-AFF8-BA91E6D72FBF}"/>
              </a:ext>
            </a:extLst>
          </p:cNvPr>
          <p:cNvSpPr>
            <a:spLocks xmlns:a="http://schemas.openxmlformats.org/drawingml/2006/main" noGrp="1"/>
          </p:cNvSpPr>
          <p:nvPr/>
        </p:nvSpPr>
        <p:spPr>
          <a:xfrm xmlns:a="http://schemas.openxmlformats.org/drawingml/2006/main">
            <a:off x="571500" y="1971675"/>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MO = MK</a:t>
            </a:r>
          </a:p>
        </p:txBody>
      </p:sp>
      <p:sp>
        <p:nvSpPr>
          <p:cNvPr id="6" name="40 − 0,50q = 0,25q + 10">
            <a:extLst xmlns:a="http://schemas.openxmlformats.org/drawingml/2006/main">
              <a:ext uri="{FF2B5EF4-FFF2-40B4-BE49-F238E27FC236}">
                <a16:creationId xmlns:a16="http://schemas.microsoft.com/office/drawing/2014/main" id="{5D53A14F-BF24-4F05-A4CD-27A52D8A01B6}"/>
              </a:ext>
            </a:extLst>
          </p:cNvPr>
          <p:cNvSpPr>
            <a:spLocks xmlns:a="http://schemas.openxmlformats.org/drawingml/2006/main" noGrp="1"/>
          </p:cNvSpPr>
          <p:nvPr/>
        </p:nvSpPr>
        <p:spPr>
          <a:xfrm xmlns:a="http://schemas.openxmlformats.org/drawingml/2006/main">
            <a:off x="571500" y="31432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40 − 0,50q = 0,25q + 10</a:t>
            </a:r>
          </a:p>
        </p:txBody>
      </p:sp>
      <p:sp>
        <p:nvSpPr>
          <p:cNvPr id="7" name="30 = 0,75q">
            <a:extLst xmlns:a="http://schemas.openxmlformats.org/drawingml/2006/main">
              <a:ext uri="{FF2B5EF4-FFF2-40B4-BE49-F238E27FC236}">
                <a16:creationId xmlns:a16="http://schemas.microsoft.com/office/drawing/2014/main" id="{28D0A16B-59C7-4BB5-994D-956D74180DD5}"/>
              </a:ext>
            </a:extLst>
          </p:cNvPr>
          <p:cNvSpPr>
            <a:spLocks xmlns:a="http://schemas.openxmlformats.org/drawingml/2006/main" noGrp="1"/>
          </p:cNvSpPr>
          <p:nvPr/>
        </p:nvSpPr>
        <p:spPr>
          <a:xfrm xmlns:a="http://schemas.openxmlformats.org/drawingml/2006/main">
            <a:off x="571500" y="4629150"/>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183247"/>
                </a:solidFill>
                <a:latin typeface="Arial"/>
                <a:ea typeface="Arial"/>
                <a:cs typeface="Arial"/>
              </a:defRPr>
            </a:pPr>
            <a:r>
              <a:rPr sz="3825" b="0">
                <a:solidFill>
                  <a:srgbClr val="183247"/>
                </a:solidFill>
                <a:latin typeface="Arial"/>
                <a:ea typeface="Arial"/>
                <a:cs typeface="Arial"/>
              </a:rPr>
              <a:t>30 = 0,75q</a:t>
            </a:r>
          </a:p>
        </p:txBody>
      </p:sp>
      <p:sp>
        <p:nvSpPr>
          <p:cNvPr id="8" name="q = 40 kg per week">
            <a:extLst xmlns:a="http://schemas.openxmlformats.org/drawingml/2006/main">
              <a:ext uri="{FF2B5EF4-FFF2-40B4-BE49-F238E27FC236}">
                <a16:creationId xmlns:a16="http://schemas.microsoft.com/office/drawing/2014/main" id="{C9B3B047-3141-4BB4-81AD-217D204475CD}"/>
              </a:ext>
            </a:extLst>
          </p:cNvPr>
          <p:cNvSpPr>
            <a:spLocks xmlns:a="http://schemas.openxmlformats.org/drawingml/2006/main" noGrp="1"/>
          </p:cNvSpPr>
          <p:nvPr/>
        </p:nvSpPr>
        <p:spPr>
          <a:xfrm xmlns:a="http://schemas.openxmlformats.org/drawingml/2006/main">
            <a:off x="571500" y="6124575"/>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17658A"/>
                </a:solidFill>
                <a:latin typeface="Arial"/>
                <a:ea typeface="Arial"/>
                <a:cs typeface="Arial"/>
              </a:defRPr>
            </a:pPr>
            <a:r>
              <a:rPr sz="4275" b="1">
                <a:solidFill>
                  <a:srgbClr val="17658A"/>
                </a:solidFill>
                <a:latin typeface="Arial"/>
                <a:ea typeface="Arial"/>
                <a:cs typeface="Arial"/>
              </a:rPr>
              <a:t>q = 40 kg per week</a:t>
            </a:r>
          </a:p>
        </p:txBody>
      </p:sp>
    </p:spTree>
    <p:extLst>
      <p:ext uri="{BB962C8B-B14F-4D97-AF65-F5344CB8AC3E}">
        <p14:creationId xmlns:p14="http://schemas.microsoft.com/office/powerpoint/2010/main" val="5031634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8b · Waarom is dit een maximum?">
            <a:extLst xmlns:a="http://schemas.openxmlformats.org/drawingml/2006/main">
              <a:ext uri="{FF2B5EF4-FFF2-40B4-BE49-F238E27FC236}">
                <a16:creationId xmlns:a16="http://schemas.microsoft.com/office/drawing/2014/main" id="{F113AB31-3F61-41C0-BFD0-0F4390813591}"/>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38b · Waarom is dit een maximum?</a:t>
            </a:r>
          </a:p>
        </p:txBody>
      </p:sp>
      <p:sp>
        <p:nvSpPr>
          <p:cNvPr id="2" name="">
            <a:extLst xmlns:a="http://schemas.openxmlformats.org/drawingml/2006/main">
              <a:ext uri="{FF2B5EF4-FFF2-40B4-BE49-F238E27FC236}">
                <a16:creationId xmlns:a16="http://schemas.microsoft.com/office/drawing/2014/main" id="{2C960231-F73F-47EF-8EDA-7E4B2438958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 Opgave 38 · Boekpagina ">
            <a:extLst xmlns:a="http://schemas.openxmlformats.org/drawingml/2006/main">
              <a:ext uri="{FF2B5EF4-FFF2-40B4-BE49-F238E27FC236}">
                <a16:creationId xmlns:a16="http://schemas.microsoft.com/office/drawing/2014/main" id="{55C737C3-DCAA-488E-A561-841F9120356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 · Opgave 38 · Boekpagina 44</a:t>
            </a:r>
          </a:p>
        </p:txBody>
      </p:sp>
      <p:sp>
        <p:nvSpPr>
          <p:cNvPr id="4" name="20">
            <a:extLst xmlns:a="http://schemas.openxmlformats.org/drawingml/2006/main">
              <a:ext uri="{FF2B5EF4-FFF2-40B4-BE49-F238E27FC236}">
                <a16:creationId xmlns:a16="http://schemas.microsoft.com/office/drawing/2014/main" id="{67DCB81B-8B28-47AD-B1AD-EBE340C0098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2" name=""/>
          <p:cNvGraphicFramePr/>
          <p:nvPr/>
        </p:nvGraphicFramePr>
        <p:xfrm>
          <a:off xmlns:a="http://schemas.openxmlformats.org/drawingml/2006/main" x="571500" y="2105025"/>
          <a:ext xmlns:a="http://schemas.openxmlformats.org/drawingml/2006/main" cx="14097000" cy="3343275"/>
        </p:xfrm>
        <a:graphic xmlns:a="http://schemas.openxmlformats.org/drawingml/2006/main">
          <a:graphicData uri="http://schemas.openxmlformats.org/drawingml/2006/table">
            <a:tbl>
              <a:tblPr/>
              <a:tblGrid>
                <a:gridCol w="3857625"/>
                <a:gridCol w="2857500"/>
                <a:gridCol w="2857500"/>
                <a:gridCol w="4524375"/>
              </a:tblGrid>
              <a:tr h="835819">
                <a:tc>
                  <a:txBody>
                    <a:bodyPr lIns="161925" tIns="95250" rIns="133350" bIns="95250"/>
                    <a:lstStyle/>
                    <a:p>
                      <a:r>
                        <a:rPr sz="2325" b="1">
                          <a:solidFill>
                            <a:srgbClr val="FFFFFF"/>
                          </a:solidFill>
                          <a:latin typeface="Arial"/>
                          <a:ea typeface="Arial"/>
                          <a:cs typeface="Arial"/>
                        </a:rPr>
                        <a:t>q (kg per week)</a:t>
                      </a:r>
                    </a:p>
                  </a:txBody>
                  <a:tcPr marL="91440" marR="91440" marT="45720" marB="45720" anchor="ctr">
                    <a:solidFill>
                      <a:srgbClr val="183247"/>
                    </a:solidFill>
                  </a:tcPr>
                </a:tc>
                <a:tc>
                  <a:txBody>
                    <a:bodyPr lIns="161925" tIns="95250" rIns="133350" bIns="95250"/>
                    <a:lstStyle/>
                    <a:p>
                      <a:r>
                        <a:rPr sz="2325" b="1">
                          <a:solidFill>
                            <a:srgbClr val="FFFFFF"/>
                          </a:solidFill>
                          <a:latin typeface="Arial"/>
                          <a:ea typeface="Arial"/>
                          <a:cs typeface="Arial"/>
                        </a:rPr>
                        <a:t>MO (€ per kg)</a:t>
                      </a:r>
                    </a:p>
                  </a:txBody>
                  <a:tcPr marL="91440" marR="91440" marT="45720" marB="45720" anchor="ctr">
                    <a:solidFill>
                      <a:srgbClr val="183247"/>
                    </a:solidFill>
                  </a:tcPr>
                </a:tc>
                <a:tc>
                  <a:txBody>
                    <a:bodyPr lIns="161925" tIns="95250" rIns="133350" bIns="95250"/>
                    <a:lstStyle/>
                    <a:p>
                      <a:r>
                        <a:rPr sz="2325" b="1">
                          <a:solidFill>
                            <a:srgbClr val="FFFFFF"/>
                          </a:solidFill>
                          <a:latin typeface="Arial"/>
                          <a:ea typeface="Arial"/>
                          <a:cs typeface="Arial"/>
                        </a:rPr>
                        <a:t>MK (€ per kg)</a:t>
                      </a:r>
                    </a:p>
                  </a:txBody>
                  <a:tcPr marL="91440" marR="91440" marT="45720" marB="45720" anchor="ctr">
                    <a:solidFill>
                      <a:srgbClr val="183247"/>
                    </a:solidFill>
                  </a:tcPr>
                </a:tc>
                <a:tc>
                  <a:txBody>
                    <a:bodyPr lIns="161925" tIns="95250" rIns="133350" bIns="95250"/>
                    <a:lstStyle/>
                    <a:p>
                      <a:r>
                        <a:rPr sz="2325" b="1">
                          <a:solidFill>
                            <a:srgbClr val="FFFFFF"/>
                          </a:solidFill>
                          <a:latin typeface="Arial"/>
                          <a:ea typeface="Arial"/>
                          <a:cs typeface="Arial"/>
                        </a:rPr>
                        <a:t>Bij kleine uitbreiding</a:t>
                      </a:r>
                    </a:p>
                  </a:txBody>
                  <a:tcPr marL="91440" marR="91440" marT="45720" marB="45720" anchor="ctr">
                    <a:solidFill>
                      <a:srgbClr val="183247"/>
                    </a:solidFill>
                  </a:tcPr>
                </a:tc>
              </a:tr>
              <a:tr h="835819">
                <a:tc>
                  <a:txBody>
                    <a:bodyPr lIns="161925" tIns="95250" rIns="133350" bIns="95250"/>
                    <a:lstStyle/>
                    <a:p>
                      <a:r>
                        <a:rPr sz="2325" b="0">
                          <a:solidFill>
                            <a:srgbClr val="183247"/>
                          </a:solidFill>
                          <a:latin typeface="Arial"/>
                          <a:ea typeface="Arial"/>
                          <a:cs typeface="Arial"/>
                        </a:rPr>
                        <a:t>20</a:t>
                      </a:r>
                    </a:p>
                  </a:txBody>
                  <a:tcPr marL="91440" marR="91440" marT="45720" marB="45720" anchor="ctr">
                    <a:solidFill>
                      <a:srgbClr val="FFFFFF"/>
                    </a:solidFill>
                  </a:tcPr>
                </a:tc>
                <a:tc>
                  <a:txBody>
                    <a:bodyPr lIns="161925" tIns="95250" rIns="133350" bIns="95250"/>
                    <a:lstStyle/>
                    <a:p>
                      <a:r>
                        <a:rPr sz="2325" b="0">
                          <a:solidFill>
                            <a:srgbClr val="183247"/>
                          </a:solidFill>
                          <a:latin typeface="Arial"/>
                          <a:ea typeface="Arial"/>
                          <a:cs typeface="Arial"/>
                        </a:rPr>
                        <a:t>30</a:t>
                      </a:r>
                    </a:p>
                  </a:txBody>
                  <a:tcPr marL="91440" marR="91440" marT="45720" marB="45720" anchor="ctr">
                    <a:solidFill>
                      <a:srgbClr val="FFFFFF"/>
                    </a:solidFill>
                  </a:tcPr>
                </a:tc>
                <a:tc>
                  <a:txBody>
                    <a:bodyPr lIns="161925" tIns="95250" rIns="133350" bIns="95250"/>
                    <a:lstStyle/>
                    <a:p>
                      <a:r>
                        <a:rPr sz="2325" b="0">
                          <a:solidFill>
                            <a:srgbClr val="183247"/>
                          </a:solidFill>
                          <a:latin typeface="Arial"/>
                          <a:ea typeface="Arial"/>
                          <a:cs typeface="Arial"/>
                        </a:rPr>
                        <a:t>15</a:t>
                      </a:r>
                    </a:p>
                  </a:txBody>
                  <a:tcPr marL="91440" marR="91440" marT="45720" marB="45720" anchor="ctr">
                    <a:solidFill>
                      <a:srgbClr val="FFFFFF"/>
                    </a:solidFill>
                  </a:tcPr>
                </a:tc>
                <a:tc>
                  <a:txBody>
                    <a:bodyPr lIns="161925" tIns="95250" rIns="133350" bIns="95250"/>
                    <a:lstStyle/>
                    <a:p>
                      <a:r>
                        <a:rPr sz="2325" b="0">
                          <a:solidFill>
                            <a:srgbClr val="183247"/>
                          </a:solidFill>
                          <a:latin typeface="Arial"/>
                          <a:ea typeface="Arial"/>
                          <a:cs typeface="Arial"/>
                        </a:rPr>
                        <a:t>Winst stijgt</a:t>
                      </a:r>
                    </a:p>
                  </a:txBody>
                  <a:tcPr marL="91440" marR="91440" marT="45720" marB="45720" anchor="ctr">
                    <a:solidFill>
                      <a:srgbClr val="FFFFFF"/>
                    </a:solidFill>
                  </a:tcPr>
                </a:tc>
              </a:tr>
              <a:tr h="835819">
                <a:tc>
                  <a:txBody>
                    <a:bodyPr lIns="161925" tIns="95250" rIns="133350" bIns="95250"/>
                    <a:lstStyle/>
                    <a:p>
                      <a:r>
                        <a:rPr sz="2325" b="0">
                          <a:solidFill>
                            <a:srgbClr val="183247"/>
                          </a:solidFill>
                          <a:latin typeface="Arial"/>
                          <a:ea typeface="Arial"/>
                          <a:cs typeface="Arial"/>
                        </a:rPr>
                        <a:t>40</a:t>
                      </a:r>
                    </a:p>
                  </a:txBody>
                  <a:tcPr marL="91440" marR="91440" marT="45720" marB="45720" anchor="ctr">
                    <a:solidFill>
                      <a:srgbClr val="EFF4F7"/>
                    </a:solidFill>
                  </a:tcPr>
                </a:tc>
                <a:tc>
                  <a:txBody>
                    <a:bodyPr lIns="161925" tIns="95250" rIns="133350" bIns="95250"/>
                    <a:lstStyle/>
                    <a:p>
                      <a:r>
                        <a:rPr sz="2325" b="0">
                          <a:solidFill>
                            <a:srgbClr val="183247"/>
                          </a:solidFill>
                          <a:latin typeface="Arial"/>
                          <a:ea typeface="Arial"/>
                          <a:cs typeface="Arial"/>
                        </a:rPr>
                        <a:t>20</a:t>
                      </a:r>
                    </a:p>
                  </a:txBody>
                  <a:tcPr marL="91440" marR="91440" marT="45720" marB="45720" anchor="ctr">
                    <a:solidFill>
                      <a:srgbClr val="EFF4F7"/>
                    </a:solidFill>
                  </a:tcPr>
                </a:tc>
                <a:tc>
                  <a:txBody>
                    <a:bodyPr lIns="161925" tIns="95250" rIns="133350" bIns="95250"/>
                    <a:lstStyle/>
                    <a:p>
                      <a:r>
                        <a:rPr sz="2325" b="0">
                          <a:solidFill>
                            <a:srgbClr val="183247"/>
                          </a:solidFill>
                          <a:latin typeface="Arial"/>
                          <a:ea typeface="Arial"/>
                          <a:cs typeface="Arial"/>
                        </a:rPr>
                        <a:t>20</a:t>
                      </a:r>
                    </a:p>
                  </a:txBody>
                  <a:tcPr marL="91440" marR="91440" marT="45720" marB="45720" anchor="ctr">
                    <a:solidFill>
                      <a:srgbClr val="EFF4F7"/>
                    </a:solidFill>
                  </a:tcPr>
                </a:tc>
                <a:tc>
                  <a:txBody>
                    <a:bodyPr lIns="161925" tIns="95250" rIns="133350" bIns="95250"/>
                    <a:lstStyle/>
                    <a:p>
                      <a:r>
                        <a:rPr sz="2325" b="0">
                          <a:solidFill>
                            <a:srgbClr val="183247"/>
                          </a:solidFill>
                          <a:latin typeface="Arial"/>
                          <a:ea typeface="Arial"/>
                          <a:cs typeface="Arial"/>
                        </a:rPr>
                        <a:t>Omslagpunt</a:t>
                      </a:r>
                    </a:p>
                  </a:txBody>
                  <a:tcPr marL="91440" marR="91440" marT="45720" marB="45720" anchor="ctr">
                    <a:solidFill>
                      <a:srgbClr val="EFF4F7"/>
                    </a:solidFill>
                  </a:tcPr>
                </a:tc>
              </a:tr>
              <a:tr h="835819">
                <a:tc>
                  <a:txBody>
                    <a:bodyPr lIns="161925" tIns="95250" rIns="133350" bIns="95250"/>
                    <a:lstStyle/>
                    <a:p>
                      <a:r>
                        <a:rPr sz="2325" b="0">
                          <a:solidFill>
                            <a:srgbClr val="183247"/>
                          </a:solidFill>
                          <a:latin typeface="Arial"/>
                          <a:ea typeface="Arial"/>
                          <a:cs typeface="Arial"/>
                        </a:rPr>
                        <a:t>60</a:t>
                      </a:r>
                    </a:p>
                  </a:txBody>
                  <a:tcPr marL="91440" marR="91440" marT="45720" marB="45720" anchor="ctr">
                    <a:solidFill>
                      <a:srgbClr val="FFFFFF"/>
                    </a:solidFill>
                  </a:tcPr>
                </a:tc>
                <a:tc>
                  <a:txBody>
                    <a:bodyPr lIns="161925" tIns="95250" rIns="133350" bIns="95250"/>
                    <a:lstStyle/>
                    <a:p>
                      <a:r>
                        <a:rPr sz="2325" b="0">
                          <a:solidFill>
                            <a:srgbClr val="183247"/>
                          </a:solidFill>
                          <a:latin typeface="Arial"/>
                          <a:ea typeface="Arial"/>
                          <a:cs typeface="Arial"/>
                        </a:rPr>
                        <a:t>10</a:t>
                      </a:r>
                    </a:p>
                  </a:txBody>
                  <a:tcPr marL="91440" marR="91440" marT="45720" marB="45720" anchor="ctr">
                    <a:solidFill>
                      <a:srgbClr val="FFFFFF"/>
                    </a:solidFill>
                  </a:tcPr>
                </a:tc>
                <a:tc>
                  <a:txBody>
                    <a:bodyPr lIns="161925" tIns="95250" rIns="133350" bIns="95250"/>
                    <a:lstStyle/>
                    <a:p>
                      <a:r>
                        <a:rPr sz="2325" b="0">
                          <a:solidFill>
                            <a:srgbClr val="183247"/>
                          </a:solidFill>
                          <a:latin typeface="Arial"/>
                          <a:ea typeface="Arial"/>
                          <a:cs typeface="Arial"/>
                        </a:rPr>
                        <a:t>25</a:t>
                      </a:r>
                    </a:p>
                  </a:txBody>
                  <a:tcPr marL="91440" marR="91440" marT="45720" marB="45720" anchor="ctr">
                    <a:solidFill>
                      <a:srgbClr val="FFFFFF"/>
                    </a:solidFill>
                  </a:tcPr>
                </a:tc>
                <a:tc>
                  <a:txBody>
                    <a:bodyPr lIns="161925" tIns="95250" rIns="133350" bIns="95250"/>
                    <a:lstStyle/>
                    <a:p>
                      <a:r>
                        <a:rPr sz="2325" b="0">
                          <a:solidFill>
                            <a:srgbClr val="183247"/>
                          </a:solidFill>
                          <a:latin typeface="Arial"/>
                          <a:ea typeface="Arial"/>
                          <a:cs typeface="Arial"/>
                        </a:rPr>
                        <a:t>Winst daalt</a:t>
                      </a:r>
                    </a:p>
                  </a:txBody>
                  <a:tcPr marL="91440" marR="91440" marT="45720" marB="45720" anchor="ctr">
                    <a:solidFill>
                      <a:srgbClr val="FFFFFF"/>
                    </a:solidFill>
                  </a:tcPr>
                </a:tc>
              </a:tr>
            </a:tbl>
          </a:graphicData>
        </a:graphic>
      </p:graphicFrame>
      <p:sp>
        <p:nvSpPr>
          <p:cNvPr id="6" name="MO daalt en MK stijgt: de winst stijgt vóór 40 en daalt erna.">
            <a:extLst xmlns:a="http://schemas.openxmlformats.org/drawingml/2006/main">
              <a:ext uri="{FF2B5EF4-FFF2-40B4-BE49-F238E27FC236}">
                <a16:creationId xmlns:a16="http://schemas.microsoft.com/office/drawing/2014/main" id="{7A7DB42B-A6E9-4A01-B0CC-8F3C25041D98}"/>
              </a:ext>
            </a:extLst>
          </p:cNvPr>
          <p:cNvSpPr>
            <a:spLocks xmlns:a="http://schemas.openxmlformats.org/drawingml/2006/main" noGrp="1"/>
          </p:cNvSpPr>
          <p:nvPr/>
        </p:nvSpPr>
        <p:spPr>
          <a:xfrm xmlns:a="http://schemas.openxmlformats.org/drawingml/2006/main">
            <a:off x="571500" y="606742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MO daalt en MK stijgt: de winst stijgt vóór 40 en daalt erna.</a:t>
            </a:r>
          </a:p>
        </p:txBody>
      </p:sp>
      <p:sp>
        <p:nvSpPr>
          <p:cNvPr id="7" name="Haalbaar: 0 ≤ 40 ≤ 80 kg per week.">
            <a:extLst xmlns:a="http://schemas.openxmlformats.org/drawingml/2006/main">
              <a:ext uri="{FF2B5EF4-FFF2-40B4-BE49-F238E27FC236}">
                <a16:creationId xmlns:a16="http://schemas.microsoft.com/office/drawing/2014/main" id="{5CDDD016-DA87-4992-98D8-6928488DF44E}"/>
              </a:ext>
            </a:extLst>
          </p:cNvPr>
          <p:cNvSpPr>
            <a:spLocks xmlns:a="http://schemas.openxmlformats.org/drawingml/2006/main" noGrp="1"/>
          </p:cNvSpPr>
          <p:nvPr/>
        </p:nvSpPr>
        <p:spPr>
          <a:xfrm xmlns:a="http://schemas.openxmlformats.org/drawingml/2006/main">
            <a:off x="571500" y="733425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Haalbaar: 0 ≤ 40 ≤ 80 kg per week.</a:t>
            </a:r>
          </a:p>
        </p:txBody>
      </p:sp>
    </p:spTree>
    <p:extLst>
      <p:ext uri="{BB962C8B-B14F-4D97-AF65-F5344CB8AC3E}">
        <p14:creationId xmlns:p14="http://schemas.microsoft.com/office/powerpoint/2010/main" val="91483900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8c · De verkoopprijs">
            <a:extLst xmlns:a="http://schemas.openxmlformats.org/drawingml/2006/main">
              <a:ext uri="{FF2B5EF4-FFF2-40B4-BE49-F238E27FC236}">
                <a16:creationId xmlns:a16="http://schemas.microsoft.com/office/drawing/2014/main" id="{646821DA-C496-466D-A763-351D09C1ED91}"/>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38c · De verkoopprijs</a:t>
            </a:r>
          </a:p>
        </p:txBody>
      </p:sp>
      <p:sp>
        <p:nvSpPr>
          <p:cNvPr id="2" name="">
            <a:extLst xmlns:a="http://schemas.openxmlformats.org/drawingml/2006/main">
              <a:ext uri="{FF2B5EF4-FFF2-40B4-BE49-F238E27FC236}">
                <a16:creationId xmlns:a16="http://schemas.microsoft.com/office/drawing/2014/main" id="{A5F6C458-D003-4E15-8F55-7FD9272D0C4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 Opgave 38 · Boekpagina ">
            <a:extLst xmlns:a="http://schemas.openxmlformats.org/drawingml/2006/main">
              <a:ext uri="{FF2B5EF4-FFF2-40B4-BE49-F238E27FC236}">
                <a16:creationId xmlns:a16="http://schemas.microsoft.com/office/drawing/2014/main" id="{CB041281-9800-4067-A1E1-B7987225171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 · Opgave 38 · Boekpagina 44</a:t>
            </a:r>
          </a:p>
        </p:txBody>
      </p:sp>
      <p:sp>
        <p:nvSpPr>
          <p:cNvPr id="4" name="21">
            <a:extLst xmlns:a="http://schemas.openxmlformats.org/drawingml/2006/main">
              <a:ext uri="{FF2B5EF4-FFF2-40B4-BE49-F238E27FC236}">
                <a16:creationId xmlns:a16="http://schemas.microsoft.com/office/drawing/2014/main" id="{B6256E12-A550-4A5A-8329-15E353A36FC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q = 40 kg per week">
            <a:extLst xmlns:a="http://schemas.openxmlformats.org/drawingml/2006/main">
              <a:ext uri="{FF2B5EF4-FFF2-40B4-BE49-F238E27FC236}">
                <a16:creationId xmlns:a16="http://schemas.microsoft.com/office/drawing/2014/main" id="{9F361770-2EFB-4A05-8C0A-1F92BE9587BE}"/>
              </a:ext>
            </a:extLst>
          </p:cNvPr>
          <p:cNvSpPr>
            <a:spLocks xmlns:a="http://schemas.openxmlformats.org/drawingml/2006/main" noGrp="1"/>
          </p:cNvSpPr>
          <p:nvPr/>
        </p:nvSpPr>
        <p:spPr>
          <a:xfrm xmlns:a="http://schemas.openxmlformats.org/drawingml/2006/main">
            <a:off x="571500" y="197167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q = 40 kg per week</a:t>
            </a:r>
          </a:p>
        </p:txBody>
      </p:sp>
      <p:sp>
        <p:nvSpPr>
          <p:cNvPr id="6" name="P = 40 − 0,25 × 40">
            <a:extLst xmlns:a="http://schemas.openxmlformats.org/drawingml/2006/main">
              <a:ext uri="{FF2B5EF4-FFF2-40B4-BE49-F238E27FC236}">
                <a16:creationId xmlns:a16="http://schemas.microsoft.com/office/drawing/2014/main" id="{7496BE2D-85DA-4B28-A442-5D66A7136162}"/>
              </a:ext>
            </a:extLst>
          </p:cNvPr>
          <p:cNvSpPr>
            <a:spLocks xmlns:a="http://schemas.openxmlformats.org/drawingml/2006/main" noGrp="1"/>
          </p:cNvSpPr>
          <p:nvPr/>
        </p:nvSpPr>
        <p:spPr>
          <a:xfrm xmlns:a="http://schemas.openxmlformats.org/drawingml/2006/main">
            <a:off x="571500" y="35147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7658A"/>
                </a:solidFill>
                <a:latin typeface="Arial"/>
                <a:ea typeface="Arial"/>
                <a:cs typeface="Arial"/>
              </a:defRPr>
            </a:pPr>
            <a:r>
              <a:rPr sz="3825" b="1">
                <a:solidFill>
                  <a:srgbClr val="17658A"/>
                </a:solidFill>
                <a:latin typeface="Arial"/>
                <a:ea typeface="Arial"/>
                <a:cs typeface="Arial"/>
              </a:rPr>
              <a:t>P = 40 − 0,25 × 40</a:t>
            </a:r>
          </a:p>
        </p:txBody>
      </p:sp>
      <p:sp>
        <p:nvSpPr>
          <p:cNvPr id="7" name="P = € 30 per kg">
            <a:extLst xmlns:a="http://schemas.openxmlformats.org/drawingml/2006/main">
              <a:ext uri="{FF2B5EF4-FFF2-40B4-BE49-F238E27FC236}">
                <a16:creationId xmlns:a16="http://schemas.microsoft.com/office/drawing/2014/main" id="{89AE8C38-C278-4883-B5A7-653956D1E413}"/>
              </a:ext>
            </a:extLst>
          </p:cNvPr>
          <p:cNvSpPr>
            <a:spLocks xmlns:a="http://schemas.openxmlformats.org/drawingml/2006/main" noGrp="1"/>
          </p:cNvSpPr>
          <p:nvPr/>
        </p:nvSpPr>
        <p:spPr>
          <a:xfrm xmlns:a="http://schemas.openxmlformats.org/drawingml/2006/main">
            <a:off x="571500" y="5038725"/>
            <a:ext cx="1409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17658A"/>
                </a:solidFill>
                <a:latin typeface="Arial"/>
                <a:ea typeface="Arial"/>
                <a:cs typeface="Arial"/>
              </a:defRPr>
            </a:pPr>
            <a:r>
              <a:rPr sz="4350" b="1">
                <a:solidFill>
                  <a:srgbClr val="17658A"/>
                </a:solidFill>
                <a:latin typeface="Arial"/>
                <a:ea typeface="Arial"/>
                <a:cs typeface="Arial"/>
              </a:rPr>
              <a:t>P = € 30 per kg</a:t>
            </a:r>
          </a:p>
        </p:txBody>
      </p:sp>
      <p:sp>
        <p:nvSpPr>
          <p:cNvPr id="8" name="Bij dezelfde q zijn MO en MK € 20 per kg.">
            <a:extLst xmlns:a="http://schemas.openxmlformats.org/drawingml/2006/main">
              <a:ext uri="{FF2B5EF4-FFF2-40B4-BE49-F238E27FC236}">
                <a16:creationId xmlns:a16="http://schemas.microsoft.com/office/drawing/2014/main" id="{654A976E-9EB2-411B-B345-1A2F08331D56}"/>
              </a:ext>
            </a:extLst>
          </p:cNvPr>
          <p:cNvSpPr>
            <a:spLocks xmlns:a="http://schemas.openxmlformats.org/drawingml/2006/main" noGrp="1"/>
          </p:cNvSpPr>
          <p:nvPr/>
        </p:nvSpPr>
        <p:spPr>
          <a:xfrm xmlns:a="http://schemas.openxmlformats.org/drawingml/2006/main">
            <a:off x="571500" y="7000875"/>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Bij dezelfde q zijn MO en MK € 20 per kg.</a:t>
            </a:r>
          </a:p>
        </p:txBody>
      </p:sp>
    </p:spTree>
    <p:extLst>
      <p:ext uri="{BB962C8B-B14F-4D97-AF65-F5344CB8AC3E}">
        <p14:creationId xmlns:p14="http://schemas.microsoft.com/office/powerpoint/2010/main" val="159761147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8d · Totale opbrengst, kosten en winst">
            <a:extLst xmlns:a="http://schemas.openxmlformats.org/drawingml/2006/main">
              <a:ext uri="{FF2B5EF4-FFF2-40B4-BE49-F238E27FC236}">
                <a16:creationId xmlns:a16="http://schemas.microsoft.com/office/drawing/2014/main" id="{FF90AD31-5776-47AD-AFBE-197413F76BE9}"/>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38d · Totale opbrengst, kosten en winst</a:t>
            </a:r>
          </a:p>
        </p:txBody>
      </p:sp>
      <p:sp>
        <p:nvSpPr>
          <p:cNvPr id="2" name="">
            <a:extLst xmlns:a="http://schemas.openxmlformats.org/drawingml/2006/main">
              <a:ext uri="{FF2B5EF4-FFF2-40B4-BE49-F238E27FC236}">
                <a16:creationId xmlns:a16="http://schemas.microsoft.com/office/drawing/2014/main" id="{8C3822A3-68BB-4749-89A6-DC077349806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 Opgave 38 · Boekpagina ">
            <a:extLst xmlns:a="http://schemas.openxmlformats.org/drawingml/2006/main">
              <a:ext uri="{FF2B5EF4-FFF2-40B4-BE49-F238E27FC236}">
                <a16:creationId xmlns:a16="http://schemas.microsoft.com/office/drawing/2014/main" id="{6902C67B-CE9E-4CF9-9F93-430F1421BDB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 · Opgave 38 · Boekpagina 44</a:t>
            </a:r>
          </a:p>
        </p:txBody>
      </p:sp>
      <p:sp>
        <p:nvSpPr>
          <p:cNvPr id="4" name="22">
            <a:extLst xmlns:a="http://schemas.openxmlformats.org/drawingml/2006/main">
              <a:ext uri="{FF2B5EF4-FFF2-40B4-BE49-F238E27FC236}">
                <a16:creationId xmlns:a16="http://schemas.microsoft.com/office/drawing/2014/main" id="{0E899BB9-8CC3-49DC-B7A3-196E148CAD8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2" name=""/>
          <p:cNvGraphicFramePr/>
          <p:nvPr/>
        </p:nvGraphicFramePr>
        <p:xfrm>
          <a:off xmlns:a="http://schemas.openxmlformats.org/drawingml/2006/main" x="571500" y="2105025"/>
          <a:ext xmlns:a="http://schemas.openxmlformats.org/drawingml/2006/main" cx="14097000" cy="3600450"/>
        </p:xfrm>
        <a:graphic xmlns:a="http://schemas.openxmlformats.org/drawingml/2006/main">
          <a:graphicData uri="http://schemas.openxmlformats.org/drawingml/2006/table">
            <a:tbl>
              <a:tblPr/>
              <a:tblGrid>
                <a:gridCol w="2667000"/>
                <a:gridCol w="8191500"/>
                <a:gridCol w="3238500"/>
              </a:tblGrid>
              <a:tr h="900113">
                <a:tc>
                  <a:txBody>
                    <a:bodyPr lIns="161925" tIns="95250" rIns="133350" bIns="95250"/>
                    <a:lstStyle/>
                    <a:p>
                      <a:r>
                        <a:rPr sz="2550" b="1">
                          <a:solidFill>
                            <a:srgbClr val="FFFFFF"/>
                          </a:solidFill>
                          <a:latin typeface="Arial"/>
                          <a:ea typeface="Arial"/>
                          <a:cs typeface="Arial"/>
                        </a:rPr>
                        <a:t>Grootheid</a:t>
                      </a:r>
                    </a:p>
                  </a:txBody>
                  <a:tcPr marL="91440" marR="91440" marT="45720" marB="45720" anchor="ctr">
                    <a:solidFill>
                      <a:srgbClr val="183247"/>
                    </a:solidFill>
                  </a:tcPr>
                </a:tc>
                <a:tc>
                  <a:txBody>
                    <a:bodyPr lIns="161925" tIns="95250" rIns="133350" bIns="95250"/>
                    <a:lstStyle/>
                    <a:p>
                      <a:r>
                        <a:rPr sz="2550" b="1">
                          <a:solidFill>
                            <a:srgbClr val="FFFFFF"/>
                          </a:solidFill>
                          <a:latin typeface="Arial"/>
                          <a:ea typeface="Arial"/>
                          <a:cs typeface="Arial"/>
                        </a:rPr>
                        <a:t>Invullen</a:t>
                      </a:r>
                    </a:p>
                  </a:txBody>
                  <a:tcPr marL="91440" marR="91440" marT="45720" marB="45720" anchor="ctr">
                    <a:solidFill>
                      <a:srgbClr val="183247"/>
                    </a:solidFill>
                  </a:tcPr>
                </a:tc>
                <a:tc>
                  <a:txBody>
                    <a:bodyPr lIns="161925" tIns="95250" rIns="133350" bIns="95250"/>
                    <a:lstStyle/>
                    <a:p>
                      <a:r>
                        <a:rPr sz="2550" b="1">
                          <a:solidFill>
                            <a:srgbClr val="FFFFFF"/>
                          </a:solidFill>
                          <a:latin typeface="Arial"/>
                          <a:ea typeface="Arial"/>
                          <a:cs typeface="Arial"/>
                        </a:rPr>
                        <a:t>€ per week</a:t>
                      </a:r>
                    </a:p>
                  </a:txBody>
                  <a:tcPr marL="91440" marR="91440" marT="45720" marB="45720" anchor="ctr">
                    <a:solidFill>
                      <a:srgbClr val="183247"/>
                    </a:solidFill>
                  </a:tcPr>
                </a:tc>
              </a:tr>
              <a:tr h="900113">
                <a:tc>
                  <a:txBody>
                    <a:bodyPr lIns="161925" tIns="95250" rIns="133350" bIns="95250"/>
                    <a:lstStyle/>
                    <a:p>
                      <a:r>
                        <a:rPr sz="2550" b="0">
                          <a:solidFill>
                            <a:srgbClr val="183247"/>
                          </a:solidFill>
                          <a:latin typeface="Arial"/>
                          <a:ea typeface="Arial"/>
                          <a:cs typeface="Arial"/>
                        </a:rPr>
                        <a:t>TO</a:t>
                      </a:r>
                    </a:p>
                  </a:txBody>
                  <a:tcPr marL="91440" marR="91440" marT="45720" marB="45720" anchor="ctr">
                    <a:solidFill>
                      <a:srgbClr val="FFFFFF"/>
                    </a:solidFill>
                  </a:tcPr>
                </a:tc>
                <a:tc>
                  <a:txBody>
                    <a:bodyPr lIns="161925" tIns="95250" rIns="133350" bIns="95250"/>
                    <a:lstStyle/>
                    <a:p>
                      <a:r>
                        <a:rPr sz="2550" b="0">
                          <a:solidFill>
                            <a:srgbClr val="183247"/>
                          </a:solidFill>
                          <a:latin typeface="Arial"/>
                          <a:ea typeface="Arial"/>
                          <a:cs typeface="Arial"/>
                        </a:rPr>
                        <a:t>30 × 40</a:t>
                      </a:r>
                    </a:p>
                  </a:txBody>
                  <a:tcPr marL="91440" marR="91440" marT="45720" marB="45720" anchor="ctr">
                    <a:solidFill>
                      <a:srgbClr val="FFFFFF"/>
                    </a:solidFill>
                  </a:tcPr>
                </a:tc>
                <a:tc>
                  <a:txBody>
                    <a:bodyPr lIns="161925" tIns="95250" rIns="133350" bIns="95250"/>
                    <a:lstStyle/>
                    <a:p>
                      <a:r>
                        <a:rPr sz="2550" b="0">
                          <a:solidFill>
                            <a:srgbClr val="183247"/>
                          </a:solidFill>
                          <a:latin typeface="Arial"/>
                          <a:ea typeface="Arial"/>
                          <a:cs typeface="Arial"/>
                        </a:rPr>
                        <a:t>1.200</a:t>
                      </a:r>
                    </a:p>
                  </a:txBody>
                  <a:tcPr marL="91440" marR="91440" marT="45720" marB="45720" anchor="ctr">
                    <a:solidFill>
                      <a:srgbClr val="FFFFFF"/>
                    </a:solidFill>
                  </a:tcPr>
                </a:tc>
              </a:tr>
              <a:tr h="900113">
                <a:tc>
                  <a:txBody>
                    <a:bodyPr lIns="161925" tIns="95250" rIns="133350" bIns="95250"/>
                    <a:lstStyle/>
                    <a:p>
                      <a:r>
                        <a:rPr sz="2550" b="0">
                          <a:solidFill>
                            <a:srgbClr val="183247"/>
                          </a:solidFill>
                          <a:latin typeface="Arial"/>
                          <a:ea typeface="Arial"/>
                          <a:cs typeface="Arial"/>
                        </a:rPr>
                        <a:t>TK</a:t>
                      </a:r>
                    </a:p>
                  </a:txBody>
                  <a:tcPr marL="91440" marR="91440" marT="45720" marB="45720" anchor="ctr">
                    <a:solidFill>
                      <a:srgbClr val="EFF4F7"/>
                    </a:solidFill>
                  </a:tcPr>
                </a:tc>
                <a:tc>
                  <a:txBody>
                    <a:bodyPr lIns="161925" tIns="95250" rIns="133350" bIns="95250"/>
                    <a:lstStyle/>
                    <a:p>
                      <a:r>
                        <a:rPr sz="2550" b="0">
                          <a:solidFill>
                            <a:srgbClr val="183247"/>
                          </a:solidFill>
                          <a:latin typeface="Arial"/>
                          <a:ea typeface="Arial"/>
                          <a:cs typeface="Arial"/>
                        </a:rPr>
                        <a:t>0,125 × 40² + 10 × 40 + 200</a:t>
                      </a:r>
                    </a:p>
                  </a:txBody>
                  <a:tcPr marL="91440" marR="91440" marT="45720" marB="45720" anchor="ctr">
                    <a:solidFill>
                      <a:srgbClr val="EFF4F7"/>
                    </a:solidFill>
                  </a:tcPr>
                </a:tc>
                <a:tc>
                  <a:txBody>
                    <a:bodyPr lIns="161925" tIns="95250" rIns="133350" bIns="95250"/>
                    <a:lstStyle/>
                    <a:p>
                      <a:r>
                        <a:rPr sz="2550" b="0">
                          <a:solidFill>
                            <a:srgbClr val="183247"/>
                          </a:solidFill>
                          <a:latin typeface="Arial"/>
                          <a:ea typeface="Arial"/>
                          <a:cs typeface="Arial"/>
                        </a:rPr>
                        <a:t>800</a:t>
                      </a:r>
                    </a:p>
                  </a:txBody>
                  <a:tcPr marL="91440" marR="91440" marT="45720" marB="45720" anchor="ctr">
                    <a:solidFill>
                      <a:srgbClr val="EFF4F7"/>
                    </a:solidFill>
                  </a:tcPr>
                </a:tc>
              </a:tr>
              <a:tr h="900113">
                <a:tc>
                  <a:txBody>
                    <a:bodyPr lIns="161925" tIns="95250" rIns="133350" bIns="95250"/>
                    <a:lstStyle/>
                    <a:p>
                      <a:r>
                        <a:rPr sz="2550" b="0">
                          <a:solidFill>
                            <a:srgbClr val="183247"/>
                          </a:solidFill>
                          <a:latin typeface="Arial"/>
                          <a:ea typeface="Arial"/>
                          <a:cs typeface="Arial"/>
                        </a:rPr>
                        <a:t>Winst</a:t>
                      </a:r>
                    </a:p>
                  </a:txBody>
                  <a:tcPr marL="91440" marR="91440" marT="45720" marB="45720" anchor="ctr">
                    <a:solidFill>
                      <a:srgbClr val="FFFFFF"/>
                    </a:solidFill>
                  </a:tcPr>
                </a:tc>
                <a:tc>
                  <a:txBody>
                    <a:bodyPr lIns="161925" tIns="95250" rIns="133350" bIns="95250"/>
                    <a:lstStyle/>
                    <a:p>
                      <a:r>
                        <a:rPr sz="2550" b="0">
                          <a:solidFill>
                            <a:srgbClr val="183247"/>
                          </a:solidFill>
                          <a:latin typeface="Arial"/>
                          <a:ea typeface="Arial"/>
                          <a:cs typeface="Arial"/>
                        </a:rPr>
                        <a:t>1.200 − 800</a:t>
                      </a:r>
                    </a:p>
                  </a:txBody>
                  <a:tcPr marL="91440" marR="91440" marT="45720" marB="45720" anchor="ctr">
                    <a:solidFill>
                      <a:srgbClr val="FFFFFF"/>
                    </a:solidFill>
                  </a:tcPr>
                </a:tc>
                <a:tc>
                  <a:txBody>
                    <a:bodyPr lIns="161925" tIns="95250" rIns="133350" bIns="95250"/>
                    <a:lstStyle/>
                    <a:p>
                      <a:r>
                        <a:rPr sz="2550" b="0">
                          <a:solidFill>
                            <a:srgbClr val="183247"/>
                          </a:solidFill>
                          <a:latin typeface="Arial"/>
                          <a:ea typeface="Arial"/>
                          <a:cs typeface="Arial"/>
                        </a:rPr>
                        <a:t>400</a:t>
                      </a:r>
                    </a:p>
                  </a:txBody>
                  <a:tcPr marL="91440" marR="91440" marT="45720" marB="45720" anchor="ctr">
                    <a:solidFill>
                      <a:srgbClr val="FFFFFF"/>
                    </a:solidFill>
                  </a:tcPr>
                </a:tc>
              </a:tr>
            </a:tbl>
          </a:graphicData>
        </a:graphic>
      </p:graphicFrame>
      <p:sp>
        <p:nvSpPr>
          <p:cNvPr id="6" name="TK = 200 + 400 + 200 = € 800 per week">
            <a:extLst xmlns:a="http://schemas.openxmlformats.org/drawingml/2006/main">
              <a:ext uri="{FF2B5EF4-FFF2-40B4-BE49-F238E27FC236}">
                <a16:creationId xmlns:a16="http://schemas.microsoft.com/office/drawing/2014/main" id="{587D7C4D-7EB2-493C-A7DE-A1EE5ECA793B}"/>
              </a:ext>
            </a:extLst>
          </p:cNvPr>
          <p:cNvSpPr>
            <a:spLocks xmlns:a="http://schemas.openxmlformats.org/drawingml/2006/main" noGrp="1"/>
          </p:cNvSpPr>
          <p:nvPr/>
        </p:nvSpPr>
        <p:spPr>
          <a:xfrm xmlns:a="http://schemas.openxmlformats.org/drawingml/2006/main">
            <a:off x="571500" y="628650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TK = 200 + 400 + 200 = € 800 per week</a:t>
            </a:r>
          </a:p>
        </p:txBody>
      </p:sp>
      <p:sp>
        <p:nvSpPr>
          <p:cNvPr id="7" name="Ook de onvermijdbare constante kosten tellen mee.">
            <a:extLst xmlns:a="http://schemas.openxmlformats.org/drawingml/2006/main">
              <a:ext uri="{FF2B5EF4-FFF2-40B4-BE49-F238E27FC236}">
                <a16:creationId xmlns:a16="http://schemas.microsoft.com/office/drawing/2014/main" id="{0D2FC2B7-BAC0-4E25-9350-C971C656931B}"/>
              </a:ext>
            </a:extLst>
          </p:cNvPr>
          <p:cNvSpPr>
            <a:spLocks xmlns:a="http://schemas.openxmlformats.org/drawingml/2006/main" noGrp="1"/>
          </p:cNvSpPr>
          <p:nvPr/>
        </p:nvSpPr>
        <p:spPr>
          <a:xfrm xmlns:a="http://schemas.openxmlformats.org/drawingml/2006/main">
            <a:off x="571500" y="743902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Ook de onvermijdbare constante kosten tellen mee.</a:t>
            </a:r>
          </a:p>
        </p:txBody>
      </p:sp>
    </p:spTree>
    <p:extLst>
      <p:ext uri="{BB962C8B-B14F-4D97-AF65-F5344CB8AC3E}">
        <p14:creationId xmlns:p14="http://schemas.microsoft.com/office/powerpoint/2010/main" val="153269539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8d · GTK en niet produceren">
            <a:extLst xmlns:a="http://schemas.openxmlformats.org/drawingml/2006/main">
              <a:ext uri="{FF2B5EF4-FFF2-40B4-BE49-F238E27FC236}">
                <a16:creationId xmlns:a16="http://schemas.microsoft.com/office/drawing/2014/main" id="{AB12F6CC-F6A0-445F-B6C9-99FDE32351EA}"/>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38d · GTK en niet produceren</a:t>
            </a:r>
          </a:p>
        </p:txBody>
      </p:sp>
      <p:sp>
        <p:nvSpPr>
          <p:cNvPr id="2" name="">
            <a:extLst xmlns:a="http://schemas.openxmlformats.org/drawingml/2006/main">
              <a:ext uri="{FF2B5EF4-FFF2-40B4-BE49-F238E27FC236}">
                <a16:creationId xmlns:a16="http://schemas.microsoft.com/office/drawing/2014/main" id="{0FF77062-5085-4E19-B11C-3856EE6DB09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 Opgave 38 · Boekpagina ">
            <a:extLst xmlns:a="http://schemas.openxmlformats.org/drawingml/2006/main">
              <a:ext uri="{FF2B5EF4-FFF2-40B4-BE49-F238E27FC236}">
                <a16:creationId xmlns:a16="http://schemas.microsoft.com/office/drawing/2014/main" id="{266317C1-F82B-4D60-B83C-458C514C6F9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 · Opgave 38 · Boekpagina 44</a:t>
            </a:r>
          </a:p>
        </p:txBody>
      </p:sp>
      <p:sp>
        <p:nvSpPr>
          <p:cNvPr id="4" name="23">
            <a:extLst xmlns:a="http://schemas.openxmlformats.org/drawingml/2006/main">
              <a:ext uri="{FF2B5EF4-FFF2-40B4-BE49-F238E27FC236}">
                <a16:creationId xmlns:a16="http://schemas.microsoft.com/office/drawing/2014/main" id="{7E5CD78D-62A1-4407-B814-F5A82A4654F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GTK = TK / q = 800 / 40 = € 20 per kg">
            <a:extLst xmlns:a="http://schemas.openxmlformats.org/drawingml/2006/main">
              <a:ext uri="{FF2B5EF4-FFF2-40B4-BE49-F238E27FC236}">
                <a16:creationId xmlns:a16="http://schemas.microsoft.com/office/drawing/2014/main" id="{94A6184E-DF72-48D6-905A-7EADEA7CCBF6}"/>
              </a:ext>
            </a:extLst>
          </p:cNvPr>
          <p:cNvSpPr>
            <a:spLocks xmlns:a="http://schemas.openxmlformats.org/drawingml/2006/main" noGrp="1"/>
          </p:cNvSpPr>
          <p:nvPr/>
        </p:nvSpPr>
        <p:spPr>
          <a:xfrm xmlns:a="http://schemas.openxmlformats.org/drawingml/2006/main">
            <a:off x="571500" y="2009775"/>
            <a:ext cx="1409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GTK = TK / q = 800 / 40 = € 20 per kg</a:t>
            </a:r>
          </a:p>
        </p:txBody>
      </p:sp>
      <p:sp>
        <p:nvSpPr>
          <p:cNvPr id="6" name="Controle: (P − GTK) × q&#10;= (30 − 20) × 40 = € 400 per week">
            <a:extLst xmlns:a="http://schemas.openxmlformats.org/drawingml/2006/main">
              <a:ext uri="{FF2B5EF4-FFF2-40B4-BE49-F238E27FC236}">
                <a16:creationId xmlns:a16="http://schemas.microsoft.com/office/drawing/2014/main" id="{640F786B-08BA-4CEB-8724-C7F0B48BAD96}"/>
              </a:ext>
            </a:extLst>
          </p:cNvPr>
          <p:cNvSpPr>
            <a:spLocks xmlns:a="http://schemas.openxmlformats.org/drawingml/2006/main" noGrp="1"/>
          </p:cNvSpPr>
          <p:nvPr/>
        </p:nvSpPr>
        <p:spPr>
          <a:xfrm xmlns:a="http://schemas.openxmlformats.org/drawingml/2006/main">
            <a:off x="571500" y="3448050"/>
            <a:ext cx="140970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Controle: (P − GTK) × q</a:t>
            </a:r>
          </a:p>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 (30 − 20) × 40 = € 400 per week</a:t>
            </a:r>
          </a:p>
        </p:txBody>
      </p:sp>
      <p:sp>
        <p:nvSpPr>
          <p:cNvPr id="7" name="">
            <a:extLst xmlns:a="http://schemas.openxmlformats.org/drawingml/2006/main">
              <a:ext uri="{FF2B5EF4-FFF2-40B4-BE49-F238E27FC236}">
                <a16:creationId xmlns:a16="http://schemas.microsoft.com/office/drawing/2014/main" id="{489B21D4-6244-40C5-90D1-3E1874134EDC}"/>
              </a:ext>
            </a:extLst>
          </p:cNvPr>
          <p:cNvSpPr>
            <a:spLocks xmlns:a="http://schemas.openxmlformats.org/drawingml/2006/main" noGrp="1"/>
          </p:cNvSpPr>
          <p:nvPr/>
        </p:nvSpPr>
        <p:spPr>
          <a:xfrm xmlns:a="http://schemas.openxmlformats.org/drawingml/2006/main">
            <a:off x="571500" y="5314950"/>
            <a:ext cx="14097000" cy="0"/>
          </a:xfrm>
          <a:prstGeom xmlns:a="http://schemas.openxmlformats.org/drawingml/2006/main" prst="line">
            <a:avLst/>
          </a:prstGeom>
          <a:ln xmlns:a="http://schemas.openxmlformats.org/drawingml/2006/main" w="19050">
            <a:solidFill>
              <a:srgbClr val="C6D2DB"/>
            </a:solidFill>
          </a:ln>
        </p:spPr>
      </p:sp>
      <p:sp>
        <p:nvSpPr>
          <p:cNvPr id="8" name="Bij q = 0: TO = 0 en TK = € 200 per week.&#10;Winst = −€ 200 per week">
            <a:extLst xmlns:a="http://schemas.openxmlformats.org/drawingml/2006/main">
              <a:ext uri="{FF2B5EF4-FFF2-40B4-BE49-F238E27FC236}">
                <a16:creationId xmlns:a16="http://schemas.microsoft.com/office/drawing/2014/main" id="{F50B8A64-1488-4229-A6A7-87B35D8C2A8E}"/>
              </a:ext>
            </a:extLst>
          </p:cNvPr>
          <p:cNvSpPr>
            <a:spLocks xmlns:a="http://schemas.openxmlformats.org/drawingml/2006/main" noGrp="1"/>
          </p:cNvSpPr>
          <p:nvPr/>
        </p:nvSpPr>
        <p:spPr>
          <a:xfrm xmlns:a="http://schemas.openxmlformats.org/drawingml/2006/main">
            <a:off x="571500" y="5791200"/>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Bij q = 0: TO = 0 en TK = € 200 per week.</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Winst = −€ 200 per week.</a:t>
            </a:r>
          </a:p>
        </p:txBody>
      </p:sp>
      <p:sp>
        <p:nvSpPr>
          <p:cNvPr id="9" name="€ 400 is beter dan −€ 200. Niet produceren is niet beter.">
            <a:extLst xmlns:a="http://schemas.openxmlformats.org/drawingml/2006/main">
              <a:ext uri="{FF2B5EF4-FFF2-40B4-BE49-F238E27FC236}">
                <a16:creationId xmlns:a16="http://schemas.microsoft.com/office/drawing/2014/main" id="{EEE406AF-3B43-4A41-A52E-6788569E1A1F}"/>
              </a:ext>
            </a:extLst>
          </p:cNvPr>
          <p:cNvSpPr>
            <a:spLocks xmlns:a="http://schemas.openxmlformats.org/drawingml/2006/main" noGrp="1"/>
          </p:cNvSpPr>
          <p:nvPr/>
        </p:nvSpPr>
        <p:spPr>
          <a:xfrm xmlns:a="http://schemas.openxmlformats.org/drawingml/2006/main">
            <a:off x="571500" y="743902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€ 400 is beter dan −€ 200. Niet produceren is niet beter.</a:t>
            </a:r>
          </a:p>
        </p:txBody>
      </p:sp>
    </p:spTree>
    <p:extLst>
      <p:ext uri="{BB962C8B-B14F-4D97-AF65-F5344CB8AC3E}">
        <p14:creationId xmlns:p14="http://schemas.microsoft.com/office/powerpoint/2010/main" val="92095754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8e · Eerst de gekozen q">
            <a:extLst xmlns:a="http://schemas.openxmlformats.org/drawingml/2006/main">
              <a:ext uri="{FF2B5EF4-FFF2-40B4-BE49-F238E27FC236}">
                <a16:creationId xmlns:a16="http://schemas.microsoft.com/office/drawing/2014/main" id="{7718A720-E006-4B6D-B3BE-954924AF864B}"/>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38e · Eerst de gekozen q</a:t>
            </a:r>
          </a:p>
        </p:txBody>
      </p:sp>
      <p:sp>
        <p:nvSpPr>
          <p:cNvPr id="2" name="">
            <a:extLst xmlns:a="http://schemas.openxmlformats.org/drawingml/2006/main">
              <a:ext uri="{FF2B5EF4-FFF2-40B4-BE49-F238E27FC236}">
                <a16:creationId xmlns:a16="http://schemas.microsoft.com/office/drawing/2014/main" id="{8695AA65-A6EE-4367-93C4-B3AE8279283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 Opgave 38 · Boekpagina ">
            <a:extLst xmlns:a="http://schemas.openxmlformats.org/drawingml/2006/main">
              <a:ext uri="{FF2B5EF4-FFF2-40B4-BE49-F238E27FC236}">
                <a16:creationId xmlns:a16="http://schemas.microsoft.com/office/drawing/2014/main" id="{024C1148-0940-4F80-98F1-959BF0C47A3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 · Opgave 38 · Boekpagina 44</a:t>
            </a:r>
          </a:p>
        </p:txBody>
      </p:sp>
      <p:sp>
        <p:nvSpPr>
          <p:cNvPr id="4" name="24">
            <a:extLst xmlns:a="http://schemas.openxmlformats.org/drawingml/2006/main">
              <a:ext uri="{FF2B5EF4-FFF2-40B4-BE49-F238E27FC236}">
                <a16:creationId xmlns:a16="http://schemas.microsoft.com/office/drawing/2014/main" id="{5E15B36C-A2D6-4525-8D83-81B37FE1512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3" name="Chart"/>
          <p:cNvGraphicFramePr/>
          <p:nvPr/>
        </p:nvGraphicFramePr>
        <p:xfrm>
          <a:off xmlns:a="http://schemas.openxmlformats.org/drawingml/2006/main" x="571500" y="2505075"/>
          <a:ext xmlns:a="http://schemas.openxmlformats.org/drawingml/2006/main" cx="9429750" cy="5191125"/>
        </p:xfrm>
        <a:graphic xmlns:a="http://schemas.openxmlformats.org/drawingml/2006/main">
          <a:graphicData uri="http://schemas.openxmlformats.org/drawingml/2006/chart">
            <c:chart xmlns:r="http://schemas.openxmlformats.org/officeDocument/2006/relationships" xmlns:c="http://schemas.openxmlformats.org/drawingml/2006/chart" r:id="R8d116c9b2be04cc1"/>
          </a:graphicData>
        </a:graphic>
      </p:graphicFrame>
      <p:sp>
        <p:nvSpPr>
          <p:cNvPr id="6" name="1  MO = MK">
            <a:extLst xmlns:a="http://schemas.openxmlformats.org/drawingml/2006/main">
              <a:ext uri="{FF2B5EF4-FFF2-40B4-BE49-F238E27FC236}">
                <a16:creationId xmlns:a16="http://schemas.microsoft.com/office/drawing/2014/main" id="{99D20D6A-438C-4B57-B5DA-F2D7EEA1359B}"/>
              </a:ext>
            </a:extLst>
          </p:cNvPr>
          <p:cNvSpPr>
            <a:spLocks xmlns:a="http://schemas.openxmlformats.org/drawingml/2006/main" noGrp="1"/>
          </p:cNvSpPr>
          <p:nvPr/>
        </p:nvSpPr>
        <p:spPr>
          <a:xfrm xmlns:a="http://schemas.openxmlformats.org/drawingml/2006/main">
            <a:off x="10382250" y="2790825"/>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1  MO = MK</a:t>
            </a:r>
          </a:p>
        </p:txBody>
      </p:sp>
      <p:sp>
        <p:nvSpPr>
          <p:cNvPr id="7" name="Snijpunt:&#10;(40; 20)">
            <a:extLst xmlns:a="http://schemas.openxmlformats.org/drawingml/2006/main">
              <a:ext uri="{FF2B5EF4-FFF2-40B4-BE49-F238E27FC236}">
                <a16:creationId xmlns:a16="http://schemas.microsoft.com/office/drawing/2014/main" id="{9B9D98EE-4D17-4A09-871D-3C9D731CF856}"/>
              </a:ext>
            </a:extLst>
          </p:cNvPr>
          <p:cNvSpPr>
            <a:spLocks xmlns:a="http://schemas.openxmlformats.org/drawingml/2006/main" noGrp="1"/>
          </p:cNvSpPr>
          <p:nvPr/>
        </p:nvSpPr>
        <p:spPr>
          <a:xfrm xmlns:a="http://schemas.openxmlformats.org/drawingml/2006/main">
            <a:off x="10382250" y="3876675"/>
            <a:ext cx="4286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Snijpunt:</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(40; 20)</a:t>
            </a:r>
          </a:p>
        </p:txBody>
      </p:sp>
      <p:sp>
        <p:nvSpPr>
          <p:cNvPr id="8" name="Hulplijn naar&#10;q = 40 kg per week">
            <a:extLst xmlns:a="http://schemas.openxmlformats.org/drawingml/2006/main">
              <a:ext uri="{FF2B5EF4-FFF2-40B4-BE49-F238E27FC236}">
                <a16:creationId xmlns:a16="http://schemas.microsoft.com/office/drawing/2014/main" id="{71DF168A-AF91-4EE5-9682-313BD354CD19}"/>
              </a:ext>
            </a:extLst>
          </p:cNvPr>
          <p:cNvSpPr>
            <a:spLocks xmlns:a="http://schemas.openxmlformats.org/drawingml/2006/main" noGrp="1"/>
          </p:cNvSpPr>
          <p:nvPr/>
        </p:nvSpPr>
        <p:spPr>
          <a:xfrm xmlns:a="http://schemas.openxmlformats.org/drawingml/2006/main">
            <a:off x="10382250" y="6067425"/>
            <a:ext cx="4286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Hulplijn naar</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q = 40 kg per week</a:t>
            </a:r>
          </a:p>
        </p:txBody>
      </p:sp>
    </p:spTree>
    <p:extLst>
      <p:ext uri="{BB962C8B-B14F-4D97-AF65-F5344CB8AC3E}">
        <p14:creationId xmlns:p14="http://schemas.microsoft.com/office/powerpoint/2010/main" val="159179683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8e · Daarna de prijs op GO">
            <a:extLst xmlns:a="http://schemas.openxmlformats.org/drawingml/2006/main">
              <a:ext uri="{FF2B5EF4-FFF2-40B4-BE49-F238E27FC236}">
                <a16:creationId xmlns:a16="http://schemas.microsoft.com/office/drawing/2014/main" id="{1D12E60A-E149-4EA1-B65B-D2FA56D8A516}"/>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38e · Daarna de prijs op GO</a:t>
            </a:r>
          </a:p>
        </p:txBody>
      </p:sp>
      <p:sp>
        <p:nvSpPr>
          <p:cNvPr id="2" name="">
            <a:extLst xmlns:a="http://schemas.openxmlformats.org/drawingml/2006/main">
              <a:ext uri="{FF2B5EF4-FFF2-40B4-BE49-F238E27FC236}">
                <a16:creationId xmlns:a16="http://schemas.microsoft.com/office/drawing/2014/main" id="{23B5D7F6-C2B7-4B34-AA76-601C1DAA9B1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 Opgave 38 · Boekpagina ">
            <a:extLst xmlns:a="http://schemas.openxmlformats.org/drawingml/2006/main">
              <a:ext uri="{FF2B5EF4-FFF2-40B4-BE49-F238E27FC236}">
                <a16:creationId xmlns:a16="http://schemas.microsoft.com/office/drawing/2014/main" id="{56F5EA37-E8EE-466A-BF51-938B578E6A1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 · Opgave 38 · Boekpagina 44</a:t>
            </a:r>
          </a:p>
        </p:txBody>
      </p:sp>
      <p:sp>
        <p:nvSpPr>
          <p:cNvPr id="4" name="25">
            <a:extLst xmlns:a="http://schemas.openxmlformats.org/drawingml/2006/main">
              <a:ext uri="{FF2B5EF4-FFF2-40B4-BE49-F238E27FC236}">
                <a16:creationId xmlns:a16="http://schemas.microsoft.com/office/drawing/2014/main" id="{E04D0307-0E60-4B91-A345-1FE1315C62C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graphicFrame>
        <p:nvGraphicFramePr>
          <p:cNvPr id="13" name="Chart"/>
          <p:cNvGraphicFramePr/>
          <p:nvPr/>
        </p:nvGraphicFramePr>
        <p:xfrm>
          <a:off xmlns:a="http://schemas.openxmlformats.org/drawingml/2006/main" x="571500" y="2505075"/>
          <a:ext xmlns:a="http://schemas.openxmlformats.org/drawingml/2006/main" cx="9429750" cy="5191125"/>
        </p:xfrm>
        <a:graphic xmlns:a="http://schemas.openxmlformats.org/drawingml/2006/main">
          <a:graphicData uri="http://schemas.openxmlformats.org/drawingml/2006/chart">
            <c:chart xmlns:r="http://schemas.openxmlformats.org/officeDocument/2006/relationships" xmlns:c="http://schemas.openxmlformats.org/drawingml/2006/chart" r:id="R8b56ab4947344df2"/>
          </a:graphicData>
        </a:graphic>
      </p:graphicFrame>
      <p:sp>
        <p:nvSpPr>
          <p:cNvPr id="6" name="2  GO geeft P">
            <a:extLst xmlns:a="http://schemas.openxmlformats.org/drawingml/2006/main">
              <a:ext uri="{FF2B5EF4-FFF2-40B4-BE49-F238E27FC236}">
                <a16:creationId xmlns:a16="http://schemas.microsoft.com/office/drawing/2014/main" id="{6CC20F98-7E71-4475-8A29-1CBAB2BBFA1C}"/>
              </a:ext>
            </a:extLst>
          </p:cNvPr>
          <p:cNvSpPr>
            <a:spLocks xmlns:a="http://schemas.openxmlformats.org/drawingml/2006/main" noGrp="1"/>
          </p:cNvSpPr>
          <p:nvPr/>
        </p:nvSpPr>
        <p:spPr>
          <a:xfrm xmlns:a="http://schemas.openxmlformats.org/drawingml/2006/main">
            <a:off x="10382250" y="2790825"/>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2  GO geeft P</a:t>
            </a:r>
          </a:p>
        </p:txBody>
      </p:sp>
      <p:sp>
        <p:nvSpPr>
          <p:cNvPr id="7" name="Zelfde q = 40&#10;P = € 30 per kg">
            <a:extLst xmlns:a="http://schemas.openxmlformats.org/drawingml/2006/main">
              <a:ext uri="{FF2B5EF4-FFF2-40B4-BE49-F238E27FC236}">
                <a16:creationId xmlns:a16="http://schemas.microsoft.com/office/drawing/2014/main" id="{3FD88A08-D31F-4B51-AFBF-444F13F763A2}"/>
              </a:ext>
            </a:extLst>
          </p:cNvPr>
          <p:cNvSpPr>
            <a:spLocks xmlns:a="http://schemas.openxmlformats.org/drawingml/2006/main" noGrp="1"/>
          </p:cNvSpPr>
          <p:nvPr/>
        </p:nvSpPr>
        <p:spPr>
          <a:xfrm xmlns:a="http://schemas.openxmlformats.org/drawingml/2006/main">
            <a:off x="10382250" y="3905250"/>
            <a:ext cx="4286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Zelfde q = 40</a:t>
            </a:r>
          </a:p>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P = € 30 per kg</a:t>
            </a:r>
          </a:p>
        </p:txBody>
      </p:sp>
      <p:sp>
        <p:nvSpPr>
          <p:cNvPr id="8" name="Eerst verticaal naar GO,&#10;dan horizontaal naar&#10;de prijsas.">
            <a:extLst xmlns:a="http://schemas.openxmlformats.org/drawingml/2006/main">
              <a:ext uri="{FF2B5EF4-FFF2-40B4-BE49-F238E27FC236}">
                <a16:creationId xmlns:a16="http://schemas.microsoft.com/office/drawing/2014/main" id="{1E1CF46A-33EE-4B65-955E-93C67884E5D7}"/>
              </a:ext>
            </a:extLst>
          </p:cNvPr>
          <p:cNvSpPr>
            <a:spLocks xmlns:a="http://schemas.openxmlformats.org/drawingml/2006/main" noGrp="1"/>
          </p:cNvSpPr>
          <p:nvPr/>
        </p:nvSpPr>
        <p:spPr>
          <a:xfrm xmlns:a="http://schemas.openxmlformats.org/drawingml/2006/main">
            <a:off x="10382250" y="6124575"/>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Eerst verticaal naar GO,</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dan horizontaal naar</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 prijsas.</a:t>
            </a:r>
          </a:p>
        </p:txBody>
      </p:sp>
    </p:spTree>
    <p:extLst>
      <p:ext uri="{BB962C8B-B14F-4D97-AF65-F5344CB8AC3E}">
        <p14:creationId xmlns:p14="http://schemas.microsoft.com/office/powerpoint/2010/main" val="108895188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8f · Waarom P = MK hier niet werkt">
            <a:extLst xmlns:a="http://schemas.openxmlformats.org/drawingml/2006/main">
              <a:ext uri="{FF2B5EF4-FFF2-40B4-BE49-F238E27FC236}">
                <a16:creationId xmlns:a16="http://schemas.microsoft.com/office/drawing/2014/main" id="{33402DEE-09B5-4089-A4A8-C4D4E0A84D71}"/>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38f · Waarom P = MK hier niet werkt</a:t>
            </a:r>
          </a:p>
        </p:txBody>
      </p:sp>
      <p:sp>
        <p:nvSpPr>
          <p:cNvPr id="2" name="">
            <a:extLst xmlns:a="http://schemas.openxmlformats.org/drawingml/2006/main">
              <a:ext uri="{FF2B5EF4-FFF2-40B4-BE49-F238E27FC236}">
                <a16:creationId xmlns:a16="http://schemas.microsoft.com/office/drawing/2014/main" id="{F2B1EFC0-CF38-48BA-89EE-B14CAE6F179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 Opgave 38 · Boekpagina ">
            <a:extLst xmlns:a="http://schemas.openxmlformats.org/drawingml/2006/main">
              <a:ext uri="{FF2B5EF4-FFF2-40B4-BE49-F238E27FC236}">
                <a16:creationId xmlns:a16="http://schemas.microsoft.com/office/drawing/2014/main" id="{DDAD30B4-3C76-47DE-8E7D-E9645E1AFAB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 · Opgave 38 · Boekpagina 44</a:t>
            </a:r>
          </a:p>
        </p:txBody>
      </p:sp>
      <p:sp>
        <p:nvSpPr>
          <p:cNvPr id="4" name="26">
            <a:extLst xmlns:a="http://schemas.openxmlformats.org/drawingml/2006/main">
              <a:ext uri="{FF2B5EF4-FFF2-40B4-BE49-F238E27FC236}">
                <a16:creationId xmlns:a16="http://schemas.microsoft.com/office/drawing/2014/main" id="{DC5D6E12-80E4-4D88-BC00-06825EE9B9C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graphicFrame>
        <p:nvGraphicFramePr>
          <p:cNvPr id="12" name=""/>
          <p:cNvGraphicFramePr/>
          <p:nvPr/>
        </p:nvGraphicFramePr>
        <p:xfrm>
          <a:off xmlns:a="http://schemas.openxmlformats.org/drawingml/2006/main" x="571500" y="2038350"/>
          <a:ext xmlns:a="http://schemas.openxmlformats.org/drawingml/2006/main" cx="14097000" cy="3381375"/>
        </p:xfrm>
        <a:graphic xmlns:a="http://schemas.openxmlformats.org/drawingml/2006/main">
          <a:graphicData uri="http://schemas.openxmlformats.org/drawingml/2006/table">
            <a:tbl>
              <a:tblPr/>
              <a:tblGrid>
                <a:gridCol w="5715000"/>
                <a:gridCol w="5334000"/>
                <a:gridCol w="3048000"/>
              </a:tblGrid>
              <a:tr h="845344">
                <a:tc>
                  <a:txBody>
                    <a:bodyPr lIns="161925" tIns="95250" rIns="133350" bIns="95250"/>
                    <a:lstStyle/>
                    <a:p>
                      <a:r>
                        <a:rPr sz="2475" b="1">
                          <a:solidFill>
                            <a:srgbClr val="FFFFFF"/>
                          </a:solidFill>
                          <a:latin typeface="Arial"/>
                          <a:ea typeface="Arial"/>
                          <a:cs typeface="Arial"/>
                        </a:rPr>
                        <a:t>Bij q = 60 kg per week</a:t>
                      </a:r>
                    </a:p>
                  </a:txBody>
                  <a:tcPr marL="91440" marR="91440" marT="45720" marB="45720" anchor="ctr">
                    <a:solidFill>
                      <a:srgbClr val="183247"/>
                    </a:solidFill>
                  </a:tcPr>
                </a:tc>
                <a:tc>
                  <a:txBody>
                    <a:bodyPr lIns="161925" tIns="95250" rIns="133350" bIns="95250"/>
                    <a:lstStyle/>
                    <a:p>
                      <a:r>
                        <a:rPr sz="2475" b="1">
                          <a:solidFill>
                            <a:srgbClr val="FFFFFF"/>
                          </a:solidFill>
                          <a:latin typeface="Arial"/>
                          <a:ea typeface="Arial"/>
                          <a:cs typeface="Arial"/>
                        </a:rPr>
                        <a:t>Invullen</a:t>
                      </a:r>
                    </a:p>
                  </a:txBody>
                  <a:tcPr marL="91440" marR="91440" marT="45720" marB="45720" anchor="ctr">
                    <a:solidFill>
                      <a:srgbClr val="183247"/>
                    </a:solidFill>
                  </a:tcPr>
                </a:tc>
                <a:tc>
                  <a:txBody>
                    <a:bodyPr lIns="161925" tIns="95250" rIns="133350" bIns="95250"/>
                    <a:lstStyle/>
                    <a:p>
                      <a:r>
                        <a:rPr sz="2475" b="1">
                          <a:solidFill>
                            <a:srgbClr val="FFFFFF"/>
                          </a:solidFill>
                          <a:latin typeface="Arial"/>
                          <a:ea typeface="Arial"/>
                          <a:cs typeface="Arial"/>
                        </a:rPr>
                        <a:t>€ per kg</a:t>
                      </a:r>
                    </a:p>
                  </a:txBody>
                  <a:tcPr marL="91440" marR="91440" marT="45720" marB="45720" anchor="ctr">
                    <a:solidFill>
                      <a:srgbClr val="183247"/>
                    </a:solidFill>
                  </a:tcPr>
                </a:tc>
              </a:tr>
              <a:tr h="845344">
                <a:tc>
                  <a:txBody>
                    <a:bodyPr lIns="161925" tIns="95250" rIns="133350" bIns="95250"/>
                    <a:lstStyle/>
                    <a:p>
                      <a:r>
                        <a:rPr sz="2475" b="0">
                          <a:solidFill>
                            <a:srgbClr val="183247"/>
                          </a:solidFill>
                          <a:latin typeface="Arial"/>
                          <a:ea typeface="Arial"/>
                          <a:cs typeface="Arial"/>
                        </a:rPr>
                        <a:t>P</a:t>
                      </a:r>
                    </a:p>
                  </a:txBody>
                  <a:tcPr marL="91440" marR="91440" marT="45720" marB="45720" anchor="ctr">
                    <a:solidFill>
                      <a:srgbClr val="FFFFFF"/>
                    </a:solidFill>
                  </a:tcPr>
                </a:tc>
                <a:tc>
                  <a:txBody>
                    <a:bodyPr lIns="161925" tIns="95250" rIns="133350" bIns="95250"/>
                    <a:lstStyle/>
                    <a:p>
                      <a:r>
                        <a:rPr sz="2475" b="0">
                          <a:solidFill>
                            <a:srgbClr val="183247"/>
                          </a:solidFill>
                          <a:latin typeface="Arial"/>
                          <a:ea typeface="Arial"/>
                          <a:cs typeface="Arial"/>
                        </a:rPr>
                        <a:t>40 − 0,25 × 60</a:t>
                      </a:r>
                    </a:p>
                  </a:txBody>
                  <a:tcPr marL="91440" marR="91440" marT="45720" marB="45720" anchor="ctr">
                    <a:solidFill>
                      <a:srgbClr val="FFFFFF"/>
                    </a:solidFill>
                  </a:tcPr>
                </a:tc>
                <a:tc>
                  <a:txBody>
                    <a:bodyPr lIns="161925" tIns="95250" rIns="133350" bIns="95250"/>
                    <a:lstStyle/>
                    <a:p>
                      <a:r>
                        <a:rPr sz="2475" b="0">
                          <a:solidFill>
                            <a:srgbClr val="183247"/>
                          </a:solidFill>
                          <a:latin typeface="Arial"/>
                          <a:ea typeface="Arial"/>
                          <a:cs typeface="Arial"/>
                        </a:rPr>
                        <a:t>25</a:t>
                      </a:r>
                    </a:p>
                  </a:txBody>
                  <a:tcPr marL="91440" marR="91440" marT="45720" marB="45720" anchor="ctr">
                    <a:solidFill>
                      <a:srgbClr val="FFFFFF"/>
                    </a:solidFill>
                  </a:tcPr>
                </a:tc>
              </a:tr>
              <a:tr h="845344">
                <a:tc>
                  <a:txBody>
                    <a:bodyPr lIns="161925" tIns="95250" rIns="133350" bIns="95250"/>
                    <a:lstStyle/>
                    <a:p>
                      <a:r>
                        <a:rPr sz="2475" b="0">
                          <a:solidFill>
                            <a:srgbClr val="183247"/>
                          </a:solidFill>
                          <a:latin typeface="Arial"/>
                          <a:ea typeface="Arial"/>
                          <a:cs typeface="Arial"/>
                        </a:rPr>
                        <a:t>MK</a:t>
                      </a:r>
                    </a:p>
                  </a:txBody>
                  <a:tcPr marL="91440" marR="91440" marT="45720" marB="45720" anchor="ctr">
                    <a:solidFill>
                      <a:srgbClr val="EFF4F7"/>
                    </a:solidFill>
                  </a:tcPr>
                </a:tc>
                <a:tc>
                  <a:txBody>
                    <a:bodyPr lIns="161925" tIns="95250" rIns="133350" bIns="95250"/>
                    <a:lstStyle/>
                    <a:p>
                      <a:r>
                        <a:rPr sz="2475" b="0">
                          <a:solidFill>
                            <a:srgbClr val="183247"/>
                          </a:solidFill>
                          <a:latin typeface="Arial"/>
                          <a:ea typeface="Arial"/>
                          <a:cs typeface="Arial"/>
                        </a:rPr>
                        <a:t>0,25 × 60 + 10</a:t>
                      </a:r>
                    </a:p>
                  </a:txBody>
                  <a:tcPr marL="91440" marR="91440" marT="45720" marB="45720" anchor="ctr">
                    <a:solidFill>
                      <a:srgbClr val="EFF4F7"/>
                    </a:solidFill>
                  </a:tcPr>
                </a:tc>
                <a:tc>
                  <a:txBody>
                    <a:bodyPr lIns="161925" tIns="95250" rIns="133350" bIns="95250"/>
                    <a:lstStyle/>
                    <a:p>
                      <a:r>
                        <a:rPr sz="2475" b="0">
                          <a:solidFill>
                            <a:srgbClr val="183247"/>
                          </a:solidFill>
                          <a:latin typeface="Arial"/>
                          <a:ea typeface="Arial"/>
                          <a:cs typeface="Arial"/>
                        </a:rPr>
                        <a:t>25</a:t>
                      </a:r>
                    </a:p>
                  </a:txBody>
                  <a:tcPr marL="91440" marR="91440" marT="45720" marB="45720" anchor="ctr">
                    <a:solidFill>
                      <a:srgbClr val="EFF4F7"/>
                    </a:solidFill>
                  </a:tcPr>
                </a:tc>
              </a:tr>
              <a:tr h="845344">
                <a:tc>
                  <a:txBody>
                    <a:bodyPr lIns="161925" tIns="95250" rIns="133350" bIns="95250"/>
                    <a:lstStyle/>
                    <a:p>
                      <a:r>
                        <a:rPr sz="2475" b="0">
                          <a:solidFill>
                            <a:srgbClr val="183247"/>
                          </a:solidFill>
                          <a:latin typeface="Arial"/>
                          <a:ea typeface="Arial"/>
                          <a:cs typeface="Arial"/>
                        </a:rPr>
                        <a:t>MO</a:t>
                      </a:r>
                    </a:p>
                  </a:txBody>
                  <a:tcPr marL="91440" marR="91440" marT="45720" marB="45720" anchor="ctr">
                    <a:solidFill>
                      <a:srgbClr val="FFFFFF"/>
                    </a:solidFill>
                  </a:tcPr>
                </a:tc>
                <a:tc>
                  <a:txBody>
                    <a:bodyPr lIns="161925" tIns="95250" rIns="133350" bIns="95250"/>
                    <a:lstStyle/>
                    <a:p>
                      <a:r>
                        <a:rPr sz="2475" b="0">
                          <a:solidFill>
                            <a:srgbClr val="183247"/>
                          </a:solidFill>
                          <a:latin typeface="Arial"/>
                          <a:ea typeface="Arial"/>
                          <a:cs typeface="Arial"/>
                        </a:rPr>
                        <a:t>40 − 0,50 × 60</a:t>
                      </a:r>
                    </a:p>
                  </a:txBody>
                  <a:tcPr marL="91440" marR="91440" marT="45720" marB="45720" anchor="ctr">
                    <a:solidFill>
                      <a:srgbClr val="FFFFFF"/>
                    </a:solidFill>
                  </a:tcPr>
                </a:tc>
                <a:tc>
                  <a:txBody>
                    <a:bodyPr lIns="161925" tIns="95250" rIns="133350" bIns="95250"/>
                    <a:lstStyle/>
                    <a:p>
                      <a:r>
                        <a:rPr sz="2475" b="0">
                          <a:solidFill>
                            <a:srgbClr val="183247"/>
                          </a:solidFill>
                          <a:latin typeface="Arial"/>
                          <a:ea typeface="Arial"/>
                          <a:cs typeface="Arial"/>
                        </a:rPr>
                        <a:t>10</a:t>
                      </a:r>
                    </a:p>
                  </a:txBody>
                  <a:tcPr marL="91440" marR="91440" marT="45720" marB="45720" anchor="ctr">
                    <a:solidFill>
                      <a:srgbClr val="FFFFFF"/>
                    </a:solidFill>
                  </a:tcPr>
                </a:tc>
              </a:tr>
            </a:tbl>
          </a:graphicData>
        </a:graphic>
      </p:graphicFrame>
      <p:sp>
        <p:nvSpPr>
          <p:cNvPr id="6" name="MO &lt; MK: iets minder produceren verhoogt de winst.">
            <a:extLst xmlns:a="http://schemas.openxmlformats.org/drawingml/2006/main">
              <a:ext uri="{FF2B5EF4-FFF2-40B4-BE49-F238E27FC236}">
                <a16:creationId xmlns:a16="http://schemas.microsoft.com/office/drawing/2014/main" id="{6E006BE0-718A-413D-B6CB-17C1AD9E6912}"/>
              </a:ext>
            </a:extLst>
          </p:cNvPr>
          <p:cNvSpPr>
            <a:spLocks xmlns:a="http://schemas.openxmlformats.org/drawingml/2006/main" noGrp="1"/>
          </p:cNvSpPr>
          <p:nvPr/>
        </p:nvSpPr>
        <p:spPr>
          <a:xfrm xmlns:a="http://schemas.openxmlformats.org/drawingml/2006/main">
            <a:off x="571500" y="6000750"/>
            <a:ext cx="14097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MO &lt; MK: iets minder produceren verhoogt de winst.</a:t>
            </a:r>
          </a:p>
        </p:txBody>
      </p:sp>
      <p:sp>
        <p:nvSpPr>
          <p:cNvPr id="7" name="Extra controle: winst bij 60 kg = 1.500 − 1.250 = € 250 per week.">
            <a:extLst xmlns:a="http://schemas.openxmlformats.org/drawingml/2006/main">
              <a:ext uri="{FF2B5EF4-FFF2-40B4-BE49-F238E27FC236}">
                <a16:creationId xmlns:a16="http://schemas.microsoft.com/office/drawing/2014/main" id="{D37C4093-572D-4238-B09C-469D5ED1D17A}"/>
              </a:ext>
            </a:extLst>
          </p:cNvPr>
          <p:cNvSpPr>
            <a:spLocks xmlns:a="http://schemas.openxmlformats.org/drawingml/2006/main" noGrp="1"/>
          </p:cNvSpPr>
          <p:nvPr/>
        </p:nvSpPr>
        <p:spPr>
          <a:xfrm xmlns:a="http://schemas.openxmlformats.org/drawingml/2006/main">
            <a:off x="571500" y="7153275"/>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Extra controle: winst bij 60 kg = 1.500 − 1.250 = € 250 per week.</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Dat is lager dan € 400 bij 40 kg.</a:t>
            </a:r>
          </a:p>
        </p:txBody>
      </p:sp>
    </p:spTree>
    <p:extLst>
      <p:ext uri="{BB962C8B-B14F-4D97-AF65-F5344CB8AC3E}">
        <p14:creationId xmlns:p14="http://schemas.microsoft.com/office/powerpoint/2010/main" val="199879496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1.4 Winstmaximalisatie bij monopolie">
            <a:extLst xmlns:a="http://schemas.openxmlformats.org/drawingml/2006/main">
              <a:ext uri="{FF2B5EF4-FFF2-40B4-BE49-F238E27FC236}">
                <a16:creationId xmlns:a16="http://schemas.microsoft.com/office/drawing/2014/main" id="{3DE3B779-05AA-4BD7-8235-B10ED12875C3}"/>
              </a:ext>
            </a:extLst>
          </p:cNvPr>
          <p:cNvSpPr>
            <a:spLocks xmlns:a="http://schemas.openxmlformats.org/drawingml/2006/main" noGrp="1"/>
          </p:cNvSpPr>
          <p:nvPr/>
        </p:nvSpPr>
        <p:spPr>
          <a:xfrm xmlns:a="http://schemas.openxmlformats.org/drawingml/2006/main">
            <a:off x="571500" y="381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Deze les: §4.1.4 Winstmaximalisatie bij monopolie</a:t>
            </a:r>
          </a:p>
        </p:txBody>
      </p:sp>
      <p:sp>
        <p:nvSpPr>
          <p:cNvPr id="2" name="">
            <a:extLst xmlns:a="http://schemas.openxmlformats.org/drawingml/2006/main">
              <a:ext uri="{FF2B5EF4-FFF2-40B4-BE49-F238E27FC236}">
                <a16:creationId xmlns:a16="http://schemas.microsoft.com/office/drawing/2014/main" id="{A076ECB6-7E74-453A-A5A9-CF306A83BB5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4 Winstmaximalisatie bij monopolie">
            <a:extLst xmlns:a="http://schemas.openxmlformats.org/drawingml/2006/main">
              <a:ext uri="{FF2B5EF4-FFF2-40B4-BE49-F238E27FC236}">
                <a16:creationId xmlns:a16="http://schemas.microsoft.com/office/drawing/2014/main" id="{68ABF728-8DD3-4EC2-8723-2348080EC84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§4.1.4 Winstmaximalisatie bij monopolie</a:t>
            </a:r>
          </a:p>
        </p:txBody>
      </p:sp>
      <p:sp>
        <p:nvSpPr>
          <p:cNvPr id="4" name="27">
            <a:extLst xmlns:a="http://schemas.openxmlformats.org/drawingml/2006/main">
              <a:ext uri="{FF2B5EF4-FFF2-40B4-BE49-F238E27FC236}">
                <a16:creationId xmlns:a16="http://schemas.microsoft.com/office/drawing/2014/main" id="{1D0B61F6-B3EB-4B71-9F9B-6CBEAB3D0D0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phase">
            <a:extLst xmlns:a="http://schemas.openxmlformats.org/drawingml/2006/main">
              <a:ext uri="{FF2B5EF4-FFF2-40B4-BE49-F238E27FC236}">
                <a16:creationId xmlns:a16="http://schemas.microsoft.com/office/drawing/2014/main" id="{8DB05969-847E-4948-8E1A-4ECDF9E2F813}"/>
              </a:ext>
            </a:extLst>
          </p:cNvPr>
          <p:cNvSpPr>
            <a:spLocks xmlns:a="http://schemas.openxmlformats.org/drawingml/2006/main" noGrp="1"/>
          </p:cNvSpPr>
          <p:nvPr/>
        </p:nvSpPr>
        <p:spPr>
          <a:xfrm xmlns:a="http://schemas.openxmlformats.org/drawingml/2006/main">
            <a:off x="571500" y="1066800"/>
            <a:ext cx="1409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03B4E800-D01B-41AC-917C-A011639B2E8F}"/>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B153110C-09AA-4BFF-977F-2984ADA43B0D}"/>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ED6EEB67-6696-409F-BA30-87C5529519E1}"/>
              </a:ext>
            </a:extLst>
          </p:cNvPr>
          <p:cNvSpPr>
            <a:spLocks xmlns:a="http://schemas.openxmlformats.org/drawingml/2006/main" noGrp="1"/>
          </p:cNvSpPr>
          <p:nvPr/>
        </p:nvSpPr>
        <p:spPr>
          <a:xfrm xmlns:a="http://schemas.openxmlformats.org/drawingml/2006/main">
            <a:off x="1104900" y="2324100"/>
            <a:ext cx="7562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8164F565-3545-42E2-95FA-BD8A538C547C}"/>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554BAE9E-9C52-4DBE-994F-A40C825B5E7D}"/>
              </a:ext>
            </a:extLst>
          </p:cNvPr>
          <p:cNvSpPr>
            <a:spLocks xmlns:a="http://schemas.openxmlformats.org/drawingml/2006/main" noGrp="1"/>
          </p:cNvSpPr>
          <p:nvPr/>
        </p:nvSpPr>
        <p:spPr>
          <a:xfrm xmlns:a="http://schemas.openxmlformats.org/drawingml/2006/main">
            <a:off x="1104900" y="3200400"/>
            <a:ext cx="7562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A9D02CBF-0606-40FF-BB18-5D723D0D9740}"/>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B5C6BF5E-E14F-433E-8BC1-E2802689D5EE}"/>
              </a:ext>
            </a:extLst>
          </p:cNvPr>
          <p:cNvSpPr>
            <a:spLocks xmlns:a="http://schemas.openxmlformats.org/drawingml/2006/main" noGrp="1"/>
          </p:cNvSpPr>
          <p:nvPr/>
        </p:nvSpPr>
        <p:spPr>
          <a:xfrm xmlns:a="http://schemas.openxmlformats.org/drawingml/2006/main">
            <a:off x="1104900" y="3714750"/>
            <a:ext cx="7562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BA5BBA47-B2D1-471D-82A0-6634ADD86AB3}"/>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CCB2B7A9-4920-496A-94CD-BE3F32517CB9}"/>
              </a:ext>
            </a:extLst>
          </p:cNvPr>
          <p:cNvSpPr>
            <a:spLocks xmlns:a="http://schemas.openxmlformats.org/drawingml/2006/main" noGrp="1"/>
          </p:cNvSpPr>
          <p:nvPr/>
        </p:nvSpPr>
        <p:spPr>
          <a:xfrm xmlns:a="http://schemas.openxmlformats.org/drawingml/2006/main">
            <a:off x="1104900" y="4248150"/>
            <a:ext cx="75628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8A02C166-E8F5-48A0-9C00-CD1CD467EEAA}"/>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2C36A306-0A8D-4C23-9CC6-B8466D1A2142}"/>
              </a:ext>
            </a:extLst>
          </p:cNvPr>
          <p:cNvSpPr>
            <a:spLocks xmlns:a="http://schemas.openxmlformats.org/drawingml/2006/main" noGrp="1"/>
          </p:cNvSpPr>
          <p:nvPr/>
        </p:nvSpPr>
        <p:spPr>
          <a:xfrm xmlns:a="http://schemas.openxmlformats.org/drawingml/2006/main">
            <a:off x="1104900" y="6057900"/>
            <a:ext cx="7562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72395D74-AFE5-45FC-8309-D0174E5A7AAD}"/>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7423FCB3-1D42-4D28-AA00-C11B67948E0F}"/>
              </a:ext>
            </a:extLst>
          </p:cNvPr>
          <p:cNvSpPr>
            <a:spLocks xmlns:a="http://schemas.openxmlformats.org/drawingml/2006/main" noGrp="1"/>
          </p:cNvSpPr>
          <p:nvPr/>
        </p:nvSpPr>
        <p:spPr>
          <a:xfrm xmlns:a="http://schemas.openxmlformats.org/drawingml/2006/main">
            <a:off x="1104900" y="6819900"/>
            <a:ext cx="7562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38.</a:t>
            </a:r>
          </a:p>
        </p:txBody>
      </p:sp>
      <p:sp>
        <p:nvSpPr>
          <p:cNvPr id="19" name="route-number-7">
            <a:extLst xmlns:a="http://schemas.openxmlformats.org/drawingml/2006/main">
              <a:ext uri="{FF2B5EF4-FFF2-40B4-BE49-F238E27FC236}">
                <a16:creationId xmlns:a16="http://schemas.microsoft.com/office/drawing/2014/main" id="{F0E9F881-FA26-42EB-927A-A5C9A272C2F9}"/>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07F02293-83AA-48BB-8D99-C49C38CD210E}"/>
              </a:ext>
            </a:extLst>
          </p:cNvPr>
          <p:cNvSpPr>
            <a:spLocks xmlns:a="http://schemas.openxmlformats.org/drawingml/2006/main" noGrp="1"/>
          </p:cNvSpPr>
          <p:nvPr/>
        </p:nvSpPr>
        <p:spPr>
          <a:xfrm xmlns:a="http://schemas.openxmlformats.org/drawingml/2006/main">
            <a:off x="1104900" y="7372350"/>
            <a:ext cx="7562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A3EDAEAF-D78F-480D-AD1B-F6367FA92B40}"/>
              </a:ext>
            </a:extLst>
          </p:cNvPr>
          <p:cNvSpPr>
            <a:spLocks xmlns:a="http://schemas.openxmlformats.org/drawingml/2006/main" noGrp="1"/>
          </p:cNvSpPr>
          <p:nvPr/>
        </p:nvSpPr>
        <p:spPr>
          <a:xfrm xmlns:a="http://schemas.openxmlformats.org/drawingml/2006/main">
            <a:off x="9258300" y="17621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65D52B06-C0D9-4E8D-B6E6-E0F4E762130A}"/>
              </a:ext>
            </a:extLst>
          </p:cNvPr>
          <p:cNvSpPr>
            <a:spLocks xmlns:a="http://schemas.openxmlformats.org/drawingml/2006/main" noGrp="1"/>
          </p:cNvSpPr>
          <p:nvPr/>
        </p:nvSpPr>
        <p:spPr>
          <a:xfrm xmlns:a="http://schemas.openxmlformats.org/drawingml/2006/main">
            <a:off x="9258300" y="2324100"/>
            <a:ext cx="5410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Haalbare q kiezen en controleren.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 op GO lezen, winst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grafische route uitleggen.</a:t>
            </a:r>
          </a:p>
        </p:txBody>
      </p:sp>
      <p:sp>
        <p:nvSpPr>
          <p:cNvPr id="23" name="">
            <a:extLst xmlns:a="http://schemas.openxmlformats.org/drawingml/2006/main">
              <a:ext uri="{FF2B5EF4-FFF2-40B4-BE49-F238E27FC236}">
                <a16:creationId xmlns:a16="http://schemas.microsoft.com/office/drawing/2014/main" id="{802FE2BD-F386-42F2-861D-85172450EDBE}"/>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FBF62DD1-130D-41AC-90D1-39EB0CD13188}"/>
              </a:ext>
            </a:extLst>
          </p:cNvPr>
          <p:cNvSpPr>
            <a:spLocks xmlns:a="http://schemas.openxmlformats.org/drawingml/2006/main" noGrp="1"/>
          </p:cNvSpPr>
          <p:nvPr/>
        </p:nvSpPr>
        <p:spPr>
          <a:xfrm xmlns:a="http://schemas.openxmlformats.org/drawingml/2006/main">
            <a:off x="9258300" y="38385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63C01695-37D0-43EA-BA17-BE60228E0B1A}"/>
              </a:ext>
            </a:extLst>
          </p:cNvPr>
          <p:cNvSpPr>
            <a:spLocks xmlns:a="http://schemas.openxmlformats.org/drawingml/2006/main" noGrp="1"/>
          </p:cNvSpPr>
          <p:nvPr/>
        </p:nvSpPr>
        <p:spPr>
          <a:xfrm xmlns:a="http://schemas.openxmlformats.org/drawingml/2006/main">
            <a:off x="9258300" y="4371975"/>
            <a:ext cx="54102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41 · Opgaven 31 en 32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32: verkennen met theorie p. 37</a:t>
            </a:r>
          </a:p>
        </p:txBody>
      </p:sp>
      <p:sp>
        <p:nvSpPr>
          <p:cNvPr id="26" name="">
            <a:extLst xmlns:a="http://schemas.openxmlformats.org/drawingml/2006/main">
              <a:ext uri="{FF2B5EF4-FFF2-40B4-BE49-F238E27FC236}">
                <a16:creationId xmlns:a16="http://schemas.microsoft.com/office/drawing/2014/main" id="{D2301DD5-DA09-4FD9-A214-3905CEFAFE7F}"/>
              </a:ext>
            </a:extLst>
          </p:cNvPr>
          <p:cNvSpPr>
            <a:spLocks xmlns:a="http://schemas.openxmlformats.org/drawingml/2006/main" noGrp="1"/>
          </p:cNvSpPr>
          <p:nvPr/>
        </p:nvSpPr>
        <p:spPr>
          <a:xfrm xmlns:a="http://schemas.openxmlformats.org/drawingml/2006/main">
            <a:off x="9258300" y="55245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C2FB489D-A405-45BD-9320-41DDA9661EA6}"/>
              </a:ext>
            </a:extLst>
          </p:cNvPr>
          <p:cNvSpPr>
            <a:spLocks xmlns:a="http://schemas.openxmlformats.org/drawingml/2006/main" noGrp="1"/>
          </p:cNvSpPr>
          <p:nvPr/>
        </p:nvSpPr>
        <p:spPr>
          <a:xfrm xmlns:a="http://schemas.openxmlformats.org/drawingml/2006/main">
            <a:off x="9258300" y="581025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E7DC3722-3CCA-408F-8C6E-BCD45DD38B19}"/>
              </a:ext>
            </a:extLst>
          </p:cNvPr>
          <p:cNvSpPr>
            <a:spLocks xmlns:a="http://schemas.openxmlformats.org/drawingml/2006/main" noGrp="1"/>
          </p:cNvSpPr>
          <p:nvPr/>
        </p:nvSpPr>
        <p:spPr>
          <a:xfrm xmlns:a="http://schemas.openxmlformats.org/drawingml/2006/main">
            <a:off x="9258300" y="6372225"/>
            <a:ext cx="54102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§4.1.4 · 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33, 34 en 35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36 en 37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38</a:t>
            </a:r>
          </a:p>
        </p:txBody>
      </p:sp>
    </p:spTree>
    <p:extLst>
      <p:ext uri="{BB962C8B-B14F-4D97-AF65-F5344CB8AC3E}">
        <p14:creationId xmlns:p14="http://schemas.microsoft.com/office/powerpoint/2010/main" val="6612408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2026-10-01T16:47:01.8260000Z</dcterms:created>
  <dcterms:modified xsi:type="dcterms:W3CDTF">2026-10-01T16:47:01.8260000Z</dcterms:modified>
</coreProperties>
</file>