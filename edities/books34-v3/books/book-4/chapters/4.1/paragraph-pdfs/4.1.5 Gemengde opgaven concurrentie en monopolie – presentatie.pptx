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4.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56568ec5cbe4ce1" /><Relationship Type="http://schemas.openxmlformats.org/officeDocument/2006/relationships/extended-properties" Target="/docProps/app.xml" Id="R8f669bf239f24c92" /><Relationship Type="http://schemas.openxmlformats.org/officeDocument/2006/relationships/officeDocument" Target="/ppt/presentation.xml" Id="Re1f4208618454a1d" /></Relationships>
</file>

<file path=ppt/presentation.xml><?xml version="1.0" encoding="utf-8"?>
<p:presentation xmlns:p="http://schemas.openxmlformats.org/presentationml/2006/main">
  <p:sldMasterIdLst>
    <p:sldMasterId xmlns:r="http://schemas.openxmlformats.org/officeDocument/2006/relationships" id="2147483648" r:id="R880172c2cdf841a2"/>
  </p:sldMasterIdLst>
  <p:notesMasterIdLst>
    <p:notesMasterId xmlns:r="http://schemas.openxmlformats.org/officeDocument/2006/relationships" r:id="Rd6e002f94adb48eb"/>
  </p:notesMasterIdLst>
  <p:sldIdLst>
    <p:sldId xmlns:r="http://schemas.openxmlformats.org/officeDocument/2006/relationships" id="256" r:id="Rf4056f945c104d45"/>
    <p:sldId xmlns:r="http://schemas.openxmlformats.org/officeDocument/2006/relationships" id="257" r:id="Rd989a87eb1824c9a"/>
    <p:sldId xmlns:r="http://schemas.openxmlformats.org/officeDocument/2006/relationships" id="258" r:id="R774ff5c125d34525"/>
    <p:sldId xmlns:r="http://schemas.openxmlformats.org/officeDocument/2006/relationships" id="259" r:id="Rabe2495809b540bc"/>
    <p:sldId xmlns:r="http://schemas.openxmlformats.org/officeDocument/2006/relationships" id="260" r:id="R911098ab56394986"/>
    <p:sldId xmlns:r="http://schemas.openxmlformats.org/officeDocument/2006/relationships" id="261" r:id="R927745baf3394e67"/>
    <p:sldId xmlns:r="http://schemas.openxmlformats.org/officeDocument/2006/relationships" id="262" r:id="Rcfb68feef12744e7"/>
    <p:sldId xmlns:r="http://schemas.openxmlformats.org/officeDocument/2006/relationships" id="263" r:id="R4932e2566b284620"/>
    <p:sldId xmlns:r="http://schemas.openxmlformats.org/officeDocument/2006/relationships" id="264" r:id="R3d8a8fa4853e4543"/>
    <p:sldId xmlns:r="http://schemas.openxmlformats.org/officeDocument/2006/relationships" id="265" r:id="R11286f9c4c114d3f"/>
    <p:sldId xmlns:r="http://schemas.openxmlformats.org/officeDocument/2006/relationships" id="266" r:id="R6539d52de9ae4dfa"/>
    <p:sldId xmlns:r="http://schemas.openxmlformats.org/officeDocument/2006/relationships" id="267" r:id="R425dd120f7c24f7e"/>
    <p:sldId xmlns:r="http://schemas.openxmlformats.org/officeDocument/2006/relationships" id="268" r:id="R9c8c1ca99df142ff"/>
    <p:sldId xmlns:r="http://schemas.openxmlformats.org/officeDocument/2006/relationships" id="269" r:id="R55c07807dd344941"/>
    <p:sldId xmlns:r="http://schemas.openxmlformats.org/officeDocument/2006/relationships" id="270" r:id="R07331b43ae51439c"/>
    <p:sldId xmlns:r="http://schemas.openxmlformats.org/officeDocument/2006/relationships" id="271" r:id="Rad1ece59d8b042a9"/>
    <p:sldId xmlns:r="http://schemas.openxmlformats.org/officeDocument/2006/relationships" id="272" r:id="R54b44f52f7554eb7"/>
    <p:sldId xmlns:r="http://schemas.openxmlformats.org/officeDocument/2006/relationships" id="273" r:id="R63d717c61e74427a"/>
    <p:sldId xmlns:r="http://schemas.openxmlformats.org/officeDocument/2006/relationships" id="274" r:id="Ra58e9b0eeaca456a"/>
    <p:sldId xmlns:r="http://schemas.openxmlformats.org/officeDocument/2006/relationships" id="275" r:id="R104fc37ba249464c"/>
    <p:sldId xmlns:r="http://schemas.openxmlformats.org/officeDocument/2006/relationships" id="276" r:id="Rb6834ebd9dec4f9d"/>
    <p:sldId xmlns:r="http://schemas.openxmlformats.org/officeDocument/2006/relationships" id="277" r:id="R9ea26352f8c749d3"/>
    <p:sldId xmlns:r="http://schemas.openxmlformats.org/officeDocument/2006/relationships" id="278" r:id="R729972527ae842a3"/>
    <p:sldId xmlns:r="http://schemas.openxmlformats.org/officeDocument/2006/relationships" id="279" r:id="Rab5eca085415415c"/>
    <p:sldId xmlns:r="http://schemas.openxmlformats.org/officeDocument/2006/relationships" id="280" r:id="Re73d4991081a427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1b934989344d86" /><Relationship Type="http://schemas.openxmlformats.org/officeDocument/2006/relationships/slideMaster" Target="/ppt/slideMasters/slideMaster1.xml" Id="R880172c2cdf841a2" /><Relationship Type="http://schemas.openxmlformats.org/officeDocument/2006/relationships/notesMaster" Target="/ppt/notesMasters/notesMaster1.xml" Id="Rd6e002f94adb48eb" /><Relationship Type="http://schemas.openxmlformats.org/officeDocument/2006/relationships/presProps" Target="/ppt/presProps.xml" Id="Rb42d67a1beb94548" /><Relationship Type="http://schemas.openxmlformats.org/officeDocument/2006/relationships/tableStyles" Target="/ppt/tableStyles.xml" Id="R975070fca11a4b94" /><Relationship Type="http://schemas.openxmlformats.org/officeDocument/2006/relationships/slide" Target="/ppt/slides/slide1.xml" Id="Rf4056f945c104d45" /><Relationship Type="http://schemas.openxmlformats.org/officeDocument/2006/relationships/slide" Target="/ppt/slides/slide2.xml" Id="Rd989a87eb1824c9a" /><Relationship Type="http://schemas.openxmlformats.org/officeDocument/2006/relationships/slide" Target="/ppt/slides/slide3.xml" Id="R774ff5c125d34525" /><Relationship Type="http://schemas.openxmlformats.org/officeDocument/2006/relationships/slide" Target="/ppt/slides/slide4.xml" Id="Rabe2495809b540bc" /><Relationship Type="http://schemas.openxmlformats.org/officeDocument/2006/relationships/slide" Target="/ppt/slides/slide5.xml" Id="R911098ab56394986" /><Relationship Type="http://schemas.openxmlformats.org/officeDocument/2006/relationships/slide" Target="/ppt/slides/slide6.xml" Id="R927745baf3394e67" /><Relationship Type="http://schemas.openxmlformats.org/officeDocument/2006/relationships/slide" Target="/ppt/slides/slide7.xml" Id="Rcfb68feef12744e7" /><Relationship Type="http://schemas.openxmlformats.org/officeDocument/2006/relationships/slide" Target="/ppt/slides/slide8.xml" Id="R4932e2566b284620" /><Relationship Type="http://schemas.openxmlformats.org/officeDocument/2006/relationships/slide" Target="/ppt/slides/slide9.xml" Id="R3d8a8fa4853e4543" /><Relationship Type="http://schemas.openxmlformats.org/officeDocument/2006/relationships/slide" Target="/ppt/slides/slide10.xml" Id="R11286f9c4c114d3f" /><Relationship Type="http://schemas.openxmlformats.org/officeDocument/2006/relationships/slide" Target="/ppt/slides/slide11.xml" Id="R6539d52de9ae4dfa" /><Relationship Type="http://schemas.openxmlformats.org/officeDocument/2006/relationships/slide" Target="/ppt/slides/slide12.xml" Id="R425dd120f7c24f7e" /><Relationship Type="http://schemas.openxmlformats.org/officeDocument/2006/relationships/slide" Target="/ppt/slides/slide13.xml" Id="R9c8c1ca99df142ff" /><Relationship Type="http://schemas.openxmlformats.org/officeDocument/2006/relationships/slide" Target="/ppt/slides/slide14.xml" Id="R55c07807dd344941" /><Relationship Type="http://schemas.openxmlformats.org/officeDocument/2006/relationships/slide" Target="/ppt/slides/slide15.xml" Id="R07331b43ae51439c" /><Relationship Type="http://schemas.openxmlformats.org/officeDocument/2006/relationships/slide" Target="/ppt/slides/slide16.xml" Id="Rad1ece59d8b042a9" /><Relationship Type="http://schemas.openxmlformats.org/officeDocument/2006/relationships/slide" Target="/ppt/slides/slide17.xml" Id="R54b44f52f7554eb7" /><Relationship Type="http://schemas.openxmlformats.org/officeDocument/2006/relationships/slide" Target="/ppt/slides/slide18.xml" Id="R63d717c61e74427a" /><Relationship Type="http://schemas.openxmlformats.org/officeDocument/2006/relationships/slide" Target="/ppt/slides/slide19.xml" Id="Ra58e9b0eeaca456a" /><Relationship Type="http://schemas.openxmlformats.org/officeDocument/2006/relationships/slide" Target="/ppt/slides/slide20.xml" Id="R104fc37ba249464c" /><Relationship Type="http://schemas.openxmlformats.org/officeDocument/2006/relationships/slide" Target="/ppt/slides/slide21.xml" Id="Rb6834ebd9dec4f9d" /><Relationship Type="http://schemas.openxmlformats.org/officeDocument/2006/relationships/slide" Target="/ppt/slides/slide22.xml" Id="R9ea26352f8c749d3" /><Relationship Type="http://schemas.openxmlformats.org/officeDocument/2006/relationships/slide" Target="/ppt/slides/slide23.xml" Id="R729972527ae842a3" /><Relationship Type="http://schemas.openxmlformats.org/officeDocument/2006/relationships/slide" Target="/ppt/slides/slide24.xml" Id="Rab5eca085415415c" /><Relationship Type="http://schemas.openxmlformats.org/officeDocument/2006/relationships/slide" Target="/ppt/slides/slide25.xml" Id="Re73d4991081a42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102972cdaf4e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2e01d6ee1741cf" /><Relationship Type="http://schemas.openxmlformats.org/officeDocument/2006/relationships/notesMaster" Target="/ppt/notesMasters/notesMaster1.xml" Id="R90cdd8c6e3c940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33a39878e3435b" /><Relationship Type="http://schemas.openxmlformats.org/officeDocument/2006/relationships/notesMaster" Target="/ppt/notesMasters/notesMaster1.xml" Id="R85e8190f844b46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daeb18fe8a4268" /><Relationship Type="http://schemas.openxmlformats.org/officeDocument/2006/relationships/notesMaster" Target="/ppt/notesMasters/notesMaster1.xml" Id="Re914e095ae1b4b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d3b9110d7645df" /><Relationship Type="http://schemas.openxmlformats.org/officeDocument/2006/relationships/notesMaster" Target="/ppt/notesMasters/notesMaster1.xml" Id="R14c48bf8597d45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364fc4750b4372" /><Relationship Type="http://schemas.openxmlformats.org/officeDocument/2006/relationships/notesMaster" Target="/ppt/notesMasters/notesMaster1.xml" Id="R17e329ac54354e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08a6d26c7744bb" /><Relationship Type="http://schemas.openxmlformats.org/officeDocument/2006/relationships/notesMaster" Target="/ppt/notesMasters/notesMaster1.xml" Id="R4908eca4de1944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e455f74fe24446" /><Relationship Type="http://schemas.openxmlformats.org/officeDocument/2006/relationships/notesMaster" Target="/ppt/notesMasters/notesMaster1.xml" Id="R697ba5a8b10743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493cb084564e36" /><Relationship Type="http://schemas.openxmlformats.org/officeDocument/2006/relationships/notesMaster" Target="/ppt/notesMasters/notesMaster1.xml" Id="R7cc9cc8155454d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89b6ef2b534c88" /><Relationship Type="http://schemas.openxmlformats.org/officeDocument/2006/relationships/notesMaster" Target="/ppt/notesMasters/notesMaster1.xml" Id="R2f8bdbdb4bd44e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2e3f0af5bd44ae" /><Relationship Type="http://schemas.openxmlformats.org/officeDocument/2006/relationships/notesMaster" Target="/ppt/notesMasters/notesMaster1.xml" Id="R5b6d2961024b44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8b2da943e745fd" /><Relationship Type="http://schemas.openxmlformats.org/officeDocument/2006/relationships/notesMaster" Target="/ppt/notesMasters/notesMaster1.xml" Id="Rb95d20af73a545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766a285c3c43b2" /><Relationship Type="http://schemas.openxmlformats.org/officeDocument/2006/relationships/notesMaster" Target="/ppt/notesMasters/notesMaster1.xml" Id="R9bbc982030964e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e505d76df64047" /><Relationship Type="http://schemas.openxmlformats.org/officeDocument/2006/relationships/notesMaster" Target="/ppt/notesMasters/notesMaster1.xml" Id="Rddae652f86c54f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7bbfe15c424f10" /><Relationship Type="http://schemas.openxmlformats.org/officeDocument/2006/relationships/notesMaster" Target="/ppt/notesMasters/notesMaster1.xml" Id="R99762de7f6f543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44334fa47a491b" /><Relationship Type="http://schemas.openxmlformats.org/officeDocument/2006/relationships/notesMaster" Target="/ppt/notesMasters/notesMaster1.xml" Id="R7027654daae844e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381382f8a84091" /><Relationship Type="http://schemas.openxmlformats.org/officeDocument/2006/relationships/notesMaster" Target="/ppt/notesMasters/notesMaster1.xml" Id="R60e80b4e31ba45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71a037e27344c6" /><Relationship Type="http://schemas.openxmlformats.org/officeDocument/2006/relationships/notesMaster" Target="/ppt/notesMasters/notesMaster1.xml" Id="Ra8882db1170b4d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e1464ccc5d47af" /><Relationship Type="http://schemas.openxmlformats.org/officeDocument/2006/relationships/notesMaster" Target="/ppt/notesMasters/notesMaster1.xml" Id="Rcd915e490d7f4c9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5c0476ce0d4ab0" /><Relationship Type="http://schemas.openxmlformats.org/officeDocument/2006/relationships/notesMaster" Target="/ppt/notesMasters/notesMaster1.xml" Id="R0cc92ac49fd94d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16c183196c4799" /><Relationship Type="http://schemas.openxmlformats.org/officeDocument/2006/relationships/notesMaster" Target="/ppt/notesMasters/notesMaster1.xml" Id="R2043ece3aeef4c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4cecca99814c91" /><Relationship Type="http://schemas.openxmlformats.org/officeDocument/2006/relationships/notesMaster" Target="/ppt/notesMasters/notesMaster1.xml" Id="R8f5e65bcb2c6422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e44d9a6d0c34d06" /><Relationship Type="http://schemas.openxmlformats.org/officeDocument/2006/relationships/notesMaster" Target="/ppt/notesMasters/notesMaster1.xml" Id="R8c8ae1dac16443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8c4847c643f4a68" /><Relationship Type="http://schemas.openxmlformats.org/officeDocument/2006/relationships/notesMaster" Target="/ppt/notesMasters/notesMaster1.xml" Id="R896fed8c586e49e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9ec0e22e0934641" /><Relationship Type="http://schemas.openxmlformats.org/officeDocument/2006/relationships/notesMaster" Target="/ppt/notesMasters/notesMaster1.xml" Id="R54589138119c45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70002370d97418e" /><Relationship Type="http://schemas.openxmlformats.org/officeDocument/2006/relationships/notesMaster" Target="/ppt/notesMasters/notesMaster1.xml" Id="R58cb8d9927854b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brongegeven beslist jouw keuze?</a:t>
            </a:r>
          </a:p>
          <a:p xmlns:a="http://schemas.openxmlformats.org/drawingml/2006/main">
            <a:r>
              <a:rPr sz="1400"/>
              <a:t/>
            </a:r>
          </a:p>
          <a:p xmlns:a="http://schemas.openxmlformats.org/drawingml/2006/main">
            <a:r>
              <a:rPr sz="1400"/>
              <a:t>Uitleg: Laat deze dia staan tijdens startopdracht. Start is de eerste werkelijke gemengde opgave, 41. De docentroute noemt voorbereiding 41, 41A, 42–44 en doeloefening 45. Er zijn geen aparte basis-, zelfstandige, bonus- of herhalingssecties. Huiswerk is alle gemengde opgaven: 41, 41A en 42 tot en met 48, maken en nakijken. 46–48 blijven dus inbegrepen. Start 41 haalt eerder onderwezen bronselectie uit §4.1.2 op: afgebakende markt, vervangers, toetredingsbarrière en gegeven marktprijs (boek p.16–19). Dit is retrieval, geen nieuwe procedure. Bespreek na de poging zo nodig waarom een foto geen volledig marktbeeld bewijst. Controleer dat leerlingen de verschillende markten los houden. De hele oefenroute heeft geen bewezen eenlesfit; vervolg kan als huiswerk of in een volgende les.</a:t>
            </a:r>
          </a:p>
          <a:p xmlns:a="http://schemas.openxmlformats.org/drawingml/2006/main">
            <a:r>
              <a:rPr sz="1400"/>
              <a:t/>
            </a:r>
          </a:p>
          <a:p xmlns:a="http://schemas.openxmlformats.org/drawingml/2006/main">
            <a:r>
              <a:rPr sz="1400"/>
              <a:t>Misvatting: Voorbereiding betekent hier gemengde oefening, niet een nieuw bedachte basisroute.</a:t>
            </a:r>
          </a:p>
          <a:p xmlns:a="http://schemas.openxmlformats.org/drawingml/2006/main">
            <a:r>
              <a:rPr sz="1400"/>
              <a:t/>
            </a:r>
          </a:p>
          <a:p xmlns:a="http://schemas.openxmlformats.org/drawingml/2006/main">
            <a:r>
              <a:rPr sz="1400"/>
              <a:t>Overgang: Ga door naar de volgende lesfase.</a:t>
            </a:r>
          </a:p>
          <a:p xmlns:a="http://schemas.openxmlformats.org/drawingml/2006/main">
            <a:r>
              <a:rPr sz="1400"/>
              <a:t/>
            </a:r>
          </a:p>
          <a:p xmlns:a="http://schemas.openxmlformats.org/drawingml/2006/main">
            <a:r>
              <a:rPr sz="1400"/>
              <a:t>Bron: Boek 4, editie books34-v3, commit e734532a42b27732ac25ce990fc9448b12309d28. Gedrukte boekpagina 46–50.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Gebruik de gedrukte paginanummers uit de complete boek-PDF.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geeft de prijs bij elk model?</a:t>
            </a:r>
          </a:p>
          <a:p xmlns:a="http://schemas.openxmlformats.org/drawingml/2006/main">
            <a:r>
              <a:rPr sz="1400"/>
              <a:t/>
            </a:r>
          </a:p>
          <a:p xmlns:a="http://schemas.openxmlformats.org/drawingml/2006/main">
            <a:r>
              <a:rPr sz="1400"/>
              <a:t>Uitleg: Korte herhaling na de startpoging. Vraag naar het beslissende brongegeven, niet naar de uiterlijke vorm van het bedrijf. GO is bij uniforme prijzen de verkoopprijs. De prijsnemer kan tegen de gegeven prijs afzetten binnen het model; bij een monopolist vereist meer afzet een lagere uniforme prijs. MO = MK is een kandidaatregel: controleer richting, capaciteit en waar nodig q = 0.</a:t>
            </a:r>
          </a:p>
          <a:p xmlns:a="http://schemas.openxmlformats.org/drawingml/2006/main">
            <a:r>
              <a:rPr sz="1400"/>
              <a:t/>
            </a:r>
          </a:p>
          <a:p xmlns:a="http://schemas.openxmlformats.org/drawingml/2006/main">
            <a:r>
              <a:rPr sz="1400"/>
              <a:t>Misvatting: Een eigen merk bewijst geen monopolie. De marginale vergelijking alleen geeft nog geen volledige productieaanbeveling.</a:t>
            </a:r>
          </a:p>
          <a:p xmlns:a="http://schemas.openxmlformats.org/drawingml/2006/main">
            <a:r>
              <a:rPr sz="1400"/>
              <a:t/>
            </a:r>
          </a:p>
          <a:p xmlns:a="http://schemas.openxmlformats.org/drawingml/2006/main">
            <a:r>
              <a:rPr sz="1400"/>
              <a:t>Overgang: Pas de bekende stappen toe op een apart uitlegvoorbeeld.</a:t>
            </a:r>
          </a:p>
          <a:p xmlns:a="http://schemas.openxmlformats.org/drawingml/2006/main">
            <a:r>
              <a:rPr sz="1400"/>
              <a:t/>
            </a:r>
          </a:p>
          <a:p xmlns:a="http://schemas.openxmlformats.org/drawingml/2006/main">
            <a:r>
              <a:rPr sz="1400"/>
              <a:t>Bron: Boek 4, editie books34-v3, commit e734532a42b27732ac25ce990fc9448b12309d28. Gedrukte boekpagina 16–19, 35–40.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term in de kosten heeft afgeleide nul?</a:t>
            </a:r>
          </a:p>
          <a:p xmlns:a="http://schemas.openxmlformats.org/drawingml/2006/main">
            <a:r>
              <a:rPr sz="1400"/>
              <a:t/>
            </a:r>
          </a:p>
          <a:p xmlns:a="http://schemas.openxmlformats.org/drawingml/2006/main">
            <a:r>
              <a:rPr sz="1400"/>
              <a:t>Uitleg: Zelfbedacht voorbeeld Gel Nova. Alle kg in een plan krijgen dezelfde prijs; 72 euro blijft deze week ook zonder productie bestaan. De bron maakt dit een monopolie. Vermenigvuldig de hele vraagfunctie met q. Differentieer daarna TO en TK. De constante 72 valt in MK weg maar blijft in TK. Data, context en uitkomsten zijn niet uit het boek.</a:t>
            </a:r>
          </a:p>
          <a:p xmlns:a="http://schemas.openxmlformats.org/drawingml/2006/main">
            <a:r>
              <a:rPr sz="1400"/>
              <a:t/>
            </a:r>
          </a:p>
          <a:p xmlns:a="http://schemas.openxmlformats.org/drawingml/2006/main">
            <a:r>
              <a:rPr sz="1400"/>
              <a:t>Misvatting: De constante kosten uit de winstberekening weglaten omdat hun afgeleide nul is.</a:t>
            </a:r>
          </a:p>
          <a:p xmlns:a="http://schemas.openxmlformats.org/drawingml/2006/main">
            <a:r>
              <a:rPr sz="1400"/>
              <a:t/>
            </a:r>
          </a:p>
          <a:p xmlns:a="http://schemas.openxmlformats.org/drawingml/2006/main">
            <a:r>
              <a:rPr sz="1400"/>
              <a:t>Overgang: Kies q, controleer de capaciteit en bepaal de prijs.</a:t>
            </a:r>
          </a:p>
          <a:p xmlns:a="http://schemas.openxmlformats.org/drawingml/2006/main">
            <a:r>
              <a:rPr sz="1400"/>
              <a:t/>
            </a:r>
          </a:p>
          <a:p xmlns:a="http://schemas.openxmlformats.org/drawingml/2006/main">
            <a:r>
              <a:rPr sz="1400"/>
              <a:t>Bron: Boek 4, editie books34-v3, commit e734532a42b27732ac25ce990fc9448b12309d28. Gedrukte boekpagina 25, 40.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Eigen voorbeeld; alleen de methode is ontleend aan §4.1.3 en §4.1.4.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betalen kopers 19 euro en geen 12 euro?</a:t>
            </a:r>
          </a:p>
          <a:p xmlns:a="http://schemas.openxmlformats.org/drawingml/2006/main">
            <a:r>
              <a:rPr sz="1400"/>
              <a:t/>
            </a:r>
          </a:p>
          <a:p xmlns:a="http://schemas.openxmlformats.org/drawingml/2006/main">
            <a:r>
              <a:rPr sz="1400"/>
              <a:t>Uitleg: Eigen voorbeeld. 21 = 0,75q geeft q = 28. MO daalt en MK stijgt: vóór 28 is uitbreiden gunstig, erna ongunstig. 28 is haalbaar bij capaciteit 36. Op het snijpunt is het marginale bedrag 12 euro per kg. Ga bij dezelfde q naar GO: 26 − 7 = 19 euro per kg. De grafiek toont functies tot 40 om de lijnrichting te zien; alleen q tot 36 is haalbaar. Laat de klas de route eerst mondeling terughalen, wijs daarna de hulplijnen aan.</a:t>
            </a:r>
          </a:p>
          <a:p xmlns:a="http://schemas.openxmlformats.org/drawingml/2006/main">
            <a:r>
              <a:rPr sz="1400"/>
              <a:t/>
            </a:r>
          </a:p>
          <a:p xmlns:a="http://schemas.openxmlformats.org/drawingml/2006/main">
            <a:r>
              <a:rPr sz="1400"/>
              <a:t>Misvatting: Een getal op MO gelijkstellen aan de verkoopprijs.</a:t>
            </a:r>
          </a:p>
          <a:p xmlns:a="http://schemas.openxmlformats.org/drawingml/2006/main">
            <a:r>
              <a:rPr sz="1400"/>
              <a:t/>
            </a:r>
          </a:p>
          <a:p xmlns:a="http://schemas.openxmlformats.org/drawingml/2006/main">
            <a:r>
              <a:rPr sz="1400"/>
              <a:t>Overgang: Controleer vervolgens de totale winst en de keuze om te produceren.</a:t>
            </a:r>
          </a:p>
          <a:p xmlns:a="http://schemas.openxmlformats.org/drawingml/2006/main">
            <a:r>
              <a:rPr sz="1400"/>
              <a:t/>
            </a:r>
          </a:p>
          <a:p xmlns:a="http://schemas.openxmlformats.org/drawingml/2006/main">
            <a:r>
              <a:rPr sz="1400"/>
              <a:t>Bron: Boek 4, editie books34-v3, commit e734532a42b27732ac25ce990fc9448b12309d28. Gedrukte boekpagina 36–37, 40.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Uitlegvoorbeeld — niet uit het boek.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je opnieuw controleren als de capaciteit daalt?</a:t>
            </a:r>
          </a:p>
          <a:p xmlns:a="http://schemas.openxmlformats.org/drawingml/2006/main">
            <a:r>
              <a:rPr sz="1400"/>
              <a:t/>
            </a:r>
          </a:p>
          <a:p xmlns:a="http://schemas.openxmlformats.org/drawingml/2006/main">
            <a:r>
              <a:rPr sz="1400"/>
              <a:t>Uitleg: Eigen voorbeeld. Positieve winst 222 is hoger dan het verlies 72 bij niet produceren. Controle via gemiddelden: (19 − 310/28) × 28 = 222, met ongeronde GTK. Bij een hypothetische capaciteit van 20 is 28 onhaalbaar. MO(20)=16 en MK(20)=10, dus winst neemt nog toe tot die grens. q=20 geeft P=21, TO=420, TK=222 en winst=198, beter dan q=0. Dit is extra uitleg binnen hetzelfde eigen voorbeeld; het is geen antwoord op toegewezen opgave 47. Een grotere capaciteit verplicht niet tot volledig benutten.</a:t>
            </a:r>
          </a:p>
          <a:p xmlns:a="http://schemas.openxmlformats.org/drawingml/2006/main">
            <a:r>
              <a:rPr sz="1400"/>
              <a:t/>
            </a:r>
          </a:p>
          <a:p xmlns:a="http://schemas.openxmlformats.org/drawingml/2006/main">
            <a:r>
              <a:rPr sz="1400"/>
              <a:t>Misvatting: Maximale omzet en maximale winst verwarren, of altijd de volle capaciteit kiezen.</a:t>
            </a:r>
          </a:p>
          <a:p xmlns:a="http://schemas.openxmlformats.org/drawingml/2006/main">
            <a:r>
              <a:rPr sz="1400"/>
              <a:t/>
            </a:r>
          </a:p>
          <a:p xmlns:a="http://schemas.openxmlformats.org/drawingml/2006/main">
            <a:r>
              <a:rPr sz="1400"/>
              <a:t>Overgang: Herhaal de overige rekenbegrippen kort voordat leerlingen zelf aan de slag gaan.</a:t>
            </a:r>
          </a:p>
          <a:p xmlns:a="http://schemas.openxmlformats.org/drawingml/2006/main">
            <a:r>
              <a:rPr sz="1400"/>
              <a:t/>
            </a:r>
          </a:p>
          <a:p xmlns:a="http://schemas.openxmlformats.org/drawingml/2006/main">
            <a:r>
              <a:rPr sz="1400"/>
              <a:t>Bron: Boek 4, editie books34-v3, commit e734532a42b27732ac25ce990fc9448b12309d28. Gedrukte boekpagina 38–40.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Eigen context en getallen; boek alleen als methodebron.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vergelijking heb je nodig om break-even te toetsen?</a:t>
            </a:r>
          </a:p>
          <a:p xmlns:a="http://schemas.openxmlformats.org/drawingml/2006/main">
            <a:r>
              <a:rPr sz="1400"/>
              <a:t/>
            </a:r>
          </a:p>
          <a:p xmlns:a="http://schemas.openxmlformats.org/drawingml/2006/main">
            <a:r>
              <a:rPr sz="1400"/>
              <a:t>Uitleg: Korte formuleherhaling. Bij q &gt; 0 zijn GO=TO/q en GTK=TK/q. Break-even betekent TO=TK. Bij percentages is de oude waarde de noemer. Voor dalende vraag: Ev &lt; −1 elastisch; −1 &lt; Ev &lt; 0 inelastisch; Ev = −1 unitair. Bij discrete veranderingen bereken je beide omzetten rechtstreeks, niet via een absolute vuistregel. Een uniforme prijsverlaging geeft opbrengst op extra kg en minder opbrengst op de eerder in het andere plan verkochte kg. Een tabelmaximum betreft alleen de gegeven plannen; een winstmaximum betreft de onderneming en is geen welvaartsoordeel. Haal bij 41A zo nodig de betekenis van normale beloning terug uit §4.1.1; los 41A hier niet vooraf op.</a:t>
            </a:r>
          </a:p>
          <a:p xmlns:a="http://schemas.openxmlformats.org/drawingml/2006/main">
            <a:r>
              <a:rPr sz="1400"/>
              <a:t/>
            </a:r>
          </a:p>
          <a:p xmlns:a="http://schemas.openxmlformats.org/drawingml/2006/main">
            <a:r>
              <a:rPr sz="1400"/>
              <a:t>Misvatting: Een hoger TO als bewijs voor een winstmaximum gebruiken.</a:t>
            </a:r>
          </a:p>
          <a:p xmlns:a="http://schemas.openxmlformats.org/drawingml/2006/main">
            <a:r>
              <a:rPr sz="1400"/>
              <a:t/>
            </a:r>
          </a:p>
          <a:p xmlns:a="http://schemas.openxmlformats.org/drawingml/2006/main">
            <a:r>
              <a:rPr sz="1400"/>
              <a:t>Overgang: Laat het overzicht staan en laat leerlingen de gemengde oefenroute zelf uitwerken.</a:t>
            </a:r>
          </a:p>
          <a:p xmlns:a="http://schemas.openxmlformats.org/drawingml/2006/main">
            <a:r>
              <a:rPr sz="1400"/>
              <a:t/>
            </a:r>
          </a:p>
          <a:p xmlns:a="http://schemas.openxmlformats.org/drawingml/2006/main">
            <a:r>
              <a:rPr sz="1400"/>
              <a:t>Bron: Boek 4, editie books34-v3, commit e734532a42b27732ac25ce990fc9448b12309d28. Gedrukte boekpagina 24–25, 35–40, 47, 50.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Elasticiteitsmethode: Book 2, chat-2026, §2.2.1 Rekenen met de oude waarde en §2.2.2 Elasticiteit en omzet; exacte bestanden en hashes in bronmanifest.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 of stap vraagt nog uitleg?</a:t>
            </a:r>
          </a:p>
          <a:p xmlns:a="http://schemas.openxmlformats.org/drawingml/2006/main">
            <a:r>
              <a:rPr sz="1400"/>
              <a:t/>
            </a:r>
          </a:p>
          <a:p xmlns:a="http://schemas.openxmlformats.org/drawingml/2006/main">
            <a:r>
              <a:rPr sz="1400"/>
              <a:t>Uitleg: Laat deze dia staan tijdens zelfstandig werken. Start is de eerste werkelijke gemengde opgave, 41. De docentroute noemt voorbereiding 41, 41A, 42–44 en doeloefening 45. Er zijn geen aparte basis-, zelfstandige, bonus- of herhalingssecties. Huiswerk is alle gemengde opgaven: 41, 41A en 42 tot en met 48, maken en nakijken. 46–48 blijven dus inbegrepen. Start 41 haalt eerder onderwezen bronselectie uit §4.1.2 op: afgebakende markt, vervangers, toetredingsbarrière en gegeven marktprijs (boek p.16–19). Dit is retrieval, geen nieuwe procedure. Bespreek na de poging zo nodig waarom een foto geen volledig marktbeeld bewijst. Controleer dat leerlingen de verschillende markten los houden. De hele oefenroute heeft geen bewezen eenlesfit; vervolg kan als huiswerk of in een volgende les.</a:t>
            </a:r>
          </a:p>
          <a:p xmlns:a="http://schemas.openxmlformats.org/drawingml/2006/main">
            <a:r>
              <a:rPr sz="1400"/>
              <a:t/>
            </a:r>
          </a:p>
          <a:p xmlns:a="http://schemas.openxmlformats.org/drawingml/2006/main">
            <a:r>
              <a:rPr sz="1400"/>
              <a:t>Misvatting: Voorbereiding betekent hier gemengde oefening, niet een nieuw bedachte basisroute.</a:t>
            </a:r>
          </a:p>
          <a:p xmlns:a="http://schemas.openxmlformats.org/drawingml/2006/main">
            <a:r>
              <a:rPr sz="1400"/>
              <a:t/>
            </a:r>
          </a:p>
          <a:p xmlns:a="http://schemas.openxmlformats.org/drawingml/2006/main">
            <a:r>
              <a:rPr sz="1400"/>
              <a:t>Overgang: Ga door naar de volgende lesfase.</a:t>
            </a:r>
          </a:p>
          <a:p xmlns:a="http://schemas.openxmlformats.org/drawingml/2006/main">
            <a:r>
              <a:rPr sz="1400"/>
              <a:t/>
            </a:r>
          </a:p>
          <a:p xmlns:a="http://schemas.openxmlformats.org/drawingml/2006/main">
            <a:r>
              <a:rPr sz="1400"/>
              <a:t>Bron: Boek 4, editie books34-v3, commit e734532a42b27732ac25ce990fc9448b12309d28. Gedrukte boekpagina 46–50.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Gebruik de gedrukte paginanummers uit de complete boek-PDF.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staan letterlijk in de bron?</a:t>
            </a:r>
          </a:p>
          <a:p xmlns:a="http://schemas.openxmlformats.org/drawingml/2006/main">
            <a:r>
              <a:rPr sz="1400"/>
              <a:t/>
            </a:r>
          </a:p>
          <a:p xmlns:a="http://schemas.openxmlformats.org/drawingml/2006/main">
            <a:r>
              <a:rPr sz="1400"/>
              <a:t>Uitleg: Volledige bron A bij de werkelijke doeloefening 45. Leerlingen hebben deze eerst zelf geprobeerd. Geef nu eerst de drie bronnen, figuur en alle vragen; onthul nog geen antwoord.</a:t>
            </a:r>
          </a:p>
          <a:p xmlns:a="http://schemas.openxmlformats.org/drawingml/2006/main">
            <a:r>
              <a:rPr sz="1400"/>
              <a:t/>
            </a:r>
          </a:p>
          <a:p xmlns:a="http://schemas.openxmlformats.org/drawingml/2006/main">
            <a:r>
              <a:rPr sz="1400"/>
              <a:t>Misvatting: Het antwoord op 45a nu al aanwijzen.</a:t>
            </a:r>
          </a:p>
          <a:p xmlns:a="http://schemas.openxmlformats.org/drawingml/2006/main">
            <a:r>
              <a:rPr sz="1400"/>
              <a:t/>
            </a:r>
          </a:p>
          <a:p xmlns:a="http://schemas.openxmlformats.org/drawingml/2006/main">
            <a:r>
              <a:rPr sz="1400"/>
              <a:t>Overgang: Lees de rekengegevens van bron B.</a:t>
            </a:r>
          </a:p>
          <a:p xmlns:a="http://schemas.openxmlformats.org/drawingml/2006/main">
            <a:r>
              <a:rPr sz="1400"/>
              <a:t/>
            </a:r>
          </a:p>
          <a:p xmlns:a="http://schemas.openxmlformats.org/drawingml/2006/main">
            <a:r>
              <a:rPr sz="1400"/>
              <a:t>Bron: Boek 4, editie books34-v3, commit e734532a42b27732ac25ce990fc9448b12309d28. Gedrukte boekpagina 48.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In welke eenheid staat iedere formule?</a:t>
            </a:r>
          </a:p>
          <a:p xmlns:a="http://schemas.openxmlformats.org/drawingml/2006/main">
            <a:r>
              <a:rPr sz="1400"/>
              <a:t/>
            </a:r>
          </a:p>
          <a:p xmlns:a="http://schemas.openxmlformats.org/drawingml/2006/main">
            <a:r>
              <a:rPr sz="1400"/>
              <a:t>Uitleg: Volledige bron B in leesbare onderdelen. De uniforme prijs hoort bij één verkoopplan. De kosten 120 bestaan ook bij nul productie. Leg gegevens alleen vast, geef nog geen marginale functies of uitkomst.</a:t>
            </a:r>
          </a:p>
          <a:p xmlns:a="http://schemas.openxmlformats.org/drawingml/2006/main">
            <a:r>
              <a:rPr sz="1400"/>
              <a:t/>
            </a:r>
          </a:p>
          <a:p xmlns:a="http://schemas.openxmlformats.org/drawingml/2006/main">
            <a:r>
              <a:rPr sz="1400"/>
              <a:t>Misvatting: Een bedrag per kg met een totaal per week verwarren.</a:t>
            </a:r>
          </a:p>
          <a:p xmlns:a="http://schemas.openxmlformats.org/drawingml/2006/main">
            <a:r>
              <a:rPr sz="1400"/>
              <a:t/>
            </a:r>
          </a:p>
          <a:p xmlns:a="http://schemas.openxmlformats.org/drawingml/2006/main">
            <a:r>
              <a:rPr sz="1400"/>
              <a:t>Overgang: Bekijk figuur 21 zonder oplossingen.</a:t>
            </a:r>
          </a:p>
          <a:p xmlns:a="http://schemas.openxmlformats.org/drawingml/2006/main">
            <a:r>
              <a:rPr sz="1400"/>
              <a:t/>
            </a:r>
          </a:p>
          <a:p xmlns:a="http://schemas.openxmlformats.org/drawingml/2006/main">
            <a:r>
              <a:rPr sz="1400"/>
              <a:t>Bron: Boek 4, editie books34-v3, commit e734532a42b27732ac25ce990fc9448b12309d28. Gedrukte boekpagina 48.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drie lijnen staan in de bronfiguur?</a:t>
            </a:r>
          </a:p>
          <a:p xmlns:a="http://schemas.openxmlformats.org/drawingml/2006/main">
            <a:r>
              <a:rPr sz="1400"/>
              <a:t/>
            </a:r>
          </a:p>
          <a:p xmlns:a="http://schemas.openxmlformats.org/drawingml/2006/main">
            <a:r>
              <a:rPr sz="1400"/>
              <a:t>Uitleg: Figuur 21, opnieuw gezet als native XY-grafiek met dezelfde functies en assen: q 0–80 kg per week, bedrag 0–32 euro per kg. De drie lijnen zijn gegeven. Markeer op de volgende pagina je gekozen hoeveelheids- en prijsroute in deze figuur. De originele figuur toont ook waarden buiten capaciteit 60; die zijn geen haalbare productieplannen. Nog geen gekozen q of hulplijnen tonen.</a:t>
            </a:r>
          </a:p>
          <a:p xmlns:a="http://schemas.openxmlformats.org/drawingml/2006/main">
            <a:r>
              <a:rPr sz="1400"/>
              <a:t/>
            </a:r>
          </a:p>
          <a:p xmlns:a="http://schemas.openxmlformats.org/drawingml/2006/main">
            <a:r>
              <a:rPr sz="1400"/>
              <a:t>Misvatting: Alle getekende hoeveelheden automatisch haalbaar noemen.</a:t>
            </a:r>
          </a:p>
          <a:p xmlns:a="http://schemas.openxmlformats.org/drawingml/2006/main">
            <a:r>
              <a:rPr sz="1400"/>
              <a:t/>
            </a:r>
          </a:p>
          <a:p xmlns:a="http://schemas.openxmlformats.org/drawingml/2006/main">
            <a:r>
              <a:rPr sz="1400"/>
              <a:t>Overgang: Lees bron C op een afzonderlijke markt.</a:t>
            </a:r>
          </a:p>
          <a:p xmlns:a="http://schemas.openxmlformats.org/drawingml/2006/main">
            <a:r>
              <a:rPr sz="1400"/>
              <a:t/>
            </a:r>
          </a:p>
          <a:p xmlns:a="http://schemas.openxmlformats.org/drawingml/2006/main">
            <a:r>
              <a:rPr sz="1400"/>
              <a:t>Bron: Boek 4, editie books34-v3, commit e734532a42b27732ac25ce990fc9448b12309d28. Gedrukte boekpagina 48.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Figuurbron: https://github.com/meijer1973/4veco-lessen/blob/e734532a42b27732ac25ce990fc9448b12309d28/edities/books34-v3/books/book-4/chapters/4.1/_assets/4.1.4_target.svg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zijn gelijk aan bron B en welke verschillen?</a:t>
            </a:r>
          </a:p>
          <a:p xmlns:a="http://schemas.openxmlformats.org/drawingml/2006/main">
            <a:r>
              <a:rPr sz="1400"/>
              <a:t/>
            </a:r>
          </a:p>
          <a:p xmlns:a="http://schemas.openxmlformats.org/drawingml/2006/main">
            <a:r>
              <a:rPr sz="1400"/>
              <a:t>Uitleg: Volledige bron C. De prijsnemer verkoopt het standaardmengsel op een andere markt. B en C zijn afzonderlijke oefencases, niet twee beleidsvarianten van dezelfde markt. De kostenformule is bewust gelijk gehouden om de opbrengstroutes te vergelijken. De vragen staan op de tegenoverliggende boekpagina.</a:t>
            </a:r>
          </a:p>
          <a:p xmlns:a="http://schemas.openxmlformats.org/drawingml/2006/main">
            <a:r>
              <a:rPr sz="1400"/>
              <a:t/>
            </a:r>
          </a:p>
          <a:p xmlns:a="http://schemas.openxmlformats.org/drawingml/2006/main">
            <a:r>
              <a:rPr sz="1400"/>
              <a:t>Misvatting: De twee bedrijven behandelen als voor en na monopolievorming.</a:t>
            </a:r>
          </a:p>
          <a:p xmlns:a="http://schemas.openxmlformats.org/drawingml/2006/main">
            <a:r>
              <a:rPr sz="1400"/>
              <a:t/>
            </a:r>
          </a:p>
          <a:p xmlns:a="http://schemas.openxmlformats.org/drawingml/2006/main">
            <a:r>
              <a:rPr sz="1400"/>
              <a:t>Overgang: Toon nu alle deelvragen zonder oplossingen.</a:t>
            </a:r>
          </a:p>
          <a:p xmlns:a="http://schemas.openxmlformats.org/drawingml/2006/main">
            <a:r>
              <a:rPr sz="1400"/>
              <a:t/>
            </a:r>
          </a:p>
          <a:p xmlns:a="http://schemas.openxmlformats.org/drawingml/2006/main">
            <a:r>
              <a:rPr sz="1400"/>
              <a:t>Bron: Boek 4, editie books34-v3, commit e734532a42b27732ac25ce990fc9448b12309d28. Gedrukte boekpagina 48.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deelvraag vraagt een berekening, welke vraagt bronbewijs?</a:t>
            </a:r>
          </a:p>
          <a:p xmlns:a="http://schemas.openxmlformats.org/drawingml/2006/main">
            <a:r>
              <a:rPr sz="1400"/>
              <a:t/>
            </a:r>
          </a:p>
          <a:p xmlns:a="http://schemas.openxmlformats.org/drawingml/2006/main">
            <a:r>
              <a:rPr sz="1400"/>
              <a:t>Uitleg: Volledige oorspronkelijke deelvragen, inclusief punten. Alle bronnen en vragen gaan vóór de eerste antwoorddia. Gebruik de gedrukte pagina 48 uit het complete boek; de manuscriptverwijzing 44 is lokaal. Geef denktijd en laat leerlingen hun eigen aanpak erbij houden.</a:t>
            </a:r>
          </a:p>
          <a:p xmlns:a="http://schemas.openxmlformats.org/drawingml/2006/main">
            <a:r>
              <a:rPr sz="1400"/>
              <a:t/>
            </a:r>
          </a:p>
          <a:p xmlns:a="http://schemas.openxmlformats.org/drawingml/2006/main">
            <a:r>
              <a:rPr sz="1400"/>
              <a:t>Misvatting: Een getal zonder eenheid of een berekening zonder modelkeuze als volledig antwoord accepteren.</a:t>
            </a:r>
          </a:p>
          <a:p xmlns:a="http://schemas.openxmlformats.org/drawingml/2006/main">
            <a:r>
              <a:rPr sz="1400"/>
              <a:t/>
            </a:r>
          </a:p>
          <a:p xmlns:a="http://schemas.openxmlformats.org/drawingml/2006/main">
            <a:r>
              <a:rPr sz="1400"/>
              <a:t>Overgang: Lees de volgende twee deelvragen.</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deelvraag vraagt een berekening, welke vraagt bronbewijs?</a:t>
            </a:r>
          </a:p>
          <a:p xmlns:a="http://schemas.openxmlformats.org/drawingml/2006/main">
            <a:r>
              <a:rPr sz="1400"/>
              <a:t/>
            </a:r>
          </a:p>
          <a:p xmlns:a="http://schemas.openxmlformats.org/drawingml/2006/main">
            <a:r>
              <a:rPr sz="1400"/>
              <a:t>Uitleg: Volledige oorspronkelijke deelvragen, inclusief punten. Alle bronnen en vragen gaan vóór de eerste antwoorddia. Gebruik de gedrukte pagina 48 uit het complete boek; de manuscriptverwijzing 44 is lokaal. Geef denktijd en laat leerlingen hun eigen aanpak erbij houden.</a:t>
            </a:r>
          </a:p>
          <a:p xmlns:a="http://schemas.openxmlformats.org/drawingml/2006/main">
            <a:r>
              <a:rPr sz="1400"/>
              <a:t/>
            </a:r>
          </a:p>
          <a:p xmlns:a="http://schemas.openxmlformats.org/drawingml/2006/main">
            <a:r>
              <a:rPr sz="1400"/>
              <a:t>Misvatting: Een getal zonder eenheid of een berekening zonder modelkeuze als volledig antwoord accepteren.</a:t>
            </a:r>
          </a:p>
          <a:p xmlns:a="http://schemas.openxmlformats.org/drawingml/2006/main">
            <a:r>
              <a:rPr sz="1400"/>
              <a:t/>
            </a:r>
          </a:p>
          <a:p xmlns:a="http://schemas.openxmlformats.org/drawingml/2006/main">
            <a:r>
              <a:rPr sz="1400"/>
              <a:t>Overgang: Lees de volgende twee deelvragen.</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deelvraag vraagt een berekening, welke vraagt bronbewijs?</a:t>
            </a:r>
          </a:p>
          <a:p xmlns:a="http://schemas.openxmlformats.org/drawingml/2006/main">
            <a:r>
              <a:rPr sz="1400"/>
              <a:t/>
            </a:r>
          </a:p>
          <a:p xmlns:a="http://schemas.openxmlformats.org/drawingml/2006/main">
            <a:r>
              <a:rPr sz="1400"/>
              <a:t>Uitleg: Volledige oorspronkelijke deelvragen, inclusief punten. Alle bronnen en vragen gaan vóór de eerste antwoorddia. Gebruik de gedrukte pagina 48 uit het complete boek; de manuscriptverwijzing 44 is lokaal. Geef denktijd en laat leerlingen hun eigen aanpak erbij houden.</a:t>
            </a:r>
          </a:p>
          <a:p xmlns:a="http://schemas.openxmlformats.org/drawingml/2006/main">
            <a:r>
              <a:rPr sz="1400"/>
              <a:t/>
            </a:r>
          </a:p>
          <a:p xmlns:a="http://schemas.openxmlformats.org/drawingml/2006/main">
            <a:r>
              <a:rPr sz="1400"/>
              <a:t>Misvatting: Een getal zonder eenheid of een berekening zonder modelkeuze als volledig antwoord accepteren.</a:t>
            </a:r>
          </a:p>
          <a:p xmlns:a="http://schemas.openxmlformats.org/drawingml/2006/main">
            <a:r>
              <a:rPr sz="1400"/>
              <a:t/>
            </a:r>
          </a:p>
          <a:p xmlns:a="http://schemas.openxmlformats.org/drawingml/2006/main">
            <a:r>
              <a:rPr sz="1400"/>
              <a:t>Overgang: Begin nu pas de stapsgewijze bespreking van a tot en met f.</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woorden verklaren waarom een andere aanbieder niet kan beginnen?</a:t>
            </a:r>
          </a:p>
          <a:p xmlns:a="http://schemas.openxmlformats.org/drawingml/2006/main">
            <a:r>
              <a:rPr sz="1400"/>
              <a:t/>
            </a:r>
          </a:p>
          <a:p xmlns:a="http://schemas.openxmlformats.org/drawingml/2006/main">
            <a:r>
              <a:rPr sz="1400"/>
              <a:t>Uitleg: Antwoord 45a. Verbind het gegeven exclusieve toegang aan het verhinderen van toetreding. Eén aanbieder en geen goede vervangers beschrijven de marktsituatie; de grondstoftoegang verklaart de barrière. Het logo levert geen relevante rekeninformatie.</a:t>
            </a:r>
          </a:p>
          <a:p xmlns:a="http://schemas.openxmlformats.org/drawingml/2006/main">
            <a:r>
              <a:rPr sz="1400"/>
              <a:t/>
            </a:r>
          </a:p>
          <a:p xmlns:a="http://schemas.openxmlformats.org/drawingml/2006/main">
            <a:r>
              <a:rPr sz="1400"/>
              <a:t>Misvatting: Een kleur of merknaam als toetredingsbarrière gebruiken.</a:t>
            </a:r>
          </a:p>
          <a:p xmlns:a="http://schemas.openxmlformats.org/drawingml/2006/main">
            <a:r>
              <a:rPr sz="1400"/>
              <a:t/>
            </a:r>
          </a:p>
          <a:p xmlns:a="http://schemas.openxmlformats.org/drawingml/2006/main">
            <a:r>
              <a:rPr sz="1400"/>
              <a:t>Overgang: Stel de drie gevraagde functies op.</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eerste term van TO 32q?</a:t>
            </a:r>
          </a:p>
          <a:p xmlns:a="http://schemas.openxmlformats.org/drawingml/2006/main">
            <a:r>
              <a:rPr sz="1400"/>
              <a:t/>
            </a:r>
          </a:p>
          <a:p xmlns:a="http://schemas.openxmlformats.org/drawingml/2006/main">
            <a:r>
              <a:rPr sz="1400"/>
              <a:t>Uitleg: Antwoordmodel 45b. De gehele prijsfunctie maal q geeft TO. Neem de afgeleide: 32q wordt 32; −0,20q² wordt −0,40q. Bij kosten wordt 0,10q² 0,20q; 8q wordt 8; 120 heeft afgeleide nul. TO/TK in euro per week, MO/MK in euro per kg.</a:t>
            </a:r>
          </a:p>
          <a:p xmlns:a="http://schemas.openxmlformats.org/drawingml/2006/main">
            <a:r>
              <a:rPr sz="1400"/>
              <a:t/>
            </a:r>
          </a:p>
          <a:p xmlns:a="http://schemas.openxmlformats.org/drawingml/2006/main">
            <a:r>
              <a:rPr sz="1400"/>
              <a:t>Misvatting: Alleen de tweede term van P met q vermenigvuldigen.</a:t>
            </a:r>
          </a:p>
          <a:p xmlns:a="http://schemas.openxmlformats.org/drawingml/2006/main">
            <a:r>
              <a:rPr sz="1400"/>
              <a:t/>
            </a:r>
          </a:p>
          <a:p xmlns:a="http://schemas.openxmlformats.org/drawingml/2006/main">
            <a:r>
              <a:rPr sz="1400"/>
              <a:t>Overgang: Los MO = MK op en controleer het karakter van de uitkomst.</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bewijst dat het snijpunt een maximum oplevert?</a:t>
            </a:r>
          </a:p>
          <a:p xmlns:a="http://schemas.openxmlformats.org/drawingml/2006/main">
            <a:r>
              <a:rPr sz="1400"/>
              <a:t/>
            </a:r>
          </a:p>
          <a:p xmlns:a="http://schemas.openxmlformats.org/drawingml/2006/main">
            <a:r>
              <a:rPr sz="1400"/>
              <a:t>Uitleg: MO is dalend en MK stijgend. Bij q=30 is MO=20 en MK=14; bij q=50 is MO=12 en MK=18. De winst stijgt dus vóór de kruising en daalt daarna, niet andersom. q=40 is binnen capaciteit 60. De keuze bij nul productie controleren we bij c.</a:t>
            </a:r>
          </a:p>
          <a:p xmlns:a="http://schemas.openxmlformats.org/drawingml/2006/main">
            <a:r>
              <a:rPr sz="1400"/>
              <a:t/>
            </a:r>
          </a:p>
          <a:p xmlns:a="http://schemas.openxmlformats.org/drawingml/2006/main">
            <a:r>
              <a:rPr sz="1400"/>
              <a:t>Misvatting: MO = MK opschrijven zonder marginale richting en haalbaarheid te controleren.</a:t>
            </a:r>
          </a:p>
          <a:p xmlns:a="http://schemas.openxmlformats.org/drawingml/2006/main">
            <a:r>
              <a:rPr sz="1400"/>
              <a:t/>
            </a:r>
          </a:p>
          <a:p xmlns:a="http://schemas.openxmlformats.org/drawingml/2006/main">
            <a:r>
              <a:rPr sz="1400"/>
              <a:t>Overgang: Bereken de prijs op GO en de twee totalen.</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 geeft het bedrag dat de kopers betalen?</a:t>
            </a:r>
          </a:p>
          <a:p xmlns:a="http://schemas.openxmlformats.org/drawingml/2006/main">
            <a:r>
              <a:rPr sz="1400"/>
              <a:t/>
            </a:r>
          </a:p>
          <a:p xmlns:a="http://schemas.openxmlformats.org/drawingml/2006/main">
            <a:r>
              <a:rPr sz="1400"/>
              <a:t>Uitleg: Antwoordmodel 45c. Lees de prijs uit de vraagfunctie bij dezelfde q=40. Bereken TO=24 maal 40. Kwadrateer 40 vóór vermenigvuldiging met 0,10. Neem ook de onvermijdbare kosten 120 mee. Controle TO=32×40−0,20×40²=1280−320=960.</a:t>
            </a:r>
          </a:p>
          <a:p xmlns:a="http://schemas.openxmlformats.org/drawingml/2006/main">
            <a:r>
              <a:rPr sz="1400"/>
              <a:t/>
            </a:r>
          </a:p>
          <a:p xmlns:a="http://schemas.openxmlformats.org/drawingml/2006/main">
            <a:r>
              <a:rPr sz="1400"/>
              <a:t>Misvatting: De marginale 16 euro per kg als verkoopprijs gebruiken.</a:t>
            </a:r>
          </a:p>
          <a:p xmlns:a="http://schemas.openxmlformats.org/drawingml/2006/main">
            <a:r>
              <a:rPr sz="1400"/>
              <a:t/>
            </a:r>
          </a:p>
          <a:p xmlns:a="http://schemas.openxmlformats.org/drawingml/2006/main">
            <a:r>
              <a:rPr sz="1400"/>
              <a:t>Overgang: Vergelijk de winst met het alternatief niet produceren.</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verdwijnen niet bij q = 0?</a:t>
            </a:r>
          </a:p>
          <a:p xmlns:a="http://schemas.openxmlformats.org/drawingml/2006/main">
            <a:r>
              <a:rPr sz="1400"/>
              <a:t/>
            </a:r>
          </a:p>
          <a:p xmlns:a="http://schemas.openxmlformats.org/drawingml/2006/main">
            <a:r>
              <a:rPr sz="1400"/>
              <a:t>Uitleg: Winst is TO−TK: 960−600=360 per week. Niet produceren geeft 0−120=−120. Produceren is 480 euro beter. Dit is de keuze voor deze week, geen langetermijnbesluit. Controle via GTK: 600/40=15 euro/kg; (24−15)×40=360.</a:t>
            </a:r>
          </a:p>
          <a:p xmlns:a="http://schemas.openxmlformats.org/drawingml/2006/main">
            <a:r>
              <a:rPr sz="1400"/>
              <a:t/>
            </a:r>
          </a:p>
          <a:p xmlns:a="http://schemas.openxmlformats.org/drawingml/2006/main">
            <a:r>
              <a:rPr sz="1400"/>
              <a:t>Misvatting: Nul productie gelijkstellen aan nul totale kosten.</a:t>
            </a:r>
          </a:p>
          <a:p xmlns:a="http://schemas.openxmlformats.org/drawingml/2006/main">
            <a:r>
              <a:rPr sz="1400"/>
              <a:t/>
            </a:r>
          </a:p>
          <a:p xmlns:a="http://schemas.openxmlformats.org/drawingml/2006/main">
            <a:r>
              <a:rPr sz="1400"/>
              <a:t>Overgang: Markeer de berekende hoeveelheid in de figuur.</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as geeft de gekozen hoeveelheid?</a:t>
            </a:r>
          </a:p>
          <a:p xmlns:a="http://schemas.openxmlformats.org/drawingml/2006/main">
            <a:r>
              <a:rPr sz="1400"/>
              <a:t/>
            </a:r>
          </a:p>
          <a:p xmlns:a="http://schemas.openxmlformats.org/drawingml/2006/main">
            <a:r>
              <a:rPr sz="1400"/>
              <a:t>Uitleg: Eerste stap 45d. De verticale hulplijn verbindt het snijpunt (40,16) met q=40 op de horizontale as. Dit is het marginale bedrag. De functies en asschalen blijven exact gelijk aan de onopgeloste figuur. Alleen de gekozen route verschijnt erbij.</a:t>
            </a:r>
          </a:p>
          <a:p xmlns:a="http://schemas.openxmlformats.org/drawingml/2006/main">
            <a:r>
              <a:rPr sz="1400"/>
              <a:t/>
            </a:r>
          </a:p>
          <a:p xmlns:a="http://schemas.openxmlformats.org/drawingml/2006/main">
            <a:r>
              <a:rPr sz="1400"/>
              <a:t>Misvatting: De 16 euro bij het snijpunt als verkoopprijs markeren.</a:t>
            </a:r>
          </a:p>
          <a:p xmlns:a="http://schemas.openxmlformats.org/drawingml/2006/main">
            <a:r>
              <a:rPr sz="1400"/>
              <a:t/>
            </a:r>
          </a:p>
          <a:p xmlns:a="http://schemas.openxmlformats.org/drawingml/2006/main">
            <a:r>
              <a:rPr sz="1400"/>
              <a:t>Overgang: Ga bij dezelfde q naar de GO-lijn.</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laat jouw hulplijn zien dat je P van GO hebt afgelezen?</a:t>
            </a:r>
          </a:p>
          <a:p xmlns:a="http://schemas.openxmlformats.org/drawingml/2006/main">
            <a:r>
              <a:rPr sz="1400"/>
              <a:t/>
            </a:r>
          </a:p>
          <a:p xmlns:a="http://schemas.openxmlformats.org/drawingml/2006/main">
            <a:r>
              <a:rPr sz="1400"/>
              <a:t>Uitleg: Tweede stap 45d. Verleng bij q=40 tot GO: punt (40,24). De horizontale hulplijn gaat van dit prijspunt naar de verticale as. 24 is P; 16 blijft MO=MK. Vraag leerlingen beide lijnen bij hun eigen tekening expliciet te benoemen.</a:t>
            </a:r>
          </a:p>
          <a:p xmlns:a="http://schemas.openxmlformats.org/drawingml/2006/main">
            <a:r>
              <a:rPr sz="1400"/>
              <a:t/>
            </a:r>
          </a:p>
          <a:p xmlns:a="http://schemas.openxmlformats.org/drawingml/2006/main">
            <a:r>
              <a:rPr sz="1400"/>
              <a:t>Misvatting: Een horizontale hulplijn vanuit het MO/MK-snijpunt als prijsroute gebruiken.</a:t>
            </a:r>
          </a:p>
          <a:p xmlns:a="http://schemas.openxmlformats.org/drawingml/2006/main">
            <a:r>
              <a:rPr sz="1400"/>
              <a:t/>
            </a:r>
          </a:p>
          <a:p xmlns:a="http://schemas.openxmlformats.org/drawingml/2006/main">
            <a:r>
              <a:rPr sz="1400"/>
              <a:t>Overgang: Begin de afzonderlijke prijsnemerscase met zijn gegeven marktprijs.</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de 18 euro per kg vandaan?</a:t>
            </a:r>
          </a:p>
          <a:p xmlns:a="http://schemas.openxmlformats.org/drawingml/2006/main">
            <a:r>
              <a:rPr sz="1400"/>
              <a:t/>
            </a:r>
          </a:p>
          <a:p xmlns:a="http://schemas.openxmlformats.org/drawingml/2006/main">
            <a:r>
              <a:rPr sz="1400"/>
              <a:t>Uitleg: Antwoord 45e. Markt C geeft P=18; één kleine leverancier neemt deze prijs als gegeven. Dus MO=18. Dezelfde kostenfunctie geeft MK=0,20q+8. q=50 ligt binnen capaciteit. Bij 40 is MK=16&lt;18, bij 60 is MK=20&gt;18. De winst stijgt eerst en daalt daarna.</a:t>
            </a:r>
          </a:p>
          <a:p xmlns:a="http://schemas.openxmlformats.org/drawingml/2006/main">
            <a:r>
              <a:rPr sz="1400"/>
              <a:t/>
            </a:r>
          </a:p>
          <a:p xmlns:a="http://schemas.openxmlformats.org/drawingml/2006/main">
            <a:r>
              <a:rPr sz="1400"/>
              <a:t>Misvatting: De vraagfunctie van KleurFix op de andere markt gebruiken.</a:t>
            </a:r>
          </a:p>
          <a:p xmlns:a="http://schemas.openxmlformats.org/drawingml/2006/main">
            <a:r>
              <a:rPr sz="1400"/>
              <a:t/>
            </a:r>
          </a:p>
          <a:p xmlns:a="http://schemas.openxmlformats.org/drawingml/2006/main">
            <a:r>
              <a:rPr sz="1400"/>
              <a:t>Overgang: Bereken de totalen bij de prijsnemer.</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voor TK 50² en voor TO 18 × 50?</a:t>
            </a:r>
          </a:p>
          <a:p xmlns:a="http://schemas.openxmlformats.org/drawingml/2006/main">
            <a:r>
              <a:rPr sz="1400"/>
              <a:t/>
            </a:r>
          </a:p>
          <a:p xmlns:a="http://schemas.openxmlformats.org/drawingml/2006/main">
            <a:r>
              <a:rPr sz="1400"/>
              <a:t>Uitleg: Antwoordmodel 45e: winst 130 euro per week. De aanvullende controle tegen q=0 bevestigt de beste weekkeuze: 130 is beter dan −120. Bij capaciteit 60 is TO=1080, TK=960 en winst=120, lager dan bij 50. Dit is geen reden om bedrijven op verschillende markten maatschappelijk te rangschikken.</a:t>
            </a:r>
          </a:p>
          <a:p xmlns:a="http://schemas.openxmlformats.org/drawingml/2006/main">
            <a:r>
              <a:rPr sz="1400"/>
              <a:t/>
            </a:r>
          </a:p>
          <a:p xmlns:a="http://schemas.openxmlformats.org/drawingml/2006/main">
            <a:r>
              <a:rPr sz="1400"/>
              <a:t>Misvatting: De capaciteit 60 invullen terwijl de winstmaximale hoeveelheid 50 is.</a:t>
            </a:r>
          </a:p>
          <a:p xmlns:a="http://schemas.openxmlformats.org/drawingml/2006/main">
            <a:r>
              <a:rPr sz="1400"/>
              <a:t/>
            </a:r>
          </a:p>
          <a:p xmlns:a="http://schemas.openxmlformats.org/drawingml/2006/main">
            <a:r>
              <a:rPr sz="1400"/>
              <a:t>Overgang: Beoordeel de foutmethode uit deelvraag f.</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Voor welk bedrijf klopt aflezen bij het snijpunt wel, en waarom?</a:t>
            </a:r>
          </a:p>
          <a:p xmlns:a="http://schemas.openxmlformats.org/drawingml/2006/main">
            <a:r>
              <a:rPr sz="1400"/>
              <a:t/>
            </a:r>
          </a:p>
          <a:p xmlns:a="http://schemas.openxmlformats.org/drawingml/2006/main">
            <a:r>
              <a:rPr sz="1400"/>
              <a:t>Uitleg: Antwoord 45f vereist beide prijzen én het marginale bedrag van KleurFix. De hoeveelheidregel is bij beide gebruikt. Bij prijsnemer vallen GO en MO samen, bij KleurFix niet. Daarom is de uitspraak voor beide samen onjuist: 16 is geen verkoopprijs van KleurFix, 24 wel; de andere leverancier ontvangt 18. Hun winstverschil bewijst niets over het effect van monopolievorming, want het zijn afzonderlijke markten. Laat leerlingen de fout in hun eigen antwoord precies aanwijzen en verbeteren.</a:t>
            </a:r>
          </a:p>
          <a:p xmlns:a="http://schemas.openxmlformats.org/drawingml/2006/main">
            <a:r>
              <a:rPr sz="1400"/>
              <a:t/>
            </a:r>
          </a:p>
          <a:p xmlns:a="http://schemas.openxmlformats.org/drawingml/2006/main">
            <a:r>
              <a:rPr sz="1400"/>
              <a:t>Misvatting: Een groter winstbedrag gelijkstellen aan groter voordeel voor de samenleving.</a:t>
            </a:r>
          </a:p>
          <a:p xmlns:a="http://schemas.openxmlformats.org/drawingml/2006/main">
            <a:r>
              <a:rPr sz="1400"/>
              <a:t/>
            </a:r>
          </a:p>
          <a:p xmlns:a="http://schemas.openxmlformats.org/drawingml/2006/main">
            <a:r>
              <a:rPr sz="1400"/>
              <a:t>Overgang: Keer terug naar het overzicht en noteer alle huiswerkopgaven.</a:t>
            </a:r>
          </a:p>
          <a:p xmlns:a="http://schemas.openxmlformats.org/drawingml/2006/main">
            <a:r>
              <a:rPr sz="1400"/>
              <a:t/>
            </a:r>
          </a:p>
          <a:p xmlns:a="http://schemas.openxmlformats.org/drawingml/2006/main">
            <a:r>
              <a:rPr sz="1400"/>
              <a:t>Bron: Boek 4, editie books34-v3, commit e734532a42b27732ac25ce990fc9448b12309d28. Gedrukte boekpagina 48–49.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 of stap vraagt nog uitleg?</a:t>
            </a:r>
          </a:p>
          <a:p xmlns:a="http://schemas.openxmlformats.org/drawingml/2006/main">
            <a:r>
              <a:rPr sz="1400"/>
              <a:t/>
            </a:r>
          </a:p>
          <a:p xmlns:a="http://schemas.openxmlformats.org/drawingml/2006/main">
            <a:r>
              <a:rPr sz="1400"/>
              <a:t>Uitleg: Laat deze dia staan tijdens afsluiting en huiswerk. Start is de eerste werkelijke gemengde opgave, 41. De docentroute noemt voorbereiding 41, 41A, 42–44 en doeloefening 45. Er zijn geen aparte basis-, zelfstandige, bonus- of herhalingssecties. Huiswerk is alle gemengde opgaven: 41, 41A en 42 tot en met 48, maken en nakijken. 46–48 blijven dus inbegrepen. Start 41 haalt eerder onderwezen bronselectie uit §4.1.2 op: afgebakende markt, vervangers, toetredingsbarrière en gegeven marktprijs (boek p.16–19). Dit is retrieval, geen nieuwe procedure. Bespreek na de poging zo nodig waarom een foto geen volledig marktbeeld bewijst. Controleer dat leerlingen de verschillende markten los houden. De hele oefenroute heeft geen bewezen eenlesfit; vervolg kan als huiswerk of in een volgende les.</a:t>
            </a:r>
          </a:p>
          <a:p xmlns:a="http://schemas.openxmlformats.org/drawingml/2006/main">
            <a:r>
              <a:rPr sz="1400"/>
              <a:t/>
            </a:r>
          </a:p>
          <a:p xmlns:a="http://schemas.openxmlformats.org/drawingml/2006/main">
            <a:r>
              <a:rPr sz="1400"/>
              <a:t>Misvatting: Voorbereiding betekent hier gemengde oefening, niet een nieuw bedachte basisroute.</a:t>
            </a:r>
          </a:p>
          <a:p xmlns:a="http://schemas.openxmlformats.org/drawingml/2006/main">
            <a:r>
              <a:rPr sz="1400"/>
              <a:t/>
            </a:r>
          </a:p>
          <a:p xmlns:a="http://schemas.openxmlformats.org/drawingml/2006/main">
            <a:r>
              <a:rPr sz="1400"/>
              <a:t>Overgang: Laat het volledige huiswerk noteren en inventariseer welke aanpak nog steun vraagt.</a:t>
            </a:r>
          </a:p>
          <a:p xmlns:a="http://schemas.openxmlformats.org/drawingml/2006/main">
            <a:r>
              <a:rPr sz="1400"/>
              <a:t/>
            </a:r>
          </a:p>
          <a:p xmlns:a="http://schemas.openxmlformats.org/drawingml/2006/main">
            <a:r>
              <a:rPr sz="1400"/>
              <a:t>Bron: Boek 4, editie books34-v3, commit e734532a42b27732ac25ce990fc9448b12309d28. Gedrukte boekpagina 46–50. https://github.com/meijer1973/4veco-lessen/blob/e734532a42b27732ac25ce990fc9448b12309d28/edities/books34-v3/books/book-4/output/Boek_4_Compleet_v3.pdf</a:t>
            </a:r>
          </a:p>
          <a:p xmlns:a="http://schemas.openxmlformats.org/drawingml/2006/main">
            <a:r>
              <a:rPr sz="1400"/>
              <a:t>Manuscript: https://github.com/meijer1973/4veco-lessen/blob/e734532a42b27732ac25ce990fc9448b12309d28/edities/books34-v3/books/book-4/chapters/4.1/4.1.5%20manuscript.md</a:t>
            </a:r>
          </a:p>
          <a:p xmlns:a="http://schemas.openxmlformats.org/drawingml/2006/main">
            <a:r>
              <a:rPr sz="1400"/>
              <a:t>Antwoorden: https://github.com/meijer1973/4veco-lessen/blob/e734532a42b27732ac25ce990fc9448b12309d28/edities/books34-v3/books/book-4/chapters/4.1/Antwoorden.md</a:t>
            </a:r>
          </a:p>
          <a:p xmlns:a="http://schemas.openxmlformats.org/drawingml/2006/main">
            <a:r>
              <a:rPr sz="1400"/>
              <a:t>Docent: https://github.com/meijer1973/4veco-lessen/blob/e734532a42b27732ac25ce990fc9448b12309d28/edities/books34-v3/books/book-4/chapters/4.1/Docenteninformatie.md</a:t>
            </a:r>
          </a:p>
          <a:p xmlns:a="http://schemas.openxmlformats.org/drawingml/2006/main">
            <a:r>
              <a:rPr sz="1400"/>
              <a:t>Gebruik de gedrukte paginanummers uit de complete boek-PDF.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b1e5e81ffd43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4c23def22b4dc3" /><Relationship Type="http://schemas.openxmlformats.org/officeDocument/2006/relationships/slideLayout" Target="/ppt/slideLayouts/slideLayout1.xml" Id="Rfe5769375ea545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5769375ea545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59a849f5ae4c2d" /><Relationship Type="http://schemas.openxmlformats.org/officeDocument/2006/relationships/notesSlide" Target="/ppt/notesSlides/notesSlide1.xml" Id="Rac25846c46c046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adf6981db84deb" /><Relationship Type="http://schemas.openxmlformats.org/officeDocument/2006/relationships/notesSlide" Target="/ppt/notesSlides/notesSlide2.xml" Id="R1795e86bf33544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ef33b4a6c143f7" /><Relationship Type="http://schemas.openxmlformats.org/officeDocument/2006/relationships/notesSlide" Target="/ppt/notesSlides/notesSlide3.xml" Id="R72d87a96a0c541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fc9dd9386d45a4" /><Relationship Type="http://schemas.openxmlformats.org/officeDocument/2006/relationships/chart" Target="/ppt/slides/charts/chart1.xml" Id="Ra5d8137ed8404fb2" /><Relationship Type="http://schemas.openxmlformats.org/officeDocument/2006/relationships/notesSlide" Target="/ppt/notesSlides/notesSlide4.xml" Id="Rdc951fb661c941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ba7aa81ad840a8" /><Relationship Type="http://schemas.openxmlformats.org/officeDocument/2006/relationships/notesSlide" Target="/ppt/notesSlides/notesSlide5.xml" Id="R3d69eab095fe46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31534044fe4643" /><Relationship Type="http://schemas.openxmlformats.org/officeDocument/2006/relationships/notesSlide" Target="/ppt/notesSlides/notesSlide6.xml" Id="Rce1d16e51e334d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529c2a67164fc1" /><Relationship Type="http://schemas.openxmlformats.org/officeDocument/2006/relationships/notesSlide" Target="/ppt/notesSlides/notesSlide7.xml" Id="R532426e9ac8745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da2845cddf4638" /><Relationship Type="http://schemas.openxmlformats.org/officeDocument/2006/relationships/notesSlide" Target="/ppt/notesSlides/notesSlide8.xml" Id="R11306941bcc14f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e1b899b1f0c4281" /><Relationship Type="http://schemas.openxmlformats.org/officeDocument/2006/relationships/notesSlide" Target="/ppt/notesSlides/notesSlide9.xml" Id="R355479dbcc6745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0ded4095374605" /><Relationship Type="http://schemas.openxmlformats.org/officeDocument/2006/relationships/chart" Target="/ppt/slides/charts/chart2.xml" Id="R8504fdad89244037" /><Relationship Type="http://schemas.openxmlformats.org/officeDocument/2006/relationships/notesSlide" Target="/ppt/notesSlides/notesSlide10.xml" Id="R0c2834ca65ed40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feccd0e55541f5" /><Relationship Type="http://schemas.openxmlformats.org/officeDocument/2006/relationships/notesSlide" Target="/ppt/notesSlides/notesSlide11.xml" Id="Reaee1f8e73904e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2039e8c93148b1" /><Relationship Type="http://schemas.openxmlformats.org/officeDocument/2006/relationships/notesSlide" Target="/ppt/notesSlides/notesSlide12.xml" Id="Ra604bf66a72b4b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ce805f58c514d10" /><Relationship Type="http://schemas.openxmlformats.org/officeDocument/2006/relationships/notesSlide" Target="/ppt/notesSlides/notesSlide13.xml" Id="R8552bfc08f2047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5282e46ef3846b0" /><Relationship Type="http://schemas.openxmlformats.org/officeDocument/2006/relationships/notesSlide" Target="/ppt/notesSlides/notesSlide14.xml" Id="Rbecc0b8e262047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93149657f940f4" /><Relationship Type="http://schemas.openxmlformats.org/officeDocument/2006/relationships/notesSlide" Target="/ppt/notesSlides/notesSlide15.xml" Id="R335e18a55f8f42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4fee24ea2914bfe" /><Relationship Type="http://schemas.openxmlformats.org/officeDocument/2006/relationships/notesSlide" Target="/ppt/notesSlides/notesSlide16.xml" Id="Rd7d70117ebef47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337ecb302644816" /><Relationship Type="http://schemas.openxmlformats.org/officeDocument/2006/relationships/notesSlide" Target="/ppt/notesSlides/notesSlide17.xml" Id="Rdb2d80ea82f84e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7f747e3a06e4234" /><Relationship Type="http://schemas.openxmlformats.org/officeDocument/2006/relationships/notesSlide" Target="/ppt/notesSlides/notesSlide18.xml" Id="Rd5c4aa155d4e48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8ea96d8708444a6" /><Relationship Type="http://schemas.openxmlformats.org/officeDocument/2006/relationships/notesSlide" Target="/ppt/notesSlides/notesSlide19.xml" Id="R6b370f96e6a146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d7f7afd8ebf4a54" /><Relationship Type="http://schemas.openxmlformats.org/officeDocument/2006/relationships/chart" Target="/ppt/slides/charts/chart3.xml" Id="R9cb041fd2f6940df" /><Relationship Type="http://schemas.openxmlformats.org/officeDocument/2006/relationships/notesSlide" Target="/ppt/notesSlides/notesSlide20.xml" Id="Re148276797b9472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272fd49f59b4140" /><Relationship Type="http://schemas.openxmlformats.org/officeDocument/2006/relationships/chart" Target="/ppt/slides/charts/chart4.xml" Id="R27d02906784d49e5" /><Relationship Type="http://schemas.openxmlformats.org/officeDocument/2006/relationships/notesSlide" Target="/ppt/notesSlides/notesSlide21.xml" Id="R3ae941e47c8944c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b2f7776ba4a4f73" /><Relationship Type="http://schemas.openxmlformats.org/officeDocument/2006/relationships/notesSlide" Target="/ppt/notesSlides/notesSlide22.xml" Id="R9e61f4ee327348d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bea559893e04fee" /><Relationship Type="http://schemas.openxmlformats.org/officeDocument/2006/relationships/notesSlide" Target="/ppt/notesSlides/notesSlide23.xml" Id="R44ca0cc1589b42b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f243f07e94a4039" /><Relationship Type="http://schemas.openxmlformats.org/officeDocument/2006/relationships/notesSlide" Target="/ppt/notesSlides/notesSlide24.xml" Id="R4b517dea212b49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5f3fb6d5d224741" /><Relationship Type="http://schemas.openxmlformats.org/officeDocument/2006/relationships/notesSlide" Target="/ppt/notesSlides/notesSlide25.xml" Id="R89c619d781c84f7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38100">
              <a:solidFill>
                <a:srgbClr val="17658A"/>
              </a:solidFill>
            </a:ln>
          </c:spPr>
          <c:marker>
            <c:symbol val="none"/>
          </c:marker>
          <c:xVal>
            <c:numRef>
              <c:f>'Chart Data'!$A$2:$A$3</c:f>
              <c:numCache>
                <c:formatCode>General</c:formatCode>
                <c:ptCount val="2"/>
                <c:pt idx="0">
                  <c:v>0</c:v>
                </c:pt>
                <c:pt idx="1">
                  <c:v>40</c:v>
                </c:pt>
              </c:numCache>
            </c:numRef>
          </c:xVal>
          <c:yVal>
            <c:numRef>
              <c:f>'Chart Data'!$B$2:$B$3</c:f>
              <c:numCache>
                <c:formatCode>0</c:formatCode>
                <c:ptCount val="2"/>
                <c:pt idx="0">
                  <c:v>26</c:v>
                </c:pt>
                <c:pt idx="1">
                  <c:v>16</c:v>
                </c:pt>
              </c:numCache>
            </c:numRef>
          </c:yVal>
          <c:smooth val="0"/>
        </c:ser>
        <c:ser>
          <c:idx val="1"/>
          <c:order val="1"/>
          <c:tx>
            <c:v>MO</c:v>
          </c:tx>
          <c:spPr>
            <a:ln xmlns:a="http://schemas.openxmlformats.org/drawingml/2006/main" w="38100">
              <a:solidFill>
                <a:srgbClr val="7B2D8E"/>
              </a:solidFill>
              <a:prstDash val="dash"/>
            </a:ln>
          </c:spPr>
          <c:marker>
            <c:symbol val="none"/>
          </c:marker>
          <c:xVal>
            <c:numRef>
              <c:f>'Chart Data'!$C$2:$C$3</c:f>
              <c:numCache>
                <c:formatCode>General</c:formatCode>
                <c:ptCount val="2"/>
                <c:pt idx="0">
                  <c:v>0</c:v>
                </c:pt>
                <c:pt idx="1">
                  <c:v>40</c:v>
                </c:pt>
              </c:numCache>
            </c:numRef>
          </c:xVal>
          <c:yVal>
            <c:numRef>
              <c:f>'Chart Data'!$D$2:$D$3</c:f>
              <c:numCache>
                <c:formatCode>0</c:formatCode>
                <c:ptCount val="2"/>
                <c:pt idx="0">
                  <c:v>26</c:v>
                </c:pt>
                <c:pt idx="1">
                  <c:v>6</c:v>
                </c:pt>
              </c:numCache>
            </c:numRef>
          </c:yVal>
          <c:smooth val="0"/>
        </c:ser>
        <c:ser>
          <c:idx val="2"/>
          <c:order val="2"/>
          <c:tx>
            <c:v>MK</c:v>
          </c:tx>
          <c:spPr>
            <a:ln xmlns:a="http://schemas.openxmlformats.org/drawingml/2006/main" w="38100">
              <a:solidFill>
                <a:srgbClr val="A94D16"/>
              </a:solidFill>
            </a:ln>
          </c:spPr>
          <c:marker>
            <c:symbol val="none"/>
          </c:marker>
          <c:xVal>
            <c:numRef>
              <c:f>'Chart Data'!$E$2:$E$3</c:f>
              <c:numCache>
                <c:formatCode>General</c:formatCode>
                <c:ptCount val="2"/>
                <c:pt idx="0">
                  <c:v>0</c:v>
                </c:pt>
                <c:pt idx="1">
                  <c:v>40</c:v>
                </c:pt>
              </c:numCache>
            </c:numRef>
          </c:xVal>
          <c:yVal>
            <c:numRef>
              <c:f>'Chart Data'!$F$2:$F$3</c:f>
              <c:numCache>
                <c:formatCode>0</c:formatCode>
                <c:ptCount val="2"/>
                <c:pt idx="0">
                  <c:v>5</c:v>
                </c:pt>
                <c:pt idx="1">
                  <c:v>15</c:v>
                </c:pt>
              </c:numCache>
            </c:numRef>
          </c:yVal>
          <c:smooth val="0"/>
        </c:ser>
        <c:ser>
          <c:idx val="3"/>
          <c:order val="3"/>
          <c:tx>
            <c:v>q-hulplijn</c:v>
          </c:tx>
          <c:spPr>
            <a:ln xmlns:a="http://schemas.openxmlformats.org/drawingml/2006/main" w="19050">
              <a:solidFill>
                <a:srgbClr val="445B6B"/>
              </a:solidFill>
              <a:prstDash val="dash"/>
            </a:ln>
          </c:spPr>
          <c:marker>
            <c:symbol val="none"/>
          </c:marker>
          <c:xVal>
            <c:numRef>
              <c:f>'Chart Data'!$G$2:$G$3</c:f>
              <c:numCache>
                <c:formatCode>General</c:formatCode>
                <c:ptCount val="2"/>
                <c:pt idx="0">
                  <c:v>28</c:v>
                </c:pt>
                <c:pt idx="1">
                  <c:v>28</c:v>
                </c:pt>
              </c:numCache>
            </c:numRef>
          </c:xVal>
          <c:yVal>
            <c:numRef>
              <c:f>'Chart Data'!$H$2:$H$3</c:f>
              <c:numCache>
                <c:formatCode>0</c:formatCode>
                <c:ptCount val="2"/>
                <c:pt idx="0">
                  <c:v>0</c:v>
                </c:pt>
                <c:pt idx="1">
                  <c:v>19</c:v>
                </c:pt>
              </c:numCache>
            </c:numRef>
          </c:yVal>
          <c:smooth val="0"/>
        </c:ser>
        <c:ser>
          <c:idx val="4"/>
          <c:order val="4"/>
          <c:tx>
            <c:v>MO = MK</c:v>
          </c:tx>
          <c:spPr>
            <a:ln xmlns:a="http://schemas.openxmlformats.org/drawingml/2006/main" w="0">
              <a:noFill/>
            </a:ln>
          </c:spPr>
          <c:marker>
            <c:symbol val="circle"/>
            <c:size val="10"/>
            <c:spPr>
              <a:solidFill xmlns:a="http://schemas.openxmlformats.org/drawingml/2006/main">
                <a:srgbClr val="7B2D8E"/>
              </a:solidFill>
            </c:spPr>
          </c:marker>
          <c:xVal>
            <c:numRef>
              <c:f>'Chart Data'!$I$2:$I$2</c:f>
              <c:numCache>
                <c:formatCode>General</c:formatCode>
                <c:ptCount val="1"/>
                <c:pt idx="0">
                  <c:v>28</c:v>
                </c:pt>
              </c:numCache>
            </c:numRef>
          </c:xVal>
          <c:yVal>
            <c:numRef>
              <c:f>'Chart Data'!$J$2:$J$2</c:f>
              <c:numCache>
                <c:formatCode>0</c:formatCode>
                <c:ptCount val="1"/>
                <c:pt idx="0">
                  <c:v>12</c:v>
                </c:pt>
              </c:numCache>
            </c:numRef>
          </c:yVal>
          <c:smooth val="0"/>
        </c:ser>
        <c:ser>
          <c:idx val="5"/>
          <c:order val="5"/>
          <c:tx>
            <c:v>P-hulplijn</c:v>
          </c:tx>
          <c:spPr>
            <a:ln xmlns:a="http://schemas.openxmlformats.org/drawingml/2006/main" w="19050">
              <a:solidFill>
                <a:srgbClr val="17658A"/>
              </a:solidFill>
              <a:prstDash val="dash"/>
            </a:ln>
          </c:spPr>
          <c:marker>
            <c:symbol val="none"/>
          </c:marker>
          <c:xVal>
            <c:numRef>
              <c:f>'Chart Data'!$K$2:$K$3</c:f>
              <c:numCache>
                <c:formatCode>General</c:formatCode>
                <c:ptCount val="2"/>
                <c:pt idx="0">
                  <c:v>0</c:v>
                </c:pt>
                <c:pt idx="1">
                  <c:v>28</c:v>
                </c:pt>
              </c:numCache>
            </c:numRef>
          </c:xVal>
          <c:yVal>
            <c:numRef>
              <c:f>'Chart Data'!$L$2:$L$3</c:f>
              <c:numCache>
                <c:formatCode>0</c:formatCode>
                <c:ptCount val="2"/>
                <c:pt idx="0">
                  <c:v>19</c:v>
                </c:pt>
                <c:pt idx="1">
                  <c:v>19</c:v>
                </c:pt>
              </c:numCache>
            </c:numRef>
          </c:yVal>
          <c:smooth val="0"/>
        </c:ser>
        <c:ser>
          <c:idx val="6"/>
          <c:order val="6"/>
          <c:tx>
            <c:v>Prijs op GO</c:v>
          </c:tx>
          <c:spPr>
            <a:ln xmlns:a="http://schemas.openxmlformats.org/drawingml/2006/main" w="0">
              <a:noFill/>
            </a:ln>
          </c:spPr>
          <c:marker>
            <c:symbol val="circle"/>
            <c:size val="10"/>
            <c:spPr>
              <a:solidFill xmlns:a="http://schemas.openxmlformats.org/drawingml/2006/main">
                <a:srgbClr val="17658A"/>
              </a:solidFill>
            </c:spPr>
          </c:marker>
          <c:xVal>
            <c:numRef>
              <c:f>'Chart Data'!$M$2:$M$2</c:f>
              <c:numCache>
                <c:formatCode>General</c:formatCode>
                <c:ptCount val="1"/>
                <c:pt idx="0">
                  <c:v>28</c:v>
                </c:pt>
              </c:numCache>
            </c:numRef>
          </c:xVal>
          <c:yVal>
            <c:numRef>
              <c:f>'Chart Data'!$N$2:$N$2</c:f>
              <c:numCache>
                <c:formatCode>0</c:formatCode>
                <c:ptCount val="1"/>
                <c:pt idx="0">
                  <c:v>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571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38100">
              <a:solidFill>
                <a:srgbClr val="17658A"/>
              </a:solidFill>
            </a: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32</c:v>
                </c:pt>
                <c:pt idx="1">
                  <c:v>16</c:v>
                </c:pt>
              </c:numCache>
            </c:numRef>
          </c:yVal>
          <c:smooth val="0"/>
        </c:ser>
        <c:ser>
          <c:idx val="1"/>
          <c:order val="1"/>
          <c:tx>
            <c:v>MO</c:v>
          </c:tx>
          <c:spPr>
            <a:ln xmlns:a="http://schemas.openxmlformats.org/drawingml/2006/main" w="38100">
              <a:solidFill>
                <a:srgbClr val="7B2D8E"/>
              </a:solidFill>
              <a:prstDash val="dash"/>
            </a: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32</c:v>
                </c:pt>
                <c:pt idx="1">
                  <c:v>0</c:v>
                </c:pt>
              </c:numCache>
            </c:numRef>
          </c:yVal>
          <c:smooth val="0"/>
        </c:ser>
        <c:ser>
          <c:idx val="2"/>
          <c:order val="2"/>
          <c:tx>
            <c:v>MK</c:v>
          </c:tx>
          <c:spPr>
            <a:ln xmlns:a="http://schemas.openxmlformats.org/drawingml/2006/main" w="38100">
              <a:solidFill>
                <a:srgbClr val="A94D16"/>
              </a:solidFill>
            </a: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8</c:v>
                </c:pt>
                <c:pt idx="1">
                  <c:v>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571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38100">
              <a:solidFill>
                <a:srgbClr val="17658A"/>
              </a:solidFill>
            </a: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32</c:v>
                </c:pt>
                <c:pt idx="1">
                  <c:v>16</c:v>
                </c:pt>
              </c:numCache>
            </c:numRef>
          </c:yVal>
          <c:smooth val="0"/>
        </c:ser>
        <c:ser>
          <c:idx val="1"/>
          <c:order val="1"/>
          <c:tx>
            <c:v>MO</c:v>
          </c:tx>
          <c:spPr>
            <a:ln xmlns:a="http://schemas.openxmlformats.org/drawingml/2006/main" w="38100">
              <a:solidFill>
                <a:srgbClr val="7B2D8E"/>
              </a:solidFill>
              <a:prstDash val="dash"/>
            </a: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32</c:v>
                </c:pt>
                <c:pt idx="1">
                  <c:v>0</c:v>
                </c:pt>
              </c:numCache>
            </c:numRef>
          </c:yVal>
          <c:smooth val="0"/>
        </c:ser>
        <c:ser>
          <c:idx val="2"/>
          <c:order val="2"/>
          <c:tx>
            <c:v>MK</c:v>
          </c:tx>
          <c:spPr>
            <a:ln xmlns:a="http://schemas.openxmlformats.org/drawingml/2006/main" w="38100">
              <a:solidFill>
                <a:srgbClr val="A94D16"/>
              </a:solidFill>
            </a: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8</c:v>
                </c:pt>
                <c:pt idx="1">
                  <c:v>24</c:v>
                </c:pt>
              </c:numCache>
            </c:numRef>
          </c:yVal>
          <c:smooth val="0"/>
        </c:ser>
        <c:ser>
          <c:idx val="3"/>
          <c:order val="3"/>
          <c:tx>
            <c:v>q-hulplijn</c:v>
          </c:tx>
          <c:spPr>
            <a:ln xmlns:a="http://schemas.openxmlformats.org/drawingml/2006/main" w="19050">
              <a:solidFill>
                <a:srgbClr val="445B6B"/>
              </a:solidFill>
              <a:prstDash val="dash"/>
            </a: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0</c:v>
                </c:pt>
                <c:pt idx="1">
                  <c:v>16</c:v>
                </c:pt>
              </c:numCache>
            </c:numRef>
          </c:yVal>
          <c:smooth val="0"/>
        </c:ser>
        <c:ser>
          <c:idx val="4"/>
          <c:order val="4"/>
          <c:tx>
            <c:v>MO = MK</c:v>
          </c:tx>
          <c:spPr>
            <a:ln xmlns:a="http://schemas.openxmlformats.org/drawingml/2006/main" w="0">
              <a:noFill/>
            </a:ln>
          </c:spPr>
          <c:marker>
            <c:symbol val="circle"/>
            <c:size val="10"/>
            <c:spPr>
              <a:solidFill xmlns:a="http://schemas.openxmlformats.org/drawingml/2006/main">
                <a:srgbClr val="7B2D8E"/>
              </a:solidFill>
            </c:spPr>
          </c:marker>
          <c:xVal>
            <c:numRef>
              <c:f>'Chart Data'!$I$2:$I$2</c:f>
              <c:numCache>
                <c:formatCode>General</c:formatCode>
                <c:ptCount val="1"/>
                <c:pt idx="0">
                  <c:v>40</c:v>
                </c:pt>
              </c:numCache>
            </c:numRef>
          </c:xVal>
          <c:yVal>
            <c:numRef>
              <c:f>'Chart Data'!$J$2:$J$2</c:f>
              <c:numCache>
                <c:formatCode>0</c:formatCode>
                <c:ptCount val="1"/>
                <c:pt idx="0">
                  <c:v>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571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GO = P</c:v>
          </c:tx>
          <c:spPr>
            <a:ln xmlns:a="http://schemas.openxmlformats.org/drawingml/2006/main" w="38100">
              <a:solidFill>
                <a:srgbClr val="17658A"/>
              </a:solidFill>
            </a: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32</c:v>
                </c:pt>
                <c:pt idx="1">
                  <c:v>16</c:v>
                </c:pt>
              </c:numCache>
            </c:numRef>
          </c:yVal>
          <c:smooth val="0"/>
        </c:ser>
        <c:ser>
          <c:idx val="1"/>
          <c:order val="1"/>
          <c:tx>
            <c:v>MO</c:v>
          </c:tx>
          <c:spPr>
            <a:ln xmlns:a="http://schemas.openxmlformats.org/drawingml/2006/main" w="38100">
              <a:solidFill>
                <a:srgbClr val="7B2D8E"/>
              </a:solidFill>
              <a:prstDash val="dash"/>
            </a: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32</c:v>
                </c:pt>
                <c:pt idx="1">
                  <c:v>0</c:v>
                </c:pt>
              </c:numCache>
            </c:numRef>
          </c:yVal>
          <c:smooth val="0"/>
        </c:ser>
        <c:ser>
          <c:idx val="2"/>
          <c:order val="2"/>
          <c:tx>
            <c:v>MK</c:v>
          </c:tx>
          <c:spPr>
            <a:ln xmlns:a="http://schemas.openxmlformats.org/drawingml/2006/main" w="38100">
              <a:solidFill>
                <a:srgbClr val="A94D16"/>
              </a:solidFill>
            </a: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8</c:v>
                </c:pt>
                <c:pt idx="1">
                  <c:v>24</c:v>
                </c:pt>
              </c:numCache>
            </c:numRef>
          </c:yVal>
          <c:smooth val="0"/>
        </c:ser>
        <c:ser>
          <c:idx val="3"/>
          <c:order val="3"/>
          <c:tx>
            <c:v>q-hulplijn</c:v>
          </c:tx>
          <c:spPr>
            <a:ln xmlns:a="http://schemas.openxmlformats.org/drawingml/2006/main" w="19050">
              <a:solidFill>
                <a:srgbClr val="445B6B"/>
              </a:solidFill>
              <a:prstDash val="dash"/>
            </a: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0</c:v>
                </c:pt>
                <c:pt idx="1">
                  <c:v>24</c:v>
                </c:pt>
              </c:numCache>
            </c:numRef>
          </c:yVal>
          <c:smooth val="0"/>
        </c:ser>
        <c:ser>
          <c:idx val="4"/>
          <c:order val="4"/>
          <c:tx>
            <c:v>MO = MK</c:v>
          </c:tx>
          <c:spPr>
            <a:ln xmlns:a="http://schemas.openxmlformats.org/drawingml/2006/main" w="0">
              <a:noFill/>
            </a:ln>
          </c:spPr>
          <c:marker>
            <c:symbol val="circle"/>
            <c:size val="10"/>
            <c:spPr>
              <a:solidFill xmlns:a="http://schemas.openxmlformats.org/drawingml/2006/main">
                <a:srgbClr val="7B2D8E"/>
              </a:solidFill>
            </c:spPr>
          </c:marker>
          <c:xVal>
            <c:numRef>
              <c:f>'Chart Data'!$I$2:$I$2</c:f>
              <c:numCache>
                <c:formatCode>General</c:formatCode>
                <c:ptCount val="1"/>
                <c:pt idx="0">
                  <c:v>40</c:v>
                </c:pt>
              </c:numCache>
            </c:numRef>
          </c:xVal>
          <c:yVal>
            <c:numRef>
              <c:f>'Chart Data'!$J$2:$J$2</c:f>
              <c:numCache>
                <c:formatCode>0</c:formatCode>
                <c:ptCount val="1"/>
                <c:pt idx="0">
                  <c:v>16</c:v>
                </c:pt>
              </c:numCache>
            </c:numRef>
          </c:yVal>
          <c:smooth val="0"/>
        </c:ser>
        <c:ser>
          <c:idx val="5"/>
          <c:order val="5"/>
          <c:tx>
            <c:v>P-hulplijn</c:v>
          </c:tx>
          <c:spPr>
            <a:ln xmlns:a="http://schemas.openxmlformats.org/drawingml/2006/main" w="19050">
              <a:solidFill>
                <a:srgbClr val="17658A"/>
              </a:solidFill>
              <a:prstDash val="dash"/>
            </a:ln>
          </c:spPr>
          <c:marker>
            <c:symbol val="none"/>
          </c:marker>
          <c:xVal>
            <c:numRef>
              <c:f>'Chart Data'!$K$2:$K$3</c:f>
              <c:numCache>
                <c:formatCode>General</c:formatCode>
                <c:ptCount val="2"/>
                <c:pt idx="0">
                  <c:v>0</c:v>
                </c:pt>
                <c:pt idx="1">
                  <c:v>40</c:v>
                </c:pt>
              </c:numCache>
            </c:numRef>
          </c:xVal>
          <c:yVal>
            <c:numRef>
              <c:f>'Chart Data'!$L$2:$L$3</c:f>
              <c:numCache>
                <c:formatCode>0</c:formatCode>
                <c:ptCount val="2"/>
                <c:pt idx="0">
                  <c:v>24</c:v>
                </c:pt>
                <c:pt idx="1">
                  <c:v>24</c:v>
                </c:pt>
              </c:numCache>
            </c:numRef>
          </c:yVal>
          <c:smooth val="0"/>
        </c:ser>
        <c:ser>
          <c:idx val="6"/>
          <c:order val="6"/>
          <c:tx>
            <c:v>Prijs op GO</c:v>
          </c:tx>
          <c:spPr>
            <a:ln xmlns:a="http://schemas.openxmlformats.org/drawingml/2006/main" w="0">
              <a:noFill/>
            </a:ln>
          </c:spPr>
          <c:marker>
            <c:symbol val="circle"/>
            <c:size val="10"/>
            <c:spPr>
              <a:solidFill xmlns:a="http://schemas.openxmlformats.org/drawingml/2006/main">
                <a:srgbClr val="17658A"/>
              </a:solidFill>
            </c:spPr>
          </c:marker>
          <c:xVal>
            <c:numRef>
              <c:f>'Chart Data'!$M$2:$M$2</c:f>
              <c:numCache>
                <c:formatCode>General</c:formatCode>
                <c:ptCount val="1"/>
                <c:pt idx="0">
                  <c:v>40</c:v>
                </c:pt>
              </c:numCache>
            </c:numRef>
          </c:xVal>
          <c:yVal>
            <c:numRef>
              <c:f>'Chart Data'!$N$2:$N$2</c:f>
              <c:numCache>
                <c:formatCode>0</c:formatCode>
                <c:ptCount val="1"/>
                <c:pt idx="0">
                  <c:v>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571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Bedrag (€ per kg)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586966E7-76D9-49C5-BA08-FB5F1182135B}"/>
              </a:ext>
            </a:extLst>
          </p:cNvPr>
          <p:cNvSpPr>
            <a:spLocks xmlns:a="http://schemas.openxmlformats.org/drawingml/2006/main" noGrp="1"/>
          </p:cNvSpPr>
          <p:nvPr/>
        </p:nvSpPr>
        <p:spPr>
          <a:xfrm xmlns:a="http://schemas.openxmlformats.org/drawingml/2006/main">
            <a:off x="571500" y="2857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§4.1.5 Gemengde opgaven</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Concurrentie en monopolie</a:t>
            </a:r>
          </a:p>
        </p:txBody>
      </p:sp>
      <p:sp>
        <p:nvSpPr>
          <p:cNvPr id="2" name="phase">
            <a:extLst xmlns:a="http://schemas.openxmlformats.org/drawingml/2006/main">
              <a:ext uri="{FF2B5EF4-FFF2-40B4-BE49-F238E27FC236}">
                <a16:creationId xmlns:a16="http://schemas.microsoft.com/office/drawing/2014/main" id="{394E733F-93C3-4B18-9B1A-64877D6B0938}"/>
              </a:ext>
            </a:extLst>
          </p:cNvPr>
          <p:cNvSpPr>
            <a:spLocks xmlns:a="http://schemas.openxmlformats.org/drawingml/2006/main" noGrp="1"/>
          </p:cNvSpPr>
          <p:nvPr/>
        </p:nvSpPr>
        <p:spPr>
          <a:xfrm xmlns:a="http://schemas.openxmlformats.org/drawingml/2006/main">
            <a:off x="571500" y="143827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3" name="">
            <a:extLst xmlns:a="http://schemas.openxmlformats.org/drawingml/2006/main">
              <a:ext uri="{FF2B5EF4-FFF2-40B4-BE49-F238E27FC236}">
                <a16:creationId xmlns:a16="http://schemas.microsoft.com/office/drawing/2014/main" id="{3A01D101-F1BA-4161-852B-48D5C21A6213}"/>
              </a:ext>
            </a:extLst>
          </p:cNvPr>
          <p:cNvSpPr>
            <a:spLocks xmlns:a="http://schemas.openxmlformats.org/drawingml/2006/main" noGrp="1"/>
          </p:cNvSpPr>
          <p:nvPr/>
        </p:nvSpPr>
        <p:spPr>
          <a:xfrm xmlns:a="http://schemas.openxmlformats.org/drawingml/2006/main">
            <a:off x="571500" y="19240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A0DF51F8-B72A-4FB9-B3B1-BC43B8E992A7}"/>
              </a:ext>
            </a:extLst>
          </p:cNvPr>
          <p:cNvSpPr>
            <a:spLocks xmlns:a="http://schemas.openxmlformats.org/drawingml/2006/main" noGrp="1"/>
          </p:cNvSpPr>
          <p:nvPr/>
        </p:nvSpPr>
        <p:spPr>
          <a:xfrm xmlns:a="http://schemas.openxmlformats.org/drawingml/2006/main">
            <a:off x="571500" y="21907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6D22722E-1F3D-475F-BA52-D23924E9B941}"/>
              </a:ext>
            </a:extLst>
          </p:cNvPr>
          <p:cNvSpPr>
            <a:spLocks xmlns:a="http://schemas.openxmlformats.org/drawingml/2006/main" noGrp="1"/>
          </p:cNvSpPr>
          <p:nvPr/>
        </p:nvSpPr>
        <p:spPr>
          <a:xfrm xmlns:a="http://schemas.openxmlformats.org/drawingml/2006/main">
            <a:off x="571500" y="2771775"/>
            <a:ext cx="457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E0D9013B-AC79-4900-B6F6-74387C05F9EF}"/>
              </a:ext>
            </a:extLst>
          </p:cNvPr>
          <p:cNvSpPr>
            <a:spLocks xmlns:a="http://schemas.openxmlformats.org/drawingml/2006/main" noGrp="1"/>
          </p:cNvSpPr>
          <p:nvPr/>
        </p:nvSpPr>
        <p:spPr>
          <a:xfrm xmlns:a="http://schemas.openxmlformats.org/drawingml/2006/main">
            <a:off x="1104900" y="2771775"/>
            <a:ext cx="74199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03E71D24-61B9-4687-8013-788DC177E9FC}"/>
              </a:ext>
            </a:extLst>
          </p:cNvPr>
          <p:cNvSpPr>
            <a:spLocks xmlns:a="http://schemas.openxmlformats.org/drawingml/2006/main" noGrp="1"/>
          </p:cNvSpPr>
          <p:nvPr/>
        </p:nvSpPr>
        <p:spPr>
          <a:xfrm xmlns:a="http://schemas.openxmlformats.org/drawingml/2006/main">
            <a:off x="571500" y="36290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74CBE65A-337C-480F-8F49-BCC8BB717B48}"/>
              </a:ext>
            </a:extLst>
          </p:cNvPr>
          <p:cNvSpPr>
            <a:spLocks xmlns:a="http://schemas.openxmlformats.org/drawingml/2006/main" noGrp="1"/>
          </p:cNvSpPr>
          <p:nvPr/>
        </p:nvSpPr>
        <p:spPr>
          <a:xfrm xmlns:a="http://schemas.openxmlformats.org/drawingml/2006/main">
            <a:off x="1104900" y="36290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6B0A2AA2-8983-4E82-A3A3-E2378F582894}"/>
              </a:ext>
            </a:extLst>
          </p:cNvPr>
          <p:cNvSpPr>
            <a:spLocks xmlns:a="http://schemas.openxmlformats.org/drawingml/2006/main" noGrp="1"/>
          </p:cNvSpPr>
          <p:nvPr/>
        </p:nvSpPr>
        <p:spPr>
          <a:xfrm xmlns:a="http://schemas.openxmlformats.org/drawingml/2006/main">
            <a:off x="571500" y="41719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13DB3E93-A14B-4FB3-8CAA-CAA2EE2E1A27}"/>
              </a:ext>
            </a:extLst>
          </p:cNvPr>
          <p:cNvSpPr>
            <a:spLocks xmlns:a="http://schemas.openxmlformats.org/drawingml/2006/main" noGrp="1"/>
          </p:cNvSpPr>
          <p:nvPr/>
        </p:nvSpPr>
        <p:spPr>
          <a:xfrm xmlns:a="http://schemas.openxmlformats.org/drawingml/2006/main">
            <a:off x="1104900" y="41719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862F451D-3AE3-4FA4-95AD-105F6596643C}"/>
              </a:ext>
            </a:extLst>
          </p:cNvPr>
          <p:cNvSpPr>
            <a:spLocks xmlns:a="http://schemas.openxmlformats.org/drawingml/2006/main" noGrp="1"/>
          </p:cNvSpPr>
          <p:nvPr/>
        </p:nvSpPr>
        <p:spPr>
          <a:xfrm xmlns:a="http://schemas.openxmlformats.org/drawingml/2006/main">
            <a:off x="571500" y="4714875"/>
            <a:ext cx="457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74D59672-9C94-4DFA-B8BB-3330DDCDDD1E}"/>
              </a:ext>
            </a:extLst>
          </p:cNvPr>
          <p:cNvSpPr>
            <a:spLocks xmlns:a="http://schemas.openxmlformats.org/drawingml/2006/main" noGrp="1"/>
          </p:cNvSpPr>
          <p:nvPr/>
        </p:nvSpPr>
        <p:spPr>
          <a:xfrm xmlns:a="http://schemas.openxmlformats.org/drawingml/2006/main">
            <a:off x="1104900" y="4714875"/>
            <a:ext cx="7419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EE1FB507-FF24-4617-9F06-BC8AD1701F17}"/>
              </a:ext>
            </a:extLst>
          </p:cNvPr>
          <p:cNvSpPr>
            <a:spLocks xmlns:a="http://schemas.openxmlformats.org/drawingml/2006/main" noGrp="1"/>
          </p:cNvSpPr>
          <p:nvPr/>
        </p:nvSpPr>
        <p:spPr>
          <a:xfrm xmlns:a="http://schemas.openxmlformats.org/drawingml/2006/main">
            <a:off x="571500" y="573405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05AB0E84-60DA-4267-8DBB-43AD9AA4C79A}"/>
              </a:ext>
            </a:extLst>
          </p:cNvPr>
          <p:cNvSpPr>
            <a:spLocks xmlns:a="http://schemas.openxmlformats.org/drawingml/2006/main" noGrp="1"/>
          </p:cNvSpPr>
          <p:nvPr/>
        </p:nvSpPr>
        <p:spPr>
          <a:xfrm xmlns:a="http://schemas.openxmlformats.org/drawingml/2006/main">
            <a:off x="1104900" y="573405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5CF1E82E-2C6B-474F-9BBB-5DEA426BEB59}"/>
              </a:ext>
            </a:extLst>
          </p:cNvPr>
          <p:cNvSpPr>
            <a:spLocks xmlns:a="http://schemas.openxmlformats.org/drawingml/2006/main" noGrp="1"/>
          </p:cNvSpPr>
          <p:nvPr/>
        </p:nvSpPr>
        <p:spPr>
          <a:xfrm xmlns:a="http://schemas.openxmlformats.org/drawingml/2006/main">
            <a:off x="571500" y="66294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A42014F4-AF08-437C-A46A-4DE3E3EAD7FC}"/>
              </a:ext>
            </a:extLst>
          </p:cNvPr>
          <p:cNvSpPr>
            <a:spLocks xmlns:a="http://schemas.openxmlformats.org/drawingml/2006/main" noGrp="1"/>
          </p:cNvSpPr>
          <p:nvPr/>
        </p:nvSpPr>
        <p:spPr>
          <a:xfrm xmlns:a="http://schemas.openxmlformats.org/drawingml/2006/main">
            <a:off x="1104900" y="66294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45.</a:t>
            </a:r>
          </a:p>
        </p:txBody>
      </p:sp>
      <p:sp>
        <p:nvSpPr>
          <p:cNvPr id="17" name="route-number-7">
            <a:extLst xmlns:a="http://schemas.openxmlformats.org/drawingml/2006/main">
              <a:ext uri="{FF2B5EF4-FFF2-40B4-BE49-F238E27FC236}">
                <a16:creationId xmlns:a16="http://schemas.microsoft.com/office/drawing/2014/main" id="{E3D5A8FE-C29E-4FAC-B4E6-CCFCA485C0DD}"/>
              </a:ext>
            </a:extLst>
          </p:cNvPr>
          <p:cNvSpPr>
            <a:spLocks xmlns:a="http://schemas.openxmlformats.org/drawingml/2006/main" noGrp="1"/>
          </p:cNvSpPr>
          <p:nvPr/>
        </p:nvSpPr>
        <p:spPr>
          <a:xfrm xmlns:a="http://schemas.openxmlformats.org/drawingml/2006/main">
            <a:off x="571500" y="7362825"/>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347767D0-E603-43C3-B2CF-79C6C381A1D6}"/>
              </a:ext>
            </a:extLst>
          </p:cNvPr>
          <p:cNvSpPr>
            <a:spLocks xmlns:a="http://schemas.openxmlformats.org/drawingml/2006/main" noGrp="1"/>
          </p:cNvSpPr>
          <p:nvPr/>
        </p:nvSpPr>
        <p:spPr>
          <a:xfrm xmlns:a="http://schemas.openxmlformats.org/drawingml/2006/main">
            <a:off x="1104900" y="7362825"/>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64C16822-4237-43E8-9F1D-55B132B9FB42}"/>
              </a:ext>
            </a:extLst>
          </p:cNvPr>
          <p:cNvSpPr>
            <a:spLocks xmlns:a="http://schemas.openxmlformats.org/drawingml/2006/main" noGrp="1"/>
          </p:cNvSpPr>
          <p:nvPr/>
        </p:nvSpPr>
        <p:spPr>
          <a:xfrm xmlns:a="http://schemas.openxmlformats.org/drawingml/2006/main">
            <a:off x="9258300" y="21907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98667887-07B3-4ED5-AE38-7E1152A81ABD}"/>
              </a:ext>
            </a:extLst>
          </p:cNvPr>
          <p:cNvSpPr>
            <a:spLocks xmlns:a="http://schemas.openxmlformats.org/drawingml/2006/main" noGrp="1"/>
          </p:cNvSpPr>
          <p:nvPr/>
        </p:nvSpPr>
        <p:spPr>
          <a:xfrm xmlns:a="http://schemas.openxmlformats.org/drawingml/2006/main">
            <a:off x="9258300" y="2752725"/>
            <a:ext cx="541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Model kiezen; q, prijs en winst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Fouten verbeteren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conclusies onderbouwen.</a:t>
            </a:r>
          </a:p>
        </p:txBody>
      </p:sp>
      <p:sp>
        <p:nvSpPr>
          <p:cNvPr id="21" name="">
            <a:extLst xmlns:a="http://schemas.openxmlformats.org/drawingml/2006/main">
              <a:ext uri="{FF2B5EF4-FFF2-40B4-BE49-F238E27FC236}">
                <a16:creationId xmlns:a16="http://schemas.microsoft.com/office/drawing/2014/main" id="{729D690D-6DC8-4C47-9519-AABE1A63840B}"/>
              </a:ext>
            </a:extLst>
          </p:cNvPr>
          <p:cNvSpPr>
            <a:spLocks xmlns:a="http://schemas.openxmlformats.org/drawingml/2006/main" noGrp="1"/>
          </p:cNvSpPr>
          <p:nvPr/>
        </p:nvSpPr>
        <p:spPr>
          <a:xfrm xmlns:a="http://schemas.openxmlformats.org/drawingml/2006/main">
            <a:off x="9258300" y="400050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917087C1-4E9E-49E7-97E6-2AC8D151D721}"/>
              </a:ext>
            </a:extLst>
          </p:cNvPr>
          <p:cNvSpPr>
            <a:spLocks xmlns:a="http://schemas.openxmlformats.org/drawingml/2006/main" noGrp="1"/>
          </p:cNvSpPr>
          <p:nvPr/>
        </p:nvSpPr>
        <p:spPr>
          <a:xfrm xmlns:a="http://schemas.openxmlformats.org/drawingml/2006/main">
            <a:off x="9258300" y="42386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AB44A454-7701-4501-88D2-7A921424E351}"/>
              </a:ext>
            </a:extLst>
          </p:cNvPr>
          <p:cNvSpPr>
            <a:spLocks xmlns:a="http://schemas.openxmlformats.org/drawingml/2006/main" noGrp="1"/>
          </p:cNvSpPr>
          <p:nvPr/>
        </p:nvSpPr>
        <p:spPr>
          <a:xfrm xmlns:a="http://schemas.openxmlformats.org/drawingml/2006/main">
            <a:off x="9258300" y="4762500"/>
            <a:ext cx="5410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46 · Opgave 41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Eerste gemengde opgave</a:t>
            </a:r>
          </a:p>
        </p:txBody>
      </p:sp>
      <p:sp>
        <p:nvSpPr>
          <p:cNvPr id="24" name="">
            <a:extLst xmlns:a="http://schemas.openxmlformats.org/drawingml/2006/main">
              <a:ext uri="{FF2B5EF4-FFF2-40B4-BE49-F238E27FC236}">
                <a16:creationId xmlns:a16="http://schemas.microsoft.com/office/drawing/2014/main" id="{3D6BEE98-58E8-4A25-A4BE-8EB5AD748B63}"/>
              </a:ext>
            </a:extLst>
          </p:cNvPr>
          <p:cNvSpPr>
            <a:spLocks xmlns:a="http://schemas.openxmlformats.org/drawingml/2006/main" noGrp="1"/>
          </p:cNvSpPr>
          <p:nvPr/>
        </p:nvSpPr>
        <p:spPr>
          <a:xfrm xmlns:a="http://schemas.openxmlformats.org/drawingml/2006/main">
            <a:off x="9258300" y="56769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1826EC1B-4AED-43F7-9016-555A34A430BD}"/>
              </a:ext>
            </a:extLst>
          </p:cNvPr>
          <p:cNvSpPr>
            <a:spLocks xmlns:a="http://schemas.openxmlformats.org/drawingml/2006/main" noGrp="1"/>
          </p:cNvSpPr>
          <p:nvPr/>
        </p:nvSpPr>
        <p:spPr>
          <a:xfrm xmlns:a="http://schemas.openxmlformats.org/drawingml/2006/main">
            <a:off x="9258300" y="58674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13EE5B5F-48C3-4F9A-ABB8-973FE3AFD018}"/>
              </a:ext>
            </a:extLst>
          </p:cNvPr>
          <p:cNvSpPr>
            <a:spLocks xmlns:a="http://schemas.openxmlformats.org/drawingml/2006/main" noGrp="1"/>
          </p:cNvSpPr>
          <p:nvPr/>
        </p:nvSpPr>
        <p:spPr>
          <a:xfrm xmlns:a="http://schemas.openxmlformats.org/drawingml/2006/main">
            <a:off x="9258300" y="6457950"/>
            <a:ext cx="54102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§4.1.5 · Opgaven 41, 41A, 42–48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Voorbereiding: 41, 41A, 42–44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 45 · Verder oefenen: 46–48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4.1.5 · Boekpagina’s 46–50">
            <a:extLst xmlns:a="http://schemas.openxmlformats.org/drawingml/2006/main">
              <a:ext uri="{FF2B5EF4-FFF2-40B4-BE49-F238E27FC236}">
                <a16:creationId xmlns:a16="http://schemas.microsoft.com/office/drawing/2014/main" id="{F3D14104-E135-41C5-B9B8-8970FE5EB5F5}"/>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§4.1.5 · Boekpagina’s 46–50</a:t>
            </a:r>
          </a:p>
        </p:txBody>
      </p:sp>
      <p:sp>
        <p:nvSpPr>
          <p:cNvPr id="28" name="1">
            <a:extLst xmlns:a="http://schemas.openxmlformats.org/drawingml/2006/main">
              <a:ext uri="{FF2B5EF4-FFF2-40B4-BE49-F238E27FC236}">
                <a16:creationId xmlns:a16="http://schemas.microsoft.com/office/drawing/2014/main" id="{BFB63396-65F6-42E2-BA14-1B918755F04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Tree>
    <p:extLst>
      <p:ext uri="{BB962C8B-B14F-4D97-AF65-F5344CB8AC3E}">
        <p14:creationId xmlns:p14="http://schemas.microsoft.com/office/powerpoint/2010/main" val="1233174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 bron bepaalt de opbrengstroute">
            <a:extLst xmlns:a="http://schemas.openxmlformats.org/drawingml/2006/main">
              <a:ext uri="{FF2B5EF4-FFF2-40B4-BE49-F238E27FC236}">
                <a16:creationId xmlns:a16="http://schemas.microsoft.com/office/drawing/2014/main" id="{BB958F08-FD2C-4554-B337-6A81F2966497}"/>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bron bepaalt de opbrengstroute</a:t>
            </a:r>
          </a:p>
        </p:txBody>
      </p:sp>
      <p:sp>
        <p:nvSpPr>
          <p:cNvPr id="2" name="">
            <a:extLst xmlns:a="http://schemas.openxmlformats.org/drawingml/2006/main">
              <a:ext uri="{FF2B5EF4-FFF2-40B4-BE49-F238E27FC236}">
                <a16:creationId xmlns:a16="http://schemas.microsoft.com/office/drawing/2014/main" id="{E75DB095-29AC-407C-8635-59D866FA0DF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5 Gemengde opgaven: concurrentie en monopolie">
            <a:extLst xmlns:a="http://schemas.openxmlformats.org/drawingml/2006/main">
              <a:ext uri="{FF2B5EF4-FFF2-40B4-BE49-F238E27FC236}">
                <a16:creationId xmlns:a16="http://schemas.microsoft.com/office/drawing/2014/main" id="{29E81E72-5124-4032-8EB3-6A32A0601D9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§4.1.5 Gemengde opgaven: concurrentie en monopolie</a:t>
            </a:r>
          </a:p>
        </p:txBody>
      </p:sp>
      <p:sp>
        <p:nvSpPr>
          <p:cNvPr id="4" name="2">
            <a:extLst xmlns:a="http://schemas.openxmlformats.org/drawingml/2006/main">
              <a:ext uri="{FF2B5EF4-FFF2-40B4-BE49-F238E27FC236}">
                <a16:creationId xmlns:a16="http://schemas.microsoft.com/office/drawing/2014/main" id="{684BC16E-5945-43EF-B3E3-55CC5080F0E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0" name=""/>
          <p:cNvGraphicFramePr/>
          <p:nvPr/>
        </p:nvGraphicFramePr>
        <p:xfrm>
          <a:off xmlns:a="http://schemas.openxmlformats.org/drawingml/2006/main" x="571500" y="2047875"/>
          <a:ext xmlns:a="http://schemas.openxmlformats.org/drawingml/2006/main" cx="14097000" cy="5114925"/>
        </p:xfrm>
        <a:graphic xmlns:a="http://schemas.openxmlformats.org/drawingml/2006/main">
          <a:graphicData uri="http://schemas.openxmlformats.org/drawingml/2006/table">
            <a:tbl>
              <a:tblPr/>
              <a:tblGrid>
                <a:gridCol w="3333750"/>
                <a:gridCol w="5143500"/>
                <a:gridCol w="5619750"/>
              </a:tblGrid>
              <a:tr h="1022985">
                <a:tc>
                  <a:txBody>
                    <a:bodyPr lIns="171450" tIns="95250" rIns="152400" bIns="95250"/>
                    <a:lstStyle/>
                    <a:p>
                      <a:r>
                        <a:rPr sz="2325" b="1">
                          <a:solidFill>
                            <a:srgbClr val="FFFFFF"/>
                          </a:solidFill>
                          <a:latin typeface="Arial"/>
                          <a:ea typeface="Arial"/>
                          <a:cs typeface="Arial"/>
                        </a:rPr>
                        <a:t>Wat vergelijk je?</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Prijsnemer</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Monopolist</a:t>
                      </a:r>
                    </a:p>
                  </a:txBody>
                  <a:tcPr marL="91440" marR="91440" marT="45720" marB="45720" anchor="ctr">
                    <a:solidFill>
                      <a:srgbClr val="183247"/>
                    </a:solidFill>
                  </a:tcPr>
                </a:tc>
              </a:tr>
              <a:tr h="1022985">
                <a:tc>
                  <a:txBody>
                    <a:bodyPr lIns="171450" tIns="95250" rIns="152400" bIns="95250"/>
                    <a:lstStyle/>
                    <a:p>
                      <a:r>
                        <a:rPr sz="2325" b="0">
                          <a:solidFill>
                            <a:srgbClr val="183247"/>
                          </a:solidFill>
                          <a:latin typeface="Arial"/>
                          <a:ea typeface="Arial"/>
                          <a:cs typeface="Arial"/>
                        </a:rPr>
                        <a:t>Bronbewijs</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Veel kleine aanbieders,</a:t>
                      </a:r>
                    </a:p>
                    <a:p>
                      <a:r>
                        <a:rPr sz="2325" b="0">
                          <a:solidFill>
                            <a:srgbClr val="183247"/>
                          </a:solidFill>
                          <a:latin typeface="Arial"/>
                          <a:ea typeface="Arial"/>
                          <a:cs typeface="Arial"/>
                        </a:rPr>
                        <a:t>gelijkwaardig product</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Eén aanbieder, geen goede</a:t>
                      </a:r>
                    </a:p>
                    <a:p>
                      <a:r>
                        <a:rPr sz="2325" b="0">
                          <a:solidFill>
                            <a:srgbClr val="183247"/>
                          </a:solidFill>
                          <a:latin typeface="Arial"/>
                          <a:ea typeface="Arial"/>
                          <a:cs typeface="Arial"/>
                        </a:rPr>
                        <a:t>vervangers, barrière</a:t>
                      </a:r>
                    </a:p>
                  </a:txBody>
                  <a:tcPr marL="91440" marR="91440" marT="45720" marB="45720" anchor="ctr">
                    <a:solidFill>
                      <a:srgbClr val="FFFFFF"/>
                    </a:solidFill>
                  </a:tcPr>
                </a:tc>
              </a:tr>
              <a:tr h="1022985">
                <a:tc>
                  <a:txBody>
                    <a:bodyPr lIns="171450" tIns="95250" rIns="152400" bIns="95250"/>
                    <a:lstStyle/>
                    <a:p>
                      <a:r>
                        <a:rPr sz="2325" b="0">
                          <a:solidFill>
                            <a:srgbClr val="183247"/>
                          </a:solidFill>
                          <a:latin typeface="Arial"/>
                          <a:ea typeface="Arial"/>
                          <a:cs typeface="Arial"/>
                        </a:rPr>
                        <a:t>Opbrengst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P = GO = MO</a:t>
                      </a:r>
                    </a:p>
                    <a:p>
                      <a:r>
                        <a:rPr sz="2325" b="0">
                          <a:solidFill>
                            <a:srgbClr val="183247"/>
                          </a:solidFill>
                          <a:latin typeface="Arial"/>
                          <a:ea typeface="Arial"/>
                          <a:cs typeface="Arial"/>
                        </a:rPr>
                        <a:t>Marktprijs is gegeven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GO = P uit de vraag</a:t>
                      </a:r>
                    </a:p>
                    <a:p>
                      <a:r>
                        <a:rPr sz="2325" b="0">
                          <a:solidFill>
                            <a:srgbClr val="183247"/>
                          </a:solidFill>
                          <a:latin typeface="Arial"/>
                          <a:ea typeface="Arial"/>
                          <a:cs typeface="Arial"/>
                        </a:rPr>
                        <a:t>MO volgt uit TO</a:t>
                      </a:r>
                    </a:p>
                  </a:txBody>
                  <a:tcPr marL="91440" marR="91440" marT="45720" marB="45720" anchor="ctr">
                    <a:solidFill>
                      <a:srgbClr val="EFF4F7"/>
                    </a:solidFill>
                  </a:tcPr>
                </a:tc>
              </a:tr>
              <a:tr h="1022985">
                <a:tc>
                  <a:txBody>
                    <a:bodyPr lIns="171450" tIns="95250" rIns="152400" bIns="95250"/>
                    <a:lstStyle/>
                    <a:p>
                      <a:r>
                        <a:rPr sz="2325" b="0">
                          <a:solidFill>
                            <a:srgbClr val="183247"/>
                          </a:solidFill>
                          <a:latin typeface="Arial"/>
                          <a:ea typeface="Arial"/>
                          <a:cs typeface="Arial"/>
                        </a:rPr>
                        <a:t>Keuze van q</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MO vergelijken met MK</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MO vergelijken met MK</a:t>
                      </a:r>
                    </a:p>
                  </a:txBody>
                  <a:tcPr marL="91440" marR="91440" marT="45720" marB="45720" anchor="ctr">
                    <a:solidFill>
                      <a:srgbClr val="FFFFFF"/>
                    </a:solidFill>
                  </a:tcPr>
                </a:tc>
              </a:tr>
              <a:tr h="1022985">
                <a:tc>
                  <a:txBody>
                    <a:bodyPr lIns="171450" tIns="95250" rIns="152400" bIns="95250"/>
                    <a:lstStyle/>
                    <a:p>
                      <a:r>
                        <a:rPr sz="2325" b="0">
                          <a:solidFill>
                            <a:srgbClr val="183247"/>
                          </a:solidFill>
                          <a:latin typeface="Arial"/>
                          <a:ea typeface="Arial"/>
                          <a:cs typeface="Arial"/>
                        </a:rPr>
                        <a:t>Daarna</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Haalbaarheid en winst controleren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P uit GO; haalbaarheid</a:t>
                      </a:r>
                    </a:p>
                    <a:p>
                      <a:r>
                        <a:rPr sz="2325" b="0">
                          <a:solidFill>
                            <a:srgbClr val="183247"/>
                          </a:solidFill>
                          <a:latin typeface="Arial"/>
                          <a:ea typeface="Arial"/>
                          <a:cs typeface="Arial"/>
                        </a:rPr>
                        <a:t>en winst controleren</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5438083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el Nova: de marginale functies">
            <a:extLst xmlns:a="http://schemas.openxmlformats.org/drawingml/2006/main">
              <a:ext uri="{FF2B5EF4-FFF2-40B4-BE49-F238E27FC236}">
                <a16:creationId xmlns:a16="http://schemas.microsoft.com/office/drawing/2014/main" id="{C2A5594E-4FEB-43F4-A393-37EF39D03A04}"/>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Gel Nova: de marginale functies</a:t>
            </a:r>
          </a:p>
        </p:txBody>
      </p:sp>
      <p:sp>
        <p:nvSpPr>
          <p:cNvPr id="2" name="">
            <a:extLst xmlns:a="http://schemas.openxmlformats.org/drawingml/2006/main">
              <a:ext uri="{FF2B5EF4-FFF2-40B4-BE49-F238E27FC236}">
                <a16:creationId xmlns:a16="http://schemas.microsoft.com/office/drawing/2014/main" id="{92EBAC21-7ED7-42FF-A857-61212F310C8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5 Gemengde opgaven: concurrentie en monopolie">
            <a:extLst xmlns:a="http://schemas.openxmlformats.org/drawingml/2006/main">
              <a:ext uri="{FF2B5EF4-FFF2-40B4-BE49-F238E27FC236}">
                <a16:creationId xmlns:a16="http://schemas.microsoft.com/office/drawing/2014/main" id="{4E5D7250-9E66-4950-A1CD-D65C727B8DA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§4.1.5 Gemengde opgaven: concurrentie en monopolie</a:t>
            </a:r>
          </a:p>
        </p:txBody>
      </p:sp>
      <p:sp>
        <p:nvSpPr>
          <p:cNvPr id="4" name="3">
            <a:extLst xmlns:a="http://schemas.openxmlformats.org/drawingml/2006/main">
              <a:ext uri="{FF2B5EF4-FFF2-40B4-BE49-F238E27FC236}">
                <a16:creationId xmlns:a16="http://schemas.microsoft.com/office/drawing/2014/main" id="{5120B6F9-6401-4570-B10E-D6ECB097795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57BF2084-C164-4D51-BACA-0C0DA3FD2F51}"/>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Exclusief procedé; geen goede vervangers in deze afgebakende mark">
            <a:extLst xmlns:a="http://schemas.openxmlformats.org/drawingml/2006/main">
              <a:ext uri="{FF2B5EF4-FFF2-40B4-BE49-F238E27FC236}">
                <a16:creationId xmlns:a16="http://schemas.microsoft.com/office/drawing/2014/main" id="{6B4476DA-7607-46F5-B96B-AD9C81C38308}"/>
              </a:ext>
            </a:extLst>
          </p:cNvPr>
          <p:cNvSpPr>
            <a:spLocks xmlns:a="http://schemas.openxmlformats.org/drawingml/2006/main" noGrp="1"/>
          </p:cNvSpPr>
          <p:nvPr/>
        </p:nvSpPr>
        <p:spPr>
          <a:xfrm xmlns:a="http://schemas.openxmlformats.org/drawingml/2006/main">
            <a:off x="571500" y="22288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Exclusief procedé; geen goede vervangers in deze afgebakende markt.</a:t>
            </a:r>
          </a:p>
        </p:txBody>
      </p:sp>
      <p:sp>
        <p:nvSpPr>
          <p:cNvPr id="7" name="Vraag en omzet">
            <a:extLst xmlns:a="http://schemas.openxmlformats.org/drawingml/2006/main">
              <a:ext uri="{FF2B5EF4-FFF2-40B4-BE49-F238E27FC236}">
                <a16:creationId xmlns:a16="http://schemas.microsoft.com/office/drawing/2014/main" id="{0BF350AF-2176-4619-A4C7-2213784C1F45}"/>
              </a:ext>
            </a:extLst>
          </p:cNvPr>
          <p:cNvSpPr>
            <a:spLocks xmlns:a="http://schemas.openxmlformats.org/drawingml/2006/main" noGrp="1"/>
          </p:cNvSpPr>
          <p:nvPr/>
        </p:nvSpPr>
        <p:spPr>
          <a:xfrm xmlns:a="http://schemas.openxmlformats.org/drawingml/2006/main">
            <a:off x="571500" y="323850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Vraag en omzet</a:t>
            </a:r>
          </a:p>
        </p:txBody>
      </p:sp>
      <p:sp>
        <p:nvSpPr>
          <p:cNvPr id="8" name="P = 26 − 0,25q&#10;TO = (26 − 0,25q)q = 26q − 0,25q²">
            <a:extLst xmlns:a="http://schemas.openxmlformats.org/drawingml/2006/main">
              <a:ext uri="{FF2B5EF4-FFF2-40B4-BE49-F238E27FC236}">
                <a16:creationId xmlns:a16="http://schemas.microsoft.com/office/drawing/2014/main" id="{A28D999B-C3BD-4F3F-94D3-C589E35A1E11}"/>
              </a:ext>
            </a:extLst>
          </p:cNvPr>
          <p:cNvSpPr>
            <a:spLocks xmlns:a="http://schemas.openxmlformats.org/drawingml/2006/main" noGrp="1"/>
          </p:cNvSpPr>
          <p:nvPr/>
        </p:nvSpPr>
        <p:spPr>
          <a:xfrm xmlns:a="http://schemas.openxmlformats.org/drawingml/2006/main">
            <a:off x="5381625" y="3238500"/>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 = 26 − 0,25q</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TO = (26 − 0,25q)q = 26q − 0,25q²</a:t>
            </a:r>
          </a:p>
        </p:txBody>
      </p:sp>
      <p:sp>
        <p:nvSpPr>
          <p:cNvPr id="9" name="">
            <a:extLst xmlns:a="http://schemas.openxmlformats.org/drawingml/2006/main">
              <a:ext uri="{FF2B5EF4-FFF2-40B4-BE49-F238E27FC236}">
                <a16:creationId xmlns:a16="http://schemas.microsoft.com/office/drawing/2014/main" id="{DEAA9168-E576-490C-AFF8-7C8EAB1DA196}"/>
              </a:ext>
            </a:extLst>
          </p:cNvPr>
          <p:cNvSpPr>
            <a:spLocks xmlns:a="http://schemas.openxmlformats.org/drawingml/2006/main" noGrp="1"/>
          </p:cNvSpPr>
          <p:nvPr/>
        </p:nvSpPr>
        <p:spPr>
          <a:xfrm xmlns:a="http://schemas.openxmlformats.org/drawingml/2006/main">
            <a:off x="571500" y="4572000"/>
            <a:ext cx="14097000" cy="0"/>
          </a:xfrm>
          <a:prstGeom xmlns:a="http://schemas.openxmlformats.org/drawingml/2006/main" prst="line">
            <a:avLst/>
          </a:prstGeom>
          <a:ln xmlns:a="http://schemas.openxmlformats.org/drawingml/2006/main" w="19050">
            <a:solidFill>
              <a:srgbClr val="C6D2DB"/>
            </a:solidFill>
          </a:ln>
        </p:spPr>
      </p:sp>
      <p:sp>
        <p:nvSpPr>
          <p:cNvPr id="10" name="Marginale opbrengst">
            <a:extLst xmlns:a="http://schemas.openxmlformats.org/drawingml/2006/main">
              <a:ext uri="{FF2B5EF4-FFF2-40B4-BE49-F238E27FC236}">
                <a16:creationId xmlns:a16="http://schemas.microsoft.com/office/drawing/2014/main" id="{2654A4A2-375B-4CB7-8F62-1F53AD1E2799}"/>
              </a:ext>
            </a:extLst>
          </p:cNvPr>
          <p:cNvSpPr>
            <a:spLocks xmlns:a="http://schemas.openxmlformats.org/drawingml/2006/main" noGrp="1"/>
          </p:cNvSpPr>
          <p:nvPr/>
        </p:nvSpPr>
        <p:spPr>
          <a:xfrm xmlns:a="http://schemas.openxmlformats.org/drawingml/2006/main">
            <a:off x="571500" y="469582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Marginale opbrengst</a:t>
            </a:r>
          </a:p>
        </p:txBody>
      </p:sp>
      <p:sp>
        <p:nvSpPr>
          <p:cNvPr id="11" name="MO = 26 − 0,50q">
            <a:extLst xmlns:a="http://schemas.openxmlformats.org/drawingml/2006/main">
              <a:ext uri="{FF2B5EF4-FFF2-40B4-BE49-F238E27FC236}">
                <a16:creationId xmlns:a16="http://schemas.microsoft.com/office/drawing/2014/main" id="{81913A9A-F267-4DA5-8BF0-AC80FAC101B8}"/>
              </a:ext>
            </a:extLst>
          </p:cNvPr>
          <p:cNvSpPr>
            <a:spLocks xmlns:a="http://schemas.openxmlformats.org/drawingml/2006/main" noGrp="1"/>
          </p:cNvSpPr>
          <p:nvPr/>
        </p:nvSpPr>
        <p:spPr>
          <a:xfrm xmlns:a="http://schemas.openxmlformats.org/drawingml/2006/main">
            <a:off x="5381625" y="469582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MO = 26 − 0,50q</a:t>
            </a:r>
          </a:p>
        </p:txBody>
      </p:sp>
      <p:sp>
        <p:nvSpPr>
          <p:cNvPr id="12" name="">
            <a:extLst xmlns:a="http://schemas.openxmlformats.org/drawingml/2006/main">
              <a:ext uri="{FF2B5EF4-FFF2-40B4-BE49-F238E27FC236}">
                <a16:creationId xmlns:a16="http://schemas.microsoft.com/office/drawing/2014/main" id="{D7F3D392-C1B1-46E8-8763-5C5518CAF77E}"/>
              </a:ext>
            </a:extLst>
          </p:cNvPr>
          <p:cNvSpPr>
            <a:spLocks xmlns:a="http://schemas.openxmlformats.org/drawingml/2006/main" noGrp="1"/>
          </p:cNvSpPr>
          <p:nvPr/>
        </p:nvSpPr>
        <p:spPr>
          <a:xfrm xmlns:a="http://schemas.openxmlformats.org/drawingml/2006/main">
            <a:off x="571500" y="6029325"/>
            <a:ext cx="14097000" cy="0"/>
          </a:xfrm>
          <a:prstGeom xmlns:a="http://schemas.openxmlformats.org/drawingml/2006/main" prst="line">
            <a:avLst/>
          </a:prstGeom>
          <a:ln xmlns:a="http://schemas.openxmlformats.org/drawingml/2006/main" w="19050">
            <a:solidFill>
              <a:srgbClr val="C6D2DB"/>
            </a:solidFill>
          </a:ln>
        </p:spPr>
      </p:sp>
      <p:sp>
        <p:nvSpPr>
          <p:cNvPr id="13" name="Totale en marginale kosten">
            <a:extLst xmlns:a="http://schemas.openxmlformats.org/drawingml/2006/main">
              <a:ext uri="{FF2B5EF4-FFF2-40B4-BE49-F238E27FC236}">
                <a16:creationId xmlns:a16="http://schemas.microsoft.com/office/drawing/2014/main" id="{EA2C2A27-DFE0-4B03-A3DC-4ED25B305F03}"/>
              </a:ext>
            </a:extLst>
          </p:cNvPr>
          <p:cNvSpPr>
            <a:spLocks xmlns:a="http://schemas.openxmlformats.org/drawingml/2006/main" noGrp="1"/>
          </p:cNvSpPr>
          <p:nvPr/>
        </p:nvSpPr>
        <p:spPr>
          <a:xfrm xmlns:a="http://schemas.openxmlformats.org/drawingml/2006/main">
            <a:off x="571500" y="615315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Totale en marginale kosten</a:t>
            </a:r>
          </a:p>
        </p:txBody>
      </p:sp>
      <p:sp>
        <p:nvSpPr>
          <p:cNvPr id="14" name="TK = 0,125q² + 5q + 72&#10;MK = 0,25q + 5">
            <a:extLst xmlns:a="http://schemas.openxmlformats.org/drawingml/2006/main">
              <a:ext uri="{FF2B5EF4-FFF2-40B4-BE49-F238E27FC236}">
                <a16:creationId xmlns:a16="http://schemas.microsoft.com/office/drawing/2014/main" id="{885CB73E-3D21-4329-883F-7190D9F330C9}"/>
              </a:ext>
            </a:extLst>
          </p:cNvPr>
          <p:cNvSpPr>
            <a:spLocks xmlns:a="http://schemas.openxmlformats.org/drawingml/2006/main" noGrp="1"/>
          </p:cNvSpPr>
          <p:nvPr/>
        </p:nvSpPr>
        <p:spPr>
          <a:xfrm xmlns:a="http://schemas.openxmlformats.org/drawingml/2006/main">
            <a:off x="5381625" y="6153150"/>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TK = 0,125q² + 5q + 72</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MK = 0,25q + 5</a:t>
            </a:r>
          </a:p>
        </p:txBody>
      </p:sp>
      <p:sp>
        <p:nvSpPr>
          <p:cNvPr id="15" name="q: kg per week · P: €/kg · TK: €/week · Capaciteit: 36 kg per wee">
            <a:extLst xmlns:a="http://schemas.openxmlformats.org/drawingml/2006/main">
              <a:ext uri="{FF2B5EF4-FFF2-40B4-BE49-F238E27FC236}">
                <a16:creationId xmlns:a16="http://schemas.microsoft.com/office/drawing/2014/main" id="{6AAE6DEF-5C6B-4051-939B-9DFEB36A705B}"/>
              </a:ext>
            </a:extLst>
          </p:cNvPr>
          <p:cNvSpPr>
            <a:spLocks xmlns:a="http://schemas.openxmlformats.org/drawingml/2006/main" noGrp="1"/>
          </p:cNvSpPr>
          <p:nvPr/>
        </p:nvSpPr>
        <p:spPr>
          <a:xfrm xmlns:a="http://schemas.openxmlformats.org/drawingml/2006/main">
            <a:off x="571500" y="769620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3247"/>
                </a:solidFill>
                <a:latin typeface="Arial"/>
                <a:ea typeface="Arial"/>
                <a:cs typeface="Arial"/>
              </a:defRPr>
            </a:pPr>
            <a:r>
              <a:rPr sz="1875" b="0">
                <a:solidFill>
                  <a:srgbClr val="183247"/>
                </a:solidFill>
                <a:latin typeface="Arial"/>
                <a:ea typeface="Arial"/>
                <a:cs typeface="Arial"/>
              </a:rPr>
              <a:t>q: kg per week · P: €/kg · TK: €/week · Capaciteit: 36 kg per week</a:t>
            </a:r>
          </a:p>
        </p:txBody>
      </p:sp>
    </p:spTree>
    <p:extLst>
      <p:ext uri="{BB962C8B-B14F-4D97-AF65-F5344CB8AC3E}">
        <p14:creationId xmlns:p14="http://schemas.microsoft.com/office/powerpoint/2010/main" val="6702489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Gel Nova: eerst q, daarna de prijs">
            <a:extLst xmlns:a="http://schemas.openxmlformats.org/drawingml/2006/main">
              <a:ext uri="{FF2B5EF4-FFF2-40B4-BE49-F238E27FC236}">
                <a16:creationId xmlns:a16="http://schemas.microsoft.com/office/drawing/2014/main" id="{5E1887E7-2AAA-42A2-BA5D-41DD2EBFC271}"/>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Gel Nova: eerst q, daarna de prijs</a:t>
            </a:r>
          </a:p>
        </p:txBody>
      </p:sp>
      <p:sp>
        <p:nvSpPr>
          <p:cNvPr id="2" name="">
            <a:extLst xmlns:a="http://schemas.openxmlformats.org/drawingml/2006/main">
              <a:ext uri="{FF2B5EF4-FFF2-40B4-BE49-F238E27FC236}">
                <a16:creationId xmlns:a16="http://schemas.microsoft.com/office/drawing/2014/main" id="{D77DDC37-2AC9-4A91-BF34-7B242F7FAFE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5 Gemengde opgaven: concurrentie en monopolie">
            <a:extLst xmlns:a="http://schemas.openxmlformats.org/drawingml/2006/main">
              <a:ext uri="{FF2B5EF4-FFF2-40B4-BE49-F238E27FC236}">
                <a16:creationId xmlns:a16="http://schemas.microsoft.com/office/drawing/2014/main" id="{E5F3291F-32AD-415C-BA81-19073FDBA35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§4.1.5 Gemengde opgaven: concurrentie en monopolie</a:t>
            </a:r>
          </a:p>
        </p:txBody>
      </p:sp>
      <p:sp>
        <p:nvSpPr>
          <p:cNvPr id="4" name="4">
            <a:extLst xmlns:a="http://schemas.openxmlformats.org/drawingml/2006/main">
              <a:ext uri="{FF2B5EF4-FFF2-40B4-BE49-F238E27FC236}">
                <a16:creationId xmlns:a16="http://schemas.microsoft.com/office/drawing/2014/main" id="{40233A18-2C71-4CE2-BC2B-83E44BF10E6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68F1B11D-3829-4A42-A3BB-47F2F5334F88}"/>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8" name="Chart"/>
          <p:cNvGraphicFramePr/>
          <p:nvPr/>
        </p:nvGraphicFramePr>
        <p:xfrm>
          <a:off xmlns:a="http://schemas.openxmlformats.org/drawingml/2006/main" x="571500" y="2133600"/>
          <a:ext xmlns:a="http://schemas.openxmlformats.org/drawingml/2006/main" cx="10477500" cy="5562600"/>
        </p:xfrm>
        <a:graphic xmlns:a="http://schemas.openxmlformats.org/drawingml/2006/main">
          <a:graphicData uri="http://schemas.openxmlformats.org/drawingml/2006/chart">
            <c:chart xmlns:r="http://schemas.openxmlformats.org/officeDocument/2006/relationships" xmlns:c="http://schemas.openxmlformats.org/drawingml/2006/chart" r:id="Ra5d8137ed8404fb2"/>
          </a:graphicData>
        </a:graphic>
      </p:graphicFrame>
      <p:sp>
        <p:nvSpPr>
          <p:cNvPr id="7" name="GO = P">
            <a:extLst xmlns:a="http://schemas.openxmlformats.org/drawingml/2006/main">
              <a:ext uri="{FF2B5EF4-FFF2-40B4-BE49-F238E27FC236}">
                <a16:creationId xmlns:a16="http://schemas.microsoft.com/office/drawing/2014/main" id="{5586F2F3-ECEE-45E9-964A-49CEB59E824D}"/>
              </a:ext>
            </a:extLst>
          </p:cNvPr>
          <p:cNvSpPr>
            <a:spLocks xmlns:a="http://schemas.openxmlformats.org/drawingml/2006/main" noGrp="1"/>
          </p:cNvSpPr>
          <p:nvPr/>
        </p:nvSpPr>
        <p:spPr>
          <a:xfrm xmlns:a="http://schemas.openxmlformats.org/drawingml/2006/main">
            <a:off x="8591550" y="422910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GO = P</a:t>
            </a:r>
          </a:p>
        </p:txBody>
      </p:sp>
      <p:sp>
        <p:nvSpPr>
          <p:cNvPr id="8" name="MK">
            <a:extLst xmlns:a="http://schemas.openxmlformats.org/drawingml/2006/main">
              <a:ext uri="{FF2B5EF4-FFF2-40B4-BE49-F238E27FC236}">
                <a16:creationId xmlns:a16="http://schemas.microsoft.com/office/drawing/2014/main" id="{CDA8C8A6-F529-494D-8FC3-23C10F6E3B21}"/>
              </a:ext>
            </a:extLst>
          </p:cNvPr>
          <p:cNvSpPr>
            <a:spLocks xmlns:a="http://schemas.openxmlformats.org/drawingml/2006/main" noGrp="1"/>
          </p:cNvSpPr>
          <p:nvPr/>
        </p:nvSpPr>
        <p:spPr>
          <a:xfrm xmlns:a="http://schemas.openxmlformats.org/drawingml/2006/main">
            <a:off x="9210675" y="5038725"/>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D16"/>
                </a:solidFill>
                <a:latin typeface="Arial"/>
                <a:ea typeface="Arial"/>
                <a:cs typeface="Arial"/>
              </a:defRPr>
            </a:pPr>
            <a:r>
              <a:rPr sz="2100" b="1">
                <a:solidFill>
                  <a:srgbClr val="A94D16"/>
                </a:solidFill>
                <a:latin typeface="Arial"/>
                <a:ea typeface="Arial"/>
                <a:cs typeface="Arial"/>
              </a:rPr>
              <a:t>MK</a:t>
            </a:r>
          </a:p>
        </p:txBody>
      </p:sp>
      <p:sp>
        <p:nvSpPr>
          <p:cNvPr id="9" name="MO">
            <a:extLst xmlns:a="http://schemas.openxmlformats.org/drawingml/2006/main">
              <a:ext uri="{FF2B5EF4-FFF2-40B4-BE49-F238E27FC236}">
                <a16:creationId xmlns:a16="http://schemas.microsoft.com/office/drawing/2014/main" id="{849C2468-F052-40C8-BE12-E1A33C6C97F5}"/>
              </a:ext>
            </a:extLst>
          </p:cNvPr>
          <p:cNvSpPr>
            <a:spLocks xmlns:a="http://schemas.openxmlformats.org/drawingml/2006/main" noGrp="1"/>
          </p:cNvSpPr>
          <p:nvPr/>
        </p:nvSpPr>
        <p:spPr>
          <a:xfrm xmlns:a="http://schemas.openxmlformats.org/drawingml/2006/main">
            <a:off x="8905875" y="573405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7B2D8E"/>
                </a:solidFill>
                <a:latin typeface="Arial"/>
                <a:ea typeface="Arial"/>
                <a:cs typeface="Arial"/>
              </a:defRPr>
            </a:pPr>
            <a:r>
              <a:rPr sz="2100" b="1">
                <a:solidFill>
                  <a:srgbClr val="7B2D8E"/>
                </a:solidFill>
                <a:latin typeface="Arial"/>
                <a:ea typeface="Arial"/>
                <a:cs typeface="Arial"/>
              </a:rPr>
              <a:t>MO</a:t>
            </a:r>
          </a:p>
        </p:txBody>
      </p:sp>
      <p:sp>
        <p:nvSpPr>
          <p:cNvPr id="10" name="26 − 0,50q&#10;= 0,25q + 5&#10;&#10;q = 28 kg">
            <a:extLst xmlns:a="http://schemas.openxmlformats.org/drawingml/2006/main">
              <a:ext uri="{FF2B5EF4-FFF2-40B4-BE49-F238E27FC236}">
                <a16:creationId xmlns:a16="http://schemas.microsoft.com/office/drawing/2014/main" id="{BCB7EBF5-2BD7-4129-9D2C-09F48012B066}"/>
              </a:ext>
            </a:extLst>
          </p:cNvPr>
          <p:cNvSpPr>
            <a:spLocks xmlns:a="http://schemas.openxmlformats.org/drawingml/2006/main" noGrp="1"/>
          </p:cNvSpPr>
          <p:nvPr/>
        </p:nvSpPr>
        <p:spPr>
          <a:xfrm xmlns:a="http://schemas.openxmlformats.org/drawingml/2006/main">
            <a:off x="11334750" y="2362200"/>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26 − 0,50q</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 0,25q + 5</a:t>
            </a:r>
          </a:p>
          <a:p xmlns:a="http://schemas.openxmlformats.org/drawingml/2006/main">
            <a:r>
              <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q = 28 kg</a:t>
            </a:r>
          </a:p>
        </p:txBody>
      </p:sp>
      <p:sp>
        <p:nvSpPr>
          <p:cNvPr id="11" name="P = 26 − 0,25 × 28&#10;P = € 19 per kg">
            <a:extLst xmlns:a="http://schemas.openxmlformats.org/drawingml/2006/main">
              <a:ext uri="{FF2B5EF4-FFF2-40B4-BE49-F238E27FC236}">
                <a16:creationId xmlns:a16="http://schemas.microsoft.com/office/drawing/2014/main" id="{87A08D75-AC75-4BEA-B0AF-09A6464510B3}"/>
              </a:ext>
            </a:extLst>
          </p:cNvPr>
          <p:cNvSpPr>
            <a:spLocks xmlns:a="http://schemas.openxmlformats.org/drawingml/2006/main" noGrp="1"/>
          </p:cNvSpPr>
          <p:nvPr/>
        </p:nvSpPr>
        <p:spPr>
          <a:xfrm xmlns:a="http://schemas.openxmlformats.org/drawingml/2006/main">
            <a:off x="11334750" y="48863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P = 26 − 0,25 × 28</a:t>
            </a:r>
          </a:p>
          <a:p xmlns:a="http://schemas.openxmlformats.org/drawingml/2006/main">
            <a:pPr algn="l">
              <a:defRPr sz="2400" b="1">
                <a:solidFill>
                  <a:srgbClr val="17658A"/>
                </a:solidFill>
                <a:latin typeface="Arial"/>
                <a:ea typeface="Arial"/>
                <a:cs typeface="Arial"/>
              </a:defRPr>
            </a:pPr>
            <a:r>
              <a:rPr sz="2400" b="1">
                <a:solidFill>
                  <a:srgbClr val="17658A"/>
                </a:solidFill>
                <a:latin typeface="Arial"/>
                <a:ea typeface="Arial"/>
                <a:cs typeface="Arial"/>
              </a:rPr>
              <a:t>P = € 19 per kg</a:t>
            </a:r>
          </a:p>
        </p:txBody>
      </p:sp>
      <p:sp>
        <p:nvSpPr>
          <p:cNvPr id="12" name="MO = MK = € 12&#10;Capaciteit: 36 kg">
            <a:extLst xmlns:a="http://schemas.openxmlformats.org/drawingml/2006/main">
              <a:ext uri="{FF2B5EF4-FFF2-40B4-BE49-F238E27FC236}">
                <a16:creationId xmlns:a16="http://schemas.microsoft.com/office/drawing/2014/main" id="{B9769533-A266-4DB6-95D6-553966B298A8}"/>
              </a:ext>
            </a:extLst>
          </p:cNvPr>
          <p:cNvSpPr>
            <a:spLocks xmlns:a="http://schemas.openxmlformats.org/drawingml/2006/main" noGrp="1"/>
          </p:cNvSpPr>
          <p:nvPr/>
        </p:nvSpPr>
        <p:spPr>
          <a:xfrm xmlns:a="http://schemas.openxmlformats.org/drawingml/2006/main">
            <a:off x="11334750" y="6734175"/>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 = MK = € 12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Capaciteit: 36 kg</a:t>
            </a:r>
          </a:p>
        </p:txBody>
      </p:sp>
    </p:spTree>
    <p:extLst>
      <p:ext uri="{BB962C8B-B14F-4D97-AF65-F5344CB8AC3E}">
        <p14:creationId xmlns:p14="http://schemas.microsoft.com/office/powerpoint/2010/main" val="5071903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Gel Nova: winst en haalbaarheid">
            <a:extLst xmlns:a="http://schemas.openxmlformats.org/drawingml/2006/main">
              <a:ext uri="{FF2B5EF4-FFF2-40B4-BE49-F238E27FC236}">
                <a16:creationId xmlns:a16="http://schemas.microsoft.com/office/drawing/2014/main" id="{26148E50-FFB5-4754-B826-2306B1714F10}"/>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Gel Nova: winst en haalbaarheid</a:t>
            </a:r>
          </a:p>
        </p:txBody>
      </p:sp>
      <p:sp>
        <p:nvSpPr>
          <p:cNvPr id="2" name="">
            <a:extLst xmlns:a="http://schemas.openxmlformats.org/drawingml/2006/main">
              <a:ext uri="{FF2B5EF4-FFF2-40B4-BE49-F238E27FC236}">
                <a16:creationId xmlns:a16="http://schemas.microsoft.com/office/drawing/2014/main" id="{DFDCED98-95E3-4230-A56C-3F5FC1FC6B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5 Gemengde opgaven: concurrentie en monopolie">
            <a:extLst xmlns:a="http://schemas.openxmlformats.org/drawingml/2006/main">
              <a:ext uri="{FF2B5EF4-FFF2-40B4-BE49-F238E27FC236}">
                <a16:creationId xmlns:a16="http://schemas.microsoft.com/office/drawing/2014/main" id="{1FB41078-2FA6-4861-9CFB-4C47BA2123D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§4.1.5 Gemengde opgaven: concurrentie en monopolie</a:t>
            </a:r>
          </a:p>
        </p:txBody>
      </p:sp>
      <p:sp>
        <p:nvSpPr>
          <p:cNvPr id="4" name="5">
            <a:extLst xmlns:a="http://schemas.openxmlformats.org/drawingml/2006/main">
              <a:ext uri="{FF2B5EF4-FFF2-40B4-BE49-F238E27FC236}">
                <a16:creationId xmlns:a16="http://schemas.microsoft.com/office/drawing/2014/main" id="{FB533D6F-EA76-4C8F-A1B9-97BFB057ACA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355B7383-05F9-4FA9-8178-E621331328D4}"/>
              </a:ext>
            </a:extLst>
          </p:cNvPr>
          <p:cNvSpPr>
            <a:spLocks xmlns:a="http://schemas.openxmlformats.org/drawingml/2006/main" noGrp="1"/>
          </p:cNvSpPr>
          <p:nvPr/>
        </p:nvSpPr>
        <p:spPr>
          <a:xfrm xmlns:a="http://schemas.openxmlformats.org/drawingml/2006/main">
            <a:off x="571500" y="16859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Opbrengst">
            <a:extLst xmlns:a="http://schemas.openxmlformats.org/drawingml/2006/main">
              <a:ext uri="{FF2B5EF4-FFF2-40B4-BE49-F238E27FC236}">
                <a16:creationId xmlns:a16="http://schemas.microsoft.com/office/drawing/2014/main" id="{443075CC-C10A-4A16-8743-9D7FFF4F77BD}"/>
              </a:ext>
            </a:extLst>
          </p:cNvPr>
          <p:cNvSpPr>
            <a:spLocks xmlns:a="http://schemas.openxmlformats.org/drawingml/2006/main" noGrp="1"/>
          </p:cNvSpPr>
          <p:nvPr/>
        </p:nvSpPr>
        <p:spPr>
          <a:xfrm xmlns:a="http://schemas.openxmlformats.org/drawingml/2006/main">
            <a:off x="571500" y="244792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Opbrengst</a:t>
            </a:r>
          </a:p>
        </p:txBody>
      </p:sp>
      <p:sp>
        <p:nvSpPr>
          <p:cNvPr id="7" name="TO = 19 × 28 = € 532 per week">
            <a:extLst xmlns:a="http://schemas.openxmlformats.org/drawingml/2006/main">
              <a:ext uri="{FF2B5EF4-FFF2-40B4-BE49-F238E27FC236}">
                <a16:creationId xmlns:a16="http://schemas.microsoft.com/office/drawing/2014/main" id="{14F6EE06-46A0-4619-A5E4-A8B090F6DB73}"/>
              </a:ext>
            </a:extLst>
          </p:cNvPr>
          <p:cNvSpPr>
            <a:spLocks xmlns:a="http://schemas.openxmlformats.org/drawingml/2006/main" noGrp="1"/>
          </p:cNvSpPr>
          <p:nvPr/>
        </p:nvSpPr>
        <p:spPr>
          <a:xfrm xmlns:a="http://schemas.openxmlformats.org/drawingml/2006/main">
            <a:off x="5381625" y="244792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TO = 19 × 28 = € 532 per week</a:t>
            </a:r>
          </a:p>
        </p:txBody>
      </p:sp>
      <p:sp>
        <p:nvSpPr>
          <p:cNvPr id="8" name="">
            <a:extLst xmlns:a="http://schemas.openxmlformats.org/drawingml/2006/main">
              <a:ext uri="{FF2B5EF4-FFF2-40B4-BE49-F238E27FC236}">
                <a16:creationId xmlns:a16="http://schemas.microsoft.com/office/drawing/2014/main" id="{A979B48B-22BA-453F-B2DC-4C46E51B614D}"/>
              </a:ext>
            </a:extLst>
          </p:cNvPr>
          <p:cNvSpPr>
            <a:spLocks xmlns:a="http://schemas.openxmlformats.org/drawingml/2006/main" noGrp="1"/>
          </p:cNvSpPr>
          <p:nvPr/>
        </p:nvSpPr>
        <p:spPr>
          <a:xfrm xmlns:a="http://schemas.openxmlformats.org/drawingml/2006/main">
            <a:off x="571500" y="3781425"/>
            <a:ext cx="14097000" cy="0"/>
          </a:xfrm>
          <a:prstGeom xmlns:a="http://schemas.openxmlformats.org/drawingml/2006/main" prst="line">
            <a:avLst/>
          </a:prstGeom>
          <a:ln xmlns:a="http://schemas.openxmlformats.org/drawingml/2006/main" w="19050">
            <a:solidFill>
              <a:srgbClr val="C6D2DB"/>
            </a:solidFill>
          </a:ln>
        </p:spPr>
      </p:sp>
      <p:sp>
        <p:nvSpPr>
          <p:cNvPr id="9" name="Kosten">
            <a:extLst xmlns:a="http://schemas.openxmlformats.org/drawingml/2006/main">
              <a:ext uri="{FF2B5EF4-FFF2-40B4-BE49-F238E27FC236}">
                <a16:creationId xmlns:a16="http://schemas.microsoft.com/office/drawing/2014/main" id="{3724AA53-EBDC-4221-AFE7-8C50B1826BC2}"/>
              </a:ext>
            </a:extLst>
          </p:cNvPr>
          <p:cNvSpPr>
            <a:spLocks xmlns:a="http://schemas.openxmlformats.org/drawingml/2006/main" noGrp="1"/>
          </p:cNvSpPr>
          <p:nvPr/>
        </p:nvSpPr>
        <p:spPr>
          <a:xfrm xmlns:a="http://schemas.openxmlformats.org/drawingml/2006/main">
            <a:off x="571500" y="406717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Kosten</a:t>
            </a:r>
          </a:p>
        </p:txBody>
      </p:sp>
      <p:sp>
        <p:nvSpPr>
          <p:cNvPr id="10" name="TK = 0,125 × 28² + 5 × 28 + 72&#10;TK = 98 + 140 + 72 = € 310 per wee">
            <a:extLst xmlns:a="http://schemas.openxmlformats.org/drawingml/2006/main">
              <a:ext uri="{FF2B5EF4-FFF2-40B4-BE49-F238E27FC236}">
                <a16:creationId xmlns:a16="http://schemas.microsoft.com/office/drawing/2014/main" id="{4447EDDB-A8C5-4CAE-94B6-E98349149123}"/>
              </a:ext>
            </a:extLst>
          </p:cNvPr>
          <p:cNvSpPr>
            <a:spLocks xmlns:a="http://schemas.openxmlformats.org/drawingml/2006/main" noGrp="1"/>
          </p:cNvSpPr>
          <p:nvPr/>
        </p:nvSpPr>
        <p:spPr>
          <a:xfrm xmlns:a="http://schemas.openxmlformats.org/drawingml/2006/main">
            <a:off x="5381625" y="406717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TK = 0,125 × 28² + 5 × 28 + 72</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TK = 98 + 140 + 72 = € 310 per week</a:t>
            </a:r>
          </a:p>
        </p:txBody>
      </p:sp>
      <p:sp>
        <p:nvSpPr>
          <p:cNvPr id="11" name="">
            <a:extLst xmlns:a="http://schemas.openxmlformats.org/drawingml/2006/main">
              <a:ext uri="{FF2B5EF4-FFF2-40B4-BE49-F238E27FC236}">
                <a16:creationId xmlns:a16="http://schemas.microsoft.com/office/drawing/2014/main" id="{BCFD8350-C472-499B-9E94-B3A11E57D052}"/>
              </a:ext>
            </a:extLst>
          </p:cNvPr>
          <p:cNvSpPr>
            <a:spLocks xmlns:a="http://schemas.openxmlformats.org/drawingml/2006/main" noGrp="1"/>
          </p:cNvSpPr>
          <p:nvPr/>
        </p:nvSpPr>
        <p:spPr>
          <a:xfrm xmlns:a="http://schemas.openxmlformats.org/drawingml/2006/main">
            <a:off x="571500" y="5400675"/>
            <a:ext cx="14097000" cy="0"/>
          </a:xfrm>
          <a:prstGeom xmlns:a="http://schemas.openxmlformats.org/drawingml/2006/main" prst="line">
            <a:avLst/>
          </a:prstGeom>
          <a:ln xmlns:a="http://schemas.openxmlformats.org/drawingml/2006/main" w="19050">
            <a:solidFill>
              <a:srgbClr val="C6D2DB"/>
            </a:solidFill>
          </a:ln>
        </p:spPr>
      </p:sp>
      <p:sp>
        <p:nvSpPr>
          <p:cNvPr id="12" name="Winst">
            <a:extLst xmlns:a="http://schemas.openxmlformats.org/drawingml/2006/main">
              <a:ext uri="{FF2B5EF4-FFF2-40B4-BE49-F238E27FC236}">
                <a16:creationId xmlns:a16="http://schemas.microsoft.com/office/drawing/2014/main" id="{60E1DBFB-7D59-495E-9659-3A59D9831426}"/>
              </a:ext>
            </a:extLst>
          </p:cNvPr>
          <p:cNvSpPr>
            <a:spLocks xmlns:a="http://schemas.openxmlformats.org/drawingml/2006/main" noGrp="1"/>
          </p:cNvSpPr>
          <p:nvPr/>
        </p:nvSpPr>
        <p:spPr>
          <a:xfrm xmlns:a="http://schemas.openxmlformats.org/drawingml/2006/main">
            <a:off x="571500" y="568642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Winst</a:t>
            </a:r>
          </a:p>
        </p:txBody>
      </p:sp>
      <p:sp>
        <p:nvSpPr>
          <p:cNvPr id="13" name="532 − 310 = € 222 per week&#10;Bij q = 0: 0 − 72 = −€ 72 per week">
            <a:extLst xmlns:a="http://schemas.openxmlformats.org/drawingml/2006/main">
              <a:ext uri="{FF2B5EF4-FFF2-40B4-BE49-F238E27FC236}">
                <a16:creationId xmlns:a16="http://schemas.microsoft.com/office/drawing/2014/main" id="{0F020105-5CA8-44B3-82B7-20141B8F42E7}"/>
              </a:ext>
            </a:extLst>
          </p:cNvPr>
          <p:cNvSpPr>
            <a:spLocks xmlns:a="http://schemas.openxmlformats.org/drawingml/2006/main" noGrp="1"/>
          </p:cNvSpPr>
          <p:nvPr/>
        </p:nvSpPr>
        <p:spPr>
          <a:xfrm xmlns:a="http://schemas.openxmlformats.org/drawingml/2006/main">
            <a:off x="5381625" y="568642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532 − 310 = € 222 per week</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Bij q = 0: 0 − 72 = −€ 72 per week</a:t>
            </a:r>
          </a:p>
        </p:txBody>
      </p:sp>
      <p:sp>
        <p:nvSpPr>
          <p:cNvPr id="14" name="Bij een lagere capaciteitsgrens: controleer opnieuw de beste haal">
            <a:extLst xmlns:a="http://schemas.openxmlformats.org/drawingml/2006/main">
              <a:ext uri="{FF2B5EF4-FFF2-40B4-BE49-F238E27FC236}">
                <a16:creationId xmlns:a16="http://schemas.microsoft.com/office/drawing/2014/main" id="{2B1A5E70-5BE8-4C5F-9A07-F1C98A5A2BE9}"/>
              </a:ext>
            </a:extLst>
          </p:cNvPr>
          <p:cNvSpPr>
            <a:spLocks xmlns:a="http://schemas.openxmlformats.org/drawingml/2006/main" noGrp="1"/>
          </p:cNvSpPr>
          <p:nvPr/>
        </p:nvSpPr>
        <p:spPr>
          <a:xfrm xmlns:a="http://schemas.openxmlformats.org/drawingml/2006/main">
            <a:off x="571500" y="759142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94D16"/>
                </a:solidFill>
                <a:latin typeface="Arial"/>
                <a:ea typeface="Arial"/>
                <a:cs typeface="Arial"/>
              </a:defRPr>
            </a:pPr>
            <a:r>
              <a:rPr sz="2250" b="1">
                <a:solidFill>
                  <a:srgbClr val="A94D16"/>
                </a:solidFill>
                <a:latin typeface="Arial"/>
                <a:ea typeface="Arial"/>
                <a:cs typeface="Arial"/>
              </a:rPr>
              <a:t>Bij een lagere capaciteitsgrens: controleer opnieuw de beste haalbare q.</a:t>
            </a:r>
          </a:p>
        </p:txBody>
      </p:sp>
    </p:spTree>
    <p:extLst>
      <p:ext uri="{BB962C8B-B14F-4D97-AF65-F5344CB8AC3E}">
        <p14:creationId xmlns:p14="http://schemas.microsoft.com/office/powerpoint/2010/main" val="20775914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kensteun bij de gemengde opgaven">
            <a:extLst xmlns:a="http://schemas.openxmlformats.org/drawingml/2006/main">
              <a:ext uri="{FF2B5EF4-FFF2-40B4-BE49-F238E27FC236}">
                <a16:creationId xmlns:a16="http://schemas.microsoft.com/office/drawing/2014/main" id="{CB86DC72-923B-4372-935E-2D803529075C}"/>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Rekensteun bij de gemengde opgaven</a:t>
            </a:r>
          </a:p>
        </p:txBody>
      </p:sp>
      <p:sp>
        <p:nvSpPr>
          <p:cNvPr id="2" name="">
            <a:extLst xmlns:a="http://schemas.openxmlformats.org/drawingml/2006/main">
              <a:ext uri="{FF2B5EF4-FFF2-40B4-BE49-F238E27FC236}">
                <a16:creationId xmlns:a16="http://schemas.microsoft.com/office/drawing/2014/main" id="{0F5B6692-AE51-4158-97E1-6A8793E5A9D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5 Gemengde opgaven: concurrentie en monopolie">
            <a:extLst xmlns:a="http://schemas.openxmlformats.org/drawingml/2006/main">
              <a:ext uri="{FF2B5EF4-FFF2-40B4-BE49-F238E27FC236}">
                <a16:creationId xmlns:a16="http://schemas.microsoft.com/office/drawing/2014/main" id="{DB124923-9A7F-4E86-B933-08D2F4F63AF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§4.1.5 Gemengde opgaven: concurrentie en monopolie</a:t>
            </a:r>
          </a:p>
        </p:txBody>
      </p:sp>
      <p:sp>
        <p:nvSpPr>
          <p:cNvPr id="4" name="6">
            <a:extLst xmlns:a="http://schemas.openxmlformats.org/drawingml/2006/main">
              <a:ext uri="{FF2B5EF4-FFF2-40B4-BE49-F238E27FC236}">
                <a16:creationId xmlns:a16="http://schemas.microsoft.com/office/drawing/2014/main" id="{3F268F6E-7EF2-4B4D-8417-5897284E7F2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graphicFrame>
        <p:nvGraphicFramePr>
          <p:cNvPr id="10" name=""/>
          <p:cNvGraphicFramePr/>
          <p:nvPr/>
        </p:nvGraphicFramePr>
        <p:xfrm>
          <a:off xmlns:a="http://schemas.openxmlformats.org/drawingml/2006/main" x="571500" y="2143125"/>
          <a:ext xmlns:a="http://schemas.openxmlformats.org/drawingml/2006/main" cx="14097000" cy="5191125"/>
        </p:xfrm>
        <a:graphic xmlns:a="http://schemas.openxmlformats.org/drawingml/2006/main">
          <a:graphicData uri="http://schemas.openxmlformats.org/drawingml/2006/table">
            <a:tbl>
              <a:tblPr/>
              <a:tblGrid>
                <a:gridCol w="4953000"/>
                <a:gridCol w="9144000"/>
              </a:tblGrid>
              <a:tr h="1038225">
                <a:tc>
                  <a:txBody>
                    <a:bodyPr lIns="171450" tIns="95250" rIns="152400" bIns="95250"/>
                    <a:lstStyle/>
                    <a:p>
                      <a:r>
                        <a:rPr sz="2400" b="1">
                          <a:solidFill>
                            <a:srgbClr val="FFFFFF"/>
                          </a:solidFill>
                          <a:latin typeface="Arial"/>
                          <a:ea typeface="Arial"/>
                          <a:cs typeface="Arial"/>
                        </a:rPr>
                        <a:t>Bewerking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Aanpak</a:t>
                      </a:r>
                    </a:p>
                  </a:txBody>
                  <a:tcPr marL="91440" marR="91440" marT="45720" marB="45720" anchor="ctr">
                    <a:solidFill>
                      <a:srgbClr val="183247"/>
                    </a:solidFill>
                  </a:tcPr>
                </a:tc>
              </a:tr>
              <a:tr h="1038225">
                <a:tc>
                  <a:txBody>
                    <a:bodyPr lIns="171450" tIns="95250" rIns="152400" bIns="95250"/>
                    <a:lstStyle/>
                    <a:p>
                      <a:r>
                        <a:rPr sz="2400" b="0">
                          <a:solidFill>
                            <a:srgbClr val="183247"/>
                          </a:solidFill>
                          <a:latin typeface="Arial"/>
                          <a:ea typeface="Arial"/>
                          <a:cs typeface="Arial"/>
                        </a:rPr>
                        <a:t>Totalen en gemiddelden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TO = P × q     TK = GTK × q</a:t>
                      </a:r>
                    </a:p>
                    <a:p>
                      <a:r>
                        <a:rPr sz="2400" b="0">
                          <a:solidFill>
                            <a:srgbClr val="183247"/>
                          </a:solidFill>
                          <a:latin typeface="Arial"/>
                          <a:ea typeface="Arial"/>
                          <a:cs typeface="Arial"/>
                        </a:rPr>
                        <a:t>Winst = TO − TK = (P − GTK) × q</a:t>
                      </a:r>
                    </a:p>
                  </a:txBody>
                  <a:tcPr marL="91440" marR="91440" marT="45720" marB="45720" anchor="ctr">
                    <a:solidFill>
                      <a:srgbClr val="FFFFFF"/>
                    </a:solidFill>
                  </a:tcPr>
                </a:tc>
              </a:tr>
              <a:tr h="1038225">
                <a:tc>
                  <a:txBody>
                    <a:bodyPr lIns="171450" tIns="95250" rIns="152400" bIns="95250"/>
                    <a:lstStyle/>
                    <a:p>
                      <a:r>
                        <a:rPr sz="2400" b="0">
                          <a:solidFill>
                            <a:srgbClr val="183247"/>
                          </a:solidFill>
                          <a:latin typeface="Arial"/>
                          <a:ea typeface="Arial"/>
                          <a:cs typeface="Arial"/>
                        </a:rPr>
                        <a:t>Procentuele verandering</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(nieuw − oud) / oud × 100%</a:t>
                      </a:r>
                    </a:p>
                  </a:txBody>
                  <a:tcPr marL="91440" marR="91440" marT="45720" marB="45720" anchor="ctr">
                    <a:solidFill>
                      <a:srgbClr val="EFF4F7"/>
                    </a:solidFill>
                  </a:tcPr>
                </a:tc>
              </a:tr>
              <a:tr h="1038225">
                <a:tc>
                  <a:txBody>
                    <a:bodyPr lIns="171450" tIns="95250" rIns="152400" bIns="95250"/>
                    <a:lstStyle/>
                    <a:p>
                      <a:r>
                        <a:rPr sz="2400" b="0">
                          <a:solidFill>
                            <a:srgbClr val="183247"/>
                          </a:solidFill>
                          <a:latin typeface="Arial"/>
                          <a:ea typeface="Arial"/>
                          <a:cs typeface="Arial"/>
                        </a:rPr>
                        <a:t>Prijselasticiteit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Ev = %Δq / %ΔP</a:t>
                      </a:r>
                    </a:p>
                    <a:p>
                      <a:r>
                        <a:rPr sz="2400" b="0">
                          <a:solidFill>
                            <a:srgbClr val="183247"/>
                          </a:solidFill>
                          <a:latin typeface="Arial"/>
                          <a:ea typeface="Arial"/>
                          <a:cs typeface="Arial"/>
                        </a:rPr>
                        <a:t>Ev &lt; −1: prijselastisch</a:t>
                      </a:r>
                    </a:p>
                  </a:txBody>
                  <a:tcPr marL="91440" marR="91440" marT="45720" marB="45720" anchor="ctr">
                    <a:solidFill>
                      <a:srgbClr val="FFFFFF"/>
                    </a:solidFill>
                  </a:tcPr>
                </a:tc>
              </a:tr>
              <a:tr h="1038225">
                <a:tc>
                  <a:txBody>
                    <a:bodyPr lIns="171450" tIns="95250" rIns="152400" bIns="95250"/>
                    <a:lstStyle/>
                    <a:p>
                      <a:r>
                        <a:rPr sz="2400" b="0">
                          <a:solidFill>
                            <a:srgbClr val="183247"/>
                          </a:solidFill>
                          <a:latin typeface="Arial"/>
                          <a:ea typeface="Arial"/>
                          <a:cs typeface="Arial"/>
                        </a:rPr>
                        <a:t>Een conclusie controleren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Maximum van tabelrijen of van alle haalbare q?</a:t>
                      </a:r>
                    </a:p>
                    <a:p>
                      <a:r>
                        <a:rPr sz="2400" b="0">
                          <a:solidFill>
                            <a:srgbClr val="183247"/>
                          </a:solidFill>
                          <a:latin typeface="Arial"/>
                          <a:ea typeface="Arial"/>
                          <a:cs typeface="Arial"/>
                        </a:rPr>
                        <a:t>Winst van één bedrijf of gevolgen voor anderen?</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4136012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857F65C6-4192-46F2-84E4-AAA11A72870A}"/>
              </a:ext>
            </a:extLst>
          </p:cNvPr>
          <p:cNvSpPr>
            <a:spLocks xmlns:a="http://schemas.openxmlformats.org/drawingml/2006/main" noGrp="1"/>
          </p:cNvSpPr>
          <p:nvPr/>
        </p:nvSpPr>
        <p:spPr>
          <a:xfrm xmlns:a="http://schemas.openxmlformats.org/drawingml/2006/main">
            <a:off x="571500" y="2857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§4.1.5 Gemengde opgaven</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Concurrentie en monopolie</a:t>
            </a:r>
          </a:p>
        </p:txBody>
      </p:sp>
      <p:sp>
        <p:nvSpPr>
          <p:cNvPr id="2" name="phase">
            <a:extLst xmlns:a="http://schemas.openxmlformats.org/drawingml/2006/main">
              <a:ext uri="{FF2B5EF4-FFF2-40B4-BE49-F238E27FC236}">
                <a16:creationId xmlns:a16="http://schemas.microsoft.com/office/drawing/2014/main" id="{32C9758C-0491-4CCC-8BA1-A171757D7274}"/>
              </a:ext>
            </a:extLst>
          </p:cNvPr>
          <p:cNvSpPr>
            <a:spLocks xmlns:a="http://schemas.openxmlformats.org/drawingml/2006/main" noGrp="1"/>
          </p:cNvSpPr>
          <p:nvPr/>
        </p:nvSpPr>
        <p:spPr>
          <a:xfrm xmlns:a="http://schemas.openxmlformats.org/drawingml/2006/main">
            <a:off x="571500" y="143827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3" name="">
            <a:extLst xmlns:a="http://schemas.openxmlformats.org/drawingml/2006/main">
              <a:ext uri="{FF2B5EF4-FFF2-40B4-BE49-F238E27FC236}">
                <a16:creationId xmlns:a16="http://schemas.microsoft.com/office/drawing/2014/main" id="{10CFB4BC-D39D-475A-9450-BF66EA50271C}"/>
              </a:ext>
            </a:extLst>
          </p:cNvPr>
          <p:cNvSpPr>
            <a:spLocks xmlns:a="http://schemas.openxmlformats.org/drawingml/2006/main" noGrp="1"/>
          </p:cNvSpPr>
          <p:nvPr/>
        </p:nvSpPr>
        <p:spPr>
          <a:xfrm xmlns:a="http://schemas.openxmlformats.org/drawingml/2006/main">
            <a:off x="571500" y="19240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1FF751DD-DE35-4E00-97B1-9B03CA410854}"/>
              </a:ext>
            </a:extLst>
          </p:cNvPr>
          <p:cNvSpPr>
            <a:spLocks xmlns:a="http://schemas.openxmlformats.org/drawingml/2006/main" noGrp="1"/>
          </p:cNvSpPr>
          <p:nvPr/>
        </p:nvSpPr>
        <p:spPr>
          <a:xfrm xmlns:a="http://schemas.openxmlformats.org/drawingml/2006/main">
            <a:off x="571500" y="21907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DAD06041-3C3B-4D9E-970D-8F37BE25AFE2}"/>
              </a:ext>
            </a:extLst>
          </p:cNvPr>
          <p:cNvSpPr>
            <a:spLocks xmlns:a="http://schemas.openxmlformats.org/drawingml/2006/main" noGrp="1"/>
          </p:cNvSpPr>
          <p:nvPr/>
        </p:nvSpPr>
        <p:spPr>
          <a:xfrm xmlns:a="http://schemas.openxmlformats.org/drawingml/2006/main">
            <a:off x="571500" y="2771775"/>
            <a:ext cx="457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C21DA541-F430-41AF-88BE-B9FFFF9ECB78}"/>
              </a:ext>
            </a:extLst>
          </p:cNvPr>
          <p:cNvSpPr>
            <a:spLocks xmlns:a="http://schemas.openxmlformats.org/drawingml/2006/main" noGrp="1"/>
          </p:cNvSpPr>
          <p:nvPr/>
        </p:nvSpPr>
        <p:spPr>
          <a:xfrm xmlns:a="http://schemas.openxmlformats.org/drawingml/2006/main">
            <a:off x="1104900" y="2771775"/>
            <a:ext cx="74199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3E9100A7-0B7D-4112-9CCC-AE8E7504B595}"/>
              </a:ext>
            </a:extLst>
          </p:cNvPr>
          <p:cNvSpPr>
            <a:spLocks xmlns:a="http://schemas.openxmlformats.org/drawingml/2006/main" noGrp="1"/>
          </p:cNvSpPr>
          <p:nvPr/>
        </p:nvSpPr>
        <p:spPr>
          <a:xfrm xmlns:a="http://schemas.openxmlformats.org/drawingml/2006/main">
            <a:off x="571500" y="36290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5CD34AE2-EF09-4C09-A10D-FDDA61AF917E}"/>
              </a:ext>
            </a:extLst>
          </p:cNvPr>
          <p:cNvSpPr>
            <a:spLocks xmlns:a="http://schemas.openxmlformats.org/drawingml/2006/main" noGrp="1"/>
          </p:cNvSpPr>
          <p:nvPr/>
        </p:nvSpPr>
        <p:spPr>
          <a:xfrm xmlns:a="http://schemas.openxmlformats.org/drawingml/2006/main">
            <a:off x="1104900" y="36290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3C2A98ED-1D5C-41E8-BFCC-AB3EC1742E59}"/>
              </a:ext>
            </a:extLst>
          </p:cNvPr>
          <p:cNvSpPr>
            <a:spLocks xmlns:a="http://schemas.openxmlformats.org/drawingml/2006/main" noGrp="1"/>
          </p:cNvSpPr>
          <p:nvPr/>
        </p:nvSpPr>
        <p:spPr>
          <a:xfrm xmlns:a="http://schemas.openxmlformats.org/drawingml/2006/main">
            <a:off x="571500" y="41719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768D6B1B-192E-464C-85A1-0327D864BF82}"/>
              </a:ext>
            </a:extLst>
          </p:cNvPr>
          <p:cNvSpPr>
            <a:spLocks xmlns:a="http://schemas.openxmlformats.org/drawingml/2006/main" noGrp="1"/>
          </p:cNvSpPr>
          <p:nvPr/>
        </p:nvSpPr>
        <p:spPr>
          <a:xfrm xmlns:a="http://schemas.openxmlformats.org/drawingml/2006/main">
            <a:off x="1104900" y="41719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E8C688FC-9F96-4CBD-A533-570F36F0D445}"/>
              </a:ext>
            </a:extLst>
          </p:cNvPr>
          <p:cNvSpPr>
            <a:spLocks xmlns:a="http://schemas.openxmlformats.org/drawingml/2006/main" noGrp="1"/>
          </p:cNvSpPr>
          <p:nvPr/>
        </p:nvSpPr>
        <p:spPr>
          <a:xfrm xmlns:a="http://schemas.openxmlformats.org/drawingml/2006/main">
            <a:off x="571500" y="4714875"/>
            <a:ext cx="457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C7C64FEC-37A9-4E02-9545-5C5A8456B708}"/>
              </a:ext>
            </a:extLst>
          </p:cNvPr>
          <p:cNvSpPr>
            <a:spLocks xmlns:a="http://schemas.openxmlformats.org/drawingml/2006/main" noGrp="1"/>
          </p:cNvSpPr>
          <p:nvPr/>
        </p:nvSpPr>
        <p:spPr>
          <a:xfrm xmlns:a="http://schemas.openxmlformats.org/drawingml/2006/main">
            <a:off x="1104900" y="4714875"/>
            <a:ext cx="7419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1E2B3DED-2D1C-4DA9-8775-43BE7A70CC9D}"/>
              </a:ext>
            </a:extLst>
          </p:cNvPr>
          <p:cNvSpPr>
            <a:spLocks xmlns:a="http://schemas.openxmlformats.org/drawingml/2006/main" noGrp="1"/>
          </p:cNvSpPr>
          <p:nvPr/>
        </p:nvSpPr>
        <p:spPr>
          <a:xfrm xmlns:a="http://schemas.openxmlformats.org/drawingml/2006/main">
            <a:off x="571500" y="573405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227BEC01-329F-4B6C-AC2A-DE247E19A83C}"/>
              </a:ext>
            </a:extLst>
          </p:cNvPr>
          <p:cNvSpPr>
            <a:spLocks xmlns:a="http://schemas.openxmlformats.org/drawingml/2006/main" noGrp="1"/>
          </p:cNvSpPr>
          <p:nvPr/>
        </p:nvSpPr>
        <p:spPr>
          <a:xfrm xmlns:a="http://schemas.openxmlformats.org/drawingml/2006/main">
            <a:off x="1104900" y="573405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8E2A1978-4EED-46CF-BDE7-23A063E6D7E0}"/>
              </a:ext>
            </a:extLst>
          </p:cNvPr>
          <p:cNvSpPr>
            <a:spLocks xmlns:a="http://schemas.openxmlformats.org/drawingml/2006/main" noGrp="1"/>
          </p:cNvSpPr>
          <p:nvPr/>
        </p:nvSpPr>
        <p:spPr>
          <a:xfrm xmlns:a="http://schemas.openxmlformats.org/drawingml/2006/main">
            <a:off x="571500" y="66294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A12E8ADC-B056-488F-9E4C-48E2052867AB}"/>
              </a:ext>
            </a:extLst>
          </p:cNvPr>
          <p:cNvSpPr>
            <a:spLocks xmlns:a="http://schemas.openxmlformats.org/drawingml/2006/main" noGrp="1"/>
          </p:cNvSpPr>
          <p:nvPr/>
        </p:nvSpPr>
        <p:spPr>
          <a:xfrm xmlns:a="http://schemas.openxmlformats.org/drawingml/2006/main">
            <a:off x="1104900" y="66294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45.</a:t>
            </a:r>
          </a:p>
        </p:txBody>
      </p:sp>
      <p:sp>
        <p:nvSpPr>
          <p:cNvPr id="17" name="route-number-7">
            <a:extLst xmlns:a="http://schemas.openxmlformats.org/drawingml/2006/main">
              <a:ext uri="{FF2B5EF4-FFF2-40B4-BE49-F238E27FC236}">
                <a16:creationId xmlns:a16="http://schemas.microsoft.com/office/drawing/2014/main" id="{91B526EB-AB30-490F-B1E3-79A48B70062B}"/>
              </a:ext>
            </a:extLst>
          </p:cNvPr>
          <p:cNvSpPr>
            <a:spLocks xmlns:a="http://schemas.openxmlformats.org/drawingml/2006/main" noGrp="1"/>
          </p:cNvSpPr>
          <p:nvPr/>
        </p:nvSpPr>
        <p:spPr>
          <a:xfrm xmlns:a="http://schemas.openxmlformats.org/drawingml/2006/main">
            <a:off x="571500" y="7362825"/>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8CE30629-6974-4FF1-BF2C-6B07A6707049}"/>
              </a:ext>
            </a:extLst>
          </p:cNvPr>
          <p:cNvSpPr>
            <a:spLocks xmlns:a="http://schemas.openxmlformats.org/drawingml/2006/main" noGrp="1"/>
          </p:cNvSpPr>
          <p:nvPr/>
        </p:nvSpPr>
        <p:spPr>
          <a:xfrm xmlns:a="http://schemas.openxmlformats.org/drawingml/2006/main">
            <a:off x="1104900" y="7362825"/>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651DE396-7D7D-4816-BAF7-B3CD0B35CC5A}"/>
              </a:ext>
            </a:extLst>
          </p:cNvPr>
          <p:cNvSpPr>
            <a:spLocks xmlns:a="http://schemas.openxmlformats.org/drawingml/2006/main" noGrp="1"/>
          </p:cNvSpPr>
          <p:nvPr/>
        </p:nvSpPr>
        <p:spPr>
          <a:xfrm xmlns:a="http://schemas.openxmlformats.org/drawingml/2006/main">
            <a:off x="9258300" y="21907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A12A3B1C-A444-4A8C-8BAB-4794DDE92323}"/>
              </a:ext>
            </a:extLst>
          </p:cNvPr>
          <p:cNvSpPr>
            <a:spLocks xmlns:a="http://schemas.openxmlformats.org/drawingml/2006/main" noGrp="1"/>
          </p:cNvSpPr>
          <p:nvPr/>
        </p:nvSpPr>
        <p:spPr>
          <a:xfrm xmlns:a="http://schemas.openxmlformats.org/drawingml/2006/main">
            <a:off x="9258300" y="2752725"/>
            <a:ext cx="541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Model kiezen; q, prijs en winst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Fouten verbeteren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conclusies onderbouwen.</a:t>
            </a:r>
          </a:p>
        </p:txBody>
      </p:sp>
      <p:sp>
        <p:nvSpPr>
          <p:cNvPr id="21" name="">
            <a:extLst xmlns:a="http://schemas.openxmlformats.org/drawingml/2006/main">
              <a:ext uri="{FF2B5EF4-FFF2-40B4-BE49-F238E27FC236}">
                <a16:creationId xmlns:a16="http://schemas.microsoft.com/office/drawing/2014/main" id="{5F3F6730-09C2-45DF-8E3C-859F306E8FB1}"/>
              </a:ext>
            </a:extLst>
          </p:cNvPr>
          <p:cNvSpPr>
            <a:spLocks xmlns:a="http://schemas.openxmlformats.org/drawingml/2006/main" noGrp="1"/>
          </p:cNvSpPr>
          <p:nvPr/>
        </p:nvSpPr>
        <p:spPr>
          <a:xfrm xmlns:a="http://schemas.openxmlformats.org/drawingml/2006/main">
            <a:off x="9258300" y="400050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B58B6141-F6B8-4232-84CD-15D1161D550F}"/>
              </a:ext>
            </a:extLst>
          </p:cNvPr>
          <p:cNvSpPr>
            <a:spLocks xmlns:a="http://schemas.openxmlformats.org/drawingml/2006/main" noGrp="1"/>
          </p:cNvSpPr>
          <p:nvPr/>
        </p:nvSpPr>
        <p:spPr>
          <a:xfrm xmlns:a="http://schemas.openxmlformats.org/drawingml/2006/main">
            <a:off x="9258300" y="42386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E3F0ED18-4A6A-4FB9-B0EC-A52825CA5DCE}"/>
              </a:ext>
            </a:extLst>
          </p:cNvPr>
          <p:cNvSpPr>
            <a:spLocks xmlns:a="http://schemas.openxmlformats.org/drawingml/2006/main" noGrp="1"/>
          </p:cNvSpPr>
          <p:nvPr/>
        </p:nvSpPr>
        <p:spPr>
          <a:xfrm xmlns:a="http://schemas.openxmlformats.org/drawingml/2006/main">
            <a:off x="9258300" y="4762500"/>
            <a:ext cx="5410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46 · Opgave 41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Eerste gemengde opgave</a:t>
            </a:r>
          </a:p>
        </p:txBody>
      </p:sp>
      <p:sp>
        <p:nvSpPr>
          <p:cNvPr id="24" name="">
            <a:extLst xmlns:a="http://schemas.openxmlformats.org/drawingml/2006/main">
              <a:ext uri="{FF2B5EF4-FFF2-40B4-BE49-F238E27FC236}">
                <a16:creationId xmlns:a16="http://schemas.microsoft.com/office/drawing/2014/main" id="{A8004807-2BB9-4333-9175-6024640302C0}"/>
              </a:ext>
            </a:extLst>
          </p:cNvPr>
          <p:cNvSpPr>
            <a:spLocks xmlns:a="http://schemas.openxmlformats.org/drawingml/2006/main" noGrp="1"/>
          </p:cNvSpPr>
          <p:nvPr/>
        </p:nvSpPr>
        <p:spPr>
          <a:xfrm xmlns:a="http://schemas.openxmlformats.org/drawingml/2006/main">
            <a:off x="9258300" y="56769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7C18E6AC-8508-4E98-9C41-BA5D165193A6}"/>
              </a:ext>
            </a:extLst>
          </p:cNvPr>
          <p:cNvSpPr>
            <a:spLocks xmlns:a="http://schemas.openxmlformats.org/drawingml/2006/main" noGrp="1"/>
          </p:cNvSpPr>
          <p:nvPr/>
        </p:nvSpPr>
        <p:spPr>
          <a:xfrm xmlns:a="http://schemas.openxmlformats.org/drawingml/2006/main">
            <a:off x="9258300" y="58674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2CFF00C6-2A13-4E53-9C8C-E236AA9779D8}"/>
              </a:ext>
            </a:extLst>
          </p:cNvPr>
          <p:cNvSpPr>
            <a:spLocks xmlns:a="http://schemas.openxmlformats.org/drawingml/2006/main" noGrp="1"/>
          </p:cNvSpPr>
          <p:nvPr/>
        </p:nvSpPr>
        <p:spPr>
          <a:xfrm xmlns:a="http://schemas.openxmlformats.org/drawingml/2006/main">
            <a:off x="9258300" y="6457950"/>
            <a:ext cx="54102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§4.1.5 · Opgaven 41, 41A, 42–48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Voorbereiding: 41, 41A, 42–44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 45 · Verder oefenen: 46–48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4.1.5 · Boekpagina’s 46–50">
            <a:extLst xmlns:a="http://schemas.openxmlformats.org/drawingml/2006/main">
              <a:ext uri="{FF2B5EF4-FFF2-40B4-BE49-F238E27FC236}">
                <a16:creationId xmlns:a16="http://schemas.microsoft.com/office/drawing/2014/main" id="{855A8A81-A8C2-4CA8-A117-6633F324B215}"/>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§4.1.5 · Boekpagina’s 46–50</a:t>
            </a:r>
          </a:p>
        </p:txBody>
      </p:sp>
      <p:sp>
        <p:nvSpPr>
          <p:cNvPr id="28" name="7">
            <a:extLst xmlns:a="http://schemas.openxmlformats.org/drawingml/2006/main">
              <a:ext uri="{FF2B5EF4-FFF2-40B4-BE49-F238E27FC236}">
                <a16:creationId xmlns:a16="http://schemas.microsoft.com/office/drawing/2014/main" id="{FC4532D5-985A-49AB-94F9-B5719E71C9D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Tree>
    <p:extLst>
      <p:ext uri="{BB962C8B-B14F-4D97-AF65-F5344CB8AC3E}">
        <p14:creationId xmlns:p14="http://schemas.microsoft.com/office/powerpoint/2010/main" val="5224760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45 · Bron A: KleurFix">
            <a:extLst xmlns:a="http://schemas.openxmlformats.org/drawingml/2006/main">
              <a:ext uri="{FF2B5EF4-FFF2-40B4-BE49-F238E27FC236}">
                <a16:creationId xmlns:a16="http://schemas.microsoft.com/office/drawing/2014/main" id="{2360B791-1BB4-4522-A5EA-87CF24542720}"/>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45 · Bron A: KleurFix</a:t>
            </a:r>
          </a:p>
        </p:txBody>
      </p:sp>
      <p:sp>
        <p:nvSpPr>
          <p:cNvPr id="2" name="">
            <a:extLst xmlns:a="http://schemas.openxmlformats.org/drawingml/2006/main">
              <a:ext uri="{FF2B5EF4-FFF2-40B4-BE49-F238E27FC236}">
                <a16:creationId xmlns:a16="http://schemas.microsoft.com/office/drawing/2014/main" id="{9C58AE2E-43A5-4F87-B993-327C6FC67C6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 · Boekpagina 48">
            <a:extLst xmlns:a="http://schemas.openxmlformats.org/drawingml/2006/main">
              <a:ext uri="{FF2B5EF4-FFF2-40B4-BE49-F238E27FC236}">
                <a16:creationId xmlns:a16="http://schemas.microsoft.com/office/drawing/2014/main" id="{8460826D-724A-445F-8318-5197F9296BF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 · Boekpagina 48</a:t>
            </a:r>
          </a:p>
        </p:txBody>
      </p:sp>
      <p:sp>
        <p:nvSpPr>
          <p:cNvPr id="4" name="8">
            <a:extLst xmlns:a="http://schemas.openxmlformats.org/drawingml/2006/main">
              <a:ext uri="{FF2B5EF4-FFF2-40B4-BE49-F238E27FC236}">
                <a16:creationId xmlns:a16="http://schemas.microsoft.com/office/drawing/2014/main" id="{B0D00D38-E9BB-4E74-BEB3-3521EE89E2F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KleurFix verkoopt als enige een specifiek pigmentmengsel.">
            <a:extLst xmlns:a="http://schemas.openxmlformats.org/drawingml/2006/main">
              <a:ext uri="{FF2B5EF4-FFF2-40B4-BE49-F238E27FC236}">
                <a16:creationId xmlns:a16="http://schemas.microsoft.com/office/drawing/2014/main" id="{D8D1835E-DAB7-4E28-83E2-4BCA48535714}"/>
              </a:ext>
            </a:extLst>
          </p:cNvPr>
          <p:cNvSpPr>
            <a:spLocks xmlns:a="http://schemas.openxmlformats.org/drawingml/2006/main" noGrp="1"/>
          </p:cNvSpPr>
          <p:nvPr/>
        </p:nvSpPr>
        <p:spPr>
          <a:xfrm xmlns:a="http://schemas.openxmlformats.org/drawingml/2006/main">
            <a:off x="571500" y="21431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KleurFix verkoopt als enige een specifiek pigmentmengsel.</a:t>
            </a:r>
          </a:p>
        </p:txBody>
      </p:sp>
      <p:sp>
        <p:nvSpPr>
          <p:cNvPr id="6" name="Voor de beschreven periode heeft het bedrijf exclusief toegang to">
            <a:extLst xmlns:a="http://schemas.openxmlformats.org/drawingml/2006/main">
              <a:ext uri="{FF2B5EF4-FFF2-40B4-BE49-F238E27FC236}">
                <a16:creationId xmlns:a16="http://schemas.microsoft.com/office/drawing/2014/main" id="{E0C99DC5-0C5C-467B-9142-9F8E882AEEE1}"/>
              </a:ext>
            </a:extLst>
          </p:cNvPr>
          <p:cNvSpPr>
            <a:spLocks xmlns:a="http://schemas.openxmlformats.org/drawingml/2006/main" noGrp="1"/>
          </p:cNvSpPr>
          <p:nvPr/>
        </p:nvSpPr>
        <p:spPr>
          <a:xfrm xmlns:a="http://schemas.openxmlformats.org/drawingml/2006/main">
            <a:off x="571500" y="3705225"/>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Voor de beschreven periode heeft het bedrijf exclusief toegang tot een noodzakelijke grondstof.</a:t>
            </a:r>
          </a:p>
        </p:txBody>
      </p:sp>
      <p:sp>
        <p:nvSpPr>
          <p:cNvPr id="7" name="Er zijn binnen de afgebakende markt geen goede vervangers. Het be">
            <a:extLst xmlns:a="http://schemas.openxmlformats.org/drawingml/2006/main">
              <a:ext uri="{FF2B5EF4-FFF2-40B4-BE49-F238E27FC236}">
                <a16:creationId xmlns:a16="http://schemas.microsoft.com/office/drawing/2014/main" id="{FB83CA7A-E64E-4555-9367-27000562B141}"/>
              </a:ext>
            </a:extLst>
          </p:cNvPr>
          <p:cNvSpPr>
            <a:spLocks xmlns:a="http://schemas.openxmlformats.org/drawingml/2006/main" noGrp="1"/>
          </p:cNvSpPr>
          <p:nvPr/>
        </p:nvSpPr>
        <p:spPr>
          <a:xfrm xmlns:a="http://schemas.openxmlformats.org/drawingml/2006/main">
            <a:off x="571500" y="588645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Er zijn binnen de afgebakende markt geen goede vervangers. Het bedrijf gebruikt een geel logo.</a:t>
            </a:r>
          </a:p>
        </p:txBody>
      </p:sp>
    </p:spTree>
    <p:extLst>
      <p:ext uri="{BB962C8B-B14F-4D97-AF65-F5344CB8AC3E}">
        <p14:creationId xmlns:p14="http://schemas.microsoft.com/office/powerpoint/2010/main" val="10604655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5 · Bron B: de monopolist">
            <a:extLst xmlns:a="http://schemas.openxmlformats.org/drawingml/2006/main">
              <a:ext uri="{FF2B5EF4-FFF2-40B4-BE49-F238E27FC236}">
                <a16:creationId xmlns:a16="http://schemas.microsoft.com/office/drawing/2014/main" id="{3D2AEEEC-5A70-43F8-BD11-D30D197DF428}"/>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45 · Bron B: de monopolist</a:t>
            </a:r>
          </a:p>
        </p:txBody>
      </p:sp>
      <p:sp>
        <p:nvSpPr>
          <p:cNvPr id="2" name="">
            <a:extLst xmlns:a="http://schemas.openxmlformats.org/drawingml/2006/main">
              <a:ext uri="{FF2B5EF4-FFF2-40B4-BE49-F238E27FC236}">
                <a16:creationId xmlns:a16="http://schemas.microsoft.com/office/drawing/2014/main" id="{4DAC840E-85C8-4763-85AD-F47D213EBF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 · Boekpagina 48">
            <a:extLst xmlns:a="http://schemas.openxmlformats.org/drawingml/2006/main">
              <a:ext uri="{FF2B5EF4-FFF2-40B4-BE49-F238E27FC236}">
                <a16:creationId xmlns:a16="http://schemas.microsoft.com/office/drawing/2014/main" id="{C8F4BC9B-AF08-47E6-8506-6CD7D4360DF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 · Boekpagina 48</a:t>
            </a:r>
          </a:p>
        </p:txBody>
      </p:sp>
      <p:sp>
        <p:nvSpPr>
          <p:cNvPr id="4" name="9">
            <a:extLst xmlns:a="http://schemas.openxmlformats.org/drawingml/2006/main">
              <a:ext uri="{FF2B5EF4-FFF2-40B4-BE49-F238E27FC236}">
                <a16:creationId xmlns:a16="http://schemas.microsoft.com/office/drawing/2014/main" id="{1FC36EEC-6654-409F-AC36-61F8ACEDD14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P = 32 − 0,20q&#10;TK = 0,10q² + 8q + 120">
            <a:extLst xmlns:a="http://schemas.openxmlformats.org/drawingml/2006/main">
              <a:ext uri="{FF2B5EF4-FFF2-40B4-BE49-F238E27FC236}">
                <a16:creationId xmlns:a16="http://schemas.microsoft.com/office/drawing/2014/main" id="{FE82DB0A-665E-4992-850A-DE594AB5F30B}"/>
              </a:ext>
            </a:extLst>
          </p:cNvPr>
          <p:cNvSpPr>
            <a:spLocks xmlns:a="http://schemas.openxmlformats.org/drawingml/2006/main" noGrp="1"/>
          </p:cNvSpPr>
          <p:nvPr/>
        </p:nvSpPr>
        <p:spPr>
          <a:xfrm xmlns:a="http://schemas.openxmlformats.org/drawingml/2006/main">
            <a:off x="571500" y="2133600"/>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P = 32 − 0,20q</a:t>
            </a:r>
          </a:p>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TK = 0,10q² + 8q + 120</a:t>
            </a:r>
          </a:p>
        </p:txBody>
      </p:sp>
      <p:sp>
        <p:nvSpPr>
          <p:cNvPr id="6" name="q: kg per week     P: euro per kg     TK: euro per week">
            <a:extLst xmlns:a="http://schemas.openxmlformats.org/drawingml/2006/main">
              <a:ext uri="{FF2B5EF4-FFF2-40B4-BE49-F238E27FC236}">
                <a16:creationId xmlns:a16="http://schemas.microsoft.com/office/drawing/2014/main" id="{90FFCF0C-E8AF-42B4-95EB-E68F59D99C79}"/>
              </a:ext>
            </a:extLst>
          </p:cNvPr>
          <p:cNvSpPr>
            <a:spLocks xmlns:a="http://schemas.openxmlformats.org/drawingml/2006/main" noGrp="1"/>
          </p:cNvSpPr>
          <p:nvPr/>
        </p:nvSpPr>
        <p:spPr>
          <a:xfrm xmlns:a="http://schemas.openxmlformats.org/drawingml/2006/main">
            <a:off x="571500" y="39338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kg per week     P: euro per kg     TK: euro per week</a:t>
            </a:r>
          </a:p>
        </p:txBody>
      </p:sp>
      <p:sp>
        <p:nvSpPr>
          <p:cNvPr id="7" name="De productiecapaciteit is 60 kg.&#10;De € 120 is deze week onvermijdb">
            <a:extLst xmlns:a="http://schemas.openxmlformats.org/drawingml/2006/main">
              <a:ext uri="{FF2B5EF4-FFF2-40B4-BE49-F238E27FC236}">
                <a16:creationId xmlns:a16="http://schemas.microsoft.com/office/drawing/2014/main" id="{492EEEE0-41D6-4DC5-89DC-DC5E0D673867}"/>
              </a:ext>
            </a:extLst>
          </p:cNvPr>
          <p:cNvSpPr>
            <a:spLocks xmlns:a="http://schemas.openxmlformats.org/drawingml/2006/main" noGrp="1"/>
          </p:cNvSpPr>
          <p:nvPr/>
        </p:nvSpPr>
        <p:spPr>
          <a:xfrm xmlns:a="http://schemas.openxmlformats.org/drawingml/2006/main">
            <a:off x="571500" y="5124450"/>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productiecapaciteit is 60 kg.</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De € 120 is deze week onvermijdbaar.</a:t>
            </a:r>
          </a:p>
        </p:txBody>
      </p:sp>
      <p:sp>
        <p:nvSpPr>
          <p:cNvPr id="8" name="Alle kg binnen een plan worden tegen dezelfde prijs verkocht.">
            <a:extLst xmlns:a="http://schemas.openxmlformats.org/drawingml/2006/main">
              <a:ext uri="{FF2B5EF4-FFF2-40B4-BE49-F238E27FC236}">
                <a16:creationId xmlns:a16="http://schemas.microsoft.com/office/drawing/2014/main" id="{34E26A00-9E1A-4B0C-9E25-9C26BCAF3BF5}"/>
              </a:ext>
            </a:extLst>
          </p:cNvPr>
          <p:cNvSpPr>
            <a:spLocks xmlns:a="http://schemas.openxmlformats.org/drawingml/2006/main" noGrp="1"/>
          </p:cNvSpPr>
          <p:nvPr/>
        </p:nvSpPr>
        <p:spPr>
          <a:xfrm xmlns:a="http://schemas.openxmlformats.org/drawingml/2006/main">
            <a:off x="571500" y="70104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Alle kg binnen een plan worden tegen dezelfde prijs verkocht.</a:t>
            </a:r>
          </a:p>
        </p:txBody>
      </p:sp>
    </p:spTree>
    <p:extLst>
      <p:ext uri="{BB962C8B-B14F-4D97-AF65-F5344CB8AC3E}">
        <p14:creationId xmlns:p14="http://schemas.microsoft.com/office/powerpoint/2010/main" val="11721653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45 · Figuur 21">
            <a:extLst xmlns:a="http://schemas.openxmlformats.org/drawingml/2006/main">
              <a:ext uri="{FF2B5EF4-FFF2-40B4-BE49-F238E27FC236}">
                <a16:creationId xmlns:a16="http://schemas.microsoft.com/office/drawing/2014/main" id="{40AC7573-DDE6-4502-A420-574629086AF3}"/>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45 · Figuur 21</a:t>
            </a:r>
          </a:p>
        </p:txBody>
      </p:sp>
      <p:sp>
        <p:nvSpPr>
          <p:cNvPr id="2" name="">
            <a:extLst xmlns:a="http://schemas.openxmlformats.org/drawingml/2006/main">
              <a:ext uri="{FF2B5EF4-FFF2-40B4-BE49-F238E27FC236}">
                <a16:creationId xmlns:a16="http://schemas.microsoft.com/office/drawing/2014/main" id="{F3863ED0-7682-4F53-9268-121B445A670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 · Boekpagina 48">
            <a:extLst xmlns:a="http://schemas.openxmlformats.org/drawingml/2006/main">
              <a:ext uri="{FF2B5EF4-FFF2-40B4-BE49-F238E27FC236}">
                <a16:creationId xmlns:a16="http://schemas.microsoft.com/office/drawing/2014/main" id="{36C581B6-EA82-4BA2-9E4D-4EC9599359E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 · Boekpagina 48</a:t>
            </a:r>
          </a:p>
        </p:txBody>
      </p:sp>
      <p:sp>
        <p:nvSpPr>
          <p:cNvPr id="4" name="10">
            <a:extLst xmlns:a="http://schemas.openxmlformats.org/drawingml/2006/main">
              <a:ext uri="{FF2B5EF4-FFF2-40B4-BE49-F238E27FC236}">
                <a16:creationId xmlns:a16="http://schemas.microsoft.com/office/drawing/2014/main" id="{DB2C0F1B-9B33-4349-8743-ED756CFCB07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7" name="Chart"/>
          <p:cNvGraphicFramePr/>
          <p:nvPr/>
        </p:nvGraphicFramePr>
        <p:xfrm>
          <a:off xmlns:a="http://schemas.openxmlformats.org/drawingml/2006/main" x="571500" y="2133600"/>
          <a:ext xmlns:a="http://schemas.openxmlformats.org/drawingml/2006/main" cx="10477500" cy="5562600"/>
        </p:xfrm>
        <a:graphic xmlns:a="http://schemas.openxmlformats.org/drawingml/2006/main">
          <a:graphicData uri="http://schemas.openxmlformats.org/drawingml/2006/chart">
            <c:chart xmlns:r="http://schemas.openxmlformats.org/officeDocument/2006/relationships" xmlns:c="http://schemas.openxmlformats.org/drawingml/2006/chart" r:id="R8504fdad89244037"/>
          </a:graphicData>
        </a:graphic>
      </p:graphicFrame>
      <p:sp>
        <p:nvSpPr>
          <p:cNvPr id="6" name="GO = P">
            <a:extLst xmlns:a="http://schemas.openxmlformats.org/drawingml/2006/main">
              <a:ext uri="{FF2B5EF4-FFF2-40B4-BE49-F238E27FC236}">
                <a16:creationId xmlns:a16="http://schemas.microsoft.com/office/drawing/2014/main" id="{C292A1DB-3785-481A-B424-099CDA8C34D1}"/>
              </a:ext>
            </a:extLst>
          </p:cNvPr>
          <p:cNvSpPr>
            <a:spLocks xmlns:a="http://schemas.openxmlformats.org/drawingml/2006/main" noGrp="1"/>
          </p:cNvSpPr>
          <p:nvPr/>
        </p:nvSpPr>
        <p:spPr>
          <a:xfrm xmlns:a="http://schemas.openxmlformats.org/drawingml/2006/main">
            <a:off x="9163050" y="44005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GO = P</a:t>
            </a:r>
          </a:p>
        </p:txBody>
      </p:sp>
      <p:sp>
        <p:nvSpPr>
          <p:cNvPr id="7" name="MK">
            <a:extLst xmlns:a="http://schemas.openxmlformats.org/drawingml/2006/main">
              <a:ext uri="{FF2B5EF4-FFF2-40B4-BE49-F238E27FC236}">
                <a16:creationId xmlns:a16="http://schemas.microsoft.com/office/drawing/2014/main" id="{2C881EFE-138A-49A6-A8A8-70FE44168811}"/>
              </a:ext>
            </a:extLst>
          </p:cNvPr>
          <p:cNvSpPr>
            <a:spLocks xmlns:a="http://schemas.openxmlformats.org/drawingml/2006/main" noGrp="1"/>
          </p:cNvSpPr>
          <p:nvPr/>
        </p:nvSpPr>
        <p:spPr>
          <a:xfrm xmlns:a="http://schemas.openxmlformats.org/drawingml/2006/main">
            <a:off x="9448800" y="3209925"/>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D16"/>
                </a:solidFill>
                <a:latin typeface="Arial"/>
                <a:ea typeface="Arial"/>
                <a:cs typeface="Arial"/>
              </a:defRPr>
            </a:pPr>
            <a:r>
              <a:rPr sz="2100" b="1">
                <a:solidFill>
                  <a:srgbClr val="A94D16"/>
                </a:solidFill>
                <a:latin typeface="Arial"/>
                <a:ea typeface="Arial"/>
                <a:cs typeface="Arial"/>
              </a:rPr>
              <a:t>MK</a:t>
            </a:r>
          </a:p>
        </p:txBody>
      </p:sp>
      <p:sp>
        <p:nvSpPr>
          <p:cNvPr id="8" name="MO">
            <a:extLst xmlns:a="http://schemas.openxmlformats.org/drawingml/2006/main">
              <a:ext uri="{FF2B5EF4-FFF2-40B4-BE49-F238E27FC236}">
                <a16:creationId xmlns:a16="http://schemas.microsoft.com/office/drawing/2014/main" id="{CF72FB59-04B3-4C47-B151-D617CFB5A7D1}"/>
              </a:ext>
            </a:extLst>
          </p:cNvPr>
          <p:cNvSpPr>
            <a:spLocks xmlns:a="http://schemas.openxmlformats.org/drawingml/2006/main" noGrp="1"/>
          </p:cNvSpPr>
          <p:nvPr/>
        </p:nvSpPr>
        <p:spPr>
          <a:xfrm xmlns:a="http://schemas.openxmlformats.org/drawingml/2006/main">
            <a:off x="8724900" y="6219825"/>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7B2D8E"/>
                </a:solidFill>
                <a:latin typeface="Arial"/>
                <a:ea typeface="Arial"/>
                <a:cs typeface="Arial"/>
              </a:defRPr>
            </a:pPr>
            <a:r>
              <a:rPr sz="2100" b="1">
                <a:solidFill>
                  <a:srgbClr val="7B2D8E"/>
                </a:solidFill>
                <a:latin typeface="Arial"/>
                <a:ea typeface="Arial"/>
                <a:cs typeface="Arial"/>
              </a:rPr>
              <a:t>MO</a:t>
            </a:r>
          </a:p>
        </p:txBody>
      </p:sp>
      <p:sp>
        <p:nvSpPr>
          <p:cNvPr id="9" name="Bron B · KleurFix">
            <a:extLst xmlns:a="http://schemas.openxmlformats.org/drawingml/2006/main">
              <a:ext uri="{FF2B5EF4-FFF2-40B4-BE49-F238E27FC236}">
                <a16:creationId xmlns:a16="http://schemas.microsoft.com/office/drawing/2014/main" id="{B6D765F4-0C8C-4912-8409-715F65FEB5C4}"/>
              </a:ext>
            </a:extLst>
          </p:cNvPr>
          <p:cNvSpPr>
            <a:spLocks xmlns:a="http://schemas.openxmlformats.org/drawingml/2006/main" noGrp="1"/>
          </p:cNvSpPr>
          <p:nvPr/>
        </p:nvSpPr>
        <p:spPr>
          <a:xfrm xmlns:a="http://schemas.openxmlformats.org/drawingml/2006/main">
            <a:off x="11334750" y="248602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Bron B · KleurFix</a:t>
            </a:r>
          </a:p>
        </p:txBody>
      </p:sp>
      <p:sp>
        <p:nvSpPr>
          <p:cNvPr id="10" name="De drie lijnen&#10;zijn gegeven.">
            <a:extLst xmlns:a="http://schemas.openxmlformats.org/drawingml/2006/main">
              <a:ext uri="{FF2B5EF4-FFF2-40B4-BE49-F238E27FC236}">
                <a16:creationId xmlns:a16="http://schemas.microsoft.com/office/drawing/2014/main" id="{75D3D8F3-D48A-40A9-A899-771568B0B778}"/>
              </a:ext>
            </a:extLst>
          </p:cNvPr>
          <p:cNvSpPr>
            <a:spLocks xmlns:a="http://schemas.openxmlformats.org/drawingml/2006/main" noGrp="1"/>
          </p:cNvSpPr>
          <p:nvPr/>
        </p:nvSpPr>
        <p:spPr>
          <a:xfrm xmlns:a="http://schemas.openxmlformats.org/drawingml/2006/main">
            <a:off x="11334750" y="3829050"/>
            <a:ext cx="3333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drie lijnen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zijn gegeven.</a:t>
            </a:r>
          </a:p>
        </p:txBody>
      </p:sp>
      <p:sp>
        <p:nvSpPr>
          <p:cNvPr id="11" name="Markeer straks&#10;je gekozen q&#10;en prijsroute.">
            <a:extLst xmlns:a="http://schemas.openxmlformats.org/drawingml/2006/main">
              <a:ext uri="{FF2B5EF4-FFF2-40B4-BE49-F238E27FC236}">
                <a16:creationId xmlns:a16="http://schemas.microsoft.com/office/drawing/2014/main" id="{E53E2845-F4BC-4DDA-8967-5E027A997F86}"/>
              </a:ext>
            </a:extLst>
          </p:cNvPr>
          <p:cNvSpPr>
            <a:spLocks xmlns:a="http://schemas.openxmlformats.org/drawingml/2006/main" noGrp="1"/>
          </p:cNvSpPr>
          <p:nvPr/>
        </p:nvSpPr>
        <p:spPr>
          <a:xfrm xmlns:a="http://schemas.openxmlformats.org/drawingml/2006/main">
            <a:off x="11334750" y="5314950"/>
            <a:ext cx="3333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Markeer straks</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je gekozen q</a:t>
            </a:r>
          </a:p>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en prijsroute.</a:t>
            </a:r>
          </a:p>
        </p:txBody>
      </p:sp>
      <p:sp>
        <p:nvSpPr>
          <p:cNvPr id="12" name="Capaciteit: 60 kg">
            <a:extLst xmlns:a="http://schemas.openxmlformats.org/drawingml/2006/main">
              <a:ext uri="{FF2B5EF4-FFF2-40B4-BE49-F238E27FC236}">
                <a16:creationId xmlns:a16="http://schemas.microsoft.com/office/drawing/2014/main" id="{4644CB52-54F1-4703-8FEE-A776AD60786A}"/>
              </a:ext>
            </a:extLst>
          </p:cNvPr>
          <p:cNvSpPr>
            <a:spLocks xmlns:a="http://schemas.openxmlformats.org/drawingml/2006/main" noGrp="1"/>
          </p:cNvSpPr>
          <p:nvPr/>
        </p:nvSpPr>
        <p:spPr>
          <a:xfrm xmlns:a="http://schemas.openxmlformats.org/drawingml/2006/main">
            <a:off x="11334750" y="735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247"/>
                </a:solidFill>
                <a:latin typeface="Arial"/>
                <a:ea typeface="Arial"/>
                <a:cs typeface="Arial"/>
              </a:defRPr>
            </a:pPr>
            <a:r>
              <a:rPr sz="2100" b="0">
                <a:solidFill>
                  <a:srgbClr val="183247"/>
                </a:solidFill>
                <a:latin typeface="Arial"/>
                <a:ea typeface="Arial"/>
                <a:cs typeface="Arial"/>
              </a:rPr>
              <a:t>Capaciteit: 60 kg</a:t>
            </a:r>
          </a:p>
        </p:txBody>
      </p:sp>
    </p:spTree>
    <p:extLst>
      <p:ext uri="{BB962C8B-B14F-4D97-AF65-F5344CB8AC3E}">
        <p14:creationId xmlns:p14="http://schemas.microsoft.com/office/powerpoint/2010/main" val="9685661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45 · Bron C: een afzonderlijke prijsnemer">
            <a:extLst xmlns:a="http://schemas.openxmlformats.org/drawingml/2006/main">
              <a:ext uri="{FF2B5EF4-FFF2-40B4-BE49-F238E27FC236}">
                <a16:creationId xmlns:a16="http://schemas.microsoft.com/office/drawing/2014/main" id="{1150820D-1629-4357-AA48-36DD20667BB1}"/>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45 · Bron C: een afzonderlijke prijsnemer</a:t>
            </a:r>
          </a:p>
        </p:txBody>
      </p:sp>
      <p:sp>
        <p:nvSpPr>
          <p:cNvPr id="2" name="">
            <a:extLst xmlns:a="http://schemas.openxmlformats.org/drawingml/2006/main">
              <a:ext uri="{FF2B5EF4-FFF2-40B4-BE49-F238E27FC236}">
                <a16:creationId xmlns:a16="http://schemas.microsoft.com/office/drawing/2014/main" id="{9E48FB5F-1BB6-4682-B823-5DEA5834EE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 · Boekpagina 48">
            <a:extLst xmlns:a="http://schemas.openxmlformats.org/drawingml/2006/main">
              <a:ext uri="{FF2B5EF4-FFF2-40B4-BE49-F238E27FC236}">
                <a16:creationId xmlns:a16="http://schemas.microsoft.com/office/drawing/2014/main" id="{93E8FC93-20A7-44EF-BB1F-C884B4195D9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 · Boekpagina 48</a:t>
            </a:r>
          </a:p>
        </p:txBody>
      </p:sp>
      <p:sp>
        <p:nvSpPr>
          <p:cNvPr id="4" name="11">
            <a:extLst xmlns:a="http://schemas.openxmlformats.org/drawingml/2006/main">
              <a:ext uri="{FF2B5EF4-FFF2-40B4-BE49-F238E27FC236}">
                <a16:creationId xmlns:a16="http://schemas.microsoft.com/office/drawing/2014/main" id="{06CC642C-B9D7-40C8-954B-4556068F0AA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Een kleine leverancier verkoopt op een andere markt een standaard">
            <a:extLst xmlns:a="http://schemas.openxmlformats.org/drawingml/2006/main">
              <a:ext uri="{FF2B5EF4-FFF2-40B4-BE49-F238E27FC236}">
                <a16:creationId xmlns:a16="http://schemas.microsoft.com/office/drawing/2014/main" id="{53495723-CC9E-4EEF-94D0-5A9EF5D9337A}"/>
              </a:ext>
            </a:extLst>
          </p:cNvPr>
          <p:cNvSpPr>
            <a:spLocks xmlns:a="http://schemas.openxmlformats.org/drawingml/2006/main" noGrp="1"/>
          </p:cNvSpPr>
          <p:nvPr/>
        </p:nvSpPr>
        <p:spPr>
          <a:xfrm xmlns:a="http://schemas.openxmlformats.org/drawingml/2006/main">
            <a:off x="571500" y="1962150"/>
            <a:ext cx="14097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Een kleine leverancier verkoopt op een andere markt een standaardmengsel. Hij neemt P = € 18 per kg als gegeven.</a:t>
            </a:r>
          </a:p>
        </p:txBody>
      </p:sp>
      <p:sp>
        <p:nvSpPr>
          <p:cNvPr id="6" name="TK = 0,10q² + 8q + 120&#10;Capaciteit: 60 kg per week">
            <a:extLst xmlns:a="http://schemas.openxmlformats.org/drawingml/2006/main">
              <a:ext uri="{FF2B5EF4-FFF2-40B4-BE49-F238E27FC236}">
                <a16:creationId xmlns:a16="http://schemas.microsoft.com/office/drawing/2014/main" id="{DD567736-8F44-4283-BE0A-F8A4CFC60638}"/>
              </a:ext>
            </a:extLst>
          </p:cNvPr>
          <p:cNvSpPr>
            <a:spLocks xmlns:a="http://schemas.openxmlformats.org/drawingml/2006/main" noGrp="1"/>
          </p:cNvSpPr>
          <p:nvPr/>
        </p:nvSpPr>
        <p:spPr>
          <a:xfrm xmlns:a="http://schemas.openxmlformats.org/drawingml/2006/main">
            <a:off x="571500" y="383857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TK = 0,10q² + 8q + 120</a:t>
            </a:r>
          </a:p>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Capaciteit: 60 kg per week</a:t>
            </a:r>
          </a:p>
        </p:txBody>
      </p:sp>
      <p:sp>
        <p:nvSpPr>
          <p:cNvPr id="7" name="Zijn producten zijn gelijkwaardig aan die van vele andere leveran">
            <a:extLst xmlns:a="http://schemas.openxmlformats.org/drawingml/2006/main">
              <a:ext uri="{FF2B5EF4-FFF2-40B4-BE49-F238E27FC236}">
                <a16:creationId xmlns:a16="http://schemas.microsoft.com/office/drawing/2014/main" id="{F39217C2-A885-4F40-A4AF-9EDA11AB831E}"/>
              </a:ext>
            </a:extLst>
          </p:cNvPr>
          <p:cNvSpPr>
            <a:spLocks xmlns:a="http://schemas.openxmlformats.org/drawingml/2006/main" noGrp="1"/>
          </p:cNvSpPr>
          <p:nvPr/>
        </p:nvSpPr>
        <p:spPr>
          <a:xfrm xmlns:a="http://schemas.openxmlformats.org/drawingml/2006/main">
            <a:off x="571500" y="5572125"/>
            <a:ext cx="14097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Zijn producten zijn gelijkwaardig aan die van vele andere leveranciers. De € 120 blijft deze week ook zonder productie bestaan.</a:t>
            </a:r>
          </a:p>
        </p:txBody>
      </p:sp>
      <p:sp>
        <p:nvSpPr>
          <p:cNvPr id="8" name="B en C zijn afzonderlijke oefencases op verschillende markten.">
            <a:extLst xmlns:a="http://schemas.openxmlformats.org/drawingml/2006/main">
              <a:ext uri="{FF2B5EF4-FFF2-40B4-BE49-F238E27FC236}">
                <a16:creationId xmlns:a16="http://schemas.microsoft.com/office/drawing/2014/main" id="{1F5B69F7-4601-41B4-9CA3-1AA4F78F8546}"/>
              </a:ext>
            </a:extLst>
          </p:cNvPr>
          <p:cNvSpPr>
            <a:spLocks xmlns:a="http://schemas.openxmlformats.org/drawingml/2006/main" noGrp="1"/>
          </p:cNvSpPr>
          <p:nvPr/>
        </p:nvSpPr>
        <p:spPr>
          <a:xfrm xmlns:a="http://schemas.openxmlformats.org/drawingml/2006/main">
            <a:off x="571500" y="752475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B en C zijn afzonderlijke oefencases op verschillende markten.</a:t>
            </a:r>
          </a:p>
        </p:txBody>
      </p:sp>
    </p:spTree>
    <p:extLst>
      <p:ext uri="{BB962C8B-B14F-4D97-AF65-F5344CB8AC3E}">
        <p14:creationId xmlns:p14="http://schemas.microsoft.com/office/powerpoint/2010/main" val="3479554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5 · Vragen a en b">
            <a:extLst xmlns:a="http://schemas.openxmlformats.org/drawingml/2006/main">
              <a:ext uri="{FF2B5EF4-FFF2-40B4-BE49-F238E27FC236}">
                <a16:creationId xmlns:a16="http://schemas.microsoft.com/office/drawing/2014/main" id="{45C4D8E5-B616-4FD0-9E93-B706BB95A2A9}"/>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45 · Vragen a en b</a:t>
            </a:r>
          </a:p>
        </p:txBody>
      </p:sp>
      <p:sp>
        <p:nvSpPr>
          <p:cNvPr id="2" name="">
            <a:extLst xmlns:a="http://schemas.openxmlformats.org/drawingml/2006/main">
              <a:ext uri="{FF2B5EF4-FFF2-40B4-BE49-F238E27FC236}">
                <a16:creationId xmlns:a16="http://schemas.microsoft.com/office/drawing/2014/main" id="{A1DB5717-2375-4B23-867D-938A6D8F7D9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 · Boekpagina 49">
            <a:extLst xmlns:a="http://schemas.openxmlformats.org/drawingml/2006/main">
              <a:ext uri="{FF2B5EF4-FFF2-40B4-BE49-F238E27FC236}">
                <a16:creationId xmlns:a16="http://schemas.microsoft.com/office/drawing/2014/main" id="{A41DB31F-4BB3-4BEA-AB88-C96596AF5DE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 · Boekpagina 49</a:t>
            </a:r>
          </a:p>
        </p:txBody>
      </p:sp>
      <p:sp>
        <p:nvSpPr>
          <p:cNvPr id="4" name="12">
            <a:extLst xmlns:a="http://schemas.openxmlformats.org/drawingml/2006/main">
              <a:ext uri="{FF2B5EF4-FFF2-40B4-BE49-F238E27FC236}">
                <a16:creationId xmlns:a16="http://schemas.microsoft.com/office/drawing/2014/main" id="{71794660-010B-4362-9D70-22184FCEAE2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Gebruik bronnen A, B en C en figuur 21 op pagina 48.">
            <a:extLst xmlns:a="http://schemas.openxmlformats.org/drawingml/2006/main">
              <a:ext uri="{FF2B5EF4-FFF2-40B4-BE49-F238E27FC236}">
                <a16:creationId xmlns:a16="http://schemas.microsoft.com/office/drawing/2014/main" id="{1666575D-D825-424E-95C9-78E9235022DF}"/>
              </a:ext>
            </a:extLst>
          </p:cNvPr>
          <p:cNvSpPr>
            <a:spLocks xmlns:a="http://schemas.openxmlformats.org/drawingml/2006/main" noGrp="1"/>
          </p:cNvSpPr>
          <p:nvPr/>
        </p:nvSpPr>
        <p:spPr>
          <a:xfrm xmlns:a="http://schemas.openxmlformats.org/drawingml/2006/main">
            <a:off x="571500" y="17335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Gebruik bronnen A, B en C en figuur 21 op pagina 48.</a:t>
            </a:r>
          </a:p>
        </p:txBody>
      </p:sp>
      <p:sp>
        <p:nvSpPr>
          <p:cNvPr id="6" name="a. (2p)">
            <a:extLst xmlns:a="http://schemas.openxmlformats.org/drawingml/2006/main">
              <a:ext uri="{FF2B5EF4-FFF2-40B4-BE49-F238E27FC236}">
                <a16:creationId xmlns:a16="http://schemas.microsoft.com/office/drawing/2014/main" id="{BE3C4FBA-6B6B-478B-8FA3-008D3D56FE1B}"/>
              </a:ext>
            </a:extLst>
          </p:cNvPr>
          <p:cNvSpPr>
            <a:spLocks xmlns:a="http://schemas.openxmlformats.org/drawingml/2006/main" noGrp="1"/>
          </p:cNvSpPr>
          <p:nvPr/>
        </p:nvSpPr>
        <p:spPr>
          <a:xfrm xmlns:a="http://schemas.openxmlformats.org/drawingml/2006/main">
            <a:off x="571500" y="2886075"/>
            <a:ext cx="147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a. (2p)</a:t>
            </a:r>
          </a:p>
        </p:txBody>
      </p:sp>
      <p:sp>
        <p:nvSpPr>
          <p:cNvPr id="7" name="Noem het brongegeven dat de toetredingsbarrière verklaart. Welk g">
            <a:extLst xmlns:a="http://schemas.openxmlformats.org/drawingml/2006/main">
              <a:ext uri="{FF2B5EF4-FFF2-40B4-BE49-F238E27FC236}">
                <a16:creationId xmlns:a16="http://schemas.microsoft.com/office/drawing/2014/main" id="{171D55E4-B16B-4275-BCAD-D2130EBF3374}"/>
              </a:ext>
            </a:extLst>
          </p:cNvPr>
          <p:cNvSpPr>
            <a:spLocks xmlns:a="http://schemas.openxmlformats.org/drawingml/2006/main" noGrp="1"/>
          </p:cNvSpPr>
          <p:nvPr/>
        </p:nvSpPr>
        <p:spPr>
          <a:xfrm xmlns:a="http://schemas.openxmlformats.org/drawingml/2006/main">
            <a:off x="2257425" y="2886075"/>
            <a:ext cx="124110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Noem het brongegeven dat de toetredingsbarrière verklaart. Welk genoemd detail heb je niet nodig voor de berekeningen?</a:t>
            </a:r>
          </a:p>
        </p:txBody>
      </p:sp>
      <p:sp>
        <p:nvSpPr>
          <p:cNvPr id="8" name="b. (3p)">
            <a:extLst xmlns:a="http://schemas.openxmlformats.org/drawingml/2006/main">
              <a:ext uri="{FF2B5EF4-FFF2-40B4-BE49-F238E27FC236}">
                <a16:creationId xmlns:a16="http://schemas.microsoft.com/office/drawing/2014/main" id="{6F3612E3-8407-45B7-BE71-062A1F9FFD03}"/>
              </a:ext>
            </a:extLst>
          </p:cNvPr>
          <p:cNvSpPr>
            <a:spLocks xmlns:a="http://schemas.openxmlformats.org/drawingml/2006/main" noGrp="1"/>
          </p:cNvSpPr>
          <p:nvPr/>
        </p:nvSpPr>
        <p:spPr>
          <a:xfrm xmlns:a="http://schemas.openxmlformats.org/drawingml/2006/main">
            <a:off x="571500" y="5295900"/>
            <a:ext cx="147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 (3p)</a:t>
            </a:r>
          </a:p>
        </p:txBody>
      </p:sp>
      <p:sp>
        <p:nvSpPr>
          <p:cNvPr id="9" name="Stel voor KleurFix TO, MO en MK op. Bereken de winstmaximale q en">
            <a:extLst xmlns:a="http://schemas.openxmlformats.org/drawingml/2006/main">
              <a:ext uri="{FF2B5EF4-FFF2-40B4-BE49-F238E27FC236}">
                <a16:creationId xmlns:a16="http://schemas.microsoft.com/office/drawing/2014/main" id="{7851ED87-FB5C-419C-8839-202011E26E26}"/>
              </a:ext>
            </a:extLst>
          </p:cNvPr>
          <p:cNvSpPr>
            <a:spLocks xmlns:a="http://schemas.openxmlformats.org/drawingml/2006/main" noGrp="1"/>
          </p:cNvSpPr>
          <p:nvPr/>
        </p:nvSpPr>
        <p:spPr>
          <a:xfrm xmlns:a="http://schemas.openxmlformats.org/drawingml/2006/main">
            <a:off x="2257425" y="5295900"/>
            <a:ext cx="124110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Stel voor KleurFix TO, MO en MK op. Bereken de winstmaximale q en controleer het marginale verloop en de productiecapaciteit.</a:t>
            </a:r>
          </a:p>
        </p:txBody>
      </p:sp>
    </p:spTree>
    <p:extLst>
      <p:ext uri="{BB962C8B-B14F-4D97-AF65-F5344CB8AC3E}">
        <p14:creationId xmlns:p14="http://schemas.microsoft.com/office/powerpoint/2010/main" val="3722699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5 · Vragen c en d">
            <a:extLst xmlns:a="http://schemas.openxmlformats.org/drawingml/2006/main">
              <a:ext uri="{FF2B5EF4-FFF2-40B4-BE49-F238E27FC236}">
                <a16:creationId xmlns:a16="http://schemas.microsoft.com/office/drawing/2014/main" id="{5989AA1B-E7CD-4BA6-A9FC-17486F5D1EC8}"/>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45 · Vragen c en d</a:t>
            </a:r>
          </a:p>
        </p:txBody>
      </p:sp>
      <p:sp>
        <p:nvSpPr>
          <p:cNvPr id="2" name="">
            <a:extLst xmlns:a="http://schemas.openxmlformats.org/drawingml/2006/main">
              <a:ext uri="{FF2B5EF4-FFF2-40B4-BE49-F238E27FC236}">
                <a16:creationId xmlns:a16="http://schemas.microsoft.com/office/drawing/2014/main" id="{394C1436-F1B1-402E-909E-AF1D3793EE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 · Boekpagina 49">
            <a:extLst xmlns:a="http://schemas.openxmlformats.org/drawingml/2006/main">
              <a:ext uri="{FF2B5EF4-FFF2-40B4-BE49-F238E27FC236}">
                <a16:creationId xmlns:a16="http://schemas.microsoft.com/office/drawing/2014/main" id="{840A01BD-6D24-4C4F-B6C9-7EC9D5C2120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 · Boekpagina 49</a:t>
            </a:r>
          </a:p>
        </p:txBody>
      </p:sp>
      <p:sp>
        <p:nvSpPr>
          <p:cNvPr id="4" name="13">
            <a:extLst xmlns:a="http://schemas.openxmlformats.org/drawingml/2006/main">
              <a:ext uri="{FF2B5EF4-FFF2-40B4-BE49-F238E27FC236}">
                <a16:creationId xmlns:a16="http://schemas.microsoft.com/office/drawing/2014/main" id="{4F865B76-9EC1-4883-95EC-03B48E0F986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Gebruik bronnen A, B en C en figuur 21 op pagina 48.">
            <a:extLst xmlns:a="http://schemas.openxmlformats.org/drawingml/2006/main">
              <a:ext uri="{FF2B5EF4-FFF2-40B4-BE49-F238E27FC236}">
                <a16:creationId xmlns:a16="http://schemas.microsoft.com/office/drawing/2014/main" id="{FA14AC6D-C099-4FEA-9EF8-1A7A2D2B0D17}"/>
              </a:ext>
            </a:extLst>
          </p:cNvPr>
          <p:cNvSpPr>
            <a:spLocks xmlns:a="http://schemas.openxmlformats.org/drawingml/2006/main" noGrp="1"/>
          </p:cNvSpPr>
          <p:nvPr/>
        </p:nvSpPr>
        <p:spPr>
          <a:xfrm xmlns:a="http://schemas.openxmlformats.org/drawingml/2006/main">
            <a:off x="571500" y="17335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Gebruik bronnen A, B en C en figuur 21 op pagina 48.</a:t>
            </a:r>
          </a:p>
        </p:txBody>
      </p:sp>
      <p:sp>
        <p:nvSpPr>
          <p:cNvPr id="6" name="c. (3p)">
            <a:extLst xmlns:a="http://schemas.openxmlformats.org/drawingml/2006/main">
              <a:ext uri="{FF2B5EF4-FFF2-40B4-BE49-F238E27FC236}">
                <a16:creationId xmlns:a16="http://schemas.microsoft.com/office/drawing/2014/main" id="{CDA296A9-1C53-4160-8CAE-DB03B28F751D}"/>
              </a:ext>
            </a:extLst>
          </p:cNvPr>
          <p:cNvSpPr>
            <a:spLocks xmlns:a="http://schemas.openxmlformats.org/drawingml/2006/main" noGrp="1"/>
          </p:cNvSpPr>
          <p:nvPr/>
        </p:nvSpPr>
        <p:spPr>
          <a:xfrm xmlns:a="http://schemas.openxmlformats.org/drawingml/2006/main">
            <a:off x="571500" y="2886075"/>
            <a:ext cx="147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c. (3p)</a:t>
            </a:r>
          </a:p>
        </p:txBody>
      </p:sp>
      <p:sp>
        <p:nvSpPr>
          <p:cNvPr id="7" name="Bereken voor KleurFix de verkoopprijs en de totale winst. Laat zi">
            <a:extLst xmlns:a="http://schemas.openxmlformats.org/drawingml/2006/main">
              <a:ext uri="{FF2B5EF4-FFF2-40B4-BE49-F238E27FC236}">
                <a16:creationId xmlns:a16="http://schemas.microsoft.com/office/drawing/2014/main" id="{81FA403C-65C2-4853-8590-72CFBEDD37E5}"/>
              </a:ext>
            </a:extLst>
          </p:cNvPr>
          <p:cNvSpPr>
            <a:spLocks xmlns:a="http://schemas.openxmlformats.org/drawingml/2006/main" noGrp="1"/>
          </p:cNvSpPr>
          <p:nvPr/>
        </p:nvSpPr>
        <p:spPr>
          <a:xfrm xmlns:a="http://schemas.openxmlformats.org/drawingml/2006/main">
            <a:off x="2257425" y="2886075"/>
            <a:ext cx="124110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voor KleurFix de verkoopprijs en de totale winst. Laat zien dat niet produceren geen betere keuze voor deze week is.</a:t>
            </a:r>
          </a:p>
        </p:txBody>
      </p:sp>
      <p:sp>
        <p:nvSpPr>
          <p:cNvPr id="8" name="d. (2p)">
            <a:extLst xmlns:a="http://schemas.openxmlformats.org/drawingml/2006/main">
              <a:ext uri="{FF2B5EF4-FFF2-40B4-BE49-F238E27FC236}">
                <a16:creationId xmlns:a16="http://schemas.microsoft.com/office/drawing/2014/main" id="{461A4599-8C83-4FCE-8EE0-B320577D9CD9}"/>
              </a:ext>
            </a:extLst>
          </p:cNvPr>
          <p:cNvSpPr>
            <a:spLocks xmlns:a="http://schemas.openxmlformats.org/drawingml/2006/main" noGrp="1"/>
          </p:cNvSpPr>
          <p:nvPr/>
        </p:nvSpPr>
        <p:spPr>
          <a:xfrm xmlns:a="http://schemas.openxmlformats.org/drawingml/2006/main">
            <a:off x="571500" y="5295900"/>
            <a:ext cx="147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 (2p)</a:t>
            </a:r>
          </a:p>
        </p:txBody>
      </p:sp>
      <p:sp>
        <p:nvSpPr>
          <p:cNvPr id="9" name="Markeer in figuur 21 de gekozen q en P. Gebruik hulplijnen die du">
            <a:extLst xmlns:a="http://schemas.openxmlformats.org/drawingml/2006/main">
              <a:ext uri="{FF2B5EF4-FFF2-40B4-BE49-F238E27FC236}">
                <a16:creationId xmlns:a16="http://schemas.microsoft.com/office/drawing/2014/main" id="{22EA9CF5-992C-4A98-A074-9D1BFD1FCCF5}"/>
              </a:ext>
            </a:extLst>
          </p:cNvPr>
          <p:cNvSpPr>
            <a:spLocks xmlns:a="http://schemas.openxmlformats.org/drawingml/2006/main" noGrp="1"/>
          </p:cNvSpPr>
          <p:nvPr/>
        </p:nvSpPr>
        <p:spPr>
          <a:xfrm xmlns:a="http://schemas.openxmlformats.org/drawingml/2006/main">
            <a:off x="2257425" y="5295900"/>
            <a:ext cx="124110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Markeer in figuur 21 de gekozen q en P. Gebruik hulplijnen die duidelijk maken welke lijn je voor elk getal gebruikt.</a:t>
            </a:r>
          </a:p>
        </p:txBody>
      </p:sp>
    </p:spTree>
    <p:extLst>
      <p:ext uri="{BB962C8B-B14F-4D97-AF65-F5344CB8AC3E}">
        <p14:creationId xmlns:p14="http://schemas.microsoft.com/office/powerpoint/2010/main" val="15806829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45 · Vragen e en f">
            <a:extLst xmlns:a="http://schemas.openxmlformats.org/drawingml/2006/main">
              <a:ext uri="{FF2B5EF4-FFF2-40B4-BE49-F238E27FC236}">
                <a16:creationId xmlns:a16="http://schemas.microsoft.com/office/drawing/2014/main" id="{775714BB-1A39-4496-B950-D7CBC3FD1F82}"/>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45 · Vragen e en f</a:t>
            </a:r>
          </a:p>
        </p:txBody>
      </p:sp>
      <p:sp>
        <p:nvSpPr>
          <p:cNvPr id="2" name="">
            <a:extLst xmlns:a="http://schemas.openxmlformats.org/drawingml/2006/main">
              <a:ext uri="{FF2B5EF4-FFF2-40B4-BE49-F238E27FC236}">
                <a16:creationId xmlns:a16="http://schemas.microsoft.com/office/drawing/2014/main" id="{BF30DE1B-71D5-4C66-830D-D4E7CB8EDB1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 · Boekpagina 49">
            <a:extLst xmlns:a="http://schemas.openxmlformats.org/drawingml/2006/main">
              <a:ext uri="{FF2B5EF4-FFF2-40B4-BE49-F238E27FC236}">
                <a16:creationId xmlns:a16="http://schemas.microsoft.com/office/drawing/2014/main" id="{6DAADD5C-B3AA-40C4-BA23-5FBFF2B5FF8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 · Boekpagina 49</a:t>
            </a:r>
          </a:p>
        </p:txBody>
      </p:sp>
      <p:sp>
        <p:nvSpPr>
          <p:cNvPr id="4" name="14">
            <a:extLst xmlns:a="http://schemas.openxmlformats.org/drawingml/2006/main">
              <a:ext uri="{FF2B5EF4-FFF2-40B4-BE49-F238E27FC236}">
                <a16:creationId xmlns:a16="http://schemas.microsoft.com/office/drawing/2014/main" id="{CC8D70CF-D2A0-47C0-8649-833CDEC554C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Gebruik bronnen A, B en C en figuur 21 op pagina 48.">
            <a:extLst xmlns:a="http://schemas.openxmlformats.org/drawingml/2006/main">
              <a:ext uri="{FF2B5EF4-FFF2-40B4-BE49-F238E27FC236}">
                <a16:creationId xmlns:a16="http://schemas.microsoft.com/office/drawing/2014/main" id="{2D5BBD18-F898-4879-8E78-159114E8BB7A}"/>
              </a:ext>
            </a:extLst>
          </p:cNvPr>
          <p:cNvSpPr>
            <a:spLocks xmlns:a="http://schemas.openxmlformats.org/drawingml/2006/main" noGrp="1"/>
          </p:cNvSpPr>
          <p:nvPr/>
        </p:nvSpPr>
        <p:spPr>
          <a:xfrm xmlns:a="http://schemas.openxmlformats.org/drawingml/2006/main">
            <a:off x="571500" y="17335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Gebruik bronnen A, B en C en figuur 21 op pagina 48.</a:t>
            </a:r>
          </a:p>
        </p:txBody>
      </p:sp>
      <p:sp>
        <p:nvSpPr>
          <p:cNvPr id="6" name="e. (3p)">
            <a:extLst xmlns:a="http://schemas.openxmlformats.org/drawingml/2006/main">
              <a:ext uri="{FF2B5EF4-FFF2-40B4-BE49-F238E27FC236}">
                <a16:creationId xmlns:a16="http://schemas.microsoft.com/office/drawing/2014/main" id="{D154690F-AE30-4EFE-B4EA-30005A70F264}"/>
              </a:ext>
            </a:extLst>
          </p:cNvPr>
          <p:cNvSpPr>
            <a:spLocks xmlns:a="http://schemas.openxmlformats.org/drawingml/2006/main" noGrp="1"/>
          </p:cNvSpPr>
          <p:nvPr/>
        </p:nvSpPr>
        <p:spPr>
          <a:xfrm xmlns:a="http://schemas.openxmlformats.org/drawingml/2006/main">
            <a:off x="571500" y="2886075"/>
            <a:ext cx="147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 (3p)</a:t>
            </a:r>
          </a:p>
        </p:txBody>
      </p:sp>
      <p:sp>
        <p:nvSpPr>
          <p:cNvPr id="7" name="Bereken voor de prijsnemer uit bron C de winstmaximale haalbare q">
            <a:extLst xmlns:a="http://schemas.openxmlformats.org/drawingml/2006/main">
              <a:ext uri="{FF2B5EF4-FFF2-40B4-BE49-F238E27FC236}">
                <a16:creationId xmlns:a16="http://schemas.microsoft.com/office/drawing/2014/main" id="{92C92DFE-4342-46D8-971F-ADE868F801EA}"/>
              </a:ext>
            </a:extLst>
          </p:cNvPr>
          <p:cNvSpPr>
            <a:spLocks xmlns:a="http://schemas.openxmlformats.org/drawingml/2006/main" noGrp="1"/>
          </p:cNvSpPr>
          <p:nvPr/>
        </p:nvSpPr>
        <p:spPr>
          <a:xfrm xmlns:a="http://schemas.openxmlformats.org/drawingml/2006/main">
            <a:off x="2257425" y="2886075"/>
            <a:ext cx="124110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voor de prijsnemer uit bron C de winstmaximale haalbare q en de totale winst. Leg uit waar zijn verkoopprijs vandaan komt.</a:t>
            </a:r>
          </a:p>
        </p:txBody>
      </p:sp>
      <p:sp>
        <p:nvSpPr>
          <p:cNvPr id="8" name="f. (2p)">
            <a:extLst xmlns:a="http://schemas.openxmlformats.org/drawingml/2006/main">
              <a:ext uri="{FF2B5EF4-FFF2-40B4-BE49-F238E27FC236}">
                <a16:creationId xmlns:a16="http://schemas.microsoft.com/office/drawing/2014/main" id="{F211F9AB-73E9-4847-8291-D17533835CF5}"/>
              </a:ext>
            </a:extLst>
          </p:cNvPr>
          <p:cNvSpPr>
            <a:spLocks xmlns:a="http://schemas.openxmlformats.org/drawingml/2006/main" noGrp="1"/>
          </p:cNvSpPr>
          <p:nvPr/>
        </p:nvSpPr>
        <p:spPr>
          <a:xfrm xmlns:a="http://schemas.openxmlformats.org/drawingml/2006/main">
            <a:off x="571500" y="5295900"/>
            <a:ext cx="147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f. (2p)</a:t>
            </a:r>
          </a:p>
        </p:txBody>
      </p:sp>
      <p:sp>
        <p:nvSpPr>
          <p:cNvPr id="9" name="Een leerling zegt: “Bij beide ondernemingen gebruik ik MO = MK,&#10;d">
            <a:extLst xmlns:a="http://schemas.openxmlformats.org/drawingml/2006/main">
              <a:ext uri="{FF2B5EF4-FFF2-40B4-BE49-F238E27FC236}">
                <a16:creationId xmlns:a16="http://schemas.microsoft.com/office/drawing/2014/main" id="{72BA2DDB-812B-469A-96E4-857FEEF2B299}"/>
              </a:ext>
            </a:extLst>
          </p:cNvPr>
          <p:cNvSpPr>
            <a:spLocks xmlns:a="http://schemas.openxmlformats.org/drawingml/2006/main" noGrp="1"/>
          </p:cNvSpPr>
          <p:nvPr/>
        </p:nvSpPr>
        <p:spPr>
          <a:xfrm xmlns:a="http://schemas.openxmlformats.org/drawingml/2006/main">
            <a:off x="2257425" y="5295900"/>
            <a:ext cx="124110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Een leerling zegt: “Bij beide ondernemingen gebruik ik MO = MK,</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dus bij beide lees ik de prijs uit het snijpunt af.”</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Beoordeel. Gebruik beide berekende prijzen en het marginale bedrag van KleurFix.</a:t>
            </a:r>
          </a:p>
        </p:txBody>
      </p:sp>
    </p:spTree>
    <p:extLst>
      <p:ext uri="{BB962C8B-B14F-4D97-AF65-F5344CB8AC3E}">
        <p14:creationId xmlns:p14="http://schemas.microsoft.com/office/powerpoint/2010/main" val="13639542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45a · Het bewijs voor de toetredingsbarrière">
            <a:extLst xmlns:a="http://schemas.openxmlformats.org/drawingml/2006/main">
              <a:ext uri="{FF2B5EF4-FFF2-40B4-BE49-F238E27FC236}">
                <a16:creationId xmlns:a16="http://schemas.microsoft.com/office/drawing/2014/main" id="{A8E51E45-98A2-429D-9092-EA55FE9A3900}"/>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45a · Het bewijs voor de toetredingsbarrière</a:t>
            </a:r>
          </a:p>
        </p:txBody>
      </p:sp>
      <p:sp>
        <p:nvSpPr>
          <p:cNvPr id="2" name="">
            <a:extLst xmlns:a="http://schemas.openxmlformats.org/drawingml/2006/main">
              <a:ext uri="{FF2B5EF4-FFF2-40B4-BE49-F238E27FC236}">
                <a16:creationId xmlns:a16="http://schemas.microsoft.com/office/drawing/2014/main" id="{675C9652-44DC-4279-8640-279BAED97C5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a · Boekpagina’s 48–49">
            <a:extLst xmlns:a="http://schemas.openxmlformats.org/drawingml/2006/main">
              <a:ext uri="{FF2B5EF4-FFF2-40B4-BE49-F238E27FC236}">
                <a16:creationId xmlns:a16="http://schemas.microsoft.com/office/drawing/2014/main" id="{83368098-484B-4E35-8C67-D9E3A0FD557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45a · Boekpagina’s 48–49</a:t>
            </a:r>
          </a:p>
        </p:txBody>
      </p:sp>
      <p:sp>
        <p:nvSpPr>
          <p:cNvPr id="4" name="15">
            <a:extLst xmlns:a="http://schemas.openxmlformats.org/drawingml/2006/main">
              <a:ext uri="{FF2B5EF4-FFF2-40B4-BE49-F238E27FC236}">
                <a16:creationId xmlns:a16="http://schemas.microsoft.com/office/drawing/2014/main" id="{E63E7C44-D656-436F-8A93-CAC59F601B5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Beslissend brongegeven">
            <a:extLst xmlns:a="http://schemas.openxmlformats.org/drawingml/2006/main">
              <a:ext uri="{FF2B5EF4-FFF2-40B4-BE49-F238E27FC236}">
                <a16:creationId xmlns:a16="http://schemas.microsoft.com/office/drawing/2014/main" id="{1AAE6077-286C-415C-9677-A71D1CDF1F08}"/>
              </a:ext>
            </a:extLst>
          </p:cNvPr>
          <p:cNvSpPr>
            <a:spLocks xmlns:a="http://schemas.openxmlformats.org/drawingml/2006/main" noGrp="1"/>
          </p:cNvSpPr>
          <p:nvPr/>
        </p:nvSpPr>
        <p:spPr>
          <a:xfrm xmlns:a="http://schemas.openxmlformats.org/drawingml/2006/main">
            <a:off x="571500" y="228600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Beslissend brongegeven</a:t>
            </a:r>
          </a:p>
        </p:txBody>
      </p:sp>
      <p:sp>
        <p:nvSpPr>
          <p:cNvPr id="6" name="Exclusieve toegang tot&#10;een noodzakelijke grondstof">
            <a:extLst xmlns:a="http://schemas.openxmlformats.org/drawingml/2006/main">
              <a:ext uri="{FF2B5EF4-FFF2-40B4-BE49-F238E27FC236}">
                <a16:creationId xmlns:a16="http://schemas.microsoft.com/office/drawing/2014/main" id="{89FBDAE4-EDD2-4014-AFC5-F7A995CDCA7B}"/>
              </a:ext>
            </a:extLst>
          </p:cNvPr>
          <p:cNvSpPr>
            <a:spLocks xmlns:a="http://schemas.openxmlformats.org/drawingml/2006/main" noGrp="1"/>
          </p:cNvSpPr>
          <p:nvPr/>
        </p:nvSpPr>
        <p:spPr>
          <a:xfrm xmlns:a="http://schemas.openxmlformats.org/drawingml/2006/main">
            <a:off x="5381625" y="2286000"/>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Exclusieve toegang tot</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een noodzakelijke grondstof</a:t>
            </a:r>
          </a:p>
        </p:txBody>
      </p:sp>
      <p:sp>
        <p:nvSpPr>
          <p:cNvPr id="7" name="">
            <a:extLst xmlns:a="http://schemas.openxmlformats.org/drawingml/2006/main">
              <a:ext uri="{FF2B5EF4-FFF2-40B4-BE49-F238E27FC236}">
                <a16:creationId xmlns:a16="http://schemas.microsoft.com/office/drawing/2014/main" id="{D529413E-C44E-4ED0-89AE-5A71D57238F3}"/>
              </a:ext>
            </a:extLst>
          </p:cNvPr>
          <p:cNvSpPr>
            <a:spLocks xmlns:a="http://schemas.openxmlformats.org/drawingml/2006/main" noGrp="1"/>
          </p:cNvSpPr>
          <p:nvPr/>
        </p:nvSpPr>
        <p:spPr>
          <a:xfrm xmlns:a="http://schemas.openxmlformats.org/drawingml/2006/main">
            <a:off x="571500" y="3619500"/>
            <a:ext cx="14097000" cy="0"/>
          </a:xfrm>
          <a:prstGeom xmlns:a="http://schemas.openxmlformats.org/drawingml/2006/main" prst="line">
            <a:avLst/>
          </a:prstGeom>
          <a:ln xmlns:a="http://schemas.openxmlformats.org/drawingml/2006/main" w="19050">
            <a:solidFill>
              <a:srgbClr val="C6D2DB"/>
            </a:solidFill>
          </a:ln>
        </p:spPr>
      </p:sp>
      <p:sp>
        <p:nvSpPr>
          <p:cNvPr id="8" name="Economische uitleg">
            <a:extLst xmlns:a="http://schemas.openxmlformats.org/drawingml/2006/main">
              <a:ext uri="{FF2B5EF4-FFF2-40B4-BE49-F238E27FC236}">
                <a16:creationId xmlns:a16="http://schemas.microsoft.com/office/drawing/2014/main" id="{2E7FB357-BB67-4FD7-8350-8C23261F815A}"/>
              </a:ext>
            </a:extLst>
          </p:cNvPr>
          <p:cNvSpPr>
            <a:spLocks xmlns:a="http://schemas.openxmlformats.org/drawingml/2006/main" noGrp="1"/>
          </p:cNvSpPr>
          <p:nvPr/>
        </p:nvSpPr>
        <p:spPr>
          <a:xfrm xmlns:a="http://schemas.openxmlformats.org/drawingml/2006/main">
            <a:off x="571500" y="404812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Economische uitleg</a:t>
            </a:r>
          </a:p>
        </p:txBody>
      </p:sp>
      <p:sp>
        <p:nvSpPr>
          <p:cNvPr id="9" name="Andere bedrijven kunnen niet&#10;over die grondstof beschikken.">
            <a:extLst xmlns:a="http://schemas.openxmlformats.org/drawingml/2006/main">
              <a:ext uri="{FF2B5EF4-FFF2-40B4-BE49-F238E27FC236}">
                <a16:creationId xmlns:a16="http://schemas.microsoft.com/office/drawing/2014/main" id="{478C4B74-3758-4F98-8B4E-DEDA1B3CDE32}"/>
              </a:ext>
            </a:extLst>
          </p:cNvPr>
          <p:cNvSpPr>
            <a:spLocks xmlns:a="http://schemas.openxmlformats.org/drawingml/2006/main" noGrp="1"/>
          </p:cNvSpPr>
          <p:nvPr/>
        </p:nvSpPr>
        <p:spPr>
          <a:xfrm xmlns:a="http://schemas.openxmlformats.org/drawingml/2006/main">
            <a:off x="5381625" y="404812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Andere bedrijven kunnen niet</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over die grondstof beschikken.</a:t>
            </a:r>
          </a:p>
        </p:txBody>
      </p:sp>
      <p:sp>
        <p:nvSpPr>
          <p:cNvPr id="10" name="">
            <a:extLst xmlns:a="http://schemas.openxmlformats.org/drawingml/2006/main">
              <a:ext uri="{FF2B5EF4-FFF2-40B4-BE49-F238E27FC236}">
                <a16:creationId xmlns:a16="http://schemas.microsoft.com/office/drawing/2014/main" id="{DEEDDEC0-18E6-4C50-BA77-194C9A73C883}"/>
              </a:ext>
            </a:extLst>
          </p:cNvPr>
          <p:cNvSpPr>
            <a:spLocks xmlns:a="http://schemas.openxmlformats.org/drawingml/2006/main" noGrp="1"/>
          </p:cNvSpPr>
          <p:nvPr/>
        </p:nvSpPr>
        <p:spPr>
          <a:xfrm xmlns:a="http://schemas.openxmlformats.org/drawingml/2006/main">
            <a:off x="571500" y="5381625"/>
            <a:ext cx="14097000" cy="0"/>
          </a:xfrm>
          <a:prstGeom xmlns:a="http://schemas.openxmlformats.org/drawingml/2006/main" prst="line">
            <a:avLst/>
          </a:prstGeom>
          <a:ln xmlns:a="http://schemas.openxmlformats.org/drawingml/2006/main" w="19050">
            <a:solidFill>
              <a:srgbClr val="C6D2DB"/>
            </a:solidFill>
          </a:ln>
        </p:spPr>
      </p:sp>
      <p:sp>
        <p:nvSpPr>
          <p:cNvPr id="11" name="Niet nodig voor rekenen">
            <a:extLst xmlns:a="http://schemas.openxmlformats.org/drawingml/2006/main">
              <a:ext uri="{FF2B5EF4-FFF2-40B4-BE49-F238E27FC236}">
                <a16:creationId xmlns:a16="http://schemas.microsoft.com/office/drawing/2014/main" id="{08AF1BDA-1861-4F9E-AC70-0A0B3CCE93B4}"/>
              </a:ext>
            </a:extLst>
          </p:cNvPr>
          <p:cNvSpPr>
            <a:spLocks xmlns:a="http://schemas.openxmlformats.org/drawingml/2006/main" noGrp="1"/>
          </p:cNvSpPr>
          <p:nvPr/>
        </p:nvSpPr>
        <p:spPr>
          <a:xfrm xmlns:a="http://schemas.openxmlformats.org/drawingml/2006/main">
            <a:off x="571500" y="581025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Niet nodig voor rekenen</a:t>
            </a:r>
          </a:p>
        </p:txBody>
      </p:sp>
      <p:sp>
        <p:nvSpPr>
          <p:cNvPr id="12" name="Het gele logo">
            <a:extLst xmlns:a="http://schemas.openxmlformats.org/drawingml/2006/main">
              <a:ext uri="{FF2B5EF4-FFF2-40B4-BE49-F238E27FC236}">
                <a16:creationId xmlns:a16="http://schemas.microsoft.com/office/drawing/2014/main" id="{46CAB8A9-DB1A-4E93-819D-D93161E0118F}"/>
              </a:ext>
            </a:extLst>
          </p:cNvPr>
          <p:cNvSpPr>
            <a:spLocks xmlns:a="http://schemas.openxmlformats.org/drawingml/2006/main" noGrp="1"/>
          </p:cNvSpPr>
          <p:nvPr/>
        </p:nvSpPr>
        <p:spPr>
          <a:xfrm xmlns:a="http://schemas.openxmlformats.org/drawingml/2006/main">
            <a:off x="5381625" y="5810250"/>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Het gele logo</a:t>
            </a:r>
          </a:p>
        </p:txBody>
      </p:sp>
    </p:spTree>
    <p:extLst>
      <p:ext uri="{BB962C8B-B14F-4D97-AF65-F5344CB8AC3E}">
        <p14:creationId xmlns:p14="http://schemas.microsoft.com/office/powerpoint/2010/main" val="5585913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45b · TO, MO en MK opstellen">
            <a:extLst xmlns:a="http://schemas.openxmlformats.org/drawingml/2006/main">
              <a:ext uri="{FF2B5EF4-FFF2-40B4-BE49-F238E27FC236}">
                <a16:creationId xmlns:a16="http://schemas.microsoft.com/office/drawing/2014/main" id="{14540E3D-1E65-4D04-AC70-727A59578AC2}"/>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45b · TO, MO en MK opstellen</a:t>
            </a:r>
          </a:p>
        </p:txBody>
      </p:sp>
      <p:sp>
        <p:nvSpPr>
          <p:cNvPr id="2" name="">
            <a:extLst xmlns:a="http://schemas.openxmlformats.org/drawingml/2006/main">
              <a:ext uri="{FF2B5EF4-FFF2-40B4-BE49-F238E27FC236}">
                <a16:creationId xmlns:a16="http://schemas.microsoft.com/office/drawing/2014/main" id="{5FC913E7-875E-4C6D-881A-8BF4C3711A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b · Boekpagina’s 48–49">
            <a:extLst xmlns:a="http://schemas.openxmlformats.org/drawingml/2006/main">
              <a:ext uri="{FF2B5EF4-FFF2-40B4-BE49-F238E27FC236}">
                <a16:creationId xmlns:a16="http://schemas.microsoft.com/office/drawing/2014/main" id="{2EA0D170-8904-4AB2-818A-9CA05D8DF86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45b · Boekpagina’s 48–49</a:t>
            </a:r>
          </a:p>
        </p:txBody>
      </p:sp>
      <p:sp>
        <p:nvSpPr>
          <p:cNvPr id="4" name="16">
            <a:extLst xmlns:a="http://schemas.openxmlformats.org/drawingml/2006/main">
              <a:ext uri="{FF2B5EF4-FFF2-40B4-BE49-F238E27FC236}">
                <a16:creationId xmlns:a16="http://schemas.microsoft.com/office/drawing/2014/main" id="{0567E280-8E9A-47FA-9A7F-43670FF89E0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Totale opbrengst">
            <a:extLst xmlns:a="http://schemas.openxmlformats.org/drawingml/2006/main">
              <a:ext uri="{FF2B5EF4-FFF2-40B4-BE49-F238E27FC236}">
                <a16:creationId xmlns:a16="http://schemas.microsoft.com/office/drawing/2014/main" id="{3D68874B-0754-4CF1-A201-C1ABB69F65B7}"/>
              </a:ext>
            </a:extLst>
          </p:cNvPr>
          <p:cNvSpPr>
            <a:spLocks xmlns:a="http://schemas.openxmlformats.org/drawingml/2006/main" noGrp="1"/>
          </p:cNvSpPr>
          <p:nvPr/>
        </p:nvSpPr>
        <p:spPr>
          <a:xfrm xmlns:a="http://schemas.openxmlformats.org/drawingml/2006/main">
            <a:off x="571500" y="223837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Totale opbrengst</a:t>
            </a:r>
          </a:p>
        </p:txBody>
      </p:sp>
      <p:sp>
        <p:nvSpPr>
          <p:cNvPr id="6" name="TO = (32 − 0,20q) × q&#10;TO = 32q − 0,20q²">
            <a:extLst xmlns:a="http://schemas.openxmlformats.org/drawingml/2006/main">
              <a:ext uri="{FF2B5EF4-FFF2-40B4-BE49-F238E27FC236}">
                <a16:creationId xmlns:a16="http://schemas.microsoft.com/office/drawing/2014/main" id="{A8CEB540-A855-44E4-B815-7E0DCC29353B}"/>
              </a:ext>
            </a:extLst>
          </p:cNvPr>
          <p:cNvSpPr>
            <a:spLocks xmlns:a="http://schemas.openxmlformats.org/drawingml/2006/main" noGrp="1"/>
          </p:cNvSpPr>
          <p:nvPr/>
        </p:nvSpPr>
        <p:spPr>
          <a:xfrm xmlns:a="http://schemas.openxmlformats.org/drawingml/2006/main">
            <a:off x="5381625" y="223837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TO = (32 − 0,20q) × q</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TO = 32q − 0,20q²</a:t>
            </a:r>
          </a:p>
        </p:txBody>
      </p:sp>
      <p:sp>
        <p:nvSpPr>
          <p:cNvPr id="7" name="">
            <a:extLst xmlns:a="http://schemas.openxmlformats.org/drawingml/2006/main">
              <a:ext uri="{FF2B5EF4-FFF2-40B4-BE49-F238E27FC236}">
                <a16:creationId xmlns:a16="http://schemas.microsoft.com/office/drawing/2014/main" id="{E9A29477-F7FA-4626-BD43-C7DA7FBCED09}"/>
              </a:ext>
            </a:extLst>
          </p:cNvPr>
          <p:cNvSpPr>
            <a:spLocks xmlns:a="http://schemas.openxmlformats.org/drawingml/2006/main" noGrp="1"/>
          </p:cNvSpPr>
          <p:nvPr/>
        </p:nvSpPr>
        <p:spPr>
          <a:xfrm xmlns:a="http://schemas.openxmlformats.org/drawingml/2006/main">
            <a:off x="571500" y="3571875"/>
            <a:ext cx="14097000" cy="0"/>
          </a:xfrm>
          <a:prstGeom xmlns:a="http://schemas.openxmlformats.org/drawingml/2006/main" prst="line">
            <a:avLst/>
          </a:prstGeom>
          <a:ln xmlns:a="http://schemas.openxmlformats.org/drawingml/2006/main" w="19050">
            <a:solidFill>
              <a:srgbClr val="C6D2DB"/>
            </a:solidFill>
          </a:ln>
        </p:spPr>
      </p:sp>
      <p:sp>
        <p:nvSpPr>
          <p:cNvPr id="8" name="Marginale opbrengst">
            <a:extLst xmlns:a="http://schemas.openxmlformats.org/drawingml/2006/main">
              <a:ext uri="{FF2B5EF4-FFF2-40B4-BE49-F238E27FC236}">
                <a16:creationId xmlns:a16="http://schemas.microsoft.com/office/drawing/2014/main" id="{D64F6161-8029-42ED-AE6C-1A18CDA5E830}"/>
              </a:ext>
            </a:extLst>
          </p:cNvPr>
          <p:cNvSpPr>
            <a:spLocks xmlns:a="http://schemas.openxmlformats.org/drawingml/2006/main" noGrp="1"/>
          </p:cNvSpPr>
          <p:nvPr/>
        </p:nvSpPr>
        <p:spPr>
          <a:xfrm xmlns:a="http://schemas.openxmlformats.org/drawingml/2006/main">
            <a:off x="571500" y="400050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Marginale opbrengst</a:t>
            </a:r>
          </a:p>
        </p:txBody>
      </p:sp>
      <p:sp>
        <p:nvSpPr>
          <p:cNvPr id="9" name="MO = 32 − 0,40q">
            <a:extLst xmlns:a="http://schemas.openxmlformats.org/drawingml/2006/main">
              <a:ext uri="{FF2B5EF4-FFF2-40B4-BE49-F238E27FC236}">
                <a16:creationId xmlns:a16="http://schemas.microsoft.com/office/drawing/2014/main" id="{8890CC99-3ECE-44D6-A7E2-23DE862099E2}"/>
              </a:ext>
            </a:extLst>
          </p:cNvPr>
          <p:cNvSpPr>
            <a:spLocks xmlns:a="http://schemas.openxmlformats.org/drawingml/2006/main" noGrp="1"/>
          </p:cNvSpPr>
          <p:nvPr/>
        </p:nvSpPr>
        <p:spPr>
          <a:xfrm xmlns:a="http://schemas.openxmlformats.org/drawingml/2006/main">
            <a:off x="5381625" y="4000500"/>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MO = 32 − 0,40q</a:t>
            </a:r>
          </a:p>
        </p:txBody>
      </p:sp>
      <p:sp>
        <p:nvSpPr>
          <p:cNvPr id="10" name="">
            <a:extLst xmlns:a="http://schemas.openxmlformats.org/drawingml/2006/main">
              <a:ext uri="{FF2B5EF4-FFF2-40B4-BE49-F238E27FC236}">
                <a16:creationId xmlns:a16="http://schemas.microsoft.com/office/drawing/2014/main" id="{60AF20B6-B877-42B3-A1D3-C4032D1E8700}"/>
              </a:ext>
            </a:extLst>
          </p:cNvPr>
          <p:cNvSpPr>
            <a:spLocks xmlns:a="http://schemas.openxmlformats.org/drawingml/2006/main" noGrp="1"/>
          </p:cNvSpPr>
          <p:nvPr/>
        </p:nvSpPr>
        <p:spPr>
          <a:xfrm xmlns:a="http://schemas.openxmlformats.org/drawingml/2006/main">
            <a:off x="571500" y="5334000"/>
            <a:ext cx="14097000" cy="0"/>
          </a:xfrm>
          <a:prstGeom xmlns:a="http://schemas.openxmlformats.org/drawingml/2006/main" prst="line">
            <a:avLst/>
          </a:prstGeom>
          <a:ln xmlns:a="http://schemas.openxmlformats.org/drawingml/2006/main" w="19050">
            <a:solidFill>
              <a:srgbClr val="C6D2DB"/>
            </a:solidFill>
          </a:ln>
        </p:spPr>
      </p:sp>
      <p:sp>
        <p:nvSpPr>
          <p:cNvPr id="11" name="Marginale kosten">
            <a:extLst xmlns:a="http://schemas.openxmlformats.org/drawingml/2006/main">
              <a:ext uri="{FF2B5EF4-FFF2-40B4-BE49-F238E27FC236}">
                <a16:creationId xmlns:a16="http://schemas.microsoft.com/office/drawing/2014/main" id="{10C764A9-EEB0-401B-A4FF-E770F2DEE415}"/>
              </a:ext>
            </a:extLst>
          </p:cNvPr>
          <p:cNvSpPr>
            <a:spLocks xmlns:a="http://schemas.openxmlformats.org/drawingml/2006/main" noGrp="1"/>
          </p:cNvSpPr>
          <p:nvPr/>
        </p:nvSpPr>
        <p:spPr>
          <a:xfrm xmlns:a="http://schemas.openxmlformats.org/drawingml/2006/main">
            <a:off x="571500" y="576262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Marginale kosten</a:t>
            </a:r>
          </a:p>
        </p:txBody>
      </p:sp>
      <p:sp>
        <p:nvSpPr>
          <p:cNvPr id="12" name="TK = 0,10q² + 8q + 120&#10;MK = 0,20q + 8">
            <a:extLst xmlns:a="http://schemas.openxmlformats.org/drawingml/2006/main">
              <a:ext uri="{FF2B5EF4-FFF2-40B4-BE49-F238E27FC236}">
                <a16:creationId xmlns:a16="http://schemas.microsoft.com/office/drawing/2014/main" id="{90DE9E07-10DA-4A56-AB57-FE484F24A733}"/>
              </a:ext>
            </a:extLst>
          </p:cNvPr>
          <p:cNvSpPr>
            <a:spLocks xmlns:a="http://schemas.openxmlformats.org/drawingml/2006/main" noGrp="1"/>
          </p:cNvSpPr>
          <p:nvPr/>
        </p:nvSpPr>
        <p:spPr>
          <a:xfrm xmlns:a="http://schemas.openxmlformats.org/drawingml/2006/main">
            <a:off x="5381625" y="576262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TK = 0,10q² + 8q + 120</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MK = 0,20q + 8</a:t>
            </a:r>
          </a:p>
        </p:txBody>
      </p:sp>
    </p:spTree>
    <p:extLst>
      <p:ext uri="{BB962C8B-B14F-4D97-AF65-F5344CB8AC3E}">
        <p14:creationId xmlns:p14="http://schemas.microsoft.com/office/powerpoint/2010/main" val="6917374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5b · De hoeveelheid en de controles">
            <a:extLst xmlns:a="http://schemas.openxmlformats.org/drawingml/2006/main">
              <a:ext uri="{FF2B5EF4-FFF2-40B4-BE49-F238E27FC236}">
                <a16:creationId xmlns:a16="http://schemas.microsoft.com/office/drawing/2014/main" id="{544E5EF8-86C4-4453-9D87-584833F64F48}"/>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45b · De hoeveelheid en de controles</a:t>
            </a:r>
          </a:p>
        </p:txBody>
      </p:sp>
      <p:sp>
        <p:nvSpPr>
          <p:cNvPr id="2" name="">
            <a:extLst xmlns:a="http://schemas.openxmlformats.org/drawingml/2006/main">
              <a:ext uri="{FF2B5EF4-FFF2-40B4-BE49-F238E27FC236}">
                <a16:creationId xmlns:a16="http://schemas.microsoft.com/office/drawing/2014/main" id="{A48AF836-8A6E-43D0-8B0E-6373F07246F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b · Boekpagina’s 48–49">
            <a:extLst xmlns:a="http://schemas.openxmlformats.org/drawingml/2006/main">
              <a:ext uri="{FF2B5EF4-FFF2-40B4-BE49-F238E27FC236}">
                <a16:creationId xmlns:a16="http://schemas.microsoft.com/office/drawing/2014/main" id="{1103DFED-8FB8-4BEB-A3B5-1F6F83F1BB9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45b · Boekpagina’s 48–49</a:t>
            </a:r>
          </a:p>
        </p:txBody>
      </p:sp>
      <p:sp>
        <p:nvSpPr>
          <p:cNvPr id="4" name="17">
            <a:extLst xmlns:a="http://schemas.openxmlformats.org/drawingml/2006/main">
              <a:ext uri="{FF2B5EF4-FFF2-40B4-BE49-F238E27FC236}">
                <a16:creationId xmlns:a16="http://schemas.microsoft.com/office/drawing/2014/main" id="{B69E9704-4D89-4AC0-BBB1-ED6E3A92764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32 − 0,40q = 0,20q + 8&#10;24 = 0,60q&#10;q = 40 kg per week">
            <a:extLst xmlns:a="http://schemas.openxmlformats.org/drawingml/2006/main">
              <a:ext uri="{FF2B5EF4-FFF2-40B4-BE49-F238E27FC236}">
                <a16:creationId xmlns:a16="http://schemas.microsoft.com/office/drawing/2014/main" id="{06CD342D-C55A-4F09-893E-968F3FDC99DD}"/>
              </a:ext>
            </a:extLst>
          </p:cNvPr>
          <p:cNvSpPr>
            <a:spLocks xmlns:a="http://schemas.openxmlformats.org/drawingml/2006/main" noGrp="1"/>
          </p:cNvSpPr>
          <p:nvPr/>
        </p:nvSpPr>
        <p:spPr>
          <a:xfrm xmlns:a="http://schemas.openxmlformats.org/drawingml/2006/main">
            <a:off x="571500" y="2009775"/>
            <a:ext cx="140970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32 − 0,40q = 0,20q + 8</a:t>
            </a:r>
          </a:p>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24 = 0,60q</a:t>
            </a:r>
          </a:p>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q = 40 kg per week</a:t>
            </a:r>
          </a:p>
        </p:txBody>
      </p:sp>
      <p:graphicFrame>
        <p:nvGraphicFramePr>
          <p:cNvPr id="13" name=""/>
          <p:cNvGraphicFramePr/>
          <p:nvPr/>
        </p:nvGraphicFramePr>
        <p:xfrm>
          <a:off xmlns:a="http://schemas.openxmlformats.org/drawingml/2006/main" x="571500" y="4848225"/>
          <a:ext xmlns:a="http://schemas.openxmlformats.org/drawingml/2006/main" cx="14097000" cy="1905000"/>
        </p:xfrm>
        <a:graphic xmlns:a="http://schemas.openxmlformats.org/drawingml/2006/main">
          <a:graphicData uri="http://schemas.openxmlformats.org/drawingml/2006/table">
            <a:tbl>
              <a:tblPr/>
              <a:tblGrid>
                <a:gridCol w="4695825"/>
                <a:gridCol w="4705350"/>
                <a:gridCol w="4695825"/>
              </a:tblGrid>
              <a:tr h="952500">
                <a:tc>
                  <a:txBody>
                    <a:bodyPr lIns="171450" tIns="95250" rIns="152400" bIns="95250"/>
                    <a:lstStyle/>
                    <a:p>
                      <a:r>
                        <a:rPr sz="2550" b="1">
                          <a:solidFill>
                            <a:srgbClr val="FFFFFF"/>
                          </a:solidFill>
                          <a:latin typeface="Arial"/>
                          <a:ea typeface="Arial"/>
                          <a:cs typeface="Arial"/>
                        </a:rPr>
                        <a:t>Vóór 40 kg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Bij 40 kg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Na 40 kg</a:t>
                      </a:r>
                    </a:p>
                  </a:txBody>
                  <a:tcPr marL="91440" marR="91440" marT="45720" marB="45720" anchor="ctr">
                    <a:solidFill>
                      <a:srgbClr val="183247"/>
                    </a:solidFill>
                  </a:tcPr>
                </a:tc>
              </a:tr>
              <a:tr h="952500">
                <a:tc>
                  <a:txBody>
                    <a:bodyPr lIns="171450" tIns="95250" rIns="152400" bIns="95250"/>
                    <a:lstStyle/>
                    <a:p>
                      <a:r>
                        <a:rPr sz="2550" b="0">
                          <a:solidFill>
                            <a:srgbClr val="183247"/>
                          </a:solidFill>
                          <a:latin typeface="Arial"/>
                          <a:ea typeface="Arial"/>
                          <a:cs typeface="Arial"/>
                        </a:rPr>
                        <a:t>MO &gt; MK</a:t>
                      </a:r>
                    </a:p>
                    <a:p>
                      <a:r>
                        <a:rPr sz="2550" b="0">
                          <a:solidFill>
                            <a:srgbClr val="183247"/>
                          </a:solidFill>
                          <a:latin typeface="Arial"/>
                          <a:ea typeface="Arial"/>
                          <a:cs typeface="Arial"/>
                        </a:rPr>
                        <a:t>Winst stijgt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MO = MK</a:t>
                      </a:r>
                    </a:p>
                    <a:p>
                      <a:r>
                        <a:rPr sz="2550" b="0">
                          <a:solidFill>
                            <a:srgbClr val="183247"/>
                          </a:solidFill>
                          <a:latin typeface="Arial"/>
                          <a:ea typeface="Arial"/>
                          <a:cs typeface="Arial"/>
                        </a:rPr>
                        <a:t>Omslagpunt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MO &lt; MK</a:t>
                      </a:r>
                    </a:p>
                    <a:p>
                      <a:r>
                        <a:rPr sz="2550" b="0">
                          <a:solidFill>
                            <a:srgbClr val="183247"/>
                          </a:solidFill>
                          <a:latin typeface="Arial"/>
                          <a:ea typeface="Arial"/>
                          <a:cs typeface="Arial"/>
                        </a:rPr>
                        <a:t>Winst daalt</a:t>
                      </a:r>
                    </a:p>
                  </a:txBody>
                  <a:tcPr marL="91440" marR="91440" marT="45720" marB="45720" anchor="ctr">
                    <a:solidFill>
                      <a:srgbClr val="FFFFFF"/>
                    </a:solidFill>
                  </a:tcPr>
                </a:tc>
              </a:tr>
            </a:tbl>
          </a:graphicData>
        </a:graphic>
      </p:graphicFrame>
      <p:sp>
        <p:nvSpPr>
          <p:cNvPr id="7" name="40 ≤ 60: de gekozen afzet past binnen de productiecapaciteit.">
            <a:extLst xmlns:a="http://schemas.openxmlformats.org/drawingml/2006/main">
              <a:ext uri="{FF2B5EF4-FFF2-40B4-BE49-F238E27FC236}">
                <a16:creationId xmlns:a16="http://schemas.microsoft.com/office/drawing/2014/main" id="{2711FA68-EE59-4DC5-938C-893AC2E5A613}"/>
              </a:ext>
            </a:extLst>
          </p:cNvPr>
          <p:cNvSpPr>
            <a:spLocks xmlns:a="http://schemas.openxmlformats.org/drawingml/2006/main" noGrp="1"/>
          </p:cNvSpPr>
          <p:nvPr/>
        </p:nvSpPr>
        <p:spPr>
          <a:xfrm xmlns:a="http://schemas.openxmlformats.org/drawingml/2006/main">
            <a:off x="571500" y="73437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40 ≤ 60: de gekozen afzet past binnen de productiecapaciteit.</a:t>
            </a:r>
          </a:p>
        </p:txBody>
      </p:sp>
    </p:spTree>
    <p:extLst>
      <p:ext uri="{BB962C8B-B14F-4D97-AF65-F5344CB8AC3E}">
        <p14:creationId xmlns:p14="http://schemas.microsoft.com/office/powerpoint/2010/main" val="3962213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45c · Verkoopprijs, opbrengst en kosten">
            <a:extLst xmlns:a="http://schemas.openxmlformats.org/drawingml/2006/main">
              <a:ext uri="{FF2B5EF4-FFF2-40B4-BE49-F238E27FC236}">
                <a16:creationId xmlns:a16="http://schemas.microsoft.com/office/drawing/2014/main" id="{11C36C51-D569-463E-95D5-075EA77DD10E}"/>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45c · Verkoopprijs, opbrengst en kosten</a:t>
            </a:r>
          </a:p>
        </p:txBody>
      </p:sp>
      <p:sp>
        <p:nvSpPr>
          <p:cNvPr id="2" name="">
            <a:extLst xmlns:a="http://schemas.openxmlformats.org/drawingml/2006/main">
              <a:ext uri="{FF2B5EF4-FFF2-40B4-BE49-F238E27FC236}">
                <a16:creationId xmlns:a16="http://schemas.microsoft.com/office/drawing/2014/main" id="{8E7B24F2-B0CD-4A56-A391-F17E8F4AF8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c · Boekpagina’s 48–49">
            <a:extLst xmlns:a="http://schemas.openxmlformats.org/drawingml/2006/main">
              <a:ext uri="{FF2B5EF4-FFF2-40B4-BE49-F238E27FC236}">
                <a16:creationId xmlns:a16="http://schemas.microsoft.com/office/drawing/2014/main" id="{A8931641-099A-40BE-9468-F974194ED89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45c · Boekpagina’s 48–49</a:t>
            </a:r>
          </a:p>
        </p:txBody>
      </p:sp>
      <p:sp>
        <p:nvSpPr>
          <p:cNvPr id="4" name="18">
            <a:extLst xmlns:a="http://schemas.openxmlformats.org/drawingml/2006/main">
              <a:ext uri="{FF2B5EF4-FFF2-40B4-BE49-F238E27FC236}">
                <a16:creationId xmlns:a16="http://schemas.microsoft.com/office/drawing/2014/main" id="{45032F17-1B22-442B-B049-101B8DDFE41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Verkoopprijs op GO">
            <a:extLst xmlns:a="http://schemas.openxmlformats.org/drawingml/2006/main">
              <a:ext uri="{FF2B5EF4-FFF2-40B4-BE49-F238E27FC236}">
                <a16:creationId xmlns:a16="http://schemas.microsoft.com/office/drawing/2014/main" id="{ACDC671E-9348-421C-A5D8-03B4E0A910E7}"/>
              </a:ext>
            </a:extLst>
          </p:cNvPr>
          <p:cNvSpPr>
            <a:spLocks xmlns:a="http://schemas.openxmlformats.org/drawingml/2006/main" noGrp="1"/>
          </p:cNvSpPr>
          <p:nvPr/>
        </p:nvSpPr>
        <p:spPr>
          <a:xfrm xmlns:a="http://schemas.openxmlformats.org/drawingml/2006/main">
            <a:off x="571500" y="215265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Verkoopprijs op GO</a:t>
            </a:r>
          </a:p>
        </p:txBody>
      </p:sp>
      <p:sp>
        <p:nvSpPr>
          <p:cNvPr id="6" name="P = 32 − 0,20 × 40&#10;P = € 24 per kg">
            <a:extLst xmlns:a="http://schemas.openxmlformats.org/drawingml/2006/main">
              <a:ext uri="{FF2B5EF4-FFF2-40B4-BE49-F238E27FC236}">
                <a16:creationId xmlns:a16="http://schemas.microsoft.com/office/drawing/2014/main" id="{739B3FE1-E73D-4840-9A60-01D53C63CF09}"/>
              </a:ext>
            </a:extLst>
          </p:cNvPr>
          <p:cNvSpPr>
            <a:spLocks xmlns:a="http://schemas.openxmlformats.org/drawingml/2006/main" noGrp="1"/>
          </p:cNvSpPr>
          <p:nvPr/>
        </p:nvSpPr>
        <p:spPr>
          <a:xfrm xmlns:a="http://schemas.openxmlformats.org/drawingml/2006/main">
            <a:off x="5381625" y="2152650"/>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 = 32 − 0,20 × 40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 = € 24 per kg</a:t>
            </a:r>
          </a:p>
        </p:txBody>
      </p:sp>
      <p:sp>
        <p:nvSpPr>
          <p:cNvPr id="7" name="">
            <a:extLst xmlns:a="http://schemas.openxmlformats.org/drawingml/2006/main">
              <a:ext uri="{FF2B5EF4-FFF2-40B4-BE49-F238E27FC236}">
                <a16:creationId xmlns:a16="http://schemas.microsoft.com/office/drawing/2014/main" id="{3B15BC04-2365-446E-806C-2CFF30D11D44}"/>
              </a:ext>
            </a:extLst>
          </p:cNvPr>
          <p:cNvSpPr>
            <a:spLocks xmlns:a="http://schemas.openxmlformats.org/drawingml/2006/main" noGrp="1"/>
          </p:cNvSpPr>
          <p:nvPr/>
        </p:nvSpPr>
        <p:spPr>
          <a:xfrm xmlns:a="http://schemas.openxmlformats.org/drawingml/2006/main">
            <a:off x="571500" y="3486150"/>
            <a:ext cx="14097000" cy="0"/>
          </a:xfrm>
          <a:prstGeom xmlns:a="http://schemas.openxmlformats.org/drawingml/2006/main" prst="line">
            <a:avLst/>
          </a:prstGeom>
          <a:ln xmlns:a="http://schemas.openxmlformats.org/drawingml/2006/main" w="19050">
            <a:solidFill>
              <a:srgbClr val="C6D2DB"/>
            </a:solidFill>
          </a:ln>
        </p:spPr>
      </p:sp>
      <p:sp>
        <p:nvSpPr>
          <p:cNvPr id="8" name="Totale opbrengst">
            <a:extLst xmlns:a="http://schemas.openxmlformats.org/drawingml/2006/main">
              <a:ext uri="{FF2B5EF4-FFF2-40B4-BE49-F238E27FC236}">
                <a16:creationId xmlns:a16="http://schemas.microsoft.com/office/drawing/2014/main" id="{3389DC21-B0E9-413D-B59D-87ADC42977E4}"/>
              </a:ext>
            </a:extLst>
          </p:cNvPr>
          <p:cNvSpPr>
            <a:spLocks xmlns:a="http://schemas.openxmlformats.org/drawingml/2006/main" noGrp="1"/>
          </p:cNvSpPr>
          <p:nvPr/>
        </p:nvSpPr>
        <p:spPr>
          <a:xfrm xmlns:a="http://schemas.openxmlformats.org/drawingml/2006/main">
            <a:off x="571500" y="399097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Totale opbrengst</a:t>
            </a:r>
          </a:p>
        </p:txBody>
      </p:sp>
      <p:sp>
        <p:nvSpPr>
          <p:cNvPr id="9" name="TO = 24 × 40&#10;TO = € 960 per week">
            <a:extLst xmlns:a="http://schemas.openxmlformats.org/drawingml/2006/main">
              <a:ext uri="{FF2B5EF4-FFF2-40B4-BE49-F238E27FC236}">
                <a16:creationId xmlns:a16="http://schemas.microsoft.com/office/drawing/2014/main" id="{4B7B3C42-C2E1-4CC2-8055-87AFADB6427F}"/>
              </a:ext>
            </a:extLst>
          </p:cNvPr>
          <p:cNvSpPr>
            <a:spLocks xmlns:a="http://schemas.openxmlformats.org/drawingml/2006/main" noGrp="1"/>
          </p:cNvSpPr>
          <p:nvPr/>
        </p:nvSpPr>
        <p:spPr>
          <a:xfrm xmlns:a="http://schemas.openxmlformats.org/drawingml/2006/main">
            <a:off x="5381625" y="399097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TO = 24 × 40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TO = € 960 per week</a:t>
            </a:r>
          </a:p>
        </p:txBody>
      </p:sp>
      <p:sp>
        <p:nvSpPr>
          <p:cNvPr id="10" name="">
            <a:extLst xmlns:a="http://schemas.openxmlformats.org/drawingml/2006/main">
              <a:ext uri="{FF2B5EF4-FFF2-40B4-BE49-F238E27FC236}">
                <a16:creationId xmlns:a16="http://schemas.microsoft.com/office/drawing/2014/main" id="{59085CF5-758D-4D11-AEFC-F146E775D8CC}"/>
              </a:ext>
            </a:extLst>
          </p:cNvPr>
          <p:cNvSpPr>
            <a:spLocks xmlns:a="http://schemas.openxmlformats.org/drawingml/2006/main" noGrp="1"/>
          </p:cNvSpPr>
          <p:nvPr/>
        </p:nvSpPr>
        <p:spPr>
          <a:xfrm xmlns:a="http://schemas.openxmlformats.org/drawingml/2006/main">
            <a:off x="571500" y="5324475"/>
            <a:ext cx="14097000" cy="0"/>
          </a:xfrm>
          <a:prstGeom xmlns:a="http://schemas.openxmlformats.org/drawingml/2006/main" prst="line">
            <a:avLst/>
          </a:prstGeom>
          <a:ln xmlns:a="http://schemas.openxmlformats.org/drawingml/2006/main" w="19050">
            <a:solidFill>
              <a:srgbClr val="C6D2DB"/>
            </a:solidFill>
          </a:ln>
        </p:spPr>
      </p:sp>
      <p:sp>
        <p:nvSpPr>
          <p:cNvPr id="11" name="Totale kosten">
            <a:extLst xmlns:a="http://schemas.openxmlformats.org/drawingml/2006/main">
              <a:ext uri="{FF2B5EF4-FFF2-40B4-BE49-F238E27FC236}">
                <a16:creationId xmlns:a16="http://schemas.microsoft.com/office/drawing/2014/main" id="{E5989F4A-9701-4A2A-BA75-5F9951D949AD}"/>
              </a:ext>
            </a:extLst>
          </p:cNvPr>
          <p:cNvSpPr>
            <a:spLocks xmlns:a="http://schemas.openxmlformats.org/drawingml/2006/main" noGrp="1"/>
          </p:cNvSpPr>
          <p:nvPr/>
        </p:nvSpPr>
        <p:spPr>
          <a:xfrm xmlns:a="http://schemas.openxmlformats.org/drawingml/2006/main">
            <a:off x="571500" y="582930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Totale kosten</a:t>
            </a:r>
          </a:p>
        </p:txBody>
      </p:sp>
      <p:sp>
        <p:nvSpPr>
          <p:cNvPr id="12" name="TK = 0,10 × 40² + 8 × 40 + 120&#10;TK = 160 + 320 + 120 = € 600 per w">
            <a:extLst xmlns:a="http://schemas.openxmlformats.org/drawingml/2006/main">
              <a:ext uri="{FF2B5EF4-FFF2-40B4-BE49-F238E27FC236}">
                <a16:creationId xmlns:a16="http://schemas.microsoft.com/office/drawing/2014/main" id="{CF8BA397-A0DB-4479-8909-CAF08280C9CD}"/>
              </a:ext>
            </a:extLst>
          </p:cNvPr>
          <p:cNvSpPr>
            <a:spLocks xmlns:a="http://schemas.openxmlformats.org/drawingml/2006/main" noGrp="1"/>
          </p:cNvSpPr>
          <p:nvPr/>
        </p:nvSpPr>
        <p:spPr>
          <a:xfrm xmlns:a="http://schemas.openxmlformats.org/drawingml/2006/main">
            <a:off x="5381625" y="5829300"/>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TK = 0,10 × 40² + 8 × 40 + 120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TK = 160 + 320 + 120 = € 600 per week</a:t>
            </a:r>
          </a:p>
        </p:txBody>
      </p:sp>
    </p:spTree>
    <p:extLst>
      <p:ext uri="{BB962C8B-B14F-4D97-AF65-F5344CB8AC3E}">
        <p14:creationId xmlns:p14="http://schemas.microsoft.com/office/powerpoint/2010/main" val="17446394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5c · Produceren of niet produceren?">
            <a:extLst xmlns:a="http://schemas.openxmlformats.org/drawingml/2006/main">
              <a:ext uri="{FF2B5EF4-FFF2-40B4-BE49-F238E27FC236}">
                <a16:creationId xmlns:a16="http://schemas.microsoft.com/office/drawing/2014/main" id="{AA5C7A43-9B4C-4FA4-A6B2-F47A3C62DBCA}"/>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45c · Produceren of niet produceren?</a:t>
            </a:r>
          </a:p>
        </p:txBody>
      </p:sp>
      <p:sp>
        <p:nvSpPr>
          <p:cNvPr id="2" name="">
            <a:extLst xmlns:a="http://schemas.openxmlformats.org/drawingml/2006/main">
              <a:ext uri="{FF2B5EF4-FFF2-40B4-BE49-F238E27FC236}">
                <a16:creationId xmlns:a16="http://schemas.microsoft.com/office/drawing/2014/main" id="{D5348A0F-CAF7-4E85-BC04-48ECC40FDD8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c · Boekpagina’s 48–49">
            <a:extLst xmlns:a="http://schemas.openxmlformats.org/drawingml/2006/main">
              <a:ext uri="{FF2B5EF4-FFF2-40B4-BE49-F238E27FC236}">
                <a16:creationId xmlns:a16="http://schemas.microsoft.com/office/drawing/2014/main" id="{6D2D7E74-5221-4C8C-A1A2-B38AEF28192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45c · Boekpagina’s 48–49</a:t>
            </a:r>
          </a:p>
        </p:txBody>
      </p:sp>
      <p:sp>
        <p:nvSpPr>
          <p:cNvPr id="4" name="19">
            <a:extLst xmlns:a="http://schemas.openxmlformats.org/drawingml/2006/main">
              <a:ext uri="{FF2B5EF4-FFF2-40B4-BE49-F238E27FC236}">
                <a16:creationId xmlns:a16="http://schemas.microsoft.com/office/drawing/2014/main" id="{65048C8D-77CF-43F1-B4BF-BC163F6BE57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2" name=""/>
          <p:cNvGraphicFramePr/>
          <p:nvPr/>
        </p:nvGraphicFramePr>
        <p:xfrm>
          <a:off xmlns:a="http://schemas.openxmlformats.org/drawingml/2006/main" x="571500" y="2495550"/>
          <a:ext xmlns:a="http://schemas.openxmlformats.org/drawingml/2006/main" cx="14097000" cy="3105150"/>
        </p:xfrm>
        <a:graphic xmlns:a="http://schemas.openxmlformats.org/drawingml/2006/main">
          <a:graphicData uri="http://schemas.openxmlformats.org/drawingml/2006/table">
            <a:tbl>
              <a:tblPr/>
              <a:tblGrid>
                <a:gridCol w="5238750"/>
                <a:gridCol w="2952750"/>
                <a:gridCol w="2952750"/>
                <a:gridCol w="2952750"/>
              </a:tblGrid>
              <a:tr h="1035050">
                <a:tc>
                  <a:txBody>
                    <a:bodyPr lIns="171450" tIns="95250" rIns="152400" bIns="95250"/>
                    <a:lstStyle/>
                    <a:p>
                      <a:r>
                        <a:rPr sz="2700" b="1">
                          <a:solidFill>
                            <a:srgbClr val="FFFFFF"/>
                          </a:solidFill>
                          <a:latin typeface="Arial"/>
                          <a:ea typeface="Arial"/>
                          <a:cs typeface="Arial"/>
                        </a:rPr>
                        <a:t>Weekplan</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TO</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TK</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Winst</a:t>
                      </a:r>
                    </a:p>
                  </a:txBody>
                  <a:tcPr marL="91440" marR="91440" marT="45720" marB="45720" anchor="ctr">
                    <a:solidFill>
                      <a:srgbClr val="183247"/>
                    </a:solidFill>
                  </a:tcPr>
                </a:tc>
              </a:tr>
              <a:tr h="1035050">
                <a:tc>
                  <a:txBody>
                    <a:bodyPr lIns="171450" tIns="95250" rIns="152400" bIns="95250"/>
                    <a:lstStyle/>
                    <a:p>
                      <a:r>
                        <a:rPr sz="2700" b="0">
                          <a:solidFill>
                            <a:srgbClr val="183247"/>
                          </a:solidFill>
                          <a:latin typeface="Arial"/>
                          <a:ea typeface="Arial"/>
                          <a:cs typeface="Arial"/>
                        </a:rPr>
                        <a:t>40 kg produceren</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€ 960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€ 600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€ 360</a:t>
                      </a:r>
                    </a:p>
                  </a:txBody>
                  <a:tcPr marL="91440" marR="91440" marT="45720" marB="45720" anchor="ctr">
                    <a:solidFill>
                      <a:srgbClr val="FFFFFF"/>
                    </a:solidFill>
                  </a:tcPr>
                </a:tc>
              </a:tr>
              <a:tr h="1035050">
                <a:tc>
                  <a:txBody>
                    <a:bodyPr lIns="171450" tIns="95250" rIns="152400" bIns="95250"/>
                    <a:lstStyle/>
                    <a:p>
                      <a:r>
                        <a:rPr sz="2700" b="0">
                          <a:solidFill>
                            <a:srgbClr val="183247"/>
                          </a:solidFill>
                          <a:latin typeface="Arial"/>
                          <a:ea typeface="Arial"/>
                          <a:cs typeface="Arial"/>
                        </a:rPr>
                        <a:t>0 kg produceren</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€ 120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−€ 120</a:t>
                      </a:r>
                    </a:p>
                  </a:txBody>
                  <a:tcPr marL="91440" marR="91440" marT="45720" marB="45720" anchor="ctr">
                    <a:solidFill>
                      <a:srgbClr val="EFF4F7"/>
                    </a:solidFill>
                  </a:tcPr>
                </a:tc>
              </a:tr>
            </a:tbl>
          </a:graphicData>
        </a:graphic>
      </p:graphicFrame>
      <p:sp>
        <p:nvSpPr>
          <p:cNvPr id="6" name="€ 360 per week is beter dan −€ 120 per week.">
            <a:extLst xmlns:a="http://schemas.openxmlformats.org/drawingml/2006/main">
              <a:ext uri="{FF2B5EF4-FFF2-40B4-BE49-F238E27FC236}">
                <a16:creationId xmlns:a16="http://schemas.microsoft.com/office/drawing/2014/main" id="{E0CB3DAF-9AFE-4FC6-A2A3-951548846891}"/>
              </a:ext>
            </a:extLst>
          </p:cNvPr>
          <p:cNvSpPr>
            <a:spLocks xmlns:a="http://schemas.openxmlformats.org/drawingml/2006/main" noGrp="1"/>
          </p:cNvSpPr>
          <p:nvPr/>
        </p:nvSpPr>
        <p:spPr>
          <a:xfrm xmlns:a="http://schemas.openxmlformats.org/drawingml/2006/main">
            <a:off x="571500" y="635317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€ 360 per week is beter dan −€ 120 per week.</a:t>
            </a:r>
          </a:p>
        </p:txBody>
      </p:sp>
      <p:sp>
        <p:nvSpPr>
          <p:cNvPr id="7" name="De onvermijdbare € 120 blijft in beide plannen bestaan.">
            <a:extLst xmlns:a="http://schemas.openxmlformats.org/drawingml/2006/main">
              <a:ext uri="{FF2B5EF4-FFF2-40B4-BE49-F238E27FC236}">
                <a16:creationId xmlns:a16="http://schemas.microsoft.com/office/drawing/2014/main" id="{19E8E7DB-FEC2-4692-883A-45A19409ED9D}"/>
              </a:ext>
            </a:extLst>
          </p:cNvPr>
          <p:cNvSpPr>
            <a:spLocks xmlns:a="http://schemas.openxmlformats.org/drawingml/2006/main" noGrp="1"/>
          </p:cNvSpPr>
          <p:nvPr/>
        </p:nvSpPr>
        <p:spPr>
          <a:xfrm xmlns:a="http://schemas.openxmlformats.org/drawingml/2006/main">
            <a:off x="571500" y="742950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De onvermijdbare € 120 blijft in beide plannen bestaan.</a:t>
            </a:r>
          </a:p>
        </p:txBody>
      </p:sp>
    </p:spTree>
    <p:extLst>
      <p:ext uri="{BB962C8B-B14F-4D97-AF65-F5344CB8AC3E}">
        <p14:creationId xmlns:p14="http://schemas.microsoft.com/office/powerpoint/2010/main" val="17579843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45d · De hoeveelheid onder MO = MK">
            <a:extLst xmlns:a="http://schemas.openxmlformats.org/drawingml/2006/main">
              <a:ext uri="{FF2B5EF4-FFF2-40B4-BE49-F238E27FC236}">
                <a16:creationId xmlns:a16="http://schemas.microsoft.com/office/drawing/2014/main" id="{720FE83A-1D12-4F54-A646-891D59069CC1}"/>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45d · De hoeveelheid onder MO = MK</a:t>
            </a:r>
          </a:p>
        </p:txBody>
      </p:sp>
      <p:sp>
        <p:nvSpPr>
          <p:cNvPr id="2" name="">
            <a:extLst xmlns:a="http://schemas.openxmlformats.org/drawingml/2006/main">
              <a:ext uri="{FF2B5EF4-FFF2-40B4-BE49-F238E27FC236}">
                <a16:creationId xmlns:a16="http://schemas.microsoft.com/office/drawing/2014/main" id="{8EAF9484-85F7-41F5-8C4D-63AEE557C8B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d · Boekpagina’s 48–49">
            <a:extLst xmlns:a="http://schemas.openxmlformats.org/drawingml/2006/main">
              <a:ext uri="{FF2B5EF4-FFF2-40B4-BE49-F238E27FC236}">
                <a16:creationId xmlns:a16="http://schemas.microsoft.com/office/drawing/2014/main" id="{5633283A-B2CC-413F-AD58-2763F22D3F4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45d · Boekpagina’s 48–49</a:t>
            </a:r>
          </a:p>
        </p:txBody>
      </p:sp>
      <p:sp>
        <p:nvSpPr>
          <p:cNvPr id="4" name="20">
            <a:extLst xmlns:a="http://schemas.openxmlformats.org/drawingml/2006/main">
              <a:ext uri="{FF2B5EF4-FFF2-40B4-BE49-F238E27FC236}">
                <a16:creationId xmlns:a16="http://schemas.microsoft.com/office/drawing/2014/main" id="{4DAD358F-C109-4F37-9A5D-21CC8641C3A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6" name="Chart"/>
          <p:cNvGraphicFramePr/>
          <p:nvPr/>
        </p:nvGraphicFramePr>
        <p:xfrm>
          <a:off xmlns:a="http://schemas.openxmlformats.org/drawingml/2006/main" x="571500" y="2133600"/>
          <a:ext xmlns:a="http://schemas.openxmlformats.org/drawingml/2006/main" cx="10477500" cy="5562600"/>
        </p:xfrm>
        <a:graphic xmlns:a="http://schemas.openxmlformats.org/drawingml/2006/main">
          <a:graphicData uri="http://schemas.openxmlformats.org/drawingml/2006/chart">
            <c:chart xmlns:r="http://schemas.openxmlformats.org/officeDocument/2006/relationships" xmlns:c="http://schemas.openxmlformats.org/drawingml/2006/chart" r:id="R9cb041fd2f6940df"/>
          </a:graphicData>
        </a:graphic>
      </p:graphicFrame>
      <p:sp>
        <p:nvSpPr>
          <p:cNvPr id="6" name="GO = P">
            <a:extLst xmlns:a="http://schemas.openxmlformats.org/drawingml/2006/main">
              <a:ext uri="{FF2B5EF4-FFF2-40B4-BE49-F238E27FC236}">
                <a16:creationId xmlns:a16="http://schemas.microsoft.com/office/drawing/2014/main" id="{BDBC0044-5C8D-4167-B7AB-3E3253F3D6AB}"/>
              </a:ext>
            </a:extLst>
          </p:cNvPr>
          <p:cNvSpPr>
            <a:spLocks xmlns:a="http://schemas.openxmlformats.org/drawingml/2006/main" noGrp="1"/>
          </p:cNvSpPr>
          <p:nvPr/>
        </p:nvSpPr>
        <p:spPr>
          <a:xfrm xmlns:a="http://schemas.openxmlformats.org/drawingml/2006/main">
            <a:off x="9163050" y="44005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GO = P</a:t>
            </a:r>
          </a:p>
        </p:txBody>
      </p:sp>
      <p:sp>
        <p:nvSpPr>
          <p:cNvPr id="7" name="MK">
            <a:extLst xmlns:a="http://schemas.openxmlformats.org/drawingml/2006/main">
              <a:ext uri="{FF2B5EF4-FFF2-40B4-BE49-F238E27FC236}">
                <a16:creationId xmlns:a16="http://schemas.microsoft.com/office/drawing/2014/main" id="{7B6F46A3-4BFB-4C0D-B186-7BD2DEF9A62D}"/>
              </a:ext>
            </a:extLst>
          </p:cNvPr>
          <p:cNvSpPr>
            <a:spLocks xmlns:a="http://schemas.openxmlformats.org/drawingml/2006/main" noGrp="1"/>
          </p:cNvSpPr>
          <p:nvPr/>
        </p:nvSpPr>
        <p:spPr>
          <a:xfrm xmlns:a="http://schemas.openxmlformats.org/drawingml/2006/main">
            <a:off x="9448800" y="3209925"/>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D16"/>
                </a:solidFill>
                <a:latin typeface="Arial"/>
                <a:ea typeface="Arial"/>
                <a:cs typeface="Arial"/>
              </a:defRPr>
            </a:pPr>
            <a:r>
              <a:rPr sz="2100" b="1">
                <a:solidFill>
                  <a:srgbClr val="A94D16"/>
                </a:solidFill>
                <a:latin typeface="Arial"/>
                <a:ea typeface="Arial"/>
                <a:cs typeface="Arial"/>
              </a:rPr>
              <a:t>MK</a:t>
            </a:r>
          </a:p>
        </p:txBody>
      </p:sp>
      <p:sp>
        <p:nvSpPr>
          <p:cNvPr id="8" name="MO">
            <a:extLst xmlns:a="http://schemas.openxmlformats.org/drawingml/2006/main">
              <a:ext uri="{FF2B5EF4-FFF2-40B4-BE49-F238E27FC236}">
                <a16:creationId xmlns:a16="http://schemas.microsoft.com/office/drawing/2014/main" id="{03FC43AC-9E1E-4283-9026-7F8433A7DF82}"/>
              </a:ext>
            </a:extLst>
          </p:cNvPr>
          <p:cNvSpPr>
            <a:spLocks xmlns:a="http://schemas.openxmlformats.org/drawingml/2006/main" noGrp="1"/>
          </p:cNvSpPr>
          <p:nvPr/>
        </p:nvSpPr>
        <p:spPr>
          <a:xfrm xmlns:a="http://schemas.openxmlformats.org/drawingml/2006/main">
            <a:off x="8724900" y="6219825"/>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7B2D8E"/>
                </a:solidFill>
                <a:latin typeface="Arial"/>
                <a:ea typeface="Arial"/>
                <a:cs typeface="Arial"/>
              </a:defRPr>
            </a:pPr>
            <a:r>
              <a:rPr sz="2100" b="1">
                <a:solidFill>
                  <a:srgbClr val="7B2D8E"/>
                </a:solidFill>
                <a:latin typeface="Arial"/>
                <a:ea typeface="Arial"/>
                <a:cs typeface="Arial"/>
              </a:rPr>
              <a:t>MO</a:t>
            </a:r>
          </a:p>
        </p:txBody>
      </p:sp>
      <p:sp>
        <p:nvSpPr>
          <p:cNvPr id="9" name="MO = MK">
            <a:extLst xmlns:a="http://schemas.openxmlformats.org/drawingml/2006/main">
              <a:ext uri="{FF2B5EF4-FFF2-40B4-BE49-F238E27FC236}">
                <a16:creationId xmlns:a16="http://schemas.microsoft.com/office/drawing/2014/main" id="{8FF30377-4B61-43B6-874A-79BEB162402E}"/>
              </a:ext>
            </a:extLst>
          </p:cNvPr>
          <p:cNvSpPr>
            <a:spLocks xmlns:a="http://schemas.openxmlformats.org/drawingml/2006/main" noGrp="1"/>
          </p:cNvSpPr>
          <p:nvPr/>
        </p:nvSpPr>
        <p:spPr>
          <a:xfrm xmlns:a="http://schemas.openxmlformats.org/drawingml/2006/main">
            <a:off x="11334750" y="25431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7B2D8E"/>
                </a:solidFill>
                <a:latin typeface="Arial"/>
                <a:ea typeface="Arial"/>
                <a:cs typeface="Arial"/>
              </a:defRPr>
            </a:pPr>
            <a:r>
              <a:rPr sz="3150" b="1">
                <a:solidFill>
                  <a:srgbClr val="7B2D8E"/>
                </a:solidFill>
                <a:latin typeface="Arial"/>
                <a:ea typeface="Arial"/>
                <a:cs typeface="Arial"/>
              </a:rPr>
              <a:t>MO = MK</a:t>
            </a:r>
          </a:p>
        </p:txBody>
      </p:sp>
      <p:sp>
        <p:nvSpPr>
          <p:cNvPr id="10" name="q = 40 kg&#10;per week">
            <a:extLst xmlns:a="http://schemas.openxmlformats.org/drawingml/2006/main">
              <a:ext uri="{FF2B5EF4-FFF2-40B4-BE49-F238E27FC236}">
                <a16:creationId xmlns:a16="http://schemas.microsoft.com/office/drawing/2014/main" id="{4EA317B1-06A5-4B45-B874-675838BC14A2}"/>
              </a:ext>
            </a:extLst>
          </p:cNvPr>
          <p:cNvSpPr>
            <a:spLocks xmlns:a="http://schemas.openxmlformats.org/drawingml/2006/main" noGrp="1"/>
          </p:cNvSpPr>
          <p:nvPr/>
        </p:nvSpPr>
        <p:spPr>
          <a:xfrm xmlns:a="http://schemas.openxmlformats.org/drawingml/2006/main">
            <a:off x="11334750" y="364807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q = 40 kg</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per week</a:t>
            </a:r>
          </a:p>
        </p:txBody>
      </p:sp>
      <p:sp>
        <p:nvSpPr>
          <p:cNvPr id="11" name="Snijpuntbedrag:&#10;€ 16 per kg">
            <a:extLst xmlns:a="http://schemas.openxmlformats.org/drawingml/2006/main">
              <a:ext uri="{FF2B5EF4-FFF2-40B4-BE49-F238E27FC236}">
                <a16:creationId xmlns:a16="http://schemas.microsoft.com/office/drawing/2014/main" id="{AE37D55E-B530-4CD2-97A2-9C863FB13E7B}"/>
              </a:ext>
            </a:extLst>
          </p:cNvPr>
          <p:cNvSpPr>
            <a:spLocks xmlns:a="http://schemas.openxmlformats.org/drawingml/2006/main" noGrp="1"/>
          </p:cNvSpPr>
          <p:nvPr/>
        </p:nvSpPr>
        <p:spPr>
          <a:xfrm xmlns:a="http://schemas.openxmlformats.org/drawingml/2006/main">
            <a:off x="11334750" y="56864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Snijpuntbedrag:</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€ 16 per kg</a:t>
            </a:r>
          </a:p>
        </p:txBody>
      </p:sp>
    </p:spTree>
    <p:extLst>
      <p:ext uri="{BB962C8B-B14F-4D97-AF65-F5344CB8AC3E}">
        <p14:creationId xmlns:p14="http://schemas.microsoft.com/office/powerpoint/2010/main" val="18592114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45d · De prijs staat op GO">
            <a:extLst xmlns:a="http://schemas.openxmlformats.org/drawingml/2006/main">
              <a:ext uri="{FF2B5EF4-FFF2-40B4-BE49-F238E27FC236}">
                <a16:creationId xmlns:a16="http://schemas.microsoft.com/office/drawing/2014/main" id="{BCEACD2A-94EC-43D0-82C1-6E279B503C9A}"/>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45d · De prijs staat op GO</a:t>
            </a:r>
          </a:p>
        </p:txBody>
      </p:sp>
      <p:sp>
        <p:nvSpPr>
          <p:cNvPr id="2" name="">
            <a:extLst xmlns:a="http://schemas.openxmlformats.org/drawingml/2006/main">
              <a:ext uri="{FF2B5EF4-FFF2-40B4-BE49-F238E27FC236}">
                <a16:creationId xmlns:a16="http://schemas.microsoft.com/office/drawing/2014/main" id="{A9FC6587-E923-458D-90B3-B66697A3E9B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d · Boekpagina’s 48–49">
            <a:extLst xmlns:a="http://schemas.openxmlformats.org/drawingml/2006/main">
              <a:ext uri="{FF2B5EF4-FFF2-40B4-BE49-F238E27FC236}">
                <a16:creationId xmlns:a16="http://schemas.microsoft.com/office/drawing/2014/main" id="{A594E989-056E-47D4-8186-1CF47290086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45d · Boekpagina’s 48–49</a:t>
            </a:r>
          </a:p>
        </p:txBody>
      </p:sp>
      <p:sp>
        <p:nvSpPr>
          <p:cNvPr id="4" name="21">
            <a:extLst xmlns:a="http://schemas.openxmlformats.org/drawingml/2006/main">
              <a:ext uri="{FF2B5EF4-FFF2-40B4-BE49-F238E27FC236}">
                <a16:creationId xmlns:a16="http://schemas.microsoft.com/office/drawing/2014/main" id="{410A0BB9-049D-4FC1-80B8-69D5136A87A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6" name="Chart"/>
          <p:cNvGraphicFramePr/>
          <p:nvPr/>
        </p:nvGraphicFramePr>
        <p:xfrm>
          <a:off xmlns:a="http://schemas.openxmlformats.org/drawingml/2006/main" x="571500" y="2133600"/>
          <a:ext xmlns:a="http://schemas.openxmlformats.org/drawingml/2006/main" cx="10477500" cy="5562600"/>
        </p:xfrm>
        <a:graphic xmlns:a="http://schemas.openxmlformats.org/drawingml/2006/main">
          <a:graphicData uri="http://schemas.openxmlformats.org/drawingml/2006/chart">
            <c:chart xmlns:r="http://schemas.openxmlformats.org/officeDocument/2006/relationships" xmlns:c="http://schemas.openxmlformats.org/drawingml/2006/chart" r:id="R27d02906784d49e5"/>
          </a:graphicData>
        </a:graphic>
      </p:graphicFrame>
      <p:sp>
        <p:nvSpPr>
          <p:cNvPr id="6" name="GO = P">
            <a:extLst xmlns:a="http://schemas.openxmlformats.org/drawingml/2006/main">
              <a:ext uri="{FF2B5EF4-FFF2-40B4-BE49-F238E27FC236}">
                <a16:creationId xmlns:a16="http://schemas.microsoft.com/office/drawing/2014/main" id="{396F9059-7C26-477E-A9E4-1048826054D2}"/>
              </a:ext>
            </a:extLst>
          </p:cNvPr>
          <p:cNvSpPr>
            <a:spLocks xmlns:a="http://schemas.openxmlformats.org/drawingml/2006/main" noGrp="1"/>
          </p:cNvSpPr>
          <p:nvPr/>
        </p:nvSpPr>
        <p:spPr>
          <a:xfrm xmlns:a="http://schemas.openxmlformats.org/drawingml/2006/main">
            <a:off x="9163050" y="44005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GO = P</a:t>
            </a:r>
          </a:p>
        </p:txBody>
      </p:sp>
      <p:sp>
        <p:nvSpPr>
          <p:cNvPr id="7" name="MK">
            <a:extLst xmlns:a="http://schemas.openxmlformats.org/drawingml/2006/main">
              <a:ext uri="{FF2B5EF4-FFF2-40B4-BE49-F238E27FC236}">
                <a16:creationId xmlns:a16="http://schemas.microsoft.com/office/drawing/2014/main" id="{8BA93A62-8400-4818-BF28-EC0289F0B3EA}"/>
              </a:ext>
            </a:extLst>
          </p:cNvPr>
          <p:cNvSpPr>
            <a:spLocks xmlns:a="http://schemas.openxmlformats.org/drawingml/2006/main" noGrp="1"/>
          </p:cNvSpPr>
          <p:nvPr/>
        </p:nvSpPr>
        <p:spPr>
          <a:xfrm xmlns:a="http://schemas.openxmlformats.org/drawingml/2006/main">
            <a:off x="9448800" y="3209925"/>
            <a:ext cx="76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4D16"/>
                </a:solidFill>
                <a:latin typeface="Arial"/>
                <a:ea typeface="Arial"/>
                <a:cs typeface="Arial"/>
              </a:defRPr>
            </a:pPr>
            <a:r>
              <a:rPr sz="2100" b="1">
                <a:solidFill>
                  <a:srgbClr val="A94D16"/>
                </a:solidFill>
                <a:latin typeface="Arial"/>
                <a:ea typeface="Arial"/>
                <a:cs typeface="Arial"/>
              </a:rPr>
              <a:t>MK</a:t>
            </a:r>
          </a:p>
        </p:txBody>
      </p:sp>
      <p:sp>
        <p:nvSpPr>
          <p:cNvPr id="8" name="MO">
            <a:extLst xmlns:a="http://schemas.openxmlformats.org/drawingml/2006/main">
              <a:ext uri="{FF2B5EF4-FFF2-40B4-BE49-F238E27FC236}">
                <a16:creationId xmlns:a16="http://schemas.microsoft.com/office/drawing/2014/main" id="{98076D76-BF84-4242-940F-C55B749CC5F4}"/>
              </a:ext>
            </a:extLst>
          </p:cNvPr>
          <p:cNvSpPr>
            <a:spLocks xmlns:a="http://schemas.openxmlformats.org/drawingml/2006/main" noGrp="1"/>
          </p:cNvSpPr>
          <p:nvPr/>
        </p:nvSpPr>
        <p:spPr>
          <a:xfrm xmlns:a="http://schemas.openxmlformats.org/drawingml/2006/main">
            <a:off x="8724900" y="6219825"/>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7B2D8E"/>
                </a:solidFill>
                <a:latin typeface="Arial"/>
                <a:ea typeface="Arial"/>
                <a:cs typeface="Arial"/>
              </a:defRPr>
            </a:pPr>
            <a:r>
              <a:rPr sz="2100" b="1">
                <a:solidFill>
                  <a:srgbClr val="7B2D8E"/>
                </a:solidFill>
                <a:latin typeface="Arial"/>
                <a:ea typeface="Arial"/>
                <a:cs typeface="Arial"/>
              </a:rPr>
              <a:t>MO</a:t>
            </a:r>
          </a:p>
        </p:txBody>
      </p:sp>
      <p:sp>
        <p:nvSpPr>
          <p:cNvPr id="9" name="Dezelfde q = 40">
            <a:extLst xmlns:a="http://schemas.openxmlformats.org/drawingml/2006/main">
              <a:ext uri="{FF2B5EF4-FFF2-40B4-BE49-F238E27FC236}">
                <a16:creationId xmlns:a16="http://schemas.microsoft.com/office/drawing/2014/main" id="{32D7F583-1F62-44DE-89D6-D29B8A421AD5}"/>
              </a:ext>
            </a:extLst>
          </p:cNvPr>
          <p:cNvSpPr>
            <a:spLocks xmlns:a="http://schemas.openxmlformats.org/drawingml/2006/main" noGrp="1"/>
          </p:cNvSpPr>
          <p:nvPr/>
        </p:nvSpPr>
        <p:spPr>
          <a:xfrm xmlns:a="http://schemas.openxmlformats.org/drawingml/2006/main">
            <a:off x="11334750" y="25146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Dezelfde q = 40</a:t>
            </a:r>
          </a:p>
        </p:txBody>
      </p:sp>
      <p:sp>
        <p:nvSpPr>
          <p:cNvPr id="10" name="Prijs op GO:&#10;€ 24 per kg">
            <a:extLst xmlns:a="http://schemas.openxmlformats.org/drawingml/2006/main">
              <a:ext uri="{FF2B5EF4-FFF2-40B4-BE49-F238E27FC236}">
                <a16:creationId xmlns:a16="http://schemas.microsoft.com/office/drawing/2014/main" id="{EFCEEE73-5677-4E74-B5FC-4796EF236F96}"/>
              </a:ext>
            </a:extLst>
          </p:cNvPr>
          <p:cNvSpPr>
            <a:spLocks xmlns:a="http://schemas.openxmlformats.org/drawingml/2006/main" noGrp="1"/>
          </p:cNvSpPr>
          <p:nvPr/>
        </p:nvSpPr>
        <p:spPr>
          <a:xfrm xmlns:a="http://schemas.openxmlformats.org/drawingml/2006/main">
            <a:off x="11334750" y="4057650"/>
            <a:ext cx="333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Prijs op GO:</a:t>
            </a:r>
          </a:p>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€ 24 per kg</a:t>
            </a:r>
          </a:p>
        </p:txBody>
      </p:sp>
      <p:sp>
        <p:nvSpPr>
          <p:cNvPr id="11" name="MO = MK:&#10;€ 16 per kg">
            <a:extLst xmlns:a="http://schemas.openxmlformats.org/drawingml/2006/main">
              <a:ext uri="{FF2B5EF4-FFF2-40B4-BE49-F238E27FC236}">
                <a16:creationId xmlns:a16="http://schemas.microsoft.com/office/drawing/2014/main" id="{934B606D-14B7-4FCE-99CF-6B4278C02740}"/>
              </a:ext>
            </a:extLst>
          </p:cNvPr>
          <p:cNvSpPr>
            <a:spLocks xmlns:a="http://schemas.openxmlformats.org/drawingml/2006/main" noGrp="1"/>
          </p:cNvSpPr>
          <p:nvPr/>
        </p:nvSpPr>
        <p:spPr>
          <a:xfrm xmlns:a="http://schemas.openxmlformats.org/drawingml/2006/main">
            <a:off x="11334750" y="621982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7B2D8E"/>
                </a:solidFill>
                <a:latin typeface="Arial"/>
                <a:ea typeface="Arial"/>
                <a:cs typeface="Arial"/>
              </a:defRPr>
            </a:pPr>
            <a:r>
              <a:rPr sz="2475" b="0">
                <a:solidFill>
                  <a:srgbClr val="7B2D8E"/>
                </a:solidFill>
                <a:latin typeface="Arial"/>
                <a:ea typeface="Arial"/>
                <a:cs typeface="Arial"/>
              </a:rPr>
              <a:t>MO = MK:</a:t>
            </a:r>
          </a:p>
          <a:p xmlns:a="http://schemas.openxmlformats.org/drawingml/2006/main">
            <a:pPr algn="l">
              <a:defRPr sz="2475" b="0">
                <a:solidFill>
                  <a:srgbClr val="7B2D8E"/>
                </a:solidFill>
                <a:latin typeface="Arial"/>
                <a:ea typeface="Arial"/>
                <a:cs typeface="Arial"/>
              </a:defRPr>
            </a:pPr>
            <a:r>
              <a:rPr sz="2475" b="0">
                <a:solidFill>
                  <a:srgbClr val="7B2D8E"/>
                </a:solidFill>
                <a:latin typeface="Arial"/>
                <a:ea typeface="Arial"/>
                <a:cs typeface="Arial"/>
              </a:rPr>
              <a:t>€ 16 per kg</a:t>
            </a:r>
          </a:p>
        </p:txBody>
      </p:sp>
    </p:spTree>
    <p:extLst>
      <p:ext uri="{BB962C8B-B14F-4D97-AF65-F5344CB8AC3E}">
        <p14:creationId xmlns:p14="http://schemas.microsoft.com/office/powerpoint/2010/main" val="80994366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45e · De prijsnemer kiest zijn hoeveelheid">
            <a:extLst xmlns:a="http://schemas.openxmlformats.org/drawingml/2006/main">
              <a:ext uri="{FF2B5EF4-FFF2-40B4-BE49-F238E27FC236}">
                <a16:creationId xmlns:a16="http://schemas.microsoft.com/office/drawing/2014/main" id="{7ADE9622-534F-4B07-A040-4A68DEAD2761}"/>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45e · De prijsnemer kiest zijn hoeveelheid</a:t>
            </a:r>
          </a:p>
        </p:txBody>
      </p:sp>
      <p:sp>
        <p:nvSpPr>
          <p:cNvPr id="2" name="">
            <a:extLst xmlns:a="http://schemas.openxmlformats.org/drawingml/2006/main">
              <a:ext uri="{FF2B5EF4-FFF2-40B4-BE49-F238E27FC236}">
                <a16:creationId xmlns:a16="http://schemas.microsoft.com/office/drawing/2014/main" id="{4EFE1AC7-015B-499D-A663-CDB2C7BE9D5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e · Boekpagina’s 48–49">
            <a:extLst xmlns:a="http://schemas.openxmlformats.org/drawingml/2006/main">
              <a:ext uri="{FF2B5EF4-FFF2-40B4-BE49-F238E27FC236}">
                <a16:creationId xmlns:a16="http://schemas.microsoft.com/office/drawing/2014/main" id="{ADB04C5D-0D46-421D-815A-301C81B3047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45e · Boekpagina’s 48–49</a:t>
            </a:r>
          </a:p>
        </p:txBody>
      </p:sp>
      <p:sp>
        <p:nvSpPr>
          <p:cNvPr id="4" name="22">
            <a:extLst xmlns:a="http://schemas.openxmlformats.org/drawingml/2006/main">
              <a:ext uri="{FF2B5EF4-FFF2-40B4-BE49-F238E27FC236}">
                <a16:creationId xmlns:a16="http://schemas.microsoft.com/office/drawing/2014/main" id="{9C89F76A-7D99-44F6-8161-FE54D8BE9FD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P = GO = MO = € 18 per kg">
            <a:extLst xmlns:a="http://schemas.openxmlformats.org/drawingml/2006/main">
              <a:ext uri="{FF2B5EF4-FFF2-40B4-BE49-F238E27FC236}">
                <a16:creationId xmlns:a16="http://schemas.microsoft.com/office/drawing/2014/main" id="{134D23DB-CA29-4BB7-A31C-3FF4FF696EBB}"/>
              </a:ext>
            </a:extLst>
          </p:cNvPr>
          <p:cNvSpPr>
            <a:spLocks xmlns:a="http://schemas.openxmlformats.org/drawingml/2006/main" noGrp="1"/>
          </p:cNvSpPr>
          <p:nvPr/>
        </p:nvSpPr>
        <p:spPr>
          <a:xfrm xmlns:a="http://schemas.openxmlformats.org/drawingml/2006/main">
            <a:off x="571500" y="20669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P = GO = MO = € 18 per kg</a:t>
            </a:r>
          </a:p>
        </p:txBody>
      </p:sp>
      <p:sp>
        <p:nvSpPr>
          <p:cNvPr id="6" name="18 = 0,20q + 8&#10;10 = 0,20q&#10;q = 50 kg per week">
            <a:extLst xmlns:a="http://schemas.openxmlformats.org/drawingml/2006/main">
              <a:ext uri="{FF2B5EF4-FFF2-40B4-BE49-F238E27FC236}">
                <a16:creationId xmlns:a16="http://schemas.microsoft.com/office/drawing/2014/main" id="{A2548E3D-8EDA-45C9-9403-91A45A451871}"/>
              </a:ext>
            </a:extLst>
          </p:cNvPr>
          <p:cNvSpPr>
            <a:spLocks xmlns:a="http://schemas.openxmlformats.org/drawingml/2006/main" noGrp="1"/>
          </p:cNvSpPr>
          <p:nvPr/>
        </p:nvSpPr>
        <p:spPr>
          <a:xfrm xmlns:a="http://schemas.openxmlformats.org/drawingml/2006/main">
            <a:off x="571500" y="3419475"/>
            <a:ext cx="140970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18 = 0,20q + 8</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10 = 0,20q</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 = 50 kg per week</a:t>
            </a:r>
          </a:p>
        </p:txBody>
      </p:sp>
      <p:sp>
        <p:nvSpPr>
          <p:cNvPr id="7" name="MK stijgt door MO: vóór 50 stijgt de winst, erna daalt zij.">
            <a:extLst xmlns:a="http://schemas.openxmlformats.org/drawingml/2006/main">
              <a:ext uri="{FF2B5EF4-FFF2-40B4-BE49-F238E27FC236}">
                <a16:creationId xmlns:a16="http://schemas.microsoft.com/office/drawing/2014/main" id="{6A38EF7D-EF4E-4586-96D6-421271CFAFF3}"/>
              </a:ext>
            </a:extLst>
          </p:cNvPr>
          <p:cNvSpPr>
            <a:spLocks xmlns:a="http://schemas.openxmlformats.org/drawingml/2006/main" noGrp="1"/>
          </p:cNvSpPr>
          <p:nvPr/>
        </p:nvSpPr>
        <p:spPr>
          <a:xfrm xmlns:a="http://schemas.openxmlformats.org/drawingml/2006/main">
            <a:off x="571500" y="63436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MK stijgt door MO: vóór 50 stijgt de winst, erna daalt zij.</a:t>
            </a:r>
          </a:p>
        </p:txBody>
      </p:sp>
      <p:sp>
        <p:nvSpPr>
          <p:cNvPr id="8" name="50 ≤ 60: de hoeveelheid is haalbaar.">
            <a:extLst xmlns:a="http://schemas.openxmlformats.org/drawingml/2006/main">
              <a:ext uri="{FF2B5EF4-FFF2-40B4-BE49-F238E27FC236}">
                <a16:creationId xmlns:a16="http://schemas.microsoft.com/office/drawing/2014/main" id="{42D5007E-9C96-441E-8D36-3DFBEA425DBC}"/>
              </a:ext>
            </a:extLst>
          </p:cNvPr>
          <p:cNvSpPr>
            <a:spLocks xmlns:a="http://schemas.openxmlformats.org/drawingml/2006/main" noGrp="1"/>
          </p:cNvSpPr>
          <p:nvPr/>
        </p:nvSpPr>
        <p:spPr>
          <a:xfrm xmlns:a="http://schemas.openxmlformats.org/drawingml/2006/main">
            <a:off x="571500" y="73152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50 ≤ 60: de hoeveelheid is haalbaar.</a:t>
            </a:r>
          </a:p>
        </p:txBody>
      </p:sp>
    </p:spTree>
    <p:extLst>
      <p:ext uri="{BB962C8B-B14F-4D97-AF65-F5344CB8AC3E}">
        <p14:creationId xmlns:p14="http://schemas.microsoft.com/office/powerpoint/2010/main" val="10703208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45e · De winst van de prijsnemer">
            <a:extLst xmlns:a="http://schemas.openxmlformats.org/drawingml/2006/main">
              <a:ext uri="{FF2B5EF4-FFF2-40B4-BE49-F238E27FC236}">
                <a16:creationId xmlns:a16="http://schemas.microsoft.com/office/drawing/2014/main" id="{679F1BDC-BEB1-41F6-99E0-31ECDF2B6CD4}"/>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45e · De winst van de prijsnemer</a:t>
            </a:r>
          </a:p>
        </p:txBody>
      </p:sp>
      <p:sp>
        <p:nvSpPr>
          <p:cNvPr id="2" name="">
            <a:extLst xmlns:a="http://schemas.openxmlformats.org/drawingml/2006/main">
              <a:ext uri="{FF2B5EF4-FFF2-40B4-BE49-F238E27FC236}">
                <a16:creationId xmlns:a16="http://schemas.microsoft.com/office/drawing/2014/main" id="{F6028550-5B84-40B2-9763-BCFA353FF87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e · Boekpagina’s 48–49">
            <a:extLst xmlns:a="http://schemas.openxmlformats.org/drawingml/2006/main">
              <a:ext uri="{FF2B5EF4-FFF2-40B4-BE49-F238E27FC236}">
                <a16:creationId xmlns:a16="http://schemas.microsoft.com/office/drawing/2014/main" id="{7BE57C46-75C0-4E52-9C17-32CFE0A0803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45e · Boekpagina’s 48–49</a:t>
            </a:r>
          </a:p>
        </p:txBody>
      </p:sp>
      <p:sp>
        <p:nvSpPr>
          <p:cNvPr id="4" name="23">
            <a:extLst xmlns:a="http://schemas.openxmlformats.org/drawingml/2006/main">
              <a:ext uri="{FF2B5EF4-FFF2-40B4-BE49-F238E27FC236}">
                <a16:creationId xmlns:a16="http://schemas.microsoft.com/office/drawing/2014/main" id="{1B4DA12B-BFB3-4AD1-BDD8-D077CC8C7B5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Opbrengst">
            <a:extLst xmlns:a="http://schemas.openxmlformats.org/drawingml/2006/main">
              <a:ext uri="{FF2B5EF4-FFF2-40B4-BE49-F238E27FC236}">
                <a16:creationId xmlns:a16="http://schemas.microsoft.com/office/drawing/2014/main" id="{95A7CF6F-C702-49F8-925C-2140129963B3}"/>
              </a:ext>
            </a:extLst>
          </p:cNvPr>
          <p:cNvSpPr>
            <a:spLocks xmlns:a="http://schemas.openxmlformats.org/drawingml/2006/main" noGrp="1"/>
          </p:cNvSpPr>
          <p:nvPr/>
        </p:nvSpPr>
        <p:spPr>
          <a:xfrm xmlns:a="http://schemas.openxmlformats.org/drawingml/2006/main">
            <a:off x="571500" y="233362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Opbrengst</a:t>
            </a:r>
          </a:p>
        </p:txBody>
      </p:sp>
      <p:sp>
        <p:nvSpPr>
          <p:cNvPr id="6" name="TO = 18 × 50 = € 900 per week">
            <a:extLst xmlns:a="http://schemas.openxmlformats.org/drawingml/2006/main">
              <a:ext uri="{FF2B5EF4-FFF2-40B4-BE49-F238E27FC236}">
                <a16:creationId xmlns:a16="http://schemas.microsoft.com/office/drawing/2014/main" id="{6537D04D-094E-4416-AE14-0E47FBFAD5B5}"/>
              </a:ext>
            </a:extLst>
          </p:cNvPr>
          <p:cNvSpPr>
            <a:spLocks xmlns:a="http://schemas.openxmlformats.org/drawingml/2006/main" noGrp="1"/>
          </p:cNvSpPr>
          <p:nvPr/>
        </p:nvSpPr>
        <p:spPr>
          <a:xfrm xmlns:a="http://schemas.openxmlformats.org/drawingml/2006/main">
            <a:off x="5381625" y="233362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TO = 18 × 50 = € 900 per week</a:t>
            </a:r>
          </a:p>
        </p:txBody>
      </p:sp>
      <p:sp>
        <p:nvSpPr>
          <p:cNvPr id="7" name="">
            <a:extLst xmlns:a="http://schemas.openxmlformats.org/drawingml/2006/main">
              <a:ext uri="{FF2B5EF4-FFF2-40B4-BE49-F238E27FC236}">
                <a16:creationId xmlns:a16="http://schemas.microsoft.com/office/drawing/2014/main" id="{8FBC71FE-6C74-4357-AE92-6F84780DDE07}"/>
              </a:ext>
            </a:extLst>
          </p:cNvPr>
          <p:cNvSpPr>
            <a:spLocks xmlns:a="http://schemas.openxmlformats.org/drawingml/2006/main" noGrp="1"/>
          </p:cNvSpPr>
          <p:nvPr/>
        </p:nvSpPr>
        <p:spPr>
          <a:xfrm xmlns:a="http://schemas.openxmlformats.org/drawingml/2006/main">
            <a:off x="571500" y="3667125"/>
            <a:ext cx="14097000" cy="0"/>
          </a:xfrm>
          <a:prstGeom xmlns:a="http://schemas.openxmlformats.org/drawingml/2006/main" prst="line">
            <a:avLst/>
          </a:prstGeom>
          <a:ln xmlns:a="http://schemas.openxmlformats.org/drawingml/2006/main" w="19050">
            <a:solidFill>
              <a:srgbClr val="C6D2DB"/>
            </a:solidFill>
          </a:ln>
        </p:spPr>
      </p:sp>
      <p:sp>
        <p:nvSpPr>
          <p:cNvPr id="8" name="Kosten">
            <a:extLst xmlns:a="http://schemas.openxmlformats.org/drawingml/2006/main">
              <a:ext uri="{FF2B5EF4-FFF2-40B4-BE49-F238E27FC236}">
                <a16:creationId xmlns:a16="http://schemas.microsoft.com/office/drawing/2014/main" id="{02B48758-0C51-4FC9-B961-4E55947DB0E1}"/>
              </a:ext>
            </a:extLst>
          </p:cNvPr>
          <p:cNvSpPr>
            <a:spLocks xmlns:a="http://schemas.openxmlformats.org/drawingml/2006/main" noGrp="1"/>
          </p:cNvSpPr>
          <p:nvPr/>
        </p:nvSpPr>
        <p:spPr>
          <a:xfrm xmlns:a="http://schemas.openxmlformats.org/drawingml/2006/main">
            <a:off x="571500" y="402907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Kosten</a:t>
            </a:r>
          </a:p>
        </p:txBody>
      </p:sp>
      <p:sp>
        <p:nvSpPr>
          <p:cNvPr id="9" name="TK = 0,10 × 50² + 8 × 50 + 120&#10;TK = 250 + 400 + 120 = € 770 per w">
            <a:extLst xmlns:a="http://schemas.openxmlformats.org/drawingml/2006/main">
              <a:ext uri="{FF2B5EF4-FFF2-40B4-BE49-F238E27FC236}">
                <a16:creationId xmlns:a16="http://schemas.microsoft.com/office/drawing/2014/main" id="{545E2597-8349-4EB5-9305-44B41139FEDA}"/>
              </a:ext>
            </a:extLst>
          </p:cNvPr>
          <p:cNvSpPr>
            <a:spLocks xmlns:a="http://schemas.openxmlformats.org/drawingml/2006/main" noGrp="1"/>
          </p:cNvSpPr>
          <p:nvPr/>
        </p:nvSpPr>
        <p:spPr>
          <a:xfrm xmlns:a="http://schemas.openxmlformats.org/drawingml/2006/main">
            <a:off x="5381625" y="402907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TK = 0,10 × 50² + 8 × 50 + 120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TK = 250 + 400 + 120 = € 770 per week</a:t>
            </a:r>
          </a:p>
        </p:txBody>
      </p:sp>
      <p:sp>
        <p:nvSpPr>
          <p:cNvPr id="10" name="">
            <a:extLst xmlns:a="http://schemas.openxmlformats.org/drawingml/2006/main">
              <a:ext uri="{FF2B5EF4-FFF2-40B4-BE49-F238E27FC236}">
                <a16:creationId xmlns:a16="http://schemas.microsoft.com/office/drawing/2014/main" id="{C4EE44F3-EA89-41BD-B9C0-A9179EBF7758}"/>
              </a:ext>
            </a:extLst>
          </p:cNvPr>
          <p:cNvSpPr>
            <a:spLocks xmlns:a="http://schemas.openxmlformats.org/drawingml/2006/main" noGrp="1"/>
          </p:cNvSpPr>
          <p:nvPr/>
        </p:nvSpPr>
        <p:spPr>
          <a:xfrm xmlns:a="http://schemas.openxmlformats.org/drawingml/2006/main">
            <a:off x="571500" y="5362575"/>
            <a:ext cx="14097000" cy="0"/>
          </a:xfrm>
          <a:prstGeom xmlns:a="http://schemas.openxmlformats.org/drawingml/2006/main" prst="line">
            <a:avLst/>
          </a:prstGeom>
          <a:ln xmlns:a="http://schemas.openxmlformats.org/drawingml/2006/main" w="19050">
            <a:solidFill>
              <a:srgbClr val="C6D2DB"/>
            </a:solidFill>
          </a:ln>
        </p:spPr>
      </p:sp>
      <p:sp>
        <p:nvSpPr>
          <p:cNvPr id="11" name="Winst">
            <a:extLst xmlns:a="http://schemas.openxmlformats.org/drawingml/2006/main">
              <a:ext uri="{FF2B5EF4-FFF2-40B4-BE49-F238E27FC236}">
                <a16:creationId xmlns:a16="http://schemas.microsoft.com/office/drawing/2014/main" id="{D6D4E199-2A63-462B-846E-21CB4177E06A}"/>
              </a:ext>
            </a:extLst>
          </p:cNvPr>
          <p:cNvSpPr>
            <a:spLocks xmlns:a="http://schemas.openxmlformats.org/drawingml/2006/main" noGrp="1"/>
          </p:cNvSpPr>
          <p:nvPr/>
        </p:nvSpPr>
        <p:spPr>
          <a:xfrm xmlns:a="http://schemas.openxmlformats.org/drawingml/2006/main">
            <a:off x="571500" y="5724525"/>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Winst</a:t>
            </a:r>
          </a:p>
        </p:txBody>
      </p:sp>
      <p:sp>
        <p:nvSpPr>
          <p:cNvPr id="12" name="900 − 770 = € 130 per week">
            <a:extLst xmlns:a="http://schemas.openxmlformats.org/drawingml/2006/main">
              <a:ext uri="{FF2B5EF4-FFF2-40B4-BE49-F238E27FC236}">
                <a16:creationId xmlns:a16="http://schemas.microsoft.com/office/drawing/2014/main" id="{7EF7C83C-F899-4838-B956-78D4F5912420}"/>
              </a:ext>
            </a:extLst>
          </p:cNvPr>
          <p:cNvSpPr>
            <a:spLocks xmlns:a="http://schemas.openxmlformats.org/drawingml/2006/main" noGrp="1"/>
          </p:cNvSpPr>
          <p:nvPr/>
        </p:nvSpPr>
        <p:spPr>
          <a:xfrm xmlns:a="http://schemas.openxmlformats.org/drawingml/2006/main">
            <a:off x="5381625" y="5724525"/>
            <a:ext cx="928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900 − 770 = € 130 per week</a:t>
            </a:r>
          </a:p>
        </p:txBody>
      </p:sp>
      <p:sp>
        <p:nvSpPr>
          <p:cNvPr id="13" name="Controle: bij q = 0 is de winst −€ 120 per week.">
            <a:extLst xmlns:a="http://schemas.openxmlformats.org/drawingml/2006/main">
              <a:ext uri="{FF2B5EF4-FFF2-40B4-BE49-F238E27FC236}">
                <a16:creationId xmlns:a16="http://schemas.microsoft.com/office/drawing/2014/main" id="{1B52F921-ED2B-4EB3-8987-25362407AA5D}"/>
              </a:ext>
            </a:extLst>
          </p:cNvPr>
          <p:cNvSpPr>
            <a:spLocks xmlns:a="http://schemas.openxmlformats.org/drawingml/2006/main" noGrp="1"/>
          </p:cNvSpPr>
          <p:nvPr/>
        </p:nvSpPr>
        <p:spPr>
          <a:xfrm xmlns:a="http://schemas.openxmlformats.org/drawingml/2006/main">
            <a:off x="571500" y="756285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Controle: bij q = 0 is de winst −€ 120 per week.</a:t>
            </a:r>
          </a:p>
        </p:txBody>
      </p:sp>
    </p:spTree>
    <p:extLst>
      <p:ext uri="{BB962C8B-B14F-4D97-AF65-F5344CB8AC3E}">
        <p14:creationId xmlns:p14="http://schemas.microsoft.com/office/powerpoint/2010/main" val="133717183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45f · Dezelfde hoeveelheidregel, andere prijsroute">
            <a:extLst xmlns:a="http://schemas.openxmlformats.org/drawingml/2006/main">
              <a:ext uri="{FF2B5EF4-FFF2-40B4-BE49-F238E27FC236}">
                <a16:creationId xmlns:a16="http://schemas.microsoft.com/office/drawing/2014/main" id="{4A7AEA97-3D45-4D70-BE89-DD84F3B6A95E}"/>
              </a:ext>
            </a:extLst>
          </p:cNvPr>
          <p:cNvSpPr>
            <a:spLocks xmlns:a="http://schemas.openxmlformats.org/drawingml/2006/main" noGrp="1"/>
          </p:cNvSpPr>
          <p:nvPr/>
        </p:nvSpPr>
        <p:spPr>
          <a:xfrm xmlns:a="http://schemas.openxmlformats.org/drawingml/2006/main">
            <a:off x="571500" y="4000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45f · Dezelfde hoeveelheidregel, andere prijsroute</a:t>
            </a:r>
          </a:p>
        </p:txBody>
      </p:sp>
      <p:sp>
        <p:nvSpPr>
          <p:cNvPr id="2" name="">
            <a:extLst xmlns:a="http://schemas.openxmlformats.org/drawingml/2006/main">
              <a:ext uri="{FF2B5EF4-FFF2-40B4-BE49-F238E27FC236}">
                <a16:creationId xmlns:a16="http://schemas.microsoft.com/office/drawing/2014/main" id="{3519D212-ED51-4E15-93EF-75987DB1C8F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Opgave 45f · Boekpagina’s 48–49">
            <a:extLst xmlns:a="http://schemas.openxmlformats.org/drawingml/2006/main">
              <a:ext uri="{FF2B5EF4-FFF2-40B4-BE49-F238E27FC236}">
                <a16:creationId xmlns:a16="http://schemas.microsoft.com/office/drawing/2014/main" id="{2EAF1B40-871C-440A-85AF-BAE013913D4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Opgave 45f · Boekpagina’s 48–49</a:t>
            </a:r>
          </a:p>
        </p:txBody>
      </p:sp>
      <p:sp>
        <p:nvSpPr>
          <p:cNvPr id="4" name="24">
            <a:extLst xmlns:a="http://schemas.openxmlformats.org/drawingml/2006/main">
              <a:ext uri="{FF2B5EF4-FFF2-40B4-BE49-F238E27FC236}">
                <a16:creationId xmlns:a16="http://schemas.microsoft.com/office/drawing/2014/main" id="{27D3120A-5541-42A0-8670-20C677A5BEA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2" name=""/>
          <p:cNvGraphicFramePr/>
          <p:nvPr/>
        </p:nvGraphicFramePr>
        <p:xfrm>
          <a:off xmlns:a="http://schemas.openxmlformats.org/drawingml/2006/main" x="571500" y="2257425"/>
          <a:ext xmlns:a="http://schemas.openxmlformats.org/drawingml/2006/main" cx="14097000" cy="3914775"/>
        </p:xfrm>
        <a:graphic xmlns:a="http://schemas.openxmlformats.org/drawingml/2006/main">
          <a:graphicData uri="http://schemas.openxmlformats.org/drawingml/2006/table">
            <a:tbl>
              <a:tblPr/>
              <a:tblGrid>
                <a:gridCol w="4857750"/>
                <a:gridCol w="4572000"/>
                <a:gridCol w="4667250"/>
              </a:tblGrid>
              <a:tr h="978694">
                <a:tc>
                  <a:txBody>
                    <a:bodyPr lIns="171450" tIns="95250" rIns="152400" bIns="95250"/>
                    <a:lstStyle/>
                    <a:p>
                      <a:r>
                        <a:rPr sz="2475" b="1">
                          <a:solidFill>
                            <a:srgbClr val="FFFFFF"/>
                          </a:solidFill>
                          <a:latin typeface="Arial"/>
                          <a:ea typeface="Arial"/>
                          <a:cs typeface="Arial"/>
                        </a:rPr>
                        <a:t>Bij de gekozen q</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KleurFix</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Prijsnemer</a:t>
                      </a:r>
                    </a:p>
                  </a:txBody>
                  <a:tcPr marL="91440" marR="91440" marT="45720" marB="45720" anchor="ctr">
                    <a:solidFill>
                      <a:srgbClr val="183247"/>
                    </a:solidFill>
                  </a:tcPr>
                </a:tc>
              </a:tr>
              <a:tr h="978694">
                <a:tc>
                  <a:txBody>
                    <a:bodyPr lIns="171450" tIns="95250" rIns="152400" bIns="95250"/>
                    <a:lstStyle/>
                    <a:p>
                      <a:r>
                        <a:rPr sz="2475" b="0">
                          <a:solidFill>
                            <a:srgbClr val="183247"/>
                          </a:solidFill>
                          <a:latin typeface="Arial"/>
                          <a:ea typeface="Arial"/>
                          <a:cs typeface="Arial"/>
                        </a:rPr>
                        <a:t>MO = MK bepaalt q</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 kg per week</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50 kg per week</a:t>
                      </a:r>
                    </a:p>
                  </a:txBody>
                  <a:tcPr marL="91440" marR="91440" marT="45720" marB="45720" anchor="ctr">
                    <a:solidFill>
                      <a:srgbClr val="FFFFFF"/>
                    </a:solidFill>
                  </a:tcPr>
                </a:tc>
              </a:tr>
              <a:tr h="978694">
                <a:tc>
                  <a:txBody>
                    <a:bodyPr lIns="171450" tIns="95250" rIns="152400" bIns="95250"/>
                    <a:lstStyle/>
                    <a:p>
                      <a:r>
                        <a:rPr sz="2475" b="0">
                          <a:solidFill>
                            <a:srgbClr val="183247"/>
                          </a:solidFill>
                          <a:latin typeface="Arial"/>
                          <a:ea typeface="Arial"/>
                          <a:cs typeface="Arial"/>
                        </a:rPr>
                        <a:t>Marginaal bedrag</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€ 16 per kg</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€ 18 per kg</a:t>
                      </a:r>
                    </a:p>
                  </a:txBody>
                  <a:tcPr marL="91440" marR="91440" marT="45720" marB="45720" anchor="ctr">
                    <a:solidFill>
                      <a:srgbClr val="EFF4F7"/>
                    </a:solidFill>
                  </a:tcPr>
                </a:tc>
              </a:tr>
              <a:tr h="978694">
                <a:tc>
                  <a:txBody>
                    <a:bodyPr lIns="171450" tIns="95250" rIns="152400" bIns="95250"/>
                    <a:lstStyle/>
                    <a:p>
                      <a:r>
                        <a:rPr sz="2475" b="0">
                          <a:solidFill>
                            <a:srgbClr val="183247"/>
                          </a:solidFill>
                          <a:latin typeface="Arial"/>
                          <a:ea typeface="Arial"/>
                          <a:cs typeface="Arial"/>
                        </a:rPr>
                        <a:t>Verkoopprijs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GO = € 24 per kg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P = GO = MO = € 18 per kg</a:t>
                      </a:r>
                    </a:p>
                  </a:txBody>
                  <a:tcPr marL="91440" marR="91440" marT="45720" marB="45720" anchor="ctr">
                    <a:solidFill>
                      <a:srgbClr val="FFFFFF"/>
                    </a:solidFill>
                  </a:tcPr>
                </a:tc>
              </a:tr>
            </a:tbl>
          </a:graphicData>
        </a:graphic>
      </p:graphicFrame>
      <p:sp>
        <p:nvSpPr>
          <p:cNvPr id="6" name="De leerling verwart bij KleurFix MO met de verkoopprijs.">
            <a:extLst xmlns:a="http://schemas.openxmlformats.org/drawingml/2006/main">
              <a:ext uri="{FF2B5EF4-FFF2-40B4-BE49-F238E27FC236}">
                <a16:creationId xmlns:a16="http://schemas.microsoft.com/office/drawing/2014/main" id="{07EDA4A8-F686-4B20-8A19-EDB132E6C961}"/>
              </a:ext>
            </a:extLst>
          </p:cNvPr>
          <p:cNvSpPr>
            <a:spLocks xmlns:a="http://schemas.openxmlformats.org/drawingml/2006/main" noGrp="1"/>
          </p:cNvSpPr>
          <p:nvPr/>
        </p:nvSpPr>
        <p:spPr>
          <a:xfrm xmlns:a="http://schemas.openxmlformats.org/drawingml/2006/main">
            <a:off x="571500" y="66865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De leerling verwart bij KleurFix MO met de verkoopprijs.</a:t>
            </a:r>
          </a:p>
        </p:txBody>
      </p:sp>
      <p:sp>
        <p:nvSpPr>
          <p:cNvPr id="7" name="Twee afzonderlijke markten: geen conclusie over maatschappelijke ">
            <a:extLst xmlns:a="http://schemas.openxmlformats.org/drawingml/2006/main">
              <a:ext uri="{FF2B5EF4-FFF2-40B4-BE49-F238E27FC236}">
                <a16:creationId xmlns:a16="http://schemas.microsoft.com/office/drawing/2014/main" id="{4C90C367-1A7B-4417-8606-C37B91215380}"/>
              </a:ext>
            </a:extLst>
          </p:cNvPr>
          <p:cNvSpPr>
            <a:spLocks xmlns:a="http://schemas.openxmlformats.org/drawingml/2006/main" noGrp="1"/>
          </p:cNvSpPr>
          <p:nvPr/>
        </p:nvSpPr>
        <p:spPr>
          <a:xfrm xmlns:a="http://schemas.openxmlformats.org/drawingml/2006/main">
            <a:off x="571500" y="75342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Twee afzonderlijke markten: geen conclusie over maatschappelijke welvaart.</a:t>
            </a:r>
          </a:p>
        </p:txBody>
      </p:sp>
    </p:spTree>
    <p:extLst>
      <p:ext uri="{BB962C8B-B14F-4D97-AF65-F5344CB8AC3E}">
        <p14:creationId xmlns:p14="http://schemas.microsoft.com/office/powerpoint/2010/main" val="207858997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18B751CE-ADE3-4F9D-93D7-9D4CAADF32CA}"/>
              </a:ext>
            </a:extLst>
          </p:cNvPr>
          <p:cNvSpPr>
            <a:spLocks xmlns:a="http://schemas.openxmlformats.org/drawingml/2006/main" noGrp="1"/>
          </p:cNvSpPr>
          <p:nvPr/>
        </p:nvSpPr>
        <p:spPr>
          <a:xfrm xmlns:a="http://schemas.openxmlformats.org/drawingml/2006/main">
            <a:off x="571500" y="2857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§4.1.5 Gemengde opgaven</a:t>
            </a:r>
          </a:p>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Concurrentie en monopolie</a:t>
            </a:r>
          </a:p>
        </p:txBody>
      </p:sp>
      <p:sp>
        <p:nvSpPr>
          <p:cNvPr id="2" name="phase">
            <a:extLst xmlns:a="http://schemas.openxmlformats.org/drawingml/2006/main">
              <a:ext uri="{FF2B5EF4-FFF2-40B4-BE49-F238E27FC236}">
                <a16:creationId xmlns:a16="http://schemas.microsoft.com/office/drawing/2014/main" id="{D4DC7F71-08BB-4593-B311-5FEAE6C79135}"/>
              </a:ext>
            </a:extLst>
          </p:cNvPr>
          <p:cNvSpPr>
            <a:spLocks xmlns:a="http://schemas.openxmlformats.org/drawingml/2006/main" noGrp="1"/>
          </p:cNvSpPr>
          <p:nvPr/>
        </p:nvSpPr>
        <p:spPr>
          <a:xfrm xmlns:a="http://schemas.openxmlformats.org/drawingml/2006/main">
            <a:off x="571500" y="1438275"/>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en huiswerk</a:t>
            </a:r>
          </a:p>
        </p:txBody>
      </p:sp>
      <p:sp>
        <p:nvSpPr>
          <p:cNvPr id="3" name="">
            <a:extLst xmlns:a="http://schemas.openxmlformats.org/drawingml/2006/main">
              <a:ext uri="{FF2B5EF4-FFF2-40B4-BE49-F238E27FC236}">
                <a16:creationId xmlns:a16="http://schemas.microsoft.com/office/drawing/2014/main" id="{5B32B9D3-F2F0-44D2-9F8E-0BDB7580398B}"/>
              </a:ext>
            </a:extLst>
          </p:cNvPr>
          <p:cNvSpPr>
            <a:spLocks xmlns:a="http://schemas.openxmlformats.org/drawingml/2006/main" noGrp="1"/>
          </p:cNvSpPr>
          <p:nvPr/>
        </p:nvSpPr>
        <p:spPr>
          <a:xfrm xmlns:a="http://schemas.openxmlformats.org/drawingml/2006/main">
            <a:off x="571500" y="192405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D4ECE18E-33BE-4321-A6D2-1AB927C8B7DF}"/>
              </a:ext>
            </a:extLst>
          </p:cNvPr>
          <p:cNvSpPr>
            <a:spLocks xmlns:a="http://schemas.openxmlformats.org/drawingml/2006/main" noGrp="1"/>
          </p:cNvSpPr>
          <p:nvPr/>
        </p:nvSpPr>
        <p:spPr>
          <a:xfrm xmlns:a="http://schemas.openxmlformats.org/drawingml/2006/main">
            <a:off x="571500" y="21907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F1387ECB-7A8C-416E-93DC-CE1419E8BD73}"/>
              </a:ext>
            </a:extLst>
          </p:cNvPr>
          <p:cNvSpPr>
            <a:spLocks xmlns:a="http://schemas.openxmlformats.org/drawingml/2006/main" noGrp="1"/>
          </p:cNvSpPr>
          <p:nvPr/>
        </p:nvSpPr>
        <p:spPr>
          <a:xfrm xmlns:a="http://schemas.openxmlformats.org/drawingml/2006/main">
            <a:off x="571500" y="2771775"/>
            <a:ext cx="457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9B5537E1-8B11-40B5-A94A-88F013D1686A}"/>
              </a:ext>
            </a:extLst>
          </p:cNvPr>
          <p:cNvSpPr>
            <a:spLocks xmlns:a="http://schemas.openxmlformats.org/drawingml/2006/main" noGrp="1"/>
          </p:cNvSpPr>
          <p:nvPr/>
        </p:nvSpPr>
        <p:spPr>
          <a:xfrm xmlns:a="http://schemas.openxmlformats.org/drawingml/2006/main">
            <a:off x="1104900" y="2771775"/>
            <a:ext cx="74199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16AF0DB7-4E96-4EE9-93B5-FB5521D65861}"/>
              </a:ext>
            </a:extLst>
          </p:cNvPr>
          <p:cNvSpPr>
            <a:spLocks xmlns:a="http://schemas.openxmlformats.org/drawingml/2006/main" noGrp="1"/>
          </p:cNvSpPr>
          <p:nvPr/>
        </p:nvSpPr>
        <p:spPr>
          <a:xfrm xmlns:a="http://schemas.openxmlformats.org/drawingml/2006/main">
            <a:off x="571500" y="36290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4CC903F7-83F6-4FB7-A8E3-25BBAA535B8C}"/>
              </a:ext>
            </a:extLst>
          </p:cNvPr>
          <p:cNvSpPr>
            <a:spLocks xmlns:a="http://schemas.openxmlformats.org/drawingml/2006/main" noGrp="1"/>
          </p:cNvSpPr>
          <p:nvPr/>
        </p:nvSpPr>
        <p:spPr>
          <a:xfrm xmlns:a="http://schemas.openxmlformats.org/drawingml/2006/main">
            <a:off x="1104900" y="36290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1723847E-C9C1-434B-915F-BCB8215023DE}"/>
              </a:ext>
            </a:extLst>
          </p:cNvPr>
          <p:cNvSpPr>
            <a:spLocks xmlns:a="http://schemas.openxmlformats.org/drawingml/2006/main" noGrp="1"/>
          </p:cNvSpPr>
          <p:nvPr/>
        </p:nvSpPr>
        <p:spPr>
          <a:xfrm xmlns:a="http://schemas.openxmlformats.org/drawingml/2006/main">
            <a:off x="571500" y="41719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35E82C3C-CAE5-4317-8476-30F1B2FBECE3}"/>
              </a:ext>
            </a:extLst>
          </p:cNvPr>
          <p:cNvSpPr>
            <a:spLocks xmlns:a="http://schemas.openxmlformats.org/drawingml/2006/main" noGrp="1"/>
          </p:cNvSpPr>
          <p:nvPr/>
        </p:nvSpPr>
        <p:spPr>
          <a:xfrm xmlns:a="http://schemas.openxmlformats.org/drawingml/2006/main">
            <a:off x="1104900" y="41719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1" name="route-number-4">
            <a:extLst xmlns:a="http://schemas.openxmlformats.org/drawingml/2006/main">
              <a:ext uri="{FF2B5EF4-FFF2-40B4-BE49-F238E27FC236}">
                <a16:creationId xmlns:a16="http://schemas.microsoft.com/office/drawing/2014/main" id="{69C5D140-F967-4C6B-BD9B-6CFBC1B4992F}"/>
              </a:ext>
            </a:extLst>
          </p:cNvPr>
          <p:cNvSpPr>
            <a:spLocks xmlns:a="http://schemas.openxmlformats.org/drawingml/2006/main" noGrp="1"/>
          </p:cNvSpPr>
          <p:nvPr/>
        </p:nvSpPr>
        <p:spPr>
          <a:xfrm xmlns:a="http://schemas.openxmlformats.org/drawingml/2006/main">
            <a:off x="571500" y="4714875"/>
            <a:ext cx="457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DEC94369-659B-44DA-B462-ACAAE18AFEDF}"/>
              </a:ext>
            </a:extLst>
          </p:cNvPr>
          <p:cNvSpPr>
            <a:spLocks xmlns:a="http://schemas.openxmlformats.org/drawingml/2006/main" noGrp="1"/>
          </p:cNvSpPr>
          <p:nvPr/>
        </p:nvSpPr>
        <p:spPr>
          <a:xfrm xmlns:a="http://schemas.openxmlformats.org/drawingml/2006/main">
            <a:off x="1104900" y="4714875"/>
            <a:ext cx="7419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3" name="route-number-5">
            <a:extLst xmlns:a="http://schemas.openxmlformats.org/drawingml/2006/main">
              <a:ext uri="{FF2B5EF4-FFF2-40B4-BE49-F238E27FC236}">
                <a16:creationId xmlns:a16="http://schemas.microsoft.com/office/drawing/2014/main" id="{380930F6-0D80-4F9D-98AF-BF9097220B20}"/>
              </a:ext>
            </a:extLst>
          </p:cNvPr>
          <p:cNvSpPr>
            <a:spLocks xmlns:a="http://schemas.openxmlformats.org/drawingml/2006/main" noGrp="1"/>
          </p:cNvSpPr>
          <p:nvPr/>
        </p:nvSpPr>
        <p:spPr>
          <a:xfrm xmlns:a="http://schemas.openxmlformats.org/drawingml/2006/main">
            <a:off x="571500" y="573405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77A77D3B-CBB8-4732-B464-871F0E556F03}"/>
              </a:ext>
            </a:extLst>
          </p:cNvPr>
          <p:cNvSpPr>
            <a:spLocks xmlns:a="http://schemas.openxmlformats.org/drawingml/2006/main" noGrp="1"/>
          </p:cNvSpPr>
          <p:nvPr/>
        </p:nvSpPr>
        <p:spPr>
          <a:xfrm xmlns:a="http://schemas.openxmlformats.org/drawingml/2006/main">
            <a:off x="1104900" y="573405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3DB3A564-5D1F-4DDF-9212-9AEF13F0FB6B}"/>
              </a:ext>
            </a:extLst>
          </p:cNvPr>
          <p:cNvSpPr>
            <a:spLocks xmlns:a="http://schemas.openxmlformats.org/drawingml/2006/main" noGrp="1"/>
          </p:cNvSpPr>
          <p:nvPr/>
        </p:nvSpPr>
        <p:spPr>
          <a:xfrm xmlns:a="http://schemas.openxmlformats.org/drawingml/2006/main">
            <a:off x="571500" y="66294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D6BC7F5F-A83A-407C-BFA3-4964460422EA}"/>
              </a:ext>
            </a:extLst>
          </p:cNvPr>
          <p:cNvSpPr>
            <a:spLocks xmlns:a="http://schemas.openxmlformats.org/drawingml/2006/main" noGrp="1"/>
          </p:cNvSpPr>
          <p:nvPr/>
        </p:nvSpPr>
        <p:spPr>
          <a:xfrm xmlns:a="http://schemas.openxmlformats.org/drawingml/2006/main">
            <a:off x="1104900" y="66294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45.</a:t>
            </a:r>
          </a:p>
        </p:txBody>
      </p:sp>
      <p:sp>
        <p:nvSpPr>
          <p:cNvPr id="17" name="route-number-7">
            <a:extLst xmlns:a="http://schemas.openxmlformats.org/drawingml/2006/main">
              <a:ext uri="{FF2B5EF4-FFF2-40B4-BE49-F238E27FC236}">
                <a16:creationId xmlns:a16="http://schemas.microsoft.com/office/drawing/2014/main" id="{76FAB2DE-7BE6-4344-8E19-F48B51AA5898}"/>
              </a:ext>
            </a:extLst>
          </p:cNvPr>
          <p:cNvSpPr>
            <a:spLocks xmlns:a="http://schemas.openxmlformats.org/drawingml/2006/main" noGrp="1"/>
          </p:cNvSpPr>
          <p:nvPr/>
        </p:nvSpPr>
        <p:spPr>
          <a:xfrm xmlns:a="http://schemas.openxmlformats.org/drawingml/2006/main">
            <a:off x="571500" y="7362825"/>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0C6844E9-EDE6-45A6-8229-42E8230614D7}"/>
              </a:ext>
            </a:extLst>
          </p:cNvPr>
          <p:cNvSpPr>
            <a:spLocks xmlns:a="http://schemas.openxmlformats.org/drawingml/2006/main" noGrp="1"/>
          </p:cNvSpPr>
          <p:nvPr/>
        </p:nvSpPr>
        <p:spPr>
          <a:xfrm xmlns:a="http://schemas.openxmlformats.org/drawingml/2006/main">
            <a:off x="1104900" y="7362825"/>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DD86175B-8155-497B-B471-3401F5252E8E}"/>
              </a:ext>
            </a:extLst>
          </p:cNvPr>
          <p:cNvSpPr>
            <a:spLocks xmlns:a="http://schemas.openxmlformats.org/drawingml/2006/main" noGrp="1"/>
          </p:cNvSpPr>
          <p:nvPr/>
        </p:nvSpPr>
        <p:spPr>
          <a:xfrm xmlns:a="http://schemas.openxmlformats.org/drawingml/2006/main">
            <a:off x="9258300" y="219075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8D4A5E7D-792F-42D9-8247-DF131549A49A}"/>
              </a:ext>
            </a:extLst>
          </p:cNvPr>
          <p:cNvSpPr>
            <a:spLocks xmlns:a="http://schemas.openxmlformats.org/drawingml/2006/main" noGrp="1"/>
          </p:cNvSpPr>
          <p:nvPr/>
        </p:nvSpPr>
        <p:spPr>
          <a:xfrm xmlns:a="http://schemas.openxmlformats.org/drawingml/2006/main">
            <a:off x="9258300" y="2752725"/>
            <a:ext cx="541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Model kiezen; q, prijs en winst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Fouten verbeteren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conclusies onderbouwen.</a:t>
            </a:r>
          </a:p>
        </p:txBody>
      </p:sp>
      <p:sp>
        <p:nvSpPr>
          <p:cNvPr id="21" name="">
            <a:extLst xmlns:a="http://schemas.openxmlformats.org/drawingml/2006/main">
              <a:ext uri="{FF2B5EF4-FFF2-40B4-BE49-F238E27FC236}">
                <a16:creationId xmlns:a16="http://schemas.microsoft.com/office/drawing/2014/main" id="{86BB1362-0777-461D-8154-C0F81EAE024B}"/>
              </a:ext>
            </a:extLst>
          </p:cNvPr>
          <p:cNvSpPr>
            <a:spLocks xmlns:a="http://schemas.openxmlformats.org/drawingml/2006/main" noGrp="1"/>
          </p:cNvSpPr>
          <p:nvPr/>
        </p:nvSpPr>
        <p:spPr>
          <a:xfrm xmlns:a="http://schemas.openxmlformats.org/drawingml/2006/main">
            <a:off x="9258300" y="4000500"/>
            <a:ext cx="5410200" cy="0"/>
          </a:xfrm>
          <a:prstGeom xmlns:a="http://schemas.openxmlformats.org/drawingml/2006/main" prst="line">
            <a:avLst/>
          </a:prstGeom>
          <a:ln xmlns:a="http://schemas.openxmlformats.org/drawingml/2006/main" w="19050">
            <a:solidFill>
              <a:srgbClr val="C6D2DB"/>
            </a:solidFill>
          </a:ln>
        </p:spPr>
      </p:sp>
      <p:sp>
        <p:nvSpPr>
          <p:cNvPr id="22" name="Startopdracht">
            <a:extLst xmlns:a="http://schemas.openxmlformats.org/drawingml/2006/main">
              <a:ext uri="{FF2B5EF4-FFF2-40B4-BE49-F238E27FC236}">
                <a16:creationId xmlns:a16="http://schemas.microsoft.com/office/drawing/2014/main" id="{72DFFA49-0890-4250-A404-D1A399105BB3}"/>
              </a:ext>
            </a:extLst>
          </p:cNvPr>
          <p:cNvSpPr>
            <a:spLocks xmlns:a="http://schemas.openxmlformats.org/drawingml/2006/main" noGrp="1"/>
          </p:cNvSpPr>
          <p:nvPr/>
        </p:nvSpPr>
        <p:spPr>
          <a:xfrm xmlns:a="http://schemas.openxmlformats.org/drawingml/2006/main">
            <a:off x="9258300" y="423862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3" name="overview-start">
            <a:extLst xmlns:a="http://schemas.openxmlformats.org/drawingml/2006/main">
              <a:ext uri="{FF2B5EF4-FFF2-40B4-BE49-F238E27FC236}">
                <a16:creationId xmlns:a16="http://schemas.microsoft.com/office/drawing/2014/main" id="{940450B6-B30B-4323-AC2D-21499E4E3D0F}"/>
              </a:ext>
            </a:extLst>
          </p:cNvPr>
          <p:cNvSpPr>
            <a:spLocks xmlns:a="http://schemas.openxmlformats.org/drawingml/2006/main" noGrp="1"/>
          </p:cNvSpPr>
          <p:nvPr/>
        </p:nvSpPr>
        <p:spPr>
          <a:xfrm xmlns:a="http://schemas.openxmlformats.org/drawingml/2006/main">
            <a:off x="9258300" y="4762500"/>
            <a:ext cx="5410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46 · Opgave 41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Eerste gemengde opgave</a:t>
            </a:r>
          </a:p>
        </p:txBody>
      </p:sp>
      <p:sp>
        <p:nvSpPr>
          <p:cNvPr id="24" name="">
            <a:extLst xmlns:a="http://schemas.openxmlformats.org/drawingml/2006/main">
              <a:ext uri="{FF2B5EF4-FFF2-40B4-BE49-F238E27FC236}">
                <a16:creationId xmlns:a16="http://schemas.microsoft.com/office/drawing/2014/main" id="{FB2DB14E-38A7-44EB-890B-92980A58FD0A}"/>
              </a:ext>
            </a:extLst>
          </p:cNvPr>
          <p:cNvSpPr>
            <a:spLocks xmlns:a="http://schemas.openxmlformats.org/drawingml/2006/main" noGrp="1"/>
          </p:cNvSpPr>
          <p:nvPr/>
        </p:nvSpPr>
        <p:spPr>
          <a:xfrm xmlns:a="http://schemas.openxmlformats.org/drawingml/2006/main">
            <a:off x="9258300" y="5676900"/>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ED0918F9-1557-441E-8A27-BD1AFB6E7C24}"/>
              </a:ext>
            </a:extLst>
          </p:cNvPr>
          <p:cNvSpPr>
            <a:spLocks xmlns:a="http://schemas.openxmlformats.org/drawingml/2006/main" noGrp="1"/>
          </p:cNvSpPr>
          <p:nvPr/>
        </p:nvSpPr>
        <p:spPr>
          <a:xfrm xmlns:a="http://schemas.openxmlformats.org/drawingml/2006/main">
            <a:off x="9258300" y="5867400"/>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BAFE68BE-0F5C-4D10-A35B-1E518E8353FF}"/>
              </a:ext>
            </a:extLst>
          </p:cNvPr>
          <p:cNvSpPr>
            <a:spLocks xmlns:a="http://schemas.openxmlformats.org/drawingml/2006/main" noGrp="1"/>
          </p:cNvSpPr>
          <p:nvPr/>
        </p:nvSpPr>
        <p:spPr>
          <a:xfrm xmlns:a="http://schemas.openxmlformats.org/drawingml/2006/main">
            <a:off x="9258300" y="6457950"/>
            <a:ext cx="54102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§4.1.5 · Opgaven 41, 41A, 42–48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Voorbereiding: 41, 41A, 42–44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 45 · Verder oefenen: 46–48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
        <p:nvSpPr>
          <p:cNvPr id="27" name="§4.1.5 · Boekpagina’s 46–50">
            <a:extLst xmlns:a="http://schemas.openxmlformats.org/drawingml/2006/main">
              <a:ext uri="{FF2B5EF4-FFF2-40B4-BE49-F238E27FC236}">
                <a16:creationId xmlns:a16="http://schemas.microsoft.com/office/drawing/2014/main" id="{C53BE3C8-EAEB-4BE8-90C9-AB97B8BFF6FA}"/>
              </a:ext>
            </a:extLst>
          </p:cNvPr>
          <p:cNvSpPr>
            <a:spLocks xmlns:a="http://schemas.openxmlformats.org/drawingml/2006/main" noGrp="1"/>
          </p:cNvSpPr>
          <p:nvPr/>
        </p:nvSpPr>
        <p:spPr>
          <a:xfrm xmlns:a="http://schemas.openxmlformats.org/drawingml/2006/main">
            <a:off x="571500" y="8077200"/>
            <a:ext cx="1285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§4.1.5 · Boekpagina’s 46–50</a:t>
            </a:r>
          </a:p>
        </p:txBody>
      </p:sp>
      <p:sp>
        <p:nvSpPr>
          <p:cNvPr id="28" name="25">
            <a:extLst xmlns:a="http://schemas.openxmlformats.org/drawingml/2006/main">
              <a:ext uri="{FF2B5EF4-FFF2-40B4-BE49-F238E27FC236}">
                <a16:creationId xmlns:a16="http://schemas.microsoft.com/office/drawing/2014/main" id="{3C230ACD-4E3B-4A96-ADDD-D98FC72C3A9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Tree>
    <p:extLst>
      <p:ext uri="{BB962C8B-B14F-4D97-AF65-F5344CB8AC3E}">
        <p14:creationId xmlns:p14="http://schemas.microsoft.com/office/powerpoint/2010/main" val="6886789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2026-10-01T16:48:28.1390000Z</dcterms:created>
  <dcterms:modified xsi:type="dcterms:W3CDTF">2026-10-01T16:48:28.1390000Z</dcterms:modified>
</coreProperties>
</file>