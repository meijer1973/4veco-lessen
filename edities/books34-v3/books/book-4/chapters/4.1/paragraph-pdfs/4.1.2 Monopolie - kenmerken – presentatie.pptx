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8.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738370f07c4cb2" /><Relationship Type="http://schemas.openxmlformats.org/officeDocument/2006/relationships/extended-properties" Target="/docProps/app.xml" Id="Re50a66275b16493f" /><Relationship Type="http://schemas.openxmlformats.org/officeDocument/2006/relationships/officeDocument" Target="/ppt/presentation.xml" Id="Rc9f8445d84734cd4" /></Relationships>
</file>

<file path=ppt/presentation.xml><?xml version="1.0" encoding="utf-8"?>
<p:presentation xmlns:p="http://schemas.openxmlformats.org/presentationml/2006/main">
  <p:sldMasterIdLst>
    <p:sldMasterId xmlns:r="http://schemas.openxmlformats.org/officeDocument/2006/relationships" id="2147483648" r:id="R03fa104239df45ad"/>
  </p:sldMasterIdLst>
  <p:notesMasterIdLst>
    <p:notesMasterId xmlns:r="http://schemas.openxmlformats.org/officeDocument/2006/relationships" r:id="R9b4cd482bc644209"/>
  </p:notesMasterIdLst>
  <p:sldIdLst>
    <p:sldId xmlns:r="http://schemas.openxmlformats.org/officeDocument/2006/relationships" id="256" r:id="R117ab79e3aa545ab"/>
    <p:sldId xmlns:r="http://schemas.openxmlformats.org/officeDocument/2006/relationships" id="257" r:id="R0b44b291f6ab46bb"/>
    <p:sldId xmlns:r="http://schemas.openxmlformats.org/officeDocument/2006/relationships" id="258" r:id="R98769766a2894a13"/>
    <p:sldId xmlns:r="http://schemas.openxmlformats.org/officeDocument/2006/relationships" id="259" r:id="Rb98cead8f0fd4172"/>
    <p:sldId xmlns:r="http://schemas.openxmlformats.org/officeDocument/2006/relationships" id="260" r:id="R5636d5fc8aa44b96"/>
    <p:sldId xmlns:r="http://schemas.openxmlformats.org/officeDocument/2006/relationships" id="261" r:id="R6a3804f71f664203"/>
    <p:sldId xmlns:r="http://schemas.openxmlformats.org/officeDocument/2006/relationships" id="262" r:id="Rde02974839474223"/>
    <p:sldId xmlns:r="http://schemas.openxmlformats.org/officeDocument/2006/relationships" id="263" r:id="Rf3ca82b45f714c76"/>
    <p:sldId xmlns:r="http://schemas.openxmlformats.org/officeDocument/2006/relationships" id="264" r:id="Rc57094d6f8ca4dd3"/>
    <p:sldId xmlns:r="http://schemas.openxmlformats.org/officeDocument/2006/relationships" id="265" r:id="R8a8806e8fbe54b12"/>
    <p:sldId xmlns:r="http://schemas.openxmlformats.org/officeDocument/2006/relationships" id="266" r:id="Rb538d908ec304739"/>
    <p:sldId xmlns:r="http://schemas.openxmlformats.org/officeDocument/2006/relationships" id="267" r:id="Rf532f57930a840df"/>
    <p:sldId xmlns:r="http://schemas.openxmlformats.org/officeDocument/2006/relationships" id="268" r:id="R2ae1213abfc0466a"/>
    <p:sldId xmlns:r="http://schemas.openxmlformats.org/officeDocument/2006/relationships" id="269" r:id="Rc377a4b0a55e499a"/>
    <p:sldId xmlns:r="http://schemas.openxmlformats.org/officeDocument/2006/relationships" id="270" r:id="R25781cf63a744c4f"/>
    <p:sldId xmlns:r="http://schemas.openxmlformats.org/officeDocument/2006/relationships" id="271" r:id="R45c7c1e1313844d0"/>
    <p:sldId xmlns:r="http://schemas.openxmlformats.org/officeDocument/2006/relationships" id="272" r:id="Ra2c92753c2d5453e"/>
    <p:sldId xmlns:r="http://schemas.openxmlformats.org/officeDocument/2006/relationships" id="273" r:id="Rdba29336e5a34da2"/>
    <p:sldId xmlns:r="http://schemas.openxmlformats.org/officeDocument/2006/relationships" id="274" r:id="R58cb7ecfced14df2"/>
    <p:sldId xmlns:r="http://schemas.openxmlformats.org/officeDocument/2006/relationships" id="275" r:id="Ra9b8ffda26934a4b"/>
    <p:sldId xmlns:r="http://schemas.openxmlformats.org/officeDocument/2006/relationships" id="276" r:id="Rfc8809f10e1f4aa1"/>
    <p:sldId xmlns:r="http://schemas.openxmlformats.org/officeDocument/2006/relationships" id="277" r:id="R27ce71edbbe445c9"/>
    <p:sldId xmlns:r="http://schemas.openxmlformats.org/officeDocument/2006/relationships" id="278" r:id="R97b755d2b8a148ea"/>
    <p:sldId xmlns:r="http://schemas.openxmlformats.org/officeDocument/2006/relationships" id="279" r:id="R527946376ccb44d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3a50f3d2c64f06" /><Relationship Type="http://schemas.openxmlformats.org/officeDocument/2006/relationships/slideMaster" Target="/ppt/slideMasters/slideMaster1.xml" Id="R03fa104239df45ad" /><Relationship Type="http://schemas.openxmlformats.org/officeDocument/2006/relationships/notesMaster" Target="/ppt/notesMasters/notesMaster1.xml" Id="R9b4cd482bc644209" /><Relationship Type="http://schemas.openxmlformats.org/officeDocument/2006/relationships/presProps" Target="/ppt/presProps.xml" Id="Rdf42a45d11fc4de7" /><Relationship Type="http://schemas.openxmlformats.org/officeDocument/2006/relationships/tableStyles" Target="/ppt/tableStyles.xml" Id="R7d388d4317164729" /><Relationship Type="http://schemas.openxmlformats.org/officeDocument/2006/relationships/slide" Target="/ppt/slides/slide1.xml" Id="R117ab79e3aa545ab" /><Relationship Type="http://schemas.openxmlformats.org/officeDocument/2006/relationships/slide" Target="/ppt/slides/slide2.xml" Id="R0b44b291f6ab46bb" /><Relationship Type="http://schemas.openxmlformats.org/officeDocument/2006/relationships/slide" Target="/ppt/slides/slide3.xml" Id="R98769766a2894a13" /><Relationship Type="http://schemas.openxmlformats.org/officeDocument/2006/relationships/slide" Target="/ppt/slides/slide4.xml" Id="Rb98cead8f0fd4172" /><Relationship Type="http://schemas.openxmlformats.org/officeDocument/2006/relationships/slide" Target="/ppt/slides/slide5.xml" Id="R5636d5fc8aa44b96" /><Relationship Type="http://schemas.openxmlformats.org/officeDocument/2006/relationships/slide" Target="/ppt/slides/slide6.xml" Id="R6a3804f71f664203" /><Relationship Type="http://schemas.openxmlformats.org/officeDocument/2006/relationships/slide" Target="/ppt/slides/slide7.xml" Id="Rde02974839474223" /><Relationship Type="http://schemas.openxmlformats.org/officeDocument/2006/relationships/slide" Target="/ppt/slides/slide8.xml" Id="Rf3ca82b45f714c76" /><Relationship Type="http://schemas.openxmlformats.org/officeDocument/2006/relationships/slide" Target="/ppt/slides/slide9.xml" Id="Rc57094d6f8ca4dd3" /><Relationship Type="http://schemas.openxmlformats.org/officeDocument/2006/relationships/slide" Target="/ppt/slides/slide10.xml" Id="R8a8806e8fbe54b12" /><Relationship Type="http://schemas.openxmlformats.org/officeDocument/2006/relationships/slide" Target="/ppt/slides/slide11.xml" Id="Rb538d908ec304739" /><Relationship Type="http://schemas.openxmlformats.org/officeDocument/2006/relationships/slide" Target="/ppt/slides/slide12.xml" Id="Rf532f57930a840df" /><Relationship Type="http://schemas.openxmlformats.org/officeDocument/2006/relationships/slide" Target="/ppt/slides/slide13.xml" Id="R2ae1213abfc0466a" /><Relationship Type="http://schemas.openxmlformats.org/officeDocument/2006/relationships/slide" Target="/ppt/slides/slide14.xml" Id="Rc377a4b0a55e499a" /><Relationship Type="http://schemas.openxmlformats.org/officeDocument/2006/relationships/slide" Target="/ppt/slides/slide15.xml" Id="R25781cf63a744c4f" /><Relationship Type="http://schemas.openxmlformats.org/officeDocument/2006/relationships/slide" Target="/ppt/slides/slide16.xml" Id="R45c7c1e1313844d0" /><Relationship Type="http://schemas.openxmlformats.org/officeDocument/2006/relationships/slide" Target="/ppt/slides/slide17.xml" Id="Ra2c92753c2d5453e" /><Relationship Type="http://schemas.openxmlformats.org/officeDocument/2006/relationships/slide" Target="/ppt/slides/slide18.xml" Id="Rdba29336e5a34da2" /><Relationship Type="http://schemas.openxmlformats.org/officeDocument/2006/relationships/slide" Target="/ppt/slides/slide19.xml" Id="R58cb7ecfced14df2" /><Relationship Type="http://schemas.openxmlformats.org/officeDocument/2006/relationships/slide" Target="/ppt/slides/slide20.xml" Id="Ra9b8ffda26934a4b" /><Relationship Type="http://schemas.openxmlformats.org/officeDocument/2006/relationships/slide" Target="/ppt/slides/slide21.xml" Id="Rfc8809f10e1f4aa1" /><Relationship Type="http://schemas.openxmlformats.org/officeDocument/2006/relationships/slide" Target="/ppt/slides/slide22.xml" Id="R27ce71edbbe445c9" /><Relationship Type="http://schemas.openxmlformats.org/officeDocument/2006/relationships/slide" Target="/ppt/slides/slide23.xml" Id="R97b755d2b8a148ea" /><Relationship Type="http://schemas.openxmlformats.org/officeDocument/2006/relationships/slide" Target="/ppt/slides/slide24.xml" Id="R527946376ccb44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16ce1428f949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fb0a4ea89a4903" /><Relationship Type="http://schemas.openxmlformats.org/officeDocument/2006/relationships/notesMaster" Target="/ppt/notesMasters/notesMaster1.xml" Id="Rb1f0ad509eeb4a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3fd7970a504dd8" /><Relationship Type="http://schemas.openxmlformats.org/officeDocument/2006/relationships/notesMaster" Target="/ppt/notesMasters/notesMaster1.xml" Id="Rcd6b3b9efa9c42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f517e2f2d74272" /><Relationship Type="http://schemas.openxmlformats.org/officeDocument/2006/relationships/notesMaster" Target="/ppt/notesMasters/notesMaster1.xml" Id="R4b61ff7c03214c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353ffb6be04daf" /><Relationship Type="http://schemas.openxmlformats.org/officeDocument/2006/relationships/notesMaster" Target="/ppt/notesMasters/notesMaster1.xml" Id="R4410b70c2a1344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609ca86ac64303" /><Relationship Type="http://schemas.openxmlformats.org/officeDocument/2006/relationships/notesMaster" Target="/ppt/notesMasters/notesMaster1.xml" Id="R40daf137a15b40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38f6bb55b842e5" /><Relationship Type="http://schemas.openxmlformats.org/officeDocument/2006/relationships/notesMaster" Target="/ppt/notesMasters/notesMaster1.xml" Id="Rdd24f601d8904f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4e6a741e5a4679" /><Relationship Type="http://schemas.openxmlformats.org/officeDocument/2006/relationships/notesMaster" Target="/ppt/notesMasters/notesMaster1.xml" Id="R9bad5b62a7d742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eac52201ef4df4" /><Relationship Type="http://schemas.openxmlformats.org/officeDocument/2006/relationships/notesMaster" Target="/ppt/notesMasters/notesMaster1.xml" Id="R077da633a71e43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c6d0f5b3044192" /><Relationship Type="http://schemas.openxmlformats.org/officeDocument/2006/relationships/notesMaster" Target="/ppt/notesMasters/notesMaster1.xml" Id="R3d1838f9f84f46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bc5313804e447f" /><Relationship Type="http://schemas.openxmlformats.org/officeDocument/2006/relationships/notesMaster" Target="/ppt/notesMasters/notesMaster1.xml" Id="Ra1d296b944d14e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c54aa2dc684702" /><Relationship Type="http://schemas.openxmlformats.org/officeDocument/2006/relationships/notesMaster" Target="/ppt/notesMasters/notesMaster1.xml" Id="R39efdd251aaa4a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74a201a98a4da6" /><Relationship Type="http://schemas.openxmlformats.org/officeDocument/2006/relationships/notesMaster" Target="/ppt/notesMasters/notesMaster1.xml" Id="R4f71c570603942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3d7ec7715f4752" /><Relationship Type="http://schemas.openxmlformats.org/officeDocument/2006/relationships/notesMaster" Target="/ppt/notesMasters/notesMaster1.xml" Id="R9fbdfbf5602446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e07cd966b64ca0" /><Relationship Type="http://schemas.openxmlformats.org/officeDocument/2006/relationships/notesMaster" Target="/ppt/notesMasters/notesMaster1.xml" Id="R9498ee89fd264f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dee5b2bdfd400d" /><Relationship Type="http://schemas.openxmlformats.org/officeDocument/2006/relationships/notesMaster" Target="/ppt/notesMasters/notesMaster1.xml" Id="R4738223c98844e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9a7d56aa35402f" /><Relationship Type="http://schemas.openxmlformats.org/officeDocument/2006/relationships/notesMaster" Target="/ppt/notesMasters/notesMaster1.xml" Id="R451eb1d10e3546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c83b325f6a44db" /><Relationship Type="http://schemas.openxmlformats.org/officeDocument/2006/relationships/notesMaster" Target="/ppt/notesMasters/notesMaster1.xml" Id="R4f86e7dac0b649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ac83f1c2ef43ca" /><Relationship Type="http://schemas.openxmlformats.org/officeDocument/2006/relationships/notesMaster" Target="/ppt/notesMasters/notesMaster1.xml" Id="R8fee6b71cbfd43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77b33596ab43c5" /><Relationship Type="http://schemas.openxmlformats.org/officeDocument/2006/relationships/notesMaster" Target="/ppt/notesMasters/notesMaster1.xml" Id="R7186c681876041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e09fb3bb6d4b5d" /><Relationship Type="http://schemas.openxmlformats.org/officeDocument/2006/relationships/notesMaster" Target="/ppt/notesMasters/notesMaster1.xml" Id="R69556cb5f70841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8936f3b70441dd" /><Relationship Type="http://schemas.openxmlformats.org/officeDocument/2006/relationships/notesMaster" Target="/ppt/notesMasters/notesMaster1.xml" Id="R66ab547ebf3e4d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fde1874d354509" /><Relationship Type="http://schemas.openxmlformats.org/officeDocument/2006/relationships/notesMaster" Target="/ppt/notesMasters/notesMaster1.xml" Id="R96421683c49d49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3138cc38114439" /><Relationship Type="http://schemas.openxmlformats.org/officeDocument/2006/relationships/notesMaster" Target="/ppt/notesMasters/notesMaster1.xml" Id="Rbdbbd3ff33474d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a90cbd511e4ce5" /><Relationship Type="http://schemas.openxmlformats.org/officeDocument/2006/relationships/notesMaster" Target="/ppt/notesMasters/notesMaster1.xml" Id="R717779778ebe4f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kun je met eerdere kennis aanpakken, en welke met de theorie?</a:t>
            </a:r>
          </a:p>
          <a:p xmlns:a="http://schemas.openxmlformats.org/drawingml/2006/main">
            <a:r>
              <a:rPr sz="1400"/>
              <a:t/>
            </a:r>
          </a:p>
          <a:p xmlns:a="http://schemas.openxmlformats.org/drawingml/2006/main">
            <a:r>
              <a:rPr sz="1400"/>
              <a:t>Uitleg: Laat deze dia staan tijdens startopdracht. Opgaven 11 en 12 staan op p. 19, basis 13–14 op p. 20 en 15 op p. 21, zelfstandig 16–17 op p. 21 en doel 18 op p. 22. Huiswerk is 13 t/m 18 maken en nakijken. Bonus 19 en herhaling 20 zijn extra. Opgave 11 haalt de prijsnemerprocedure op uit Boek 3 §3.2.3, met herhaald uitgewerkt voorbeeld in Boek 4 §4.1.1 op p. 10: P = GO = MO, MO = MK oplossen, richting MK en capaciteit controleren, TO − TK. Geef bij vastlopen die procedure als steun zonder de opgave voor te rekenen. Opgave 12 is verkenning van marktbegrenzing, nog geen veronderstelde beheersing: laat de uitleg onder 'Kijk eerst welke markt bedoeld wordt' op p. 16 lezen en laat het brongegeven over alternatieven aanwijzen. Keer vóór zelfstandig oefenen naar 12 terug: laat leerlingen hun eigen eerste verklaring verbeteren. De volledige route heeft geen bewezen éénlesfit; de handleiding adviseert voorlopig twee lessen van 55 minuten. Rond zo nodig later af zonder basiswerk over te slaan.</a:t>
            </a:r>
          </a:p>
          <a:p xmlns:a="http://schemas.openxmlformats.org/drawingml/2006/main">
            <a:r>
              <a:rPr sz="1400"/>
              <a:t/>
            </a:r>
          </a:p>
          <a:p xmlns:a="http://schemas.openxmlformats.org/drawingml/2006/main">
            <a:r>
              <a:rPr sz="1400"/>
              <a:t>Misvatting: Hoofdstukpagina 15 is complete-boekpagina 19. Gebruik steeds de gedrukte boekpagina.</a:t>
            </a:r>
          </a:p>
          <a:p xmlns:a="http://schemas.openxmlformats.org/drawingml/2006/main">
            <a:r>
              <a:rPr sz="1400"/>
              <a:t/>
            </a:r>
          </a:p>
          <a:p xmlns:a="http://schemas.openxmlformats.org/drawingml/2006/main">
            <a:r>
              <a:rPr sz="1400"/>
              <a:t>Overgang: Ga naar de volgende lesfase; bij afsluiting: huiswerk in de agenda.</a:t>
            </a:r>
          </a:p>
          <a:p xmlns:a="http://schemas.openxmlformats.org/drawingml/2006/main">
            <a:r>
              <a:rPr sz="1400"/>
              <a:t/>
            </a:r>
          </a:p>
          <a:p xmlns:a="http://schemas.openxmlformats.org/drawingml/2006/main">
            <a:r>
              <a:rPr sz="1400"/>
              <a:t>Bron: Boek 4, editie books34-v3, gedrukte pagina 10, 16, 19–22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ligt voor één kleine prijsnemer vast?</a:t>
            </a:r>
          </a:p>
          <a:p xmlns:a="http://schemas.openxmlformats.org/drawingml/2006/main">
            <a:r>
              <a:rPr sz="1400"/>
              <a:t/>
            </a:r>
          </a:p>
          <a:p xmlns:a="http://schemas.openxmlformats.org/drawingml/2006/main">
            <a:r>
              <a:rPr sz="1400"/>
              <a:t>Uitleg: Haal alleen de bekende procedure op. Boek 3 §3.2.3 behandelt richting van MK, capaciteit en niet produceren. In Boek 4 staat een herhaling in het uitgewerkte voorbeeld van §4.1.1 op p. 10. Bespreek zo nodig een leerlingaanpak bij start 11, maar gebruik de startopgave niet als nieuw uitlegvoorbeeld. Een horizontale ondernemingslijn zegt niets over een horizontale marktvraag.</a:t>
            </a:r>
          </a:p>
          <a:p xmlns:a="http://schemas.openxmlformats.org/drawingml/2006/main">
            <a:r>
              <a:rPr sz="1400"/>
              <a:t/>
            </a:r>
          </a:p>
          <a:p xmlns:a="http://schemas.openxmlformats.org/drawingml/2006/main">
            <a:r>
              <a:rPr sz="1400"/>
              <a:t>Misvatting: MO = MK zonder haalbaarheid en richting te controleren is geen volledig bewijs.</a:t>
            </a:r>
          </a:p>
          <a:p xmlns:a="http://schemas.openxmlformats.org/drawingml/2006/main">
            <a:r>
              <a:rPr sz="1400"/>
              <a:t/>
            </a:r>
          </a:p>
          <a:p xmlns:a="http://schemas.openxmlformats.org/drawingml/2006/main">
            <a:r>
              <a:rPr sz="1400"/>
              <a:t>Overgang: Onderzoek nu waarom er soms maar één aanbieder overblijft.</a:t>
            </a:r>
          </a:p>
          <a:p xmlns:a="http://schemas.openxmlformats.org/drawingml/2006/main">
            <a:r>
              <a:rPr sz="1400"/>
              <a:t/>
            </a:r>
          </a:p>
          <a:p xmlns:a="http://schemas.openxmlformats.org/drawingml/2006/main">
            <a:r>
              <a:rPr sz="1400"/>
              <a:t>Bron: Boek 4, editie books34-v3, gedrukte pagina 8–10, 17, 19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producten tel je mee als je de markt afbakent?</a:t>
            </a:r>
          </a:p>
          <a:p xmlns:a="http://schemas.openxmlformats.org/drawingml/2006/main">
            <a:r>
              <a:rPr sz="1400"/>
              <a:t/>
            </a:r>
          </a:p>
          <a:p xmlns:a="http://schemas.openxmlformats.org/drawingml/2006/main">
            <a:r>
              <a:rPr sz="1400"/>
              <a:t>Uitleg: Zelfgemaakt voorbeeld: Nachtkoepel heeft als enige toegang tot de koepel, maar bezoekers kunnen een andere avondactiviteit kiezen. Benoem de markt voordat je aanbieders telt. Een merk of een foto van één winkel bewijst niet dat er één aanbieder op de relevante markt is. Laat start 12 daarna opnieuw beoordelen met het eigen brongegeven over goede alternatieven.</a:t>
            </a:r>
          </a:p>
          <a:p xmlns:a="http://schemas.openxmlformats.org/drawingml/2006/main">
            <a:r>
              <a:rPr sz="1400"/>
              <a:t/>
            </a:r>
          </a:p>
          <a:p xmlns:a="http://schemas.openxmlformats.org/drawingml/2006/main">
            <a:r>
              <a:rPr sz="1400"/>
              <a:t>Misvatting: Eén merk is niet vanzelf een monopolie op de productmarkt.</a:t>
            </a:r>
          </a:p>
          <a:p xmlns:a="http://schemas.openxmlformats.org/drawingml/2006/main">
            <a:r>
              <a:rPr sz="1400"/>
              <a:t/>
            </a:r>
          </a:p>
          <a:p xmlns:a="http://schemas.openxmlformats.org/drawingml/2006/main">
            <a:r>
              <a:rPr sz="1400"/>
              <a:t>Overgang: Waarom kan een ander bedrijf niet dezelfde toegang aanbieden?</a:t>
            </a:r>
          </a:p>
          <a:p xmlns:a="http://schemas.openxmlformats.org/drawingml/2006/main">
            <a:r>
              <a:rPr sz="1400"/>
              <a:t/>
            </a:r>
          </a:p>
          <a:p xmlns:a="http://schemas.openxmlformats.org/drawingml/2006/main">
            <a:r>
              <a:rPr sz="1400"/>
              <a:t>Bron: Boek 4, editie books34-v3, gedrukte pagina 16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houdt een nieuwe aanbieder feitelijk tegen?</a:t>
            </a:r>
          </a:p>
          <a:p xmlns:a="http://schemas.openxmlformats.org/drawingml/2006/main">
            <a:r>
              <a:rPr sz="1400"/>
              <a:t/>
            </a:r>
          </a:p>
          <a:p xmlns:a="http://schemas.openxmlformats.org/drawingml/2006/main">
            <a:r>
              <a:rPr sz="1400"/>
              <a:t>Uitleg: Contrasteer met §4.1.1: daar kunnen nieuwe aanbieders bij winst toetreden. Hier moet de bron duidelijk maken wat toetreding verhindert. In het uitlegvoorbeeld heeft alleen Nachtkoepel de sleutel en het gebruiksrecht van de noodzakelijke koepel. Dat is een concrete toegangsbarrière. Een octrooi bewijst op een brede markt met goede vervangers nog geen monopolie.</a:t>
            </a:r>
          </a:p>
          <a:p xmlns:a="http://schemas.openxmlformats.org/drawingml/2006/main">
            <a:r>
              <a:rPr sz="1400"/>
              <a:t/>
            </a:r>
          </a:p>
          <a:p xmlns:a="http://schemas.openxmlformats.org/drawingml/2006/main">
            <a:r>
              <a:rPr sz="1400"/>
              <a:t>Misvatting: Een barrière noemen zonder brongegeven of gevolg is te algemeen.</a:t>
            </a:r>
          </a:p>
          <a:p xmlns:a="http://schemas.openxmlformats.org/drawingml/2006/main">
            <a:r>
              <a:rPr sz="1400"/>
              <a:t/>
            </a:r>
          </a:p>
          <a:p xmlns:a="http://schemas.openxmlformats.org/drawingml/2006/main">
            <a:r>
              <a:rPr sz="1400"/>
              <a:t>Overgang: Vergelijk de vraaglijn van een kleine prijsnemer met die van een monopolist.</a:t>
            </a:r>
          </a:p>
          <a:p xmlns:a="http://schemas.openxmlformats.org/drawingml/2006/main">
            <a:r>
              <a:rPr sz="1400"/>
              <a:t/>
            </a:r>
          </a:p>
          <a:p xmlns:a="http://schemas.openxmlformats.org/drawingml/2006/main">
            <a:r>
              <a:rPr sz="1400"/>
              <a:t>Bron: Boek 4, editie books34-v3, gedrukte pagina 7–10, 16, 19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prijs voor deze kleine onderneming vandaan?</a:t>
            </a:r>
          </a:p>
          <a:p xmlns:a="http://schemas.openxmlformats.org/drawingml/2006/main">
            <a:r>
              <a:rPr sz="1400"/>
              <a:t/>
            </a:r>
          </a:p>
          <a:p xmlns:a="http://schemas.openxmlformats.org/drawingml/2006/main">
            <a:r>
              <a:rPr sz="1400"/>
              <a:t>Uitleg: Eigen oefencase, los van Nachtkoepel: een kleine groenteteler is prijsnemer met marktprijs 6 euro per kg en capaciteit 50 kg per week. Binnen het model ontvangt hij bij iedere haalbare afzet dezelfde prijs. Q is de hele markt en kan veel groter zijn. De horizontale lijn is geen marktvraaglijn.</a:t>
            </a:r>
          </a:p>
          <a:p xmlns:a="http://schemas.openxmlformats.org/drawingml/2006/main">
            <a:r>
              <a:rPr sz="1400"/>
              <a:t/>
            </a:r>
          </a:p>
          <a:p xmlns:a="http://schemas.openxmlformats.org/drawingml/2006/main">
            <a:r>
              <a:rPr sz="1400"/>
              <a:t>Misvatting: De teler kan niet onbeperkt produceren: de lijn stopt bij zijn capaciteit.</a:t>
            </a:r>
          </a:p>
          <a:p xmlns:a="http://schemas.openxmlformats.org/drawingml/2006/main">
            <a:r>
              <a:rPr sz="1400"/>
              <a:t/>
            </a:r>
          </a:p>
          <a:p xmlns:a="http://schemas.openxmlformats.org/drawingml/2006/main">
            <a:r>
              <a:rPr sz="1400"/>
              <a:t>Overgang: Wissel nu expliciet naar Nachtkoepel en kaartjes per avond.</a:t>
            </a:r>
          </a:p>
          <a:p xmlns:a="http://schemas.openxmlformats.org/drawingml/2006/main">
            <a:r>
              <a:rPr sz="1400"/>
              <a:t/>
            </a:r>
          </a:p>
          <a:p xmlns:a="http://schemas.openxmlformats.org/drawingml/2006/main">
            <a:r>
              <a:rPr sz="1400"/>
              <a:t>Bron: Boek 4, editie books34-v3, gedrukte pagina 17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hier q gelijk aan Q?</a:t>
            </a:r>
          </a:p>
          <a:p xmlns:a="http://schemas.openxmlformats.org/drawingml/2006/main">
            <a:r>
              <a:rPr sz="1400"/>
              <a:t/>
            </a:r>
          </a:p>
          <a:p xmlns:a="http://schemas.openxmlformats.org/drawingml/2006/main">
            <a:r>
              <a:rPr sz="1400"/>
              <a:t>Uitleg: Reset de context en eenheid: nu kaartjes per avond. Bij meer afzet daalt de prijs langs deze lijn, met overige vraagfactoren gelijk. Alle verkochte kaartjes hebben in één situatie dezelfde prijs. Dan TO = P × q en GO = TO/q = P voor q &gt; 0. Daarom heet de vraaglijn ook GO. Bij q = 0 is GO niet te berekenen; het intercept is de grenswaarde van de vraagfunctie. Neem P = MO niet over: de marginale opbrengst volgt in §4.1.3.</a:t>
            </a:r>
          </a:p>
          <a:p xmlns:a="http://schemas.openxmlformats.org/drawingml/2006/main">
            <a:r>
              <a:rPr sz="1400"/>
              <a:t/>
            </a:r>
          </a:p>
          <a:p xmlns:a="http://schemas.openxmlformats.org/drawingml/2006/main">
            <a:r>
              <a:rPr sz="1400"/>
              <a:t>Misvatting: Prijs en afzet zijn verbonden. Een monopolist kan niet beide onafhankelijk vastzetten.</a:t>
            </a:r>
          </a:p>
          <a:p xmlns:a="http://schemas.openxmlformats.org/drawingml/2006/main">
            <a:r>
              <a:rPr sz="1400"/>
              <a:t/>
            </a:r>
          </a:p>
          <a:p xmlns:a="http://schemas.openxmlformats.org/drawingml/2006/main">
            <a:r>
              <a:rPr sz="1400"/>
              <a:t>Overgang: Vul nu twee hoeveelheden in deze vraagfunctie in.</a:t>
            </a:r>
          </a:p>
          <a:p xmlns:a="http://schemas.openxmlformats.org/drawingml/2006/main">
            <a:r>
              <a:rPr sz="1400"/>
              <a:t/>
            </a:r>
          </a:p>
          <a:p xmlns:a="http://schemas.openxmlformats.org/drawingml/2006/main">
            <a:r>
              <a:rPr sz="1400"/>
              <a:t>Bron: Boek 4, editie books34-v3, gedrukte pagina 17–18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krijgt elk punt twee coördinaten?</a:t>
            </a:r>
          </a:p>
          <a:p xmlns:a="http://schemas.openxmlformats.org/drawingml/2006/main">
            <a:r>
              <a:rPr sz="1400"/>
              <a:t/>
            </a:r>
          </a:p>
          <a:p xmlns:a="http://schemas.openxmlformats.org/drawingml/2006/main">
            <a:r>
              <a:rPr sz="1400"/>
              <a:t>Uitleg: Eigen gegevens. Werk eerst A uit: 0,25 × 24 = 6, dus 30 − 6 = 24 euro per kaartje. Dan B: 0,25 × 72 = 18, dus 30 − 18 = 12 euro per kaartje. Afzet is per avond. Beide hoeveelheden liggen binnen 0 tot 120. Bereken eerst en lees daarna de combinaties af.</a:t>
            </a:r>
          </a:p>
          <a:p xmlns:a="http://schemas.openxmlformats.org/drawingml/2006/main">
            <a:r>
              <a:rPr sz="1400"/>
              <a:t/>
            </a:r>
          </a:p>
          <a:p xmlns:a="http://schemas.openxmlformats.org/drawingml/2006/main">
            <a:r>
              <a:rPr sz="1400"/>
              <a:t>Misvatting: q heeft de eenheid kaartjes per avond, P euro per kaartje.</a:t>
            </a:r>
          </a:p>
          <a:p xmlns:a="http://schemas.openxmlformats.org/drawingml/2006/main">
            <a:r>
              <a:rPr sz="1400"/>
              <a:t/>
            </a:r>
          </a:p>
          <a:p xmlns:a="http://schemas.openxmlformats.org/drawingml/2006/main">
            <a:r>
              <a:rPr sz="1400"/>
              <a:t>Overgang: Zoek beide berekende combinaties op de lijn.</a:t>
            </a:r>
          </a:p>
          <a:p xmlns:a="http://schemas.openxmlformats.org/drawingml/2006/main">
            <a:r>
              <a:rPr sz="1400"/>
              <a:t/>
            </a:r>
          </a:p>
          <a:p xmlns:a="http://schemas.openxmlformats.org/drawingml/2006/main">
            <a:r>
              <a:rPr sz="1400"/>
              <a:t>Bron: Boek 4, editie books34-v3, gedrukte pagina 18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punt hoort bij een afzet van 72?</a:t>
            </a:r>
          </a:p>
          <a:p xmlns:a="http://schemas.openxmlformats.org/drawingml/2006/main">
            <a:r>
              <a:rPr sz="1400"/>
              <a:t/>
            </a:r>
          </a:p>
          <a:p xmlns:a="http://schemas.openxmlformats.org/drawingml/2006/main">
            <a:r>
              <a:rPr sz="1400"/>
              <a:t>Uitleg: Volg vanaf q eerst omhoog naar de lijn en daarna naar links naar P. De A-hoeveelheid en B-prijs horen bij verschillende punten. De combinatie (72,24) voldoet niet aan P = 30 − 0,25q. Dit is een andere opgave dan de toegewezen boekvragen.</a:t>
            </a:r>
          </a:p>
          <a:p xmlns:a="http://schemas.openxmlformats.org/drawingml/2006/main">
            <a:r>
              <a:rPr sz="1400"/>
              <a:t/>
            </a:r>
          </a:p>
          <a:p xmlns:a="http://schemas.openxmlformats.org/drawingml/2006/main">
            <a:r>
              <a:rPr sz="1400"/>
              <a:t>Misvatting: Een prijs van het ene punt en een afzet van het andere punt vormen geen geldige combinatie.</a:t>
            </a:r>
          </a:p>
          <a:p xmlns:a="http://schemas.openxmlformats.org/drawingml/2006/main">
            <a:r>
              <a:rPr sz="1400"/>
              <a:t/>
            </a:r>
          </a:p>
          <a:p xmlns:a="http://schemas.openxmlformats.org/drawingml/2006/main">
            <a:r>
              <a:rPr sz="1400"/>
              <a:t>Overgang: Je kunt ook beginnen bij een gegeven prijs.</a:t>
            </a:r>
          </a:p>
          <a:p xmlns:a="http://schemas.openxmlformats.org/drawingml/2006/main">
            <a:r>
              <a:rPr sz="1400"/>
              <a:t/>
            </a:r>
          </a:p>
          <a:p xmlns:a="http://schemas.openxmlformats.org/drawingml/2006/main">
            <a:r>
              <a:rPr sz="1400"/>
              <a:t>Bron: Boek 4, editie books34-v3, gedrukte pagina 18, 20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de gevonden hoeveelheid?</a:t>
            </a:r>
          </a:p>
          <a:p xmlns:a="http://schemas.openxmlformats.org/drawingml/2006/main">
            <a:r>
              <a:rPr sz="1400"/>
              <a:t/>
            </a:r>
          </a:p>
          <a:p xmlns:a="http://schemas.openxmlformats.org/drawingml/2006/main">
            <a:r>
              <a:rPr sz="1400"/>
              <a:t>Uitleg: Dit demonstreert de omgekeerde bewerking voor basisopgave 14b, die na het boekvoorbeeld voor het eerst expliciet gevraagd wordt. Trek niet alleen 18 van 30 af: deel ook door 0,25. Controleer door de gevonden q terug te plaatsen. 48 valt binnen 0–120. Het resultaat betekent dat de bezoekers samen bij deze prijs 48 kaartjes per avond willen kopen.</a:t>
            </a:r>
          </a:p>
          <a:p xmlns:a="http://schemas.openxmlformats.org/drawingml/2006/main">
            <a:r>
              <a:rPr sz="1400"/>
              <a:t/>
            </a:r>
          </a:p>
          <a:p xmlns:a="http://schemas.openxmlformats.org/drawingml/2006/main">
            <a:r>
              <a:rPr sz="1400"/>
              <a:t>Misvatting: Een verschil in euro is nog geen hoeveelheid kaartjes.</a:t>
            </a:r>
          </a:p>
          <a:p xmlns:a="http://schemas.openxmlformats.org/drawingml/2006/main">
            <a:r>
              <a:rPr sz="1400"/>
              <a:t/>
            </a:r>
          </a:p>
          <a:p xmlns:a="http://schemas.openxmlformats.org/drawingml/2006/main">
            <a:r>
              <a:rPr sz="1400"/>
              <a:t>Overgang: Vergelijk nu prijsverandering met verandering van een andere vraagfactor.</a:t>
            </a:r>
          </a:p>
          <a:p xmlns:a="http://schemas.openxmlformats.org/drawingml/2006/main">
            <a:r>
              <a:rPr sz="1400"/>
              <a:t/>
            </a:r>
          </a:p>
          <a:p xmlns:a="http://schemas.openxmlformats.org/drawingml/2006/main">
            <a:r>
              <a:rPr sz="1400"/>
              <a:t>Bron: Boek 4, editie books34-v3, gedrukte pagina 18, 20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factor verandert hier?</a:t>
            </a:r>
          </a:p>
          <a:p xmlns:a="http://schemas.openxmlformats.org/drawingml/2006/main">
            <a:r>
              <a:rPr sz="1400"/>
              <a:t/>
            </a:r>
          </a:p>
          <a:p xmlns:a="http://schemas.openxmlformats.org/drawingml/2006/main">
            <a:r>
              <a:rPr sz="1400"/>
              <a:t>Uitleg: De prijsverandering kiest een ander punt op dezelfde vraaglijn. A naar B verlaagt P en verhoogt q. Laat een leerling met de hand de richting langs de lijn aanwijzen. Maak de oorzaak expliciet: het gaat om de eigen kaartjesprijs.</a:t>
            </a:r>
          </a:p>
          <a:p xmlns:a="http://schemas.openxmlformats.org/drawingml/2006/main">
            <a:r>
              <a:rPr sz="1400"/>
              <a:t/>
            </a:r>
          </a:p>
          <a:p xmlns:a="http://schemas.openxmlformats.org/drawingml/2006/main">
            <a:r>
              <a:rPr sz="1400"/>
              <a:t>Misvatting: Een lagere eigen prijs is geen rechtsverschuiving van de vraaglijn.</a:t>
            </a:r>
          </a:p>
          <a:p xmlns:a="http://schemas.openxmlformats.org/drawingml/2006/main">
            <a:r>
              <a:rPr sz="1400"/>
              <a:t/>
            </a:r>
          </a:p>
          <a:p xmlns:a="http://schemas.openxmlformats.org/drawingml/2006/main">
            <a:r>
              <a:rPr sz="1400"/>
              <a:t>Overgang: Verander nu bezoekersvoorkeuren terwijl we dezelfde prijs vergelijken.</a:t>
            </a:r>
          </a:p>
          <a:p xmlns:a="http://schemas.openxmlformats.org/drawingml/2006/main">
            <a:r>
              <a:rPr sz="1400"/>
              <a:t/>
            </a:r>
          </a:p>
          <a:p xmlns:a="http://schemas.openxmlformats.org/drawingml/2006/main">
            <a:r>
              <a:rPr sz="1400"/>
              <a:t>Bron: Boek 4, editie books34-v3, gedrukte pagina 17, 21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vergelijken we hier bij dezelfde prijs?</a:t>
            </a:r>
          </a:p>
          <a:p xmlns:a="http://schemas.openxmlformats.org/drawingml/2006/main">
            <a:r>
              <a:rPr sz="1400"/>
              <a:t/>
            </a:r>
          </a:p>
          <a:p xmlns:a="http://schemas.openxmlformats.org/drawingml/2006/main">
            <a:r>
              <a:rPr sz="1400"/>
              <a:t>Uitleg: Extra eigen uitlegvoorbeeld voor de bewerking uit basisopgave 15. Een populaire sterrennacht vergroot de belangstelling bij elke prijs. Neem als nieuwe oefenfunctie P = 36 − 0,25q, domein 0–144 en voldoende capaciteit. Vergelijk horizontaal bij 18 euro: q0=(30−18)/0,25=48 en q1=(36−18)/0,25=72. De nieuwe lijn ligt bij elke gemeenschappelijke prijs verder naar rechts. Het is een andere situatie; de eerdere vraagfunctie gold bij onveranderde overige factoren. Combineer oorzaken pas daarna: bij een rechtsverschuiving én lagere prijs groeit afzet door beide effecten. De precieze groei kun je zonder cijfers niet bepalen.</a:t>
            </a:r>
          </a:p>
          <a:p xmlns:a="http://schemas.openxmlformats.org/drawingml/2006/main">
            <a:r>
              <a:rPr sz="1400"/>
              <a:t/>
            </a:r>
          </a:p>
          <a:p xmlns:a="http://schemas.openxmlformats.org/drawingml/2006/main">
            <a:r>
              <a:rPr sz="1400"/>
              <a:t>Misvatting: Meer belangstelling en een lagere eigen prijs zijn verschillende oorzaken, ook als beide meer afzet geven.</a:t>
            </a:r>
          </a:p>
          <a:p xmlns:a="http://schemas.openxmlformats.org/drawingml/2006/main">
            <a:r>
              <a:rPr sz="1400"/>
              <a:t/>
            </a:r>
          </a:p>
          <a:p xmlns:a="http://schemas.openxmlformats.org/drawingml/2006/main">
            <a:r>
              <a:rPr sz="1400"/>
              <a:t>Overgang: Controleer het onderscheid en keer terug naar start 12.</a:t>
            </a:r>
          </a:p>
          <a:p xmlns:a="http://schemas.openxmlformats.org/drawingml/2006/main">
            <a:r>
              <a:rPr sz="1400"/>
              <a:t/>
            </a:r>
          </a:p>
          <a:p xmlns:a="http://schemas.openxmlformats.org/drawingml/2006/main">
            <a:r>
              <a:rPr sz="1400"/>
              <a:t>Bron: Boek 4, editie books34-v3, gedrukte pagina 17, 21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Uitlegvoorbeeld — niet uit het boek. Nachtkoepel en de kleine groenteteler zijn zelfgemaakte oefencases. De boekverwijzing betreft de methode, niet deze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brongegeven bepaalt of je één aanbieder telt?</a:t>
            </a:r>
          </a:p>
          <a:p xmlns:a="http://schemas.openxmlformats.org/drawingml/2006/main">
            <a:r>
              <a:rPr sz="1400"/>
              <a:t/>
            </a:r>
          </a:p>
          <a:p xmlns:a="http://schemas.openxmlformats.org/drawingml/2006/main">
            <a:r>
              <a:rPr sz="1400"/>
              <a:t>Uitleg: Laat eerst antwoorden. Eén merk bewijst geen monopolie als er goede alternatieven zijn. De eigen prijs verandert de plek op de bestaande lijn. GO = P geldt als alle verkochte eenheden dezelfde prijs krijgen en q &gt; 0. Laat start 12 opnieuw proberen met bronbewijs; dit is terugkeer na verkenning. Help bij een ontbrekende marktgrens voordat leerlingen zelfstandig beginnen.</a:t>
            </a:r>
          </a:p>
          <a:p xmlns:a="http://schemas.openxmlformats.org/drawingml/2006/main">
            <a:r>
              <a:rPr sz="1400"/>
              <a:t/>
            </a:r>
          </a:p>
          <a:p xmlns:a="http://schemas.openxmlformats.org/drawingml/2006/main">
            <a:r>
              <a:rPr sz="1400"/>
              <a:t>Misvatting: De startverkenning is geen bewijs dat nieuwe leerstof al beheerst werd.</a:t>
            </a:r>
          </a:p>
          <a:p xmlns:a="http://schemas.openxmlformats.org/drawingml/2006/main">
            <a:r>
              <a:rPr sz="1400"/>
              <a:t/>
            </a:r>
          </a:p>
          <a:p xmlns:a="http://schemas.openxmlformats.org/drawingml/2006/main">
            <a:r>
              <a:rPr sz="1400"/>
              <a:t>Overgang: Toon het overzicht en start bij basisopgaven 13–15.</a:t>
            </a:r>
          </a:p>
          <a:p xmlns:a="http://schemas.openxmlformats.org/drawingml/2006/main">
            <a:r>
              <a:rPr sz="1400"/>
              <a:t/>
            </a:r>
          </a:p>
          <a:p xmlns:a="http://schemas.openxmlformats.org/drawingml/2006/main">
            <a:r>
              <a:rPr sz="1400"/>
              <a:t>Bron: Boek 4, editie books34-v3, gedrukte pagina 16–19, 21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uit de oefenroute werk je af?</a:t>
            </a:r>
          </a:p>
          <a:p xmlns:a="http://schemas.openxmlformats.org/drawingml/2006/main">
            <a:r>
              <a:rPr sz="1400"/>
              <a:t/>
            </a:r>
          </a:p>
          <a:p xmlns:a="http://schemas.openxmlformats.org/drawingml/2006/main">
            <a:r>
              <a:rPr sz="1400"/>
              <a:t>Uitleg: Laat deze dia staan tijdens zelfstandig werken. Opgaven 11 en 12 staan op p. 19, basis 13–14 op p. 20 en 15 op p. 21, zelfstandig 16–17 op p. 21 en doel 18 op p. 22. Huiswerk is 13 t/m 18 maken en nakijken. Bonus 19 en herhaling 20 zijn extra. Opgave 11 haalt de prijsnemerprocedure op uit Boek 3 §3.2.3, met herhaald uitgewerkt voorbeeld in Boek 4 §4.1.1 op p. 10: P = GO = MO, MO = MK oplossen, richting MK en capaciteit controleren, TO − TK. Geef bij vastlopen die procedure als steun zonder de opgave voor te rekenen. Opgave 12 is verkenning van marktbegrenzing, nog geen veronderstelde beheersing: laat de uitleg onder 'Kijk eerst welke markt bedoeld wordt' op p. 16 lezen en laat het brongegeven over alternatieven aanwijzen. Keer vóór zelfstandig oefenen naar 12 terug: laat leerlingen hun eigen eerste verklaring verbeteren. De volledige route heeft geen bewezen éénlesfit; de handleiding adviseert voorlopig twee lessen van 55 minuten. Rond zo nodig later af zonder basiswerk over te slaan.</a:t>
            </a:r>
          </a:p>
          <a:p xmlns:a="http://schemas.openxmlformats.org/drawingml/2006/main">
            <a:r>
              <a:rPr sz="1400"/>
              <a:t/>
            </a:r>
          </a:p>
          <a:p xmlns:a="http://schemas.openxmlformats.org/drawingml/2006/main">
            <a:r>
              <a:rPr sz="1400"/>
              <a:t>Misvatting: Hoofdstukpagina 15 is complete-boekpagina 19. Gebruik steeds de gedrukte boekpagina.</a:t>
            </a:r>
          </a:p>
          <a:p xmlns:a="http://schemas.openxmlformats.org/drawingml/2006/main">
            <a:r>
              <a:rPr sz="1400"/>
              <a:t/>
            </a:r>
          </a:p>
          <a:p xmlns:a="http://schemas.openxmlformats.org/drawingml/2006/main">
            <a:r>
              <a:rPr sz="1400"/>
              <a:t>Overgang: Ga naar de volgende lesfase; bij afsluiting: huiswerk in de agenda.</a:t>
            </a:r>
          </a:p>
          <a:p xmlns:a="http://schemas.openxmlformats.org/drawingml/2006/main">
            <a:r>
              <a:rPr sz="1400"/>
              <a:t/>
            </a:r>
          </a:p>
          <a:p xmlns:a="http://schemas.openxmlformats.org/drawingml/2006/main">
            <a:r>
              <a:rPr sz="1400"/>
              <a:t>Bron: Boek 4, editie books34-v3, gedrukte pagina 10, 16, 19–22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geeft de bron over de periode en de capaciteit?</a:t>
            </a:r>
          </a:p>
          <a:p xmlns:a="http://schemas.openxmlformats.org/drawingml/2006/main">
            <a:r>
              <a:rPr sz="1400"/>
              <a:t/>
            </a:r>
          </a:p>
          <a:p xmlns:a="http://schemas.openxmlformats.org/drawingml/2006/main">
            <a:r>
              <a:rPr sz="1400"/>
              <a:t>Uitleg: Bespreek de doelopgave nadat leerlingen die zelf hebben geprobeerd. Dit is de volledige Bron A, zonder uitwerking. Laat leerlingen hun eigen werk erbij nemen. De volgende dia toont Bron B en de oorspronkelijke gegevens van figuur 4. Daarna volgen alle vijf deelvragen, vóór de antwoorden.</a:t>
            </a:r>
          </a:p>
          <a:p xmlns:a="http://schemas.openxmlformats.org/drawingml/2006/main">
            <a:r>
              <a:rPr sz="1400"/>
              <a:t/>
            </a:r>
          </a:p>
          <a:p xmlns:a="http://schemas.openxmlformats.org/drawingml/2006/main">
            <a:r>
              <a:rPr sz="1400"/>
              <a:t>Misvatting: Capaciteit en vraag zijn verschillende begrenzingen.</a:t>
            </a:r>
          </a:p>
          <a:p xmlns:a="http://schemas.openxmlformats.org/drawingml/2006/main">
            <a:r>
              <a:rPr sz="1400"/>
              <a:t/>
            </a:r>
          </a:p>
          <a:p xmlns:a="http://schemas.openxmlformats.org/drawingml/2006/main">
            <a:r>
              <a:rPr sz="1400"/>
              <a:t>Overgang: Lees ook Bron B en figuur 4.</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staan op de assen?</a:t>
            </a:r>
          </a:p>
          <a:p xmlns:a="http://schemas.openxmlformats.org/drawingml/2006/main">
            <a:r>
              <a:rPr sz="1400"/>
              <a:t/>
            </a:r>
          </a:p>
          <a:p xmlns:a="http://schemas.openxmlformats.org/drawingml/2006/main">
            <a:r>
              <a:rPr sz="1400"/>
              <a:t>Uitleg: Volledige Bron B met figuur 4 als bewerkbare XY-grafiek. A en B, de hulplijnen en schalen zijn gelijk aan het boek. De figuur bevat in het boek zelf reeds afleesbare coördinaten; dit is bronmateriaal, nog geen uitgewerkte beantwoording. Alle prijzen gelden uniform per gekozen situatie.</a:t>
            </a:r>
          </a:p>
          <a:p xmlns:a="http://schemas.openxmlformats.org/drawingml/2006/main">
            <a:r>
              <a:rPr sz="1400"/>
              <a:t/>
            </a:r>
          </a:p>
          <a:p xmlns:a="http://schemas.openxmlformats.org/drawingml/2006/main">
            <a:r>
              <a:rPr sz="1400"/>
              <a:t>Misvatting: De hoeveelheid is per dag, niet per week of per avond zoals in het eerdere uitlegvoorbeeld.</a:t>
            </a:r>
          </a:p>
          <a:p xmlns:a="http://schemas.openxmlformats.org/drawingml/2006/main">
            <a:r>
              <a:rPr sz="1400"/>
              <a:t/>
            </a:r>
          </a:p>
          <a:p xmlns:a="http://schemas.openxmlformats.org/drawingml/2006/main">
            <a:r>
              <a:rPr sz="1400"/>
              <a:t>Overgang: Toon alle vragen voordat je oplossingen bespreekt.</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aspecten vraagt b om te vergelijken?</a:t>
            </a:r>
          </a:p>
          <a:p xmlns:a="http://schemas.openxmlformats.org/drawingml/2006/main">
            <a:r>
              <a:rPr sz="1400"/>
              <a:t/>
            </a:r>
          </a:p>
          <a:p xmlns:a="http://schemas.openxmlformats.org/drawingml/2006/main">
            <a:r>
              <a:rPr sz="1400"/>
              <a:t>Uitleg: Toon de volledige vragen a–c zonder oplossingen. Elk onderdeel is 2 punten in het boek. Een bronantwoord vereist gegeven en gevolg. Rekenen bij c betekent substitutie én uitkomst met eenheid. Geef de uitwerking pas na de volgende vragendia.</a:t>
            </a:r>
          </a:p>
          <a:p xmlns:a="http://schemas.openxmlformats.org/drawingml/2006/main">
            <a:r>
              <a:rPr sz="1400"/>
              <a:t/>
            </a:r>
          </a:p>
          <a:p xmlns:a="http://schemas.openxmlformats.org/drawingml/2006/main">
            <a:r>
              <a:rPr sz="1400"/>
              <a:t>Misvatting: De marktvraag van volkomen concurrentie is iets anders dan de vraaglijn van één kleine onderneming.</a:t>
            </a:r>
          </a:p>
          <a:p xmlns:a="http://schemas.openxmlformats.org/drawingml/2006/main">
            <a:r>
              <a:rPr sz="1400"/>
              <a:t/>
            </a:r>
          </a:p>
          <a:p xmlns:a="http://schemas.openxmlformats.org/drawingml/2006/main">
            <a:r>
              <a:rPr sz="1400"/>
              <a:t>Overgang: Lees ook d en e.</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helpt om de uitspraak bij e te begrenzen?</a:t>
            </a:r>
          </a:p>
          <a:p xmlns:a="http://schemas.openxmlformats.org/drawingml/2006/main">
            <a:r>
              <a:rPr sz="1400"/>
              <a:t/>
            </a:r>
          </a:p>
          <a:p xmlns:a="http://schemas.openxmlformats.org/drawingml/2006/main">
            <a:r>
              <a:rPr sz="1400"/>
              <a:t>Uitleg: Alle vijf deelvragen en beide bronnen zijn nu beschikbaar. Laat leerlingen aangeven waar hun eigen uitwerking twijfelt, zonder al antwoorden te dicteren. Pas daarna begint de bespreking.</a:t>
            </a:r>
          </a:p>
          <a:p xmlns:a="http://schemas.openxmlformats.org/drawingml/2006/main">
            <a:r>
              <a:rPr sz="1400"/>
              <a:t/>
            </a:r>
          </a:p>
          <a:p xmlns:a="http://schemas.openxmlformats.org/drawingml/2006/main">
            <a:r>
              <a:rPr sz="1400"/>
              <a:t>Misvatting: Een ja/nee-antwoord zonder onderbouwing voldoet niet.</a:t>
            </a:r>
          </a:p>
          <a:p xmlns:a="http://schemas.openxmlformats.org/drawingml/2006/main">
            <a:r>
              <a:rPr sz="1400"/>
              <a:t/>
            </a:r>
          </a:p>
          <a:p xmlns:a="http://schemas.openxmlformats.org/drawingml/2006/main">
            <a:r>
              <a:rPr sz="1400"/>
              <a:t>Overgang: Begin met a: wat belemmert de toegang?</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het woord vergunning onvoldoende?</a:t>
            </a:r>
          </a:p>
          <a:p xmlns:a="http://schemas.openxmlformats.org/drawingml/2006/main">
            <a:r>
              <a:rPr sz="1400"/>
              <a:t/>
            </a:r>
          </a:p>
          <a:p xmlns:a="http://schemas.openxmlformats.org/drawingml/2006/main">
            <a:r>
              <a:rPr sz="1400"/>
              <a:t>Uitleg: Antwoordmodel 18a. Verbind de exclusieve vergunning met het feit dat een ander niet mag aanbieden. Begrens de conclusie tot de directe verbinding en de onderzochte periode. Claim geen monopolie op alle reizen of alle vakanties.</a:t>
            </a:r>
          </a:p>
          <a:p xmlns:a="http://schemas.openxmlformats.org/drawingml/2006/main">
            <a:r>
              <a:rPr sz="1400"/>
              <a:t/>
            </a:r>
          </a:p>
          <a:p xmlns:a="http://schemas.openxmlformats.org/drawingml/2006/main">
            <a:r>
              <a:rPr sz="1400"/>
              <a:t>Misvatting: Een gewone vergunning die elke nieuwkomer kan krijgen is niet dezelfde barrière als een exclusieve vergunning.</a:t>
            </a:r>
          </a:p>
          <a:p xmlns:a="http://schemas.openxmlformats.org/drawingml/2006/main">
            <a:r>
              <a:rPr sz="1400"/>
              <a:t/>
            </a:r>
          </a:p>
          <a:p xmlns:a="http://schemas.openxmlformats.org/drawingml/2006/main">
            <a:r>
              <a:rPr sz="1400"/>
              <a:t>Overgang: Vergelijk nu toetreding en ondernemingsvraag.</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hele markt en welke bij een kleine aanbieder?</a:t>
            </a:r>
          </a:p>
          <a:p xmlns:a="http://schemas.openxmlformats.org/drawingml/2006/main">
            <a:r>
              <a:rPr sz="1400"/>
              <a:t/>
            </a:r>
          </a:p>
          <a:p xmlns:a="http://schemas.openxmlformats.org/drawingml/2006/main">
            <a:r>
              <a:rPr sz="1400"/>
              <a:t>Uitleg: Antwoordmodel 18b. Eén kleine prijsnemer kan binnen zijn capaciteit afzetten tegen de gegeven prijs. De monopolist ziet de dalende vraag van de hele afgebakende markt. Bij beide is GO = P als de prijs uniform is. Het verschil betreft het verloop van P bij een andere q.</a:t>
            </a:r>
          </a:p>
          <a:p xmlns:a="http://schemas.openxmlformats.org/drawingml/2006/main">
            <a:r>
              <a:rPr sz="1400"/>
              <a:t/>
            </a:r>
          </a:p>
          <a:p xmlns:a="http://schemas.openxmlformats.org/drawingml/2006/main">
            <a:r>
              <a:rPr sz="1400"/>
              <a:t>Misvatting: Veel aanbieders betekent niet dat de gezamenlijke marktvraag horizontaal is.</a:t>
            </a:r>
          </a:p>
          <a:p xmlns:a="http://schemas.openxmlformats.org/drawingml/2006/main">
            <a:r>
              <a:rPr sz="1400"/>
              <a:t/>
            </a:r>
          </a:p>
          <a:p xmlns:a="http://schemas.openxmlformats.org/drawingml/2006/main">
            <a:r>
              <a:rPr sz="1400"/>
              <a:t>Overgang: Bereken de coördinaten van A.</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controleer je op de grafiek na het rekenen?</a:t>
            </a:r>
          </a:p>
          <a:p xmlns:a="http://schemas.openxmlformats.org/drawingml/2006/main">
            <a:r>
              <a:rPr sz="1400"/>
              <a:t/>
            </a:r>
          </a:p>
          <a:p xmlns:a="http://schemas.openxmlformats.org/drawingml/2006/main">
            <a:r>
              <a:rPr sz="1400"/>
              <a:t>Uitleg: Antwoordmodel 18c, punt A. Formule P = 24 − 0,10q, substitutie q = 60, aftrek 6, resultaat 18 euro per kaartje. Lees ter controle de horizontale en verticale coördinaat langs de hulplijnen. 60 ligt binnen 0–240.</a:t>
            </a:r>
          </a:p>
          <a:p xmlns:a="http://schemas.openxmlformats.org/drawingml/2006/main">
            <a:r>
              <a:rPr sz="1400"/>
              <a:t/>
            </a:r>
          </a:p>
          <a:p xmlns:a="http://schemas.openxmlformats.org/drawingml/2006/main">
            <a:r>
              <a:rPr sz="1400"/>
              <a:t>Misvatting: Noteer niet alleen een getal maar ook euro per kaartje.</a:t>
            </a:r>
          </a:p>
          <a:p xmlns:a="http://schemas.openxmlformats.org/drawingml/2006/main">
            <a:r>
              <a:rPr sz="1400"/>
              <a:t/>
            </a:r>
          </a:p>
          <a:p xmlns:a="http://schemas.openxmlformats.org/drawingml/2006/main">
            <a:r>
              <a:rPr sz="1400"/>
              <a:t>Overgang: Herhaal voor B.</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controleer je op de grafiek na het rekenen?</a:t>
            </a:r>
          </a:p>
          <a:p xmlns:a="http://schemas.openxmlformats.org/drawingml/2006/main">
            <a:r>
              <a:rPr sz="1400"/>
              <a:t/>
            </a:r>
          </a:p>
          <a:p xmlns:a="http://schemas.openxmlformats.org/drawingml/2006/main">
            <a:r>
              <a:rPr sz="1400"/>
              <a:t>Uitleg: Antwoordmodel 18c, punt B. Formule P = 24 − 0,10q, substitutie q = 120, aftrek 12, resultaat 12 euro per kaartje. Lees ter controle de horizontale en verticale coördinaat langs de hulplijnen. 120 ligt binnen 0–240.</a:t>
            </a:r>
          </a:p>
          <a:p xmlns:a="http://schemas.openxmlformats.org/drawingml/2006/main">
            <a:r>
              <a:rPr sz="1400"/>
              <a:t/>
            </a:r>
          </a:p>
          <a:p xmlns:a="http://schemas.openxmlformats.org/drawingml/2006/main">
            <a:r>
              <a:rPr sz="1400"/>
              <a:t>Misvatting: Noteer niet alleen een getal maar ook euro per kaartje.</a:t>
            </a:r>
          </a:p>
          <a:p xmlns:a="http://schemas.openxmlformats.org/drawingml/2006/main">
            <a:r>
              <a:rPr sz="1400"/>
              <a:t/>
            </a:r>
          </a:p>
          <a:p xmlns:a="http://schemas.openxmlformats.org/drawingml/2006/main">
            <a:r>
              <a:rPr sz="1400"/>
              <a:t>Overgang: Onderzoek het voorstel om de afzet van B met de prijs van A te combineren.</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lost extra capaciteit dit voorstel niet op?</a:t>
            </a:r>
          </a:p>
          <a:p xmlns:a="http://schemas.openxmlformats.org/drawingml/2006/main">
            <a:r>
              <a:rPr sz="1400"/>
              <a:t/>
            </a:r>
          </a:p>
          <a:p xmlns:a="http://schemas.openxmlformats.org/drawingml/2006/main">
            <a:r>
              <a:rPr sz="1400"/>
              <a:t>Uitleg: Antwoordmodel 18d. Nee: bij 18 euro willen reizigers 60 kaartjes per dag kopen. Controle: 24 − 0,10 × 60 = 18. Voor 120 kaartjes geldt P = 12. De capaciteit van 240 maakt 120 technisch mogelijk, maar creëert geen kopers tegen 18 euro. Alle kaartjes hebben per situatie dezelfde prijs.</a:t>
            </a:r>
          </a:p>
          <a:p xmlns:a="http://schemas.openxmlformats.org/drawingml/2006/main">
            <a:r>
              <a:rPr sz="1400"/>
              <a:t/>
            </a:r>
          </a:p>
          <a:p xmlns:a="http://schemas.openxmlformats.org/drawingml/2006/main">
            <a:r>
              <a:rPr sz="1400"/>
              <a:t>Misvatting: Kunnen aanbieden is niet hetzelfde als tegen die prijs kunnen verkopen.</a:t>
            </a:r>
          </a:p>
          <a:p xmlns:a="http://schemas.openxmlformats.org/drawingml/2006/main">
            <a:r>
              <a:rPr sz="1400"/>
              <a:t/>
            </a:r>
          </a:p>
          <a:p xmlns:a="http://schemas.openxmlformats.org/drawingml/2006/main">
            <a:r>
              <a:rPr sz="1400"/>
              <a:t>Overgang: Beoordeel de bredere uitspraak over onbeperkte prijszetting.</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concreet gedrag uit Bron A begrenst de marktmacht?</a:t>
            </a:r>
          </a:p>
          <a:p xmlns:a="http://schemas.openxmlformats.org/drawingml/2006/main">
            <a:r>
              <a:rPr sz="1400"/>
              <a:t/>
            </a:r>
          </a:p>
          <a:p xmlns:a="http://schemas.openxmlformats.org/drawingml/2006/main">
            <a:r>
              <a:rPr sz="1400"/>
              <a:t>Uitleg: Antwoordmodel 18e. Het bedrijf kan invloed op P uitoefenen maar niet elke prijs met dezelfde afzet combineren. Bron A noemt uitstellen en niet reizen. Bron B koppelt hogere prijs aan minder afzet. Dit geldt bij de afgebakende verbinding en ongewijzigde overige vraagfactoren. Zonder kosten weten we bovendien niet welke combinatie de meeste winst geeft. Laat leerlingen één ontbrekende reden verbeteren.</a:t>
            </a:r>
          </a:p>
          <a:p xmlns:a="http://schemas.openxmlformats.org/drawingml/2006/main">
            <a:r>
              <a:rPr sz="1400"/>
              <a:t/>
            </a:r>
          </a:p>
          <a:p xmlns:a="http://schemas.openxmlformats.org/drawingml/2006/main">
            <a:r>
              <a:rPr sz="1400"/>
              <a:t>Misvatting: Een alleenrecht op aanbod dwingt niemand tot aankoop.</a:t>
            </a:r>
          </a:p>
          <a:p xmlns:a="http://schemas.openxmlformats.org/drawingml/2006/main">
            <a:r>
              <a:rPr sz="1400"/>
              <a:t/>
            </a:r>
          </a:p>
          <a:p xmlns:a="http://schemas.openxmlformats.org/drawingml/2006/main">
            <a:r>
              <a:rPr sz="1400"/>
              <a:t>Overgang: Rond af met huiswerk en de brug naar opbrengst in §4.1.3.</a:t>
            </a:r>
          </a:p>
          <a:p xmlns:a="http://schemas.openxmlformats.org/drawingml/2006/main">
            <a:r>
              <a:rPr sz="1400"/>
              <a:t/>
            </a:r>
          </a:p>
          <a:p xmlns:a="http://schemas.openxmlformats.org/drawingml/2006/main">
            <a:r>
              <a:rPr sz="1400"/>
              <a:t>Bron: Boek 4, editie books34-v3, gedrukte pagina 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uit de oefenroute werk je af?</a:t>
            </a:r>
          </a:p>
          <a:p xmlns:a="http://schemas.openxmlformats.org/drawingml/2006/main">
            <a:r>
              <a:rPr sz="1400"/>
              <a:t/>
            </a:r>
          </a:p>
          <a:p xmlns:a="http://schemas.openxmlformats.org/drawingml/2006/main">
            <a:r>
              <a:rPr sz="1400"/>
              <a:t>Uitleg: Laat deze dia staan tijdens afsluiting / huiswerk. Opgaven 11 en 12 staan op p. 19, basis 13–14 op p. 20 en 15 op p. 21, zelfstandig 16–17 op p. 21 en doel 18 op p. 22. Huiswerk is 13 t/m 18 maken en nakijken. Bonus 19 en herhaling 20 zijn extra. Opgave 11 haalt de prijsnemerprocedure op uit Boek 3 §3.2.3, met herhaald uitgewerkt voorbeeld in Boek 4 §4.1.1 op p. 10: P = GO = MO, MO = MK oplossen, richting MK en capaciteit controleren, TO − TK. Geef bij vastlopen die procedure als steun zonder de opgave voor te rekenen. Opgave 12 is verkenning van marktbegrenzing, nog geen veronderstelde beheersing: laat de uitleg onder 'Kijk eerst welke markt bedoeld wordt' op p. 16 lezen en laat het brongegeven over alternatieven aanwijzen. Keer vóór zelfstandig oefenen naar 12 terug: laat leerlingen hun eigen eerste verklaring verbeteren. De volledige route heeft geen bewezen éénlesfit; de handleiding adviseert voorlopig twee lessen van 55 minuten. Rond zo nodig later af zonder basiswerk over te slaan.</a:t>
            </a:r>
          </a:p>
          <a:p xmlns:a="http://schemas.openxmlformats.org/drawingml/2006/main">
            <a:r>
              <a:rPr sz="1400"/>
              <a:t/>
            </a:r>
          </a:p>
          <a:p xmlns:a="http://schemas.openxmlformats.org/drawingml/2006/main">
            <a:r>
              <a:rPr sz="1400"/>
              <a:t>Misvatting: Hoofdstukpagina 15 is complete-boekpagina 19. Gebruik steeds de gedrukte boekpagina.</a:t>
            </a:r>
          </a:p>
          <a:p xmlns:a="http://schemas.openxmlformats.org/drawingml/2006/main">
            <a:r>
              <a:rPr sz="1400"/>
              <a:t/>
            </a:r>
          </a:p>
          <a:p xmlns:a="http://schemas.openxmlformats.org/drawingml/2006/main">
            <a:r>
              <a:rPr sz="1400"/>
              <a:t>Overgang: Ga naar de volgende lesfase; bij afsluiting: huiswerk in de agenda.</a:t>
            </a:r>
          </a:p>
          <a:p xmlns:a="http://schemas.openxmlformats.org/drawingml/2006/main">
            <a:r>
              <a:rPr sz="1400"/>
              <a:t/>
            </a:r>
          </a:p>
          <a:p xmlns:a="http://schemas.openxmlformats.org/drawingml/2006/main">
            <a:r>
              <a:rPr sz="1400"/>
              <a:t>Bron: Boek 4, editie books34-v3, gedrukte pagina 10, 16, 19–22 van het COMPLETE boek. https://github.com/meijer1973/4veco-lessen/blob/e734532a42b27732ac25ce990fc9448b12309d28/edities/books34-v3/books/book-4/output/Boek_4_Compleet_v3.pdf</a:t>
            </a:r>
          </a:p>
          <a:p xmlns:a="http://schemas.openxmlformats.org/drawingml/2006/main">
            <a:r>
              <a:rPr sz="1400"/>
              <a:t>Leerlingtekst: https://github.com/meijer1973/4veco-lessen/blob/e734532a42b27732ac25ce990fc9448b12309d28/edities/books34-v3/books/book-4/chapters/4.1/4.1.2%20manuscript.md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d9fde1b8a74b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9e8b926c7b459b" /><Relationship Type="http://schemas.openxmlformats.org/officeDocument/2006/relationships/slideLayout" Target="/ppt/slideLayouts/slideLayout1.xml" Id="Re829833ea7b348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29833ea7b348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26467d59204d2b" /><Relationship Type="http://schemas.openxmlformats.org/officeDocument/2006/relationships/notesSlide" Target="/ppt/notesSlides/notesSlide1.xml" Id="R2db03c22418049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1c338e72b42b4" /><Relationship Type="http://schemas.openxmlformats.org/officeDocument/2006/relationships/notesSlide" Target="/ppt/notesSlides/notesSlide2.xml" Id="Raa51bad418004c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d33ae21a7f4093" /><Relationship Type="http://schemas.openxmlformats.org/officeDocument/2006/relationships/notesSlide" Target="/ppt/notesSlides/notesSlide3.xml" Id="R424ca3b40e2e47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1b8d2ac50c45a9" /><Relationship Type="http://schemas.openxmlformats.org/officeDocument/2006/relationships/notesSlide" Target="/ppt/notesSlides/notesSlide4.xml" Id="R7edf1af5946148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aed790f1c24a7c" /><Relationship Type="http://schemas.openxmlformats.org/officeDocument/2006/relationships/chart" Target="/ppt/slides/charts/chart1.xml" Id="Ra9bae4d568d64ace" /><Relationship Type="http://schemas.openxmlformats.org/officeDocument/2006/relationships/notesSlide" Target="/ppt/notesSlides/notesSlide5.xml" Id="R0f567507bd4349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6b6319b2114964" /><Relationship Type="http://schemas.openxmlformats.org/officeDocument/2006/relationships/chart" Target="/ppt/slides/charts/chart2.xml" Id="R5f6bd74444d14a06" /><Relationship Type="http://schemas.openxmlformats.org/officeDocument/2006/relationships/notesSlide" Target="/ppt/notesSlides/notesSlide6.xml" Id="Ra6844770c02b44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f647ed4cf7446f" /><Relationship Type="http://schemas.openxmlformats.org/officeDocument/2006/relationships/notesSlide" Target="/ppt/notesSlides/notesSlide7.xml" Id="R4ac630813d2448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69a57ff651442e" /><Relationship Type="http://schemas.openxmlformats.org/officeDocument/2006/relationships/chart" Target="/ppt/slides/charts/chart3.xml" Id="Rbb22be55144f4668" /><Relationship Type="http://schemas.openxmlformats.org/officeDocument/2006/relationships/notesSlide" Target="/ppt/notesSlides/notesSlide8.xml" Id="R597d1142724342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c059c76e8548b1" /><Relationship Type="http://schemas.openxmlformats.org/officeDocument/2006/relationships/notesSlide" Target="/ppt/notesSlides/notesSlide9.xml" Id="R924a6278c6a149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4b2012604d4477" /><Relationship Type="http://schemas.openxmlformats.org/officeDocument/2006/relationships/chart" Target="/ppt/slides/charts/chart4.xml" Id="R9296effe881240a3" /><Relationship Type="http://schemas.openxmlformats.org/officeDocument/2006/relationships/notesSlide" Target="/ppt/notesSlides/notesSlide10.xml" Id="R641bf1f557884a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e42a1c40444695" /><Relationship Type="http://schemas.openxmlformats.org/officeDocument/2006/relationships/chart" Target="/ppt/slides/charts/chart5.xml" Id="R071ae11bd02d4b36" /><Relationship Type="http://schemas.openxmlformats.org/officeDocument/2006/relationships/notesSlide" Target="/ppt/notesSlides/notesSlide11.xml" Id="R56038567ad4e4e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0929cf4cf14be5" /><Relationship Type="http://schemas.openxmlformats.org/officeDocument/2006/relationships/notesSlide" Target="/ppt/notesSlides/notesSlide12.xml" Id="Rff8c1f73fa7d40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68c70ae9d241da" /><Relationship Type="http://schemas.openxmlformats.org/officeDocument/2006/relationships/notesSlide" Target="/ppt/notesSlides/notesSlide13.xml" Id="Ra458ad8494a04b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04e3c6dd1e4640" /><Relationship Type="http://schemas.openxmlformats.org/officeDocument/2006/relationships/notesSlide" Target="/ppt/notesSlides/notesSlide14.xml" Id="Rb25d1b672e1d4c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3f3721dd584392" /><Relationship Type="http://schemas.openxmlformats.org/officeDocument/2006/relationships/chart" Target="/ppt/slides/charts/chart6.xml" Id="R76a3553807f74a6e" /><Relationship Type="http://schemas.openxmlformats.org/officeDocument/2006/relationships/notesSlide" Target="/ppt/notesSlides/notesSlide15.xml" Id="Rc6f1989dbf2d47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c14ed331204d54" /><Relationship Type="http://schemas.openxmlformats.org/officeDocument/2006/relationships/notesSlide" Target="/ppt/notesSlides/notesSlide16.xml" Id="Ra8bd1bb78dbe4f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4a7901f787407e" /><Relationship Type="http://schemas.openxmlformats.org/officeDocument/2006/relationships/notesSlide" Target="/ppt/notesSlides/notesSlide17.xml" Id="R7548b707c9ef44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97dd9101494dce" /><Relationship Type="http://schemas.openxmlformats.org/officeDocument/2006/relationships/notesSlide" Target="/ppt/notesSlides/notesSlide18.xml" Id="Rb60a4b98afe340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cca45eba85427b" /><Relationship Type="http://schemas.openxmlformats.org/officeDocument/2006/relationships/notesSlide" Target="/ppt/notesSlides/notesSlide19.xml" Id="Rd2e20b8f7bde4e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6de51173f64f60" /><Relationship Type="http://schemas.openxmlformats.org/officeDocument/2006/relationships/chart" Target="/ppt/slides/charts/chart7.xml" Id="Rc022a791438a425d" /><Relationship Type="http://schemas.openxmlformats.org/officeDocument/2006/relationships/notesSlide" Target="/ppt/notesSlides/notesSlide20.xml" Id="Rde02181fe92747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a911f672a9f46b4" /><Relationship Type="http://schemas.openxmlformats.org/officeDocument/2006/relationships/chart" Target="/ppt/slides/charts/chart8.xml" Id="R0ca796bcd26d46df" /><Relationship Type="http://schemas.openxmlformats.org/officeDocument/2006/relationships/notesSlide" Target="/ppt/notesSlides/notesSlide21.xml" Id="Rf9c75fe3487b45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cec90b718d74f92" /><Relationship Type="http://schemas.openxmlformats.org/officeDocument/2006/relationships/notesSlide" Target="/ppt/notesSlides/notesSlide22.xml" Id="R7a939d34376f40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7c6023442da4809" /><Relationship Type="http://schemas.openxmlformats.org/officeDocument/2006/relationships/notesSlide" Target="/ppt/notesSlides/notesSlide23.xml" Id="R7787b776b66842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8436faa03a41ff" /><Relationship Type="http://schemas.openxmlformats.org/officeDocument/2006/relationships/notesSlide" Target="/ppt/notesSlides/notesSlide24.xml" Id="R71e3179f4ce84f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P = GO = MO</c:v>
          </c:tx>
          <c:spPr>
            <a:ln xmlns:a="http://schemas.openxmlformats.org/drawingml/2006/main" w="38100">
              <a:solidFill>
                <a:srgbClr val="17658A"/>
              </a:solidFill>
              <a:prstDash val="solid"/>
            </a:ln>
          </c:spPr>
          <c:marker>
            <c:symbol val="none"/>
            <c:size val="8"/>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40</c:v>
                </c:pt>
                <c:pt idx="2">
                  <c:v>50</c:v>
                </c:pt>
              </c:numCache>
            </c:numRef>
          </c:xVal>
          <c:yVal>
            <c:numRef>
              <c:f>'Chart Data'!$B$2:$B$4</c:f>
              <c:numCache>
                <c:formatCode>0</c:formatCode>
                <c:ptCount val="3"/>
                <c:pt idx="0">
                  <c:v>6</c:v>
                </c:pt>
                <c:pt idx="1">
                  <c:v>6</c:v>
                </c:pt>
                <c:pt idx="2">
                  <c:v>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GO, MO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none"/>
            <c:size val="8"/>
          </c:marker>
          <c:dLbls>
            <c:dLbl>
              <c:idx val="3"/>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Data'!$A$2:$A$6</c:f>
              <c:numCache>
                <c:formatCode>General</c:formatCode>
                <c:ptCount val="5"/>
                <c:pt idx="0">
                  <c:v>0</c:v>
                </c:pt>
                <c:pt idx="1">
                  <c:v>24</c:v>
                </c:pt>
                <c:pt idx="2">
                  <c:v>72</c:v>
                </c:pt>
                <c:pt idx="3">
                  <c:v>96</c:v>
                </c:pt>
                <c:pt idx="4">
                  <c:v>120</c:v>
                </c:pt>
              </c:numCache>
            </c:numRef>
          </c:xVal>
          <c:yVal>
            <c:numRef>
              <c:f>'Chart Data'!$B$2:$B$6</c:f>
              <c:numCache>
                <c:formatCode>0</c:formatCode>
                <c:ptCount val="5"/>
                <c:pt idx="0">
                  <c:v>30</c:v>
                </c:pt>
                <c:pt idx="1">
                  <c:v>24</c:v>
                </c:pt>
                <c:pt idx="2">
                  <c:v>12</c:v>
                </c:pt>
                <c:pt idx="3">
                  <c:v>6</c:v>
                </c:pt>
                <c:pt idx="4">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14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avond)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circle"/>
            <c:size val="8"/>
            <c:spPr>
              <a:solidFill xmlns:a="http://schemas.openxmlformats.org/drawingml/2006/main">
                <a:srgbClr val="17658A"/>
              </a:solidFill>
              <ns0:ln xmlns:ns0="http://schemas.openxmlformats.org/drawingml/2006/main" w="12700">
                <ns0:solidFill>
                  <ns0:srgbClr val="17658A"/>
                </ns0:solidFill>
              </ns0:ln>
            </c:spPr>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Data'!$A$2:$A$6</c:f>
              <c:numCache>
                <c:formatCode>General</c:formatCode>
                <c:ptCount val="5"/>
                <c:pt idx="0">
                  <c:v>0</c:v>
                </c:pt>
                <c:pt idx="1">
                  <c:v>24</c:v>
                </c:pt>
                <c:pt idx="2">
                  <c:v>72</c:v>
                </c:pt>
                <c:pt idx="3">
                  <c:v>96</c:v>
                </c:pt>
                <c:pt idx="4">
                  <c:v>120</c:v>
                </c:pt>
              </c:numCache>
            </c:numRef>
          </c:xVal>
          <c:yVal>
            <c:numRef>
              <c:f>'Chart Data'!$B$2:$B$6</c:f>
              <c:numCache>
                <c:formatCode>0</c:formatCode>
                <c:ptCount val="5"/>
                <c:pt idx="0">
                  <c:v>30</c:v>
                </c:pt>
                <c:pt idx="1">
                  <c:v>24</c:v>
                </c:pt>
                <c:pt idx="2">
                  <c:v>12</c:v>
                </c:pt>
                <c:pt idx="3">
                  <c:v>6</c:v>
                </c:pt>
                <c:pt idx="4">
                  <c:v>0</c:v>
                </c:pt>
              </c:numCache>
            </c:numRef>
          </c:yVal>
          <c:smooth val="0"/>
        </c:ser>
        <c:ser>
          <c:idx val="1"/>
          <c:order val="1"/>
          <c:tx>
            <c:v>Hulplijn A</c:v>
          </c:tx>
          <c:spPr>
            <a:ln xmlns:a="http://schemas.openxmlformats.org/drawingml/2006/main" w="19050">
              <a:solidFill>
                <a:srgbClr val="445B6B"/>
              </a:solidFill>
              <a:prstDash val="dash"/>
            </a:ln>
          </c:spPr>
          <c:marker>
            <c:symbol val="none"/>
            <c:size val="8"/>
          </c:marker>
          <c:xVal>
            <c:numRef>
              <c:f>'Chart Data'!$C$2:$C$4</c:f>
              <c:numCache>
                <c:formatCode>General</c:formatCode>
                <c:ptCount val="3"/>
                <c:pt idx="0">
                  <c:v>0</c:v>
                </c:pt>
                <c:pt idx="1">
                  <c:v>24</c:v>
                </c:pt>
                <c:pt idx="2">
                  <c:v>24</c:v>
                </c:pt>
              </c:numCache>
            </c:numRef>
          </c:xVal>
          <c:yVal>
            <c:numRef>
              <c:f>'Chart Data'!$D$2:$D$4</c:f>
              <c:numCache>
                <c:formatCode>0</c:formatCode>
                <c:ptCount val="3"/>
                <c:pt idx="0">
                  <c:v>24</c:v>
                </c:pt>
                <c:pt idx="1">
                  <c:v>24</c:v>
                </c:pt>
                <c:pt idx="2">
                  <c:v>0</c:v>
                </c:pt>
              </c:numCache>
            </c:numRef>
          </c:yVal>
          <c:smooth val="0"/>
        </c:ser>
        <c:ser>
          <c:idx val="2"/>
          <c:order val="2"/>
          <c:tx>
            <c:v>Hulplijn B</c:v>
          </c:tx>
          <c:spPr>
            <a:ln xmlns:a="http://schemas.openxmlformats.org/drawingml/2006/main" w="19050">
              <a:solidFill>
                <a:srgbClr val="445B6B"/>
              </a:solidFill>
              <a:prstDash val="dash"/>
            </a:ln>
          </c:spPr>
          <c:marker>
            <c:symbol val="none"/>
            <c:size val="8"/>
          </c:marker>
          <c:xVal>
            <c:numRef>
              <c:f>'Chart Data'!$E$2:$E$4</c:f>
              <c:numCache>
                <c:formatCode>General</c:formatCode>
                <c:ptCount val="3"/>
                <c:pt idx="0">
                  <c:v>0</c:v>
                </c:pt>
                <c:pt idx="1">
                  <c:v>72</c:v>
                </c:pt>
                <c:pt idx="2">
                  <c:v>72</c:v>
                </c:pt>
              </c:numCache>
            </c:numRef>
          </c:xVal>
          <c:yVal>
            <c:numRef>
              <c:f>'Chart Data'!$F$2:$F$4</c:f>
              <c:numCache>
                <c:formatCode>0</c:formatCode>
                <c:ptCount val="3"/>
                <c:pt idx="0">
                  <c:v>12</c:v>
                </c:pt>
                <c:pt idx="1">
                  <c:v>12</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14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avond)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circle"/>
            <c:size val="8"/>
            <c:spPr>
              <a:solidFill xmlns:a="http://schemas.openxmlformats.org/drawingml/2006/main">
                <a:srgbClr val="17658A"/>
              </a:solidFill>
              <ns0:ln xmlns:ns0="http://schemas.openxmlformats.org/drawingml/2006/main" w="12700">
                <ns0:solidFill>
                  <ns0:srgbClr val="17658A"/>
                </ns0:solidFill>
              </ns0:ln>
            </c:spPr>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Data'!$A$2:$A$6</c:f>
              <c:numCache>
                <c:formatCode>General</c:formatCode>
                <c:ptCount val="5"/>
                <c:pt idx="0">
                  <c:v>0</c:v>
                </c:pt>
                <c:pt idx="1">
                  <c:v>24</c:v>
                </c:pt>
                <c:pt idx="2">
                  <c:v>72</c:v>
                </c:pt>
                <c:pt idx="3">
                  <c:v>96</c:v>
                </c:pt>
                <c:pt idx="4">
                  <c:v>120</c:v>
                </c:pt>
              </c:numCache>
            </c:numRef>
          </c:xVal>
          <c:yVal>
            <c:numRef>
              <c:f>'Chart Data'!$B$2:$B$6</c:f>
              <c:numCache>
                <c:formatCode>0</c:formatCode>
                <c:ptCount val="5"/>
                <c:pt idx="0">
                  <c:v>30</c:v>
                </c:pt>
                <c:pt idx="1">
                  <c:v>24</c:v>
                </c:pt>
                <c:pt idx="2">
                  <c:v>12</c:v>
                </c:pt>
                <c:pt idx="3">
                  <c:v>6</c:v>
                </c:pt>
                <c:pt idx="4">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14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avond)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V0</c:v>
          </c:tx>
          <c:spPr>
            <a:ln xmlns:a="http://schemas.openxmlformats.org/drawingml/2006/main" w="38100">
              <a:solidFill>
                <a:srgbClr val="445B6B"/>
              </a:solidFill>
              <a:prstDash val="solid"/>
            </a:ln>
          </c:spPr>
          <c:marker>
            <c:symbol val="none"/>
            <c:size val="8"/>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96</c:v>
                </c:pt>
                <c:pt idx="2">
                  <c:v>120</c:v>
                </c:pt>
              </c:numCache>
            </c:numRef>
          </c:xVal>
          <c:yVal>
            <c:numRef>
              <c:f>'Chart Data'!$B$2:$B$4</c:f>
              <c:numCache>
                <c:formatCode>0</c:formatCode>
                <c:ptCount val="3"/>
                <c:pt idx="0">
                  <c:v>30</c:v>
                </c:pt>
                <c:pt idx="1">
                  <c:v>6</c:v>
                </c:pt>
                <c:pt idx="2">
                  <c:v>0</c:v>
                </c:pt>
              </c:numCache>
            </c:numRef>
          </c:yVal>
          <c:smooth val="0"/>
        </c:ser>
        <c:ser>
          <c:idx val="1"/>
          <c:order val="1"/>
          <c:tx>
            <c:v>V1</c:v>
          </c:tx>
          <c:spPr>
            <a:ln xmlns:a="http://schemas.openxmlformats.org/drawingml/2006/main" w="38100">
              <a:solidFill>
                <a:srgbClr val="20665B"/>
              </a:solidFill>
              <a:prstDash val="solid"/>
            </a:ln>
          </c:spPr>
          <c:marker>
            <c:symbol val="none"/>
            <c:size val="8"/>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120</c:v>
                </c:pt>
                <c:pt idx="2">
                  <c:v>144</c:v>
                </c:pt>
              </c:numCache>
            </c:numRef>
          </c:xVal>
          <c:yVal>
            <c:numRef>
              <c:f>'Chart Data'!$D$2:$D$4</c:f>
              <c:numCache>
                <c:formatCode>0</c:formatCode>
                <c:ptCount val="3"/>
                <c:pt idx="0">
                  <c:v>36</c:v>
                </c:pt>
                <c:pt idx="1">
                  <c:v>6</c:v>
                </c:pt>
                <c:pt idx="2">
                  <c:v>0</c:v>
                </c:pt>
              </c:numCache>
            </c:numRef>
          </c:yVal>
          <c:smooth val="0"/>
        </c:ser>
        <c:ser>
          <c:idx val="2"/>
          <c:order val="2"/>
          <c:tx>
            <c:v>Vergelijk bij P = 18</c:v>
          </c:tx>
          <c:spPr>
            <a:ln xmlns:a="http://schemas.openxmlformats.org/drawingml/2006/main" w="19050">
              <a:solidFill>
                <a:srgbClr val="445B6B"/>
              </a:solidFill>
              <a:prstDash val="dash"/>
            </a:ln>
          </c:spPr>
          <c:marker>
            <c:symbol val="none"/>
            <c:size val="8"/>
          </c:marker>
          <c:xVal>
            <c:numRef>
              <c:f>'Chart Data'!$E$2:$E$3</c:f>
              <c:numCache>
                <c:formatCode>General</c:formatCode>
                <c:ptCount val="2"/>
                <c:pt idx="0">
                  <c:v>0</c:v>
                </c:pt>
                <c:pt idx="1">
                  <c:v>72</c:v>
                </c:pt>
              </c:numCache>
            </c:numRef>
          </c:xVal>
          <c:yVal>
            <c:numRef>
              <c:f>'Chart Data'!$F$2:$F$3</c:f>
              <c:numCache>
                <c:formatCode>0</c:formatCode>
                <c:ptCount val="2"/>
                <c:pt idx="0">
                  <c:v>18</c:v>
                </c:pt>
                <c:pt idx="1">
                  <c:v>18</c:v>
                </c:pt>
              </c:numCache>
            </c:numRef>
          </c:yVal>
          <c:smooth val="0"/>
        </c:ser>
        <c:ser>
          <c:idx val="3"/>
          <c:order val="3"/>
          <c:tx>
            <c:v>Oude q</c:v>
          </c:tx>
          <c:spPr>
            <a:ln xmlns:a="http://schemas.openxmlformats.org/drawingml/2006/main" w="19050">
              <a:solidFill>
                <a:srgbClr val="445B6B"/>
              </a:solidFill>
              <a:prstDash val="dash"/>
            </a:ln>
          </c:spPr>
          <c:marker>
            <c:symbol val="none"/>
            <c:size val="8"/>
          </c:marker>
          <c:xVal>
            <c:numRef>
              <c:f>'Chart Data'!$G$2:$G$3</c:f>
              <c:numCache>
                <c:formatCode>General</c:formatCode>
                <c:ptCount val="2"/>
                <c:pt idx="0">
                  <c:v>48</c:v>
                </c:pt>
                <c:pt idx="1">
                  <c:v>48</c:v>
                </c:pt>
              </c:numCache>
            </c:numRef>
          </c:xVal>
          <c:yVal>
            <c:numRef>
              <c:f>'Chart Data'!$H$2:$H$3</c:f>
              <c:numCache>
                <c:formatCode>0</c:formatCode>
                <c:ptCount val="2"/>
                <c:pt idx="0">
                  <c:v>0</c:v>
                </c:pt>
                <c:pt idx="1">
                  <c:v>18</c:v>
                </c:pt>
              </c:numCache>
            </c:numRef>
          </c:yVal>
          <c:smooth val="0"/>
        </c:ser>
        <c:ser>
          <c:idx val="4"/>
          <c:order val="4"/>
          <c:tx>
            <c:v>Nieuwe q</c:v>
          </c:tx>
          <c:spPr>
            <a:ln xmlns:a="http://schemas.openxmlformats.org/drawingml/2006/main" w="19050">
              <a:solidFill>
                <a:srgbClr val="445B6B"/>
              </a:solidFill>
              <a:prstDash val="dash"/>
            </a:ln>
          </c:spPr>
          <c:marker>
            <c:symbol val="none"/>
            <c:size val="8"/>
          </c:marker>
          <c:xVal>
            <c:numRef>
              <c:f>'Chart Data'!$I$2:$I$3</c:f>
              <c:numCache>
                <c:formatCode>General</c:formatCode>
                <c:ptCount val="2"/>
                <c:pt idx="0">
                  <c:v>72</c:v>
                </c:pt>
                <c:pt idx="1">
                  <c:v>72</c:v>
                </c:pt>
              </c:numCache>
            </c:numRef>
          </c:xVal>
          <c:yVal>
            <c:numRef>
              <c:f>'Chart Data'!$J$2:$J$3</c:f>
              <c:numCache>
                <c:formatCode>0</c:formatCode>
                <c:ptCount val="2"/>
                <c:pt idx="0">
                  <c:v>0</c:v>
                </c:pt>
                <c:pt idx="1">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14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avond)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circle"/>
            <c:size val="8"/>
            <c:spPr>
              <a:solidFill xmlns:a="http://schemas.openxmlformats.org/drawingml/2006/main">
                <a:srgbClr val="17658A"/>
              </a:solidFill>
              <ns0:ln xmlns:ns0="http://schemas.openxmlformats.org/drawingml/2006/main" w="12700">
                <ns0:solidFill>
                  <ns0:srgbClr val="17658A"/>
                </ns0:solidFill>
              </ns0:ln>
            </c:spPr>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Data'!$A$2:$A$6</c:f>
              <c:numCache>
                <c:formatCode>General</c:formatCode>
                <c:ptCount val="5"/>
                <c:pt idx="0">
                  <c:v>0</c:v>
                </c:pt>
                <c:pt idx="1">
                  <c:v>60</c:v>
                </c:pt>
                <c:pt idx="2">
                  <c:v>120</c:v>
                </c:pt>
                <c:pt idx="3">
                  <c:v>180</c:v>
                </c:pt>
                <c:pt idx="4">
                  <c:v>240</c:v>
                </c:pt>
              </c:numCache>
            </c:numRef>
          </c:xVal>
          <c:yVal>
            <c:numRef>
              <c:f>'Chart Data'!$B$2:$B$6</c:f>
              <c:numCache>
                <c:formatCode>0</c:formatCode>
                <c:ptCount val="5"/>
                <c:pt idx="0">
                  <c:v>24</c:v>
                </c:pt>
                <c:pt idx="1">
                  <c:v>18</c:v>
                </c:pt>
                <c:pt idx="2">
                  <c:v>12</c:v>
                </c:pt>
                <c:pt idx="3">
                  <c:v>6</c:v>
                </c:pt>
                <c:pt idx="4">
                  <c:v>0</c:v>
                </c:pt>
              </c:numCache>
            </c:numRef>
          </c:yVal>
          <c:smooth val="0"/>
        </c:ser>
        <c:ser>
          <c:idx val="1"/>
          <c:order val="1"/>
          <c:tx>
            <c:v>Hulplijn A</c:v>
          </c:tx>
          <c:spPr>
            <a:ln xmlns:a="http://schemas.openxmlformats.org/drawingml/2006/main" w="19050">
              <a:solidFill>
                <a:srgbClr val="445B6B"/>
              </a:solidFill>
              <a:prstDash val="dash"/>
            </a:ln>
          </c:spPr>
          <c:marker>
            <c:symbol val="none"/>
            <c:size val="8"/>
          </c:marker>
          <c:xVal>
            <c:numRef>
              <c:f>'Chart Data'!$C$2:$C$4</c:f>
              <c:numCache>
                <c:formatCode>General</c:formatCode>
                <c:ptCount val="3"/>
                <c:pt idx="0">
                  <c:v>0</c:v>
                </c:pt>
                <c:pt idx="1">
                  <c:v>60</c:v>
                </c:pt>
                <c:pt idx="2">
                  <c:v>60</c:v>
                </c:pt>
              </c:numCache>
            </c:numRef>
          </c:xVal>
          <c:yVal>
            <c:numRef>
              <c:f>'Chart Data'!$D$2:$D$4</c:f>
              <c:numCache>
                <c:formatCode>0</c:formatCode>
                <c:ptCount val="3"/>
                <c:pt idx="0">
                  <c:v>18</c:v>
                </c:pt>
                <c:pt idx="1">
                  <c:v>18</c:v>
                </c:pt>
                <c:pt idx="2">
                  <c:v>0</c:v>
                </c:pt>
              </c:numCache>
            </c:numRef>
          </c:yVal>
          <c:smooth val="0"/>
        </c:ser>
        <c:ser>
          <c:idx val="2"/>
          <c:order val="2"/>
          <c:tx>
            <c:v>Hulplijn B</c:v>
          </c:tx>
          <c:spPr>
            <a:ln xmlns:a="http://schemas.openxmlformats.org/drawingml/2006/main" w="19050">
              <a:solidFill>
                <a:srgbClr val="445B6B"/>
              </a:solidFill>
              <a:prstDash val="dash"/>
            </a:ln>
          </c:spPr>
          <c:marker>
            <c:symbol val="none"/>
            <c:size val="8"/>
          </c:marker>
          <c:xVal>
            <c:numRef>
              <c:f>'Chart Data'!$E$2:$E$4</c:f>
              <c:numCache>
                <c:formatCode>General</c:formatCode>
                <c:ptCount val="3"/>
                <c:pt idx="0">
                  <c:v>0</c:v>
                </c:pt>
                <c:pt idx="1">
                  <c:v>120</c:v>
                </c:pt>
                <c:pt idx="2">
                  <c:v>120</c:v>
                </c:pt>
              </c:numCache>
            </c:numRef>
          </c:xVal>
          <c:yVal>
            <c:numRef>
              <c:f>'Chart Data'!$F$2:$F$4</c:f>
              <c:numCache>
                <c:formatCode>0</c:formatCode>
                <c:ptCount val="3"/>
                <c:pt idx="0">
                  <c:v>12</c:v>
                </c:pt>
                <c:pt idx="1">
                  <c:v>12</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circle"/>
            <c:size val="8"/>
            <c:spPr>
              <a:solidFill xmlns:a="http://schemas.openxmlformats.org/drawingml/2006/main">
                <a:srgbClr val="17658A"/>
              </a:solidFill>
              <ns0:ln xmlns:ns0="http://schemas.openxmlformats.org/drawingml/2006/main" w="12700">
                <ns0:solidFill>
                  <ns0:srgbClr val="17658A"/>
                </ns0:solidFill>
              </ns0:ln>
            </c:spPr>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Data'!$A$2:$A$5</c:f>
              <c:numCache>
                <c:formatCode>General</c:formatCode>
                <c:ptCount val="4"/>
                <c:pt idx="0">
                  <c:v>0</c:v>
                </c:pt>
                <c:pt idx="1">
                  <c:v>60</c:v>
                </c:pt>
                <c:pt idx="2">
                  <c:v>180</c:v>
                </c:pt>
                <c:pt idx="3">
                  <c:v>240</c:v>
                </c:pt>
              </c:numCache>
            </c:numRef>
          </c:xVal>
          <c:yVal>
            <c:numRef>
              <c:f>'Chart Data'!$B$2:$B$5</c:f>
              <c:numCache>
                <c:formatCode>0</c:formatCode>
                <c:ptCount val="4"/>
                <c:pt idx="0">
                  <c:v>24</c:v>
                </c:pt>
                <c:pt idx="1">
                  <c:v>18</c:v>
                </c:pt>
                <c:pt idx="2">
                  <c:v>6</c:v>
                </c:pt>
                <c:pt idx="3">
                  <c:v>0</c:v>
                </c:pt>
              </c:numCache>
            </c:numRef>
          </c:yVal>
          <c:smooth val="0"/>
        </c:ser>
        <c:ser>
          <c:idx val="1"/>
          <c:order val="1"/>
          <c:tx>
            <c:v>Hulplijn</c:v>
          </c:tx>
          <c:spPr>
            <a:ln xmlns:a="http://schemas.openxmlformats.org/drawingml/2006/main" w="19050">
              <a:solidFill>
                <a:srgbClr val="445B6B"/>
              </a:solidFill>
              <a:prstDash val="dash"/>
            </a:ln>
          </c:spPr>
          <c:marker>
            <c:symbol val="none"/>
            <c:size val="8"/>
          </c:marker>
          <c:xVal>
            <c:numRef>
              <c:f>'Chart Data'!$C$2:$C$4</c:f>
              <c:numCache>
                <c:formatCode>General</c:formatCode>
                <c:ptCount val="3"/>
                <c:pt idx="0">
                  <c:v>0</c:v>
                </c:pt>
                <c:pt idx="1">
                  <c:v>60</c:v>
                </c:pt>
                <c:pt idx="2">
                  <c:v>60</c:v>
                </c:pt>
              </c:numCache>
            </c:numRef>
          </c:xVal>
          <c:yVal>
            <c:numRef>
              <c:f>'Chart Data'!$D$2:$D$4</c:f>
              <c:numCache>
                <c:formatCode>0</c:formatCode>
                <c:ptCount val="3"/>
                <c:pt idx="0">
                  <c:v>18</c:v>
                </c:pt>
                <c:pt idx="1">
                  <c:v>18</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Marker"/>
        <c:ser>
          <c:idx val="0"/>
          <c:order val="0"/>
          <c:tx>
            <c:v>Vraag = GO</c:v>
          </c:tx>
          <c:spPr>
            <a:ln xmlns:a="http://schemas.openxmlformats.org/drawingml/2006/main" w="38100">
              <a:solidFill>
                <a:srgbClr val="17658A"/>
              </a:solidFill>
              <a:prstDash val="solid"/>
            </a:ln>
          </c:spPr>
          <c:marker>
            <c:symbol val="circle"/>
            <c:size val="8"/>
            <c:spPr>
              <a:solidFill xmlns:a="http://schemas.openxmlformats.org/drawingml/2006/main">
                <a:srgbClr val="17658A"/>
              </a:solidFill>
              <ns0:ln xmlns:ns0="http://schemas.openxmlformats.org/drawingml/2006/main" w="12700">
                <ns0:solidFill>
                  <ns0:srgbClr val="17658A"/>
                </ns0:solidFill>
              </ns0:ln>
            </c:spPr>
          </c:marker>
          <c:dLbls>
            <c:dLbl>
              <c:idx val="1"/>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Data'!$A$2:$A$5</c:f>
              <c:numCache>
                <c:formatCode>General</c:formatCode>
                <c:ptCount val="4"/>
                <c:pt idx="0">
                  <c:v>0</c:v>
                </c:pt>
                <c:pt idx="1">
                  <c:v>120</c:v>
                </c:pt>
                <c:pt idx="2">
                  <c:v>180</c:v>
                </c:pt>
                <c:pt idx="3">
                  <c:v>240</c:v>
                </c:pt>
              </c:numCache>
            </c:numRef>
          </c:xVal>
          <c:yVal>
            <c:numRef>
              <c:f>'Chart Data'!$B$2:$B$5</c:f>
              <c:numCache>
                <c:formatCode>0</c:formatCode>
                <c:ptCount val="4"/>
                <c:pt idx="0">
                  <c:v>24</c:v>
                </c:pt>
                <c:pt idx="1">
                  <c:v>12</c:v>
                </c:pt>
                <c:pt idx="2">
                  <c:v>6</c:v>
                </c:pt>
                <c:pt idx="3">
                  <c:v>0</c:v>
                </c:pt>
              </c:numCache>
            </c:numRef>
          </c:yVal>
          <c:smooth val="0"/>
        </c:ser>
        <c:ser>
          <c:idx val="1"/>
          <c:order val="1"/>
          <c:tx>
            <c:v>Hulplijn</c:v>
          </c:tx>
          <c:spPr>
            <a:ln xmlns:a="http://schemas.openxmlformats.org/drawingml/2006/main" w="19050">
              <a:solidFill>
                <a:srgbClr val="445B6B"/>
              </a:solidFill>
              <a:prstDash val="dash"/>
            </a:ln>
          </c:spPr>
          <c:marker>
            <c:symbol val="none"/>
            <c:size val="8"/>
          </c:marker>
          <c:xVal>
            <c:numRef>
              <c:f>'Chart Data'!$C$2:$C$4</c:f>
              <c:numCache>
                <c:formatCode>General</c:formatCode>
                <c:ptCount val="3"/>
                <c:pt idx="0">
                  <c:v>0</c:v>
                </c:pt>
                <c:pt idx="1">
                  <c:v>120</c:v>
                </c:pt>
                <c:pt idx="2">
                  <c:v>120</c:v>
                </c:pt>
              </c:numCache>
            </c:numRef>
          </c:xVal>
          <c:yVal>
            <c:numRef>
              <c:f>'Chart Data'!$D$2:$D$4</c:f>
              <c:numCache>
                <c:formatCode>0</c:formatCode>
                <c:ptCount val="3"/>
                <c:pt idx="0">
                  <c:v>12</c:v>
                </c:pt>
                <c:pt idx="1">
                  <c:v>12</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6"/>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(kaartjes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2 Monopolie: kenmerken">
            <a:extLst xmlns:a="http://schemas.openxmlformats.org/drawingml/2006/main">
              <a:ext uri="{FF2B5EF4-FFF2-40B4-BE49-F238E27FC236}">
                <a16:creationId xmlns:a16="http://schemas.microsoft.com/office/drawing/2014/main" id="{FADF1BBA-4869-4CD0-B3C6-7FDD44A7CE0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§4.1.2 Monopolie: kenmerken</a:t>
            </a:r>
          </a:p>
        </p:txBody>
      </p:sp>
      <p:sp>
        <p:nvSpPr>
          <p:cNvPr id="2" name="">
            <a:extLst xmlns:a="http://schemas.openxmlformats.org/drawingml/2006/main">
              <a:ext uri="{FF2B5EF4-FFF2-40B4-BE49-F238E27FC236}">
                <a16:creationId xmlns:a16="http://schemas.microsoft.com/office/drawing/2014/main" id="{823BEE6D-9D7E-4A59-AA91-2264EC1503C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8BABA701-199A-488B-AD2F-10B1CD9348B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1">
            <a:extLst xmlns:a="http://schemas.openxmlformats.org/drawingml/2006/main">
              <a:ext uri="{FF2B5EF4-FFF2-40B4-BE49-F238E27FC236}">
                <a16:creationId xmlns:a16="http://schemas.microsoft.com/office/drawing/2014/main" id="{566D4C12-A25C-41CF-8C4E-1DEE7E96F1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040AEC18-D2AB-4C98-BC7B-AB67B150744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FDE5F680-B3F1-4AA0-800D-330F25948B4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814CB2FB-F4D8-471A-9D7C-79ED904B98C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E8194A35-62E9-4605-AC30-1BC6E6FFE28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66F80D6E-4769-479F-A7B2-C44A457C758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44F4EABD-AA9F-44DF-8AC5-340B0836925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5E73BBB6-108C-4064-BA77-34720B1F2FF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0D7B757B-0FA6-46DD-8829-8A9878AEFD7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E5009CF7-A6A9-4249-8481-706C334FCB6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EC267B0-3D4C-4BDB-B108-964204FCDA97}"/>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6A28FC58-DB43-41B5-9F63-E84598E8CC2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2EB4C352-40D9-4FD3-8F80-58C29FDD3531}"/>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86A89F21-749D-4828-A659-41494AD8585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3718CAB1-DE64-45CB-8182-B05A742CEDA5}"/>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6">
            <a:extLst xmlns:a="http://schemas.openxmlformats.org/drawingml/2006/main">
              <a:ext uri="{FF2B5EF4-FFF2-40B4-BE49-F238E27FC236}">
                <a16:creationId xmlns:a16="http://schemas.microsoft.com/office/drawing/2014/main" id="{B6029726-B723-4BE1-A1FF-97060D68C6F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B1C24AF5-B09A-4558-94A6-ED1D6DAB8C9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0B83B07-C44C-4582-9693-0680E9B9DBD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CB457CD-4643-453D-8761-134212235F20}"/>
              </a:ext>
            </a:extLst>
          </p:cNvPr>
          <p:cNvSpPr>
            <a:spLocks xmlns:a="http://schemas.openxmlformats.org/drawingml/2006/main" noGrp="1"/>
          </p:cNvSpPr>
          <p:nvPr/>
        </p:nvSpPr>
        <p:spPr>
          <a:xfrm xmlns:a="http://schemas.openxmlformats.org/drawingml/2006/main">
            <a:off x="9258300" y="2324100"/>
            <a:ext cx="5381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herkennen.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Barrières en vraaglijnen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 en afzet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prijskeuze beoordelen.</a:t>
            </a:r>
          </a:p>
        </p:txBody>
      </p:sp>
      <p:sp>
        <p:nvSpPr>
          <p:cNvPr id="23" name="">
            <a:extLst xmlns:a="http://schemas.openxmlformats.org/drawingml/2006/main">
              <a:ext uri="{FF2B5EF4-FFF2-40B4-BE49-F238E27FC236}">
                <a16:creationId xmlns:a16="http://schemas.microsoft.com/office/drawing/2014/main" id="{34E16900-B20D-4A41-A105-FD2ABE1E1912}"/>
              </a:ext>
            </a:extLst>
          </p:cNvPr>
          <p:cNvSpPr>
            <a:spLocks xmlns:a="http://schemas.openxmlformats.org/drawingml/2006/main" noGrp="1"/>
          </p:cNvSpPr>
          <p:nvPr/>
        </p:nvSpPr>
        <p:spPr>
          <a:xfrm xmlns:a="http://schemas.openxmlformats.org/drawingml/2006/main">
            <a:off x="9258300" y="38290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F2B6F63-ECDB-4508-B6C3-CD19C86642EA}"/>
              </a:ext>
            </a:extLst>
          </p:cNvPr>
          <p:cNvSpPr>
            <a:spLocks xmlns:a="http://schemas.openxmlformats.org/drawingml/2006/main" noGrp="1"/>
          </p:cNvSpPr>
          <p:nvPr/>
        </p:nvSpPr>
        <p:spPr>
          <a:xfrm xmlns:a="http://schemas.openxmlformats.org/drawingml/2006/main">
            <a:off x="9258300" y="40576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375D29A-4425-480B-AC31-C72159021EBD}"/>
              </a:ext>
            </a:extLst>
          </p:cNvPr>
          <p:cNvSpPr>
            <a:spLocks xmlns:a="http://schemas.openxmlformats.org/drawingml/2006/main" noGrp="1"/>
          </p:cNvSpPr>
          <p:nvPr/>
        </p:nvSpPr>
        <p:spPr>
          <a:xfrm xmlns:a="http://schemas.openxmlformats.org/drawingml/2006/main">
            <a:off x="9258300" y="4581525"/>
            <a:ext cx="5381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19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terugblik, steun p. 10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theorie p. 16</a:t>
            </a:r>
          </a:p>
        </p:txBody>
      </p:sp>
      <p:sp>
        <p:nvSpPr>
          <p:cNvPr id="26" name="">
            <a:extLst xmlns:a="http://schemas.openxmlformats.org/drawingml/2006/main">
              <a:ext uri="{FF2B5EF4-FFF2-40B4-BE49-F238E27FC236}">
                <a16:creationId xmlns:a16="http://schemas.microsoft.com/office/drawing/2014/main" id="{7A4F5B6E-9FBD-447B-A0D4-8BD7EFE8E43D}"/>
              </a:ext>
            </a:extLst>
          </p:cNvPr>
          <p:cNvSpPr>
            <a:spLocks xmlns:a="http://schemas.openxmlformats.org/drawingml/2006/main" noGrp="1"/>
          </p:cNvSpPr>
          <p:nvPr/>
        </p:nvSpPr>
        <p:spPr>
          <a:xfrm xmlns:a="http://schemas.openxmlformats.org/drawingml/2006/main">
            <a:off x="9258300" y="57721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087E568-22DB-4983-9CAF-8D67F6598CDC}"/>
              </a:ext>
            </a:extLst>
          </p:cNvPr>
          <p:cNvSpPr>
            <a:spLocks xmlns:a="http://schemas.openxmlformats.org/drawingml/2006/main" noGrp="1"/>
          </p:cNvSpPr>
          <p:nvPr/>
        </p:nvSpPr>
        <p:spPr>
          <a:xfrm xmlns:a="http://schemas.openxmlformats.org/drawingml/2006/main">
            <a:off x="9258300" y="59817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B4BACAB-C33D-4305-8A19-EE7A4389ABC4}"/>
              </a:ext>
            </a:extLst>
          </p:cNvPr>
          <p:cNvSpPr>
            <a:spLocks xmlns:a="http://schemas.openxmlformats.org/drawingml/2006/main" noGrp="1"/>
          </p:cNvSpPr>
          <p:nvPr/>
        </p:nvSpPr>
        <p:spPr>
          <a:xfrm xmlns:a="http://schemas.openxmlformats.org/drawingml/2006/main">
            <a:off x="9258300" y="6496050"/>
            <a:ext cx="5381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§4.1.2 · Opgaven 13 t/m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13,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16 en 17 · Doel: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880658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rugblik: de prijsnemer">
            <a:extLst xmlns:a="http://schemas.openxmlformats.org/drawingml/2006/main">
              <a:ext uri="{FF2B5EF4-FFF2-40B4-BE49-F238E27FC236}">
                <a16:creationId xmlns:a16="http://schemas.microsoft.com/office/drawing/2014/main" id="{2AA67743-58F0-4456-98E4-E93EC6D3ABD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Terugblik: de prijsnemer</a:t>
            </a:r>
          </a:p>
        </p:txBody>
      </p:sp>
      <p:sp>
        <p:nvSpPr>
          <p:cNvPr id="2" name="">
            <a:extLst xmlns:a="http://schemas.openxmlformats.org/drawingml/2006/main">
              <a:ext uri="{FF2B5EF4-FFF2-40B4-BE49-F238E27FC236}">
                <a16:creationId xmlns:a16="http://schemas.microsoft.com/office/drawing/2014/main" id="{B87BBE5C-642A-4578-B598-FD7715BBF2B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B2D8CE18-9C17-4AE3-A2C2-2CF17E7ED40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2">
            <a:extLst xmlns:a="http://schemas.openxmlformats.org/drawingml/2006/main">
              <a:ext uri="{FF2B5EF4-FFF2-40B4-BE49-F238E27FC236}">
                <a16:creationId xmlns:a16="http://schemas.microsoft.com/office/drawing/2014/main" id="{12748D08-A7E3-4D9A-A547-368906D7555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1952625"/>
          <a:ext xmlns:a="http://schemas.openxmlformats.org/drawingml/2006/main" cx="14097000" cy="4333875"/>
        </p:xfrm>
        <a:graphic xmlns:a="http://schemas.openxmlformats.org/drawingml/2006/main">
          <a:graphicData uri="http://schemas.openxmlformats.org/drawingml/2006/table">
            <a:tbl>
              <a:tblPr/>
              <a:tblGrid>
                <a:gridCol w="6000750"/>
                <a:gridCol w="8096250"/>
              </a:tblGrid>
              <a:tr h="866775">
                <a:tc>
                  <a:txBody>
                    <a:bodyPr lIns="171450" tIns="95250" rIns="152400" bIns="95250"/>
                    <a:lstStyle/>
                    <a:p>
                      <a:r>
                        <a:rPr sz="2550" b="1">
                          <a:solidFill>
                            <a:srgbClr val="FFFFFF"/>
                          </a:solidFill>
                          <a:latin typeface="Arial"/>
                          <a:ea typeface="Arial"/>
                          <a:cs typeface="Arial"/>
                        </a:rPr>
                        <a:t>Keuze van één onderneming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Bekende aanpak</a:t>
                      </a:r>
                    </a:p>
                  </a:txBody>
                  <a:tcPr marL="91440" marR="91440" marT="45720" marB="45720" anchor="ctr">
                    <a:solidFill>
                      <a:srgbClr val="183247"/>
                    </a:solidFill>
                  </a:tcPr>
                </a:tc>
              </a:tr>
              <a:tr h="866775">
                <a:tc>
                  <a:txBody>
                    <a:bodyPr lIns="171450" tIns="95250" rIns="152400" bIns="95250"/>
                    <a:lstStyle/>
                    <a:p>
                      <a:r>
                        <a:rPr sz="2550" b="0">
                          <a:solidFill>
                            <a:srgbClr val="183247"/>
                          </a:solidFill>
                          <a:latin typeface="Arial"/>
                          <a:ea typeface="Arial"/>
                          <a:cs typeface="Arial"/>
                        </a:rPr>
                        <a:t>Gegeven marktprijs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GO = MO</a:t>
                      </a:r>
                    </a:p>
                  </a:txBody>
                  <a:tcPr marL="91440" marR="91440" marT="45720" marB="45720" anchor="ctr">
                    <a:solidFill>
                      <a:srgbClr val="FFFFFF"/>
                    </a:solidFill>
                  </a:tcPr>
                </a:tc>
              </a:tr>
              <a:tr h="866775">
                <a:tc>
                  <a:txBody>
                    <a:bodyPr lIns="171450" tIns="95250" rIns="152400" bIns="95250"/>
                    <a:lstStyle/>
                    <a:p>
                      <a:r>
                        <a:rPr sz="2550" b="0">
                          <a:solidFill>
                            <a:srgbClr val="183247"/>
                          </a:solidFill>
                          <a:latin typeface="Arial"/>
                          <a:ea typeface="Arial"/>
                          <a:cs typeface="Arial"/>
                        </a:rPr>
                        <a:t>Productie kiezen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MO = MK oplossen</a:t>
                      </a:r>
                    </a:p>
                  </a:txBody>
                  <a:tcPr marL="91440" marR="91440" marT="45720" marB="45720" anchor="ctr">
                    <a:solidFill>
                      <a:srgbClr val="EFF4F7"/>
                    </a:solidFill>
                  </a:tcPr>
                </a:tc>
              </a:tr>
              <a:tr h="866775">
                <a:tc>
                  <a:txBody>
                    <a:bodyPr lIns="171450" tIns="95250" rIns="152400" bIns="95250"/>
                    <a:lstStyle/>
                    <a:p>
                      <a:r>
                        <a:rPr sz="2550" b="0">
                          <a:solidFill>
                            <a:srgbClr val="183247"/>
                          </a:solidFill>
                          <a:latin typeface="Arial"/>
                          <a:ea typeface="Arial"/>
                          <a:cs typeface="Arial"/>
                        </a:rPr>
                        <a:t>Keuze controleren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MK-verloop, capaciteit en zo nodig q = 0</a:t>
                      </a:r>
                    </a:p>
                  </a:txBody>
                  <a:tcPr marL="91440" marR="91440" marT="45720" marB="45720" anchor="ctr">
                    <a:solidFill>
                      <a:srgbClr val="FFFFFF"/>
                    </a:solidFill>
                  </a:tcPr>
                </a:tc>
              </a:tr>
              <a:tr h="866775">
                <a:tc>
                  <a:txBody>
                    <a:bodyPr lIns="171450" tIns="95250" rIns="152400" bIns="95250"/>
                    <a:lstStyle/>
                    <a:p>
                      <a:r>
                        <a:rPr sz="2550" b="0">
                          <a:solidFill>
                            <a:srgbClr val="183247"/>
                          </a:solidFill>
                          <a:latin typeface="Arial"/>
                          <a:ea typeface="Arial"/>
                          <a:cs typeface="Arial"/>
                        </a:rPr>
                        <a:t>Winst berekenen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TO = P × q, daarna TO − TK</a:t>
                      </a:r>
                    </a:p>
                  </a:txBody>
                  <a:tcPr marL="91440" marR="91440" marT="45720" marB="45720" anchor="ctr">
                    <a:solidFill>
                      <a:srgbClr val="EFF4F7"/>
                    </a:solidFill>
                  </a:tcPr>
                </a:tc>
              </a:tr>
            </a:tbl>
          </a:graphicData>
        </a:graphic>
      </p:graphicFrame>
      <p:sp>
        <p:nvSpPr>
          <p:cNvPr id="6" name="De hele markt bepaalt P. Eén kleine onderneming kiest q.">
            <a:extLst xmlns:a="http://schemas.openxmlformats.org/drawingml/2006/main">
              <a:ext uri="{FF2B5EF4-FFF2-40B4-BE49-F238E27FC236}">
                <a16:creationId xmlns:a16="http://schemas.microsoft.com/office/drawing/2014/main" id="{7FD8C753-66B1-45B4-87AA-618E96519006}"/>
              </a:ext>
            </a:extLst>
          </p:cNvPr>
          <p:cNvSpPr>
            <a:spLocks xmlns:a="http://schemas.openxmlformats.org/drawingml/2006/main" noGrp="1"/>
          </p:cNvSpPr>
          <p:nvPr/>
        </p:nvSpPr>
        <p:spPr>
          <a:xfrm xmlns:a="http://schemas.openxmlformats.org/drawingml/2006/main">
            <a:off x="571500" y="683895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De hele markt bepaalt P. Eén kleine onderneming kiest q.</a:t>
            </a:r>
          </a:p>
        </p:txBody>
      </p:sp>
    </p:spTree>
    <p:extLst>
      <p:ext uri="{BB962C8B-B14F-4D97-AF65-F5344CB8AC3E}">
        <p14:creationId xmlns:p14="http://schemas.microsoft.com/office/powerpoint/2010/main" val="1406846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nopolie op een afgebakende markt">
            <a:extLst xmlns:a="http://schemas.openxmlformats.org/drawingml/2006/main">
              <a:ext uri="{FF2B5EF4-FFF2-40B4-BE49-F238E27FC236}">
                <a16:creationId xmlns:a16="http://schemas.microsoft.com/office/drawing/2014/main" id="{7B28D48E-EF13-4188-BB1B-4A785E512CB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Monopolie op een afgebakende markt</a:t>
            </a:r>
          </a:p>
        </p:txBody>
      </p:sp>
      <p:sp>
        <p:nvSpPr>
          <p:cNvPr id="2" name="">
            <a:extLst xmlns:a="http://schemas.openxmlformats.org/drawingml/2006/main">
              <a:ext uri="{FF2B5EF4-FFF2-40B4-BE49-F238E27FC236}">
                <a16:creationId xmlns:a16="http://schemas.microsoft.com/office/drawing/2014/main" id="{89B1AFBD-8293-49DD-934B-A59EDEA933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03D3152-0BF9-4C07-8017-414A1FF86E7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E19289C2-3F55-497F-ABF6-7A70A58A61E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Nachtkoepel verkoopt als enige toegang tot de sterrenkoepel.">
            <a:extLst xmlns:a="http://schemas.openxmlformats.org/drawingml/2006/main">
              <a:ext uri="{FF2B5EF4-FFF2-40B4-BE49-F238E27FC236}">
                <a16:creationId xmlns:a16="http://schemas.microsoft.com/office/drawing/2014/main" id="{5EE5D543-7D11-416B-926A-0AB7EA3AFAEB}"/>
              </a:ext>
            </a:extLst>
          </p:cNvPr>
          <p:cNvSpPr>
            <a:spLocks xmlns:a="http://schemas.openxmlformats.org/drawingml/2006/main" noGrp="1"/>
          </p:cNvSpPr>
          <p:nvPr/>
        </p:nvSpPr>
        <p:spPr>
          <a:xfrm xmlns:a="http://schemas.openxmlformats.org/drawingml/2006/main">
            <a:off x="571500" y="18669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Nachtkoepel verkoopt als enige toegang tot de sterrenkoepel.</a:t>
            </a:r>
          </a:p>
        </p:txBody>
      </p:sp>
      <p:graphicFrame>
        <p:nvGraphicFramePr>
          <p:cNvPr id="13" name=""/>
          <p:cNvGraphicFramePr/>
          <p:nvPr/>
        </p:nvGraphicFramePr>
        <p:xfrm>
          <a:off xmlns:a="http://schemas.openxmlformats.org/drawingml/2006/main" x="571500" y="3162300"/>
          <a:ext xmlns:a="http://schemas.openxmlformats.org/drawingml/2006/main" cx="14097000" cy="2847975"/>
        </p:xfrm>
        <a:graphic xmlns:a="http://schemas.openxmlformats.org/drawingml/2006/main">
          <a:graphicData uri="http://schemas.openxmlformats.org/drawingml/2006/table">
            <a:tbl>
              <a:tblPr/>
              <a:tblGrid>
                <a:gridCol w="6381750"/>
                <a:gridCol w="7715250"/>
              </a:tblGrid>
              <a:tr h="949325">
                <a:tc>
                  <a:txBody>
                    <a:bodyPr lIns="171450" tIns="95250" rIns="152400" bIns="95250"/>
                    <a:lstStyle/>
                    <a:p>
                      <a:r>
                        <a:rPr sz="2475" b="1">
                          <a:solidFill>
                            <a:srgbClr val="FFFFFF"/>
                          </a:solidFill>
                          <a:latin typeface="Arial"/>
                          <a:ea typeface="Arial"/>
                          <a:cs typeface="Arial"/>
                        </a:rPr>
                        <a:t>Welke markt?</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Wat vertelt onze oefenbron?</a:t>
                      </a:r>
                    </a:p>
                  </a:txBody>
                  <a:tcPr marL="91440" marR="91440" marT="45720" marB="45720" anchor="ctr">
                    <a:solidFill>
                      <a:srgbClr val="183247"/>
                    </a:solidFill>
                  </a:tcPr>
                </a:tc>
              </a:tr>
              <a:tr h="949325">
                <a:tc>
                  <a:txBody>
                    <a:bodyPr lIns="171450" tIns="95250" rIns="152400" bIns="95250"/>
                    <a:lstStyle/>
                    <a:p>
                      <a:r>
                        <a:rPr sz="2475" b="0">
                          <a:solidFill>
                            <a:srgbClr val="183247"/>
                          </a:solidFill>
                          <a:latin typeface="Arial"/>
                          <a:ea typeface="Arial"/>
                          <a:cs typeface="Arial"/>
                        </a:rPr>
                        <a:t>Toegang tot deze sterrenkoepel</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Eén aanbieder, geen vervangende toegang.</a:t>
                      </a:r>
                    </a:p>
                  </a:txBody>
                  <a:tcPr marL="91440" marR="91440" marT="45720" marB="45720" anchor="ctr">
                    <a:solidFill>
                      <a:srgbClr val="FFFFFF"/>
                    </a:solidFill>
                  </a:tcPr>
                </a:tc>
              </a:tr>
              <a:tr h="949325">
                <a:tc>
                  <a:txBody>
                    <a:bodyPr lIns="171450" tIns="95250" rIns="152400" bIns="95250"/>
                    <a:lstStyle/>
                    <a:p>
                      <a:r>
                        <a:rPr sz="2475" b="0">
                          <a:solidFill>
                            <a:srgbClr val="183247"/>
                          </a:solidFill>
                          <a:latin typeface="Arial"/>
                          <a:ea typeface="Arial"/>
                          <a:cs typeface="Arial"/>
                        </a:rPr>
                        <a:t>Alle avondactiviteiten in de regio</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Ook bioscopen en theaters trekken bezoekers.</a:t>
                      </a:r>
                    </a:p>
                  </a:txBody>
                  <a:tcPr marL="91440" marR="91440" marT="45720" marB="45720" anchor="ctr">
                    <a:solidFill>
                      <a:srgbClr val="EFF4F7"/>
                    </a:solidFill>
                  </a:tcPr>
                </a:tc>
              </a:tr>
            </a:tbl>
          </a:graphicData>
        </a:graphic>
      </p:graphicFrame>
      <p:sp>
        <p:nvSpPr>
          <p:cNvPr id="7" name="Monopolie: één aanbieder op de beschreven markt.">
            <a:extLst xmlns:a="http://schemas.openxmlformats.org/drawingml/2006/main">
              <a:ext uri="{FF2B5EF4-FFF2-40B4-BE49-F238E27FC236}">
                <a16:creationId xmlns:a16="http://schemas.microsoft.com/office/drawing/2014/main" id="{A06EA407-D1E8-4E33-9852-E2BE323BD2D6}"/>
              </a:ext>
            </a:extLst>
          </p:cNvPr>
          <p:cNvSpPr>
            <a:spLocks xmlns:a="http://schemas.openxmlformats.org/drawingml/2006/main" noGrp="1"/>
          </p:cNvSpPr>
          <p:nvPr/>
        </p:nvSpPr>
        <p:spPr>
          <a:xfrm xmlns:a="http://schemas.openxmlformats.org/drawingml/2006/main">
            <a:off x="571500" y="66484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Monopolie: één aanbieder op de beschreven markt.</a:t>
            </a:r>
          </a:p>
        </p:txBody>
      </p:sp>
    </p:spTree>
    <p:extLst>
      <p:ext uri="{BB962C8B-B14F-4D97-AF65-F5344CB8AC3E}">
        <p14:creationId xmlns:p14="http://schemas.microsoft.com/office/powerpoint/2010/main" val="16163209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oetredingsbarrières">
            <a:extLst xmlns:a="http://schemas.openxmlformats.org/drawingml/2006/main">
              <a:ext uri="{FF2B5EF4-FFF2-40B4-BE49-F238E27FC236}">
                <a16:creationId xmlns:a16="http://schemas.microsoft.com/office/drawing/2014/main" id="{0FFAED14-D70A-495C-9E0F-04F59C4504F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Toetredingsbarrières</a:t>
            </a:r>
          </a:p>
        </p:txBody>
      </p:sp>
      <p:sp>
        <p:nvSpPr>
          <p:cNvPr id="2" name="">
            <a:extLst xmlns:a="http://schemas.openxmlformats.org/drawingml/2006/main">
              <a:ext uri="{FF2B5EF4-FFF2-40B4-BE49-F238E27FC236}">
                <a16:creationId xmlns:a16="http://schemas.microsoft.com/office/drawing/2014/main" id="{0751F72E-1307-4E78-BCBC-5B4D5E2098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29790ECE-06AE-4975-845B-BBD51F6280A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4">
            <a:extLst xmlns:a="http://schemas.openxmlformats.org/drawingml/2006/main">
              <a:ext uri="{FF2B5EF4-FFF2-40B4-BE49-F238E27FC236}">
                <a16:creationId xmlns:a16="http://schemas.microsoft.com/office/drawing/2014/main" id="{8398F683-5B91-450C-8CAD-CD41757E59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1" name=""/>
          <p:cNvGraphicFramePr/>
          <p:nvPr/>
        </p:nvGraphicFramePr>
        <p:xfrm>
          <a:off xmlns:a="http://schemas.openxmlformats.org/drawingml/2006/main" x="571500" y="2000250"/>
          <a:ext xmlns:a="http://schemas.openxmlformats.org/drawingml/2006/main" cx="14097000" cy="4048125"/>
        </p:xfrm>
        <a:graphic xmlns:a="http://schemas.openxmlformats.org/drawingml/2006/main">
          <a:graphicData uri="http://schemas.openxmlformats.org/drawingml/2006/table">
            <a:tbl>
              <a:tblPr/>
              <a:tblGrid>
                <a:gridCol w="5905500"/>
                <a:gridCol w="8191500"/>
              </a:tblGrid>
              <a:tr h="1012031">
                <a:tc>
                  <a:txBody>
                    <a:bodyPr lIns="171450" tIns="95250" rIns="152400" bIns="95250"/>
                    <a:lstStyle/>
                    <a:p>
                      <a:r>
                        <a:rPr sz="2475" b="1">
                          <a:solidFill>
                            <a:srgbClr val="FFFFFF"/>
                          </a:solidFill>
                          <a:latin typeface="Arial"/>
                          <a:ea typeface="Arial"/>
                          <a:cs typeface="Arial"/>
                        </a:rPr>
                        <a:t>Barrière uit de bron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Gevolg voor een nieuwe aanbieder</a:t>
                      </a:r>
                    </a:p>
                  </a:txBody>
                  <a:tcPr marL="91440" marR="91440" marT="45720" marB="45720" anchor="ctr">
                    <a:solidFill>
                      <a:srgbClr val="183247"/>
                    </a:solidFill>
                  </a:tcPr>
                </a:tc>
              </a:tr>
              <a:tr h="1012031">
                <a:tc>
                  <a:txBody>
                    <a:bodyPr lIns="171450" tIns="95250" rIns="152400" bIns="95250"/>
                    <a:lstStyle/>
                    <a:p>
                      <a:r>
                        <a:rPr sz="2475" b="0">
                          <a:solidFill>
                            <a:srgbClr val="183247"/>
                          </a:solidFill>
                          <a:latin typeface="Arial"/>
                          <a:ea typeface="Arial"/>
                          <a:cs typeface="Arial"/>
                        </a:rPr>
                        <a:t>Exclusieve vergunning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Een ander bedrijf mag de dienst niet aanbieden.</a:t>
                      </a:r>
                    </a:p>
                  </a:txBody>
                  <a:tcPr marL="91440" marR="91440" marT="45720" marB="45720" anchor="ctr">
                    <a:solidFill>
                      <a:srgbClr val="FFFFFF"/>
                    </a:solidFill>
                  </a:tcPr>
                </a:tc>
              </a:tr>
              <a:tr h="1012031">
                <a:tc>
                  <a:txBody>
                    <a:bodyPr lIns="171450" tIns="95250" rIns="152400" bIns="95250"/>
                    <a:lstStyle/>
                    <a:p>
                      <a:r>
                        <a:rPr sz="2475" b="0">
                          <a:solidFill>
                            <a:srgbClr val="183247"/>
                          </a:solidFill>
                          <a:latin typeface="Arial"/>
                          <a:ea typeface="Arial"/>
                          <a:cs typeface="Arial"/>
                        </a:rPr>
                        <a:t>Octrooi op een uitvinding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Een ander mag de beschermde uitvinding niet zomaar gebruiken.</a:t>
                      </a:r>
                    </a:p>
                  </a:txBody>
                  <a:tcPr marL="91440" marR="91440" marT="45720" marB="45720" anchor="ctr">
                    <a:solidFill>
                      <a:srgbClr val="EFF4F7"/>
                    </a:solidFill>
                  </a:tcPr>
                </a:tc>
              </a:tr>
              <a:tr h="1012031">
                <a:tc>
                  <a:txBody>
                    <a:bodyPr lIns="171450" tIns="95250" rIns="152400" bIns="95250"/>
                    <a:lstStyle/>
                    <a:p>
                      <a:r>
                        <a:rPr sz="2475" b="0">
                          <a:solidFill>
                            <a:srgbClr val="183247"/>
                          </a:solidFill>
                          <a:latin typeface="Arial"/>
                          <a:ea typeface="Arial"/>
                          <a:cs typeface="Arial"/>
                        </a:rPr>
                        <a:t>Onmisbare voorziening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Een ander krijgt geen toegang tot het noodzakelijke middel.</a:t>
                      </a:r>
                    </a:p>
                  </a:txBody>
                  <a:tcPr marL="91440" marR="91440" marT="45720" marB="45720" anchor="ctr">
                    <a:solidFill>
                      <a:srgbClr val="FFFFFF"/>
                    </a:solidFill>
                  </a:tcPr>
                </a:tc>
              </a:tr>
            </a:tbl>
          </a:graphicData>
        </a:graphic>
      </p:graphicFrame>
      <p:sp>
        <p:nvSpPr>
          <p:cNvPr id="6" name="Brongegeven + gevolg voor toetreding = onderbouwde uitleg">
            <a:extLst xmlns:a="http://schemas.openxmlformats.org/drawingml/2006/main">
              <a:ext uri="{FF2B5EF4-FFF2-40B4-BE49-F238E27FC236}">
                <a16:creationId xmlns:a16="http://schemas.microsoft.com/office/drawing/2014/main" id="{C9C5699F-C3E4-46AB-A99F-F83E1102AA7F}"/>
              </a:ext>
            </a:extLst>
          </p:cNvPr>
          <p:cNvSpPr>
            <a:spLocks xmlns:a="http://schemas.openxmlformats.org/drawingml/2006/main" noGrp="1"/>
          </p:cNvSpPr>
          <p:nvPr/>
        </p:nvSpPr>
        <p:spPr>
          <a:xfrm xmlns:a="http://schemas.openxmlformats.org/drawingml/2006/main">
            <a:off x="571500" y="679132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Brongegeven + gevolg voor toetreding = onderbouwde uitleg</a:t>
            </a:r>
          </a:p>
        </p:txBody>
      </p:sp>
    </p:spTree>
    <p:extLst>
      <p:ext uri="{BB962C8B-B14F-4D97-AF65-F5344CB8AC3E}">
        <p14:creationId xmlns:p14="http://schemas.microsoft.com/office/powerpoint/2010/main" val="1664503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vraaglijn van één kleine prijsnemer">
            <a:extLst xmlns:a="http://schemas.openxmlformats.org/drawingml/2006/main">
              <a:ext uri="{FF2B5EF4-FFF2-40B4-BE49-F238E27FC236}">
                <a16:creationId xmlns:a16="http://schemas.microsoft.com/office/drawing/2014/main" id="{E8FE5ECD-4E41-4F0D-96F8-9DED185879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vraaglijn van één kleine prijsnemer</a:t>
            </a:r>
          </a:p>
        </p:txBody>
      </p:sp>
      <p:sp>
        <p:nvSpPr>
          <p:cNvPr id="2" name="">
            <a:extLst xmlns:a="http://schemas.openxmlformats.org/drawingml/2006/main">
              <a:ext uri="{FF2B5EF4-FFF2-40B4-BE49-F238E27FC236}">
                <a16:creationId xmlns:a16="http://schemas.microsoft.com/office/drawing/2014/main" id="{F060CACF-1A91-43F1-AB5A-B130A776075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E2ED3AB-C4CA-4298-BAC5-16FDD844006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170691E4-566D-4FBC-A318-BD790FFE39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3"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a9bae4d568d64ace"/>
          </a:graphicData>
        </a:graphic>
      </p:graphicFrame>
      <p:sp>
        <p:nvSpPr>
          <p:cNvPr id="6" name="P = GO = MO">
            <a:extLst xmlns:a="http://schemas.openxmlformats.org/drawingml/2006/main">
              <a:ext uri="{FF2B5EF4-FFF2-40B4-BE49-F238E27FC236}">
                <a16:creationId xmlns:a16="http://schemas.microsoft.com/office/drawing/2014/main" id="{EF9D0958-B90C-40ED-906F-B1E74C4DA5E4}"/>
              </a:ext>
            </a:extLst>
          </p:cNvPr>
          <p:cNvSpPr>
            <a:spLocks xmlns:a="http://schemas.openxmlformats.org/drawingml/2006/main" noGrp="1"/>
          </p:cNvSpPr>
          <p:nvPr/>
        </p:nvSpPr>
        <p:spPr>
          <a:xfrm xmlns:a="http://schemas.openxmlformats.org/drawingml/2006/main">
            <a:off x="10572750" y="280987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 = GO = MO</a:t>
            </a:r>
          </a:p>
        </p:txBody>
      </p:sp>
      <p:sp>
        <p:nvSpPr>
          <p:cNvPr id="7" name="Kleine groenteteler&#10;Marktprijs: € 6 per kg&#10;Capaciteit: 50 kg">
            <a:extLst xmlns:a="http://schemas.openxmlformats.org/drawingml/2006/main">
              <a:ext uri="{FF2B5EF4-FFF2-40B4-BE49-F238E27FC236}">
                <a16:creationId xmlns:a16="http://schemas.microsoft.com/office/drawing/2014/main" id="{9E147961-5D45-4162-916D-7CB7F4669FDF}"/>
              </a:ext>
            </a:extLst>
          </p:cNvPr>
          <p:cNvSpPr>
            <a:spLocks xmlns:a="http://schemas.openxmlformats.org/drawingml/2006/main" noGrp="1"/>
          </p:cNvSpPr>
          <p:nvPr/>
        </p:nvSpPr>
        <p:spPr>
          <a:xfrm xmlns:a="http://schemas.openxmlformats.org/drawingml/2006/main">
            <a:off x="10572750" y="3733800"/>
            <a:ext cx="4095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Kleine groenteteler</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Marktprijs: € 6 per kg</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Capaciteit: 50 kg per week</a:t>
            </a:r>
          </a:p>
        </p:txBody>
      </p:sp>
      <p:sp>
        <p:nvSpPr>
          <p:cNvPr id="8" name="q is de afzet van&#10;één onderneming.">
            <a:extLst xmlns:a="http://schemas.openxmlformats.org/drawingml/2006/main">
              <a:ext uri="{FF2B5EF4-FFF2-40B4-BE49-F238E27FC236}">
                <a16:creationId xmlns:a16="http://schemas.microsoft.com/office/drawing/2014/main" id="{295D5160-C96A-4572-8C25-7F5F3730C636}"/>
              </a:ext>
            </a:extLst>
          </p:cNvPr>
          <p:cNvSpPr>
            <a:spLocks xmlns:a="http://schemas.openxmlformats.org/drawingml/2006/main" noGrp="1"/>
          </p:cNvSpPr>
          <p:nvPr/>
        </p:nvSpPr>
        <p:spPr>
          <a:xfrm xmlns:a="http://schemas.openxmlformats.org/drawingml/2006/main">
            <a:off x="10572750" y="6191250"/>
            <a:ext cx="4095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q is de afzet van</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één onderneming.</a:t>
            </a:r>
          </a:p>
        </p:txBody>
      </p:sp>
    </p:spTree>
    <p:extLst>
      <p:ext uri="{BB962C8B-B14F-4D97-AF65-F5344CB8AC3E}">
        <p14:creationId xmlns:p14="http://schemas.microsoft.com/office/powerpoint/2010/main" val="6544036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vraaglijn van de monopolist">
            <a:extLst xmlns:a="http://schemas.openxmlformats.org/drawingml/2006/main">
              <a:ext uri="{FF2B5EF4-FFF2-40B4-BE49-F238E27FC236}">
                <a16:creationId xmlns:a16="http://schemas.microsoft.com/office/drawing/2014/main" id="{CE53EBD5-FBFA-46F5-8C57-9B7555EFA11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vraaglijn van de monopolist</a:t>
            </a:r>
          </a:p>
        </p:txBody>
      </p:sp>
      <p:sp>
        <p:nvSpPr>
          <p:cNvPr id="2" name="">
            <a:extLst xmlns:a="http://schemas.openxmlformats.org/drawingml/2006/main">
              <a:ext uri="{FF2B5EF4-FFF2-40B4-BE49-F238E27FC236}">
                <a16:creationId xmlns:a16="http://schemas.microsoft.com/office/drawing/2014/main" id="{6BC3314F-AB46-4B45-AFB5-3113C51F21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95003EEE-08F1-43AE-A3E3-7609B21C988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C9EF34CA-A2CC-4C8A-AD35-A820B33568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3"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5f6bd74444d14a06"/>
          </a:graphicData>
        </a:graphic>
      </p:graphicFrame>
      <p:sp>
        <p:nvSpPr>
          <p:cNvPr id="6" name="Vraag = GO">
            <a:extLst xmlns:a="http://schemas.openxmlformats.org/drawingml/2006/main">
              <a:ext uri="{FF2B5EF4-FFF2-40B4-BE49-F238E27FC236}">
                <a16:creationId xmlns:a16="http://schemas.microsoft.com/office/drawing/2014/main" id="{CC8E037F-F086-41C0-A276-16364EAE2E52}"/>
              </a:ext>
            </a:extLst>
          </p:cNvPr>
          <p:cNvSpPr>
            <a:spLocks xmlns:a="http://schemas.openxmlformats.org/drawingml/2006/main" noGrp="1"/>
          </p:cNvSpPr>
          <p:nvPr/>
        </p:nvSpPr>
        <p:spPr>
          <a:xfrm xmlns:a="http://schemas.openxmlformats.org/drawingml/2006/main">
            <a:off x="10572750" y="26670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Vraag = GO</a:t>
            </a:r>
          </a:p>
        </p:txBody>
      </p:sp>
      <p:sp>
        <p:nvSpPr>
          <p:cNvPr id="7" name="Nachtkoepel&#10;P = 30 − 0,25q&#10;0 ≤ q ≤ 120">
            <a:extLst xmlns:a="http://schemas.openxmlformats.org/drawingml/2006/main">
              <a:ext uri="{FF2B5EF4-FFF2-40B4-BE49-F238E27FC236}">
                <a16:creationId xmlns:a16="http://schemas.microsoft.com/office/drawing/2014/main" id="{927C74B0-F80D-4EA7-A6ED-B45AC9337A5D}"/>
              </a:ext>
            </a:extLst>
          </p:cNvPr>
          <p:cNvSpPr>
            <a:spLocks xmlns:a="http://schemas.openxmlformats.org/drawingml/2006/main" noGrp="1"/>
          </p:cNvSpPr>
          <p:nvPr/>
        </p:nvSpPr>
        <p:spPr>
          <a:xfrm xmlns:a="http://schemas.openxmlformats.org/drawingml/2006/main">
            <a:off x="10572750" y="3619500"/>
            <a:ext cx="4095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Nachtkoepel</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 = 30 − 0,25q</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0 ≤ q ≤ 120</a:t>
            </a:r>
          </a:p>
        </p:txBody>
      </p:sp>
      <p:sp>
        <p:nvSpPr>
          <p:cNvPr id="8" name="q = Q&#10;De enige aanbieder&#10;bedient de hele markt.">
            <a:extLst xmlns:a="http://schemas.openxmlformats.org/drawingml/2006/main">
              <a:ext uri="{FF2B5EF4-FFF2-40B4-BE49-F238E27FC236}">
                <a16:creationId xmlns:a16="http://schemas.microsoft.com/office/drawing/2014/main" id="{C3A4FFE7-05BF-41F0-9EC5-7475EAA72E01}"/>
              </a:ext>
            </a:extLst>
          </p:cNvPr>
          <p:cNvSpPr>
            <a:spLocks xmlns:a="http://schemas.openxmlformats.org/drawingml/2006/main" noGrp="1"/>
          </p:cNvSpPr>
          <p:nvPr/>
        </p:nvSpPr>
        <p:spPr>
          <a:xfrm xmlns:a="http://schemas.openxmlformats.org/drawingml/2006/main">
            <a:off x="10572750" y="5924550"/>
            <a:ext cx="4095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q = Q</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enige aanbieder</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bedient de hele markt.</a:t>
            </a:r>
          </a:p>
        </p:txBody>
      </p:sp>
    </p:spTree>
    <p:extLst>
      <p:ext uri="{BB962C8B-B14F-4D97-AF65-F5344CB8AC3E}">
        <p14:creationId xmlns:p14="http://schemas.microsoft.com/office/powerpoint/2010/main" val="17765753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prijs-afzetcombinaties">
            <a:extLst xmlns:a="http://schemas.openxmlformats.org/drawingml/2006/main">
              <a:ext uri="{FF2B5EF4-FFF2-40B4-BE49-F238E27FC236}">
                <a16:creationId xmlns:a16="http://schemas.microsoft.com/office/drawing/2014/main" id="{1E16E02E-4740-4931-BB72-9B74DA41E3E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prijs-afzetcombinaties</a:t>
            </a:r>
          </a:p>
        </p:txBody>
      </p:sp>
      <p:sp>
        <p:nvSpPr>
          <p:cNvPr id="2" name="">
            <a:extLst xmlns:a="http://schemas.openxmlformats.org/drawingml/2006/main">
              <a:ext uri="{FF2B5EF4-FFF2-40B4-BE49-F238E27FC236}">
                <a16:creationId xmlns:a16="http://schemas.microsoft.com/office/drawing/2014/main" id="{3EF4DE32-88AB-48E8-B4DD-27F10AABAD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3B289E7F-0EC4-4140-921F-9FBD7066850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506558ED-E940-4D75-8C0C-1A8A6B54CB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Nachtkoepel: P = 30 − 0,25q">
            <a:extLst xmlns:a="http://schemas.openxmlformats.org/drawingml/2006/main">
              <a:ext uri="{FF2B5EF4-FFF2-40B4-BE49-F238E27FC236}">
                <a16:creationId xmlns:a16="http://schemas.microsoft.com/office/drawing/2014/main" id="{230C1408-612F-4B8C-9B91-6460BB2F6491}"/>
              </a:ext>
            </a:extLst>
          </p:cNvPr>
          <p:cNvSpPr>
            <a:spLocks xmlns:a="http://schemas.openxmlformats.org/drawingml/2006/main" noGrp="1"/>
          </p:cNvSpPr>
          <p:nvPr/>
        </p:nvSpPr>
        <p:spPr>
          <a:xfrm xmlns:a="http://schemas.openxmlformats.org/drawingml/2006/main">
            <a:off x="571500" y="18192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Nachtkoepel: P = 30 − 0,25q</a:t>
            </a:r>
          </a:p>
        </p:txBody>
      </p:sp>
      <p:graphicFrame>
        <p:nvGraphicFramePr>
          <p:cNvPr id="13" name=""/>
          <p:cNvGraphicFramePr/>
          <p:nvPr/>
        </p:nvGraphicFramePr>
        <p:xfrm>
          <a:off xmlns:a="http://schemas.openxmlformats.org/drawingml/2006/main" x="571500" y="3076575"/>
          <a:ext xmlns:a="http://schemas.openxmlformats.org/drawingml/2006/main" cx="14097000" cy="2952750"/>
        </p:xfrm>
        <a:graphic xmlns:a="http://schemas.openxmlformats.org/drawingml/2006/main">
          <a:graphicData uri="http://schemas.openxmlformats.org/drawingml/2006/table">
            <a:tbl>
              <a:tblPr/>
              <a:tblGrid>
                <a:gridCol w="3714750"/>
                <a:gridCol w="6381750"/>
                <a:gridCol w="4000500"/>
              </a:tblGrid>
              <a:tr h="984250">
                <a:tc>
                  <a:txBody>
                    <a:bodyPr lIns="171450" tIns="95250" rIns="152400" bIns="95250"/>
                    <a:lstStyle/>
                    <a:p>
                      <a:r>
                        <a:rPr sz="2550" b="1">
                          <a:solidFill>
                            <a:srgbClr val="FFFFFF"/>
                          </a:solidFill>
                          <a:latin typeface="Arial"/>
                          <a:ea typeface="Arial"/>
                          <a:cs typeface="Arial"/>
                        </a:rPr>
                        <a:t>Afzet per avond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Invullen in de vraagfunctie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Prijs per kaartje</a:t>
                      </a:r>
                    </a:p>
                  </a:txBody>
                  <a:tcPr marL="91440" marR="91440" marT="45720" marB="45720" anchor="ctr">
                    <a:solidFill>
                      <a:srgbClr val="183247"/>
                    </a:solidFill>
                  </a:tcPr>
                </a:tc>
              </a:tr>
              <a:tr h="984250">
                <a:tc>
                  <a:txBody>
                    <a:bodyPr lIns="171450" tIns="95250" rIns="152400" bIns="95250"/>
                    <a:lstStyle/>
                    <a:p>
                      <a:r>
                        <a:rPr sz="2550" b="0">
                          <a:solidFill>
                            <a:srgbClr val="183247"/>
                          </a:solidFill>
                          <a:latin typeface="Arial"/>
                          <a:ea typeface="Arial"/>
                          <a:cs typeface="Arial"/>
                        </a:rPr>
                        <a:t>A: 24 kaartjes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30 − 0,25 × 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€ 24</a:t>
                      </a:r>
                    </a:p>
                  </a:txBody>
                  <a:tcPr marL="91440" marR="91440" marT="45720" marB="45720" anchor="ctr">
                    <a:solidFill>
                      <a:srgbClr val="FFFFFF"/>
                    </a:solidFill>
                  </a:tcPr>
                </a:tc>
              </a:tr>
              <a:tr h="984250">
                <a:tc>
                  <a:txBody>
                    <a:bodyPr lIns="171450" tIns="95250" rIns="152400" bIns="95250"/>
                    <a:lstStyle/>
                    <a:p>
                      <a:r>
                        <a:rPr sz="2550" b="0">
                          <a:solidFill>
                            <a:srgbClr val="183247"/>
                          </a:solidFill>
                          <a:latin typeface="Arial"/>
                          <a:ea typeface="Arial"/>
                          <a:cs typeface="Arial"/>
                        </a:rPr>
                        <a:t>B: 72 kaartjes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 = 30 − 0,25 × 72</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€ 12</a:t>
                      </a:r>
                    </a:p>
                  </a:txBody>
                  <a:tcPr marL="91440" marR="91440" marT="45720" marB="45720" anchor="ctr">
                    <a:solidFill>
                      <a:srgbClr val="EFF4F7"/>
                    </a:solidFill>
                  </a:tcPr>
                </a:tc>
              </a:tr>
            </a:tbl>
          </a:graphicData>
        </a:graphic>
      </p:graphicFrame>
      <p:sp>
        <p:nvSpPr>
          <p:cNvPr id="7" name="Meer kaartjes verkopen vraagt hier om een lagere prijs.">
            <a:extLst xmlns:a="http://schemas.openxmlformats.org/drawingml/2006/main">
              <a:ext uri="{FF2B5EF4-FFF2-40B4-BE49-F238E27FC236}">
                <a16:creationId xmlns:a16="http://schemas.microsoft.com/office/drawing/2014/main" id="{484E1A86-70E4-4BF3-A9BB-9B222C0B716F}"/>
              </a:ext>
            </a:extLst>
          </p:cNvPr>
          <p:cNvSpPr>
            <a:spLocks xmlns:a="http://schemas.openxmlformats.org/drawingml/2006/main" noGrp="1"/>
          </p:cNvSpPr>
          <p:nvPr/>
        </p:nvSpPr>
        <p:spPr>
          <a:xfrm xmlns:a="http://schemas.openxmlformats.org/drawingml/2006/main">
            <a:off x="571500" y="668655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Meer kaartjes verkopen vraagt hier om een lagere prijs.</a:t>
            </a:r>
          </a:p>
        </p:txBody>
      </p:sp>
    </p:spTree>
    <p:extLst>
      <p:ext uri="{BB962C8B-B14F-4D97-AF65-F5344CB8AC3E}">
        <p14:creationId xmlns:p14="http://schemas.microsoft.com/office/powerpoint/2010/main" val="836996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én punt koppelt prijs en afzet">
            <a:extLst xmlns:a="http://schemas.openxmlformats.org/drawingml/2006/main">
              <a:ext uri="{FF2B5EF4-FFF2-40B4-BE49-F238E27FC236}">
                <a16:creationId xmlns:a16="http://schemas.microsoft.com/office/drawing/2014/main" id="{9F1F0011-2C41-4A93-8535-85EF0B2A061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Eén punt koppelt prijs en afzet</a:t>
            </a:r>
          </a:p>
        </p:txBody>
      </p:sp>
      <p:sp>
        <p:nvSpPr>
          <p:cNvPr id="2" name="">
            <a:extLst xmlns:a="http://schemas.openxmlformats.org/drawingml/2006/main">
              <a:ext uri="{FF2B5EF4-FFF2-40B4-BE49-F238E27FC236}">
                <a16:creationId xmlns:a16="http://schemas.microsoft.com/office/drawing/2014/main" id="{19D23F88-10DE-4DDD-9F56-A628D9BDE47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5939CC9-8708-42BA-8C7A-2D8010F6150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A3FA2AA0-FD76-474F-B42D-70C2A91963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bb22be55144f4668"/>
          </a:graphicData>
        </a:graphic>
      </p:graphicFrame>
      <p:sp>
        <p:nvSpPr>
          <p:cNvPr id="6" name="Vraag = GO">
            <a:extLst xmlns:a="http://schemas.openxmlformats.org/drawingml/2006/main">
              <a:ext uri="{FF2B5EF4-FFF2-40B4-BE49-F238E27FC236}">
                <a16:creationId xmlns:a16="http://schemas.microsoft.com/office/drawing/2014/main" id="{B1EA0E36-044C-4FCC-A757-761C376FB133}"/>
              </a:ext>
            </a:extLst>
          </p:cNvPr>
          <p:cNvSpPr>
            <a:spLocks xmlns:a="http://schemas.openxmlformats.org/drawingml/2006/main" noGrp="1"/>
          </p:cNvSpPr>
          <p:nvPr/>
        </p:nvSpPr>
        <p:spPr>
          <a:xfrm xmlns:a="http://schemas.openxmlformats.org/drawingml/2006/main">
            <a:off x="10572750" y="2409825"/>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GO</a:t>
            </a:r>
          </a:p>
        </p:txBody>
      </p:sp>
      <p:sp>
        <p:nvSpPr>
          <p:cNvPr id="7" name="A: (24, 24)&#10;B: (72, 12)">
            <a:extLst xmlns:a="http://schemas.openxmlformats.org/drawingml/2006/main">
              <a:ext uri="{FF2B5EF4-FFF2-40B4-BE49-F238E27FC236}">
                <a16:creationId xmlns:a16="http://schemas.microsoft.com/office/drawing/2014/main" id="{F30D8CF4-B1EB-4E5B-81B0-4D7C48F72F6B}"/>
              </a:ext>
            </a:extLst>
          </p:cNvPr>
          <p:cNvSpPr>
            <a:spLocks xmlns:a="http://schemas.openxmlformats.org/drawingml/2006/main" noGrp="1"/>
          </p:cNvSpPr>
          <p:nvPr/>
        </p:nvSpPr>
        <p:spPr>
          <a:xfrm xmlns:a="http://schemas.openxmlformats.org/drawingml/2006/main">
            <a:off x="10572750" y="35242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A: (24, 24)</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 (72, 12)</a:t>
            </a:r>
          </a:p>
        </p:txBody>
      </p:sp>
      <p:sp>
        <p:nvSpPr>
          <p:cNvPr id="8" name="72 kaartjes voor € 24?&#10;Bij € 24 horen&#10;24 kaartjes per avond.">
            <a:extLst xmlns:a="http://schemas.openxmlformats.org/drawingml/2006/main">
              <a:ext uri="{FF2B5EF4-FFF2-40B4-BE49-F238E27FC236}">
                <a16:creationId xmlns:a16="http://schemas.microsoft.com/office/drawing/2014/main" id="{97C11B39-CCD2-4633-A1AB-4890FB3FEB43}"/>
              </a:ext>
            </a:extLst>
          </p:cNvPr>
          <p:cNvSpPr>
            <a:spLocks xmlns:a="http://schemas.openxmlformats.org/drawingml/2006/main" noGrp="1"/>
          </p:cNvSpPr>
          <p:nvPr/>
        </p:nvSpPr>
        <p:spPr>
          <a:xfrm xmlns:a="http://schemas.openxmlformats.org/drawingml/2006/main">
            <a:off x="10572750" y="5495925"/>
            <a:ext cx="40957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72 kaartjes voor € 24?</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Bij € 24 horen</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24 kaartjes per avond.</a:t>
            </a:r>
          </a:p>
        </p:txBody>
      </p:sp>
    </p:spTree>
    <p:extLst>
      <p:ext uri="{BB962C8B-B14F-4D97-AF65-F5344CB8AC3E}">
        <p14:creationId xmlns:p14="http://schemas.microsoft.com/office/powerpoint/2010/main" val="13537880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 afzet bij een gegeven prijs">
            <a:extLst xmlns:a="http://schemas.openxmlformats.org/drawingml/2006/main">
              <a:ext uri="{FF2B5EF4-FFF2-40B4-BE49-F238E27FC236}">
                <a16:creationId xmlns:a16="http://schemas.microsoft.com/office/drawing/2014/main" id="{AB3708A8-6F6E-41EE-B8A8-7616490BAAD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afzet bij een gegeven prijs</a:t>
            </a:r>
          </a:p>
        </p:txBody>
      </p:sp>
      <p:sp>
        <p:nvSpPr>
          <p:cNvPr id="2" name="">
            <a:extLst xmlns:a="http://schemas.openxmlformats.org/drawingml/2006/main">
              <a:ext uri="{FF2B5EF4-FFF2-40B4-BE49-F238E27FC236}">
                <a16:creationId xmlns:a16="http://schemas.microsoft.com/office/drawing/2014/main" id="{23548F3D-D36C-4767-BD04-D176238D61C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D42BD24-E4CE-4BCF-81A7-FCA4D23899D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8CB3BC1C-D8BC-42F2-8AAC-12A7B7F7FB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Nachtkoepel vraagt € 18 per kaartje.">
            <a:extLst xmlns:a="http://schemas.openxmlformats.org/drawingml/2006/main">
              <a:ext uri="{FF2B5EF4-FFF2-40B4-BE49-F238E27FC236}">
                <a16:creationId xmlns:a16="http://schemas.microsoft.com/office/drawing/2014/main" id="{5B1F921A-5863-42F4-8CED-F4F3FDFA339A}"/>
              </a:ext>
            </a:extLst>
          </p:cNvPr>
          <p:cNvSpPr>
            <a:spLocks xmlns:a="http://schemas.openxmlformats.org/drawingml/2006/main" noGrp="1"/>
          </p:cNvSpPr>
          <p:nvPr/>
        </p:nvSpPr>
        <p:spPr>
          <a:xfrm xmlns:a="http://schemas.openxmlformats.org/drawingml/2006/main">
            <a:off x="571500" y="18097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Nachtkoepel vraagt € 18 per kaartje.</a:t>
            </a:r>
          </a:p>
        </p:txBody>
      </p:sp>
      <p:sp>
        <p:nvSpPr>
          <p:cNvPr id="6" name="Vergelijking">
            <a:extLst xmlns:a="http://schemas.openxmlformats.org/drawingml/2006/main">
              <a:ext uri="{FF2B5EF4-FFF2-40B4-BE49-F238E27FC236}">
                <a16:creationId xmlns:a16="http://schemas.microsoft.com/office/drawing/2014/main" id="{C85315B6-5E88-4C52-A826-42401939F307}"/>
              </a:ext>
            </a:extLst>
          </p:cNvPr>
          <p:cNvSpPr>
            <a:spLocks xmlns:a="http://schemas.openxmlformats.org/drawingml/2006/main" noGrp="1"/>
          </p:cNvSpPr>
          <p:nvPr/>
        </p:nvSpPr>
        <p:spPr>
          <a:xfrm xmlns:a="http://schemas.openxmlformats.org/drawingml/2006/main">
            <a:off x="571500" y="29718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Vergelijking</a:t>
            </a:r>
          </a:p>
        </p:txBody>
      </p:sp>
      <p:sp>
        <p:nvSpPr>
          <p:cNvPr id="7" name="18 = 30 − 0,25q">
            <a:extLst xmlns:a="http://schemas.openxmlformats.org/drawingml/2006/main">
              <a:ext uri="{FF2B5EF4-FFF2-40B4-BE49-F238E27FC236}">
                <a16:creationId xmlns:a16="http://schemas.microsoft.com/office/drawing/2014/main" id="{F8807FC8-DC1C-4491-AFDD-0259C859DA32}"/>
              </a:ext>
            </a:extLst>
          </p:cNvPr>
          <p:cNvSpPr>
            <a:spLocks xmlns:a="http://schemas.openxmlformats.org/drawingml/2006/main" noGrp="1"/>
          </p:cNvSpPr>
          <p:nvPr/>
        </p:nvSpPr>
        <p:spPr>
          <a:xfrm xmlns:a="http://schemas.openxmlformats.org/drawingml/2006/main">
            <a:off x="4381500" y="29718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18 = 30 − 0,25q</a:t>
            </a:r>
          </a:p>
        </p:txBody>
      </p:sp>
      <p:sp>
        <p:nvSpPr>
          <p:cNvPr id="8" name="Herschikken">
            <a:extLst xmlns:a="http://schemas.openxmlformats.org/drawingml/2006/main">
              <a:ext uri="{FF2B5EF4-FFF2-40B4-BE49-F238E27FC236}">
                <a16:creationId xmlns:a16="http://schemas.microsoft.com/office/drawing/2014/main" id="{93320557-AB75-4E63-AEE1-2D82C6EE676C}"/>
              </a:ext>
            </a:extLst>
          </p:cNvPr>
          <p:cNvSpPr>
            <a:spLocks xmlns:a="http://schemas.openxmlformats.org/drawingml/2006/main" noGrp="1"/>
          </p:cNvSpPr>
          <p:nvPr/>
        </p:nvSpPr>
        <p:spPr>
          <a:xfrm xmlns:a="http://schemas.openxmlformats.org/drawingml/2006/main">
            <a:off x="571500" y="41148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Herschikken</a:t>
            </a:r>
          </a:p>
        </p:txBody>
      </p:sp>
      <p:sp>
        <p:nvSpPr>
          <p:cNvPr id="9" name="0,25q = 30 − 18 = 12">
            <a:extLst xmlns:a="http://schemas.openxmlformats.org/drawingml/2006/main">
              <a:ext uri="{FF2B5EF4-FFF2-40B4-BE49-F238E27FC236}">
                <a16:creationId xmlns:a16="http://schemas.microsoft.com/office/drawing/2014/main" id="{FBDB8F20-19FC-4CB0-BD17-8D4921DB233E}"/>
              </a:ext>
            </a:extLst>
          </p:cNvPr>
          <p:cNvSpPr>
            <a:spLocks xmlns:a="http://schemas.openxmlformats.org/drawingml/2006/main" noGrp="1"/>
          </p:cNvSpPr>
          <p:nvPr/>
        </p:nvSpPr>
        <p:spPr>
          <a:xfrm xmlns:a="http://schemas.openxmlformats.org/drawingml/2006/main">
            <a:off x="4381500" y="41148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0,25q = 30 − 18 = 12</a:t>
            </a:r>
          </a:p>
        </p:txBody>
      </p:sp>
      <p:sp>
        <p:nvSpPr>
          <p:cNvPr id="10" name="Delen">
            <a:extLst xmlns:a="http://schemas.openxmlformats.org/drawingml/2006/main">
              <a:ext uri="{FF2B5EF4-FFF2-40B4-BE49-F238E27FC236}">
                <a16:creationId xmlns:a16="http://schemas.microsoft.com/office/drawing/2014/main" id="{D7B68568-D78E-4C0E-8102-918B8E434771}"/>
              </a:ext>
            </a:extLst>
          </p:cNvPr>
          <p:cNvSpPr>
            <a:spLocks xmlns:a="http://schemas.openxmlformats.org/drawingml/2006/main" noGrp="1"/>
          </p:cNvSpPr>
          <p:nvPr/>
        </p:nvSpPr>
        <p:spPr>
          <a:xfrm xmlns:a="http://schemas.openxmlformats.org/drawingml/2006/main">
            <a:off x="571500" y="52578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Delen</a:t>
            </a:r>
          </a:p>
        </p:txBody>
      </p:sp>
      <p:sp>
        <p:nvSpPr>
          <p:cNvPr id="11" name="q = 12 / 0,25 = 48 kaartjes per avond">
            <a:extLst xmlns:a="http://schemas.openxmlformats.org/drawingml/2006/main">
              <a:ext uri="{FF2B5EF4-FFF2-40B4-BE49-F238E27FC236}">
                <a16:creationId xmlns:a16="http://schemas.microsoft.com/office/drawing/2014/main" id="{D0FF0DAE-2022-4D1D-9117-A2798D72FECE}"/>
              </a:ext>
            </a:extLst>
          </p:cNvPr>
          <p:cNvSpPr>
            <a:spLocks xmlns:a="http://schemas.openxmlformats.org/drawingml/2006/main" noGrp="1"/>
          </p:cNvSpPr>
          <p:nvPr/>
        </p:nvSpPr>
        <p:spPr>
          <a:xfrm xmlns:a="http://schemas.openxmlformats.org/drawingml/2006/main">
            <a:off x="4381500" y="52578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 12 / 0,25 = 48 kaartjes per avond</a:t>
            </a:r>
          </a:p>
        </p:txBody>
      </p:sp>
      <p:sp>
        <p:nvSpPr>
          <p:cNvPr id="12" name="Controleren">
            <a:extLst xmlns:a="http://schemas.openxmlformats.org/drawingml/2006/main">
              <a:ext uri="{FF2B5EF4-FFF2-40B4-BE49-F238E27FC236}">
                <a16:creationId xmlns:a16="http://schemas.microsoft.com/office/drawing/2014/main" id="{D5F0492B-2454-4E67-A182-C7862CB47BC1}"/>
              </a:ext>
            </a:extLst>
          </p:cNvPr>
          <p:cNvSpPr>
            <a:spLocks xmlns:a="http://schemas.openxmlformats.org/drawingml/2006/main" noGrp="1"/>
          </p:cNvSpPr>
          <p:nvPr/>
        </p:nvSpPr>
        <p:spPr>
          <a:xfrm xmlns:a="http://schemas.openxmlformats.org/drawingml/2006/main">
            <a:off x="571500" y="64008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Controleren</a:t>
            </a:r>
          </a:p>
        </p:txBody>
      </p:sp>
      <p:sp>
        <p:nvSpPr>
          <p:cNvPr id="13" name="30 − 0,25 × 48 = 18">
            <a:extLst xmlns:a="http://schemas.openxmlformats.org/drawingml/2006/main">
              <a:ext uri="{FF2B5EF4-FFF2-40B4-BE49-F238E27FC236}">
                <a16:creationId xmlns:a16="http://schemas.microsoft.com/office/drawing/2014/main" id="{0FCC13AD-0E76-4071-AF8B-857BCFAC454E}"/>
              </a:ext>
            </a:extLst>
          </p:cNvPr>
          <p:cNvSpPr>
            <a:spLocks xmlns:a="http://schemas.openxmlformats.org/drawingml/2006/main" noGrp="1"/>
          </p:cNvSpPr>
          <p:nvPr/>
        </p:nvSpPr>
        <p:spPr>
          <a:xfrm xmlns:a="http://schemas.openxmlformats.org/drawingml/2006/main">
            <a:off x="4381500" y="64008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30 − 0,25 × 48 = 18</a:t>
            </a:r>
          </a:p>
        </p:txBody>
      </p:sp>
    </p:spTree>
    <p:extLst>
      <p:ext uri="{BB962C8B-B14F-4D97-AF65-F5344CB8AC3E}">
        <p14:creationId xmlns:p14="http://schemas.microsoft.com/office/powerpoint/2010/main" val="15735209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andere eigen prijs: langs de lijn">
            <a:extLst xmlns:a="http://schemas.openxmlformats.org/drawingml/2006/main">
              <a:ext uri="{FF2B5EF4-FFF2-40B4-BE49-F238E27FC236}">
                <a16:creationId xmlns:a16="http://schemas.microsoft.com/office/drawing/2014/main" id="{09589D75-89D6-4DD8-A97F-DE474E849AD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andere eigen prijs: langs de lijn</a:t>
            </a:r>
          </a:p>
        </p:txBody>
      </p:sp>
      <p:sp>
        <p:nvSpPr>
          <p:cNvPr id="2" name="">
            <a:extLst xmlns:a="http://schemas.openxmlformats.org/drawingml/2006/main">
              <a:ext uri="{FF2B5EF4-FFF2-40B4-BE49-F238E27FC236}">
                <a16:creationId xmlns:a16="http://schemas.microsoft.com/office/drawing/2014/main" id="{FB9A63D2-60FB-4BE4-AD21-5895561B16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8E46C3D-536B-48D0-B75C-82AFF65666C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92FFF197-0486-44C1-88FD-36B49C8CEBD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9296effe881240a3"/>
          </a:graphicData>
        </a:graphic>
      </p:graphicFrame>
      <p:sp>
        <p:nvSpPr>
          <p:cNvPr id="6" name="Vraag = GO">
            <a:extLst xmlns:a="http://schemas.openxmlformats.org/drawingml/2006/main">
              <a:ext uri="{FF2B5EF4-FFF2-40B4-BE49-F238E27FC236}">
                <a16:creationId xmlns:a16="http://schemas.microsoft.com/office/drawing/2014/main" id="{4D691EA6-65BA-465A-9546-47CD050C14D5}"/>
              </a:ext>
            </a:extLst>
          </p:cNvPr>
          <p:cNvSpPr>
            <a:spLocks xmlns:a="http://schemas.openxmlformats.org/drawingml/2006/main" noGrp="1"/>
          </p:cNvSpPr>
          <p:nvPr/>
        </p:nvSpPr>
        <p:spPr>
          <a:xfrm xmlns:a="http://schemas.openxmlformats.org/drawingml/2006/main">
            <a:off x="10572750" y="2409825"/>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GO</a:t>
            </a:r>
          </a:p>
        </p:txBody>
      </p:sp>
      <p:sp>
        <p:nvSpPr>
          <p:cNvPr id="7" name="Prijs: € 24 naar € 12&#10;Afzet: 24 naar 72">
            <a:extLst xmlns:a="http://schemas.openxmlformats.org/drawingml/2006/main">
              <a:ext uri="{FF2B5EF4-FFF2-40B4-BE49-F238E27FC236}">
                <a16:creationId xmlns:a16="http://schemas.microsoft.com/office/drawing/2014/main" id="{D32E4B54-9B7A-4A4D-B03C-8E7112CE052F}"/>
              </a:ext>
            </a:extLst>
          </p:cNvPr>
          <p:cNvSpPr>
            <a:spLocks xmlns:a="http://schemas.openxmlformats.org/drawingml/2006/main" noGrp="1"/>
          </p:cNvSpPr>
          <p:nvPr/>
        </p:nvSpPr>
        <p:spPr>
          <a:xfrm xmlns:a="http://schemas.openxmlformats.org/drawingml/2006/main">
            <a:off x="10572750" y="3724275"/>
            <a:ext cx="4095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Prijs: € 24 naar € 12</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Afzet: 24 naar 72</a:t>
            </a:r>
          </a:p>
        </p:txBody>
      </p:sp>
      <p:sp>
        <p:nvSpPr>
          <p:cNvPr id="8" name="Overige vraagfactoren&#10;blijven gelijk.&#10;De vraaglijn blijft st">
            <a:extLst xmlns:a="http://schemas.openxmlformats.org/drawingml/2006/main">
              <a:ext uri="{FF2B5EF4-FFF2-40B4-BE49-F238E27FC236}">
                <a16:creationId xmlns:a16="http://schemas.microsoft.com/office/drawing/2014/main" id="{0D1798FC-F36B-46CE-AC6D-F727A7946E4D}"/>
              </a:ext>
            </a:extLst>
          </p:cNvPr>
          <p:cNvSpPr>
            <a:spLocks xmlns:a="http://schemas.openxmlformats.org/drawingml/2006/main" noGrp="1"/>
          </p:cNvSpPr>
          <p:nvPr/>
        </p:nvSpPr>
        <p:spPr>
          <a:xfrm xmlns:a="http://schemas.openxmlformats.org/drawingml/2006/main">
            <a:off x="10572750" y="5667375"/>
            <a:ext cx="4095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Overige vraagfactoren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blijven gelijk.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vraaglijn blijft staan.</a:t>
            </a:r>
          </a:p>
        </p:txBody>
      </p:sp>
    </p:spTree>
    <p:extLst>
      <p:ext uri="{BB962C8B-B14F-4D97-AF65-F5344CB8AC3E}">
        <p14:creationId xmlns:p14="http://schemas.microsoft.com/office/powerpoint/2010/main" val="5702705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eer belangstelling: een andere vraaglijn">
            <a:extLst xmlns:a="http://schemas.openxmlformats.org/drawingml/2006/main">
              <a:ext uri="{FF2B5EF4-FFF2-40B4-BE49-F238E27FC236}">
                <a16:creationId xmlns:a16="http://schemas.microsoft.com/office/drawing/2014/main" id="{E54F910C-4067-4ED6-B6CA-831E16AE29E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belangstelling: een andere vraaglijn</a:t>
            </a:r>
          </a:p>
        </p:txBody>
      </p:sp>
      <p:sp>
        <p:nvSpPr>
          <p:cNvPr id="2" name="">
            <a:extLst xmlns:a="http://schemas.openxmlformats.org/drawingml/2006/main">
              <a:ext uri="{FF2B5EF4-FFF2-40B4-BE49-F238E27FC236}">
                <a16:creationId xmlns:a16="http://schemas.microsoft.com/office/drawing/2014/main" id="{3468C468-DE67-4DA3-AB0C-405C391805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952A675-8C29-4BA8-AFCA-A93278E186A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9B43CC85-3E36-4C44-BAF5-164E85ED2BC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071ae11bd02d4b36"/>
          </a:graphicData>
        </a:graphic>
      </p:graphicFrame>
      <p:sp>
        <p:nvSpPr>
          <p:cNvPr id="6" name="V₀: P = 30 − 0,25q&#10;V₁: P = 36 − 0,25q">
            <a:extLst xmlns:a="http://schemas.openxmlformats.org/drawingml/2006/main">
              <a:ext uri="{FF2B5EF4-FFF2-40B4-BE49-F238E27FC236}">
                <a16:creationId xmlns:a16="http://schemas.microsoft.com/office/drawing/2014/main" id="{96D6BC62-04CE-4714-97E3-784C510CC11B}"/>
              </a:ext>
            </a:extLst>
          </p:cNvPr>
          <p:cNvSpPr>
            <a:spLocks xmlns:a="http://schemas.openxmlformats.org/drawingml/2006/main" noGrp="1"/>
          </p:cNvSpPr>
          <p:nvPr/>
        </p:nvSpPr>
        <p:spPr>
          <a:xfrm xmlns:a="http://schemas.openxmlformats.org/drawingml/2006/main">
            <a:off x="10382250" y="2333625"/>
            <a:ext cx="4333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V₀: P = 30 − 0,25q</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V₁: P = 36 − 0,25q</a:t>
            </a:r>
          </a:p>
        </p:txBody>
      </p:sp>
      <p:sp>
        <p:nvSpPr>
          <p:cNvPr id="7" name="Bij dezelfde € 18:&#10;48 naar 72 kaartjes&#10;per avond.">
            <a:extLst xmlns:a="http://schemas.openxmlformats.org/drawingml/2006/main">
              <a:ext uri="{FF2B5EF4-FFF2-40B4-BE49-F238E27FC236}">
                <a16:creationId xmlns:a16="http://schemas.microsoft.com/office/drawing/2014/main" id="{9816E793-963A-4F01-A268-9289DAEC799A}"/>
              </a:ext>
            </a:extLst>
          </p:cNvPr>
          <p:cNvSpPr>
            <a:spLocks xmlns:a="http://schemas.openxmlformats.org/drawingml/2006/main" noGrp="1"/>
          </p:cNvSpPr>
          <p:nvPr/>
        </p:nvSpPr>
        <p:spPr>
          <a:xfrm xmlns:a="http://schemas.openxmlformats.org/drawingml/2006/main">
            <a:off x="10382250" y="3981450"/>
            <a:ext cx="43338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Bij dezelfde € 18:</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48 naar 72 kaartjes</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per avond.</a:t>
            </a:r>
          </a:p>
        </p:txBody>
      </p:sp>
      <p:sp>
        <p:nvSpPr>
          <p:cNvPr id="8" name="Meer belangstelling&#10;bij elke prijs.&#10;De vraaglijn schuift rec">
            <a:extLst xmlns:a="http://schemas.openxmlformats.org/drawingml/2006/main">
              <a:ext uri="{FF2B5EF4-FFF2-40B4-BE49-F238E27FC236}">
                <a16:creationId xmlns:a16="http://schemas.microsoft.com/office/drawing/2014/main" id="{163DD5D0-4EC0-4E25-869D-B3D4CCCDB769}"/>
              </a:ext>
            </a:extLst>
          </p:cNvPr>
          <p:cNvSpPr>
            <a:spLocks xmlns:a="http://schemas.openxmlformats.org/drawingml/2006/main" noGrp="1"/>
          </p:cNvSpPr>
          <p:nvPr/>
        </p:nvSpPr>
        <p:spPr>
          <a:xfrm xmlns:a="http://schemas.openxmlformats.org/drawingml/2006/main">
            <a:off x="10382250" y="6086475"/>
            <a:ext cx="43338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Meer belangstelling</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bij elke prijs.</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vraaglijn schuift rechts.</a:t>
            </a:r>
          </a:p>
        </p:txBody>
      </p:sp>
    </p:spTree>
    <p:extLst>
      <p:ext uri="{BB962C8B-B14F-4D97-AF65-F5344CB8AC3E}">
        <p14:creationId xmlns:p14="http://schemas.microsoft.com/office/powerpoint/2010/main" val="20467346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Korte controle vóór het oefenen">
            <a:extLst xmlns:a="http://schemas.openxmlformats.org/drawingml/2006/main">
              <a:ext uri="{FF2B5EF4-FFF2-40B4-BE49-F238E27FC236}">
                <a16:creationId xmlns:a16="http://schemas.microsoft.com/office/drawing/2014/main" id="{539D5049-6148-4660-8FBE-D94B3D1E667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vóór het oefenen</a:t>
            </a:r>
          </a:p>
        </p:txBody>
      </p:sp>
      <p:sp>
        <p:nvSpPr>
          <p:cNvPr id="2" name="">
            <a:extLst xmlns:a="http://schemas.openxmlformats.org/drawingml/2006/main">
              <a:ext uri="{FF2B5EF4-FFF2-40B4-BE49-F238E27FC236}">
                <a16:creationId xmlns:a16="http://schemas.microsoft.com/office/drawing/2014/main" id="{0A017F2E-18CB-4263-93CC-5DBA832DB8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8CF55422-AD6D-467C-B74F-550EAB14A50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12">
            <a:extLst xmlns:a="http://schemas.openxmlformats.org/drawingml/2006/main">
              <a:ext uri="{FF2B5EF4-FFF2-40B4-BE49-F238E27FC236}">
                <a16:creationId xmlns:a16="http://schemas.microsoft.com/office/drawing/2014/main" id="{6EB4EC65-DDBB-4340-8333-A5D1E106516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graphicFrame>
        <p:nvGraphicFramePr>
          <p:cNvPr id="11" name=""/>
          <p:cNvGraphicFramePr/>
          <p:nvPr/>
        </p:nvGraphicFramePr>
        <p:xfrm>
          <a:off xmlns:a="http://schemas.openxmlformats.org/drawingml/2006/main" x="571500" y="2238375"/>
          <a:ext xmlns:a="http://schemas.openxmlformats.org/drawingml/2006/main" cx="14097000" cy="3333750"/>
        </p:xfrm>
        <a:graphic xmlns:a="http://schemas.openxmlformats.org/drawingml/2006/main">
          <a:graphicData uri="http://schemas.openxmlformats.org/drawingml/2006/table">
            <a:tbl>
              <a:tblPr/>
              <a:tblGrid>
                <a:gridCol w="7048500"/>
                <a:gridCol w="7048500"/>
              </a:tblGrid>
              <a:tr h="833438">
                <a:tc>
                  <a:txBody>
                    <a:bodyPr lIns="171450" tIns="95250" rIns="152400" bIns="95250"/>
                    <a:lstStyle/>
                    <a:p>
                      <a:r>
                        <a:rPr sz="2550" b="1">
                          <a:solidFill>
                            <a:srgbClr val="FFFFFF"/>
                          </a:solidFill>
                          <a:latin typeface="Arial"/>
                          <a:ea typeface="Arial"/>
                          <a:cs typeface="Arial"/>
                        </a:rPr>
                        <a:t>Uitspraak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Jouw verklaring</a:t>
                      </a:r>
                    </a:p>
                  </a:txBody>
                  <a:tcPr marL="91440" marR="91440" marT="45720" marB="45720" anchor="ctr">
                    <a:solidFill>
                      <a:srgbClr val="183247"/>
                    </a:solidFill>
                  </a:tcPr>
                </a:tc>
              </a:tr>
              <a:tr h="833438">
                <a:tc>
                  <a:txBody>
                    <a:bodyPr lIns="171450" tIns="95250" rIns="152400" bIns="95250"/>
                    <a:lstStyle/>
                    <a:p>
                      <a:r>
                        <a:rPr sz="2550" b="0">
                          <a:solidFill>
                            <a:srgbClr val="183247"/>
                          </a:solidFill>
                          <a:latin typeface="Arial"/>
                          <a:ea typeface="Arial"/>
                          <a:cs typeface="Arial"/>
                        </a:rPr>
                        <a:t>Eén merk bewijst een monopolie.</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Welke markt en welke alternatieven?</a:t>
                      </a:r>
                    </a:p>
                  </a:txBody>
                  <a:tcPr marL="91440" marR="91440" marT="45720" marB="45720" anchor="ctr">
                    <a:solidFill>
                      <a:srgbClr val="FFFFFF"/>
                    </a:solidFill>
                  </a:tcPr>
                </a:tc>
              </a:tr>
              <a:tr h="833438">
                <a:tc>
                  <a:txBody>
                    <a:bodyPr lIns="171450" tIns="95250" rIns="152400" bIns="95250"/>
                    <a:lstStyle/>
                    <a:p>
                      <a:r>
                        <a:rPr sz="2550" b="0">
                          <a:solidFill>
                            <a:srgbClr val="183247"/>
                          </a:solidFill>
                          <a:latin typeface="Arial"/>
                          <a:ea typeface="Arial"/>
                          <a:cs typeface="Arial"/>
                        </a:rPr>
                        <a:t>De eigen prijs daalt.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Langs de vraaglijn of een andere lijn?</a:t>
                      </a:r>
                    </a:p>
                  </a:txBody>
                  <a:tcPr marL="91440" marR="91440" marT="45720" marB="45720" anchor="ctr">
                    <a:solidFill>
                      <a:srgbClr val="EFF4F7"/>
                    </a:solidFill>
                  </a:tcPr>
                </a:tc>
              </a:tr>
              <a:tr h="833438">
                <a:tc>
                  <a:txBody>
                    <a:bodyPr lIns="171450" tIns="95250" rIns="152400" bIns="95250"/>
                    <a:lstStyle/>
                    <a:p>
                      <a:r>
                        <a:rPr sz="2550" b="0">
                          <a:solidFill>
                            <a:srgbClr val="183247"/>
                          </a:solidFill>
                          <a:latin typeface="Arial"/>
                          <a:ea typeface="Arial"/>
                          <a:cs typeface="Arial"/>
                        </a:rPr>
                        <a:t>GO is gelijk aan P.</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Welke afspraak geldt voor de kaartjesprijs?</a:t>
                      </a:r>
                    </a:p>
                  </a:txBody>
                  <a:tcPr marL="91440" marR="91440" marT="45720" marB="45720" anchor="ctr">
                    <a:solidFill>
                      <a:srgbClr val="FFFFFF"/>
                    </a:solidFill>
                  </a:tcPr>
                </a:tc>
              </a:tr>
            </a:tbl>
          </a:graphicData>
        </a:graphic>
      </p:graphicFrame>
      <p:sp>
        <p:nvSpPr>
          <p:cNvPr id="6" name="Terug naar startopgave 12: verbeter je eerste verklaring.">
            <a:extLst xmlns:a="http://schemas.openxmlformats.org/drawingml/2006/main">
              <a:ext uri="{FF2B5EF4-FFF2-40B4-BE49-F238E27FC236}">
                <a16:creationId xmlns:a16="http://schemas.microsoft.com/office/drawing/2014/main" id="{903C95CF-18B9-4AA5-A631-05540E949FB4}"/>
              </a:ext>
            </a:extLst>
          </p:cNvPr>
          <p:cNvSpPr>
            <a:spLocks xmlns:a="http://schemas.openxmlformats.org/drawingml/2006/main" noGrp="1"/>
          </p:cNvSpPr>
          <p:nvPr/>
        </p:nvSpPr>
        <p:spPr>
          <a:xfrm xmlns:a="http://schemas.openxmlformats.org/drawingml/2006/main">
            <a:off x="571500" y="63817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Terug naar startopgave 12: verbeter je eerste verklaring.</a:t>
            </a:r>
          </a:p>
        </p:txBody>
      </p:sp>
    </p:spTree>
    <p:extLst>
      <p:ext uri="{BB962C8B-B14F-4D97-AF65-F5344CB8AC3E}">
        <p14:creationId xmlns:p14="http://schemas.microsoft.com/office/powerpoint/2010/main" val="6244088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2 Monopolie: kenmerken">
            <a:extLst xmlns:a="http://schemas.openxmlformats.org/drawingml/2006/main">
              <a:ext uri="{FF2B5EF4-FFF2-40B4-BE49-F238E27FC236}">
                <a16:creationId xmlns:a16="http://schemas.microsoft.com/office/drawing/2014/main" id="{80797FEC-4BC1-41DE-9516-DBD4677A8F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§4.1.2 Monopolie: kenmerken</a:t>
            </a:r>
          </a:p>
        </p:txBody>
      </p:sp>
      <p:sp>
        <p:nvSpPr>
          <p:cNvPr id="2" name="">
            <a:extLst xmlns:a="http://schemas.openxmlformats.org/drawingml/2006/main">
              <a:ext uri="{FF2B5EF4-FFF2-40B4-BE49-F238E27FC236}">
                <a16:creationId xmlns:a16="http://schemas.microsoft.com/office/drawing/2014/main" id="{05229520-E7CD-4419-B1CA-093FA5D10C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379251AF-224A-4826-B297-1924E23EF79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13">
            <a:extLst xmlns:a="http://schemas.openxmlformats.org/drawingml/2006/main">
              <a:ext uri="{FF2B5EF4-FFF2-40B4-BE49-F238E27FC236}">
                <a16:creationId xmlns:a16="http://schemas.microsoft.com/office/drawing/2014/main" id="{47682E53-2318-40BF-A94D-5AF67A1576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C2354B48-502D-4BD0-A25F-158E982A87D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47ED8501-B711-4E64-97A7-F733922CE7E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7134DB36-1D78-4AE0-99BF-3882DDE2FC5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4FE10B6C-7993-406B-9C74-E49FE909BDB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60DA4758-1F1C-4287-871C-E56CC35F717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A5AA67BA-8B76-4725-820A-F8E592208AB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A235B70-0F9E-4E65-B39E-B63A57C3ED9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5A2569C6-9793-426D-BC1F-00ED3690304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DCCF6C34-1882-43AC-BFF3-9A85C7803D3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B3692F90-64C8-4196-856D-D9BA03A8447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CEB89074-F76C-4C4C-9552-532E9D9065E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E920804C-F045-4359-958F-6E2DE96A595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ED099A22-EB9A-41F9-AF13-8CB0D1AE29B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DF325200-E35C-4395-8586-06A61304B84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6">
            <a:extLst xmlns:a="http://schemas.openxmlformats.org/drawingml/2006/main">
              <a:ext uri="{FF2B5EF4-FFF2-40B4-BE49-F238E27FC236}">
                <a16:creationId xmlns:a16="http://schemas.microsoft.com/office/drawing/2014/main" id="{63436548-D5E7-4892-90B3-FE70EFC0101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E10C01A5-7453-45C5-B3B3-CC829867B8A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5DB88CE-AF75-47F2-B84E-DCF27AB8289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C34E2C8-5315-4E31-828B-62AB395CDACD}"/>
              </a:ext>
            </a:extLst>
          </p:cNvPr>
          <p:cNvSpPr>
            <a:spLocks xmlns:a="http://schemas.openxmlformats.org/drawingml/2006/main" noGrp="1"/>
          </p:cNvSpPr>
          <p:nvPr/>
        </p:nvSpPr>
        <p:spPr>
          <a:xfrm xmlns:a="http://schemas.openxmlformats.org/drawingml/2006/main">
            <a:off x="9258300" y="2324100"/>
            <a:ext cx="5381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herkennen.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Barrières en vraaglijnen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 en afzet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prijskeuze beoordelen.</a:t>
            </a:r>
          </a:p>
        </p:txBody>
      </p:sp>
      <p:sp>
        <p:nvSpPr>
          <p:cNvPr id="23" name="">
            <a:extLst xmlns:a="http://schemas.openxmlformats.org/drawingml/2006/main">
              <a:ext uri="{FF2B5EF4-FFF2-40B4-BE49-F238E27FC236}">
                <a16:creationId xmlns:a16="http://schemas.microsoft.com/office/drawing/2014/main" id="{E406C727-A19B-4302-BBD2-BD81825B1860}"/>
              </a:ext>
            </a:extLst>
          </p:cNvPr>
          <p:cNvSpPr>
            <a:spLocks xmlns:a="http://schemas.openxmlformats.org/drawingml/2006/main" noGrp="1"/>
          </p:cNvSpPr>
          <p:nvPr/>
        </p:nvSpPr>
        <p:spPr>
          <a:xfrm xmlns:a="http://schemas.openxmlformats.org/drawingml/2006/main">
            <a:off x="9258300" y="38290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EFCE520-70C3-4AA5-B71E-9AC5BA3AD87B}"/>
              </a:ext>
            </a:extLst>
          </p:cNvPr>
          <p:cNvSpPr>
            <a:spLocks xmlns:a="http://schemas.openxmlformats.org/drawingml/2006/main" noGrp="1"/>
          </p:cNvSpPr>
          <p:nvPr/>
        </p:nvSpPr>
        <p:spPr>
          <a:xfrm xmlns:a="http://schemas.openxmlformats.org/drawingml/2006/main">
            <a:off x="9258300" y="40576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A7232E8-0FE4-4A9F-A399-AB560D7EAEF9}"/>
              </a:ext>
            </a:extLst>
          </p:cNvPr>
          <p:cNvSpPr>
            <a:spLocks xmlns:a="http://schemas.openxmlformats.org/drawingml/2006/main" noGrp="1"/>
          </p:cNvSpPr>
          <p:nvPr/>
        </p:nvSpPr>
        <p:spPr>
          <a:xfrm xmlns:a="http://schemas.openxmlformats.org/drawingml/2006/main">
            <a:off x="9258300" y="4581525"/>
            <a:ext cx="5381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19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terugblik, steun p. 10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theorie p. 16</a:t>
            </a:r>
          </a:p>
        </p:txBody>
      </p:sp>
      <p:sp>
        <p:nvSpPr>
          <p:cNvPr id="26" name="">
            <a:extLst xmlns:a="http://schemas.openxmlformats.org/drawingml/2006/main">
              <a:ext uri="{FF2B5EF4-FFF2-40B4-BE49-F238E27FC236}">
                <a16:creationId xmlns:a16="http://schemas.microsoft.com/office/drawing/2014/main" id="{09CBD5A0-13B4-4A74-9DFC-88896D107086}"/>
              </a:ext>
            </a:extLst>
          </p:cNvPr>
          <p:cNvSpPr>
            <a:spLocks xmlns:a="http://schemas.openxmlformats.org/drawingml/2006/main" noGrp="1"/>
          </p:cNvSpPr>
          <p:nvPr/>
        </p:nvSpPr>
        <p:spPr>
          <a:xfrm xmlns:a="http://schemas.openxmlformats.org/drawingml/2006/main">
            <a:off x="9258300" y="57721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5972D06-5912-494D-928C-2821BB1FE942}"/>
              </a:ext>
            </a:extLst>
          </p:cNvPr>
          <p:cNvSpPr>
            <a:spLocks xmlns:a="http://schemas.openxmlformats.org/drawingml/2006/main" noGrp="1"/>
          </p:cNvSpPr>
          <p:nvPr/>
        </p:nvSpPr>
        <p:spPr>
          <a:xfrm xmlns:a="http://schemas.openxmlformats.org/drawingml/2006/main">
            <a:off x="9258300" y="59817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6D03DBA-0CC8-47E2-94D4-409F628BF8D2}"/>
              </a:ext>
            </a:extLst>
          </p:cNvPr>
          <p:cNvSpPr>
            <a:spLocks xmlns:a="http://schemas.openxmlformats.org/drawingml/2006/main" noGrp="1"/>
          </p:cNvSpPr>
          <p:nvPr/>
        </p:nvSpPr>
        <p:spPr>
          <a:xfrm xmlns:a="http://schemas.openxmlformats.org/drawingml/2006/main">
            <a:off x="9258300" y="6496050"/>
            <a:ext cx="5381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§4.1.2 · Opgaven 13 t/m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13,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16 en 17 · Doel: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999942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8: Eilandveer">
            <a:extLst xmlns:a="http://schemas.openxmlformats.org/drawingml/2006/main">
              <a:ext uri="{FF2B5EF4-FFF2-40B4-BE49-F238E27FC236}">
                <a16:creationId xmlns:a16="http://schemas.microsoft.com/office/drawing/2014/main" id="{61B80E35-8418-4610-88A4-1093B51AAE4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 Eilandveer</a:t>
            </a:r>
          </a:p>
        </p:txBody>
      </p:sp>
      <p:sp>
        <p:nvSpPr>
          <p:cNvPr id="2" name="">
            <a:extLst xmlns:a="http://schemas.openxmlformats.org/drawingml/2006/main">
              <a:ext uri="{FF2B5EF4-FFF2-40B4-BE49-F238E27FC236}">
                <a16:creationId xmlns:a16="http://schemas.microsoft.com/office/drawing/2014/main" id="{280F7B8E-75B4-4556-9D08-35CE11A11B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716BB075-8AA7-45F3-9F0B-38DE628C2A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4">
            <a:extLst xmlns:a="http://schemas.openxmlformats.org/drawingml/2006/main">
              <a:ext uri="{FF2B5EF4-FFF2-40B4-BE49-F238E27FC236}">
                <a16:creationId xmlns:a16="http://schemas.microsoft.com/office/drawing/2014/main" id="{950B1C74-AA93-4329-AEDB-0BF3DBB57B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Bron A · Eilandveer">
            <a:extLst xmlns:a="http://schemas.openxmlformats.org/drawingml/2006/main">
              <a:ext uri="{FF2B5EF4-FFF2-40B4-BE49-F238E27FC236}">
                <a16:creationId xmlns:a16="http://schemas.microsoft.com/office/drawing/2014/main" id="{E53C7E34-92A5-48DB-B58B-80BF68C852E4}"/>
              </a:ext>
            </a:extLst>
          </p:cNvPr>
          <p:cNvSpPr>
            <a:spLocks xmlns:a="http://schemas.openxmlformats.org/drawingml/2006/main" noGrp="1"/>
          </p:cNvSpPr>
          <p:nvPr/>
        </p:nvSpPr>
        <p:spPr>
          <a:xfrm xmlns:a="http://schemas.openxmlformats.org/drawingml/2006/main">
            <a:off x="571500" y="19050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Bron A · Eilandveer</a:t>
            </a:r>
          </a:p>
        </p:txBody>
      </p:sp>
      <p:sp>
        <p:nvSpPr>
          <p:cNvPr id="6" name="Voor de directe verbinding tussen Haven en Eiland heeft Eila">
            <a:extLst xmlns:a="http://schemas.openxmlformats.org/drawingml/2006/main">
              <a:ext uri="{FF2B5EF4-FFF2-40B4-BE49-F238E27FC236}">
                <a16:creationId xmlns:a16="http://schemas.microsoft.com/office/drawing/2014/main" id="{E8FB8558-9E59-4E95-BAEE-9C56C4EB8022}"/>
              </a:ext>
            </a:extLst>
          </p:cNvPr>
          <p:cNvSpPr>
            <a:spLocks xmlns:a="http://schemas.openxmlformats.org/drawingml/2006/main" noGrp="1"/>
          </p:cNvSpPr>
          <p:nvPr/>
        </p:nvSpPr>
        <p:spPr>
          <a:xfrm xmlns:a="http://schemas.openxmlformats.org/drawingml/2006/main">
            <a:off x="571500" y="2886075"/>
            <a:ext cx="140970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Voor de directe verbinding tussen Haven en Eiland heeft Eilandveer als enige een vergunning. In de onderzochte periode krijgt geen ander bedrijf toegang.</a:t>
            </a:r>
          </a:p>
        </p:txBody>
      </p:sp>
      <p:sp>
        <p:nvSpPr>
          <p:cNvPr id="7" name="Reizigers kunnen hun reis wel uitstellen of afzien van de ov">
            <a:extLst xmlns:a="http://schemas.openxmlformats.org/drawingml/2006/main">
              <a:ext uri="{FF2B5EF4-FFF2-40B4-BE49-F238E27FC236}">
                <a16:creationId xmlns:a16="http://schemas.microsoft.com/office/drawing/2014/main" id="{AA1C0116-9DFB-44DB-BAFC-A8B71BC91570}"/>
              </a:ext>
            </a:extLst>
          </p:cNvPr>
          <p:cNvSpPr>
            <a:spLocks xmlns:a="http://schemas.openxmlformats.org/drawingml/2006/main" noGrp="1"/>
          </p:cNvSpPr>
          <p:nvPr/>
        </p:nvSpPr>
        <p:spPr>
          <a:xfrm xmlns:a="http://schemas.openxmlformats.org/drawingml/2006/main">
            <a:off x="571500" y="4810125"/>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Reizigers kunnen hun reis wel uitstellen of afzien van de overtocht. Alle kaartjes in een gekozen situatie hebben dezelfde prijs.</a:t>
            </a:r>
          </a:p>
        </p:txBody>
      </p:sp>
      <p:sp>
        <p:nvSpPr>
          <p:cNvPr id="8" name="De capaciteit is 240 kaartjes per dag.">
            <a:extLst xmlns:a="http://schemas.openxmlformats.org/drawingml/2006/main">
              <a:ext uri="{FF2B5EF4-FFF2-40B4-BE49-F238E27FC236}">
                <a16:creationId xmlns:a16="http://schemas.microsoft.com/office/drawing/2014/main" id="{5B85CE2B-702D-4EC7-9205-C45CF6AD8F9B}"/>
              </a:ext>
            </a:extLst>
          </p:cNvPr>
          <p:cNvSpPr>
            <a:spLocks xmlns:a="http://schemas.openxmlformats.org/drawingml/2006/main" noGrp="1"/>
          </p:cNvSpPr>
          <p:nvPr/>
        </p:nvSpPr>
        <p:spPr>
          <a:xfrm xmlns:a="http://schemas.openxmlformats.org/drawingml/2006/main">
            <a:off x="571500" y="68580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 capaciteit is 240 kaartjes per dag.</a:t>
            </a:r>
          </a:p>
        </p:txBody>
      </p:sp>
    </p:spTree>
    <p:extLst>
      <p:ext uri="{BB962C8B-B14F-4D97-AF65-F5344CB8AC3E}">
        <p14:creationId xmlns:p14="http://schemas.microsoft.com/office/powerpoint/2010/main" val="3986651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 Bron B en figuur 4">
            <a:extLst xmlns:a="http://schemas.openxmlformats.org/drawingml/2006/main">
              <a:ext uri="{FF2B5EF4-FFF2-40B4-BE49-F238E27FC236}">
                <a16:creationId xmlns:a16="http://schemas.microsoft.com/office/drawing/2014/main" id="{47611702-D6E5-4CE8-9DA1-9B5D60E244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 Bron B en figuur 4</a:t>
            </a:r>
          </a:p>
        </p:txBody>
      </p:sp>
      <p:sp>
        <p:nvSpPr>
          <p:cNvPr id="2" name="">
            <a:extLst xmlns:a="http://schemas.openxmlformats.org/drawingml/2006/main">
              <a:ext uri="{FF2B5EF4-FFF2-40B4-BE49-F238E27FC236}">
                <a16:creationId xmlns:a16="http://schemas.microsoft.com/office/drawing/2014/main" id="{2DABAD3E-0219-4431-9D6E-7E88DBD9A2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B22C8E55-031E-496B-B8AB-F73CFC01DF2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5">
            <a:extLst xmlns:a="http://schemas.openxmlformats.org/drawingml/2006/main">
              <a:ext uri="{FF2B5EF4-FFF2-40B4-BE49-F238E27FC236}">
                <a16:creationId xmlns:a16="http://schemas.microsoft.com/office/drawing/2014/main" id="{11A0C0BC-9750-4390-B738-EA3C662CFFD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 = 24 − 0,10q. Overige vraagfactoren blijven gelijk.">
            <a:extLst xmlns:a="http://schemas.openxmlformats.org/drawingml/2006/main">
              <a:ext uri="{FF2B5EF4-FFF2-40B4-BE49-F238E27FC236}">
                <a16:creationId xmlns:a16="http://schemas.microsoft.com/office/drawing/2014/main" id="{67CA03F6-5947-466D-8AFF-AFC36DDC9C74}"/>
              </a:ext>
            </a:extLst>
          </p:cNvPr>
          <p:cNvSpPr>
            <a:spLocks xmlns:a="http://schemas.openxmlformats.org/drawingml/2006/main" noGrp="1"/>
          </p:cNvSpPr>
          <p:nvPr/>
        </p:nvSpPr>
        <p:spPr>
          <a:xfrm xmlns:a="http://schemas.openxmlformats.org/drawingml/2006/main">
            <a:off x="571500" y="173355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 = 24 − 0,10q. Overige vraagfactoren blijven gelijk.</a:t>
            </a:r>
          </a:p>
        </p:txBody>
      </p:sp>
      <p:graphicFrame>
        <p:nvGraphicFramePr>
          <p:cNvPr id="15" name="Chart"/>
          <p:cNvGraphicFramePr/>
          <p:nvPr/>
        </p:nvGraphicFramePr>
        <p:xfrm>
          <a:off xmlns:a="http://schemas.openxmlformats.org/drawingml/2006/main" x="571500" y="2524125"/>
          <a:ext xmlns:a="http://schemas.openxmlformats.org/drawingml/2006/main" cx="9429750" cy="5143500"/>
        </p:xfrm>
        <a:graphic xmlns:a="http://schemas.openxmlformats.org/drawingml/2006/main">
          <a:graphicData uri="http://schemas.openxmlformats.org/drawingml/2006/chart">
            <c:chart xmlns:r="http://schemas.openxmlformats.org/officeDocument/2006/relationships" xmlns:c="http://schemas.openxmlformats.org/drawingml/2006/chart" r:id="R76a3553807f74a6e"/>
          </a:graphicData>
        </a:graphic>
      </p:graphicFrame>
      <p:sp>
        <p:nvSpPr>
          <p:cNvPr id="7" name="Vraag = GO">
            <a:extLst xmlns:a="http://schemas.openxmlformats.org/drawingml/2006/main">
              <a:ext uri="{FF2B5EF4-FFF2-40B4-BE49-F238E27FC236}">
                <a16:creationId xmlns:a16="http://schemas.microsoft.com/office/drawing/2014/main" id="{414F427D-73AD-4423-BE8F-86AEB5C92B21}"/>
              </a:ext>
            </a:extLst>
          </p:cNvPr>
          <p:cNvSpPr>
            <a:spLocks xmlns:a="http://schemas.openxmlformats.org/drawingml/2006/main" noGrp="1"/>
          </p:cNvSpPr>
          <p:nvPr/>
        </p:nvSpPr>
        <p:spPr>
          <a:xfrm xmlns:a="http://schemas.openxmlformats.org/drawingml/2006/main">
            <a:off x="10572750" y="28289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GO</a:t>
            </a:r>
          </a:p>
        </p:txBody>
      </p:sp>
      <p:sp>
        <p:nvSpPr>
          <p:cNvPr id="8" name="P: euro per kaartje&#10;q: kaartjes per dag&#10;van 0 tot 240">
            <a:extLst xmlns:a="http://schemas.openxmlformats.org/drawingml/2006/main">
              <a:ext uri="{FF2B5EF4-FFF2-40B4-BE49-F238E27FC236}">
                <a16:creationId xmlns:a16="http://schemas.microsoft.com/office/drawing/2014/main" id="{9C422D13-8A8C-4CC9-BAD6-0B581A69FF5A}"/>
              </a:ext>
            </a:extLst>
          </p:cNvPr>
          <p:cNvSpPr>
            <a:spLocks xmlns:a="http://schemas.openxmlformats.org/drawingml/2006/main" noGrp="1"/>
          </p:cNvSpPr>
          <p:nvPr/>
        </p:nvSpPr>
        <p:spPr>
          <a:xfrm xmlns:a="http://schemas.openxmlformats.org/drawingml/2006/main">
            <a:off x="10572750" y="4057650"/>
            <a:ext cx="4095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 euro per kaartje</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kaartjes per dag</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van 0 tot 240</a:t>
            </a:r>
          </a:p>
        </p:txBody>
      </p:sp>
      <p:sp>
        <p:nvSpPr>
          <p:cNvPr id="9" name="Gebruik de lijn om&#10;de berekende combinaties&#10;te controleren.">
            <a:extLst xmlns:a="http://schemas.openxmlformats.org/drawingml/2006/main">
              <a:ext uri="{FF2B5EF4-FFF2-40B4-BE49-F238E27FC236}">
                <a16:creationId xmlns:a16="http://schemas.microsoft.com/office/drawing/2014/main" id="{5420EA6A-CADC-4A37-B703-A30A1433D5AE}"/>
              </a:ext>
            </a:extLst>
          </p:cNvPr>
          <p:cNvSpPr>
            <a:spLocks xmlns:a="http://schemas.openxmlformats.org/drawingml/2006/main" noGrp="1"/>
          </p:cNvSpPr>
          <p:nvPr/>
        </p:nvSpPr>
        <p:spPr>
          <a:xfrm xmlns:a="http://schemas.openxmlformats.org/drawingml/2006/main">
            <a:off x="10572750" y="642937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Gebruik de lijn om</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berekende combinaties</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te controleren.</a:t>
            </a:r>
          </a:p>
        </p:txBody>
      </p:sp>
    </p:spTree>
    <p:extLst>
      <p:ext uri="{BB962C8B-B14F-4D97-AF65-F5344CB8AC3E}">
        <p14:creationId xmlns:p14="http://schemas.microsoft.com/office/powerpoint/2010/main" val="1822225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8: deelvragen a, b en c">
            <a:extLst xmlns:a="http://schemas.openxmlformats.org/drawingml/2006/main">
              <a:ext uri="{FF2B5EF4-FFF2-40B4-BE49-F238E27FC236}">
                <a16:creationId xmlns:a16="http://schemas.microsoft.com/office/drawing/2014/main" id="{1F61A748-D783-4016-99CD-432110A5EC5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 deelvragen a, b en c</a:t>
            </a:r>
          </a:p>
        </p:txBody>
      </p:sp>
      <p:sp>
        <p:nvSpPr>
          <p:cNvPr id="2" name="">
            <a:extLst xmlns:a="http://schemas.openxmlformats.org/drawingml/2006/main">
              <a:ext uri="{FF2B5EF4-FFF2-40B4-BE49-F238E27FC236}">
                <a16:creationId xmlns:a16="http://schemas.microsoft.com/office/drawing/2014/main" id="{DBD03BA4-2907-4DE3-B3EE-92F7DD32C2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D80FF5CB-B8E9-4D00-9C23-B6543F9C76B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6">
            <a:extLst xmlns:a="http://schemas.openxmlformats.org/drawingml/2006/main">
              <a:ext uri="{FF2B5EF4-FFF2-40B4-BE49-F238E27FC236}">
                <a16:creationId xmlns:a16="http://schemas.microsoft.com/office/drawing/2014/main" id="{C7722718-E4BE-4583-B847-05A40C5EF94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Gebruik beide bronnen en figuur 4.">
            <a:extLst xmlns:a="http://schemas.openxmlformats.org/drawingml/2006/main">
              <a:ext uri="{FF2B5EF4-FFF2-40B4-BE49-F238E27FC236}">
                <a16:creationId xmlns:a16="http://schemas.microsoft.com/office/drawing/2014/main" id="{344095A0-7179-443A-AC42-D5448330E0BA}"/>
              </a:ext>
            </a:extLst>
          </p:cNvPr>
          <p:cNvSpPr>
            <a:spLocks xmlns:a="http://schemas.openxmlformats.org/drawingml/2006/main" noGrp="1"/>
          </p:cNvSpPr>
          <p:nvPr/>
        </p:nvSpPr>
        <p:spPr>
          <a:xfrm xmlns:a="http://schemas.openxmlformats.org/drawingml/2006/main">
            <a:off x="571500" y="17621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Gebruik beide bronnen en figuur 4.</a:t>
            </a:r>
          </a:p>
        </p:txBody>
      </p:sp>
      <p:sp>
        <p:nvSpPr>
          <p:cNvPr id="6" name="a. (2p) Welk gegeven vormt hier een toetredingsbarrière? Leg">
            <a:extLst xmlns:a="http://schemas.openxmlformats.org/drawingml/2006/main">
              <a:ext uri="{FF2B5EF4-FFF2-40B4-BE49-F238E27FC236}">
                <a16:creationId xmlns:a16="http://schemas.microsoft.com/office/drawing/2014/main" id="{F45FD764-2F64-45DD-BC92-756206368CD7}"/>
              </a:ext>
            </a:extLst>
          </p:cNvPr>
          <p:cNvSpPr>
            <a:spLocks xmlns:a="http://schemas.openxmlformats.org/drawingml/2006/main" noGrp="1"/>
          </p:cNvSpPr>
          <p:nvPr/>
        </p:nvSpPr>
        <p:spPr>
          <a:xfrm xmlns:a="http://schemas.openxmlformats.org/drawingml/2006/main">
            <a:off x="571500" y="276225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 (2p) Welk gegeven vormt hier een toetredingsbarrière? Leg uit waarom dit een monopolie op de beschreven verbinding ondersteunt.</a:t>
            </a:r>
          </a:p>
        </p:txBody>
      </p:sp>
      <p:sp>
        <p:nvSpPr>
          <p:cNvPr id="7" name="b. (2p) Noem twee verschillen met volkomen concurrentie: één">
            <a:extLst xmlns:a="http://schemas.openxmlformats.org/drawingml/2006/main">
              <a:ext uri="{FF2B5EF4-FFF2-40B4-BE49-F238E27FC236}">
                <a16:creationId xmlns:a16="http://schemas.microsoft.com/office/drawing/2014/main" id="{0486B294-F8DA-4AEA-B198-672E1BFE1A19}"/>
              </a:ext>
            </a:extLst>
          </p:cNvPr>
          <p:cNvSpPr>
            <a:spLocks xmlns:a="http://schemas.openxmlformats.org/drawingml/2006/main" noGrp="1"/>
          </p:cNvSpPr>
          <p:nvPr/>
        </p:nvSpPr>
        <p:spPr>
          <a:xfrm xmlns:a="http://schemas.openxmlformats.org/drawingml/2006/main">
            <a:off x="571500" y="462915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 (2p) Noem twee verschillen met volkomen concurrentie: één over toetreding en één over de vraaglijn van de onderneming.</a:t>
            </a:r>
          </a:p>
        </p:txBody>
      </p:sp>
      <p:sp>
        <p:nvSpPr>
          <p:cNvPr id="8" name="c. (2p) Bereken de prijs bij punt A met q = 60 en bij punt B">
            <a:extLst xmlns:a="http://schemas.openxmlformats.org/drawingml/2006/main">
              <a:ext uri="{FF2B5EF4-FFF2-40B4-BE49-F238E27FC236}">
                <a16:creationId xmlns:a16="http://schemas.microsoft.com/office/drawing/2014/main" id="{5A7C4562-86C2-4073-9284-6FE5D01BCB3E}"/>
              </a:ext>
            </a:extLst>
          </p:cNvPr>
          <p:cNvSpPr>
            <a:spLocks xmlns:a="http://schemas.openxmlformats.org/drawingml/2006/main" noGrp="1"/>
          </p:cNvSpPr>
          <p:nvPr/>
        </p:nvSpPr>
        <p:spPr>
          <a:xfrm xmlns:a="http://schemas.openxmlformats.org/drawingml/2006/main">
            <a:off x="571500" y="662940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 (2p) Bereken de prijs bij punt A met q = 60 en bij punt B met q = 120.</a:t>
            </a:r>
          </a:p>
        </p:txBody>
      </p:sp>
    </p:spTree>
    <p:extLst>
      <p:ext uri="{BB962C8B-B14F-4D97-AF65-F5344CB8AC3E}">
        <p14:creationId xmlns:p14="http://schemas.microsoft.com/office/powerpoint/2010/main" val="16886237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 deelvragen d en e">
            <a:extLst xmlns:a="http://schemas.openxmlformats.org/drawingml/2006/main">
              <a:ext uri="{FF2B5EF4-FFF2-40B4-BE49-F238E27FC236}">
                <a16:creationId xmlns:a16="http://schemas.microsoft.com/office/drawing/2014/main" id="{45D72B52-6A2B-4C12-A79F-E20DC552D29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 deelvragen d en e</a:t>
            </a:r>
          </a:p>
        </p:txBody>
      </p:sp>
      <p:sp>
        <p:nvSpPr>
          <p:cNvPr id="2" name="">
            <a:extLst xmlns:a="http://schemas.openxmlformats.org/drawingml/2006/main">
              <a:ext uri="{FF2B5EF4-FFF2-40B4-BE49-F238E27FC236}">
                <a16:creationId xmlns:a16="http://schemas.microsoft.com/office/drawing/2014/main" id="{1974AB04-44C7-4DBA-AA13-37DE17BACC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6A682D11-EFE2-4781-AF5D-26B77704BE0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7">
            <a:extLst xmlns:a="http://schemas.openxmlformats.org/drawingml/2006/main">
              <a:ext uri="{FF2B5EF4-FFF2-40B4-BE49-F238E27FC236}">
                <a16:creationId xmlns:a16="http://schemas.microsoft.com/office/drawing/2014/main" id="{24895FB5-6EB5-48E4-8A5D-78F5D11909B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 (2p) De eigenaar wil 120 kaartjes verkopen voor € 18. Is ">
            <a:extLst xmlns:a="http://schemas.openxmlformats.org/drawingml/2006/main">
              <a:ext uri="{FF2B5EF4-FFF2-40B4-BE49-F238E27FC236}">
                <a16:creationId xmlns:a16="http://schemas.microsoft.com/office/drawing/2014/main" id="{C05D6CE9-05B5-4A50-AE1F-8D36B05FAB14}"/>
              </a:ext>
            </a:extLst>
          </p:cNvPr>
          <p:cNvSpPr>
            <a:spLocks xmlns:a="http://schemas.openxmlformats.org/drawingml/2006/main" noGrp="1"/>
          </p:cNvSpPr>
          <p:nvPr/>
        </p:nvSpPr>
        <p:spPr>
          <a:xfrm xmlns:a="http://schemas.openxmlformats.org/drawingml/2006/main">
            <a:off x="571500" y="2247900"/>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(2p) De eigenaar wil 120 kaartjes verkopen voor € 18. Is dat volgens de bron haalbaar? Onderbouw met de vraagfunctie.</a:t>
            </a:r>
          </a:p>
        </p:txBody>
      </p:sp>
      <p:sp>
        <p:nvSpPr>
          <p:cNvPr id="6" name="">
            <a:extLst xmlns:a="http://schemas.openxmlformats.org/drawingml/2006/main">
              <a:ext uri="{FF2B5EF4-FFF2-40B4-BE49-F238E27FC236}">
                <a16:creationId xmlns:a16="http://schemas.microsoft.com/office/drawing/2014/main" id="{6CB25111-BBDF-44F6-9BDF-0F429A6B6339}"/>
              </a:ext>
            </a:extLst>
          </p:cNvPr>
          <p:cNvSpPr>
            <a:spLocks xmlns:a="http://schemas.openxmlformats.org/drawingml/2006/main" noGrp="1"/>
          </p:cNvSpPr>
          <p:nvPr/>
        </p:nvSpPr>
        <p:spPr>
          <a:xfrm xmlns:a="http://schemas.openxmlformats.org/drawingml/2006/main">
            <a:off x="571500" y="4314825"/>
            <a:ext cx="14097000" cy="0"/>
          </a:xfrm>
          <a:prstGeom xmlns:a="http://schemas.openxmlformats.org/drawingml/2006/main" prst="line">
            <a:avLst/>
          </a:prstGeom>
          <a:ln xmlns:a="http://schemas.openxmlformats.org/drawingml/2006/main" w="19050">
            <a:solidFill>
              <a:srgbClr val="C6D2DB"/>
            </a:solidFill>
          </a:ln>
        </p:spPr>
      </p:sp>
      <p:sp>
        <p:nvSpPr>
          <p:cNvPr id="7" name="e. (2p) Beoordeel: “Zonder concurrenten kan ik elke prijs vr">
            <a:extLst xmlns:a="http://schemas.openxmlformats.org/drawingml/2006/main">
              <a:ext uri="{FF2B5EF4-FFF2-40B4-BE49-F238E27FC236}">
                <a16:creationId xmlns:a16="http://schemas.microsoft.com/office/drawing/2014/main" id="{8E6B2CBC-B8F2-4FFE-B220-4D7F7F53C606}"/>
              </a:ext>
            </a:extLst>
          </p:cNvPr>
          <p:cNvSpPr>
            <a:spLocks xmlns:a="http://schemas.openxmlformats.org/drawingml/2006/main" noGrp="1"/>
          </p:cNvSpPr>
          <p:nvPr/>
        </p:nvSpPr>
        <p:spPr>
          <a:xfrm xmlns:a="http://schemas.openxmlformats.org/drawingml/2006/main">
            <a:off x="571500" y="4819650"/>
            <a:ext cx="1409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(2p) Beoordeel: “Zonder concurrenten kan ik elke prijs vragen én dezelfde afzet houden.” Gebruik de bron om je antwoord te begrenzen.</a:t>
            </a:r>
          </a:p>
        </p:txBody>
      </p:sp>
    </p:spTree>
    <p:extLst>
      <p:ext uri="{BB962C8B-B14F-4D97-AF65-F5344CB8AC3E}">
        <p14:creationId xmlns:p14="http://schemas.microsoft.com/office/powerpoint/2010/main" val="1696556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18a: de exclusieve vergunning">
            <a:extLst xmlns:a="http://schemas.openxmlformats.org/drawingml/2006/main">
              <a:ext uri="{FF2B5EF4-FFF2-40B4-BE49-F238E27FC236}">
                <a16:creationId xmlns:a16="http://schemas.microsoft.com/office/drawing/2014/main" id="{9BA421AB-CCA6-4E53-A1FD-BB90D3094FC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18a: de exclusieve vergunning</a:t>
            </a:r>
          </a:p>
        </p:txBody>
      </p:sp>
      <p:sp>
        <p:nvSpPr>
          <p:cNvPr id="2" name="">
            <a:extLst xmlns:a="http://schemas.openxmlformats.org/drawingml/2006/main">
              <a:ext uri="{FF2B5EF4-FFF2-40B4-BE49-F238E27FC236}">
                <a16:creationId xmlns:a16="http://schemas.microsoft.com/office/drawing/2014/main" id="{2CE9A651-2A5C-41FF-B092-69939A2C10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20F4C140-004F-4C1D-B37D-58A40DE18A7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8">
            <a:extLst xmlns:a="http://schemas.openxmlformats.org/drawingml/2006/main">
              <a:ext uri="{FF2B5EF4-FFF2-40B4-BE49-F238E27FC236}">
                <a16:creationId xmlns:a16="http://schemas.microsoft.com/office/drawing/2014/main" id="{E861AC48-56F7-45E8-AD89-4713B2DE147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Brongegeven">
            <a:extLst xmlns:a="http://schemas.openxmlformats.org/drawingml/2006/main">
              <a:ext uri="{FF2B5EF4-FFF2-40B4-BE49-F238E27FC236}">
                <a16:creationId xmlns:a16="http://schemas.microsoft.com/office/drawing/2014/main" id="{2FE8E842-E750-4912-A6DE-FD81F99C128A}"/>
              </a:ext>
            </a:extLst>
          </p:cNvPr>
          <p:cNvSpPr>
            <a:spLocks xmlns:a="http://schemas.openxmlformats.org/drawingml/2006/main" noGrp="1"/>
          </p:cNvSpPr>
          <p:nvPr/>
        </p:nvSpPr>
        <p:spPr>
          <a:xfrm xmlns:a="http://schemas.openxmlformats.org/drawingml/2006/main">
            <a:off x="571500" y="2209800"/>
            <a:ext cx="3571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Brongegeven</a:t>
            </a:r>
          </a:p>
        </p:txBody>
      </p:sp>
      <p:sp>
        <p:nvSpPr>
          <p:cNvPr id="6" name="Alleen Eilandveer krijgt een vergunning.">
            <a:extLst xmlns:a="http://schemas.openxmlformats.org/drawingml/2006/main">
              <a:ext uri="{FF2B5EF4-FFF2-40B4-BE49-F238E27FC236}">
                <a16:creationId xmlns:a16="http://schemas.microsoft.com/office/drawing/2014/main" id="{E0B02BCA-687C-4D6C-9E15-0ED12EB4516F}"/>
              </a:ext>
            </a:extLst>
          </p:cNvPr>
          <p:cNvSpPr>
            <a:spLocks xmlns:a="http://schemas.openxmlformats.org/drawingml/2006/main" noGrp="1"/>
          </p:cNvSpPr>
          <p:nvPr/>
        </p:nvSpPr>
        <p:spPr>
          <a:xfrm xmlns:a="http://schemas.openxmlformats.org/drawingml/2006/main">
            <a:off x="4476750" y="2209800"/>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Alleen Eilandveer krijgt een vergunning.</a:t>
            </a:r>
          </a:p>
        </p:txBody>
      </p:sp>
      <p:sp>
        <p:nvSpPr>
          <p:cNvPr id="7" name="Gevolg">
            <a:extLst xmlns:a="http://schemas.openxmlformats.org/drawingml/2006/main">
              <a:ext uri="{FF2B5EF4-FFF2-40B4-BE49-F238E27FC236}">
                <a16:creationId xmlns:a16="http://schemas.microsoft.com/office/drawing/2014/main" id="{36AE53CD-5119-4801-B6F5-18884C9A47BB}"/>
              </a:ext>
            </a:extLst>
          </p:cNvPr>
          <p:cNvSpPr>
            <a:spLocks xmlns:a="http://schemas.openxmlformats.org/drawingml/2006/main" noGrp="1"/>
          </p:cNvSpPr>
          <p:nvPr/>
        </p:nvSpPr>
        <p:spPr>
          <a:xfrm xmlns:a="http://schemas.openxmlformats.org/drawingml/2006/main">
            <a:off x="571500" y="3876675"/>
            <a:ext cx="3571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Gevolg</a:t>
            </a:r>
          </a:p>
        </p:txBody>
      </p:sp>
      <p:sp>
        <p:nvSpPr>
          <p:cNvPr id="8" name="Andere bedrijven krijgen deze periode geen toegang.">
            <a:extLst xmlns:a="http://schemas.openxmlformats.org/drawingml/2006/main">
              <a:ext uri="{FF2B5EF4-FFF2-40B4-BE49-F238E27FC236}">
                <a16:creationId xmlns:a16="http://schemas.microsoft.com/office/drawing/2014/main" id="{E3A18202-568D-4437-9D3A-94CBAA4FB650}"/>
              </a:ext>
            </a:extLst>
          </p:cNvPr>
          <p:cNvSpPr>
            <a:spLocks xmlns:a="http://schemas.openxmlformats.org/drawingml/2006/main" noGrp="1"/>
          </p:cNvSpPr>
          <p:nvPr/>
        </p:nvSpPr>
        <p:spPr>
          <a:xfrm xmlns:a="http://schemas.openxmlformats.org/drawingml/2006/main">
            <a:off x="4476750" y="3876675"/>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Andere bedrijven krijgen deze periode geen toegang.</a:t>
            </a:r>
          </a:p>
        </p:txBody>
      </p:sp>
      <p:sp>
        <p:nvSpPr>
          <p:cNvPr id="9" name="Conclusie">
            <a:extLst xmlns:a="http://schemas.openxmlformats.org/drawingml/2006/main">
              <a:ext uri="{FF2B5EF4-FFF2-40B4-BE49-F238E27FC236}">
                <a16:creationId xmlns:a16="http://schemas.microsoft.com/office/drawing/2014/main" id="{91D83D76-50D6-47CC-A764-C104DC2733C1}"/>
              </a:ext>
            </a:extLst>
          </p:cNvPr>
          <p:cNvSpPr>
            <a:spLocks xmlns:a="http://schemas.openxmlformats.org/drawingml/2006/main" noGrp="1"/>
          </p:cNvSpPr>
          <p:nvPr/>
        </p:nvSpPr>
        <p:spPr>
          <a:xfrm xmlns:a="http://schemas.openxmlformats.org/drawingml/2006/main">
            <a:off x="571500" y="5543550"/>
            <a:ext cx="3571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Conclusie</a:t>
            </a:r>
          </a:p>
        </p:txBody>
      </p:sp>
      <p:sp>
        <p:nvSpPr>
          <p:cNvPr id="10" name="Eén aanbieder op de directe verbinding Haven–Eiland.">
            <a:extLst xmlns:a="http://schemas.openxmlformats.org/drawingml/2006/main">
              <a:ext uri="{FF2B5EF4-FFF2-40B4-BE49-F238E27FC236}">
                <a16:creationId xmlns:a16="http://schemas.microsoft.com/office/drawing/2014/main" id="{61181BD6-E88B-4495-9802-E7C5476CF03A}"/>
              </a:ext>
            </a:extLst>
          </p:cNvPr>
          <p:cNvSpPr>
            <a:spLocks xmlns:a="http://schemas.openxmlformats.org/drawingml/2006/main" noGrp="1"/>
          </p:cNvSpPr>
          <p:nvPr/>
        </p:nvSpPr>
        <p:spPr>
          <a:xfrm xmlns:a="http://schemas.openxmlformats.org/drawingml/2006/main">
            <a:off x="4476750" y="5543550"/>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Eén aanbieder op de directe verbinding Haven–Eiland.</a:t>
            </a:r>
          </a:p>
        </p:txBody>
      </p:sp>
      <p:sp>
        <p:nvSpPr>
          <p:cNvPr id="11" name="Dit alleenrecht vormt een toetredingsbarrière.">
            <a:extLst xmlns:a="http://schemas.openxmlformats.org/drawingml/2006/main">
              <a:ext uri="{FF2B5EF4-FFF2-40B4-BE49-F238E27FC236}">
                <a16:creationId xmlns:a16="http://schemas.microsoft.com/office/drawing/2014/main" id="{CCAC89E3-12D3-4276-9EE7-C84D60AC2455}"/>
              </a:ext>
            </a:extLst>
          </p:cNvPr>
          <p:cNvSpPr>
            <a:spLocks xmlns:a="http://schemas.openxmlformats.org/drawingml/2006/main" noGrp="1"/>
          </p:cNvSpPr>
          <p:nvPr/>
        </p:nvSpPr>
        <p:spPr>
          <a:xfrm xmlns:a="http://schemas.openxmlformats.org/drawingml/2006/main">
            <a:off x="571500" y="7305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Dit alleenrecht vormt een toetredingsbarrière.</a:t>
            </a:r>
          </a:p>
        </p:txBody>
      </p:sp>
    </p:spTree>
    <p:extLst>
      <p:ext uri="{BB962C8B-B14F-4D97-AF65-F5344CB8AC3E}">
        <p14:creationId xmlns:p14="http://schemas.microsoft.com/office/powerpoint/2010/main" val="12772122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18b: twee verschillen">
            <a:extLst xmlns:a="http://schemas.openxmlformats.org/drawingml/2006/main">
              <a:ext uri="{FF2B5EF4-FFF2-40B4-BE49-F238E27FC236}">
                <a16:creationId xmlns:a16="http://schemas.microsoft.com/office/drawing/2014/main" id="{FDD738C1-A95F-4B08-A69D-E6FCFE5F480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18b: twee verschillen</a:t>
            </a:r>
          </a:p>
        </p:txBody>
      </p:sp>
      <p:sp>
        <p:nvSpPr>
          <p:cNvPr id="2" name="">
            <a:extLst xmlns:a="http://schemas.openxmlformats.org/drawingml/2006/main">
              <a:ext uri="{FF2B5EF4-FFF2-40B4-BE49-F238E27FC236}">
                <a16:creationId xmlns:a16="http://schemas.microsoft.com/office/drawing/2014/main" id="{A82935EB-8F2F-4681-9682-8F6D2113D0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E4386A6C-9B2A-43EB-B12F-2A37F180E76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19">
            <a:extLst xmlns:a="http://schemas.openxmlformats.org/drawingml/2006/main">
              <a:ext uri="{FF2B5EF4-FFF2-40B4-BE49-F238E27FC236}">
                <a16:creationId xmlns:a16="http://schemas.microsoft.com/office/drawing/2014/main" id="{57B6C45C-E0B9-4717-A61C-C2E42FCC0F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1" name=""/>
          <p:cNvGraphicFramePr/>
          <p:nvPr/>
        </p:nvGraphicFramePr>
        <p:xfrm>
          <a:off xmlns:a="http://schemas.openxmlformats.org/drawingml/2006/main" x="571500" y="2200275"/>
          <a:ext xmlns:a="http://schemas.openxmlformats.org/drawingml/2006/main" cx="14097000" cy="4124325"/>
        </p:xfrm>
        <a:graphic xmlns:a="http://schemas.openxmlformats.org/drawingml/2006/main">
          <a:graphicData uri="http://schemas.openxmlformats.org/drawingml/2006/table">
            <a:tbl>
              <a:tblPr/>
              <a:tblGrid>
                <a:gridCol w="3238500"/>
                <a:gridCol w="5429250"/>
                <a:gridCol w="5429250"/>
              </a:tblGrid>
              <a:tr h="1374775">
                <a:tc>
                  <a:txBody>
                    <a:bodyPr lIns="171450" tIns="95250" rIns="152400" bIns="95250"/>
                    <a:lstStyle/>
                    <a:p>
                      <a:r>
                        <a:rPr sz="2550" b="1">
                          <a:solidFill>
                            <a:srgbClr val="FFFFFF"/>
                          </a:solidFill>
                          <a:latin typeface="Arial"/>
                          <a:ea typeface="Arial"/>
                          <a:cs typeface="Arial"/>
                        </a:rPr>
                        <a:t>Kenmerk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Volkomen concurrentie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Eilandveer</a:t>
                      </a:r>
                    </a:p>
                  </a:txBody>
                  <a:tcPr marL="91440" marR="91440" marT="45720" marB="45720" anchor="ctr">
                    <a:solidFill>
                      <a:srgbClr val="183247"/>
                    </a:solidFill>
                  </a:tcPr>
                </a:tc>
              </a:tr>
              <a:tr h="1374775">
                <a:tc>
                  <a:txBody>
                    <a:bodyPr lIns="171450" tIns="95250" rIns="152400" bIns="95250"/>
                    <a:lstStyle/>
                    <a:p>
                      <a:r>
                        <a:rPr sz="2550" b="0">
                          <a:solidFill>
                            <a:srgbClr val="183247"/>
                          </a:solidFill>
                          <a:latin typeface="Arial"/>
                          <a:ea typeface="Arial"/>
                          <a:cs typeface="Arial"/>
                        </a:rPr>
                        <a:t>Toetreding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Vrij</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Exclusieve vergunning verhindert toetreding.</a:t>
                      </a:r>
                    </a:p>
                  </a:txBody>
                  <a:tcPr marL="91440" marR="91440" marT="45720" marB="45720" anchor="ctr">
                    <a:solidFill>
                      <a:srgbClr val="FFFFFF"/>
                    </a:solidFill>
                  </a:tcPr>
                </a:tc>
              </a:tr>
              <a:tr h="1374775">
                <a:tc>
                  <a:txBody>
                    <a:bodyPr lIns="171450" tIns="95250" rIns="152400" bIns="95250"/>
                    <a:lstStyle/>
                    <a:p>
                      <a:r>
                        <a:rPr sz="2550" b="0">
                          <a:solidFill>
                            <a:srgbClr val="183247"/>
                          </a:solidFill>
                          <a:latin typeface="Arial"/>
                          <a:ea typeface="Arial"/>
                          <a:cs typeface="Arial"/>
                        </a:rPr>
                        <a:t>Vraaglijn onderneming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Horizontaal bij de gegeven marktprijs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Dalend: Eilandveer bedient de hele markt.</a:t>
                      </a:r>
                    </a:p>
                  </a:txBody>
                  <a:tcPr marL="91440" marR="91440" marT="45720" marB="45720" anchor="ctr">
                    <a:solidFill>
                      <a:srgbClr val="EFF4F7"/>
                    </a:solidFill>
                  </a:tcPr>
                </a:tc>
              </a:tr>
            </a:tbl>
          </a:graphicData>
        </a:graphic>
      </p:graphicFrame>
      <p:sp>
        <p:nvSpPr>
          <p:cNvPr id="6" name="Vergelijk steeds één onderneming met één onderneming.">
            <a:extLst xmlns:a="http://schemas.openxmlformats.org/drawingml/2006/main">
              <a:ext uri="{FF2B5EF4-FFF2-40B4-BE49-F238E27FC236}">
                <a16:creationId xmlns:a16="http://schemas.microsoft.com/office/drawing/2014/main" id="{7D00E157-AF9A-4374-A50D-B2FDD954377E}"/>
              </a:ext>
            </a:extLst>
          </p:cNvPr>
          <p:cNvSpPr>
            <a:spLocks xmlns:a="http://schemas.openxmlformats.org/drawingml/2006/main" noGrp="1"/>
          </p:cNvSpPr>
          <p:nvPr/>
        </p:nvSpPr>
        <p:spPr>
          <a:xfrm xmlns:a="http://schemas.openxmlformats.org/drawingml/2006/main">
            <a:off x="571500" y="70008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Vergelijk steeds één onderneming met één onderneming.</a:t>
            </a:r>
          </a:p>
        </p:txBody>
      </p:sp>
    </p:spTree>
    <p:extLst>
      <p:ext uri="{BB962C8B-B14F-4D97-AF65-F5344CB8AC3E}">
        <p14:creationId xmlns:p14="http://schemas.microsoft.com/office/powerpoint/2010/main" val="14530591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c: punt A">
            <a:extLst xmlns:a="http://schemas.openxmlformats.org/drawingml/2006/main">
              <a:ext uri="{FF2B5EF4-FFF2-40B4-BE49-F238E27FC236}">
                <a16:creationId xmlns:a16="http://schemas.microsoft.com/office/drawing/2014/main" id="{21EE085C-8224-41DD-ACF6-FC8C3595591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18c: punt A</a:t>
            </a:r>
          </a:p>
        </p:txBody>
      </p:sp>
      <p:sp>
        <p:nvSpPr>
          <p:cNvPr id="2" name="">
            <a:extLst xmlns:a="http://schemas.openxmlformats.org/drawingml/2006/main">
              <a:ext uri="{FF2B5EF4-FFF2-40B4-BE49-F238E27FC236}">
                <a16:creationId xmlns:a16="http://schemas.microsoft.com/office/drawing/2014/main" id="{19C3A0E7-F65C-4E7E-BBE5-A4508B91A3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E0E088F1-8DBC-4FC6-B448-8D283610AE4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20">
            <a:extLst xmlns:a="http://schemas.openxmlformats.org/drawingml/2006/main">
              <a:ext uri="{FF2B5EF4-FFF2-40B4-BE49-F238E27FC236}">
                <a16:creationId xmlns:a16="http://schemas.microsoft.com/office/drawing/2014/main" id="{FC5138E5-E135-47F1-837E-4E5D0B2B0C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4"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c022a791438a425d"/>
          </a:graphicData>
        </a:graphic>
      </p:graphicFrame>
      <p:sp>
        <p:nvSpPr>
          <p:cNvPr id="6" name="Vraag = GO">
            <a:extLst xmlns:a="http://schemas.openxmlformats.org/drawingml/2006/main">
              <a:ext uri="{FF2B5EF4-FFF2-40B4-BE49-F238E27FC236}">
                <a16:creationId xmlns:a16="http://schemas.microsoft.com/office/drawing/2014/main" id="{D39351AD-93C3-4B09-B327-D7467B706440}"/>
              </a:ext>
            </a:extLst>
          </p:cNvPr>
          <p:cNvSpPr>
            <a:spLocks xmlns:a="http://schemas.openxmlformats.org/drawingml/2006/main" noGrp="1"/>
          </p:cNvSpPr>
          <p:nvPr/>
        </p:nvSpPr>
        <p:spPr>
          <a:xfrm xmlns:a="http://schemas.openxmlformats.org/drawingml/2006/main">
            <a:off x="10477500" y="24288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GO</a:t>
            </a:r>
          </a:p>
        </p:txBody>
      </p:sp>
      <p:sp>
        <p:nvSpPr>
          <p:cNvPr id="7" name="q = 60 kaartjes per dag">
            <a:extLst xmlns:a="http://schemas.openxmlformats.org/drawingml/2006/main">
              <a:ext uri="{FF2B5EF4-FFF2-40B4-BE49-F238E27FC236}">
                <a16:creationId xmlns:a16="http://schemas.microsoft.com/office/drawing/2014/main" id="{099EE059-EB30-4FB1-BB0B-EA69331B14E5}"/>
              </a:ext>
            </a:extLst>
          </p:cNvPr>
          <p:cNvSpPr>
            <a:spLocks xmlns:a="http://schemas.openxmlformats.org/drawingml/2006/main" noGrp="1"/>
          </p:cNvSpPr>
          <p:nvPr/>
        </p:nvSpPr>
        <p:spPr>
          <a:xfrm xmlns:a="http://schemas.openxmlformats.org/drawingml/2006/main">
            <a:off x="10477500" y="3457575"/>
            <a:ext cx="4191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q = 60 kaartjes per dag</a:t>
            </a:r>
          </a:p>
        </p:txBody>
      </p:sp>
      <p:sp>
        <p:nvSpPr>
          <p:cNvPr id="8" name="P = 24 − 0,10 × 60&#10;P = 24 − 6&#10;P = € 18 per kaartje">
            <a:extLst xmlns:a="http://schemas.openxmlformats.org/drawingml/2006/main">
              <a:ext uri="{FF2B5EF4-FFF2-40B4-BE49-F238E27FC236}">
                <a16:creationId xmlns:a16="http://schemas.microsoft.com/office/drawing/2014/main" id="{5BDF133E-7CF4-4B05-AF9D-60D8254581AF}"/>
              </a:ext>
            </a:extLst>
          </p:cNvPr>
          <p:cNvSpPr>
            <a:spLocks xmlns:a="http://schemas.openxmlformats.org/drawingml/2006/main" noGrp="1"/>
          </p:cNvSpPr>
          <p:nvPr/>
        </p:nvSpPr>
        <p:spPr>
          <a:xfrm xmlns:a="http://schemas.openxmlformats.org/drawingml/2006/main">
            <a:off x="10477500" y="4752975"/>
            <a:ext cx="4191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24 − 0,10 × 60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24 − 6</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€ 18 per kaartje</a:t>
            </a:r>
          </a:p>
        </p:txBody>
      </p:sp>
      <p:sp>
        <p:nvSpPr>
          <p:cNvPr id="9" name="A: (60, 18)">
            <a:extLst xmlns:a="http://schemas.openxmlformats.org/drawingml/2006/main">
              <a:ext uri="{FF2B5EF4-FFF2-40B4-BE49-F238E27FC236}">
                <a16:creationId xmlns:a16="http://schemas.microsoft.com/office/drawing/2014/main" id="{4B5D008B-E403-41FC-847A-363EDA1175A5}"/>
              </a:ext>
            </a:extLst>
          </p:cNvPr>
          <p:cNvSpPr>
            <a:spLocks xmlns:a="http://schemas.openxmlformats.org/drawingml/2006/main" noGrp="1"/>
          </p:cNvSpPr>
          <p:nvPr/>
        </p:nvSpPr>
        <p:spPr>
          <a:xfrm xmlns:a="http://schemas.openxmlformats.org/drawingml/2006/main">
            <a:off x="10477500" y="705802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A: (60, 18)</a:t>
            </a:r>
          </a:p>
        </p:txBody>
      </p:sp>
    </p:spTree>
    <p:extLst>
      <p:ext uri="{BB962C8B-B14F-4D97-AF65-F5344CB8AC3E}">
        <p14:creationId xmlns:p14="http://schemas.microsoft.com/office/powerpoint/2010/main" val="12562195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c: punt B">
            <a:extLst xmlns:a="http://schemas.openxmlformats.org/drawingml/2006/main">
              <a:ext uri="{FF2B5EF4-FFF2-40B4-BE49-F238E27FC236}">
                <a16:creationId xmlns:a16="http://schemas.microsoft.com/office/drawing/2014/main" id="{D0EFA575-00B8-48E5-AF0D-2C952B680A9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18c: punt B</a:t>
            </a:r>
          </a:p>
        </p:txBody>
      </p:sp>
      <p:sp>
        <p:nvSpPr>
          <p:cNvPr id="2" name="">
            <a:extLst xmlns:a="http://schemas.openxmlformats.org/drawingml/2006/main">
              <a:ext uri="{FF2B5EF4-FFF2-40B4-BE49-F238E27FC236}">
                <a16:creationId xmlns:a16="http://schemas.microsoft.com/office/drawing/2014/main" id="{E783B707-EAAE-4C3D-A400-5296FB1B82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3B643CE0-AAE0-447A-9040-7A2753681B9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21">
            <a:extLst xmlns:a="http://schemas.openxmlformats.org/drawingml/2006/main">
              <a:ext uri="{FF2B5EF4-FFF2-40B4-BE49-F238E27FC236}">
                <a16:creationId xmlns:a16="http://schemas.microsoft.com/office/drawing/2014/main" id="{E0F10BB3-2A02-42AE-9689-548064735E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4" name="Chart"/>
          <p:cNvGraphicFramePr/>
          <p:nvPr/>
        </p:nvGraphicFramePr>
        <p:xfrm>
          <a:off xmlns:a="http://schemas.openxmlformats.org/drawingml/2006/main" x="571500" y="2095500"/>
          <a:ext xmlns:a="http://schemas.openxmlformats.org/drawingml/2006/main" cx="9429750" cy="5476875"/>
        </p:xfrm>
        <a:graphic xmlns:a="http://schemas.openxmlformats.org/drawingml/2006/main">
          <a:graphicData uri="http://schemas.openxmlformats.org/drawingml/2006/chart">
            <c:chart xmlns:r="http://schemas.openxmlformats.org/officeDocument/2006/relationships" xmlns:c="http://schemas.openxmlformats.org/drawingml/2006/chart" r:id="R0ca796bcd26d46df"/>
          </a:graphicData>
        </a:graphic>
      </p:graphicFrame>
      <p:sp>
        <p:nvSpPr>
          <p:cNvPr id="6" name="Vraag = GO">
            <a:extLst xmlns:a="http://schemas.openxmlformats.org/drawingml/2006/main">
              <a:ext uri="{FF2B5EF4-FFF2-40B4-BE49-F238E27FC236}">
                <a16:creationId xmlns:a16="http://schemas.microsoft.com/office/drawing/2014/main" id="{3D2ADFEC-0C89-4A91-BC22-5A62F351764D}"/>
              </a:ext>
            </a:extLst>
          </p:cNvPr>
          <p:cNvSpPr>
            <a:spLocks xmlns:a="http://schemas.openxmlformats.org/drawingml/2006/main" noGrp="1"/>
          </p:cNvSpPr>
          <p:nvPr/>
        </p:nvSpPr>
        <p:spPr>
          <a:xfrm xmlns:a="http://schemas.openxmlformats.org/drawingml/2006/main">
            <a:off x="10477500" y="24288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GO</a:t>
            </a:r>
          </a:p>
        </p:txBody>
      </p:sp>
      <p:sp>
        <p:nvSpPr>
          <p:cNvPr id="7" name="q = 120 kaartjes per dag">
            <a:extLst xmlns:a="http://schemas.openxmlformats.org/drawingml/2006/main">
              <a:ext uri="{FF2B5EF4-FFF2-40B4-BE49-F238E27FC236}">
                <a16:creationId xmlns:a16="http://schemas.microsoft.com/office/drawing/2014/main" id="{464AF7A7-7A94-45BC-8CCB-DD40459A3D7E}"/>
              </a:ext>
            </a:extLst>
          </p:cNvPr>
          <p:cNvSpPr>
            <a:spLocks xmlns:a="http://schemas.openxmlformats.org/drawingml/2006/main" noGrp="1"/>
          </p:cNvSpPr>
          <p:nvPr/>
        </p:nvSpPr>
        <p:spPr>
          <a:xfrm xmlns:a="http://schemas.openxmlformats.org/drawingml/2006/main">
            <a:off x="10477500" y="3457575"/>
            <a:ext cx="4191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q = 120 kaartjes per dag</a:t>
            </a:r>
          </a:p>
        </p:txBody>
      </p:sp>
      <p:sp>
        <p:nvSpPr>
          <p:cNvPr id="8" name="P = 24 − 0,10 × 120&#10;P = 24 − 12&#10;P = € 12 per kaartje">
            <a:extLst xmlns:a="http://schemas.openxmlformats.org/drawingml/2006/main">
              <a:ext uri="{FF2B5EF4-FFF2-40B4-BE49-F238E27FC236}">
                <a16:creationId xmlns:a16="http://schemas.microsoft.com/office/drawing/2014/main" id="{C6B3C323-F621-41BF-8E06-673EDB7DEEB4}"/>
              </a:ext>
            </a:extLst>
          </p:cNvPr>
          <p:cNvSpPr>
            <a:spLocks xmlns:a="http://schemas.openxmlformats.org/drawingml/2006/main" noGrp="1"/>
          </p:cNvSpPr>
          <p:nvPr/>
        </p:nvSpPr>
        <p:spPr>
          <a:xfrm xmlns:a="http://schemas.openxmlformats.org/drawingml/2006/main">
            <a:off x="10477500" y="4752975"/>
            <a:ext cx="4191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24 − 0,10 × 120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24 − 12</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€ 12 per kaartje</a:t>
            </a:r>
          </a:p>
        </p:txBody>
      </p:sp>
      <p:sp>
        <p:nvSpPr>
          <p:cNvPr id="9" name="B: (120, 12)">
            <a:extLst xmlns:a="http://schemas.openxmlformats.org/drawingml/2006/main">
              <a:ext uri="{FF2B5EF4-FFF2-40B4-BE49-F238E27FC236}">
                <a16:creationId xmlns:a16="http://schemas.microsoft.com/office/drawing/2014/main" id="{55DE924F-B582-4F4A-B246-0612BA871C80}"/>
              </a:ext>
            </a:extLst>
          </p:cNvPr>
          <p:cNvSpPr>
            <a:spLocks xmlns:a="http://schemas.openxmlformats.org/drawingml/2006/main" noGrp="1"/>
          </p:cNvSpPr>
          <p:nvPr/>
        </p:nvSpPr>
        <p:spPr>
          <a:xfrm xmlns:a="http://schemas.openxmlformats.org/drawingml/2006/main">
            <a:off x="10477500" y="705802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B: (120, 12)</a:t>
            </a:r>
          </a:p>
        </p:txBody>
      </p:sp>
    </p:spTree>
    <p:extLst>
      <p:ext uri="{BB962C8B-B14F-4D97-AF65-F5344CB8AC3E}">
        <p14:creationId xmlns:p14="http://schemas.microsoft.com/office/powerpoint/2010/main" val="19822158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d: 120 kaartjes voor € 18?">
            <a:extLst xmlns:a="http://schemas.openxmlformats.org/drawingml/2006/main">
              <a:ext uri="{FF2B5EF4-FFF2-40B4-BE49-F238E27FC236}">
                <a16:creationId xmlns:a16="http://schemas.microsoft.com/office/drawing/2014/main" id="{5D0F5B21-7B07-48D5-971E-5D2F739F9FF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18d: 120 kaartjes voor € 18?</a:t>
            </a:r>
          </a:p>
        </p:txBody>
      </p:sp>
      <p:sp>
        <p:nvSpPr>
          <p:cNvPr id="2" name="">
            <a:extLst xmlns:a="http://schemas.openxmlformats.org/drawingml/2006/main">
              <a:ext uri="{FF2B5EF4-FFF2-40B4-BE49-F238E27FC236}">
                <a16:creationId xmlns:a16="http://schemas.microsoft.com/office/drawing/2014/main" id="{CFB75520-BDF1-4469-9656-40EFF4E713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D12C7F50-B1E6-4EAF-963E-7557D66D740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22">
            <a:extLst xmlns:a="http://schemas.openxmlformats.org/drawingml/2006/main">
              <a:ext uri="{FF2B5EF4-FFF2-40B4-BE49-F238E27FC236}">
                <a16:creationId xmlns:a16="http://schemas.microsoft.com/office/drawing/2014/main" id="{799064D0-EBE7-4A95-928D-DEDD4773F8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Bij een prijs van € 18:">
            <a:extLst xmlns:a="http://schemas.openxmlformats.org/drawingml/2006/main">
              <a:ext uri="{FF2B5EF4-FFF2-40B4-BE49-F238E27FC236}">
                <a16:creationId xmlns:a16="http://schemas.microsoft.com/office/drawing/2014/main" id="{6BB66AFB-41F0-4D16-A8AB-F7070A017B60}"/>
              </a:ext>
            </a:extLst>
          </p:cNvPr>
          <p:cNvSpPr>
            <a:spLocks xmlns:a="http://schemas.openxmlformats.org/drawingml/2006/main" noGrp="1"/>
          </p:cNvSpPr>
          <p:nvPr/>
        </p:nvSpPr>
        <p:spPr>
          <a:xfrm xmlns:a="http://schemas.openxmlformats.org/drawingml/2006/main">
            <a:off x="571500" y="18383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Bij een prijs van € 18:</a:t>
            </a:r>
          </a:p>
        </p:txBody>
      </p:sp>
      <p:sp>
        <p:nvSpPr>
          <p:cNvPr id="6" name="18 = 24 − 0,10q&#10;0,10q = 6&#10;q = 6 / 0,10 = 60 kaartjes per dag">
            <a:extLst xmlns:a="http://schemas.openxmlformats.org/drawingml/2006/main">
              <a:ext uri="{FF2B5EF4-FFF2-40B4-BE49-F238E27FC236}">
                <a16:creationId xmlns:a16="http://schemas.microsoft.com/office/drawing/2014/main" id="{232AE510-BC23-4652-AA87-A1202632EB7E}"/>
              </a:ext>
            </a:extLst>
          </p:cNvPr>
          <p:cNvSpPr>
            <a:spLocks xmlns:a="http://schemas.openxmlformats.org/drawingml/2006/main" noGrp="1"/>
          </p:cNvSpPr>
          <p:nvPr/>
        </p:nvSpPr>
        <p:spPr>
          <a:xfrm xmlns:a="http://schemas.openxmlformats.org/drawingml/2006/main">
            <a:off x="571500" y="2762250"/>
            <a:ext cx="1409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18 = 24 − 0,10q</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0,10q = 6</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 = 6 / 0,10 = 60 kaartjes per dag</a:t>
            </a:r>
          </a:p>
        </p:txBody>
      </p:sp>
      <p:sp>
        <p:nvSpPr>
          <p:cNvPr id="7" name="">
            <a:extLst xmlns:a="http://schemas.openxmlformats.org/drawingml/2006/main">
              <a:ext uri="{FF2B5EF4-FFF2-40B4-BE49-F238E27FC236}">
                <a16:creationId xmlns:a16="http://schemas.microsoft.com/office/drawing/2014/main" id="{69E5AC76-54D8-445E-ACD3-8DC381A00BD5}"/>
              </a:ext>
            </a:extLst>
          </p:cNvPr>
          <p:cNvSpPr>
            <a:spLocks xmlns:a="http://schemas.openxmlformats.org/drawingml/2006/main" noGrp="1"/>
          </p:cNvSpPr>
          <p:nvPr/>
        </p:nvSpPr>
        <p:spPr>
          <a:xfrm xmlns:a="http://schemas.openxmlformats.org/drawingml/2006/main">
            <a:off x="571500" y="5400675"/>
            <a:ext cx="14097000" cy="0"/>
          </a:xfrm>
          <a:prstGeom xmlns:a="http://schemas.openxmlformats.org/drawingml/2006/main" prst="line">
            <a:avLst/>
          </a:prstGeom>
          <a:ln xmlns:a="http://schemas.openxmlformats.org/drawingml/2006/main" w="19050">
            <a:solidFill>
              <a:srgbClr val="C6D2DB"/>
            </a:solidFill>
          </a:ln>
        </p:spPr>
      </p:sp>
      <p:sp>
        <p:nvSpPr>
          <p:cNvPr id="8" name="120 kaartjes per dag vragen om € 12 per kaartje.">
            <a:extLst xmlns:a="http://schemas.openxmlformats.org/drawingml/2006/main">
              <a:ext uri="{FF2B5EF4-FFF2-40B4-BE49-F238E27FC236}">
                <a16:creationId xmlns:a16="http://schemas.microsoft.com/office/drawing/2014/main" id="{2AF3A5F8-EE59-4FFB-9889-93A1A4E262D7}"/>
              </a:ext>
            </a:extLst>
          </p:cNvPr>
          <p:cNvSpPr>
            <a:spLocks xmlns:a="http://schemas.openxmlformats.org/drawingml/2006/main" noGrp="1"/>
          </p:cNvSpPr>
          <p:nvPr/>
        </p:nvSpPr>
        <p:spPr>
          <a:xfrm xmlns:a="http://schemas.openxmlformats.org/drawingml/2006/main">
            <a:off x="571500" y="58578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120 kaartjes per dag vragen om € 12 per kaartje.</a:t>
            </a:r>
          </a:p>
        </p:txBody>
      </p:sp>
      <p:sp>
        <p:nvSpPr>
          <p:cNvPr id="9" name="Capaciteit: 120 &lt; 240. De vraag begrenst de verkoop.">
            <a:extLst xmlns:a="http://schemas.openxmlformats.org/drawingml/2006/main">
              <a:ext uri="{FF2B5EF4-FFF2-40B4-BE49-F238E27FC236}">
                <a16:creationId xmlns:a16="http://schemas.microsoft.com/office/drawing/2014/main" id="{A8BDBE58-661E-4A4B-A4AF-5B273565DEBC}"/>
              </a:ext>
            </a:extLst>
          </p:cNvPr>
          <p:cNvSpPr>
            <a:spLocks xmlns:a="http://schemas.openxmlformats.org/drawingml/2006/main" noGrp="1"/>
          </p:cNvSpPr>
          <p:nvPr/>
        </p:nvSpPr>
        <p:spPr>
          <a:xfrm xmlns:a="http://schemas.openxmlformats.org/drawingml/2006/main">
            <a:off x="571500" y="70389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Capaciteit: 120 &lt; 240. De vraag begrenst de verkoop.</a:t>
            </a:r>
          </a:p>
        </p:txBody>
      </p:sp>
    </p:spTree>
    <p:extLst>
      <p:ext uri="{BB962C8B-B14F-4D97-AF65-F5344CB8AC3E}">
        <p14:creationId xmlns:p14="http://schemas.microsoft.com/office/powerpoint/2010/main" val="20720876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18e: de grens van marktmacht">
            <a:extLst xmlns:a="http://schemas.openxmlformats.org/drawingml/2006/main">
              <a:ext uri="{FF2B5EF4-FFF2-40B4-BE49-F238E27FC236}">
                <a16:creationId xmlns:a16="http://schemas.microsoft.com/office/drawing/2014/main" id="{B59BC321-E2F2-4229-8CE6-BF3F85DE8ED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18e: de grens van marktmacht</a:t>
            </a:r>
          </a:p>
        </p:txBody>
      </p:sp>
      <p:sp>
        <p:nvSpPr>
          <p:cNvPr id="2" name="">
            <a:extLst xmlns:a="http://schemas.openxmlformats.org/drawingml/2006/main">
              <a:ext uri="{FF2B5EF4-FFF2-40B4-BE49-F238E27FC236}">
                <a16:creationId xmlns:a16="http://schemas.microsoft.com/office/drawing/2014/main" id="{60E3883A-81B0-402A-9ADF-D09992CE26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 Opgave 18 · Boekpagina 22">
            <a:extLst xmlns:a="http://schemas.openxmlformats.org/drawingml/2006/main">
              <a:ext uri="{FF2B5EF4-FFF2-40B4-BE49-F238E27FC236}">
                <a16:creationId xmlns:a16="http://schemas.microsoft.com/office/drawing/2014/main" id="{2741B902-975B-41A5-846A-2B4CCE443B9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 Opgave 18 · Boekpagina 22</a:t>
            </a:r>
          </a:p>
        </p:txBody>
      </p:sp>
      <p:sp>
        <p:nvSpPr>
          <p:cNvPr id="4" name="23">
            <a:extLst xmlns:a="http://schemas.openxmlformats.org/drawingml/2006/main">
              <a:ext uri="{FF2B5EF4-FFF2-40B4-BE49-F238E27FC236}">
                <a16:creationId xmlns:a16="http://schemas.microsoft.com/office/drawing/2014/main" id="{9502E9CC-41E8-472C-8C19-0B136F43A11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1" name=""/>
          <p:cNvGraphicFramePr/>
          <p:nvPr/>
        </p:nvGraphicFramePr>
        <p:xfrm>
          <a:off xmlns:a="http://schemas.openxmlformats.org/drawingml/2006/main" x="571500" y="2133600"/>
          <a:ext xmlns:a="http://schemas.openxmlformats.org/drawingml/2006/main" cx="14097000" cy="3429000"/>
        </p:xfrm>
        <a:graphic xmlns:a="http://schemas.openxmlformats.org/drawingml/2006/main">
          <a:graphicData uri="http://schemas.openxmlformats.org/drawingml/2006/table">
            <a:tbl>
              <a:tblPr/>
              <a:tblGrid>
                <a:gridCol w="7048500"/>
                <a:gridCol w="7048500"/>
              </a:tblGrid>
              <a:tr h="1143000">
                <a:tc>
                  <a:txBody>
                    <a:bodyPr lIns="171450" tIns="95250" rIns="152400" bIns="95250"/>
                    <a:lstStyle/>
                    <a:p>
                      <a:r>
                        <a:rPr sz="2625" b="1">
                          <a:solidFill>
                            <a:srgbClr val="FFFFFF"/>
                          </a:solidFill>
                          <a:latin typeface="Arial"/>
                          <a:ea typeface="Arial"/>
                          <a:cs typeface="Arial"/>
                        </a:rPr>
                        <a:t>Wat kan Eilandveer?</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Wat doen reizigers?</a:t>
                      </a:r>
                    </a:p>
                  </a:txBody>
                  <a:tcPr marL="91440" marR="91440" marT="45720" marB="45720" anchor="ctr">
                    <a:solidFill>
                      <a:srgbClr val="183247"/>
                    </a:solidFill>
                  </a:tcPr>
                </a:tc>
              </a:tr>
              <a:tr h="1143000">
                <a:tc>
                  <a:txBody>
                    <a:bodyPr lIns="171450" tIns="95250" rIns="152400" bIns="95250"/>
                    <a:lstStyle/>
                    <a:p>
                      <a:r>
                        <a:rPr sz="2625" b="0">
                          <a:solidFill>
                            <a:srgbClr val="183247"/>
                          </a:solidFill>
                          <a:latin typeface="Arial"/>
                          <a:ea typeface="Arial"/>
                          <a:cs typeface="Arial"/>
                        </a:rPr>
                        <a:t>Invloed uitoefenen op de prijs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De reis uitstellen of afzien van de overtocht.</a:t>
                      </a:r>
                    </a:p>
                  </a:txBody>
                  <a:tcPr marL="91440" marR="91440" marT="45720" marB="45720" anchor="ctr">
                    <a:solidFill>
                      <a:srgbClr val="FFFFFF"/>
                    </a:solidFill>
                  </a:tcPr>
                </a:tc>
              </a:tr>
              <a:tr h="1143000">
                <a:tc>
                  <a:txBody>
                    <a:bodyPr lIns="171450" tIns="95250" rIns="152400" bIns="95250"/>
                    <a:lstStyle/>
                    <a:p>
                      <a:r>
                        <a:rPr sz="2625" b="0">
                          <a:solidFill>
                            <a:srgbClr val="183247"/>
                          </a:solidFill>
                          <a:latin typeface="Arial"/>
                          <a:ea typeface="Arial"/>
                          <a:cs typeface="Arial"/>
                        </a:rPr>
                        <a:t>Een combinatie op de vraaglijn kiezen</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Bij een hogere prijs minder kaartjes kopen.</a:t>
                      </a:r>
                    </a:p>
                  </a:txBody>
                  <a:tcPr marL="91440" marR="91440" marT="45720" marB="45720" anchor="ctr">
                    <a:solidFill>
                      <a:srgbClr val="EFF4F7"/>
                    </a:solidFill>
                  </a:tcPr>
                </a:tc>
              </a:tr>
            </a:tbl>
          </a:graphicData>
        </a:graphic>
      </p:graphicFrame>
      <p:sp>
        <p:nvSpPr>
          <p:cNvPr id="6" name="De uitspraak is onjuist: alleenrecht neemt de dalende vraag ">
            <a:extLst xmlns:a="http://schemas.openxmlformats.org/drawingml/2006/main">
              <a:ext uri="{FF2B5EF4-FFF2-40B4-BE49-F238E27FC236}">
                <a16:creationId xmlns:a16="http://schemas.microsoft.com/office/drawing/2014/main" id="{1FD5E209-3FD5-4098-A57E-AA1B3FBE808F}"/>
              </a:ext>
            </a:extLst>
          </p:cNvPr>
          <p:cNvSpPr>
            <a:spLocks xmlns:a="http://schemas.openxmlformats.org/drawingml/2006/main" noGrp="1"/>
          </p:cNvSpPr>
          <p:nvPr/>
        </p:nvSpPr>
        <p:spPr>
          <a:xfrm xmlns:a="http://schemas.openxmlformats.org/drawingml/2006/main">
            <a:off x="571500" y="629602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De uitspraak is onjuist: alleenrecht neemt de dalende vraag niet weg.</a:t>
            </a:r>
          </a:p>
        </p:txBody>
      </p:sp>
    </p:spTree>
    <p:extLst>
      <p:ext uri="{BB962C8B-B14F-4D97-AF65-F5344CB8AC3E}">
        <p14:creationId xmlns:p14="http://schemas.microsoft.com/office/powerpoint/2010/main" val="2784932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2 Monopolie: kenmerken">
            <a:extLst xmlns:a="http://schemas.openxmlformats.org/drawingml/2006/main">
              <a:ext uri="{FF2B5EF4-FFF2-40B4-BE49-F238E27FC236}">
                <a16:creationId xmlns:a16="http://schemas.microsoft.com/office/drawing/2014/main" id="{5F812B4C-E554-44B8-A960-6DC561DAF8F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§4.1.2 Monopolie: kenmerken</a:t>
            </a:r>
          </a:p>
        </p:txBody>
      </p:sp>
      <p:sp>
        <p:nvSpPr>
          <p:cNvPr id="2" name="">
            <a:extLst xmlns:a="http://schemas.openxmlformats.org/drawingml/2006/main">
              <a:ext uri="{FF2B5EF4-FFF2-40B4-BE49-F238E27FC236}">
                <a16:creationId xmlns:a16="http://schemas.microsoft.com/office/drawing/2014/main" id="{4B385B94-96F3-4C56-BEF4-9DD31D5EFA8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2 Monopolie: kenmerken">
            <a:extLst xmlns:a="http://schemas.openxmlformats.org/drawingml/2006/main">
              <a:ext uri="{FF2B5EF4-FFF2-40B4-BE49-F238E27FC236}">
                <a16:creationId xmlns:a16="http://schemas.microsoft.com/office/drawing/2014/main" id="{6743C0EF-A609-424E-B8E4-825E4B358B8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§4.1.2 Monopolie: kenmerken</a:t>
            </a:r>
          </a:p>
        </p:txBody>
      </p:sp>
      <p:sp>
        <p:nvSpPr>
          <p:cNvPr id="4" name="24">
            <a:extLst xmlns:a="http://schemas.openxmlformats.org/drawingml/2006/main">
              <a:ext uri="{FF2B5EF4-FFF2-40B4-BE49-F238E27FC236}">
                <a16:creationId xmlns:a16="http://schemas.microsoft.com/office/drawing/2014/main" id="{75C891CB-92BD-400B-B285-CE69E84E526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F2F67A4C-00CF-43BD-919C-14939F0EA800}"/>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090DE1BB-7A67-4A78-8254-78AFAA17B2F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22469B6F-5B44-4D8D-9BD7-BB99F612B9B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A740FF52-EB00-483A-BB96-34A90E8C64C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8C419168-2633-4EF1-AFCD-D6849C530D4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247A2ECC-FD4F-48F7-888B-8172B98B9758}"/>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2617138-840B-4C6A-8D52-A75EC1E0FFE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B50530FD-ED8A-4FA0-8D91-F5F8430201EE}"/>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FB2B7D29-EF55-4AFF-949A-E2B8EAEBCFB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6DE0706C-97CF-4CD8-B0BF-2D203E05E6F0}"/>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CF596F5F-E6B1-4087-A678-A6BFA4C6355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8EE14E18-CA00-448F-81EA-A55CFAB6A0C2}"/>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85F32423-78CC-4ABD-A7AB-90C7A26396C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0F18648D-FB99-4CF4-9A1E-CCF3A710F77B}"/>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6">
            <a:extLst xmlns:a="http://schemas.openxmlformats.org/drawingml/2006/main">
              <a:ext uri="{FF2B5EF4-FFF2-40B4-BE49-F238E27FC236}">
                <a16:creationId xmlns:a16="http://schemas.microsoft.com/office/drawing/2014/main" id="{44E6B5FE-9608-42DE-8728-B41A0F96BB5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139481B8-C468-4B36-A3D0-EB3F74E3CB62}"/>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89273D26-A687-42C7-8DF3-13F88DE83A2B}"/>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E5A7D87-7CBD-4FE0-A15C-2A32FAD078E4}"/>
              </a:ext>
            </a:extLst>
          </p:cNvPr>
          <p:cNvSpPr>
            <a:spLocks xmlns:a="http://schemas.openxmlformats.org/drawingml/2006/main" noGrp="1"/>
          </p:cNvSpPr>
          <p:nvPr/>
        </p:nvSpPr>
        <p:spPr>
          <a:xfrm xmlns:a="http://schemas.openxmlformats.org/drawingml/2006/main">
            <a:off x="9258300" y="2324100"/>
            <a:ext cx="5381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herkennen.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Barrières en vraaglijnen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 en afzet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prijskeuze beoordelen.</a:t>
            </a:r>
          </a:p>
        </p:txBody>
      </p:sp>
      <p:sp>
        <p:nvSpPr>
          <p:cNvPr id="23" name="">
            <a:extLst xmlns:a="http://schemas.openxmlformats.org/drawingml/2006/main">
              <a:ext uri="{FF2B5EF4-FFF2-40B4-BE49-F238E27FC236}">
                <a16:creationId xmlns:a16="http://schemas.microsoft.com/office/drawing/2014/main" id="{7968E60D-49EE-4102-B75A-562A3ACCED53}"/>
              </a:ext>
            </a:extLst>
          </p:cNvPr>
          <p:cNvSpPr>
            <a:spLocks xmlns:a="http://schemas.openxmlformats.org/drawingml/2006/main" noGrp="1"/>
          </p:cNvSpPr>
          <p:nvPr/>
        </p:nvSpPr>
        <p:spPr>
          <a:xfrm xmlns:a="http://schemas.openxmlformats.org/drawingml/2006/main">
            <a:off x="9258300" y="38290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4A30CF6-6213-4F96-813B-26B6BC3FDD19}"/>
              </a:ext>
            </a:extLst>
          </p:cNvPr>
          <p:cNvSpPr>
            <a:spLocks xmlns:a="http://schemas.openxmlformats.org/drawingml/2006/main" noGrp="1"/>
          </p:cNvSpPr>
          <p:nvPr/>
        </p:nvSpPr>
        <p:spPr>
          <a:xfrm xmlns:a="http://schemas.openxmlformats.org/drawingml/2006/main">
            <a:off x="9258300" y="40576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6BED8F8-6E95-4E2D-9DF4-A6840694D978}"/>
              </a:ext>
            </a:extLst>
          </p:cNvPr>
          <p:cNvSpPr>
            <a:spLocks xmlns:a="http://schemas.openxmlformats.org/drawingml/2006/main" noGrp="1"/>
          </p:cNvSpPr>
          <p:nvPr/>
        </p:nvSpPr>
        <p:spPr>
          <a:xfrm xmlns:a="http://schemas.openxmlformats.org/drawingml/2006/main">
            <a:off x="9258300" y="4581525"/>
            <a:ext cx="5381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19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terugblik, steun p. 10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theorie p. 16</a:t>
            </a:r>
          </a:p>
        </p:txBody>
      </p:sp>
      <p:sp>
        <p:nvSpPr>
          <p:cNvPr id="26" name="">
            <a:extLst xmlns:a="http://schemas.openxmlformats.org/drawingml/2006/main">
              <a:ext uri="{FF2B5EF4-FFF2-40B4-BE49-F238E27FC236}">
                <a16:creationId xmlns:a16="http://schemas.microsoft.com/office/drawing/2014/main" id="{244146F1-498E-45A9-B1B5-DCBC9E65BC23}"/>
              </a:ext>
            </a:extLst>
          </p:cNvPr>
          <p:cNvSpPr>
            <a:spLocks xmlns:a="http://schemas.openxmlformats.org/drawingml/2006/main" noGrp="1"/>
          </p:cNvSpPr>
          <p:nvPr/>
        </p:nvSpPr>
        <p:spPr>
          <a:xfrm xmlns:a="http://schemas.openxmlformats.org/drawingml/2006/main">
            <a:off x="9258300" y="57721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9EB178AA-4A53-4E1E-B030-7A8986DAAFF6}"/>
              </a:ext>
            </a:extLst>
          </p:cNvPr>
          <p:cNvSpPr>
            <a:spLocks xmlns:a="http://schemas.openxmlformats.org/drawingml/2006/main" noGrp="1"/>
          </p:cNvSpPr>
          <p:nvPr/>
        </p:nvSpPr>
        <p:spPr>
          <a:xfrm xmlns:a="http://schemas.openxmlformats.org/drawingml/2006/main">
            <a:off x="9258300" y="59817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3D94C99-24A8-4AF4-A1CD-4D05A239E310}"/>
              </a:ext>
            </a:extLst>
          </p:cNvPr>
          <p:cNvSpPr>
            <a:spLocks xmlns:a="http://schemas.openxmlformats.org/drawingml/2006/main" noGrp="1"/>
          </p:cNvSpPr>
          <p:nvPr/>
        </p:nvSpPr>
        <p:spPr>
          <a:xfrm xmlns:a="http://schemas.openxmlformats.org/drawingml/2006/main">
            <a:off x="9258300" y="6496050"/>
            <a:ext cx="5381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§4.1.2 · Opgaven 13 t/m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13,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16 en 17 · Doel: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59871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2026-10-01T16:25:50.0450000Z</dcterms:created>
  <dcterms:modified xsi:type="dcterms:W3CDTF">2026-10-01T16:25:50.0450000Z</dcterms:modified>
</coreProperties>
</file>